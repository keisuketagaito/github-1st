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8"/>
  </p:notesMasterIdLst>
  <p:sldIdLst>
    <p:sldId id="770" r:id="rId2"/>
    <p:sldId id="269" r:id="rId3"/>
    <p:sldId id="693" r:id="rId4"/>
    <p:sldId id="749" r:id="rId5"/>
    <p:sldId id="748" r:id="rId6"/>
    <p:sldId id="774" r:id="rId7"/>
    <p:sldId id="775" r:id="rId8"/>
    <p:sldId id="266" r:id="rId9"/>
    <p:sldId id="772" r:id="rId10"/>
    <p:sldId id="776" r:id="rId11"/>
    <p:sldId id="798" r:id="rId12"/>
    <p:sldId id="796" r:id="rId13"/>
    <p:sldId id="792" r:id="rId14"/>
    <p:sldId id="779" r:id="rId15"/>
    <p:sldId id="797" r:id="rId16"/>
    <p:sldId id="771" r:id="rId17"/>
    <p:sldId id="780" r:id="rId18"/>
    <p:sldId id="789" r:id="rId19"/>
    <p:sldId id="781" r:id="rId20"/>
    <p:sldId id="790" r:id="rId21"/>
    <p:sldId id="793" r:id="rId22"/>
    <p:sldId id="791" r:id="rId23"/>
    <p:sldId id="795" r:id="rId24"/>
    <p:sldId id="773" r:id="rId25"/>
    <p:sldId id="784" r:id="rId26"/>
    <p:sldId id="785" r:id="rId27"/>
    <p:sldId id="786" r:id="rId28"/>
    <p:sldId id="787" r:id="rId29"/>
    <p:sldId id="782" r:id="rId30"/>
    <p:sldId id="783" r:id="rId31"/>
    <p:sldId id="794" r:id="rId32"/>
    <p:sldId id="799" r:id="rId33"/>
    <p:sldId id="800" r:id="rId34"/>
    <p:sldId id="788" r:id="rId35"/>
    <p:sldId id="801" r:id="rId36"/>
    <p:sldId id="277" r:id="rId37"/>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796"/>
            <p14:sldId id="792"/>
            <p14:sldId id="779"/>
            <p14:sldId id="797"/>
            <p14:sldId id="771"/>
            <p14:sldId id="780"/>
            <p14:sldId id="789"/>
            <p14:sldId id="781"/>
            <p14:sldId id="790"/>
            <p14:sldId id="793"/>
            <p14:sldId id="791"/>
            <p14:sldId id="795"/>
            <p14:sldId id="773"/>
            <p14:sldId id="784"/>
            <p14:sldId id="785"/>
            <p14:sldId id="786"/>
            <p14:sldId id="787"/>
            <p14:sldId id="782"/>
            <p14:sldId id="783"/>
            <p14:sldId id="794"/>
            <p14:sldId id="799"/>
            <p14:sldId id="800"/>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7" d="100"/>
          <a:sy n="87" d="100"/>
        </p:scale>
        <p:origin x="907" y="5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11</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12</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14</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632E-8F33-5004-67F5-94EAE2F17F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5829DE-8CC9-F6D1-1CB3-0AAF08ECBE2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A43D23F-F62E-70B9-7C4E-3904758C33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8AE4E59-2CAF-E95C-7A4D-AA069DEF9C97}"/>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2176918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683D-5DAD-A120-6033-B5D7A3A10F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98E89A-CF82-A78D-98DD-04A02EFED8B9}"/>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5B7C49F-E7C2-17E6-0809-6FDB7372C5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4C2036E6-B3B5-956E-AF2B-34A9EF32DC49}"/>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2852095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C24FB-19A2-172A-74F4-CB5E1A03BB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274906-680C-CCA8-6ED5-B65D3F03778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7A1201A-F7B1-9EBF-6AF8-700AAAA309E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92A0E97-1BCC-5386-BCB7-C636C2D0D234}"/>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2279244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34</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F2DA376-A25F-9107-DBD3-FB81DA50B980}"/>
              </a:ext>
            </a:extLst>
          </p:cNvPr>
          <p:cNvSpPr txBox="1"/>
          <p:nvPr userDrawn="1"/>
        </p:nvSpPr>
        <p:spPr>
          <a:xfrm rot="19728456" flipH="1">
            <a:off x="1740861" y="3487450"/>
            <a:ext cx="7210090" cy="584775"/>
          </a:xfrm>
          <a:prstGeom prst="rect">
            <a:avLst/>
          </a:prstGeom>
          <a:noFill/>
        </p:spPr>
        <p:txBody>
          <a:bodyPr wrap="square" rtlCol="0">
            <a:spAutoFit/>
          </a:bodyPr>
          <a:lstStyle/>
          <a:p>
            <a:r>
              <a:rPr kumimoji="1" lang="ja-JP" altLang="en-US" sz="3200" dirty="0">
                <a:solidFill>
                  <a:schemeClr val="bg1">
                    <a:lumMod val="85000"/>
                  </a:schemeClr>
                </a:solidFill>
                <a:latin typeface="+mj-ea"/>
                <a:ea typeface="+mj-ea"/>
              </a:rPr>
              <a:t>株式会社●●ホールディングス 御中</a:t>
            </a:r>
          </a:p>
        </p:txBody>
      </p:sp>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21.emf"/><Relationship Id="rId5" Type="http://schemas.microsoft.com/office/2007/relationships/hdphoto" Target="../media/hdphoto1.wdp"/><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jpeg"/><Relationship Id="rId1" Type="http://schemas.openxmlformats.org/officeDocument/2006/relationships/slideLayout" Target="../slideLayouts/slideLayout1.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a:lstStyle/>
          <a:p>
            <a:r>
              <a:rPr lang="ja-JP" altLang="en-US" dirty="0"/>
              <a:t>企業概要書 </a:t>
            </a:r>
            <a:r>
              <a:rPr lang="en-US" altLang="ja-JP" sz="2400" dirty="0"/>
              <a:t>&lt;●●</a:t>
            </a:r>
            <a:r>
              <a:rPr lang="ja-JP" altLang="en-US" sz="2400" dirty="0"/>
              <a:t>業</a:t>
            </a:r>
            <a:r>
              <a:rPr lang="en-US" altLang="ja-JP" sz="2400" dirty="0"/>
              <a:t>/</a:t>
            </a:r>
            <a:r>
              <a:rPr lang="ja-JP" altLang="en-US" sz="2400" dirty="0"/>
              <a:t>●●地区</a:t>
            </a:r>
            <a:r>
              <a:rPr lang="en-US" altLang="ja-JP" sz="2400" dirty="0"/>
              <a:t>&gt;</a:t>
            </a:r>
            <a:r>
              <a:rPr lang="ja-JP" altLang="en-US" dirty="0"/>
              <a:t>　</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3713220567"/>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　●●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a:t>
                      </a:r>
                      <a:r>
                        <a:rPr lang="ja-JP" altLang="en-US" sz="1200" b="1" u="none" strike="noStrike" cap="none" spc="30" baseline="0" dirty="0">
                          <a:latin typeface="+mj-ea"/>
                          <a:ea typeface="+mj-ea"/>
                        </a:rPr>
                        <a:t>●</a:t>
                      </a:r>
                      <a:r>
                        <a:rPr lang="en-US" sz="1200" b="1" u="none" strike="noStrike" cap="none" spc="30" baseline="0" dirty="0">
                          <a:latin typeface="+mj-ea"/>
                          <a:ea typeface="+mj-ea"/>
                        </a:rPr>
                        <a:t>0-</a:t>
                      </a:r>
                      <a:r>
                        <a:rPr lang="ja-JP" altLang="en-US" sz="1200" b="1" u="none" strike="noStrike" cap="none" spc="30" baseline="0" dirty="0">
                          <a:latin typeface="+mj-ea"/>
                          <a:ea typeface="+mj-ea"/>
                        </a:rPr>
                        <a:t>●●●●</a:t>
                      </a:r>
                      <a:r>
                        <a:rPr lang="en-US" sz="1200" b="1" u="none" strike="noStrike" cap="none" spc="30" baseline="0" dirty="0">
                          <a:latin typeface="+mj-ea"/>
                          <a:ea typeface="+mj-ea"/>
                        </a:rPr>
                        <a:t>-</a:t>
                      </a:r>
                      <a:r>
                        <a:rPr lang="ja-JP" altLang="en-US" sz="1200" b="1" u="none" strike="noStrike" cap="none" spc="30" baseline="0" dirty="0">
                          <a:latin typeface="+mj-ea"/>
                          <a:ea typeface="+mj-ea"/>
                        </a:rPr>
                        <a:t>●●●●</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a:t>
                      </a:r>
                      <a:r>
                        <a:rPr lang="en-US" sz="1200" b="1" u="none" strike="noStrike" cap="none" spc="30" baseline="0" dirty="0">
                          <a:latin typeface="+mj-ea"/>
                          <a:ea typeface="+mj-ea"/>
                        </a:rPr>
                        <a:t>_</a:t>
                      </a:r>
                      <a:r>
                        <a:rPr lang="ja-JP" altLang="en-US" sz="1200" b="1" u="none" strike="noStrike" cap="none" spc="30" baseline="0" dirty="0">
                          <a:latin typeface="+mj-ea"/>
                          <a:ea typeface="+mj-ea"/>
                        </a:rPr>
                        <a:t>●●</a:t>
                      </a:r>
                      <a:r>
                        <a:rPr lang="en-US" sz="1200" b="1" u="none" strike="noStrike" cap="none" spc="30" baseline="0" dirty="0">
                          <a:latin typeface="+mj-ea"/>
                          <a:ea typeface="+mj-ea"/>
                        </a:rPr>
                        <a:t>@ma-sg.co.jp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
        <p:nvSpPr>
          <p:cNvPr id="4" name="正方形/長方形 3">
            <a:extLst>
              <a:ext uri="{FF2B5EF4-FFF2-40B4-BE49-F238E27FC236}">
                <a16:creationId xmlns:a16="http://schemas.microsoft.com/office/drawing/2014/main" id="{B3470EDF-0CA4-20DB-1C91-A5DE5043CAE3}"/>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提案するとき、注意喚起してますか？</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
        <p:nvSpPr>
          <p:cNvPr id="2" name="正方形/長方形 1">
            <a:extLst>
              <a:ext uri="{FF2B5EF4-FFF2-40B4-BE49-F238E27FC236}">
                <a16:creationId xmlns:a16="http://schemas.microsoft.com/office/drawing/2014/main" id="{F62FDC1D-51F4-679D-7931-56F5C9D1CE83}"/>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３は案件に応じて順番を入れ替える事。何が重要なビジネスなのか？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517736"/>
            <a:ext cx="5857066"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sp>
        <p:nvSpPr>
          <p:cNvPr id="3" name="正方形/長方形 2">
            <a:extLst>
              <a:ext uri="{FF2B5EF4-FFF2-40B4-BE49-F238E27FC236}">
                <a16:creationId xmlns:a16="http://schemas.microsoft.com/office/drawing/2014/main" id="{CA65746B-00B8-559C-B948-8E48589BB2D5}"/>
              </a:ext>
            </a:extLst>
          </p:cNvPr>
          <p:cNvSpPr/>
          <p:nvPr/>
        </p:nvSpPr>
        <p:spPr>
          <a:xfrm>
            <a:off x="6944998" y="1483574"/>
            <a:ext cx="2954216" cy="773723"/>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ロゴ等</a:t>
            </a:r>
          </a:p>
        </p:txBody>
      </p:sp>
      <p:sp>
        <p:nvSpPr>
          <p:cNvPr id="4" name="正方形/長方形 3">
            <a:extLst>
              <a:ext uri="{FF2B5EF4-FFF2-40B4-BE49-F238E27FC236}">
                <a16:creationId xmlns:a16="http://schemas.microsoft.com/office/drawing/2014/main" id="{F13743E5-B795-9B27-E650-033FCFDD7BE7}"/>
              </a:ext>
            </a:extLst>
          </p:cNvPr>
          <p:cNvSpPr/>
          <p:nvPr/>
        </p:nvSpPr>
        <p:spPr>
          <a:xfrm>
            <a:off x="6285759" y="2429162"/>
            <a:ext cx="2076027" cy="206795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本社外観・製品・商品の写真等</a:t>
            </a:r>
          </a:p>
        </p:txBody>
      </p:sp>
      <p:sp>
        <p:nvSpPr>
          <p:cNvPr id="6" name="正方形/長方形 5">
            <a:extLst>
              <a:ext uri="{FF2B5EF4-FFF2-40B4-BE49-F238E27FC236}">
                <a16:creationId xmlns:a16="http://schemas.microsoft.com/office/drawing/2014/main" id="{D3E9ED4D-153B-54F4-9E58-DEC80B892CED}"/>
              </a:ext>
            </a:extLst>
          </p:cNvPr>
          <p:cNvSpPr/>
          <p:nvPr/>
        </p:nvSpPr>
        <p:spPr>
          <a:xfrm>
            <a:off x="8422107" y="2429162"/>
            <a:ext cx="2076027" cy="206795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本社外観・製品・商品の写真等</a:t>
            </a:r>
          </a:p>
        </p:txBody>
      </p:sp>
      <p:sp>
        <p:nvSpPr>
          <p:cNvPr id="7" name="正方形/長方形 6">
            <a:extLst>
              <a:ext uri="{FF2B5EF4-FFF2-40B4-BE49-F238E27FC236}">
                <a16:creationId xmlns:a16="http://schemas.microsoft.com/office/drawing/2014/main" id="{4B7EE86C-7F5C-97E5-1ED6-2C97FEFD6736}"/>
              </a:ext>
            </a:extLst>
          </p:cNvPr>
          <p:cNvSpPr/>
          <p:nvPr/>
        </p:nvSpPr>
        <p:spPr>
          <a:xfrm>
            <a:off x="6285758" y="4547377"/>
            <a:ext cx="2076027" cy="206795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本社外観・製品・商品の写真等</a:t>
            </a:r>
          </a:p>
        </p:txBody>
      </p:sp>
      <p:sp>
        <p:nvSpPr>
          <p:cNvPr id="8" name="正方形/長方形 7">
            <a:extLst>
              <a:ext uri="{FF2B5EF4-FFF2-40B4-BE49-F238E27FC236}">
                <a16:creationId xmlns:a16="http://schemas.microsoft.com/office/drawing/2014/main" id="{4ABAA2D5-537D-8D78-7EA7-F6928323ACF5}"/>
              </a:ext>
            </a:extLst>
          </p:cNvPr>
          <p:cNvSpPr/>
          <p:nvPr/>
        </p:nvSpPr>
        <p:spPr>
          <a:xfrm>
            <a:off x="8422106" y="4547376"/>
            <a:ext cx="2076027" cy="206795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本社外観・製品・商品の写真等</a:t>
            </a:r>
          </a:p>
        </p:txBody>
      </p:sp>
      <p:pic>
        <p:nvPicPr>
          <p:cNvPr id="15" name="図 14">
            <a:extLst>
              <a:ext uri="{FF2B5EF4-FFF2-40B4-BE49-F238E27FC236}">
                <a16:creationId xmlns:a16="http://schemas.microsoft.com/office/drawing/2014/main" id="{484A1ABB-7EEE-1A74-531B-E3C7DF77904B}"/>
              </a:ext>
            </a:extLst>
          </p:cNvPr>
          <p:cNvPicPr>
            <a:picLocks noChangeAspect="1"/>
          </p:cNvPicPr>
          <p:nvPr/>
        </p:nvPicPr>
        <p:blipFill>
          <a:blip r:embed="rId3"/>
          <a:stretch>
            <a:fillRect/>
          </a:stretch>
        </p:blipFill>
        <p:spPr>
          <a:xfrm>
            <a:off x="311150" y="1904261"/>
            <a:ext cx="5857066" cy="4639413"/>
          </a:xfrm>
          <a:prstGeom prst="rect">
            <a:avLst/>
          </a:prstGeom>
        </p:spPr>
      </p:pic>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latin typeface="+mj-ea"/>
            </a:endParaRPr>
          </a:p>
        </p:txBody>
      </p:sp>
      <p:pic>
        <p:nvPicPr>
          <p:cNvPr id="18" name="図 17">
            <a:extLst>
              <a:ext uri="{FF2B5EF4-FFF2-40B4-BE49-F238E27FC236}">
                <a16:creationId xmlns:a16="http://schemas.microsoft.com/office/drawing/2014/main" id="{CFB8FA56-54B3-8A08-B45A-5A67CB87849F}"/>
              </a:ext>
            </a:extLst>
          </p:cNvPr>
          <p:cNvPicPr>
            <a:picLocks noChangeAspect="1"/>
          </p:cNvPicPr>
          <p:nvPr/>
        </p:nvPicPr>
        <p:blipFill>
          <a:blip r:embed="rId3"/>
          <a:stretch>
            <a:fillRect/>
          </a:stretch>
        </p:blipFill>
        <p:spPr>
          <a:xfrm>
            <a:off x="311150" y="1410965"/>
            <a:ext cx="6042025" cy="5167521"/>
          </a:xfrm>
          <a:prstGeom prst="rect">
            <a:avLst/>
          </a:prstGeom>
        </p:spPr>
      </p:pic>
      <p:sp>
        <p:nvSpPr>
          <p:cNvPr id="2" name="正方形/長方形 1">
            <a:extLst>
              <a:ext uri="{FF2B5EF4-FFF2-40B4-BE49-F238E27FC236}">
                <a16:creationId xmlns:a16="http://schemas.microsoft.com/office/drawing/2014/main" id="{22D7A017-71F2-4035-677D-AF49C1C280D6}"/>
              </a:ext>
            </a:extLst>
          </p:cNvPr>
          <p:cNvSpPr/>
          <p:nvPr/>
        </p:nvSpPr>
        <p:spPr>
          <a:xfrm>
            <a:off x="6455664" y="4604592"/>
            <a:ext cx="3924999" cy="2539157"/>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382390"/>
            <a:ext cx="3924999" cy="310673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949972"/>
            <a:ext cx="3912257" cy="2539157"/>
          </a:xfrm>
          <a:prstGeom prst="rect">
            <a:avLst/>
          </a:prstGeom>
          <a:noFill/>
        </p:spPr>
        <p:txBody>
          <a:bodyPr wrap="square" lIns="288000" tIns="0" rIns="252000" bIns="0" rtlCol="0">
            <a:spAutoFit/>
          </a:bodyPr>
          <a:lstStyle/>
          <a:p>
            <a:r>
              <a:rPr kumimoji="1" lang="ja-JP" altLang="en-US" sz="1100" dirty="0">
                <a:solidFill>
                  <a:schemeClr val="tx1"/>
                </a:solidFill>
                <a:latin typeface="+mn-ea"/>
                <a:ea typeface="+mn-ea"/>
              </a:rPr>
              <a:t>≪売上≫</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・●●期は●●の影響によって売上高が増加</a:t>
            </a:r>
            <a:endParaRPr kumimoji="1" lang="en-US" altLang="ja-JP" sz="1100" dirty="0">
              <a:solidFill>
                <a:schemeClr val="tx1"/>
              </a:solidFill>
              <a:latin typeface="+mn-ea"/>
              <a:ea typeface="+mn-ea"/>
            </a:endParaRPr>
          </a:p>
          <a:p>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≪原価≫</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・●●期は●●の影響によって一時的にコストが減少</a:t>
            </a:r>
            <a:endParaRPr kumimoji="1" lang="en-US" altLang="ja-JP" sz="1100" dirty="0">
              <a:solidFill>
                <a:schemeClr val="tx1"/>
              </a:solidFill>
              <a:latin typeface="+mn-ea"/>
              <a:ea typeface="+mn-ea"/>
            </a:endParaRPr>
          </a:p>
          <a:p>
            <a:br>
              <a:rPr kumimoji="1" lang="en-US" altLang="ja-JP" sz="1100" dirty="0">
                <a:solidFill>
                  <a:schemeClr val="tx1"/>
                </a:solidFill>
                <a:latin typeface="+mn-ea"/>
                <a:ea typeface="+mn-ea"/>
              </a:rPr>
            </a:br>
            <a:r>
              <a:rPr kumimoji="1" lang="ja-JP" altLang="en-US" sz="1100" dirty="0">
                <a:solidFill>
                  <a:schemeClr val="tx1"/>
                </a:solidFill>
                <a:latin typeface="+mn-ea"/>
                <a:ea typeface="+mn-ea"/>
              </a:rPr>
              <a:t>≪営業利益≫</a:t>
            </a:r>
            <a:br>
              <a:rPr kumimoji="1" lang="en-US" altLang="ja-JP" sz="1100" dirty="0">
                <a:solidFill>
                  <a:schemeClr val="tx1"/>
                </a:solidFill>
                <a:latin typeface="+mn-ea"/>
                <a:ea typeface="+mn-ea"/>
              </a:rPr>
            </a:br>
            <a:r>
              <a:rPr kumimoji="1" lang="ja-JP" altLang="en-US" sz="1100" dirty="0">
                <a:solidFill>
                  <a:schemeClr val="tx1"/>
                </a:solidFill>
                <a:latin typeface="+mn-ea"/>
                <a:ea typeface="+mn-ea"/>
              </a:rPr>
              <a:t>・●●期は●●の影響によって営業利益が増加</a:t>
            </a:r>
            <a:endParaRPr kumimoji="1" lang="en-US" altLang="ja-JP" sz="1100" dirty="0">
              <a:solidFill>
                <a:schemeClr val="tx1"/>
              </a:solidFill>
              <a:latin typeface="+mn-ea"/>
              <a:ea typeface="+mn-ea"/>
            </a:endParaRPr>
          </a:p>
          <a:p>
            <a:endParaRPr kumimoji="1" lang="en-US" altLang="ja-JP" sz="1100" dirty="0">
              <a:solidFill>
                <a:schemeClr val="tx1"/>
              </a:solidFill>
              <a:latin typeface="+mn-ea"/>
              <a:ea typeface="+mn-ea"/>
            </a:endParaRPr>
          </a:p>
          <a:p>
            <a:r>
              <a:rPr kumimoji="1" lang="ja-JP" altLang="en-US" sz="1100" b="1" u="sng" dirty="0">
                <a:solidFill>
                  <a:schemeClr val="tx1"/>
                </a:solidFill>
                <a:latin typeface="+mn-ea"/>
                <a:ea typeface="+mn-ea"/>
              </a:rPr>
              <a:t>≪見通し≫</a:t>
            </a:r>
            <a:endParaRPr kumimoji="1" lang="en-US" altLang="ja-JP" sz="1100" b="1" u="sng" dirty="0">
              <a:solidFill>
                <a:schemeClr val="tx1"/>
              </a:solidFill>
              <a:latin typeface="+mn-ea"/>
              <a:ea typeface="+mn-ea"/>
            </a:endParaRPr>
          </a:p>
          <a:p>
            <a:r>
              <a:rPr kumimoji="1" lang="ja-JP" altLang="en-US" sz="1100" b="1" u="sng" dirty="0">
                <a:solidFill>
                  <a:schemeClr val="tx1"/>
                </a:solidFill>
                <a:latin typeface="+mn-ea"/>
                <a:ea typeface="+mn-ea"/>
              </a:rPr>
              <a:t>進行期は売上●千円、営業利益●千円程度での着地見込み</a:t>
            </a:r>
            <a:endParaRPr kumimoji="1" lang="en-US" altLang="ja-JP" sz="1100" b="1" u="sng" dirty="0">
              <a:solidFill>
                <a:schemeClr val="tx1"/>
              </a:solidFill>
              <a:latin typeface="+mn-ea"/>
              <a:ea typeface="+mn-ea"/>
            </a:endParaRPr>
          </a:p>
          <a:p>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8406" y="5029312"/>
            <a:ext cx="3912257" cy="1862048"/>
          </a:xfrm>
          <a:prstGeom prst="rect">
            <a:avLst/>
          </a:prstGeom>
          <a:noFill/>
        </p:spPr>
        <p:txBody>
          <a:bodyPr wrap="square" lIns="288000" tIns="0" rIns="252000" bIns="0" rtlCol="0">
            <a:spAutoFit/>
          </a:bodyPr>
          <a:lstStyle/>
          <a:p>
            <a:r>
              <a:rPr kumimoji="1" lang="en-US" altLang="ja-JP" sz="1100" dirty="0">
                <a:solidFill>
                  <a:schemeClr val="tx1"/>
                </a:solidFill>
                <a:latin typeface="+mn-ea"/>
                <a:ea typeface="+mn-ea"/>
              </a:rPr>
              <a:t>【</a:t>
            </a:r>
            <a:r>
              <a:rPr kumimoji="1" lang="ja-JP" altLang="en-US" sz="1100" dirty="0">
                <a:solidFill>
                  <a:schemeClr val="tx1"/>
                </a:solidFill>
                <a:latin typeface="+mn-ea"/>
                <a:ea typeface="+mn-ea"/>
              </a:rPr>
              <a:t>調整項目</a:t>
            </a:r>
            <a:r>
              <a:rPr kumimoji="1" lang="en-US" altLang="ja-JP" sz="1100" dirty="0">
                <a:solidFill>
                  <a:schemeClr val="tx1"/>
                </a:solidFill>
                <a:latin typeface="+mn-ea"/>
                <a:ea typeface="+mn-ea"/>
              </a:rPr>
              <a:t>】</a:t>
            </a:r>
          </a:p>
          <a:p>
            <a:br>
              <a:rPr kumimoji="1" lang="en-US" altLang="ja-JP" sz="1100" dirty="0">
                <a:solidFill>
                  <a:schemeClr val="tx1"/>
                </a:solidFill>
                <a:latin typeface="+mn-ea"/>
                <a:ea typeface="+mn-ea"/>
              </a:rPr>
            </a:br>
            <a:r>
              <a:rPr kumimoji="1" lang="ja-JP" altLang="en-US" sz="1100" dirty="0">
                <a:solidFill>
                  <a:schemeClr val="tx1"/>
                </a:solidFill>
                <a:latin typeface="+mn-ea"/>
                <a:ea typeface="+mn-ea"/>
              </a:rPr>
              <a:t>≪役員報酬・社会保険料≫</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≪支払保険料≫</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endParaRPr kumimoji="1" lang="en-US" altLang="ja-JP" sz="1100" dirty="0">
              <a:solidFill>
                <a:schemeClr val="tx1"/>
              </a:solidFill>
              <a:latin typeface="+mn-ea"/>
              <a:ea typeface="+mn-ea"/>
            </a:endParaRPr>
          </a:p>
          <a:p>
            <a:pPr marL="171450" indent="-171450">
              <a:buFont typeface="Wingdings" panose="05000000000000000000" pitchFamily="2" charset="2"/>
              <a:buChar char="ü"/>
            </a:pPr>
            <a:r>
              <a:rPr kumimoji="1" lang="ja-JP" altLang="en-US" sz="1100" b="1" u="sng" dirty="0">
                <a:solidFill>
                  <a:schemeClr val="tx1"/>
                </a:solidFill>
                <a:latin typeface="+mn-ea"/>
                <a:ea typeface="+mn-ea"/>
              </a:rPr>
              <a:t>調整後</a:t>
            </a:r>
            <a:r>
              <a:rPr kumimoji="1" lang="en-US" altLang="ja-JP" sz="1100" b="1" u="sng" dirty="0">
                <a:solidFill>
                  <a:schemeClr val="tx1"/>
                </a:solidFill>
                <a:latin typeface="+mn-ea"/>
                <a:ea typeface="+mn-ea"/>
              </a:rPr>
              <a:t>EBITDA(</a:t>
            </a:r>
            <a:r>
              <a:rPr kumimoji="1" lang="ja-JP" altLang="en-US" sz="1100" b="1" u="sng" dirty="0">
                <a:solidFill>
                  <a:schemeClr val="tx1"/>
                </a:solidFill>
                <a:latin typeface="+mn-ea"/>
              </a:rPr>
              <a:t>過去</a:t>
            </a:r>
            <a:r>
              <a:rPr kumimoji="1" lang="en-US" altLang="ja-JP" sz="1100" b="1" u="sng" dirty="0">
                <a:solidFill>
                  <a:schemeClr val="tx1"/>
                </a:solidFill>
                <a:latin typeface="+mn-ea"/>
              </a:rPr>
              <a:t>3</a:t>
            </a:r>
            <a:r>
              <a:rPr kumimoji="1" lang="ja-JP" altLang="en-US" sz="1100" b="1" u="sng" dirty="0">
                <a:solidFill>
                  <a:schemeClr val="tx1"/>
                </a:solidFill>
                <a:latin typeface="+mn-ea"/>
              </a:rPr>
              <a:t>期平均</a:t>
            </a:r>
            <a:r>
              <a:rPr kumimoji="1" lang="en-US" altLang="ja-JP" sz="1100" b="1" u="sng" dirty="0">
                <a:solidFill>
                  <a:schemeClr val="tx1"/>
                </a:solidFill>
                <a:latin typeface="+mn-ea"/>
                <a:ea typeface="+mn-ea"/>
              </a:rPr>
              <a:t>)</a:t>
            </a:r>
            <a:r>
              <a:rPr kumimoji="1" lang="ja-JP" altLang="en-US" sz="1100" b="1" u="sng" dirty="0">
                <a:solidFill>
                  <a:schemeClr val="tx1"/>
                </a:solidFill>
                <a:latin typeface="+mn-ea"/>
                <a:ea typeface="+mn-ea"/>
              </a:rPr>
              <a:t>は●●●千円</a:t>
            </a:r>
            <a:endParaRPr kumimoji="1" lang="en-US" altLang="ja-JP" sz="1100" b="1" u="sng" dirty="0">
              <a:solidFill>
                <a:schemeClr val="tx1"/>
              </a:solidFill>
              <a:latin typeface="+mn-ea"/>
              <a:ea typeface="+mn-ea"/>
            </a:endParaRPr>
          </a:p>
        </p:txBody>
      </p:sp>
      <p:sp>
        <p:nvSpPr>
          <p:cNvPr id="11" name="正方形/長方形 10">
            <a:extLst>
              <a:ext uri="{FF2B5EF4-FFF2-40B4-BE49-F238E27FC236}">
                <a16:creationId xmlns:a16="http://schemas.microsoft.com/office/drawing/2014/main" id="{2FE807EE-E897-8A4A-556B-5E203CCC6848}"/>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進行期試算表も載せた方がベター。</a:t>
            </a:r>
          </a:p>
        </p:txBody>
      </p:sp>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668" y="4003252"/>
            <a:ext cx="4790832" cy="3140498"/>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latin typeface="+mj-ea"/>
            </a:endParaRPr>
          </a:p>
        </p:txBody>
      </p:sp>
      <p:pic>
        <p:nvPicPr>
          <p:cNvPr id="17" name="図 16">
            <a:extLst>
              <a:ext uri="{FF2B5EF4-FFF2-40B4-BE49-F238E27FC236}">
                <a16:creationId xmlns:a16="http://schemas.microsoft.com/office/drawing/2014/main" id="{4F02C725-F4FC-FDDF-3D48-DDE22138F72B}"/>
              </a:ext>
            </a:extLst>
          </p:cNvPr>
          <p:cNvPicPr>
            <a:picLocks noChangeAspect="1"/>
          </p:cNvPicPr>
          <p:nvPr/>
        </p:nvPicPr>
        <p:blipFill>
          <a:blip r:embed="rId3"/>
          <a:stretch>
            <a:fillRect/>
          </a:stretch>
        </p:blipFill>
        <p:spPr>
          <a:xfrm>
            <a:off x="339566" y="1382390"/>
            <a:ext cx="5006340" cy="5570220"/>
          </a:xfrm>
          <a:prstGeom prst="rect">
            <a:avLst/>
          </a:prstGeom>
        </p:spPr>
      </p:pic>
      <p:sp>
        <p:nvSpPr>
          <p:cNvPr id="2" name="正方形/長方形 1">
            <a:extLst>
              <a:ext uri="{FF2B5EF4-FFF2-40B4-BE49-F238E27FC236}">
                <a16:creationId xmlns:a16="http://schemas.microsoft.com/office/drawing/2014/main" id="{612EABB3-CE7D-61AA-49A7-0C5A39CB2F7F}"/>
              </a:ext>
            </a:extLst>
          </p:cNvPr>
          <p:cNvSpPr/>
          <p:nvPr/>
        </p:nvSpPr>
        <p:spPr>
          <a:xfrm>
            <a:off x="5559668" y="1382390"/>
            <a:ext cx="4790832" cy="250106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7024" y="1949972"/>
            <a:ext cx="4793476" cy="1523494"/>
          </a:xfrm>
          <a:prstGeom prst="rect">
            <a:avLst/>
          </a:prstGeom>
          <a:noFill/>
        </p:spPr>
        <p:txBody>
          <a:bodyPr wrap="square" lIns="288000" tIns="0" rIns="252000" bIns="0" rtlCol="0">
            <a:spAutoFit/>
          </a:bodyPr>
          <a:lstStyle/>
          <a:p>
            <a:r>
              <a:rPr kumimoji="1" lang="ja-JP" altLang="en-US" sz="1100" dirty="0">
                <a:solidFill>
                  <a:schemeClr val="tx1"/>
                </a:solidFill>
                <a:latin typeface="+mn-ea"/>
                <a:ea typeface="+mn-ea"/>
              </a:rPr>
              <a:t>≪建物≫</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br>
              <a:rPr kumimoji="1" lang="en-US" altLang="ja-JP" sz="1100" dirty="0">
                <a:solidFill>
                  <a:schemeClr val="tx1"/>
                </a:solidFill>
                <a:latin typeface="+mn-ea"/>
                <a:ea typeface="+mn-ea"/>
              </a:rPr>
            </a:br>
            <a:r>
              <a:rPr kumimoji="1" lang="ja-JP" altLang="en-US" sz="1100" dirty="0">
                <a:solidFill>
                  <a:schemeClr val="tx1"/>
                </a:solidFill>
                <a:latin typeface="+mn-ea"/>
                <a:ea typeface="+mn-ea"/>
              </a:rPr>
              <a:t>≪長期借入金借入≫</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br>
              <a:rPr kumimoji="1" lang="en-US" altLang="ja-JP" sz="1100" dirty="0">
                <a:solidFill>
                  <a:schemeClr val="tx1"/>
                </a:solidFill>
                <a:latin typeface="+mn-ea"/>
                <a:ea typeface="+mn-ea"/>
              </a:rPr>
            </a:br>
            <a:r>
              <a:rPr kumimoji="1" lang="ja-JP" altLang="en-US" sz="1100" dirty="0">
                <a:solidFill>
                  <a:schemeClr val="tx1"/>
                </a:solidFill>
                <a:latin typeface="+mn-ea"/>
                <a:ea typeface="+mn-ea"/>
              </a:rPr>
              <a:t>≪役員借入金≫</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endParaRPr kumimoji="1" lang="en-US" altLang="ja-JP" sz="1100" dirty="0">
              <a:solidFill>
                <a:schemeClr val="tx1"/>
              </a:solidFill>
              <a:latin typeface="+mn-ea"/>
              <a:ea typeface="+mn-ea"/>
            </a:endParaRP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7024" y="4108448"/>
            <a:ext cx="4793476" cy="2937920"/>
          </a:xfrm>
          <a:prstGeom prst="rect">
            <a:avLst/>
          </a:prstGeom>
          <a:noFill/>
        </p:spPr>
        <p:txBody>
          <a:bodyPr wrap="square" lIns="288000" tIns="0" rIns="252000" bIns="0" rtlCol="0">
            <a:spAutoFit/>
          </a:bodyPr>
          <a:lstStyle/>
          <a:p>
            <a:pPr>
              <a:lnSpc>
                <a:spcPct val="150000"/>
              </a:lnSpc>
            </a:pPr>
            <a:r>
              <a:rPr kumimoji="1" lang="en-US" altLang="ja-JP" sz="1100" dirty="0">
                <a:solidFill>
                  <a:schemeClr val="tx1"/>
                </a:solidFill>
                <a:latin typeface="+mn-ea"/>
                <a:ea typeface="+mn-ea"/>
              </a:rPr>
              <a:t>【</a:t>
            </a:r>
            <a:r>
              <a:rPr kumimoji="1" lang="ja-JP" altLang="en-US" sz="1100" dirty="0">
                <a:solidFill>
                  <a:schemeClr val="tx1"/>
                </a:solidFill>
                <a:latin typeface="+mn-ea"/>
                <a:ea typeface="+mn-ea"/>
              </a:rPr>
              <a:t>時価修正</a:t>
            </a:r>
            <a:r>
              <a:rPr kumimoji="1" lang="en-US" altLang="ja-JP" sz="1100" dirty="0">
                <a:solidFill>
                  <a:schemeClr val="tx1"/>
                </a:solidFill>
                <a:latin typeface="+mn-ea"/>
                <a:ea typeface="+mn-ea"/>
              </a:rPr>
              <a:t>】</a:t>
            </a:r>
          </a:p>
          <a:p>
            <a:pPr>
              <a:lnSpc>
                <a:spcPct val="150000"/>
              </a:lnSpc>
            </a:pPr>
            <a:r>
              <a:rPr kumimoji="1" lang="ja-JP" altLang="en-US" sz="1100" dirty="0">
                <a:solidFill>
                  <a:schemeClr val="tx1"/>
                </a:solidFill>
                <a:latin typeface="+mn-ea"/>
                <a:ea typeface="+mn-ea"/>
              </a:rPr>
              <a:t>≪土地≫</a:t>
            </a:r>
            <a:endParaRPr kumimoji="1" lang="en-US" altLang="ja-JP" sz="1100" dirty="0">
              <a:solidFill>
                <a:schemeClr val="tx1"/>
              </a:solidFill>
              <a:latin typeface="+mn-ea"/>
              <a:ea typeface="+mn-ea"/>
            </a:endParaRPr>
          </a:p>
          <a:p>
            <a:pPr>
              <a:lnSpc>
                <a:spcPct val="150000"/>
              </a:lnSpc>
            </a:pPr>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pPr>
              <a:lnSpc>
                <a:spcPct val="150000"/>
              </a:lnSpc>
            </a:pPr>
            <a:r>
              <a:rPr kumimoji="1" lang="ja-JP" altLang="en-US" sz="1100" dirty="0">
                <a:solidFill>
                  <a:schemeClr val="tx1"/>
                </a:solidFill>
                <a:latin typeface="+mn-ea"/>
                <a:ea typeface="+mn-ea"/>
              </a:rPr>
              <a:t>≪保険積立金≫</a:t>
            </a:r>
            <a:endParaRPr kumimoji="1" lang="en-US" altLang="ja-JP" sz="1100" dirty="0">
              <a:solidFill>
                <a:schemeClr val="tx1"/>
              </a:solidFill>
              <a:latin typeface="+mn-ea"/>
              <a:ea typeface="+mn-ea"/>
            </a:endParaRPr>
          </a:p>
          <a:p>
            <a:pPr>
              <a:lnSpc>
                <a:spcPct val="150000"/>
              </a:lnSpc>
            </a:pPr>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r>
              <a:rPr kumimoji="1" lang="ja-JP" altLang="en-US" sz="1100" dirty="0">
                <a:solidFill>
                  <a:schemeClr val="tx1"/>
                </a:solidFill>
                <a:latin typeface="+mn-ea"/>
                <a:ea typeface="+mn-ea"/>
              </a:rPr>
              <a:t>≪未払人件費≫</a:t>
            </a:r>
            <a:endParaRPr kumimoji="1" lang="en-US" altLang="ja-JP" sz="1100" dirty="0">
              <a:solidFill>
                <a:schemeClr val="tx1"/>
              </a:solidFill>
              <a:latin typeface="+mn-ea"/>
              <a:ea typeface="+mn-ea"/>
            </a:endParaRPr>
          </a:p>
          <a:p>
            <a:pPr>
              <a:lnSpc>
                <a:spcPct val="150000"/>
              </a:lnSpc>
            </a:pPr>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pPr>
              <a:lnSpc>
                <a:spcPct val="150000"/>
              </a:lnSpc>
            </a:pPr>
            <a:endParaRPr kumimoji="1" lang="en-US" altLang="ja-JP" sz="1100" dirty="0">
              <a:solidFill>
                <a:schemeClr val="tx1"/>
              </a:solidFill>
              <a:latin typeface="+mn-ea"/>
              <a:ea typeface="+mn-ea"/>
            </a:endParaRPr>
          </a:p>
          <a:p>
            <a:pPr>
              <a:lnSpc>
                <a:spcPct val="150000"/>
              </a:lnSpc>
            </a:pPr>
            <a:endParaRPr kumimoji="1" lang="en-US" altLang="ja-JP" sz="1100" dirty="0">
              <a:solidFill>
                <a:schemeClr val="tx1"/>
              </a:solidFill>
              <a:latin typeface="+mn-ea"/>
              <a:ea typeface="+mn-ea"/>
            </a:endParaRPr>
          </a:p>
          <a:p>
            <a:pPr marL="171450" indent="-171450">
              <a:lnSpc>
                <a:spcPct val="150000"/>
              </a:lnSpc>
              <a:buFont typeface="Wingdings" panose="05000000000000000000" pitchFamily="2" charset="2"/>
              <a:buChar char="ü"/>
            </a:pPr>
            <a:r>
              <a:rPr kumimoji="1" lang="ja-JP" altLang="en-US" sz="1100" b="1" u="sng" dirty="0">
                <a:solidFill>
                  <a:schemeClr val="tx1"/>
                </a:solidFill>
                <a:latin typeface="+mn-ea"/>
                <a:ea typeface="+mn-ea"/>
              </a:rPr>
              <a:t>想定時価純資産　　　　　●●●千円</a:t>
            </a:r>
            <a:endParaRPr kumimoji="1" lang="en-US" altLang="ja-JP" sz="1100" b="1" u="sng" dirty="0">
              <a:solidFill>
                <a:schemeClr val="tx1"/>
              </a:solidFill>
              <a:latin typeface="+mn-ea"/>
              <a:ea typeface="+mn-ea"/>
            </a:endParaRPr>
          </a:p>
          <a:p>
            <a:pPr marL="171450" indent="-171450">
              <a:buFont typeface="Wingdings" panose="05000000000000000000" pitchFamily="2" charset="2"/>
              <a:buChar char="p"/>
            </a:pPr>
            <a:endParaRPr kumimoji="1" lang="en-US" altLang="ja-JP" sz="1100" b="1" u="sng" dirty="0">
              <a:solidFill>
                <a:schemeClr val="tx1"/>
              </a:solidFill>
              <a:latin typeface="+mn-ea"/>
              <a:ea typeface="+mn-ea"/>
            </a:endParaRPr>
          </a:p>
          <a:p>
            <a:pPr marL="171450" indent="-171450">
              <a:lnSpc>
                <a:spcPct val="150000"/>
              </a:lnSpc>
              <a:buFont typeface="Wingdings" panose="05000000000000000000" pitchFamily="2" charset="2"/>
              <a:buChar char="ü"/>
            </a:pPr>
            <a:r>
              <a:rPr kumimoji="1" lang="ja-JP" altLang="en-US" sz="1100" b="1" u="sng" dirty="0">
                <a:solidFill>
                  <a:schemeClr val="tx1"/>
                </a:solidFill>
                <a:latin typeface="+mn-ea"/>
                <a:ea typeface="+mn-ea"/>
              </a:rPr>
              <a:t>想定ネットキャッシュ　　●●●千円</a:t>
            </a:r>
            <a:endParaRPr kumimoji="1" lang="en-US" altLang="ja-JP" sz="1100" b="1" u="sng" spc="50" dirty="0">
              <a:solidFill>
                <a:schemeClr val="tx1"/>
              </a:solidFill>
              <a:latin typeface="+mn-ea"/>
              <a:ea typeface="+mn-ea"/>
            </a:endParaRPr>
          </a:p>
        </p:txBody>
      </p:sp>
      <p:sp>
        <p:nvSpPr>
          <p:cNvPr id="9" name="正方形/長方形 8">
            <a:extLst>
              <a:ext uri="{FF2B5EF4-FFF2-40B4-BE49-F238E27FC236}">
                <a16:creationId xmlns:a16="http://schemas.microsoft.com/office/drawing/2014/main" id="{4D432077-A71D-3C1B-85E9-06F8D0881C79}"/>
              </a:ext>
            </a:extLst>
          </p:cNvPr>
          <p:cNvSpPr/>
          <p:nvPr/>
        </p:nvSpPr>
        <p:spPr>
          <a:xfrm>
            <a:off x="-1503485" y="7622284"/>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印額が細かいものはその他に纏めるように。ネットキャッシュは運転資金は無視で</a:t>
            </a:r>
            <a:r>
              <a:rPr kumimoji="1" lang="en-US" altLang="ja-JP" dirty="0">
                <a:solidFill>
                  <a:srgbClr val="FF0000"/>
                </a:solidFill>
              </a:rPr>
              <a:t>OK</a:t>
            </a:r>
            <a:endParaRPr kumimoji="1" lang="ja-JP" altLang="en-US" dirty="0">
              <a:solidFill>
                <a:srgbClr val="FF0000"/>
              </a:solidFill>
            </a:endParaRPr>
          </a:p>
        </p:txBody>
      </p:sp>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株式</a:t>
            </a:r>
            <a:r>
              <a:rPr lang="en-US" altLang="ja-JP" sz="2200" b="1" spc="50" dirty="0">
                <a:solidFill>
                  <a:schemeClr val="dk1"/>
                </a:solidFill>
                <a:latin typeface="+mj-ea"/>
                <a:ea typeface="+mj-ea"/>
              </a:rPr>
              <a:t>100</a:t>
            </a:r>
            <a:r>
              <a:rPr lang="ja-JP" altLang="en-US" sz="2200" b="1" spc="50" dirty="0">
                <a:solidFill>
                  <a:schemeClr val="dk1"/>
                </a:solidFill>
                <a:latin typeface="+mj-ea"/>
                <a:ea typeface="+mj-ea"/>
              </a:rPr>
              <a:t>％譲渡</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en-US" altLang="ja-JP" spc="50" dirty="0"/>
              <a:t>XXXXXX</a:t>
            </a:r>
            <a:r>
              <a:rPr lang="ja-JP" altLang="en-US" spc="50" dirty="0"/>
              <a:t>千円以上</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427548"/>
            <a:ext cx="7074659" cy="702756"/>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pc="50" dirty="0"/>
              <a:t>従業員の継続雇用</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a:t>連帯保証の解除</a:t>
            </a:r>
            <a:endParaRPr lang="en-US" altLang="ja-JP"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spc="50" dirty="0"/>
              <a:t>後継者不在</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 name="正方形/長方形 1">
            <a:extLst>
              <a:ext uri="{FF2B5EF4-FFF2-40B4-BE49-F238E27FC236}">
                <a16:creationId xmlns:a16="http://schemas.microsoft.com/office/drawing/2014/main" id="{F52586CF-B7AE-2181-0789-4FEFAA21701C}"/>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なるべく応相談は避ける事。引継ぎ可能年数も確認する事。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449263"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ea typeface="+mj-ea"/>
              </a:rPr>
              <a:t>●●●株式会社</a:t>
            </a:r>
            <a:endParaRPr kumimoji="1" lang="en-US" altLang="ja-JP" sz="1200" b="1" spc="50" dirty="0">
              <a:solidFill>
                <a:schemeClr val="tx1"/>
              </a:solidFill>
              <a:latin typeface="+mj-ea"/>
              <a:ea typeface="+mj-ea"/>
            </a:endParaRPr>
          </a:p>
          <a:p>
            <a:pPr>
              <a:lnSpc>
                <a:spcPct val="120000"/>
              </a:lnSpc>
              <a:spcAft>
                <a:spcPts val="500"/>
              </a:spcAft>
              <a:buClr>
                <a:schemeClr val="tx2"/>
              </a:buClr>
            </a:pPr>
            <a:r>
              <a:rPr kumimoji="1" lang="ja-JP" altLang="en-US" sz="1200" b="1" spc="50" dirty="0">
                <a:solidFill>
                  <a:schemeClr val="tx1"/>
                </a:solidFill>
                <a:latin typeface="+mj-ea"/>
                <a:ea typeface="+mj-ea"/>
              </a:rPr>
              <a:t>　（●●原料）</a:t>
            </a:r>
            <a:endParaRPr kumimoji="1" lang="en-US" altLang="ja-JP" sz="1200" b="1" spc="50" dirty="0">
              <a:solidFill>
                <a:schemeClr val="tx1"/>
              </a:solidFill>
              <a:latin typeface="+mj-ea"/>
              <a:ea typeface="+mj-ea"/>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ea typeface="+mj-ea"/>
              </a:rPr>
              <a:t>●●●株式会社</a:t>
            </a:r>
            <a:endParaRPr kumimoji="1" lang="en-US" altLang="ja-JP" sz="1200" b="1" spc="50" dirty="0">
              <a:solidFill>
                <a:schemeClr val="tx1"/>
              </a:solidFill>
              <a:latin typeface="+mj-ea"/>
              <a:ea typeface="+mj-ea"/>
            </a:endParaRPr>
          </a:p>
          <a:p>
            <a:pPr>
              <a:lnSpc>
                <a:spcPct val="120000"/>
              </a:lnSpc>
              <a:spcAft>
                <a:spcPts val="500"/>
              </a:spcAft>
              <a:buClr>
                <a:schemeClr val="tx2"/>
              </a:buClr>
            </a:pPr>
            <a:r>
              <a:rPr kumimoji="1" lang="ja-JP" altLang="en-US" sz="1200" b="1" spc="50" dirty="0">
                <a:solidFill>
                  <a:schemeClr val="tx1"/>
                </a:solidFill>
                <a:latin typeface="+mj-ea"/>
                <a:ea typeface="+mj-ea"/>
              </a:rPr>
              <a:t>　（●●材料）</a:t>
            </a:r>
            <a:endParaRPr kumimoji="1" lang="en-US" altLang="ja-JP" sz="1200" b="1" spc="50" dirty="0">
              <a:solidFill>
                <a:schemeClr val="tx1"/>
              </a:solidFill>
              <a:latin typeface="+mj-ea"/>
              <a:ea typeface="+mj-ea"/>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●●●株式会社</a:t>
            </a:r>
            <a:endParaRPr kumimoji="1" lang="en-US" altLang="ja-JP" sz="1200" b="1" spc="50" dirty="0">
              <a:solidFill>
                <a:schemeClr val="tx1"/>
              </a:solidFill>
              <a:latin typeface="+mj-ea"/>
            </a:endParaRPr>
          </a:p>
          <a:p>
            <a:pPr>
              <a:lnSpc>
                <a:spcPct val="120000"/>
              </a:lnSpc>
              <a:spcAft>
                <a:spcPts val="500"/>
              </a:spcAft>
              <a:buClr>
                <a:schemeClr val="tx2"/>
              </a:buClr>
            </a:pPr>
            <a:r>
              <a:rPr kumimoji="1" lang="ja-JP" altLang="en-US" sz="1200" b="1" spc="50" dirty="0">
                <a:solidFill>
                  <a:schemeClr val="tx1"/>
                </a:solidFill>
                <a:latin typeface="+mj-ea"/>
                <a:ea typeface="+mj-ea"/>
              </a:rPr>
              <a:t>　（梱包資材）</a:t>
            </a:r>
            <a:endParaRPr kumimoji="1" lang="en-US" altLang="ja-JP" sz="1200" b="1" spc="50" dirty="0">
              <a:solidFill>
                <a:schemeClr val="tx1"/>
              </a:solidFill>
              <a:latin typeface="+mj-ea"/>
              <a:ea typeface="+mj-ea"/>
            </a:endParaRPr>
          </a:p>
          <a:p>
            <a:pPr>
              <a:lnSpc>
                <a:spcPct val="120000"/>
              </a:lnSpc>
              <a:spcAft>
                <a:spcPts val="500"/>
              </a:spcAft>
              <a:buClr>
                <a:schemeClr val="tx2"/>
              </a:buClr>
            </a:pPr>
            <a:endParaRPr kumimoji="1" lang="ja-JP" altLang="en-US" sz="1200" b="1" spc="50" dirty="0">
              <a:solidFill>
                <a:schemeClr val="tx1"/>
              </a:solidFill>
              <a:latin typeface="+mj-ea"/>
              <a:ea typeface="+mj-ea"/>
            </a:endParaRP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082550"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●●●株式会社</a:t>
            </a:r>
            <a:endParaRPr kumimoji="1" lang="en-US" altLang="ja-JP" sz="1200" b="1" spc="50" dirty="0">
              <a:solidFill>
                <a:schemeClr val="tx1"/>
              </a:solidFill>
              <a:latin typeface="+mj-ea"/>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●●●株式会社</a:t>
            </a:r>
            <a:endParaRPr kumimoji="1" lang="en-US" altLang="ja-JP" sz="1200" b="1" spc="50" dirty="0">
              <a:solidFill>
                <a:schemeClr val="tx1"/>
              </a:solidFill>
              <a:latin typeface="+mj-ea"/>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●●●株式会社</a:t>
            </a:r>
            <a:endParaRPr kumimoji="1" lang="en-US" altLang="ja-JP" sz="1200" b="1" spc="50" dirty="0">
              <a:solidFill>
                <a:schemeClr val="tx1"/>
              </a:solidFill>
              <a:latin typeface="+mj-ea"/>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●●●株式会社</a:t>
            </a:r>
            <a:endParaRPr kumimoji="1" lang="en-US" altLang="ja-JP" sz="1200" b="1" spc="50" dirty="0">
              <a:solidFill>
                <a:schemeClr val="tx1"/>
              </a:solidFill>
              <a:latin typeface="+mj-ea"/>
            </a:endParaRP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85906" y="3321256"/>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chemeClr val="tx2"/>
                </a:solidFill>
                <a:ea typeface="+mj-ea"/>
              </a:rPr>
              <a:t>●●事業</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6290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endParaRPr kumimoji="1" lang="en-US" altLang="ja-JP" sz="1100" dirty="0">
              <a:solidFill>
                <a:schemeClr val="tx1"/>
              </a:solidFill>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9135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endParaRPr kumimoji="1" lang="en-US" altLang="ja-JP" sz="1100" dirty="0">
              <a:solidFill>
                <a:schemeClr val="tx1"/>
              </a:solidFill>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p>
        </p:txBody>
      </p:sp>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chemeClr val="tx2"/>
                </a:solidFill>
                <a:ea typeface="+mj-ea"/>
              </a:rPr>
              <a:t>●●事業</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br>
              <a:rPr kumimoji="1" lang="en-US" altLang="ja-JP" sz="1100" dirty="0">
                <a:solidFill>
                  <a:schemeClr val="tx1"/>
                </a:solidFill>
              </a:rPr>
            </a:br>
            <a:r>
              <a:rPr kumimoji="1" lang="ja-JP" altLang="en-US" sz="1000" dirty="0">
                <a:solidFill>
                  <a:schemeClr val="tx1"/>
                </a:solidFill>
              </a:rPr>
              <a:t>（年間約●万件）</a:t>
            </a: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p>
        </p:txBody>
      </p:sp>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4369959"/>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chemeClr val="tx2"/>
                </a:solidFill>
                <a:ea typeface="+mj-ea"/>
              </a:rPr>
              <a:t>関連サービス</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endParaRPr kumimoji="1" lang="en-US" altLang="ja-JP" sz="1100" dirty="0">
              <a:solidFill>
                <a:schemeClr val="tx1"/>
              </a:solidFill>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endParaRPr kumimoji="1" lang="en-US" altLang="ja-JP" sz="1100" dirty="0">
              <a:solidFill>
                <a:schemeClr val="tx1"/>
              </a:solidFill>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a:t>
            </a:r>
          </a:p>
        </p:txBody>
      </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46901" y="6351122"/>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●●●株式会社</a:t>
            </a:r>
            <a:endParaRPr kumimoji="1" lang="en-US" altLang="ja-JP" sz="1200" b="1" spc="50" dirty="0">
              <a:solidFill>
                <a:schemeClr val="tx1"/>
              </a:solidFill>
              <a:latin typeface="+mj-ea"/>
            </a:endParaRPr>
          </a:p>
          <a:p>
            <a:pPr>
              <a:lnSpc>
                <a:spcPct val="120000"/>
              </a:lnSpc>
              <a:spcAft>
                <a:spcPts val="500"/>
              </a:spcAft>
              <a:buClr>
                <a:schemeClr val="tx2"/>
              </a:buClr>
            </a:pPr>
            <a:r>
              <a:rPr kumimoji="1" lang="ja-JP" altLang="en-US" sz="1200" b="1" spc="50" dirty="0">
                <a:solidFill>
                  <a:schemeClr val="tx1"/>
                </a:solidFill>
                <a:latin typeface="+mj-ea"/>
              </a:rPr>
              <a:t>　（●●工程）</a:t>
            </a:r>
            <a:endParaRPr kumimoji="1" lang="en-US" altLang="ja-JP" sz="1200" b="1" spc="50" dirty="0">
              <a:solidFill>
                <a:schemeClr val="tx1"/>
              </a:solidFill>
              <a:latin typeface="+mj-ea"/>
            </a:endParaRPr>
          </a:p>
        </p:txBody>
      </p:sp>
      <p:sp>
        <p:nvSpPr>
          <p:cNvPr id="26" name="正方形/長方形 25">
            <a:extLst>
              <a:ext uri="{FF2B5EF4-FFF2-40B4-BE49-F238E27FC236}">
                <a16:creationId xmlns:a16="http://schemas.microsoft.com/office/drawing/2014/main" id="{9C061C40-9401-AAF5-F431-12A37BDB4C30}"/>
              </a:ext>
            </a:extLst>
          </p:cNvPr>
          <p:cNvSpPr/>
          <p:nvPr/>
        </p:nvSpPr>
        <p:spPr>
          <a:xfrm>
            <a:off x="5306901" y="6348318"/>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●●●株式会社</a:t>
            </a:r>
            <a:endParaRPr kumimoji="1" lang="en-US" altLang="ja-JP" sz="1200" b="1" spc="50" dirty="0">
              <a:solidFill>
                <a:schemeClr val="tx1"/>
              </a:solidFill>
              <a:latin typeface="+mj-ea"/>
            </a:endParaRPr>
          </a:p>
          <a:p>
            <a:pPr>
              <a:lnSpc>
                <a:spcPct val="120000"/>
              </a:lnSpc>
              <a:spcAft>
                <a:spcPts val="500"/>
              </a:spcAft>
              <a:buClr>
                <a:schemeClr val="tx2"/>
              </a:buClr>
            </a:pPr>
            <a:r>
              <a:rPr kumimoji="1" lang="ja-JP" altLang="en-US" sz="1200" b="1" spc="50" dirty="0">
                <a:solidFill>
                  <a:schemeClr val="tx1"/>
                </a:solidFill>
                <a:latin typeface="+mj-ea"/>
              </a:rPr>
              <a:t>　（●●加工）</a:t>
            </a:r>
            <a:endParaRPr kumimoji="1" lang="en-US" altLang="ja-JP" sz="1200" b="1" spc="50" dirty="0">
              <a:solidFill>
                <a:schemeClr val="tx1"/>
              </a:solidFill>
              <a:latin typeface="+mj-ea"/>
            </a:endParaRP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32" name="正方形/長方形 31">
            <a:extLst>
              <a:ext uri="{FF2B5EF4-FFF2-40B4-BE49-F238E27FC236}">
                <a16:creationId xmlns:a16="http://schemas.microsoft.com/office/drawing/2014/main" id="{B5FED00F-5EB0-DCD0-7AF1-DC5C5636DC8A}"/>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rPr>
              <a:t>ビジネスモデルを正しく理解して、図式化してください。</a:t>
            </a:r>
            <a:endParaRPr kumimoji="1" lang="en-US" altLang="ja-JP" sz="1400" dirty="0">
              <a:solidFill>
                <a:srgbClr val="FF0000"/>
              </a:solidFill>
            </a:endParaRPr>
          </a:p>
          <a:p>
            <a:pPr algn="ctr"/>
            <a:r>
              <a:rPr kumimoji="1" lang="ja-JP" altLang="en-US" sz="1400" dirty="0">
                <a:solidFill>
                  <a:srgbClr val="FF0000"/>
                </a:solidFill>
              </a:rPr>
              <a:t>何をやっているの？何の工程をやっているの？加工サイズ・ロットは？試作は？保守メンテは？営業手法は？案件の期間は？</a:t>
            </a: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
        <p:nvSpPr>
          <p:cNvPr id="2" name="正方形/長方形 1">
            <a:extLst>
              <a:ext uri="{FF2B5EF4-FFF2-40B4-BE49-F238E27FC236}">
                <a16:creationId xmlns:a16="http://schemas.microsoft.com/office/drawing/2014/main" id="{A866BED6-5882-A15A-B957-622032FF9CB8}"/>
              </a:ext>
            </a:extLst>
          </p:cNvPr>
          <p:cNvSpPr/>
          <p:nvPr/>
        </p:nvSpPr>
        <p:spPr>
          <a:xfrm>
            <a:off x="0" y="6538374"/>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rPr>
              <a:t>必要に応じてエグゼクティブサマリーの基本情報の次に移動させてください。</a:t>
            </a:r>
          </a:p>
        </p:txBody>
      </p:sp>
    </p:spTree>
    <p:extLst>
      <p:ext uri="{BB962C8B-B14F-4D97-AF65-F5344CB8AC3E}">
        <p14:creationId xmlns:p14="http://schemas.microsoft.com/office/powerpoint/2010/main" val="538383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lang="ja-JP" altLang="en-US" dirty="0"/>
              <a:t>サービス概要、製品一例、工事実績、など</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5" name="正方形/長方形 4">
            <a:extLst>
              <a:ext uri="{FF2B5EF4-FFF2-40B4-BE49-F238E27FC236}">
                <a16:creationId xmlns:a16="http://schemas.microsoft.com/office/drawing/2014/main" id="{E043E0C5-169B-2439-2B33-8AC6FEC5CBAE}"/>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対象会社のサービス、商品、製品等の説明ページを作成してください。</a:t>
            </a:r>
            <a:endParaRPr kumimoji="1" lang="en-US" altLang="ja-JP" dirty="0">
              <a:solidFill>
                <a:srgbClr val="FF0000"/>
              </a:solidFill>
            </a:endParaRPr>
          </a:p>
        </p:txBody>
      </p:sp>
      <p:sp>
        <p:nvSpPr>
          <p:cNvPr id="4" name="正方形/長方形 3">
            <a:extLst>
              <a:ext uri="{FF2B5EF4-FFF2-40B4-BE49-F238E27FC236}">
                <a16:creationId xmlns:a16="http://schemas.microsoft.com/office/drawing/2014/main" id="{C437FAAD-70F0-8D45-E7A3-891958F3833E}"/>
              </a:ext>
            </a:extLst>
          </p:cNvPr>
          <p:cNvSpPr/>
          <p:nvPr/>
        </p:nvSpPr>
        <p:spPr>
          <a:xfrm>
            <a:off x="-1" y="6510784"/>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rPr>
              <a:t>必要に応じてエグゼクティブサマリーに移動させてください。</a:t>
            </a:r>
          </a:p>
        </p:txBody>
      </p:sp>
    </p:spTree>
    <p:extLst>
      <p:ext uri="{BB962C8B-B14F-4D97-AF65-F5344CB8AC3E}">
        <p14:creationId xmlns:p14="http://schemas.microsoft.com/office/powerpoint/2010/main" val="252751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ea typeface="+mn-ea"/>
              </a:rPr>
              <a:t>＠＠＠＠＠＠＠＠＠＠＠＠＠＠＠＠＠＠＠＠＠＠＠＠＠＠＠＠＠＠＠＠＠＠＠＠＠＠＠＠＠＠＠＠＠＠＠＠＠＠＠＠＠＠＠＠＠＠＠＠＠＠＠＠＠＠＠＠＠＠＠＠＠＠＠＠＠＠＠＠＠＠＠</a:t>
            </a:r>
            <a:endParaRPr kumimoji="1" lang="ja-JP" altLang="en-US" sz="1200" spc="30" dirty="0">
              <a:latin typeface="+mn-ea"/>
              <a:ea typeface="+mn-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5" name="正方形/長方形 4">
            <a:extLst>
              <a:ext uri="{FF2B5EF4-FFF2-40B4-BE49-F238E27FC236}">
                <a16:creationId xmlns:a16="http://schemas.microsoft.com/office/drawing/2014/main" id="{6E3E6AFB-E2CA-093D-7419-654BFA03A98E}"/>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ビジネス面に特化して、２～３つ記載。何故お客様に選ばれるのか？。競合優位性は？市場環境は？</a:t>
            </a:r>
            <a:endParaRPr kumimoji="1" lang="en-US" altLang="ja-JP" dirty="0">
              <a:solidFill>
                <a:srgbClr val="FF0000"/>
              </a:solidFill>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ea typeface="+mn-ea"/>
              </a:rPr>
              <a:t>＠＠＠＠＠＠＠＠＠＠＠＠＠＠＠＠＠＠＠＠＠＠＠＠＠＠＠＠＠＠＠＠＠＠＠＠＠＠＠＠＠＠＠＠＠＠＠＠＠＠＠＠＠＠＠＠＠＠＠＠＠＠＠＠＠＠＠＠＠＠＠＠＠＠＠＠＠＠＠＠＠＠＠</a:t>
            </a:r>
            <a:endParaRPr kumimoji="1" lang="ja-JP" altLang="en-US" sz="1200" spc="30" dirty="0">
              <a:latin typeface="+mn-ea"/>
              <a:ea typeface="+mn-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ea typeface="+mn-ea"/>
              </a:rPr>
              <a:t>＠＠＠＠＠＠＠＠＠＠＠＠＠＠＠＠＠＠＠＠＠＠＠＠＠＠＠＠＠＠＠＠＠＠＠＠＠＠＠＠＠＠＠＠＠＠＠＠＠＠＠＠＠＠＠＠＠＠＠＠＠＠＠＠＠＠＠＠＠＠＠＠＠＠＠＠＠＠＠＠＠＠＠</a:t>
            </a:r>
            <a:endParaRPr kumimoji="1" lang="ja-JP" altLang="en-US" sz="1200" spc="30" dirty="0">
              <a:latin typeface="+mn-ea"/>
              <a:ea typeface="+mn-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●●別売上高</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3" name="正方形/長方形 2">
            <a:extLst>
              <a:ext uri="{FF2B5EF4-FFF2-40B4-BE49-F238E27FC236}">
                <a16:creationId xmlns:a16="http://schemas.microsoft.com/office/drawing/2014/main" id="{F89AD88C-5522-2738-BD6C-A501E8B6A3C3}"/>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事業別、サービス別、店舗別、商品別、顧客</a:t>
            </a:r>
            <a:r>
              <a:rPr kumimoji="1" lang="en-US" altLang="ja-JP" dirty="0">
                <a:solidFill>
                  <a:srgbClr val="FF0000"/>
                </a:solidFill>
              </a:rPr>
              <a:t>(</a:t>
            </a:r>
            <a:r>
              <a:rPr kumimoji="1" lang="ja-JP" altLang="en-US" dirty="0">
                <a:solidFill>
                  <a:srgbClr val="FF0000"/>
                </a:solidFill>
              </a:rPr>
              <a:t>販売先</a:t>
            </a:r>
            <a:r>
              <a:rPr kumimoji="1" lang="en-US" altLang="ja-JP" dirty="0">
                <a:solidFill>
                  <a:srgbClr val="FF0000"/>
                </a:solidFill>
              </a:rPr>
              <a:t>)</a:t>
            </a:r>
            <a:r>
              <a:rPr kumimoji="1" lang="ja-JP" altLang="en-US" dirty="0">
                <a:solidFill>
                  <a:srgbClr val="FF0000"/>
                </a:solidFill>
              </a:rPr>
              <a:t>別等、案件ごとに検討して作成してください。</a:t>
            </a:r>
            <a:endParaRPr kumimoji="1" lang="en-US" altLang="ja-JP" dirty="0">
              <a:solidFill>
                <a:srgbClr val="FF0000"/>
              </a:solidFill>
            </a:endParaRPr>
          </a:p>
          <a:p>
            <a:pPr algn="ctr"/>
            <a:r>
              <a:rPr kumimoji="1" lang="ja-JP" altLang="en-US" dirty="0">
                <a:solidFill>
                  <a:srgbClr val="FF0000"/>
                </a:solidFill>
              </a:rPr>
              <a:t>必要に応じて部門別</a:t>
            </a:r>
            <a:r>
              <a:rPr kumimoji="1" lang="en-US" altLang="ja-JP" dirty="0">
                <a:solidFill>
                  <a:srgbClr val="FF0000"/>
                </a:solidFill>
              </a:rPr>
              <a:t>PL</a:t>
            </a:r>
            <a:r>
              <a:rPr kumimoji="1" lang="ja-JP" altLang="en-US" dirty="0">
                <a:solidFill>
                  <a:srgbClr val="FF0000"/>
                </a:solidFill>
              </a:rPr>
              <a:t>等も作成。</a:t>
            </a:r>
          </a:p>
        </p:txBody>
      </p:sp>
      <p:pic>
        <p:nvPicPr>
          <p:cNvPr id="8" name="図 7">
            <a:extLst>
              <a:ext uri="{FF2B5EF4-FFF2-40B4-BE49-F238E27FC236}">
                <a16:creationId xmlns:a16="http://schemas.microsoft.com/office/drawing/2014/main" id="{69E1CCC3-F740-5F27-7669-558B7FE6A47F}"/>
              </a:ext>
            </a:extLst>
          </p:cNvPr>
          <p:cNvPicPr>
            <a:picLocks noChangeAspect="1"/>
          </p:cNvPicPr>
          <p:nvPr/>
        </p:nvPicPr>
        <p:blipFill>
          <a:blip r:embed="rId3"/>
          <a:stretch>
            <a:fillRect/>
          </a:stretch>
        </p:blipFill>
        <p:spPr>
          <a:xfrm>
            <a:off x="311150" y="1382390"/>
            <a:ext cx="9639300" cy="4297680"/>
          </a:xfrm>
          <a:prstGeom prst="rect">
            <a:avLst/>
          </a:prstGeom>
        </p:spPr>
      </p:pic>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588634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仕入先別取引高</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pic>
        <p:nvPicPr>
          <p:cNvPr id="10" name="図 9">
            <a:extLst>
              <a:ext uri="{FF2B5EF4-FFF2-40B4-BE49-F238E27FC236}">
                <a16:creationId xmlns:a16="http://schemas.microsoft.com/office/drawing/2014/main" id="{94004E15-467D-B058-E32B-5DA809BB2805}"/>
              </a:ext>
            </a:extLst>
          </p:cNvPr>
          <p:cNvPicPr>
            <a:picLocks noChangeAspect="1"/>
          </p:cNvPicPr>
          <p:nvPr/>
        </p:nvPicPr>
        <p:blipFill>
          <a:blip r:embed="rId3"/>
          <a:stretch>
            <a:fillRect/>
          </a:stretch>
        </p:blipFill>
        <p:spPr>
          <a:xfrm>
            <a:off x="311150" y="1382390"/>
            <a:ext cx="9555480" cy="4297680"/>
          </a:xfrm>
          <a:prstGeom prst="rect">
            <a:avLst/>
          </a:prstGeom>
        </p:spPr>
      </p:pic>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1962968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lang="ja-JP" altLang="en-US" dirty="0"/>
              <a:t>外注費</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pic>
        <p:nvPicPr>
          <p:cNvPr id="3" name="図 2">
            <a:extLst>
              <a:ext uri="{FF2B5EF4-FFF2-40B4-BE49-F238E27FC236}">
                <a16:creationId xmlns:a16="http://schemas.microsoft.com/office/drawing/2014/main" id="{77A0A1B3-5FDA-ACC6-6748-556CAD6DA110}"/>
              </a:ext>
            </a:extLst>
          </p:cNvPr>
          <p:cNvPicPr>
            <a:picLocks noChangeAspect="1"/>
          </p:cNvPicPr>
          <p:nvPr/>
        </p:nvPicPr>
        <p:blipFill>
          <a:blip r:embed="rId3"/>
          <a:stretch>
            <a:fillRect/>
          </a:stretch>
        </p:blipFill>
        <p:spPr>
          <a:xfrm>
            <a:off x="311150" y="1382390"/>
            <a:ext cx="9555480" cy="4297680"/>
          </a:xfrm>
          <a:prstGeom prst="rect">
            <a:avLst/>
          </a:prstGeom>
        </p:spPr>
      </p:pic>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2932585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cxnSp>
        <p:nvCxnSpPr>
          <p:cNvPr id="64" name="直線​​コネクタ(S) 9">
            <a:extLst>
              <a:ext uri="{FF2B5EF4-FFF2-40B4-BE49-F238E27FC236}">
                <a16:creationId xmlns:a16="http://schemas.microsoft.com/office/drawing/2014/main" id="{65B26E30-39C2-CFD4-08CF-6731EF901977}"/>
              </a:ext>
              <a:ext uri="{C183D7F6-B498-43B3-948B-1728B52AA6E4}">
                <adec:decorative xmlns:adec="http://schemas.microsoft.com/office/drawing/2017/decorative" val="1"/>
              </a:ext>
            </a:extLst>
          </p:cNvPr>
          <p:cNvCxnSpPr>
            <a:cxnSpLocks/>
          </p:cNvCxnSpPr>
          <p:nvPr/>
        </p:nvCxnSpPr>
        <p:spPr>
          <a:xfrm flipH="1">
            <a:off x="8030651" y="5857410"/>
            <a:ext cx="240566" cy="0"/>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cxnSp>
        <p:nvCxnSpPr>
          <p:cNvPr id="2" name="直線​​コネクタ(S) 82">
            <a:extLst>
              <a:ext uri="{FF2B5EF4-FFF2-40B4-BE49-F238E27FC236}">
                <a16:creationId xmlns:a16="http://schemas.microsoft.com/office/drawing/2014/main" id="{A733DC5B-30C7-FE54-AAF2-E4976DAB7664}"/>
              </a:ext>
              <a:ext uri="{C183D7F6-B498-43B3-948B-1728B52AA6E4}">
                <adec:decorative xmlns:adec="http://schemas.microsoft.com/office/drawing/2017/decorative" val="1"/>
              </a:ext>
            </a:extLst>
          </p:cNvPr>
          <p:cNvCxnSpPr>
            <a:cxnSpLocks/>
          </p:cNvCxnSpPr>
          <p:nvPr/>
        </p:nvCxnSpPr>
        <p:spPr>
          <a:xfrm>
            <a:off x="3529809" y="4569812"/>
            <a:ext cx="0" cy="2001991"/>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3" name="直線​​コネクタ(S) 83">
            <a:extLst>
              <a:ext uri="{FF2B5EF4-FFF2-40B4-BE49-F238E27FC236}">
                <a16:creationId xmlns:a16="http://schemas.microsoft.com/office/drawing/2014/main" id="{86397370-6F26-23BA-7495-0748CD2D3D3E}"/>
              </a:ext>
              <a:ext uri="{C183D7F6-B498-43B3-948B-1728B52AA6E4}">
                <adec:decorative xmlns:adec="http://schemas.microsoft.com/office/drawing/2017/decorative" val="1"/>
              </a:ext>
            </a:extLst>
          </p:cNvPr>
          <p:cNvCxnSpPr>
            <a:cxnSpLocks/>
          </p:cNvCxnSpPr>
          <p:nvPr/>
        </p:nvCxnSpPr>
        <p:spPr>
          <a:xfrm>
            <a:off x="5945443" y="4569811"/>
            <a:ext cx="0" cy="521226"/>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4" name="直線​​コネクタ(S) 84">
            <a:extLst>
              <a:ext uri="{FF2B5EF4-FFF2-40B4-BE49-F238E27FC236}">
                <a16:creationId xmlns:a16="http://schemas.microsoft.com/office/drawing/2014/main" id="{6C258DC5-8536-4B0C-03A9-F3D7EFC0E994}"/>
              </a:ext>
              <a:ext uri="{C183D7F6-B498-43B3-948B-1728B52AA6E4}">
                <adec:decorative xmlns:adec="http://schemas.microsoft.com/office/drawing/2017/decorative" val="1"/>
              </a:ext>
            </a:extLst>
          </p:cNvPr>
          <p:cNvCxnSpPr>
            <a:cxnSpLocks/>
          </p:cNvCxnSpPr>
          <p:nvPr/>
        </p:nvCxnSpPr>
        <p:spPr>
          <a:xfrm>
            <a:off x="8030651" y="4570759"/>
            <a:ext cx="0" cy="521226"/>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8" name="コネクタ:L 字型 6">
            <a:extLst>
              <a:ext uri="{FF2B5EF4-FFF2-40B4-BE49-F238E27FC236}">
                <a16:creationId xmlns:a16="http://schemas.microsoft.com/office/drawing/2014/main" id="{8909906D-55CE-947A-A235-76639A6D05EA}"/>
              </a:ext>
              <a:ext uri="{C183D7F6-B498-43B3-948B-1728B52AA6E4}">
                <adec:decorative xmlns:adec="http://schemas.microsoft.com/office/drawing/2017/decorative" val="1"/>
              </a:ext>
            </a:extLst>
          </p:cNvPr>
          <p:cNvCxnSpPr>
            <a:cxnSpLocks/>
            <a:stCxn id="30" idx="2"/>
            <a:endCxn id="31" idx="0"/>
          </p:cNvCxnSpPr>
          <p:nvPr/>
        </p:nvCxnSpPr>
        <p:spPr>
          <a:xfrm rot="5400000">
            <a:off x="3318115" y="1896203"/>
            <a:ext cx="554113" cy="3509488"/>
          </a:xfrm>
          <a:prstGeom prst="bentConnector3">
            <a:avLst>
              <a:gd name="adj1" fmla="val 50000"/>
            </a:avLst>
          </a:prstGeom>
          <a:ln w="6350">
            <a:solidFill>
              <a:schemeClr val="bg1">
                <a:lumMod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7" name="直線​​コネクタ(S) 205">
            <a:extLst>
              <a:ext uri="{FF2B5EF4-FFF2-40B4-BE49-F238E27FC236}">
                <a16:creationId xmlns:a16="http://schemas.microsoft.com/office/drawing/2014/main" id="{E98BC222-D5B8-C869-9DA7-63DD6832D861}"/>
              </a:ext>
              <a:ext uri="{C183D7F6-B498-43B3-948B-1728B52AA6E4}">
                <adec:decorative xmlns:adec="http://schemas.microsoft.com/office/drawing/2017/decorative" val="1"/>
              </a:ext>
            </a:extLst>
          </p:cNvPr>
          <p:cNvCxnSpPr>
            <a:cxnSpLocks/>
          </p:cNvCxnSpPr>
          <p:nvPr/>
        </p:nvCxnSpPr>
        <p:spPr>
          <a:xfrm>
            <a:off x="1293793" y="4569811"/>
            <a:ext cx="0" cy="1202829"/>
          </a:xfrm>
          <a:prstGeom prst="line">
            <a:avLst/>
          </a:prstGeom>
          <a:ln w="6350">
            <a:solidFill>
              <a:schemeClr val="bg1">
                <a:lumMod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 name="直線​​コネクタ(S) 1">
            <a:extLst>
              <a:ext uri="{FF2B5EF4-FFF2-40B4-BE49-F238E27FC236}">
                <a16:creationId xmlns:a16="http://schemas.microsoft.com/office/drawing/2014/main" id="{974C26DC-B35E-89A7-7B3E-02ACDECEE3C4}"/>
              </a:ext>
              <a:ext uri="{C183D7F6-B498-43B3-948B-1728B52AA6E4}">
                <adec:decorative xmlns:adec="http://schemas.microsoft.com/office/drawing/2017/decorative" val="1"/>
              </a:ext>
            </a:extLst>
          </p:cNvPr>
          <p:cNvCxnSpPr>
            <a:cxnSpLocks/>
          </p:cNvCxnSpPr>
          <p:nvPr/>
        </p:nvCxnSpPr>
        <p:spPr>
          <a:xfrm flipH="1">
            <a:off x="3529809" y="5084355"/>
            <a:ext cx="240566" cy="0"/>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19" name="直線​​コネクタ(S) 2">
            <a:extLst>
              <a:ext uri="{FF2B5EF4-FFF2-40B4-BE49-F238E27FC236}">
                <a16:creationId xmlns:a16="http://schemas.microsoft.com/office/drawing/2014/main" id="{F3BBFAB9-E940-7FC7-85D9-3C109088679F}"/>
              </a:ext>
              <a:ext uri="{C183D7F6-B498-43B3-948B-1728B52AA6E4}">
                <adec:decorative xmlns:adec="http://schemas.microsoft.com/office/drawing/2017/decorative" val="1"/>
              </a:ext>
            </a:extLst>
          </p:cNvPr>
          <p:cNvCxnSpPr>
            <a:cxnSpLocks/>
          </p:cNvCxnSpPr>
          <p:nvPr/>
        </p:nvCxnSpPr>
        <p:spPr>
          <a:xfrm flipH="1">
            <a:off x="3535232" y="5799370"/>
            <a:ext cx="240566" cy="0"/>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20" name="直線​​コネクタ(S) 5">
            <a:extLst>
              <a:ext uri="{FF2B5EF4-FFF2-40B4-BE49-F238E27FC236}">
                <a16:creationId xmlns:a16="http://schemas.microsoft.com/office/drawing/2014/main" id="{DC98FC97-CF2D-C4C6-4B4E-52FDB90D3282}"/>
              </a:ext>
              <a:ext uri="{C183D7F6-B498-43B3-948B-1728B52AA6E4}">
                <adec:decorative xmlns:adec="http://schemas.microsoft.com/office/drawing/2017/decorative" val="1"/>
              </a:ext>
            </a:extLst>
          </p:cNvPr>
          <p:cNvCxnSpPr>
            <a:cxnSpLocks/>
          </p:cNvCxnSpPr>
          <p:nvPr/>
        </p:nvCxnSpPr>
        <p:spPr>
          <a:xfrm flipH="1">
            <a:off x="3535232" y="6561781"/>
            <a:ext cx="240566" cy="0"/>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21" name="直線​​コネクタ(S) 9">
            <a:extLst>
              <a:ext uri="{FF2B5EF4-FFF2-40B4-BE49-F238E27FC236}">
                <a16:creationId xmlns:a16="http://schemas.microsoft.com/office/drawing/2014/main" id="{E348A431-4539-1ACD-9086-F76104DFB34F}"/>
              </a:ext>
              <a:ext uri="{C183D7F6-B498-43B3-948B-1728B52AA6E4}">
                <adec:decorative xmlns:adec="http://schemas.microsoft.com/office/drawing/2017/decorative" val="1"/>
              </a:ext>
            </a:extLst>
          </p:cNvPr>
          <p:cNvCxnSpPr>
            <a:cxnSpLocks/>
          </p:cNvCxnSpPr>
          <p:nvPr/>
        </p:nvCxnSpPr>
        <p:spPr>
          <a:xfrm flipH="1">
            <a:off x="5945443" y="5087696"/>
            <a:ext cx="240566" cy="0"/>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22" name="直線​​コネクタ(S) 12">
            <a:extLst>
              <a:ext uri="{FF2B5EF4-FFF2-40B4-BE49-F238E27FC236}">
                <a16:creationId xmlns:a16="http://schemas.microsoft.com/office/drawing/2014/main" id="{994B007C-39CA-FBE4-E708-24918659F582}"/>
              </a:ext>
              <a:ext uri="{C183D7F6-B498-43B3-948B-1728B52AA6E4}">
                <adec:decorative xmlns:adec="http://schemas.microsoft.com/office/drawing/2017/decorative" val="1"/>
              </a:ext>
            </a:extLst>
          </p:cNvPr>
          <p:cNvCxnSpPr>
            <a:cxnSpLocks/>
          </p:cNvCxnSpPr>
          <p:nvPr/>
        </p:nvCxnSpPr>
        <p:spPr>
          <a:xfrm flipH="1">
            <a:off x="8030651" y="5088644"/>
            <a:ext cx="240566" cy="0"/>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27" name="直線​​コネクタ 20">
            <a:extLst>
              <a:ext uri="{FF2B5EF4-FFF2-40B4-BE49-F238E27FC236}">
                <a16:creationId xmlns:a16="http://schemas.microsoft.com/office/drawing/2014/main" id="{9F474B9B-F576-E0DA-E1C8-58F2CE69C968}"/>
              </a:ext>
              <a:ext uri="{C183D7F6-B498-43B3-948B-1728B52AA6E4}">
                <adec:decorative xmlns:adec="http://schemas.microsoft.com/office/drawing/2017/decorative" val="1"/>
              </a:ext>
            </a:extLst>
          </p:cNvPr>
          <p:cNvCxnSpPr>
            <a:cxnSpLocks/>
          </p:cNvCxnSpPr>
          <p:nvPr/>
        </p:nvCxnSpPr>
        <p:spPr>
          <a:xfrm flipH="1">
            <a:off x="1293793" y="5050943"/>
            <a:ext cx="240566" cy="0"/>
          </a:xfrm>
          <a:prstGeom prst="line">
            <a:avLst/>
          </a:prstGeom>
          <a:ln w="6350">
            <a:solidFill>
              <a:schemeClr val="bg1">
                <a:lumMod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8" name="直線​​コネクタ(S) 21">
            <a:extLst>
              <a:ext uri="{FF2B5EF4-FFF2-40B4-BE49-F238E27FC236}">
                <a16:creationId xmlns:a16="http://schemas.microsoft.com/office/drawing/2014/main" id="{B2814D20-2869-14BE-DBAA-9E31F31C1CE6}"/>
              </a:ext>
              <a:ext uri="{C183D7F6-B498-43B3-948B-1728B52AA6E4}">
                <adec:decorative xmlns:adec="http://schemas.microsoft.com/office/drawing/2017/decorative" val="1"/>
              </a:ext>
            </a:extLst>
          </p:cNvPr>
          <p:cNvCxnSpPr>
            <a:cxnSpLocks/>
          </p:cNvCxnSpPr>
          <p:nvPr/>
        </p:nvCxnSpPr>
        <p:spPr>
          <a:xfrm flipH="1">
            <a:off x="1299216" y="5769299"/>
            <a:ext cx="240566" cy="0"/>
          </a:xfrm>
          <a:prstGeom prst="line">
            <a:avLst/>
          </a:prstGeom>
          <a:ln w="6350">
            <a:solidFill>
              <a:schemeClr val="bg1">
                <a:lumMod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30" name="長方形 17">
            <a:extLst>
              <a:ext uri="{FF2B5EF4-FFF2-40B4-BE49-F238E27FC236}">
                <a16:creationId xmlns:a16="http://schemas.microsoft.com/office/drawing/2014/main" id="{3E64D33C-2E81-EC32-F689-91E2661ACA25}"/>
              </a:ext>
            </a:extLst>
          </p:cNvPr>
          <p:cNvSpPr/>
          <p:nvPr/>
        </p:nvSpPr>
        <p:spPr>
          <a:xfrm>
            <a:off x="4548029" y="2732382"/>
            <a:ext cx="1603772"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　●●</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dirty="0">
                <a:solidFill>
                  <a:schemeClr val="tx1"/>
                </a:solidFill>
                <a:latin typeface="+mn-ea"/>
              </a:rPr>
              <a:t>代表取締役</a:t>
            </a:r>
          </a:p>
        </p:txBody>
      </p:sp>
      <p:sp>
        <p:nvSpPr>
          <p:cNvPr id="31" name="長方形 143">
            <a:extLst>
              <a:ext uri="{FF2B5EF4-FFF2-40B4-BE49-F238E27FC236}">
                <a16:creationId xmlns:a16="http://schemas.microsoft.com/office/drawing/2014/main" id="{BCEB2967-C83B-DBEC-B8EA-880A804DB347}"/>
              </a:ext>
            </a:extLst>
          </p:cNvPr>
          <p:cNvSpPr/>
          <p:nvPr/>
        </p:nvSpPr>
        <p:spPr>
          <a:xfrm>
            <a:off x="1038541" y="3928004"/>
            <a:ext cx="1603772"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営業部</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dirty="0">
                <a:solidFill>
                  <a:schemeClr val="tx2">
                    <a:lumMod val="50000"/>
                  </a:schemeClr>
                </a:solidFill>
                <a:latin typeface="+mn-ea"/>
              </a:rPr>
              <a:t>●●取締役</a:t>
            </a:r>
          </a:p>
        </p:txBody>
      </p:sp>
      <p:sp>
        <p:nvSpPr>
          <p:cNvPr id="32" name="長方形 179">
            <a:extLst>
              <a:ext uri="{FF2B5EF4-FFF2-40B4-BE49-F238E27FC236}">
                <a16:creationId xmlns:a16="http://schemas.microsoft.com/office/drawing/2014/main" id="{C344BD57-39A2-E7B7-1F68-D52B956AE252}"/>
              </a:ext>
            </a:extLst>
          </p:cNvPr>
          <p:cNvSpPr/>
          <p:nvPr/>
        </p:nvSpPr>
        <p:spPr>
          <a:xfrm>
            <a:off x="1434703" y="4734169"/>
            <a:ext cx="1150315"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営業　</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b="1" dirty="0">
                <a:solidFill>
                  <a:schemeClr val="tx1"/>
                </a:solidFill>
                <a:latin typeface="+mn-ea"/>
              </a:rPr>
              <a:t>正社員　</a:t>
            </a:r>
            <a:r>
              <a:rPr lang="ja-JP" altLang="en-US" sz="1200" dirty="0">
                <a:solidFill>
                  <a:schemeClr val="tx1"/>
                </a:solidFill>
                <a:latin typeface="+mn-ea"/>
              </a:rPr>
              <a:t>●名</a:t>
            </a:r>
          </a:p>
        </p:txBody>
      </p:sp>
      <p:sp>
        <p:nvSpPr>
          <p:cNvPr id="33" name="長方形 182">
            <a:extLst>
              <a:ext uri="{FF2B5EF4-FFF2-40B4-BE49-F238E27FC236}">
                <a16:creationId xmlns:a16="http://schemas.microsoft.com/office/drawing/2014/main" id="{6CDBB8C3-4C7B-B052-EB41-D5653ED1F9C3}"/>
              </a:ext>
            </a:extLst>
          </p:cNvPr>
          <p:cNvSpPr/>
          <p:nvPr/>
        </p:nvSpPr>
        <p:spPr>
          <a:xfrm>
            <a:off x="1434704" y="5461026"/>
            <a:ext cx="1150318"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営業事務</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b="1" dirty="0">
                <a:solidFill>
                  <a:schemeClr val="tx1"/>
                </a:solidFill>
                <a:latin typeface="+mn-ea"/>
              </a:rPr>
              <a:t>パート　</a:t>
            </a:r>
            <a:r>
              <a:rPr lang="ja-JP" altLang="en-US" sz="1200" dirty="0">
                <a:solidFill>
                  <a:schemeClr val="tx1"/>
                </a:solidFill>
                <a:latin typeface="+mn-ea"/>
              </a:rPr>
              <a:t>●名</a:t>
            </a:r>
          </a:p>
        </p:txBody>
      </p:sp>
      <p:sp>
        <p:nvSpPr>
          <p:cNvPr id="34" name="長方形 146">
            <a:extLst>
              <a:ext uri="{FF2B5EF4-FFF2-40B4-BE49-F238E27FC236}">
                <a16:creationId xmlns:a16="http://schemas.microsoft.com/office/drawing/2014/main" id="{C7D6A39F-6D46-6E17-0A3F-C6EE42E58702}"/>
              </a:ext>
            </a:extLst>
          </p:cNvPr>
          <p:cNvSpPr/>
          <p:nvPr/>
        </p:nvSpPr>
        <p:spPr>
          <a:xfrm>
            <a:off x="3266277" y="3928004"/>
            <a:ext cx="1603772"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●●工場</a:t>
            </a:r>
          </a:p>
          <a:p>
            <a:pPr algn="ctr" defTabSz="350844">
              <a:lnSpc>
                <a:spcPct val="90000"/>
              </a:lnSpc>
              <a:spcBef>
                <a:spcPct val="0"/>
              </a:spcBef>
              <a:spcAft>
                <a:spcPct val="35000"/>
              </a:spcAft>
            </a:pPr>
            <a:r>
              <a:rPr lang="ja-JP" altLang="en-US" sz="1200" dirty="0">
                <a:solidFill>
                  <a:schemeClr val="tx1"/>
                </a:solidFill>
                <a:latin typeface="+mn-ea"/>
              </a:rPr>
              <a:t>工場長　</a:t>
            </a:r>
            <a:r>
              <a:rPr lang="en-US" altLang="ja-JP" sz="1200" dirty="0">
                <a:solidFill>
                  <a:schemeClr val="tx1"/>
                </a:solidFill>
                <a:latin typeface="+mn-ea"/>
              </a:rPr>
              <a:t>A.B</a:t>
            </a:r>
            <a:r>
              <a:rPr lang="ja-JP" altLang="en-US" sz="1200" dirty="0">
                <a:solidFill>
                  <a:schemeClr val="tx1"/>
                </a:solidFill>
                <a:latin typeface="+mn-ea"/>
              </a:rPr>
              <a:t>氏</a:t>
            </a:r>
          </a:p>
        </p:txBody>
      </p:sp>
      <p:sp>
        <p:nvSpPr>
          <p:cNvPr id="35" name="長方形 185">
            <a:extLst>
              <a:ext uri="{FF2B5EF4-FFF2-40B4-BE49-F238E27FC236}">
                <a16:creationId xmlns:a16="http://schemas.microsoft.com/office/drawing/2014/main" id="{2CD202E2-5456-2E46-29ED-FBEC06934875}"/>
              </a:ext>
            </a:extLst>
          </p:cNvPr>
          <p:cNvSpPr/>
          <p:nvPr/>
        </p:nvSpPr>
        <p:spPr>
          <a:xfrm>
            <a:off x="3666952" y="4735935"/>
            <a:ext cx="1319522"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●●課</a:t>
            </a:r>
          </a:p>
          <a:p>
            <a:pPr algn="ctr" defTabSz="350844">
              <a:lnSpc>
                <a:spcPct val="90000"/>
              </a:lnSpc>
              <a:spcBef>
                <a:spcPct val="0"/>
              </a:spcBef>
              <a:spcAft>
                <a:spcPct val="35000"/>
              </a:spcAft>
            </a:pPr>
            <a:r>
              <a:rPr lang="ja-JP" altLang="en-US" sz="1200" dirty="0">
                <a:solidFill>
                  <a:schemeClr val="tx1"/>
                </a:solidFill>
                <a:latin typeface="+mn-ea"/>
              </a:rPr>
              <a:t>正社員　●名</a:t>
            </a:r>
          </a:p>
        </p:txBody>
      </p:sp>
      <p:sp>
        <p:nvSpPr>
          <p:cNvPr id="39" name="長方形 149">
            <a:extLst>
              <a:ext uri="{FF2B5EF4-FFF2-40B4-BE49-F238E27FC236}">
                <a16:creationId xmlns:a16="http://schemas.microsoft.com/office/drawing/2014/main" id="{89FE7C20-33F7-2892-CF9D-0F1FAA5F6E2D}"/>
              </a:ext>
            </a:extLst>
          </p:cNvPr>
          <p:cNvSpPr/>
          <p:nvPr/>
        </p:nvSpPr>
        <p:spPr>
          <a:xfrm>
            <a:off x="5673631" y="3928004"/>
            <a:ext cx="1603772"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マーケティング部</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dirty="0">
                <a:solidFill>
                  <a:schemeClr val="tx1"/>
                </a:solidFill>
                <a:latin typeface="+mn-ea"/>
              </a:rPr>
              <a:t>●●取締役</a:t>
            </a:r>
          </a:p>
        </p:txBody>
      </p:sp>
      <p:sp>
        <p:nvSpPr>
          <p:cNvPr id="40" name="長方形 194">
            <a:extLst>
              <a:ext uri="{FF2B5EF4-FFF2-40B4-BE49-F238E27FC236}">
                <a16:creationId xmlns:a16="http://schemas.microsoft.com/office/drawing/2014/main" id="{BC06A2A3-64BA-E58D-ACEE-6E0E0FE8A5DC}"/>
              </a:ext>
            </a:extLst>
          </p:cNvPr>
          <p:cNvSpPr/>
          <p:nvPr/>
        </p:nvSpPr>
        <p:spPr>
          <a:xfrm>
            <a:off x="6058370" y="4731053"/>
            <a:ext cx="1202829"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広報課</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dirty="0">
                <a:solidFill>
                  <a:schemeClr val="tx1"/>
                </a:solidFill>
                <a:latin typeface="+mn-ea"/>
              </a:rPr>
              <a:t>正社員　●名</a:t>
            </a:r>
          </a:p>
        </p:txBody>
      </p:sp>
      <p:sp>
        <p:nvSpPr>
          <p:cNvPr id="41" name="長方形 152">
            <a:extLst>
              <a:ext uri="{FF2B5EF4-FFF2-40B4-BE49-F238E27FC236}">
                <a16:creationId xmlns:a16="http://schemas.microsoft.com/office/drawing/2014/main" id="{2BC33821-E033-B772-9468-A0709338CD4A}"/>
              </a:ext>
            </a:extLst>
          </p:cNvPr>
          <p:cNvSpPr/>
          <p:nvPr/>
        </p:nvSpPr>
        <p:spPr>
          <a:xfrm>
            <a:off x="7750559" y="3928952"/>
            <a:ext cx="1603772"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管理部</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dirty="0">
                <a:solidFill>
                  <a:schemeClr val="tx1"/>
                </a:solidFill>
                <a:latin typeface="+mn-ea"/>
              </a:rPr>
              <a:t>部長　</a:t>
            </a:r>
            <a:r>
              <a:rPr lang="en-US" altLang="ja-JP" sz="1200" dirty="0">
                <a:solidFill>
                  <a:schemeClr val="tx1"/>
                </a:solidFill>
                <a:latin typeface="+mn-ea"/>
              </a:rPr>
              <a:t>C.D</a:t>
            </a:r>
            <a:r>
              <a:rPr lang="ja-JP" altLang="en-US" sz="1200" dirty="0">
                <a:solidFill>
                  <a:schemeClr val="tx1"/>
                </a:solidFill>
                <a:latin typeface="+mn-ea"/>
              </a:rPr>
              <a:t>氏</a:t>
            </a:r>
          </a:p>
        </p:txBody>
      </p:sp>
      <p:sp>
        <p:nvSpPr>
          <p:cNvPr id="42" name="長方形 176">
            <a:extLst>
              <a:ext uri="{FF2B5EF4-FFF2-40B4-BE49-F238E27FC236}">
                <a16:creationId xmlns:a16="http://schemas.microsoft.com/office/drawing/2014/main" id="{BBC10D84-AE63-A3F1-8119-326550A340E4}"/>
              </a:ext>
            </a:extLst>
          </p:cNvPr>
          <p:cNvSpPr/>
          <p:nvPr/>
        </p:nvSpPr>
        <p:spPr>
          <a:xfrm>
            <a:off x="8147026" y="4732804"/>
            <a:ext cx="1202829"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経理</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dirty="0">
                <a:solidFill>
                  <a:schemeClr val="tx1"/>
                </a:solidFill>
                <a:latin typeface="+mn-ea"/>
              </a:rPr>
              <a:t>正社員　●名</a:t>
            </a:r>
          </a:p>
        </p:txBody>
      </p:sp>
      <p:sp>
        <p:nvSpPr>
          <p:cNvPr id="49" name="長方形 185">
            <a:extLst>
              <a:ext uri="{FF2B5EF4-FFF2-40B4-BE49-F238E27FC236}">
                <a16:creationId xmlns:a16="http://schemas.microsoft.com/office/drawing/2014/main" id="{3F23A6ED-CDD5-CC4E-B737-64800FA88A39}"/>
              </a:ext>
            </a:extLst>
          </p:cNvPr>
          <p:cNvSpPr/>
          <p:nvPr/>
        </p:nvSpPr>
        <p:spPr>
          <a:xfrm>
            <a:off x="3666952" y="5492600"/>
            <a:ext cx="1319522"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●●課</a:t>
            </a:r>
          </a:p>
          <a:p>
            <a:pPr algn="ctr" defTabSz="350844">
              <a:lnSpc>
                <a:spcPct val="90000"/>
              </a:lnSpc>
              <a:spcBef>
                <a:spcPct val="0"/>
              </a:spcBef>
              <a:spcAft>
                <a:spcPct val="35000"/>
              </a:spcAft>
            </a:pPr>
            <a:r>
              <a:rPr lang="ja-JP" altLang="en-US" sz="1200" dirty="0">
                <a:solidFill>
                  <a:schemeClr val="tx1"/>
                </a:solidFill>
                <a:latin typeface="+mn-ea"/>
              </a:rPr>
              <a:t>正社員　●名</a:t>
            </a:r>
          </a:p>
        </p:txBody>
      </p:sp>
      <p:sp>
        <p:nvSpPr>
          <p:cNvPr id="50" name="長方形 185">
            <a:extLst>
              <a:ext uri="{FF2B5EF4-FFF2-40B4-BE49-F238E27FC236}">
                <a16:creationId xmlns:a16="http://schemas.microsoft.com/office/drawing/2014/main" id="{8FC55304-B9F5-F933-70B7-2C5FFADBDC4A}"/>
              </a:ext>
            </a:extLst>
          </p:cNvPr>
          <p:cNvSpPr/>
          <p:nvPr/>
        </p:nvSpPr>
        <p:spPr>
          <a:xfrm>
            <a:off x="3666952" y="6251049"/>
            <a:ext cx="1319522" cy="81691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●●課</a:t>
            </a:r>
          </a:p>
          <a:p>
            <a:pPr algn="ctr" defTabSz="350844">
              <a:lnSpc>
                <a:spcPct val="90000"/>
              </a:lnSpc>
              <a:spcBef>
                <a:spcPct val="0"/>
              </a:spcBef>
              <a:spcAft>
                <a:spcPct val="35000"/>
              </a:spcAft>
            </a:pPr>
            <a:r>
              <a:rPr lang="ja-JP" altLang="en-US" sz="1200" dirty="0">
                <a:solidFill>
                  <a:schemeClr val="tx1"/>
                </a:solidFill>
                <a:latin typeface="+mn-ea"/>
              </a:rPr>
              <a:t>正社員　●名</a:t>
            </a:r>
            <a:endParaRPr lang="en-US" altLang="ja-JP" sz="1200" dirty="0">
              <a:solidFill>
                <a:schemeClr val="tx1"/>
              </a:solidFill>
              <a:latin typeface="+mn-ea"/>
            </a:endParaRPr>
          </a:p>
          <a:p>
            <a:pPr algn="ctr" defTabSz="350844">
              <a:lnSpc>
                <a:spcPct val="90000"/>
              </a:lnSpc>
              <a:spcBef>
                <a:spcPct val="0"/>
              </a:spcBef>
              <a:spcAft>
                <a:spcPct val="35000"/>
              </a:spcAft>
            </a:pPr>
            <a:r>
              <a:rPr lang="ja-JP" altLang="en-US" sz="1200" dirty="0">
                <a:solidFill>
                  <a:schemeClr val="tx1"/>
                </a:solidFill>
                <a:latin typeface="+mn-ea"/>
              </a:rPr>
              <a:t>パート　●名</a:t>
            </a:r>
          </a:p>
        </p:txBody>
      </p:sp>
      <p:sp>
        <p:nvSpPr>
          <p:cNvPr id="54" name="長方形 176">
            <a:extLst>
              <a:ext uri="{FF2B5EF4-FFF2-40B4-BE49-F238E27FC236}">
                <a16:creationId xmlns:a16="http://schemas.microsoft.com/office/drawing/2014/main" id="{CF2091A1-7626-8FDC-BE41-D65765796991}"/>
              </a:ext>
            </a:extLst>
          </p:cNvPr>
          <p:cNvSpPr/>
          <p:nvPr/>
        </p:nvSpPr>
        <p:spPr>
          <a:xfrm>
            <a:off x="8140841" y="5536656"/>
            <a:ext cx="1202829"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b="1" dirty="0">
                <a:solidFill>
                  <a:schemeClr val="tx1"/>
                </a:solidFill>
                <a:latin typeface="+mn-ea"/>
              </a:rPr>
              <a:t>人事総務</a:t>
            </a:r>
            <a:endParaRPr lang="en-US" altLang="ja-JP" sz="1200" b="1" dirty="0">
              <a:solidFill>
                <a:schemeClr val="tx1"/>
              </a:solidFill>
              <a:latin typeface="+mn-ea"/>
            </a:endParaRPr>
          </a:p>
          <a:p>
            <a:pPr algn="ctr" defTabSz="350844">
              <a:lnSpc>
                <a:spcPct val="90000"/>
              </a:lnSpc>
              <a:spcBef>
                <a:spcPct val="0"/>
              </a:spcBef>
              <a:spcAft>
                <a:spcPct val="35000"/>
              </a:spcAft>
            </a:pPr>
            <a:r>
              <a:rPr lang="ja-JP" altLang="en-US" sz="1200" dirty="0">
                <a:solidFill>
                  <a:schemeClr val="tx1"/>
                </a:solidFill>
                <a:latin typeface="+mn-ea"/>
              </a:rPr>
              <a:t>正社員　●名</a:t>
            </a:r>
          </a:p>
        </p:txBody>
      </p:sp>
      <p:cxnSp>
        <p:nvCxnSpPr>
          <p:cNvPr id="55" name="直線​​コネクタ(S) 84">
            <a:extLst>
              <a:ext uri="{FF2B5EF4-FFF2-40B4-BE49-F238E27FC236}">
                <a16:creationId xmlns:a16="http://schemas.microsoft.com/office/drawing/2014/main" id="{3A183C6E-C869-722E-1384-DB730947D8C9}"/>
              </a:ext>
              <a:ext uri="{C183D7F6-B498-43B3-948B-1728B52AA6E4}">
                <adec:decorative xmlns:adec="http://schemas.microsoft.com/office/drawing/2017/decorative" val="1"/>
              </a:ext>
            </a:extLst>
          </p:cNvPr>
          <p:cNvCxnSpPr>
            <a:cxnSpLocks/>
          </p:cNvCxnSpPr>
          <p:nvPr/>
        </p:nvCxnSpPr>
        <p:spPr>
          <a:xfrm>
            <a:off x="11298632" y="6551959"/>
            <a:ext cx="0" cy="521226"/>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58" name="コネクタ:L 字型 6">
            <a:extLst>
              <a:ext uri="{FF2B5EF4-FFF2-40B4-BE49-F238E27FC236}">
                <a16:creationId xmlns:a16="http://schemas.microsoft.com/office/drawing/2014/main" id="{6FDB5FA2-59CA-119B-4DCE-403E62AAD3FA}"/>
              </a:ext>
              <a:ext uri="{C183D7F6-B498-43B3-948B-1728B52AA6E4}">
                <adec:decorative xmlns:adec="http://schemas.microsoft.com/office/drawing/2017/decorative" val="1"/>
              </a:ext>
            </a:extLst>
          </p:cNvPr>
          <p:cNvCxnSpPr>
            <a:cxnSpLocks/>
            <a:stCxn id="30" idx="2"/>
            <a:endCxn id="34" idx="0"/>
          </p:cNvCxnSpPr>
          <p:nvPr/>
        </p:nvCxnSpPr>
        <p:spPr>
          <a:xfrm rot="5400000">
            <a:off x="4431983" y="3010071"/>
            <a:ext cx="554113" cy="1281752"/>
          </a:xfrm>
          <a:prstGeom prst="bentConnector3">
            <a:avLst>
              <a:gd name="adj1" fmla="val 50000"/>
            </a:avLst>
          </a:prstGeom>
          <a:ln w="6350">
            <a:solidFill>
              <a:schemeClr val="bg1">
                <a:lumMod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61" name="直線​​コネクタ(S) 84">
            <a:extLst>
              <a:ext uri="{FF2B5EF4-FFF2-40B4-BE49-F238E27FC236}">
                <a16:creationId xmlns:a16="http://schemas.microsoft.com/office/drawing/2014/main" id="{8D924746-B287-9C84-2BB4-6F639E3F359F}"/>
              </a:ext>
              <a:ext uri="{C183D7F6-B498-43B3-948B-1728B52AA6E4}">
                <adec:decorative xmlns:adec="http://schemas.microsoft.com/office/drawing/2017/decorative" val="1"/>
              </a:ext>
            </a:extLst>
          </p:cNvPr>
          <p:cNvCxnSpPr>
            <a:cxnSpLocks/>
          </p:cNvCxnSpPr>
          <p:nvPr/>
        </p:nvCxnSpPr>
        <p:spPr>
          <a:xfrm>
            <a:off x="8030651" y="5084355"/>
            <a:ext cx="0" cy="773055"/>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cxnSp>
        <p:nvCxnSpPr>
          <p:cNvPr id="65" name="コネクタ:L 字型 6">
            <a:extLst>
              <a:ext uri="{FF2B5EF4-FFF2-40B4-BE49-F238E27FC236}">
                <a16:creationId xmlns:a16="http://schemas.microsoft.com/office/drawing/2014/main" id="{4FD959EC-D71B-C434-2D6B-74B4AAFFEDD7}"/>
              </a:ext>
              <a:ext uri="{C183D7F6-B498-43B3-948B-1728B52AA6E4}">
                <adec:decorative xmlns:adec="http://schemas.microsoft.com/office/drawing/2017/decorative" val="1"/>
              </a:ext>
            </a:extLst>
          </p:cNvPr>
          <p:cNvCxnSpPr>
            <a:cxnSpLocks/>
            <a:stCxn id="30" idx="2"/>
            <a:endCxn id="39" idx="0"/>
          </p:cNvCxnSpPr>
          <p:nvPr/>
        </p:nvCxnSpPr>
        <p:spPr>
          <a:xfrm rot="16200000" flipH="1">
            <a:off x="5635660" y="3088146"/>
            <a:ext cx="554113" cy="1125602"/>
          </a:xfrm>
          <a:prstGeom prst="bentConnector3">
            <a:avLst>
              <a:gd name="adj1" fmla="val 50000"/>
            </a:avLst>
          </a:prstGeom>
          <a:ln w="6350">
            <a:solidFill>
              <a:schemeClr val="bg1">
                <a:lumMod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68" name="コネクタ:L 字型 6">
            <a:extLst>
              <a:ext uri="{FF2B5EF4-FFF2-40B4-BE49-F238E27FC236}">
                <a16:creationId xmlns:a16="http://schemas.microsoft.com/office/drawing/2014/main" id="{46CEDEEB-99B3-7F8E-0C35-E0AF443AE9FC}"/>
              </a:ext>
              <a:ext uri="{C183D7F6-B498-43B3-948B-1728B52AA6E4}">
                <adec:decorative xmlns:adec="http://schemas.microsoft.com/office/drawing/2017/decorative" val="1"/>
              </a:ext>
            </a:extLst>
          </p:cNvPr>
          <p:cNvCxnSpPr>
            <a:cxnSpLocks/>
            <a:stCxn id="30" idx="2"/>
            <a:endCxn id="41" idx="0"/>
          </p:cNvCxnSpPr>
          <p:nvPr/>
        </p:nvCxnSpPr>
        <p:spPr>
          <a:xfrm rot="16200000" flipH="1">
            <a:off x="6673650" y="2050156"/>
            <a:ext cx="555061" cy="3202530"/>
          </a:xfrm>
          <a:prstGeom prst="bentConnector3">
            <a:avLst>
              <a:gd name="adj1" fmla="val 50000"/>
            </a:avLst>
          </a:prstGeom>
          <a:ln w="6350">
            <a:solidFill>
              <a:schemeClr val="bg1">
                <a:lumMod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72" name="長方形 17">
            <a:extLst>
              <a:ext uri="{FF2B5EF4-FFF2-40B4-BE49-F238E27FC236}">
                <a16:creationId xmlns:a16="http://schemas.microsoft.com/office/drawing/2014/main" id="{F94861D8-1583-D60F-AE0B-65736108294A}"/>
              </a:ext>
            </a:extLst>
          </p:cNvPr>
          <p:cNvSpPr/>
          <p:nvPr/>
        </p:nvSpPr>
        <p:spPr>
          <a:xfrm>
            <a:off x="4548029" y="1769970"/>
            <a:ext cx="1603772" cy="641509"/>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200" dirty="0">
                <a:solidFill>
                  <a:schemeClr val="tx1"/>
                </a:solidFill>
                <a:latin typeface="+mn-ea"/>
              </a:rPr>
              <a:t>取締役会</a:t>
            </a:r>
          </a:p>
        </p:txBody>
      </p:sp>
      <p:cxnSp>
        <p:nvCxnSpPr>
          <p:cNvPr id="79" name="直線​​コネクタ(S) 82">
            <a:extLst>
              <a:ext uri="{FF2B5EF4-FFF2-40B4-BE49-F238E27FC236}">
                <a16:creationId xmlns:a16="http://schemas.microsoft.com/office/drawing/2014/main" id="{89247CFF-94E9-C3DA-BD9A-E2DC34C3BB7B}"/>
              </a:ext>
              <a:ext uri="{C183D7F6-B498-43B3-948B-1728B52AA6E4}">
                <adec:decorative xmlns:adec="http://schemas.microsoft.com/office/drawing/2017/decorative" val="1"/>
              </a:ext>
            </a:extLst>
          </p:cNvPr>
          <p:cNvCxnSpPr>
            <a:cxnSpLocks/>
          </p:cNvCxnSpPr>
          <p:nvPr/>
        </p:nvCxnSpPr>
        <p:spPr>
          <a:xfrm>
            <a:off x="5341940" y="2411479"/>
            <a:ext cx="0" cy="320903"/>
          </a:xfrm>
          <a:prstGeom prst="line">
            <a:avLst/>
          </a:prstGeom>
          <a:ln w="6350">
            <a:solidFill>
              <a:schemeClr val="bg1">
                <a:lumMod val="50000"/>
              </a:schemeClr>
            </a:solidFill>
            <a:prstDash val="solid"/>
            <a:headEnd type="none" w="sm" len="sm"/>
            <a:tailEnd type="none" w="sm" len="sm"/>
          </a:ln>
          <a:effectLst/>
        </p:spPr>
        <p:style>
          <a:lnRef idx="1">
            <a:schemeClr val="accent1"/>
          </a:lnRef>
          <a:fillRef idx="0">
            <a:schemeClr val="accent1"/>
          </a:fillRef>
          <a:effectRef idx="0">
            <a:schemeClr val="accent1"/>
          </a:effectRef>
          <a:fontRef idx="minor">
            <a:schemeClr val="tx1"/>
          </a:fontRef>
        </p:style>
      </p:cxnSp>
      <p:sp>
        <p:nvSpPr>
          <p:cNvPr id="81" name="正方形/長方形 80">
            <a:extLst>
              <a:ext uri="{FF2B5EF4-FFF2-40B4-BE49-F238E27FC236}">
                <a16:creationId xmlns:a16="http://schemas.microsoft.com/office/drawing/2014/main" id="{327E0829-4ED4-257A-50CA-4AB8D7512CAE}"/>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マスター</a:t>
            </a:r>
            <a:r>
              <a:rPr kumimoji="1" lang="en-US" altLang="ja-JP" dirty="0">
                <a:solidFill>
                  <a:srgbClr val="FF0000"/>
                </a:solidFill>
              </a:rPr>
              <a:t>(Excel)</a:t>
            </a:r>
            <a:r>
              <a:rPr kumimoji="1" lang="ja-JP" altLang="en-US" dirty="0">
                <a:solidFill>
                  <a:srgbClr val="FF0000"/>
                </a:solidFill>
              </a:rPr>
              <a:t>にシートは用意していません。このパワポ上で編集してください。</a:t>
            </a:r>
          </a:p>
        </p:txBody>
      </p:sp>
      <p:sp>
        <p:nvSpPr>
          <p:cNvPr id="82" name="字幕 13">
            <a:extLst>
              <a:ext uri="{FF2B5EF4-FFF2-40B4-BE49-F238E27FC236}">
                <a16:creationId xmlns:a16="http://schemas.microsoft.com/office/drawing/2014/main" id="{A3493DA6-7810-69DF-5543-B8DAEAC7277F}"/>
              </a:ext>
            </a:extLst>
          </p:cNvPr>
          <p:cNvSpPr txBox="1">
            <a:spLocks/>
          </p:cNvSpPr>
          <p:nvPr/>
        </p:nvSpPr>
        <p:spPr>
          <a:xfrm>
            <a:off x="399965" y="1640171"/>
            <a:ext cx="1440459" cy="1088047"/>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buClrTx/>
            </a:pPr>
            <a:r>
              <a:rPr lang="en-US" altLang="ja-JP" sz="1000" dirty="0"/>
              <a:t>【</a:t>
            </a:r>
            <a:r>
              <a:rPr lang="ja-JP" altLang="en-US" sz="1000" dirty="0"/>
              <a:t>人員構成</a:t>
            </a:r>
            <a:r>
              <a:rPr lang="en-US" altLang="ja-JP" sz="1000" dirty="0"/>
              <a:t>】</a:t>
            </a:r>
          </a:p>
          <a:p>
            <a:pPr>
              <a:buClrTx/>
            </a:pPr>
            <a:r>
              <a:rPr lang="ja-JP" altLang="en-US" sz="1000" b="0" dirty="0"/>
              <a:t>　取締役：●名</a:t>
            </a:r>
            <a:endParaRPr lang="en-US" altLang="ja-JP" sz="1000" b="0" dirty="0"/>
          </a:p>
          <a:p>
            <a:pPr>
              <a:buClrTx/>
            </a:pPr>
            <a:r>
              <a:rPr lang="ja-JP" altLang="en-US" sz="1000" b="0" dirty="0"/>
              <a:t>　正社員：●名</a:t>
            </a:r>
            <a:endParaRPr lang="en-US" altLang="ja-JP" sz="1000" b="0" dirty="0"/>
          </a:p>
          <a:p>
            <a:pPr>
              <a:buClrTx/>
            </a:pPr>
            <a:r>
              <a:rPr lang="ja-JP" altLang="en-US" sz="1000" b="0" dirty="0"/>
              <a:t>　</a:t>
            </a:r>
            <a:r>
              <a:rPr lang="ja-JP" altLang="en-US" sz="1000" b="0" u="sng" dirty="0"/>
              <a:t>パート：●名</a:t>
            </a:r>
            <a:br>
              <a:rPr lang="en-US" altLang="ja-JP" sz="1000" b="0" dirty="0"/>
            </a:br>
            <a:r>
              <a:rPr lang="ja-JP" altLang="en-US" sz="1000" b="0" dirty="0"/>
              <a:t>　合計　：●名</a:t>
            </a:r>
            <a:endParaRPr lang="en-US" altLang="ja-JP" sz="1000" b="0" dirty="0"/>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latin typeface="+mj-ea"/>
            </a:endParaRPr>
          </a:p>
        </p:txBody>
      </p:sp>
    </p:spTree>
    <p:extLst>
      <p:ext uri="{BB962C8B-B14F-4D97-AF65-F5344CB8AC3E}">
        <p14:creationId xmlns:p14="http://schemas.microsoft.com/office/powerpoint/2010/main" val="2728612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8894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pic>
        <p:nvPicPr>
          <p:cNvPr id="6" name="図 5">
            <a:extLst>
              <a:ext uri="{FF2B5EF4-FFF2-40B4-BE49-F238E27FC236}">
                <a16:creationId xmlns:a16="http://schemas.microsoft.com/office/drawing/2014/main" id="{C4C7A96C-23FF-A167-EDED-23C94B747969}"/>
              </a:ext>
            </a:extLst>
          </p:cNvPr>
          <p:cNvPicPr>
            <a:picLocks noChangeAspect="1"/>
          </p:cNvPicPr>
          <p:nvPr/>
        </p:nvPicPr>
        <p:blipFill>
          <a:blip r:embed="rId3"/>
          <a:stretch>
            <a:fillRect/>
          </a:stretch>
        </p:blipFill>
        <p:spPr>
          <a:xfrm>
            <a:off x="311150" y="1877736"/>
            <a:ext cx="10195560" cy="1623060"/>
          </a:xfrm>
          <a:prstGeom prst="rect">
            <a:avLst/>
          </a:prstGeom>
        </p:spPr>
      </p:pic>
      <p:pic>
        <p:nvPicPr>
          <p:cNvPr id="11" name="図 10">
            <a:extLst>
              <a:ext uri="{FF2B5EF4-FFF2-40B4-BE49-F238E27FC236}">
                <a16:creationId xmlns:a16="http://schemas.microsoft.com/office/drawing/2014/main" id="{A35062AD-828F-C4D3-8D46-B7DDCBD6C36A}"/>
              </a:ext>
            </a:extLst>
          </p:cNvPr>
          <p:cNvPicPr>
            <a:picLocks noChangeAspect="1"/>
          </p:cNvPicPr>
          <p:nvPr/>
        </p:nvPicPr>
        <p:blipFill>
          <a:blip r:embed="rId4"/>
          <a:stretch>
            <a:fillRect/>
          </a:stretch>
        </p:blipFill>
        <p:spPr>
          <a:xfrm>
            <a:off x="311151" y="4249461"/>
            <a:ext cx="10195560" cy="1992551"/>
          </a:xfrm>
          <a:prstGeom prst="rect">
            <a:avLst/>
          </a:prstGeom>
        </p:spPr>
      </p:pic>
    </p:spTree>
    <p:extLst>
      <p:ext uri="{BB962C8B-B14F-4D97-AF65-F5344CB8AC3E}">
        <p14:creationId xmlns:p14="http://schemas.microsoft.com/office/powerpoint/2010/main" val="1111365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pic>
        <p:nvPicPr>
          <p:cNvPr id="9" name="図 8">
            <a:extLst>
              <a:ext uri="{FF2B5EF4-FFF2-40B4-BE49-F238E27FC236}">
                <a16:creationId xmlns:a16="http://schemas.microsoft.com/office/drawing/2014/main" id="{CDC95D64-2192-FFC9-933C-6824364A7061}"/>
              </a:ext>
            </a:extLst>
          </p:cNvPr>
          <p:cNvPicPr>
            <a:picLocks noChangeAspect="1"/>
          </p:cNvPicPr>
          <p:nvPr/>
        </p:nvPicPr>
        <p:blipFill>
          <a:blip r:embed="rId3"/>
          <a:stretch>
            <a:fillRect/>
          </a:stretch>
        </p:blipFill>
        <p:spPr>
          <a:xfrm>
            <a:off x="311151" y="1465133"/>
            <a:ext cx="10185400" cy="5224146"/>
          </a:xfrm>
          <a:prstGeom prst="rect">
            <a:avLst/>
          </a:prstGeom>
        </p:spPr>
      </p:pic>
      <p:sp>
        <p:nvSpPr>
          <p:cNvPr id="10" name="正方形/長方形 9">
            <a:extLst>
              <a:ext uri="{FF2B5EF4-FFF2-40B4-BE49-F238E27FC236}">
                <a16:creationId xmlns:a16="http://schemas.microsoft.com/office/drawing/2014/main" id="{1FC36CB0-71B5-7A97-F903-F96C8044419B}"/>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見やすい様に並び替えてください。①部署→②役職→③勤務年数。</a:t>
            </a:r>
            <a:endParaRPr kumimoji="1" lang="en-US" altLang="ja-JP" dirty="0">
              <a:solidFill>
                <a:srgbClr val="FF0000"/>
              </a:solidFill>
            </a:endParaRPr>
          </a:p>
          <a:p>
            <a:pPr algn="ctr"/>
            <a:r>
              <a:rPr kumimoji="1" lang="ja-JP" altLang="en-US" dirty="0">
                <a:solidFill>
                  <a:srgbClr val="FF0000"/>
                </a:solidFill>
              </a:rPr>
              <a:t>資格が重要な業種の場合は、資格情報をしっかりとヒアリングするように</a:t>
            </a:r>
          </a:p>
        </p:txBody>
      </p:sp>
    </p:spTree>
    <p:extLst>
      <p:ext uri="{BB962C8B-B14F-4D97-AF65-F5344CB8AC3E}">
        <p14:creationId xmlns:p14="http://schemas.microsoft.com/office/powerpoint/2010/main" val="453025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pic>
        <p:nvPicPr>
          <p:cNvPr id="7" name="図 6" descr="マップ&#10;&#10;AI 生成コンテンツは誤りを含む可能性があります。">
            <a:extLst>
              <a:ext uri="{FF2B5EF4-FFF2-40B4-BE49-F238E27FC236}">
                <a16:creationId xmlns:a16="http://schemas.microsoft.com/office/drawing/2014/main" id="{1B995D0C-4D97-0B84-DF8E-97C7631454BA}"/>
              </a:ext>
            </a:extLst>
          </p:cNvPr>
          <p:cNvPicPr>
            <a:picLocks noChangeAspect="1"/>
          </p:cNvPicPr>
          <p:nvPr/>
        </p:nvPicPr>
        <p:blipFill>
          <a:blip r:embed="rId3"/>
          <a:stretch>
            <a:fillRect/>
          </a:stretch>
        </p:blipFill>
        <p:spPr>
          <a:xfrm>
            <a:off x="311150" y="3412805"/>
            <a:ext cx="4875213" cy="3546159"/>
          </a:xfrm>
          <a:prstGeom prst="rect">
            <a:avLst/>
          </a:prstGeom>
        </p:spPr>
      </p:pic>
      <p:pic>
        <p:nvPicPr>
          <p:cNvPr id="10" name="図 9" descr="建物の前に立っているタワー&#10;&#10;AI 生成コンテンツは誤りを含む可能性があります。">
            <a:extLst>
              <a:ext uri="{FF2B5EF4-FFF2-40B4-BE49-F238E27FC236}">
                <a16:creationId xmlns:a16="http://schemas.microsoft.com/office/drawing/2014/main" id="{06294EAE-3FF8-ED83-357A-B3106FBFD1E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bright="20000"/>
                    </a14:imgEffect>
                  </a14:imgLayer>
                </a14:imgProps>
              </a:ext>
            </a:extLst>
          </a:blip>
          <a:stretch>
            <a:fillRect/>
          </a:stretch>
        </p:blipFill>
        <p:spPr>
          <a:xfrm>
            <a:off x="5505451" y="3412805"/>
            <a:ext cx="5000624" cy="3534780"/>
          </a:xfrm>
          <a:prstGeom prst="rect">
            <a:avLst/>
          </a:prstGeom>
        </p:spPr>
      </p:pic>
      <p:sp>
        <p:nvSpPr>
          <p:cNvPr id="11" name="二等辺三角形 10">
            <a:extLst>
              <a:ext uri="{FF2B5EF4-FFF2-40B4-BE49-F238E27FC236}">
                <a16:creationId xmlns:a16="http://schemas.microsoft.com/office/drawing/2014/main" id="{1702ED47-A490-B2A1-B472-68ACB72C6CC7}"/>
              </a:ext>
            </a:extLst>
          </p:cNvPr>
          <p:cNvSpPr/>
          <p:nvPr/>
        </p:nvSpPr>
        <p:spPr>
          <a:xfrm rot="16200000">
            <a:off x="3617449" y="3198347"/>
            <a:ext cx="556559" cy="3219446"/>
          </a:xfrm>
          <a:prstGeom prst="triangle">
            <a:avLst/>
          </a:prstGeom>
          <a:solidFill>
            <a:srgbClr val="0889C9">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a:extLst>
              <a:ext uri="{FF2B5EF4-FFF2-40B4-BE49-F238E27FC236}">
                <a16:creationId xmlns:a16="http://schemas.microsoft.com/office/drawing/2014/main" id="{4779F3A0-C47F-DF3E-4866-C2056E114C53}"/>
              </a:ext>
            </a:extLst>
          </p:cNvPr>
          <p:cNvPicPr>
            <a:picLocks noChangeAspect="1"/>
          </p:cNvPicPr>
          <p:nvPr/>
        </p:nvPicPr>
        <p:blipFill>
          <a:blip r:embed="rId6"/>
          <a:stretch>
            <a:fillRect/>
          </a:stretch>
        </p:blipFill>
        <p:spPr>
          <a:xfrm>
            <a:off x="311150" y="2066515"/>
            <a:ext cx="10194925" cy="885069"/>
          </a:xfrm>
          <a:prstGeom prst="rect">
            <a:avLst/>
          </a:prstGeom>
        </p:spPr>
      </p:pic>
      <p:sp>
        <p:nvSpPr>
          <p:cNvPr id="17" name="正方形/長方形 16">
            <a:extLst>
              <a:ext uri="{FF2B5EF4-FFF2-40B4-BE49-F238E27FC236}">
                <a16:creationId xmlns:a16="http://schemas.microsoft.com/office/drawing/2014/main" id="{91CDCF6E-524F-1395-400A-5E66FF6932D8}"/>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写真は加工して見栄えを良くしてください。暗い写真や、汚い写真は</a:t>
            </a:r>
            <a:r>
              <a:rPr kumimoji="1" lang="en-US" altLang="ja-JP" dirty="0">
                <a:solidFill>
                  <a:srgbClr val="FF0000"/>
                </a:solidFill>
              </a:rPr>
              <a:t>NG</a:t>
            </a:r>
            <a:r>
              <a:rPr kumimoji="1" lang="ja-JP" altLang="en-US" dirty="0">
                <a:solidFill>
                  <a:srgbClr val="FF0000"/>
                </a:solidFill>
              </a:rPr>
              <a:t>です。</a:t>
            </a:r>
          </a:p>
        </p:txBody>
      </p:sp>
    </p:spTree>
    <p:extLst>
      <p:ext uri="{BB962C8B-B14F-4D97-AF65-F5344CB8AC3E}">
        <p14:creationId xmlns:p14="http://schemas.microsoft.com/office/powerpoint/2010/main" val="630750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拠点概要（●●工場）</a:t>
            </a:r>
          </a:p>
        </p:txBody>
      </p:sp>
      <p:sp>
        <p:nvSpPr>
          <p:cNvPr id="2" name="正方形/長方形 1">
            <a:extLst>
              <a:ext uri="{FF2B5EF4-FFF2-40B4-BE49-F238E27FC236}">
                <a16:creationId xmlns:a16="http://schemas.microsoft.com/office/drawing/2014/main" id="{A2452CE6-C739-7DE3-4FD5-98B5EF8D7EC8}"/>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●●工場</a:t>
            </a:r>
          </a:p>
        </p:txBody>
      </p:sp>
      <p:sp>
        <p:nvSpPr>
          <p:cNvPr id="3" name="正方形/長方形 2">
            <a:extLst>
              <a:ext uri="{FF2B5EF4-FFF2-40B4-BE49-F238E27FC236}">
                <a16:creationId xmlns:a16="http://schemas.microsoft.com/office/drawing/2014/main" id="{C1CF5E76-2A31-3C8E-5835-41447E70ED02}"/>
              </a:ext>
            </a:extLst>
          </p:cNvPr>
          <p:cNvSpPr/>
          <p:nvPr/>
        </p:nvSpPr>
        <p:spPr>
          <a:xfrm>
            <a:off x="311150" y="3638550"/>
            <a:ext cx="4737100" cy="3320415"/>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MAP</a:t>
            </a:r>
            <a:endParaRPr kumimoji="1" lang="ja-JP" altLang="en-US" dirty="0"/>
          </a:p>
        </p:txBody>
      </p:sp>
      <p:sp>
        <p:nvSpPr>
          <p:cNvPr id="4" name="正方形/長方形 3">
            <a:extLst>
              <a:ext uri="{FF2B5EF4-FFF2-40B4-BE49-F238E27FC236}">
                <a16:creationId xmlns:a16="http://schemas.microsoft.com/office/drawing/2014/main" id="{064C568E-8D23-CC8E-401F-ED1AC972E2CE}"/>
              </a:ext>
            </a:extLst>
          </p:cNvPr>
          <p:cNvSpPr/>
          <p:nvPr/>
        </p:nvSpPr>
        <p:spPr>
          <a:xfrm>
            <a:off x="5505450" y="3638550"/>
            <a:ext cx="4737100" cy="3320415"/>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工場外観・内観等</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
        <p:nvSpPr>
          <p:cNvPr id="5" name="正方形/長方形 4">
            <a:extLst>
              <a:ext uri="{FF2B5EF4-FFF2-40B4-BE49-F238E27FC236}">
                <a16:creationId xmlns:a16="http://schemas.microsoft.com/office/drawing/2014/main" id="{BECC146E-273C-7D3E-9874-FA208F69B1BF}"/>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工場は内部の写真があればベター。</a:t>
            </a:r>
          </a:p>
        </p:txBody>
      </p:sp>
    </p:spTree>
    <p:extLst>
      <p:ext uri="{BB962C8B-B14F-4D97-AF65-F5344CB8AC3E}">
        <p14:creationId xmlns:p14="http://schemas.microsoft.com/office/powerpoint/2010/main" val="3707275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lang="ja-JP" altLang="en-US" dirty="0"/>
              <a:t>不動産詳細</a:t>
            </a:r>
          </a:p>
        </p:txBody>
      </p:sp>
      <p:sp>
        <p:nvSpPr>
          <p:cNvPr id="2" name="正方形/長方形 1">
            <a:extLst>
              <a:ext uri="{FF2B5EF4-FFF2-40B4-BE49-F238E27FC236}">
                <a16:creationId xmlns:a16="http://schemas.microsoft.com/office/drawing/2014/main" id="{6E2B06A4-5CE5-00C3-97BF-5F9AFAE677E3}"/>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所有</a:t>
            </a:r>
          </a:p>
        </p:txBody>
      </p:sp>
      <p:sp>
        <p:nvSpPr>
          <p:cNvPr id="3" name="正方形/長方形 2">
            <a:extLst>
              <a:ext uri="{FF2B5EF4-FFF2-40B4-BE49-F238E27FC236}">
                <a16:creationId xmlns:a16="http://schemas.microsoft.com/office/drawing/2014/main" id="{75ADC88D-D2D4-EEF0-D14C-0426FECA60C3}"/>
              </a:ext>
            </a:extLst>
          </p:cNvPr>
          <p:cNvSpPr/>
          <p:nvPr/>
        </p:nvSpPr>
        <p:spPr>
          <a:xfrm>
            <a:off x="311150" y="44990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賃借</a:t>
            </a:r>
          </a:p>
        </p:txBody>
      </p:sp>
      <p:sp>
        <p:nvSpPr>
          <p:cNvPr id="4" name="タイトル 1">
            <a:extLst>
              <a:ext uri="{FF2B5EF4-FFF2-40B4-BE49-F238E27FC236}">
                <a16:creationId xmlns:a16="http://schemas.microsoft.com/office/drawing/2014/main" id="{DAA41D5B-A131-C808-ADF3-2DAFD20777F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pic>
        <p:nvPicPr>
          <p:cNvPr id="18" name="図 17">
            <a:extLst>
              <a:ext uri="{FF2B5EF4-FFF2-40B4-BE49-F238E27FC236}">
                <a16:creationId xmlns:a16="http://schemas.microsoft.com/office/drawing/2014/main" id="{E75E920C-5D4C-27A0-204F-334958CA7C58}"/>
              </a:ext>
            </a:extLst>
          </p:cNvPr>
          <p:cNvPicPr>
            <a:picLocks noChangeAspect="1"/>
          </p:cNvPicPr>
          <p:nvPr/>
        </p:nvPicPr>
        <p:blipFill>
          <a:blip r:embed="rId3"/>
          <a:stretch>
            <a:fillRect/>
          </a:stretch>
        </p:blipFill>
        <p:spPr>
          <a:xfrm>
            <a:off x="311149" y="4940111"/>
            <a:ext cx="10277270" cy="1317598"/>
          </a:xfrm>
          <a:prstGeom prst="rect">
            <a:avLst/>
          </a:prstGeom>
        </p:spPr>
      </p:pic>
      <p:pic>
        <p:nvPicPr>
          <p:cNvPr id="22" name="図 21">
            <a:extLst>
              <a:ext uri="{FF2B5EF4-FFF2-40B4-BE49-F238E27FC236}">
                <a16:creationId xmlns:a16="http://schemas.microsoft.com/office/drawing/2014/main" id="{61A3DA50-BEFA-8295-076C-090717F8589C}"/>
              </a:ext>
            </a:extLst>
          </p:cNvPr>
          <p:cNvPicPr>
            <a:picLocks noChangeAspect="1"/>
          </p:cNvPicPr>
          <p:nvPr/>
        </p:nvPicPr>
        <p:blipFill>
          <a:blip r:embed="rId4"/>
          <a:stretch>
            <a:fillRect/>
          </a:stretch>
        </p:blipFill>
        <p:spPr>
          <a:xfrm>
            <a:off x="311150" y="1936609"/>
            <a:ext cx="10277270" cy="2315173"/>
          </a:xfrm>
          <a:prstGeom prst="rect">
            <a:avLst/>
          </a:prstGeom>
        </p:spPr>
      </p:pic>
      <p:sp>
        <p:nvSpPr>
          <p:cNvPr id="5" name="正方形/長方形 4">
            <a:extLst>
              <a:ext uri="{FF2B5EF4-FFF2-40B4-BE49-F238E27FC236}">
                <a16:creationId xmlns:a16="http://schemas.microsoft.com/office/drawing/2014/main" id="{F1C4181C-810B-0529-CCED-5F1AB3EEF1B5}"/>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多い場合は所有と賃借でページを分けて作成。</a:t>
            </a:r>
            <a:endParaRPr kumimoji="1" lang="en-US" altLang="ja-JP" dirty="0">
              <a:solidFill>
                <a:srgbClr val="FF0000"/>
              </a:solidFill>
            </a:endParaRPr>
          </a:p>
        </p:txBody>
      </p:sp>
    </p:spTree>
    <p:extLst>
      <p:ext uri="{BB962C8B-B14F-4D97-AF65-F5344CB8AC3E}">
        <p14:creationId xmlns:p14="http://schemas.microsoft.com/office/powerpoint/2010/main" val="2004129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91554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
        <p:nvSpPr>
          <p:cNvPr id="6" name="正方形/長方形 5">
            <a:extLst>
              <a:ext uri="{FF2B5EF4-FFF2-40B4-BE49-F238E27FC236}">
                <a16:creationId xmlns:a16="http://schemas.microsoft.com/office/drawing/2014/main" id="{459ED3B3-2643-F089-6138-4F38531AC97C}"/>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65F118E4-B074-E5EF-B0BB-107FCB6D6051}"/>
              </a:ext>
            </a:extLst>
          </p:cNvPr>
          <p:cNvSpPr txBox="1"/>
          <p:nvPr/>
        </p:nvSpPr>
        <p:spPr>
          <a:xfrm>
            <a:off x="6455664" y="1949972"/>
            <a:ext cx="3912257" cy="2539157"/>
          </a:xfrm>
          <a:prstGeom prst="rect">
            <a:avLst/>
          </a:prstGeom>
          <a:noFill/>
        </p:spPr>
        <p:txBody>
          <a:bodyPr wrap="square" lIns="288000" tIns="0" rIns="252000" bIns="0" rtlCol="0">
            <a:spAutoFit/>
          </a:bodyPr>
          <a:lstStyle/>
          <a:p>
            <a:r>
              <a:rPr kumimoji="1" lang="ja-JP" altLang="en-US" sz="1100" dirty="0">
                <a:solidFill>
                  <a:schemeClr val="tx1"/>
                </a:solidFill>
                <a:latin typeface="+mn-ea"/>
                <a:ea typeface="+mn-ea"/>
              </a:rPr>
              <a:t>≪売上≫</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≪原価≫</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br>
              <a:rPr kumimoji="1" lang="en-US" altLang="ja-JP" sz="1100" dirty="0">
                <a:solidFill>
                  <a:schemeClr val="tx1"/>
                </a:solidFill>
                <a:latin typeface="+mn-ea"/>
                <a:ea typeface="+mn-ea"/>
              </a:rPr>
            </a:br>
            <a:r>
              <a:rPr kumimoji="1" lang="ja-JP" altLang="en-US" sz="1100" dirty="0">
                <a:solidFill>
                  <a:schemeClr val="tx1"/>
                </a:solidFill>
                <a:latin typeface="+mn-ea"/>
                <a:ea typeface="+mn-ea"/>
              </a:rPr>
              <a:t>≪営業利益≫</a:t>
            </a:r>
            <a:br>
              <a:rPr kumimoji="1" lang="en-US" altLang="ja-JP" sz="1100" dirty="0">
                <a:solidFill>
                  <a:schemeClr val="tx1"/>
                </a:solidFill>
                <a:latin typeface="+mn-ea"/>
                <a:ea typeface="+mn-ea"/>
              </a:rPr>
            </a:br>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≪見通し≫</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進行期は売上●千円、営業利益●千円程度での着地見込み</a:t>
            </a:r>
            <a:endParaRPr kumimoji="1" lang="en-US" altLang="ja-JP" sz="1100" dirty="0">
              <a:solidFill>
                <a:schemeClr val="tx1"/>
              </a:solidFill>
              <a:latin typeface="+mn-ea"/>
              <a:ea typeface="+mn-ea"/>
            </a:endParaRPr>
          </a:p>
          <a:p>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p:txBody>
      </p:sp>
    </p:spTree>
    <p:extLst>
      <p:ext uri="{BB962C8B-B14F-4D97-AF65-F5344CB8AC3E}">
        <p14:creationId xmlns:p14="http://schemas.microsoft.com/office/powerpoint/2010/main" val="287788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
        <p:nvSpPr>
          <p:cNvPr id="2" name="正方形/長方形 1">
            <a:extLst>
              <a:ext uri="{FF2B5EF4-FFF2-40B4-BE49-F238E27FC236}">
                <a16:creationId xmlns:a16="http://schemas.microsoft.com/office/drawing/2014/main" id="{BF27BA7A-9153-58C5-3140-5975C57507B3}"/>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6" name="テキスト ボックス 5">
            <a:extLst>
              <a:ext uri="{FF2B5EF4-FFF2-40B4-BE49-F238E27FC236}">
                <a16:creationId xmlns:a16="http://schemas.microsoft.com/office/drawing/2014/main" id="{A007D27D-8826-CDC6-2389-3E385CB817A8}"/>
              </a:ext>
            </a:extLst>
          </p:cNvPr>
          <p:cNvSpPr txBox="1"/>
          <p:nvPr/>
        </p:nvSpPr>
        <p:spPr>
          <a:xfrm>
            <a:off x="6455664" y="1949972"/>
            <a:ext cx="3894836" cy="3724096"/>
          </a:xfrm>
          <a:prstGeom prst="rect">
            <a:avLst/>
          </a:prstGeom>
          <a:noFill/>
        </p:spPr>
        <p:txBody>
          <a:bodyPr wrap="square" lIns="288000" tIns="0" rIns="252000" bIns="0" rtlCol="0">
            <a:spAutoFit/>
          </a:bodyPr>
          <a:lstStyle/>
          <a:p>
            <a:r>
              <a:rPr kumimoji="1" lang="en-US" altLang="ja-JP" sz="1100" dirty="0">
                <a:solidFill>
                  <a:schemeClr val="tx1"/>
                </a:solidFill>
                <a:latin typeface="+mn-ea"/>
                <a:ea typeface="+mn-ea"/>
              </a:rPr>
              <a:t>【</a:t>
            </a:r>
            <a:r>
              <a:rPr kumimoji="1" lang="ja-JP" altLang="en-US" sz="1100" dirty="0">
                <a:solidFill>
                  <a:schemeClr val="tx1"/>
                </a:solidFill>
                <a:latin typeface="+mn-ea"/>
                <a:ea typeface="+mn-ea"/>
              </a:rPr>
              <a:t>資産</a:t>
            </a:r>
            <a:r>
              <a:rPr kumimoji="1" lang="en-US" altLang="ja-JP" sz="1100" dirty="0">
                <a:solidFill>
                  <a:schemeClr val="tx1"/>
                </a:solidFill>
                <a:latin typeface="+mn-ea"/>
                <a:ea typeface="+mn-ea"/>
              </a:rPr>
              <a:t>】</a:t>
            </a:r>
            <a:br>
              <a:rPr kumimoji="1" lang="en-US" altLang="ja-JP" sz="1100" dirty="0">
                <a:solidFill>
                  <a:schemeClr val="tx1"/>
                </a:solidFill>
                <a:latin typeface="+mn-ea"/>
                <a:ea typeface="+mn-ea"/>
              </a:rPr>
            </a:br>
            <a:r>
              <a:rPr kumimoji="1" lang="ja-JP" altLang="en-US" sz="1100" dirty="0">
                <a:solidFill>
                  <a:schemeClr val="tx1"/>
                </a:solidFill>
                <a:latin typeface="+mn-ea"/>
                <a:ea typeface="+mn-ea"/>
              </a:rPr>
              <a:t>≪売掛金≫</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br>
              <a:rPr kumimoji="1" lang="en-US" altLang="ja-JP" sz="1100" dirty="0">
                <a:solidFill>
                  <a:schemeClr val="tx1"/>
                </a:solidFill>
                <a:latin typeface="+mn-ea"/>
                <a:ea typeface="+mn-ea"/>
              </a:rPr>
            </a:br>
            <a:r>
              <a:rPr kumimoji="1" lang="ja-JP" altLang="en-US" sz="1100" dirty="0">
                <a:solidFill>
                  <a:schemeClr val="tx1"/>
                </a:solidFill>
                <a:latin typeface="+mn-ea"/>
                <a:ea typeface="+mn-ea"/>
              </a:rPr>
              <a:t>≪商品≫</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br>
              <a:rPr kumimoji="1" lang="en-US" altLang="ja-JP" sz="1100" dirty="0">
                <a:solidFill>
                  <a:schemeClr val="tx1"/>
                </a:solidFill>
                <a:latin typeface="+mn-ea"/>
                <a:ea typeface="+mn-ea"/>
              </a:rPr>
            </a:br>
            <a:r>
              <a:rPr kumimoji="1" lang="ja-JP" altLang="en-US" sz="1100" dirty="0">
                <a:solidFill>
                  <a:schemeClr val="tx1"/>
                </a:solidFill>
                <a:latin typeface="+mn-ea"/>
                <a:ea typeface="+mn-ea"/>
              </a:rPr>
              <a:t>≪土地≫</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br>
              <a:rPr kumimoji="1" lang="en-US" altLang="ja-JP" sz="1100" dirty="0">
                <a:solidFill>
                  <a:schemeClr val="tx1"/>
                </a:solidFill>
                <a:latin typeface="+mn-ea"/>
                <a:ea typeface="+mn-ea"/>
              </a:rPr>
            </a:br>
            <a:r>
              <a:rPr kumimoji="1" lang="ja-JP" altLang="en-US" sz="1100" dirty="0">
                <a:solidFill>
                  <a:schemeClr val="tx1"/>
                </a:solidFill>
                <a:latin typeface="+mn-ea"/>
                <a:ea typeface="+mn-ea"/>
              </a:rPr>
              <a:t>≪保険積立金≫</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br>
              <a:rPr kumimoji="1" lang="en-US" altLang="ja-JP" sz="1100" dirty="0">
                <a:solidFill>
                  <a:schemeClr val="tx1"/>
                </a:solidFill>
                <a:latin typeface="+mn-ea"/>
                <a:ea typeface="+mn-ea"/>
              </a:rPr>
            </a:br>
            <a:r>
              <a:rPr kumimoji="1" lang="en-US" altLang="ja-JP" sz="1100" dirty="0">
                <a:solidFill>
                  <a:schemeClr val="tx1"/>
                </a:solidFill>
                <a:latin typeface="+mn-ea"/>
                <a:ea typeface="+mn-ea"/>
              </a:rPr>
              <a:t>【</a:t>
            </a:r>
            <a:r>
              <a:rPr kumimoji="1" lang="ja-JP" altLang="en-US" sz="1100" dirty="0">
                <a:solidFill>
                  <a:schemeClr val="tx1"/>
                </a:solidFill>
                <a:latin typeface="+mn-ea"/>
                <a:ea typeface="+mn-ea"/>
              </a:rPr>
              <a:t>負債</a:t>
            </a:r>
            <a:r>
              <a:rPr kumimoji="1" lang="en-US" altLang="ja-JP" sz="1100" dirty="0">
                <a:solidFill>
                  <a:schemeClr val="tx1"/>
                </a:solidFill>
                <a:latin typeface="+mn-ea"/>
                <a:ea typeface="+mn-ea"/>
              </a:rPr>
              <a:t>】</a:t>
            </a:r>
          </a:p>
          <a:p>
            <a:r>
              <a:rPr kumimoji="1" lang="ja-JP" altLang="en-US" sz="1100" dirty="0">
                <a:solidFill>
                  <a:schemeClr val="tx1"/>
                </a:solidFill>
                <a:latin typeface="+mn-ea"/>
                <a:ea typeface="+mn-ea"/>
              </a:rPr>
              <a:t>≪従業員退職金引当不足≫</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br>
              <a:rPr kumimoji="1" lang="en-US" altLang="ja-JP" sz="1100" dirty="0">
                <a:solidFill>
                  <a:schemeClr val="tx1"/>
                </a:solidFill>
                <a:latin typeface="+mn-ea"/>
                <a:ea typeface="+mn-ea"/>
              </a:rPr>
            </a:br>
            <a:r>
              <a:rPr kumimoji="1" lang="ja-JP" altLang="en-US" sz="1100" dirty="0">
                <a:solidFill>
                  <a:schemeClr val="tx1"/>
                </a:solidFill>
                <a:latin typeface="+mn-ea"/>
                <a:ea typeface="+mn-ea"/>
              </a:rPr>
              <a:t>≪未払賃金≫</a:t>
            </a:r>
            <a:endParaRPr kumimoji="1" lang="en-US" altLang="ja-JP" sz="1100" dirty="0">
              <a:solidFill>
                <a:schemeClr val="tx1"/>
              </a:solidFill>
              <a:latin typeface="+mn-ea"/>
              <a:ea typeface="+mn-ea"/>
            </a:endParaRPr>
          </a:p>
          <a:p>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p:txBody>
      </p:sp>
    </p:spTree>
    <p:extLst>
      <p:ext uri="{BB962C8B-B14F-4D97-AF65-F5344CB8AC3E}">
        <p14:creationId xmlns:p14="http://schemas.microsoft.com/office/powerpoint/2010/main" val="3740942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F011-9D10-1689-48C1-6E79216CA94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A828581-8161-ED21-30AA-A4EFF4112CCB}"/>
              </a:ext>
            </a:extLst>
          </p:cNvPr>
          <p:cNvSpPr>
            <a:spLocks noGrp="1"/>
          </p:cNvSpPr>
          <p:nvPr>
            <p:ph type="ctrTitle"/>
          </p:nvPr>
        </p:nvSpPr>
        <p:spPr>
          <a:xfrm>
            <a:off x="311150" y="180296"/>
            <a:ext cx="7799917" cy="339267"/>
          </a:xfrm>
        </p:spPr>
        <p:txBody>
          <a:bodyPr>
            <a:normAutofit/>
          </a:bodyPr>
          <a:lstStyle/>
          <a:p>
            <a:r>
              <a:rPr lang="ja-JP" altLang="en-US" dirty="0"/>
              <a:t>製造原価報告書</a:t>
            </a:r>
          </a:p>
        </p:txBody>
      </p:sp>
      <p:sp>
        <p:nvSpPr>
          <p:cNvPr id="5" name="タイトル 1">
            <a:extLst>
              <a:ext uri="{FF2B5EF4-FFF2-40B4-BE49-F238E27FC236}">
                <a16:creationId xmlns:a16="http://schemas.microsoft.com/office/drawing/2014/main" id="{7A0FBE86-5EA8-D086-19D3-6B5D523DBCD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D523D1-0942-99BF-C039-E07124B2F5C1}"/>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latin typeface="+mj-ea"/>
            </a:endParaRPr>
          </a:p>
        </p:txBody>
      </p:sp>
      <p:sp>
        <p:nvSpPr>
          <p:cNvPr id="2" name="正方形/長方形 1">
            <a:extLst>
              <a:ext uri="{FF2B5EF4-FFF2-40B4-BE49-F238E27FC236}">
                <a16:creationId xmlns:a16="http://schemas.microsoft.com/office/drawing/2014/main" id="{68D9DB63-AAB5-8F65-07B0-DC85DFEFA751}"/>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C2442726-9DB0-0F77-E8A6-82C5705E3C25}"/>
              </a:ext>
            </a:extLst>
          </p:cNvPr>
          <p:cNvSpPr txBox="1"/>
          <p:nvPr/>
        </p:nvSpPr>
        <p:spPr>
          <a:xfrm>
            <a:off x="6455664" y="1949972"/>
            <a:ext cx="3894836" cy="1015663"/>
          </a:xfrm>
          <a:prstGeom prst="rect">
            <a:avLst/>
          </a:prstGeom>
          <a:noFill/>
        </p:spPr>
        <p:txBody>
          <a:bodyPr wrap="square" lIns="288000" tIns="0" rIns="252000" bIns="0" rtlCol="0">
            <a:spAutoFit/>
          </a:bodyPr>
          <a:lstStyle/>
          <a:p>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br>
              <a:rPr kumimoji="1" lang="en-US" altLang="ja-JP" sz="1100" dirty="0">
                <a:solidFill>
                  <a:schemeClr val="tx1"/>
                </a:solidFill>
                <a:latin typeface="+mn-ea"/>
                <a:ea typeface="+mn-ea"/>
              </a:rPr>
            </a:br>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p:txBody>
      </p:sp>
    </p:spTree>
    <p:extLst>
      <p:ext uri="{BB962C8B-B14F-4D97-AF65-F5344CB8AC3E}">
        <p14:creationId xmlns:p14="http://schemas.microsoft.com/office/powerpoint/2010/main" val="296809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
        <p:nvSpPr>
          <p:cNvPr id="2" name="正方形/長方形 1">
            <a:extLst>
              <a:ext uri="{FF2B5EF4-FFF2-40B4-BE49-F238E27FC236}">
                <a16:creationId xmlns:a16="http://schemas.microsoft.com/office/drawing/2014/main" id="{CBEBB478-5E89-4238-4A34-967912E35C60}"/>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6455664" y="1949972"/>
            <a:ext cx="3894836" cy="1015663"/>
          </a:xfrm>
          <a:prstGeom prst="rect">
            <a:avLst/>
          </a:prstGeom>
          <a:noFill/>
        </p:spPr>
        <p:txBody>
          <a:bodyPr wrap="square" lIns="288000" tIns="0" rIns="252000" bIns="0" rtlCol="0">
            <a:spAutoFit/>
          </a:bodyPr>
          <a:lstStyle/>
          <a:p>
            <a:r>
              <a:rPr kumimoji="1" lang="ja-JP" altLang="en-US" sz="1100" dirty="0">
                <a:solidFill>
                  <a:schemeClr val="tx1"/>
                </a:solidFill>
                <a:latin typeface="+mn-ea"/>
                <a:ea typeface="+mn-ea"/>
              </a:rPr>
              <a:t>・●●</a:t>
            </a:r>
            <a:endParaRPr kumimoji="1" lang="en-US" altLang="ja-JP" sz="1100" dirty="0">
              <a:solidFill>
                <a:schemeClr val="tx1"/>
              </a:solidFill>
              <a:latin typeface="+mn-ea"/>
              <a:ea typeface="+mn-ea"/>
            </a:endParaRPr>
          </a:p>
          <a:p>
            <a:br>
              <a:rPr kumimoji="1" lang="en-US" altLang="ja-JP" sz="1100" dirty="0">
                <a:solidFill>
                  <a:schemeClr val="tx1"/>
                </a:solidFill>
                <a:latin typeface="+mn-ea"/>
                <a:ea typeface="+mn-ea"/>
              </a:rPr>
            </a:br>
            <a:r>
              <a:rPr kumimoji="1" lang="ja-JP" altLang="en-US" sz="1100" dirty="0">
                <a:solidFill>
                  <a:schemeClr val="tx1"/>
                </a:solidFill>
                <a:latin typeface="+mn-ea"/>
                <a:ea typeface="+mn-ea"/>
              </a:rPr>
              <a:t>・●●</a:t>
            </a:r>
            <a:br>
              <a:rPr kumimoji="1" lang="en-US" altLang="ja-JP" sz="1100" dirty="0">
                <a:solidFill>
                  <a:schemeClr val="tx1"/>
                </a:solidFill>
                <a:latin typeface="+mn-ea"/>
                <a:ea typeface="+mn-ea"/>
              </a:rPr>
            </a:br>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a:p>
            <a:endParaRPr kumimoji="1" lang="en-US" altLang="ja-JP" sz="1100" b="1" spc="50" dirty="0">
              <a:solidFill>
                <a:schemeClr val="tx1"/>
              </a:solidFill>
              <a:latin typeface="+mn-ea"/>
              <a:ea typeface="+mn-ea"/>
            </a:endParaRPr>
          </a:p>
        </p:txBody>
      </p:sp>
    </p:spTree>
    <p:extLst>
      <p:ext uri="{BB962C8B-B14F-4D97-AF65-F5344CB8AC3E}">
        <p14:creationId xmlns:p14="http://schemas.microsoft.com/office/powerpoint/2010/main" val="1909380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r:embed="rId2"/>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r:embed="rId2"/>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391401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3170289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7509-A147-F771-4D5B-58FD19177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98C8B8-8318-9D2C-71AB-4A0772618FCB}"/>
              </a:ext>
            </a:extLst>
          </p:cNvPr>
          <p:cNvSpPr>
            <a:spLocks noGrp="1"/>
          </p:cNvSpPr>
          <p:nvPr>
            <p:ph type="ctrTitle"/>
          </p:nvPr>
        </p:nvSpPr>
        <p:spPr>
          <a:xfrm>
            <a:off x="311150" y="180296"/>
            <a:ext cx="7799917" cy="339267"/>
          </a:xfrm>
        </p:spPr>
        <p:txBody>
          <a:bodyPr>
            <a:normAutofit/>
          </a:bodyPr>
          <a:lstStyle/>
          <a:p>
            <a:r>
              <a:rPr lang="ja-JP" altLang="en-US" dirty="0"/>
              <a:t>事業計画</a:t>
            </a:r>
          </a:p>
        </p:txBody>
      </p:sp>
      <p:sp>
        <p:nvSpPr>
          <p:cNvPr id="5" name="タイトル 1">
            <a:extLst>
              <a:ext uri="{FF2B5EF4-FFF2-40B4-BE49-F238E27FC236}">
                <a16:creationId xmlns:a16="http://schemas.microsoft.com/office/drawing/2014/main" id="{3612E327-1829-4D56-4AD9-5013C3211CE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96CF066E-37EF-5081-6153-116AC130DDF9}"/>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14828973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E5D56-7D5E-B85F-B7B1-659520F1133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E6BC784-35A2-FA39-F6DC-45D9CB3301D2}"/>
              </a:ext>
            </a:extLst>
          </p:cNvPr>
          <p:cNvSpPr>
            <a:spLocks noGrp="1"/>
          </p:cNvSpPr>
          <p:nvPr>
            <p:ph type="ctrTitle"/>
          </p:nvPr>
        </p:nvSpPr>
        <p:spPr>
          <a:xfrm>
            <a:off x="311150" y="180296"/>
            <a:ext cx="7799917" cy="339267"/>
          </a:xfrm>
        </p:spPr>
        <p:txBody>
          <a:bodyPr>
            <a:normAutofit/>
          </a:bodyPr>
          <a:lstStyle/>
          <a:p>
            <a:r>
              <a:rPr lang="ja-JP" altLang="en-US" dirty="0"/>
              <a:t>今期予算</a:t>
            </a:r>
          </a:p>
        </p:txBody>
      </p:sp>
      <p:sp>
        <p:nvSpPr>
          <p:cNvPr id="5" name="タイトル 1">
            <a:extLst>
              <a:ext uri="{FF2B5EF4-FFF2-40B4-BE49-F238E27FC236}">
                <a16:creationId xmlns:a16="http://schemas.microsoft.com/office/drawing/2014/main" id="{8DAB018D-EC63-CB47-E5A5-25D667E4D34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8D56502D-3750-7017-6E60-6BF9CD0674B6}"/>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1764594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t>その他補足情報</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mj-ea"/>
              </a:rPr>
              <a:t>対象会社の魅力が伝わるリード文を作成して</a:t>
            </a:r>
            <a:r>
              <a:rPr lang="ja-JP" altLang="en-US" dirty="0"/>
              <a:t>ください。対象会社の魅力が伝わるリード文を作成してください。対象会社の魅力が伝わるリード文を作成してください。</a:t>
            </a:r>
            <a:endParaRPr lang="en-US" altLang="ja-JP" dirty="0"/>
          </a:p>
          <a:p>
            <a:endParaRPr lang="en-US" altLang="ja-JP" dirty="0"/>
          </a:p>
          <a:p>
            <a:endParaRPr lang="en-US" altLang="ja-JP" dirty="0"/>
          </a:p>
          <a:p>
            <a:endParaRPr lang="en-US" altLang="ja-JP" dirty="0">
              <a:latin typeface="+mj-ea"/>
            </a:endParaRPr>
          </a:p>
        </p:txBody>
      </p:sp>
    </p:spTree>
    <p:extLst>
      <p:ext uri="{BB962C8B-B14F-4D97-AF65-F5344CB8AC3E}">
        <p14:creationId xmlns:p14="http://schemas.microsoft.com/office/powerpoint/2010/main" val="805688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
        <p:nvSpPr>
          <p:cNvPr id="9" name="正方形/長方形 8">
            <a:extLst>
              <a:ext uri="{FF2B5EF4-FFF2-40B4-BE49-F238E27FC236}">
                <a16:creationId xmlns:a16="http://schemas.microsoft.com/office/drawing/2014/main" id="{B2148C26-981D-E063-03BD-78E6B59CDA9A}"/>
              </a:ext>
            </a:extLst>
          </p:cNvPr>
          <p:cNvSpPr/>
          <p:nvPr/>
        </p:nvSpPr>
        <p:spPr>
          <a:xfrm>
            <a:off x="0" y="7034547"/>
            <a:ext cx="10691813" cy="52376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このシートは削除しないこと。</a:t>
            </a:r>
          </a:p>
        </p:txBody>
      </p:sp>
    </p:spTree>
    <p:extLst>
      <p:ext uri="{BB962C8B-B14F-4D97-AF65-F5344CB8AC3E}">
        <p14:creationId xmlns:p14="http://schemas.microsoft.com/office/powerpoint/2010/main" val="257749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7717</TotalTime>
  <Words>3079</Words>
  <Application>Microsoft Office PowerPoint</Application>
  <PresentationFormat>ユーザー設定</PresentationFormat>
  <Paragraphs>384</Paragraphs>
  <Slides>36</Slides>
  <Notes>30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36</vt:i4>
      </vt:variant>
    </vt:vector>
  </HeadingPairs>
  <TitlesOfParts>
    <vt:vector size="40" baseType="lpstr">
      <vt:lpstr>游ゴシック</vt:lpstr>
      <vt:lpstr>Arial</vt:lpstr>
      <vt:lpstr>Wingdings</vt:lpstr>
      <vt:lpstr>SL_2026</vt:lpstr>
      <vt:lpstr>企業概要書 &lt;●●業/●●地区&gt;　</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サービス概要、製品一例、工事実績、など</vt:lpstr>
      <vt:lpstr>特徴、強み、成長性等</vt:lpstr>
      <vt:lpstr>●●別売上高</vt:lpstr>
      <vt:lpstr>仕入先別取引高</vt:lpstr>
      <vt:lpstr>外注費</vt:lpstr>
      <vt:lpstr>組織、拠点、設備等</vt:lpstr>
      <vt:lpstr>組織図</vt:lpstr>
      <vt:lpstr>株主及び役員</vt:lpstr>
      <vt:lpstr>従業員</vt:lpstr>
      <vt:lpstr>拠点概要（本社）</vt:lpstr>
      <vt:lpstr>拠点概要（●●工場）</vt:lpstr>
      <vt:lpstr>不動産詳細</vt:lpstr>
      <vt:lpstr>保有設備一覧</vt:lpstr>
      <vt:lpstr>財務情報詳細</vt:lpstr>
      <vt:lpstr>貸借対照表</vt:lpstr>
      <vt:lpstr>損益計算書</vt:lpstr>
      <vt:lpstr>製造原価報告書</vt:lpstr>
      <vt:lpstr>販売費及び一般管理費</vt:lpstr>
      <vt:lpstr>Appendix</vt:lpstr>
      <vt:lpstr>沿革</vt:lpstr>
      <vt:lpstr>代表者経歴</vt:lpstr>
      <vt:lpstr>事業計画</vt:lpstr>
      <vt:lpstr>今期予算</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越智 真也</cp:lastModifiedBy>
  <cp:revision>176</cp:revision>
  <cp:lastPrinted>2025-10-23T01:12:16Z</cp:lastPrinted>
  <dcterms:created xsi:type="dcterms:W3CDTF">2022-11-09T11:25:01Z</dcterms:created>
  <dcterms:modified xsi:type="dcterms:W3CDTF">2026-02-10T11:59:22Z</dcterms:modified>
</cp:coreProperties>
</file>