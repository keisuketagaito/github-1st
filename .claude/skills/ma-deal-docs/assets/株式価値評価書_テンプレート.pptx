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4"/>
  </p:notesMasterIdLst>
  <p:sldIdLst>
    <p:sldId id="256" r:id="rId2"/>
    <p:sldId id="257" r:id="rId3"/>
    <p:sldId id="290" r:id="rId4"/>
    <p:sldId id="314" r:id="rId5"/>
    <p:sldId id="259" r:id="rId6"/>
    <p:sldId id="295" r:id="rId7"/>
    <p:sldId id="315" r:id="rId8"/>
    <p:sldId id="262" r:id="rId9"/>
    <p:sldId id="263" r:id="rId10"/>
    <p:sldId id="264" r:id="rId11"/>
    <p:sldId id="317" r:id="rId12"/>
    <p:sldId id="318" r:id="rId13"/>
    <p:sldId id="319" r:id="rId14"/>
    <p:sldId id="309" r:id="rId15"/>
    <p:sldId id="310" r:id="rId16"/>
    <p:sldId id="282" r:id="rId17"/>
    <p:sldId id="283" r:id="rId18"/>
    <p:sldId id="299" r:id="rId19"/>
    <p:sldId id="287" r:id="rId20"/>
    <p:sldId id="320" r:id="rId21"/>
    <p:sldId id="312" r:id="rId22"/>
    <p:sldId id="277" r:id="rId23"/>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spPr>
            <a:no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'!$C$4:$C$6</c:f>
              <c:numCache>
                <c:formatCode>#,##0,</c:formatCode>
                <c:ptCount val="3"/>
                <c:pt idx="0">
                  <c:v>0</c:v>
                </c:pt>
                <c:pt idx="1">
                  <c:v>0</c:v>
                </c:pt>
                <c:pt idx="2">
                  <c:v>0</c:v>
                </c:pt>
              </c:numCache>
            </c:numRef>
          </c:val>
          <c:extLst>
            <c:ext xmlns:c16="http://schemas.microsoft.com/office/drawing/2014/chart" uri="{C3380CC4-5D6E-409C-BE32-E72D297353CC}">
              <c16:uniqueId val="{00000000-2B92-40CA-8669-90E01AE844BB}"/>
            </c:ext>
          </c:extLst>
        </c:ser>
        <c:ser>
          <c:idx val="1"/>
          <c:order val="1"/>
          <c:spPr>
            <a:solidFill>
              <a:srgbClr val="0889C9"/>
            </a:solidFill>
            <a:ln w="0">
              <a:noFill/>
            </a:ln>
          </c:spPr>
          <c:invertIfNegative val="0"/>
          <c:dLbls>
            <c:spPr>
              <a:noFill/>
              <a:ln>
                <a:noFill/>
              </a:ln>
              <a:effectLst/>
            </c:spPr>
            <c:txPr>
              <a:bodyPr wrap="square"/>
              <a:lstStyle/>
              <a:p>
                <a:pPr>
                  <a:defRPr sz="1000" b="0" strike="noStrike" spc="-1">
                    <a:solidFill>
                      <a:srgbClr val="000000"/>
                    </a:solidFill>
                    <a:latin typeface="Arial"/>
                    <a:ea typeface="游ゴシック Medium"/>
                  </a:defRPr>
                </a:pPr>
                <a:endParaRPr lang="ja-JP"/>
              </a:p>
            </c:txPr>
            <c:dLblPos val="ctr"/>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'株式価値 '!$B$4:$B$6</c:f>
              <c:strCache>
                <c:ptCount val="3"/>
                <c:pt idx="0">
                  <c:v>インカム</c:v>
                </c:pt>
                <c:pt idx="1">
                  <c:v>マーケット</c:v>
                </c:pt>
                <c:pt idx="2">
                  <c:v>コスト</c:v>
                </c:pt>
              </c:strCache>
            </c:strRef>
          </c:cat>
          <c:val>
            <c:numRef>
              <c:f>'株式価値 '!$D$4:$D$6</c:f>
              <c:numCache>
                <c:formatCode>#,##0,</c:formatCode>
                <c:ptCount val="3"/>
                <c:pt idx="0">
                  <c:v>0</c:v>
                </c:pt>
                <c:pt idx="1">
                  <c:v>0</c:v>
                </c:pt>
                <c:pt idx="2">
                  <c:v>0</c:v>
                </c:pt>
              </c:numCache>
            </c:numRef>
          </c:val>
          <c:extLst>
            <c:ext xmlns:c16="http://schemas.microsoft.com/office/drawing/2014/chart" uri="{C3380CC4-5D6E-409C-BE32-E72D297353CC}">
              <c16:uniqueId val="{00000001-2B92-40CA-8669-90E01AE844BB}"/>
            </c:ext>
          </c:extLst>
        </c:ser>
        <c:dLbls>
          <c:showLegendKey val="0"/>
          <c:showVal val="0"/>
          <c:showCatName val="0"/>
          <c:showSerName val="0"/>
          <c:showPercent val="0"/>
          <c:showBubbleSize val="0"/>
        </c:dLbls>
        <c:gapWidth val="70"/>
        <c:overlap val="100"/>
        <c:axId val="70114149"/>
        <c:axId val="98614812"/>
      </c:barChart>
      <c:catAx>
        <c:axId val="70114149"/>
        <c:scaling>
          <c:orientation val="minMax"/>
        </c:scaling>
        <c:delete val="1"/>
        <c:axPos val="l"/>
        <c:numFmt formatCode="General" sourceLinked="1"/>
        <c:majorTickMark val="out"/>
        <c:minorTickMark val="none"/>
        <c:tickLblPos val="nextTo"/>
        <c:crossAx val="98614812"/>
        <c:crosses val="autoZero"/>
        <c:auto val="1"/>
        <c:lblAlgn val="ctr"/>
        <c:lblOffset val="100"/>
        <c:noMultiLvlLbl val="0"/>
      </c:catAx>
      <c:valAx>
        <c:axId val="98614812"/>
        <c:scaling>
          <c:orientation val="minMax"/>
        </c:scaling>
        <c:delete val="0"/>
        <c:axPos val="b"/>
        <c:majorGridlines>
          <c:spPr>
            <a:ln w="9360">
              <a:solidFill>
                <a:srgbClr val="0B3041"/>
              </a:solidFill>
              <a:round/>
            </a:ln>
          </c:spPr>
        </c:majorGridlines>
        <c:numFmt formatCode="#,##0," sourceLinked="0"/>
        <c:majorTickMark val="out"/>
        <c:minorTickMark val="none"/>
        <c:tickLblPos val="nextTo"/>
        <c:spPr>
          <a:ln w="12600">
            <a:noFill/>
          </a:ln>
        </c:spPr>
        <c:txPr>
          <a:bodyPr/>
          <a:lstStyle/>
          <a:p>
            <a:pPr>
              <a:defRPr sz="900" b="0" strike="noStrike" spc="-1">
                <a:solidFill>
                  <a:srgbClr val="0B3041"/>
                </a:solidFill>
                <a:latin typeface="Arial"/>
                <a:ea typeface="游ゴシック Medium"/>
              </a:defRPr>
            </a:pPr>
            <a:endParaRPr lang="ja-JP"/>
          </a:p>
        </c:txPr>
        <c:crossAx val="70114149"/>
        <c:crosses val="autoZero"/>
        <c:crossBetween val="between"/>
      </c:valAx>
      <c:spPr>
        <a:noFill/>
        <a:ln w="0">
          <a:noFill/>
        </a:ln>
      </c:spPr>
    </c:plotArea>
    <c:plotVisOnly val="1"/>
    <c:dispBlanksAs val="gap"/>
    <c:showDLblsOverMax val="1"/>
  </c:chart>
  <c:spPr>
    <a:solidFill>
      <a:srgbClr val="FFFFFF"/>
    </a:solidFill>
    <a:ln w="12600">
      <a:noFill/>
    </a:ln>
  </c:sp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18</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●●●株式会社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540486" cy="246221"/>
          </a:xfrm>
          <a:prstGeom prst="rect">
            <a:avLst/>
          </a:prstGeom>
          <a:noFill/>
        </p:spPr>
        <p:txBody>
          <a:bodyPr wrap="none" lIns="0" tIns="0" rIns="0" bIns="0" rtlCol="0" anchor="ctr">
            <a:spAutoFit/>
          </a:bodyPr>
          <a:lstStyle/>
          <a:p>
            <a:pPr defTabSz="503972">
              <a:defRPr/>
            </a:pPr>
            <a:r>
              <a:rPr kumimoji="1" lang="en-US" altLang="ja-JP" sz="1600" spc="100" dirty="0"/>
              <a:t>●年●月●日</a:t>
            </a:r>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及びその関係者へのインタビューに基づいております。これらの資料、情報及びインタビュー内容の正確性、妥当性、適法性、網羅性または完全性について当社独自の調査・検証は行われておりません。従って、試算の基礎となった資料や情報、インタビュー内容の誤謬に基づく試算結果等への影響について、当社は何らの責任も負いません。</a:t>
            </a:r>
            <a:endParaRPr lang="en-US" altLang="ja-JP" sz="1200" dirty="0"/>
          </a:p>
          <a:p>
            <a:pPr>
              <a:spcAft>
                <a:spcPts val="1200"/>
              </a:spcAft>
            </a:pPr>
            <a:r>
              <a:rPr lang="ja-JP" altLang="en-US" sz="1200" dirty="0"/>
              <a:t>本書において、対象会社の基準日における資産及び負債等の評価（不動産の簡易価格調査結果を含む）、損益実績値の調整、将来予測数値等の分析結果について当社のコメントを付したものがありますが、これらの正確性、妥当性、適法性、網羅性、完全性または実現可能性を保証するものではありません。</a:t>
            </a:r>
          </a:p>
          <a:p>
            <a:pPr>
              <a:spcAft>
                <a:spcPts val="1200"/>
              </a:spcAft>
            </a:pPr>
            <a:r>
              <a:rPr lang="ja-JP" altLang="en-US" sz="1200" dirty="0"/>
              <a:t>本書における試算結果は、限定された情報及び調査機会に基づき本書の日付現在における当社としての意見を述べるものであり、その絶対性を保証するものではありません。従って、本書の試算結果は</a:t>
            </a:r>
            <a:r>
              <a:rPr lang="en-US" altLang="ja-JP" sz="1200" dirty="0"/>
              <a:t>M&amp;A</a:t>
            </a:r>
            <a:r>
              <a:rPr lang="ja-JP" altLang="en-US" sz="1200" dirty="0"/>
              <a:t>実行時の譲渡価額（売買取引価額）を保証するものではありません。</a:t>
            </a:r>
          </a:p>
          <a:p>
            <a:pPr>
              <a:spcAft>
                <a:spcPts val="1200"/>
              </a:spcAft>
            </a:pPr>
            <a:r>
              <a:rPr lang="ja-JP" altLang="en-US" sz="1200" dirty="0"/>
              <a:t>本書を本件試算目的以外で利用する場合及び本件取引の関連当事者以外に開示する場合には、当社の書面による承諾が必要となります。</a:t>
            </a:r>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本書で用いられる「本件取引」「本件試算目的」の定義は、「企業価値試算結果」のページに記載しております。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a:t>
            </a:r>
            <a:r>
              <a:rPr lang="ja-JP" altLang="en-US" sz="1600" dirty="0"/>
              <a:t>／ </a:t>
            </a:r>
            <a:br>
              <a:rPr lang="en-US" altLang="ja-JP" sz="1800" dirty="0"/>
            </a:br>
            <a:r>
              <a:rPr lang="ja-JP" altLang="en-US" sz="2200" dirty="0"/>
              <a:t>試算結果</a:t>
            </a:r>
            <a:endParaRPr lang="en-US" altLang="ja-JP" sz="2200" dirty="0"/>
          </a:p>
          <a:p>
            <a:pPr>
              <a:spcAft>
                <a:spcPts val="1000"/>
              </a:spcAft>
            </a:pPr>
            <a:r>
              <a:rPr lang="en-US" altLang="ja-JP" sz="1600" dirty="0"/>
              <a:t>Financial Analysis </a:t>
            </a:r>
            <a:r>
              <a:rPr lang="ja-JP" altLang="en-US" sz="1600" dirty="0"/>
              <a:t>／ </a:t>
            </a:r>
            <a:br>
              <a:rPr lang="en-US" altLang="ja-JP" sz="1800" dirty="0"/>
            </a:br>
            <a:r>
              <a:rPr lang="ja-JP" altLang="en-US" dirty="0"/>
              <a:t>財務情報の分析</a:t>
            </a:r>
          </a:p>
          <a:p>
            <a:pPr>
              <a:spcAft>
                <a:spcPts val="1000"/>
              </a:spcAft>
            </a:pPr>
            <a:r>
              <a:rPr lang="en-US" altLang="ja-JP" sz="1600" dirty="0"/>
              <a:t>Valuation Details </a:t>
            </a:r>
            <a:r>
              <a:rPr lang="ja-JP" altLang="en-US" sz="1600" dirty="0"/>
              <a:t>／ </a:t>
            </a:r>
            <a:br>
              <a:rPr lang="en-US" altLang="ja-JP" sz="1800" dirty="0"/>
            </a:br>
            <a:r>
              <a:rPr lang="ja-JP" altLang="en-US" dirty="0"/>
              <a:t>株式価値の試算</a:t>
            </a:r>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0" name="正方形/長方形 9">
            <a:extLst>
              <a:ext uri="{FF2B5EF4-FFF2-40B4-BE49-F238E27FC236}">
                <a16:creationId xmlns:a16="http://schemas.microsoft.com/office/drawing/2014/main" id="{356BA6C0-4C4F-20D8-A4B5-B9A7E93A5626}"/>
              </a:ext>
            </a:extLst>
          </p:cNvPr>
          <p:cNvSpPr/>
          <p:nvPr/>
        </p:nvSpPr>
        <p:spPr>
          <a:xfrm>
            <a:off x="5624541" y="4876948"/>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11" name="正方形/長方形 10">
            <a:extLst>
              <a:ext uri="{FF2B5EF4-FFF2-40B4-BE49-F238E27FC236}">
                <a16:creationId xmlns:a16="http://schemas.microsoft.com/office/drawing/2014/main" id="{A3313A39-62ED-3ADF-A7D6-60D17898BFB5}"/>
              </a:ext>
            </a:extLst>
          </p:cNvPr>
          <p:cNvSpPr/>
          <p:nvPr/>
        </p:nvSpPr>
        <p:spPr>
          <a:xfrm>
            <a:off x="5624542" y="569409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1" name="グループ化 20">
            <a:extLst>
              <a:ext uri="{FF2B5EF4-FFF2-40B4-BE49-F238E27FC236}">
                <a16:creationId xmlns:a16="http://schemas.microsoft.com/office/drawing/2014/main" id="{C5DA3EA3-89C2-83D0-3698-1ECBC4BDC2FB}"/>
              </a:ext>
            </a:extLst>
          </p:cNvPr>
          <p:cNvGrpSpPr/>
          <p:nvPr/>
        </p:nvGrpSpPr>
        <p:grpSpPr>
          <a:xfrm>
            <a:off x="5624541" y="4298553"/>
            <a:ext cx="3492000" cy="310672"/>
            <a:chOff x="885525" y="2895310"/>
            <a:chExt cx="3492000" cy="310672"/>
          </a:xfrm>
        </p:grpSpPr>
        <p:sp>
          <p:nvSpPr>
            <p:cNvPr id="22" name="テキスト ボックス 21">
              <a:extLst>
                <a:ext uri="{FF2B5EF4-FFF2-40B4-BE49-F238E27FC236}">
                  <a16:creationId xmlns:a16="http://schemas.microsoft.com/office/drawing/2014/main" id="{9C1DC0E6-ED6E-2F07-E66C-1E1D60682552}"/>
                </a:ext>
              </a:extLst>
            </p:cNvPr>
            <p:cNvSpPr txBox="1"/>
            <p:nvPr/>
          </p:nvSpPr>
          <p:spPr>
            <a:xfrm>
              <a:off x="974063" y="2895310"/>
              <a:ext cx="2099337" cy="276999"/>
            </a:xfrm>
            <a:prstGeom prst="rect">
              <a:avLst/>
            </a:prstGeom>
            <a:noFill/>
          </p:spPr>
          <p:txBody>
            <a:bodyPr wrap="square" lIns="0" tIns="0" rIns="0" bIns="0" rtlCol="0" anchor="ctr">
              <a:spAutoFit/>
            </a:bodyPr>
            <a:lstStyle>
              <a:defPPr>
                <a:defRPr lang="en-US"/>
              </a:defPPr>
              <a:lvl1pPr defTabSz="1007943">
                <a:lnSpc>
                  <a:spcPct val="100000"/>
                </a:lnSpc>
                <a:spcBef>
                  <a:spcPct val="0"/>
                </a:spcBef>
                <a:buClr>
                  <a:schemeClr val="bg1"/>
                </a:buClr>
                <a:buNone/>
                <a:defRPr kumimoji="1" b="1" spc="100">
                  <a:solidFill>
                    <a:schemeClr val="tx2"/>
                  </a:solidFill>
                  <a:latin typeface="+mj-lt"/>
                  <a:ea typeface="+mj-ea"/>
                </a:defRPr>
              </a:lvl1pPr>
            </a:lstStyle>
            <a:p>
              <a:r>
                <a:rPr lang="en-US" altLang="ja-JP" spc="50" dirty="0"/>
                <a:t>Appendix</a:t>
              </a:r>
            </a:p>
          </p:txBody>
        </p:sp>
        <p:cxnSp>
          <p:nvCxnSpPr>
            <p:cNvPr id="23" name="直線コネクタ 22">
              <a:extLst>
                <a:ext uri="{FF2B5EF4-FFF2-40B4-BE49-F238E27FC236}">
                  <a16:creationId xmlns:a16="http://schemas.microsoft.com/office/drawing/2014/main" id="{612D37CD-A59C-F55E-221F-B13CD355E5F9}"/>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Google Shape;194;p3">
            <a:extLst>
              <a:ext uri="{FF2B5EF4-FFF2-40B4-BE49-F238E27FC236}">
                <a16:creationId xmlns:a16="http://schemas.microsoft.com/office/drawing/2014/main" id="{51263BEA-61A8-35D5-87C2-23D10C6930F5}"/>
              </a:ext>
            </a:extLst>
          </p:cNvPr>
          <p:cNvSpPr txBox="1"/>
          <p:nvPr/>
        </p:nvSpPr>
        <p:spPr>
          <a:xfrm>
            <a:off x="6191813" y="4825113"/>
            <a:ext cx="4500000" cy="1610697"/>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Methodology </a:t>
            </a:r>
            <a:r>
              <a:rPr lang="ja-JP" altLang="en-US" sz="1600" dirty="0"/>
              <a:t>／ </a:t>
            </a:r>
            <a:br>
              <a:rPr lang="en-US" altLang="ja-JP" sz="1800" dirty="0"/>
            </a:br>
            <a:r>
              <a:rPr lang="ja-JP" altLang="en-US" dirty="0"/>
              <a:t>評価手法について</a:t>
            </a:r>
            <a:endParaRPr lang="en-US" altLang="ja-JP" dirty="0"/>
          </a:p>
          <a:p>
            <a:pPr>
              <a:spcAft>
                <a:spcPts val="1000"/>
              </a:spcAft>
            </a:pPr>
            <a:r>
              <a:rPr lang="en-US" altLang="ja-JP" sz="1600" dirty="0"/>
              <a:t>Valuation Concept </a:t>
            </a:r>
            <a:r>
              <a:rPr lang="ja-JP" altLang="en-US" sz="1600" dirty="0"/>
              <a:t>／ </a:t>
            </a:r>
            <a:br>
              <a:rPr lang="en-US" altLang="ja-JP" sz="1800" dirty="0"/>
            </a:br>
            <a:r>
              <a:rPr lang="ja-JP" altLang="en-US" dirty="0"/>
              <a:t>株式価値の考え方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br>
              <a:rPr lang="en-US" altLang="ja-JP" sz="1200" b="1" spc="30">
                <a:solidFill>
                  <a:schemeClr val="tx2"/>
                </a:solidFill>
                <a:latin typeface="+mj-ea"/>
                <a:ea typeface="+mj-ea"/>
              </a:rPr>
            </a:br>
            <a:r>
              <a:rPr lang="ja-JP" altLang="en-US" sz="1200" b="1" spc="30">
                <a:solidFill>
                  <a:schemeClr val="tx2"/>
                </a:solidFill>
                <a:latin typeface="+mj-ea"/>
                <a:ea typeface="+mj-ea"/>
              </a:rPr>
              <a:t>なお、各手法の概略につきましては、「</a:t>
            </a:r>
            <a:r>
              <a:rPr lang="en-US" altLang="ja-JP" sz="1200" b="1" spc="30">
                <a:solidFill>
                  <a:schemeClr val="tx2"/>
                </a:solidFill>
                <a:latin typeface="+mj-ea"/>
                <a:ea typeface="+mj-ea"/>
              </a:rPr>
              <a:t>Appendix2.</a:t>
            </a:r>
            <a:r>
              <a:rPr lang="ja-JP" altLang="en-US" sz="1200" b="1" spc="30">
                <a:solidFill>
                  <a:schemeClr val="tx2"/>
                </a:solidFill>
                <a:latin typeface="+mj-ea"/>
                <a:ea typeface="+mj-ea"/>
              </a:rPr>
              <a:t>評価手法について」をご確認ください。</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薄価純資産価額法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時価純資産価額法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時価純資産＋営業権法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　（年買法）</a:t>
                      </a: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継続企業価値を算定する手法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実質的な財政状態に加え、経営成績をバランスよく反映させることができる「時価純資産価額法」に「営業権」を加味する手法を採用しました。なお、本手法は、中堅・中小企業の</a:t>
                      </a:r>
                      <a:r>
                        <a:rPr kumimoji="1" lang="en-US" altLang="ja-JP" sz="1000" b="0" kern="1200" dirty="0">
                          <a:solidFill>
                            <a:schemeClr val="dk1"/>
                          </a:solidFill>
                          <a:latin typeface="+mn-ea"/>
                          <a:ea typeface="+mn-ea"/>
                          <a:cs typeface="+mn-cs"/>
                        </a:rPr>
                        <a:t>M&amp;A</a:t>
                      </a:r>
                      <a:r>
                        <a:rPr kumimoji="1" lang="ja-JP" altLang="en-US" sz="1000" b="0" kern="1200" dirty="0">
                          <a:solidFill>
                            <a:schemeClr val="dk1"/>
                          </a:solidFill>
                          <a:latin typeface="+mn-ea"/>
                          <a:ea typeface="+mn-ea"/>
                          <a:cs typeface="+mn-cs"/>
                        </a:rPr>
                        <a:t>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市場価額法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類似業種比準法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tx2"/>
                          </a:solidFill>
                          <a:latin typeface="+mn-lt"/>
                          <a:ea typeface="+mn-ea"/>
                          <a:cs typeface="+mn-cs"/>
                        </a:rPr>
                        <a:t>□ </a:t>
                      </a:r>
                      <a:r>
                        <a:rPr kumimoji="1" lang="ja-JP" altLang="en-US" sz="1100" b="1" kern="1200" dirty="0">
                          <a:solidFill>
                            <a:schemeClr val="tx2"/>
                          </a:solidFill>
                          <a:latin typeface="+mj-lt"/>
                          <a:ea typeface="+mj-ea"/>
                          <a:cs typeface="+mn-cs"/>
                        </a:rPr>
                        <a:t>類似会社比準法</a:t>
                      </a:r>
                      <a:br>
                        <a:rPr kumimoji="1" lang="en-US" altLang="ja-JP" sz="1100" b="1" kern="1200" dirty="0">
                          <a:solidFill>
                            <a:schemeClr val="tx2"/>
                          </a:solidFill>
                          <a:latin typeface="+mj-lt"/>
                          <a:ea typeface="+mj-ea"/>
                          <a:cs typeface="+mn-cs"/>
                        </a:rPr>
                      </a:br>
                      <a:r>
                        <a:rPr kumimoji="1" lang="ja-JP" altLang="en-US" sz="900" b="1" kern="1200" dirty="0">
                          <a:solidFill>
                            <a:schemeClr val="tx2"/>
                          </a:solidFill>
                          <a:latin typeface="+mj-lt"/>
                          <a:ea typeface="+mj-ea"/>
                          <a:cs typeface="+mn-cs"/>
                        </a:rPr>
                        <a:t>（</a:t>
                      </a:r>
                      <a:r>
                        <a:rPr kumimoji="1" lang="en-US" altLang="ja-JP" sz="900" b="1" kern="1200" dirty="0">
                          <a:solidFill>
                            <a:schemeClr val="tx2"/>
                          </a:solidFill>
                          <a:latin typeface="+mj-lt"/>
                          <a:ea typeface="+mj-ea"/>
                          <a:cs typeface="+mn-cs"/>
                        </a:rPr>
                        <a:t>EV/EBITDA</a:t>
                      </a:r>
                      <a:r>
                        <a:rPr kumimoji="1" lang="ja-JP" altLang="en-US" sz="900" b="1" kern="1200" dirty="0">
                          <a:solidFill>
                            <a:schemeClr val="tx2"/>
                          </a:solidFill>
                          <a:latin typeface="+mj-lt"/>
                          <a:ea typeface="+mj-ea"/>
                          <a:cs typeface="+mn-cs"/>
                        </a:rPr>
                        <a:t>マルチプル法）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a:t>
                      </a:r>
                      <a:br>
                        <a:rPr kumimoji="1" lang="en-US" altLang="ja-JP" sz="1000" b="1" kern="1200" dirty="0">
                          <a:solidFill>
                            <a:schemeClr val="tx2"/>
                          </a:solidFill>
                          <a:latin typeface="+mj-lt"/>
                          <a:ea typeface="+mj-ea"/>
                          <a:cs typeface="+mn-cs"/>
                        </a:rPr>
                      </a:br>
                      <a:r>
                        <a:rPr kumimoji="1" lang="ja-JP" altLang="en-US" sz="1000" b="1" kern="1200" dirty="0">
                          <a:solidFill>
                            <a:schemeClr val="tx2"/>
                          </a:solidFill>
                          <a:latin typeface="+mj-lt"/>
                          <a:ea typeface="+mj-ea"/>
                          <a:cs typeface="+mn-cs"/>
                        </a:rPr>
                        <a:t>算定する手法</a:t>
                      </a:r>
                    </a:p>
                    <a:p>
                      <a:pPr marL="144000" marR="0" lvl="0" indent="-144000" algn="l" defTabSz="914400" rtl="0" eaLnBrk="1" fontAlgn="auto" latinLnBrk="0" hangingPunct="1">
                        <a:lnSpc>
                          <a:spcPct val="110000"/>
                        </a:lnSpc>
                        <a:spcBef>
                          <a:spcPts val="300"/>
                        </a:spcBef>
                        <a:spcAft>
                          <a:spcPts val="300"/>
                        </a:spcAft>
                        <a:buClr>
                          <a:schemeClr val="accent4"/>
                        </a:buClr>
                        <a:buSzTx/>
                        <a:buFont typeface="游ゴシック" panose="020B0400000000000000" pitchFamily="50" charset="-128"/>
                        <a:buChar char="▪"/>
                        <a:tabLst/>
                        <a:defRPr/>
                      </a:pPr>
                      <a:r>
                        <a:rPr kumimoji="1" lang="ja-JP" altLang="en-US" sz="1000" b="0" kern="1200" dirty="0">
                          <a:solidFill>
                            <a:schemeClr val="dk1"/>
                          </a:solidFill>
                          <a:latin typeface="+mn-ea"/>
                          <a:ea typeface="+mn-ea"/>
                          <a:cs typeface="+mn-cs"/>
                        </a:rPr>
                        <a:t>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a:t>
                      </a:r>
                      <a:br>
                        <a:rPr kumimoji="1" lang="en-US" altLang="ja-JP" sz="1600" b="1" kern="1200" dirty="0">
                          <a:solidFill>
                            <a:schemeClr val="dk1"/>
                          </a:solidFill>
                          <a:latin typeface="+mj-lt"/>
                          <a:ea typeface="+mj-ea"/>
                          <a:cs typeface="+mn-cs"/>
                        </a:rPr>
                      </a:br>
                      <a:r>
                        <a:rPr kumimoji="1" lang="ja-JP" altLang="en-US" sz="1600" b="1" kern="1200" dirty="0">
                          <a:solidFill>
                            <a:schemeClr val="dk1"/>
                          </a:solidFill>
                          <a:latin typeface="+mj-lt"/>
                          <a:ea typeface="+mj-ea"/>
                          <a:cs typeface="+mn-cs"/>
                        </a:rPr>
                        <a:t>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a:t>
                      </a:r>
                      <a:br>
                        <a:rPr kumimoji="1" lang="en-US" altLang="ja-JP" sz="1100" b="1" kern="1200" dirty="0">
                          <a:solidFill>
                            <a:schemeClr val="dk1"/>
                          </a:solidFill>
                          <a:latin typeface="+mj-lt"/>
                          <a:ea typeface="+mj-ea"/>
                          <a:cs typeface="+mn-cs"/>
                        </a:rPr>
                      </a:br>
                      <a:r>
                        <a:rPr kumimoji="1" lang="ja-JP" altLang="en-US" sz="1100" b="1" kern="1200" dirty="0">
                          <a:solidFill>
                            <a:schemeClr val="dk1"/>
                          </a:solidFill>
                          <a:latin typeface="+mj-lt"/>
                          <a:ea typeface="+mj-ea"/>
                          <a:cs typeface="+mn-cs"/>
                        </a:rPr>
                        <a:t>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収益還元法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en-US" altLang="ja-JP" sz="1100" b="1" kern="1200" dirty="0">
                          <a:solidFill>
                            <a:schemeClr val="accent1">
                              <a:lumMod val="60000"/>
                              <a:lumOff val="40000"/>
                            </a:schemeClr>
                          </a:solidFill>
                          <a:latin typeface="+mj-lt"/>
                          <a:ea typeface="+mj-ea"/>
                          <a:cs typeface="+mn-cs"/>
                        </a:rPr>
                        <a:t>DCF</a:t>
                      </a:r>
                      <a:r>
                        <a:rPr kumimoji="1" lang="ja-JP" altLang="en-US" sz="1100" b="1" kern="1200" dirty="0">
                          <a:solidFill>
                            <a:schemeClr val="accent1">
                              <a:lumMod val="60000"/>
                              <a:lumOff val="40000"/>
                            </a:schemeClr>
                          </a:solidFill>
                          <a:latin typeface="+mj-lt"/>
                          <a:ea typeface="+mj-ea"/>
                          <a:cs typeface="+mn-cs"/>
                        </a:rPr>
                        <a:t>法</a:t>
                      </a:r>
                      <a:endParaRPr kumimoji="1" lang="en-US" altLang="ja-JP" sz="11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800" b="1" kern="1200" dirty="0">
                          <a:solidFill>
                            <a:schemeClr val="accent1">
                              <a:lumMod val="60000"/>
                              <a:lumOff val="40000"/>
                            </a:schemeClr>
                          </a:solidFill>
                          <a:latin typeface="+mj-lt"/>
                          <a:ea typeface="+mj-ea"/>
                          <a:cs typeface="+mn-cs"/>
                        </a:rPr>
                        <a:t>    （ディスカウンティド</a:t>
                      </a:r>
                      <a:br>
                        <a:rPr kumimoji="1" lang="en-US" altLang="ja-JP" sz="800" b="1" kern="1200" dirty="0">
                          <a:solidFill>
                            <a:schemeClr val="accent1">
                              <a:lumMod val="60000"/>
                              <a:lumOff val="40000"/>
                            </a:schemeClr>
                          </a:solidFill>
                          <a:latin typeface="+mj-lt"/>
                          <a:ea typeface="+mj-ea"/>
                          <a:cs typeface="+mn-cs"/>
                        </a:rPr>
                      </a:br>
                      <a:r>
                        <a:rPr kumimoji="1" lang="en-US" altLang="ja-JP" sz="800" b="1" kern="1200" dirty="0">
                          <a:solidFill>
                            <a:schemeClr val="accent1">
                              <a:lumMod val="60000"/>
                              <a:lumOff val="40000"/>
                            </a:schemeClr>
                          </a:solidFill>
                          <a:latin typeface="+mj-lt"/>
                          <a:ea typeface="+mj-ea"/>
                          <a:cs typeface="+mn-cs"/>
                        </a:rPr>
                        <a:t>        </a:t>
                      </a:r>
                      <a:r>
                        <a:rPr kumimoji="1" lang="ja-JP" altLang="en-US" sz="800" b="1" kern="1200" dirty="0">
                          <a:solidFill>
                            <a:schemeClr val="accent1">
                              <a:lumMod val="60000"/>
                              <a:lumOff val="40000"/>
                            </a:schemeClr>
                          </a:solidFill>
                          <a:latin typeface="+mj-lt"/>
                          <a:ea typeface="+mj-ea"/>
                          <a:cs typeface="+mn-cs"/>
                        </a:rPr>
                        <a:t>キャッシュフロー法）</a:t>
                      </a:r>
                      <a:endParaRPr kumimoji="1" lang="en-US" altLang="ja-JP" sz="800" b="1" kern="1200" dirty="0">
                        <a:solidFill>
                          <a:schemeClr val="accent1">
                            <a:lumMod val="60000"/>
                            <a:lumOff val="40000"/>
                          </a:schemeClr>
                        </a:solidFill>
                        <a:latin typeface="+mj-lt"/>
                        <a:ea typeface="+mj-ea"/>
                        <a:cs typeface="+mn-cs"/>
                      </a:endParaRPr>
                    </a:p>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a:t>
                      </a:r>
                      <a:r>
                        <a:rPr kumimoji="1" lang="ja-JP" altLang="en-US" sz="1100" b="1" kern="1200" dirty="0">
                          <a:solidFill>
                            <a:schemeClr val="accent1">
                              <a:lumMod val="60000"/>
                              <a:lumOff val="40000"/>
                            </a:schemeClr>
                          </a:solidFill>
                          <a:latin typeface="+mj-lt"/>
                          <a:ea typeface="+mj-ea"/>
                          <a:cs typeface="+mn-cs"/>
                        </a:rPr>
                        <a:t>配当還元法</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pPr>
                      <a:endParaRPr kumimoji="1" lang="ja-JP" altLang="en-US" sz="1100" b="1" dirty="0">
                        <a:latin typeface="+mj-lt"/>
                        <a:ea typeface="+mj-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a:t>
                      </a:r>
                      <a:r>
                        <a:rPr kumimoji="1" lang="en-US" altLang="ja-JP" sz="1000" b="0" kern="1200" dirty="0">
                          <a:solidFill>
                            <a:schemeClr val="dk1"/>
                          </a:solidFill>
                          <a:latin typeface="+mn-ea"/>
                          <a:ea typeface="+mn-ea"/>
                          <a:cs typeface="+mn-cs"/>
                        </a:rPr>
                        <a:t>DCF</a:t>
                      </a:r>
                      <a:r>
                        <a:rPr kumimoji="1" lang="ja-JP" altLang="en-US" sz="1000" b="0" kern="1200" dirty="0">
                          <a:solidFill>
                            <a:schemeClr val="dk1"/>
                          </a:solidFill>
                          <a:latin typeface="+mn-ea"/>
                          <a:ea typeface="+mn-ea"/>
                          <a:cs typeface="+mn-cs"/>
                        </a:rPr>
                        <a:t>法を適用するには、根拠となる利益やキャッシュフローの計画値が必要となります。現状、詳細な事業計画が存在せず算定が困難であることから、これらの手法は採用しません。</a:t>
                      </a:r>
                    </a:p>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配当還元法は、本来、配当獲得を主眼とする少数株主の視点に立った評価手法です。したがって、本件取引の性質上、採用は適切ではないと判断しました。</a:t>
                      </a:r>
                      <a:endParaRPr kumimoji="1" lang="ja-JP" altLang="en-US" sz="1000" b="0" dirty="0">
                        <a:latin typeface="+mn-ea"/>
                        <a:ea typeface="+mn-ea"/>
                      </a:endParaRP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graphicFrame>
        <p:nvGraphicFramePr>
          <p:cNvPr id="5" name="Chart 1">
            <a:extLst>
              <a:ext uri="{FF2B5EF4-FFF2-40B4-BE49-F238E27FC236}">
                <a16:creationId xmlns:a16="http://schemas.microsoft.com/office/drawing/2014/main" id="{00000000-0008-0000-0800-000002000000}"/>
              </a:ext>
            </a:extLst>
          </p:cNvPr>
          <p:cNvGraphicFramePr>
            <a:graphicFrameLocks/>
          </p:cNvGraphicFramePr>
          <p:nvPr>
            <p:extLst>
              <p:ext uri="{D42A27DB-BD31-4B8C-83A1-F6EECF244321}">
                <p14:modId xmlns:p14="http://schemas.microsoft.com/office/powerpoint/2010/main" val="2604671756"/>
              </p:ext>
            </p:extLst>
          </p:nvPr>
        </p:nvGraphicFramePr>
        <p:xfrm>
          <a:off x="5687917" y="3595280"/>
          <a:ext cx="4906625" cy="3207095"/>
        </p:xfrm>
        <a:graphic>
          <a:graphicData uri="http://schemas.openxmlformats.org/drawingml/2006/chart">
            <c:chart xmlns:c="http://schemas.openxmlformats.org/drawingml/2006/chart" xmlns:r="http://schemas.openxmlformats.org/officeDocument/2006/relationships" r:id="rId3"/>
          </a:graphicData>
        </a:graphic>
      </p:graphicFrame>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株式価値の試算結果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extLst>
              <p:ext uri="{D42A27DB-BD31-4B8C-83A1-F6EECF244321}">
                <p14:modId xmlns:p14="http://schemas.microsoft.com/office/powerpoint/2010/main" val="2506677353"/>
              </p:ext>
            </p:extLst>
          </p:nvPr>
        </p:nvGraphicFramePr>
        <p:xfrm>
          <a:off x="449263" y="1276419"/>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●●●株式会社</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2026年7月29日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令和8年1月期（2026年1月31日／貸借対照表の基準日）</a:t>
                      </a: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令和6年1月期～令和8年1月期（損益計算書の参照期間）</a:t>
                      </a: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M&amp;Aする場合（「本件取引」といいます）の譲渡価額決定の参考資料とすること（「本件試算目的」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　～　●●●（千円）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434637" y="3609789"/>
            <a:ext cx="807913" cy="138499"/>
          </a:xfrm>
          <a:prstGeom prst="rect">
            <a:avLst/>
          </a:prstGeom>
          <a:noFill/>
        </p:spPr>
        <p:txBody>
          <a:bodyPr wrap="none" lIns="0" tIns="0" rIns="0" bIns="0" rtlCol="0">
            <a:spAutoFit/>
          </a:bodyPr>
          <a:lstStyle/>
          <a:p>
            <a:pPr algn="r"/>
            <a:r>
              <a:rPr lang="ja-JP" altLang="en-US" sz="900" dirty="0">
                <a:latin typeface="+mn-ea"/>
              </a:rPr>
              <a:t>（単位：千円）</a:t>
            </a:r>
            <a:endParaRPr kumimoji="1" lang="ja-JP" altLang="en-US" sz="9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　～　●●●（千円）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3" name="表 2">
            <a:extLst>
              <a:ext uri="{FF2B5EF4-FFF2-40B4-BE49-F238E27FC236}">
                <a16:creationId xmlns:a16="http://schemas.microsoft.com/office/drawing/2014/main" id="{9058A3E2-A4D0-CB71-8DA3-534867E373FE}"/>
              </a:ext>
            </a:extLst>
          </p:cNvPr>
          <p:cNvGraphicFramePr>
            <a:graphicFrameLocks noGrp="1"/>
          </p:cNvGraphicFramePr>
          <p:nvPr>
            <p:extLst>
              <p:ext uri="{D42A27DB-BD31-4B8C-83A1-F6EECF244321}">
                <p14:modId xmlns:p14="http://schemas.microsoft.com/office/powerpoint/2010/main" val="966731738"/>
              </p:ext>
            </p:extLst>
          </p:nvPr>
        </p:nvGraphicFramePr>
        <p:xfrm>
          <a:off x="341312" y="982456"/>
          <a:ext cx="5003801" cy="569032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9848284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5401797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90820069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73541936"/>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3003637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1127561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69950423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7175285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6291713"/>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720791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275347410"/>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31654729"/>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31677643"/>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9855795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9272640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59718857"/>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945016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196887844"/>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7910125"/>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80510166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251728011"/>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86771708"/>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37677392"/>
                  </a:ext>
                </a:extLst>
              </a:tr>
              <a:tr h="18745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3014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64047986"/>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18816421"/>
                  </a:ext>
                </a:extLst>
              </a:tr>
            </a:tbl>
          </a:graphicData>
        </a:graphic>
      </p:graphicFrame>
      <p:graphicFrame>
        <p:nvGraphicFramePr>
          <p:cNvPr id="6" name="表 5">
            <a:extLst>
              <a:ext uri="{FF2B5EF4-FFF2-40B4-BE49-F238E27FC236}">
                <a16:creationId xmlns:a16="http://schemas.microsoft.com/office/drawing/2014/main" id="{FA894D48-DD3C-65D9-C625-4EB31EFC08F2}"/>
              </a:ext>
            </a:extLst>
          </p:cNvPr>
          <p:cNvGraphicFramePr>
            <a:graphicFrameLocks noGrp="1"/>
          </p:cNvGraphicFramePr>
          <p:nvPr>
            <p:extLst>
              <p:ext uri="{D42A27DB-BD31-4B8C-83A1-F6EECF244321}">
                <p14:modId xmlns:p14="http://schemas.microsoft.com/office/powerpoint/2010/main" val="1269696317"/>
              </p:ext>
            </p:extLst>
          </p:nvPr>
        </p:nvGraphicFramePr>
        <p:xfrm>
          <a:off x="5345113" y="982459"/>
          <a:ext cx="5005387" cy="246358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182052">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6985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356608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72560937"/>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4036482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715630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0550122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05472959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771867648"/>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35161222"/>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26826700"/>
                  </a:ext>
                </a:extLst>
              </a:tr>
            </a:tbl>
          </a:graphicData>
        </a:graphic>
      </p:graphicFrame>
      <p:graphicFrame>
        <p:nvGraphicFramePr>
          <p:cNvPr id="9" name="表 8">
            <a:extLst>
              <a:ext uri="{FF2B5EF4-FFF2-40B4-BE49-F238E27FC236}">
                <a16:creationId xmlns:a16="http://schemas.microsoft.com/office/drawing/2014/main" id="{CFB11CDF-FC0D-6D75-4322-C3BD8A89E411}"/>
              </a:ext>
            </a:extLst>
          </p:cNvPr>
          <p:cNvGraphicFramePr>
            <a:graphicFrameLocks noGrp="1"/>
          </p:cNvGraphicFramePr>
          <p:nvPr>
            <p:extLst>
              <p:ext uri="{D42A27DB-BD31-4B8C-83A1-F6EECF244321}">
                <p14:modId xmlns:p14="http://schemas.microsoft.com/office/powerpoint/2010/main" val="2723974325"/>
              </p:ext>
            </p:extLst>
          </p:nvPr>
        </p:nvGraphicFramePr>
        <p:xfrm>
          <a:off x="5345113" y="5054183"/>
          <a:ext cx="5005387" cy="1618600"/>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15556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25719736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36613783"/>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9285816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32715751"/>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98219748"/>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4189178875"/>
                  </a:ext>
                </a:extLst>
              </a:tr>
            </a:tbl>
          </a:graphicData>
        </a:graphic>
      </p:graphicFrame>
    </p:spTree>
    <p:extLst>
      <p:ext uri="{BB962C8B-B14F-4D97-AF65-F5344CB8AC3E}">
        <p14:creationId xmlns:p14="http://schemas.microsoft.com/office/powerpoint/2010/main" val="99523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32047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highlight>
                  <a:srgbClr val="FFFF00"/>
                </a:highlight>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highlight>
                  <a:srgbClr val="FFFF00"/>
                </a:highlight>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br>
              <a:rPr lang="en-US" altLang="ja-JP" sz="1100" b="1" spc="50" dirty="0">
                <a:latin typeface="+mj-ea"/>
                <a:ea typeface="+mj-ea"/>
              </a:rPr>
            </a:b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7" name="表 6">
            <a:extLst>
              <a:ext uri="{FF2B5EF4-FFF2-40B4-BE49-F238E27FC236}">
                <a16:creationId xmlns:a16="http://schemas.microsoft.com/office/drawing/2014/main" id="{448E38F1-237A-5405-6ACD-01F738D6BE46}"/>
              </a:ext>
            </a:extLst>
          </p:cNvPr>
          <p:cNvGraphicFramePr>
            <a:graphicFrameLocks noGrp="1"/>
          </p:cNvGraphicFramePr>
          <p:nvPr>
            <p:extLst>
              <p:ext uri="{D42A27DB-BD31-4B8C-83A1-F6EECF244321}">
                <p14:modId xmlns:p14="http://schemas.microsoft.com/office/powerpoint/2010/main" val="3265120595"/>
              </p:ext>
            </p:extLst>
          </p:nvPr>
        </p:nvGraphicFramePr>
        <p:xfrm>
          <a:off x="341312" y="982456"/>
          <a:ext cx="5003801" cy="5690327"/>
        </p:xfrm>
        <a:graphic>
          <a:graphicData uri="http://schemas.openxmlformats.org/drawingml/2006/table">
            <a:tbl>
              <a:tblPr/>
              <a:tblGrid>
                <a:gridCol w="1730183">
                  <a:extLst>
                    <a:ext uri="{9D8B030D-6E8A-4147-A177-3AD203B41FA5}">
                      <a16:colId xmlns:a16="http://schemas.microsoft.com/office/drawing/2014/main" val="822254377"/>
                    </a:ext>
                  </a:extLst>
                </a:gridCol>
                <a:gridCol w="1091206">
                  <a:extLst>
                    <a:ext uri="{9D8B030D-6E8A-4147-A177-3AD203B41FA5}">
                      <a16:colId xmlns:a16="http://schemas.microsoft.com/office/drawing/2014/main" val="3061090460"/>
                    </a:ext>
                  </a:extLst>
                </a:gridCol>
                <a:gridCol w="1091206">
                  <a:extLst>
                    <a:ext uri="{9D8B030D-6E8A-4147-A177-3AD203B41FA5}">
                      <a16:colId xmlns:a16="http://schemas.microsoft.com/office/drawing/2014/main" val="2032412681"/>
                    </a:ext>
                  </a:extLst>
                </a:gridCol>
                <a:gridCol w="1091206">
                  <a:extLst>
                    <a:ext uri="{9D8B030D-6E8A-4147-A177-3AD203B41FA5}">
                      <a16:colId xmlns:a16="http://schemas.microsoft.com/office/drawing/2014/main" val="1235492032"/>
                    </a:ext>
                  </a:extLst>
                </a:gridCol>
              </a:tblGrid>
              <a:tr h="182436">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59235">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93131188"/>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貸倒引当金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149438837"/>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555805732"/>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証紙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95727064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594750908"/>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立替金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871435093"/>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826526976"/>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32839288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仮払税</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156839717"/>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22752268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154328196"/>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建物附属設備</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83320257"/>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401213385"/>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843730516"/>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［無形固定資産］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992786195"/>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ソフトウェア</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56680331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［投資その他資産］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45932361"/>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投資有価証券</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76660154"/>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出資金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668312199"/>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敷金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06172812"/>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285247791"/>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86007062"/>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保険積立金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380879316"/>
                  </a:ext>
                </a:extLst>
              </a:tr>
              <a:tr h="18745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40542054"/>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52402130"/>
                  </a:ext>
                </a:extLst>
              </a:tr>
              <a:tr h="18745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2160162"/>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448923"/>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F82B30C9-78FB-A0E7-EDB2-643EA427D31F}"/>
              </a:ext>
            </a:extLst>
          </p:cNvPr>
          <p:cNvGraphicFramePr>
            <a:graphicFrameLocks noGrp="1"/>
          </p:cNvGraphicFramePr>
          <p:nvPr>
            <p:extLst>
              <p:ext uri="{D42A27DB-BD31-4B8C-83A1-F6EECF244321}">
                <p14:modId xmlns:p14="http://schemas.microsoft.com/office/powerpoint/2010/main" val="3186183130"/>
              </p:ext>
            </p:extLst>
          </p:nvPr>
        </p:nvGraphicFramePr>
        <p:xfrm>
          <a:off x="341313" y="895347"/>
          <a:ext cx="5106587" cy="5945198"/>
        </p:xfrm>
        <a:graphic>
          <a:graphicData uri="http://schemas.openxmlformats.org/drawingml/2006/table">
            <a:tbl>
              <a:tblPr/>
              <a:tblGrid>
                <a:gridCol w="1869077">
                  <a:extLst>
                    <a:ext uri="{9D8B030D-6E8A-4147-A177-3AD203B41FA5}">
                      <a16:colId xmlns:a16="http://schemas.microsoft.com/office/drawing/2014/main" val="1811348898"/>
                    </a:ext>
                  </a:extLst>
                </a:gridCol>
                <a:gridCol w="1079170">
                  <a:extLst>
                    <a:ext uri="{9D8B030D-6E8A-4147-A177-3AD203B41FA5}">
                      <a16:colId xmlns:a16="http://schemas.microsoft.com/office/drawing/2014/main" val="1080150328"/>
                    </a:ext>
                  </a:extLst>
                </a:gridCol>
                <a:gridCol w="1079170">
                  <a:extLst>
                    <a:ext uri="{9D8B030D-6E8A-4147-A177-3AD203B41FA5}">
                      <a16:colId xmlns:a16="http://schemas.microsoft.com/office/drawing/2014/main" val="975008562"/>
                    </a:ext>
                  </a:extLst>
                </a:gridCol>
                <a:gridCol w="1079170">
                  <a:extLst>
                    <a:ext uri="{9D8B030D-6E8A-4147-A177-3AD203B41FA5}">
                      <a16:colId xmlns:a16="http://schemas.microsoft.com/office/drawing/2014/main" val="3394293467"/>
                    </a:ext>
                  </a:extLst>
                </a:gridCol>
              </a:tblGrid>
              <a:tr h="17182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b">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4250869639"/>
                  </a:ext>
                </a:extLst>
              </a:tr>
              <a:tr h="254303">
                <a:tc gridSpan="4">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資産の部</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334621787"/>
                  </a:ext>
                </a:extLst>
              </a:tr>
              <a:tr h="178699">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en-US" altLang="ja-JP" sz="10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071081210"/>
                  </a:ext>
                </a:extLst>
              </a:tr>
              <a:tr h="206192">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87201787"/>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93704103"/>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089500960"/>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貸倒引当金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392248907"/>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911404052"/>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証紙</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544268072"/>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27172493"/>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295356475"/>
                  </a:ext>
                </a:extLst>
              </a:tr>
              <a:tr h="206192">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未収入金</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66532" marT="0"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6801004"/>
                  </a:ext>
                </a:extLst>
              </a:tr>
              <a:tr h="206192">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582456255"/>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380204907"/>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824815137"/>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7716772"/>
                  </a:ext>
                </a:extLst>
              </a:tr>
              <a:tr h="206192">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r" fontAlgn="ctr">
                        <a:buNone/>
                      </a:pP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18419416"/>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01737050"/>
                  </a:ext>
                </a:extLst>
              </a:tr>
              <a:tr h="19931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ソフトウェア</a:t>
                      </a:r>
                    </a:p>
                  </a:txBody>
                  <a:tcPr marL="19959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7E9"/>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29485813"/>
                  </a:ext>
                </a:extLst>
              </a:tr>
              <a:tr h="199318">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133064"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33064"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33064"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33064"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822536139"/>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投資有価証券</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053265088"/>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出資金</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664367564"/>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敷金</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809742655"/>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679609441"/>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預託金</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030479032"/>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保険積立金</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88589082"/>
                  </a:ext>
                </a:extLst>
              </a:tr>
              <a:tr h="206192">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endParaRPr lang="ja-JP" sz="10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66532" marT="0" marB="0" anchor="ctr">
                    <a:lnL>
                      <a:noFill/>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12488186"/>
                  </a:ext>
                </a:extLst>
              </a:tr>
              <a:tr h="199318">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tc>
                  <a:txBody>
                    <a:bodyPr/>
                    <a:lstStyle/>
                    <a:p>
                      <a:pPr algn="r"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2FB"/>
                    </a:solidFill>
                  </a:tcPr>
                </a:tc>
                <a:extLst>
                  <a:ext uri="{0D108BD9-81ED-4DB2-BD59-A6C34878D82A}">
                    <a16:rowId xmlns:a16="http://schemas.microsoft.com/office/drawing/2014/main" val="1096097824"/>
                  </a:ext>
                </a:extLst>
              </a:tr>
              <a:tr h="206192">
                <a:tc>
                  <a:txBody>
                    <a:bodyPr/>
                    <a:lstStyle/>
                    <a:p>
                      <a:pPr algn="l"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資産合計</a:t>
                      </a:r>
                    </a:p>
                  </a:txBody>
                  <a:tcPr marL="66532"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
                      </a:r>
                    </a:p>
                  </a:txBody>
                  <a:tcPr marL="0" marR="66532"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
                      </a:r>
                    </a:p>
                  </a:txBody>
                  <a:tcPr marL="0" marR="66532"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386605806"/>
                  </a:ext>
                </a:extLst>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13526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highlight>
                  <a:srgbClr val="FFFF00"/>
                </a:highlight>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8" name="表 7">
            <a:extLst>
              <a:ext uri="{FF2B5EF4-FFF2-40B4-BE49-F238E27FC236}">
                <a16:creationId xmlns:a16="http://schemas.microsoft.com/office/drawing/2014/main" id="{5E81CBBB-A446-BB13-683B-CB5F62B2DD3C}"/>
              </a:ext>
            </a:extLst>
          </p:cNvPr>
          <p:cNvGraphicFramePr>
            <a:graphicFrameLocks noGrp="1"/>
          </p:cNvGraphicFramePr>
          <p:nvPr>
            <p:extLst>
              <p:ext uri="{D42A27DB-BD31-4B8C-83A1-F6EECF244321}">
                <p14:modId xmlns:p14="http://schemas.microsoft.com/office/powerpoint/2010/main" val="300471915"/>
              </p:ext>
            </p:extLst>
          </p:nvPr>
        </p:nvGraphicFramePr>
        <p:xfrm>
          <a:off x="341313" y="982458"/>
          <a:ext cx="5005387" cy="2580058"/>
        </p:xfrm>
        <a:graphic>
          <a:graphicData uri="http://schemas.openxmlformats.org/drawingml/2006/table">
            <a:tbl>
              <a:tblPr/>
              <a:tblGrid>
                <a:gridCol w="1730731">
                  <a:extLst>
                    <a:ext uri="{9D8B030D-6E8A-4147-A177-3AD203B41FA5}">
                      <a16:colId xmlns:a16="http://schemas.microsoft.com/office/drawing/2014/main" val="140435893"/>
                    </a:ext>
                  </a:extLst>
                </a:gridCol>
                <a:gridCol w="1091552">
                  <a:extLst>
                    <a:ext uri="{9D8B030D-6E8A-4147-A177-3AD203B41FA5}">
                      <a16:colId xmlns:a16="http://schemas.microsoft.com/office/drawing/2014/main" val="1469753659"/>
                    </a:ext>
                  </a:extLst>
                </a:gridCol>
                <a:gridCol w="1091552">
                  <a:extLst>
                    <a:ext uri="{9D8B030D-6E8A-4147-A177-3AD203B41FA5}">
                      <a16:colId xmlns:a16="http://schemas.microsoft.com/office/drawing/2014/main" val="80575429"/>
                    </a:ext>
                  </a:extLst>
                </a:gridCol>
                <a:gridCol w="1091552">
                  <a:extLst>
                    <a:ext uri="{9D8B030D-6E8A-4147-A177-3AD203B41FA5}">
                      <a16:colId xmlns:a16="http://schemas.microsoft.com/office/drawing/2014/main" val="2683263371"/>
                    </a:ext>
                  </a:extLst>
                </a:gridCol>
              </a:tblGrid>
              <a:tr h="223621">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475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83295224"/>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42772079"/>
                  </a:ext>
                </a:extLst>
              </a:tr>
              <a:tr h="182880">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615915130"/>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4054822479"/>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仮受金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42057322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22135202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5390520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2616165"/>
                  </a:ext>
                </a:extLst>
              </a:tr>
              <a:tr h="18288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0354605"/>
                  </a:ext>
                </a:extLst>
              </a:tr>
            </a:tbl>
          </a:graphicData>
        </a:graphic>
      </p:graphicFrame>
      <p:graphicFrame>
        <p:nvGraphicFramePr>
          <p:cNvPr id="11" name="表 10">
            <a:extLst>
              <a:ext uri="{FF2B5EF4-FFF2-40B4-BE49-F238E27FC236}">
                <a16:creationId xmlns:a16="http://schemas.microsoft.com/office/drawing/2014/main" id="{73623FF6-D72B-C11F-A680-C7721DBB6E74}"/>
              </a:ext>
            </a:extLst>
          </p:cNvPr>
          <p:cNvGraphicFramePr>
            <a:graphicFrameLocks noGrp="1"/>
          </p:cNvGraphicFramePr>
          <p:nvPr>
            <p:extLst>
              <p:ext uri="{D42A27DB-BD31-4B8C-83A1-F6EECF244321}">
                <p14:modId xmlns:p14="http://schemas.microsoft.com/office/powerpoint/2010/main" val="2957363408"/>
              </p:ext>
            </p:extLst>
          </p:nvPr>
        </p:nvGraphicFramePr>
        <p:xfrm>
          <a:off x="341313" y="4527746"/>
          <a:ext cx="5005387" cy="1665745"/>
        </p:xfrm>
        <a:graphic>
          <a:graphicData uri="http://schemas.openxmlformats.org/drawingml/2006/table">
            <a:tbl>
              <a:tblPr/>
              <a:tblGrid>
                <a:gridCol w="1730731">
                  <a:extLst>
                    <a:ext uri="{9D8B030D-6E8A-4147-A177-3AD203B41FA5}">
                      <a16:colId xmlns:a16="http://schemas.microsoft.com/office/drawing/2014/main" val="4058629608"/>
                    </a:ext>
                  </a:extLst>
                </a:gridCol>
                <a:gridCol w="1091552">
                  <a:extLst>
                    <a:ext uri="{9D8B030D-6E8A-4147-A177-3AD203B41FA5}">
                      <a16:colId xmlns:a16="http://schemas.microsoft.com/office/drawing/2014/main" val="2673297223"/>
                    </a:ext>
                  </a:extLst>
                </a:gridCol>
                <a:gridCol w="1091552">
                  <a:extLst>
                    <a:ext uri="{9D8B030D-6E8A-4147-A177-3AD203B41FA5}">
                      <a16:colId xmlns:a16="http://schemas.microsoft.com/office/drawing/2014/main" val="756661618"/>
                    </a:ext>
                  </a:extLst>
                </a:gridCol>
                <a:gridCol w="1091552">
                  <a:extLst>
                    <a:ext uri="{9D8B030D-6E8A-4147-A177-3AD203B41FA5}">
                      <a16:colId xmlns:a16="http://schemas.microsoft.com/office/drawing/2014/main" val="2152851366"/>
                    </a:ext>
                  </a:extLst>
                </a:gridCol>
              </a:tblGrid>
              <a:tr h="202705">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505177488"/>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412242213"/>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89277934"/>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714176630"/>
                  </a:ext>
                </a:extLst>
              </a:tr>
              <a:tr h="18288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04200831"/>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r h="182880">
                <a:tc>
                  <a:txBody>
                    <a:bodyPr/>
                    <a:lstStyle/>
                    <a:p>
                      <a:pPr algn="l"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1510055568"/>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65205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1100" b="1" spc="50" dirty="0">
                <a:latin typeface="+mj-ea"/>
                <a:ea typeface="+mj-ea"/>
              </a:rPr>
              <a:t>●●：●●●（対象会社の論点を記載してください）</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EBC5D66D-F9FF-3876-586A-B31125B18F6B}"/>
              </a:ext>
            </a:extLst>
          </p:cNvPr>
          <p:cNvGraphicFramePr>
            <a:graphicFrameLocks noGrp="1"/>
          </p:cNvGraphicFramePr>
          <p:nvPr>
            <p:extLst>
              <p:ext uri="{D42A27DB-BD31-4B8C-83A1-F6EECF244321}">
                <p14:modId xmlns:p14="http://schemas.microsoft.com/office/powerpoint/2010/main" val="1645145149"/>
              </p:ext>
            </p:extLst>
          </p:nvPr>
        </p:nvGraphicFramePr>
        <p:xfrm>
          <a:off x="340521" y="800217"/>
          <a:ext cx="5004592" cy="5506921"/>
        </p:xfrm>
        <a:graphic>
          <a:graphicData uri="http://schemas.openxmlformats.org/drawingml/2006/table">
            <a:tbl>
              <a:tblPr/>
              <a:tblGrid>
                <a:gridCol w="1831747">
                  <a:extLst>
                    <a:ext uri="{9D8B030D-6E8A-4147-A177-3AD203B41FA5}">
                      <a16:colId xmlns:a16="http://schemas.microsoft.com/office/drawing/2014/main" val="2719514001"/>
                    </a:ext>
                  </a:extLst>
                </a:gridCol>
                <a:gridCol w="1057615">
                  <a:extLst>
                    <a:ext uri="{9D8B030D-6E8A-4147-A177-3AD203B41FA5}">
                      <a16:colId xmlns:a16="http://schemas.microsoft.com/office/drawing/2014/main" val="3558173115"/>
                    </a:ext>
                  </a:extLst>
                </a:gridCol>
                <a:gridCol w="1057615">
                  <a:extLst>
                    <a:ext uri="{9D8B030D-6E8A-4147-A177-3AD203B41FA5}">
                      <a16:colId xmlns:a16="http://schemas.microsoft.com/office/drawing/2014/main" val="2313249536"/>
                    </a:ext>
                  </a:extLst>
                </a:gridCol>
                <a:gridCol w="1057615">
                  <a:extLst>
                    <a:ext uri="{9D8B030D-6E8A-4147-A177-3AD203B41FA5}">
                      <a16:colId xmlns:a16="http://schemas.microsoft.com/office/drawing/2014/main" val="937774236"/>
                    </a:ext>
                  </a:extLst>
                </a:gridCol>
              </a:tblGrid>
              <a:tr h="192196">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4281" marR="4281" marT="4281"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4281" marR="4281" marT="4281"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4281" marR="4281" marT="4281" marB="0" anchor="ctr">
                    <a:lnL>
                      <a:noFill/>
                    </a:lnL>
                    <a:lnR>
                      <a:noFill/>
                    </a:lnR>
                    <a:lnT>
                      <a:noFill/>
                    </a:lnT>
                    <a:lnB>
                      <a:noFill/>
                    </a:lnB>
                    <a:noFill/>
                  </a:tcPr>
                </a:tc>
                <a:extLst>
                  <a:ext uri="{0D108BD9-81ED-4DB2-BD59-A6C34878D82A}">
                    <a16:rowId xmlns:a16="http://schemas.microsoft.com/office/drawing/2014/main" val="352485218"/>
                  </a:ext>
                </a:extLst>
              </a:tr>
              <a:tr h="300574">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4281" marR="4281" marT="4281" marB="0" anchor="ctr">
                    <a:lnL w="635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6350" cap="flat" cmpd="sng" algn="ctr">
                      <a:no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209732130"/>
                  </a:ext>
                </a:extLst>
              </a:tr>
              <a:tr h="213551">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4281" marR="4281" marT="4281" marB="0" anchor="ctr">
                    <a:lnL>
                      <a:noFill/>
                    </a:lnL>
                    <a:lnR w="6350" cap="flat" cmpd="sng" algn="ctr">
                      <a:solidFill>
                        <a:srgbClr val="A6A6A6"/>
                      </a:solidFill>
                      <a:prstDash val="solid"/>
                      <a:round/>
                      <a:headEnd type="none" w="med" len="med"/>
                      <a:tailEnd type="none" w="med" len="med"/>
                    </a:lnR>
                    <a:lnT w="6350" cap="flat" cmpd="sng" algn="ctr">
                      <a:noFill/>
                      <a:prstDash val="solid"/>
                      <a:round/>
                      <a:headEnd type="none" w="med" len="med"/>
                      <a:tailEnd type="none" w="med" len="med"/>
                    </a:lnT>
                    <a:lnB>
                      <a:noFill/>
                    </a:lnB>
                    <a:solidFill>
                      <a:srgbClr val="0B3041"/>
                    </a:solidFill>
                  </a:tcPr>
                </a:tc>
                <a:tc>
                  <a:txBody>
                    <a:bodyPr/>
                    <a:lstStyle/>
                    <a:p>
                      <a:pPr algn="ctr" fontAlgn="ctr">
                        <a:buNone/>
                      </a:pPr>
                      <a:r>
                        <a:rPr lang="en-US" altLang="ja-JP" sz="10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4281" marR="4281" marT="4281"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修正額</a:t>
                      </a:r>
                    </a:p>
                  </a:txBody>
                  <a:tcPr marL="4281" marR="4281" marT="4281" marB="0" anchor="ctr">
                    <a:lnL w="6350" cap="flat" cmpd="sng" algn="ctr">
                      <a:solidFill>
                        <a:srgbClr val="A6A6A6"/>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4281" marR="4281"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889C9"/>
                    </a:solidFill>
                  </a:tcPr>
                </a:tc>
                <a:extLst>
                  <a:ext uri="{0D108BD9-81ED-4DB2-BD59-A6C34878D82A}">
                    <a16:rowId xmlns:a16="http://schemas.microsoft.com/office/drawing/2014/main" val="2774289802"/>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endParaRPr 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58478100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43849291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97887250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43939716"/>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366982573"/>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590011797"/>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99267130"/>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【繰延税金負債】</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73069096"/>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921416153"/>
                  </a:ext>
                </a:extLst>
              </a:tr>
              <a:tr h="228600">
                <a:tc gridSpan="4">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4281" marR="4281" marT="4281" marB="0" anchor="ctr">
                    <a:lnL>
                      <a:noFill/>
                    </a:lnL>
                    <a:lnR w="12700" cap="flat" cmpd="sng" algn="ctr">
                      <a:solidFill>
                        <a:srgbClr val="04456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hMerge="1">
                  <a:txBody>
                    <a:bodyPr/>
                    <a:lstStyle/>
                    <a:p>
                      <a:r>
                        <a:rPr dirty="0"/>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9876591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8577330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79480864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750159003"/>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2680977732"/>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3237545191"/>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dirty="0">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839985279"/>
                  </a:ext>
                </a:extLst>
              </a:tr>
              <a:tr h="228600">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【評価修正額】</a:t>
                      </a:r>
                    </a:p>
                  </a:txBody>
                  <a:tcPr marL="231187" marR="4281" marT="4281"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1000" b="0" i="0" u="none" strike="noStrike">
                          <a:solidFill>
                            <a:srgbClr val="000000"/>
                          </a:solidFill>
                          <a:effectLst/>
                          <a:latin typeface="Arial" panose="020B0604020202020204" pitchFamily="34" charset="0"/>
                          <a:ea typeface="游ゴシック Medium" panose="020B0500000000000000" pitchFamily="50" charset="-128"/>
                        </a:rPr>
                        <a:t>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altLang="en-US" sz="1000" b="0" i="0" u="none" strike="noStrike">
                          <a:solidFill>
                            <a:srgbClr val="000000"/>
                          </a:solidFill>
                          <a:effectLst/>
                          <a:latin typeface="Arial" panose="020B0604020202020204" pitchFamily="34" charset="0"/>
                          <a:ea typeface="游ゴシック Medium" panose="020B0500000000000000" pitchFamily="50" charset="-128"/>
                        </a:rPr>
                        <a:t/>
                      </a:r>
                      <a:endParaRPr lang="en-US" alt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14739970"/>
                  </a:ext>
                </a:extLst>
              </a:tr>
              <a:tr h="228600">
                <a:tc>
                  <a:txBody>
                    <a:bodyPr/>
                    <a:lstStyle/>
                    <a:p>
                      <a:pPr algn="l" fontAlgn="ctr">
                        <a:buNone/>
                      </a:pPr>
                      <a:r>
                        <a:rPr lang="ja-JP" sz="10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7062" marR="4281"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altLang="en-US" sz="1000" b="1" i="0" u="none" strike="noStrike">
                          <a:solidFill>
                            <a:srgbClr val="000000"/>
                          </a:solidFill>
                          <a:effectLst/>
                          <a:latin typeface="Arial" panose="020B0604020202020204" pitchFamily="34" charset="0"/>
                          <a:ea typeface="游ゴシック Medium" panose="020B0500000000000000" pitchFamily="50" charset="-128"/>
                        </a:rPr>
                        <a:t/>
                      </a:r>
                      <a:endParaRPr lang="en-US" altLang="ja-JP" sz="1000" b="1" i="0" u="none" strike="noStrike" dirty="0">
                        <a:solidFill>
                          <a:srgbClr val="000000"/>
                        </a:solidFill>
                        <a:effectLst/>
                        <a:latin typeface="Arial" panose="020B0604020202020204" pitchFamily="34" charset="0"/>
                        <a:ea typeface="游ゴシック Medium" panose="020B0500000000000000" pitchFamily="50" charset="-128"/>
                      </a:endParaRP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en-US" altLang="ja-JP" sz="1000" b="1"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36937153"/>
                  </a:ext>
                </a:extLst>
              </a:tr>
              <a:tr h="228600">
                <a:tc>
                  <a:txBody>
                    <a:bodyPr/>
                    <a:lstStyle/>
                    <a:p>
                      <a:pPr algn="l" fontAlgn="ctr">
                        <a:buNone/>
                      </a:pPr>
                      <a:r>
                        <a:rPr lang="ja-JP" sz="1000" b="1" i="0" u="none" strike="noStrike" dirty="0">
                          <a:solidFill>
                            <a:srgbClr val="000000"/>
                          </a:solidFill>
                          <a:effectLst/>
                          <a:latin typeface="游ゴシック" panose="020B0400000000000000" pitchFamily="50" charset="-128"/>
                          <a:ea typeface="游ゴシック" panose="020B0400000000000000" pitchFamily="50" charset="-128"/>
                        </a:rPr>
                        <a:t>負債・純資産合計</a:t>
                      </a:r>
                    </a:p>
                  </a:txBody>
                  <a:tcPr marL="77062" marR="4281"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000" b="1" i="0" u="none" strike="noStrike">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altLang="en-US" sz="1000" b="1"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en-US" altLang="ja-JP" sz="1000" b="1" i="0" u="none" strike="noStrike" dirty="0">
                          <a:solidFill>
                            <a:srgbClr val="000000"/>
                          </a:solidFill>
                          <a:effectLst/>
                          <a:latin typeface="Arial" panose="020B0604020202020204" pitchFamily="34" charset="0"/>
                          <a:ea typeface="游ゴシック Medium" panose="020B0500000000000000" pitchFamily="50" charset="-128"/>
                        </a:rPr>
                        <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969498802"/>
                  </a:ext>
                </a:extLst>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ネットキャッシュの算定</a:t>
            </a:r>
            <a:endParaRPr lang="ja-JP" altLang="en-US" sz="1800" dirty="0">
              <a:latin typeface="游ゴシック" panose="020B0400000000000000" pitchFamily="50" charset="-128"/>
              <a:ea typeface="游ゴシック" panose="020B0400000000000000" pitchFamily="50" charset="-128"/>
            </a:endParaRPr>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latin typeface="游ゴシック" panose="020B0400000000000000" pitchFamily="50" charset="-128"/>
                <a:ea typeface="游ゴシック" panose="020B0400000000000000" pitchFamily="50" charset="-128"/>
              </a:rPr>
              <a:t>2. Financial Analysis </a:t>
            </a:r>
            <a:endParaRPr lang="ja-JP" altLang="en-US" spc="0" dirty="0">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8056" y="4434840"/>
            <a:ext cx="9793224" cy="9601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737360" y="4621571"/>
            <a:ext cx="8321040" cy="609654"/>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50" spc="50" dirty="0">
                <a:latin typeface="游ゴシック" panose="020B0400000000000000" pitchFamily="50" charset="-128"/>
                <a:ea typeface="游ゴシック" panose="020B0400000000000000" pitchFamily="50" charset="-128"/>
              </a:rPr>
              <a:t>●●：●●●（対象会社の論点を記載してください）</a:t>
            </a:r>
            <a:endParaRPr lang="en-US" altLang="ja-JP" sz="1050" spc="50" dirty="0">
              <a:latin typeface="游ゴシック" panose="020B0400000000000000" pitchFamily="50" charset="-128"/>
              <a:ea typeface="游ゴシック" panose="020B0400000000000000" pitchFamily="50" charset="-128"/>
            </a:endParaRPr>
          </a:p>
          <a:p>
            <a:pPr>
              <a:lnSpc>
                <a:spcPct val="120000"/>
              </a:lnSpc>
              <a:spcAft>
                <a:spcPts val="300"/>
              </a:spcAft>
              <a:buClr>
                <a:schemeClr val="tx1"/>
              </a:buClr>
              <a:buSzPct val="100000"/>
            </a:pPr>
            <a:r>
              <a:rPr lang="ja-JP" altLang="en-US" sz="1050" spc="50" dirty="0">
                <a:latin typeface="游ゴシック" panose="020B0400000000000000" pitchFamily="50" charset="-128"/>
                <a:ea typeface="游ゴシック" panose="020B0400000000000000" pitchFamily="50" charset="-128"/>
              </a:rPr>
              <a:t>●●：●●●（対象会社の論点を記載してください）</a:t>
            </a:r>
            <a:endParaRPr lang="en-US" altLang="ja-JP" sz="1050" spc="50" dirty="0">
              <a:latin typeface="游ゴシック" panose="020B0400000000000000" pitchFamily="50" charset="-128"/>
              <a:ea typeface="游ゴシック" panose="020B0400000000000000" pitchFamily="50" charset="-128"/>
            </a:endParaRPr>
          </a:p>
        </p:txBody>
      </p:sp>
      <p:graphicFrame>
        <p:nvGraphicFramePr>
          <p:cNvPr id="5" name="表 4">
            <a:extLst>
              <a:ext uri="{FF2B5EF4-FFF2-40B4-BE49-F238E27FC236}">
                <a16:creationId xmlns:a16="http://schemas.microsoft.com/office/drawing/2014/main" id="{7C150E09-45BD-0CFA-260D-0B71D34FA81B}"/>
              </a:ext>
            </a:extLst>
          </p:cNvPr>
          <p:cNvGraphicFramePr>
            <a:graphicFrameLocks noGrp="1"/>
          </p:cNvGraphicFramePr>
          <p:nvPr>
            <p:extLst>
              <p:ext uri="{D42A27DB-BD31-4B8C-83A1-F6EECF244321}">
                <p14:modId xmlns:p14="http://schemas.microsoft.com/office/powerpoint/2010/main" val="1070851360"/>
              </p:ext>
            </p:extLst>
          </p:nvPr>
        </p:nvGraphicFramePr>
        <p:xfrm>
          <a:off x="341312" y="1008063"/>
          <a:ext cx="9457207" cy="2880545"/>
        </p:xfrm>
        <a:graphic>
          <a:graphicData uri="http://schemas.openxmlformats.org/drawingml/2006/table">
            <a:tbl>
              <a:tblPr/>
              <a:tblGrid>
                <a:gridCol w="2261506">
                  <a:extLst>
                    <a:ext uri="{9D8B030D-6E8A-4147-A177-3AD203B41FA5}">
                      <a16:colId xmlns:a16="http://schemas.microsoft.com/office/drawing/2014/main" val="1352071965"/>
                    </a:ext>
                  </a:extLst>
                </a:gridCol>
                <a:gridCol w="2261506">
                  <a:extLst>
                    <a:ext uri="{9D8B030D-6E8A-4147-A177-3AD203B41FA5}">
                      <a16:colId xmlns:a16="http://schemas.microsoft.com/office/drawing/2014/main" val="1638083927"/>
                    </a:ext>
                  </a:extLst>
                </a:gridCol>
                <a:gridCol w="411183">
                  <a:extLst>
                    <a:ext uri="{9D8B030D-6E8A-4147-A177-3AD203B41FA5}">
                      <a16:colId xmlns:a16="http://schemas.microsoft.com/office/drawing/2014/main" val="2544734551"/>
                    </a:ext>
                  </a:extLst>
                </a:gridCol>
                <a:gridCol w="2261506">
                  <a:extLst>
                    <a:ext uri="{9D8B030D-6E8A-4147-A177-3AD203B41FA5}">
                      <a16:colId xmlns:a16="http://schemas.microsoft.com/office/drawing/2014/main" val="1409404161"/>
                    </a:ext>
                  </a:extLst>
                </a:gridCol>
                <a:gridCol w="2261506">
                  <a:extLst>
                    <a:ext uri="{9D8B030D-6E8A-4147-A177-3AD203B41FA5}">
                      <a16:colId xmlns:a16="http://schemas.microsoft.com/office/drawing/2014/main" val="1405295861"/>
                    </a:ext>
                  </a:extLst>
                </a:gridCol>
              </a:tblGrid>
              <a:tr h="249182">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247217033"/>
                  </a:ext>
                </a:extLst>
              </a:tr>
              <a:tr h="289051">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キャッシュライクアイテム</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dirty="0">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デットライクアイテム</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717121569"/>
                  </a:ext>
                </a:extLst>
              </a:tr>
              <a:tr h="418626">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一年以内返済長期借入金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2407547278"/>
                  </a:ext>
                </a:extLst>
              </a:tr>
              <a:tr h="418626">
                <a:tc>
                  <a:txBody>
                    <a:bodyPr/>
                    <a:lstStyle/>
                    <a:p>
                      <a:pPr algn="l" fontAlgn="ctr">
                        <a:buNone/>
                      </a:pPr>
                      <a:r>
                        <a:rPr lang="ja-JP" sz="12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投資有価証券</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679247723"/>
                  </a:ext>
                </a:extLst>
              </a:tr>
              <a:tr h="418626">
                <a:tc>
                  <a:txBody>
                    <a:bodyPr/>
                    <a:lstStyle/>
                    <a:p>
                      <a:pPr algn="l" fontAlgn="ctr">
                        <a:buNone/>
                      </a:pPr>
                      <a:r>
                        <a:rPr lang="ja-JP" sz="1200" b="0" i="0" u="none" strike="noStrike" dirty="0">
                          <a:solidFill>
                            <a:srgbClr val="000000"/>
                          </a:solidFill>
                          <a:effectLst/>
                          <a:highlight>
                            <a:srgbClr val="FFFF00"/>
                          </a:highlight>
                          <a:latin typeface="游ゴシック" panose="020B0400000000000000" pitchFamily="50" charset="-128"/>
                          <a:ea typeface="游ゴシック" panose="020B0400000000000000" pitchFamily="50" charset="-128"/>
                        </a:rPr>
                        <a:t>保険積立金</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748199428"/>
                  </a:ext>
                </a:extLst>
              </a:tr>
              <a:tr h="418626">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61027530"/>
                  </a:ext>
                </a:extLst>
              </a:tr>
              <a:tr h="249182">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4075682222"/>
                  </a:ext>
                </a:extLst>
              </a:tr>
              <a:tr h="418626">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w="12700" cap="flat" cmpd="sng" algn="ctr">
                      <a:solidFill>
                        <a:srgbClr val="0889C9"/>
                      </a:solidFill>
                      <a:prstDash val="solid"/>
                      <a:round/>
                      <a:headEnd type="none" w="med" len="med"/>
                      <a:tailEnd type="none" w="med" len="med"/>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extLst>
                  <a:ext uri="{0D108BD9-81ED-4DB2-BD59-A6C34878D82A}">
                    <a16:rowId xmlns:a16="http://schemas.microsoft.com/office/drawing/2014/main" val="2815248336"/>
                  </a:ext>
                </a:extLst>
              </a:tr>
            </a:tbl>
          </a:graphicData>
        </a:graphic>
      </p:graphicFrame>
    </p:spTree>
    <p:extLst>
      <p:ext uri="{BB962C8B-B14F-4D97-AF65-F5344CB8AC3E}">
        <p14:creationId xmlns:p14="http://schemas.microsoft.com/office/powerpoint/2010/main" val="13015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6" name="表 5">
            <a:extLst>
              <a:ext uri="{FF2B5EF4-FFF2-40B4-BE49-F238E27FC236}">
                <a16:creationId xmlns:a16="http://schemas.microsoft.com/office/drawing/2014/main" id="{E651E485-6E57-DF03-CEB3-303C5F7BC5F1}"/>
              </a:ext>
            </a:extLst>
          </p:cNvPr>
          <p:cNvGraphicFramePr>
            <a:graphicFrameLocks noGrp="1"/>
          </p:cNvGraphicFramePr>
          <p:nvPr>
            <p:extLst>
              <p:ext uri="{D42A27DB-BD31-4B8C-83A1-F6EECF244321}">
                <p14:modId xmlns:p14="http://schemas.microsoft.com/office/powerpoint/2010/main" val="492500337"/>
              </p:ext>
            </p:extLst>
          </p:nvPr>
        </p:nvGraphicFramePr>
        <p:xfrm>
          <a:off x="341312" y="845377"/>
          <a:ext cx="9901240" cy="5845567"/>
        </p:xfrm>
        <a:graphic>
          <a:graphicData uri="http://schemas.openxmlformats.org/drawingml/2006/table">
            <a:tbl>
              <a:tblPr/>
              <a:tblGrid>
                <a:gridCol w="2159926">
                  <a:extLst>
                    <a:ext uri="{9D8B030D-6E8A-4147-A177-3AD203B41FA5}">
                      <a16:colId xmlns:a16="http://schemas.microsoft.com/office/drawing/2014/main" val="1203225717"/>
                    </a:ext>
                  </a:extLst>
                </a:gridCol>
                <a:gridCol w="1290219">
                  <a:extLst>
                    <a:ext uri="{9D8B030D-6E8A-4147-A177-3AD203B41FA5}">
                      <a16:colId xmlns:a16="http://schemas.microsoft.com/office/drawing/2014/main" val="757072105"/>
                    </a:ext>
                  </a:extLst>
                </a:gridCol>
                <a:gridCol w="1290219">
                  <a:extLst>
                    <a:ext uri="{9D8B030D-6E8A-4147-A177-3AD203B41FA5}">
                      <a16:colId xmlns:a16="http://schemas.microsoft.com/office/drawing/2014/main" val="2934432485"/>
                    </a:ext>
                  </a:extLst>
                </a:gridCol>
                <a:gridCol w="1290219">
                  <a:extLst>
                    <a:ext uri="{9D8B030D-6E8A-4147-A177-3AD203B41FA5}">
                      <a16:colId xmlns:a16="http://schemas.microsoft.com/office/drawing/2014/main" val="3085477051"/>
                    </a:ext>
                  </a:extLst>
                </a:gridCol>
                <a:gridCol w="1290219">
                  <a:extLst>
                    <a:ext uri="{9D8B030D-6E8A-4147-A177-3AD203B41FA5}">
                      <a16:colId xmlns:a16="http://schemas.microsoft.com/office/drawing/2014/main" val="1904258578"/>
                    </a:ext>
                  </a:extLst>
                </a:gridCol>
                <a:gridCol w="1290219">
                  <a:extLst>
                    <a:ext uri="{9D8B030D-6E8A-4147-A177-3AD203B41FA5}">
                      <a16:colId xmlns:a16="http://schemas.microsoft.com/office/drawing/2014/main" val="367188390"/>
                    </a:ext>
                  </a:extLst>
                </a:gridCol>
                <a:gridCol w="1290219">
                  <a:extLst>
                    <a:ext uri="{9D8B030D-6E8A-4147-A177-3AD203B41FA5}">
                      <a16:colId xmlns:a16="http://schemas.microsoft.com/office/drawing/2014/main" val="1573539663"/>
                    </a:ext>
                  </a:extLst>
                </a:gridCol>
              </a:tblGrid>
              <a:tr h="154758">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9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51911">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2024</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2025</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2026</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年1月期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r>
                        <a:rPr dirty="0"/>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71954">
                <a:tc vMerge="1">
                  <a:txBody>
                    <a:bodyPr/>
                    <a:lstStyle/>
                    <a:p>
                      <a:r>
                        <a:rPr kumimoji="1" lang="ja-JP" altLang="en-US"/>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売上高（国内）</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31289524"/>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21026102"/>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5583829"/>
                  </a:ext>
                </a:extLst>
              </a:tr>
              <a:tr h="164592">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（製）支払手数料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83893244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（製）サンプル</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949499245"/>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616033917"/>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51758681"/>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109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841596438"/>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091739396"/>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26200396"/>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355580326"/>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319325547"/>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293032276"/>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074053508"/>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受取配当金</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66817873"/>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雑収入・その他</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8721562"/>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155431224"/>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支払利息</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42542641"/>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雑損失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26795218"/>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645524820"/>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419346"/>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57173791"/>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528708623"/>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投資有価証券売却損等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7013741"/>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棚卸資産廃棄損</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42871066"/>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特別保険料</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192630026"/>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870411247"/>
                  </a:ext>
                </a:extLst>
              </a:tr>
              <a:tr h="16459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80381586"/>
                  </a:ext>
                </a:extLst>
              </a:tr>
              <a:tr h="16459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950439309"/>
                  </a:ext>
                </a:extLst>
              </a:tr>
            </a:tbl>
          </a:graphicData>
        </a:graphic>
      </p:graphicFrame>
    </p:spTree>
    <p:extLst>
      <p:ext uri="{BB962C8B-B14F-4D97-AF65-F5344CB8AC3E}">
        <p14:creationId xmlns:p14="http://schemas.microsoft.com/office/powerpoint/2010/main" val="4072389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5870448"/>
            <a:ext cx="3749039" cy="923779"/>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●●：●●●（対象会社の論点を記載してください）</a:t>
            </a:r>
            <a:br>
              <a:rPr lang="en-US" altLang="ja-JP" dirty="0"/>
            </a:b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5779008"/>
            <a:ext cx="9793287" cy="1024128"/>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33CBB3D9-5E1D-09B4-EE09-6FFCA0875A38}"/>
              </a:ext>
            </a:extLst>
          </p:cNvPr>
          <p:cNvSpPr txBox="1"/>
          <p:nvPr/>
        </p:nvSpPr>
        <p:spPr>
          <a:xfrm>
            <a:off x="6217920" y="5870448"/>
            <a:ext cx="4023360" cy="949427"/>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a:t>●●：●●●（対象会社の論点を記載してください）</a:t>
            </a:r>
            <a:endParaRPr lang="zh-TW" altLang="en-US" dirty="0"/>
          </a:p>
          <a:p>
            <a:pPr>
              <a:lnSpc>
                <a:spcPct val="110000"/>
              </a:lnSpc>
              <a:spcAft>
                <a:spcPts val="200"/>
              </a:spcAft>
              <a:tabLst>
                <a:tab pos="1165225" algn="l"/>
                <a:tab pos="1341438" algn="l"/>
              </a:tabLst>
            </a:pPr>
            <a:r>
              <a:rPr lang="ja-JP" altLang="en-US" dirty="0"/>
              <a:t>●●：●●●（対象会社の論点を記載してください）</a:t>
            </a:r>
            <a:br>
              <a:rPr lang="en-US" altLang="ja-JP" dirty="0"/>
            </a:br>
            <a:endParaRPr lang="zh-TW" altLang="en-US" dirty="0"/>
          </a:p>
        </p:txBody>
      </p:sp>
      <p:graphicFrame>
        <p:nvGraphicFramePr>
          <p:cNvPr id="3" name="表 2">
            <a:extLst>
              <a:ext uri="{FF2B5EF4-FFF2-40B4-BE49-F238E27FC236}">
                <a16:creationId xmlns:a16="http://schemas.microsoft.com/office/drawing/2014/main" id="{80C083C9-FF56-5568-4B60-0372A8D9CA3C}"/>
              </a:ext>
            </a:extLst>
          </p:cNvPr>
          <p:cNvGraphicFramePr>
            <a:graphicFrameLocks noGrp="1"/>
          </p:cNvGraphicFramePr>
          <p:nvPr>
            <p:extLst>
              <p:ext uri="{D42A27DB-BD31-4B8C-83A1-F6EECF244321}">
                <p14:modId xmlns:p14="http://schemas.microsoft.com/office/powerpoint/2010/main" val="1367617313"/>
              </p:ext>
            </p:extLst>
          </p:nvPr>
        </p:nvGraphicFramePr>
        <p:xfrm>
          <a:off x="341313" y="709996"/>
          <a:ext cx="10089624" cy="4946832"/>
        </p:xfrm>
        <a:graphic>
          <a:graphicData uri="http://schemas.openxmlformats.org/drawingml/2006/table">
            <a:tbl>
              <a:tblPr/>
              <a:tblGrid>
                <a:gridCol w="1733187">
                  <a:extLst>
                    <a:ext uri="{9D8B030D-6E8A-4147-A177-3AD203B41FA5}">
                      <a16:colId xmlns:a16="http://schemas.microsoft.com/office/drawing/2014/main" val="2546535029"/>
                    </a:ext>
                  </a:extLst>
                </a:gridCol>
                <a:gridCol w="928493">
                  <a:extLst>
                    <a:ext uri="{9D8B030D-6E8A-4147-A177-3AD203B41FA5}">
                      <a16:colId xmlns:a16="http://schemas.microsoft.com/office/drawing/2014/main" val="3187838015"/>
                    </a:ext>
                  </a:extLst>
                </a:gridCol>
                <a:gridCol w="928493">
                  <a:extLst>
                    <a:ext uri="{9D8B030D-6E8A-4147-A177-3AD203B41FA5}">
                      <a16:colId xmlns:a16="http://schemas.microsoft.com/office/drawing/2014/main" val="46283282"/>
                    </a:ext>
                  </a:extLst>
                </a:gridCol>
                <a:gridCol w="928493">
                  <a:extLst>
                    <a:ext uri="{9D8B030D-6E8A-4147-A177-3AD203B41FA5}">
                      <a16:colId xmlns:a16="http://schemas.microsoft.com/office/drawing/2014/main" val="2737436974"/>
                    </a:ext>
                  </a:extLst>
                </a:gridCol>
                <a:gridCol w="928493">
                  <a:extLst>
                    <a:ext uri="{9D8B030D-6E8A-4147-A177-3AD203B41FA5}">
                      <a16:colId xmlns:a16="http://schemas.microsoft.com/office/drawing/2014/main" val="3192499044"/>
                    </a:ext>
                  </a:extLst>
                </a:gridCol>
                <a:gridCol w="928493">
                  <a:extLst>
                    <a:ext uri="{9D8B030D-6E8A-4147-A177-3AD203B41FA5}">
                      <a16:colId xmlns:a16="http://schemas.microsoft.com/office/drawing/2014/main" val="4052260167"/>
                    </a:ext>
                  </a:extLst>
                </a:gridCol>
                <a:gridCol w="928493">
                  <a:extLst>
                    <a:ext uri="{9D8B030D-6E8A-4147-A177-3AD203B41FA5}">
                      <a16:colId xmlns:a16="http://schemas.microsoft.com/office/drawing/2014/main" val="1094675847"/>
                    </a:ext>
                  </a:extLst>
                </a:gridCol>
                <a:gridCol w="928493">
                  <a:extLst>
                    <a:ext uri="{9D8B030D-6E8A-4147-A177-3AD203B41FA5}">
                      <a16:colId xmlns:a16="http://schemas.microsoft.com/office/drawing/2014/main" val="2883793926"/>
                    </a:ext>
                  </a:extLst>
                </a:gridCol>
                <a:gridCol w="928493">
                  <a:extLst>
                    <a:ext uri="{9D8B030D-6E8A-4147-A177-3AD203B41FA5}">
                      <a16:colId xmlns:a16="http://schemas.microsoft.com/office/drawing/2014/main" val="1896598632"/>
                    </a:ext>
                  </a:extLst>
                </a:gridCol>
                <a:gridCol w="928493">
                  <a:extLst>
                    <a:ext uri="{9D8B030D-6E8A-4147-A177-3AD203B41FA5}">
                      <a16:colId xmlns:a16="http://schemas.microsoft.com/office/drawing/2014/main" val="2842814301"/>
                    </a:ext>
                  </a:extLst>
                </a:gridCol>
              </a:tblGrid>
              <a:tr h="11850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b">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889745379"/>
                  </a:ext>
                </a:extLst>
              </a:tr>
              <a:tr h="127985">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en-US" altLang="ja-JP" sz="900" b="1" i="0" u="none" strike="noStrike" dirty="0">
                          <a:solidFill>
                            <a:srgbClr val="FFFFFF"/>
                          </a:solidFill>
                          <a:effectLst/>
                          <a:latin typeface="游ゴシック" panose="020B0400000000000000" pitchFamily="50" charset="-128"/>
                          <a:ea typeface="游ゴシック" panose="020B0400000000000000" pitchFamily="50" charset="-128"/>
                        </a:rPr>
                        <a:t>20</a:t>
                      </a: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15850382"/>
                  </a:ext>
                </a:extLst>
              </a:tr>
              <a:tr h="123245">
                <a:tc vMerge="1">
                  <a:txBody>
                    <a:bodyPr/>
                    <a:lstStyle/>
                    <a:p>
                      <a:endParaRPr kumimoji="1" lang="ja-JP" altLang="en-US"/>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2758168956"/>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1088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2448298125"/>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役員賞与</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1058511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給料手当</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42415369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雑給</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710555601"/>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賞与</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569317899"/>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916521745"/>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福利厚生費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624887812"/>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採用教育費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781247047"/>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荷造運賃</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638652361"/>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971498375"/>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511437180"/>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634323877"/>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81082559"/>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493539442"/>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販売促進費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7539218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51097497"/>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27105685"/>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41938646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255929716"/>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6269010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091818919"/>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240907153"/>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85337711"/>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FFFF00"/>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75140809"/>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853879304"/>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支払報酬料</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62802251"/>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寄付金</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21846731"/>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研究開発費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09354250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194577568"/>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貸倒引当金繰入額</a:t>
                      </a:r>
                    </a:p>
                  </a:txBody>
                  <a:tcPr marL="110886"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163422143"/>
                  </a:ext>
                </a:extLst>
              </a:tr>
              <a:tr h="14220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通勤</a:t>
                      </a:r>
                    </a:p>
                  </a:txBody>
                  <a:tcPr marL="110886"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FFFF00"/>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a:noFill/>
                    </a:lnR>
                    <a:lnT>
                      <a:noFill/>
                    </a:lnT>
                    <a:lnB>
                      <a:noFill/>
                    </a:lnB>
                    <a:noFill/>
                  </a:tcPr>
                </a:tc>
                <a:tc>
                  <a:txBody>
                    <a:bodyPr/>
                    <a:lstStyle/>
                    <a:p>
                      <a:pPr algn="r" fontAlgn="ctr">
                        <a:buNone/>
                      </a:pPr>
                      <a:endParaRPr lang="ja-JP"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55443" marT="0"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263555501"/>
                  </a:ext>
                </a:extLst>
              </a:tr>
              <a:tr h="142206">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55443"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79542186"/>
                  </a:ext>
                </a:extLst>
              </a:tr>
            </a:tbl>
          </a:graphicData>
        </a:graphic>
      </p:graphicFrame>
    </p:spTree>
    <p:extLst>
      <p:ext uri="{BB962C8B-B14F-4D97-AF65-F5344CB8AC3E}">
        <p14:creationId xmlns:p14="http://schemas.microsoft.com/office/powerpoint/2010/main" val="9419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5965738"/>
            <a:ext cx="8183879" cy="97507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a:t>●●：●●●（対象会社の論点を記載してください）</a:t>
            </a:r>
            <a:endParaRPr lang="en-US" altLang="ja-JP" dirty="0"/>
          </a:p>
          <a:p>
            <a:pPr>
              <a:lnSpc>
                <a:spcPct val="110000"/>
              </a:lnSpc>
              <a:spcAft>
                <a:spcPts val="200"/>
              </a:spcAft>
              <a:tabLst>
                <a:tab pos="1703388" algn="l"/>
              </a:tabLst>
            </a:pPr>
            <a:r>
              <a:rPr lang="ja-JP" altLang="en-US" dirty="0"/>
              <a:t>●●：●●●（対象会社の論点を記載してください）</a:t>
            </a:r>
            <a:endParaRPr lang="en-US" altLang="ja-JP" dirty="0"/>
          </a:p>
          <a:p>
            <a:pPr>
              <a:lnSpc>
                <a:spcPct val="110000"/>
              </a:lnSpc>
              <a:spcAft>
                <a:spcPts val="200"/>
              </a:spcAft>
              <a:tabLst>
                <a:tab pos="1703388" algn="l"/>
              </a:tabLst>
            </a:pPr>
            <a:r>
              <a:rPr lang="ja-JP" altLang="en-US" dirty="0"/>
              <a:t>●●：●●●（対象会社の論点を記載してください）</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890660"/>
            <a:ext cx="9793287" cy="114107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4" name="表 3">
            <a:extLst>
              <a:ext uri="{FF2B5EF4-FFF2-40B4-BE49-F238E27FC236}">
                <a16:creationId xmlns:a16="http://schemas.microsoft.com/office/drawing/2014/main" id="{269EE5F8-9856-0F07-BA17-797BD219C4F9}"/>
              </a:ext>
            </a:extLst>
          </p:cNvPr>
          <p:cNvGraphicFramePr>
            <a:graphicFrameLocks noGrp="1"/>
          </p:cNvGraphicFramePr>
          <p:nvPr>
            <p:extLst>
              <p:ext uri="{D42A27DB-BD31-4B8C-83A1-F6EECF244321}">
                <p14:modId xmlns:p14="http://schemas.microsoft.com/office/powerpoint/2010/main" val="3230988779"/>
              </p:ext>
            </p:extLst>
          </p:nvPr>
        </p:nvGraphicFramePr>
        <p:xfrm>
          <a:off x="341313" y="745519"/>
          <a:ext cx="10009189" cy="5104284"/>
        </p:xfrm>
        <a:graphic>
          <a:graphicData uri="http://schemas.openxmlformats.org/drawingml/2006/table">
            <a:tbl>
              <a:tblPr/>
              <a:tblGrid>
                <a:gridCol w="1719370">
                  <a:extLst>
                    <a:ext uri="{9D8B030D-6E8A-4147-A177-3AD203B41FA5}">
                      <a16:colId xmlns:a16="http://schemas.microsoft.com/office/drawing/2014/main" val="1930032636"/>
                    </a:ext>
                  </a:extLst>
                </a:gridCol>
                <a:gridCol w="921091">
                  <a:extLst>
                    <a:ext uri="{9D8B030D-6E8A-4147-A177-3AD203B41FA5}">
                      <a16:colId xmlns:a16="http://schemas.microsoft.com/office/drawing/2014/main" val="4031478281"/>
                    </a:ext>
                  </a:extLst>
                </a:gridCol>
                <a:gridCol w="921091">
                  <a:extLst>
                    <a:ext uri="{9D8B030D-6E8A-4147-A177-3AD203B41FA5}">
                      <a16:colId xmlns:a16="http://schemas.microsoft.com/office/drawing/2014/main" val="2174857285"/>
                    </a:ext>
                  </a:extLst>
                </a:gridCol>
                <a:gridCol w="921091">
                  <a:extLst>
                    <a:ext uri="{9D8B030D-6E8A-4147-A177-3AD203B41FA5}">
                      <a16:colId xmlns:a16="http://schemas.microsoft.com/office/drawing/2014/main" val="3203381034"/>
                    </a:ext>
                  </a:extLst>
                </a:gridCol>
                <a:gridCol w="921091">
                  <a:extLst>
                    <a:ext uri="{9D8B030D-6E8A-4147-A177-3AD203B41FA5}">
                      <a16:colId xmlns:a16="http://schemas.microsoft.com/office/drawing/2014/main" val="1407206559"/>
                    </a:ext>
                  </a:extLst>
                </a:gridCol>
                <a:gridCol w="921091">
                  <a:extLst>
                    <a:ext uri="{9D8B030D-6E8A-4147-A177-3AD203B41FA5}">
                      <a16:colId xmlns:a16="http://schemas.microsoft.com/office/drawing/2014/main" val="4251082707"/>
                    </a:ext>
                  </a:extLst>
                </a:gridCol>
                <a:gridCol w="921091">
                  <a:extLst>
                    <a:ext uri="{9D8B030D-6E8A-4147-A177-3AD203B41FA5}">
                      <a16:colId xmlns:a16="http://schemas.microsoft.com/office/drawing/2014/main" val="3639116040"/>
                    </a:ext>
                  </a:extLst>
                </a:gridCol>
                <a:gridCol w="921091">
                  <a:extLst>
                    <a:ext uri="{9D8B030D-6E8A-4147-A177-3AD203B41FA5}">
                      <a16:colId xmlns:a16="http://schemas.microsoft.com/office/drawing/2014/main" val="692455042"/>
                    </a:ext>
                  </a:extLst>
                </a:gridCol>
                <a:gridCol w="921091">
                  <a:extLst>
                    <a:ext uri="{9D8B030D-6E8A-4147-A177-3AD203B41FA5}">
                      <a16:colId xmlns:a16="http://schemas.microsoft.com/office/drawing/2014/main" val="1831310534"/>
                    </a:ext>
                  </a:extLst>
                </a:gridCol>
                <a:gridCol w="921091">
                  <a:extLst>
                    <a:ext uri="{9D8B030D-6E8A-4147-A177-3AD203B41FA5}">
                      <a16:colId xmlns:a16="http://schemas.microsoft.com/office/drawing/2014/main" val="1540417249"/>
                    </a:ext>
                  </a:extLst>
                </a:gridCol>
              </a:tblGrid>
              <a:tr h="103916">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538579597"/>
                  </a:ext>
                </a:extLst>
              </a:tr>
              <a:tr h="112229">
                <a:tc row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72981268"/>
                  </a:ext>
                </a:extLst>
              </a:tr>
              <a:tr h="108072">
                <a:tc vMerge="1">
                  <a:txBody>
                    <a:bodyPr/>
                    <a:lstStyle/>
                    <a:p>
                      <a:endParaRPr kumimoji="1" lang="ja-JP" altLang="en-US"/>
                    </a:p>
                  </a:txBody>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0" marR="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528265991"/>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94499"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515761034"/>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輸出売上</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29969659"/>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296337769"/>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期首商品棚卸高</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542401654"/>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当期商品仕入高</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3634830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（製）支払手数料</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56856305"/>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（製）サンプル</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4300873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試作費</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157914836"/>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（製）外注費</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46683032"/>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仕入値引高</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403541242"/>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他勘定振替高</a:t>
                      </a:r>
                    </a:p>
                  </a:txBody>
                  <a:tcPr marL="9449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62573407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期末商品棚卸高</a:t>
                      </a:r>
                    </a:p>
                  </a:txBody>
                  <a:tcPr marL="94499"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81636043"/>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80351585"/>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4725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227397439"/>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39518958"/>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4725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102631601"/>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859568981"/>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4174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97424295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受取配当金</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37940837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貸倒引当金戻入額</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77485002"/>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661234334"/>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仕入割引</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829990817"/>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為替差益</a:t>
                      </a:r>
                    </a:p>
                  </a:txBody>
                  <a:tcPr marL="141749"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233346137"/>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91113188"/>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4174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747541488"/>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250073248"/>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877637667"/>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65715554"/>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投資有価証券売却益</a:t>
                      </a:r>
                    </a:p>
                  </a:txBody>
                  <a:tcPr marL="14174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681634099"/>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94499"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698410594"/>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投資有価証券売却損</a:t>
                      </a:r>
                    </a:p>
                  </a:txBody>
                  <a:tcPr marL="14174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469810043"/>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29014149"/>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棚卸資産廃棄損</a:t>
                      </a:r>
                    </a:p>
                  </a:txBody>
                  <a:tcPr marL="141749"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16258531"/>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特別保険料</a:t>
                      </a:r>
                    </a:p>
                  </a:txBody>
                  <a:tcPr marL="141749"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231181558"/>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4725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018723196"/>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9449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69143928"/>
                  </a:ext>
                </a:extLst>
              </a:tr>
              <a:tr h="12469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41749"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34507020"/>
                  </a:ext>
                </a:extLst>
              </a:tr>
              <a:tr h="12469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4725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chemeClr val="accent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chemeClr val="accent4"/>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47250" marT="0"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790569019"/>
                  </a:ext>
                </a:extLst>
              </a:tr>
            </a:tbl>
          </a:graphicData>
        </a:graphic>
      </p:graphicFrame>
    </p:spTree>
    <p:extLst>
      <p:ext uri="{BB962C8B-B14F-4D97-AF65-F5344CB8AC3E}">
        <p14:creationId xmlns:p14="http://schemas.microsoft.com/office/powerpoint/2010/main" val="1691939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497692"/>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97692"/>
            <a:ext cx="3132000" cy="174022"/>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・営業利益は過去3年の平均値を採用</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6959065" y="6497692"/>
            <a:ext cx="3349368" cy="358688"/>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・営業権倍率は国内の中小企業M&amp;Aの実例においてボリュームゾーンである1～3倍を適用</a:t>
            </a:r>
            <a:endParaRPr lang="en-US" altLang="ja-JP" sz="1000" spc="50" dirty="0">
              <a:latin typeface="+mn-ea"/>
            </a:endParaRPr>
          </a:p>
        </p:txBody>
      </p:sp>
      <p:graphicFrame>
        <p:nvGraphicFramePr>
          <p:cNvPr id="6" name="表 5">
            <a:extLst>
              <a:ext uri="{FF2B5EF4-FFF2-40B4-BE49-F238E27FC236}">
                <a16:creationId xmlns:a16="http://schemas.microsoft.com/office/drawing/2014/main" id="{64DBA9DE-28CC-CF8E-E12F-5B18A0BFCAF2}"/>
              </a:ext>
            </a:extLst>
          </p:cNvPr>
          <p:cNvGraphicFramePr>
            <a:graphicFrameLocks noGrp="1"/>
          </p:cNvGraphicFramePr>
          <p:nvPr>
            <p:extLst>
              <p:ext uri="{D42A27DB-BD31-4B8C-83A1-F6EECF244321}">
                <p14:modId xmlns:p14="http://schemas.microsoft.com/office/powerpoint/2010/main" val="1577778887"/>
              </p:ext>
            </p:extLst>
          </p:nvPr>
        </p:nvGraphicFramePr>
        <p:xfrm>
          <a:off x="449264" y="1121542"/>
          <a:ext cx="2844800" cy="1523799"/>
        </p:xfrm>
        <a:graphic>
          <a:graphicData uri="http://schemas.openxmlformats.org/drawingml/2006/table">
            <a:tbl>
              <a:tblPr/>
              <a:tblGrid>
                <a:gridCol w="1422400">
                  <a:extLst>
                    <a:ext uri="{9D8B030D-6E8A-4147-A177-3AD203B41FA5}">
                      <a16:colId xmlns:a16="http://schemas.microsoft.com/office/drawing/2014/main" val="3742969139"/>
                    </a:ext>
                  </a:extLst>
                </a:gridCol>
                <a:gridCol w="1422400">
                  <a:extLst>
                    <a:ext uri="{9D8B030D-6E8A-4147-A177-3AD203B41FA5}">
                      <a16:colId xmlns:a16="http://schemas.microsoft.com/office/drawing/2014/main" val="176106280"/>
                    </a:ext>
                  </a:extLst>
                </a:gridCol>
              </a:tblGrid>
              <a:tr h="211639">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4127255786"/>
                  </a:ext>
                </a:extLst>
              </a:tr>
              <a:tr h="245501">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84412510"/>
                  </a:ext>
                </a:extLst>
              </a:tr>
              <a:tr h="355553">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簿価純資産額</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79471566"/>
                  </a:ext>
                </a:extLst>
              </a:tr>
              <a:tr h="355553">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603748512"/>
                  </a:ext>
                </a:extLst>
              </a:tr>
              <a:tr h="355553">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956632944"/>
                  </a:ext>
                </a:extLst>
              </a:tr>
            </a:tbl>
          </a:graphicData>
        </a:graphic>
      </p:graphicFrame>
      <p:graphicFrame>
        <p:nvGraphicFramePr>
          <p:cNvPr id="24" name="表 23">
            <a:extLst>
              <a:ext uri="{FF2B5EF4-FFF2-40B4-BE49-F238E27FC236}">
                <a16:creationId xmlns:a16="http://schemas.microsoft.com/office/drawing/2014/main" id="{E43259E8-718C-860F-31F7-CC233A1DA95C}"/>
              </a:ext>
            </a:extLst>
          </p:cNvPr>
          <p:cNvGraphicFramePr>
            <a:graphicFrameLocks noGrp="1"/>
          </p:cNvGraphicFramePr>
          <p:nvPr>
            <p:extLst>
              <p:ext uri="{D42A27DB-BD31-4B8C-83A1-F6EECF244321}">
                <p14:modId xmlns:p14="http://schemas.microsoft.com/office/powerpoint/2010/main" val="1405680720"/>
              </p:ext>
            </p:extLst>
          </p:nvPr>
        </p:nvGraphicFramePr>
        <p:xfrm>
          <a:off x="4197486" y="1087835"/>
          <a:ext cx="6146800" cy="3105150"/>
        </p:xfrm>
        <a:graphic>
          <a:graphicData uri="http://schemas.openxmlformats.org/drawingml/2006/table">
            <a:tbl>
              <a:tblPr/>
              <a:tblGrid>
                <a:gridCol w="1879600">
                  <a:extLst>
                    <a:ext uri="{9D8B030D-6E8A-4147-A177-3AD203B41FA5}">
                      <a16:colId xmlns:a16="http://schemas.microsoft.com/office/drawing/2014/main" val="3127448279"/>
                    </a:ext>
                  </a:extLst>
                </a:gridCol>
                <a:gridCol w="1422400">
                  <a:extLst>
                    <a:ext uri="{9D8B030D-6E8A-4147-A177-3AD203B41FA5}">
                      <a16:colId xmlns:a16="http://schemas.microsoft.com/office/drawing/2014/main" val="2349916149"/>
                    </a:ext>
                  </a:extLst>
                </a:gridCol>
                <a:gridCol w="1422400">
                  <a:extLst>
                    <a:ext uri="{9D8B030D-6E8A-4147-A177-3AD203B41FA5}">
                      <a16:colId xmlns:a16="http://schemas.microsoft.com/office/drawing/2014/main" val="3628197926"/>
                    </a:ext>
                  </a:extLst>
                </a:gridCol>
                <a:gridCol w="1422400">
                  <a:extLst>
                    <a:ext uri="{9D8B030D-6E8A-4147-A177-3AD203B41FA5}">
                      <a16:colId xmlns:a16="http://schemas.microsoft.com/office/drawing/2014/main" val="2374497830"/>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500248896"/>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546243291"/>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3117582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76092922"/>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853762939"/>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税考慮額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35575733"/>
                  </a:ext>
                </a:extLst>
              </a:tr>
              <a:tr h="400050">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修正後税考慮後営業利益</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400901120"/>
                  </a:ext>
                </a:extLst>
              </a:tr>
              <a:tr h="190500">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507750895"/>
                  </a:ext>
                </a:extLst>
              </a:tr>
              <a:tr h="400050">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基準営業利益</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668525024"/>
                  </a:ext>
                </a:extLst>
              </a:tr>
            </a:tbl>
          </a:graphicData>
        </a:graphic>
      </p:graphicFrame>
      <p:graphicFrame>
        <p:nvGraphicFramePr>
          <p:cNvPr id="26" name="表 25">
            <a:extLst>
              <a:ext uri="{FF2B5EF4-FFF2-40B4-BE49-F238E27FC236}">
                <a16:creationId xmlns:a16="http://schemas.microsoft.com/office/drawing/2014/main" id="{2EE21B01-4926-DC5E-758F-F961391A23E2}"/>
              </a:ext>
            </a:extLst>
          </p:cNvPr>
          <p:cNvGraphicFramePr>
            <a:graphicFrameLocks noGrp="1"/>
          </p:cNvGraphicFramePr>
          <p:nvPr>
            <p:extLst>
              <p:ext uri="{D42A27DB-BD31-4B8C-83A1-F6EECF244321}">
                <p14:modId xmlns:p14="http://schemas.microsoft.com/office/powerpoint/2010/main" val="1101388042"/>
              </p:ext>
            </p:extLst>
          </p:nvPr>
        </p:nvGraphicFramePr>
        <p:xfrm>
          <a:off x="449264" y="4528897"/>
          <a:ext cx="6197600" cy="1714500"/>
        </p:xfrm>
        <a:graphic>
          <a:graphicData uri="http://schemas.openxmlformats.org/drawingml/2006/table">
            <a:tbl>
              <a:tblPr/>
              <a:tblGrid>
                <a:gridCol w="1549400">
                  <a:extLst>
                    <a:ext uri="{9D8B030D-6E8A-4147-A177-3AD203B41FA5}">
                      <a16:colId xmlns:a16="http://schemas.microsoft.com/office/drawing/2014/main" val="1934853515"/>
                    </a:ext>
                  </a:extLst>
                </a:gridCol>
                <a:gridCol w="1549400">
                  <a:extLst>
                    <a:ext uri="{9D8B030D-6E8A-4147-A177-3AD203B41FA5}">
                      <a16:colId xmlns:a16="http://schemas.microsoft.com/office/drawing/2014/main" val="2671121112"/>
                    </a:ext>
                  </a:extLst>
                </a:gridCol>
                <a:gridCol w="1549400">
                  <a:extLst>
                    <a:ext uri="{9D8B030D-6E8A-4147-A177-3AD203B41FA5}">
                      <a16:colId xmlns:a16="http://schemas.microsoft.com/office/drawing/2014/main" val="4062886007"/>
                    </a:ext>
                  </a:extLst>
                </a:gridCol>
                <a:gridCol w="1549400">
                  <a:extLst>
                    <a:ext uri="{9D8B030D-6E8A-4147-A177-3AD203B41FA5}">
                      <a16:colId xmlns:a16="http://schemas.microsoft.com/office/drawing/2014/main" val="2369823747"/>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931294601"/>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営業権倍率</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697186592"/>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83514909"/>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86401703"/>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191833478"/>
                  </a:ext>
                </a:extLst>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8056" y="6355080"/>
            <a:ext cx="9793224" cy="7315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7632" y="6633829"/>
            <a:ext cx="2971800" cy="174022"/>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・EBITDAは直近3年の平均値を採用</a:t>
            </a:r>
            <a:endParaRPr lang="en-US" altLang="ja-JP" sz="1000" spc="50" dirty="0">
              <a:latin typeface="+mn-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617720" y="6446520"/>
            <a:ext cx="2834640" cy="912686"/>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・マルチプル倍率は類似上場会社の株価倍率及び国内中小企業M&amp;Aの実績水準を踏まえ3～5倍を仮適用</a:t>
            </a:r>
            <a:br>
              <a:rPr lang="en-US" altLang="ja-JP" sz="1000" spc="50" dirty="0">
                <a:latin typeface="+mn-ea"/>
              </a:rPr>
            </a:br>
            <a:br>
              <a:rPr lang="en-US" altLang="ja-JP" sz="1000" spc="50" dirty="0">
                <a:latin typeface="+mn-ea"/>
              </a:rPr>
            </a:b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498079" y="6446520"/>
            <a:ext cx="2834640" cy="548640"/>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1000" spc="50" dirty="0">
                <a:latin typeface="+mn-ea"/>
              </a:rPr>
              <a:t>・上場会社の株価倍率には市場性が織込まれているため、非流動性ディスカウント</a:t>
            </a:r>
            <a:r>
              <a:rPr lang="en-US" altLang="ja-JP" sz="1000" spc="50" dirty="0">
                <a:latin typeface="+mn-ea"/>
              </a:rPr>
              <a:t>1</a:t>
            </a:r>
            <a:r>
              <a:rPr lang="ja-JP" altLang="en-US" sz="1000" spc="50" dirty="0">
                <a:latin typeface="+mn-ea"/>
              </a:rPr>
              <a:t>0%とし、仮控除</a:t>
            </a:r>
            <a:endParaRPr lang="en-US" altLang="ja-JP" sz="1000" spc="50" dirty="0">
              <a:latin typeface="+mn-ea"/>
            </a:endParaRPr>
          </a:p>
        </p:txBody>
      </p:sp>
      <p:graphicFrame>
        <p:nvGraphicFramePr>
          <p:cNvPr id="5" name="表 4">
            <a:extLst>
              <a:ext uri="{FF2B5EF4-FFF2-40B4-BE49-F238E27FC236}">
                <a16:creationId xmlns:a16="http://schemas.microsoft.com/office/drawing/2014/main" id="{125B7863-9559-070F-5B67-0D01629AA50D}"/>
              </a:ext>
            </a:extLst>
          </p:cNvPr>
          <p:cNvGraphicFramePr>
            <a:graphicFrameLocks noGrp="1"/>
          </p:cNvGraphicFramePr>
          <p:nvPr>
            <p:extLst>
              <p:ext uri="{D42A27DB-BD31-4B8C-83A1-F6EECF244321}">
                <p14:modId xmlns:p14="http://schemas.microsoft.com/office/powerpoint/2010/main" val="1648416887"/>
              </p:ext>
            </p:extLst>
          </p:nvPr>
        </p:nvGraphicFramePr>
        <p:xfrm>
          <a:off x="444636" y="1326516"/>
          <a:ext cx="2997200" cy="1714500"/>
        </p:xfrm>
        <a:graphic>
          <a:graphicData uri="http://schemas.openxmlformats.org/drawingml/2006/table">
            <a:tbl>
              <a:tblPr/>
              <a:tblGrid>
                <a:gridCol w="1574800">
                  <a:extLst>
                    <a:ext uri="{9D8B030D-6E8A-4147-A177-3AD203B41FA5}">
                      <a16:colId xmlns:a16="http://schemas.microsoft.com/office/drawing/2014/main" val="3042450074"/>
                    </a:ext>
                  </a:extLst>
                </a:gridCol>
                <a:gridCol w="1422400">
                  <a:extLst>
                    <a:ext uri="{9D8B030D-6E8A-4147-A177-3AD203B41FA5}">
                      <a16:colId xmlns:a16="http://schemas.microsoft.com/office/drawing/2014/main" val="1146625195"/>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035661812"/>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478118311"/>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キャッシュライク</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0305395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デットライク</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14466276"/>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647662151"/>
                  </a:ext>
                </a:extLst>
              </a:tr>
            </a:tbl>
          </a:graphicData>
        </a:graphic>
      </p:graphicFrame>
      <p:graphicFrame>
        <p:nvGraphicFramePr>
          <p:cNvPr id="9" name="表 8">
            <a:extLst>
              <a:ext uri="{FF2B5EF4-FFF2-40B4-BE49-F238E27FC236}">
                <a16:creationId xmlns:a16="http://schemas.microsoft.com/office/drawing/2014/main" id="{69BEF48B-976C-5835-E536-F4B22849F6B7}"/>
              </a:ext>
            </a:extLst>
          </p:cNvPr>
          <p:cNvGraphicFramePr>
            <a:graphicFrameLocks noGrp="1"/>
          </p:cNvGraphicFramePr>
          <p:nvPr>
            <p:extLst>
              <p:ext uri="{D42A27DB-BD31-4B8C-83A1-F6EECF244321}">
                <p14:modId xmlns:p14="http://schemas.microsoft.com/office/powerpoint/2010/main" val="2724467227"/>
              </p:ext>
            </p:extLst>
          </p:nvPr>
        </p:nvGraphicFramePr>
        <p:xfrm>
          <a:off x="3913982" y="1316904"/>
          <a:ext cx="6146800" cy="3105150"/>
        </p:xfrm>
        <a:graphic>
          <a:graphicData uri="http://schemas.openxmlformats.org/drawingml/2006/table">
            <a:tbl>
              <a:tblPr/>
              <a:tblGrid>
                <a:gridCol w="1879600">
                  <a:extLst>
                    <a:ext uri="{9D8B030D-6E8A-4147-A177-3AD203B41FA5}">
                      <a16:colId xmlns:a16="http://schemas.microsoft.com/office/drawing/2014/main" val="419309602"/>
                    </a:ext>
                  </a:extLst>
                </a:gridCol>
                <a:gridCol w="1422400">
                  <a:extLst>
                    <a:ext uri="{9D8B030D-6E8A-4147-A177-3AD203B41FA5}">
                      <a16:colId xmlns:a16="http://schemas.microsoft.com/office/drawing/2014/main" val="4082431732"/>
                    </a:ext>
                  </a:extLst>
                </a:gridCol>
                <a:gridCol w="1422400">
                  <a:extLst>
                    <a:ext uri="{9D8B030D-6E8A-4147-A177-3AD203B41FA5}">
                      <a16:colId xmlns:a16="http://schemas.microsoft.com/office/drawing/2014/main" val="1128614883"/>
                    </a:ext>
                  </a:extLst>
                </a:gridCol>
                <a:gridCol w="1422400">
                  <a:extLst>
                    <a:ext uri="{9D8B030D-6E8A-4147-A177-3AD203B41FA5}">
                      <a16:colId xmlns:a16="http://schemas.microsoft.com/office/drawing/2014/main" val="1428750272"/>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91367187"/>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24年1月期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25年1月期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26年1月期</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938188898"/>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3158669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025776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13271002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430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245799627"/>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修正後EBITDA</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874221549"/>
                  </a:ext>
                </a:extLst>
              </a:tr>
              <a:tr h="190500">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18008555"/>
                  </a:ext>
                </a:extLst>
              </a:tr>
              <a:tr h="400050">
                <a:tc>
                  <a:txBody>
                    <a:bodyPr/>
                    <a:lstStyle/>
                    <a:p>
                      <a:pPr algn="l" fontAlgn="ctr">
                        <a:buNone/>
                      </a:pP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基準EBITDA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608372763"/>
                  </a:ext>
                </a:extLst>
              </a:tr>
            </a:tbl>
          </a:graphicData>
        </a:graphic>
      </p:graphicFrame>
      <p:graphicFrame>
        <p:nvGraphicFramePr>
          <p:cNvPr id="13" name="表 12">
            <a:extLst>
              <a:ext uri="{FF2B5EF4-FFF2-40B4-BE49-F238E27FC236}">
                <a16:creationId xmlns:a16="http://schemas.microsoft.com/office/drawing/2014/main" id="{9E659233-E241-DE83-8EF3-73F6009C4F24}"/>
              </a:ext>
            </a:extLst>
          </p:cNvPr>
          <p:cNvGraphicFramePr>
            <a:graphicFrameLocks noGrp="1"/>
          </p:cNvGraphicFramePr>
          <p:nvPr>
            <p:extLst>
              <p:ext uri="{D42A27DB-BD31-4B8C-83A1-F6EECF244321}">
                <p14:modId xmlns:p14="http://schemas.microsoft.com/office/powerpoint/2010/main" val="1656950985"/>
              </p:ext>
            </p:extLst>
          </p:nvPr>
        </p:nvGraphicFramePr>
        <p:xfrm>
          <a:off x="451249" y="4128221"/>
          <a:ext cx="6629400" cy="2114550"/>
        </p:xfrm>
        <a:graphic>
          <a:graphicData uri="http://schemas.openxmlformats.org/drawingml/2006/table">
            <a:tbl>
              <a:tblPr/>
              <a:tblGrid>
                <a:gridCol w="1981200">
                  <a:extLst>
                    <a:ext uri="{9D8B030D-6E8A-4147-A177-3AD203B41FA5}">
                      <a16:colId xmlns:a16="http://schemas.microsoft.com/office/drawing/2014/main" val="689368407"/>
                    </a:ext>
                  </a:extLst>
                </a:gridCol>
                <a:gridCol w="1549400">
                  <a:extLst>
                    <a:ext uri="{9D8B030D-6E8A-4147-A177-3AD203B41FA5}">
                      <a16:colId xmlns:a16="http://schemas.microsoft.com/office/drawing/2014/main" val="2188407217"/>
                    </a:ext>
                  </a:extLst>
                </a:gridCol>
                <a:gridCol w="1549400">
                  <a:extLst>
                    <a:ext uri="{9D8B030D-6E8A-4147-A177-3AD203B41FA5}">
                      <a16:colId xmlns:a16="http://schemas.microsoft.com/office/drawing/2014/main" val="2769913132"/>
                    </a:ext>
                  </a:extLst>
                </a:gridCol>
                <a:gridCol w="1549400">
                  <a:extLst>
                    <a:ext uri="{9D8B030D-6E8A-4147-A177-3AD203B41FA5}">
                      <a16:colId xmlns:a16="http://schemas.microsoft.com/office/drawing/2014/main" val="411640126"/>
                    </a:ext>
                  </a:extLst>
                </a:gridCol>
              </a:tblGrid>
              <a:tr h="238125">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l" fontAlgn="b">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b">
                    <a:lnL>
                      <a:noFill/>
                    </a:lnL>
                    <a:lnR>
                      <a:noFill/>
                    </a:lnR>
                    <a:lnT>
                      <a:noFill/>
                    </a:lnT>
                    <a:lnB>
                      <a:noFill/>
                    </a:lnB>
                    <a:noFill/>
                  </a:tcPr>
                </a:tc>
                <a:tc>
                  <a:txBody>
                    <a:bodyPr/>
                    <a:lstStyle/>
                    <a:p>
                      <a:pPr algn="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3573108855"/>
                  </a:ext>
                </a:extLst>
              </a:tr>
              <a:tr h="276225">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マルチプル倍率</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200" b="1" i="0" u="none" strike="noStrike">
                          <a:solidFill>
                            <a:srgbClr val="FFFFFF"/>
                          </a:solidFill>
                          <a:effectLst/>
                          <a:latin typeface="游ゴシック" panose="020B0400000000000000" pitchFamily="50" charset="-128"/>
                          <a:ea typeface="游ゴシック" panose="020B0400000000000000" pitchFamily="50" charset="-128"/>
                        </a:rPr>
                        <a:t>x5</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798114636"/>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EV（EBITDA×倍率）</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3451337"/>
                  </a:ext>
                </a:extLst>
              </a:tr>
              <a:tr h="400050">
                <a:tc>
                  <a:txBody>
                    <a:bodyPr/>
                    <a:lstStyle/>
                    <a:p>
                      <a:pPr algn="l"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非流動性ディスカウント</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200" b="0"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77321392"/>
                  </a:ext>
                </a:extLst>
              </a:tr>
              <a:tr h="400050">
                <a:tc>
                  <a:txBody>
                    <a:bodyPr/>
                    <a:lstStyle/>
                    <a:p>
                      <a:pPr algn="l"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gridSpan="3">
                  <a:txBody>
                    <a:bodyPr/>
                    <a:lstStyle/>
                    <a:p>
                      <a:pPr algn="ctr" fontAlgn="ctr">
                        <a:buNone/>
                      </a:pPr>
                      <a:r>
                        <a:rPr lang="ja-JP" sz="1200" b="0" i="0" u="none" strike="noStrike">
                          <a:solidFill>
                            <a:srgbClr val="000000"/>
                          </a:solidFill>
                          <a:effectLst/>
                          <a:latin typeface="游ゴシック" panose="020B0400000000000000" pitchFamily="50" charset="-128"/>
                          <a:ea typeface="游ゴシック" panose="020B0400000000000000" pitchFamily="50" charset="-128"/>
                        </a:rPr>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508189832"/>
                  </a:ext>
                </a:extLst>
              </a:tr>
              <a:tr h="400050">
                <a:tc>
                  <a:txBody>
                    <a:bodyPr/>
                    <a:lstStyle/>
                    <a:p>
                      <a:pPr algn="l" fontAlgn="ctr">
                        <a:buNone/>
                      </a:pPr>
                      <a:r>
                        <a:rPr lang="ja-JP" sz="12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0" marT="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400" b="1" i="0" u="none" strike="noStrike" dirty="0">
                          <a:solidFill>
                            <a:srgbClr val="000000"/>
                          </a:solidFill>
                          <a:effectLst/>
                          <a:latin typeface="游ゴシック" panose="020B0400000000000000" pitchFamily="50" charset="-128"/>
                          <a:ea typeface="游ゴシック" panose="020B0400000000000000" pitchFamily="50" charset="-128"/>
                        </a:rPr>
                        <a:t/>
                      </a:r>
                    </a:p>
                  </a:txBody>
                  <a:tcPr marL="0" marR="114300" marT="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223134955"/>
                  </a:ext>
                </a:extLst>
              </a:tr>
            </a:tbl>
          </a:graphicData>
        </a:graphic>
      </p:graphicFrame>
    </p:spTree>
    <p:extLst>
      <p:ext uri="{BB962C8B-B14F-4D97-AF65-F5344CB8AC3E}">
        <p14:creationId xmlns:p14="http://schemas.microsoft.com/office/powerpoint/2010/main" val="96681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7248</TotalTime>
  <Words>4644</Words>
  <Application>Microsoft Office PowerPoint</Application>
  <PresentationFormat>ユーザー設定</PresentationFormat>
  <Paragraphs>1784</Paragraphs>
  <Slides>22</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127</cp:revision>
  <cp:lastPrinted>2026-07-29T02:36:09Z</cp:lastPrinted>
  <dcterms:created xsi:type="dcterms:W3CDTF">2025-11-26T06:32:54Z</dcterms:created>
  <dcterms:modified xsi:type="dcterms:W3CDTF">2026-07-29T02:39:33Z</dcterms:modified>
</cp:coreProperties>
</file>