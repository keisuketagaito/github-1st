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5"/>
  </p:notesMasterIdLst>
  <p:sldIdLst>
    <p:sldId id="256" r:id="rId2"/>
    <p:sldId id="257" r:id="rId3"/>
    <p:sldId id="290" r:id="rId4"/>
    <p:sldId id="314" r:id="rId5"/>
    <p:sldId id="259" r:id="rId6"/>
    <p:sldId id="295" r:id="rId7"/>
    <p:sldId id="315" r:id="rId8"/>
    <p:sldId id="262" r:id="rId9"/>
    <p:sldId id="263" r:id="rId10"/>
    <p:sldId id="264" r:id="rId11"/>
    <p:sldId id="278" r:id="rId12"/>
    <p:sldId id="317" r:id="rId13"/>
    <p:sldId id="318" r:id="rId14"/>
    <p:sldId id="319" r:id="rId15"/>
    <p:sldId id="309" r:id="rId16"/>
    <p:sldId id="310" r:id="rId17"/>
    <p:sldId id="282" r:id="rId18"/>
    <p:sldId id="283" r:id="rId19"/>
    <p:sldId id="299" r:id="rId20"/>
    <p:sldId id="287" r:id="rId21"/>
    <p:sldId id="320" r:id="rId22"/>
    <p:sldId id="312" r:id="rId23"/>
    <p:sldId id="277" r:id="rId24"/>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50" autoAdjust="0"/>
    <p:restoredTop sz="75000" autoAdjust="0"/>
  </p:normalViewPr>
  <p:slideViewPr>
    <p:cSldViewPr snapToGrid="0">
      <p:cViewPr varScale="1">
        <p:scale>
          <a:sx n="64" d="100"/>
          <a:sy n="64" d="100"/>
        </p:scale>
        <p:origin x="1244" y="52"/>
      </p:cViewPr>
      <p:guideLst>
        <p:guide orient="horz" pos="635"/>
        <p:guide pos="336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2026/7/7</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19</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t>Valuation</a:t>
            </a:r>
            <a:r>
              <a:rPr lang="ja-JP" altLang="en-US" dirty="0"/>
              <a:t> </a:t>
            </a:r>
            <a:r>
              <a:rPr lang="en-US" altLang="ja-JP" dirty="0"/>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lang="ja-JP" altLang="en-US" b="1" spc="100" dirty="0">
                <a:latin typeface="+mj-lt"/>
                <a:ea typeface="+mj-ea"/>
              </a:rPr>
              <a:t>株式会社鳥塚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413849" cy="246221"/>
          </a:xfrm>
          <a:prstGeom prst="rect">
            <a:avLst/>
          </a:prstGeom>
          <a:noFill/>
        </p:spPr>
        <p:txBody>
          <a:bodyPr wrap="none" lIns="0" tIns="0" rIns="0" bIns="0" rtlCol="0" anchor="ctr">
            <a:spAutoFit/>
          </a:bodyPr>
          <a:lstStyle/>
          <a:p>
            <a:pPr defTabSz="503972">
              <a:defRPr/>
            </a:pPr>
            <a:r>
              <a:rPr kumimoji="1" lang="en-US" altLang="ja-JP" sz="1600" spc="100" dirty="0"/>
              <a:t>2026</a:t>
            </a:r>
            <a:r>
              <a:rPr kumimoji="1" lang="ja-JP" altLang="en-US" sz="1600" spc="100" dirty="0"/>
              <a:t>年</a:t>
            </a:r>
            <a:r>
              <a:rPr kumimoji="1" lang="en-US" altLang="ja-JP" sz="1600" spc="100" dirty="0"/>
              <a:t>7</a:t>
            </a:r>
            <a:r>
              <a:rPr kumimoji="1" lang="ja-JP" altLang="en-US" sz="1600" spc="100" dirty="0"/>
              <a:t>月</a:t>
            </a:r>
            <a:r>
              <a:rPr kumimoji="1" lang="en-US" altLang="ja-JP" sz="1600" spc="100" dirty="0"/>
              <a:t>8</a:t>
            </a:r>
            <a:r>
              <a:rPr kumimoji="1" lang="ja-JP" altLang="en-US" sz="1600" spc="100" dirty="0"/>
              <a:t>日</a:t>
            </a:r>
            <a:endParaRPr kumimoji="1" lang="en-US" altLang="ja-JP" sz="1600" spc="100" dirty="0"/>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631826034"/>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 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t>M&amp;A</a:t>
            </a:r>
            <a:r>
              <a:rPr lang="ja-JP" altLang="en-US" sz="1200" dirty="0"/>
              <a:t>実行時の譲渡価額（売買取引価額）を保証するものではありません。</a:t>
            </a:r>
          </a:p>
          <a:p>
            <a:pPr>
              <a:spcAft>
                <a:spcPts val="1200"/>
              </a:spcAft>
            </a:pPr>
            <a:r>
              <a:rPr lang="ja-JP" altLang="en-US" sz="1200" dirty="0"/>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における株価は、買主との協議によって決定されるものであり、最終的に本書での評価結果の範囲外に</a:t>
            </a:r>
            <a:br>
              <a:rPr lang="en-US" altLang="ja-JP" dirty="0"/>
            </a:br>
            <a:r>
              <a:rPr lang="ja-JP" altLang="en-US" dirty="0"/>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における株価評価方法は画一的なものはなく、世の中には多数の算出手法が存在します。</a:t>
            </a:r>
            <a:br>
              <a:rPr lang="en-US" altLang="ja-JP" dirty="0"/>
            </a:br>
            <a:r>
              <a:rPr lang="ja-JP" altLang="en-US" dirty="0"/>
              <a:t>本書においては中小企業</a:t>
            </a:r>
            <a:r>
              <a:rPr lang="en-US" altLang="ja-JP" dirty="0"/>
              <a:t>M&amp;A</a:t>
            </a:r>
            <a:r>
              <a:rPr lang="ja-JP" altLang="en-US" dirty="0"/>
              <a:t>において用いられる一般的な評価手法から、貴社の評価に適していると</a:t>
            </a:r>
            <a:br>
              <a:rPr lang="en-US" altLang="ja-JP" dirty="0"/>
            </a:br>
            <a:r>
              <a:rPr lang="ja-JP" altLang="en-US" dirty="0"/>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今後の業績や事業の状態・見通し等の変化によって、株式価値は変動する為、適宜、月次試算表のご提出や、</a:t>
            </a:r>
            <a:br>
              <a:rPr lang="en-US" altLang="ja-JP" dirty="0"/>
            </a:br>
            <a:r>
              <a:rPr lang="ja-JP" altLang="en-US" dirty="0"/>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株価の一部を退職金や配当として受け取る事を希望される場合、当該金額は株価から減算されることが</a:t>
            </a:r>
            <a:br>
              <a:rPr lang="en-US" altLang="ja-JP" dirty="0"/>
            </a:br>
            <a:r>
              <a:rPr lang="ja-JP" altLang="en-US" dirty="0"/>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本書での評価結果を大幅に上回る株価を希望される場合、マッチングが困難になる為、</a:t>
            </a:r>
            <a:br>
              <a:rPr lang="en-US" altLang="ja-JP" dirty="0"/>
            </a:br>
            <a:r>
              <a:rPr lang="ja-JP" altLang="en-US" dirty="0"/>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Summary </a:t>
            </a:r>
            <a:r>
              <a:rPr lang="ja-JP" altLang="en-US" sz="1600" dirty="0"/>
              <a:t>／ </a:t>
            </a:r>
            <a:br>
              <a:rPr lang="en-US" altLang="ja-JP" sz="1800" dirty="0"/>
            </a:br>
            <a:r>
              <a:rPr lang="ja-JP" altLang="en-US" sz="2200" dirty="0"/>
              <a:t>試算結果</a:t>
            </a:r>
            <a:endParaRPr lang="en-US" altLang="ja-JP" sz="2200" dirty="0"/>
          </a:p>
          <a:p>
            <a:pPr>
              <a:spcAft>
                <a:spcPts val="1000"/>
              </a:spcAft>
            </a:pPr>
            <a:r>
              <a:rPr lang="en-US" altLang="ja-JP" sz="1600" dirty="0"/>
              <a:t>Financial Analysis </a:t>
            </a:r>
            <a:r>
              <a:rPr lang="ja-JP" altLang="en-US" sz="1600" dirty="0"/>
              <a:t>／ </a:t>
            </a:r>
            <a:br>
              <a:rPr lang="en-US" altLang="ja-JP" sz="1800" dirty="0"/>
            </a:br>
            <a:r>
              <a:rPr lang="ja-JP" altLang="en-US" dirty="0"/>
              <a:t>財務情報の分析</a:t>
            </a:r>
          </a:p>
          <a:p>
            <a:pPr>
              <a:spcAft>
                <a:spcPts val="1000"/>
              </a:spcAft>
            </a:pPr>
            <a:r>
              <a:rPr lang="en-US" altLang="ja-JP" sz="1600" dirty="0"/>
              <a:t>Valuation Details </a:t>
            </a:r>
            <a:r>
              <a:rPr lang="ja-JP" altLang="en-US" sz="1600" dirty="0"/>
              <a:t>／ </a:t>
            </a:r>
            <a:br>
              <a:rPr lang="en-US" altLang="ja-JP" sz="1800" dirty="0"/>
            </a:br>
            <a:r>
              <a:rPr lang="ja-JP" altLang="en-US" dirty="0"/>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Methodology </a:t>
            </a:r>
            <a:r>
              <a:rPr lang="ja-JP" altLang="en-US" sz="1600" dirty="0"/>
              <a:t>／ </a:t>
            </a:r>
            <a:br>
              <a:rPr lang="en-US" altLang="ja-JP" sz="1800" dirty="0"/>
            </a:br>
            <a:r>
              <a:rPr lang="ja-JP" altLang="en-US" dirty="0"/>
              <a:t>評価手法について</a:t>
            </a:r>
            <a:endParaRPr lang="en-US" altLang="ja-JP" dirty="0"/>
          </a:p>
          <a:p>
            <a:pPr>
              <a:spcAft>
                <a:spcPts val="1000"/>
              </a:spcAft>
            </a:pPr>
            <a:r>
              <a:rPr lang="en-US" altLang="ja-JP" sz="1600" dirty="0"/>
              <a:t>Valuation Concept </a:t>
            </a:r>
            <a:r>
              <a:rPr lang="ja-JP" altLang="en-US" sz="1600" dirty="0"/>
              <a:t>／ </a:t>
            </a:r>
            <a:br>
              <a:rPr lang="en-US" altLang="ja-JP" sz="1800" dirty="0"/>
            </a:br>
            <a:r>
              <a:rPr lang="ja-JP" altLang="en-US" dirty="0"/>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pPr>
            <a:r>
              <a:rPr lang="ja-JP" altLang="en-US" sz="1200" b="1" spc="30">
                <a:solidFill>
                  <a:schemeClr val="tx2"/>
                </a:solidFill>
                <a:latin typeface="+mj-ea"/>
                <a:ea typeface="+mj-ea"/>
              </a:rPr>
              <a:t>最適な評価手法の選定にあたっては、対象会社の性質や評価目的などを踏まえ、総合的に判断する必要があります。</a:t>
            </a:r>
            <a:br>
              <a:rPr lang="en-US" altLang="ja-JP" sz="1200" b="1" spc="30">
                <a:solidFill>
                  <a:schemeClr val="tx2"/>
                </a:solidFill>
                <a:latin typeface="+mj-ea"/>
                <a:ea typeface="+mj-ea"/>
              </a:rPr>
            </a:br>
            <a:r>
              <a:rPr lang="ja-JP" altLang="en-US" sz="1200" b="1" spc="30">
                <a:solidFill>
                  <a:schemeClr val="tx2"/>
                </a:solidFill>
                <a:latin typeface="+mj-ea"/>
                <a:ea typeface="+mj-ea"/>
              </a:rPr>
              <a:t>なお、各手法の概略につきましては、「</a:t>
            </a:r>
            <a:r>
              <a:rPr lang="en-US" altLang="ja-JP" sz="1200" b="1" spc="30">
                <a:solidFill>
                  <a:schemeClr val="tx2"/>
                </a:solidFill>
                <a:latin typeface="+mj-ea"/>
                <a:ea typeface="+mj-ea"/>
              </a:rPr>
              <a:t>Appendix2.</a:t>
            </a:r>
            <a:r>
              <a:rPr lang="ja-JP" altLang="en-US" sz="1200" b="1" spc="30">
                <a:solidFill>
                  <a:schemeClr val="tx2"/>
                </a:solidFill>
                <a:latin typeface="+mj-ea"/>
                <a:ea typeface="+mj-ea"/>
              </a:rPr>
              <a:t>評価手法について」をご確認ください。</a:t>
            </a:r>
            <a:endParaRPr kumimoji="1" lang="ja-JP" altLang="en-US" sz="1200" b="1" spc="30" dirty="0">
              <a:solidFill>
                <a:schemeClr val="tx2"/>
              </a:solidFill>
              <a:latin typeface="+mj-ea"/>
              <a:ea typeface="+mj-ea"/>
            </a:endParaRP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時価純資産に会社の超過収益力である営業権を加算することで</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継続企業価値を算定する手法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実質的な財政状態に加え、経営成績をバランスよく反映させることができる「時価純資産価額法」に「営業権」を加味する手法を採用しました。なお、本手法は、中堅・中小企業の</a:t>
                      </a:r>
                      <a:r>
                        <a:rPr kumimoji="1" lang="en-US" altLang="ja-JP" sz="1000" b="0" kern="1200" dirty="0">
                          <a:solidFill>
                            <a:schemeClr val="dk1"/>
                          </a:solidFill>
                          <a:latin typeface="+mn-ea"/>
                          <a:ea typeface="+mn-ea"/>
                          <a:cs typeface="+mn-cs"/>
                        </a:rPr>
                        <a:t>M&amp;A</a:t>
                      </a:r>
                      <a:r>
                        <a:rPr kumimoji="1" lang="ja-JP" altLang="en-US" sz="1000" b="0" kern="1200" dirty="0">
                          <a:solidFill>
                            <a:schemeClr val="dk1"/>
                          </a:solidFill>
                          <a:latin typeface="+mn-ea"/>
                          <a:ea typeface="+mn-ea"/>
                          <a:cs typeface="+mn-cs"/>
                        </a:rPr>
                        <a:t>での株式評価において、最も広く用いられている手法です。</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規模・業種が類似する企業の株価指標（倍率）をもとに、価値を</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株式市場における客観的な評価尺度である「株価」をベースとし、市場のトレンドを反映できる本手法を採用しました。なお、類似する上場企業の評価倍率を用いることで、第三者からの客観性と納得性が高い評価結果が得られる点が特徴です。</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収益還元法や</a:t>
                      </a:r>
                      <a:r>
                        <a:rPr kumimoji="1" lang="en-US" altLang="ja-JP" sz="1000" b="0" kern="1200" dirty="0">
                          <a:solidFill>
                            <a:schemeClr val="dk1"/>
                          </a:solidFill>
                          <a:latin typeface="+mn-ea"/>
                          <a:ea typeface="+mn-ea"/>
                          <a:cs typeface="+mn-cs"/>
                        </a:rPr>
                        <a:t>DCF</a:t>
                      </a:r>
                      <a:r>
                        <a:rPr kumimoji="1" lang="ja-JP" altLang="en-US" sz="1000" b="0" kern="1200" dirty="0">
                          <a:solidFill>
                            <a:schemeClr val="dk1"/>
                          </a:solidFill>
                          <a:latin typeface="+mn-ea"/>
                          <a:ea typeface="+mn-ea"/>
                          <a:cs typeface="+mn-cs"/>
                        </a:rPr>
                        <a:t>法を適用するには、根拠となる利益やキャッシュフローの計画値が必要となります。現状、詳細な事業計画が存在せず算定が困難であることから、これらの手法は採用しません。</a:t>
                      </a: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配当還元法は、本来、配当獲得を主眼とする少数株主の視点に立った評価手法です。したがって、本件取引の性質上、採用は適切ではないと判断しました。</a:t>
                      </a:r>
                      <a:endParaRPr kumimoji="1" lang="ja-JP" altLang="en-US" sz="1000" b="0" dirty="0">
                        <a:latin typeface="+mn-ea"/>
                        <a:ea typeface="+mn-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51F94532-DA10-FFBE-8C16-C508182360BE}"/>
              </a:ext>
            </a:extLst>
          </p:cNvPr>
          <p:cNvSpPr/>
          <p:nvPr/>
        </p:nvSpPr>
        <p:spPr>
          <a:xfrm>
            <a:off x="449263" y="3257914"/>
            <a:ext cx="82296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株式価値試算結果</a:t>
            </a:r>
          </a:p>
        </p:txBody>
      </p:sp>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lang="ja-JP" altLang="en-US" dirty="0"/>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7" name="正方形/長方形 6">
            <a:extLst>
              <a:ext uri="{FF2B5EF4-FFF2-40B4-BE49-F238E27FC236}">
                <a16:creationId xmlns:a16="http://schemas.microsoft.com/office/drawing/2014/main" id="{600396BE-765E-25EB-B4B0-EC8CCF4E55A6}"/>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試算の前提条件</a:t>
            </a:r>
          </a:p>
        </p:txBody>
      </p:sp>
      <p:graphicFrame>
        <p:nvGraphicFramePr>
          <p:cNvPr id="15" name="表 14">
            <a:extLst>
              <a:ext uri="{FF2B5EF4-FFF2-40B4-BE49-F238E27FC236}">
                <a16:creationId xmlns:a16="http://schemas.microsoft.com/office/drawing/2014/main" id="{8380FA3D-B192-E961-5C06-72E4D8504090}"/>
              </a:ext>
            </a:extLst>
          </p:cNvPr>
          <p:cNvGraphicFramePr>
            <a:graphicFrameLocks noGrp="1"/>
          </p:cNvGraphicFramePr>
          <p:nvPr>
            <p:extLst>
              <p:ext uri="{D42A27DB-BD31-4B8C-83A1-F6EECF244321}">
                <p14:modId xmlns:p14="http://schemas.microsoft.com/office/powerpoint/2010/main" val="3966982875"/>
              </p:ext>
            </p:extLst>
          </p:nvPr>
        </p:nvGraphicFramePr>
        <p:xfrm>
          <a:off x="449263" y="1276419"/>
          <a:ext cx="9792000" cy="162000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2925986688"/>
                    </a:ext>
                  </a:extLst>
                </a:gridCol>
                <a:gridCol w="8712000">
                  <a:extLst>
                    <a:ext uri="{9D8B030D-6E8A-4147-A177-3AD203B41FA5}">
                      <a16:colId xmlns:a16="http://schemas.microsoft.com/office/drawing/2014/main" val="803462936"/>
                    </a:ext>
                  </a:extLst>
                </a:gridCol>
              </a:tblGrid>
              <a:tr h="288000">
                <a:tc>
                  <a:txBody>
                    <a:bodyPr/>
                    <a:lstStyle/>
                    <a:p>
                      <a:pPr algn="l" fontAlgn="ctr">
                        <a:buNone/>
                      </a:pPr>
                      <a:r>
                        <a:rPr lang="ja-JP" altLang="en-US" sz="1200" b="1" u="none" strike="noStrike" spc="50" baseline="0" dirty="0">
                          <a:effectLst/>
                          <a:latin typeface="+mj-lt"/>
                          <a:ea typeface="+mj-ea"/>
                        </a:rPr>
                        <a:t>評価対象</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株式会社鳥塚</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972504"/>
                  </a:ext>
                </a:extLst>
              </a:tr>
              <a:tr h="288000">
                <a:tc>
                  <a:txBody>
                    <a:bodyPr/>
                    <a:lstStyle/>
                    <a:p>
                      <a:pPr algn="l" fontAlgn="ctr">
                        <a:buNone/>
                      </a:pPr>
                      <a:r>
                        <a:rPr lang="ja-JP" altLang="en-US" sz="1200" b="1" u="none" strike="noStrike" spc="50" baseline="0" dirty="0">
                          <a:effectLst/>
                          <a:latin typeface="+mj-lt"/>
                          <a:ea typeface="+mj-ea"/>
                        </a:rPr>
                        <a:t>算定日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sz="1100" b="0" u="none" strike="noStrike" spc="50" baseline="0" dirty="0">
                          <a:effectLst/>
                          <a:latin typeface="+mn-ea"/>
                          <a:ea typeface="+mn-ea"/>
                        </a:rPr>
                        <a:t>2026</a:t>
                      </a:r>
                      <a:r>
                        <a:rPr lang="ja-JP" altLang="en-US" sz="1100" b="0" u="none" strike="noStrike" spc="50" baseline="0" dirty="0">
                          <a:effectLst/>
                          <a:latin typeface="+mn-ea"/>
                          <a:ea typeface="+mn-ea"/>
                        </a:rPr>
                        <a:t>年</a:t>
                      </a:r>
                      <a:r>
                        <a:rPr lang="en-US" altLang="ja-JP" sz="1100" b="0" u="none" strike="noStrike" spc="50" baseline="0" dirty="0">
                          <a:effectLst/>
                          <a:latin typeface="+mn-ea"/>
                          <a:ea typeface="+mn-ea"/>
                        </a:rPr>
                        <a:t>7</a:t>
                      </a:r>
                      <a:r>
                        <a:rPr lang="ja-JP" altLang="en-US" sz="1100" b="0" u="none" strike="noStrike" spc="50" baseline="0" dirty="0">
                          <a:effectLst/>
                          <a:latin typeface="+mn-ea"/>
                          <a:ea typeface="+mn-ea"/>
                        </a:rPr>
                        <a:t>月</a:t>
                      </a:r>
                      <a:r>
                        <a:rPr lang="en-US" sz="1100" b="0" u="none" strike="noStrike" spc="50" baseline="0" dirty="0">
                          <a:effectLst/>
                          <a:latin typeface="+mn-ea"/>
                          <a:ea typeface="+mn-ea"/>
                        </a:rPr>
                        <a:t>7</a:t>
                      </a:r>
                      <a:r>
                        <a:rPr lang="ja-JP" altLang="en-US" sz="1100" b="0" u="none" strike="noStrike" spc="50" baseline="0" dirty="0">
                          <a:effectLst/>
                          <a:latin typeface="+mn-ea"/>
                          <a:ea typeface="+mn-ea"/>
                        </a:rPr>
                        <a:t>日</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7319347"/>
                  </a:ext>
                </a:extLst>
              </a:tr>
              <a:tr h="288000">
                <a:tc>
                  <a:txBody>
                    <a:bodyPr/>
                    <a:lstStyle/>
                    <a:p>
                      <a:pPr algn="l" fontAlgn="ctr">
                        <a:buNone/>
                      </a:pPr>
                      <a:r>
                        <a:rPr lang="ja-JP" altLang="en-US" sz="1200" b="1" u="none" strike="noStrike" spc="50" baseline="0" dirty="0">
                          <a:effectLst/>
                          <a:latin typeface="+mj-lt"/>
                          <a:ea typeface="+mj-ea"/>
                        </a:rPr>
                        <a:t>基準日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2025</a:t>
                      </a:r>
                      <a:r>
                        <a:rPr lang="ja-JP" altLang="en-US" sz="1100" b="0" u="none" strike="noStrike" spc="50" baseline="0" dirty="0">
                          <a:effectLst/>
                          <a:latin typeface="+mn-ea"/>
                          <a:ea typeface="+mn-ea"/>
                        </a:rPr>
                        <a:t>年</a:t>
                      </a:r>
                      <a:r>
                        <a:rPr lang="en-US" altLang="ja-JP" sz="1100" b="0" u="none" strike="noStrike" spc="50" baseline="0" dirty="0">
                          <a:effectLst/>
                          <a:latin typeface="+mn-ea"/>
                          <a:ea typeface="+mn-ea"/>
                        </a:rPr>
                        <a:t>9</a:t>
                      </a:r>
                      <a:r>
                        <a:rPr lang="ja-JP" altLang="en-US" sz="1100" b="0" u="none" strike="noStrike" spc="50" baseline="0" dirty="0">
                          <a:effectLst/>
                          <a:latin typeface="+mn-ea"/>
                          <a:ea typeface="+mn-ea"/>
                        </a:rPr>
                        <a:t>月期（貸借対照表の基準日）</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7021639"/>
                  </a:ext>
                </a:extLst>
              </a:tr>
              <a:tr h="288000">
                <a:tc>
                  <a:txBody>
                    <a:bodyPr/>
                    <a:lstStyle/>
                    <a:p>
                      <a:pPr algn="l" fontAlgn="ctr">
                        <a:buNone/>
                      </a:pPr>
                      <a:r>
                        <a:rPr lang="ja-JP" altLang="en-US" sz="1200" b="1" i="0" u="none" strike="noStrike" spc="50" baseline="0" dirty="0">
                          <a:solidFill>
                            <a:srgbClr val="000000"/>
                          </a:solidFill>
                          <a:effectLst/>
                          <a:latin typeface="+mj-lt"/>
                          <a:ea typeface="+mj-ea"/>
                        </a:rPr>
                        <a:t>参照期間</a:t>
                      </a: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2023</a:t>
                      </a:r>
                      <a:r>
                        <a:rPr lang="ja-JP" altLang="en-US" sz="1100" b="0" u="none" strike="noStrike" spc="50" baseline="0" dirty="0">
                          <a:effectLst/>
                          <a:latin typeface="+mn-ea"/>
                          <a:ea typeface="+mn-ea"/>
                        </a:rPr>
                        <a:t>年</a:t>
                      </a:r>
                      <a:r>
                        <a:rPr lang="en-US" altLang="ja-JP" sz="1100" b="0" u="none" strike="noStrike" spc="50" baseline="0" dirty="0">
                          <a:effectLst/>
                          <a:latin typeface="+mn-ea"/>
                          <a:ea typeface="+mn-ea"/>
                        </a:rPr>
                        <a:t>9</a:t>
                      </a:r>
                      <a:r>
                        <a:rPr lang="ja-JP" altLang="en-US" sz="1100" b="0" u="none" strike="noStrike" spc="50" baseline="0" dirty="0">
                          <a:effectLst/>
                          <a:latin typeface="+mn-ea"/>
                          <a:ea typeface="+mn-ea"/>
                        </a:rPr>
                        <a:t>月期～</a:t>
                      </a:r>
                      <a:r>
                        <a:rPr lang="en-US" altLang="ja-JP" sz="1100" b="0" u="none" strike="noStrike" spc="50" baseline="0" dirty="0">
                          <a:effectLst/>
                          <a:latin typeface="+mn-ea"/>
                          <a:ea typeface="+mn-ea"/>
                        </a:rPr>
                        <a:t>2025</a:t>
                      </a:r>
                      <a:r>
                        <a:rPr lang="ja-JP" altLang="en-US" sz="1100" b="0" u="none" strike="noStrike" spc="50" baseline="0" dirty="0">
                          <a:effectLst/>
                          <a:latin typeface="+mn-ea"/>
                          <a:ea typeface="+mn-ea"/>
                        </a:rPr>
                        <a:t>年</a:t>
                      </a:r>
                      <a:r>
                        <a:rPr lang="en-US" altLang="ja-JP" sz="1100" b="0" u="none" strike="noStrike" spc="50" baseline="0" dirty="0">
                          <a:effectLst/>
                          <a:latin typeface="+mn-ea"/>
                          <a:ea typeface="+mn-ea"/>
                        </a:rPr>
                        <a:t>9</a:t>
                      </a:r>
                      <a:r>
                        <a:rPr lang="ja-JP" altLang="en-US" sz="1100" b="0" u="none" strike="noStrike" spc="50" baseline="0" dirty="0">
                          <a:effectLst/>
                          <a:latin typeface="+mn-ea"/>
                          <a:ea typeface="+mn-ea"/>
                        </a:rPr>
                        <a:t>月期（損益計算書の参照期間）</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669453"/>
                  </a:ext>
                </a:extLst>
              </a:tr>
              <a:tr h="468000">
                <a:tc>
                  <a:txBody>
                    <a:bodyPr/>
                    <a:lstStyle/>
                    <a:p>
                      <a:pPr algn="l" fontAlgn="ctr">
                        <a:buNone/>
                      </a:pPr>
                      <a:r>
                        <a:rPr lang="ja-JP" altLang="en-US" sz="1200" b="1" u="none" strike="noStrike" spc="50" baseline="0" dirty="0">
                          <a:effectLst/>
                          <a:latin typeface="+mj-lt"/>
                          <a:ea typeface="+mj-ea"/>
                        </a:rPr>
                        <a:t>目的</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対象会社の過半数の株式を第三者間で売買取引・</a:t>
                      </a:r>
                      <a:r>
                        <a:rPr lang="en-US" altLang="ja-JP" sz="1100" b="0" u="none" strike="noStrike" spc="50" baseline="0" dirty="0">
                          <a:effectLst/>
                          <a:latin typeface="+mn-ea"/>
                          <a:ea typeface="+mn-ea"/>
                        </a:rPr>
                        <a:t>M&amp;A</a:t>
                      </a:r>
                      <a:r>
                        <a:rPr lang="ja-JP" altLang="en-US" sz="1100" b="0" u="none" strike="noStrike" spc="50" baseline="0" dirty="0">
                          <a:effectLst/>
                          <a:latin typeface="+mn-ea"/>
                          <a:ea typeface="+mn-ea"/>
                        </a:rPr>
                        <a:t>する場合（「本件取引」 といいます）の譲渡価額決定の参考資料とする</a:t>
                      </a:r>
                      <a:br>
                        <a:rPr lang="en-US" altLang="ja-JP" sz="1100" b="0" u="none" strike="noStrike" spc="50" baseline="0" dirty="0">
                          <a:effectLst/>
                          <a:latin typeface="+mn-ea"/>
                          <a:ea typeface="+mn-ea"/>
                        </a:rPr>
                      </a:br>
                      <a:r>
                        <a:rPr lang="ja-JP" altLang="en-US" sz="1100" b="0" u="none" strike="noStrike" spc="50" baseline="0" dirty="0">
                          <a:effectLst/>
                          <a:latin typeface="+mn-ea"/>
                          <a:ea typeface="+mn-ea"/>
                        </a:rPr>
                        <a:t>こと（「本件試算目的」 といいます）を目的に本株式価値試算報告書は作成されております。</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865392"/>
                  </a:ext>
                </a:extLst>
              </a:tr>
            </a:tbl>
          </a:graphicData>
        </a:graphic>
      </p:graphicFrame>
      <p:sp>
        <p:nvSpPr>
          <p:cNvPr id="13" name="テキスト ボックス 12">
            <a:extLst>
              <a:ext uri="{FF2B5EF4-FFF2-40B4-BE49-F238E27FC236}">
                <a16:creationId xmlns:a16="http://schemas.microsoft.com/office/drawing/2014/main" id="{4DA9828D-AE4F-DE9E-A514-7657576FA044}"/>
              </a:ext>
            </a:extLst>
          </p:cNvPr>
          <p:cNvSpPr txBox="1"/>
          <p:nvPr/>
        </p:nvSpPr>
        <p:spPr>
          <a:xfrm>
            <a:off x="449263" y="3643540"/>
            <a:ext cx="2182008"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コストアプローチ（年買法）</a:t>
            </a:r>
            <a:endParaRPr lang="zh-TW" altLang="en-US" sz="1200" b="1" dirty="0">
              <a:latin typeface="+mj-ea"/>
              <a:ea typeface="+mj-ea"/>
            </a:endParaRPr>
          </a:p>
        </p:txBody>
      </p:sp>
      <p:sp>
        <p:nvSpPr>
          <p:cNvPr id="14" name="テキスト ボックス 13">
            <a:extLst>
              <a:ext uri="{FF2B5EF4-FFF2-40B4-BE49-F238E27FC236}">
                <a16:creationId xmlns:a16="http://schemas.microsoft.com/office/drawing/2014/main" id="{0571F37E-300F-5933-03E4-F551A36628E1}"/>
              </a:ext>
            </a:extLst>
          </p:cNvPr>
          <p:cNvSpPr txBox="1"/>
          <p:nvPr/>
        </p:nvSpPr>
        <p:spPr>
          <a:xfrm>
            <a:off x="449263" y="4632086"/>
            <a:ext cx="3817071"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マーケットアプローチ（</a:t>
            </a:r>
            <a:r>
              <a:rPr lang="en-US" altLang="ja-JP" sz="1200" b="1" dirty="0">
                <a:latin typeface="+mj-ea"/>
                <a:ea typeface="+mj-ea"/>
              </a:rPr>
              <a:t>EV/EBITDA</a:t>
            </a:r>
            <a:r>
              <a:rPr lang="ja-JP" altLang="en-US" sz="1200" b="1" dirty="0">
                <a:latin typeface="+mj-ea"/>
                <a:ea typeface="+mj-ea"/>
              </a:rPr>
              <a:t>マルチプル法）</a:t>
            </a:r>
          </a:p>
        </p:txBody>
      </p:sp>
      <p:sp>
        <p:nvSpPr>
          <p:cNvPr id="16" name="テキスト ボックス 15">
            <a:extLst>
              <a:ext uri="{FF2B5EF4-FFF2-40B4-BE49-F238E27FC236}">
                <a16:creationId xmlns:a16="http://schemas.microsoft.com/office/drawing/2014/main" id="{D184A0B6-D006-557B-7A6C-DB0A24D85D2B}"/>
              </a:ext>
            </a:extLst>
          </p:cNvPr>
          <p:cNvSpPr txBox="1"/>
          <p:nvPr/>
        </p:nvSpPr>
        <p:spPr>
          <a:xfrm>
            <a:off x="449263" y="5629322"/>
            <a:ext cx="2355132"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インカムアプローチ（</a:t>
            </a:r>
            <a:r>
              <a:rPr lang="en-US" altLang="ja-JP" sz="1200" b="1" dirty="0">
                <a:latin typeface="+mj-ea"/>
                <a:ea typeface="+mj-ea"/>
              </a:rPr>
              <a:t>DCF</a:t>
            </a:r>
            <a:r>
              <a:rPr lang="ja-JP" altLang="en-US" sz="1200" b="1" dirty="0">
                <a:latin typeface="+mj-ea"/>
                <a:ea typeface="+mj-ea"/>
              </a:rPr>
              <a:t>法）</a:t>
            </a:r>
            <a:endParaRPr lang="en-US" altLang="ja-JP" sz="1200" b="1" dirty="0">
              <a:latin typeface="+mj-ea"/>
              <a:ea typeface="+mj-ea"/>
            </a:endParaRPr>
          </a:p>
        </p:txBody>
      </p:sp>
      <p:sp>
        <p:nvSpPr>
          <p:cNvPr id="30" name="フローチャート: 処理 29">
            <a:extLst>
              <a:ext uri="{FF2B5EF4-FFF2-40B4-BE49-F238E27FC236}">
                <a16:creationId xmlns:a16="http://schemas.microsoft.com/office/drawing/2014/main" id="{AC729EB1-0964-BC40-F3C1-457DAE613AA5}"/>
              </a:ext>
            </a:extLst>
          </p:cNvPr>
          <p:cNvSpPr/>
          <p:nvPr/>
        </p:nvSpPr>
        <p:spPr>
          <a:xfrm>
            <a:off x="449263" y="3964277"/>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△31,965</a:t>
            </a:r>
            <a:r>
              <a:rPr kumimoji="1" lang="ja-JP" altLang="en-US" sz="2000" b="1" dirty="0">
                <a:solidFill>
                  <a:schemeClr val="tx1"/>
                </a:solidFill>
                <a:latin typeface="+mj-lt"/>
                <a:ea typeface="+mj-ea"/>
              </a:rPr>
              <a:t> ～ </a:t>
            </a:r>
            <a:r>
              <a:rPr kumimoji="1" lang="en-US" altLang="ja-JP" sz="2000" b="1" dirty="0">
                <a:solidFill>
                  <a:schemeClr val="tx1"/>
                </a:solidFill>
                <a:latin typeface="+mj-lt"/>
                <a:ea typeface="+mj-ea"/>
              </a:rPr>
              <a:t>△26,384</a:t>
            </a:r>
            <a:r>
              <a:rPr kumimoji="1" lang="ja-JP" altLang="en-US" sz="1400" b="1" dirty="0">
                <a:solidFill>
                  <a:schemeClr val="tx1"/>
                </a:solidFill>
                <a:latin typeface="+mj-lt"/>
                <a:ea typeface="+mj-ea"/>
              </a:rPr>
              <a:t>（千円）</a:t>
            </a:r>
          </a:p>
        </p:txBody>
      </p:sp>
      <p:sp>
        <p:nvSpPr>
          <p:cNvPr id="31" name="正方形/長方形 30">
            <a:extLst>
              <a:ext uri="{FF2B5EF4-FFF2-40B4-BE49-F238E27FC236}">
                <a16:creationId xmlns:a16="http://schemas.microsoft.com/office/drawing/2014/main" id="{C1D83875-1354-478D-3F35-D7D444FAAA33}"/>
              </a:ext>
            </a:extLst>
          </p:cNvPr>
          <p:cNvSpPr/>
          <p:nvPr/>
        </p:nvSpPr>
        <p:spPr>
          <a:xfrm>
            <a:off x="449263" y="3964277"/>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6" name="正方形/長方形 5">
            <a:extLst>
              <a:ext uri="{FF2B5EF4-FFF2-40B4-BE49-F238E27FC236}">
                <a16:creationId xmlns:a16="http://schemas.microsoft.com/office/drawing/2014/main" id="{17A298AC-04B9-69B2-3669-CBEBBB69DC3B}"/>
              </a:ext>
            </a:extLst>
          </p:cNvPr>
          <p:cNvSpPr/>
          <p:nvPr/>
        </p:nvSpPr>
        <p:spPr>
          <a:xfrm>
            <a:off x="449263" y="5918514"/>
            <a:ext cx="9901235"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a:t>
            </a:r>
            <a:r>
              <a:rPr kumimoji="1" lang="ja-JP" altLang="en-US" sz="1200" b="1" spc="50" dirty="0">
                <a:solidFill>
                  <a:schemeClr val="tx1"/>
                </a:solidFill>
                <a:latin typeface="+mj-ea"/>
                <a:ea typeface="+mj-ea"/>
              </a:rPr>
              <a:t>不採用</a:t>
            </a:r>
            <a:r>
              <a:rPr kumimoji="1" lang="en-US" altLang="ja-JP" sz="1200" b="1" spc="50" dirty="0">
                <a:solidFill>
                  <a:schemeClr val="tx1"/>
                </a:solidFill>
                <a:latin typeface="+mj-ea"/>
                <a:ea typeface="+mj-ea"/>
              </a:rPr>
              <a:t>※※※※※</a:t>
            </a:r>
            <a:endParaRPr kumimoji="1" lang="ja-JP" altLang="en-US" sz="1200" b="1" spc="50" dirty="0">
              <a:solidFill>
                <a:schemeClr val="tx1"/>
              </a:solidFill>
              <a:latin typeface="+mj-ea"/>
              <a:ea typeface="+mj-ea"/>
            </a:endParaRPr>
          </a:p>
        </p:txBody>
      </p:sp>
      <p:sp>
        <p:nvSpPr>
          <p:cNvPr id="34" name="テキスト ボックス 33">
            <a:extLst>
              <a:ext uri="{FF2B5EF4-FFF2-40B4-BE49-F238E27FC236}">
                <a16:creationId xmlns:a16="http://schemas.microsoft.com/office/drawing/2014/main" id="{72CDD6C7-EAB4-9143-0AA5-D2C037712831}"/>
              </a:ext>
            </a:extLst>
          </p:cNvPr>
          <p:cNvSpPr txBox="1"/>
          <p:nvPr/>
        </p:nvSpPr>
        <p:spPr>
          <a:xfrm>
            <a:off x="9632353" y="3472169"/>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4" name="フローチャート: 処理 3">
            <a:extLst>
              <a:ext uri="{FF2B5EF4-FFF2-40B4-BE49-F238E27FC236}">
                <a16:creationId xmlns:a16="http://schemas.microsoft.com/office/drawing/2014/main" id="{31BA7B52-DE7E-53D3-E9FA-1E37D575B554}"/>
              </a:ext>
            </a:extLst>
          </p:cNvPr>
          <p:cNvSpPr/>
          <p:nvPr/>
        </p:nvSpPr>
        <p:spPr>
          <a:xfrm>
            <a:off x="449263" y="5009389"/>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△204,876</a:t>
            </a:r>
            <a:r>
              <a:rPr kumimoji="1" lang="ja-JP" altLang="en-US" sz="2000" b="1" dirty="0">
                <a:solidFill>
                  <a:schemeClr val="tx1"/>
                </a:solidFill>
                <a:latin typeface="+mj-lt"/>
                <a:ea typeface="+mj-ea"/>
              </a:rPr>
              <a:t> ～ △</a:t>
            </a:r>
            <a:r>
              <a:rPr kumimoji="1" lang="en-US" altLang="ja-JP" sz="2000" b="1" dirty="0">
                <a:solidFill>
                  <a:schemeClr val="tx1"/>
                </a:solidFill>
                <a:latin typeface="+mj-lt"/>
                <a:ea typeface="+mj-ea"/>
              </a:rPr>
              <a:t>203,804</a:t>
            </a:r>
            <a:r>
              <a:rPr kumimoji="1" lang="ja-JP" altLang="en-US" sz="1400" b="1" dirty="0">
                <a:solidFill>
                  <a:schemeClr val="tx1"/>
                </a:solidFill>
                <a:latin typeface="+mj-lt"/>
                <a:ea typeface="+mj-ea"/>
              </a:rPr>
              <a:t>（千円）</a:t>
            </a:r>
          </a:p>
        </p:txBody>
      </p:sp>
      <p:sp>
        <p:nvSpPr>
          <p:cNvPr id="3" name="正方形/長方形 2">
            <a:extLst>
              <a:ext uri="{FF2B5EF4-FFF2-40B4-BE49-F238E27FC236}">
                <a16:creationId xmlns:a16="http://schemas.microsoft.com/office/drawing/2014/main" id="{667841E7-61E2-BA67-43F8-6C81A4DEC72B}"/>
              </a:ext>
            </a:extLst>
          </p:cNvPr>
          <p:cNvSpPr/>
          <p:nvPr/>
        </p:nvSpPr>
        <p:spPr>
          <a:xfrm>
            <a:off x="449263" y="5009389"/>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lang="ja-JP" altLang="en-US" dirty="0"/>
              <a:t>過去</a:t>
            </a:r>
            <a:r>
              <a:rPr lang="en-US" altLang="ja-JP" dirty="0"/>
              <a:t>BS</a:t>
            </a:r>
            <a:r>
              <a:rPr lang="ja-JP" altLang="en-US" dirty="0"/>
              <a:t>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3" name="表 2">
            <a:extLst>
              <a:ext uri="{FF2B5EF4-FFF2-40B4-BE49-F238E27FC236}">
                <a16:creationId xmlns:a16="http://schemas.microsoft.com/office/drawing/2014/main" id="{9058A3E2-A4D0-CB71-8DA3-534867E373FE}"/>
              </a:ext>
            </a:extLst>
          </p:cNvPr>
          <p:cNvGraphicFramePr>
            <a:graphicFrameLocks noGrp="1"/>
          </p:cNvGraphicFramePr>
          <p:nvPr>
            <p:extLst>
              <p:ext uri="{D42A27DB-BD31-4B8C-83A1-F6EECF244321}">
                <p14:modId xmlns:p14="http://schemas.microsoft.com/office/powerpoint/2010/main" val="1617001171"/>
              </p:ext>
            </p:extLst>
          </p:nvPr>
        </p:nvGraphicFramePr>
        <p:xfrm>
          <a:off x="341312" y="982456"/>
          <a:ext cx="5003801" cy="5850223"/>
        </p:xfrm>
        <a:graphic>
          <a:graphicData uri="http://schemas.openxmlformats.org/drawingml/2006/table">
            <a:tbl>
              <a:tblPr/>
              <a:tblGrid>
                <a:gridCol w="1511941">
                  <a:extLst>
                    <a:ext uri="{9D8B030D-6E8A-4147-A177-3AD203B41FA5}">
                      <a16:colId xmlns:a16="http://schemas.microsoft.com/office/drawing/2014/main" val="822254377"/>
                    </a:ext>
                  </a:extLst>
                </a:gridCol>
                <a:gridCol w="872965">
                  <a:extLst>
                    <a:ext uri="{9D8B030D-6E8A-4147-A177-3AD203B41FA5}">
                      <a16:colId xmlns:a16="http://schemas.microsoft.com/office/drawing/2014/main" val="3061090460"/>
                    </a:ext>
                  </a:extLst>
                </a:gridCol>
                <a:gridCol w="872965">
                  <a:extLst>
                    <a:ext uri="{9D8B030D-6E8A-4147-A177-3AD203B41FA5}">
                      <a16:colId xmlns:a16="http://schemas.microsoft.com/office/drawing/2014/main" val="2032412681"/>
                    </a:ext>
                  </a:extLst>
                </a:gridCol>
                <a:gridCol w="872965">
                  <a:extLst>
                    <a:ext uri="{9D8B030D-6E8A-4147-A177-3AD203B41FA5}">
                      <a16:colId xmlns:a16="http://schemas.microsoft.com/office/drawing/2014/main" val="1235492032"/>
                    </a:ext>
                  </a:extLst>
                </a:gridCol>
                <a:gridCol w="872965">
                  <a:extLst>
                    <a:ext uri="{9D8B030D-6E8A-4147-A177-3AD203B41FA5}">
                      <a16:colId xmlns:a16="http://schemas.microsoft.com/office/drawing/2014/main" val="914131370"/>
                    </a:ext>
                  </a:extLst>
                </a:gridCol>
              </a:tblGrid>
              <a:tr h="182436">
                <a:tc gridSpan="5">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23年9月期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24年9月期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25年9月期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26年4月</a:t>
                      </a:r>
                      <a:br>
                        <a:rPr lang="ja-JP" sz="900" b="1" i="0" u="none" strike="noStrike">
                          <a:solidFill>
                            <a:srgbClr val="FFFFFF"/>
                          </a:solidFill>
                          <a:effectLst/>
                          <a:latin typeface="游ゴシック" panose="020B0400000000000000" pitchFamily="50" charset="-128"/>
                          <a:ea typeface="游ゴシック" panose="020B0400000000000000" pitchFamily="50" charset="-128"/>
                        </a:rPr>
                      </a:br>
                      <a:r>
                        <a:rPr lang="ja-JP" sz="900" b="1" i="0" u="none" strike="noStrike">
                          <a:solidFill>
                            <a:srgbClr val="FFFFFF"/>
                          </a:solidFill>
                          <a:effectLst/>
                          <a:latin typeface="游ゴシック" panose="020B0400000000000000" pitchFamily="50" charset="-128"/>
                          <a:ea typeface="游ゴシック" panose="020B0400000000000000" pitchFamily="50" charset="-128"/>
                        </a:rPr>
                        <a:t>（7か月TB）</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727F88"/>
                    </a:solidFill>
                  </a:tcPr>
                </a:tc>
                <a:extLst>
                  <a:ext uri="{0D108BD9-81ED-4DB2-BD59-A6C34878D82A}">
                    <a16:rowId xmlns:a16="http://schemas.microsoft.com/office/drawing/2014/main" val="1002658859"/>
                  </a:ext>
                </a:extLst>
              </a:tr>
              <a:tr h="14582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167,593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177,791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100,792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143,938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125,086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124,040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36,533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106352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17,391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23,395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21,436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67,269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05089387"/>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04033687"/>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17,376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27,123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27,123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12478849"/>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4,669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51683880"/>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短期貸付金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526035"/>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80026727"/>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897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868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303807046"/>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94337555"/>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6951169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リサイクル料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64505296"/>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仮払消費税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1,869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9,958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40912891"/>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99140053"/>
                  </a:ext>
                </a:extLst>
              </a:tr>
              <a:tr h="14582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159,124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147,386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148,242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148,277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86111338"/>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95922"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85,341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83,273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80,885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81,336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695067386"/>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9,194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5,687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5,687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138944392"/>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6512218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構築物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2968762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機械装置</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32875308"/>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585127441"/>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2,038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76332680"/>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構築物附属設備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454150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一括償却資産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944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1,166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75395741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土地</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70,784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70,784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70,784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70,784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90164116"/>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減価償却累計額</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30437249"/>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95922"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82662436"/>
                  </a:ext>
                </a:extLst>
              </a:tr>
              <a:tr h="1435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借地権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945650068"/>
                  </a:ext>
                </a:extLst>
              </a:tr>
              <a:tr h="1435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50,683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41,013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44,257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43,842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58332921"/>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518354527"/>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06996761"/>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3648293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766006348"/>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漁業経営積立金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1,238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3,607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6598641"/>
                  </a:ext>
                </a:extLst>
              </a:tr>
              <a:tr h="14582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extLst>
                  <a:ext uri="{0D108BD9-81ED-4DB2-BD59-A6C34878D82A}">
                    <a16:rowId xmlns:a16="http://schemas.microsoft.com/office/drawing/2014/main" val="498392017"/>
                  </a:ext>
                </a:extLst>
              </a:tr>
              <a:tr h="14582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326,717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325,177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249,033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292,216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2672031112"/>
                  </a:ext>
                </a:extLst>
              </a:tr>
            </a:tbl>
          </a:graphicData>
        </a:graphic>
      </p:graphicFrame>
      <p:graphicFrame>
        <p:nvGraphicFramePr>
          <p:cNvPr id="6" name="表 5">
            <a:extLst>
              <a:ext uri="{FF2B5EF4-FFF2-40B4-BE49-F238E27FC236}">
                <a16:creationId xmlns:a16="http://schemas.microsoft.com/office/drawing/2014/main" id="{FA894D48-DD3C-65D9-C625-4EB31EFC08F2}"/>
              </a:ext>
            </a:extLst>
          </p:cNvPr>
          <p:cNvGraphicFramePr>
            <a:graphicFrameLocks noGrp="1"/>
          </p:cNvGraphicFramePr>
          <p:nvPr>
            <p:extLst>
              <p:ext uri="{D42A27DB-BD31-4B8C-83A1-F6EECF244321}">
                <p14:modId xmlns:p14="http://schemas.microsoft.com/office/powerpoint/2010/main" val="2945544605"/>
              </p:ext>
            </p:extLst>
          </p:nvPr>
        </p:nvGraphicFramePr>
        <p:xfrm>
          <a:off x="5345113" y="982459"/>
          <a:ext cx="5005387" cy="2208878"/>
        </p:xfrm>
        <a:graphic>
          <a:graphicData uri="http://schemas.openxmlformats.org/drawingml/2006/table">
            <a:tbl>
              <a:tblPr/>
              <a:tblGrid>
                <a:gridCol w="1512419">
                  <a:extLst>
                    <a:ext uri="{9D8B030D-6E8A-4147-A177-3AD203B41FA5}">
                      <a16:colId xmlns:a16="http://schemas.microsoft.com/office/drawing/2014/main" val="140435893"/>
                    </a:ext>
                  </a:extLst>
                </a:gridCol>
                <a:gridCol w="873242">
                  <a:extLst>
                    <a:ext uri="{9D8B030D-6E8A-4147-A177-3AD203B41FA5}">
                      <a16:colId xmlns:a16="http://schemas.microsoft.com/office/drawing/2014/main" val="1469753659"/>
                    </a:ext>
                  </a:extLst>
                </a:gridCol>
                <a:gridCol w="873242">
                  <a:extLst>
                    <a:ext uri="{9D8B030D-6E8A-4147-A177-3AD203B41FA5}">
                      <a16:colId xmlns:a16="http://schemas.microsoft.com/office/drawing/2014/main" val="80575429"/>
                    </a:ext>
                  </a:extLst>
                </a:gridCol>
                <a:gridCol w="873242">
                  <a:extLst>
                    <a:ext uri="{9D8B030D-6E8A-4147-A177-3AD203B41FA5}">
                      <a16:colId xmlns:a16="http://schemas.microsoft.com/office/drawing/2014/main" val="2683263371"/>
                    </a:ext>
                  </a:extLst>
                </a:gridCol>
                <a:gridCol w="873242">
                  <a:extLst>
                    <a:ext uri="{9D8B030D-6E8A-4147-A177-3AD203B41FA5}">
                      <a16:colId xmlns:a16="http://schemas.microsoft.com/office/drawing/2014/main" val="2369272048"/>
                    </a:ext>
                  </a:extLst>
                </a:gridCol>
              </a:tblGrid>
              <a:tr h="182052">
                <a:tc gridSpan="5">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6985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23年9月期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24年9月期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25年9月期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26年4月</a:t>
                      </a:r>
                      <a:br>
                        <a:rPr lang="ja-JP" sz="900" b="1" i="0" u="none" strike="noStrike">
                          <a:solidFill>
                            <a:srgbClr val="FFFFFF"/>
                          </a:solidFill>
                          <a:effectLst/>
                          <a:latin typeface="游ゴシック" panose="020B0400000000000000" pitchFamily="50" charset="-128"/>
                          <a:ea typeface="游ゴシック" panose="020B0400000000000000" pitchFamily="50" charset="-128"/>
                        </a:rPr>
                      </a:br>
                      <a:r>
                        <a:rPr lang="ja-JP" sz="900" b="1" i="0" u="none" strike="noStrike">
                          <a:solidFill>
                            <a:srgbClr val="FFFFFF"/>
                          </a:solidFill>
                          <a:effectLst/>
                          <a:latin typeface="游ゴシック" panose="020B0400000000000000" pitchFamily="50" charset="-128"/>
                          <a:ea typeface="游ゴシック" panose="020B0400000000000000" pitchFamily="50" charset="-128"/>
                        </a:rPr>
                        <a:t>（7か月TB）</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727F88"/>
                    </a:solidFill>
                  </a:tcPr>
                </a:tc>
                <a:extLst>
                  <a:ext uri="{0D108BD9-81ED-4DB2-BD59-A6C34878D82A}">
                    <a16:rowId xmlns:a16="http://schemas.microsoft.com/office/drawing/2014/main" val="3028628170"/>
                  </a:ext>
                </a:extLst>
              </a:tr>
              <a:tr h="145513">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34,003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28,825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26,220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124,485</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45513">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3,080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5,550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12,768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45513">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85,000</a:t>
                      </a:r>
                    </a:p>
                  </a:txBody>
                  <a:tcPr marL="6350" marR="114300" marT="6350" marB="0" anchor="ctr">
                    <a:lnL>
                      <a:noFill/>
                    </a:lnL>
                    <a:lnR>
                      <a:noFill/>
                    </a:lnR>
                    <a:lnT>
                      <a:noFill/>
                    </a:lnT>
                    <a:lnB>
                      <a:noFill/>
                    </a:lnB>
                    <a:noFill/>
                  </a:tcPr>
                </a:tc>
                <a:extLst>
                  <a:ext uri="{0D108BD9-81ED-4DB2-BD59-A6C34878D82A}">
                    <a16:rowId xmlns:a16="http://schemas.microsoft.com/office/drawing/2014/main" val="3742922775"/>
                  </a:ext>
                </a:extLst>
              </a:tr>
              <a:tr h="145513">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27,101</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21,943</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20,071</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17,200</a:t>
                      </a:r>
                    </a:p>
                  </a:txBody>
                  <a:tcPr marL="6350" marR="114300" marT="6350" marB="0" anchor="ctr">
                    <a:lnL>
                      <a:noFill/>
                    </a:lnL>
                    <a:lnR>
                      <a:noFill/>
                    </a:lnR>
                    <a:lnT>
                      <a:noFill/>
                    </a:lnT>
                    <a:lnB>
                      <a:noFill/>
                    </a:lnB>
                    <a:noFill/>
                  </a:tcPr>
                </a:tc>
                <a:extLst>
                  <a:ext uri="{0D108BD9-81ED-4DB2-BD59-A6C34878D82A}">
                    <a16:rowId xmlns:a16="http://schemas.microsoft.com/office/drawing/2014/main" val="2968694873"/>
                  </a:ext>
                </a:extLst>
              </a:tr>
              <a:tr h="145513">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法人税等充当金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extLst>
                  <a:ext uri="{0D108BD9-81ED-4DB2-BD59-A6C34878D82A}">
                    <a16:rowId xmlns:a16="http://schemas.microsoft.com/office/drawing/2014/main" val="891374569"/>
                  </a:ext>
                </a:extLst>
              </a:tr>
              <a:tr h="145513">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174</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254</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169</a:t>
                      </a:r>
                    </a:p>
                  </a:txBody>
                  <a:tcPr marL="6350" marR="114300" marT="6350" marB="0" anchor="ctr">
                    <a:lnL>
                      <a:noFill/>
                    </a:lnL>
                    <a:lnR>
                      <a:noFill/>
                    </a:lnR>
                    <a:lnT>
                      <a:noFill/>
                    </a:lnT>
                    <a:lnB>
                      <a:noFill/>
                    </a:lnB>
                    <a:noFill/>
                  </a:tcPr>
                </a:tc>
                <a:extLst>
                  <a:ext uri="{0D108BD9-81ED-4DB2-BD59-A6C34878D82A}">
                    <a16:rowId xmlns:a16="http://schemas.microsoft.com/office/drawing/2014/main" val="4061010043"/>
                  </a:ext>
                </a:extLst>
              </a:tr>
              <a:tr h="145513">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3,531</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1,183</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9,348</a:t>
                      </a:r>
                    </a:p>
                  </a:txBody>
                  <a:tcPr marL="6350" marR="114300" marT="6350" marB="0" anchor="ctr">
                    <a:lnL>
                      <a:noFill/>
                    </a:lnL>
                    <a:lnR>
                      <a:noFill/>
                    </a:lnR>
                    <a:lnT>
                      <a:noFill/>
                    </a:lnT>
                    <a:lnB>
                      <a:noFill/>
                    </a:lnB>
                    <a:noFill/>
                  </a:tcPr>
                </a:tc>
                <a:extLst>
                  <a:ext uri="{0D108BD9-81ED-4DB2-BD59-A6C34878D82A}">
                    <a16:rowId xmlns:a16="http://schemas.microsoft.com/office/drawing/2014/main" val="2891982264"/>
                  </a:ext>
                </a:extLst>
              </a:tr>
              <a:tr h="145513">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273</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extLst>
                  <a:ext uri="{0D108BD9-81ED-4DB2-BD59-A6C34878D82A}">
                    <a16:rowId xmlns:a16="http://schemas.microsoft.com/office/drawing/2014/main" val="2205375219"/>
                  </a:ext>
                </a:extLst>
              </a:tr>
              <a:tr h="145513">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340,283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300,542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243,725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238,187</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83488455"/>
                  </a:ext>
                </a:extLst>
              </a:tr>
              <a:tr h="145513">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282,783</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269,242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212,425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206,887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536435474"/>
                  </a:ext>
                </a:extLst>
              </a:tr>
              <a:tr h="145513">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個人借入金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57,500</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31,300</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31,300</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31,300</a:t>
                      </a:r>
                    </a:p>
                  </a:txBody>
                  <a:tcPr marL="6350" marR="114300" marT="6350" marB="0" anchor="ctr">
                    <a:lnL>
                      <a:noFill/>
                    </a:lnL>
                    <a:lnR>
                      <a:noFill/>
                    </a:lnR>
                    <a:lnT>
                      <a:noFill/>
                    </a:lnT>
                    <a:lnB>
                      <a:noFill/>
                    </a:lnB>
                    <a:noFill/>
                  </a:tcPr>
                </a:tc>
                <a:extLst>
                  <a:ext uri="{0D108BD9-81ED-4DB2-BD59-A6C34878D82A}">
                    <a16:rowId xmlns:a16="http://schemas.microsoft.com/office/drawing/2014/main" val="2449116104"/>
                  </a:ext>
                </a:extLst>
              </a:tr>
              <a:tr h="145513">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374,286</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329,366</a:t>
                      </a:r>
                    </a:p>
                  </a:txBody>
                  <a:tcPr marL="6350" marR="114300" marT="6350" marB="0" anchor="ctr">
                    <a:lnL>
                      <a:noFill/>
                    </a:lnL>
                    <a:lnR>
                      <a:noFill/>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269,945</a:t>
                      </a:r>
                    </a:p>
                  </a:txBody>
                  <a:tcPr marL="6350" marR="114300" marT="6350" marB="0" anchor="ctr">
                    <a:lnL>
                      <a:noFill/>
                    </a:lnL>
                    <a:lnR>
                      <a:noFill/>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362,672</a:t>
                      </a:r>
                    </a:p>
                  </a:txBody>
                  <a:tcPr marL="6350" marR="114300" marT="6350" marB="0" anchor="ctr">
                    <a:lnL>
                      <a:noFill/>
                    </a:lnL>
                    <a:lnR>
                      <a:noFill/>
                    </a:lnR>
                    <a:lnT>
                      <a:noFill/>
                    </a:lnT>
                    <a:lnB w="6350" cap="flat" cmpd="sng" algn="ctr">
                      <a:solidFill>
                        <a:srgbClr val="0B3041"/>
                      </a:solidFill>
                      <a:prstDash val="solid"/>
                      <a:round/>
                      <a:headEnd type="none" w="med" len="med"/>
                      <a:tailEnd type="none" w="med" len="med"/>
                    </a:lnB>
                    <a:solidFill>
                      <a:srgbClr val="0B3041"/>
                    </a:solidFill>
                  </a:tcPr>
                </a:tc>
                <a:extLst>
                  <a:ext uri="{0D108BD9-81ED-4DB2-BD59-A6C34878D82A}">
                    <a16:rowId xmlns:a16="http://schemas.microsoft.com/office/drawing/2014/main" val="4071145118"/>
                  </a:ext>
                </a:extLst>
              </a:tr>
            </a:tbl>
          </a:graphicData>
        </a:graphic>
      </p:graphicFrame>
      <p:graphicFrame>
        <p:nvGraphicFramePr>
          <p:cNvPr id="9" name="表 8">
            <a:extLst>
              <a:ext uri="{FF2B5EF4-FFF2-40B4-BE49-F238E27FC236}">
                <a16:creationId xmlns:a16="http://schemas.microsoft.com/office/drawing/2014/main" id="{CFB11CDF-FC0D-6D75-4322-C3BD8A89E411}"/>
              </a:ext>
            </a:extLst>
          </p:cNvPr>
          <p:cNvGraphicFramePr>
            <a:graphicFrameLocks noGrp="1"/>
          </p:cNvGraphicFramePr>
          <p:nvPr>
            <p:extLst>
              <p:ext uri="{D42A27DB-BD31-4B8C-83A1-F6EECF244321}">
                <p14:modId xmlns:p14="http://schemas.microsoft.com/office/powerpoint/2010/main" val="674227100"/>
              </p:ext>
            </p:extLst>
          </p:nvPr>
        </p:nvGraphicFramePr>
        <p:xfrm>
          <a:off x="5345113" y="5267739"/>
          <a:ext cx="5005387" cy="1572806"/>
        </p:xfrm>
        <a:graphic>
          <a:graphicData uri="http://schemas.openxmlformats.org/drawingml/2006/table">
            <a:tbl>
              <a:tblPr/>
              <a:tblGrid>
                <a:gridCol w="1512419">
                  <a:extLst>
                    <a:ext uri="{9D8B030D-6E8A-4147-A177-3AD203B41FA5}">
                      <a16:colId xmlns:a16="http://schemas.microsoft.com/office/drawing/2014/main" val="4058629608"/>
                    </a:ext>
                  </a:extLst>
                </a:gridCol>
                <a:gridCol w="873242">
                  <a:extLst>
                    <a:ext uri="{9D8B030D-6E8A-4147-A177-3AD203B41FA5}">
                      <a16:colId xmlns:a16="http://schemas.microsoft.com/office/drawing/2014/main" val="2673297223"/>
                    </a:ext>
                  </a:extLst>
                </a:gridCol>
                <a:gridCol w="873242">
                  <a:extLst>
                    <a:ext uri="{9D8B030D-6E8A-4147-A177-3AD203B41FA5}">
                      <a16:colId xmlns:a16="http://schemas.microsoft.com/office/drawing/2014/main" val="756661618"/>
                    </a:ext>
                  </a:extLst>
                </a:gridCol>
                <a:gridCol w="873242">
                  <a:extLst>
                    <a:ext uri="{9D8B030D-6E8A-4147-A177-3AD203B41FA5}">
                      <a16:colId xmlns:a16="http://schemas.microsoft.com/office/drawing/2014/main" val="2152851366"/>
                    </a:ext>
                  </a:extLst>
                </a:gridCol>
                <a:gridCol w="873242">
                  <a:extLst>
                    <a:ext uri="{9D8B030D-6E8A-4147-A177-3AD203B41FA5}">
                      <a16:colId xmlns:a16="http://schemas.microsoft.com/office/drawing/2014/main" val="1382805660"/>
                    </a:ext>
                  </a:extLst>
                </a:gridCol>
              </a:tblGrid>
              <a:tr h="155560">
                <a:tc gridSpan="5">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555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555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1456255"/>
                  </a:ext>
                </a:extLst>
              </a:tr>
              <a:tr h="15801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5801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△57,568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△14,189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△30,912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△80,456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164222422"/>
                  </a:ext>
                </a:extLst>
              </a:tr>
              <a:tr h="15801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利益準備金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776807753"/>
                  </a:ext>
                </a:extLst>
              </a:tr>
              <a:tr h="15801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342900" marR="6350" marT="635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△60,068</a:t>
                      </a:r>
                    </a:p>
                  </a:txBody>
                  <a:tcPr marL="6350" marR="11430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△16,689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△33,412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△82,956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943967872"/>
                  </a:ext>
                </a:extLst>
              </a:tr>
              <a:tr h="15801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extLst>
                  <a:ext uri="{0D108BD9-81ED-4DB2-BD59-A6C34878D82A}">
                    <a16:rowId xmlns:a16="http://schemas.microsoft.com/office/drawing/2014/main" val="1359361426"/>
                  </a:ext>
                </a:extLst>
              </a:tr>
              <a:tr h="158018">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△47,568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△4,189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△20,912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△70,456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58018">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326,717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325,177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249,033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292,216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956644857"/>
                  </a:ext>
                </a:extLst>
              </a:tr>
            </a:tbl>
          </a:graphicData>
        </a:graphic>
      </p:graphicFrame>
    </p:spTree>
    <p:extLst>
      <p:ext uri="{BB962C8B-B14F-4D97-AF65-F5344CB8AC3E}">
        <p14:creationId xmlns:p14="http://schemas.microsoft.com/office/powerpoint/2010/main" val="99523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476521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現預金：</a:t>
            </a:r>
            <a:r>
              <a:rPr lang="en-US" altLang="ja-JP" sz="1100" b="1" spc="50" dirty="0">
                <a:latin typeface="+mj-ea"/>
                <a:ea typeface="+mj-ea"/>
              </a:rPr>
              <a:t>25</a:t>
            </a:r>
            <a:r>
              <a:rPr lang="ja-JP" altLang="en-US" sz="1100" b="1" spc="50" dirty="0">
                <a:latin typeface="+mj-ea"/>
                <a:ea typeface="+mj-ea"/>
              </a:rPr>
              <a:t>年</a:t>
            </a:r>
            <a:r>
              <a:rPr lang="en-US" altLang="ja-JP" sz="1100" b="1" spc="50" dirty="0">
                <a:latin typeface="+mj-ea"/>
                <a:ea typeface="+mj-ea"/>
              </a:rPr>
              <a:t>9</a:t>
            </a:r>
            <a:r>
              <a:rPr lang="ja-JP" altLang="en-US" sz="1100" b="1" spc="50" dirty="0">
                <a:latin typeface="+mj-ea"/>
                <a:ea typeface="+mj-ea"/>
              </a:rPr>
              <a:t>月期に預金が大きく減少し、</a:t>
            </a:r>
            <a:r>
              <a:rPr lang="en-US" altLang="ja-JP" sz="1100" b="1" spc="50" dirty="0">
                <a:latin typeface="+mj-ea"/>
                <a:ea typeface="+mj-ea"/>
              </a:rPr>
              <a:t>26</a:t>
            </a:r>
            <a:r>
              <a:rPr lang="ja-JP" altLang="en-US" sz="1100" b="1" spc="50" dirty="0">
                <a:latin typeface="+mj-ea"/>
                <a:ea typeface="+mj-ea"/>
              </a:rPr>
              <a:t>年</a:t>
            </a:r>
            <a:r>
              <a:rPr lang="en-US" altLang="ja-JP" sz="1100" b="1" spc="50" dirty="0">
                <a:latin typeface="+mj-ea"/>
                <a:ea typeface="+mj-ea"/>
              </a:rPr>
              <a:t>4</a:t>
            </a:r>
            <a:r>
              <a:rPr lang="ja-JP" altLang="en-US" sz="1100" b="1" spc="50" dirty="0">
                <a:latin typeface="+mj-ea"/>
                <a:ea typeface="+mj-ea"/>
              </a:rPr>
              <a:t>月時点でも低水準。赤字運転・仕入支払・借入返済等による資金流出要因、直近の資金繰り状況を要確認。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売掛金：</a:t>
            </a:r>
            <a:r>
              <a:rPr lang="en-US" altLang="ja-JP" sz="1100" b="1" spc="50" dirty="0">
                <a:latin typeface="+mj-ea"/>
                <a:ea typeface="+mj-ea"/>
              </a:rPr>
              <a:t>26</a:t>
            </a:r>
            <a:r>
              <a:rPr lang="ja-JP" altLang="en-US" sz="1100" b="1" spc="50" dirty="0">
                <a:latin typeface="+mj-ea"/>
                <a:ea typeface="+mj-ea"/>
              </a:rPr>
              <a:t>年</a:t>
            </a:r>
            <a:r>
              <a:rPr lang="en-US" altLang="ja-JP" sz="1100" b="1" spc="50" dirty="0">
                <a:latin typeface="+mj-ea"/>
                <a:ea typeface="+mj-ea"/>
              </a:rPr>
              <a:t>4</a:t>
            </a:r>
            <a:r>
              <a:rPr lang="ja-JP" altLang="en-US" sz="1100" b="1" spc="50" dirty="0">
                <a:latin typeface="+mj-ea"/>
                <a:ea typeface="+mj-ea"/>
              </a:rPr>
              <a:t>月時点で</a:t>
            </a:r>
            <a:r>
              <a:rPr lang="en-US" altLang="ja-JP" sz="1100" b="1" spc="50" dirty="0">
                <a:latin typeface="+mj-ea"/>
                <a:ea typeface="+mj-ea"/>
              </a:rPr>
              <a:t>67,269</a:t>
            </a:r>
            <a:r>
              <a:rPr lang="ja-JP" altLang="en-US" sz="1100" b="1" spc="50" dirty="0">
                <a:latin typeface="+mj-ea"/>
                <a:ea typeface="+mj-ea"/>
              </a:rPr>
              <a:t>千円と、</a:t>
            </a:r>
            <a:r>
              <a:rPr lang="en-US" altLang="ja-JP" sz="1100" b="1" spc="50" dirty="0">
                <a:latin typeface="+mj-ea"/>
                <a:ea typeface="+mj-ea"/>
              </a:rPr>
              <a:t>25</a:t>
            </a:r>
            <a:r>
              <a:rPr lang="ja-JP" altLang="en-US" sz="1100" b="1" spc="50" dirty="0">
                <a:latin typeface="+mj-ea"/>
                <a:ea typeface="+mj-ea"/>
              </a:rPr>
              <a:t>年</a:t>
            </a:r>
            <a:r>
              <a:rPr lang="en-US" altLang="ja-JP" sz="1100" b="1" spc="50" dirty="0">
                <a:latin typeface="+mj-ea"/>
                <a:ea typeface="+mj-ea"/>
              </a:rPr>
              <a:t>9</a:t>
            </a:r>
            <a:r>
              <a:rPr lang="ja-JP" altLang="en-US" sz="1100" b="1" spc="50" dirty="0">
                <a:latin typeface="+mj-ea"/>
                <a:ea typeface="+mj-ea"/>
              </a:rPr>
              <a:t>月期末</a:t>
            </a:r>
            <a:r>
              <a:rPr lang="en-US" altLang="ja-JP" sz="1100" b="1" spc="50" dirty="0">
                <a:latin typeface="+mj-ea"/>
                <a:ea typeface="+mj-ea"/>
              </a:rPr>
              <a:t>21,436</a:t>
            </a:r>
            <a:r>
              <a:rPr lang="ja-JP" altLang="en-US" sz="1100" b="1" spc="50" dirty="0">
                <a:latin typeface="+mj-ea"/>
                <a:ea typeface="+mj-ea"/>
              </a:rPr>
              <a:t>千円から大幅増加。</a:t>
            </a:r>
            <a:r>
              <a:rPr lang="en-US" altLang="ja-JP" sz="1100" b="1" spc="50" dirty="0">
                <a:latin typeface="+mj-ea"/>
                <a:ea typeface="+mj-ea"/>
              </a:rPr>
              <a:t>4</a:t>
            </a:r>
            <a:r>
              <a:rPr lang="ja-JP" altLang="en-US" sz="1100" b="1" spc="50" dirty="0">
                <a:latin typeface="+mj-ea"/>
                <a:ea typeface="+mj-ea"/>
              </a:rPr>
              <a:t>月売上の回収タイミングによる一過性か。主要得意先別の入金予定・期日経過債権の有無を確認。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商品・貯蔵品：商品残高は</a:t>
            </a:r>
            <a:r>
              <a:rPr lang="en-US" altLang="ja-JP" sz="1100" b="1" spc="50" dirty="0">
                <a:latin typeface="+mj-ea"/>
                <a:ea typeface="+mj-ea"/>
              </a:rPr>
              <a:t>23</a:t>
            </a:r>
            <a:r>
              <a:rPr lang="ja-JP" altLang="en-US" sz="1100" b="1" spc="50" dirty="0">
                <a:latin typeface="+mj-ea"/>
                <a:ea typeface="+mj-ea"/>
              </a:rPr>
              <a:t>年</a:t>
            </a:r>
            <a:r>
              <a:rPr lang="en-US" altLang="ja-JP" sz="1100" b="1" spc="50" dirty="0">
                <a:latin typeface="+mj-ea"/>
                <a:ea typeface="+mj-ea"/>
              </a:rPr>
              <a:t>9</a:t>
            </a:r>
            <a:r>
              <a:rPr lang="ja-JP" altLang="en-US" sz="1100" b="1" spc="50" dirty="0">
                <a:latin typeface="+mj-ea"/>
                <a:ea typeface="+mj-ea"/>
              </a:rPr>
              <a:t>月期</a:t>
            </a:r>
            <a:r>
              <a:rPr lang="en-US" altLang="ja-JP" sz="1100" b="1" spc="50" dirty="0">
                <a:latin typeface="+mj-ea"/>
                <a:ea typeface="+mj-ea"/>
              </a:rPr>
              <a:t>12,540</a:t>
            </a:r>
            <a:r>
              <a:rPr lang="ja-JP" altLang="en-US" sz="1100" b="1" spc="50" dirty="0">
                <a:latin typeface="+mj-ea"/>
                <a:ea typeface="+mj-ea"/>
              </a:rPr>
              <a:t>千円→</a:t>
            </a:r>
            <a:r>
              <a:rPr lang="en-US" altLang="ja-JP" sz="1100" b="1" spc="50" dirty="0">
                <a:latin typeface="+mj-ea"/>
                <a:ea typeface="+mj-ea"/>
              </a:rPr>
              <a:t>24</a:t>
            </a:r>
            <a:r>
              <a:rPr lang="ja-JP" altLang="en-US" sz="1100" b="1" spc="50" dirty="0">
                <a:latin typeface="+mj-ea"/>
                <a:ea typeface="+mj-ea"/>
              </a:rPr>
              <a:t>年</a:t>
            </a:r>
            <a:r>
              <a:rPr lang="en-US" altLang="ja-JP" sz="1100" b="1" spc="50" dirty="0">
                <a:latin typeface="+mj-ea"/>
                <a:ea typeface="+mj-ea"/>
              </a:rPr>
              <a:t>9</a:t>
            </a:r>
            <a:r>
              <a:rPr lang="ja-JP" altLang="en-US" sz="1100" b="1" spc="50" dirty="0">
                <a:latin typeface="+mj-ea"/>
                <a:ea typeface="+mj-ea"/>
              </a:rPr>
              <a:t>月期</a:t>
            </a:r>
            <a:r>
              <a:rPr lang="en-US" altLang="ja-JP" sz="1100" b="1" spc="50" dirty="0">
                <a:latin typeface="+mj-ea"/>
                <a:ea typeface="+mj-ea"/>
              </a:rPr>
              <a:t>17,376</a:t>
            </a:r>
            <a:r>
              <a:rPr lang="ja-JP" altLang="en-US" sz="1100" b="1" spc="50" dirty="0">
                <a:latin typeface="+mj-ea"/>
                <a:ea typeface="+mj-ea"/>
              </a:rPr>
              <a:t>千円→</a:t>
            </a:r>
            <a:r>
              <a:rPr lang="en-US" altLang="ja-JP" sz="1100" b="1" spc="50" dirty="0">
                <a:latin typeface="+mj-ea"/>
                <a:ea typeface="+mj-ea"/>
              </a:rPr>
              <a:t>25</a:t>
            </a:r>
            <a:r>
              <a:rPr lang="ja-JP" altLang="en-US" sz="1100" b="1" spc="50" dirty="0">
                <a:latin typeface="+mj-ea"/>
                <a:ea typeface="+mj-ea"/>
              </a:rPr>
              <a:t>年</a:t>
            </a:r>
            <a:r>
              <a:rPr lang="en-US" altLang="ja-JP" sz="1100" b="1" spc="50" dirty="0">
                <a:latin typeface="+mj-ea"/>
                <a:ea typeface="+mj-ea"/>
              </a:rPr>
              <a:t>9</a:t>
            </a:r>
            <a:r>
              <a:rPr lang="ja-JP" altLang="en-US" sz="1100" b="1" spc="50" dirty="0">
                <a:latin typeface="+mj-ea"/>
                <a:ea typeface="+mj-ea"/>
              </a:rPr>
              <a:t>月期</a:t>
            </a:r>
            <a:r>
              <a:rPr lang="en-US" altLang="ja-JP" sz="1100" b="1" spc="50" dirty="0">
                <a:latin typeface="+mj-ea"/>
                <a:ea typeface="+mj-ea"/>
              </a:rPr>
              <a:t>27,123</a:t>
            </a:r>
            <a:r>
              <a:rPr lang="ja-JP" altLang="en-US" sz="1100" b="1" spc="50" dirty="0">
                <a:latin typeface="+mj-ea"/>
                <a:ea typeface="+mj-ea"/>
              </a:rPr>
              <a:t>千円と増加傾向。滞留・陳腐化・評価減の必要性を確認。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短期貸付金：滋賀びわ湖漁業組合（堅田）</a:t>
            </a:r>
            <a:r>
              <a:rPr lang="en-US" altLang="ja-JP" sz="1100" b="1" spc="50" dirty="0">
                <a:latin typeface="+mj-ea"/>
                <a:ea typeface="+mj-ea"/>
              </a:rPr>
              <a:t>3,000</a:t>
            </a:r>
            <a:r>
              <a:rPr lang="ja-JP" altLang="en-US" sz="1100" b="1" spc="50" dirty="0">
                <a:latin typeface="+mj-ea"/>
                <a:ea typeface="+mj-ea"/>
              </a:rPr>
              <a:t>千円・近藤様</a:t>
            </a:r>
            <a:r>
              <a:rPr lang="en-US" altLang="ja-JP" sz="1100" b="1" spc="50" dirty="0">
                <a:latin typeface="+mj-ea"/>
                <a:ea typeface="+mj-ea"/>
              </a:rPr>
              <a:t>600,000</a:t>
            </a:r>
            <a:r>
              <a:rPr lang="ja-JP" altLang="en-US" sz="1100" b="1" spc="50" dirty="0">
                <a:latin typeface="+mj-ea"/>
                <a:ea typeface="+mj-ea"/>
              </a:rPr>
              <a:t>千円、野邉様</a:t>
            </a:r>
            <a:r>
              <a:rPr lang="en-US" altLang="ja-JP" sz="1100" b="1" spc="50" dirty="0">
                <a:latin typeface="+mj-ea"/>
                <a:ea typeface="+mj-ea"/>
              </a:rPr>
              <a:t>103,500</a:t>
            </a:r>
            <a:r>
              <a:rPr lang="ja-JP" altLang="en-US" sz="1100" b="1" spc="50" dirty="0">
                <a:latin typeface="+mj-ea"/>
                <a:ea typeface="+mj-ea"/>
              </a:rPr>
              <a:t>千円。返済予定、回収可能性について要確認。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未収入金：金澤良隆様からの</a:t>
            </a:r>
            <a:r>
              <a:rPr lang="en-US" altLang="ja-JP" sz="1100" b="1" spc="50" dirty="0">
                <a:latin typeface="+mj-ea"/>
                <a:ea typeface="+mj-ea"/>
              </a:rPr>
              <a:t>2,400</a:t>
            </a:r>
            <a:r>
              <a:rPr lang="ja-JP" altLang="en-US" sz="1100" b="1" spc="50" dirty="0">
                <a:latin typeface="+mj-ea"/>
                <a:ea typeface="+mj-ea"/>
              </a:rPr>
              <a:t>千円が</a:t>
            </a:r>
            <a:r>
              <a:rPr lang="en-US" altLang="ja-JP" sz="1100" b="1" spc="50" dirty="0">
                <a:latin typeface="+mj-ea"/>
                <a:ea typeface="+mj-ea"/>
              </a:rPr>
              <a:t>23</a:t>
            </a:r>
            <a:r>
              <a:rPr lang="ja-JP" altLang="en-US" sz="1100" b="1" spc="50" dirty="0">
                <a:latin typeface="+mj-ea"/>
                <a:ea typeface="+mj-ea"/>
              </a:rPr>
              <a:t>年</a:t>
            </a:r>
            <a:r>
              <a:rPr lang="en-US" altLang="ja-JP" sz="1100" b="1" spc="50" dirty="0">
                <a:latin typeface="+mj-ea"/>
                <a:ea typeface="+mj-ea"/>
              </a:rPr>
              <a:t>9</a:t>
            </a:r>
            <a:r>
              <a:rPr lang="ja-JP" altLang="en-US" sz="1100" b="1" spc="50" dirty="0">
                <a:latin typeface="+mj-ea"/>
                <a:ea typeface="+mj-ea"/>
              </a:rPr>
              <a:t>月期より滞留。回収可能性について要確認。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土地：土地</a:t>
            </a:r>
            <a:r>
              <a:rPr lang="en-US" altLang="ja-JP" sz="1100" b="1" spc="50" dirty="0">
                <a:latin typeface="+mj-ea"/>
                <a:ea typeface="+mj-ea"/>
              </a:rPr>
              <a:t>70,784</a:t>
            </a:r>
            <a:r>
              <a:rPr lang="ja-JP" altLang="en-US" sz="1100" b="1" spc="50" dirty="0">
                <a:latin typeface="+mj-ea"/>
                <a:ea typeface="+mj-ea"/>
              </a:rPr>
              <a:t>千円、固定資産税課税明細書より時価評価を次頁にて行う。</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借地権：借地権契約書等の内容を確認次第、評価予定。</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zh-TW" altLang="en-US" sz="1100" b="1" spc="50" dirty="0">
                <a:latin typeface="+mj-ea"/>
                <a:ea typeface="+mj-ea"/>
              </a:rPr>
              <a:t>投資有価証券</a:t>
            </a:r>
            <a:r>
              <a:rPr lang="ja-JP" altLang="en-US" sz="1100" b="1" spc="50" dirty="0">
                <a:latin typeface="+mj-ea"/>
                <a:ea typeface="+mj-ea"/>
              </a:rPr>
              <a:t>：りそな銀行の株式を保有。時価について要確認。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保険積立金：解約返戻金、積立制度の内容、払戻条件、譲渡時の帰属について要確認。</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en-US" altLang="ja-JP" dirty="0"/>
              <a:t>BS</a:t>
            </a:r>
            <a:r>
              <a:rPr lang="ja-JP" altLang="en-US" dirty="0"/>
              <a:t>補足</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7" name="表 6">
            <a:extLst>
              <a:ext uri="{FF2B5EF4-FFF2-40B4-BE49-F238E27FC236}">
                <a16:creationId xmlns:a16="http://schemas.microsoft.com/office/drawing/2014/main" id="{448E38F1-237A-5405-6ACD-01F738D6BE46}"/>
              </a:ext>
            </a:extLst>
          </p:cNvPr>
          <p:cNvGraphicFramePr>
            <a:graphicFrameLocks noGrp="1"/>
          </p:cNvGraphicFramePr>
          <p:nvPr>
            <p:extLst>
              <p:ext uri="{D42A27DB-BD31-4B8C-83A1-F6EECF244321}">
                <p14:modId xmlns:p14="http://schemas.microsoft.com/office/powerpoint/2010/main" val="3936562900"/>
              </p:ext>
            </p:extLst>
          </p:nvPr>
        </p:nvGraphicFramePr>
        <p:xfrm>
          <a:off x="341312" y="982456"/>
          <a:ext cx="5003801" cy="5850223"/>
        </p:xfrm>
        <a:graphic>
          <a:graphicData uri="http://schemas.openxmlformats.org/drawingml/2006/table">
            <a:tbl>
              <a:tblPr/>
              <a:tblGrid>
                <a:gridCol w="1511941">
                  <a:extLst>
                    <a:ext uri="{9D8B030D-6E8A-4147-A177-3AD203B41FA5}">
                      <a16:colId xmlns:a16="http://schemas.microsoft.com/office/drawing/2014/main" val="822254377"/>
                    </a:ext>
                  </a:extLst>
                </a:gridCol>
                <a:gridCol w="872965">
                  <a:extLst>
                    <a:ext uri="{9D8B030D-6E8A-4147-A177-3AD203B41FA5}">
                      <a16:colId xmlns:a16="http://schemas.microsoft.com/office/drawing/2014/main" val="3061090460"/>
                    </a:ext>
                  </a:extLst>
                </a:gridCol>
                <a:gridCol w="872965">
                  <a:extLst>
                    <a:ext uri="{9D8B030D-6E8A-4147-A177-3AD203B41FA5}">
                      <a16:colId xmlns:a16="http://schemas.microsoft.com/office/drawing/2014/main" val="2032412681"/>
                    </a:ext>
                  </a:extLst>
                </a:gridCol>
                <a:gridCol w="872965">
                  <a:extLst>
                    <a:ext uri="{9D8B030D-6E8A-4147-A177-3AD203B41FA5}">
                      <a16:colId xmlns:a16="http://schemas.microsoft.com/office/drawing/2014/main" val="1235492032"/>
                    </a:ext>
                  </a:extLst>
                </a:gridCol>
                <a:gridCol w="872965">
                  <a:extLst>
                    <a:ext uri="{9D8B030D-6E8A-4147-A177-3AD203B41FA5}">
                      <a16:colId xmlns:a16="http://schemas.microsoft.com/office/drawing/2014/main" val="914131370"/>
                    </a:ext>
                  </a:extLst>
                </a:gridCol>
              </a:tblGrid>
              <a:tr h="182436">
                <a:tc gridSpan="5">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23年9月期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24年9月期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25年9月期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26年4月</a:t>
                      </a:r>
                      <a:br>
                        <a:rPr lang="ja-JP" sz="900" b="1" i="0" u="none" strike="noStrike">
                          <a:solidFill>
                            <a:srgbClr val="FFFFFF"/>
                          </a:solidFill>
                          <a:effectLst/>
                          <a:latin typeface="游ゴシック" panose="020B0400000000000000" pitchFamily="50" charset="-128"/>
                          <a:ea typeface="游ゴシック" panose="020B0400000000000000" pitchFamily="50" charset="-128"/>
                        </a:rPr>
                      </a:br>
                      <a:r>
                        <a:rPr lang="ja-JP" sz="900" b="1" i="0" u="none" strike="noStrike">
                          <a:solidFill>
                            <a:srgbClr val="FFFFFF"/>
                          </a:solidFill>
                          <a:effectLst/>
                          <a:latin typeface="游ゴシック" panose="020B0400000000000000" pitchFamily="50" charset="-128"/>
                          <a:ea typeface="游ゴシック" panose="020B0400000000000000" pitchFamily="50" charset="-128"/>
                        </a:rPr>
                        <a:t>（7か月TB）</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727F88"/>
                    </a:solidFill>
                  </a:tcPr>
                </a:tc>
                <a:extLst>
                  <a:ext uri="{0D108BD9-81ED-4DB2-BD59-A6C34878D82A}">
                    <a16:rowId xmlns:a16="http://schemas.microsoft.com/office/drawing/2014/main" val="1002658859"/>
                  </a:ext>
                </a:extLst>
              </a:tr>
              <a:tr h="14582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167,593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177,791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100,792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143,938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45820">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現金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228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333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271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309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45820">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125,086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124,040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36,533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25,930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1063524"/>
                  </a:ext>
                </a:extLst>
              </a:tr>
              <a:tr h="145820">
                <a:tc>
                  <a:txBody>
                    <a:bodyPr/>
                    <a:lstStyle/>
                    <a:p>
                      <a:pPr algn="l" fontAlgn="ctr">
                        <a:buNone/>
                      </a:pPr>
                      <a:r>
                        <a:rPr lang="ja-JP" sz="900" b="0" i="0" u="none" strike="noStrike">
                          <a:solidFill>
                            <a:srgbClr val="000000"/>
                          </a:solidFill>
                          <a:effectLst/>
                          <a:highlight>
                            <a:srgbClr val="FFFF00"/>
                          </a:highligh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17,391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23,395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21,436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67,269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05089387"/>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04033687"/>
                  </a:ext>
                </a:extLst>
              </a:tr>
              <a:tr h="145820">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12,540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17,376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27,123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27,123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712478849"/>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5,000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4,669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5,079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5,079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51683880"/>
                  </a:ext>
                </a:extLst>
              </a:tr>
              <a:tr h="145820">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短期貸付金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3,600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3,842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3,704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3,623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526035"/>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80026727"/>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897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868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303807046"/>
                  </a:ext>
                </a:extLst>
              </a:tr>
              <a:tr h="145820">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2,417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2,408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2,616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2,408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494337555"/>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6951169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リサイクル料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64505296"/>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仮払消費税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1,869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9,958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40912891"/>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99140053"/>
                  </a:ext>
                </a:extLst>
              </a:tr>
              <a:tr h="14582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159,124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147,386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148,242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148,277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86111338"/>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95922"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85,341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83,273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80,885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81,336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695067386"/>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9,194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7,686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5,687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5,687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138944392"/>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6512218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構築物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2968762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機械装置</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32875308"/>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585127441"/>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2,038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1,779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76332680"/>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構築物附属設備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4541504"/>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一括償却資産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944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1,166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753957414"/>
                  </a:ext>
                </a:extLst>
              </a:tr>
              <a:tr h="145820">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土地</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70,784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70,784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highlight>
                            <a:srgbClr val="FFFF00"/>
                          </a:highlight>
                          <a:latin typeface="Arial" panose="020B0604020202020204" pitchFamily="34" charset="0"/>
                          <a:ea typeface="游ゴシック Medium" panose="020B0500000000000000" pitchFamily="50" charset="-128"/>
                        </a:rPr>
                        <a:t>70,784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70,784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90164116"/>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減価償却累計額</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30437249"/>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95922"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82662436"/>
                  </a:ext>
                </a:extLst>
              </a:tr>
              <a:tr h="143551">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借地権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23,100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945650068"/>
                  </a:ext>
                </a:extLst>
              </a:tr>
              <a:tr h="1435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50,683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41,013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44,257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43,842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58332921"/>
                  </a:ext>
                </a:extLst>
              </a:tr>
              <a:tr h="145820">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5,100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5,100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5,100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5,100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518354527"/>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06996761"/>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36482934"/>
                  </a:ext>
                </a:extLst>
              </a:tr>
              <a:tr h="145820">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124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276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365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766006348"/>
                  </a:ext>
                </a:extLst>
              </a:tr>
              <a:tr h="14582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漁業経営積立金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1,238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3,607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6598641"/>
                  </a:ext>
                </a:extLst>
              </a:tr>
              <a:tr h="14582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extLst>
                  <a:ext uri="{0D108BD9-81ED-4DB2-BD59-A6C34878D82A}">
                    <a16:rowId xmlns:a16="http://schemas.microsoft.com/office/drawing/2014/main" val="498392017"/>
                  </a:ext>
                </a:extLst>
              </a:tr>
              <a:tr h="14582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326,717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325,177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249,033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292,216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2672031112"/>
                  </a:ext>
                </a:extLst>
              </a:tr>
            </a:tbl>
          </a:graphicData>
        </a:graphic>
      </p:graphicFrame>
    </p:spTree>
    <p:extLst>
      <p:ext uri="{BB962C8B-B14F-4D97-AF65-F5344CB8AC3E}">
        <p14:creationId xmlns:p14="http://schemas.microsoft.com/office/powerpoint/2010/main" val="272168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036D2C3-829F-152F-B36D-269CA777FA94}"/>
              </a:ext>
            </a:extLst>
          </p:cNvPr>
          <p:cNvSpPr>
            <a:spLocks noGrp="1"/>
          </p:cNvSpPr>
          <p:nvPr>
            <p:ph type="ctrTitle"/>
          </p:nvPr>
        </p:nvSpPr>
        <p:spPr>
          <a:xfrm>
            <a:off x="341313" y="180653"/>
            <a:ext cx="7799917" cy="338554"/>
          </a:xfrm>
        </p:spPr>
        <p:txBody>
          <a:bodyPr/>
          <a:lstStyle/>
          <a:p>
            <a:r>
              <a:rPr lang="ja-JP" altLang="en-US" dirty="0"/>
              <a:t>修正内容詳細①</a:t>
            </a:r>
            <a:r>
              <a:rPr lang="ja-JP" altLang="en-US" sz="1800" dirty="0"/>
              <a:t>［土地］</a:t>
            </a:r>
          </a:p>
        </p:txBody>
      </p:sp>
      <p:sp>
        <p:nvSpPr>
          <p:cNvPr id="6" name="タイトル 1">
            <a:extLst>
              <a:ext uri="{FF2B5EF4-FFF2-40B4-BE49-F238E27FC236}">
                <a16:creationId xmlns:a16="http://schemas.microsoft.com/office/drawing/2014/main" id="{4F526834-D427-A9AE-A56D-41DDC6EB745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6" name="正方形/長方形 15">
            <a:extLst>
              <a:ext uri="{FF2B5EF4-FFF2-40B4-BE49-F238E27FC236}">
                <a16:creationId xmlns:a16="http://schemas.microsoft.com/office/drawing/2014/main" id="{3696325D-3E2F-3184-13FD-527C337FC5DA}"/>
              </a:ext>
            </a:extLst>
          </p:cNvPr>
          <p:cNvSpPr/>
          <p:nvPr/>
        </p:nvSpPr>
        <p:spPr>
          <a:xfrm>
            <a:off x="449263" y="900484"/>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土地</a:t>
            </a:r>
          </a:p>
        </p:txBody>
      </p:sp>
      <p:graphicFrame>
        <p:nvGraphicFramePr>
          <p:cNvPr id="3" name="表 2">
            <a:extLst>
              <a:ext uri="{FF2B5EF4-FFF2-40B4-BE49-F238E27FC236}">
                <a16:creationId xmlns:a16="http://schemas.microsoft.com/office/drawing/2014/main" id="{26964AD7-83FC-660F-44A4-ED1569661D4E}"/>
              </a:ext>
            </a:extLst>
          </p:cNvPr>
          <p:cNvGraphicFramePr>
            <a:graphicFrameLocks noGrp="1"/>
          </p:cNvGraphicFramePr>
          <p:nvPr>
            <p:extLst>
              <p:ext uri="{D42A27DB-BD31-4B8C-83A1-F6EECF244321}">
                <p14:modId xmlns:p14="http://schemas.microsoft.com/office/powerpoint/2010/main" val="1988082998"/>
              </p:ext>
            </p:extLst>
          </p:nvPr>
        </p:nvGraphicFramePr>
        <p:xfrm>
          <a:off x="341312" y="1229934"/>
          <a:ext cx="10009188" cy="4065963"/>
        </p:xfrm>
        <a:graphic>
          <a:graphicData uri="http://schemas.openxmlformats.org/drawingml/2006/table">
            <a:tbl>
              <a:tblPr/>
              <a:tblGrid>
                <a:gridCol w="3155763">
                  <a:extLst>
                    <a:ext uri="{9D8B030D-6E8A-4147-A177-3AD203B41FA5}">
                      <a16:colId xmlns:a16="http://schemas.microsoft.com/office/drawing/2014/main" val="3106683751"/>
                    </a:ext>
                  </a:extLst>
                </a:gridCol>
                <a:gridCol w="1190052">
                  <a:extLst>
                    <a:ext uri="{9D8B030D-6E8A-4147-A177-3AD203B41FA5}">
                      <a16:colId xmlns:a16="http://schemas.microsoft.com/office/drawing/2014/main" val="2671250943"/>
                    </a:ext>
                  </a:extLst>
                </a:gridCol>
                <a:gridCol w="1190052">
                  <a:extLst>
                    <a:ext uri="{9D8B030D-6E8A-4147-A177-3AD203B41FA5}">
                      <a16:colId xmlns:a16="http://schemas.microsoft.com/office/drawing/2014/main" val="2725420420"/>
                    </a:ext>
                  </a:extLst>
                </a:gridCol>
                <a:gridCol w="1190052">
                  <a:extLst>
                    <a:ext uri="{9D8B030D-6E8A-4147-A177-3AD203B41FA5}">
                      <a16:colId xmlns:a16="http://schemas.microsoft.com/office/drawing/2014/main" val="530707860"/>
                    </a:ext>
                  </a:extLst>
                </a:gridCol>
                <a:gridCol w="1190052">
                  <a:extLst>
                    <a:ext uri="{9D8B030D-6E8A-4147-A177-3AD203B41FA5}">
                      <a16:colId xmlns:a16="http://schemas.microsoft.com/office/drawing/2014/main" val="318002353"/>
                    </a:ext>
                  </a:extLst>
                </a:gridCol>
                <a:gridCol w="2093217">
                  <a:extLst>
                    <a:ext uri="{9D8B030D-6E8A-4147-A177-3AD203B41FA5}">
                      <a16:colId xmlns:a16="http://schemas.microsoft.com/office/drawing/2014/main" val="2417561337"/>
                    </a:ext>
                  </a:extLst>
                </a:gridCol>
              </a:tblGrid>
              <a:tr h="187155">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895" marR="4895" marT="4895"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895" marR="4895" marT="4895" marB="0" anchor="ctr">
                    <a:lnL>
                      <a:noFill/>
                    </a:lnL>
                    <a:lnR>
                      <a:noFill/>
                    </a:lnR>
                    <a:lnT>
                      <a:noFill/>
                    </a:lnT>
                    <a:lnB>
                      <a:noFill/>
                    </a:lnB>
                    <a:noFill/>
                  </a:tcPr>
                </a:tc>
                <a:tc>
                  <a:txBody>
                    <a:bodyPr/>
                    <a:lstStyle/>
                    <a:p>
                      <a:pPr algn="l" fontAlgn="ctr">
                        <a:buNone/>
                      </a:pPr>
                      <a:endParaRPr lang="ja-JP" sz="9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4895" marR="4895" marT="4895" marB="0" anchor="ctr">
                    <a:lnL>
                      <a:noFill/>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4895" marR="4895" marT="4895"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4895" marR="4895" marT="4895"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895" marR="4895" marT="4895" marB="0" anchor="ctr">
                    <a:lnL>
                      <a:noFill/>
                    </a:lnL>
                    <a:lnR>
                      <a:noFill/>
                    </a:lnR>
                    <a:lnT>
                      <a:noFill/>
                    </a:lnT>
                    <a:lnB>
                      <a:noFill/>
                    </a:lnB>
                    <a:noFill/>
                  </a:tcPr>
                </a:tc>
                <a:extLst>
                  <a:ext uri="{0D108BD9-81ED-4DB2-BD59-A6C34878D82A}">
                    <a16:rowId xmlns:a16="http://schemas.microsoft.com/office/drawing/2014/main" val="1991418216"/>
                  </a:ext>
                </a:extLst>
              </a:tr>
              <a:tr h="230306">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内容・所在地</a:t>
                      </a:r>
                    </a:p>
                  </a:txBody>
                  <a:tcPr marL="4895" marR="4895" marT="4895"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地積(㎡)</a:t>
                      </a:r>
                    </a:p>
                  </a:txBody>
                  <a:tcPr marL="4895" marR="4895" marT="489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4895" marR="4895" marT="489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評価差額</a:t>
                      </a:r>
                    </a:p>
                  </a:txBody>
                  <a:tcPr marL="4895" marR="4895" marT="489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時価評価額</a:t>
                      </a:r>
                    </a:p>
                  </a:txBody>
                  <a:tcPr marL="4895" marR="4895" marT="489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調整事由</a:t>
                      </a:r>
                    </a:p>
                  </a:txBody>
                  <a:tcPr marL="4895" marR="4895" marT="4895" marB="0" anchor="ctr">
                    <a:lnL w="1270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0B3041"/>
                    </a:solidFill>
                  </a:tcPr>
                </a:tc>
                <a:extLst>
                  <a:ext uri="{0D108BD9-81ED-4DB2-BD59-A6C34878D82A}">
                    <a16:rowId xmlns:a16="http://schemas.microsoft.com/office/drawing/2014/main" val="4253345610"/>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比江字東広佐651番（滋賀｜養魚池）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958.00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rowSpan="4">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3,000</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rowSpan="4">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9,502</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6,327</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路線価÷0.7にて時価を算出</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比江字東広佐651番1（滋賀｜養魚池）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115.00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759</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路線価÷0.7にて時価を算出</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787984424"/>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比江字東広佐652番（滋賀｜養魚池）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92.00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608</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路線価÷0.7にて時価を算出</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683363763"/>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比江字東広佐2111番（滋賀｜養魚池）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728.00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4,808</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路線価÷0.7にて時価を算出</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93031338"/>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大字南俣字下中堂2557番地1（宮崎｜養魚池）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1,672.00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rowSpan="3">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15,005</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rowSpan="3">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△7,334</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5,242</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路線価÷0.7にて時価を算出</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299085796"/>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大字南俣字下中堂2557番地5（宮崎｜養魚池）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302.00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947</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路線価÷0.7にて時価を算出</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561378344"/>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大字南俣字下中堂2557番地6（宮崎｜養魚池）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473.00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1,483</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路線価÷0.7にて時価を算出</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51913927"/>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吉田 鷺ノ瀬417-1 （和歌山｜養魚池）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4,339.00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rowSpan="2">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47,000</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rowSpan="2">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△5,121</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41,735</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路線価÷0.7にて時価を算出</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863970786"/>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吉田 鷺ノ瀬417-4 （和歌山｜養魚池）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15.00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144</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路線価÷0.7にて時価を算出</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377421384"/>
                  </a:ext>
                </a:extLst>
              </a:tr>
              <a:tr h="33168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彦根市八坂町（滋賀｜養魚池）</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531.00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5,779</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5,779</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固定資産税課税明細書を確認後、評価予定</a:t>
                      </a:r>
                    </a:p>
                  </a:txBody>
                  <a:tcPr marL="88106" marR="4895"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65235616"/>
                  </a:ext>
                </a:extLst>
              </a:tr>
              <a:tr h="331682">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9,225.00 </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70,784</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△2,952</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67,832</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l" fontAlgn="ctr">
                        <a:buNone/>
                      </a:pPr>
                      <a:r>
                        <a:rPr lang="ja-JP" sz="900" b="0" i="0" u="none" strike="noStrike" dirty="0">
                          <a:solidFill>
                            <a:srgbClr val="000000"/>
                          </a:solidFill>
                          <a:effectLst/>
                          <a:latin typeface="游ゴシック Medium" panose="020B0500000000000000" pitchFamily="50" charset="-128"/>
                          <a:ea typeface="游ゴシック Medium" panose="020B05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a:noFill/>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416369861"/>
                  </a:ext>
                </a:extLst>
              </a:tr>
            </a:tbl>
          </a:graphicData>
        </a:graphic>
      </p:graphicFrame>
    </p:spTree>
    <p:extLst>
      <p:ext uri="{BB962C8B-B14F-4D97-AF65-F5344CB8AC3E}">
        <p14:creationId xmlns:p14="http://schemas.microsoft.com/office/powerpoint/2010/main" val="3542174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104265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貸倒引当金：売掛債権については個別に回収可能性を判断しており、また、経常的に貸倒れが発生している事実がないと想定し、貸倒引当金の計上は不要と判断し全額控除する。</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土地：前頁の通り評価替えを行う。</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ja-JP" altLang="en-US" dirty="0"/>
              <a:t>修正</a:t>
            </a:r>
            <a:r>
              <a:rPr lang="en-US" altLang="ja-JP" dirty="0"/>
              <a:t>BS</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3" name="表 2">
            <a:extLst>
              <a:ext uri="{FF2B5EF4-FFF2-40B4-BE49-F238E27FC236}">
                <a16:creationId xmlns:a16="http://schemas.microsoft.com/office/drawing/2014/main" id="{5F9492B5-FBDD-DD70-8E52-760677247FF0}"/>
              </a:ext>
            </a:extLst>
          </p:cNvPr>
          <p:cNvGraphicFramePr>
            <a:graphicFrameLocks noGrp="1"/>
          </p:cNvGraphicFramePr>
          <p:nvPr>
            <p:extLst>
              <p:ext uri="{D42A27DB-BD31-4B8C-83A1-F6EECF244321}">
                <p14:modId xmlns:p14="http://schemas.microsoft.com/office/powerpoint/2010/main" val="89324319"/>
              </p:ext>
            </p:extLst>
          </p:nvPr>
        </p:nvGraphicFramePr>
        <p:xfrm>
          <a:off x="244804" y="878418"/>
          <a:ext cx="5101102" cy="6086994"/>
        </p:xfrm>
        <a:graphic>
          <a:graphicData uri="http://schemas.openxmlformats.org/drawingml/2006/table">
            <a:tbl>
              <a:tblPr/>
              <a:tblGrid>
                <a:gridCol w="1867069">
                  <a:extLst>
                    <a:ext uri="{9D8B030D-6E8A-4147-A177-3AD203B41FA5}">
                      <a16:colId xmlns:a16="http://schemas.microsoft.com/office/drawing/2014/main" val="662019843"/>
                    </a:ext>
                  </a:extLst>
                </a:gridCol>
                <a:gridCol w="1078011">
                  <a:extLst>
                    <a:ext uri="{9D8B030D-6E8A-4147-A177-3AD203B41FA5}">
                      <a16:colId xmlns:a16="http://schemas.microsoft.com/office/drawing/2014/main" val="2119100919"/>
                    </a:ext>
                  </a:extLst>
                </a:gridCol>
                <a:gridCol w="1078011">
                  <a:extLst>
                    <a:ext uri="{9D8B030D-6E8A-4147-A177-3AD203B41FA5}">
                      <a16:colId xmlns:a16="http://schemas.microsoft.com/office/drawing/2014/main" val="3235985253"/>
                    </a:ext>
                  </a:extLst>
                </a:gridCol>
                <a:gridCol w="1078011">
                  <a:extLst>
                    <a:ext uri="{9D8B030D-6E8A-4147-A177-3AD203B41FA5}">
                      <a16:colId xmlns:a16="http://schemas.microsoft.com/office/drawing/2014/main" val="1788063771"/>
                    </a:ext>
                  </a:extLst>
                </a:gridCol>
              </a:tblGrid>
              <a:tr h="122587">
                <a:tc>
                  <a:txBody>
                    <a:bodyPr/>
                    <a:lstStyle/>
                    <a:p>
                      <a:pPr algn="l" fontAlgn="ctr">
                        <a:buNone/>
                      </a:pPr>
                      <a:r>
                        <a:rPr lang="ja-JP" sz="10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739"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739" marR="2739"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10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739" marR="2739" marT="2739" marB="0" anchor="ctr">
                    <a:lnL>
                      <a:noFill/>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2739" marR="2739" marT="2739" marB="0" anchor="ctr">
                    <a:lnL>
                      <a:noFill/>
                    </a:lnL>
                    <a:lnR>
                      <a:noFill/>
                    </a:lnR>
                    <a:lnT>
                      <a:noFill/>
                    </a:lnT>
                    <a:lnB>
                      <a:noFill/>
                    </a:lnB>
                    <a:noFill/>
                  </a:tcPr>
                </a:tc>
                <a:extLst>
                  <a:ext uri="{0D108BD9-81ED-4DB2-BD59-A6C34878D82A}">
                    <a16:rowId xmlns:a16="http://schemas.microsoft.com/office/drawing/2014/main" val="2676240352"/>
                  </a:ext>
                </a:extLst>
              </a:tr>
              <a:tr h="191712">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739" marR="2739" marT="2739"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2739" marR="2739" marT="2739"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2739" marR="2739" marT="2739" marB="0" anchor="ctr">
                    <a:lnL>
                      <a:noFill/>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2739" marR="2739" marT="2739" marB="0" anchor="ctr">
                    <a:lnL>
                      <a:noFill/>
                    </a:lnL>
                    <a:lnR>
                      <a:noFill/>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675520392"/>
                  </a:ext>
                </a:extLst>
              </a:tr>
              <a:tr h="136207">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2739"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25年9月期</a:t>
                      </a:r>
                    </a:p>
                  </a:txBody>
                  <a:tcPr marL="2739"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739" marR="2739"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2739" marR="2739"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889C9"/>
                    </a:solidFill>
                  </a:tcPr>
                </a:tc>
                <a:extLst>
                  <a:ext uri="{0D108BD9-81ED-4DB2-BD59-A6C34878D82A}">
                    <a16:rowId xmlns:a16="http://schemas.microsoft.com/office/drawing/2014/main" val="1993888312"/>
                  </a:ext>
                </a:extLst>
              </a:tr>
              <a:tr h="153233">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100,792</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270</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101,062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現金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271</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271</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預金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36,533</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36,533</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779680045"/>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21,436</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21,436</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515927015"/>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△270</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270</a:t>
                      </a: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932508308"/>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27,123</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27,123</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041697855"/>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5,079</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5,079</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948781115"/>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短期貸付金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3,704</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3,704</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001101114"/>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1,443</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1,443</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676824669"/>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897</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897</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554739217"/>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2,616</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2,616</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214336157"/>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465848150"/>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リサイクル料</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71</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71</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198119255"/>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仮払消費税</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1,869</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1,869</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928424073"/>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2739" marR="49303" marT="2739" marB="0" anchor="ctr">
                    <a:lnL>
                      <a:noFill/>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95399975"/>
                  </a:ext>
                </a:extLst>
              </a:tr>
              <a:tr h="153233">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148,242</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△2,952</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145,289</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335561092"/>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98607"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80,885</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△2,952</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77,932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234022261"/>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建物</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5,687</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5,687</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327044587"/>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232</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232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377297477"/>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構築物</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573175334"/>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機械装置</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316</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316</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361018468"/>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854162981"/>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2,740</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2,740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557332869"/>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構築物附属設備</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106</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106</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32156248"/>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一括償却資産</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1,017</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1,017</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707110434"/>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土地</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70,784</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△2,952</a:t>
                      </a: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67,832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08101681"/>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減価償却累計額</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885022655"/>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98607"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142669060"/>
                  </a:ext>
                </a:extLst>
              </a:tr>
              <a:tr h="15085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借地権</a:t>
                      </a:r>
                    </a:p>
                  </a:txBody>
                  <a:tcPr marL="147910"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23,100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148997956"/>
                  </a:ext>
                </a:extLst>
              </a:tr>
              <a:tr h="15085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98607"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44,257</a:t>
                      </a:r>
                    </a:p>
                  </a:txBody>
                  <a:tcPr marL="2739" marR="98607"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2739" marR="98607"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44,257</a:t>
                      </a:r>
                    </a:p>
                  </a:txBody>
                  <a:tcPr marL="2739" marR="98607"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4122164502"/>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5,100</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5,100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652732760"/>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1,650</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1,650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068008156"/>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33,624</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225365725"/>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276</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276</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029302356"/>
                  </a:ext>
                </a:extLst>
              </a:tr>
              <a:tr h="153233">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漁業経営積立金</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3,607</a:t>
                      </a:r>
                    </a:p>
                  </a:txBody>
                  <a:tcPr marL="2739" marR="49303"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2739" marR="49303" marT="2739"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3,607</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114010460"/>
                  </a:ext>
                </a:extLst>
              </a:tr>
              <a:tr h="153233">
                <a:tc>
                  <a:txBody>
                    <a:bodyPr/>
                    <a:lstStyle/>
                    <a:p>
                      <a:pPr algn="l"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資産合計</a:t>
                      </a:r>
                    </a:p>
                  </a:txBody>
                  <a:tcPr marL="49303"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dirty="0">
                          <a:solidFill>
                            <a:srgbClr val="FFFFFF"/>
                          </a:solidFill>
                          <a:effectLst/>
                          <a:latin typeface="Arial" panose="020B0604020202020204" pitchFamily="34" charset="0"/>
                          <a:ea typeface="游ゴシック Medium" panose="020B0500000000000000" pitchFamily="50" charset="-128"/>
                        </a:rPr>
                        <a:t>249,033</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dirty="0">
                          <a:solidFill>
                            <a:srgbClr val="FFFFFF"/>
                          </a:solidFill>
                          <a:effectLst/>
                          <a:latin typeface="Arial" panose="020B0604020202020204" pitchFamily="34" charset="0"/>
                          <a:ea typeface="游ゴシック Medium" panose="020B0500000000000000" pitchFamily="50" charset="-128"/>
                        </a:rPr>
                        <a:t>△2,682</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dirty="0">
                          <a:solidFill>
                            <a:srgbClr val="FFFFFF"/>
                          </a:solidFill>
                          <a:effectLst/>
                          <a:latin typeface="Arial" panose="020B0604020202020204" pitchFamily="34" charset="0"/>
                          <a:ea typeface="游ゴシック Medium" panose="020B0500000000000000" pitchFamily="50" charset="-128"/>
                        </a:rPr>
                        <a:t>246,351</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3477747411"/>
                  </a:ext>
                </a:extLst>
              </a:tr>
            </a:tbl>
          </a:graphicData>
        </a:graphic>
      </p:graphicFrame>
    </p:spTree>
    <p:extLst>
      <p:ext uri="{BB962C8B-B14F-4D97-AF65-F5344CB8AC3E}">
        <p14:creationId xmlns:p14="http://schemas.microsoft.com/office/powerpoint/2010/main" val="171763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B13BEBD7-E126-4EFC-80E2-30F6E3A5C825}"/>
              </a:ext>
            </a:extLst>
          </p:cNvPr>
          <p:cNvSpPr txBox="1"/>
          <p:nvPr/>
        </p:nvSpPr>
        <p:spPr>
          <a:xfrm>
            <a:off x="5919905" y="1849388"/>
            <a:ext cx="4320000" cy="229992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短期借入金：</a:t>
            </a:r>
            <a:r>
              <a:rPr lang="en-US" altLang="ja-JP" sz="1100" b="1" spc="50" dirty="0">
                <a:latin typeface="+mj-ea"/>
                <a:ea typeface="+mj-ea"/>
              </a:rPr>
              <a:t>25</a:t>
            </a:r>
            <a:r>
              <a:rPr lang="ja-JP" altLang="en-US" sz="1100" b="1" spc="50" dirty="0">
                <a:latin typeface="+mj-ea"/>
                <a:ea typeface="+mj-ea"/>
              </a:rPr>
              <a:t>年</a:t>
            </a:r>
            <a:r>
              <a:rPr lang="en-US" altLang="ja-JP" sz="1100" b="1" spc="50" dirty="0">
                <a:latin typeface="+mj-ea"/>
                <a:ea typeface="+mj-ea"/>
              </a:rPr>
              <a:t>9</a:t>
            </a:r>
            <a:r>
              <a:rPr lang="ja-JP" altLang="en-US" sz="1100" b="1" spc="50" dirty="0">
                <a:latin typeface="+mj-ea"/>
                <a:ea typeface="+mj-ea"/>
              </a:rPr>
              <a:t>月期までは残高ゼロで推移していた一方、</a:t>
            </a:r>
            <a:r>
              <a:rPr lang="en-US" altLang="ja-JP" sz="1100" b="1" spc="50" dirty="0">
                <a:latin typeface="+mj-ea"/>
                <a:ea typeface="+mj-ea"/>
              </a:rPr>
              <a:t>26</a:t>
            </a:r>
            <a:r>
              <a:rPr lang="ja-JP" altLang="en-US" sz="1100" b="1" spc="50" dirty="0">
                <a:latin typeface="+mj-ea"/>
                <a:ea typeface="+mj-ea"/>
              </a:rPr>
              <a:t>年</a:t>
            </a:r>
            <a:r>
              <a:rPr lang="en-US" altLang="ja-JP" sz="1100" b="1" spc="50" dirty="0">
                <a:latin typeface="+mj-ea"/>
                <a:ea typeface="+mj-ea"/>
              </a:rPr>
              <a:t>4</a:t>
            </a:r>
            <a:r>
              <a:rPr lang="ja-JP" altLang="en-US" sz="1100" b="1" spc="50" dirty="0">
                <a:latin typeface="+mj-ea"/>
                <a:ea typeface="+mj-ea"/>
              </a:rPr>
              <a:t>月時点で</a:t>
            </a:r>
            <a:r>
              <a:rPr lang="en-US" altLang="ja-JP" sz="1100" b="1" spc="50" dirty="0">
                <a:latin typeface="+mj-ea"/>
                <a:ea typeface="+mj-ea"/>
              </a:rPr>
              <a:t>85,000</a:t>
            </a:r>
            <a:r>
              <a:rPr lang="ja-JP" altLang="en-US" sz="1100" b="1" spc="50" dirty="0">
                <a:latin typeface="+mj-ea"/>
                <a:ea typeface="+mj-ea"/>
              </a:rPr>
              <a:t>千円が計上。借入実行の背景、資金使途、借入先についてお伺いできますと幸いでございます。</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長期借入金：長期借入金は減少傾向にある一方、</a:t>
            </a:r>
            <a:r>
              <a:rPr lang="en-US" altLang="ja-JP" sz="1100" b="1" spc="50" dirty="0">
                <a:latin typeface="+mj-ea"/>
                <a:ea typeface="+mj-ea"/>
              </a:rPr>
              <a:t>26</a:t>
            </a:r>
            <a:r>
              <a:rPr lang="ja-JP" altLang="en-US" sz="1100" b="1" spc="50" dirty="0">
                <a:latin typeface="+mj-ea"/>
                <a:ea typeface="+mj-ea"/>
              </a:rPr>
              <a:t>年</a:t>
            </a:r>
            <a:r>
              <a:rPr lang="en-US" altLang="ja-JP" sz="1100" b="1" spc="50" dirty="0">
                <a:latin typeface="+mj-ea"/>
                <a:ea typeface="+mj-ea"/>
              </a:rPr>
              <a:t>4</a:t>
            </a:r>
            <a:r>
              <a:rPr lang="ja-JP" altLang="en-US" sz="1100" b="1" spc="50" dirty="0">
                <a:latin typeface="+mj-ea"/>
                <a:ea typeface="+mj-ea"/>
              </a:rPr>
              <a:t>月時点でも</a:t>
            </a:r>
            <a:r>
              <a:rPr lang="en-US" altLang="ja-JP" sz="1100" b="1" spc="50" dirty="0">
                <a:latin typeface="+mj-ea"/>
                <a:ea typeface="+mj-ea"/>
              </a:rPr>
              <a:t>206,887</a:t>
            </a:r>
            <a:r>
              <a:rPr lang="ja-JP" altLang="en-US" sz="1100" b="1" spc="50" dirty="0">
                <a:latin typeface="+mj-ea"/>
                <a:ea typeface="+mj-ea"/>
              </a:rPr>
              <a:t>千円と高水準。</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個人借入金：内訳は鳥塚源弘様</a:t>
            </a:r>
            <a:r>
              <a:rPr lang="en-US" altLang="ja-JP" sz="1100" b="1" spc="50" dirty="0">
                <a:latin typeface="+mj-ea"/>
                <a:ea typeface="+mj-ea"/>
              </a:rPr>
              <a:t>14,000</a:t>
            </a:r>
            <a:r>
              <a:rPr lang="ja-JP" altLang="en-US" sz="1100" b="1" spc="50" dirty="0">
                <a:latin typeface="+mj-ea"/>
                <a:ea typeface="+mj-ea"/>
              </a:rPr>
              <a:t>千円、兼子貴絵様</a:t>
            </a:r>
            <a:r>
              <a:rPr lang="en-US" altLang="ja-JP" sz="1100" b="1" spc="50" dirty="0">
                <a:latin typeface="+mj-ea"/>
                <a:ea typeface="+mj-ea"/>
              </a:rPr>
              <a:t>17,300</a:t>
            </a:r>
            <a:r>
              <a:rPr lang="ja-JP" altLang="en-US" sz="1100" b="1" spc="50" dirty="0">
                <a:latin typeface="+mj-ea"/>
                <a:ea typeface="+mj-ea"/>
              </a:rPr>
              <a:t>千円と認識。</a:t>
            </a:r>
            <a:r>
              <a:rPr lang="en-US" altLang="ja-JP" sz="1100" b="1" spc="50" dirty="0">
                <a:latin typeface="+mj-ea"/>
                <a:ea typeface="+mj-ea"/>
              </a:rPr>
              <a:t>M&amp;A</a:t>
            </a:r>
            <a:r>
              <a:rPr lang="ja-JP" altLang="en-US" sz="1100" b="1" spc="50" dirty="0">
                <a:latin typeface="+mj-ea"/>
                <a:ea typeface="+mj-ea"/>
              </a:rPr>
              <a:t>実行時の取扱いについて要協議。</a:t>
            </a:r>
            <a:br>
              <a:rPr lang="en-US" altLang="ja-JP" sz="1100" b="1" spc="50" dirty="0">
                <a:latin typeface="+mj-ea"/>
                <a:ea typeface="+mj-ea"/>
              </a:rPr>
            </a:br>
            <a:r>
              <a:rPr lang="en-US" altLang="ja-JP" sz="1100" b="1" spc="50" dirty="0">
                <a:latin typeface="+mj-ea"/>
                <a:ea typeface="+mj-ea"/>
              </a:rPr>
              <a:t>※</a:t>
            </a:r>
            <a:r>
              <a:rPr lang="ja-JP" altLang="en-US" sz="1100" b="1" spc="50" dirty="0">
                <a:latin typeface="+mj-ea"/>
                <a:ea typeface="+mj-ea"/>
              </a:rPr>
              <a:t>あゆち様</a:t>
            </a:r>
            <a:r>
              <a:rPr lang="en-US" altLang="ja-JP" sz="1100" b="1" spc="50" dirty="0">
                <a:latin typeface="+mj-ea"/>
                <a:ea typeface="+mj-ea"/>
              </a:rPr>
              <a:t>13,000</a:t>
            </a:r>
            <a:r>
              <a:rPr lang="ja-JP" altLang="en-US" sz="1100" b="1" spc="50" dirty="0">
                <a:latin typeface="+mj-ea"/>
                <a:ea typeface="+mj-ea"/>
              </a:rPr>
              <a:t>千円、通弘様</a:t>
            </a:r>
            <a:r>
              <a:rPr lang="en-US" altLang="ja-JP" sz="1100" b="1" spc="50" dirty="0">
                <a:latin typeface="+mj-ea"/>
                <a:ea typeface="+mj-ea"/>
              </a:rPr>
              <a:t>13,200</a:t>
            </a:r>
            <a:r>
              <a:rPr lang="ja-JP" altLang="en-US" sz="1100" b="1" spc="50" dirty="0">
                <a:latin typeface="+mj-ea"/>
                <a:ea typeface="+mj-ea"/>
              </a:rPr>
              <a:t>千円については債務免除済みとの認識。</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lang="en-US" altLang="ja-JP" dirty="0"/>
              <a:t>BS</a:t>
            </a:r>
            <a:r>
              <a:rPr lang="ja-JP" altLang="en-US" dirty="0"/>
              <a:t>補足</a:t>
            </a:r>
            <a:r>
              <a:rPr lang="ja-JP" altLang="en-US" sz="1800" dirty="0"/>
              <a:t>［負債・純資産］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B027BB31-5712-B589-FAF6-FEF5A19860C5}"/>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8" name="表 7">
            <a:extLst>
              <a:ext uri="{FF2B5EF4-FFF2-40B4-BE49-F238E27FC236}">
                <a16:creationId xmlns:a16="http://schemas.microsoft.com/office/drawing/2014/main" id="{5E81CBBB-A446-BB13-683B-CB5F62B2DD3C}"/>
              </a:ext>
            </a:extLst>
          </p:cNvPr>
          <p:cNvGraphicFramePr>
            <a:graphicFrameLocks noGrp="1"/>
          </p:cNvGraphicFramePr>
          <p:nvPr>
            <p:extLst>
              <p:ext uri="{D42A27DB-BD31-4B8C-83A1-F6EECF244321}">
                <p14:modId xmlns:p14="http://schemas.microsoft.com/office/powerpoint/2010/main" val="3392452724"/>
              </p:ext>
            </p:extLst>
          </p:nvPr>
        </p:nvGraphicFramePr>
        <p:xfrm>
          <a:off x="341313" y="982458"/>
          <a:ext cx="5005387" cy="2713246"/>
        </p:xfrm>
        <a:graphic>
          <a:graphicData uri="http://schemas.openxmlformats.org/drawingml/2006/table">
            <a:tbl>
              <a:tblPr/>
              <a:tblGrid>
                <a:gridCol w="1512419">
                  <a:extLst>
                    <a:ext uri="{9D8B030D-6E8A-4147-A177-3AD203B41FA5}">
                      <a16:colId xmlns:a16="http://schemas.microsoft.com/office/drawing/2014/main" val="140435893"/>
                    </a:ext>
                  </a:extLst>
                </a:gridCol>
                <a:gridCol w="873242">
                  <a:extLst>
                    <a:ext uri="{9D8B030D-6E8A-4147-A177-3AD203B41FA5}">
                      <a16:colId xmlns:a16="http://schemas.microsoft.com/office/drawing/2014/main" val="1469753659"/>
                    </a:ext>
                  </a:extLst>
                </a:gridCol>
                <a:gridCol w="873242">
                  <a:extLst>
                    <a:ext uri="{9D8B030D-6E8A-4147-A177-3AD203B41FA5}">
                      <a16:colId xmlns:a16="http://schemas.microsoft.com/office/drawing/2014/main" val="80575429"/>
                    </a:ext>
                  </a:extLst>
                </a:gridCol>
                <a:gridCol w="873242">
                  <a:extLst>
                    <a:ext uri="{9D8B030D-6E8A-4147-A177-3AD203B41FA5}">
                      <a16:colId xmlns:a16="http://schemas.microsoft.com/office/drawing/2014/main" val="2683263371"/>
                    </a:ext>
                  </a:extLst>
                </a:gridCol>
                <a:gridCol w="873242">
                  <a:extLst>
                    <a:ext uri="{9D8B030D-6E8A-4147-A177-3AD203B41FA5}">
                      <a16:colId xmlns:a16="http://schemas.microsoft.com/office/drawing/2014/main" val="2369272048"/>
                    </a:ext>
                  </a:extLst>
                </a:gridCol>
              </a:tblGrid>
              <a:tr h="223621">
                <a:tc gridSpan="5">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344757">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23年9月期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24年9月期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25年9月期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26年4月</a:t>
                      </a:r>
                      <a:br>
                        <a:rPr lang="ja-JP" sz="900" b="1" i="0" u="none" strike="noStrike">
                          <a:solidFill>
                            <a:srgbClr val="FFFFFF"/>
                          </a:solidFill>
                          <a:effectLst/>
                          <a:latin typeface="游ゴシック" panose="020B0400000000000000" pitchFamily="50" charset="-128"/>
                          <a:ea typeface="游ゴシック" panose="020B0400000000000000" pitchFamily="50" charset="-128"/>
                        </a:rPr>
                      </a:br>
                      <a:r>
                        <a:rPr lang="ja-JP" sz="900" b="1" i="0" u="none" strike="noStrike">
                          <a:solidFill>
                            <a:srgbClr val="FFFFFF"/>
                          </a:solidFill>
                          <a:effectLst/>
                          <a:latin typeface="游ゴシック" panose="020B0400000000000000" pitchFamily="50" charset="-128"/>
                          <a:ea typeface="游ゴシック" panose="020B0400000000000000" pitchFamily="50" charset="-128"/>
                        </a:rPr>
                        <a:t>（7か月TB）</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727F88"/>
                    </a:solidFill>
                  </a:tcPr>
                </a:tc>
                <a:extLst>
                  <a:ext uri="{0D108BD9-81ED-4DB2-BD59-A6C34878D82A}">
                    <a16:rowId xmlns:a16="http://schemas.microsoft.com/office/drawing/2014/main" val="3028628170"/>
                  </a:ext>
                </a:extLst>
              </a:tr>
              <a:tr h="178739">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34,003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28,825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26,220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124,485</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78739">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3,080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5,453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5,550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12,768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78739">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短期借入金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85,000</a:t>
                      </a:r>
                    </a:p>
                  </a:txBody>
                  <a:tcPr marL="6350" marR="114300" marT="6350" marB="0" anchor="ctr">
                    <a:lnL>
                      <a:noFill/>
                    </a:lnL>
                    <a:lnR>
                      <a:noFill/>
                    </a:lnR>
                    <a:lnT>
                      <a:noFill/>
                    </a:lnT>
                    <a:lnB>
                      <a:noFill/>
                    </a:lnB>
                    <a:noFill/>
                  </a:tcPr>
                </a:tc>
                <a:extLst>
                  <a:ext uri="{0D108BD9-81ED-4DB2-BD59-A6C34878D82A}">
                    <a16:rowId xmlns:a16="http://schemas.microsoft.com/office/drawing/2014/main" val="3742922775"/>
                  </a:ext>
                </a:extLst>
              </a:tr>
              <a:tr h="178739">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27,101</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21,943</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20,071</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17,200</a:t>
                      </a:r>
                    </a:p>
                  </a:txBody>
                  <a:tcPr marL="6350" marR="114300" marT="6350" marB="0" anchor="ctr">
                    <a:lnL>
                      <a:noFill/>
                    </a:lnL>
                    <a:lnR>
                      <a:noFill/>
                    </a:lnR>
                    <a:lnT>
                      <a:noFill/>
                    </a:lnT>
                    <a:lnB>
                      <a:noFill/>
                    </a:lnB>
                    <a:noFill/>
                  </a:tcPr>
                </a:tc>
                <a:extLst>
                  <a:ext uri="{0D108BD9-81ED-4DB2-BD59-A6C34878D82A}">
                    <a16:rowId xmlns:a16="http://schemas.microsoft.com/office/drawing/2014/main" val="2968694873"/>
                  </a:ext>
                </a:extLst>
              </a:tr>
              <a:tr h="178739">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法人税等充当金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extLst>
                  <a:ext uri="{0D108BD9-81ED-4DB2-BD59-A6C34878D82A}">
                    <a16:rowId xmlns:a16="http://schemas.microsoft.com/office/drawing/2014/main" val="891374569"/>
                  </a:ext>
                </a:extLst>
              </a:tr>
              <a:tr h="178739">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219</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174</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254</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169</a:t>
                      </a:r>
                    </a:p>
                  </a:txBody>
                  <a:tcPr marL="6350" marR="114300" marT="6350" marB="0" anchor="ctr">
                    <a:lnL>
                      <a:noFill/>
                    </a:lnL>
                    <a:lnR>
                      <a:noFill/>
                    </a:lnR>
                    <a:lnT>
                      <a:noFill/>
                    </a:lnT>
                    <a:lnB>
                      <a:noFill/>
                    </a:lnB>
                    <a:noFill/>
                  </a:tcPr>
                </a:tc>
                <a:extLst>
                  <a:ext uri="{0D108BD9-81ED-4DB2-BD59-A6C34878D82A}">
                    <a16:rowId xmlns:a16="http://schemas.microsoft.com/office/drawing/2014/main" val="4061010043"/>
                  </a:ext>
                </a:extLst>
              </a:tr>
              <a:tr h="178739">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3,531</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1,183</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9,348</a:t>
                      </a:r>
                    </a:p>
                  </a:txBody>
                  <a:tcPr marL="6350" marR="114300" marT="6350" marB="0" anchor="ctr">
                    <a:lnL>
                      <a:noFill/>
                    </a:lnL>
                    <a:lnR>
                      <a:noFill/>
                    </a:lnR>
                    <a:lnT>
                      <a:noFill/>
                    </a:lnT>
                    <a:lnB>
                      <a:noFill/>
                    </a:lnB>
                    <a:noFill/>
                  </a:tcPr>
                </a:tc>
                <a:extLst>
                  <a:ext uri="{0D108BD9-81ED-4DB2-BD59-A6C34878D82A}">
                    <a16:rowId xmlns:a16="http://schemas.microsoft.com/office/drawing/2014/main" val="2891982264"/>
                  </a:ext>
                </a:extLst>
              </a:tr>
              <a:tr h="178739">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273</a:t>
                      </a:r>
                    </a:p>
                  </a:txBody>
                  <a:tcPr marL="6350" marR="11430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a:noFill/>
                    </a:lnR>
                    <a:lnT>
                      <a:noFill/>
                    </a:lnT>
                    <a:lnB>
                      <a:noFill/>
                    </a:lnB>
                    <a:noFill/>
                  </a:tcPr>
                </a:tc>
                <a:extLst>
                  <a:ext uri="{0D108BD9-81ED-4DB2-BD59-A6C34878D82A}">
                    <a16:rowId xmlns:a16="http://schemas.microsoft.com/office/drawing/2014/main" val="2205375219"/>
                  </a:ext>
                </a:extLst>
              </a:tr>
              <a:tr h="178739">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340,283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300,542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243,725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238,187</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83488455"/>
                  </a:ext>
                </a:extLst>
              </a:tr>
              <a:tr h="178739">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282,783</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269,242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212,425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206,887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536435474"/>
                  </a:ext>
                </a:extLst>
              </a:tr>
              <a:tr h="178739">
                <a:tc>
                  <a:txBody>
                    <a:bodyPr/>
                    <a:lstStyle/>
                    <a:p>
                      <a:pPr algn="l" fontAlgn="ctr">
                        <a:buNone/>
                      </a:pPr>
                      <a:r>
                        <a:rPr lang="ja-JP" sz="9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個人借入金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57,500</a:t>
                      </a:r>
                    </a:p>
                  </a:txBody>
                  <a:tcPr marL="6350" marR="114300" marT="635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31,300</a:t>
                      </a:r>
                    </a:p>
                  </a:txBody>
                  <a:tcPr marL="6350" marR="114300" marT="6350" marB="0" anchor="ctr">
                    <a:lnL>
                      <a:noFill/>
                    </a:lnL>
                    <a:lnR>
                      <a:noFill/>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31,300</a:t>
                      </a:r>
                    </a:p>
                  </a:txBody>
                  <a:tcPr marL="6350" marR="114300" marT="6350" marB="0" anchor="ctr">
                    <a:lnL>
                      <a:noFill/>
                    </a:lnL>
                    <a:lnR>
                      <a:noFill/>
                    </a:lnR>
                    <a:lnT>
                      <a:noFill/>
                    </a:lnT>
                    <a:lnB>
                      <a:noFill/>
                    </a:lnB>
                    <a:noFill/>
                  </a:tcPr>
                </a:tc>
                <a:tc>
                  <a:txBody>
                    <a:bodyPr/>
                    <a:lstStyle/>
                    <a:p>
                      <a:pPr algn="r" fontAlgn="ctr">
                        <a:buNone/>
                      </a:pPr>
                      <a:r>
                        <a:rPr lang="ja-JP" sz="900" b="0" i="0" u="none" strike="noStrike" dirty="0">
                          <a:solidFill>
                            <a:srgbClr val="000000"/>
                          </a:solidFill>
                          <a:effectLst/>
                          <a:highlight>
                            <a:srgbClr val="FFFF00"/>
                          </a:highlight>
                          <a:latin typeface="Arial" panose="020B0604020202020204" pitchFamily="34" charset="0"/>
                          <a:ea typeface="游ゴシック Medium" panose="020B0500000000000000" pitchFamily="50" charset="-128"/>
                        </a:rPr>
                        <a:t>31,300</a:t>
                      </a:r>
                    </a:p>
                  </a:txBody>
                  <a:tcPr marL="6350" marR="114300" marT="6350" marB="0" anchor="ctr">
                    <a:lnL>
                      <a:noFill/>
                    </a:lnL>
                    <a:lnR>
                      <a:noFill/>
                    </a:lnR>
                    <a:lnT>
                      <a:noFill/>
                    </a:lnT>
                    <a:lnB>
                      <a:noFill/>
                    </a:lnB>
                    <a:noFill/>
                  </a:tcPr>
                </a:tc>
                <a:extLst>
                  <a:ext uri="{0D108BD9-81ED-4DB2-BD59-A6C34878D82A}">
                    <a16:rowId xmlns:a16="http://schemas.microsoft.com/office/drawing/2014/main" val="2449116104"/>
                  </a:ext>
                </a:extLst>
              </a:tr>
              <a:tr h="178739">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374,286</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329,366</a:t>
                      </a:r>
                    </a:p>
                  </a:txBody>
                  <a:tcPr marL="6350" marR="114300" marT="6350" marB="0" anchor="ctr">
                    <a:lnL>
                      <a:noFill/>
                    </a:lnL>
                    <a:lnR>
                      <a:noFill/>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269,945</a:t>
                      </a:r>
                    </a:p>
                  </a:txBody>
                  <a:tcPr marL="6350" marR="114300" marT="6350" marB="0" anchor="ctr">
                    <a:lnL>
                      <a:noFill/>
                    </a:lnL>
                    <a:lnR>
                      <a:noFill/>
                    </a:lnR>
                    <a:lnT>
                      <a:noFill/>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362,672</a:t>
                      </a:r>
                    </a:p>
                  </a:txBody>
                  <a:tcPr marL="6350" marR="114300" marT="6350" marB="0" anchor="ctr">
                    <a:lnL>
                      <a:noFill/>
                    </a:lnL>
                    <a:lnR>
                      <a:noFill/>
                    </a:lnR>
                    <a:lnT>
                      <a:noFill/>
                    </a:lnT>
                    <a:lnB w="6350" cap="flat" cmpd="sng" algn="ctr">
                      <a:solidFill>
                        <a:srgbClr val="0B3041"/>
                      </a:solidFill>
                      <a:prstDash val="solid"/>
                      <a:round/>
                      <a:headEnd type="none" w="med" len="med"/>
                      <a:tailEnd type="none" w="med" len="med"/>
                    </a:lnB>
                    <a:solidFill>
                      <a:srgbClr val="0B3041"/>
                    </a:solidFill>
                  </a:tcPr>
                </a:tc>
                <a:extLst>
                  <a:ext uri="{0D108BD9-81ED-4DB2-BD59-A6C34878D82A}">
                    <a16:rowId xmlns:a16="http://schemas.microsoft.com/office/drawing/2014/main" val="4071145118"/>
                  </a:ext>
                </a:extLst>
              </a:tr>
            </a:tbl>
          </a:graphicData>
        </a:graphic>
      </p:graphicFrame>
      <p:graphicFrame>
        <p:nvGraphicFramePr>
          <p:cNvPr id="11" name="表 10">
            <a:extLst>
              <a:ext uri="{FF2B5EF4-FFF2-40B4-BE49-F238E27FC236}">
                <a16:creationId xmlns:a16="http://schemas.microsoft.com/office/drawing/2014/main" id="{73623FF6-D72B-C11F-A680-C7721DBB6E74}"/>
              </a:ext>
            </a:extLst>
          </p:cNvPr>
          <p:cNvGraphicFramePr>
            <a:graphicFrameLocks noGrp="1"/>
          </p:cNvGraphicFramePr>
          <p:nvPr>
            <p:extLst>
              <p:ext uri="{D42A27DB-BD31-4B8C-83A1-F6EECF244321}">
                <p14:modId xmlns:p14="http://schemas.microsoft.com/office/powerpoint/2010/main" val="2957363408"/>
              </p:ext>
            </p:extLst>
          </p:nvPr>
        </p:nvGraphicFramePr>
        <p:xfrm>
          <a:off x="341313" y="4527746"/>
          <a:ext cx="5005387" cy="2049471"/>
        </p:xfrm>
        <a:graphic>
          <a:graphicData uri="http://schemas.openxmlformats.org/drawingml/2006/table">
            <a:tbl>
              <a:tblPr/>
              <a:tblGrid>
                <a:gridCol w="1512419">
                  <a:extLst>
                    <a:ext uri="{9D8B030D-6E8A-4147-A177-3AD203B41FA5}">
                      <a16:colId xmlns:a16="http://schemas.microsoft.com/office/drawing/2014/main" val="4058629608"/>
                    </a:ext>
                  </a:extLst>
                </a:gridCol>
                <a:gridCol w="873242">
                  <a:extLst>
                    <a:ext uri="{9D8B030D-6E8A-4147-A177-3AD203B41FA5}">
                      <a16:colId xmlns:a16="http://schemas.microsoft.com/office/drawing/2014/main" val="2673297223"/>
                    </a:ext>
                  </a:extLst>
                </a:gridCol>
                <a:gridCol w="873242">
                  <a:extLst>
                    <a:ext uri="{9D8B030D-6E8A-4147-A177-3AD203B41FA5}">
                      <a16:colId xmlns:a16="http://schemas.microsoft.com/office/drawing/2014/main" val="756661618"/>
                    </a:ext>
                  </a:extLst>
                </a:gridCol>
                <a:gridCol w="873242">
                  <a:extLst>
                    <a:ext uri="{9D8B030D-6E8A-4147-A177-3AD203B41FA5}">
                      <a16:colId xmlns:a16="http://schemas.microsoft.com/office/drawing/2014/main" val="2152851366"/>
                    </a:ext>
                  </a:extLst>
                </a:gridCol>
                <a:gridCol w="873242">
                  <a:extLst>
                    <a:ext uri="{9D8B030D-6E8A-4147-A177-3AD203B41FA5}">
                      <a16:colId xmlns:a16="http://schemas.microsoft.com/office/drawing/2014/main" val="1382805660"/>
                    </a:ext>
                  </a:extLst>
                </a:gridCol>
              </a:tblGrid>
              <a:tr h="202705">
                <a:tc gridSpan="5">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202705">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202705">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1456255"/>
                  </a:ext>
                </a:extLst>
              </a:tr>
              <a:tr h="2059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2059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△57,568</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△14,189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△30,912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△80,456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164222422"/>
                  </a:ext>
                </a:extLst>
              </a:tr>
              <a:tr h="2059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利益準備金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776807753"/>
                  </a:ext>
                </a:extLst>
              </a:tr>
              <a:tr h="2059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342900" marR="6350" marT="635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△60,068</a:t>
                      </a:r>
                    </a:p>
                  </a:txBody>
                  <a:tcPr marL="6350" marR="11430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△16,689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△33,412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△82,956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943967872"/>
                  </a:ext>
                </a:extLst>
              </a:tr>
              <a:tr h="2059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extLst>
                  <a:ext uri="{0D108BD9-81ED-4DB2-BD59-A6C34878D82A}">
                    <a16:rowId xmlns:a16="http://schemas.microsoft.com/office/drawing/2014/main" val="1359361426"/>
                  </a:ext>
                </a:extLst>
              </a:tr>
              <a:tr h="205908">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△47,568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△4,189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△20,912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△70,456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205908">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326,717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325,177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249,033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292,216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956644857"/>
                  </a:ext>
                </a:extLst>
              </a:tr>
            </a:tbl>
          </a:graphicData>
        </a:graphic>
      </p:graphicFrame>
    </p:spTree>
    <p:extLst>
      <p:ext uri="{BB962C8B-B14F-4D97-AF65-F5344CB8AC3E}">
        <p14:creationId xmlns:p14="http://schemas.microsoft.com/office/powerpoint/2010/main" val="627659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07165E55-3785-323B-D0D9-F2EFA46529D1}"/>
              </a:ext>
            </a:extLst>
          </p:cNvPr>
          <p:cNvSpPr txBox="1"/>
          <p:nvPr/>
        </p:nvSpPr>
        <p:spPr>
          <a:xfrm>
            <a:off x="5919905" y="1849388"/>
            <a:ext cx="4320000" cy="120731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純資産：評価修正額△</a:t>
            </a:r>
            <a:r>
              <a:rPr lang="en-US" altLang="ja-JP" sz="1100" b="1" spc="50" dirty="0">
                <a:latin typeface="+mj-ea"/>
                <a:ea typeface="+mj-ea"/>
              </a:rPr>
              <a:t>2,682</a:t>
            </a:r>
            <a:r>
              <a:rPr lang="ja-JP" altLang="en-US" sz="1100" b="1" spc="50" dirty="0">
                <a:latin typeface="+mj-ea"/>
                <a:ea typeface="+mj-ea"/>
              </a:rPr>
              <a:t>千円を反映した結果、修正後純資産は△</a:t>
            </a:r>
            <a:r>
              <a:rPr lang="en-US" altLang="ja-JP" sz="1100" b="1" spc="50" dirty="0">
                <a:latin typeface="+mj-ea"/>
                <a:ea typeface="+mj-ea"/>
              </a:rPr>
              <a:t>23,594</a:t>
            </a:r>
            <a:r>
              <a:rPr lang="ja-JP" altLang="en-US" sz="1100" b="1" spc="50" dirty="0">
                <a:latin typeface="+mj-ea"/>
                <a:ea typeface="+mj-ea"/>
              </a:rPr>
              <a:t>千円となり、債務超過幅が拡大。</a:t>
            </a:r>
            <a:r>
              <a:rPr lang="en-US" altLang="ja-JP" sz="1100" b="1" spc="50" dirty="0">
                <a:latin typeface="+mj-ea"/>
                <a:ea typeface="+mj-ea"/>
              </a:rPr>
              <a:t>26</a:t>
            </a:r>
            <a:r>
              <a:rPr lang="ja-JP" altLang="en-US" sz="1100" b="1" spc="50" dirty="0">
                <a:latin typeface="+mj-ea"/>
                <a:ea typeface="+mj-ea"/>
              </a:rPr>
              <a:t>年</a:t>
            </a:r>
            <a:r>
              <a:rPr lang="en-US" altLang="ja-JP" sz="1100" b="1" spc="50" dirty="0">
                <a:latin typeface="+mj-ea"/>
                <a:ea typeface="+mj-ea"/>
              </a:rPr>
              <a:t>4</a:t>
            </a:r>
            <a:r>
              <a:rPr lang="ja-JP" altLang="en-US" sz="1100" b="1" spc="50" dirty="0">
                <a:latin typeface="+mj-ea"/>
                <a:ea typeface="+mj-ea"/>
              </a:rPr>
              <a:t>月時点で△</a:t>
            </a:r>
            <a:r>
              <a:rPr lang="en-US" altLang="ja-JP" sz="1100" b="1" spc="50" dirty="0">
                <a:latin typeface="+mj-ea"/>
                <a:ea typeface="+mj-ea"/>
              </a:rPr>
              <a:t>70,456</a:t>
            </a:r>
            <a:r>
              <a:rPr lang="ja-JP" altLang="en-US" sz="1100" b="1" spc="50" dirty="0">
                <a:latin typeface="+mj-ea"/>
                <a:ea typeface="+mj-ea"/>
              </a:rPr>
              <a:t>千円と債務超過が拡大していると認識。進行期赤字の要因、今後の資金繰り、債務超過解消の見通しについて協議させて頂けますと幸いです。</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lang="ja-JP" altLang="en-US" dirty="0"/>
              <a:t>修正</a:t>
            </a:r>
            <a:r>
              <a:rPr lang="en-US" altLang="ja-JP" dirty="0"/>
              <a:t>BS</a:t>
            </a:r>
            <a:r>
              <a:rPr lang="ja-JP" altLang="en-US" sz="1800" dirty="0"/>
              <a:t>［負債・純資産］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7865103-507D-37F1-F6F9-CDEC35B6E872}"/>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EBC5D66D-F9FF-3876-586A-B31125B18F6B}"/>
              </a:ext>
            </a:extLst>
          </p:cNvPr>
          <p:cNvGraphicFramePr>
            <a:graphicFrameLocks noGrp="1"/>
          </p:cNvGraphicFramePr>
          <p:nvPr>
            <p:extLst>
              <p:ext uri="{D42A27DB-BD31-4B8C-83A1-F6EECF244321}">
                <p14:modId xmlns:p14="http://schemas.microsoft.com/office/powerpoint/2010/main" val="2760838019"/>
              </p:ext>
            </p:extLst>
          </p:nvPr>
        </p:nvGraphicFramePr>
        <p:xfrm>
          <a:off x="341313" y="860007"/>
          <a:ext cx="5004592" cy="5980522"/>
        </p:xfrm>
        <a:graphic>
          <a:graphicData uri="http://schemas.openxmlformats.org/drawingml/2006/table">
            <a:tbl>
              <a:tblPr/>
              <a:tblGrid>
                <a:gridCol w="1831747">
                  <a:extLst>
                    <a:ext uri="{9D8B030D-6E8A-4147-A177-3AD203B41FA5}">
                      <a16:colId xmlns:a16="http://schemas.microsoft.com/office/drawing/2014/main" val="2719514001"/>
                    </a:ext>
                  </a:extLst>
                </a:gridCol>
                <a:gridCol w="1057615">
                  <a:extLst>
                    <a:ext uri="{9D8B030D-6E8A-4147-A177-3AD203B41FA5}">
                      <a16:colId xmlns:a16="http://schemas.microsoft.com/office/drawing/2014/main" val="3558173115"/>
                    </a:ext>
                  </a:extLst>
                </a:gridCol>
                <a:gridCol w="1057615">
                  <a:extLst>
                    <a:ext uri="{9D8B030D-6E8A-4147-A177-3AD203B41FA5}">
                      <a16:colId xmlns:a16="http://schemas.microsoft.com/office/drawing/2014/main" val="2313249536"/>
                    </a:ext>
                  </a:extLst>
                </a:gridCol>
                <a:gridCol w="1057615">
                  <a:extLst>
                    <a:ext uri="{9D8B030D-6E8A-4147-A177-3AD203B41FA5}">
                      <a16:colId xmlns:a16="http://schemas.microsoft.com/office/drawing/2014/main" val="937774236"/>
                    </a:ext>
                  </a:extLst>
                </a:gridCol>
              </a:tblGrid>
              <a:tr h="192196">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4281" marR="4281" marT="4281"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281" marR="4281" marT="4281"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281" marR="4281" marT="4281"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4281" marR="4281" marT="4281" marB="0" anchor="ctr">
                    <a:lnL>
                      <a:noFill/>
                    </a:lnL>
                    <a:lnR>
                      <a:noFill/>
                    </a:lnR>
                    <a:lnT>
                      <a:noFill/>
                    </a:lnT>
                    <a:lnB>
                      <a:noFill/>
                    </a:lnB>
                    <a:noFill/>
                  </a:tcPr>
                </a:tc>
                <a:extLst>
                  <a:ext uri="{0D108BD9-81ED-4DB2-BD59-A6C34878D82A}">
                    <a16:rowId xmlns:a16="http://schemas.microsoft.com/office/drawing/2014/main" val="352485218"/>
                  </a:ext>
                </a:extLst>
              </a:tr>
              <a:tr h="300574">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4281" marR="4281" marT="4281" marB="0" anchor="ctr">
                    <a:lnL w="635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209732130"/>
                  </a:ext>
                </a:extLst>
              </a:tr>
              <a:tr h="213551">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4281" marR="4281" marT="4281" marB="0" anchor="ctr">
                    <a:lnL>
                      <a:noFill/>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25年9月期</a:t>
                      </a:r>
                    </a:p>
                  </a:txBody>
                  <a:tcPr marL="4281" marR="4281" marT="4281"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修正額</a:t>
                      </a:r>
                    </a:p>
                  </a:txBody>
                  <a:tcPr marL="4281" marR="4281" marT="4281" marB="0" anchor="ctr">
                    <a:lnL w="6350" cap="flat" cmpd="sng" algn="ctr">
                      <a:solidFill>
                        <a:srgbClr val="A6A6A6"/>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4281" marR="4281"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889C9"/>
                    </a:solidFill>
                  </a:tcPr>
                </a:tc>
                <a:extLst>
                  <a:ext uri="{0D108BD9-81ED-4DB2-BD59-A6C34878D82A}">
                    <a16:rowId xmlns:a16="http://schemas.microsoft.com/office/drawing/2014/main" val="2774289802"/>
                  </a:ext>
                </a:extLst>
              </a:tr>
              <a:tr h="24024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26,220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26,220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5,550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5,550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231187" marR="4281" marT="4281"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118336162"/>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231187" marR="4281" marT="4281"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20,071</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20,071</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785843327"/>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法人税等充当金</a:t>
                      </a:r>
                    </a:p>
                  </a:txBody>
                  <a:tcPr marL="231187" marR="4281" marT="4281"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72</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4404132"/>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231187" marR="4281" marT="4281"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254</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254</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550873896"/>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未払消費税</a:t>
                      </a:r>
                    </a:p>
                  </a:txBody>
                  <a:tcPr marL="231187" marR="4281" marT="4281"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229744667"/>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231187" marR="4281" marT="4281"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273</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273</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51400235"/>
                  </a:ext>
                </a:extLst>
              </a:tr>
              <a:tr h="24024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243,725</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243,725</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4164627403"/>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212,425</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212,425</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817502202"/>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個人借入金</a:t>
                      </a:r>
                    </a:p>
                  </a:txBody>
                  <a:tcPr marL="231187"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31,300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31,300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25734417"/>
                  </a:ext>
                </a:extLst>
              </a:tr>
              <a:tr h="24024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【繰延税金負債】</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362012108"/>
                  </a:ext>
                </a:extLst>
              </a:tr>
              <a:tr h="240246">
                <a:tc>
                  <a:txBody>
                    <a:bodyPr/>
                    <a:lstStyle/>
                    <a:p>
                      <a:pPr algn="l"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負債合計</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Arial" panose="020B0604020202020204" pitchFamily="34" charset="0"/>
                          <a:ea typeface="游ゴシック Medium" panose="020B0500000000000000" pitchFamily="50" charset="-128"/>
                        </a:rPr>
                        <a:t>269,945</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Arial" panose="020B0604020202020204" pitchFamily="34" charset="0"/>
                          <a:ea typeface="游ゴシック Medium" panose="020B0500000000000000" pitchFamily="50" charset="-128"/>
                        </a:rPr>
                        <a:t>269,945</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177102582"/>
                  </a:ext>
                </a:extLst>
              </a:tr>
              <a:tr h="236509">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4281" marR="4281" marT="4281" marB="0" anchor="ctr">
                    <a:lnL>
                      <a:noFill/>
                    </a:lnL>
                    <a:lnR w="12700" cap="flat" cmpd="sng" algn="ctr">
                      <a:solidFill>
                        <a:srgbClr val="04456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98765913"/>
                  </a:ext>
                </a:extLst>
              </a:tr>
              <a:tr h="236509">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10,000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108561289"/>
                  </a:ext>
                </a:extLst>
              </a:tr>
              <a:tr h="236509">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77062" marR="4281" marT="4281" marB="0" anchor="ctr">
                    <a:lnL>
                      <a:noFill/>
                    </a:lnL>
                    <a:lnR>
                      <a:noFill/>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7E9"/>
                    </a:solid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10,000</a:t>
                      </a:r>
                    </a:p>
                  </a:txBody>
                  <a:tcPr marL="4281" marR="77062"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699186541"/>
                  </a:ext>
                </a:extLst>
              </a:tr>
              <a:tr h="24024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△30,912</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△30,912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302101931"/>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利益準備金</a:t>
                      </a:r>
                    </a:p>
                  </a:txBody>
                  <a:tcPr marL="77062" marR="4281" marT="4281" marB="0" anchor="ctr">
                    <a:lnL>
                      <a:noFill/>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2,500</a:t>
                      </a:r>
                    </a:p>
                  </a:txBody>
                  <a:tcPr marL="4281" marR="77062"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2,500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60859253"/>
                  </a:ext>
                </a:extLst>
              </a:tr>
              <a:tr h="24024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77062" marR="4281" marT="4281" marB="0" anchor="ctr">
                    <a:lnL>
                      <a:noFill/>
                    </a:lnL>
                    <a:lnR>
                      <a:noFill/>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△33,412</a:t>
                      </a:r>
                    </a:p>
                  </a:txBody>
                  <a:tcPr marL="4281" marR="77062" marT="4281" marB="0" anchor="ctr">
                    <a:lnL>
                      <a:noFill/>
                    </a:lnL>
                    <a:lnR>
                      <a:noFill/>
                    </a:lnR>
                    <a:lnT>
                      <a:noFill/>
                    </a:lnT>
                    <a:lnB>
                      <a:noFill/>
                    </a:lnB>
                    <a:noFill/>
                  </a:tcPr>
                </a:tc>
                <a:tc>
                  <a:txBody>
                    <a:bodyPr/>
                    <a:lstStyle/>
                    <a:p>
                      <a:pPr algn="r" fontAlgn="ctr">
                        <a:buNone/>
                      </a:pPr>
                      <a:endParaRPr lang="ja-JP" sz="1000" b="0" i="0" u="none" strike="noStrike">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△33,412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16864588"/>
                  </a:ext>
                </a:extLst>
              </a:tr>
              <a:tr h="240246">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【評価修正額】</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△2,682</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△2,682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861316577"/>
                  </a:ext>
                </a:extLst>
              </a:tr>
              <a:tr h="240246">
                <a:tc>
                  <a:txBody>
                    <a:bodyPr/>
                    <a:lstStyle/>
                    <a:p>
                      <a:pPr algn="l"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Arial" panose="020B0604020202020204" pitchFamily="34" charset="0"/>
                          <a:ea typeface="游ゴシック Medium" panose="020B0500000000000000" pitchFamily="50" charset="-128"/>
                        </a:rPr>
                        <a:t>△20,912</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Arial" panose="020B0604020202020204" pitchFamily="34" charset="0"/>
                          <a:ea typeface="游ゴシック Medium" panose="020B0500000000000000" pitchFamily="50" charset="-128"/>
                        </a:rPr>
                        <a:t>△2,682</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Arial" panose="020B0604020202020204" pitchFamily="34" charset="0"/>
                          <a:ea typeface="游ゴシック Medium" panose="020B0500000000000000" pitchFamily="50" charset="-128"/>
                        </a:rPr>
                        <a:t>△23,594</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2396301267"/>
                  </a:ext>
                </a:extLst>
              </a:tr>
              <a:tr h="240246">
                <a:tc>
                  <a:txBody>
                    <a:bodyPr/>
                    <a:lstStyle/>
                    <a:p>
                      <a:pPr algn="l"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1000" b="1" i="0" u="none" strike="noStrike">
                          <a:solidFill>
                            <a:srgbClr val="FFFFFF"/>
                          </a:solidFill>
                          <a:effectLst/>
                          <a:latin typeface="Arial" panose="020B0604020202020204" pitchFamily="34" charset="0"/>
                          <a:ea typeface="游ゴシック Medium" panose="020B0500000000000000" pitchFamily="50" charset="-128"/>
                        </a:rPr>
                        <a:t>249,033</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1000" b="1" i="0" u="none" strike="noStrike">
                          <a:solidFill>
                            <a:srgbClr val="FFFFFF"/>
                          </a:solidFill>
                          <a:effectLst/>
                          <a:latin typeface="Arial" panose="020B0604020202020204" pitchFamily="34" charset="0"/>
                          <a:ea typeface="游ゴシック Medium" panose="020B0500000000000000" pitchFamily="50" charset="-128"/>
                        </a:rPr>
                        <a:t>△2,682</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r" fontAlgn="ctr">
                        <a:buNone/>
                      </a:pPr>
                      <a:r>
                        <a:rPr lang="ja-JP" sz="1000" b="1" i="0" u="none" strike="noStrike" dirty="0">
                          <a:solidFill>
                            <a:srgbClr val="FFFFFF"/>
                          </a:solidFill>
                          <a:effectLst/>
                          <a:latin typeface="Arial" panose="020B0604020202020204" pitchFamily="34" charset="0"/>
                          <a:ea typeface="游ゴシック Medium" panose="020B0500000000000000" pitchFamily="50" charset="-128"/>
                        </a:rPr>
                        <a:t>246,351</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3579313478"/>
                  </a:ext>
                </a:extLst>
              </a:tr>
            </a:tbl>
          </a:graphicData>
        </a:graphic>
      </p:graphicFrame>
    </p:spTree>
    <p:extLst>
      <p:ext uri="{BB962C8B-B14F-4D97-AF65-F5344CB8AC3E}">
        <p14:creationId xmlns:p14="http://schemas.microsoft.com/office/powerpoint/2010/main" val="1524445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lang="ja-JP" altLang="en-US" dirty="0"/>
              <a:t>ネットキャッシュの算定</a:t>
            </a:r>
            <a:endParaRPr lang="ja-JP" altLang="en-US" sz="1800" dirty="0"/>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4" name="表 3">
            <a:extLst>
              <a:ext uri="{FF2B5EF4-FFF2-40B4-BE49-F238E27FC236}">
                <a16:creationId xmlns:a16="http://schemas.microsoft.com/office/drawing/2014/main" id="{6D1BC568-0617-FF30-CAAD-93EC3E90B15B}"/>
              </a:ext>
            </a:extLst>
          </p:cNvPr>
          <p:cNvGraphicFramePr>
            <a:graphicFrameLocks noGrp="1"/>
          </p:cNvGraphicFramePr>
          <p:nvPr>
            <p:extLst>
              <p:ext uri="{D42A27DB-BD31-4B8C-83A1-F6EECF244321}">
                <p14:modId xmlns:p14="http://schemas.microsoft.com/office/powerpoint/2010/main" val="2463037523"/>
              </p:ext>
            </p:extLst>
          </p:nvPr>
        </p:nvGraphicFramePr>
        <p:xfrm>
          <a:off x="341312" y="888808"/>
          <a:ext cx="10009187" cy="3134550"/>
        </p:xfrm>
        <a:graphic>
          <a:graphicData uri="http://schemas.openxmlformats.org/drawingml/2006/table">
            <a:tbl>
              <a:tblPr/>
              <a:tblGrid>
                <a:gridCol w="2396360">
                  <a:extLst>
                    <a:ext uri="{9D8B030D-6E8A-4147-A177-3AD203B41FA5}">
                      <a16:colId xmlns:a16="http://schemas.microsoft.com/office/drawing/2014/main" val="359348112"/>
                    </a:ext>
                  </a:extLst>
                </a:gridCol>
                <a:gridCol w="2396360">
                  <a:extLst>
                    <a:ext uri="{9D8B030D-6E8A-4147-A177-3AD203B41FA5}">
                      <a16:colId xmlns:a16="http://schemas.microsoft.com/office/drawing/2014/main" val="2576116996"/>
                    </a:ext>
                  </a:extLst>
                </a:gridCol>
                <a:gridCol w="423747">
                  <a:extLst>
                    <a:ext uri="{9D8B030D-6E8A-4147-A177-3AD203B41FA5}">
                      <a16:colId xmlns:a16="http://schemas.microsoft.com/office/drawing/2014/main" val="3613196624"/>
                    </a:ext>
                  </a:extLst>
                </a:gridCol>
                <a:gridCol w="2396360">
                  <a:extLst>
                    <a:ext uri="{9D8B030D-6E8A-4147-A177-3AD203B41FA5}">
                      <a16:colId xmlns:a16="http://schemas.microsoft.com/office/drawing/2014/main" val="4131932259"/>
                    </a:ext>
                  </a:extLst>
                </a:gridCol>
                <a:gridCol w="2396360">
                  <a:extLst>
                    <a:ext uri="{9D8B030D-6E8A-4147-A177-3AD203B41FA5}">
                      <a16:colId xmlns:a16="http://schemas.microsoft.com/office/drawing/2014/main" val="1121997170"/>
                    </a:ext>
                  </a:extLst>
                </a:gridCol>
              </a:tblGrid>
              <a:tr h="258639">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2983243275"/>
                  </a:ext>
                </a:extLst>
              </a:tr>
              <a:tr h="318268">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キャッシュライクアイテム</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デットライクアイテム</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888147796"/>
                  </a:ext>
                </a:extLst>
              </a:tr>
              <a:tr h="45836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現預金</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26,239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短期借入金</a:t>
                      </a:r>
                      <a:r>
                        <a:rPr lang="ja-JP" altLang="en-US" sz="1200" b="0" i="0" u="none" strike="noStrike" dirty="0">
                          <a:solidFill>
                            <a:srgbClr val="000000"/>
                          </a:solidFill>
                          <a:effectLst/>
                          <a:latin typeface="游ゴシック" panose="020B0400000000000000" pitchFamily="50" charset="-128"/>
                          <a:ea typeface="游ゴシック" panose="020B0400000000000000" pitchFamily="50" charset="-128"/>
                        </a:rPr>
                        <a:t>（進行期分の借入）</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85,000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998329132"/>
                  </a:ext>
                </a:extLst>
              </a:tr>
              <a:tr h="45836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5,100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206,887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700937187"/>
                  </a:ext>
                </a:extLst>
              </a:tr>
              <a:tr h="45836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365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FFFFFF"/>
                    </a:solid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個人借入金</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31,300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542381496"/>
                  </a:ext>
                </a:extLst>
              </a:tr>
              <a:tr h="458364">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31,703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323,187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137043644"/>
                  </a:ext>
                </a:extLst>
              </a:tr>
              <a:tr h="265823">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889C9"/>
                      </a:solidFill>
                      <a:prstDash val="solid"/>
                      <a:round/>
                      <a:headEnd type="none" w="med" len="med"/>
                      <a:tailEnd type="none" w="med" len="med"/>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889C9"/>
                      </a:solidFill>
                      <a:prstDash val="solid"/>
                      <a:round/>
                      <a:headEnd type="none" w="med" len="med"/>
                      <a:tailEnd type="none" w="med" len="med"/>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extLst>
                  <a:ext uri="{0D108BD9-81ED-4DB2-BD59-A6C34878D82A}">
                    <a16:rowId xmlns:a16="http://schemas.microsoft.com/office/drawing/2014/main" val="1311672910"/>
                  </a:ext>
                </a:extLst>
              </a:tr>
              <a:tr h="458364">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6350" marT="635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△291,484</a:t>
                      </a:r>
                    </a:p>
                  </a:txBody>
                  <a:tcPr marL="6350" marR="114300" marT="635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w="12700" cap="flat" cmpd="sng" algn="ctr">
                      <a:solidFill>
                        <a:srgbClr val="0889C9"/>
                      </a:solidFill>
                      <a:prstDash val="solid"/>
                      <a:round/>
                      <a:headEnd type="none" w="med" len="med"/>
                      <a:tailEnd type="none" w="med" len="med"/>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extLst>
                  <a:ext uri="{0D108BD9-81ED-4DB2-BD59-A6C34878D82A}">
                    <a16:rowId xmlns:a16="http://schemas.microsoft.com/office/drawing/2014/main" val="49382494"/>
                  </a:ext>
                </a:extLst>
              </a:tr>
            </a:tbl>
          </a:graphicData>
        </a:graphic>
      </p:graphicFrame>
    </p:spTree>
    <p:extLst>
      <p:ext uri="{BB962C8B-B14F-4D97-AF65-F5344CB8AC3E}">
        <p14:creationId xmlns:p14="http://schemas.microsoft.com/office/powerpoint/2010/main" val="13015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lang="ja-JP" altLang="en-US" dirty="0"/>
              <a:t>過去</a:t>
            </a:r>
            <a:r>
              <a:rPr lang="en-US" altLang="ja-JP" dirty="0"/>
              <a:t>PL</a:t>
            </a:r>
            <a:r>
              <a:rPr lang="ja-JP" altLang="en-US" dirty="0"/>
              <a:t>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6" name="表 5">
            <a:extLst>
              <a:ext uri="{FF2B5EF4-FFF2-40B4-BE49-F238E27FC236}">
                <a16:creationId xmlns:a16="http://schemas.microsoft.com/office/drawing/2014/main" id="{E651E485-6E57-DF03-CEB3-303C5F7BC5F1}"/>
              </a:ext>
            </a:extLst>
          </p:cNvPr>
          <p:cNvGraphicFramePr>
            <a:graphicFrameLocks noGrp="1"/>
          </p:cNvGraphicFramePr>
          <p:nvPr>
            <p:extLst>
              <p:ext uri="{D42A27DB-BD31-4B8C-83A1-F6EECF244321}">
                <p14:modId xmlns:p14="http://schemas.microsoft.com/office/powerpoint/2010/main" val="1525554261"/>
              </p:ext>
            </p:extLst>
          </p:nvPr>
        </p:nvGraphicFramePr>
        <p:xfrm>
          <a:off x="341312" y="845377"/>
          <a:ext cx="9901240" cy="5995167"/>
        </p:xfrm>
        <a:graphic>
          <a:graphicData uri="http://schemas.openxmlformats.org/drawingml/2006/table">
            <a:tbl>
              <a:tblPr/>
              <a:tblGrid>
                <a:gridCol w="1873208">
                  <a:extLst>
                    <a:ext uri="{9D8B030D-6E8A-4147-A177-3AD203B41FA5}">
                      <a16:colId xmlns:a16="http://schemas.microsoft.com/office/drawing/2014/main" val="1203225717"/>
                    </a:ext>
                  </a:extLst>
                </a:gridCol>
                <a:gridCol w="1003504">
                  <a:extLst>
                    <a:ext uri="{9D8B030D-6E8A-4147-A177-3AD203B41FA5}">
                      <a16:colId xmlns:a16="http://schemas.microsoft.com/office/drawing/2014/main" val="757072105"/>
                    </a:ext>
                  </a:extLst>
                </a:gridCol>
                <a:gridCol w="1003504">
                  <a:extLst>
                    <a:ext uri="{9D8B030D-6E8A-4147-A177-3AD203B41FA5}">
                      <a16:colId xmlns:a16="http://schemas.microsoft.com/office/drawing/2014/main" val="2934432485"/>
                    </a:ext>
                  </a:extLst>
                </a:gridCol>
                <a:gridCol w="1003504">
                  <a:extLst>
                    <a:ext uri="{9D8B030D-6E8A-4147-A177-3AD203B41FA5}">
                      <a16:colId xmlns:a16="http://schemas.microsoft.com/office/drawing/2014/main" val="3085477051"/>
                    </a:ext>
                  </a:extLst>
                </a:gridCol>
                <a:gridCol w="1003504">
                  <a:extLst>
                    <a:ext uri="{9D8B030D-6E8A-4147-A177-3AD203B41FA5}">
                      <a16:colId xmlns:a16="http://schemas.microsoft.com/office/drawing/2014/main" val="1904258578"/>
                    </a:ext>
                  </a:extLst>
                </a:gridCol>
                <a:gridCol w="1003504">
                  <a:extLst>
                    <a:ext uri="{9D8B030D-6E8A-4147-A177-3AD203B41FA5}">
                      <a16:colId xmlns:a16="http://schemas.microsoft.com/office/drawing/2014/main" val="367188390"/>
                    </a:ext>
                  </a:extLst>
                </a:gridCol>
                <a:gridCol w="1003504">
                  <a:extLst>
                    <a:ext uri="{9D8B030D-6E8A-4147-A177-3AD203B41FA5}">
                      <a16:colId xmlns:a16="http://schemas.microsoft.com/office/drawing/2014/main" val="1573539663"/>
                    </a:ext>
                  </a:extLst>
                </a:gridCol>
                <a:gridCol w="1003504">
                  <a:extLst>
                    <a:ext uri="{9D8B030D-6E8A-4147-A177-3AD203B41FA5}">
                      <a16:colId xmlns:a16="http://schemas.microsoft.com/office/drawing/2014/main" val="1952931712"/>
                    </a:ext>
                  </a:extLst>
                </a:gridCol>
                <a:gridCol w="1003504">
                  <a:extLst>
                    <a:ext uri="{9D8B030D-6E8A-4147-A177-3AD203B41FA5}">
                      <a16:colId xmlns:a16="http://schemas.microsoft.com/office/drawing/2014/main" val="489212210"/>
                    </a:ext>
                  </a:extLst>
                </a:gridCol>
              </a:tblGrid>
              <a:tr h="154758">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3439" marR="3439" marT="3439" marB="0" anchor="ctr">
                    <a:lnL>
                      <a:noFill/>
                    </a:lnL>
                    <a:lnR>
                      <a:noFill/>
                    </a:lnR>
                    <a:lnT>
                      <a:noFill/>
                    </a:lnT>
                    <a:lnB>
                      <a:noFill/>
                    </a:lnB>
                    <a:noFill/>
                  </a:tcPr>
                </a:tc>
                <a:extLst>
                  <a:ext uri="{0D108BD9-81ED-4DB2-BD59-A6C34878D82A}">
                    <a16:rowId xmlns:a16="http://schemas.microsoft.com/office/drawing/2014/main" val="3553608451"/>
                  </a:ext>
                </a:extLst>
              </a:tr>
              <a:tr h="251911">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23年9月期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24年9月期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25年9月期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26年4月（7か月TB）</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727F88"/>
                    </a:solidFill>
                  </a:tcPr>
                </a:tc>
                <a:tc hMerge="1">
                  <a:txBody>
                    <a:bodyPr/>
                    <a:lstStyle/>
                    <a:p>
                      <a:endParaRPr dirty="0"/>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727F88"/>
                    </a:solidFill>
                  </a:tcPr>
                </a:tc>
                <a:extLst>
                  <a:ext uri="{0D108BD9-81ED-4DB2-BD59-A6C34878D82A}">
                    <a16:rowId xmlns:a16="http://schemas.microsoft.com/office/drawing/2014/main" val="316968241"/>
                  </a:ext>
                </a:extLst>
              </a:tr>
              <a:tr h="171954">
                <a:tc vMerge="1">
                  <a:txBody>
                    <a:bodyPr/>
                    <a:lstStyle/>
                    <a:p>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727F88"/>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727F88"/>
                    </a:solidFill>
                  </a:tcPr>
                </a:tc>
                <a:extLst>
                  <a:ext uri="{0D108BD9-81ED-4DB2-BD59-A6C34878D82A}">
                    <a16:rowId xmlns:a16="http://schemas.microsoft.com/office/drawing/2014/main" val="2121160983"/>
                  </a:ext>
                </a:extLst>
              </a:tr>
              <a:tr h="19344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養魚部売上高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283,227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284,903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246,750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91,586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44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餌・薬品売上高</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44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配達運賃売上高</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6,878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099273962"/>
                  </a:ext>
                </a:extLst>
              </a:tr>
              <a:tr h="19344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売上値引戻り高</a:t>
                      </a:r>
                    </a:p>
                  </a:txBody>
                  <a:tcPr marL="123799" marR="3439" marT="3439" marB="0" anchor="ctr">
                    <a:lnL>
                      <a:noFill/>
                    </a:lnL>
                    <a:lnR w="6350" cap="flat" cmpd="sng" algn="ctr">
                      <a:solidFill>
                        <a:srgbClr val="FFFFFF"/>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0560667"/>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293,253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294,488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254,426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95,182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9344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期首棚卸高</a:t>
                      </a:r>
                    </a:p>
                  </a:txBody>
                  <a:tcPr marL="1237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34,811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17,540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22,046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424603564"/>
                  </a:ext>
                </a:extLst>
              </a:tr>
              <a:tr h="19344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養魚部仕入高</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35,960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34,531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46,053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01770136"/>
                  </a:ext>
                </a:extLst>
              </a:tr>
              <a:tr h="19344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餌・薬品仕入高</a:t>
                      </a:r>
                    </a:p>
                  </a:txBody>
                  <a:tcPr marL="123799" marR="3439" marT="3439" marB="0" anchor="ctr">
                    <a:lnL>
                      <a:noFill/>
                    </a:lnL>
                    <a:lnR w="6350" cap="flat" cmpd="sng" algn="ctr">
                      <a:solidFill>
                        <a:srgbClr val="FFFFFF"/>
                      </a:solidFill>
                      <a:prstDash val="solid"/>
                      <a:round/>
                      <a:headEnd type="none" w="med" len="med"/>
                      <a:tailEnd type="none" w="med" len="med"/>
                    </a:lnR>
                    <a:lnT>
                      <a:noFill/>
                    </a:lnT>
                    <a:lnB w="6350" cap="flat" cmpd="sng" algn="ctr">
                      <a:no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57,677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78,826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44,164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2498344"/>
                  </a:ext>
                </a:extLst>
              </a:tr>
              <a:tr h="19344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期末棚卸高</a:t>
                      </a:r>
                    </a:p>
                  </a:txBody>
                  <a:tcPr marL="123799"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△17,540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△22,046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599013971"/>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1237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110,908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37.8%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108,851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99,972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39.3%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54,201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56.9%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854214802"/>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182,345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185,637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154,453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40,982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734027235"/>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170,328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176,905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173,206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88,467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92.9%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9384531"/>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12,017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8,732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△18,753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△47,485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24303065"/>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43,485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10,473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4,191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84575119"/>
                  </a:ext>
                </a:extLst>
              </a:tr>
              <a:tr h="19344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受取利息</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9344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1856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17,279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10,371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352571167"/>
                  </a:ext>
                </a:extLst>
              </a:tr>
              <a:tr h="19344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債務免除益</a:t>
                      </a:r>
                    </a:p>
                  </a:txBody>
                  <a:tcPr marL="185699" marR="3439" marT="3439" marB="0" anchor="ctr">
                    <a:lnL>
                      <a:noFill/>
                    </a:lnL>
                    <a:lnR w="6350" cap="flat" cmpd="sng" algn="ctr">
                      <a:solidFill>
                        <a:srgbClr val="FFFFFF"/>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26,200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3941407"/>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7,430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8,766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8,391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6,250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91589013"/>
                  </a:ext>
                </a:extLst>
              </a:tr>
              <a:tr h="19344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支払利息</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6,610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708945670"/>
                  </a:ext>
                </a:extLst>
              </a:tr>
              <a:tr h="19344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雑損失</a:t>
                      </a:r>
                    </a:p>
                  </a:txBody>
                  <a:tcPr marL="185699" marR="3439" marT="3439" marB="0" anchor="ctr">
                    <a:lnL>
                      <a:noFill/>
                    </a:lnL>
                    <a:lnR w="6350" cap="flat" cmpd="sng" algn="ctr">
                      <a:solidFill>
                        <a:srgbClr val="FFFFFF"/>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9480116"/>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14,622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43,451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△16,670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△49,544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888927221"/>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37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80804660"/>
                  </a:ext>
                </a:extLst>
              </a:tr>
              <a:tr h="19344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貸倒引当金戻入益</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7140895"/>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467470150"/>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14,652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43,451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△16,650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△49,544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750942719"/>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746828303"/>
                  </a:ext>
                </a:extLst>
              </a:tr>
              <a:tr h="19344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法人税等</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6377179"/>
                  </a:ext>
                </a:extLst>
              </a:tr>
              <a:tr h="19344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14,580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43,379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△16,723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△49,544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859652446"/>
                  </a:ext>
                </a:extLst>
              </a:tr>
            </a:tbl>
          </a:graphicData>
        </a:graphic>
      </p:graphicFrame>
    </p:spTree>
    <p:extLst>
      <p:ext uri="{BB962C8B-B14F-4D97-AF65-F5344CB8AC3E}">
        <p14:creationId xmlns:p14="http://schemas.microsoft.com/office/powerpoint/2010/main" val="4072389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35650247-1E40-B7CB-0FCF-640931A69AE2}"/>
              </a:ext>
            </a:extLst>
          </p:cNvPr>
          <p:cNvSpPr txBox="1"/>
          <p:nvPr/>
        </p:nvSpPr>
        <p:spPr>
          <a:xfrm>
            <a:off x="2051536" y="6285220"/>
            <a:ext cx="4076270" cy="3651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a:t>貸倒引当金繰入：</a:t>
            </a:r>
            <a:br>
              <a:rPr lang="en-US" altLang="ja-JP" dirty="0"/>
            </a:br>
            <a:r>
              <a:rPr lang="ja-JP" altLang="en-US" dirty="0"/>
              <a:t>直接評価の観点から一旦控除するものとする。</a:t>
            </a:r>
            <a:endParaRPr lang="en-US" altLang="ja-JP" dirty="0"/>
          </a:p>
        </p:txBody>
      </p:sp>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lang="ja-JP" altLang="en-US" dirty="0"/>
              <a:t>販管費及び一般管理費の修正</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D11C8879-7177-AB32-ADE2-B1BA72013064}"/>
              </a:ext>
            </a:extLst>
          </p:cNvPr>
          <p:cNvSpPr/>
          <p:nvPr/>
        </p:nvSpPr>
        <p:spPr>
          <a:xfrm>
            <a:off x="449263" y="6083474"/>
            <a:ext cx="9793287" cy="76865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6" name="表 5">
            <a:extLst>
              <a:ext uri="{FF2B5EF4-FFF2-40B4-BE49-F238E27FC236}">
                <a16:creationId xmlns:a16="http://schemas.microsoft.com/office/drawing/2014/main" id="{3009E52A-6854-3BA5-D52E-D803BF3251DE}"/>
              </a:ext>
            </a:extLst>
          </p:cNvPr>
          <p:cNvGraphicFramePr>
            <a:graphicFrameLocks noGrp="1"/>
          </p:cNvGraphicFramePr>
          <p:nvPr>
            <p:extLst>
              <p:ext uri="{D42A27DB-BD31-4B8C-83A1-F6EECF244321}">
                <p14:modId xmlns:p14="http://schemas.microsoft.com/office/powerpoint/2010/main" val="1780566356"/>
              </p:ext>
            </p:extLst>
          </p:nvPr>
        </p:nvGraphicFramePr>
        <p:xfrm>
          <a:off x="341313" y="758643"/>
          <a:ext cx="10009190" cy="5225234"/>
        </p:xfrm>
        <a:graphic>
          <a:graphicData uri="http://schemas.openxmlformats.org/drawingml/2006/table">
            <a:tbl>
              <a:tblPr/>
              <a:tblGrid>
                <a:gridCol w="1719371">
                  <a:extLst>
                    <a:ext uri="{9D8B030D-6E8A-4147-A177-3AD203B41FA5}">
                      <a16:colId xmlns:a16="http://schemas.microsoft.com/office/drawing/2014/main" val="2248384718"/>
                    </a:ext>
                  </a:extLst>
                </a:gridCol>
                <a:gridCol w="921091">
                  <a:extLst>
                    <a:ext uri="{9D8B030D-6E8A-4147-A177-3AD203B41FA5}">
                      <a16:colId xmlns:a16="http://schemas.microsoft.com/office/drawing/2014/main" val="3099073515"/>
                    </a:ext>
                  </a:extLst>
                </a:gridCol>
                <a:gridCol w="921091">
                  <a:extLst>
                    <a:ext uri="{9D8B030D-6E8A-4147-A177-3AD203B41FA5}">
                      <a16:colId xmlns:a16="http://schemas.microsoft.com/office/drawing/2014/main" val="2721162313"/>
                    </a:ext>
                  </a:extLst>
                </a:gridCol>
                <a:gridCol w="921091">
                  <a:extLst>
                    <a:ext uri="{9D8B030D-6E8A-4147-A177-3AD203B41FA5}">
                      <a16:colId xmlns:a16="http://schemas.microsoft.com/office/drawing/2014/main" val="2402645372"/>
                    </a:ext>
                  </a:extLst>
                </a:gridCol>
                <a:gridCol w="921091">
                  <a:extLst>
                    <a:ext uri="{9D8B030D-6E8A-4147-A177-3AD203B41FA5}">
                      <a16:colId xmlns:a16="http://schemas.microsoft.com/office/drawing/2014/main" val="3890206035"/>
                    </a:ext>
                  </a:extLst>
                </a:gridCol>
                <a:gridCol w="921091">
                  <a:extLst>
                    <a:ext uri="{9D8B030D-6E8A-4147-A177-3AD203B41FA5}">
                      <a16:colId xmlns:a16="http://schemas.microsoft.com/office/drawing/2014/main" val="1466135658"/>
                    </a:ext>
                  </a:extLst>
                </a:gridCol>
                <a:gridCol w="921091">
                  <a:extLst>
                    <a:ext uri="{9D8B030D-6E8A-4147-A177-3AD203B41FA5}">
                      <a16:colId xmlns:a16="http://schemas.microsoft.com/office/drawing/2014/main" val="1725214901"/>
                    </a:ext>
                  </a:extLst>
                </a:gridCol>
                <a:gridCol w="921091">
                  <a:extLst>
                    <a:ext uri="{9D8B030D-6E8A-4147-A177-3AD203B41FA5}">
                      <a16:colId xmlns:a16="http://schemas.microsoft.com/office/drawing/2014/main" val="493838815"/>
                    </a:ext>
                  </a:extLst>
                </a:gridCol>
                <a:gridCol w="921091">
                  <a:extLst>
                    <a:ext uri="{9D8B030D-6E8A-4147-A177-3AD203B41FA5}">
                      <a16:colId xmlns:a16="http://schemas.microsoft.com/office/drawing/2014/main" val="2010115093"/>
                    </a:ext>
                  </a:extLst>
                </a:gridCol>
                <a:gridCol w="921091">
                  <a:extLst>
                    <a:ext uri="{9D8B030D-6E8A-4147-A177-3AD203B41FA5}">
                      <a16:colId xmlns:a16="http://schemas.microsoft.com/office/drawing/2014/main" val="946341823"/>
                    </a:ext>
                  </a:extLst>
                </a:gridCol>
              </a:tblGrid>
              <a:tr h="111648">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912" marR="2912"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912" marR="2912"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912" marR="2912"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2912" marR="2912" marT="2912"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2912" marR="2912" marT="2912" marB="0" anchor="ctr">
                    <a:lnL>
                      <a:noFill/>
                    </a:lnL>
                    <a:lnR>
                      <a:noFill/>
                    </a:lnR>
                    <a:lnT>
                      <a:noFill/>
                    </a:lnT>
                    <a:lnB>
                      <a:noFill/>
                    </a:lnB>
                    <a:noFill/>
                  </a:tcPr>
                </a:tc>
                <a:extLst>
                  <a:ext uri="{0D108BD9-81ED-4DB2-BD59-A6C34878D82A}">
                    <a16:rowId xmlns:a16="http://schemas.microsoft.com/office/drawing/2014/main" val="440669713"/>
                  </a:ext>
                </a:extLst>
              </a:tr>
              <a:tr h="127155">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3">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23年9月期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912" marR="2912" marT="2912"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2912" marR="2912" marT="2912"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gridSpan="3">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24年9月期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912" marR="2912" marT="2912"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2912" marR="2912" marT="2912"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gridSpan="3">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25年9月期</a:t>
                      </a:r>
                    </a:p>
                  </a:txBody>
                  <a:tcPr marL="2912" marR="2912" marT="2912"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912" marR="2912" marT="2912"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2912" marR="2912" marT="2912" marB="0" anchor="ctr">
                    <a:lnL>
                      <a:noFill/>
                    </a:lnL>
                    <a:lnR>
                      <a:noFill/>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804494408"/>
                  </a:ext>
                </a:extLst>
              </a:tr>
              <a:tr h="124054">
                <a:tc vMerge="1">
                  <a:txBody>
                    <a:bodyPr/>
                    <a:lstStyle/>
                    <a:p>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912" marR="2912"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2912" marR="2912"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912" marR="2912"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2912" marR="2912"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912" marR="2912"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2912" marR="2912"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1585545143"/>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7,200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7,200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7,200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7,200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7,200</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7,200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給与手当</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40,484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40,484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42,024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42,024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43,669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43,669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284923447"/>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雑給</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3,598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3,598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3,836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3,836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2,734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2,734</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54149399"/>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賞与</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4,850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4,850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5,950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5,950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4,700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4,700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128096169"/>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9,202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9,202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9,579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9,579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10,198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10,198</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811506261"/>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福利厚生費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2,393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2,393</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048218478"/>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2,388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2,388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2,495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2,495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2,331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2,331</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692195320"/>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1,024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1,024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976</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49985656"/>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交際費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1,411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1,411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1,557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1,557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1,712</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840283469"/>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4,625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4,625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4,824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4,824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4,932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4,932</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334721628"/>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賃借料</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3,428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3,428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3,428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3,428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3,428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3,428</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solidFill>
                      <a:srgbClr val="FFFF00"/>
                    </a:solidFill>
                  </a:tcPr>
                </a:tc>
                <a:extLst>
                  <a:ext uri="{0D108BD9-81ED-4DB2-BD59-A6C34878D82A}">
                    <a16:rowId xmlns:a16="http://schemas.microsoft.com/office/drawing/2014/main" val="4105789052"/>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1,738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1,738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2,084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2,084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2,229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2,229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solidFill>
                      <a:srgbClr val="FFFF00"/>
                    </a:solidFill>
                  </a:tcPr>
                </a:tc>
                <a:extLst>
                  <a:ext uri="{0D108BD9-81ED-4DB2-BD59-A6C34878D82A}">
                    <a16:rowId xmlns:a16="http://schemas.microsoft.com/office/drawing/2014/main" val="793046354"/>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5,183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5,183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3,380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3,380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444835178"/>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49,200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49,200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47,062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47,062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46,422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46,422</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43420636"/>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車両経費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5,511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5,511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5,942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5,942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5,905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5,905</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990651905"/>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消耗品費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4,444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4,444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5,637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5,637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5,842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5,842</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353267682"/>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3,090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3,090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3,095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3,095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943579684"/>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運賃</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6,250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6,250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5,463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5,463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4,598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4,598</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744885227"/>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82253244"/>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事務用品費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870423572"/>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1,136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1,136</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99785787"/>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3,523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3,523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3,478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3,478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3,328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3,328</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solidFill>
                      <a:srgbClr val="FFFF00"/>
                    </a:solidFill>
                  </a:tcPr>
                </a:tc>
                <a:extLst>
                  <a:ext uri="{0D108BD9-81ED-4DB2-BD59-A6C34878D82A}">
                    <a16:rowId xmlns:a16="http://schemas.microsoft.com/office/drawing/2014/main" val="2164828426"/>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889669841"/>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新聞図書費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80376357"/>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貸倒引当金繰入</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682878473"/>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顧問料</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2,232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2,232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286575363"/>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寄附金</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615647075"/>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警備保障費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2,030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2,030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1,963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1,963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2,147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2,147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099630055"/>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燃料費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5,615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5,615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6,544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6,544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12725779"/>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886475090"/>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保守料</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455</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347420666"/>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研修費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733934600"/>
                  </a:ext>
                </a:extLst>
              </a:tr>
              <a:tr h="13956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雑費</a:t>
                      </a:r>
                    </a:p>
                  </a:txBody>
                  <a:tcPr marL="104827" marR="2912" marT="2912" marB="0" anchor="ctr">
                    <a:lnL>
                      <a:noFill/>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1,465</a:t>
                      </a:r>
                    </a:p>
                  </a:txBody>
                  <a:tcPr marL="2912" marR="52414" marT="2912" marB="0" anchor="ctr">
                    <a:lnL w="6350" cap="flat" cmpd="sng" algn="ctr">
                      <a:solidFill>
                        <a:srgbClr val="FFFFFF"/>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1,465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1,328</a:t>
                      </a:r>
                    </a:p>
                  </a:txBody>
                  <a:tcPr marL="2912" marR="52414" marT="2912" marB="0" anchor="ctr">
                    <a:lnL w="6350" cap="flat" cmpd="sng" algn="ctr">
                      <a:solidFill>
                        <a:srgbClr val="FFFFFF"/>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1,328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a:t>
                      </a:r>
                    </a:p>
                  </a:txBody>
                  <a:tcPr marL="2912" marR="52414" marT="2912" marB="0" anchor="ctr">
                    <a:lnL w="6350" cap="flat" cmpd="sng" algn="ctr">
                      <a:solidFill>
                        <a:srgbClr val="FFFFFF"/>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endParaRPr lang="ja-JP" sz="900" b="0" i="0" u="none" strike="noStrike">
                        <a:solidFill>
                          <a:srgbClr val="000000"/>
                        </a:solidFill>
                        <a:effectLst/>
                        <a:latin typeface="Arial" panose="020B0604020202020204" pitchFamily="34" charset="0"/>
                        <a:ea typeface="游ゴシック Medium" panose="020B0500000000000000" pitchFamily="50" charset="-128"/>
                      </a:endParaRPr>
                    </a:p>
                  </a:txBody>
                  <a:tcPr marL="2912" marR="52414" marT="2912" marB="0" anchor="ctr">
                    <a:lnL>
                      <a:noFill/>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5019023"/>
                  </a:ext>
                </a:extLst>
              </a:tr>
              <a:tr h="19788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2912" marR="2912" marT="2912" marB="0" anchor="ctr">
                    <a:lnL>
                      <a:noFill/>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170,328</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a:t>
                      </a: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170,320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176,905</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△68</a:t>
                      </a: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176,837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173,206</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△58</a:t>
                      </a: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173,148</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744557286"/>
                  </a:ext>
                </a:extLst>
              </a:tr>
            </a:tbl>
          </a:graphicData>
        </a:graphic>
      </p:graphicFrame>
      <p:sp>
        <p:nvSpPr>
          <p:cNvPr id="7" name="テキスト ボックス 6">
            <a:extLst>
              <a:ext uri="{FF2B5EF4-FFF2-40B4-BE49-F238E27FC236}">
                <a16:creationId xmlns:a16="http://schemas.microsoft.com/office/drawing/2014/main" id="{33CBB3D9-5E1D-09B4-EE09-6FFCA0875A38}"/>
              </a:ext>
            </a:extLst>
          </p:cNvPr>
          <p:cNvSpPr txBox="1"/>
          <p:nvPr/>
        </p:nvSpPr>
        <p:spPr>
          <a:xfrm>
            <a:off x="5929270" y="6285220"/>
            <a:ext cx="4076270" cy="3651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a:t>寄付金：</a:t>
            </a:r>
            <a:br>
              <a:rPr lang="en-US" altLang="ja-JP" dirty="0"/>
            </a:br>
            <a:r>
              <a:rPr lang="ja-JP" altLang="en-US" dirty="0"/>
              <a:t>譲渡後に発生しない費用と見なし、控除するものとする。</a:t>
            </a:r>
            <a:endParaRPr lang="zh-TW" altLang="en-US" dirty="0"/>
          </a:p>
        </p:txBody>
      </p:sp>
    </p:spTree>
    <p:extLst>
      <p:ext uri="{BB962C8B-B14F-4D97-AF65-F5344CB8AC3E}">
        <p14:creationId xmlns:p14="http://schemas.microsoft.com/office/powerpoint/2010/main" val="94194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の算定</a:t>
            </a:r>
            <a:r>
              <a:rPr lang="ja-JP" altLang="en-US" sz="1800" dirty="0"/>
              <a:t>［正常収益力の集計］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3" name="テキスト ボックス 12">
            <a:extLst>
              <a:ext uri="{FF2B5EF4-FFF2-40B4-BE49-F238E27FC236}">
                <a16:creationId xmlns:a16="http://schemas.microsoft.com/office/drawing/2014/main" id="{B6914FF2-A4AB-7226-CEF0-EE45321584DA}"/>
              </a:ext>
            </a:extLst>
          </p:cNvPr>
          <p:cNvSpPr txBox="1"/>
          <p:nvPr/>
        </p:nvSpPr>
        <p:spPr>
          <a:xfrm>
            <a:off x="1984169" y="6085980"/>
            <a:ext cx="8102806" cy="788870"/>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703388" algn="l"/>
              </a:tabLst>
            </a:pPr>
            <a:r>
              <a:rPr lang="ja-JP" altLang="en-US" dirty="0"/>
              <a:t>雑収入：株式会社中野建設向けの賃借料は経常的な損益として認識できるが、その他項目については、非経常的・臨時的なものであると見なし、全額控除して評価する。</a:t>
            </a:r>
            <a:endParaRPr lang="en-US" altLang="ja-JP" dirty="0"/>
          </a:p>
          <a:p>
            <a:pPr>
              <a:lnSpc>
                <a:spcPct val="110000"/>
              </a:lnSpc>
              <a:spcAft>
                <a:spcPts val="200"/>
              </a:spcAft>
              <a:tabLst>
                <a:tab pos="1703388" algn="l"/>
              </a:tabLst>
            </a:pPr>
            <a:r>
              <a:rPr lang="ja-JP" altLang="en-US" dirty="0"/>
              <a:t>支払利息：資金の調達方法から独立した会社財産の収益獲得力を評価するため控除して評価。</a:t>
            </a:r>
            <a:endParaRPr lang="en-US" altLang="ja-JP" dirty="0"/>
          </a:p>
          <a:p>
            <a:pPr>
              <a:lnSpc>
                <a:spcPct val="110000"/>
              </a:lnSpc>
              <a:spcAft>
                <a:spcPts val="200"/>
              </a:spcAft>
              <a:tabLst>
                <a:tab pos="1703388" algn="l"/>
              </a:tabLst>
            </a:pPr>
            <a:r>
              <a:rPr lang="ja-JP" altLang="en-US" dirty="0"/>
              <a:t>債務免除益、雑損失、貸倒引当金戻入益は、非経常的・臨時的なものであるため、全額控除して評価する。</a:t>
            </a:r>
            <a:endParaRPr lang="en-US" altLang="ja-JP" dirty="0"/>
          </a:p>
        </p:txBody>
      </p:sp>
      <p:sp>
        <p:nvSpPr>
          <p:cNvPr id="15" name="正方形/長方形 14">
            <a:extLst>
              <a:ext uri="{FF2B5EF4-FFF2-40B4-BE49-F238E27FC236}">
                <a16:creationId xmlns:a16="http://schemas.microsoft.com/office/drawing/2014/main" id="{D75EF43D-370C-E1EA-A9EB-592A8306EB26}"/>
              </a:ext>
            </a:extLst>
          </p:cNvPr>
          <p:cNvSpPr/>
          <p:nvPr/>
        </p:nvSpPr>
        <p:spPr>
          <a:xfrm>
            <a:off x="449263" y="5960534"/>
            <a:ext cx="9793287" cy="1044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262B00C9-3945-A175-7875-BA5E1FDC9A86}"/>
              </a:ext>
            </a:extLst>
          </p:cNvPr>
          <p:cNvGraphicFramePr>
            <a:graphicFrameLocks noGrp="1"/>
          </p:cNvGraphicFramePr>
          <p:nvPr>
            <p:extLst>
              <p:ext uri="{D42A27DB-BD31-4B8C-83A1-F6EECF244321}">
                <p14:modId xmlns:p14="http://schemas.microsoft.com/office/powerpoint/2010/main" val="841508497"/>
              </p:ext>
            </p:extLst>
          </p:nvPr>
        </p:nvGraphicFramePr>
        <p:xfrm>
          <a:off x="341313" y="796845"/>
          <a:ext cx="10009188" cy="5065073"/>
        </p:xfrm>
        <a:graphic>
          <a:graphicData uri="http://schemas.openxmlformats.org/drawingml/2006/table">
            <a:tbl>
              <a:tblPr/>
              <a:tblGrid>
                <a:gridCol w="1719369">
                  <a:extLst>
                    <a:ext uri="{9D8B030D-6E8A-4147-A177-3AD203B41FA5}">
                      <a16:colId xmlns:a16="http://schemas.microsoft.com/office/drawing/2014/main" val="529955708"/>
                    </a:ext>
                  </a:extLst>
                </a:gridCol>
                <a:gridCol w="921091">
                  <a:extLst>
                    <a:ext uri="{9D8B030D-6E8A-4147-A177-3AD203B41FA5}">
                      <a16:colId xmlns:a16="http://schemas.microsoft.com/office/drawing/2014/main" val="2796166159"/>
                    </a:ext>
                  </a:extLst>
                </a:gridCol>
                <a:gridCol w="921091">
                  <a:extLst>
                    <a:ext uri="{9D8B030D-6E8A-4147-A177-3AD203B41FA5}">
                      <a16:colId xmlns:a16="http://schemas.microsoft.com/office/drawing/2014/main" val="3882266854"/>
                    </a:ext>
                  </a:extLst>
                </a:gridCol>
                <a:gridCol w="921091">
                  <a:extLst>
                    <a:ext uri="{9D8B030D-6E8A-4147-A177-3AD203B41FA5}">
                      <a16:colId xmlns:a16="http://schemas.microsoft.com/office/drawing/2014/main" val="2517363555"/>
                    </a:ext>
                  </a:extLst>
                </a:gridCol>
                <a:gridCol w="921091">
                  <a:extLst>
                    <a:ext uri="{9D8B030D-6E8A-4147-A177-3AD203B41FA5}">
                      <a16:colId xmlns:a16="http://schemas.microsoft.com/office/drawing/2014/main" val="2003315344"/>
                    </a:ext>
                  </a:extLst>
                </a:gridCol>
                <a:gridCol w="921091">
                  <a:extLst>
                    <a:ext uri="{9D8B030D-6E8A-4147-A177-3AD203B41FA5}">
                      <a16:colId xmlns:a16="http://schemas.microsoft.com/office/drawing/2014/main" val="3743570613"/>
                    </a:ext>
                  </a:extLst>
                </a:gridCol>
                <a:gridCol w="921091">
                  <a:extLst>
                    <a:ext uri="{9D8B030D-6E8A-4147-A177-3AD203B41FA5}">
                      <a16:colId xmlns:a16="http://schemas.microsoft.com/office/drawing/2014/main" val="1906163807"/>
                    </a:ext>
                  </a:extLst>
                </a:gridCol>
                <a:gridCol w="921091">
                  <a:extLst>
                    <a:ext uri="{9D8B030D-6E8A-4147-A177-3AD203B41FA5}">
                      <a16:colId xmlns:a16="http://schemas.microsoft.com/office/drawing/2014/main" val="1023333781"/>
                    </a:ext>
                  </a:extLst>
                </a:gridCol>
                <a:gridCol w="921091">
                  <a:extLst>
                    <a:ext uri="{9D8B030D-6E8A-4147-A177-3AD203B41FA5}">
                      <a16:colId xmlns:a16="http://schemas.microsoft.com/office/drawing/2014/main" val="3280555493"/>
                    </a:ext>
                  </a:extLst>
                </a:gridCol>
                <a:gridCol w="921091">
                  <a:extLst>
                    <a:ext uri="{9D8B030D-6E8A-4147-A177-3AD203B41FA5}">
                      <a16:colId xmlns:a16="http://schemas.microsoft.com/office/drawing/2014/main" val="319150669"/>
                    </a:ext>
                  </a:extLst>
                </a:gridCol>
              </a:tblGrid>
              <a:tr h="131790">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83" marR="3483" marT="3483"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83" marR="3483" marT="3483"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83" marR="3483" marT="3483"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83" marR="3483" marT="3483"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3483" marR="3483" marT="3483" marB="0" anchor="ctr">
                    <a:lnL>
                      <a:noFill/>
                    </a:lnL>
                    <a:lnR>
                      <a:noFill/>
                    </a:lnR>
                    <a:lnT>
                      <a:noFill/>
                    </a:lnT>
                    <a:lnB>
                      <a:noFill/>
                    </a:lnB>
                    <a:noFill/>
                  </a:tcPr>
                </a:tc>
                <a:extLst>
                  <a:ext uri="{0D108BD9-81ED-4DB2-BD59-A6C34878D82A}">
                    <a16:rowId xmlns:a16="http://schemas.microsoft.com/office/drawing/2014/main" val="1322678044"/>
                  </a:ext>
                </a:extLst>
              </a:tr>
              <a:tr h="150094">
                <a:tc rowSpan="2">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3483"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23年9月期</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24年9月期</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25年9月期</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a:noFill/>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1535910436"/>
                  </a:ext>
                </a:extLst>
              </a:tr>
              <a:tr h="146434">
                <a:tc vMerge="1">
                  <a:txBody>
                    <a:bodyPr/>
                    <a:lstStyle/>
                    <a:p>
                      <a:endParaRPr kumimoji="1" lang="ja-JP" altLang="en-US"/>
                    </a:p>
                  </a:txBody>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83"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3483" marR="3483"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83" marR="3483"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3483" marR="3483"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83"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3483" marR="3483"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454711127"/>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養魚部売上高</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283,227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283,227</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284,903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284,903</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246,750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246,750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餌・薬品売上高</a:t>
                      </a:r>
                    </a:p>
                  </a:txBody>
                  <a:tcPr marL="125381" marR="3483" marT="3483"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500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500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603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603</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821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821</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106257322"/>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配達運賃売上高</a:t>
                      </a:r>
                    </a:p>
                  </a:txBody>
                  <a:tcPr marL="125381" marR="3483" marT="3483"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9,556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9,556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9,006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9,006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6,878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6,878</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40590857"/>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売上値引戻り高</a:t>
                      </a:r>
                    </a:p>
                  </a:txBody>
                  <a:tcPr marL="125381" marR="3483" marT="3483"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△24</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△23</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996461028"/>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293,253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293,253</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294,488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294,488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254,426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254,426</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511136594"/>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期首棚卸高</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34,811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34,811</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17,540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17,540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22,046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22,046</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998197803"/>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養魚部仕入高</a:t>
                      </a:r>
                    </a:p>
                  </a:txBody>
                  <a:tcPr marL="125381" marR="3483" marT="3483"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35,960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35,960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34,531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34,531</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46,053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46,053</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075354887"/>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餌・薬品仕入高</a:t>
                      </a:r>
                    </a:p>
                  </a:txBody>
                  <a:tcPr marL="125381" marR="3483" marT="3483"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57,677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57,677</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78,826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78,826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64,075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64,075</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853166200"/>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期末棚卸高</a:t>
                      </a:r>
                    </a:p>
                  </a:txBody>
                  <a:tcPr marL="125381" marR="3483" marT="3483"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△17,540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△17,540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△22,046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△22,046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△32,201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△32,201</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81748117"/>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110,908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110,908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108,851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108,851</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99,972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99,972</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89390302"/>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182,345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182,345</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185,637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185,637</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154,453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154,453</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4068503057"/>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170,328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△8</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170,320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176,905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△68</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176,837</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173,206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△58</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173,148</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671506463"/>
                  </a:ext>
                </a:extLst>
              </a:tr>
              <a:tr h="164738">
                <a:tc>
                  <a:txBody>
                    <a:bodyPr/>
                    <a:lstStyle/>
                    <a:p>
                      <a:pPr algn="l"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営業利益</a:t>
                      </a:r>
                    </a:p>
                  </a:txBody>
                  <a:tcPr marL="62691" marR="3483" marT="3483" marB="0" anchor="ctr">
                    <a:lnL w="12700" cap="flat" cmpd="sng" algn="ctr">
                      <a:solidFill>
                        <a:srgbClr val="C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12,017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8</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12,025</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8,732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68</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8,800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△18,753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58</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△18,695</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extLst>
                  <a:ext uri="{0D108BD9-81ED-4DB2-BD59-A6C34878D82A}">
                    <a16:rowId xmlns:a16="http://schemas.microsoft.com/office/drawing/2014/main" val="2124490931"/>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5381" marR="3483" marT="3483" marB="0" anchor="ctr">
                    <a:lnL>
                      <a:noFill/>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10,035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△7,852</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2,183</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43,485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△41,297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2,188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10,473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△8,189</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2,284</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08354132"/>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受取利息</a:t>
                      </a:r>
                    </a:p>
                  </a:txBody>
                  <a:tcPr marL="188072"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103</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235674480"/>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188072" marR="3483" marT="3483"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10,034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△7,852</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2,182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17,279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△15,097</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2,182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10,371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△8,189</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2,182</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085005862"/>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債務免除益</a:t>
                      </a:r>
                    </a:p>
                  </a:txBody>
                  <a:tcPr marL="188072" marR="3483" marT="3483" marB="0" anchor="ctr">
                    <a:lnL>
                      <a:noFill/>
                    </a:lnL>
                    <a:lnR w="6350" cap="flat" cmpd="sng" algn="ctr">
                      <a:solidFill>
                        <a:srgbClr val="FFFFFF"/>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26,200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△26,200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3138533"/>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7,430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△7,430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8,766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△8,766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8,391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△8,391</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806216290"/>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支払利息</a:t>
                      </a:r>
                    </a:p>
                  </a:txBody>
                  <a:tcPr marL="188072"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6,610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△6,610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7,154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△7,154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6,168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△6,168</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506815081"/>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雑損失</a:t>
                      </a:r>
                    </a:p>
                  </a:txBody>
                  <a:tcPr marL="188072" marR="3483" marT="3483" marB="0" anchor="ctr">
                    <a:lnL>
                      <a:noFill/>
                    </a:lnL>
                    <a:lnR w="6350" cap="flat" cmpd="sng" algn="ctr">
                      <a:solidFill>
                        <a:srgbClr val="FFFFFF"/>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820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△820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1,612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△1,612</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2,222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△2,222</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738836"/>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14,622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△414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14,208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43,451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△32,463</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10,988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△16,670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260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△16,410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58817594"/>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923977549"/>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貸倒引当金戻入益</a:t>
                      </a:r>
                    </a:p>
                  </a:txBody>
                  <a:tcPr marL="188072"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30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20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612768"/>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54864627"/>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14,652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△414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14,238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43,451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△32,463</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10,988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△16,650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260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△16,390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189123720"/>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02923771"/>
                  </a:ext>
                </a:extLst>
              </a:tr>
              <a:tr h="16473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88072"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72</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4729658"/>
                  </a:ext>
                </a:extLst>
              </a:tr>
              <a:tr h="16473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14,580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△414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14,165</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43,379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△32,463</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10,916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△16,723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260</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△16,463</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3023522888"/>
                  </a:ext>
                </a:extLst>
              </a:tr>
            </a:tbl>
          </a:graphicData>
        </a:graphic>
      </p:graphicFrame>
    </p:spTree>
    <p:extLst>
      <p:ext uri="{BB962C8B-B14F-4D97-AF65-F5344CB8AC3E}">
        <p14:creationId xmlns:p14="http://schemas.microsoft.com/office/powerpoint/2010/main" val="1691939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lang="ja-JP" altLang="en-US" dirty="0"/>
              <a:t>年買法</a:t>
            </a:r>
            <a:r>
              <a:rPr lang="ja-JP" altLang="en-US" sz="1400" dirty="0"/>
              <a:t>（コストアプローチ）</a:t>
            </a:r>
            <a:r>
              <a:rPr lang="ja-JP" altLang="en-US" dirty="0"/>
              <a:t>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5193" y="6527383"/>
            <a:ext cx="3132000" cy="358881"/>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・営業権の算出は調整後税考慮後営業利益を基準とし採用</a:t>
            </a:r>
            <a:endParaRPr lang="en-US" altLang="ja-JP" sz="1000" spc="50" dirty="0">
              <a:latin typeface="+mn-ea"/>
            </a:endParaRPr>
          </a:p>
        </p:txBody>
      </p:sp>
      <p:grpSp>
        <p:nvGrpSpPr>
          <p:cNvPr id="2" name="グループ化 1">
            <a:extLst>
              <a:ext uri="{FF2B5EF4-FFF2-40B4-BE49-F238E27FC236}">
                <a16:creationId xmlns:a16="http://schemas.microsoft.com/office/drawing/2014/main" id="{A29EB66C-2E27-8434-B652-DDC186B7F0B3}"/>
              </a:ext>
            </a:extLst>
          </p:cNvPr>
          <p:cNvGrpSpPr/>
          <p:nvPr/>
        </p:nvGrpSpPr>
        <p:grpSpPr>
          <a:xfrm>
            <a:off x="7237573" y="4779102"/>
            <a:ext cx="3132001" cy="1440000"/>
            <a:chOff x="7110548" y="4536538"/>
            <a:chExt cx="3132001" cy="1440000"/>
          </a:xfrm>
        </p:grpSpPr>
        <p:sp>
          <p:nvSpPr>
            <p:cNvPr id="49" name="フローチャート: 処理 48">
              <a:extLst>
                <a:ext uri="{FF2B5EF4-FFF2-40B4-BE49-F238E27FC236}">
                  <a16:creationId xmlns:a16="http://schemas.microsoft.com/office/drawing/2014/main" id="{3563BF4B-3A03-4761-D966-E487EA4F048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営業権倍率は買手企業の</a:t>
              </a:r>
              <a:r>
                <a:rPr lang="en-US" altLang="ja-JP" sz="1200" spc="30" dirty="0">
                  <a:solidFill>
                    <a:schemeClr val="tx2"/>
                  </a:solidFill>
                  <a:latin typeface="+mn-ea"/>
                </a:rPr>
                <a:t>M&amp;A</a:t>
              </a:r>
              <a:r>
                <a:rPr lang="ja-JP" altLang="en-US" sz="1200" spc="30" dirty="0">
                  <a:solidFill>
                    <a:schemeClr val="tx2"/>
                  </a:solidFill>
                  <a:latin typeface="+mn-ea"/>
                </a:rPr>
                <a:t>方針、取り組み意欲、想定シナジー等によっても変動いたします。</a:t>
              </a:r>
            </a:p>
          </p:txBody>
        </p:sp>
        <p:sp>
          <p:nvSpPr>
            <p:cNvPr id="50" name="正方形/長方形 49">
              <a:extLst>
                <a:ext uri="{FF2B5EF4-FFF2-40B4-BE49-F238E27FC236}">
                  <a16:creationId xmlns:a16="http://schemas.microsoft.com/office/drawing/2014/main" id="{4ED737D8-0179-EDE9-A930-2CF46D17F20B}"/>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1" name="グループ化 50">
              <a:extLst>
                <a:ext uri="{FF2B5EF4-FFF2-40B4-BE49-F238E27FC236}">
                  <a16:creationId xmlns:a16="http://schemas.microsoft.com/office/drawing/2014/main" id="{CB2BF03D-D2D6-3CD9-BAC4-6C0DC169523C}"/>
                </a:ext>
              </a:extLst>
            </p:cNvPr>
            <p:cNvGrpSpPr/>
            <p:nvPr/>
          </p:nvGrpSpPr>
          <p:grpSpPr>
            <a:xfrm>
              <a:off x="7391962" y="4915692"/>
              <a:ext cx="373173" cy="373173"/>
              <a:chOff x="557955" y="6293952"/>
              <a:chExt cx="373173" cy="373173"/>
            </a:xfrm>
          </p:grpSpPr>
          <p:sp>
            <p:nvSpPr>
              <p:cNvPr id="52" name="楕円 51">
                <a:extLst>
                  <a:ext uri="{FF2B5EF4-FFF2-40B4-BE49-F238E27FC236}">
                    <a16:creationId xmlns:a16="http://schemas.microsoft.com/office/drawing/2014/main" id="{6F018B1F-7032-6330-2F6C-C5400AFD9242}"/>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3" name="グループ化 52">
                <a:extLst>
                  <a:ext uri="{FF2B5EF4-FFF2-40B4-BE49-F238E27FC236}">
                    <a16:creationId xmlns:a16="http://schemas.microsoft.com/office/drawing/2014/main" id="{7F068DAC-E598-190E-42FE-1189D043343B}"/>
                  </a:ext>
                </a:extLst>
              </p:cNvPr>
              <p:cNvGrpSpPr/>
              <p:nvPr/>
            </p:nvGrpSpPr>
            <p:grpSpPr>
              <a:xfrm>
                <a:off x="620003" y="6342163"/>
                <a:ext cx="249077" cy="276751"/>
                <a:chOff x="605367" y="6371166"/>
                <a:chExt cx="210977" cy="234418"/>
              </a:xfrm>
            </p:grpSpPr>
            <p:sp>
              <p:nvSpPr>
                <p:cNvPr id="54" name="フリーフォーム: 図形 53">
                  <a:extLst>
                    <a:ext uri="{FF2B5EF4-FFF2-40B4-BE49-F238E27FC236}">
                      <a16:creationId xmlns:a16="http://schemas.microsoft.com/office/drawing/2014/main" id="{A1DEA6EA-1E7F-7BF7-EC29-074B27A76C5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55" name="フリーフォーム: 図形 54">
                  <a:extLst>
                    <a:ext uri="{FF2B5EF4-FFF2-40B4-BE49-F238E27FC236}">
                      <a16:creationId xmlns:a16="http://schemas.microsoft.com/office/drawing/2014/main" id="{3FF254E6-4C92-A794-24E2-A0D99B5FC347}"/>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1CF77B68-8709-D733-9916-92C57E52E7FC}"/>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57" name="フリーフォーム: 図形 56">
                  <a:extLst>
                    <a:ext uri="{FF2B5EF4-FFF2-40B4-BE49-F238E27FC236}">
                      <a16:creationId xmlns:a16="http://schemas.microsoft.com/office/drawing/2014/main" id="{0747E862-F508-E276-0612-34F85441A35A}"/>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7E1CA8BD-0DEF-68F9-82D5-97A5971778F8}"/>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9" name="フリーフォーム: 図形 58">
                  <a:extLst>
                    <a:ext uri="{FF2B5EF4-FFF2-40B4-BE49-F238E27FC236}">
                      <a16:creationId xmlns:a16="http://schemas.microsoft.com/office/drawing/2014/main" id="{6FDF0A0B-79AC-C1B6-E12A-DE7ECB339827}"/>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60" name="グラフィックス 32">
                  <a:extLst>
                    <a:ext uri="{FF2B5EF4-FFF2-40B4-BE49-F238E27FC236}">
                      <a16:creationId xmlns:a16="http://schemas.microsoft.com/office/drawing/2014/main" id="{46003F03-0706-D56E-131C-6F71ACA679AA}"/>
                    </a:ext>
                  </a:extLst>
                </p:cNvPr>
                <p:cNvGrpSpPr/>
                <p:nvPr/>
              </p:nvGrpSpPr>
              <p:grpSpPr>
                <a:xfrm>
                  <a:off x="639299" y="6399061"/>
                  <a:ext cx="149149" cy="149149"/>
                  <a:chOff x="639299" y="6399061"/>
                  <a:chExt cx="149149" cy="149149"/>
                </a:xfrm>
              </p:grpSpPr>
              <p:sp>
                <p:nvSpPr>
                  <p:cNvPr id="68" name="フリーフォーム: 図形 67">
                    <a:extLst>
                      <a:ext uri="{FF2B5EF4-FFF2-40B4-BE49-F238E27FC236}">
                        <a16:creationId xmlns:a16="http://schemas.microsoft.com/office/drawing/2014/main" id="{FF1B27A2-5C8B-F971-8F1E-D89DE9245932}"/>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9" name="フリーフォーム: 図形 68">
                    <a:extLst>
                      <a:ext uri="{FF2B5EF4-FFF2-40B4-BE49-F238E27FC236}">
                        <a16:creationId xmlns:a16="http://schemas.microsoft.com/office/drawing/2014/main" id="{0A67E87D-C16C-7317-27D3-B65177A9A650}"/>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61" name="フリーフォーム: 図形 60">
                  <a:extLst>
                    <a:ext uri="{FF2B5EF4-FFF2-40B4-BE49-F238E27FC236}">
                      <a16:creationId xmlns:a16="http://schemas.microsoft.com/office/drawing/2014/main" id="{A22E7811-79CC-7D34-A60A-5DABDD728347}"/>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62" name="グラフィックス 32">
                  <a:extLst>
                    <a:ext uri="{FF2B5EF4-FFF2-40B4-BE49-F238E27FC236}">
                      <a16:creationId xmlns:a16="http://schemas.microsoft.com/office/drawing/2014/main" id="{DDB6E077-4DF8-9D28-CE9D-FD0DC38080E3}"/>
                    </a:ext>
                  </a:extLst>
                </p:cNvPr>
                <p:cNvGrpSpPr/>
                <p:nvPr/>
              </p:nvGrpSpPr>
              <p:grpSpPr>
                <a:xfrm>
                  <a:off x="605367" y="6470794"/>
                  <a:ext cx="210977" cy="5860"/>
                  <a:chOff x="605367" y="6470794"/>
                  <a:chExt cx="210977" cy="5860"/>
                </a:xfrm>
              </p:grpSpPr>
              <p:sp>
                <p:nvSpPr>
                  <p:cNvPr id="66" name="フリーフォーム: 図形 65">
                    <a:extLst>
                      <a:ext uri="{FF2B5EF4-FFF2-40B4-BE49-F238E27FC236}">
                        <a16:creationId xmlns:a16="http://schemas.microsoft.com/office/drawing/2014/main" id="{F6E3D96F-EC3C-7492-EAD2-472738E099EA}"/>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67" name="フリーフォーム: 図形 66">
                    <a:extLst>
                      <a:ext uri="{FF2B5EF4-FFF2-40B4-BE49-F238E27FC236}">
                        <a16:creationId xmlns:a16="http://schemas.microsoft.com/office/drawing/2014/main" id="{DCC1D94A-2131-4857-9112-4465F8CBD688}"/>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63" name="グラフィックス 32">
                  <a:extLst>
                    <a:ext uri="{FF2B5EF4-FFF2-40B4-BE49-F238E27FC236}">
                      <a16:creationId xmlns:a16="http://schemas.microsoft.com/office/drawing/2014/main" id="{1795E0F7-A5BB-F562-9C60-3E356D161488}"/>
                    </a:ext>
                  </a:extLst>
                </p:cNvPr>
                <p:cNvGrpSpPr/>
                <p:nvPr/>
              </p:nvGrpSpPr>
              <p:grpSpPr>
                <a:xfrm>
                  <a:off x="633262" y="6399061"/>
                  <a:ext cx="149149" cy="149149"/>
                  <a:chOff x="633262" y="6399061"/>
                  <a:chExt cx="149149" cy="149149"/>
                </a:xfrm>
              </p:grpSpPr>
              <p:sp>
                <p:nvSpPr>
                  <p:cNvPr id="64" name="フリーフォーム: 図形 63">
                    <a:extLst>
                      <a:ext uri="{FF2B5EF4-FFF2-40B4-BE49-F238E27FC236}">
                        <a16:creationId xmlns:a16="http://schemas.microsoft.com/office/drawing/2014/main" id="{DDC39931-DD4A-0A4F-7EF0-1E2166A51BA7}"/>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65" name="フリーフォーム: 図形 64">
                    <a:extLst>
                      <a:ext uri="{FF2B5EF4-FFF2-40B4-BE49-F238E27FC236}">
                        <a16:creationId xmlns:a16="http://schemas.microsoft.com/office/drawing/2014/main" id="{182857EE-5EF9-595C-B8CD-3E47A8977D5F}"/>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4" name="正方形/長方形 3">
            <a:extLst>
              <a:ext uri="{FF2B5EF4-FFF2-40B4-BE49-F238E27FC236}">
                <a16:creationId xmlns:a16="http://schemas.microsoft.com/office/drawing/2014/main" id="{6BC308DD-4581-9B3D-2488-1CF63FDB56F1}"/>
              </a:ext>
            </a:extLst>
          </p:cNvPr>
          <p:cNvSpPr/>
          <p:nvPr/>
        </p:nvSpPr>
        <p:spPr>
          <a:xfrm>
            <a:off x="44926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時価純資産</a:t>
            </a:r>
          </a:p>
        </p:txBody>
      </p:sp>
      <p:sp>
        <p:nvSpPr>
          <p:cNvPr id="11" name="正方形/長方形 10">
            <a:extLst>
              <a:ext uri="{FF2B5EF4-FFF2-40B4-BE49-F238E27FC236}">
                <a16:creationId xmlns:a16="http://schemas.microsoft.com/office/drawing/2014/main" id="{FF906F3B-339D-5C93-EB5C-667F5D10FE00}"/>
              </a:ext>
            </a:extLst>
          </p:cNvPr>
          <p:cNvSpPr/>
          <p:nvPr/>
        </p:nvSpPr>
        <p:spPr>
          <a:xfrm>
            <a:off x="419748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基準営業利益</a:t>
            </a:r>
          </a:p>
        </p:txBody>
      </p:sp>
      <p:sp>
        <p:nvSpPr>
          <p:cNvPr id="18" name="テキスト ボックス 17">
            <a:extLst>
              <a:ext uri="{FF2B5EF4-FFF2-40B4-BE49-F238E27FC236}">
                <a16:creationId xmlns:a16="http://schemas.microsoft.com/office/drawing/2014/main" id="{9FA20A16-6D84-8F71-DF07-E04C0E7459DA}"/>
              </a:ext>
            </a:extLst>
          </p:cNvPr>
          <p:cNvSpPr txBox="1"/>
          <p:nvPr/>
        </p:nvSpPr>
        <p:spPr>
          <a:xfrm>
            <a:off x="341313" y="4241196"/>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443322" y="643793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・営業利益は過去</a:t>
            </a:r>
            <a:r>
              <a:rPr lang="en-US" altLang="ja-JP" sz="1000" spc="50" dirty="0">
                <a:latin typeface="+mn-ea"/>
              </a:rPr>
              <a:t>3</a:t>
            </a:r>
            <a:r>
              <a:rPr lang="ja-JP" altLang="en-US" sz="1000" spc="50" dirty="0">
                <a:latin typeface="+mn-ea"/>
              </a:rPr>
              <a:t>年の加重平均を採用</a:t>
            </a:r>
            <a:br>
              <a:rPr lang="en-US" altLang="ja-JP" sz="1000" spc="50" dirty="0">
                <a:latin typeface="+mn-ea"/>
              </a:rPr>
            </a:br>
            <a:r>
              <a:rPr lang="ja-JP" altLang="en-US" sz="1000" spc="50" dirty="0">
                <a:latin typeface="+mn-ea"/>
              </a:rPr>
              <a:t>（</a:t>
            </a:r>
            <a:r>
              <a:rPr lang="en-US" altLang="ja-JP" sz="1000" spc="50" dirty="0">
                <a:latin typeface="+mn-ea"/>
              </a:rPr>
              <a:t>25</a:t>
            </a:r>
            <a:r>
              <a:rPr lang="ja-JP" altLang="en-US" sz="1000" spc="50" dirty="0">
                <a:latin typeface="+mn-ea"/>
              </a:rPr>
              <a:t>年</a:t>
            </a:r>
            <a:r>
              <a:rPr lang="en-US" altLang="ja-JP" sz="1000" spc="50" dirty="0">
                <a:latin typeface="+mn-ea"/>
              </a:rPr>
              <a:t>9</a:t>
            </a:r>
            <a:r>
              <a:rPr lang="ja-JP" altLang="en-US" sz="1000" spc="50" dirty="0">
                <a:latin typeface="+mn-ea"/>
              </a:rPr>
              <a:t>月期：</a:t>
            </a:r>
            <a:r>
              <a:rPr lang="en-US" altLang="ja-JP" sz="1000" spc="50" dirty="0">
                <a:latin typeface="+mn-ea"/>
              </a:rPr>
              <a:t>24</a:t>
            </a:r>
            <a:r>
              <a:rPr lang="ja-JP" altLang="en-US" sz="1000" spc="50" dirty="0">
                <a:latin typeface="+mn-ea"/>
              </a:rPr>
              <a:t>年</a:t>
            </a:r>
            <a:r>
              <a:rPr lang="en-US" altLang="ja-JP" sz="1000" spc="50" dirty="0">
                <a:latin typeface="+mn-ea"/>
              </a:rPr>
              <a:t>9</a:t>
            </a:r>
            <a:r>
              <a:rPr lang="ja-JP" altLang="en-US" sz="1000" spc="50" dirty="0">
                <a:latin typeface="+mn-ea"/>
              </a:rPr>
              <a:t>月期：</a:t>
            </a:r>
            <a:r>
              <a:rPr lang="en-US" altLang="ja-JP" sz="1000" spc="50" dirty="0">
                <a:latin typeface="+mn-ea"/>
              </a:rPr>
              <a:t>23</a:t>
            </a:r>
            <a:r>
              <a:rPr lang="ja-JP" altLang="en-US" sz="1000" spc="50" dirty="0">
                <a:latin typeface="+mn-ea"/>
              </a:rPr>
              <a:t>年</a:t>
            </a:r>
            <a:r>
              <a:rPr lang="en-US" altLang="ja-JP" sz="1000" spc="50" dirty="0">
                <a:latin typeface="+mn-ea"/>
              </a:rPr>
              <a:t>9</a:t>
            </a:r>
            <a:r>
              <a:rPr lang="ja-JP" altLang="en-US" sz="1000" spc="50" dirty="0">
                <a:latin typeface="+mn-ea"/>
              </a:rPr>
              <a:t>月期</a:t>
            </a:r>
            <a:br>
              <a:rPr lang="en-US" altLang="ja-JP" sz="1000" spc="50" dirty="0">
                <a:latin typeface="+mn-ea"/>
              </a:rPr>
            </a:br>
            <a:r>
              <a:rPr lang="ja-JP" altLang="en-US" sz="1000" spc="50" dirty="0">
                <a:latin typeface="+mn-ea"/>
              </a:rPr>
              <a:t>　＝５：３：２）</a:t>
            </a: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176433" y="644699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・営業権倍率は国内の中小企業</a:t>
            </a:r>
            <a:r>
              <a:rPr lang="en-US" altLang="ja-JP" sz="1000" spc="50" dirty="0">
                <a:latin typeface="+mn-ea"/>
              </a:rPr>
              <a:t>M&amp;A</a:t>
            </a:r>
            <a:r>
              <a:rPr lang="ja-JP" altLang="en-US" sz="1000" spc="50" dirty="0">
                <a:latin typeface="+mn-ea"/>
              </a:rPr>
              <a:t>の実例においてボリュームゾーンである</a:t>
            </a:r>
            <a:r>
              <a:rPr lang="en-US" altLang="ja-JP" sz="1000" spc="50" dirty="0">
                <a:latin typeface="+mn-ea"/>
              </a:rPr>
              <a:t>1</a:t>
            </a:r>
            <a:r>
              <a:rPr lang="ja-JP" altLang="en-US" sz="1000" spc="50" dirty="0">
                <a:latin typeface="+mn-ea"/>
              </a:rPr>
              <a:t>～</a:t>
            </a:r>
            <a:r>
              <a:rPr lang="en-US" altLang="ja-JP" sz="1000" spc="50" dirty="0">
                <a:latin typeface="+mn-ea"/>
              </a:rPr>
              <a:t>3</a:t>
            </a:r>
            <a:r>
              <a:rPr lang="ja-JP" altLang="en-US" sz="1000" spc="50" dirty="0">
                <a:latin typeface="+mn-ea"/>
              </a:rPr>
              <a:t>倍を適用</a:t>
            </a:r>
            <a:endParaRPr lang="en-US" altLang="ja-JP" sz="1000" spc="50" dirty="0">
              <a:latin typeface="+mn-ea"/>
            </a:endParaRPr>
          </a:p>
        </p:txBody>
      </p:sp>
      <p:graphicFrame>
        <p:nvGraphicFramePr>
          <p:cNvPr id="5" name="表 4">
            <a:extLst>
              <a:ext uri="{FF2B5EF4-FFF2-40B4-BE49-F238E27FC236}">
                <a16:creationId xmlns:a16="http://schemas.microsoft.com/office/drawing/2014/main" id="{26AF88D5-F5AA-EC4C-22F4-A3A39F720979}"/>
              </a:ext>
            </a:extLst>
          </p:cNvPr>
          <p:cNvGraphicFramePr>
            <a:graphicFrameLocks noGrp="1"/>
          </p:cNvGraphicFramePr>
          <p:nvPr>
            <p:extLst>
              <p:ext uri="{D42A27DB-BD31-4B8C-83A1-F6EECF244321}">
                <p14:modId xmlns:p14="http://schemas.microsoft.com/office/powerpoint/2010/main" val="3441969292"/>
              </p:ext>
            </p:extLst>
          </p:nvPr>
        </p:nvGraphicFramePr>
        <p:xfrm>
          <a:off x="449264" y="1104833"/>
          <a:ext cx="2844800" cy="1616079"/>
        </p:xfrm>
        <a:graphic>
          <a:graphicData uri="http://schemas.openxmlformats.org/drawingml/2006/table">
            <a:tbl>
              <a:tblPr/>
              <a:tblGrid>
                <a:gridCol w="1422400">
                  <a:extLst>
                    <a:ext uri="{9D8B030D-6E8A-4147-A177-3AD203B41FA5}">
                      <a16:colId xmlns:a16="http://schemas.microsoft.com/office/drawing/2014/main" val="3694366052"/>
                    </a:ext>
                  </a:extLst>
                </a:gridCol>
                <a:gridCol w="1422400">
                  <a:extLst>
                    <a:ext uri="{9D8B030D-6E8A-4147-A177-3AD203B41FA5}">
                      <a16:colId xmlns:a16="http://schemas.microsoft.com/office/drawing/2014/main" val="1488557040"/>
                    </a:ext>
                  </a:extLst>
                </a:gridCol>
              </a:tblGrid>
              <a:tr h="214129">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856857072"/>
                  </a:ext>
                </a:extLst>
              </a:tr>
              <a:tr h="263498">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25年9月期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655321245"/>
                  </a:ext>
                </a:extLst>
              </a:tr>
              <a:tr h="379484">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簿価純資産額</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△20,912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1646571"/>
                  </a:ext>
                </a:extLst>
              </a:tr>
              <a:tr h="379484">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修正額</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dirty="0">
                          <a:solidFill>
                            <a:srgbClr val="000000"/>
                          </a:solidFill>
                          <a:effectLst/>
                          <a:latin typeface="Arial" panose="020B0604020202020204" pitchFamily="34" charset="0"/>
                          <a:ea typeface="游ゴシック Medium" panose="020B0500000000000000" pitchFamily="50" charset="-128"/>
                        </a:rPr>
                        <a:t>△2,682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48851464"/>
                  </a:ext>
                </a:extLst>
              </a:tr>
              <a:tr h="379484">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△23,594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416888023"/>
                  </a:ext>
                </a:extLst>
              </a:tr>
            </a:tbl>
          </a:graphicData>
        </a:graphic>
      </p:graphicFrame>
      <p:graphicFrame>
        <p:nvGraphicFramePr>
          <p:cNvPr id="9" name="表 8">
            <a:extLst>
              <a:ext uri="{FF2B5EF4-FFF2-40B4-BE49-F238E27FC236}">
                <a16:creationId xmlns:a16="http://schemas.microsoft.com/office/drawing/2014/main" id="{D61F985D-E1EE-9F23-98BD-DEA1EAC23C5B}"/>
              </a:ext>
            </a:extLst>
          </p:cNvPr>
          <p:cNvGraphicFramePr>
            <a:graphicFrameLocks noGrp="1"/>
          </p:cNvGraphicFramePr>
          <p:nvPr>
            <p:extLst>
              <p:ext uri="{D42A27DB-BD31-4B8C-83A1-F6EECF244321}">
                <p14:modId xmlns:p14="http://schemas.microsoft.com/office/powerpoint/2010/main" val="1107443269"/>
              </p:ext>
            </p:extLst>
          </p:nvPr>
        </p:nvGraphicFramePr>
        <p:xfrm>
          <a:off x="4222774" y="1099857"/>
          <a:ext cx="6146800" cy="3070466"/>
        </p:xfrm>
        <a:graphic>
          <a:graphicData uri="http://schemas.openxmlformats.org/drawingml/2006/table">
            <a:tbl>
              <a:tblPr/>
              <a:tblGrid>
                <a:gridCol w="1879600">
                  <a:extLst>
                    <a:ext uri="{9D8B030D-6E8A-4147-A177-3AD203B41FA5}">
                      <a16:colId xmlns:a16="http://schemas.microsoft.com/office/drawing/2014/main" val="2689453775"/>
                    </a:ext>
                  </a:extLst>
                </a:gridCol>
                <a:gridCol w="1422400">
                  <a:extLst>
                    <a:ext uri="{9D8B030D-6E8A-4147-A177-3AD203B41FA5}">
                      <a16:colId xmlns:a16="http://schemas.microsoft.com/office/drawing/2014/main" val="2339328892"/>
                    </a:ext>
                  </a:extLst>
                </a:gridCol>
                <a:gridCol w="1422400">
                  <a:extLst>
                    <a:ext uri="{9D8B030D-6E8A-4147-A177-3AD203B41FA5}">
                      <a16:colId xmlns:a16="http://schemas.microsoft.com/office/drawing/2014/main" val="2858407201"/>
                    </a:ext>
                  </a:extLst>
                </a:gridCol>
                <a:gridCol w="1422400">
                  <a:extLst>
                    <a:ext uri="{9D8B030D-6E8A-4147-A177-3AD203B41FA5}">
                      <a16:colId xmlns:a16="http://schemas.microsoft.com/office/drawing/2014/main" val="1153056647"/>
                    </a:ext>
                  </a:extLst>
                </a:gridCol>
              </a:tblGrid>
              <a:tr h="215062">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2060651099"/>
                  </a:ext>
                </a:extLst>
              </a:tr>
              <a:tr h="264646">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23年9月期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24年9月期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25年9月期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182827024"/>
                  </a:ext>
                </a:extLst>
              </a:tr>
              <a:tr h="381138">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12,017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8,732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△18,753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87334889"/>
                  </a:ext>
                </a:extLst>
              </a:tr>
              <a:tr h="381138">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dirty="0">
                          <a:solidFill>
                            <a:srgbClr val="000000"/>
                          </a:solidFill>
                          <a:effectLst/>
                          <a:latin typeface="Arial" panose="020B0604020202020204" pitchFamily="34" charset="0"/>
                          <a:ea typeface="游ゴシック Medium" panose="020B0500000000000000" pitchFamily="50" charset="-128"/>
                        </a:rPr>
                        <a:t>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58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594322700"/>
                  </a:ext>
                </a:extLst>
              </a:tr>
              <a:tr h="381138">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12,025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8,800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△18,695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159235464"/>
                  </a:ext>
                </a:extLst>
              </a:tr>
              <a:tr h="381138">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税考慮額</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△4,088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△2,992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6,356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75929803"/>
                  </a:ext>
                </a:extLst>
              </a:tr>
              <a:tr h="381138">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修正後税考慮後営業利益</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7,936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5,876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△12,281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910729668"/>
                  </a:ext>
                </a:extLst>
              </a:tr>
              <a:tr h="186984">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328652731"/>
                  </a:ext>
                </a:extLst>
              </a:tr>
              <a:tr h="495838">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基準営業利益</a:t>
                      </a:r>
                      <a:br>
                        <a:rPr lang="ja-JP" sz="1200" b="1" i="0" u="none" strike="noStrike">
                          <a:solidFill>
                            <a:srgbClr val="000000"/>
                          </a:solidFill>
                          <a:effectLst/>
                          <a:latin typeface="游ゴシック" panose="020B0400000000000000" pitchFamily="50" charset="-128"/>
                          <a:ea typeface="游ゴシック" panose="020B0400000000000000" pitchFamily="50" charset="-128"/>
                        </a:rPr>
                      </a:br>
                      <a:r>
                        <a:rPr lang="ja-JP" sz="1200" b="1" i="0" u="none" strike="noStrike">
                          <a:solidFill>
                            <a:srgbClr val="000000"/>
                          </a:solidFill>
                          <a:effectLst/>
                          <a:latin typeface="游ゴシック" panose="020B0400000000000000" pitchFamily="50" charset="-128"/>
                          <a:ea typeface="游ゴシック" panose="020B0400000000000000" pitchFamily="50" charset="-128"/>
                        </a:rPr>
                        <a:t>(三期加重平均)</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△2,790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1450107663"/>
                  </a:ext>
                </a:extLst>
              </a:tr>
            </a:tbl>
          </a:graphicData>
        </a:graphic>
      </p:graphicFrame>
      <p:graphicFrame>
        <p:nvGraphicFramePr>
          <p:cNvPr id="12" name="表 11">
            <a:extLst>
              <a:ext uri="{FF2B5EF4-FFF2-40B4-BE49-F238E27FC236}">
                <a16:creationId xmlns:a16="http://schemas.microsoft.com/office/drawing/2014/main" id="{F1360EDF-B0F1-0E3A-ADF3-69D171EC72EE}"/>
              </a:ext>
            </a:extLst>
          </p:cNvPr>
          <p:cNvGraphicFramePr>
            <a:graphicFrameLocks noGrp="1"/>
          </p:cNvGraphicFramePr>
          <p:nvPr>
            <p:extLst>
              <p:ext uri="{D42A27DB-BD31-4B8C-83A1-F6EECF244321}">
                <p14:modId xmlns:p14="http://schemas.microsoft.com/office/powerpoint/2010/main" val="963643932"/>
              </p:ext>
            </p:extLst>
          </p:nvPr>
        </p:nvGraphicFramePr>
        <p:xfrm>
          <a:off x="449264" y="4496031"/>
          <a:ext cx="6197600" cy="1725295"/>
        </p:xfrm>
        <a:graphic>
          <a:graphicData uri="http://schemas.openxmlformats.org/drawingml/2006/table">
            <a:tbl>
              <a:tblPr/>
              <a:tblGrid>
                <a:gridCol w="1549400">
                  <a:extLst>
                    <a:ext uri="{9D8B030D-6E8A-4147-A177-3AD203B41FA5}">
                      <a16:colId xmlns:a16="http://schemas.microsoft.com/office/drawing/2014/main" val="1900577174"/>
                    </a:ext>
                  </a:extLst>
                </a:gridCol>
                <a:gridCol w="1549400">
                  <a:extLst>
                    <a:ext uri="{9D8B030D-6E8A-4147-A177-3AD203B41FA5}">
                      <a16:colId xmlns:a16="http://schemas.microsoft.com/office/drawing/2014/main" val="1597478049"/>
                    </a:ext>
                  </a:extLst>
                </a:gridCol>
                <a:gridCol w="1549400">
                  <a:extLst>
                    <a:ext uri="{9D8B030D-6E8A-4147-A177-3AD203B41FA5}">
                      <a16:colId xmlns:a16="http://schemas.microsoft.com/office/drawing/2014/main" val="2184922444"/>
                    </a:ext>
                  </a:extLst>
                </a:gridCol>
                <a:gridCol w="1549400">
                  <a:extLst>
                    <a:ext uri="{9D8B030D-6E8A-4147-A177-3AD203B41FA5}">
                      <a16:colId xmlns:a16="http://schemas.microsoft.com/office/drawing/2014/main" val="2004076858"/>
                    </a:ext>
                  </a:extLst>
                </a:gridCol>
              </a:tblGrid>
              <a:tr h="228600">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3976737339"/>
                  </a:ext>
                </a:extLst>
              </a:tr>
              <a:tr h="28130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営業権倍率</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x1</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x2</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856159003"/>
                  </a:ext>
                </a:extLst>
              </a:tr>
              <a:tr h="40513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gridSpan="3">
                  <a:txBody>
                    <a:bodyPr/>
                    <a:lstStyle/>
                    <a:p>
                      <a:pPr algn="ctr" fontAlgn="ctr">
                        <a:buNone/>
                      </a:pPr>
                      <a:r>
                        <a:rPr lang="ja-JP" sz="1200" b="0" i="0" u="none" strike="noStrike" dirty="0">
                          <a:solidFill>
                            <a:srgbClr val="000000"/>
                          </a:solidFill>
                          <a:effectLst/>
                          <a:latin typeface="Arial" panose="020B0604020202020204" pitchFamily="34" charset="0"/>
                          <a:ea typeface="游ゴシック Medium" panose="020B0500000000000000" pitchFamily="50" charset="-128"/>
                        </a:rPr>
                        <a:t>△23,594</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hMerge="1">
                  <a:txBody>
                    <a:bodyPr/>
                    <a:lstStyle/>
                    <a:p>
                      <a:endParaRPr dirty="0"/>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25120275"/>
                  </a:ext>
                </a:extLst>
              </a:tr>
              <a:tr h="40513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△2,790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△5,580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△8,370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2612554151"/>
                  </a:ext>
                </a:extLst>
              </a:tr>
              <a:tr h="40513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6350" marT="635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△26,384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△29,174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△31,965</a:t>
                      </a:r>
                    </a:p>
                  </a:txBody>
                  <a:tcPr marL="6350" marR="114300" marT="635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2660274039"/>
                  </a:ext>
                </a:extLst>
              </a:tr>
            </a:tbl>
          </a:graphicData>
        </a:graphic>
      </p:graphicFrame>
    </p:spTree>
    <p:extLst>
      <p:ext uri="{BB962C8B-B14F-4D97-AF65-F5344CB8AC3E}">
        <p14:creationId xmlns:p14="http://schemas.microsoft.com/office/powerpoint/2010/main" val="3814231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lang="en-US" altLang="ja-JP" dirty="0"/>
              <a:t>EV/EBITDA</a:t>
            </a:r>
            <a:r>
              <a:rPr lang="ja-JP" altLang="en-US" dirty="0"/>
              <a:t>マルチプル法</a:t>
            </a:r>
            <a:r>
              <a:rPr lang="ja-JP" altLang="en-US" sz="1400" dirty="0"/>
              <a:t>（マーケットアプローチ）</a:t>
            </a:r>
            <a:r>
              <a:rPr lang="ja-JP" altLang="en-US" dirty="0"/>
              <a:t>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4" name="正方形/長方形 3">
            <a:extLst>
              <a:ext uri="{FF2B5EF4-FFF2-40B4-BE49-F238E27FC236}">
                <a16:creationId xmlns:a16="http://schemas.microsoft.com/office/drawing/2014/main" id="{33074C14-EE57-454D-DEE5-B4FA1B4A9B58}"/>
              </a:ext>
            </a:extLst>
          </p:cNvPr>
          <p:cNvSpPr/>
          <p:nvPr/>
        </p:nvSpPr>
        <p:spPr>
          <a:xfrm>
            <a:off x="3913982"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en-US" altLang="ja-JP" sz="1600" b="1" spc="50" dirty="0">
                <a:solidFill>
                  <a:schemeClr val="tx1"/>
                </a:solidFill>
                <a:latin typeface="+mj-ea"/>
                <a:ea typeface="+mj-ea"/>
              </a:rPr>
              <a:t>EV</a:t>
            </a:r>
            <a:r>
              <a:rPr lang="ja-JP" altLang="en-US" sz="1600" b="1" spc="50" dirty="0">
                <a:solidFill>
                  <a:schemeClr val="tx1"/>
                </a:solidFill>
                <a:latin typeface="+mj-ea"/>
                <a:ea typeface="+mj-ea"/>
              </a:rPr>
              <a:t>（</a:t>
            </a:r>
            <a:r>
              <a:rPr lang="en-US" altLang="ja-JP" sz="1600" b="1" spc="50" dirty="0">
                <a:solidFill>
                  <a:schemeClr val="tx1"/>
                </a:solidFill>
                <a:latin typeface="+mj-ea"/>
                <a:ea typeface="+mj-ea"/>
              </a:rPr>
              <a:t>EBITDA×</a:t>
            </a:r>
            <a:r>
              <a:rPr lang="ja-JP" altLang="en-US" sz="1600" b="1" spc="50" dirty="0">
                <a:solidFill>
                  <a:schemeClr val="tx1"/>
                </a:solidFill>
                <a:latin typeface="+mj-ea"/>
                <a:ea typeface="+mj-ea"/>
              </a:rPr>
              <a:t>倍率）</a:t>
            </a:r>
          </a:p>
        </p:txBody>
      </p:sp>
      <p:sp>
        <p:nvSpPr>
          <p:cNvPr id="11" name="正方形/長方形 10">
            <a:extLst>
              <a:ext uri="{FF2B5EF4-FFF2-40B4-BE49-F238E27FC236}">
                <a16:creationId xmlns:a16="http://schemas.microsoft.com/office/drawing/2014/main" id="{14370311-C1C8-F01A-03FB-4CB76D5E625E}"/>
              </a:ext>
            </a:extLst>
          </p:cNvPr>
          <p:cNvSpPr/>
          <p:nvPr/>
        </p:nvSpPr>
        <p:spPr>
          <a:xfrm>
            <a:off x="444636"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ネットキャッシュ</a:t>
            </a:r>
          </a:p>
        </p:txBody>
      </p:sp>
      <p:sp>
        <p:nvSpPr>
          <p:cNvPr id="18" name="テキスト ボックス 17">
            <a:extLst>
              <a:ext uri="{FF2B5EF4-FFF2-40B4-BE49-F238E27FC236}">
                <a16:creationId xmlns:a16="http://schemas.microsoft.com/office/drawing/2014/main" id="{179AA9CD-95B4-9925-7A4F-9D862B690B84}"/>
              </a:ext>
            </a:extLst>
          </p:cNvPr>
          <p:cNvSpPr txBox="1"/>
          <p:nvPr/>
        </p:nvSpPr>
        <p:spPr>
          <a:xfrm>
            <a:off x="341313" y="3892348"/>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endParaRPr lang="en-US" altLang="ja-JP" sz="1800" b="1" spc="50" dirty="0">
              <a:solidFill>
                <a:schemeClr val="tx1"/>
              </a:solidFill>
              <a:latin typeface="+mj-ea"/>
              <a:ea typeface="+mj-ea"/>
            </a:endParaRPr>
          </a:p>
        </p:txBody>
      </p:sp>
      <p:graphicFrame>
        <p:nvGraphicFramePr>
          <p:cNvPr id="3" name="表 2">
            <a:extLst>
              <a:ext uri="{FF2B5EF4-FFF2-40B4-BE49-F238E27FC236}">
                <a16:creationId xmlns:a16="http://schemas.microsoft.com/office/drawing/2014/main" id="{8A126530-37D4-6AF5-7794-72ABEBEE1EB3}"/>
              </a:ext>
            </a:extLst>
          </p:cNvPr>
          <p:cNvGraphicFramePr>
            <a:graphicFrameLocks noGrp="1"/>
          </p:cNvGraphicFramePr>
          <p:nvPr>
            <p:extLst>
              <p:ext uri="{D42A27DB-BD31-4B8C-83A1-F6EECF244321}">
                <p14:modId xmlns:p14="http://schemas.microsoft.com/office/powerpoint/2010/main" val="1231990711"/>
              </p:ext>
            </p:extLst>
          </p:nvPr>
        </p:nvGraphicFramePr>
        <p:xfrm>
          <a:off x="449263" y="1235299"/>
          <a:ext cx="2844800" cy="1469399"/>
        </p:xfrm>
        <a:graphic>
          <a:graphicData uri="http://schemas.openxmlformats.org/drawingml/2006/table">
            <a:tbl>
              <a:tblPr/>
              <a:tblGrid>
                <a:gridCol w="1422400">
                  <a:extLst>
                    <a:ext uri="{9D8B030D-6E8A-4147-A177-3AD203B41FA5}">
                      <a16:colId xmlns:a16="http://schemas.microsoft.com/office/drawing/2014/main" val="4154839348"/>
                    </a:ext>
                  </a:extLst>
                </a:gridCol>
                <a:gridCol w="1422400">
                  <a:extLst>
                    <a:ext uri="{9D8B030D-6E8A-4147-A177-3AD203B41FA5}">
                      <a16:colId xmlns:a16="http://schemas.microsoft.com/office/drawing/2014/main" val="1518282052"/>
                    </a:ext>
                  </a:extLst>
                </a:gridCol>
              </a:tblGrid>
              <a:tr h="194694">
                <a:tc>
                  <a:txBody>
                    <a:bodyPr/>
                    <a:lstStyle/>
                    <a:p>
                      <a:pPr algn="l" fontAlgn="ctr">
                        <a:buNone/>
                      </a:pPr>
                      <a:endParaRPr lang="ja-JP" sz="1100" b="0" i="0" u="none" strike="noStrike" dirty="0">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4113578342"/>
                  </a:ext>
                </a:extLst>
              </a:tr>
              <a:tr h="239582">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25年9月期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2485926093"/>
                  </a:ext>
                </a:extLst>
              </a:tr>
              <a:tr h="345041">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キャッシュライク</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31,703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496348683"/>
                  </a:ext>
                </a:extLst>
              </a:tr>
              <a:tr h="345041">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デットライク</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238,187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381696707"/>
                  </a:ext>
                </a:extLst>
              </a:tr>
              <a:tr h="345041">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△206,484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3021430556"/>
                  </a:ext>
                </a:extLst>
              </a:tr>
            </a:tbl>
          </a:graphicData>
        </a:graphic>
      </p:graphicFrame>
      <p:graphicFrame>
        <p:nvGraphicFramePr>
          <p:cNvPr id="6" name="表 5">
            <a:extLst>
              <a:ext uri="{FF2B5EF4-FFF2-40B4-BE49-F238E27FC236}">
                <a16:creationId xmlns:a16="http://schemas.microsoft.com/office/drawing/2014/main" id="{F34E9297-9F72-FE62-05ED-8FD09732500F}"/>
              </a:ext>
            </a:extLst>
          </p:cNvPr>
          <p:cNvGraphicFramePr>
            <a:graphicFrameLocks noGrp="1"/>
          </p:cNvGraphicFramePr>
          <p:nvPr>
            <p:extLst>
              <p:ext uri="{D42A27DB-BD31-4B8C-83A1-F6EECF244321}">
                <p14:modId xmlns:p14="http://schemas.microsoft.com/office/powerpoint/2010/main" val="1381215500"/>
              </p:ext>
            </p:extLst>
          </p:nvPr>
        </p:nvGraphicFramePr>
        <p:xfrm>
          <a:off x="3913982" y="1233646"/>
          <a:ext cx="6146800" cy="2658808"/>
        </p:xfrm>
        <a:graphic>
          <a:graphicData uri="http://schemas.openxmlformats.org/drawingml/2006/table">
            <a:tbl>
              <a:tblPr/>
              <a:tblGrid>
                <a:gridCol w="1879600">
                  <a:extLst>
                    <a:ext uri="{9D8B030D-6E8A-4147-A177-3AD203B41FA5}">
                      <a16:colId xmlns:a16="http://schemas.microsoft.com/office/drawing/2014/main" val="1558861012"/>
                    </a:ext>
                  </a:extLst>
                </a:gridCol>
                <a:gridCol w="1422400">
                  <a:extLst>
                    <a:ext uri="{9D8B030D-6E8A-4147-A177-3AD203B41FA5}">
                      <a16:colId xmlns:a16="http://schemas.microsoft.com/office/drawing/2014/main" val="3037563323"/>
                    </a:ext>
                  </a:extLst>
                </a:gridCol>
                <a:gridCol w="1422400">
                  <a:extLst>
                    <a:ext uri="{9D8B030D-6E8A-4147-A177-3AD203B41FA5}">
                      <a16:colId xmlns:a16="http://schemas.microsoft.com/office/drawing/2014/main" val="3682607543"/>
                    </a:ext>
                  </a:extLst>
                </a:gridCol>
                <a:gridCol w="1422400">
                  <a:extLst>
                    <a:ext uri="{9D8B030D-6E8A-4147-A177-3AD203B41FA5}">
                      <a16:colId xmlns:a16="http://schemas.microsoft.com/office/drawing/2014/main" val="3399344130"/>
                    </a:ext>
                  </a:extLst>
                </a:gridCol>
              </a:tblGrid>
              <a:tr h="191977">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3721676150"/>
                  </a:ext>
                </a:extLst>
              </a:tr>
              <a:tr h="236239">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23年9月期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24年9月期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25年9月期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121660963"/>
                  </a:ext>
                </a:extLst>
              </a:tr>
              <a:tr h="340227">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12,017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8,732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△18,753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20822673"/>
                  </a:ext>
                </a:extLst>
              </a:tr>
              <a:tr h="340227">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68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58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042059258"/>
                  </a:ext>
                </a:extLst>
              </a:tr>
              <a:tr h="340227">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12,025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8,800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Arial" panose="020B0604020202020204" pitchFamily="34" charset="0"/>
                          <a:ea typeface="游ゴシック Medium" panose="020B0500000000000000" pitchFamily="50" charset="-128"/>
                        </a:rPr>
                        <a:t>△18,695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960213081"/>
                  </a:ext>
                </a:extLst>
              </a:tr>
              <a:tr h="340227">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4,625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4,824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4,932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894677"/>
                  </a:ext>
                </a:extLst>
              </a:tr>
              <a:tr h="340227">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修正後EBITDA</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16,650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13,624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△13,763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1109080427"/>
                  </a:ext>
                </a:extLst>
              </a:tr>
              <a:tr h="189125">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238653921"/>
                  </a:ext>
                </a:extLst>
              </a:tr>
              <a:tr h="340227">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基準EBITDA</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536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1474252318"/>
                  </a:ext>
                </a:extLst>
              </a:tr>
            </a:tbl>
          </a:graphicData>
        </a:graphic>
      </p:graphicFrame>
      <p:graphicFrame>
        <p:nvGraphicFramePr>
          <p:cNvPr id="12" name="表 11">
            <a:extLst>
              <a:ext uri="{FF2B5EF4-FFF2-40B4-BE49-F238E27FC236}">
                <a16:creationId xmlns:a16="http://schemas.microsoft.com/office/drawing/2014/main" id="{6DFB2588-8F9E-A429-43F8-41E53037BA71}"/>
              </a:ext>
            </a:extLst>
          </p:cNvPr>
          <p:cNvGraphicFramePr>
            <a:graphicFrameLocks noGrp="1"/>
          </p:cNvGraphicFramePr>
          <p:nvPr>
            <p:extLst>
              <p:ext uri="{D42A27DB-BD31-4B8C-83A1-F6EECF244321}">
                <p14:modId xmlns:p14="http://schemas.microsoft.com/office/powerpoint/2010/main" val="3294000059"/>
              </p:ext>
            </p:extLst>
          </p:nvPr>
        </p:nvGraphicFramePr>
        <p:xfrm>
          <a:off x="449263" y="4500752"/>
          <a:ext cx="6629400" cy="1725295"/>
        </p:xfrm>
        <a:graphic>
          <a:graphicData uri="http://schemas.openxmlformats.org/drawingml/2006/table">
            <a:tbl>
              <a:tblPr/>
              <a:tblGrid>
                <a:gridCol w="1981200">
                  <a:extLst>
                    <a:ext uri="{9D8B030D-6E8A-4147-A177-3AD203B41FA5}">
                      <a16:colId xmlns:a16="http://schemas.microsoft.com/office/drawing/2014/main" val="1941937149"/>
                    </a:ext>
                  </a:extLst>
                </a:gridCol>
                <a:gridCol w="1549400">
                  <a:extLst>
                    <a:ext uri="{9D8B030D-6E8A-4147-A177-3AD203B41FA5}">
                      <a16:colId xmlns:a16="http://schemas.microsoft.com/office/drawing/2014/main" val="1340086446"/>
                    </a:ext>
                  </a:extLst>
                </a:gridCol>
                <a:gridCol w="1549400">
                  <a:extLst>
                    <a:ext uri="{9D8B030D-6E8A-4147-A177-3AD203B41FA5}">
                      <a16:colId xmlns:a16="http://schemas.microsoft.com/office/drawing/2014/main" val="2591736233"/>
                    </a:ext>
                  </a:extLst>
                </a:gridCol>
                <a:gridCol w="1549400">
                  <a:extLst>
                    <a:ext uri="{9D8B030D-6E8A-4147-A177-3AD203B41FA5}">
                      <a16:colId xmlns:a16="http://schemas.microsoft.com/office/drawing/2014/main" val="3538215636"/>
                    </a:ext>
                  </a:extLst>
                </a:gridCol>
              </a:tblGrid>
              <a:tr h="228600">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2258571200"/>
                  </a:ext>
                </a:extLst>
              </a:tr>
              <a:tr h="28130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マルチプル倍率</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x4</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x5</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277249613"/>
                  </a:ext>
                </a:extLst>
              </a:tr>
              <a:tr h="40513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EV（EBITDA×倍率）</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1,608</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2,143</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Arial" panose="020B0604020202020204" pitchFamily="34" charset="0"/>
                          <a:ea typeface="游ゴシック Medium" panose="020B0500000000000000" pitchFamily="50" charset="-128"/>
                        </a:rPr>
                        <a:t>2,679</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53197380"/>
                  </a:ext>
                </a:extLst>
              </a:tr>
              <a:tr h="40513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3E7E9"/>
                    </a:solidFill>
                  </a:tcPr>
                </a:tc>
                <a:tc gridSpan="3">
                  <a:txBody>
                    <a:bodyPr/>
                    <a:lstStyle/>
                    <a:p>
                      <a:pPr algn="ctr" fontAlgn="ctr">
                        <a:buNone/>
                      </a:pPr>
                      <a:r>
                        <a:rPr lang="ja-JP" sz="1200" b="0" i="0" u="none" strike="noStrike" dirty="0">
                          <a:solidFill>
                            <a:srgbClr val="000000"/>
                          </a:solidFill>
                          <a:effectLst/>
                          <a:latin typeface="Arial" panose="020B0604020202020204" pitchFamily="34" charset="0"/>
                          <a:ea typeface="游ゴシック Medium" panose="020B0500000000000000" pitchFamily="50" charset="-128"/>
                        </a:rPr>
                        <a:t>△206,484</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hMerge="1">
                  <a:txBody>
                    <a:bodyPr/>
                    <a:lstStyle/>
                    <a:p>
                      <a:endParaRPr dirty="0"/>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3209892949"/>
                  </a:ext>
                </a:extLst>
              </a:tr>
              <a:tr h="40513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6350" marT="635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△204,876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Arial" panose="020B0604020202020204" pitchFamily="34" charset="0"/>
                          <a:ea typeface="游ゴシック Medium" panose="020B0500000000000000" pitchFamily="50" charset="-128"/>
                        </a:rPr>
                        <a:t>△204,340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Arial" panose="020B0604020202020204" pitchFamily="34" charset="0"/>
                          <a:ea typeface="游ゴシック Medium" panose="020B0500000000000000" pitchFamily="50" charset="-128"/>
                        </a:rPr>
                        <a:t>△203,804</a:t>
                      </a:r>
                    </a:p>
                  </a:txBody>
                  <a:tcPr marL="6350" marR="114300" marT="635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1003812435"/>
                  </a:ext>
                </a:extLst>
              </a:tr>
            </a:tbl>
          </a:graphicData>
        </a:graphic>
      </p:graphicFrame>
    </p:spTree>
    <p:extLst>
      <p:ext uri="{BB962C8B-B14F-4D97-AF65-F5344CB8AC3E}">
        <p14:creationId xmlns:p14="http://schemas.microsoft.com/office/powerpoint/2010/main" val="966812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6772</TotalTime>
  <Words>4921</Words>
  <Application>Microsoft Office PowerPoint</Application>
  <PresentationFormat>ユーザー設定</PresentationFormat>
  <Paragraphs>2031</Paragraphs>
  <Slides>23</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23</vt:i4>
      </vt:variant>
    </vt:vector>
  </HeadingPairs>
  <TitlesOfParts>
    <vt:vector size="29" baseType="lpstr">
      <vt:lpstr>Meiryo UI</vt:lpstr>
      <vt:lpstr>游ゴシック</vt:lpstr>
      <vt:lpstr>游ゴシック Medium</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修正内容詳細①［土地］</vt:lpstr>
      <vt:lpstr>修正BS［資産］</vt:lpstr>
      <vt:lpstr>BS補足［負債・純資産］</vt:lpstr>
      <vt:lpstr>修正BS［負債・純資産］</vt:lpstr>
      <vt:lpstr>ネットキャッシュの算定</vt:lpstr>
      <vt:lpstr>Financial Analysis ／ 財務情報の分析（P/L）</vt:lpstr>
      <vt:lpstr>過去PLの推移</vt:lpstr>
      <vt:lpstr>販管費及び一般管理費の修正</vt:lpstr>
      <vt:lpstr>修正PLの算定［正常収益力の集計］</vt:lpstr>
      <vt:lpstr>Valuation Details ／ 株式価値の試算</vt:lpstr>
      <vt:lpstr>年買法（コストアプローチ）による算出</vt:lpstr>
      <vt:lpstr>EV/EBITDAマルチプル法（マーケットアプローチ）による算出</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122</cp:revision>
  <cp:lastPrinted>2026-03-05T06:58:20Z</cp:lastPrinted>
  <dcterms:created xsi:type="dcterms:W3CDTF">2025-11-26T06:32:54Z</dcterms:created>
  <dcterms:modified xsi:type="dcterms:W3CDTF">2026-07-07T23:28:37Z</dcterms:modified>
</cp:coreProperties>
</file>