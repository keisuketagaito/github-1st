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6.svg" ContentType="image/svg+xml"/>
  <Override PartName="/ppt/media/image7.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5.xml" ContentType="application/vnd.openxmlformats-officedocument.presentationml.slide+xml"/>
  <Override PartName="/ppt/slides/slide59.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653" r:id="rId1"/>
  </p:sldMasterIdLst>
  <p:notesMasterIdLst>
    <p:notesMasterId r:id="rId66"/>
  </p:notesMasterIdLst>
  <p:sldIdLst>
    <p:sldId id="770" r:id="rId2"/>
    <p:sldId id="269" r:id="rId3"/>
    <p:sldId id="693" r:id="rId4"/>
    <p:sldId id="749" r:id="rId5"/>
    <p:sldId id="846" r:id="rId72"/>
    <p:sldId id="847" r:id="rId73"/>
    <p:sldId id="774" r:id="rId8"/>
    <p:sldId id="775" r:id="rId9"/>
    <p:sldId id="266" r:id="rId10"/>
    <p:sldId id="772" r:id="rId11"/>
    <p:sldId id="776" r:id="rId12"/>
    <p:sldId id="848" r:id="rId74"/>
    <p:sldId id="796" r:id="rId17"/>
    <p:sldId id="849" r:id="rId75"/>
    <p:sldId id="850" r:id="rId76"/>
    <p:sldId id="771" r:id="rId21"/>
    <p:sldId id="851" r:id="rId77"/>
    <p:sldId id="852" r:id="rId78"/>
    <p:sldId id="853" r:id="rId79"/>
    <p:sldId id="854" r:id="rId80"/>
    <p:sldId id="855" r:id="rId81"/>
    <p:sldId id="773" r:id="rId56"/>
    <p:sldId id="856" r:id="rId82"/>
    <p:sldId id="857" r:id="rId83"/>
    <p:sldId id="858" r:id="rId84"/>
    <p:sldId id="859" r:id="rId85"/>
    <p:sldId id="860" r:id="rId86"/>
    <p:sldId id="782" r:id="rId60"/>
    <p:sldId id="861" r:id="rId87"/>
    <p:sldId id="788" r:id="rId63"/>
    <p:sldId id="801" r:id="rId64"/>
    <p:sldId id="277" r:id="rId65"/>
  </p:sldIdLst>
  <p:sldSz cx="10691813" cy="7559675"/>
  <p:notesSz cx="6794500" cy="99314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既定のセクション" id="{F15EE332-85E8-464E-BD9B-6722D42356EC}">
          <p14:sldIdLst>
            <p14:sldId id="770"/>
            <p14:sldId id="269"/>
            <p14:sldId id="693"/>
            <p14:sldId id="749"/>
            <p14:sldId id="748"/>
            <p14:sldId id="803"/>
            <p14:sldId id="774"/>
            <p14:sldId id="775"/>
            <p14:sldId id="266"/>
            <p14:sldId id="772"/>
            <p14:sldId id="776"/>
            <p14:sldId id="844"/>
            <p14:sldId id="835"/>
            <p14:sldId id="810"/>
            <p14:sldId id="827"/>
            <p14:sldId id="796"/>
            <p14:sldId id="833"/>
            <p14:sldId id="834"/>
            <p14:sldId id="831"/>
            <p14:sldId id="771"/>
            <p14:sldId id="780"/>
            <p14:sldId id="789"/>
            <p14:sldId id="781"/>
            <p14:sldId id="836"/>
            <p14:sldId id="838"/>
            <p14:sldId id="839"/>
            <p14:sldId id="841"/>
            <p14:sldId id="840"/>
            <p14:sldId id="845"/>
            <p14:sldId id="842"/>
            <p14:sldId id="843"/>
            <p14:sldId id="793"/>
            <p14:sldId id="804"/>
            <p14:sldId id="805"/>
            <p14:sldId id="806"/>
            <p14:sldId id="808"/>
            <p14:sldId id="807"/>
            <p14:sldId id="809"/>
            <p14:sldId id="795"/>
            <p14:sldId id="811"/>
            <p14:sldId id="812"/>
            <p14:sldId id="813"/>
            <p14:sldId id="814"/>
            <p14:sldId id="815"/>
            <p14:sldId id="816"/>
            <p14:sldId id="817"/>
            <p14:sldId id="818"/>
            <p14:sldId id="819"/>
            <p14:sldId id="820"/>
            <p14:sldId id="821"/>
            <p14:sldId id="822"/>
            <p14:sldId id="823"/>
            <p14:sldId id="824"/>
            <p14:sldId id="802"/>
            <p14:sldId id="773"/>
            <p14:sldId id="784"/>
            <p14:sldId id="785"/>
            <p14:sldId id="787"/>
            <p14:sldId id="782"/>
            <p14:sldId id="783"/>
            <p14:sldId id="794"/>
            <p14:sldId id="788"/>
            <p14:sldId id="801"/>
            <p14:sldId id="277"/>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3128" userDrawn="1">
          <p15:clr>
            <a:srgbClr val="A4A3A4"/>
          </p15:clr>
        </p15:guide>
        <p15:guide id="2" pos="2140" userDrawn="1">
          <p15:clr>
            <a:srgbClr val="A4A3A4"/>
          </p15:clr>
        </p15:guide>
      </p15:notes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67" roundtripDataSignature="AMtx7miHo5eoGHrZPWeT5AyeZZ6LkEE/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F80"/>
    <a:srgbClr val="E7EFFB"/>
    <a:srgbClr val="E3E7E9"/>
    <a:srgbClr val="1F3864"/>
    <a:srgbClr val="003574"/>
    <a:srgbClr val="003775"/>
    <a:srgbClr val="EBEFF8"/>
    <a:srgbClr val="FBFBFC"/>
    <a:srgbClr val="0B3041"/>
    <a:srgbClr val="ECF2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E9FEF8D-0F9E-4D7E-9A0F-5DDE6A6739AB}">
  <a:tblStyle styleId="{2E9FEF8D-0F9E-4D7E-9A0F-5DDE6A6739AB}" styleName="Table_0">
    <a:wholeTbl>
      <a:tcTxStyle b="off" i="off">
        <a:font>
          <a:latin typeface="游ゴシック"/>
          <a:ea typeface="游ゴシック"/>
          <a:cs typeface="游ゴシック"/>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9EFF7"/>
          </a:solidFill>
        </a:fill>
      </a:tcStyle>
    </a:wholeTbl>
    <a:band1H>
      <a:tcTxStyle/>
      <a:tcStyle>
        <a:tcBdr/>
        <a:fill>
          <a:solidFill>
            <a:srgbClr val="D0DEEF"/>
          </a:solidFill>
        </a:fill>
      </a:tcStyle>
    </a:band1H>
    <a:band2H>
      <a:tcTxStyle/>
      <a:tcStyle>
        <a:tcBdr/>
      </a:tcStyle>
    </a:band2H>
    <a:band1V>
      <a:tcTxStyle/>
      <a:tcStyle>
        <a:tcBdr/>
        <a:fill>
          <a:solidFill>
            <a:srgbClr val="D0DEEF"/>
          </a:solidFill>
        </a:fill>
      </a:tcStyle>
    </a:band1V>
    <a:band2V>
      <a:tcTxStyle/>
      <a:tcStyle>
        <a:tcBdr/>
      </a:tcStyle>
    </a:band2V>
    <a:lastCol>
      <a:tcTxStyle b="on" i="off">
        <a:font>
          <a:latin typeface="游ゴシック"/>
          <a:ea typeface="游ゴシック"/>
          <a:cs typeface="游ゴシック"/>
        </a:font>
        <a:schemeClr val="lt1"/>
      </a:tcTxStyle>
      <a:tcStyle>
        <a:tcBdr/>
        <a:fill>
          <a:solidFill>
            <a:schemeClr val="accent5"/>
          </a:solidFill>
        </a:fill>
      </a:tcStyle>
    </a:lastCol>
    <a:firstCol>
      <a:tcTxStyle b="on" i="off">
        <a:font>
          <a:latin typeface="游ゴシック"/>
          <a:ea typeface="游ゴシック"/>
          <a:cs typeface="游ゴシック"/>
        </a:font>
        <a:schemeClr val="lt1"/>
      </a:tcTxStyle>
      <a:tcStyle>
        <a:tcBdr/>
        <a:fill>
          <a:solidFill>
            <a:schemeClr val="accent5"/>
          </a:solidFill>
        </a:fill>
      </a:tcStyle>
    </a:firstCol>
    <a:lastRow>
      <a:tcTxStyle b="on" i="off">
        <a:font>
          <a:latin typeface="游ゴシック"/>
          <a:ea typeface="游ゴシック"/>
          <a:cs typeface="游ゴシック"/>
        </a:font>
        <a:schemeClr val="lt1"/>
      </a:tcTxStyle>
      <a:tcStyle>
        <a:tcBdr>
          <a:top>
            <a:ln w="38100" cap="flat" cmpd="sng">
              <a:solidFill>
                <a:schemeClr val="lt1"/>
              </a:solidFill>
              <a:prstDash val="solid"/>
              <a:round/>
              <a:headEnd type="none" w="sm" len="sm"/>
              <a:tailEnd type="none" w="sm" len="sm"/>
            </a:ln>
          </a:top>
        </a:tcBdr>
        <a:fill>
          <a:solidFill>
            <a:schemeClr val="accent5"/>
          </a:solidFill>
        </a:fill>
      </a:tcStyle>
    </a:lastRow>
    <a:seCell>
      <a:tcTxStyle/>
      <a:tcStyle>
        <a:tcBdr/>
      </a:tcStyle>
    </a:seCell>
    <a:swCell>
      <a:tcTxStyle/>
      <a:tcStyle>
        <a:tcBdr/>
      </a:tcStyle>
    </a:swCell>
    <a:firstRow>
      <a:tcTxStyle b="on" i="off">
        <a:font>
          <a:latin typeface="游ゴシック"/>
          <a:ea typeface="游ゴシック"/>
          <a:cs typeface="游ゴシック"/>
        </a:font>
        <a:schemeClr val="lt1"/>
      </a:tcTxStyle>
      <a:tcStyle>
        <a:tcBdr>
          <a:bottom>
            <a:ln w="38100" cap="flat" cmpd="sng">
              <a:solidFill>
                <a:schemeClr val="lt1"/>
              </a:solidFill>
              <a:prstDash val="solid"/>
              <a:round/>
              <a:headEnd type="none" w="sm" len="sm"/>
              <a:tailEnd type="none" w="sm" len="sm"/>
            </a:ln>
          </a:bottom>
        </a:tcBdr>
        <a:fill>
          <a:solidFill>
            <a:schemeClr val="accent5"/>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218" autoAdjust="0"/>
    <p:restoredTop sz="94660"/>
  </p:normalViewPr>
  <p:slideViewPr>
    <p:cSldViewPr snapToGrid="0">
      <p:cViewPr>
        <p:scale>
          <a:sx n="75" d="100"/>
          <a:sy n="75" d="100"/>
        </p:scale>
        <p:origin x="2328" y="612"/>
      </p:cViewPr>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00" d="100"/>
          <a:sy n="100" d="100"/>
        </p:scale>
        <p:origin x="0" y="0"/>
      </p:cViewPr>
      <p:guideLst>
        <p:guide orient="horz" pos="3128"/>
        <p:guide pos="214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7" Type="http://schemas.openxmlformats.org/officeDocument/2006/relationships/slide" Target="slides/slide16.xml"/><Relationship Id="rId21" Type="http://schemas.openxmlformats.org/officeDocument/2006/relationships/slide" Target="slides/slide20.xml"/><Relationship Id="rId56" Type="http://schemas.openxmlformats.org/officeDocument/2006/relationships/slide" Target="slides/slide55.xml"/><Relationship Id="rId60" Type="http://schemas.openxmlformats.org/officeDocument/2006/relationships/slide" Target="slides/slide59.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customschemas.google.com/relationships/presentationmetadata" Target="metadata"/><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3" y="3"/>
            <a:ext cx="2944030" cy="497571"/>
          </a:xfrm>
          <a:prstGeom prst="rect">
            <a:avLst/>
          </a:prstGeom>
          <a:noFill/>
          <a:ln>
            <a:noFill/>
          </a:ln>
        </p:spPr>
        <p:txBody>
          <a:bodyPr spcFirstLastPara="1" wrap="square" lIns="88156" tIns="44066" rIns="88156" bIns="44066" anchor="t"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7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7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7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7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7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7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7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7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48954" y="3"/>
            <a:ext cx="2944029" cy="497571"/>
          </a:xfrm>
          <a:prstGeom prst="rect">
            <a:avLst/>
          </a:prstGeom>
          <a:noFill/>
          <a:ln>
            <a:noFill/>
          </a:ln>
        </p:spPr>
        <p:txBody>
          <a:bodyPr spcFirstLastPara="1" wrap="square" lIns="88156" tIns="44066" rIns="88156" bIns="44066" anchor="t" anchorCtr="0">
            <a:noAutofit/>
          </a:bodyPr>
          <a:lstStyle>
            <a:lvl1pPr marR="0" lvl="0" algn="r"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7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7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7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7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7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7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7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7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1027113" y="1241425"/>
            <a:ext cx="4741862" cy="33528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0209" y="4780077"/>
            <a:ext cx="5435600" cy="3909709"/>
          </a:xfrm>
          <a:prstGeom prst="rect">
            <a:avLst/>
          </a:prstGeom>
          <a:noFill/>
          <a:ln>
            <a:noFill/>
          </a:ln>
        </p:spPr>
        <p:txBody>
          <a:bodyPr spcFirstLastPara="1" wrap="square" lIns="88156" tIns="44066" rIns="88156" bIns="44066"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3" y="9433832"/>
            <a:ext cx="2944030" cy="497571"/>
          </a:xfrm>
          <a:prstGeom prst="rect">
            <a:avLst/>
          </a:prstGeom>
          <a:noFill/>
          <a:ln>
            <a:noFill/>
          </a:ln>
        </p:spPr>
        <p:txBody>
          <a:bodyPr spcFirstLastPara="1" wrap="square" lIns="88156" tIns="44066" rIns="88156" bIns="44066" anchor="b"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7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7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7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7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7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7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7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7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48954" y="9433832"/>
            <a:ext cx="2944029" cy="497571"/>
          </a:xfrm>
          <a:prstGeom prst="rect">
            <a:avLst/>
          </a:prstGeom>
          <a:noFill/>
          <a:ln>
            <a:noFill/>
          </a:ln>
        </p:spPr>
        <p:txBody>
          <a:bodyPr spcFirstLastPara="1" wrap="square" lIns="88156" tIns="44066" rIns="88156" bIns="44066" anchor="b" anchorCtr="0">
            <a:noAutofit/>
          </a:bodyPr>
          <a:lstStyle/>
          <a:p>
            <a:pPr algn="r"/>
            <a:fld id="{00000000-1234-1234-1234-123412341234}" type="slidenum">
              <a:rPr lang="en-US" altLang="ja-JP" sz="1200" smtClean="0">
                <a:solidFill>
                  <a:schemeClr val="dk1"/>
                </a:solidFill>
              </a:rPr>
              <a:pPr algn="r"/>
              <a:t>‹#›</a:t>
            </a:fld>
            <a:endParaRPr lang="en-US" sz="120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72A68-D8F2-B22E-7BFA-83527B7462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8067325-FBD2-0A2C-AAB1-F7B579EB568F}"/>
              </a:ext>
            </a:extLst>
          </p:cNvPr>
          <p:cNvSpPr>
            <a:spLocks noGrp="1" noRot="1" noChangeAspect="1"/>
          </p:cNvSpPr>
          <p:nvPr>
            <p:ph type="sldImg"/>
          </p:nvPr>
        </p:nvSpPr>
        <p:spPr>
          <a:xfrm>
            <a:off x="688975" y="858838"/>
            <a:ext cx="3275013" cy="2317750"/>
          </a:xfrm>
        </p:spPr>
      </p:sp>
      <p:sp>
        <p:nvSpPr>
          <p:cNvPr id="3" name="ノート プレースホルダー 2">
            <a:extLst>
              <a:ext uri="{FF2B5EF4-FFF2-40B4-BE49-F238E27FC236}">
                <a16:creationId xmlns:a16="http://schemas.microsoft.com/office/drawing/2014/main" id="{7CC41CC2-90D7-5CB1-F482-54299D366ABB}"/>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6D654142-6A85-EA5B-5409-B0B81E07C5DC}"/>
              </a:ext>
            </a:extLst>
          </p:cNvPr>
          <p:cNvSpPr>
            <a:spLocks noGrp="1"/>
          </p:cNvSpPr>
          <p:nvPr>
            <p:ph type="sldNum" sz="quarter" idx="5"/>
          </p:nvPr>
        </p:nvSpPr>
        <p:spPr/>
        <p:txBody>
          <a:bodyPr/>
          <a:lstStyle/>
          <a:p>
            <a:fld id="{30FF3BCC-1A43-4D25-8467-E40EF431E2F1}" type="slidenum">
              <a:rPr kumimoji="1" lang="ja-JP" altLang="en-US" smtClean="0"/>
              <a:t>0</a:t>
            </a:fld>
            <a:endParaRPr kumimoji="1" lang="ja-JP" altLang="en-US"/>
          </a:p>
        </p:txBody>
      </p:sp>
    </p:spTree>
    <p:extLst>
      <p:ext uri="{BB962C8B-B14F-4D97-AF65-F5344CB8AC3E}">
        <p14:creationId xmlns:p14="http://schemas.microsoft.com/office/powerpoint/2010/main" val="23596415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36613" y="790575"/>
            <a:ext cx="3014662" cy="2132013"/>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a:t>
            </a:fld>
            <a:endParaRPr kumimoji="1" lang="ja-JP" altLang="en-US"/>
          </a:p>
        </p:txBody>
      </p:sp>
    </p:spTree>
    <p:extLst>
      <p:ext uri="{BB962C8B-B14F-4D97-AF65-F5344CB8AC3E}">
        <p14:creationId xmlns:p14="http://schemas.microsoft.com/office/powerpoint/2010/main" val="3637167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notes"/>
          <p:cNvSpPr>
            <a:spLocks noGrp="1" noRot="1" noChangeAspect="1"/>
          </p:cNvSpPr>
          <p:nvPr>
            <p:ph type="sldImg" idx="2"/>
          </p:nvPr>
        </p:nvSpPr>
        <p:spPr>
          <a:xfrm>
            <a:off x="692150" y="860425"/>
            <a:ext cx="3278188" cy="231933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 name="Google Shape;256;p2:notes"/>
          <p:cNvSpPr txBox="1">
            <a:spLocks noGrp="1"/>
          </p:cNvSpPr>
          <p:nvPr>
            <p:ph type="body" idx="1"/>
          </p:nvPr>
        </p:nvSpPr>
        <p:spPr>
          <a:xfrm>
            <a:off x="466729" y="3309247"/>
            <a:ext cx="3729663" cy="2706690"/>
          </a:xfrm>
          <a:prstGeom prst="rect">
            <a:avLst/>
          </a:prstGeom>
          <a:noFill/>
          <a:ln>
            <a:noFill/>
          </a:ln>
        </p:spPr>
        <p:txBody>
          <a:bodyPr spcFirstLastPara="1" wrap="square" lIns="60774" tIns="30388" rIns="60774" bIns="30388" anchor="t" anchorCtr="0">
            <a:noAutofit/>
          </a:bodyPr>
          <a:lstStyle/>
          <a:p>
            <a:endParaRPr dirty="0"/>
          </a:p>
        </p:txBody>
      </p:sp>
      <p:sp>
        <p:nvSpPr>
          <p:cNvPr id="257" name="Google Shape;257;p2:notes"/>
          <p:cNvSpPr txBox="1">
            <a:spLocks noGrp="1"/>
          </p:cNvSpPr>
          <p:nvPr>
            <p:ph type="sldNum" idx="12"/>
          </p:nvPr>
        </p:nvSpPr>
        <p:spPr>
          <a:xfrm>
            <a:off x="2640976" y="6531039"/>
            <a:ext cx="2020060" cy="344469"/>
          </a:xfrm>
          <a:prstGeom prst="rect">
            <a:avLst/>
          </a:prstGeom>
          <a:noFill/>
          <a:ln>
            <a:noFill/>
          </a:ln>
        </p:spPr>
        <p:txBody>
          <a:bodyPr spcFirstLastPara="1" wrap="square" lIns="60774" tIns="30388" rIns="60774" bIns="30388" anchor="b" anchorCtr="0">
            <a:noAutofit/>
          </a:bodyPr>
          <a:lstStyle/>
          <a:p>
            <a:pPr algn="r"/>
            <a:fld id="{00000000-1234-1234-1234-123412341234}" type="slidenum">
              <a:rPr lang="en-US" altLang="ja-JP"/>
              <a:pPr algn="r"/>
              <a:t>2</a:t>
            </a:fld>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D25C8-440A-2828-878D-418A0792F61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7C3FEA-F9FD-B7DB-149F-6EC1DBA88260}"/>
              </a:ext>
            </a:extLst>
          </p:cNvPr>
          <p:cNvSpPr>
            <a:spLocks noGrp="1" noRot="1" noChangeAspect="1"/>
          </p:cNvSpPr>
          <p:nvPr>
            <p:ph type="sldImg"/>
          </p:nvPr>
        </p:nvSpPr>
        <p:spPr>
          <a:xfrm>
            <a:off x="688975" y="858838"/>
            <a:ext cx="3275013" cy="2317750"/>
          </a:xfrm>
        </p:spPr>
      </p:sp>
      <p:sp>
        <p:nvSpPr>
          <p:cNvPr id="3" name="ノート プレースホルダー 2">
            <a:extLst>
              <a:ext uri="{FF2B5EF4-FFF2-40B4-BE49-F238E27FC236}">
                <a16:creationId xmlns:a16="http://schemas.microsoft.com/office/drawing/2014/main" id="{3A5BB81D-E86C-9959-31EE-7B30A06B6D52}"/>
              </a:ext>
            </a:extLst>
          </p:cNvPr>
          <p:cNvSpPr>
            <a:spLocks noGrp="1"/>
          </p:cNvSpPr>
          <p:nvPr>
            <p:ph type="body" idx="1"/>
          </p:nvPr>
        </p:nvSpPr>
        <p:spPr/>
        <p:txBody>
          <a:bodyPr/>
          <a:lstStyle/>
          <a:p>
            <a:pPr marL="0" indent="0" defTabSz="629107" fontAlgn="ctr">
              <a:buClrTx/>
              <a:buSzTx/>
              <a:defRPr/>
            </a:pPr>
            <a:endParaRPr lang="en-US" altLang="ja-JP" dirty="0"/>
          </a:p>
        </p:txBody>
      </p:sp>
      <p:sp>
        <p:nvSpPr>
          <p:cNvPr id="4" name="スライド番号プレースホルダー 3">
            <a:extLst>
              <a:ext uri="{FF2B5EF4-FFF2-40B4-BE49-F238E27FC236}">
                <a16:creationId xmlns:a16="http://schemas.microsoft.com/office/drawing/2014/main" id="{80211B70-4BC5-9F81-584A-69CFC82BF433}"/>
              </a:ext>
            </a:extLst>
          </p:cNvPr>
          <p:cNvSpPr>
            <a:spLocks noGrp="1"/>
          </p:cNvSpPr>
          <p:nvPr>
            <p:ph type="sldNum" sz="quarter" idx="5"/>
          </p:nvPr>
        </p:nvSpPr>
        <p:spPr/>
        <p:txBody>
          <a:bodyPr/>
          <a:lstStyle/>
          <a:p>
            <a:fld id="{30FF3BCC-1A43-4D25-8467-E40EF431E2F1}" type="slidenum">
              <a:rPr kumimoji="1" lang="ja-JP" altLang="en-US" smtClean="0"/>
              <a:t>6</a:t>
            </a:fld>
            <a:endParaRPr kumimoji="1" lang="ja-JP" altLang="en-US"/>
          </a:p>
        </p:txBody>
      </p:sp>
    </p:spTree>
    <p:extLst>
      <p:ext uri="{BB962C8B-B14F-4D97-AF65-F5344CB8AC3E}">
        <p14:creationId xmlns:p14="http://schemas.microsoft.com/office/powerpoint/2010/main" val="7747491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ED554-B8EF-4A9F-7D23-DA7BEB53934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1CEDC1-16A4-E7E3-6D33-36595C1E076B}"/>
              </a:ext>
            </a:extLst>
          </p:cNvPr>
          <p:cNvSpPr>
            <a:spLocks noGrp="1" noRot="1" noChangeAspect="1"/>
          </p:cNvSpPr>
          <p:nvPr>
            <p:ph type="sldImg"/>
          </p:nvPr>
        </p:nvSpPr>
        <p:spPr>
          <a:xfrm>
            <a:off x="688975" y="858838"/>
            <a:ext cx="3275013" cy="2317750"/>
          </a:xfrm>
        </p:spPr>
      </p:sp>
      <p:sp>
        <p:nvSpPr>
          <p:cNvPr id="3" name="ノート プレースホルダー 2">
            <a:extLst>
              <a:ext uri="{FF2B5EF4-FFF2-40B4-BE49-F238E27FC236}">
                <a16:creationId xmlns:a16="http://schemas.microsoft.com/office/drawing/2014/main" id="{07542380-129E-8965-7EF1-2B0D19ED3CF4}"/>
              </a:ext>
            </a:extLst>
          </p:cNvPr>
          <p:cNvSpPr>
            <a:spLocks noGrp="1"/>
          </p:cNvSpPr>
          <p:nvPr>
            <p:ph type="body" idx="1"/>
          </p:nvPr>
        </p:nvSpPr>
        <p:spPr/>
        <p:txBody>
          <a:bodyPr/>
          <a:lstStyle/>
          <a:p>
            <a:pPr marL="0" indent="0" defTabSz="629107" fontAlgn="ctr">
              <a:buClrTx/>
              <a:buSzTx/>
              <a:defRPr/>
            </a:pPr>
            <a:endParaRPr lang="en-US" altLang="ja-JP" dirty="0"/>
          </a:p>
        </p:txBody>
      </p:sp>
      <p:sp>
        <p:nvSpPr>
          <p:cNvPr id="4" name="スライド番号プレースホルダー 3">
            <a:extLst>
              <a:ext uri="{FF2B5EF4-FFF2-40B4-BE49-F238E27FC236}">
                <a16:creationId xmlns:a16="http://schemas.microsoft.com/office/drawing/2014/main" id="{C20D6D73-0F3C-EDF6-E562-BBF922D0AE83}"/>
              </a:ext>
            </a:extLst>
          </p:cNvPr>
          <p:cNvSpPr>
            <a:spLocks noGrp="1"/>
          </p:cNvSpPr>
          <p:nvPr>
            <p:ph type="sldNum" sz="quarter" idx="5"/>
          </p:nvPr>
        </p:nvSpPr>
        <p:spPr/>
        <p:txBody>
          <a:bodyPr/>
          <a:lstStyle/>
          <a:p>
            <a:fld id="{30FF3BCC-1A43-4D25-8467-E40EF431E2F1}" type="slidenum">
              <a:rPr kumimoji="1" lang="ja-JP" altLang="en-US" smtClean="0"/>
              <a:t>7</a:t>
            </a:fld>
            <a:endParaRPr kumimoji="1" lang="ja-JP" altLang="en-US"/>
          </a:p>
        </p:txBody>
      </p:sp>
    </p:spTree>
    <p:extLst>
      <p:ext uri="{BB962C8B-B14F-4D97-AF65-F5344CB8AC3E}">
        <p14:creationId xmlns:p14="http://schemas.microsoft.com/office/powerpoint/2010/main" val="1899608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11:notes"/>
          <p:cNvSpPr>
            <a:spLocks noGrp="1" noRot="1" noChangeAspect="1"/>
          </p:cNvSpPr>
          <p:nvPr>
            <p:ph type="sldImg" idx="2"/>
          </p:nvPr>
        </p:nvSpPr>
        <p:spPr>
          <a:xfrm>
            <a:off x="1027113" y="1241425"/>
            <a:ext cx="4741862" cy="33528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7" name="Google Shape;267;p11:notes"/>
          <p:cNvSpPr txBox="1">
            <a:spLocks noGrp="1"/>
          </p:cNvSpPr>
          <p:nvPr>
            <p:ph type="body" idx="1"/>
          </p:nvPr>
        </p:nvSpPr>
        <p:spPr>
          <a:xfrm>
            <a:off x="680209" y="4780077"/>
            <a:ext cx="5435600" cy="3909709"/>
          </a:xfrm>
          <a:prstGeom prst="rect">
            <a:avLst/>
          </a:prstGeom>
          <a:noFill/>
          <a:ln>
            <a:noFill/>
          </a:ln>
        </p:spPr>
        <p:txBody>
          <a:bodyPr spcFirstLastPara="1" wrap="square" lIns="88156" tIns="44066" rIns="88156" bIns="44066" anchor="t" anchorCtr="0">
            <a:noAutofit/>
          </a:bodyPr>
          <a:lstStyle/>
          <a:p>
            <a:pPr marL="0" indent="0"/>
            <a:endParaRPr/>
          </a:p>
        </p:txBody>
      </p:sp>
      <p:sp>
        <p:nvSpPr>
          <p:cNvPr id="268" name="Google Shape;268;p11:notes"/>
          <p:cNvSpPr txBox="1">
            <a:spLocks noGrp="1"/>
          </p:cNvSpPr>
          <p:nvPr>
            <p:ph type="sldNum" idx="12"/>
          </p:nvPr>
        </p:nvSpPr>
        <p:spPr>
          <a:xfrm>
            <a:off x="3848954" y="9433832"/>
            <a:ext cx="2944029" cy="497571"/>
          </a:xfrm>
          <a:prstGeom prst="rect">
            <a:avLst/>
          </a:prstGeom>
          <a:noFill/>
          <a:ln>
            <a:noFill/>
          </a:ln>
        </p:spPr>
        <p:txBody>
          <a:bodyPr spcFirstLastPara="1" wrap="square" lIns="88156" tIns="44066" rIns="88156" bIns="44066" anchor="b" anchorCtr="0">
            <a:noAutofit/>
          </a:bodyPr>
          <a:lstStyle/>
          <a:p>
            <a:pPr algn="r"/>
            <a:fld id="{00000000-1234-1234-1234-123412341234}" type="slidenum">
              <a:rPr lang="en-US" altLang="ja-JP"/>
              <a:pPr algn="r"/>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255F2-72AB-FF31-01FE-A6493B0F509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81C757-4FDD-ACE7-CF68-5819651248C1}"/>
              </a:ext>
            </a:extLst>
          </p:cNvPr>
          <p:cNvSpPr>
            <a:spLocks noGrp="1" noRot="1" noChangeAspect="1"/>
          </p:cNvSpPr>
          <p:nvPr>
            <p:ph type="sldImg"/>
          </p:nvPr>
        </p:nvSpPr>
        <p:spPr>
          <a:xfrm>
            <a:off x="688975" y="858838"/>
            <a:ext cx="3275013" cy="2317750"/>
          </a:xfrm>
        </p:spPr>
      </p:sp>
      <p:sp>
        <p:nvSpPr>
          <p:cNvPr id="3" name="ノート プレースホルダー 2">
            <a:extLst>
              <a:ext uri="{FF2B5EF4-FFF2-40B4-BE49-F238E27FC236}">
                <a16:creationId xmlns:a16="http://schemas.microsoft.com/office/drawing/2014/main" id="{C5EE625D-8D2D-C468-280D-551D9E317BF8}"/>
              </a:ext>
            </a:extLst>
          </p:cNvPr>
          <p:cNvSpPr>
            <a:spLocks noGrp="1"/>
          </p:cNvSpPr>
          <p:nvPr>
            <p:ph type="body" idx="1"/>
          </p:nvPr>
        </p:nvSpPr>
        <p:spPr/>
        <p:txBody>
          <a:bodyPr/>
          <a:lstStyle/>
          <a:p>
            <a:pPr marL="0" indent="0" defTabSz="629107">
              <a:buClrTx/>
              <a:buSzTx/>
              <a:defRPr/>
            </a:pPr>
            <a:endParaRPr lang="en-US" altLang="ja-JP" dirty="0"/>
          </a:p>
        </p:txBody>
      </p:sp>
      <p:sp>
        <p:nvSpPr>
          <p:cNvPr id="4" name="スライド番号プレースホルダー 3">
            <a:extLst>
              <a:ext uri="{FF2B5EF4-FFF2-40B4-BE49-F238E27FC236}">
                <a16:creationId xmlns:a16="http://schemas.microsoft.com/office/drawing/2014/main" id="{0DF0B3B1-489B-7B8F-FCE9-8191D341F15C}"/>
              </a:ext>
            </a:extLst>
          </p:cNvPr>
          <p:cNvSpPr>
            <a:spLocks noGrp="1"/>
          </p:cNvSpPr>
          <p:nvPr>
            <p:ph type="sldNum" sz="quarter" idx="5"/>
          </p:nvPr>
        </p:nvSpPr>
        <p:spPr/>
        <p:txBody>
          <a:bodyPr/>
          <a:lstStyle/>
          <a:p>
            <a:fld id="{CAF5A409-FE33-4202-B69D-8515A6FDCE7E}" type="slidenum">
              <a:rPr kumimoji="1" lang="ja-JP" altLang="en-US" smtClean="0"/>
              <a:t>10</a:t>
            </a:fld>
            <a:endParaRPr kumimoji="1" lang="ja-JP" altLang="en-US"/>
          </a:p>
        </p:txBody>
      </p:sp>
    </p:spTree>
    <p:extLst>
      <p:ext uri="{BB962C8B-B14F-4D97-AF65-F5344CB8AC3E}">
        <p14:creationId xmlns:p14="http://schemas.microsoft.com/office/powerpoint/2010/main" val="1806618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36613" y="790575"/>
            <a:ext cx="3014662" cy="2132013"/>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15</a:t>
            </a:fld>
            <a:endParaRPr kumimoji="1" lang="ja-JP" altLang="en-US"/>
          </a:p>
        </p:txBody>
      </p:sp>
    </p:spTree>
    <p:extLst>
      <p:ext uri="{BB962C8B-B14F-4D97-AF65-F5344CB8AC3E}">
        <p14:creationId xmlns:p14="http://schemas.microsoft.com/office/powerpoint/2010/main" val="3746752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8CDCC-4499-9CC9-1F39-99083A511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93DCC5A-4CF0-CE33-9793-735FCC81AE4E}"/>
              </a:ext>
            </a:extLst>
          </p:cNvPr>
          <p:cNvSpPr>
            <a:spLocks noGrp="1" noRot="1" noChangeAspect="1"/>
          </p:cNvSpPr>
          <p:nvPr>
            <p:ph type="sldImg"/>
          </p:nvPr>
        </p:nvSpPr>
        <p:spPr>
          <a:xfrm>
            <a:off x="688975" y="858838"/>
            <a:ext cx="3275013" cy="2317750"/>
          </a:xfrm>
        </p:spPr>
      </p:sp>
      <p:sp>
        <p:nvSpPr>
          <p:cNvPr id="3" name="ノート プレースホルダー 2">
            <a:extLst>
              <a:ext uri="{FF2B5EF4-FFF2-40B4-BE49-F238E27FC236}">
                <a16:creationId xmlns:a16="http://schemas.microsoft.com/office/drawing/2014/main" id="{96E4A811-4C57-E7FA-999B-3B2346969CFA}"/>
              </a:ext>
            </a:extLst>
          </p:cNvPr>
          <p:cNvSpPr>
            <a:spLocks noGrp="1"/>
          </p:cNvSpPr>
          <p:nvPr>
            <p:ph type="body" idx="1"/>
          </p:nvPr>
        </p:nvSpPr>
        <p:spPr/>
        <p:txBody>
          <a:bodyPr/>
          <a:lstStyle/>
          <a:p>
            <a:pPr marL="0" indent="0" defTabSz="629107" fontAlgn="ctr">
              <a:buClrTx/>
              <a:buSzTx/>
              <a:defRPr/>
            </a:pPr>
            <a:endParaRPr lang="en-US" altLang="ja-JP" dirty="0"/>
          </a:p>
        </p:txBody>
      </p:sp>
      <p:sp>
        <p:nvSpPr>
          <p:cNvPr id="4" name="スライド番号プレースホルダー 3">
            <a:extLst>
              <a:ext uri="{FF2B5EF4-FFF2-40B4-BE49-F238E27FC236}">
                <a16:creationId xmlns:a16="http://schemas.microsoft.com/office/drawing/2014/main" id="{E5D9E0B5-62CD-B7FC-7619-BDD324DA7A35}"/>
              </a:ext>
            </a:extLst>
          </p:cNvPr>
          <p:cNvSpPr>
            <a:spLocks noGrp="1"/>
          </p:cNvSpPr>
          <p:nvPr>
            <p:ph type="sldNum" sz="quarter" idx="5"/>
          </p:nvPr>
        </p:nvSpPr>
        <p:spPr/>
        <p:txBody>
          <a:bodyPr/>
          <a:lstStyle/>
          <a:p>
            <a:fld id="{30FF3BCC-1A43-4D25-8467-E40EF431E2F1}" type="slidenum">
              <a:rPr kumimoji="1" lang="ja-JP" altLang="en-US" smtClean="0"/>
              <a:t>61</a:t>
            </a:fld>
            <a:endParaRPr kumimoji="1" lang="ja-JP" altLang="en-US"/>
          </a:p>
        </p:txBody>
      </p:sp>
    </p:spTree>
    <p:extLst>
      <p:ext uri="{BB962C8B-B14F-4D97-AF65-F5344CB8AC3E}">
        <p14:creationId xmlns:p14="http://schemas.microsoft.com/office/powerpoint/2010/main" val="216406258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8975" y="858838"/>
            <a:ext cx="3275013" cy="2317750"/>
          </a:xfrm>
        </p:spPr>
      </p:sp>
      <p:sp>
        <p:nvSpPr>
          <p:cNvPr id="3" name="ノート プレースホルダー 2"/>
          <p:cNvSpPr>
            <a:spLocks noGrp="1"/>
          </p:cNvSpPr>
          <p:nvPr>
            <p:ph type="body" idx="1"/>
          </p:nvPr>
        </p:nvSpPr>
        <p:spPr/>
        <p:txBody>
          <a:bodyPr/>
          <a:lstStyle/>
          <a:p>
            <a:pPr marL="0" indent="0" defTabSz="629107">
              <a:buClrTx/>
              <a:buSzTx/>
              <a:defRPr/>
            </a:pPr>
            <a:endParaRPr lang="ja-JP" altLang="en-US" dirty="0"/>
          </a:p>
        </p:txBody>
      </p:sp>
      <p:sp>
        <p:nvSpPr>
          <p:cNvPr id="4" name="スライド番号プレースホルダー 3"/>
          <p:cNvSpPr>
            <a:spLocks noGrp="1"/>
          </p:cNvSpPr>
          <p:nvPr>
            <p:ph type="sldNum" sz="quarter" idx="5"/>
          </p:nvPr>
        </p:nvSpPr>
        <p:spPr/>
        <p:txBody>
          <a:bodyPr/>
          <a:lstStyle/>
          <a:p>
            <a:fld id="{CAF5A409-FE33-4202-B69D-8515A6FDCE7E}" type="slidenum">
              <a:rPr kumimoji="1" lang="ja-JP" altLang="en-US" smtClean="0"/>
              <a:t>62</a:t>
            </a:fld>
            <a:endParaRPr kumimoji="1" lang="ja-JP" altLang="en-US"/>
          </a:p>
        </p:txBody>
      </p:sp>
    </p:spTree>
    <p:extLst>
      <p:ext uri="{BB962C8B-B14F-4D97-AF65-F5344CB8AC3E}">
        <p14:creationId xmlns:p14="http://schemas.microsoft.com/office/powerpoint/2010/main" val="39096212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997412218"/>
      </p:ext>
    </p:extLst>
  </p:cSld>
  <p:clrMapOvr>
    <a:masterClrMapping/>
  </p:clrMapOvr>
  <p:extLst>
    <p:ext uri="{DCECCB84-F9BA-43D5-87BE-67443E8EF086}">
      <p15:sldGuideLst xmlns:p15="http://schemas.microsoft.com/office/powerpoint/2012/main">
        <p15:guide id="1" orient="horz" pos="2381" userDrawn="1">
          <p15:clr>
            <a:srgbClr val="FBAE40"/>
          </p15:clr>
        </p15:guide>
        <p15:guide id="2" pos="336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10359687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pic>
        <p:nvPicPr>
          <p:cNvPr id="2" name="図 1" descr="背景パターン&#10;&#10;AI 生成コンテンツは誤りを含む可能性があります。">
            <a:extLst>
              <a:ext uri="{FF2B5EF4-FFF2-40B4-BE49-F238E27FC236}">
                <a16:creationId xmlns:a16="http://schemas.microsoft.com/office/drawing/2014/main" id="{8E967D6D-5B52-5B07-CA48-6817A5CEB27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grpSp>
        <p:nvGrpSpPr>
          <p:cNvPr id="7" name="グループ化 6">
            <a:extLst>
              <a:ext uri="{FF2B5EF4-FFF2-40B4-BE49-F238E27FC236}">
                <a16:creationId xmlns:a16="http://schemas.microsoft.com/office/drawing/2014/main" id="{01D98B25-17B2-272C-53AC-A26D9745042C}"/>
              </a:ext>
            </a:extLst>
          </p:cNvPr>
          <p:cNvGrpSpPr/>
          <p:nvPr userDrawn="1"/>
        </p:nvGrpSpPr>
        <p:grpSpPr>
          <a:xfrm>
            <a:off x="887069" y="3420377"/>
            <a:ext cx="3420000" cy="602349"/>
            <a:chOff x="887069" y="3420377"/>
            <a:chExt cx="3420000" cy="602349"/>
          </a:xfrm>
        </p:grpSpPr>
        <p:sp>
          <p:nvSpPr>
            <p:cNvPr id="9" name="テキスト ボックス 8">
              <a:extLst>
                <a:ext uri="{FF2B5EF4-FFF2-40B4-BE49-F238E27FC236}">
                  <a16:creationId xmlns:a16="http://schemas.microsoft.com/office/drawing/2014/main" id="{C5012DD8-6B05-046F-3AF1-CACA060CA370}"/>
                </a:ext>
              </a:extLst>
            </p:cNvPr>
            <p:cNvSpPr txBox="1"/>
            <p:nvPr/>
          </p:nvSpPr>
          <p:spPr>
            <a:xfrm>
              <a:off x="977069" y="3420377"/>
              <a:ext cx="3240000" cy="492443"/>
            </a:xfrm>
            <a:prstGeom prst="rect">
              <a:avLst/>
            </a:prstGeom>
            <a:noFill/>
          </p:spPr>
          <p:txBody>
            <a:bodyPr wrap="square" lIns="0" tIns="0" rIns="0" bIns="0" anchor="t">
              <a:spAutoFit/>
            </a:bodyPr>
            <a:lstStyle/>
            <a:p>
              <a:pPr algn="ctr"/>
              <a:r>
                <a:rPr lang="ja-JP" altLang="en-US" sz="3200" b="1" dirty="0">
                  <a:latin typeface="+mj-lt"/>
                </a:rPr>
                <a:t>目次</a:t>
              </a:r>
            </a:p>
          </p:txBody>
        </p:sp>
        <p:cxnSp>
          <p:nvCxnSpPr>
            <p:cNvPr id="10" name="直線コネクタ 9">
              <a:extLst>
                <a:ext uri="{FF2B5EF4-FFF2-40B4-BE49-F238E27FC236}">
                  <a16:creationId xmlns:a16="http://schemas.microsoft.com/office/drawing/2014/main" id="{268C069C-EAF1-B7E8-021B-4DF925E86141}"/>
                </a:ext>
              </a:extLst>
            </p:cNvPr>
            <p:cNvCxnSpPr>
              <a:cxnSpLocks/>
            </p:cNvCxnSpPr>
            <p:nvPr/>
          </p:nvCxnSpPr>
          <p:spPr>
            <a:xfrm>
              <a:off x="887069" y="4022726"/>
              <a:ext cx="34200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8"/>
            <a:ext cx="1627200" cy="322732"/>
          </a:xfrm>
          <a:prstGeom prst="rect">
            <a:avLst/>
          </a:prstGeom>
        </p:spPr>
      </p:pic>
      <p:sp>
        <p:nvSpPr>
          <p:cNvPr id="12" name="テキスト ボックス 11">
            <a:extLst>
              <a:ext uri="{FF2B5EF4-FFF2-40B4-BE49-F238E27FC236}">
                <a16:creationId xmlns:a16="http://schemas.microsoft.com/office/drawing/2014/main" id="{1A1C1562-A331-DA82-9B95-1B4F0DA08BD0}"/>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sp>
        <p:nvSpPr>
          <p:cNvPr id="13" name="Google Shape;14;p31">
            <a:extLst>
              <a:ext uri="{FF2B5EF4-FFF2-40B4-BE49-F238E27FC236}">
                <a16:creationId xmlns:a16="http://schemas.microsoft.com/office/drawing/2014/main" id="{0CB49C29-F967-F011-F3F8-2ED176CC202F}"/>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3" name="正方形/長方形 2">
            <a:extLst>
              <a:ext uri="{FF2B5EF4-FFF2-40B4-BE49-F238E27FC236}">
                <a16:creationId xmlns:a16="http://schemas.microsoft.com/office/drawing/2014/main" id="{7493C03D-EF3C-73CD-DCFB-960D33F81124}"/>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80144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扉">
    <p:spTree>
      <p:nvGrpSpPr>
        <p:cNvPr id="1" name=""/>
        <p:cNvGrpSpPr/>
        <p:nvPr/>
      </p:nvGrpSpPr>
      <p:grpSpPr>
        <a:xfrm>
          <a:off x="0" y="0"/>
          <a:ext cx="0" cy="0"/>
          <a:chOff x="0" y="0"/>
          <a:chExt cx="0" cy="0"/>
        </a:xfrm>
      </p:grpSpPr>
      <p:pic>
        <p:nvPicPr>
          <p:cNvPr id="3" name="図 2" descr="背景パターン&#10;&#10;AI 生成コンテンツは誤りを含む可能性があります。">
            <a:extLst>
              <a:ext uri="{FF2B5EF4-FFF2-40B4-BE49-F238E27FC236}">
                <a16:creationId xmlns:a16="http://schemas.microsoft.com/office/drawing/2014/main" id="{FDE449C2-8B65-9409-394F-45A167C6AE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5" name="タイトル 1">
            <a:extLst>
              <a:ext uri="{FF2B5EF4-FFF2-40B4-BE49-F238E27FC236}">
                <a16:creationId xmlns:a16="http://schemas.microsoft.com/office/drawing/2014/main" id="{07D600CD-5CAD-A0C8-1E3D-CD1EA5B04422}"/>
              </a:ext>
            </a:extLst>
          </p:cNvPr>
          <p:cNvSpPr>
            <a:spLocks noGrp="1"/>
          </p:cNvSpPr>
          <p:nvPr>
            <p:ph type="title"/>
          </p:nvPr>
        </p:nvSpPr>
        <p:spPr>
          <a:xfrm>
            <a:off x="989013" y="3656161"/>
            <a:ext cx="9221787" cy="615553"/>
          </a:xfrm>
          <a:prstGeom prst="rect">
            <a:avLst/>
          </a:prstGeom>
          <a:noFill/>
        </p:spPr>
        <p:txBody>
          <a:bodyPr wrap="square" lIns="0" tIns="0" rIns="0" bIns="0" rtlCol="0" anchor="ctr">
            <a:spAutoFit/>
          </a:bodyPr>
          <a:lstStyle>
            <a:lvl1pPr>
              <a:lnSpc>
                <a:spcPct val="100000"/>
              </a:lnSpc>
              <a:defRPr lang="ja-JP" altLang="en-US" sz="4000" b="1" spc="200" dirty="0">
                <a:solidFill>
                  <a:schemeClr val="bg1"/>
                </a:solidFill>
                <a:latin typeface="+mj-lt"/>
                <a:cs typeface="+mn-cs"/>
              </a:defRPr>
            </a:lvl1pPr>
          </a:lstStyle>
          <a:p>
            <a:pPr marL="0" lvl="0" defTabSz="503972"/>
            <a:r>
              <a:rPr kumimoji="1" lang="ja-JP" altLang="en-US" dirty="0"/>
              <a:t>マスター タイトルの書式設定</a:t>
            </a:r>
          </a:p>
        </p:txBody>
      </p:sp>
      <p:pic>
        <p:nvPicPr>
          <p:cNvPr id="4" name="グラフィックス 3">
            <a:extLst>
              <a:ext uri="{FF2B5EF4-FFF2-40B4-BE49-F238E27FC236}">
                <a16:creationId xmlns:a16="http://schemas.microsoft.com/office/drawing/2014/main" id="{8D4E6481-3D38-43CE-56D4-0766A151BDB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97898" y="641818"/>
            <a:ext cx="1627200" cy="320105"/>
          </a:xfrm>
          <a:prstGeom prst="rect">
            <a:avLst/>
          </a:prstGeom>
        </p:spPr>
      </p:pic>
      <p:sp>
        <p:nvSpPr>
          <p:cNvPr id="7" name="テキスト ボックス 6">
            <a:extLst>
              <a:ext uri="{FF2B5EF4-FFF2-40B4-BE49-F238E27FC236}">
                <a16:creationId xmlns:a16="http://schemas.microsoft.com/office/drawing/2014/main" id="{06F9BFF4-1363-8167-1FD9-7F8105B557A4}"/>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bg1"/>
                </a:solidFill>
                <a:latin typeface="+mj-lt"/>
              </a:rPr>
              <a:pPr algn="r"/>
              <a:t>‹#›</a:t>
            </a:fld>
            <a:endParaRPr kumimoji="1" lang="ja-JP" altLang="en-US" sz="992" dirty="0">
              <a:solidFill>
                <a:schemeClr val="bg1"/>
              </a:solidFill>
              <a:latin typeface="+mj-lt"/>
            </a:endParaRPr>
          </a:p>
        </p:txBody>
      </p:sp>
      <p:sp>
        <p:nvSpPr>
          <p:cNvPr id="8" name="Google Shape;14;p31">
            <a:extLst>
              <a:ext uri="{FF2B5EF4-FFF2-40B4-BE49-F238E27FC236}">
                <a16:creationId xmlns:a16="http://schemas.microsoft.com/office/drawing/2014/main" id="{4768A1B1-9FB9-F183-2D3A-178D813DD52B}"/>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bg1"/>
                </a:solidFill>
                <a:latin typeface="Arial"/>
                <a:ea typeface="Arial"/>
                <a:cs typeface="Arial"/>
                <a:sym typeface="Arial"/>
              </a:rPr>
              <a:t>Copyright© M＆A Succession Group Inc. All Right Reserved</a:t>
            </a:r>
            <a:endParaRPr sz="700" b="0" i="0" u="none" strike="noStrike" cap="none" dirty="0">
              <a:solidFill>
                <a:schemeClr val="bg1"/>
              </a:solidFill>
              <a:latin typeface="Arial"/>
              <a:ea typeface="Arial"/>
              <a:cs typeface="Arial"/>
              <a:sym typeface="Arial"/>
            </a:endParaRPr>
          </a:p>
        </p:txBody>
      </p:sp>
      <p:sp>
        <p:nvSpPr>
          <p:cNvPr id="2" name="正方形/長方形 1">
            <a:extLst>
              <a:ext uri="{FF2B5EF4-FFF2-40B4-BE49-F238E27FC236}">
                <a16:creationId xmlns:a16="http://schemas.microsoft.com/office/drawing/2014/main" id="{00B19FBA-B74F-4E88-0389-543A882445EE}"/>
              </a:ext>
            </a:extLst>
          </p:cNvPr>
          <p:cNvSpPr/>
          <p:nvPr userDrawn="1"/>
        </p:nvSpPr>
        <p:spPr>
          <a:xfrm>
            <a:off x="6933143" y="7209190"/>
            <a:ext cx="640572" cy="144000"/>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bg1"/>
                </a:solidFill>
              </a:rPr>
              <a:t>Confidential</a:t>
            </a:r>
          </a:p>
        </p:txBody>
      </p:sp>
    </p:spTree>
    <p:extLst>
      <p:ext uri="{BB962C8B-B14F-4D97-AF65-F5344CB8AC3E}">
        <p14:creationId xmlns:p14="http://schemas.microsoft.com/office/powerpoint/2010/main" val="18809509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本編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A577B03-0430-76D0-A4E3-BD118824A3F8}"/>
              </a:ext>
            </a:extLst>
          </p:cNvPr>
          <p:cNvSpPr/>
          <p:nvPr userDrawn="1"/>
        </p:nvSpPr>
        <p:spPr>
          <a:xfrm>
            <a:off x="-1" y="0"/>
            <a:ext cx="10691814" cy="666000"/>
          </a:xfrm>
          <a:prstGeom prst="rect">
            <a:avLst/>
          </a:prstGeom>
          <a:gradFill>
            <a:gsLst>
              <a:gs pos="88000">
                <a:srgbClr val="006AB1"/>
              </a:gs>
              <a:gs pos="5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dirty="0"/>
          </a:p>
        </p:txBody>
      </p:sp>
      <p:sp>
        <p:nvSpPr>
          <p:cNvPr id="31" name="フリーフォーム: 図形 30">
            <a:extLst>
              <a:ext uri="{FF2B5EF4-FFF2-40B4-BE49-F238E27FC236}">
                <a16:creationId xmlns:a16="http://schemas.microsoft.com/office/drawing/2014/main" id="{D9CC89AC-0069-75DF-7665-F8D290946A33}"/>
              </a:ext>
            </a:extLst>
          </p:cNvPr>
          <p:cNvSpPr/>
          <p:nvPr userDrawn="1"/>
        </p:nvSpPr>
        <p:spPr>
          <a:xfrm>
            <a:off x="6714554"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96000">
                <a:schemeClr val="accent4"/>
              </a:gs>
              <a:gs pos="46000">
                <a:schemeClr val="tx2">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dirty="0"/>
          </a:p>
        </p:txBody>
      </p:sp>
      <p:sp>
        <p:nvSpPr>
          <p:cNvPr id="3" name="字幕 2">
            <a:extLst>
              <a:ext uri="{FF2B5EF4-FFF2-40B4-BE49-F238E27FC236}">
                <a16:creationId xmlns:a16="http://schemas.microsoft.com/office/drawing/2014/main" id="{E4C44029-31FF-A9F7-06AC-0A055C09D50F}"/>
              </a:ext>
            </a:extLst>
          </p:cNvPr>
          <p:cNvSpPr>
            <a:spLocks noGrp="1"/>
          </p:cNvSpPr>
          <p:nvPr>
            <p:ph type="subTitle" idx="1"/>
          </p:nvPr>
        </p:nvSpPr>
        <p:spPr>
          <a:xfrm>
            <a:off x="460675" y="830046"/>
            <a:ext cx="9781875" cy="241861"/>
          </a:xfrm>
          <a:prstGeom prst="rect">
            <a:avLst/>
          </a:prstGeom>
        </p:spPr>
        <p:txBody>
          <a:bodyPr wrap="square" lIns="0" tIns="0" rIns="0" bIns="0">
            <a:spAutoFit/>
          </a:bodyPr>
          <a:lstStyle>
            <a:lvl1pPr marL="0" indent="0" algn="l">
              <a:lnSpc>
                <a:spcPct val="120000"/>
              </a:lnSpc>
              <a:spcBef>
                <a:spcPts val="0"/>
              </a:spcBef>
              <a:buNone/>
              <a:defRPr sz="1400" b="1" spc="55" baseline="0">
                <a:latin typeface="+mj-ea"/>
                <a:ea typeface="+mj-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kumimoji="1" lang="ja-JP" altLang="en-US" dirty="0"/>
              <a:t>マスター サブタイトルの書式設定</a:t>
            </a:r>
          </a:p>
        </p:txBody>
      </p:sp>
      <p:sp>
        <p:nvSpPr>
          <p:cNvPr id="6" name="テキスト ボックス 5">
            <a:extLst>
              <a:ext uri="{FF2B5EF4-FFF2-40B4-BE49-F238E27FC236}">
                <a16:creationId xmlns:a16="http://schemas.microsoft.com/office/drawing/2014/main" id="{C06A0380-DE0F-1825-615F-4DBC89C8C6DB}"/>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pic>
        <p:nvPicPr>
          <p:cNvPr id="8" name="グラフィックス 7">
            <a:extLst>
              <a:ext uri="{FF2B5EF4-FFF2-40B4-BE49-F238E27FC236}">
                <a16:creationId xmlns:a16="http://schemas.microsoft.com/office/drawing/2014/main" id="{15124CEF-AA7F-DF16-7A5C-692E9AB7616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04801" y="7086114"/>
            <a:ext cx="1625600" cy="322220"/>
          </a:xfrm>
          <a:prstGeom prst="rect">
            <a:avLst/>
          </a:prstGeom>
        </p:spPr>
      </p:pic>
      <p:grpSp>
        <p:nvGrpSpPr>
          <p:cNvPr id="26" name="グループ化 25">
            <a:extLst>
              <a:ext uri="{FF2B5EF4-FFF2-40B4-BE49-F238E27FC236}">
                <a16:creationId xmlns:a16="http://schemas.microsoft.com/office/drawing/2014/main" id="{2864EB89-7DDA-1F5E-BB78-27D39C8659FC}"/>
              </a:ext>
            </a:extLst>
          </p:cNvPr>
          <p:cNvGrpSpPr/>
          <p:nvPr userDrawn="1"/>
        </p:nvGrpSpPr>
        <p:grpSpPr>
          <a:xfrm>
            <a:off x="-1" y="0"/>
            <a:ext cx="252001" cy="666000"/>
            <a:chOff x="-1" y="0"/>
            <a:chExt cx="252001" cy="666000"/>
          </a:xfrm>
        </p:grpSpPr>
        <p:cxnSp>
          <p:nvCxnSpPr>
            <p:cNvPr id="19" name="直線コネクタ 18">
              <a:extLst>
                <a:ext uri="{FF2B5EF4-FFF2-40B4-BE49-F238E27FC236}">
                  <a16:creationId xmlns:a16="http://schemas.microsoft.com/office/drawing/2014/main" id="{05B82C66-0A6E-C82F-B38C-D4495200FAA8}"/>
                </a:ext>
              </a:extLst>
            </p:cNvPr>
            <p:cNvCxnSpPr>
              <a:cxnSpLocks/>
            </p:cNvCxnSpPr>
            <p:nvPr userDrawn="1"/>
          </p:nvCxnSpPr>
          <p:spPr>
            <a:xfrm>
              <a:off x="0" y="333000"/>
              <a:ext cx="252000"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正方形/長方形 10">
              <a:extLst>
                <a:ext uri="{FF2B5EF4-FFF2-40B4-BE49-F238E27FC236}">
                  <a16:creationId xmlns:a16="http://schemas.microsoft.com/office/drawing/2014/main" id="{A6BFD29D-964D-B44D-88A5-439ACA448282}"/>
                </a:ext>
              </a:extLst>
            </p:cNvPr>
            <p:cNvSpPr/>
            <p:nvPr userDrawn="1"/>
          </p:nvSpPr>
          <p:spPr>
            <a:xfrm>
              <a:off x="-1" y="0"/>
              <a:ext cx="108000" cy="66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8" name="直線コネクタ 17">
              <a:extLst>
                <a:ext uri="{FF2B5EF4-FFF2-40B4-BE49-F238E27FC236}">
                  <a16:creationId xmlns:a16="http://schemas.microsoft.com/office/drawing/2014/main" id="{B87BA5C7-32E9-C506-2110-1D5AFE77B082}"/>
                </a:ext>
              </a:extLst>
            </p:cNvPr>
            <p:cNvCxnSpPr>
              <a:cxnSpLocks/>
            </p:cNvCxnSpPr>
            <p:nvPr userDrawn="1"/>
          </p:nvCxnSpPr>
          <p:spPr>
            <a:xfrm>
              <a:off x="-1" y="333000"/>
              <a:ext cx="108000" cy="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1DA08165-590D-BD55-05E9-10B2D6F8DD63}"/>
              </a:ext>
            </a:extLst>
          </p:cNvPr>
          <p:cNvSpPr>
            <a:spLocks noGrp="1"/>
          </p:cNvSpPr>
          <p:nvPr userDrawn="1">
            <p:ph type="ctrTitle"/>
          </p:nvPr>
        </p:nvSpPr>
        <p:spPr>
          <a:xfrm>
            <a:off x="341313" y="180296"/>
            <a:ext cx="7799917" cy="339267"/>
          </a:xfrm>
          <a:prstGeom prst="rect">
            <a:avLst/>
          </a:prstGeom>
        </p:spPr>
        <p:txBody>
          <a:bodyPr wrap="square" lIns="0" tIns="0" rIns="0" bIns="0" anchor="ctr">
            <a:spAutoFit/>
          </a:bodyPr>
          <a:lstStyle>
            <a:lvl1pPr algn="l">
              <a:lnSpc>
                <a:spcPct val="100000"/>
              </a:lnSpc>
              <a:defRPr sz="2200" b="1" spc="77" baseline="0">
                <a:solidFill>
                  <a:schemeClr val="bg1"/>
                </a:solidFill>
                <a:latin typeface="+mj-lt"/>
              </a:defRPr>
            </a:lvl1pPr>
          </a:lstStyle>
          <a:p>
            <a:r>
              <a:rPr kumimoji="1" lang="ja-JP" altLang="en-US" dirty="0"/>
              <a:t>マスター タイトルの書式設定</a:t>
            </a:r>
          </a:p>
        </p:txBody>
      </p:sp>
      <p:sp>
        <p:nvSpPr>
          <p:cNvPr id="30" name="フリーフォーム: 図形 29">
            <a:extLst>
              <a:ext uri="{FF2B5EF4-FFF2-40B4-BE49-F238E27FC236}">
                <a16:creationId xmlns:a16="http://schemas.microsoft.com/office/drawing/2014/main" id="{0AA6A414-726D-CCFA-2EF2-5B8503BE0A88}"/>
              </a:ext>
            </a:extLst>
          </p:cNvPr>
          <p:cNvSpPr/>
          <p:nvPr userDrawn="1"/>
        </p:nvSpPr>
        <p:spPr>
          <a:xfrm>
            <a:off x="6386286"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100000">
                <a:schemeClr val="accent4"/>
              </a:gs>
              <a:gs pos="8000">
                <a:srgbClr val="0167AB">
                  <a:alpha val="0"/>
                </a:srgb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a:p>
        </p:txBody>
      </p:sp>
      <p:sp>
        <p:nvSpPr>
          <p:cNvPr id="33" name="Google Shape;14;p31">
            <a:extLst>
              <a:ext uri="{FF2B5EF4-FFF2-40B4-BE49-F238E27FC236}">
                <a16:creationId xmlns:a16="http://schemas.microsoft.com/office/drawing/2014/main" id="{273032A6-EBE9-0147-F9C2-495CA12FDE28}"/>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5" name="正方形/長方形 4">
            <a:extLst>
              <a:ext uri="{FF2B5EF4-FFF2-40B4-BE49-F238E27FC236}">
                <a16:creationId xmlns:a16="http://schemas.microsoft.com/office/drawing/2014/main" id="{283DDC2C-ECEE-530D-9F1C-6564A5A2BAB9}"/>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627557559"/>
      </p:ext>
    </p:extLst>
  </p:cSld>
  <p:clrMapOvr>
    <a:masterClrMapping/>
  </p:clrMapOvr>
  <p:extLst>
    <p:ext uri="{DCECCB84-F9BA-43D5-87BE-67443E8EF086}">
      <p15:sldGuideLst xmlns:p15="http://schemas.microsoft.com/office/powerpoint/2012/main">
        <p15:guide id="2" orient="horz" pos="4309">
          <p15:clr>
            <a:srgbClr val="FBAE40"/>
          </p15:clr>
        </p15:guide>
        <p15:guide id="3" pos="215">
          <p15:clr>
            <a:srgbClr val="A4A3A4"/>
          </p15:clr>
        </p15:guide>
        <p15:guide id="4" pos="6520">
          <p15:clr>
            <a:srgbClr val="A4A3A4"/>
          </p15:clr>
        </p15:guide>
        <p15:guide id="5" pos="283">
          <p15:clr>
            <a:srgbClr val="FBAE40"/>
          </p15:clr>
        </p15:guide>
        <p15:guide id="6" pos="64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21111899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8542152"/>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1007943" rtl="0" eaLnBrk="1" latinLnBrk="0" hangingPunct="1">
        <a:lnSpc>
          <a:spcPct val="90000"/>
        </a:lnSpc>
        <a:spcBef>
          <a:spcPct val="0"/>
        </a:spcBef>
        <a:buNone/>
        <a:defRPr kumimoji="1"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jpeg"/><Relationship Id="rId3" Type="http://schemas.openxmlformats.org/officeDocument/2006/relationships/image" Target="../media/image7.sv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 Id="rId3" Type="http://schemas.openxmlformats.org/officeDocument/2006/relationships/image" Target="../media/image6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 Id="rId3" Type="http://schemas.openxmlformats.org/officeDocument/2006/relationships/image" Target="../media/image6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 Id="rId3" Type="http://schemas.openxmlformats.org/officeDocument/2006/relationships/image" Target="../media/image6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E6EF2-E355-DFA0-0FDA-00C6AAD69C4F}"/>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0EAAA34-63BD-2868-6F6F-9550B61A0EE2}"/>
              </a:ext>
            </a:extLst>
          </p:cNvPr>
          <p:cNvSpPr>
            <a:spLocks noGrp="1"/>
          </p:cNvSpPr>
          <p:nvPr>
            <p:ph type="title"/>
          </p:nvPr>
        </p:nvSpPr>
        <p:spPr>
          <a:xfrm>
            <a:off x="885526" y="3467606"/>
            <a:ext cx="9221787" cy="738664"/>
          </a:xfrm>
        </p:spPr>
        <p:txBody>
          <a:bodyPr/>
          <a:lstStyle/>
          <a:p>
            <a:r>
              <a:rPr lang="ja-JP" altLang="en-US" dirty="0"/>
              <a:t>企業概要書  </a:t>
            </a:r>
            <a:r>
              <a:rPr lang="ja-JP" altLang="en-US" sz="2400" dirty="0"/>
              <a:t>&lt;物流・梱包業／関東&gt;</a:t>
            </a:r>
            <a:endParaRPr lang="ja-JP" altLang="en-US" dirty="0"/>
          </a:p>
        </p:txBody>
      </p:sp>
      <p:cxnSp>
        <p:nvCxnSpPr>
          <p:cNvPr id="11" name="直線コネクタ 10">
            <a:extLst>
              <a:ext uri="{FF2B5EF4-FFF2-40B4-BE49-F238E27FC236}">
                <a16:creationId xmlns:a16="http://schemas.microsoft.com/office/drawing/2014/main" id="{B552F00F-DAC8-72B9-D861-43E1B7EF96E4}"/>
              </a:ext>
            </a:extLst>
          </p:cNvPr>
          <p:cNvCxnSpPr>
            <a:cxnSpLocks/>
          </p:cNvCxnSpPr>
          <p:nvPr/>
        </p:nvCxnSpPr>
        <p:spPr>
          <a:xfrm>
            <a:off x="885526" y="4272782"/>
            <a:ext cx="6767299"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タイトル 2">
            <a:extLst>
              <a:ext uri="{FF2B5EF4-FFF2-40B4-BE49-F238E27FC236}">
                <a16:creationId xmlns:a16="http://schemas.microsoft.com/office/drawing/2014/main" id="{483B0F4A-40C8-4F5B-4490-660AE728BBA5}"/>
              </a:ext>
            </a:extLst>
          </p:cNvPr>
          <p:cNvSpPr txBox="1">
            <a:spLocks/>
          </p:cNvSpPr>
          <p:nvPr/>
        </p:nvSpPr>
        <p:spPr>
          <a:xfrm>
            <a:off x="941798" y="4043874"/>
            <a:ext cx="9221787" cy="738664"/>
          </a:xfrm>
          <a:prstGeom prst="rect">
            <a:avLst/>
          </a:prstGeom>
          <a:noFill/>
        </p:spPr>
        <p:txBody>
          <a:bodyPr wrap="square" lIns="0" tIns="0" rIns="0" bIns="0" rtlCol="0" anchor="ctr">
            <a:spAutoFit/>
          </a:bodyPr>
          <a:lstStyle>
            <a:lvl1pPr algn="l" defTabSz="1007943" rtl="0" eaLnBrk="1" latinLnBrk="0" hangingPunct="1">
              <a:lnSpc>
                <a:spcPct val="100000"/>
              </a:lnSpc>
              <a:spcBef>
                <a:spcPct val="0"/>
              </a:spcBef>
              <a:buNone/>
              <a:defRPr kumimoji="1" lang="ja-JP" altLang="en-US" sz="4800" b="1" kern="1200" spc="200">
                <a:solidFill>
                  <a:schemeClr val="tx1"/>
                </a:solidFill>
                <a:latin typeface="+mj-lt"/>
                <a:ea typeface="+mj-ea"/>
                <a:cs typeface="+mn-cs"/>
              </a:defRPr>
            </a:lvl1pPr>
          </a:lstStyle>
          <a:p>
            <a:pPr>
              <a:buClrTx/>
              <a:buFontTx/>
            </a:pPr>
            <a:r>
              <a:rPr lang="en-US" altLang="ja-JP" sz="1800" dirty="0"/>
              <a:t>Information</a:t>
            </a:r>
            <a:r>
              <a:rPr lang="ja-JP" altLang="en-US" sz="1800" dirty="0"/>
              <a:t> </a:t>
            </a:r>
            <a:r>
              <a:rPr lang="en-US" altLang="ja-JP" sz="1800" dirty="0"/>
              <a:t>Memorandum</a:t>
            </a:r>
            <a:r>
              <a:rPr lang="zh-TW" altLang="en-US" dirty="0"/>
              <a:t>　</a:t>
            </a:r>
          </a:p>
        </p:txBody>
      </p:sp>
    </p:spTree>
    <p:extLst>
      <p:ext uri="{BB962C8B-B14F-4D97-AF65-F5344CB8AC3E}">
        <p14:creationId xmlns:p14="http://schemas.microsoft.com/office/powerpoint/2010/main" val="4336838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87;p2">
            <a:extLst>
              <a:ext uri="{FF2B5EF4-FFF2-40B4-BE49-F238E27FC236}">
                <a16:creationId xmlns:a16="http://schemas.microsoft.com/office/drawing/2014/main" id="{A92DF3A4-79D3-09CF-A0AF-2A2E9BAD2537}"/>
              </a:ext>
            </a:extLst>
          </p:cNvPr>
          <p:cNvSpPr txBox="1"/>
          <p:nvPr/>
        </p:nvSpPr>
        <p:spPr>
          <a:xfrm>
            <a:off x="449263" y="5738246"/>
            <a:ext cx="33728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t>本件のご照会先</a:t>
            </a:r>
          </a:p>
        </p:txBody>
      </p:sp>
      <p:graphicFrame>
        <p:nvGraphicFramePr>
          <p:cNvPr id="3" name="Google Shape;188;p2">
            <a:extLst>
              <a:ext uri="{FF2B5EF4-FFF2-40B4-BE49-F238E27FC236}">
                <a16:creationId xmlns:a16="http://schemas.microsoft.com/office/drawing/2014/main" id="{6A5E1FF5-E790-97CE-E190-6844BCDD57F5}"/>
              </a:ext>
            </a:extLst>
          </p:cNvPr>
          <p:cNvGraphicFramePr/>
          <p:nvPr>
            <p:extLst>
              <p:ext uri="{D42A27DB-BD31-4B8C-83A1-F6EECF244321}">
                <p14:modId xmlns:p14="http://schemas.microsoft.com/office/powerpoint/2010/main" val="1416780746"/>
              </p:ext>
            </p:extLst>
          </p:nvPr>
        </p:nvGraphicFramePr>
        <p:xfrm>
          <a:off x="449264" y="6120538"/>
          <a:ext cx="9793287" cy="720000"/>
        </p:xfrm>
        <a:graphic>
          <a:graphicData uri="http://schemas.openxmlformats.org/drawingml/2006/table">
            <a:tbl>
              <a:tblPr firstRow="1" bandRow="1">
                <a:noFill/>
              </a:tblPr>
              <a:tblGrid>
                <a:gridCol w="2448322">
                  <a:extLst>
                    <a:ext uri="{9D8B030D-6E8A-4147-A177-3AD203B41FA5}">
                      <a16:colId xmlns:a16="http://schemas.microsoft.com/office/drawing/2014/main" val="20000"/>
                    </a:ext>
                  </a:extLst>
                </a:gridCol>
                <a:gridCol w="2448321">
                  <a:extLst>
                    <a:ext uri="{9D8B030D-6E8A-4147-A177-3AD203B41FA5}">
                      <a16:colId xmlns:a16="http://schemas.microsoft.com/office/drawing/2014/main" val="20001"/>
                    </a:ext>
                  </a:extLst>
                </a:gridCol>
                <a:gridCol w="2448322">
                  <a:extLst>
                    <a:ext uri="{9D8B030D-6E8A-4147-A177-3AD203B41FA5}">
                      <a16:colId xmlns:a16="http://schemas.microsoft.com/office/drawing/2014/main" val="20002"/>
                    </a:ext>
                  </a:extLst>
                </a:gridCol>
                <a:gridCol w="2448322">
                  <a:extLst>
                    <a:ext uri="{9D8B030D-6E8A-4147-A177-3AD203B41FA5}">
                      <a16:colId xmlns:a16="http://schemas.microsoft.com/office/drawing/2014/main" val="20003"/>
                    </a:ext>
                  </a:extLst>
                </a:gridCol>
              </a:tblGrid>
              <a:tr h="360000">
                <a:tc>
                  <a:txBody>
                    <a:bodyPr/>
                    <a:lstStyle/>
                    <a:p>
                      <a:pPr marL="0" marR="0" lvl="0" indent="0" algn="ctr" rtl="0">
                        <a:spcBef>
                          <a:spcPts val="0"/>
                        </a:spcBef>
                        <a:spcAft>
                          <a:spcPts val="0"/>
                        </a:spcAft>
                        <a:buNone/>
                      </a:pPr>
                      <a:r>
                        <a:rPr lang="ja-JP" sz="1200" b="1" u="none" strike="noStrike" cap="none" spc="30" baseline="0" dirty="0">
                          <a:latin typeface="+mj-lt"/>
                          <a:ea typeface="+mj-ea"/>
                        </a:rPr>
                        <a:t>弊社名</a:t>
                      </a:r>
                      <a:endParaRPr sz="1200" b="1" spc="30" baseline="0" dirty="0">
                        <a:latin typeface="+mj-lt"/>
                        <a:ea typeface="+mj-ea"/>
                      </a:endParaRPr>
                    </a:p>
                  </a:txBody>
                  <a:tcPr marL="0" marR="0" marT="0" marB="0"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担当者名</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電話番号</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E-mailアドレス</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0"/>
                  </a:ext>
                </a:extLst>
              </a:tr>
              <a:tr h="360000">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株式会社M&amp;A承継機構</a:t>
                      </a:r>
                      <a:endParaRPr sz="1200" b="1" u="none" strike="noStrike" cap="none" spc="30" baseline="0" dirty="0">
                        <a:latin typeface="+mj-ea"/>
                        <a:ea typeface="+mj-ea"/>
                      </a:endParaRPr>
                    </a:p>
                  </a:txBody>
                  <a:tcPr marL="91450" marR="91450" marT="45725" marB="45725"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田垣内　啓介</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sz="1200" b="1" u="none" strike="noStrike" cap="none" spc="30" baseline="0" dirty="0">
                          <a:latin typeface="+mj-ea"/>
                          <a:ea typeface="+mj-ea"/>
                        </a:rPr>
                        <a:t>080-4737-4326</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altLang="ja-JP" sz="1200" b="1" u="none" strike="noStrike" cap="none" spc="30" baseline="0" dirty="0">
                          <a:latin typeface="+mj-ea"/>
                          <a:ea typeface="+mj-ea"/>
                        </a:rPr>
                        <a:t>tagaito_keisuke@ma-sg.co.jp</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1"/>
                  </a:ext>
                </a:extLst>
              </a:tr>
            </a:tbl>
          </a:graphicData>
        </a:graphic>
      </p:graphicFrame>
      <p:sp>
        <p:nvSpPr>
          <p:cNvPr id="9" name="タイトル 8">
            <a:extLst>
              <a:ext uri="{FF2B5EF4-FFF2-40B4-BE49-F238E27FC236}">
                <a16:creationId xmlns:a16="http://schemas.microsoft.com/office/drawing/2014/main" id="{02B70F11-C06B-AE35-D3C3-0142145E5C0A}"/>
              </a:ext>
            </a:extLst>
          </p:cNvPr>
          <p:cNvSpPr>
            <a:spLocks noGrp="1"/>
          </p:cNvSpPr>
          <p:nvPr>
            <p:ph type="ctrTitle"/>
          </p:nvPr>
        </p:nvSpPr>
        <p:spPr/>
        <p:txBody>
          <a:bodyPr>
            <a:normAutofit/>
          </a:bodyPr>
          <a:lstStyle/>
          <a:p>
            <a:r>
              <a:rPr lang="ja-JP" altLang="en-US" dirty="0"/>
              <a:t>はじめに</a:t>
            </a:r>
          </a:p>
        </p:txBody>
      </p:sp>
      <p:sp>
        <p:nvSpPr>
          <p:cNvPr id="15" name="正方形/長方形 14">
            <a:extLst>
              <a:ext uri="{FF2B5EF4-FFF2-40B4-BE49-F238E27FC236}">
                <a16:creationId xmlns:a16="http://schemas.microsoft.com/office/drawing/2014/main" id="{51A174C3-B2B8-45E2-E11E-021C915BC89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重要なご留意事項</a:t>
            </a:r>
          </a:p>
        </p:txBody>
      </p:sp>
      <p:sp>
        <p:nvSpPr>
          <p:cNvPr id="23" name="テキスト ボックス 22">
            <a:extLst>
              <a:ext uri="{FF2B5EF4-FFF2-40B4-BE49-F238E27FC236}">
                <a16:creationId xmlns:a16="http://schemas.microsoft.com/office/drawing/2014/main" id="{B50E1823-5D75-9C7E-3748-4C2C1C220A43}"/>
              </a:ext>
            </a:extLst>
          </p:cNvPr>
          <p:cNvSpPr txBox="1"/>
          <p:nvPr/>
        </p:nvSpPr>
        <p:spPr>
          <a:xfrm>
            <a:off x="449263" y="1234930"/>
            <a:ext cx="9793287" cy="4012958"/>
          </a:xfrm>
          <a:prstGeom prst="rect">
            <a:avLst/>
          </a:prstGeom>
          <a:noFill/>
        </p:spPr>
        <p:txBody>
          <a:bodyPr wrap="square" lIns="0" tIns="0" rIns="0" bIns="0" rtlCol="0">
            <a:spAutoFit/>
          </a:bodyPr>
          <a:lstStyle>
            <a:defPPr marR="0" lvl="0" algn="l" rtl="0">
              <a:lnSpc>
                <a:spcPct val="100000"/>
              </a:lnSpc>
              <a:spcBef>
                <a:spcPts val="0"/>
              </a:spcBef>
              <a:spcAft>
                <a:spcPts val="0"/>
              </a:spcAft>
            </a:defPPr>
            <a:lvl1pPr marL="180000" indent="-180000">
              <a:lnSpc>
                <a:spcPct val="120000"/>
              </a:lnSpc>
              <a:spcAft>
                <a:spcPts val="1200"/>
              </a:spcAft>
              <a:buClr>
                <a:schemeClr val="tx2"/>
              </a:buClr>
              <a:buSzPct val="80000"/>
              <a:buFont typeface="Wingdings" panose="05000000000000000000" pitchFamily="2" charset="2"/>
              <a:buChar char="n"/>
              <a:defRPr kumimoji="1" sz="1200" spc="50">
                <a:latin typeface="+mn-ea"/>
              </a:defRPr>
            </a:lvl1pPr>
          </a:lstStyle>
          <a:p>
            <a:pPr>
              <a:spcAft>
                <a:spcPts val="1800"/>
              </a:spcAft>
            </a:pPr>
            <a:r>
              <a:rPr lang="ja-JP" altLang="en-US" dirty="0">
                <a:ea typeface="+mn-ea"/>
              </a:rPr>
              <a:t>当該企業概要書（以下、「本概要書」といいます）は、株式会社</a:t>
            </a:r>
            <a:r>
              <a:rPr lang="en-US" altLang="ja-JP" dirty="0">
                <a:ea typeface="+mn-ea"/>
              </a:rPr>
              <a:t>M&amp;A</a:t>
            </a:r>
            <a:r>
              <a:rPr lang="ja-JP" altLang="en-US" dirty="0">
                <a:ea typeface="+mn-ea"/>
              </a:rPr>
              <a:t>承継機構（以下「弊社」といいます）が、対象会社の発行済株式の取得もしくは事業その他資産の譲受（以下「本取引」といいます）に関する仲介者として、対象会社から提供された情報に基づき、対象会社に関する情報を貴社に提供するために作成したものです。</a:t>
            </a:r>
          </a:p>
          <a:p>
            <a:pPr>
              <a:spcAft>
                <a:spcPts val="1800"/>
              </a:spcAft>
            </a:pPr>
            <a:r>
              <a:rPr lang="ja-JP" altLang="en-US" dirty="0">
                <a:ea typeface="+mn-ea"/>
              </a:rPr>
              <a:t>本概要書の存在及び記載されている情報並びに本概要書に関する全ての連絡・協議は貴社と弊社間で締結している秘密保持契約書（以下「秘密保持契約書」といいます）に定めのある秘密情報に該当致します。</a:t>
            </a:r>
          </a:p>
          <a:p>
            <a:pPr>
              <a:spcAft>
                <a:spcPts val="1800"/>
              </a:spcAft>
            </a:pPr>
            <a:r>
              <a:rPr lang="ja-JP" altLang="en-US" dirty="0">
                <a:ea typeface="+mn-ea"/>
              </a:rPr>
              <a:t>本概要書は、貴社が本取引を行うことを検討するための情報を提供することのみを目的として作成されておりますが、貴社が必要と考える全ての情報を網羅しているとは限りません。また、対象会社並びに弊社取締役、執行役員、監査役及び従業員（以下総称して「情報提供者」といいます）は、本概要書に記載されているいかなる情報及び意見に関しても、明示、黙示にかかわらず、その正確性及び完全性について表明または保証するものではありません。</a:t>
            </a:r>
          </a:p>
          <a:p>
            <a:pPr>
              <a:spcAft>
                <a:spcPts val="1800"/>
              </a:spcAft>
            </a:pPr>
            <a:r>
              <a:rPr lang="ja-JP" altLang="en-US" dirty="0">
                <a:ea typeface="+mn-ea"/>
              </a:rPr>
              <a:t>本概要書は必ずしも対象会社の現況をあらわしているものではなく、本概要書に記載されている日付または本概要書に記載されている情報の日付から、対象会社の状態が変化していないことを表明するものではありません。</a:t>
            </a:r>
          </a:p>
          <a:p>
            <a:pPr>
              <a:spcAft>
                <a:spcPts val="1800"/>
              </a:spcAft>
            </a:pPr>
            <a:r>
              <a:rPr lang="ja-JP" altLang="en-US" dirty="0">
                <a:ea typeface="+mn-ea"/>
              </a:rPr>
              <a:t>いかなる場合でも、本取引に関して、対象会社の役職員（元役職員を含む）及び取引先に対して、貴社及び貴社のアドバイザー等本取引に関与する者が直接、間接を問わずコンタクトをとることを禁止させていただくと共に、全てのご連絡は必ず弊社を介していただきますようお願い申し上げます。</a:t>
            </a:r>
          </a:p>
        </p:txBody>
      </p:sp>
    </p:spTree>
    <p:extLst>
      <p:ext uri="{BB962C8B-B14F-4D97-AF65-F5344CB8AC3E}">
        <p14:creationId xmlns:p14="http://schemas.microsoft.com/office/powerpoint/2010/main" val="2461943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2"/>
          <p:cNvSpPr txBox="1"/>
          <p:nvPr/>
        </p:nvSpPr>
        <p:spPr>
          <a:xfrm>
            <a:off x="6191813" y="2339371"/>
            <a:ext cx="4500000" cy="3570208"/>
          </a:xfrm>
          <a:prstGeom prst="rect">
            <a:avLst/>
          </a:prstGeom>
          <a:noFill/>
          <a:ln>
            <a:noFill/>
          </a:ln>
        </p:spPr>
        <p:txBody>
          <a:bodyPr spcFirstLastPara="1" wrap="square" lIns="0" tIns="0" rIns="0" bIns="0" anchor="t" anchorCtr="0">
            <a:spAutoFit/>
          </a:bodyPr>
          <a:lstStyle/>
          <a:p>
            <a:pPr>
              <a:lnSpc>
                <a:spcPct val="110000"/>
              </a:lnSpc>
              <a:spcAft>
                <a:spcPts val="2400"/>
              </a:spcAft>
              <a:buClr>
                <a:schemeClr val="dk1"/>
              </a:buClr>
              <a:buSzPts val="1400"/>
            </a:pPr>
            <a:r>
              <a:rPr lang="ja-JP" altLang="en-US" sz="2400" b="1" spc="70" dirty="0">
                <a:latin typeface="+mj-lt"/>
                <a:ea typeface="+mj-ea"/>
              </a:rPr>
              <a:t>エグゼクティブサマリー</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事業概要</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組織、拠点、設備等</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財務情報</a:t>
            </a:r>
            <a:endParaRPr lang="en-US" altLang="ja-JP" sz="2400" b="1" spc="70" dirty="0">
              <a:latin typeface="+mj-lt"/>
              <a:ea typeface="+mj-ea"/>
            </a:endParaRPr>
          </a:p>
          <a:p>
            <a:pPr>
              <a:lnSpc>
                <a:spcPct val="110000"/>
              </a:lnSpc>
              <a:spcAft>
                <a:spcPts val="2400"/>
              </a:spcAft>
              <a:buClr>
                <a:schemeClr val="dk1"/>
              </a:buClr>
              <a:buSzPts val="1400"/>
            </a:pPr>
            <a:r>
              <a:rPr lang="en-US" altLang="ja-JP" sz="2400" b="1" spc="70" dirty="0">
                <a:latin typeface="+mj-lt"/>
                <a:ea typeface="+mj-ea"/>
              </a:rPr>
              <a:t>Appendix</a:t>
            </a:r>
          </a:p>
        </p:txBody>
      </p:sp>
      <p:sp>
        <p:nvSpPr>
          <p:cNvPr id="6" name="正方形/長方形 5">
            <a:extLst>
              <a:ext uri="{FF2B5EF4-FFF2-40B4-BE49-F238E27FC236}">
                <a16:creationId xmlns:a16="http://schemas.microsoft.com/office/drawing/2014/main" id="{7237316E-451C-1CCC-A702-B2048F3BE5F0}"/>
              </a:ext>
            </a:extLst>
          </p:cNvPr>
          <p:cNvSpPr/>
          <p:nvPr/>
        </p:nvSpPr>
        <p:spPr>
          <a:xfrm>
            <a:off x="5624542" y="23535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1</a:t>
            </a:r>
            <a:endParaRPr kumimoji="1" lang="ja-JP" altLang="en-US" b="1" dirty="0">
              <a:latin typeface="+mj-lt"/>
            </a:endParaRPr>
          </a:p>
        </p:txBody>
      </p:sp>
      <p:sp>
        <p:nvSpPr>
          <p:cNvPr id="9" name="正方形/長方形 8">
            <a:extLst>
              <a:ext uri="{FF2B5EF4-FFF2-40B4-BE49-F238E27FC236}">
                <a16:creationId xmlns:a16="http://schemas.microsoft.com/office/drawing/2014/main" id="{DDB8E843-D87E-F66B-3884-439FB909A0A7}"/>
              </a:ext>
            </a:extLst>
          </p:cNvPr>
          <p:cNvSpPr/>
          <p:nvPr/>
        </p:nvSpPr>
        <p:spPr>
          <a:xfrm>
            <a:off x="5624542" y="306063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2</a:t>
            </a:r>
            <a:endParaRPr kumimoji="1" lang="ja-JP" altLang="en-US" b="1" dirty="0">
              <a:latin typeface="+mj-lt"/>
            </a:endParaRPr>
          </a:p>
        </p:txBody>
      </p:sp>
      <p:sp>
        <p:nvSpPr>
          <p:cNvPr id="10" name="正方形/長方形 9">
            <a:extLst>
              <a:ext uri="{FF2B5EF4-FFF2-40B4-BE49-F238E27FC236}">
                <a16:creationId xmlns:a16="http://schemas.microsoft.com/office/drawing/2014/main" id="{FF90FB9F-20F8-D38F-B8AF-4A631E224A11}"/>
              </a:ext>
            </a:extLst>
          </p:cNvPr>
          <p:cNvSpPr/>
          <p:nvPr/>
        </p:nvSpPr>
        <p:spPr>
          <a:xfrm>
            <a:off x="5624542" y="376770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3</a:t>
            </a:r>
            <a:endParaRPr kumimoji="1" lang="ja-JP" altLang="en-US" b="1" dirty="0">
              <a:latin typeface="+mj-lt"/>
            </a:endParaRPr>
          </a:p>
        </p:txBody>
      </p:sp>
      <p:sp>
        <p:nvSpPr>
          <p:cNvPr id="11" name="正方形/長方形 10">
            <a:extLst>
              <a:ext uri="{FF2B5EF4-FFF2-40B4-BE49-F238E27FC236}">
                <a16:creationId xmlns:a16="http://schemas.microsoft.com/office/drawing/2014/main" id="{A76F0F70-F53A-8481-50DF-B7EEDD0BEE06}"/>
              </a:ext>
            </a:extLst>
          </p:cNvPr>
          <p:cNvSpPr/>
          <p:nvPr/>
        </p:nvSpPr>
        <p:spPr>
          <a:xfrm>
            <a:off x="5624542" y="447478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4</a:t>
            </a:r>
            <a:endParaRPr kumimoji="1" lang="ja-JP" altLang="en-US" b="1" dirty="0">
              <a:latin typeface="+mj-lt"/>
            </a:endParaRPr>
          </a:p>
        </p:txBody>
      </p:sp>
      <p:sp>
        <p:nvSpPr>
          <p:cNvPr id="3" name="正方形/長方形 2">
            <a:extLst>
              <a:ext uri="{FF2B5EF4-FFF2-40B4-BE49-F238E27FC236}">
                <a16:creationId xmlns:a16="http://schemas.microsoft.com/office/drawing/2014/main" id="{DE430CD6-B78A-5CFE-3B87-B7F6C2A9CBEA}"/>
              </a:ext>
            </a:extLst>
          </p:cNvPr>
          <p:cNvSpPr/>
          <p:nvPr/>
        </p:nvSpPr>
        <p:spPr>
          <a:xfrm>
            <a:off x="5624542" y="51818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5</a:t>
            </a:r>
            <a:endParaRPr kumimoji="1" lang="ja-JP" altLang="en-US" b="1" dirty="0">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エグゼクティブサマリー</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5404063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8EF9F-B9BD-9E7E-BA2C-5A4B51173A7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780A147-C248-92F8-8F3F-25BD76E0BC3B}"/>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財務ハイライト（</a:t>
            </a:r>
            <a:r>
              <a:rPr lang="en-US" altLang="ja-JP" dirty="0">
                <a:latin typeface="游ゴシック" panose="020B0400000000000000" pitchFamily="50" charset="-128"/>
                <a:ea typeface="游ゴシック" panose="020B0400000000000000" pitchFamily="50" charset="-128"/>
              </a:rPr>
              <a:t>P/L</a:t>
            </a:r>
            <a:r>
              <a:rPr lang="ja-JP" altLang="en-US" dirty="0">
                <a:latin typeface="游ゴシック" panose="020B0400000000000000" pitchFamily="50" charset="-128"/>
                <a:ea typeface="游ゴシック" panose="020B0400000000000000" pitchFamily="50" charset="-128"/>
              </a:rPr>
              <a:t>）</a:t>
            </a:r>
          </a:p>
        </p:txBody>
      </p:sp>
      <p:sp>
        <p:nvSpPr>
          <p:cNvPr id="5" name="タイトル 1">
            <a:extLst>
              <a:ext uri="{FF2B5EF4-FFF2-40B4-BE49-F238E27FC236}">
                <a16:creationId xmlns:a16="http://schemas.microsoft.com/office/drawing/2014/main" id="{BE8912DE-7392-DA52-DCED-61F45ED11AC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エグゼクティブサマリー</a:t>
            </a:r>
          </a:p>
        </p:txBody>
      </p:sp>
      <p:sp>
        <p:nvSpPr>
          <p:cNvPr id="16" name="字幕 13">
            <a:extLst>
              <a:ext uri="{FF2B5EF4-FFF2-40B4-BE49-F238E27FC236}">
                <a16:creationId xmlns:a16="http://schemas.microsoft.com/office/drawing/2014/main" id="{7A1881B5-EF3F-935A-CE45-EAB497D19AED}"/>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売上高は35期357百万円から36期246百万円へ減少後、37期は279百万円へ回復。人件費・外注費・倉庫賃料など固定的な原価が大半を占め、3期連続で営業損失を計上。進行期（2か月）は営業損失△0.4百万円と縮小。</a:t>
            </a:r>
            <a:endParaRPr lang="en-US" altLang="ja-JP" dirty="0">
              <a:latin typeface="游ゴシック" panose="020B0400000000000000" pitchFamily="50" charset="-128"/>
              <a:ea typeface="游ゴシック" panose="020B0400000000000000" pitchFamily="50" charset="-128"/>
            </a:endParaRPr>
          </a:p>
        </p:txBody>
      </p:sp>
      <p:sp>
        <p:nvSpPr>
          <p:cNvPr id="2" name="正方形/長方形 1">
            <a:extLst>
              <a:ext uri="{FF2B5EF4-FFF2-40B4-BE49-F238E27FC236}">
                <a16:creationId xmlns:a16="http://schemas.microsoft.com/office/drawing/2014/main" id="{22D7A017-71F2-4035-677D-AF49C1C280D6}"/>
              </a:ext>
            </a:extLst>
          </p:cNvPr>
          <p:cNvSpPr/>
          <p:nvPr/>
        </p:nvSpPr>
        <p:spPr>
          <a:xfrm>
            <a:off x="6455664" y="5842000"/>
            <a:ext cx="3924999" cy="1301748"/>
          </a:xfrm>
          <a:prstGeom prst="rect">
            <a:avLst/>
          </a:prstGeom>
          <a:solidFill>
            <a:schemeClr val="accent2"/>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endParaRPr kumimoji="1" lang="en-US" altLang="ja-JP" sz="1200" b="1" dirty="0">
              <a:solidFill>
                <a:schemeClr val="tx1"/>
              </a:solidFill>
              <a:latin typeface="游ゴシック" panose="020B0400000000000000" pitchFamily="50" charset="-128"/>
              <a:ea typeface="游ゴシック" panose="020B0400000000000000" pitchFamily="50" charset="-128"/>
            </a:endParaRPr>
          </a:p>
        </p:txBody>
      </p:sp>
      <p:sp>
        <p:nvSpPr>
          <p:cNvPr id="8" name="正方形/長方形 7">
            <a:extLst>
              <a:ext uri="{FF2B5EF4-FFF2-40B4-BE49-F238E27FC236}">
                <a16:creationId xmlns:a16="http://schemas.microsoft.com/office/drawing/2014/main" id="{CBD334A9-999C-ACD4-9DD2-EF961CBA0926}"/>
              </a:ext>
            </a:extLst>
          </p:cNvPr>
          <p:cNvSpPr/>
          <p:nvPr/>
        </p:nvSpPr>
        <p:spPr>
          <a:xfrm>
            <a:off x="6455664" y="1610806"/>
            <a:ext cx="3924999" cy="4136615"/>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游ゴシック" panose="020B0400000000000000" pitchFamily="50" charset="-128"/>
                <a:ea typeface="游ゴシック" panose="020B0400000000000000" pitchFamily="50" charset="-128"/>
              </a:rPr>
              <a:t>Comment</a:t>
            </a:r>
            <a:endParaRPr kumimoji="1" lang="ja-JP" altLang="en-US" sz="1600" b="1" dirty="0">
              <a:solidFill>
                <a:schemeClr val="tx2"/>
              </a:solidFill>
              <a:latin typeface="游ゴシック" panose="020B0400000000000000" pitchFamily="50" charset="-128"/>
              <a:ea typeface="游ゴシック" panose="020B0400000000000000" pitchFamily="50" charset="-128"/>
            </a:endParaRPr>
          </a:p>
        </p:txBody>
      </p:sp>
      <p:sp>
        <p:nvSpPr>
          <p:cNvPr id="9" name="テキスト ボックス 8">
            <a:extLst>
              <a:ext uri="{FF2B5EF4-FFF2-40B4-BE49-F238E27FC236}">
                <a16:creationId xmlns:a16="http://schemas.microsoft.com/office/drawing/2014/main" id="{E5084622-1D6B-783F-80DE-6D9A498C7C12}"/>
              </a:ext>
            </a:extLst>
          </p:cNvPr>
          <p:cNvSpPr txBox="1"/>
          <p:nvPr/>
        </p:nvSpPr>
        <p:spPr>
          <a:xfrm>
            <a:off x="6455664" y="2169047"/>
            <a:ext cx="3912257" cy="3477875"/>
          </a:xfrm>
          <a:prstGeom prst="rect">
            <a:avLst/>
          </a:prstGeom>
          <a:noFill/>
        </p:spPr>
        <p:txBody>
          <a:bodyPr wrap="square" lIns="288000" tIns="0" rIns="252000" bIns="0" rtlCol="0">
            <a:spAutoFit/>
          </a:bodyPr>
          <a:lstStyle/>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≪売上高≫</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・36期は旧拠点の家主でもあった㈱ホンダロジスティクス向け取引の縮小・終了と、梱包外収入の減少（76→21百万円）により31%減収。</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・37期はDHL向け業務請負（新千歳の事務作業受託等）と鴻池運輸向け保税取扱の拡大により14%増収。</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≪売上総利益≫</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・原価の大半が賃金・外注費・倉庫賃料の固定的費用。36期は拠点移転・保税許可取得期で固定費が先行し売上総損失、37期は5.5百万円の黒字に回復。</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≪営業利益・経常利益≫</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・37期の営業損失は△11.0百万円。月次では△0.1～△2.3百万円で推移し、2025年10月は黒字。</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・35・36期の経常利益には立退解決金（各10百万円・非経常）を含む。</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≪見通し≫</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・倉庫・事務所賃料（月約2.2百万円、2029年4月まで定期転貸借）が固定費の中心。取扱量の拡大による固定費吸収が収益改善の鍵と想定。</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p:txBody>
      </p:sp>
      <p:sp>
        <p:nvSpPr>
          <p:cNvPr id="7" name="テキスト ボックス 6">
            <a:extLst>
              <a:ext uri="{FF2B5EF4-FFF2-40B4-BE49-F238E27FC236}">
                <a16:creationId xmlns:a16="http://schemas.microsoft.com/office/drawing/2014/main" id="{0F97EF78-0317-2D34-6B5B-762C46150F67}"/>
              </a:ext>
            </a:extLst>
          </p:cNvPr>
          <p:cNvSpPr txBox="1"/>
          <p:nvPr/>
        </p:nvSpPr>
        <p:spPr>
          <a:xfrm>
            <a:off x="6455664" y="5948868"/>
            <a:ext cx="3912257" cy="1100301"/>
          </a:xfrm>
          <a:prstGeom prst="rect">
            <a:avLst/>
          </a:prstGeom>
          <a:noFill/>
        </p:spPr>
        <p:txBody>
          <a:bodyPr wrap="square" lIns="288000" tIns="0" rIns="252000" bIns="0" rtlCol="0">
            <a:spAutoFit/>
          </a:bodyPr>
          <a:lstStyle/>
          <a:p>
            <a:pPr>
              <a:spcAft>
                <a:spcPts val="300"/>
              </a:spcAft>
            </a:pPr>
            <a:r>
              <a:rPr lang="en-US" altLang="ja-JP" sz="750" b="1" dirty="0">
                <a:solidFill>
                  <a:sysClr val="windowText" lastClr="000000"/>
                </a:solidFill>
                <a:latin typeface="游ゴシック" panose="020B0400000000000000" pitchFamily="50" charset="-128"/>
                <a:ea typeface="游ゴシック" panose="020B0400000000000000" pitchFamily="50" charset="-128"/>
              </a:rPr>
              <a:t>【調整項目】</a:t>
            </a:r>
          </a:p>
          <a:p>
            <a:pPr>
              <a:spcAft>
                <a:spcPts val="300"/>
              </a:spcAft>
            </a:pPr>
            <a:r>
              <a:rPr lang="en-US" altLang="ja-JP" sz="750" b="1" dirty="0">
                <a:solidFill>
                  <a:sysClr val="windowText" lastClr="000000"/>
                </a:solidFill>
                <a:latin typeface="游ゴシック" panose="020B0400000000000000" pitchFamily="50" charset="-128"/>
                <a:ea typeface="游ゴシック" panose="020B0400000000000000" pitchFamily="50" charset="-128"/>
              </a:rPr>
              <a:t>≪経常的雑収入≫ 鉄屑売却収入（毎期0.6～0.8百万円）を営業収益に加算</a:t>
            </a:r>
          </a:p>
          <a:p>
            <a:pPr>
              <a:spcAft>
                <a:spcPts val="300"/>
              </a:spcAft>
            </a:pPr>
            <a:r>
              <a:rPr lang="en-US" altLang="ja-JP" sz="750" b="1" dirty="0">
                <a:solidFill>
                  <a:sysClr val="windowText" lastClr="000000"/>
                </a:solidFill>
                <a:latin typeface="游ゴシック" panose="020B0400000000000000" pitchFamily="50" charset="-128"/>
                <a:ea typeface="游ゴシック" panose="020B0400000000000000" pitchFamily="50" charset="-128"/>
              </a:rPr>
              <a:t>≪二重賃料≫ 36期の旧拠点賃料1.2百万円（移転後は発生せず）を加算</a:t>
            </a:r>
          </a:p>
          <a:p>
            <a:pPr>
              <a:spcAft>
                <a:spcPts val="300"/>
              </a:spcAft>
            </a:pPr>
            <a:r>
              <a:rPr lang="en-US" altLang="ja-JP" sz="750" b="1" dirty="0">
                <a:solidFill>
                  <a:srgbClr val="0B3041"/>
                </a:solidFill>
                <a:latin typeface="游ゴシック" panose="020B0400000000000000" pitchFamily="50" charset="-128"/>
                <a:ea typeface="游ゴシック" panose="020B0400000000000000" pitchFamily="50" charset="-128"/>
              </a:rPr>
              <a:t>✓ 調整後EBITDA（26年5月期）は△9.5百万円</a:t>
            </a:r>
          </a:p>
        </p:txBody>
      </p:sp>
      <p:graphicFrame>
        <p:nvGraphicFramePr>
          <p:cNvPr id="17" name="Table 16"/>
          <p:cNvGraphicFramePr>
            <a:graphicFrameLocks noGrp="1"/>
          </p:cNvGraphicFramePr>
          <p:nvPr/>
        </p:nvGraphicFramePr>
        <p:xfrm>
          <a:off x="310896" y="1481328"/>
          <a:ext cx="5943600" cy="4498848"/>
        </p:xfrm>
        <a:graphic>
          <a:graphicData uri="http://schemas.openxmlformats.org/drawingml/2006/table">
            <a:tbl>
              <a:tblPr firstRow="0" bandRow="0" firstCol="0" lastRow="0" lastCol="0" bandCol="0"/>
              <a:tblGrid>
                <a:gridCol w="1600200"/>
                <a:gridCol w="1051560"/>
                <a:gridCol w="1051560"/>
                <a:gridCol w="1051560"/>
                <a:gridCol w="1188720"/>
              </a:tblGrid>
              <a:tr h="384048">
                <a:tc>
                  <a:txBody>
                    <a:bodyPr wrap="square"/>
                    <a:lstStyle/>
                    <a:p>
                      <a:pPr algn="ctr"/>
                      <a:r>
                        <a:rPr sz="950" b="1">
                          <a:solidFill>
                            <a:srgbClr val="FFFFFF"/>
                          </a:solidFill>
                          <a:latin typeface="游ゴシック"/>
                          <a:ea typeface="游ゴシック"/>
                        </a:rPr>
                        <a:t>(単位：千円)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24年5月期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25年5月期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26年5月期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進行期</a:t>
                      </a:r>
                    </a:p>
                    <a:p>
                      <a:pPr algn="ctr"/>
                      <a:r>
                        <a:rPr sz="950" b="1">
                          <a:solidFill>
                            <a:srgbClr val="FFFFFF"/>
                          </a:solidFill>
                          <a:latin typeface="游ゴシック"/>
                          <a:ea typeface="游ゴシック"/>
                        </a:rPr>
                        <a:t>（26年6～7月）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74320">
                <a:tc>
                  <a:txBody>
                    <a:bodyPr wrap="square"/>
                    <a:lstStyle/>
                    <a:p>
                      <a:pPr algn="l"/>
                      <a:r>
                        <a:rPr sz="950" b="0">
                          <a:solidFill>
                            <a:srgbClr val="000000"/>
                          </a:solidFill>
                          <a:latin typeface="游ゴシック"/>
                          <a:ea typeface="游ゴシック"/>
                        </a:rPr>
                        <a:t>売上高</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357,115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245,854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279,294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54,442</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00" b="0" i="1">
                          <a:solidFill>
                            <a:srgbClr val="000000"/>
                          </a:solidFill>
                          <a:latin typeface="游ゴシック"/>
                          <a:ea typeface="游ゴシック"/>
                        </a:rPr>
                        <a:t>前期比</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68.8%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113.6%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売上総利益</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4,039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△18,897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5,504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2,105</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00" b="0" i="1">
                          <a:solidFill>
                            <a:srgbClr val="000000"/>
                          </a:solidFill>
                          <a:latin typeface="游ゴシック"/>
                          <a:ea typeface="游ゴシック"/>
                        </a:rPr>
                        <a:t>利益率</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1.1%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△7.7%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2.0%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3.9%</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営業利益</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△15,143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△38,607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△11,000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△389</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00" b="0" i="1">
                          <a:solidFill>
                            <a:srgbClr val="000000"/>
                          </a:solidFill>
                          <a:latin typeface="游ゴシック"/>
                          <a:ea typeface="游ゴシック"/>
                        </a:rPr>
                        <a:t>利益率</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△4.2%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△15.7%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△3.9%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△0.7%</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経常利益</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△4,410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△28,279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△11,262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△285</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00" b="0" i="1">
                          <a:solidFill>
                            <a:srgbClr val="000000"/>
                          </a:solidFill>
                          <a:latin typeface="游ゴシック"/>
                          <a:ea typeface="游ゴシック"/>
                        </a:rPr>
                        <a:t>利益率</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△1.2%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△11.5%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△4.0%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△0.5%</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当期純利益</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△4,480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△28,349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△11,332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△285</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00" b="0" i="1">
                          <a:solidFill>
                            <a:srgbClr val="000000"/>
                          </a:solidFill>
                          <a:latin typeface="游ゴシック"/>
                          <a:ea typeface="游ゴシック"/>
                        </a:rPr>
                        <a:t>利益率</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△1.3%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△11.5%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△4.1%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i="1">
                          <a:solidFill>
                            <a:srgbClr val="000000"/>
                          </a:solidFill>
                          <a:latin typeface="Arial"/>
                          <a:ea typeface="游ゴシック Medium"/>
                        </a:rPr>
                        <a:t>△0.5%</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減価償却費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555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1,507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835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調整項目 合計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731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2,017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615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221</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経常的雑収入（鉄屑売却）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731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812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615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221</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移転前拠点の二重賃料</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1,205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1">
                          <a:solidFill>
                            <a:srgbClr val="000000"/>
                          </a:solidFill>
                          <a:latin typeface="游ゴシック"/>
                          <a:ea typeface="游ゴシック"/>
                        </a:rPr>
                        <a:t>調整後EBITDA</a:t>
                      </a:r>
                    </a:p>
                  </a:txBody>
                  <a:tcPr marL="45720" marR="45720" marT="9144" marB="9144" anchor="ctr">
                    <a:lnL>
                      <a:noFill/>
                    </a:lnL>
                    <a:lnR>
                      <a:noFill/>
                    </a:lnR>
                    <a:lnT>
                      <a:noFill/>
                    </a:lnT>
                    <a:lnB w="6350" cap="flat" cmpd="sng" algn="ctr">
                      <a:solidFill>
                        <a:srgbClr val="A6A6A6"/>
                      </a:solidFill>
                      <a:prstDash val="solid"/>
                    </a:lnB>
                    <a:solidFill>
                      <a:srgbClr val="E1F3FB"/>
                    </a:solidFill>
                  </a:tcPr>
                </a:tc>
                <a:tc>
                  <a:txBody>
                    <a:bodyPr wrap="square"/>
                    <a:lstStyle/>
                    <a:p>
                      <a:pPr algn="r"/>
                      <a:r>
                        <a:rPr sz="950" b="1">
                          <a:solidFill>
                            <a:srgbClr val="000000"/>
                          </a:solidFill>
                          <a:latin typeface="Arial"/>
                          <a:ea typeface="游ゴシック Medium"/>
                        </a:rPr>
                        <a:t>△13,856</a:t>
                      </a:r>
                    </a:p>
                  </a:txBody>
                  <a:tcPr marL="45720" marR="45720" marT="9144" marB="9144" anchor="ctr">
                    <a:lnL>
                      <a:noFill/>
                    </a:lnL>
                    <a:lnR>
                      <a:noFill/>
                    </a:lnR>
                    <a:lnT>
                      <a:noFill/>
                    </a:lnT>
                    <a:lnB w="6350" cap="flat" cmpd="sng" algn="ctr">
                      <a:solidFill>
                        <a:srgbClr val="A6A6A6"/>
                      </a:solidFill>
                      <a:prstDash val="solid"/>
                    </a:lnB>
                    <a:solidFill>
                      <a:srgbClr val="E1F3FB"/>
                    </a:solidFill>
                  </a:tcPr>
                </a:tc>
                <a:tc>
                  <a:txBody>
                    <a:bodyPr wrap="square"/>
                    <a:lstStyle/>
                    <a:p>
                      <a:pPr algn="r"/>
                      <a:r>
                        <a:rPr sz="950" b="1">
                          <a:solidFill>
                            <a:srgbClr val="000000"/>
                          </a:solidFill>
                          <a:latin typeface="Arial"/>
                          <a:ea typeface="游ゴシック Medium"/>
                        </a:rPr>
                        <a:t>△35,083</a:t>
                      </a:r>
                    </a:p>
                  </a:txBody>
                  <a:tcPr marL="45720" marR="45720" marT="9144" marB="9144" anchor="ctr">
                    <a:lnL>
                      <a:noFill/>
                    </a:lnL>
                    <a:lnR>
                      <a:noFill/>
                    </a:lnR>
                    <a:lnT>
                      <a:noFill/>
                    </a:lnT>
                    <a:lnB w="6350" cap="flat" cmpd="sng" algn="ctr">
                      <a:solidFill>
                        <a:srgbClr val="A6A6A6"/>
                      </a:solidFill>
                      <a:prstDash val="solid"/>
                    </a:lnB>
                    <a:solidFill>
                      <a:srgbClr val="E1F3FB"/>
                    </a:solidFill>
                  </a:tcPr>
                </a:tc>
                <a:tc>
                  <a:txBody>
                    <a:bodyPr wrap="square"/>
                    <a:lstStyle/>
                    <a:p>
                      <a:pPr algn="r"/>
                      <a:r>
                        <a:rPr sz="950" b="1">
                          <a:solidFill>
                            <a:srgbClr val="000000"/>
                          </a:solidFill>
                          <a:latin typeface="Arial"/>
                          <a:ea typeface="游ゴシック Medium"/>
                        </a:rPr>
                        <a:t>△9,549</a:t>
                      </a:r>
                    </a:p>
                  </a:txBody>
                  <a:tcPr marL="45720" marR="45720" marT="9144" marB="9144" anchor="ctr">
                    <a:lnL>
                      <a:noFill/>
                    </a:lnL>
                    <a:lnR>
                      <a:noFill/>
                    </a:lnR>
                    <a:lnT>
                      <a:noFill/>
                    </a:lnT>
                    <a:lnB w="6350" cap="flat" cmpd="sng" algn="ctr">
                      <a:solidFill>
                        <a:srgbClr val="A6A6A6"/>
                      </a:solidFill>
                      <a:prstDash val="solid"/>
                    </a:lnB>
                    <a:solidFill>
                      <a:srgbClr val="E1F3FB"/>
                    </a:solidFill>
                  </a:tcPr>
                </a:tc>
                <a:tc>
                  <a:txBody>
                    <a:bodyPr wrap="square"/>
                    <a:lstStyle/>
                    <a:p>
                      <a:pPr algn="r"/>
                      <a:r>
                        <a:rPr sz="950" b="1">
                          <a:solidFill>
                            <a:srgbClr val="000000"/>
                          </a:solidFill>
                          <a:latin typeface="Arial"/>
                          <a:ea typeface="游ゴシック Medium"/>
                        </a:rPr>
                        <a:t>△169</a:t>
                      </a:r>
                    </a:p>
                  </a:txBody>
                  <a:tcPr marL="45720" marR="45720" marT="9144" marB="9144" anchor="ctr">
                    <a:lnL>
                      <a:noFill/>
                    </a:lnL>
                    <a:lnR>
                      <a:noFill/>
                    </a:lnR>
                    <a:lnT>
                      <a:noFill/>
                    </a:lnT>
                    <a:lnB w="6350" cap="flat" cmpd="sng" algn="ctr">
                      <a:solidFill>
                        <a:srgbClr val="A6A6A6"/>
                      </a:solidFill>
                      <a:prstDash val="solid"/>
                    </a:lnB>
                    <a:solidFill>
                      <a:srgbClr val="E1F3FB"/>
                    </a:solidFill>
                  </a:tcPr>
                </a:tc>
              </a:tr>
            </a:tbl>
          </a:graphicData>
        </a:graphic>
      </p:graphicFrame>
      <p:sp>
        <p:nvSpPr>
          <p:cNvPr id="18" name="Rectangle 17"/>
          <p:cNvSpPr/>
          <p:nvPr/>
        </p:nvSpPr>
        <p:spPr>
          <a:xfrm>
            <a:off x="310896" y="6355080"/>
            <a:ext cx="60350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750" b="0">
                <a:solidFill>
                  <a:srgbClr val="000000"/>
                </a:solidFill>
                <a:latin typeface="游ゴシック Medium"/>
                <a:ea typeface="游ゴシック Medium"/>
              </a:rPr>
              <a:t>※調整後EBITDA＝営業利益＋減価償却費（販管費＋製造原価）＋調整項目（経常的雑収入の加算・移転前拠点の二重賃料の控除）。</a:t>
            </a:r>
          </a:p>
          <a:p>
            <a:pPr algn="l"/>
            <a:r>
              <a:rPr sz="750" b="0">
                <a:solidFill>
                  <a:srgbClr val="000000"/>
                </a:solidFill>
                <a:latin typeface="游ゴシック Medium"/>
                <a:ea typeface="游ゴシック Medium"/>
              </a:rPr>
              <a:t>※進行期は2026年6～7月の試算表（2か月）。36期は総勘定元帳から集計（決算書との差額は千円未満）。</a:t>
            </a:r>
          </a:p>
        </p:txBody>
      </p:sp>
    </p:spTree>
    <p:extLst>
      <p:ext uri="{BB962C8B-B14F-4D97-AF65-F5344CB8AC3E}">
        <p14:creationId xmlns:p14="http://schemas.microsoft.com/office/powerpoint/2010/main" val="30165897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25D46-8BE9-D21F-8F78-292CE6E9B929}"/>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AA39DD4-3E77-6023-715D-76F64D8C46A7}"/>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財務ハイライト（</a:t>
            </a:r>
            <a:r>
              <a:rPr lang="en-US" altLang="ja-JP" dirty="0">
                <a:latin typeface="游ゴシック" panose="020B0400000000000000" pitchFamily="50" charset="-128"/>
                <a:ea typeface="游ゴシック" panose="020B0400000000000000" pitchFamily="50" charset="-128"/>
              </a:rPr>
              <a:t>B/S</a:t>
            </a:r>
            <a:r>
              <a:rPr lang="ja-JP" altLang="en-US" dirty="0">
                <a:latin typeface="游ゴシック" panose="020B0400000000000000" pitchFamily="50" charset="-128"/>
                <a:ea typeface="游ゴシック" panose="020B0400000000000000" pitchFamily="50" charset="-128"/>
              </a:rPr>
              <a:t>）</a:t>
            </a:r>
          </a:p>
        </p:txBody>
      </p:sp>
      <p:sp>
        <p:nvSpPr>
          <p:cNvPr id="5" name="タイトル 1">
            <a:extLst>
              <a:ext uri="{FF2B5EF4-FFF2-40B4-BE49-F238E27FC236}">
                <a16:creationId xmlns:a16="http://schemas.microsoft.com/office/drawing/2014/main" id="{393BEF8A-36B7-CC08-2D29-C971912378C9}"/>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エグゼクティブサマリー</a:t>
            </a:r>
          </a:p>
        </p:txBody>
      </p:sp>
      <p:sp>
        <p:nvSpPr>
          <p:cNvPr id="11" name="字幕 13">
            <a:extLst>
              <a:ext uri="{FF2B5EF4-FFF2-40B4-BE49-F238E27FC236}">
                <a16:creationId xmlns:a16="http://schemas.microsoft.com/office/drawing/2014/main" id="{4BDEA35E-AAC5-A70B-357F-0FB600B4A83F}"/>
              </a:ext>
            </a:extLst>
          </p:cNvPr>
          <p:cNvSpPr>
            <a:spLocks noGrp="1"/>
          </p:cNvSpPr>
          <p:nvPr>
            <p:ph type="subTitle" idx="1"/>
          </p:nvPr>
        </p:nvSpPr>
        <p:spPr>
          <a:xfrm>
            <a:off x="460675" y="830046"/>
            <a:ext cx="9781875" cy="801343"/>
          </a:xfrm>
        </p:spPr>
        <p:txBody>
          <a:bodyPr>
            <a:noAutofit/>
          </a:bodyPr>
          <a:lstStyle/>
          <a:p>
            <a:r>
              <a:rPr lang="ja-JP" altLang="en-US" dirty="0">
                <a:latin typeface="游ゴシック" panose="020B0400000000000000" pitchFamily="50" charset="-128"/>
                <a:ea typeface="游ゴシック" panose="020B0400000000000000" pitchFamily="50" charset="-128"/>
              </a:rPr>
              <a:t>不動産は保有せず、主な資産は請負未収金（28百万円）と賃借倉庫の敷金・保税蔵置場の内装設備。借入金33百万円に対し純資産は△11.6百万円の債務超過（繰越損失によるもの）。</a:t>
            </a:r>
            <a:endParaRPr lang="en-US" altLang="ja-JP" dirty="0">
              <a:latin typeface="游ゴシック" panose="020B0400000000000000" pitchFamily="50" charset="-128"/>
              <a:ea typeface="游ゴシック" panose="020B0400000000000000" pitchFamily="50" charset="-128"/>
            </a:endParaRPr>
          </a:p>
        </p:txBody>
      </p:sp>
      <p:sp>
        <p:nvSpPr>
          <p:cNvPr id="2" name="正方形/長方形 1">
            <a:extLst>
              <a:ext uri="{FF2B5EF4-FFF2-40B4-BE49-F238E27FC236}">
                <a16:creationId xmlns:a16="http://schemas.microsoft.com/office/drawing/2014/main" id="{612EABB3-CE7D-61AA-49A7-0C5A39CB2F7F}"/>
              </a:ext>
            </a:extLst>
          </p:cNvPr>
          <p:cNvSpPr/>
          <p:nvPr/>
        </p:nvSpPr>
        <p:spPr>
          <a:xfrm>
            <a:off x="5559668" y="1714131"/>
            <a:ext cx="4790832" cy="5296269"/>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游ゴシック" panose="020B0400000000000000" pitchFamily="50" charset="-128"/>
                <a:ea typeface="游ゴシック" panose="020B0400000000000000" pitchFamily="50" charset="-128"/>
              </a:rPr>
              <a:t>Comment</a:t>
            </a:r>
            <a:endParaRPr kumimoji="1" lang="ja-JP" altLang="en-US" sz="1600" b="1" dirty="0">
              <a:solidFill>
                <a:schemeClr val="tx2"/>
              </a:solidFill>
              <a:latin typeface="游ゴシック" panose="020B0400000000000000" pitchFamily="50" charset="-128"/>
              <a:ea typeface="游ゴシック" panose="020B0400000000000000" pitchFamily="50" charset="-128"/>
            </a:endParaRPr>
          </a:p>
        </p:txBody>
      </p:sp>
      <p:sp>
        <p:nvSpPr>
          <p:cNvPr id="16" name="テキスト ボックス 15">
            <a:extLst>
              <a:ext uri="{FF2B5EF4-FFF2-40B4-BE49-F238E27FC236}">
                <a16:creationId xmlns:a16="http://schemas.microsoft.com/office/drawing/2014/main" id="{628CFE76-679D-C90B-1E19-B26DADCE4A7F}"/>
              </a:ext>
            </a:extLst>
          </p:cNvPr>
          <p:cNvSpPr txBox="1"/>
          <p:nvPr/>
        </p:nvSpPr>
        <p:spPr>
          <a:xfrm>
            <a:off x="5703189" y="2329719"/>
            <a:ext cx="4539361" cy="4593565"/>
          </a:xfrm>
          <a:prstGeom prst="rect">
            <a:avLst/>
          </a:prstGeom>
          <a:noFill/>
        </p:spPr>
        <p:txBody>
          <a:bodyPr wrap="square" lIns="288000" tIns="0" rIns="252000" bIns="0" rtlCol="0">
            <a:spAutoFit/>
          </a:bodyPr>
          <a:lstStyle/>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≪流動資産≫</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・請負未収金28,452千円：Littelfuse 7,245千円、航空集配6,524千円、三徳運輸6,473千円、DHL 5,295千円等。翌月末回収。</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≪固定資産≫</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・建物付属設備6,928千円：2024年8月の本店移転時に施工した保税蔵置場の内装（賃借物件内の造作）。</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・敷金5,754千円：航空集配サービス㈱（倉庫・事務所の転貸人）への預託。返還は原状回復後。</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≪負債≫</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・長期借入金32,638千円：佐原信用金庫15,478千円、日本政策金融公庫17,160千円（代表者連帯保証）。</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・未払金22,987千円には社会保険料・労働保険料8,477千円を含む（延滞分の有無は要確認）。</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≪純資産≫</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・簿価純資産△11,563千円。電話加入権・長期前払費用をゼロ評価した時価純資産は△12,586千円。</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・2026年9月30日に短期借入3,000千円を実行（基準日後）。</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p:txBody>
      </p:sp>
      <p:graphicFrame>
        <p:nvGraphicFramePr>
          <p:cNvPr id="17" name="Table 16"/>
          <p:cNvGraphicFramePr>
            <a:graphicFrameLocks noGrp="1"/>
          </p:cNvGraphicFramePr>
          <p:nvPr/>
        </p:nvGraphicFramePr>
        <p:xfrm>
          <a:off x="338328" y="1463040"/>
          <a:ext cx="4937760" cy="4937760"/>
        </p:xfrm>
        <a:graphic>
          <a:graphicData uri="http://schemas.openxmlformats.org/drawingml/2006/table">
            <a:tbl>
              <a:tblPr firstRow="0" bandRow="0" firstCol="0" lastRow="0" lastCol="0" bandCol="0"/>
              <a:tblGrid>
                <a:gridCol w="1600200"/>
                <a:gridCol w="868680"/>
                <a:gridCol w="1600200"/>
                <a:gridCol w="868680"/>
              </a:tblGrid>
              <a:tr h="274320">
                <a:tc>
                  <a:txBody>
                    <a:bodyPr wrap="square"/>
                    <a:lstStyle/>
                    <a:p>
                      <a:pPr algn="ctr"/>
                      <a:r>
                        <a:rPr sz="950" b="1">
                          <a:solidFill>
                            <a:srgbClr val="FFFFFF"/>
                          </a:solidFill>
                          <a:latin typeface="游ゴシック"/>
                          <a:ea typeface="游ゴシック"/>
                        </a:rPr>
                        <a:t>26年5月期末</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　</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　</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(単位：千円)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74320">
                <a:tc>
                  <a:txBody>
                    <a:bodyPr wrap="square"/>
                    <a:lstStyle/>
                    <a:p>
                      <a:pPr algn="l"/>
                      <a:r>
                        <a:rPr sz="950" b="0">
                          <a:solidFill>
                            <a:srgbClr val="000000"/>
                          </a:solidFill>
                          <a:latin typeface="游ゴシック"/>
                          <a:ea typeface="游ゴシック"/>
                        </a:rPr>
                        <a:t>流動資産</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38,983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流動負債</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32,247</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現預金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4,903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未払金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22,987</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請負未収金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28,452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未払費用</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6,949</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貯蔵品（梱包資材）</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3,270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未払法人税等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70</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短期貸付金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未払消費税等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2,227</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前払費用</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2,294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預り金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15</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その他</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65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その他</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固定資産</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14,338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固定負債</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32,638</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建物付属設備</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6,928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長期借入金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32,638</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機械装置・車両・器具備品</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480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　</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建物・構築物</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103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その他</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電話加入権</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119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負債合計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64,885</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出資金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　</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長期前払費用</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904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資本金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10,000</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敷金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5,754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利益剰余金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△21,563</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その他</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純資産合計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△11,563</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950" b="0">
                          <a:solidFill>
                            <a:srgbClr val="000000"/>
                          </a:solidFill>
                          <a:latin typeface="游ゴシック"/>
                          <a:ea typeface="游ゴシック"/>
                        </a:rPr>
                        <a:t>資産合計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53,321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負債・純資産合計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53,321</a:t>
                      </a:r>
                    </a:p>
                  </a:txBody>
                  <a:tcPr marL="45720" marR="45720" marT="9144" marB="9144" anchor="ctr">
                    <a:lnL>
                      <a:noFill/>
                    </a:lnL>
                    <a:lnR>
                      <a:noFill/>
                    </a:lnR>
                    <a:lnT>
                      <a:noFill/>
                    </a:lnT>
                    <a:lnB w="6350" cap="flat" cmpd="sng" algn="ctr">
                      <a:solidFill>
                        <a:srgbClr val="A6A6A6"/>
                      </a:solidFill>
                      <a:prstDash val="solid"/>
                    </a:lnB>
                    <a:noFill/>
                  </a:tcPr>
                </a:tc>
              </a:tr>
            </a:tbl>
          </a:graphicData>
        </a:graphic>
      </p:graphicFrame>
      <p:sp>
        <p:nvSpPr>
          <p:cNvPr id="18" name="Rectangle 17"/>
          <p:cNvSpPr/>
          <p:nvPr/>
        </p:nvSpPr>
        <p:spPr>
          <a:xfrm>
            <a:off x="310896" y="6967728"/>
            <a:ext cx="10040112"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※金額は千円未満を四捨五入しているため合計が一致しない場合があります。</a:t>
            </a:r>
          </a:p>
        </p:txBody>
      </p:sp>
    </p:spTree>
    <p:extLst>
      <p:ext uri="{BB962C8B-B14F-4D97-AF65-F5344CB8AC3E}">
        <p14:creationId xmlns:p14="http://schemas.microsoft.com/office/powerpoint/2010/main" val="40303346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7" name="タイトル 6">
            <a:extLst>
              <a:ext uri="{FF2B5EF4-FFF2-40B4-BE49-F238E27FC236}">
                <a16:creationId xmlns:a16="http://schemas.microsoft.com/office/drawing/2014/main" id="{5297D612-8E56-9402-459F-FE068C2C5D1A}"/>
              </a:ext>
            </a:extLst>
          </p:cNvPr>
          <p:cNvSpPr>
            <a:spLocks noGrp="1"/>
          </p:cNvSpPr>
          <p:nvPr>
            <p:ph type="ctrTitle"/>
          </p:nvPr>
        </p:nvSpPr>
        <p:spPr>
          <a:xfrm>
            <a:off x="341313" y="180296"/>
            <a:ext cx="7799917" cy="339267"/>
          </a:xfrm>
        </p:spPr>
        <p:txBody>
          <a:bodyPr/>
          <a:lstStyle/>
          <a:p>
            <a:r>
              <a:rPr lang="zh-CN" altLang="en-US" dirty="0"/>
              <a:t>譲渡希望条件</a:t>
            </a:r>
          </a:p>
        </p:txBody>
      </p:sp>
      <p:sp>
        <p:nvSpPr>
          <p:cNvPr id="9" name="タイトル 1">
            <a:extLst>
              <a:ext uri="{FF2B5EF4-FFF2-40B4-BE49-F238E27FC236}">
                <a16:creationId xmlns:a16="http://schemas.microsoft.com/office/drawing/2014/main" id="{203C135E-3923-6D8E-447A-FF4DC0536B9B}"/>
              </a:ext>
            </a:extLst>
          </p:cNvPr>
          <p:cNvSpPr txBox="1">
            <a:spLocks/>
          </p:cNvSpPr>
          <p:nvPr/>
        </p:nvSpPr>
        <p:spPr>
          <a:xfrm>
            <a:off x="8366333" y="252154"/>
            <a:ext cx="1984167" cy="184666"/>
          </a:xfrm>
          <a:prstGeom prst="rect">
            <a:avLst/>
          </a:prstGeom>
        </p:spPr>
        <p:txBody>
          <a:bodyPr vert="horz" lIns="0" tIns="0" rIns="0" bIns="0" rtlCol="0" anchor="ctr">
            <a:spAutoFit/>
          </a:bodyPr>
          <a:lstStyle>
            <a:defPPr marR="0" lvl="0" algn="l" rtl="0">
              <a:lnSpc>
                <a:spcPct val="100000"/>
              </a:lnSpc>
              <a:spcBef>
                <a:spcPts val="0"/>
              </a:spcBef>
              <a:spcAft>
                <a:spcPts val="0"/>
              </a:spcAft>
              <a:defRPr/>
            </a:defPPr>
            <a:lvl1pPr algn="r" defTabSz="914400" eaLnBrk="1" latinLnBrk="0" hangingPunct="1">
              <a:spcBef>
                <a:spcPct val="0"/>
              </a:spcBef>
              <a:buClr>
                <a:schemeClr val="bg1"/>
              </a:buClr>
              <a:buNone/>
              <a:defRPr kumimoji="1" sz="1200" b="1" kern="1200" spc="55">
                <a:solidFill>
                  <a:schemeClr val="bg1"/>
                </a:solidFill>
                <a:latin typeface="+mj-lt"/>
                <a:ea typeface="+mj-ea"/>
                <a:cs typeface="+mj-cs"/>
              </a:defRPr>
            </a:lvl1pPr>
          </a:lstStyle>
          <a:p>
            <a:r>
              <a:rPr lang="ja-JP" altLang="en-US" spc="0" dirty="0"/>
              <a:t>　エグゼクティブサマリー</a:t>
            </a:r>
          </a:p>
        </p:txBody>
      </p:sp>
      <p:sp>
        <p:nvSpPr>
          <p:cNvPr id="18" name="正方形/長方形 17">
            <a:extLst>
              <a:ext uri="{FF2B5EF4-FFF2-40B4-BE49-F238E27FC236}">
                <a16:creationId xmlns:a16="http://schemas.microsoft.com/office/drawing/2014/main" id="{77AE94F8-D910-3328-173F-F4A99716CFE7}"/>
              </a:ext>
            </a:extLst>
          </p:cNvPr>
          <p:cNvSpPr/>
          <p:nvPr/>
        </p:nvSpPr>
        <p:spPr>
          <a:xfrm>
            <a:off x="449262" y="1225957"/>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2" name="直線コネクタ 21">
            <a:extLst>
              <a:ext uri="{FF2B5EF4-FFF2-40B4-BE49-F238E27FC236}">
                <a16:creationId xmlns:a16="http://schemas.microsoft.com/office/drawing/2014/main" id="{1928CBFA-2EBE-A608-C5BF-40E5AFFAF1AD}"/>
              </a:ext>
            </a:extLst>
          </p:cNvPr>
          <p:cNvCxnSpPr>
            <a:cxnSpLocks/>
          </p:cNvCxnSpPr>
          <p:nvPr/>
        </p:nvCxnSpPr>
        <p:spPr>
          <a:xfrm>
            <a:off x="3133558" y="1349963"/>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FFFB131C-8535-2A88-A3C8-FF60589D2A11}"/>
              </a:ext>
            </a:extLst>
          </p:cNvPr>
          <p:cNvSpPr txBox="1"/>
          <p:nvPr/>
        </p:nvSpPr>
        <p:spPr>
          <a:xfrm>
            <a:off x="3151380" y="1703936"/>
            <a:ext cx="7074659" cy="338554"/>
          </a:xfrm>
          <a:prstGeom prst="rect">
            <a:avLst/>
          </a:prstGeom>
          <a:noFill/>
        </p:spPr>
        <p:txBody>
          <a:bodyPr wrap="square" lIns="1440000" tIns="0" rIns="0" bIns="0" rtlCol="0" anchor="ctr">
            <a:spAutoFit/>
          </a:bodyPr>
          <a:lstStyle/>
          <a:p>
            <a:r>
              <a:rPr lang="ja-JP" altLang="en-US" sz="2200" b="1" spc="50" dirty="0">
                <a:solidFill>
                  <a:schemeClr val="dk1"/>
                </a:solidFill>
                <a:latin typeface="+mj-ea"/>
                <a:ea typeface="+mj-ea"/>
              </a:rPr>
              <a:t>株式100％譲渡</a:t>
            </a:r>
          </a:p>
        </p:txBody>
      </p:sp>
      <p:sp>
        <p:nvSpPr>
          <p:cNvPr id="23" name="正方形/長方形 22">
            <a:extLst>
              <a:ext uri="{FF2B5EF4-FFF2-40B4-BE49-F238E27FC236}">
                <a16:creationId xmlns:a16="http://schemas.microsoft.com/office/drawing/2014/main" id="{A4BC3D1B-6519-3EC6-F8C8-D12E5886EBA8}"/>
              </a:ext>
            </a:extLst>
          </p:cNvPr>
          <p:cNvSpPr/>
          <p:nvPr/>
        </p:nvSpPr>
        <p:spPr>
          <a:xfrm>
            <a:off x="908477" y="1467627"/>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1</a:t>
            </a:r>
          </a:p>
        </p:txBody>
      </p:sp>
      <p:sp>
        <p:nvSpPr>
          <p:cNvPr id="46" name="正方形/長方形 45">
            <a:extLst>
              <a:ext uri="{FF2B5EF4-FFF2-40B4-BE49-F238E27FC236}">
                <a16:creationId xmlns:a16="http://schemas.microsoft.com/office/drawing/2014/main" id="{538DA60A-A0C2-2AC4-6AFA-6E9A0A840E2F}"/>
              </a:ext>
            </a:extLst>
          </p:cNvPr>
          <p:cNvSpPr/>
          <p:nvPr/>
        </p:nvSpPr>
        <p:spPr>
          <a:xfrm>
            <a:off x="908477" y="1905968"/>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スキーム</a:t>
            </a:r>
            <a:endParaRPr lang="en-US" altLang="ja-JP" sz="1800" b="1" spc="70" dirty="0">
              <a:solidFill>
                <a:schemeClr val="tx2"/>
              </a:solidFill>
              <a:latin typeface="+mj-ea"/>
              <a:ea typeface="+mj-ea"/>
            </a:endParaRPr>
          </a:p>
        </p:txBody>
      </p:sp>
      <p:sp>
        <p:nvSpPr>
          <p:cNvPr id="47" name="二等辺三角形 46">
            <a:extLst>
              <a:ext uri="{FF2B5EF4-FFF2-40B4-BE49-F238E27FC236}">
                <a16:creationId xmlns:a16="http://schemas.microsoft.com/office/drawing/2014/main" id="{E30A0C32-ED58-E579-307E-2A50184F7621}"/>
              </a:ext>
            </a:extLst>
          </p:cNvPr>
          <p:cNvSpPr/>
          <p:nvPr/>
        </p:nvSpPr>
        <p:spPr>
          <a:xfrm rot="5400000">
            <a:off x="3953282" y="1731194"/>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54" name="正方形/長方形 53">
            <a:extLst>
              <a:ext uri="{FF2B5EF4-FFF2-40B4-BE49-F238E27FC236}">
                <a16:creationId xmlns:a16="http://schemas.microsoft.com/office/drawing/2014/main" id="{CF75FB02-E0C4-B24A-D8DD-19550648E691}"/>
              </a:ext>
            </a:extLst>
          </p:cNvPr>
          <p:cNvSpPr/>
          <p:nvPr/>
        </p:nvSpPr>
        <p:spPr>
          <a:xfrm>
            <a:off x="449262" y="2678813"/>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55" name="直線コネクタ 54">
            <a:extLst>
              <a:ext uri="{FF2B5EF4-FFF2-40B4-BE49-F238E27FC236}">
                <a16:creationId xmlns:a16="http://schemas.microsoft.com/office/drawing/2014/main" id="{031A2A35-DDED-EC21-CA05-09DA68DA2C0D}"/>
              </a:ext>
            </a:extLst>
          </p:cNvPr>
          <p:cNvCxnSpPr>
            <a:cxnSpLocks/>
          </p:cNvCxnSpPr>
          <p:nvPr/>
        </p:nvCxnSpPr>
        <p:spPr>
          <a:xfrm>
            <a:off x="3133558" y="2802819"/>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56" name="テキスト ボックス 55">
            <a:extLst>
              <a:ext uri="{FF2B5EF4-FFF2-40B4-BE49-F238E27FC236}">
                <a16:creationId xmlns:a16="http://schemas.microsoft.com/office/drawing/2014/main" id="{4F61C06A-72C7-F15D-8706-7F1E6F179BF5}"/>
              </a:ext>
            </a:extLst>
          </p:cNvPr>
          <p:cNvSpPr txBox="1"/>
          <p:nvPr/>
        </p:nvSpPr>
        <p:spPr>
          <a:xfrm>
            <a:off x="3151380" y="3156792"/>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algn="l"/>
            <a:r>
              <a:rPr lang="ja-JP" altLang="en-US" spc="50" dirty="0"/>
              <a:t>応相談</a:t>
            </a:r>
            <a:endParaRPr lang="en-US" altLang="ja-JP" spc="50" dirty="0"/>
          </a:p>
        </p:txBody>
      </p:sp>
      <p:sp>
        <p:nvSpPr>
          <p:cNvPr id="59" name="正方形/長方形 58">
            <a:extLst>
              <a:ext uri="{FF2B5EF4-FFF2-40B4-BE49-F238E27FC236}">
                <a16:creationId xmlns:a16="http://schemas.microsoft.com/office/drawing/2014/main" id="{CFFDBAD3-865C-CB13-2F89-BB6495428292}"/>
              </a:ext>
            </a:extLst>
          </p:cNvPr>
          <p:cNvSpPr/>
          <p:nvPr/>
        </p:nvSpPr>
        <p:spPr>
          <a:xfrm>
            <a:off x="908477" y="2920483"/>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2</a:t>
            </a:r>
          </a:p>
        </p:txBody>
      </p:sp>
      <p:sp>
        <p:nvSpPr>
          <p:cNvPr id="60" name="正方形/長方形 59">
            <a:extLst>
              <a:ext uri="{FF2B5EF4-FFF2-40B4-BE49-F238E27FC236}">
                <a16:creationId xmlns:a16="http://schemas.microsoft.com/office/drawing/2014/main" id="{C0C6D277-3738-13CF-070E-BA308BBE1973}"/>
              </a:ext>
            </a:extLst>
          </p:cNvPr>
          <p:cNvSpPr/>
          <p:nvPr/>
        </p:nvSpPr>
        <p:spPr>
          <a:xfrm>
            <a:off x="908477" y="3358824"/>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希望価格</a:t>
            </a:r>
          </a:p>
        </p:txBody>
      </p:sp>
      <p:sp>
        <p:nvSpPr>
          <p:cNvPr id="58" name="二等辺三角形 57">
            <a:extLst>
              <a:ext uri="{FF2B5EF4-FFF2-40B4-BE49-F238E27FC236}">
                <a16:creationId xmlns:a16="http://schemas.microsoft.com/office/drawing/2014/main" id="{C23C8717-6A45-2543-9780-94DF43068F77}"/>
              </a:ext>
            </a:extLst>
          </p:cNvPr>
          <p:cNvSpPr/>
          <p:nvPr/>
        </p:nvSpPr>
        <p:spPr>
          <a:xfrm rot="5400000">
            <a:off x="3953282" y="3184050"/>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62" name="正方形/長方形 61">
            <a:extLst>
              <a:ext uri="{FF2B5EF4-FFF2-40B4-BE49-F238E27FC236}">
                <a16:creationId xmlns:a16="http://schemas.microsoft.com/office/drawing/2014/main" id="{7140BAFD-DDE9-DDDD-13AE-F82ADD82CD40}"/>
              </a:ext>
            </a:extLst>
          </p:cNvPr>
          <p:cNvSpPr/>
          <p:nvPr/>
        </p:nvSpPr>
        <p:spPr>
          <a:xfrm>
            <a:off x="449262" y="4131669"/>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63" name="直線コネクタ 62">
            <a:extLst>
              <a:ext uri="{FF2B5EF4-FFF2-40B4-BE49-F238E27FC236}">
                <a16:creationId xmlns:a16="http://schemas.microsoft.com/office/drawing/2014/main" id="{364A6865-94EE-F5C9-85ED-D69680FD951A}"/>
              </a:ext>
            </a:extLst>
          </p:cNvPr>
          <p:cNvCxnSpPr>
            <a:cxnSpLocks/>
          </p:cNvCxnSpPr>
          <p:nvPr/>
        </p:nvCxnSpPr>
        <p:spPr>
          <a:xfrm>
            <a:off x="3133558" y="4255675"/>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56" name="テキスト ボックス 255">
            <a:extLst>
              <a:ext uri="{FF2B5EF4-FFF2-40B4-BE49-F238E27FC236}">
                <a16:creationId xmlns:a16="http://schemas.microsoft.com/office/drawing/2014/main" id="{B6D90125-A2A7-8289-0B44-6FD810A06C6F}"/>
              </a:ext>
            </a:extLst>
          </p:cNvPr>
          <p:cNvSpPr txBox="1"/>
          <p:nvPr/>
        </p:nvSpPr>
        <p:spPr>
          <a:xfrm>
            <a:off x="3151380" y="4265966"/>
            <a:ext cx="7074659" cy="1025922"/>
          </a:xfrm>
          <a:prstGeom prst="rect">
            <a:avLst/>
          </a:prstGeom>
          <a:noFill/>
        </p:spPr>
        <p:txBody>
          <a:bodyPr wrap="square" lIns="1368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marL="324000" indent="-324000" algn="l">
              <a:spcAft>
                <a:spcPts val="200"/>
              </a:spcAft>
              <a:buClr>
                <a:schemeClr val="tx2"/>
              </a:buClr>
              <a:buFont typeface="游ゴシック" panose="020B0400000000000000" pitchFamily="50" charset="-128"/>
              <a:buChar char="▪"/>
            </a:pPr>
            <a:r>
              <a:rPr lang="ja-JP" altLang="en-US" sz="1200" spc="50" dirty="0"/>
              <a:t>既存従業員の雇用継続（想定）</a:t>
            </a:r>
            <a:endParaRPr lang="en-US" altLang="ja-JP" sz="1200" spc="50" dirty="0"/>
          </a:p>
          <a:p>
            <a:pPr marL="324000" indent="-324000" algn="l">
              <a:spcAft>
                <a:spcPts val="200"/>
              </a:spcAft>
              <a:buClr>
                <a:schemeClr val="tx2"/>
              </a:buClr>
              <a:buFont typeface="游ゴシック" panose="020B0400000000000000" pitchFamily="50" charset="-128"/>
              <a:buChar char="▪"/>
            </a:pPr>
            <a:r>
              <a:rPr lang="ja-JP" altLang="en-US" sz="1200" spc="50" dirty="0"/>
              <a:t>代表者は引退予定。一定期間の業務引継ぎには対応</a:t>
            </a:r>
            <a:endParaRPr lang="en-US" altLang="ja-JP" sz="1200" spc="50" dirty="0"/>
          </a:p>
          <a:p>
            <a:pPr marL="324000" indent="-324000" algn="l">
              <a:spcAft>
                <a:spcPts val="200"/>
              </a:spcAft>
              <a:buClr>
                <a:schemeClr val="tx2"/>
              </a:buClr>
              <a:buFont typeface="游ゴシック" panose="020B0400000000000000" pitchFamily="50" charset="-128"/>
              <a:buChar char="▪"/>
            </a:pPr>
            <a:r>
              <a:rPr lang="ja-JP" altLang="en-US" sz="1200" spc="50" dirty="0"/>
              <a:t>金融機関借入に係る代表者の連帯保証の解除</a:t>
            </a:r>
            <a:endParaRPr lang="en-US" altLang="ja-JP" sz="1200" spc="50" dirty="0"/>
          </a:p>
          <a:p>
            <a:pPr marL="324000" indent="-324000" algn="l">
              <a:spcAft>
                <a:spcPts val="200"/>
              </a:spcAft>
              <a:buClr>
                <a:schemeClr val="tx2"/>
              </a:buClr>
              <a:buFont typeface="游ゴシック" panose="020B0400000000000000" pitchFamily="50" charset="-128"/>
              <a:buChar char="▪"/>
            </a:pPr>
            <a:r>
              <a:rPr lang="ja-JP" altLang="en-US" sz="1200" spc="50" dirty="0"/>
              <a:t>倉庫の定期転貸借契約・保税蔵置場許可の継続（名義変更・届出等の対応）</a:t>
            </a:r>
            <a:endParaRPr lang="en-US" altLang="ja-JP" sz="1200" spc="50" dirty="0"/>
          </a:p>
        </p:txBody>
      </p:sp>
      <p:sp>
        <p:nvSpPr>
          <p:cNvPr id="259" name="正方形/長方形 258">
            <a:extLst>
              <a:ext uri="{FF2B5EF4-FFF2-40B4-BE49-F238E27FC236}">
                <a16:creationId xmlns:a16="http://schemas.microsoft.com/office/drawing/2014/main" id="{11BED845-77D7-96E2-7088-05671252A4BC}"/>
              </a:ext>
            </a:extLst>
          </p:cNvPr>
          <p:cNvSpPr/>
          <p:nvPr/>
        </p:nvSpPr>
        <p:spPr>
          <a:xfrm>
            <a:off x="908477" y="4373339"/>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3</a:t>
            </a:r>
          </a:p>
        </p:txBody>
      </p:sp>
      <p:sp>
        <p:nvSpPr>
          <p:cNvPr id="260" name="正方形/長方形 259">
            <a:extLst>
              <a:ext uri="{FF2B5EF4-FFF2-40B4-BE49-F238E27FC236}">
                <a16:creationId xmlns:a16="http://schemas.microsoft.com/office/drawing/2014/main" id="{6B9DA270-CEE2-C021-D23B-6674C7B58B8F}"/>
              </a:ext>
            </a:extLst>
          </p:cNvPr>
          <p:cNvSpPr/>
          <p:nvPr/>
        </p:nvSpPr>
        <p:spPr>
          <a:xfrm>
            <a:off x="908477" y="4811680"/>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付帯条件</a:t>
            </a:r>
          </a:p>
        </p:txBody>
      </p:sp>
      <p:sp>
        <p:nvSpPr>
          <p:cNvPr id="258" name="二等辺三角形 257">
            <a:extLst>
              <a:ext uri="{FF2B5EF4-FFF2-40B4-BE49-F238E27FC236}">
                <a16:creationId xmlns:a16="http://schemas.microsoft.com/office/drawing/2014/main" id="{ED431A8E-E118-9737-A89C-BA75554554F2}"/>
              </a:ext>
            </a:extLst>
          </p:cNvPr>
          <p:cNvSpPr/>
          <p:nvPr/>
        </p:nvSpPr>
        <p:spPr>
          <a:xfrm rot="5400000">
            <a:off x="3953282" y="463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62" name="正方形/長方形 261">
            <a:extLst>
              <a:ext uri="{FF2B5EF4-FFF2-40B4-BE49-F238E27FC236}">
                <a16:creationId xmlns:a16="http://schemas.microsoft.com/office/drawing/2014/main" id="{0DA87416-6EB3-2B9D-5D99-EBF7AD989A1A}"/>
              </a:ext>
            </a:extLst>
          </p:cNvPr>
          <p:cNvSpPr/>
          <p:nvPr/>
        </p:nvSpPr>
        <p:spPr>
          <a:xfrm>
            <a:off x="449262" y="5584525"/>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63" name="直線コネクタ 262">
            <a:extLst>
              <a:ext uri="{FF2B5EF4-FFF2-40B4-BE49-F238E27FC236}">
                <a16:creationId xmlns:a16="http://schemas.microsoft.com/office/drawing/2014/main" id="{348C7A7D-E8C0-8FBA-0152-B09944A67B14}"/>
              </a:ext>
            </a:extLst>
          </p:cNvPr>
          <p:cNvCxnSpPr>
            <a:cxnSpLocks/>
          </p:cNvCxnSpPr>
          <p:nvPr/>
        </p:nvCxnSpPr>
        <p:spPr>
          <a:xfrm>
            <a:off x="3133558" y="5708531"/>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67" name="正方形/長方形 266">
            <a:extLst>
              <a:ext uri="{FF2B5EF4-FFF2-40B4-BE49-F238E27FC236}">
                <a16:creationId xmlns:a16="http://schemas.microsoft.com/office/drawing/2014/main" id="{5C906CE1-F422-F0CF-35F9-FA21CDF60987}"/>
              </a:ext>
            </a:extLst>
          </p:cNvPr>
          <p:cNvSpPr/>
          <p:nvPr/>
        </p:nvSpPr>
        <p:spPr>
          <a:xfrm>
            <a:off x="908477" y="5826195"/>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その他</a:t>
            </a:r>
            <a:endParaRPr lang="en-US" altLang="ja-JP" b="1" spc="70" dirty="0">
              <a:solidFill>
                <a:schemeClr val="bg1"/>
              </a:solidFill>
              <a:latin typeface="+mj-ea"/>
              <a:ea typeface="+mj-ea"/>
            </a:endParaRPr>
          </a:p>
        </p:txBody>
      </p:sp>
      <p:sp>
        <p:nvSpPr>
          <p:cNvPr id="268" name="正方形/長方形 267">
            <a:extLst>
              <a:ext uri="{FF2B5EF4-FFF2-40B4-BE49-F238E27FC236}">
                <a16:creationId xmlns:a16="http://schemas.microsoft.com/office/drawing/2014/main" id="{46529E79-2433-FBD9-6238-E748A585579E}"/>
              </a:ext>
            </a:extLst>
          </p:cNvPr>
          <p:cNvSpPr/>
          <p:nvPr/>
        </p:nvSpPr>
        <p:spPr>
          <a:xfrm>
            <a:off x="908477" y="6264536"/>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譲渡理由</a:t>
            </a:r>
          </a:p>
        </p:txBody>
      </p:sp>
      <p:sp>
        <p:nvSpPr>
          <p:cNvPr id="266" name="二等辺三角形 265">
            <a:extLst>
              <a:ext uri="{FF2B5EF4-FFF2-40B4-BE49-F238E27FC236}">
                <a16:creationId xmlns:a16="http://schemas.microsoft.com/office/drawing/2014/main" id="{94757AC3-62D5-3E6F-15D0-8CC989986978}"/>
              </a:ext>
            </a:extLst>
          </p:cNvPr>
          <p:cNvSpPr/>
          <p:nvPr/>
        </p:nvSpPr>
        <p:spPr>
          <a:xfrm rot="5400000">
            <a:off x="3953282" y="6089762"/>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 name="テキスト ボックス 1">
            <a:extLst>
              <a:ext uri="{FF2B5EF4-FFF2-40B4-BE49-F238E27FC236}">
                <a16:creationId xmlns:a16="http://schemas.microsoft.com/office/drawing/2014/main" id="{ACA65C26-85FE-7632-463B-0FBA87B2AA4D}"/>
              </a:ext>
            </a:extLst>
          </p:cNvPr>
          <p:cNvSpPr txBox="1"/>
          <p:nvPr/>
        </p:nvSpPr>
        <p:spPr>
          <a:xfrm>
            <a:off x="3151380" y="6095259"/>
            <a:ext cx="7074659" cy="338554"/>
          </a:xfrm>
          <a:prstGeom prst="rect">
            <a:avLst/>
          </a:prstGeom>
          <a:noFill/>
        </p:spPr>
        <p:txBody>
          <a:bodyPr wrap="square" lIns="1440000" tIns="0" rIns="0" bIns="0" rtlCol="0" anchor="ctr">
            <a:spAutoFit/>
          </a:bodyPr>
          <a:lstStyle/>
          <a:p>
            <a:r>
              <a:rPr lang="ja-JP" altLang="en-US" sz="2200" b="1" spc="50" dirty="0">
                <a:solidFill>
                  <a:schemeClr val="dk1"/>
                </a:solidFill>
                <a:latin typeface="+mj-ea"/>
                <a:ea typeface="+mj-ea"/>
              </a:rPr>
              <a:t>既存株主の事業からの離脱および代表者の引退に伴う事業承継</a:t>
            </a:r>
          </a:p>
        </p:txBody>
      </p:sp>
      <p:sp>
        <p:nvSpPr>
          <p:cNvPr id="269" name="Rectangle 268"/>
          <p:cNvSpPr/>
          <p:nvPr/>
        </p:nvSpPr>
        <p:spPr>
          <a:xfrm>
            <a:off x="448056" y="6903720"/>
            <a:ext cx="9793224"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※付帯条件は現時点の売主意向の整理であり、詳細は個別協議のうえ確定します。</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事業概要</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40851993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DAF01-C12B-9043-B114-455CAA33D0F7}"/>
            </a:ext>
          </a:extLst>
        </p:cNvPr>
        <p:cNvGrpSpPr/>
        <p:nvPr/>
      </p:nvGrpSpPr>
      <p:grpSpPr>
        <a:xfrm>
          <a:off x="0" y="0"/>
          <a:ext cx="0" cy="0"/>
          <a:chOff x="0" y="0"/>
          <a:chExt cx="0" cy="0"/>
        </a:xfrm>
      </p:grpSpPr>
      <p:sp>
        <p:nvSpPr>
          <p:cNvPr id="5" name="正方形/長方形 4">
            <a:extLst>
              <a:ext uri="{FF2B5EF4-FFF2-40B4-BE49-F238E27FC236}">
                <a16:creationId xmlns:a16="http://schemas.microsoft.com/office/drawing/2014/main" id="{E743677C-E154-B684-80CF-3F2817127171}"/>
              </a:ext>
            </a:extLst>
          </p:cNvPr>
          <p:cNvSpPr/>
          <p:nvPr/>
        </p:nvSpPr>
        <p:spPr>
          <a:xfrm>
            <a:off x="449262" y="1481694"/>
            <a:ext cx="2160000" cy="5472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ysClr val="windowText" lastClr="000000"/>
                </a:solidFill>
                <a:latin typeface="游ゴシック" panose="020B0400000000000000" pitchFamily="50" charset="-128"/>
                <a:ea typeface="游ゴシック" panose="020B0400000000000000" pitchFamily="50" charset="-128"/>
              </a:rPr>
              <a:t>主要仕入先</a:t>
            </a:r>
          </a:p>
        </p:txBody>
      </p:sp>
      <p:sp>
        <p:nvSpPr>
          <p:cNvPr id="17" name="正方形/長方形 16">
            <a:extLst>
              <a:ext uri="{FF2B5EF4-FFF2-40B4-BE49-F238E27FC236}">
                <a16:creationId xmlns:a16="http://schemas.microsoft.com/office/drawing/2014/main" id="{6FD21BE9-2FB9-6DA0-CBB4-78D9B31143EA}"/>
              </a:ext>
            </a:extLst>
          </p:cNvPr>
          <p:cNvSpPr/>
          <p:nvPr/>
        </p:nvSpPr>
        <p:spPr>
          <a:xfrm>
            <a:off x="8082550" y="1463675"/>
            <a:ext cx="2160000" cy="5472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a:solidFill>
                  <a:sysClr val="windowText" lastClr="000000"/>
                </a:solidFill>
                <a:latin typeface="游ゴシック" panose="020B0400000000000000" pitchFamily="50" charset="-128"/>
                <a:ea typeface="游ゴシック" panose="020B0400000000000000" pitchFamily="50" charset="-128"/>
              </a:rPr>
              <a:t>主要販売先</a:t>
            </a:r>
          </a:p>
        </p:txBody>
      </p:sp>
      <p:sp>
        <p:nvSpPr>
          <p:cNvPr id="21" name="正方形/長方形 20">
            <a:extLst>
              <a:ext uri="{FF2B5EF4-FFF2-40B4-BE49-F238E27FC236}">
                <a16:creationId xmlns:a16="http://schemas.microsoft.com/office/drawing/2014/main" id="{95D20CE9-562D-5FB0-80DD-F3BD3CE1D49C}"/>
              </a:ext>
            </a:extLst>
          </p:cNvPr>
          <p:cNvSpPr/>
          <p:nvPr/>
        </p:nvSpPr>
        <p:spPr>
          <a:xfrm>
            <a:off x="2933906" y="1487165"/>
            <a:ext cx="4824000" cy="4016481"/>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ysClr val="windowText" lastClr="000000"/>
                </a:solidFill>
                <a:latin typeface="游ゴシック" panose="020B0400000000000000" pitchFamily="50" charset="-128"/>
                <a:ea typeface="游ゴシック" panose="020B0400000000000000" pitchFamily="50" charset="-128"/>
              </a:rPr>
              <a:t>対象会社</a:t>
            </a:r>
          </a:p>
        </p:txBody>
      </p:sp>
      <p:cxnSp>
        <p:nvCxnSpPr>
          <p:cNvPr id="24" name="直線コネクタ 23">
            <a:extLst>
              <a:ext uri="{FF2B5EF4-FFF2-40B4-BE49-F238E27FC236}">
                <a16:creationId xmlns:a16="http://schemas.microsoft.com/office/drawing/2014/main" id="{F5D312B4-FD5F-5D39-501F-FA5FF893E938}"/>
              </a:ext>
            </a:extLst>
          </p:cNvPr>
          <p:cNvCxnSpPr>
            <a:cxnSpLocks/>
          </p:cNvCxnSpPr>
          <p:nvPr/>
        </p:nvCxnSpPr>
        <p:spPr>
          <a:xfrm>
            <a:off x="2933907" y="1467042"/>
            <a:ext cx="4824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8" name="正方形/長方形 7">
            <a:extLst>
              <a:ext uri="{FF2B5EF4-FFF2-40B4-BE49-F238E27FC236}">
                <a16:creationId xmlns:a16="http://schemas.microsoft.com/office/drawing/2014/main" id="{46E42F7C-FE44-EBE8-0D30-C704D342DE1D}"/>
              </a:ext>
            </a:extLst>
          </p:cNvPr>
          <p:cNvSpPr/>
          <p:nvPr/>
        </p:nvSpPr>
        <p:spPr>
          <a:xfrm>
            <a:off x="297929" y="2184743"/>
            <a:ext cx="2267950" cy="129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【梱包資材】</a:t>
            </a:r>
          </a:p>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宮崎商会</a:t>
            </a:r>
          </a:p>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山田ダンボール</a:t>
            </a:r>
          </a:p>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ユーエムパッケージ</a:t>
            </a:r>
          </a:p>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成田ドライアイス ほか</a:t>
            </a:r>
          </a:p>
        </p:txBody>
      </p:sp>
      <p:sp>
        <p:nvSpPr>
          <p:cNvPr id="13" name="正方形/長方形 12">
            <a:extLst>
              <a:ext uri="{FF2B5EF4-FFF2-40B4-BE49-F238E27FC236}">
                <a16:creationId xmlns:a16="http://schemas.microsoft.com/office/drawing/2014/main" id="{5CEF68BA-14D9-A2BB-9103-0A8466BCAE95}"/>
              </a:ext>
            </a:extLst>
          </p:cNvPr>
          <p:cNvSpPr/>
          <p:nvPr/>
        </p:nvSpPr>
        <p:spPr>
          <a:xfrm>
            <a:off x="8224441" y="2184743"/>
            <a:ext cx="2267950" cy="129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【フォワーダー等】</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DHL、航空集配サービス</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【物流会社】</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三徳運輸、鴻池運輸</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【メーカー】</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Littelfuseジャパン</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4" name="タイトル 3">
            <a:extLst>
              <a:ext uri="{FF2B5EF4-FFF2-40B4-BE49-F238E27FC236}">
                <a16:creationId xmlns:a16="http://schemas.microsoft.com/office/drawing/2014/main" id="{E91DD8E0-55E1-1614-7417-2E76D253FEAD}"/>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商流</a:t>
            </a:r>
          </a:p>
        </p:txBody>
      </p:sp>
      <p:sp>
        <p:nvSpPr>
          <p:cNvPr id="20" name="タイトル 1">
            <a:extLst>
              <a:ext uri="{FF2B5EF4-FFF2-40B4-BE49-F238E27FC236}">
                <a16:creationId xmlns:a16="http://schemas.microsoft.com/office/drawing/2014/main" id="{96C927CB-5A9B-C47E-368A-3579B2595C1E}"/>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事業概要</a:t>
            </a:r>
          </a:p>
        </p:txBody>
      </p:sp>
      <p:cxnSp>
        <p:nvCxnSpPr>
          <p:cNvPr id="16" name="直線コネクタ 15">
            <a:extLst>
              <a:ext uri="{FF2B5EF4-FFF2-40B4-BE49-F238E27FC236}">
                <a16:creationId xmlns:a16="http://schemas.microsoft.com/office/drawing/2014/main" id="{FD5050F0-3C11-BC61-1EAA-56B714331E84}"/>
              </a:ext>
            </a:extLst>
          </p:cNvPr>
          <p:cNvCxnSpPr>
            <a:cxnSpLocks/>
          </p:cNvCxnSpPr>
          <p:nvPr/>
        </p:nvCxnSpPr>
        <p:spPr>
          <a:xfrm>
            <a:off x="449263" y="1467042"/>
            <a:ext cx="2160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9" name="直線コネクタ 18">
            <a:extLst>
              <a:ext uri="{FF2B5EF4-FFF2-40B4-BE49-F238E27FC236}">
                <a16:creationId xmlns:a16="http://schemas.microsoft.com/office/drawing/2014/main" id="{4E6E5648-22F1-DE1E-6020-D47989377CA9}"/>
              </a:ext>
            </a:extLst>
          </p:cNvPr>
          <p:cNvCxnSpPr>
            <a:cxnSpLocks/>
          </p:cNvCxnSpPr>
          <p:nvPr/>
        </p:nvCxnSpPr>
        <p:spPr>
          <a:xfrm>
            <a:off x="8082550" y="1467042"/>
            <a:ext cx="2160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46" name="正方形/長方形 45">
            <a:extLst>
              <a:ext uri="{FF2B5EF4-FFF2-40B4-BE49-F238E27FC236}">
                <a16:creationId xmlns:a16="http://schemas.microsoft.com/office/drawing/2014/main" id="{807BE902-CAE0-C2CD-4984-B11E293BA38A}"/>
              </a:ext>
            </a:extLst>
          </p:cNvPr>
          <p:cNvSpPr>
            <a:spLocks/>
          </p:cNvSpPr>
          <p:nvPr/>
        </p:nvSpPr>
        <p:spPr>
          <a:xfrm>
            <a:off x="3170404" y="4433281"/>
            <a:ext cx="4320000" cy="864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ja-JP" altLang="en-US" sz="1400" b="1" dirty="0">
                <a:solidFill>
                  <a:sysClr val="windowText" lastClr="000000"/>
                </a:solidFill>
                <a:latin typeface="游ゴシック" panose="020B0400000000000000" pitchFamily="50" charset="-128"/>
                <a:ea typeface="游ゴシック" panose="020B0400000000000000" pitchFamily="50" charset="-128"/>
              </a:rPr>
              <a:t>業務請負</a:t>
            </a:r>
          </a:p>
        </p:txBody>
      </p:sp>
      <p:sp>
        <p:nvSpPr>
          <p:cNvPr id="49" name="正方形/長方形 48">
            <a:extLst>
              <a:ext uri="{FF2B5EF4-FFF2-40B4-BE49-F238E27FC236}">
                <a16:creationId xmlns:a16="http://schemas.microsoft.com/office/drawing/2014/main" id="{5003CAF4-56DA-63E6-9B55-231DF32CB689}"/>
              </a:ext>
            </a:extLst>
          </p:cNvPr>
          <p:cNvSpPr/>
          <p:nvPr/>
        </p:nvSpPr>
        <p:spPr>
          <a:xfrm>
            <a:off x="3347399" y="4799101"/>
            <a:ext cx="1944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オペレーション事務受託</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sp>
        <p:nvSpPr>
          <p:cNvPr id="50" name="正方形/長方形 49">
            <a:extLst>
              <a:ext uri="{FF2B5EF4-FFF2-40B4-BE49-F238E27FC236}">
                <a16:creationId xmlns:a16="http://schemas.microsoft.com/office/drawing/2014/main" id="{E5DD003F-2AD9-A9D3-1FD8-654750A0A7AD}"/>
              </a:ext>
            </a:extLst>
          </p:cNvPr>
          <p:cNvSpPr/>
          <p:nvPr/>
        </p:nvSpPr>
        <p:spPr>
          <a:xfrm>
            <a:off x="5375849" y="4799101"/>
            <a:ext cx="1944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作業・清掃請負</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sp>
        <p:nvSpPr>
          <p:cNvPr id="15" name="正方形/長方形 14">
            <a:extLst>
              <a:ext uri="{FF2B5EF4-FFF2-40B4-BE49-F238E27FC236}">
                <a16:creationId xmlns:a16="http://schemas.microsoft.com/office/drawing/2014/main" id="{608A6333-5179-2C0E-782D-178730BAA08F}"/>
              </a:ext>
            </a:extLst>
          </p:cNvPr>
          <p:cNvSpPr/>
          <p:nvPr/>
        </p:nvSpPr>
        <p:spPr>
          <a:xfrm>
            <a:off x="2266727" y="3480743"/>
            <a:ext cx="970998"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20000"/>
              </a:lnSpc>
              <a:buClr>
                <a:schemeClr val="accent4"/>
              </a:buClr>
            </a:pPr>
            <a:r>
              <a:rPr kumimoji="1" lang="ja-JP" altLang="en-US" sz="1100" dirty="0">
                <a:solidFill>
                  <a:schemeClr val="tx1"/>
                </a:solidFill>
                <a:latin typeface="游ゴシック" panose="020B0400000000000000" pitchFamily="50" charset="-128"/>
                <a:ea typeface="游ゴシック" panose="020B0400000000000000" pitchFamily="50" charset="-128"/>
              </a:rPr>
              <a:t>梱包資材</a:t>
            </a:r>
            <a:endParaRPr kumimoji="1" lang="en-US" altLang="ja-JP" sz="1100" dirty="0">
              <a:solidFill>
                <a:schemeClr val="tx1"/>
              </a:solidFill>
              <a:latin typeface="游ゴシック" panose="020B0400000000000000" pitchFamily="50" charset="-128"/>
              <a:ea typeface="游ゴシック" panose="020B0400000000000000" pitchFamily="50" charset="-128"/>
            </a:endParaRPr>
          </a:p>
          <a:p>
            <a:pPr algn="ctr">
              <a:lnSpc>
                <a:spcPct val="120000"/>
              </a:lnSpc>
              <a:buClr>
                <a:schemeClr val="accent4"/>
              </a:buClr>
            </a:pPr>
            <a:r>
              <a:rPr kumimoji="1" lang="ja-JP" altLang="en-US" sz="1100" dirty="0">
                <a:solidFill>
                  <a:schemeClr val="tx1"/>
                </a:solidFill>
                <a:latin typeface="游ゴシック" panose="020B0400000000000000" pitchFamily="50" charset="-128"/>
                <a:ea typeface="游ゴシック" panose="020B0400000000000000" pitchFamily="50" charset="-128"/>
              </a:rPr>
              <a:t>の仕入れ</a:t>
            </a:r>
            <a:endParaRPr kumimoji="1" lang="en-US" altLang="ja-JP" sz="1100" dirty="0">
              <a:solidFill>
                <a:schemeClr val="tx1"/>
              </a:solidFill>
              <a:latin typeface="游ゴシック" panose="020B0400000000000000" pitchFamily="50" charset="-128"/>
              <a:ea typeface="游ゴシック" panose="020B0400000000000000" pitchFamily="50" charset="-128"/>
            </a:endParaRPr>
          </a:p>
        </p:txBody>
      </p:sp>
      <p:grpSp>
        <p:nvGrpSpPr>
          <p:cNvPr id="7" name="グループ化 6">
            <a:extLst>
              <a:ext uri="{FF2B5EF4-FFF2-40B4-BE49-F238E27FC236}">
                <a16:creationId xmlns:a16="http://schemas.microsoft.com/office/drawing/2014/main" id="{E37EF5B6-E17E-6EAE-90CA-1B881E6D8AAE}"/>
              </a:ext>
            </a:extLst>
          </p:cNvPr>
          <p:cNvGrpSpPr/>
          <p:nvPr/>
        </p:nvGrpSpPr>
        <p:grpSpPr>
          <a:xfrm>
            <a:off x="3185906" y="2095628"/>
            <a:ext cx="4320000" cy="1126755"/>
            <a:chOff x="3185906" y="2095628"/>
            <a:chExt cx="4320000" cy="1126755"/>
          </a:xfrm>
        </p:grpSpPr>
        <p:sp>
          <p:nvSpPr>
            <p:cNvPr id="39" name="正方形/長方形 38">
              <a:extLst>
                <a:ext uri="{FF2B5EF4-FFF2-40B4-BE49-F238E27FC236}">
                  <a16:creationId xmlns:a16="http://schemas.microsoft.com/office/drawing/2014/main" id="{B655DFB4-3E4B-DFE0-1927-1F0AF192973F}"/>
                </a:ext>
              </a:extLst>
            </p:cNvPr>
            <p:cNvSpPr>
              <a:spLocks/>
            </p:cNvSpPr>
            <p:nvPr/>
          </p:nvSpPr>
          <p:spPr>
            <a:xfrm>
              <a:off x="3185906" y="2095628"/>
              <a:ext cx="4320000" cy="1126755"/>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ja-JP" altLang="en-US" sz="1400" b="1" dirty="0">
                  <a:solidFill>
                    <a:sysClr val="windowText" lastClr="000000"/>
                  </a:solidFill>
                  <a:latin typeface="游ゴシック" panose="020B0400000000000000" pitchFamily="50" charset="-128"/>
                  <a:ea typeface="游ゴシック" panose="020B0400000000000000" pitchFamily="50" charset="-128"/>
                </a:rPr>
                <a:t>梱包事業（主業）</a:t>
              </a:r>
            </a:p>
          </p:txBody>
        </p:sp>
        <p:sp>
          <p:nvSpPr>
            <p:cNvPr id="51" name="正方形/長方形 50">
              <a:extLst>
                <a:ext uri="{FF2B5EF4-FFF2-40B4-BE49-F238E27FC236}">
                  <a16:creationId xmlns:a16="http://schemas.microsoft.com/office/drawing/2014/main" id="{E6C0282B-CCAA-5FBD-D527-4720B8D3CD68}"/>
                </a:ext>
              </a:extLst>
            </p:cNvPr>
            <p:cNvSpPr/>
            <p:nvPr/>
          </p:nvSpPr>
          <p:spPr>
            <a:xfrm>
              <a:off x="3362901" y="2466383"/>
              <a:ext cx="1944000" cy="75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輸出航空貨物の</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梱包（成田）</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sp>
          <p:nvSpPr>
            <p:cNvPr id="52" name="正方形/長方形 51">
              <a:extLst>
                <a:ext uri="{FF2B5EF4-FFF2-40B4-BE49-F238E27FC236}">
                  <a16:creationId xmlns:a16="http://schemas.microsoft.com/office/drawing/2014/main" id="{88997CF3-6104-5500-60EB-0DDACA45AE6F}"/>
                </a:ext>
              </a:extLst>
            </p:cNvPr>
            <p:cNvSpPr/>
            <p:nvPr/>
          </p:nvSpPr>
          <p:spPr>
            <a:xfrm>
              <a:off x="5391351" y="2466383"/>
              <a:ext cx="1944000" cy="75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構内梱包請負</a:t>
              </a:r>
            </a:p>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（工場・倉庫内）</a:t>
              </a:r>
            </a:p>
          </p:txBody>
        </p:sp>
      </p:grpSp>
      <p:grpSp>
        <p:nvGrpSpPr>
          <p:cNvPr id="6" name="グループ化 5">
            <a:extLst>
              <a:ext uri="{FF2B5EF4-FFF2-40B4-BE49-F238E27FC236}">
                <a16:creationId xmlns:a16="http://schemas.microsoft.com/office/drawing/2014/main" id="{9F35CA69-48F5-2495-E72E-A4DEA4CE2B8C}"/>
              </a:ext>
            </a:extLst>
          </p:cNvPr>
          <p:cNvGrpSpPr/>
          <p:nvPr/>
        </p:nvGrpSpPr>
        <p:grpSpPr>
          <a:xfrm>
            <a:off x="3185906" y="3382270"/>
            <a:ext cx="4320000" cy="891123"/>
            <a:chOff x="3185906" y="3471891"/>
            <a:chExt cx="4320000" cy="891123"/>
          </a:xfrm>
        </p:grpSpPr>
        <p:sp>
          <p:nvSpPr>
            <p:cNvPr id="47" name="正方形/長方形 46">
              <a:extLst>
                <a:ext uri="{FF2B5EF4-FFF2-40B4-BE49-F238E27FC236}">
                  <a16:creationId xmlns:a16="http://schemas.microsoft.com/office/drawing/2014/main" id="{A3FF10E9-0F90-E0AE-DF08-37E610F0395E}"/>
                </a:ext>
              </a:extLst>
            </p:cNvPr>
            <p:cNvSpPr>
              <a:spLocks/>
            </p:cNvSpPr>
            <p:nvPr/>
          </p:nvSpPr>
          <p:spPr>
            <a:xfrm>
              <a:off x="3185906" y="3471891"/>
              <a:ext cx="4320000" cy="891123"/>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ja-JP" altLang="en-US" sz="1400" b="1" dirty="0">
                  <a:solidFill>
                    <a:sysClr val="windowText" lastClr="000000"/>
                  </a:solidFill>
                  <a:latin typeface="游ゴシック" panose="020B0400000000000000" pitchFamily="50" charset="-128"/>
                  <a:ea typeface="游ゴシック" panose="020B0400000000000000" pitchFamily="50" charset="-128"/>
                </a:rPr>
                <a:t>保税・物流サービス</a:t>
              </a:r>
            </a:p>
          </p:txBody>
        </p:sp>
        <p:sp>
          <p:nvSpPr>
            <p:cNvPr id="55" name="正方形/長方形 54">
              <a:extLst>
                <a:ext uri="{FF2B5EF4-FFF2-40B4-BE49-F238E27FC236}">
                  <a16:creationId xmlns:a16="http://schemas.microsoft.com/office/drawing/2014/main" id="{D2B70813-B617-004E-DE79-557C34BE9081}"/>
                </a:ext>
              </a:extLst>
            </p:cNvPr>
            <p:cNvSpPr/>
            <p:nvPr/>
          </p:nvSpPr>
          <p:spPr>
            <a:xfrm>
              <a:off x="3362901" y="3859014"/>
              <a:ext cx="1944000" cy="50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保税蔵置・保税取扱</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sp>
          <p:nvSpPr>
            <p:cNvPr id="56" name="正方形/長方形 55">
              <a:extLst>
                <a:ext uri="{FF2B5EF4-FFF2-40B4-BE49-F238E27FC236}">
                  <a16:creationId xmlns:a16="http://schemas.microsoft.com/office/drawing/2014/main" id="{139CC8E2-2131-C209-701F-F234CABA26CF}"/>
                </a:ext>
              </a:extLst>
            </p:cNvPr>
            <p:cNvSpPr/>
            <p:nvPr/>
          </p:nvSpPr>
          <p:spPr>
            <a:xfrm>
              <a:off x="5391351" y="3859014"/>
              <a:ext cx="1944000" cy="50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爆発物検査・ラベリング</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grpSp>
      <p:sp>
        <p:nvSpPr>
          <p:cNvPr id="3" name="二等辺三角形 2">
            <a:extLst>
              <a:ext uri="{FF2B5EF4-FFF2-40B4-BE49-F238E27FC236}">
                <a16:creationId xmlns:a16="http://schemas.microsoft.com/office/drawing/2014/main" id="{B557BBBE-1218-1342-7E2D-CD72F7B39D2F}"/>
              </a:ext>
            </a:extLst>
          </p:cNvPr>
          <p:cNvSpPr/>
          <p:nvPr/>
        </p:nvSpPr>
        <p:spPr>
          <a:xfrm rot="5400000">
            <a:off x="7612581" y="407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9" name="二等辺三角形 8">
            <a:extLst>
              <a:ext uri="{FF2B5EF4-FFF2-40B4-BE49-F238E27FC236}">
                <a16:creationId xmlns:a16="http://schemas.microsoft.com/office/drawing/2014/main" id="{91745C76-6270-D9EC-0862-A4072EDFED90}"/>
              </a:ext>
            </a:extLst>
          </p:cNvPr>
          <p:cNvSpPr/>
          <p:nvPr/>
        </p:nvSpPr>
        <p:spPr>
          <a:xfrm rot="5400000">
            <a:off x="2470990" y="407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12" name="正方形/長方形 11">
            <a:extLst>
              <a:ext uri="{FF2B5EF4-FFF2-40B4-BE49-F238E27FC236}">
                <a16:creationId xmlns:a16="http://schemas.microsoft.com/office/drawing/2014/main" id="{29C58FFC-1A01-A8F0-166D-D51C0B6A2C66}"/>
              </a:ext>
            </a:extLst>
          </p:cNvPr>
          <p:cNvSpPr/>
          <p:nvPr/>
        </p:nvSpPr>
        <p:spPr>
          <a:xfrm>
            <a:off x="2933906" y="5890769"/>
            <a:ext cx="4824000" cy="103282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ysClr val="windowText" lastClr="000000"/>
                </a:solidFill>
                <a:latin typeface="游ゴシック" panose="020B0400000000000000" pitchFamily="50" charset="-128"/>
                <a:ea typeface="游ゴシック" panose="020B0400000000000000" pitchFamily="50" charset="-128"/>
              </a:rPr>
              <a:t>主要外注先</a:t>
            </a:r>
          </a:p>
        </p:txBody>
      </p:sp>
      <p:cxnSp>
        <p:nvCxnSpPr>
          <p:cNvPr id="14" name="直線コネクタ 13">
            <a:extLst>
              <a:ext uri="{FF2B5EF4-FFF2-40B4-BE49-F238E27FC236}">
                <a16:creationId xmlns:a16="http://schemas.microsoft.com/office/drawing/2014/main" id="{0FD3DDF0-DCBD-CE14-F158-968514C4BE62}"/>
              </a:ext>
            </a:extLst>
          </p:cNvPr>
          <p:cNvCxnSpPr>
            <a:cxnSpLocks/>
          </p:cNvCxnSpPr>
          <p:nvPr/>
        </p:nvCxnSpPr>
        <p:spPr>
          <a:xfrm>
            <a:off x="2933906" y="5890769"/>
            <a:ext cx="4862558"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2" name="二等辺三角形 21">
            <a:extLst>
              <a:ext uri="{FF2B5EF4-FFF2-40B4-BE49-F238E27FC236}">
                <a16:creationId xmlns:a16="http://schemas.microsoft.com/office/drawing/2014/main" id="{E5D47B62-2C55-3FE5-A074-85C434EA220E}"/>
              </a:ext>
            </a:extLst>
          </p:cNvPr>
          <p:cNvSpPr/>
          <p:nvPr/>
        </p:nvSpPr>
        <p:spPr>
          <a:xfrm>
            <a:off x="5039253" y="5569697"/>
            <a:ext cx="613305" cy="148933"/>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25" name="正方形/長方形 24">
            <a:extLst>
              <a:ext uri="{FF2B5EF4-FFF2-40B4-BE49-F238E27FC236}">
                <a16:creationId xmlns:a16="http://schemas.microsoft.com/office/drawing/2014/main" id="{54EC9FE9-AADB-81BC-6DCA-F5354A701162}"/>
              </a:ext>
            </a:extLst>
          </p:cNvPr>
          <p:cNvSpPr/>
          <p:nvPr/>
        </p:nvSpPr>
        <p:spPr>
          <a:xfrm>
            <a:off x="3170404" y="6386624"/>
            <a:ext cx="4335502" cy="53696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marL="180000" indent="-180000">
              <a:lnSpc>
                <a:spcPct val="120000"/>
              </a:lnSpc>
              <a:spcAft>
                <a:spcPts val="500"/>
              </a:spcAft>
              <a:buClr>
                <a:schemeClr val="tx2"/>
              </a:buClr>
              <a:buFont typeface="游ゴシック" panose="020B0400000000000000" pitchFamily="50" charset="-128"/>
              <a:buChar char="▪"/>
            </a:pPr>
            <a:r>
              <a:rPr kumimoji="1" lang="ja-JP" altLang="en-US" sz="850" b="1" spc="50" dirty="0">
                <a:solidFill>
                  <a:sysClr val="windowText" lastClr="000000"/>
                </a:solidFill>
                <a:latin typeface="游ゴシック" panose="020B0400000000000000" pitchFamily="50" charset="-128"/>
                <a:ea typeface="游ゴシック" panose="020B0400000000000000" pitchFamily="50" charset="-128"/>
              </a:rPr>
              <a:t>人材：グローバル人材バンク、アイ・ポート／構内梱包：ベルパック、三徳運輸／パレット：印東木材</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31" name="二等辺三角形 30">
            <a:extLst>
              <a:ext uri="{FF2B5EF4-FFF2-40B4-BE49-F238E27FC236}">
                <a16:creationId xmlns:a16="http://schemas.microsoft.com/office/drawing/2014/main" id="{64633052-A79E-B34E-462F-300E6FAF9F36}"/>
              </a:ext>
            </a:extLst>
          </p:cNvPr>
          <p:cNvSpPr/>
          <p:nvPr/>
        </p:nvSpPr>
        <p:spPr>
          <a:xfrm rot="10800000">
            <a:off x="5039252" y="5720533"/>
            <a:ext cx="613305" cy="148933"/>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35" name="字幕 13">
            <a:extLst>
              <a:ext uri="{FF2B5EF4-FFF2-40B4-BE49-F238E27FC236}">
                <a16:creationId xmlns:a16="http://schemas.microsoft.com/office/drawing/2014/main" id="{999986B5-FEED-86D6-9A2B-D6BEF4A1BD44}"/>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梱包資材を調達し、成田の自社倉庫と顧客構内で梱包・保税・検査サービスを提供。人材派遣・協力会社を活用して繁閑に応じた人員を確保している。</a:t>
            </a:r>
            <a:endParaRPr lang="en-US" altLang="ja-JP" dirty="0">
              <a:latin typeface="游ゴシック" panose="020B0400000000000000" pitchFamily="50" charset="-128"/>
              <a:ea typeface="游ゴシック" panose="020B0400000000000000" pitchFamily="50" charset="-128"/>
            </a:endParaRPr>
          </a:p>
        </p:txBody>
      </p:sp>
      <p:sp>
        <p:nvSpPr>
          <p:cNvPr id="11" name="正方形/長方形 10">
            <a:extLst>
              <a:ext uri="{FF2B5EF4-FFF2-40B4-BE49-F238E27FC236}">
                <a16:creationId xmlns:a16="http://schemas.microsoft.com/office/drawing/2014/main" id="{E71AE244-435B-F519-E8F8-BFC5ADAAC61F}"/>
              </a:ext>
            </a:extLst>
          </p:cNvPr>
          <p:cNvSpPr/>
          <p:nvPr/>
        </p:nvSpPr>
        <p:spPr>
          <a:xfrm>
            <a:off x="7947797" y="3943450"/>
            <a:ext cx="2267950" cy="19473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a:lnSpc>
                <a:spcPct val="120000"/>
              </a:lnSpc>
              <a:spcAft>
                <a:spcPts val="500"/>
              </a:spcAft>
              <a:buClr>
                <a:schemeClr val="tx2"/>
              </a:buClr>
            </a:pPr>
            <a:r>
              <a:rPr kumimoji="1" lang="en-US" altLang="ja-JP" sz="800" u="sng" spc="50" dirty="0">
                <a:solidFill>
                  <a:sysClr val="windowText" lastClr="000000"/>
                </a:solidFill>
                <a:latin typeface="游ゴシック" panose="020B0400000000000000" pitchFamily="50" charset="-128"/>
                <a:ea typeface="游ゴシック" panose="020B0400000000000000" pitchFamily="50" charset="-128"/>
              </a:rPr>
              <a:t>※売上は月末締め・翌月末回収（掛売100%）。DHLとは2022年9月に基本契約を締結。</a:t>
            </a:r>
            <a:endParaRPr kumimoji="1" lang="en-US" altLang="ja-JP" sz="1100" u="sng"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28" name="正方形/長方形 27">
            <a:extLst>
              <a:ext uri="{FF2B5EF4-FFF2-40B4-BE49-F238E27FC236}">
                <a16:creationId xmlns:a16="http://schemas.microsoft.com/office/drawing/2014/main" id="{9DEE9467-1895-B486-68EB-F54F2BACDAD0}"/>
              </a:ext>
            </a:extLst>
          </p:cNvPr>
          <p:cNvSpPr/>
          <p:nvPr/>
        </p:nvSpPr>
        <p:spPr>
          <a:xfrm>
            <a:off x="7418644" y="3301135"/>
            <a:ext cx="970998"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20000"/>
              </a:lnSpc>
              <a:buClr>
                <a:schemeClr val="accent4"/>
              </a:buClr>
            </a:pPr>
            <a:r>
              <a:rPr kumimoji="1" lang="ja-JP" altLang="en-US" sz="1100" dirty="0">
                <a:solidFill>
                  <a:schemeClr val="tx1"/>
                </a:solidFill>
                <a:latin typeface="游ゴシック" panose="020B0400000000000000" pitchFamily="50" charset="-128"/>
                <a:ea typeface="游ゴシック" panose="020B0400000000000000" pitchFamily="50" charset="-128"/>
              </a:rPr>
              <a:t>サービス</a:t>
            </a:r>
            <a:endParaRPr kumimoji="1" lang="en-US" altLang="ja-JP" sz="1100" dirty="0">
              <a:solidFill>
                <a:schemeClr val="tx1"/>
              </a:solidFill>
              <a:latin typeface="游ゴシック" panose="020B0400000000000000" pitchFamily="50" charset="-128"/>
              <a:ea typeface="游ゴシック" panose="020B0400000000000000" pitchFamily="50" charset="-128"/>
            </a:endParaRPr>
          </a:p>
          <a:p>
            <a:pPr algn="ctr">
              <a:lnSpc>
                <a:spcPct val="120000"/>
              </a:lnSpc>
              <a:buClr>
                <a:schemeClr val="accent4"/>
              </a:buClr>
            </a:pPr>
            <a:r>
              <a:rPr kumimoji="1" lang="ja-JP" altLang="en-US" sz="1100" dirty="0">
                <a:solidFill>
                  <a:schemeClr val="tx1"/>
                </a:solidFill>
                <a:latin typeface="游ゴシック" panose="020B0400000000000000" pitchFamily="50" charset="-128"/>
                <a:ea typeface="游ゴシック" panose="020B0400000000000000" pitchFamily="50" charset="-128"/>
              </a:rPr>
              <a:t>提供</a:t>
            </a:r>
            <a:endParaRPr kumimoji="1" lang="en-US" altLang="ja-JP" sz="1100" dirty="0">
              <a:solidFill>
                <a:schemeClr val="tx1"/>
              </a:solidFill>
              <a:latin typeface="游ゴシック" panose="020B0400000000000000" pitchFamily="50" charset="-128"/>
              <a:ea typeface="游ゴシック" panose="020B0400000000000000" pitchFamily="50" charset="-128"/>
            </a:endParaRPr>
          </a:p>
        </p:txBody>
      </p:sp>
      <p:sp>
        <p:nvSpPr>
          <p:cNvPr id="29" name="正方形/長方形 28">
            <a:extLst>
              <a:ext uri="{FF2B5EF4-FFF2-40B4-BE49-F238E27FC236}">
                <a16:creationId xmlns:a16="http://schemas.microsoft.com/office/drawing/2014/main" id="{66CEEE74-B8BD-04D5-25B2-B52A1D04D1BA}"/>
              </a:ext>
            </a:extLst>
          </p:cNvPr>
          <p:cNvSpPr/>
          <p:nvPr/>
        </p:nvSpPr>
        <p:spPr>
          <a:xfrm>
            <a:off x="297929" y="3943450"/>
            <a:ext cx="2267950" cy="19473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a:lnSpc>
                <a:spcPct val="120000"/>
              </a:lnSpc>
              <a:spcAft>
                <a:spcPts val="500"/>
              </a:spcAft>
              <a:buClr>
                <a:schemeClr val="tx2"/>
              </a:buClr>
            </a:pPr>
            <a:r>
              <a:rPr kumimoji="1" lang="en-US" altLang="ja-JP" sz="800" u="sng" spc="50" dirty="0">
                <a:solidFill>
                  <a:sysClr val="windowText" lastClr="000000"/>
                </a:solidFill>
                <a:latin typeface="游ゴシック" panose="020B0400000000000000" pitchFamily="50" charset="-128"/>
                <a:ea typeface="游ゴシック" panose="020B0400000000000000" pitchFamily="50" charset="-128"/>
              </a:rPr>
              <a:t>※梱包資材は案件に応じて都度調達。37期の原材料仕入高は65百万円。</a:t>
            </a:r>
            <a:endParaRPr kumimoji="1" lang="en-US" altLang="ja-JP" sz="1100" u="sng"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30" name="正方形/長方形 29">
            <a:extLst>
              <a:ext uri="{FF2B5EF4-FFF2-40B4-BE49-F238E27FC236}">
                <a16:creationId xmlns:a16="http://schemas.microsoft.com/office/drawing/2014/main" id="{50DBF169-4DDE-5DF4-7743-E7F49E149174}"/>
              </a:ext>
            </a:extLst>
          </p:cNvPr>
          <p:cNvSpPr/>
          <p:nvPr/>
        </p:nvSpPr>
        <p:spPr>
          <a:xfrm>
            <a:off x="2141784" y="2768889"/>
            <a:ext cx="1271716"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20000"/>
              </a:lnSpc>
              <a:buClr>
                <a:schemeClr val="accent4"/>
              </a:buClr>
            </a:pPr>
            <a:r>
              <a:rPr kumimoji="1" lang="en-US" altLang="ja-JP" sz="800" u="sng" dirty="0">
                <a:solidFill>
                  <a:schemeClr val="tx1"/>
                </a:solidFill>
                <a:latin typeface="游ゴシック" panose="020B0400000000000000" pitchFamily="50" charset="-128"/>
                <a:ea typeface="游ゴシック" panose="020B0400000000000000" pitchFamily="50" charset="-128"/>
              </a:rPr>
              <a:t>【資材】</a:t>
            </a:r>
          </a:p>
          <a:p>
            <a:pPr algn="ctr">
              <a:lnSpc>
                <a:spcPct val="120000"/>
              </a:lnSpc>
              <a:buClr>
                <a:schemeClr val="accent4"/>
              </a:buClr>
            </a:pPr>
            <a:r>
              <a:rPr kumimoji="1" lang="en-US" altLang="ja-JP" sz="800" u="sng" dirty="0">
                <a:solidFill>
                  <a:schemeClr val="tx1"/>
                </a:solidFill>
                <a:latin typeface="游ゴシック" panose="020B0400000000000000" pitchFamily="50" charset="-128"/>
                <a:ea typeface="游ゴシック" panose="020B0400000000000000" pitchFamily="50" charset="-128"/>
              </a:rPr>
              <a:t>都度見積</a:t>
            </a:r>
          </a:p>
        </p:txBody>
      </p:sp>
      <p:sp>
        <p:nvSpPr>
          <p:cNvPr id="32" name="正方形/長方形 31">
            <a:extLst>
              <a:ext uri="{FF2B5EF4-FFF2-40B4-BE49-F238E27FC236}">
                <a16:creationId xmlns:a16="http://schemas.microsoft.com/office/drawing/2014/main" id="{66329092-D510-4728-D662-B5277E41F113}"/>
              </a:ext>
            </a:extLst>
          </p:cNvPr>
          <p:cNvSpPr/>
          <p:nvPr/>
        </p:nvSpPr>
        <p:spPr>
          <a:xfrm>
            <a:off x="7291666" y="2768889"/>
            <a:ext cx="1271716"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20000"/>
              </a:lnSpc>
              <a:buClr>
                <a:schemeClr val="accent4"/>
              </a:buClr>
            </a:pPr>
            <a:r>
              <a:rPr kumimoji="1" lang="en-US" altLang="ja-JP" sz="800" u="sng" dirty="0">
                <a:solidFill>
                  <a:schemeClr val="tx1"/>
                </a:solidFill>
                <a:latin typeface="游ゴシック" panose="020B0400000000000000" pitchFamily="50" charset="-128"/>
                <a:ea typeface="游ゴシック" panose="020B0400000000000000" pitchFamily="50" charset="-128"/>
              </a:rPr>
              <a:t>【料金】</a:t>
            </a:r>
          </a:p>
          <a:p>
            <a:pPr algn="ctr">
              <a:lnSpc>
                <a:spcPct val="120000"/>
              </a:lnSpc>
              <a:buClr>
                <a:schemeClr val="accent4"/>
              </a:buClr>
            </a:pPr>
            <a:r>
              <a:rPr kumimoji="1" lang="en-US" altLang="ja-JP" sz="800" u="sng" dirty="0">
                <a:solidFill>
                  <a:schemeClr val="tx1"/>
                </a:solidFill>
                <a:latin typeface="游ゴシック" panose="020B0400000000000000" pitchFamily="50" charset="-128"/>
                <a:ea typeface="游ゴシック" panose="020B0400000000000000" pitchFamily="50" charset="-128"/>
              </a:rPr>
              <a:t>単価・月額</a:t>
            </a:r>
          </a:p>
        </p:txBody>
      </p:sp>
    </p:spTree>
    <p:extLst>
      <p:ext uri="{BB962C8B-B14F-4D97-AF65-F5344CB8AC3E}">
        <p14:creationId xmlns:p14="http://schemas.microsoft.com/office/powerpoint/2010/main" val="5383831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正方形/長方形 15">
            <a:extLst>
              <a:ext uri="{FF2B5EF4-FFF2-40B4-BE49-F238E27FC236}">
                <a16:creationId xmlns:a16="http://schemas.microsoft.com/office/drawing/2014/main" id="{C40E5E72-4BCD-E861-A1A2-154E947EEC6C}"/>
              </a:ext>
            </a:extLst>
          </p:cNvPr>
          <p:cNvSpPr/>
          <p:nvPr/>
        </p:nvSpPr>
        <p:spPr>
          <a:xfrm>
            <a:off x="449262" y="112768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14" name="テキスト ボックス 13">
            <a:extLst>
              <a:ext uri="{FF2B5EF4-FFF2-40B4-BE49-F238E27FC236}">
                <a16:creationId xmlns:a16="http://schemas.microsoft.com/office/drawing/2014/main" id="{E4EAC5C5-4B19-168C-44C3-D63B9FCB0292}"/>
              </a:ext>
            </a:extLst>
          </p:cNvPr>
          <p:cNvSpPr txBox="1"/>
          <p:nvPr/>
        </p:nvSpPr>
        <p:spPr>
          <a:xfrm>
            <a:off x="2114550" y="1404897"/>
            <a:ext cx="7768831" cy="1101584"/>
          </a:xfrm>
          <a:prstGeom prst="rect">
            <a:avLst/>
          </a:prstGeom>
          <a:noFill/>
        </p:spPr>
        <p:txBody>
          <a:bodyPr wrap="square" lIns="0" tIns="0" rIns="0" bIns="0" rtlCol="0" anchor="ctr">
            <a:spAutoFit/>
          </a:bodyPr>
          <a:lstStyle/>
          <a:p>
            <a:pPr>
              <a:lnSpc>
                <a:spcPct val="120000"/>
              </a:lnSpc>
              <a:spcAft>
                <a:spcPts val="600"/>
              </a:spcAft>
            </a:pPr>
            <a:r>
              <a:rPr lang="ja-JP" altLang="en-US" sz="1300" b="1" spc="30" dirty="0">
                <a:solidFill>
                  <a:srgbClr val="0B3041"/>
                </a:solidFill>
                <a:latin typeface="+mj-ea"/>
                <a:ea typeface="+mj-ea"/>
              </a:rPr>
              <a:t>成田空港至近で東京税関許可の保税蔵置場を自社運営</a:t>
            </a:r>
            <a:endParaRPr lang="en-US" altLang="ja-JP" sz="1600" b="1" spc="30" dirty="0">
              <a:solidFill>
                <a:sysClr val="windowText" lastClr="000000"/>
              </a:solidFill>
              <a:latin typeface="+mj-ea"/>
              <a:ea typeface="+mj-ea"/>
            </a:endParaRPr>
          </a:p>
          <a:p>
            <a:pPr>
              <a:lnSpc>
                <a:spcPct val="120000"/>
              </a:lnSpc>
              <a:spcAft>
                <a:spcPts val="600"/>
              </a:spcAft>
            </a:pPr>
            <a:r>
              <a:rPr lang="ja-JP" altLang="en-US" sz="950" b="1" spc="30" dirty="0">
                <a:solidFill>
                  <a:sysClr val="windowText" lastClr="000000"/>
                </a:solidFill>
                <a:latin typeface="+mj-ea"/>
                <a:ea typeface="+mj-ea"/>
              </a:rPr>
              <a:t>2024年12月に保税蔵置場許可（輸出一般貨物・輸出冷凍冷蔵貨物、許可期間2030年11月まで）を取得。設備・管理体制・保税業務の知見が求められ新規参入の障壁となる許認可であり、梱包から保税蔵置・爆発物検査までを一拠点で完結できる。</a:t>
            </a:r>
            <a:endParaRPr lang="en-US" altLang="ja-JP" sz="1600" b="1" spc="30" dirty="0">
              <a:solidFill>
                <a:sysClr val="windowText" lastClr="000000"/>
              </a:solidFill>
              <a:latin typeface="+mj-ea"/>
              <a:ea typeface="+mj-ea"/>
            </a:endParaRPr>
          </a:p>
        </p:txBody>
      </p:sp>
      <p:sp>
        <p:nvSpPr>
          <p:cNvPr id="3" name="タイトル 2">
            <a:extLst>
              <a:ext uri="{FF2B5EF4-FFF2-40B4-BE49-F238E27FC236}">
                <a16:creationId xmlns:a16="http://schemas.microsoft.com/office/drawing/2014/main" id="{3DD08FDB-DE43-2BEC-7657-AFC65253B448}"/>
              </a:ext>
            </a:extLst>
          </p:cNvPr>
          <p:cNvSpPr>
            <a:spLocks noGrp="1"/>
          </p:cNvSpPr>
          <p:nvPr>
            <p:ph type="ctrTitle"/>
          </p:nvPr>
        </p:nvSpPr>
        <p:spPr/>
        <p:txBody>
          <a:bodyPr/>
          <a:lstStyle/>
          <a:p>
            <a:r>
              <a:rPr lang="ja-JP" altLang="en-US" dirty="0"/>
              <a:t>特徴</a:t>
            </a:r>
          </a:p>
        </p:txBody>
      </p:sp>
      <p:sp>
        <p:nvSpPr>
          <p:cNvPr id="2" name="タイトル 1">
            <a:extLst>
              <a:ext uri="{FF2B5EF4-FFF2-40B4-BE49-F238E27FC236}">
                <a16:creationId xmlns:a16="http://schemas.microsoft.com/office/drawing/2014/main" id="{0A4FF749-E8A2-9754-A990-0C08664F52BF}"/>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spc="0" dirty="0"/>
              <a:t>事業概要</a:t>
            </a:r>
          </a:p>
        </p:txBody>
      </p:sp>
      <p:cxnSp>
        <p:nvCxnSpPr>
          <p:cNvPr id="4" name="直線コネクタ 3">
            <a:extLst>
              <a:ext uri="{FF2B5EF4-FFF2-40B4-BE49-F238E27FC236}">
                <a16:creationId xmlns:a16="http://schemas.microsoft.com/office/drawing/2014/main" id="{15777771-F922-A7C4-D3CB-74B58B03FF57}"/>
              </a:ext>
            </a:extLst>
          </p:cNvPr>
          <p:cNvCxnSpPr>
            <a:cxnSpLocks/>
          </p:cNvCxnSpPr>
          <p:nvPr/>
        </p:nvCxnSpPr>
        <p:spPr>
          <a:xfrm>
            <a:off x="449263" y="112311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2" name="正方形/長方形 11">
            <a:extLst>
              <a:ext uri="{FF2B5EF4-FFF2-40B4-BE49-F238E27FC236}">
                <a16:creationId xmlns:a16="http://schemas.microsoft.com/office/drawing/2014/main" id="{4D234CEC-3A04-0F25-446A-5400388CA526}"/>
              </a:ext>
            </a:extLst>
          </p:cNvPr>
          <p:cNvSpPr/>
          <p:nvPr/>
        </p:nvSpPr>
        <p:spPr>
          <a:xfrm>
            <a:off x="647115" y="1469688"/>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特徴</a:t>
            </a:r>
            <a:endParaRPr lang="en-US" altLang="ja-JP" b="1" spc="70" dirty="0">
              <a:solidFill>
                <a:schemeClr val="bg1"/>
              </a:solidFill>
              <a:latin typeface="+mj-ea"/>
              <a:ea typeface="+mj-ea"/>
            </a:endParaRPr>
          </a:p>
        </p:txBody>
      </p:sp>
      <p:sp>
        <p:nvSpPr>
          <p:cNvPr id="18" name="正方形/長方形 17">
            <a:extLst>
              <a:ext uri="{FF2B5EF4-FFF2-40B4-BE49-F238E27FC236}">
                <a16:creationId xmlns:a16="http://schemas.microsoft.com/office/drawing/2014/main" id="{0C864657-FFF0-FA13-5524-DC1F4F22D1C8}"/>
              </a:ext>
            </a:extLst>
          </p:cNvPr>
          <p:cNvSpPr/>
          <p:nvPr/>
        </p:nvSpPr>
        <p:spPr>
          <a:xfrm>
            <a:off x="449262" y="312455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0" name="テキスト ボックス 19">
            <a:extLst>
              <a:ext uri="{FF2B5EF4-FFF2-40B4-BE49-F238E27FC236}">
                <a16:creationId xmlns:a16="http://schemas.microsoft.com/office/drawing/2014/main" id="{48644844-8906-9AF0-5D0D-98648174194F}"/>
              </a:ext>
            </a:extLst>
          </p:cNvPr>
          <p:cNvSpPr txBox="1"/>
          <p:nvPr/>
        </p:nvSpPr>
        <p:spPr>
          <a:xfrm>
            <a:off x="2114550" y="3551039"/>
            <a:ext cx="7768831" cy="803040"/>
          </a:xfrm>
          <a:prstGeom prst="rect">
            <a:avLst/>
          </a:prstGeom>
          <a:noFill/>
        </p:spPr>
        <p:txBody>
          <a:bodyPr wrap="square" lIns="0" tIns="0" rIns="0" bIns="0" rtlCol="0" anchor="ctr">
            <a:spAutoFit/>
          </a:bodyPr>
          <a:lstStyle/>
          <a:p>
            <a:pPr>
              <a:lnSpc>
                <a:spcPct val="120000"/>
              </a:lnSpc>
              <a:spcAft>
                <a:spcPts val="600"/>
              </a:spcAft>
            </a:pPr>
            <a:r>
              <a:rPr lang="ja-JP" altLang="en-US" sz="1300" b="1" spc="30" dirty="0">
                <a:solidFill>
                  <a:srgbClr val="0B3041"/>
                </a:solidFill>
                <a:latin typeface="+mj-ea"/>
                <a:ea typeface="+mj-ea"/>
              </a:rPr>
              <a:t>スピード梱包と特殊梱包のノウハウ</a:t>
            </a:r>
            <a:endParaRPr lang="en-US" altLang="ja-JP" sz="1600" b="1" spc="30" dirty="0">
              <a:solidFill>
                <a:sysClr val="windowText" lastClr="000000"/>
              </a:solidFill>
              <a:latin typeface="+mj-ea"/>
              <a:ea typeface="+mj-ea"/>
            </a:endParaRPr>
          </a:p>
          <a:p>
            <a:pPr>
              <a:lnSpc>
                <a:spcPct val="120000"/>
              </a:lnSpc>
              <a:spcAft>
                <a:spcPts val="600"/>
              </a:spcAft>
            </a:pPr>
            <a:r>
              <a:rPr lang="ja-JP" altLang="en-US" sz="950" b="1" spc="30" dirty="0">
                <a:solidFill>
                  <a:sysClr val="windowText" lastClr="000000"/>
                </a:solidFill>
                <a:latin typeface="+mj-ea"/>
                <a:ea typeface="+mj-ea"/>
              </a:rPr>
              <a:t>段ボール裁断機により製品サイズに合わせた梱包材を即時に作成でき、短時間でのサイズ合わせ梱包が可能。ドライアイス保冷梱包やDHL指定仕様の梱包にも対応し、即日対応を求める航空貨物のニーズに応える。</a:t>
            </a:r>
            <a:endParaRPr lang="en-US" altLang="ja-JP" sz="1600" b="1" spc="30" dirty="0">
              <a:solidFill>
                <a:sysClr val="windowText" lastClr="000000"/>
              </a:solidFill>
              <a:latin typeface="+mj-ea"/>
              <a:ea typeface="+mj-ea"/>
            </a:endParaRPr>
          </a:p>
        </p:txBody>
      </p:sp>
      <p:cxnSp>
        <p:nvCxnSpPr>
          <p:cNvPr id="21" name="直線コネクタ 20">
            <a:extLst>
              <a:ext uri="{FF2B5EF4-FFF2-40B4-BE49-F238E27FC236}">
                <a16:creationId xmlns:a16="http://schemas.microsoft.com/office/drawing/2014/main" id="{3CCDB214-2D0E-0EEE-88F8-7201AB775BEA}"/>
              </a:ext>
            </a:extLst>
          </p:cNvPr>
          <p:cNvCxnSpPr>
            <a:cxnSpLocks/>
          </p:cNvCxnSpPr>
          <p:nvPr/>
        </p:nvCxnSpPr>
        <p:spPr>
          <a:xfrm>
            <a:off x="449263" y="311998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7" name="正方形/長方形 26">
            <a:extLst>
              <a:ext uri="{FF2B5EF4-FFF2-40B4-BE49-F238E27FC236}">
                <a16:creationId xmlns:a16="http://schemas.microsoft.com/office/drawing/2014/main" id="{8C7E43AC-FD21-D8FF-812C-F486F11E9CD0}"/>
              </a:ext>
            </a:extLst>
          </p:cNvPr>
          <p:cNvSpPr/>
          <p:nvPr/>
        </p:nvSpPr>
        <p:spPr>
          <a:xfrm>
            <a:off x="647115" y="3466558"/>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強み</a:t>
            </a:r>
            <a:endParaRPr lang="en-US" altLang="ja-JP" b="1" spc="70" dirty="0">
              <a:solidFill>
                <a:schemeClr val="bg1"/>
              </a:solidFill>
              <a:latin typeface="+mj-ea"/>
              <a:ea typeface="+mj-ea"/>
            </a:endParaRPr>
          </a:p>
        </p:txBody>
      </p:sp>
      <p:sp>
        <p:nvSpPr>
          <p:cNvPr id="28" name="正方形/長方形 27">
            <a:extLst>
              <a:ext uri="{FF2B5EF4-FFF2-40B4-BE49-F238E27FC236}">
                <a16:creationId xmlns:a16="http://schemas.microsoft.com/office/drawing/2014/main" id="{0BB6E073-4046-E1C0-AB4F-403D39FF250A}"/>
              </a:ext>
            </a:extLst>
          </p:cNvPr>
          <p:cNvSpPr/>
          <p:nvPr/>
        </p:nvSpPr>
        <p:spPr>
          <a:xfrm>
            <a:off x="449262" y="5112286"/>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9" name="テキスト ボックス 28">
            <a:extLst>
              <a:ext uri="{FF2B5EF4-FFF2-40B4-BE49-F238E27FC236}">
                <a16:creationId xmlns:a16="http://schemas.microsoft.com/office/drawing/2014/main" id="{91275261-EC0D-E601-4242-EE2F20F981A2}"/>
              </a:ext>
            </a:extLst>
          </p:cNvPr>
          <p:cNvSpPr txBox="1"/>
          <p:nvPr/>
        </p:nvSpPr>
        <p:spPr>
          <a:xfrm>
            <a:off x="2114550" y="5538767"/>
            <a:ext cx="7768831" cy="803040"/>
          </a:xfrm>
          <a:prstGeom prst="rect">
            <a:avLst/>
          </a:prstGeom>
          <a:noFill/>
        </p:spPr>
        <p:txBody>
          <a:bodyPr wrap="square" lIns="0" tIns="0" rIns="0" bIns="0" rtlCol="0" anchor="ctr">
            <a:spAutoFit/>
          </a:bodyPr>
          <a:lstStyle/>
          <a:p>
            <a:pPr>
              <a:lnSpc>
                <a:spcPct val="120000"/>
              </a:lnSpc>
              <a:spcAft>
                <a:spcPts val="600"/>
              </a:spcAft>
            </a:pPr>
            <a:r>
              <a:rPr lang="ja-JP" altLang="en-US" sz="1300" b="1" spc="30" dirty="0">
                <a:solidFill>
                  <a:srgbClr val="0B3041"/>
                </a:solidFill>
                <a:latin typeface="+mj-ea"/>
                <a:ea typeface="+mj-ea"/>
              </a:rPr>
              <a:t>梱包周辺業務への拡張余地（仮説）</a:t>
            </a:r>
            <a:endParaRPr lang="en-US" altLang="ja-JP" sz="1600" b="1" spc="30" dirty="0">
              <a:solidFill>
                <a:sysClr val="windowText" lastClr="000000"/>
              </a:solidFill>
              <a:latin typeface="+mj-ea"/>
              <a:ea typeface="+mj-ea"/>
            </a:endParaRPr>
          </a:p>
          <a:p>
            <a:pPr>
              <a:lnSpc>
                <a:spcPct val="120000"/>
              </a:lnSpc>
              <a:spcAft>
                <a:spcPts val="600"/>
              </a:spcAft>
            </a:pPr>
            <a:r>
              <a:rPr lang="ja-JP" altLang="en-US" sz="950" b="1" spc="30" dirty="0">
                <a:solidFill>
                  <a:sysClr val="windowText" lastClr="000000"/>
                </a:solidFill>
                <a:latin typeface="+mj-ea"/>
                <a:ea typeface="+mj-ea"/>
              </a:rPr>
              <a:t>37期は保税取扱・爆発物検査、フォワーダーの事務作業受託が伸長。物流網・営業基盤を持つ買手と組むことで倉庫稼働率を高め、固定費（倉庫賃料）を吸収できる余地があると想定。</a:t>
            </a:r>
            <a:endParaRPr lang="en-US" altLang="ja-JP" sz="1600" b="1" spc="30" dirty="0">
              <a:solidFill>
                <a:sysClr val="windowText" lastClr="000000"/>
              </a:solidFill>
              <a:latin typeface="+mj-ea"/>
              <a:ea typeface="+mj-ea"/>
            </a:endParaRPr>
          </a:p>
        </p:txBody>
      </p:sp>
      <p:cxnSp>
        <p:nvCxnSpPr>
          <p:cNvPr id="30" name="直線コネクタ 29">
            <a:extLst>
              <a:ext uri="{FF2B5EF4-FFF2-40B4-BE49-F238E27FC236}">
                <a16:creationId xmlns:a16="http://schemas.microsoft.com/office/drawing/2014/main" id="{9E59F759-029D-ACD7-2E8B-82D0E894FB13}"/>
              </a:ext>
            </a:extLst>
          </p:cNvPr>
          <p:cNvCxnSpPr>
            <a:cxnSpLocks/>
          </p:cNvCxnSpPr>
          <p:nvPr/>
        </p:nvCxnSpPr>
        <p:spPr>
          <a:xfrm>
            <a:off x="449263" y="5107715"/>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31" name="正方形/長方形 30">
            <a:extLst>
              <a:ext uri="{FF2B5EF4-FFF2-40B4-BE49-F238E27FC236}">
                <a16:creationId xmlns:a16="http://schemas.microsoft.com/office/drawing/2014/main" id="{9F97658D-62E2-B46F-7C6B-A887412B79A8}"/>
              </a:ext>
            </a:extLst>
          </p:cNvPr>
          <p:cNvSpPr/>
          <p:nvPr/>
        </p:nvSpPr>
        <p:spPr>
          <a:xfrm>
            <a:off x="647115" y="5454286"/>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成長性</a:t>
            </a:r>
            <a:endParaRPr lang="en-US" altLang="ja-JP" b="1" spc="70" dirty="0">
              <a:solidFill>
                <a:schemeClr val="bg1"/>
              </a:solidFill>
              <a:latin typeface="+mj-ea"/>
              <a:ea typeface="+mj-ea"/>
            </a:endParaRPr>
          </a:p>
        </p:txBody>
      </p:sp>
    </p:spTree>
    <p:extLst>
      <p:ext uri="{BB962C8B-B14F-4D97-AF65-F5344CB8AC3E}">
        <p14:creationId xmlns:p14="http://schemas.microsoft.com/office/powerpoint/2010/main" val="27210844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組織、拠点、設備等</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17978255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7F8BB-F852-9D0D-47DC-B75AAADC3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D80B5D-88ED-D63E-E6F8-E5830356F6CE}"/>
              </a:ext>
            </a:extLst>
          </p:cNvPr>
          <p:cNvSpPr>
            <a:spLocks noGrp="1"/>
          </p:cNvSpPr>
          <p:nvPr>
            <p:ph type="title"/>
          </p:nvPr>
        </p:nvSpPr>
        <p:spPr>
          <a:xfrm>
            <a:off x="989013" y="3656161"/>
            <a:ext cx="9221787" cy="615553"/>
          </a:xfrm>
        </p:spPr>
        <p:txBody>
          <a:bodyPr/>
          <a:lstStyle/>
          <a:p>
            <a:r>
              <a:rPr lang="ja-JP" altLang="en-US" dirty="0"/>
              <a:t>財務情報詳細</a:t>
            </a:r>
            <a:endParaRPr lang="en-US" altLang="ja-JP" dirty="0"/>
          </a:p>
        </p:txBody>
      </p:sp>
      <p:pic>
        <p:nvPicPr>
          <p:cNvPr id="7" name="図 6">
            <a:extLst>
              <a:ext uri="{FF2B5EF4-FFF2-40B4-BE49-F238E27FC236}">
                <a16:creationId xmlns:a16="http://schemas.microsoft.com/office/drawing/2014/main" id="{8C09C92A-09D2-050E-A69D-9DE4E20EEFE4}"/>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A963349D-952A-7D05-26B2-AC270183F230}"/>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15844496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E9481-F171-6C11-CA74-858754CED30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1067C0B-FDBB-DAD1-C4BF-FB866758BEC6}"/>
              </a:ext>
            </a:extLst>
          </p:cNvPr>
          <p:cNvSpPr>
            <a:spLocks noGrp="1"/>
          </p:cNvSpPr>
          <p:nvPr>
            <p:ph type="title"/>
          </p:nvPr>
        </p:nvSpPr>
        <p:spPr>
          <a:xfrm>
            <a:off x="989013" y="3656161"/>
            <a:ext cx="9221787" cy="615553"/>
          </a:xfrm>
        </p:spPr>
        <p:txBody>
          <a:bodyPr/>
          <a:lstStyle/>
          <a:p>
            <a:r>
              <a:rPr lang="en-US" altLang="ja-JP" dirty="0"/>
              <a:t>Appendix</a:t>
            </a:r>
          </a:p>
        </p:txBody>
      </p:sp>
      <p:pic>
        <p:nvPicPr>
          <p:cNvPr id="7" name="図 6">
            <a:extLst>
              <a:ext uri="{FF2B5EF4-FFF2-40B4-BE49-F238E27FC236}">
                <a16:creationId xmlns:a16="http://schemas.microsoft.com/office/drawing/2014/main" id="{BE44F769-AF87-1EF8-CEAB-4A2DEB29EB7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41B259AF-F3E6-3AB0-F8AA-FC2C3824ADE5}"/>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341302377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75621-FF75-0C7B-591E-C5EBD950595B}"/>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E874B4C-2D5E-166C-B8B9-0164D0AAEFB9}"/>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その他補足情報</a:t>
            </a:r>
          </a:p>
        </p:txBody>
      </p:sp>
      <p:sp>
        <p:nvSpPr>
          <p:cNvPr id="5" name="タイトル 1">
            <a:extLst>
              <a:ext uri="{FF2B5EF4-FFF2-40B4-BE49-F238E27FC236}">
                <a16:creationId xmlns:a16="http://schemas.microsoft.com/office/drawing/2014/main" id="{8B300F08-EE1D-F462-B949-D3B040FD027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latin typeface="游ゴシック" panose="020B0400000000000000" pitchFamily="50" charset="-128"/>
                <a:ea typeface="游ゴシック" panose="020B0400000000000000" pitchFamily="50" charset="-128"/>
              </a:rPr>
              <a:t>Appendix</a:t>
            </a:r>
            <a:endParaRPr lang="ja-JP" altLang="en-US" sz="1200" b="1" spc="55" dirty="0">
              <a:solidFill>
                <a:schemeClr val="bg1"/>
              </a:solidFill>
              <a:latin typeface="游ゴシック" panose="020B0400000000000000" pitchFamily="50" charset="-128"/>
              <a:ea typeface="游ゴシック" panose="020B0400000000000000" pitchFamily="50" charset="-128"/>
            </a:endParaRPr>
          </a:p>
        </p:txBody>
      </p:sp>
      <p:sp>
        <p:nvSpPr>
          <p:cNvPr id="4" name="字幕 13">
            <a:extLst>
              <a:ext uri="{FF2B5EF4-FFF2-40B4-BE49-F238E27FC236}">
                <a16:creationId xmlns:a16="http://schemas.microsoft.com/office/drawing/2014/main" id="{FCA9575B-1240-BC5B-38CA-16FCB838E8D8}"/>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取引金融機関・顧問税理士等の補足情報。</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nvGraphicFramePr>
        <p:xfrm>
          <a:off x="310896" y="1463040"/>
          <a:ext cx="10040112" cy="5029200"/>
        </p:xfrm>
        <a:graphic>
          <a:graphicData uri="http://schemas.openxmlformats.org/drawingml/2006/table">
            <a:tbl>
              <a:tblPr firstRow="0" bandRow="0" firstCol="0" lastRow="0" lastCol="0" bandCol="0"/>
              <a:tblGrid>
                <a:gridCol w="1828800"/>
                <a:gridCol w="8211312"/>
              </a:tblGrid>
              <a:tr h="457200">
                <a:tc>
                  <a:txBody>
                    <a:bodyPr wrap="square"/>
                    <a:lstStyle/>
                    <a:p>
                      <a:pPr algn="ctr"/>
                      <a:r>
                        <a:rPr sz="1000" b="1">
                          <a:solidFill>
                            <a:srgbClr val="FFFFFF"/>
                          </a:solidFill>
                          <a:latin typeface="游ゴシック"/>
                          <a:ea typeface="游ゴシック"/>
                        </a:rPr>
                        <a:t>項目</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1000" b="1">
                          <a:solidFill>
                            <a:srgbClr val="FFFFFF"/>
                          </a:solidFill>
                          <a:latin typeface="游ゴシック"/>
                          <a:ea typeface="游ゴシック"/>
                        </a:rPr>
                        <a:t>内容</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457200">
                <a:tc>
                  <a:txBody>
                    <a:bodyPr wrap="square"/>
                    <a:lstStyle/>
                    <a:p>
                      <a:pPr algn="l"/>
                      <a:r>
                        <a:rPr sz="1000" b="1">
                          <a:solidFill>
                            <a:srgbClr val="000000"/>
                          </a:solidFill>
                          <a:latin typeface="游ゴシック"/>
                          <a:ea typeface="游ゴシック"/>
                        </a:rPr>
                        <a:t>取引金融機関</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1000" b="0">
                          <a:solidFill>
                            <a:srgbClr val="000000"/>
                          </a:solidFill>
                          <a:latin typeface="游ゴシック"/>
                          <a:ea typeface="游ゴシック"/>
                        </a:rPr>
                        <a:t>佐原信用金庫（成田支店・潮来支店）、日本政策金融公庫（千葉支店）、常陽銀行（潮来支店）</a:t>
                      </a:r>
                    </a:p>
                  </a:txBody>
                  <a:tcPr marL="45720" marR="45720" marT="9144" marB="9144" anchor="ctr">
                    <a:lnL>
                      <a:noFill/>
                    </a:lnL>
                    <a:lnR>
                      <a:noFill/>
                    </a:lnR>
                    <a:lnT>
                      <a:noFill/>
                    </a:lnT>
                    <a:lnB w="6350" cap="flat" cmpd="sng" algn="ctr">
                      <a:solidFill>
                        <a:srgbClr val="A6A6A6"/>
                      </a:solidFill>
                      <a:prstDash val="solid"/>
                    </a:lnB>
                    <a:noFill/>
                  </a:tcPr>
                </a:tc>
              </a:tr>
              <a:tr h="457200">
                <a:tc>
                  <a:txBody>
                    <a:bodyPr wrap="square"/>
                    <a:lstStyle/>
                    <a:p>
                      <a:pPr algn="l"/>
                      <a:r>
                        <a:rPr sz="1000" b="1">
                          <a:solidFill>
                            <a:srgbClr val="000000"/>
                          </a:solidFill>
                          <a:latin typeface="游ゴシック"/>
                          <a:ea typeface="游ゴシック"/>
                        </a:rPr>
                        <a:t>借入金（37期末）</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1000" b="0">
                          <a:solidFill>
                            <a:srgbClr val="000000"/>
                          </a:solidFill>
                          <a:latin typeface="游ゴシック"/>
                          <a:ea typeface="游ゴシック"/>
                        </a:rPr>
                        <a:t>佐原信用金庫15,478千円、日本政策金融公庫17,160千円（年2.80%、毎月260千円返済）※いずれも代表者連帯保証</a:t>
                      </a:r>
                    </a:p>
                  </a:txBody>
                  <a:tcPr marL="45720" marR="45720" marT="9144" marB="9144" anchor="ctr">
                    <a:lnL>
                      <a:noFill/>
                    </a:lnL>
                    <a:lnR>
                      <a:noFill/>
                    </a:lnR>
                    <a:lnT>
                      <a:noFill/>
                    </a:lnT>
                    <a:lnB w="6350" cap="flat" cmpd="sng" algn="ctr">
                      <a:solidFill>
                        <a:srgbClr val="A6A6A6"/>
                      </a:solidFill>
                      <a:prstDash val="solid"/>
                    </a:lnB>
                    <a:noFill/>
                  </a:tcPr>
                </a:tc>
              </a:tr>
              <a:tr h="457200">
                <a:tc>
                  <a:txBody>
                    <a:bodyPr wrap="square"/>
                    <a:lstStyle/>
                    <a:p>
                      <a:pPr algn="l"/>
                      <a:r>
                        <a:rPr sz="1000" b="1">
                          <a:solidFill>
                            <a:srgbClr val="000000"/>
                          </a:solidFill>
                          <a:latin typeface="游ゴシック"/>
                          <a:ea typeface="游ゴシック"/>
                        </a:rPr>
                        <a:t>顧問税理士</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1000" b="0">
                          <a:solidFill>
                            <a:srgbClr val="000000"/>
                          </a:solidFill>
                          <a:latin typeface="游ゴシック"/>
                          <a:ea typeface="游ゴシック"/>
                        </a:rPr>
                        <a:t>税理士法人岩本会計（茨城県潮来市）</a:t>
                      </a:r>
                    </a:p>
                  </a:txBody>
                  <a:tcPr marL="45720" marR="45720" marT="9144" marB="9144" anchor="ctr">
                    <a:lnL>
                      <a:noFill/>
                    </a:lnL>
                    <a:lnR>
                      <a:noFill/>
                    </a:lnR>
                    <a:lnT>
                      <a:noFill/>
                    </a:lnT>
                    <a:lnB w="6350" cap="flat" cmpd="sng" algn="ctr">
                      <a:solidFill>
                        <a:srgbClr val="A6A6A6"/>
                      </a:solidFill>
                      <a:prstDash val="solid"/>
                    </a:lnB>
                    <a:noFill/>
                  </a:tcPr>
                </a:tc>
              </a:tr>
              <a:tr h="457200">
                <a:tc>
                  <a:txBody>
                    <a:bodyPr wrap="square"/>
                    <a:lstStyle/>
                    <a:p>
                      <a:pPr algn="l"/>
                      <a:r>
                        <a:rPr sz="1000" b="1">
                          <a:solidFill>
                            <a:srgbClr val="000000"/>
                          </a:solidFill>
                          <a:latin typeface="游ゴシック"/>
                          <a:ea typeface="游ゴシック"/>
                        </a:rPr>
                        <a:t>決算期</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1000" b="0">
                          <a:solidFill>
                            <a:srgbClr val="000000"/>
                          </a:solidFill>
                          <a:latin typeface="游ゴシック"/>
                          <a:ea typeface="游ゴシック"/>
                        </a:rPr>
                        <a:t>5月末日（申告：東金税務署）</a:t>
                      </a:r>
                    </a:p>
                  </a:txBody>
                  <a:tcPr marL="45720" marR="45720" marT="9144" marB="9144" anchor="ctr">
                    <a:lnL>
                      <a:noFill/>
                    </a:lnL>
                    <a:lnR>
                      <a:noFill/>
                    </a:lnR>
                    <a:lnT>
                      <a:noFill/>
                    </a:lnT>
                    <a:lnB w="6350" cap="flat" cmpd="sng" algn="ctr">
                      <a:solidFill>
                        <a:srgbClr val="A6A6A6"/>
                      </a:solidFill>
                      <a:prstDash val="solid"/>
                    </a:lnB>
                    <a:noFill/>
                  </a:tcPr>
                </a:tc>
              </a:tr>
              <a:tr h="457200">
                <a:tc>
                  <a:txBody>
                    <a:bodyPr wrap="square"/>
                    <a:lstStyle/>
                    <a:p>
                      <a:pPr algn="l"/>
                      <a:r>
                        <a:rPr sz="1000" b="1">
                          <a:solidFill>
                            <a:srgbClr val="000000"/>
                          </a:solidFill>
                          <a:latin typeface="游ゴシック"/>
                          <a:ea typeface="游ゴシック"/>
                        </a:rPr>
                        <a:t>主要契約</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1000" b="0">
                          <a:solidFill>
                            <a:srgbClr val="000000"/>
                          </a:solidFill>
                          <a:latin typeface="游ゴシック"/>
                          <a:ea typeface="游ゴシック"/>
                        </a:rPr>
                        <a:t>DHL物品・役務取引基本契約（2022年9月、自動更新）、同個別契約（新千歳・2025年6月～）、定期建物転貸借契約（航空集配サービス、2026年5月～2029年4月）</a:t>
                      </a:r>
                    </a:p>
                  </a:txBody>
                  <a:tcPr marL="45720" marR="45720" marT="9144" marB="9144" anchor="ctr">
                    <a:lnL>
                      <a:noFill/>
                    </a:lnL>
                    <a:lnR>
                      <a:noFill/>
                    </a:lnR>
                    <a:lnT>
                      <a:noFill/>
                    </a:lnT>
                    <a:lnB w="6350" cap="flat" cmpd="sng" algn="ctr">
                      <a:solidFill>
                        <a:srgbClr val="A6A6A6"/>
                      </a:solidFill>
                      <a:prstDash val="solid"/>
                    </a:lnB>
                    <a:noFill/>
                  </a:tcPr>
                </a:tc>
              </a:tr>
              <a:tr h="457200">
                <a:tc>
                  <a:txBody>
                    <a:bodyPr wrap="square"/>
                    <a:lstStyle/>
                    <a:p>
                      <a:pPr algn="l"/>
                      <a:r>
                        <a:rPr sz="1000" b="1">
                          <a:solidFill>
                            <a:srgbClr val="000000"/>
                          </a:solidFill>
                          <a:latin typeface="游ゴシック"/>
                          <a:ea typeface="游ゴシック"/>
                        </a:rPr>
                        <a:t>リース・レンタル</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1000" b="0">
                          <a:solidFill>
                            <a:srgbClr val="000000"/>
                          </a:solidFill>
                          <a:latin typeface="游ゴシック"/>
                          <a:ea typeface="游ゴシック"/>
                        </a:rPr>
                        <a:t>フォークリフト（トヨタL&amp;F）、ユニットハウス（レンタックス）はレンタルで調達。契約条件・残期間は要確認</a:t>
                      </a:r>
                    </a:p>
                  </a:txBody>
                  <a:tcPr marL="45720" marR="45720" marT="9144" marB="9144" anchor="ctr">
                    <a:lnL>
                      <a:noFill/>
                    </a:lnL>
                    <a:lnR>
                      <a:noFill/>
                    </a:lnR>
                    <a:lnT>
                      <a:noFill/>
                    </a:lnT>
                    <a:lnB w="6350" cap="flat" cmpd="sng" algn="ctr">
                      <a:solidFill>
                        <a:srgbClr val="A6A6A6"/>
                      </a:solidFill>
                      <a:prstDash val="solid"/>
                    </a:lnB>
                    <a:noFill/>
                  </a:tcPr>
                </a:tc>
              </a:tr>
              <a:tr h="457200">
                <a:tc>
                  <a:txBody>
                    <a:bodyPr wrap="square"/>
                    <a:lstStyle/>
                    <a:p>
                      <a:pPr algn="l"/>
                      <a:r>
                        <a:rPr sz="1000" b="1">
                          <a:solidFill>
                            <a:srgbClr val="000000"/>
                          </a:solidFill>
                          <a:latin typeface="游ゴシック"/>
                          <a:ea typeface="游ゴシック"/>
                        </a:rPr>
                        <a:t>退職金制度</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1000" b="0">
                          <a:solidFill>
                            <a:srgbClr val="000000"/>
                          </a:solidFill>
                          <a:latin typeface="游ゴシック"/>
                          <a:ea typeface="游ゴシック"/>
                        </a:rPr>
                        <a:t>中小企業退職金共済に加入（37期掛金2,380千円）。中退共以外の上乗せ給付の有無・退職金規程は要確認</a:t>
                      </a:r>
                    </a:p>
                  </a:txBody>
                  <a:tcPr marL="45720" marR="45720" marT="9144" marB="9144" anchor="ctr">
                    <a:lnL>
                      <a:noFill/>
                    </a:lnL>
                    <a:lnR>
                      <a:noFill/>
                    </a:lnR>
                    <a:lnT>
                      <a:noFill/>
                    </a:lnT>
                    <a:lnB w="6350" cap="flat" cmpd="sng" algn="ctr">
                      <a:solidFill>
                        <a:srgbClr val="A6A6A6"/>
                      </a:solidFill>
                      <a:prstDash val="solid"/>
                    </a:lnB>
                    <a:noFill/>
                  </a:tcPr>
                </a:tc>
              </a:tr>
              <a:tr h="457200">
                <a:tc>
                  <a:txBody>
                    <a:bodyPr wrap="square"/>
                    <a:lstStyle/>
                    <a:p>
                      <a:pPr algn="l"/>
                      <a:r>
                        <a:rPr sz="1000" b="1">
                          <a:solidFill>
                            <a:srgbClr val="000000"/>
                          </a:solidFill>
                          <a:latin typeface="游ゴシック"/>
                          <a:ea typeface="游ゴシック"/>
                        </a:rPr>
                        <a:t>就業規則・労務</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1000" b="0">
                          <a:solidFill>
                            <a:srgbClr val="000000"/>
                          </a:solidFill>
                          <a:latin typeface="游ゴシック"/>
                          <a:ea typeface="游ゴシック"/>
                        </a:rPr>
                        <a:t>就業規則・36協定の整備状況は要確認</a:t>
                      </a:r>
                    </a:p>
                  </a:txBody>
                  <a:tcPr marL="45720" marR="45720" marT="9144" marB="9144" anchor="ctr">
                    <a:lnL>
                      <a:noFill/>
                    </a:lnL>
                    <a:lnR>
                      <a:noFill/>
                    </a:lnR>
                    <a:lnT>
                      <a:noFill/>
                    </a:lnT>
                    <a:lnB w="6350" cap="flat" cmpd="sng" algn="ctr">
                      <a:solidFill>
                        <a:srgbClr val="A6A6A6"/>
                      </a:solidFill>
                      <a:prstDash val="solid"/>
                    </a:lnB>
                    <a:noFill/>
                  </a:tcPr>
                </a:tc>
              </a:tr>
              <a:tr h="457200">
                <a:tc>
                  <a:txBody>
                    <a:bodyPr wrap="square"/>
                    <a:lstStyle/>
                    <a:p>
                      <a:pPr algn="l"/>
                      <a:r>
                        <a:rPr sz="1000" b="1">
                          <a:solidFill>
                            <a:srgbClr val="000000"/>
                          </a:solidFill>
                          <a:latin typeface="游ゴシック"/>
                          <a:ea typeface="游ゴシック"/>
                        </a:rPr>
                        <a:t>保険</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1000" b="0">
                          <a:solidFill>
                            <a:srgbClr val="000000"/>
                          </a:solidFill>
                          <a:latin typeface="游ゴシック"/>
                          <a:ea typeface="游ゴシック"/>
                        </a:rPr>
                        <a:t>販管費の保険料1,147千円（37期）の内容（掛捨て／積立）は要確認</a:t>
                      </a:r>
                    </a:p>
                  </a:txBody>
                  <a:tcPr marL="45720" marR="45720" marT="9144" marB="9144" anchor="ctr">
                    <a:lnL>
                      <a:noFill/>
                    </a:lnL>
                    <a:lnR>
                      <a:noFill/>
                    </a:lnR>
                    <a:lnT>
                      <a:noFill/>
                    </a:lnT>
                    <a:lnB w="6350" cap="flat" cmpd="sng" algn="ctr">
                      <a:solidFill>
                        <a:srgbClr val="A6A6A6"/>
                      </a:solidFill>
                      <a:prstDash val="solid"/>
                    </a:lnB>
                    <a:noFill/>
                  </a:tcPr>
                </a:tc>
              </a:tr>
              <a:tr h="457200">
                <a:tc>
                  <a:txBody>
                    <a:bodyPr wrap="square"/>
                    <a:lstStyle/>
                    <a:p>
                      <a:pPr algn="l"/>
                      <a:r>
                        <a:rPr sz="1000" b="1">
                          <a:solidFill>
                            <a:srgbClr val="000000"/>
                          </a:solidFill>
                          <a:latin typeface="游ゴシック"/>
                          <a:ea typeface="游ゴシック"/>
                        </a:rPr>
                        <a:t>所属団体</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1000" b="0">
                          <a:solidFill>
                            <a:srgbClr val="000000"/>
                          </a:solidFill>
                          <a:latin typeface="游ゴシック"/>
                          <a:ea typeface="游ゴシック"/>
                        </a:rPr>
                        <a:t>要確認</a:t>
                      </a:r>
                    </a:p>
                  </a:txBody>
                  <a:tcPr marL="45720" marR="45720" marT="9144" marB="9144" anchor="ctr">
                    <a:lnL>
                      <a:noFill/>
                    </a:lnL>
                    <a:lnR>
                      <a:noFill/>
                    </a:lnR>
                    <a:lnT>
                      <a:noFill/>
                    </a:lnT>
                    <a:lnB w="6350" cap="flat" cmpd="sng" algn="ctr">
                      <a:solidFill>
                        <a:srgbClr val="A6A6A6"/>
                      </a:solidFill>
                      <a:prstDash val="solid"/>
                    </a:lnB>
                    <a:noFill/>
                  </a:tcPr>
                </a:tc>
              </a:tr>
            </a:tbl>
          </a:graphicData>
        </a:graphic>
      </p:graphicFrame>
    </p:spTree>
    <p:extLst>
      <p:ext uri="{BB962C8B-B14F-4D97-AF65-F5344CB8AC3E}">
        <p14:creationId xmlns:p14="http://schemas.microsoft.com/office/powerpoint/2010/main" val="80568870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89F2FC56-6ADD-9704-B514-62FD74DE3ED5}"/>
              </a:ext>
            </a:extLst>
          </p:cNvPr>
          <p:cNvSpPr/>
          <p:nvPr/>
        </p:nvSpPr>
        <p:spPr>
          <a:xfrm>
            <a:off x="449263" y="1362266"/>
            <a:ext cx="3816000" cy="366383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360000" rIns="180000" bIns="0" rtlCol="0" anchor="t"/>
          <a:lstStyle/>
          <a:p>
            <a:pPr algn="ctr">
              <a:buClr>
                <a:schemeClr val="tx2"/>
              </a:buClr>
              <a:buSzPct val="80000"/>
            </a:pPr>
            <a:endParaRPr kumimoji="1" lang="zh-TW" altLang="en-US" sz="2000" b="1" spc="110" dirty="0">
              <a:solidFill>
                <a:schemeClr val="tx2"/>
              </a:solidFill>
              <a:latin typeface="+mj-ea"/>
              <a:ea typeface="+mj-ea"/>
            </a:endParaRPr>
          </a:p>
        </p:txBody>
      </p:sp>
      <p:sp>
        <p:nvSpPr>
          <p:cNvPr id="34" name="正方形/長方形 33">
            <a:extLst>
              <a:ext uri="{FF2B5EF4-FFF2-40B4-BE49-F238E27FC236}">
                <a16:creationId xmlns:a16="http://schemas.microsoft.com/office/drawing/2014/main" id="{F2057333-40C8-2D4A-60A4-202E9B7B444C}"/>
              </a:ext>
            </a:extLst>
          </p:cNvPr>
          <p:cNvSpPr/>
          <p:nvPr/>
        </p:nvSpPr>
        <p:spPr>
          <a:xfrm>
            <a:off x="4522064" y="1362266"/>
            <a:ext cx="5724000" cy="572432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成功報酬</a:t>
            </a:r>
            <a:r>
              <a:rPr kumimoji="1" lang="en-US" altLang="ja-JP" sz="1800" spc="110" baseline="30000" dirty="0">
                <a:solidFill>
                  <a:schemeClr val="tx1"/>
                </a:solidFill>
                <a:latin typeface="+mj-ea"/>
                <a:ea typeface="+mj-ea"/>
              </a:rPr>
              <a:t>※2</a:t>
            </a:r>
            <a:r>
              <a:rPr kumimoji="1" lang="ja-JP" altLang="en-US" sz="1800" b="1" spc="110" dirty="0">
                <a:solidFill>
                  <a:schemeClr val="tx1"/>
                </a:solidFill>
                <a:latin typeface="+mj-ea"/>
                <a:ea typeface="+mj-ea"/>
              </a:rPr>
              <a:t>の算定方法</a:t>
            </a:r>
          </a:p>
        </p:txBody>
      </p:sp>
      <p:sp>
        <p:nvSpPr>
          <p:cNvPr id="6" name="字幕 5">
            <a:extLst>
              <a:ext uri="{FF2B5EF4-FFF2-40B4-BE49-F238E27FC236}">
                <a16:creationId xmlns:a16="http://schemas.microsoft.com/office/drawing/2014/main" id="{8B635CAA-C777-BCBD-D6CB-D6FE9099ED6B}"/>
              </a:ext>
            </a:extLst>
          </p:cNvPr>
          <p:cNvSpPr>
            <a:spLocks noGrp="1"/>
          </p:cNvSpPr>
          <p:nvPr>
            <p:ph type="subTitle" idx="1"/>
          </p:nvPr>
        </p:nvSpPr>
        <p:spPr>
          <a:xfrm>
            <a:off x="460675" y="830046"/>
            <a:ext cx="9781875" cy="241861"/>
          </a:xfrm>
        </p:spPr>
        <p:txBody>
          <a:bodyPr/>
          <a:lstStyle/>
          <a:p>
            <a:r>
              <a:rPr lang="ja-JP" altLang="en-US" dirty="0"/>
              <a:t>時価総資産</a:t>
            </a:r>
            <a:r>
              <a:rPr lang="en-US" altLang="ja-JP" dirty="0"/>
              <a:t>(</a:t>
            </a:r>
            <a:r>
              <a:rPr lang="ja-JP" altLang="en-US" dirty="0"/>
              <a:t>営業権含む</a:t>
            </a:r>
            <a:r>
              <a:rPr lang="en-US" altLang="ja-JP" dirty="0"/>
              <a:t>)</a:t>
            </a:r>
            <a:r>
              <a:rPr lang="ja-JP" altLang="en-US" dirty="0"/>
              <a:t>を基準とした報酬体系であり、独占交渉権獲得の段階まで費用は発生しません</a:t>
            </a:r>
            <a:endParaRPr lang="en-US" altLang="ja-JP" dirty="0"/>
          </a:p>
        </p:txBody>
      </p:sp>
      <p:sp>
        <p:nvSpPr>
          <p:cNvPr id="2" name="タイトル 1">
            <a:extLst>
              <a:ext uri="{FF2B5EF4-FFF2-40B4-BE49-F238E27FC236}">
                <a16:creationId xmlns:a16="http://schemas.microsoft.com/office/drawing/2014/main" id="{D080ECA5-1EC6-E0DA-1045-7623DC8B0517}"/>
              </a:ext>
            </a:extLst>
          </p:cNvPr>
          <p:cNvSpPr>
            <a:spLocks noGrp="1"/>
          </p:cNvSpPr>
          <p:nvPr>
            <p:ph type="ctrTitle"/>
          </p:nvPr>
        </p:nvSpPr>
        <p:spPr/>
        <p:txBody>
          <a:bodyPr/>
          <a:lstStyle/>
          <a:p>
            <a:r>
              <a:rPr lang="ja-JP" altLang="en-US" dirty="0"/>
              <a:t>報酬体系</a:t>
            </a:r>
          </a:p>
        </p:txBody>
      </p:sp>
      <p:sp>
        <p:nvSpPr>
          <p:cNvPr id="7" name="タイトル 1">
            <a:extLst>
              <a:ext uri="{FF2B5EF4-FFF2-40B4-BE49-F238E27FC236}">
                <a16:creationId xmlns:a16="http://schemas.microsoft.com/office/drawing/2014/main" id="{0DF55F9A-C4D7-02A8-F804-D2CAF9784F10}"/>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t>　</a:t>
            </a:r>
            <a:r>
              <a:rPr lang="en-US" altLang="ja-JP" dirty="0"/>
              <a:t>Appendix</a:t>
            </a:r>
            <a:endParaRPr lang="ja-JP" altLang="en-US" dirty="0"/>
          </a:p>
        </p:txBody>
      </p:sp>
      <p:cxnSp>
        <p:nvCxnSpPr>
          <p:cNvPr id="15" name="直線コネクタ 14">
            <a:extLst>
              <a:ext uri="{FF2B5EF4-FFF2-40B4-BE49-F238E27FC236}">
                <a16:creationId xmlns:a16="http://schemas.microsoft.com/office/drawing/2014/main" id="{CB8BC532-89AB-609B-2D65-2652067D6567}"/>
              </a:ext>
            </a:extLst>
          </p:cNvPr>
          <p:cNvCxnSpPr>
            <a:cxnSpLocks/>
          </p:cNvCxnSpPr>
          <p:nvPr/>
        </p:nvCxnSpPr>
        <p:spPr>
          <a:xfrm>
            <a:off x="449263" y="1362267"/>
            <a:ext cx="3816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8" name="正方形/長方形 17">
            <a:extLst>
              <a:ext uri="{FF2B5EF4-FFF2-40B4-BE49-F238E27FC236}">
                <a16:creationId xmlns:a16="http://schemas.microsoft.com/office/drawing/2014/main" id="{6E720941-89DA-5B24-F4D1-711BB1F814EF}"/>
              </a:ext>
            </a:extLst>
          </p:cNvPr>
          <p:cNvSpPr>
            <a:spLocks/>
          </p:cNvSpPr>
          <p:nvPr/>
        </p:nvSpPr>
        <p:spPr>
          <a:xfrm>
            <a:off x="768087" y="2452713"/>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zh-TW" altLang="en-US" sz="1600" b="1" spc="110" dirty="0">
                <a:solidFill>
                  <a:schemeClr val="tx2"/>
                </a:solidFill>
                <a:latin typeface="+mj-ea"/>
                <a:ea typeface="+mj-ea"/>
              </a:rPr>
              <a:t>着手金</a:t>
            </a:r>
            <a:endParaRPr kumimoji="1" lang="zh-TW" altLang="en-US" sz="1600" spc="110" baseline="30000" dirty="0">
              <a:solidFill>
                <a:schemeClr val="tx2"/>
              </a:solidFill>
              <a:latin typeface="+mj-ea"/>
              <a:ea typeface="+mj-ea"/>
            </a:endParaRPr>
          </a:p>
        </p:txBody>
      </p:sp>
      <p:sp>
        <p:nvSpPr>
          <p:cNvPr id="20" name="正方形/長方形 19">
            <a:extLst>
              <a:ext uri="{FF2B5EF4-FFF2-40B4-BE49-F238E27FC236}">
                <a16:creationId xmlns:a16="http://schemas.microsoft.com/office/drawing/2014/main" id="{C770662D-0186-159D-6B20-6AADFFE9CBBA}"/>
              </a:ext>
            </a:extLst>
          </p:cNvPr>
          <p:cNvSpPr>
            <a:spLocks/>
          </p:cNvSpPr>
          <p:nvPr/>
        </p:nvSpPr>
        <p:spPr>
          <a:xfrm>
            <a:off x="768087" y="3965025"/>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リテイナーフィー</a:t>
            </a:r>
            <a:endParaRPr kumimoji="1" lang="zh-TW" altLang="en-US" sz="1600" spc="110" baseline="30000" dirty="0">
              <a:solidFill>
                <a:schemeClr val="tx2"/>
              </a:solidFill>
              <a:latin typeface="+mj-ea"/>
              <a:ea typeface="+mj-ea"/>
            </a:endParaRPr>
          </a:p>
        </p:txBody>
      </p:sp>
      <p:sp>
        <p:nvSpPr>
          <p:cNvPr id="21" name="正方形/長方形 20">
            <a:extLst>
              <a:ext uri="{FF2B5EF4-FFF2-40B4-BE49-F238E27FC236}">
                <a16:creationId xmlns:a16="http://schemas.microsoft.com/office/drawing/2014/main" id="{E00098F5-AD27-787B-FFFF-9D575BB76654}"/>
              </a:ext>
            </a:extLst>
          </p:cNvPr>
          <p:cNvSpPr>
            <a:spLocks/>
          </p:cNvSpPr>
          <p:nvPr/>
        </p:nvSpPr>
        <p:spPr>
          <a:xfrm>
            <a:off x="768087" y="3208869"/>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情報提供料</a:t>
            </a:r>
            <a:endParaRPr kumimoji="1" lang="zh-TW" altLang="en-US" sz="1600" b="1" spc="110" dirty="0">
              <a:solidFill>
                <a:schemeClr val="tx2"/>
              </a:solidFill>
              <a:latin typeface="+mj-ea"/>
              <a:ea typeface="+mj-ea"/>
            </a:endParaRPr>
          </a:p>
        </p:txBody>
      </p:sp>
      <p:sp>
        <p:nvSpPr>
          <p:cNvPr id="24" name="テキスト ボックス 23">
            <a:extLst>
              <a:ext uri="{FF2B5EF4-FFF2-40B4-BE49-F238E27FC236}">
                <a16:creationId xmlns:a16="http://schemas.microsoft.com/office/drawing/2014/main" id="{732BB496-90B0-3CEC-6685-2DABCCD36309}"/>
              </a:ext>
            </a:extLst>
          </p:cNvPr>
          <p:cNvSpPr txBox="1"/>
          <p:nvPr/>
        </p:nvSpPr>
        <p:spPr>
          <a:xfrm>
            <a:off x="3604575" y="3422948"/>
            <a:ext cx="428323" cy="278731"/>
          </a:xfrm>
          <a:prstGeom prst="rect">
            <a:avLst/>
          </a:prstGeom>
          <a:noFill/>
        </p:spPr>
        <p:txBody>
          <a:bodyPr wrap="none" lIns="0" tIns="0" rIns="0" bIns="0" rtlCol="0">
            <a:spAutoFit/>
          </a:bodyPr>
          <a:lstStyle/>
          <a:p>
            <a:pPr algn="ctr">
              <a:lnSpc>
                <a:spcPct val="120000"/>
              </a:lnSpc>
              <a:buClr>
                <a:schemeClr val="tx2"/>
              </a:buClr>
              <a:buSzPct val="80000"/>
            </a:pPr>
            <a:r>
              <a:rPr lang="ja-JP" altLang="en-US" sz="1600" b="1" spc="70" dirty="0">
                <a:latin typeface="+mj-ea"/>
                <a:ea typeface="+mj-ea"/>
              </a:rPr>
              <a:t>無料</a:t>
            </a:r>
          </a:p>
        </p:txBody>
      </p:sp>
      <p:sp>
        <p:nvSpPr>
          <p:cNvPr id="30" name="右大かっこ 29">
            <a:extLst>
              <a:ext uri="{FF2B5EF4-FFF2-40B4-BE49-F238E27FC236}">
                <a16:creationId xmlns:a16="http://schemas.microsoft.com/office/drawing/2014/main" id="{3B1D8EBE-EC59-B246-AF6C-841872564D9C}"/>
              </a:ext>
            </a:extLst>
          </p:cNvPr>
          <p:cNvSpPr/>
          <p:nvPr/>
        </p:nvSpPr>
        <p:spPr>
          <a:xfrm>
            <a:off x="3324087" y="2479728"/>
            <a:ext cx="174824" cy="2097297"/>
          </a:xfrm>
          <a:prstGeom prst="rightBracket">
            <a:avLst>
              <a:gd name="adj" fmla="val 0"/>
            </a:avLst>
          </a:prstGeom>
          <a:ln w="12700">
            <a:solidFill>
              <a:schemeClr val="tx2"/>
            </a:solidFill>
            <a:prstDash val="sysDot"/>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36" name="正方形/長方形 35">
            <a:extLst>
              <a:ext uri="{FF2B5EF4-FFF2-40B4-BE49-F238E27FC236}">
                <a16:creationId xmlns:a16="http://schemas.microsoft.com/office/drawing/2014/main" id="{9AE04EFA-8A89-729B-C209-CDC92D8F408B}"/>
              </a:ext>
            </a:extLst>
          </p:cNvPr>
          <p:cNvSpPr/>
          <p:nvPr/>
        </p:nvSpPr>
        <p:spPr>
          <a:xfrm>
            <a:off x="4766690" y="6067960"/>
            <a:ext cx="4411464" cy="942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※2</a:t>
            </a:r>
            <a:r>
              <a:rPr lang="ja-JP" altLang="en-US" sz="800" dirty="0">
                <a:solidFill>
                  <a:schemeClr val="tx1"/>
                </a:solidFill>
                <a:latin typeface="+mn-ea"/>
              </a:rPr>
              <a:t>　以下の項目については上記報酬には含まれておりません。</a:t>
            </a:r>
          </a:p>
          <a:p>
            <a:pPr>
              <a:lnSpc>
                <a:spcPct val="110000"/>
              </a:lnSpc>
            </a:pPr>
            <a:r>
              <a:rPr lang="ja-JP" altLang="en-US" sz="800" dirty="0">
                <a:solidFill>
                  <a:schemeClr val="tx1"/>
                </a:solidFill>
                <a:latin typeface="+mn-ea"/>
              </a:rPr>
              <a:t>　　・買収監査、特殊な市場調査や技術評価、経営計画作成のための費用</a:t>
            </a:r>
          </a:p>
          <a:p>
            <a:pPr>
              <a:lnSpc>
                <a:spcPct val="110000"/>
              </a:lnSpc>
            </a:pPr>
            <a:r>
              <a:rPr lang="ja-JP" altLang="en-US" sz="800" dirty="0">
                <a:solidFill>
                  <a:schemeClr val="tx1"/>
                </a:solidFill>
                <a:latin typeface="+mn-ea"/>
              </a:rPr>
              <a:t>　　・登記費用および公認会計士、税理士、弁護士、不動産鑑定士等の専門家費用の実費</a:t>
            </a:r>
          </a:p>
          <a:p>
            <a:pPr>
              <a:lnSpc>
                <a:spcPct val="110000"/>
              </a:lnSpc>
            </a:pPr>
            <a:r>
              <a:rPr lang="ja-JP" altLang="en-US" sz="800" dirty="0">
                <a:solidFill>
                  <a:schemeClr val="tx1"/>
                </a:solidFill>
                <a:latin typeface="+mn-ea"/>
              </a:rPr>
              <a:t>　　・譲渡企業の海外事業所等訪問時の通訳費、当社および貴社関係者の交通費、宿泊費、日当</a:t>
            </a:r>
            <a:endParaRPr lang="en-US" altLang="ja-JP" sz="800" dirty="0">
              <a:solidFill>
                <a:schemeClr val="tx1"/>
              </a:solidFill>
              <a:latin typeface="+mn-ea"/>
            </a:endParaRPr>
          </a:p>
          <a:p>
            <a:pPr>
              <a:lnSpc>
                <a:spcPct val="110000"/>
              </a:lnSpc>
            </a:pPr>
            <a:r>
              <a:rPr lang="ja-JP" altLang="en-US" sz="800" dirty="0">
                <a:solidFill>
                  <a:schemeClr val="tx1"/>
                </a:solidFill>
                <a:latin typeface="+mn-ea"/>
              </a:rPr>
              <a:t>　　以下の場合、上記の各種報酬について別途ご相談いたします。</a:t>
            </a:r>
          </a:p>
          <a:p>
            <a:pPr>
              <a:lnSpc>
                <a:spcPct val="110000"/>
              </a:lnSpc>
            </a:pPr>
            <a:r>
              <a:rPr lang="ja-JP" altLang="en-US" sz="800" dirty="0">
                <a:solidFill>
                  <a:schemeClr val="tx1"/>
                </a:solidFill>
                <a:latin typeface="+mn-ea"/>
              </a:rPr>
              <a:t>　　・譲渡企業が関係会社を保有する場合や事業所を複数持つ場合</a:t>
            </a:r>
          </a:p>
          <a:p>
            <a:pPr>
              <a:lnSpc>
                <a:spcPct val="110000"/>
              </a:lnSpc>
            </a:pPr>
            <a:r>
              <a:rPr lang="ja-JP" altLang="en-US" sz="800" dirty="0">
                <a:solidFill>
                  <a:schemeClr val="tx1"/>
                </a:solidFill>
                <a:latin typeface="+mn-ea"/>
              </a:rPr>
              <a:t>　　・譲渡企業が海外に関係会社・事業所・工場を保有する場合</a:t>
            </a:r>
          </a:p>
        </p:txBody>
      </p:sp>
      <p:sp>
        <p:nvSpPr>
          <p:cNvPr id="37" name="正方形/長方形 36">
            <a:extLst>
              <a:ext uri="{FF2B5EF4-FFF2-40B4-BE49-F238E27FC236}">
                <a16:creationId xmlns:a16="http://schemas.microsoft.com/office/drawing/2014/main" id="{F22E4C30-8FC3-B869-53BD-9D8860037344}"/>
              </a:ext>
            </a:extLst>
          </p:cNvPr>
          <p:cNvSpPr/>
          <p:nvPr/>
        </p:nvSpPr>
        <p:spPr>
          <a:xfrm>
            <a:off x="683263" y="1669542"/>
            <a:ext cx="3348000" cy="468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zh-TW" altLang="en-US" sz="1800" b="1" spc="70" dirty="0">
                <a:solidFill>
                  <a:schemeClr val="bg1"/>
                </a:solidFill>
                <a:latin typeface="+mj-ea"/>
                <a:ea typeface="+mj-ea"/>
              </a:rPr>
              <a:t>料金体系｜成功報酬型</a:t>
            </a:r>
          </a:p>
        </p:txBody>
      </p:sp>
      <p:sp>
        <p:nvSpPr>
          <p:cNvPr id="38" name="正方形/長方形 37">
            <a:extLst>
              <a:ext uri="{FF2B5EF4-FFF2-40B4-BE49-F238E27FC236}">
                <a16:creationId xmlns:a16="http://schemas.microsoft.com/office/drawing/2014/main" id="{A662A524-58DF-E539-7CF9-2CCAAD4E7CAF}"/>
              </a:ext>
            </a:extLst>
          </p:cNvPr>
          <p:cNvSpPr>
            <a:spLocks/>
          </p:cNvSpPr>
          <p:nvPr/>
        </p:nvSpPr>
        <p:spPr>
          <a:xfrm>
            <a:off x="4752550" y="1974789"/>
            <a:ext cx="5256000" cy="3051315"/>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a:solidFill>
                  <a:schemeClr val="tx2"/>
                </a:solidFill>
                <a:ea typeface="+mj-ea"/>
              </a:rPr>
              <a:t>1. M</a:t>
            </a:r>
            <a:r>
              <a:rPr kumimoji="1" lang="ja-JP" altLang="en-US" sz="1543" b="1">
                <a:solidFill>
                  <a:schemeClr val="tx2"/>
                </a:solidFill>
                <a:ea typeface="+mj-ea"/>
              </a:rPr>
              <a:t>＆</a:t>
            </a:r>
            <a:r>
              <a:rPr kumimoji="1" lang="en-US" altLang="ja-JP" sz="1543" b="1">
                <a:solidFill>
                  <a:schemeClr val="tx2"/>
                </a:solidFill>
                <a:ea typeface="+mj-ea"/>
              </a:rPr>
              <a:t>A</a:t>
            </a:r>
            <a:r>
              <a:rPr kumimoji="1" lang="ja-JP" altLang="en-US" sz="1543" b="1">
                <a:solidFill>
                  <a:schemeClr val="tx2"/>
                </a:solidFill>
                <a:ea typeface="+mj-ea"/>
              </a:rPr>
              <a:t>（株式・事業譲渡）の場合</a:t>
            </a:r>
            <a:endParaRPr kumimoji="1" lang="ja-JP" altLang="en-US" sz="1543" b="1" dirty="0">
              <a:solidFill>
                <a:schemeClr val="tx2"/>
              </a:solidFill>
              <a:ea typeface="+mj-ea"/>
            </a:endParaRPr>
          </a:p>
        </p:txBody>
      </p:sp>
      <p:sp>
        <p:nvSpPr>
          <p:cNvPr id="39" name="正方形/長方形 38">
            <a:extLst>
              <a:ext uri="{FF2B5EF4-FFF2-40B4-BE49-F238E27FC236}">
                <a16:creationId xmlns:a16="http://schemas.microsoft.com/office/drawing/2014/main" id="{3005CCDB-36FD-4152-9A26-F18CB327D833}"/>
              </a:ext>
            </a:extLst>
          </p:cNvPr>
          <p:cNvSpPr>
            <a:spLocks/>
          </p:cNvSpPr>
          <p:nvPr/>
        </p:nvSpPr>
        <p:spPr>
          <a:xfrm>
            <a:off x="4752550" y="5145149"/>
            <a:ext cx="5256000" cy="855016"/>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dirty="0">
                <a:solidFill>
                  <a:schemeClr val="tx2"/>
                </a:solidFill>
                <a:ea typeface="+mj-ea"/>
              </a:rPr>
              <a:t>2. </a:t>
            </a:r>
            <a:r>
              <a:rPr kumimoji="1" lang="ja-JP" altLang="en-US" sz="1543" b="1" dirty="0">
                <a:solidFill>
                  <a:schemeClr val="tx2"/>
                </a:solidFill>
                <a:ea typeface="+mj-ea"/>
              </a:rPr>
              <a:t>合併・会社分割・業務提携などの場合</a:t>
            </a:r>
          </a:p>
        </p:txBody>
      </p:sp>
      <p:sp>
        <p:nvSpPr>
          <p:cNvPr id="43" name="正方形/長方形 42">
            <a:extLst>
              <a:ext uri="{FF2B5EF4-FFF2-40B4-BE49-F238E27FC236}">
                <a16:creationId xmlns:a16="http://schemas.microsoft.com/office/drawing/2014/main" id="{45F9569B-84C3-F6AA-8270-6F2A0C5A48FE}"/>
              </a:ext>
            </a:extLst>
          </p:cNvPr>
          <p:cNvSpPr/>
          <p:nvPr/>
        </p:nvSpPr>
        <p:spPr>
          <a:xfrm>
            <a:off x="4968550" y="5594330"/>
            <a:ext cx="4824000" cy="286791"/>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形態、規模に応じてお見積り</a:t>
            </a:r>
          </a:p>
        </p:txBody>
      </p:sp>
      <p:sp>
        <p:nvSpPr>
          <p:cNvPr id="44" name="テキスト ボックス 43">
            <a:extLst>
              <a:ext uri="{FF2B5EF4-FFF2-40B4-BE49-F238E27FC236}">
                <a16:creationId xmlns:a16="http://schemas.microsoft.com/office/drawing/2014/main" id="{1E78D870-E1BA-6FCD-62FA-37BB1F2E0B3D}"/>
              </a:ext>
            </a:extLst>
          </p:cNvPr>
          <p:cNvSpPr txBox="1"/>
          <p:nvPr/>
        </p:nvSpPr>
        <p:spPr>
          <a:xfrm>
            <a:off x="4968550" y="4554047"/>
            <a:ext cx="3546805" cy="191399"/>
          </a:xfrm>
          <a:prstGeom prst="rect">
            <a:avLst/>
          </a:prstGeom>
          <a:noFill/>
        </p:spPr>
        <p:txBody>
          <a:bodyPr wrap="none" lIns="0" tIns="0" rIns="0" bIns="0" rtlCol="0">
            <a:spAutoFit/>
          </a:bodyPr>
          <a:lstStyle/>
          <a:p>
            <a:pPr>
              <a:lnSpc>
                <a:spcPct val="120000"/>
              </a:lnSpc>
              <a:buClr>
                <a:schemeClr val="tx2"/>
              </a:buClr>
              <a:buSzPct val="80000"/>
            </a:pPr>
            <a:r>
              <a:rPr lang="ja-JP" altLang="en-US" sz="1100" spc="70" dirty="0">
                <a:latin typeface="+mn-ea"/>
              </a:rPr>
              <a:t>成功報酬の最低額は</a:t>
            </a:r>
            <a:r>
              <a:rPr lang="en-US" altLang="ja-JP" sz="1100" spc="70" dirty="0">
                <a:latin typeface="+mn-ea"/>
              </a:rPr>
              <a:t>1,500</a:t>
            </a:r>
            <a:r>
              <a:rPr lang="ja-JP" altLang="en-US" sz="1100" spc="70" dirty="0">
                <a:latin typeface="+mn-ea"/>
              </a:rPr>
              <a:t>万円を設定しております。</a:t>
            </a:r>
          </a:p>
        </p:txBody>
      </p:sp>
      <p:graphicFrame>
        <p:nvGraphicFramePr>
          <p:cNvPr id="45" name="表 44">
            <a:extLst>
              <a:ext uri="{FF2B5EF4-FFF2-40B4-BE49-F238E27FC236}">
                <a16:creationId xmlns:a16="http://schemas.microsoft.com/office/drawing/2014/main" id="{43BEAE47-9189-F306-0E9E-F73105167DC7}"/>
              </a:ext>
            </a:extLst>
          </p:cNvPr>
          <p:cNvGraphicFramePr>
            <a:graphicFrameLocks noGrp="1"/>
          </p:cNvGraphicFramePr>
          <p:nvPr/>
        </p:nvGraphicFramePr>
        <p:xfrm>
          <a:off x="4968550" y="2395845"/>
          <a:ext cx="4824000" cy="2448000"/>
        </p:xfrm>
        <a:graphic>
          <a:graphicData uri="http://schemas.openxmlformats.org/drawingml/2006/table">
            <a:tbl>
              <a:tblPr firstRow="1" bandRow="1">
                <a:tableStyleId>{F2DE63D5-997A-4646-A377-4702673A728D}</a:tableStyleId>
              </a:tblPr>
              <a:tblGrid>
                <a:gridCol w="2952000">
                  <a:extLst>
                    <a:ext uri="{9D8B030D-6E8A-4147-A177-3AD203B41FA5}">
                      <a16:colId xmlns:a16="http://schemas.microsoft.com/office/drawing/2014/main" val="4012313631"/>
                    </a:ext>
                  </a:extLst>
                </a:gridCol>
                <a:gridCol w="1872000">
                  <a:extLst>
                    <a:ext uri="{9D8B030D-6E8A-4147-A177-3AD203B41FA5}">
                      <a16:colId xmlns:a16="http://schemas.microsoft.com/office/drawing/2014/main" val="1332805218"/>
                    </a:ext>
                  </a:extLst>
                </a:gridCol>
              </a:tblGrid>
              <a:tr h="396000">
                <a:tc>
                  <a:txBody>
                    <a:bodyP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1100" b="1" i="0" u="none" strike="noStrike" kern="1200" cap="none" spc="50" normalizeH="0" baseline="0" noProof="0" dirty="0">
                          <a:ln>
                            <a:noFill/>
                          </a:ln>
                          <a:solidFill>
                            <a:schemeClr val="bg1"/>
                          </a:solidFill>
                          <a:effectLst/>
                          <a:uLnTx/>
                          <a:uFillTx/>
                          <a:latin typeface="+mj-ea"/>
                          <a:ea typeface="+mj-ea"/>
                        </a:rPr>
                        <a:t>譲渡企業の時価総資産額</a:t>
                      </a:r>
                      <a:endParaRPr kumimoji="1" lang="en-US" altLang="ja-JP" sz="1100" b="1" i="0" u="none" strike="noStrike" kern="1200" cap="none" spc="50" normalizeH="0" baseline="0" noProof="0" dirty="0">
                        <a:ln>
                          <a:noFill/>
                        </a:ln>
                        <a:solidFill>
                          <a:schemeClr val="bg1"/>
                        </a:solidFill>
                        <a:effectLst/>
                        <a:uLnTx/>
                        <a:uFillTx/>
                        <a:latin typeface="+mj-ea"/>
                        <a:ea typeface="+mj-ea"/>
                      </a:endParaRPr>
                    </a:p>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800" b="1" i="0" u="none" strike="noStrike" kern="1200" cap="none" spc="50" normalizeH="0" baseline="0" noProof="0" dirty="0">
                          <a:ln>
                            <a:noFill/>
                          </a:ln>
                          <a:solidFill>
                            <a:schemeClr val="bg1"/>
                          </a:solidFill>
                          <a:effectLst/>
                          <a:uLnTx/>
                          <a:uFillTx/>
                          <a:latin typeface="+mj-ea"/>
                          <a:ea typeface="+mj-ea"/>
                        </a:rPr>
                        <a:t>（営業権を含む）</a:t>
                      </a:r>
                    </a:p>
                  </a:txBody>
                  <a:tcPr marL="0" marR="0" marT="0" marB="0" anchor="ctr" anchorCtr="1">
                    <a:lnL w="3175"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nSpc>
                          <a:spcPct val="110000"/>
                        </a:lnSpc>
                      </a:pPr>
                      <a:r>
                        <a:rPr kumimoji="1" lang="ja-JP" altLang="en-US" sz="1100" b="1" spc="50" baseline="0" dirty="0">
                          <a:latin typeface="+mj-ea"/>
                          <a:ea typeface="+mj-ea"/>
                        </a:rPr>
                        <a:t>手数料率</a:t>
                      </a:r>
                    </a:p>
                  </a:txBody>
                  <a:tcPr marL="0" marR="0" marT="0" marB="0" anchor="ctr" anchorCtr="1">
                    <a:lnL w="12700" cap="flat" cmpd="sng" algn="ctr">
                      <a:solidFill>
                        <a:schemeClr val="bg1"/>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552892255"/>
                  </a:ext>
                </a:extLst>
              </a:tr>
              <a:tr h="342000">
                <a:tc>
                  <a:txBody>
                    <a:bodyPr/>
                    <a:lstStyle/>
                    <a:p>
                      <a:pPr algn="l">
                        <a:lnSpc>
                          <a:spcPct val="110000"/>
                        </a:lnSpc>
                      </a:pPr>
                      <a:r>
                        <a:rPr kumimoji="1" lang="en-US" altLang="ja-JP" sz="1200" b="1" spc="50" baseline="0" dirty="0">
                          <a:latin typeface="+mj-lt"/>
                          <a:ea typeface="+mj-ea"/>
                        </a:rPr>
                        <a:t>2</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2,000</a:t>
                      </a:r>
                      <a:r>
                        <a:rPr kumimoji="1" lang="ja-JP" altLang="en-US" sz="1100" b="1" spc="50" baseline="0" dirty="0">
                          <a:solidFill>
                            <a:schemeClr val="tx1"/>
                          </a:solidFill>
                          <a:latin typeface="+mn-lt"/>
                          <a:ea typeface="+mn-ea"/>
                        </a:rPr>
                        <a:t>万円</a:t>
                      </a:r>
                      <a:endParaRPr kumimoji="1" lang="ja-JP" altLang="en-US" sz="1100" b="0" spc="50" baseline="0" dirty="0">
                        <a:solidFill>
                          <a:schemeClr val="tx1"/>
                        </a:solidFill>
                        <a:latin typeface="+mn-lt"/>
                        <a:ea typeface="+mn-ea"/>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1334838"/>
                  </a:ext>
                </a:extLst>
              </a:tr>
              <a:tr h="342000">
                <a:tc>
                  <a:txBody>
                    <a:bodyPr/>
                    <a:lstStyle/>
                    <a:p>
                      <a:pPr marL="0" marR="0" lvl="0" indent="0" algn="l" defTabSz="1007943" rtl="0" eaLnBrk="1" fontAlgn="auto" latinLnBrk="0" hangingPunct="1">
                        <a:lnSpc>
                          <a:spcPct val="110000"/>
                        </a:lnSpc>
                        <a:spcBef>
                          <a:spcPts val="0"/>
                        </a:spcBef>
                        <a:spcAft>
                          <a:spcPts val="0"/>
                        </a:spcAft>
                        <a:buClrTx/>
                        <a:buSzTx/>
                        <a:buFontTx/>
                        <a:buNone/>
                        <a:tabLst/>
                        <a:defRPr/>
                      </a:pPr>
                      <a:r>
                        <a:rPr kumimoji="1" lang="en-US" altLang="ja-JP" sz="1200" b="1" kern="1200" spc="50" baseline="0" dirty="0">
                          <a:solidFill>
                            <a:schemeClr val="tx1"/>
                          </a:solidFill>
                          <a:latin typeface="+mn-lt"/>
                          <a:ea typeface="+mn-ea"/>
                          <a:cs typeface="+mn-cs"/>
                        </a:rPr>
                        <a:t>2</a:t>
                      </a:r>
                      <a:r>
                        <a:rPr kumimoji="1" lang="ja-JP" altLang="en-US" sz="1200" b="1" kern="1200" spc="50" baseline="0" dirty="0">
                          <a:solidFill>
                            <a:schemeClr val="tx1"/>
                          </a:solidFill>
                          <a:latin typeface="+mn-lt"/>
                          <a:ea typeface="+mn-ea"/>
                          <a:cs typeface="+mn-cs"/>
                        </a:rPr>
                        <a:t>億円超　</a:t>
                      </a:r>
                      <a:r>
                        <a:rPr kumimoji="1" lang="en-US" altLang="ja-JP" sz="1200" b="1" kern="1200" spc="50" baseline="0" dirty="0">
                          <a:solidFill>
                            <a:schemeClr val="tx1"/>
                          </a:solidFill>
                          <a:latin typeface="+mn-lt"/>
                          <a:ea typeface="+mn-ea"/>
                          <a:cs typeface="+mn-cs"/>
                        </a:rPr>
                        <a:t>5</a:t>
                      </a:r>
                      <a:r>
                        <a:rPr kumimoji="1" lang="ja-JP" altLang="en-US" sz="1200" b="1" kern="1200" spc="50" baseline="0" dirty="0">
                          <a:solidFill>
                            <a:schemeClr val="tx1"/>
                          </a:solidFill>
                          <a:latin typeface="+mn-lt"/>
                          <a:ea typeface="+mn-ea"/>
                          <a:cs typeface="+mn-cs"/>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nSpc>
                          <a:spcPct val="110000"/>
                        </a:lnSpc>
                      </a:pPr>
                      <a:r>
                        <a:rPr kumimoji="1" lang="en-US" altLang="ja-JP" sz="1800" b="1" spc="50" baseline="0" dirty="0">
                          <a:solidFill>
                            <a:schemeClr val="tx1"/>
                          </a:solidFill>
                          <a:latin typeface="+mn-lt"/>
                          <a:ea typeface="+mn-ea"/>
                        </a:rPr>
                        <a:t>5</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0064655"/>
                  </a:ext>
                </a:extLst>
              </a:tr>
              <a:tr h="342000">
                <a:tc>
                  <a:txBody>
                    <a:bodyPr/>
                    <a:lstStyle/>
                    <a:p>
                      <a:pPr algn="l">
                        <a:lnSpc>
                          <a:spcPct val="110000"/>
                        </a:lnSpc>
                      </a:pPr>
                      <a:r>
                        <a:rPr kumimoji="1" lang="en-US" altLang="ja-JP" sz="1200" b="1" spc="50" baseline="0" dirty="0">
                          <a:latin typeface="+mj-lt"/>
                          <a:ea typeface="+mj-ea"/>
                        </a:rPr>
                        <a:t>5</a:t>
                      </a:r>
                      <a:r>
                        <a:rPr kumimoji="1" lang="ja-JP" altLang="en-US" sz="1200" b="1" spc="50" baseline="0" dirty="0">
                          <a:latin typeface="+mj-lt"/>
                          <a:ea typeface="+mj-ea"/>
                        </a:rPr>
                        <a:t>億円超　</a:t>
                      </a:r>
                      <a:r>
                        <a:rPr kumimoji="1" lang="en-US" altLang="ja-JP" sz="1200" b="1" spc="50" baseline="0" dirty="0">
                          <a:latin typeface="+mj-lt"/>
                          <a:ea typeface="+mj-ea"/>
                        </a:rPr>
                        <a:t>10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4</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5221436"/>
                  </a:ext>
                </a:extLst>
              </a:tr>
              <a:tr h="342000">
                <a:tc>
                  <a:txBody>
                    <a:bodyPr/>
                    <a:lstStyle/>
                    <a:p>
                      <a:pPr algn="l">
                        <a:lnSpc>
                          <a:spcPct val="110000"/>
                        </a:lnSpc>
                      </a:pPr>
                      <a:r>
                        <a:rPr kumimoji="1" lang="en-US" altLang="ja-JP" sz="1200" b="1" spc="50" baseline="0" dirty="0">
                          <a:latin typeface="+mj-lt"/>
                          <a:ea typeface="+mj-ea"/>
                        </a:rPr>
                        <a:t>10</a:t>
                      </a:r>
                      <a:r>
                        <a:rPr kumimoji="1" lang="ja-JP" altLang="en-US" sz="1200" b="1" spc="50" baseline="0" dirty="0">
                          <a:latin typeface="+mj-lt"/>
                          <a:ea typeface="+mj-ea"/>
                        </a:rPr>
                        <a:t>億円超　</a:t>
                      </a:r>
                      <a:r>
                        <a:rPr kumimoji="1" lang="en-US" altLang="ja-JP" sz="1200" b="1" spc="50" baseline="0" dirty="0">
                          <a:latin typeface="+mj-lt"/>
                          <a:ea typeface="+mj-ea"/>
                        </a:rPr>
                        <a:t>50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3</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54929017"/>
                  </a:ext>
                </a:extLst>
              </a:tr>
              <a:tr h="342000">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200" b="1" spc="50" baseline="0" dirty="0">
                          <a:latin typeface="+mj-lt"/>
                          <a:ea typeface="+mj-ea"/>
                        </a:rPr>
                        <a:t>50</a:t>
                      </a:r>
                      <a:r>
                        <a:rPr kumimoji="1" lang="ja-JP" altLang="en-US" sz="1200" b="1" spc="50" baseline="0" dirty="0">
                          <a:latin typeface="+mj-lt"/>
                          <a:ea typeface="+mj-ea"/>
                        </a:rPr>
                        <a:t>億円超　</a:t>
                      </a:r>
                      <a:r>
                        <a:rPr kumimoji="1" lang="en-US" altLang="ja-JP" sz="1200" b="1" spc="50" baseline="0" dirty="0">
                          <a:latin typeface="+mj-lt"/>
                          <a:ea typeface="+mj-ea"/>
                        </a:rPr>
                        <a:t>100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96813135"/>
                  </a:ext>
                </a:extLst>
              </a:tr>
              <a:tr h="342000">
                <a:tc>
                  <a:txBody>
                    <a:bodyPr/>
                    <a:lstStyle/>
                    <a:p>
                      <a:pPr algn="l">
                        <a:lnSpc>
                          <a:spcPct val="110000"/>
                        </a:lnSpc>
                      </a:pPr>
                      <a:r>
                        <a:rPr kumimoji="1" lang="en-US" altLang="ja-JP" sz="1200" b="1" spc="50" baseline="0" dirty="0">
                          <a:latin typeface="+mj-lt"/>
                          <a:ea typeface="+mj-ea"/>
                        </a:rPr>
                        <a:t>100</a:t>
                      </a:r>
                      <a:r>
                        <a:rPr kumimoji="1" lang="ja-JP" altLang="en-US" sz="1200" b="1" spc="50" baseline="0" dirty="0">
                          <a:latin typeface="+mj-lt"/>
                          <a:ea typeface="+mj-ea"/>
                        </a:rPr>
                        <a:t>億円超の部分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1</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0759054"/>
                  </a:ext>
                </a:extLst>
              </a:tr>
            </a:tbl>
          </a:graphicData>
        </a:graphic>
      </p:graphicFrame>
      <p:sp>
        <p:nvSpPr>
          <p:cNvPr id="3" name="テキスト ボックス 2">
            <a:extLst>
              <a:ext uri="{FF2B5EF4-FFF2-40B4-BE49-F238E27FC236}">
                <a16:creationId xmlns:a16="http://schemas.microsoft.com/office/drawing/2014/main" id="{08F1693B-FFF1-ED80-7351-7BBDED97C92F}"/>
              </a:ext>
            </a:extLst>
          </p:cNvPr>
          <p:cNvSpPr txBox="1"/>
          <p:nvPr/>
        </p:nvSpPr>
        <p:spPr>
          <a:xfrm>
            <a:off x="8985126" y="2145278"/>
            <a:ext cx="788036" cy="209545"/>
          </a:xfrm>
          <a:prstGeom prst="rect">
            <a:avLst/>
          </a:prstGeom>
          <a:noFill/>
        </p:spPr>
        <p:txBody>
          <a:bodyPr wrap="none" lIns="0" tIns="0" rIns="0" bIns="0" rtlCol="0">
            <a:spAutoFit/>
          </a:bodyPr>
          <a:lstStyle/>
          <a:p>
            <a:pPr algn="ctr">
              <a:lnSpc>
                <a:spcPct val="120000"/>
              </a:lnSpc>
              <a:buClr>
                <a:schemeClr val="tx2"/>
              </a:buClr>
              <a:buSzPct val="80000"/>
            </a:pPr>
            <a:r>
              <a:rPr lang="en-US" altLang="ja-JP" sz="1200" spc="70" dirty="0">
                <a:latin typeface="+mj-ea"/>
                <a:ea typeface="+mj-ea"/>
              </a:rPr>
              <a:t>(</a:t>
            </a:r>
            <a:r>
              <a:rPr lang="ja-JP" altLang="en-US" sz="1200" spc="70" dirty="0">
                <a:latin typeface="+mj-ea"/>
                <a:ea typeface="+mj-ea"/>
              </a:rPr>
              <a:t>消費税別</a:t>
            </a:r>
            <a:r>
              <a:rPr lang="en-US" altLang="ja-JP" sz="1200" spc="70" dirty="0">
                <a:latin typeface="+mj-ea"/>
                <a:ea typeface="+mj-ea"/>
              </a:rPr>
              <a:t>)</a:t>
            </a:r>
            <a:endParaRPr lang="ja-JP" altLang="en-US" sz="1200" spc="70" dirty="0">
              <a:latin typeface="+mj-ea"/>
              <a:ea typeface="+mj-ea"/>
            </a:endParaRPr>
          </a:p>
        </p:txBody>
      </p:sp>
      <p:sp>
        <p:nvSpPr>
          <p:cNvPr id="4" name="正方形/長方形 3">
            <a:extLst>
              <a:ext uri="{FF2B5EF4-FFF2-40B4-BE49-F238E27FC236}">
                <a16:creationId xmlns:a16="http://schemas.microsoft.com/office/drawing/2014/main" id="{021EBBB3-E8D6-A883-4081-72409664F3A2}"/>
              </a:ext>
            </a:extLst>
          </p:cNvPr>
          <p:cNvSpPr/>
          <p:nvPr/>
        </p:nvSpPr>
        <p:spPr>
          <a:xfrm>
            <a:off x="449264" y="5224403"/>
            <a:ext cx="3816000" cy="186218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中間報酬</a:t>
            </a:r>
            <a:r>
              <a:rPr kumimoji="1" lang="en-US" altLang="ja-JP" sz="1800" spc="110" baseline="30000" dirty="0">
                <a:solidFill>
                  <a:schemeClr val="tx1"/>
                </a:solidFill>
                <a:latin typeface="+mj-ea"/>
                <a:ea typeface="+mj-ea"/>
              </a:rPr>
              <a:t>※1</a:t>
            </a:r>
            <a:r>
              <a:rPr kumimoji="1" lang="ja-JP" altLang="en-US" sz="1800" b="1" spc="110" dirty="0">
                <a:solidFill>
                  <a:schemeClr val="tx1"/>
                </a:solidFill>
                <a:latin typeface="+mj-ea"/>
                <a:ea typeface="+mj-ea"/>
              </a:rPr>
              <a:t>の算定方法</a:t>
            </a:r>
          </a:p>
        </p:txBody>
      </p:sp>
      <p:sp>
        <p:nvSpPr>
          <p:cNvPr id="5" name="正方形/長方形 4">
            <a:extLst>
              <a:ext uri="{FF2B5EF4-FFF2-40B4-BE49-F238E27FC236}">
                <a16:creationId xmlns:a16="http://schemas.microsoft.com/office/drawing/2014/main" id="{0A844F69-2E35-9611-A4E1-15256E6FA8E2}"/>
              </a:ext>
            </a:extLst>
          </p:cNvPr>
          <p:cNvSpPr/>
          <p:nvPr/>
        </p:nvSpPr>
        <p:spPr>
          <a:xfrm>
            <a:off x="615951" y="5812442"/>
            <a:ext cx="3482623" cy="916330"/>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成功報酬の</a:t>
            </a:r>
            <a:r>
              <a:rPr kumimoji="1" lang="en-US" altLang="ja-JP" sz="1600" b="1" spc="30" dirty="0">
                <a:solidFill>
                  <a:schemeClr val="tx1"/>
                </a:solidFill>
                <a:latin typeface="+mj-ea"/>
                <a:ea typeface="+mj-ea"/>
              </a:rPr>
              <a:t>10</a:t>
            </a:r>
            <a:r>
              <a:rPr kumimoji="1" lang="ja-JP" altLang="en-US" sz="1600" b="1" spc="30" dirty="0">
                <a:solidFill>
                  <a:schemeClr val="tx1"/>
                </a:solidFill>
                <a:latin typeface="+mj-ea"/>
                <a:ea typeface="+mj-ea"/>
              </a:rPr>
              <a:t>％</a:t>
            </a:r>
            <a:endParaRPr kumimoji="1" lang="en-US" altLang="ja-JP" sz="1600" b="1" spc="30" dirty="0">
              <a:solidFill>
                <a:schemeClr val="tx1"/>
              </a:solidFill>
              <a:latin typeface="+mj-ea"/>
              <a:ea typeface="+mj-ea"/>
            </a:endParaRPr>
          </a:p>
          <a:p>
            <a:pPr algn="ctr">
              <a:lnSpc>
                <a:spcPct val="120000"/>
              </a:lnSpc>
            </a:pPr>
            <a:r>
              <a:rPr kumimoji="1" lang="ja-JP" altLang="en-US" sz="1200" b="1" spc="30" dirty="0">
                <a:solidFill>
                  <a:schemeClr val="tx1"/>
                </a:solidFill>
                <a:latin typeface="+mj-ea"/>
                <a:ea typeface="+mj-ea"/>
              </a:rPr>
              <a:t>（但し最低額は</a:t>
            </a:r>
            <a:r>
              <a:rPr kumimoji="1" lang="en-US" altLang="ja-JP" sz="1200" b="1" spc="30" dirty="0">
                <a:solidFill>
                  <a:schemeClr val="tx1"/>
                </a:solidFill>
                <a:latin typeface="+mj-ea"/>
                <a:ea typeface="+mj-ea"/>
              </a:rPr>
              <a:t>300</a:t>
            </a:r>
            <a:r>
              <a:rPr kumimoji="1" lang="ja-JP" altLang="en-US" sz="1200" b="1" spc="30" dirty="0">
                <a:solidFill>
                  <a:schemeClr val="tx1"/>
                </a:solidFill>
                <a:latin typeface="+mj-ea"/>
                <a:ea typeface="+mj-ea"/>
              </a:rPr>
              <a:t>万円とします）</a:t>
            </a:r>
          </a:p>
        </p:txBody>
      </p:sp>
      <p:sp>
        <p:nvSpPr>
          <p:cNvPr id="8" name="正方形/長方形 7">
            <a:extLst>
              <a:ext uri="{FF2B5EF4-FFF2-40B4-BE49-F238E27FC236}">
                <a16:creationId xmlns:a16="http://schemas.microsoft.com/office/drawing/2014/main" id="{6EED8059-D8E2-0DAF-A350-928100484E14}"/>
              </a:ext>
            </a:extLst>
          </p:cNvPr>
          <p:cNvSpPr/>
          <p:nvPr/>
        </p:nvSpPr>
        <p:spPr>
          <a:xfrm>
            <a:off x="615951" y="6812925"/>
            <a:ext cx="3135474" cy="1299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※1</a:t>
            </a:r>
            <a:r>
              <a:rPr lang="ja-JP" altLang="en-US" sz="800" dirty="0">
                <a:solidFill>
                  <a:schemeClr val="tx1"/>
                </a:solidFill>
                <a:latin typeface="+mn-ea"/>
              </a:rPr>
              <a:t>　中間報酬は成約した場合、成功報酬に含め、充当いたします。</a:t>
            </a:r>
          </a:p>
        </p:txBody>
      </p:sp>
    </p:spTree>
    <p:extLst>
      <p:ext uri="{BB962C8B-B14F-4D97-AF65-F5344CB8AC3E}">
        <p14:creationId xmlns:p14="http://schemas.microsoft.com/office/powerpoint/2010/main" val="25774995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図 16" descr="背景パターン&#10;&#10;AI 生成コンテンツは誤りを含む可能性があります。">
            <a:extLst>
              <a:ext uri="{FF2B5EF4-FFF2-40B4-BE49-F238E27FC236}">
                <a16:creationId xmlns:a16="http://schemas.microsoft.com/office/drawing/2014/main" id="{38E11F1F-6089-6877-97F2-46DAB0493C33}"/>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8" name="テキスト ボックス 7">
            <a:extLst>
              <a:ext uri="{FF2B5EF4-FFF2-40B4-BE49-F238E27FC236}">
                <a16:creationId xmlns:a16="http://schemas.microsoft.com/office/drawing/2014/main" id="{9DC24A9B-5E33-B3B6-B79B-2D6D5E5AF179}"/>
              </a:ext>
            </a:extLst>
          </p:cNvPr>
          <p:cNvSpPr txBox="1"/>
          <p:nvPr/>
        </p:nvSpPr>
        <p:spPr>
          <a:xfrm>
            <a:off x="2626785" y="4635223"/>
            <a:ext cx="5604098" cy="276999"/>
          </a:xfrm>
          <a:prstGeom prst="rect">
            <a:avLst/>
          </a:prstGeom>
          <a:noFill/>
        </p:spPr>
        <p:txBody>
          <a:bodyPr wrap="none" lIns="0" tIns="0" rIns="0" bIns="0" rtlCol="0">
            <a:spAutoFit/>
          </a:bodyPr>
          <a:lstStyle/>
          <a:p>
            <a:pPr algn="ctr"/>
            <a:r>
              <a:rPr lang="ja-JP" altLang="en-US" b="1" spc="100" dirty="0">
                <a:latin typeface="+mj-ea"/>
                <a:ea typeface="+mj-ea"/>
              </a:rPr>
              <a:t>企業価値の最大化を通じて、経済に正しい循環を。</a:t>
            </a:r>
          </a:p>
        </p:txBody>
      </p:sp>
      <p:pic>
        <p:nvPicPr>
          <p:cNvPr id="4" name="グラフィックス 3">
            <a:extLst>
              <a:ext uri="{FF2B5EF4-FFF2-40B4-BE49-F238E27FC236}">
                <a16:creationId xmlns:a16="http://schemas.microsoft.com/office/drawing/2014/main" id="{549C4F39-0611-3D63-A333-95F8642EF8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18588" y="3080873"/>
            <a:ext cx="5502236" cy="1090632"/>
          </a:xfrm>
          <a:prstGeom prst="rect">
            <a:avLst/>
          </a:prstGeom>
        </p:spPr>
      </p:pic>
    </p:spTree>
    <p:extLst>
      <p:ext uri="{BB962C8B-B14F-4D97-AF65-F5344CB8AC3E}">
        <p14:creationId xmlns:p14="http://schemas.microsoft.com/office/powerpoint/2010/main" val="3135229745"/>
      </p:ext>
    </p:extLst>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基本情報</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エグゼクティブサマリー</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成田空港至近の物流施設で輸出航空貨物の梱包と東京税関許可の保税蔵置場を運営。DHL・航空貨物代理店・大手物流会社を主要顧客とし、顧客構内での梱包請負も手掛ける。</a:t>
            </a:r>
            <a:endParaRPr lang="en-US" altLang="ja-JP" dirty="0">
              <a:latin typeface="游ゴシック" panose="020B0400000000000000" pitchFamily="50" charset="-128"/>
              <a:ea typeface="游ゴシック" panose="020B0400000000000000" pitchFamily="50" charset="-128"/>
            </a:endParaRPr>
          </a:p>
        </p:txBody>
      </p:sp>
      <p:sp>
        <p:nvSpPr>
          <p:cNvPr id="14" name="Rectangle 13"/>
          <p:cNvSpPr/>
          <p:nvPr/>
        </p:nvSpPr>
        <p:spPr>
          <a:xfrm>
            <a:off x="310896" y="1481328"/>
            <a:ext cx="6400800" cy="292608"/>
          </a:xfrm>
          <a:prstGeom prst="rect">
            <a:avLst/>
          </a:prstGeom>
          <a:gradFill rotWithShape="1">
            <a:gsLst>
              <a:gs pos="5000">
                <a:srgbClr val="0B3041"/>
              </a:gs>
              <a:gs pos="88000">
                <a:srgbClr val="006AB1"/>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游ゴシック"/>
                <a:ea typeface="游ゴシック"/>
              </a:rPr>
              <a:t>会社概要</a:t>
            </a:r>
          </a:p>
        </p:txBody>
      </p:sp>
      <p:graphicFrame>
        <p:nvGraphicFramePr>
          <p:cNvPr id="15" name="Table 14"/>
          <p:cNvGraphicFramePr>
            <a:graphicFrameLocks noGrp="1"/>
          </p:cNvGraphicFramePr>
          <p:nvPr/>
        </p:nvGraphicFramePr>
        <p:xfrm>
          <a:off x="310896" y="1828800"/>
          <a:ext cx="6400800" cy="4279392"/>
        </p:xfrm>
        <a:graphic>
          <a:graphicData uri="http://schemas.openxmlformats.org/drawingml/2006/table">
            <a:tbl>
              <a:tblPr firstRow="0" bandRow="0" firstCol="0" lastRow="0" lastCol="0" bandCol="0"/>
              <a:tblGrid>
                <a:gridCol w="1143000"/>
                <a:gridCol w="5257800"/>
              </a:tblGrid>
              <a:tr h="201168">
                <a:tc>
                  <a:txBody>
                    <a:bodyPr wrap="square"/>
                    <a:lstStyle/>
                    <a:p>
                      <a:pPr algn="ctr"/>
                      <a:r>
                        <a:rPr sz="800" b="1">
                          <a:solidFill>
                            <a:srgbClr val="FFFFFF"/>
                          </a:solidFill>
                          <a:latin typeface="游ゴシック"/>
                          <a:ea typeface="游ゴシック"/>
                        </a:rPr>
                        <a:t>項目</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内容</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10312">
                <a:tc>
                  <a:txBody>
                    <a:bodyPr wrap="square"/>
                    <a:lstStyle/>
                    <a:p>
                      <a:pPr algn="ctr"/>
                      <a:r>
                        <a:rPr sz="800" b="1">
                          <a:solidFill>
                            <a:srgbClr val="000000"/>
                          </a:solidFill>
                          <a:latin typeface="游ゴシック"/>
                          <a:ea typeface="游ゴシック"/>
                        </a:rPr>
                        <a:t>会社名</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株式会社高塚商事</a:t>
                      </a:r>
                    </a:p>
                  </a:txBody>
                  <a:tcPr marL="45720" marR="45720" marT="9144" marB="9144" anchor="ctr">
                    <a:lnL>
                      <a:noFill/>
                    </a:lnL>
                    <a:lnR>
                      <a:noFill/>
                    </a:lnR>
                    <a:lnT>
                      <a:noFill/>
                    </a:lnT>
                    <a:lnB w="6350" cap="flat" cmpd="sng" algn="ctr">
                      <a:solidFill>
                        <a:srgbClr val="A6A6A6"/>
                      </a:solidFill>
                      <a:prstDash val="solid"/>
                    </a:lnB>
                    <a:noFill/>
                  </a:tcPr>
                </a:tc>
              </a:tr>
              <a:tr h="210312">
                <a:tc>
                  <a:txBody>
                    <a:bodyPr wrap="square"/>
                    <a:lstStyle/>
                    <a:p>
                      <a:pPr algn="ctr"/>
                      <a:r>
                        <a:rPr sz="800" b="1">
                          <a:solidFill>
                            <a:srgbClr val="000000"/>
                          </a:solidFill>
                          <a:latin typeface="游ゴシック"/>
                          <a:ea typeface="游ゴシック"/>
                        </a:rPr>
                        <a:t>本社所在地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千葉県山武郡芝山町岩山148番地15（成田エアポート物流ビジネスセンター）</a:t>
                      </a:r>
                    </a:p>
                  </a:txBody>
                  <a:tcPr marL="45720" marR="45720" marT="9144" marB="9144" anchor="ctr">
                    <a:lnL>
                      <a:noFill/>
                    </a:lnL>
                    <a:lnR>
                      <a:noFill/>
                    </a:lnR>
                    <a:lnT>
                      <a:noFill/>
                    </a:lnT>
                    <a:lnB w="6350" cap="flat" cmpd="sng" algn="ctr">
                      <a:solidFill>
                        <a:srgbClr val="A6A6A6"/>
                      </a:solidFill>
                      <a:prstDash val="solid"/>
                    </a:lnB>
                    <a:noFill/>
                  </a:tcPr>
                </a:tc>
              </a:tr>
              <a:tr h="676656">
                <a:tc>
                  <a:txBody>
                    <a:bodyPr wrap="square"/>
                    <a:lstStyle/>
                    <a:p>
                      <a:pPr algn="ctr"/>
                      <a:r>
                        <a:rPr sz="800" b="1">
                          <a:solidFill>
                            <a:srgbClr val="000000"/>
                          </a:solidFill>
                          <a:latin typeface="游ゴシック"/>
                          <a:ea typeface="游ゴシック"/>
                        </a:rPr>
                        <a:t>その他拠点</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【作業拠点】</a:t>
                      </a:r>
                    </a:p>
                    <a:p>
                      <a:pPr algn="l"/>
                      <a:r>
                        <a:rPr sz="800" b="0">
                          <a:solidFill>
                            <a:srgbClr val="000000"/>
                          </a:solidFill>
                          <a:latin typeface="游ゴシック"/>
                          <a:ea typeface="游ゴシック"/>
                        </a:rPr>
                        <a:t>・成田事業所（本社同所）：5F倉庫1,567㎡（東京税関許可の保税蔵置場）・2F事務所</a:t>
                      </a:r>
                    </a:p>
                    <a:p>
                      <a:pPr algn="l"/>
                      <a:r>
                        <a:rPr sz="800" b="0">
                          <a:solidFill>
                            <a:srgbClr val="000000"/>
                          </a:solidFill>
                          <a:latin typeface="游ゴシック"/>
                          <a:ea typeface="游ゴシック"/>
                        </a:rPr>
                        <a:t>・つくば事業所：顧客（Littelfuseジャパン合同会社）工場構内（茨城県稲敷市）</a:t>
                      </a:r>
                    </a:p>
                    <a:p>
                      <a:pPr algn="l"/>
                      <a:r>
                        <a:rPr sz="800" b="0">
                          <a:solidFill>
                            <a:srgbClr val="000000"/>
                          </a:solidFill>
                          <a:latin typeface="游ゴシック"/>
                          <a:ea typeface="游ゴシック"/>
                        </a:rPr>
                        <a:t>・顧客倉庫内での構内梱包、DHL新千歳（北海道千歳市）での事務作業受託</a:t>
                      </a:r>
                    </a:p>
                  </a:txBody>
                  <a:tcPr marL="45720" marR="45720" marT="9144" marB="9144" anchor="ctr">
                    <a:lnL>
                      <a:noFill/>
                    </a:lnL>
                    <a:lnR>
                      <a:noFill/>
                    </a:lnR>
                    <a:lnT>
                      <a:noFill/>
                    </a:lnT>
                    <a:lnB w="6350" cap="flat" cmpd="sng" algn="ctr">
                      <a:solidFill>
                        <a:srgbClr val="A6A6A6"/>
                      </a:solidFill>
                      <a:prstDash val="solid"/>
                    </a:lnB>
                    <a:noFill/>
                  </a:tcPr>
                </a:tc>
              </a:tr>
              <a:tr h="365760">
                <a:tc>
                  <a:txBody>
                    <a:bodyPr wrap="square"/>
                    <a:lstStyle/>
                    <a:p>
                      <a:pPr algn="ctr"/>
                      <a:r>
                        <a:rPr sz="800" b="1">
                          <a:solidFill>
                            <a:srgbClr val="000000"/>
                          </a:solidFill>
                          <a:latin typeface="游ゴシック"/>
                          <a:ea typeface="游ゴシック"/>
                        </a:rPr>
                        <a:t>設立</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1990年5月24日（有限会社として設立、2004年7月22日に株式会社へ組織変更）　※直近期は第37期（2026年5月期）</a:t>
                      </a:r>
                    </a:p>
                  </a:txBody>
                  <a:tcPr marL="45720" marR="45720" marT="9144" marB="9144" anchor="ctr">
                    <a:lnL>
                      <a:noFill/>
                    </a:lnL>
                    <a:lnR>
                      <a:noFill/>
                    </a:lnR>
                    <a:lnT>
                      <a:noFill/>
                    </a:lnT>
                    <a:lnB w="6350" cap="flat" cmpd="sng" algn="ctr">
                      <a:solidFill>
                        <a:srgbClr val="A6A6A6"/>
                      </a:solidFill>
                      <a:prstDash val="solid"/>
                    </a:lnB>
                    <a:noFill/>
                  </a:tcPr>
                </a:tc>
              </a:tr>
              <a:tr h="210312">
                <a:tc>
                  <a:txBody>
                    <a:bodyPr wrap="square"/>
                    <a:lstStyle/>
                    <a:p>
                      <a:pPr algn="ctr"/>
                      <a:r>
                        <a:rPr sz="800" b="1">
                          <a:solidFill>
                            <a:srgbClr val="000000"/>
                          </a:solidFill>
                          <a:latin typeface="游ゴシック"/>
                          <a:ea typeface="游ゴシック"/>
                        </a:rPr>
                        <a:t>資本金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10,000千円（発行済株式1,000株、株券発行会社）</a:t>
                      </a:r>
                    </a:p>
                  </a:txBody>
                  <a:tcPr marL="45720" marR="45720" marT="9144" marB="9144" anchor="ctr">
                    <a:lnL>
                      <a:noFill/>
                    </a:lnL>
                    <a:lnR>
                      <a:noFill/>
                    </a:lnR>
                    <a:lnT>
                      <a:noFill/>
                    </a:lnT>
                    <a:lnB w="6350" cap="flat" cmpd="sng" algn="ctr">
                      <a:solidFill>
                        <a:srgbClr val="A6A6A6"/>
                      </a:solidFill>
                      <a:prstDash val="solid"/>
                    </a:lnB>
                    <a:noFill/>
                  </a:tcPr>
                </a:tc>
              </a:tr>
              <a:tr h="210312">
                <a:tc>
                  <a:txBody>
                    <a:bodyPr wrap="square"/>
                    <a:lstStyle/>
                    <a:p>
                      <a:pPr algn="ctr"/>
                      <a:r>
                        <a:rPr sz="800" b="1">
                          <a:solidFill>
                            <a:srgbClr val="000000"/>
                          </a:solidFill>
                          <a:latin typeface="游ゴシック"/>
                          <a:ea typeface="游ゴシック"/>
                        </a:rPr>
                        <a:t>代表者</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代表取締役　庄司　和夫</a:t>
                      </a:r>
                    </a:p>
                  </a:txBody>
                  <a:tcPr marL="45720" marR="45720" marT="9144" marB="9144" anchor="ctr">
                    <a:lnL>
                      <a:noFill/>
                    </a:lnL>
                    <a:lnR>
                      <a:noFill/>
                    </a:lnR>
                    <a:lnT>
                      <a:noFill/>
                    </a:lnT>
                    <a:lnB w="6350" cap="flat" cmpd="sng" algn="ctr">
                      <a:solidFill>
                        <a:srgbClr val="A6A6A6"/>
                      </a:solidFill>
                      <a:prstDash val="solid"/>
                    </a:lnB>
                    <a:noFill/>
                  </a:tcPr>
                </a:tc>
              </a:tr>
              <a:tr h="365760">
                <a:tc>
                  <a:txBody>
                    <a:bodyPr wrap="square"/>
                    <a:lstStyle/>
                    <a:p>
                      <a:pPr algn="ctr"/>
                      <a:r>
                        <a:rPr sz="800" b="1">
                          <a:solidFill>
                            <a:srgbClr val="000000"/>
                          </a:solidFill>
                          <a:latin typeface="游ゴシック"/>
                          <a:ea typeface="游ゴシック"/>
                        </a:rPr>
                        <a:t>株主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高塚　慎吾（600株／60.0%）、高塚　とく江（400株／40.0%）　※法人税申告書別表二による。株主名簿は要受領</a:t>
                      </a:r>
                    </a:p>
                  </a:txBody>
                  <a:tcPr marL="45720" marR="45720" marT="9144" marB="9144" anchor="ctr">
                    <a:lnL>
                      <a:noFill/>
                    </a:lnL>
                    <a:lnR>
                      <a:noFill/>
                    </a:lnR>
                    <a:lnT>
                      <a:noFill/>
                    </a:lnT>
                    <a:lnB w="6350" cap="flat" cmpd="sng" algn="ctr">
                      <a:solidFill>
                        <a:srgbClr val="A6A6A6"/>
                      </a:solidFill>
                      <a:prstDash val="solid"/>
                    </a:lnB>
                    <a:noFill/>
                  </a:tcPr>
                </a:tc>
              </a:tr>
              <a:tr h="521208">
                <a:tc>
                  <a:txBody>
                    <a:bodyPr wrap="square"/>
                    <a:lstStyle/>
                    <a:p>
                      <a:pPr algn="ctr"/>
                      <a:r>
                        <a:rPr sz="800" b="1">
                          <a:solidFill>
                            <a:srgbClr val="000000"/>
                          </a:solidFill>
                          <a:latin typeface="游ゴシック"/>
                          <a:ea typeface="游ゴシック"/>
                        </a:rPr>
                        <a:t>事業内容</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成田空港近隣を拠点とする輸出航空貨物の梱包（木枠・段ボール・パレット梱包、ドライアイス保冷梱包等）、保税蔵置場の運営と保税取扱・爆発物検査、顧客工場・倉庫内での構内梱包請負、フォワーダー向け事務作業受託、梱包資材の販売</a:t>
                      </a:r>
                    </a:p>
                  </a:txBody>
                  <a:tcPr marL="45720" marR="45720" marT="9144" marB="9144" anchor="ctr">
                    <a:lnL>
                      <a:noFill/>
                    </a:lnL>
                    <a:lnR>
                      <a:noFill/>
                    </a:lnR>
                    <a:lnT>
                      <a:noFill/>
                    </a:lnT>
                    <a:lnB w="6350" cap="flat" cmpd="sng" algn="ctr">
                      <a:solidFill>
                        <a:srgbClr val="A6A6A6"/>
                      </a:solidFill>
                      <a:prstDash val="solid"/>
                    </a:lnB>
                    <a:noFill/>
                  </a:tcPr>
                </a:tc>
              </a:tr>
              <a:tr h="365760">
                <a:tc>
                  <a:txBody>
                    <a:bodyPr wrap="square"/>
                    <a:lstStyle/>
                    <a:p>
                      <a:pPr algn="ctr"/>
                      <a:r>
                        <a:rPr sz="800" b="1">
                          <a:solidFill>
                            <a:srgbClr val="000000"/>
                          </a:solidFill>
                          <a:latin typeface="游ゴシック"/>
                          <a:ea typeface="游ゴシック"/>
                        </a:rPr>
                        <a:t>従業員数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20名（役員1名・正社員18名・パート1名）　※2026年10月時点の社員情報。別途、人材派遣・業務請負を活用</a:t>
                      </a:r>
                    </a:p>
                  </a:txBody>
                  <a:tcPr marL="45720" marR="45720" marT="9144" marB="9144" anchor="ctr">
                    <a:lnL>
                      <a:noFill/>
                    </a:lnL>
                    <a:lnR>
                      <a:noFill/>
                    </a:lnR>
                    <a:lnT>
                      <a:noFill/>
                    </a:lnT>
                    <a:lnB w="6350" cap="flat" cmpd="sng" algn="ctr">
                      <a:solidFill>
                        <a:srgbClr val="A6A6A6"/>
                      </a:solidFill>
                      <a:prstDash val="solid"/>
                    </a:lnB>
                    <a:noFill/>
                  </a:tcPr>
                </a:tc>
              </a:tr>
              <a:tr h="521208">
                <a:tc>
                  <a:txBody>
                    <a:bodyPr wrap="square"/>
                    <a:lstStyle/>
                    <a:p>
                      <a:pPr algn="ctr"/>
                      <a:r>
                        <a:rPr sz="800" b="1">
                          <a:solidFill>
                            <a:srgbClr val="000000"/>
                          </a:solidFill>
                          <a:latin typeface="游ゴシック"/>
                          <a:ea typeface="游ゴシック"/>
                        </a:rPr>
                        <a:t>許認可等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保税蔵置場許可（東京税関長 東関第395号、許可期間：2024年12月24日～2030年11月30日、蔵置貨物：輸出一般貨物・輸出冷凍冷蔵貨物）　※労働者派遣事業・貨物利用運送事業は定款目的に記載あり（許可・登録の有無は要確認）</a:t>
                      </a:r>
                    </a:p>
                  </a:txBody>
                  <a:tcPr marL="45720" marR="45720" marT="9144" marB="9144" anchor="ctr">
                    <a:lnL>
                      <a:noFill/>
                    </a:lnL>
                    <a:lnR>
                      <a:noFill/>
                    </a:lnR>
                    <a:lnT>
                      <a:noFill/>
                    </a:lnT>
                    <a:lnB w="6350" cap="flat" cmpd="sng" algn="ctr">
                      <a:solidFill>
                        <a:srgbClr val="A6A6A6"/>
                      </a:solidFill>
                      <a:prstDash val="solid"/>
                    </a:lnB>
                    <a:noFill/>
                  </a:tcPr>
                </a:tc>
              </a:tr>
              <a:tr h="210312">
                <a:tc>
                  <a:txBody>
                    <a:bodyPr wrap="square"/>
                    <a:lstStyle/>
                    <a:p>
                      <a:pPr algn="ctr"/>
                      <a:r>
                        <a:rPr sz="800" b="1">
                          <a:solidFill>
                            <a:srgbClr val="000000"/>
                          </a:solidFill>
                          <a:latin typeface="游ゴシック"/>
                          <a:ea typeface="游ゴシック"/>
                        </a:rPr>
                        <a:t>売上高</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279,294千円（2026年5月期）</a:t>
                      </a:r>
                    </a:p>
                  </a:txBody>
                  <a:tcPr marL="45720" marR="45720" marT="9144" marB="9144" anchor="ctr">
                    <a:lnL>
                      <a:noFill/>
                    </a:lnL>
                    <a:lnR>
                      <a:noFill/>
                    </a:lnR>
                    <a:lnT>
                      <a:noFill/>
                    </a:lnT>
                    <a:lnB w="6350" cap="flat" cmpd="sng" algn="ctr">
                      <a:solidFill>
                        <a:srgbClr val="A6A6A6"/>
                      </a:solidFill>
                      <a:prstDash val="solid"/>
                    </a:lnB>
                    <a:noFill/>
                  </a:tcPr>
                </a:tc>
              </a:tr>
              <a:tr h="210312">
                <a:tc>
                  <a:txBody>
                    <a:bodyPr wrap="square"/>
                    <a:lstStyle/>
                    <a:p>
                      <a:pPr algn="ctr"/>
                      <a:r>
                        <a:rPr sz="800" b="1">
                          <a:solidFill>
                            <a:srgbClr val="000000"/>
                          </a:solidFill>
                          <a:latin typeface="游ゴシック"/>
                          <a:ea typeface="游ゴシック"/>
                        </a:rPr>
                        <a:t>譲渡理由</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既存株主の事業からの離脱および代表者の引退に伴う事業承継</a:t>
                      </a:r>
                    </a:p>
                  </a:txBody>
                  <a:tcPr marL="45720" marR="45720" marT="9144" marB="9144" anchor="ctr">
                    <a:lnL>
                      <a:noFill/>
                    </a:lnL>
                    <a:lnR>
                      <a:noFill/>
                    </a:lnR>
                    <a:lnT>
                      <a:noFill/>
                    </a:lnT>
                    <a:lnB w="6350" cap="flat" cmpd="sng" algn="ctr">
                      <a:solidFill>
                        <a:srgbClr val="A6A6A6"/>
                      </a:solidFill>
                      <a:prstDash val="solid"/>
                    </a:lnB>
                    <a:noFill/>
                  </a:tcPr>
                </a:tc>
              </a:tr>
            </a:tbl>
          </a:graphicData>
        </a:graphic>
      </p:graphicFrame>
      <p:pic>
        <p:nvPicPr>
          <p:cNvPr id="16" name="Picture 15" descr="image5.png"/>
          <p:cNvPicPr>
            <a:picLocks noChangeAspect="1"/>
          </p:cNvPicPr>
          <p:nvPr/>
        </p:nvPicPr>
        <p:blipFill>
          <a:blip r:embed="rId3"/>
          <a:stretch>
            <a:fillRect/>
          </a:stretch>
        </p:blipFill>
        <p:spPr>
          <a:xfrm>
            <a:off x="6967728" y="1517904"/>
            <a:ext cx="3246120" cy="433692"/>
          </a:xfrm>
          <a:prstGeom prst="rect">
            <a:avLst/>
          </a:prstGeom>
        </p:spPr>
      </p:pic>
      <p:sp>
        <p:nvSpPr>
          <p:cNvPr id="17" name="Rectangle 16"/>
          <p:cNvSpPr/>
          <p:nvPr/>
        </p:nvSpPr>
        <p:spPr>
          <a:xfrm>
            <a:off x="6967728" y="2057400"/>
            <a:ext cx="3310128" cy="292608"/>
          </a:xfrm>
          <a:prstGeom prst="rect">
            <a:avLst/>
          </a:prstGeom>
          <a:gradFill rotWithShape="1">
            <a:gsLst>
              <a:gs pos="5000">
                <a:srgbClr val="0B3041"/>
              </a:gs>
              <a:gs pos="88000">
                <a:srgbClr val="006AB1"/>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游ゴシック"/>
                <a:ea typeface="游ゴシック"/>
              </a:rPr>
              <a:t>数字で見る高塚商事</a:t>
            </a:r>
          </a:p>
        </p:txBody>
      </p:sp>
      <p:sp>
        <p:nvSpPr>
          <p:cNvPr id="18" name="Rectangle 17"/>
          <p:cNvSpPr/>
          <p:nvPr/>
        </p:nvSpPr>
        <p:spPr>
          <a:xfrm>
            <a:off x="6967728" y="2441448"/>
            <a:ext cx="3310128" cy="987552"/>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67728" y="2441448"/>
            <a:ext cx="73152" cy="98755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132320" y="2496312"/>
            <a:ext cx="310896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900" b="1">
                <a:solidFill>
                  <a:srgbClr val="0B3041"/>
                </a:solidFill>
                <a:latin typeface="游ゴシック"/>
                <a:ea typeface="游ゴシック"/>
              </a:rPr>
              <a:t>売上高（26年5月期）</a:t>
            </a:r>
          </a:p>
        </p:txBody>
      </p:sp>
      <p:sp>
        <p:nvSpPr>
          <p:cNvPr id="21" name="Rectangle 20"/>
          <p:cNvSpPr/>
          <p:nvPr/>
        </p:nvSpPr>
        <p:spPr>
          <a:xfrm>
            <a:off x="7132320" y="2734056"/>
            <a:ext cx="31089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1700" b="1">
                <a:solidFill>
                  <a:srgbClr val="0B3041"/>
                </a:solidFill>
                <a:latin typeface="游ゴシック"/>
                <a:ea typeface="游ゴシック"/>
              </a:rPr>
              <a:t>279百万円</a:t>
            </a:r>
          </a:p>
        </p:txBody>
      </p:sp>
      <p:sp>
        <p:nvSpPr>
          <p:cNvPr id="22" name="Rectangle 21"/>
          <p:cNvSpPr/>
          <p:nvPr/>
        </p:nvSpPr>
        <p:spPr>
          <a:xfrm>
            <a:off x="7132320" y="3118104"/>
            <a:ext cx="310896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404040"/>
                </a:solidFill>
                <a:latin typeface="游ゴシック Medium"/>
                <a:ea typeface="游ゴシック Medium"/>
              </a:rPr>
              <a:t>3期平均 294百万円</a:t>
            </a:r>
          </a:p>
        </p:txBody>
      </p:sp>
      <p:sp>
        <p:nvSpPr>
          <p:cNvPr id="23" name="Rectangle 22"/>
          <p:cNvSpPr/>
          <p:nvPr/>
        </p:nvSpPr>
        <p:spPr>
          <a:xfrm>
            <a:off x="6967728" y="3520439"/>
            <a:ext cx="3310128" cy="987552"/>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967728" y="3520439"/>
            <a:ext cx="73152" cy="98755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32320" y="3575303"/>
            <a:ext cx="310896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900" b="1">
                <a:solidFill>
                  <a:srgbClr val="0B3041"/>
                </a:solidFill>
                <a:latin typeface="游ゴシック"/>
                <a:ea typeface="游ゴシック"/>
              </a:rPr>
              <a:t>保税蔵置場（東京税関許可）</a:t>
            </a:r>
          </a:p>
        </p:txBody>
      </p:sp>
      <p:sp>
        <p:nvSpPr>
          <p:cNvPr id="26" name="Rectangle 25"/>
          <p:cNvSpPr/>
          <p:nvPr/>
        </p:nvSpPr>
        <p:spPr>
          <a:xfrm>
            <a:off x="7132320" y="3813048"/>
            <a:ext cx="31089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1700" b="1">
                <a:solidFill>
                  <a:srgbClr val="0B3041"/>
                </a:solidFill>
                <a:latin typeface="游ゴシック"/>
                <a:ea typeface="游ゴシック"/>
              </a:rPr>
              <a:t>1,567㎡</a:t>
            </a:r>
          </a:p>
        </p:txBody>
      </p:sp>
      <p:sp>
        <p:nvSpPr>
          <p:cNvPr id="27" name="Rectangle 26"/>
          <p:cNvSpPr/>
          <p:nvPr/>
        </p:nvSpPr>
        <p:spPr>
          <a:xfrm>
            <a:off x="7132320" y="4197096"/>
            <a:ext cx="310896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404040"/>
                </a:solidFill>
                <a:latin typeface="游ゴシック Medium"/>
                <a:ea typeface="游ゴシック Medium"/>
              </a:rPr>
              <a:t>輸出一般貨物・輸出冷凍冷蔵貨物</a:t>
            </a:r>
          </a:p>
        </p:txBody>
      </p:sp>
      <p:sp>
        <p:nvSpPr>
          <p:cNvPr id="28" name="Rectangle 27"/>
          <p:cNvSpPr/>
          <p:nvPr/>
        </p:nvSpPr>
        <p:spPr>
          <a:xfrm>
            <a:off x="6967728" y="4599431"/>
            <a:ext cx="3310128" cy="987552"/>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967728" y="4599431"/>
            <a:ext cx="73152" cy="98755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132320" y="4654295"/>
            <a:ext cx="310896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900" b="1">
                <a:solidFill>
                  <a:srgbClr val="0B3041"/>
                </a:solidFill>
                <a:latin typeface="游ゴシック"/>
                <a:ea typeface="游ゴシック"/>
              </a:rPr>
              <a:t>従業員</a:t>
            </a:r>
          </a:p>
        </p:txBody>
      </p:sp>
      <p:sp>
        <p:nvSpPr>
          <p:cNvPr id="31" name="Rectangle 30"/>
          <p:cNvSpPr/>
          <p:nvPr/>
        </p:nvSpPr>
        <p:spPr>
          <a:xfrm>
            <a:off x="7132320" y="4892040"/>
            <a:ext cx="31089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1700" b="1">
                <a:solidFill>
                  <a:srgbClr val="0B3041"/>
                </a:solidFill>
                <a:latin typeface="游ゴシック"/>
                <a:ea typeface="游ゴシック"/>
              </a:rPr>
              <a:t>20名</a:t>
            </a:r>
          </a:p>
        </p:txBody>
      </p:sp>
      <p:sp>
        <p:nvSpPr>
          <p:cNvPr id="32" name="Rectangle 31"/>
          <p:cNvSpPr/>
          <p:nvPr/>
        </p:nvSpPr>
        <p:spPr>
          <a:xfrm>
            <a:off x="7132320" y="5276088"/>
            <a:ext cx="310896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404040"/>
                </a:solidFill>
                <a:latin typeface="游ゴシック Medium"/>
                <a:ea typeface="游ゴシック Medium"/>
              </a:rPr>
              <a:t>平均勤続11.3年／正社員18名</a:t>
            </a:r>
          </a:p>
        </p:txBody>
      </p:sp>
      <p:sp>
        <p:nvSpPr>
          <p:cNvPr id="33" name="Rectangle 32"/>
          <p:cNvSpPr/>
          <p:nvPr/>
        </p:nvSpPr>
        <p:spPr>
          <a:xfrm>
            <a:off x="6967728" y="5678424"/>
            <a:ext cx="3310128" cy="987552"/>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967728" y="5678424"/>
            <a:ext cx="73152" cy="98755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132320" y="5733288"/>
            <a:ext cx="310896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900" b="1">
                <a:solidFill>
                  <a:srgbClr val="0B3041"/>
                </a:solidFill>
                <a:latin typeface="游ゴシック"/>
                <a:ea typeface="游ゴシック"/>
              </a:rPr>
              <a:t>主要顧客</a:t>
            </a:r>
          </a:p>
        </p:txBody>
      </p:sp>
      <p:sp>
        <p:nvSpPr>
          <p:cNvPr id="36" name="Rectangle 35"/>
          <p:cNvSpPr/>
          <p:nvPr/>
        </p:nvSpPr>
        <p:spPr>
          <a:xfrm>
            <a:off x="7132320" y="5971032"/>
            <a:ext cx="31089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1400" b="1">
                <a:solidFill>
                  <a:srgbClr val="0B3041"/>
                </a:solidFill>
                <a:latin typeface="游ゴシック"/>
                <a:ea typeface="游ゴシック"/>
              </a:rPr>
              <a:t>DHL・航空集配・鴻池運輸</a:t>
            </a:r>
          </a:p>
        </p:txBody>
      </p:sp>
      <p:sp>
        <p:nvSpPr>
          <p:cNvPr id="37" name="Rectangle 36"/>
          <p:cNvSpPr/>
          <p:nvPr/>
        </p:nvSpPr>
        <p:spPr>
          <a:xfrm>
            <a:off x="7132320" y="6355080"/>
            <a:ext cx="310896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404040"/>
                </a:solidFill>
                <a:latin typeface="游ゴシック Medium"/>
                <a:ea typeface="游ゴシック Medium"/>
              </a:rPr>
              <a:t>三徳運輸・Littelfuseジャパン ほか</a:t>
            </a:r>
          </a:p>
        </p:txBody>
      </p:sp>
      <p:sp>
        <p:nvSpPr>
          <p:cNvPr id="38" name="Rectangle 37"/>
          <p:cNvSpPr/>
          <p:nvPr/>
        </p:nvSpPr>
        <p:spPr>
          <a:xfrm>
            <a:off x="310896" y="6812280"/>
            <a:ext cx="10040112"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※会社概要は2026年7月1日取得の登記簿、法人税申告書、2026年10月受領の社員情報等による。社名ロゴは同社ウェブサイトより。</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事業概要</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エグゼクティブサマリー</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梱包を起点に、保税蔵置場の運営、爆発物検査・保税取扱、顧客構内での梱包請負、フォワーダーの事務作業受託へと業務範囲を拡げ、「輸出貨物が空港に搬入されるまで」の作業を一括で引き受けられる体制を構築。</a:t>
            </a:r>
            <a:endParaRPr lang="en-US" altLang="ja-JP" dirty="0">
              <a:latin typeface="游ゴシック" panose="020B0400000000000000" pitchFamily="50" charset="-128"/>
              <a:ea typeface="游ゴシック" panose="020B0400000000000000" pitchFamily="50" charset="-128"/>
            </a:endParaRPr>
          </a:p>
        </p:txBody>
      </p:sp>
      <p:sp>
        <p:nvSpPr>
          <p:cNvPr id="14" name="Rectangle 13"/>
          <p:cNvSpPr/>
          <p:nvPr/>
        </p:nvSpPr>
        <p:spPr>
          <a:xfrm>
            <a:off x="310896" y="1481328"/>
            <a:ext cx="10040112" cy="274320"/>
          </a:xfrm>
          <a:prstGeom prst="rect">
            <a:avLst/>
          </a:prstGeom>
          <a:gradFill rotWithShape="1">
            <a:gsLst>
              <a:gs pos="5000">
                <a:srgbClr val="0B3041"/>
              </a:gs>
              <a:gs pos="88000">
                <a:srgbClr val="006AB1"/>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游ゴシック"/>
                <a:ea typeface="游ゴシック"/>
              </a:rPr>
              <a:t>事業フロー（輸出航空貨物）</a:t>
            </a:r>
          </a:p>
        </p:txBody>
      </p:sp>
      <p:sp>
        <p:nvSpPr>
          <p:cNvPr id="15" name="Pentagon 14"/>
          <p:cNvSpPr/>
          <p:nvPr/>
        </p:nvSpPr>
        <p:spPr>
          <a:xfrm>
            <a:off x="310896" y="1828800"/>
            <a:ext cx="1965960" cy="384048"/>
          </a:xfrm>
          <a:prstGeom prst="homePlate">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6616" y="1847088"/>
            <a:ext cx="173736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a:solidFill>
                  <a:srgbClr val="FFFFFF"/>
                </a:solidFill>
                <a:latin typeface="游ゴシック"/>
                <a:ea typeface="游ゴシック"/>
              </a:rPr>
              <a:t>集荷・搬入</a:t>
            </a:r>
          </a:p>
        </p:txBody>
      </p:sp>
      <p:sp>
        <p:nvSpPr>
          <p:cNvPr id="17" name="Rectangle 16"/>
          <p:cNvSpPr/>
          <p:nvPr/>
        </p:nvSpPr>
        <p:spPr>
          <a:xfrm>
            <a:off x="310896" y="2258568"/>
            <a:ext cx="18288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ctr"/>
            <a:r>
              <a:rPr sz="850" b="0">
                <a:solidFill>
                  <a:srgbClr val="000000"/>
                </a:solidFill>
                <a:latin typeface="游ゴシック Medium"/>
                <a:ea typeface="游ゴシック Medium"/>
              </a:rPr>
              <a:t>荷主・フォワーダーから</a:t>
            </a:r>
          </a:p>
          <a:p>
            <a:pPr algn="ctr"/>
            <a:r>
              <a:rPr sz="850" b="0">
                <a:solidFill>
                  <a:srgbClr val="000000"/>
                </a:solidFill>
                <a:latin typeface="游ゴシック Medium"/>
                <a:ea typeface="游ゴシック Medium"/>
              </a:rPr>
              <a:t>成田の倉庫へ搬入</a:t>
            </a:r>
          </a:p>
        </p:txBody>
      </p:sp>
      <p:sp>
        <p:nvSpPr>
          <p:cNvPr id="18" name="Pentagon 17"/>
          <p:cNvSpPr/>
          <p:nvPr/>
        </p:nvSpPr>
        <p:spPr>
          <a:xfrm>
            <a:off x="2322576" y="1828800"/>
            <a:ext cx="1965960" cy="384048"/>
          </a:xfrm>
          <a:prstGeom prst="homePlate">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368296" y="1847088"/>
            <a:ext cx="173736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a:solidFill>
                  <a:srgbClr val="FFFFFF"/>
                </a:solidFill>
                <a:latin typeface="游ゴシック"/>
                <a:ea typeface="游ゴシック"/>
              </a:rPr>
              <a:t>梱包</a:t>
            </a:r>
          </a:p>
        </p:txBody>
      </p:sp>
      <p:sp>
        <p:nvSpPr>
          <p:cNvPr id="20" name="Rectangle 19"/>
          <p:cNvSpPr/>
          <p:nvPr/>
        </p:nvSpPr>
        <p:spPr>
          <a:xfrm>
            <a:off x="2322576" y="2258568"/>
            <a:ext cx="18288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ctr"/>
            <a:r>
              <a:rPr sz="850" b="0">
                <a:solidFill>
                  <a:srgbClr val="000000"/>
                </a:solidFill>
                <a:latin typeface="游ゴシック Medium"/>
                <a:ea typeface="游ゴシック Medium"/>
              </a:rPr>
              <a:t>木枠・段ボール・パレット</a:t>
            </a:r>
          </a:p>
          <a:p>
            <a:pPr algn="ctr"/>
            <a:r>
              <a:rPr sz="850" b="0">
                <a:solidFill>
                  <a:srgbClr val="000000"/>
                </a:solidFill>
                <a:latin typeface="游ゴシック Medium"/>
                <a:ea typeface="游ゴシック Medium"/>
              </a:rPr>
              <a:t>ドライアイス保冷梱包</a:t>
            </a:r>
          </a:p>
        </p:txBody>
      </p:sp>
      <p:sp>
        <p:nvSpPr>
          <p:cNvPr id="21" name="Pentagon 20"/>
          <p:cNvSpPr/>
          <p:nvPr/>
        </p:nvSpPr>
        <p:spPr>
          <a:xfrm>
            <a:off x="4334256" y="1828800"/>
            <a:ext cx="1965960" cy="384048"/>
          </a:xfrm>
          <a:prstGeom prst="homePlate">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79976" y="1847088"/>
            <a:ext cx="173736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a:solidFill>
                  <a:srgbClr val="FFFFFF"/>
                </a:solidFill>
                <a:latin typeface="游ゴシック"/>
                <a:ea typeface="游ゴシック"/>
              </a:rPr>
              <a:t>保税蔵置</a:t>
            </a:r>
          </a:p>
        </p:txBody>
      </p:sp>
      <p:sp>
        <p:nvSpPr>
          <p:cNvPr id="23" name="Rectangle 22"/>
          <p:cNvSpPr/>
          <p:nvPr/>
        </p:nvSpPr>
        <p:spPr>
          <a:xfrm>
            <a:off x="4334256" y="2258568"/>
            <a:ext cx="18288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ctr"/>
            <a:r>
              <a:rPr sz="850" b="0">
                <a:solidFill>
                  <a:srgbClr val="000000"/>
                </a:solidFill>
                <a:latin typeface="游ゴシック Medium"/>
                <a:ea typeface="游ゴシック Medium"/>
              </a:rPr>
              <a:t>自社の保税蔵置場で</a:t>
            </a:r>
          </a:p>
          <a:p>
            <a:pPr algn="ctr"/>
            <a:r>
              <a:rPr sz="850" b="0">
                <a:solidFill>
                  <a:srgbClr val="000000"/>
                </a:solidFill>
                <a:latin typeface="游ゴシック Medium"/>
                <a:ea typeface="游ゴシック Medium"/>
              </a:rPr>
              <a:t>輸出許可まで蔵置</a:t>
            </a:r>
          </a:p>
        </p:txBody>
      </p:sp>
      <p:sp>
        <p:nvSpPr>
          <p:cNvPr id="24" name="Pentagon 23"/>
          <p:cNvSpPr/>
          <p:nvPr/>
        </p:nvSpPr>
        <p:spPr>
          <a:xfrm>
            <a:off x="6345936" y="1828800"/>
            <a:ext cx="1965960" cy="384048"/>
          </a:xfrm>
          <a:prstGeom prst="homePlate">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391656" y="1847088"/>
            <a:ext cx="173736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a:solidFill>
                  <a:srgbClr val="FFFFFF"/>
                </a:solidFill>
                <a:latin typeface="游ゴシック"/>
                <a:ea typeface="游ゴシック"/>
              </a:rPr>
              <a:t>検査・ラベリング</a:t>
            </a:r>
          </a:p>
        </p:txBody>
      </p:sp>
      <p:sp>
        <p:nvSpPr>
          <p:cNvPr id="26" name="Rectangle 25"/>
          <p:cNvSpPr/>
          <p:nvPr/>
        </p:nvSpPr>
        <p:spPr>
          <a:xfrm>
            <a:off x="6345936" y="2258568"/>
            <a:ext cx="18288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ctr"/>
            <a:r>
              <a:rPr sz="850" b="0">
                <a:solidFill>
                  <a:srgbClr val="000000"/>
                </a:solidFill>
                <a:latin typeface="游ゴシック Medium"/>
                <a:ea typeface="游ゴシック Medium"/>
              </a:rPr>
              <a:t>爆発物検査・</a:t>
            </a:r>
          </a:p>
          <a:p>
            <a:pPr algn="ctr"/>
            <a:r>
              <a:rPr sz="850" b="0">
                <a:solidFill>
                  <a:srgbClr val="000000"/>
                </a:solidFill>
                <a:latin typeface="游ゴシック Medium"/>
                <a:ea typeface="游ゴシック Medium"/>
              </a:rPr>
              <a:t>検量・ラベリング</a:t>
            </a:r>
          </a:p>
        </p:txBody>
      </p:sp>
      <p:sp>
        <p:nvSpPr>
          <p:cNvPr id="27" name="Pentagon 26"/>
          <p:cNvSpPr/>
          <p:nvPr/>
        </p:nvSpPr>
        <p:spPr>
          <a:xfrm>
            <a:off x="8357616" y="1828800"/>
            <a:ext cx="1965960" cy="384048"/>
          </a:xfrm>
          <a:prstGeom prst="homePlate">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403336" y="1847088"/>
            <a:ext cx="173736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a:solidFill>
                  <a:srgbClr val="FFFFFF"/>
                </a:solidFill>
                <a:latin typeface="游ゴシック"/>
                <a:ea typeface="游ゴシック"/>
              </a:rPr>
              <a:t>航空会社へ引渡し</a:t>
            </a:r>
          </a:p>
        </p:txBody>
      </p:sp>
      <p:sp>
        <p:nvSpPr>
          <p:cNvPr id="29" name="Rectangle 28"/>
          <p:cNvSpPr/>
          <p:nvPr/>
        </p:nvSpPr>
        <p:spPr>
          <a:xfrm>
            <a:off x="8357616" y="2258568"/>
            <a:ext cx="18288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ctr"/>
            <a:r>
              <a:rPr sz="850" b="0">
                <a:solidFill>
                  <a:srgbClr val="000000"/>
                </a:solidFill>
                <a:latin typeface="游ゴシック Medium"/>
                <a:ea typeface="游ゴシック Medium"/>
              </a:rPr>
              <a:t>上屋・航空会社へ</a:t>
            </a:r>
          </a:p>
          <a:p>
            <a:pPr algn="ctr"/>
            <a:r>
              <a:rPr sz="850" b="0">
                <a:solidFill>
                  <a:srgbClr val="000000"/>
                </a:solidFill>
                <a:latin typeface="游ゴシック Medium"/>
                <a:ea typeface="游ゴシック Medium"/>
              </a:rPr>
              <a:t>搬出（フォワーダー手配）</a:t>
            </a:r>
          </a:p>
        </p:txBody>
      </p:sp>
      <p:sp>
        <p:nvSpPr>
          <p:cNvPr id="30" name="Rectangle 29"/>
          <p:cNvSpPr/>
          <p:nvPr/>
        </p:nvSpPr>
        <p:spPr>
          <a:xfrm>
            <a:off x="2322576" y="2724912"/>
            <a:ext cx="603504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ctr"/>
            <a:r>
              <a:rPr sz="850" b="1">
                <a:solidFill>
                  <a:srgbClr val="0889C9"/>
                </a:solidFill>
                <a:latin typeface="游ゴシック"/>
                <a:ea typeface="游ゴシック"/>
              </a:rPr>
              <a:t>▲ 当社の受託範囲（梱包～保税蔵置～検査・ラベリング）</a:t>
            </a:r>
          </a:p>
        </p:txBody>
      </p:sp>
      <p:sp>
        <p:nvSpPr>
          <p:cNvPr id="31" name="Rectangle 30"/>
          <p:cNvSpPr/>
          <p:nvPr/>
        </p:nvSpPr>
        <p:spPr>
          <a:xfrm>
            <a:off x="310896" y="3035808"/>
            <a:ext cx="10040112" cy="274320"/>
          </a:xfrm>
          <a:prstGeom prst="rect">
            <a:avLst/>
          </a:prstGeom>
          <a:gradFill rotWithShape="1">
            <a:gsLst>
              <a:gs pos="5000">
                <a:srgbClr val="0B3041"/>
              </a:gs>
              <a:gs pos="88000">
                <a:srgbClr val="006AB1"/>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游ゴシック"/>
                <a:ea typeface="游ゴシック"/>
              </a:rPr>
              <a:t>主な事業・サービス（26年5月期の売上高）</a:t>
            </a:r>
          </a:p>
        </p:txBody>
      </p:sp>
      <p:sp>
        <p:nvSpPr>
          <p:cNvPr id="32" name="Rectangle 31"/>
          <p:cNvSpPr/>
          <p:nvPr/>
        </p:nvSpPr>
        <p:spPr>
          <a:xfrm>
            <a:off x="310896" y="3401568"/>
            <a:ext cx="4965192" cy="1207008"/>
          </a:xfrm>
          <a:prstGeom prst="rect">
            <a:avLst/>
          </a:prstGeom>
          <a:no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10896" y="3401568"/>
            <a:ext cx="384048" cy="120700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10896" y="3813048"/>
            <a:ext cx="384048"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FFFFFF"/>
                </a:solidFill>
                <a:latin typeface="游ゴシック"/>
                <a:ea typeface="游ゴシック"/>
              </a:rPr>
              <a:t>①</a:t>
            </a:r>
          </a:p>
        </p:txBody>
      </p:sp>
      <p:sp>
        <p:nvSpPr>
          <p:cNvPr id="35" name="Rectangle 34"/>
          <p:cNvSpPr/>
          <p:nvPr/>
        </p:nvSpPr>
        <p:spPr>
          <a:xfrm>
            <a:off x="768096" y="3447288"/>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1100" b="1">
                <a:solidFill>
                  <a:srgbClr val="0B3041"/>
                </a:solidFill>
                <a:latin typeface="游ゴシック"/>
                <a:ea typeface="游ゴシック"/>
              </a:rPr>
              <a:t>輸出航空貨物の梱包</a:t>
            </a:r>
          </a:p>
        </p:txBody>
      </p:sp>
      <p:sp>
        <p:nvSpPr>
          <p:cNvPr id="36" name="Rectangle 35"/>
          <p:cNvSpPr/>
          <p:nvPr/>
        </p:nvSpPr>
        <p:spPr>
          <a:xfrm>
            <a:off x="3328415" y="3465576"/>
            <a:ext cx="1874519"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r"/>
            <a:r>
              <a:rPr sz="800" b="1">
                <a:solidFill>
                  <a:srgbClr val="0889C9"/>
                </a:solidFill>
                <a:latin typeface="游ゴシック"/>
                <a:ea typeface="游ゴシック"/>
              </a:rPr>
              <a:t>梱包収入 209百万円（75%）</a:t>
            </a:r>
          </a:p>
        </p:txBody>
      </p:sp>
      <p:sp>
        <p:nvSpPr>
          <p:cNvPr id="37" name="Rectangle 36"/>
          <p:cNvSpPr/>
          <p:nvPr/>
        </p:nvSpPr>
        <p:spPr>
          <a:xfrm>
            <a:off x="768096" y="3749040"/>
            <a:ext cx="44348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50" b="0">
                <a:solidFill>
                  <a:srgbClr val="000000"/>
                </a:solidFill>
                <a:latin typeface="游ゴシック Medium"/>
                <a:ea typeface="游ゴシック Medium"/>
              </a:rPr>
              <a:t>成田の自社倉庫で、製品サイズに合わせた段ボール裁断・木枠梱包・ドライアイス保冷梱包を即日対応。</a:t>
            </a:r>
          </a:p>
        </p:txBody>
      </p:sp>
      <p:sp>
        <p:nvSpPr>
          <p:cNvPr id="38" name="Rectangle 37"/>
          <p:cNvSpPr/>
          <p:nvPr/>
        </p:nvSpPr>
        <p:spPr>
          <a:xfrm>
            <a:off x="768096" y="4315968"/>
            <a:ext cx="443484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404040"/>
                </a:solidFill>
                <a:latin typeface="游ゴシック Medium"/>
                <a:ea typeface="游ゴシック Medium"/>
              </a:rPr>
              <a:t>主要顧客：航空集配サービス、DHL</a:t>
            </a:r>
          </a:p>
        </p:txBody>
      </p:sp>
      <p:sp>
        <p:nvSpPr>
          <p:cNvPr id="39" name="Rectangle 38"/>
          <p:cNvSpPr/>
          <p:nvPr/>
        </p:nvSpPr>
        <p:spPr>
          <a:xfrm>
            <a:off x="5385816" y="3401568"/>
            <a:ext cx="4965192" cy="1207008"/>
          </a:xfrm>
          <a:prstGeom prst="rect">
            <a:avLst/>
          </a:prstGeom>
          <a:no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385816" y="3401568"/>
            <a:ext cx="384048" cy="120700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385816" y="3813048"/>
            <a:ext cx="384048"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FFFFFF"/>
                </a:solidFill>
                <a:latin typeface="游ゴシック"/>
                <a:ea typeface="游ゴシック"/>
              </a:rPr>
              <a:t>②</a:t>
            </a:r>
          </a:p>
        </p:txBody>
      </p:sp>
      <p:sp>
        <p:nvSpPr>
          <p:cNvPr id="42" name="Rectangle 41"/>
          <p:cNvSpPr/>
          <p:nvPr/>
        </p:nvSpPr>
        <p:spPr>
          <a:xfrm>
            <a:off x="5843016" y="3447288"/>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1100" b="1">
                <a:solidFill>
                  <a:srgbClr val="0B3041"/>
                </a:solidFill>
                <a:latin typeface="游ゴシック"/>
                <a:ea typeface="游ゴシック"/>
              </a:rPr>
              <a:t>構内梱包請負</a:t>
            </a:r>
          </a:p>
        </p:txBody>
      </p:sp>
      <p:sp>
        <p:nvSpPr>
          <p:cNvPr id="43" name="Rectangle 42"/>
          <p:cNvSpPr/>
          <p:nvPr/>
        </p:nvSpPr>
        <p:spPr>
          <a:xfrm>
            <a:off x="8403336" y="3465576"/>
            <a:ext cx="1874519"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r"/>
            <a:r>
              <a:rPr sz="800" b="1">
                <a:solidFill>
                  <a:srgbClr val="0889C9"/>
                </a:solidFill>
                <a:latin typeface="游ゴシック"/>
                <a:ea typeface="游ゴシック"/>
              </a:rPr>
              <a:t>（梱包収入に含む）</a:t>
            </a:r>
          </a:p>
        </p:txBody>
      </p:sp>
      <p:sp>
        <p:nvSpPr>
          <p:cNvPr id="44" name="Rectangle 43"/>
          <p:cNvSpPr/>
          <p:nvPr/>
        </p:nvSpPr>
        <p:spPr>
          <a:xfrm>
            <a:off x="5843016" y="3749040"/>
            <a:ext cx="44348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50" b="0">
                <a:solidFill>
                  <a:srgbClr val="000000"/>
                </a:solidFill>
                <a:latin typeface="游ゴシック Medium"/>
                <a:ea typeface="游ゴシック Medium"/>
              </a:rPr>
              <a:t>顧客の工場・倉庫内に人員を配置し梱包作業を請負（つくば事業所：Littelfuse工場構内、丸全昭和運輸倉庫内）。</a:t>
            </a:r>
          </a:p>
        </p:txBody>
      </p:sp>
      <p:sp>
        <p:nvSpPr>
          <p:cNvPr id="45" name="Rectangle 44"/>
          <p:cNvSpPr/>
          <p:nvPr/>
        </p:nvSpPr>
        <p:spPr>
          <a:xfrm>
            <a:off x="5843016" y="4315968"/>
            <a:ext cx="443484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404040"/>
                </a:solidFill>
                <a:latin typeface="游ゴシック Medium"/>
                <a:ea typeface="游ゴシック Medium"/>
              </a:rPr>
              <a:t>主要顧客：三徳運輸、Littelfuseジャパン</a:t>
            </a:r>
          </a:p>
        </p:txBody>
      </p:sp>
      <p:sp>
        <p:nvSpPr>
          <p:cNvPr id="46" name="Rectangle 45"/>
          <p:cNvSpPr/>
          <p:nvPr/>
        </p:nvSpPr>
        <p:spPr>
          <a:xfrm>
            <a:off x="310896" y="4700016"/>
            <a:ext cx="4965192" cy="1207008"/>
          </a:xfrm>
          <a:prstGeom prst="rect">
            <a:avLst/>
          </a:prstGeom>
          <a:no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10896" y="4700016"/>
            <a:ext cx="384048" cy="120700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10896" y="5111496"/>
            <a:ext cx="384048"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FFFFFF"/>
                </a:solidFill>
                <a:latin typeface="游ゴシック"/>
                <a:ea typeface="游ゴシック"/>
              </a:rPr>
              <a:t>③</a:t>
            </a:r>
          </a:p>
        </p:txBody>
      </p:sp>
      <p:sp>
        <p:nvSpPr>
          <p:cNvPr id="49" name="Rectangle 48"/>
          <p:cNvSpPr/>
          <p:nvPr/>
        </p:nvSpPr>
        <p:spPr>
          <a:xfrm>
            <a:off x="768096" y="4745736"/>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1100" b="1">
                <a:solidFill>
                  <a:srgbClr val="0B3041"/>
                </a:solidFill>
                <a:latin typeface="游ゴシック"/>
                <a:ea typeface="游ゴシック"/>
              </a:rPr>
              <a:t>保税蔵置場・保税取扱／爆発物検査</a:t>
            </a:r>
          </a:p>
        </p:txBody>
      </p:sp>
      <p:sp>
        <p:nvSpPr>
          <p:cNvPr id="50" name="Rectangle 49"/>
          <p:cNvSpPr/>
          <p:nvPr/>
        </p:nvSpPr>
        <p:spPr>
          <a:xfrm>
            <a:off x="3328415" y="4764024"/>
            <a:ext cx="1874519"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r"/>
            <a:r>
              <a:rPr sz="800" b="1">
                <a:solidFill>
                  <a:srgbClr val="0889C9"/>
                </a:solidFill>
                <a:latin typeface="游ゴシック"/>
                <a:ea typeface="游ゴシック"/>
              </a:rPr>
              <a:t>梱包外収入 34百万円（12%）</a:t>
            </a:r>
          </a:p>
        </p:txBody>
      </p:sp>
      <p:sp>
        <p:nvSpPr>
          <p:cNvPr id="51" name="Rectangle 50"/>
          <p:cNvSpPr/>
          <p:nvPr/>
        </p:nvSpPr>
        <p:spPr>
          <a:xfrm>
            <a:off x="768096" y="5047488"/>
            <a:ext cx="44348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50" b="0">
                <a:solidFill>
                  <a:srgbClr val="000000"/>
                </a:solidFill>
                <a:latin typeface="游ゴシック Medium"/>
                <a:ea typeface="游ゴシック Medium"/>
              </a:rPr>
              <a:t>2024年12月に東京税関の保税蔵置場許可を取得。保税取扱、爆発物検査、ラベリング、機材保管を提供。</a:t>
            </a:r>
          </a:p>
        </p:txBody>
      </p:sp>
      <p:sp>
        <p:nvSpPr>
          <p:cNvPr id="52" name="Rectangle 51"/>
          <p:cNvSpPr/>
          <p:nvPr/>
        </p:nvSpPr>
        <p:spPr>
          <a:xfrm>
            <a:off x="768096" y="5614416"/>
            <a:ext cx="443484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404040"/>
                </a:solidFill>
                <a:latin typeface="游ゴシック Medium"/>
                <a:ea typeface="游ゴシック Medium"/>
              </a:rPr>
              <a:t>主要顧客：鴻池運輸、DHL、ハッピーカーゴ</a:t>
            </a:r>
          </a:p>
        </p:txBody>
      </p:sp>
      <p:sp>
        <p:nvSpPr>
          <p:cNvPr id="53" name="Rectangle 52"/>
          <p:cNvSpPr/>
          <p:nvPr/>
        </p:nvSpPr>
        <p:spPr>
          <a:xfrm>
            <a:off x="5385816" y="4700016"/>
            <a:ext cx="4965192" cy="1207008"/>
          </a:xfrm>
          <a:prstGeom prst="rect">
            <a:avLst/>
          </a:prstGeom>
          <a:no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385816" y="4700016"/>
            <a:ext cx="384048" cy="120700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385816" y="5111496"/>
            <a:ext cx="384048"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FFFFFF"/>
                </a:solidFill>
                <a:latin typeface="游ゴシック"/>
                <a:ea typeface="游ゴシック"/>
              </a:rPr>
              <a:t>④</a:t>
            </a:r>
          </a:p>
        </p:txBody>
      </p:sp>
      <p:sp>
        <p:nvSpPr>
          <p:cNvPr id="56" name="Rectangle 55"/>
          <p:cNvSpPr/>
          <p:nvPr/>
        </p:nvSpPr>
        <p:spPr>
          <a:xfrm>
            <a:off x="5843016" y="4745736"/>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1100" b="1">
                <a:solidFill>
                  <a:srgbClr val="0B3041"/>
                </a:solidFill>
                <a:latin typeface="游ゴシック"/>
                <a:ea typeface="游ゴシック"/>
              </a:rPr>
              <a:t>業務請負・事務作業受託</a:t>
            </a:r>
          </a:p>
        </p:txBody>
      </p:sp>
      <p:sp>
        <p:nvSpPr>
          <p:cNvPr id="57" name="Rectangle 56"/>
          <p:cNvSpPr/>
          <p:nvPr/>
        </p:nvSpPr>
        <p:spPr>
          <a:xfrm>
            <a:off x="8403336" y="4764024"/>
            <a:ext cx="1874519"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r"/>
            <a:r>
              <a:rPr sz="800" b="1">
                <a:solidFill>
                  <a:srgbClr val="0889C9"/>
                </a:solidFill>
                <a:latin typeface="游ゴシック"/>
                <a:ea typeface="游ゴシック"/>
              </a:rPr>
              <a:t>その他収入 36百万円（13%）</a:t>
            </a:r>
          </a:p>
        </p:txBody>
      </p:sp>
      <p:sp>
        <p:nvSpPr>
          <p:cNvPr id="58" name="Rectangle 57"/>
          <p:cNvSpPr/>
          <p:nvPr/>
        </p:nvSpPr>
        <p:spPr>
          <a:xfrm>
            <a:off x="5843016" y="5047488"/>
            <a:ext cx="44348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50" b="0">
                <a:solidFill>
                  <a:srgbClr val="000000"/>
                </a:solidFill>
                <a:latin typeface="游ゴシック Medium"/>
                <a:ea typeface="游ゴシック Medium"/>
              </a:rPr>
              <a:t>DHLの新千歳拠点での輸出入オペレーション事務（2025年6月～）、空港上屋での作業請負等。</a:t>
            </a:r>
          </a:p>
        </p:txBody>
      </p:sp>
      <p:sp>
        <p:nvSpPr>
          <p:cNvPr id="59" name="Rectangle 58"/>
          <p:cNvSpPr/>
          <p:nvPr/>
        </p:nvSpPr>
        <p:spPr>
          <a:xfrm>
            <a:off x="5843016" y="5614416"/>
            <a:ext cx="443484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404040"/>
                </a:solidFill>
                <a:latin typeface="游ゴシック Medium"/>
                <a:ea typeface="游ゴシック Medium"/>
              </a:rPr>
              <a:t>主要顧客：DHL、国際空港上屋</a:t>
            </a:r>
          </a:p>
        </p:txBody>
      </p:sp>
      <p:sp>
        <p:nvSpPr>
          <p:cNvPr id="60" name="Rectangle 59"/>
          <p:cNvSpPr/>
          <p:nvPr/>
        </p:nvSpPr>
        <p:spPr>
          <a:xfrm>
            <a:off x="310896" y="6035040"/>
            <a:ext cx="10040112" cy="566928"/>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11480" y="6053328"/>
            <a:ext cx="91440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0B3041"/>
                </a:solidFill>
                <a:latin typeface="游ゴシック"/>
                <a:ea typeface="游ゴシック"/>
              </a:rPr>
              <a:t>強み</a:t>
            </a:r>
          </a:p>
        </p:txBody>
      </p:sp>
      <p:sp>
        <p:nvSpPr>
          <p:cNvPr id="62" name="Rectangle 61"/>
          <p:cNvSpPr/>
          <p:nvPr/>
        </p:nvSpPr>
        <p:spPr>
          <a:xfrm>
            <a:off x="1371600" y="6071616"/>
            <a:ext cx="8869680" cy="51206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l"/>
            <a:r>
              <a:rPr sz="900" b="0">
                <a:solidFill>
                  <a:srgbClr val="000000"/>
                </a:solidFill>
                <a:latin typeface="游ゴシック Medium"/>
                <a:ea typeface="游ゴシック Medium"/>
              </a:rPr>
              <a:t>✓ 成田空港至近で保税蔵置場許可を保有し、梱包から保税蔵置・検査までワンストップで対応</a:t>
            </a:r>
          </a:p>
          <a:p>
            <a:pPr algn="l"/>
            <a:r>
              <a:rPr sz="900" b="0">
                <a:solidFill>
                  <a:srgbClr val="000000"/>
                </a:solidFill>
                <a:latin typeface="游ゴシック Medium"/>
                <a:ea typeface="游ゴシック Medium"/>
              </a:rPr>
              <a:t>✓ 段ボール裁断機を活用したサイズ合わせ梱包・保冷梱包など、スピード納品と即日対応のノウハウ</a:t>
            </a:r>
          </a:p>
        </p:txBody>
      </p:sp>
      <p:sp>
        <p:nvSpPr>
          <p:cNvPr id="63" name="Rectangle 62"/>
          <p:cNvSpPr/>
          <p:nvPr/>
        </p:nvSpPr>
        <p:spPr>
          <a:xfrm>
            <a:off x="310896" y="6656832"/>
            <a:ext cx="10040112"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※事業区分は勘定科目（梱包収入／梱包外収入／その他収入）と取引内容から整理。構内梱包請負の売上は梱包収入に含まれ、区分別の内訳は要確認。</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売上区分別の推移</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梱包収入が売上の7割超を占める主力。37期は梱包外収入（保税取扱・爆発物検査）とその他収入（DHL向け業務請負）が伸長し、梱包の周辺業務へ収益源が拡がりつつある。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nvGraphicFramePr>
        <p:xfrm>
          <a:off x="310896" y="1508760"/>
          <a:ext cx="7223760" cy="1755648"/>
        </p:xfrm>
        <a:graphic>
          <a:graphicData uri="http://schemas.openxmlformats.org/drawingml/2006/table">
            <a:tbl>
              <a:tblPr firstRow="0" bandRow="0" firstCol="0" lastRow="0" lastCol="0" bandCol="0"/>
              <a:tblGrid>
                <a:gridCol w="2286000"/>
                <a:gridCol w="960120"/>
                <a:gridCol w="685800"/>
                <a:gridCol w="960120"/>
                <a:gridCol w="685800"/>
                <a:gridCol w="960120"/>
                <a:gridCol w="685800"/>
              </a:tblGrid>
              <a:tr h="292608">
                <a:tc>
                  <a:txBody>
                    <a:bodyPr wrap="square"/>
                    <a:lstStyle/>
                    <a:p>
                      <a:pPr algn="ctr"/>
                      <a:r>
                        <a:rPr sz="950" b="1">
                          <a:solidFill>
                            <a:srgbClr val="FFFFFF"/>
                          </a:solidFill>
                          <a:latin typeface="游ゴシック"/>
                          <a:ea typeface="游ゴシック"/>
                        </a:rPr>
                        <a:t>(単位：千円)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24年5月期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25年5月期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26年5月期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92608">
                <a:tc>
                  <a:txBody>
                    <a:bodyPr wrap="square"/>
                    <a:lstStyle/>
                    <a:p>
                      <a:pPr algn="l"/>
                      <a:r>
                        <a:rPr sz="950" b="0">
                          <a:solidFill>
                            <a:srgbClr val="000000"/>
                          </a:solidFill>
                          <a:latin typeface="游ゴシック"/>
                          <a:ea typeface="游ゴシック"/>
                        </a:rPr>
                        <a:t>梱包収入</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173,684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48.6%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208,996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85.0%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209,139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74.9%</a:t>
                      </a:r>
                    </a:p>
                  </a:txBody>
                  <a:tcPr marL="45720" marR="45720" marT="9144" marB="9144" anchor="ctr">
                    <a:lnL>
                      <a:noFill/>
                    </a:lnL>
                    <a:lnR>
                      <a:noFill/>
                    </a:lnR>
                    <a:lnT>
                      <a:noFill/>
                    </a:lnT>
                    <a:lnB w="6350" cap="flat" cmpd="sng" algn="ctr">
                      <a:solidFill>
                        <a:srgbClr val="A6A6A6"/>
                      </a:solidFill>
                      <a:prstDash val="solid"/>
                    </a:lnB>
                    <a:noFill/>
                  </a:tcPr>
                </a:tc>
              </a:tr>
              <a:tr h="292608">
                <a:tc>
                  <a:txBody>
                    <a:bodyPr wrap="square"/>
                    <a:lstStyle/>
                    <a:p>
                      <a:pPr algn="l"/>
                      <a:r>
                        <a:rPr sz="950" b="0">
                          <a:solidFill>
                            <a:srgbClr val="000000"/>
                          </a:solidFill>
                          <a:latin typeface="游ゴシック"/>
                          <a:ea typeface="游ゴシック"/>
                        </a:rPr>
                        <a:t>梱包外収入（保税・輸出入作業等）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76,514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21.4%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20,901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8.5%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34,050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12.2%</a:t>
                      </a:r>
                    </a:p>
                  </a:txBody>
                  <a:tcPr marL="45720" marR="45720" marT="9144" marB="9144" anchor="ctr">
                    <a:lnL>
                      <a:noFill/>
                    </a:lnL>
                    <a:lnR>
                      <a:noFill/>
                    </a:lnR>
                    <a:lnT>
                      <a:noFill/>
                    </a:lnT>
                    <a:lnB w="6350" cap="flat" cmpd="sng" algn="ctr">
                      <a:solidFill>
                        <a:srgbClr val="A6A6A6"/>
                      </a:solidFill>
                      <a:prstDash val="solid"/>
                    </a:lnB>
                    <a:noFill/>
                  </a:tcPr>
                </a:tc>
              </a:tr>
              <a:tr h="292608">
                <a:tc>
                  <a:txBody>
                    <a:bodyPr wrap="square"/>
                    <a:lstStyle/>
                    <a:p>
                      <a:pPr algn="l"/>
                      <a:r>
                        <a:rPr sz="950" b="0">
                          <a:solidFill>
                            <a:srgbClr val="000000"/>
                          </a:solidFill>
                          <a:latin typeface="游ゴシック"/>
                          <a:ea typeface="游ゴシック"/>
                        </a:rPr>
                        <a:t>その他収入（業務請負等）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99,179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27.8%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14,710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6.0%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36,105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12.9%</a:t>
                      </a:r>
                    </a:p>
                  </a:txBody>
                  <a:tcPr marL="45720" marR="45720" marT="9144" marB="9144" anchor="ctr">
                    <a:lnL>
                      <a:noFill/>
                    </a:lnL>
                    <a:lnR>
                      <a:noFill/>
                    </a:lnR>
                    <a:lnT>
                      <a:noFill/>
                    </a:lnT>
                    <a:lnB w="6350" cap="flat" cmpd="sng" algn="ctr">
                      <a:solidFill>
                        <a:srgbClr val="A6A6A6"/>
                      </a:solidFill>
                      <a:prstDash val="solid"/>
                    </a:lnB>
                    <a:noFill/>
                  </a:tcPr>
                </a:tc>
              </a:tr>
              <a:tr h="292608">
                <a:tc>
                  <a:txBody>
                    <a:bodyPr wrap="square"/>
                    <a:lstStyle/>
                    <a:p>
                      <a:pPr algn="l"/>
                      <a:r>
                        <a:rPr sz="950" b="0">
                          <a:solidFill>
                            <a:srgbClr val="000000"/>
                          </a:solidFill>
                          <a:latin typeface="游ゴシック"/>
                          <a:ea typeface="游ゴシック"/>
                        </a:rPr>
                        <a:t>賃貸収入</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7,738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2.2%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1,247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0.5%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92608">
                <a:tc>
                  <a:txBody>
                    <a:bodyPr wrap="square"/>
                    <a:lstStyle/>
                    <a:p>
                      <a:pPr algn="l"/>
                      <a:r>
                        <a:rPr sz="950" b="1">
                          <a:solidFill>
                            <a:srgbClr val="000000"/>
                          </a:solidFill>
                          <a:latin typeface="游ゴシック"/>
                          <a:ea typeface="游ゴシック"/>
                        </a:rPr>
                        <a:t>合計</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950" b="1">
                          <a:solidFill>
                            <a:srgbClr val="000000"/>
                          </a:solidFill>
                          <a:latin typeface="Arial"/>
                          <a:ea typeface="游ゴシック Medium"/>
                        </a:rPr>
                        <a:t>357,115</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9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950" b="1">
                          <a:solidFill>
                            <a:srgbClr val="000000"/>
                          </a:solidFill>
                          <a:latin typeface="Arial"/>
                          <a:ea typeface="游ゴシック Medium"/>
                        </a:rPr>
                        <a:t>245,854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9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950" b="1">
                          <a:solidFill>
                            <a:srgbClr val="000000"/>
                          </a:solidFill>
                          <a:latin typeface="Arial"/>
                          <a:ea typeface="游ゴシック Medium"/>
                        </a:rPr>
                        <a:t>279,294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9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bl>
          </a:graphicData>
        </a:graphic>
      </p:graphicFrame>
      <p:pic>
        <p:nvPicPr>
          <p:cNvPr id="15" name="Picture 14" descr="chart_rev.png"/>
          <p:cNvPicPr>
            <a:picLocks noChangeAspect="1"/>
          </p:cNvPicPr>
          <p:nvPr/>
        </p:nvPicPr>
        <p:blipFill>
          <a:blip r:embed="rId3"/>
          <a:stretch>
            <a:fillRect/>
          </a:stretch>
        </p:blipFill>
        <p:spPr>
          <a:xfrm>
            <a:off x="7680960" y="1463040"/>
            <a:ext cx="2743200" cy="4663440"/>
          </a:xfrm>
          <a:prstGeom prst="rect">
            <a:avLst/>
          </a:prstGeom>
        </p:spPr>
      </p:pic>
      <p:sp>
        <p:nvSpPr>
          <p:cNvPr id="16" name="Rectangle 15"/>
          <p:cNvSpPr/>
          <p:nvPr/>
        </p:nvSpPr>
        <p:spPr>
          <a:xfrm>
            <a:off x="310896" y="3520440"/>
            <a:ext cx="7223760" cy="22860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584448"/>
            <a:ext cx="6949440" cy="21945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300"/>
              </a:spcAft>
            </a:pPr>
            <a:r>
              <a:rPr sz="900" b="1">
                <a:solidFill>
                  <a:srgbClr val="0B3041"/>
                </a:solidFill>
                <a:latin typeface="游ゴシック Medium"/>
                <a:ea typeface="游ゴシック Medium"/>
              </a:rPr>
              <a:t>≪区分別の動き≫</a:t>
            </a:r>
          </a:p>
          <a:p>
            <a:pPr algn="l">
              <a:spcAft>
                <a:spcPts val="300"/>
              </a:spcAft>
            </a:pPr>
            <a:r>
              <a:rPr sz="900" b="0">
                <a:solidFill>
                  <a:srgbClr val="000000"/>
                </a:solidFill>
                <a:latin typeface="游ゴシック Medium"/>
                <a:ea typeface="游ゴシック Medium"/>
              </a:rPr>
              <a:t>・梱包収入：36期は旧拠点家主（ホンダロジスティクス）向けの縮小を三徳運輸・航空集配サービス向けが補い209百万円と横ばい。37期も209百万円を維持。</a:t>
            </a:r>
          </a:p>
          <a:p>
            <a:pPr algn="l">
              <a:spcAft>
                <a:spcPts val="300"/>
              </a:spcAft>
            </a:pPr>
            <a:r>
              <a:rPr sz="900" b="0">
                <a:solidFill>
                  <a:srgbClr val="000000"/>
                </a:solidFill>
                <a:latin typeface="游ゴシック Medium"/>
                <a:ea typeface="游ゴシック Medium"/>
              </a:rPr>
              <a:t>・梱包外収入：35期は76百万円あったが、移転・保税許可取得期の36期に21百万円へ減少。2024年12月の保税蔵置場許可取得後、37期は鴻池運輸向け保税取扱・爆発物検査の拡大により34百万円へ回復。</a:t>
            </a:r>
          </a:p>
          <a:p>
            <a:pPr algn="l">
              <a:spcAft>
                <a:spcPts val="300"/>
              </a:spcAft>
            </a:pPr>
            <a:r>
              <a:rPr sz="900" b="0">
                <a:solidFill>
                  <a:srgbClr val="000000"/>
                </a:solidFill>
                <a:latin typeface="游ゴシック Medium"/>
                <a:ea typeface="游ゴシック Medium"/>
              </a:rPr>
              <a:t>・その他収入：37期にDHL向け業務請負が32百万円（36期11百万円）へ拡大。2025年6月から新千歳拠点での事務作業受託（2名分、1名月額420千円）を開始。</a:t>
            </a:r>
          </a:p>
          <a:p>
            <a:pPr algn="l">
              <a:spcAft>
                <a:spcPts val="300"/>
              </a:spcAft>
            </a:pPr>
            <a:r>
              <a:rPr sz="900" b="0">
                <a:solidFill>
                  <a:srgbClr val="000000"/>
                </a:solidFill>
                <a:latin typeface="游ゴシック Medium"/>
                <a:ea typeface="游ゴシック Medium"/>
              </a:rPr>
              <a:t>・賃貸収入：旧拠点での転貸収入。拠点移転に伴い36期で終了。</a:t>
            </a:r>
          </a:p>
          <a:p>
            <a:pPr algn="l">
              <a:spcAft>
                <a:spcPts val="300"/>
              </a:spcAft>
            </a:pPr>
            <a:r>
              <a:rPr sz="800" b="0">
                <a:solidFill>
                  <a:srgbClr val="000000"/>
                </a:solidFill>
                <a:latin typeface="游ゴシック Medium"/>
                <a:ea typeface="游ゴシック Medium"/>
              </a:rPr>
              <a:t>※DHL向け業務請負は人材サービス会社への外注費（37期32,925千円）と対応しており、同業務の粗利は要確認。</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主要得意先の推移</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上位5社（三徳運輸・航空集配サービス・DHL・Littelfuseジャパン・鴻池運輸）で売上の94%を占める。DHL・鴻池運輸向けは保税・業務請負の拡大により37期に大きく伸長した。</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nvGraphicFramePr>
        <p:xfrm>
          <a:off x="310896" y="1463040"/>
          <a:ext cx="9601200" cy="3986784"/>
        </p:xfrm>
        <a:graphic>
          <a:graphicData uri="http://schemas.openxmlformats.org/drawingml/2006/table">
            <a:tbl>
              <a:tblPr firstRow="0" bandRow="0" firstCol="0" lastRow="0" lastCol="0" bandCol="0"/>
              <a:tblGrid>
                <a:gridCol w="274320"/>
                <a:gridCol w="2148840"/>
                <a:gridCol w="2240280"/>
                <a:gridCol w="960120"/>
                <a:gridCol w="777240"/>
                <a:gridCol w="548640"/>
                <a:gridCol w="777240"/>
                <a:gridCol w="548640"/>
                <a:gridCol w="777240"/>
                <a:gridCol w="548640"/>
              </a:tblGrid>
              <a:tr h="365760">
                <a:tc>
                  <a:txBody>
                    <a:bodyPr wrap="square"/>
                    <a:lstStyle/>
                    <a:p>
                      <a:pPr algn="ctr"/>
                      <a:r>
                        <a:rPr sz="850" b="1">
                          <a:solidFill>
                            <a:srgbClr val="FFFFFF"/>
                          </a:solidFill>
                          <a:latin typeface="游ゴシック"/>
                          <a:ea typeface="游ゴシック"/>
                        </a:rPr>
                        <a:t>№</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得意先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取引内容</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所在地</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25年5月期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26年5月期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進行期</a:t>
                      </a:r>
                    </a:p>
                    <a:p>
                      <a:pPr algn="ctr"/>
                      <a:r>
                        <a:rPr sz="850" b="1">
                          <a:solidFill>
                            <a:srgbClr val="FFFFFF"/>
                          </a:solidFill>
                          <a:latin typeface="游ゴシック"/>
                          <a:ea typeface="游ゴシック"/>
                        </a:rPr>
                        <a:t>（6～8月）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301752">
                <a:tc>
                  <a:txBody>
                    <a:bodyPr wrap="square"/>
                    <a:lstStyle/>
                    <a:p>
                      <a:pPr algn="ctr"/>
                      <a:r>
                        <a:rPr sz="850" b="0">
                          <a:solidFill>
                            <a:srgbClr val="000000"/>
                          </a:solidFill>
                          <a:latin typeface="游ゴシック"/>
                          <a:ea typeface="游ゴシック"/>
                        </a:rPr>
                        <a:t>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三徳運輸㈱</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顧客倉庫内での構内梱包・梱包資材</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茨城県神栖市</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82,269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33.5%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71,237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25.5%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22,061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28.9%</a:t>
                      </a:r>
                    </a:p>
                  </a:txBody>
                  <a:tcPr marL="45720" marR="45720" marT="9144" marB="9144" anchor="ctr">
                    <a:lnL>
                      <a:noFill/>
                    </a:lnL>
                    <a:lnR>
                      <a:noFill/>
                    </a:lnR>
                    <a:lnT>
                      <a:noFill/>
                    </a:lnT>
                    <a:lnB w="6350" cap="flat" cmpd="sng" algn="ctr">
                      <a:solidFill>
                        <a:srgbClr val="A6A6A6"/>
                      </a:solidFill>
                      <a:prstDash val="solid"/>
                    </a:lnB>
                    <a:noFill/>
                  </a:tcPr>
                </a:tc>
              </a:tr>
              <a:tr h="301752">
                <a:tc>
                  <a:txBody>
                    <a:bodyPr wrap="square"/>
                    <a:lstStyle/>
                    <a:p>
                      <a:pPr algn="ctr"/>
                      <a:r>
                        <a:rPr sz="850" b="0">
                          <a:solidFill>
                            <a:srgbClr val="000000"/>
                          </a:solidFill>
                          <a:latin typeface="游ゴシック"/>
                          <a:ea typeface="游ゴシック"/>
                        </a:rPr>
                        <a:t>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航空集配サービス㈱</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輸出航空貨物の梱包・梱包資材</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千葉県習志野市</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53,033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21.6%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69,182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24.8%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18,857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24.7%</a:t>
                      </a:r>
                    </a:p>
                  </a:txBody>
                  <a:tcPr marL="45720" marR="45720" marT="9144" marB="9144" anchor="ctr">
                    <a:lnL>
                      <a:noFill/>
                    </a:lnL>
                    <a:lnR>
                      <a:noFill/>
                    </a:lnR>
                    <a:lnT>
                      <a:noFill/>
                    </a:lnT>
                    <a:lnB w="6350" cap="flat" cmpd="sng" algn="ctr">
                      <a:solidFill>
                        <a:srgbClr val="A6A6A6"/>
                      </a:solidFill>
                      <a:prstDash val="solid"/>
                    </a:lnB>
                    <a:noFill/>
                  </a:tcPr>
                </a:tc>
              </a:tr>
              <a:tr h="301752">
                <a:tc>
                  <a:txBody>
                    <a:bodyPr wrap="square"/>
                    <a:lstStyle/>
                    <a:p>
                      <a:pPr algn="ctr"/>
                      <a:r>
                        <a:rPr sz="850" b="0">
                          <a:solidFill>
                            <a:srgbClr val="000000"/>
                          </a:solidFill>
                          <a:latin typeface="游ゴシック"/>
                          <a:ea typeface="游ゴシック"/>
                        </a:rPr>
                        <a:t>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DHLグローバルフォワーディングジャパン㈱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梱包・保税取扱・爆発物検査・事務作業受託</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東京都墨田区</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30,217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12.3%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52,712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18.9%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16,127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21.1%</a:t>
                      </a:r>
                    </a:p>
                  </a:txBody>
                  <a:tcPr marL="45720" marR="45720" marT="9144" marB="9144" anchor="ctr">
                    <a:lnL>
                      <a:noFill/>
                    </a:lnL>
                    <a:lnR>
                      <a:noFill/>
                    </a:lnR>
                    <a:lnT>
                      <a:noFill/>
                    </a:lnT>
                    <a:lnB w="6350" cap="flat" cmpd="sng" algn="ctr">
                      <a:solidFill>
                        <a:srgbClr val="A6A6A6"/>
                      </a:solidFill>
                      <a:prstDash val="solid"/>
                    </a:lnB>
                    <a:noFill/>
                  </a:tcPr>
                </a:tc>
              </a:tr>
              <a:tr h="301752">
                <a:tc>
                  <a:txBody>
                    <a:bodyPr wrap="square"/>
                    <a:lstStyle/>
                    <a:p>
                      <a:pPr algn="ctr"/>
                      <a:r>
                        <a:rPr sz="850" b="0">
                          <a:solidFill>
                            <a:srgbClr val="000000"/>
                          </a:solidFill>
                          <a:latin typeface="游ゴシック"/>
                          <a:ea typeface="游ゴシック"/>
                        </a:rPr>
                        <a:t>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Littelfuseジャパン合同会社</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工場構内での梱包（つくば事業所）</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茨城県稲敷市</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41,292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16.8%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41,499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14.9%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10,794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14.1%</a:t>
                      </a:r>
                    </a:p>
                  </a:txBody>
                  <a:tcPr marL="45720" marR="45720" marT="9144" marB="9144" anchor="ctr">
                    <a:lnL>
                      <a:noFill/>
                    </a:lnL>
                    <a:lnR>
                      <a:noFill/>
                    </a:lnR>
                    <a:lnT>
                      <a:noFill/>
                    </a:lnT>
                    <a:lnB w="6350" cap="flat" cmpd="sng" algn="ctr">
                      <a:solidFill>
                        <a:srgbClr val="A6A6A6"/>
                      </a:solidFill>
                      <a:prstDash val="solid"/>
                    </a:lnB>
                    <a:noFill/>
                  </a:tcPr>
                </a:tc>
              </a:tr>
              <a:tr h="301752">
                <a:tc>
                  <a:txBody>
                    <a:bodyPr wrap="square"/>
                    <a:lstStyle/>
                    <a:p>
                      <a:pPr algn="ctr"/>
                      <a:r>
                        <a:rPr sz="850" b="0">
                          <a:solidFill>
                            <a:srgbClr val="000000"/>
                          </a:solidFill>
                          <a:latin typeface="游ゴシック"/>
                          <a:ea typeface="游ゴシック"/>
                        </a:rPr>
                        <a:t>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鴻池運輸㈱</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保税取扱・爆発物検査・ラベリング等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大阪府大阪市</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11,911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29,486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4,620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6.0%</a:t>
                      </a:r>
                    </a:p>
                  </a:txBody>
                  <a:tcPr marL="45720" marR="45720" marT="9144" marB="9144" anchor="ctr">
                    <a:lnL>
                      <a:noFill/>
                    </a:lnL>
                    <a:lnR>
                      <a:noFill/>
                    </a:lnR>
                    <a:lnT>
                      <a:noFill/>
                    </a:lnT>
                    <a:lnB w="6350" cap="flat" cmpd="sng" algn="ctr">
                      <a:solidFill>
                        <a:srgbClr val="A6A6A6"/>
                      </a:solidFill>
                      <a:prstDash val="solid"/>
                    </a:lnB>
                    <a:noFill/>
                  </a:tcPr>
                </a:tc>
              </a:tr>
              <a:tr h="301752">
                <a:tc>
                  <a:txBody>
                    <a:bodyPr wrap="square"/>
                    <a:lstStyle/>
                    <a:p>
                      <a:pPr algn="ctr"/>
                      <a:r>
                        <a:rPr sz="850" b="0">
                          <a:solidFill>
                            <a:srgbClr val="000000"/>
                          </a:solidFill>
                          <a:latin typeface="游ゴシック"/>
                          <a:ea typeface="游ゴシック"/>
                        </a:rPr>
                        <a:t>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国際空港上屋㈱</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業務請負（作業・清掃等）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千葉県成田市</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3,992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4,101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599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0.8%</a:t>
                      </a:r>
                    </a:p>
                  </a:txBody>
                  <a:tcPr marL="45720" marR="45720" marT="9144" marB="9144" anchor="ctr">
                    <a:lnL>
                      <a:noFill/>
                    </a:lnL>
                    <a:lnR>
                      <a:noFill/>
                    </a:lnR>
                    <a:lnT>
                      <a:noFill/>
                    </a:lnT>
                    <a:lnB w="6350" cap="flat" cmpd="sng" algn="ctr">
                      <a:solidFill>
                        <a:srgbClr val="A6A6A6"/>
                      </a:solidFill>
                      <a:prstDash val="solid"/>
                    </a:lnB>
                    <a:noFill/>
                  </a:tcPr>
                </a:tc>
              </a:tr>
              <a:tr h="301752">
                <a:tc>
                  <a:txBody>
                    <a:bodyPr wrap="square"/>
                    <a:lstStyle/>
                    <a:p>
                      <a:pPr algn="ctr"/>
                      <a:r>
                        <a:rPr sz="850" b="0">
                          <a:solidFill>
                            <a:srgbClr val="000000"/>
                          </a:solidFill>
                          <a:latin typeface="游ゴシック"/>
                          <a:ea typeface="游ゴシック"/>
                        </a:rPr>
                        <a:t>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マルシン商事</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梱包</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千葉県成田市</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4,452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3,464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872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1.1%</a:t>
                      </a:r>
                    </a:p>
                  </a:txBody>
                  <a:tcPr marL="45720" marR="45720" marT="9144" marB="9144" anchor="ctr">
                    <a:lnL>
                      <a:noFill/>
                    </a:lnL>
                    <a:lnR>
                      <a:noFill/>
                    </a:lnR>
                    <a:lnT>
                      <a:noFill/>
                    </a:lnT>
                    <a:lnB w="6350" cap="flat" cmpd="sng" algn="ctr">
                      <a:solidFill>
                        <a:srgbClr val="A6A6A6"/>
                      </a:solidFill>
                      <a:prstDash val="solid"/>
                    </a:lnB>
                    <a:noFill/>
                  </a:tcPr>
                </a:tc>
              </a:tr>
              <a:tr h="301752">
                <a:tc>
                  <a:txBody>
                    <a:bodyPr wrap="square"/>
                    <a:lstStyle/>
                    <a:p>
                      <a:pPr algn="ctr"/>
                      <a:r>
                        <a:rPr sz="850" b="0">
                          <a:solidFill>
                            <a:srgbClr val="000000"/>
                          </a:solidFill>
                          <a:latin typeface="游ゴシック"/>
                          <a:ea typeface="游ゴシック"/>
                        </a:rPr>
                        <a:t>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㈲宮崎商会</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梱包</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千葉県四街道市</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2,223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0.9%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2,906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1,096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1.4%</a:t>
                      </a:r>
                    </a:p>
                  </a:txBody>
                  <a:tcPr marL="45720" marR="45720" marT="9144" marB="9144" anchor="ctr">
                    <a:lnL>
                      <a:noFill/>
                    </a:lnL>
                    <a:lnR>
                      <a:noFill/>
                    </a:lnR>
                    <a:lnT>
                      <a:noFill/>
                    </a:lnT>
                    <a:lnB w="6350" cap="flat" cmpd="sng" algn="ctr">
                      <a:solidFill>
                        <a:srgbClr val="A6A6A6"/>
                      </a:solidFill>
                      <a:prstDash val="solid"/>
                    </a:lnB>
                    <a:noFill/>
                  </a:tcPr>
                </a:tc>
              </a:tr>
              <a:tr h="301752">
                <a:tc>
                  <a:txBody>
                    <a:bodyPr wrap="square"/>
                    <a:lstStyle/>
                    <a:p>
                      <a:pPr algn="ctr"/>
                      <a:r>
                        <a:rPr sz="850" b="0">
                          <a:solidFill>
                            <a:srgbClr val="000000"/>
                          </a:solidFill>
                          <a:latin typeface="游ゴシック"/>
                          <a:ea typeface="游ゴシック"/>
                        </a:rPr>
                        <a:t>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ハッピーカーゴ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保税取扱・爆発物検査・機材保管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要確認</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1,458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0.6%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2,494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0.9%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733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a:t>
                      </a:r>
                    </a:p>
                  </a:txBody>
                  <a:tcPr marL="45720" marR="45720" marT="9144" marB="9144" anchor="ctr">
                    <a:lnL>
                      <a:noFill/>
                    </a:lnL>
                    <a:lnR>
                      <a:noFill/>
                    </a:lnR>
                    <a:lnT>
                      <a:noFill/>
                    </a:lnT>
                    <a:lnB w="6350" cap="flat" cmpd="sng" algn="ctr">
                      <a:solidFill>
                        <a:srgbClr val="A6A6A6"/>
                      </a:solidFill>
                      <a:prstDash val="solid"/>
                    </a:lnB>
                    <a:noFill/>
                  </a:tcPr>
                </a:tc>
              </a:tr>
              <a:tr h="301752">
                <a:tc>
                  <a:txBody>
                    <a:bodyPr wrap="square"/>
                    <a:lstStyle/>
                    <a:p>
                      <a:pPr algn="ctr"/>
                      <a:r>
                        <a:rPr sz="850" b="0">
                          <a:solidFill>
                            <a:srgbClr val="000000"/>
                          </a:solidFill>
                          <a:latin typeface="游ゴシック"/>
                          <a:ea typeface="游ゴシック"/>
                        </a:rPr>
                        <a:t>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㈱ホンダロジスティクス</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梱包・保税取扱・賃貸</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栃木県芳賀郡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10,444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301752">
                <a:tc>
                  <a:txBody>
                    <a:bodyPr wrap="square"/>
                    <a:lstStyle/>
                    <a:p>
                      <a:pPr algn="ctr"/>
                      <a:r>
                        <a:rPr sz="85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その他（6～8社）</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4,562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2,212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0.8%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616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0.8%</a:t>
                      </a:r>
                    </a:p>
                  </a:txBody>
                  <a:tcPr marL="45720" marR="45720" marT="9144" marB="9144" anchor="ctr">
                    <a:lnL>
                      <a:noFill/>
                    </a:lnL>
                    <a:lnR>
                      <a:noFill/>
                    </a:lnR>
                    <a:lnT>
                      <a:noFill/>
                    </a:lnT>
                    <a:lnB w="6350" cap="flat" cmpd="sng" algn="ctr">
                      <a:solidFill>
                        <a:srgbClr val="A6A6A6"/>
                      </a:solidFill>
                      <a:prstDash val="solid"/>
                    </a:lnB>
                    <a:noFill/>
                  </a:tcPr>
                </a:tc>
              </a:tr>
              <a:tr h="301752">
                <a:tc>
                  <a:txBody>
                    <a:bodyPr wrap="square"/>
                    <a:lstStyle/>
                    <a:p>
                      <a:pPr algn="ctr"/>
                      <a:r>
                        <a:rPr sz="8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850" b="1">
                          <a:solidFill>
                            <a:srgbClr val="000000"/>
                          </a:solidFill>
                          <a:latin typeface="游ゴシック"/>
                          <a:ea typeface="游ゴシック"/>
                        </a:rPr>
                        <a:t>合計</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8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8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245,854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279,294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76,376</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bl>
          </a:graphicData>
        </a:graphic>
      </p:graphicFrame>
      <p:sp>
        <p:nvSpPr>
          <p:cNvPr id="15" name="Rectangle 14"/>
          <p:cNvSpPr/>
          <p:nvPr/>
        </p:nvSpPr>
        <p:spPr>
          <a:xfrm>
            <a:off x="310896" y="6172200"/>
            <a:ext cx="10040112"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※総勘定元帳の売上計上額を取引先別に集計（単位：千円）。24年5月期は元帳未受領のため期末売掛金残高のみ判明（Littelfuse 8,135千円、三徳運輸5,321千円、ホンダロジスティクス4,824千円、航空集配3,881千円、DHL 3,794千円、鴻池運輸1,499千円）。※三徳運輸向けは丸全昭和運輸㈱倉庫内での構内梱包、Littelfuseジャパン向けは同社工場構内での梱包（つくば事業所）。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主要仕入先・外注先の推移</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梱包資材は宮崎商会・山田ダンボール・ユーエムパッケージの3社で仕入の67%。外注費は37期にDHL向け業務請負の人員（グローバル人材バンク）が拡大し66百万円となった。</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nvGraphicFramePr>
        <p:xfrm>
          <a:off x="310896" y="1417320"/>
          <a:ext cx="9144000" cy="2295144"/>
        </p:xfrm>
        <a:graphic>
          <a:graphicData uri="http://schemas.openxmlformats.org/drawingml/2006/table">
            <a:tbl>
              <a:tblPr firstRow="0" bandRow="0" firstCol="0" lastRow="0" lastCol="0" bandCol="0"/>
              <a:tblGrid>
                <a:gridCol w="274320"/>
                <a:gridCol w="2103120"/>
                <a:gridCol w="2377440"/>
                <a:gridCol w="868680"/>
                <a:gridCol w="594360"/>
                <a:gridCol w="868680"/>
                <a:gridCol w="594360"/>
                <a:gridCol w="868680"/>
                <a:gridCol w="594360"/>
              </a:tblGrid>
              <a:tr h="329184">
                <a:tc>
                  <a:txBody>
                    <a:bodyPr wrap="square"/>
                    <a:lstStyle/>
                    <a:p>
                      <a:pPr algn="ctr"/>
                      <a:r>
                        <a:rPr sz="750" b="1">
                          <a:solidFill>
                            <a:srgbClr val="FFFFFF"/>
                          </a:solidFill>
                          <a:latin typeface="游ゴシック"/>
                          <a:ea typeface="游ゴシック"/>
                        </a:rPr>
                        <a:t>№</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仕入先（原材料）</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内容</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25年5月期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26年5月期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進行期</a:t>
                      </a:r>
                    </a:p>
                    <a:p>
                      <a:pPr algn="ctr"/>
                      <a:r>
                        <a:rPr sz="750" b="1">
                          <a:solidFill>
                            <a:srgbClr val="FFFFFF"/>
                          </a:solidFill>
                          <a:latin typeface="游ゴシック"/>
                          <a:ea typeface="游ゴシック"/>
                        </a:rPr>
                        <a:t>（6～8月）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196596">
                <a:tc>
                  <a:txBody>
                    <a:bodyPr wrap="square"/>
                    <a:lstStyle/>
                    <a:p>
                      <a:pPr algn="ctr"/>
                      <a:r>
                        <a:rPr sz="750" b="0">
                          <a:solidFill>
                            <a:srgbClr val="000000"/>
                          </a:solidFill>
                          <a:latin typeface="游ゴシック"/>
                          <a:ea typeface="游ゴシック"/>
                        </a:rPr>
                        <a:t>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㈲宮崎商会</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梱包資材（木材・パレット等）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13,590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20.7%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16,823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25.7%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4,694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24.5%</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山田ダンボール㈱</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段ボール</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15,369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23.4%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13,671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20.9%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3,845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20.1%</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㈱ユーエムパッケージ</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梱包資材</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13,705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20.9%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13,639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20.8%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2,933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15.3%</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成田ドライアイス㈱</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ドライアイス（保冷梱包）</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6,177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9.4%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7,168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1,819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9.5%</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UNパック・ジャパン㈱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梱包資材</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3,254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4,419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6.8%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2,434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12.7%</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山一産業</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梱包資材</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3,816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5.8%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3,386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5.2%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1,382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7.2%</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トヨタL&amp;F</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フォークリフト関連</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4,206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6.4%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2,225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550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2.9%</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タニックス</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梱包資材</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2,984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4.5%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1,417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616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3.2%</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その他</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1,499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1,301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444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2.3%</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750" b="1">
                          <a:solidFill>
                            <a:srgbClr val="000000"/>
                          </a:solidFill>
                          <a:latin typeface="游ゴシック"/>
                          <a:ea typeface="游ゴシック"/>
                        </a:rPr>
                        <a:t>合計</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7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65,662</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65,453</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19,150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bl>
          </a:graphicData>
        </a:graphic>
      </p:graphicFrame>
      <p:graphicFrame>
        <p:nvGraphicFramePr>
          <p:cNvPr id="15" name="Table 14"/>
          <p:cNvGraphicFramePr>
            <a:graphicFrameLocks noGrp="1"/>
          </p:cNvGraphicFramePr>
          <p:nvPr/>
        </p:nvGraphicFramePr>
        <p:xfrm>
          <a:off x="310896" y="3849624"/>
          <a:ext cx="9144000" cy="2295144"/>
        </p:xfrm>
        <a:graphic>
          <a:graphicData uri="http://schemas.openxmlformats.org/drawingml/2006/table">
            <a:tbl>
              <a:tblPr firstRow="0" bandRow="0" firstCol="0" lastRow="0" lastCol="0" bandCol="0"/>
              <a:tblGrid>
                <a:gridCol w="274320"/>
                <a:gridCol w="2103120"/>
                <a:gridCol w="2377440"/>
                <a:gridCol w="868680"/>
                <a:gridCol w="594360"/>
                <a:gridCol w="868680"/>
                <a:gridCol w="594360"/>
                <a:gridCol w="868680"/>
                <a:gridCol w="594360"/>
              </a:tblGrid>
              <a:tr h="329184">
                <a:tc>
                  <a:txBody>
                    <a:bodyPr wrap="square"/>
                    <a:lstStyle/>
                    <a:p>
                      <a:pPr algn="ctr"/>
                      <a:r>
                        <a:rPr sz="750" b="1">
                          <a:solidFill>
                            <a:srgbClr val="FFFFFF"/>
                          </a:solidFill>
                          <a:latin typeface="游ゴシック"/>
                          <a:ea typeface="游ゴシック"/>
                        </a:rPr>
                        <a:t>№</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外注先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内容</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25年5月期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26年5月期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進行期</a:t>
                      </a:r>
                    </a:p>
                    <a:p>
                      <a:pPr algn="ctr"/>
                      <a:r>
                        <a:rPr sz="750" b="1">
                          <a:solidFill>
                            <a:srgbClr val="FFFFFF"/>
                          </a:solidFill>
                          <a:latin typeface="游ゴシック"/>
                          <a:ea typeface="游ゴシック"/>
                        </a:rPr>
                        <a:t>（6～8月）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750" b="1">
                          <a:solidFill>
                            <a:srgbClr val="FFFFFF"/>
                          </a:solidFill>
                          <a:latin typeface="游ゴシック"/>
                          <a:ea typeface="游ゴシック"/>
                        </a:rPr>
                        <a:t>構成比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196596">
                <a:tc>
                  <a:txBody>
                    <a:bodyPr wrap="square"/>
                    <a:lstStyle/>
                    <a:p>
                      <a:pPr algn="ctr"/>
                      <a:r>
                        <a:rPr sz="750" b="0">
                          <a:solidFill>
                            <a:srgbClr val="000000"/>
                          </a:solidFill>
                          <a:latin typeface="游ゴシック"/>
                          <a:ea typeface="游ゴシック"/>
                        </a:rPr>
                        <a:t>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グローバル人材バンク合同会社</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DHL向け業務請負の人員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3,116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7.2%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32,925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50.1%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11,557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52.7%</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㈲ベルパック</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丸全倉庫内での梱包</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14,106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32.5%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9,659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14.7%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3,928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17.9%</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印東木材㈱</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成田でのパレット作成等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5,379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12.4%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8,262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12.6%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2,079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9.5%</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三徳運輸㈱</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丸全倉庫内での梱包</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8,012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18.4%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8,229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12.5%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2,213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10.1%</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㈱アイ・ポート（アイプラス）</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人材派遣</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762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5,553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8.4%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1,888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8.6%</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花岡（個人）</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保税関係業務顧問</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1,113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1,113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275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1.3%</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㈱龍原</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梱包作業</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7,808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18.0%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ユアーズジャパン㈱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要確認</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1,700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その他</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75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1,458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3.4%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26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7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196596">
                <a:tc>
                  <a:txBody>
                    <a:bodyPr wrap="square"/>
                    <a:lstStyle/>
                    <a:p>
                      <a:pPr algn="ctr"/>
                      <a:r>
                        <a:rPr sz="7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750" b="1">
                          <a:solidFill>
                            <a:srgbClr val="000000"/>
                          </a:solidFill>
                          <a:latin typeface="游ゴシック"/>
                          <a:ea typeface="游ゴシック"/>
                        </a:rPr>
                        <a:t>合計</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7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43,454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65,766</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21,940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7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bl>
          </a:graphicData>
        </a:graphic>
      </p:graphicFrame>
      <p:sp>
        <p:nvSpPr>
          <p:cNvPr id="16" name="Rectangle 15"/>
          <p:cNvSpPr/>
          <p:nvPr/>
        </p:nvSpPr>
        <p:spPr>
          <a:xfrm>
            <a:off x="310896" y="6812280"/>
            <a:ext cx="10040112"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※総勘定元帳の原材料仕入高・外注費を相手先別に集計（税抜、単位：千円）。</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組織図</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代表取締役の下、部長が業務全般を統括。成田事業所（梱包・保税）とつくば事業所（顧客工場構内）の2拠点体制で、繁閑や業務請負案件には人材派遣・協力会社を組み合わせて対応している。</a:t>
            </a:r>
            <a:endParaRPr lang="en-US" altLang="ja-JP" dirty="0">
              <a:latin typeface="游ゴシック" panose="020B0400000000000000" pitchFamily="50" charset="-128"/>
              <a:ea typeface="游ゴシック" panose="020B0400000000000000" pitchFamily="50" charset="-128"/>
            </a:endParaRPr>
          </a:p>
        </p:txBody>
      </p:sp>
      <p:sp>
        <p:nvSpPr>
          <p:cNvPr id="14" name="Rounded Rectangle 13"/>
          <p:cNvSpPr/>
          <p:nvPr/>
        </p:nvSpPr>
        <p:spPr>
          <a:xfrm>
            <a:off x="3977639" y="1508760"/>
            <a:ext cx="2377440" cy="457200"/>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977639" y="1508760"/>
            <a:ext cx="237744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a:solidFill>
                  <a:srgbClr val="FFFFFF"/>
                </a:solidFill>
                <a:latin typeface="游ゴシック"/>
                <a:ea typeface="游ゴシック"/>
              </a:rPr>
              <a:t>株主総会</a:t>
            </a:r>
          </a:p>
          <a:p>
            <a:pPr algn="ctr"/>
            <a:r>
              <a:rPr sz="850" b="0">
                <a:solidFill>
                  <a:srgbClr val="FFFFFF"/>
                </a:solidFill>
                <a:latin typeface="游ゴシック"/>
                <a:ea typeface="游ゴシック"/>
              </a:rPr>
              <a:t>高塚 慎吾（60%）・高塚 とく江（40%）</a:t>
            </a:r>
          </a:p>
        </p:txBody>
      </p:sp>
      <p:sp>
        <p:nvSpPr>
          <p:cNvPr id="16" name="Rounded Rectangle 15"/>
          <p:cNvSpPr/>
          <p:nvPr/>
        </p:nvSpPr>
        <p:spPr>
          <a:xfrm>
            <a:off x="3977639" y="2240280"/>
            <a:ext cx="2377440" cy="502920"/>
          </a:xfrm>
          <a:prstGeom prst="round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77639" y="2240280"/>
            <a:ext cx="23774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a:solidFill>
                  <a:srgbClr val="FFFFFF"/>
                </a:solidFill>
                <a:latin typeface="游ゴシック"/>
                <a:ea typeface="游ゴシック"/>
              </a:rPr>
              <a:t>代表取締役</a:t>
            </a:r>
          </a:p>
          <a:p>
            <a:pPr algn="ctr"/>
            <a:r>
              <a:rPr sz="850" b="0">
                <a:solidFill>
                  <a:srgbClr val="FFFFFF"/>
                </a:solidFill>
                <a:latin typeface="游ゴシック"/>
                <a:ea typeface="游ゴシック"/>
              </a:rPr>
              <a:t>庄司 和夫（No.1）</a:t>
            </a:r>
          </a:p>
        </p:txBody>
      </p:sp>
      <p:sp>
        <p:nvSpPr>
          <p:cNvPr id="18" name="Rounded Rectangle 17"/>
          <p:cNvSpPr/>
          <p:nvPr/>
        </p:nvSpPr>
        <p:spPr>
          <a:xfrm>
            <a:off x="3977639" y="3017520"/>
            <a:ext cx="2377440" cy="502920"/>
          </a:xfrm>
          <a:prstGeom prst="round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977639" y="3017520"/>
            <a:ext cx="23774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a:solidFill>
                  <a:srgbClr val="FFFFFF"/>
                </a:solidFill>
                <a:latin typeface="游ゴシック"/>
                <a:ea typeface="游ゴシック"/>
              </a:rPr>
              <a:t>部長（業務全般）</a:t>
            </a:r>
          </a:p>
          <a:p>
            <a:pPr algn="ctr"/>
            <a:r>
              <a:rPr sz="850" b="0">
                <a:solidFill>
                  <a:srgbClr val="FFFFFF"/>
                </a:solidFill>
                <a:latin typeface="游ゴシック"/>
                <a:ea typeface="游ゴシック"/>
              </a:rPr>
              <a:t>金子 芳則（No.2）</a:t>
            </a:r>
          </a:p>
        </p:txBody>
      </p:sp>
      <p:cxnSp>
        <p:nvCxnSpPr>
          <p:cNvPr id="20" name="Connector 19"/>
          <p:cNvCxnSpPr/>
          <p:nvPr/>
        </p:nvCxnSpPr>
        <p:spPr>
          <a:xfrm>
            <a:off x="5166360" y="1965960"/>
            <a:ext cx="0" cy="27432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66360" y="2743200"/>
            <a:ext cx="0" cy="27432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166360" y="3520440"/>
            <a:ext cx="0" cy="228599"/>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463040" y="3749039"/>
            <a:ext cx="7406640" cy="0"/>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463040" y="3749039"/>
            <a:ext cx="0" cy="182881"/>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166360" y="3749039"/>
            <a:ext cx="0" cy="182881"/>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869680" y="3749039"/>
            <a:ext cx="0" cy="182881"/>
          </a:xfrm>
          <a:prstGeom prst="line">
            <a:avLst/>
          </a:prstGeom>
          <a:ln w="12700">
            <a:solidFill>
              <a:srgbClr val="0B3041"/>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10896" y="3931920"/>
            <a:ext cx="2331720" cy="457200"/>
          </a:xfrm>
          <a:prstGeom prst="round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10896" y="3931920"/>
            <a:ext cx="23317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a:solidFill>
                  <a:srgbClr val="FFFFFF"/>
                </a:solidFill>
                <a:latin typeface="游ゴシック"/>
                <a:ea typeface="游ゴシック"/>
              </a:rPr>
              <a:t>成田事業所</a:t>
            </a:r>
          </a:p>
          <a:p>
            <a:pPr algn="ctr"/>
            <a:r>
              <a:rPr sz="850" b="0">
                <a:solidFill>
                  <a:srgbClr val="FFFFFF"/>
                </a:solidFill>
                <a:latin typeface="游ゴシック"/>
                <a:ea typeface="游ゴシック"/>
              </a:rPr>
              <a:t>本社・保税蔵置場（11名）</a:t>
            </a:r>
          </a:p>
        </p:txBody>
      </p:sp>
      <p:sp>
        <p:nvSpPr>
          <p:cNvPr id="29" name="Rounded Rectangle 28"/>
          <p:cNvSpPr/>
          <p:nvPr/>
        </p:nvSpPr>
        <p:spPr>
          <a:xfrm>
            <a:off x="4023360" y="3931920"/>
            <a:ext cx="2331720" cy="457200"/>
          </a:xfrm>
          <a:prstGeom prst="round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023360" y="3931920"/>
            <a:ext cx="23317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a:solidFill>
                  <a:srgbClr val="FFFFFF"/>
                </a:solidFill>
                <a:latin typeface="游ゴシック"/>
                <a:ea typeface="游ゴシック"/>
              </a:rPr>
              <a:t>つくば事業所</a:t>
            </a:r>
          </a:p>
          <a:p>
            <a:pPr algn="ctr"/>
            <a:r>
              <a:rPr sz="850" b="0">
                <a:solidFill>
                  <a:srgbClr val="FFFFFF"/>
                </a:solidFill>
                <a:latin typeface="游ゴシック"/>
                <a:ea typeface="游ゴシック"/>
              </a:rPr>
              <a:t>顧客工場構内（9名）</a:t>
            </a:r>
          </a:p>
        </p:txBody>
      </p:sp>
      <p:sp>
        <p:nvSpPr>
          <p:cNvPr id="31" name="Rounded Rectangle 30"/>
          <p:cNvSpPr/>
          <p:nvPr/>
        </p:nvSpPr>
        <p:spPr>
          <a:xfrm>
            <a:off x="7726679" y="3931920"/>
            <a:ext cx="2331720" cy="457200"/>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26679" y="3931920"/>
            <a:ext cx="23317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a:solidFill>
                  <a:srgbClr val="FFFFFF"/>
                </a:solidFill>
                <a:latin typeface="游ゴシック"/>
                <a:ea typeface="游ゴシック"/>
              </a:rPr>
              <a:t>外部人材・協力会社</a:t>
            </a:r>
          </a:p>
          <a:p>
            <a:pPr algn="ctr"/>
            <a:r>
              <a:rPr sz="850" b="0">
                <a:solidFill>
                  <a:srgbClr val="FFFFFF"/>
                </a:solidFill>
                <a:latin typeface="游ゴシック"/>
                <a:ea typeface="游ゴシック"/>
              </a:rPr>
              <a:t>派遣・業務請負</a:t>
            </a:r>
          </a:p>
        </p:txBody>
      </p:sp>
      <p:sp>
        <p:nvSpPr>
          <p:cNvPr id="33" name="Rectangle 32"/>
          <p:cNvSpPr/>
          <p:nvPr/>
        </p:nvSpPr>
        <p:spPr>
          <a:xfrm>
            <a:off x="310896" y="4480560"/>
            <a:ext cx="2331720" cy="1737360"/>
          </a:xfrm>
          <a:prstGeom prst="rect">
            <a:avLst/>
          </a:prstGeom>
          <a:no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50" b="0">
                <a:solidFill>
                  <a:srgbClr val="000000"/>
                </a:solidFill>
                <a:latin typeface="游ゴシック Medium"/>
                <a:ea typeface="游ゴシック Medium"/>
              </a:rPr>
              <a:t>・課長（現場取仕切り）No.7</a:t>
            </a:r>
          </a:p>
          <a:p>
            <a:pPr algn="l"/>
            <a:r>
              <a:rPr sz="850" b="0">
                <a:solidFill>
                  <a:srgbClr val="000000"/>
                </a:solidFill>
                <a:latin typeface="游ゴシック Medium"/>
                <a:ea typeface="游ゴシック Medium"/>
              </a:rPr>
              <a:t>・係長 No.4</a:t>
            </a:r>
          </a:p>
          <a:p>
            <a:pPr algn="l"/>
            <a:r>
              <a:rPr sz="850" b="0">
                <a:solidFill>
                  <a:srgbClr val="000000"/>
                </a:solidFill>
                <a:latin typeface="游ゴシック Medium"/>
                <a:ea typeface="游ゴシック Medium"/>
              </a:rPr>
              <a:t>・梱包責任者 No.8</a:t>
            </a:r>
          </a:p>
          <a:p>
            <a:pPr algn="l"/>
            <a:r>
              <a:rPr sz="850" b="0">
                <a:solidFill>
                  <a:srgbClr val="000000"/>
                </a:solidFill>
                <a:latin typeface="游ゴシック Medium"/>
                <a:ea typeface="游ゴシック Medium"/>
              </a:rPr>
              <a:t>・梱包業務 No.6・10</a:t>
            </a:r>
          </a:p>
          <a:p>
            <a:pPr algn="l"/>
            <a:r>
              <a:rPr sz="850" b="0">
                <a:solidFill>
                  <a:srgbClr val="000000"/>
                </a:solidFill>
                <a:latin typeface="游ゴシック Medium"/>
                <a:ea typeface="游ゴシック Medium"/>
              </a:rPr>
              <a:t>・NACCS（保税）・梱包 No.9</a:t>
            </a:r>
          </a:p>
          <a:p>
            <a:pPr algn="l"/>
            <a:r>
              <a:rPr sz="850" b="0">
                <a:solidFill>
                  <a:srgbClr val="000000"/>
                </a:solidFill>
                <a:latin typeface="游ゴシック Medium"/>
                <a:ea typeface="游ゴシック Medium"/>
              </a:rPr>
              <a:t>・顧客倉庫内梱包 No.3</a:t>
            </a:r>
          </a:p>
          <a:p>
            <a:pPr algn="l"/>
            <a:r>
              <a:rPr sz="850" b="0">
                <a:solidFill>
                  <a:srgbClr val="000000"/>
                </a:solidFill>
                <a:latin typeface="游ゴシック Medium"/>
                <a:ea typeface="游ゴシック Medium"/>
              </a:rPr>
              <a:t>・総務経理 No.5</a:t>
            </a:r>
          </a:p>
          <a:p>
            <a:pPr algn="l"/>
            <a:r>
              <a:rPr sz="850" b="0">
                <a:solidFill>
                  <a:srgbClr val="000000"/>
                </a:solidFill>
                <a:latin typeface="游ゴシック Medium"/>
                <a:ea typeface="游ゴシック Medium"/>
              </a:rPr>
              <a:t>・見積（パート）No.11</a:t>
            </a:r>
          </a:p>
        </p:txBody>
      </p:sp>
      <p:sp>
        <p:nvSpPr>
          <p:cNvPr id="34" name="Rectangle 33"/>
          <p:cNvSpPr/>
          <p:nvPr/>
        </p:nvSpPr>
        <p:spPr>
          <a:xfrm>
            <a:off x="4023360" y="4480560"/>
            <a:ext cx="2331720" cy="1737360"/>
          </a:xfrm>
          <a:prstGeom prst="rect">
            <a:avLst/>
          </a:prstGeom>
          <a:no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50" b="0">
                <a:solidFill>
                  <a:srgbClr val="000000"/>
                </a:solidFill>
                <a:latin typeface="游ゴシック Medium"/>
                <a:ea typeface="游ゴシック Medium"/>
              </a:rPr>
              <a:t>・構内梱包 No.12～20</a:t>
            </a:r>
          </a:p>
          <a:p>
            <a:pPr algn="l"/>
            <a:r>
              <a:rPr sz="850" b="0">
                <a:solidFill>
                  <a:srgbClr val="000000"/>
                </a:solidFill>
                <a:latin typeface="游ゴシック Medium"/>
                <a:ea typeface="游ゴシック Medium"/>
              </a:rPr>
              <a:t>（役職手当支給者1名：No.12）</a:t>
            </a:r>
          </a:p>
          <a:p>
            <a:pPr algn="l"/>
            <a:r>
              <a:rPr sz="850" b="0">
                <a:solidFill>
                  <a:srgbClr val="000000"/>
                </a:solidFill>
                <a:latin typeface="游ゴシック Medium"/>
                <a:ea typeface="游ゴシック Medium"/>
              </a:rPr>
              <a:t/>
            </a:r>
          </a:p>
          <a:p>
            <a:pPr algn="l"/>
            <a:r>
              <a:rPr sz="850" b="0">
                <a:solidFill>
                  <a:srgbClr val="000000"/>
                </a:solidFill>
                <a:latin typeface="游ゴシック Medium"/>
                <a:ea typeface="游ゴシック Medium"/>
              </a:rPr>
              <a:t>顧客：Littelfuseジャパン合同会社</a:t>
            </a:r>
          </a:p>
          <a:p>
            <a:pPr algn="l"/>
            <a:r>
              <a:rPr sz="850" b="0">
                <a:solidFill>
                  <a:srgbClr val="000000"/>
                </a:solidFill>
                <a:latin typeface="游ゴシック Medium"/>
                <a:ea typeface="游ゴシック Medium"/>
              </a:rPr>
              <a:t>（茨城県稲敷市の工場構内）</a:t>
            </a:r>
          </a:p>
        </p:txBody>
      </p:sp>
      <p:sp>
        <p:nvSpPr>
          <p:cNvPr id="35" name="Rectangle 34"/>
          <p:cNvSpPr/>
          <p:nvPr/>
        </p:nvSpPr>
        <p:spPr>
          <a:xfrm>
            <a:off x="7726679" y="4480560"/>
            <a:ext cx="2331720" cy="1737360"/>
          </a:xfrm>
          <a:prstGeom prst="rect">
            <a:avLst/>
          </a:prstGeom>
          <a:no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50" b="0">
                <a:solidFill>
                  <a:srgbClr val="000000"/>
                </a:solidFill>
                <a:latin typeface="游ゴシック Medium"/>
                <a:ea typeface="游ゴシック Medium"/>
              </a:rPr>
              <a:t>・グローバル人材バンク</a:t>
            </a:r>
          </a:p>
          <a:p>
            <a:pPr algn="l"/>
            <a:r>
              <a:rPr sz="850" b="0">
                <a:solidFill>
                  <a:srgbClr val="000000"/>
                </a:solidFill>
                <a:latin typeface="游ゴシック Medium"/>
                <a:ea typeface="游ゴシック Medium"/>
              </a:rPr>
              <a:t>　（DHL向け業務請負・新千歳）</a:t>
            </a:r>
          </a:p>
          <a:p>
            <a:pPr algn="l"/>
            <a:r>
              <a:rPr sz="850" b="0">
                <a:solidFill>
                  <a:srgbClr val="000000"/>
                </a:solidFill>
                <a:latin typeface="游ゴシック Medium"/>
                <a:ea typeface="游ゴシック Medium"/>
              </a:rPr>
              <a:t>・アイ・ポート（人材派遣）</a:t>
            </a:r>
          </a:p>
          <a:p>
            <a:pPr algn="l"/>
            <a:r>
              <a:rPr sz="850" b="0">
                <a:solidFill>
                  <a:srgbClr val="000000"/>
                </a:solidFill>
                <a:latin typeface="游ゴシック Medium"/>
                <a:ea typeface="游ゴシック Medium"/>
              </a:rPr>
              <a:t>・ベルパック、三徳運輸</a:t>
            </a:r>
          </a:p>
          <a:p>
            <a:pPr algn="l"/>
            <a:r>
              <a:rPr sz="850" b="0">
                <a:solidFill>
                  <a:srgbClr val="000000"/>
                </a:solidFill>
                <a:latin typeface="游ゴシック Medium"/>
                <a:ea typeface="游ゴシック Medium"/>
              </a:rPr>
              <a:t>　（丸全倉庫内の構内梱包）</a:t>
            </a:r>
          </a:p>
          <a:p>
            <a:pPr algn="l"/>
            <a:r>
              <a:rPr sz="850" b="0">
                <a:solidFill>
                  <a:srgbClr val="000000"/>
                </a:solidFill>
                <a:latin typeface="游ゴシック Medium"/>
                <a:ea typeface="游ゴシック Medium"/>
              </a:rPr>
              <a:t>・印東木材（パレット作成）</a:t>
            </a:r>
          </a:p>
          <a:p>
            <a:pPr algn="l"/>
            <a:r>
              <a:rPr sz="850" b="0">
                <a:solidFill>
                  <a:srgbClr val="000000"/>
                </a:solidFill>
                <a:latin typeface="游ゴシック Medium"/>
                <a:ea typeface="游ゴシック Medium"/>
              </a:rPr>
              <a:t>・保税顧問（個人）</a:t>
            </a:r>
          </a:p>
        </p:txBody>
      </p:sp>
      <p:sp>
        <p:nvSpPr>
          <p:cNvPr id="36" name="Rectangle 35"/>
          <p:cNvSpPr/>
          <p:nvPr/>
        </p:nvSpPr>
        <p:spPr>
          <a:xfrm>
            <a:off x="310896" y="6355080"/>
            <a:ext cx="10040112"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※図中のNo.は「従業員一覧」ページの従業員No.と対応。人数は代表者を除く。総務経理（No.5）はつくば事業所の事務も兼務。DHL新千歳業務の管理責任者は部長（No.2）。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株主及び役員</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株主は高塚慎吾氏・とく江氏の2名（いずれも非役員）。取締役は代表取締役1名のみで、所有と経営が分離している。</a:t>
            </a:r>
            <a:endParaRPr lang="en-US" altLang="ja-JP" dirty="0">
              <a:latin typeface="游ゴシック" panose="020B0400000000000000" pitchFamily="50" charset="-128"/>
              <a:ea typeface="游ゴシック" panose="020B0400000000000000" pitchFamily="50" charset="-128"/>
            </a:endParaRPr>
          </a:p>
        </p:txBody>
      </p:sp>
      <p:sp>
        <p:nvSpPr>
          <p:cNvPr id="14" name="Rectangle 13"/>
          <p:cNvSpPr/>
          <p:nvPr/>
        </p:nvSpPr>
        <p:spPr>
          <a:xfrm>
            <a:off x="310896" y="1481328"/>
            <a:ext cx="1481328" cy="329184"/>
          </a:xfrm>
          <a:prstGeom prst="rect">
            <a:avLst/>
          </a:prstGeom>
          <a:gradFill rotWithShape="1">
            <a:gsLst>
              <a:gs pos="5000">
                <a:srgbClr val="0B3041"/>
              </a:gs>
              <a:gs pos="88000">
                <a:srgbClr val="006AB1"/>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游ゴシック"/>
                <a:ea typeface="游ゴシック"/>
              </a:rPr>
              <a:t>株主</a:t>
            </a:r>
          </a:p>
        </p:txBody>
      </p:sp>
      <p:graphicFrame>
        <p:nvGraphicFramePr>
          <p:cNvPr id="15" name="Table 14"/>
          <p:cNvGraphicFramePr>
            <a:graphicFrameLocks noGrp="1"/>
          </p:cNvGraphicFramePr>
          <p:nvPr/>
        </p:nvGraphicFramePr>
        <p:xfrm>
          <a:off x="658368" y="1920240"/>
          <a:ext cx="9052560" cy="1170432"/>
        </p:xfrm>
        <a:graphic>
          <a:graphicData uri="http://schemas.openxmlformats.org/drawingml/2006/table">
            <a:tbl>
              <a:tblPr firstRow="0" bandRow="0" firstCol="0" lastRow="0" lastCol="0" bandCol="0"/>
              <a:tblGrid>
                <a:gridCol w="365760"/>
                <a:gridCol w="1737360"/>
                <a:gridCol w="1463040"/>
                <a:gridCol w="1188720"/>
                <a:gridCol w="1005840"/>
                <a:gridCol w="3291840"/>
              </a:tblGrid>
              <a:tr h="292608">
                <a:tc>
                  <a:txBody>
                    <a:bodyPr wrap="square"/>
                    <a:lstStyle/>
                    <a:p>
                      <a:pPr algn="ctr"/>
                      <a:r>
                        <a:rPr sz="950" b="1">
                          <a:solidFill>
                            <a:srgbClr val="FFFFFF"/>
                          </a:solidFill>
                          <a:latin typeface="游ゴシック"/>
                          <a:ea typeface="游ゴシック"/>
                        </a:rPr>
                        <a:t>№</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氏名</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役職</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保有株式数</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保有割合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備考</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92608">
                <a:tc>
                  <a:txBody>
                    <a:bodyPr wrap="square"/>
                    <a:lstStyle/>
                    <a:p>
                      <a:pPr algn="ctr"/>
                      <a:r>
                        <a:rPr sz="950" b="0">
                          <a:solidFill>
                            <a:srgbClr val="000000"/>
                          </a:solidFill>
                          <a:latin typeface="游ゴシック"/>
                          <a:ea typeface="游ゴシック"/>
                        </a:rPr>
                        <a:t>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高塚　慎吾</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－（非役員）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600株</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60.0%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香取市在住</a:t>
                      </a:r>
                    </a:p>
                  </a:txBody>
                  <a:tcPr marL="45720" marR="45720" marT="9144" marB="9144" anchor="ctr">
                    <a:lnL>
                      <a:noFill/>
                    </a:lnL>
                    <a:lnR>
                      <a:noFill/>
                    </a:lnR>
                    <a:lnT>
                      <a:noFill/>
                    </a:lnT>
                    <a:lnB w="6350" cap="flat" cmpd="sng" algn="ctr">
                      <a:solidFill>
                        <a:srgbClr val="A6A6A6"/>
                      </a:solidFill>
                      <a:prstDash val="solid"/>
                    </a:lnB>
                    <a:noFill/>
                  </a:tcPr>
                </a:tc>
              </a:tr>
              <a:tr h="292608">
                <a:tc>
                  <a:txBody>
                    <a:bodyPr wrap="square"/>
                    <a:lstStyle/>
                    <a:p>
                      <a:pPr algn="ctr"/>
                      <a:r>
                        <a:rPr sz="950" b="0">
                          <a:solidFill>
                            <a:srgbClr val="000000"/>
                          </a:solidFill>
                          <a:latin typeface="游ゴシック"/>
                          <a:ea typeface="游ゴシック"/>
                        </a:rPr>
                        <a:t>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高塚　とく江</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－（非役員）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400株</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40.0%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高塚慎吾氏の配偶者</a:t>
                      </a:r>
                    </a:p>
                  </a:txBody>
                  <a:tcPr marL="45720" marR="45720" marT="9144" marB="9144" anchor="ctr">
                    <a:lnL>
                      <a:noFill/>
                    </a:lnL>
                    <a:lnR>
                      <a:noFill/>
                    </a:lnR>
                    <a:lnT>
                      <a:noFill/>
                    </a:lnT>
                    <a:lnB w="6350" cap="flat" cmpd="sng" algn="ctr">
                      <a:solidFill>
                        <a:srgbClr val="A6A6A6"/>
                      </a:solidFill>
                      <a:prstDash val="solid"/>
                    </a:lnB>
                    <a:noFill/>
                  </a:tcPr>
                </a:tc>
              </a:tr>
              <a:tr h="292608">
                <a:tc>
                  <a:txBody>
                    <a:bodyPr wrap="square"/>
                    <a:lstStyle/>
                    <a:p>
                      <a:pPr algn="ctr"/>
                      <a:r>
                        <a:rPr sz="9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950" b="1">
                          <a:solidFill>
                            <a:srgbClr val="000000"/>
                          </a:solidFill>
                          <a:latin typeface="游ゴシック"/>
                          <a:ea typeface="游ゴシック"/>
                        </a:rPr>
                        <a:t>合計</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9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950" b="1">
                          <a:solidFill>
                            <a:srgbClr val="000000"/>
                          </a:solidFill>
                          <a:latin typeface="Arial"/>
                          <a:ea typeface="游ゴシック Medium"/>
                        </a:rPr>
                        <a:t>1,000株</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950" b="1">
                          <a:solidFill>
                            <a:srgbClr val="000000"/>
                          </a:solidFill>
                          <a:latin typeface="Arial"/>
                          <a:ea typeface="游ゴシック Medium"/>
                        </a:rPr>
                        <a:t>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9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bl>
          </a:graphicData>
        </a:graphic>
      </p:graphicFrame>
      <p:sp>
        <p:nvSpPr>
          <p:cNvPr id="16" name="Rectangle 15"/>
          <p:cNvSpPr/>
          <p:nvPr/>
        </p:nvSpPr>
        <p:spPr>
          <a:xfrm>
            <a:off x="310896" y="3291840"/>
            <a:ext cx="1481328" cy="329184"/>
          </a:xfrm>
          <a:prstGeom prst="rect">
            <a:avLst/>
          </a:prstGeom>
          <a:gradFill rotWithShape="1">
            <a:gsLst>
              <a:gs pos="5000">
                <a:srgbClr val="0B3041"/>
              </a:gs>
              <a:gs pos="88000">
                <a:srgbClr val="006AB1"/>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游ゴシック"/>
                <a:ea typeface="游ゴシック"/>
              </a:rPr>
              <a:t>役員</a:t>
            </a:r>
          </a:p>
        </p:txBody>
      </p:sp>
      <p:graphicFrame>
        <p:nvGraphicFramePr>
          <p:cNvPr id="17" name="Table 16"/>
          <p:cNvGraphicFramePr>
            <a:graphicFrameLocks noGrp="1"/>
          </p:cNvGraphicFramePr>
          <p:nvPr/>
        </p:nvGraphicFramePr>
        <p:xfrm>
          <a:off x="658368" y="3730752"/>
          <a:ext cx="9052560" cy="841248"/>
        </p:xfrm>
        <a:graphic>
          <a:graphicData uri="http://schemas.openxmlformats.org/drawingml/2006/table">
            <a:tbl>
              <a:tblPr firstRow="0" bandRow="0" firstCol="0" lastRow="0" lastCol="0" bandCol="0"/>
              <a:tblGrid>
                <a:gridCol w="365760"/>
                <a:gridCol w="1280160"/>
                <a:gridCol w="1097280"/>
                <a:gridCol w="1097280"/>
                <a:gridCol w="1097280"/>
                <a:gridCol w="1097280"/>
                <a:gridCol w="3017520"/>
              </a:tblGrid>
              <a:tr h="384048">
                <a:tc>
                  <a:txBody>
                    <a:bodyPr wrap="square"/>
                    <a:lstStyle/>
                    <a:p>
                      <a:pPr algn="ctr"/>
                      <a:r>
                        <a:rPr sz="950" b="1">
                          <a:solidFill>
                            <a:srgbClr val="FFFFFF"/>
                          </a:solidFill>
                          <a:latin typeface="游ゴシック"/>
                          <a:ea typeface="游ゴシック"/>
                        </a:rPr>
                        <a:t>№</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氏名</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役職</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代表者との関係</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役員報酬</a:t>
                      </a:r>
                    </a:p>
                    <a:p>
                      <a:pPr algn="ctr"/>
                      <a:r>
                        <a:rPr sz="950" b="1">
                          <a:solidFill>
                            <a:srgbClr val="FFFFFF"/>
                          </a:solidFill>
                          <a:latin typeface="游ゴシック"/>
                          <a:ea typeface="游ゴシック"/>
                        </a:rPr>
                        <a:t>（26年5月期）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業務範囲</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備考</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457200">
                <a:tc>
                  <a:txBody>
                    <a:bodyPr wrap="square"/>
                    <a:lstStyle/>
                    <a:p>
                      <a:pPr algn="ctr"/>
                      <a:r>
                        <a:rPr sz="950" b="0">
                          <a:solidFill>
                            <a:srgbClr val="000000"/>
                          </a:solidFill>
                          <a:latin typeface="游ゴシック"/>
                          <a:ea typeface="游ゴシック"/>
                        </a:rPr>
                        <a:t>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庄司　和夫</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代表取締役</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950" b="0">
                          <a:solidFill>
                            <a:srgbClr val="000000"/>
                          </a:solidFill>
                          <a:latin typeface="游ゴシック"/>
                          <a:ea typeface="游ゴシック"/>
                        </a:rPr>
                        <a:t>本人</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950" b="0">
                          <a:solidFill>
                            <a:srgbClr val="000000"/>
                          </a:solidFill>
                          <a:latin typeface="Arial"/>
                          <a:ea typeface="游ゴシック Medium"/>
                        </a:rPr>
                        <a:t>3,820千円</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経営全般</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2019年3月就任。引退予定（引継期間は限定的に対応）。金融機関借入の連帯保証人</a:t>
                      </a:r>
                    </a:p>
                  </a:txBody>
                  <a:tcPr marL="45720" marR="45720" marT="9144" marB="9144" anchor="ctr">
                    <a:lnL>
                      <a:noFill/>
                    </a:lnL>
                    <a:lnR>
                      <a:noFill/>
                    </a:lnR>
                    <a:lnT>
                      <a:noFill/>
                    </a:lnT>
                    <a:lnB w="6350" cap="flat" cmpd="sng" algn="ctr">
                      <a:solidFill>
                        <a:srgbClr val="A6A6A6"/>
                      </a:solidFill>
                      <a:prstDash val="solid"/>
                    </a:lnB>
                    <a:noFill/>
                  </a:tcPr>
                </a:tc>
              </a:tr>
            </a:tbl>
          </a:graphicData>
        </a:graphic>
      </p:graphicFrame>
      <p:sp>
        <p:nvSpPr>
          <p:cNvPr id="18" name="Rectangle 17"/>
          <p:cNvSpPr/>
          <p:nvPr/>
        </p:nvSpPr>
        <p:spPr>
          <a:xfrm>
            <a:off x="310896" y="4846320"/>
            <a:ext cx="10040112"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※株主は法人税申告書別表二による（株主名簿は要受領）。取締役は1名で監査役は置いていない（登記簿）。役員報酬は月額318千円（37期）。</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従業員一覧</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正社員18名・パート1名に代表者を加えた20名体制（平均年齢51.5歳、平均勤続11.3年）。成田は保税（NACCS）・梱包の経験者、つくばは勤続10年超のベテランが中心。</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nvGraphicFramePr>
        <p:xfrm>
          <a:off x="310896" y="1463040"/>
          <a:ext cx="10040112" cy="5084064"/>
        </p:xfrm>
        <a:graphic>
          <a:graphicData uri="http://schemas.openxmlformats.org/drawingml/2006/table">
            <a:tbl>
              <a:tblPr firstRow="0" bandRow="0" firstCol="0" lastRow="0" lastCol="0" bandCol="0"/>
              <a:tblGrid>
                <a:gridCol w="274320"/>
                <a:gridCol w="868680"/>
                <a:gridCol w="594360"/>
                <a:gridCol w="365760"/>
                <a:gridCol w="502920"/>
                <a:gridCol w="548640"/>
                <a:gridCol w="548640"/>
                <a:gridCol w="777240"/>
                <a:gridCol w="685800"/>
                <a:gridCol w="4873752"/>
              </a:tblGrid>
              <a:tr h="329184">
                <a:tc>
                  <a:txBody>
                    <a:bodyPr wrap="square"/>
                    <a:lstStyle/>
                    <a:p>
                      <a:pPr algn="ctr"/>
                      <a:r>
                        <a:rPr sz="800" b="1">
                          <a:solidFill>
                            <a:srgbClr val="FFFFFF"/>
                          </a:solidFill>
                          <a:latin typeface="游ゴシック"/>
                          <a:ea typeface="游ゴシック"/>
                        </a:rPr>
                        <a:t>№</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イニシャル</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雇用形態</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性別</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年齢</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勤続年数</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事業所</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役職</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月額給与</a:t>
                      </a:r>
                    </a:p>
                    <a:p>
                      <a:pPr algn="ctr"/>
                      <a:r>
                        <a:rPr sz="800" b="1">
                          <a:solidFill>
                            <a:srgbClr val="FFFFFF"/>
                          </a:solidFill>
                          <a:latin typeface="游ゴシック"/>
                          <a:ea typeface="游ゴシック"/>
                        </a:rPr>
                        <a:t>（千円）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業務内容・資格</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37744">
                <a:tc>
                  <a:txBody>
                    <a:bodyPr wrap="square"/>
                    <a:lstStyle/>
                    <a:p>
                      <a:pPr algn="ctr"/>
                      <a:r>
                        <a:rPr sz="800" b="0">
                          <a:solidFill>
                            <a:srgbClr val="000000"/>
                          </a:solidFill>
                          <a:latin typeface="游ゴシック"/>
                          <a:ea typeface="游ゴシック"/>
                        </a:rPr>
                        <a:t>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庄司　和夫</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役員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74歳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15年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代表取締役</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318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代表取締役（社員情報上は正社員区分）</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K.Y</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60歳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22年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部長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568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業務全般の取仕切り／フォークリフト／DHL新千歳業務の管理責任者</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I.K</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59歳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19年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丸全昭和運輸倉庫内での梱包・事務／フォークリフト</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K.Y</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43歳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14年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係長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298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梱包業務／フォークリフト</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K.J</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70歳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10年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243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総務経理（つくば分30千円含む）／簿記2級</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M.Y</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33歳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9年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205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梱包業務／フォークリフト</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K.Y</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44歳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8年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課長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323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梱包業務一式・現場取仕切り／フォークリフト</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S.R</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62歳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280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梱包業務一式・梱包責任者／フォークリフト</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G.Y</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45歳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243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NACCS（保税）・梱包業務／フォークリフト</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H.K</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53歳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0年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245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梱包業務／フォークリフト</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11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K.M</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パート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66歳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0年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時給制</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週2日・見積業務（時給1,200円）</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12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I.A</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62歳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21年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つくば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448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構内梱包（役職手当100千円）</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13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W.Y</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45歳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21年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つくば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228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構内梱包</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14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O.Y</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46歳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19年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つくば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231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構内梱包</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15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G.S</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45歳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16年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つくば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185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構内梱包</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16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S.M</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52歳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14年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つくば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218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構内梱包</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17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S.S</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46歳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12年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つくば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224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構内梱包</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18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H.K</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40歳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12年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つくば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204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構内梱包</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19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T.T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49歳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7年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つくば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217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構内梱包</a:t>
                      </a:r>
                    </a:p>
                  </a:txBody>
                  <a:tcPr marL="45720" marR="45720" marT="9144" marB="9144" anchor="ctr">
                    <a:lnL>
                      <a:noFill/>
                    </a:lnL>
                    <a:lnR>
                      <a:noFill/>
                    </a:lnR>
                    <a:lnT>
                      <a:noFill/>
                    </a:lnT>
                    <a:lnB w="6350" cap="flat" cmpd="sng" algn="ctr">
                      <a:solidFill>
                        <a:srgbClr val="A6A6A6"/>
                      </a:solidFill>
                      <a:prstDash val="solid"/>
                    </a:lnB>
                    <a:noFill/>
                  </a:tcPr>
                </a:tc>
              </a:tr>
              <a:tr h="237744">
                <a:tc>
                  <a:txBody>
                    <a:bodyPr wrap="square"/>
                    <a:lstStyle/>
                    <a:p>
                      <a:pPr algn="ctr"/>
                      <a:r>
                        <a:rPr sz="800" b="0">
                          <a:solidFill>
                            <a:srgbClr val="000000"/>
                          </a:solidFill>
                          <a:latin typeface="游ゴシック"/>
                          <a:ea typeface="游ゴシック"/>
                        </a:rPr>
                        <a:t>20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O.T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正社員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36歳</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00" b="0">
                          <a:solidFill>
                            <a:srgbClr val="000000"/>
                          </a:solidFill>
                          <a:latin typeface="游ゴシック"/>
                          <a:ea typeface="游ゴシック"/>
                        </a:rPr>
                        <a:t>つくば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　</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220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構内梱包</a:t>
                      </a:r>
                    </a:p>
                  </a:txBody>
                  <a:tcPr marL="45720" marR="45720" marT="9144" marB="9144" anchor="ctr">
                    <a:lnL>
                      <a:noFill/>
                    </a:lnL>
                    <a:lnR>
                      <a:noFill/>
                    </a:lnR>
                    <a:lnT>
                      <a:noFill/>
                    </a:lnT>
                    <a:lnB w="6350" cap="flat" cmpd="sng" algn="ctr">
                      <a:solidFill>
                        <a:srgbClr val="A6A6A6"/>
                      </a:solidFill>
                      <a:prstDash val="solid"/>
                    </a:lnB>
                    <a:noFill/>
                  </a:tcPr>
                </a:tc>
              </a:tr>
            </a:tbl>
          </a:graphicData>
        </a:graphic>
      </p:graphicFrame>
      <p:sp>
        <p:nvSpPr>
          <p:cNvPr id="15" name="Rectangle 14"/>
          <p:cNvSpPr/>
          <p:nvPr/>
        </p:nvSpPr>
        <p:spPr>
          <a:xfrm>
            <a:off x="310896" y="6858000"/>
            <a:ext cx="10040112"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※2026年10月受領の社員情報より。年齢・勤続年数は2026年10月1日時点。月額給与は基本給＋諸手当（時間外・賞与除く）。No.5は成田・つくばの兼務（つくば分30千円を含む）。</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拠点概要</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本社・成田事業所は成田エアポート物流ビジネスセンター内（5F倉庫・2F事務所）を定期建物転貸借で賃借。2026年5月から3年間（中途解約不可）の契約で、倉庫部分が保税蔵置場として許可を受けている。</a:t>
            </a:r>
            <a:endParaRPr lang="en-US" altLang="ja-JP" dirty="0">
              <a:latin typeface="游ゴシック" panose="020B0400000000000000" pitchFamily="50" charset="-128"/>
              <a:ea typeface="游ゴシック" panose="020B0400000000000000" pitchFamily="50" charset="-128"/>
            </a:endParaRPr>
          </a:p>
        </p:txBody>
      </p:sp>
      <p:sp>
        <p:nvSpPr>
          <p:cNvPr id="14" name="Rectangle 13"/>
          <p:cNvSpPr/>
          <p:nvPr/>
        </p:nvSpPr>
        <p:spPr>
          <a:xfrm>
            <a:off x="310896" y="1481328"/>
            <a:ext cx="2743200" cy="292608"/>
          </a:xfrm>
          <a:prstGeom prst="rect">
            <a:avLst/>
          </a:prstGeom>
          <a:gradFill rotWithShape="1">
            <a:gsLst>
              <a:gs pos="5000">
                <a:srgbClr val="0B3041"/>
              </a:gs>
              <a:gs pos="88000">
                <a:srgbClr val="006AB1"/>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游ゴシック"/>
                <a:ea typeface="游ゴシック"/>
              </a:rPr>
              <a:t>賃借物件</a:t>
            </a:r>
          </a:p>
        </p:txBody>
      </p:sp>
      <p:graphicFrame>
        <p:nvGraphicFramePr>
          <p:cNvPr id="15" name="Table 14"/>
          <p:cNvGraphicFramePr>
            <a:graphicFrameLocks noGrp="1"/>
          </p:cNvGraphicFramePr>
          <p:nvPr/>
        </p:nvGraphicFramePr>
        <p:xfrm>
          <a:off x="310896" y="1828800"/>
          <a:ext cx="10040112" cy="1874520"/>
        </p:xfrm>
        <a:graphic>
          <a:graphicData uri="http://schemas.openxmlformats.org/drawingml/2006/table">
            <a:tbl>
              <a:tblPr firstRow="0" bandRow="0" firstCol="0" lastRow="0" lastCol="0" bandCol="0"/>
              <a:tblGrid>
                <a:gridCol w="548640"/>
                <a:gridCol w="1097280"/>
                <a:gridCol w="1417320"/>
                <a:gridCol w="685800"/>
                <a:gridCol w="1325880"/>
                <a:gridCol w="1600200"/>
                <a:gridCol w="685800"/>
                <a:gridCol w="685800"/>
                <a:gridCol w="1993392"/>
              </a:tblGrid>
              <a:tr h="365760">
                <a:tc>
                  <a:txBody>
                    <a:bodyPr wrap="square"/>
                    <a:lstStyle/>
                    <a:p>
                      <a:pPr algn="ctr"/>
                      <a:r>
                        <a:rPr sz="800" b="1">
                          <a:solidFill>
                            <a:srgbClr val="FFFFFF"/>
                          </a:solidFill>
                          <a:latin typeface="游ゴシック"/>
                          <a:ea typeface="游ゴシック"/>
                        </a:rPr>
                        <a:t>区分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用途</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所在地</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面積(㎡)</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契約形態・期間</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貸主</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月額賃料</a:t>
                      </a:r>
                    </a:p>
                    <a:p>
                      <a:pPr algn="ctr"/>
                      <a:r>
                        <a:rPr sz="800" b="1">
                          <a:solidFill>
                            <a:srgbClr val="FFFFFF"/>
                          </a:solidFill>
                          <a:latin typeface="游ゴシック"/>
                          <a:ea typeface="游ゴシック"/>
                        </a:rPr>
                        <a:t>(千円)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敷金</a:t>
                      </a:r>
                    </a:p>
                    <a:p>
                      <a:pPr algn="ctr"/>
                      <a:r>
                        <a:rPr sz="800" b="1">
                          <a:solidFill>
                            <a:srgbClr val="FFFFFF"/>
                          </a:solidFill>
                          <a:latin typeface="游ゴシック"/>
                          <a:ea typeface="游ゴシック"/>
                        </a:rPr>
                        <a:t>(千円)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備考</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502920">
                <a:tc>
                  <a:txBody>
                    <a:bodyPr wrap="square"/>
                    <a:lstStyle/>
                    <a:p>
                      <a:pPr algn="ctr"/>
                      <a:r>
                        <a:rPr sz="800" b="0">
                          <a:solidFill>
                            <a:srgbClr val="000000"/>
                          </a:solidFill>
                          <a:latin typeface="游ゴシック"/>
                          <a:ea typeface="游ゴシック"/>
                        </a:rPr>
                        <a:t>倉庫</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保税蔵置場・梱包作業場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芝山町岩山148-15</a:t>
                      </a:r>
                    </a:p>
                    <a:p>
                      <a:pPr algn="l"/>
                      <a:r>
                        <a:rPr sz="800" b="0">
                          <a:solidFill>
                            <a:srgbClr val="000000"/>
                          </a:solidFill>
                          <a:latin typeface="游ゴシック"/>
                          <a:ea typeface="游ゴシック"/>
                        </a:rPr>
                        <a:t>5F倉庫部分</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1,567.24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定期建物転貸借</a:t>
                      </a:r>
                    </a:p>
                    <a:p>
                      <a:pPr algn="l"/>
                      <a:r>
                        <a:rPr sz="800" b="0">
                          <a:solidFill>
                            <a:srgbClr val="000000"/>
                          </a:solidFill>
                          <a:latin typeface="游ゴシック"/>
                          <a:ea typeface="游ゴシック"/>
                        </a:rPr>
                        <a:t>2026/5/1～2029/4/30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航空集配サービス㈱</a:t>
                      </a:r>
                    </a:p>
                    <a:p>
                      <a:pPr algn="l"/>
                      <a:r>
                        <a:rPr sz="800" b="0">
                          <a:solidFill>
                            <a:srgbClr val="000000"/>
                          </a:solidFill>
                          <a:latin typeface="游ゴシック"/>
                          <a:ea typeface="游ゴシック"/>
                        </a:rPr>
                        <a:t>（所有者：RREEF MARBLE PTE. LIMITED）</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2,081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5,533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中途解約不可。原状回復義務あり（原状復旧図による）</a:t>
                      </a:r>
                    </a:p>
                  </a:txBody>
                  <a:tcPr marL="45720" marR="45720" marT="9144" marB="9144" anchor="ctr">
                    <a:lnL>
                      <a:noFill/>
                    </a:lnL>
                    <a:lnR>
                      <a:noFill/>
                    </a:lnR>
                    <a:lnT>
                      <a:noFill/>
                    </a:lnT>
                    <a:lnB w="6350" cap="flat" cmpd="sng" algn="ctr">
                      <a:solidFill>
                        <a:srgbClr val="A6A6A6"/>
                      </a:solidFill>
                      <a:prstDash val="solid"/>
                    </a:lnB>
                    <a:noFill/>
                  </a:tcPr>
                </a:tc>
              </a:tr>
              <a:tr h="502920">
                <a:tc>
                  <a:txBody>
                    <a:bodyPr wrap="square"/>
                    <a:lstStyle/>
                    <a:p>
                      <a:pPr algn="ctr"/>
                      <a:r>
                        <a:rPr sz="800" b="0">
                          <a:solidFill>
                            <a:srgbClr val="000000"/>
                          </a:solidFill>
                          <a:latin typeface="游ゴシック"/>
                          <a:ea typeface="游ゴシック"/>
                        </a:rPr>
                        <a:t>事務所</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本社事務所</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芝山町岩山148-15</a:t>
                      </a:r>
                    </a:p>
                    <a:p>
                      <a:pPr algn="l"/>
                      <a:r>
                        <a:rPr sz="800" b="0">
                          <a:solidFill>
                            <a:srgbClr val="000000"/>
                          </a:solidFill>
                          <a:latin typeface="游ゴシック"/>
                          <a:ea typeface="游ゴシック"/>
                        </a:rPr>
                        <a:t>2F事務所部分</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48.72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定期建物転貸借</a:t>
                      </a:r>
                    </a:p>
                    <a:p>
                      <a:pPr algn="l"/>
                      <a:r>
                        <a:rPr sz="800" b="0">
                          <a:solidFill>
                            <a:srgbClr val="000000"/>
                          </a:solidFill>
                          <a:latin typeface="游ゴシック"/>
                          <a:ea typeface="游ゴシック"/>
                        </a:rPr>
                        <a:t>2026/5/1～2029/4/30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航空集配サービス㈱</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111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221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敷金は支払済み敷金を充当</a:t>
                      </a:r>
                    </a:p>
                  </a:txBody>
                  <a:tcPr marL="45720" marR="45720" marT="9144" marB="9144" anchor="ctr">
                    <a:lnL>
                      <a:noFill/>
                    </a:lnL>
                    <a:lnR>
                      <a:noFill/>
                    </a:lnR>
                    <a:lnT>
                      <a:noFill/>
                    </a:lnT>
                    <a:lnB w="6350" cap="flat" cmpd="sng" algn="ctr">
                      <a:solidFill>
                        <a:srgbClr val="A6A6A6"/>
                      </a:solidFill>
                      <a:prstDash val="solid"/>
                    </a:lnB>
                    <a:noFill/>
                  </a:tcPr>
                </a:tc>
              </a:tr>
              <a:tr h="502920">
                <a:tc>
                  <a:txBody>
                    <a:bodyPr wrap="square"/>
                    <a:lstStyle/>
                    <a:p>
                      <a:pPr algn="ctr"/>
                      <a:r>
                        <a:rPr sz="800" b="0">
                          <a:solidFill>
                            <a:srgbClr val="000000"/>
                          </a:solidFill>
                          <a:latin typeface="游ゴシック"/>
                          <a:ea typeface="游ゴシック"/>
                        </a:rPr>
                        <a:t>作業場</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つくば事業所</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茨城県稲敷市（顧客工場構内）</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Littelfuseジャパン合同会社（顧客）</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00" b="0">
                          <a:solidFill>
                            <a:srgbClr val="000000"/>
                          </a:solidFill>
                          <a:latin typeface="游ゴシック"/>
                          <a:ea typeface="游ゴシック"/>
                        </a:rPr>
                        <a:t>顧客構内での請負作業のため賃借なしと推察（要確認）</a:t>
                      </a:r>
                    </a:p>
                  </a:txBody>
                  <a:tcPr marL="45720" marR="45720" marT="9144" marB="9144" anchor="ctr">
                    <a:lnL>
                      <a:noFill/>
                    </a:lnL>
                    <a:lnR>
                      <a:noFill/>
                    </a:lnR>
                    <a:lnT>
                      <a:noFill/>
                    </a:lnT>
                    <a:lnB w="6350" cap="flat" cmpd="sng" algn="ctr">
                      <a:solidFill>
                        <a:srgbClr val="A6A6A6"/>
                      </a:solidFill>
                      <a:prstDash val="solid"/>
                    </a:lnB>
                    <a:noFill/>
                  </a:tcPr>
                </a:tc>
              </a:tr>
            </a:tbl>
          </a:graphicData>
        </a:graphic>
      </p:graphicFrame>
      <p:sp>
        <p:nvSpPr>
          <p:cNvPr id="16" name="Rectangle 15"/>
          <p:cNvSpPr/>
          <p:nvPr/>
        </p:nvSpPr>
        <p:spPr>
          <a:xfrm>
            <a:off x="310896" y="3886200"/>
            <a:ext cx="2743200" cy="292608"/>
          </a:xfrm>
          <a:prstGeom prst="rect">
            <a:avLst/>
          </a:prstGeom>
          <a:gradFill rotWithShape="1">
            <a:gsLst>
              <a:gs pos="5000">
                <a:srgbClr val="0B3041"/>
              </a:gs>
              <a:gs pos="88000">
                <a:srgbClr val="006AB1"/>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游ゴシック"/>
                <a:ea typeface="游ゴシック"/>
              </a:rPr>
              <a:t>保税蔵置場の概要</a:t>
            </a:r>
          </a:p>
        </p:txBody>
      </p:sp>
      <p:graphicFrame>
        <p:nvGraphicFramePr>
          <p:cNvPr id="17" name="Table 16"/>
          <p:cNvGraphicFramePr>
            <a:graphicFrameLocks noGrp="1"/>
          </p:cNvGraphicFramePr>
          <p:nvPr/>
        </p:nvGraphicFramePr>
        <p:xfrm>
          <a:off x="310896" y="4233672"/>
          <a:ext cx="6583680" cy="1920240"/>
        </p:xfrm>
        <a:graphic>
          <a:graphicData uri="http://schemas.openxmlformats.org/drawingml/2006/table">
            <a:tbl>
              <a:tblPr firstRow="0" bandRow="0" firstCol="0" lastRow="0" lastCol="0" bandCol="0"/>
              <a:tblGrid>
                <a:gridCol w="1463040"/>
                <a:gridCol w="5120640"/>
              </a:tblGrid>
              <a:tr h="274320">
                <a:tc>
                  <a:txBody>
                    <a:bodyPr wrap="square"/>
                    <a:lstStyle/>
                    <a:p>
                      <a:pPr algn="ctr"/>
                      <a:r>
                        <a:rPr sz="850" b="1">
                          <a:solidFill>
                            <a:srgbClr val="FFFFFF"/>
                          </a:solidFill>
                          <a:latin typeface="游ゴシック"/>
                          <a:ea typeface="游ゴシック"/>
                        </a:rPr>
                        <a:t>項目</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内容</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74320">
                <a:tc>
                  <a:txBody>
                    <a:bodyPr wrap="square"/>
                    <a:lstStyle/>
                    <a:p>
                      <a:pPr algn="l"/>
                      <a:r>
                        <a:rPr sz="850" b="1">
                          <a:solidFill>
                            <a:srgbClr val="000000"/>
                          </a:solidFill>
                          <a:latin typeface="游ゴシック"/>
                          <a:ea typeface="游ゴシック"/>
                        </a:rPr>
                        <a:t>名称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株式会社高塚商事 成田 保税蔵置場</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50" b="1">
                          <a:solidFill>
                            <a:srgbClr val="000000"/>
                          </a:solidFill>
                          <a:latin typeface="游ゴシック"/>
                          <a:ea typeface="游ゴシック"/>
                        </a:rPr>
                        <a:t>許可</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東京税関長 東関第395号（2024年12月17日付）</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50" b="1">
                          <a:solidFill>
                            <a:srgbClr val="000000"/>
                          </a:solidFill>
                          <a:latin typeface="游ゴシック"/>
                          <a:ea typeface="游ゴシック"/>
                        </a:rPr>
                        <a:t>許可期間</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2024年12月24日～2030年11月30日</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50" b="1">
                          <a:solidFill>
                            <a:srgbClr val="000000"/>
                          </a:solidFill>
                          <a:latin typeface="游ゴシック"/>
                          <a:ea typeface="游ゴシック"/>
                        </a:rPr>
                        <a:t>所在地・構造</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千葉県山武郡芝山町岩山字大宿148番地15／鉄骨鉄筋コンクリート造陸屋根6階建の一部</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50" b="1">
                          <a:solidFill>
                            <a:srgbClr val="000000"/>
                          </a:solidFill>
                          <a:latin typeface="游ゴシック"/>
                          <a:ea typeface="游ゴシック"/>
                        </a:rPr>
                        <a:t>蔵置貨物</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輸出一般貨物及び輸出冷凍冷蔵貨物（営業用）</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50" b="1">
                          <a:solidFill>
                            <a:srgbClr val="000000"/>
                          </a:solidFill>
                          <a:latin typeface="游ゴシック"/>
                          <a:ea typeface="游ゴシック"/>
                        </a:rPr>
                        <a:t>主な許可条件</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内部監査人による評価・監査を原則毎年実施し税関へ提出、帳簿の2年間保存等</a:t>
                      </a:r>
                    </a:p>
                  </a:txBody>
                  <a:tcPr marL="45720" marR="45720" marT="9144" marB="9144" anchor="ctr">
                    <a:lnL>
                      <a:noFill/>
                    </a:lnL>
                    <a:lnR>
                      <a:noFill/>
                    </a:lnR>
                    <a:lnT>
                      <a:noFill/>
                    </a:lnT>
                    <a:lnB w="6350" cap="flat" cmpd="sng" algn="ctr">
                      <a:solidFill>
                        <a:srgbClr val="A6A6A6"/>
                      </a:solidFill>
                      <a:prstDash val="solid"/>
                    </a:lnB>
                    <a:noFill/>
                  </a:tcPr>
                </a:tc>
              </a:tr>
            </a:tbl>
          </a:graphicData>
        </a:graphic>
      </p:graphicFrame>
      <p:sp>
        <p:nvSpPr>
          <p:cNvPr id="18" name="Rectangle 17"/>
          <p:cNvSpPr/>
          <p:nvPr/>
        </p:nvSpPr>
        <p:spPr>
          <a:xfrm>
            <a:off x="7086600" y="3886200"/>
            <a:ext cx="3264408" cy="2496312"/>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178040" y="3931920"/>
            <a:ext cx="3108960" cy="2423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200"/>
              </a:spcAft>
            </a:pPr>
            <a:r>
              <a:rPr sz="850" b="1">
                <a:solidFill>
                  <a:srgbClr val="0B3041"/>
                </a:solidFill>
                <a:latin typeface="游ゴシック Medium"/>
                <a:ea typeface="游ゴシック Medium"/>
              </a:rPr>
              <a:t>≪その他の作業場所≫</a:t>
            </a:r>
          </a:p>
          <a:p>
            <a:pPr algn="l">
              <a:spcAft>
                <a:spcPts val="200"/>
              </a:spcAft>
            </a:pPr>
            <a:r>
              <a:rPr sz="850" b="0">
                <a:solidFill>
                  <a:srgbClr val="000000"/>
                </a:solidFill>
                <a:latin typeface="游ゴシック Medium"/>
                <a:ea typeface="游ゴシック Medium"/>
              </a:rPr>
              <a:t>・つくば事業所：Littelfuseジャパン合同会社の工場構内（茨城県稲敷市）で構内梱包。賃借物件なし（推察・要確認）</a:t>
            </a:r>
          </a:p>
          <a:p>
            <a:pPr algn="l">
              <a:spcAft>
                <a:spcPts val="200"/>
              </a:spcAft>
            </a:pPr>
            <a:r>
              <a:rPr sz="850" b="0">
                <a:solidFill>
                  <a:srgbClr val="000000"/>
                </a:solidFill>
                <a:latin typeface="游ゴシック Medium"/>
                <a:ea typeface="游ゴシック Medium"/>
              </a:rPr>
              <a:t>・丸全昭和運輸㈱倉庫内：協力会社と共同で構内梱包</a:t>
            </a:r>
          </a:p>
          <a:p>
            <a:pPr algn="l">
              <a:spcAft>
                <a:spcPts val="200"/>
              </a:spcAft>
            </a:pPr>
            <a:r>
              <a:rPr sz="850" b="0">
                <a:solidFill>
                  <a:srgbClr val="000000"/>
                </a:solidFill>
                <a:latin typeface="游ゴシック Medium"/>
                <a:ea typeface="游ゴシック Medium"/>
              </a:rPr>
              <a:t>・DHL新千歳（北海道千歳市）：事務作業受託（外部人材2名相当）</a:t>
            </a:r>
          </a:p>
          <a:p>
            <a:pPr algn="l">
              <a:spcAft>
                <a:spcPts val="200"/>
              </a:spcAft>
            </a:pPr>
            <a:r>
              <a:rPr sz="850" b="1">
                <a:solidFill>
                  <a:srgbClr val="0B3041"/>
                </a:solidFill>
                <a:latin typeface="游ゴシック Medium"/>
                <a:ea typeface="游ゴシック Medium"/>
              </a:rPr>
              <a:t>≪旧拠点≫</a:t>
            </a:r>
          </a:p>
          <a:p>
            <a:pPr algn="l">
              <a:spcAft>
                <a:spcPts val="200"/>
              </a:spcAft>
            </a:pPr>
            <a:r>
              <a:rPr sz="850" b="0">
                <a:solidFill>
                  <a:srgbClr val="000000"/>
                </a:solidFill>
                <a:latin typeface="游ゴシック Medium"/>
                <a:ea typeface="游ゴシック Medium"/>
              </a:rPr>
              <a:t>・2024年8月まで千葉県山武郡芝山町菱田（㈱ホンダロジスティクス内）で操業</a:t>
            </a:r>
          </a:p>
        </p:txBody>
      </p:sp>
      <p:sp>
        <p:nvSpPr>
          <p:cNvPr id="20" name="Rectangle 19"/>
          <p:cNvSpPr/>
          <p:nvPr/>
        </p:nvSpPr>
        <p:spPr>
          <a:xfrm>
            <a:off x="310896" y="6492240"/>
            <a:ext cx="10040112"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※保税蔵置場許可書の面積は1,825㎡、2026年5月からの転貸借契約の倉庫面積は1,567㎡（差異の理由は要確認）。成田空港貨物地区までの所要時間は要確認。</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保有設備・許認可</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主要設備は保税蔵置場の内装設備と段ボール裁断機（レシプロカッティングツール）。フォークリフトはレンタルで調達しており、設備投資負担は小さい。</a:t>
            </a:r>
            <a:endParaRPr lang="en-US" altLang="ja-JP" dirty="0">
              <a:latin typeface="游ゴシック" panose="020B0400000000000000" pitchFamily="50" charset="-128"/>
              <a:ea typeface="游ゴシック" panose="020B0400000000000000" pitchFamily="50" charset="-128"/>
            </a:endParaRPr>
          </a:p>
        </p:txBody>
      </p:sp>
      <p:sp>
        <p:nvSpPr>
          <p:cNvPr id="14" name="Rectangle 13"/>
          <p:cNvSpPr/>
          <p:nvPr/>
        </p:nvSpPr>
        <p:spPr>
          <a:xfrm>
            <a:off x="310896" y="1481328"/>
            <a:ext cx="2743200" cy="292608"/>
          </a:xfrm>
          <a:prstGeom prst="rect">
            <a:avLst/>
          </a:prstGeom>
          <a:gradFill rotWithShape="1">
            <a:gsLst>
              <a:gs pos="5000">
                <a:srgbClr val="0B3041"/>
              </a:gs>
              <a:gs pos="88000">
                <a:srgbClr val="006AB1"/>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游ゴシック"/>
                <a:ea typeface="游ゴシック"/>
              </a:rPr>
              <a:t>保有設備</a:t>
            </a:r>
          </a:p>
        </p:txBody>
      </p:sp>
      <p:graphicFrame>
        <p:nvGraphicFramePr>
          <p:cNvPr id="15" name="Table 14"/>
          <p:cNvGraphicFramePr>
            <a:graphicFrameLocks noGrp="1"/>
          </p:cNvGraphicFramePr>
          <p:nvPr/>
        </p:nvGraphicFramePr>
        <p:xfrm>
          <a:off x="310896" y="1828800"/>
          <a:ext cx="10040112" cy="2542032"/>
        </p:xfrm>
        <a:graphic>
          <a:graphicData uri="http://schemas.openxmlformats.org/drawingml/2006/table">
            <a:tbl>
              <a:tblPr firstRow="0" bandRow="0" firstCol="0" lastRow="0" lastCol="0" bandCol="0"/>
              <a:tblGrid>
                <a:gridCol w="1005840"/>
                <a:gridCol w="2926080"/>
                <a:gridCol w="822960"/>
                <a:gridCol w="868680"/>
                <a:gridCol w="868680"/>
                <a:gridCol w="3547872"/>
              </a:tblGrid>
              <a:tr h="365760">
                <a:tc>
                  <a:txBody>
                    <a:bodyPr wrap="square"/>
                    <a:lstStyle/>
                    <a:p>
                      <a:pPr algn="ctr"/>
                      <a:r>
                        <a:rPr sz="850" b="1">
                          <a:solidFill>
                            <a:srgbClr val="FFFFFF"/>
                          </a:solidFill>
                          <a:latin typeface="游ゴシック"/>
                          <a:ea typeface="游ゴシック"/>
                        </a:rPr>
                        <a:t>科目</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資産名</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取得年月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取得価額</a:t>
                      </a:r>
                    </a:p>
                    <a:p>
                      <a:pPr algn="ctr"/>
                      <a:r>
                        <a:rPr sz="850" b="1">
                          <a:solidFill>
                            <a:srgbClr val="FFFFFF"/>
                          </a:solidFill>
                          <a:latin typeface="游ゴシック"/>
                          <a:ea typeface="游ゴシック"/>
                        </a:rPr>
                        <a:t>(千円)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期末簿価</a:t>
                      </a:r>
                    </a:p>
                    <a:p>
                      <a:pPr algn="ctr"/>
                      <a:r>
                        <a:rPr sz="850" b="1">
                          <a:solidFill>
                            <a:srgbClr val="FFFFFF"/>
                          </a:solidFill>
                          <a:latin typeface="游ゴシック"/>
                          <a:ea typeface="游ゴシック"/>
                        </a:rPr>
                        <a:t>(千円)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備考</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310896">
                <a:tc>
                  <a:txBody>
                    <a:bodyPr wrap="square"/>
                    <a:lstStyle/>
                    <a:p>
                      <a:pPr algn="l"/>
                      <a:r>
                        <a:rPr sz="850" b="0">
                          <a:solidFill>
                            <a:srgbClr val="000000"/>
                          </a:solidFill>
                          <a:latin typeface="游ゴシック"/>
                          <a:ea typeface="游ゴシック"/>
                        </a:rPr>
                        <a:t>建物付属設備</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保税蔵置場内装工事（成田）</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50" b="0">
                          <a:solidFill>
                            <a:srgbClr val="000000"/>
                          </a:solidFill>
                          <a:latin typeface="游ゴシック"/>
                          <a:ea typeface="游ゴシック"/>
                        </a:rPr>
                        <a:t>2024年8月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8,000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6,928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2024年8月本店移転時の工事。賃借物件内の造作</a:t>
                      </a:r>
                    </a:p>
                  </a:txBody>
                  <a:tcPr marL="45720" marR="45720" marT="9144" marB="9144" anchor="ctr">
                    <a:lnL>
                      <a:noFill/>
                    </a:lnL>
                    <a:lnR>
                      <a:noFill/>
                    </a:lnR>
                    <a:lnT>
                      <a:noFill/>
                    </a:lnT>
                    <a:lnB w="6350" cap="flat" cmpd="sng" algn="ctr">
                      <a:solidFill>
                        <a:srgbClr val="A6A6A6"/>
                      </a:solidFill>
                      <a:prstDash val="solid"/>
                    </a:lnB>
                    <a:noFill/>
                  </a:tcPr>
                </a:tc>
              </a:tr>
              <a:tr h="310896">
                <a:tc>
                  <a:txBody>
                    <a:bodyPr wrap="square"/>
                    <a:lstStyle/>
                    <a:p>
                      <a:pPr algn="l"/>
                      <a:r>
                        <a:rPr sz="850" b="0">
                          <a:solidFill>
                            <a:srgbClr val="000000"/>
                          </a:solidFill>
                          <a:latin typeface="游ゴシック"/>
                          <a:ea typeface="游ゴシック"/>
                        </a:rPr>
                        <a:t>建物</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テント倉庫</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50" b="0">
                          <a:solidFill>
                            <a:srgbClr val="000000"/>
                          </a:solidFill>
                          <a:latin typeface="游ゴシック"/>
                          <a:ea typeface="游ゴシック"/>
                        </a:rPr>
                        <a:t>2011年12月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7,200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旧拠点（菱田）所在。現存の有無は要確認</a:t>
                      </a:r>
                    </a:p>
                  </a:txBody>
                  <a:tcPr marL="45720" marR="45720" marT="9144" marB="9144" anchor="ctr">
                    <a:lnL>
                      <a:noFill/>
                    </a:lnL>
                    <a:lnR>
                      <a:noFill/>
                    </a:lnR>
                    <a:lnT>
                      <a:noFill/>
                    </a:lnT>
                    <a:lnB w="6350" cap="flat" cmpd="sng" algn="ctr">
                      <a:solidFill>
                        <a:srgbClr val="A6A6A6"/>
                      </a:solidFill>
                      <a:prstDash val="solid"/>
                    </a:lnB>
                    <a:noFill/>
                  </a:tcPr>
                </a:tc>
              </a:tr>
              <a:tr h="310896">
                <a:tc>
                  <a:txBody>
                    <a:bodyPr wrap="square"/>
                    <a:lstStyle/>
                    <a:p>
                      <a:pPr algn="l"/>
                      <a:r>
                        <a:rPr sz="850" b="0">
                          <a:solidFill>
                            <a:srgbClr val="000000"/>
                          </a:solidFill>
                          <a:latin typeface="游ゴシック"/>
                          <a:ea typeface="游ゴシック"/>
                        </a:rPr>
                        <a:t>構築物</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舗装工事・掘り井戸</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50" b="0">
                          <a:solidFill>
                            <a:srgbClr val="000000"/>
                          </a:solidFill>
                          <a:latin typeface="游ゴシック"/>
                          <a:ea typeface="游ゴシック"/>
                        </a:rPr>
                        <a:t>2005年3月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1,827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旧拠点所在と推察。除却要否は要確認</a:t>
                      </a:r>
                    </a:p>
                  </a:txBody>
                  <a:tcPr marL="45720" marR="45720" marT="9144" marB="9144" anchor="ctr">
                    <a:lnL>
                      <a:noFill/>
                    </a:lnL>
                    <a:lnR>
                      <a:noFill/>
                    </a:lnR>
                    <a:lnT>
                      <a:noFill/>
                    </a:lnT>
                    <a:lnB w="6350" cap="flat" cmpd="sng" algn="ctr">
                      <a:solidFill>
                        <a:srgbClr val="A6A6A6"/>
                      </a:solidFill>
                      <a:prstDash val="solid"/>
                    </a:lnB>
                    <a:noFill/>
                  </a:tcPr>
                </a:tc>
              </a:tr>
              <a:tr h="310896">
                <a:tc>
                  <a:txBody>
                    <a:bodyPr wrap="square"/>
                    <a:lstStyle/>
                    <a:p>
                      <a:pPr algn="l"/>
                      <a:r>
                        <a:rPr sz="850" b="0">
                          <a:solidFill>
                            <a:srgbClr val="000000"/>
                          </a:solidFill>
                          <a:latin typeface="游ゴシック"/>
                          <a:ea typeface="游ゴシック"/>
                        </a:rPr>
                        <a:t>機械装置</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レシプロカッティングツール（段ボール裁断機）ほか</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50" b="0">
                          <a:solidFill>
                            <a:srgbClr val="000000"/>
                          </a:solidFill>
                          <a:latin typeface="游ゴシック"/>
                          <a:ea typeface="游ゴシック"/>
                        </a:rPr>
                        <a:t>2013年6月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11,571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製品サイズに合わせた段ボールの即時裁断が可能（強みの源泉）</a:t>
                      </a:r>
                    </a:p>
                  </a:txBody>
                  <a:tcPr marL="45720" marR="45720" marT="9144" marB="9144" anchor="ctr">
                    <a:lnL>
                      <a:noFill/>
                    </a:lnL>
                    <a:lnR>
                      <a:noFill/>
                    </a:lnR>
                    <a:lnT>
                      <a:noFill/>
                    </a:lnT>
                    <a:lnB w="6350" cap="flat" cmpd="sng" algn="ctr">
                      <a:solidFill>
                        <a:srgbClr val="A6A6A6"/>
                      </a:solidFill>
                      <a:prstDash val="solid"/>
                    </a:lnB>
                    <a:noFill/>
                  </a:tcPr>
                </a:tc>
              </a:tr>
              <a:tr h="310896">
                <a:tc>
                  <a:txBody>
                    <a:bodyPr wrap="square"/>
                    <a:lstStyle/>
                    <a:p>
                      <a:pPr algn="l"/>
                      <a:r>
                        <a:rPr sz="850" b="0">
                          <a:solidFill>
                            <a:srgbClr val="000000"/>
                          </a:solidFill>
                          <a:latin typeface="游ゴシック"/>
                          <a:ea typeface="游ゴシック"/>
                        </a:rPr>
                        <a:t>車両運搬具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車両（2024年取得分を含む）</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50" b="0">
                          <a:solidFill>
                            <a:srgbClr val="000000"/>
                          </a:solidFill>
                          <a:latin typeface="游ゴシック"/>
                          <a:ea typeface="游ゴシック"/>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1,459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133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明細は要確認</a:t>
                      </a:r>
                    </a:p>
                  </a:txBody>
                  <a:tcPr marL="45720" marR="45720" marT="9144" marB="9144" anchor="ctr">
                    <a:lnL>
                      <a:noFill/>
                    </a:lnL>
                    <a:lnR>
                      <a:noFill/>
                    </a:lnR>
                    <a:lnT>
                      <a:noFill/>
                    </a:lnT>
                    <a:lnB w="6350" cap="flat" cmpd="sng" algn="ctr">
                      <a:solidFill>
                        <a:srgbClr val="A6A6A6"/>
                      </a:solidFill>
                      <a:prstDash val="solid"/>
                    </a:lnB>
                    <a:noFill/>
                  </a:tcPr>
                </a:tc>
              </a:tr>
              <a:tr h="310896">
                <a:tc>
                  <a:txBody>
                    <a:bodyPr wrap="square"/>
                    <a:lstStyle/>
                    <a:p>
                      <a:pPr algn="l"/>
                      <a:r>
                        <a:rPr sz="850" b="0">
                          <a:solidFill>
                            <a:srgbClr val="000000"/>
                          </a:solidFill>
                          <a:latin typeface="游ゴシック"/>
                          <a:ea typeface="游ゴシック"/>
                        </a:rPr>
                        <a:t>工具器具備品</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PC・エアコン・キャビネット等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ctr"/>
                      <a:r>
                        <a:rPr sz="850" b="0">
                          <a:solidFill>
                            <a:srgbClr val="000000"/>
                          </a:solidFill>
                          <a:latin typeface="游ゴシック"/>
                          <a:ea typeface="游ゴシック"/>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1,513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347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明細は要確認</a:t>
                      </a:r>
                    </a:p>
                  </a:txBody>
                  <a:tcPr marL="45720" marR="45720" marT="9144" marB="9144" anchor="ctr">
                    <a:lnL>
                      <a:noFill/>
                    </a:lnL>
                    <a:lnR>
                      <a:noFill/>
                    </a:lnR>
                    <a:lnT>
                      <a:noFill/>
                    </a:lnT>
                    <a:lnB w="6350" cap="flat" cmpd="sng" algn="ctr">
                      <a:solidFill>
                        <a:srgbClr val="A6A6A6"/>
                      </a:solidFill>
                      <a:prstDash val="solid"/>
                    </a:lnB>
                    <a:noFill/>
                  </a:tcPr>
                </a:tc>
              </a:tr>
              <a:tr h="310896">
                <a:tc>
                  <a:txBody>
                    <a:bodyPr wrap="square"/>
                    <a:lstStyle/>
                    <a:p>
                      <a:pPr algn="l"/>
                      <a:r>
                        <a:rPr sz="850" b="1">
                          <a:solidFill>
                            <a:srgbClr val="000000"/>
                          </a:solidFill>
                          <a:latin typeface="游ゴシック"/>
                          <a:ea typeface="游ゴシック"/>
                        </a:rPr>
                        <a:t>合計</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8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ctr"/>
                      <a:r>
                        <a:rPr sz="8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31,570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7,511</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l"/>
                      <a:r>
                        <a:rPr sz="850" b="1">
                          <a:solidFill>
                            <a:srgbClr val="000000"/>
                          </a:solidFill>
                          <a:latin typeface="游ゴシック"/>
                          <a:ea typeface="游ゴシック"/>
                        </a:rPr>
                        <a:t>　</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bl>
          </a:graphicData>
        </a:graphic>
      </p:graphicFrame>
      <p:sp>
        <p:nvSpPr>
          <p:cNvPr id="16" name="Rectangle 15"/>
          <p:cNvSpPr/>
          <p:nvPr/>
        </p:nvSpPr>
        <p:spPr>
          <a:xfrm>
            <a:off x="310896" y="4572000"/>
            <a:ext cx="2743200" cy="292608"/>
          </a:xfrm>
          <a:prstGeom prst="rect">
            <a:avLst/>
          </a:prstGeom>
          <a:gradFill rotWithShape="1">
            <a:gsLst>
              <a:gs pos="5000">
                <a:srgbClr val="0B3041"/>
              </a:gs>
              <a:gs pos="88000">
                <a:srgbClr val="006AB1"/>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游ゴシック"/>
                <a:ea typeface="游ゴシック"/>
              </a:rPr>
              <a:t>許認可等</a:t>
            </a:r>
          </a:p>
        </p:txBody>
      </p:sp>
      <p:graphicFrame>
        <p:nvGraphicFramePr>
          <p:cNvPr id="17" name="Table 16"/>
          <p:cNvGraphicFramePr>
            <a:graphicFrameLocks noGrp="1"/>
          </p:cNvGraphicFramePr>
          <p:nvPr/>
        </p:nvGraphicFramePr>
        <p:xfrm>
          <a:off x="310896" y="4919472"/>
          <a:ext cx="10040112" cy="1097280"/>
        </p:xfrm>
        <a:graphic>
          <a:graphicData uri="http://schemas.openxmlformats.org/drawingml/2006/table">
            <a:tbl>
              <a:tblPr firstRow="0" bandRow="0" firstCol="0" lastRow="0" lastCol="0" bandCol="0"/>
              <a:tblGrid>
                <a:gridCol w="1645920"/>
                <a:gridCol w="2194560"/>
                <a:gridCol w="2011680"/>
                <a:gridCol w="4187952"/>
              </a:tblGrid>
              <a:tr h="274320">
                <a:tc>
                  <a:txBody>
                    <a:bodyPr wrap="square"/>
                    <a:lstStyle/>
                    <a:p>
                      <a:pPr algn="ctr"/>
                      <a:r>
                        <a:rPr sz="850" b="1">
                          <a:solidFill>
                            <a:srgbClr val="FFFFFF"/>
                          </a:solidFill>
                          <a:latin typeface="游ゴシック"/>
                          <a:ea typeface="游ゴシック"/>
                        </a:rPr>
                        <a:t>許認可等</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番号・所管</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有効期間等</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備考</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74320">
                <a:tc>
                  <a:txBody>
                    <a:bodyPr wrap="square"/>
                    <a:lstStyle/>
                    <a:p>
                      <a:pPr algn="l"/>
                      <a:r>
                        <a:rPr sz="850" b="1">
                          <a:solidFill>
                            <a:srgbClr val="000000"/>
                          </a:solidFill>
                          <a:latin typeface="游ゴシック"/>
                          <a:ea typeface="游ゴシック"/>
                        </a:rPr>
                        <a:t>保税蔵置場許可</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東京税関長 東関第395号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2024/12/24～2030/11/30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輸出一般貨物・輸出冷凍冷蔵貨物</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50" b="1">
                          <a:solidFill>
                            <a:srgbClr val="000000"/>
                          </a:solidFill>
                          <a:latin typeface="游ゴシック"/>
                          <a:ea typeface="游ゴシック"/>
                        </a:rPr>
                        <a:t>労働者派遣事業</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要確認</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要確認</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定款目的に記載。2024年に派遣業の住所移転届を提出した記録あり</a:t>
                      </a:r>
                    </a:p>
                  </a:txBody>
                  <a:tcPr marL="45720" marR="45720" marT="9144" marB="9144" anchor="ctr">
                    <a:lnL>
                      <a:noFill/>
                    </a:lnL>
                    <a:lnR>
                      <a:noFill/>
                    </a:lnR>
                    <a:lnT>
                      <a:noFill/>
                    </a:lnT>
                    <a:lnB w="6350" cap="flat" cmpd="sng" algn="ctr">
                      <a:solidFill>
                        <a:srgbClr val="A6A6A6"/>
                      </a:solidFill>
                      <a:prstDash val="solid"/>
                    </a:lnB>
                    <a:noFill/>
                  </a:tcPr>
                </a:tc>
              </a:tr>
              <a:tr h="274320">
                <a:tc>
                  <a:txBody>
                    <a:bodyPr wrap="square"/>
                    <a:lstStyle/>
                    <a:p>
                      <a:pPr algn="l"/>
                      <a:r>
                        <a:rPr sz="850" b="1">
                          <a:solidFill>
                            <a:srgbClr val="000000"/>
                          </a:solidFill>
                          <a:latin typeface="游ゴシック"/>
                          <a:ea typeface="游ゴシック"/>
                        </a:rPr>
                        <a:t>貨物利用運送事業</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要確認</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要確認</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850" b="0">
                          <a:solidFill>
                            <a:srgbClr val="000000"/>
                          </a:solidFill>
                          <a:latin typeface="游ゴシック"/>
                          <a:ea typeface="游ゴシック"/>
                        </a:rPr>
                        <a:t>定款目的に記載（登録の有無は要確認）</a:t>
                      </a:r>
                    </a:p>
                  </a:txBody>
                  <a:tcPr marL="45720" marR="45720" marT="9144" marB="9144" anchor="ctr">
                    <a:lnL>
                      <a:noFill/>
                    </a:lnL>
                    <a:lnR>
                      <a:noFill/>
                    </a:lnR>
                    <a:lnT>
                      <a:noFill/>
                    </a:lnT>
                    <a:lnB w="6350" cap="flat" cmpd="sng" algn="ctr">
                      <a:solidFill>
                        <a:srgbClr val="A6A6A6"/>
                      </a:solidFill>
                      <a:prstDash val="solid"/>
                    </a:lnB>
                    <a:noFill/>
                  </a:tcPr>
                </a:tc>
              </a:tr>
            </a:tbl>
          </a:graphicData>
        </a:graphic>
      </p:graphicFrame>
      <p:sp>
        <p:nvSpPr>
          <p:cNvPr id="18" name="Rectangle 17"/>
          <p:cNvSpPr/>
          <p:nvPr/>
        </p:nvSpPr>
        <p:spPr>
          <a:xfrm>
            <a:off x="310896" y="6172200"/>
            <a:ext cx="10040112"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保有設備は37期法人税申告書別表十六および35期固定資産台帳より。リース・レンタル（フォークリフト：トヨタL&amp;F、ユニットハウス：レンタックス）は別途。旧拠点所在の建物・構築物は現存の有無を要確認。</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貸借対照表</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財務情報詳細</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直近3期の貸借対照表。36期は移転に伴う建物付属設備・敷金の計上と長期借入金（40百万円）の調達により総資産が増加した。</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nvGraphicFramePr>
        <p:xfrm>
          <a:off x="310896" y="1463040"/>
          <a:ext cx="4800600" cy="5157216"/>
        </p:xfrm>
        <a:graphic>
          <a:graphicData uri="http://schemas.openxmlformats.org/drawingml/2006/table">
            <a:tbl>
              <a:tblPr firstRow="0" bandRow="0" firstCol="0" lastRow="0" lastCol="0" bandCol="0"/>
              <a:tblGrid>
                <a:gridCol w="2057400"/>
                <a:gridCol w="914400"/>
                <a:gridCol w="914400"/>
                <a:gridCol w="914400"/>
              </a:tblGrid>
              <a:tr h="214884">
                <a:tc>
                  <a:txBody>
                    <a:bodyPr wrap="square"/>
                    <a:lstStyle/>
                    <a:p>
                      <a:pPr algn="ctr"/>
                      <a:r>
                        <a:rPr sz="800" b="1">
                          <a:solidFill>
                            <a:srgbClr val="FFFFFF"/>
                          </a:solidFill>
                          <a:latin typeface="游ゴシック"/>
                          <a:ea typeface="游ゴシック"/>
                        </a:rPr>
                        <a:t>(単位：千円)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24年5月期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25年5月期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26年5月期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14884">
                <a:tc>
                  <a:txBody>
                    <a:bodyPr wrap="square"/>
                    <a:lstStyle/>
                    <a:p>
                      <a:pPr algn="l"/>
                      <a:r>
                        <a:rPr sz="800" b="1">
                          <a:solidFill>
                            <a:srgbClr val="000000"/>
                          </a:solidFill>
                          <a:latin typeface="游ゴシック"/>
                          <a:ea typeface="游ゴシック"/>
                        </a:rPr>
                        <a:t>【流動資産】</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54,412</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49,505</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38,983</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14884">
                <a:tc>
                  <a:txBody>
                    <a:bodyPr wrap="square"/>
                    <a:lstStyle/>
                    <a:p>
                      <a:pPr algn="l"/>
                      <a:r>
                        <a:rPr sz="800" b="0">
                          <a:solidFill>
                            <a:srgbClr val="000000"/>
                          </a:solidFill>
                          <a:latin typeface="游ゴシック"/>
                          <a:ea typeface="游ゴシック"/>
                        </a:rPr>
                        <a:t>現金及び預金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19,961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9,777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4,903</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請負未収金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29,669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32,406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28,452</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貯蔵品（梱包資材）</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4,173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4,032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3,270</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短期貸付金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90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前払費用</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2,182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2,294</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仮払金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99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61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65</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未収消費税等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958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仮払消費税等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その他（元帳未掲載差額・要確認）</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1">
                          <a:solidFill>
                            <a:srgbClr val="000000"/>
                          </a:solidFill>
                          <a:latin typeface="游ゴシック"/>
                          <a:ea typeface="游ゴシック"/>
                        </a:rPr>
                        <a:t>【固定資産】</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843</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12,617</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14,338</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14884">
                <a:tc>
                  <a:txBody>
                    <a:bodyPr wrap="square"/>
                    <a:lstStyle/>
                    <a:p>
                      <a:pPr algn="l"/>
                      <a:r>
                        <a:rPr sz="800" b="0">
                          <a:solidFill>
                            <a:srgbClr val="000000"/>
                          </a:solidFill>
                          <a:latin typeface="游ゴシック"/>
                          <a:ea typeface="游ゴシック"/>
                        </a:rPr>
                        <a:t>建物</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建物付属設備</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7,464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6,928</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構築物</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120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111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103</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機械装置</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545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車両運搬具</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222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133</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工具器具備品</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347</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電話加入権</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119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119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119</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出資金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50</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長期前払費用（信用保証料）</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1,010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904</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敷金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3,092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5,754</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預け保証金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1">
                          <a:solidFill>
                            <a:srgbClr val="000000"/>
                          </a:solidFill>
                          <a:latin typeface="游ゴシック"/>
                          <a:ea typeface="游ゴシック"/>
                        </a:rPr>
                        <a:t>資産合計</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55,255</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62,122</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53,321</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bl>
          </a:graphicData>
        </a:graphic>
      </p:graphicFrame>
      <p:graphicFrame>
        <p:nvGraphicFramePr>
          <p:cNvPr id="15" name="Table 14"/>
          <p:cNvGraphicFramePr>
            <a:graphicFrameLocks noGrp="1"/>
          </p:cNvGraphicFramePr>
          <p:nvPr/>
        </p:nvGraphicFramePr>
        <p:xfrm>
          <a:off x="5440680" y="1463040"/>
          <a:ext cx="4800600" cy="3438144"/>
        </p:xfrm>
        <a:graphic>
          <a:graphicData uri="http://schemas.openxmlformats.org/drawingml/2006/table">
            <a:tbl>
              <a:tblPr firstRow="0" bandRow="0" firstCol="0" lastRow="0" lastCol="0" bandCol="0"/>
              <a:tblGrid>
                <a:gridCol w="2057400"/>
                <a:gridCol w="914400"/>
                <a:gridCol w="914400"/>
                <a:gridCol w="914400"/>
              </a:tblGrid>
              <a:tr h="214884">
                <a:tc>
                  <a:txBody>
                    <a:bodyPr wrap="square"/>
                    <a:lstStyle/>
                    <a:p>
                      <a:pPr algn="ctr"/>
                      <a:r>
                        <a:rPr sz="800" b="1">
                          <a:solidFill>
                            <a:srgbClr val="FFFFFF"/>
                          </a:solidFill>
                          <a:latin typeface="游ゴシック"/>
                          <a:ea typeface="游ゴシック"/>
                        </a:rPr>
                        <a:t>(単位：千円)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24年5月期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25年5月期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00" b="1">
                          <a:solidFill>
                            <a:srgbClr val="FFFFFF"/>
                          </a:solidFill>
                          <a:latin typeface="游ゴシック"/>
                          <a:ea typeface="游ゴシック"/>
                        </a:rPr>
                        <a:t>26年5月期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14884">
                <a:tc>
                  <a:txBody>
                    <a:bodyPr wrap="square"/>
                    <a:lstStyle/>
                    <a:p>
                      <a:pPr algn="l"/>
                      <a:r>
                        <a:rPr sz="800" b="1">
                          <a:solidFill>
                            <a:srgbClr val="000000"/>
                          </a:solidFill>
                          <a:latin typeface="游ゴシック"/>
                          <a:ea typeface="游ゴシック"/>
                        </a:rPr>
                        <a:t>【流動負債】</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27,137</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24,020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32,247</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14884">
                <a:tc>
                  <a:txBody>
                    <a:bodyPr wrap="square"/>
                    <a:lstStyle/>
                    <a:p>
                      <a:pPr algn="l"/>
                      <a:r>
                        <a:rPr sz="800" b="0">
                          <a:solidFill>
                            <a:srgbClr val="000000"/>
                          </a:solidFill>
                          <a:latin typeface="游ゴシック"/>
                          <a:ea typeface="游ゴシック"/>
                        </a:rPr>
                        <a:t>未払金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15,336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15,370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22,987</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未払費用</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9,588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8,398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6,949</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未払法人税等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70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70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70</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未払消費税等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1,937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2,227</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預り金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206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181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15</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1">
                          <a:solidFill>
                            <a:srgbClr val="000000"/>
                          </a:solidFill>
                          <a:latin typeface="游ゴシック"/>
                          <a:ea typeface="游ゴシック"/>
                        </a:rPr>
                        <a:t>【固定負債】</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38,334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32,638</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14884">
                <a:tc>
                  <a:txBody>
                    <a:bodyPr wrap="square"/>
                    <a:lstStyle/>
                    <a:p>
                      <a:pPr algn="l"/>
                      <a:r>
                        <a:rPr sz="800" b="0">
                          <a:solidFill>
                            <a:srgbClr val="000000"/>
                          </a:solidFill>
                          <a:latin typeface="游ゴシック"/>
                          <a:ea typeface="游ゴシック"/>
                        </a:rPr>
                        <a:t>長期借入金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38,334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32,638</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1">
                          <a:solidFill>
                            <a:srgbClr val="000000"/>
                          </a:solidFill>
                          <a:latin typeface="游ゴシック"/>
                          <a:ea typeface="游ゴシック"/>
                        </a:rPr>
                        <a:t>負債合計</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27,137</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62,354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64,885</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14884">
                <a:tc>
                  <a:txBody>
                    <a:bodyPr wrap="square"/>
                    <a:lstStyle/>
                    <a:p>
                      <a:pPr algn="l"/>
                      <a:r>
                        <a:rPr sz="800" b="0">
                          <a:solidFill>
                            <a:srgbClr val="000000"/>
                          </a:solidFill>
                          <a:latin typeface="游ゴシック"/>
                          <a:ea typeface="游ゴシック"/>
                        </a:rPr>
                        <a:t>資本金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10,000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10,000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10,000</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利益準備金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2,750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2,750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2,750</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別途積立金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36,000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36,000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36,000</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0">
                          <a:solidFill>
                            <a:srgbClr val="000000"/>
                          </a:solidFill>
                          <a:latin typeface="游ゴシック"/>
                          <a:ea typeface="游ゴシック"/>
                        </a:rPr>
                        <a:t>繰越利益剰余金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△20,632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△48,981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00" b="0">
                          <a:solidFill>
                            <a:srgbClr val="000000"/>
                          </a:solidFill>
                          <a:latin typeface="Arial"/>
                          <a:ea typeface="游ゴシック Medium"/>
                        </a:rPr>
                        <a:t>△60,313</a:t>
                      </a:r>
                    </a:p>
                  </a:txBody>
                  <a:tcPr marL="45720" marR="45720" marT="9144" marB="9144" anchor="ctr">
                    <a:lnL>
                      <a:noFill/>
                    </a:lnL>
                    <a:lnR>
                      <a:noFill/>
                    </a:lnR>
                    <a:lnT>
                      <a:noFill/>
                    </a:lnT>
                    <a:lnB w="6350" cap="flat" cmpd="sng" algn="ctr">
                      <a:solidFill>
                        <a:srgbClr val="A6A6A6"/>
                      </a:solidFill>
                      <a:prstDash val="solid"/>
                    </a:lnB>
                    <a:noFill/>
                  </a:tcPr>
                </a:tc>
              </a:tr>
              <a:tr h="214884">
                <a:tc>
                  <a:txBody>
                    <a:bodyPr wrap="square"/>
                    <a:lstStyle/>
                    <a:p>
                      <a:pPr algn="l"/>
                      <a:r>
                        <a:rPr sz="800" b="1">
                          <a:solidFill>
                            <a:srgbClr val="000000"/>
                          </a:solidFill>
                          <a:latin typeface="游ゴシック"/>
                          <a:ea typeface="游ゴシック"/>
                        </a:rPr>
                        <a:t>純資産合計</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28,118</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△231</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△11,563</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14884">
                <a:tc>
                  <a:txBody>
                    <a:bodyPr wrap="square"/>
                    <a:lstStyle/>
                    <a:p>
                      <a:pPr algn="l"/>
                      <a:r>
                        <a:rPr sz="800" b="1">
                          <a:solidFill>
                            <a:srgbClr val="000000"/>
                          </a:solidFill>
                          <a:latin typeface="游ゴシック"/>
                          <a:ea typeface="游ゴシック"/>
                        </a:rPr>
                        <a:t>負債・純資産合計</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55,255</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62,122</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00" b="1">
                          <a:solidFill>
                            <a:srgbClr val="000000"/>
                          </a:solidFill>
                          <a:latin typeface="Arial"/>
                          <a:ea typeface="游ゴシック Medium"/>
                        </a:rPr>
                        <a:t>53,321</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bl>
          </a:graphicData>
        </a:graphic>
      </p:graphicFrame>
      <p:sp>
        <p:nvSpPr>
          <p:cNvPr id="16" name="Rectangle 15"/>
          <p:cNvSpPr/>
          <p:nvPr/>
        </p:nvSpPr>
        <p:spPr>
          <a:xfrm>
            <a:off x="310896" y="6812280"/>
            <a:ext cx="10040112"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※25年5月期は総勘定元帳から再構成（「その他」0千円は決算書との差額410円）。千円未満四捨五入のため合計が一致しない場合があります。</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損益計算書</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財務情報詳細</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原価率は98～108%と高く、営業外の立退解決金（35・36期）を除くと実質的な経常損失が続く。37期の支払利息は0.9百万円。</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nvGraphicFramePr>
        <p:xfrm>
          <a:off x="310896" y="1463040"/>
          <a:ext cx="8092440" cy="5029200"/>
        </p:xfrm>
        <a:graphic>
          <a:graphicData uri="http://schemas.openxmlformats.org/drawingml/2006/table">
            <a:tbl>
              <a:tblPr firstRow="0" bandRow="0" firstCol="0" lastRow="0" lastCol="0" bandCol="0"/>
              <a:tblGrid>
                <a:gridCol w="3017520"/>
                <a:gridCol w="1234440"/>
                <a:gridCol w="1234440"/>
                <a:gridCol w="1234440"/>
                <a:gridCol w="1371600"/>
              </a:tblGrid>
              <a:tr h="365760">
                <a:tc>
                  <a:txBody>
                    <a:bodyPr wrap="square"/>
                    <a:lstStyle/>
                    <a:p>
                      <a:pPr algn="ctr"/>
                      <a:r>
                        <a:rPr sz="850" b="1">
                          <a:solidFill>
                            <a:srgbClr val="FFFFFF"/>
                          </a:solidFill>
                          <a:latin typeface="游ゴシック"/>
                          <a:ea typeface="游ゴシック"/>
                        </a:rPr>
                        <a:t>(単位：千円)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24年5月期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25年5月期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26年5月期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進行期</a:t>
                      </a:r>
                    </a:p>
                    <a:p>
                      <a:pPr algn="ctr"/>
                      <a:r>
                        <a:rPr sz="850" b="1">
                          <a:solidFill>
                            <a:srgbClr val="FFFFFF"/>
                          </a:solidFill>
                          <a:latin typeface="游ゴシック"/>
                          <a:ea typeface="游ゴシック"/>
                        </a:rPr>
                        <a:t>（26年6～7月）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33172">
                <a:tc>
                  <a:txBody>
                    <a:bodyPr wrap="square"/>
                    <a:lstStyle/>
                    <a:p>
                      <a:pPr algn="l"/>
                      <a:r>
                        <a:rPr sz="850" b="0">
                          <a:solidFill>
                            <a:srgbClr val="000000"/>
                          </a:solidFill>
                          <a:latin typeface="游ゴシック"/>
                          <a:ea typeface="游ゴシック"/>
                        </a:rPr>
                        <a:t>梱包収入</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173,684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208,996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209,139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43,889</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梱包外収入（保税・輸出入作業等）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76,514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20,901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34,050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3,553</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その他収入（業務請負等）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99,179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14,710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36,105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6,999</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賃貸収入</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7,738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1,247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1">
                          <a:solidFill>
                            <a:srgbClr val="000000"/>
                          </a:solidFill>
                          <a:latin typeface="游ゴシック"/>
                          <a:ea typeface="游ゴシック"/>
                        </a:rPr>
                        <a:t>売上高</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357,115</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245,854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279,294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54,442</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33172">
                <a:tc>
                  <a:txBody>
                    <a:bodyPr wrap="square"/>
                    <a:lstStyle/>
                    <a:p>
                      <a:pPr algn="l"/>
                      <a:r>
                        <a:rPr sz="850" b="0">
                          <a:solidFill>
                            <a:srgbClr val="000000"/>
                          </a:solidFill>
                          <a:latin typeface="游ゴシック"/>
                          <a:ea typeface="游ゴシック"/>
                        </a:rPr>
                        <a:t>売上原価（当期製造原価）</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353,076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264,751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273,790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52,337</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1">
                          <a:solidFill>
                            <a:srgbClr val="000000"/>
                          </a:solidFill>
                          <a:latin typeface="游ゴシック"/>
                          <a:ea typeface="游ゴシック"/>
                        </a:rPr>
                        <a:t>売上総利益</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4,039</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△18,897</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5,504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2,105</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33172">
                <a:tc>
                  <a:txBody>
                    <a:bodyPr wrap="square"/>
                    <a:lstStyle/>
                    <a:p>
                      <a:pPr algn="l"/>
                      <a:r>
                        <a:rPr sz="850" b="0">
                          <a:solidFill>
                            <a:srgbClr val="000000"/>
                          </a:solidFill>
                          <a:latin typeface="游ゴシック"/>
                          <a:ea typeface="游ゴシック"/>
                        </a:rPr>
                        <a:t>販売費及び一般管理費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19,182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19,710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16,503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2,494</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1">
                          <a:solidFill>
                            <a:srgbClr val="000000"/>
                          </a:solidFill>
                          <a:latin typeface="游ゴシック"/>
                          <a:ea typeface="游ゴシック"/>
                        </a:rPr>
                        <a:t>営業利益</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△15,143</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△38,607</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△11,000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△389</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33172">
                <a:tc>
                  <a:txBody>
                    <a:bodyPr wrap="square"/>
                    <a:lstStyle/>
                    <a:p>
                      <a:pPr algn="l"/>
                      <a:r>
                        <a:rPr sz="850" b="0">
                          <a:solidFill>
                            <a:srgbClr val="000000"/>
                          </a:solidFill>
                          <a:latin typeface="游ゴシック"/>
                          <a:ea typeface="游ゴシック"/>
                        </a:rPr>
                        <a:t>営業外収益</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10,733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10,819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623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222</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　受取利息</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　受取配当金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　雑収入（鉄屑売却等）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731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812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615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221</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　雑収入（立退解決金）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10,000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10,000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　決算整理差額（要確認）</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営業外費用</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492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885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118</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　支払利息</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492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885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118</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1">
                          <a:solidFill>
                            <a:srgbClr val="000000"/>
                          </a:solidFill>
                          <a:latin typeface="游ゴシック"/>
                          <a:ea typeface="游ゴシック"/>
                        </a:rPr>
                        <a:t>経常利益</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△4,410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△28,279</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△11,262</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△285</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33172">
                <a:tc>
                  <a:txBody>
                    <a:bodyPr wrap="square"/>
                    <a:lstStyle/>
                    <a:p>
                      <a:pPr algn="l"/>
                      <a:r>
                        <a:rPr sz="850" b="0">
                          <a:solidFill>
                            <a:srgbClr val="000000"/>
                          </a:solidFill>
                          <a:latin typeface="游ゴシック"/>
                          <a:ea typeface="游ゴシック"/>
                        </a:rPr>
                        <a:t>法人税等</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1">
                          <a:solidFill>
                            <a:srgbClr val="000000"/>
                          </a:solidFill>
                          <a:latin typeface="游ゴシック"/>
                          <a:ea typeface="游ゴシック"/>
                        </a:rPr>
                        <a:t>当期純利益</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△4,480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△28,349</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△11,332</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△285</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bl>
          </a:graphicData>
        </a:graphic>
      </p:graphicFrame>
      <p:sp>
        <p:nvSpPr>
          <p:cNvPr id="15" name="Rectangle 14"/>
          <p:cNvSpPr/>
          <p:nvPr/>
        </p:nvSpPr>
        <p:spPr>
          <a:xfrm>
            <a:off x="8503920" y="1463040"/>
            <a:ext cx="1828800" cy="50292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300"/>
              </a:spcAft>
            </a:pPr>
            <a:r>
              <a:rPr sz="800" b="1">
                <a:solidFill>
                  <a:srgbClr val="0B3041"/>
                </a:solidFill>
                <a:latin typeface="游ゴシック Medium"/>
                <a:ea typeface="游ゴシック Medium"/>
              </a:rPr>
              <a:t>≪ポイント≫</a:t>
            </a:r>
          </a:p>
          <a:p>
            <a:pPr algn="l">
              <a:spcAft>
                <a:spcPts val="300"/>
              </a:spcAft>
            </a:pPr>
            <a:r>
              <a:rPr sz="800" b="0">
                <a:solidFill>
                  <a:srgbClr val="000000"/>
                </a:solidFill>
                <a:latin typeface="游ゴシック Medium"/>
                <a:ea typeface="游ゴシック Medium"/>
              </a:rPr>
              <a:t>・35・36期の雑収入には㈱ホンダロジスティクスからの立退解決金各10,000千円（非経常）を含む。</a:t>
            </a:r>
          </a:p>
          <a:p>
            <a:pPr algn="l">
              <a:spcAft>
                <a:spcPts val="300"/>
              </a:spcAft>
            </a:pPr>
            <a:r>
              <a:rPr sz="800" b="0">
                <a:solidFill>
                  <a:srgbClr val="000000"/>
                </a:solidFill>
                <a:latin typeface="游ゴシック Medium"/>
                <a:ea typeface="游ゴシック Medium"/>
              </a:rPr>
              <a:t>・36期の「決算整理差額」371円は元帳と決算書の差額（要確認）。</a:t>
            </a:r>
          </a:p>
          <a:p>
            <a:pPr algn="l">
              <a:spcAft>
                <a:spcPts val="300"/>
              </a:spcAft>
            </a:pPr>
            <a:r>
              <a:rPr sz="800" b="0">
                <a:solidFill>
                  <a:srgbClr val="000000"/>
                </a:solidFill>
                <a:latin typeface="游ゴシック Medium"/>
                <a:ea typeface="游ゴシック Medium"/>
              </a:rPr>
              <a:t>・37期の支払利息885千円には信用保証料106千円を含む。</a:t>
            </a:r>
          </a:p>
        </p:txBody>
      </p:sp>
      <p:sp>
        <p:nvSpPr>
          <p:cNvPr id="16" name="Rectangle 15"/>
          <p:cNvSpPr/>
          <p:nvPr/>
        </p:nvSpPr>
        <p:spPr>
          <a:xfrm>
            <a:off x="310896" y="6812280"/>
            <a:ext cx="10040112"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※進行期は2026年6～7月の試算表（2か月）。</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売上原価（製造原価）の内訳</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財務情報詳細</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原価の中心は賃金（37期80百万円）・外注費（66百万円）・原材料（65百万円）・賃借料（25百万円）。37期は外注費が人材活用の拡大で増加した。</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nvGraphicFramePr>
        <p:xfrm>
          <a:off x="310896" y="1463040"/>
          <a:ext cx="8092440" cy="4796028"/>
        </p:xfrm>
        <a:graphic>
          <a:graphicData uri="http://schemas.openxmlformats.org/drawingml/2006/table">
            <a:tbl>
              <a:tblPr firstRow="0" bandRow="0" firstCol="0" lastRow="0" lastCol="0" bandCol="0"/>
              <a:tblGrid>
                <a:gridCol w="3017520"/>
                <a:gridCol w="1234440"/>
                <a:gridCol w="1234440"/>
                <a:gridCol w="1234440"/>
                <a:gridCol w="1371600"/>
              </a:tblGrid>
              <a:tr h="365760">
                <a:tc>
                  <a:txBody>
                    <a:bodyPr wrap="square"/>
                    <a:lstStyle/>
                    <a:p>
                      <a:pPr algn="ctr"/>
                      <a:r>
                        <a:rPr sz="850" b="1">
                          <a:solidFill>
                            <a:srgbClr val="FFFFFF"/>
                          </a:solidFill>
                          <a:latin typeface="游ゴシック"/>
                          <a:ea typeface="游ゴシック"/>
                        </a:rPr>
                        <a:t>(単位：千円)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24年5月期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25年5月期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26年5月期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進行期</a:t>
                      </a:r>
                    </a:p>
                    <a:p>
                      <a:pPr algn="ctr"/>
                      <a:r>
                        <a:rPr sz="850" b="1">
                          <a:solidFill>
                            <a:srgbClr val="FFFFFF"/>
                          </a:solidFill>
                          <a:latin typeface="游ゴシック"/>
                          <a:ea typeface="游ゴシック"/>
                        </a:rPr>
                        <a:t>（26年6～7月）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33172">
                <a:tc>
                  <a:txBody>
                    <a:bodyPr wrap="square"/>
                    <a:lstStyle/>
                    <a:p>
                      <a:pPr algn="l"/>
                      <a:r>
                        <a:rPr sz="850" b="0">
                          <a:solidFill>
                            <a:srgbClr val="000000"/>
                          </a:solidFill>
                          <a:latin typeface="游ゴシック"/>
                          <a:ea typeface="游ゴシック"/>
                        </a:rPr>
                        <a:t>原材料仕入高</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65,662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65,453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13,718</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1">
                          <a:solidFill>
                            <a:srgbClr val="000000"/>
                          </a:solidFill>
                          <a:latin typeface="游ゴシック"/>
                          <a:ea typeface="游ゴシック"/>
                        </a:rPr>
                        <a:t>材料費</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65,662</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65,453</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13,718</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33172">
                <a:tc>
                  <a:txBody>
                    <a:bodyPr wrap="square"/>
                    <a:lstStyle/>
                    <a:p>
                      <a:pPr algn="l"/>
                      <a:r>
                        <a:rPr sz="850" b="0">
                          <a:solidFill>
                            <a:srgbClr val="000000"/>
                          </a:solidFill>
                          <a:latin typeface="游ゴシック"/>
                          <a:ea typeface="游ゴシック"/>
                        </a:rPr>
                        <a:t>賃金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103,296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91,291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80,444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12,464</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賞与</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法定福利費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18,294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15,365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15,076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2,083</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厚生費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4,570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3,606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3,714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661</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1">
                          <a:solidFill>
                            <a:srgbClr val="000000"/>
                          </a:solidFill>
                          <a:latin typeface="游ゴシック"/>
                          <a:ea typeface="游ゴシック"/>
                        </a:rPr>
                        <a:t>労務費</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126,361</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110,262</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99,234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15,207</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33172">
                <a:tc>
                  <a:txBody>
                    <a:bodyPr wrap="square"/>
                    <a:lstStyle/>
                    <a:p>
                      <a:pPr algn="l"/>
                      <a:r>
                        <a:rPr sz="850" b="1">
                          <a:solidFill>
                            <a:srgbClr val="000000"/>
                          </a:solidFill>
                          <a:latin typeface="游ゴシック"/>
                          <a:ea typeface="游ゴシック"/>
                        </a:rPr>
                        <a:t>外注費</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116,300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43,454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65,766</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15,277</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33172">
                <a:tc>
                  <a:txBody>
                    <a:bodyPr wrap="square"/>
                    <a:lstStyle/>
                    <a:p>
                      <a:pPr algn="l"/>
                      <a:r>
                        <a:rPr sz="850" b="0">
                          <a:solidFill>
                            <a:srgbClr val="000000"/>
                          </a:solidFill>
                          <a:latin typeface="游ゴシック"/>
                          <a:ea typeface="游ゴシック"/>
                        </a:rPr>
                        <a:t>水道光熱費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2,633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2,935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443</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運賃</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30,155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13,027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9,992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1,792</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消耗品費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57,210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507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531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86</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減価償却費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545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545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修繕費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465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1,539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843</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賃借料</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18,580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24,372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25,246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4,362</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租税公課</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99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84</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退職金共済事業団掛金</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3,460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2,870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2,380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350</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0">
                          <a:solidFill>
                            <a:srgbClr val="000000"/>
                          </a:solidFill>
                          <a:latin typeface="游ゴシック"/>
                          <a:ea typeface="游ゴシック"/>
                        </a:rPr>
                        <a:t>雑費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608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614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175</a:t>
                      </a:r>
                    </a:p>
                  </a:txBody>
                  <a:tcPr marL="45720" marR="45720" marT="9144" marB="9144" anchor="ctr">
                    <a:lnL>
                      <a:noFill/>
                    </a:lnL>
                    <a:lnR>
                      <a:noFill/>
                    </a:lnR>
                    <a:lnT>
                      <a:noFill/>
                    </a:lnT>
                    <a:lnB w="6350" cap="flat" cmpd="sng" algn="ctr">
                      <a:solidFill>
                        <a:srgbClr val="A6A6A6"/>
                      </a:solidFill>
                      <a:prstDash val="solid"/>
                    </a:lnB>
                    <a:noFill/>
                  </a:tcPr>
                </a:tc>
              </a:tr>
              <a:tr h="233172">
                <a:tc>
                  <a:txBody>
                    <a:bodyPr wrap="square"/>
                    <a:lstStyle/>
                    <a:p>
                      <a:pPr algn="l"/>
                      <a:r>
                        <a:rPr sz="850" b="1">
                          <a:solidFill>
                            <a:srgbClr val="000000"/>
                          </a:solidFill>
                          <a:latin typeface="游ゴシック"/>
                          <a:ea typeface="游ゴシック"/>
                        </a:rPr>
                        <a:t>経費</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110,415</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45,373</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43,337</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8,135</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r h="233172">
                <a:tc>
                  <a:txBody>
                    <a:bodyPr wrap="square"/>
                    <a:lstStyle/>
                    <a:p>
                      <a:pPr algn="l"/>
                      <a:r>
                        <a:rPr sz="850" b="1">
                          <a:solidFill>
                            <a:srgbClr val="000000"/>
                          </a:solidFill>
                          <a:latin typeface="游ゴシック"/>
                          <a:ea typeface="游ゴシック"/>
                        </a:rPr>
                        <a:t>当期製造原価</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353,076</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264,751</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273,790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52,337</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bl>
          </a:graphicData>
        </a:graphic>
      </p:graphicFrame>
      <p:sp>
        <p:nvSpPr>
          <p:cNvPr id="15" name="Rectangle 14"/>
          <p:cNvSpPr/>
          <p:nvPr/>
        </p:nvSpPr>
        <p:spPr>
          <a:xfrm>
            <a:off x="8503920" y="1463040"/>
            <a:ext cx="1828800" cy="50292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300"/>
              </a:spcAft>
            </a:pPr>
            <a:r>
              <a:rPr sz="800" b="1">
                <a:solidFill>
                  <a:srgbClr val="0B3041"/>
                </a:solidFill>
                <a:latin typeface="游ゴシック Medium"/>
                <a:ea typeface="游ゴシック Medium"/>
              </a:rPr>
              <a:t>≪ポイント≫</a:t>
            </a:r>
          </a:p>
          <a:p>
            <a:pPr algn="l">
              <a:spcAft>
                <a:spcPts val="300"/>
              </a:spcAft>
            </a:pPr>
            <a:r>
              <a:rPr sz="800" b="0">
                <a:solidFill>
                  <a:srgbClr val="000000"/>
                </a:solidFill>
                <a:latin typeface="游ゴシック Medium"/>
                <a:ea typeface="游ゴシック Medium"/>
              </a:rPr>
              <a:t>・35期は梱包資材を消耗品費で処理（57百万円）。36期以降は原材料仕入高に計上。</a:t>
            </a:r>
          </a:p>
          <a:p>
            <a:pPr algn="l">
              <a:spcAft>
                <a:spcPts val="300"/>
              </a:spcAft>
            </a:pPr>
            <a:r>
              <a:rPr sz="800" b="0">
                <a:solidFill>
                  <a:srgbClr val="000000"/>
                </a:solidFill>
                <a:latin typeface="游ゴシック Medium"/>
                <a:ea typeface="游ゴシック Medium"/>
              </a:rPr>
              <a:t>・賃借料は倉庫・事務所家賃（航空集配サービス）とフォークリフト等のレンタル料。</a:t>
            </a:r>
          </a:p>
          <a:p>
            <a:pPr algn="l">
              <a:spcAft>
                <a:spcPts val="300"/>
              </a:spcAft>
            </a:pPr>
            <a:r>
              <a:rPr sz="800" b="0">
                <a:solidFill>
                  <a:srgbClr val="000000"/>
                </a:solidFill>
                <a:latin typeface="游ゴシック Medium"/>
                <a:ea typeface="游ゴシック Medium"/>
              </a:rPr>
              <a:t>・退職金共済掛金は中小企業退職金共済への拠出。</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販売費及び一般管理費</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財務情報詳細</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販管費は16～20百万円で推移。役員報酬は35期5.8百万円から37期3.8百万円へ減額。手数料・保険料・賃借料が主な項目。</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nvGraphicFramePr>
        <p:xfrm>
          <a:off x="310896" y="1463040"/>
          <a:ext cx="8092440" cy="4974336"/>
        </p:xfrm>
        <a:graphic>
          <a:graphicData uri="http://schemas.openxmlformats.org/drawingml/2006/table">
            <a:tbl>
              <a:tblPr firstRow="0" bandRow="0" firstCol="0" lastRow="0" lastCol="0" bandCol="0"/>
              <a:tblGrid>
                <a:gridCol w="3017520"/>
                <a:gridCol w="1234440"/>
                <a:gridCol w="1234440"/>
                <a:gridCol w="1234440"/>
                <a:gridCol w="1371600"/>
              </a:tblGrid>
              <a:tr h="365760">
                <a:tc>
                  <a:txBody>
                    <a:bodyPr wrap="square"/>
                    <a:lstStyle/>
                    <a:p>
                      <a:pPr algn="ctr"/>
                      <a:r>
                        <a:rPr sz="850" b="1">
                          <a:solidFill>
                            <a:srgbClr val="FFFFFF"/>
                          </a:solidFill>
                          <a:latin typeface="游ゴシック"/>
                          <a:ea typeface="游ゴシック"/>
                        </a:rPr>
                        <a:t>(単位：千円)</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24年5月期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25年5月期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26年5月期</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850" b="1">
                          <a:solidFill>
                            <a:srgbClr val="FFFFFF"/>
                          </a:solidFill>
                          <a:latin typeface="游ゴシック"/>
                          <a:ea typeface="游ゴシック"/>
                        </a:rPr>
                        <a:t>進行期</a:t>
                      </a:r>
                    </a:p>
                    <a:p>
                      <a:pPr algn="ctr"/>
                      <a:r>
                        <a:rPr sz="850" b="1">
                          <a:solidFill>
                            <a:srgbClr val="FFFFFF"/>
                          </a:solidFill>
                          <a:latin typeface="游ゴシック"/>
                          <a:ea typeface="游ゴシック"/>
                        </a:rPr>
                        <a:t>（26年6～7月）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219456">
                <a:tc>
                  <a:txBody>
                    <a:bodyPr wrap="square"/>
                    <a:lstStyle/>
                    <a:p>
                      <a:pPr algn="l"/>
                      <a:r>
                        <a:rPr sz="850" b="0">
                          <a:solidFill>
                            <a:srgbClr val="000000"/>
                          </a:solidFill>
                          <a:latin typeface="游ゴシック"/>
                          <a:ea typeface="游ゴシック"/>
                        </a:rPr>
                        <a:t>役員報酬</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5,820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4,320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3,820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637</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給料手当</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2,556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2,561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2,563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426</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厚生費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186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303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278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21</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荷造運賃</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2,597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減価償却費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962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835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賃借料</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2,751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2,534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2,973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524</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修繕費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390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403</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事務用品費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112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201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85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18</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消耗品費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608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286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181</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55</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水道光熱費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2,802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145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206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31</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旅費交通費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通信費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700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1,104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1,025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235</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手数料</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1,519</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2,388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2,295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289</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租税公課</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155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58</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交際接待費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14</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保険料</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967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1,027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1,147</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152</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諸会費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車輌費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705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484</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495</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66</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新聞図書費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96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102</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30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0">
                          <a:solidFill>
                            <a:srgbClr val="000000"/>
                          </a:solidFill>
                          <a:latin typeface="游ゴシック"/>
                          <a:ea typeface="游ゴシック"/>
                        </a:rPr>
                        <a:t>雑費</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76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50</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56</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r"/>
                      <a:r>
                        <a:rPr sz="850" b="0">
                          <a:solidFill>
                            <a:srgbClr val="000000"/>
                          </a:solidFill>
                          <a:latin typeface="Arial"/>
                          <a:ea typeface="游ゴシック Medium"/>
                        </a:rPr>
                        <a:t>20</a:t>
                      </a:r>
                    </a:p>
                  </a:txBody>
                  <a:tcPr marL="45720" marR="45720" marT="9144" marB="9144" anchor="ctr">
                    <a:lnL>
                      <a:noFill/>
                    </a:lnL>
                    <a:lnR>
                      <a:noFill/>
                    </a:lnR>
                    <a:lnT>
                      <a:noFill/>
                    </a:lnT>
                    <a:lnB w="6350" cap="flat" cmpd="sng" algn="ctr">
                      <a:solidFill>
                        <a:srgbClr val="A6A6A6"/>
                      </a:solidFill>
                      <a:prstDash val="solid"/>
                    </a:lnB>
                    <a:noFill/>
                  </a:tcPr>
                </a:tc>
              </a:tr>
              <a:tr h="219456">
                <a:tc>
                  <a:txBody>
                    <a:bodyPr wrap="square"/>
                    <a:lstStyle/>
                    <a:p>
                      <a:pPr algn="l"/>
                      <a:r>
                        <a:rPr sz="850" b="1">
                          <a:solidFill>
                            <a:srgbClr val="000000"/>
                          </a:solidFill>
                          <a:latin typeface="游ゴシック"/>
                          <a:ea typeface="游ゴシック"/>
                        </a:rPr>
                        <a:t>販売費及び一般管理費合計</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19,182</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19,710</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16,503</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c>
                  <a:txBody>
                    <a:bodyPr wrap="square"/>
                    <a:lstStyle/>
                    <a:p>
                      <a:pPr algn="r"/>
                      <a:r>
                        <a:rPr sz="850" b="1">
                          <a:solidFill>
                            <a:srgbClr val="000000"/>
                          </a:solidFill>
                          <a:latin typeface="Arial"/>
                          <a:ea typeface="游ゴシック Medium"/>
                        </a:rPr>
                        <a:t>2,494</a:t>
                      </a:r>
                    </a:p>
                  </a:txBody>
                  <a:tcPr marL="45720" marR="45720" marT="9144" marB="9144" anchor="ctr">
                    <a:lnL>
                      <a:noFill/>
                    </a:lnL>
                    <a:lnR>
                      <a:noFill/>
                    </a:lnR>
                    <a:lnT w="12700" cap="flat" cmpd="sng" algn="ctr">
                      <a:solidFill>
                        <a:srgbClr val="0B3041"/>
                      </a:solidFill>
                      <a:prstDash val="solid"/>
                    </a:lnT>
                    <a:lnB w="12700" cap="flat" cmpd="sng" algn="ctr">
                      <a:solidFill>
                        <a:srgbClr val="0B3041"/>
                      </a:solidFill>
                      <a:prstDash val="solid"/>
                    </a:lnB>
                    <a:solidFill>
                      <a:srgbClr val="E3E7E9"/>
                    </a:solidFill>
                  </a:tcPr>
                </a:tc>
              </a:tr>
            </a:tbl>
          </a:graphicData>
        </a:graphic>
      </p:graphicFrame>
      <p:sp>
        <p:nvSpPr>
          <p:cNvPr id="15" name="Rectangle 14"/>
          <p:cNvSpPr/>
          <p:nvPr/>
        </p:nvSpPr>
        <p:spPr>
          <a:xfrm>
            <a:off x="8503920" y="1463040"/>
            <a:ext cx="1828800" cy="50292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spcAft>
                <a:spcPts val="300"/>
              </a:spcAft>
            </a:pPr>
            <a:r>
              <a:rPr sz="800" b="1">
                <a:solidFill>
                  <a:srgbClr val="0B3041"/>
                </a:solidFill>
                <a:latin typeface="游ゴシック Medium"/>
                <a:ea typeface="游ゴシック Medium"/>
              </a:rPr>
              <a:t>≪ポイント≫</a:t>
            </a:r>
          </a:p>
          <a:p>
            <a:pPr algn="l">
              <a:spcAft>
                <a:spcPts val="300"/>
              </a:spcAft>
            </a:pPr>
            <a:r>
              <a:rPr sz="800" b="0">
                <a:solidFill>
                  <a:srgbClr val="000000"/>
                </a:solidFill>
                <a:latin typeface="游ゴシック Medium"/>
                <a:ea typeface="游ゴシック Medium"/>
              </a:rPr>
              <a:t>・35期の水道光熱費2.8百万円は旧拠点分と推察。移転後は主に製造原価に計上。</a:t>
            </a:r>
          </a:p>
          <a:p>
            <a:pPr algn="l">
              <a:spcAft>
                <a:spcPts val="300"/>
              </a:spcAft>
            </a:pPr>
            <a:r>
              <a:rPr sz="800" b="0">
                <a:solidFill>
                  <a:srgbClr val="000000"/>
                </a:solidFill>
                <a:latin typeface="游ゴシック Medium"/>
                <a:ea typeface="游ゴシック Medium"/>
              </a:rPr>
              <a:t>・保険料1.1百万円の内容（掛捨て／積立）は要確認。</a:t>
            </a:r>
          </a:p>
          <a:p>
            <a:pPr algn="l">
              <a:spcAft>
                <a:spcPts val="300"/>
              </a:spcAft>
            </a:pPr>
            <a:r>
              <a:rPr sz="800" b="0">
                <a:solidFill>
                  <a:srgbClr val="000000"/>
                </a:solidFill>
                <a:latin typeface="游ゴシック Medium"/>
                <a:ea typeface="游ゴシック Medium"/>
              </a:rPr>
              <a:t>・減価償却費は37期に全額販管費へ計上。</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月次業績の推移</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財務情報詳細</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37期の月次売上高は20～25百万円で安定。営業損益は△0.1～△2.3百万円で推移し、進行期の2026年7月は黒字化した。</a:t>
            </a:r>
            <a:endParaRPr lang="en-US" altLang="ja-JP" dirty="0">
              <a:latin typeface="游ゴシック" panose="020B0400000000000000" pitchFamily="50" charset="-128"/>
              <a:ea typeface="游ゴシック" panose="020B0400000000000000" pitchFamily="50" charset="-128"/>
            </a:endParaRPr>
          </a:p>
        </p:txBody>
      </p:sp>
      <p:pic>
        <p:nvPicPr>
          <p:cNvPr id="14" name="Picture 13" descr="chart_month.png"/>
          <p:cNvPicPr>
            <a:picLocks noChangeAspect="1"/>
          </p:cNvPicPr>
          <p:nvPr/>
        </p:nvPicPr>
        <p:blipFill>
          <a:blip r:embed="rId3"/>
          <a:stretch>
            <a:fillRect/>
          </a:stretch>
        </p:blipFill>
        <p:spPr>
          <a:xfrm>
            <a:off x="310896" y="1417320"/>
            <a:ext cx="10040112" cy="3904488"/>
          </a:xfrm>
          <a:prstGeom prst="rect">
            <a:avLst/>
          </a:prstGeom>
        </p:spPr>
      </p:pic>
      <p:sp>
        <p:nvSpPr>
          <p:cNvPr id="15" name="Rectangle 14"/>
          <p:cNvSpPr/>
          <p:nvPr/>
        </p:nvSpPr>
        <p:spPr>
          <a:xfrm>
            <a:off x="310896" y="5440680"/>
            <a:ext cx="10040112"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※総勘定元帳の月次集計（成田・つくば合算）。2026年5月の営業損益には年間の減価償却費835千円を含む。37期の合計は決算書と一致。</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沿革</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Appendix</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1990年に有限会社として設立。2024年8月に成田エアポート物流ビジネスセンターへ本店を移転し、同年12月に保税蔵置場許可を取得して梱包＋保税の体制を整えた。</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nvGraphicFramePr>
        <p:xfrm>
          <a:off x="310896" y="1463040"/>
          <a:ext cx="10040112" cy="4608576"/>
        </p:xfrm>
        <a:graphic>
          <a:graphicData uri="http://schemas.openxmlformats.org/drawingml/2006/table">
            <a:tbl>
              <a:tblPr firstRow="0" bandRow="0" firstCol="0" lastRow="0" lastCol="0" bandCol="0"/>
              <a:tblGrid>
                <a:gridCol w="1463040"/>
                <a:gridCol w="8577072"/>
              </a:tblGrid>
              <a:tr h="329184">
                <a:tc>
                  <a:txBody>
                    <a:bodyPr wrap="square"/>
                    <a:lstStyle/>
                    <a:p>
                      <a:pPr algn="ctr"/>
                      <a:r>
                        <a:rPr sz="950" b="1">
                          <a:solidFill>
                            <a:srgbClr val="FFFFFF"/>
                          </a:solidFill>
                          <a:latin typeface="游ゴシック"/>
                          <a:ea typeface="游ゴシック"/>
                        </a:rPr>
                        <a:t>年月</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c>
                  <a:txBody>
                    <a:bodyPr wrap="square"/>
                    <a:lstStyle/>
                    <a:p>
                      <a:pPr algn="ctr"/>
                      <a:r>
                        <a:rPr sz="950" b="1">
                          <a:solidFill>
                            <a:srgbClr val="FFFFFF"/>
                          </a:solidFill>
                          <a:latin typeface="游ゴシック"/>
                          <a:ea typeface="游ゴシック"/>
                        </a:rPr>
                        <a:t>出来事</a:t>
                      </a:r>
                    </a:p>
                  </a:txBody>
                  <a:tcPr marL="45720" marR="45720" marT="9144" marB="9144" anchor="ctr">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solidFill>
                      <a:srgbClr val="0B3041"/>
                    </a:solidFill>
                  </a:tcPr>
                </a:tc>
              </a:tr>
              <a:tr h="329184">
                <a:tc>
                  <a:txBody>
                    <a:bodyPr wrap="square"/>
                    <a:lstStyle/>
                    <a:p>
                      <a:pPr algn="ctr"/>
                      <a:r>
                        <a:rPr sz="950" b="1">
                          <a:solidFill>
                            <a:srgbClr val="000000"/>
                          </a:solidFill>
                          <a:latin typeface="游ゴシック"/>
                          <a:ea typeface="游ゴシック"/>
                        </a:rPr>
                        <a:t>1990年5月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有限会社高塚商事として設立</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2004年7月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株式会社へ組織変更</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2005年3月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旧拠点（芝山町菱田）に掘り井戸・舗装等を整備（構築物取得）</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2011年12月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旧拠点にテント倉庫を設置</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2013年6月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段ボール裁断機（レシプロカッティングツール）を導入</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2013年7月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事業目的に倉庫業・労働者派遣事業・貨物利用運送事業等を追加</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2019年3月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庄司和夫が代表取締役に就任。本店を芝山町菱田へ移転</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2022年9月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DHLグローバルフォワーディングジャパン㈱と物品・役務取引基本契約を締結</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2024年8月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本店を成田エアポート物流ビジネスセンター（芝山町岩山）へ移転</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2024年12月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東京税関より保税蔵置場の許可を取得（成田 保税蔵置場）</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2025年1月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日本政策金融公庫より20,000千円を借入</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2025年6月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DHL新千歳拠点での輸出入オペレーション事務の受託を開始</a:t>
                      </a:r>
                    </a:p>
                  </a:txBody>
                  <a:tcPr marL="45720" marR="45720" marT="9144" marB="9144" anchor="ctr">
                    <a:lnL>
                      <a:noFill/>
                    </a:lnL>
                    <a:lnR>
                      <a:noFill/>
                    </a:lnR>
                    <a:lnT>
                      <a:noFill/>
                    </a:lnT>
                    <a:lnB w="6350" cap="flat" cmpd="sng" algn="ctr">
                      <a:solidFill>
                        <a:srgbClr val="A6A6A6"/>
                      </a:solidFill>
                      <a:prstDash val="solid"/>
                    </a:lnB>
                    <a:noFill/>
                  </a:tcPr>
                </a:tc>
              </a:tr>
              <a:tr h="329184">
                <a:tc>
                  <a:txBody>
                    <a:bodyPr wrap="square"/>
                    <a:lstStyle/>
                    <a:p>
                      <a:pPr algn="ctr"/>
                      <a:r>
                        <a:rPr sz="950" b="1">
                          <a:solidFill>
                            <a:srgbClr val="000000"/>
                          </a:solidFill>
                          <a:latin typeface="游ゴシック"/>
                          <a:ea typeface="游ゴシック"/>
                        </a:rPr>
                        <a:t>2026年5月</a:t>
                      </a:r>
                    </a:p>
                  </a:txBody>
                  <a:tcPr marL="45720" marR="45720" marT="9144" marB="9144" anchor="ctr">
                    <a:lnL>
                      <a:noFill/>
                    </a:lnL>
                    <a:lnR>
                      <a:noFill/>
                    </a:lnR>
                    <a:lnT>
                      <a:noFill/>
                    </a:lnT>
                    <a:lnB w="6350" cap="flat" cmpd="sng" algn="ctr">
                      <a:solidFill>
                        <a:srgbClr val="A6A6A6"/>
                      </a:solidFill>
                      <a:prstDash val="solid"/>
                    </a:lnB>
                    <a:noFill/>
                  </a:tcPr>
                </a:tc>
                <a:tc>
                  <a:txBody>
                    <a:bodyPr wrap="square"/>
                    <a:lstStyle/>
                    <a:p>
                      <a:pPr algn="l"/>
                      <a:r>
                        <a:rPr sz="950" b="0">
                          <a:solidFill>
                            <a:srgbClr val="000000"/>
                          </a:solidFill>
                          <a:latin typeface="游ゴシック"/>
                          <a:ea typeface="游ゴシック"/>
                        </a:rPr>
                        <a:t>倉庫・事務所の定期建物転貸借契約（2029年4月まで）を締結</a:t>
                      </a:r>
                    </a:p>
                  </a:txBody>
                  <a:tcPr marL="45720" marR="45720" marT="9144" marB="9144" anchor="ctr">
                    <a:lnL>
                      <a:noFill/>
                    </a:lnL>
                    <a:lnR>
                      <a:noFill/>
                    </a:lnR>
                    <a:lnT>
                      <a:noFill/>
                    </a:lnT>
                    <a:lnB w="6350" cap="flat" cmpd="sng" algn="ctr">
                      <a:solidFill>
                        <a:srgbClr val="A6A6A6"/>
                      </a:solidFill>
                      <a:prstDash val="solid"/>
                    </a:lnB>
                    <a:noFill/>
                  </a:tcPr>
                </a:tc>
              </a:tr>
            </a:tbl>
          </a:graphicData>
        </a:graphic>
      </p:graphicFrame>
      <p:sp>
        <p:nvSpPr>
          <p:cNvPr id="15" name="Rectangle 14"/>
          <p:cNvSpPr/>
          <p:nvPr/>
        </p:nvSpPr>
        <p:spPr>
          <a:xfrm>
            <a:off x="310896" y="6309360"/>
            <a:ext cx="10040112"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a:lstStyle/>
          <a:p>
            <a:pPr algn="l"/>
            <a:r>
              <a:rPr sz="800" b="0">
                <a:solidFill>
                  <a:srgbClr val="000000"/>
                </a:solidFill>
                <a:latin typeface="游ゴシック Medium"/>
                <a:ea typeface="游ゴシック Medium"/>
              </a:rPr>
              <a:t>※登記簿、法人税申告書、固定資産台帳、各契約書より作成。創業時の経緯・事業内容の変遷は要確認。</a:t>
            </a:r>
          </a:p>
        </p:txBody>
      </p:sp>
    </p:spTree>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18255</TotalTime>
  <Words>19068</Words>
  <Application>Microsoft Office PowerPoint</Application>
  <PresentationFormat>ユーザー設定</PresentationFormat>
  <Paragraphs>7417</Paragraphs>
  <Slides>64</Slides>
  <Notes>52</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64</vt:i4>
      </vt:variant>
    </vt:vector>
  </HeadingPairs>
  <TitlesOfParts>
    <vt:vector size="70" baseType="lpstr">
      <vt:lpstr>ＭＳ Ｐゴシック</vt:lpstr>
      <vt:lpstr>游ゴシック</vt:lpstr>
      <vt:lpstr>游ゴシック</vt:lpstr>
      <vt:lpstr>游ゴシック Medium</vt:lpstr>
      <vt:lpstr>Arial</vt:lpstr>
      <vt:lpstr>SL_2026</vt:lpstr>
      <vt:lpstr>企業概要書  &lt;水産養殖業／関西&gt;</vt:lpstr>
      <vt:lpstr>はじめに</vt:lpstr>
      <vt:lpstr>PowerPoint プレゼンテーション</vt:lpstr>
      <vt:lpstr>エグゼクティブサマリー</vt:lpstr>
      <vt:lpstr>基本情報</vt:lpstr>
      <vt:lpstr>事業概要</vt:lpstr>
      <vt:lpstr>財務ハイライト（P/L）</vt:lpstr>
      <vt:lpstr>財務ハイライト（B/S）</vt:lpstr>
      <vt:lpstr>譲渡希望条件</vt:lpstr>
      <vt:lpstr>事業概要</vt:lpstr>
      <vt:lpstr>事業内容</vt:lpstr>
      <vt:lpstr>生産サイクル</vt:lpstr>
      <vt:lpstr>参考｜天然琵琶湖産鮎と人工種苗の特性・用途比較</vt:lpstr>
      <vt:lpstr>事業別売上高</vt:lpstr>
      <vt:lpstr>商品・用途別の顧客構成</vt:lpstr>
      <vt:lpstr>特徴</vt:lpstr>
      <vt:lpstr>主要得意先の3期推移</vt:lpstr>
      <vt:lpstr>主要仕入先の3期推移</vt:lpstr>
      <vt:lpstr>仕入・販売における価格形成の仕組み</vt:lpstr>
      <vt:lpstr>組織、拠点、設備等</vt:lpstr>
      <vt:lpstr>組織図</vt:lpstr>
      <vt:lpstr>株主及び役員</vt:lpstr>
      <vt:lpstr>従業員一覧</vt:lpstr>
      <vt:lpstr>拠点概要（本社）</vt:lpstr>
      <vt:lpstr>不動産概況</vt:lpstr>
      <vt:lpstr>不動産の担保設定・権利関係</vt:lpstr>
      <vt:lpstr>不動産詳細｜法人所有分①（土地）</vt:lpstr>
      <vt:lpstr>不動産詳細｜法人所有分②（建物）</vt:lpstr>
      <vt:lpstr>不動産詳細｜法人所有分③（建物・本社／長浜市）</vt:lpstr>
      <vt:lpstr>不動産詳細｜社長所有分①（土地・彦根市）</vt:lpstr>
      <vt:lpstr>不動産詳細｜社長所有分②（土地・長浜市／建物）</vt:lpstr>
      <vt:lpstr>拠点概要（養魚場一覧）</vt:lpstr>
      <vt:lpstr>拠点概要（養魚場所在地）</vt:lpstr>
      <vt:lpstr>拠点概要（養殖池の全景）</vt:lpstr>
      <vt:lpstr>拠点概要（養殖池概況｜写真①）</vt:lpstr>
      <vt:lpstr>拠点概要（養殖池概況｜写真②）</vt:lpstr>
      <vt:lpstr>拠点概要（養殖池概況｜写真③）</vt:lpstr>
      <vt:lpstr>拠点概要（養殖池概況｜写真③）</vt:lpstr>
      <vt:lpstr>保有設備一覧①</vt:lpstr>
      <vt:lpstr>保有設備一覧②</vt:lpstr>
      <vt:lpstr>保有設備一覧③</vt:lpstr>
      <vt:lpstr>保有設備一覧④</vt:lpstr>
      <vt:lpstr>保有設備一覧⑤</vt:lpstr>
      <vt:lpstr>保有設備一覧⑤</vt:lpstr>
      <vt:lpstr>保有設備一覧⑥</vt:lpstr>
      <vt:lpstr>保有設備一覧⑦</vt:lpstr>
      <vt:lpstr>保有設備一覧⑧</vt:lpstr>
      <vt:lpstr>保有設備一覧⑨</vt:lpstr>
      <vt:lpstr>保有設備一覧⑩</vt:lpstr>
      <vt:lpstr>保有設備一覧⑪</vt:lpstr>
      <vt:lpstr>保有設備一覧⑫</vt:lpstr>
      <vt:lpstr>保有設備一覧⑬</vt:lpstr>
      <vt:lpstr>保有設備一覧⑭</vt:lpstr>
      <vt:lpstr>許認可一覧</vt:lpstr>
      <vt:lpstr>財務情報詳細</vt:lpstr>
      <vt:lpstr>貸借対照表</vt:lpstr>
      <vt:lpstr>損益計算書</vt:lpstr>
      <vt:lpstr>販売費及び一般管理費</vt:lpstr>
      <vt:lpstr>Appendix</vt:lpstr>
      <vt:lpstr>沿革</vt:lpstr>
      <vt:lpstr>代表者経歴</vt:lpstr>
      <vt:lpstr>その他補足情報</vt:lpstr>
      <vt:lpstr>報酬体系</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宮本 健</dc:creator>
  <cp:lastModifiedBy>田垣内 啓介</cp:lastModifiedBy>
  <cp:revision>202</cp:revision>
  <cp:lastPrinted>2026-09-18T11:11:13Z</cp:lastPrinted>
  <dcterms:created xsi:type="dcterms:W3CDTF">2022-11-09T11:25:01Z</dcterms:created>
  <dcterms:modified xsi:type="dcterms:W3CDTF">2026-10-14T13:13:26Z</dcterms:modified>
</cp:coreProperties>
</file>