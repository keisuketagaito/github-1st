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66"/>
  </p:notesMasterIdLst>
  <p:sldIdLst>
    <p:sldId id="770" r:id="rId2"/>
    <p:sldId id="269" r:id="rId3"/>
    <p:sldId id="693" r:id="rId4"/>
    <p:sldId id="749" r:id="rId5"/>
    <p:sldId id="846" r:id="rId72"/>
    <p:sldId id="847" r:id="rId73"/>
    <p:sldId id="774" r:id="rId8"/>
    <p:sldId id="775" r:id="rId9"/>
    <p:sldId id="266" r:id="rId10"/>
    <p:sldId id="772" r:id="rId11"/>
    <p:sldId id="776" r:id="rId12"/>
    <p:sldId id="848" r:id="rId74"/>
    <p:sldId id="796" r:id="rId17"/>
    <p:sldId id="849" r:id="rId75"/>
    <p:sldId id="850" r:id="rId76"/>
    <p:sldId id="771" r:id="rId21"/>
    <p:sldId id="851" r:id="rId77"/>
    <p:sldId id="852" r:id="rId78"/>
    <p:sldId id="853" r:id="rId79"/>
    <p:sldId id="854" r:id="rId80"/>
    <p:sldId id="855" r:id="rId81"/>
    <p:sldId id="773" r:id="rId56"/>
    <p:sldId id="856" r:id="rId82"/>
    <p:sldId id="857" r:id="rId83"/>
    <p:sldId id="858" r:id="rId84"/>
    <p:sldId id="859" r:id="rId85"/>
    <p:sldId id="860" r:id="rId86"/>
    <p:sldId id="782" r:id="rId60"/>
    <p:sldId id="861" r:id="rId87"/>
    <p:sldId id="788" r:id="rId63"/>
    <p:sldId id="801" r:id="rId64"/>
    <p:sldId id="277" r:id="rId65"/>
  </p:sldIdLst>
  <p:sldSz cx="10691813" cy="7559675"/>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774"/>
            <p14:sldId id="775"/>
            <p14:sldId id="266"/>
            <p14:sldId id="772"/>
            <p14:sldId id="776"/>
            <p14:sldId id="844"/>
            <p14:sldId id="835"/>
            <p14:sldId id="810"/>
            <p14:sldId id="827"/>
            <p14:sldId id="796"/>
            <p14:sldId id="833"/>
            <p14:sldId id="834"/>
            <p14:sldId id="831"/>
            <p14:sldId id="771"/>
            <p14:sldId id="780"/>
            <p14:sldId id="789"/>
            <p14:sldId id="781"/>
            <p14:sldId id="836"/>
            <p14:sldId id="838"/>
            <p14:sldId id="839"/>
            <p14:sldId id="841"/>
            <p14:sldId id="840"/>
            <p14:sldId id="845"/>
            <p14:sldId id="842"/>
            <p14:sldId id="843"/>
            <p14:sldId id="793"/>
            <p14:sldId id="804"/>
            <p14:sldId id="805"/>
            <p14:sldId id="806"/>
            <p14:sldId id="808"/>
            <p14:sldId id="807"/>
            <p14:sldId id="809"/>
            <p14:sldId id="795"/>
            <p14:sldId id="811"/>
            <p14:sldId id="812"/>
            <p14:sldId id="813"/>
            <p14:sldId id="814"/>
            <p14:sldId id="815"/>
            <p14:sldId id="816"/>
            <p14:sldId id="817"/>
            <p14:sldId id="818"/>
            <p14:sldId id="819"/>
            <p14:sldId id="820"/>
            <p14:sldId id="821"/>
            <p14:sldId id="822"/>
            <p14:sldId id="823"/>
            <p14:sldId id="824"/>
            <p14:sldId id="802"/>
            <p14:sldId id="773"/>
            <p14:sldId id="784"/>
            <p14:sldId id="785"/>
            <p14:sldId id="787"/>
            <p14:sldId id="782"/>
            <p14:sldId id="783"/>
            <p14:sldId id="794"/>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8" userDrawn="1">
          <p15:clr>
            <a:srgbClr val="A4A3A4"/>
          </p15:clr>
        </p15:guide>
        <p15:guide id="2" pos="2140"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80"/>
    <a:srgbClr val="E7EFFB"/>
    <a:srgbClr val="E3E7E9"/>
    <a:srgbClr val="1F3864"/>
    <a:srgbClr val="003574"/>
    <a:srgbClr val="003775"/>
    <a:srgbClr val="EBEFF8"/>
    <a:srgbClr val="FBFBFC"/>
    <a:srgbClr val="0B3041"/>
    <a:srgbClr val="ECF2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60"/>
  </p:normalViewPr>
  <p:slideViewPr>
    <p:cSldViewPr snapToGrid="0">
      <p:cViewPr>
        <p:scale>
          <a:sx n="75" d="100"/>
          <a:sy n="75" d="100"/>
        </p:scale>
        <p:origin x="2328" y="61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7" Type="http://schemas.openxmlformats.org/officeDocument/2006/relationships/slide" Target="slides/slide16.xml"/><Relationship Id="rId21" Type="http://schemas.openxmlformats.org/officeDocument/2006/relationships/slide" Target="slides/slide20.xml"/><Relationship Id="rId56" Type="http://schemas.openxmlformats.org/officeDocument/2006/relationships/slide" Target="slides/slide55.xml"/><Relationship Id="rId60" Type="http://schemas.openxmlformats.org/officeDocument/2006/relationships/slide" Target="slides/slide59.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customschemas.google.com/relationships/presentationmetadata" Target="meta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 y="3"/>
            <a:ext cx="2944030" cy="497571"/>
          </a:xfrm>
          <a:prstGeom prst="rect">
            <a:avLst/>
          </a:prstGeom>
          <a:noFill/>
          <a:ln>
            <a:noFill/>
          </a:ln>
        </p:spPr>
        <p:txBody>
          <a:bodyPr spcFirstLastPara="1" wrap="square" lIns="88156" tIns="44066" rIns="88156" bIns="44066"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954" y="3"/>
            <a:ext cx="2944029" cy="497571"/>
          </a:xfrm>
          <a:prstGeom prst="rect">
            <a:avLst/>
          </a:prstGeom>
          <a:noFill/>
          <a:ln>
            <a:noFill/>
          </a:ln>
        </p:spPr>
        <p:txBody>
          <a:bodyPr spcFirstLastPara="1" wrap="square" lIns="88156" tIns="44066" rIns="88156" bIns="44066"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3" y="9433832"/>
            <a:ext cx="2944030" cy="497571"/>
          </a:xfrm>
          <a:prstGeom prst="rect">
            <a:avLst/>
          </a:prstGeom>
          <a:noFill/>
          <a:ln>
            <a:noFill/>
          </a:ln>
        </p:spPr>
        <p:txBody>
          <a:bodyPr spcFirstLastPara="1" wrap="square" lIns="88156" tIns="44066" rIns="88156" bIns="44066"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692150" y="860425"/>
            <a:ext cx="3278188" cy="2319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466729" y="3309247"/>
            <a:ext cx="3729663" cy="2706690"/>
          </a:xfrm>
          <a:prstGeom prst="rect">
            <a:avLst/>
          </a:prstGeom>
          <a:noFill/>
          <a:ln>
            <a:noFill/>
          </a:ln>
        </p:spPr>
        <p:txBody>
          <a:bodyPr spcFirstLastPara="1" wrap="square" lIns="60774" tIns="30388" rIns="60774" bIns="30388" anchor="t" anchorCtr="0">
            <a:noAutofit/>
          </a:bodyPr>
          <a:lstStyle/>
          <a:p>
            <a:endParaRPr dirty="0"/>
          </a:p>
        </p:txBody>
      </p:sp>
      <p:sp>
        <p:nvSpPr>
          <p:cNvPr id="257" name="Google Shape;257;p2:notes"/>
          <p:cNvSpPr txBox="1">
            <a:spLocks noGrp="1"/>
          </p:cNvSpPr>
          <p:nvPr>
            <p:ph type="sldNum" idx="12"/>
          </p:nvPr>
        </p:nvSpPr>
        <p:spPr>
          <a:xfrm>
            <a:off x="2640976" y="6531039"/>
            <a:ext cx="2020060" cy="344469"/>
          </a:xfrm>
          <a:prstGeom prst="rect">
            <a:avLst/>
          </a:prstGeom>
          <a:noFill/>
          <a:ln>
            <a:noFill/>
          </a:ln>
        </p:spPr>
        <p:txBody>
          <a:bodyPr spcFirstLastPara="1" wrap="square" lIns="60774" tIns="30388" rIns="60774" bIns="30388"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p>
            <a:pPr marL="0" indent="0"/>
            <a:endParaRPr/>
          </a:p>
        </p:txBody>
      </p:sp>
      <p:sp>
        <p:nvSpPr>
          <p:cNvPr id="268" name="Google Shape;268;p11:notes"/>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indent="0" defTabSz="629107">
              <a:buClrTx/>
              <a:buSzTx/>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10</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61</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8975" y="858838"/>
            <a:ext cx="3275013" cy="2317750"/>
          </a:xfrm>
        </p:spPr>
      </p:sp>
      <p:sp>
        <p:nvSpPr>
          <p:cNvPr id="3" name="ノート プレースホルダー 2"/>
          <p:cNvSpPr>
            <a:spLocks noGrp="1"/>
          </p:cNvSpPr>
          <p:nvPr>
            <p:ph type="body" idx="1"/>
          </p:nvPr>
        </p:nvSpPr>
        <p:spPr/>
        <p:txBody>
          <a:bodyPr/>
          <a:lstStyle/>
          <a:p>
            <a:pPr marL="0" indent="0" defTabSz="629107">
              <a:buClrTx/>
              <a:buSzTx/>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62</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jpeg"/><Relationship Id="rId3" Type="http://schemas.openxmlformats.org/officeDocument/2006/relationships/image" Target="../media/image7.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 Id="rId3" Type="http://schemas.openxmlformats.org/officeDocument/2006/relationships/image" Target="../media/image6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 Id="rId3" Type="http://schemas.openxmlformats.org/officeDocument/2006/relationships/image" Target="../media/image6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 Id="rId3" Type="http://schemas.openxmlformats.org/officeDocument/2006/relationships/image" Target="../media/image6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221787" cy="738664"/>
          </a:xfrm>
        </p:spPr>
        <p:txBody>
          <a:bodyPr/>
          <a:lstStyle/>
          <a:p>
            <a:r>
              <a:rPr lang="ja-JP" altLang="en-US" dirty="0"/>
              <a:t>企業概要書  </a:t>
            </a:r>
            <a:r>
              <a:rPr lang="ja-JP" altLang="en-US" sz="2400" dirty="0"/>
              <a:t>&lt;物流・梱包業／関東&gt;</a:t>
            </a:r>
            <a:endParaRPr lang="ja-JP" altLang="en-US" dirty="0"/>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1416780746"/>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a:t>
            </a:r>
            <a:r>
              <a:rPr lang="en-US" altLang="ja-JP" dirty="0">
                <a:latin typeface="游ゴシック" panose="020B0400000000000000" pitchFamily="50" charset="-128"/>
                <a:ea typeface="游ゴシック" panose="020B0400000000000000" pitchFamily="50" charset="-128"/>
              </a:rPr>
              <a:t>P/L</a:t>
            </a:r>
            <a:r>
              <a:rPr lang="ja-JP" altLang="en-US" dirty="0">
                <a:latin typeface="游ゴシック" panose="020B0400000000000000" pitchFamily="50" charset="-128"/>
                <a:ea typeface="游ゴシック" panose="020B0400000000000000" pitchFamily="50" charset="-128"/>
              </a:rPr>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売上高は35期357百万円から36期246百万円へ減少後、37期は279百万円へ回復。人件費・外注費・倉庫賃料など固定的な原価が大半を占め、3期連続で営業損失を計上。進行期（2か月）は営業損失△0.4百万円と縮小。</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5842000"/>
            <a:ext cx="3924999" cy="1301748"/>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610806"/>
            <a:ext cx="3924999" cy="413661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2169047"/>
            <a:ext cx="3912257" cy="3477875"/>
          </a:xfrm>
          <a:prstGeom prst="rect">
            <a:avLst/>
          </a:prstGeom>
          <a:noFill/>
        </p:spPr>
        <p:txBody>
          <a:bodyPr wrap="square" lIns="288000" tIns="0" rIns="252000" bIns="0" rtlCol="0">
            <a:spAutoFit/>
          </a:bodyPr>
          <a:lstStyle/>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≪売上高≫</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・36期は旧拠点の家主でもあった㈱ホンダロジスティクス向け取引の縮小・終了と、梱包外収入の減少（76→21百万円）により31%減収。</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・37期はDHL向け業務請負（新千歳の事務作業受託等）と鴻池運輸向け保税取扱の拡大により14%増収。</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≪売上総利益≫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・原価の大半が賃金・外注費・倉庫賃料の固定的費用。36期は拠点移転・保税許可取得期で固定費が先行し売上総損失、37期は5.5百万円の黒字に回復。</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≪営業利益・経常利益≫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・37期の営業損失は△11.0百万円。月次では△0.1～△2.3百万円で推移し、2025年10月は黒字。</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・35・36期の経常利益には立退解決金（各10百万円・非経常）を含む。</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≪見通し≫</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・倉庫・事務所賃料（月約2.2百万円、2029年4月まで定期転貸借）が固定費の中心。取扱量の拡大による固定費吸収が収益改善の鍵と想定。</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p:txBody>
      </p:sp>
      <p:sp>
        <p:nvSpPr>
          <p:cNvPr id="7" name="テキスト ボックス 6">
            <a:extLst>
              <a:ext uri="{FF2B5EF4-FFF2-40B4-BE49-F238E27FC236}">
                <a16:creationId xmlns:a16="http://schemas.microsoft.com/office/drawing/2014/main" id="{0F97EF78-0317-2D34-6B5B-762C46150F67}"/>
              </a:ext>
            </a:extLst>
          </p:cNvPr>
          <p:cNvSpPr txBox="1"/>
          <p:nvPr/>
        </p:nvSpPr>
        <p:spPr>
          <a:xfrm>
            <a:off x="6455664" y="5948868"/>
            <a:ext cx="3912257" cy="1100301"/>
          </a:xfrm>
          <a:prstGeom prst="rect">
            <a:avLst/>
          </a:prstGeom>
          <a:noFill/>
        </p:spPr>
        <p:txBody>
          <a:bodyPr wrap="square" lIns="288000" tIns="0" rIns="252000" bIns="0" rtlCol="0">
            <a:spAutoFit/>
          </a:bodyPr>
          <a:lstStyle/>
          <a:p>
            <a:pPr>
              <a:spcAft>
                <a:spcPts val="300"/>
              </a:spcAft>
            </a:pPr>
            <a:r>
              <a:rPr lang="en-US" altLang="ja-JP" sz="750" b="1" dirty="0">
                <a:solidFill>
                  <a:sysClr val="windowText" lastClr="000000"/>
                </a:solidFill>
                <a:latin typeface="游ゴシック" panose="020B0400000000000000" pitchFamily="50" charset="-128"/>
                <a:ea typeface="游ゴシック" panose="020B0400000000000000" pitchFamily="50" charset="-128"/>
              </a:rPr>
              <a:t>【調整項目】</a:t>
            </a:r>
          </a:p>
          <a:p>
            <a:pPr>
              <a:spcAft>
                <a:spcPts val="300"/>
              </a:spcAft>
            </a:pPr>
            <a:r>
              <a:rPr lang="en-US" altLang="ja-JP" sz="750" b="1" dirty="0">
                <a:solidFill>
                  <a:sysClr val="windowText" lastClr="000000"/>
                </a:solidFill>
                <a:latin typeface="游ゴシック" panose="020B0400000000000000" pitchFamily="50" charset="-128"/>
                <a:ea typeface="游ゴシック" panose="020B0400000000000000" pitchFamily="50" charset="-128"/>
              </a:rPr>
              <a:t>≪経常的雑収入≫ 鉄屑売却収入（毎期0.6～0.8百万円）を営業収益に加算</a:t>
            </a:r>
          </a:p>
          <a:p>
            <a:pPr>
              <a:spcAft>
                <a:spcPts val="300"/>
              </a:spcAft>
            </a:pPr>
            <a:r>
              <a:rPr lang="en-US" altLang="ja-JP" sz="750" b="1" dirty="0">
                <a:solidFill>
                  <a:sysClr val="windowText" lastClr="000000"/>
                </a:solidFill>
                <a:latin typeface="游ゴシック" panose="020B0400000000000000" pitchFamily="50" charset="-128"/>
                <a:ea typeface="游ゴシック" panose="020B0400000000000000" pitchFamily="50" charset="-128"/>
              </a:rPr>
              <a:t>≪二重賃料≫ 36期の旧拠点賃料1.2百万円（移転後は発生せず）を加算</a:t>
            </a:r>
          </a:p>
          <a:p>
            <a:pPr>
              <a:spcAft>
                <a:spcPts val="300"/>
              </a:spcAft>
            </a:pPr>
            <a:r>
              <a:rPr lang="en-US" altLang="ja-JP" sz="750" b="1" dirty="0">
                <a:solidFill>
                  <a:srgbClr val="0B3041"/>
                </a:solidFill>
                <a:latin typeface="游ゴシック" panose="020B0400000000000000" pitchFamily="50" charset="-128"/>
                <a:ea typeface="游ゴシック" panose="020B0400000000000000" pitchFamily="50" charset="-128"/>
              </a:rPr>
              <a:t>✓ 調整後EBITDA（26年5月期）は△9.5百万円</a:t>
            </a:r>
          </a:p>
        </p:txBody>
      </p:sp>
      <p:graphicFrame>
        <p:nvGraphicFramePr>
          <p:cNvPr id="17" name="Table 16"/>
          <p:cNvGraphicFramePr>
            <a:graphicFrameLocks noGrp="1"/>
          </p:cNvGraphicFramePr>
          <p:nvPr/>
        </p:nvGraphicFramePr>
        <p:xfrm>
          <a:off x="310896" y="1481328"/>
          <a:ext cx="5943600" cy="4498848"/>
        </p:xfrm>
        <a:graphic>
          <a:graphicData uri="http://schemas.openxmlformats.org/drawingml/2006/table">
            <a:tbl>
              <a:tblPr firstRow="0" bandRow="0" firstCol="0" lastRow="0" lastCol="0" bandCol="0"/>
              <a:tblGrid>
                <a:gridCol w="1600200"/>
                <a:gridCol w="1051560"/>
                <a:gridCol w="1051560"/>
                <a:gridCol w="1051560"/>
                <a:gridCol w="1188720"/>
              </a:tblGrid>
              <a:tr h="384048">
                <a:tc>
                  <a:txBody>
                    <a:bodyPr wrap="square"/>
                    <a:lstStyle/>
                    <a:p>
                      <a:pPr algn="ctr"/>
                      <a:r>
                        <a:rPr sz="95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進行期</a:t>
                      </a:r>
                    </a:p>
                    <a:p>
                      <a:pPr algn="ctr"/>
                      <a:r>
                        <a:rPr sz="950" b="1">
                          <a:solidFill>
                            <a:srgbClr val="FFFFFF"/>
                          </a:solidFill>
                          <a:latin typeface="游ゴシック"/>
                          <a:ea typeface="游ゴシック"/>
                        </a:rPr>
                        <a:t>（26年6～7月）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74320">
                <a:tc>
                  <a:txBody>
                    <a:bodyPr wrap="square"/>
                    <a:lstStyle/>
                    <a:p>
                      <a:pPr algn="l"/>
                      <a:r>
                        <a:rPr sz="950" b="0">
                          <a:solidFill>
                            <a:srgbClr val="000000"/>
                          </a:solidFill>
                          <a:latin typeface="游ゴシック"/>
                          <a:ea typeface="游ゴシック"/>
                        </a:rPr>
                        <a:t>売上高</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357,115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245,854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279,294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54,442</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00" b="0" i="1">
                          <a:solidFill>
                            <a:srgbClr val="000000"/>
                          </a:solidFill>
                          <a:latin typeface="游ゴシック"/>
                          <a:ea typeface="游ゴシック"/>
                        </a:rPr>
                        <a:t>前期比</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68.8%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113.6%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売上総利益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4,039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△18,897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5,504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2,105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00" b="0" i="1">
                          <a:solidFill>
                            <a:srgbClr val="000000"/>
                          </a:solidFill>
                          <a:latin typeface="游ゴシック"/>
                          <a:ea typeface="游ゴシック"/>
                        </a:rPr>
                        <a:t>利益率</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3.9%</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営業利益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△15,143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△38,607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△11,000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△389</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00" b="0" i="1">
                          <a:solidFill>
                            <a:srgbClr val="000000"/>
                          </a:solidFill>
                          <a:latin typeface="游ゴシック"/>
                          <a:ea typeface="游ゴシック"/>
                        </a:rPr>
                        <a:t>利益率</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△4.2%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△15.7%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△0.7%</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経常利益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△4,410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△28,279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△11,262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△285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00" b="0" i="1">
                          <a:solidFill>
                            <a:srgbClr val="000000"/>
                          </a:solidFill>
                          <a:latin typeface="游ゴシック"/>
                          <a:ea typeface="游ゴシック"/>
                        </a:rPr>
                        <a:t>利益率</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△4.0%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△0.5%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当期純利益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△4,480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△28,349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△11,332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△285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00" b="0" i="1">
                          <a:solidFill>
                            <a:srgbClr val="000000"/>
                          </a:solidFill>
                          <a:latin typeface="游ゴシック"/>
                          <a:ea typeface="游ゴシック"/>
                        </a:rPr>
                        <a:t>利益率</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△11.5%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△4.1%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i="1">
                          <a:solidFill>
                            <a:srgbClr val="000000"/>
                          </a:solidFill>
                          <a:latin typeface="Arial"/>
                          <a:ea typeface="游ゴシック Medium"/>
                        </a:rPr>
                        <a:t>△0.5%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減価償却費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1,507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835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調整項目 合計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2,017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221</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経常的雑収入（鉄屑売却）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221</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移転前拠点の二重賃料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1">
                          <a:solidFill>
                            <a:srgbClr val="000000"/>
                          </a:solidFill>
                          <a:latin typeface="游ゴシック"/>
                          <a:ea typeface="游ゴシック"/>
                        </a:rPr>
                        <a:t>調整後EBITDA</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△13,856</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△35,083</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△9,549</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△169</a:t>
                      </a:r>
                    </a:p>
                  </a:txBody>
                  <a:tcPr marL="45720" marR="45720" marT="9144" marB="9144" anchor="ctr">
                    <a:lnL>
                      <a:noFill/>
                    </a:lnL>
                    <a:lnR>
                      <a:noFill/>
                    </a:lnR>
                    <a:lnT>
                      <a:noFill/>
                    </a:lnT>
                    <a:lnB w="6350" cap="flat" cmpd="sng" algn="ctr">
                      <a:solidFill>
                        <a:srgbClr val="A6A6A6"/>
                      </a:solidFill>
                      <a:prstDash val="solid"/>
                    </a:lnB>
                    <a:solidFill>
                      <a:srgbClr val="E1F3FB"/>
                    </a:solidFill>
                  </a:tcPr>
                </a:tc>
              </a:tr>
            </a:tbl>
          </a:graphicData>
        </a:graphic>
      </p:graphicFrame>
      <p:sp>
        <p:nvSpPr>
          <p:cNvPr id="18" name="Rectangle 17"/>
          <p:cNvSpPr/>
          <p:nvPr/>
        </p:nvSpPr>
        <p:spPr>
          <a:xfrm>
            <a:off x="310896" y="6355080"/>
            <a:ext cx="60350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750" b="0">
                <a:solidFill>
                  <a:srgbClr val="000000"/>
                </a:solidFill>
                <a:latin typeface="游ゴシック Medium"/>
                <a:ea typeface="游ゴシック Medium"/>
              </a:rPr>
              <a:t>※調整後EBITDA＝営業利益＋減価償却費（販管費＋製造原価）＋調整項目。評価書の修正後EBITDAと同一方針。</a:t>
            </a:r>
          </a:p>
          <a:p>
            <a:pPr algn="l"/>
            <a:r>
              <a:rPr sz="750" b="0">
                <a:solidFill>
                  <a:srgbClr val="000000"/>
                </a:solidFill>
                <a:latin typeface="游ゴシック Medium"/>
                <a:ea typeface="游ゴシック Medium"/>
              </a:rPr>
              <a:t>※進行期は2026年6～7月の試算表（2か月）。36期は決算書PDFが画像のため総勘定元帳から再構成。</a:t>
            </a:r>
          </a:p>
        </p:txBody>
      </p:sp>
    </p:spTree>
    <p:extLst>
      <p:ext uri="{BB962C8B-B14F-4D97-AF65-F5344CB8AC3E}">
        <p14:creationId xmlns:p14="http://schemas.microsoft.com/office/powerpoint/2010/main" val="3016589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801343"/>
          </a:xfrm>
        </p:spPr>
        <p:txBody>
          <a:bodyPr>
            <a:noAutofit/>
          </a:bodyPr>
          <a:lstStyle/>
          <a:p>
            <a:r>
              <a:rPr lang="ja-JP" altLang="en-US" dirty="0">
                <a:latin typeface="游ゴシック" panose="020B0400000000000000" pitchFamily="50" charset="-128"/>
                <a:ea typeface="游ゴシック" panose="020B0400000000000000" pitchFamily="50" charset="-128"/>
              </a:rPr>
              <a:t>不動産は保有せず、主な資産は請負未収金（28百万円）と賃借倉庫の敷金・保税蔵置場の内装設備。借入金33百万円に対し純資産は△11.6百万円の債務超過（繰越損失によるもの）。</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714131"/>
            <a:ext cx="4790832" cy="529626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628CFE76-679D-C90B-1E19-B26DADCE4A7F}"/>
              </a:ext>
            </a:extLst>
          </p:cNvPr>
          <p:cNvSpPr txBox="1"/>
          <p:nvPr/>
        </p:nvSpPr>
        <p:spPr>
          <a:xfrm>
            <a:off x="5703189" y="2329719"/>
            <a:ext cx="4539361" cy="4593565"/>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≪流動資産≫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・請負未収金28,452千円：Littelfuse 7,245千円、航空集配6,524千円、三徳運輸6,473千円、DHL 5,295千円等。翌月末回収。</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≪固定資産≫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・建物付属設備6,928千円：2024年8月の本店移転時に施工した保税蔵置場の内装（賃借物件内の造作）。</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・敷金5,754千円：航空集配サービス㈱（倉庫・事務所の転貸人）への預託。返還は原状回復後。</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≪負債≫</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・長期借入金32,638千円：佐原信用金庫15,478千円、日本政策金融公庫17,160千円（代表者連帯保証）。</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・未払金22,987千円には社会保険料・労働保険料8,477千円を含む（延滞分の有無は要確認）。</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≪純資産≫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・簿価純資産△11,563千円。電話加入権・長期前払費用をゼロ評価した時価純資産は△12,586千円。</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・2026年9月30日に短期借入3,000千円を実行（基準日後）。</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graphicFrame>
        <p:nvGraphicFramePr>
          <p:cNvPr id="17" name="Table 16"/>
          <p:cNvGraphicFramePr>
            <a:graphicFrameLocks noGrp="1"/>
          </p:cNvGraphicFramePr>
          <p:nvPr/>
        </p:nvGraphicFramePr>
        <p:xfrm>
          <a:off x="338328" y="1463040"/>
          <a:ext cx="4937760" cy="4937760"/>
        </p:xfrm>
        <a:graphic>
          <a:graphicData uri="http://schemas.openxmlformats.org/drawingml/2006/table">
            <a:tbl>
              <a:tblPr firstRow="0" bandRow="0" firstCol="0" lastRow="0" lastCol="0" bandCol="0"/>
              <a:tblGrid>
                <a:gridCol w="1600200"/>
                <a:gridCol w="868680"/>
                <a:gridCol w="1600200"/>
                <a:gridCol w="868680"/>
              </a:tblGrid>
              <a:tr h="274320">
                <a:tc>
                  <a:txBody>
                    <a:bodyPr wrap="square"/>
                    <a:lstStyle/>
                    <a:p>
                      <a:pPr algn="ctr"/>
                      <a:r>
                        <a:rPr sz="950" b="1">
                          <a:solidFill>
                            <a:srgbClr val="FFFFFF"/>
                          </a:solidFill>
                          <a:latin typeface="游ゴシック"/>
                          <a:ea typeface="游ゴシック"/>
                        </a:rPr>
                        <a:t>26年5月期末</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74320">
                <a:tc>
                  <a:txBody>
                    <a:bodyPr wrap="square"/>
                    <a:lstStyle/>
                    <a:p>
                      <a:pPr algn="l"/>
                      <a:r>
                        <a:rPr sz="950" b="0">
                          <a:solidFill>
                            <a:srgbClr val="000000"/>
                          </a:solidFill>
                          <a:latin typeface="游ゴシック"/>
                          <a:ea typeface="游ゴシック"/>
                        </a:rPr>
                        <a:t>流動資産</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38,983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流動負債</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32,247</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現預金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未払金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22,987</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請負未収金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未払費用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6,949</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貯蔵品（梱包資材）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未払法人税等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短期貸付金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未払消費税等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預り金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その他</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その他</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固定資産</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14,338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固定負債</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長期借入金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機械装置・車両・器具備品</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建物・構築物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その他</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電話加入権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負債合計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64,885</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出資金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長期前払費用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資本金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敷金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利益剰余金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△21,563</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その他</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純資産合計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△11,563</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50" b="0">
                          <a:solidFill>
                            <a:srgbClr val="000000"/>
                          </a:solidFill>
                          <a:latin typeface="游ゴシック"/>
                          <a:ea typeface="游ゴシック"/>
                        </a:rPr>
                        <a:t>資産合計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53,321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負債・純資産合計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53,321</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8" name="Rectangle 17"/>
          <p:cNvSpPr/>
          <p:nvPr/>
        </p:nvSpPr>
        <p:spPr>
          <a:xfrm>
            <a:off x="310896" y="6967728"/>
            <a:ext cx="1004011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※金額は千円未満を四捨五入しているため合計が一致しない場合があります。</a:t>
            </a:r>
          </a:p>
        </p:txBody>
      </p:sp>
    </p:spTree>
    <p:extLst>
      <p:ext uri="{BB962C8B-B14F-4D97-AF65-F5344CB8AC3E}">
        <p14:creationId xmlns:p14="http://schemas.microsoft.com/office/powerpoint/2010/main" val="4030334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株式100％譲渡</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spc="50" dirty="0"/>
              <a:t>応相談</a:t>
            </a:r>
            <a:endParaRPr lang="en-US" altLang="ja-JP" spc="50" dirty="0"/>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65966"/>
            <a:ext cx="7074659" cy="1025922"/>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200" spc="50" dirty="0"/>
              <a:t>既存従業員の雇用継続（想定）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代表者は引退予定。一定期間の業務引継ぎには対応</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金融機関借入に係る代表者の連帯保証の解除</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倉庫の定期転貸借契約・保税蔵置場許可の継続（名義変更・届出等の対応）</a:t>
            </a:r>
            <a:endParaRPr lang="en-US" altLang="ja-JP" sz="1200"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 name="テキスト ボックス 1">
            <a:extLst>
              <a:ext uri="{FF2B5EF4-FFF2-40B4-BE49-F238E27FC236}">
                <a16:creationId xmlns:a16="http://schemas.microsoft.com/office/drawing/2014/main" id="{ACA65C26-85FE-7632-463B-0FBA87B2AA4D}"/>
              </a:ext>
            </a:extLst>
          </p:cNvPr>
          <p:cNvSpPr txBox="1"/>
          <p:nvPr/>
        </p:nvSpPr>
        <p:spPr>
          <a:xfrm>
            <a:off x="3151380" y="6095259"/>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既存株主の事業からの離脱および代表者の引退に伴う事業承継</a:t>
            </a:r>
          </a:p>
        </p:txBody>
      </p:sp>
      <p:sp>
        <p:nvSpPr>
          <p:cNvPr id="269" name="Rectangle 268"/>
          <p:cNvSpPr/>
          <p:nvPr/>
        </p:nvSpPr>
        <p:spPr>
          <a:xfrm>
            <a:off x="448056" y="6903720"/>
            <a:ext cx="9793224"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※付帯条件は現時点の売主意向の整理であり、詳細は個別協議のうえ確定します。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ysClr val="windowText" lastClr="000000"/>
                </a:solidFill>
                <a:latin typeface="游ゴシック" panose="020B0400000000000000" pitchFamily="50" charset="-128"/>
                <a:ea typeface="游ゴシック" panose="020B0400000000000000" pitchFamily="50" charset="-128"/>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297929"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【梱包資材】</a:t>
            </a: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宮崎商会</a:t>
            </a: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山田ダンボール</a:t>
            </a: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ユーエムパッケージ</a:t>
            </a: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成田ドライアイス ほか</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224441"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【フォワーダー等】</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DHL、航空集配サービス</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【物流会社】</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三徳運輸、鴻池運輸</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【メーカー】</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Littelfuseジャパン</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70404" y="4433281"/>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業務請負</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4739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オペレーション事務受託</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7584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作業・清掃請負</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608A6333-5179-2C0E-782D-178730BAA08F}"/>
              </a:ext>
            </a:extLst>
          </p:cNvPr>
          <p:cNvSpPr/>
          <p:nvPr/>
        </p:nvSpPr>
        <p:spPr>
          <a:xfrm>
            <a:off x="2266727" y="3480743"/>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1100" dirty="0">
                <a:solidFill>
                  <a:schemeClr val="tx1"/>
                </a:solidFill>
                <a:latin typeface="游ゴシック" panose="020B0400000000000000" pitchFamily="50" charset="-128"/>
                <a:ea typeface="游ゴシック" panose="020B0400000000000000" pitchFamily="50" charset="-128"/>
              </a:rPr>
              <a:t>梱包資材</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a:p>
            <a:pPr algn="ctr">
              <a:lnSpc>
                <a:spcPct val="120000"/>
              </a:lnSpc>
              <a:buClr>
                <a:schemeClr val="accent4"/>
              </a:buClr>
            </a:pPr>
            <a:r>
              <a:rPr kumimoji="1" lang="ja-JP" altLang="en-US" sz="1100" dirty="0">
                <a:solidFill>
                  <a:schemeClr val="tx1"/>
                </a:solidFill>
                <a:latin typeface="游ゴシック" panose="020B0400000000000000" pitchFamily="50" charset="-128"/>
                <a:ea typeface="游ゴシック" panose="020B0400000000000000" pitchFamily="50" charset="-128"/>
              </a:rPr>
              <a:t>の仕入れ</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grpSp>
        <p:nvGrpSpPr>
          <p:cNvPr id="7" name="グループ化 6">
            <a:extLst>
              <a:ext uri="{FF2B5EF4-FFF2-40B4-BE49-F238E27FC236}">
                <a16:creationId xmlns:a16="http://schemas.microsoft.com/office/drawing/2014/main" id="{E37EF5B6-E17E-6EAE-90CA-1B881E6D8AAE}"/>
              </a:ext>
            </a:extLst>
          </p:cNvPr>
          <p:cNvGrpSpPr/>
          <p:nvPr/>
        </p:nvGrpSpPr>
        <p:grpSpPr>
          <a:xfrm>
            <a:off x="3185906" y="2095628"/>
            <a:ext cx="4320000" cy="1126755"/>
            <a:chOff x="3185906" y="2095628"/>
            <a:chExt cx="4320000" cy="1126755"/>
          </a:xfrm>
        </p:grpSpPr>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梱包事業（主業）</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輸出航空貨物の</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梱包（成田）</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構内梱包請負</a:t>
              </a:r>
            </a:p>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（工場・倉庫内）</a:t>
              </a:r>
            </a:p>
          </p:txBody>
        </p:sp>
      </p:grpSp>
      <p:grpSp>
        <p:nvGrpSpPr>
          <p:cNvPr id="6" name="グループ化 5">
            <a:extLst>
              <a:ext uri="{FF2B5EF4-FFF2-40B4-BE49-F238E27FC236}">
                <a16:creationId xmlns:a16="http://schemas.microsoft.com/office/drawing/2014/main" id="{9F35CA69-48F5-2495-E72E-A4DEA4CE2B8C}"/>
              </a:ext>
            </a:extLst>
          </p:cNvPr>
          <p:cNvGrpSpPr/>
          <p:nvPr/>
        </p:nvGrpSpPr>
        <p:grpSpPr>
          <a:xfrm>
            <a:off x="3185906" y="3382270"/>
            <a:ext cx="4320000" cy="891123"/>
            <a:chOff x="3185906" y="3471891"/>
            <a:chExt cx="4320000" cy="891123"/>
          </a:xfrm>
        </p:grpSpPr>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3471891"/>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保税・物流サービス</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保税蔵置・保税取扱</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爆発物検査・ラベリング</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gr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70404" y="6386624"/>
            <a:ext cx="433550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850" b="1" spc="50" dirty="0">
                <a:solidFill>
                  <a:sysClr val="windowText" lastClr="000000"/>
                </a:solidFill>
                <a:latin typeface="游ゴシック" panose="020B0400000000000000" pitchFamily="50" charset="-128"/>
                <a:ea typeface="游ゴシック" panose="020B0400000000000000" pitchFamily="50" charset="-128"/>
              </a:rPr>
              <a:t>人材：グローバル人材バンク、アイ・ポート／構内梱包：ベルパック、三徳運輸／パレット：印東木材</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梱包資材を調達し、成田の自社倉庫と顧客構内で梱包・保税・検査サービスを提供。人材派遣・協力会社を活用して繁閑に応じた人員を確保している。</a:t>
            </a:r>
            <a:endParaRPr lang="en-US" altLang="ja-JP" dirty="0">
              <a:latin typeface="游ゴシック" panose="020B0400000000000000" pitchFamily="50" charset="-128"/>
              <a:ea typeface="游ゴシック" panose="020B0400000000000000" pitchFamily="50" charset="-128"/>
            </a:endParaRPr>
          </a:p>
        </p:txBody>
      </p:sp>
      <p:sp>
        <p:nvSpPr>
          <p:cNvPr id="11" name="正方形/長方形 10">
            <a:extLst>
              <a:ext uri="{FF2B5EF4-FFF2-40B4-BE49-F238E27FC236}">
                <a16:creationId xmlns:a16="http://schemas.microsoft.com/office/drawing/2014/main" id="{E71AE244-435B-F519-E8F8-BFC5ADAAC61F}"/>
              </a:ext>
            </a:extLst>
          </p:cNvPr>
          <p:cNvSpPr/>
          <p:nvPr/>
        </p:nvSpPr>
        <p:spPr>
          <a:xfrm>
            <a:off x="7947797"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※売上は月末締め・翌月末回収（掛売100%）。DHLとは2022年9月に基本契約を締結。</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28" name="正方形/長方形 27">
            <a:extLst>
              <a:ext uri="{FF2B5EF4-FFF2-40B4-BE49-F238E27FC236}">
                <a16:creationId xmlns:a16="http://schemas.microsoft.com/office/drawing/2014/main" id="{9DEE9467-1895-B486-68EB-F54F2BACDAD0}"/>
              </a:ext>
            </a:extLst>
          </p:cNvPr>
          <p:cNvSpPr/>
          <p:nvPr/>
        </p:nvSpPr>
        <p:spPr>
          <a:xfrm>
            <a:off x="7418644" y="3301135"/>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1100" dirty="0">
                <a:solidFill>
                  <a:schemeClr val="tx1"/>
                </a:solidFill>
                <a:latin typeface="游ゴシック" panose="020B0400000000000000" pitchFamily="50" charset="-128"/>
                <a:ea typeface="游ゴシック" panose="020B0400000000000000" pitchFamily="50" charset="-128"/>
              </a:rPr>
              <a:t>サービス</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a:p>
            <a:pPr algn="ctr">
              <a:lnSpc>
                <a:spcPct val="120000"/>
              </a:lnSpc>
              <a:buClr>
                <a:schemeClr val="accent4"/>
              </a:buClr>
            </a:pPr>
            <a:r>
              <a:rPr kumimoji="1" lang="ja-JP" altLang="en-US" sz="1100" dirty="0">
                <a:solidFill>
                  <a:schemeClr val="tx1"/>
                </a:solidFill>
                <a:latin typeface="游ゴシック" panose="020B0400000000000000" pitchFamily="50" charset="-128"/>
                <a:ea typeface="游ゴシック" panose="020B0400000000000000" pitchFamily="50" charset="-128"/>
              </a:rPr>
              <a:t>提供</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9" name="正方形/長方形 28">
            <a:extLst>
              <a:ext uri="{FF2B5EF4-FFF2-40B4-BE49-F238E27FC236}">
                <a16:creationId xmlns:a16="http://schemas.microsoft.com/office/drawing/2014/main" id="{66CEEE74-B8BD-04D5-25B2-B52A1D04D1BA}"/>
              </a:ext>
            </a:extLst>
          </p:cNvPr>
          <p:cNvSpPr/>
          <p:nvPr/>
        </p:nvSpPr>
        <p:spPr>
          <a:xfrm>
            <a:off x="297929"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※梱包資材は案件に応じて都度調達。37期の原材料仕入高は65百万円。</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50DBF169-4DDE-5DF4-7743-E7F49E149174}"/>
              </a:ext>
            </a:extLst>
          </p:cNvPr>
          <p:cNvSpPr/>
          <p:nvPr/>
        </p:nvSpPr>
        <p:spPr>
          <a:xfrm>
            <a:off x="2141784"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800" u="sng" dirty="0">
                <a:solidFill>
                  <a:schemeClr val="tx1"/>
                </a:solidFill>
                <a:latin typeface="游ゴシック" panose="020B0400000000000000" pitchFamily="50" charset="-128"/>
                <a:ea typeface="游ゴシック" panose="020B0400000000000000" pitchFamily="50" charset="-128"/>
              </a:rPr>
              <a:t>【資材】</a:t>
            </a:r>
          </a:p>
          <a:p>
            <a:pPr algn="ctr">
              <a:lnSpc>
                <a:spcPct val="120000"/>
              </a:lnSpc>
              <a:buClr>
                <a:schemeClr val="accent4"/>
              </a:buClr>
            </a:pPr>
            <a:r>
              <a:rPr kumimoji="1" lang="en-US" altLang="ja-JP" sz="800" u="sng" dirty="0">
                <a:solidFill>
                  <a:schemeClr val="tx1"/>
                </a:solidFill>
                <a:latin typeface="游ゴシック" panose="020B0400000000000000" pitchFamily="50" charset="-128"/>
                <a:ea typeface="游ゴシック" panose="020B0400000000000000" pitchFamily="50" charset="-128"/>
              </a:rPr>
              <a:t>都度見積</a:t>
            </a:r>
          </a:p>
        </p:txBody>
      </p:sp>
      <p:sp>
        <p:nvSpPr>
          <p:cNvPr id="32" name="正方形/長方形 31">
            <a:extLst>
              <a:ext uri="{FF2B5EF4-FFF2-40B4-BE49-F238E27FC236}">
                <a16:creationId xmlns:a16="http://schemas.microsoft.com/office/drawing/2014/main" id="{66329092-D510-4728-D662-B5277E41F113}"/>
              </a:ext>
            </a:extLst>
          </p:cNvPr>
          <p:cNvSpPr/>
          <p:nvPr/>
        </p:nvSpPr>
        <p:spPr>
          <a:xfrm>
            <a:off x="7291666"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800" u="sng" dirty="0">
                <a:solidFill>
                  <a:schemeClr val="tx1"/>
                </a:solidFill>
                <a:latin typeface="游ゴシック" panose="020B0400000000000000" pitchFamily="50" charset="-128"/>
                <a:ea typeface="游ゴシック" panose="020B0400000000000000" pitchFamily="50" charset="-128"/>
              </a:rPr>
              <a:t>【料金】</a:t>
            </a:r>
          </a:p>
          <a:p>
            <a:pPr algn="ctr">
              <a:lnSpc>
                <a:spcPct val="120000"/>
              </a:lnSpc>
              <a:buClr>
                <a:schemeClr val="accent4"/>
              </a:buClr>
            </a:pPr>
            <a:r>
              <a:rPr kumimoji="1" lang="en-US" altLang="ja-JP" sz="800" u="sng" dirty="0">
                <a:solidFill>
                  <a:schemeClr val="tx1"/>
                </a:solidFill>
                <a:latin typeface="游ゴシック" panose="020B0400000000000000" pitchFamily="50" charset="-128"/>
                <a:ea typeface="游ゴシック" panose="020B0400000000000000" pitchFamily="50" charset="-128"/>
              </a:rPr>
              <a:t>単価・月額</a:t>
            </a:r>
          </a:p>
        </p:txBody>
      </p:sp>
    </p:spTree>
    <p:extLst>
      <p:ext uri="{BB962C8B-B14F-4D97-AF65-F5344CB8AC3E}">
        <p14:creationId xmlns:p14="http://schemas.microsoft.com/office/powerpoint/2010/main" val="538383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404897"/>
            <a:ext cx="7768831" cy="1101584"/>
          </a:xfrm>
          <a:prstGeom prst="rect">
            <a:avLst/>
          </a:prstGeom>
          <a:noFill/>
        </p:spPr>
        <p:txBody>
          <a:bodyPr wrap="square" lIns="0" tIns="0" rIns="0" bIns="0" rtlCol="0" anchor="ctr">
            <a:spAutoFit/>
          </a:bodyPr>
          <a:lstStyle/>
          <a:p>
            <a:pPr>
              <a:lnSpc>
                <a:spcPct val="120000"/>
              </a:lnSpc>
              <a:spcAft>
                <a:spcPts val="600"/>
              </a:spcAft>
            </a:pPr>
            <a:r>
              <a:rPr lang="ja-JP" altLang="en-US" sz="1300" b="1" spc="30" dirty="0">
                <a:solidFill>
                  <a:srgbClr val="0B3041"/>
                </a:solidFill>
                <a:latin typeface="+mj-ea"/>
                <a:ea typeface="+mj-ea"/>
              </a:rPr>
              <a:t>成田空港至近で東京税関許可の保税蔵置場を自社運営</a:t>
            </a:r>
            <a:endParaRPr lang="en-US" altLang="ja-JP" sz="1600" b="1" spc="30" dirty="0">
              <a:solidFill>
                <a:sysClr val="windowText" lastClr="000000"/>
              </a:solidFill>
              <a:latin typeface="+mj-ea"/>
              <a:ea typeface="+mj-ea"/>
            </a:endParaRPr>
          </a:p>
          <a:p>
            <a:pPr>
              <a:lnSpc>
                <a:spcPct val="120000"/>
              </a:lnSpc>
              <a:spcAft>
                <a:spcPts val="600"/>
              </a:spcAft>
            </a:pPr>
            <a:r>
              <a:rPr lang="ja-JP" altLang="en-US" sz="950" b="1" spc="30" dirty="0">
                <a:solidFill>
                  <a:sysClr val="windowText" lastClr="000000"/>
                </a:solidFill>
                <a:latin typeface="+mj-ea"/>
                <a:ea typeface="+mj-ea"/>
              </a:rPr>
              <a:t>2024年12月に保税蔵置場許可（輸出一般貨物・輸出冷凍冷蔵貨物、許可期間2030年11月まで）を取得。設備・管理体制・保税業務の知見が求められ新規参入の障壁となる許認可であり、梱包から保税蔵置・爆発物検査までを一拠点で完結できる。</a:t>
            </a:r>
            <a:endParaRPr lang="en-US" altLang="ja-JP" sz="1600" b="1" spc="30" dirty="0">
              <a:solidFill>
                <a:sysClr val="windowText" lastClr="000000"/>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039"/>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300" b="1" spc="30" dirty="0">
                <a:solidFill>
                  <a:srgbClr val="0B3041"/>
                </a:solidFill>
                <a:latin typeface="+mj-ea"/>
                <a:ea typeface="+mj-ea"/>
              </a:rPr>
              <a:t>スピード梱包と特殊梱包のノウハウ</a:t>
            </a:r>
            <a:endParaRPr lang="en-US" altLang="ja-JP" sz="1600" b="1" spc="30" dirty="0">
              <a:solidFill>
                <a:sysClr val="windowText" lastClr="000000"/>
              </a:solidFill>
              <a:latin typeface="+mj-ea"/>
              <a:ea typeface="+mj-ea"/>
            </a:endParaRPr>
          </a:p>
          <a:p>
            <a:pPr>
              <a:lnSpc>
                <a:spcPct val="120000"/>
              </a:lnSpc>
              <a:spcAft>
                <a:spcPts val="600"/>
              </a:spcAft>
            </a:pPr>
            <a:r>
              <a:rPr lang="ja-JP" altLang="en-US" sz="950" b="1" spc="30" dirty="0">
                <a:solidFill>
                  <a:sysClr val="windowText" lastClr="000000"/>
                </a:solidFill>
                <a:latin typeface="+mj-ea"/>
                <a:ea typeface="+mj-ea"/>
              </a:rPr>
              <a:t>段ボール裁断機により製品サイズに合わせた梱包材を即時に作成でき、短時間でのサイズ合わせ梱包が可能。ドライアイス保冷梱包やDHL指定仕様の梱包にも対応し、即日対応を求める航空貨物のニーズに応える。</a:t>
            </a:r>
            <a:endParaRPr lang="en-US" altLang="ja-JP" sz="1600" b="1" spc="30" dirty="0">
              <a:solidFill>
                <a:sysClr val="windowText" lastClr="000000"/>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767"/>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300" b="1" spc="30" dirty="0">
                <a:solidFill>
                  <a:srgbClr val="0B3041"/>
                </a:solidFill>
                <a:latin typeface="+mj-ea"/>
                <a:ea typeface="+mj-ea"/>
              </a:rPr>
              <a:t>梱包周辺業務への拡張余地（仮説）</a:t>
            </a:r>
            <a:endParaRPr lang="en-US" altLang="ja-JP" sz="1600" b="1" spc="30" dirty="0">
              <a:solidFill>
                <a:sysClr val="windowText" lastClr="000000"/>
              </a:solidFill>
              <a:latin typeface="+mj-ea"/>
              <a:ea typeface="+mj-ea"/>
            </a:endParaRPr>
          </a:p>
          <a:p>
            <a:pPr>
              <a:lnSpc>
                <a:spcPct val="120000"/>
              </a:lnSpc>
              <a:spcAft>
                <a:spcPts val="600"/>
              </a:spcAft>
            </a:pPr>
            <a:r>
              <a:rPr lang="ja-JP" altLang="en-US" sz="950" b="1" spc="30" dirty="0">
                <a:solidFill>
                  <a:sysClr val="windowText" lastClr="000000"/>
                </a:solidFill>
                <a:latin typeface="+mj-ea"/>
                <a:ea typeface="+mj-ea"/>
              </a:rPr>
              <a:t>37期は保税取扱・爆発物検査、フォワーダーの事務作業受託が伸長。物流網・営業基盤を持つ買手と組むことで倉庫稼働率を高め、固定費（倉庫賃料）を吸収できる余地があると想定。</a:t>
            </a:r>
            <a:endParaRPr lang="en-US" altLang="ja-JP" sz="1600" b="1" spc="30" dirty="0">
              <a:solidFill>
                <a:sysClr val="windowText" lastClr="000000"/>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取引金融機関・顧問税理士等の補足情報。</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10040112" cy="2880360"/>
        </p:xfrm>
        <a:graphic>
          <a:graphicData uri="http://schemas.openxmlformats.org/drawingml/2006/table">
            <a:tbl>
              <a:tblPr firstRow="0" bandRow="0" firstCol="0" lastRow="0" lastCol="0" bandCol="0"/>
              <a:tblGrid>
                <a:gridCol w="1828800"/>
                <a:gridCol w="8211312"/>
              </a:tblGrid>
              <a:tr h="411480">
                <a:tc>
                  <a:txBody>
                    <a:bodyPr wrap="square"/>
                    <a:lstStyle/>
                    <a:p>
                      <a:pPr algn="ctr"/>
                      <a:r>
                        <a:rPr sz="950" b="1">
                          <a:solidFill>
                            <a:srgbClr val="FFFFFF"/>
                          </a:solidFill>
                          <a:latin typeface="游ゴシック"/>
                          <a:ea typeface="游ゴシック"/>
                        </a:rPr>
                        <a:t>項目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内容</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411480">
                <a:tc>
                  <a:txBody>
                    <a:bodyPr wrap="square"/>
                    <a:lstStyle/>
                    <a:p>
                      <a:pPr algn="l"/>
                      <a:r>
                        <a:rPr sz="950" b="1">
                          <a:solidFill>
                            <a:srgbClr val="000000"/>
                          </a:solidFill>
                          <a:latin typeface="游ゴシック"/>
                          <a:ea typeface="游ゴシック"/>
                        </a:rPr>
                        <a:t>取引金融機関</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佐原信用金庫（成田支店・潮来支店）、日本政策金融公庫（千葉支店）、常陽銀行（潮来支店）</a:t>
                      </a:r>
                    </a:p>
                  </a:txBody>
                  <a:tcPr marL="45720" marR="45720" marT="9144" marB="9144" anchor="ctr">
                    <a:lnL>
                      <a:noFill/>
                    </a:lnL>
                    <a:lnR>
                      <a:noFill/>
                    </a:lnR>
                    <a:lnT>
                      <a:noFill/>
                    </a:lnT>
                    <a:lnB w="6350" cap="flat" cmpd="sng" algn="ctr">
                      <a:solidFill>
                        <a:srgbClr val="A6A6A6"/>
                      </a:solidFill>
                      <a:prstDash val="solid"/>
                    </a:lnB>
                    <a:noFill/>
                  </a:tcPr>
                </a:tc>
              </a:tr>
              <a:tr h="411480">
                <a:tc>
                  <a:txBody>
                    <a:bodyPr wrap="square"/>
                    <a:lstStyle/>
                    <a:p>
                      <a:pPr algn="l"/>
                      <a:r>
                        <a:rPr sz="950" b="1">
                          <a:solidFill>
                            <a:srgbClr val="000000"/>
                          </a:solidFill>
                          <a:latin typeface="游ゴシック"/>
                          <a:ea typeface="游ゴシック"/>
                        </a:rPr>
                        <a:t>借入金（37期末）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佐原信用金庫15,478千円、日本政策金融公庫17,160千円（年2.80%、毎月260千円返済）※いずれも代表者連帯保証</a:t>
                      </a:r>
                    </a:p>
                  </a:txBody>
                  <a:tcPr marL="45720" marR="45720" marT="9144" marB="9144" anchor="ctr">
                    <a:lnL>
                      <a:noFill/>
                    </a:lnL>
                    <a:lnR>
                      <a:noFill/>
                    </a:lnR>
                    <a:lnT>
                      <a:noFill/>
                    </a:lnT>
                    <a:lnB w="6350" cap="flat" cmpd="sng" algn="ctr">
                      <a:solidFill>
                        <a:srgbClr val="A6A6A6"/>
                      </a:solidFill>
                      <a:prstDash val="solid"/>
                    </a:lnB>
                    <a:noFill/>
                  </a:tcPr>
                </a:tc>
              </a:tr>
              <a:tr h="411480">
                <a:tc>
                  <a:txBody>
                    <a:bodyPr wrap="square"/>
                    <a:lstStyle/>
                    <a:p>
                      <a:pPr algn="l"/>
                      <a:r>
                        <a:rPr sz="950" b="1">
                          <a:solidFill>
                            <a:srgbClr val="000000"/>
                          </a:solidFill>
                          <a:latin typeface="游ゴシック"/>
                          <a:ea typeface="游ゴシック"/>
                        </a:rPr>
                        <a:t>顧問税理士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税理士法人岩本会計（茨城県潮来市）</a:t>
                      </a:r>
                    </a:p>
                  </a:txBody>
                  <a:tcPr marL="45720" marR="45720" marT="9144" marB="9144" anchor="ctr">
                    <a:lnL>
                      <a:noFill/>
                    </a:lnL>
                    <a:lnR>
                      <a:noFill/>
                    </a:lnR>
                    <a:lnT>
                      <a:noFill/>
                    </a:lnT>
                    <a:lnB w="6350" cap="flat" cmpd="sng" algn="ctr">
                      <a:solidFill>
                        <a:srgbClr val="A6A6A6"/>
                      </a:solidFill>
                      <a:prstDash val="solid"/>
                    </a:lnB>
                    <a:noFill/>
                  </a:tcPr>
                </a:tc>
              </a:tr>
              <a:tr h="411480">
                <a:tc>
                  <a:txBody>
                    <a:bodyPr wrap="square"/>
                    <a:lstStyle/>
                    <a:p>
                      <a:pPr algn="l"/>
                      <a:r>
                        <a:rPr sz="950" b="1">
                          <a:solidFill>
                            <a:srgbClr val="000000"/>
                          </a:solidFill>
                          <a:latin typeface="游ゴシック"/>
                          <a:ea typeface="游ゴシック"/>
                        </a:rPr>
                        <a:t>決算期</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5月末日（申告：東金税務署）</a:t>
                      </a:r>
                    </a:p>
                  </a:txBody>
                  <a:tcPr marL="45720" marR="45720" marT="9144" marB="9144" anchor="ctr">
                    <a:lnL>
                      <a:noFill/>
                    </a:lnL>
                    <a:lnR>
                      <a:noFill/>
                    </a:lnR>
                    <a:lnT>
                      <a:noFill/>
                    </a:lnT>
                    <a:lnB w="6350" cap="flat" cmpd="sng" algn="ctr">
                      <a:solidFill>
                        <a:srgbClr val="A6A6A6"/>
                      </a:solidFill>
                      <a:prstDash val="solid"/>
                    </a:lnB>
                    <a:noFill/>
                  </a:tcPr>
                </a:tc>
              </a:tr>
              <a:tr h="411480">
                <a:tc>
                  <a:txBody>
                    <a:bodyPr wrap="square"/>
                    <a:lstStyle/>
                    <a:p>
                      <a:pPr algn="l"/>
                      <a:r>
                        <a:rPr sz="950" b="1">
                          <a:solidFill>
                            <a:srgbClr val="000000"/>
                          </a:solidFill>
                          <a:latin typeface="游ゴシック"/>
                          <a:ea typeface="游ゴシック"/>
                        </a:rPr>
                        <a:t>主要契約</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DHL物品・役務取引基本契約（2022年9月、自動更新）、同個別契約（新千歳・2025年6月～）、定期建物転貸借契約（航空集配サービス、2026年5月～2029年4月）</a:t>
                      </a:r>
                    </a:p>
                  </a:txBody>
                  <a:tcPr marL="45720" marR="45720" marT="9144" marB="9144" anchor="ctr">
                    <a:lnL>
                      <a:noFill/>
                    </a:lnL>
                    <a:lnR>
                      <a:noFill/>
                    </a:lnR>
                    <a:lnT>
                      <a:noFill/>
                    </a:lnT>
                    <a:lnB w="6350" cap="flat" cmpd="sng" algn="ctr">
                      <a:solidFill>
                        <a:srgbClr val="A6A6A6"/>
                      </a:solidFill>
                      <a:prstDash val="solid"/>
                    </a:lnB>
                    <a:noFill/>
                  </a:tcPr>
                </a:tc>
              </a:tr>
              <a:tr h="411480">
                <a:tc>
                  <a:txBody>
                    <a:bodyPr wrap="square"/>
                    <a:lstStyle/>
                    <a:p>
                      <a:pPr algn="l"/>
                      <a:r>
                        <a:rPr sz="950" b="1">
                          <a:solidFill>
                            <a:srgbClr val="000000"/>
                          </a:solidFill>
                          <a:latin typeface="游ゴシック"/>
                          <a:ea typeface="游ゴシック"/>
                        </a:rPr>
                        <a:t>所属団体</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Tree>
    <p:extLst>
      <p:ext uri="{BB962C8B-B14F-4D97-AF65-F5344CB8AC3E}">
        <p14:creationId xmlns:p14="http://schemas.microsoft.com/office/powerpoint/2010/main" val="8056887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基本情報</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成田空港至近の物流施設で輸出航空貨物の梱包と東京税関許可の保税蔵置場を運営。DHL・航空貨物代理店・大手物流会社を主要顧客とし、顧客構内での梱包請負も手掛ける。</a:t>
            </a:r>
            <a:endParaRPr lang="en-US" altLang="ja-JP" dirty="0">
              <a:latin typeface="游ゴシック" panose="020B0400000000000000" pitchFamily="50" charset="-128"/>
              <a:ea typeface="游ゴシック" panose="020B0400000000000000" pitchFamily="50" charset="-128"/>
            </a:endParaRPr>
          </a:p>
        </p:txBody>
      </p:sp>
      <p:sp>
        <p:nvSpPr>
          <p:cNvPr id="14" name="Rectangle 13"/>
          <p:cNvSpPr/>
          <p:nvPr/>
        </p:nvSpPr>
        <p:spPr>
          <a:xfrm>
            <a:off x="310896" y="1481328"/>
            <a:ext cx="6400800" cy="292608"/>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游ゴシック"/>
                <a:ea typeface="游ゴシック"/>
              </a:rPr>
              <a:t>会社概要</a:t>
            </a:r>
          </a:p>
        </p:txBody>
      </p:sp>
      <p:graphicFrame>
        <p:nvGraphicFramePr>
          <p:cNvPr id="15" name="Table 14"/>
          <p:cNvGraphicFramePr>
            <a:graphicFrameLocks noGrp="1"/>
          </p:cNvGraphicFramePr>
          <p:nvPr/>
        </p:nvGraphicFramePr>
        <p:xfrm>
          <a:off x="310896" y="1828800"/>
          <a:ext cx="6400800" cy="4279392"/>
        </p:xfrm>
        <a:graphic>
          <a:graphicData uri="http://schemas.openxmlformats.org/drawingml/2006/table">
            <a:tbl>
              <a:tblPr firstRow="0" bandRow="0" firstCol="0" lastRow="0" lastCol="0" bandCol="0"/>
              <a:tblGrid>
                <a:gridCol w="1143000"/>
                <a:gridCol w="5257800"/>
              </a:tblGrid>
              <a:tr h="201168">
                <a:tc>
                  <a:txBody>
                    <a:bodyPr wrap="square"/>
                    <a:lstStyle/>
                    <a:p>
                      <a:pPr algn="ctr"/>
                      <a:r>
                        <a:rPr sz="800" b="1">
                          <a:solidFill>
                            <a:srgbClr val="FFFFFF"/>
                          </a:solidFill>
                          <a:latin typeface="游ゴシック"/>
                          <a:ea typeface="游ゴシック"/>
                        </a:rPr>
                        <a:t>項目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内容</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0312">
                <a:tc>
                  <a:txBody>
                    <a:bodyPr wrap="square"/>
                    <a:lstStyle/>
                    <a:p>
                      <a:pPr algn="ctr"/>
                      <a:r>
                        <a:rPr sz="800" b="1">
                          <a:solidFill>
                            <a:srgbClr val="000000"/>
                          </a:solidFill>
                          <a:latin typeface="游ゴシック"/>
                          <a:ea typeface="游ゴシック"/>
                        </a:rPr>
                        <a:t>会社名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株式会社高塚商事</a:t>
                      </a:r>
                    </a:p>
                  </a:txBody>
                  <a:tcPr marL="45720" marR="45720" marT="9144" marB="9144" anchor="ctr">
                    <a:lnL>
                      <a:noFill/>
                    </a:lnL>
                    <a:lnR>
                      <a:noFill/>
                    </a:lnR>
                    <a:lnT>
                      <a:noFill/>
                    </a:lnT>
                    <a:lnB w="6350" cap="flat" cmpd="sng" algn="ctr">
                      <a:solidFill>
                        <a:srgbClr val="A6A6A6"/>
                      </a:solidFill>
                      <a:prstDash val="solid"/>
                    </a:lnB>
                    <a:noFill/>
                  </a:tcPr>
                </a:tc>
              </a:tr>
              <a:tr h="210312">
                <a:tc>
                  <a:txBody>
                    <a:bodyPr wrap="square"/>
                    <a:lstStyle/>
                    <a:p>
                      <a:pPr algn="ctr"/>
                      <a:r>
                        <a:rPr sz="800" b="1">
                          <a:solidFill>
                            <a:srgbClr val="000000"/>
                          </a:solidFill>
                          <a:latin typeface="游ゴシック"/>
                          <a:ea typeface="游ゴシック"/>
                        </a:rPr>
                        <a:t>本社所在地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千葉県山武郡芝山町岩山148番地15（成田エアポート物流ビジネスセンター）</a:t>
                      </a:r>
                    </a:p>
                  </a:txBody>
                  <a:tcPr marL="45720" marR="45720" marT="9144" marB="9144" anchor="ctr">
                    <a:lnL>
                      <a:noFill/>
                    </a:lnL>
                    <a:lnR>
                      <a:noFill/>
                    </a:lnR>
                    <a:lnT>
                      <a:noFill/>
                    </a:lnT>
                    <a:lnB w="6350" cap="flat" cmpd="sng" algn="ctr">
                      <a:solidFill>
                        <a:srgbClr val="A6A6A6"/>
                      </a:solidFill>
                      <a:prstDash val="solid"/>
                    </a:lnB>
                    <a:noFill/>
                  </a:tcPr>
                </a:tc>
              </a:tr>
              <a:tr h="676656">
                <a:tc>
                  <a:txBody>
                    <a:bodyPr wrap="square"/>
                    <a:lstStyle/>
                    <a:p>
                      <a:pPr algn="ctr"/>
                      <a:r>
                        <a:rPr sz="800" b="1">
                          <a:solidFill>
                            <a:srgbClr val="000000"/>
                          </a:solidFill>
                          <a:latin typeface="游ゴシック"/>
                          <a:ea typeface="游ゴシック"/>
                        </a:rPr>
                        <a:t>その他拠点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【作業拠点】</a:t>
                      </a:r>
                    </a:p>
                    <a:p>
                      <a:pPr algn="l"/>
                      <a:r>
                        <a:rPr sz="800" b="0">
                          <a:solidFill>
                            <a:srgbClr val="000000"/>
                          </a:solidFill>
                          <a:latin typeface="游ゴシック"/>
                          <a:ea typeface="游ゴシック"/>
                        </a:rPr>
                        <a:t>・成田事業所（本社同所）：5F倉庫1,567㎡（東京税関許可の保税蔵置場）・2F事務所</a:t>
                      </a:r>
                    </a:p>
                    <a:p>
                      <a:pPr algn="l"/>
                      <a:r>
                        <a:rPr sz="800" b="0">
                          <a:solidFill>
                            <a:srgbClr val="000000"/>
                          </a:solidFill>
                          <a:latin typeface="游ゴシック"/>
                          <a:ea typeface="游ゴシック"/>
                        </a:rPr>
                        <a:t>・つくば事業所：顧客（Littelfuseジャパン合同会社）工場構内（茨城県稲敷市）</a:t>
                      </a:r>
                    </a:p>
                    <a:p>
                      <a:pPr algn="l"/>
                      <a:r>
                        <a:rPr sz="800" b="0">
                          <a:solidFill>
                            <a:srgbClr val="000000"/>
                          </a:solidFill>
                          <a:latin typeface="游ゴシック"/>
                          <a:ea typeface="游ゴシック"/>
                        </a:rPr>
                        <a:t>・顧客倉庫内での構内梱包、DHL新千歳（北海道千歳市）での事務作業受託</a:t>
                      </a:r>
                    </a:p>
                  </a:txBody>
                  <a:tcPr marL="45720" marR="45720" marT="9144" marB="9144" anchor="ctr">
                    <a:lnL>
                      <a:noFill/>
                    </a:lnL>
                    <a:lnR>
                      <a:noFill/>
                    </a:lnR>
                    <a:lnT>
                      <a:noFill/>
                    </a:lnT>
                    <a:lnB w="6350" cap="flat" cmpd="sng" algn="ctr">
                      <a:solidFill>
                        <a:srgbClr val="A6A6A6"/>
                      </a:solidFill>
                      <a:prstDash val="solid"/>
                    </a:lnB>
                    <a:noFill/>
                  </a:tcPr>
                </a:tc>
              </a:tr>
              <a:tr h="365760">
                <a:tc>
                  <a:txBody>
                    <a:bodyPr wrap="square"/>
                    <a:lstStyle/>
                    <a:p>
                      <a:pPr algn="ctr"/>
                      <a:r>
                        <a:rPr sz="800" b="1">
                          <a:solidFill>
                            <a:srgbClr val="000000"/>
                          </a:solidFill>
                          <a:latin typeface="游ゴシック"/>
                          <a:ea typeface="游ゴシック"/>
                        </a:rPr>
                        <a:t>設立</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1990年5月24日（有限会社として設立、2004年7月22日に株式会社へ組織変更）　※直近期は第37期（2026年5月期）</a:t>
                      </a:r>
                    </a:p>
                  </a:txBody>
                  <a:tcPr marL="45720" marR="45720" marT="9144" marB="9144" anchor="ctr">
                    <a:lnL>
                      <a:noFill/>
                    </a:lnL>
                    <a:lnR>
                      <a:noFill/>
                    </a:lnR>
                    <a:lnT>
                      <a:noFill/>
                    </a:lnT>
                    <a:lnB w="6350" cap="flat" cmpd="sng" algn="ctr">
                      <a:solidFill>
                        <a:srgbClr val="A6A6A6"/>
                      </a:solidFill>
                      <a:prstDash val="solid"/>
                    </a:lnB>
                    <a:noFill/>
                  </a:tcPr>
                </a:tc>
              </a:tr>
              <a:tr h="210312">
                <a:tc>
                  <a:txBody>
                    <a:bodyPr wrap="square"/>
                    <a:lstStyle/>
                    <a:p>
                      <a:pPr algn="ctr"/>
                      <a:r>
                        <a:rPr sz="800" b="1">
                          <a:solidFill>
                            <a:srgbClr val="000000"/>
                          </a:solidFill>
                          <a:latin typeface="游ゴシック"/>
                          <a:ea typeface="游ゴシック"/>
                        </a:rPr>
                        <a:t>資本金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10,000千円（発行済株式1,000株、株券発行会社）</a:t>
                      </a:r>
                    </a:p>
                  </a:txBody>
                  <a:tcPr marL="45720" marR="45720" marT="9144" marB="9144" anchor="ctr">
                    <a:lnL>
                      <a:noFill/>
                    </a:lnL>
                    <a:lnR>
                      <a:noFill/>
                    </a:lnR>
                    <a:lnT>
                      <a:noFill/>
                    </a:lnT>
                    <a:lnB w="6350" cap="flat" cmpd="sng" algn="ctr">
                      <a:solidFill>
                        <a:srgbClr val="A6A6A6"/>
                      </a:solidFill>
                      <a:prstDash val="solid"/>
                    </a:lnB>
                    <a:noFill/>
                  </a:tcPr>
                </a:tc>
              </a:tr>
              <a:tr h="210312">
                <a:tc>
                  <a:txBody>
                    <a:bodyPr wrap="square"/>
                    <a:lstStyle/>
                    <a:p>
                      <a:pPr algn="ctr"/>
                      <a:r>
                        <a:rPr sz="800" b="1">
                          <a:solidFill>
                            <a:srgbClr val="000000"/>
                          </a:solidFill>
                          <a:latin typeface="游ゴシック"/>
                          <a:ea typeface="游ゴシック"/>
                        </a:rPr>
                        <a:t>代表者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代表取締役　庄司　和夫</a:t>
                      </a:r>
                    </a:p>
                  </a:txBody>
                  <a:tcPr marL="45720" marR="45720" marT="9144" marB="9144" anchor="ctr">
                    <a:lnL>
                      <a:noFill/>
                    </a:lnL>
                    <a:lnR>
                      <a:noFill/>
                    </a:lnR>
                    <a:lnT>
                      <a:noFill/>
                    </a:lnT>
                    <a:lnB w="6350" cap="flat" cmpd="sng" algn="ctr">
                      <a:solidFill>
                        <a:srgbClr val="A6A6A6"/>
                      </a:solidFill>
                      <a:prstDash val="solid"/>
                    </a:lnB>
                    <a:noFill/>
                  </a:tcPr>
                </a:tc>
              </a:tr>
              <a:tr h="365760">
                <a:tc>
                  <a:txBody>
                    <a:bodyPr wrap="square"/>
                    <a:lstStyle/>
                    <a:p>
                      <a:pPr algn="ctr"/>
                      <a:r>
                        <a:rPr sz="800" b="1">
                          <a:solidFill>
                            <a:srgbClr val="000000"/>
                          </a:solidFill>
                          <a:latin typeface="游ゴシック"/>
                          <a:ea typeface="游ゴシック"/>
                        </a:rPr>
                        <a:t>株主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高塚　慎吾（600株／60.0%）、高塚　とく江（400株／40.0%）　※法人税申告書別表二による。株主名簿は要受領</a:t>
                      </a:r>
                    </a:p>
                  </a:txBody>
                  <a:tcPr marL="45720" marR="45720" marT="9144" marB="9144" anchor="ctr">
                    <a:lnL>
                      <a:noFill/>
                    </a:lnL>
                    <a:lnR>
                      <a:noFill/>
                    </a:lnR>
                    <a:lnT>
                      <a:noFill/>
                    </a:lnT>
                    <a:lnB w="6350" cap="flat" cmpd="sng" algn="ctr">
                      <a:solidFill>
                        <a:srgbClr val="A6A6A6"/>
                      </a:solidFill>
                      <a:prstDash val="solid"/>
                    </a:lnB>
                    <a:noFill/>
                  </a:tcPr>
                </a:tc>
              </a:tr>
              <a:tr h="521208">
                <a:tc>
                  <a:txBody>
                    <a:bodyPr wrap="square"/>
                    <a:lstStyle/>
                    <a:p>
                      <a:pPr algn="ctr"/>
                      <a:r>
                        <a:rPr sz="800" b="1">
                          <a:solidFill>
                            <a:srgbClr val="000000"/>
                          </a:solidFill>
                          <a:latin typeface="游ゴシック"/>
                          <a:ea typeface="游ゴシック"/>
                        </a:rPr>
                        <a:t>事業内容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成田空港近隣を拠点とする輸出航空貨物の梱包（木枠・段ボール・パレット梱包、ドライアイス保冷梱包等）、保税蔵置場の運営と保税取扱・爆発物検査、顧客工場・倉庫内での構内梱包請負、フォワーダー向け事務作業受託、梱包資材の販売</a:t>
                      </a:r>
                    </a:p>
                  </a:txBody>
                  <a:tcPr marL="45720" marR="45720" marT="9144" marB="9144" anchor="ctr">
                    <a:lnL>
                      <a:noFill/>
                    </a:lnL>
                    <a:lnR>
                      <a:noFill/>
                    </a:lnR>
                    <a:lnT>
                      <a:noFill/>
                    </a:lnT>
                    <a:lnB w="6350" cap="flat" cmpd="sng" algn="ctr">
                      <a:solidFill>
                        <a:srgbClr val="A6A6A6"/>
                      </a:solidFill>
                      <a:prstDash val="solid"/>
                    </a:lnB>
                    <a:noFill/>
                  </a:tcPr>
                </a:tc>
              </a:tr>
              <a:tr h="365760">
                <a:tc>
                  <a:txBody>
                    <a:bodyPr wrap="square"/>
                    <a:lstStyle/>
                    <a:p>
                      <a:pPr algn="ctr"/>
                      <a:r>
                        <a:rPr sz="800" b="1">
                          <a:solidFill>
                            <a:srgbClr val="000000"/>
                          </a:solidFill>
                          <a:latin typeface="游ゴシック"/>
                          <a:ea typeface="游ゴシック"/>
                        </a:rPr>
                        <a:t>従業員数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20名（役員1名・正社員18名・パート1名）　※2026年10月時点の社員情報。別途、人材派遣・業務請負を活用</a:t>
                      </a:r>
                    </a:p>
                  </a:txBody>
                  <a:tcPr marL="45720" marR="45720" marT="9144" marB="9144" anchor="ctr">
                    <a:lnL>
                      <a:noFill/>
                    </a:lnL>
                    <a:lnR>
                      <a:noFill/>
                    </a:lnR>
                    <a:lnT>
                      <a:noFill/>
                    </a:lnT>
                    <a:lnB w="6350" cap="flat" cmpd="sng" algn="ctr">
                      <a:solidFill>
                        <a:srgbClr val="A6A6A6"/>
                      </a:solidFill>
                      <a:prstDash val="solid"/>
                    </a:lnB>
                    <a:noFill/>
                  </a:tcPr>
                </a:tc>
              </a:tr>
              <a:tr h="521208">
                <a:tc>
                  <a:txBody>
                    <a:bodyPr wrap="square"/>
                    <a:lstStyle/>
                    <a:p>
                      <a:pPr algn="ctr"/>
                      <a:r>
                        <a:rPr sz="800" b="1">
                          <a:solidFill>
                            <a:srgbClr val="000000"/>
                          </a:solidFill>
                          <a:latin typeface="游ゴシック"/>
                          <a:ea typeface="游ゴシック"/>
                        </a:rPr>
                        <a:t>許認可等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保税蔵置場許可（東京税関長 東関第395号、許可期間：2024年12月24日～2030年11月30日、蔵置貨物：輸出一般貨物・輸出冷凍冷蔵貨物）　※労働者派遣事業・貨物利用運送事業は定款目的に記載あり（許可・登録の有無は要確認）</a:t>
                      </a:r>
                    </a:p>
                  </a:txBody>
                  <a:tcPr marL="45720" marR="45720" marT="9144" marB="9144" anchor="ctr">
                    <a:lnL>
                      <a:noFill/>
                    </a:lnL>
                    <a:lnR>
                      <a:noFill/>
                    </a:lnR>
                    <a:lnT>
                      <a:noFill/>
                    </a:lnT>
                    <a:lnB w="6350" cap="flat" cmpd="sng" algn="ctr">
                      <a:solidFill>
                        <a:srgbClr val="A6A6A6"/>
                      </a:solidFill>
                      <a:prstDash val="solid"/>
                    </a:lnB>
                    <a:noFill/>
                  </a:tcPr>
                </a:tc>
              </a:tr>
              <a:tr h="210312">
                <a:tc>
                  <a:txBody>
                    <a:bodyPr wrap="square"/>
                    <a:lstStyle/>
                    <a:p>
                      <a:pPr algn="ctr"/>
                      <a:r>
                        <a:rPr sz="800" b="1">
                          <a:solidFill>
                            <a:srgbClr val="000000"/>
                          </a:solidFill>
                          <a:latin typeface="游ゴシック"/>
                          <a:ea typeface="游ゴシック"/>
                        </a:rPr>
                        <a:t>売上高</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279,294千円（2026年5月期）</a:t>
                      </a:r>
                    </a:p>
                  </a:txBody>
                  <a:tcPr marL="45720" marR="45720" marT="9144" marB="9144" anchor="ctr">
                    <a:lnL>
                      <a:noFill/>
                    </a:lnL>
                    <a:lnR>
                      <a:noFill/>
                    </a:lnR>
                    <a:lnT>
                      <a:noFill/>
                    </a:lnT>
                    <a:lnB w="6350" cap="flat" cmpd="sng" algn="ctr">
                      <a:solidFill>
                        <a:srgbClr val="A6A6A6"/>
                      </a:solidFill>
                      <a:prstDash val="solid"/>
                    </a:lnB>
                    <a:noFill/>
                  </a:tcPr>
                </a:tc>
              </a:tr>
              <a:tr h="210312">
                <a:tc>
                  <a:txBody>
                    <a:bodyPr wrap="square"/>
                    <a:lstStyle/>
                    <a:p>
                      <a:pPr algn="ctr"/>
                      <a:r>
                        <a:rPr sz="800" b="1">
                          <a:solidFill>
                            <a:srgbClr val="000000"/>
                          </a:solidFill>
                          <a:latin typeface="游ゴシック"/>
                          <a:ea typeface="游ゴシック"/>
                        </a:rPr>
                        <a:t>譲渡理由</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既存株主の事業からの離脱および代表者の引退に伴う事業承継</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pic>
        <p:nvPicPr>
          <p:cNvPr id="16" name="Picture 15" descr="image5.png"/>
          <p:cNvPicPr>
            <a:picLocks noChangeAspect="1"/>
          </p:cNvPicPr>
          <p:nvPr/>
        </p:nvPicPr>
        <p:blipFill>
          <a:blip r:embed="rId3"/>
          <a:stretch>
            <a:fillRect/>
          </a:stretch>
        </p:blipFill>
        <p:spPr>
          <a:xfrm>
            <a:off x="6967728" y="1517904"/>
            <a:ext cx="3246120" cy="433692"/>
          </a:xfrm>
          <a:prstGeom prst="rect">
            <a:avLst/>
          </a:prstGeom>
        </p:spPr>
      </p:pic>
      <p:sp>
        <p:nvSpPr>
          <p:cNvPr id="17" name="Rectangle 16"/>
          <p:cNvSpPr/>
          <p:nvPr/>
        </p:nvSpPr>
        <p:spPr>
          <a:xfrm>
            <a:off x="6967728" y="2057400"/>
            <a:ext cx="3310128" cy="292608"/>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数字で見る高塚商事</a:t>
            </a:r>
          </a:p>
        </p:txBody>
      </p:sp>
      <p:sp>
        <p:nvSpPr>
          <p:cNvPr id="18" name="Rectangle 17"/>
          <p:cNvSpPr/>
          <p:nvPr/>
        </p:nvSpPr>
        <p:spPr>
          <a:xfrm>
            <a:off x="6967728" y="2441448"/>
            <a:ext cx="3310128" cy="987552"/>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67728" y="2441448"/>
            <a:ext cx="73152" cy="98755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0" y="2496312"/>
            <a:ext cx="310896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900" b="1">
                <a:solidFill>
                  <a:srgbClr val="0B3041"/>
                </a:solidFill>
                <a:latin typeface="游ゴシック"/>
                <a:ea typeface="游ゴシック"/>
              </a:rPr>
              <a:t>売上高（26年5月期）</a:t>
            </a:r>
          </a:p>
        </p:txBody>
      </p:sp>
      <p:sp>
        <p:nvSpPr>
          <p:cNvPr id="21" name="Rectangle 20"/>
          <p:cNvSpPr/>
          <p:nvPr/>
        </p:nvSpPr>
        <p:spPr>
          <a:xfrm>
            <a:off x="7132320" y="2734056"/>
            <a:ext cx="3108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700" b="1">
                <a:solidFill>
                  <a:srgbClr val="0B3041"/>
                </a:solidFill>
                <a:latin typeface="游ゴシック"/>
                <a:ea typeface="游ゴシック"/>
              </a:rPr>
              <a:t>279百万円</a:t>
            </a:r>
          </a:p>
        </p:txBody>
      </p:sp>
      <p:sp>
        <p:nvSpPr>
          <p:cNvPr id="22" name="Rectangle 21"/>
          <p:cNvSpPr/>
          <p:nvPr/>
        </p:nvSpPr>
        <p:spPr>
          <a:xfrm>
            <a:off x="7132320" y="3118104"/>
            <a:ext cx="310896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3期平均 294百万円</a:t>
            </a:r>
          </a:p>
        </p:txBody>
      </p:sp>
      <p:sp>
        <p:nvSpPr>
          <p:cNvPr id="23" name="Rectangle 22"/>
          <p:cNvSpPr/>
          <p:nvPr/>
        </p:nvSpPr>
        <p:spPr>
          <a:xfrm>
            <a:off x="6967728" y="3520439"/>
            <a:ext cx="3310128" cy="987552"/>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67728" y="3520439"/>
            <a:ext cx="73152" cy="98755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0" y="3575303"/>
            <a:ext cx="310896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900" b="1">
                <a:solidFill>
                  <a:srgbClr val="0B3041"/>
                </a:solidFill>
                <a:latin typeface="游ゴシック"/>
                <a:ea typeface="游ゴシック"/>
              </a:rPr>
              <a:t>保税蔵置場（東京税関許可）</a:t>
            </a:r>
          </a:p>
        </p:txBody>
      </p:sp>
      <p:sp>
        <p:nvSpPr>
          <p:cNvPr id="26" name="Rectangle 25"/>
          <p:cNvSpPr/>
          <p:nvPr/>
        </p:nvSpPr>
        <p:spPr>
          <a:xfrm>
            <a:off x="7132320" y="3813048"/>
            <a:ext cx="3108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700" b="1">
                <a:solidFill>
                  <a:srgbClr val="0B3041"/>
                </a:solidFill>
                <a:latin typeface="游ゴシック"/>
                <a:ea typeface="游ゴシック"/>
              </a:rPr>
              <a:t>1,567㎡</a:t>
            </a:r>
          </a:p>
        </p:txBody>
      </p:sp>
      <p:sp>
        <p:nvSpPr>
          <p:cNvPr id="27" name="Rectangle 26"/>
          <p:cNvSpPr/>
          <p:nvPr/>
        </p:nvSpPr>
        <p:spPr>
          <a:xfrm>
            <a:off x="7132320" y="4197096"/>
            <a:ext cx="310896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輸出一般貨物・輸出冷凍冷蔵貨物</a:t>
            </a:r>
          </a:p>
        </p:txBody>
      </p:sp>
      <p:sp>
        <p:nvSpPr>
          <p:cNvPr id="28" name="Rectangle 27"/>
          <p:cNvSpPr/>
          <p:nvPr/>
        </p:nvSpPr>
        <p:spPr>
          <a:xfrm>
            <a:off x="6967728" y="4599431"/>
            <a:ext cx="3310128" cy="987552"/>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967728" y="4599431"/>
            <a:ext cx="73152" cy="98755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32320" y="4654295"/>
            <a:ext cx="310896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900" b="1">
                <a:solidFill>
                  <a:srgbClr val="0B3041"/>
                </a:solidFill>
                <a:latin typeface="游ゴシック"/>
                <a:ea typeface="游ゴシック"/>
              </a:rPr>
              <a:t>従業員</a:t>
            </a:r>
          </a:p>
        </p:txBody>
      </p:sp>
      <p:sp>
        <p:nvSpPr>
          <p:cNvPr id="31" name="Rectangle 30"/>
          <p:cNvSpPr/>
          <p:nvPr/>
        </p:nvSpPr>
        <p:spPr>
          <a:xfrm>
            <a:off x="7132320" y="4892040"/>
            <a:ext cx="3108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700" b="1">
                <a:solidFill>
                  <a:srgbClr val="0B3041"/>
                </a:solidFill>
                <a:latin typeface="游ゴシック"/>
                <a:ea typeface="游ゴシック"/>
              </a:rPr>
              <a:t>20名</a:t>
            </a:r>
          </a:p>
        </p:txBody>
      </p:sp>
      <p:sp>
        <p:nvSpPr>
          <p:cNvPr id="32" name="Rectangle 31"/>
          <p:cNvSpPr/>
          <p:nvPr/>
        </p:nvSpPr>
        <p:spPr>
          <a:xfrm>
            <a:off x="7132320" y="5276088"/>
            <a:ext cx="310896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平均勤続11.3年／正社員18名</a:t>
            </a:r>
          </a:p>
        </p:txBody>
      </p:sp>
      <p:sp>
        <p:nvSpPr>
          <p:cNvPr id="33" name="Rectangle 32"/>
          <p:cNvSpPr/>
          <p:nvPr/>
        </p:nvSpPr>
        <p:spPr>
          <a:xfrm>
            <a:off x="6967728" y="5678424"/>
            <a:ext cx="3310128" cy="987552"/>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67728" y="5678424"/>
            <a:ext cx="73152" cy="98755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0" y="5733288"/>
            <a:ext cx="310896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900" b="1">
                <a:solidFill>
                  <a:srgbClr val="0B3041"/>
                </a:solidFill>
                <a:latin typeface="游ゴシック"/>
                <a:ea typeface="游ゴシック"/>
              </a:rPr>
              <a:t>主要顧客</a:t>
            </a:r>
          </a:p>
        </p:txBody>
      </p:sp>
      <p:sp>
        <p:nvSpPr>
          <p:cNvPr id="36" name="Rectangle 35"/>
          <p:cNvSpPr/>
          <p:nvPr/>
        </p:nvSpPr>
        <p:spPr>
          <a:xfrm>
            <a:off x="7132320" y="5971032"/>
            <a:ext cx="3108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400" b="1">
                <a:solidFill>
                  <a:srgbClr val="0B3041"/>
                </a:solidFill>
                <a:latin typeface="游ゴシック"/>
                <a:ea typeface="游ゴシック"/>
              </a:rPr>
              <a:t>DHL・航空集配・鴻池運輸</a:t>
            </a:r>
          </a:p>
        </p:txBody>
      </p:sp>
      <p:sp>
        <p:nvSpPr>
          <p:cNvPr id="37" name="Rectangle 36"/>
          <p:cNvSpPr/>
          <p:nvPr/>
        </p:nvSpPr>
        <p:spPr>
          <a:xfrm>
            <a:off x="7132320" y="6355080"/>
            <a:ext cx="310896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三徳運輸・Littelfuseジャパン ほか</a:t>
            </a:r>
          </a:p>
        </p:txBody>
      </p:sp>
      <p:sp>
        <p:nvSpPr>
          <p:cNvPr id="38" name="Rectangle 37"/>
          <p:cNvSpPr/>
          <p:nvPr/>
        </p:nvSpPr>
        <p:spPr>
          <a:xfrm>
            <a:off x="310896" y="6812280"/>
            <a:ext cx="1004011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※会社概要は2026年7月1日取得の登記簿、法人税申告書、2026年10月受領の社員情報等による。社名ロゴは同社ウェブサイトより。</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事業概要</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梱包を起点に、保税蔵置場の運営、爆発物検査・保税取扱、顧客構内での梱包請負、フォワーダーの事務作業受託へと業務範囲を拡げ、「輸出貨物が空港に搬入されるまで」の作業を一括で引き受けられる体制を構築。</a:t>
            </a:r>
            <a:endParaRPr lang="en-US" altLang="ja-JP" dirty="0">
              <a:latin typeface="游ゴシック" panose="020B0400000000000000" pitchFamily="50" charset="-128"/>
              <a:ea typeface="游ゴシック" panose="020B0400000000000000" pitchFamily="50" charset="-128"/>
            </a:endParaRPr>
          </a:p>
        </p:txBody>
      </p:sp>
      <p:sp>
        <p:nvSpPr>
          <p:cNvPr id="14" name="Rectangle 13"/>
          <p:cNvSpPr/>
          <p:nvPr/>
        </p:nvSpPr>
        <p:spPr>
          <a:xfrm>
            <a:off x="310896" y="1481328"/>
            <a:ext cx="10040112" cy="274320"/>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事業フロー（輸出航空貨物）</a:t>
            </a:r>
          </a:p>
        </p:txBody>
      </p:sp>
      <p:sp>
        <p:nvSpPr>
          <p:cNvPr id="15" name="Pentagon 14"/>
          <p:cNvSpPr/>
          <p:nvPr/>
        </p:nvSpPr>
        <p:spPr>
          <a:xfrm>
            <a:off x="310896" y="1828800"/>
            <a:ext cx="1965960" cy="384048"/>
          </a:xfrm>
          <a:prstGeom prst="homePlate">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6616" y="1847088"/>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集荷・搬入</a:t>
            </a:r>
          </a:p>
        </p:txBody>
      </p:sp>
      <p:sp>
        <p:nvSpPr>
          <p:cNvPr id="17" name="Rectangle 16"/>
          <p:cNvSpPr/>
          <p:nvPr/>
        </p:nvSpPr>
        <p:spPr>
          <a:xfrm>
            <a:off x="310896" y="2258568"/>
            <a:ext cx="1828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850" b="0">
                <a:solidFill>
                  <a:srgbClr val="000000"/>
                </a:solidFill>
                <a:latin typeface="游ゴシック Medium"/>
                <a:ea typeface="游ゴシック Medium"/>
              </a:rPr>
              <a:t>荷主・フォワーダーから</a:t>
            </a:r>
          </a:p>
          <a:p>
            <a:pPr algn="ctr"/>
            <a:r>
              <a:rPr sz="850" b="0">
                <a:solidFill>
                  <a:srgbClr val="000000"/>
                </a:solidFill>
                <a:latin typeface="游ゴシック Medium"/>
                <a:ea typeface="游ゴシック Medium"/>
              </a:rPr>
              <a:t>成田の倉庫へ搬入</a:t>
            </a:r>
          </a:p>
        </p:txBody>
      </p:sp>
      <p:sp>
        <p:nvSpPr>
          <p:cNvPr id="18" name="Pentagon 17"/>
          <p:cNvSpPr/>
          <p:nvPr/>
        </p:nvSpPr>
        <p:spPr>
          <a:xfrm>
            <a:off x="2322576" y="1828800"/>
            <a:ext cx="1965960"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68296" y="1847088"/>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梱包</a:t>
            </a:r>
          </a:p>
        </p:txBody>
      </p:sp>
      <p:sp>
        <p:nvSpPr>
          <p:cNvPr id="20" name="Rectangle 19"/>
          <p:cNvSpPr/>
          <p:nvPr/>
        </p:nvSpPr>
        <p:spPr>
          <a:xfrm>
            <a:off x="2322576" y="2258568"/>
            <a:ext cx="1828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850" b="0">
                <a:solidFill>
                  <a:srgbClr val="000000"/>
                </a:solidFill>
                <a:latin typeface="游ゴシック Medium"/>
                <a:ea typeface="游ゴシック Medium"/>
              </a:rPr>
              <a:t>木枠・段ボール・パレット</a:t>
            </a:r>
          </a:p>
          <a:p>
            <a:pPr algn="ctr"/>
            <a:r>
              <a:rPr sz="850" b="0">
                <a:solidFill>
                  <a:srgbClr val="000000"/>
                </a:solidFill>
                <a:latin typeface="游ゴシック Medium"/>
                <a:ea typeface="游ゴシック Medium"/>
              </a:rPr>
              <a:t>ドライアイス保冷梱包</a:t>
            </a:r>
          </a:p>
        </p:txBody>
      </p:sp>
      <p:sp>
        <p:nvSpPr>
          <p:cNvPr id="21" name="Pentagon 20"/>
          <p:cNvSpPr/>
          <p:nvPr/>
        </p:nvSpPr>
        <p:spPr>
          <a:xfrm>
            <a:off x="4334256" y="1828800"/>
            <a:ext cx="1965960"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9976" y="1847088"/>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保税蔵置</a:t>
            </a:r>
          </a:p>
        </p:txBody>
      </p:sp>
      <p:sp>
        <p:nvSpPr>
          <p:cNvPr id="23" name="Rectangle 22"/>
          <p:cNvSpPr/>
          <p:nvPr/>
        </p:nvSpPr>
        <p:spPr>
          <a:xfrm>
            <a:off x="4334256" y="2258568"/>
            <a:ext cx="1828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850" b="0">
                <a:solidFill>
                  <a:srgbClr val="000000"/>
                </a:solidFill>
                <a:latin typeface="游ゴシック Medium"/>
                <a:ea typeface="游ゴシック Medium"/>
              </a:rPr>
              <a:t>自社の保税蔵置場で</a:t>
            </a:r>
          </a:p>
          <a:p>
            <a:pPr algn="ctr"/>
            <a:r>
              <a:rPr sz="850" b="0">
                <a:solidFill>
                  <a:srgbClr val="000000"/>
                </a:solidFill>
                <a:latin typeface="游ゴシック Medium"/>
                <a:ea typeface="游ゴシック Medium"/>
              </a:rPr>
              <a:t>輸出許可まで蔵置</a:t>
            </a:r>
          </a:p>
        </p:txBody>
      </p:sp>
      <p:sp>
        <p:nvSpPr>
          <p:cNvPr id="24" name="Pentagon 23"/>
          <p:cNvSpPr/>
          <p:nvPr/>
        </p:nvSpPr>
        <p:spPr>
          <a:xfrm>
            <a:off x="6345936" y="1828800"/>
            <a:ext cx="1965960"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91656" y="1847088"/>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検査・ラベリング</a:t>
            </a:r>
          </a:p>
        </p:txBody>
      </p:sp>
      <p:sp>
        <p:nvSpPr>
          <p:cNvPr id="26" name="Rectangle 25"/>
          <p:cNvSpPr/>
          <p:nvPr/>
        </p:nvSpPr>
        <p:spPr>
          <a:xfrm>
            <a:off x="6345936" y="2258568"/>
            <a:ext cx="1828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850" b="0">
                <a:solidFill>
                  <a:srgbClr val="000000"/>
                </a:solidFill>
                <a:latin typeface="游ゴシック Medium"/>
                <a:ea typeface="游ゴシック Medium"/>
              </a:rPr>
              <a:t>爆発物検査・</a:t>
            </a:r>
          </a:p>
          <a:p>
            <a:pPr algn="ctr"/>
            <a:r>
              <a:rPr sz="850" b="0">
                <a:solidFill>
                  <a:srgbClr val="000000"/>
                </a:solidFill>
                <a:latin typeface="游ゴシック Medium"/>
                <a:ea typeface="游ゴシック Medium"/>
              </a:rPr>
              <a:t>検量・ラベリング</a:t>
            </a:r>
          </a:p>
        </p:txBody>
      </p:sp>
      <p:sp>
        <p:nvSpPr>
          <p:cNvPr id="27" name="Pentagon 26"/>
          <p:cNvSpPr/>
          <p:nvPr/>
        </p:nvSpPr>
        <p:spPr>
          <a:xfrm>
            <a:off x="8357616" y="1828800"/>
            <a:ext cx="1965960" cy="384048"/>
          </a:xfrm>
          <a:prstGeom prst="homePlate">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03336" y="1847088"/>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航空会社へ引渡し</a:t>
            </a:r>
          </a:p>
        </p:txBody>
      </p:sp>
      <p:sp>
        <p:nvSpPr>
          <p:cNvPr id="29" name="Rectangle 28"/>
          <p:cNvSpPr/>
          <p:nvPr/>
        </p:nvSpPr>
        <p:spPr>
          <a:xfrm>
            <a:off x="8357616" y="2258568"/>
            <a:ext cx="1828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850" b="0">
                <a:solidFill>
                  <a:srgbClr val="000000"/>
                </a:solidFill>
                <a:latin typeface="游ゴシック Medium"/>
                <a:ea typeface="游ゴシック Medium"/>
              </a:rPr>
              <a:t>上屋・航空会社へ</a:t>
            </a:r>
          </a:p>
          <a:p>
            <a:pPr algn="ctr"/>
            <a:r>
              <a:rPr sz="850" b="0">
                <a:solidFill>
                  <a:srgbClr val="000000"/>
                </a:solidFill>
                <a:latin typeface="游ゴシック Medium"/>
                <a:ea typeface="游ゴシック Medium"/>
              </a:rPr>
              <a:t>搬出（フォワーダー手配）</a:t>
            </a:r>
          </a:p>
        </p:txBody>
      </p:sp>
      <p:sp>
        <p:nvSpPr>
          <p:cNvPr id="30" name="Rectangle 29"/>
          <p:cNvSpPr/>
          <p:nvPr/>
        </p:nvSpPr>
        <p:spPr>
          <a:xfrm>
            <a:off x="2322576" y="2724912"/>
            <a:ext cx="60350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850" b="1">
                <a:solidFill>
                  <a:srgbClr val="0889C9"/>
                </a:solidFill>
                <a:latin typeface="游ゴシック"/>
                <a:ea typeface="游ゴシック"/>
              </a:rPr>
              <a:t>▲ 当社の受託範囲（梱包～保税蔵置～検査・ラベリング）</a:t>
            </a:r>
          </a:p>
        </p:txBody>
      </p:sp>
      <p:sp>
        <p:nvSpPr>
          <p:cNvPr id="31" name="Rectangle 30"/>
          <p:cNvSpPr/>
          <p:nvPr/>
        </p:nvSpPr>
        <p:spPr>
          <a:xfrm>
            <a:off x="310896" y="3035808"/>
            <a:ext cx="10040112" cy="274320"/>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主な事業・サービス（26年5月期の売上高）</a:t>
            </a:r>
          </a:p>
        </p:txBody>
      </p:sp>
      <p:sp>
        <p:nvSpPr>
          <p:cNvPr id="32" name="Rectangle 31"/>
          <p:cNvSpPr/>
          <p:nvPr/>
        </p:nvSpPr>
        <p:spPr>
          <a:xfrm>
            <a:off x="310896" y="3401568"/>
            <a:ext cx="4965192" cy="1207008"/>
          </a:xfrm>
          <a:prstGeom prst="rect">
            <a:avLst/>
          </a:prstGeom>
          <a:no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401568"/>
            <a:ext cx="384048" cy="12070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0896" y="3813048"/>
            <a:ext cx="384048"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游ゴシック"/>
                <a:ea typeface="游ゴシック"/>
              </a:rPr>
              <a:t>①</a:t>
            </a:r>
          </a:p>
        </p:txBody>
      </p:sp>
      <p:sp>
        <p:nvSpPr>
          <p:cNvPr id="35" name="Rectangle 34"/>
          <p:cNvSpPr/>
          <p:nvPr/>
        </p:nvSpPr>
        <p:spPr>
          <a:xfrm>
            <a:off x="768096" y="3447288"/>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100" b="1">
                <a:solidFill>
                  <a:srgbClr val="0B3041"/>
                </a:solidFill>
                <a:latin typeface="游ゴシック"/>
                <a:ea typeface="游ゴシック"/>
              </a:rPr>
              <a:t>輸出航空貨物の梱包</a:t>
            </a:r>
          </a:p>
        </p:txBody>
      </p:sp>
      <p:sp>
        <p:nvSpPr>
          <p:cNvPr id="36" name="Rectangle 35"/>
          <p:cNvSpPr/>
          <p:nvPr/>
        </p:nvSpPr>
        <p:spPr>
          <a:xfrm>
            <a:off x="3328415" y="3465576"/>
            <a:ext cx="1874519"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r"/>
            <a:r>
              <a:rPr sz="800" b="1">
                <a:solidFill>
                  <a:srgbClr val="0889C9"/>
                </a:solidFill>
                <a:latin typeface="游ゴシック"/>
                <a:ea typeface="游ゴシック"/>
              </a:rPr>
              <a:t>梱包収入 209百万円（75%）</a:t>
            </a:r>
          </a:p>
        </p:txBody>
      </p:sp>
      <p:sp>
        <p:nvSpPr>
          <p:cNvPr id="37" name="Rectangle 36"/>
          <p:cNvSpPr/>
          <p:nvPr/>
        </p:nvSpPr>
        <p:spPr>
          <a:xfrm>
            <a:off x="768096" y="3749040"/>
            <a:ext cx="44348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成田の自社倉庫で、製品サイズに合わせた段ボール裁断・木枠梱包・ドライアイス保冷梱包を即日対応。</a:t>
            </a:r>
          </a:p>
        </p:txBody>
      </p:sp>
      <p:sp>
        <p:nvSpPr>
          <p:cNvPr id="38" name="Rectangle 37"/>
          <p:cNvSpPr/>
          <p:nvPr/>
        </p:nvSpPr>
        <p:spPr>
          <a:xfrm>
            <a:off x="768096" y="4315968"/>
            <a:ext cx="44348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主要顧客：航空集配サービス、DHL</a:t>
            </a:r>
          </a:p>
        </p:txBody>
      </p:sp>
      <p:sp>
        <p:nvSpPr>
          <p:cNvPr id="39" name="Rectangle 38"/>
          <p:cNvSpPr/>
          <p:nvPr/>
        </p:nvSpPr>
        <p:spPr>
          <a:xfrm>
            <a:off x="5385816" y="3401568"/>
            <a:ext cx="4965192" cy="1207008"/>
          </a:xfrm>
          <a:prstGeom prst="rect">
            <a:avLst/>
          </a:prstGeom>
          <a:no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85816" y="3401568"/>
            <a:ext cx="384048" cy="12070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85816" y="3813048"/>
            <a:ext cx="384048"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游ゴシック"/>
                <a:ea typeface="游ゴシック"/>
              </a:rPr>
              <a:t>②</a:t>
            </a:r>
          </a:p>
        </p:txBody>
      </p:sp>
      <p:sp>
        <p:nvSpPr>
          <p:cNvPr id="42" name="Rectangle 41"/>
          <p:cNvSpPr/>
          <p:nvPr/>
        </p:nvSpPr>
        <p:spPr>
          <a:xfrm>
            <a:off x="5843016" y="3447288"/>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100" b="1">
                <a:solidFill>
                  <a:srgbClr val="0B3041"/>
                </a:solidFill>
                <a:latin typeface="游ゴシック"/>
                <a:ea typeface="游ゴシック"/>
              </a:rPr>
              <a:t>構内梱包請負</a:t>
            </a:r>
          </a:p>
        </p:txBody>
      </p:sp>
      <p:sp>
        <p:nvSpPr>
          <p:cNvPr id="43" name="Rectangle 42"/>
          <p:cNvSpPr/>
          <p:nvPr/>
        </p:nvSpPr>
        <p:spPr>
          <a:xfrm>
            <a:off x="8403336" y="3465576"/>
            <a:ext cx="1874519"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r"/>
            <a:r>
              <a:rPr sz="800" b="1">
                <a:solidFill>
                  <a:srgbClr val="0889C9"/>
                </a:solidFill>
                <a:latin typeface="游ゴシック"/>
                <a:ea typeface="游ゴシック"/>
              </a:rPr>
              <a:t>（梱包収入に含む）</a:t>
            </a:r>
          </a:p>
        </p:txBody>
      </p:sp>
      <p:sp>
        <p:nvSpPr>
          <p:cNvPr id="44" name="Rectangle 43"/>
          <p:cNvSpPr/>
          <p:nvPr/>
        </p:nvSpPr>
        <p:spPr>
          <a:xfrm>
            <a:off x="5843016" y="3749040"/>
            <a:ext cx="44348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顧客の工場・倉庫内に人員を配置し梱包作業を請負（つくば事業所：Littelfuse工場構内、丸全昭和運輸倉庫内）。</a:t>
            </a:r>
          </a:p>
        </p:txBody>
      </p:sp>
      <p:sp>
        <p:nvSpPr>
          <p:cNvPr id="45" name="Rectangle 44"/>
          <p:cNvSpPr/>
          <p:nvPr/>
        </p:nvSpPr>
        <p:spPr>
          <a:xfrm>
            <a:off x="5843016" y="4315968"/>
            <a:ext cx="44348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主要顧客：三徳運輸、Littelfuseジャパン</a:t>
            </a:r>
          </a:p>
        </p:txBody>
      </p:sp>
      <p:sp>
        <p:nvSpPr>
          <p:cNvPr id="46" name="Rectangle 45"/>
          <p:cNvSpPr/>
          <p:nvPr/>
        </p:nvSpPr>
        <p:spPr>
          <a:xfrm>
            <a:off x="310896" y="4700016"/>
            <a:ext cx="4965192" cy="1207008"/>
          </a:xfrm>
          <a:prstGeom prst="rect">
            <a:avLst/>
          </a:prstGeom>
          <a:no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10896" y="4700016"/>
            <a:ext cx="384048" cy="12070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10896" y="5111496"/>
            <a:ext cx="384048"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游ゴシック"/>
                <a:ea typeface="游ゴシック"/>
              </a:rPr>
              <a:t>③</a:t>
            </a:r>
          </a:p>
        </p:txBody>
      </p:sp>
      <p:sp>
        <p:nvSpPr>
          <p:cNvPr id="49" name="Rectangle 48"/>
          <p:cNvSpPr/>
          <p:nvPr/>
        </p:nvSpPr>
        <p:spPr>
          <a:xfrm>
            <a:off x="768096" y="474573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100" b="1">
                <a:solidFill>
                  <a:srgbClr val="0B3041"/>
                </a:solidFill>
                <a:latin typeface="游ゴシック"/>
                <a:ea typeface="游ゴシック"/>
              </a:rPr>
              <a:t>保税蔵置場・保税取扱／爆発物検査</a:t>
            </a:r>
          </a:p>
        </p:txBody>
      </p:sp>
      <p:sp>
        <p:nvSpPr>
          <p:cNvPr id="50" name="Rectangle 49"/>
          <p:cNvSpPr/>
          <p:nvPr/>
        </p:nvSpPr>
        <p:spPr>
          <a:xfrm>
            <a:off x="3328415" y="4764024"/>
            <a:ext cx="1874519"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r"/>
            <a:r>
              <a:rPr sz="800" b="1">
                <a:solidFill>
                  <a:srgbClr val="0889C9"/>
                </a:solidFill>
                <a:latin typeface="游ゴシック"/>
                <a:ea typeface="游ゴシック"/>
              </a:rPr>
              <a:t>梱包外収入 34百万円（12%）</a:t>
            </a:r>
          </a:p>
        </p:txBody>
      </p:sp>
      <p:sp>
        <p:nvSpPr>
          <p:cNvPr id="51" name="Rectangle 50"/>
          <p:cNvSpPr/>
          <p:nvPr/>
        </p:nvSpPr>
        <p:spPr>
          <a:xfrm>
            <a:off x="768096" y="5047488"/>
            <a:ext cx="44348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2024年12月に東京税関の保税蔵置場許可を取得。保税取扱、爆発物検査、ラベリング、機材保管を提供。</a:t>
            </a:r>
          </a:p>
        </p:txBody>
      </p:sp>
      <p:sp>
        <p:nvSpPr>
          <p:cNvPr id="52" name="Rectangle 51"/>
          <p:cNvSpPr/>
          <p:nvPr/>
        </p:nvSpPr>
        <p:spPr>
          <a:xfrm>
            <a:off x="768096" y="5614416"/>
            <a:ext cx="44348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主要顧客：鴻池運輸、DHL、ハッピーカーゴ</a:t>
            </a:r>
          </a:p>
        </p:txBody>
      </p:sp>
      <p:sp>
        <p:nvSpPr>
          <p:cNvPr id="53" name="Rectangle 52"/>
          <p:cNvSpPr/>
          <p:nvPr/>
        </p:nvSpPr>
        <p:spPr>
          <a:xfrm>
            <a:off x="5385816" y="4700016"/>
            <a:ext cx="4965192" cy="1207008"/>
          </a:xfrm>
          <a:prstGeom prst="rect">
            <a:avLst/>
          </a:prstGeom>
          <a:no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385816" y="4700016"/>
            <a:ext cx="384048" cy="12070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385816" y="5111496"/>
            <a:ext cx="384048"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游ゴシック"/>
                <a:ea typeface="游ゴシック"/>
              </a:rPr>
              <a:t>④</a:t>
            </a:r>
          </a:p>
        </p:txBody>
      </p:sp>
      <p:sp>
        <p:nvSpPr>
          <p:cNvPr id="56" name="Rectangle 55"/>
          <p:cNvSpPr/>
          <p:nvPr/>
        </p:nvSpPr>
        <p:spPr>
          <a:xfrm>
            <a:off x="5843016" y="474573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100" b="1">
                <a:solidFill>
                  <a:srgbClr val="0B3041"/>
                </a:solidFill>
                <a:latin typeface="游ゴシック"/>
                <a:ea typeface="游ゴシック"/>
              </a:rPr>
              <a:t>業務請負・事務作業受託</a:t>
            </a:r>
          </a:p>
        </p:txBody>
      </p:sp>
      <p:sp>
        <p:nvSpPr>
          <p:cNvPr id="57" name="Rectangle 56"/>
          <p:cNvSpPr/>
          <p:nvPr/>
        </p:nvSpPr>
        <p:spPr>
          <a:xfrm>
            <a:off x="8403336" y="4764024"/>
            <a:ext cx="1874519"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r"/>
            <a:r>
              <a:rPr sz="800" b="1">
                <a:solidFill>
                  <a:srgbClr val="0889C9"/>
                </a:solidFill>
                <a:latin typeface="游ゴシック"/>
                <a:ea typeface="游ゴシック"/>
              </a:rPr>
              <a:t>その他収入 36百万円（13%）</a:t>
            </a:r>
          </a:p>
        </p:txBody>
      </p:sp>
      <p:sp>
        <p:nvSpPr>
          <p:cNvPr id="58" name="Rectangle 57"/>
          <p:cNvSpPr/>
          <p:nvPr/>
        </p:nvSpPr>
        <p:spPr>
          <a:xfrm>
            <a:off x="5843016" y="5047488"/>
            <a:ext cx="44348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DHLの新千歳拠点での輸出入オペレーション事務（2025年6月～）、空港上屋での作業請負等。</a:t>
            </a:r>
          </a:p>
        </p:txBody>
      </p:sp>
      <p:sp>
        <p:nvSpPr>
          <p:cNvPr id="59" name="Rectangle 58"/>
          <p:cNvSpPr/>
          <p:nvPr/>
        </p:nvSpPr>
        <p:spPr>
          <a:xfrm>
            <a:off x="5843016" y="5614416"/>
            <a:ext cx="443484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404040"/>
                </a:solidFill>
                <a:latin typeface="游ゴシック Medium"/>
                <a:ea typeface="游ゴシック Medium"/>
              </a:rPr>
              <a:t>主要顧客：DHL、国際空港上屋</a:t>
            </a:r>
          </a:p>
        </p:txBody>
      </p:sp>
      <p:sp>
        <p:nvSpPr>
          <p:cNvPr id="60" name="Rectangle 59"/>
          <p:cNvSpPr/>
          <p:nvPr/>
        </p:nvSpPr>
        <p:spPr>
          <a:xfrm>
            <a:off x="310896" y="6035040"/>
            <a:ext cx="10040112" cy="56692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11480" y="6053328"/>
            <a:ext cx="91440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3041"/>
                </a:solidFill>
                <a:latin typeface="游ゴシック"/>
                <a:ea typeface="游ゴシック"/>
              </a:rPr>
              <a:t>強み</a:t>
            </a:r>
          </a:p>
        </p:txBody>
      </p:sp>
      <p:sp>
        <p:nvSpPr>
          <p:cNvPr id="62" name="Rectangle 61"/>
          <p:cNvSpPr/>
          <p:nvPr/>
        </p:nvSpPr>
        <p:spPr>
          <a:xfrm>
            <a:off x="1371600" y="6071616"/>
            <a:ext cx="88696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l"/>
            <a:r>
              <a:rPr sz="900" b="0">
                <a:solidFill>
                  <a:srgbClr val="000000"/>
                </a:solidFill>
                <a:latin typeface="游ゴシック Medium"/>
                <a:ea typeface="游ゴシック Medium"/>
              </a:rPr>
              <a:t>✓ 成田空港至近で保税蔵置場許可を保有し、梱包から保税蔵置・検査までワンストップで対応</a:t>
            </a:r>
          </a:p>
          <a:p>
            <a:pPr algn="l"/>
            <a:r>
              <a:rPr sz="900" b="0">
                <a:solidFill>
                  <a:srgbClr val="000000"/>
                </a:solidFill>
                <a:latin typeface="游ゴシック Medium"/>
                <a:ea typeface="游ゴシック Medium"/>
              </a:rPr>
              <a:t>✓ 段ボール裁断機を活用したサイズ合わせ梱包・保冷梱包など、スピード納品と即日対応のノウハウ</a:t>
            </a:r>
          </a:p>
        </p:txBody>
      </p:sp>
      <p:sp>
        <p:nvSpPr>
          <p:cNvPr id="63" name="Rectangle 62"/>
          <p:cNvSpPr/>
          <p:nvPr/>
        </p:nvSpPr>
        <p:spPr>
          <a:xfrm>
            <a:off x="310896" y="6656832"/>
            <a:ext cx="1004011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※事業区分は勘定科目（梱包収入／梱包外収入／その他収入）と取引内容から整理。構内梱包請負の売上は梱包収入に含まれ、区分別の内訳は要確認。</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売上区分別の推移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梱包収入が売上の7割超を占める主力。37期は梱包外収入（保税取扱・爆発物検査）とその他収入（DHL向け業務請負）が伸長し、梱包の周辺業務へ収益源が拡がりつつある。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508760"/>
          <a:ext cx="7223760" cy="1755648"/>
        </p:xfrm>
        <a:graphic>
          <a:graphicData uri="http://schemas.openxmlformats.org/drawingml/2006/table">
            <a:tbl>
              <a:tblPr firstRow="0" bandRow="0" firstCol="0" lastRow="0" lastCol="0" bandCol="0"/>
              <a:tblGrid>
                <a:gridCol w="2286000"/>
                <a:gridCol w="960120"/>
                <a:gridCol w="685800"/>
                <a:gridCol w="960120"/>
                <a:gridCol w="685800"/>
                <a:gridCol w="960120"/>
                <a:gridCol w="685800"/>
              </a:tblGrid>
              <a:tr h="292608">
                <a:tc>
                  <a:txBody>
                    <a:bodyPr wrap="square"/>
                    <a:lstStyle/>
                    <a:p>
                      <a:pPr algn="ctr"/>
                      <a:r>
                        <a:rPr sz="95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92608">
                <a:tc>
                  <a:txBody>
                    <a:bodyPr wrap="square"/>
                    <a:lstStyle/>
                    <a:p>
                      <a:pPr algn="l"/>
                      <a:r>
                        <a:rPr sz="950" b="0">
                          <a:solidFill>
                            <a:srgbClr val="000000"/>
                          </a:solidFill>
                          <a:latin typeface="游ゴシック"/>
                          <a:ea typeface="游ゴシック"/>
                        </a:rPr>
                        <a:t>梱包収入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173,684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208,996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85.0%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209,139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74.9%</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50" b="0">
                          <a:solidFill>
                            <a:srgbClr val="000000"/>
                          </a:solidFill>
                          <a:latin typeface="游ゴシック"/>
                          <a:ea typeface="游ゴシック"/>
                        </a:rPr>
                        <a:t>梱包外収入（保税・輸出入作業等）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76,514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20,901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34,050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12.2%</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50" b="0">
                          <a:solidFill>
                            <a:srgbClr val="000000"/>
                          </a:solidFill>
                          <a:latin typeface="游ゴシック"/>
                          <a:ea typeface="游ゴシック"/>
                        </a:rPr>
                        <a:t>その他収入（業務請負等）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99,179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27.8%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14,710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36,105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12.9%</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50" b="0">
                          <a:solidFill>
                            <a:srgbClr val="000000"/>
                          </a:solidFill>
                          <a:latin typeface="游ゴシック"/>
                          <a:ea typeface="游ゴシック"/>
                        </a:rPr>
                        <a:t>賃貸収入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7,738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5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357,115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245,854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279,294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pic>
        <p:nvPicPr>
          <p:cNvPr id="15" name="Picture 14" descr="chart_rev.png"/>
          <p:cNvPicPr>
            <a:picLocks noChangeAspect="1"/>
          </p:cNvPicPr>
          <p:nvPr/>
        </p:nvPicPr>
        <p:blipFill>
          <a:blip r:embed="rId3"/>
          <a:stretch>
            <a:fillRect/>
          </a:stretch>
        </p:blipFill>
        <p:spPr>
          <a:xfrm>
            <a:off x="7635240" y="1463040"/>
            <a:ext cx="2697480" cy="2832354"/>
          </a:xfrm>
          <a:prstGeom prst="rect">
            <a:avLst/>
          </a:prstGeom>
        </p:spPr>
      </p:pic>
      <p:sp>
        <p:nvSpPr>
          <p:cNvPr id="16" name="Rectangle 15"/>
          <p:cNvSpPr/>
          <p:nvPr/>
        </p:nvSpPr>
        <p:spPr>
          <a:xfrm>
            <a:off x="310896" y="3520440"/>
            <a:ext cx="7223760" cy="3017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584448"/>
            <a:ext cx="6949440" cy="2926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300"/>
              </a:spcAft>
            </a:pPr>
            <a:r>
              <a:rPr sz="900" b="1">
                <a:solidFill>
                  <a:srgbClr val="0B3041"/>
                </a:solidFill>
                <a:latin typeface="游ゴシック Medium"/>
                <a:ea typeface="游ゴシック Medium"/>
              </a:rPr>
              <a:t>≪区分別の動き≫</a:t>
            </a:r>
          </a:p>
          <a:p>
            <a:pPr algn="l">
              <a:spcAft>
                <a:spcPts val="300"/>
              </a:spcAft>
            </a:pPr>
            <a:r>
              <a:rPr sz="900" b="0">
                <a:solidFill>
                  <a:srgbClr val="000000"/>
                </a:solidFill>
                <a:latin typeface="游ゴシック Medium"/>
                <a:ea typeface="游ゴシック Medium"/>
              </a:rPr>
              <a:t>・梱包収入：36期は旧拠点家主（ホンダロジスティクス）向けの縮小を三徳運輸・航空集配サービス向けが補い209百万円と横ばい。37期も209百万円を維持。</a:t>
            </a:r>
          </a:p>
          <a:p>
            <a:pPr algn="l">
              <a:spcAft>
                <a:spcPts val="300"/>
              </a:spcAft>
            </a:pPr>
            <a:r>
              <a:rPr sz="900" b="0">
                <a:solidFill>
                  <a:srgbClr val="000000"/>
                </a:solidFill>
                <a:latin typeface="游ゴシック Medium"/>
                <a:ea typeface="游ゴシック Medium"/>
              </a:rPr>
              <a:t>・梱包外収入：35期は76百万円あったが、移転・保税許可取得期の36期に21百万円へ減少。2024年12月の保税蔵置場許可取得後、37期は鴻池運輸向け保税取扱・爆発物検査の拡大により34百万円へ回復。</a:t>
            </a:r>
          </a:p>
          <a:p>
            <a:pPr algn="l">
              <a:spcAft>
                <a:spcPts val="300"/>
              </a:spcAft>
            </a:pPr>
            <a:r>
              <a:rPr sz="900" b="0">
                <a:solidFill>
                  <a:srgbClr val="000000"/>
                </a:solidFill>
                <a:latin typeface="游ゴシック Medium"/>
                <a:ea typeface="游ゴシック Medium"/>
              </a:rPr>
              <a:t>・その他収入：37期にDHL向け業務請負が32百万円（36期11百万円）へ拡大。2025年6月から新千歳拠点での事務作業受託（2名分、1名月額420千円）を開始。</a:t>
            </a:r>
          </a:p>
          <a:p>
            <a:pPr algn="l">
              <a:spcAft>
                <a:spcPts val="300"/>
              </a:spcAft>
            </a:pPr>
            <a:r>
              <a:rPr sz="900" b="0">
                <a:solidFill>
                  <a:srgbClr val="000000"/>
                </a:solidFill>
                <a:latin typeface="游ゴシック Medium"/>
                <a:ea typeface="游ゴシック Medium"/>
              </a:rPr>
              <a:t>・賃貸収入：旧拠点での転貸収入。拠点移転に伴い36期で終了。</a:t>
            </a:r>
          </a:p>
          <a:p>
            <a:pPr algn="l">
              <a:spcAft>
                <a:spcPts val="300"/>
              </a:spcAft>
            </a:pPr>
            <a:r>
              <a:rPr sz="800" b="0">
                <a:solidFill>
                  <a:srgbClr val="000000"/>
                </a:solidFill>
                <a:latin typeface="游ゴシック Medium"/>
                <a:ea typeface="游ゴシック Medium"/>
              </a:rPr>
              <a:t>※DHL向け業務請負は人材サービス会社への外注費（37期32,925千円）と対応しており、同業務の粗利は要確認。</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主要得意先の推移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上位5社（三徳運輸・航空集配サービス・DHL・Littelfuseジャパン・鴻池運輸）で売上の94%を占める。DHL・鴻池運輸向けは保税・業務請負の拡大により37期に大きく伸長した。</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9601200" cy="3986784"/>
        </p:xfrm>
        <a:graphic>
          <a:graphicData uri="http://schemas.openxmlformats.org/drawingml/2006/table">
            <a:tbl>
              <a:tblPr firstRow="0" bandRow="0" firstCol="0" lastRow="0" lastCol="0" bandCol="0"/>
              <a:tblGrid>
                <a:gridCol w="274320"/>
                <a:gridCol w="2148840"/>
                <a:gridCol w="2240280"/>
                <a:gridCol w="960120"/>
                <a:gridCol w="777240"/>
                <a:gridCol w="548640"/>
                <a:gridCol w="777240"/>
                <a:gridCol w="548640"/>
                <a:gridCol w="777240"/>
                <a:gridCol w="548640"/>
              </a:tblGrid>
              <a:tr h="365760">
                <a:tc>
                  <a:txBody>
                    <a:bodyPr wrap="square"/>
                    <a:lstStyle/>
                    <a:p>
                      <a:pPr algn="ctr"/>
                      <a:r>
                        <a:rPr sz="850" b="1">
                          <a:solidFill>
                            <a:srgbClr val="FFFFFF"/>
                          </a:solidFill>
                          <a:latin typeface="游ゴシック"/>
                          <a:ea typeface="游ゴシック"/>
                        </a:rPr>
                        <a:t>№</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得意先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取引内容</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所在地</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進行期</a:t>
                      </a:r>
                    </a:p>
                    <a:p>
                      <a:pPr algn="ctr"/>
                      <a:r>
                        <a:rPr sz="850" b="1">
                          <a:solidFill>
                            <a:srgbClr val="FFFFFF"/>
                          </a:solidFill>
                          <a:latin typeface="游ゴシック"/>
                          <a:ea typeface="游ゴシック"/>
                        </a:rPr>
                        <a:t>（6～8月）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01752">
                <a:tc>
                  <a:txBody>
                    <a:bodyPr wrap="square"/>
                    <a:lstStyle/>
                    <a:p>
                      <a:pPr algn="ctr"/>
                      <a:r>
                        <a:rPr sz="850" b="0">
                          <a:solidFill>
                            <a:srgbClr val="000000"/>
                          </a:solidFill>
                          <a:latin typeface="游ゴシック"/>
                          <a:ea typeface="游ゴシック"/>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三徳運輸㈱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顧客倉庫内での構内梱包・梱包資材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茨城県神栖市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82,269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33.5%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71,237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22,061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28.9%</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航空集配サービス㈱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輸出航空貨物の梱包・梱包資材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千葉県習志野市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53,033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69,182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18,857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24.7%</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DHLグローバルフォワーディングジャパン㈱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梱包・保税取扱・爆発物検査・事務作業受託</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東京都墨田区</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30,217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52,712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16,127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21.1%</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Littelfuseジャパン合同会社</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工場構内での梱包（つくば事業所）</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茨城県稲敷市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41,292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16.8%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41,499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10,794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14.1%</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鴻池運輸㈱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保税取扱・爆発物検査・ラベリング等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大阪府大阪市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11,911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29,486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4,620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6.0%</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国際空港上屋㈱</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業務請負（作業・清掃等）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千葉県成田市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3,992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4,101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0.8%</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マルシン商事</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梱包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千葉県成田市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3,464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872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㈲宮崎商会</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梱包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千葉県四街道市</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2,223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2,906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ハッピーカーゴ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保税取扱・爆発物検査・機材保管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㈱ホンダロジスティクス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梱包・保税取扱・賃貸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栃木県芳賀郡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10,444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その他（6～8社）</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4,562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2,212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0.8%</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ctr"/>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85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245,854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279,294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76,376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5" name="Rectangle 14"/>
          <p:cNvSpPr/>
          <p:nvPr/>
        </p:nvSpPr>
        <p:spPr>
          <a:xfrm>
            <a:off x="310896" y="6172200"/>
            <a:ext cx="1004011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※総勘定元帳の売上計上額を取引先別に集計（単位：千円）。24年5月期は元帳未受領のため期末売掛金残高のみ判明（Littelfuse 8,135千円、三徳運輸5,321千円、ホンダロジスティクス4,824千円、航空集配3,881千円、DHL 3,794千円、鴻池運輸1,499千円）。※三徳運輸向けは丸全昭和運輸㈱倉庫内での構内梱包、Littelfuseジャパン向けは同社工場構内での梱包（つくば事業所）。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主要仕入先・外注先の推移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梱包資材は宮崎商会・山田ダンボール・ユーエムパッケージの3社で仕入の67%。外注費は37期にDHL向け業務請負の人員（グローバル人材バンク）が拡大し66百万円となった。</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17320"/>
          <a:ext cx="9144000" cy="2295144"/>
        </p:xfrm>
        <a:graphic>
          <a:graphicData uri="http://schemas.openxmlformats.org/drawingml/2006/table">
            <a:tbl>
              <a:tblPr firstRow="0" bandRow="0" firstCol="0" lastRow="0" lastCol="0" bandCol="0"/>
              <a:tblGrid>
                <a:gridCol w="274320"/>
                <a:gridCol w="2103120"/>
                <a:gridCol w="2377440"/>
                <a:gridCol w="868680"/>
                <a:gridCol w="594360"/>
                <a:gridCol w="868680"/>
                <a:gridCol w="594360"/>
                <a:gridCol w="868680"/>
                <a:gridCol w="594360"/>
              </a:tblGrid>
              <a:tr h="329184">
                <a:tc>
                  <a:txBody>
                    <a:bodyPr wrap="square"/>
                    <a:lstStyle/>
                    <a:p>
                      <a:pPr algn="ctr"/>
                      <a:r>
                        <a:rPr sz="750" b="1">
                          <a:solidFill>
                            <a:srgbClr val="FFFFFF"/>
                          </a:solidFill>
                          <a:latin typeface="游ゴシック"/>
                          <a:ea typeface="游ゴシック"/>
                        </a:rPr>
                        <a:t>№</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仕入先（原材料）</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内容</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進行期</a:t>
                      </a:r>
                    </a:p>
                    <a:p>
                      <a:pPr algn="ctr"/>
                      <a:r>
                        <a:rPr sz="750" b="1">
                          <a:solidFill>
                            <a:srgbClr val="FFFFFF"/>
                          </a:solidFill>
                          <a:latin typeface="游ゴシック"/>
                          <a:ea typeface="游ゴシック"/>
                        </a:rPr>
                        <a:t>（6～8月）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96596">
                <a:tc>
                  <a:txBody>
                    <a:bodyPr wrap="square"/>
                    <a:lstStyle/>
                    <a:p>
                      <a:pPr algn="ctr"/>
                      <a:r>
                        <a:rPr sz="750" b="0">
                          <a:solidFill>
                            <a:srgbClr val="000000"/>
                          </a:solidFill>
                          <a:latin typeface="游ゴシック"/>
                          <a:ea typeface="游ゴシック"/>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㈲宮崎商会</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梱包資材（木材・パレット等）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13,590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16,823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4,694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24.5%</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山田ダンボール㈱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段ボール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15,369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13,671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3,845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20.1%</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㈱ユーエムパッケージ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13,705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13,639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成田ドライアイス㈱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ドライアイス（保冷梱包）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6,177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7,168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9.5%</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UNパック・ジャパン㈱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4,419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12.7%</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山一産業</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3,816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3,386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7.2%</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トヨタL&amp;F</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フォークリフト関連</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4,206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タニックス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その他</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444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75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7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65,662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65,453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19,150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15" name="Table 14"/>
          <p:cNvGraphicFramePr>
            <a:graphicFrameLocks noGrp="1"/>
          </p:cNvGraphicFramePr>
          <p:nvPr/>
        </p:nvGraphicFramePr>
        <p:xfrm>
          <a:off x="310896" y="3849624"/>
          <a:ext cx="9144000" cy="2295144"/>
        </p:xfrm>
        <a:graphic>
          <a:graphicData uri="http://schemas.openxmlformats.org/drawingml/2006/table">
            <a:tbl>
              <a:tblPr firstRow="0" bandRow="0" firstCol="0" lastRow="0" lastCol="0" bandCol="0"/>
              <a:tblGrid>
                <a:gridCol w="274320"/>
                <a:gridCol w="2103120"/>
                <a:gridCol w="2377440"/>
                <a:gridCol w="868680"/>
                <a:gridCol w="594360"/>
                <a:gridCol w="868680"/>
                <a:gridCol w="594360"/>
                <a:gridCol w="868680"/>
                <a:gridCol w="594360"/>
              </a:tblGrid>
              <a:tr h="329184">
                <a:tc>
                  <a:txBody>
                    <a:bodyPr wrap="square"/>
                    <a:lstStyle/>
                    <a:p>
                      <a:pPr algn="ctr"/>
                      <a:r>
                        <a:rPr sz="750" b="1">
                          <a:solidFill>
                            <a:srgbClr val="FFFFFF"/>
                          </a:solidFill>
                          <a:latin typeface="游ゴシック"/>
                          <a:ea typeface="游ゴシック"/>
                        </a:rPr>
                        <a:t>№</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外注先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内容</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進行期</a:t>
                      </a:r>
                    </a:p>
                    <a:p>
                      <a:pPr algn="ctr"/>
                      <a:r>
                        <a:rPr sz="750" b="1">
                          <a:solidFill>
                            <a:srgbClr val="FFFFFF"/>
                          </a:solidFill>
                          <a:latin typeface="游ゴシック"/>
                          <a:ea typeface="游ゴシック"/>
                        </a:rPr>
                        <a:t>（6～8月）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構成比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96596">
                <a:tc>
                  <a:txBody>
                    <a:bodyPr wrap="square"/>
                    <a:lstStyle/>
                    <a:p>
                      <a:pPr algn="ctr"/>
                      <a:r>
                        <a:rPr sz="750" b="0">
                          <a:solidFill>
                            <a:srgbClr val="000000"/>
                          </a:solidFill>
                          <a:latin typeface="游ゴシック"/>
                          <a:ea typeface="游ゴシック"/>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グローバル人材バンク合同会社</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DHL向け業務請負の人員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3,116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32,925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11,557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52.7%</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㈲ベルパック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丸全倉庫内での梱包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14,106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9,659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17.9%</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印東木材㈱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成田でのパレット作成等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5,379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8,262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9.5%</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三徳運輸㈱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丸全倉庫内での梱包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8,012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8,229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10.1%</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㈱アイ・ポート（アイプラス）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人材派遣</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5,553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8.6%</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花岡（個人）</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保税関係業務顧問</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㈱龍原</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梱包作業</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7,808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ユアーズジャパン㈱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1,700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その他</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75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ctr"/>
                      <a:r>
                        <a:rPr sz="7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75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7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43,454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65,766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21,940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6" name="Rectangle 15"/>
          <p:cNvSpPr/>
          <p:nvPr/>
        </p:nvSpPr>
        <p:spPr>
          <a:xfrm>
            <a:off x="310896" y="6812280"/>
            <a:ext cx="10040112"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※総勘定元帳の原材料仕入高・外注費を相手先別に集計（税抜、単位：千円）。</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代表取締役の下、部長が業務全般を統括。成田事業所（梱包・保税）とつくば事業所（顧客工場構内）の2拠点体制で、繁閑や業務請負案件には人材派遣・協力会社を組み合わせて対応している。</a:t>
            </a:r>
            <a:endParaRPr lang="en-US" altLang="ja-JP" dirty="0">
              <a:latin typeface="游ゴシック" panose="020B0400000000000000" pitchFamily="50" charset="-128"/>
              <a:ea typeface="游ゴシック" panose="020B0400000000000000" pitchFamily="50" charset="-128"/>
            </a:endParaRPr>
          </a:p>
        </p:txBody>
      </p:sp>
      <p:sp>
        <p:nvSpPr>
          <p:cNvPr id="14" name="Rounded Rectangle 13"/>
          <p:cNvSpPr/>
          <p:nvPr/>
        </p:nvSpPr>
        <p:spPr>
          <a:xfrm>
            <a:off x="3977639" y="1508760"/>
            <a:ext cx="2377440" cy="457200"/>
          </a:xfrm>
          <a:prstGeom prst="round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77639" y="1508760"/>
            <a:ext cx="23774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株主総会</a:t>
            </a:r>
          </a:p>
          <a:p>
            <a:pPr algn="ctr"/>
            <a:r>
              <a:rPr sz="850" b="0">
                <a:solidFill>
                  <a:srgbClr val="FFFFFF"/>
                </a:solidFill>
                <a:latin typeface="游ゴシック"/>
                <a:ea typeface="游ゴシック"/>
              </a:rPr>
              <a:t>高塚 慎吾（60%）・高塚 とく江（40%）</a:t>
            </a:r>
          </a:p>
        </p:txBody>
      </p:sp>
      <p:sp>
        <p:nvSpPr>
          <p:cNvPr id="16" name="Rounded Rectangle 15"/>
          <p:cNvSpPr/>
          <p:nvPr/>
        </p:nvSpPr>
        <p:spPr>
          <a:xfrm>
            <a:off x="3977639" y="2240280"/>
            <a:ext cx="2377440" cy="50292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77639" y="2240280"/>
            <a:ext cx="23774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代表取締役</a:t>
            </a:r>
          </a:p>
          <a:p>
            <a:pPr algn="ctr"/>
            <a:r>
              <a:rPr sz="850" b="0">
                <a:solidFill>
                  <a:srgbClr val="FFFFFF"/>
                </a:solidFill>
                <a:latin typeface="游ゴシック"/>
                <a:ea typeface="游ゴシック"/>
              </a:rPr>
              <a:t>庄司 和夫（No.1）</a:t>
            </a:r>
          </a:p>
        </p:txBody>
      </p:sp>
      <p:sp>
        <p:nvSpPr>
          <p:cNvPr id="18" name="Rounded Rectangle 17"/>
          <p:cNvSpPr/>
          <p:nvPr/>
        </p:nvSpPr>
        <p:spPr>
          <a:xfrm>
            <a:off x="3977639" y="3017520"/>
            <a:ext cx="2377440" cy="502920"/>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77639" y="3017520"/>
            <a:ext cx="23774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部長（業務全般）</a:t>
            </a:r>
          </a:p>
          <a:p>
            <a:pPr algn="ctr"/>
            <a:r>
              <a:rPr sz="850" b="0">
                <a:solidFill>
                  <a:srgbClr val="FFFFFF"/>
                </a:solidFill>
                <a:latin typeface="游ゴシック"/>
                <a:ea typeface="游ゴシック"/>
              </a:rPr>
              <a:t>金子 芳則（No.2）</a:t>
            </a:r>
          </a:p>
        </p:txBody>
      </p:sp>
      <p:cxnSp>
        <p:nvCxnSpPr>
          <p:cNvPr id="20" name="Connector 19"/>
          <p:cNvCxnSpPr/>
          <p:nvPr/>
        </p:nvCxnSpPr>
        <p:spPr>
          <a:xfrm>
            <a:off x="5166360" y="1965960"/>
            <a:ext cx="0" cy="27432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66360" y="2743200"/>
            <a:ext cx="0" cy="27432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166360" y="3520440"/>
            <a:ext cx="0" cy="228599"/>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63040" y="3749039"/>
            <a:ext cx="7406640" cy="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463040" y="3749039"/>
            <a:ext cx="0" cy="182881"/>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66360" y="3749039"/>
            <a:ext cx="0" cy="182881"/>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869680" y="3749039"/>
            <a:ext cx="0" cy="182881"/>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10896" y="3931920"/>
            <a:ext cx="2331720" cy="457200"/>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3931920"/>
            <a:ext cx="2331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成田事業所</a:t>
            </a:r>
          </a:p>
          <a:p>
            <a:pPr algn="ctr"/>
            <a:r>
              <a:rPr sz="850" b="0">
                <a:solidFill>
                  <a:srgbClr val="FFFFFF"/>
                </a:solidFill>
                <a:latin typeface="游ゴシック"/>
                <a:ea typeface="游ゴシック"/>
              </a:rPr>
              <a:t>本社・保税蔵置場（11名）</a:t>
            </a:r>
          </a:p>
        </p:txBody>
      </p:sp>
      <p:sp>
        <p:nvSpPr>
          <p:cNvPr id="29" name="Rounded Rectangle 28"/>
          <p:cNvSpPr/>
          <p:nvPr/>
        </p:nvSpPr>
        <p:spPr>
          <a:xfrm>
            <a:off x="4023360" y="3931920"/>
            <a:ext cx="2331720" cy="457200"/>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23360" y="3931920"/>
            <a:ext cx="2331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つくば事業所</a:t>
            </a:r>
          </a:p>
          <a:p>
            <a:pPr algn="ctr"/>
            <a:r>
              <a:rPr sz="850" b="0">
                <a:solidFill>
                  <a:srgbClr val="FFFFFF"/>
                </a:solidFill>
                <a:latin typeface="游ゴシック"/>
                <a:ea typeface="游ゴシック"/>
              </a:rPr>
              <a:t>顧客工場構内（9名）</a:t>
            </a:r>
          </a:p>
        </p:txBody>
      </p:sp>
      <p:sp>
        <p:nvSpPr>
          <p:cNvPr id="31" name="Rounded Rectangle 30"/>
          <p:cNvSpPr/>
          <p:nvPr/>
        </p:nvSpPr>
        <p:spPr>
          <a:xfrm>
            <a:off x="7726679" y="3931920"/>
            <a:ext cx="2331720" cy="457200"/>
          </a:xfrm>
          <a:prstGeom prst="round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26679" y="3931920"/>
            <a:ext cx="2331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游ゴシック"/>
                <a:ea typeface="游ゴシック"/>
              </a:rPr>
              <a:t>外部人材・協力会社</a:t>
            </a:r>
          </a:p>
          <a:p>
            <a:pPr algn="ctr"/>
            <a:r>
              <a:rPr sz="850" b="0">
                <a:solidFill>
                  <a:srgbClr val="FFFFFF"/>
                </a:solidFill>
                <a:latin typeface="游ゴシック"/>
                <a:ea typeface="游ゴシック"/>
              </a:rPr>
              <a:t>派遣・業務請負</a:t>
            </a:r>
          </a:p>
        </p:txBody>
      </p:sp>
      <p:sp>
        <p:nvSpPr>
          <p:cNvPr id="33" name="Rectangle 32"/>
          <p:cNvSpPr/>
          <p:nvPr/>
        </p:nvSpPr>
        <p:spPr>
          <a:xfrm>
            <a:off x="310896" y="4480560"/>
            <a:ext cx="2331720" cy="1737360"/>
          </a:xfrm>
          <a:prstGeom prst="rect">
            <a:avLst/>
          </a:prstGeom>
          <a:no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・課長（現場取仕切り）No.7</a:t>
            </a:r>
          </a:p>
          <a:p>
            <a:pPr algn="l"/>
            <a:r>
              <a:rPr sz="850" b="0">
                <a:solidFill>
                  <a:srgbClr val="000000"/>
                </a:solidFill>
                <a:latin typeface="游ゴシック Medium"/>
                <a:ea typeface="游ゴシック Medium"/>
              </a:rPr>
              <a:t>・係長 No.4</a:t>
            </a:r>
          </a:p>
          <a:p>
            <a:pPr algn="l"/>
            <a:r>
              <a:rPr sz="850" b="0">
                <a:solidFill>
                  <a:srgbClr val="000000"/>
                </a:solidFill>
                <a:latin typeface="游ゴシック Medium"/>
                <a:ea typeface="游ゴシック Medium"/>
              </a:rPr>
              <a:t>・梱包責任者 No.8</a:t>
            </a:r>
          </a:p>
          <a:p>
            <a:pPr algn="l"/>
            <a:r>
              <a:rPr sz="850" b="0">
                <a:solidFill>
                  <a:srgbClr val="000000"/>
                </a:solidFill>
                <a:latin typeface="游ゴシック Medium"/>
                <a:ea typeface="游ゴシック Medium"/>
              </a:rPr>
              <a:t>・梱包業務 No.6・10</a:t>
            </a:r>
          </a:p>
          <a:p>
            <a:pPr algn="l"/>
            <a:r>
              <a:rPr sz="850" b="0">
                <a:solidFill>
                  <a:srgbClr val="000000"/>
                </a:solidFill>
                <a:latin typeface="游ゴシック Medium"/>
                <a:ea typeface="游ゴシック Medium"/>
              </a:rPr>
              <a:t>・NACCS（保税）・梱包 No.9</a:t>
            </a:r>
          </a:p>
          <a:p>
            <a:pPr algn="l"/>
            <a:r>
              <a:rPr sz="850" b="0">
                <a:solidFill>
                  <a:srgbClr val="000000"/>
                </a:solidFill>
                <a:latin typeface="游ゴシック Medium"/>
                <a:ea typeface="游ゴシック Medium"/>
              </a:rPr>
              <a:t>・顧客倉庫内梱包 No.3</a:t>
            </a:r>
          </a:p>
          <a:p>
            <a:pPr algn="l"/>
            <a:r>
              <a:rPr sz="850" b="0">
                <a:solidFill>
                  <a:srgbClr val="000000"/>
                </a:solidFill>
                <a:latin typeface="游ゴシック Medium"/>
                <a:ea typeface="游ゴシック Medium"/>
              </a:rPr>
              <a:t>・総務経理 No.5</a:t>
            </a:r>
          </a:p>
          <a:p>
            <a:pPr algn="l"/>
            <a:r>
              <a:rPr sz="850" b="0">
                <a:solidFill>
                  <a:srgbClr val="000000"/>
                </a:solidFill>
                <a:latin typeface="游ゴシック Medium"/>
                <a:ea typeface="游ゴシック Medium"/>
              </a:rPr>
              <a:t>・見積（パート）No.11</a:t>
            </a:r>
          </a:p>
        </p:txBody>
      </p:sp>
      <p:sp>
        <p:nvSpPr>
          <p:cNvPr id="34" name="Rectangle 33"/>
          <p:cNvSpPr/>
          <p:nvPr/>
        </p:nvSpPr>
        <p:spPr>
          <a:xfrm>
            <a:off x="4023360" y="4480560"/>
            <a:ext cx="2331720" cy="1737360"/>
          </a:xfrm>
          <a:prstGeom prst="rect">
            <a:avLst/>
          </a:prstGeom>
          <a:no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・構内梱包 No.12～20</a:t>
            </a:r>
          </a:p>
          <a:p>
            <a:pPr algn="l"/>
            <a:r>
              <a:rPr sz="850" b="0">
                <a:solidFill>
                  <a:srgbClr val="000000"/>
                </a:solidFill>
                <a:latin typeface="游ゴシック Medium"/>
                <a:ea typeface="游ゴシック Medium"/>
              </a:rPr>
              <a:t>（役職手当支給者1名：No.12）</a:t>
            </a:r>
          </a:p>
          <a:p>
            <a:pPr algn="l"/>
            <a:r>
              <a:rPr sz="850" b="0">
                <a:solidFill>
                  <a:srgbClr val="000000"/>
                </a:solidFill>
                <a:latin typeface="游ゴシック Medium"/>
                <a:ea typeface="游ゴシック Medium"/>
              </a:rPr>
              <a:t/>
            </a:r>
          </a:p>
          <a:p>
            <a:pPr algn="l"/>
            <a:r>
              <a:rPr sz="850" b="0">
                <a:solidFill>
                  <a:srgbClr val="000000"/>
                </a:solidFill>
                <a:latin typeface="游ゴシック Medium"/>
                <a:ea typeface="游ゴシック Medium"/>
              </a:rPr>
              <a:t>顧客：Littelfuseジャパン合同会社</a:t>
            </a:r>
          </a:p>
          <a:p>
            <a:pPr algn="l"/>
            <a:r>
              <a:rPr sz="850" b="0">
                <a:solidFill>
                  <a:srgbClr val="000000"/>
                </a:solidFill>
                <a:latin typeface="游ゴシック Medium"/>
                <a:ea typeface="游ゴシック Medium"/>
              </a:rPr>
              <a:t>（茨城県稲敷市の工場構内）</a:t>
            </a:r>
          </a:p>
        </p:txBody>
      </p:sp>
      <p:sp>
        <p:nvSpPr>
          <p:cNvPr id="35" name="Rectangle 34"/>
          <p:cNvSpPr/>
          <p:nvPr/>
        </p:nvSpPr>
        <p:spPr>
          <a:xfrm>
            <a:off x="7726679" y="4480560"/>
            <a:ext cx="2331720" cy="1737360"/>
          </a:xfrm>
          <a:prstGeom prst="rect">
            <a:avLst/>
          </a:prstGeom>
          <a:no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50" b="0">
                <a:solidFill>
                  <a:srgbClr val="000000"/>
                </a:solidFill>
                <a:latin typeface="游ゴシック Medium"/>
                <a:ea typeface="游ゴシック Medium"/>
              </a:rPr>
              <a:t>・グローバル人材バンク</a:t>
            </a:r>
          </a:p>
          <a:p>
            <a:pPr algn="l"/>
            <a:r>
              <a:rPr sz="850" b="0">
                <a:solidFill>
                  <a:srgbClr val="000000"/>
                </a:solidFill>
                <a:latin typeface="游ゴシック Medium"/>
                <a:ea typeface="游ゴシック Medium"/>
              </a:rPr>
              <a:t>　（DHL向け業務請負・新千歳）</a:t>
            </a:r>
          </a:p>
          <a:p>
            <a:pPr algn="l"/>
            <a:r>
              <a:rPr sz="850" b="0">
                <a:solidFill>
                  <a:srgbClr val="000000"/>
                </a:solidFill>
                <a:latin typeface="游ゴシック Medium"/>
                <a:ea typeface="游ゴシック Medium"/>
              </a:rPr>
              <a:t>・アイ・ポート（人材派遣）</a:t>
            </a:r>
          </a:p>
          <a:p>
            <a:pPr algn="l"/>
            <a:r>
              <a:rPr sz="850" b="0">
                <a:solidFill>
                  <a:srgbClr val="000000"/>
                </a:solidFill>
                <a:latin typeface="游ゴシック Medium"/>
                <a:ea typeface="游ゴシック Medium"/>
              </a:rPr>
              <a:t>・ベルパック、三徳運輸</a:t>
            </a:r>
          </a:p>
          <a:p>
            <a:pPr algn="l"/>
            <a:r>
              <a:rPr sz="850" b="0">
                <a:solidFill>
                  <a:srgbClr val="000000"/>
                </a:solidFill>
                <a:latin typeface="游ゴシック Medium"/>
                <a:ea typeface="游ゴシック Medium"/>
              </a:rPr>
              <a:t>　（丸全倉庫内の構内梱包）</a:t>
            </a:r>
          </a:p>
          <a:p>
            <a:pPr algn="l"/>
            <a:r>
              <a:rPr sz="850" b="0">
                <a:solidFill>
                  <a:srgbClr val="000000"/>
                </a:solidFill>
                <a:latin typeface="游ゴシック Medium"/>
                <a:ea typeface="游ゴシック Medium"/>
              </a:rPr>
              <a:t>・印東木材（パレット作成）</a:t>
            </a:r>
          </a:p>
          <a:p>
            <a:pPr algn="l"/>
            <a:r>
              <a:rPr sz="850" b="0">
                <a:solidFill>
                  <a:srgbClr val="000000"/>
                </a:solidFill>
                <a:latin typeface="游ゴシック Medium"/>
                <a:ea typeface="游ゴシック Medium"/>
              </a:rPr>
              <a:t>・保税顧問（個人）</a:t>
            </a:r>
          </a:p>
        </p:txBody>
      </p:sp>
      <p:sp>
        <p:nvSpPr>
          <p:cNvPr id="36" name="Rectangle 35"/>
          <p:cNvSpPr/>
          <p:nvPr/>
        </p:nvSpPr>
        <p:spPr>
          <a:xfrm>
            <a:off x="310896" y="6355080"/>
            <a:ext cx="100401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※図中のNo.は「従業員一覧」ページの従業員No.と対応。人数は代表者を除く。総務経理（No.5）はつくば事業所の事務も兼務。DHL新千歳業務の管理責任者は部長（No.2）。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株主及び役員</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株主は高塚慎吾氏・とく江氏の2名（いずれも非役員）。取締役は代表取締役1名のみで、所有と経営が分離している。</a:t>
            </a:r>
            <a:endParaRPr lang="en-US" altLang="ja-JP" dirty="0">
              <a:latin typeface="游ゴシック" panose="020B0400000000000000" pitchFamily="50" charset="-128"/>
              <a:ea typeface="游ゴシック" panose="020B0400000000000000" pitchFamily="50" charset="-128"/>
            </a:endParaRPr>
          </a:p>
        </p:txBody>
      </p:sp>
      <p:sp>
        <p:nvSpPr>
          <p:cNvPr id="14" name="Rectangle 13"/>
          <p:cNvSpPr/>
          <p:nvPr/>
        </p:nvSpPr>
        <p:spPr>
          <a:xfrm>
            <a:off x="310896" y="1481328"/>
            <a:ext cx="1481328" cy="329184"/>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游ゴシック"/>
                <a:ea typeface="游ゴシック"/>
              </a:rPr>
              <a:t>株主</a:t>
            </a:r>
          </a:p>
        </p:txBody>
      </p:sp>
      <p:graphicFrame>
        <p:nvGraphicFramePr>
          <p:cNvPr id="15" name="Table 14"/>
          <p:cNvGraphicFramePr>
            <a:graphicFrameLocks noGrp="1"/>
          </p:cNvGraphicFramePr>
          <p:nvPr/>
        </p:nvGraphicFramePr>
        <p:xfrm>
          <a:off x="658368" y="1920240"/>
          <a:ext cx="9052560" cy="1170432"/>
        </p:xfrm>
        <a:graphic>
          <a:graphicData uri="http://schemas.openxmlformats.org/drawingml/2006/table">
            <a:tbl>
              <a:tblPr firstRow="0" bandRow="0" firstCol="0" lastRow="0" lastCol="0" bandCol="0"/>
              <a:tblGrid>
                <a:gridCol w="365760"/>
                <a:gridCol w="1737360"/>
                <a:gridCol w="1463040"/>
                <a:gridCol w="1188720"/>
                <a:gridCol w="1005840"/>
                <a:gridCol w="3291840"/>
              </a:tblGrid>
              <a:tr h="292608">
                <a:tc>
                  <a:txBody>
                    <a:bodyPr wrap="square"/>
                    <a:lstStyle/>
                    <a:p>
                      <a:pPr algn="ctr"/>
                      <a:r>
                        <a:rPr sz="950" b="1">
                          <a:solidFill>
                            <a:srgbClr val="FFFFFF"/>
                          </a:solidFill>
                          <a:latin typeface="游ゴシック"/>
                          <a:ea typeface="游ゴシック"/>
                        </a:rPr>
                        <a:t>№</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氏名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役職</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保有株式数</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保有割合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備考</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92608">
                <a:tc>
                  <a:txBody>
                    <a:bodyPr wrap="square"/>
                    <a:lstStyle/>
                    <a:p>
                      <a:pPr algn="ctr"/>
                      <a:r>
                        <a:rPr sz="950" b="0">
                          <a:solidFill>
                            <a:srgbClr val="000000"/>
                          </a:solidFill>
                          <a:latin typeface="游ゴシック"/>
                          <a:ea typeface="游ゴシック"/>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高塚　慎吾</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－（非役員）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600株</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60.0%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香取市在住</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ctr"/>
                      <a:r>
                        <a:rPr sz="950" b="0">
                          <a:solidFill>
                            <a:srgbClr val="000000"/>
                          </a:solidFill>
                          <a:latin typeface="游ゴシック"/>
                          <a:ea typeface="游ゴシック"/>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高塚　とく江</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－（非役員）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400株</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40.0%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高塚慎吾氏の配偶者</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ctr"/>
                      <a:r>
                        <a:rPr sz="9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95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9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1,000株</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9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6" name="Rectangle 15"/>
          <p:cNvSpPr/>
          <p:nvPr/>
        </p:nvSpPr>
        <p:spPr>
          <a:xfrm>
            <a:off x="310896" y="3291840"/>
            <a:ext cx="1481328" cy="329184"/>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游ゴシック"/>
                <a:ea typeface="游ゴシック"/>
              </a:rPr>
              <a:t>役員</a:t>
            </a:r>
          </a:p>
        </p:txBody>
      </p:sp>
      <p:graphicFrame>
        <p:nvGraphicFramePr>
          <p:cNvPr id="17" name="Table 16"/>
          <p:cNvGraphicFramePr>
            <a:graphicFrameLocks noGrp="1"/>
          </p:cNvGraphicFramePr>
          <p:nvPr/>
        </p:nvGraphicFramePr>
        <p:xfrm>
          <a:off x="658368" y="3730752"/>
          <a:ext cx="9052560" cy="841248"/>
        </p:xfrm>
        <a:graphic>
          <a:graphicData uri="http://schemas.openxmlformats.org/drawingml/2006/table">
            <a:tbl>
              <a:tblPr firstRow="0" bandRow="0" firstCol="0" lastRow="0" lastCol="0" bandCol="0"/>
              <a:tblGrid>
                <a:gridCol w="365760"/>
                <a:gridCol w="1280160"/>
                <a:gridCol w="1097280"/>
                <a:gridCol w="1097280"/>
                <a:gridCol w="1097280"/>
                <a:gridCol w="1097280"/>
                <a:gridCol w="3017520"/>
              </a:tblGrid>
              <a:tr h="384048">
                <a:tc>
                  <a:txBody>
                    <a:bodyPr wrap="square"/>
                    <a:lstStyle/>
                    <a:p>
                      <a:pPr algn="ctr"/>
                      <a:r>
                        <a:rPr sz="950" b="1">
                          <a:solidFill>
                            <a:srgbClr val="FFFFFF"/>
                          </a:solidFill>
                          <a:latin typeface="游ゴシック"/>
                          <a:ea typeface="游ゴシック"/>
                        </a:rPr>
                        <a:t>№</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氏名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役職</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代表者との関係</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役員報酬</a:t>
                      </a:r>
                    </a:p>
                    <a:p>
                      <a:pPr algn="ctr"/>
                      <a:r>
                        <a:rPr sz="9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業務範囲</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備考</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457200">
                <a:tc>
                  <a:txBody>
                    <a:bodyPr wrap="square"/>
                    <a:lstStyle/>
                    <a:p>
                      <a:pPr algn="ctr"/>
                      <a:r>
                        <a:rPr sz="950" b="0">
                          <a:solidFill>
                            <a:srgbClr val="000000"/>
                          </a:solidFill>
                          <a:latin typeface="游ゴシック"/>
                          <a:ea typeface="游ゴシック"/>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庄司　和夫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代表取締役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950" b="0">
                          <a:solidFill>
                            <a:srgbClr val="000000"/>
                          </a:solidFill>
                          <a:latin typeface="游ゴシック"/>
                          <a:ea typeface="游ゴシック"/>
                        </a:rPr>
                        <a:t>本人</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3,820千円</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経営全般</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2019年3月就任。引退予定（引継期間は限定的に対応）。金融機関借入の連帯保証人</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8" name="Rectangle 17"/>
          <p:cNvSpPr/>
          <p:nvPr/>
        </p:nvSpPr>
        <p:spPr>
          <a:xfrm>
            <a:off x="310896" y="4846320"/>
            <a:ext cx="1004011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※株主は法人税申告書別表二による（株主名簿は要受領）。取締役は1名で監査役は置いていない（登記簿）。役員報酬は月額318千円（37期）。</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従業員一覧</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正社員18名・パート1名に代表者を加えた20名体制（平均年齢51.5歳、平均勤続11.3年）。成田は保税（NACCS）・梱包の経験者、つくばは勤続10年超のベテランが中心。</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10040112" cy="5084064"/>
        </p:xfrm>
        <a:graphic>
          <a:graphicData uri="http://schemas.openxmlformats.org/drawingml/2006/table">
            <a:tbl>
              <a:tblPr firstRow="0" bandRow="0" firstCol="0" lastRow="0" lastCol="0" bandCol="0"/>
              <a:tblGrid>
                <a:gridCol w="274320"/>
                <a:gridCol w="868680"/>
                <a:gridCol w="594360"/>
                <a:gridCol w="365760"/>
                <a:gridCol w="502920"/>
                <a:gridCol w="548640"/>
                <a:gridCol w="548640"/>
                <a:gridCol w="777240"/>
                <a:gridCol w="685800"/>
                <a:gridCol w="4873752"/>
              </a:tblGrid>
              <a:tr h="329184">
                <a:tc>
                  <a:txBody>
                    <a:bodyPr wrap="square"/>
                    <a:lstStyle/>
                    <a:p>
                      <a:pPr algn="ctr"/>
                      <a:r>
                        <a:rPr sz="800" b="1">
                          <a:solidFill>
                            <a:srgbClr val="FFFFFF"/>
                          </a:solidFill>
                          <a:latin typeface="游ゴシック"/>
                          <a:ea typeface="游ゴシック"/>
                        </a:rPr>
                        <a:t>№</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イニシャル</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雇用形態</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性別</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年齢</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勤続年数</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事業所</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役職</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月額給与</a:t>
                      </a:r>
                    </a:p>
                    <a:p>
                      <a:pPr algn="ctr"/>
                      <a:r>
                        <a:rPr sz="800" b="1">
                          <a:solidFill>
                            <a:srgbClr val="FFFFFF"/>
                          </a:solidFill>
                          <a:latin typeface="游ゴシック"/>
                          <a:ea typeface="游ゴシック"/>
                        </a:rPr>
                        <a:t>（千円）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業務内容・資格</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37744">
                <a:tc>
                  <a:txBody>
                    <a:bodyPr wrap="square"/>
                    <a:lstStyle/>
                    <a:p>
                      <a:pPr algn="ctr"/>
                      <a:r>
                        <a:rPr sz="800" b="0">
                          <a:solidFill>
                            <a:srgbClr val="000000"/>
                          </a:solidFill>
                          <a:latin typeface="游ゴシック"/>
                          <a:ea typeface="游ゴシック"/>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庄司　和夫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役員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74歳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代表取締役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代表取締役（社員情報上は正社員区分）</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K.Y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60歳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部長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568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業務全般の取仕切り／フォークリフト／DHL新千歳業務の管理責任者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I.K</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59歳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19年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丸全昭和運輸倉庫内での梱包・事務／フォークリフト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K.Y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43歳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14年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係長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298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梱包業務／フォークリフト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K.J</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70歳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243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総務経理（つくば分30千円含む）／簿記2級</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M.Y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33歳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梱包業務／フォークリフト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K.Y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44歳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8年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課長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梱包業務一式・現場取仕切り／フォークリフト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S.R</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62歳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梱包業務一式・梱包責任者／フォークリフト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G.Y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45歳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243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NACCS（保税）・梱包業務／フォークリフト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H.K</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53歳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梱包業務／フォークリフト</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K.M</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パート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66歳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時給制</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週2日・見積業務（時給1,200円）</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I.A</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62歳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21年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448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構内梱包（役職手当100千円）</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W.Y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45歳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21年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O.Y</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46歳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19年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G.S</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45歳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16年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S.M</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52歳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14年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S.S</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46歳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12年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H.K</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40歳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12年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T.T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49歳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r h="237744">
                <a:tc>
                  <a:txBody>
                    <a:bodyPr wrap="square"/>
                    <a:lstStyle/>
                    <a:p>
                      <a:pPr algn="ctr"/>
                      <a:r>
                        <a:rPr sz="800" b="0">
                          <a:solidFill>
                            <a:srgbClr val="000000"/>
                          </a:solidFill>
                          <a:latin typeface="游ゴシック"/>
                          <a:ea typeface="游ゴシック"/>
                        </a:rPr>
                        <a:t>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O.T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正社員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36歳</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00" b="0">
                          <a:solidFill>
                            <a:srgbClr val="000000"/>
                          </a:solidFill>
                          <a:latin typeface="游ゴシック"/>
                          <a:ea typeface="游ゴシック"/>
                        </a:rPr>
                        <a:t>つくば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構内梱包</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5" name="Rectangle 14"/>
          <p:cNvSpPr/>
          <p:nvPr/>
        </p:nvSpPr>
        <p:spPr>
          <a:xfrm>
            <a:off x="310896" y="6858000"/>
            <a:ext cx="10040112"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※2026年10月受領の社員情報より。年齢・勤続年数は2026年10月1日時点。月額給与は基本給＋諸手当（時間外・賞与除く）。No.5は成田・つくばの兼務（つくば分30千円を含む）。</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拠点概要</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本社・成田事業所は成田エアポート物流ビジネスセンター内（5F倉庫・2F事務所）を定期建物転貸借で賃借。2026年5月から3年間（中途解約不可）の契約で、倉庫部分が保税蔵置場として許可を受けている。</a:t>
            </a:r>
            <a:endParaRPr lang="en-US" altLang="ja-JP" dirty="0">
              <a:latin typeface="游ゴシック" panose="020B0400000000000000" pitchFamily="50" charset="-128"/>
              <a:ea typeface="游ゴシック" panose="020B0400000000000000" pitchFamily="50" charset="-128"/>
            </a:endParaRPr>
          </a:p>
        </p:txBody>
      </p:sp>
      <p:sp>
        <p:nvSpPr>
          <p:cNvPr id="14" name="Rectangle 13"/>
          <p:cNvSpPr/>
          <p:nvPr/>
        </p:nvSpPr>
        <p:spPr>
          <a:xfrm>
            <a:off x="310896" y="1481328"/>
            <a:ext cx="2743200" cy="292608"/>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賃借物件</a:t>
            </a:r>
          </a:p>
        </p:txBody>
      </p:sp>
      <p:graphicFrame>
        <p:nvGraphicFramePr>
          <p:cNvPr id="15" name="Table 14"/>
          <p:cNvGraphicFramePr>
            <a:graphicFrameLocks noGrp="1"/>
          </p:cNvGraphicFramePr>
          <p:nvPr/>
        </p:nvGraphicFramePr>
        <p:xfrm>
          <a:off x="310896" y="1828800"/>
          <a:ext cx="10040112" cy="1874520"/>
        </p:xfrm>
        <a:graphic>
          <a:graphicData uri="http://schemas.openxmlformats.org/drawingml/2006/table">
            <a:tbl>
              <a:tblPr firstRow="0" bandRow="0" firstCol="0" lastRow="0" lastCol="0" bandCol="0"/>
              <a:tblGrid>
                <a:gridCol w="548640"/>
                <a:gridCol w="1097280"/>
                <a:gridCol w="1417320"/>
                <a:gridCol w="685800"/>
                <a:gridCol w="1325880"/>
                <a:gridCol w="1600200"/>
                <a:gridCol w="685800"/>
                <a:gridCol w="685800"/>
                <a:gridCol w="1993392"/>
              </a:tblGrid>
              <a:tr h="365760">
                <a:tc>
                  <a:txBody>
                    <a:bodyPr wrap="square"/>
                    <a:lstStyle/>
                    <a:p>
                      <a:pPr algn="ctr"/>
                      <a:r>
                        <a:rPr sz="800" b="1">
                          <a:solidFill>
                            <a:srgbClr val="FFFFFF"/>
                          </a:solidFill>
                          <a:latin typeface="游ゴシック"/>
                          <a:ea typeface="游ゴシック"/>
                        </a:rPr>
                        <a:t>区分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用途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所在地</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面積(㎡)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契約形態・期間</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貸主</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月額賃料</a:t>
                      </a:r>
                    </a:p>
                    <a:p>
                      <a:pPr algn="ctr"/>
                      <a:r>
                        <a:rPr sz="800" b="1">
                          <a:solidFill>
                            <a:srgbClr val="FFFFFF"/>
                          </a:solidFill>
                          <a:latin typeface="游ゴシック"/>
                          <a:ea typeface="游ゴシック"/>
                        </a:rPr>
                        <a:t>(千円)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敷金</a:t>
                      </a:r>
                    </a:p>
                    <a:p>
                      <a:pPr algn="ctr"/>
                      <a:r>
                        <a:rPr sz="800" b="1">
                          <a:solidFill>
                            <a:srgbClr val="FFFFFF"/>
                          </a:solidFill>
                          <a:latin typeface="游ゴシック"/>
                          <a:ea typeface="游ゴシック"/>
                        </a:rPr>
                        <a:t>(千円)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備考</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502920">
                <a:tc>
                  <a:txBody>
                    <a:bodyPr wrap="square"/>
                    <a:lstStyle/>
                    <a:p>
                      <a:pPr algn="ctr"/>
                      <a:r>
                        <a:rPr sz="800" b="0">
                          <a:solidFill>
                            <a:srgbClr val="000000"/>
                          </a:solidFill>
                          <a:latin typeface="游ゴシック"/>
                          <a:ea typeface="游ゴシック"/>
                        </a:rPr>
                        <a:t>倉庫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保税蔵置場・梱包作業場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芝山町岩山148-15</a:t>
                      </a:r>
                    </a:p>
                    <a:p>
                      <a:pPr algn="l"/>
                      <a:r>
                        <a:rPr sz="800" b="0">
                          <a:solidFill>
                            <a:srgbClr val="000000"/>
                          </a:solidFill>
                          <a:latin typeface="游ゴシック"/>
                          <a:ea typeface="游ゴシック"/>
                        </a:rPr>
                        <a:t>5F倉庫部分</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1,567.24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定期建物転貸借</a:t>
                      </a:r>
                    </a:p>
                    <a:p>
                      <a:pPr algn="l"/>
                      <a:r>
                        <a:rPr sz="800" b="0">
                          <a:solidFill>
                            <a:srgbClr val="000000"/>
                          </a:solidFill>
                          <a:latin typeface="游ゴシック"/>
                          <a:ea typeface="游ゴシック"/>
                        </a:rPr>
                        <a:t>2026/5/1～2029/4/30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航空集配サービス㈱</a:t>
                      </a:r>
                    </a:p>
                    <a:p>
                      <a:pPr algn="l"/>
                      <a:r>
                        <a:rPr sz="800" b="0">
                          <a:solidFill>
                            <a:srgbClr val="000000"/>
                          </a:solidFill>
                          <a:latin typeface="游ゴシック"/>
                          <a:ea typeface="游ゴシック"/>
                        </a:rPr>
                        <a:t>（所有者：RREEF MARBLE PTE. LIMITED）</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2,081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5,533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中途解約不可。原状回復義務あり（原状復旧図による）</a:t>
                      </a:r>
                    </a:p>
                  </a:txBody>
                  <a:tcPr marL="45720" marR="45720" marT="9144" marB="9144" anchor="ctr">
                    <a:lnL>
                      <a:noFill/>
                    </a:lnL>
                    <a:lnR>
                      <a:noFill/>
                    </a:lnR>
                    <a:lnT>
                      <a:noFill/>
                    </a:lnT>
                    <a:lnB w="6350" cap="flat" cmpd="sng" algn="ctr">
                      <a:solidFill>
                        <a:srgbClr val="A6A6A6"/>
                      </a:solidFill>
                      <a:prstDash val="solid"/>
                    </a:lnB>
                    <a:noFill/>
                  </a:tcPr>
                </a:tc>
              </a:tr>
              <a:tr h="502920">
                <a:tc>
                  <a:txBody>
                    <a:bodyPr wrap="square"/>
                    <a:lstStyle/>
                    <a:p>
                      <a:pPr algn="ctr"/>
                      <a:r>
                        <a:rPr sz="800" b="0">
                          <a:solidFill>
                            <a:srgbClr val="000000"/>
                          </a:solidFill>
                          <a:latin typeface="游ゴシック"/>
                          <a:ea typeface="游ゴシック"/>
                        </a:rPr>
                        <a:t>事務所</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本社事務所</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芝山町岩山148-15</a:t>
                      </a:r>
                    </a:p>
                    <a:p>
                      <a:pPr algn="l"/>
                      <a:r>
                        <a:rPr sz="800" b="0">
                          <a:solidFill>
                            <a:srgbClr val="000000"/>
                          </a:solidFill>
                          <a:latin typeface="游ゴシック"/>
                          <a:ea typeface="游ゴシック"/>
                        </a:rPr>
                        <a:t>2F事務所部分</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48.72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定期建物転貸借</a:t>
                      </a:r>
                    </a:p>
                    <a:p>
                      <a:pPr algn="l"/>
                      <a:r>
                        <a:rPr sz="800" b="0">
                          <a:solidFill>
                            <a:srgbClr val="000000"/>
                          </a:solidFill>
                          <a:latin typeface="游ゴシック"/>
                          <a:ea typeface="游ゴシック"/>
                        </a:rPr>
                        <a:t>2026/5/1～2029/4/30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航空集配サービス㈱</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敷金は支払済み敷金を充当</a:t>
                      </a:r>
                    </a:p>
                  </a:txBody>
                  <a:tcPr marL="45720" marR="45720" marT="9144" marB="9144" anchor="ctr">
                    <a:lnL>
                      <a:noFill/>
                    </a:lnL>
                    <a:lnR>
                      <a:noFill/>
                    </a:lnR>
                    <a:lnT>
                      <a:noFill/>
                    </a:lnT>
                    <a:lnB w="6350" cap="flat" cmpd="sng" algn="ctr">
                      <a:solidFill>
                        <a:srgbClr val="A6A6A6"/>
                      </a:solidFill>
                      <a:prstDash val="solid"/>
                    </a:lnB>
                    <a:noFill/>
                  </a:tcPr>
                </a:tc>
              </a:tr>
              <a:tr h="502920">
                <a:tc>
                  <a:txBody>
                    <a:bodyPr wrap="square"/>
                    <a:lstStyle/>
                    <a:p>
                      <a:pPr algn="ctr"/>
                      <a:r>
                        <a:rPr sz="800" b="0">
                          <a:solidFill>
                            <a:srgbClr val="000000"/>
                          </a:solidFill>
                          <a:latin typeface="游ゴシック"/>
                          <a:ea typeface="游ゴシック"/>
                        </a:rPr>
                        <a:t>作業場</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つくば事業所</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茨城県稲敷市（顧客工場構内）</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Littelfuseジャパン合同会社（顧客）</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00" b="0">
                          <a:solidFill>
                            <a:srgbClr val="000000"/>
                          </a:solidFill>
                          <a:latin typeface="游ゴシック"/>
                          <a:ea typeface="游ゴシック"/>
                        </a:rPr>
                        <a:t>顧客構内での請負作業のため賃借なしと推察（要確認）</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6" name="Rectangle 15"/>
          <p:cNvSpPr/>
          <p:nvPr/>
        </p:nvSpPr>
        <p:spPr>
          <a:xfrm>
            <a:off x="310896" y="3886200"/>
            <a:ext cx="2743200" cy="292608"/>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保税蔵置場の概要</a:t>
            </a:r>
          </a:p>
        </p:txBody>
      </p:sp>
      <p:graphicFrame>
        <p:nvGraphicFramePr>
          <p:cNvPr id="17" name="Table 16"/>
          <p:cNvGraphicFramePr>
            <a:graphicFrameLocks noGrp="1"/>
          </p:cNvGraphicFramePr>
          <p:nvPr/>
        </p:nvGraphicFramePr>
        <p:xfrm>
          <a:off x="310896" y="4233672"/>
          <a:ext cx="6583680" cy="1920240"/>
        </p:xfrm>
        <a:graphic>
          <a:graphicData uri="http://schemas.openxmlformats.org/drawingml/2006/table">
            <a:tbl>
              <a:tblPr firstRow="0" bandRow="0" firstCol="0" lastRow="0" lastCol="0" bandCol="0"/>
              <a:tblGrid>
                <a:gridCol w="1463040"/>
                <a:gridCol w="5120640"/>
              </a:tblGrid>
              <a:tr h="274320">
                <a:tc>
                  <a:txBody>
                    <a:bodyPr wrap="square"/>
                    <a:lstStyle/>
                    <a:p>
                      <a:pPr algn="ctr"/>
                      <a:r>
                        <a:rPr sz="850" b="1">
                          <a:solidFill>
                            <a:srgbClr val="FFFFFF"/>
                          </a:solidFill>
                          <a:latin typeface="游ゴシック"/>
                          <a:ea typeface="游ゴシック"/>
                        </a:rPr>
                        <a:t>項目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内容</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74320">
                <a:tc>
                  <a:txBody>
                    <a:bodyPr wrap="square"/>
                    <a:lstStyle/>
                    <a:p>
                      <a:pPr algn="l"/>
                      <a:r>
                        <a:rPr sz="850" b="1">
                          <a:solidFill>
                            <a:srgbClr val="000000"/>
                          </a:solidFill>
                          <a:latin typeface="游ゴシック"/>
                          <a:ea typeface="游ゴシック"/>
                        </a:rPr>
                        <a:t>名称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株式会社高塚商事 成田 保税蔵置場</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許可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東京税関長 東関第395号（2024年12月17日付）</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許可期間</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2024年12月24日～2030年11月30日</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所在地・構造</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千葉県山武郡芝山町岩山字大宿148番地15／鉄骨鉄筋コンクリート造陸屋根6階建の一部</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蔵置貨物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輸出一般貨物及び輸出冷凍冷蔵貨物（営業用）</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主な許可条件</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内部監査人による評価・監査を原則毎年実施し税関へ提出、帳簿の2年間保存等</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8" name="Rectangle 17"/>
          <p:cNvSpPr/>
          <p:nvPr/>
        </p:nvSpPr>
        <p:spPr>
          <a:xfrm>
            <a:off x="7086600" y="3886200"/>
            <a:ext cx="3264408" cy="2496312"/>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78040" y="3931920"/>
            <a:ext cx="3108960" cy="2423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50" b="1">
                <a:solidFill>
                  <a:srgbClr val="0B3041"/>
                </a:solidFill>
                <a:latin typeface="游ゴシック Medium"/>
                <a:ea typeface="游ゴシック Medium"/>
              </a:rPr>
              <a:t>≪その他の作業場所≫</a:t>
            </a:r>
          </a:p>
          <a:p>
            <a:pPr algn="l">
              <a:spcAft>
                <a:spcPts val="200"/>
              </a:spcAft>
            </a:pPr>
            <a:r>
              <a:rPr sz="850" b="0">
                <a:solidFill>
                  <a:srgbClr val="000000"/>
                </a:solidFill>
                <a:latin typeface="游ゴシック Medium"/>
                <a:ea typeface="游ゴシック Medium"/>
              </a:rPr>
              <a:t>・つくば事業所：Littelfuseジャパン合同会社の工場構内（茨城県稲敷市）で構内梱包。賃借物件なし（推察・要確認）</a:t>
            </a:r>
          </a:p>
          <a:p>
            <a:pPr algn="l">
              <a:spcAft>
                <a:spcPts val="200"/>
              </a:spcAft>
            </a:pPr>
            <a:r>
              <a:rPr sz="850" b="0">
                <a:solidFill>
                  <a:srgbClr val="000000"/>
                </a:solidFill>
                <a:latin typeface="游ゴシック Medium"/>
                <a:ea typeface="游ゴシック Medium"/>
              </a:rPr>
              <a:t>・丸全昭和運輸㈱倉庫内：協力会社と共同で構内梱包</a:t>
            </a:r>
          </a:p>
          <a:p>
            <a:pPr algn="l">
              <a:spcAft>
                <a:spcPts val="200"/>
              </a:spcAft>
            </a:pPr>
            <a:r>
              <a:rPr sz="850" b="0">
                <a:solidFill>
                  <a:srgbClr val="000000"/>
                </a:solidFill>
                <a:latin typeface="游ゴシック Medium"/>
                <a:ea typeface="游ゴシック Medium"/>
              </a:rPr>
              <a:t>・DHL新千歳（北海道千歳市）：事務作業受託（外部人材2名相当）</a:t>
            </a:r>
          </a:p>
          <a:p>
            <a:pPr algn="l">
              <a:spcAft>
                <a:spcPts val="200"/>
              </a:spcAft>
            </a:pPr>
            <a:r>
              <a:rPr sz="850" b="1">
                <a:solidFill>
                  <a:srgbClr val="0B3041"/>
                </a:solidFill>
                <a:latin typeface="游ゴシック Medium"/>
                <a:ea typeface="游ゴシック Medium"/>
              </a:rPr>
              <a:t>≪旧拠点≫</a:t>
            </a:r>
          </a:p>
          <a:p>
            <a:pPr algn="l">
              <a:spcAft>
                <a:spcPts val="200"/>
              </a:spcAft>
            </a:pPr>
            <a:r>
              <a:rPr sz="850" b="0">
                <a:solidFill>
                  <a:srgbClr val="000000"/>
                </a:solidFill>
                <a:latin typeface="游ゴシック Medium"/>
                <a:ea typeface="游ゴシック Medium"/>
              </a:rPr>
              <a:t>・2024年8月まで千葉県山武郡芝山町菱田（㈱ホンダロジスティクス内）で操業</a:t>
            </a:r>
          </a:p>
        </p:txBody>
      </p:sp>
      <p:sp>
        <p:nvSpPr>
          <p:cNvPr id="20" name="Rectangle 19"/>
          <p:cNvSpPr/>
          <p:nvPr/>
        </p:nvSpPr>
        <p:spPr>
          <a:xfrm>
            <a:off x="310896" y="6492240"/>
            <a:ext cx="1004011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※保税蔵置場許可書の面積は1,825㎡、2026年5月からの転貸借契約の倉庫面積は1,567㎡（差異の理由は要確認）。成田空港貨物地区までの所要時間は要確認。</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保有設備・許認可</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主要設備は保税蔵置場の内装設備と段ボール裁断機（レシプロカッティングツール）。フォークリフトはレンタルで調達しており、設備投資負担は小さい。</a:t>
            </a:r>
            <a:endParaRPr lang="en-US" altLang="ja-JP" dirty="0">
              <a:latin typeface="游ゴシック" panose="020B0400000000000000" pitchFamily="50" charset="-128"/>
              <a:ea typeface="游ゴシック" panose="020B0400000000000000" pitchFamily="50" charset="-128"/>
            </a:endParaRPr>
          </a:p>
        </p:txBody>
      </p:sp>
      <p:sp>
        <p:nvSpPr>
          <p:cNvPr id="14" name="Rectangle 13"/>
          <p:cNvSpPr/>
          <p:nvPr/>
        </p:nvSpPr>
        <p:spPr>
          <a:xfrm>
            <a:off x="310896" y="1481328"/>
            <a:ext cx="2743200" cy="292608"/>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保有設備</a:t>
            </a:r>
          </a:p>
        </p:txBody>
      </p:sp>
      <p:graphicFrame>
        <p:nvGraphicFramePr>
          <p:cNvPr id="15" name="Table 14"/>
          <p:cNvGraphicFramePr>
            <a:graphicFrameLocks noGrp="1"/>
          </p:cNvGraphicFramePr>
          <p:nvPr/>
        </p:nvGraphicFramePr>
        <p:xfrm>
          <a:off x="310896" y="1828800"/>
          <a:ext cx="10040112" cy="2542032"/>
        </p:xfrm>
        <a:graphic>
          <a:graphicData uri="http://schemas.openxmlformats.org/drawingml/2006/table">
            <a:tbl>
              <a:tblPr firstRow="0" bandRow="0" firstCol="0" lastRow="0" lastCol="0" bandCol="0"/>
              <a:tblGrid>
                <a:gridCol w="1005840"/>
                <a:gridCol w="2926080"/>
                <a:gridCol w="822960"/>
                <a:gridCol w="868680"/>
                <a:gridCol w="868680"/>
                <a:gridCol w="3547872"/>
              </a:tblGrid>
              <a:tr h="365760">
                <a:tc>
                  <a:txBody>
                    <a:bodyPr wrap="square"/>
                    <a:lstStyle/>
                    <a:p>
                      <a:pPr algn="ctr"/>
                      <a:r>
                        <a:rPr sz="85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資産名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取得年月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取得価額</a:t>
                      </a:r>
                    </a:p>
                    <a:p>
                      <a:pPr algn="ctr"/>
                      <a:r>
                        <a:rPr sz="850" b="1">
                          <a:solidFill>
                            <a:srgbClr val="FFFFFF"/>
                          </a:solidFill>
                          <a:latin typeface="游ゴシック"/>
                          <a:ea typeface="游ゴシック"/>
                        </a:rPr>
                        <a:t>(千円)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期末簿価</a:t>
                      </a:r>
                    </a:p>
                    <a:p>
                      <a:pPr algn="ctr"/>
                      <a:r>
                        <a:rPr sz="850" b="1">
                          <a:solidFill>
                            <a:srgbClr val="FFFFFF"/>
                          </a:solidFill>
                          <a:latin typeface="游ゴシック"/>
                          <a:ea typeface="游ゴシック"/>
                        </a:rPr>
                        <a:t>(千円)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備考</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10896">
                <a:tc>
                  <a:txBody>
                    <a:bodyPr wrap="square"/>
                    <a:lstStyle/>
                    <a:p>
                      <a:pPr algn="l"/>
                      <a:r>
                        <a:rPr sz="85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保税蔵置場内装工事（成田）</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50" b="0">
                          <a:solidFill>
                            <a:srgbClr val="000000"/>
                          </a:solidFill>
                          <a:latin typeface="游ゴシック"/>
                          <a:ea typeface="游ゴシック"/>
                        </a:rPr>
                        <a:t>2024年8月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2024年8月本店移転時の工事。賃借物件内の造作</a:t>
                      </a:r>
                    </a:p>
                  </a:txBody>
                  <a:tcPr marL="45720" marR="45720" marT="9144" marB="9144" anchor="ctr">
                    <a:lnL>
                      <a:noFill/>
                    </a:lnL>
                    <a:lnR>
                      <a:noFill/>
                    </a:lnR>
                    <a:lnT>
                      <a:noFill/>
                    </a:lnT>
                    <a:lnB w="6350" cap="flat" cmpd="sng" algn="ctr">
                      <a:solidFill>
                        <a:srgbClr val="A6A6A6"/>
                      </a:solidFill>
                      <a:prstDash val="solid"/>
                    </a:lnB>
                    <a:noFill/>
                  </a:tcPr>
                </a:tc>
              </a:tr>
              <a:tr h="310896">
                <a:tc>
                  <a:txBody>
                    <a:bodyPr wrap="square"/>
                    <a:lstStyle/>
                    <a:p>
                      <a:pPr algn="l"/>
                      <a:r>
                        <a:rPr sz="850" b="0">
                          <a:solidFill>
                            <a:srgbClr val="000000"/>
                          </a:solidFill>
                          <a:latin typeface="游ゴシック"/>
                          <a:ea typeface="游ゴシック"/>
                        </a:rPr>
                        <a:t>建物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テント倉庫</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50" b="0">
                          <a:solidFill>
                            <a:srgbClr val="000000"/>
                          </a:solidFill>
                          <a:latin typeface="游ゴシック"/>
                          <a:ea typeface="游ゴシック"/>
                        </a:rPr>
                        <a:t>2011年12月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7,200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旧拠点（菱田）所在。現存の有無は要確認</a:t>
                      </a:r>
                    </a:p>
                  </a:txBody>
                  <a:tcPr marL="45720" marR="45720" marT="9144" marB="9144" anchor="ctr">
                    <a:lnL>
                      <a:noFill/>
                    </a:lnL>
                    <a:lnR>
                      <a:noFill/>
                    </a:lnR>
                    <a:lnT>
                      <a:noFill/>
                    </a:lnT>
                    <a:lnB w="6350" cap="flat" cmpd="sng" algn="ctr">
                      <a:solidFill>
                        <a:srgbClr val="A6A6A6"/>
                      </a:solidFill>
                      <a:prstDash val="solid"/>
                    </a:lnB>
                    <a:noFill/>
                  </a:tcPr>
                </a:tc>
              </a:tr>
              <a:tr h="310896">
                <a:tc>
                  <a:txBody>
                    <a:bodyPr wrap="square"/>
                    <a:lstStyle/>
                    <a:p>
                      <a:pPr algn="l"/>
                      <a:r>
                        <a:rPr sz="850" b="0">
                          <a:solidFill>
                            <a:srgbClr val="000000"/>
                          </a:solidFill>
                          <a:latin typeface="游ゴシック"/>
                          <a:ea typeface="游ゴシック"/>
                        </a:rPr>
                        <a:t>構築物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舗装工事・掘り井戸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50" b="0">
                          <a:solidFill>
                            <a:srgbClr val="000000"/>
                          </a:solidFill>
                          <a:latin typeface="游ゴシック"/>
                          <a:ea typeface="游ゴシック"/>
                        </a:rPr>
                        <a:t>2005年3月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旧拠点所在と推察。除却要否は要確認</a:t>
                      </a:r>
                    </a:p>
                  </a:txBody>
                  <a:tcPr marL="45720" marR="45720" marT="9144" marB="9144" anchor="ctr">
                    <a:lnL>
                      <a:noFill/>
                    </a:lnL>
                    <a:lnR>
                      <a:noFill/>
                    </a:lnR>
                    <a:lnT>
                      <a:noFill/>
                    </a:lnT>
                    <a:lnB w="6350" cap="flat" cmpd="sng" algn="ctr">
                      <a:solidFill>
                        <a:srgbClr val="A6A6A6"/>
                      </a:solidFill>
                      <a:prstDash val="solid"/>
                    </a:lnB>
                    <a:noFill/>
                  </a:tcPr>
                </a:tc>
              </a:tr>
              <a:tr h="310896">
                <a:tc>
                  <a:txBody>
                    <a:bodyPr wrap="square"/>
                    <a:lstStyle/>
                    <a:p>
                      <a:pPr algn="l"/>
                      <a:r>
                        <a:rPr sz="850" b="0">
                          <a:solidFill>
                            <a:srgbClr val="000000"/>
                          </a:solidFill>
                          <a:latin typeface="游ゴシック"/>
                          <a:ea typeface="游ゴシック"/>
                        </a:rPr>
                        <a:t>機械装置</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レシプロカッティングツール（段ボール裁断機）ほか</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50" b="0">
                          <a:solidFill>
                            <a:srgbClr val="000000"/>
                          </a:solidFill>
                          <a:latin typeface="游ゴシック"/>
                          <a:ea typeface="游ゴシック"/>
                        </a:rPr>
                        <a:t>2013年6月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11,571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製品サイズに合わせた段ボールの即時裁断が可能（強みの源泉）</a:t>
                      </a:r>
                    </a:p>
                  </a:txBody>
                  <a:tcPr marL="45720" marR="45720" marT="9144" marB="9144" anchor="ctr">
                    <a:lnL>
                      <a:noFill/>
                    </a:lnL>
                    <a:lnR>
                      <a:noFill/>
                    </a:lnR>
                    <a:lnT>
                      <a:noFill/>
                    </a:lnT>
                    <a:lnB w="6350" cap="flat" cmpd="sng" algn="ctr">
                      <a:solidFill>
                        <a:srgbClr val="A6A6A6"/>
                      </a:solidFill>
                      <a:prstDash val="solid"/>
                    </a:lnB>
                    <a:noFill/>
                  </a:tcPr>
                </a:tc>
              </a:tr>
              <a:tr h="310896">
                <a:tc>
                  <a:txBody>
                    <a:bodyPr wrap="square"/>
                    <a:lstStyle/>
                    <a:p>
                      <a:pPr algn="l"/>
                      <a:r>
                        <a:rPr sz="850" b="0">
                          <a:solidFill>
                            <a:srgbClr val="000000"/>
                          </a:solidFill>
                          <a:latin typeface="游ゴシック"/>
                          <a:ea typeface="游ゴシック"/>
                        </a:rPr>
                        <a:t>車両運搬具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車両（2024年取得分を含む）</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50" b="0">
                          <a:solidFill>
                            <a:srgbClr val="000000"/>
                          </a:solidFill>
                          <a:latin typeface="游ゴシック"/>
                          <a:ea typeface="游ゴシック"/>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1,459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明細は要確認</a:t>
                      </a:r>
                    </a:p>
                  </a:txBody>
                  <a:tcPr marL="45720" marR="45720" marT="9144" marB="9144" anchor="ctr">
                    <a:lnL>
                      <a:noFill/>
                    </a:lnL>
                    <a:lnR>
                      <a:noFill/>
                    </a:lnR>
                    <a:lnT>
                      <a:noFill/>
                    </a:lnT>
                    <a:lnB w="6350" cap="flat" cmpd="sng" algn="ctr">
                      <a:solidFill>
                        <a:srgbClr val="A6A6A6"/>
                      </a:solidFill>
                      <a:prstDash val="solid"/>
                    </a:lnB>
                    <a:noFill/>
                  </a:tcPr>
                </a:tc>
              </a:tr>
              <a:tr h="310896">
                <a:tc>
                  <a:txBody>
                    <a:bodyPr wrap="square"/>
                    <a:lstStyle/>
                    <a:p>
                      <a:pPr algn="l"/>
                      <a:r>
                        <a:rPr sz="850" b="0">
                          <a:solidFill>
                            <a:srgbClr val="000000"/>
                          </a:solidFill>
                          <a:latin typeface="游ゴシック"/>
                          <a:ea typeface="游ゴシック"/>
                        </a:rPr>
                        <a:t>工具器具備品</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PC・エアコン・キャビネット等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850" b="0">
                          <a:solidFill>
                            <a:srgbClr val="000000"/>
                          </a:solidFill>
                          <a:latin typeface="游ゴシック"/>
                          <a:ea typeface="游ゴシック"/>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明細は要確認</a:t>
                      </a:r>
                    </a:p>
                  </a:txBody>
                  <a:tcPr marL="45720" marR="45720" marT="9144" marB="9144" anchor="ctr">
                    <a:lnL>
                      <a:noFill/>
                    </a:lnL>
                    <a:lnR>
                      <a:noFill/>
                    </a:lnR>
                    <a:lnT>
                      <a:noFill/>
                    </a:lnT>
                    <a:lnB w="6350" cap="flat" cmpd="sng" algn="ctr">
                      <a:solidFill>
                        <a:srgbClr val="A6A6A6"/>
                      </a:solidFill>
                      <a:prstDash val="solid"/>
                    </a:lnB>
                    <a:noFill/>
                  </a:tcPr>
                </a:tc>
              </a:tr>
              <a:tr h="310896">
                <a:tc>
                  <a:txBody>
                    <a:bodyPr wrap="square"/>
                    <a:lstStyle/>
                    <a:p>
                      <a:pPr algn="l"/>
                      <a:r>
                        <a:rPr sz="85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ctr"/>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31,570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6" name="Rectangle 15"/>
          <p:cNvSpPr/>
          <p:nvPr/>
        </p:nvSpPr>
        <p:spPr>
          <a:xfrm>
            <a:off x="310896" y="4572000"/>
            <a:ext cx="2743200" cy="292608"/>
          </a:xfrm>
          <a:prstGeom prst="rect">
            <a:avLst/>
          </a:prstGeom>
          <a:gradFill rotWithShape="1">
            <a:gsLst>
              <a:gs pos="5000">
                <a:srgbClr val="0B3041"/>
              </a:gs>
              <a:gs pos="88000">
                <a:srgbClr val="006AB1"/>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游ゴシック"/>
                <a:ea typeface="游ゴシック"/>
              </a:rPr>
              <a:t>許認可等</a:t>
            </a:r>
          </a:p>
        </p:txBody>
      </p:sp>
      <p:graphicFrame>
        <p:nvGraphicFramePr>
          <p:cNvPr id="17" name="Table 16"/>
          <p:cNvGraphicFramePr>
            <a:graphicFrameLocks noGrp="1"/>
          </p:cNvGraphicFramePr>
          <p:nvPr/>
        </p:nvGraphicFramePr>
        <p:xfrm>
          <a:off x="310896" y="4919472"/>
          <a:ext cx="10040112" cy="1097280"/>
        </p:xfrm>
        <a:graphic>
          <a:graphicData uri="http://schemas.openxmlformats.org/drawingml/2006/table">
            <a:tbl>
              <a:tblPr firstRow="0" bandRow="0" firstCol="0" lastRow="0" lastCol="0" bandCol="0"/>
              <a:tblGrid>
                <a:gridCol w="1645920"/>
                <a:gridCol w="2194560"/>
                <a:gridCol w="2011680"/>
                <a:gridCol w="4187952"/>
              </a:tblGrid>
              <a:tr h="274320">
                <a:tc>
                  <a:txBody>
                    <a:bodyPr wrap="square"/>
                    <a:lstStyle/>
                    <a:p>
                      <a:pPr algn="ctr"/>
                      <a:r>
                        <a:rPr sz="850" b="1">
                          <a:solidFill>
                            <a:srgbClr val="FFFFFF"/>
                          </a:solidFill>
                          <a:latin typeface="游ゴシック"/>
                          <a:ea typeface="游ゴシック"/>
                        </a:rPr>
                        <a:t>許認可等</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番号・所管</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有効期間等</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備考</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74320">
                <a:tc>
                  <a:txBody>
                    <a:bodyPr wrap="square"/>
                    <a:lstStyle/>
                    <a:p>
                      <a:pPr algn="l"/>
                      <a:r>
                        <a:rPr sz="850" b="1">
                          <a:solidFill>
                            <a:srgbClr val="000000"/>
                          </a:solidFill>
                          <a:latin typeface="游ゴシック"/>
                          <a:ea typeface="游ゴシック"/>
                        </a:rPr>
                        <a:t>保税蔵置場許可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東京税関長 東関第395号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2024/12/24～2030/11/30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輸出一般貨物・輸出冷凍冷蔵貨物</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労働者派遣事業</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定款目的に記載。2024年に派遣業の住所移転届を提出した記録あり</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850" b="1">
                          <a:solidFill>
                            <a:srgbClr val="000000"/>
                          </a:solidFill>
                          <a:latin typeface="游ゴシック"/>
                          <a:ea typeface="游ゴシック"/>
                        </a:rPr>
                        <a:t>貨物利用運送事業</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定款目的に記載（登録の有無は要確認）</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8" name="Rectangle 17"/>
          <p:cNvSpPr/>
          <p:nvPr/>
        </p:nvSpPr>
        <p:spPr>
          <a:xfrm>
            <a:off x="310896" y="6172200"/>
            <a:ext cx="100401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保有設備は37期法人税申告書別表十六および35期固定資産台帳より。リース・レンタル（フォークリフト：トヨタL&amp;F、ユニットハウス：レンタックス）は別途。旧拠点所在の建物・構築物は現存の有無を要確認。</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貸借対照表</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直近3期の貸借対照表。36期は移転に伴う建物付属設備・敷金の計上と長期借入金（40百万円）の調達により総資産が増加した。</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4800600" cy="5157216"/>
        </p:xfrm>
        <a:graphic>
          <a:graphicData uri="http://schemas.openxmlformats.org/drawingml/2006/table">
            <a:tbl>
              <a:tblPr firstRow="0" bandRow="0" firstCol="0" lastRow="0" lastCol="0" bandCol="0"/>
              <a:tblGrid>
                <a:gridCol w="2057400"/>
                <a:gridCol w="914400"/>
                <a:gridCol w="914400"/>
                <a:gridCol w="914400"/>
              </a:tblGrid>
              <a:tr h="214884">
                <a:tc>
                  <a:txBody>
                    <a:bodyPr wrap="square"/>
                    <a:lstStyle/>
                    <a:p>
                      <a:pPr algn="ctr"/>
                      <a:r>
                        <a:rPr sz="80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4884">
                <a:tc>
                  <a:txBody>
                    <a:bodyPr wrap="square"/>
                    <a:lstStyle/>
                    <a:p>
                      <a:pPr algn="l"/>
                      <a:r>
                        <a:rPr sz="800" b="1">
                          <a:solidFill>
                            <a:srgbClr val="000000"/>
                          </a:solidFill>
                          <a:latin typeface="游ゴシック"/>
                          <a:ea typeface="游ゴシック"/>
                        </a:rPr>
                        <a:t>【流動資産】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49,505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38,983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4884">
                <a:tc>
                  <a:txBody>
                    <a:bodyPr wrap="square"/>
                    <a:lstStyle/>
                    <a:p>
                      <a:pPr algn="l"/>
                      <a:r>
                        <a:rPr sz="800" b="0">
                          <a:solidFill>
                            <a:srgbClr val="000000"/>
                          </a:solidFill>
                          <a:latin typeface="游ゴシック"/>
                          <a:ea typeface="游ゴシック"/>
                        </a:rPr>
                        <a:t>現金及び預金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19,961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9,777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請負未収金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29,669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32,406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貯蔵品（梱包資材）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4,173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4,032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短期貸付金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仮払金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未収消費税等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仮払消費税等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その他（元帳未掲載差額・要確認）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1">
                          <a:solidFill>
                            <a:srgbClr val="000000"/>
                          </a:solidFill>
                          <a:latin typeface="游ゴシック"/>
                          <a:ea typeface="游ゴシック"/>
                        </a:rPr>
                        <a:t>【固定資産】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843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12,617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14,338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4884">
                <a:tc>
                  <a:txBody>
                    <a:bodyPr wrap="square"/>
                    <a:lstStyle/>
                    <a:p>
                      <a:pPr algn="l"/>
                      <a:r>
                        <a:rPr sz="800" b="0">
                          <a:solidFill>
                            <a:srgbClr val="000000"/>
                          </a:solidFill>
                          <a:latin typeface="游ゴシック"/>
                          <a:ea typeface="游ゴシック"/>
                        </a:rPr>
                        <a:t>建物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7,464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構築物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機械装置</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車両運搬具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工具器具備品</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電話加入権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出資金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長期前払費用（信用保証料）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敷金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3,092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預け保証金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1">
                          <a:solidFill>
                            <a:srgbClr val="000000"/>
                          </a:solidFill>
                          <a:latin typeface="游ゴシック"/>
                          <a:ea typeface="游ゴシック"/>
                        </a:rPr>
                        <a:t>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55,255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62,122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15" name="Table 14"/>
          <p:cNvGraphicFramePr>
            <a:graphicFrameLocks noGrp="1"/>
          </p:cNvGraphicFramePr>
          <p:nvPr/>
        </p:nvGraphicFramePr>
        <p:xfrm>
          <a:off x="5440680" y="1463040"/>
          <a:ext cx="4800600" cy="3438144"/>
        </p:xfrm>
        <a:graphic>
          <a:graphicData uri="http://schemas.openxmlformats.org/drawingml/2006/table">
            <a:tbl>
              <a:tblPr firstRow="0" bandRow="0" firstCol="0" lastRow="0" lastCol="0" bandCol="0"/>
              <a:tblGrid>
                <a:gridCol w="2057400"/>
                <a:gridCol w="914400"/>
                <a:gridCol w="914400"/>
                <a:gridCol w="914400"/>
              </a:tblGrid>
              <a:tr h="214884">
                <a:tc>
                  <a:txBody>
                    <a:bodyPr wrap="square"/>
                    <a:lstStyle/>
                    <a:p>
                      <a:pPr algn="ctr"/>
                      <a:r>
                        <a:rPr sz="80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4884">
                <a:tc>
                  <a:txBody>
                    <a:bodyPr wrap="square"/>
                    <a:lstStyle/>
                    <a:p>
                      <a:pPr algn="l"/>
                      <a:r>
                        <a:rPr sz="800" b="1">
                          <a:solidFill>
                            <a:srgbClr val="000000"/>
                          </a:solidFill>
                          <a:latin typeface="游ゴシック"/>
                          <a:ea typeface="游ゴシック"/>
                        </a:rPr>
                        <a:t>【流動負債】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27,137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24,020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32,247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4884">
                <a:tc>
                  <a:txBody>
                    <a:bodyPr wrap="square"/>
                    <a:lstStyle/>
                    <a:p>
                      <a:pPr algn="l"/>
                      <a:r>
                        <a:rPr sz="800" b="0">
                          <a:solidFill>
                            <a:srgbClr val="000000"/>
                          </a:solidFill>
                          <a:latin typeface="游ゴシック"/>
                          <a:ea typeface="游ゴシック"/>
                        </a:rPr>
                        <a:t>未払金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15,336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15,370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22,987</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未払費用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9,588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8,398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6,949</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未払法人税等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未払消費税等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1,937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預り金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1">
                          <a:solidFill>
                            <a:srgbClr val="000000"/>
                          </a:solidFill>
                          <a:latin typeface="游ゴシック"/>
                          <a:ea typeface="游ゴシック"/>
                        </a:rPr>
                        <a:t>【固定負債】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38,334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32,638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4884">
                <a:tc>
                  <a:txBody>
                    <a:bodyPr wrap="square"/>
                    <a:lstStyle/>
                    <a:p>
                      <a:pPr algn="l"/>
                      <a:r>
                        <a:rPr sz="800" b="0">
                          <a:solidFill>
                            <a:srgbClr val="000000"/>
                          </a:solidFill>
                          <a:latin typeface="游ゴシック"/>
                          <a:ea typeface="游ゴシック"/>
                        </a:rPr>
                        <a:t>長期借入金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38,334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1">
                          <a:solidFill>
                            <a:srgbClr val="000000"/>
                          </a:solidFill>
                          <a:latin typeface="游ゴシック"/>
                          <a:ea typeface="游ゴシック"/>
                        </a:rPr>
                        <a:t>負債合計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27,137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62,354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64,885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4884">
                <a:tc>
                  <a:txBody>
                    <a:bodyPr wrap="square"/>
                    <a:lstStyle/>
                    <a:p>
                      <a:pPr algn="l"/>
                      <a:r>
                        <a:rPr sz="800" b="0">
                          <a:solidFill>
                            <a:srgbClr val="000000"/>
                          </a:solidFill>
                          <a:latin typeface="游ゴシック"/>
                          <a:ea typeface="游ゴシック"/>
                        </a:rPr>
                        <a:t>資本金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利益準備金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別途積立金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0">
                          <a:solidFill>
                            <a:srgbClr val="000000"/>
                          </a:solidFill>
                          <a:latin typeface="游ゴシック"/>
                          <a:ea typeface="游ゴシック"/>
                        </a:rPr>
                        <a:t>繰越利益剰余金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△20,632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△48,981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△60,313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800" b="1">
                          <a:solidFill>
                            <a:srgbClr val="000000"/>
                          </a:solidFill>
                          <a:latin typeface="游ゴシック"/>
                          <a:ea typeface="游ゴシック"/>
                        </a:rPr>
                        <a:t>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28,118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4884">
                <a:tc>
                  <a:txBody>
                    <a:bodyPr wrap="square"/>
                    <a:lstStyle/>
                    <a:p>
                      <a:pPr algn="l"/>
                      <a:r>
                        <a:rPr sz="800" b="1">
                          <a:solidFill>
                            <a:srgbClr val="000000"/>
                          </a:solidFill>
                          <a:latin typeface="游ゴシック"/>
                          <a:ea typeface="游ゴシック"/>
                        </a:rPr>
                        <a:t>負債・純資産合計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55,255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62,122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6" name="Rectangle 15"/>
          <p:cNvSpPr/>
          <p:nvPr/>
        </p:nvSpPr>
        <p:spPr>
          <a:xfrm>
            <a:off x="310896" y="6812280"/>
            <a:ext cx="10040112"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※25年5月期は総勘定元帳から再構成（「その他」0千円は決算書との差額410円）。千円未満四捨五入のため合計が一致しない場合があります。</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損益計算書</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原価率は98～108%と高く、営業外の立退解決金（35・36期）を除くと実質的な経常損失が続く。37期の支払利息は0.9百万円。</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8092440" cy="5029200"/>
        </p:xfrm>
        <a:graphic>
          <a:graphicData uri="http://schemas.openxmlformats.org/drawingml/2006/table">
            <a:tbl>
              <a:tblPr firstRow="0" bandRow="0" firstCol="0" lastRow="0" lastCol="0" bandCol="0"/>
              <a:tblGrid>
                <a:gridCol w="3017520"/>
                <a:gridCol w="1234440"/>
                <a:gridCol w="1234440"/>
                <a:gridCol w="1234440"/>
                <a:gridCol w="1371600"/>
              </a:tblGrid>
              <a:tr h="365760">
                <a:tc>
                  <a:txBody>
                    <a:bodyPr wrap="square"/>
                    <a:lstStyle/>
                    <a:p>
                      <a:pPr algn="ctr"/>
                      <a:r>
                        <a:rPr sz="85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進行期</a:t>
                      </a:r>
                    </a:p>
                    <a:p>
                      <a:pPr algn="ctr"/>
                      <a:r>
                        <a:rPr sz="850" b="1">
                          <a:solidFill>
                            <a:srgbClr val="FFFFFF"/>
                          </a:solidFill>
                          <a:latin typeface="游ゴシック"/>
                          <a:ea typeface="游ゴシック"/>
                        </a:rPr>
                        <a:t>（26年6～7月）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33172">
                <a:tc>
                  <a:txBody>
                    <a:bodyPr wrap="square"/>
                    <a:lstStyle/>
                    <a:p>
                      <a:pPr algn="l"/>
                      <a:r>
                        <a:rPr sz="850" b="0">
                          <a:solidFill>
                            <a:srgbClr val="000000"/>
                          </a:solidFill>
                          <a:latin typeface="游ゴシック"/>
                          <a:ea typeface="游ゴシック"/>
                        </a:rPr>
                        <a:t>梱包収入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173,684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208,996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209,139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43,889</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梱包外収入（保税・輸出入作業等）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76,514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20,901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34,050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3,553</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その他収入（業務請負等）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99,179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36,105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6,999</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賃貸収入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7,738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1,247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売上高</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357,115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245,854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279,294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54,442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0">
                          <a:solidFill>
                            <a:srgbClr val="000000"/>
                          </a:solidFill>
                          <a:latin typeface="游ゴシック"/>
                          <a:ea typeface="游ゴシック"/>
                        </a:rPr>
                        <a:t>売上原価（当期製造原価）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264,751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52,337</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売上総利益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4,039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△18,897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5,504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2,105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0">
                          <a:solidFill>
                            <a:srgbClr val="000000"/>
                          </a:solidFill>
                          <a:latin typeface="游ゴシック"/>
                          <a:ea typeface="游ゴシック"/>
                        </a:rPr>
                        <a:t>販売費及び一般管理費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19,182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19,710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16,503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2,494</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営業利益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△15,143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△38,607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△389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0">
                          <a:solidFill>
                            <a:srgbClr val="000000"/>
                          </a:solidFill>
                          <a:latin typeface="游ゴシック"/>
                          <a:ea typeface="游ゴシック"/>
                        </a:rPr>
                        <a:t>営業外収益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10,733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10,819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222</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　受取利息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　受取配当金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　雑収入（鉄屑売却等）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221</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　雑収入（立退解決金）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　決算整理差額（要確認）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営業外費用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118</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　支払利息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118</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経常利益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△4,410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△28,279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△11,262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0">
                          <a:solidFill>
                            <a:srgbClr val="000000"/>
                          </a:solidFill>
                          <a:latin typeface="游ゴシック"/>
                          <a:ea typeface="游ゴシック"/>
                        </a:rPr>
                        <a:t>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当期純利益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△4,480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△28,349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△11,332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5" name="Rectangle 14"/>
          <p:cNvSpPr/>
          <p:nvPr/>
        </p:nvSpPr>
        <p:spPr>
          <a:xfrm>
            <a:off x="8503920" y="1463040"/>
            <a:ext cx="1828800" cy="50292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300"/>
              </a:spcAft>
            </a:pPr>
            <a:r>
              <a:rPr sz="800" b="1">
                <a:solidFill>
                  <a:srgbClr val="0B3041"/>
                </a:solidFill>
                <a:latin typeface="游ゴシック Medium"/>
                <a:ea typeface="游ゴシック Medium"/>
              </a:rPr>
              <a:t>≪ポイント≫</a:t>
            </a:r>
          </a:p>
          <a:p>
            <a:pPr algn="l">
              <a:spcAft>
                <a:spcPts val="300"/>
              </a:spcAft>
            </a:pPr>
            <a:r>
              <a:rPr sz="800" b="0">
                <a:solidFill>
                  <a:srgbClr val="000000"/>
                </a:solidFill>
                <a:latin typeface="游ゴシック Medium"/>
                <a:ea typeface="游ゴシック Medium"/>
              </a:rPr>
              <a:t>・35・36期の雑収入には㈱ホンダロジスティクスからの立退解決金各10,000千円（非経常）を含む。</a:t>
            </a:r>
          </a:p>
          <a:p>
            <a:pPr algn="l">
              <a:spcAft>
                <a:spcPts val="300"/>
              </a:spcAft>
            </a:pPr>
            <a:r>
              <a:rPr sz="800" b="0">
                <a:solidFill>
                  <a:srgbClr val="000000"/>
                </a:solidFill>
                <a:latin typeface="游ゴシック Medium"/>
                <a:ea typeface="游ゴシック Medium"/>
              </a:rPr>
              <a:t>・36期の「決算整理差額」371円は元帳と決算書の差額（要確認）。</a:t>
            </a:r>
          </a:p>
          <a:p>
            <a:pPr algn="l">
              <a:spcAft>
                <a:spcPts val="300"/>
              </a:spcAft>
            </a:pPr>
            <a:r>
              <a:rPr sz="800" b="0">
                <a:solidFill>
                  <a:srgbClr val="000000"/>
                </a:solidFill>
                <a:latin typeface="游ゴシック Medium"/>
                <a:ea typeface="游ゴシック Medium"/>
              </a:rPr>
              <a:t>・37期の支払利息885千円には信用保証料106千円を含む。</a:t>
            </a:r>
          </a:p>
        </p:txBody>
      </p:sp>
      <p:sp>
        <p:nvSpPr>
          <p:cNvPr id="16" name="Rectangle 15"/>
          <p:cNvSpPr/>
          <p:nvPr/>
        </p:nvSpPr>
        <p:spPr>
          <a:xfrm>
            <a:off x="310896" y="6812280"/>
            <a:ext cx="10040112"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※進行期は2026年6～7月の試算表（2か月）。</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売上原価（製造原価）の内訳</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原価の中心は賃金（37期80百万円）・外注費（66百万円）・原材料（65百万円）・賃借料（25百万円）。37期は外注費が人材活用の拡大で増加した。</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8092440" cy="4796028"/>
        </p:xfrm>
        <a:graphic>
          <a:graphicData uri="http://schemas.openxmlformats.org/drawingml/2006/table">
            <a:tbl>
              <a:tblPr firstRow="0" bandRow="0" firstCol="0" lastRow="0" lastCol="0" bandCol="0"/>
              <a:tblGrid>
                <a:gridCol w="3017520"/>
                <a:gridCol w="1234440"/>
                <a:gridCol w="1234440"/>
                <a:gridCol w="1234440"/>
                <a:gridCol w="1371600"/>
              </a:tblGrid>
              <a:tr h="365760">
                <a:tc>
                  <a:txBody>
                    <a:bodyPr wrap="square"/>
                    <a:lstStyle/>
                    <a:p>
                      <a:pPr algn="ctr"/>
                      <a:r>
                        <a:rPr sz="85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進行期</a:t>
                      </a:r>
                    </a:p>
                    <a:p>
                      <a:pPr algn="ctr"/>
                      <a:r>
                        <a:rPr sz="850" b="1">
                          <a:solidFill>
                            <a:srgbClr val="FFFFFF"/>
                          </a:solidFill>
                          <a:latin typeface="游ゴシック"/>
                          <a:ea typeface="游ゴシック"/>
                        </a:rPr>
                        <a:t>（26年6～7月）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33172">
                <a:tc>
                  <a:txBody>
                    <a:bodyPr wrap="square"/>
                    <a:lstStyle/>
                    <a:p>
                      <a:pPr algn="l"/>
                      <a:r>
                        <a:rPr sz="850" b="0">
                          <a:solidFill>
                            <a:srgbClr val="000000"/>
                          </a:solidFill>
                          <a:latin typeface="游ゴシック"/>
                          <a:ea typeface="游ゴシック"/>
                        </a:rPr>
                        <a:t>原材料仕入高</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65,662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65,453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13,718</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材料費</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65,662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65,453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13,718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0">
                          <a:solidFill>
                            <a:srgbClr val="000000"/>
                          </a:solidFill>
                          <a:latin typeface="游ゴシック"/>
                          <a:ea typeface="游ゴシック"/>
                        </a:rPr>
                        <a:t>賃金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103,296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91,291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80,444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12,464</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賞与</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法定福利費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18,294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15,365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2,083</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厚生費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4,570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3,606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3,714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661</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労務費</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126,361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110,262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99,234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15,207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1">
                          <a:solidFill>
                            <a:srgbClr val="000000"/>
                          </a:solidFill>
                          <a:latin typeface="游ゴシック"/>
                          <a:ea typeface="游ゴシック"/>
                        </a:rPr>
                        <a:t>外注費</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116,300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43,454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65,766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15,277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0">
                          <a:solidFill>
                            <a:srgbClr val="000000"/>
                          </a:solidFill>
                          <a:latin typeface="游ゴシック"/>
                          <a:ea typeface="游ゴシック"/>
                        </a:rPr>
                        <a:t>水道光熱費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2,633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2,935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443</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運賃</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30,155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13,027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9,992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1,792</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消耗品費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57,210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86</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減価償却費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修繕費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465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843</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賃借料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18,580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24,372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25,246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4,362</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租税公課</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84</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退職金共済事業団掛金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3,460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2,380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350</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0">
                          <a:solidFill>
                            <a:srgbClr val="000000"/>
                          </a:solidFill>
                          <a:latin typeface="游ゴシック"/>
                          <a:ea typeface="游ゴシック"/>
                        </a:rPr>
                        <a:t>雑費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175</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850" b="1">
                          <a:solidFill>
                            <a:srgbClr val="000000"/>
                          </a:solidFill>
                          <a:latin typeface="游ゴシック"/>
                          <a:ea typeface="游ゴシック"/>
                        </a:rPr>
                        <a:t>経費</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110,415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45,373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43,337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8,135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850" b="1">
                          <a:solidFill>
                            <a:srgbClr val="000000"/>
                          </a:solidFill>
                          <a:latin typeface="游ゴシック"/>
                          <a:ea typeface="游ゴシック"/>
                        </a:rPr>
                        <a:t>当期製造原価</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353,076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264,751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273,790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52,337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5" name="Rectangle 14"/>
          <p:cNvSpPr/>
          <p:nvPr/>
        </p:nvSpPr>
        <p:spPr>
          <a:xfrm>
            <a:off x="8503920" y="1463040"/>
            <a:ext cx="1828800" cy="50292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300"/>
              </a:spcAft>
            </a:pPr>
            <a:r>
              <a:rPr sz="800" b="1">
                <a:solidFill>
                  <a:srgbClr val="0B3041"/>
                </a:solidFill>
                <a:latin typeface="游ゴシック Medium"/>
                <a:ea typeface="游ゴシック Medium"/>
              </a:rPr>
              <a:t>≪ポイント≫</a:t>
            </a:r>
          </a:p>
          <a:p>
            <a:pPr algn="l">
              <a:spcAft>
                <a:spcPts val="300"/>
              </a:spcAft>
            </a:pPr>
            <a:r>
              <a:rPr sz="800" b="0">
                <a:solidFill>
                  <a:srgbClr val="000000"/>
                </a:solidFill>
                <a:latin typeface="游ゴシック Medium"/>
                <a:ea typeface="游ゴシック Medium"/>
              </a:rPr>
              <a:t>・35期は梱包資材を消耗品費で処理（57百万円）。36期以降は原材料仕入高に計上。</a:t>
            </a:r>
          </a:p>
          <a:p>
            <a:pPr algn="l">
              <a:spcAft>
                <a:spcPts val="300"/>
              </a:spcAft>
            </a:pPr>
            <a:r>
              <a:rPr sz="800" b="0">
                <a:solidFill>
                  <a:srgbClr val="000000"/>
                </a:solidFill>
                <a:latin typeface="游ゴシック Medium"/>
                <a:ea typeface="游ゴシック Medium"/>
              </a:rPr>
              <a:t>・賃借料は倉庫・事務所家賃（航空集配サービス）とフォークリフト等のレンタル料。</a:t>
            </a:r>
          </a:p>
          <a:p>
            <a:pPr algn="l">
              <a:spcAft>
                <a:spcPts val="300"/>
              </a:spcAft>
            </a:pPr>
            <a:r>
              <a:rPr sz="800" b="0">
                <a:solidFill>
                  <a:srgbClr val="000000"/>
                </a:solidFill>
                <a:latin typeface="游ゴシック Medium"/>
                <a:ea typeface="游ゴシック Medium"/>
              </a:rPr>
              <a:t>・退職金共済掛金は中小企業退職金共済への拠出。</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販売費及び一般管理費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販管費は16～20百万円で推移。役員報酬は35期5.8百万円から37期3.8百万円へ減額。手数料・保険料・賃借料が主な項目。</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8092440" cy="4974336"/>
        </p:xfrm>
        <a:graphic>
          <a:graphicData uri="http://schemas.openxmlformats.org/drawingml/2006/table">
            <a:tbl>
              <a:tblPr firstRow="0" bandRow="0" firstCol="0" lastRow="0" lastCol="0" bandCol="0"/>
              <a:tblGrid>
                <a:gridCol w="3017520"/>
                <a:gridCol w="1234440"/>
                <a:gridCol w="1234440"/>
                <a:gridCol w="1234440"/>
                <a:gridCol w="1371600"/>
              </a:tblGrid>
              <a:tr h="365760">
                <a:tc>
                  <a:txBody>
                    <a:bodyPr wrap="square"/>
                    <a:lstStyle/>
                    <a:p>
                      <a:pPr algn="ctr"/>
                      <a:r>
                        <a:rPr sz="850" b="1">
                          <a:solidFill>
                            <a:srgbClr val="FFFFFF"/>
                          </a:solidFill>
                          <a:latin typeface="游ゴシック"/>
                          <a:ea typeface="游ゴシック"/>
                        </a:rPr>
                        <a:t>(単位：千円)</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進行期</a:t>
                      </a:r>
                    </a:p>
                    <a:p>
                      <a:pPr algn="ctr"/>
                      <a:r>
                        <a:rPr sz="850" b="1">
                          <a:solidFill>
                            <a:srgbClr val="FFFFFF"/>
                          </a:solidFill>
                          <a:latin typeface="游ゴシック"/>
                          <a:ea typeface="游ゴシック"/>
                        </a:rPr>
                        <a:t>（26年6～7月）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9456">
                <a:tc>
                  <a:txBody>
                    <a:bodyPr wrap="square"/>
                    <a:lstStyle/>
                    <a:p>
                      <a:pPr algn="l"/>
                      <a:r>
                        <a:rPr sz="850" b="0">
                          <a:solidFill>
                            <a:srgbClr val="000000"/>
                          </a:solidFill>
                          <a:latin typeface="游ゴシック"/>
                          <a:ea typeface="游ゴシック"/>
                        </a:rPr>
                        <a:t>役員報酬</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5,820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4,320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3,820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637</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給料手当</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2,556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2,563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426</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厚生費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278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21</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荷造運賃</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2,597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減価償却費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835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賃借料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2,534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2,973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524</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修繕費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事務用品費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消耗品費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55</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水道光熱費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31</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旅費交通費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通信費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1,025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235</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手数料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2,388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2,295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289</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租税公課</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交際接待費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14</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保険料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967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152</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諸会費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車輌費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495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66</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新聞図書費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0">
                          <a:solidFill>
                            <a:srgbClr val="000000"/>
                          </a:solidFill>
                          <a:latin typeface="游ゴシック"/>
                          <a:ea typeface="游ゴシック"/>
                        </a:rPr>
                        <a:t>雑費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20</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850" b="1">
                          <a:solidFill>
                            <a:srgbClr val="000000"/>
                          </a:solidFill>
                          <a:latin typeface="游ゴシック"/>
                          <a:ea typeface="游ゴシック"/>
                        </a:rPr>
                        <a:t>販売費及び一般管理費合計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19,182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19,710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16,503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2,494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5" name="Rectangle 14"/>
          <p:cNvSpPr/>
          <p:nvPr/>
        </p:nvSpPr>
        <p:spPr>
          <a:xfrm>
            <a:off x="8503920" y="1463040"/>
            <a:ext cx="1828800" cy="50292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300"/>
              </a:spcAft>
            </a:pPr>
            <a:r>
              <a:rPr sz="800" b="1">
                <a:solidFill>
                  <a:srgbClr val="0B3041"/>
                </a:solidFill>
                <a:latin typeface="游ゴシック Medium"/>
                <a:ea typeface="游ゴシック Medium"/>
              </a:rPr>
              <a:t>≪ポイント≫</a:t>
            </a:r>
          </a:p>
          <a:p>
            <a:pPr algn="l">
              <a:spcAft>
                <a:spcPts val="300"/>
              </a:spcAft>
            </a:pPr>
            <a:r>
              <a:rPr sz="800" b="0">
                <a:solidFill>
                  <a:srgbClr val="000000"/>
                </a:solidFill>
                <a:latin typeface="游ゴシック Medium"/>
                <a:ea typeface="游ゴシック Medium"/>
              </a:rPr>
              <a:t>・35期の水道光熱費2.8百万円は旧拠点分と推察。移転後は主に製造原価に計上。</a:t>
            </a:r>
          </a:p>
          <a:p>
            <a:pPr algn="l">
              <a:spcAft>
                <a:spcPts val="300"/>
              </a:spcAft>
            </a:pPr>
            <a:r>
              <a:rPr sz="800" b="0">
                <a:solidFill>
                  <a:srgbClr val="000000"/>
                </a:solidFill>
                <a:latin typeface="游ゴシック Medium"/>
                <a:ea typeface="游ゴシック Medium"/>
              </a:rPr>
              <a:t>・保険料1.1百万円の内容（掛捨て／積立）は要確認。</a:t>
            </a:r>
          </a:p>
          <a:p>
            <a:pPr algn="l">
              <a:spcAft>
                <a:spcPts val="300"/>
              </a:spcAft>
            </a:pPr>
            <a:r>
              <a:rPr sz="800" b="0">
                <a:solidFill>
                  <a:srgbClr val="000000"/>
                </a:solidFill>
                <a:latin typeface="游ゴシック Medium"/>
                <a:ea typeface="游ゴシック Medium"/>
              </a:rPr>
              <a:t>・減価償却費は37期に全額販管費へ計上。</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月次業績の推移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37期の月次売上高は20～25百万円で安定。営業損益は△0.1～△2.3百万円で推移し、進行期の2026年7月は黒字化した。</a:t>
            </a:r>
            <a:endParaRPr lang="en-US" altLang="ja-JP" dirty="0">
              <a:latin typeface="游ゴシック" panose="020B0400000000000000" pitchFamily="50" charset="-128"/>
              <a:ea typeface="游ゴシック" panose="020B0400000000000000" pitchFamily="50" charset="-128"/>
            </a:endParaRPr>
          </a:p>
        </p:txBody>
      </p:sp>
      <p:pic>
        <p:nvPicPr>
          <p:cNvPr id="14" name="Picture 13" descr="chart_month.png"/>
          <p:cNvPicPr>
            <a:picLocks noChangeAspect="1"/>
          </p:cNvPicPr>
          <p:nvPr/>
        </p:nvPicPr>
        <p:blipFill>
          <a:blip r:embed="rId3"/>
          <a:stretch>
            <a:fillRect/>
          </a:stretch>
        </p:blipFill>
        <p:spPr>
          <a:xfrm>
            <a:off x="310896" y="1417320"/>
            <a:ext cx="10040112" cy="3904488"/>
          </a:xfrm>
          <a:prstGeom prst="rect">
            <a:avLst/>
          </a:prstGeom>
        </p:spPr>
      </p:pic>
      <p:sp>
        <p:nvSpPr>
          <p:cNvPr id="15" name="Rectangle 14"/>
          <p:cNvSpPr/>
          <p:nvPr/>
        </p:nvSpPr>
        <p:spPr>
          <a:xfrm>
            <a:off x="310896" y="5440680"/>
            <a:ext cx="10040112"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※総勘定元帳の月次集計（成田・つくば合算）。2026年5月の営業損益には年間の減価償却費835千円を含む。37期の合計は決算書と一致。</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Appendix</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1990年に有限会社として設立。2024年8月に成田エアポート物流ビジネスセンターへ本店を移転し、同年12月に保税蔵置場許可を取得して梱包＋保税の体制を整えた。</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10040112" cy="4608576"/>
        </p:xfrm>
        <a:graphic>
          <a:graphicData uri="http://schemas.openxmlformats.org/drawingml/2006/table">
            <a:tbl>
              <a:tblPr firstRow="0" bandRow="0" firstCol="0" lastRow="0" lastCol="0" bandCol="0"/>
              <a:tblGrid>
                <a:gridCol w="1463040"/>
                <a:gridCol w="8577072"/>
              </a:tblGrid>
              <a:tr h="329184">
                <a:tc>
                  <a:txBody>
                    <a:bodyPr wrap="square"/>
                    <a:lstStyle/>
                    <a:p>
                      <a:pPr algn="ctr"/>
                      <a:r>
                        <a:rPr sz="950" b="1">
                          <a:solidFill>
                            <a:srgbClr val="FFFFFF"/>
                          </a:solidFill>
                          <a:latin typeface="游ゴシック"/>
                          <a:ea typeface="游ゴシック"/>
                        </a:rPr>
                        <a:t>年月</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出来事</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29184">
                <a:tc>
                  <a:txBody>
                    <a:bodyPr wrap="square"/>
                    <a:lstStyle/>
                    <a:p>
                      <a:pPr algn="ctr"/>
                      <a:r>
                        <a:rPr sz="950" b="1">
                          <a:solidFill>
                            <a:srgbClr val="000000"/>
                          </a:solidFill>
                          <a:latin typeface="游ゴシック"/>
                          <a:ea typeface="游ゴシック"/>
                        </a:rPr>
                        <a:t>1990年5月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有限会社高塚商事として設立</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2004年7月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株式会社へ組織変更</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2005年3月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旧拠点（芝山町菱田）に掘り井戸・舗装等を整備（構築物取得）</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2011年12月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旧拠点にテント倉庫を設置</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2013年6月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段ボール裁断機（レシプロカッティングツール）を導入</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2013年7月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事業目的に倉庫業・労働者派遣事業・貨物利用運送事業等を追加</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2019年3月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庄司和夫が代表取締役に就任。本店を芝山町菱田へ移転</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2022年9月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DHLグローバルフォワーディングジャパン㈱と物品・役務取引基本契約を締結</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2024年8月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本店を成田エアポート物流ビジネスセンター（芝山町岩山）へ移転</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2024年12月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東京税関より保税蔵置場の許可を取得（成田 保税蔵置場）</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2025年1月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日本政策金融公庫より20,000千円を借入</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2025年6月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DHL新千歳拠点での輸出入オペレーション事務の受託を開始</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ctr"/>
                      <a:r>
                        <a:rPr sz="950" b="1">
                          <a:solidFill>
                            <a:srgbClr val="000000"/>
                          </a:solidFill>
                          <a:latin typeface="游ゴシック"/>
                          <a:ea typeface="游ゴシック"/>
                        </a:rPr>
                        <a:t>2026年5月</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950" b="0">
                          <a:solidFill>
                            <a:srgbClr val="000000"/>
                          </a:solidFill>
                          <a:latin typeface="游ゴシック"/>
                          <a:ea typeface="游ゴシック"/>
                        </a:rPr>
                        <a:t>倉庫・事務所の定期建物転貸借契約（2029年4月まで）を締結</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15" name="Rectangle 14"/>
          <p:cNvSpPr/>
          <p:nvPr/>
        </p:nvSpPr>
        <p:spPr>
          <a:xfrm>
            <a:off x="310896" y="6309360"/>
            <a:ext cx="1004011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800" b="0">
                <a:solidFill>
                  <a:srgbClr val="000000"/>
                </a:solidFill>
                <a:latin typeface="游ゴシック Medium"/>
                <a:ea typeface="游ゴシック Medium"/>
              </a:rPr>
              <a:t>※登記簿、法人税申告書、固定資産台帳、各契約書より作成。創業時の経緯・事業内容の変遷は要確認。</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18255</TotalTime>
  <Words>19068</Words>
  <Application>Microsoft Office PowerPoint</Application>
  <PresentationFormat>ユーザー設定</PresentationFormat>
  <Paragraphs>7417</Paragraphs>
  <Slides>64</Slides>
  <Notes>52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64</vt:i4>
      </vt:variant>
    </vt:vector>
  </HeadingPairs>
  <TitlesOfParts>
    <vt:vector size="70" baseType="lpstr">
      <vt:lpstr>ＭＳ Ｐゴシック</vt:lpstr>
      <vt:lpstr>游ゴシック</vt:lpstr>
      <vt:lpstr>游ゴシック</vt:lpstr>
      <vt:lpstr>游ゴシック Medium</vt:lpstr>
      <vt:lpstr>Arial</vt:lpstr>
      <vt:lpstr>SL_2026</vt:lpstr>
      <vt:lpstr>企業概要書  &lt;水産養殖業／関西&gt;</vt:lpstr>
      <vt:lpstr>はじめに</vt:lpstr>
      <vt:lpstr>PowerPoint プレゼンテーション</vt:lpstr>
      <vt:lpstr>エグゼクティブサマリー</vt:lpstr>
      <vt:lpstr>基本情報</vt:lpstr>
      <vt:lpstr>事業概要</vt:lpstr>
      <vt:lpstr>財務ハイライト（P/L）</vt:lpstr>
      <vt:lpstr>財務ハイライト（B/S）</vt:lpstr>
      <vt:lpstr>譲渡希望条件</vt:lpstr>
      <vt:lpstr>事業概要</vt:lpstr>
      <vt:lpstr>事業内容</vt:lpstr>
      <vt:lpstr>生産サイクル</vt:lpstr>
      <vt:lpstr>参考｜天然琵琶湖産鮎と人工種苗の特性・用途比較</vt:lpstr>
      <vt:lpstr>事業別売上高</vt:lpstr>
      <vt:lpstr>商品・用途別の顧客構成</vt:lpstr>
      <vt:lpstr>特徴</vt:lpstr>
      <vt:lpstr>主要得意先の3期推移</vt:lpstr>
      <vt:lpstr>主要仕入先の3期推移</vt:lpstr>
      <vt:lpstr>仕入・販売における価格形成の仕組み</vt:lpstr>
      <vt:lpstr>組織、拠点、設備等</vt:lpstr>
      <vt:lpstr>組織図</vt:lpstr>
      <vt:lpstr>株主及び役員</vt:lpstr>
      <vt:lpstr>従業員一覧</vt:lpstr>
      <vt:lpstr>拠点概要（本社）</vt:lpstr>
      <vt:lpstr>不動産概況</vt:lpstr>
      <vt:lpstr>不動産の担保設定・権利関係</vt:lpstr>
      <vt:lpstr>不動産詳細｜法人所有分①（土地）</vt:lpstr>
      <vt:lpstr>不動産詳細｜法人所有分②（建物）</vt:lpstr>
      <vt:lpstr>不動産詳細｜法人所有分③（建物・本社／長浜市）</vt:lpstr>
      <vt:lpstr>不動産詳細｜社長所有分①（土地・彦根市）</vt:lpstr>
      <vt:lpstr>不動産詳細｜社長所有分②（土地・長浜市／建物）</vt:lpstr>
      <vt:lpstr>拠点概要（養魚場一覧）</vt:lpstr>
      <vt:lpstr>拠点概要（養魚場所在地）</vt:lpstr>
      <vt:lpstr>拠点概要（養殖池の全景）</vt:lpstr>
      <vt:lpstr>拠点概要（養殖池概況｜写真①）</vt:lpstr>
      <vt:lpstr>拠点概要（養殖池概況｜写真②）</vt:lpstr>
      <vt:lpstr>拠点概要（養殖池概況｜写真③）</vt:lpstr>
      <vt:lpstr>拠点概要（養殖池概況｜写真③）</vt:lpstr>
      <vt:lpstr>保有設備一覧①</vt:lpstr>
      <vt:lpstr>保有設備一覧②</vt:lpstr>
      <vt:lpstr>保有設備一覧③</vt:lpstr>
      <vt:lpstr>保有設備一覧④</vt:lpstr>
      <vt:lpstr>保有設備一覧⑤</vt:lpstr>
      <vt:lpstr>保有設備一覧⑤</vt:lpstr>
      <vt:lpstr>保有設備一覧⑥</vt:lpstr>
      <vt:lpstr>保有設備一覧⑦</vt:lpstr>
      <vt:lpstr>保有設備一覧⑧</vt:lpstr>
      <vt:lpstr>保有設備一覧⑨</vt:lpstr>
      <vt:lpstr>保有設備一覧⑩</vt:lpstr>
      <vt:lpstr>保有設備一覧⑪</vt:lpstr>
      <vt:lpstr>保有設備一覧⑫</vt:lpstr>
      <vt:lpstr>保有設備一覧⑬</vt:lpstr>
      <vt:lpstr>保有設備一覧⑭</vt:lpstr>
      <vt:lpstr>許認可一覧</vt:lpstr>
      <vt:lpstr>財務情報詳細</vt:lpstr>
      <vt:lpstr>貸借対照表</vt:lpstr>
      <vt:lpstr>損益計算書</vt:lpstr>
      <vt:lpstr>販売費及び一般管理費</vt:lpstr>
      <vt:lpstr>Appendix</vt:lpstr>
      <vt:lpstr>沿革</vt:lpstr>
      <vt:lpstr>代表者経歴</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202</cp:revision>
  <cp:lastPrinted>2026-09-18T11:11:13Z</cp:lastPrinted>
  <dcterms:created xsi:type="dcterms:W3CDTF">2022-11-09T11:25:01Z</dcterms:created>
  <dcterms:modified xsi:type="dcterms:W3CDTF">2026-10-14T13:13:26Z</dcterms:modified>
</cp:coreProperties>
</file>