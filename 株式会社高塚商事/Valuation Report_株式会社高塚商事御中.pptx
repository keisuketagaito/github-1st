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25"/>
  </p:notesMasterIdLst>
  <p:sldIdLst>
    <p:sldId id="256" r:id="rId2"/>
    <p:sldId id="257" r:id="rId3"/>
    <p:sldId id="290" r:id="rId4"/>
    <p:sldId id="314" r:id="rId5"/>
    <p:sldId id="259" r:id="rId6"/>
    <p:sldId id="295" r:id="rId7"/>
    <p:sldId id="315" r:id="rId8"/>
    <p:sldId id="262" r:id="rId9"/>
    <p:sldId id="263" r:id="rId10"/>
    <p:sldId id="264" r:id="rId11"/>
    <p:sldId id="278" r:id="rId12"/>
    <p:sldId id="317" r:id="rId13"/>
    <p:sldId id="318" r:id="rId14"/>
    <p:sldId id="319" r:id="rId15"/>
    <p:sldId id="309" r:id="rId16"/>
    <p:sldId id="310" r:id="rId17"/>
    <p:sldId id="282" r:id="rId18"/>
    <p:sldId id="283" r:id="rId19"/>
    <p:sldId id="299" r:id="rId20"/>
    <p:sldId id="287" r:id="rId21"/>
    <p:sldId id="320" r:id="rId22"/>
    <p:sldId id="312" r:id="rId23"/>
    <p:sldId id="277" r:id="rId24"/>
  </p:sldIdLst>
  <p:sldSz cx="10691813" cy="7559675"/>
  <p:notesSz cx="6794500" cy="9931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35" userDrawn="1">
          <p15:clr>
            <a:srgbClr val="A4A3A4"/>
          </p15:clr>
        </p15:guide>
        <p15:guide id="2" pos="336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150" autoAdjust="0"/>
    <p:restoredTop sz="75000" autoAdjust="0"/>
  </p:normalViewPr>
  <p:slideViewPr>
    <p:cSldViewPr snapToGrid="0">
      <p:cViewPr varScale="1">
        <p:scale>
          <a:sx n="64" d="100"/>
          <a:sy n="64" d="100"/>
        </p:scale>
        <p:origin x="1244" y="52"/>
      </p:cViewPr>
      <p:guideLst>
        <p:guide orient="horz" pos="635"/>
        <p:guide pos="3367"/>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4283" cy="49829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48645" y="0"/>
            <a:ext cx="2944283" cy="498295"/>
          </a:xfrm>
          <a:prstGeom prst="rect">
            <a:avLst/>
          </a:prstGeom>
        </p:spPr>
        <p:txBody>
          <a:bodyPr vert="horz" lIns="91440" tIns="45720" rIns="91440" bIns="45720" rtlCol="0"/>
          <a:lstStyle>
            <a:lvl1pPr algn="r">
              <a:defRPr sz="1200"/>
            </a:lvl1pPr>
          </a:lstStyle>
          <a:p>
            <a:fld id="{5E719245-6B48-4D9E-9EED-FA258D3B0C86}" type="datetimeFigureOut">
              <a:rPr kumimoji="1" lang="ja-JP" altLang="en-US" smtClean="0"/>
              <a:t>2026/7/7</a:t>
            </a:fld>
            <a:endParaRPr kumimoji="1" lang="ja-JP" altLang="en-US"/>
          </a:p>
        </p:txBody>
      </p:sp>
      <p:sp>
        <p:nvSpPr>
          <p:cNvPr id="4" name="スライド イメージ プレースホルダー 3"/>
          <p:cNvSpPr>
            <a:spLocks noGrp="1" noRot="1" noChangeAspect="1"/>
          </p:cNvSpPr>
          <p:nvPr>
            <p:ph type="sldImg" idx="2"/>
          </p:nvPr>
        </p:nvSpPr>
        <p:spPr>
          <a:xfrm>
            <a:off x="1028700" y="1241425"/>
            <a:ext cx="4737100" cy="335121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450" y="4779486"/>
            <a:ext cx="5435600" cy="3910489"/>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33107"/>
            <a:ext cx="2944283" cy="498294"/>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48645" y="9433107"/>
            <a:ext cx="2944283" cy="498294"/>
          </a:xfrm>
          <a:prstGeom prst="rect">
            <a:avLst/>
          </a:prstGeom>
        </p:spPr>
        <p:txBody>
          <a:bodyPr vert="horz" lIns="91440" tIns="45720" rIns="91440" bIns="45720" rtlCol="0" anchor="b"/>
          <a:lstStyle>
            <a:lvl1pPr algn="r">
              <a:defRPr sz="1200"/>
            </a:lvl1pPr>
          </a:lstStyle>
          <a:p>
            <a:fld id="{CCD08276-B047-45AB-869B-6FEE4FD0AA7E}" type="slidenum">
              <a:rPr kumimoji="1" lang="ja-JP" altLang="en-US" smtClean="0"/>
              <a:t>‹#›</a:t>
            </a:fld>
            <a:endParaRPr kumimoji="1" lang="ja-JP" altLang="en-US"/>
          </a:p>
        </p:txBody>
      </p:sp>
    </p:spTree>
    <p:extLst>
      <p:ext uri="{BB962C8B-B14F-4D97-AF65-F5344CB8AC3E}">
        <p14:creationId xmlns:p14="http://schemas.microsoft.com/office/powerpoint/2010/main" val="1234540164"/>
      </p:ext>
    </p:extLst>
  </p:cSld>
  <p:clrMap bg1="lt1" tx1="dk1" bg2="lt2" tx2="dk2" accent1="accent1" accent2="accent2" accent3="accent3" accent4="accent4" accent5="accent5" accent6="accent6" hlink="hlink" folHlink="folHlink"/>
  <p:notesStyle>
    <a:lvl1pPr marL="0" algn="l" defTabSz="1042873" rtl="0" eaLnBrk="1" latinLnBrk="0" hangingPunct="1">
      <a:defRPr kumimoji="1" sz="1369" kern="1200">
        <a:solidFill>
          <a:schemeClr val="tx1"/>
        </a:solidFill>
        <a:latin typeface="+mn-lt"/>
        <a:ea typeface="+mn-ea"/>
        <a:cs typeface="+mn-cs"/>
      </a:defRPr>
    </a:lvl1pPr>
    <a:lvl2pPr marL="521437" algn="l" defTabSz="1042873" rtl="0" eaLnBrk="1" latinLnBrk="0" hangingPunct="1">
      <a:defRPr kumimoji="1" sz="1369" kern="1200">
        <a:solidFill>
          <a:schemeClr val="tx1"/>
        </a:solidFill>
        <a:latin typeface="+mn-lt"/>
        <a:ea typeface="+mn-ea"/>
        <a:cs typeface="+mn-cs"/>
      </a:defRPr>
    </a:lvl2pPr>
    <a:lvl3pPr marL="1042873" algn="l" defTabSz="1042873" rtl="0" eaLnBrk="1" latinLnBrk="0" hangingPunct="1">
      <a:defRPr kumimoji="1" sz="1369" kern="1200">
        <a:solidFill>
          <a:schemeClr val="tx1"/>
        </a:solidFill>
        <a:latin typeface="+mn-lt"/>
        <a:ea typeface="+mn-ea"/>
        <a:cs typeface="+mn-cs"/>
      </a:defRPr>
    </a:lvl3pPr>
    <a:lvl4pPr marL="1564310" algn="l" defTabSz="1042873" rtl="0" eaLnBrk="1" latinLnBrk="0" hangingPunct="1">
      <a:defRPr kumimoji="1" sz="1369" kern="1200">
        <a:solidFill>
          <a:schemeClr val="tx1"/>
        </a:solidFill>
        <a:latin typeface="+mn-lt"/>
        <a:ea typeface="+mn-ea"/>
        <a:cs typeface="+mn-cs"/>
      </a:defRPr>
    </a:lvl4pPr>
    <a:lvl5pPr marL="2085746" algn="l" defTabSz="1042873" rtl="0" eaLnBrk="1" latinLnBrk="0" hangingPunct="1">
      <a:defRPr kumimoji="1" sz="1369" kern="1200">
        <a:solidFill>
          <a:schemeClr val="tx1"/>
        </a:solidFill>
        <a:latin typeface="+mn-lt"/>
        <a:ea typeface="+mn-ea"/>
        <a:cs typeface="+mn-cs"/>
      </a:defRPr>
    </a:lvl5pPr>
    <a:lvl6pPr marL="2607183" algn="l" defTabSz="1042873" rtl="0" eaLnBrk="1" latinLnBrk="0" hangingPunct="1">
      <a:defRPr kumimoji="1" sz="1369" kern="1200">
        <a:solidFill>
          <a:schemeClr val="tx1"/>
        </a:solidFill>
        <a:latin typeface="+mn-lt"/>
        <a:ea typeface="+mn-ea"/>
        <a:cs typeface="+mn-cs"/>
      </a:defRPr>
    </a:lvl6pPr>
    <a:lvl7pPr marL="3128620" algn="l" defTabSz="1042873" rtl="0" eaLnBrk="1" latinLnBrk="0" hangingPunct="1">
      <a:defRPr kumimoji="1" sz="1369" kern="1200">
        <a:solidFill>
          <a:schemeClr val="tx1"/>
        </a:solidFill>
        <a:latin typeface="+mn-lt"/>
        <a:ea typeface="+mn-ea"/>
        <a:cs typeface="+mn-cs"/>
      </a:defRPr>
    </a:lvl7pPr>
    <a:lvl8pPr marL="3650056" algn="l" defTabSz="1042873" rtl="0" eaLnBrk="1" latinLnBrk="0" hangingPunct="1">
      <a:defRPr kumimoji="1" sz="1369" kern="1200">
        <a:solidFill>
          <a:schemeClr val="tx1"/>
        </a:solidFill>
        <a:latin typeface="+mn-lt"/>
        <a:ea typeface="+mn-ea"/>
        <a:cs typeface="+mn-cs"/>
      </a:defRPr>
    </a:lvl8pPr>
    <a:lvl9pPr marL="4171493" algn="l" defTabSz="1042873" rtl="0" eaLnBrk="1" latinLnBrk="0" hangingPunct="1">
      <a:defRPr kumimoji="1"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2373442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2</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49E3F-7139-D801-6405-856863FC060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DBFDA3-D264-0383-7900-345B5B3B56A7}"/>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EC6E1337-5507-C2F6-0F8C-87C4AC26C0AC}"/>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BC0F35DD-7D73-1125-F6E1-E3965E28DE7C}"/>
              </a:ext>
            </a:extLst>
          </p:cNvPr>
          <p:cNvSpPr>
            <a:spLocks noGrp="1"/>
          </p:cNvSpPr>
          <p:nvPr>
            <p:ph type="sldNum" sz="quarter" idx="5"/>
          </p:nvPr>
        </p:nvSpPr>
        <p:spPr/>
        <p:txBody>
          <a:bodyPr/>
          <a:lstStyle/>
          <a:p>
            <a:fld id="{CCD08276-B047-45AB-869B-6FEE4FD0AA7E}" type="slidenum">
              <a:rPr kumimoji="1" lang="ja-JP" altLang="en-US" smtClean="0"/>
              <a:t>3</a:t>
            </a:fld>
            <a:endParaRPr kumimoji="1" lang="ja-JP" altLang="en-US"/>
          </a:p>
        </p:txBody>
      </p:sp>
    </p:spTree>
    <p:extLst>
      <p:ext uri="{BB962C8B-B14F-4D97-AF65-F5344CB8AC3E}">
        <p14:creationId xmlns:p14="http://schemas.microsoft.com/office/powerpoint/2010/main" val="3658020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3: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3: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192" name="Google Shape;192;p3: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AF929-C853-B63F-7A81-878CD012E2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9FE65EB-FC45-F115-A953-E456E1A9B152}"/>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A742DFA8-F037-213C-7D7D-423295DEBEAD}"/>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7138E276-27EB-6F25-5A7A-74C8CC8E81F2}"/>
              </a:ext>
            </a:extLst>
          </p:cNvPr>
          <p:cNvSpPr>
            <a:spLocks noGrp="1"/>
          </p:cNvSpPr>
          <p:nvPr>
            <p:ph type="sldNum" sz="quarter" idx="5"/>
          </p:nvPr>
        </p:nvSpPr>
        <p:spPr/>
        <p:txBody>
          <a:bodyPr/>
          <a:lstStyle/>
          <a:p>
            <a:fld id="{CCD08276-B047-45AB-869B-6FEE4FD0AA7E}" type="slidenum">
              <a:rPr kumimoji="1" lang="ja-JP" altLang="en-US" smtClean="0"/>
              <a:t>6</a:t>
            </a:fld>
            <a:endParaRPr kumimoji="1" lang="ja-JP" altLang="en-US"/>
          </a:p>
        </p:txBody>
      </p:sp>
    </p:spTree>
    <p:extLst>
      <p:ext uri="{BB962C8B-B14F-4D97-AF65-F5344CB8AC3E}">
        <p14:creationId xmlns:p14="http://schemas.microsoft.com/office/powerpoint/2010/main" val="55174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767E3-E20D-C509-6096-3F8BA55762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13D625-8F3E-2CDF-E22F-DAABBF281649}"/>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9B3D2D6A-0AEA-F151-2BFE-9C80597640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a:extLst>
              <a:ext uri="{FF2B5EF4-FFF2-40B4-BE49-F238E27FC236}">
                <a16:creationId xmlns:a16="http://schemas.microsoft.com/office/drawing/2014/main" id="{84478388-9ECF-D759-1C81-F7248689CBD8}"/>
              </a:ext>
            </a:extLst>
          </p:cNvPr>
          <p:cNvSpPr>
            <a:spLocks noGrp="1"/>
          </p:cNvSpPr>
          <p:nvPr>
            <p:ph type="sldNum" sz="quarter" idx="5"/>
          </p:nvPr>
        </p:nvSpPr>
        <p:spPr/>
        <p:txBody>
          <a:bodyPr/>
          <a:lstStyle/>
          <a:p>
            <a:fld id="{CCD08276-B047-45AB-869B-6FEE4FD0AA7E}" type="slidenum">
              <a:rPr kumimoji="1" lang="ja-JP" altLang="en-US" smtClean="0"/>
              <a:t>7</a:t>
            </a:fld>
            <a:endParaRPr kumimoji="1" lang="ja-JP" altLang="en-US"/>
          </a:p>
        </p:txBody>
      </p:sp>
    </p:spTree>
    <p:extLst>
      <p:ext uri="{BB962C8B-B14F-4D97-AF65-F5344CB8AC3E}">
        <p14:creationId xmlns:p14="http://schemas.microsoft.com/office/powerpoint/2010/main" val="160967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9</a:t>
            </a:fld>
            <a:endParaRPr kumimoji="1" lang="ja-JP" altLang="en-US"/>
          </a:p>
        </p:txBody>
      </p:sp>
    </p:spTree>
    <p:extLst>
      <p:ext uri="{BB962C8B-B14F-4D97-AF65-F5344CB8AC3E}">
        <p14:creationId xmlns:p14="http://schemas.microsoft.com/office/powerpoint/2010/main" val="406546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19</a:t>
            </a:fld>
            <a:endParaRPr kumimoji="1" lang="ja-JP" altLang="en-US"/>
          </a:p>
        </p:txBody>
      </p:sp>
    </p:spTree>
    <p:extLst>
      <p:ext uri="{BB962C8B-B14F-4D97-AF65-F5344CB8AC3E}">
        <p14:creationId xmlns:p14="http://schemas.microsoft.com/office/powerpoint/2010/main" val="18242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826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1698041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984386"/>
            <a:chOff x="887069" y="3420377"/>
            <a:chExt cx="3420000" cy="984386"/>
          </a:xfrm>
        </p:grpSpPr>
        <p:sp>
          <p:nvSpPr>
            <p:cNvPr id="8" name="Google Shape;261;p2">
              <a:extLst>
                <a:ext uri="{FF2B5EF4-FFF2-40B4-BE49-F238E27FC236}">
                  <a16:creationId xmlns:a16="http://schemas.microsoft.com/office/drawing/2014/main" id="{749E3869-09D9-C379-3B1A-E14B89FDBC05}"/>
                </a:ext>
              </a:extLst>
            </p:cNvPr>
            <p:cNvSpPr txBox="1"/>
            <p:nvPr/>
          </p:nvSpPr>
          <p:spPr>
            <a:xfrm>
              <a:off x="1085069" y="4238564"/>
              <a:ext cx="3024000" cy="166199"/>
            </a:xfrm>
            <a:prstGeom prst="rect">
              <a:avLst/>
            </a:prstGeom>
            <a:noFill/>
            <a:ln>
              <a:noFill/>
            </a:ln>
          </p:spPr>
          <p:txBody>
            <a:bodyPr spcFirstLastPara="1" wrap="square" lIns="0" tIns="0" rIns="0" bIns="0" anchor="t" anchorCtr="0">
              <a:spAutoFit/>
            </a:bodyPr>
            <a:lstStyle/>
            <a:p>
              <a:pPr marL="103241" algn="ctr">
                <a:lnSpc>
                  <a:spcPct val="90000"/>
                </a:lnSpc>
                <a:buClr>
                  <a:schemeClr val="dk1"/>
                </a:buClr>
                <a:buSzPts val="1400"/>
              </a:pPr>
              <a:r>
                <a:rPr lang="ja-JP" altLang="en-US" sz="1200" b="1" dirty="0">
                  <a:solidFill>
                    <a:schemeClr val="dk1"/>
                  </a:solidFill>
                  <a:latin typeface="+mj-ea"/>
                  <a:ea typeface="+mj-ea"/>
                </a:rPr>
                <a:t>ミーティングアジェンダ</a:t>
              </a:r>
              <a:endParaRPr sz="1200" b="1" dirty="0">
                <a:latin typeface="+mj-ea"/>
                <a:ea typeface="+mj-ea"/>
              </a:endParaRPr>
            </a:p>
          </p:txBody>
        </p:sp>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en-US" altLang="ja-JP" sz="3200" b="1" i="0" dirty="0">
                  <a:solidFill>
                    <a:srgbClr val="1F1F1F"/>
                  </a:solidFill>
                  <a:effectLst/>
                  <a:latin typeface="+mj-lt"/>
                </a:rPr>
                <a:t>Meeting Agenda</a:t>
              </a:r>
              <a:endParaRPr lang="ja-JP" altLang="en-US" sz="3200" b="1" dirty="0">
                <a:latin typeface="+mj-lt"/>
              </a:endParaRP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65997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2900326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3552754477"/>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081400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jpeg"/><Relationship Id="rId3"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D987C9A9-7152-3DD4-F23C-48E1B5BABCAA}"/>
              </a:ext>
            </a:extLst>
          </p:cNvPr>
          <p:cNvSpPr>
            <a:spLocks noGrp="1"/>
          </p:cNvSpPr>
          <p:nvPr>
            <p:ph type="title"/>
          </p:nvPr>
        </p:nvSpPr>
        <p:spPr>
          <a:xfrm>
            <a:off x="885526" y="3467606"/>
            <a:ext cx="9221787" cy="738664"/>
          </a:xfrm>
        </p:spPr>
        <p:txBody>
          <a:bodyPr/>
          <a:lstStyle/>
          <a:p>
            <a:r>
              <a:rPr lang="en-US" altLang="ja-JP" dirty="0"/>
              <a:t>Valuation</a:t>
            </a:r>
            <a:r>
              <a:rPr lang="ja-JP" altLang="en-US" dirty="0"/>
              <a:t> </a:t>
            </a:r>
            <a:r>
              <a:rPr lang="en-US" altLang="ja-JP" dirty="0"/>
              <a:t>Report</a:t>
            </a:r>
            <a:endParaRPr lang="ja-JP" altLang="en-US" dirty="0"/>
          </a:p>
        </p:txBody>
      </p:sp>
      <p:sp>
        <p:nvSpPr>
          <p:cNvPr id="3" name="テキスト ボックス 2">
            <a:extLst>
              <a:ext uri="{FF2B5EF4-FFF2-40B4-BE49-F238E27FC236}">
                <a16:creationId xmlns:a16="http://schemas.microsoft.com/office/drawing/2014/main" id="{C2CE6D41-E85A-5C3B-AEBD-17BCB7C688FB}"/>
              </a:ext>
            </a:extLst>
          </p:cNvPr>
          <p:cNvSpPr txBox="1"/>
          <p:nvPr/>
        </p:nvSpPr>
        <p:spPr>
          <a:xfrm>
            <a:off x="857354" y="2606111"/>
            <a:ext cx="2192908" cy="276999"/>
          </a:xfrm>
          <a:prstGeom prst="rect">
            <a:avLst/>
          </a:prstGeom>
          <a:noFill/>
        </p:spPr>
        <p:txBody>
          <a:bodyPr wrap="none" lIns="0" tIns="0" rIns="0" bIns="0" rtlCol="0">
            <a:spAutoFit/>
          </a:bodyPr>
          <a:lstStyle/>
          <a:p>
            <a:r>
              <a:rPr lang="ja-JP" altLang="en-US" b="1" spc="100" dirty="0">
                <a:latin typeface="+mj-lt"/>
                <a:ea typeface="+mj-ea"/>
              </a:rPr>
              <a:t>株式会社高塚商事　御中</a:t>
            </a:r>
            <a:endParaRPr kumimoji="1" lang="ja-JP" altLang="en-US" b="1" spc="100" dirty="0">
              <a:latin typeface="+mj-lt"/>
              <a:ea typeface="+mj-ea"/>
            </a:endParaRPr>
          </a:p>
        </p:txBody>
      </p:sp>
      <p:sp>
        <p:nvSpPr>
          <p:cNvPr id="11" name="テキスト ボックス 10">
            <a:extLst>
              <a:ext uri="{FF2B5EF4-FFF2-40B4-BE49-F238E27FC236}">
                <a16:creationId xmlns:a16="http://schemas.microsoft.com/office/drawing/2014/main" id="{B8E93A22-E152-6430-ED5D-2758EDBEA463}"/>
              </a:ext>
            </a:extLst>
          </p:cNvPr>
          <p:cNvSpPr txBox="1"/>
          <p:nvPr/>
        </p:nvSpPr>
        <p:spPr>
          <a:xfrm>
            <a:off x="988426" y="4772601"/>
            <a:ext cx="1413849" cy="246221"/>
          </a:xfrm>
          <a:prstGeom prst="rect">
            <a:avLst/>
          </a:prstGeom>
          <a:noFill/>
        </p:spPr>
        <p:txBody>
          <a:bodyPr wrap="none" lIns="0" tIns="0" rIns="0" bIns="0" rtlCol="0" anchor="ctr">
            <a:spAutoFit/>
          </a:bodyPr>
          <a:lstStyle/>
          <a:p>
            <a:pPr defTabSz="503972">
              <a:defRPr/>
            </a:pPr>
            <a:r>
              <a:rPr kumimoji="1" lang="en-US" altLang="ja-JP" sz="1600" spc="100" dirty="0"/>
              <a:t>2026年10月29日</a:t>
            </a:r>
            <a:endParaRPr kumimoji="1" lang="en-US" altLang="ja-JP" sz="1600" spc="100" dirty="0"/>
          </a:p>
        </p:txBody>
      </p:sp>
      <p:cxnSp>
        <p:nvCxnSpPr>
          <p:cNvPr id="12" name="直線コネクタ 11">
            <a:extLst>
              <a:ext uri="{FF2B5EF4-FFF2-40B4-BE49-F238E27FC236}">
                <a16:creationId xmlns:a16="http://schemas.microsoft.com/office/drawing/2014/main" id="{20CAB1A1-BCBE-F6F7-8DA5-16D451D49054}"/>
              </a:ext>
            </a:extLst>
          </p:cNvPr>
          <p:cNvCxnSpPr>
            <a:cxnSpLocks/>
          </p:cNvCxnSpPr>
          <p:nvPr/>
        </p:nvCxnSpPr>
        <p:spPr>
          <a:xfrm>
            <a:off x="885526" y="4272782"/>
            <a:ext cx="536127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1016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sym typeface="Arial"/>
              </a:rPr>
              <a:t>本件に関する問い合わせ先</a:t>
            </a:r>
            <a:endParaRPr dirty="0">
              <a:sym typeface="Arial"/>
            </a:endParaRP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2631826034"/>
              </p:ext>
            </p:extLst>
          </p:nvPr>
        </p:nvGraphicFramePr>
        <p:xfrm>
          <a:off x="449264" y="6120538"/>
          <a:ext cx="9793288"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2">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a:t>
                      </a:r>
                      <a:r>
                        <a:rPr lang="en-US" altLang="ja-JP" sz="1200" b="1" u="none" strike="noStrike" cap="none" spc="30" baseline="0" dirty="0">
                          <a:latin typeface="+mj-ea"/>
                          <a:ea typeface="+mj-ea"/>
                        </a:rPr>
                        <a:t>M&amp;A</a:t>
                      </a:r>
                      <a:r>
                        <a:rPr lang="ja-JP" altLang="en-US" sz="1200" b="1" u="none" strike="noStrike" cap="none" spc="30" baseline="0" dirty="0">
                          <a:latin typeface="+mj-ea"/>
                          <a:ea typeface="+mj-ea"/>
                        </a:rPr>
                        <a:t>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 080-4737-4326</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tagaito_keisuke@ma-sg.co.jp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a:xfrm>
            <a:off x="341313" y="180653"/>
            <a:ext cx="7799917" cy="338554"/>
          </a:xfrm>
        </p:spPr>
        <p:txBody>
          <a:bodyPr/>
          <a:lstStyle/>
          <a:p>
            <a:r>
              <a:rPr lang="ja-JP" altLang="en-US" dirty="0"/>
              <a:t>はじめに</a:t>
            </a:r>
          </a:p>
        </p:txBody>
      </p:sp>
      <p:cxnSp>
        <p:nvCxnSpPr>
          <p:cNvPr id="13" name="直線コネクタ 12">
            <a:extLst>
              <a:ext uri="{FF2B5EF4-FFF2-40B4-BE49-F238E27FC236}">
                <a16:creationId xmlns:a16="http://schemas.microsoft.com/office/drawing/2014/main" id="{FB09082A-B52F-14F1-BAAD-CC1AE1853CD8}"/>
              </a:ext>
            </a:extLst>
          </p:cNvPr>
          <p:cNvCxnSpPr>
            <a:cxnSpLocks/>
          </p:cNvCxnSpPr>
          <p:nvPr/>
        </p:nvCxnSpPr>
        <p:spPr>
          <a:xfrm>
            <a:off x="449263" y="4380131"/>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2886496"/>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a:spcAft>
                <a:spcPts val="1200"/>
              </a:spcAft>
            </a:pPr>
            <a:r>
              <a:rPr lang="ja-JP" altLang="en-US" sz="1200" dirty="0"/>
              <a:t>本書における試算結果は対象会社より提出を受けた資料及び一般に公開されている情報並びに対象会社及びその関係者へのインタビューに基づいております。これらの資料、情報及びインタビュー内容の正確性、妥当性、適法性、網羅性または完全性について当社独自の調査・検証は行われておりません。従って、試算の基礎となった資料や情報、インタビュー内容の誤謬に基づく試算結果等への影響について、当社は何らの責任も負いません。</a:t>
            </a:r>
            <a:endParaRPr lang="en-US" altLang="ja-JP" sz="1200" dirty="0"/>
          </a:p>
          <a:p>
            <a:pPr>
              <a:spcAft>
                <a:spcPts val="1200"/>
              </a:spcAft>
            </a:pPr>
            <a:r>
              <a:rPr lang="ja-JP" altLang="en-US" sz="1200" dirty="0"/>
              <a:t>本書において、対象会社の基準日における資産及び負債等の評価（不動産の簡易価格調査結果を含む）、損益実績値の調整、将来予測数値等の分析結果について当社のコメントを付したものがありますが、これらの正確性、妥当性、適法性、網羅性、完全性または実現可能性を保証するものではありません。</a:t>
            </a:r>
          </a:p>
          <a:p>
            <a:pPr>
              <a:spcAft>
                <a:spcPts val="1200"/>
              </a:spcAft>
            </a:pPr>
            <a:r>
              <a:rPr lang="ja-JP" altLang="en-US" sz="1200" dirty="0"/>
              <a:t>本書における試算結果は、限定された情報及び調査機会に基づき本書の日付現在における当社としての意見を述べるものであり、その絶対性を保証するものではありません。従って、本書の試算結果は</a:t>
            </a:r>
            <a:r>
              <a:rPr lang="en-US" altLang="ja-JP" sz="1200" dirty="0"/>
              <a:t>M&amp;A</a:t>
            </a:r>
            <a:r>
              <a:rPr lang="ja-JP" altLang="en-US" sz="1200" dirty="0"/>
              <a:t>実行時の譲渡価額（売買取引価額）を保証するものではありません。</a:t>
            </a:r>
          </a:p>
          <a:p>
            <a:pPr>
              <a:spcAft>
                <a:spcPts val="1200"/>
              </a:spcAft>
            </a:pPr>
            <a:r>
              <a:rPr lang="ja-JP" altLang="en-US" sz="1200" dirty="0"/>
              <a:t>本書を本件試算目的以外で利用する場合及び本件取引の関連当事者以外に開示する場合には、当社の書面による承諾が必要となります。</a:t>
            </a:r>
          </a:p>
        </p:txBody>
      </p:sp>
      <p:grpSp>
        <p:nvGrpSpPr>
          <p:cNvPr id="28" name="グループ化 27">
            <a:extLst>
              <a:ext uri="{FF2B5EF4-FFF2-40B4-BE49-F238E27FC236}">
                <a16:creationId xmlns:a16="http://schemas.microsoft.com/office/drawing/2014/main" id="{D1C6A406-8443-F3E6-28CA-B536B1AA45B5}"/>
              </a:ext>
            </a:extLst>
          </p:cNvPr>
          <p:cNvGrpSpPr/>
          <p:nvPr/>
        </p:nvGrpSpPr>
        <p:grpSpPr>
          <a:xfrm>
            <a:off x="449263" y="4638836"/>
            <a:ext cx="9792000" cy="581999"/>
            <a:chOff x="449263" y="4445708"/>
            <a:chExt cx="9792000" cy="581999"/>
          </a:xfrm>
        </p:grpSpPr>
        <p:sp>
          <p:nvSpPr>
            <p:cNvPr id="24" name="正方形/長方形 23">
              <a:extLst>
                <a:ext uri="{FF2B5EF4-FFF2-40B4-BE49-F238E27FC236}">
                  <a16:creationId xmlns:a16="http://schemas.microsoft.com/office/drawing/2014/main" id="{2FCA2641-923F-459F-562E-5D27E6F566C7}"/>
                </a:ext>
              </a:extLst>
            </p:cNvPr>
            <p:cNvSpPr/>
            <p:nvPr/>
          </p:nvSpPr>
          <p:spPr>
            <a:xfrm>
              <a:off x="449263" y="4445708"/>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用語の定義</a:t>
              </a:r>
            </a:p>
          </p:txBody>
        </p:sp>
        <p:sp>
          <p:nvSpPr>
            <p:cNvPr id="26" name="テキスト ボックス 25">
              <a:extLst>
                <a:ext uri="{FF2B5EF4-FFF2-40B4-BE49-F238E27FC236}">
                  <a16:creationId xmlns:a16="http://schemas.microsoft.com/office/drawing/2014/main" id="{84E29355-A1C9-2368-8A78-4E9FAD4ED010}"/>
                </a:ext>
              </a:extLst>
            </p:cNvPr>
            <p:cNvSpPr txBox="1"/>
            <p:nvPr/>
          </p:nvSpPr>
          <p:spPr>
            <a:xfrm>
              <a:off x="449263" y="4818867"/>
              <a:ext cx="9792000" cy="208840"/>
            </a:xfrm>
            <a:prstGeom prst="rect">
              <a:avLst/>
            </a:prstGeom>
            <a:noFill/>
          </p:spPr>
          <p:txBody>
            <a:bodyPr wrap="square" lIns="0" tIns="0" rIns="0" bIns="0" rtlCol="0">
              <a:spAutoFit/>
            </a:bodyPr>
            <a:lstStyle>
              <a:defPPr>
                <a:defRPr lang="en-US"/>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r>
                <a:rPr lang="ja-JP" altLang="en-US" dirty="0"/>
                <a:t>本書で用いられる「本件取引」「本件試算目的」の定義は、「企業価値試算結果」のページに記載しております。</a:t>
              </a:r>
            </a:p>
          </p:txBody>
        </p:sp>
      </p:grpSp>
      <p:cxnSp>
        <p:nvCxnSpPr>
          <p:cNvPr id="27" name="直線コネクタ 26">
            <a:extLst>
              <a:ext uri="{FF2B5EF4-FFF2-40B4-BE49-F238E27FC236}">
                <a16:creationId xmlns:a16="http://schemas.microsoft.com/office/drawing/2014/main" id="{F946AE5A-CED3-47EB-17ED-BE6A1ABD1294}"/>
              </a:ext>
            </a:extLst>
          </p:cNvPr>
          <p:cNvCxnSpPr>
            <a:cxnSpLocks/>
          </p:cNvCxnSpPr>
          <p:nvPr/>
        </p:nvCxnSpPr>
        <p:spPr>
          <a:xfrm>
            <a:off x="449263" y="5479540"/>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735B2-585C-A9A9-5167-EBEF6489416D}"/>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ABFD2964-553D-9D91-68F1-870D0805E2CB}"/>
              </a:ext>
            </a:extLst>
          </p:cNvPr>
          <p:cNvSpPr>
            <a:spLocks noGrp="1"/>
          </p:cNvSpPr>
          <p:nvPr>
            <p:ph type="ctrTitle"/>
          </p:nvPr>
        </p:nvSpPr>
        <p:spPr>
          <a:xfrm>
            <a:off x="341313" y="180653"/>
            <a:ext cx="7799917" cy="338554"/>
          </a:xfrm>
        </p:spPr>
        <p:txBody>
          <a:bodyPr/>
          <a:lstStyle/>
          <a:p>
            <a:r>
              <a:rPr lang="ja-JP" altLang="en-US" dirty="0"/>
              <a:t>株価評価にあたっての注意点</a:t>
            </a:r>
          </a:p>
        </p:txBody>
      </p:sp>
      <p:sp>
        <p:nvSpPr>
          <p:cNvPr id="18" name="テキスト ボックス 17">
            <a:extLst>
              <a:ext uri="{FF2B5EF4-FFF2-40B4-BE49-F238E27FC236}">
                <a16:creationId xmlns:a16="http://schemas.microsoft.com/office/drawing/2014/main" id="{43FF748D-7302-6B92-5A45-49968A63F0B4}"/>
              </a:ext>
            </a:extLst>
          </p:cNvPr>
          <p:cNvSpPr txBox="1"/>
          <p:nvPr/>
        </p:nvSpPr>
        <p:spPr>
          <a:xfrm>
            <a:off x="1109133" y="10679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t>M&amp;A</a:t>
            </a:r>
            <a:r>
              <a:rPr lang="ja-JP" altLang="en-US" dirty="0"/>
              <a:t>における株価は、買主との協議によって決定されるものであり、最終的に本書での評価結果の範囲外に</a:t>
            </a:r>
            <a:br>
              <a:rPr lang="en-US" altLang="ja-JP" dirty="0"/>
            </a:br>
            <a:r>
              <a:rPr lang="ja-JP" altLang="en-US" dirty="0"/>
              <a:t>なる可能性も相応に御座います。本書での評価結果はあくまで目安の一つとして、ご理解ください。</a:t>
            </a:r>
            <a:endParaRPr lang="en-US" altLang="ja-JP" dirty="0"/>
          </a:p>
        </p:txBody>
      </p:sp>
      <p:sp>
        <p:nvSpPr>
          <p:cNvPr id="20" name="テキスト ボックス 19">
            <a:extLst>
              <a:ext uri="{FF2B5EF4-FFF2-40B4-BE49-F238E27FC236}">
                <a16:creationId xmlns:a16="http://schemas.microsoft.com/office/drawing/2014/main" id="{43A2A16C-AED8-ACCF-CB8F-70E0B810FB3B}"/>
              </a:ext>
            </a:extLst>
          </p:cNvPr>
          <p:cNvSpPr txBox="1"/>
          <p:nvPr/>
        </p:nvSpPr>
        <p:spPr>
          <a:xfrm>
            <a:off x="1109133" y="2052538"/>
            <a:ext cx="9132130" cy="760657"/>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t>M&amp;A</a:t>
            </a:r>
            <a:r>
              <a:rPr lang="ja-JP" altLang="en-US" dirty="0"/>
              <a:t>における株価評価方法は画一的なものはなく、世の中には多数の算出手法が存在します。</a:t>
            </a:r>
            <a:br>
              <a:rPr lang="en-US" altLang="ja-JP" dirty="0"/>
            </a:br>
            <a:r>
              <a:rPr lang="ja-JP" altLang="en-US" dirty="0"/>
              <a:t>本書においては中小企業</a:t>
            </a:r>
            <a:r>
              <a:rPr lang="en-US" altLang="ja-JP" dirty="0"/>
              <a:t>M&amp;A</a:t>
            </a:r>
            <a:r>
              <a:rPr lang="ja-JP" altLang="en-US" dirty="0"/>
              <a:t>において用いられる一般的な評価手法から、貴社の評価に適していると</a:t>
            </a:r>
            <a:br>
              <a:rPr lang="en-US" altLang="ja-JP" dirty="0"/>
            </a:br>
            <a:r>
              <a:rPr lang="ja-JP" altLang="en-US" dirty="0"/>
              <a:t>考えられる手法を採用しております。</a:t>
            </a:r>
            <a:endParaRPr lang="en-US" altLang="ja-JP" dirty="0"/>
          </a:p>
        </p:txBody>
      </p:sp>
      <p:sp>
        <p:nvSpPr>
          <p:cNvPr id="22" name="テキスト ボックス 21">
            <a:extLst>
              <a:ext uri="{FF2B5EF4-FFF2-40B4-BE49-F238E27FC236}">
                <a16:creationId xmlns:a16="http://schemas.microsoft.com/office/drawing/2014/main" id="{4E37E670-53DE-767E-52D8-7829791681E1}"/>
              </a:ext>
            </a:extLst>
          </p:cNvPr>
          <p:cNvSpPr txBox="1"/>
          <p:nvPr/>
        </p:nvSpPr>
        <p:spPr>
          <a:xfrm>
            <a:off x="1109133" y="3295695"/>
            <a:ext cx="9132130" cy="243593"/>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買主による評価（株価の考え方及び評価方法）は一律ではなく、各買主によって異なる結果になります。</a:t>
            </a:r>
            <a:endParaRPr lang="en-US" altLang="ja-JP" dirty="0"/>
          </a:p>
        </p:txBody>
      </p:sp>
      <p:sp>
        <p:nvSpPr>
          <p:cNvPr id="24" name="テキスト ボックス 23">
            <a:extLst>
              <a:ext uri="{FF2B5EF4-FFF2-40B4-BE49-F238E27FC236}">
                <a16:creationId xmlns:a16="http://schemas.microsoft.com/office/drawing/2014/main" id="{04F96851-B7F8-2437-2EDD-96F0EF865CAB}"/>
              </a:ext>
            </a:extLst>
          </p:cNvPr>
          <p:cNvSpPr txBox="1"/>
          <p:nvPr/>
        </p:nvSpPr>
        <p:spPr>
          <a:xfrm>
            <a:off x="1109133" y="4021788"/>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今後の業績や事業の状態・見通し等の変化によって、株式価値は変動する為、適宜、月次試算表のご提出や、</a:t>
            </a:r>
            <a:br>
              <a:rPr lang="en-US" altLang="ja-JP" dirty="0"/>
            </a:br>
            <a:r>
              <a:rPr lang="ja-JP" altLang="en-US" dirty="0"/>
              <a:t>事業状況の変化についても共有をお願いいたします。</a:t>
            </a:r>
            <a:endParaRPr lang="en-US" altLang="ja-JP" dirty="0"/>
          </a:p>
        </p:txBody>
      </p:sp>
      <p:sp>
        <p:nvSpPr>
          <p:cNvPr id="26" name="テキスト ボックス 25">
            <a:extLst>
              <a:ext uri="{FF2B5EF4-FFF2-40B4-BE49-F238E27FC236}">
                <a16:creationId xmlns:a16="http://schemas.microsoft.com/office/drawing/2014/main" id="{8DE73831-EEAA-7D18-DA19-BDDE4EA3C4F8}"/>
              </a:ext>
            </a:extLst>
          </p:cNvPr>
          <p:cNvSpPr txBox="1"/>
          <p:nvPr/>
        </p:nvSpPr>
        <p:spPr>
          <a:xfrm>
            <a:off x="1109133" y="50064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株価の一部を退職金や配当として受け取る事を希望される場合、当該金額は株価から減算されることが</a:t>
            </a:r>
            <a:br>
              <a:rPr lang="en-US" altLang="ja-JP" dirty="0"/>
            </a:br>
            <a:r>
              <a:rPr lang="ja-JP" altLang="en-US" dirty="0"/>
              <a:t>一般的でございます。</a:t>
            </a:r>
            <a:endParaRPr lang="en-US" altLang="ja-JP" dirty="0"/>
          </a:p>
        </p:txBody>
      </p:sp>
      <p:sp>
        <p:nvSpPr>
          <p:cNvPr id="28" name="テキスト ボックス 27">
            <a:extLst>
              <a:ext uri="{FF2B5EF4-FFF2-40B4-BE49-F238E27FC236}">
                <a16:creationId xmlns:a16="http://schemas.microsoft.com/office/drawing/2014/main" id="{0C5A509E-7475-2B0E-8947-020650C0994C}"/>
              </a:ext>
            </a:extLst>
          </p:cNvPr>
          <p:cNvSpPr txBox="1"/>
          <p:nvPr/>
        </p:nvSpPr>
        <p:spPr>
          <a:xfrm>
            <a:off x="1109133" y="5991041"/>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本書での評価結果を大幅に上回る株価を希望される場合、マッチングが困難になる為、</a:t>
            </a:r>
            <a:br>
              <a:rPr lang="en-US" altLang="ja-JP" dirty="0"/>
            </a:br>
            <a:r>
              <a:rPr lang="ja-JP" altLang="en-US" dirty="0"/>
              <a:t>相手が見つからない事や、長期間の時間を要す可能性が高くなります。</a:t>
            </a:r>
          </a:p>
        </p:txBody>
      </p:sp>
      <p:cxnSp>
        <p:nvCxnSpPr>
          <p:cNvPr id="29" name="直線コネクタ 28">
            <a:extLst>
              <a:ext uri="{FF2B5EF4-FFF2-40B4-BE49-F238E27FC236}">
                <a16:creationId xmlns:a16="http://schemas.microsoft.com/office/drawing/2014/main" id="{35B39C5F-7E18-97A3-3BCF-044BD39FF17C}"/>
              </a:ext>
            </a:extLst>
          </p:cNvPr>
          <p:cNvCxnSpPr>
            <a:cxnSpLocks/>
          </p:cNvCxnSpPr>
          <p:nvPr/>
        </p:nvCxnSpPr>
        <p:spPr>
          <a:xfrm>
            <a:off x="449263" y="57497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6AD9E28A-BBAC-DF8F-A86C-68460E385CD4}"/>
              </a:ext>
            </a:extLst>
          </p:cNvPr>
          <p:cNvCxnSpPr>
            <a:cxnSpLocks/>
          </p:cNvCxnSpPr>
          <p:nvPr/>
        </p:nvCxnSpPr>
        <p:spPr>
          <a:xfrm>
            <a:off x="449263" y="4765163"/>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035FDFB6-13CE-B940-E337-9990F42F633B}"/>
              </a:ext>
            </a:extLst>
          </p:cNvPr>
          <p:cNvCxnSpPr>
            <a:cxnSpLocks/>
          </p:cNvCxnSpPr>
          <p:nvPr/>
        </p:nvCxnSpPr>
        <p:spPr>
          <a:xfrm>
            <a:off x="449263" y="378053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40BDB2F5-6079-A5D7-D2D1-B3F25D6D8012}"/>
              </a:ext>
            </a:extLst>
          </p:cNvPr>
          <p:cNvCxnSpPr>
            <a:cxnSpLocks/>
          </p:cNvCxnSpPr>
          <p:nvPr/>
        </p:nvCxnSpPr>
        <p:spPr>
          <a:xfrm>
            <a:off x="449263" y="3054445"/>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3F9B2615-C99C-C209-F4AD-56373013FA24}"/>
              </a:ext>
            </a:extLst>
          </p:cNvPr>
          <p:cNvCxnSpPr>
            <a:cxnSpLocks/>
          </p:cNvCxnSpPr>
          <p:nvPr/>
        </p:nvCxnSpPr>
        <p:spPr>
          <a:xfrm>
            <a:off x="449263" y="18112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34" name="楕円 33">
            <a:extLst>
              <a:ext uri="{FF2B5EF4-FFF2-40B4-BE49-F238E27FC236}">
                <a16:creationId xmlns:a16="http://schemas.microsoft.com/office/drawing/2014/main" id="{FAEBD9E3-D818-BE03-ADD3-4C5B4AA4F637}"/>
              </a:ext>
            </a:extLst>
          </p:cNvPr>
          <p:cNvSpPr>
            <a:spLocks noChangeAspect="1"/>
          </p:cNvSpPr>
          <p:nvPr/>
        </p:nvSpPr>
        <p:spPr>
          <a:xfrm>
            <a:off x="613435" y="1072307"/>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1</a:t>
            </a:r>
            <a:endParaRPr lang="ja-JP" altLang="en-US" sz="1600" b="1" spc="70" dirty="0">
              <a:solidFill>
                <a:schemeClr val="bg1"/>
              </a:solidFill>
              <a:ea typeface="+mj-ea"/>
            </a:endParaRPr>
          </a:p>
        </p:txBody>
      </p:sp>
      <p:sp>
        <p:nvSpPr>
          <p:cNvPr id="35" name="楕円 34">
            <a:extLst>
              <a:ext uri="{FF2B5EF4-FFF2-40B4-BE49-F238E27FC236}">
                <a16:creationId xmlns:a16="http://schemas.microsoft.com/office/drawing/2014/main" id="{A4699F67-F2C0-E701-1981-BE99A943F4B1}"/>
              </a:ext>
            </a:extLst>
          </p:cNvPr>
          <p:cNvSpPr>
            <a:spLocks noChangeAspect="1"/>
          </p:cNvSpPr>
          <p:nvPr/>
        </p:nvSpPr>
        <p:spPr>
          <a:xfrm>
            <a:off x="613435" y="205270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2</a:t>
            </a:r>
            <a:endParaRPr lang="ja-JP" altLang="en-US" sz="1600" b="1" spc="70" dirty="0">
              <a:solidFill>
                <a:schemeClr val="bg1"/>
              </a:solidFill>
              <a:ea typeface="+mj-ea"/>
            </a:endParaRPr>
          </a:p>
        </p:txBody>
      </p:sp>
      <p:sp>
        <p:nvSpPr>
          <p:cNvPr id="36" name="楕円 35">
            <a:extLst>
              <a:ext uri="{FF2B5EF4-FFF2-40B4-BE49-F238E27FC236}">
                <a16:creationId xmlns:a16="http://schemas.microsoft.com/office/drawing/2014/main" id="{956ADA7D-C5BF-D213-6720-23A1C842F4D0}"/>
              </a:ext>
            </a:extLst>
          </p:cNvPr>
          <p:cNvSpPr>
            <a:spLocks noChangeAspect="1"/>
          </p:cNvSpPr>
          <p:nvPr/>
        </p:nvSpPr>
        <p:spPr>
          <a:xfrm>
            <a:off x="613435" y="3297170"/>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3</a:t>
            </a:r>
            <a:endParaRPr lang="ja-JP" altLang="en-US" sz="1600" b="1" spc="70" dirty="0">
              <a:solidFill>
                <a:schemeClr val="bg1"/>
              </a:solidFill>
              <a:ea typeface="+mj-ea"/>
            </a:endParaRPr>
          </a:p>
        </p:txBody>
      </p:sp>
      <p:sp>
        <p:nvSpPr>
          <p:cNvPr id="37" name="楕円 36">
            <a:extLst>
              <a:ext uri="{FF2B5EF4-FFF2-40B4-BE49-F238E27FC236}">
                <a16:creationId xmlns:a16="http://schemas.microsoft.com/office/drawing/2014/main" id="{E576DF4D-4E9B-1204-40C0-E6AC3658458A}"/>
              </a:ext>
            </a:extLst>
          </p:cNvPr>
          <p:cNvSpPr>
            <a:spLocks noChangeAspect="1"/>
          </p:cNvSpPr>
          <p:nvPr/>
        </p:nvSpPr>
        <p:spPr>
          <a:xfrm>
            <a:off x="613435" y="402758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4</a:t>
            </a:r>
            <a:endParaRPr lang="ja-JP" altLang="en-US" sz="1600" b="1" spc="70" dirty="0">
              <a:solidFill>
                <a:schemeClr val="bg1"/>
              </a:solidFill>
              <a:ea typeface="+mj-ea"/>
            </a:endParaRPr>
          </a:p>
        </p:txBody>
      </p:sp>
      <p:sp>
        <p:nvSpPr>
          <p:cNvPr id="38" name="楕円 37">
            <a:extLst>
              <a:ext uri="{FF2B5EF4-FFF2-40B4-BE49-F238E27FC236}">
                <a16:creationId xmlns:a16="http://schemas.microsoft.com/office/drawing/2014/main" id="{ACEF13D5-5C48-6E65-68D1-217A140C3016}"/>
              </a:ext>
            </a:extLst>
          </p:cNvPr>
          <p:cNvSpPr>
            <a:spLocks noChangeAspect="1"/>
          </p:cNvSpPr>
          <p:nvPr/>
        </p:nvSpPr>
        <p:spPr>
          <a:xfrm>
            <a:off x="613435" y="501181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5</a:t>
            </a:r>
            <a:endParaRPr lang="ja-JP" altLang="en-US" sz="1600" b="1" spc="70" dirty="0">
              <a:solidFill>
                <a:schemeClr val="bg1"/>
              </a:solidFill>
              <a:ea typeface="+mj-ea"/>
            </a:endParaRPr>
          </a:p>
        </p:txBody>
      </p:sp>
      <p:sp>
        <p:nvSpPr>
          <p:cNvPr id="39" name="楕円 38">
            <a:extLst>
              <a:ext uri="{FF2B5EF4-FFF2-40B4-BE49-F238E27FC236}">
                <a16:creationId xmlns:a16="http://schemas.microsoft.com/office/drawing/2014/main" id="{6165E92A-C06D-AE2F-D14B-947E6D286B3F}"/>
              </a:ext>
            </a:extLst>
          </p:cNvPr>
          <p:cNvSpPr>
            <a:spLocks noChangeAspect="1"/>
          </p:cNvSpPr>
          <p:nvPr/>
        </p:nvSpPr>
        <p:spPr>
          <a:xfrm>
            <a:off x="613435" y="5982493"/>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6</a:t>
            </a:r>
            <a:endParaRPr lang="ja-JP" altLang="en-US" sz="1600" b="1" spc="70" dirty="0">
              <a:solidFill>
                <a:schemeClr val="bg1"/>
              </a:solidFill>
              <a:ea typeface="+mj-ea"/>
            </a:endParaRPr>
          </a:p>
        </p:txBody>
      </p:sp>
    </p:spTree>
    <p:extLst>
      <p:ext uri="{BB962C8B-B14F-4D97-AF65-F5344CB8AC3E}">
        <p14:creationId xmlns:p14="http://schemas.microsoft.com/office/powerpoint/2010/main" val="2457898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
          <p:cNvSpPr txBox="1"/>
          <p:nvPr/>
        </p:nvSpPr>
        <p:spPr>
          <a:xfrm>
            <a:off x="6191813" y="1667046"/>
            <a:ext cx="4500000" cy="2382191"/>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t>Valuation Summary </a:t>
            </a:r>
            <a:r>
              <a:rPr lang="ja-JP" altLang="en-US" sz="1600" dirty="0"/>
              <a:t>／ </a:t>
            </a:r>
            <a:br>
              <a:rPr lang="en-US" altLang="ja-JP" sz="1800" dirty="0"/>
            </a:br>
            <a:r>
              <a:rPr lang="ja-JP" altLang="en-US" sz="2200" dirty="0"/>
              <a:t>試算結果</a:t>
            </a:r>
            <a:endParaRPr lang="en-US" altLang="ja-JP" sz="2200" dirty="0"/>
          </a:p>
          <a:p>
            <a:pPr>
              <a:spcAft>
                <a:spcPts val="1000"/>
              </a:spcAft>
            </a:pPr>
            <a:r>
              <a:rPr lang="en-US" altLang="ja-JP" sz="1600" dirty="0"/>
              <a:t>Financial Analysis </a:t>
            </a:r>
            <a:r>
              <a:rPr lang="ja-JP" altLang="en-US" sz="1600" dirty="0"/>
              <a:t>／ </a:t>
            </a:r>
            <a:br>
              <a:rPr lang="en-US" altLang="ja-JP" sz="1800" dirty="0"/>
            </a:br>
            <a:r>
              <a:rPr lang="ja-JP" altLang="en-US" dirty="0"/>
              <a:t>財務情報の分析</a:t>
            </a:r>
          </a:p>
          <a:p>
            <a:pPr>
              <a:spcAft>
                <a:spcPts val="1000"/>
              </a:spcAft>
            </a:pPr>
            <a:r>
              <a:rPr lang="en-US" altLang="ja-JP" sz="1600" dirty="0"/>
              <a:t>Valuation Details </a:t>
            </a:r>
            <a:r>
              <a:rPr lang="ja-JP" altLang="en-US" sz="1600" dirty="0"/>
              <a:t>／ </a:t>
            </a:r>
            <a:br>
              <a:rPr lang="en-US" altLang="ja-JP" sz="1800" dirty="0"/>
            </a:br>
            <a:r>
              <a:rPr lang="ja-JP" altLang="en-US" dirty="0"/>
              <a:t>株式価値の試算</a:t>
            </a:r>
          </a:p>
        </p:txBody>
      </p:sp>
      <p:sp>
        <p:nvSpPr>
          <p:cNvPr id="7" name="正方形/長方形 6">
            <a:extLst>
              <a:ext uri="{FF2B5EF4-FFF2-40B4-BE49-F238E27FC236}">
                <a16:creationId xmlns:a16="http://schemas.microsoft.com/office/drawing/2014/main" id="{2C1708EA-89F0-5F4C-1E17-8D5ACE55DC86}"/>
              </a:ext>
            </a:extLst>
          </p:cNvPr>
          <p:cNvSpPr/>
          <p:nvPr/>
        </p:nvSpPr>
        <p:spPr>
          <a:xfrm>
            <a:off x="5624541" y="1732147"/>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8" name="正方形/長方形 7">
            <a:extLst>
              <a:ext uri="{FF2B5EF4-FFF2-40B4-BE49-F238E27FC236}">
                <a16:creationId xmlns:a16="http://schemas.microsoft.com/office/drawing/2014/main" id="{CD50E8F0-8863-1FB0-5044-94DF9D298836}"/>
              </a:ext>
            </a:extLst>
          </p:cNvPr>
          <p:cNvSpPr/>
          <p:nvPr/>
        </p:nvSpPr>
        <p:spPr>
          <a:xfrm>
            <a:off x="5624542" y="2489129"/>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9" name="正方形/長方形 8">
            <a:extLst>
              <a:ext uri="{FF2B5EF4-FFF2-40B4-BE49-F238E27FC236}">
                <a16:creationId xmlns:a16="http://schemas.microsoft.com/office/drawing/2014/main" id="{93D365FE-0FEC-F530-0DDB-077BF8F26623}"/>
              </a:ext>
            </a:extLst>
          </p:cNvPr>
          <p:cNvSpPr/>
          <p:nvPr/>
        </p:nvSpPr>
        <p:spPr>
          <a:xfrm>
            <a:off x="5624542" y="3297805"/>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0" name="正方形/長方形 9">
            <a:extLst>
              <a:ext uri="{FF2B5EF4-FFF2-40B4-BE49-F238E27FC236}">
                <a16:creationId xmlns:a16="http://schemas.microsoft.com/office/drawing/2014/main" id="{356BA6C0-4C4F-20D8-A4B5-B9A7E93A5626}"/>
              </a:ext>
            </a:extLst>
          </p:cNvPr>
          <p:cNvSpPr/>
          <p:nvPr/>
        </p:nvSpPr>
        <p:spPr>
          <a:xfrm>
            <a:off x="5624541" y="4876948"/>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11" name="正方形/長方形 10">
            <a:extLst>
              <a:ext uri="{FF2B5EF4-FFF2-40B4-BE49-F238E27FC236}">
                <a16:creationId xmlns:a16="http://schemas.microsoft.com/office/drawing/2014/main" id="{A3313A39-62ED-3ADF-A7D6-60D17898BFB5}"/>
              </a:ext>
            </a:extLst>
          </p:cNvPr>
          <p:cNvSpPr/>
          <p:nvPr/>
        </p:nvSpPr>
        <p:spPr>
          <a:xfrm>
            <a:off x="5624542" y="569409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grpSp>
        <p:nvGrpSpPr>
          <p:cNvPr id="18" name="グループ化 17">
            <a:extLst>
              <a:ext uri="{FF2B5EF4-FFF2-40B4-BE49-F238E27FC236}">
                <a16:creationId xmlns:a16="http://schemas.microsoft.com/office/drawing/2014/main" id="{0DDEFAE0-C3C3-0B06-AC36-5F2C87ABC64B}"/>
              </a:ext>
            </a:extLst>
          </p:cNvPr>
          <p:cNvGrpSpPr/>
          <p:nvPr/>
        </p:nvGrpSpPr>
        <p:grpSpPr>
          <a:xfrm>
            <a:off x="5624541" y="1159642"/>
            <a:ext cx="3492000" cy="310672"/>
            <a:chOff x="885525" y="2895310"/>
            <a:chExt cx="3492000" cy="310672"/>
          </a:xfrm>
        </p:grpSpPr>
        <p:sp>
          <p:nvSpPr>
            <p:cNvPr id="19" name="テキスト ボックス 18">
              <a:extLst>
                <a:ext uri="{FF2B5EF4-FFF2-40B4-BE49-F238E27FC236}">
                  <a16:creationId xmlns:a16="http://schemas.microsoft.com/office/drawing/2014/main" id="{0894204C-E42E-AEE7-1705-732C7C1CA805}"/>
                </a:ext>
              </a:extLst>
            </p:cNvPr>
            <p:cNvSpPr txBox="1"/>
            <p:nvPr/>
          </p:nvSpPr>
          <p:spPr>
            <a:xfrm>
              <a:off x="974063" y="2895310"/>
              <a:ext cx="2099337" cy="276999"/>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1800" spc="50" dirty="0">
                  <a:solidFill>
                    <a:schemeClr val="tx2"/>
                  </a:solidFill>
                </a:rPr>
                <a:t>Section</a:t>
              </a:r>
              <a:endParaRPr lang="ja-JP" altLang="en-US" sz="1800" spc="50" dirty="0">
                <a:solidFill>
                  <a:schemeClr val="tx2"/>
                </a:solidFill>
              </a:endParaRPr>
            </a:p>
          </p:txBody>
        </p:sp>
        <p:cxnSp>
          <p:nvCxnSpPr>
            <p:cNvPr id="20" name="直線コネクタ 19">
              <a:extLst>
                <a:ext uri="{FF2B5EF4-FFF2-40B4-BE49-F238E27FC236}">
                  <a16:creationId xmlns:a16="http://schemas.microsoft.com/office/drawing/2014/main" id="{8F991BA0-BA15-EAE6-6617-CF5AE0EA46D0}"/>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1" name="グループ化 20">
            <a:extLst>
              <a:ext uri="{FF2B5EF4-FFF2-40B4-BE49-F238E27FC236}">
                <a16:creationId xmlns:a16="http://schemas.microsoft.com/office/drawing/2014/main" id="{C5DA3EA3-89C2-83D0-3698-1ECBC4BDC2FB}"/>
              </a:ext>
            </a:extLst>
          </p:cNvPr>
          <p:cNvGrpSpPr/>
          <p:nvPr/>
        </p:nvGrpSpPr>
        <p:grpSpPr>
          <a:xfrm>
            <a:off x="5624541" y="4298553"/>
            <a:ext cx="3492000" cy="310672"/>
            <a:chOff x="885525" y="2895310"/>
            <a:chExt cx="3492000" cy="310672"/>
          </a:xfrm>
        </p:grpSpPr>
        <p:sp>
          <p:nvSpPr>
            <p:cNvPr id="22" name="テキスト ボックス 21">
              <a:extLst>
                <a:ext uri="{FF2B5EF4-FFF2-40B4-BE49-F238E27FC236}">
                  <a16:creationId xmlns:a16="http://schemas.microsoft.com/office/drawing/2014/main" id="{9C1DC0E6-ED6E-2F07-E66C-1E1D60682552}"/>
                </a:ext>
              </a:extLst>
            </p:cNvPr>
            <p:cNvSpPr txBox="1"/>
            <p:nvPr/>
          </p:nvSpPr>
          <p:spPr>
            <a:xfrm>
              <a:off x="974063" y="2895310"/>
              <a:ext cx="2099337" cy="276999"/>
            </a:xfrm>
            <a:prstGeom prst="rect">
              <a:avLst/>
            </a:prstGeom>
            <a:noFill/>
          </p:spPr>
          <p:txBody>
            <a:bodyPr wrap="square" lIns="0" tIns="0" rIns="0" bIns="0" rtlCol="0" anchor="ctr">
              <a:spAutoFit/>
            </a:bodyPr>
            <a:lstStyle>
              <a:defPPr>
                <a:defRPr lang="en-US"/>
              </a:defPPr>
              <a:lvl1pPr defTabSz="1007943">
                <a:lnSpc>
                  <a:spcPct val="100000"/>
                </a:lnSpc>
                <a:spcBef>
                  <a:spcPct val="0"/>
                </a:spcBef>
                <a:buClr>
                  <a:schemeClr val="bg1"/>
                </a:buClr>
                <a:buNone/>
                <a:defRPr kumimoji="1" b="1" spc="100">
                  <a:solidFill>
                    <a:schemeClr val="tx2"/>
                  </a:solidFill>
                  <a:latin typeface="+mj-lt"/>
                  <a:ea typeface="+mj-ea"/>
                </a:defRPr>
              </a:lvl1pPr>
            </a:lstStyle>
            <a:p>
              <a:r>
                <a:rPr lang="en-US" altLang="ja-JP" spc="50" dirty="0"/>
                <a:t>Appendix</a:t>
              </a:r>
            </a:p>
          </p:txBody>
        </p:sp>
        <p:cxnSp>
          <p:nvCxnSpPr>
            <p:cNvPr id="23" name="直線コネクタ 22">
              <a:extLst>
                <a:ext uri="{FF2B5EF4-FFF2-40B4-BE49-F238E27FC236}">
                  <a16:creationId xmlns:a16="http://schemas.microsoft.com/office/drawing/2014/main" id="{612D37CD-A59C-F55E-221F-B13CD355E5F9}"/>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4" name="Google Shape;194;p3">
            <a:extLst>
              <a:ext uri="{FF2B5EF4-FFF2-40B4-BE49-F238E27FC236}">
                <a16:creationId xmlns:a16="http://schemas.microsoft.com/office/drawing/2014/main" id="{51263BEA-61A8-35D5-87C2-23D10C6930F5}"/>
              </a:ext>
            </a:extLst>
          </p:cNvPr>
          <p:cNvSpPr txBox="1"/>
          <p:nvPr/>
        </p:nvSpPr>
        <p:spPr>
          <a:xfrm>
            <a:off x="6191813" y="4825113"/>
            <a:ext cx="4500000" cy="1610697"/>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t>Valuation Methodology </a:t>
            </a:r>
            <a:r>
              <a:rPr lang="ja-JP" altLang="en-US" sz="1600" dirty="0"/>
              <a:t>／ </a:t>
            </a:r>
            <a:br>
              <a:rPr lang="en-US" altLang="ja-JP" sz="1800" dirty="0"/>
            </a:br>
            <a:r>
              <a:rPr lang="ja-JP" altLang="en-US" dirty="0"/>
              <a:t>評価手法について</a:t>
            </a:r>
            <a:endParaRPr lang="en-US" altLang="ja-JP" dirty="0"/>
          </a:p>
          <a:p>
            <a:pPr>
              <a:spcAft>
                <a:spcPts val="1000"/>
              </a:spcAft>
            </a:pPr>
            <a:r>
              <a:rPr lang="en-US" altLang="ja-JP" sz="1600" dirty="0"/>
              <a:t>Valuation Concept </a:t>
            </a:r>
            <a:r>
              <a:rPr lang="ja-JP" altLang="en-US" sz="1600" dirty="0"/>
              <a:t>／ </a:t>
            </a:r>
            <a:br>
              <a:rPr lang="en-US" altLang="ja-JP" sz="1800" dirty="0"/>
            </a:br>
            <a:r>
              <a:rPr lang="ja-JP" altLang="en-US" dirty="0"/>
              <a:t>株式価値の考え方</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E3DA6B61-FAFD-DD87-1996-71591FC85C3F}"/>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Valuation Summary </a:t>
            </a:r>
            <a:r>
              <a:rPr lang="ja-JP" altLang="en-US" dirty="0"/>
              <a:t>／</a:t>
            </a:r>
            <a:br>
              <a:rPr lang="en-US" altLang="ja-JP" dirty="0"/>
            </a:br>
            <a:r>
              <a:rPr lang="ja-JP" altLang="en-US" dirty="0"/>
              <a:t>試算結果</a:t>
            </a:r>
          </a:p>
        </p:txBody>
      </p:sp>
      <p:grpSp>
        <p:nvGrpSpPr>
          <p:cNvPr id="11" name="グループ化 10">
            <a:extLst>
              <a:ext uri="{FF2B5EF4-FFF2-40B4-BE49-F238E27FC236}">
                <a16:creationId xmlns:a16="http://schemas.microsoft.com/office/drawing/2014/main" id="{28C8DACB-015F-010F-F923-94C20FE54908}"/>
              </a:ext>
            </a:extLst>
          </p:cNvPr>
          <p:cNvGrpSpPr/>
          <p:nvPr/>
        </p:nvGrpSpPr>
        <p:grpSpPr>
          <a:xfrm>
            <a:off x="885526" y="2173586"/>
            <a:ext cx="3390141" cy="651396"/>
            <a:chOff x="885526" y="2554586"/>
            <a:chExt cx="3390141" cy="651396"/>
          </a:xfrm>
        </p:grpSpPr>
        <p:sp>
          <p:nvSpPr>
            <p:cNvPr id="12" name="テキスト ボックス 11">
              <a:extLst>
                <a:ext uri="{FF2B5EF4-FFF2-40B4-BE49-F238E27FC236}">
                  <a16:creationId xmlns:a16="http://schemas.microsoft.com/office/drawing/2014/main" id="{22B6E4BF-C4F4-525F-6A55-FCF5A0ACC52E}"/>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1</a:t>
              </a:r>
              <a:endParaRPr lang="ja-JP" altLang="en-US" spc="100" dirty="0">
                <a:solidFill>
                  <a:schemeClr val="accent2">
                    <a:lumMod val="90000"/>
                  </a:schemeClr>
                </a:solidFill>
              </a:endParaRPr>
            </a:p>
          </p:txBody>
        </p:sp>
        <p:cxnSp>
          <p:nvCxnSpPr>
            <p:cNvPr id="13" name="直線コネクタ 12">
              <a:extLst>
                <a:ext uri="{FF2B5EF4-FFF2-40B4-BE49-F238E27FC236}">
                  <a16:creationId xmlns:a16="http://schemas.microsoft.com/office/drawing/2014/main" id="{6086A45E-386C-748D-F12D-BB22E67E44E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22226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65677-B8B4-CBCB-42B2-C7230FBB069D}"/>
            </a:ext>
          </a:extLst>
        </p:cNvPr>
        <p:cNvGrpSpPr/>
        <p:nvPr/>
      </p:nvGrpSpPr>
      <p:grpSpPr>
        <a:xfrm>
          <a:off x="0" y="0"/>
          <a:ext cx="0" cy="0"/>
          <a:chOff x="0" y="0"/>
          <a:chExt cx="0" cy="0"/>
        </a:xfrm>
      </p:grpSpPr>
      <p:sp>
        <p:nvSpPr>
          <p:cNvPr id="5" name="字幕 4">
            <a:extLst>
              <a:ext uri="{FF2B5EF4-FFF2-40B4-BE49-F238E27FC236}">
                <a16:creationId xmlns:a16="http://schemas.microsoft.com/office/drawing/2014/main" id="{40B59A8A-DD72-B327-5EE3-75AE45DE656C}"/>
              </a:ext>
            </a:extLst>
          </p:cNvPr>
          <p:cNvSpPr>
            <a:spLocks noGrp="1"/>
          </p:cNvSpPr>
          <p:nvPr>
            <p:ph type="subTitle" idx="1"/>
          </p:nvPr>
        </p:nvSpPr>
        <p:spPr/>
        <p:txBody>
          <a:bodyPr/>
          <a:lstStyle/>
          <a:p>
            <a:r>
              <a:rPr lang="ja-JP" altLang="en-US" dirty="0"/>
              <a:t>現在、一般的に認められている株式価値算定の手法は次のとおり分類されています</a:t>
            </a:r>
          </a:p>
        </p:txBody>
      </p:sp>
      <p:sp>
        <p:nvSpPr>
          <p:cNvPr id="2" name="タイトル 1">
            <a:extLst>
              <a:ext uri="{FF2B5EF4-FFF2-40B4-BE49-F238E27FC236}">
                <a16:creationId xmlns:a16="http://schemas.microsoft.com/office/drawing/2014/main" id="{6661711B-6AA4-E2BF-069F-2959DD69E33E}"/>
              </a:ext>
            </a:extLst>
          </p:cNvPr>
          <p:cNvSpPr>
            <a:spLocks noGrp="1"/>
          </p:cNvSpPr>
          <p:nvPr>
            <p:ph type="ctrTitle"/>
          </p:nvPr>
        </p:nvSpPr>
        <p:spPr/>
        <p:txBody>
          <a:bodyPr/>
          <a:lstStyle/>
          <a:p>
            <a:r>
              <a:rPr lang="ja-JP" altLang="en-US" dirty="0"/>
              <a:t>採用するアプローチの選定</a:t>
            </a:r>
          </a:p>
        </p:txBody>
      </p:sp>
      <p:sp>
        <p:nvSpPr>
          <p:cNvPr id="3" name="タイトル 1">
            <a:extLst>
              <a:ext uri="{FF2B5EF4-FFF2-40B4-BE49-F238E27FC236}">
                <a16:creationId xmlns:a16="http://schemas.microsoft.com/office/drawing/2014/main" id="{E07A9094-1106-36D4-CE53-B7B2CE8FC369}"/>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Summary</a:t>
            </a:r>
            <a:endParaRPr lang="ja-JP" altLang="en-US" spc="0" dirty="0"/>
          </a:p>
        </p:txBody>
      </p:sp>
      <p:sp>
        <p:nvSpPr>
          <p:cNvPr id="6" name="乗算記号 5">
            <a:extLst>
              <a:ext uri="{FF2B5EF4-FFF2-40B4-BE49-F238E27FC236}">
                <a16:creationId xmlns:a16="http://schemas.microsoft.com/office/drawing/2014/main" id="{142BB6C9-EEAE-1776-D618-40F16814CE0C}"/>
              </a:ext>
            </a:extLst>
          </p:cNvPr>
          <p:cNvSpPr/>
          <p:nvPr/>
        </p:nvSpPr>
        <p:spPr>
          <a:xfrm>
            <a:off x="5418835" y="3889114"/>
            <a:ext cx="747006" cy="72381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3" name="フローチャート: 処理 12">
            <a:extLst>
              <a:ext uri="{FF2B5EF4-FFF2-40B4-BE49-F238E27FC236}">
                <a16:creationId xmlns:a16="http://schemas.microsoft.com/office/drawing/2014/main" id="{FA8545AF-F6D4-C9D4-463F-EE482C1828FE}"/>
              </a:ext>
            </a:extLst>
          </p:cNvPr>
          <p:cNvSpPr/>
          <p:nvPr/>
        </p:nvSpPr>
        <p:spPr>
          <a:xfrm>
            <a:off x="449264" y="6120538"/>
            <a:ext cx="9793286" cy="72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nSpc>
                <a:spcPct val="120000"/>
              </a:lnSpc>
              <a:spcAft>
                <a:spcPts val="300"/>
              </a:spcAft>
            </a:pPr>
            <a:r>
              <a:rPr lang="ja-JP" altLang="en-US" sz="1200" b="1" spc="30">
                <a:solidFill>
                  <a:schemeClr val="tx2"/>
                </a:solidFill>
                <a:latin typeface="+mj-ea"/>
                <a:ea typeface="+mj-ea"/>
              </a:rPr>
              <a:t>最適な評価手法の選定にあたっては、対象会社の性質や評価目的などを踏まえ、総合的に判断する必要があります。</a:t>
            </a:r>
            <a:br>
              <a:rPr lang="en-US" altLang="ja-JP" sz="1200" b="1" spc="30">
                <a:solidFill>
                  <a:schemeClr val="tx2"/>
                </a:solidFill>
                <a:latin typeface="+mj-ea"/>
                <a:ea typeface="+mj-ea"/>
              </a:rPr>
            </a:br>
            <a:r>
              <a:rPr lang="ja-JP" altLang="en-US" sz="1200" b="1" spc="30">
                <a:solidFill>
                  <a:schemeClr val="tx2"/>
                </a:solidFill>
                <a:latin typeface="+mj-ea"/>
                <a:ea typeface="+mj-ea"/>
              </a:rPr>
              <a:t>なお、各手法の概略につきましては、「</a:t>
            </a:r>
            <a:r>
              <a:rPr lang="en-US" altLang="ja-JP" sz="1200" b="1" spc="30">
                <a:solidFill>
                  <a:schemeClr val="tx2"/>
                </a:solidFill>
                <a:latin typeface="+mj-ea"/>
                <a:ea typeface="+mj-ea"/>
              </a:rPr>
              <a:t>Appendix2.</a:t>
            </a:r>
            <a:r>
              <a:rPr lang="ja-JP" altLang="en-US" sz="1200" b="1" spc="30">
                <a:solidFill>
                  <a:schemeClr val="tx2"/>
                </a:solidFill>
                <a:latin typeface="+mj-ea"/>
                <a:ea typeface="+mj-ea"/>
              </a:rPr>
              <a:t>評価手法について」をご確認ください。</a:t>
            </a:r>
            <a:endParaRPr kumimoji="1" lang="ja-JP" altLang="en-US" sz="1200" b="1" spc="30" dirty="0">
              <a:solidFill>
                <a:schemeClr val="tx2"/>
              </a:solidFill>
              <a:latin typeface="+mj-ea"/>
              <a:ea typeface="+mj-ea"/>
            </a:endParaRPr>
          </a:p>
        </p:txBody>
      </p:sp>
      <p:sp>
        <p:nvSpPr>
          <p:cNvPr id="14" name="乗算記号 13">
            <a:extLst>
              <a:ext uri="{FF2B5EF4-FFF2-40B4-BE49-F238E27FC236}">
                <a16:creationId xmlns:a16="http://schemas.microsoft.com/office/drawing/2014/main" id="{0E497E37-91F1-6E83-A999-ACA92BE33138}"/>
              </a:ext>
            </a:extLst>
          </p:cNvPr>
          <p:cNvSpPr/>
          <p:nvPr/>
        </p:nvSpPr>
        <p:spPr>
          <a:xfrm>
            <a:off x="5364867" y="5236843"/>
            <a:ext cx="854815" cy="82827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graphicFrame>
        <p:nvGraphicFramePr>
          <p:cNvPr id="15" name="表 14">
            <a:extLst>
              <a:ext uri="{FF2B5EF4-FFF2-40B4-BE49-F238E27FC236}">
                <a16:creationId xmlns:a16="http://schemas.microsoft.com/office/drawing/2014/main" id="{4C5CBA27-1CE9-EB68-0FF4-E0BB71BB8CFC}"/>
              </a:ext>
            </a:extLst>
          </p:cNvPr>
          <p:cNvGraphicFramePr>
            <a:graphicFrameLocks noGrp="1"/>
          </p:cNvGraphicFramePr>
          <p:nvPr/>
        </p:nvGraphicFramePr>
        <p:xfrm>
          <a:off x="456921" y="1366838"/>
          <a:ext cx="9792000" cy="446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1274597146"/>
                    </a:ext>
                  </a:extLst>
                </a:gridCol>
                <a:gridCol w="1440000">
                  <a:extLst>
                    <a:ext uri="{9D8B030D-6E8A-4147-A177-3AD203B41FA5}">
                      <a16:colId xmlns:a16="http://schemas.microsoft.com/office/drawing/2014/main" val="671554233"/>
                    </a:ext>
                  </a:extLst>
                </a:gridCol>
                <a:gridCol w="1908000">
                  <a:extLst>
                    <a:ext uri="{9D8B030D-6E8A-4147-A177-3AD203B41FA5}">
                      <a16:colId xmlns:a16="http://schemas.microsoft.com/office/drawing/2014/main" val="633478589"/>
                    </a:ext>
                  </a:extLst>
                </a:gridCol>
                <a:gridCol w="792000">
                  <a:extLst>
                    <a:ext uri="{9D8B030D-6E8A-4147-A177-3AD203B41FA5}">
                      <a16:colId xmlns:a16="http://schemas.microsoft.com/office/drawing/2014/main" val="2625689903"/>
                    </a:ext>
                  </a:extLst>
                </a:gridCol>
                <a:gridCol w="4212000">
                  <a:extLst>
                    <a:ext uri="{9D8B030D-6E8A-4147-A177-3AD203B41FA5}">
                      <a16:colId xmlns:a16="http://schemas.microsoft.com/office/drawing/2014/main" val="634309969"/>
                    </a:ext>
                  </a:extLst>
                </a:gridCol>
              </a:tblGrid>
              <a:tr h="360000">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評価アプローチ</a:t>
                      </a:r>
                    </a:p>
                  </a:txBody>
                  <a:tcPr marL="108000" marR="108000" marT="0" marB="0" anchor="ctr">
                    <a:lnL w="12700" cmpd="sng">
                      <a:noFill/>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着目点</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評価手法</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gridSpan="2">
                  <a:txBody>
                    <a:bodyPr/>
                    <a:lstStyle/>
                    <a:p>
                      <a:pPr marL="0" marR="0" lvl="0" indent="0" algn="ctr" defTabSz="1007943" rtl="0" eaLnBrk="1" fontAlgn="auto" latinLnBrk="0" hangingPunct="1">
                        <a:lnSpc>
                          <a:spcPct val="110000"/>
                        </a:lnSpc>
                        <a:spcBef>
                          <a:spcPts val="0"/>
                        </a:spcBef>
                        <a:spcAft>
                          <a:spcPts val="300"/>
                        </a:spcAft>
                        <a:buClrTx/>
                        <a:buSzTx/>
                        <a:buFontTx/>
                        <a:buNone/>
                        <a:tabLst/>
                        <a:defRPr/>
                      </a:pPr>
                      <a:r>
                        <a:rPr kumimoji="1" lang="ja-JP" altLang="en-US" sz="1200" b="1" kern="1200" dirty="0">
                          <a:solidFill>
                            <a:schemeClr val="lt1"/>
                          </a:solidFill>
                          <a:latin typeface="+mj-lt"/>
                          <a:ea typeface="+mj-ea"/>
                          <a:cs typeface="+mn-cs"/>
                        </a:rPr>
                        <a:t>採用可否と選定理由</a:t>
                      </a:r>
                    </a:p>
                  </a:txBody>
                  <a:tcPr marL="108000" marR="108000" marT="0" marB="0" anchor="ctr">
                    <a:lnL w="1270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hMerge="1">
                  <a:txBody>
                    <a:bodyPr/>
                    <a:lstStyle/>
                    <a:p>
                      <a:endParaRPr kumimoji="1" lang="ja-JP" altLang="en-US" dirty="0"/>
                    </a:p>
                  </a:txBody>
                  <a:tcPr/>
                </a:tc>
                <a:extLst>
                  <a:ext uri="{0D108BD9-81ED-4DB2-BD59-A6C34878D82A}">
                    <a16:rowId xmlns:a16="http://schemas.microsoft.com/office/drawing/2014/main" val="3874904672"/>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コスト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純資産価値</a:t>
                      </a:r>
                      <a:endParaRPr kumimoji="1" lang="en-US" altLang="ja-JP" sz="11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j-lt"/>
                          <a:ea typeface="+mj-ea"/>
                          <a:cs typeface="+mn-cs"/>
                        </a:rPr>
                        <a:t>□ 薄価純資産価額法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時価純資産価額法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時価純資産＋営業権法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　（年買法）</a:t>
                      </a: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r>
                        <a:rPr kumimoji="1" lang="ja-JP" altLang="en-US" sz="1000" b="1" kern="1200" dirty="0">
                          <a:solidFill>
                            <a:schemeClr val="tx2"/>
                          </a:solidFill>
                          <a:latin typeface="+mj-lt"/>
                          <a:ea typeface="+mj-ea"/>
                          <a:cs typeface="+mn-cs"/>
                        </a:rPr>
                        <a:t>時価純資産に会社の超過収益力である営業権を加算することで</a:t>
                      </a:r>
                      <a:br>
                        <a:rPr kumimoji="1" lang="en-US" altLang="ja-JP" sz="1000" b="1" kern="1200" dirty="0">
                          <a:solidFill>
                            <a:schemeClr val="tx2"/>
                          </a:solidFill>
                          <a:latin typeface="+mj-lt"/>
                          <a:ea typeface="+mj-ea"/>
                          <a:cs typeface="+mn-cs"/>
                        </a:rPr>
                      </a:br>
                      <a:r>
                        <a:rPr kumimoji="1" lang="ja-JP" altLang="en-US" sz="1000" b="1" kern="1200" dirty="0">
                          <a:solidFill>
                            <a:schemeClr val="tx2"/>
                          </a:solidFill>
                          <a:latin typeface="+mj-lt"/>
                          <a:ea typeface="+mj-ea"/>
                          <a:cs typeface="+mn-cs"/>
                        </a:rPr>
                        <a:t>継続企業価値を算定する手法</a:t>
                      </a:r>
                    </a:p>
                    <a:p>
                      <a:pPr marL="144000" marR="0" lvl="0" indent="-144000" algn="l" defTabSz="914400" rtl="0" eaLnBrk="1" fontAlgn="auto" latinLnBrk="0" hangingPunct="1">
                        <a:lnSpc>
                          <a:spcPct val="110000"/>
                        </a:lnSpc>
                        <a:spcBef>
                          <a:spcPts val="300"/>
                        </a:spcBef>
                        <a:spcAft>
                          <a:spcPts val="300"/>
                        </a:spcAft>
                        <a:buClr>
                          <a:schemeClr val="accent4"/>
                        </a:buClr>
                        <a:buSzTx/>
                        <a:buFont typeface="游ゴシック" panose="020B0400000000000000" pitchFamily="50" charset="-128"/>
                        <a:buChar char="▪"/>
                        <a:tabLst/>
                        <a:defRPr/>
                      </a:pPr>
                      <a:r>
                        <a:rPr kumimoji="1" lang="ja-JP" altLang="en-US" sz="1000" b="0" kern="1200" dirty="0">
                          <a:solidFill>
                            <a:schemeClr val="dk1"/>
                          </a:solidFill>
                          <a:latin typeface="+mn-ea"/>
                          <a:ea typeface="+mn-ea"/>
                          <a:cs typeface="+mn-cs"/>
                        </a:rPr>
                        <a:t>実質的な財政状態に加え、経営成績をバランスよく反映させることができる「時価純資産価額法」に「営業権」を加味する手法を採用しました。なお、本手法は、中堅・中小企業の</a:t>
                      </a:r>
                      <a:r>
                        <a:rPr kumimoji="1" lang="en-US" altLang="ja-JP" sz="1000" b="0" kern="1200" dirty="0">
                          <a:solidFill>
                            <a:schemeClr val="dk1"/>
                          </a:solidFill>
                          <a:latin typeface="+mn-ea"/>
                          <a:ea typeface="+mn-ea"/>
                          <a:cs typeface="+mn-cs"/>
                        </a:rPr>
                        <a:t>M&amp;A</a:t>
                      </a:r>
                      <a:r>
                        <a:rPr kumimoji="1" lang="ja-JP" altLang="en-US" sz="1000" b="0" kern="1200" dirty="0">
                          <a:solidFill>
                            <a:schemeClr val="dk1"/>
                          </a:solidFill>
                          <a:latin typeface="+mn-ea"/>
                          <a:ea typeface="+mn-ea"/>
                          <a:cs typeface="+mn-cs"/>
                        </a:rPr>
                        <a:t>での株式評価において、最も広く用いられている手法です。</a:t>
                      </a: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36074"/>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マーケット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株式市場</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における株価</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市場価額法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類似業種比準法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類似会社比準法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a:t>
                      </a:r>
                      <a:r>
                        <a:rPr kumimoji="1" lang="en-US" altLang="ja-JP" sz="900" b="1" kern="1200" dirty="0">
                          <a:solidFill>
                            <a:schemeClr val="tx2"/>
                          </a:solidFill>
                          <a:latin typeface="+mj-lt"/>
                          <a:ea typeface="+mj-ea"/>
                          <a:cs typeface="+mn-cs"/>
                        </a:rPr>
                        <a:t>EV/EBITDA</a:t>
                      </a:r>
                      <a:r>
                        <a:rPr kumimoji="1" lang="ja-JP" altLang="en-US" sz="900" b="1" kern="1200" dirty="0">
                          <a:solidFill>
                            <a:schemeClr val="tx2"/>
                          </a:solidFill>
                          <a:latin typeface="+mj-lt"/>
                          <a:ea typeface="+mj-ea"/>
                          <a:cs typeface="+mn-cs"/>
                        </a:rPr>
                        <a:t>マルチプル法）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r>
                        <a:rPr kumimoji="1" lang="ja-JP" altLang="en-US" sz="1000" b="1" kern="1200" dirty="0">
                          <a:solidFill>
                            <a:schemeClr val="tx2"/>
                          </a:solidFill>
                          <a:latin typeface="+mj-lt"/>
                          <a:ea typeface="+mj-ea"/>
                          <a:cs typeface="+mn-cs"/>
                        </a:rPr>
                        <a:t>規模・業種が類似する企業の株価指標（倍率）をもとに、価値を</a:t>
                      </a:r>
                      <a:br>
                        <a:rPr kumimoji="1" lang="en-US" altLang="ja-JP" sz="1000" b="1" kern="1200" dirty="0">
                          <a:solidFill>
                            <a:schemeClr val="tx2"/>
                          </a:solidFill>
                          <a:latin typeface="+mj-lt"/>
                          <a:ea typeface="+mj-ea"/>
                          <a:cs typeface="+mn-cs"/>
                        </a:rPr>
                      </a:br>
                      <a:r>
                        <a:rPr kumimoji="1" lang="ja-JP" altLang="en-US" sz="1000" b="1" kern="1200" dirty="0">
                          <a:solidFill>
                            <a:schemeClr val="tx2"/>
                          </a:solidFill>
                          <a:latin typeface="+mj-lt"/>
                          <a:ea typeface="+mj-ea"/>
                          <a:cs typeface="+mn-cs"/>
                        </a:rPr>
                        <a:t>算定する手法</a:t>
                      </a:r>
                    </a:p>
                    <a:p>
                      <a:pPr marL="144000" marR="0" lvl="0" indent="-144000" algn="l" defTabSz="914400" rtl="0" eaLnBrk="1" fontAlgn="auto" latinLnBrk="0" hangingPunct="1">
                        <a:lnSpc>
                          <a:spcPct val="110000"/>
                        </a:lnSpc>
                        <a:spcBef>
                          <a:spcPts val="300"/>
                        </a:spcBef>
                        <a:spcAft>
                          <a:spcPts val="300"/>
                        </a:spcAft>
                        <a:buClr>
                          <a:schemeClr val="accent4"/>
                        </a:buClr>
                        <a:buSzTx/>
                        <a:buFont typeface="游ゴシック" panose="020B0400000000000000" pitchFamily="50" charset="-128"/>
                        <a:buChar char="▪"/>
                        <a:tabLst/>
                        <a:defRPr/>
                      </a:pPr>
                      <a:r>
                        <a:rPr kumimoji="1" lang="ja-JP" altLang="en-US" sz="1000" b="0" kern="1200" dirty="0">
                          <a:solidFill>
                            <a:schemeClr val="dk1"/>
                          </a:solidFill>
                          <a:latin typeface="+mn-ea"/>
                          <a:ea typeface="+mn-ea"/>
                          <a:cs typeface="+mn-cs"/>
                        </a:rPr>
                        <a:t>株式市場における客観的な評価尺度である「株価」をベースとし、市場のトレンドを反映できる本手法を採用しました。なお、類似する上場企業の評価倍率を用いることで、第三者からの客観性と納得性が高い評価結果が得られる点が特徴です。</a:t>
                      </a: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0160336"/>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インカム</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収益力</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収益還元法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en-US" altLang="ja-JP" sz="1100" b="1" kern="1200" dirty="0">
                          <a:solidFill>
                            <a:schemeClr val="accent1">
                              <a:lumMod val="60000"/>
                              <a:lumOff val="40000"/>
                            </a:schemeClr>
                          </a:solidFill>
                          <a:latin typeface="+mj-lt"/>
                          <a:ea typeface="+mj-ea"/>
                          <a:cs typeface="+mn-cs"/>
                        </a:rPr>
                        <a:t>DCF</a:t>
                      </a:r>
                      <a:r>
                        <a:rPr kumimoji="1" lang="ja-JP" altLang="en-US" sz="1100" b="1" kern="1200" dirty="0">
                          <a:solidFill>
                            <a:schemeClr val="accent1">
                              <a:lumMod val="60000"/>
                              <a:lumOff val="40000"/>
                            </a:schemeClr>
                          </a:solidFill>
                          <a:latin typeface="+mj-lt"/>
                          <a:ea typeface="+mj-ea"/>
                          <a:cs typeface="+mn-cs"/>
                        </a:rPr>
                        <a:t>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800" b="1" kern="1200" dirty="0">
                          <a:solidFill>
                            <a:schemeClr val="accent1">
                              <a:lumMod val="60000"/>
                              <a:lumOff val="40000"/>
                            </a:schemeClr>
                          </a:solidFill>
                          <a:latin typeface="+mj-lt"/>
                          <a:ea typeface="+mj-ea"/>
                          <a:cs typeface="+mn-cs"/>
                        </a:rPr>
                        <a:t>    （ディスカウンティド</a:t>
                      </a:r>
                      <a:br>
                        <a:rPr kumimoji="1" lang="en-US" altLang="ja-JP" sz="800" b="1" kern="1200" dirty="0">
                          <a:solidFill>
                            <a:schemeClr val="accent1">
                              <a:lumMod val="60000"/>
                              <a:lumOff val="40000"/>
                            </a:schemeClr>
                          </a:solidFill>
                          <a:latin typeface="+mj-lt"/>
                          <a:ea typeface="+mj-ea"/>
                          <a:cs typeface="+mn-cs"/>
                        </a:rPr>
                      </a:br>
                      <a:r>
                        <a:rPr kumimoji="1" lang="en-US" altLang="ja-JP" sz="800" b="1" kern="1200" dirty="0">
                          <a:solidFill>
                            <a:schemeClr val="accent1">
                              <a:lumMod val="60000"/>
                              <a:lumOff val="40000"/>
                            </a:schemeClr>
                          </a:solidFill>
                          <a:latin typeface="+mj-lt"/>
                          <a:ea typeface="+mj-ea"/>
                          <a:cs typeface="+mn-cs"/>
                        </a:rPr>
                        <a:t>        </a:t>
                      </a:r>
                      <a:r>
                        <a:rPr kumimoji="1" lang="ja-JP" altLang="en-US" sz="800" b="1" kern="1200" dirty="0">
                          <a:solidFill>
                            <a:schemeClr val="accent1">
                              <a:lumMod val="60000"/>
                              <a:lumOff val="40000"/>
                            </a:schemeClr>
                          </a:solidFill>
                          <a:latin typeface="+mj-lt"/>
                          <a:ea typeface="+mj-ea"/>
                          <a:cs typeface="+mn-cs"/>
                        </a:rPr>
                        <a:t>キャッシュフロー法）</a:t>
                      </a:r>
                      <a:endParaRPr kumimoji="1" lang="en-US" altLang="ja-JP" sz="8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配当還元法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indent="-144000" algn="l">
                        <a:lnSpc>
                          <a:spcPct val="110000"/>
                        </a:lnSpc>
                        <a:spcBef>
                          <a:spcPts val="0"/>
                        </a:spcBef>
                        <a:spcAft>
                          <a:spcPts val="300"/>
                        </a:spcAft>
                        <a:buClr>
                          <a:schemeClr val="tx2"/>
                        </a:buClr>
                        <a:buFont typeface="游ゴシック" panose="020B0400000000000000" pitchFamily="50" charset="-128"/>
                        <a:buChar char="▪"/>
                      </a:pPr>
                      <a:r>
                        <a:rPr kumimoji="1" lang="ja-JP" altLang="en-US" sz="1000" b="0" kern="1200" dirty="0">
                          <a:solidFill>
                            <a:schemeClr val="dk1"/>
                          </a:solidFill>
                          <a:latin typeface="+mn-ea"/>
                          <a:ea typeface="+mn-ea"/>
                          <a:cs typeface="+mn-cs"/>
                        </a:rPr>
                        <a:t>収益還元法や</a:t>
                      </a:r>
                      <a:r>
                        <a:rPr kumimoji="1" lang="en-US" altLang="ja-JP" sz="1000" b="0" kern="1200" dirty="0">
                          <a:solidFill>
                            <a:schemeClr val="dk1"/>
                          </a:solidFill>
                          <a:latin typeface="+mn-ea"/>
                          <a:ea typeface="+mn-ea"/>
                          <a:cs typeface="+mn-cs"/>
                        </a:rPr>
                        <a:t>DCF</a:t>
                      </a:r>
                      <a:r>
                        <a:rPr kumimoji="1" lang="ja-JP" altLang="en-US" sz="1000" b="0" kern="1200" dirty="0">
                          <a:solidFill>
                            <a:schemeClr val="dk1"/>
                          </a:solidFill>
                          <a:latin typeface="+mn-ea"/>
                          <a:ea typeface="+mn-ea"/>
                          <a:cs typeface="+mn-cs"/>
                        </a:rPr>
                        <a:t>法を適用するには、根拠となる利益やキャッシュフローの計画値が必要となります。現状、詳細な事業計画が存在せず算定が困難であることから、これらの手法は採用しません。</a:t>
                      </a:r>
                    </a:p>
                    <a:p>
                      <a:pPr marL="144000" indent="-144000" algn="l">
                        <a:lnSpc>
                          <a:spcPct val="110000"/>
                        </a:lnSpc>
                        <a:spcBef>
                          <a:spcPts val="0"/>
                        </a:spcBef>
                        <a:spcAft>
                          <a:spcPts val="300"/>
                        </a:spcAft>
                        <a:buClr>
                          <a:schemeClr val="tx2"/>
                        </a:buClr>
                        <a:buFont typeface="游ゴシック" panose="020B0400000000000000" pitchFamily="50" charset="-128"/>
                        <a:buChar char="▪"/>
                      </a:pPr>
                      <a:r>
                        <a:rPr kumimoji="1" lang="ja-JP" altLang="en-US" sz="1000" b="0" kern="1200" dirty="0">
                          <a:solidFill>
                            <a:schemeClr val="dk1"/>
                          </a:solidFill>
                          <a:latin typeface="+mn-ea"/>
                          <a:ea typeface="+mn-ea"/>
                          <a:cs typeface="+mn-cs"/>
                        </a:rPr>
                        <a:t>配当還元法は、本来、配当獲得を主眼とする少数株主の視点に立った評価手法です。したがって、本件取引の性質上、採用は適切ではないと判断しました。</a:t>
                      </a:r>
                      <a:endParaRPr kumimoji="1" lang="ja-JP" altLang="en-US" sz="1000" b="0" dirty="0">
                        <a:latin typeface="+mn-ea"/>
                        <a:ea typeface="+mn-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6927477"/>
                  </a:ext>
                </a:extLst>
              </a:tr>
            </a:tbl>
          </a:graphicData>
        </a:graphic>
      </p:graphicFrame>
      <p:sp>
        <p:nvSpPr>
          <p:cNvPr id="36" name="正方形/長方形 35">
            <a:extLst>
              <a:ext uri="{FF2B5EF4-FFF2-40B4-BE49-F238E27FC236}">
                <a16:creationId xmlns:a16="http://schemas.microsoft.com/office/drawing/2014/main" id="{F9F3D3B4-E97C-CA46-6200-0218472772E0}"/>
              </a:ext>
            </a:extLst>
          </p:cNvPr>
          <p:cNvSpPr/>
          <p:nvPr/>
        </p:nvSpPr>
        <p:spPr>
          <a:xfrm>
            <a:off x="449263" y="6120538"/>
            <a:ext cx="1440000" cy="72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612000" tIns="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37" name="グループ化 36">
            <a:extLst>
              <a:ext uri="{FF2B5EF4-FFF2-40B4-BE49-F238E27FC236}">
                <a16:creationId xmlns:a16="http://schemas.microsoft.com/office/drawing/2014/main" id="{E898EBFA-2528-F2FB-84C8-F09FADD39F13}"/>
              </a:ext>
            </a:extLst>
          </p:cNvPr>
          <p:cNvGrpSpPr/>
          <p:nvPr/>
        </p:nvGrpSpPr>
        <p:grpSpPr>
          <a:xfrm>
            <a:off x="583355" y="6293952"/>
            <a:ext cx="373173" cy="373173"/>
            <a:chOff x="557955" y="6293952"/>
            <a:chExt cx="373173" cy="373173"/>
          </a:xfrm>
        </p:grpSpPr>
        <p:sp>
          <p:nvSpPr>
            <p:cNvPr id="38" name="楕円 37">
              <a:extLst>
                <a:ext uri="{FF2B5EF4-FFF2-40B4-BE49-F238E27FC236}">
                  <a16:creationId xmlns:a16="http://schemas.microsoft.com/office/drawing/2014/main" id="{389C6F0D-9B5A-2543-2198-3B5B285670D8}"/>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39" name="グループ化 38">
              <a:extLst>
                <a:ext uri="{FF2B5EF4-FFF2-40B4-BE49-F238E27FC236}">
                  <a16:creationId xmlns:a16="http://schemas.microsoft.com/office/drawing/2014/main" id="{8560C8E1-4DCA-CEC1-7D98-78FA5AFE8E73}"/>
                </a:ext>
              </a:extLst>
            </p:cNvPr>
            <p:cNvGrpSpPr/>
            <p:nvPr/>
          </p:nvGrpSpPr>
          <p:grpSpPr>
            <a:xfrm>
              <a:off x="620003" y="6342163"/>
              <a:ext cx="249077" cy="276751"/>
              <a:chOff x="605367" y="6371166"/>
              <a:chExt cx="210977" cy="234418"/>
            </a:xfrm>
          </p:grpSpPr>
          <p:sp>
            <p:nvSpPr>
              <p:cNvPr id="40" name="フリーフォーム: 図形 39">
                <a:extLst>
                  <a:ext uri="{FF2B5EF4-FFF2-40B4-BE49-F238E27FC236}">
                    <a16:creationId xmlns:a16="http://schemas.microsoft.com/office/drawing/2014/main" id="{79744F08-7A7F-1C36-C1D9-B8ED71537226}"/>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41" name="フリーフォーム: 図形 40">
                <a:extLst>
                  <a:ext uri="{FF2B5EF4-FFF2-40B4-BE49-F238E27FC236}">
                    <a16:creationId xmlns:a16="http://schemas.microsoft.com/office/drawing/2014/main" id="{D3FCDE67-0CF1-77D9-659B-CE2034D9D9B8}"/>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42" name="フリーフォーム: 図形 41">
                <a:extLst>
                  <a:ext uri="{FF2B5EF4-FFF2-40B4-BE49-F238E27FC236}">
                    <a16:creationId xmlns:a16="http://schemas.microsoft.com/office/drawing/2014/main" id="{2AE217CF-74E8-32CA-65CD-76EB0FEEDDD3}"/>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43" name="フリーフォーム: 図形 42">
                <a:extLst>
                  <a:ext uri="{FF2B5EF4-FFF2-40B4-BE49-F238E27FC236}">
                    <a16:creationId xmlns:a16="http://schemas.microsoft.com/office/drawing/2014/main" id="{02308513-C54F-4FAE-A20F-B4579F782FD7}"/>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6" name="フリーフォーム: 図形 45">
                <a:extLst>
                  <a:ext uri="{FF2B5EF4-FFF2-40B4-BE49-F238E27FC236}">
                    <a16:creationId xmlns:a16="http://schemas.microsoft.com/office/drawing/2014/main" id="{A66EF74A-42E2-64CE-3710-A80D5B8E3B53}"/>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7" name="フリーフォーム: 図形 46">
                <a:extLst>
                  <a:ext uri="{FF2B5EF4-FFF2-40B4-BE49-F238E27FC236}">
                    <a16:creationId xmlns:a16="http://schemas.microsoft.com/office/drawing/2014/main" id="{B0D5B854-2E41-4D3A-468F-D33B76BF091C}"/>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48" name="グラフィックス 32">
                <a:extLst>
                  <a:ext uri="{FF2B5EF4-FFF2-40B4-BE49-F238E27FC236}">
                    <a16:creationId xmlns:a16="http://schemas.microsoft.com/office/drawing/2014/main" id="{F383B767-481F-2755-6F75-CD54335E4008}"/>
                  </a:ext>
                </a:extLst>
              </p:cNvPr>
              <p:cNvGrpSpPr/>
              <p:nvPr/>
            </p:nvGrpSpPr>
            <p:grpSpPr>
              <a:xfrm>
                <a:off x="639299" y="6399061"/>
                <a:ext cx="149149" cy="149149"/>
                <a:chOff x="639299" y="6399061"/>
                <a:chExt cx="149149" cy="149149"/>
              </a:xfrm>
            </p:grpSpPr>
            <p:sp>
              <p:nvSpPr>
                <p:cNvPr id="59" name="フリーフォーム: 図形 58">
                  <a:extLst>
                    <a:ext uri="{FF2B5EF4-FFF2-40B4-BE49-F238E27FC236}">
                      <a16:creationId xmlns:a16="http://schemas.microsoft.com/office/drawing/2014/main" id="{5B51B83B-0943-ADC2-2455-8E83664BBFBE}"/>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60" name="フリーフォーム: 図形 59">
                  <a:extLst>
                    <a:ext uri="{FF2B5EF4-FFF2-40B4-BE49-F238E27FC236}">
                      <a16:creationId xmlns:a16="http://schemas.microsoft.com/office/drawing/2014/main" id="{145276C0-2C8D-7A97-FD3D-0F906A846958}"/>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49" name="フリーフォーム: 図形 48">
                <a:extLst>
                  <a:ext uri="{FF2B5EF4-FFF2-40B4-BE49-F238E27FC236}">
                    <a16:creationId xmlns:a16="http://schemas.microsoft.com/office/drawing/2014/main" id="{77EB68C9-E454-9D24-23CA-711803A1911D}"/>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50" name="グラフィックス 32">
                <a:extLst>
                  <a:ext uri="{FF2B5EF4-FFF2-40B4-BE49-F238E27FC236}">
                    <a16:creationId xmlns:a16="http://schemas.microsoft.com/office/drawing/2014/main" id="{528FAC06-79C8-D0C3-7A25-10E574345A71}"/>
                  </a:ext>
                </a:extLst>
              </p:cNvPr>
              <p:cNvGrpSpPr/>
              <p:nvPr/>
            </p:nvGrpSpPr>
            <p:grpSpPr>
              <a:xfrm>
                <a:off x="605367" y="6470794"/>
                <a:ext cx="210977" cy="5860"/>
                <a:chOff x="605367" y="6470794"/>
                <a:chExt cx="210977" cy="5860"/>
              </a:xfrm>
            </p:grpSpPr>
            <p:sp>
              <p:nvSpPr>
                <p:cNvPr id="57" name="フリーフォーム: 図形 56">
                  <a:extLst>
                    <a:ext uri="{FF2B5EF4-FFF2-40B4-BE49-F238E27FC236}">
                      <a16:creationId xmlns:a16="http://schemas.microsoft.com/office/drawing/2014/main" id="{4BFFA65F-8343-57FF-3BF0-A0744E26E026}"/>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58" name="フリーフォーム: 図形 57">
                  <a:extLst>
                    <a:ext uri="{FF2B5EF4-FFF2-40B4-BE49-F238E27FC236}">
                      <a16:creationId xmlns:a16="http://schemas.microsoft.com/office/drawing/2014/main" id="{D250E6B6-FB2D-5104-EDE9-70FC57F8A4FD}"/>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51" name="グラフィックス 32">
                <a:extLst>
                  <a:ext uri="{FF2B5EF4-FFF2-40B4-BE49-F238E27FC236}">
                    <a16:creationId xmlns:a16="http://schemas.microsoft.com/office/drawing/2014/main" id="{8986A5C1-349E-7A36-3EE9-7277DE54D243}"/>
                  </a:ext>
                </a:extLst>
              </p:cNvPr>
              <p:cNvGrpSpPr/>
              <p:nvPr/>
            </p:nvGrpSpPr>
            <p:grpSpPr>
              <a:xfrm>
                <a:off x="633262" y="6399061"/>
                <a:ext cx="149149" cy="149149"/>
                <a:chOff x="633262" y="6399061"/>
                <a:chExt cx="149149" cy="149149"/>
              </a:xfrm>
            </p:grpSpPr>
            <p:sp>
              <p:nvSpPr>
                <p:cNvPr id="53" name="フリーフォーム: 図形 52">
                  <a:extLst>
                    <a:ext uri="{FF2B5EF4-FFF2-40B4-BE49-F238E27FC236}">
                      <a16:creationId xmlns:a16="http://schemas.microsoft.com/office/drawing/2014/main" id="{F5412291-1DB9-9DE1-6A56-7377A0D63C34}"/>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56" name="フリーフォーム: 図形 55">
                  <a:extLst>
                    <a:ext uri="{FF2B5EF4-FFF2-40B4-BE49-F238E27FC236}">
                      <a16:creationId xmlns:a16="http://schemas.microsoft.com/office/drawing/2014/main" id="{C2E1BD1C-9D4B-37D8-0888-6D40B6A45667}"/>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sp>
        <p:nvSpPr>
          <p:cNvPr id="61" name="グラフィックス 59">
            <a:extLst>
              <a:ext uri="{FF2B5EF4-FFF2-40B4-BE49-F238E27FC236}">
                <a16:creationId xmlns:a16="http://schemas.microsoft.com/office/drawing/2014/main" id="{4243167B-A39B-11A2-C832-56FC6093FF70}"/>
              </a:ext>
            </a:extLst>
          </p:cNvPr>
          <p:cNvSpPr/>
          <p:nvPr/>
        </p:nvSpPr>
        <p:spPr>
          <a:xfrm>
            <a:off x="3507052" y="2478212"/>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sp>
        <p:nvSpPr>
          <p:cNvPr id="62" name="グラフィックス 59">
            <a:extLst>
              <a:ext uri="{FF2B5EF4-FFF2-40B4-BE49-F238E27FC236}">
                <a16:creationId xmlns:a16="http://schemas.microsoft.com/office/drawing/2014/main" id="{5DBAFE3A-EBEF-EBB2-E8FA-8870D3C86C9D}"/>
              </a:ext>
            </a:extLst>
          </p:cNvPr>
          <p:cNvSpPr/>
          <p:nvPr/>
        </p:nvSpPr>
        <p:spPr>
          <a:xfrm>
            <a:off x="3507052" y="3846447"/>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grpSp>
        <p:nvGrpSpPr>
          <p:cNvPr id="84" name="グループ化 83">
            <a:extLst>
              <a:ext uri="{FF2B5EF4-FFF2-40B4-BE49-F238E27FC236}">
                <a16:creationId xmlns:a16="http://schemas.microsoft.com/office/drawing/2014/main" id="{D26399A4-4A64-3667-475E-0430981C2BFA}"/>
              </a:ext>
            </a:extLst>
          </p:cNvPr>
          <p:cNvGrpSpPr/>
          <p:nvPr/>
        </p:nvGrpSpPr>
        <p:grpSpPr>
          <a:xfrm>
            <a:off x="5401757" y="2057401"/>
            <a:ext cx="557845" cy="3495772"/>
            <a:chOff x="5401757" y="2057401"/>
            <a:chExt cx="557845" cy="3495772"/>
          </a:xfrm>
        </p:grpSpPr>
        <p:grpSp>
          <p:nvGrpSpPr>
            <p:cNvPr id="18" name="グループ化 17">
              <a:extLst>
                <a:ext uri="{FF2B5EF4-FFF2-40B4-BE49-F238E27FC236}">
                  <a16:creationId xmlns:a16="http://schemas.microsoft.com/office/drawing/2014/main" id="{DB5C609D-310E-C306-98F7-D4C2DD3642DA}"/>
                </a:ext>
              </a:extLst>
            </p:cNvPr>
            <p:cNvGrpSpPr/>
            <p:nvPr/>
          </p:nvGrpSpPr>
          <p:grpSpPr>
            <a:xfrm>
              <a:off x="5475363" y="2057401"/>
              <a:ext cx="410634" cy="734169"/>
              <a:chOff x="5517698" y="2057401"/>
              <a:chExt cx="410634" cy="734169"/>
            </a:xfrm>
          </p:grpSpPr>
          <p:sp>
            <p:nvSpPr>
              <p:cNvPr id="34" name="楕円 33">
                <a:extLst>
                  <a:ext uri="{FF2B5EF4-FFF2-40B4-BE49-F238E27FC236}">
                    <a16:creationId xmlns:a16="http://schemas.microsoft.com/office/drawing/2014/main" id="{479466C7-C649-A725-BD8C-7F7550AB2EEF}"/>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3FFEDA4B-E179-A28B-0195-9A0DA4F61678}"/>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nvGrpSpPr>
            <p:cNvPr id="21" name="グループ化 20">
              <a:extLst>
                <a:ext uri="{FF2B5EF4-FFF2-40B4-BE49-F238E27FC236}">
                  <a16:creationId xmlns:a16="http://schemas.microsoft.com/office/drawing/2014/main" id="{24D7C6D8-9BED-A365-0AF5-79DC01D710F6}"/>
                </a:ext>
              </a:extLst>
            </p:cNvPr>
            <p:cNvGrpSpPr/>
            <p:nvPr/>
          </p:nvGrpSpPr>
          <p:grpSpPr>
            <a:xfrm>
              <a:off x="5401757" y="4859957"/>
              <a:ext cx="557845" cy="693216"/>
              <a:chOff x="5444092" y="3460750"/>
              <a:chExt cx="557845" cy="693216"/>
            </a:xfrm>
          </p:grpSpPr>
          <p:sp>
            <p:nvSpPr>
              <p:cNvPr id="22" name="テキスト ボックス 21">
                <a:extLst>
                  <a:ext uri="{FF2B5EF4-FFF2-40B4-BE49-F238E27FC236}">
                    <a16:creationId xmlns:a16="http://schemas.microsoft.com/office/drawing/2014/main" id="{4200C4FF-D773-CD41-30AA-E5E5CC2A5E14}"/>
                  </a:ext>
                </a:extLst>
              </p:cNvPr>
              <p:cNvSpPr txBox="1"/>
              <p:nvPr/>
            </p:nvSpPr>
            <p:spPr>
              <a:xfrm>
                <a:off x="5444092" y="3938522"/>
                <a:ext cx="557845" cy="215444"/>
              </a:xfrm>
              <a:prstGeom prst="rect">
                <a:avLst/>
              </a:prstGeom>
              <a:noFill/>
            </p:spPr>
            <p:txBody>
              <a:bodyPr wrap="none" lIns="0" tIns="0" rIns="0" bIns="0" rtlCol="0">
                <a:spAutoFit/>
              </a:bodyPr>
              <a:lstStyle/>
              <a:p>
                <a:pPr algn="ctr"/>
                <a:r>
                  <a:rPr kumimoji="1" lang="ja-JP" altLang="en-US" sz="1400" b="1" spc="50" dirty="0">
                    <a:solidFill>
                      <a:schemeClr val="accent1"/>
                    </a:solidFill>
                    <a:latin typeface="+mj-ea"/>
                    <a:ea typeface="+mj-ea"/>
                  </a:rPr>
                  <a:t>不採用</a:t>
                </a:r>
              </a:p>
            </p:txBody>
          </p:sp>
          <p:grpSp>
            <p:nvGrpSpPr>
              <p:cNvPr id="23" name="グループ化 22">
                <a:extLst>
                  <a:ext uri="{FF2B5EF4-FFF2-40B4-BE49-F238E27FC236}">
                    <a16:creationId xmlns:a16="http://schemas.microsoft.com/office/drawing/2014/main" id="{112413C6-A96E-7D3F-B364-F303C091FB32}"/>
                  </a:ext>
                </a:extLst>
              </p:cNvPr>
              <p:cNvGrpSpPr>
                <a:grpSpLocks noChangeAspect="1"/>
              </p:cNvGrpSpPr>
              <p:nvPr/>
            </p:nvGrpSpPr>
            <p:grpSpPr>
              <a:xfrm>
                <a:off x="5543015" y="3460750"/>
                <a:ext cx="360000" cy="360000"/>
                <a:chOff x="-161714" y="1568450"/>
                <a:chExt cx="412750" cy="412750"/>
              </a:xfrm>
            </p:grpSpPr>
            <p:cxnSp>
              <p:nvCxnSpPr>
                <p:cNvPr id="27" name="直線コネクタ 26">
                  <a:extLst>
                    <a:ext uri="{FF2B5EF4-FFF2-40B4-BE49-F238E27FC236}">
                      <a16:creationId xmlns:a16="http://schemas.microsoft.com/office/drawing/2014/main" id="{F8365950-98F3-B0B0-FDB0-CC66BBDEEF5D}"/>
                    </a:ext>
                  </a:extLst>
                </p:cNvPr>
                <p:cNvCxnSpPr>
                  <a:cxnSpLocks/>
                </p:cNvCxnSpPr>
                <p:nvPr/>
              </p:nvCxnSpPr>
              <p:spPr>
                <a:xfrm>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cxnSp>
              <p:nvCxnSpPr>
                <p:cNvPr id="28" name="直線コネクタ 27">
                  <a:extLst>
                    <a:ext uri="{FF2B5EF4-FFF2-40B4-BE49-F238E27FC236}">
                      <a16:creationId xmlns:a16="http://schemas.microsoft.com/office/drawing/2014/main" id="{9DBF255E-AD57-19F7-5F05-E30869355B1B}"/>
                    </a:ext>
                  </a:extLst>
                </p:cNvPr>
                <p:cNvCxnSpPr>
                  <a:cxnSpLocks/>
                </p:cNvCxnSpPr>
                <p:nvPr/>
              </p:nvCxnSpPr>
              <p:spPr>
                <a:xfrm flipH="1">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grpSp>
        </p:grpSp>
        <p:grpSp>
          <p:nvGrpSpPr>
            <p:cNvPr id="81" name="グループ化 80">
              <a:extLst>
                <a:ext uri="{FF2B5EF4-FFF2-40B4-BE49-F238E27FC236}">
                  <a16:creationId xmlns:a16="http://schemas.microsoft.com/office/drawing/2014/main" id="{4BB2CB5C-26A6-5AA8-C554-5E6E15B6C766}"/>
                </a:ext>
              </a:extLst>
            </p:cNvPr>
            <p:cNvGrpSpPr/>
            <p:nvPr/>
          </p:nvGrpSpPr>
          <p:grpSpPr>
            <a:xfrm>
              <a:off x="5475363" y="3458679"/>
              <a:ext cx="410634" cy="734169"/>
              <a:chOff x="5517698" y="2057401"/>
              <a:chExt cx="410634" cy="734169"/>
            </a:xfrm>
          </p:grpSpPr>
          <p:sp>
            <p:nvSpPr>
              <p:cNvPr id="82" name="楕円 81">
                <a:extLst>
                  <a:ext uri="{FF2B5EF4-FFF2-40B4-BE49-F238E27FC236}">
                    <a16:creationId xmlns:a16="http://schemas.microsoft.com/office/drawing/2014/main" id="{5B3FD3C1-E450-32CE-E683-E79A71D468AB}"/>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テキスト ボックス 82">
                <a:extLst>
                  <a:ext uri="{FF2B5EF4-FFF2-40B4-BE49-F238E27FC236}">
                    <a16:creationId xmlns:a16="http://schemas.microsoft.com/office/drawing/2014/main" id="{8DA332E3-3670-A6D4-F20F-91D631A6833E}"/>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spTree>
    <p:extLst>
      <p:ext uri="{BB962C8B-B14F-4D97-AF65-F5344CB8AC3E}">
        <p14:creationId xmlns:p14="http://schemas.microsoft.com/office/powerpoint/2010/main" val="714242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059B5-FB60-D143-C280-CC8417F28261}"/>
            </a:ext>
          </a:extLst>
        </p:cNvPr>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51F94532-DA10-FFBE-8C16-C508182360BE}"/>
              </a:ext>
            </a:extLst>
          </p:cNvPr>
          <p:cNvSpPr/>
          <p:nvPr/>
        </p:nvSpPr>
        <p:spPr>
          <a:xfrm>
            <a:off x="449263" y="3257914"/>
            <a:ext cx="82296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株式価値試算結果</a:t>
            </a:r>
          </a:p>
        </p:txBody>
      </p:sp>
      <p:sp>
        <p:nvSpPr>
          <p:cNvPr id="26" name="タイトル 25">
            <a:extLst>
              <a:ext uri="{FF2B5EF4-FFF2-40B4-BE49-F238E27FC236}">
                <a16:creationId xmlns:a16="http://schemas.microsoft.com/office/drawing/2014/main" id="{13D15798-0B0F-EC57-0019-D0F77B468AEF}"/>
              </a:ext>
            </a:extLst>
          </p:cNvPr>
          <p:cNvSpPr>
            <a:spLocks noGrp="1"/>
          </p:cNvSpPr>
          <p:nvPr>
            <p:ph type="ctrTitle"/>
          </p:nvPr>
        </p:nvSpPr>
        <p:spPr>
          <a:xfrm>
            <a:off x="341313" y="180653"/>
            <a:ext cx="7799917" cy="338554"/>
          </a:xfrm>
        </p:spPr>
        <p:txBody>
          <a:bodyPr/>
          <a:lstStyle/>
          <a:p>
            <a:r>
              <a:rPr lang="ja-JP" altLang="en-US" dirty="0"/>
              <a:t>株式価値の試算結果</a:t>
            </a:r>
          </a:p>
        </p:txBody>
      </p:sp>
      <p:sp>
        <p:nvSpPr>
          <p:cNvPr id="10" name="タイトル 1">
            <a:extLst>
              <a:ext uri="{FF2B5EF4-FFF2-40B4-BE49-F238E27FC236}">
                <a16:creationId xmlns:a16="http://schemas.microsoft.com/office/drawing/2014/main" id="{258AD7E0-D342-7F0B-B7C4-8C6662E2414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Summary</a:t>
            </a:r>
            <a:endParaRPr lang="ja-JP" altLang="en-US" spc="0" dirty="0"/>
          </a:p>
        </p:txBody>
      </p:sp>
      <p:sp>
        <p:nvSpPr>
          <p:cNvPr id="7" name="正方形/長方形 6">
            <a:extLst>
              <a:ext uri="{FF2B5EF4-FFF2-40B4-BE49-F238E27FC236}">
                <a16:creationId xmlns:a16="http://schemas.microsoft.com/office/drawing/2014/main" id="{600396BE-765E-25EB-B4B0-EC8CCF4E55A6}"/>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試算の前提条件</a:t>
            </a:r>
          </a:p>
        </p:txBody>
      </p:sp>
      <p:sp>
        <p:nvSpPr>
          <p:cNvPr id="13" name="テキスト ボックス 12">
            <a:extLst>
              <a:ext uri="{FF2B5EF4-FFF2-40B4-BE49-F238E27FC236}">
                <a16:creationId xmlns:a16="http://schemas.microsoft.com/office/drawing/2014/main" id="{4DA9828D-AE4F-DE9E-A514-7657576FA044}"/>
              </a:ext>
            </a:extLst>
          </p:cNvPr>
          <p:cNvSpPr txBox="1"/>
          <p:nvPr/>
        </p:nvSpPr>
        <p:spPr>
          <a:xfrm>
            <a:off x="449263" y="3643540"/>
            <a:ext cx="2182008"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コストアプローチ（年買法）</a:t>
            </a:r>
            <a:endParaRPr lang="zh-TW" altLang="en-US" sz="1200" b="1" dirty="0">
              <a:latin typeface="+mj-ea"/>
              <a:ea typeface="+mj-ea"/>
            </a:endParaRPr>
          </a:p>
        </p:txBody>
      </p:sp>
      <p:sp>
        <p:nvSpPr>
          <p:cNvPr id="14" name="テキスト ボックス 13">
            <a:extLst>
              <a:ext uri="{FF2B5EF4-FFF2-40B4-BE49-F238E27FC236}">
                <a16:creationId xmlns:a16="http://schemas.microsoft.com/office/drawing/2014/main" id="{0571F37E-300F-5933-03E4-F551A36628E1}"/>
              </a:ext>
            </a:extLst>
          </p:cNvPr>
          <p:cNvSpPr txBox="1"/>
          <p:nvPr/>
        </p:nvSpPr>
        <p:spPr>
          <a:xfrm>
            <a:off x="449263" y="4632086"/>
            <a:ext cx="3817071"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マーケットアプローチ（</a:t>
            </a:r>
            <a:r>
              <a:rPr lang="en-US" altLang="ja-JP" sz="1200" b="1" dirty="0">
                <a:latin typeface="+mj-ea"/>
                <a:ea typeface="+mj-ea"/>
              </a:rPr>
              <a:t>EV/EBITDA</a:t>
            </a:r>
            <a:r>
              <a:rPr lang="ja-JP" altLang="en-US" sz="1200" b="1" dirty="0">
                <a:latin typeface="+mj-ea"/>
                <a:ea typeface="+mj-ea"/>
              </a:rPr>
              <a:t>マルチプル法）</a:t>
            </a:r>
          </a:p>
        </p:txBody>
      </p:sp>
      <p:sp>
        <p:nvSpPr>
          <p:cNvPr id="16" name="テキスト ボックス 15">
            <a:extLst>
              <a:ext uri="{FF2B5EF4-FFF2-40B4-BE49-F238E27FC236}">
                <a16:creationId xmlns:a16="http://schemas.microsoft.com/office/drawing/2014/main" id="{D184A0B6-D006-557B-7A6C-DB0A24D85D2B}"/>
              </a:ext>
            </a:extLst>
          </p:cNvPr>
          <p:cNvSpPr txBox="1"/>
          <p:nvPr/>
        </p:nvSpPr>
        <p:spPr>
          <a:xfrm>
            <a:off x="449263" y="5629322"/>
            <a:ext cx="2355132"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インカムアプローチ（</a:t>
            </a:r>
            <a:r>
              <a:rPr lang="en-US" altLang="ja-JP" sz="1200" b="1" dirty="0">
                <a:latin typeface="+mj-ea"/>
                <a:ea typeface="+mj-ea"/>
              </a:rPr>
              <a:t>DCF</a:t>
            </a:r>
            <a:r>
              <a:rPr lang="ja-JP" altLang="en-US" sz="1200" b="1" dirty="0">
                <a:latin typeface="+mj-ea"/>
                <a:ea typeface="+mj-ea"/>
              </a:rPr>
              <a:t>法）</a:t>
            </a:r>
            <a:endParaRPr lang="en-US" altLang="ja-JP" sz="1200" b="1" dirty="0">
              <a:latin typeface="+mj-ea"/>
              <a:ea typeface="+mj-ea"/>
            </a:endParaRPr>
          </a:p>
        </p:txBody>
      </p:sp>
      <p:sp>
        <p:nvSpPr>
          <p:cNvPr id="30" name="フローチャート: 処理 29">
            <a:extLst>
              <a:ext uri="{FF2B5EF4-FFF2-40B4-BE49-F238E27FC236}">
                <a16:creationId xmlns:a16="http://schemas.microsoft.com/office/drawing/2014/main" id="{AC729EB1-0964-BC40-F3C1-457DAE613AA5}"/>
              </a:ext>
            </a:extLst>
          </p:cNvPr>
          <p:cNvSpPr/>
          <p:nvPr/>
        </p:nvSpPr>
        <p:spPr>
          <a:xfrm>
            <a:off x="449263" y="3964277"/>
            <a:ext cx="5682030" cy="432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gn="ctr"/>
            <a:r>
              <a:rPr kumimoji="1" lang="en-US" altLang="ja-JP" sz="2000" b="1" dirty="0">
                <a:solidFill>
                  <a:schemeClr val="tx1"/>
                </a:solidFill>
                <a:latin typeface="+mj-lt"/>
                <a:ea typeface="+mj-ea"/>
              </a:rPr>
              <a:t>△12,586（千円）</a:t>
            </a:r>
          </a:p>
        </p:txBody>
      </p:sp>
      <p:sp>
        <p:nvSpPr>
          <p:cNvPr id="31" name="正方形/長方形 30">
            <a:extLst>
              <a:ext uri="{FF2B5EF4-FFF2-40B4-BE49-F238E27FC236}">
                <a16:creationId xmlns:a16="http://schemas.microsoft.com/office/drawing/2014/main" id="{C1D83875-1354-478D-3F35-D7D444FAAA33}"/>
              </a:ext>
            </a:extLst>
          </p:cNvPr>
          <p:cNvSpPr/>
          <p:nvPr/>
        </p:nvSpPr>
        <p:spPr>
          <a:xfrm>
            <a:off x="449263" y="3964277"/>
            <a:ext cx="1440000" cy="43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5200" rIns="0" bIns="0" rtlCol="0" anchor="ctr"/>
          <a:lstStyle/>
          <a:p>
            <a:pPr algn="ctr">
              <a:buClr>
                <a:schemeClr val="tx2"/>
              </a:buClr>
              <a:buSzPct val="80000"/>
            </a:pPr>
            <a:r>
              <a:rPr lang="ja-JP" altLang="en-US" sz="1600" b="1" spc="70" dirty="0">
                <a:solidFill>
                  <a:schemeClr val="bg1"/>
                </a:solidFill>
                <a:latin typeface="+mj-lt"/>
                <a:ea typeface="+mj-ea"/>
              </a:rPr>
              <a:t>想定レンジ</a:t>
            </a:r>
          </a:p>
        </p:txBody>
      </p:sp>
      <p:sp>
        <p:nvSpPr>
          <p:cNvPr id="6" name="正方形/長方形 5">
            <a:extLst>
              <a:ext uri="{FF2B5EF4-FFF2-40B4-BE49-F238E27FC236}">
                <a16:creationId xmlns:a16="http://schemas.microsoft.com/office/drawing/2014/main" id="{17A298AC-04B9-69B2-3669-CBEBBB69DC3B}"/>
              </a:ext>
            </a:extLst>
          </p:cNvPr>
          <p:cNvSpPr/>
          <p:nvPr/>
        </p:nvSpPr>
        <p:spPr>
          <a:xfrm>
            <a:off x="449263" y="5918514"/>
            <a:ext cx="9901235" cy="516169"/>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spc="50" dirty="0">
                <a:solidFill>
                  <a:schemeClr val="tx1"/>
                </a:solidFill>
                <a:latin typeface="+mj-ea"/>
                <a:ea typeface="+mj-ea"/>
              </a:rPr>
              <a:t>※※※※※</a:t>
            </a:r>
            <a:r>
              <a:rPr kumimoji="1" lang="ja-JP" altLang="en-US" sz="1200" b="1" spc="50" dirty="0">
                <a:solidFill>
                  <a:schemeClr val="tx1"/>
                </a:solidFill>
                <a:latin typeface="+mj-ea"/>
                <a:ea typeface="+mj-ea"/>
              </a:rPr>
              <a:t>不採用</a:t>
            </a:r>
            <a:r>
              <a:rPr kumimoji="1" lang="en-US" altLang="ja-JP" sz="1200" b="1" spc="50" dirty="0">
                <a:solidFill>
                  <a:schemeClr val="tx1"/>
                </a:solidFill>
                <a:latin typeface="+mj-ea"/>
                <a:ea typeface="+mj-ea"/>
              </a:rPr>
              <a:t>※※※※※</a:t>
            </a:r>
            <a:endParaRPr kumimoji="1" lang="ja-JP" altLang="en-US" sz="1200" b="1" spc="50" dirty="0">
              <a:solidFill>
                <a:schemeClr val="tx1"/>
              </a:solidFill>
              <a:latin typeface="+mj-ea"/>
              <a:ea typeface="+mj-ea"/>
            </a:endParaRPr>
          </a:p>
        </p:txBody>
      </p:sp>
      <p:sp>
        <p:nvSpPr>
          <p:cNvPr id="34" name="テキスト ボックス 33">
            <a:extLst>
              <a:ext uri="{FF2B5EF4-FFF2-40B4-BE49-F238E27FC236}">
                <a16:creationId xmlns:a16="http://schemas.microsoft.com/office/drawing/2014/main" id="{72CDD6C7-EAB4-9143-0AA5-D2C037712831}"/>
              </a:ext>
            </a:extLst>
          </p:cNvPr>
          <p:cNvSpPr txBox="1"/>
          <p:nvPr/>
        </p:nvSpPr>
        <p:spPr>
          <a:xfrm>
            <a:off x="9632353" y="3472169"/>
            <a:ext cx="718145" cy="123111"/>
          </a:xfrm>
          <a:prstGeom prst="rect">
            <a:avLst/>
          </a:prstGeom>
          <a:noFill/>
        </p:spPr>
        <p:txBody>
          <a:bodyPr wrap="none" lIns="0" tIns="0" rIns="0" bIns="0" rtlCol="0">
            <a:spAutoFit/>
          </a:bodyPr>
          <a:lstStyle/>
          <a:p>
            <a:pPr algn="r"/>
            <a:r>
              <a:rPr lang="ja-JP" altLang="en-US" sz="800" dirty="0">
                <a:latin typeface="+mn-ea"/>
              </a:rPr>
              <a:t>（単位：千円）</a:t>
            </a:r>
            <a:endParaRPr kumimoji="1" lang="ja-JP" altLang="en-US" sz="800" dirty="0">
              <a:latin typeface="+mn-ea"/>
            </a:endParaRPr>
          </a:p>
        </p:txBody>
      </p:sp>
      <p:sp>
        <p:nvSpPr>
          <p:cNvPr id="4" name="フローチャート: 処理 3">
            <a:extLst>
              <a:ext uri="{FF2B5EF4-FFF2-40B4-BE49-F238E27FC236}">
                <a16:creationId xmlns:a16="http://schemas.microsoft.com/office/drawing/2014/main" id="{31BA7B52-DE7E-53D3-E9FA-1E37D575B554}"/>
              </a:ext>
            </a:extLst>
          </p:cNvPr>
          <p:cNvSpPr/>
          <p:nvPr/>
        </p:nvSpPr>
        <p:spPr>
          <a:xfrm>
            <a:off x="449263" y="5009389"/>
            <a:ext cx="5682030" cy="432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gn="ctr"/>
            <a:r>
              <a:rPr kumimoji="1" lang="en-US" altLang="ja-JP" sz="2000" b="1" dirty="0">
                <a:solidFill>
                  <a:schemeClr val="tx1"/>
                </a:solidFill>
                <a:latin typeface="+mj-lt"/>
                <a:ea typeface="+mj-ea"/>
              </a:rPr>
              <a:t>△27,805（千円）</a:t>
            </a:r>
          </a:p>
        </p:txBody>
      </p:sp>
      <p:sp>
        <p:nvSpPr>
          <p:cNvPr id="3" name="正方形/長方形 2">
            <a:extLst>
              <a:ext uri="{FF2B5EF4-FFF2-40B4-BE49-F238E27FC236}">
                <a16:creationId xmlns:a16="http://schemas.microsoft.com/office/drawing/2014/main" id="{667841E7-61E2-BA67-43F8-6C81A4DEC72B}"/>
              </a:ext>
            </a:extLst>
          </p:cNvPr>
          <p:cNvSpPr/>
          <p:nvPr/>
        </p:nvSpPr>
        <p:spPr>
          <a:xfrm>
            <a:off x="449263" y="5009389"/>
            <a:ext cx="1440000" cy="43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5200" rIns="0" bIns="0" rtlCol="0" anchor="ctr"/>
          <a:lstStyle/>
          <a:p>
            <a:pPr algn="ctr">
              <a:buClr>
                <a:schemeClr val="tx2"/>
              </a:buClr>
              <a:buSzPct val="80000"/>
            </a:pPr>
            <a:r>
              <a:rPr lang="ja-JP" altLang="en-US" sz="1600" b="1" spc="70" dirty="0">
                <a:solidFill>
                  <a:schemeClr val="bg1"/>
                </a:solidFill>
                <a:latin typeface="+mj-lt"/>
                <a:ea typeface="+mj-ea"/>
              </a:rPr>
              <a:t>想定レンジ</a:t>
            </a:r>
          </a:p>
        </p:txBody>
      </p:sp>
      <p:graphicFrame>
        <p:nvGraphicFramePr>
          <p:cNvPr id="35" name="Table 34"/>
          <p:cNvGraphicFramePr>
            <a:graphicFrameLocks noGrp="1"/>
          </p:cNvGraphicFramePr>
          <p:nvPr/>
        </p:nvGraphicFramePr>
        <p:xfrm>
          <a:off x="448056" y="1280160"/>
          <a:ext cx="9793224" cy="1554480"/>
        </p:xfrm>
        <a:graphic>
          <a:graphicData uri="http://schemas.openxmlformats.org/drawingml/2006/table">
            <a:tbl>
              <a:tblPr firstRow="0" bandRow="0" firstCol="0" lastRow="0" lastCol="0" bandCol="0"/>
              <a:tblGrid>
                <a:gridCol w="1188720"/>
                <a:gridCol w="8604504"/>
              </a:tblGrid>
              <a:tr h="274320">
                <a:tc>
                  <a:txBody>
                    <a:bodyPr wrap="square"/>
                    <a:lstStyle/>
                    <a:p>
                      <a:pPr algn="l"/>
                      <a:r>
                        <a:rPr sz="900" b="1">
                          <a:solidFill>
                            <a:srgbClr val="FFFFFF"/>
                          </a:solidFill>
                          <a:latin typeface="游ゴシック"/>
                          <a:ea typeface="游ゴシック"/>
                        </a:rPr>
                        <a:t>評価対象</a:t>
                      </a:r>
                    </a:p>
                  </a:txBody>
                  <a:tcPr marL="45720" marR="45720" marT="9144" marB="9144" anchor="ctr">
                    <a:lnL>
                      <a:noFill/>
                    </a:lnL>
                    <a:lnR>
                      <a:noFill/>
                    </a:lnR>
                    <a:lnT>
                      <a:noFill/>
                    </a:lnT>
                    <a:lnB w="6350" cap="flat" cmpd="sng" algn="ctr">
                      <a:solidFill>
                        <a:srgbClr val="FFFFFF"/>
                      </a:solidFill>
                      <a:prstDash val="solid"/>
                    </a:lnB>
                    <a:solidFill>
                      <a:srgbClr val="0B3041"/>
                    </a:solidFill>
                  </a:tcPr>
                </a:tc>
                <a:tc>
                  <a:txBody>
                    <a:bodyPr wrap="square"/>
                    <a:lstStyle/>
                    <a:p>
                      <a:pPr algn="l"/>
                      <a:r>
                        <a:rPr sz="900" b="0">
                          <a:solidFill>
                            <a:srgbClr val="000000"/>
                          </a:solidFill>
                          <a:latin typeface="游ゴシック"/>
                          <a:ea typeface="游ゴシック"/>
                        </a:rPr>
                        <a:t>株式会社高塚商事</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00" b="1">
                          <a:solidFill>
                            <a:srgbClr val="FFFFFF"/>
                          </a:solidFill>
                          <a:latin typeface="游ゴシック"/>
                          <a:ea typeface="游ゴシック"/>
                        </a:rPr>
                        <a:t>算定日</a:t>
                      </a:r>
                    </a:p>
                  </a:txBody>
                  <a:tcPr marL="45720" marR="45720" marT="9144" marB="9144" anchor="ctr">
                    <a:lnL>
                      <a:noFill/>
                    </a:lnL>
                    <a:lnR>
                      <a:noFill/>
                    </a:lnR>
                    <a:lnT>
                      <a:noFill/>
                    </a:lnT>
                    <a:lnB w="6350" cap="flat" cmpd="sng" algn="ctr">
                      <a:solidFill>
                        <a:srgbClr val="FFFFFF"/>
                      </a:solidFill>
                      <a:prstDash val="solid"/>
                    </a:lnB>
                    <a:solidFill>
                      <a:srgbClr val="0B3041"/>
                    </a:solidFill>
                  </a:tcPr>
                </a:tc>
                <a:tc>
                  <a:txBody>
                    <a:bodyPr wrap="square"/>
                    <a:lstStyle/>
                    <a:p>
                      <a:pPr algn="l"/>
                      <a:r>
                        <a:rPr sz="900" b="0">
                          <a:solidFill>
                            <a:srgbClr val="000000"/>
                          </a:solidFill>
                          <a:latin typeface="游ゴシック"/>
                          <a:ea typeface="游ゴシック"/>
                        </a:rPr>
                        <a:t>2026年10月29日</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00" b="1">
                          <a:solidFill>
                            <a:srgbClr val="FFFFFF"/>
                          </a:solidFill>
                          <a:latin typeface="游ゴシック"/>
                          <a:ea typeface="游ゴシック"/>
                        </a:rPr>
                        <a:t>基準日</a:t>
                      </a:r>
                    </a:p>
                  </a:txBody>
                  <a:tcPr marL="45720" marR="45720" marT="9144" marB="9144" anchor="ctr">
                    <a:lnL>
                      <a:noFill/>
                    </a:lnL>
                    <a:lnR>
                      <a:noFill/>
                    </a:lnR>
                    <a:lnT>
                      <a:noFill/>
                    </a:lnT>
                    <a:lnB w="6350" cap="flat" cmpd="sng" algn="ctr">
                      <a:solidFill>
                        <a:srgbClr val="FFFFFF"/>
                      </a:solidFill>
                      <a:prstDash val="solid"/>
                    </a:lnB>
                    <a:solidFill>
                      <a:srgbClr val="0B3041"/>
                    </a:solidFill>
                  </a:tcPr>
                </a:tc>
                <a:tc>
                  <a:txBody>
                    <a:bodyPr wrap="square"/>
                    <a:lstStyle/>
                    <a:p>
                      <a:pPr algn="l"/>
                      <a:r>
                        <a:rPr sz="900" b="0">
                          <a:solidFill>
                            <a:srgbClr val="000000"/>
                          </a:solidFill>
                          <a:latin typeface="游ゴシック"/>
                          <a:ea typeface="游ゴシック"/>
                        </a:rPr>
                        <a:t>2026年5月31日（貸借対照表の基準日：第37期末）</a:t>
                      </a:r>
                    </a:p>
                  </a:txBody>
                  <a:tcPr marL="45720" marR="45720" marT="9144" marB="9144" anchor="ctr">
                    <a:lnL>
                      <a:noFill/>
                    </a:lnL>
                    <a:lnR>
                      <a:noFill/>
                    </a:lnR>
                    <a:lnT>
                      <a:noFill/>
                    </a:lnT>
                    <a:lnB w="6350" cap="flat" cmpd="sng" algn="ctr">
                      <a:solidFill>
                        <a:srgbClr val="A6A6A6"/>
                      </a:solidFill>
                      <a:prstDash val="solid"/>
                    </a:lnB>
                    <a:noFill/>
                  </a:tcPr>
                </a:tc>
              </a:tr>
              <a:tr h="274320">
                <a:tc>
                  <a:txBody>
                    <a:bodyPr wrap="square"/>
                    <a:lstStyle/>
                    <a:p>
                      <a:pPr algn="l"/>
                      <a:r>
                        <a:rPr sz="900" b="1">
                          <a:solidFill>
                            <a:srgbClr val="FFFFFF"/>
                          </a:solidFill>
                          <a:latin typeface="游ゴシック"/>
                          <a:ea typeface="游ゴシック"/>
                        </a:rPr>
                        <a:t>参照期間</a:t>
                      </a:r>
                    </a:p>
                  </a:txBody>
                  <a:tcPr marL="45720" marR="45720" marT="9144" marB="9144" anchor="ctr">
                    <a:lnL>
                      <a:noFill/>
                    </a:lnL>
                    <a:lnR>
                      <a:noFill/>
                    </a:lnR>
                    <a:lnT>
                      <a:noFill/>
                    </a:lnT>
                    <a:lnB w="6350" cap="flat" cmpd="sng" algn="ctr">
                      <a:solidFill>
                        <a:srgbClr val="FFFFFF"/>
                      </a:solidFill>
                      <a:prstDash val="solid"/>
                    </a:lnB>
                    <a:solidFill>
                      <a:srgbClr val="0B3041"/>
                    </a:solidFill>
                  </a:tcPr>
                </a:tc>
                <a:tc>
                  <a:txBody>
                    <a:bodyPr wrap="square"/>
                    <a:lstStyle/>
                    <a:p>
                      <a:pPr algn="l"/>
                      <a:r>
                        <a:rPr sz="900" b="0">
                          <a:solidFill>
                            <a:srgbClr val="000000"/>
                          </a:solidFill>
                          <a:latin typeface="游ゴシック"/>
                          <a:ea typeface="游ゴシック"/>
                        </a:rPr>
                        <a:t>2023年6月～2026年5月（損益計算書の参照期間：第35期～第37期）</a:t>
                      </a:r>
                    </a:p>
                  </a:txBody>
                  <a:tcPr marL="45720" marR="45720" marT="9144" marB="9144" anchor="ctr">
                    <a:lnL>
                      <a:noFill/>
                    </a:lnL>
                    <a:lnR>
                      <a:noFill/>
                    </a:lnR>
                    <a:lnT>
                      <a:noFill/>
                    </a:lnT>
                    <a:lnB w="6350" cap="flat" cmpd="sng" algn="ctr">
                      <a:solidFill>
                        <a:srgbClr val="A6A6A6"/>
                      </a:solidFill>
                      <a:prstDash val="solid"/>
                    </a:lnB>
                    <a:noFill/>
                  </a:tcPr>
                </a:tc>
              </a:tr>
              <a:tr h="457200">
                <a:tc>
                  <a:txBody>
                    <a:bodyPr wrap="square"/>
                    <a:lstStyle/>
                    <a:p>
                      <a:pPr algn="l"/>
                      <a:r>
                        <a:rPr sz="900" b="1">
                          <a:solidFill>
                            <a:srgbClr val="FFFFFF"/>
                          </a:solidFill>
                          <a:latin typeface="游ゴシック"/>
                          <a:ea typeface="游ゴシック"/>
                        </a:rPr>
                        <a:t>目的</a:t>
                      </a:r>
                    </a:p>
                  </a:txBody>
                  <a:tcPr marL="45720" marR="45720" marT="9144" marB="9144" anchor="ctr">
                    <a:lnL>
                      <a:noFill/>
                    </a:lnL>
                    <a:lnR>
                      <a:noFill/>
                    </a:lnR>
                    <a:lnT>
                      <a:noFill/>
                    </a:lnT>
                    <a:lnB w="6350" cap="flat" cmpd="sng" algn="ctr">
                      <a:solidFill>
                        <a:srgbClr val="FFFFFF"/>
                      </a:solidFill>
                      <a:prstDash val="solid"/>
                    </a:lnB>
                    <a:solidFill>
                      <a:srgbClr val="0B3041"/>
                    </a:solidFill>
                  </a:tcPr>
                </a:tc>
                <a:tc>
                  <a:txBody>
                    <a:bodyPr wrap="square"/>
                    <a:lstStyle/>
                    <a:p>
                      <a:pPr algn="l"/>
                      <a:r>
                        <a:rPr sz="900" b="0">
                          <a:solidFill>
                            <a:srgbClr val="000000"/>
                          </a:solidFill>
                          <a:latin typeface="游ゴシック"/>
                          <a:ea typeface="游ゴシック"/>
                        </a:rPr>
                        <a:t>対象会社の発行済株式を第三者へ譲渡する場合（以下「本件取引」）の譲渡価額決定の参考資料とすること（以下「本件試算目的」）を目的に本株式価値試算報告書は作成されております。</a:t>
                      </a:r>
                    </a:p>
                  </a:txBody>
                  <a:tcPr marL="45720" marR="45720" marT="9144" marB="9144" anchor="ctr">
                    <a:lnL>
                      <a:noFill/>
                    </a:lnL>
                    <a:lnR>
                      <a:noFill/>
                    </a:lnR>
                    <a:lnT>
                      <a:noFill/>
                    </a:lnT>
                    <a:lnB w="6350" cap="flat" cmpd="sng" algn="ctr">
                      <a:solidFill>
                        <a:srgbClr val="A6A6A6"/>
                      </a:solidFill>
                      <a:prstDash val="solid"/>
                    </a:lnB>
                    <a:noFill/>
                  </a:tcPr>
                </a:tc>
              </a:tr>
            </a:tbl>
          </a:graphicData>
        </a:graphic>
      </p:graphicFrame>
      <p:sp>
        <p:nvSpPr>
          <p:cNvPr id="36" name="Rectangle 35"/>
          <p:cNvSpPr/>
          <p:nvPr/>
        </p:nvSpPr>
        <p:spPr>
          <a:xfrm>
            <a:off x="6263640" y="3639312"/>
            <a:ext cx="4087368" cy="2121408"/>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spcAft>
                <a:spcPts val="300"/>
              </a:spcAft>
            </a:pPr>
            <a:r>
              <a:rPr sz="850" b="1">
                <a:solidFill>
                  <a:srgbClr val="0B3041"/>
                </a:solidFill>
                <a:latin typeface="游ゴシック Medium"/>
                <a:ea typeface="游ゴシック Medium"/>
              </a:rPr>
              <a:t>≪試算結果の要旨≫</a:t>
            </a:r>
          </a:p>
          <a:p>
            <a:pPr algn="l">
              <a:spcAft>
                <a:spcPts val="300"/>
              </a:spcAft>
            </a:pPr>
            <a:r>
              <a:rPr sz="850" b="0">
                <a:solidFill>
                  <a:srgbClr val="000000"/>
                </a:solidFill>
                <a:latin typeface="游ゴシック Medium"/>
                <a:ea typeface="游ゴシック Medium"/>
              </a:rPr>
              <a:t>・時価純資産は△12,586千円（債務超過）。基準営業利益・基準EBITDAがいずれもマイナスのため、営業権およびEVはゼロ。</a:t>
            </a:r>
          </a:p>
          <a:p>
            <a:pPr algn="l">
              <a:spcAft>
                <a:spcPts val="300"/>
              </a:spcAft>
            </a:pPr>
            <a:r>
              <a:rPr sz="850" b="0">
                <a:solidFill>
                  <a:srgbClr val="000000"/>
                </a:solidFill>
                <a:latin typeface="游ゴシック Medium"/>
                <a:ea typeface="游ゴシック Medium"/>
              </a:rPr>
              <a:t>・両アプローチとも試算結果はマイナスであり、理論上の株式価値は備忘価額（1円）の水準。</a:t>
            </a:r>
          </a:p>
          <a:p>
            <a:pPr algn="l">
              <a:spcAft>
                <a:spcPts val="300"/>
              </a:spcAft>
            </a:pPr>
            <a:r>
              <a:rPr sz="850" b="0">
                <a:solidFill>
                  <a:srgbClr val="000000"/>
                </a:solidFill>
                <a:latin typeface="游ゴシック Medium"/>
                <a:ea typeface="游ゴシック Medium"/>
              </a:rPr>
              <a:t>・実際の譲渡価額は、買手のシナジー評価、借入金の承継・保証解除等の条件により個別に交渉される。</a:t>
            </a:r>
          </a:p>
        </p:txBody>
      </p:sp>
    </p:spTree>
    <p:extLst>
      <p:ext uri="{BB962C8B-B14F-4D97-AF65-F5344CB8AC3E}">
        <p14:creationId xmlns:p14="http://schemas.microsoft.com/office/powerpoint/2010/main" val="3808153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5E39C6D-60F0-86EE-EFCF-872D0FE99B9E}"/>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Financial Analysis ／</a:t>
            </a:r>
            <a:br>
              <a:rPr lang="en-US" altLang="ja-JP" dirty="0"/>
            </a:br>
            <a:r>
              <a:rPr lang="ja-JP" altLang="en-US" dirty="0"/>
              <a:t>財務情報の分析（</a:t>
            </a:r>
            <a:r>
              <a:rPr lang="en-US" altLang="ja-JP" dirty="0"/>
              <a:t>B/S</a:t>
            </a:r>
            <a:r>
              <a:rPr lang="ja-JP" altLang="en-US" dirty="0"/>
              <a:t>）</a:t>
            </a:r>
          </a:p>
        </p:txBody>
      </p:sp>
      <p:grpSp>
        <p:nvGrpSpPr>
          <p:cNvPr id="2" name="グループ化 1">
            <a:extLst>
              <a:ext uri="{FF2B5EF4-FFF2-40B4-BE49-F238E27FC236}">
                <a16:creationId xmlns:a16="http://schemas.microsoft.com/office/drawing/2014/main" id="{15306978-470E-B0F6-C5FF-B26948AD9EB2}"/>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2A97B43C-A376-B0B0-4142-E5A9575AD60D}"/>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F5C91817-B1D9-7B38-6106-AA27E6695ACD}"/>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16583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タイトル 11">
            <a:extLst>
              <a:ext uri="{FF2B5EF4-FFF2-40B4-BE49-F238E27FC236}">
                <a16:creationId xmlns:a16="http://schemas.microsoft.com/office/drawing/2014/main" id="{5F3DF0AA-58C6-917B-B152-E777B0E55835}"/>
              </a:ext>
            </a:extLst>
          </p:cNvPr>
          <p:cNvSpPr>
            <a:spLocks noGrp="1"/>
          </p:cNvSpPr>
          <p:nvPr>
            <p:ph type="ctrTitle"/>
          </p:nvPr>
        </p:nvSpPr>
        <p:spPr/>
        <p:txBody>
          <a:bodyPr/>
          <a:lstStyle/>
          <a:p>
            <a:r>
              <a:rPr lang="ja-JP" altLang="en-US" dirty="0"/>
              <a:t>過去</a:t>
            </a:r>
            <a:r>
              <a:rPr lang="en-US" altLang="ja-JP" dirty="0"/>
              <a:t>BS</a:t>
            </a:r>
            <a:r>
              <a:rPr lang="ja-JP" altLang="en-US" dirty="0"/>
              <a:t>の推移</a:t>
            </a:r>
          </a:p>
        </p:txBody>
      </p:sp>
      <p:sp>
        <p:nvSpPr>
          <p:cNvPr id="8" name="タイトル 1">
            <a:extLst>
              <a:ext uri="{FF2B5EF4-FFF2-40B4-BE49-F238E27FC236}">
                <a16:creationId xmlns:a16="http://schemas.microsoft.com/office/drawing/2014/main" id="{DAFB17AF-B358-FD61-383D-82CB09BDE6D1}"/>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13" name="Table 12"/>
          <p:cNvGraphicFramePr>
            <a:graphicFrameLocks noGrp="1"/>
          </p:cNvGraphicFramePr>
          <p:nvPr/>
        </p:nvGraphicFramePr>
        <p:xfrm>
          <a:off x="338328" y="914400"/>
          <a:ext cx="5001768" cy="5202936"/>
        </p:xfrm>
        <a:graphic>
          <a:graphicData uri="http://schemas.openxmlformats.org/drawingml/2006/table">
            <a:tbl>
              <a:tblPr firstRow="0" bandRow="0" firstCol="0" lastRow="0" lastCol="0" bandCol="0"/>
              <a:tblGrid>
                <a:gridCol w="1783080"/>
                <a:gridCol w="804672"/>
                <a:gridCol w="804672"/>
                <a:gridCol w="804672"/>
                <a:gridCol w="804672"/>
              </a:tblGrid>
              <a:tr h="329184">
                <a:tc>
                  <a:txBody>
                    <a:bodyPr wrap="square"/>
                    <a:lstStyle/>
                    <a:p>
                      <a:pPr algn="ctr"/>
                      <a:r>
                        <a:rPr sz="750" b="1">
                          <a:solidFill>
                            <a:srgbClr val="FFFFFF"/>
                          </a:solidFill>
                          <a:latin typeface="游ゴシック"/>
                          <a:ea typeface="游ゴシック"/>
                        </a:rPr>
                        <a:t>資産の部</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24年5月期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25年5月期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26年7月</a:t>
                      </a:r>
                    </a:p>
                    <a:p>
                      <a:pPr algn="ctr"/>
                      <a:r>
                        <a:rPr sz="750" b="1">
                          <a:solidFill>
                            <a:srgbClr val="FFFFFF"/>
                          </a:solidFill>
                          <a:latin typeface="游ゴシック"/>
                          <a:ea typeface="游ゴシック"/>
                        </a:rPr>
                        <a:t>（2か月TB）</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187452">
                <a:tc>
                  <a:txBody>
                    <a:bodyPr wrap="square"/>
                    <a:lstStyle/>
                    <a:p>
                      <a:pPr algn="l"/>
                      <a:r>
                        <a:rPr sz="750" b="1">
                          <a:solidFill>
                            <a:srgbClr val="000000"/>
                          </a:solidFill>
                          <a:latin typeface="游ゴシック"/>
                          <a:ea typeface="游ゴシック"/>
                        </a:rPr>
                        <a:t>【流動資産】</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54,412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49,505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38,983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44,198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87452">
                <a:tc>
                  <a:txBody>
                    <a:bodyPr wrap="square"/>
                    <a:lstStyle/>
                    <a:p>
                      <a:pPr algn="l"/>
                      <a:r>
                        <a:rPr sz="750" b="0">
                          <a:solidFill>
                            <a:srgbClr val="000000"/>
                          </a:solidFill>
                          <a:latin typeface="游ゴシック"/>
                          <a:ea typeface="游ゴシック"/>
                        </a:rPr>
                        <a:t>現金及び預金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19,961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9,777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4,903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1,591</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請負未収金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29,669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32,406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28,452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33,679</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貯蔵品（梱包資材）</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4,173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4,032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3,270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3,270</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短期貸付金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前払費用</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2,182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2,294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2,294</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仮払金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62</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未収消費税等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958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仮払消費税等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3,303</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その他（元帳未掲載差額・要確認）</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1">
                          <a:solidFill>
                            <a:srgbClr val="000000"/>
                          </a:solidFill>
                          <a:latin typeface="游ゴシック"/>
                          <a:ea typeface="游ゴシック"/>
                        </a:rPr>
                        <a:t>【固定資産】</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843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12,617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14,338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14,338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87452">
                <a:tc>
                  <a:txBody>
                    <a:bodyPr wrap="square"/>
                    <a:lstStyle/>
                    <a:p>
                      <a:pPr algn="l"/>
                      <a:r>
                        <a:rPr sz="750" b="1">
                          <a:solidFill>
                            <a:srgbClr val="000000"/>
                          </a:solidFill>
                          <a:latin typeface="游ゴシック"/>
                          <a:ea typeface="游ゴシック"/>
                        </a:rPr>
                        <a:t>［有形固定資産］</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666</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8,347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7,511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7,511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87452">
                <a:tc>
                  <a:txBody>
                    <a:bodyPr wrap="square"/>
                    <a:lstStyle/>
                    <a:p>
                      <a:pPr algn="l"/>
                      <a:r>
                        <a:rPr sz="750" b="0">
                          <a:solidFill>
                            <a:srgbClr val="000000"/>
                          </a:solidFill>
                          <a:latin typeface="游ゴシック"/>
                          <a:ea typeface="游ゴシック"/>
                        </a:rPr>
                        <a:t>建物</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建物付属設備</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7,464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6,928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6,928</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構築物</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120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103</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機械装置</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545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車両運搬具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222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133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133</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工具器具備品</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347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347</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1">
                          <a:solidFill>
                            <a:srgbClr val="000000"/>
                          </a:solidFill>
                          <a:latin typeface="游ゴシック"/>
                          <a:ea typeface="游ゴシック"/>
                        </a:rPr>
                        <a:t>［無形固定資産］</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119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119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119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119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87452">
                <a:tc>
                  <a:txBody>
                    <a:bodyPr wrap="square"/>
                    <a:lstStyle/>
                    <a:p>
                      <a:pPr algn="l"/>
                      <a:r>
                        <a:rPr sz="750" b="0">
                          <a:solidFill>
                            <a:srgbClr val="000000"/>
                          </a:solidFill>
                          <a:latin typeface="游ゴシック"/>
                          <a:ea typeface="游ゴシック"/>
                        </a:rPr>
                        <a:t>電話加入権</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119</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1">
                          <a:solidFill>
                            <a:srgbClr val="000000"/>
                          </a:solidFill>
                          <a:latin typeface="游ゴシック"/>
                          <a:ea typeface="游ゴシック"/>
                        </a:rPr>
                        <a:t>［投資その他資産］</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58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4,152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6,708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6,708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87452">
                <a:tc>
                  <a:txBody>
                    <a:bodyPr wrap="square"/>
                    <a:lstStyle/>
                    <a:p>
                      <a:pPr algn="l"/>
                      <a:r>
                        <a:rPr sz="750" b="0">
                          <a:solidFill>
                            <a:srgbClr val="000000"/>
                          </a:solidFill>
                          <a:latin typeface="游ゴシック"/>
                          <a:ea typeface="游ゴシック"/>
                        </a:rPr>
                        <a:t>出資金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50</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長期前払費用（信用保証料）</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904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904</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敷金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3,092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5,754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5,754</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預け保証金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1">
                          <a:solidFill>
                            <a:srgbClr val="000000"/>
                          </a:solidFill>
                          <a:latin typeface="游ゴシック"/>
                          <a:ea typeface="游ゴシック"/>
                        </a:rPr>
                        <a:t>資産合計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55,255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62,122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53,321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58,536</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graphicFrame>
        <p:nvGraphicFramePr>
          <p:cNvPr id="14" name="Table 13"/>
          <p:cNvGraphicFramePr>
            <a:graphicFrameLocks noGrp="1"/>
          </p:cNvGraphicFramePr>
          <p:nvPr/>
        </p:nvGraphicFramePr>
        <p:xfrm>
          <a:off x="5349240" y="914400"/>
          <a:ext cx="5001768" cy="2203704"/>
        </p:xfrm>
        <a:graphic>
          <a:graphicData uri="http://schemas.openxmlformats.org/drawingml/2006/table">
            <a:tbl>
              <a:tblPr firstRow="0" bandRow="0" firstCol="0" lastRow="0" lastCol="0" bandCol="0"/>
              <a:tblGrid>
                <a:gridCol w="1783080"/>
                <a:gridCol w="804672"/>
                <a:gridCol w="804672"/>
                <a:gridCol w="804672"/>
                <a:gridCol w="804672"/>
              </a:tblGrid>
              <a:tr h="329184">
                <a:tc>
                  <a:txBody>
                    <a:bodyPr wrap="square"/>
                    <a:lstStyle/>
                    <a:p>
                      <a:pPr algn="ctr"/>
                      <a:r>
                        <a:rPr sz="750" b="1">
                          <a:solidFill>
                            <a:srgbClr val="FFFFFF"/>
                          </a:solidFill>
                          <a:latin typeface="游ゴシック"/>
                          <a:ea typeface="游ゴシック"/>
                        </a:rPr>
                        <a:t>負債の部</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24年5月期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25年5月期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26年7月</a:t>
                      </a:r>
                    </a:p>
                    <a:p>
                      <a:pPr algn="ctr"/>
                      <a:r>
                        <a:rPr sz="750" b="1">
                          <a:solidFill>
                            <a:srgbClr val="FFFFFF"/>
                          </a:solidFill>
                          <a:latin typeface="游ゴシック"/>
                          <a:ea typeface="游ゴシック"/>
                        </a:rPr>
                        <a:t>（2か月TB）</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187452">
                <a:tc>
                  <a:txBody>
                    <a:bodyPr wrap="square"/>
                    <a:lstStyle/>
                    <a:p>
                      <a:pPr algn="l"/>
                      <a:r>
                        <a:rPr sz="750" b="1">
                          <a:solidFill>
                            <a:srgbClr val="000000"/>
                          </a:solidFill>
                          <a:latin typeface="游ゴシック"/>
                          <a:ea typeface="游ゴシック"/>
                        </a:rPr>
                        <a:t>【流動負債】</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27,137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24,020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32,247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38,743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87452">
                <a:tc>
                  <a:txBody>
                    <a:bodyPr wrap="square"/>
                    <a:lstStyle/>
                    <a:p>
                      <a:pPr algn="l"/>
                      <a:r>
                        <a:rPr sz="750" b="0">
                          <a:solidFill>
                            <a:srgbClr val="000000"/>
                          </a:solidFill>
                          <a:latin typeface="游ゴシック"/>
                          <a:ea typeface="游ゴシック"/>
                        </a:rPr>
                        <a:t>未払金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15,336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15,370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22,987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25,470</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未払費用</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9,588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8,398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6,949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7,344</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未払法人税等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未払消費税等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1,937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2,227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2,227</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預り金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206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181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69</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仮受消費税等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3,632</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1">
                          <a:solidFill>
                            <a:srgbClr val="000000"/>
                          </a:solidFill>
                          <a:latin typeface="游ゴシック"/>
                          <a:ea typeface="游ゴシック"/>
                        </a:rPr>
                        <a:t>【固定負債】</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38,334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32,638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31,642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87452">
                <a:tc>
                  <a:txBody>
                    <a:bodyPr wrap="square"/>
                    <a:lstStyle/>
                    <a:p>
                      <a:pPr algn="l"/>
                      <a:r>
                        <a:rPr sz="750" b="0">
                          <a:solidFill>
                            <a:srgbClr val="000000"/>
                          </a:solidFill>
                          <a:latin typeface="游ゴシック"/>
                          <a:ea typeface="游ゴシック"/>
                        </a:rPr>
                        <a:t>長期借入金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38,334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32,638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31,642</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1">
                          <a:solidFill>
                            <a:srgbClr val="000000"/>
                          </a:solidFill>
                          <a:latin typeface="游ゴシック"/>
                          <a:ea typeface="游ゴシック"/>
                        </a:rPr>
                        <a:t>負債合計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27,137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62,354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64,885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70,385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graphicFrame>
        <p:nvGraphicFramePr>
          <p:cNvPr id="15" name="Table 14"/>
          <p:cNvGraphicFramePr>
            <a:graphicFrameLocks noGrp="1"/>
          </p:cNvGraphicFramePr>
          <p:nvPr/>
        </p:nvGraphicFramePr>
        <p:xfrm>
          <a:off x="5349240" y="3291840"/>
          <a:ext cx="5001768" cy="1828800"/>
        </p:xfrm>
        <a:graphic>
          <a:graphicData uri="http://schemas.openxmlformats.org/drawingml/2006/table">
            <a:tbl>
              <a:tblPr firstRow="0" bandRow="0" firstCol="0" lastRow="0" lastCol="0" bandCol="0"/>
              <a:tblGrid>
                <a:gridCol w="1783080"/>
                <a:gridCol w="804672"/>
                <a:gridCol w="804672"/>
                <a:gridCol w="804672"/>
                <a:gridCol w="804672"/>
              </a:tblGrid>
              <a:tr h="329184">
                <a:tc>
                  <a:txBody>
                    <a:bodyPr wrap="square"/>
                    <a:lstStyle/>
                    <a:p>
                      <a:pPr algn="ctr"/>
                      <a:r>
                        <a:rPr sz="750" b="1">
                          <a:solidFill>
                            <a:srgbClr val="FFFFFF"/>
                          </a:solidFill>
                          <a:latin typeface="游ゴシック"/>
                          <a:ea typeface="游ゴシック"/>
                        </a:rPr>
                        <a:t>純資産の部</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24年5月期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25年5月期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26年7月</a:t>
                      </a:r>
                    </a:p>
                    <a:p>
                      <a:pPr algn="ctr"/>
                      <a:r>
                        <a:rPr sz="750" b="1">
                          <a:solidFill>
                            <a:srgbClr val="FFFFFF"/>
                          </a:solidFill>
                          <a:latin typeface="游ゴシック"/>
                          <a:ea typeface="游ゴシック"/>
                        </a:rPr>
                        <a:t>（2か月TB）</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187452">
                <a:tc>
                  <a:txBody>
                    <a:bodyPr wrap="square"/>
                    <a:lstStyle/>
                    <a:p>
                      <a:pPr algn="l"/>
                      <a:r>
                        <a:rPr sz="750" b="1">
                          <a:solidFill>
                            <a:srgbClr val="000000"/>
                          </a:solidFill>
                          <a:latin typeface="游ゴシック"/>
                          <a:ea typeface="游ゴシック"/>
                        </a:rPr>
                        <a:t>【資本金】</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10,000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10,000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10,000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10,000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87452">
                <a:tc>
                  <a:txBody>
                    <a:bodyPr wrap="square"/>
                    <a:lstStyle/>
                    <a:p>
                      <a:pPr algn="l"/>
                      <a:r>
                        <a:rPr sz="750" b="0">
                          <a:solidFill>
                            <a:srgbClr val="000000"/>
                          </a:solidFill>
                          <a:latin typeface="游ゴシック"/>
                          <a:ea typeface="游ゴシック"/>
                        </a:rPr>
                        <a:t>資本金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10,000</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1">
                          <a:solidFill>
                            <a:srgbClr val="000000"/>
                          </a:solidFill>
                          <a:latin typeface="游ゴシック"/>
                          <a:ea typeface="游ゴシック"/>
                        </a:rPr>
                        <a:t>【利益剰余金】</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18,118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△10,231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△21,563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△21,849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87452">
                <a:tc>
                  <a:txBody>
                    <a:bodyPr wrap="square"/>
                    <a:lstStyle/>
                    <a:p>
                      <a:pPr algn="l"/>
                      <a:r>
                        <a:rPr sz="750" b="0">
                          <a:solidFill>
                            <a:srgbClr val="000000"/>
                          </a:solidFill>
                          <a:latin typeface="游ゴシック"/>
                          <a:ea typeface="游ゴシック"/>
                        </a:rPr>
                        <a:t>利益準備金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2,750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2,750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2,750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2,750</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別途積立金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36,000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36,000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36,000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36,000</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繰越利益剰余金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△20,632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△48,981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△60,313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△60,599</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1">
                          <a:solidFill>
                            <a:srgbClr val="000000"/>
                          </a:solidFill>
                          <a:latin typeface="游ゴシック"/>
                          <a:ea typeface="游ゴシック"/>
                        </a:rPr>
                        <a:t>純資産合計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28,118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△231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△11,563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△11,849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87452">
                <a:tc>
                  <a:txBody>
                    <a:bodyPr wrap="square"/>
                    <a:lstStyle/>
                    <a:p>
                      <a:pPr algn="l"/>
                      <a:r>
                        <a:rPr sz="750" b="1">
                          <a:solidFill>
                            <a:srgbClr val="000000"/>
                          </a:solidFill>
                          <a:latin typeface="游ゴシック"/>
                          <a:ea typeface="游ゴシック"/>
                        </a:rPr>
                        <a:t>負債・純資産合計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55,255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62,122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53,321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58,536</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sp>
        <p:nvSpPr>
          <p:cNvPr id="16" name="Rectangle 15"/>
          <p:cNvSpPr/>
          <p:nvPr/>
        </p:nvSpPr>
        <p:spPr>
          <a:xfrm>
            <a:off x="5349240" y="5166360"/>
            <a:ext cx="5001768"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750" b="0">
                <a:solidFill>
                  <a:srgbClr val="000000"/>
                </a:solidFill>
                <a:latin typeface="游ゴシック Medium"/>
                <a:ea typeface="游ゴシック Medium"/>
              </a:rPr>
              <a:t>※24年5月期・26年5月期は決算報告書、25年5月期は総勘定元帳（成田・つくば）から再構成（決算書PDFが画像のため）。元帳に計上のない差額410円は「その他」に計上。</a:t>
            </a:r>
          </a:p>
          <a:p>
            <a:pPr algn="l"/>
            <a:r>
              <a:rPr sz="750" b="0">
                <a:solidFill>
                  <a:srgbClr val="000000"/>
                </a:solidFill>
                <a:latin typeface="游ゴシック Medium"/>
                <a:ea typeface="游ゴシック Medium"/>
              </a:rPr>
              <a:t>※26年7月は2026年6～7月の試算表（2か月）。</a:t>
            </a:r>
          </a:p>
          <a:p>
            <a:pPr algn="l"/>
            <a:r>
              <a:rPr sz="750" b="0">
                <a:solidFill>
                  <a:srgbClr val="000000"/>
                </a:solidFill>
                <a:latin typeface="游ゴシック Medium"/>
                <a:ea typeface="游ゴシック Medium"/>
              </a:rPr>
              <a:t>※千円未満四捨五入のため合計が一致しない場合がある。</a:t>
            </a:r>
          </a:p>
        </p:txBody>
      </p:sp>
    </p:spTree>
    <p:extLst>
      <p:ext uri="{BB962C8B-B14F-4D97-AF65-F5344CB8AC3E}">
        <p14:creationId xmlns:p14="http://schemas.microsoft.com/office/powerpoint/2010/main" val="995234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5ED04183-4C6A-40BB-237B-3121689A8C3A}"/>
              </a:ext>
            </a:extLst>
          </p:cNvPr>
          <p:cNvSpPr txBox="1"/>
          <p:nvPr/>
        </p:nvSpPr>
        <p:spPr>
          <a:xfrm>
            <a:off x="5919905" y="1849388"/>
            <a:ext cx="4320000" cy="4765215"/>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800" b="1" spc="50" dirty="0">
                <a:latin typeface="+mj-ea"/>
                <a:ea typeface="+mj-ea"/>
              </a:rPr>
              <a:t>現預金：25年5月期9,777千円、26年5月期4,903千円、26年7月1,591千円と減少傾向。営業赤字の継続による資金流出が要因。2026年9月30日に佐原信用金庫から短期借入3,000千円を実行。</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00" b="1" spc="50" dirty="0">
                <a:latin typeface="+mj-ea"/>
                <a:ea typeface="+mj-ea"/>
              </a:rPr>
              <a:t>請負未収金：主要取引先（Littelfuse、航空集配サービス、三徳運輸、DHL、鴻池運輸）向け。月末締め翌月末回収で、滞留は確認されていない（年齢表は要確認）。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00" b="1" spc="50" dirty="0">
                <a:latin typeface="+mj-ea"/>
                <a:ea typeface="+mj-ea"/>
              </a:rPr>
              <a:t>貯蔵品：梱包資材（段ボール・パレット・木材等）。最終仕入原価法。</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00" b="1" spc="50" dirty="0">
                <a:latin typeface="+mj-ea"/>
                <a:ea typeface="+mj-ea"/>
              </a:rPr>
              <a:t>建物付属設備：2024年8月の本店移転時に施工した保税蔵置場の内装（取得8,000千円、定額法）。</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00" b="1" spc="50" dirty="0">
                <a:latin typeface="+mj-ea"/>
                <a:ea typeface="+mj-ea"/>
              </a:rPr>
              <a:t>建物・構築物・機械装置：旧拠点（芝山町菱田）のテント倉庫・掘り井戸等および段ボール裁断機。簿価は備忘価額程度で、旧拠点資産の現存有無は要確認。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00" b="1" spc="50" dirty="0">
                <a:latin typeface="+mj-ea"/>
                <a:ea typeface="+mj-ea"/>
              </a:rPr>
              <a:t>長期前払費用：信用保証協会への保証料の前払分。</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00" b="1" spc="50" dirty="0">
                <a:latin typeface="+mj-ea"/>
                <a:ea typeface="+mj-ea"/>
              </a:rPr>
              <a:t>敷金：航空集配サービス㈱（倉庫・事務所の転貸人）への預託。2026年5月からの定期転貸借契約（3年）に基づく。</a:t>
            </a:r>
            <a:endParaRPr lang="en-US" altLang="ja-JP" sz="1100" b="1" spc="50" dirty="0">
              <a:latin typeface="+mj-ea"/>
              <a:ea typeface="+mj-ea"/>
            </a:endParaRPr>
          </a:p>
        </p:txBody>
      </p:sp>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lang="en-US" altLang="ja-JP" dirty="0"/>
              <a:t>BS</a:t>
            </a:r>
            <a:r>
              <a:rPr lang="ja-JP" altLang="en-US" dirty="0"/>
              <a:t>補足</a:t>
            </a:r>
            <a:r>
              <a:rPr lang="ja-JP" altLang="en-US" sz="1800" dirty="0"/>
              <a:t>［資産］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253D4334-6F54-3D2E-4DA3-18553CF717D6}"/>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15" name="Table 14"/>
          <p:cNvGraphicFramePr>
            <a:graphicFrameLocks noGrp="1"/>
          </p:cNvGraphicFramePr>
          <p:nvPr/>
        </p:nvGraphicFramePr>
        <p:xfrm>
          <a:off x="338328" y="914400"/>
          <a:ext cx="5001768" cy="5202936"/>
        </p:xfrm>
        <a:graphic>
          <a:graphicData uri="http://schemas.openxmlformats.org/drawingml/2006/table">
            <a:tbl>
              <a:tblPr firstRow="0" bandRow="0" firstCol="0" lastRow="0" lastCol="0" bandCol="0"/>
              <a:tblGrid>
                <a:gridCol w="1783080"/>
                <a:gridCol w="804672"/>
                <a:gridCol w="804672"/>
                <a:gridCol w="804672"/>
                <a:gridCol w="804672"/>
              </a:tblGrid>
              <a:tr h="329184">
                <a:tc>
                  <a:txBody>
                    <a:bodyPr wrap="square"/>
                    <a:lstStyle/>
                    <a:p>
                      <a:pPr algn="ctr"/>
                      <a:r>
                        <a:rPr sz="750" b="1">
                          <a:solidFill>
                            <a:srgbClr val="FFFFFF"/>
                          </a:solidFill>
                          <a:latin typeface="游ゴシック"/>
                          <a:ea typeface="游ゴシック"/>
                        </a:rPr>
                        <a:t>資産の部</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24年5月期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25年5月期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26年7月</a:t>
                      </a:r>
                    </a:p>
                    <a:p>
                      <a:pPr algn="ctr"/>
                      <a:r>
                        <a:rPr sz="750" b="1">
                          <a:solidFill>
                            <a:srgbClr val="FFFFFF"/>
                          </a:solidFill>
                          <a:latin typeface="游ゴシック"/>
                          <a:ea typeface="游ゴシック"/>
                        </a:rPr>
                        <a:t>（2か月TB）</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187452">
                <a:tc>
                  <a:txBody>
                    <a:bodyPr wrap="square"/>
                    <a:lstStyle/>
                    <a:p>
                      <a:pPr algn="l"/>
                      <a:r>
                        <a:rPr sz="750" b="1">
                          <a:solidFill>
                            <a:srgbClr val="000000"/>
                          </a:solidFill>
                          <a:latin typeface="游ゴシック"/>
                          <a:ea typeface="游ゴシック"/>
                        </a:rPr>
                        <a:t>【流動資産】</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54,412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49,505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38,983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44,198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87452">
                <a:tc>
                  <a:txBody>
                    <a:bodyPr wrap="square"/>
                    <a:lstStyle/>
                    <a:p>
                      <a:pPr algn="l"/>
                      <a:r>
                        <a:rPr sz="750" b="0">
                          <a:solidFill>
                            <a:srgbClr val="000000"/>
                          </a:solidFill>
                          <a:latin typeface="游ゴシック"/>
                          <a:ea typeface="游ゴシック"/>
                        </a:rPr>
                        <a:t>現金及び預金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19,961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9,777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4,903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1,591</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請負未収金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29,669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32,406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28,452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33,679</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貯蔵品（梱包資材）</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4,173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4,032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3,270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3,270</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短期貸付金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前払費用</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2,182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2,294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2,294</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仮払金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62</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未収消費税等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958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仮払消費税等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3,303</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その他（元帳未掲載差額・要確認）</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1">
                          <a:solidFill>
                            <a:srgbClr val="000000"/>
                          </a:solidFill>
                          <a:latin typeface="游ゴシック"/>
                          <a:ea typeface="游ゴシック"/>
                        </a:rPr>
                        <a:t>【固定資産】</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843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12,617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14,338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14,338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87452">
                <a:tc>
                  <a:txBody>
                    <a:bodyPr wrap="square"/>
                    <a:lstStyle/>
                    <a:p>
                      <a:pPr algn="l"/>
                      <a:r>
                        <a:rPr sz="750" b="1">
                          <a:solidFill>
                            <a:srgbClr val="000000"/>
                          </a:solidFill>
                          <a:latin typeface="游ゴシック"/>
                          <a:ea typeface="游ゴシック"/>
                        </a:rPr>
                        <a:t>［有形固定資産］</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666</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8,347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7,511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7,511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87452">
                <a:tc>
                  <a:txBody>
                    <a:bodyPr wrap="square"/>
                    <a:lstStyle/>
                    <a:p>
                      <a:pPr algn="l"/>
                      <a:r>
                        <a:rPr sz="750" b="0">
                          <a:solidFill>
                            <a:srgbClr val="000000"/>
                          </a:solidFill>
                          <a:latin typeface="游ゴシック"/>
                          <a:ea typeface="游ゴシック"/>
                        </a:rPr>
                        <a:t>建物</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建物付属設備</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7,464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6,928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6,928</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構築物</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120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103</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機械装置</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545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車両運搬具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222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133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133</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工具器具備品</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347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347</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1">
                          <a:solidFill>
                            <a:srgbClr val="000000"/>
                          </a:solidFill>
                          <a:latin typeface="游ゴシック"/>
                          <a:ea typeface="游ゴシック"/>
                        </a:rPr>
                        <a:t>［無形固定資産］</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119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119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119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119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87452">
                <a:tc>
                  <a:txBody>
                    <a:bodyPr wrap="square"/>
                    <a:lstStyle/>
                    <a:p>
                      <a:pPr algn="l"/>
                      <a:r>
                        <a:rPr sz="750" b="0">
                          <a:solidFill>
                            <a:srgbClr val="000000"/>
                          </a:solidFill>
                          <a:latin typeface="游ゴシック"/>
                          <a:ea typeface="游ゴシック"/>
                        </a:rPr>
                        <a:t>電話加入権</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119</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1">
                          <a:solidFill>
                            <a:srgbClr val="000000"/>
                          </a:solidFill>
                          <a:latin typeface="游ゴシック"/>
                          <a:ea typeface="游ゴシック"/>
                        </a:rPr>
                        <a:t>［投資その他資産］</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58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4,152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6,708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6,708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87452">
                <a:tc>
                  <a:txBody>
                    <a:bodyPr wrap="square"/>
                    <a:lstStyle/>
                    <a:p>
                      <a:pPr algn="l"/>
                      <a:r>
                        <a:rPr sz="750" b="0">
                          <a:solidFill>
                            <a:srgbClr val="000000"/>
                          </a:solidFill>
                          <a:latin typeface="游ゴシック"/>
                          <a:ea typeface="游ゴシック"/>
                        </a:rPr>
                        <a:t>出資金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50</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長期前払費用（信用保証料）</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904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904</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敷金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3,092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5,754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5,754</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0">
                          <a:solidFill>
                            <a:srgbClr val="000000"/>
                          </a:solidFill>
                          <a:latin typeface="游ゴシック"/>
                          <a:ea typeface="游ゴシック"/>
                        </a:rPr>
                        <a:t>預け保証金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87452">
                <a:tc>
                  <a:txBody>
                    <a:bodyPr wrap="square"/>
                    <a:lstStyle/>
                    <a:p>
                      <a:pPr algn="l"/>
                      <a:r>
                        <a:rPr sz="750" b="1">
                          <a:solidFill>
                            <a:srgbClr val="000000"/>
                          </a:solidFill>
                          <a:latin typeface="游ゴシック"/>
                          <a:ea typeface="游ゴシック"/>
                        </a:rPr>
                        <a:t>資産合計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55,255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62,122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53,321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58,536</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spTree>
    <p:extLst>
      <p:ext uri="{BB962C8B-B14F-4D97-AF65-F5344CB8AC3E}">
        <p14:creationId xmlns:p14="http://schemas.microsoft.com/office/powerpoint/2010/main" val="2721680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A036D2C3-829F-152F-B36D-269CA777FA94}"/>
              </a:ext>
            </a:extLst>
          </p:cNvPr>
          <p:cNvSpPr>
            <a:spLocks noGrp="1"/>
          </p:cNvSpPr>
          <p:nvPr>
            <p:ph type="ctrTitle"/>
          </p:nvPr>
        </p:nvSpPr>
        <p:spPr>
          <a:xfrm>
            <a:off x="341313" y="180653"/>
            <a:ext cx="7799917" cy="338554"/>
          </a:xfrm>
        </p:spPr>
        <p:txBody>
          <a:bodyPr/>
          <a:lstStyle/>
          <a:p>
            <a:r>
              <a:rPr lang="ja-JP" altLang="en-US" dirty="0"/>
              <a:t>評価科目別の検討結果</a:t>
            </a:r>
          </a:p>
        </p:txBody>
      </p:sp>
      <p:sp>
        <p:nvSpPr>
          <p:cNvPr id="6" name="タイトル 1">
            <a:extLst>
              <a:ext uri="{FF2B5EF4-FFF2-40B4-BE49-F238E27FC236}">
                <a16:creationId xmlns:a16="http://schemas.microsoft.com/office/drawing/2014/main" id="{4F526834-D427-A9AE-A56D-41DDC6EB745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6" name="正方形/長方形 15">
            <a:extLst>
              <a:ext uri="{FF2B5EF4-FFF2-40B4-BE49-F238E27FC236}">
                <a16:creationId xmlns:a16="http://schemas.microsoft.com/office/drawing/2014/main" id="{3696325D-3E2F-3184-13FD-527C337FC5DA}"/>
              </a:ext>
            </a:extLst>
          </p:cNvPr>
          <p:cNvSpPr/>
          <p:nvPr/>
        </p:nvSpPr>
        <p:spPr>
          <a:xfrm>
            <a:off x="449263" y="900484"/>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評価対象科目（評価基準日：2026年5月31日）</a:t>
            </a:r>
          </a:p>
        </p:txBody>
      </p:sp>
      <p:graphicFrame>
        <p:nvGraphicFramePr>
          <p:cNvPr id="17" name="Table 16"/>
          <p:cNvGraphicFramePr>
            <a:graphicFrameLocks noGrp="1"/>
          </p:cNvGraphicFramePr>
          <p:nvPr/>
        </p:nvGraphicFramePr>
        <p:xfrm>
          <a:off x="338328" y="1234440"/>
          <a:ext cx="10012680" cy="4608576"/>
        </p:xfrm>
        <a:graphic>
          <a:graphicData uri="http://schemas.openxmlformats.org/drawingml/2006/table">
            <a:tbl>
              <a:tblPr firstRow="0" bandRow="0" firstCol="0" lastRow="0" lastCol="0" bandCol="0"/>
              <a:tblGrid>
                <a:gridCol w="1828800"/>
                <a:gridCol w="914400"/>
                <a:gridCol w="914400"/>
                <a:gridCol w="914400"/>
                <a:gridCol w="5440680"/>
              </a:tblGrid>
              <a:tr h="329184">
                <a:tc>
                  <a:txBody>
                    <a:bodyPr wrap="square"/>
                    <a:lstStyle/>
                    <a:p>
                      <a:pPr algn="ctr"/>
                      <a:r>
                        <a:rPr sz="850" b="1">
                          <a:solidFill>
                            <a:srgbClr val="FFFFFF"/>
                          </a:solidFill>
                          <a:latin typeface="游ゴシック"/>
                          <a:ea typeface="游ゴシック"/>
                        </a:rPr>
                        <a:t>科目</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帳簿価額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評価差額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評価額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50" b="1">
                          <a:solidFill>
                            <a:srgbClr val="FFFFFF"/>
                          </a:solidFill>
                          <a:latin typeface="游ゴシック"/>
                          <a:ea typeface="游ゴシック"/>
                        </a:rPr>
                        <a:t>調整事由</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329184">
                <a:tc>
                  <a:txBody>
                    <a:bodyPr wrap="square"/>
                    <a:lstStyle/>
                    <a:p>
                      <a:pPr algn="l"/>
                      <a:r>
                        <a:rPr sz="850" b="0">
                          <a:solidFill>
                            <a:srgbClr val="000000"/>
                          </a:solidFill>
                          <a:latin typeface="游ゴシック"/>
                          <a:ea typeface="游ゴシック"/>
                        </a:rPr>
                        <a:t>現金及び預金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4,903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4,903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残高どおり</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l"/>
                      <a:r>
                        <a:rPr sz="850" b="0">
                          <a:solidFill>
                            <a:srgbClr val="000000"/>
                          </a:solidFill>
                          <a:latin typeface="游ゴシック"/>
                          <a:ea typeface="游ゴシック"/>
                        </a:rPr>
                        <a:t>請負未収金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28,452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28,452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大手物流会社・メーカー向けで滞留なし。簿価評価（年齢表は要確認）</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l"/>
                      <a:r>
                        <a:rPr sz="850" b="0">
                          <a:solidFill>
                            <a:srgbClr val="000000"/>
                          </a:solidFill>
                          <a:latin typeface="游ゴシック"/>
                          <a:ea typeface="游ゴシック"/>
                        </a:rPr>
                        <a:t>貯蔵品（梱包資材）</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3,270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3,270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通常の作業で順次消費される資材。簿価評価（滞留品の有無は要確認）</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l"/>
                      <a:r>
                        <a:rPr sz="850" b="0">
                          <a:solidFill>
                            <a:srgbClr val="000000"/>
                          </a:solidFill>
                          <a:latin typeface="游ゴシック"/>
                          <a:ea typeface="游ゴシック"/>
                        </a:rPr>
                        <a:t>建物付属設備</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6,928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6,928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保税蔵置場の内装。事業継続を前提に簿価評価（原状回復義務あり）</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l"/>
                      <a:r>
                        <a:rPr sz="850" b="0">
                          <a:solidFill>
                            <a:srgbClr val="000000"/>
                          </a:solidFill>
                          <a:latin typeface="游ゴシック"/>
                          <a:ea typeface="游ゴシック"/>
                        </a:rPr>
                        <a:t>電話加入権</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△119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換金価値がないためゼロ評価</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l"/>
                      <a:r>
                        <a:rPr sz="850" b="0">
                          <a:solidFill>
                            <a:srgbClr val="000000"/>
                          </a:solidFill>
                          <a:latin typeface="游ゴシック"/>
                          <a:ea typeface="游ゴシック"/>
                        </a:rPr>
                        <a:t>出資金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佐原信用金庫への出資。払戻しは額面が上限のため簿価評価</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l"/>
                      <a:r>
                        <a:rPr sz="850" b="0">
                          <a:solidFill>
                            <a:srgbClr val="000000"/>
                          </a:solidFill>
                          <a:latin typeface="游ゴシック"/>
                          <a:ea typeface="游ゴシック"/>
                        </a:rPr>
                        <a:t>長期前払費用</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904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△904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信用保証料の前払分。換金性がないためゼロ評価（繰上返済時の返戻額は要確認）</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l"/>
                      <a:r>
                        <a:rPr sz="850" b="0">
                          <a:solidFill>
                            <a:srgbClr val="000000"/>
                          </a:solidFill>
                          <a:latin typeface="游ゴシック"/>
                          <a:ea typeface="游ゴシック"/>
                        </a:rPr>
                        <a:t>敷金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5,754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5,754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契約上の返還額は預託額どおり。原状回復費用は要確認のため簿価評価</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l"/>
                      <a:r>
                        <a:rPr sz="850" b="0">
                          <a:solidFill>
                            <a:srgbClr val="000000"/>
                          </a:solidFill>
                          <a:latin typeface="游ゴシック"/>
                          <a:ea typeface="游ゴシック"/>
                        </a:rPr>
                        <a:t>土地・保険積立金・有価証券</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該当なし（不動産・保険積立金・上場有価証券の保有なし）</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l"/>
                      <a:r>
                        <a:rPr sz="850" b="0">
                          <a:solidFill>
                            <a:srgbClr val="000000"/>
                          </a:solidFill>
                          <a:latin typeface="游ゴシック"/>
                          <a:ea typeface="游ゴシック"/>
                        </a:rPr>
                        <a:t>未払給与・賞与</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5月分給与は未払費用に計上済み。賞与の支給慣行なし</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l"/>
                      <a:r>
                        <a:rPr sz="850" b="0">
                          <a:solidFill>
                            <a:srgbClr val="000000"/>
                          </a:solidFill>
                          <a:latin typeface="游ゴシック"/>
                          <a:ea typeface="游ゴシック"/>
                        </a:rPr>
                        <a:t>退職給付</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中小企業退職金共済で外部積立。引当不足なしと想定（退職金規程は要確認）</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l"/>
                      <a:r>
                        <a:rPr sz="850" b="0">
                          <a:solidFill>
                            <a:srgbClr val="000000"/>
                          </a:solidFill>
                          <a:latin typeface="游ゴシック"/>
                          <a:ea typeface="游ゴシック"/>
                        </a:rPr>
                        <a:t>税効果</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850" b="0">
                          <a:solidFill>
                            <a:srgbClr val="000000"/>
                          </a:solidFill>
                          <a:latin typeface="游ゴシック"/>
                          <a:ea typeface="游ゴシック"/>
                        </a:rPr>
                        <a:t>修正額が僅少かつ多額の繰越欠損金があるため認識しない</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l"/>
                      <a:r>
                        <a:rPr sz="850" b="1">
                          <a:solidFill>
                            <a:srgbClr val="000000"/>
                          </a:solidFill>
                          <a:latin typeface="游ゴシック"/>
                          <a:ea typeface="游ゴシック"/>
                        </a:rPr>
                        <a:t>評価修正額 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　</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△1,023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50" b="1">
                          <a:solidFill>
                            <a:srgbClr val="000000"/>
                          </a:solidFill>
                          <a:latin typeface="Arial"/>
                          <a:ea typeface="游ゴシック Medium"/>
                        </a:rPr>
                        <a:t>　</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l"/>
                      <a:r>
                        <a:rPr sz="850" b="1">
                          <a:solidFill>
                            <a:srgbClr val="000000"/>
                          </a:solidFill>
                          <a:latin typeface="游ゴシック"/>
                          <a:ea typeface="游ゴシック"/>
                        </a:rPr>
                        <a:t>　</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sp>
        <p:nvSpPr>
          <p:cNvPr id="18" name="Rectangle 17"/>
          <p:cNvSpPr/>
          <p:nvPr/>
        </p:nvSpPr>
        <p:spPr>
          <a:xfrm>
            <a:off x="9253728" y="1051560"/>
            <a:ext cx="1097280" cy="1645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r"/>
            <a:r>
              <a:rPr sz="750" b="0">
                <a:solidFill>
                  <a:srgbClr val="000000"/>
                </a:solidFill>
                <a:latin typeface="游ゴシック Medium"/>
                <a:ea typeface="游ゴシック Medium"/>
              </a:rPr>
              <a:t>(単位：千円)</a:t>
            </a:r>
          </a:p>
        </p:txBody>
      </p:sp>
    </p:spTree>
    <p:extLst>
      <p:ext uri="{BB962C8B-B14F-4D97-AF65-F5344CB8AC3E}">
        <p14:creationId xmlns:p14="http://schemas.microsoft.com/office/powerpoint/2010/main" val="3542174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5ED04183-4C6A-40BB-237B-3121689A8C3A}"/>
              </a:ext>
            </a:extLst>
          </p:cNvPr>
          <p:cNvSpPr txBox="1"/>
          <p:nvPr/>
        </p:nvSpPr>
        <p:spPr>
          <a:xfrm>
            <a:off x="5919905" y="1849388"/>
            <a:ext cx="4320000" cy="1042658"/>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800" b="1" spc="50" dirty="0">
                <a:latin typeface="+mj-ea"/>
                <a:ea typeface="+mj-ea"/>
              </a:rPr>
              <a:t>電話加入権：換金価値がないため119千円を減額。</a:t>
            </a:r>
          </a:p>
          <a:p>
            <a:pPr marL="180000" indent="-180000">
              <a:lnSpc>
                <a:spcPct val="120000"/>
              </a:lnSpc>
              <a:spcAft>
                <a:spcPts val="300"/>
              </a:spcAft>
              <a:buClr>
                <a:schemeClr val="tx2"/>
              </a:buClr>
              <a:buSzPct val="80000"/>
              <a:buFont typeface="Wingdings" panose="05000000000000000000" pitchFamily="2" charset="2"/>
              <a:buChar char="n"/>
            </a:pPr>
            <a:r>
              <a:rPr lang="ja-JP" altLang="en-US" sz="800" b="1" spc="50" dirty="0">
                <a:latin typeface="+mj-ea"/>
                <a:ea typeface="+mj-ea"/>
              </a:rPr>
              <a:t>長期前払費用：信用保証協会への保証料前払分904千円は換金性がないため減額。</a:t>
            </a:r>
          </a:p>
          <a:p>
            <a:pPr marL="180000" indent="-180000">
              <a:lnSpc>
                <a:spcPct val="120000"/>
              </a:lnSpc>
              <a:spcAft>
                <a:spcPts val="300"/>
              </a:spcAft>
              <a:buClr>
                <a:schemeClr val="tx2"/>
              </a:buClr>
              <a:buSzPct val="80000"/>
              <a:buFont typeface="Wingdings" panose="05000000000000000000" pitchFamily="2" charset="2"/>
              <a:buChar char="n"/>
            </a:pPr>
            <a:r>
              <a:rPr lang="ja-JP" altLang="en-US" sz="800" b="1" spc="50" dirty="0">
                <a:latin typeface="+mj-ea"/>
                <a:ea typeface="+mj-ea"/>
              </a:rPr>
              <a:t>その他の資産：請負未収金・貯蔵品・敷金・建物付属設備は簿価評価（評価科目別の検討結果を参照）。</a:t>
            </a:r>
          </a:p>
          <a:p>
            <a:pPr marL="180000" indent="-180000">
              <a:lnSpc>
                <a:spcPct val="120000"/>
              </a:lnSpc>
              <a:spcAft>
                <a:spcPts val="300"/>
              </a:spcAft>
              <a:buClr>
                <a:schemeClr val="tx2"/>
              </a:buClr>
              <a:buSzPct val="80000"/>
              <a:buFont typeface="Wingdings" panose="05000000000000000000" pitchFamily="2" charset="2"/>
              <a:buChar char="n"/>
            </a:pPr>
            <a:r>
              <a:rPr lang="ja-JP" altLang="en-US" sz="800" b="1" spc="50" dirty="0">
                <a:latin typeface="+mj-ea"/>
                <a:ea typeface="+mj-ea"/>
              </a:rPr>
              <a:t>評価修正額は資産合計で△1,023千円。</a:t>
            </a:r>
          </a:p>
        </p:txBody>
      </p:sp>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lang="ja-JP" altLang="en-US" dirty="0"/>
              <a:t>修正</a:t>
            </a:r>
            <a:r>
              <a:rPr lang="en-US" altLang="ja-JP" dirty="0"/>
              <a:t>BS</a:t>
            </a:r>
            <a:r>
              <a:rPr lang="ja-JP" altLang="en-US" sz="1800" dirty="0"/>
              <a:t>［資産］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253D4334-6F54-3D2E-4DA3-18553CF717D6}"/>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15" name="Table 14"/>
          <p:cNvGraphicFramePr>
            <a:graphicFrameLocks noGrp="1"/>
          </p:cNvGraphicFramePr>
          <p:nvPr/>
        </p:nvGraphicFramePr>
        <p:xfrm>
          <a:off x="246888" y="914400"/>
          <a:ext cx="5120640" cy="5308092"/>
        </p:xfrm>
        <a:graphic>
          <a:graphicData uri="http://schemas.openxmlformats.org/drawingml/2006/table">
            <a:tbl>
              <a:tblPr firstRow="0" bandRow="0" firstCol="0" lastRow="0" lastCol="0" bandCol="0"/>
              <a:tblGrid>
                <a:gridCol w="2103120"/>
                <a:gridCol w="1005840"/>
                <a:gridCol w="1005840"/>
                <a:gridCol w="1005840"/>
              </a:tblGrid>
              <a:tr h="196596">
                <a:tc>
                  <a:txBody>
                    <a:bodyPr wrap="square"/>
                    <a:lstStyle/>
                    <a:p>
                      <a:pPr algn="ctr"/>
                      <a:r>
                        <a:rPr sz="750" b="1">
                          <a:solidFill>
                            <a:srgbClr val="FFFFFF"/>
                          </a:solidFill>
                          <a:latin typeface="游ゴシック"/>
                          <a:ea typeface="游ゴシック"/>
                        </a:rPr>
                        <a:t>科目</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修正額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修正後</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196596">
                <a:tc>
                  <a:txBody>
                    <a:bodyPr wrap="square"/>
                    <a:lstStyle/>
                    <a:p>
                      <a:pPr algn="l"/>
                      <a:r>
                        <a:rPr sz="750" b="1">
                          <a:solidFill>
                            <a:srgbClr val="000000"/>
                          </a:solidFill>
                          <a:latin typeface="游ゴシック"/>
                          <a:ea typeface="游ゴシック"/>
                        </a:rPr>
                        <a:t>【流動資産】</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38,983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38,983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96596">
                <a:tc>
                  <a:txBody>
                    <a:bodyPr wrap="square"/>
                    <a:lstStyle/>
                    <a:p>
                      <a:pPr algn="l"/>
                      <a:r>
                        <a:rPr sz="750" b="0">
                          <a:solidFill>
                            <a:srgbClr val="000000"/>
                          </a:solidFill>
                          <a:latin typeface="游ゴシック"/>
                          <a:ea typeface="游ゴシック"/>
                        </a:rPr>
                        <a:t>現金及び預金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4,903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4,903</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50" b="0">
                          <a:solidFill>
                            <a:srgbClr val="000000"/>
                          </a:solidFill>
                          <a:latin typeface="游ゴシック"/>
                          <a:ea typeface="游ゴシック"/>
                        </a:rPr>
                        <a:t>請負未収金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28,452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28,452</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50" b="0">
                          <a:solidFill>
                            <a:srgbClr val="000000"/>
                          </a:solidFill>
                          <a:latin typeface="游ゴシック"/>
                          <a:ea typeface="游ゴシック"/>
                        </a:rPr>
                        <a:t>貯蔵品（梱包資材）</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3,270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3,270</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50" b="0">
                          <a:solidFill>
                            <a:srgbClr val="000000"/>
                          </a:solidFill>
                          <a:latin typeface="游ゴシック"/>
                          <a:ea typeface="游ゴシック"/>
                        </a:rPr>
                        <a:t>短期貸付金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50" b="0">
                          <a:solidFill>
                            <a:srgbClr val="000000"/>
                          </a:solidFill>
                          <a:latin typeface="游ゴシック"/>
                          <a:ea typeface="游ゴシック"/>
                        </a:rPr>
                        <a:t>前払費用</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2,294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2,294</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50" b="0">
                          <a:solidFill>
                            <a:srgbClr val="000000"/>
                          </a:solidFill>
                          <a:latin typeface="游ゴシック"/>
                          <a:ea typeface="游ゴシック"/>
                        </a:rPr>
                        <a:t>仮払金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65</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50" b="0">
                          <a:solidFill>
                            <a:srgbClr val="000000"/>
                          </a:solidFill>
                          <a:latin typeface="游ゴシック"/>
                          <a:ea typeface="游ゴシック"/>
                        </a:rPr>
                        <a:t>未収消費税等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50" b="0">
                          <a:solidFill>
                            <a:srgbClr val="000000"/>
                          </a:solidFill>
                          <a:latin typeface="游ゴシック"/>
                          <a:ea typeface="游ゴシック"/>
                        </a:rPr>
                        <a:t>仮払消費税等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50" b="0">
                          <a:solidFill>
                            <a:srgbClr val="000000"/>
                          </a:solidFill>
                          <a:latin typeface="游ゴシック"/>
                          <a:ea typeface="游ゴシック"/>
                        </a:rPr>
                        <a:t>その他（元帳未掲載差額・要確認）</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50" b="1">
                          <a:solidFill>
                            <a:srgbClr val="000000"/>
                          </a:solidFill>
                          <a:latin typeface="游ゴシック"/>
                          <a:ea typeface="游ゴシック"/>
                        </a:rPr>
                        <a:t>【固定資産】</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14,338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△1,023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13,315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96596">
                <a:tc>
                  <a:txBody>
                    <a:bodyPr wrap="square"/>
                    <a:lstStyle/>
                    <a:p>
                      <a:pPr algn="l"/>
                      <a:r>
                        <a:rPr sz="750" b="1">
                          <a:solidFill>
                            <a:srgbClr val="000000"/>
                          </a:solidFill>
                          <a:latin typeface="游ゴシック"/>
                          <a:ea typeface="游ゴシック"/>
                        </a:rPr>
                        <a:t>［有形固定資産］</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7,511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7,511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96596">
                <a:tc>
                  <a:txBody>
                    <a:bodyPr wrap="square"/>
                    <a:lstStyle/>
                    <a:p>
                      <a:pPr algn="l"/>
                      <a:r>
                        <a:rPr sz="750" b="0">
                          <a:solidFill>
                            <a:srgbClr val="000000"/>
                          </a:solidFill>
                          <a:latin typeface="游ゴシック"/>
                          <a:ea typeface="游ゴシック"/>
                        </a:rPr>
                        <a:t>建物</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50" b="0">
                          <a:solidFill>
                            <a:srgbClr val="000000"/>
                          </a:solidFill>
                          <a:latin typeface="游ゴシック"/>
                          <a:ea typeface="游ゴシック"/>
                        </a:rPr>
                        <a:t>建物付属設備</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6,928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6,928</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50" b="0">
                          <a:solidFill>
                            <a:srgbClr val="000000"/>
                          </a:solidFill>
                          <a:latin typeface="游ゴシック"/>
                          <a:ea typeface="游ゴシック"/>
                        </a:rPr>
                        <a:t>構築物</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103</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50" b="0">
                          <a:solidFill>
                            <a:srgbClr val="000000"/>
                          </a:solidFill>
                          <a:latin typeface="游ゴシック"/>
                          <a:ea typeface="游ゴシック"/>
                        </a:rPr>
                        <a:t>機械装置</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50" b="0">
                          <a:solidFill>
                            <a:srgbClr val="000000"/>
                          </a:solidFill>
                          <a:latin typeface="游ゴシック"/>
                          <a:ea typeface="游ゴシック"/>
                        </a:rPr>
                        <a:t>車両運搬具</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133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133</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50" b="0">
                          <a:solidFill>
                            <a:srgbClr val="000000"/>
                          </a:solidFill>
                          <a:latin typeface="游ゴシック"/>
                          <a:ea typeface="游ゴシック"/>
                        </a:rPr>
                        <a:t>工具器具備品</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347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347</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50" b="1">
                          <a:solidFill>
                            <a:srgbClr val="000000"/>
                          </a:solidFill>
                          <a:latin typeface="游ゴシック"/>
                          <a:ea typeface="游ゴシック"/>
                        </a:rPr>
                        <a:t>［無形固定資産］</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119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△119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96596">
                <a:tc>
                  <a:txBody>
                    <a:bodyPr wrap="square"/>
                    <a:lstStyle/>
                    <a:p>
                      <a:pPr algn="l"/>
                      <a:r>
                        <a:rPr sz="750" b="0">
                          <a:solidFill>
                            <a:srgbClr val="000000"/>
                          </a:solidFill>
                          <a:latin typeface="游ゴシック"/>
                          <a:ea typeface="游ゴシック"/>
                        </a:rPr>
                        <a:t>電話加入権</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50" b="1">
                          <a:solidFill>
                            <a:srgbClr val="000000"/>
                          </a:solidFill>
                          <a:latin typeface="游ゴシック"/>
                          <a:ea typeface="游ゴシック"/>
                        </a:rPr>
                        <a:t>［投資その他資産］</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6,708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△904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5,804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96596">
                <a:tc>
                  <a:txBody>
                    <a:bodyPr wrap="square"/>
                    <a:lstStyle/>
                    <a:p>
                      <a:pPr algn="l"/>
                      <a:r>
                        <a:rPr sz="750" b="0">
                          <a:solidFill>
                            <a:srgbClr val="000000"/>
                          </a:solidFill>
                          <a:latin typeface="游ゴシック"/>
                          <a:ea typeface="游ゴシック"/>
                        </a:rPr>
                        <a:t>出資金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50</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50" b="0">
                          <a:solidFill>
                            <a:srgbClr val="000000"/>
                          </a:solidFill>
                          <a:latin typeface="游ゴシック"/>
                          <a:ea typeface="游ゴシック"/>
                        </a:rPr>
                        <a:t>長期前払費用（信用保証料）</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904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△904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50" b="0">
                          <a:solidFill>
                            <a:srgbClr val="000000"/>
                          </a:solidFill>
                          <a:latin typeface="游ゴシック"/>
                          <a:ea typeface="游ゴシック"/>
                        </a:rPr>
                        <a:t>敷金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5,754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5,754</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50" b="0">
                          <a:solidFill>
                            <a:srgbClr val="000000"/>
                          </a:solidFill>
                          <a:latin typeface="游ゴシック"/>
                          <a:ea typeface="游ゴシック"/>
                        </a:rPr>
                        <a:t>預け保証金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50" b="1">
                          <a:solidFill>
                            <a:srgbClr val="000000"/>
                          </a:solidFill>
                          <a:latin typeface="游ゴシック"/>
                          <a:ea typeface="游ゴシック"/>
                        </a:rPr>
                        <a:t>資産合計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53,321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△1,023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52,298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spTree>
    <p:extLst>
      <p:ext uri="{BB962C8B-B14F-4D97-AF65-F5344CB8AC3E}">
        <p14:creationId xmlns:p14="http://schemas.microsoft.com/office/powerpoint/2010/main" val="1717633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2C329-BBDE-997E-33BB-A9FD47BC642C}"/>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B13BEBD7-E126-4EFC-80E2-30F6E3A5C825}"/>
              </a:ext>
            </a:extLst>
          </p:cNvPr>
          <p:cNvSpPr txBox="1"/>
          <p:nvPr/>
        </p:nvSpPr>
        <p:spPr>
          <a:xfrm>
            <a:off x="5919905" y="1849388"/>
            <a:ext cx="4320000" cy="2299925"/>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800" b="1" spc="50" dirty="0">
                <a:latin typeface="+mj-ea"/>
                <a:ea typeface="+mj-ea"/>
              </a:rPr>
              <a:t>未払金：26年5月期22,987千円のうち、千葉年金事務所7,850千円・労働局627千円（社会保険料・労働保険料）を含む。通常の月次未払分か延滞分かは要確認。延滞分はデットライクとして控除すべきもの。</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00" b="1" spc="50" dirty="0">
                <a:latin typeface="+mj-ea"/>
                <a:ea typeface="+mj-ea"/>
              </a:rPr>
              <a:t>未払費用：5月分賃金（つくば2,401千円、梱包部4,548千円）。給与は月末締め翌12日払。</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00" b="1" spc="50" dirty="0">
                <a:latin typeface="+mj-ea"/>
                <a:ea typeface="+mj-ea"/>
              </a:rPr>
              <a:t>未払消費税等：26年5月期2,227千円。</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00" b="1" spc="50" dirty="0">
                <a:latin typeface="+mj-ea"/>
                <a:ea typeface="+mj-ea"/>
              </a:rPr>
              <a:t>長期借入金：25年5月期に新規借入（日本政策金融公庫20,000千円：年2.80%・毎月260千円返済、佐原信用金庫）を実行。26年5月期末は佐原信用金庫15,478千円、日本政策金融公庫17,160千円。いずれも代表者が連帯保証。</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00" b="1" spc="50" dirty="0">
                <a:latin typeface="+mj-ea"/>
                <a:ea typeface="+mj-ea"/>
              </a:rPr>
              <a:t>純資産：3期連続の当期純損失により、25年5月期に債務超過（△231千円）へ転落、26年5月期は△11,563千円。</a:t>
            </a:r>
            <a:endParaRPr lang="en-US" altLang="ja-JP" sz="1100" b="1" spc="50" dirty="0">
              <a:latin typeface="+mj-ea"/>
              <a:ea typeface="+mj-ea"/>
            </a:endParaRPr>
          </a:p>
        </p:txBody>
      </p:sp>
      <p:sp>
        <p:nvSpPr>
          <p:cNvPr id="4" name="タイトル 3">
            <a:extLst>
              <a:ext uri="{FF2B5EF4-FFF2-40B4-BE49-F238E27FC236}">
                <a16:creationId xmlns:a16="http://schemas.microsoft.com/office/drawing/2014/main" id="{012852EF-C89F-A030-08AF-F6FD92C8DC4C}"/>
              </a:ext>
            </a:extLst>
          </p:cNvPr>
          <p:cNvSpPr>
            <a:spLocks noGrp="1"/>
          </p:cNvSpPr>
          <p:nvPr>
            <p:ph type="ctrTitle"/>
          </p:nvPr>
        </p:nvSpPr>
        <p:spPr/>
        <p:txBody>
          <a:bodyPr/>
          <a:lstStyle/>
          <a:p>
            <a:r>
              <a:rPr lang="en-US" altLang="ja-JP" dirty="0"/>
              <a:t>BS</a:t>
            </a:r>
            <a:r>
              <a:rPr lang="ja-JP" altLang="en-US" dirty="0"/>
              <a:t>補足</a:t>
            </a:r>
            <a:r>
              <a:rPr lang="ja-JP" altLang="en-US" sz="1800" dirty="0"/>
              <a:t>［負債・純資産］</a:t>
            </a:r>
          </a:p>
        </p:txBody>
      </p:sp>
      <p:sp>
        <p:nvSpPr>
          <p:cNvPr id="6" name="タイトル 1">
            <a:extLst>
              <a:ext uri="{FF2B5EF4-FFF2-40B4-BE49-F238E27FC236}">
                <a16:creationId xmlns:a16="http://schemas.microsoft.com/office/drawing/2014/main" id="{D054D60A-9874-6F6C-68B4-54AD036BE44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B027BB31-5712-B589-FAF6-FEF5A19860C5}"/>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15" name="Table 14"/>
          <p:cNvGraphicFramePr>
            <a:graphicFrameLocks noGrp="1"/>
          </p:cNvGraphicFramePr>
          <p:nvPr/>
        </p:nvGraphicFramePr>
        <p:xfrm>
          <a:off x="338328" y="914400"/>
          <a:ext cx="5001768" cy="2523744"/>
        </p:xfrm>
        <a:graphic>
          <a:graphicData uri="http://schemas.openxmlformats.org/drawingml/2006/table">
            <a:tbl>
              <a:tblPr firstRow="0" bandRow="0" firstCol="0" lastRow="0" lastCol="0" bandCol="0"/>
              <a:tblGrid>
                <a:gridCol w="1783080"/>
                <a:gridCol w="804672"/>
                <a:gridCol w="804672"/>
                <a:gridCol w="804672"/>
                <a:gridCol w="804672"/>
              </a:tblGrid>
              <a:tr h="329184">
                <a:tc>
                  <a:txBody>
                    <a:bodyPr wrap="square"/>
                    <a:lstStyle/>
                    <a:p>
                      <a:pPr algn="ctr"/>
                      <a:r>
                        <a:rPr sz="750" b="1">
                          <a:solidFill>
                            <a:srgbClr val="FFFFFF"/>
                          </a:solidFill>
                          <a:latin typeface="游ゴシック"/>
                          <a:ea typeface="游ゴシック"/>
                        </a:rPr>
                        <a:t>負債の部</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24年5月期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25年5月期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26年7月</a:t>
                      </a:r>
                    </a:p>
                    <a:p>
                      <a:pPr algn="ctr"/>
                      <a:r>
                        <a:rPr sz="750" b="1">
                          <a:solidFill>
                            <a:srgbClr val="FFFFFF"/>
                          </a:solidFill>
                          <a:latin typeface="游ゴシック"/>
                          <a:ea typeface="游ゴシック"/>
                        </a:rPr>
                        <a:t>（2か月TB）</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19456">
                <a:tc>
                  <a:txBody>
                    <a:bodyPr wrap="square"/>
                    <a:lstStyle/>
                    <a:p>
                      <a:pPr algn="l"/>
                      <a:r>
                        <a:rPr sz="750" b="1">
                          <a:solidFill>
                            <a:srgbClr val="000000"/>
                          </a:solidFill>
                          <a:latin typeface="游ゴシック"/>
                          <a:ea typeface="游ゴシック"/>
                        </a:rPr>
                        <a:t>【流動負債】</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27,137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24,020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32,247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38,743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19456">
                <a:tc>
                  <a:txBody>
                    <a:bodyPr wrap="square"/>
                    <a:lstStyle/>
                    <a:p>
                      <a:pPr algn="l"/>
                      <a:r>
                        <a:rPr sz="750" b="0">
                          <a:solidFill>
                            <a:srgbClr val="000000"/>
                          </a:solidFill>
                          <a:latin typeface="游ゴシック"/>
                          <a:ea typeface="游ゴシック"/>
                        </a:rPr>
                        <a:t>未払金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15,336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15,370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22,987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25,470</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750" b="0">
                          <a:solidFill>
                            <a:srgbClr val="000000"/>
                          </a:solidFill>
                          <a:latin typeface="游ゴシック"/>
                          <a:ea typeface="游ゴシック"/>
                        </a:rPr>
                        <a:t>未払費用</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9,588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8,398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6,949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7,344</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750" b="0">
                          <a:solidFill>
                            <a:srgbClr val="000000"/>
                          </a:solidFill>
                          <a:latin typeface="游ゴシック"/>
                          <a:ea typeface="游ゴシック"/>
                        </a:rPr>
                        <a:t>未払法人税等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750" b="0">
                          <a:solidFill>
                            <a:srgbClr val="000000"/>
                          </a:solidFill>
                          <a:latin typeface="游ゴシック"/>
                          <a:ea typeface="游ゴシック"/>
                        </a:rPr>
                        <a:t>未払消費税等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1,937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2,227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2,227</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750" b="0">
                          <a:solidFill>
                            <a:srgbClr val="000000"/>
                          </a:solidFill>
                          <a:latin typeface="游ゴシック"/>
                          <a:ea typeface="游ゴシック"/>
                        </a:rPr>
                        <a:t>預り金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206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181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69</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750" b="0">
                          <a:solidFill>
                            <a:srgbClr val="000000"/>
                          </a:solidFill>
                          <a:latin typeface="游ゴシック"/>
                          <a:ea typeface="游ゴシック"/>
                        </a:rPr>
                        <a:t>仮受消費税等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3,632</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750" b="1">
                          <a:solidFill>
                            <a:srgbClr val="000000"/>
                          </a:solidFill>
                          <a:latin typeface="游ゴシック"/>
                          <a:ea typeface="游ゴシック"/>
                        </a:rPr>
                        <a:t>【固定負債】</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38,334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32,638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31,642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19456">
                <a:tc>
                  <a:txBody>
                    <a:bodyPr wrap="square"/>
                    <a:lstStyle/>
                    <a:p>
                      <a:pPr algn="l"/>
                      <a:r>
                        <a:rPr sz="750" b="0">
                          <a:solidFill>
                            <a:srgbClr val="000000"/>
                          </a:solidFill>
                          <a:latin typeface="游ゴシック"/>
                          <a:ea typeface="游ゴシック"/>
                        </a:rPr>
                        <a:t>長期借入金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38,334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32,638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31,642</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750" b="1">
                          <a:solidFill>
                            <a:srgbClr val="000000"/>
                          </a:solidFill>
                          <a:latin typeface="游ゴシック"/>
                          <a:ea typeface="游ゴシック"/>
                        </a:rPr>
                        <a:t>負債合計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27,137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62,354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64,885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70,385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graphicFrame>
        <p:nvGraphicFramePr>
          <p:cNvPr id="16" name="Table 15"/>
          <p:cNvGraphicFramePr>
            <a:graphicFrameLocks noGrp="1"/>
          </p:cNvGraphicFramePr>
          <p:nvPr/>
        </p:nvGraphicFramePr>
        <p:xfrm>
          <a:off x="338328" y="3657600"/>
          <a:ext cx="5001768" cy="2084832"/>
        </p:xfrm>
        <a:graphic>
          <a:graphicData uri="http://schemas.openxmlformats.org/drawingml/2006/table">
            <a:tbl>
              <a:tblPr firstRow="0" bandRow="0" firstCol="0" lastRow="0" lastCol="0" bandCol="0"/>
              <a:tblGrid>
                <a:gridCol w="1783080"/>
                <a:gridCol w="804672"/>
                <a:gridCol w="804672"/>
                <a:gridCol w="804672"/>
                <a:gridCol w="804672"/>
              </a:tblGrid>
              <a:tr h="329184">
                <a:tc>
                  <a:txBody>
                    <a:bodyPr wrap="square"/>
                    <a:lstStyle/>
                    <a:p>
                      <a:pPr algn="ctr"/>
                      <a:r>
                        <a:rPr sz="750" b="1">
                          <a:solidFill>
                            <a:srgbClr val="FFFFFF"/>
                          </a:solidFill>
                          <a:latin typeface="游ゴシック"/>
                          <a:ea typeface="游ゴシック"/>
                        </a:rPr>
                        <a:t>純資産の部</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24年5月期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25年5月期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26年7月</a:t>
                      </a:r>
                    </a:p>
                    <a:p>
                      <a:pPr algn="ctr"/>
                      <a:r>
                        <a:rPr sz="750" b="1">
                          <a:solidFill>
                            <a:srgbClr val="FFFFFF"/>
                          </a:solidFill>
                          <a:latin typeface="游ゴシック"/>
                          <a:ea typeface="游ゴシック"/>
                        </a:rPr>
                        <a:t>（2か月TB）</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19456">
                <a:tc>
                  <a:txBody>
                    <a:bodyPr wrap="square"/>
                    <a:lstStyle/>
                    <a:p>
                      <a:pPr algn="l"/>
                      <a:r>
                        <a:rPr sz="750" b="1">
                          <a:solidFill>
                            <a:srgbClr val="000000"/>
                          </a:solidFill>
                          <a:latin typeface="游ゴシック"/>
                          <a:ea typeface="游ゴシック"/>
                        </a:rPr>
                        <a:t>【資本金】</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10,000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10,000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10,000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10,000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19456">
                <a:tc>
                  <a:txBody>
                    <a:bodyPr wrap="square"/>
                    <a:lstStyle/>
                    <a:p>
                      <a:pPr algn="l"/>
                      <a:r>
                        <a:rPr sz="750" b="0">
                          <a:solidFill>
                            <a:srgbClr val="000000"/>
                          </a:solidFill>
                          <a:latin typeface="游ゴシック"/>
                          <a:ea typeface="游ゴシック"/>
                        </a:rPr>
                        <a:t>資本金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10,000</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750" b="1">
                          <a:solidFill>
                            <a:srgbClr val="000000"/>
                          </a:solidFill>
                          <a:latin typeface="游ゴシック"/>
                          <a:ea typeface="游ゴシック"/>
                        </a:rPr>
                        <a:t>【利益剰余金】</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18,118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△10,231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△21,563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△21,849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19456">
                <a:tc>
                  <a:txBody>
                    <a:bodyPr wrap="square"/>
                    <a:lstStyle/>
                    <a:p>
                      <a:pPr algn="l"/>
                      <a:r>
                        <a:rPr sz="750" b="0">
                          <a:solidFill>
                            <a:srgbClr val="000000"/>
                          </a:solidFill>
                          <a:latin typeface="游ゴシック"/>
                          <a:ea typeface="游ゴシック"/>
                        </a:rPr>
                        <a:t>利益準備金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2,750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2,750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2,750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2,750</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750" b="0">
                          <a:solidFill>
                            <a:srgbClr val="000000"/>
                          </a:solidFill>
                          <a:latin typeface="游ゴシック"/>
                          <a:ea typeface="游ゴシック"/>
                        </a:rPr>
                        <a:t>別途積立金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36,000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36,000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36,000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36,000</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750" b="0">
                          <a:solidFill>
                            <a:srgbClr val="000000"/>
                          </a:solidFill>
                          <a:latin typeface="游ゴシック"/>
                          <a:ea typeface="游ゴシック"/>
                        </a:rPr>
                        <a:t>繰越利益剰余金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△20,632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△48,981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△60,313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△60,599</a:t>
                      </a:r>
                    </a:p>
                  </a:txBody>
                  <a:tcPr marL="45720" marR="45720" marT="9144" marB="9144" anchor="ctr">
                    <a:lnL>
                      <a:noFill/>
                    </a:lnL>
                    <a:lnR>
                      <a:noFill/>
                    </a:lnR>
                    <a:lnT>
                      <a:noFill/>
                    </a:lnT>
                    <a:lnB w="6350" cap="flat" cmpd="sng" algn="ctr">
                      <a:solidFill>
                        <a:srgbClr val="A6A6A6"/>
                      </a:solidFill>
                      <a:prstDash val="solid"/>
                    </a:lnB>
                    <a:noFill/>
                  </a:tcPr>
                </a:tc>
              </a:tr>
              <a:tr h="219456">
                <a:tc>
                  <a:txBody>
                    <a:bodyPr wrap="square"/>
                    <a:lstStyle/>
                    <a:p>
                      <a:pPr algn="l"/>
                      <a:r>
                        <a:rPr sz="750" b="1">
                          <a:solidFill>
                            <a:srgbClr val="000000"/>
                          </a:solidFill>
                          <a:latin typeface="游ゴシック"/>
                          <a:ea typeface="游ゴシック"/>
                        </a:rPr>
                        <a:t>純資産合計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28,118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△231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△11,563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△11,849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19456">
                <a:tc>
                  <a:txBody>
                    <a:bodyPr wrap="square"/>
                    <a:lstStyle/>
                    <a:p>
                      <a:pPr algn="l"/>
                      <a:r>
                        <a:rPr sz="750" b="1">
                          <a:solidFill>
                            <a:srgbClr val="000000"/>
                          </a:solidFill>
                          <a:latin typeface="游ゴシック"/>
                          <a:ea typeface="游ゴシック"/>
                        </a:rPr>
                        <a:t>負債・純資産合計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55,255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62,122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53,321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58,536</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spTree>
    <p:extLst>
      <p:ext uri="{BB962C8B-B14F-4D97-AF65-F5344CB8AC3E}">
        <p14:creationId xmlns:p14="http://schemas.microsoft.com/office/powerpoint/2010/main" val="627659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01069-72DF-A6D5-2DC9-38122B5766A8}"/>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07165E55-3785-323B-D0D9-F2EFA46529D1}"/>
              </a:ext>
            </a:extLst>
          </p:cNvPr>
          <p:cNvSpPr txBox="1"/>
          <p:nvPr/>
        </p:nvSpPr>
        <p:spPr>
          <a:xfrm>
            <a:off x="5919905" y="1849388"/>
            <a:ext cx="4320000" cy="1207318"/>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800" b="1" spc="50" dirty="0">
                <a:latin typeface="+mj-ea"/>
                <a:ea typeface="+mj-ea"/>
              </a:rPr>
              <a:t>負債：未払給与は計上済み、賞与支給慣行なし、退職給付は中退共で外部積立のため、修正なし。</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00" b="1" spc="50" dirty="0">
                <a:latin typeface="+mj-ea"/>
                <a:ea typeface="+mj-ea"/>
              </a:rPr>
              <a:t>純資産：評価修正額△1,023千円を反映した結果、修正後純資産は△12,586千円。</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00" b="1" spc="50" dirty="0">
                <a:latin typeface="+mj-ea"/>
                <a:ea typeface="+mj-ea"/>
              </a:rPr>
              <a:t>税効果：修正額が僅少で、税務上の繰越欠損金も多額のため認識しない。</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00" b="1" spc="50" dirty="0">
                <a:latin typeface="+mj-ea"/>
                <a:ea typeface="+mj-ea"/>
              </a:rPr>
              <a:t>要確認：未払金に含まれる社会保険料・労働保険料8,477千円に延滞分がある場合、ネットキャッシュ上のデットライクとして追加控除が必要。</a:t>
            </a:r>
            <a:endParaRPr lang="en-US" altLang="ja-JP" sz="1100" b="1" spc="50" dirty="0">
              <a:latin typeface="+mj-ea"/>
              <a:ea typeface="+mj-ea"/>
            </a:endParaRPr>
          </a:p>
        </p:txBody>
      </p:sp>
      <p:sp>
        <p:nvSpPr>
          <p:cNvPr id="4" name="タイトル 3">
            <a:extLst>
              <a:ext uri="{FF2B5EF4-FFF2-40B4-BE49-F238E27FC236}">
                <a16:creationId xmlns:a16="http://schemas.microsoft.com/office/drawing/2014/main" id="{4B44719C-88E4-C2E8-E209-EEC4A9F272D2}"/>
              </a:ext>
            </a:extLst>
          </p:cNvPr>
          <p:cNvSpPr>
            <a:spLocks noGrp="1"/>
          </p:cNvSpPr>
          <p:nvPr>
            <p:ph type="ctrTitle"/>
          </p:nvPr>
        </p:nvSpPr>
        <p:spPr/>
        <p:txBody>
          <a:bodyPr/>
          <a:lstStyle/>
          <a:p>
            <a:r>
              <a:rPr lang="ja-JP" altLang="en-US" dirty="0"/>
              <a:t>修正</a:t>
            </a:r>
            <a:r>
              <a:rPr lang="en-US" altLang="ja-JP" dirty="0"/>
              <a:t>BS</a:t>
            </a:r>
            <a:r>
              <a:rPr lang="ja-JP" altLang="en-US" sz="1800" dirty="0"/>
              <a:t>［負債・純資産］</a:t>
            </a:r>
          </a:p>
        </p:txBody>
      </p:sp>
      <p:sp>
        <p:nvSpPr>
          <p:cNvPr id="6" name="タイトル 1">
            <a:extLst>
              <a:ext uri="{FF2B5EF4-FFF2-40B4-BE49-F238E27FC236}">
                <a16:creationId xmlns:a16="http://schemas.microsoft.com/office/drawing/2014/main" id="{EED50456-622D-7517-0703-96034524068C}"/>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27865103-507D-37F1-F6F9-CDEC35B6E872}"/>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15" name="Table 14"/>
          <p:cNvGraphicFramePr>
            <a:graphicFrameLocks noGrp="1"/>
          </p:cNvGraphicFramePr>
          <p:nvPr/>
        </p:nvGraphicFramePr>
        <p:xfrm>
          <a:off x="338328" y="914400"/>
          <a:ext cx="4983480" cy="5120640"/>
        </p:xfrm>
        <a:graphic>
          <a:graphicData uri="http://schemas.openxmlformats.org/drawingml/2006/table">
            <a:tbl>
              <a:tblPr firstRow="0" bandRow="0" firstCol="0" lastRow="0" lastCol="0" bandCol="0"/>
              <a:tblGrid>
                <a:gridCol w="2103120"/>
                <a:gridCol w="960120"/>
                <a:gridCol w="960120"/>
                <a:gridCol w="960120"/>
              </a:tblGrid>
              <a:tr h="256032">
                <a:tc>
                  <a:txBody>
                    <a:bodyPr wrap="square"/>
                    <a:lstStyle/>
                    <a:p>
                      <a:pPr algn="ctr"/>
                      <a:r>
                        <a:rPr sz="800" b="1">
                          <a:solidFill>
                            <a:srgbClr val="FFFFFF"/>
                          </a:solidFill>
                          <a:latin typeface="游ゴシック"/>
                          <a:ea typeface="游ゴシック"/>
                        </a:rPr>
                        <a:t>科目</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修正額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800" b="1">
                          <a:solidFill>
                            <a:srgbClr val="FFFFFF"/>
                          </a:solidFill>
                          <a:latin typeface="游ゴシック"/>
                          <a:ea typeface="游ゴシック"/>
                        </a:rPr>
                        <a:t>修正後</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56032">
                <a:tc>
                  <a:txBody>
                    <a:bodyPr wrap="square"/>
                    <a:lstStyle/>
                    <a:p>
                      <a:pPr algn="l"/>
                      <a:r>
                        <a:rPr sz="800" b="1">
                          <a:solidFill>
                            <a:srgbClr val="000000"/>
                          </a:solidFill>
                          <a:latin typeface="游ゴシック"/>
                          <a:ea typeface="游ゴシック"/>
                        </a:rPr>
                        <a:t>【流動負債】</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32,247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32,247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56032">
                <a:tc>
                  <a:txBody>
                    <a:bodyPr wrap="square"/>
                    <a:lstStyle/>
                    <a:p>
                      <a:pPr algn="l"/>
                      <a:r>
                        <a:rPr sz="800" b="0">
                          <a:solidFill>
                            <a:srgbClr val="000000"/>
                          </a:solidFill>
                          <a:latin typeface="游ゴシック"/>
                          <a:ea typeface="游ゴシック"/>
                        </a:rPr>
                        <a:t>未払金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22,987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22,987</a:t>
                      </a:r>
                    </a:p>
                  </a:txBody>
                  <a:tcPr marL="45720" marR="45720" marT="9144" marB="9144" anchor="ctr">
                    <a:lnL>
                      <a:noFill/>
                    </a:lnL>
                    <a:lnR>
                      <a:noFill/>
                    </a:lnR>
                    <a:lnT>
                      <a:noFill/>
                    </a:lnT>
                    <a:lnB w="6350" cap="flat" cmpd="sng" algn="ctr">
                      <a:solidFill>
                        <a:srgbClr val="A6A6A6"/>
                      </a:solidFill>
                      <a:prstDash val="solid"/>
                    </a:lnB>
                    <a:noFill/>
                  </a:tcPr>
                </a:tc>
              </a:tr>
              <a:tr h="256032">
                <a:tc>
                  <a:txBody>
                    <a:bodyPr wrap="square"/>
                    <a:lstStyle/>
                    <a:p>
                      <a:pPr algn="l"/>
                      <a:r>
                        <a:rPr sz="800" b="0">
                          <a:solidFill>
                            <a:srgbClr val="000000"/>
                          </a:solidFill>
                          <a:latin typeface="游ゴシック"/>
                          <a:ea typeface="游ゴシック"/>
                        </a:rPr>
                        <a:t>未払費用</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6,949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6,949</a:t>
                      </a:r>
                    </a:p>
                  </a:txBody>
                  <a:tcPr marL="45720" marR="45720" marT="9144" marB="9144" anchor="ctr">
                    <a:lnL>
                      <a:noFill/>
                    </a:lnL>
                    <a:lnR>
                      <a:noFill/>
                    </a:lnR>
                    <a:lnT>
                      <a:noFill/>
                    </a:lnT>
                    <a:lnB w="6350" cap="flat" cmpd="sng" algn="ctr">
                      <a:solidFill>
                        <a:srgbClr val="A6A6A6"/>
                      </a:solidFill>
                      <a:prstDash val="solid"/>
                    </a:lnB>
                    <a:noFill/>
                  </a:tcPr>
                </a:tc>
              </a:tr>
              <a:tr h="256032">
                <a:tc>
                  <a:txBody>
                    <a:bodyPr wrap="square"/>
                    <a:lstStyle/>
                    <a:p>
                      <a:pPr algn="l"/>
                      <a:r>
                        <a:rPr sz="800" b="0">
                          <a:solidFill>
                            <a:srgbClr val="000000"/>
                          </a:solidFill>
                          <a:latin typeface="游ゴシック"/>
                          <a:ea typeface="游ゴシック"/>
                        </a:rPr>
                        <a:t>未払法人税等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r>
              <a:tr h="256032">
                <a:tc>
                  <a:txBody>
                    <a:bodyPr wrap="square"/>
                    <a:lstStyle/>
                    <a:p>
                      <a:pPr algn="l"/>
                      <a:r>
                        <a:rPr sz="800" b="0">
                          <a:solidFill>
                            <a:srgbClr val="000000"/>
                          </a:solidFill>
                          <a:latin typeface="游ゴシック"/>
                          <a:ea typeface="游ゴシック"/>
                        </a:rPr>
                        <a:t>未払消費税等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2,227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2,227</a:t>
                      </a:r>
                    </a:p>
                  </a:txBody>
                  <a:tcPr marL="45720" marR="45720" marT="9144" marB="9144" anchor="ctr">
                    <a:lnL>
                      <a:noFill/>
                    </a:lnL>
                    <a:lnR>
                      <a:noFill/>
                    </a:lnR>
                    <a:lnT>
                      <a:noFill/>
                    </a:lnT>
                    <a:lnB w="6350" cap="flat" cmpd="sng" algn="ctr">
                      <a:solidFill>
                        <a:srgbClr val="A6A6A6"/>
                      </a:solidFill>
                      <a:prstDash val="solid"/>
                    </a:lnB>
                    <a:noFill/>
                  </a:tcPr>
                </a:tc>
              </a:tr>
              <a:tr h="256032">
                <a:tc>
                  <a:txBody>
                    <a:bodyPr wrap="square"/>
                    <a:lstStyle/>
                    <a:p>
                      <a:pPr algn="l"/>
                      <a:r>
                        <a:rPr sz="800" b="0">
                          <a:solidFill>
                            <a:srgbClr val="000000"/>
                          </a:solidFill>
                          <a:latin typeface="游ゴシック"/>
                          <a:ea typeface="游ゴシック"/>
                        </a:rPr>
                        <a:t>預り金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15</a:t>
                      </a:r>
                    </a:p>
                  </a:txBody>
                  <a:tcPr marL="45720" marR="45720" marT="9144" marB="9144" anchor="ctr">
                    <a:lnL>
                      <a:noFill/>
                    </a:lnL>
                    <a:lnR>
                      <a:noFill/>
                    </a:lnR>
                    <a:lnT>
                      <a:noFill/>
                    </a:lnT>
                    <a:lnB w="6350" cap="flat" cmpd="sng" algn="ctr">
                      <a:solidFill>
                        <a:srgbClr val="A6A6A6"/>
                      </a:solidFill>
                      <a:prstDash val="solid"/>
                    </a:lnB>
                    <a:noFill/>
                  </a:tcPr>
                </a:tc>
              </a:tr>
              <a:tr h="256032">
                <a:tc>
                  <a:txBody>
                    <a:bodyPr wrap="square"/>
                    <a:lstStyle/>
                    <a:p>
                      <a:pPr algn="l"/>
                      <a:r>
                        <a:rPr sz="800" b="0">
                          <a:solidFill>
                            <a:srgbClr val="000000"/>
                          </a:solidFill>
                          <a:latin typeface="游ゴシック"/>
                          <a:ea typeface="游ゴシック"/>
                        </a:rPr>
                        <a:t>仮受消費税等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56032">
                <a:tc>
                  <a:txBody>
                    <a:bodyPr wrap="square"/>
                    <a:lstStyle/>
                    <a:p>
                      <a:pPr algn="l"/>
                      <a:r>
                        <a:rPr sz="800" b="1">
                          <a:solidFill>
                            <a:srgbClr val="000000"/>
                          </a:solidFill>
                          <a:latin typeface="游ゴシック"/>
                          <a:ea typeface="游ゴシック"/>
                        </a:rPr>
                        <a:t>【固定負債】</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32,638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32,638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56032">
                <a:tc>
                  <a:txBody>
                    <a:bodyPr wrap="square"/>
                    <a:lstStyle/>
                    <a:p>
                      <a:pPr algn="l"/>
                      <a:r>
                        <a:rPr sz="800" b="0">
                          <a:solidFill>
                            <a:srgbClr val="000000"/>
                          </a:solidFill>
                          <a:latin typeface="游ゴシック"/>
                          <a:ea typeface="游ゴシック"/>
                        </a:rPr>
                        <a:t>長期借入金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32,638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32,638</a:t>
                      </a:r>
                    </a:p>
                  </a:txBody>
                  <a:tcPr marL="45720" marR="45720" marT="9144" marB="9144" anchor="ctr">
                    <a:lnL>
                      <a:noFill/>
                    </a:lnL>
                    <a:lnR>
                      <a:noFill/>
                    </a:lnR>
                    <a:lnT>
                      <a:noFill/>
                    </a:lnT>
                    <a:lnB w="6350" cap="flat" cmpd="sng" algn="ctr">
                      <a:solidFill>
                        <a:srgbClr val="A6A6A6"/>
                      </a:solidFill>
                      <a:prstDash val="solid"/>
                    </a:lnB>
                    <a:noFill/>
                  </a:tcPr>
                </a:tc>
              </a:tr>
              <a:tr h="256032">
                <a:tc>
                  <a:txBody>
                    <a:bodyPr wrap="square"/>
                    <a:lstStyle/>
                    <a:p>
                      <a:pPr algn="l"/>
                      <a:r>
                        <a:rPr sz="800" b="1">
                          <a:solidFill>
                            <a:srgbClr val="000000"/>
                          </a:solidFill>
                          <a:latin typeface="游ゴシック"/>
                          <a:ea typeface="游ゴシック"/>
                        </a:rPr>
                        <a:t>負債合計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64,885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64,885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56032">
                <a:tc>
                  <a:txBody>
                    <a:bodyPr wrap="square"/>
                    <a:lstStyle/>
                    <a:p>
                      <a:pPr algn="l"/>
                      <a:r>
                        <a:rPr sz="800" b="1">
                          <a:solidFill>
                            <a:srgbClr val="000000"/>
                          </a:solidFill>
                          <a:latin typeface="游ゴシック"/>
                          <a:ea typeface="游ゴシック"/>
                        </a:rPr>
                        <a:t>【資本金】</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10,000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10,000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56032">
                <a:tc>
                  <a:txBody>
                    <a:bodyPr wrap="square"/>
                    <a:lstStyle/>
                    <a:p>
                      <a:pPr algn="l"/>
                      <a:r>
                        <a:rPr sz="800" b="0">
                          <a:solidFill>
                            <a:srgbClr val="000000"/>
                          </a:solidFill>
                          <a:latin typeface="游ゴシック"/>
                          <a:ea typeface="游ゴシック"/>
                        </a:rPr>
                        <a:t>資本金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10,000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10,000</a:t>
                      </a:r>
                    </a:p>
                  </a:txBody>
                  <a:tcPr marL="45720" marR="45720" marT="9144" marB="9144" anchor="ctr">
                    <a:lnL>
                      <a:noFill/>
                    </a:lnL>
                    <a:lnR>
                      <a:noFill/>
                    </a:lnR>
                    <a:lnT>
                      <a:noFill/>
                    </a:lnT>
                    <a:lnB w="6350" cap="flat" cmpd="sng" algn="ctr">
                      <a:solidFill>
                        <a:srgbClr val="A6A6A6"/>
                      </a:solidFill>
                      <a:prstDash val="solid"/>
                    </a:lnB>
                    <a:noFill/>
                  </a:tcPr>
                </a:tc>
              </a:tr>
              <a:tr h="256032">
                <a:tc>
                  <a:txBody>
                    <a:bodyPr wrap="square"/>
                    <a:lstStyle/>
                    <a:p>
                      <a:pPr algn="l"/>
                      <a:r>
                        <a:rPr sz="800" b="1">
                          <a:solidFill>
                            <a:srgbClr val="000000"/>
                          </a:solidFill>
                          <a:latin typeface="游ゴシック"/>
                          <a:ea typeface="游ゴシック"/>
                        </a:rPr>
                        <a:t>【利益剰余金】</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△21,563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△21,563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56032">
                <a:tc>
                  <a:txBody>
                    <a:bodyPr wrap="square"/>
                    <a:lstStyle/>
                    <a:p>
                      <a:pPr algn="l"/>
                      <a:r>
                        <a:rPr sz="800" b="0">
                          <a:solidFill>
                            <a:srgbClr val="000000"/>
                          </a:solidFill>
                          <a:latin typeface="游ゴシック"/>
                          <a:ea typeface="游ゴシック"/>
                        </a:rPr>
                        <a:t>利益準備金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2,750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2,750</a:t>
                      </a:r>
                    </a:p>
                  </a:txBody>
                  <a:tcPr marL="45720" marR="45720" marT="9144" marB="9144" anchor="ctr">
                    <a:lnL>
                      <a:noFill/>
                    </a:lnL>
                    <a:lnR>
                      <a:noFill/>
                    </a:lnR>
                    <a:lnT>
                      <a:noFill/>
                    </a:lnT>
                    <a:lnB w="6350" cap="flat" cmpd="sng" algn="ctr">
                      <a:solidFill>
                        <a:srgbClr val="A6A6A6"/>
                      </a:solidFill>
                      <a:prstDash val="solid"/>
                    </a:lnB>
                    <a:noFill/>
                  </a:tcPr>
                </a:tc>
              </a:tr>
              <a:tr h="256032">
                <a:tc>
                  <a:txBody>
                    <a:bodyPr wrap="square"/>
                    <a:lstStyle/>
                    <a:p>
                      <a:pPr algn="l"/>
                      <a:r>
                        <a:rPr sz="800" b="0">
                          <a:solidFill>
                            <a:srgbClr val="000000"/>
                          </a:solidFill>
                          <a:latin typeface="游ゴシック"/>
                          <a:ea typeface="游ゴシック"/>
                        </a:rPr>
                        <a:t>別途積立金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36,000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36,000</a:t>
                      </a:r>
                    </a:p>
                  </a:txBody>
                  <a:tcPr marL="45720" marR="45720" marT="9144" marB="9144" anchor="ctr">
                    <a:lnL>
                      <a:noFill/>
                    </a:lnL>
                    <a:lnR>
                      <a:noFill/>
                    </a:lnR>
                    <a:lnT>
                      <a:noFill/>
                    </a:lnT>
                    <a:lnB w="6350" cap="flat" cmpd="sng" algn="ctr">
                      <a:solidFill>
                        <a:srgbClr val="A6A6A6"/>
                      </a:solidFill>
                      <a:prstDash val="solid"/>
                    </a:lnB>
                    <a:noFill/>
                  </a:tcPr>
                </a:tc>
              </a:tr>
              <a:tr h="256032">
                <a:tc>
                  <a:txBody>
                    <a:bodyPr wrap="square"/>
                    <a:lstStyle/>
                    <a:p>
                      <a:pPr algn="l"/>
                      <a:r>
                        <a:rPr sz="800" b="0">
                          <a:solidFill>
                            <a:srgbClr val="000000"/>
                          </a:solidFill>
                          <a:latin typeface="游ゴシック"/>
                          <a:ea typeface="游ゴシック"/>
                        </a:rPr>
                        <a:t>繰越利益剰余金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△60,313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800" b="0">
                          <a:solidFill>
                            <a:srgbClr val="000000"/>
                          </a:solidFill>
                          <a:latin typeface="Arial"/>
                          <a:ea typeface="游ゴシック Medium"/>
                        </a:rPr>
                        <a:t>△60,313</a:t>
                      </a:r>
                    </a:p>
                  </a:txBody>
                  <a:tcPr marL="45720" marR="45720" marT="9144" marB="9144" anchor="ctr">
                    <a:lnL>
                      <a:noFill/>
                    </a:lnL>
                    <a:lnR>
                      <a:noFill/>
                    </a:lnR>
                    <a:lnT>
                      <a:noFill/>
                    </a:lnT>
                    <a:lnB w="6350" cap="flat" cmpd="sng" algn="ctr">
                      <a:solidFill>
                        <a:srgbClr val="A6A6A6"/>
                      </a:solidFill>
                      <a:prstDash val="solid"/>
                    </a:lnB>
                    <a:noFill/>
                  </a:tcPr>
                </a:tc>
              </a:tr>
              <a:tr h="256032">
                <a:tc>
                  <a:txBody>
                    <a:bodyPr wrap="square"/>
                    <a:lstStyle/>
                    <a:p>
                      <a:pPr algn="l"/>
                      <a:r>
                        <a:rPr sz="800" b="1">
                          <a:solidFill>
                            <a:srgbClr val="000000"/>
                          </a:solidFill>
                          <a:latin typeface="游ゴシック"/>
                          <a:ea typeface="游ゴシック"/>
                        </a:rPr>
                        <a:t>【評価修正額】</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△1,023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△1,023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56032">
                <a:tc>
                  <a:txBody>
                    <a:bodyPr wrap="square"/>
                    <a:lstStyle/>
                    <a:p>
                      <a:pPr algn="l"/>
                      <a:r>
                        <a:rPr sz="800" b="1">
                          <a:solidFill>
                            <a:srgbClr val="000000"/>
                          </a:solidFill>
                          <a:latin typeface="游ゴシック"/>
                          <a:ea typeface="游ゴシック"/>
                        </a:rPr>
                        <a:t>純資産合計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△11,563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△1,023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△12,586</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56032">
                <a:tc>
                  <a:txBody>
                    <a:bodyPr wrap="square"/>
                    <a:lstStyle/>
                    <a:p>
                      <a:pPr algn="l"/>
                      <a:r>
                        <a:rPr sz="800" b="1">
                          <a:solidFill>
                            <a:srgbClr val="000000"/>
                          </a:solidFill>
                          <a:latin typeface="游ゴシック"/>
                          <a:ea typeface="游ゴシック"/>
                        </a:rPr>
                        <a:t>負債・純資産合計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53,321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△1,023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800" b="1">
                          <a:solidFill>
                            <a:srgbClr val="000000"/>
                          </a:solidFill>
                          <a:latin typeface="Arial"/>
                          <a:ea typeface="游ゴシック Medium"/>
                        </a:rPr>
                        <a:t>52,298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spTree>
    <p:extLst>
      <p:ext uri="{BB962C8B-B14F-4D97-AF65-F5344CB8AC3E}">
        <p14:creationId xmlns:p14="http://schemas.microsoft.com/office/powerpoint/2010/main" val="15244458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924A-DBCC-BA2E-3DAE-B087BA11D028}"/>
            </a:ext>
          </a:extLst>
        </p:cNvPr>
        <p:cNvGrpSpPr/>
        <p:nvPr/>
      </p:nvGrpSpPr>
      <p:grpSpPr>
        <a:xfrm>
          <a:off x="0" y="0"/>
          <a:ext cx="0" cy="0"/>
          <a:chOff x="0" y="0"/>
          <a:chExt cx="0" cy="0"/>
        </a:xfrm>
      </p:grpSpPr>
      <p:sp>
        <p:nvSpPr>
          <p:cNvPr id="9" name="タイトル 8">
            <a:extLst>
              <a:ext uri="{FF2B5EF4-FFF2-40B4-BE49-F238E27FC236}">
                <a16:creationId xmlns:a16="http://schemas.microsoft.com/office/drawing/2014/main" id="{3457B52A-EE32-66A1-E9D7-A16C41555BD4}"/>
              </a:ext>
            </a:extLst>
          </p:cNvPr>
          <p:cNvSpPr>
            <a:spLocks noGrp="1"/>
          </p:cNvSpPr>
          <p:nvPr>
            <p:ph type="ctrTitle"/>
          </p:nvPr>
        </p:nvSpPr>
        <p:spPr/>
        <p:txBody>
          <a:bodyPr/>
          <a:lstStyle/>
          <a:p>
            <a:r>
              <a:rPr lang="ja-JP" altLang="en-US" dirty="0"/>
              <a:t>ネットキャッシュの算定</a:t>
            </a:r>
            <a:endParaRPr lang="ja-JP" altLang="en-US" sz="1800" dirty="0"/>
          </a:p>
        </p:txBody>
      </p:sp>
      <p:sp>
        <p:nvSpPr>
          <p:cNvPr id="3" name="タイトル 1">
            <a:extLst>
              <a:ext uri="{FF2B5EF4-FFF2-40B4-BE49-F238E27FC236}">
                <a16:creationId xmlns:a16="http://schemas.microsoft.com/office/drawing/2014/main" id="{A669AB92-1457-701A-1752-55CB309BC70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10" name="Table 9"/>
          <p:cNvGraphicFramePr>
            <a:graphicFrameLocks noGrp="1"/>
          </p:cNvGraphicFramePr>
          <p:nvPr/>
        </p:nvGraphicFramePr>
        <p:xfrm>
          <a:off x="338328" y="914400"/>
          <a:ext cx="10012680" cy="1828800"/>
        </p:xfrm>
        <a:graphic>
          <a:graphicData uri="http://schemas.openxmlformats.org/drawingml/2006/table">
            <a:tbl>
              <a:tblPr firstRow="0" bandRow="0" firstCol="0" lastRow="0" lastCol="0" bandCol="0"/>
              <a:tblGrid>
                <a:gridCol w="3108960"/>
                <a:gridCol w="1737360"/>
                <a:gridCol w="320040"/>
                <a:gridCol w="3108960"/>
                <a:gridCol w="1737360"/>
              </a:tblGrid>
              <a:tr h="365760">
                <a:tc>
                  <a:txBody>
                    <a:bodyPr wrap="square"/>
                    <a:lstStyle/>
                    <a:p>
                      <a:pPr algn="ctr"/>
                      <a:r>
                        <a:rPr sz="1000" b="1">
                          <a:solidFill>
                            <a:srgbClr val="FFFFFF"/>
                          </a:solidFill>
                          <a:latin typeface="游ゴシック"/>
                          <a:ea typeface="游ゴシック"/>
                        </a:rPr>
                        <a:t>キャッシュライクアイテム</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1000" b="1">
                          <a:solidFill>
                            <a:srgbClr val="FFFFFF"/>
                          </a:solidFill>
                          <a:latin typeface="游ゴシック"/>
                          <a:ea typeface="游ゴシック"/>
                        </a:rPr>
                        <a:t>金額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l"/>
                      <a:r>
                        <a:rPr sz="100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ctr"/>
                      <a:r>
                        <a:rPr sz="1000" b="1">
                          <a:solidFill>
                            <a:srgbClr val="FFFFFF"/>
                          </a:solidFill>
                          <a:latin typeface="游ゴシック"/>
                          <a:ea typeface="游ゴシック"/>
                        </a:rPr>
                        <a:t>デットライクアイテム</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1000" b="1">
                          <a:solidFill>
                            <a:srgbClr val="FFFFFF"/>
                          </a:solidFill>
                          <a:latin typeface="游ゴシック"/>
                          <a:ea typeface="游ゴシック"/>
                        </a:rPr>
                        <a:t>金額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365760">
                <a:tc>
                  <a:txBody>
                    <a:bodyPr wrap="square"/>
                    <a:lstStyle/>
                    <a:p>
                      <a:pPr algn="l"/>
                      <a:r>
                        <a:rPr sz="1000" b="0">
                          <a:solidFill>
                            <a:srgbClr val="000000"/>
                          </a:solidFill>
                          <a:latin typeface="游ゴシック"/>
                          <a:ea typeface="游ゴシック"/>
                        </a:rPr>
                        <a:t>現金及び預金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1000" b="0">
                          <a:solidFill>
                            <a:srgbClr val="000000"/>
                          </a:solidFill>
                          <a:latin typeface="Arial"/>
                          <a:ea typeface="游ゴシック Medium"/>
                        </a:rPr>
                        <a:t>4,903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100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1000" b="0">
                          <a:solidFill>
                            <a:srgbClr val="000000"/>
                          </a:solidFill>
                          <a:latin typeface="游ゴシック"/>
                          <a:ea typeface="游ゴシック"/>
                        </a:rPr>
                        <a:t>長期借入金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1000" b="0">
                          <a:solidFill>
                            <a:srgbClr val="000000"/>
                          </a:solidFill>
                          <a:latin typeface="Arial"/>
                          <a:ea typeface="游ゴシック Medium"/>
                        </a:rPr>
                        <a:t>32,638</a:t>
                      </a:r>
                    </a:p>
                  </a:txBody>
                  <a:tcPr marL="45720" marR="45720" marT="9144" marB="9144" anchor="ctr">
                    <a:lnL>
                      <a:noFill/>
                    </a:lnL>
                    <a:lnR>
                      <a:noFill/>
                    </a:lnR>
                    <a:lnT>
                      <a:noFill/>
                    </a:lnT>
                    <a:lnB w="6350" cap="flat" cmpd="sng" algn="ctr">
                      <a:solidFill>
                        <a:srgbClr val="A6A6A6"/>
                      </a:solidFill>
                      <a:prstDash val="solid"/>
                    </a:lnB>
                    <a:noFill/>
                  </a:tcPr>
                </a:tc>
              </a:tr>
              <a:tr h="365760">
                <a:tc>
                  <a:txBody>
                    <a:bodyPr wrap="square"/>
                    <a:lstStyle/>
                    <a:p>
                      <a:pPr algn="l"/>
                      <a:r>
                        <a:rPr sz="100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1000" b="0">
                          <a:solidFill>
                            <a:srgbClr val="000000"/>
                          </a:solidFill>
                          <a:latin typeface="Arial"/>
                          <a:ea typeface="游ゴシック Medium"/>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100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1000" b="0">
                          <a:solidFill>
                            <a:srgbClr val="000000"/>
                          </a:solidFill>
                          <a:latin typeface="游ゴシック"/>
                          <a:ea typeface="游ゴシック"/>
                        </a:rPr>
                        <a:t>未払法人税等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100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r>
              <a:tr h="365760">
                <a:tc>
                  <a:txBody>
                    <a:bodyPr wrap="square"/>
                    <a:lstStyle/>
                    <a:p>
                      <a:pPr algn="l"/>
                      <a:r>
                        <a:rPr sz="1000" b="1">
                          <a:solidFill>
                            <a:srgbClr val="000000"/>
                          </a:solidFill>
                          <a:latin typeface="游ゴシック"/>
                          <a:ea typeface="游ゴシック"/>
                        </a:rPr>
                        <a:t>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1000" b="1">
                          <a:solidFill>
                            <a:srgbClr val="000000"/>
                          </a:solidFill>
                          <a:latin typeface="Arial"/>
                          <a:ea typeface="游ゴシック Medium"/>
                        </a:rPr>
                        <a:t>4,903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l"/>
                      <a:r>
                        <a:rPr sz="100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1000" b="1">
                          <a:solidFill>
                            <a:srgbClr val="000000"/>
                          </a:solidFill>
                          <a:latin typeface="游ゴシック"/>
                          <a:ea typeface="游ゴシック"/>
                        </a:rPr>
                        <a:t>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1000" b="1">
                          <a:solidFill>
                            <a:srgbClr val="000000"/>
                          </a:solidFill>
                          <a:latin typeface="Arial"/>
                          <a:ea typeface="游ゴシック Medium"/>
                        </a:rPr>
                        <a:t>32,708</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365760">
                <a:tc>
                  <a:txBody>
                    <a:bodyPr wrap="square"/>
                    <a:lstStyle/>
                    <a:p>
                      <a:pPr algn="l"/>
                      <a:r>
                        <a:rPr sz="1000" b="1">
                          <a:solidFill>
                            <a:srgbClr val="000000"/>
                          </a:solidFill>
                          <a:latin typeface="游ゴシック"/>
                          <a:ea typeface="游ゴシック"/>
                        </a:rPr>
                        <a:t>ネットキャッシュ</a:t>
                      </a:r>
                    </a:p>
                  </a:txBody>
                  <a:tcPr marL="45720" marR="45720" marT="9144" marB="9144" anchor="ctr">
                    <a:lnL>
                      <a:noFill/>
                    </a:lnL>
                    <a:lnR>
                      <a:noFill/>
                    </a:lnR>
                    <a:lnT>
                      <a:noFill/>
                    </a:lnT>
                    <a:lnB w="6350" cap="flat" cmpd="sng" algn="ctr">
                      <a:solidFill>
                        <a:srgbClr val="A6A6A6"/>
                      </a:solidFill>
                      <a:prstDash val="solid"/>
                    </a:lnB>
                    <a:solidFill>
                      <a:srgbClr val="E1F3FB"/>
                    </a:solidFill>
                  </a:tcPr>
                </a:tc>
                <a:tc>
                  <a:txBody>
                    <a:bodyPr wrap="square"/>
                    <a:lstStyle/>
                    <a:p>
                      <a:pPr algn="r"/>
                      <a:r>
                        <a:rPr sz="1000" b="1">
                          <a:solidFill>
                            <a:srgbClr val="000000"/>
                          </a:solidFill>
                          <a:latin typeface="Arial"/>
                          <a:ea typeface="游ゴシック Medium"/>
                        </a:rPr>
                        <a:t>△27,805</a:t>
                      </a:r>
                    </a:p>
                  </a:txBody>
                  <a:tcPr marL="45720" marR="45720" marT="9144" marB="9144" anchor="ctr">
                    <a:lnL>
                      <a:noFill/>
                    </a:lnL>
                    <a:lnR>
                      <a:noFill/>
                    </a:lnR>
                    <a:lnT>
                      <a:noFill/>
                    </a:lnT>
                    <a:lnB w="6350" cap="flat" cmpd="sng" algn="ctr">
                      <a:solidFill>
                        <a:srgbClr val="A6A6A6"/>
                      </a:solidFill>
                      <a:prstDash val="solid"/>
                    </a:lnB>
                    <a:solidFill>
                      <a:srgbClr val="E1F3FB"/>
                    </a:solidFill>
                  </a:tcPr>
                </a:tc>
                <a:tc>
                  <a:txBody>
                    <a:bodyPr wrap="square"/>
                    <a:lstStyle/>
                    <a:p>
                      <a:pPr algn="l"/>
                      <a:r>
                        <a:rPr sz="1000" b="0">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l"/>
                      <a:r>
                        <a:rPr sz="1000" b="1">
                          <a:solidFill>
                            <a:srgbClr val="000000"/>
                          </a:solidFill>
                          <a:latin typeface="游ゴシック"/>
                          <a:ea typeface="游ゴシック"/>
                        </a:rPr>
                        <a:t>　</a:t>
                      </a:r>
                    </a:p>
                  </a:txBody>
                  <a:tcPr marL="45720" marR="45720" marT="9144" marB="9144" anchor="ctr">
                    <a:lnL>
                      <a:noFill/>
                    </a:lnL>
                    <a:lnR>
                      <a:noFill/>
                    </a:lnR>
                    <a:lnT>
                      <a:noFill/>
                    </a:lnT>
                    <a:lnB w="6350" cap="flat" cmpd="sng" algn="ctr">
                      <a:solidFill>
                        <a:srgbClr val="A6A6A6"/>
                      </a:solidFill>
                      <a:prstDash val="solid"/>
                    </a:lnB>
                    <a:solidFill>
                      <a:srgbClr val="E1F3FB"/>
                    </a:solidFill>
                  </a:tcPr>
                </a:tc>
                <a:tc>
                  <a:txBody>
                    <a:bodyPr wrap="square"/>
                    <a:lstStyle/>
                    <a:p>
                      <a:pPr algn="r"/>
                      <a:r>
                        <a:rPr sz="1000" b="1">
                          <a:solidFill>
                            <a:srgbClr val="000000"/>
                          </a:solidFill>
                          <a:latin typeface="Arial"/>
                          <a:ea typeface="游ゴシック Medium"/>
                        </a:rPr>
                        <a:t>　</a:t>
                      </a:r>
                    </a:p>
                  </a:txBody>
                  <a:tcPr marL="45720" marR="45720" marT="9144" marB="9144" anchor="ctr">
                    <a:lnL>
                      <a:noFill/>
                    </a:lnL>
                    <a:lnR>
                      <a:noFill/>
                    </a:lnR>
                    <a:lnT>
                      <a:noFill/>
                    </a:lnT>
                    <a:lnB w="6350" cap="flat" cmpd="sng" algn="ctr">
                      <a:solidFill>
                        <a:srgbClr val="A6A6A6"/>
                      </a:solidFill>
                      <a:prstDash val="solid"/>
                    </a:lnB>
                    <a:solidFill>
                      <a:srgbClr val="E1F3FB"/>
                    </a:solidFill>
                  </a:tcPr>
                </a:tc>
              </a:tr>
            </a:tbl>
          </a:graphicData>
        </a:graphic>
      </p:graphicFrame>
      <p:sp>
        <p:nvSpPr>
          <p:cNvPr id="11" name="Rectangle 10"/>
          <p:cNvSpPr/>
          <p:nvPr/>
        </p:nvSpPr>
        <p:spPr>
          <a:xfrm>
            <a:off x="9253728" y="731520"/>
            <a:ext cx="1097280" cy="1645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r"/>
            <a:r>
              <a:rPr sz="750" b="0">
                <a:solidFill>
                  <a:srgbClr val="000000"/>
                </a:solidFill>
                <a:latin typeface="游ゴシック Medium"/>
                <a:ea typeface="游ゴシック Medium"/>
              </a:rPr>
              <a:t>(単位：千円)</a:t>
            </a:r>
          </a:p>
        </p:txBody>
      </p:sp>
      <p:sp>
        <p:nvSpPr>
          <p:cNvPr id="12" name="Rectangle 11"/>
          <p:cNvSpPr/>
          <p:nvPr/>
        </p:nvSpPr>
        <p:spPr>
          <a:xfrm>
            <a:off x="338328" y="3017520"/>
            <a:ext cx="10012680" cy="173736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spcAft>
                <a:spcPts val="300"/>
              </a:spcAft>
            </a:pPr>
            <a:r>
              <a:rPr sz="900" b="1">
                <a:solidFill>
                  <a:srgbClr val="0B3041"/>
                </a:solidFill>
                <a:latin typeface="游ゴシック Medium"/>
                <a:ea typeface="游ゴシック Medium"/>
              </a:rPr>
              <a:t>≪ネットキャッシュの考え方≫</a:t>
            </a:r>
          </a:p>
          <a:p>
            <a:pPr algn="l">
              <a:spcAft>
                <a:spcPts val="300"/>
              </a:spcAft>
            </a:pPr>
            <a:r>
              <a:rPr sz="900" b="0">
                <a:solidFill>
                  <a:srgbClr val="000000"/>
                </a:solidFill>
                <a:latin typeface="游ゴシック Medium"/>
                <a:ea typeface="游ゴシック Medium"/>
              </a:rPr>
              <a:t>・評価基準日（2026年5月31日）の修正後貸借対照表を参照。</a:t>
            </a:r>
          </a:p>
          <a:p>
            <a:pPr algn="l">
              <a:spcAft>
                <a:spcPts val="300"/>
              </a:spcAft>
            </a:pPr>
            <a:r>
              <a:rPr sz="900" b="0">
                <a:solidFill>
                  <a:srgbClr val="000000"/>
                </a:solidFill>
                <a:latin typeface="游ゴシック Medium"/>
                <a:ea typeface="游ゴシック Medium"/>
              </a:rPr>
              <a:t>・キャッシュライクアイテム：現金及び預金。非事業用の運用資産（投資有価証券・保険積立金等）の保有はない。</a:t>
            </a:r>
          </a:p>
          <a:p>
            <a:pPr algn="l">
              <a:spcAft>
                <a:spcPts val="300"/>
              </a:spcAft>
            </a:pPr>
            <a:r>
              <a:rPr sz="900" b="0">
                <a:solidFill>
                  <a:srgbClr val="000000"/>
                </a:solidFill>
                <a:latin typeface="游ゴシック Medium"/>
                <a:ea typeface="游ゴシック Medium"/>
              </a:rPr>
              <a:t>・デットライクアイテム：有利子負債（長期借入金）および未払法人税等。</a:t>
            </a:r>
          </a:p>
          <a:p>
            <a:pPr algn="l">
              <a:spcAft>
                <a:spcPts val="300"/>
              </a:spcAft>
            </a:pPr>
            <a:r>
              <a:rPr sz="900" b="0">
                <a:solidFill>
                  <a:srgbClr val="000000"/>
                </a:solidFill>
                <a:latin typeface="游ゴシック Medium"/>
                <a:ea typeface="游ゴシック Medium"/>
              </a:rPr>
              <a:t>・未払金に含まれる社会保険料・労働保険料8,477千円のうち延滞分は追加で控除すべきもの（要確認）。</a:t>
            </a:r>
          </a:p>
          <a:p>
            <a:pPr algn="l">
              <a:spcAft>
                <a:spcPts val="300"/>
              </a:spcAft>
            </a:pPr>
            <a:r>
              <a:rPr sz="900" b="0">
                <a:solidFill>
                  <a:srgbClr val="000000"/>
                </a:solidFill>
                <a:latin typeface="游ゴシック Medium"/>
                <a:ea typeface="游ゴシック Medium"/>
              </a:rPr>
              <a:t>・基準日後の2026年9月30日に短期借入3,000千円（6か月・手形貸付）を実行しており、足元の資金繰りは逼迫している。</a:t>
            </a:r>
          </a:p>
        </p:txBody>
      </p:sp>
    </p:spTree>
    <p:extLst>
      <p:ext uri="{BB962C8B-B14F-4D97-AF65-F5344CB8AC3E}">
        <p14:creationId xmlns:p14="http://schemas.microsoft.com/office/powerpoint/2010/main" val="130158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A2105-3764-0F9B-6D9E-FDC9164E25C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0F54FD88-71A3-9482-A4EB-EB7B53A21670}"/>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Financial Analysis ／</a:t>
            </a:r>
            <a:br>
              <a:rPr lang="en-US" altLang="ja-JP" dirty="0"/>
            </a:br>
            <a:r>
              <a:rPr lang="ja-JP" altLang="en-US" dirty="0"/>
              <a:t>財務情報の分析（</a:t>
            </a:r>
            <a:r>
              <a:rPr lang="en-US" altLang="ja-JP" dirty="0"/>
              <a:t>P/L</a:t>
            </a:r>
            <a:r>
              <a:rPr lang="ja-JP" altLang="en-US" dirty="0"/>
              <a:t>）</a:t>
            </a:r>
          </a:p>
        </p:txBody>
      </p:sp>
      <p:grpSp>
        <p:nvGrpSpPr>
          <p:cNvPr id="2" name="グループ化 1">
            <a:extLst>
              <a:ext uri="{FF2B5EF4-FFF2-40B4-BE49-F238E27FC236}">
                <a16:creationId xmlns:a16="http://schemas.microsoft.com/office/drawing/2014/main" id="{9BBA03AA-0C3E-769B-7372-5C78F7C906A4}"/>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F0D40862-3FE6-CCAC-56A4-FC8C5BF2AF4C}"/>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43F2BBF9-6AFC-1AC2-87E4-1733C64C416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18230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683D8C01-45AB-F55D-E483-1520171D4D71}"/>
              </a:ext>
            </a:extLst>
          </p:cNvPr>
          <p:cNvSpPr>
            <a:spLocks noGrp="1"/>
          </p:cNvSpPr>
          <p:nvPr>
            <p:ph type="ctrTitle"/>
          </p:nvPr>
        </p:nvSpPr>
        <p:spPr>
          <a:xfrm>
            <a:off x="341313" y="180653"/>
            <a:ext cx="7799917" cy="338554"/>
          </a:xfrm>
        </p:spPr>
        <p:txBody>
          <a:bodyPr/>
          <a:lstStyle/>
          <a:p>
            <a:r>
              <a:rPr lang="ja-JP" altLang="en-US" dirty="0"/>
              <a:t>過去</a:t>
            </a:r>
            <a:r>
              <a:rPr lang="en-US" altLang="ja-JP" dirty="0"/>
              <a:t>PL</a:t>
            </a:r>
            <a:r>
              <a:rPr lang="ja-JP" altLang="en-US" dirty="0"/>
              <a:t>の推移</a:t>
            </a:r>
          </a:p>
        </p:txBody>
      </p:sp>
      <p:sp>
        <p:nvSpPr>
          <p:cNvPr id="7" name="タイトル 1">
            <a:extLst>
              <a:ext uri="{FF2B5EF4-FFF2-40B4-BE49-F238E27FC236}">
                <a16:creationId xmlns:a16="http://schemas.microsoft.com/office/drawing/2014/main" id="{7A790640-DDA3-8580-8C0A-46825ED50EDD}"/>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9" name="Table 8"/>
          <p:cNvGraphicFramePr>
            <a:graphicFrameLocks noGrp="1"/>
          </p:cNvGraphicFramePr>
          <p:nvPr/>
        </p:nvGraphicFramePr>
        <p:xfrm>
          <a:off x="338328" y="868680"/>
          <a:ext cx="8229600" cy="5596128"/>
        </p:xfrm>
        <a:graphic>
          <a:graphicData uri="http://schemas.openxmlformats.org/drawingml/2006/table">
            <a:tbl>
              <a:tblPr firstRow="0" bandRow="0" firstCol="0" lastRow="0" lastCol="0" bandCol="0"/>
              <a:tblGrid>
                <a:gridCol w="2377440"/>
                <a:gridCol w="914400"/>
                <a:gridCol w="548640"/>
                <a:gridCol w="914400"/>
                <a:gridCol w="548640"/>
                <a:gridCol w="914400"/>
                <a:gridCol w="548640"/>
                <a:gridCol w="914400"/>
                <a:gridCol w="548640"/>
              </a:tblGrid>
              <a:tr h="233172">
                <a:tc>
                  <a:txBody>
                    <a:bodyPr wrap="square"/>
                    <a:lstStyle/>
                    <a:p>
                      <a:pPr algn="ctr"/>
                      <a:r>
                        <a:rPr sz="750" b="1">
                          <a:solidFill>
                            <a:srgbClr val="FFFFFF"/>
                          </a:solidFill>
                          <a:latin typeface="游ゴシック"/>
                          <a:ea typeface="游ゴシック"/>
                        </a:rPr>
                        <a:t>科目</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gridSpan="2">
                  <a:txBody>
                    <a:bodyPr wrap="square"/>
                    <a:lstStyle/>
                    <a:p>
                      <a:pPr algn="ctr"/>
                      <a:r>
                        <a:rPr sz="750" b="1">
                          <a:solidFill>
                            <a:srgbClr val="FFFFFF"/>
                          </a:solidFill>
                          <a:latin typeface="游ゴシック"/>
                          <a:ea typeface="游ゴシック"/>
                        </a:rPr>
                        <a:t>24年5月期</a:t>
                      </a:r>
                    </a:p>
                    <a:p>
                      <a:pPr algn="ctr"/>
                      <a:r>
                        <a:rPr sz="750" b="1">
                          <a:solidFill>
                            <a:srgbClr val="FFFFFF"/>
                          </a:solidFill>
                          <a:latin typeface="游ゴシック"/>
                          <a:ea typeface="游ゴシック"/>
                        </a:rPr>
                        <a:t>　</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hMerge="1">
                  <a:txBody>
                    <a:bodyPr wrap="square"/>
                    <a:lstStyle/>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gridSpan="2">
                  <a:txBody>
                    <a:bodyPr wrap="square"/>
                    <a:lstStyle/>
                    <a:p>
                      <a:pPr algn="ctr"/>
                      <a:r>
                        <a:rPr sz="750" b="1">
                          <a:solidFill>
                            <a:srgbClr val="FFFFFF"/>
                          </a:solidFill>
                          <a:latin typeface="游ゴシック"/>
                          <a:ea typeface="游ゴシック"/>
                        </a:rPr>
                        <a:t>25年5月期</a:t>
                      </a:r>
                    </a:p>
                    <a:p>
                      <a:pPr algn="ctr"/>
                      <a:r>
                        <a:rPr sz="750" b="1">
                          <a:solidFill>
                            <a:srgbClr val="FFFFFF"/>
                          </a:solidFill>
                          <a:latin typeface="游ゴシック"/>
                          <a:ea typeface="游ゴシック"/>
                        </a:rPr>
                        <a:t>　</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hMerge="1">
                  <a:txBody>
                    <a:bodyPr wrap="square"/>
                    <a:lstStyle/>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gridSpan="2">
                  <a:txBody>
                    <a:bodyPr wrap="square"/>
                    <a:lstStyle/>
                    <a:p>
                      <a:pPr algn="ctr"/>
                      <a:r>
                        <a:rPr sz="750" b="1">
                          <a:solidFill>
                            <a:srgbClr val="FFFFFF"/>
                          </a:solidFill>
                          <a:latin typeface="游ゴシック"/>
                          <a:ea typeface="游ゴシック"/>
                        </a:rPr>
                        <a:t>26年5月期</a:t>
                      </a:r>
                    </a:p>
                    <a:p>
                      <a:pPr algn="ctr"/>
                      <a:r>
                        <a:rPr sz="750" b="1">
                          <a:solidFill>
                            <a:srgbClr val="FFFFFF"/>
                          </a:solidFill>
                          <a:latin typeface="游ゴシック"/>
                          <a:ea typeface="游ゴシック"/>
                        </a:rPr>
                        <a:t>　</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hMerge="1">
                  <a:txBody>
                    <a:bodyPr wrap="square"/>
                    <a:lstStyle/>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gridSpan="2">
                  <a:txBody>
                    <a:bodyPr wrap="square"/>
                    <a:lstStyle/>
                    <a:p>
                      <a:pPr algn="ctr"/>
                      <a:r>
                        <a:rPr sz="750" b="1">
                          <a:solidFill>
                            <a:srgbClr val="FFFFFF"/>
                          </a:solidFill>
                          <a:latin typeface="游ゴシック"/>
                          <a:ea typeface="游ゴシック"/>
                        </a:rPr>
                        <a:t>26年7月</a:t>
                      </a:r>
                    </a:p>
                    <a:p>
                      <a:pPr algn="ctr"/>
                      <a:r>
                        <a:rPr sz="750" b="1">
                          <a:solidFill>
                            <a:srgbClr val="FFFFFF"/>
                          </a:solidFill>
                          <a:latin typeface="游ゴシック"/>
                          <a:ea typeface="游ゴシック"/>
                        </a:rPr>
                        <a:t>（2か月TB）</a:t>
                      </a:r>
                    </a:p>
                    <a:p>
                      <a:pPr algn="ctr"/>
                      <a:r>
                        <a:rPr sz="750" b="1">
                          <a:solidFill>
                            <a:srgbClr val="FFFFFF"/>
                          </a:solidFill>
                          <a:latin typeface="游ゴシック"/>
                          <a:ea typeface="游ゴシック"/>
                        </a:rPr>
                        <a:t>　</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hMerge="1">
                  <a:txBody>
                    <a:bodyPr wrap="square"/>
                    <a:lstStyle/>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33172">
                <a:tc>
                  <a:txBody>
                    <a:bodyPr wrap="square"/>
                    <a:lstStyle/>
                    <a:p>
                      <a:pPr algn="ctr"/>
                      <a:r>
                        <a:rPr sz="750" b="1">
                          <a:solidFill>
                            <a:srgbClr val="FFFFFF"/>
                          </a:solidFill>
                          <a:latin typeface="游ゴシック"/>
                          <a:ea typeface="游ゴシック"/>
                        </a:rPr>
                        <a:t>　</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帳簿価額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売上高比</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帳簿価額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売上高比</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帳簿価額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売上高比</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帳簿価額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売上高比</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33172">
                <a:tc>
                  <a:txBody>
                    <a:bodyPr wrap="square"/>
                    <a:lstStyle/>
                    <a:p>
                      <a:pPr algn="l"/>
                      <a:r>
                        <a:rPr sz="750" b="0">
                          <a:solidFill>
                            <a:srgbClr val="000000"/>
                          </a:solidFill>
                          <a:latin typeface="游ゴシック"/>
                          <a:ea typeface="游ゴシック"/>
                        </a:rPr>
                        <a:t>梱包収入</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173,684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48.6%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208,996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85.0%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209,139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74.9%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43,889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80.6%</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750" b="0">
                          <a:solidFill>
                            <a:srgbClr val="000000"/>
                          </a:solidFill>
                          <a:latin typeface="游ゴシック"/>
                          <a:ea typeface="游ゴシック"/>
                        </a:rPr>
                        <a:t>梱包外収入（保税・輸出入作業等）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76,514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21.4%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20,901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8.5%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34,050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12.2%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3,553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6.5%</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750" b="0">
                          <a:solidFill>
                            <a:srgbClr val="000000"/>
                          </a:solidFill>
                          <a:latin typeface="游ゴシック"/>
                          <a:ea typeface="游ゴシック"/>
                        </a:rPr>
                        <a:t>その他収入（業務請負等）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99,179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27.8%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14,710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36,105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12.9%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6,999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750" b="0">
                          <a:solidFill>
                            <a:srgbClr val="000000"/>
                          </a:solidFill>
                          <a:latin typeface="游ゴシック"/>
                          <a:ea typeface="游ゴシック"/>
                        </a:rPr>
                        <a:t>賃貸収入</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7,738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1,247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750" b="1">
                          <a:solidFill>
                            <a:srgbClr val="000000"/>
                          </a:solidFill>
                          <a:latin typeface="游ゴシック"/>
                          <a:ea typeface="游ゴシック"/>
                        </a:rPr>
                        <a:t>売上高</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357,115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245,854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279,294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54,442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33172">
                <a:tc>
                  <a:txBody>
                    <a:bodyPr wrap="square"/>
                    <a:lstStyle/>
                    <a:p>
                      <a:pPr algn="l"/>
                      <a:r>
                        <a:rPr sz="750" b="0">
                          <a:solidFill>
                            <a:srgbClr val="000000"/>
                          </a:solidFill>
                          <a:latin typeface="游ゴシック"/>
                          <a:ea typeface="游ゴシック"/>
                        </a:rPr>
                        <a:t>当期製造原価（CRより）</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353,076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98.9%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264,751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107.7%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273,790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98.0%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52,337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96.1%</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750" b="0">
                          <a:solidFill>
                            <a:srgbClr val="000000"/>
                          </a:solidFill>
                          <a:latin typeface="游ゴシック"/>
                          <a:ea typeface="游ゴシック"/>
                        </a:rPr>
                        <a:t>売上原価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353,076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98.9%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264,751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107.7%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273,790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98.0%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52,337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96.1%</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750" b="1">
                          <a:solidFill>
                            <a:srgbClr val="000000"/>
                          </a:solidFill>
                          <a:latin typeface="游ゴシック"/>
                          <a:ea typeface="游ゴシック"/>
                        </a:rPr>
                        <a:t>売上総利益</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4,039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△18,897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△7.7%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5,504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2,105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3.9%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33172">
                <a:tc>
                  <a:txBody>
                    <a:bodyPr wrap="square"/>
                    <a:lstStyle/>
                    <a:p>
                      <a:pPr algn="l"/>
                      <a:r>
                        <a:rPr sz="750" b="0">
                          <a:solidFill>
                            <a:srgbClr val="000000"/>
                          </a:solidFill>
                          <a:latin typeface="游ゴシック"/>
                          <a:ea typeface="游ゴシック"/>
                        </a:rPr>
                        <a:t>販売費及び一般管理費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19,182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19,710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8.0%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16,503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2,494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4.6%</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750" b="1">
                          <a:solidFill>
                            <a:srgbClr val="000000"/>
                          </a:solidFill>
                          <a:latin typeface="游ゴシック"/>
                          <a:ea typeface="游ゴシック"/>
                        </a:rPr>
                        <a:t>営業利益</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△15,143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△4.2%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△38,607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△15.7%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△11,000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△3.9%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△389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△0.7%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33172">
                <a:tc>
                  <a:txBody>
                    <a:bodyPr wrap="square"/>
                    <a:lstStyle/>
                    <a:p>
                      <a:pPr algn="l"/>
                      <a:r>
                        <a:rPr sz="750" b="0">
                          <a:solidFill>
                            <a:srgbClr val="000000"/>
                          </a:solidFill>
                          <a:latin typeface="游ゴシック"/>
                          <a:ea typeface="游ゴシック"/>
                        </a:rPr>
                        <a:t>営業外収益</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10,733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10,819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623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222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0.4%</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750" b="0">
                          <a:solidFill>
                            <a:srgbClr val="000000"/>
                          </a:solidFill>
                          <a:latin typeface="游ゴシック"/>
                          <a:ea typeface="游ゴシック"/>
                        </a:rPr>
                        <a:t>　受取利息</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750" b="0">
                          <a:solidFill>
                            <a:srgbClr val="000000"/>
                          </a:solidFill>
                          <a:latin typeface="游ゴシック"/>
                          <a:ea typeface="游ゴシック"/>
                        </a:rPr>
                        <a:t>　受取配当金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0.0%</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750" b="0">
                          <a:solidFill>
                            <a:srgbClr val="000000"/>
                          </a:solidFill>
                          <a:latin typeface="游ゴシック"/>
                          <a:ea typeface="游ゴシック"/>
                        </a:rPr>
                        <a:t>　雑収入（鉄屑売却等）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731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812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615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221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0.4%</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750" b="0">
                          <a:solidFill>
                            <a:srgbClr val="000000"/>
                          </a:solidFill>
                          <a:latin typeface="游ゴシック"/>
                          <a:ea typeface="游ゴシック"/>
                        </a:rPr>
                        <a:t>　雑収入（立退解決金）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750" b="0">
                          <a:solidFill>
                            <a:srgbClr val="000000"/>
                          </a:solidFill>
                          <a:latin typeface="游ゴシック"/>
                          <a:ea typeface="游ゴシック"/>
                        </a:rPr>
                        <a:t>　決算整理差額（要確認）</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750" b="0">
                          <a:solidFill>
                            <a:srgbClr val="000000"/>
                          </a:solidFill>
                          <a:latin typeface="游ゴシック"/>
                          <a:ea typeface="游ゴシック"/>
                        </a:rPr>
                        <a:t>営業外費用</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492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885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0.2%</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750" b="0">
                          <a:solidFill>
                            <a:srgbClr val="000000"/>
                          </a:solidFill>
                          <a:latin typeface="游ゴシック"/>
                          <a:ea typeface="游ゴシック"/>
                        </a:rPr>
                        <a:t>　支払利息</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492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885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0.2%</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750" b="1">
                          <a:solidFill>
                            <a:srgbClr val="000000"/>
                          </a:solidFill>
                          <a:latin typeface="游ゴシック"/>
                          <a:ea typeface="游ゴシック"/>
                        </a:rPr>
                        <a:t>経常利益</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△4,410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△28,279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△11.5%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△11,262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△4.0%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△285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△0.5%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33172">
                <a:tc>
                  <a:txBody>
                    <a:bodyPr wrap="square"/>
                    <a:lstStyle/>
                    <a:p>
                      <a:pPr algn="l"/>
                      <a:r>
                        <a:rPr sz="750" b="0">
                          <a:solidFill>
                            <a:srgbClr val="000000"/>
                          </a:solidFill>
                          <a:latin typeface="游ゴシック"/>
                          <a:ea typeface="游ゴシック"/>
                        </a:rPr>
                        <a:t>税引前当期純利益</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△4,410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△28,279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△11,262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△285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△0.5%</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750" b="0">
                          <a:solidFill>
                            <a:srgbClr val="000000"/>
                          </a:solidFill>
                          <a:latin typeface="游ゴシック"/>
                          <a:ea typeface="游ゴシック"/>
                        </a:rPr>
                        <a:t>法人税等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33172">
                <a:tc>
                  <a:txBody>
                    <a:bodyPr wrap="square"/>
                    <a:lstStyle/>
                    <a:p>
                      <a:pPr algn="l"/>
                      <a:r>
                        <a:rPr sz="750" b="1">
                          <a:solidFill>
                            <a:srgbClr val="000000"/>
                          </a:solidFill>
                          <a:latin typeface="游ゴシック"/>
                          <a:ea typeface="游ゴシック"/>
                        </a:rPr>
                        <a:t>税引後当期純利益</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△4,480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△28,349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△11.5%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△11,332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△4.1%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△285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△0.5%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sp>
        <p:nvSpPr>
          <p:cNvPr id="10" name="Rectangle 9"/>
          <p:cNvSpPr/>
          <p:nvPr/>
        </p:nvSpPr>
        <p:spPr>
          <a:xfrm>
            <a:off x="338328" y="6583680"/>
            <a:ext cx="9902952"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750" b="0">
                <a:solidFill>
                  <a:srgbClr val="000000"/>
                </a:solidFill>
                <a:latin typeface="游ゴシック Medium"/>
                <a:ea typeface="游ゴシック Medium"/>
              </a:rPr>
              <a:t>※25年5月期は総勘定元帳ベース（決算整理差額371円を営業外収益に計上）。26年7月は2か月の試算表。</a:t>
            </a:r>
          </a:p>
        </p:txBody>
      </p:sp>
    </p:spTree>
    <p:extLst>
      <p:ext uri="{BB962C8B-B14F-4D97-AF65-F5344CB8AC3E}">
        <p14:creationId xmlns:p14="http://schemas.microsoft.com/office/powerpoint/2010/main" val="40723892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35650247-1E40-B7CB-0FCF-640931A69AE2}"/>
              </a:ext>
            </a:extLst>
          </p:cNvPr>
          <p:cNvSpPr txBox="1"/>
          <p:nvPr/>
        </p:nvSpPr>
        <p:spPr>
          <a:xfrm>
            <a:off x="2051536" y="6285220"/>
            <a:ext cx="4076270" cy="365165"/>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165225" algn="l"/>
                <a:tab pos="1341438" algn="l"/>
              </a:tabLst>
            </a:pPr>
            <a:r>
              <a:rPr lang="ja-JP" altLang="en-US" dirty="0" sz="800"/>
              <a:t>役員報酬：代表者は引退予定だが、後任の経営者（買手からの派遣または内部昇格）にも同水準の報酬が発生するとみなし、調整しない（仮説）。</a:t>
            </a:r>
            <a:endParaRPr lang="en-US" altLang="ja-JP" dirty="0"/>
          </a:p>
        </p:txBody>
      </p:sp>
      <p:sp>
        <p:nvSpPr>
          <p:cNvPr id="12" name="タイトル 11">
            <a:extLst>
              <a:ext uri="{FF2B5EF4-FFF2-40B4-BE49-F238E27FC236}">
                <a16:creationId xmlns:a16="http://schemas.microsoft.com/office/drawing/2014/main" id="{DC2FECB7-19A2-7C36-9E2F-D39B0FB88B2F}"/>
              </a:ext>
            </a:extLst>
          </p:cNvPr>
          <p:cNvSpPr>
            <a:spLocks noGrp="1"/>
          </p:cNvSpPr>
          <p:nvPr>
            <p:ph type="ctrTitle"/>
          </p:nvPr>
        </p:nvSpPr>
        <p:spPr>
          <a:xfrm>
            <a:off x="341313" y="180653"/>
            <a:ext cx="7799917" cy="338554"/>
          </a:xfrm>
        </p:spPr>
        <p:txBody>
          <a:bodyPr/>
          <a:lstStyle/>
          <a:p>
            <a:r>
              <a:rPr lang="ja-JP" altLang="en-US" dirty="0"/>
              <a:t>販管費及び一般管理費の修正</a:t>
            </a:r>
          </a:p>
        </p:txBody>
      </p:sp>
      <p:sp>
        <p:nvSpPr>
          <p:cNvPr id="11" name="タイトル 1">
            <a:extLst>
              <a:ext uri="{FF2B5EF4-FFF2-40B4-BE49-F238E27FC236}">
                <a16:creationId xmlns:a16="http://schemas.microsoft.com/office/drawing/2014/main" id="{E822E01B-8EBB-0777-FFDE-2ED5BD7F6582}"/>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9" name="正方形/長方形 8">
            <a:extLst>
              <a:ext uri="{FF2B5EF4-FFF2-40B4-BE49-F238E27FC236}">
                <a16:creationId xmlns:a16="http://schemas.microsoft.com/office/drawing/2014/main" id="{D11C8879-7177-AB32-ADE2-B1BA72013064}"/>
              </a:ext>
            </a:extLst>
          </p:cNvPr>
          <p:cNvSpPr/>
          <p:nvPr/>
        </p:nvSpPr>
        <p:spPr>
          <a:xfrm>
            <a:off x="449263" y="6083474"/>
            <a:ext cx="9793287" cy="768659"/>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7" name="テキスト ボックス 6">
            <a:extLst>
              <a:ext uri="{FF2B5EF4-FFF2-40B4-BE49-F238E27FC236}">
                <a16:creationId xmlns:a16="http://schemas.microsoft.com/office/drawing/2014/main" id="{33CBB3D9-5E1D-09B4-EE09-6FFCA0875A38}"/>
              </a:ext>
            </a:extLst>
          </p:cNvPr>
          <p:cNvSpPr txBox="1"/>
          <p:nvPr/>
        </p:nvSpPr>
        <p:spPr>
          <a:xfrm>
            <a:off x="5929270" y="6285220"/>
            <a:ext cx="4076270" cy="365165"/>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165225" algn="l"/>
                <a:tab pos="1341438" algn="l"/>
              </a:tabLst>
            </a:pPr>
            <a:r>
              <a:rPr lang="ja-JP" altLang="en-US" dirty="0" sz="800"/>
              <a:t>保険料：内容（掛捨て／積立、役員保険の有無）は要確認。現時点では事業上の費用として調整しない。</a:t>
            </a:r>
            <a:endParaRPr lang="zh-TW" altLang="en-US" dirty="0"/>
          </a:p>
        </p:txBody>
      </p:sp>
      <p:graphicFrame>
        <p:nvGraphicFramePr>
          <p:cNvPr id="13" name="Table 12"/>
          <p:cNvGraphicFramePr>
            <a:graphicFrameLocks noGrp="1"/>
          </p:cNvGraphicFramePr>
          <p:nvPr/>
        </p:nvGraphicFramePr>
        <p:xfrm>
          <a:off x="338328" y="777240"/>
          <a:ext cx="9464040" cy="4942332"/>
        </p:xfrm>
        <a:graphic>
          <a:graphicData uri="http://schemas.openxmlformats.org/drawingml/2006/table">
            <a:tbl>
              <a:tblPr firstRow="0" bandRow="0" firstCol="0" lastRow="0" lastCol="0" bandCol="0"/>
              <a:tblGrid>
                <a:gridCol w="2194560"/>
                <a:gridCol w="868680"/>
                <a:gridCol w="685800"/>
                <a:gridCol w="868680"/>
                <a:gridCol w="868680"/>
                <a:gridCol w="685800"/>
                <a:gridCol w="868680"/>
                <a:gridCol w="868680"/>
                <a:gridCol w="685800"/>
                <a:gridCol w="868680"/>
              </a:tblGrid>
              <a:tr h="214884">
                <a:tc>
                  <a:txBody>
                    <a:bodyPr wrap="square"/>
                    <a:lstStyle/>
                    <a:p>
                      <a:pPr algn="ctr"/>
                      <a:r>
                        <a:rPr sz="750" b="1">
                          <a:solidFill>
                            <a:srgbClr val="FFFFFF"/>
                          </a:solidFill>
                          <a:latin typeface="游ゴシック"/>
                          <a:ea typeface="游ゴシック"/>
                        </a:rPr>
                        <a:t>科目</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gridSpan="3">
                  <a:txBody>
                    <a:bodyPr wrap="square"/>
                    <a:lstStyle/>
                    <a:p>
                      <a:pPr algn="ctr"/>
                      <a:r>
                        <a:rPr sz="750" b="1">
                          <a:solidFill>
                            <a:srgbClr val="FFFFFF"/>
                          </a:solidFill>
                          <a:latin typeface="游ゴシック"/>
                          <a:ea typeface="游ゴシック"/>
                        </a:rPr>
                        <a:t>24年5月期</a:t>
                      </a:r>
                    </a:p>
                    <a:p>
                      <a:pPr algn="ctr"/>
                      <a:r>
                        <a:rPr sz="750" b="1">
                          <a:solidFill>
                            <a:srgbClr val="FFFFFF"/>
                          </a:solidFill>
                          <a:latin typeface="游ゴシック"/>
                          <a:ea typeface="游ゴシック"/>
                        </a:rPr>
                        <a:t>　</a:t>
                      </a:r>
                    </a:p>
                    <a:p>
                      <a:pPr algn="ctr"/>
                      <a:r>
                        <a:rPr sz="750" b="1">
                          <a:solidFill>
                            <a:srgbClr val="FFFFFF"/>
                          </a:solidFill>
                          <a:latin typeface="游ゴシック"/>
                          <a:ea typeface="游ゴシック"/>
                        </a:rPr>
                        <a:t>　</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hMerge="1">
                  <a:txBody>
                    <a:bodyPr wrap="square"/>
                    <a:lstStyle/>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hMerge="1">
                  <a:txBody>
                    <a:bodyPr wrap="square"/>
                    <a:lstStyle/>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gridSpan="3">
                  <a:txBody>
                    <a:bodyPr wrap="square"/>
                    <a:lstStyle/>
                    <a:p>
                      <a:pPr algn="ctr"/>
                      <a:r>
                        <a:rPr sz="750" b="1">
                          <a:solidFill>
                            <a:srgbClr val="FFFFFF"/>
                          </a:solidFill>
                          <a:latin typeface="游ゴシック"/>
                          <a:ea typeface="游ゴシック"/>
                        </a:rPr>
                        <a:t>25年5月期</a:t>
                      </a:r>
                    </a:p>
                    <a:p>
                      <a:pPr algn="ctr"/>
                      <a:r>
                        <a:rPr sz="750" b="1">
                          <a:solidFill>
                            <a:srgbClr val="FFFFFF"/>
                          </a:solidFill>
                          <a:latin typeface="游ゴシック"/>
                          <a:ea typeface="游ゴシック"/>
                        </a:rPr>
                        <a:t>　</a:t>
                      </a:r>
                    </a:p>
                    <a:p>
                      <a:pPr algn="ctr"/>
                      <a:r>
                        <a:rPr sz="750" b="1">
                          <a:solidFill>
                            <a:srgbClr val="FFFFFF"/>
                          </a:solidFill>
                          <a:latin typeface="游ゴシック"/>
                          <a:ea typeface="游ゴシック"/>
                        </a:rPr>
                        <a:t>　</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hMerge="1">
                  <a:txBody>
                    <a:bodyPr wrap="square"/>
                    <a:lstStyle/>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hMerge="1">
                  <a:txBody>
                    <a:bodyPr wrap="square"/>
                    <a:lstStyle/>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gridSpan="3">
                  <a:txBody>
                    <a:bodyPr wrap="square"/>
                    <a:lstStyle/>
                    <a:p>
                      <a:pPr algn="ctr"/>
                      <a:r>
                        <a:rPr sz="750" b="1">
                          <a:solidFill>
                            <a:srgbClr val="FFFFFF"/>
                          </a:solidFill>
                          <a:latin typeface="游ゴシック"/>
                          <a:ea typeface="游ゴシック"/>
                        </a:rPr>
                        <a:t>26年5月期</a:t>
                      </a:r>
                    </a:p>
                    <a:p>
                      <a:pPr algn="ctr"/>
                      <a:r>
                        <a:rPr sz="750" b="1">
                          <a:solidFill>
                            <a:srgbClr val="FFFFFF"/>
                          </a:solidFill>
                          <a:latin typeface="游ゴシック"/>
                          <a:ea typeface="游ゴシック"/>
                        </a:rPr>
                        <a:t>　</a:t>
                      </a:r>
                    </a:p>
                    <a:p>
                      <a:pPr algn="ctr"/>
                      <a:r>
                        <a:rPr sz="750" b="1">
                          <a:solidFill>
                            <a:srgbClr val="FFFFFF"/>
                          </a:solidFill>
                          <a:latin typeface="游ゴシック"/>
                          <a:ea typeface="游ゴシック"/>
                        </a:rPr>
                        <a:t>　</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hMerge="1">
                  <a:txBody>
                    <a:bodyPr wrap="square"/>
                    <a:lstStyle/>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hMerge="1">
                  <a:txBody>
                    <a:bodyPr wrap="square"/>
                    <a:lstStyle/>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14884">
                <a:tc>
                  <a:txBody>
                    <a:bodyPr wrap="square"/>
                    <a:lstStyle/>
                    <a:p>
                      <a:pPr algn="ctr"/>
                      <a:r>
                        <a:rPr sz="750" b="1">
                          <a:solidFill>
                            <a:srgbClr val="FFFFFF"/>
                          </a:solidFill>
                          <a:latin typeface="游ゴシック"/>
                          <a:ea typeface="游ゴシック"/>
                        </a:rPr>
                        <a:t>　</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帳簿価額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修正額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修正後</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帳簿価額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修正額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修正後</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帳簿価額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修正額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50" b="1">
                          <a:solidFill>
                            <a:srgbClr val="FFFFFF"/>
                          </a:solidFill>
                          <a:latin typeface="游ゴシック"/>
                          <a:ea typeface="游ゴシック"/>
                        </a:rPr>
                        <a:t>修正後</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14884">
                <a:tc>
                  <a:txBody>
                    <a:bodyPr wrap="square"/>
                    <a:lstStyle/>
                    <a:p>
                      <a:pPr algn="l"/>
                      <a:r>
                        <a:rPr sz="750" b="0">
                          <a:solidFill>
                            <a:srgbClr val="000000"/>
                          </a:solidFill>
                          <a:latin typeface="游ゴシック"/>
                          <a:ea typeface="游ゴシック"/>
                        </a:rPr>
                        <a:t>役員報酬</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5,820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5,820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4,320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4,320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3,820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3,820</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750" b="0">
                          <a:solidFill>
                            <a:srgbClr val="000000"/>
                          </a:solidFill>
                          <a:latin typeface="游ゴシック"/>
                          <a:ea typeface="游ゴシック"/>
                        </a:rPr>
                        <a:t>給料手当</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2,556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2,556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2,561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2,561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2,563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2,563</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750" b="0">
                          <a:solidFill>
                            <a:srgbClr val="000000"/>
                          </a:solidFill>
                          <a:latin typeface="游ゴシック"/>
                          <a:ea typeface="游ゴシック"/>
                        </a:rPr>
                        <a:t>厚生費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186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186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278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278</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750" b="0">
                          <a:solidFill>
                            <a:srgbClr val="000000"/>
                          </a:solidFill>
                          <a:latin typeface="游ゴシック"/>
                          <a:ea typeface="游ゴシック"/>
                        </a:rPr>
                        <a:t>荷造運賃</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2,597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2,597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750" b="0">
                          <a:solidFill>
                            <a:srgbClr val="000000"/>
                          </a:solidFill>
                          <a:latin typeface="游ゴシック"/>
                          <a:ea typeface="游ゴシック"/>
                        </a:rPr>
                        <a:t>減価償却費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962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962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835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835</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750" b="0">
                          <a:solidFill>
                            <a:srgbClr val="000000"/>
                          </a:solidFill>
                          <a:latin typeface="游ゴシック"/>
                          <a:ea typeface="游ゴシック"/>
                        </a:rPr>
                        <a:t>賃借料</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2,751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2,751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2,534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2,534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2,973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2,973</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750" b="0">
                          <a:solidFill>
                            <a:srgbClr val="000000"/>
                          </a:solidFill>
                          <a:latin typeface="游ゴシック"/>
                          <a:ea typeface="游ゴシック"/>
                        </a:rPr>
                        <a:t>修繕費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390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390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403</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750" b="0">
                          <a:solidFill>
                            <a:srgbClr val="000000"/>
                          </a:solidFill>
                          <a:latin typeface="游ゴシック"/>
                          <a:ea typeface="游ゴシック"/>
                        </a:rPr>
                        <a:t>事務用品費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201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201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85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85</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750" b="0">
                          <a:solidFill>
                            <a:srgbClr val="000000"/>
                          </a:solidFill>
                          <a:latin typeface="游ゴシック"/>
                          <a:ea typeface="游ゴシック"/>
                        </a:rPr>
                        <a:t>消耗品費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608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608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286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286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181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181</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750" b="0">
                          <a:solidFill>
                            <a:srgbClr val="000000"/>
                          </a:solidFill>
                          <a:latin typeface="游ゴシック"/>
                          <a:ea typeface="游ゴシック"/>
                        </a:rPr>
                        <a:t>水道光熱費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2,802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2,802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145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145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206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206</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750" b="0">
                          <a:solidFill>
                            <a:srgbClr val="000000"/>
                          </a:solidFill>
                          <a:latin typeface="游ゴシック"/>
                          <a:ea typeface="游ゴシック"/>
                        </a:rPr>
                        <a:t>旅費交通費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750" b="0">
                          <a:solidFill>
                            <a:srgbClr val="000000"/>
                          </a:solidFill>
                          <a:latin typeface="游ゴシック"/>
                          <a:ea typeface="游ゴシック"/>
                        </a:rPr>
                        <a:t>通信費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1,104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1,104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1,025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1,025</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750" b="0">
                          <a:solidFill>
                            <a:srgbClr val="000000"/>
                          </a:solidFill>
                          <a:latin typeface="游ゴシック"/>
                          <a:ea typeface="游ゴシック"/>
                        </a:rPr>
                        <a:t>手数料</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1,519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1,519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2,388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2,388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2,295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2,295</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750" b="0">
                          <a:solidFill>
                            <a:srgbClr val="000000"/>
                          </a:solidFill>
                          <a:latin typeface="游ゴシック"/>
                          <a:ea typeface="游ゴシック"/>
                        </a:rPr>
                        <a:t>租税公課</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155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155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58</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58</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750" b="0">
                          <a:solidFill>
                            <a:srgbClr val="000000"/>
                          </a:solidFill>
                          <a:latin typeface="游ゴシック"/>
                          <a:ea typeface="游ゴシック"/>
                        </a:rPr>
                        <a:t>交際接待費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27</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750" b="0">
                          <a:solidFill>
                            <a:srgbClr val="000000"/>
                          </a:solidFill>
                          <a:latin typeface="游ゴシック"/>
                          <a:ea typeface="游ゴシック"/>
                        </a:rPr>
                        <a:t>保険料</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967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967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1,027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1,027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1,147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1,147</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750" b="0">
                          <a:solidFill>
                            <a:srgbClr val="000000"/>
                          </a:solidFill>
                          <a:latin typeface="游ゴシック"/>
                          <a:ea typeface="游ゴシック"/>
                        </a:rPr>
                        <a:t>諸会費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24</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750" b="0">
                          <a:solidFill>
                            <a:srgbClr val="000000"/>
                          </a:solidFill>
                          <a:latin typeface="游ゴシック"/>
                          <a:ea typeface="游ゴシック"/>
                        </a:rPr>
                        <a:t>車輌費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705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705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484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484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495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495</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750" b="0">
                          <a:solidFill>
                            <a:srgbClr val="000000"/>
                          </a:solidFill>
                          <a:latin typeface="游ゴシック"/>
                          <a:ea typeface="游ゴシック"/>
                        </a:rPr>
                        <a:t>新聞図書費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96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102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30</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750" b="0">
                          <a:solidFill>
                            <a:srgbClr val="000000"/>
                          </a:solidFill>
                          <a:latin typeface="游ゴシック"/>
                          <a:ea typeface="游ゴシック"/>
                        </a:rPr>
                        <a:t>雑費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76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50" b="0">
                          <a:solidFill>
                            <a:srgbClr val="000000"/>
                          </a:solidFill>
                          <a:latin typeface="Arial"/>
                          <a:ea typeface="游ゴシック Medium"/>
                        </a:rPr>
                        <a:t>56</a:t>
                      </a:r>
                    </a:p>
                  </a:txBody>
                  <a:tcPr marL="45720" marR="45720" marT="9144" marB="9144" anchor="ctr">
                    <a:lnL>
                      <a:noFill/>
                    </a:lnL>
                    <a:lnR>
                      <a:noFill/>
                    </a:lnR>
                    <a:lnT>
                      <a:noFill/>
                    </a:lnT>
                    <a:lnB w="6350" cap="flat" cmpd="sng" algn="ctr">
                      <a:solidFill>
                        <a:srgbClr val="A6A6A6"/>
                      </a:solidFill>
                      <a:prstDash val="solid"/>
                    </a:lnB>
                    <a:noFill/>
                  </a:tcPr>
                </a:tc>
              </a:tr>
              <a:tr h="214884">
                <a:tc>
                  <a:txBody>
                    <a:bodyPr wrap="square"/>
                    <a:lstStyle/>
                    <a:p>
                      <a:pPr algn="l"/>
                      <a:r>
                        <a:rPr sz="750" b="1">
                          <a:solidFill>
                            <a:srgbClr val="000000"/>
                          </a:solidFill>
                          <a:latin typeface="游ゴシック"/>
                          <a:ea typeface="游ゴシック"/>
                        </a:rPr>
                        <a:t>販売費及び一般管理費合計</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19,182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19,182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19,710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19,710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16,503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50" b="1">
                          <a:solidFill>
                            <a:srgbClr val="000000"/>
                          </a:solidFill>
                          <a:latin typeface="Arial"/>
                          <a:ea typeface="游ゴシック Medium"/>
                        </a:rPr>
                        <a:t>16,503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spTree>
    <p:extLst>
      <p:ext uri="{BB962C8B-B14F-4D97-AF65-F5344CB8AC3E}">
        <p14:creationId xmlns:p14="http://schemas.microsoft.com/office/powerpoint/2010/main" val="941944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FFA37B4E-7ECB-634B-D8F4-FB784ED00D76}"/>
              </a:ext>
            </a:extLst>
          </p:cNvPr>
          <p:cNvSpPr>
            <a:spLocks noGrp="1"/>
          </p:cNvSpPr>
          <p:nvPr>
            <p:ph type="ctrTitle"/>
          </p:nvPr>
        </p:nvSpPr>
        <p:spPr>
          <a:xfrm>
            <a:off x="341313" y="180653"/>
            <a:ext cx="7799917" cy="338554"/>
          </a:xfrm>
        </p:spPr>
        <p:txBody>
          <a:bodyPr/>
          <a:lstStyle/>
          <a:p>
            <a:r>
              <a:rPr lang="ja-JP" altLang="en-US" dirty="0"/>
              <a:t>修正</a:t>
            </a:r>
            <a:r>
              <a:rPr lang="en-US" altLang="ja-JP" dirty="0"/>
              <a:t>PL</a:t>
            </a:r>
            <a:r>
              <a:rPr lang="ja-JP" altLang="en-US" dirty="0"/>
              <a:t>の算定</a:t>
            </a:r>
            <a:r>
              <a:rPr lang="ja-JP" altLang="en-US" sz="1800" dirty="0"/>
              <a:t>［正常収益力の集計］</a:t>
            </a:r>
          </a:p>
        </p:txBody>
      </p:sp>
      <p:sp>
        <p:nvSpPr>
          <p:cNvPr id="3" name="タイトル 1">
            <a:extLst>
              <a:ext uri="{FF2B5EF4-FFF2-40B4-BE49-F238E27FC236}">
                <a16:creationId xmlns:a16="http://schemas.microsoft.com/office/drawing/2014/main" id="{8B1FDB05-1F10-E45F-94B4-C962168561F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3" name="テキスト ボックス 12">
            <a:extLst>
              <a:ext uri="{FF2B5EF4-FFF2-40B4-BE49-F238E27FC236}">
                <a16:creationId xmlns:a16="http://schemas.microsoft.com/office/drawing/2014/main" id="{B6914FF2-A4AB-7226-CEF0-EE45321584DA}"/>
              </a:ext>
            </a:extLst>
          </p:cNvPr>
          <p:cNvSpPr txBox="1"/>
          <p:nvPr/>
        </p:nvSpPr>
        <p:spPr>
          <a:xfrm>
            <a:off x="1984169" y="6085980"/>
            <a:ext cx="8102806" cy="788870"/>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703388" algn="l"/>
              </a:tabLst>
            </a:pPr>
            <a:r>
              <a:rPr lang="ja-JP" altLang="en-US" dirty="0" sz="800"/>
              <a:t>雑収入（鉄屑売却等）：梱包作業に伴い毎期経常的に発生するため、営業収益（経常的雑収入）へ振り替える。</a:t>
            </a:r>
            <a:endParaRPr lang="en-US" altLang="ja-JP" dirty="0"/>
          </a:p>
          <a:p>
            <a:pPr>
              <a:lnSpc>
                <a:spcPct val="110000"/>
              </a:lnSpc>
              <a:spcAft>
                <a:spcPts val="200"/>
              </a:spcAft>
              <a:tabLst>
                <a:tab pos="1703388" algn="l"/>
              </a:tabLst>
            </a:pPr>
            <a:r>
              <a:rPr lang="ja-JP" altLang="en-US" dirty="0" sz="800"/>
              <a:t>雑収入（立退解決金）：㈱ホンダロジスティクスからの立退解決金（24年5月期・25年5月期各10,000千円）は非経常のため控除。</a:t>
            </a:r>
            <a:endParaRPr lang="en-US" altLang="ja-JP" dirty="0"/>
          </a:p>
          <a:p>
            <a:pPr>
              <a:lnSpc>
                <a:spcPct val="110000"/>
              </a:lnSpc>
              <a:spcAft>
                <a:spcPts val="200"/>
              </a:spcAft>
              <a:tabLst>
                <a:tab pos="1703388" algn="l"/>
              </a:tabLst>
            </a:pPr>
            <a:r>
              <a:rPr lang="ja-JP" altLang="en-US" dirty="0" sz="800"/>
              <a:t>移転前拠点の二重賃料：25年5月期の旧拠点家主への賃料1,205千円は移転完了後発生しないため控除。支払利息は正常収益力から控除。</a:t>
            </a:r>
            <a:endParaRPr lang="en-US" altLang="ja-JP" dirty="0"/>
          </a:p>
        </p:txBody>
      </p:sp>
      <p:sp>
        <p:nvSpPr>
          <p:cNvPr id="15" name="正方形/長方形 14">
            <a:extLst>
              <a:ext uri="{FF2B5EF4-FFF2-40B4-BE49-F238E27FC236}">
                <a16:creationId xmlns:a16="http://schemas.microsoft.com/office/drawing/2014/main" id="{D75EF43D-370C-E1EA-A9EB-592A8306EB26}"/>
              </a:ext>
            </a:extLst>
          </p:cNvPr>
          <p:cNvSpPr/>
          <p:nvPr/>
        </p:nvSpPr>
        <p:spPr>
          <a:xfrm>
            <a:off x="449263" y="5960534"/>
            <a:ext cx="9793287" cy="1044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16" name="Table 15"/>
          <p:cNvGraphicFramePr>
            <a:graphicFrameLocks noGrp="1"/>
          </p:cNvGraphicFramePr>
          <p:nvPr/>
        </p:nvGraphicFramePr>
        <p:xfrm>
          <a:off x="338328" y="795528"/>
          <a:ext cx="9464040" cy="4718304"/>
        </p:xfrm>
        <a:graphic>
          <a:graphicData uri="http://schemas.openxmlformats.org/drawingml/2006/table">
            <a:tbl>
              <a:tblPr firstRow="0" bandRow="0" firstCol="0" lastRow="0" lastCol="0" bandCol="0"/>
              <a:tblGrid>
                <a:gridCol w="2194560"/>
                <a:gridCol w="868680"/>
                <a:gridCol w="685800"/>
                <a:gridCol w="868680"/>
                <a:gridCol w="868680"/>
                <a:gridCol w="685800"/>
                <a:gridCol w="868680"/>
                <a:gridCol w="868680"/>
                <a:gridCol w="685800"/>
                <a:gridCol w="868680"/>
              </a:tblGrid>
              <a:tr h="196596">
                <a:tc>
                  <a:txBody>
                    <a:bodyPr wrap="square"/>
                    <a:lstStyle/>
                    <a:p>
                      <a:pPr algn="ctr"/>
                      <a:r>
                        <a:rPr sz="700" b="1">
                          <a:solidFill>
                            <a:srgbClr val="FFFFFF"/>
                          </a:solidFill>
                          <a:latin typeface="游ゴシック"/>
                          <a:ea typeface="游ゴシック"/>
                        </a:rPr>
                        <a:t>科目</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gridSpan="3">
                  <a:txBody>
                    <a:bodyPr wrap="square"/>
                    <a:lstStyle/>
                    <a:p>
                      <a:pPr algn="ctr"/>
                      <a:r>
                        <a:rPr sz="700" b="1">
                          <a:solidFill>
                            <a:srgbClr val="FFFFFF"/>
                          </a:solidFill>
                          <a:latin typeface="游ゴシック"/>
                          <a:ea typeface="游ゴシック"/>
                        </a:rPr>
                        <a:t>24年5月期</a:t>
                      </a:r>
                    </a:p>
                    <a:p>
                      <a:pPr algn="ctr"/>
                      <a:r>
                        <a:rPr sz="700" b="1">
                          <a:solidFill>
                            <a:srgbClr val="FFFFFF"/>
                          </a:solidFill>
                          <a:latin typeface="游ゴシック"/>
                          <a:ea typeface="游ゴシック"/>
                        </a:rPr>
                        <a:t>　</a:t>
                      </a:r>
                    </a:p>
                    <a:p>
                      <a:pPr algn="ctr"/>
                      <a:r>
                        <a:rPr sz="700" b="1">
                          <a:solidFill>
                            <a:srgbClr val="FFFFFF"/>
                          </a:solidFill>
                          <a:latin typeface="游ゴシック"/>
                          <a:ea typeface="游ゴシック"/>
                        </a:rPr>
                        <a:t>　</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hMerge="1">
                  <a:txBody>
                    <a:bodyPr wrap="square"/>
                    <a:lstStyle/>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hMerge="1">
                  <a:txBody>
                    <a:bodyPr wrap="square"/>
                    <a:lstStyle/>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gridSpan="3">
                  <a:txBody>
                    <a:bodyPr wrap="square"/>
                    <a:lstStyle/>
                    <a:p>
                      <a:pPr algn="ctr"/>
                      <a:r>
                        <a:rPr sz="700" b="1">
                          <a:solidFill>
                            <a:srgbClr val="FFFFFF"/>
                          </a:solidFill>
                          <a:latin typeface="游ゴシック"/>
                          <a:ea typeface="游ゴシック"/>
                        </a:rPr>
                        <a:t>25年5月期</a:t>
                      </a:r>
                    </a:p>
                    <a:p>
                      <a:pPr algn="ctr"/>
                      <a:r>
                        <a:rPr sz="700" b="1">
                          <a:solidFill>
                            <a:srgbClr val="FFFFFF"/>
                          </a:solidFill>
                          <a:latin typeface="游ゴシック"/>
                          <a:ea typeface="游ゴシック"/>
                        </a:rPr>
                        <a:t>　</a:t>
                      </a:r>
                    </a:p>
                    <a:p>
                      <a:pPr algn="ctr"/>
                      <a:r>
                        <a:rPr sz="700" b="1">
                          <a:solidFill>
                            <a:srgbClr val="FFFFFF"/>
                          </a:solidFill>
                          <a:latin typeface="游ゴシック"/>
                          <a:ea typeface="游ゴシック"/>
                        </a:rPr>
                        <a:t>　</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hMerge="1">
                  <a:txBody>
                    <a:bodyPr wrap="square"/>
                    <a:lstStyle/>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hMerge="1">
                  <a:txBody>
                    <a:bodyPr wrap="square"/>
                    <a:lstStyle/>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gridSpan="3">
                  <a:txBody>
                    <a:bodyPr wrap="square"/>
                    <a:lstStyle/>
                    <a:p>
                      <a:pPr algn="ctr"/>
                      <a:r>
                        <a:rPr sz="700" b="1">
                          <a:solidFill>
                            <a:srgbClr val="FFFFFF"/>
                          </a:solidFill>
                          <a:latin typeface="游ゴシック"/>
                          <a:ea typeface="游ゴシック"/>
                        </a:rPr>
                        <a:t>26年5月期</a:t>
                      </a:r>
                    </a:p>
                    <a:p>
                      <a:pPr algn="ctr"/>
                      <a:r>
                        <a:rPr sz="700" b="1">
                          <a:solidFill>
                            <a:srgbClr val="FFFFFF"/>
                          </a:solidFill>
                          <a:latin typeface="游ゴシック"/>
                          <a:ea typeface="游ゴシック"/>
                        </a:rPr>
                        <a:t>　</a:t>
                      </a:r>
                    </a:p>
                    <a:p>
                      <a:pPr algn="ctr"/>
                      <a:r>
                        <a:rPr sz="700" b="1">
                          <a:solidFill>
                            <a:srgbClr val="FFFFFF"/>
                          </a:solidFill>
                          <a:latin typeface="游ゴシック"/>
                          <a:ea typeface="游ゴシック"/>
                        </a:rPr>
                        <a:t>　</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hMerge="1">
                  <a:txBody>
                    <a:bodyPr wrap="square"/>
                    <a:lstStyle/>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hMerge="1">
                  <a:txBody>
                    <a:bodyPr wrap="square"/>
                    <a:lstStyle/>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196596">
                <a:tc>
                  <a:txBody>
                    <a:bodyPr wrap="square"/>
                    <a:lstStyle/>
                    <a:p>
                      <a:pPr algn="ctr"/>
                      <a:r>
                        <a:rPr sz="700" b="1">
                          <a:solidFill>
                            <a:srgbClr val="FFFFFF"/>
                          </a:solidFill>
                          <a:latin typeface="游ゴシック"/>
                          <a:ea typeface="游ゴシック"/>
                        </a:rPr>
                        <a:t>　</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00" b="1">
                          <a:solidFill>
                            <a:srgbClr val="FFFFFF"/>
                          </a:solidFill>
                          <a:latin typeface="游ゴシック"/>
                          <a:ea typeface="游ゴシック"/>
                        </a:rPr>
                        <a:t>帳簿価額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00" b="1">
                          <a:solidFill>
                            <a:srgbClr val="FFFFFF"/>
                          </a:solidFill>
                          <a:latin typeface="游ゴシック"/>
                          <a:ea typeface="游ゴシック"/>
                        </a:rPr>
                        <a:t>修正額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00" b="1">
                          <a:solidFill>
                            <a:srgbClr val="FFFFFF"/>
                          </a:solidFill>
                          <a:latin typeface="游ゴシック"/>
                          <a:ea typeface="游ゴシック"/>
                        </a:rPr>
                        <a:t>修正後</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00" b="1">
                          <a:solidFill>
                            <a:srgbClr val="FFFFFF"/>
                          </a:solidFill>
                          <a:latin typeface="游ゴシック"/>
                          <a:ea typeface="游ゴシック"/>
                        </a:rPr>
                        <a:t>帳簿価額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00" b="1">
                          <a:solidFill>
                            <a:srgbClr val="FFFFFF"/>
                          </a:solidFill>
                          <a:latin typeface="游ゴシック"/>
                          <a:ea typeface="游ゴシック"/>
                        </a:rPr>
                        <a:t>修正額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00" b="1">
                          <a:solidFill>
                            <a:srgbClr val="FFFFFF"/>
                          </a:solidFill>
                          <a:latin typeface="游ゴシック"/>
                          <a:ea typeface="游ゴシック"/>
                        </a:rPr>
                        <a:t>修正後</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00" b="1">
                          <a:solidFill>
                            <a:srgbClr val="FFFFFF"/>
                          </a:solidFill>
                          <a:latin typeface="游ゴシック"/>
                          <a:ea typeface="游ゴシック"/>
                        </a:rPr>
                        <a:t>帳簿価額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00" b="1">
                          <a:solidFill>
                            <a:srgbClr val="FFFFFF"/>
                          </a:solidFill>
                          <a:latin typeface="游ゴシック"/>
                          <a:ea typeface="游ゴシック"/>
                        </a:rPr>
                        <a:t>修正額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700" b="1">
                          <a:solidFill>
                            <a:srgbClr val="FFFFFF"/>
                          </a:solidFill>
                          <a:latin typeface="游ゴシック"/>
                          <a:ea typeface="游ゴシック"/>
                        </a:rPr>
                        <a:t>修正後</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196596">
                <a:tc>
                  <a:txBody>
                    <a:bodyPr wrap="square"/>
                    <a:lstStyle/>
                    <a:p>
                      <a:pPr algn="l"/>
                      <a:r>
                        <a:rPr sz="700" b="0">
                          <a:solidFill>
                            <a:srgbClr val="000000"/>
                          </a:solidFill>
                          <a:latin typeface="游ゴシック"/>
                          <a:ea typeface="游ゴシック"/>
                        </a:rPr>
                        <a:t>梱包収入</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173,684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173,684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208,996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208,996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209,139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209,139</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00" b="0">
                          <a:solidFill>
                            <a:srgbClr val="000000"/>
                          </a:solidFill>
                          <a:latin typeface="游ゴシック"/>
                          <a:ea typeface="游ゴシック"/>
                        </a:rPr>
                        <a:t>梱包外収入（保税・輸出入作業等）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76,514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76,514</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20,901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20,901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34,050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34,050</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00" b="0">
                          <a:solidFill>
                            <a:srgbClr val="000000"/>
                          </a:solidFill>
                          <a:latin typeface="游ゴシック"/>
                          <a:ea typeface="游ゴシック"/>
                        </a:rPr>
                        <a:t>その他収入・賃貸収入</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106,917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106,917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15,957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15,957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36,105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36,105</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00" b="0">
                          <a:solidFill>
                            <a:srgbClr val="000000"/>
                          </a:solidFill>
                          <a:latin typeface="游ゴシック"/>
                          <a:ea typeface="游ゴシック"/>
                        </a:rPr>
                        <a:t>経常的雑収入（鉄屑売却等）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731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731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812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812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615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615</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00" b="1">
                          <a:solidFill>
                            <a:srgbClr val="000000"/>
                          </a:solidFill>
                          <a:latin typeface="游ゴシック"/>
                          <a:ea typeface="游ゴシック"/>
                        </a:rPr>
                        <a:t>売上高</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357,115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731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357,847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245,854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812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246,666</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279,294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615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279,909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96596">
                <a:tc>
                  <a:txBody>
                    <a:bodyPr wrap="square"/>
                    <a:lstStyle/>
                    <a:p>
                      <a:pPr algn="l"/>
                      <a:r>
                        <a:rPr sz="700" b="0">
                          <a:solidFill>
                            <a:srgbClr val="000000"/>
                          </a:solidFill>
                          <a:latin typeface="游ゴシック"/>
                          <a:ea typeface="游ゴシック"/>
                        </a:rPr>
                        <a:t>当期製造原価（CRより）</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353,076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353,076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264,751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264,751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273,790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273,790</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00" b="0">
                          <a:solidFill>
                            <a:srgbClr val="000000"/>
                          </a:solidFill>
                          <a:latin typeface="游ゴシック"/>
                          <a:ea typeface="游ゴシック"/>
                        </a:rPr>
                        <a:t>（調整）移転前拠点の二重賃料</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△1,205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△1,205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00" b="0">
                          <a:solidFill>
                            <a:srgbClr val="000000"/>
                          </a:solidFill>
                          <a:latin typeface="游ゴシック"/>
                          <a:ea typeface="游ゴシック"/>
                        </a:rPr>
                        <a:t>売上原価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353,076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353,076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264,751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△1,205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263,546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273,790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273,790</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00" b="1">
                          <a:solidFill>
                            <a:srgbClr val="000000"/>
                          </a:solidFill>
                          <a:latin typeface="游ゴシック"/>
                          <a:ea typeface="游ゴシック"/>
                        </a:rPr>
                        <a:t>売上総利益</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4,039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731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4,770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△18,897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2,017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△16,880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5,504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615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6,119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96596">
                <a:tc>
                  <a:txBody>
                    <a:bodyPr wrap="square"/>
                    <a:lstStyle/>
                    <a:p>
                      <a:pPr algn="l"/>
                      <a:r>
                        <a:rPr sz="700" b="0">
                          <a:solidFill>
                            <a:srgbClr val="000000"/>
                          </a:solidFill>
                          <a:latin typeface="游ゴシック"/>
                          <a:ea typeface="游ゴシック"/>
                        </a:rPr>
                        <a:t>販売費及び一般管理費</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19,182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19,182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19,710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19,710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16,503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16,503</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00" b="1">
                          <a:solidFill>
                            <a:srgbClr val="000000"/>
                          </a:solidFill>
                          <a:latin typeface="游ゴシック"/>
                          <a:ea typeface="游ゴシック"/>
                        </a:rPr>
                        <a:t>営業利益</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△15,143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731</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△14,412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△38,607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2,017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△36,590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△11,000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615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△10,384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96596">
                <a:tc>
                  <a:txBody>
                    <a:bodyPr wrap="square"/>
                    <a:lstStyle/>
                    <a:p>
                      <a:pPr algn="l"/>
                      <a:r>
                        <a:rPr sz="700" b="0">
                          <a:solidFill>
                            <a:srgbClr val="000000"/>
                          </a:solidFill>
                          <a:latin typeface="游ゴシック"/>
                          <a:ea typeface="游ゴシック"/>
                        </a:rPr>
                        <a:t>営業外収益</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10,733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△10,731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10,819</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△10,812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623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△615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8</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00" b="0">
                          <a:solidFill>
                            <a:srgbClr val="000000"/>
                          </a:solidFill>
                          <a:latin typeface="游ゴシック"/>
                          <a:ea typeface="游ゴシック"/>
                        </a:rPr>
                        <a:t>　受取利息</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6</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00" b="0">
                          <a:solidFill>
                            <a:srgbClr val="000000"/>
                          </a:solidFill>
                          <a:latin typeface="游ゴシック"/>
                          <a:ea typeface="游ゴシック"/>
                        </a:rPr>
                        <a:t>　受取配当金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2</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00" b="0">
                          <a:solidFill>
                            <a:srgbClr val="000000"/>
                          </a:solidFill>
                          <a:latin typeface="游ゴシック"/>
                          <a:ea typeface="游ゴシック"/>
                        </a:rPr>
                        <a:t>　雑収入（鉄屑売却等）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731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△731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812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△812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615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△615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00" b="0">
                          <a:solidFill>
                            <a:srgbClr val="000000"/>
                          </a:solidFill>
                          <a:latin typeface="游ゴシック"/>
                          <a:ea typeface="游ゴシック"/>
                        </a:rPr>
                        <a:t>　雑収入（立退解決金）</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10,000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△10,000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10,000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△10,000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00" b="0">
                          <a:solidFill>
                            <a:srgbClr val="000000"/>
                          </a:solidFill>
                          <a:latin typeface="游ゴシック"/>
                          <a:ea typeface="游ゴシック"/>
                        </a:rPr>
                        <a:t>　決算整理差額（要確認）</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00" b="0">
                          <a:solidFill>
                            <a:srgbClr val="000000"/>
                          </a:solidFill>
                          <a:latin typeface="游ゴシック"/>
                          <a:ea typeface="游ゴシック"/>
                        </a:rPr>
                        <a:t>営業外費用</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492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△492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885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△885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00" b="0">
                          <a:solidFill>
                            <a:srgbClr val="000000"/>
                          </a:solidFill>
                          <a:latin typeface="游ゴシック"/>
                          <a:ea typeface="游ゴシック"/>
                        </a:rPr>
                        <a:t>　支払利息</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492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△492</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885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△885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00" b="1">
                          <a:solidFill>
                            <a:srgbClr val="000000"/>
                          </a:solidFill>
                          <a:latin typeface="游ゴシック"/>
                          <a:ea typeface="游ゴシック"/>
                        </a:rPr>
                        <a:t>経常利益</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△4,410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△10,000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△14,410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△28,279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△8,304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△36,583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△11,262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885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△10,377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196596">
                <a:tc>
                  <a:txBody>
                    <a:bodyPr wrap="square"/>
                    <a:lstStyle/>
                    <a:p>
                      <a:pPr algn="l"/>
                      <a:r>
                        <a:rPr sz="700" b="0">
                          <a:solidFill>
                            <a:srgbClr val="000000"/>
                          </a:solidFill>
                          <a:latin typeface="游ゴシック"/>
                          <a:ea typeface="游ゴシック"/>
                        </a:rPr>
                        <a:t>法人税等</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700" b="0">
                          <a:solidFill>
                            <a:srgbClr val="000000"/>
                          </a:solidFill>
                          <a:latin typeface="Arial"/>
                          <a:ea typeface="游ゴシック Medium"/>
                        </a:rPr>
                        <a:t>70</a:t>
                      </a:r>
                    </a:p>
                  </a:txBody>
                  <a:tcPr marL="45720" marR="45720" marT="9144" marB="9144" anchor="ctr">
                    <a:lnL>
                      <a:noFill/>
                    </a:lnL>
                    <a:lnR>
                      <a:noFill/>
                    </a:lnR>
                    <a:lnT>
                      <a:noFill/>
                    </a:lnT>
                    <a:lnB w="6350" cap="flat" cmpd="sng" algn="ctr">
                      <a:solidFill>
                        <a:srgbClr val="A6A6A6"/>
                      </a:solidFill>
                      <a:prstDash val="solid"/>
                    </a:lnB>
                    <a:noFill/>
                  </a:tcPr>
                </a:tc>
              </a:tr>
              <a:tr h="196596">
                <a:tc>
                  <a:txBody>
                    <a:bodyPr wrap="square"/>
                    <a:lstStyle/>
                    <a:p>
                      <a:pPr algn="l"/>
                      <a:r>
                        <a:rPr sz="700" b="1">
                          <a:solidFill>
                            <a:srgbClr val="000000"/>
                          </a:solidFill>
                          <a:latin typeface="游ゴシック"/>
                          <a:ea typeface="游ゴシック"/>
                        </a:rPr>
                        <a:t>税引後当期純利益</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△4,480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△10,000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△14,480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△28,349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△8,304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△36,653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△11,332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885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700" b="1">
                          <a:solidFill>
                            <a:srgbClr val="000000"/>
                          </a:solidFill>
                          <a:latin typeface="Arial"/>
                          <a:ea typeface="游ゴシック Medium"/>
                        </a:rPr>
                        <a:t>△10,447</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spTree>
    <p:extLst>
      <p:ext uri="{BB962C8B-B14F-4D97-AF65-F5344CB8AC3E}">
        <p14:creationId xmlns:p14="http://schemas.microsoft.com/office/powerpoint/2010/main" val="1691939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C344F58-829E-63F5-31C6-9FB7EA727573}"/>
              </a:ext>
            </a:extLst>
          </p:cNvPr>
          <p:cNvSpPr>
            <a:spLocks noGrp="1"/>
          </p:cNvSpPr>
          <p:nvPr>
            <p:ph type="title"/>
          </p:nvPr>
        </p:nvSpPr>
        <p:spPr>
          <a:xfrm>
            <a:off x="989013" y="3249063"/>
            <a:ext cx="9221787" cy="1429750"/>
          </a:xfrm>
        </p:spPr>
        <p:txBody>
          <a:bodyPr/>
          <a:lstStyle/>
          <a:p>
            <a:pPr>
              <a:lnSpc>
                <a:spcPct val="120000"/>
              </a:lnSpc>
            </a:pPr>
            <a:r>
              <a:rPr lang="en-US" altLang="ja-JP" dirty="0"/>
              <a:t>Valuation Details </a:t>
            </a:r>
            <a:r>
              <a:rPr lang="ja-JP" altLang="en-US" dirty="0"/>
              <a:t>／</a:t>
            </a:r>
            <a:br>
              <a:rPr lang="en-US" altLang="ja-JP" dirty="0"/>
            </a:br>
            <a:r>
              <a:rPr lang="ja-JP" altLang="en-US" dirty="0"/>
              <a:t>株式価値の試算</a:t>
            </a:r>
          </a:p>
        </p:txBody>
      </p:sp>
      <p:grpSp>
        <p:nvGrpSpPr>
          <p:cNvPr id="6" name="グループ化 5">
            <a:extLst>
              <a:ext uri="{FF2B5EF4-FFF2-40B4-BE49-F238E27FC236}">
                <a16:creationId xmlns:a16="http://schemas.microsoft.com/office/drawing/2014/main" id="{52BB44DF-8448-FFAD-BE30-595A1754DDDF}"/>
              </a:ext>
            </a:extLst>
          </p:cNvPr>
          <p:cNvGrpSpPr/>
          <p:nvPr/>
        </p:nvGrpSpPr>
        <p:grpSpPr>
          <a:xfrm>
            <a:off x="885526" y="2173586"/>
            <a:ext cx="3390141" cy="651396"/>
            <a:chOff x="885526" y="2554586"/>
            <a:chExt cx="3390141" cy="651396"/>
          </a:xfrm>
        </p:grpSpPr>
        <p:sp>
          <p:nvSpPr>
            <p:cNvPr id="9" name="テキスト ボックス 8">
              <a:extLst>
                <a:ext uri="{FF2B5EF4-FFF2-40B4-BE49-F238E27FC236}">
                  <a16:creationId xmlns:a16="http://schemas.microsoft.com/office/drawing/2014/main" id="{F253E30E-0D7C-BFB0-7E67-4C2E49F2BDAA}"/>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3</a:t>
              </a:r>
              <a:endParaRPr lang="ja-JP" altLang="en-US" spc="100" dirty="0">
                <a:solidFill>
                  <a:schemeClr val="accent2">
                    <a:lumMod val="90000"/>
                  </a:schemeClr>
                </a:solidFill>
              </a:endParaRPr>
            </a:p>
          </p:txBody>
        </p:sp>
        <p:cxnSp>
          <p:nvCxnSpPr>
            <p:cNvPr id="10" name="直線コネクタ 9">
              <a:extLst>
                <a:ext uri="{FF2B5EF4-FFF2-40B4-BE49-F238E27FC236}">
                  <a16:creationId xmlns:a16="http://schemas.microsoft.com/office/drawing/2014/main" id="{A375A0D1-57FE-D27E-2B83-8DAF521DF351}"/>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0536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7F503-C243-C5C8-C2F0-929E04595FC1}"/>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987794EB-51E3-1A74-C717-E0C9AD41EC4E}"/>
              </a:ext>
            </a:extLst>
          </p:cNvPr>
          <p:cNvSpPr>
            <a:spLocks noGrp="1"/>
          </p:cNvSpPr>
          <p:nvPr>
            <p:ph type="ctrTitle"/>
          </p:nvPr>
        </p:nvSpPr>
        <p:spPr/>
        <p:txBody>
          <a:bodyPr/>
          <a:lstStyle/>
          <a:p>
            <a:r>
              <a:rPr lang="ja-JP" altLang="en-US" dirty="0"/>
              <a:t>年買法</a:t>
            </a:r>
            <a:r>
              <a:rPr lang="ja-JP" altLang="en-US" sz="1400" dirty="0"/>
              <a:t>（コストアプローチ）</a:t>
            </a:r>
            <a:r>
              <a:rPr lang="ja-JP" altLang="en-US" dirty="0"/>
              <a:t>による算出</a:t>
            </a:r>
          </a:p>
        </p:txBody>
      </p:sp>
      <p:sp>
        <p:nvSpPr>
          <p:cNvPr id="15" name="タイトル 1">
            <a:extLst>
              <a:ext uri="{FF2B5EF4-FFF2-40B4-BE49-F238E27FC236}">
                <a16:creationId xmlns:a16="http://schemas.microsoft.com/office/drawing/2014/main" id="{EB1A9B9D-5452-68CC-CE1E-8D524B93E067}"/>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3. Valuation Details </a:t>
            </a:r>
            <a:endParaRPr lang="ja-JP" altLang="en-US" spc="0" dirty="0"/>
          </a:p>
        </p:txBody>
      </p:sp>
      <p:sp>
        <p:nvSpPr>
          <p:cNvPr id="8" name="テキスト ボックス 7">
            <a:extLst>
              <a:ext uri="{FF2B5EF4-FFF2-40B4-BE49-F238E27FC236}">
                <a16:creationId xmlns:a16="http://schemas.microsoft.com/office/drawing/2014/main" id="{21C4CA3B-2902-E594-AF5A-2FA35252F4C7}"/>
              </a:ext>
            </a:extLst>
          </p:cNvPr>
          <p:cNvSpPr txBox="1"/>
          <p:nvPr/>
        </p:nvSpPr>
        <p:spPr>
          <a:xfrm>
            <a:off x="1625193" y="6527383"/>
            <a:ext cx="3132000" cy="358881"/>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800" spc="50" dirty="0">
                <a:latin typeface="+mn-ea"/>
              </a:rPr>
              <a:t>・営業損失の期は税考慮額をゼロとする（繰越欠損金があり納税が生じないため）</a:t>
            </a:r>
            <a:endParaRPr lang="en-US" altLang="ja-JP" sz="1000" spc="50" dirty="0">
              <a:latin typeface="+mn-ea"/>
            </a:endParaRPr>
          </a:p>
        </p:txBody>
      </p:sp>
      <p:grpSp>
        <p:nvGrpSpPr>
          <p:cNvPr id="2" name="グループ化 1">
            <a:extLst>
              <a:ext uri="{FF2B5EF4-FFF2-40B4-BE49-F238E27FC236}">
                <a16:creationId xmlns:a16="http://schemas.microsoft.com/office/drawing/2014/main" id="{A29EB66C-2E27-8434-B652-DDC186B7F0B3}"/>
              </a:ext>
            </a:extLst>
          </p:cNvPr>
          <p:cNvGrpSpPr/>
          <p:nvPr/>
        </p:nvGrpSpPr>
        <p:grpSpPr>
          <a:xfrm>
            <a:off x="7237573" y="4779102"/>
            <a:ext cx="3132001" cy="1440000"/>
            <a:chOff x="7110548" y="4536538"/>
            <a:chExt cx="3132001" cy="1440000"/>
          </a:xfrm>
        </p:grpSpPr>
        <p:sp>
          <p:nvSpPr>
            <p:cNvPr id="49" name="フローチャート: 処理 48">
              <a:extLst>
                <a:ext uri="{FF2B5EF4-FFF2-40B4-BE49-F238E27FC236}">
                  <a16:creationId xmlns:a16="http://schemas.microsoft.com/office/drawing/2014/main" id="{3563BF4B-3A03-4761-D966-E487EA4F0487}"/>
                </a:ext>
              </a:extLst>
            </p:cNvPr>
            <p:cNvSpPr/>
            <p:nvPr/>
          </p:nvSpPr>
          <p:spPr>
            <a:xfrm>
              <a:off x="7110549" y="4536538"/>
              <a:ext cx="3132000" cy="144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116000" tIns="0" rIns="180000" bIns="0" rtlCol="0" anchor="ctr"/>
            <a:lstStyle/>
            <a:p>
              <a:pPr>
                <a:lnSpc>
                  <a:spcPct val="120000"/>
                </a:lnSpc>
              </a:pPr>
              <a:r>
                <a:rPr lang="ja-JP" altLang="en-US" sz="1200" spc="30" dirty="0">
                  <a:solidFill>
                    <a:schemeClr val="tx2"/>
                  </a:solidFill>
                  <a:latin typeface="+mn-ea"/>
                </a:rPr>
                <a:t>営業権倍率は買手企業の</a:t>
              </a:r>
              <a:r>
                <a:rPr lang="en-US" altLang="ja-JP" sz="1200" spc="30" dirty="0">
                  <a:solidFill>
                    <a:schemeClr val="tx2"/>
                  </a:solidFill>
                  <a:latin typeface="+mn-ea"/>
                </a:rPr>
                <a:t>M&amp;A</a:t>
              </a:r>
              <a:r>
                <a:rPr lang="ja-JP" altLang="en-US" sz="1200" spc="30" dirty="0">
                  <a:solidFill>
                    <a:schemeClr val="tx2"/>
                  </a:solidFill>
                  <a:latin typeface="+mn-ea"/>
                </a:rPr>
                <a:t>方針、取り組み意欲、想定シナジー等によっても変動いたします。</a:t>
              </a:r>
            </a:p>
          </p:txBody>
        </p:sp>
        <p:sp>
          <p:nvSpPr>
            <p:cNvPr id="50" name="正方形/長方形 49">
              <a:extLst>
                <a:ext uri="{FF2B5EF4-FFF2-40B4-BE49-F238E27FC236}">
                  <a16:creationId xmlns:a16="http://schemas.microsoft.com/office/drawing/2014/main" id="{4ED737D8-0179-EDE9-A930-2CF46D17F20B}"/>
                </a:ext>
              </a:extLst>
            </p:cNvPr>
            <p:cNvSpPr/>
            <p:nvPr/>
          </p:nvSpPr>
          <p:spPr>
            <a:xfrm>
              <a:off x="7110548" y="4536538"/>
              <a:ext cx="936000" cy="144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2400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51" name="グループ化 50">
              <a:extLst>
                <a:ext uri="{FF2B5EF4-FFF2-40B4-BE49-F238E27FC236}">
                  <a16:creationId xmlns:a16="http://schemas.microsoft.com/office/drawing/2014/main" id="{CB2BF03D-D2D6-3CD9-BAC4-6C0DC169523C}"/>
                </a:ext>
              </a:extLst>
            </p:cNvPr>
            <p:cNvGrpSpPr/>
            <p:nvPr/>
          </p:nvGrpSpPr>
          <p:grpSpPr>
            <a:xfrm>
              <a:off x="7391962" y="4915692"/>
              <a:ext cx="373173" cy="373173"/>
              <a:chOff x="557955" y="6293952"/>
              <a:chExt cx="373173" cy="373173"/>
            </a:xfrm>
          </p:grpSpPr>
          <p:sp>
            <p:nvSpPr>
              <p:cNvPr id="52" name="楕円 51">
                <a:extLst>
                  <a:ext uri="{FF2B5EF4-FFF2-40B4-BE49-F238E27FC236}">
                    <a16:creationId xmlns:a16="http://schemas.microsoft.com/office/drawing/2014/main" id="{6F018B1F-7032-6330-2F6C-C5400AFD9242}"/>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53" name="グループ化 52">
                <a:extLst>
                  <a:ext uri="{FF2B5EF4-FFF2-40B4-BE49-F238E27FC236}">
                    <a16:creationId xmlns:a16="http://schemas.microsoft.com/office/drawing/2014/main" id="{7F068DAC-E598-190E-42FE-1189D043343B}"/>
                  </a:ext>
                </a:extLst>
              </p:cNvPr>
              <p:cNvGrpSpPr/>
              <p:nvPr/>
            </p:nvGrpSpPr>
            <p:grpSpPr>
              <a:xfrm>
                <a:off x="620003" y="6342163"/>
                <a:ext cx="249077" cy="276751"/>
                <a:chOff x="605367" y="6371166"/>
                <a:chExt cx="210977" cy="234418"/>
              </a:xfrm>
            </p:grpSpPr>
            <p:sp>
              <p:nvSpPr>
                <p:cNvPr id="54" name="フリーフォーム: 図形 53">
                  <a:extLst>
                    <a:ext uri="{FF2B5EF4-FFF2-40B4-BE49-F238E27FC236}">
                      <a16:creationId xmlns:a16="http://schemas.microsoft.com/office/drawing/2014/main" id="{A1DEA6EA-1E7F-7BF7-EC29-074B27A76C53}"/>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55" name="フリーフォーム: 図形 54">
                  <a:extLst>
                    <a:ext uri="{FF2B5EF4-FFF2-40B4-BE49-F238E27FC236}">
                      <a16:creationId xmlns:a16="http://schemas.microsoft.com/office/drawing/2014/main" id="{3FF254E6-4C92-A794-24E2-A0D99B5FC347}"/>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56" name="フリーフォーム: 図形 55">
                  <a:extLst>
                    <a:ext uri="{FF2B5EF4-FFF2-40B4-BE49-F238E27FC236}">
                      <a16:creationId xmlns:a16="http://schemas.microsoft.com/office/drawing/2014/main" id="{1CF77B68-8709-D733-9916-92C57E52E7FC}"/>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57" name="フリーフォーム: 図形 56">
                  <a:extLst>
                    <a:ext uri="{FF2B5EF4-FFF2-40B4-BE49-F238E27FC236}">
                      <a16:creationId xmlns:a16="http://schemas.microsoft.com/office/drawing/2014/main" id="{0747E862-F508-E276-0612-34F85441A35A}"/>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58" name="フリーフォーム: 図形 57">
                  <a:extLst>
                    <a:ext uri="{FF2B5EF4-FFF2-40B4-BE49-F238E27FC236}">
                      <a16:creationId xmlns:a16="http://schemas.microsoft.com/office/drawing/2014/main" id="{7E1CA8BD-0DEF-68F9-82D5-97A5971778F8}"/>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59" name="フリーフォーム: 図形 58">
                  <a:extLst>
                    <a:ext uri="{FF2B5EF4-FFF2-40B4-BE49-F238E27FC236}">
                      <a16:creationId xmlns:a16="http://schemas.microsoft.com/office/drawing/2014/main" id="{6FDF0A0B-79AC-C1B6-E12A-DE7ECB339827}"/>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60" name="グラフィックス 32">
                  <a:extLst>
                    <a:ext uri="{FF2B5EF4-FFF2-40B4-BE49-F238E27FC236}">
                      <a16:creationId xmlns:a16="http://schemas.microsoft.com/office/drawing/2014/main" id="{46003F03-0706-D56E-131C-6F71ACA679AA}"/>
                    </a:ext>
                  </a:extLst>
                </p:cNvPr>
                <p:cNvGrpSpPr/>
                <p:nvPr/>
              </p:nvGrpSpPr>
              <p:grpSpPr>
                <a:xfrm>
                  <a:off x="639299" y="6399061"/>
                  <a:ext cx="149149" cy="149149"/>
                  <a:chOff x="639299" y="6399061"/>
                  <a:chExt cx="149149" cy="149149"/>
                </a:xfrm>
              </p:grpSpPr>
              <p:sp>
                <p:nvSpPr>
                  <p:cNvPr id="68" name="フリーフォーム: 図形 67">
                    <a:extLst>
                      <a:ext uri="{FF2B5EF4-FFF2-40B4-BE49-F238E27FC236}">
                        <a16:creationId xmlns:a16="http://schemas.microsoft.com/office/drawing/2014/main" id="{FF1B27A2-5C8B-F971-8F1E-D89DE9245932}"/>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69" name="フリーフォーム: 図形 68">
                    <a:extLst>
                      <a:ext uri="{FF2B5EF4-FFF2-40B4-BE49-F238E27FC236}">
                        <a16:creationId xmlns:a16="http://schemas.microsoft.com/office/drawing/2014/main" id="{0A67E87D-C16C-7317-27D3-B65177A9A650}"/>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61" name="フリーフォーム: 図形 60">
                  <a:extLst>
                    <a:ext uri="{FF2B5EF4-FFF2-40B4-BE49-F238E27FC236}">
                      <a16:creationId xmlns:a16="http://schemas.microsoft.com/office/drawing/2014/main" id="{A22E7811-79CC-7D34-A60A-5DABDD728347}"/>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62" name="グラフィックス 32">
                  <a:extLst>
                    <a:ext uri="{FF2B5EF4-FFF2-40B4-BE49-F238E27FC236}">
                      <a16:creationId xmlns:a16="http://schemas.microsoft.com/office/drawing/2014/main" id="{DDB6E077-4DF8-9D28-CE9D-FD0DC38080E3}"/>
                    </a:ext>
                  </a:extLst>
                </p:cNvPr>
                <p:cNvGrpSpPr/>
                <p:nvPr/>
              </p:nvGrpSpPr>
              <p:grpSpPr>
                <a:xfrm>
                  <a:off x="605367" y="6470794"/>
                  <a:ext cx="210977" cy="5860"/>
                  <a:chOff x="605367" y="6470794"/>
                  <a:chExt cx="210977" cy="5860"/>
                </a:xfrm>
              </p:grpSpPr>
              <p:sp>
                <p:nvSpPr>
                  <p:cNvPr id="66" name="フリーフォーム: 図形 65">
                    <a:extLst>
                      <a:ext uri="{FF2B5EF4-FFF2-40B4-BE49-F238E27FC236}">
                        <a16:creationId xmlns:a16="http://schemas.microsoft.com/office/drawing/2014/main" id="{F6E3D96F-EC3C-7492-EAD2-472738E099EA}"/>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67" name="フリーフォーム: 図形 66">
                    <a:extLst>
                      <a:ext uri="{FF2B5EF4-FFF2-40B4-BE49-F238E27FC236}">
                        <a16:creationId xmlns:a16="http://schemas.microsoft.com/office/drawing/2014/main" id="{DCC1D94A-2131-4857-9112-4465F8CBD688}"/>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63" name="グラフィックス 32">
                  <a:extLst>
                    <a:ext uri="{FF2B5EF4-FFF2-40B4-BE49-F238E27FC236}">
                      <a16:creationId xmlns:a16="http://schemas.microsoft.com/office/drawing/2014/main" id="{1795E0F7-A5BB-F562-9C60-3E356D161488}"/>
                    </a:ext>
                  </a:extLst>
                </p:cNvPr>
                <p:cNvGrpSpPr/>
                <p:nvPr/>
              </p:nvGrpSpPr>
              <p:grpSpPr>
                <a:xfrm>
                  <a:off x="633262" y="6399061"/>
                  <a:ext cx="149149" cy="149149"/>
                  <a:chOff x="633262" y="6399061"/>
                  <a:chExt cx="149149" cy="149149"/>
                </a:xfrm>
              </p:grpSpPr>
              <p:sp>
                <p:nvSpPr>
                  <p:cNvPr id="64" name="フリーフォーム: 図形 63">
                    <a:extLst>
                      <a:ext uri="{FF2B5EF4-FFF2-40B4-BE49-F238E27FC236}">
                        <a16:creationId xmlns:a16="http://schemas.microsoft.com/office/drawing/2014/main" id="{DDC39931-DD4A-0A4F-7EF0-1E2166A51BA7}"/>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65" name="フリーフォーム: 図形 64">
                    <a:extLst>
                      <a:ext uri="{FF2B5EF4-FFF2-40B4-BE49-F238E27FC236}">
                        <a16:creationId xmlns:a16="http://schemas.microsoft.com/office/drawing/2014/main" id="{182857EE-5EF9-595C-B8CD-3E47A8977D5F}"/>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grpSp>
      <p:sp>
        <p:nvSpPr>
          <p:cNvPr id="4" name="正方形/長方形 3">
            <a:extLst>
              <a:ext uri="{FF2B5EF4-FFF2-40B4-BE49-F238E27FC236}">
                <a16:creationId xmlns:a16="http://schemas.microsoft.com/office/drawing/2014/main" id="{6BC308DD-4581-9B3D-2488-1CF63FDB56F1}"/>
              </a:ext>
            </a:extLst>
          </p:cNvPr>
          <p:cNvSpPr/>
          <p:nvPr/>
        </p:nvSpPr>
        <p:spPr>
          <a:xfrm>
            <a:off x="449264"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時価純資産</a:t>
            </a:r>
          </a:p>
        </p:txBody>
      </p:sp>
      <p:sp>
        <p:nvSpPr>
          <p:cNvPr id="11" name="正方形/長方形 10">
            <a:extLst>
              <a:ext uri="{FF2B5EF4-FFF2-40B4-BE49-F238E27FC236}">
                <a16:creationId xmlns:a16="http://schemas.microsoft.com/office/drawing/2014/main" id="{FF906F3B-339D-5C93-EB5C-667F5D10FE00}"/>
              </a:ext>
            </a:extLst>
          </p:cNvPr>
          <p:cNvSpPr/>
          <p:nvPr/>
        </p:nvSpPr>
        <p:spPr>
          <a:xfrm>
            <a:off x="4197486"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基準営業利益</a:t>
            </a:r>
          </a:p>
        </p:txBody>
      </p:sp>
      <p:sp>
        <p:nvSpPr>
          <p:cNvPr id="18" name="テキスト ボックス 17">
            <a:extLst>
              <a:ext uri="{FF2B5EF4-FFF2-40B4-BE49-F238E27FC236}">
                <a16:creationId xmlns:a16="http://schemas.microsoft.com/office/drawing/2014/main" id="{9FA20A16-6D84-8F71-DF07-E04C0E7459DA}"/>
              </a:ext>
            </a:extLst>
          </p:cNvPr>
          <p:cNvSpPr txBox="1"/>
          <p:nvPr/>
        </p:nvSpPr>
        <p:spPr>
          <a:xfrm>
            <a:off x="341313" y="4241196"/>
            <a:ext cx="7562850" cy="369332"/>
          </a:xfrm>
          <a:prstGeom prst="rect">
            <a:avLst/>
          </a:prstGeom>
          <a:noFill/>
        </p:spPr>
        <p:txBody>
          <a:bodyPr wrap="square">
            <a:spAutoFit/>
          </a:bodyPr>
          <a:lstStyle/>
          <a:p>
            <a:pPr marL="180000" indent="-180000">
              <a:buClr>
                <a:schemeClr val="tx2"/>
              </a:buClr>
              <a:buSzPct val="100000"/>
              <a:buFont typeface="游ゴシック" panose="020B0400000000000000" pitchFamily="50" charset="-128"/>
              <a:buChar char="▌"/>
            </a:pPr>
            <a:r>
              <a:rPr lang="ja-JP" altLang="en-US" sz="1800" b="1" spc="50" dirty="0">
                <a:solidFill>
                  <a:schemeClr val="tx1"/>
                </a:solidFill>
                <a:latin typeface="+mj-ea"/>
                <a:ea typeface="+mj-ea"/>
              </a:rPr>
              <a:t>想定株式価値</a:t>
            </a:r>
          </a:p>
        </p:txBody>
      </p:sp>
      <p:sp>
        <p:nvSpPr>
          <p:cNvPr id="19" name="正方形/長方形 18">
            <a:extLst>
              <a:ext uri="{FF2B5EF4-FFF2-40B4-BE49-F238E27FC236}">
                <a16:creationId xmlns:a16="http://schemas.microsoft.com/office/drawing/2014/main" id="{5B5D0BCA-B3E5-FD71-6C58-18B5BFACDC58}"/>
              </a:ext>
            </a:extLst>
          </p:cNvPr>
          <p:cNvSpPr/>
          <p:nvPr/>
        </p:nvSpPr>
        <p:spPr>
          <a:xfrm>
            <a:off x="449264" y="6374438"/>
            <a:ext cx="9793287" cy="645487"/>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20" name="テキスト ボックス 19">
            <a:extLst>
              <a:ext uri="{FF2B5EF4-FFF2-40B4-BE49-F238E27FC236}">
                <a16:creationId xmlns:a16="http://schemas.microsoft.com/office/drawing/2014/main" id="{1F5D9AD6-5ABF-F2CF-264A-30C999A3F804}"/>
              </a:ext>
            </a:extLst>
          </p:cNvPr>
          <p:cNvSpPr txBox="1"/>
          <p:nvPr/>
        </p:nvSpPr>
        <p:spPr>
          <a:xfrm>
            <a:off x="4443322" y="6437933"/>
            <a:ext cx="3132000" cy="543547"/>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800" spc="50" dirty="0">
                <a:latin typeface="+mn-ea"/>
              </a:rPr>
              <a:t>・営業利益は過去3年の加重平均を採用（26年5月期：25年5月期：24年5月期＝5：3：2）</a:t>
            </a:r>
            <a:endParaRPr lang="en-US" altLang="ja-JP" sz="1000" spc="50" dirty="0">
              <a:latin typeface="+mn-ea"/>
            </a:endParaRPr>
          </a:p>
        </p:txBody>
      </p:sp>
      <p:sp>
        <p:nvSpPr>
          <p:cNvPr id="21" name="テキスト ボックス 20">
            <a:extLst>
              <a:ext uri="{FF2B5EF4-FFF2-40B4-BE49-F238E27FC236}">
                <a16:creationId xmlns:a16="http://schemas.microsoft.com/office/drawing/2014/main" id="{BF0A492D-B740-FF9D-8465-2437101751AE}"/>
              </a:ext>
            </a:extLst>
          </p:cNvPr>
          <p:cNvSpPr txBox="1"/>
          <p:nvPr/>
        </p:nvSpPr>
        <p:spPr>
          <a:xfrm>
            <a:off x="7176433" y="6446993"/>
            <a:ext cx="3132000" cy="543547"/>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800" spc="50" dirty="0">
                <a:latin typeface="+mn-ea"/>
              </a:rPr>
              <a:t>・基準営業利益がマイナスのため営業権はゼロ（倍率1～3倍によらず同額）</a:t>
            </a:r>
            <a:endParaRPr lang="en-US" altLang="ja-JP" sz="1000" spc="50" dirty="0">
              <a:latin typeface="+mn-ea"/>
            </a:endParaRPr>
          </a:p>
        </p:txBody>
      </p:sp>
      <p:graphicFrame>
        <p:nvGraphicFramePr>
          <p:cNvPr id="70" name="Table 69"/>
          <p:cNvGraphicFramePr>
            <a:graphicFrameLocks noGrp="1"/>
          </p:cNvGraphicFramePr>
          <p:nvPr/>
        </p:nvGraphicFramePr>
        <p:xfrm>
          <a:off x="448056" y="1143000"/>
          <a:ext cx="2843784" cy="1170432"/>
        </p:xfrm>
        <a:graphic>
          <a:graphicData uri="http://schemas.openxmlformats.org/drawingml/2006/table">
            <a:tbl>
              <a:tblPr firstRow="0" bandRow="0" firstCol="0" lastRow="0" lastCol="0" bandCol="0"/>
              <a:tblGrid>
                <a:gridCol w="1645920"/>
                <a:gridCol w="1197864"/>
              </a:tblGrid>
              <a:tr h="292608">
                <a:tc>
                  <a:txBody>
                    <a:bodyPr wrap="square"/>
                    <a:lstStyle/>
                    <a:p>
                      <a:pPr algn="ctr"/>
                      <a:r>
                        <a:rPr sz="90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00" b="1">
                          <a:solidFill>
                            <a:srgbClr val="FFFFFF"/>
                          </a:solidFill>
                          <a:latin typeface="游ゴシック"/>
                          <a:ea typeface="游ゴシック"/>
                        </a:rPr>
                        <a:t>金額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92608">
                <a:tc>
                  <a:txBody>
                    <a:bodyPr wrap="square"/>
                    <a:lstStyle/>
                    <a:p>
                      <a:pPr algn="l"/>
                      <a:r>
                        <a:rPr sz="900" b="0">
                          <a:solidFill>
                            <a:srgbClr val="000000"/>
                          </a:solidFill>
                          <a:latin typeface="游ゴシック"/>
                          <a:ea typeface="游ゴシック"/>
                        </a:rPr>
                        <a:t>簿価純資産額</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△11,563</a:t>
                      </a:r>
                    </a:p>
                  </a:txBody>
                  <a:tcPr marL="45720" marR="45720" marT="9144" marB="9144" anchor="ctr">
                    <a:lnL>
                      <a:noFill/>
                    </a:lnL>
                    <a:lnR>
                      <a:noFill/>
                    </a:lnR>
                    <a:lnT>
                      <a:noFill/>
                    </a:lnT>
                    <a:lnB w="6350" cap="flat" cmpd="sng" algn="ctr">
                      <a:solidFill>
                        <a:srgbClr val="A6A6A6"/>
                      </a:solidFill>
                      <a:prstDash val="solid"/>
                    </a:lnB>
                    <a:noFill/>
                  </a:tcPr>
                </a:tc>
              </a:tr>
              <a:tr h="292608">
                <a:tc>
                  <a:txBody>
                    <a:bodyPr wrap="square"/>
                    <a:lstStyle/>
                    <a:p>
                      <a:pPr algn="l"/>
                      <a:r>
                        <a:rPr sz="900" b="0">
                          <a:solidFill>
                            <a:srgbClr val="000000"/>
                          </a:solidFill>
                          <a:latin typeface="游ゴシック"/>
                          <a:ea typeface="游ゴシック"/>
                        </a:rPr>
                        <a:t>修正額</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△1,023</a:t>
                      </a:r>
                    </a:p>
                  </a:txBody>
                  <a:tcPr marL="45720" marR="45720" marT="9144" marB="9144" anchor="ctr">
                    <a:lnL>
                      <a:noFill/>
                    </a:lnL>
                    <a:lnR>
                      <a:noFill/>
                    </a:lnR>
                    <a:lnT>
                      <a:noFill/>
                    </a:lnT>
                    <a:lnB w="6350" cap="flat" cmpd="sng" algn="ctr">
                      <a:solidFill>
                        <a:srgbClr val="A6A6A6"/>
                      </a:solidFill>
                      <a:prstDash val="solid"/>
                    </a:lnB>
                    <a:noFill/>
                  </a:tcPr>
                </a:tc>
              </a:tr>
              <a:tr h="292608">
                <a:tc>
                  <a:txBody>
                    <a:bodyPr wrap="square"/>
                    <a:lstStyle/>
                    <a:p>
                      <a:pPr algn="l"/>
                      <a:r>
                        <a:rPr sz="900" b="1">
                          <a:solidFill>
                            <a:srgbClr val="000000"/>
                          </a:solidFill>
                          <a:latin typeface="游ゴシック"/>
                          <a:ea typeface="游ゴシック"/>
                        </a:rPr>
                        <a:t>時価純資産</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900" b="1">
                          <a:solidFill>
                            <a:srgbClr val="000000"/>
                          </a:solidFill>
                          <a:latin typeface="Arial"/>
                          <a:ea typeface="游ゴシック Medium"/>
                        </a:rPr>
                        <a:t>△12,586</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graphicFrame>
        <p:nvGraphicFramePr>
          <p:cNvPr id="71" name="Table 70"/>
          <p:cNvGraphicFramePr>
            <a:graphicFrameLocks noGrp="1"/>
          </p:cNvGraphicFramePr>
          <p:nvPr/>
        </p:nvGraphicFramePr>
        <p:xfrm>
          <a:off x="4224528" y="1143000"/>
          <a:ext cx="6135624" cy="2340864"/>
        </p:xfrm>
        <a:graphic>
          <a:graphicData uri="http://schemas.openxmlformats.org/drawingml/2006/table">
            <a:tbl>
              <a:tblPr firstRow="0" bandRow="0" firstCol="0" lastRow="0" lastCol="0" bandCol="0"/>
              <a:tblGrid>
                <a:gridCol w="2377440"/>
                <a:gridCol w="1252728"/>
                <a:gridCol w="1252728"/>
                <a:gridCol w="1252728"/>
              </a:tblGrid>
              <a:tr h="292608">
                <a:tc>
                  <a:txBody>
                    <a:bodyPr wrap="square"/>
                    <a:lstStyle/>
                    <a:p>
                      <a:pPr algn="ctr"/>
                      <a:r>
                        <a:rPr sz="900" b="1">
                          <a:solidFill>
                            <a:srgbClr val="FFFFFF"/>
                          </a:solidFill>
                          <a:latin typeface="游ゴシック"/>
                          <a:ea typeface="游ゴシック"/>
                        </a:rPr>
                        <a:t>　</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00" b="1">
                          <a:solidFill>
                            <a:srgbClr val="FFFFFF"/>
                          </a:solidFill>
                          <a:latin typeface="游ゴシック"/>
                          <a:ea typeface="游ゴシック"/>
                        </a:rPr>
                        <a:t>24年5月期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00" b="1">
                          <a:solidFill>
                            <a:srgbClr val="FFFFFF"/>
                          </a:solidFill>
                          <a:latin typeface="游ゴシック"/>
                          <a:ea typeface="游ゴシック"/>
                        </a:rPr>
                        <a:t>25年5月期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0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92608">
                <a:tc>
                  <a:txBody>
                    <a:bodyPr wrap="square"/>
                    <a:lstStyle/>
                    <a:p>
                      <a:pPr algn="l"/>
                      <a:r>
                        <a:rPr sz="900" b="0">
                          <a:solidFill>
                            <a:srgbClr val="000000"/>
                          </a:solidFill>
                          <a:latin typeface="游ゴシック"/>
                          <a:ea typeface="游ゴシック"/>
                        </a:rPr>
                        <a:t>簿価営業利益</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△15,143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△38,607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△11,000</a:t>
                      </a:r>
                    </a:p>
                  </a:txBody>
                  <a:tcPr marL="45720" marR="45720" marT="9144" marB="9144" anchor="ctr">
                    <a:lnL>
                      <a:noFill/>
                    </a:lnL>
                    <a:lnR>
                      <a:noFill/>
                    </a:lnR>
                    <a:lnT>
                      <a:noFill/>
                    </a:lnT>
                    <a:lnB w="6350" cap="flat" cmpd="sng" algn="ctr">
                      <a:solidFill>
                        <a:srgbClr val="A6A6A6"/>
                      </a:solidFill>
                      <a:prstDash val="solid"/>
                    </a:lnB>
                    <a:noFill/>
                  </a:tcPr>
                </a:tc>
              </a:tr>
              <a:tr h="292608">
                <a:tc>
                  <a:txBody>
                    <a:bodyPr wrap="square"/>
                    <a:lstStyle/>
                    <a:p>
                      <a:pPr algn="l"/>
                      <a:r>
                        <a:rPr sz="900" b="0">
                          <a:solidFill>
                            <a:srgbClr val="000000"/>
                          </a:solidFill>
                          <a:latin typeface="游ゴシック"/>
                          <a:ea typeface="游ゴシック"/>
                        </a:rPr>
                        <a:t>修正額</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731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2,017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615</a:t>
                      </a:r>
                    </a:p>
                  </a:txBody>
                  <a:tcPr marL="45720" marR="45720" marT="9144" marB="9144" anchor="ctr">
                    <a:lnL>
                      <a:noFill/>
                    </a:lnL>
                    <a:lnR>
                      <a:noFill/>
                    </a:lnR>
                    <a:lnT>
                      <a:noFill/>
                    </a:lnT>
                    <a:lnB w="6350" cap="flat" cmpd="sng" algn="ctr">
                      <a:solidFill>
                        <a:srgbClr val="A6A6A6"/>
                      </a:solidFill>
                      <a:prstDash val="solid"/>
                    </a:lnB>
                    <a:noFill/>
                  </a:tcPr>
                </a:tc>
              </a:tr>
              <a:tr h="292608">
                <a:tc>
                  <a:txBody>
                    <a:bodyPr wrap="square"/>
                    <a:lstStyle/>
                    <a:p>
                      <a:pPr algn="l"/>
                      <a:r>
                        <a:rPr sz="900" b="1">
                          <a:solidFill>
                            <a:srgbClr val="000000"/>
                          </a:solidFill>
                          <a:latin typeface="游ゴシック"/>
                          <a:ea typeface="游ゴシック"/>
                        </a:rPr>
                        <a:t>修正後営業利益</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900" b="1">
                          <a:solidFill>
                            <a:srgbClr val="000000"/>
                          </a:solidFill>
                          <a:latin typeface="Arial"/>
                          <a:ea typeface="游ゴシック Medium"/>
                        </a:rPr>
                        <a:t>△14,412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900" b="1">
                          <a:solidFill>
                            <a:srgbClr val="000000"/>
                          </a:solidFill>
                          <a:latin typeface="Arial"/>
                          <a:ea typeface="游ゴシック Medium"/>
                        </a:rPr>
                        <a:t>△36,590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900" b="1">
                          <a:solidFill>
                            <a:srgbClr val="000000"/>
                          </a:solidFill>
                          <a:latin typeface="Arial"/>
                          <a:ea typeface="游ゴシック Medium"/>
                        </a:rPr>
                        <a:t>△10,384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92608">
                <a:tc>
                  <a:txBody>
                    <a:bodyPr wrap="square"/>
                    <a:lstStyle/>
                    <a:p>
                      <a:pPr algn="l"/>
                      <a:r>
                        <a:rPr sz="900" b="0">
                          <a:solidFill>
                            <a:srgbClr val="000000"/>
                          </a:solidFill>
                          <a:latin typeface="游ゴシック"/>
                          <a:ea typeface="游ゴシック"/>
                        </a:rPr>
                        <a:t>税考慮額</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292608">
                <a:tc>
                  <a:txBody>
                    <a:bodyPr wrap="square"/>
                    <a:lstStyle/>
                    <a:p>
                      <a:pPr algn="l"/>
                      <a:r>
                        <a:rPr sz="900" b="1">
                          <a:solidFill>
                            <a:srgbClr val="000000"/>
                          </a:solidFill>
                          <a:latin typeface="游ゴシック"/>
                          <a:ea typeface="游ゴシック"/>
                        </a:rPr>
                        <a:t>修正後税考慮後営業利益</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900" b="1">
                          <a:solidFill>
                            <a:srgbClr val="000000"/>
                          </a:solidFill>
                          <a:latin typeface="Arial"/>
                          <a:ea typeface="游ゴシック Medium"/>
                        </a:rPr>
                        <a:t>△14,412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900" b="1">
                          <a:solidFill>
                            <a:srgbClr val="000000"/>
                          </a:solidFill>
                          <a:latin typeface="Arial"/>
                          <a:ea typeface="游ゴシック Medium"/>
                        </a:rPr>
                        <a:t>△36,590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900" b="1">
                          <a:solidFill>
                            <a:srgbClr val="000000"/>
                          </a:solidFill>
                          <a:latin typeface="Arial"/>
                          <a:ea typeface="游ゴシック Medium"/>
                        </a:rPr>
                        <a:t>△10,384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92608">
                <a:tc>
                  <a:txBody>
                    <a:bodyPr wrap="square"/>
                    <a:lstStyle/>
                    <a:p>
                      <a:pPr algn="l"/>
                      <a:r>
                        <a:rPr sz="900" b="0">
                          <a:solidFill>
                            <a:srgbClr val="000000"/>
                          </a:solidFill>
                          <a:latin typeface="游ゴシック"/>
                          <a:ea typeface="游ゴシック"/>
                        </a:rPr>
                        <a:t>加重</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20%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30%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50%</a:t>
                      </a:r>
                    </a:p>
                  </a:txBody>
                  <a:tcPr marL="45720" marR="45720" marT="9144" marB="9144" anchor="ctr">
                    <a:lnL>
                      <a:noFill/>
                    </a:lnL>
                    <a:lnR>
                      <a:noFill/>
                    </a:lnR>
                    <a:lnT>
                      <a:noFill/>
                    </a:lnT>
                    <a:lnB w="6350" cap="flat" cmpd="sng" algn="ctr">
                      <a:solidFill>
                        <a:srgbClr val="A6A6A6"/>
                      </a:solidFill>
                      <a:prstDash val="solid"/>
                    </a:lnB>
                    <a:noFill/>
                  </a:tcPr>
                </a:tc>
              </a:tr>
              <a:tr h="292608">
                <a:tc>
                  <a:txBody>
                    <a:bodyPr wrap="square"/>
                    <a:lstStyle/>
                    <a:p>
                      <a:pPr algn="l"/>
                      <a:r>
                        <a:rPr sz="900" b="1">
                          <a:solidFill>
                            <a:srgbClr val="000000"/>
                          </a:solidFill>
                          <a:latin typeface="游ゴシック"/>
                          <a:ea typeface="游ゴシック"/>
                        </a:rPr>
                        <a:t>基準営業利益（3期加重平均）</a:t>
                      </a:r>
                    </a:p>
                  </a:txBody>
                  <a:tcPr marL="45720" marR="45720" marT="9144" marB="9144" anchor="ctr">
                    <a:lnL>
                      <a:noFill/>
                    </a:lnL>
                    <a:lnR>
                      <a:noFill/>
                    </a:lnR>
                    <a:lnT>
                      <a:noFill/>
                    </a:lnT>
                    <a:lnB w="6350" cap="flat" cmpd="sng" algn="ctr">
                      <a:solidFill>
                        <a:srgbClr val="A6A6A6"/>
                      </a:solidFill>
                      <a:prstDash val="solid"/>
                    </a:lnB>
                    <a:solidFill>
                      <a:srgbClr val="E1F3FB"/>
                    </a:solidFill>
                  </a:tcPr>
                </a:tc>
                <a:tc>
                  <a:txBody>
                    <a:bodyPr wrap="square"/>
                    <a:lstStyle/>
                    <a:p>
                      <a:pPr algn="r"/>
                      <a:r>
                        <a:rPr sz="900" b="1">
                          <a:solidFill>
                            <a:srgbClr val="000000"/>
                          </a:solidFill>
                          <a:latin typeface="Arial"/>
                          <a:ea typeface="游ゴシック Medium"/>
                        </a:rPr>
                        <a:t>　</a:t>
                      </a:r>
                    </a:p>
                  </a:txBody>
                  <a:tcPr marL="45720" marR="45720" marT="9144" marB="9144" anchor="ctr">
                    <a:lnL>
                      <a:noFill/>
                    </a:lnL>
                    <a:lnR>
                      <a:noFill/>
                    </a:lnR>
                    <a:lnT>
                      <a:noFill/>
                    </a:lnT>
                    <a:lnB w="6350" cap="flat" cmpd="sng" algn="ctr">
                      <a:solidFill>
                        <a:srgbClr val="A6A6A6"/>
                      </a:solidFill>
                      <a:prstDash val="solid"/>
                    </a:lnB>
                    <a:solidFill>
                      <a:srgbClr val="E1F3FB"/>
                    </a:solidFill>
                  </a:tcPr>
                </a:tc>
                <a:tc>
                  <a:txBody>
                    <a:bodyPr wrap="square"/>
                    <a:lstStyle/>
                    <a:p>
                      <a:pPr algn="r"/>
                      <a:r>
                        <a:rPr sz="900" b="1">
                          <a:solidFill>
                            <a:srgbClr val="000000"/>
                          </a:solidFill>
                          <a:latin typeface="Arial"/>
                          <a:ea typeface="游ゴシック Medium"/>
                        </a:rPr>
                        <a:t>　</a:t>
                      </a:r>
                    </a:p>
                  </a:txBody>
                  <a:tcPr marL="45720" marR="45720" marT="9144" marB="9144" anchor="ctr">
                    <a:lnL>
                      <a:noFill/>
                    </a:lnL>
                    <a:lnR>
                      <a:noFill/>
                    </a:lnR>
                    <a:lnT>
                      <a:noFill/>
                    </a:lnT>
                    <a:lnB w="6350" cap="flat" cmpd="sng" algn="ctr">
                      <a:solidFill>
                        <a:srgbClr val="A6A6A6"/>
                      </a:solidFill>
                      <a:prstDash val="solid"/>
                    </a:lnB>
                    <a:solidFill>
                      <a:srgbClr val="E1F3FB"/>
                    </a:solidFill>
                  </a:tcPr>
                </a:tc>
                <a:tc>
                  <a:txBody>
                    <a:bodyPr wrap="square"/>
                    <a:lstStyle/>
                    <a:p>
                      <a:pPr algn="r"/>
                      <a:r>
                        <a:rPr sz="900" b="1">
                          <a:solidFill>
                            <a:srgbClr val="000000"/>
                          </a:solidFill>
                          <a:latin typeface="Arial"/>
                          <a:ea typeface="游ゴシック Medium"/>
                        </a:rPr>
                        <a:t>△19,051</a:t>
                      </a:r>
                    </a:p>
                  </a:txBody>
                  <a:tcPr marL="45720" marR="45720" marT="9144" marB="9144" anchor="ctr">
                    <a:lnL>
                      <a:noFill/>
                    </a:lnL>
                    <a:lnR>
                      <a:noFill/>
                    </a:lnR>
                    <a:lnT>
                      <a:noFill/>
                    </a:lnT>
                    <a:lnB w="6350" cap="flat" cmpd="sng" algn="ctr">
                      <a:solidFill>
                        <a:srgbClr val="A6A6A6"/>
                      </a:solidFill>
                      <a:prstDash val="solid"/>
                    </a:lnB>
                    <a:solidFill>
                      <a:srgbClr val="E1F3FB"/>
                    </a:solidFill>
                  </a:tcPr>
                </a:tc>
              </a:tr>
            </a:tbl>
          </a:graphicData>
        </a:graphic>
      </p:graphicFrame>
      <p:graphicFrame>
        <p:nvGraphicFramePr>
          <p:cNvPr id="72" name="Table 71"/>
          <p:cNvGraphicFramePr>
            <a:graphicFrameLocks noGrp="1"/>
          </p:cNvGraphicFramePr>
          <p:nvPr/>
        </p:nvGraphicFramePr>
        <p:xfrm>
          <a:off x="448056" y="4526280"/>
          <a:ext cx="6080760" cy="1316736"/>
        </p:xfrm>
        <a:graphic>
          <a:graphicData uri="http://schemas.openxmlformats.org/drawingml/2006/table">
            <a:tbl>
              <a:tblPr firstRow="0" bandRow="0" firstCol="0" lastRow="0" lastCol="0" bandCol="0"/>
              <a:tblGrid>
                <a:gridCol w="1828800"/>
                <a:gridCol w="1417320"/>
                <a:gridCol w="1417320"/>
                <a:gridCol w="1417320"/>
              </a:tblGrid>
              <a:tr h="329184">
                <a:tc>
                  <a:txBody>
                    <a:bodyPr wrap="square"/>
                    <a:lstStyle/>
                    <a:p>
                      <a:pPr algn="ctr"/>
                      <a:r>
                        <a:rPr sz="950" b="1">
                          <a:solidFill>
                            <a:srgbClr val="FFFFFF"/>
                          </a:solidFill>
                          <a:latin typeface="游ゴシック"/>
                          <a:ea typeface="游ゴシック"/>
                        </a:rPr>
                        <a:t>営業権倍率</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x1</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x2</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x3</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329184">
                <a:tc>
                  <a:txBody>
                    <a:bodyPr wrap="square"/>
                    <a:lstStyle/>
                    <a:p>
                      <a:pPr algn="l"/>
                      <a:r>
                        <a:rPr sz="950" b="0">
                          <a:solidFill>
                            <a:srgbClr val="000000"/>
                          </a:solidFill>
                          <a:latin typeface="游ゴシック"/>
                          <a:ea typeface="游ゴシック"/>
                        </a:rPr>
                        <a:t>時価純資産</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△12,586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△12,586</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△12,586</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l"/>
                      <a:r>
                        <a:rPr sz="950" b="0">
                          <a:solidFill>
                            <a:srgbClr val="000000"/>
                          </a:solidFill>
                          <a:latin typeface="游ゴシック"/>
                          <a:ea typeface="游ゴシック"/>
                        </a:rPr>
                        <a:t>営業権</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329184">
                <a:tc>
                  <a:txBody>
                    <a:bodyPr wrap="square"/>
                    <a:lstStyle/>
                    <a:p>
                      <a:pPr algn="l"/>
                      <a:r>
                        <a:rPr sz="950" b="1">
                          <a:solidFill>
                            <a:srgbClr val="000000"/>
                          </a:solidFill>
                          <a:latin typeface="游ゴシック"/>
                          <a:ea typeface="游ゴシック"/>
                        </a:rPr>
                        <a:t>想定株式価値</a:t>
                      </a:r>
                    </a:p>
                  </a:txBody>
                  <a:tcPr marL="45720" marR="45720" marT="9144" marB="9144" anchor="ctr">
                    <a:lnL>
                      <a:noFill/>
                    </a:lnL>
                    <a:lnR>
                      <a:noFill/>
                    </a:lnR>
                    <a:lnT>
                      <a:noFill/>
                    </a:lnT>
                    <a:lnB w="6350" cap="flat" cmpd="sng" algn="ctr">
                      <a:solidFill>
                        <a:srgbClr val="A6A6A6"/>
                      </a:solidFill>
                      <a:prstDash val="solid"/>
                    </a:lnB>
                    <a:solidFill>
                      <a:srgbClr val="E1F3FB"/>
                    </a:solidFill>
                  </a:tcPr>
                </a:tc>
                <a:tc>
                  <a:txBody>
                    <a:bodyPr wrap="square"/>
                    <a:lstStyle/>
                    <a:p>
                      <a:pPr algn="r"/>
                      <a:r>
                        <a:rPr sz="950" b="1">
                          <a:solidFill>
                            <a:srgbClr val="000000"/>
                          </a:solidFill>
                          <a:latin typeface="Arial"/>
                          <a:ea typeface="游ゴシック Medium"/>
                        </a:rPr>
                        <a:t>△12,586</a:t>
                      </a:r>
                    </a:p>
                  </a:txBody>
                  <a:tcPr marL="45720" marR="45720" marT="9144" marB="9144" anchor="ctr">
                    <a:lnL>
                      <a:noFill/>
                    </a:lnL>
                    <a:lnR>
                      <a:noFill/>
                    </a:lnR>
                    <a:lnT>
                      <a:noFill/>
                    </a:lnT>
                    <a:lnB w="6350" cap="flat" cmpd="sng" algn="ctr">
                      <a:solidFill>
                        <a:srgbClr val="A6A6A6"/>
                      </a:solidFill>
                      <a:prstDash val="solid"/>
                    </a:lnB>
                    <a:solidFill>
                      <a:srgbClr val="E1F3FB"/>
                    </a:solidFill>
                  </a:tcPr>
                </a:tc>
                <a:tc>
                  <a:txBody>
                    <a:bodyPr wrap="square"/>
                    <a:lstStyle/>
                    <a:p>
                      <a:pPr algn="r"/>
                      <a:r>
                        <a:rPr sz="950" b="1">
                          <a:solidFill>
                            <a:srgbClr val="000000"/>
                          </a:solidFill>
                          <a:latin typeface="Arial"/>
                          <a:ea typeface="游ゴシック Medium"/>
                        </a:rPr>
                        <a:t>△12,586</a:t>
                      </a:r>
                    </a:p>
                  </a:txBody>
                  <a:tcPr marL="45720" marR="45720" marT="9144" marB="9144" anchor="ctr">
                    <a:lnL>
                      <a:noFill/>
                    </a:lnL>
                    <a:lnR>
                      <a:noFill/>
                    </a:lnR>
                    <a:lnT>
                      <a:noFill/>
                    </a:lnT>
                    <a:lnB w="6350" cap="flat" cmpd="sng" algn="ctr">
                      <a:solidFill>
                        <a:srgbClr val="A6A6A6"/>
                      </a:solidFill>
                      <a:prstDash val="solid"/>
                    </a:lnB>
                    <a:solidFill>
                      <a:srgbClr val="E1F3FB"/>
                    </a:solidFill>
                  </a:tcPr>
                </a:tc>
                <a:tc>
                  <a:txBody>
                    <a:bodyPr wrap="square"/>
                    <a:lstStyle/>
                    <a:p>
                      <a:pPr algn="r"/>
                      <a:r>
                        <a:rPr sz="950" b="1">
                          <a:solidFill>
                            <a:srgbClr val="000000"/>
                          </a:solidFill>
                          <a:latin typeface="Arial"/>
                          <a:ea typeface="游ゴシック Medium"/>
                        </a:rPr>
                        <a:t>△12,586</a:t>
                      </a:r>
                    </a:p>
                  </a:txBody>
                  <a:tcPr marL="45720" marR="45720" marT="9144" marB="9144" anchor="ctr">
                    <a:lnL>
                      <a:noFill/>
                    </a:lnL>
                    <a:lnR>
                      <a:noFill/>
                    </a:lnR>
                    <a:lnT>
                      <a:noFill/>
                    </a:lnT>
                    <a:lnB w="6350" cap="flat" cmpd="sng" algn="ctr">
                      <a:solidFill>
                        <a:srgbClr val="A6A6A6"/>
                      </a:solidFill>
                      <a:prstDash val="solid"/>
                    </a:lnB>
                    <a:solidFill>
                      <a:srgbClr val="E1F3FB"/>
                    </a:solidFill>
                  </a:tcPr>
                </a:tc>
              </a:tr>
            </a:tbl>
          </a:graphicData>
        </a:graphic>
      </p:graphicFrame>
    </p:spTree>
    <p:extLst>
      <p:ext uri="{BB962C8B-B14F-4D97-AF65-F5344CB8AC3E}">
        <p14:creationId xmlns:p14="http://schemas.microsoft.com/office/powerpoint/2010/main" val="3814231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168CF-D69D-18FC-3A0E-C232A8D38007}"/>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D7EB75FF-F512-AB03-0F54-0531BD69257A}"/>
              </a:ext>
            </a:extLst>
          </p:cNvPr>
          <p:cNvSpPr>
            <a:spLocks noGrp="1"/>
          </p:cNvSpPr>
          <p:nvPr>
            <p:ph type="ctrTitle"/>
          </p:nvPr>
        </p:nvSpPr>
        <p:spPr/>
        <p:txBody>
          <a:bodyPr/>
          <a:lstStyle/>
          <a:p>
            <a:r>
              <a:rPr lang="en-US" altLang="ja-JP" dirty="0"/>
              <a:t>EV/EBITDA</a:t>
            </a:r>
            <a:r>
              <a:rPr lang="ja-JP" altLang="en-US" dirty="0"/>
              <a:t>マルチプル法</a:t>
            </a:r>
            <a:r>
              <a:rPr lang="ja-JP" altLang="en-US" sz="1400" dirty="0"/>
              <a:t>（マーケットアプローチ）</a:t>
            </a:r>
            <a:r>
              <a:rPr lang="ja-JP" altLang="en-US" dirty="0"/>
              <a:t>による算出</a:t>
            </a:r>
          </a:p>
        </p:txBody>
      </p:sp>
      <p:sp>
        <p:nvSpPr>
          <p:cNvPr id="15" name="タイトル 1">
            <a:extLst>
              <a:ext uri="{FF2B5EF4-FFF2-40B4-BE49-F238E27FC236}">
                <a16:creationId xmlns:a16="http://schemas.microsoft.com/office/drawing/2014/main" id="{90570B0E-6143-1519-8292-7086F7DE784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3. Valuation Details </a:t>
            </a:r>
            <a:endParaRPr lang="ja-JP" altLang="en-US" spc="0" dirty="0"/>
          </a:p>
        </p:txBody>
      </p:sp>
      <p:sp>
        <p:nvSpPr>
          <p:cNvPr id="4" name="正方形/長方形 3">
            <a:extLst>
              <a:ext uri="{FF2B5EF4-FFF2-40B4-BE49-F238E27FC236}">
                <a16:creationId xmlns:a16="http://schemas.microsoft.com/office/drawing/2014/main" id="{33074C14-EE57-454D-DEE5-B4FA1B4A9B58}"/>
              </a:ext>
            </a:extLst>
          </p:cNvPr>
          <p:cNvSpPr/>
          <p:nvPr/>
        </p:nvSpPr>
        <p:spPr>
          <a:xfrm>
            <a:off x="3913982" y="987425"/>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en-US" altLang="ja-JP" sz="1600" b="1" spc="50" dirty="0">
                <a:solidFill>
                  <a:schemeClr val="tx1"/>
                </a:solidFill>
                <a:latin typeface="+mj-ea"/>
                <a:ea typeface="+mj-ea"/>
              </a:rPr>
              <a:t>EV</a:t>
            </a:r>
            <a:r>
              <a:rPr lang="ja-JP" altLang="en-US" sz="1600" b="1" spc="50" dirty="0">
                <a:solidFill>
                  <a:schemeClr val="tx1"/>
                </a:solidFill>
                <a:latin typeface="+mj-ea"/>
                <a:ea typeface="+mj-ea"/>
              </a:rPr>
              <a:t>（</a:t>
            </a:r>
            <a:r>
              <a:rPr lang="en-US" altLang="ja-JP" sz="1600" b="1" spc="50" dirty="0">
                <a:solidFill>
                  <a:schemeClr val="tx1"/>
                </a:solidFill>
                <a:latin typeface="+mj-ea"/>
                <a:ea typeface="+mj-ea"/>
              </a:rPr>
              <a:t>EBITDA×</a:t>
            </a:r>
            <a:r>
              <a:rPr lang="ja-JP" altLang="en-US" sz="1600" b="1" spc="50" dirty="0">
                <a:solidFill>
                  <a:schemeClr val="tx1"/>
                </a:solidFill>
                <a:latin typeface="+mj-ea"/>
                <a:ea typeface="+mj-ea"/>
              </a:rPr>
              <a:t>倍率）</a:t>
            </a:r>
          </a:p>
        </p:txBody>
      </p:sp>
      <p:sp>
        <p:nvSpPr>
          <p:cNvPr id="11" name="正方形/長方形 10">
            <a:extLst>
              <a:ext uri="{FF2B5EF4-FFF2-40B4-BE49-F238E27FC236}">
                <a16:creationId xmlns:a16="http://schemas.microsoft.com/office/drawing/2014/main" id="{14370311-C1C8-F01A-03FB-4CB76D5E625E}"/>
              </a:ext>
            </a:extLst>
          </p:cNvPr>
          <p:cNvSpPr/>
          <p:nvPr/>
        </p:nvSpPr>
        <p:spPr>
          <a:xfrm>
            <a:off x="444636" y="987425"/>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ネットキャッシュ</a:t>
            </a:r>
          </a:p>
        </p:txBody>
      </p:sp>
      <p:sp>
        <p:nvSpPr>
          <p:cNvPr id="18" name="テキスト ボックス 17">
            <a:extLst>
              <a:ext uri="{FF2B5EF4-FFF2-40B4-BE49-F238E27FC236}">
                <a16:creationId xmlns:a16="http://schemas.microsoft.com/office/drawing/2014/main" id="{179AA9CD-95B4-9925-7A4F-9D862B690B84}"/>
              </a:ext>
            </a:extLst>
          </p:cNvPr>
          <p:cNvSpPr txBox="1"/>
          <p:nvPr/>
        </p:nvSpPr>
        <p:spPr>
          <a:xfrm>
            <a:off x="341313" y="3892348"/>
            <a:ext cx="7562850" cy="369332"/>
          </a:xfrm>
          <a:prstGeom prst="rect">
            <a:avLst/>
          </a:prstGeom>
          <a:noFill/>
        </p:spPr>
        <p:txBody>
          <a:bodyPr wrap="square">
            <a:spAutoFit/>
          </a:bodyPr>
          <a:lstStyle/>
          <a:p>
            <a:pPr marL="180000" indent="-180000">
              <a:buClr>
                <a:schemeClr val="tx2"/>
              </a:buClr>
              <a:buSzPct val="100000"/>
              <a:buFont typeface="游ゴシック" panose="020B0400000000000000" pitchFamily="50" charset="-128"/>
              <a:buChar char="▌"/>
            </a:pPr>
            <a:r>
              <a:rPr lang="ja-JP" altLang="en-US" sz="1800" b="1" spc="50" dirty="0">
                <a:solidFill>
                  <a:schemeClr val="tx1"/>
                </a:solidFill>
                <a:latin typeface="+mj-ea"/>
                <a:ea typeface="+mj-ea"/>
              </a:rPr>
              <a:t>想定株式価値</a:t>
            </a:r>
            <a:endParaRPr lang="en-US" altLang="ja-JP" sz="1800" b="1" spc="50" dirty="0">
              <a:solidFill>
                <a:schemeClr val="tx1"/>
              </a:solidFill>
              <a:latin typeface="+mj-ea"/>
              <a:ea typeface="+mj-ea"/>
            </a:endParaRPr>
          </a:p>
        </p:txBody>
      </p:sp>
      <p:graphicFrame>
        <p:nvGraphicFramePr>
          <p:cNvPr id="19" name="Table 18"/>
          <p:cNvGraphicFramePr>
            <a:graphicFrameLocks noGrp="1"/>
          </p:cNvGraphicFramePr>
          <p:nvPr/>
        </p:nvGraphicFramePr>
        <p:xfrm>
          <a:off x="448056" y="1234440"/>
          <a:ext cx="2843784" cy="1170432"/>
        </p:xfrm>
        <a:graphic>
          <a:graphicData uri="http://schemas.openxmlformats.org/drawingml/2006/table">
            <a:tbl>
              <a:tblPr firstRow="0" bandRow="0" firstCol="0" lastRow="0" lastCol="0" bandCol="0"/>
              <a:tblGrid>
                <a:gridCol w="1645920"/>
                <a:gridCol w="1197864"/>
              </a:tblGrid>
              <a:tr h="292608">
                <a:tc>
                  <a:txBody>
                    <a:bodyPr wrap="square"/>
                    <a:lstStyle/>
                    <a:p>
                      <a:pPr algn="ctr"/>
                      <a:r>
                        <a:rPr sz="90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00" b="1">
                          <a:solidFill>
                            <a:srgbClr val="FFFFFF"/>
                          </a:solidFill>
                          <a:latin typeface="游ゴシック"/>
                          <a:ea typeface="游ゴシック"/>
                        </a:rPr>
                        <a:t>金額</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92608">
                <a:tc>
                  <a:txBody>
                    <a:bodyPr wrap="square"/>
                    <a:lstStyle/>
                    <a:p>
                      <a:pPr algn="l"/>
                      <a:r>
                        <a:rPr sz="900" b="0">
                          <a:solidFill>
                            <a:srgbClr val="000000"/>
                          </a:solidFill>
                          <a:latin typeface="游ゴシック"/>
                          <a:ea typeface="游ゴシック"/>
                        </a:rPr>
                        <a:t>キャッシュライク</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4,903</a:t>
                      </a:r>
                    </a:p>
                  </a:txBody>
                  <a:tcPr marL="45720" marR="45720" marT="9144" marB="9144" anchor="ctr">
                    <a:lnL>
                      <a:noFill/>
                    </a:lnL>
                    <a:lnR>
                      <a:noFill/>
                    </a:lnR>
                    <a:lnT>
                      <a:noFill/>
                    </a:lnT>
                    <a:lnB w="6350" cap="flat" cmpd="sng" algn="ctr">
                      <a:solidFill>
                        <a:srgbClr val="A6A6A6"/>
                      </a:solidFill>
                      <a:prstDash val="solid"/>
                    </a:lnB>
                    <a:noFill/>
                  </a:tcPr>
                </a:tc>
              </a:tr>
              <a:tr h="292608">
                <a:tc>
                  <a:txBody>
                    <a:bodyPr wrap="square"/>
                    <a:lstStyle/>
                    <a:p>
                      <a:pPr algn="l"/>
                      <a:r>
                        <a:rPr sz="900" b="0">
                          <a:solidFill>
                            <a:srgbClr val="000000"/>
                          </a:solidFill>
                          <a:latin typeface="游ゴシック"/>
                          <a:ea typeface="游ゴシック"/>
                        </a:rPr>
                        <a:t>デットライク</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32,708</a:t>
                      </a:r>
                    </a:p>
                  </a:txBody>
                  <a:tcPr marL="45720" marR="45720" marT="9144" marB="9144" anchor="ctr">
                    <a:lnL>
                      <a:noFill/>
                    </a:lnL>
                    <a:lnR>
                      <a:noFill/>
                    </a:lnR>
                    <a:lnT>
                      <a:noFill/>
                    </a:lnT>
                    <a:lnB w="6350" cap="flat" cmpd="sng" algn="ctr">
                      <a:solidFill>
                        <a:srgbClr val="A6A6A6"/>
                      </a:solidFill>
                      <a:prstDash val="solid"/>
                    </a:lnB>
                    <a:noFill/>
                  </a:tcPr>
                </a:tc>
              </a:tr>
              <a:tr h="292608">
                <a:tc>
                  <a:txBody>
                    <a:bodyPr wrap="square"/>
                    <a:lstStyle/>
                    <a:p>
                      <a:pPr algn="l"/>
                      <a:r>
                        <a:rPr sz="900" b="1">
                          <a:solidFill>
                            <a:srgbClr val="000000"/>
                          </a:solidFill>
                          <a:latin typeface="游ゴシック"/>
                          <a:ea typeface="游ゴシック"/>
                        </a:rPr>
                        <a:t>ネットキャッシュ</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900" b="1">
                          <a:solidFill>
                            <a:srgbClr val="000000"/>
                          </a:solidFill>
                          <a:latin typeface="Arial"/>
                          <a:ea typeface="游ゴシック Medium"/>
                        </a:rPr>
                        <a:t>△27,805</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bl>
          </a:graphicData>
        </a:graphic>
      </p:graphicFrame>
      <p:graphicFrame>
        <p:nvGraphicFramePr>
          <p:cNvPr id="20" name="Table 19"/>
          <p:cNvGraphicFramePr>
            <a:graphicFrameLocks noGrp="1"/>
          </p:cNvGraphicFramePr>
          <p:nvPr/>
        </p:nvGraphicFramePr>
        <p:xfrm>
          <a:off x="3913632" y="1234440"/>
          <a:ext cx="6135624" cy="2340864"/>
        </p:xfrm>
        <a:graphic>
          <a:graphicData uri="http://schemas.openxmlformats.org/drawingml/2006/table">
            <a:tbl>
              <a:tblPr firstRow="0" bandRow="0" firstCol="0" lastRow="0" lastCol="0" bandCol="0"/>
              <a:tblGrid>
                <a:gridCol w="2377440"/>
                <a:gridCol w="1252728"/>
                <a:gridCol w="1252728"/>
                <a:gridCol w="1252728"/>
              </a:tblGrid>
              <a:tr h="292608">
                <a:tc>
                  <a:txBody>
                    <a:bodyPr wrap="square"/>
                    <a:lstStyle/>
                    <a:p>
                      <a:pPr algn="ctr"/>
                      <a:r>
                        <a:rPr sz="900" b="1">
                          <a:solidFill>
                            <a:srgbClr val="FFFFFF"/>
                          </a:solidFill>
                          <a:latin typeface="游ゴシック"/>
                          <a:ea typeface="游ゴシック"/>
                        </a:rPr>
                        <a:t>　</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00" b="1">
                          <a:solidFill>
                            <a:srgbClr val="FFFFFF"/>
                          </a:solidFill>
                          <a:latin typeface="游ゴシック"/>
                          <a:ea typeface="游ゴシック"/>
                        </a:rPr>
                        <a:t>24年5月期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00" b="1">
                          <a:solidFill>
                            <a:srgbClr val="FFFFFF"/>
                          </a:solidFill>
                          <a:latin typeface="游ゴシック"/>
                          <a:ea typeface="游ゴシック"/>
                        </a:rPr>
                        <a:t>25年5月期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00" b="1">
                          <a:solidFill>
                            <a:srgbClr val="FFFFFF"/>
                          </a:solidFill>
                          <a:latin typeface="游ゴシック"/>
                          <a:ea typeface="游ゴシック"/>
                        </a:rPr>
                        <a:t>26年5月期</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292608">
                <a:tc>
                  <a:txBody>
                    <a:bodyPr wrap="square"/>
                    <a:lstStyle/>
                    <a:p>
                      <a:pPr algn="l"/>
                      <a:r>
                        <a:rPr sz="900" b="0">
                          <a:solidFill>
                            <a:srgbClr val="000000"/>
                          </a:solidFill>
                          <a:latin typeface="游ゴシック"/>
                          <a:ea typeface="游ゴシック"/>
                        </a:rPr>
                        <a:t>簿価営業利益</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△15,143</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△38,607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△11,000</a:t>
                      </a:r>
                    </a:p>
                  </a:txBody>
                  <a:tcPr marL="45720" marR="45720" marT="9144" marB="9144" anchor="ctr">
                    <a:lnL>
                      <a:noFill/>
                    </a:lnL>
                    <a:lnR>
                      <a:noFill/>
                    </a:lnR>
                    <a:lnT>
                      <a:noFill/>
                    </a:lnT>
                    <a:lnB w="6350" cap="flat" cmpd="sng" algn="ctr">
                      <a:solidFill>
                        <a:srgbClr val="A6A6A6"/>
                      </a:solidFill>
                      <a:prstDash val="solid"/>
                    </a:lnB>
                    <a:noFill/>
                  </a:tcPr>
                </a:tc>
              </a:tr>
              <a:tr h="292608">
                <a:tc>
                  <a:txBody>
                    <a:bodyPr wrap="square"/>
                    <a:lstStyle/>
                    <a:p>
                      <a:pPr algn="l"/>
                      <a:r>
                        <a:rPr sz="900" b="0">
                          <a:solidFill>
                            <a:srgbClr val="000000"/>
                          </a:solidFill>
                          <a:latin typeface="游ゴシック"/>
                          <a:ea typeface="游ゴシック"/>
                        </a:rPr>
                        <a:t>修正額</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731</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2,017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615</a:t>
                      </a:r>
                    </a:p>
                  </a:txBody>
                  <a:tcPr marL="45720" marR="45720" marT="9144" marB="9144" anchor="ctr">
                    <a:lnL>
                      <a:noFill/>
                    </a:lnL>
                    <a:lnR>
                      <a:noFill/>
                    </a:lnR>
                    <a:lnT>
                      <a:noFill/>
                    </a:lnT>
                    <a:lnB w="6350" cap="flat" cmpd="sng" algn="ctr">
                      <a:solidFill>
                        <a:srgbClr val="A6A6A6"/>
                      </a:solidFill>
                      <a:prstDash val="solid"/>
                    </a:lnB>
                    <a:noFill/>
                  </a:tcPr>
                </a:tc>
              </a:tr>
              <a:tr h="292608">
                <a:tc>
                  <a:txBody>
                    <a:bodyPr wrap="square"/>
                    <a:lstStyle/>
                    <a:p>
                      <a:pPr algn="l"/>
                      <a:r>
                        <a:rPr sz="900" b="1">
                          <a:solidFill>
                            <a:srgbClr val="000000"/>
                          </a:solidFill>
                          <a:latin typeface="游ゴシック"/>
                          <a:ea typeface="游ゴシック"/>
                        </a:rPr>
                        <a:t>修正後営業利益</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900" b="1">
                          <a:solidFill>
                            <a:srgbClr val="000000"/>
                          </a:solidFill>
                          <a:latin typeface="Arial"/>
                          <a:ea typeface="游ゴシック Medium"/>
                        </a:rPr>
                        <a:t>△14,412</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900" b="1">
                          <a:solidFill>
                            <a:srgbClr val="000000"/>
                          </a:solidFill>
                          <a:latin typeface="Arial"/>
                          <a:ea typeface="游ゴシック Medium"/>
                        </a:rPr>
                        <a:t>△36,590</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900" b="1">
                          <a:solidFill>
                            <a:srgbClr val="000000"/>
                          </a:solidFill>
                          <a:latin typeface="Arial"/>
                          <a:ea typeface="游ゴシック Medium"/>
                        </a:rPr>
                        <a:t>△10,384</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92608">
                <a:tc>
                  <a:txBody>
                    <a:bodyPr wrap="square"/>
                    <a:lstStyle/>
                    <a:p>
                      <a:pPr algn="l"/>
                      <a:r>
                        <a:rPr sz="900" b="0">
                          <a:solidFill>
                            <a:srgbClr val="000000"/>
                          </a:solidFill>
                          <a:latin typeface="游ゴシック"/>
                          <a:ea typeface="游ゴシック"/>
                        </a:rPr>
                        <a:t>減価償却費（販管費＋製造原価）</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555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1,507</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835</a:t>
                      </a:r>
                    </a:p>
                  </a:txBody>
                  <a:tcPr marL="45720" marR="45720" marT="9144" marB="9144" anchor="ctr">
                    <a:lnL>
                      <a:noFill/>
                    </a:lnL>
                    <a:lnR>
                      <a:noFill/>
                    </a:lnR>
                    <a:lnT>
                      <a:noFill/>
                    </a:lnT>
                    <a:lnB w="6350" cap="flat" cmpd="sng" algn="ctr">
                      <a:solidFill>
                        <a:srgbClr val="A6A6A6"/>
                      </a:solidFill>
                      <a:prstDash val="solid"/>
                    </a:lnB>
                    <a:noFill/>
                  </a:tcPr>
                </a:tc>
              </a:tr>
              <a:tr h="292608">
                <a:tc>
                  <a:txBody>
                    <a:bodyPr wrap="square"/>
                    <a:lstStyle/>
                    <a:p>
                      <a:pPr algn="l"/>
                      <a:r>
                        <a:rPr sz="900" b="1">
                          <a:solidFill>
                            <a:srgbClr val="000000"/>
                          </a:solidFill>
                          <a:latin typeface="游ゴシック"/>
                          <a:ea typeface="游ゴシック"/>
                        </a:rPr>
                        <a:t>修正後EBITDA</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900" b="1">
                          <a:solidFill>
                            <a:srgbClr val="000000"/>
                          </a:solidFill>
                          <a:latin typeface="Arial"/>
                          <a:ea typeface="游ゴシック Medium"/>
                        </a:rPr>
                        <a:t>△13,856</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900" b="1">
                          <a:solidFill>
                            <a:srgbClr val="000000"/>
                          </a:solidFill>
                          <a:latin typeface="Arial"/>
                          <a:ea typeface="游ゴシック Medium"/>
                        </a:rPr>
                        <a:t>△35,083</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c>
                  <a:txBody>
                    <a:bodyPr wrap="square"/>
                    <a:lstStyle/>
                    <a:p>
                      <a:pPr algn="r"/>
                      <a:r>
                        <a:rPr sz="900" b="1">
                          <a:solidFill>
                            <a:srgbClr val="000000"/>
                          </a:solidFill>
                          <a:latin typeface="Arial"/>
                          <a:ea typeface="游ゴシック Medium"/>
                        </a:rPr>
                        <a:t>△9,549</a:t>
                      </a:r>
                    </a:p>
                  </a:txBody>
                  <a:tcPr marL="45720" marR="45720" marT="9144" marB="9144" anchor="ctr">
                    <a:lnL>
                      <a:noFill/>
                    </a:lnL>
                    <a:lnR>
                      <a:noFill/>
                    </a:lnR>
                    <a:lnT w="12700" cap="flat" cmpd="sng" algn="ctr">
                      <a:solidFill>
                        <a:srgbClr val="0B3041"/>
                      </a:solidFill>
                      <a:prstDash val="solid"/>
                    </a:lnT>
                    <a:lnB w="12700" cap="flat" cmpd="sng" algn="ctr">
                      <a:solidFill>
                        <a:srgbClr val="0B3041"/>
                      </a:solidFill>
                      <a:prstDash val="solid"/>
                    </a:lnB>
                    <a:solidFill>
                      <a:srgbClr val="E3E7E9"/>
                    </a:solidFill>
                  </a:tcPr>
                </a:tc>
              </a:tr>
              <a:tr h="292608">
                <a:tc>
                  <a:txBody>
                    <a:bodyPr wrap="square"/>
                    <a:lstStyle/>
                    <a:p>
                      <a:pPr algn="l"/>
                      <a:r>
                        <a:rPr sz="900" b="0">
                          <a:solidFill>
                            <a:srgbClr val="000000"/>
                          </a:solidFill>
                          <a:latin typeface="游ゴシック"/>
                          <a:ea typeface="游ゴシック"/>
                        </a:rPr>
                        <a:t>加重</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20%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30%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00" b="0">
                          <a:solidFill>
                            <a:srgbClr val="000000"/>
                          </a:solidFill>
                          <a:latin typeface="Arial"/>
                          <a:ea typeface="游ゴシック Medium"/>
                        </a:rPr>
                        <a:t>50%</a:t>
                      </a:r>
                    </a:p>
                  </a:txBody>
                  <a:tcPr marL="45720" marR="45720" marT="9144" marB="9144" anchor="ctr">
                    <a:lnL>
                      <a:noFill/>
                    </a:lnL>
                    <a:lnR>
                      <a:noFill/>
                    </a:lnR>
                    <a:lnT>
                      <a:noFill/>
                    </a:lnT>
                    <a:lnB w="6350" cap="flat" cmpd="sng" algn="ctr">
                      <a:solidFill>
                        <a:srgbClr val="A6A6A6"/>
                      </a:solidFill>
                      <a:prstDash val="solid"/>
                    </a:lnB>
                    <a:noFill/>
                  </a:tcPr>
                </a:tc>
              </a:tr>
              <a:tr h="292608">
                <a:tc>
                  <a:txBody>
                    <a:bodyPr wrap="square"/>
                    <a:lstStyle/>
                    <a:p>
                      <a:pPr algn="l"/>
                      <a:r>
                        <a:rPr sz="900" b="1">
                          <a:solidFill>
                            <a:srgbClr val="000000"/>
                          </a:solidFill>
                          <a:latin typeface="游ゴシック"/>
                          <a:ea typeface="游ゴシック"/>
                        </a:rPr>
                        <a:t>基準EBITDA（3期加重平均）</a:t>
                      </a:r>
                    </a:p>
                  </a:txBody>
                  <a:tcPr marL="45720" marR="45720" marT="9144" marB="9144" anchor="ctr">
                    <a:lnL>
                      <a:noFill/>
                    </a:lnL>
                    <a:lnR>
                      <a:noFill/>
                    </a:lnR>
                    <a:lnT>
                      <a:noFill/>
                    </a:lnT>
                    <a:lnB w="6350" cap="flat" cmpd="sng" algn="ctr">
                      <a:solidFill>
                        <a:srgbClr val="A6A6A6"/>
                      </a:solidFill>
                      <a:prstDash val="solid"/>
                    </a:lnB>
                    <a:solidFill>
                      <a:srgbClr val="E1F3FB"/>
                    </a:solidFill>
                  </a:tcPr>
                </a:tc>
                <a:tc>
                  <a:txBody>
                    <a:bodyPr wrap="square"/>
                    <a:lstStyle/>
                    <a:p>
                      <a:pPr algn="r"/>
                      <a:r>
                        <a:rPr sz="900" b="1">
                          <a:solidFill>
                            <a:srgbClr val="000000"/>
                          </a:solidFill>
                          <a:latin typeface="Arial"/>
                          <a:ea typeface="游ゴシック Medium"/>
                        </a:rPr>
                        <a:t>　</a:t>
                      </a:r>
                    </a:p>
                  </a:txBody>
                  <a:tcPr marL="45720" marR="45720" marT="9144" marB="9144" anchor="ctr">
                    <a:lnL>
                      <a:noFill/>
                    </a:lnL>
                    <a:lnR>
                      <a:noFill/>
                    </a:lnR>
                    <a:lnT>
                      <a:noFill/>
                    </a:lnT>
                    <a:lnB w="6350" cap="flat" cmpd="sng" algn="ctr">
                      <a:solidFill>
                        <a:srgbClr val="A6A6A6"/>
                      </a:solidFill>
                      <a:prstDash val="solid"/>
                    </a:lnB>
                    <a:solidFill>
                      <a:srgbClr val="E1F3FB"/>
                    </a:solidFill>
                  </a:tcPr>
                </a:tc>
                <a:tc>
                  <a:txBody>
                    <a:bodyPr wrap="square"/>
                    <a:lstStyle/>
                    <a:p>
                      <a:pPr algn="r"/>
                      <a:r>
                        <a:rPr sz="900" b="1">
                          <a:solidFill>
                            <a:srgbClr val="000000"/>
                          </a:solidFill>
                          <a:latin typeface="Arial"/>
                          <a:ea typeface="游ゴシック Medium"/>
                        </a:rPr>
                        <a:t>　</a:t>
                      </a:r>
                    </a:p>
                  </a:txBody>
                  <a:tcPr marL="45720" marR="45720" marT="9144" marB="9144" anchor="ctr">
                    <a:lnL>
                      <a:noFill/>
                    </a:lnL>
                    <a:lnR>
                      <a:noFill/>
                    </a:lnR>
                    <a:lnT>
                      <a:noFill/>
                    </a:lnT>
                    <a:lnB w="6350" cap="flat" cmpd="sng" algn="ctr">
                      <a:solidFill>
                        <a:srgbClr val="A6A6A6"/>
                      </a:solidFill>
                      <a:prstDash val="solid"/>
                    </a:lnB>
                    <a:solidFill>
                      <a:srgbClr val="E1F3FB"/>
                    </a:solidFill>
                  </a:tcPr>
                </a:tc>
                <a:tc>
                  <a:txBody>
                    <a:bodyPr wrap="square"/>
                    <a:lstStyle/>
                    <a:p>
                      <a:pPr algn="r"/>
                      <a:r>
                        <a:rPr sz="900" b="1">
                          <a:solidFill>
                            <a:srgbClr val="000000"/>
                          </a:solidFill>
                          <a:latin typeface="Arial"/>
                          <a:ea typeface="游ゴシック Medium"/>
                        </a:rPr>
                        <a:t>△18,071</a:t>
                      </a:r>
                    </a:p>
                  </a:txBody>
                  <a:tcPr marL="45720" marR="45720" marT="9144" marB="9144" anchor="ctr">
                    <a:lnL>
                      <a:noFill/>
                    </a:lnL>
                    <a:lnR>
                      <a:noFill/>
                    </a:lnR>
                    <a:lnT>
                      <a:noFill/>
                    </a:lnT>
                    <a:lnB w="6350" cap="flat" cmpd="sng" algn="ctr">
                      <a:solidFill>
                        <a:srgbClr val="A6A6A6"/>
                      </a:solidFill>
                      <a:prstDash val="solid"/>
                    </a:lnB>
                    <a:solidFill>
                      <a:srgbClr val="E1F3FB"/>
                    </a:solidFill>
                  </a:tcPr>
                </a:tc>
              </a:tr>
            </a:tbl>
          </a:graphicData>
        </a:graphic>
      </p:graphicFrame>
      <p:graphicFrame>
        <p:nvGraphicFramePr>
          <p:cNvPr id="21" name="Table 20"/>
          <p:cNvGraphicFramePr>
            <a:graphicFrameLocks noGrp="1"/>
          </p:cNvGraphicFramePr>
          <p:nvPr/>
        </p:nvGraphicFramePr>
        <p:xfrm>
          <a:off x="448056" y="4498848"/>
          <a:ext cx="6492240" cy="1508760"/>
        </p:xfrm>
        <a:graphic>
          <a:graphicData uri="http://schemas.openxmlformats.org/drawingml/2006/table">
            <a:tbl>
              <a:tblPr firstRow="0" bandRow="0" firstCol="0" lastRow="0" lastCol="0" bandCol="0"/>
              <a:tblGrid>
                <a:gridCol w="2377440"/>
                <a:gridCol w="1371600"/>
                <a:gridCol w="1371600"/>
                <a:gridCol w="1371600"/>
              </a:tblGrid>
              <a:tr h="301752">
                <a:tc>
                  <a:txBody>
                    <a:bodyPr wrap="square"/>
                    <a:lstStyle/>
                    <a:p>
                      <a:pPr algn="ctr"/>
                      <a:r>
                        <a:rPr sz="950" b="1">
                          <a:solidFill>
                            <a:srgbClr val="FFFFFF"/>
                          </a:solidFill>
                          <a:latin typeface="游ゴシック"/>
                          <a:ea typeface="游ゴシック"/>
                        </a:rPr>
                        <a:t>マルチプル倍率</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x3</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x4</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c>
                  <a:txBody>
                    <a:bodyPr wrap="square"/>
                    <a:lstStyle/>
                    <a:p>
                      <a:pPr algn="ctr"/>
                      <a:r>
                        <a:rPr sz="950" b="1">
                          <a:solidFill>
                            <a:srgbClr val="FFFFFF"/>
                          </a:solidFill>
                          <a:latin typeface="游ゴシック"/>
                          <a:ea typeface="游ゴシック"/>
                        </a:rPr>
                        <a:t>x5</a:t>
                      </a:r>
                    </a:p>
                  </a:txBody>
                  <a:tcPr marL="45720" marR="45720" marT="9144" marB="9144" anchor="ctr">
                    <a:lnL w="12700" cap="flat" cmpd="sng" algn="ctr">
                      <a:solidFill>
                        <a:srgbClr val="FFFFFF"/>
                      </a:solidFill>
                      <a:prstDash val="solid"/>
                    </a:lnL>
                    <a:lnR w="12700" cap="flat" cmpd="sng" algn="ctr">
                      <a:solidFill>
                        <a:srgbClr val="FFFFFF"/>
                      </a:solidFill>
                      <a:prstDash val="solid"/>
                    </a:lnR>
                    <a:lnT>
                      <a:noFill/>
                    </a:lnT>
                    <a:lnB w="6350" cap="flat" cmpd="sng" algn="ctr">
                      <a:solidFill>
                        <a:srgbClr val="FFFFFF"/>
                      </a:solidFill>
                      <a:prstDash val="solid"/>
                    </a:lnB>
                    <a:solidFill>
                      <a:srgbClr val="0B3041"/>
                    </a:solidFill>
                  </a:tcPr>
                </a:tc>
              </a:tr>
              <a:tr h="301752">
                <a:tc>
                  <a:txBody>
                    <a:bodyPr wrap="square"/>
                    <a:lstStyle/>
                    <a:p>
                      <a:pPr algn="l"/>
                      <a:r>
                        <a:rPr sz="950" b="0">
                          <a:solidFill>
                            <a:srgbClr val="000000"/>
                          </a:solidFill>
                          <a:latin typeface="游ゴシック"/>
                          <a:ea typeface="游ゴシック"/>
                        </a:rPr>
                        <a:t>EV（EBITDA×倍率）</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301752">
                <a:tc>
                  <a:txBody>
                    <a:bodyPr wrap="square"/>
                    <a:lstStyle/>
                    <a:p>
                      <a:pPr algn="l"/>
                      <a:r>
                        <a:rPr sz="950" b="0">
                          <a:solidFill>
                            <a:srgbClr val="000000"/>
                          </a:solidFill>
                          <a:latin typeface="游ゴシック"/>
                          <a:ea typeface="游ゴシック"/>
                        </a:rPr>
                        <a:t>非流動性ディスカウント（△30%）</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a:t>
                      </a:r>
                    </a:p>
                  </a:txBody>
                  <a:tcPr marL="45720" marR="45720" marT="9144" marB="9144" anchor="ctr">
                    <a:lnL>
                      <a:noFill/>
                    </a:lnL>
                    <a:lnR>
                      <a:noFill/>
                    </a:lnR>
                    <a:lnT>
                      <a:noFill/>
                    </a:lnT>
                    <a:lnB w="6350" cap="flat" cmpd="sng" algn="ctr">
                      <a:solidFill>
                        <a:srgbClr val="A6A6A6"/>
                      </a:solidFill>
                      <a:prstDash val="solid"/>
                    </a:lnB>
                    <a:noFill/>
                  </a:tcPr>
                </a:tc>
              </a:tr>
              <a:tr h="301752">
                <a:tc>
                  <a:txBody>
                    <a:bodyPr wrap="square"/>
                    <a:lstStyle/>
                    <a:p>
                      <a:pPr algn="l"/>
                      <a:r>
                        <a:rPr sz="950" b="0">
                          <a:solidFill>
                            <a:srgbClr val="000000"/>
                          </a:solidFill>
                          <a:latin typeface="游ゴシック"/>
                          <a:ea typeface="游ゴシック"/>
                        </a:rPr>
                        <a:t>ネットキャッシュ</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△27,805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△27,805</a:t>
                      </a:r>
                    </a:p>
                  </a:txBody>
                  <a:tcPr marL="45720" marR="45720" marT="9144" marB="9144" anchor="ctr">
                    <a:lnL>
                      <a:noFill/>
                    </a:lnL>
                    <a:lnR>
                      <a:noFill/>
                    </a:lnR>
                    <a:lnT>
                      <a:noFill/>
                    </a:lnT>
                    <a:lnB w="6350" cap="flat" cmpd="sng" algn="ctr">
                      <a:solidFill>
                        <a:srgbClr val="A6A6A6"/>
                      </a:solidFill>
                      <a:prstDash val="solid"/>
                    </a:lnB>
                    <a:noFill/>
                  </a:tcPr>
                </a:tc>
                <a:tc>
                  <a:txBody>
                    <a:bodyPr wrap="square"/>
                    <a:lstStyle/>
                    <a:p>
                      <a:pPr algn="r"/>
                      <a:r>
                        <a:rPr sz="950" b="0">
                          <a:solidFill>
                            <a:srgbClr val="000000"/>
                          </a:solidFill>
                          <a:latin typeface="Arial"/>
                          <a:ea typeface="游ゴシック Medium"/>
                        </a:rPr>
                        <a:t>△27,805</a:t>
                      </a:r>
                    </a:p>
                  </a:txBody>
                  <a:tcPr marL="45720" marR="45720" marT="9144" marB="9144" anchor="ctr">
                    <a:lnL>
                      <a:noFill/>
                    </a:lnL>
                    <a:lnR>
                      <a:noFill/>
                    </a:lnR>
                    <a:lnT>
                      <a:noFill/>
                    </a:lnT>
                    <a:lnB w="6350" cap="flat" cmpd="sng" algn="ctr">
                      <a:solidFill>
                        <a:srgbClr val="A6A6A6"/>
                      </a:solidFill>
                      <a:prstDash val="solid"/>
                    </a:lnB>
                    <a:noFill/>
                  </a:tcPr>
                </a:tc>
              </a:tr>
              <a:tr h="301752">
                <a:tc>
                  <a:txBody>
                    <a:bodyPr wrap="square"/>
                    <a:lstStyle/>
                    <a:p>
                      <a:pPr algn="l"/>
                      <a:r>
                        <a:rPr sz="950" b="1">
                          <a:solidFill>
                            <a:srgbClr val="000000"/>
                          </a:solidFill>
                          <a:latin typeface="游ゴシック"/>
                          <a:ea typeface="游ゴシック"/>
                        </a:rPr>
                        <a:t>想定株式価値</a:t>
                      </a:r>
                    </a:p>
                  </a:txBody>
                  <a:tcPr marL="45720" marR="45720" marT="9144" marB="9144" anchor="ctr">
                    <a:lnL>
                      <a:noFill/>
                    </a:lnL>
                    <a:lnR>
                      <a:noFill/>
                    </a:lnR>
                    <a:lnT>
                      <a:noFill/>
                    </a:lnT>
                    <a:lnB w="6350" cap="flat" cmpd="sng" algn="ctr">
                      <a:solidFill>
                        <a:srgbClr val="A6A6A6"/>
                      </a:solidFill>
                      <a:prstDash val="solid"/>
                    </a:lnB>
                    <a:solidFill>
                      <a:srgbClr val="E1F3FB"/>
                    </a:solidFill>
                  </a:tcPr>
                </a:tc>
                <a:tc>
                  <a:txBody>
                    <a:bodyPr wrap="square"/>
                    <a:lstStyle/>
                    <a:p>
                      <a:pPr algn="r"/>
                      <a:r>
                        <a:rPr sz="950" b="1">
                          <a:solidFill>
                            <a:srgbClr val="000000"/>
                          </a:solidFill>
                          <a:latin typeface="Arial"/>
                          <a:ea typeface="游ゴシック Medium"/>
                        </a:rPr>
                        <a:t>△27,805</a:t>
                      </a:r>
                    </a:p>
                  </a:txBody>
                  <a:tcPr marL="45720" marR="45720" marT="9144" marB="9144" anchor="ctr">
                    <a:lnL>
                      <a:noFill/>
                    </a:lnL>
                    <a:lnR>
                      <a:noFill/>
                    </a:lnR>
                    <a:lnT>
                      <a:noFill/>
                    </a:lnT>
                    <a:lnB w="6350" cap="flat" cmpd="sng" algn="ctr">
                      <a:solidFill>
                        <a:srgbClr val="A6A6A6"/>
                      </a:solidFill>
                      <a:prstDash val="solid"/>
                    </a:lnB>
                    <a:solidFill>
                      <a:srgbClr val="E1F3FB"/>
                    </a:solidFill>
                  </a:tcPr>
                </a:tc>
                <a:tc>
                  <a:txBody>
                    <a:bodyPr wrap="square"/>
                    <a:lstStyle/>
                    <a:p>
                      <a:pPr algn="r"/>
                      <a:r>
                        <a:rPr sz="950" b="1">
                          <a:solidFill>
                            <a:srgbClr val="000000"/>
                          </a:solidFill>
                          <a:latin typeface="Arial"/>
                          <a:ea typeface="游ゴシック Medium"/>
                        </a:rPr>
                        <a:t>△27,805</a:t>
                      </a:r>
                    </a:p>
                  </a:txBody>
                  <a:tcPr marL="45720" marR="45720" marT="9144" marB="9144" anchor="ctr">
                    <a:lnL>
                      <a:noFill/>
                    </a:lnL>
                    <a:lnR>
                      <a:noFill/>
                    </a:lnR>
                    <a:lnT>
                      <a:noFill/>
                    </a:lnT>
                    <a:lnB w="6350" cap="flat" cmpd="sng" algn="ctr">
                      <a:solidFill>
                        <a:srgbClr val="A6A6A6"/>
                      </a:solidFill>
                      <a:prstDash val="solid"/>
                    </a:lnB>
                    <a:solidFill>
                      <a:srgbClr val="E1F3FB"/>
                    </a:solidFill>
                  </a:tcPr>
                </a:tc>
                <a:tc>
                  <a:txBody>
                    <a:bodyPr wrap="square"/>
                    <a:lstStyle/>
                    <a:p>
                      <a:pPr algn="r"/>
                      <a:r>
                        <a:rPr sz="950" b="1">
                          <a:solidFill>
                            <a:srgbClr val="000000"/>
                          </a:solidFill>
                          <a:latin typeface="Arial"/>
                          <a:ea typeface="游ゴシック Medium"/>
                        </a:rPr>
                        <a:t>△27,805</a:t>
                      </a:r>
                    </a:p>
                  </a:txBody>
                  <a:tcPr marL="45720" marR="45720" marT="9144" marB="9144" anchor="ctr">
                    <a:lnL>
                      <a:noFill/>
                    </a:lnL>
                    <a:lnR>
                      <a:noFill/>
                    </a:lnR>
                    <a:lnT>
                      <a:noFill/>
                    </a:lnT>
                    <a:lnB w="6350" cap="flat" cmpd="sng" algn="ctr">
                      <a:solidFill>
                        <a:srgbClr val="A6A6A6"/>
                      </a:solidFill>
                      <a:prstDash val="solid"/>
                    </a:lnB>
                    <a:solidFill>
                      <a:srgbClr val="E1F3FB"/>
                    </a:solidFill>
                  </a:tcPr>
                </a:tc>
              </a:tr>
            </a:tbl>
          </a:graphicData>
        </a:graphic>
      </p:graphicFrame>
      <p:sp>
        <p:nvSpPr>
          <p:cNvPr id="22" name="Rectangle 21"/>
          <p:cNvSpPr/>
          <p:nvPr/>
        </p:nvSpPr>
        <p:spPr>
          <a:xfrm>
            <a:off x="7315200" y="4498848"/>
            <a:ext cx="3035808" cy="150876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06640" y="4544568"/>
            <a:ext cx="2880360"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spcAft>
                <a:spcPts val="200"/>
              </a:spcAft>
            </a:pPr>
            <a:r>
              <a:rPr sz="800" b="1">
                <a:solidFill>
                  <a:srgbClr val="0B3041"/>
                </a:solidFill>
                <a:latin typeface="游ゴシック Medium"/>
                <a:ea typeface="游ゴシック Medium"/>
              </a:rPr>
              <a:t>≪Comment≫</a:t>
            </a:r>
          </a:p>
          <a:p>
            <a:pPr algn="l">
              <a:spcAft>
                <a:spcPts val="200"/>
              </a:spcAft>
            </a:pPr>
            <a:r>
              <a:rPr sz="800" b="0">
                <a:solidFill>
                  <a:srgbClr val="000000"/>
                </a:solidFill>
                <a:latin typeface="游ゴシック Medium"/>
                <a:ea typeface="游ゴシック Medium"/>
              </a:rPr>
              <a:t>・基準EBITDAがマイナスのためEVはゼロ。</a:t>
            </a:r>
          </a:p>
          <a:p>
            <a:pPr algn="l">
              <a:spcAft>
                <a:spcPts val="200"/>
              </a:spcAft>
            </a:pPr>
            <a:r>
              <a:rPr sz="800" b="0">
                <a:solidFill>
                  <a:srgbClr val="000000"/>
                </a:solidFill>
                <a:latin typeface="游ゴシック Medium"/>
                <a:ea typeface="游ゴシック Medium"/>
              </a:rPr>
              <a:t>・非流動性ディスカウントは、上場会社の倍率に織り込まれた市場性を非上場株式へ適用するにあたり控除するもの。</a:t>
            </a:r>
          </a:p>
          <a:p>
            <a:pPr algn="l">
              <a:spcAft>
                <a:spcPts val="200"/>
              </a:spcAft>
            </a:pPr>
            <a:r>
              <a:rPr sz="800" b="0">
                <a:solidFill>
                  <a:srgbClr val="000000"/>
                </a:solidFill>
                <a:latin typeface="游ゴシック Medium"/>
                <a:ea typeface="游ゴシック Medium"/>
              </a:rPr>
              <a:t>・倍率3～5倍は中小企業M&amp;Aの実務水準。参照企業の倍率は算定日時点の株価で更新が必要。</a:t>
            </a:r>
          </a:p>
        </p:txBody>
      </p:sp>
    </p:spTree>
    <p:extLst>
      <p:ext uri="{BB962C8B-B14F-4D97-AF65-F5344CB8AC3E}">
        <p14:creationId xmlns:p14="http://schemas.microsoft.com/office/powerpoint/2010/main" val="9668121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6772</TotalTime>
  <Words>4921</Words>
  <Application>Microsoft Office PowerPoint</Application>
  <PresentationFormat>ユーザー設定</PresentationFormat>
  <Paragraphs>2031</Paragraphs>
  <Slides>23</Slides>
  <Notes>8</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23</vt:i4>
      </vt:variant>
    </vt:vector>
  </HeadingPairs>
  <TitlesOfParts>
    <vt:vector size="29" baseType="lpstr">
      <vt:lpstr>Meiryo UI</vt:lpstr>
      <vt:lpstr>游ゴシック</vt:lpstr>
      <vt:lpstr>游ゴシック Medium</vt:lpstr>
      <vt:lpstr>Arial</vt:lpstr>
      <vt:lpstr>Wingdings</vt:lpstr>
      <vt:lpstr>SL_2026</vt:lpstr>
      <vt:lpstr>Valuation Report</vt:lpstr>
      <vt:lpstr>はじめに</vt:lpstr>
      <vt:lpstr>株価評価にあたっての注意点</vt:lpstr>
      <vt:lpstr>PowerPoint プレゼンテーション</vt:lpstr>
      <vt:lpstr>Valuation Summary ／ 試算結果</vt:lpstr>
      <vt:lpstr>採用するアプローチの選定</vt:lpstr>
      <vt:lpstr>株式価値の試算結果</vt:lpstr>
      <vt:lpstr>Financial Analysis ／ 財務情報の分析（B/S）</vt:lpstr>
      <vt:lpstr>過去BSの推移</vt:lpstr>
      <vt:lpstr>BS補足［資産］</vt:lpstr>
      <vt:lpstr>修正内容詳細①［土地］</vt:lpstr>
      <vt:lpstr>修正BS［資産］</vt:lpstr>
      <vt:lpstr>BS補足［負債・純資産］</vt:lpstr>
      <vt:lpstr>修正BS［負債・純資産］</vt:lpstr>
      <vt:lpstr>ネットキャッシュの算定</vt:lpstr>
      <vt:lpstr>Financial Analysis ／ 財務情報の分析（P/L）</vt:lpstr>
      <vt:lpstr>過去PLの推移</vt:lpstr>
      <vt:lpstr>販管費及び一般管理費の修正</vt:lpstr>
      <vt:lpstr>修正PLの算定［正常収益力の集計］</vt:lpstr>
      <vt:lpstr>Valuation Details ／ 株式価値の試算</vt:lpstr>
      <vt:lpstr>年買法（コストアプローチ）による算出</vt:lpstr>
      <vt:lpstr>EV/EBITDAマルチプル法（マーケットアプローチ）による算出</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堀 茉莉</dc:creator>
  <cp:lastModifiedBy>田垣内 啓介</cp:lastModifiedBy>
  <cp:revision>122</cp:revision>
  <cp:lastPrinted>2026-03-05T06:58:20Z</cp:lastPrinted>
  <dcterms:created xsi:type="dcterms:W3CDTF">2025-11-26T06:32:54Z</dcterms:created>
  <dcterms:modified xsi:type="dcterms:W3CDTF">2026-07-07T23:28:37Z</dcterms:modified>
</cp:coreProperties>
</file>