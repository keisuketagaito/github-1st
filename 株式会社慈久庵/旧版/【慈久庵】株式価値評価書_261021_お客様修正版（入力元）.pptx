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8"/>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324" r:id="rId18"/>
    <p:sldId id="325" r:id="rId19"/>
    <p:sldId id="299" r:id="rId20"/>
    <p:sldId id="287" r:id="rId21"/>
    <p:sldId id="320" r:id="rId22"/>
    <p:sldId id="312" r:id="rId23"/>
    <p:sldId id="321" r:id="rId24"/>
    <p:sldId id="322" r:id="rId25"/>
    <p:sldId id="323" r:id="rId26"/>
    <p:sldId id="277" r:id="rId27"/>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p:scale>
          <a:sx n="100" d="100"/>
          <a:sy n="100" d="100"/>
        </p:scale>
        <p:origin x="1776" y="-48"/>
      </p:cViewPr>
      <p:guideLst>
        <p:guide orient="horz" pos="635"/>
        <p:guide pos="334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0.emf"/><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solidFill/>
              </a:rPr>
              <a:t>Valuation</a:t>
            </a:r>
            <a:r>
              <a:rPr lang="ja-JP" altLang="en-US" dirty="0">
                <a:solidFill/>
              </a:rPr>
              <a:t> </a:t>
            </a:r>
            <a:r>
              <a:rPr lang="en-US" altLang="ja-JP" dirty="0">
                <a:solidFill/>
              </a:rPr>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a:latin typeface="游ゴシック"/>
                <a:ea typeface="游ゴシック"/>
                <a:cs typeface="游ゴシック"/>
              </a:rPr>
              <a:t>株式会社慈久庵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57212"/>
            <a:ext cx="1718419" cy="276999"/>
          </a:xfrm>
          <a:prstGeom prst="rect">
            <a:avLst/>
          </a:prstGeom>
          <a:noFill/>
        </p:spPr>
        <p:txBody>
          <a:bodyPr wrap="none" lIns="0" tIns="0" rIns="0" bIns="0" rtlCol="0" anchor="ctr">
            <a:spAutoFit/>
          </a:bodyPr>
          <a:lstStyle/>
          <a:p>
            <a:pPr defTabSz="503972">
              <a:defRPr/>
            </a:pPr>
            <a:r>
              <a:rPr dirty="0">
                <a:latin typeface="游ゴシック"/>
                <a:ea typeface="游ゴシック"/>
                <a:cs typeface="游ゴシック"/>
              </a:rPr>
              <a:t>2026年10月</a:t>
            </a:r>
            <a:r>
              <a:rPr lang="en-US" dirty="0">
                <a:latin typeface="游ゴシック"/>
                <a:ea typeface="游ゴシック"/>
                <a:cs typeface="游ゴシック"/>
              </a:rPr>
              <a:t>21</a:t>
            </a:r>
            <a:r>
              <a:rPr dirty="0">
                <a:latin typeface="游ゴシック"/>
                <a:ea typeface="游ゴシック"/>
                <a:cs typeface="游ゴシック"/>
              </a:rPr>
              <a:t>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738043125"/>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zh-CN" altLang="en-US" sz="1100" dirty="0">
                          <a:latin typeface="游ゴシック"/>
                          <a:ea typeface="游ゴシック"/>
                          <a:cs typeface="游ゴシック"/>
                        </a:rPr>
                        <a:t>田垣内　啓介</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100" dirty="0">
                          <a:latin typeface="游ゴシック"/>
                          <a:ea typeface="游ゴシック"/>
                          <a:cs typeface="游ゴシック"/>
                        </a:rPr>
                        <a:t>080-4737-4326</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100" dirty="0">
                          <a:latin typeface="游ゴシック"/>
                          <a:ea typeface="游ゴシック"/>
                          <a:cs typeface="游ゴシック"/>
                        </a:rPr>
                        <a:t>tagaito_keisuke@ma-sg.co.jp</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solidFill/>
              </a:rPr>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solidFill/>
              </a:rPr>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solidFill/>
              </a:rPr>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solidFill/>
              </a:rPr>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solidFill/>
              </a:rPr>
              <a:t>M&amp;A</a:t>
            </a:r>
            <a:r>
              <a:rPr lang="ja-JP" altLang="en-US" sz="1200" dirty="0">
                <a:solidFill/>
              </a:rPr>
              <a:t>実行時の譲渡価額（売買取引価額）を保証するものではありません。</a:t>
            </a:r>
          </a:p>
          <a:p>
            <a:pPr>
              <a:spcAft>
                <a:spcPts val="1200"/>
              </a:spcAft>
            </a:pPr>
            <a:r>
              <a:rPr lang="ja-JP" altLang="en-US" sz="1200" dirty="0">
                <a:solidFill/>
              </a:rPr>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における株価は、買主との協議によって決定されるものであり、最終的に本書での評価結果の範囲外に</a:t>
            </a:r>
            <a:br>
              <a:rPr lang="en-US" altLang="ja-JP" dirty="0"/>
            </a:br>
            <a:r>
              <a:rPr lang="ja-JP" altLang="en-US" dirty="0">
                <a:solidFill/>
              </a:rPr>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における株価評価方法は画一的なものはなく、世の中には多数の算出手法が存在します。</a:t>
            </a:r>
            <a:br>
              <a:rPr lang="en-US" altLang="ja-JP" dirty="0"/>
            </a:br>
            <a:r>
              <a:rPr lang="ja-JP" altLang="en-US" dirty="0">
                <a:solidFill/>
              </a:rPr>
              <a:t>本書においては中小企業</a:t>
            </a:r>
            <a:r>
              <a:rPr lang="en-US" altLang="ja-JP" dirty="0">
                <a:solidFill/>
              </a:rPr>
              <a:t>M&amp;A</a:t>
            </a:r>
            <a:r>
              <a:rPr lang="ja-JP" altLang="en-US" dirty="0">
                <a:solidFill/>
              </a:rPr>
              <a:t>において用いられる一般的な評価手法から、貴社の評価に適していると</a:t>
            </a:r>
            <a:br>
              <a:rPr lang="en-US" altLang="ja-JP" dirty="0"/>
            </a:br>
            <a:r>
              <a:rPr lang="ja-JP" altLang="en-US" dirty="0">
                <a:solidFill/>
              </a:rPr>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今後の業績や事業の状態・見通し等の変化によって、株式価値は変動する為、適宜、月次試算表のご提出や、</a:t>
            </a:r>
            <a:br>
              <a:rPr lang="en-US" altLang="ja-JP" dirty="0"/>
            </a:br>
            <a:r>
              <a:rPr lang="ja-JP" altLang="en-US" dirty="0">
                <a:solidFill/>
              </a:rPr>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株価の一部を退職金や配当として受け取る事を希望される場合、当該金額は株価から減算されることが</a:t>
            </a:r>
            <a:br>
              <a:rPr lang="en-US" altLang="ja-JP" dirty="0"/>
            </a:br>
            <a:r>
              <a:rPr lang="ja-JP" altLang="en-US" dirty="0">
                <a:solidFill/>
              </a:rPr>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本書での評価結果を大幅に上回る株価を希望される場合、マッチングが困難になる為、</a:t>
            </a:r>
            <a:br>
              <a:rPr lang="en-US" altLang="ja-JP" dirty="0"/>
            </a:br>
            <a:r>
              <a:rPr lang="ja-JP" altLang="en-US" dirty="0">
                <a:solidFill/>
              </a:rPr>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Summary </a:t>
            </a:r>
            <a:r>
              <a:rPr lang="ja-JP" altLang="en-US" sz="1600" dirty="0">
                <a:solidFill/>
              </a:rPr>
              <a:t>／ </a:t>
            </a:r>
            <a:br>
              <a:rPr lang="en-US" altLang="ja-JP" sz="1800" dirty="0"/>
            </a:br>
            <a:r>
              <a:rPr lang="ja-JP" altLang="en-US" sz="2200" dirty="0">
                <a:solidFill/>
              </a:rPr>
              <a:t>試算結果</a:t>
            </a:r>
            <a:endParaRPr lang="en-US" altLang="ja-JP" sz="2200" dirty="0"/>
          </a:p>
          <a:p>
            <a:pPr>
              <a:spcAft>
                <a:spcPts val="1000"/>
              </a:spcAft>
            </a:pPr>
            <a:r>
              <a:rPr lang="en-US" altLang="ja-JP" sz="1600" dirty="0">
                <a:solidFill/>
              </a:rPr>
              <a:t>Financial Analysis </a:t>
            </a:r>
            <a:r>
              <a:rPr lang="ja-JP" altLang="en-US" sz="1600" dirty="0">
                <a:solidFill/>
              </a:rPr>
              <a:t>／ </a:t>
            </a:r>
            <a:br>
              <a:rPr lang="en-US" altLang="ja-JP" sz="1800" dirty="0"/>
            </a:br>
            <a:r>
              <a:rPr lang="ja-JP" altLang="en-US" dirty="0">
                <a:solidFill/>
              </a:rPr>
              <a:t>財務情報の分析</a:t>
            </a:r>
          </a:p>
          <a:p>
            <a:pPr>
              <a:spcAft>
                <a:spcPts val="1000"/>
              </a:spcAft>
            </a:pPr>
            <a:r>
              <a:rPr lang="en-US" altLang="ja-JP" sz="1600" dirty="0">
                <a:solidFill/>
              </a:rPr>
              <a:t>Valuation Details </a:t>
            </a:r>
            <a:r>
              <a:rPr lang="ja-JP" altLang="en-US" sz="1600" dirty="0">
                <a:solidFill/>
              </a:rPr>
              <a:t>／ </a:t>
            </a:r>
            <a:br>
              <a:rPr lang="en-US" altLang="ja-JP" sz="1800" dirty="0"/>
            </a:br>
            <a:r>
              <a:rPr lang="ja-JP" altLang="en-US" dirty="0">
                <a:solidFill/>
              </a:rPr>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1</a:t>
            </a:r>
            <a:endParaRPr kumimoji="1" lang="ja-JP" altLang="en-US" b="1" dirty="0">
              <a:solidFill>
                <a:schemeClr val="bg1"/>
              </a:solidFill>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2</a:t>
            </a:r>
            <a:endParaRPr kumimoji="1" lang="ja-JP" altLang="en-US" b="1" dirty="0">
              <a:solidFill>
                <a:schemeClr val="bg1"/>
              </a:solidFill>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3</a:t>
            </a:r>
            <a:endParaRPr kumimoji="1" lang="ja-JP" altLang="en-US" b="1" dirty="0">
              <a:solidFill>
                <a:schemeClr val="bg1"/>
              </a:solidFill>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4</a:t>
            </a:r>
            <a:endParaRPr kumimoji="1" lang="ja-JP" altLang="en-US" b="1" dirty="0">
              <a:solidFill>
                <a:schemeClr val="bg1"/>
              </a:solidFill>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5</a:t>
            </a:r>
            <a:endParaRPr kumimoji="1" lang="ja-JP" altLang="en-US" b="1" dirty="0">
              <a:solidFill>
                <a:schemeClr val="bg1"/>
              </a:solidFill>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Methodology </a:t>
            </a:r>
            <a:r>
              <a:rPr lang="ja-JP" altLang="en-US" sz="1600" dirty="0">
                <a:solidFill/>
              </a:rPr>
              <a:t>／ </a:t>
            </a:r>
            <a:br>
              <a:rPr lang="en-US" altLang="ja-JP" sz="1800" dirty="0"/>
            </a:br>
            <a:r>
              <a:rPr lang="ja-JP" altLang="en-US" dirty="0">
                <a:solidFill/>
              </a:rPr>
              <a:t>評価手法について</a:t>
            </a:r>
            <a:endParaRPr lang="en-US" altLang="ja-JP" dirty="0"/>
          </a:p>
          <a:p>
            <a:pPr>
              <a:spcAft>
                <a:spcPts val="1000"/>
              </a:spcAft>
            </a:pPr>
            <a:r>
              <a:rPr lang="en-US" altLang="ja-JP" sz="1600" dirty="0">
                <a:solidFill/>
              </a:rPr>
              <a:t>Valuation Concept </a:t>
            </a:r>
            <a:r>
              <a:rPr lang="ja-JP" altLang="en-US" sz="1600" dirty="0">
                <a:solidFill/>
              </a:rPr>
              <a:t>／ </a:t>
            </a:r>
            <a:br>
              <a:rPr lang="en-US" altLang="ja-JP" sz="1800" dirty="0"/>
            </a:br>
            <a:r>
              <a:rPr lang="ja-JP" altLang="en-US" dirty="0">
                <a:solidFill/>
              </a:rPr>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solidFill/>
              </a:rPr>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solidFill/>
              </a:rPr>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solidFill/>
              </a:rPr>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buNone/>
            </a:pPr>
            <a:br>
              <a:rPr lang="en-US" altLang="ja-JP" sz="1200" b="1" spc="30">
                <a:solidFill>
                  <a:schemeClr val="tx2"/>
                </a:solidFill>
                <a:latin typeface="+mj-ea"/>
                <a:ea typeface="+mj-ea"/>
              </a:rPr>
            </a:br>
            <a:r>
              <a:rPr sz="1050">
                <a:solidFill>
                  <a:srgbClr val="1A1A1A"/>
                </a:solidFill>
                <a:latin typeface="游ゴシック"/>
                <a:ea typeface="游ゴシック"/>
                <a:cs typeface="游ゴシック"/>
              </a:rPr>
              <a:t>最適な評価手法の選定にあたっては、対象会社の性質や評価目的などを踏まえ、総合的に判断する必要があります。</a:t>
            </a:r>
            <a:endParaRPr kumimoji="1" lang="ja-JP" altLang="en-US" sz="1200" b="1" spc="30" dirty="0">
              <a:solidFill>
                <a:schemeClr val="tx2"/>
              </a:solidFill>
              <a:latin typeface="+mj-ea"/>
              <a:ea typeface="+mj-ea"/>
            </a:endParaRPr>
          </a:p>
          <a:p>
            <a:pPr>
              <a:buNone/>
            </a:pPr>
            <a:r>
              <a:rPr sz="1050">
                <a:solidFill>
                  <a:srgbClr val="1A1A1A"/>
                </a:solidFill>
                <a:latin typeface="游ゴシック"/>
                <a:ea typeface="游ゴシック"/>
                <a:cs typeface="游ゴシック"/>
              </a:rPr>
              <a:t>なお、各手法の概略につきましては、巻末のAppendix「評価手法について」をご確認ください。</a:t>
            </a: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時価純資産に会社の超過収益力である営業権を加算することで継続企業価値を算定する手法。</a:t>
                      </a:r>
                    </a:p>
                    <a:p>
                      <a:pPr>
                        <a:buNone/>
                      </a:pPr>
                      <a:r>
                        <a:rPr sz="900">
                          <a:solidFill>
                            <a:srgbClr val="1A1A1A"/>
                          </a:solidFill>
                          <a:latin typeface="游ゴシック"/>
                          <a:ea typeface="游ゴシック"/>
                          <a:cs typeface="游ゴシック"/>
                        </a:rPr>
                        <a:t>・実質的な財政状態に加え、経営成績をバランスよく反映させることができる「時価純資産価額法」に「営業権」を加味する手法を採用。</a:t>
                      </a:r>
                    </a:p>
                    <a:p>
                      <a:pPr>
                        <a:buNone/>
                      </a:pPr>
                      <a:r>
                        <a:rPr sz="900">
                          <a:solidFill>
                            <a:srgbClr val="1A1A1A"/>
                          </a:solidFill>
                          <a:latin typeface="游ゴシック"/>
                          <a:ea typeface="游ゴシック"/>
                          <a:cs typeface="游ゴシック"/>
                        </a:rPr>
                        <a:t>・本件は店舗・土地という事業用資産の比重が大きく、資産性が価値の中心であるため特に適合的である。</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規模・業種が類似する企業の株価指標（倍率）をもとに、価値を算定する手法。</a:t>
                      </a:r>
                    </a:p>
                    <a:p>
                      <a:pPr>
                        <a:buNone/>
                      </a:pPr>
                      <a:r>
                        <a:rPr sz="900">
                          <a:solidFill>
                            <a:srgbClr val="1A1A1A"/>
                          </a:solidFill>
                          <a:latin typeface="游ゴシック"/>
                          <a:ea typeface="游ゴシック"/>
                          <a:cs typeface="游ゴシック"/>
                        </a:rPr>
                        <a:t>・株式市場における客観的な評価尺度である「株価」をベースとし、市場のトレンドを反映できる本手法を採用。</a:t>
                      </a:r>
                    </a:p>
                    <a:p>
                      <a:pPr>
                        <a:buNone/>
                      </a:pPr>
                      <a:r>
                        <a:rPr sz="900">
                          <a:solidFill>
                            <a:srgbClr val="1A1A1A"/>
                          </a:solidFill>
                          <a:latin typeface="游ゴシック"/>
                          <a:ea typeface="游ゴシック"/>
                          <a:cs typeface="游ゴシック"/>
                        </a:rPr>
                        <a:t>・ただし当社は1店舗・年商22百万円であり、類似上場会社とは事業規模が大きく異なるため、倍率は中小企業M&amp;Aの実例水準を用いた。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None/>
                      </a:pPr>
                      <a:r>
                        <a:rPr sz="900">
                          <a:solidFill>
                            <a:srgbClr val="1A1A1A"/>
                          </a:solidFill>
                          <a:latin typeface="游ゴシック"/>
                          <a:ea typeface="游ゴシック"/>
                          <a:cs typeface="游ゴシック"/>
                        </a:rPr>
                        <a:t>・収益還元法やDCF法を適用するには、根拠となる利益やキャッシュフローの計画値が必要となる。現状、詳細な事業計画が存在せず算定が困難であることから、これらの手法は採用しない。</a:t>
                      </a:r>
                    </a:p>
                    <a:p>
                      <a:pPr>
                        <a:buNone/>
                      </a:pPr>
                      <a:r>
                        <a:rPr sz="900">
                          <a:solidFill>
                            <a:srgbClr val="1A1A1A"/>
                          </a:solidFill>
                          <a:latin typeface="游ゴシック"/>
                          <a:ea typeface="游ゴシック"/>
                          <a:cs typeface="游ゴシック"/>
                        </a:rPr>
                        <a:t>・配当還元法は、本来、配当獲得を主眼とする少数株主の視点に立った評価手法である。したがって、本件取引の性質上、採用は適切ではないと判断した。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1. Valuation Summary</a:t>
            </a:r>
            <a:endParaRPr lang="ja-JP" altLang="en-US" spc="0" dirty="0"/>
          </a:p>
        </p:txBody>
      </p:sp>
      <p:sp>
        <p:nvSpPr>
          <p:cNvPr id="27" name="Rectangle 26"/>
          <p:cNvSpPr/>
          <p:nvPr/>
        </p:nvSpPr>
        <p:spPr>
          <a:xfrm>
            <a:off x="448056" y="841883"/>
            <a:ext cx="8458200" cy="34988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試算の前提条件</a:t>
            </a:r>
          </a:p>
        </p:txBody>
      </p:sp>
      <p:graphicFrame>
        <p:nvGraphicFramePr>
          <p:cNvPr id="28" name="Table 27"/>
          <p:cNvGraphicFramePr>
            <a:graphicFrameLocks noGrp="1"/>
          </p:cNvGraphicFramePr>
          <p:nvPr>
            <p:extLst>
              <p:ext uri="{D42A27DB-BD31-4B8C-83A1-F6EECF244321}">
                <p14:modId xmlns:p14="http://schemas.microsoft.com/office/powerpoint/2010/main" val="3617895162"/>
              </p:ext>
            </p:extLst>
          </p:nvPr>
        </p:nvGraphicFramePr>
        <p:xfrm>
          <a:off x="433578" y="1341120"/>
          <a:ext cx="9793224" cy="1627632"/>
        </p:xfrm>
        <a:graphic>
          <a:graphicData uri="http://schemas.openxmlformats.org/drawingml/2006/table">
            <a:tbl>
              <a:tblPr>
                <a:tableStyleId>{5940675A-B579-460E-94D1-54222C63F5DA}</a:tableStyleId>
              </a:tblPr>
              <a:tblGrid>
                <a:gridCol w="1078992">
                  <a:extLst>
                    <a:ext uri="{9D8B030D-6E8A-4147-A177-3AD203B41FA5}">
                      <a16:colId xmlns:a16="http://schemas.microsoft.com/office/drawing/2014/main" val="20000"/>
                    </a:ext>
                  </a:extLst>
                </a:gridCol>
                <a:gridCol w="8714232">
                  <a:extLst>
                    <a:ext uri="{9D8B030D-6E8A-4147-A177-3AD203B41FA5}">
                      <a16:colId xmlns:a16="http://schemas.microsoft.com/office/drawing/2014/main" val="20001"/>
                    </a:ext>
                  </a:extLst>
                </a:gridCol>
              </a:tblGrid>
              <a:tr h="237744">
                <a:tc>
                  <a:txBody>
                    <a:bodyPr/>
                    <a:lstStyle/>
                    <a:p>
                      <a:pPr algn="ctr">
                        <a:spcAft>
                          <a:spcPts val="0"/>
                        </a:spcAft>
                      </a:pPr>
                      <a:r>
                        <a:rPr sz="900" b="1">
                          <a:solidFill>
                            <a:srgbClr val="FFFFFF"/>
                          </a:solidFill>
                          <a:latin typeface="+mj-ea"/>
                          <a:ea typeface="+mj-ea"/>
                          <a:cs typeface="游ゴシック"/>
                        </a:rPr>
                        <a:t>項目</a:t>
                      </a:r>
                    </a:p>
                  </a:txBody>
                  <a:tcPr marL="45720" marR="45720" marT="9144" marB="9144" anchor="ctr">
                    <a:solidFill>
                      <a:srgbClr val="0B3041"/>
                    </a:solidFill>
                  </a:tcPr>
                </a:tc>
                <a:tc>
                  <a:txBody>
                    <a:bodyPr/>
                    <a:lstStyle/>
                    <a:p>
                      <a:pPr algn="ctr">
                        <a:spcAft>
                          <a:spcPts val="0"/>
                        </a:spcAft>
                      </a:pPr>
                      <a:r>
                        <a:rPr sz="900" b="1" dirty="0" err="1">
                          <a:solidFill>
                            <a:srgbClr val="FFFFFF"/>
                          </a:solidFill>
                          <a:latin typeface="+mj-ea"/>
                          <a:ea typeface="+mj-ea"/>
                          <a:cs typeface="Arial"/>
                        </a:rPr>
                        <a:t>内容</a:t>
                      </a:r>
                      <a:endParaRPr sz="900" b="1" dirty="0">
                        <a:solidFill>
                          <a:srgbClr val="FFFFFF"/>
                        </a:solidFill>
                        <a:latin typeface="+mj-ea"/>
                        <a:ea typeface="+mj-ea"/>
                        <a:cs typeface="Arial"/>
                      </a:endParaRPr>
                    </a:p>
                  </a:txBody>
                  <a:tcPr marL="45720" marR="45720" marT="9144" marB="9144" anchor="ctr">
                    <a:solidFill>
                      <a:srgbClr val="0B3041"/>
                    </a:solidFill>
                  </a:tcPr>
                </a:tc>
                <a:extLst>
                  <a:ext uri="{0D108BD9-81ED-4DB2-BD59-A6C34878D82A}">
                    <a16:rowId xmlns:a16="http://schemas.microsoft.com/office/drawing/2014/main" val="10000"/>
                  </a:ext>
                </a:extLst>
              </a:tr>
              <a:tr h="274320">
                <a:tc>
                  <a:txBody>
                    <a:bodyPr/>
                    <a:lstStyle/>
                    <a:p>
                      <a:pPr algn="l">
                        <a:spcAft>
                          <a:spcPts val="0"/>
                        </a:spcAft>
                      </a:pPr>
                      <a:r>
                        <a:rPr sz="900" b="0">
                          <a:solidFill>
                            <a:srgbClr val="1A1A1A"/>
                          </a:solidFill>
                          <a:latin typeface="+mj-ea"/>
                          <a:ea typeface="+mj-ea"/>
                          <a:cs typeface="游ゴシック"/>
                        </a:rPr>
                        <a:t>評価対象</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mj-ea"/>
                          <a:ea typeface="+mj-ea"/>
                          <a:cs typeface="游ゴシック"/>
                        </a:rPr>
                        <a:t>株式会社慈久庵</a:t>
                      </a:r>
                      <a:endParaRPr sz="900" b="0" dirty="0">
                        <a:solidFill>
                          <a:srgbClr val="1A1A1A"/>
                        </a:solidFill>
                        <a:latin typeface="+mj-ea"/>
                        <a:ea typeface="+mj-ea"/>
                        <a:cs typeface="游ゴシック"/>
                      </a:endParaRPr>
                    </a:p>
                  </a:txBody>
                  <a:tcPr marL="45720" marR="45720" marT="9144" marB="9144" anchor="ctr">
                    <a:solidFill>
                      <a:srgbClr val="FFFFFF"/>
                    </a:solidFill>
                  </a:tcPr>
                </a:tc>
                <a:extLst>
                  <a:ext uri="{0D108BD9-81ED-4DB2-BD59-A6C34878D82A}">
                    <a16:rowId xmlns:a16="http://schemas.microsoft.com/office/drawing/2014/main" val="10001"/>
                  </a:ext>
                </a:extLst>
              </a:tr>
              <a:tr h="274320">
                <a:tc>
                  <a:txBody>
                    <a:bodyPr/>
                    <a:lstStyle/>
                    <a:p>
                      <a:pPr algn="l">
                        <a:spcAft>
                          <a:spcPts val="0"/>
                        </a:spcAft>
                      </a:pPr>
                      <a:r>
                        <a:rPr sz="900" b="0">
                          <a:solidFill>
                            <a:srgbClr val="1A1A1A"/>
                          </a:solidFill>
                          <a:latin typeface="+mj-ea"/>
                          <a:ea typeface="+mj-ea"/>
                          <a:cs typeface="游ゴシック"/>
                        </a:rPr>
                        <a:t>算定日</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mj-ea"/>
                          <a:ea typeface="+mj-ea"/>
                          <a:cs typeface="游ゴシック"/>
                        </a:rPr>
                        <a:t>2026年10月</a:t>
                      </a:r>
                      <a:r>
                        <a:rPr lang="en-US" altLang="ja-JP" sz="900" b="0" dirty="0">
                          <a:solidFill>
                            <a:srgbClr val="1A1A1A"/>
                          </a:solidFill>
                          <a:latin typeface="+mj-ea"/>
                          <a:ea typeface="+mj-ea"/>
                          <a:cs typeface="游ゴシック"/>
                        </a:rPr>
                        <a:t>21</a:t>
                      </a:r>
                      <a:r>
                        <a:rPr sz="900" b="0" dirty="0">
                          <a:solidFill>
                            <a:srgbClr val="1A1A1A"/>
                          </a:solidFill>
                          <a:latin typeface="+mj-ea"/>
                          <a:ea typeface="+mj-ea"/>
                          <a:cs typeface="游ゴシック"/>
                        </a:rPr>
                        <a:t>日</a:t>
                      </a:r>
                    </a:p>
                  </a:txBody>
                  <a:tcPr marL="45720" marR="45720" marT="9144" marB="9144" anchor="ctr">
                    <a:solidFill>
                      <a:srgbClr val="FFFFFF"/>
                    </a:solidFill>
                  </a:tcPr>
                </a:tc>
                <a:extLst>
                  <a:ext uri="{0D108BD9-81ED-4DB2-BD59-A6C34878D82A}">
                    <a16:rowId xmlns:a16="http://schemas.microsoft.com/office/drawing/2014/main" val="10002"/>
                  </a:ext>
                </a:extLst>
              </a:tr>
              <a:tr h="274320">
                <a:tc>
                  <a:txBody>
                    <a:bodyPr/>
                    <a:lstStyle/>
                    <a:p>
                      <a:pPr algn="l">
                        <a:spcAft>
                          <a:spcPts val="0"/>
                        </a:spcAft>
                      </a:pPr>
                      <a:r>
                        <a:rPr sz="900" b="0">
                          <a:solidFill>
                            <a:srgbClr val="1A1A1A"/>
                          </a:solidFill>
                          <a:latin typeface="+mj-ea"/>
                          <a:ea typeface="+mj-ea"/>
                          <a:cs typeface="游ゴシック"/>
                        </a:rPr>
                        <a:t>基準日</a:t>
                      </a:r>
                    </a:p>
                  </a:txBody>
                  <a:tcPr marL="45720" marR="45720" marT="9144" marB="9144" anchor="ctr">
                    <a:solidFill>
                      <a:srgbClr val="FFFFFF"/>
                    </a:solidFill>
                  </a:tcPr>
                </a:tc>
                <a:tc>
                  <a:txBody>
                    <a:bodyPr/>
                    <a:lstStyle/>
                    <a:p>
                      <a:pPr algn="l">
                        <a:spcAft>
                          <a:spcPts val="0"/>
                        </a:spcAft>
                      </a:pPr>
                      <a:r>
                        <a:rPr sz="900" b="0">
                          <a:solidFill>
                            <a:srgbClr val="1A1A1A"/>
                          </a:solidFill>
                          <a:latin typeface="+mj-ea"/>
                          <a:ea typeface="+mj-ea"/>
                          <a:cs typeface="游ゴシック"/>
                        </a:rPr>
                        <a:t>2026年5月期（2026年5月31日／貸借対照表の基準日）</a:t>
                      </a:r>
                    </a:p>
                  </a:txBody>
                  <a:tcPr marL="45720" marR="45720" marT="9144" marB="9144" anchor="ctr">
                    <a:solidFill>
                      <a:srgbClr val="FFFFFF"/>
                    </a:solidFill>
                  </a:tcPr>
                </a:tc>
                <a:extLst>
                  <a:ext uri="{0D108BD9-81ED-4DB2-BD59-A6C34878D82A}">
                    <a16:rowId xmlns:a16="http://schemas.microsoft.com/office/drawing/2014/main" val="10003"/>
                  </a:ext>
                </a:extLst>
              </a:tr>
              <a:tr h="274320">
                <a:tc>
                  <a:txBody>
                    <a:bodyPr/>
                    <a:lstStyle/>
                    <a:p>
                      <a:pPr algn="l">
                        <a:spcAft>
                          <a:spcPts val="0"/>
                        </a:spcAft>
                      </a:pPr>
                      <a:r>
                        <a:rPr sz="900" b="0">
                          <a:solidFill>
                            <a:srgbClr val="1A1A1A"/>
                          </a:solidFill>
                          <a:latin typeface="+mj-ea"/>
                          <a:ea typeface="+mj-ea"/>
                          <a:cs typeface="游ゴシック"/>
                        </a:rPr>
                        <a:t>参照期間</a:t>
                      </a:r>
                    </a:p>
                  </a:txBody>
                  <a:tcPr marL="45720" marR="45720" marT="9144" marB="9144" anchor="ctr">
                    <a:solidFill>
                      <a:srgbClr val="FFFFFF"/>
                    </a:solidFill>
                  </a:tcPr>
                </a:tc>
                <a:tc>
                  <a:txBody>
                    <a:bodyPr/>
                    <a:lstStyle/>
                    <a:p>
                      <a:pPr algn="l">
                        <a:spcAft>
                          <a:spcPts val="0"/>
                        </a:spcAft>
                      </a:pPr>
                      <a:r>
                        <a:rPr sz="900" b="0">
                          <a:solidFill>
                            <a:srgbClr val="1A1A1A"/>
                          </a:solidFill>
                          <a:latin typeface="+mj-ea"/>
                          <a:ea typeface="+mj-ea"/>
                          <a:cs typeface="游ゴシック"/>
                        </a:rPr>
                        <a:t>2024年5月期〜2026年5月期（損益計算書の参照期間）</a:t>
                      </a:r>
                    </a:p>
                  </a:txBody>
                  <a:tcPr marL="45720" marR="45720" marT="9144" marB="9144" anchor="ctr">
                    <a:solidFill>
                      <a:srgbClr val="FFFFFF"/>
                    </a:solidFill>
                  </a:tcPr>
                </a:tc>
                <a:extLst>
                  <a:ext uri="{0D108BD9-81ED-4DB2-BD59-A6C34878D82A}">
                    <a16:rowId xmlns:a16="http://schemas.microsoft.com/office/drawing/2014/main" val="10004"/>
                  </a:ext>
                </a:extLst>
              </a:tr>
              <a:tr h="274320">
                <a:tc>
                  <a:txBody>
                    <a:bodyPr/>
                    <a:lstStyle/>
                    <a:p>
                      <a:pPr algn="l">
                        <a:spcAft>
                          <a:spcPts val="0"/>
                        </a:spcAft>
                      </a:pPr>
                      <a:r>
                        <a:rPr sz="900" b="0">
                          <a:solidFill>
                            <a:srgbClr val="1A1A1A"/>
                          </a:solidFill>
                          <a:latin typeface="+mj-ea"/>
                          <a:ea typeface="+mj-ea"/>
                          <a:cs typeface="游ゴシック"/>
                        </a:rPr>
                        <a:t>目的</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mj-ea"/>
                          <a:ea typeface="+mj-ea"/>
                          <a:cs typeface="游ゴシック"/>
                        </a:rPr>
                        <a:t>対象会社の過半数の株式を第三者間で売買取引・M&amp;Aする場合</a:t>
                      </a:r>
                      <a:r>
                        <a:rPr sz="900" b="0" dirty="0">
                          <a:solidFill>
                            <a:srgbClr val="1A1A1A"/>
                          </a:solidFill>
                          <a:latin typeface="+mj-ea"/>
                          <a:ea typeface="+mj-ea"/>
                          <a:cs typeface="游ゴシック"/>
                        </a:rPr>
                        <a:t>（「</a:t>
                      </a:r>
                      <a:r>
                        <a:rPr sz="900" b="0" dirty="0" err="1">
                          <a:solidFill>
                            <a:srgbClr val="1A1A1A"/>
                          </a:solidFill>
                          <a:latin typeface="+mj-ea"/>
                          <a:ea typeface="+mj-ea"/>
                          <a:cs typeface="游ゴシック"/>
                        </a:rPr>
                        <a:t>本件取引」といいます）の譲渡価額決定の参考資料とすること</a:t>
                      </a:r>
                      <a:r>
                        <a:rPr sz="900" b="0" dirty="0">
                          <a:solidFill>
                            <a:srgbClr val="1A1A1A"/>
                          </a:solidFill>
                          <a:latin typeface="+mj-ea"/>
                          <a:ea typeface="+mj-ea"/>
                          <a:cs typeface="游ゴシック"/>
                        </a:rPr>
                        <a:t>（「</a:t>
                      </a:r>
                      <a:r>
                        <a:rPr sz="900" b="0" dirty="0" err="1">
                          <a:solidFill>
                            <a:srgbClr val="1A1A1A"/>
                          </a:solidFill>
                          <a:latin typeface="+mj-ea"/>
                          <a:ea typeface="+mj-ea"/>
                          <a:cs typeface="游ゴシック"/>
                        </a:rPr>
                        <a:t>本件試算目的」といいます）を目的に本株式価値試算報告書は作成されております</a:t>
                      </a:r>
                      <a:r>
                        <a:rPr sz="900" b="0" dirty="0">
                          <a:solidFill>
                            <a:srgbClr val="1A1A1A"/>
                          </a:solidFill>
                          <a:latin typeface="+mj-ea"/>
                          <a:ea typeface="+mj-ea"/>
                          <a:cs typeface="游ゴシック"/>
                        </a:rPr>
                        <a:t>。</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9" name="Rectangle 28"/>
          <p:cNvSpPr/>
          <p:nvPr/>
        </p:nvSpPr>
        <p:spPr>
          <a:xfrm>
            <a:off x="448056" y="3079527"/>
            <a:ext cx="8458200" cy="33118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株式価値試算結果</a:t>
            </a:r>
          </a:p>
        </p:txBody>
      </p:sp>
      <p:sp>
        <p:nvSpPr>
          <p:cNvPr id="30" name="TextBox 29"/>
          <p:cNvSpPr txBox="1"/>
          <p:nvPr/>
        </p:nvSpPr>
        <p:spPr>
          <a:xfrm>
            <a:off x="448056" y="3547872"/>
            <a:ext cx="4846320" cy="201168"/>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 コストアプローチ（年買法）</a:t>
            </a:r>
          </a:p>
        </p:txBody>
      </p:sp>
      <p:sp>
        <p:nvSpPr>
          <p:cNvPr id="31" name="Rectangle 30"/>
          <p:cNvSpPr/>
          <p:nvPr/>
        </p:nvSpPr>
        <p:spPr>
          <a:xfrm>
            <a:off x="448056" y="3785615"/>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p:cNvSpPr/>
          <p:nvPr/>
        </p:nvSpPr>
        <p:spPr>
          <a:xfrm>
            <a:off x="448056" y="3785615"/>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448056" y="3785615"/>
            <a:ext cx="1188720" cy="402336"/>
          </a:xfrm>
          <a:prstGeom prst="rect">
            <a:avLst/>
          </a:prstGeom>
          <a:noFill/>
        </p:spPr>
        <p:txBody>
          <a:bodyPr wrap="square" lIns="0" tIns="0" r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4" name="TextBox 33"/>
          <p:cNvSpPr txBox="1"/>
          <p:nvPr/>
        </p:nvSpPr>
        <p:spPr>
          <a:xfrm>
            <a:off x="1728216" y="3785615"/>
            <a:ext cx="3474720" cy="402336"/>
          </a:xfrm>
          <a:prstGeom prst="rect">
            <a:avLst/>
          </a:prstGeom>
          <a:noFill/>
        </p:spPr>
        <p:txBody>
          <a:bodyPr wrap="square" lIns="0" tIns="0" rIns="0" bIns="0" anchor="ctr">
            <a:spAutoFit/>
          </a:bodyPr>
          <a:lstStyle/>
          <a:p>
            <a:pPr algn="l">
              <a:spcAft>
                <a:spcPts val="0"/>
              </a:spcAft>
            </a:pPr>
            <a:r>
              <a:rPr sz="1600" b="1" dirty="0">
                <a:solidFill>
                  <a:srgbClr val="0B3041"/>
                </a:solidFill>
                <a:latin typeface="Arial"/>
                <a:ea typeface="Arial"/>
                <a:cs typeface="Arial"/>
              </a:rPr>
              <a:t>24,392　～　26,012（千円）</a:t>
            </a:r>
          </a:p>
        </p:txBody>
      </p:sp>
      <p:sp>
        <p:nvSpPr>
          <p:cNvPr id="35" name="TextBox 34"/>
          <p:cNvSpPr txBox="1"/>
          <p:nvPr/>
        </p:nvSpPr>
        <p:spPr>
          <a:xfrm>
            <a:off x="448056" y="4334256"/>
            <a:ext cx="4846320" cy="201168"/>
          </a:xfrm>
          <a:prstGeom prst="rect">
            <a:avLst/>
          </a:prstGeom>
          <a:noFill/>
        </p:spPr>
        <p:txBody>
          <a:bodyPr wrap="square" lIns="0" tIns="0" rIns="0" bIns="0" anchor="t">
            <a:spAutoFit/>
          </a:bodyPr>
          <a:lstStyle/>
          <a:p>
            <a:pPr algn="l">
              <a:spcAft>
                <a:spcPts val="0"/>
              </a:spcAft>
            </a:pPr>
            <a:r>
              <a:rPr sz="1100" b="1">
                <a:solidFill>
                  <a:srgbClr val="0B3041"/>
                </a:solidFill>
                <a:latin typeface="游ゴシック"/>
                <a:ea typeface="游ゴシック"/>
                <a:cs typeface="游ゴシック"/>
              </a:rPr>
              <a:t>■ マーケットアプローチ（EV/EBITDAマルチプル法）</a:t>
            </a:r>
          </a:p>
        </p:txBody>
      </p:sp>
      <p:sp>
        <p:nvSpPr>
          <p:cNvPr id="36" name="Rectangle 35"/>
          <p:cNvSpPr/>
          <p:nvPr/>
        </p:nvSpPr>
        <p:spPr>
          <a:xfrm>
            <a:off x="448056" y="4572000"/>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p:cNvSpPr/>
          <p:nvPr/>
        </p:nvSpPr>
        <p:spPr>
          <a:xfrm>
            <a:off x="448056" y="4572000"/>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448056" y="4572000"/>
            <a:ext cx="1188720" cy="402336"/>
          </a:xfrm>
          <a:prstGeom prst="rect">
            <a:avLst/>
          </a:prstGeom>
          <a:noFill/>
        </p:spPr>
        <p:txBody>
          <a:bodyPr wrap="square" lIns="0" tIns="0" r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9" name="TextBox 38"/>
          <p:cNvSpPr txBox="1"/>
          <p:nvPr/>
        </p:nvSpPr>
        <p:spPr>
          <a:xfrm>
            <a:off x="1728216" y="4572000"/>
            <a:ext cx="3474720" cy="402336"/>
          </a:xfrm>
          <a:prstGeom prst="rect">
            <a:avLst/>
          </a:prstGeom>
          <a:noFill/>
        </p:spPr>
        <p:txBody>
          <a:bodyPr wrap="square" lIns="0" tIns="0" rIns="0" bIns="0" anchor="ctr">
            <a:spAutoFit/>
          </a:bodyPr>
          <a:lstStyle/>
          <a:p>
            <a:pPr algn="l">
              <a:spcAft>
                <a:spcPts val="0"/>
              </a:spcAft>
            </a:pPr>
            <a:r>
              <a:rPr sz="1600" b="1">
                <a:solidFill>
                  <a:srgbClr val="0B3041"/>
                </a:solidFill>
                <a:latin typeface="Arial"/>
                <a:ea typeface="Arial"/>
                <a:cs typeface="Arial"/>
              </a:rPr>
              <a:t>△14,564　～　△3,864（千円）</a:t>
            </a:r>
          </a:p>
        </p:txBody>
      </p:sp>
      <p:sp>
        <p:nvSpPr>
          <p:cNvPr id="40" name="TextBox 39"/>
          <p:cNvSpPr txBox="1"/>
          <p:nvPr/>
        </p:nvSpPr>
        <p:spPr>
          <a:xfrm>
            <a:off x="448056" y="5010912"/>
            <a:ext cx="4846320" cy="182880"/>
          </a:xfrm>
          <a:prstGeom prst="rect">
            <a:avLst/>
          </a:prstGeom>
          <a:noFill/>
        </p:spPr>
        <p:txBody>
          <a:bodyPr wrap="square" lIns="0" tIns="0" rIns="0" bIns="0" anchor="t">
            <a:spAutoFit/>
          </a:bodyPr>
          <a:lstStyle/>
          <a:p>
            <a:pPr algn="l">
              <a:spcAft>
                <a:spcPts val="0"/>
              </a:spcAft>
            </a:pPr>
            <a:r>
              <a:rPr sz="800" b="0">
                <a:solidFill>
                  <a:srgbClr val="5A6670"/>
                </a:solidFill>
                <a:latin typeface="游ゴシック"/>
                <a:ea typeface="游ゴシック"/>
                <a:cs typeface="游ゴシック"/>
              </a:rPr>
              <a:t>※ 役員借入金32,744千円を買手が承継する前提（主たる前提）</a:t>
            </a:r>
          </a:p>
        </p:txBody>
      </p:sp>
      <p:sp>
        <p:nvSpPr>
          <p:cNvPr id="41" name="TextBox 40"/>
          <p:cNvSpPr txBox="1"/>
          <p:nvPr/>
        </p:nvSpPr>
        <p:spPr>
          <a:xfrm>
            <a:off x="448056" y="5175504"/>
            <a:ext cx="4846320" cy="201168"/>
          </a:xfrm>
          <a:prstGeom prst="rect">
            <a:avLst/>
          </a:prstGeom>
          <a:noFill/>
        </p:spPr>
        <p:txBody>
          <a:bodyPr wrap="square" lIns="0" tIns="0" rIns="0" bIns="0" anchor="t">
            <a:spAutoFit/>
          </a:bodyPr>
          <a:lstStyle/>
          <a:p>
            <a:pPr algn="l">
              <a:spcAft>
                <a:spcPts val="0"/>
              </a:spcAft>
            </a:pPr>
            <a:r>
              <a:rPr sz="1100" b="1" dirty="0">
                <a:solidFill>
                  <a:srgbClr val="0B3041"/>
                </a:solidFill>
                <a:latin typeface="游ゴシック"/>
                <a:ea typeface="游ゴシック"/>
                <a:cs typeface="游ゴシック"/>
              </a:rPr>
              <a:t>■ </a:t>
            </a:r>
            <a:r>
              <a:rPr sz="1100" b="1" dirty="0" err="1">
                <a:solidFill>
                  <a:srgbClr val="0B3041"/>
                </a:solidFill>
                <a:latin typeface="游ゴシック"/>
                <a:ea typeface="游ゴシック"/>
                <a:cs typeface="游ゴシック"/>
              </a:rPr>
              <a:t>インカムアプローチ（DCF法・収益還元法</a:t>
            </a:r>
            <a:r>
              <a:rPr sz="1100" b="1" dirty="0">
                <a:solidFill>
                  <a:srgbClr val="0B3041"/>
                </a:solidFill>
                <a:latin typeface="游ゴシック"/>
                <a:ea typeface="游ゴシック"/>
                <a:cs typeface="游ゴシック"/>
              </a:rPr>
              <a:t>）</a:t>
            </a:r>
          </a:p>
        </p:txBody>
      </p:sp>
      <p:sp>
        <p:nvSpPr>
          <p:cNvPr id="42" name="Rectangle 41"/>
          <p:cNvSpPr/>
          <p:nvPr/>
        </p:nvSpPr>
        <p:spPr>
          <a:xfrm>
            <a:off x="448056" y="5413248"/>
            <a:ext cx="4846320" cy="402336"/>
          </a:xfrm>
          <a:prstGeom prst="rect">
            <a:avLst/>
          </a:prstGeom>
          <a:solidFill>
            <a:srgbClr val="F2F4F5"/>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448056" y="5413248"/>
            <a:ext cx="4846320" cy="402336"/>
          </a:xfrm>
          <a:prstGeom prst="rect">
            <a:avLst/>
          </a:prstGeom>
          <a:noFill/>
        </p:spPr>
        <p:txBody>
          <a:bodyPr wrap="square" lIns="0" tIns="0" rIns="0" bIns="0" anchor="ctr">
            <a:spAutoFit/>
          </a:bodyPr>
          <a:lstStyle/>
          <a:p>
            <a:pPr algn="ctr">
              <a:spcAft>
                <a:spcPts val="0"/>
              </a:spcAft>
            </a:pPr>
            <a:r>
              <a:rPr sz="1200" b="1">
                <a:solidFill>
                  <a:srgbClr val="5A6670"/>
                </a:solidFill>
                <a:latin typeface="游ゴシック"/>
                <a:ea typeface="游ゴシック"/>
                <a:cs typeface="游ゴシック"/>
              </a:rPr>
              <a:t>※※※※※　不採用　※※※※※</a:t>
            </a:r>
          </a:p>
        </p:txBody>
      </p:sp>
      <p:sp>
        <p:nvSpPr>
          <p:cNvPr id="44" name="Rectangle 43"/>
          <p:cNvSpPr/>
          <p:nvPr/>
        </p:nvSpPr>
        <p:spPr>
          <a:xfrm>
            <a:off x="5577840" y="3657600"/>
            <a:ext cx="4663440" cy="2359152"/>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5577840" y="3474720"/>
            <a:ext cx="4663440" cy="164592"/>
          </a:xfrm>
          <a:prstGeom prst="rect">
            <a:avLst/>
          </a:prstGeom>
          <a:noFill/>
        </p:spPr>
        <p:txBody>
          <a:bodyPr wrap="square" lIns="0" tIns="0" rIns="0" bIns="0" anchor="t">
            <a:spAutoFit/>
          </a:bodyPr>
          <a:lstStyle/>
          <a:p>
            <a:pPr algn="r">
              <a:spcAft>
                <a:spcPts val="0"/>
              </a:spcAft>
            </a:pPr>
            <a:r>
              <a:rPr sz="750" b="0">
                <a:solidFill>
                  <a:srgbClr val="5A6670"/>
                </a:solidFill>
                <a:latin typeface="游ゴシック"/>
                <a:ea typeface="游ゴシック"/>
                <a:cs typeface="游ゴシック"/>
              </a:rPr>
              <a:t>（単位：千円）</a:t>
            </a:r>
          </a:p>
        </p:txBody>
      </p:sp>
      <p:sp>
        <p:nvSpPr>
          <p:cNvPr id="46" name="Rectangle 45"/>
          <p:cNvSpPr/>
          <p:nvPr/>
        </p:nvSpPr>
        <p:spPr>
          <a:xfrm>
            <a:off x="8139698" y="3913632"/>
            <a:ext cx="14630" cy="1719072"/>
          </a:xfrm>
          <a:prstGeom prst="rect">
            <a:avLst/>
          </a:prstGeom>
          <a:solidFill>
            <a:srgbClr val="9FAEB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TextBox 46"/>
          <p:cNvSpPr txBox="1"/>
          <p:nvPr/>
        </p:nvSpPr>
        <p:spPr>
          <a:xfrm>
            <a:off x="5687568" y="4126992"/>
            <a:ext cx="1389888" cy="256032"/>
          </a:xfrm>
          <a:prstGeom prst="rect">
            <a:avLst/>
          </a:prstGeom>
          <a:noFill/>
        </p:spPr>
        <p:txBody>
          <a:bodyPr wrap="square" lIns="0" tIns="0" rIns="0" bIns="0" anchor="ctr">
            <a:spAutoFit/>
          </a:bodyPr>
          <a:lstStyle/>
          <a:p>
            <a:pPr algn="l">
              <a:spcAft>
                <a:spcPts val="0"/>
              </a:spcAft>
            </a:pPr>
            <a:r>
              <a:rPr sz="850" b="0" dirty="0" err="1">
                <a:solidFill>
                  <a:srgbClr val="1A1A1A"/>
                </a:solidFill>
                <a:latin typeface="游ゴシック"/>
                <a:ea typeface="游ゴシック"/>
                <a:cs typeface="游ゴシック"/>
              </a:rPr>
              <a:t>コスト</a:t>
            </a:r>
            <a:endParaRPr sz="850" b="0" dirty="0">
              <a:solidFill>
                <a:srgbClr val="1A1A1A"/>
              </a:solidFill>
              <a:latin typeface="游ゴシック"/>
              <a:ea typeface="游ゴシック"/>
              <a:cs typeface="游ゴシック"/>
            </a:endParaRPr>
          </a:p>
          <a:p>
            <a:pPr algn="l">
              <a:spcAft>
                <a:spcPts val="0"/>
              </a:spcAft>
            </a:pPr>
            <a:r>
              <a:rPr sz="850" b="0" dirty="0">
                <a:solidFill>
                  <a:srgbClr val="1A1A1A"/>
                </a:solidFill>
                <a:latin typeface="游ゴシック"/>
                <a:ea typeface="游ゴシック"/>
                <a:cs typeface="游ゴシック"/>
              </a:rPr>
              <a:t>（</a:t>
            </a:r>
            <a:r>
              <a:rPr sz="850" b="0" dirty="0" err="1">
                <a:solidFill>
                  <a:srgbClr val="1A1A1A"/>
                </a:solidFill>
                <a:latin typeface="游ゴシック"/>
                <a:ea typeface="游ゴシック"/>
                <a:cs typeface="游ゴシック"/>
              </a:rPr>
              <a:t>年買法</a:t>
            </a:r>
            <a:r>
              <a:rPr sz="850" b="0" dirty="0">
                <a:solidFill>
                  <a:srgbClr val="1A1A1A"/>
                </a:solidFill>
                <a:latin typeface="游ゴシック"/>
                <a:ea typeface="游ゴシック"/>
                <a:cs typeface="游ゴシック"/>
              </a:rPr>
              <a:t>）</a:t>
            </a:r>
          </a:p>
        </p:txBody>
      </p:sp>
      <p:sp>
        <p:nvSpPr>
          <p:cNvPr id="48" name="Rectangle 47"/>
          <p:cNvSpPr/>
          <p:nvPr/>
        </p:nvSpPr>
        <p:spPr>
          <a:xfrm>
            <a:off x="9519024" y="4108704"/>
            <a:ext cx="91122"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8604624" y="4145280"/>
            <a:ext cx="877824" cy="219456"/>
          </a:xfrm>
          <a:prstGeom prst="rect">
            <a:avLst/>
          </a:prstGeom>
          <a:noFill/>
        </p:spPr>
        <p:txBody>
          <a:bodyPr wrap="square" lIns="0" tIns="0" rIns="0" bIns="0" anchor="ctr">
            <a:spAutoFit/>
          </a:bodyPr>
          <a:lstStyle/>
          <a:p>
            <a:pPr algn="r">
              <a:spcAft>
                <a:spcPts val="0"/>
              </a:spcAft>
            </a:pPr>
            <a:r>
              <a:rPr sz="800" b="0">
                <a:solidFill>
                  <a:srgbClr val="0B3041"/>
                </a:solidFill>
                <a:latin typeface="Arial"/>
                <a:ea typeface="Arial"/>
                <a:cs typeface="Arial"/>
              </a:rPr>
              <a:t>24,392</a:t>
            </a:r>
          </a:p>
        </p:txBody>
      </p:sp>
      <p:sp>
        <p:nvSpPr>
          <p:cNvPr id="50" name="TextBox 49"/>
          <p:cNvSpPr txBox="1"/>
          <p:nvPr/>
        </p:nvSpPr>
        <p:spPr>
          <a:xfrm>
            <a:off x="9665011" y="4145280"/>
            <a:ext cx="914400" cy="219456"/>
          </a:xfrm>
          <a:prstGeom prst="rect">
            <a:avLst/>
          </a:prstGeom>
          <a:noFill/>
        </p:spPr>
        <p:txBody>
          <a:bodyPr wrap="square" lIns="0" tIns="0" rIns="0" bIns="0" anchor="ctr">
            <a:spAutoFit/>
          </a:bodyPr>
          <a:lstStyle/>
          <a:p>
            <a:pPr algn="l">
              <a:spcAft>
                <a:spcPts val="0"/>
              </a:spcAft>
            </a:pPr>
            <a:r>
              <a:rPr sz="800" b="0">
                <a:solidFill>
                  <a:srgbClr val="0B3041"/>
                </a:solidFill>
                <a:latin typeface="Arial"/>
                <a:ea typeface="Arial"/>
                <a:cs typeface="Arial"/>
              </a:rPr>
              <a:t>26,012</a:t>
            </a:r>
          </a:p>
        </p:txBody>
      </p:sp>
      <p:sp>
        <p:nvSpPr>
          <p:cNvPr id="51" name="TextBox 50"/>
          <p:cNvSpPr txBox="1"/>
          <p:nvPr/>
        </p:nvSpPr>
        <p:spPr>
          <a:xfrm>
            <a:off x="5687568" y="4700016"/>
            <a:ext cx="1389888" cy="256032"/>
          </a:xfrm>
          <a:prstGeom prst="rect">
            <a:avLst/>
          </a:prstGeom>
          <a:noFill/>
        </p:spPr>
        <p:txBody>
          <a:bodyPr wrap="square" lIns="0" tIns="0" rIns="0" bIns="0" anchor="ctr">
            <a:spAutoFit/>
          </a:bodyPr>
          <a:lstStyle/>
          <a:p>
            <a:pPr algn="l">
              <a:spcAft>
                <a:spcPts val="0"/>
              </a:spcAft>
            </a:pPr>
            <a:r>
              <a:rPr sz="850" b="0" dirty="0" err="1">
                <a:solidFill>
                  <a:srgbClr val="1A1A1A"/>
                </a:solidFill>
                <a:latin typeface="游ゴシック"/>
                <a:ea typeface="游ゴシック"/>
                <a:cs typeface="游ゴシック"/>
              </a:rPr>
              <a:t>マーケット</a:t>
            </a:r>
            <a:endParaRPr sz="850" b="0" dirty="0">
              <a:solidFill>
                <a:srgbClr val="1A1A1A"/>
              </a:solidFill>
              <a:latin typeface="游ゴシック"/>
              <a:ea typeface="游ゴシック"/>
              <a:cs typeface="游ゴシック"/>
            </a:endParaRPr>
          </a:p>
          <a:p>
            <a:pPr algn="l">
              <a:spcAft>
                <a:spcPts val="0"/>
              </a:spcAft>
            </a:pPr>
            <a:r>
              <a:rPr sz="850" b="0" dirty="0">
                <a:solidFill>
                  <a:srgbClr val="1A1A1A"/>
                </a:solidFill>
                <a:latin typeface="游ゴシック"/>
                <a:ea typeface="游ゴシック"/>
                <a:cs typeface="游ゴシック"/>
              </a:rPr>
              <a:t>【主】</a:t>
            </a:r>
          </a:p>
        </p:txBody>
      </p:sp>
      <p:sp>
        <p:nvSpPr>
          <p:cNvPr id="52" name="Rectangle 51"/>
          <p:cNvSpPr/>
          <p:nvPr/>
        </p:nvSpPr>
        <p:spPr>
          <a:xfrm>
            <a:off x="7327812" y="4681728"/>
            <a:ext cx="601857"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TextBox 52"/>
          <p:cNvSpPr txBox="1"/>
          <p:nvPr/>
        </p:nvSpPr>
        <p:spPr>
          <a:xfrm>
            <a:off x="6413412" y="4718304"/>
            <a:ext cx="877824" cy="219456"/>
          </a:xfrm>
          <a:prstGeom prst="rect">
            <a:avLst/>
          </a:prstGeom>
          <a:noFill/>
        </p:spPr>
        <p:txBody>
          <a:bodyPr wrap="square" lIns="0" tIns="0" rIns="0" bIns="0" anchor="ctr">
            <a:spAutoFit/>
          </a:bodyPr>
          <a:lstStyle/>
          <a:p>
            <a:pPr algn="r">
              <a:spcAft>
                <a:spcPts val="0"/>
              </a:spcAft>
            </a:pPr>
            <a:r>
              <a:rPr sz="800" b="0">
                <a:solidFill>
                  <a:srgbClr val="0B3041"/>
                </a:solidFill>
                <a:latin typeface="Arial"/>
                <a:ea typeface="Arial"/>
                <a:cs typeface="Arial"/>
              </a:rPr>
              <a:t>△14,564</a:t>
            </a:r>
          </a:p>
        </p:txBody>
      </p:sp>
      <p:sp>
        <p:nvSpPr>
          <p:cNvPr id="54" name="TextBox 53"/>
          <p:cNvSpPr txBox="1"/>
          <p:nvPr/>
        </p:nvSpPr>
        <p:spPr>
          <a:xfrm>
            <a:off x="7984534" y="4718304"/>
            <a:ext cx="914400" cy="219456"/>
          </a:xfrm>
          <a:prstGeom prst="rect">
            <a:avLst/>
          </a:prstGeom>
          <a:noFill/>
        </p:spPr>
        <p:txBody>
          <a:bodyPr wrap="square" lIns="0" tIns="0" rIns="0" bIns="0" anchor="ctr">
            <a:spAutoFit/>
          </a:bodyPr>
          <a:lstStyle/>
          <a:p>
            <a:pPr algn="l">
              <a:spcAft>
                <a:spcPts val="0"/>
              </a:spcAft>
            </a:pPr>
            <a:r>
              <a:rPr sz="800" b="0">
                <a:solidFill>
                  <a:srgbClr val="0B3041"/>
                </a:solidFill>
                <a:latin typeface="Arial"/>
                <a:ea typeface="Arial"/>
                <a:cs typeface="Arial"/>
              </a:rPr>
              <a:t>△3,864</a:t>
            </a:r>
          </a:p>
        </p:txBody>
      </p:sp>
      <p:sp>
        <p:nvSpPr>
          <p:cNvPr id="59" name="Rectangle 58"/>
          <p:cNvSpPr/>
          <p:nvPr/>
        </p:nvSpPr>
        <p:spPr>
          <a:xfrm>
            <a:off x="7132320" y="5742432"/>
            <a:ext cx="2834639" cy="10972"/>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Rectangle 59"/>
          <p:cNvSpPr/>
          <p:nvPr/>
        </p:nvSpPr>
        <p:spPr>
          <a:xfrm>
            <a:off x="448056" y="6120384"/>
            <a:ext cx="9793224" cy="694944"/>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Rectangle 60"/>
          <p:cNvSpPr/>
          <p:nvPr/>
        </p:nvSpPr>
        <p:spPr>
          <a:xfrm>
            <a:off x="448056" y="6149811"/>
            <a:ext cx="1435608" cy="69494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448056" y="6428232"/>
            <a:ext cx="1435608" cy="237744"/>
          </a:xfrm>
          <a:prstGeom prst="rect">
            <a:avLst/>
          </a:prstGeom>
          <a:noFill/>
        </p:spPr>
        <p:txBody>
          <a:bodyPr wrap="square" lIns="0" tIns="0" r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63" name="TextBox 62"/>
          <p:cNvSpPr txBox="1"/>
          <p:nvPr/>
        </p:nvSpPr>
        <p:spPr>
          <a:xfrm>
            <a:off x="2048256" y="6211824"/>
            <a:ext cx="8065008" cy="512064"/>
          </a:xfrm>
          <a:prstGeom prst="rect">
            <a:avLst/>
          </a:prstGeom>
          <a:noFill/>
        </p:spPr>
        <p:txBody>
          <a:bodyPr wrap="square" lIns="0" tIns="0" rIns="0" bIns="0" anchor="ctr">
            <a:spAutoFit/>
          </a:bodyPr>
          <a:lstStyle/>
          <a:p>
            <a:pPr algn="l">
              <a:lnSpc>
                <a:spcPct val="122000"/>
              </a:lnSpc>
              <a:spcAft>
                <a:spcPts val="200"/>
              </a:spcAft>
            </a:pPr>
            <a:r>
              <a:rPr sz="1050" b="0" dirty="0">
                <a:solidFill>
                  <a:srgbClr val="1A1A1A"/>
                </a:solidFill>
                <a:latin typeface="游ゴシック"/>
                <a:ea typeface="游ゴシック"/>
                <a:cs typeface="游ゴシック"/>
              </a:rPr>
              <a:t>コストアプローチとマーケットアプローチが大きく乖離している。基準EBITDA7,643千円に対し役員借入金32,744千円が重く、収益力ベースでは株式価値が残らない構造であることを示している。</a:t>
            </a:r>
          </a:p>
          <a:p>
            <a:pPr algn="l">
              <a:lnSpc>
                <a:spcPct val="122000"/>
              </a:lnSpc>
              <a:spcAft>
                <a:spcPts val="200"/>
              </a:spcAft>
            </a:pPr>
            <a:r>
              <a:rPr sz="1050" b="0" dirty="0" err="1">
                <a:solidFill>
                  <a:srgbClr val="1A1A1A"/>
                </a:solidFill>
                <a:latin typeface="游ゴシック"/>
                <a:ea typeface="游ゴシック"/>
                <a:cs typeface="游ゴシック"/>
              </a:rPr>
              <a:t>本件の株式価値は収益力ではなく資産性（店舗・土地・ブランド）に依拠しており、コストアプローチが実態をよく表している</a:t>
            </a:r>
            <a:r>
              <a:rPr sz="1050" b="0" dirty="0">
                <a:solidFill>
                  <a:srgbClr val="1A1A1A"/>
                </a:solidFill>
                <a:latin typeface="游ゴシック"/>
                <a:ea typeface="游ゴシック"/>
                <a:cs typeface="游ゴシック"/>
              </a:rPr>
              <a:t>。</a:t>
            </a:r>
          </a:p>
        </p:txBody>
      </p:sp>
      <p:sp>
        <p:nvSpPr>
          <p:cNvPr id="64" name="TextBox 63"/>
          <p:cNvSpPr txBox="1"/>
          <p:nvPr/>
        </p:nvSpPr>
        <p:spPr>
          <a:xfrm>
            <a:off x="310896" y="6917907"/>
            <a:ext cx="9921240" cy="320040"/>
          </a:xfrm>
          <a:prstGeom prst="rect">
            <a:avLst/>
          </a:prstGeom>
          <a:noFill/>
        </p:spPr>
        <p:txBody>
          <a:bodyPr wrap="square" lIns="0" tIns="0" rIns="0" bIns="0" anchor="t">
            <a:spAutoFit/>
          </a:bodyPr>
          <a:lstStyle/>
          <a:p>
            <a:pPr algn="l">
              <a:lnSpc>
                <a:spcPct val="112000"/>
              </a:lnSpc>
              <a:spcAft>
                <a:spcPts val="100"/>
              </a:spcAft>
            </a:pPr>
            <a:r>
              <a:rPr sz="750" b="0" dirty="0">
                <a:solidFill>
                  <a:srgbClr val="5A6670"/>
                </a:solidFill>
                <a:latin typeface="游ゴシック"/>
                <a:ea typeface="游ゴシック"/>
                <a:cs typeface="游ゴシック"/>
              </a:rPr>
              <a:t>※ 単位：千円。マーケットアプローチ【参考】は、役員借入金が債務免除または譲渡対価との相殺により整理される前提（P.22参照）。</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a:latin typeface="游ゴシック"/>
                <a:ea typeface="游ゴシック"/>
                <a:cs typeface="游ゴシック"/>
              </a:rPr>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16" name="Rectangle 15"/>
          <p:cNvSpPr/>
          <p:nvPr/>
        </p:nvSpPr>
        <p:spPr>
          <a:xfrm>
            <a:off x="341312" y="6144766"/>
            <a:ext cx="10009187" cy="864045"/>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562503" y="6457916"/>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8" name="TextBox 17"/>
          <p:cNvSpPr txBox="1"/>
          <p:nvPr/>
        </p:nvSpPr>
        <p:spPr>
          <a:xfrm>
            <a:off x="1847248" y="6310144"/>
            <a:ext cx="6997314" cy="533288"/>
          </a:xfrm>
          <a:prstGeom prst="rect">
            <a:avLst/>
          </a:prstGeom>
          <a:noFill/>
        </p:spPr>
        <p:txBody>
          <a:bodyPr wrap="square" lIns="0" tIns="0" rIns="0" bIns="0" anchor="ctr">
            <a:spAutoFit/>
          </a:bodyPr>
          <a:lstStyle/>
          <a:p>
            <a:pPr algn="l">
              <a:lnSpc>
                <a:spcPct val="118000"/>
              </a:lnSpc>
              <a:spcAft>
                <a:spcPts val="200"/>
              </a:spcAft>
            </a:pPr>
            <a:r>
              <a:rPr sz="900" b="0" dirty="0">
                <a:solidFill>
                  <a:sysClr val="windowText" lastClr="000000"/>
                </a:solidFill>
                <a:latin typeface="游ゴシック"/>
                <a:ea typeface="游ゴシック"/>
                <a:cs typeface="游ゴシック"/>
              </a:rPr>
              <a:t>・総資産は減価償却の進行により69,313→64,254→57,330千円と毎期減少している。</a:t>
            </a:r>
          </a:p>
          <a:p>
            <a:pPr algn="l">
              <a:lnSpc>
                <a:spcPct val="118000"/>
              </a:lnSpc>
              <a:spcAft>
                <a:spcPts val="200"/>
              </a:spcAft>
            </a:pPr>
            <a:r>
              <a:rPr sz="900" b="0" dirty="0">
                <a:solidFill>
                  <a:sysClr val="windowText" lastClr="000000"/>
                </a:solidFill>
                <a:latin typeface="游ゴシック"/>
                <a:ea typeface="游ゴシック"/>
                <a:cs typeface="游ゴシック"/>
              </a:rPr>
              <a:t>・</a:t>
            </a:r>
            <a:r>
              <a:rPr sz="900" b="0" dirty="0" err="1">
                <a:solidFill>
                  <a:sysClr val="windowText" lastClr="000000"/>
                </a:solidFill>
                <a:latin typeface="游ゴシック"/>
                <a:ea typeface="游ゴシック"/>
                <a:cs typeface="游ゴシック"/>
              </a:rPr>
              <a:t>負債</a:t>
            </a:r>
            <a:r>
              <a:rPr lang="ja-JP" altLang="en-US" sz="900" dirty="0">
                <a:solidFill>
                  <a:sysClr val="windowText" lastClr="000000"/>
                </a:solidFill>
                <a:latin typeface="游ゴシック"/>
                <a:ea typeface="游ゴシック"/>
                <a:cs typeface="游ゴシック"/>
              </a:rPr>
              <a:t>の大半</a:t>
            </a:r>
            <a:r>
              <a:rPr sz="900" b="0" dirty="0" err="1">
                <a:solidFill>
                  <a:sysClr val="windowText" lastClr="000000"/>
                </a:solidFill>
                <a:latin typeface="游ゴシック"/>
                <a:ea typeface="游ゴシック"/>
                <a:cs typeface="游ゴシック"/>
              </a:rPr>
              <a:t>は代表者・配偶者からの長期借入金であり、金融機関借入はない</a:t>
            </a:r>
            <a:r>
              <a:rPr sz="900" b="0" dirty="0">
                <a:solidFill>
                  <a:sysClr val="windowText" lastClr="000000"/>
                </a:solidFill>
                <a:latin typeface="游ゴシック"/>
                <a:ea typeface="游ゴシック"/>
                <a:cs typeface="游ゴシック"/>
              </a:rPr>
              <a:t>。</a:t>
            </a:r>
          </a:p>
          <a:p>
            <a:pPr algn="l">
              <a:lnSpc>
                <a:spcPct val="118000"/>
              </a:lnSpc>
              <a:spcAft>
                <a:spcPts val="200"/>
              </a:spcAft>
            </a:pPr>
            <a:r>
              <a:rPr sz="900" b="0" dirty="0">
                <a:solidFill>
                  <a:sysClr val="windowText" lastClr="000000"/>
                </a:solidFill>
                <a:latin typeface="游ゴシック"/>
                <a:ea typeface="游ゴシック"/>
                <a:cs typeface="游ゴシック"/>
              </a:rPr>
              <a:t>・純資産は22,631→23,712→23,658千円とほぼ横ばい。</a:t>
            </a:r>
          </a:p>
        </p:txBody>
      </p:sp>
      <p:pic>
        <p:nvPicPr>
          <p:cNvPr id="9" name="図 8">
            <a:extLst>
              <a:ext uri="{FF2B5EF4-FFF2-40B4-BE49-F238E27FC236}">
                <a16:creationId xmlns:a16="http://schemas.microsoft.com/office/drawing/2014/main" id="{63BE5734-DCF3-D05A-5258-D9172DEC363C}"/>
              </a:ext>
            </a:extLst>
          </p:cNvPr>
          <p:cNvPicPr>
            <a:picLocks noChangeAspect="1"/>
          </p:cNvPicPr>
          <p:nvPr/>
        </p:nvPicPr>
        <p:blipFill>
          <a:blip r:embed="rId3"/>
          <a:stretch>
            <a:fillRect/>
          </a:stretch>
        </p:blipFill>
        <p:spPr>
          <a:xfrm>
            <a:off x="871751" y="1008092"/>
            <a:ext cx="3965720" cy="4823523"/>
          </a:xfrm>
          <a:prstGeom prst="rect">
            <a:avLst/>
          </a:prstGeom>
        </p:spPr>
      </p:pic>
      <p:pic>
        <p:nvPicPr>
          <p:cNvPr id="20" name="図 19">
            <a:extLst>
              <a:ext uri="{FF2B5EF4-FFF2-40B4-BE49-F238E27FC236}">
                <a16:creationId xmlns:a16="http://schemas.microsoft.com/office/drawing/2014/main" id="{A7295496-C8D7-ACCF-2D22-784C7F9B60F9}"/>
              </a:ext>
            </a:extLst>
          </p:cNvPr>
          <p:cNvPicPr>
            <a:picLocks noChangeAspect="1"/>
          </p:cNvPicPr>
          <p:nvPr/>
        </p:nvPicPr>
        <p:blipFill>
          <a:blip r:embed="rId4"/>
          <a:stretch>
            <a:fillRect/>
          </a:stretch>
        </p:blipFill>
        <p:spPr>
          <a:xfrm>
            <a:off x="4837471" y="842713"/>
            <a:ext cx="3969551" cy="2105588"/>
          </a:xfrm>
          <a:prstGeom prst="rect">
            <a:avLst/>
          </a:prstGeom>
        </p:spPr>
      </p:pic>
      <p:pic>
        <p:nvPicPr>
          <p:cNvPr id="26" name="図 25">
            <a:extLst>
              <a:ext uri="{FF2B5EF4-FFF2-40B4-BE49-F238E27FC236}">
                <a16:creationId xmlns:a16="http://schemas.microsoft.com/office/drawing/2014/main" id="{CD059CB2-F605-F806-D060-FB2AB2B47A6A}"/>
              </a:ext>
            </a:extLst>
          </p:cNvPr>
          <p:cNvPicPr>
            <a:picLocks noChangeAspect="1"/>
          </p:cNvPicPr>
          <p:nvPr/>
        </p:nvPicPr>
        <p:blipFill>
          <a:blip r:embed="rId5"/>
          <a:stretch>
            <a:fillRect/>
          </a:stretch>
        </p:blipFill>
        <p:spPr>
          <a:xfrm>
            <a:off x="4837471" y="4491029"/>
            <a:ext cx="3965721" cy="1340586"/>
          </a:xfrm>
          <a:prstGeom prst="rect">
            <a:avLst/>
          </a:prstGeom>
        </p:spPr>
      </p:pic>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dirty="0">
                <a:latin typeface="游ゴシック" panose="020B0400000000000000" pitchFamily="50" charset="-128"/>
                <a:ea typeface="游ゴシック" panose="020B0400000000000000" pitchFamily="50" charset="-128"/>
                <a:cs typeface="游ゴシック"/>
              </a:rPr>
              <a:t>BS補足［資産］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panose="020B0400000000000000" pitchFamily="50" charset="-128"/>
                <a:ea typeface="游ゴシック" panose="020B0400000000000000" pitchFamily="50" charset="-128"/>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graphicFrame>
        <p:nvGraphicFramePr>
          <p:cNvPr id="7" name="Table 6"/>
          <p:cNvGraphicFramePr>
            <a:graphicFrameLocks noGrp="1"/>
          </p:cNvGraphicFramePr>
          <p:nvPr>
            <p:extLst>
              <p:ext uri="{D42A27DB-BD31-4B8C-83A1-F6EECF244321}">
                <p14:modId xmlns:p14="http://schemas.microsoft.com/office/powerpoint/2010/main" val="2959984470"/>
              </p:ext>
            </p:extLst>
          </p:nvPr>
        </p:nvGraphicFramePr>
        <p:xfrm>
          <a:off x="338328" y="1078992"/>
          <a:ext cx="9902952" cy="4992624"/>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7507224">
                  <a:extLst>
                    <a:ext uri="{9D8B030D-6E8A-4147-A177-3AD203B41FA5}">
                      <a16:colId xmlns:a16="http://schemas.microsoft.com/office/drawing/2014/main" val="20002"/>
                    </a:ext>
                  </a:extLst>
                </a:gridCol>
              </a:tblGrid>
              <a:tr h="237744">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游ゴシック"/>
                        </a:rPr>
                        <a:t>科目</a:t>
                      </a:r>
                    </a:p>
                  </a:txBody>
                  <a:tcPr marL="45720" marR="45720" marT="9144" marB="9144" anchor="ctr">
                    <a:solidFill>
                      <a:srgbClr val="0B3041"/>
                    </a:solidFill>
                  </a:tcPr>
                </a:tc>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Arial"/>
                        </a:rPr>
                        <a:t>2026/5期</a:t>
                      </a:r>
                    </a:p>
                  </a:txBody>
                  <a:tcPr marL="45720" marR="45720" marT="9144" marB="9144" anchor="ctr">
                    <a:solidFill>
                      <a:srgbClr val="0B3041"/>
                    </a:solidFill>
                  </a:tcPr>
                </a:tc>
                <a:tc>
                  <a:txBody>
                    <a:bodyPr/>
                    <a:lstStyle/>
                    <a:p>
                      <a:pPr algn="ctr">
                        <a:spcAft>
                          <a:spcPts val="0"/>
                        </a:spcAft>
                      </a:pPr>
                      <a:r>
                        <a:rPr lang="ja-JP" altLang="en-US" sz="900" b="1" dirty="0">
                          <a:solidFill>
                            <a:srgbClr val="FFFFFF"/>
                          </a:solidFill>
                          <a:latin typeface="游ゴシック" panose="020B0400000000000000" pitchFamily="50" charset="-128"/>
                          <a:ea typeface="游ゴシック" panose="020B0400000000000000" pitchFamily="50" charset="-128"/>
                          <a:cs typeface="Arial"/>
                        </a:rPr>
                        <a:t>内容</a:t>
                      </a:r>
                      <a:endParaRPr sz="900" b="1" dirty="0">
                        <a:solidFill>
                          <a:srgbClr val="FFFFFF"/>
                        </a:solidFill>
                        <a:latin typeface="游ゴシック" panose="020B0400000000000000" pitchFamily="50" charset="-128"/>
                        <a:ea typeface="游ゴシック" panose="020B0400000000000000" pitchFamily="50" charset="-128"/>
                        <a:cs typeface="Arial"/>
                      </a:endParaRPr>
                    </a:p>
                  </a:txBody>
                  <a:tcPr marL="45720" marR="45720" marT="9144" marB="9144" anchor="ctr">
                    <a:solidFill>
                      <a:srgbClr val="0B3041"/>
                    </a:solidFill>
                  </a:tcPr>
                </a:tc>
                <a:extLst>
                  <a:ext uri="{0D108BD9-81ED-4DB2-BD59-A6C34878D82A}">
                    <a16:rowId xmlns:a16="http://schemas.microsoft.com/office/drawing/2014/main" val="10000"/>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現金及び預金</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1,066</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現金234千円＋筑波銀行普通預金832千円。</a:t>
                      </a:r>
                    </a:p>
                  </a:txBody>
                  <a:tcPr marL="45720" marR="45720" marT="9144" marB="9144" anchor="ctr">
                    <a:solidFill>
                      <a:srgbClr val="FFFFFF"/>
                    </a:solidFill>
                  </a:tcPr>
                </a:tc>
                <a:extLst>
                  <a:ext uri="{0D108BD9-81ED-4DB2-BD59-A6C34878D82A}">
                    <a16:rowId xmlns:a16="http://schemas.microsoft.com/office/drawing/2014/main" val="10001"/>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棚卸資産</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2,354</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原材料2,025千円は玄そば。当社は1年寝かせてから製粉する製法のため「古」は正常在庫。「古古」312千円の滞留性は要確認。商品329千円は「伊勢又預け分」。</a:t>
                      </a:r>
                    </a:p>
                  </a:txBody>
                  <a:tcPr marL="45720" marR="45720" marT="9144" marB="9144" anchor="ctr">
                    <a:solidFill>
                      <a:srgbClr val="FFFFFF"/>
                    </a:solidFill>
                  </a:tcPr>
                </a:tc>
                <a:extLst>
                  <a:ext uri="{0D108BD9-81ED-4DB2-BD59-A6C34878D82A}">
                    <a16:rowId xmlns:a16="http://schemas.microsoft.com/office/drawing/2014/main" val="10002"/>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前払費用</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77</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そば種苗費の前払分</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3"/>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未収入金</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3,323</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塩町館2,624千円・小びと699千円の関係先向け債権。2,152→2,737→3,323千円と3期連続で増加しており回収懸念</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については要確認。★</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4"/>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建物</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39,249</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取得価額104,599千円。償却限度額を毎期計上しており償却不足はない。うち塩町館関連5,442千円は当社の事業に未供用、かつ建物登記が未了</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5"/>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機械及び装置</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4,219</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石臼製粉機・キルン等。2026年5月期にSUS製小型キルン3,456千円を取得。</a:t>
                      </a:r>
                    </a:p>
                  </a:txBody>
                  <a:tcPr marL="45720" marR="45720" marT="9144" marB="9144" anchor="ctr">
                    <a:solidFill>
                      <a:srgbClr val="FFFFFF"/>
                    </a:solidFill>
                  </a:tcPr>
                </a:tc>
                <a:extLst>
                  <a:ext uri="{0D108BD9-81ED-4DB2-BD59-A6C34878D82A}">
                    <a16:rowId xmlns:a16="http://schemas.microsoft.com/office/drawing/2014/main" val="10006"/>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車両運搬具</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0</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ローバー車・シトロエン2CVフォルゴネットの2台。いずれも償却済（簿価1円）。</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クラシックカーであり時価は簿価を上回る可能性がある</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。譲渡後の取扱いについては、協議が必要。★</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7"/>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土地</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3,450</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店舗敷地・駐車場。常陸太田市天下野町は路線価の設定がない地域と推察され、固定資産税評価額×倍率による評価が</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必要。</a:t>
                      </a:r>
                      <a:endParaRPr lang="en-US" altLang="ja-JP"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固定資産税</a:t>
                      </a:r>
                      <a:r>
                        <a:rPr sz="900" b="0" dirty="0" err="1">
                          <a:solidFill>
                            <a:srgbClr val="1A1A1A"/>
                          </a:solidFill>
                          <a:latin typeface="游ゴシック" panose="020B0400000000000000" pitchFamily="50" charset="-128"/>
                          <a:ea typeface="游ゴシック" panose="020B0400000000000000" pitchFamily="50" charset="-128"/>
                          <a:cs typeface="游ゴシック"/>
                        </a:rPr>
                        <a:t>課税明細書</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については、資料依頼中。★</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8"/>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電話加入権</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75</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換金価値がないためゼロ評価とする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9"/>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出資金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1,100</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（株）慈久庵咸亨酒1,000千円・（株）慈久庵伊勢又100千円。</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換金価値がないためゼロ評価とする。</a:t>
                      </a:r>
                    </a:p>
                  </a:txBody>
                  <a:tcPr marL="45720" marR="45720" marT="9144" marB="9144" anchor="ctr">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016752" y="1152144"/>
            <a:ext cx="413308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4303679"/>
          </a:xfrm>
          <a:prstGeom prst="rect">
            <a:avLst/>
          </a:prstGeom>
          <a:noFill/>
        </p:spPr>
        <p:txBody>
          <a:bodyPr wrap="square" lIns="0" tIns="0" rIns="0" bIns="0" anchor="t">
            <a:spAutoFit/>
          </a:bodyPr>
          <a:lstStyle/>
          <a:p>
            <a:pPr>
              <a:lnSpc>
                <a:spcPct val="122000"/>
              </a:lnSpc>
              <a:spcAft>
                <a:spcPts val="200"/>
              </a:spcAft>
            </a:pPr>
            <a:r>
              <a:rPr lang="ja-JP" altLang="en-US" sz="950" b="1" dirty="0">
                <a:solidFill>
                  <a:srgbClr val="0889C9"/>
                </a:solidFill>
                <a:latin typeface="游ゴシック"/>
                <a:ea typeface="游ゴシック"/>
                <a:cs typeface="游ゴシック"/>
              </a:rPr>
              <a:t>棚卸資産</a:t>
            </a:r>
            <a:r>
              <a:rPr lang="ja-JP" altLang="en-US" sz="950" dirty="0">
                <a:solidFill>
                  <a:srgbClr val="1A1A1A"/>
                </a:solidFill>
                <a:latin typeface="游ゴシック"/>
                <a:ea typeface="游ゴシック"/>
                <a:cs typeface="游ゴシック"/>
              </a:rPr>
              <a:t>：原材料</a:t>
            </a:r>
            <a:r>
              <a:rPr lang="en-US" altLang="ja-JP" sz="950" dirty="0">
                <a:solidFill>
                  <a:srgbClr val="1A1A1A"/>
                </a:solidFill>
                <a:latin typeface="游ゴシック"/>
                <a:ea typeface="游ゴシック"/>
                <a:cs typeface="游ゴシック"/>
              </a:rPr>
              <a:t>2,025</a:t>
            </a:r>
            <a:r>
              <a:rPr lang="ja-JP" altLang="en-US" sz="950" dirty="0">
                <a:solidFill>
                  <a:srgbClr val="1A1A1A"/>
                </a:solidFill>
                <a:latin typeface="游ゴシック"/>
                <a:ea typeface="游ゴシック"/>
                <a:cs typeface="游ゴシック"/>
              </a:rPr>
              <a:t>千円は玄そば（海老根・新／古／古古）。当社は玄そばを</a:t>
            </a:r>
            <a:r>
              <a:rPr lang="en-US" altLang="ja-JP" sz="950" dirty="0">
                <a:solidFill>
                  <a:srgbClr val="1A1A1A"/>
                </a:solidFill>
                <a:latin typeface="游ゴシック"/>
                <a:ea typeface="游ゴシック"/>
                <a:cs typeface="游ゴシック"/>
              </a:rPr>
              <a:t>1</a:t>
            </a:r>
            <a:r>
              <a:rPr lang="ja-JP" altLang="en-US" sz="950" dirty="0">
                <a:solidFill>
                  <a:srgbClr val="1A1A1A"/>
                </a:solidFill>
                <a:latin typeface="游ゴシック"/>
                <a:ea typeface="游ゴシック"/>
                <a:cs typeface="游ゴシック"/>
              </a:rPr>
              <a:t>年寝かせてから製粉する製法のため「古」は正常在庫。「古古」</a:t>
            </a:r>
            <a:r>
              <a:rPr lang="en-US" altLang="ja-JP" sz="950" dirty="0">
                <a:solidFill>
                  <a:srgbClr val="1A1A1A"/>
                </a:solidFill>
                <a:latin typeface="游ゴシック"/>
                <a:ea typeface="游ゴシック"/>
                <a:cs typeface="游ゴシック"/>
              </a:rPr>
              <a:t>312</a:t>
            </a:r>
            <a:r>
              <a:rPr lang="ja-JP" altLang="en-US" sz="950" dirty="0">
                <a:solidFill>
                  <a:srgbClr val="1A1A1A"/>
                </a:solidFill>
                <a:latin typeface="游ゴシック"/>
                <a:ea typeface="游ゴシック"/>
                <a:cs typeface="游ゴシック"/>
              </a:rPr>
              <a:t>千円の滞留性は要確認。商品</a:t>
            </a:r>
            <a:r>
              <a:rPr lang="en-US" altLang="ja-JP" sz="950" dirty="0">
                <a:solidFill>
                  <a:srgbClr val="1A1A1A"/>
                </a:solidFill>
                <a:latin typeface="游ゴシック"/>
                <a:ea typeface="游ゴシック"/>
                <a:cs typeface="游ゴシック"/>
              </a:rPr>
              <a:t>329</a:t>
            </a:r>
            <a:r>
              <a:rPr lang="ja-JP" altLang="en-US" sz="950" dirty="0">
                <a:solidFill>
                  <a:srgbClr val="1A1A1A"/>
                </a:solidFill>
                <a:latin typeface="游ゴシック"/>
                <a:ea typeface="游ゴシック"/>
                <a:cs typeface="游ゴシック"/>
              </a:rPr>
              <a:t>千円は「伊勢又預け分」であり実在性・所有権については要確認事項。★</a:t>
            </a:r>
            <a:endParaRPr lang="en-US" sz="950" b="1" dirty="0">
              <a:solidFill>
                <a:srgbClr val="0889C9"/>
              </a:solidFill>
              <a:latin typeface="游ゴシック"/>
              <a:ea typeface="游ゴシック"/>
              <a:cs typeface="游ゴシック"/>
            </a:endParaRPr>
          </a:p>
          <a:p>
            <a:pPr algn="l">
              <a:lnSpc>
                <a:spcPct val="122000"/>
              </a:lnSpc>
              <a:spcAft>
                <a:spcPts val="200"/>
              </a:spcAft>
            </a:pPr>
            <a:endParaRPr lang="en-US" sz="950" b="1" dirty="0">
              <a:solidFill>
                <a:srgbClr val="0889C9"/>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貸倒引当金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：売掛債権については個別に回収可能性を判断しており、また経常的に貸倒れが発生している事実がないことから、貸倒引当金の計上は不要と判断。</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土地</a:t>
            </a:r>
            <a:r>
              <a:rPr lang="ja-JP" altLang="en-US" sz="950" b="1" dirty="0">
                <a:solidFill>
                  <a:srgbClr val="0889C9"/>
                </a:solidFill>
                <a:latin typeface="游ゴシック"/>
                <a:ea typeface="游ゴシック"/>
                <a:cs typeface="游ゴシック"/>
              </a:rPr>
              <a:t>・建物</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固定資産税課税明細書</a:t>
            </a:r>
            <a:r>
              <a:rPr lang="ja-JP" altLang="en-US" sz="950" b="0" dirty="0">
                <a:solidFill>
                  <a:srgbClr val="1A1A1A"/>
                </a:solidFill>
                <a:latin typeface="游ゴシック"/>
                <a:ea typeface="游ゴシック"/>
                <a:cs typeface="游ゴシック"/>
              </a:rPr>
              <a:t>を受領次第、</a:t>
            </a:r>
            <a:r>
              <a:rPr sz="950" b="0" dirty="0" err="1">
                <a:solidFill>
                  <a:srgbClr val="1A1A1A"/>
                </a:solidFill>
                <a:latin typeface="游ゴシック"/>
                <a:ea typeface="游ゴシック"/>
                <a:cs typeface="游ゴシック"/>
              </a:rPr>
              <a:t>時価評価</a:t>
            </a:r>
            <a:r>
              <a:rPr lang="ja-JP" altLang="en-US" sz="950" b="0" dirty="0">
                <a:solidFill>
                  <a:srgbClr val="1A1A1A"/>
                </a:solidFill>
                <a:latin typeface="游ゴシック"/>
                <a:ea typeface="游ゴシック"/>
                <a:cs typeface="游ゴシック"/>
              </a:rPr>
              <a:t>を</a:t>
            </a:r>
            <a:r>
              <a:rPr sz="950" b="0" dirty="0" err="1">
                <a:solidFill>
                  <a:srgbClr val="1A1A1A"/>
                </a:solidFill>
                <a:latin typeface="游ゴシック"/>
                <a:ea typeface="游ゴシック"/>
                <a:cs typeface="游ゴシック"/>
              </a:rPr>
              <a:t>実施</a:t>
            </a:r>
            <a:r>
              <a:rPr lang="ja-JP" altLang="en-US" sz="950" b="0" dirty="0">
                <a:solidFill>
                  <a:srgbClr val="1A1A1A"/>
                </a:solidFill>
                <a:latin typeface="游ゴシック"/>
                <a:ea typeface="游ゴシック"/>
                <a:cs typeface="游ゴシック"/>
              </a:rPr>
              <a:t>予定</a:t>
            </a:r>
            <a:r>
              <a:rPr lang="ja-JP" altLang="en-US" sz="950" dirty="0">
                <a:solidFill>
                  <a:srgbClr val="1A1A1A"/>
                </a:solidFill>
                <a:latin typeface="游ゴシック"/>
                <a:ea typeface="游ゴシック"/>
                <a:cs typeface="游ゴシック"/>
              </a:rPr>
              <a:t>。現時点では、</a:t>
            </a:r>
            <a:r>
              <a:rPr sz="950" b="0" dirty="0" err="1">
                <a:solidFill>
                  <a:srgbClr val="1A1A1A"/>
                </a:solidFill>
                <a:latin typeface="游ゴシック"/>
                <a:ea typeface="游ゴシック"/>
                <a:cs typeface="游ゴシック"/>
              </a:rPr>
              <a:t>簿価評価としている</a:t>
            </a:r>
            <a:r>
              <a:rPr lang="ja-JP" altLang="en-US" sz="950" b="0" dirty="0">
                <a:solidFill>
                  <a:srgbClr val="1A1A1A"/>
                </a:solidFill>
                <a:latin typeface="游ゴシック"/>
                <a:ea typeface="游ゴシック"/>
                <a:cs typeface="游ゴシック"/>
              </a:rPr>
              <a:t>。★</a:t>
            </a:r>
            <a:endParaRPr sz="950" b="0" dirty="0">
              <a:solidFill>
                <a:srgbClr val="1A1A1A"/>
              </a:solidFill>
              <a:latin typeface="游ゴシック"/>
              <a:ea typeface="游ゴシック"/>
              <a:cs typeface="游ゴシック"/>
            </a:endParaRP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減価償却資産</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固定資産減価償却内訳明細書により当期償却額が償却限度額と一致していることを確認した。償却不足額はないため修正は行っていない</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車両運搬具</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：ローバー車・シトロエン2CVフォルゴネットの2台はいずれも償却済（簿価1円）。</a:t>
            </a:r>
            <a:r>
              <a:rPr sz="950" b="0" dirty="0" err="1">
                <a:solidFill>
                  <a:srgbClr val="1A1A1A"/>
                </a:solidFill>
                <a:latin typeface="游ゴシック"/>
                <a:ea typeface="游ゴシック"/>
                <a:cs typeface="游ゴシック"/>
              </a:rPr>
              <a:t>クラシックカーとして時価が簿価を上回る可能性があるが</a:t>
            </a:r>
            <a:r>
              <a:rPr sz="950" b="0" dirty="0">
                <a:solidFill>
                  <a:srgbClr val="1A1A1A"/>
                </a:solidFill>
                <a:latin typeface="游ゴシック"/>
                <a:ea typeface="游ゴシック"/>
                <a:cs typeface="游ゴシック"/>
              </a:rPr>
              <a:t>、</a:t>
            </a:r>
            <a:r>
              <a:rPr lang="ja-JP" altLang="en-US" sz="950" b="0" dirty="0">
                <a:solidFill>
                  <a:srgbClr val="1A1A1A"/>
                </a:solidFill>
                <a:latin typeface="游ゴシック"/>
                <a:ea typeface="游ゴシック"/>
                <a:cs typeface="游ゴシック"/>
              </a:rPr>
              <a:t>私用車の場合は譲渡後に名義変更等の対応が必要。★</a:t>
            </a:r>
            <a:endParaRPr lang="en-US" altLang="ja-JP" sz="950" b="0" dirty="0">
              <a:solidFill>
                <a:srgbClr val="1A1A1A"/>
              </a:solidFill>
              <a:latin typeface="游ゴシック"/>
              <a:ea typeface="游ゴシック"/>
              <a:cs typeface="游ゴシック"/>
            </a:endParaRPr>
          </a:p>
          <a:p>
            <a:pPr algn="l">
              <a:lnSpc>
                <a:spcPct val="122000"/>
              </a:lnSpc>
              <a:spcAft>
                <a:spcPts val="200"/>
              </a:spcAft>
            </a:pPr>
            <a:endParaRPr lang="en-US" altLang="ja-JP" sz="950" b="0" dirty="0">
              <a:solidFill>
                <a:srgbClr val="1A1A1A"/>
              </a:solidFill>
              <a:latin typeface="游ゴシック"/>
              <a:ea typeface="游ゴシック"/>
              <a:cs typeface="游ゴシック"/>
            </a:endParaRPr>
          </a:p>
          <a:p>
            <a:pPr>
              <a:lnSpc>
                <a:spcPct val="122000"/>
              </a:lnSpc>
              <a:spcAft>
                <a:spcPts val="200"/>
              </a:spcAft>
            </a:pPr>
            <a:r>
              <a:rPr lang="ja-JP" altLang="en-US" sz="950" b="1" dirty="0">
                <a:solidFill>
                  <a:srgbClr val="0889C9"/>
                </a:solidFill>
                <a:latin typeface="游ゴシック"/>
                <a:ea typeface="游ゴシック"/>
                <a:cs typeface="游ゴシック"/>
              </a:rPr>
              <a:t>電話加入権 </a:t>
            </a:r>
            <a:r>
              <a:rPr lang="ja-JP" altLang="en-US" sz="950" dirty="0">
                <a:solidFill>
                  <a:srgbClr val="1A1A1A"/>
                </a:solidFill>
                <a:latin typeface="游ゴシック"/>
                <a:ea typeface="游ゴシック"/>
                <a:cs typeface="游ゴシック"/>
              </a:rPr>
              <a:t>：換金価値がないものとして評価。</a:t>
            </a:r>
            <a:endParaRPr lang="en-US" altLang="ja-JP" sz="950" dirty="0">
              <a:solidFill>
                <a:srgbClr val="1A1A1A"/>
              </a:solidFill>
              <a:latin typeface="游ゴシック"/>
              <a:ea typeface="游ゴシック"/>
              <a:cs typeface="游ゴシック"/>
            </a:endParaRPr>
          </a:p>
          <a:p>
            <a:pPr>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出資金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：関係会社2社への出資。</a:t>
            </a:r>
            <a:r>
              <a:rPr lang="ja-JP" altLang="en-US" sz="950" b="0" dirty="0">
                <a:solidFill>
                  <a:srgbClr val="1A1A1A"/>
                </a:solidFill>
                <a:latin typeface="游ゴシック"/>
                <a:ea typeface="游ゴシック"/>
                <a:cs typeface="游ゴシック"/>
              </a:rPr>
              <a:t>こちらも換金価値がないものとして評価。</a:t>
            </a:r>
            <a:endParaRPr sz="950" b="0" dirty="0">
              <a:solidFill>
                <a:srgbClr val="1A1A1A"/>
              </a:solidFill>
              <a:latin typeface="游ゴシック"/>
              <a:ea typeface="游ゴシック"/>
              <a:cs typeface="游ゴシック"/>
            </a:endParaRPr>
          </a:p>
        </p:txBody>
      </p:sp>
      <p:pic>
        <p:nvPicPr>
          <p:cNvPr id="14" name="図 13">
            <a:extLst>
              <a:ext uri="{FF2B5EF4-FFF2-40B4-BE49-F238E27FC236}">
                <a16:creationId xmlns:a16="http://schemas.microsoft.com/office/drawing/2014/main" id="{82EF4E54-087A-DDB6-107B-412488ECFDA7}"/>
              </a:ext>
            </a:extLst>
          </p:cNvPr>
          <p:cNvPicPr>
            <a:picLocks noChangeAspect="1"/>
          </p:cNvPicPr>
          <p:nvPr/>
        </p:nvPicPr>
        <p:blipFill>
          <a:blip r:embed="rId2"/>
          <a:stretch>
            <a:fillRect/>
          </a:stretch>
        </p:blipFill>
        <p:spPr>
          <a:xfrm>
            <a:off x="297611" y="781050"/>
            <a:ext cx="4468889" cy="6062145"/>
          </a:xfrm>
          <a:prstGeom prst="rect">
            <a:avLst/>
          </a:prstGeom>
        </p:spPr>
      </p:pic>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a:latin typeface="游ゴシック"/>
                <a:ea typeface="游ゴシック"/>
                <a:cs typeface="游ゴシック"/>
              </a:rPr>
              <a:t>BS補足［負債・純資産］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extLst>
              <p:ext uri="{D42A27DB-BD31-4B8C-83A1-F6EECF244321}">
                <p14:modId xmlns:p14="http://schemas.microsoft.com/office/powerpoint/2010/main" val="2071011576"/>
              </p:ext>
            </p:extLst>
          </p:nvPr>
        </p:nvGraphicFramePr>
        <p:xfrm>
          <a:off x="338328" y="1078992"/>
          <a:ext cx="9902952" cy="484632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7507224">
                  <a:extLst>
                    <a:ext uri="{9D8B030D-6E8A-4147-A177-3AD203B41FA5}">
                      <a16:colId xmlns:a16="http://schemas.microsoft.com/office/drawing/2014/main" val="20002"/>
                    </a:ext>
                  </a:extLst>
                </a:gridCol>
              </a:tblGrid>
              <a:tr h="237744">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游ゴシック"/>
                        </a:rPr>
                        <a:t>科目</a:t>
                      </a:r>
                    </a:p>
                  </a:txBody>
                  <a:tcPr marL="45720" marR="45720" marT="9144" marB="9144" anchor="ctr">
                    <a:solidFill>
                      <a:srgbClr val="0B3041"/>
                    </a:solidFill>
                  </a:tcPr>
                </a:tc>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Arial"/>
                        </a:rPr>
                        <a:t>2026/5期</a:t>
                      </a:r>
                    </a:p>
                  </a:txBody>
                  <a:tcPr marL="45720" marR="45720" marT="9144" marB="9144" anchor="ctr">
                    <a:solidFill>
                      <a:srgbClr val="0B3041"/>
                    </a:solidFill>
                  </a:tcPr>
                </a:tc>
                <a:tc>
                  <a:txBody>
                    <a:bodyPr/>
                    <a:lstStyle/>
                    <a:p>
                      <a:pPr algn="ctr">
                        <a:spcAft>
                          <a:spcPts val="0"/>
                        </a:spcAft>
                      </a:pPr>
                      <a:r>
                        <a:rPr sz="900" b="1" dirty="0" err="1">
                          <a:solidFill>
                            <a:srgbClr val="FFFFFF"/>
                          </a:solidFill>
                          <a:latin typeface="游ゴシック" panose="020B0400000000000000" pitchFamily="50" charset="-128"/>
                          <a:ea typeface="游ゴシック" panose="020B0400000000000000" pitchFamily="50" charset="-128"/>
                          <a:cs typeface="Arial"/>
                        </a:rPr>
                        <a:t>論点</a:t>
                      </a:r>
                      <a:endParaRPr sz="900" b="1" dirty="0">
                        <a:solidFill>
                          <a:srgbClr val="FFFFFF"/>
                        </a:solidFill>
                        <a:latin typeface="游ゴシック" panose="020B0400000000000000" pitchFamily="50" charset="-128"/>
                        <a:ea typeface="游ゴシック" panose="020B0400000000000000" pitchFamily="50" charset="-128"/>
                        <a:cs typeface="Arial"/>
                      </a:endParaRPr>
                    </a:p>
                  </a:txBody>
                  <a:tcPr marL="45720" marR="45720" marT="9144" marB="9144" anchor="ctr">
                    <a:solidFill>
                      <a:srgbClr val="0B3041"/>
                    </a:solidFill>
                  </a:tcPr>
                </a:tc>
                <a:extLst>
                  <a:ext uri="{0D108BD9-81ED-4DB2-BD59-A6C34878D82A}">
                    <a16:rowId xmlns:a16="http://schemas.microsoft.com/office/drawing/2014/main" val="10000"/>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550</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電子ブレーカーのリース料未払分（＠22千円）。</a:t>
                      </a:r>
                    </a:p>
                  </a:txBody>
                  <a:tcPr marL="45720" marR="45720" marT="9144" marB="9144" anchor="ctr">
                    <a:solidFill>
                      <a:srgbClr val="FFFFFF"/>
                    </a:solidFill>
                  </a:tcPr>
                </a:tc>
                <a:extLst>
                  <a:ext uri="{0D108BD9-81ED-4DB2-BD59-A6C34878D82A}">
                    <a16:rowId xmlns:a16="http://schemas.microsoft.com/office/drawing/2014/main" val="10001"/>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未払法人税等</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36</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適正に計上されているものとして帳簿価額により評価する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未払消費税等</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343</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同上。</a:t>
                      </a:r>
                    </a:p>
                  </a:txBody>
                  <a:tcPr marL="45720" marR="45720" marT="9144" marB="9144" anchor="ctr">
                    <a:solidFill>
                      <a:srgbClr val="FFFFFF"/>
                    </a:solidFill>
                  </a:tcPr>
                </a:tc>
                <a:extLst>
                  <a:ext uri="{0D108BD9-81ED-4DB2-BD59-A6C34878D82A}">
                    <a16:rowId xmlns:a16="http://schemas.microsoft.com/office/drawing/2014/main" val="10003"/>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長期借入金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32,744</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全額が代表者</a:t>
                      </a:r>
                      <a:r>
                        <a:rPr sz="900" b="0" dirty="0">
                          <a:solidFill>
                            <a:srgbClr val="1A1A1A"/>
                          </a:solidFill>
                          <a:latin typeface="游ゴシック" panose="020B0400000000000000" pitchFamily="50" charset="-128"/>
                          <a:ea typeface="游ゴシック" panose="020B0400000000000000" pitchFamily="50" charset="-128"/>
                          <a:cs typeface="游ゴシック"/>
                        </a:rPr>
                        <a:t> 小川宣夫氏（9,518千円）および配偶者 小川喜久子氏（23,226千円）からの借入。金融機関借入・連帯保証はなく、利息の支払もない。無利息であるため時価と簿価は実質的に一致する。本件実行時の取扱い（返済・相殺・債務免除）</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ついては要協議事項。★</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4"/>
                  </a:ext>
                </a:extLst>
              </a:tr>
              <a:tr h="512064">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未払給与</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常時雇用の従業員が0名であり、賃金規程・給与締日の定めが確認できないため計上していない。</a:t>
                      </a:r>
                    </a:p>
                  </a:txBody>
                  <a:tcPr marL="45720" marR="45720" marT="9144" marB="9144" anchor="ctr">
                    <a:solidFill>
                      <a:srgbClr val="FFFFFF"/>
                    </a:solidFill>
                  </a:tcPr>
                </a:tc>
                <a:extLst>
                  <a:ext uri="{0D108BD9-81ED-4DB2-BD59-A6C34878D82A}">
                    <a16:rowId xmlns:a16="http://schemas.microsoft.com/office/drawing/2014/main" val="10005"/>
                  </a:ext>
                </a:extLst>
              </a:tr>
              <a:tr h="512064">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賞与引当金</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賞与の支給実績・規程が確認できないため計上していない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6"/>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退職給付引当金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従業員0名、退職金規程・中小企業退職金共済への加入も確認できないため計上していない。</a:t>
                      </a:r>
                    </a:p>
                  </a:txBody>
                  <a:tcPr marL="45720" marR="45720" marT="9144" marB="9144" anchor="ctr">
                    <a:solidFill>
                      <a:srgbClr val="FFFFFF"/>
                    </a:solidFill>
                  </a:tcPr>
                </a:tc>
                <a:extLst>
                  <a:ext uri="{0D108BD9-81ED-4DB2-BD59-A6C34878D82A}">
                    <a16:rowId xmlns:a16="http://schemas.microsoft.com/office/drawing/2014/main" val="10007"/>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役員退職慰労引当金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代表者・配偶者はいずれも無報酬であり、役員退職慰労金規程も未確認のため計上していない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役員退職慰労金を支給する場合、当該金額は株式価値から減算される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8"/>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資産除去債務</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自社所有物件であり原状回復義務は生じない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a:latin typeface="游ゴシック"/>
                <a:ea typeface="游ゴシック"/>
                <a:cs typeface="游ゴシック"/>
              </a:rPr>
              <a:t>修正BS［負債・純資産］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016752" y="1152144"/>
            <a:ext cx="413308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197096" cy="2805896"/>
          </a:xfrm>
          <a:prstGeom prst="rect">
            <a:avLst/>
          </a:prstGeom>
          <a:noFill/>
        </p:spPr>
        <p:txBody>
          <a:bodyPr wrap="square" lIns="0" tIns="0" rIns="0" bIns="0" anchor="t">
            <a:spAutoFit/>
          </a:bodyPr>
          <a:lstStyle/>
          <a:p>
            <a:pPr algn="l">
              <a:lnSpc>
                <a:spcPct val="122000"/>
              </a:lnSpc>
              <a:spcAft>
                <a:spcPts val="200"/>
              </a:spcAft>
            </a:pPr>
            <a:r>
              <a:rPr sz="950" b="1" dirty="0" err="1">
                <a:solidFill>
                  <a:srgbClr val="0889C9"/>
                </a:solidFill>
                <a:latin typeface="游ゴシック"/>
                <a:ea typeface="游ゴシック"/>
                <a:cs typeface="游ゴシック"/>
              </a:rPr>
              <a:t>負債</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借入金を含め、時価評価を要する項目は存在しなかったため、いずれも帳簿価額により評価している</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長期借入金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全額が代表者・配偶者からの無利息借入。法形式上は負債であり譲渡後も当社の債務として残存することから、本評価では額面で評価</a:t>
            </a:r>
            <a:r>
              <a:rPr sz="950" b="0" dirty="0">
                <a:solidFill>
                  <a:srgbClr val="1A1A1A"/>
                </a:solidFill>
                <a:latin typeface="游ゴシック"/>
                <a:ea typeface="游ゴシック"/>
                <a:cs typeface="游ゴシック"/>
              </a:rPr>
              <a:t>。</a:t>
            </a:r>
            <a:endParaRPr lang="en-US" sz="950" b="0" dirty="0">
              <a:solidFill>
                <a:srgbClr val="1A1A1A"/>
              </a:solidFill>
              <a:latin typeface="游ゴシック"/>
              <a:ea typeface="游ゴシック"/>
              <a:cs typeface="游ゴシック"/>
            </a:endParaRPr>
          </a:p>
          <a:p>
            <a:pPr algn="l">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人件費関連の引当</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：未払給与・賞与引当金・退職給付引当金・役員退職慰労引当金はいずれも計上していない。常時雇用の従業員が0名であり、代表者・配偶者が無報酬であることによる。</a:t>
            </a:r>
            <a:endParaRPr lang="en-US" sz="950" b="0" dirty="0">
              <a:solidFill>
                <a:srgbClr val="1A1A1A"/>
              </a:solidFill>
              <a:latin typeface="游ゴシック"/>
              <a:ea typeface="游ゴシック"/>
              <a:cs typeface="游ゴシック"/>
            </a:endParaRPr>
          </a:p>
          <a:p>
            <a:pPr algn="l">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簿外債務</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債務保証・係争・未払残業代等の有無は本書作成時点で確認できていない</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B3041"/>
                </a:solidFill>
                <a:latin typeface="游ゴシック"/>
                <a:ea typeface="游ゴシック"/>
                <a:cs typeface="游ゴシック"/>
              </a:rPr>
              <a:t>時価純資産</a:t>
            </a:r>
            <a:r>
              <a:rPr sz="950" b="1" dirty="0">
                <a:solidFill>
                  <a:srgbClr val="0B3041"/>
                </a:solidFill>
                <a:latin typeface="游ゴシック"/>
                <a:ea typeface="游ゴシック"/>
                <a:cs typeface="游ゴシック"/>
              </a:rPr>
              <a:t> </a:t>
            </a:r>
            <a:r>
              <a:rPr sz="950" b="1" dirty="0">
                <a:solidFill>
                  <a:srgbClr val="1A1A1A"/>
                </a:solidFill>
                <a:latin typeface="游ゴシック"/>
                <a:ea typeface="游ゴシック"/>
                <a:cs typeface="游ゴシック"/>
              </a:rPr>
              <a:t>：簿価純資産23,658千円に対し、修正後の時価純資産は2</a:t>
            </a:r>
            <a:r>
              <a:rPr lang="en-US" sz="950" b="1" dirty="0">
                <a:solidFill>
                  <a:srgbClr val="1A1A1A"/>
                </a:solidFill>
                <a:latin typeface="游ゴシック"/>
                <a:ea typeface="游ゴシック"/>
                <a:cs typeface="游ゴシック"/>
              </a:rPr>
              <a:t>2</a:t>
            </a:r>
            <a:r>
              <a:rPr sz="950" b="1" dirty="0">
                <a:solidFill>
                  <a:srgbClr val="1A1A1A"/>
                </a:solidFill>
                <a:latin typeface="游ゴシック"/>
                <a:ea typeface="游ゴシック"/>
                <a:cs typeface="游ゴシック"/>
              </a:rPr>
              <a:t>,</a:t>
            </a:r>
            <a:r>
              <a:rPr lang="en-US" sz="950" b="1" dirty="0">
                <a:solidFill>
                  <a:srgbClr val="1A1A1A"/>
                </a:solidFill>
                <a:latin typeface="游ゴシック"/>
                <a:ea typeface="游ゴシック"/>
                <a:cs typeface="游ゴシック"/>
              </a:rPr>
              <a:t>4</a:t>
            </a:r>
            <a:r>
              <a:rPr sz="950" b="1" dirty="0">
                <a:solidFill>
                  <a:srgbClr val="1A1A1A"/>
                </a:solidFill>
                <a:latin typeface="游ゴシック"/>
                <a:ea typeface="游ゴシック"/>
                <a:cs typeface="游ゴシック"/>
              </a:rPr>
              <a:t>83千円となる。</a:t>
            </a:r>
          </a:p>
        </p:txBody>
      </p:sp>
      <p:pic>
        <p:nvPicPr>
          <p:cNvPr id="3" name="図 2">
            <a:extLst>
              <a:ext uri="{FF2B5EF4-FFF2-40B4-BE49-F238E27FC236}">
                <a16:creationId xmlns:a16="http://schemas.microsoft.com/office/drawing/2014/main" id="{2D47A789-4D2C-48D6-77A7-37ACE2FF2BF5}"/>
              </a:ext>
            </a:extLst>
          </p:cNvPr>
          <p:cNvPicPr>
            <a:picLocks noChangeAspect="1"/>
          </p:cNvPicPr>
          <p:nvPr/>
        </p:nvPicPr>
        <p:blipFill>
          <a:blip r:embed="rId2"/>
          <a:stretch>
            <a:fillRect/>
          </a:stretch>
        </p:blipFill>
        <p:spPr>
          <a:xfrm>
            <a:off x="310896" y="897128"/>
            <a:ext cx="4792044" cy="3036697"/>
          </a:xfrm>
          <a:prstGeom prst="rect">
            <a:avLst/>
          </a:prstGeom>
        </p:spPr>
      </p:pic>
      <p:pic>
        <p:nvPicPr>
          <p:cNvPr id="12" name="図 11">
            <a:extLst>
              <a:ext uri="{FF2B5EF4-FFF2-40B4-BE49-F238E27FC236}">
                <a16:creationId xmlns:a16="http://schemas.microsoft.com/office/drawing/2014/main" id="{E1C6FC77-6D69-4EE7-B4DF-9EAB1A93FC4B}"/>
              </a:ext>
            </a:extLst>
          </p:cNvPr>
          <p:cNvPicPr>
            <a:picLocks noChangeAspect="1"/>
          </p:cNvPicPr>
          <p:nvPr/>
        </p:nvPicPr>
        <p:blipFill>
          <a:blip r:embed="rId3"/>
          <a:stretch>
            <a:fillRect/>
          </a:stretch>
        </p:blipFill>
        <p:spPr>
          <a:xfrm>
            <a:off x="313542" y="4186174"/>
            <a:ext cx="4794789" cy="2100326"/>
          </a:xfrm>
          <a:prstGeom prst="rect">
            <a:avLst/>
          </a:prstGeom>
        </p:spPr>
      </p:pic>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a:latin typeface="游ゴシック"/>
                <a:ea typeface="游ゴシック"/>
                <a:cs typeface="游ゴシック"/>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pic>
        <p:nvPicPr>
          <p:cNvPr id="4" name="図 3">
            <a:extLst>
              <a:ext uri="{FF2B5EF4-FFF2-40B4-BE49-F238E27FC236}">
                <a16:creationId xmlns:a16="http://schemas.microsoft.com/office/drawing/2014/main" id="{CBA4C35C-3694-60FE-9FF0-99E98493515B}"/>
              </a:ext>
            </a:extLst>
          </p:cNvPr>
          <p:cNvPicPr>
            <a:picLocks noChangeAspect="1"/>
          </p:cNvPicPr>
          <p:nvPr/>
        </p:nvPicPr>
        <p:blipFill>
          <a:blip r:embed="rId2"/>
          <a:stretch>
            <a:fillRect/>
          </a:stretch>
        </p:blipFill>
        <p:spPr>
          <a:xfrm>
            <a:off x="341313" y="864489"/>
            <a:ext cx="8699500" cy="2355850"/>
          </a:xfrm>
          <a:prstGeom prst="rect">
            <a:avLst/>
          </a:prstGeom>
        </p:spPr>
      </p:pic>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10" name="Rectangle 9"/>
          <p:cNvSpPr/>
          <p:nvPr/>
        </p:nvSpPr>
        <p:spPr>
          <a:xfrm>
            <a:off x="6876288" y="1005840"/>
            <a:ext cx="3364992" cy="48463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967727" y="1078992"/>
            <a:ext cx="3182112"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6986016" y="1426464"/>
            <a:ext cx="3145536" cy="2945935"/>
          </a:xfrm>
          <a:prstGeom prst="rect">
            <a:avLst/>
          </a:prstGeom>
          <a:noFill/>
        </p:spPr>
        <p:txBody>
          <a:bodyPr wrap="square" lIns="0" tIns="0" rIns="0" bIns="0" anchor="t">
            <a:spAutoFit/>
          </a:bodyPr>
          <a:lstStyle/>
          <a:p>
            <a:pPr algn="l">
              <a:lnSpc>
                <a:spcPct val="122000"/>
              </a:lnSpc>
              <a:spcAft>
                <a:spcPts val="200"/>
              </a:spcAft>
            </a:pPr>
            <a:r>
              <a:rPr sz="900" b="1" dirty="0" err="1">
                <a:solidFill>
                  <a:srgbClr val="0889C9"/>
                </a:solidFill>
                <a:latin typeface="游ゴシック"/>
                <a:ea typeface="游ゴシック"/>
                <a:cs typeface="游ゴシック"/>
              </a:rPr>
              <a:t>売上高</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：24,455→23,542→22,484千円と毎期減少。店頭日商の低下（86→80→75千円）が主因であり、営業日数は203→200日とほぼ一定。</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売上原価</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：16,403→16,047→16,428千円と横ばい。製造原価の42.3％を減価償却費が占めており、売上に連動しない固定費が大きい。</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販管費</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：7,082→6,212→6,267千円。給料手当・役員報酬の計上はない（労務費は製造原価に計上）。</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営業外損益</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：2025年5月期の雑収入2,490千円には補助金収入を含み、営業外費用の圧縮記帳損2,282千円は当該補助金に係るホームページ改修費用の圧縮記帳。いずれも非経常。</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支払利息</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a:t>
            </a:r>
            <a:r>
              <a:rPr sz="900" b="0" dirty="0" err="1">
                <a:solidFill>
                  <a:srgbClr val="1A1A1A"/>
                </a:solidFill>
                <a:latin typeface="游ゴシック"/>
                <a:ea typeface="游ゴシック"/>
                <a:cs typeface="游ゴシック"/>
              </a:rPr>
              <a:t>長期借入金は全額が無利息の役員借入であり、支払利息の計上はない</a:t>
            </a:r>
            <a:r>
              <a:rPr sz="900" b="0" dirty="0">
                <a:solidFill>
                  <a:srgbClr val="1A1A1A"/>
                </a:solidFill>
                <a:latin typeface="游ゴシック"/>
                <a:ea typeface="游ゴシック"/>
                <a:cs typeface="游ゴシック"/>
              </a:rPr>
              <a:t>。</a:t>
            </a:r>
          </a:p>
        </p:txBody>
      </p:sp>
      <p:pic>
        <p:nvPicPr>
          <p:cNvPr id="5" name="図 4">
            <a:extLst>
              <a:ext uri="{FF2B5EF4-FFF2-40B4-BE49-F238E27FC236}">
                <a16:creationId xmlns:a16="http://schemas.microsoft.com/office/drawing/2014/main" id="{86B541FC-6B6F-30DB-C3FF-6C6119A533E9}"/>
              </a:ext>
            </a:extLst>
          </p:cNvPr>
          <p:cNvPicPr>
            <a:picLocks noChangeAspect="1"/>
          </p:cNvPicPr>
          <p:nvPr/>
        </p:nvPicPr>
        <p:blipFill>
          <a:blip r:embed="rId2"/>
          <a:stretch>
            <a:fillRect/>
          </a:stretch>
        </p:blipFill>
        <p:spPr>
          <a:xfrm>
            <a:off x="341314" y="771526"/>
            <a:ext cx="6274734" cy="5495924"/>
          </a:xfrm>
          <a:prstGeom prst="rect">
            <a:avLst/>
          </a:prstGeom>
        </p:spPr>
      </p:pic>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EDE74-6222-A468-54C8-62A66BD11830}"/>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5F22A230-6AFE-45ED-4303-FDFB45310B20}"/>
              </a:ext>
            </a:extLst>
          </p:cNvPr>
          <p:cNvSpPr>
            <a:spLocks noGrp="1"/>
          </p:cNvSpPr>
          <p:nvPr>
            <p:ph type="ctrTitle"/>
          </p:nvPr>
        </p:nvSpPr>
        <p:spPr>
          <a:xfrm>
            <a:off x="341313" y="180653"/>
            <a:ext cx="7799917" cy="338554"/>
          </a:xfrm>
        </p:spPr>
        <p:txBody>
          <a:bodyPr/>
          <a:lstStyle/>
          <a:p>
            <a:r>
              <a:rPr dirty="0" err="1">
                <a:latin typeface="游ゴシック"/>
                <a:ea typeface="游ゴシック"/>
                <a:cs typeface="游ゴシック"/>
              </a:rPr>
              <a:t>過去</a:t>
            </a:r>
            <a:r>
              <a:rPr lang="en-US" altLang="ja-JP" dirty="0" err="1">
                <a:latin typeface="游ゴシック"/>
                <a:ea typeface="游ゴシック"/>
                <a:cs typeface="游ゴシック"/>
              </a:rPr>
              <a:t>SGA</a:t>
            </a:r>
            <a:r>
              <a:rPr dirty="0" err="1">
                <a:latin typeface="游ゴシック"/>
                <a:ea typeface="游ゴシック"/>
                <a:cs typeface="游ゴシック"/>
              </a:rPr>
              <a:t>の推移</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3CFE1CCA-80FF-4783-BB1B-95A634C156D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pic>
        <p:nvPicPr>
          <p:cNvPr id="6" name="図 5">
            <a:extLst>
              <a:ext uri="{FF2B5EF4-FFF2-40B4-BE49-F238E27FC236}">
                <a16:creationId xmlns:a16="http://schemas.microsoft.com/office/drawing/2014/main" id="{27480D6E-855C-C540-DC8D-F9BCCB727F74}"/>
              </a:ext>
            </a:extLst>
          </p:cNvPr>
          <p:cNvPicPr>
            <a:picLocks noChangeAspect="1"/>
          </p:cNvPicPr>
          <p:nvPr/>
        </p:nvPicPr>
        <p:blipFill>
          <a:blip r:embed="rId2"/>
          <a:stretch>
            <a:fillRect/>
          </a:stretch>
        </p:blipFill>
        <p:spPr>
          <a:xfrm>
            <a:off x="341313" y="783808"/>
            <a:ext cx="7143903" cy="4216817"/>
          </a:xfrm>
          <a:prstGeom prst="rect">
            <a:avLst/>
          </a:prstGeom>
        </p:spPr>
      </p:pic>
    </p:spTree>
    <p:extLst>
      <p:ext uri="{BB962C8B-B14F-4D97-AF65-F5344CB8AC3E}">
        <p14:creationId xmlns:p14="http://schemas.microsoft.com/office/powerpoint/2010/main" val="407200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4E7A8-51E2-4AD7-5FDB-44F0F5265449}"/>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D9FF609B-86D2-AB0B-051E-5613FC45CF46}"/>
              </a:ext>
            </a:extLst>
          </p:cNvPr>
          <p:cNvSpPr>
            <a:spLocks noGrp="1"/>
          </p:cNvSpPr>
          <p:nvPr>
            <p:ph type="ctrTitle"/>
          </p:nvPr>
        </p:nvSpPr>
        <p:spPr>
          <a:xfrm>
            <a:off x="341313" y="180653"/>
            <a:ext cx="7799917" cy="338554"/>
          </a:xfrm>
        </p:spPr>
        <p:txBody>
          <a:bodyPr/>
          <a:lstStyle/>
          <a:p>
            <a:r>
              <a:rPr dirty="0" err="1">
                <a:latin typeface="游ゴシック"/>
                <a:ea typeface="游ゴシック"/>
                <a:cs typeface="游ゴシック"/>
              </a:rPr>
              <a:t>過去</a:t>
            </a:r>
            <a:r>
              <a:rPr lang="en-US" altLang="ja-JP" dirty="0" err="1">
                <a:latin typeface="游ゴシック"/>
                <a:ea typeface="游ゴシック"/>
                <a:cs typeface="游ゴシック"/>
              </a:rPr>
              <a:t>CR</a:t>
            </a:r>
            <a:r>
              <a:rPr lang="ja-JP" altLang="en-US" dirty="0">
                <a:latin typeface="游ゴシック"/>
                <a:ea typeface="游ゴシック"/>
                <a:cs typeface="游ゴシック"/>
              </a:rPr>
              <a:t>（製造原価報告書）</a:t>
            </a:r>
            <a:r>
              <a:rPr dirty="0" err="1">
                <a:latin typeface="游ゴシック"/>
                <a:ea typeface="游ゴシック"/>
                <a:cs typeface="游ゴシック"/>
              </a:rPr>
              <a:t>の推移</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0149CE30-46AB-F9D5-22D2-6821F0F6ABA4}"/>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pic>
        <p:nvPicPr>
          <p:cNvPr id="3" name="図 2">
            <a:extLst>
              <a:ext uri="{FF2B5EF4-FFF2-40B4-BE49-F238E27FC236}">
                <a16:creationId xmlns:a16="http://schemas.microsoft.com/office/drawing/2014/main" id="{E5414432-3F77-4A61-0D35-758A00031501}"/>
              </a:ext>
            </a:extLst>
          </p:cNvPr>
          <p:cNvPicPr>
            <a:picLocks noChangeAspect="1"/>
          </p:cNvPicPr>
          <p:nvPr/>
        </p:nvPicPr>
        <p:blipFill>
          <a:blip r:embed="rId2"/>
          <a:stretch>
            <a:fillRect/>
          </a:stretch>
        </p:blipFill>
        <p:spPr>
          <a:xfrm>
            <a:off x="341313" y="871795"/>
            <a:ext cx="6611937" cy="6001102"/>
          </a:xfrm>
          <a:prstGeom prst="rect">
            <a:avLst/>
          </a:prstGeom>
        </p:spPr>
      </p:pic>
    </p:spTree>
    <p:extLst>
      <p:ext uri="{BB962C8B-B14F-4D97-AF65-F5344CB8AC3E}">
        <p14:creationId xmlns:p14="http://schemas.microsoft.com/office/powerpoint/2010/main" val="245263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修正PLの算定［正常収益力の集計］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05840"/>
          <a:ext cx="9902946" cy="3401568"/>
        </p:xfrm>
        <a:graphic>
          <a:graphicData uri="http://schemas.openxmlformats.org/drawingml/2006/table">
            <a:tbl>
              <a:tblPr>
                <a:tableStyleId>{5940675A-B579-460E-94D1-54222C63F5DA}</a:tableStyleId>
              </a:tblPr>
              <a:tblGrid>
                <a:gridCol w="1697133">
                  <a:extLst>
                    <a:ext uri="{9D8B030D-6E8A-4147-A177-3AD203B41FA5}">
                      <a16:colId xmlns:a16="http://schemas.microsoft.com/office/drawing/2014/main" val="20000"/>
                    </a:ext>
                  </a:extLst>
                </a:gridCol>
                <a:gridCol w="911757">
                  <a:extLst>
                    <a:ext uri="{9D8B030D-6E8A-4147-A177-3AD203B41FA5}">
                      <a16:colId xmlns:a16="http://schemas.microsoft.com/office/drawing/2014/main" val="20001"/>
                    </a:ext>
                  </a:extLst>
                </a:gridCol>
                <a:gridCol w="911757">
                  <a:extLst>
                    <a:ext uri="{9D8B030D-6E8A-4147-A177-3AD203B41FA5}">
                      <a16:colId xmlns:a16="http://schemas.microsoft.com/office/drawing/2014/main" val="20002"/>
                    </a:ext>
                  </a:extLst>
                </a:gridCol>
                <a:gridCol w="911757">
                  <a:extLst>
                    <a:ext uri="{9D8B030D-6E8A-4147-A177-3AD203B41FA5}">
                      <a16:colId xmlns:a16="http://schemas.microsoft.com/office/drawing/2014/main" val="20003"/>
                    </a:ext>
                  </a:extLst>
                </a:gridCol>
                <a:gridCol w="911757">
                  <a:extLst>
                    <a:ext uri="{9D8B030D-6E8A-4147-A177-3AD203B41FA5}">
                      <a16:colId xmlns:a16="http://schemas.microsoft.com/office/drawing/2014/main" val="20004"/>
                    </a:ext>
                  </a:extLst>
                </a:gridCol>
                <a:gridCol w="911757">
                  <a:extLst>
                    <a:ext uri="{9D8B030D-6E8A-4147-A177-3AD203B41FA5}">
                      <a16:colId xmlns:a16="http://schemas.microsoft.com/office/drawing/2014/main" val="20005"/>
                    </a:ext>
                  </a:extLst>
                </a:gridCol>
                <a:gridCol w="911757">
                  <a:extLst>
                    <a:ext uri="{9D8B030D-6E8A-4147-A177-3AD203B41FA5}">
                      <a16:colId xmlns:a16="http://schemas.microsoft.com/office/drawing/2014/main" val="20006"/>
                    </a:ext>
                  </a:extLst>
                </a:gridCol>
                <a:gridCol w="911757">
                  <a:extLst>
                    <a:ext uri="{9D8B030D-6E8A-4147-A177-3AD203B41FA5}">
                      <a16:colId xmlns:a16="http://schemas.microsoft.com/office/drawing/2014/main" val="20007"/>
                    </a:ext>
                  </a:extLst>
                </a:gridCol>
                <a:gridCol w="911757">
                  <a:extLst>
                    <a:ext uri="{9D8B030D-6E8A-4147-A177-3AD203B41FA5}">
                      <a16:colId xmlns:a16="http://schemas.microsoft.com/office/drawing/2014/main" val="20008"/>
                    </a:ext>
                  </a:extLst>
                </a:gridCol>
                <a:gridCol w="911757">
                  <a:extLst>
                    <a:ext uri="{9D8B030D-6E8A-4147-A177-3AD203B41FA5}">
                      <a16:colId xmlns:a16="http://schemas.microsoft.com/office/drawing/2014/main" val="20009"/>
                    </a:ext>
                  </a:extLst>
                </a:gridCol>
              </a:tblGrid>
              <a:tr h="237744">
                <a:tc>
                  <a:txBody>
                    <a:bodyPr/>
                    <a:lstStyle/>
                    <a:p>
                      <a:pPr algn="ctr">
                        <a:spcAft>
                          <a:spcPts val="0"/>
                        </a:spcAft>
                      </a:pPr>
                      <a:r>
                        <a:rPr sz="819" b="1">
                          <a:solidFill>
                            <a:srgbClr val="FFFFFF"/>
                          </a:solidFill>
                          <a:latin typeface="游ゴシック"/>
                          <a:ea typeface="游ゴシック"/>
                          <a:cs typeface="游ゴシック"/>
                        </a:rPr>
                        <a:t>科目</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2024年5月期</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2025年5月期</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2026年5月期</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tcPr>
                </a:tc>
                <a:extLst>
                  <a:ext uri="{0D108BD9-81ED-4DB2-BD59-A6C34878D82A}">
                    <a16:rowId xmlns:a16="http://schemas.microsoft.com/office/drawing/2014/main" val="10000"/>
                  </a:ext>
                </a:extLst>
              </a:tr>
              <a:tr h="237744">
                <a:tc>
                  <a:txBody>
                    <a:bodyPr/>
                    <a:lstStyle/>
                    <a:p>
                      <a:pPr algn="ctr">
                        <a:spcAft>
                          <a:spcPts val="0"/>
                        </a:spcAft>
                      </a:pPr>
                      <a:r>
                        <a:rPr sz="819"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tcPr>
                </a:tc>
                <a:tc>
                  <a:txBody>
                    <a:bodyPr/>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tcPr>
                </a:tc>
                <a:extLst>
                  <a:ext uri="{0D108BD9-81ED-4DB2-BD59-A6C34878D82A}">
                    <a16:rowId xmlns:a16="http://schemas.microsoft.com/office/drawing/2014/main" val="10001"/>
                  </a:ext>
                </a:extLst>
              </a:tr>
              <a:tr h="365760">
                <a:tc>
                  <a:txBody>
                    <a:bodyPr/>
                    <a:lstStyle/>
                    <a:p>
                      <a:pPr algn="l">
                        <a:spcAft>
                          <a:spcPts val="0"/>
                        </a:spcAft>
                      </a:pPr>
                      <a:r>
                        <a:rPr sz="819" b="0">
                          <a:solidFill>
                            <a:srgbClr val="1A1A1A"/>
                          </a:solidFill>
                          <a:latin typeface="游ゴシック"/>
                          <a:ea typeface="游ゴシック"/>
                          <a:cs typeface="游ゴシック"/>
                        </a:rPr>
                        <a:t>売上高</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tcPr>
                </a:tc>
                <a:tc>
                  <a:txBody>
                    <a:bodyPr/>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tcPr>
                </a:tc>
                <a:extLst>
                  <a:ext uri="{0D108BD9-81ED-4DB2-BD59-A6C34878D82A}">
                    <a16:rowId xmlns:a16="http://schemas.microsoft.com/office/drawing/2014/main" val="10002"/>
                  </a:ext>
                </a:extLst>
              </a:tr>
              <a:tr h="365760">
                <a:tc>
                  <a:txBody>
                    <a:bodyPr/>
                    <a:lstStyle/>
                    <a:p>
                      <a:pPr algn="l">
                        <a:spcAft>
                          <a:spcPts val="0"/>
                        </a:spcAft>
                      </a:pPr>
                      <a:r>
                        <a:rPr sz="819" b="1">
                          <a:solidFill>
                            <a:srgbClr val="1A1A1A"/>
                          </a:solidFill>
                          <a:latin typeface="游ゴシック"/>
                          <a:ea typeface="游ゴシック"/>
                          <a:cs typeface="游ゴシック"/>
                        </a:rPr>
                        <a:t>売上原価</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16,403</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15,650</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16,047</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15,293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16,428</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15,674</a:t>
                      </a:r>
                    </a:p>
                  </a:txBody>
                  <a:tcPr marL="45720" marR="45720" marT="9144" marB="9144" anchor="ctr">
                    <a:solidFill>
                      <a:srgbClr val="FFFFFF"/>
                    </a:solidFill>
                  </a:tcPr>
                </a:tc>
                <a:extLst>
                  <a:ext uri="{0D108BD9-81ED-4DB2-BD59-A6C34878D82A}">
                    <a16:rowId xmlns:a16="http://schemas.microsoft.com/office/drawing/2014/main" val="10003"/>
                  </a:ext>
                </a:extLst>
              </a:tr>
              <a:tr h="365760">
                <a:tc>
                  <a:txBody>
                    <a:bodyPr/>
                    <a:lstStyle/>
                    <a:p>
                      <a:pPr algn="l">
                        <a:spcAft>
                          <a:spcPts val="0"/>
                        </a:spcAft>
                      </a:pPr>
                      <a:r>
                        <a:rPr sz="819" b="0">
                          <a:solidFill>
                            <a:srgbClr val="1A1A1A"/>
                          </a:solidFill>
                          <a:latin typeface="游ゴシック"/>
                          <a:ea typeface="游ゴシック"/>
                          <a:cs typeface="游ゴシック"/>
                        </a:rPr>
                        <a:t>　うち当期製品製造原価</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16,208</a:t>
                      </a:r>
                    </a:p>
                  </a:txBody>
                  <a:tcPr marL="45720" marR="45720" marT="9144" marB="9144" anchor="ctr">
                    <a:solidFill>
                      <a:srgbClr val="FFFFFF"/>
                    </a:solidFill>
                  </a:tcPr>
                </a:tc>
                <a:tc>
                  <a:txBody>
                    <a:bodyPr/>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15,454</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15,680</a:t>
                      </a:r>
                    </a:p>
                  </a:txBody>
                  <a:tcPr marL="45720" marR="45720" marT="9144" marB="9144" anchor="ctr">
                    <a:solidFill>
                      <a:srgbClr val="FFFFFF"/>
                    </a:solidFill>
                  </a:tcPr>
                </a:tc>
                <a:tc>
                  <a:txBody>
                    <a:bodyPr/>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14,926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16,579</a:t>
                      </a:r>
                    </a:p>
                  </a:txBody>
                  <a:tcPr marL="45720" marR="45720" marT="9144" marB="9144" anchor="ctr">
                    <a:solidFill>
                      <a:srgbClr val="FFFFFF"/>
                    </a:solidFill>
                  </a:tcPr>
                </a:tc>
                <a:tc>
                  <a:txBody>
                    <a:bodyPr/>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15,826</a:t>
                      </a:r>
                    </a:p>
                  </a:txBody>
                  <a:tcPr marL="45720" marR="45720" marT="9144" marB="9144" anchor="ctr">
                    <a:solidFill>
                      <a:srgbClr val="FFFFFF"/>
                    </a:solidFill>
                  </a:tcPr>
                </a:tc>
                <a:extLst>
                  <a:ext uri="{0D108BD9-81ED-4DB2-BD59-A6C34878D82A}">
                    <a16:rowId xmlns:a16="http://schemas.microsoft.com/office/drawing/2014/main" val="10004"/>
                  </a:ext>
                </a:extLst>
              </a:tr>
              <a:tr h="365760">
                <a:tc>
                  <a:txBody>
                    <a:bodyPr/>
                    <a:lstStyle/>
                    <a:p>
                      <a:pPr algn="l">
                        <a:spcAft>
                          <a:spcPts val="0"/>
                        </a:spcAft>
                      </a:pPr>
                      <a:r>
                        <a:rPr sz="819" b="0">
                          <a:solidFill>
                            <a:srgbClr val="1A1A1A"/>
                          </a:solidFill>
                          <a:latin typeface="游ゴシック"/>
                          <a:ea typeface="游ゴシック"/>
                          <a:cs typeface="游ゴシック"/>
                        </a:rPr>
                        <a:t>売上総利益</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8,051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8,805</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7,495</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8,249</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6,056</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6,810</a:t>
                      </a:r>
                    </a:p>
                  </a:txBody>
                  <a:tcPr marL="45720" marR="45720" marT="9144" marB="9144" anchor="ctr">
                    <a:solidFill>
                      <a:srgbClr val="FFFFFF"/>
                    </a:solidFill>
                  </a:tcPr>
                </a:tc>
                <a:extLst>
                  <a:ext uri="{0D108BD9-81ED-4DB2-BD59-A6C34878D82A}">
                    <a16:rowId xmlns:a16="http://schemas.microsoft.com/office/drawing/2014/main" val="10005"/>
                  </a:ext>
                </a:extLst>
              </a:tr>
              <a:tr h="365760">
                <a:tc>
                  <a:txBody>
                    <a:bodyPr/>
                    <a:lstStyle/>
                    <a:p>
                      <a:pPr algn="l">
                        <a:spcAft>
                          <a:spcPts val="0"/>
                        </a:spcAft>
                      </a:pPr>
                      <a:r>
                        <a:rPr sz="819" b="1">
                          <a:solidFill>
                            <a:srgbClr val="1A1A1A"/>
                          </a:solidFill>
                          <a:latin typeface="游ゴシック"/>
                          <a:ea typeface="游ゴシック"/>
                          <a:cs typeface="游ゴシック"/>
                        </a:rPr>
                        <a:t>販売費及び一般管理費</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tcPr>
                </a:tc>
                <a:extLst>
                  <a:ext uri="{0D108BD9-81ED-4DB2-BD59-A6C34878D82A}">
                    <a16:rowId xmlns:a16="http://schemas.microsoft.com/office/drawing/2014/main" val="10006"/>
                  </a:ext>
                </a:extLst>
              </a:tr>
              <a:tr h="365760">
                <a:tc>
                  <a:txBody>
                    <a:bodyPr/>
                    <a:lstStyle/>
                    <a:p>
                      <a:pPr algn="l">
                        <a:spcAft>
                          <a:spcPts val="0"/>
                        </a:spcAft>
                      </a:pPr>
                      <a:r>
                        <a:rPr sz="819" b="0">
                          <a:solidFill>
                            <a:srgbClr val="1A1A1A"/>
                          </a:solidFill>
                          <a:latin typeface="游ゴシック"/>
                          <a:ea typeface="游ゴシック"/>
                          <a:cs typeface="游ゴシック"/>
                        </a:rPr>
                        <a:t>営業利益</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970</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1,723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1,283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2,037</a:t>
                      </a:r>
                    </a:p>
                  </a:txBody>
                  <a:tcPr marL="45720" marR="45720" marT="9144" marB="9144" anchor="ctr">
                    <a:solidFill>
                      <a:srgbClr val="FFFFFF"/>
                    </a:solidFill>
                  </a:tcPr>
                </a:tc>
                <a:tc>
                  <a:txBody>
                    <a:bodyPr/>
                    <a:lstStyle/>
                    <a:p>
                      <a:pPr algn="r">
                        <a:spcAft>
                          <a:spcPts val="0"/>
                        </a:spcAft>
                      </a:pPr>
                      <a:r>
                        <a:rPr sz="819" b="0">
                          <a:solidFill>
                            <a:srgbClr val="C03A2B"/>
                          </a:solidFill>
                          <a:latin typeface="Arial"/>
                          <a:ea typeface="Arial"/>
                          <a:cs typeface="Arial"/>
                        </a:rPr>
                        <a:t>△211</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0">
                          <a:solidFill>
                            <a:srgbClr val="1A1A1A"/>
                          </a:solidFill>
                          <a:latin typeface="Arial"/>
                          <a:ea typeface="Arial"/>
                          <a:cs typeface="Arial"/>
                        </a:rPr>
                        <a:t>543</a:t>
                      </a:r>
                    </a:p>
                  </a:txBody>
                  <a:tcPr marL="45720" marR="45720" marT="9144" marB="9144" anchor="ctr">
                    <a:solidFill>
                      <a:srgbClr val="FFFFFF"/>
                    </a:solidFill>
                  </a:tcPr>
                </a:tc>
                <a:extLst>
                  <a:ext uri="{0D108BD9-81ED-4DB2-BD59-A6C34878D82A}">
                    <a16:rowId xmlns:a16="http://schemas.microsoft.com/office/drawing/2014/main" val="10007"/>
                  </a:ext>
                </a:extLst>
              </a:tr>
              <a:tr h="365760">
                <a:tc>
                  <a:txBody>
                    <a:bodyPr/>
                    <a:lstStyle/>
                    <a:p>
                      <a:pPr algn="l">
                        <a:spcAft>
                          <a:spcPts val="0"/>
                        </a:spcAft>
                      </a:pPr>
                      <a:r>
                        <a:rPr sz="819" b="1">
                          <a:solidFill>
                            <a:srgbClr val="1A1A1A"/>
                          </a:solidFill>
                          <a:latin typeface="游ゴシック"/>
                          <a:ea typeface="游ゴシック"/>
                          <a:cs typeface="游ゴシック"/>
                        </a:rPr>
                        <a:t>減価償却費（事業供用分）</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7,380</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6,627</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7,292</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6,539</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7,012</a:t>
                      </a:r>
                    </a:p>
                  </a:txBody>
                  <a:tcPr marL="45720" marR="45720" marT="9144" marB="9144" anchor="ctr">
                    <a:solidFill>
                      <a:srgbClr val="FFFFFF"/>
                    </a:solidFill>
                  </a:tcPr>
                </a:tc>
                <a:tc>
                  <a:txBody>
                    <a:bodyPr/>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6,259</a:t>
                      </a:r>
                    </a:p>
                  </a:txBody>
                  <a:tcPr marL="45720" marR="45720" marT="9144" marB="9144" anchor="ctr">
                    <a:solidFill>
                      <a:srgbClr val="FFFFFF"/>
                    </a:solidFill>
                  </a:tcPr>
                </a:tc>
                <a:extLst>
                  <a:ext uri="{0D108BD9-81ED-4DB2-BD59-A6C34878D82A}">
                    <a16:rowId xmlns:a16="http://schemas.microsoft.com/office/drawing/2014/main" val="10008"/>
                  </a:ext>
                </a:extLst>
              </a:tr>
              <a:tr h="365760">
                <a:tc>
                  <a:txBody>
                    <a:bodyPr/>
                    <a:lstStyle/>
                    <a:p>
                      <a:pPr algn="l">
                        <a:spcAft>
                          <a:spcPts val="0"/>
                        </a:spcAft>
                      </a:pPr>
                      <a:r>
                        <a:rPr sz="819" b="1">
                          <a:solidFill>
                            <a:srgbClr val="1A1A1A"/>
                          </a:solidFill>
                          <a:latin typeface="游ゴシック"/>
                          <a:ea typeface="游ゴシック"/>
                          <a:cs typeface="游ゴシック"/>
                        </a:rPr>
                        <a:t>修正後EBITDA</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8,350</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8,575</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819" b="1">
                          <a:solidFill>
                            <a:srgbClr val="1A1A1A"/>
                          </a:solidFill>
                          <a:latin typeface="Arial"/>
                          <a:ea typeface="Arial"/>
                          <a:cs typeface="Arial"/>
                        </a:rPr>
                        <a:t>6,801</a:t>
                      </a:r>
                    </a:p>
                  </a:txBody>
                  <a:tcPr marL="45720" marR="45720" marT="9144" marB="9144" anchor="ctr">
                    <a:solidFill>
                      <a:srgbClr val="FFFFFF"/>
                    </a:solidFill>
                  </a:tcPr>
                </a:tc>
                <a:extLst>
                  <a:ext uri="{0D108BD9-81ED-4DB2-BD59-A6C34878D82A}">
                    <a16:rowId xmlns:a16="http://schemas.microsoft.com/office/drawing/2014/main" val="10009"/>
                  </a:ext>
                </a:extLst>
              </a:tr>
            </a:tbl>
          </a:graphicData>
        </a:graphic>
      </p:graphicFrame>
      <p:sp>
        <p:nvSpPr>
          <p:cNvPr id="8" name="Rectangle 7"/>
          <p:cNvSpPr/>
          <p:nvPr/>
        </p:nvSpPr>
        <p:spPr>
          <a:xfrm>
            <a:off x="448056" y="4663440"/>
            <a:ext cx="9793224" cy="133502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57784" y="5212080"/>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0" name="TextBox 9"/>
          <p:cNvSpPr txBox="1"/>
          <p:nvPr/>
        </p:nvSpPr>
        <p:spPr>
          <a:xfrm>
            <a:off x="1993392" y="4754879"/>
            <a:ext cx="8138160" cy="1152144"/>
          </a:xfrm>
          <a:prstGeom prst="rect">
            <a:avLst/>
          </a:prstGeom>
          <a:noFill/>
        </p:spPr>
        <p:txBody>
          <a:bodyPr wrap="square" lIns="0" tIns="0" r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塩町館に係る減価償却費：当社の事業に供されていない建物（塩町館関連、期末簿価5,442千円）に係る減価償却費753千円を、各期の製造原価から控除した。内訳は塩町館改造工事564千円＋建興通商132千円＋左官工事48千円＋トイレ水道9千円。</a:t>
            </a:r>
          </a:p>
          <a:p>
            <a:pPr algn="l">
              <a:lnSpc>
                <a:spcPct val="118000"/>
              </a:lnSpc>
              <a:spcAft>
                <a:spcPts val="200"/>
              </a:spcAft>
            </a:pPr>
            <a:r>
              <a:rPr sz="900" b="0">
                <a:solidFill>
                  <a:srgbClr val="1A1A1A"/>
                </a:solidFill>
                <a:latin typeface="游ゴシック"/>
                <a:ea typeface="游ゴシック"/>
                <a:cs typeface="游ゴシック"/>
              </a:rPr>
              <a:t>　本調整は営業利益を押し上げる一方、減価償却費からも同額を除いているため EBITDA ベースでは中立である。この結果、修正後EBITDA（8,350／8,575／6,801千円）は企業概要書P.6の調整後EBITDAと完全に一致する。</a:t>
            </a:r>
          </a:p>
          <a:p>
            <a:pPr algn="l">
              <a:lnSpc>
                <a:spcPct val="118000"/>
              </a:lnSpc>
              <a:spcAft>
                <a:spcPts val="200"/>
              </a:spcAft>
            </a:pPr>
            <a:r>
              <a:rPr sz="900" b="0">
                <a:solidFill>
                  <a:srgbClr val="1A1A1A"/>
                </a:solidFill>
                <a:latin typeface="游ゴシック"/>
                <a:ea typeface="游ゴシック"/>
                <a:cs typeface="游ゴシック"/>
              </a:rPr>
              <a:t>役員報酬：代表者・配偶者はいずれも無報酬であり、M&amp;A時に控除すべき役員報酬は存在しない。新体制で必要となる職人人件費は金額が未確定であるため正常収益力には織り込まず、P.23の感応度分析で提示している。</a:t>
            </a:r>
          </a:p>
        </p:txBody>
      </p:sp>
      <p:sp>
        <p:nvSpPr>
          <p:cNvPr id="11" name="TextBox 10"/>
          <p:cNvSpPr txBox="1"/>
          <p:nvPr/>
        </p:nvSpPr>
        <p:spPr>
          <a:xfrm>
            <a:off x="310896" y="6163056"/>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単位：千円。2024年5月期・2025年5月期の固定資産減価償却内訳明細書は未受領のため、塩町館に係る減価償却費は旧定額法であることから3期同額と仮定している（要確認）。</a:t>
            </a:r>
          </a:p>
          <a:p>
            <a:pPr algn="l">
              <a:lnSpc>
                <a:spcPct val="112000"/>
              </a:lnSpc>
              <a:spcAft>
                <a:spcPts val="100"/>
              </a:spcAft>
            </a:pPr>
            <a:r>
              <a:rPr sz="750" b="0">
                <a:solidFill>
                  <a:srgbClr val="5A6670"/>
                </a:solidFill>
                <a:latin typeface="游ゴシック"/>
                <a:ea typeface="游ゴシック"/>
                <a:cs typeface="游ゴシック"/>
              </a:rPr>
              <a:t>※ その他の調整事項：支払利息は無利息借入のため計上なし。補助金収入・圧縮記帳損等の非経常損益はいずれも営業外に計上されており営業利益に影響しない。</a:t>
            </a:r>
          </a:p>
        </p:txBody>
      </p:sp>
    </p:spTree>
    <p:extLst>
      <p:ext uri="{BB962C8B-B14F-4D97-AF65-F5344CB8AC3E}">
        <p14:creationId xmlns:p14="http://schemas.microsoft.com/office/powerpoint/2010/main" val="169193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年買法（コストアプローチ）による算出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859536"/>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時価純資産</a:t>
            </a:r>
          </a:p>
        </p:txBody>
      </p:sp>
      <p:graphicFrame>
        <p:nvGraphicFramePr>
          <p:cNvPr id="19" name="Table 18"/>
          <p:cNvGraphicFramePr>
            <a:graphicFrameLocks noGrp="1"/>
          </p:cNvGraphicFramePr>
          <p:nvPr/>
        </p:nvGraphicFramePr>
        <p:xfrm>
          <a:off x="448056" y="1188720"/>
          <a:ext cx="2843784" cy="1755648"/>
        </p:xfrm>
        <a:graphic>
          <a:graphicData uri="http://schemas.openxmlformats.org/drawingml/2006/table">
            <a:tbl>
              <a:tblPr>
                <a:tableStyleId>{5940675A-B579-460E-94D1-54222C63F5DA}</a:tableStyleId>
              </a:tblPr>
              <a:tblGrid>
                <a:gridCol w="1421892">
                  <a:extLst>
                    <a:ext uri="{9D8B030D-6E8A-4147-A177-3AD203B41FA5}">
                      <a16:colId xmlns:a16="http://schemas.microsoft.com/office/drawing/2014/main" val="20000"/>
                    </a:ext>
                  </a:extLst>
                </a:gridCol>
                <a:gridCol w="1421892">
                  <a:extLst>
                    <a:ext uri="{9D8B030D-6E8A-4147-A177-3AD203B41FA5}">
                      <a16:colId xmlns:a16="http://schemas.microsoft.com/office/drawing/2014/main" val="20001"/>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tcPr>
                </a:tc>
                <a:extLst>
                  <a:ext uri="{0D108BD9-81ED-4DB2-BD59-A6C34878D82A}">
                    <a16:rowId xmlns:a16="http://schemas.microsoft.com/office/drawing/2014/main" val="10001"/>
                  </a:ext>
                </a:extLst>
              </a:tr>
              <a:tr h="329184">
                <a:tc>
                  <a:txBody>
                    <a:bodyPr/>
                    <a:lstStyle/>
                    <a:p>
                      <a:pPr algn="l">
                        <a:spcAft>
                          <a:spcPts val="0"/>
                        </a:spcAft>
                      </a:pPr>
                      <a:r>
                        <a:rPr sz="900" b="0">
                          <a:solidFill>
                            <a:srgbClr val="1A1A1A"/>
                          </a:solidFill>
                          <a:latin typeface="游ゴシック"/>
                          <a:ea typeface="游ゴシック"/>
                          <a:cs typeface="游ゴシック"/>
                        </a:rPr>
                        <a:t>簿価純資産額</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23,658</a:t>
                      </a:r>
                    </a:p>
                  </a:txBody>
                  <a:tcPr marL="45720" marR="45720" marT="9144" marB="9144" anchor="ctr">
                    <a:solidFill>
                      <a:srgbClr val="FFFFFF"/>
                    </a:solidFill>
                  </a:tcPr>
                </a:tc>
                <a:extLst>
                  <a:ext uri="{0D108BD9-81ED-4DB2-BD59-A6C34878D82A}">
                    <a16:rowId xmlns:a16="http://schemas.microsoft.com/office/drawing/2014/main" val="10002"/>
                  </a:ext>
                </a:extLst>
              </a:tr>
              <a:tr h="329184">
                <a:tc>
                  <a:txBody>
                    <a:bodyPr/>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△75</a:t>
                      </a:r>
                    </a:p>
                  </a:txBody>
                  <a:tcPr marL="45720" marR="45720" marT="9144" marB="9144" anchor="ctr">
                    <a:solidFill>
                      <a:srgbClr val="FFFFFF"/>
                    </a:solidFill>
                  </a:tcPr>
                </a:tc>
                <a:extLst>
                  <a:ext uri="{0D108BD9-81ED-4DB2-BD59-A6C34878D82A}">
                    <a16:rowId xmlns:a16="http://schemas.microsoft.com/office/drawing/2014/main" val="10003"/>
                  </a:ext>
                </a:extLst>
              </a:tr>
              <a:tr h="329184">
                <a:tc>
                  <a:txBody>
                    <a:bodyPr/>
                    <a:lstStyle/>
                    <a:p>
                      <a:pPr algn="l">
                        <a:spcAft>
                          <a:spcPts val="0"/>
                        </a:spcAft>
                      </a:pPr>
                      <a:r>
                        <a:rPr sz="900" b="0">
                          <a:solidFill>
                            <a:srgbClr val="1A1A1A"/>
                          </a:solidFill>
                          <a:latin typeface="游ゴシック"/>
                          <a:ea typeface="游ゴシック"/>
                          <a:cs typeface="游ゴシック"/>
                        </a:rPr>
                        <a:t>税効果</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04"/>
                  </a:ext>
                </a:extLst>
              </a:tr>
              <a:tr h="329184">
                <a:tc>
                  <a:txBody>
                    <a:bodyPr/>
                    <a:lstStyle/>
                    <a:p>
                      <a:pPr algn="l">
                        <a:spcAft>
                          <a:spcPts val="0"/>
                        </a:spcAft>
                      </a:pPr>
                      <a:r>
                        <a:rPr sz="900" b="1">
                          <a:solidFill>
                            <a:srgbClr val="1A1A1A"/>
                          </a:solidFill>
                          <a:latin typeface="游ゴシック"/>
                          <a:ea typeface="游ゴシック"/>
                          <a:cs typeface="游ゴシック"/>
                        </a:rPr>
                        <a:t>時価純資産</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0" name="Rectangle 19"/>
          <p:cNvSpPr/>
          <p:nvPr/>
        </p:nvSpPr>
        <p:spPr>
          <a:xfrm>
            <a:off x="4197096" y="859536"/>
            <a:ext cx="614476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基準営業利益</a:t>
            </a:r>
          </a:p>
        </p:txBody>
      </p:sp>
      <p:graphicFrame>
        <p:nvGraphicFramePr>
          <p:cNvPr id="21" name="Table 20"/>
          <p:cNvGraphicFramePr>
            <a:graphicFrameLocks noGrp="1"/>
          </p:cNvGraphicFramePr>
          <p:nvPr/>
        </p:nvGraphicFramePr>
        <p:xfrm>
          <a:off x="4197096" y="1188720"/>
          <a:ext cx="6144767" cy="2176272"/>
        </p:xfrm>
        <a:graphic>
          <a:graphicData uri="http://schemas.openxmlformats.org/drawingml/2006/table">
            <a:tbl>
              <a:tblPr>
                <a:tableStyleId>{5940675A-B579-460E-94D1-54222C63F5DA}</a:tableStyleId>
              </a:tblPr>
              <a:tblGrid>
                <a:gridCol w="1878074">
                  <a:extLst>
                    <a:ext uri="{9D8B030D-6E8A-4147-A177-3AD203B41FA5}">
                      <a16:colId xmlns:a16="http://schemas.microsoft.com/office/drawing/2014/main" val="20000"/>
                    </a:ext>
                  </a:extLst>
                </a:gridCol>
                <a:gridCol w="1422231">
                  <a:extLst>
                    <a:ext uri="{9D8B030D-6E8A-4147-A177-3AD203B41FA5}">
                      <a16:colId xmlns:a16="http://schemas.microsoft.com/office/drawing/2014/main" val="20001"/>
                    </a:ext>
                  </a:extLst>
                </a:gridCol>
                <a:gridCol w="1422231">
                  <a:extLst>
                    <a:ext uri="{9D8B030D-6E8A-4147-A177-3AD203B41FA5}">
                      <a16:colId xmlns:a16="http://schemas.microsoft.com/office/drawing/2014/main" val="20002"/>
                    </a:ext>
                  </a:extLst>
                </a:gridCol>
                <a:gridCol w="1422231">
                  <a:extLst>
                    <a:ext uri="{9D8B030D-6E8A-4147-A177-3AD203B41FA5}">
                      <a16:colId xmlns:a16="http://schemas.microsoft.com/office/drawing/2014/main" val="20003"/>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tcPr>
                </a:tc>
                <a:extLst>
                  <a:ext uri="{0D108BD9-81ED-4DB2-BD59-A6C34878D82A}">
                    <a16:rowId xmlns:a16="http://schemas.microsoft.com/office/drawing/2014/main" val="10001"/>
                  </a:ext>
                </a:extLst>
              </a:tr>
              <a:tr h="347472">
                <a:tc>
                  <a:txBody>
                    <a:bodyPr/>
                    <a:lstStyle/>
                    <a:p>
                      <a:pPr algn="l">
                        <a:spcAft>
                          <a:spcPts val="0"/>
                        </a:spcAft>
                      </a:pPr>
                      <a:r>
                        <a:rPr sz="900" b="0">
                          <a:solidFill>
                            <a:srgbClr val="1A1A1A"/>
                          </a:solidFill>
                          <a:latin typeface="游ゴシック"/>
                          <a:ea typeface="游ゴシック"/>
                          <a:cs typeface="游ゴシック"/>
                        </a:rPr>
                        <a:t>簿価営業利益</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970</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1,283</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△211</a:t>
                      </a:r>
                    </a:p>
                  </a:txBody>
                  <a:tcPr marL="45720" marR="45720" marT="9144" marB="9144"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tcPr>
                </a:tc>
                <a:extLst>
                  <a:ext uri="{0D108BD9-81ED-4DB2-BD59-A6C34878D82A}">
                    <a16:rowId xmlns:a16="http://schemas.microsoft.com/office/drawing/2014/main" val="10003"/>
                  </a:ext>
                </a:extLst>
              </a:tr>
              <a:tr h="347472">
                <a:tc>
                  <a:txBody>
                    <a:bodyPr/>
                    <a:lstStyle/>
                    <a:p>
                      <a:pPr algn="l">
                        <a:spcAft>
                          <a:spcPts val="0"/>
                        </a:spcAft>
                      </a:pPr>
                      <a:r>
                        <a:rPr sz="900" b="1">
                          <a:solidFill>
                            <a:srgbClr val="1A1A1A"/>
                          </a:solidFill>
                          <a:latin typeface="游ゴシック"/>
                          <a:ea typeface="游ゴシック"/>
                          <a:cs typeface="游ゴシック"/>
                        </a:rPr>
                        <a:t>修正後営業利益</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1,723</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2,037</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543</a:t>
                      </a:r>
                    </a:p>
                  </a:txBody>
                  <a:tcPr marL="45720" marR="45720" marT="9144" marB="9144" anchor="ctr">
                    <a:solidFill>
                      <a:srgbClr val="FFFFFF"/>
                    </a:solidFill>
                  </a:tcPr>
                </a:tc>
                <a:extLst>
                  <a:ext uri="{0D108BD9-81ED-4DB2-BD59-A6C34878D82A}">
                    <a16:rowId xmlns:a16="http://schemas.microsoft.com/office/drawing/2014/main" val="10004"/>
                  </a:ext>
                </a:extLst>
              </a:tr>
              <a:tr h="347472">
                <a:tc>
                  <a:txBody>
                    <a:bodyPr/>
                    <a:lstStyle/>
                    <a:p>
                      <a:pPr algn="l">
                        <a:spcAft>
                          <a:spcPts val="0"/>
                        </a:spcAft>
                      </a:pPr>
                      <a:r>
                        <a:rPr sz="900" b="0">
                          <a:solidFill>
                            <a:srgbClr val="1A1A1A"/>
                          </a:solidFill>
                          <a:latin typeface="游ゴシック"/>
                          <a:ea typeface="游ゴシック"/>
                          <a:cs typeface="游ゴシック"/>
                        </a:rPr>
                        <a:t>税考慮額（△34％）</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△586</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△692</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△184</a:t>
                      </a:r>
                    </a:p>
                  </a:txBody>
                  <a:tcPr marL="45720" marR="45720" marT="9144" marB="9144" anchor="ctr">
                    <a:solidFill>
                      <a:srgbClr val="FFFFFF"/>
                    </a:solidFill>
                  </a:tcPr>
                </a:tc>
                <a:extLst>
                  <a:ext uri="{0D108BD9-81ED-4DB2-BD59-A6C34878D82A}">
                    <a16:rowId xmlns:a16="http://schemas.microsoft.com/office/drawing/2014/main" val="10005"/>
                  </a:ext>
                </a:extLst>
              </a:tr>
              <a:tr h="347472">
                <a:tc>
                  <a:txBody>
                    <a:bodyPr/>
                    <a:lstStyle/>
                    <a:p>
                      <a:pPr algn="l">
                        <a:spcAft>
                          <a:spcPts val="0"/>
                        </a:spcAft>
                      </a:pPr>
                      <a:r>
                        <a:rPr sz="900" b="1">
                          <a:solidFill>
                            <a:srgbClr val="1A1A1A"/>
                          </a:solidFill>
                          <a:latin typeface="游ゴシック"/>
                          <a:ea typeface="游ゴシック"/>
                          <a:cs typeface="游ゴシック"/>
                        </a:rPr>
                        <a:t>修正後税考慮後営業利益</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1,137</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1,344</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358</a:t>
                      </a:r>
                    </a:p>
                  </a:txBody>
                  <a:tcPr marL="45720" marR="45720" marT="9144" marB="9144" anchor="ctr">
                    <a:solidFill>
                      <a:srgbClr val="FFFFFF"/>
                    </a:solidFill>
                  </a:tcPr>
                </a:tc>
                <a:extLst>
                  <a:ext uri="{0D108BD9-81ED-4DB2-BD59-A6C34878D82A}">
                    <a16:rowId xmlns:a16="http://schemas.microsoft.com/office/drawing/2014/main" val="10006"/>
                  </a:ext>
                </a:extLst>
              </a:tr>
            </a:tbl>
          </a:graphicData>
        </a:graphic>
      </p:graphicFrame>
      <p:sp>
        <p:nvSpPr>
          <p:cNvPr id="22" name="TextBox 21"/>
          <p:cNvSpPr txBox="1"/>
          <p:nvPr/>
        </p:nvSpPr>
        <p:spPr>
          <a:xfrm>
            <a:off x="6583680" y="3438144"/>
            <a:ext cx="2286000" cy="219456"/>
          </a:xfrm>
          <a:prstGeom prst="rect">
            <a:avLst/>
          </a:prstGeom>
          <a:noFill/>
        </p:spPr>
        <p:txBody>
          <a:bodyPr wrap="square" lIns="0" tIns="0" rIns="0" bIns="0" anchor="t">
            <a:spAutoFit/>
          </a:bodyPr>
          <a:lstStyle/>
          <a:p>
            <a:pPr algn="l">
              <a:spcAft>
                <a:spcPts val="0"/>
              </a:spcAft>
            </a:pPr>
            <a:r>
              <a:rPr sz="1000" b="1">
                <a:solidFill>
                  <a:srgbClr val="0B3041"/>
                </a:solidFill>
                <a:latin typeface="游ゴシック"/>
                <a:ea typeface="游ゴシック"/>
                <a:cs typeface="游ゴシック"/>
              </a:rPr>
              <a:t>基準営業利益</a:t>
            </a:r>
          </a:p>
        </p:txBody>
      </p:sp>
      <p:sp>
        <p:nvSpPr>
          <p:cNvPr id="23" name="Rectangle 22"/>
          <p:cNvSpPr/>
          <p:nvPr/>
        </p:nvSpPr>
        <p:spPr>
          <a:xfrm>
            <a:off x="8869680" y="340156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869680" y="3401568"/>
            <a:ext cx="1417320" cy="292608"/>
          </a:xfrm>
          <a:prstGeom prst="rect">
            <a:avLst/>
          </a:prstGeom>
          <a:noFill/>
        </p:spPr>
        <p:txBody>
          <a:bodyPr wrap="square" lIns="0" tIns="0" rIns="0" bIns="0" anchor="ctr">
            <a:spAutoFit/>
          </a:bodyPr>
          <a:lstStyle/>
          <a:p>
            <a:pPr algn="r">
              <a:spcAft>
                <a:spcPts val="0"/>
              </a:spcAft>
            </a:pPr>
            <a:r>
              <a:rPr sz="1100" b="1">
                <a:solidFill>
                  <a:srgbClr val="0B3041"/>
                </a:solidFill>
                <a:latin typeface="Arial"/>
                <a:ea typeface="Arial"/>
                <a:cs typeface="Arial"/>
              </a:rPr>
              <a:t>810</a:t>
            </a:r>
          </a:p>
        </p:txBody>
      </p:sp>
      <p:sp>
        <p:nvSpPr>
          <p:cNvPr id="25" name="TextBox 24"/>
          <p:cNvSpPr txBox="1"/>
          <p:nvPr/>
        </p:nvSpPr>
        <p:spPr>
          <a:xfrm>
            <a:off x="338328" y="3968496"/>
            <a:ext cx="7562088" cy="310896"/>
          </a:xfrm>
          <a:prstGeom prst="rect">
            <a:avLst/>
          </a:prstGeom>
          <a:noFill/>
        </p:spPr>
        <p:txBody>
          <a:bodyPr wrap="square" lIns="0" tIns="0" rIns="0" bIns="0" anchor="t">
            <a:spAutoFit/>
          </a:bodyPr>
          <a:lstStyle/>
          <a:p>
            <a:pPr algn="l">
              <a:spcAft>
                <a:spcPts val="0"/>
              </a:spcAft>
            </a:pPr>
            <a:r>
              <a:rPr sz="1800" b="1">
                <a:solidFill>
                  <a:srgbClr val="0B3041"/>
                </a:solidFill>
                <a:latin typeface="游ゴシック"/>
                <a:ea typeface="游ゴシック"/>
                <a:cs typeface="游ゴシック"/>
              </a:rPr>
              <a:t>想定株式価値</a:t>
            </a:r>
          </a:p>
        </p:txBody>
      </p:sp>
      <p:graphicFrame>
        <p:nvGraphicFramePr>
          <p:cNvPr id="26" name="Table 25"/>
          <p:cNvGraphicFramePr>
            <a:graphicFrameLocks noGrp="1"/>
          </p:cNvGraphicFramePr>
          <p:nvPr/>
        </p:nvGraphicFramePr>
        <p:xfrm>
          <a:off x="448056" y="4352544"/>
          <a:ext cx="6199632" cy="1408176"/>
        </p:xfrm>
        <a:graphic>
          <a:graphicData uri="http://schemas.openxmlformats.org/drawingml/2006/table">
            <a:tbl>
              <a:tblPr>
                <a:tableStyleId>{5940675A-B579-460E-94D1-54222C63F5DA}</a:tableStyleId>
              </a:tblPr>
              <a:tblGrid>
                <a:gridCol w="1549908">
                  <a:extLst>
                    <a:ext uri="{9D8B030D-6E8A-4147-A177-3AD203B41FA5}">
                      <a16:colId xmlns:a16="http://schemas.microsoft.com/office/drawing/2014/main" val="20000"/>
                    </a:ext>
                  </a:extLst>
                </a:gridCol>
                <a:gridCol w="1549908">
                  <a:extLst>
                    <a:ext uri="{9D8B030D-6E8A-4147-A177-3AD203B41FA5}">
                      <a16:colId xmlns:a16="http://schemas.microsoft.com/office/drawing/2014/main" val="20001"/>
                    </a:ext>
                  </a:extLst>
                </a:gridCol>
                <a:gridCol w="1549908">
                  <a:extLst>
                    <a:ext uri="{9D8B030D-6E8A-4147-A177-3AD203B41FA5}">
                      <a16:colId xmlns:a16="http://schemas.microsoft.com/office/drawing/2014/main" val="20002"/>
                    </a:ext>
                  </a:extLst>
                </a:gridCol>
                <a:gridCol w="1549908">
                  <a:extLst>
                    <a:ext uri="{9D8B030D-6E8A-4147-A177-3AD203B41FA5}">
                      <a16:colId xmlns:a16="http://schemas.microsoft.com/office/drawing/2014/main" val="20003"/>
                    </a:ext>
                  </a:extLst>
                </a:gridCol>
              </a:tblGrid>
              <a:tr h="256032">
                <a:tc>
                  <a:txBody>
                    <a:bodyPr/>
                    <a:lstStyle/>
                    <a:p>
                      <a:pPr algn="ctr">
                        <a:spcAft>
                          <a:spcPts val="0"/>
                        </a:spcAft>
                      </a:pPr>
                      <a:r>
                        <a:rPr sz="950" b="1">
                          <a:solidFill>
                            <a:srgbClr val="FFFFFF"/>
                          </a:solidFill>
                          <a:latin typeface="游ゴシック"/>
                          <a:ea typeface="游ゴシック"/>
                          <a:cs typeface="游ゴシック"/>
                        </a:rPr>
                        <a:t>営業権倍率</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x1</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x2</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tcPr>
                </a:tc>
                <a:extLst>
                  <a:ext uri="{0D108BD9-81ED-4DB2-BD59-A6C34878D82A}">
                    <a16:rowId xmlns:a16="http://schemas.microsoft.com/office/drawing/2014/main" val="10000"/>
                  </a:ext>
                </a:extLst>
              </a:tr>
              <a:tr h="384048">
                <a:tc>
                  <a:txBody>
                    <a:bodyPr/>
                    <a:lstStyle/>
                    <a:p>
                      <a:pPr algn="l">
                        <a:spcAft>
                          <a:spcPts val="0"/>
                        </a:spcAft>
                      </a:pPr>
                      <a:r>
                        <a:rPr sz="950" b="0">
                          <a:solidFill>
                            <a:srgbClr val="1A1A1A"/>
                          </a:solidFill>
                          <a:latin typeface="游ゴシック"/>
                          <a:ea typeface="游ゴシック"/>
                          <a:cs typeface="游ゴシック"/>
                        </a:rPr>
                        <a:t>時価純資産</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23,583</a:t>
                      </a:r>
                    </a:p>
                  </a:txBody>
                  <a:tcPr marL="45720" marR="45720" marT="9144" marB="9144" anchor="ctr">
                    <a:solidFill>
                      <a:srgbClr val="FFFFFF"/>
                    </a:solidFill>
                  </a:tcPr>
                </a:tc>
                <a:tc>
                  <a:txBody>
                    <a:bodyPr/>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tcPr>
                </a:tc>
                <a:tc>
                  <a:txBody>
                    <a:bodyPr/>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950" b="0">
                          <a:solidFill>
                            <a:srgbClr val="1A1A1A"/>
                          </a:solidFill>
                          <a:latin typeface="游ゴシック"/>
                          <a:ea typeface="游ゴシック"/>
                          <a:cs typeface="游ゴシック"/>
                        </a:rPr>
                        <a:t>営業権</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810</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1,620</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2,429</a:t>
                      </a:r>
                    </a:p>
                  </a:txBody>
                  <a:tcPr marL="45720" marR="45720" marT="9144" marB="9144" anchor="ctr">
                    <a:solidFill>
                      <a:srgbClr val="FFFFFF"/>
                    </a:solidFill>
                  </a:tcPr>
                </a:tc>
                <a:extLst>
                  <a:ext uri="{0D108BD9-81ED-4DB2-BD59-A6C34878D82A}">
                    <a16:rowId xmlns:a16="http://schemas.microsoft.com/office/drawing/2014/main" val="10002"/>
                  </a:ext>
                </a:extLst>
              </a:tr>
              <a:tr h="384048">
                <a:tc>
                  <a:txBody>
                    <a:bodyPr/>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tcPr>
                </a:tc>
                <a:tc>
                  <a:txBody>
                    <a:bodyPr/>
                    <a:lstStyle/>
                    <a:p>
                      <a:pPr algn="r">
                        <a:spcAft>
                          <a:spcPts val="0"/>
                        </a:spcAft>
                      </a:pPr>
                      <a:r>
                        <a:rPr sz="950" b="1">
                          <a:solidFill>
                            <a:srgbClr val="1A1A1A"/>
                          </a:solidFill>
                          <a:latin typeface="Arial"/>
                          <a:ea typeface="Arial"/>
                          <a:cs typeface="Arial"/>
                        </a:rPr>
                        <a:t>24,392</a:t>
                      </a:r>
                    </a:p>
                  </a:txBody>
                  <a:tcPr marL="45720" marR="45720" marT="9144" marB="9144" anchor="ctr">
                    <a:solidFill>
                      <a:srgbClr val="FFFFFF"/>
                    </a:solidFill>
                  </a:tcPr>
                </a:tc>
                <a:tc>
                  <a:txBody>
                    <a:bodyPr/>
                    <a:lstStyle/>
                    <a:p>
                      <a:pPr algn="r">
                        <a:spcAft>
                          <a:spcPts val="0"/>
                        </a:spcAft>
                      </a:pPr>
                      <a:r>
                        <a:rPr sz="950" b="1">
                          <a:solidFill>
                            <a:srgbClr val="1A1A1A"/>
                          </a:solidFill>
                          <a:latin typeface="Arial"/>
                          <a:ea typeface="Arial"/>
                          <a:cs typeface="Arial"/>
                        </a:rPr>
                        <a:t>25,202</a:t>
                      </a:r>
                    </a:p>
                  </a:txBody>
                  <a:tcPr marL="45720" marR="45720" marT="9144" marB="9144" anchor="ctr">
                    <a:solidFill>
                      <a:srgbClr val="FFFFFF"/>
                    </a:solidFill>
                  </a:tcPr>
                </a:tc>
                <a:tc>
                  <a:txBody>
                    <a:bodyPr/>
                    <a:lstStyle/>
                    <a:p>
                      <a:pPr algn="r">
                        <a:spcAft>
                          <a:spcPts val="0"/>
                        </a:spcAft>
                      </a:pPr>
                      <a:r>
                        <a:rPr sz="950" b="1">
                          <a:solidFill>
                            <a:srgbClr val="1A1A1A"/>
                          </a:solidFill>
                          <a:latin typeface="Arial"/>
                          <a:ea typeface="Arial"/>
                          <a:cs typeface="Arial"/>
                        </a:rPr>
                        <a:t>26,012</a:t>
                      </a:r>
                    </a:p>
                  </a:txBody>
                  <a:tcPr marL="45720" marR="45720" marT="9144" marB="9144" anchor="ctr">
                    <a:solidFill>
                      <a:srgbClr val="FFFFFF"/>
                    </a:solidFill>
                  </a:tcPr>
                </a:tc>
                <a:extLst>
                  <a:ext uri="{0D108BD9-81ED-4DB2-BD59-A6C34878D82A}">
                    <a16:rowId xmlns:a16="http://schemas.microsoft.com/office/drawing/2014/main" val="10003"/>
                  </a:ext>
                </a:extLst>
              </a:tr>
            </a:tbl>
          </a:graphicData>
        </a:graphic>
      </p:graphicFrame>
      <p:sp>
        <p:nvSpPr>
          <p:cNvPr id="27" name="Rectangle 26"/>
          <p:cNvSpPr/>
          <p:nvPr/>
        </p:nvSpPr>
        <p:spPr>
          <a:xfrm>
            <a:off x="6949440" y="4352544"/>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949440" y="4352544"/>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949440" y="4937759"/>
            <a:ext cx="932688" cy="237744"/>
          </a:xfrm>
          <a:prstGeom prst="rect">
            <a:avLst/>
          </a:prstGeom>
          <a:noFill/>
        </p:spPr>
        <p:txBody>
          <a:bodyPr wrap="square" lIns="0" tIns="0" r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443983"/>
            <a:ext cx="2167128" cy="1225296"/>
          </a:xfrm>
          <a:prstGeom prst="rect">
            <a:avLst/>
          </a:prstGeom>
          <a:noFill/>
        </p:spPr>
        <p:txBody>
          <a:bodyPr wrap="square" lIns="0" tIns="0" r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営業権倍率は買手企業のM&amp;A方針、取り組み意欲、想定シナジー等によっても変動いたします。</a:t>
            </a:r>
          </a:p>
        </p:txBody>
      </p:sp>
      <p:sp>
        <p:nvSpPr>
          <p:cNvPr id="31" name="Rectangle 30"/>
          <p:cNvSpPr/>
          <p:nvPr/>
        </p:nvSpPr>
        <p:spPr>
          <a:xfrm>
            <a:off x="448056" y="6035040"/>
            <a:ext cx="9793224" cy="69494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557784" y="6263640"/>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6126479"/>
            <a:ext cx="2602992" cy="512064"/>
          </a:xfrm>
          <a:prstGeom prst="rect">
            <a:avLst/>
          </a:prstGeom>
          <a:noFill/>
        </p:spPr>
        <p:txBody>
          <a:bodyPr wrap="square" lIns="0" tIns="0" r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・営業権の算出は修正後税考慮後営業利益を基準とし採用</a:t>
            </a:r>
          </a:p>
        </p:txBody>
      </p:sp>
      <p:sp>
        <p:nvSpPr>
          <p:cNvPr id="34" name="TextBox 33"/>
          <p:cNvSpPr txBox="1"/>
          <p:nvPr/>
        </p:nvSpPr>
        <p:spPr>
          <a:xfrm>
            <a:off x="4706112" y="6126479"/>
            <a:ext cx="2602992" cy="512064"/>
          </a:xfrm>
          <a:prstGeom prst="rect">
            <a:avLst/>
          </a:prstGeom>
          <a:noFill/>
        </p:spPr>
        <p:txBody>
          <a:bodyPr wrap="square" lIns="0" tIns="0" r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・営業利益は過去3期の加重平均（直近期50％・前期30％・前々期20％）を採用</a:t>
            </a:r>
          </a:p>
        </p:txBody>
      </p:sp>
      <p:sp>
        <p:nvSpPr>
          <p:cNvPr id="35" name="TextBox 34"/>
          <p:cNvSpPr txBox="1"/>
          <p:nvPr/>
        </p:nvSpPr>
        <p:spPr>
          <a:xfrm>
            <a:off x="7418832" y="6126479"/>
            <a:ext cx="2602992" cy="512064"/>
          </a:xfrm>
          <a:prstGeom prst="rect">
            <a:avLst/>
          </a:prstGeom>
          <a:noFill/>
        </p:spPr>
        <p:txBody>
          <a:bodyPr wrap="square" lIns="0" tIns="0" r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・営業権倍率は国内の中小企業M&amp;Aの実例においてボリュームゾーンである1〜3倍を適用</a:t>
            </a:r>
          </a:p>
        </p:txBody>
      </p:sp>
      <p:sp>
        <p:nvSpPr>
          <p:cNvPr id="36" name="TextBox 35"/>
          <p:cNvSpPr txBox="1"/>
          <p:nvPr/>
        </p:nvSpPr>
        <p:spPr>
          <a:xfrm>
            <a:off x="310896" y="6858000"/>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単位：千円。時価純資産の修正額は電話加入権△75千円のみであり僅少であるため、税効果（実効税率34％）は認識していない。</a:t>
            </a:r>
          </a:p>
        </p:txBody>
      </p:sp>
    </p:spTree>
    <p:extLst>
      <p:ext uri="{BB962C8B-B14F-4D97-AF65-F5344CB8AC3E}">
        <p14:creationId xmlns:p14="http://schemas.microsoft.com/office/powerpoint/2010/main" val="381423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EV/EBITDAマルチプル法（マーケットアプローチ）による算出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987552"/>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ネットキャッシュ</a:t>
            </a:r>
          </a:p>
        </p:txBody>
      </p:sp>
      <p:graphicFrame>
        <p:nvGraphicFramePr>
          <p:cNvPr id="19" name="Table 18"/>
          <p:cNvGraphicFramePr>
            <a:graphicFrameLocks noGrp="1"/>
          </p:cNvGraphicFramePr>
          <p:nvPr/>
        </p:nvGraphicFramePr>
        <p:xfrm>
          <a:off x="448056" y="1316736"/>
          <a:ext cx="2843784" cy="1481328"/>
        </p:xfrm>
        <a:graphic>
          <a:graphicData uri="http://schemas.openxmlformats.org/drawingml/2006/table">
            <a:tbl>
              <a:tblPr>
                <a:tableStyleId>{5940675A-B579-460E-94D1-54222C63F5DA}</a:tableStyleId>
              </a:tblPr>
              <a:tblGrid>
                <a:gridCol w="1421892">
                  <a:extLst>
                    <a:ext uri="{9D8B030D-6E8A-4147-A177-3AD203B41FA5}">
                      <a16:colId xmlns:a16="http://schemas.microsoft.com/office/drawing/2014/main" val="20000"/>
                    </a:ext>
                  </a:extLst>
                </a:gridCol>
                <a:gridCol w="1421892">
                  <a:extLst>
                    <a:ext uri="{9D8B030D-6E8A-4147-A177-3AD203B41FA5}">
                      <a16:colId xmlns:a16="http://schemas.microsoft.com/office/drawing/2014/main" val="20001"/>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tcPr>
                </a:tc>
                <a:extLst>
                  <a:ext uri="{0D108BD9-81ED-4DB2-BD59-A6C34878D82A}">
                    <a16:rowId xmlns:a16="http://schemas.microsoft.com/office/drawing/2014/main" val="10001"/>
                  </a:ext>
                </a:extLst>
              </a:tr>
              <a:tr h="347472">
                <a:tc>
                  <a:txBody>
                    <a:bodyPr/>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900" b="0">
                          <a:solidFill>
                            <a:srgbClr val="1A1A1A"/>
                          </a:solidFill>
                          <a:latin typeface="游ゴシック"/>
                          <a:ea typeface="游ゴシック"/>
                          <a:cs typeface="游ゴシック"/>
                        </a:rPr>
                        <a:t>デットライク</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tcPr>
                </a:tc>
                <a:extLst>
                  <a:ext uri="{0D108BD9-81ED-4DB2-BD59-A6C34878D82A}">
                    <a16:rowId xmlns:a16="http://schemas.microsoft.com/office/drawing/2014/main" val="10003"/>
                  </a:ext>
                </a:extLst>
              </a:tr>
              <a:tr h="347472">
                <a:tc>
                  <a:txBody>
                    <a:bodyPr/>
                    <a:lstStyle/>
                    <a:p>
                      <a:pPr algn="l">
                        <a:spcAft>
                          <a:spcPts val="0"/>
                        </a:spcAft>
                      </a:pPr>
                      <a:r>
                        <a:rPr sz="900" b="1">
                          <a:solidFill>
                            <a:srgbClr val="1A1A1A"/>
                          </a:solidFill>
                          <a:latin typeface="游ゴシック"/>
                          <a:ea typeface="游ゴシック"/>
                          <a:cs typeface="游ゴシック"/>
                        </a:rPr>
                        <a:t>ネットキャッシュ</a:t>
                      </a:r>
                    </a:p>
                  </a:txBody>
                  <a:tcPr marL="45720" marR="45720" marT="9144" marB="9144" anchor="ctr">
                    <a:solidFill>
                      <a:srgbClr val="FFFFFF"/>
                    </a:solidFill>
                  </a:tcPr>
                </a:tc>
                <a:tc>
                  <a:txBody>
                    <a:bodyPr/>
                    <a:lstStyle/>
                    <a:p>
                      <a:pPr algn="r">
                        <a:spcAft>
                          <a:spcPts val="0"/>
                        </a:spcAft>
                      </a:pPr>
                      <a:r>
                        <a:rPr sz="900" b="1">
                          <a:solidFill>
                            <a:srgbClr val="C03A2B"/>
                          </a:solidFill>
                          <a:latin typeface="Arial"/>
                          <a:ea typeface="Arial"/>
                          <a:cs typeface="Arial"/>
                        </a:rPr>
                        <a:t>△30,614</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3913632" y="987552"/>
            <a:ext cx="642823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基準EBITDA</a:t>
            </a:r>
          </a:p>
        </p:txBody>
      </p:sp>
      <p:graphicFrame>
        <p:nvGraphicFramePr>
          <p:cNvPr id="21" name="Table 20"/>
          <p:cNvGraphicFramePr>
            <a:graphicFrameLocks noGrp="1"/>
          </p:cNvGraphicFramePr>
          <p:nvPr/>
        </p:nvGraphicFramePr>
        <p:xfrm>
          <a:off x="3913632" y="1316736"/>
          <a:ext cx="6428232" cy="1481328"/>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1472184">
                  <a:extLst>
                    <a:ext uri="{9D8B030D-6E8A-4147-A177-3AD203B41FA5}">
                      <a16:colId xmlns:a16="http://schemas.microsoft.com/office/drawing/2014/main" val="20001"/>
                    </a:ext>
                  </a:extLst>
                </a:gridCol>
                <a:gridCol w="1472184">
                  <a:extLst>
                    <a:ext uri="{9D8B030D-6E8A-4147-A177-3AD203B41FA5}">
                      <a16:colId xmlns:a16="http://schemas.microsoft.com/office/drawing/2014/main" val="20002"/>
                    </a:ext>
                  </a:extLst>
                </a:gridCol>
                <a:gridCol w="1472184">
                  <a:extLst>
                    <a:ext uri="{9D8B030D-6E8A-4147-A177-3AD203B41FA5}">
                      <a16:colId xmlns:a16="http://schemas.microsoft.com/office/drawing/2014/main" val="20003"/>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tcPr>
                </a:tc>
                <a:extLst>
                  <a:ext uri="{0D108BD9-81ED-4DB2-BD59-A6C34878D82A}">
                    <a16:rowId xmlns:a16="http://schemas.microsoft.com/office/drawing/2014/main" val="10001"/>
                  </a:ext>
                </a:extLst>
              </a:tr>
              <a:tr h="347472">
                <a:tc>
                  <a:txBody>
                    <a:bodyPr/>
                    <a:lstStyle/>
                    <a:p>
                      <a:pPr algn="l">
                        <a:spcAft>
                          <a:spcPts val="0"/>
                        </a:spcAft>
                      </a:pPr>
                      <a:r>
                        <a:rPr sz="900" b="0">
                          <a:solidFill>
                            <a:srgbClr val="1A1A1A"/>
                          </a:solidFill>
                          <a:latin typeface="游ゴシック"/>
                          <a:ea typeface="游ゴシック"/>
                          <a:cs typeface="游ゴシック"/>
                        </a:rPr>
                        <a:t>修正後営業利益</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900" b="0">
                          <a:solidFill>
                            <a:srgbClr val="1A1A1A"/>
                          </a:solidFill>
                          <a:latin typeface="游ゴシック"/>
                          <a:ea typeface="游ゴシック"/>
                          <a:cs typeface="游ゴシック"/>
                        </a:rPr>
                        <a:t>減価償却費（事業供用分）</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6,627</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6,538</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6,258</a:t>
                      </a:r>
                    </a:p>
                  </a:txBody>
                  <a:tcPr marL="45720" marR="45720" marT="9144" marB="9144" anchor="ctr">
                    <a:solidFill>
                      <a:srgbClr val="FFFFFF"/>
                    </a:solidFill>
                  </a:tcPr>
                </a:tc>
                <a:extLst>
                  <a:ext uri="{0D108BD9-81ED-4DB2-BD59-A6C34878D82A}">
                    <a16:rowId xmlns:a16="http://schemas.microsoft.com/office/drawing/2014/main" val="10003"/>
                  </a:ext>
                </a:extLst>
              </a:tr>
              <a:tr h="347472">
                <a:tc>
                  <a:txBody>
                    <a:bodyPr/>
                    <a:lstStyle/>
                    <a:p>
                      <a:pPr algn="l">
                        <a:spcAft>
                          <a:spcPts val="0"/>
                        </a:spcAft>
                      </a:pPr>
                      <a:r>
                        <a:rPr sz="900" b="1">
                          <a:solidFill>
                            <a:srgbClr val="1A1A1A"/>
                          </a:solidFill>
                          <a:latin typeface="游ゴシック"/>
                          <a:ea typeface="游ゴシック"/>
                          <a:cs typeface="游ゴシック"/>
                        </a:rPr>
                        <a:t>修正後EBITDA</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8,350</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8,575</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6,801</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6400800" y="3163824"/>
            <a:ext cx="2286000" cy="219456"/>
          </a:xfrm>
          <a:prstGeom prst="rect">
            <a:avLst/>
          </a:prstGeom>
          <a:noFill/>
        </p:spPr>
        <p:txBody>
          <a:bodyPr wrap="square" lIns="0" tIns="0" rIns="0" bIns="0" anchor="t">
            <a:spAutoFit/>
          </a:bodyPr>
          <a:lstStyle/>
          <a:p>
            <a:pPr algn="l">
              <a:spcAft>
                <a:spcPts val="0"/>
              </a:spcAft>
            </a:pPr>
            <a:r>
              <a:rPr sz="1000" b="1">
                <a:solidFill>
                  <a:srgbClr val="0B3041"/>
                </a:solidFill>
                <a:latin typeface="游ゴシック"/>
                <a:ea typeface="游ゴシック"/>
                <a:cs typeface="游ゴシック"/>
              </a:rPr>
              <a:t>基準EBITDA</a:t>
            </a:r>
          </a:p>
        </p:txBody>
      </p:sp>
      <p:sp>
        <p:nvSpPr>
          <p:cNvPr id="23" name="Rectangle 22"/>
          <p:cNvSpPr/>
          <p:nvPr/>
        </p:nvSpPr>
        <p:spPr>
          <a:xfrm>
            <a:off x="8869680" y="312724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869680" y="3127248"/>
            <a:ext cx="1417320" cy="292608"/>
          </a:xfrm>
          <a:prstGeom prst="rect">
            <a:avLst/>
          </a:prstGeom>
          <a:noFill/>
        </p:spPr>
        <p:txBody>
          <a:bodyPr wrap="square" lIns="0" tIns="0" rIns="0" bIns="0" anchor="ctr">
            <a:spAutoFit/>
          </a:bodyPr>
          <a:lstStyle/>
          <a:p>
            <a:pPr algn="r">
              <a:spcAft>
                <a:spcPts val="0"/>
              </a:spcAft>
            </a:pPr>
            <a:r>
              <a:rPr sz="1100" b="1">
                <a:solidFill>
                  <a:srgbClr val="0B3041"/>
                </a:solidFill>
                <a:latin typeface="Arial"/>
                <a:ea typeface="Arial"/>
                <a:cs typeface="Arial"/>
              </a:rPr>
              <a:t>7,643</a:t>
            </a:r>
          </a:p>
        </p:txBody>
      </p:sp>
      <p:sp>
        <p:nvSpPr>
          <p:cNvPr id="25" name="TextBox 24"/>
          <p:cNvSpPr txBox="1"/>
          <p:nvPr/>
        </p:nvSpPr>
        <p:spPr>
          <a:xfrm>
            <a:off x="338328" y="3712463"/>
            <a:ext cx="7562088" cy="310896"/>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想定株式価値【主たる前提：役員借入金を承継】</a:t>
            </a:r>
          </a:p>
        </p:txBody>
      </p:sp>
      <p:graphicFrame>
        <p:nvGraphicFramePr>
          <p:cNvPr id="26" name="Table 25"/>
          <p:cNvGraphicFramePr>
            <a:graphicFrameLocks noGrp="1"/>
          </p:cNvGraphicFramePr>
          <p:nvPr/>
        </p:nvGraphicFramePr>
        <p:xfrm>
          <a:off x="448056" y="4096512"/>
          <a:ext cx="6199632" cy="1645920"/>
        </p:xfrm>
        <a:graphic>
          <a:graphicData uri="http://schemas.openxmlformats.org/drawingml/2006/table">
            <a:tbl>
              <a:tblPr>
                <a:tableStyleId>{5940675A-B579-460E-94D1-54222C63F5DA}</a:tableStyleId>
              </a:tblPr>
              <a:tblGrid>
                <a:gridCol w="2194560">
                  <a:extLst>
                    <a:ext uri="{9D8B030D-6E8A-4147-A177-3AD203B41FA5}">
                      <a16:colId xmlns:a16="http://schemas.microsoft.com/office/drawing/2014/main" val="20000"/>
                    </a:ext>
                  </a:extLst>
                </a:gridCol>
                <a:gridCol w="1335024">
                  <a:extLst>
                    <a:ext uri="{9D8B030D-6E8A-4147-A177-3AD203B41FA5}">
                      <a16:colId xmlns:a16="http://schemas.microsoft.com/office/drawing/2014/main" val="20001"/>
                    </a:ext>
                  </a:extLst>
                </a:gridCol>
                <a:gridCol w="1335024">
                  <a:extLst>
                    <a:ext uri="{9D8B030D-6E8A-4147-A177-3AD203B41FA5}">
                      <a16:colId xmlns:a16="http://schemas.microsoft.com/office/drawing/2014/main" val="20002"/>
                    </a:ext>
                  </a:extLst>
                </a:gridCol>
                <a:gridCol w="1335024">
                  <a:extLst>
                    <a:ext uri="{9D8B030D-6E8A-4147-A177-3AD203B41FA5}">
                      <a16:colId xmlns:a16="http://schemas.microsoft.com/office/drawing/2014/main" val="20003"/>
                    </a:ext>
                  </a:extLst>
                </a:gridCol>
              </a:tblGrid>
              <a:tr h="256032">
                <a:tc>
                  <a:txBody>
                    <a:bodyPr/>
                    <a:lstStyle/>
                    <a:p>
                      <a:pPr algn="ctr">
                        <a:spcAft>
                          <a:spcPts val="0"/>
                        </a:spcAft>
                      </a:pPr>
                      <a:r>
                        <a:rPr sz="950" b="1">
                          <a:solidFill>
                            <a:srgbClr val="FFFFFF"/>
                          </a:solidFill>
                          <a:latin typeface="游ゴシック"/>
                          <a:ea typeface="游ゴシック"/>
                          <a:cs typeface="游ゴシック"/>
                        </a:rPr>
                        <a:t>マルチプル倍率</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x4</a:t>
                      </a:r>
                    </a:p>
                  </a:txBody>
                  <a:tcPr marL="45720" marR="45720" marT="9144" marB="9144" anchor="ctr">
                    <a:solidFill>
                      <a:srgbClr val="0B3041"/>
                    </a:solidFill>
                  </a:tcPr>
                </a:tc>
                <a:tc>
                  <a:txBody>
                    <a:bodyPr/>
                    <a:lstStyle/>
                    <a:p>
                      <a:pPr algn="ctr">
                        <a:spcAft>
                          <a:spcPts val="0"/>
                        </a:spcAft>
                      </a:pPr>
                      <a:r>
                        <a:rPr sz="950" b="1">
                          <a:solidFill>
                            <a:srgbClr val="FFFFFF"/>
                          </a:solidFill>
                          <a:latin typeface="Arial"/>
                          <a:ea typeface="Arial"/>
                          <a:cs typeface="Arial"/>
                        </a:rPr>
                        <a:t>x5</a:t>
                      </a:r>
                    </a:p>
                  </a:txBody>
                  <a:tcPr marL="45720" marR="45720" marT="9144" marB="9144" anchor="ctr">
                    <a:solidFill>
                      <a:srgbClr val="0B3041"/>
                    </a:solidFill>
                  </a:tcPr>
                </a:tc>
                <a:extLst>
                  <a:ext uri="{0D108BD9-81ED-4DB2-BD59-A6C34878D82A}">
                    <a16:rowId xmlns:a16="http://schemas.microsoft.com/office/drawing/2014/main" val="10000"/>
                  </a:ext>
                </a:extLst>
              </a:tr>
              <a:tr h="347472">
                <a:tc>
                  <a:txBody>
                    <a:bodyPr/>
                    <a:lstStyle/>
                    <a:p>
                      <a:pPr algn="l">
                        <a:spcAft>
                          <a:spcPts val="0"/>
                        </a:spcAft>
                      </a:pPr>
                      <a:r>
                        <a:rPr sz="950" b="0">
                          <a:solidFill>
                            <a:srgbClr val="1A1A1A"/>
                          </a:solidFill>
                          <a:latin typeface="游ゴシック"/>
                          <a:ea typeface="游ゴシック"/>
                          <a:cs typeface="游ゴシック"/>
                        </a:rPr>
                        <a:t>EV（EBITDA×倍率）</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22,928</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30,571</a:t>
                      </a:r>
                    </a:p>
                  </a:txBody>
                  <a:tcPr marL="45720" marR="45720" marT="9144" marB="9144" anchor="ctr">
                    <a:solidFill>
                      <a:srgbClr val="FFFFFF"/>
                    </a:solidFill>
                  </a:tcPr>
                </a:tc>
                <a:tc>
                  <a:txBody>
                    <a:bodyPr/>
                    <a:lstStyle/>
                    <a:p>
                      <a:pPr algn="r">
                        <a:spcAft>
                          <a:spcPts val="0"/>
                        </a:spcAft>
                      </a:pPr>
                      <a:r>
                        <a:rPr sz="950" b="0">
                          <a:solidFill>
                            <a:srgbClr val="1A1A1A"/>
                          </a:solidFill>
                          <a:latin typeface="Arial"/>
                          <a:ea typeface="Arial"/>
                          <a:cs typeface="Arial"/>
                        </a:rPr>
                        <a:t>38,214</a:t>
                      </a:r>
                    </a:p>
                  </a:txBody>
                  <a:tcPr marL="45720" marR="45720" marT="9144" marB="9144" anchor="ctr">
                    <a:solidFill>
                      <a:srgbClr val="FFFFFF"/>
                    </a:solidFill>
                  </a:tcPr>
                </a:tc>
                <a:extLst>
                  <a:ext uri="{0D108BD9-81ED-4DB2-BD59-A6C34878D82A}">
                    <a16:rowId xmlns:a16="http://schemas.microsoft.com/office/drawing/2014/main" val="10001"/>
                  </a:ext>
                </a:extLst>
              </a:tr>
              <a:tr h="347472">
                <a:tc>
                  <a:txBody>
                    <a:bodyPr/>
                    <a:lstStyle/>
                    <a:p>
                      <a:pPr algn="l">
                        <a:spcAft>
                          <a:spcPts val="0"/>
                        </a:spcAft>
                      </a:pPr>
                      <a:r>
                        <a:rPr sz="950" b="0">
                          <a:solidFill>
                            <a:srgbClr val="1A1A1A"/>
                          </a:solidFill>
                          <a:latin typeface="游ゴシック"/>
                          <a:ea typeface="游ゴシック"/>
                          <a:cs typeface="游ゴシック"/>
                        </a:rPr>
                        <a:t>非流動性ディスカウント（△30％）</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△6,879</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△9,171</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△11,464</a:t>
                      </a:r>
                    </a:p>
                  </a:txBody>
                  <a:tcPr marL="45720" marR="45720" marT="9144" marB="9144" anchor="ctr">
                    <a:solidFill>
                      <a:srgbClr val="FFFFFF"/>
                    </a:solidFill>
                  </a:tcPr>
                </a:tc>
                <a:extLst>
                  <a:ext uri="{0D108BD9-81ED-4DB2-BD59-A6C34878D82A}">
                    <a16:rowId xmlns:a16="http://schemas.microsoft.com/office/drawing/2014/main" val="10002"/>
                  </a:ext>
                </a:extLst>
              </a:tr>
              <a:tr h="347472">
                <a:tc>
                  <a:txBody>
                    <a:bodyPr/>
                    <a:lstStyle/>
                    <a:p>
                      <a:pPr algn="l">
                        <a:spcAft>
                          <a:spcPts val="0"/>
                        </a:spcAft>
                      </a:pPr>
                      <a:r>
                        <a:rPr sz="950" b="0">
                          <a:solidFill>
                            <a:srgbClr val="1A1A1A"/>
                          </a:solidFill>
                          <a:latin typeface="游ゴシック"/>
                          <a:ea typeface="游ゴシック"/>
                          <a:cs typeface="游ゴシック"/>
                        </a:rPr>
                        <a:t>ネットキャッシュ</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tcPr>
                </a:tc>
                <a:tc>
                  <a:txBody>
                    <a:bodyPr/>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tcPr>
                </a:tc>
                <a:extLst>
                  <a:ext uri="{0D108BD9-81ED-4DB2-BD59-A6C34878D82A}">
                    <a16:rowId xmlns:a16="http://schemas.microsoft.com/office/drawing/2014/main" val="10003"/>
                  </a:ext>
                </a:extLst>
              </a:tr>
              <a:tr h="347472">
                <a:tc>
                  <a:txBody>
                    <a:bodyPr/>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tcPr>
                </a:tc>
                <a:tc>
                  <a:txBody>
                    <a:bodyPr/>
                    <a:lstStyle/>
                    <a:p>
                      <a:pPr algn="r">
                        <a:spcAft>
                          <a:spcPts val="0"/>
                        </a:spcAft>
                      </a:pPr>
                      <a:r>
                        <a:rPr sz="950" b="1">
                          <a:solidFill>
                            <a:srgbClr val="C03A2B"/>
                          </a:solidFill>
                          <a:latin typeface="Arial"/>
                          <a:ea typeface="Arial"/>
                          <a:cs typeface="Arial"/>
                        </a:rPr>
                        <a:t>△14,564</a:t>
                      </a:r>
                    </a:p>
                  </a:txBody>
                  <a:tcPr marL="45720" marR="45720" marT="9144" marB="9144" anchor="ctr">
                    <a:solidFill>
                      <a:srgbClr val="FFFFFF"/>
                    </a:solidFill>
                  </a:tcPr>
                </a:tc>
                <a:tc>
                  <a:txBody>
                    <a:bodyPr/>
                    <a:lstStyle/>
                    <a:p>
                      <a:pPr algn="r">
                        <a:spcAft>
                          <a:spcPts val="0"/>
                        </a:spcAft>
                      </a:pPr>
                      <a:r>
                        <a:rPr sz="950" b="1">
                          <a:solidFill>
                            <a:srgbClr val="C03A2B"/>
                          </a:solidFill>
                          <a:latin typeface="Arial"/>
                          <a:ea typeface="Arial"/>
                          <a:cs typeface="Arial"/>
                        </a:rPr>
                        <a:t>△9,214</a:t>
                      </a:r>
                    </a:p>
                  </a:txBody>
                  <a:tcPr marL="45720" marR="45720" marT="9144" marB="9144" anchor="ctr">
                    <a:solidFill>
                      <a:srgbClr val="FFFFFF"/>
                    </a:solidFill>
                  </a:tcPr>
                </a:tc>
                <a:tc>
                  <a:txBody>
                    <a:bodyPr/>
                    <a:lstStyle/>
                    <a:p>
                      <a:pPr algn="r">
                        <a:spcAft>
                          <a:spcPts val="0"/>
                        </a:spcAft>
                      </a:pPr>
                      <a:r>
                        <a:rPr sz="950" b="1">
                          <a:solidFill>
                            <a:srgbClr val="C03A2B"/>
                          </a:solidFill>
                          <a:latin typeface="Arial"/>
                          <a:ea typeface="Arial"/>
                          <a:cs typeface="Arial"/>
                        </a:rPr>
                        <a:t>△3,864</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27" name="Rectangle 26"/>
          <p:cNvSpPr/>
          <p:nvPr/>
        </p:nvSpPr>
        <p:spPr>
          <a:xfrm>
            <a:off x="6949440" y="4096512"/>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949440" y="4096512"/>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949440" y="4681728"/>
            <a:ext cx="932688" cy="237744"/>
          </a:xfrm>
          <a:prstGeom prst="rect">
            <a:avLst/>
          </a:prstGeom>
          <a:noFill/>
        </p:spPr>
        <p:txBody>
          <a:bodyPr wrap="square" lIns="0" tIns="0" r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187952"/>
            <a:ext cx="2167128" cy="1225296"/>
          </a:xfrm>
          <a:prstGeom prst="rect">
            <a:avLst/>
          </a:prstGeom>
          <a:noFill/>
        </p:spPr>
        <p:txBody>
          <a:bodyPr wrap="square" lIns="0" tIns="0" r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EV/EBITDA倍率は、類似上場会社の株価指標および国内中小企業M&amp;Aの実例水準を踏まえ3〜5倍を適用。非流動性ディスカウント30％は、上場会社の株価倍率に市場性が織り込まれているため控除しています。</a:t>
            </a:r>
          </a:p>
        </p:txBody>
      </p:sp>
      <p:sp>
        <p:nvSpPr>
          <p:cNvPr id="31" name="Rectangle 30"/>
          <p:cNvSpPr/>
          <p:nvPr/>
        </p:nvSpPr>
        <p:spPr>
          <a:xfrm>
            <a:off x="448056" y="5852160"/>
            <a:ext cx="9793224" cy="89611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557784" y="6181344"/>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5943600"/>
            <a:ext cx="8138160" cy="713232"/>
          </a:xfrm>
          <a:prstGeom prst="rect">
            <a:avLst/>
          </a:prstGeom>
          <a:noFill/>
        </p:spPr>
        <p:txBody>
          <a:bodyPr wrap="square" lIns="0" tIns="0" rIns="0" bIns="0" anchor="ctr">
            <a:spAutoFit/>
          </a:bodyPr>
          <a:lstStyle/>
          <a:p>
            <a:pPr algn="l">
              <a:lnSpc>
                <a:spcPct val="118000"/>
              </a:lnSpc>
              <a:spcAft>
                <a:spcPts val="200"/>
              </a:spcAft>
            </a:pPr>
            <a:r>
              <a:rPr sz="950" b="0">
                <a:solidFill>
                  <a:srgbClr val="1A1A1A"/>
                </a:solidFill>
                <a:latin typeface="游ゴシック"/>
                <a:ea typeface="游ゴシック"/>
                <a:cs typeface="游ゴシック"/>
              </a:rPr>
              <a:t>主たる前提では想定株式価値はマイナスとなる。基準EBITDA7,643千円に対し役員借入金32,744千円が重く、収益力ベースでは株式価値が残らない構造であることを示している。</a:t>
            </a:r>
          </a:p>
          <a:p>
            <a:pPr algn="l">
              <a:lnSpc>
                <a:spcPct val="118000"/>
              </a:lnSpc>
              <a:spcAft>
                <a:spcPts val="200"/>
              </a:spcAft>
            </a:pPr>
            <a:r>
              <a:rPr sz="950" b="0">
                <a:solidFill>
                  <a:srgbClr val="1A1A1A"/>
                </a:solidFill>
                <a:latin typeface="游ゴシック"/>
                <a:ea typeface="游ゴシック"/>
                <a:cs typeface="游ゴシック"/>
              </a:rPr>
              <a:t>当社は1店舗・年商22,484千円であり、類似上場会社（多店舗展開する外食チェーン）とは事業規模・ビジネスモデルが大きく異なるため、倍率は類似会社の実績値ではなく中小企業M&amp;Aの実例水準を用いている。</a:t>
            </a:r>
          </a:p>
        </p:txBody>
      </p:sp>
      <p:sp>
        <p:nvSpPr>
          <p:cNvPr id="34" name="TextBox 33"/>
          <p:cNvSpPr txBox="1"/>
          <p:nvPr/>
        </p:nvSpPr>
        <p:spPr>
          <a:xfrm>
            <a:off x="310896" y="6876288"/>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単位：千円。修正後EBITDA＝修正後営業利益＋減価償却費（事業供用分）。</a:t>
            </a:r>
          </a:p>
        </p:txBody>
      </p:sp>
    </p:spTree>
    <p:extLst>
      <p:ext uri="{BB962C8B-B14F-4D97-AF65-F5344CB8AC3E}">
        <p14:creationId xmlns:p14="http://schemas.microsoft.com/office/powerpoint/2010/main" val="966812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役員借入金の取扱いと株式価値への影響</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408176"/>
            <a:ext cx="484632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【ケース①｜主たる前提】役員借入金を買手が承継する</a:t>
            </a:r>
          </a:p>
        </p:txBody>
      </p:sp>
      <p:graphicFrame>
        <p:nvGraphicFramePr>
          <p:cNvPr id="19" name="Table 18"/>
          <p:cNvGraphicFramePr>
            <a:graphicFrameLocks noGrp="1"/>
          </p:cNvGraphicFramePr>
          <p:nvPr/>
        </p:nvGraphicFramePr>
        <p:xfrm>
          <a:off x="448056" y="1737360"/>
          <a:ext cx="4846318" cy="1901952"/>
        </p:xfrm>
        <a:graphic>
          <a:graphicData uri="http://schemas.openxmlformats.org/drawingml/2006/table">
            <a:tbl>
              <a:tblPr>
                <a:tableStyleId>{5940675A-B579-460E-94D1-54222C63F5DA}</a:tableStyleId>
              </a:tblPr>
              <a:tblGrid>
                <a:gridCol w="2834639">
                  <a:extLst>
                    <a:ext uri="{9D8B030D-6E8A-4147-A177-3AD203B41FA5}">
                      <a16:colId xmlns:a16="http://schemas.microsoft.com/office/drawing/2014/main" val="20000"/>
                    </a:ext>
                  </a:extLst>
                </a:gridCol>
                <a:gridCol w="2011679">
                  <a:extLst>
                    <a:ext uri="{9D8B030D-6E8A-4147-A177-3AD203B41FA5}">
                      <a16:colId xmlns:a16="http://schemas.microsoft.com/office/drawing/2014/main" val="20001"/>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tcPr>
                </a:tc>
                <a:extLst>
                  <a:ext uri="{0D108BD9-81ED-4DB2-BD59-A6C34878D82A}">
                    <a16:rowId xmlns:a16="http://schemas.microsoft.com/office/drawing/2014/main" val="10001"/>
                  </a:ext>
                </a:extLst>
              </a:tr>
              <a:tr h="365760">
                <a:tc>
                  <a:txBody>
                    <a:bodyPr/>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tcPr>
                </a:tc>
                <a:extLst>
                  <a:ext uri="{0D108BD9-81ED-4DB2-BD59-A6C34878D82A}">
                    <a16:rowId xmlns:a16="http://schemas.microsoft.com/office/drawing/2014/main" val="10002"/>
                  </a:ext>
                </a:extLst>
              </a:tr>
              <a:tr h="365760">
                <a:tc>
                  <a:txBody>
                    <a:bodyPr/>
                    <a:lstStyle/>
                    <a:p>
                      <a:pPr algn="l">
                        <a:spcAft>
                          <a:spcPts val="0"/>
                        </a:spcAft>
                      </a:pPr>
                      <a:r>
                        <a:rPr sz="900" b="0">
                          <a:solidFill>
                            <a:srgbClr val="1A1A1A"/>
                          </a:solidFill>
                          <a:latin typeface="游ゴシック"/>
                          <a:ea typeface="游ゴシック"/>
                          <a:cs typeface="游ゴシック"/>
                        </a:rPr>
                        <a:t>デットライク（役員借入金を含む）</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tcPr>
                </a:tc>
                <a:extLst>
                  <a:ext uri="{0D108BD9-81ED-4DB2-BD59-A6C34878D82A}">
                    <a16:rowId xmlns:a16="http://schemas.microsoft.com/office/drawing/2014/main" val="10003"/>
                  </a:ext>
                </a:extLst>
              </a:tr>
              <a:tr h="365760">
                <a:tc>
                  <a:txBody>
                    <a:bodyPr/>
                    <a:lstStyle/>
                    <a:p>
                      <a:pPr algn="l">
                        <a:spcAft>
                          <a:spcPts val="0"/>
                        </a:spcAft>
                      </a:pPr>
                      <a:r>
                        <a:rPr sz="900" b="0">
                          <a:solidFill>
                            <a:srgbClr val="1A1A1A"/>
                          </a:solidFill>
                          <a:latin typeface="游ゴシック"/>
                          <a:ea typeface="游ゴシック"/>
                          <a:cs typeface="游ゴシック"/>
                        </a:rPr>
                        <a:t>ネットデット</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30,614</a:t>
                      </a:r>
                    </a:p>
                  </a:txBody>
                  <a:tcPr marL="45720" marR="45720" marT="9144" marB="9144" anchor="ctr">
                    <a:solidFill>
                      <a:srgbClr val="FFFFFF"/>
                    </a:solidFill>
                  </a:tcPr>
                </a:tc>
                <a:extLst>
                  <a:ext uri="{0D108BD9-81ED-4DB2-BD59-A6C34878D82A}">
                    <a16:rowId xmlns:a16="http://schemas.microsoft.com/office/drawing/2014/main" val="10004"/>
                  </a:ext>
                </a:extLst>
              </a:tr>
              <a:tr h="365760">
                <a:tc>
                  <a:txBody>
                    <a:bodyPr/>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tcPr>
                </a:tc>
                <a:tc>
                  <a:txBody>
                    <a:bodyPr/>
                    <a:lstStyle/>
                    <a:p>
                      <a:pPr algn="l">
                        <a:spcAft>
                          <a:spcPts val="0"/>
                        </a:spcAft>
                      </a:pPr>
                      <a:r>
                        <a:rPr sz="900" b="1">
                          <a:solidFill>
                            <a:srgbClr val="C03A2B"/>
                          </a:solidFill>
                          <a:latin typeface="游ゴシック"/>
                          <a:ea typeface="游ゴシック"/>
                          <a:cs typeface="游ゴシック"/>
                        </a:rPr>
                        <a:t>△14,564 〜 △3,864</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0" name="Rectangle 19"/>
          <p:cNvSpPr/>
          <p:nvPr/>
        </p:nvSpPr>
        <p:spPr>
          <a:xfrm>
            <a:off x="5477256" y="1408176"/>
            <a:ext cx="48646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【ケース②｜参考】債務免除または対価と相殺し整理する</a:t>
            </a:r>
          </a:p>
        </p:txBody>
      </p:sp>
      <p:graphicFrame>
        <p:nvGraphicFramePr>
          <p:cNvPr id="21" name="Table 20"/>
          <p:cNvGraphicFramePr>
            <a:graphicFrameLocks noGrp="1"/>
          </p:cNvGraphicFramePr>
          <p:nvPr/>
        </p:nvGraphicFramePr>
        <p:xfrm>
          <a:off x="5477256" y="1737360"/>
          <a:ext cx="4864608" cy="1901952"/>
        </p:xfrm>
        <a:graphic>
          <a:graphicData uri="http://schemas.openxmlformats.org/drawingml/2006/table">
            <a:tbl>
              <a:tblPr>
                <a:tableStyleId>{5940675A-B579-460E-94D1-54222C63F5DA}</a:tableStyleId>
              </a:tblPr>
              <a:tblGrid>
                <a:gridCol w="2852928">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219456">
                <a:tc>
                  <a:txBody>
                    <a:bodyPr/>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tcPr>
                </a:tc>
                <a:extLst>
                  <a:ext uri="{0D108BD9-81ED-4DB2-BD59-A6C34878D82A}">
                    <a16:rowId xmlns:a16="http://schemas.microsoft.com/office/drawing/2014/main" val="10000"/>
                  </a:ext>
                </a:extLst>
              </a:tr>
              <a:tr h="219456">
                <a:tc>
                  <a:txBody>
                    <a:bodyPr/>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tcPr>
                </a:tc>
                <a:extLst>
                  <a:ext uri="{0D108BD9-81ED-4DB2-BD59-A6C34878D82A}">
                    <a16:rowId xmlns:a16="http://schemas.microsoft.com/office/drawing/2014/main" val="10001"/>
                  </a:ext>
                </a:extLst>
              </a:tr>
              <a:tr h="365760">
                <a:tc>
                  <a:txBody>
                    <a:bodyPr/>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tcPr>
                </a:tc>
                <a:extLst>
                  <a:ext uri="{0D108BD9-81ED-4DB2-BD59-A6C34878D82A}">
                    <a16:rowId xmlns:a16="http://schemas.microsoft.com/office/drawing/2014/main" val="10002"/>
                  </a:ext>
                </a:extLst>
              </a:tr>
              <a:tr h="365760">
                <a:tc>
                  <a:txBody>
                    <a:bodyPr/>
                    <a:lstStyle/>
                    <a:p>
                      <a:pPr algn="l">
                        <a:spcAft>
                          <a:spcPts val="0"/>
                        </a:spcAft>
                      </a:pPr>
                      <a:r>
                        <a:rPr sz="900" b="0">
                          <a:solidFill>
                            <a:srgbClr val="1A1A1A"/>
                          </a:solidFill>
                          <a:latin typeface="游ゴシック"/>
                          <a:ea typeface="游ゴシック"/>
                          <a:cs typeface="游ゴシック"/>
                        </a:rPr>
                        <a:t>デットライク（未払法人税等のみ）</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36</a:t>
                      </a:r>
                    </a:p>
                  </a:txBody>
                  <a:tcPr marL="45720" marR="45720" marT="9144" marB="9144" anchor="ctr">
                    <a:solidFill>
                      <a:srgbClr val="FFFFFF"/>
                    </a:solidFill>
                  </a:tcPr>
                </a:tc>
                <a:extLst>
                  <a:ext uri="{0D108BD9-81ED-4DB2-BD59-A6C34878D82A}">
                    <a16:rowId xmlns:a16="http://schemas.microsoft.com/office/drawing/2014/main" val="10003"/>
                  </a:ext>
                </a:extLst>
              </a:tr>
              <a:tr h="365760">
                <a:tc>
                  <a:txBody>
                    <a:bodyPr/>
                    <a:lstStyle/>
                    <a:p>
                      <a:pPr algn="l">
                        <a:spcAft>
                          <a:spcPts val="0"/>
                        </a:spcAft>
                      </a:pPr>
                      <a:r>
                        <a:rPr sz="900" b="0">
                          <a:solidFill>
                            <a:srgbClr val="1A1A1A"/>
                          </a:solidFill>
                          <a:latin typeface="游ゴシック"/>
                          <a:ea typeface="游ゴシック"/>
                          <a:cs typeface="游ゴシック"/>
                        </a:rPr>
                        <a:t>ネットキャッシュ</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2,130</a:t>
                      </a:r>
                    </a:p>
                  </a:txBody>
                  <a:tcPr marL="45720" marR="45720" marT="9144" marB="9144" anchor="ctr">
                    <a:solidFill>
                      <a:srgbClr val="FFFFFF"/>
                    </a:solidFill>
                  </a:tcPr>
                </a:tc>
                <a:extLst>
                  <a:ext uri="{0D108BD9-81ED-4DB2-BD59-A6C34878D82A}">
                    <a16:rowId xmlns:a16="http://schemas.microsoft.com/office/drawing/2014/main" val="10004"/>
                  </a:ext>
                </a:extLst>
              </a:tr>
              <a:tr h="365760">
                <a:tc>
                  <a:txBody>
                    <a:bodyPr/>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tcPr>
                </a:tc>
                <a:tc>
                  <a:txBody>
                    <a:bodyPr/>
                    <a:lstStyle/>
                    <a:p>
                      <a:pPr algn="l">
                        <a:spcAft>
                          <a:spcPts val="0"/>
                        </a:spcAft>
                      </a:pPr>
                      <a:r>
                        <a:rPr sz="900" b="1">
                          <a:solidFill>
                            <a:srgbClr val="1A1A1A"/>
                          </a:solidFill>
                          <a:latin typeface="游ゴシック"/>
                          <a:ea typeface="游ゴシック"/>
                          <a:cs typeface="游ゴシック"/>
                        </a:rPr>
                        <a:t>18,180 〜 28,880</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2" name="Rectangle 21"/>
          <p:cNvSpPr/>
          <p:nvPr/>
        </p:nvSpPr>
        <p:spPr>
          <a:xfrm>
            <a:off x="448056" y="384048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200" b="1">
                <a:solidFill>
                  <a:srgbClr val="FFFFFF"/>
                </a:solidFill>
                <a:latin typeface="游ゴシック"/>
                <a:ea typeface="游ゴシック"/>
                <a:cs typeface="游ゴシック"/>
              </a:rPr>
              <a:t>【感応度】新体制で職人1名を雇用する前提を置いた場合</a:t>
            </a:r>
          </a:p>
        </p:txBody>
      </p:sp>
      <p:graphicFrame>
        <p:nvGraphicFramePr>
          <p:cNvPr id="23" name="Table 22"/>
          <p:cNvGraphicFramePr>
            <a:graphicFrameLocks noGrp="1"/>
          </p:cNvGraphicFramePr>
          <p:nvPr/>
        </p:nvGraphicFramePr>
        <p:xfrm>
          <a:off x="448056" y="4169663"/>
          <a:ext cx="9893807" cy="1609344"/>
        </p:xfrm>
        <a:graphic>
          <a:graphicData uri="http://schemas.openxmlformats.org/drawingml/2006/table">
            <a:tbl>
              <a:tblPr>
                <a:tableStyleId>{5940675A-B579-460E-94D1-54222C63F5DA}</a:tableStyleId>
              </a:tblPr>
              <a:tblGrid>
                <a:gridCol w="2926080">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gridCol w="1627632">
                  <a:extLst>
                    <a:ext uri="{9D8B030D-6E8A-4147-A177-3AD203B41FA5}">
                      <a16:colId xmlns:a16="http://schemas.microsoft.com/office/drawing/2014/main" val="20003"/>
                    </a:ext>
                  </a:extLst>
                </a:gridCol>
                <a:gridCol w="2084831">
                  <a:extLst>
                    <a:ext uri="{9D8B030D-6E8A-4147-A177-3AD203B41FA5}">
                      <a16:colId xmlns:a16="http://schemas.microsoft.com/office/drawing/2014/main" val="20004"/>
                    </a:ext>
                  </a:extLst>
                </a:gridCol>
              </a:tblGrid>
              <a:tr h="237744">
                <a:tc>
                  <a:txBody>
                    <a:bodyPr/>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tcPr>
                </a:tc>
                <a:tc>
                  <a:txBody>
                    <a:bodyPr/>
                    <a:lstStyle/>
                    <a:p>
                      <a:pPr algn="ctr">
                        <a:spcAft>
                          <a:spcPts val="0"/>
                        </a:spcAft>
                      </a:pPr>
                      <a:r>
                        <a:rPr sz="900" b="1">
                          <a:solidFill>
                            <a:srgbClr val="FFFFFF"/>
                          </a:solidFill>
                          <a:latin typeface="Arial"/>
                          <a:ea typeface="Arial"/>
                          <a:cs typeface="Arial"/>
                        </a:rPr>
                        <a:t>3期加重平均</a:t>
                      </a:r>
                    </a:p>
                  </a:txBody>
                  <a:tcPr marL="45720" marR="45720" marT="9144" marB="9144" anchor="ctr">
                    <a:solidFill>
                      <a:srgbClr val="0B3041"/>
                    </a:solidFill>
                  </a:tcPr>
                </a:tc>
                <a:extLst>
                  <a:ext uri="{0D108BD9-81ED-4DB2-BD59-A6C34878D82A}">
                    <a16:rowId xmlns:a16="http://schemas.microsoft.com/office/drawing/2014/main" val="10000"/>
                  </a:ext>
                </a:extLst>
              </a:tr>
              <a:tr h="274320">
                <a:tc>
                  <a:txBody>
                    <a:bodyPr/>
                    <a:lstStyle/>
                    <a:p>
                      <a:pPr algn="l">
                        <a:spcAft>
                          <a:spcPts val="0"/>
                        </a:spcAft>
                      </a:pPr>
                      <a:r>
                        <a:rPr sz="900" b="0">
                          <a:solidFill>
                            <a:srgbClr val="1A1A1A"/>
                          </a:solidFill>
                          <a:latin typeface="游ゴシック"/>
                          <a:ea typeface="游ゴシック"/>
                          <a:cs typeface="游ゴシック"/>
                        </a:rPr>
                        <a:t>修正後営業利益（実績ベース）</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1,227</a:t>
                      </a:r>
                    </a:p>
                  </a:txBody>
                  <a:tcPr marL="45720" marR="45720" marT="9144" marB="9144" anchor="ctr">
                    <a:solidFill>
                      <a:srgbClr val="FFFFFF"/>
                    </a:solidFill>
                  </a:tcPr>
                </a:tc>
                <a:extLst>
                  <a:ext uri="{0D108BD9-81ED-4DB2-BD59-A6C34878D82A}">
                    <a16:rowId xmlns:a16="http://schemas.microsoft.com/office/drawing/2014/main" val="10001"/>
                  </a:ext>
                </a:extLst>
              </a:tr>
              <a:tr h="274320">
                <a:tc>
                  <a:txBody>
                    <a:bodyPr/>
                    <a:lstStyle/>
                    <a:p>
                      <a:pPr algn="l">
                        <a:spcAft>
                          <a:spcPts val="0"/>
                        </a:spcAft>
                      </a:pPr>
                      <a:r>
                        <a:rPr sz="900" b="0">
                          <a:solidFill>
                            <a:srgbClr val="1A1A1A"/>
                          </a:solidFill>
                          <a:latin typeface="游ゴシック"/>
                          <a:ea typeface="游ゴシック"/>
                          <a:cs typeface="游ゴシック"/>
                        </a:rPr>
                        <a:t>そば職人1名分 想定人件費（仮説）</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tcPr>
                </a:tc>
                <a:extLst>
                  <a:ext uri="{0D108BD9-81ED-4DB2-BD59-A6C34878D82A}">
                    <a16:rowId xmlns:a16="http://schemas.microsoft.com/office/drawing/2014/main" val="10002"/>
                  </a:ext>
                </a:extLst>
              </a:tr>
              <a:tr h="274320">
                <a:tc>
                  <a:txBody>
                    <a:bodyPr/>
                    <a:lstStyle/>
                    <a:p>
                      <a:pPr algn="l">
                        <a:spcAft>
                          <a:spcPts val="0"/>
                        </a:spcAft>
                      </a:pPr>
                      <a:r>
                        <a:rPr sz="900" b="0">
                          <a:solidFill>
                            <a:srgbClr val="1A1A1A"/>
                          </a:solidFill>
                          <a:latin typeface="游ゴシック"/>
                          <a:ea typeface="游ゴシック"/>
                          <a:cs typeface="游ゴシック"/>
                        </a:rPr>
                        <a:t>人件費考慮後の営業利益</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900" b="0">
                          <a:solidFill>
                            <a:srgbClr val="C03A2B"/>
                          </a:solidFill>
                          <a:latin typeface="Arial"/>
                          <a:ea typeface="Arial"/>
                          <a:cs typeface="Arial"/>
                        </a:rPr>
                        <a:t>△5,673</a:t>
                      </a:r>
                    </a:p>
                  </a:txBody>
                  <a:tcPr marL="45720" marR="45720" marT="9144" marB="9144" anchor="ctr">
                    <a:solidFill>
                      <a:srgbClr val="FFFFFF"/>
                    </a:solidFill>
                  </a:tcPr>
                </a:tc>
                <a:extLst>
                  <a:ext uri="{0D108BD9-81ED-4DB2-BD59-A6C34878D82A}">
                    <a16:rowId xmlns:a16="http://schemas.microsoft.com/office/drawing/2014/main" val="10003"/>
                  </a:ext>
                </a:extLst>
              </a:tr>
              <a:tr h="274320">
                <a:tc>
                  <a:txBody>
                    <a:bodyPr/>
                    <a:lstStyle/>
                    <a:p>
                      <a:pPr algn="l">
                        <a:spcAft>
                          <a:spcPts val="0"/>
                        </a:spcAft>
                      </a:pPr>
                      <a:r>
                        <a:rPr sz="900" b="0">
                          <a:solidFill>
                            <a:srgbClr val="1A1A1A"/>
                          </a:solidFill>
                          <a:latin typeface="游ゴシック"/>
                          <a:ea typeface="游ゴシック"/>
                          <a:cs typeface="游ゴシック"/>
                        </a:rPr>
                        <a:t>営業権（人件費考慮後）</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tcPr>
                </a:tc>
                <a:extLst>
                  <a:ext uri="{0D108BD9-81ED-4DB2-BD59-A6C34878D82A}">
                    <a16:rowId xmlns:a16="http://schemas.microsoft.com/office/drawing/2014/main" val="10004"/>
                  </a:ext>
                </a:extLst>
              </a:tr>
              <a:tr h="274320">
                <a:tc>
                  <a:txBody>
                    <a:bodyPr/>
                    <a:lstStyle/>
                    <a:p>
                      <a:pPr algn="l">
                        <a:spcAft>
                          <a:spcPts val="0"/>
                        </a:spcAft>
                      </a:pPr>
                      <a:r>
                        <a:rPr sz="900" b="1">
                          <a:solidFill>
                            <a:srgbClr val="1A1A1A"/>
                          </a:solidFill>
                          <a:latin typeface="游ゴシック"/>
                          <a:ea typeface="游ゴシック"/>
                          <a:cs typeface="游ゴシック"/>
                        </a:rPr>
                        <a:t>想定株式価値（人件費考慮後）</a:t>
                      </a:r>
                    </a:p>
                  </a:txBody>
                  <a:tcPr marL="45720" marR="45720" marT="9144" marB="9144" anchor="ctr">
                    <a:solidFill>
                      <a:srgbClr val="FFFFFF"/>
                    </a:solidFill>
                  </a:tcPr>
                </a:tc>
                <a:tc>
                  <a:txBody>
                    <a:bodyPr/>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tcPr>
                </a:tc>
                <a:tc>
                  <a:txBody>
                    <a:bodyPr/>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4" name="Rectangle 23"/>
          <p:cNvSpPr/>
          <p:nvPr/>
        </p:nvSpPr>
        <p:spPr>
          <a:xfrm>
            <a:off x="448056" y="5833872"/>
            <a:ext cx="9893808" cy="98755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557784" y="6208776"/>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26" name="TextBox 25"/>
          <p:cNvSpPr txBox="1"/>
          <p:nvPr/>
        </p:nvSpPr>
        <p:spPr>
          <a:xfrm>
            <a:off x="1993392" y="5925312"/>
            <a:ext cx="8238744" cy="804672"/>
          </a:xfrm>
          <a:prstGeom prst="rect">
            <a:avLst/>
          </a:prstGeom>
          <a:noFill/>
        </p:spPr>
        <p:txBody>
          <a:bodyPr wrap="square" lIns="0" tIns="0" r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役員借入金32,744千円は全額が代表者・配偶者からの無利息借入であり、実質的には資本に近い性格を持つ。本評価では法形式に従いケース①を主たる前提としたが、本件実行時の取扱いは売主・買主間の協議事項である。</a:t>
            </a:r>
          </a:p>
          <a:p>
            <a:pPr algn="l">
              <a:lnSpc>
                <a:spcPct val="118000"/>
              </a:lnSpc>
              <a:spcAft>
                <a:spcPts val="200"/>
              </a:spcAft>
            </a:pPr>
            <a:r>
              <a:rPr sz="900" b="0">
                <a:solidFill>
                  <a:srgbClr val="1A1A1A"/>
                </a:solidFill>
                <a:latin typeface="游ゴシック"/>
                <a:ea typeface="游ゴシック"/>
                <a:cs typeface="游ゴシック"/>
              </a:rPr>
              <a:t>代表者・配偶者はいずれも無報酬であるため、新体制では職人の人件費が新たに発生する。年収600万円＋社会保険料概算15％を仮置きすると加重平均営業利益はマイナスとなり営業権は算定されず、想定株式価値は時価純資産23,583千円と同額になる（仮説）。</a:t>
            </a:r>
          </a:p>
          <a:p>
            <a:pPr algn="l">
              <a:lnSpc>
                <a:spcPct val="118000"/>
              </a:lnSpc>
              <a:spcAft>
                <a:spcPts val="200"/>
              </a:spcAft>
            </a:pPr>
            <a:r>
              <a:rPr sz="900" b="0">
                <a:solidFill>
                  <a:srgbClr val="1A1A1A"/>
                </a:solidFill>
                <a:latin typeface="游ゴシック"/>
                <a:ea typeface="游ゴシック"/>
                <a:cs typeface="游ゴシック"/>
              </a:rPr>
              <a:t>なお本評価は過去3期の実績に基づくものであり、営業日・製造食数の拡大による将来の収益改善は織り込んでいない。打ち手とその試算は企業概要書P.19・P.20に記載。</a:t>
            </a:r>
          </a:p>
        </p:txBody>
      </p:sp>
      <p:sp>
        <p:nvSpPr>
          <p:cNvPr id="27" name="TextBox 26"/>
          <p:cNvSpPr txBox="1"/>
          <p:nvPr/>
        </p:nvSpPr>
        <p:spPr>
          <a:xfrm>
            <a:off x="310896" y="6876288"/>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単位：千円。人件費の金額は未確定であり、本頁の試算は弊社の仮説です。実額は要確認。</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［Appendix］評価手法について</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株式価値算定の3つのアプローチ</a:t>
            </a:r>
          </a:p>
        </p:txBody>
      </p:sp>
      <p:graphicFrame>
        <p:nvGraphicFramePr>
          <p:cNvPr id="19" name="Table 18"/>
          <p:cNvGraphicFramePr>
            <a:graphicFrameLocks noGrp="1"/>
          </p:cNvGraphicFramePr>
          <p:nvPr/>
        </p:nvGraphicFramePr>
        <p:xfrm>
          <a:off x="338328" y="1207008"/>
          <a:ext cx="10012680" cy="4425696"/>
        </p:xfrm>
        <a:graphic>
          <a:graphicData uri="http://schemas.openxmlformats.org/drawingml/2006/table">
            <a:tbl>
              <a:tblPr>
                <a:tableStyleId>{5940675A-B579-460E-94D1-54222C63F5DA}</a:tableStyleId>
              </a:tblPr>
              <a:tblGrid>
                <a:gridCol w="1078992">
                  <a:extLst>
                    <a:ext uri="{9D8B030D-6E8A-4147-A177-3AD203B41FA5}">
                      <a16:colId xmlns:a16="http://schemas.microsoft.com/office/drawing/2014/main" val="20000"/>
                    </a:ext>
                  </a:extLst>
                </a:gridCol>
                <a:gridCol w="1572768">
                  <a:extLst>
                    <a:ext uri="{9D8B030D-6E8A-4147-A177-3AD203B41FA5}">
                      <a16:colId xmlns:a16="http://schemas.microsoft.com/office/drawing/2014/main" val="20001"/>
                    </a:ext>
                  </a:extLst>
                </a:gridCol>
                <a:gridCol w="2798064">
                  <a:extLst>
                    <a:ext uri="{9D8B030D-6E8A-4147-A177-3AD203B41FA5}">
                      <a16:colId xmlns:a16="http://schemas.microsoft.com/office/drawing/2014/main" val="20002"/>
                    </a:ext>
                  </a:extLst>
                </a:gridCol>
                <a:gridCol w="2487168">
                  <a:extLst>
                    <a:ext uri="{9D8B030D-6E8A-4147-A177-3AD203B41FA5}">
                      <a16:colId xmlns:a16="http://schemas.microsoft.com/office/drawing/2014/main" val="20003"/>
                    </a:ext>
                  </a:extLst>
                </a:gridCol>
                <a:gridCol w="2075688">
                  <a:extLst>
                    <a:ext uri="{9D8B030D-6E8A-4147-A177-3AD203B41FA5}">
                      <a16:colId xmlns:a16="http://schemas.microsoft.com/office/drawing/2014/main" val="20004"/>
                    </a:ext>
                  </a:extLst>
                </a:gridCol>
              </a:tblGrid>
              <a:tr h="256032">
                <a:tc>
                  <a:txBody>
                    <a:bodyPr/>
                    <a:lstStyle/>
                    <a:p>
                      <a:pPr algn="ctr">
                        <a:spcAft>
                          <a:spcPts val="0"/>
                        </a:spcAft>
                      </a:pPr>
                      <a:r>
                        <a:rPr sz="860" b="1">
                          <a:solidFill>
                            <a:srgbClr val="FFFFFF"/>
                          </a:solidFill>
                          <a:latin typeface="游ゴシック"/>
                          <a:ea typeface="游ゴシック"/>
                          <a:cs typeface="游ゴシック"/>
                        </a:rPr>
                        <a:t>アプローチ</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代表的な手法</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考え方</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留意点</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本件の採否</a:t>
                      </a:r>
                    </a:p>
                  </a:txBody>
                  <a:tcPr marL="45720" marR="45720" marT="9144" marB="9144" anchor="ctr">
                    <a:solidFill>
                      <a:srgbClr val="0B3041"/>
                    </a:solidFill>
                  </a:tcPr>
                </a:tc>
                <a:extLst>
                  <a:ext uri="{0D108BD9-81ED-4DB2-BD59-A6C34878D82A}">
                    <a16:rowId xmlns:a16="http://schemas.microsoft.com/office/drawing/2014/main" val="10000"/>
                  </a:ext>
                </a:extLst>
              </a:tr>
              <a:tr h="1389888">
                <a:tc>
                  <a:txBody>
                    <a:bodyPr/>
                    <a:lstStyle/>
                    <a:p>
                      <a:pPr algn="l">
                        <a:spcAft>
                          <a:spcPts val="0"/>
                        </a:spcAft>
                      </a:pPr>
                      <a:r>
                        <a:rPr sz="860" b="0">
                          <a:solidFill>
                            <a:srgbClr val="1A1A1A"/>
                          </a:solidFill>
                          <a:latin typeface="游ゴシック"/>
                          <a:ea typeface="游ゴシック"/>
                          <a:cs typeface="游ゴシック"/>
                        </a:rPr>
                        <a:t>コスト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時価純資産法</a:t>
                      </a:r>
                    </a:p>
                    <a:p>
                      <a:pPr algn="l">
                        <a:spcAft>
                          <a:spcPts val="0"/>
                        </a:spcAft>
                      </a:pPr>
                      <a:r>
                        <a:rPr sz="860" b="0">
                          <a:solidFill>
                            <a:srgbClr val="1A1A1A"/>
                          </a:solidFill>
                          <a:latin typeface="游ゴシック"/>
                          <a:ea typeface="游ゴシック"/>
                          <a:cs typeface="游ゴシック"/>
                        </a:rPr>
                        <a:t>時価純資産＋営業権法</a:t>
                      </a:r>
                    </a:p>
                    <a:p>
                      <a:pPr algn="l">
                        <a:spcAft>
                          <a:spcPts val="0"/>
                        </a:spcAft>
                      </a:pPr>
                      <a:r>
                        <a:rPr sz="860" b="0">
                          <a:solidFill>
                            <a:srgbClr val="1A1A1A"/>
                          </a:solidFill>
                          <a:latin typeface="游ゴシック"/>
                          <a:ea typeface="游ゴシック"/>
                          <a:cs typeface="游ゴシック"/>
                        </a:rPr>
                        <a:t>（年買法）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貸借対照表の資産・負債を時価に評価し直した純資産額を基礎に株式価値を算定する。超過収益力がある場合は営業権を加算する。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過去の蓄積を反映する一方、将来の収益力や成長性は営業権の倍率を通じてしか反映されない。</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（主たる手法）</a:t>
                      </a:r>
                    </a:p>
                    <a:p>
                      <a:pPr algn="l">
                        <a:spcAft>
                          <a:spcPts val="0"/>
                        </a:spcAft>
                      </a:pPr>
                      <a:r>
                        <a:rPr sz="860" b="0">
                          <a:solidFill>
                            <a:srgbClr val="1A1A1A"/>
                          </a:solidFill>
                          <a:latin typeface="游ゴシック"/>
                          <a:ea typeface="游ゴシック"/>
                          <a:cs typeface="游ゴシック"/>
                        </a:rPr>
                        <a:t>事業用資産の比重が大きく、資産性が価値の中心であるため適合的。</a:t>
                      </a:r>
                    </a:p>
                  </a:txBody>
                  <a:tcPr marL="45720" marR="45720" marT="9144" marB="9144" anchor="ctr">
                    <a:solidFill>
                      <a:srgbClr val="FFFFFF"/>
                    </a:solidFill>
                  </a:tcPr>
                </a:tc>
                <a:extLst>
                  <a:ext uri="{0D108BD9-81ED-4DB2-BD59-A6C34878D82A}">
                    <a16:rowId xmlns:a16="http://schemas.microsoft.com/office/drawing/2014/main" val="10001"/>
                  </a:ext>
                </a:extLst>
              </a:tr>
              <a:tr h="1389888">
                <a:tc>
                  <a:txBody>
                    <a:bodyPr/>
                    <a:lstStyle/>
                    <a:p>
                      <a:pPr algn="l">
                        <a:spcAft>
                          <a:spcPts val="0"/>
                        </a:spcAft>
                      </a:pPr>
                      <a:r>
                        <a:rPr sz="860" b="0">
                          <a:solidFill>
                            <a:srgbClr val="1A1A1A"/>
                          </a:solidFill>
                          <a:latin typeface="游ゴシック"/>
                          <a:ea typeface="游ゴシック"/>
                          <a:cs typeface="游ゴシック"/>
                        </a:rPr>
                        <a:t>マーケット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類似会社比準法</a:t>
                      </a:r>
                    </a:p>
                    <a:p>
                      <a:pPr algn="l">
                        <a:spcAft>
                          <a:spcPts val="0"/>
                        </a:spcAft>
                      </a:pPr>
                      <a:r>
                        <a:rPr sz="860" b="0">
                          <a:solidFill>
                            <a:srgbClr val="1A1A1A"/>
                          </a:solidFill>
                          <a:latin typeface="游ゴシック"/>
                          <a:ea typeface="游ゴシック"/>
                          <a:cs typeface="游ゴシック"/>
                        </a:rPr>
                        <a:t>（EV/EBITDA倍率等）</a:t>
                      </a:r>
                    </a:p>
                    <a:p>
                      <a:pPr algn="l">
                        <a:spcAft>
                          <a:spcPts val="0"/>
                        </a:spcAft>
                      </a:pPr>
                      <a:r>
                        <a:rPr sz="860" b="0">
                          <a:solidFill>
                            <a:srgbClr val="1A1A1A"/>
                          </a:solidFill>
                          <a:latin typeface="游ゴシック"/>
                          <a:ea typeface="游ゴシック"/>
                          <a:cs typeface="游ゴシック"/>
                        </a:rPr>
                        <a:t>類似取引比準法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事業内容・規模が類似する上場会社の株価倍率を対象会社の財務数値に乗じて企業価値を算定し、ネットキャッシュを加減して株式価値を求める。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市場の評価を反映できるが、規模・ビジネスモデルの差異と非上場株式の市場性の欠如（非流動性ディスカウント）を調整する必要がある。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（参考値）</a:t>
                      </a:r>
                    </a:p>
                    <a:p>
                      <a:pPr algn="l">
                        <a:spcAft>
                          <a:spcPts val="0"/>
                        </a:spcAft>
                      </a:pPr>
                      <a:r>
                        <a:rPr sz="860" b="0">
                          <a:solidFill>
                            <a:srgbClr val="1A1A1A"/>
                          </a:solidFill>
                          <a:latin typeface="游ゴシック"/>
                          <a:ea typeface="游ゴシック"/>
                          <a:cs typeface="游ゴシック"/>
                        </a:rPr>
                        <a:t>1店舗・年商22百万円であり類似上場会社との規模差が大きいため参考値として併記。</a:t>
                      </a:r>
                    </a:p>
                  </a:txBody>
                  <a:tcPr marL="45720" marR="45720" marT="9144" marB="9144" anchor="ctr">
                    <a:solidFill>
                      <a:srgbClr val="FFFFFF"/>
                    </a:solidFill>
                  </a:tcPr>
                </a:tc>
                <a:extLst>
                  <a:ext uri="{0D108BD9-81ED-4DB2-BD59-A6C34878D82A}">
                    <a16:rowId xmlns:a16="http://schemas.microsoft.com/office/drawing/2014/main" val="10002"/>
                  </a:ext>
                </a:extLst>
              </a:tr>
              <a:tr h="1389888">
                <a:tc>
                  <a:txBody>
                    <a:bodyPr/>
                    <a:lstStyle/>
                    <a:p>
                      <a:pPr algn="l">
                        <a:spcAft>
                          <a:spcPts val="0"/>
                        </a:spcAft>
                      </a:pPr>
                      <a:r>
                        <a:rPr sz="860" b="0">
                          <a:solidFill>
                            <a:srgbClr val="1A1A1A"/>
                          </a:solidFill>
                          <a:latin typeface="游ゴシック"/>
                          <a:ea typeface="游ゴシック"/>
                          <a:cs typeface="游ゴシック"/>
                        </a:rPr>
                        <a:t>インカム</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DCF法</a:t>
                      </a:r>
                    </a:p>
                    <a:p>
                      <a:pPr algn="l">
                        <a:spcAft>
                          <a:spcPts val="0"/>
                        </a:spcAft>
                      </a:pPr>
                      <a:r>
                        <a:rPr sz="860" b="0">
                          <a:solidFill>
                            <a:srgbClr val="1A1A1A"/>
                          </a:solidFill>
                          <a:latin typeface="游ゴシック"/>
                          <a:ea typeface="游ゴシック"/>
                          <a:cs typeface="游ゴシック"/>
                        </a:rPr>
                        <a:t>収益還元法</a:t>
                      </a:r>
                    </a:p>
                    <a:p>
                      <a:pPr algn="l">
                        <a:spcAft>
                          <a:spcPts val="0"/>
                        </a:spcAft>
                      </a:pPr>
                      <a:r>
                        <a:rPr sz="860" b="0">
                          <a:solidFill>
                            <a:srgbClr val="1A1A1A"/>
                          </a:solidFill>
                          <a:latin typeface="游ゴシック"/>
                          <a:ea typeface="游ゴシック"/>
                          <a:cs typeface="游ゴシック"/>
                        </a:rPr>
                        <a:t>配当還元法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対象会社が将来生み出すキャッシュフローまたは利益を、リスクに見合う割引率で現在価値に割り引いて株式価値を算定する。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事業計画の精度に結果が強く依存する。配当還元法は配当を目的とする少数株主の視点に立つ手法。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不採用</a:t>
                      </a:r>
                    </a:p>
                    <a:p>
                      <a:pPr algn="l">
                        <a:spcAft>
                          <a:spcPts val="0"/>
                        </a:spcAft>
                      </a:pPr>
                      <a:r>
                        <a:rPr sz="860" b="0">
                          <a:solidFill>
                            <a:srgbClr val="1A1A1A"/>
                          </a:solidFill>
                          <a:latin typeface="游ゴシック"/>
                          <a:ea typeface="游ゴシック"/>
                          <a:cs typeface="游ゴシック"/>
                        </a:rPr>
                        <a:t>事業計画が存在せず算定根拠を欠く。配当還元法は本件取引の性質に適合しない。</a:t>
                      </a:r>
                    </a:p>
                  </a:txBody>
                  <a:tcPr marL="45720" marR="45720" marT="9144" marB="9144" anchor="ctr">
                    <a:solidFill>
                      <a:srgbClr val="FFFFFF"/>
                    </a:solidFill>
                  </a:tcPr>
                </a:tc>
                <a:extLst>
                  <a:ext uri="{0D108BD9-81ED-4DB2-BD59-A6C34878D82A}">
                    <a16:rowId xmlns:a16="http://schemas.microsoft.com/office/drawing/2014/main" val="10003"/>
                  </a:ext>
                </a:extLst>
              </a:tr>
            </a:tbl>
          </a:graphicData>
        </a:graphic>
      </p:graphicFrame>
      <p:sp>
        <p:nvSpPr>
          <p:cNvPr id="20" name="Rectangle 19"/>
          <p:cNvSpPr/>
          <p:nvPr/>
        </p:nvSpPr>
        <p:spPr>
          <a:xfrm>
            <a:off x="338328" y="5760720"/>
            <a:ext cx="10012680" cy="74980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338328" y="5760720"/>
            <a:ext cx="1188720" cy="7498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338328" y="6016752"/>
            <a:ext cx="1188720" cy="237744"/>
          </a:xfrm>
          <a:prstGeom prst="rect">
            <a:avLst/>
          </a:prstGeom>
          <a:noFill/>
        </p:spPr>
        <p:txBody>
          <a:bodyPr wrap="square" lIns="0" tIns="0" r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3" name="TextBox 22"/>
          <p:cNvSpPr txBox="1"/>
          <p:nvPr/>
        </p:nvSpPr>
        <p:spPr>
          <a:xfrm>
            <a:off x="1691639" y="5852159"/>
            <a:ext cx="8531351" cy="566927"/>
          </a:xfrm>
          <a:prstGeom prst="rect">
            <a:avLst/>
          </a:prstGeom>
          <a:noFill/>
        </p:spPr>
        <p:txBody>
          <a:bodyPr wrap="square" lIns="0" tIns="0" r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中小企業のM&amp;A実務では、客観性が高く当事者間で検証しやすいコストアプローチ（時価純資産＋営業権法）が広く用いられています。本書でも同手法を主たる手法とし、マーケットアプローチによる試算結果を参考値として併記しています。</a:t>
            </a:r>
          </a:p>
        </p:txBody>
      </p:sp>
      <p:sp>
        <p:nvSpPr>
          <p:cNvPr id="24" name="TextBox 23"/>
          <p:cNvSpPr txBox="1"/>
          <p:nvPr/>
        </p:nvSpPr>
        <p:spPr>
          <a:xfrm>
            <a:off x="310896" y="6656832"/>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上記は一般的な評価手法の整理であり、実際の譲渡価格は売主・買主の協議により決定されます。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［Appendix］株式価値の考え方</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事業価値・企業価値・株式価値の関係</a:t>
            </a:r>
          </a:p>
        </p:txBody>
      </p:sp>
      <p:sp>
        <p:nvSpPr>
          <p:cNvPr id="19" name="Rectangle 18"/>
          <p:cNvSpPr/>
          <p:nvPr/>
        </p:nvSpPr>
        <p:spPr>
          <a:xfrm>
            <a:off x="548640"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48640"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94944"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① 事業価値</a:t>
            </a:r>
          </a:p>
        </p:txBody>
      </p:sp>
      <p:sp>
        <p:nvSpPr>
          <p:cNvPr id="22" name="TextBox 21"/>
          <p:cNvSpPr txBox="1"/>
          <p:nvPr/>
        </p:nvSpPr>
        <p:spPr>
          <a:xfrm>
            <a:off x="694944"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事業そのものが生み出す価値。</a:t>
            </a:r>
          </a:p>
          <a:p>
            <a:pPr algn="l">
              <a:lnSpc>
                <a:spcPct val="118000"/>
              </a:lnSpc>
              <a:spcAft>
                <a:spcPts val="100"/>
              </a:spcAft>
            </a:pPr>
            <a:r>
              <a:rPr sz="830" b="0">
                <a:solidFill>
                  <a:srgbClr val="5A6670"/>
                </a:solidFill>
                <a:latin typeface="游ゴシック"/>
                <a:ea typeface="游ゴシック"/>
                <a:cs typeface="游ゴシック"/>
              </a:rPr>
              <a:t>正常収益力（修正後EBITDA等）に</a:t>
            </a:r>
          </a:p>
          <a:p>
            <a:pPr algn="l">
              <a:lnSpc>
                <a:spcPct val="118000"/>
              </a:lnSpc>
              <a:spcAft>
                <a:spcPts val="100"/>
              </a:spcAft>
            </a:pPr>
            <a:r>
              <a:rPr sz="830" b="0">
                <a:solidFill>
                  <a:srgbClr val="5A6670"/>
                </a:solidFill>
                <a:latin typeface="游ゴシック"/>
                <a:ea typeface="游ゴシック"/>
                <a:cs typeface="游ゴシック"/>
              </a:rPr>
              <a:t>倍率を乗じて算定する。</a:t>
            </a:r>
          </a:p>
        </p:txBody>
      </p:sp>
      <p:sp>
        <p:nvSpPr>
          <p:cNvPr id="23" name="TextBox 22"/>
          <p:cNvSpPr txBox="1"/>
          <p:nvPr/>
        </p:nvSpPr>
        <p:spPr>
          <a:xfrm>
            <a:off x="2761488"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24" name="Rectangle 23"/>
          <p:cNvSpPr/>
          <p:nvPr/>
        </p:nvSpPr>
        <p:spPr>
          <a:xfrm>
            <a:off x="3163824"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163824"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3310128"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② 非事業用資産</a:t>
            </a:r>
          </a:p>
        </p:txBody>
      </p:sp>
      <p:sp>
        <p:nvSpPr>
          <p:cNvPr id="27" name="TextBox 26"/>
          <p:cNvSpPr txBox="1"/>
          <p:nvPr/>
        </p:nvSpPr>
        <p:spPr>
          <a:xfrm>
            <a:off x="3310128"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事業に使用していない資産。</a:t>
            </a:r>
          </a:p>
          <a:p>
            <a:pPr algn="l">
              <a:lnSpc>
                <a:spcPct val="118000"/>
              </a:lnSpc>
              <a:spcAft>
                <a:spcPts val="100"/>
              </a:spcAft>
            </a:pPr>
            <a:r>
              <a:rPr sz="830" b="0">
                <a:solidFill>
                  <a:srgbClr val="5A6670"/>
                </a:solidFill>
                <a:latin typeface="游ゴシック"/>
                <a:ea typeface="游ゴシック"/>
                <a:cs typeface="游ゴシック"/>
              </a:rPr>
              <a:t>遊休不動産・投資有価証券・</a:t>
            </a:r>
          </a:p>
          <a:p>
            <a:pPr algn="l">
              <a:lnSpc>
                <a:spcPct val="118000"/>
              </a:lnSpc>
              <a:spcAft>
                <a:spcPts val="100"/>
              </a:spcAft>
            </a:pPr>
            <a:r>
              <a:rPr sz="830" b="0">
                <a:solidFill>
                  <a:srgbClr val="5A6670"/>
                </a:solidFill>
                <a:latin typeface="游ゴシック"/>
                <a:ea typeface="游ゴシック"/>
                <a:cs typeface="游ゴシック"/>
              </a:rPr>
              <a:t>保険積立金など。</a:t>
            </a:r>
          </a:p>
        </p:txBody>
      </p:sp>
      <p:sp>
        <p:nvSpPr>
          <p:cNvPr id="28" name="TextBox 27"/>
          <p:cNvSpPr txBox="1"/>
          <p:nvPr/>
        </p:nvSpPr>
        <p:spPr>
          <a:xfrm>
            <a:off x="5376672"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29" name="Rectangle 28"/>
          <p:cNvSpPr/>
          <p:nvPr/>
        </p:nvSpPr>
        <p:spPr>
          <a:xfrm>
            <a:off x="5779007" y="1325880"/>
            <a:ext cx="2148840" cy="1335024"/>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5779007" y="1325880"/>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925312"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③ 企業価値（EV）</a:t>
            </a:r>
          </a:p>
        </p:txBody>
      </p:sp>
      <p:sp>
        <p:nvSpPr>
          <p:cNvPr id="32" name="TextBox 31"/>
          <p:cNvSpPr txBox="1"/>
          <p:nvPr/>
        </p:nvSpPr>
        <p:spPr>
          <a:xfrm>
            <a:off x="5925312"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①＋②。会社全体の価値であり、</a:t>
            </a:r>
          </a:p>
          <a:p>
            <a:pPr algn="l">
              <a:lnSpc>
                <a:spcPct val="118000"/>
              </a:lnSpc>
              <a:spcAft>
                <a:spcPts val="100"/>
              </a:spcAft>
            </a:pPr>
            <a:r>
              <a:rPr sz="830" b="0">
                <a:solidFill>
                  <a:srgbClr val="5A6670"/>
                </a:solidFill>
                <a:latin typeface="游ゴシック"/>
                <a:ea typeface="游ゴシック"/>
                <a:cs typeface="游ゴシック"/>
              </a:rPr>
              <a:t>債権者と株主の双方に</a:t>
            </a:r>
          </a:p>
          <a:p>
            <a:pPr algn="l">
              <a:lnSpc>
                <a:spcPct val="118000"/>
              </a:lnSpc>
              <a:spcAft>
                <a:spcPts val="100"/>
              </a:spcAft>
            </a:pPr>
            <a:r>
              <a:rPr sz="830" b="0">
                <a:solidFill>
                  <a:srgbClr val="5A6670"/>
                </a:solidFill>
                <a:latin typeface="游ゴシック"/>
                <a:ea typeface="游ゴシック"/>
                <a:cs typeface="游ゴシック"/>
              </a:rPr>
              <a:t>帰属する価値。</a:t>
            </a:r>
          </a:p>
        </p:txBody>
      </p:sp>
      <p:sp>
        <p:nvSpPr>
          <p:cNvPr id="33" name="TextBox 32"/>
          <p:cNvSpPr txBox="1"/>
          <p:nvPr/>
        </p:nvSpPr>
        <p:spPr>
          <a:xfrm>
            <a:off x="7991856"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34" name="Rectangle 33"/>
          <p:cNvSpPr/>
          <p:nvPr/>
        </p:nvSpPr>
        <p:spPr>
          <a:xfrm>
            <a:off x="8394192" y="1325880"/>
            <a:ext cx="1956816"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8394192"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8540496" y="1417320"/>
            <a:ext cx="1682496"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④ ネットデット</a:t>
            </a:r>
          </a:p>
        </p:txBody>
      </p:sp>
      <p:sp>
        <p:nvSpPr>
          <p:cNvPr id="37" name="TextBox 36"/>
          <p:cNvSpPr txBox="1"/>
          <p:nvPr/>
        </p:nvSpPr>
        <p:spPr>
          <a:xfrm>
            <a:off x="8540496" y="1691640"/>
            <a:ext cx="1682496"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有利子負債 － 現預金。</a:t>
            </a:r>
          </a:p>
          <a:p>
            <a:pPr algn="l">
              <a:lnSpc>
                <a:spcPct val="118000"/>
              </a:lnSpc>
              <a:spcAft>
                <a:spcPts val="100"/>
              </a:spcAft>
            </a:pPr>
            <a:r>
              <a:rPr sz="830" b="0">
                <a:solidFill>
                  <a:srgbClr val="5A6670"/>
                </a:solidFill>
                <a:latin typeface="游ゴシック"/>
                <a:ea typeface="游ゴシック"/>
                <a:cs typeface="游ゴシック"/>
              </a:rPr>
              <a:t>マイナス（ネットキャッシュ）の</a:t>
            </a:r>
          </a:p>
          <a:p>
            <a:pPr algn="l">
              <a:lnSpc>
                <a:spcPct val="118000"/>
              </a:lnSpc>
              <a:spcAft>
                <a:spcPts val="100"/>
              </a:spcAft>
            </a:pPr>
            <a:r>
              <a:rPr sz="830" b="0">
                <a:solidFill>
                  <a:srgbClr val="5A6670"/>
                </a:solidFill>
                <a:latin typeface="游ゴシック"/>
                <a:ea typeface="游ゴシック"/>
                <a:cs typeface="游ゴシック"/>
              </a:rPr>
              <a:t>場合は加算する。</a:t>
            </a:r>
          </a:p>
        </p:txBody>
      </p:sp>
      <p:sp>
        <p:nvSpPr>
          <p:cNvPr id="38" name="Rectangle 37"/>
          <p:cNvSpPr/>
          <p:nvPr/>
        </p:nvSpPr>
        <p:spPr>
          <a:xfrm>
            <a:off x="548640" y="2933395"/>
            <a:ext cx="980236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3291840" y="3054096"/>
            <a:ext cx="3840480"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1">
                <a:solidFill>
                  <a:srgbClr val="FFFFFF"/>
                </a:solidFill>
                <a:latin typeface="游ゴシック"/>
                <a:ea typeface="游ゴシック"/>
                <a:cs typeface="游ゴシック"/>
              </a:rPr>
              <a:t>株式価値 ＝ ③ 企業価値 － ④ ネットデット</a:t>
            </a:r>
          </a:p>
        </p:txBody>
      </p:sp>
      <p:sp>
        <p:nvSpPr>
          <p:cNvPr id="40" name="Rectangle 39"/>
          <p:cNvSpPr/>
          <p:nvPr/>
        </p:nvSpPr>
        <p:spPr>
          <a:xfrm>
            <a:off x="338328" y="373075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株式価値を読むうえでの留意点</a:t>
            </a:r>
          </a:p>
        </p:txBody>
      </p:sp>
      <p:graphicFrame>
        <p:nvGraphicFramePr>
          <p:cNvPr id="41" name="Table 40"/>
          <p:cNvGraphicFramePr>
            <a:graphicFrameLocks noGrp="1"/>
          </p:cNvGraphicFramePr>
          <p:nvPr/>
        </p:nvGraphicFramePr>
        <p:xfrm>
          <a:off x="338328" y="4041648"/>
          <a:ext cx="10012680" cy="2523744"/>
        </p:xfrm>
        <a:graphic>
          <a:graphicData uri="http://schemas.openxmlformats.org/drawingml/2006/table">
            <a:tbl>
              <a:tblPr>
                <a:tableStyleId>{5940675A-B579-460E-94D1-54222C63F5DA}</a:tableStyleId>
              </a:tblPr>
              <a:tblGrid>
                <a:gridCol w="1938528">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256032">
                <a:tc>
                  <a:txBody>
                    <a:bodyPr/>
                    <a:lstStyle/>
                    <a:p>
                      <a:pPr algn="ctr">
                        <a:spcAft>
                          <a:spcPts val="0"/>
                        </a:spcAft>
                      </a:pPr>
                      <a:r>
                        <a:rPr sz="919" b="1">
                          <a:solidFill>
                            <a:srgbClr val="FFFFFF"/>
                          </a:solidFill>
                          <a:latin typeface="游ゴシック"/>
                          <a:ea typeface="游ゴシック"/>
                          <a:cs typeface="游ゴシック"/>
                        </a:rPr>
                        <a:t>論点</a:t>
                      </a:r>
                    </a:p>
                  </a:txBody>
                  <a:tcPr marL="45720" marR="45720" marT="9144" marB="9144" anchor="ctr">
                    <a:solidFill>
                      <a:srgbClr val="0B3041"/>
                    </a:solidFill>
                  </a:tcPr>
                </a:tc>
                <a:tc>
                  <a:txBody>
                    <a:bodyPr/>
                    <a:lstStyle/>
                    <a:p>
                      <a:pPr algn="ctr">
                        <a:spcAft>
                          <a:spcPts val="0"/>
                        </a:spcAft>
                      </a:pPr>
                      <a:r>
                        <a:rPr sz="919"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566928">
                <a:tc>
                  <a:txBody>
                    <a:bodyPr/>
                    <a:lstStyle/>
                    <a:p>
                      <a:pPr algn="l">
                        <a:spcAft>
                          <a:spcPts val="0"/>
                        </a:spcAft>
                      </a:pPr>
                      <a:r>
                        <a:rPr sz="919" b="0">
                          <a:solidFill>
                            <a:srgbClr val="1A1A1A"/>
                          </a:solidFill>
                          <a:latin typeface="游ゴシック"/>
                          <a:ea typeface="游ゴシック"/>
                          <a:cs typeface="游ゴシック"/>
                        </a:rPr>
                        <a:t>譲渡対価との関係</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株式価値は譲渡対価の目安であり、実際の価格は売主・買主の交渉により決定される。シナジーを見込む買手が現れた場合、試算結果を上回る価格となることもある。</a:t>
                      </a:r>
                    </a:p>
                  </a:txBody>
                  <a:tcPr marL="45720" marR="45720" marT="9144" marB="9144" anchor="ctr">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919" b="0">
                          <a:solidFill>
                            <a:srgbClr val="1A1A1A"/>
                          </a:solidFill>
                          <a:latin typeface="游ゴシック"/>
                          <a:ea typeface="游ゴシック"/>
                          <a:cs typeface="游ゴシック"/>
                        </a:rPr>
                        <a:t>役員借入金の取扱い</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代表者等からの借入金は法形式上は負債であり、株式価値の算定では控除される。一方で実質的に資本に近い性格を持つため、債務免除や譲渡対価との相殺による整理を前提とすると株式価値は大きく変わる。</a:t>
                      </a:r>
                    </a:p>
                  </a:txBody>
                  <a:tcPr marL="45720" marR="45720" marT="9144" marB="9144" anchor="ctr">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919" b="0">
                          <a:solidFill>
                            <a:srgbClr val="1A1A1A"/>
                          </a:solidFill>
                          <a:latin typeface="游ゴシック"/>
                          <a:ea typeface="游ゴシック"/>
                          <a:cs typeface="游ゴシック"/>
                        </a:rPr>
                        <a:t>役員退職慰労金</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譲渡に際して役員退職慰労金を支給する場合、純資産が減少するため株式価値は減少する。一方で売主にとっては所得税法上有利となる場合があり、譲渡所得との総額で比較検討する必要がある。</a:t>
                      </a:r>
                    </a:p>
                  </a:txBody>
                  <a:tcPr marL="45720" marR="45720" marT="9144" marB="9144" anchor="ctr">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919" b="0">
                          <a:solidFill>
                            <a:srgbClr val="1A1A1A"/>
                          </a:solidFill>
                          <a:latin typeface="游ゴシック"/>
                          <a:ea typeface="游ゴシック"/>
                          <a:cs typeface="游ゴシック"/>
                        </a:rPr>
                        <a:t>非流動性ディスカウント</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非上場株式には市場性がないため、上場会社の株価倍率を用いる場合は30％程度のディスカウントを行うのが一般的である。</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42" name="TextBox 41"/>
          <p:cNvSpPr txBox="1"/>
          <p:nvPr/>
        </p:nvSpPr>
        <p:spPr>
          <a:xfrm>
            <a:off x="310896" y="6656832"/>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本頁は一般的な考え方の整理であり、本件固有の前提は本編各頁に記載しています。</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7343</TotalTime>
  <Words>2834</Words>
  <Application>Microsoft Office PowerPoint</Application>
  <PresentationFormat>ユーザー設定</PresentationFormat>
  <Paragraphs>640</Paragraphs>
  <Slides>26</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26</vt:i4>
      </vt:variant>
    </vt:vector>
  </HeadingPairs>
  <TitlesOfParts>
    <vt:vector size="30" baseType="lpstr">
      <vt:lpstr>Meiryo UI</vt:lpstr>
      <vt:lpstr>游ゴシック</vt:lpstr>
      <vt:lpstr>Arial</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過去SGAの推移</vt:lpstr>
      <vt:lpstr>過去CR（製造原価報告書）の推移</vt:lpstr>
      <vt:lpstr>修正PLの算定［正常収益力の集計］</vt:lpstr>
      <vt:lpstr>Valuation Details ／ 株式価値の試算</vt:lpstr>
      <vt:lpstr>年買法（コストアプローチ）による算出</vt:lpstr>
      <vt:lpstr>EV/EBITDAマルチプル法（マーケットアプローチ）による算出</vt:lpstr>
      <vt:lpstr>役員借入金の取扱いと株式価値への影響</vt:lpstr>
      <vt:lpstr>［Appendix］評価手法について</vt:lpstr>
      <vt:lpstr>［Appendix］株式価値の考え方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128</cp:revision>
  <cp:lastPrinted>2026-07-29T02:36:09Z</cp:lastPrinted>
  <dcterms:created xsi:type="dcterms:W3CDTF">2025-11-26T06:32:54Z</dcterms:created>
  <dcterms:modified xsi:type="dcterms:W3CDTF">2026-10-21T04:00:13Z</dcterms:modified>
</cp:coreProperties>
</file>