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28"/>
  </p:notesMasterIdLst>
  <p:sldIdLst>
    <p:sldId id="256" r:id="rId2"/>
    <p:sldId id="257" r:id="rId3"/>
    <p:sldId id="290" r:id="rId4"/>
    <p:sldId id="314" r:id="rId5"/>
    <p:sldId id="259" r:id="rId6"/>
    <p:sldId id="295" r:id="rId7"/>
    <p:sldId id="315" r:id="rId8"/>
    <p:sldId id="262" r:id="rId9"/>
    <p:sldId id="263" r:id="rId10"/>
    <p:sldId id="264" r:id="rId11"/>
    <p:sldId id="317" r:id="rId12"/>
    <p:sldId id="318" r:id="rId13"/>
    <p:sldId id="319" r:id="rId14"/>
    <p:sldId id="309" r:id="rId15"/>
    <p:sldId id="310" r:id="rId16"/>
    <p:sldId id="282" r:id="rId17"/>
    <p:sldId id="324" r:id="rId18"/>
    <p:sldId id="327" r:id="rId34"/>
    <p:sldId id="325" r:id="rId19"/>
    <p:sldId id="326" r:id="rId33"/>
    <p:sldId id="299" r:id="rId20"/>
    <p:sldId id="287" r:id="rId21"/>
    <p:sldId id="320" r:id="rId22"/>
    <p:sldId id="312" r:id="rId23"/>
    <p:sldId id="321" r:id="rId24"/>
    <p:sldId id="322" r:id="rId25"/>
    <p:sldId id="323" r:id="rId26"/>
    <p:sldId id="277" r:id="rId27"/>
  </p:sldIdLst>
  <p:sldSz cx="10691813" cy="7559675"/>
  <p:notesSz cx="6794500" cy="9931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35" userDrawn="1">
          <p15:clr>
            <a:srgbClr val="A4A3A4"/>
          </p15:clr>
        </p15:guide>
        <p15:guide id="2" pos="334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150" autoAdjust="0"/>
    <p:restoredTop sz="75000" autoAdjust="0"/>
  </p:normalViewPr>
  <p:slideViewPr>
    <p:cSldViewPr snapToGrid="0">
      <p:cViewPr>
        <p:scale>
          <a:sx n="100" d="100"/>
          <a:sy n="100" d="100"/>
        </p:scale>
        <p:origin x="1776" y="-48"/>
      </p:cViewPr>
      <p:guideLst>
        <p:guide orient="horz" pos="635"/>
        <p:guide pos="3345"/>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28.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48645" y="0"/>
            <a:ext cx="2944283" cy="498295"/>
          </a:xfrm>
          <a:prstGeom prst="rect">
            <a:avLst/>
          </a:prstGeom>
        </p:spPr>
        <p:txBody>
          <a:bodyPr vert="horz" lIns="91440" tIns="45720" rIns="91440" bIns="45720" rtlCol="0"/>
          <a:lstStyle>
            <a:lvl1pPr algn="r">
              <a:defRPr sz="1200"/>
            </a:lvl1pPr>
          </a:lstStyle>
          <a:p>
            <a:fld id="{5E719245-6B48-4D9E-9EED-FA258D3B0C86}" type="datetimeFigureOut">
              <a:rPr kumimoji="1" lang="ja-JP" altLang="en-US" smtClean="0"/>
              <a:t>2026/10/21</a:t>
            </a:fld>
            <a:endParaRPr kumimoji="1" lang="ja-JP" altLang="en-US"/>
          </a:p>
        </p:txBody>
      </p:sp>
      <p:sp>
        <p:nvSpPr>
          <p:cNvPr id="4" name="スライド イメージ プレースホルダー 3"/>
          <p:cNvSpPr>
            <a:spLocks noGrp="1" noRot="1" noChangeAspect="1"/>
          </p:cNvSpPr>
          <p:nvPr>
            <p:ph type="sldImg" idx="2"/>
          </p:nvPr>
        </p:nvSpPr>
        <p:spPr>
          <a:xfrm>
            <a:off x="1028700" y="1241425"/>
            <a:ext cx="4737100" cy="335121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450" y="4779486"/>
            <a:ext cx="5435600" cy="3910489"/>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48645" y="9433107"/>
            <a:ext cx="2944283" cy="498294"/>
          </a:xfrm>
          <a:prstGeom prst="rect">
            <a:avLst/>
          </a:prstGeom>
        </p:spPr>
        <p:txBody>
          <a:bodyPr vert="horz" lIns="91440" tIns="45720" rIns="91440" bIns="45720" rtlCol="0" anchor="b"/>
          <a:lstStyle>
            <a:lvl1pPr algn="r">
              <a:defRPr sz="1200"/>
            </a:lvl1pPr>
          </a:lstStyle>
          <a:p>
            <a:fld id="{CCD08276-B047-45AB-869B-6FEE4FD0AA7E}" type="slidenum">
              <a:rPr kumimoji="1" lang="ja-JP" altLang="en-US" smtClean="0"/>
              <a:t>‹#›</a:t>
            </a:fld>
            <a:endParaRPr kumimoji="1" lang="ja-JP" altLang="en-US"/>
          </a:p>
        </p:txBody>
      </p:sp>
    </p:spTree>
    <p:extLst>
      <p:ext uri="{BB962C8B-B14F-4D97-AF65-F5344CB8AC3E}">
        <p14:creationId xmlns:p14="http://schemas.microsoft.com/office/powerpoint/2010/main" val="1234540164"/>
      </p:ext>
    </p:extLst>
  </p:cSld>
  <p:clrMap bg1="lt1" tx1="dk1" bg2="lt2" tx2="dk2" accent1="accent1" accent2="accent2" accent3="accent3" accent4="accent4" accent5="accent5" accent6="accent6" hlink="hlink" folHlink="folHlink"/>
  <p:notesStyle>
    <a:lvl1pPr marL="0" algn="l" defTabSz="1042873" rtl="0" eaLnBrk="1" latinLnBrk="0" hangingPunct="1">
      <a:defRPr kumimoji="1" sz="1369" kern="1200">
        <a:solidFill>
          <a:schemeClr val="tx1"/>
        </a:solidFill>
        <a:latin typeface="+mn-lt"/>
        <a:ea typeface="+mn-ea"/>
        <a:cs typeface="+mn-cs"/>
      </a:defRPr>
    </a:lvl1pPr>
    <a:lvl2pPr marL="521437" algn="l" defTabSz="1042873" rtl="0" eaLnBrk="1" latinLnBrk="0" hangingPunct="1">
      <a:defRPr kumimoji="1" sz="1369" kern="1200">
        <a:solidFill>
          <a:schemeClr val="tx1"/>
        </a:solidFill>
        <a:latin typeface="+mn-lt"/>
        <a:ea typeface="+mn-ea"/>
        <a:cs typeface="+mn-cs"/>
      </a:defRPr>
    </a:lvl2pPr>
    <a:lvl3pPr marL="1042873" algn="l" defTabSz="1042873" rtl="0" eaLnBrk="1" latinLnBrk="0" hangingPunct="1">
      <a:defRPr kumimoji="1" sz="1369" kern="1200">
        <a:solidFill>
          <a:schemeClr val="tx1"/>
        </a:solidFill>
        <a:latin typeface="+mn-lt"/>
        <a:ea typeface="+mn-ea"/>
        <a:cs typeface="+mn-cs"/>
      </a:defRPr>
    </a:lvl3pPr>
    <a:lvl4pPr marL="1564310" algn="l" defTabSz="1042873" rtl="0" eaLnBrk="1" latinLnBrk="0" hangingPunct="1">
      <a:defRPr kumimoji="1" sz="1369" kern="1200">
        <a:solidFill>
          <a:schemeClr val="tx1"/>
        </a:solidFill>
        <a:latin typeface="+mn-lt"/>
        <a:ea typeface="+mn-ea"/>
        <a:cs typeface="+mn-cs"/>
      </a:defRPr>
    </a:lvl4pPr>
    <a:lvl5pPr marL="2085746" algn="l" defTabSz="1042873" rtl="0" eaLnBrk="1" latinLnBrk="0" hangingPunct="1">
      <a:defRPr kumimoji="1" sz="1369" kern="1200">
        <a:solidFill>
          <a:schemeClr val="tx1"/>
        </a:solidFill>
        <a:latin typeface="+mn-lt"/>
        <a:ea typeface="+mn-ea"/>
        <a:cs typeface="+mn-cs"/>
      </a:defRPr>
    </a:lvl5pPr>
    <a:lvl6pPr marL="2607183" algn="l" defTabSz="1042873" rtl="0" eaLnBrk="1" latinLnBrk="0" hangingPunct="1">
      <a:defRPr kumimoji="1" sz="1369" kern="1200">
        <a:solidFill>
          <a:schemeClr val="tx1"/>
        </a:solidFill>
        <a:latin typeface="+mn-lt"/>
        <a:ea typeface="+mn-ea"/>
        <a:cs typeface="+mn-cs"/>
      </a:defRPr>
    </a:lvl6pPr>
    <a:lvl7pPr marL="3128620" algn="l" defTabSz="1042873" rtl="0" eaLnBrk="1" latinLnBrk="0" hangingPunct="1">
      <a:defRPr kumimoji="1" sz="1369" kern="1200">
        <a:solidFill>
          <a:schemeClr val="tx1"/>
        </a:solidFill>
        <a:latin typeface="+mn-lt"/>
        <a:ea typeface="+mn-ea"/>
        <a:cs typeface="+mn-cs"/>
      </a:defRPr>
    </a:lvl7pPr>
    <a:lvl8pPr marL="3650056" algn="l" defTabSz="1042873" rtl="0" eaLnBrk="1" latinLnBrk="0" hangingPunct="1">
      <a:defRPr kumimoji="1" sz="1369" kern="1200">
        <a:solidFill>
          <a:schemeClr val="tx1"/>
        </a:solidFill>
        <a:latin typeface="+mn-lt"/>
        <a:ea typeface="+mn-ea"/>
        <a:cs typeface="+mn-cs"/>
      </a:defRPr>
    </a:lvl8pPr>
    <a:lvl9pPr marL="4171493" algn="l" defTabSz="1042873" rtl="0" eaLnBrk="1" latinLnBrk="0" hangingPunct="1">
      <a:defRPr kumimoji="1"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2373442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2</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49E3F-7139-D801-6405-856863FC06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DBFDA3-D264-0383-7900-345B5B3B56A7}"/>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EC6E1337-5507-C2F6-0F8C-87C4AC26C0AC}"/>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BC0F35DD-7D73-1125-F6E1-E3965E28DE7C}"/>
              </a:ext>
            </a:extLst>
          </p:cNvPr>
          <p:cNvSpPr>
            <a:spLocks noGrp="1"/>
          </p:cNvSpPr>
          <p:nvPr>
            <p:ph type="sldNum" sz="quarter" idx="5"/>
          </p:nvPr>
        </p:nvSpPr>
        <p:spPr/>
        <p:txBody>
          <a:bodyPr/>
          <a:lstStyle/>
          <a:p>
            <a:fld id="{CCD08276-B047-45AB-869B-6FEE4FD0AA7E}" type="slidenum">
              <a:rPr kumimoji="1" lang="ja-JP" altLang="en-US" smtClean="0"/>
              <a:t>3</a:t>
            </a:fld>
            <a:endParaRPr kumimoji="1" lang="ja-JP" altLang="en-US"/>
          </a:p>
        </p:txBody>
      </p:sp>
    </p:spTree>
    <p:extLst>
      <p:ext uri="{BB962C8B-B14F-4D97-AF65-F5344CB8AC3E}">
        <p14:creationId xmlns:p14="http://schemas.microsoft.com/office/powerpoint/2010/main" val="3658020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3: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3: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192" name="Google Shape;192;p3: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AF929-C853-B63F-7A81-878CD012E2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9FE65EB-FC45-F115-A953-E456E1A9B152}"/>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A742DFA8-F037-213C-7D7D-423295DEBEAD}"/>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7138E276-27EB-6F25-5A7A-74C8CC8E81F2}"/>
              </a:ext>
            </a:extLst>
          </p:cNvPr>
          <p:cNvSpPr>
            <a:spLocks noGrp="1"/>
          </p:cNvSpPr>
          <p:nvPr>
            <p:ph type="sldNum" sz="quarter" idx="5"/>
          </p:nvPr>
        </p:nvSpPr>
        <p:spPr/>
        <p:txBody>
          <a:bodyPr/>
          <a:lstStyle/>
          <a:p>
            <a:fld id="{CCD08276-B047-45AB-869B-6FEE4FD0AA7E}" type="slidenum">
              <a:rPr kumimoji="1" lang="ja-JP" altLang="en-US" smtClean="0"/>
              <a:t>6</a:t>
            </a:fld>
            <a:endParaRPr kumimoji="1" lang="ja-JP" altLang="en-US"/>
          </a:p>
        </p:txBody>
      </p:sp>
    </p:spTree>
    <p:extLst>
      <p:ext uri="{BB962C8B-B14F-4D97-AF65-F5344CB8AC3E}">
        <p14:creationId xmlns:p14="http://schemas.microsoft.com/office/powerpoint/2010/main" val="55174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767E3-E20D-C509-6096-3F8BA55762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13D625-8F3E-2CDF-E22F-DAABBF281649}"/>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9B3D2D6A-0AEA-F151-2BFE-9C80597640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a:extLst>
              <a:ext uri="{FF2B5EF4-FFF2-40B4-BE49-F238E27FC236}">
                <a16:creationId xmlns:a16="http://schemas.microsoft.com/office/drawing/2014/main" id="{84478388-9ECF-D759-1C81-F7248689CBD8}"/>
              </a:ext>
            </a:extLst>
          </p:cNvPr>
          <p:cNvSpPr>
            <a:spLocks noGrp="1"/>
          </p:cNvSpPr>
          <p:nvPr>
            <p:ph type="sldNum" sz="quarter" idx="5"/>
          </p:nvPr>
        </p:nvSpPr>
        <p:spPr/>
        <p:txBody>
          <a:bodyPr/>
          <a:lstStyle/>
          <a:p>
            <a:fld id="{CCD08276-B047-45AB-869B-6FEE4FD0AA7E}" type="slidenum">
              <a:rPr kumimoji="1" lang="ja-JP" altLang="en-US" smtClean="0"/>
              <a:t>7</a:t>
            </a:fld>
            <a:endParaRPr kumimoji="1" lang="ja-JP" altLang="en-US"/>
          </a:p>
        </p:txBody>
      </p:sp>
    </p:spTree>
    <p:extLst>
      <p:ext uri="{BB962C8B-B14F-4D97-AF65-F5344CB8AC3E}">
        <p14:creationId xmlns:p14="http://schemas.microsoft.com/office/powerpoint/2010/main" val="160967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9</a:t>
            </a:fld>
            <a:endParaRPr kumimoji="1" lang="ja-JP" altLang="en-US"/>
          </a:p>
        </p:txBody>
      </p:sp>
    </p:spTree>
    <p:extLst>
      <p:ext uri="{BB962C8B-B14F-4D97-AF65-F5344CB8AC3E}">
        <p14:creationId xmlns:p14="http://schemas.microsoft.com/office/powerpoint/2010/main" val="406546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19</a:t>
            </a:fld>
            <a:endParaRPr kumimoji="1" lang="ja-JP" altLang="en-US"/>
          </a:p>
        </p:txBody>
      </p:sp>
    </p:spTree>
    <p:extLst>
      <p:ext uri="{BB962C8B-B14F-4D97-AF65-F5344CB8AC3E}">
        <p14:creationId xmlns:p14="http://schemas.microsoft.com/office/powerpoint/2010/main" val="18242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826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169804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984386"/>
            <a:chOff x="887069" y="3420377"/>
            <a:chExt cx="3420000" cy="984386"/>
          </a:xfrm>
        </p:grpSpPr>
        <p:sp>
          <p:nvSpPr>
            <p:cNvPr id="8" name="Google Shape;261;p2">
              <a:extLst>
                <a:ext uri="{FF2B5EF4-FFF2-40B4-BE49-F238E27FC236}">
                  <a16:creationId xmlns:a16="http://schemas.microsoft.com/office/drawing/2014/main" id="{749E3869-09D9-C379-3B1A-E14B89FDBC05}"/>
                </a:ext>
              </a:extLst>
            </p:cNvPr>
            <p:cNvSpPr txBox="1"/>
            <p:nvPr/>
          </p:nvSpPr>
          <p:spPr>
            <a:xfrm>
              <a:off x="1085069" y="4238564"/>
              <a:ext cx="3024000" cy="166199"/>
            </a:xfrm>
            <a:prstGeom prst="rect">
              <a:avLst/>
            </a:prstGeom>
            <a:noFill/>
            <a:ln>
              <a:noFill/>
            </a:ln>
          </p:spPr>
          <p:txBody>
            <a:bodyPr spcFirstLastPara="1" wrap="square" lIns="0" tIns="0" rIns="0" bIns="0" anchor="t" anchorCtr="0">
              <a:spAutoFit/>
            </a:bodyPr>
            <a:lstStyle/>
            <a:p>
              <a:pPr marL="103241" algn="ctr">
                <a:lnSpc>
                  <a:spcPct val="90000"/>
                </a:lnSpc>
                <a:buClr>
                  <a:schemeClr val="dk1"/>
                </a:buClr>
                <a:buSzPts val="1400"/>
              </a:pPr>
              <a:r>
                <a:rPr lang="ja-JP" altLang="en-US" sz="1200" b="1" dirty="0">
                  <a:solidFill>
                    <a:schemeClr val="dk1"/>
                  </a:solidFill>
                  <a:latin typeface="+mj-ea"/>
                  <a:ea typeface="+mj-ea"/>
                </a:rPr>
                <a:t>ミーティングアジェンダ</a:t>
              </a:r>
              <a:endParaRPr sz="1200" b="1" dirty="0">
                <a:latin typeface="+mj-ea"/>
                <a:ea typeface="+mj-ea"/>
              </a:endParaRPr>
            </a:p>
          </p:txBody>
        </p:sp>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en-US" altLang="ja-JP" sz="3200" b="1" i="0" dirty="0">
                  <a:solidFill>
                    <a:srgbClr val="1F1F1F"/>
                  </a:solidFill>
                  <a:effectLst/>
                  <a:latin typeface="+mj-lt"/>
                </a:rPr>
                <a:t>Meeting Agenda</a:t>
              </a:r>
              <a:endParaRPr lang="ja-JP" altLang="en-US" sz="3200" b="1" dirty="0">
                <a:latin typeface="+mj-lt"/>
              </a:endParaRP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65997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2900326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3552754477"/>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81400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8.emf"/><Relationship Id="rId4" Type="http://schemas.openxmlformats.org/officeDocument/2006/relationships/image" Target="../media/image9.emf"/><Relationship Id="rId5" Type="http://schemas.openxmlformats.org/officeDocument/2006/relationships/image" Target="../media/image10.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emf"/><Relationship Id="rId3" Type="http://schemas.openxmlformats.org/officeDocument/2006/relationships/image" Target="../media/image13.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jpeg"/><Relationship Id="rId3" Type="http://schemas.openxmlformats.org/officeDocument/2006/relationships/image" Target="../media/image7.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D987C9A9-7152-3DD4-F23C-48E1B5BABCAA}"/>
              </a:ext>
            </a:extLst>
          </p:cNvPr>
          <p:cNvSpPr>
            <a:spLocks noGrp="1"/>
          </p:cNvSpPr>
          <p:nvPr>
            <p:ph type="title"/>
          </p:nvPr>
        </p:nvSpPr>
        <p:spPr>
          <a:xfrm>
            <a:off x="885526" y="3467606"/>
            <a:ext cx="9221787" cy="738664"/>
          </a:xfrm>
        </p:spPr>
        <p:txBody>
          <a:bodyPr/>
          <a:lstStyle/>
          <a:p>
            <a:r>
              <a:rPr lang="en-US" altLang="ja-JP" dirty="0">
                <a:solidFill/>
              </a:rPr>
              <a:t>Valuation</a:t>
            </a:r>
            <a:r>
              <a:rPr lang="ja-JP" altLang="en-US" dirty="0">
                <a:solidFill/>
              </a:rPr>
              <a:t> </a:t>
            </a:r>
            <a:r>
              <a:rPr lang="en-US" altLang="ja-JP" dirty="0">
                <a:solidFill/>
              </a:rPr>
              <a:t>Report</a:t>
            </a:r>
            <a:endParaRPr lang="ja-JP" altLang="en-US" dirty="0"/>
          </a:p>
        </p:txBody>
      </p:sp>
      <p:sp>
        <p:nvSpPr>
          <p:cNvPr id="3" name="テキスト ボックス 2">
            <a:extLst>
              <a:ext uri="{FF2B5EF4-FFF2-40B4-BE49-F238E27FC236}">
                <a16:creationId xmlns:a16="http://schemas.microsoft.com/office/drawing/2014/main" id="{C2CE6D41-E85A-5C3B-AEBD-17BCB7C688FB}"/>
              </a:ext>
            </a:extLst>
          </p:cNvPr>
          <p:cNvSpPr txBox="1"/>
          <p:nvPr/>
        </p:nvSpPr>
        <p:spPr>
          <a:xfrm>
            <a:off x="857354" y="2606111"/>
            <a:ext cx="2192908" cy="276999"/>
          </a:xfrm>
          <a:prstGeom prst="rect">
            <a:avLst/>
          </a:prstGeom>
          <a:noFill/>
        </p:spPr>
        <p:txBody>
          <a:bodyPr wrap="none" lIns="0" tIns="0" rIns="0" bIns="0" rtlCol="0">
            <a:spAutoFit/>
          </a:bodyPr>
          <a:lstStyle/>
          <a:p>
            <a:r>
              <a:rPr>
                <a:latin typeface="游ゴシック"/>
                <a:ea typeface="游ゴシック"/>
                <a:cs typeface="游ゴシック"/>
              </a:rPr>
              <a:t>株式会社慈久庵　御中</a:t>
            </a:r>
            <a:endParaRPr kumimoji="1" lang="ja-JP" altLang="en-US" b="1" spc="100" dirty="0">
              <a:latin typeface="+mj-lt"/>
              <a:ea typeface="+mj-ea"/>
            </a:endParaRPr>
          </a:p>
        </p:txBody>
      </p:sp>
      <p:sp>
        <p:nvSpPr>
          <p:cNvPr id="11" name="テキスト ボックス 10">
            <a:extLst>
              <a:ext uri="{FF2B5EF4-FFF2-40B4-BE49-F238E27FC236}">
                <a16:creationId xmlns:a16="http://schemas.microsoft.com/office/drawing/2014/main" id="{B8E93A22-E152-6430-ED5D-2758EDBEA463}"/>
              </a:ext>
            </a:extLst>
          </p:cNvPr>
          <p:cNvSpPr txBox="1"/>
          <p:nvPr/>
        </p:nvSpPr>
        <p:spPr>
          <a:xfrm>
            <a:off x="988426" y="4757212"/>
            <a:ext cx="1718419" cy="276999"/>
          </a:xfrm>
          <a:prstGeom prst="rect">
            <a:avLst/>
          </a:prstGeom>
          <a:noFill/>
        </p:spPr>
        <p:txBody>
          <a:bodyPr wrap="none" lIns="0" tIns="0" rIns="0" bIns="0" rtlCol="0" anchor="ctr">
            <a:spAutoFit/>
          </a:bodyPr>
          <a:lstStyle/>
          <a:p>
            <a:pPr defTabSz="503972">
              <a:defRPr/>
            </a:pPr>
            <a:r>
              <a:rPr dirty="0">
                <a:latin typeface="游ゴシック"/>
                <a:ea typeface="游ゴシック"/>
                <a:cs typeface="游ゴシック"/>
              </a:rPr>
              <a:t>2026年10月</a:t>
            </a:r>
            <a:r>
              <a:rPr lang="en-US" dirty="0">
                <a:latin typeface="游ゴシック"/>
                <a:ea typeface="游ゴシック"/>
                <a:cs typeface="游ゴシック"/>
              </a:rPr>
              <a:t>21</a:t>
            </a:r>
            <a:r>
              <a:rPr dirty="0">
                <a:latin typeface="游ゴシック"/>
                <a:ea typeface="游ゴシック"/>
                <a:cs typeface="游ゴシック"/>
              </a:rPr>
              <a:t>日</a:t>
            </a:r>
          </a:p>
        </p:txBody>
      </p:sp>
      <p:cxnSp>
        <p:nvCxnSpPr>
          <p:cNvPr id="12" name="直線コネクタ 11">
            <a:extLst>
              <a:ext uri="{FF2B5EF4-FFF2-40B4-BE49-F238E27FC236}">
                <a16:creationId xmlns:a16="http://schemas.microsoft.com/office/drawing/2014/main" id="{20CAB1A1-BCBE-F6F7-8DA5-16D451D49054}"/>
              </a:ext>
            </a:extLst>
          </p:cNvPr>
          <p:cNvCxnSpPr>
            <a:cxnSpLocks/>
          </p:cNvCxnSpPr>
          <p:nvPr/>
        </p:nvCxnSpPr>
        <p:spPr>
          <a:xfrm>
            <a:off x="885526" y="4272782"/>
            <a:ext cx="536127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016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solidFill/>
                <a:sym typeface="Arial"/>
              </a:rPr>
              <a:t>本件に関する問い合わせ先</a:t>
            </a:r>
            <a:endParaRPr dirty="0">
              <a:sym typeface="Arial"/>
            </a:endParaRP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738043125"/>
              </p:ext>
            </p:extLst>
          </p:nvPr>
        </p:nvGraphicFramePr>
        <p:xfrm>
          <a:off x="449264" y="6120538"/>
          <a:ext cx="9793288"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2">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sz="1100">
                          <a:latin typeface="游ゴシック"/>
                          <a:ea typeface="游ゴシック"/>
                          <a:cs typeface="游ゴシック"/>
                        </a:rPr>
                        <a:t>株式会社M&amp;A承継機構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zh-CN" altLang="en-US" sz="1100" dirty="0">
                          <a:latin typeface="游ゴシック"/>
                          <a:ea typeface="游ゴシック"/>
                          <a:cs typeface="游ゴシック"/>
                        </a:rPr>
                        <a:t>田垣内　啓介</a:t>
                      </a:r>
                      <a:r>
                        <a:rPr sz="1100" dirty="0">
                          <a:latin typeface="游ゴシック"/>
                          <a:ea typeface="游ゴシック"/>
                          <a:cs typeface="游ゴシック"/>
                        </a:rPr>
                        <a:t>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altLang="ja-JP" sz="1100" dirty="0">
                          <a:latin typeface="游ゴシック"/>
                          <a:ea typeface="游ゴシック"/>
                          <a:cs typeface="游ゴシック"/>
                        </a:rPr>
                        <a:t>080-4737-4326</a:t>
                      </a:r>
                      <a:r>
                        <a:rPr sz="1100" dirty="0">
                          <a:latin typeface="游ゴシック"/>
                          <a:ea typeface="游ゴシック"/>
                          <a:cs typeface="游ゴシック"/>
                        </a:rPr>
                        <a:t>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100" dirty="0">
                          <a:latin typeface="游ゴシック"/>
                          <a:ea typeface="游ゴシック"/>
                          <a:cs typeface="游ゴシック"/>
                        </a:rPr>
                        <a:t>tagaito_keisuke@ma-sg.co.jp</a:t>
                      </a:r>
                      <a:r>
                        <a:rPr sz="1100" dirty="0">
                          <a:latin typeface="游ゴシック"/>
                          <a:ea typeface="游ゴシック"/>
                          <a:cs typeface="游ゴシック"/>
                        </a:rPr>
                        <a:t>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a:xfrm>
            <a:off x="341313" y="180653"/>
            <a:ext cx="7799917" cy="338554"/>
          </a:xfrm>
        </p:spPr>
        <p:txBody>
          <a:bodyPr/>
          <a:lstStyle/>
          <a:p>
            <a:r>
              <a:rPr lang="ja-JP" altLang="en-US" dirty="0">
                <a:solidFill/>
              </a:rPr>
              <a:t>はじめに</a:t>
            </a:r>
          </a:p>
        </p:txBody>
      </p:sp>
      <p:cxnSp>
        <p:nvCxnSpPr>
          <p:cNvPr id="13" name="直線コネクタ 12">
            <a:extLst>
              <a:ext uri="{FF2B5EF4-FFF2-40B4-BE49-F238E27FC236}">
                <a16:creationId xmlns:a16="http://schemas.microsoft.com/office/drawing/2014/main" id="{FB09082A-B52F-14F1-BAAD-CC1AE1853CD8}"/>
              </a:ext>
            </a:extLst>
          </p:cNvPr>
          <p:cNvCxnSpPr>
            <a:cxnSpLocks/>
          </p:cNvCxnSpPr>
          <p:nvPr/>
        </p:nvCxnSpPr>
        <p:spPr>
          <a:xfrm>
            <a:off x="449263" y="4380131"/>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2886496"/>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a:spcAft>
                <a:spcPts val="1200"/>
              </a:spcAft>
            </a:pPr>
            <a:r>
              <a:rPr lang="ja-JP" altLang="en-US" sz="1200" dirty="0">
                <a:solidFill/>
              </a:rPr>
              <a:t>本書における試算結果は対象会社より提出を受けた資料及び一般に公開されている情報並びに対象会社及びその関係者へのインタビューに基づいております。これらの資料、情報及びインタビュー内容の正確性、妥当性、適法性、網羅性または完全性について当社独自の調査・検証は行われておりません。従って、試算の基礎となった資料や情報、インタビュー内容の誤謬に基づく試算結果等への影響について、当社は何らの責任も負いません。</a:t>
            </a:r>
            <a:endParaRPr lang="en-US" altLang="ja-JP" sz="1200" dirty="0"/>
          </a:p>
          <a:p>
            <a:pPr>
              <a:spcAft>
                <a:spcPts val="1200"/>
              </a:spcAft>
            </a:pPr>
            <a:r>
              <a:rPr lang="ja-JP" altLang="en-US" sz="1200" dirty="0">
                <a:solidFill/>
              </a:rPr>
              <a:t>本書において、対象会社の基準日における資産及び負債等の評価（不動産の簡易価格調査結果を含む）、損益実績値の調整、将来予測数値等の分析結果について当社のコメントを付したものがありますが、これらの正確性、妥当性、適法性、網羅性、完全性または実現可能性を保証するものではありません。</a:t>
            </a:r>
          </a:p>
          <a:p>
            <a:pPr>
              <a:spcAft>
                <a:spcPts val="1200"/>
              </a:spcAft>
            </a:pPr>
            <a:r>
              <a:rPr lang="ja-JP" altLang="en-US" sz="1200" dirty="0">
                <a:solidFill/>
              </a:rPr>
              <a:t>本書における試算結果は、限定された情報及び調査機会に基づき本書の日付現在における当社としての意見を述べるものであり、その絶対性を保証するものではありません。従って、本書の試算結果は</a:t>
            </a:r>
            <a:r>
              <a:rPr lang="en-US" altLang="ja-JP" sz="1200" dirty="0">
                <a:solidFill/>
              </a:rPr>
              <a:t>M&amp;A</a:t>
            </a:r>
            <a:r>
              <a:rPr lang="ja-JP" altLang="en-US" sz="1200" dirty="0">
                <a:solidFill/>
              </a:rPr>
              <a:t>実行時の譲渡価額（売買取引価額）を保証するものではありません。</a:t>
            </a:r>
          </a:p>
          <a:p>
            <a:pPr>
              <a:spcAft>
                <a:spcPts val="1200"/>
              </a:spcAft>
            </a:pPr>
            <a:r>
              <a:rPr lang="ja-JP" altLang="en-US" sz="1200" dirty="0">
                <a:solidFill/>
              </a:rPr>
              <a:t>本書を本件試算目的以外で利用する場合及び本件取引の関連当事者以外に開示する場合には、当社の書面による承諾が必要となります。</a:t>
            </a:r>
          </a:p>
        </p:txBody>
      </p:sp>
      <p:grpSp>
        <p:nvGrpSpPr>
          <p:cNvPr id="28" name="グループ化 27">
            <a:extLst>
              <a:ext uri="{FF2B5EF4-FFF2-40B4-BE49-F238E27FC236}">
                <a16:creationId xmlns:a16="http://schemas.microsoft.com/office/drawing/2014/main" id="{D1C6A406-8443-F3E6-28CA-B536B1AA45B5}"/>
              </a:ext>
            </a:extLst>
          </p:cNvPr>
          <p:cNvGrpSpPr/>
          <p:nvPr/>
        </p:nvGrpSpPr>
        <p:grpSpPr>
          <a:xfrm>
            <a:off x="449263" y="4638836"/>
            <a:ext cx="9792000" cy="581999"/>
            <a:chOff x="449263" y="4445708"/>
            <a:chExt cx="9792000" cy="581999"/>
          </a:xfrm>
        </p:grpSpPr>
        <p:sp>
          <p:nvSpPr>
            <p:cNvPr id="24" name="正方形/長方形 23">
              <a:extLst>
                <a:ext uri="{FF2B5EF4-FFF2-40B4-BE49-F238E27FC236}">
                  <a16:creationId xmlns:a16="http://schemas.microsoft.com/office/drawing/2014/main" id="{2FCA2641-923F-459F-562E-5D27E6F566C7}"/>
                </a:ext>
              </a:extLst>
            </p:cNvPr>
            <p:cNvSpPr/>
            <p:nvPr/>
          </p:nvSpPr>
          <p:spPr>
            <a:xfrm>
              <a:off x="449263" y="4445708"/>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用語の定義</a:t>
              </a:r>
            </a:p>
          </p:txBody>
        </p:sp>
        <p:sp>
          <p:nvSpPr>
            <p:cNvPr id="26" name="テキスト ボックス 25">
              <a:extLst>
                <a:ext uri="{FF2B5EF4-FFF2-40B4-BE49-F238E27FC236}">
                  <a16:creationId xmlns:a16="http://schemas.microsoft.com/office/drawing/2014/main" id="{84E29355-A1C9-2368-8A78-4E9FAD4ED010}"/>
                </a:ext>
              </a:extLst>
            </p:cNvPr>
            <p:cNvSpPr txBox="1"/>
            <p:nvPr/>
          </p:nvSpPr>
          <p:spPr>
            <a:xfrm>
              <a:off x="449263" y="4818867"/>
              <a:ext cx="9792000" cy="208840"/>
            </a:xfrm>
            <a:prstGeom prst="rect">
              <a:avLst/>
            </a:prstGeom>
            <a:noFill/>
          </p:spPr>
          <p:txBody>
            <a:bodyPr wrap="square" lIns="0" tIns="0" rIns="0" bIns="0" rtlCol="0">
              <a:spAutoFit/>
            </a:bodyPr>
            <a:lstStyle>
              <a:defPPr>
                <a:defRPr lang="en-US"/>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r>
                <a:rPr lang="ja-JP" altLang="en-US" dirty="0"/>
                <a:t>本書で用いられる「本件取引」「本件試算目的」の定義は、「企業価値試算結果」のページに記載しております。</a:t>
              </a:r>
            </a:p>
          </p:txBody>
        </p:sp>
      </p:grpSp>
      <p:cxnSp>
        <p:nvCxnSpPr>
          <p:cNvPr id="27" name="直線コネクタ 26">
            <a:extLst>
              <a:ext uri="{FF2B5EF4-FFF2-40B4-BE49-F238E27FC236}">
                <a16:creationId xmlns:a16="http://schemas.microsoft.com/office/drawing/2014/main" id="{F946AE5A-CED3-47EB-17ED-BE6A1ABD1294}"/>
              </a:ext>
            </a:extLst>
          </p:cNvPr>
          <p:cNvCxnSpPr>
            <a:cxnSpLocks/>
          </p:cNvCxnSpPr>
          <p:nvPr/>
        </p:nvCxnSpPr>
        <p:spPr>
          <a:xfrm>
            <a:off x="449263" y="5479540"/>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735B2-585C-A9A9-5167-EBEF6489416D}"/>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BFD2964-553D-9D91-68F1-870D0805E2CB}"/>
              </a:ext>
            </a:extLst>
          </p:cNvPr>
          <p:cNvSpPr>
            <a:spLocks noGrp="1"/>
          </p:cNvSpPr>
          <p:nvPr>
            <p:ph type="ctrTitle"/>
          </p:nvPr>
        </p:nvSpPr>
        <p:spPr>
          <a:xfrm>
            <a:off x="341313" y="180653"/>
            <a:ext cx="7799917" cy="338554"/>
          </a:xfrm>
        </p:spPr>
        <p:txBody>
          <a:bodyPr/>
          <a:lstStyle/>
          <a:p>
            <a:r>
              <a:rPr lang="ja-JP" altLang="en-US" dirty="0"/>
              <a:t>株価評価にあたっての注意点</a:t>
            </a:r>
          </a:p>
        </p:txBody>
      </p:sp>
      <p:sp>
        <p:nvSpPr>
          <p:cNvPr id="18" name="テキスト ボックス 17">
            <a:extLst>
              <a:ext uri="{FF2B5EF4-FFF2-40B4-BE49-F238E27FC236}">
                <a16:creationId xmlns:a16="http://schemas.microsoft.com/office/drawing/2014/main" id="{43FF748D-7302-6B92-5A45-49968A63F0B4}"/>
              </a:ext>
            </a:extLst>
          </p:cNvPr>
          <p:cNvSpPr txBox="1"/>
          <p:nvPr/>
        </p:nvSpPr>
        <p:spPr>
          <a:xfrm>
            <a:off x="1109133" y="10679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solidFill/>
              </a:rPr>
              <a:t>M&amp;A</a:t>
            </a:r>
            <a:r>
              <a:rPr lang="ja-JP" altLang="en-US" dirty="0">
                <a:solidFill/>
              </a:rPr>
              <a:t>における株価は、買主との協議によって決定されるものであり、最終的に本書での評価結果の範囲外に</a:t>
            </a:r>
            <a:br>
              <a:rPr lang="en-US" altLang="ja-JP" dirty="0"/>
            </a:br>
            <a:r>
              <a:rPr lang="ja-JP" altLang="en-US" dirty="0">
                <a:solidFill/>
              </a:rPr>
              <a:t>なる可能性も相応に御座います。本書での評価結果はあくまで目安の一つとして、ご理解ください。</a:t>
            </a:r>
            <a:endParaRPr lang="en-US" altLang="ja-JP" dirty="0"/>
          </a:p>
        </p:txBody>
      </p:sp>
      <p:sp>
        <p:nvSpPr>
          <p:cNvPr id="20" name="テキスト ボックス 19">
            <a:extLst>
              <a:ext uri="{FF2B5EF4-FFF2-40B4-BE49-F238E27FC236}">
                <a16:creationId xmlns:a16="http://schemas.microsoft.com/office/drawing/2014/main" id="{43A2A16C-AED8-ACCF-CB8F-70E0B810FB3B}"/>
              </a:ext>
            </a:extLst>
          </p:cNvPr>
          <p:cNvSpPr txBox="1"/>
          <p:nvPr/>
        </p:nvSpPr>
        <p:spPr>
          <a:xfrm>
            <a:off x="1109133" y="2052538"/>
            <a:ext cx="9132130" cy="760657"/>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solidFill/>
              </a:rPr>
              <a:t>M&amp;A</a:t>
            </a:r>
            <a:r>
              <a:rPr lang="ja-JP" altLang="en-US" dirty="0">
                <a:solidFill/>
              </a:rPr>
              <a:t>における株価評価方法は画一的なものはなく、世の中には多数の算出手法が存在します。</a:t>
            </a:r>
            <a:br>
              <a:rPr lang="en-US" altLang="ja-JP" dirty="0"/>
            </a:br>
            <a:r>
              <a:rPr lang="ja-JP" altLang="en-US" dirty="0">
                <a:solidFill/>
              </a:rPr>
              <a:t>本書においては中小企業</a:t>
            </a:r>
            <a:r>
              <a:rPr lang="en-US" altLang="ja-JP" dirty="0">
                <a:solidFill/>
              </a:rPr>
              <a:t>M&amp;A</a:t>
            </a:r>
            <a:r>
              <a:rPr lang="ja-JP" altLang="en-US" dirty="0">
                <a:solidFill/>
              </a:rPr>
              <a:t>において用いられる一般的な評価手法から、貴社の評価に適していると</a:t>
            </a:r>
            <a:br>
              <a:rPr lang="en-US" altLang="ja-JP" dirty="0"/>
            </a:br>
            <a:r>
              <a:rPr lang="ja-JP" altLang="en-US" dirty="0">
                <a:solidFill/>
              </a:rPr>
              <a:t>考えられる手法を採用しております。</a:t>
            </a:r>
            <a:endParaRPr lang="en-US" altLang="ja-JP" dirty="0"/>
          </a:p>
        </p:txBody>
      </p:sp>
      <p:sp>
        <p:nvSpPr>
          <p:cNvPr id="22" name="テキスト ボックス 21">
            <a:extLst>
              <a:ext uri="{FF2B5EF4-FFF2-40B4-BE49-F238E27FC236}">
                <a16:creationId xmlns:a16="http://schemas.microsoft.com/office/drawing/2014/main" id="{4E37E670-53DE-767E-52D8-7829791681E1}"/>
              </a:ext>
            </a:extLst>
          </p:cNvPr>
          <p:cNvSpPr txBox="1"/>
          <p:nvPr/>
        </p:nvSpPr>
        <p:spPr>
          <a:xfrm>
            <a:off x="1109133" y="3295695"/>
            <a:ext cx="9132130" cy="243593"/>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solidFill/>
              </a:rPr>
              <a:t>買主による評価（株価の考え方及び評価方法）は一律ではなく、各買主によって異なる結果になります。</a:t>
            </a:r>
            <a:endParaRPr lang="en-US" altLang="ja-JP" dirty="0"/>
          </a:p>
        </p:txBody>
      </p:sp>
      <p:sp>
        <p:nvSpPr>
          <p:cNvPr id="24" name="テキスト ボックス 23">
            <a:extLst>
              <a:ext uri="{FF2B5EF4-FFF2-40B4-BE49-F238E27FC236}">
                <a16:creationId xmlns:a16="http://schemas.microsoft.com/office/drawing/2014/main" id="{04F96851-B7F8-2437-2EDD-96F0EF865CAB}"/>
              </a:ext>
            </a:extLst>
          </p:cNvPr>
          <p:cNvSpPr txBox="1"/>
          <p:nvPr/>
        </p:nvSpPr>
        <p:spPr>
          <a:xfrm>
            <a:off x="1109133" y="4021788"/>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solidFill/>
              </a:rPr>
              <a:t>今後の業績や事業の状態・見通し等の変化によって、株式価値は変動する為、適宜、月次試算表のご提出や、</a:t>
            </a:r>
            <a:br>
              <a:rPr lang="en-US" altLang="ja-JP" dirty="0"/>
            </a:br>
            <a:r>
              <a:rPr lang="ja-JP" altLang="en-US" dirty="0">
                <a:solidFill/>
              </a:rPr>
              <a:t>事業状況の変化についても共有をお願いいたします。</a:t>
            </a:r>
            <a:endParaRPr lang="en-US" altLang="ja-JP" dirty="0"/>
          </a:p>
        </p:txBody>
      </p:sp>
      <p:sp>
        <p:nvSpPr>
          <p:cNvPr id="26" name="テキスト ボックス 25">
            <a:extLst>
              <a:ext uri="{FF2B5EF4-FFF2-40B4-BE49-F238E27FC236}">
                <a16:creationId xmlns:a16="http://schemas.microsoft.com/office/drawing/2014/main" id="{8DE73831-EEAA-7D18-DA19-BDDE4EA3C4F8}"/>
              </a:ext>
            </a:extLst>
          </p:cNvPr>
          <p:cNvSpPr txBox="1"/>
          <p:nvPr/>
        </p:nvSpPr>
        <p:spPr>
          <a:xfrm>
            <a:off x="1109133" y="50064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solidFill/>
              </a:rPr>
              <a:t>株価の一部を退職金や配当として受け取る事を希望される場合、当該金額は株価から減算されることが</a:t>
            </a:r>
            <a:br>
              <a:rPr lang="en-US" altLang="ja-JP" dirty="0"/>
            </a:br>
            <a:r>
              <a:rPr lang="ja-JP" altLang="en-US" dirty="0">
                <a:solidFill/>
              </a:rPr>
              <a:t>一般的でございます。</a:t>
            </a:r>
            <a:endParaRPr lang="en-US" altLang="ja-JP" dirty="0"/>
          </a:p>
        </p:txBody>
      </p:sp>
      <p:sp>
        <p:nvSpPr>
          <p:cNvPr id="28" name="テキスト ボックス 27">
            <a:extLst>
              <a:ext uri="{FF2B5EF4-FFF2-40B4-BE49-F238E27FC236}">
                <a16:creationId xmlns:a16="http://schemas.microsoft.com/office/drawing/2014/main" id="{0C5A509E-7475-2B0E-8947-020650C0994C}"/>
              </a:ext>
            </a:extLst>
          </p:cNvPr>
          <p:cNvSpPr txBox="1"/>
          <p:nvPr/>
        </p:nvSpPr>
        <p:spPr>
          <a:xfrm>
            <a:off x="1109133" y="5991041"/>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solidFill/>
              </a:rPr>
              <a:t>本書での評価結果を大幅に上回る株価を希望される場合、マッチングが困難になる為、</a:t>
            </a:r>
            <a:br>
              <a:rPr lang="en-US" altLang="ja-JP" dirty="0"/>
            </a:br>
            <a:r>
              <a:rPr lang="ja-JP" altLang="en-US" dirty="0">
                <a:solidFill/>
              </a:rPr>
              <a:t>相手が見つからない事や、長期間の時間を要す可能性が高くなります。</a:t>
            </a:r>
          </a:p>
        </p:txBody>
      </p:sp>
      <p:cxnSp>
        <p:nvCxnSpPr>
          <p:cNvPr id="29" name="直線コネクタ 28">
            <a:extLst>
              <a:ext uri="{FF2B5EF4-FFF2-40B4-BE49-F238E27FC236}">
                <a16:creationId xmlns:a16="http://schemas.microsoft.com/office/drawing/2014/main" id="{35B39C5F-7E18-97A3-3BCF-044BD39FF17C}"/>
              </a:ext>
            </a:extLst>
          </p:cNvPr>
          <p:cNvCxnSpPr>
            <a:cxnSpLocks/>
          </p:cNvCxnSpPr>
          <p:nvPr/>
        </p:nvCxnSpPr>
        <p:spPr>
          <a:xfrm>
            <a:off x="449263" y="57497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6AD9E28A-BBAC-DF8F-A86C-68460E385CD4}"/>
              </a:ext>
            </a:extLst>
          </p:cNvPr>
          <p:cNvCxnSpPr>
            <a:cxnSpLocks/>
          </p:cNvCxnSpPr>
          <p:nvPr/>
        </p:nvCxnSpPr>
        <p:spPr>
          <a:xfrm>
            <a:off x="449263" y="4765163"/>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035FDFB6-13CE-B940-E337-9990F42F633B}"/>
              </a:ext>
            </a:extLst>
          </p:cNvPr>
          <p:cNvCxnSpPr>
            <a:cxnSpLocks/>
          </p:cNvCxnSpPr>
          <p:nvPr/>
        </p:nvCxnSpPr>
        <p:spPr>
          <a:xfrm>
            <a:off x="449263" y="378053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40BDB2F5-6079-A5D7-D2D1-B3F25D6D8012}"/>
              </a:ext>
            </a:extLst>
          </p:cNvPr>
          <p:cNvCxnSpPr>
            <a:cxnSpLocks/>
          </p:cNvCxnSpPr>
          <p:nvPr/>
        </p:nvCxnSpPr>
        <p:spPr>
          <a:xfrm>
            <a:off x="449263" y="3054445"/>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3F9B2615-C99C-C209-F4AD-56373013FA24}"/>
              </a:ext>
            </a:extLst>
          </p:cNvPr>
          <p:cNvCxnSpPr>
            <a:cxnSpLocks/>
          </p:cNvCxnSpPr>
          <p:nvPr/>
        </p:nvCxnSpPr>
        <p:spPr>
          <a:xfrm>
            <a:off x="449263" y="18112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34" name="楕円 33">
            <a:extLst>
              <a:ext uri="{FF2B5EF4-FFF2-40B4-BE49-F238E27FC236}">
                <a16:creationId xmlns:a16="http://schemas.microsoft.com/office/drawing/2014/main" id="{FAEBD9E3-D818-BE03-ADD3-4C5B4AA4F637}"/>
              </a:ext>
            </a:extLst>
          </p:cNvPr>
          <p:cNvSpPr>
            <a:spLocks noChangeAspect="1"/>
          </p:cNvSpPr>
          <p:nvPr/>
        </p:nvSpPr>
        <p:spPr>
          <a:xfrm>
            <a:off x="613435" y="1072307"/>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1</a:t>
            </a:r>
            <a:endParaRPr lang="ja-JP" altLang="en-US" sz="1600" b="1" spc="70" dirty="0">
              <a:solidFill>
                <a:schemeClr val="bg1"/>
              </a:solidFill>
              <a:ea typeface="+mj-ea"/>
            </a:endParaRPr>
          </a:p>
        </p:txBody>
      </p:sp>
      <p:sp>
        <p:nvSpPr>
          <p:cNvPr id="35" name="楕円 34">
            <a:extLst>
              <a:ext uri="{FF2B5EF4-FFF2-40B4-BE49-F238E27FC236}">
                <a16:creationId xmlns:a16="http://schemas.microsoft.com/office/drawing/2014/main" id="{A4699F67-F2C0-E701-1981-BE99A943F4B1}"/>
              </a:ext>
            </a:extLst>
          </p:cNvPr>
          <p:cNvSpPr>
            <a:spLocks noChangeAspect="1"/>
          </p:cNvSpPr>
          <p:nvPr/>
        </p:nvSpPr>
        <p:spPr>
          <a:xfrm>
            <a:off x="613435" y="205270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2</a:t>
            </a:r>
            <a:endParaRPr lang="ja-JP" altLang="en-US" sz="1600" b="1" spc="70" dirty="0">
              <a:solidFill>
                <a:schemeClr val="bg1"/>
              </a:solidFill>
              <a:ea typeface="+mj-ea"/>
            </a:endParaRPr>
          </a:p>
        </p:txBody>
      </p:sp>
      <p:sp>
        <p:nvSpPr>
          <p:cNvPr id="36" name="楕円 35">
            <a:extLst>
              <a:ext uri="{FF2B5EF4-FFF2-40B4-BE49-F238E27FC236}">
                <a16:creationId xmlns:a16="http://schemas.microsoft.com/office/drawing/2014/main" id="{956ADA7D-C5BF-D213-6720-23A1C842F4D0}"/>
              </a:ext>
            </a:extLst>
          </p:cNvPr>
          <p:cNvSpPr>
            <a:spLocks noChangeAspect="1"/>
          </p:cNvSpPr>
          <p:nvPr/>
        </p:nvSpPr>
        <p:spPr>
          <a:xfrm>
            <a:off x="613435" y="3297170"/>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3</a:t>
            </a:r>
            <a:endParaRPr lang="ja-JP" altLang="en-US" sz="1600" b="1" spc="70" dirty="0">
              <a:solidFill>
                <a:schemeClr val="bg1"/>
              </a:solidFill>
              <a:ea typeface="+mj-ea"/>
            </a:endParaRPr>
          </a:p>
        </p:txBody>
      </p:sp>
      <p:sp>
        <p:nvSpPr>
          <p:cNvPr id="37" name="楕円 36">
            <a:extLst>
              <a:ext uri="{FF2B5EF4-FFF2-40B4-BE49-F238E27FC236}">
                <a16:creationId xmlns:a16="http://schemas.microsoft.com/office/drawing/2014/main" id="{E576DF4D-4E9B-1204-40C0-E6AC3658458A}"/>
              </a:ext>
            </a:extLst>
          </p:cNvPr>
          <p:cNvSpPr>
            <a:spLocks noChangeAspect="1"/>
          </p:cNvSpPr>
          <p:nvPr/>
        </p:nvSpPr>
        <p:spPr>
          <a:xfrm>
            <a:off x="613435" y="402758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4</a:t>
            </a:r>
            <a:endParaRPr lang="ja-JP" altLang="en-US" sz="1600" b="1" spc="70" dirty="0">
              <a:solidFill>
                <a:schemeClr val="bg1"/>
              </a:solidFill>
              <a:ea typeface="+mj-ea"/>
            </a:endParaRPr>
          </a:p>
        </p:txBody>
      </p:sp>
      <p:sp>
        <p:nvSpPr>
          <p:cNvPr id="38" name="楕円 37">
            <a:extLst>
              <a:ext uri="{FF2B5EF4-FFF2-40B4-BE49-F238E27FC236}">
                <a16:creationId xmlns:a16="http://schemas.microsoft.com/office/drawing/2014/main" id="{ACEF13D5-5C48-6E65-68D1-217A140C3016}"/>
              </a:ext>
            </a:extLst>
          </p:cNvPr>
          <p:cNvSpPr>
            <a:spLocks noChangeAspect="1"/>
          </p:cNvSpPr>
          <p:nvPr/>
        </p:nvSpPr>
        <p:spPr>
          <a:xfrm>
            <a:off x="613435" y="501181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5</a:t>
            </a:r>
            <a:endParaRPr lang="ja-JP" altLang="en-US" sz="1600" b="1" spc="70" dirty="0">
              <a:solidFill>
                <a:schemeClr val="bg1"/>
              </a:solidFill>
              <a:ea typeface="+mj-ea"/>
            </a:endParaRPr>
          </a:p>
        </p:txBody>
      </p:sp>
      <p:sp>
        <p:nvSpPr>
          <p:cNvPr id="39" name="楕円 38">
            <a:extLst>
              <a:ext uri="{FF2B5EF4-FFF2-40B4-BE49-F238E27FC236}">
                <a16:creationId xmlns:a16="http://schemas.microsoft.com/office/drawing/2014/main" id="{6165E92A-C06D-AE2F-D14B-947E6D286B3F}"/>
              </a:ext>
            </a:extLst>
          </p:cNvPr>
          <p:cNvSpPr>
            <a:spLocks noChangeAspect="1"/>
          </p:cNvSpPr>
          <p:nvPr/>
        </p:nvSpPr>
        <p:spPr>
          <a:xfrm>
            <a:off x="613435" y="5982493"/>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6</a:t>
            </a:r>
            <a:endParaRPr lang="ja-JP" altLang="en-US" sz="1600" b="1" spc="70" dirty="0">
              <a:solidFill>
                <a:schemeClr val="bg1"/>
              </a:solidFill>
              <a:ea typeface="+mj-ea"/>
            </a:endParaRPr>
          </a:p>
        </p:txBody>
      </p:sp>
    </p:spTree>
    <p:extLst>
      <p:ext uri="{BB962C8B-B14F-4D97-AF65-F5344CB8AC3E}">
        <p14:creationId xmlns:p14="http://schemas.microsoft.com/office/powerpoint/2010/main" val="2457898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
          <p:cNvSpPr txBox="1"/>
          <p:nvPr/>
        </p:nvSpPr>
        <p:spPr>
          <a:xfrm>
            <a:off x="6191813" y="1667046"/>
            <a:ext cx="4500000" cy="2382191"/>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solidFill/>
              </a:rPr>
              <a:t>Valuation Summary </a:t>
            </a:r>
            <a:r>
              <a:rPr lang="ja-JP" altLang="en-US" sz="1600" dirty="0">
                <a:solidFill/>
              </a:rPr>
              <a:t>／ </a:t>
            </a:r>
            <a:br>
              <a:rPr lang="en-US" altLang="ja-JP" sz="1800" dirty="0"/>
            </a:br>
            <a:r>
              <a:rPr lang="ja-JP" altLang="en-US" sz="2200" dirty="0">
                <a:solidFill/>
              </a:rPr>
              <a:t>試算結果</a:t>
            </a:r>
            <a:endParaRPr lang="en-US" altLang="ja-JP" sz="2200" dirty="0"/>
          </a:p>
          <a:p>
            <a:pPr>
              <a:spcAft>
                <a:spcPts val="1000"/>
              </a:spcAft>
            </a:pPr>
            <a:r>
              <a:rPr lang="en-US" altLang="ja-JP" sz="1600" dirty="0">
                <a:solidFill/>
              </a:rPr>
              <a:t>Financial Analysis </a:t>
            </a:r>
            <a:r>
              <a:rPr lang="ja-JP" altLang="en-US" sz="1600" dirty="0">
                <a:solidFill/>
              </a:rPr>
              <a:t>／ </a:t>
            </a:r>
            <a:br>
              <a:rPr lang="en-US" altLang="ja-JP" sz="1800" dirty="0"/>
            </a:br>
            <a:r>
              <a:rPr lang="ja-JP" altLang="en-US" dirty="0">
                <a:solidFill/>
              </a:rPr>
              <a:t>財務情報の分析</a:t>
            </a:r>
          </a:p>
          <a:p>
            <a:pPr>
              <a:spcAft>
                <a:spcPts val="1000"/>
              </a:spcAft>
            </a:pPr>
            <a:r>
              <a:rPr lang="en-US" altLang="ja-JP" sz="1600" dirty="0">
                <a:solidFill/>
              </a:rPr>
              <a:t>Valuation Details </a:t>
            </a:r>
            <a:r>
              <a:rPr lang="ja-JP" altLang="en-US" sz="1600" dirty="0">
                <a:solidFill/>
              </a:rPr>
              <a:t>／ </a:t>
            </a:r>
            <a:br>
              <a:rPr lang="en-US" altLang="ja-JP" sz="1800" dirty="0"/>
            </a:br>
            <a:r>
              <a:rPr lang="ja-JP" altLang="en-US" dirty="0">
                <a:solidFill/>
              </a:rPr>
              <a:t>株式価値の試算</a:t>
            </a:r>
          </a:p>
        </p:txBody>
      </p:sp>
      <p:sp>
        <p:nvSpPr>
          <p:cNvPr id="7" name="正方形/長方形 6">
            <a:extLst>
              <a:ext uri="{FF2B5EF4-FFF2-40B4-BE49-F238E27FC236}">
                <a16:creationId xmlns:a16="http://schemas.microsoft.com/office/drawing/2014/main" id="{2C1708EA-89F0-5F4C-1E17-8D5ACE55DC86}"/>
              </a:ext>
            </a:extLst>
          </p:cNvPr>
          <p:cNvSpPr/>
          <p:nvPr/>
        </p:nvSpPr>
        <p:spPr>
          <a:xfrm>
            <a:off x="5624541" y="1732147"/>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bg1"/>
                </a:solidFill>
                <a:latin typeface="+mj-lt"/>
              </a:rPr>
              <a:t>1</a:t>
            </a:r>
            <a:endParaRPr kumimoji="1" lang="ja-JP" altLang="en-US" b="1" dirty="0">
              <a:solidFill>
                <a:schemeClr val="bg1"/>
              </a:solidFill>
              <a:latin typeface="+mj-lt"/>
            </a:endParaRPr>
          </a:p>
        </p:txBody>
      </p:sp>
      <p:sp>
        <p:nvSpPr>
          <p:cNvPr id="8" name="正方形/長方形 7">
            <a:extLst>
              <a:ext uri="{FF2B5EF4-FFF2-40B4-BE49-F238E27FC236}">
                <a16:creationId xmlns:a16="http://schemas.microsoft.com/office/drawing/2014/main" id="{CD50E8F0-8863-1FB0-5044-94DF9D298836}"/>
              </a:ext>
            </a:extLst>
          </p:cNvPr>
          <p:cNvSpPr/>
          <p:nvPr/>
        </p:nvSpPr>
        <p:spPr>
          <a:xfrm>
            <a:off x="5624542" y="2489129"/>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bg1"/>
                </a:solidFill>
                <a:latin typeface="+mj-lt"/>
              </a:rPr>
              <a:t>2</a:t>
            </a:r>
            <a:endParaRPr kumimoji="1" lang="ja-JP" altLang="en-US" b="1" dirty="0">
              <a:solidFill>
                <a:schemeClr val="bg1"/>
              </a:solidFill>
              <a:latin typeface="+mj-lt"/>
            </a:endParaRPr>
          </a:p>
        </p:txBody>
      </p:sp>
      <p:sp>
        <p:nvSpPr>
          <p:cNvPr id="9" name="正方形/長方形 8">
            <a:extLst>
              <a:ext uri="{FF2B5EF4-FFF2-40B4-BE49-F238E27FC236}">
                <a16:creationId xmlns:a16="http://schemas.microsoft.com/office/drawing/2014/main" id="{93D365FE-0FEC-F530-0DDB-077BF8F26623}"/>
              </a:ext>
            </a:extLst>
          </p:cNvPr>
          <p:cNvSpPr/>
          <p:nvPr/>
        </p:nvSpPr>
        <p:spPr>
          <a:xfrm>
            <a:off x="5624542" y="3297805"/>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bg1"/>
                </a:solidFill>
                <a:latin typeface="+mj-lt"/>
              </a:rPr>
              <a:t>3</a:t>
            </a:r>
            <a:endParaRPr kumimoji="1" lang="ja-JP" altLang="en-US" b="1" dirty="0">
              <a:solidFill>
                <a:schemeClr val="bg1"/>
              </a:solidFill>
              <a:latin typeface="+mj-lt"/>
            </a:endParaRPr>
          </a:p>
        </p:txBody>
      </p:sp>
      <p:sp>
        <p:nvSpPr>
          <p:cNvPr id="10" name="正方形/長方形 9">
            <a:extLst>
              <a:ext uri="{FF2B5EF4-FFF2-40B4-BE49-F238E27FC236}">
                <a16:creationId xmlns:a16="http://schemas.microsoft.com/office/drawing/2014/main" id="{356BA6C0-4C4F-20D8-A4B5-B9A7E93A5626}"/>
              </a:ext>
            </a:extLst>
          </p:cNvPr>
          <p:cNvSpPr/>
          <p:nvPr/>
        </p:nvSpPr>
        <p:spPr>
          <a:xfrm>
            <a:off x="5624541" y="4876948"/>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bg1"/>
                </a:solidFill>
                <a:latin typeface="+mj-lt"/>
              </a:rPr>
              <a:t>4</a:t>
            </a:r>
            <a:endParaRPr kumimoji="1" lang="ja-JP" altLang="en-US" b="1" dirty="0">
              <a:solidFill>
                <a:schemeClr val="bg1"/>
              </a:solidFill>
              <a:latin typeface="+mj-lt"/>
            </a:endParaRPr>
          </a:p>
        </p:txBody>
      </p:sp>
      <p:sp>
        <p:nvSpPr>
          <p:cNvPr id="11" name="正方形/長方形 10">
            <a:extLst>
              <a:ext uri="{FF2B5EF4-FFF2-40B4-BE49-F238E27FC236}">
                <a16:creationId xmlns:a16="http://schemas.microsoft.com/office/drawing/2014/main" id="{A3313A39-62ED-3ADF-A7D6-60D17898BFB5}"/>
              </a:ext>
            </a:extLst>
          </p:cNvPr>
          <p:cNvSpPr/>
          <p:nvPr/>
        </p:nvSpPr>
        <p:spPr>
          <a:xfrm>
            <a:off x="5624542" y="569409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bg1"/>
                </a:solidFill>
                <a:latin typeface="+mj-lt"/>
              </a:rPr>
              <a:t>5</a:t>
            </a:r>
            <a:endParaRPr kumimoji="1" lang="ja-JP" altLang="en-US" b="1" dirty="0">
              <a:solidFill>
                <a:schemeClr val="bg1"/>
              </a:solidFill>
              <a:latin typeface="+mj-lt"/>
            </a:endParaRPr>
          </a:p>
        </p:txBody>
      </p:sp>
      <p:grpSp>
        <p:nvGrpSpPr>
          <p:cNvPr id="18" name="グループ化 17">
            <a:extLst>
              <a:ext uri="{FF2B5EF4-FFF2-40B4-BE49-F238E27FC236}">
                <a16:creationId xmlns:a16="http://schemas.microsoft.com/office/drawing/2014/main" id="{0DDEFAE0-C3C3-0B06-AC36-5F2C87ABC64B}"/>
              </a:ext>
            </a:extLst>
          </p:cNvPr>
          <p:cNvGrpSpPr/>
          <p:nvPr/>
        </p:nvGrpSpPr>
        <p:grpSpPr>
          <a:xfrm>
            <a:off x="5624541" y="1159642"/>
            <a:ext cx="3492000" cy="310672"/>
            <a:chOff x="885525" y="2895310"/>
            <a:chExt cx="3492000" cy="310672"/>
          </a:xfrm>
        </p:grpSpPr>
        <p:sp>
          <p:nvSpPr>
            <p:cNvPr id="19" name="テキスト ボックス 18">
              <a:extLst>
                <a:ext uri="{FF2B5EF4-FFF2-40B4-BE49-F238E27FC236}">
                  <a16:creationId xmlns:a16="http://schemas.microsoft.com/office/drawing/2014/main" id="{0894204C-E42E-AEE7-1705-732C7C1CA805}"/>
                </a:ext>
              </a:extLst>
            </p:cNvPr>
            <p:cNvSpPr txBox="1"/>
            <p:nvPr/>
          </p:nvSpPr>
          <p:spPr>
            <a:xfrm>
              <a:off x="974063" y="2895310"/>
              <a:ext cx="2099337" cy="276999"/>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1800" spc="50" dirty="0">
                  <a:solidFill>
                    <a:schemeClr val="tx2"/>
                  </a:solidFill>
                </a:rPr>
                <a:t>Section</a:t>
              </a:r>
              <a:endParaRPr lang="ja-JP" altLang="en-US" sz="1800" spc="50" dirty="0">
                <a:solidFill>
                  <a:schemeClr val="tx2"/>
                </a:solidFill>
              </a:endParaRPr>
            </a:p>
          </p:txBody>
        </p:sp>
        <p:cxnSp>
          <p:nvCxnSpPr>
            <p:cNvPr id="20" name="直線コネクタ 19">
              <a:extLst>
                <a:ext uri="{FF2B5EF4-FFF2-40B4-BE49-F238E27FC236}">
                  <a16:creationId xmlns:a16="http://schemas.microsoft.com/office/drawing/2014/main" id="{8F991BA0-BA15-EAE6-6617-CF5AE0EA46D0}"/>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1" name="グループ化 20">
            <a:extLst>
              <a:ext uri="{FF2B5EF4-FFF2-40B4-BE49-F238E27FC236}">
                <a16:creationId xmlns:a16="http://schemas.microsoft.com/office/drawing/2014/main" id="{C5DA3EA3-89C2-83D0-3698-1ECBC4BDC2FB}"/>
              </a:ext>
            </a:extLst>
          </p:cNvPr>
          <p:cNvGrpSpPr/>
          <p:nvPr/>
        </p:nvGrpSpPr>
        <p:grpSpPr>
          <a:xfrm>
            <a:off x="5624541" y="4298553"/>
            <a:ext cx="3492000" cy="310672"/>
            <a:chOff x="885525" y="2895310"/>
            <a:chExt cx="3492000" cy="310672"/>
          </a:xfrm>
        </p:grpSpPr>
        <p:sp>
          <p:nvSpPr>
            <p:cNvPr id="22" name="テキスト ボックス 21">
              <a:extLst>
                <a:ext uri="{FF2B5EF4-FFF2-40B4-BE49-F238E27FC236}">
                  <a16:creationId xmlns:a16="http://schemas.microsoft.com/office/drawing/2014/main" id="{9C1DC0E6-ED6E-2F07-E66C-1E1D60682552}"/>
                </a:ext>
              </a:extLst>
            </p:cNvPr>
            <p:cNvSpPr txBox="1"/>
            <p:nvPr/>
          </p:nvSpPr>
          <p:spPr>
            <a:xfrm>
              <a:off x="974063" y="2895310"/>
              <a:ext cx="2099337" cy="276999"/>
            </a:xfrm>
            <a:prstGeom prst="rect">
              <a:avLst/>
            </a:prstGeom>
            <a:noFill/>
          </p:spPr>
          <p:txBody>
            <a:bodyPr wrap="square" lIns="0" tIns="0" rIns="0" bIns="0" rtlCol="0" anchor="ctr">
              <a:spAutoFit/>
            </a:bodyPr>
            <a:lstStyle>
              <a:defPPr>
                <a:defRPr lang="en-US"/>
              </a:defPPr>
              <a:lvl1pPr defTabSz="1007943">
                <a:lnSpc>
                  <a:spcPct val="100000"/>
                </a:lnSpc>
                <a:spcBef>
                  <a:spcPct val="0"/>
                </a:spcBef>
                <a:buClr>
                  <a:schemeClr val="bg1"/>
                </a:buClr>
                <a:buNone/>
                <a:defRPr kumimoji="1" b="1" spc="100">
                  <a:solidFill>
                    <a:schemeClr val="tx2"/>
                  </a:solidFill>
                  <a:latin typeface="+mj-lt"/>
                  <a:ea typeface="+mj-ea"/>
                </a:defRPr>
              </a:lvl1pPr>
            </a:lstStyle>
            <a:p>
              <a:r>
                <a:rPr lang="en-US" altLang="ja-JP" spc="50" dirty="0"/>
                <a:t>Appendix</a:t>
              </a:r>
            </a:p>
          </p:txBody>
        </p:sp>
        <p:cxnSp>
          <p:nvCxnSpPr>
            <p:cNvPr id="23" name="直線コネクタ 22">
              <a:extLst>
                <a:ext uri="{FF2B5EF4-FFF2-40B4-BE49-F238E27FC236}">
                  <a16:creationId xmlns:a16="http://schemas.microsoft.com/office/drawing/2014/main" id="{612D37CD-A59C-F55E-221F-B13CD355E5F9}"/>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4" name="Google Shape;194;p3">
            <a:extLst>
              <a:ext uri="{FF2B5EF4-FFF2-40B4-BE49-F238E27FC236}">
                <a16:creationId xmlns:a16="http://schemas.microsoft.com/office/drawing/2014/main" id="{51263BEA-61A8-35D5-87C2-23D10C6930F5}"/>
              </a:ext>
            </a:extLst>
          </p:cNvPr>
          <p:cNvSpPr txBox="1"/>
          <p:nvPr/>
        </p:nvSpPr>
        <p:spPr>
          <a:xfrm>
            <a:off x="6191813" y="4825113"/>
            <a:ext cx="4500000" cy="1610697"/>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solidFill/>
              </a:rPr>
              <a:t>Valuation Methodology </a:t>
            </a:r>
            <a:r>
              <a:rPr lang="ja-JP" altLang="en-US" sz="1600" dirty="0">
                <a:solidFill/>
              </a:rPr>
              <a:t>／ </a:t>
            </a:r>
            <a:br>
              <a:rPr lang="en-US" altLang="ja-JP" sz="1800" dirty="0"/>
            </a:br>
            <a:r>
              <a:rPr lang="ja-JP" altLang="en-US" dirty="0">
                <a:solidFill/>
              </a:rPr>
              <a:t>評価手法について</a:t>
            </a:r>
            <a:endParaRPr lang="en-US" altLang="ja-JP" dirty="0"/>
          </a:p>
          <a:p>
            <a:pPr>
              <a:spcAft>
                <a:spcPts val="1000"/>
              </a:spcAft>
            </a:pPr>
            <a:r>
              <a:rPr lang="en-US" altLang="ja-JP" sz="1600" dirty="0">
                <a:solidFill/>
              </a:rPr>
              <a:t>Valuation Concept </a:t>
            </a:r>
            <a:r>
              <a:rPr lang="ja-JP" altLang="en-US" sz="1600" dirty="0">
                <a:solidFill/>
              </a:rPr>
              <a:t>／ </a:t>
            </a:r>
            <a:br>
              <a:rPr lang="en-US" altLang="ja-JP" sz="1800" dirty="0"/>
            </a:br>
            <a:r>
              <a:rPr lang="ja-JP" altLang="en-US" dirty="0">
                <a:solidFill/>
              </a:rPr>
              <a:t>株式価値の考え方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E3DA6B61-FAFD-DD87-1996-71591FC85C3F}"/>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Valuation Summary </a:t>
            </a:r>
            <a:r>
              <a:rPr lang="ja-JP" altLang="en-US" dirty="0"/>
              <a:t>／</a:t>
            </a:r>
            <a:br>
              <a:rPr lang="en-US" altLang="ja-JP" dirty="0"/>
            </a:br>
            <a:r>
              <a:rPr lang="ja-JP" altLang="en-US" dirty="0"/>
              <a:t>試算結果</a:t>
            </a:r>
          </a:p>
        </p:txBody>
      </p:sp>
      <p:grpSp>
        <p:nvGrpSpPr>
          <p:cNvPr id="11" name="グループ化 10">
            <a:extLst>
              <a:ext uri="{FF2B5EF4-FFF2-40B4-BE49-F238E27FC236}">
                <a16:creationId xmlns:a16="http://schemas.microsoft.com/office/drawing/2014/main" id="{28C8DACB-015F-010F-F923-94C20FE54908}"/>
              </a:ext>
            </a:extLst>
          </p:cNvPr>
          <p:cNvGrpSpPr/>
          <p:nvPr/>
        </p:nvGrpSpPr>
        <p:grpSpPr>
          <a:xfrm>
            <a:off x="885526" y="2173586"/>
            <a:ext cx="3390141" cy="651396"/>
            <a:chOff x="885526" y="2554586"/>
            <a:chExt cx="3390141" cy="651396"/>
          </a:xfrm>
        </p:grpSpPr>
        <p:sp>
          <p:nvSpPr>
            <p:cNvPr id="12" name="テキスト ボックス 11">
              <a:extLst>
                <a:ext uri="{FF2B5EF4-FFF2-40B4-BE49-F238E27FC236}">
                  <a16:creationId xmlns:a16="http://schemas.microsoft.com/office/drawing/2014/main" id="{22B6E4BF-C4F4-525F-6A55-FCF5A0ACC52E}"/>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1</a:t>
              </a:r>
              <a:endParaRPr lang="ja-JP" altLang="en-US" spc="100" dirty="0">
                <a:solidFill>
                  <a:schemeClr val="accent2">
                    <a:lumMod val="90000"/>
                  </a:schemeClr>
                </a:solidFill>
              </a:endParaRPr>
            </a:p>
          </p:txBody>
        </p:sp>
        <p:cxnSp>
          <p:nvCxnSpPr>
            <p:cNvPr id="13" name="直線コネクタ 12">
              <a:extLst>
                <a:ext uri="{FF2B5EF4-FFF2-40B4-BE49-F238E27FC236}">
                  <a16:creationId xmlns:a16="http://schemas.microsoft.com/office/drawing/2014/main" id="{6086A45E-386C-748D-F12D-BB22E67E44E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22226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5677-B8B4-CBCB-42B2-C7230FBB069D}"/>
            </a:ext>
          </a:extLst>
        </p:cNvPr>
        <p:cNvGrpSpPr/>
        <p:nvPr/>
      </p:nvGrpSpPr>
      <p:grpSpPr>
        <a:xfrm>
          <a:off x="0" y="0"/>
          <a:ext cx="0" cy="0"/>
          <a:chOff x="0" y="0"/>
          <a:chExt cx="0" cy="0"/>
        </a:xfrm>
      </p:grpSpPr>
      <p:sp>
        <p:nvSpPr>
          <p:cNvPr id="5" name="字幕 4">
            <a:extLst>
              <a:ext uri="{FF2B5EF4-FFF2-40B4-BE49-F238E27FC236}">
                <a16:creationId xmlns:a16="http://schemas.microsoft.com/office/drawing/2014/main" id="{40B59A8A-DD72-B327-5EE3-75AE45DE656C}"/>
              </a:ext>
            </a:extLst>
          </p:cNvPr>
          <p:cNvSpPr>
            <a:spLocks noGrp="1"/>
          </p:cNvSpPr>
          <p:nvPr>
            <p:ph type="subTitle" idx="1"/>
          </p:nvPr>
        </p:nvSpPr>
        <p:spPr/>
        <p:txBody>
          <a:bodyPr/>
          <a:lstStyle/>
          <a:p>
            <a:r>
              <a:rPr lang="ja-JP" altLang="en-US" dirty="0">
                <a:solidFill/>
              </a:rPr>
              <a:t>現在、一般的に認められている株式価値算定の手法は次のとおり分類されています</a:t>
            </a:r>
          </a:p>
        </p:txBody>
      </p:sp>
      <p:sp>
        <p:nvSpPr>
          <p:cNvPr id="2" name="タイトル 1">
            <a:extLst>
              <a:ext uri="{FF2B5EF4-FFF2-40B4-BE49-F238E27FC236}">
                <a16:creationId xmlns:a16="http://schemas.microsoft.com/office/drawing/2014/main" id="{6661711B-6AA4-E2BF-069F-2959DD69E33E}"/>
              </a:ext>
            </a:extLst>
          </p:cNvPr>
          <p:cNvSpPr>
            <a:spLocks noGrp="1"/>
          </p:cNvSpPr>
          <p:nvPr>
            <p:ph type="ctrTitle"/>
          </p:nvPr>
        </p:nvSpPr>
        <p:spPr/>
        <p:txBody>
          <a:bodyPr/>
          <a:lstStyle/>
          <a:p>
            <a:r>
              <a:rPr lang="ja-JP" altLang="en-US" dirty="0">
                <a:solidFill/>
              </a:rPr>
              <a:t>採用するアプローチの選定</a:t>
            </a:r>
          </a:p>
        </p:txBody>
      </p:sp>
      <p:sp>
        <p:nvSpPr>
          <p:cNvPr id="3" name="タイトル 1">
            <a:extLst>
              <a:ext uri="{FF2B5EF4-FFF2-40B4-BE49-F238E27FC236}">
                <a16:creationId xmlns:a16="http://schemas.microsoft.com/office/drawing/2014/main" id="{E07A9094-1106-36D4-CE53-B7B2CE8FC369}"/>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solidFill/>
              </a:rPr>
              <a:t>1. Valuation Summary</a:t>
            </a:r>
            <a:endParaRPr lang="ja-JP" altLang="en-US" spc="0" dirty="0"/>
          </a:p>
        </p:txBody>
      </p:sp>
      <p:sp>
        <p:nvSpPr>
          <p:cNvPr id="6" name="乗算記号 5">
            <a:extLst>
              <a:ext uri="{FF2B5EF4-FFF2-40B4-BE49-F238E27FC236}">
                <a16:creationId xmlns:a16="http://schemas.microsoft.com/office/drawing/2014/main" id="{142BB6C9-EEAE-1776-D618-40F16814CE0C}"/>
              </a:ext>
            </a:extLst>
          </p:cNvPr>
          <p:cNvSpPr/>
          <p:nvPr/>
        </p:nvSpPr>
        <p:spPr>
          <a:xfrm>
            <a:off x="5418835" y="3889114"/>
            <a:ext cx="747006" cy="72381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3" name="フローチャート: 処理 12">
            <a:extLst>
              <a:ext uri="{FF2B5EF4-FFF2-40B4-BE49-F238E27FC236}">
                <a16:creationId xmlns:a16="http://schemas.microsoft.com/office/drawing/2014/main" id="{FA8545AF-F6D4-C9D4-463F-EE482C1828FE}"/>
              </a:ext>
            </a:extLst>
          </p:cNvPr>
          <p:cNvSpPr/>
          <p:nvPr/>
        </p:nvSpPr>
        <p:spPr>
          <a:xfrm>
            <a:off x="449264" y="6120538"/>
            <a:ext cx="9793286" cy="72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nSpc>
                <a:spcPct val="120000"/>
              </a:lnSpc>
              <a:spcAft>
                <a:spcPts val="300"/>
              </a:spcAft>
              <a:buNone/>
            </a:pPr>
            <a:br>
              <a:rPr lang="en-US" altLang="ja-JP" sz="1200" b="1" spc="30">
                <a:solidFill>
                  <a:schemeClr val="tx2"/>
                </a:solidFill>
                <a:latin typeface="+mj-ea"/>
                <a:ea typeface="+mj-ea"/>
              </a:rPr>
            </a:br>
            <a:r>
              <a:rPr sz="1050">
                <a:solidFill>
                  <a:srgbClr val="1A1A1A"/>
                </a:solidFill>
                <a:latin typeface="游ゴシック"/>
                <a:ea typeface="游ゴシック"/>
                <a:cs typeface="游ゴシック"/>
              </a:rPr>
              <a:t>最適な評価手法の選定にあたっては、対象会社の性質や評価目的などを踏まえ、総合的に判断する必要があります。</a:t>
            </a:r>
            <a:endParaRPr kumimoji="1" lang="ja-JP" altLang="en-US" sz="1200" b="1" spc="30" dirty="0">
              <a:solidFill>
                <a:schemeClr val="tx2"/>
              </a:solidFill>
              <a:latin typeface="+mj-ea"/>
              <a:ea typeface="+mj-ea"/>
            </a:endParaRPr>
          </a:p>
          <a:p>
            <a:pPr>
              <a:buNone/>
            </a:pPr>
            <a:r>
              <a:rPr sz="1050">
                <a:solidFill>
                  <a:srgbClr val="1A1A1A"/>
                </a:solidFill>
                <a:latin typeface="游ゴシック"/>
                <a:ea typeface="游ゴシック"/>
                <a:cs typeface="游ゴシック"/>
              </a:rPr>
              <a:t>なお、各手法の概略につきましては、巻末のAppendix「評価手法について」をご確認ください。</a:t>
            </a:r>
          </a:p>
        </p:txBody>
      </p:sp>
      <p:sp>
        <p:nvSpPr>
          <p:cNvPr id="14" name="乗算記号 13">
            <a:extLst>
              <a:ext uri="{FF2B5EF4-FFF2-40B4-BE49-F238E27FC236}">
                <a16:creationId xmlns:a16="http://schemas.microsoft.com/office/drawing/2014/main" id="{0E497E37-91F1-6E83-A999-ACA92BE33138}"/>
              </a:ext>
            </a:extLst>
          </p:cNvPr>
          <p:cNvSpPr/>
          <p:nvPr/>
        </p:nvSpPr>
        <p:spPr>
          <a:xfrm>
            <a:off x="5364867" y="5236843"/>
            <a:ext cx="854815" cy="82827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graphicFrame>
        <p:nvGraphicFramePr>
          <p:cNvPr id="15" name="表 14">
            <a:extLst>
              <a:ext uri="{FF2B5EF4-FFF2-40B4-BE49-F238E27FC236}">
                <a16:creationId xmlns:a16="http://schemas.microsoft.com/office/drawing/2014/main" id="{4C5CBA27-1CE9-EB68-0FF4-E0BB71BB8CFC}"/>
              </a:ext>
            </a:extLst>
          </p:cNvPr>
          <p:cNvGraphicFramePr>
            <a:graphicFrameLocks noGrp="1"/>
          </p:cNvGraphicFramePr>
          <p:nvPr/>
        </p:nvGraphicFramePr>
        <p:xfrm>
          <a:off x="456921" y="1366838"/>
          <a:ext cx="9792000" cy="446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1274597146"/>
                    </a:ext>
                  </a:extLst>
                </a:gridCol>
                <a:gridCol w="1440000">
                  <a:extLst>
                    <a:ext uri="{9D8B030D-6E8A-4147-A177-3AD203B41FA5}">
                      <a16:colId xmlns:a16="http://schemas.microsoft.com/office/drawing/2014/main" val="671554233"/>
                    </a:ext>
                  </a:extLst>
                </a:gridCol>
                <a:gridCol w="1908000">
                  <a:extLst>
                    <a:ext uri="{9D8B030D-6E8A-4147-A177-3AD203B41FA5}">
                      <a16:colId xmlns:a16="http://schemas.microsoft.com/office/drawing/2014/main" val="633478589"/>
                    </a:ext>
                  </a:extLst>
                </a:gridCol>
                <a:gridCol w="792000">
                  <a:extLst>
                    <a:ext uri="{9D8B030D-6E8A-4147-A177-3AD203B41FA5}">
                      <a16:colId xmlns:a16="http://schemas.microsoft.com/office/drawing/2014/main" val="2625689903"/>
                    </a:ext>
                  </a:extLst>
                </a:gridCol>
                <a:gridCol w="4212000">
                  <a:extLst>
                    <a:ext uri="{9D8B030D-6E8A-4147-A177-3AD203B41FA5}">
                      <a16:colId xmlns:a16="http://schemas.microsoft.com/office/drawing/2014/main" val="634309969"/>
                    </a:ext>
                  </a:extLst>
                </a:gridCol>
              </a:tblGrid>
              <a:tr h="360000">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評価アプローチ</a:t>
                      </a:r>
                    </a:p>
                  </a:txBody>
                  <a:tcPr marL="108000" marR="108000" marT="0" marB="0" anchor="ctr">
                    <a:lnL w="12700" cmpd="sng">
                      <a:noFill/>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着目点</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評価手法</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gridSpan="2">
                  <a:txBody>
                    <a:bodyPr/>
                    <a:lstStyle/>
                    <a:p>
                      <a:pPr marL="0" marR="0" lvl="0" indent="0" algn="ctr" defTabSz="1007943" rtl="0" eaLnBrk="1" fontAlgn="auto" latinLnBrk="0" hangingPunct="1">
                        <a:lnSpc>
                          <a:spcPct val="110000"/>
                        </a:lnSpc>
                        <a:spcBef>
                          <a:spcPts val="0"/>
                        </a:spcBef>
                        <a:spcAft>
                          <a:spcPts val="300"/>
                        </a:spcAft>
                        <a:buClrTx/>
                        <a:buSzTx/>
                        <a:buFontTx/>
                        <a:buNone/>
                        <a:tabLst/>
                        <a:defRPr/>
                      </a:pPr>
                      <a:r>
                        <a:rPr kumimoji="1" lang="ja-JP" altLang="en-US" sz="1200" b="1" kern="1200" dirty="0">
                          <a:solidFill>
                            <a:schemeClr val="lt1"/>
                          </a:solidFill>
                          <a:latin typeface="+mj-lt"/>
                          <a:ea typeface="+mj-ea"/>
                          <a:cs typeface="+mn-cs"/>
                        </a:rPr>
                        <a:t>採用可否と選定理由</a:t>
                      </a:r>
                    </a:p>
                  </a:txBody>
                  <a:tcPr marL="108000" marR="108000" marT="0" marB="0" anchor="ctr">
                    <a:lnL w="127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hMerge="1">
                  <a:txBody>
                    <a:bodyPr/>
                    <a:lstStyle/>
                    <a:p>
                      <a:endParaRPr kumimoji="1" lang="ja-JP" altLang="en-US" dirty="0"/>
                    </a:p>
                  </a:txBody>
                  <a:tcPr/>
                </a:tc>
                <a:extLst>
                  <a:ext uri="{0D108BD9-81ED-4DB2-BD59-A6C34878D82A}">
                    <a16:rowId xmlns:a16="http://schemas.microsoft.com/office/drawing/2014/main" val="3874904672"/>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コスト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純資産価値</a:t>
                      </a:r>
                      <a:endParaRPr kumimoji="1" lang="en-US" altLang="ja-JP" sz="11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j-lt"/>
                          <a:ea typeface="+mj-ea"/>
                          <a:cs typeface="+mn-cs"/>
                        </a:rPr>
                        <a:t>□ 薄価純資産価額法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時価純資産価額法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時価純資産＋営業権法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　（年買法）</a:t>
                      </a: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br>
                        <a:rPr kumimoji="1" lang="en-US" altLang="ja-JP" sz="1000" b="1" kern="1200" dirty="0">
                          <a:solidFill>
                            <a:schemeClr val="tx2"/>
                          </a:solidFill>
                          <a:latin typeface="+mj-lt"/>
                          <a:ea typeface="+mj-ea"/>
                          <a:cs typeface="+mn-cs"/>
                        </a:rPr>
                      </a:br>
                      <a:r>
                        <a:rPr sz="900">
                          <a:solidFill>
                            <a:srgbClr val="1A1A1A"/>
                          </a:solidFill>
                          <a:latin typeface="游ゴシック"/>
                          <a:ea typeface="游ゴシック"/>
                          <a:cs typeface="游ゴシック"/>
                        </a:rPr>
                        <a:t>時価純資産に会社の超過収益力である営業権を加算することで継続企業価値を算定する手法。</a:t>
                      </a:r>
                    </a:p>
                    <a:p>
                      <a:pPr>
                        <a:buNone/>
                      </a:pPr>
                      <a:r>
                        <a:rPr sz="900">
                          <a:solidFill>
                            <a:srgbClr val="1A1A1A"/>
                          </a:solidFill>
                          <a:latin typeface="游ゴシック"/>
                          <a:ea typeface="游ゴシック"/>
                          <a:cs typeface="游ゴシック"/>
                        </a:rPr>
                        <a:t>・実質的な財政状態に加え、経営成績をバランスよく反映させることができる「時価純資産価額法」に「営業権」を加味する手法を採用。</a:t>
                      </a:r>
                    </a:p>
                    <a:p>
                      <a:pPr>
                        <a:buNone/>
                      </a:pPr>
                      <a:r>
                        <a:rPr sz="900">
                          <a:solidFill>
                            <a:srgbClr val="1A1A1A"/>
                          </a:solidFill>
                          <a:latin typeface="游ゴシック"/>
                          <a:ea typeface="游ゴシック"/>
                          <a:cs typeface="游ゴシック"/>
                        </a:rPr>
                        <a:t>・本件は店舗・土地という事業用資産の比重が大きく、資産性が価値の中心であるため特に適合的である。</a:t>
                      </a: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36074"/>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マーケット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株式市場</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における株価</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市場価額法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類似業種比準法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類似会社比準法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a:t>
                      </a:r>
                      <a:r>
                        <a:rPr kumimoji="1" lang="en-US" altLang="ja-JP" sz="900" b="1" kern="1200" dirty="0">
                          <a:solidFill>
                            <a:schemeClr val="tx2"/>
                          </a:solidFill>
                          <a:latin typeface="+mj-lt"/>
                          <a:ea typeface="+mj-ea"/>
                          <a:cs typeface="+mn-cs"/>
                        </a:rPr>
                        <a:t>EV/EBITDA</a:t>
                      </a:r>
                      <a:r>
                        <a:rPr kumimoji="1" lang="ja-JP" altLang="en-US" sz="900" b="1" kern="1200" dirty="0">
                          <a:solidFill>
                            <a:schemeClr val="tx2"/>
                          </a:solidFill>
                          <a:latin typeface="+mj-lt"/>
                          <a:ea typeface="+mj-ea"/>
                          <a:cs typeface="+mn-cs"/>
                        </a:rPr>
                        <a:t>マルチプル法）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br>
                        <a:rPr kumimoji="1" lang="en-US" altLang="ja-JP" sz="1000" b="1" kern="1200" dirty="0">
                          <a:solidFill>
                            <a:schemeClr val="tx2"/>
                          </a:solidFill>
                          <a:latin typeface="+mj-lt"/>
                          <a:ea typeface="+mj-ea"/>
                          <a:cs typeface="+mn-cs"/>
                        </a:rPr>
                      </a:br>
                      <a:r>
                        <a:rPr sz="900">
                          <a:solidFill>
                            <a:srgbClr val="1A1A1A"/>
                          </a:solidFill>
                          <a:latin typeface="游ゴシック"/>
                          <a:ea typeface="游ゴシック"/>
                          <a:cs typeface="游ゴシック"/>
                        </a:rPr>
                        <a:t>規模・業種が類似する企業の株価指標（倍率）をもとに、価値を算定する手法。</a:t>
                      </a:r>
                    </a:p>
                    <a:p>
                      <a:pPr>
                        <a:buNone/>
                      </a:pPr>
                      <a:r>
                        <a:rPr sz="900">
                          <a:solidFill>
                            <a:srgbClr val="1A1A1A"/>
                          </a:solidFill>
                          <a:latin typeface="游ゴシック"/>
                          <a:ea typeface="游ゴシック"/>
                          <a:cs typeface="游ゴシック"/>
                        </a:rPr>
                        <a:t>・株式市場における客観的な評価尺度である「株価」をベースとし、市場のトレンドを反映できる本手法を採用。</a:t>
                      </a:r>
                    </a:p>
                    <a:p>
                      <a:pPr>
                        <a:buNone/>
                      </a:pPr>
                      <a:r>
                        <a:rPr sz="900">
                          <a:solidFill>
                            <a:srgbClr val="1A1A1A"/>
                          </a:solidFill>
                          <a:latin typeface="游ゴシック"/>
                          <a:ea typeface="游ゴシック"/>
                          <a:cs typeface="游ゴシック"/>
                        </a:rPr>
                        <a:t>・ただし当社は1店舗・年商22百万円であり、類似上場会社とは事業規模が大きく異なるため、倍率は中小企業M&amp;Aの実例水準を用いた。</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0160336"/>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インカム</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収益力</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収益還元法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en-US" altLang="ja-JP" sz="1100" b="1" kern="1200" dirty="0">
                          <a:solidFill>
                            <a:schemeClr val="accent1">
                              <a:lumMod val="60000"/>
                              <a:lumOff val="40000"/>
                            </a:schemeClr>
                          </a:solidFill>
                          <a:latin typeface="+mj-lt"/>
                          <a:ea typeface="+mj-ea"/>
                          <a:cs typeface="+mn-cs"/>
                        </a:rPr>
                        <a:t>DCF</a:t>
                      </a:r>
                      <a:r>
                        <a:rPr kumimoji="1" lang="ja-JP" altLang="en-US" sz="1100" b="1" kern="1200" dirty="0">
                          <a:solidFill>
                            <a:schemeClr val="accent1">
                              <a:lumMod val="60000"/>
                              <a:lumOff val="40000"/>
                            </a:schemeClr>
                          </a:solidFill>
                          <a:latin typeface="+mj-lt"/>
                          <a:ea typeface="+mj-ea"/>
                          <a:cs typeface="+mn-cs"/>
                        </a:rPr>
                        <a:t>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800" b="1" kern="1200" dirty="0">
                          <a:solidFill>
                            <a:schemeClr val="accent1">
                              <a:lumMod val="60000"/>
                              <a:lumOff val="40000"/>
                            </a:schemeClr>
                          </a:solidFill>
                          <a:latin typeface="+mj-lt"/>
                          <a:ea typeface="+mj-ea"/>
                          <a:cs typeface="+mn-cs"/>
                        </a:rPr>
                        <a:t>    （ディスカウンティド</a:t>
                      </a:r>
                      <a:br>
                        <a:rPr kumimoji="1" lang="en-US" altLang="ja-JP" sz="800" b="1" kern="1200" dirty="0">
                          <a:solidFill>
                            <a:schemeClr val="accent1">
                              <a:lumMod val="60000"/>
                              <a:lumOff val="40000"/>
                            </a:schemeClr>
                          </a:solidFill>
                          <a:latin typeface="+mj-lt"/>
                          <a:ea typeface="+mj-ea"/>
                          <a:cs typeface="+mn-cs"/>
                        </a:rPr>
                      </a:br>
                      <a:r>
                        <a:rPr kumimoji="1" lang="en-US" altLang="ja-JP" sz="800" b="1" kern="1200" dirty="0">
                          <a:solidFill>
                            <a:schemeClr val="accent1">
                              <a:lumMod val="60000"/>
                              <a:lumOff val="40000"/>
                            </a:schemeClr>
                          </a:solidFill>
                          <a:latin typeface="+mj-lt"/>
                          <a:ea typeface="+mj-ea"/>
                          <a:cs typeface="+mn-cs"/>
                        </a:rPr>
                        <a:t>        </a:t>
                      </a:r>
                      <a:r>
                        <a:rPr kumimoji="1" lang="ja-JP" altLang="en-US" sz="800" b="1" kern="1200" dirty="0">
                          <a:solidFill>
                            <a:schemeClr val="accent1">
                              <a:lumMod val="60000"/>
                              <a:lumOff val="40000"/>
                            </a:schemeClr>
                          </a:solidFill>
                          <a:latin typeface="+mj-lt"/>
                          <a:ea typeface="+mj-ea"/>
                          <a:cs typeface="+mn-cs"/>
                        </a:rPr>
                        <a:t>キャッシュフロー法）</a:t>
                      </a:r>
                      <a:endParaRPr kumimoji="1" lang="en-US" altLang="ja-JP" sz="8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配当還元法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indent="-144000" algn="l">
                        <a:lnSpc>
                          <a:spcPct val="110000"/>
                        </a:lnSpc>
                        <a:spcBef>
                          <a:spcPts val="0"/>
                        </a:spcBef>
                        <a:spcAft>
                          <a:spcPts val="300"/>
                        </a:spcAft>
                        <a:buClr>
                          <a:schemeClr val="tx2"/>
                        </a:buClr>
                        <a:buFont typeface="游ゴシック" panose="020B0400000000000000" pitchFamily="50" charset="-128"/>
                        <a:buNone/>
                      </a:pPr>
                      <a:r>
                        <a:rPr sz="900">
                          <a:solidFill>
                            <a:srgbClr val="1A1A1A"/>
                          </a:solidFill>
                          <a:latin typeface="游ゴシック"/>
                          <a:ea typeface="游ゴシック"/>
                          <a:cs typeface="游ゴシック"/>
                        </a:rPr>
                        <a:t>・収益還元法やDCF法を適用するには、根拠となる利益やキャッシュフローの計画値が必要となる。現状、詳細な事業計画が存在せず算定が困難であることから、これらの手法は採用しない。</a:t>
                      </a:r>
                    </a:p>
                    <a:p>
                      <a:pPr>
                        <a:buNone/>
                      </a:pPr>
                      <a:r>
                        <a:rPr sz="900">
                          <a:solidFill>
                            <a:srgbClr val="1A1A1A"/>
                          </a:solidFill>
                          <a:latin typeface="游ゴシック"/>
                          <a:ea typeface="游ゴシック"/>
                          <a:cs typeface="游ゴシック"/>
                        </a:rPr>
                        <a:t>・配当還元法は、本来、配当獲得を主眼とする少数株主の視点に立った評価手法である。したがって、本件取引の性質上、採用は適切ではないと判断した。</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6927477"/>
                  </a:ext>
                </a:extLst>
              </a:tr>
            </a:tbl>
          </a:graphicData>
        </a:graphic>
      </p:graphicFrame>
      <p:sp>
        <p:nvSpPr>
          <p:cNvPr id="36" name="正方形/長方形 35">
            <a:extLst>
              <a:ext uri="{FF2B5EF4-FFF2-40B4-BE49-F238E27FC236}">
                <a16:creationId xmlns:a16="http://schemas.microsoft.com/office/drawing/2014/main" id="{F9F3D3B4-E97C-CA46-6200-0218472772E0}"/>
              </a:ext>
            </a:extLst>
          </p:cNvPr>
          <p:cNvSpPr/>
          <p:nvPr/>
        </p:nvSpPr>
        <p:spPr>
          <a:xfrm>
            <a:off x="449263" y="6120538"/>
            <a:ext cx="1440000" cy="72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612000" tIns="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37" name="グループ化 36">
            <a:extLst>
              <a:ext uri="{FF2B5EF4-FFF2-40B4-BE49-F238E27FC236}">
                <a16:creationId xmlns:a16="http://schemas.microsoft.com/office/drawing/2014/main" id="{E898EBFA-2528-F2FB-84C8-F09FADD39F13}"/>
              </a:ext>
            </a:extLst>
          </p:cNvPr>
          <p:cNvGrpSpPr/>
          <p:nvPr/>
        </p:nvGrpSpPr>
        <p:grpSpPr>
          <a:xfrm>
            <a:off x="583355" y="6293952"/>
            <a:ext cx="373173" cy="373173"/>
            <a:chOff x="557955" y="6293952"/>
            <a:chExt cx="373173" cy="373173"/>
          </a:xfrm>
        </p:grpSpPr>
        <p:sp>
          <p:nvSpPr>
            <p:cNvPr id="38" name="楕円 37">
              <a:extLst>
                <a:ext uri="{FF2B5EF4-FFF2-40B4-BE49-F238E27FC236}">
                  <a16:creationId xmlns:a16="http://schemas.microsoft.com/office/drawing/2014/main" id="{389C6F0D-9B5A-2543-2198-3B5B285670D8}"/>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39" name="グループ化 38">
              <a:extLst>
                <a:ext uri="{FF2B5EF4-FFF2-40B4-BE49-F238E27FC236}">
                  <a16:creationId xmlns:a16="http://schemas.microsoft.com/office/drawing/2014/main" id="{8560C8E1-4DCA-CEC1-7D98-78FA5AFE8E73}"/>
                </a:ext>
              </a:extLst>
            </p:cNvPr>
            <p:cNvGrpSpPr/>
            <p:nvPr/>
          </p:nvGrpSpPr>
          <p:grpSpPr>
            <a:xfrm>
              <a:off x="620003" y="6342163"/>
              <a:ext cx="249077" cy="276751"/>
              <a:chOff x="605367" y="6371166"/>
              <a:chExt cx="210977" cy="234418"/>
            </a:xfrm>
          </p:grpSpPr>
          <p:sp>
            <p:nvSpPr>
              <p:cNvPr id="40" name="フリーフォーム: 図形 39">
                <a:extLst>
                  <a:ext uri="{FF2B5EF4-FFF2-40B4-BE49-F238E27FC236}">
                    <a16:creationId xmlns:a16="http://schemas.microsoft.com/office/drawing/2014/main" id="{79744F08-7A7F-1C36-C1D9-B8ED71537226}"/>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41" name="フリーフォーム: 図形 40">
                <a:extLst>
                  <a:ext uri="{FF2B5EF4-FFF2-40B4-BE49-F238E27FC236}">
                    <a16:creationId xmlns:a16="http://schemas.microsoft.com/office/drawing/2014/main" id="{D3FCDE67-0CF1-77D9-659B-CE2034D9D9B8}"/>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42" name="フリーフォーム: 図形 41">
                <a:extLst>
                  <a:ext uri="{FF2B5EF4-FFF2-40B4-BE49-F238E27FC236}">
                    <a16:creationId xmlns:a16="http://schemas.microsoft.com/office/drawing/2014/main" id="{2AE217CF-74E8-32CA-65CD-76EB0FEEDDD3}"/>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43" name="フリーフォーム: 図形 42">
                <a:extLst>
                  <a:ext uri="{FF2B5EF4-FFF2-40B4-BE49-F238E27FC236}">
                    <a16:creationId xmlns:a16="http://schemas.microsoft.com/office/drawing/2014/main" id="{02308513-C54F-4FAE-A20F-B4579F782FD7}"/>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6" name="フリーフォーム: 図形 45">
                <a:extLst>
                  <a:ext uri="{FF2B5EF4-FFF2-40B4-BE49-F238E27FC236}">
                    <a16:creationId xmlns:a16="http://schemas.microsoft.com/office/drawing/2014/main" id="{A66EF74A-42E2-64CE-3710-A80D5B8E3B53}"/>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7" name="フリーフォーム: 図形 46">
                <a:extLst>
                  <a:ext uri="{FF2B5EF4-FFF2-40B4-BE49-F238E27FC236}">
                    <a16:creationId xmlns:a16="http://schemas.microsoft.com/office/drawing/2014/main" id="{B0D5B854-2E41-4D3A-468F-D33B76BF091C}"/>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48" name="グラフィックス 32">
                <a:extLst>
                  <a:ext uri="{FF2B5EF4-FFF2-40B4-BE49-F238E27FC236}">
                    <a16:creationId xmlns:a16="http://schemas.microsoft.com/office/drawing/2014/main" id="{F383B767-481F-2755-6F75-CD54335E4008}"/>
                  </a:ext>
                </a:extLst>
              </p:cNvPr>
              <p:cNvGrpSpPr/>
              <p:nvPr/>
            </p:nvGrpSpPr>
            <p:grpSpPr>
              <a:xfrm>
                <a:off x="639299" y="6399061"/>
                <a:ext cx="149149" cy="149149"/>
                <a:chOff x="639299" y="6399061"/>
                <a:chExt cx="149149" cy="149149"/>
              </a:xfrm>
            </p:grpSpPr>
            <p:sp>
              <p:nvSpPr>
                <p:cNvPr id="59" name="フリーフォーム: 図形 58">
                  <a:extLst>
                    <a:ext uri="{FF2B5EF4-FFF2-40B4-BE49-F238E27FC236}">
                      <a16:creationId xmlns:a16="http://schemas.microsoft.com/office/drawing/2014/main" id="{5B51B83B-0943-ADC2-2455-8E83664BBFBE}"/>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0" name="フリーフォーム: 図形 59">
                  <a:extLst>
                    <a:ext uri="{FF2B5EF4-FFF2-40B4-BE49-F238E27FC236}">
                      <a16:creationId xmlns:a16="http://schemas.microsoft.com/office/drawing/2014/main" id="{145276C0-2C8D-7A97-FD3D-0F906A846958}"/>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49" name="フリーフォーム: 図形 48">
                <a:extLst>
                  <a:ext uri="{FF2B5EF4-FFF2-40B4-BE49-F238E27FC236}">
                    <a16:creationId xmlns:a16="http://schemas.microsoft.com/office/drawing/2014/main" id="{77EB68C9-E454-9D24-23CA-711803A1911D}"/>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50" name="グラフィックス 32">
                <a:extLst>
                  <a:ext uri="{FF2B5EF4-FFF2-40B4-BE49-F238E27FC236}">
                    <a16:creationId xmlns:a16="http://schemas.microsoft.com/office/drawing/2014/main" id="{528FAC06-79C8-D0C3-7A25-10E574345A71}"/>
                  </a:ext>
                </a:extLst>
              </p:cNvPr>
              <p:cNvGrpSpPr/>
              <p:nvPr/>
            </p:nvGrpSpPr>
            <p:grpSpPr>
              <a:xfrm>
                <a:off x="605367" y="6470794"/>
                <a:ext cx="210977" cy="5860"/>
                <a:chOff x="605367" y="6470794"/>
                <a:chExt cx="210977" cy="5860"/>
              </a:xfrm>
            </p:grpSpPr>
            <p:sp>
              <p:nvSpPr>
                <p:cNvPr id="57" name="フリーフォーム: 図形 56">
                  <a:extLst>
                    <a:ext uri="{FF2B5EF4-FFF2-40B4-BE49-F238E27FC236}">
                      <a16:creationId xmlns:a16="http://schemas.microsoft.com/office/drawing/2014/main" id="{4BFFA65F-8343-57FF-3BF0-A0744E26E026}"/>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D250E6B6-FB2D-5104-EDE9-70FC57F8A4FD}"/>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51" name="グラフィックス 32">
                <a:extLst>
                  <a:ext uri="{FF2B5EF4-FFF2-40B4-BE49-F238E27FC236}">
                    <a16:creationId xmlns:a16="http://schemas.microsoft.com/office/drawing/2014/main" id="{8986A5C1-349E-7A36-3EE9-7277DE54D243}"/>
                  </a:ext>
                </a:extLst>
              </p:cNvPr>
              <p:cNvGrpSpPr/>
              <p:nvPr/>
            </p:nvGrpSpPr>
            <p:grpSpPr>
              <a:xfrm>
                <a:off x="633262" y="6399061"/>
                <a:ext cx="149149" cy="149149"/>
                <a:chOff x="633262" y="6399061"/>
                <a:chExt cx="149149" cy="149149"/>
              </a:xfrm>
            </p:grpSpPr>
            <p:sp>
              <p:nvSpPr>
                <p:cNvPr id="53" name="フリーフォーム: 図形 52">
                  <a:extLst>
                    <a:ext uri="{FF2B5EF4-FFF2-40B4-BE49-F238E27FC236}">
                      <a16:creationId xmlns:a16="http://schemas.microsoft.com/office/drawing/2014/main" id="{F5412291-1DB9-9DE1-6A56-7377A0D63C34}"/>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C2E1BD1C-9D4B-37D8-0888-6D40B6A45667}"/>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sp>
        <p:nvSpPr>
          <p:cNvPr id="61" name="グラフィックス 59">
            <a:extLst>
              <a:ext uri="{FF2B5EF4-FFF2-40B4-BE49-F238E27FC236}">
                <a16:creationId xmlns:a16="http://schemas.microsoft.com/office/drawing/2014/main" id="{4243167B-A39B-11A2-C832-56FC6093FF70}"/>
              </a:ext>
            </a:extLst>
          </p:cNvPr>
          <p:cNvSpPr/>
          <p:nvPr/>
        </p:nvSpPr>
        <p:spPr>
          <a:xfrm>
            <a:off x="3507052" y="2478212"/>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sp>
        <p:nvSpPr>
          <p:cNvPr id="62" name="グラフィックス 59">
            <a:extLst>
              <a:ext uri="{FF2B5EF4-FFF2-40B4-BE49-F238E27FC236}">
                <a16:creationId xmlns:a16="http://schemas.microsoft.com/office/drawing/2014/main" id="{5DBAFE3A-EBEF-EBB2-E8FA-8870D3C86C9D}"/>
              </a:ext>
            </a:extLst>
          </p:cNvPr>
          <p:cNvSpPr/>
          <p:nvPr/>
        </p:nvSpPr>
        <p:spPr>
          <a:xfrm>
            <a:off x="3507052" y="3846447"/>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grpSp>
        <p:nvGrpSpPr>
          <p:cNvPr id="84" name="グループ化 83">
            <a:extLst>
              <a:ext uri="{FF2B5EF4-FFF2-40B4-BE49-F238E27FC236}">
                <a16:creationId xmlns:a16="http://schemas.microsoft.com/office/drawing/2014/main" id="{D26399A4-4A64-3667-475E-0430981C2BFA}"/>
              </a:ext>
            </a:extLst>
          </p:cNvPr>
          <p:cNvGrpSpPr/>
          <p:nvPr/>
        </p:nvGrpSpPr>
        <p:grpSpPr>
          <a:xfrm>
            <a:off x="5401757" y="2057401"/>
            <a:ext cx="557845" cy="3495772"/>
            <a:chOff x="5401757" y="2057401"/>
            <a:chExt cx="557845" cy="3495772"/>
          </a:xfrm>
        </p:grpSpPr>
        <p:grpSp>
          <p:nvGrpSpPr>
            <p:cNvPr id="18" name="グループ化 17">
              <a:extLst>
                <a:ext uri="{FF2B5EF4-FFF2-40B4-BE49-F238E27FC236}">
                  <a16:creationId xmlns:a16="http://schemas.microsoft.com/office/drawing/2014/main" id="{DB5C609D-310E-C306-98F7-D4C2DD3642DA}"/>
                </a:ext>
              </a:extLst>
            </p:cNvPr>
            <p:cNvGrpSpPr/>
            <p:nvPr/>
          </p:nvGrpSpPr>
          <p:grpSpPr>
            <a:xfrm>
              <a:off x="5475363" y="2057401"/>
              <a:ext cx="410634" cy="734169"/>
              <a:chOff x="5517698" y="2057401"/>
              <a:chExt cx="410634" cy="734169"/>
            </a:xfrm>
          </p:grpSpPr>
          <p:sp>
            <p:nvSpPr>
              <p:cNvPr id="34" name="楕円 33">
                <a:extLst>
                  <a:ext uri="{FF2B5EF4-FFF2-40B4-BE49-F238E27FC236}">
                    <a16:creationId xmlns:a16="http://schemas.microsoft.com/office/drawing/2014/main" id="{479466C7-C649-A725-BD8C-7F7550AB2EEF}"/>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3FFEDA4B-E179-A28B-0195-9A0DA4F61678}"/>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nvGrpSpPr>
            <p:cNvPr id="21" name="グループ化 20">
              <a:extLst>
                <a:ext uri="{FF2B5EF4-FFF2-40B4-BE49-F238E27FC236}">
                  <a16:creationId xmlns:a16="http://schemas.microsoft.com/office/drawing/2014/main" id="{24D7C6D8-9BED-A365-0AF5-79DC01D710F6}"/>
                </a:ext>
              </a:extLst>
            </p:cNvPr>
            <p:cNvGrpSpPr/>
            <p:nvPr/>
          </p:nvGrpSpPr>
          <p:grpSpPr>
            <a:xfrm>
              <a:off x="5401757" y="4859957"/>
              <a:ext cx="557845" cy="693216"/>
              <a:chOff x="5444092" y="3460750"/>
              <a:chExt cx="557845" cy="693216"/>
            </a:xfrm>
          </p:grpSpPr>
          <p:sp>
            <p:nvSpPr>
              <p:cNvPr id="22" name="テキスト ボックス 21">
                <a:extLst>
                  <a:ext uri="{FF2B5EF4-FFF2-40B4-BE49-F238E27FC236}">
                    <a16:creationId xmlns:a16="http://schemas.microsoft.com/office/drawing/2014/main" id="{4200C4FF-D773-CD41-30AA-E5E5CC2A5E14}"/>
                  </a:ext>
                </a:extLst>
              </p:cNvPr>
              <p:cNvSpPr txBox="1"/>
              <p:nvPr/>
            </p:nvSpPr>
            <p:spPr>
              <a:xfrm>
                <a:off x="5444092" y="3938522"/>
                <a:ext cx="557845" cy="215444"/>
              </a:xfrm>
              <a:prstGeom prst="rect">
                <a:avLst/>
              </a:prstGeom>
              <a:noFill/>
            </p:spPr>
            <p:txBody>
              <a:bodyPr wrap="none" lIns="0" tIns="0" rIns="0" bIns="0" rtlCol="0">
                <a:spAutoFit/>
              </a:bodyPr>
              <a:lstStyle/>
              <a:p>
                <a:pPr algn="ctr"/>
                <a:r>
                  <a:rPr kumimoji="1" lang="ja-JP" altLang="en-US" sz="1400" b="1" spc="50" dirty="0">
                    <a:solidFill>
                      <a:schemeClr val="accent1"/>
                    </a:solidFill>
                    <a:latin typeface="+mj-ea"/>
                    <a:ea typeface="+mj-ea"/>
                  </a:rPr>
                  <a:t>不採用</a:t>
                </a:r>
              </a:p>
            </p:txBody>
          </p:sp>
          <p:grpSp>
            <p:nvGrpSpPr>
              <p:cNvPr id="23" name="グループ化 22">
                <a:extLst>
                  <a:ext uri="{FF2B5EF4-FFF2-40B4-BE49-F238E27FC236}">
                    <a16:creationId xmlns:a16="http://schemas.microsoft.com/office/drawing/2014/main" id="{112413C6-A96E-7D3F-B364-F303C091FB32}"/>
                  </a:ext>
                </a:extLst>
              </p:cNvPr>
              <p:cNvGrpSpPr>
                <a:grpSpLocks noChangeAspect="1"/>
              </p:cNvGrpSpPr>
              <p:nvPr/>
            </p:nvGrpSpPr>
            <p:grpSpPr>
              <a:xfrm>
                <a:off x="5543015" y="3460750"/>
                <a:ext cx="360000" cy="360000"/>
                <a:chOff x="-161714" y="1568450"/>
                <a:chExt cx="412750" cy="412750"/>
              </a:xfrm>
            </p:grpSpPr>
            <p:cxnSp>
              <p:nvCxnSpPr>
                <p:cNvPr id="27" name="直線コネクタ 26">
                  <a:extLst>
                    <a:ext uri="{FF2B5EF4-FFF2-40B4-BE49-F238E27FC236}">
                      <a16:creationId xmlns:a16="http://schemas.microsoft.com/office/drawing/2014/main" id="{F8365950-98F3-B0B0-FDB0-CC66BBDEEF5D}"/>
                    </a:ext>
                  </a:extLst>
                </p:cNvPr>
                <p:cNvCxnSpPr>
                  <a:cxnSpLocks/>
                </p:cNvCxnSpPr>
                <p:nvPr/>
              </p:nvCxnSpPr>
              <p:spPr>
                <a:xfrm>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cxnSp>
              <p:nvCxnSpPr>
                <p:cNvPr id="28" name="直線コネクタ 27">
                  <a:extLst>
                    <a:ext uri="{FF2B5EF4-FFF2-40B4-BE49-F238E27FC236}">
                      <a16:creationId xmlns:a16="http://schemas.microsoft.com/office/drawing/2014/main" id="{9DBF255E-AD57-19F7-5F05-E30869355B1B}"/>
                    </a:ext>
                  </a:extLst>
                </p:cNvPr>
                <p:cNvCxnSpPr>
                  <a:cxnSpLocks/>
                </p:cNvCxnSpPr>
                <p:nvPr/>
              </p:nvCxnSpPr>
              <p:spPr>
                <a:xfrm flipH="1">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grpSp>
        </p:grpSp>
        <p:grpSp>
          <p:nvGrpSpPr>
            <p:cNvPr id="81" name="グループ化 80">
              <a:extLst>
                <a:ext uri="{FF2B5EF4-FFF2-40B4-BE49-F238E27FC236}">
                  <a16:creationId xmlns:a16="http://schemas.microsoft.com/office/drawing/2014/main" id="{4BB2CB5C-26A6-5AA8-C554-5E6E15B6C766}"/>
                </a:ext>
              </a:extLst>
            </p:cNvPr>
            <p:cNvGrpSpPr/>
            <p:nvPr/>
          </p:nvGrpSpPr>
          <p:grpSpPr>
            <a:xfrm>
              <a:off x="5475363" y="3458679"/>
              <a:ext cx="410634" cy="734169"/>
              <a:chOff x="5517698" y="2057401"/>
              <a:chExt cx="410634" cy="734169"/>
            </a:xfrm>
          </p:grpSpPr>
          <p:sp>
            <p:nvSpPr>
              <p:cNvPr id="82" name="楕円 81">
                <a:extLst>
                  <a:ext uri="{FF2B5EF4-FFF2-40B4-BE49-F238E27FC236}">
                    <a16:creationId xmlns:a16="http://schemas.microsoft.com/office/drawing/2014/main" id="{5B3FD3C1-E450-32CE-E683-E79A71D468AB}"/>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テキスト ボックス 82">
                <a:extLst>
                  <a:ext uri="{FF2B5EF4-FFF2-40B4-BE49-F238E27FC236}">
                    <a16:creationId xmlns:a16="http://schemas.microsoft.com/office/drawing/2014/main" id="{8DA332E3-3670-A6D4-F20F-91D631A6833E}"/>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spTree>
    <p:extLst>
      <p:ext uri="{BB962C8B-B14F-4D97-AF65-F5344CB8AC3E}">
        <p14:creationId xmlns:p14="http://schemas.microsoft.com/office/powerpoint/2010/main" val="714242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059B5-FB60-D143-C280-CC8417F28261}"/>
            </a:ext>
          </a:extLst>
        </p:cNvPr>
        <p:cNvGrpSpPr/>
        <p:nvPr/>
      </p:nvGrpSpPr>
      <p:grpSpPr>
        <a:xfrm>
          <a:off x="0" y="0"/>
          <a:ext cx="0" cy="0"/>
          <a:chOff x="0" y="0"/>
          <a:chExt cx="0" cy="0"/>
        </a:xfrm>
      </p:grpSpPr>
      <p:sp>
        <p:nvSpPr>
          <p:cNvPr id="26" name="タイトル 25">
            <a:extLst>
              <a:ext uri="{FF2B5EF4-FFF2-40B4-BE49-F238E27FC236}">
                <a16:creationId xmlns:a16="http://schemas.microsoft.com/office/drawing/2014/main" id="{13D15798-0B0F-EC57-0019-D0F77B468AEF}"/>
              </a:ext>
            </a:extLst>
          </p:cNvPr>
          <p:cNvSpPr>
            <a:spLocks noGrp="1"/>
          </p:cNvSpPr>
          <p:nvPr>
            <p:ph type="ctrTitle"/>
          </p:nvPr>
        </p:nvSpPr>
        <p:spPr>
          <a:xfrm>
            <a:off x="341313" y="180653"/>
            <a:ext cx="7799917" cy="338554"/>
          </a:xfrm>
        </p:spPr>
        <p:txBody>
          <a:bodyPr/>
          <a:lstStyle/>
          <a:p>
            <a:r>
              <a:rPr>
                <a:latin typeface="游ゴシック"/>
                <a:ea typeface="游ゴシック"/>
                <a:cs typeface="游ゴシック"/>
              </a:rPr>
              <a:t>株式価値の試算結果</a:t>
            </a:r>
          </a:p>
        </p:txBody>
      </p:sp>
      <p:sp>
        <p:nvSpPr>
          <p:cNvPr id="10" name="タイトル 1">
            <a:extLst>
              <a:ext uri="{FF2B5EF4-FFF2-40B4-BE49-F238E27FC236}">
                <a16:creationId xmlns:a16="http://schemas.microsoft.com/office/drawing/2014/main" id="{258AD7E0-D342-7F0B-B7C4-8C6662E241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1. Valuation Summary</a:t>
            </a:r>
            <a:endParaRPr lang="ja-JP" altLang="en-US" spc="0" dirty="0"/>
          </a:p>
        </p:txBody>
      </p:sp>
      <p:sp>
        <p:nvSpPr>
          <p:cNvPr id="27" name="Rectangle 26"/>
          <p:cNvSpPr/>
          <p:nvPr/>
        </p:nvSpPr>
        <p:spPr>
          <a:xfrm>
            <a:off x="448056" y="1280160"/>
            <a:ext cx="9893808"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試算の前提条件</a:t>
            </a:r>
          </a:p>
        </p:txBody>
      </p:sp>
      <p:graphicFrame>
        <p:nvGraphicFramePr>
          <p:cNvPr id="28" name="Table 27"/>
          <p:cNvGraphicFramePr>
            <a:graphicFrameLocks noGrp="1"/>
          </p:cNvGraphicFramePr>
          <p:nvPr/>
        </p:nvGraphicFramePr>
        <p:xfrm>
          <a:off x="448056" y="1591056"/>
          <a:ext cx="9893808" cy="2157984"/>
        </p:xfrm>
        <a:graphic>
          <a:graphicData uri="http://schemas.openxmlformats.org/drawingml/2006/table">
            <a:tbl>
              <a:tblPr firstRow="0" bandRow="0">
                <a:tableStyleId>{5940675A-B579-460E-94D1-54222C63F5DA}</a:tableStyleId>
              </a:tblPr>
              <a:tblGrid>
                <a:gridCol w="2103120"/>
                <a:gridCol w="7790688"/>
              </a:tblGrid>
              <a:tr h="237744">
                <a:tc>
                  <a:txBody>
                    <a:bodyPr wrap="square"/>
                    <a:lstStyle/>
                    <a:p>
                      <a:pPr algn="ctr">
                        <a:spcAft>
                          <a:spcPts val="0"/>
                        </a:spcAft>
                      </a:pPr>
                      <a:r>
                        <a:rPr sz="860" b="1">
                          <a:solidFill>
                            <a:srgbClr val="FFFFFF"/>
                          </a:solidFill>
                          <a:latin typeface="游ゴシック"/>
                          <a:ea typeface="游ゴシック"/>
                          <a:cs typeface="游ゴシック"/>
                        </a:rPr>
                        <a:t>項目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前提</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60" b="0">
                          <a:solidFill>
                            <a:srgbClr val="1A1A1A"/>
                          </a:solidFill>
                          <a:latin typeface="游ゴシック"/>
                          <a:ea typeface="游ゴシック"/>
                          <a:cs typeface="游ゴシック"/>
                        </a:rPr>
                        <a:t>評価基準日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2026年5月31日（2026年5月期末）</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60" b="0">
                          <a:solidFill>
                            <a:srgbClr val="1A1A1A"/>
                          </a:solidFill>
                          <a:latin typeface="游ゴシック"/>
                          <a:ea typeface="游ゴシック"/>
                          <a:cs typeface="游ゴシック"/>
                        </a:rPr>
                        <a:t>採用手法</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コストアプローチ（時価純資産＋営業権法）／マーケットアプローチは算定不能</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60" b="0">
                          <a:solidFill>
                            <a:srgbClr val="1A1A1A"/>
                          </a:solidFill>
                          <a:latin typeface="游ゴシック"/>
                          <a:ea typeface="游ゴシック"/>
                          <a:cs typeface="游ゴシック"/>
                        </a:rPr>
                        <a:t>後任者人件費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月額800千円 × 12か月 ＋ 法定福利費15％ ＝ 11,040千円を販管費へ算入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60" b="0">
                          <a:solidFill>
                            <a:srgbClr val="1A1A1A"/>
                          </a:solidFill>
                          <a:latin typeface="游ゴシック"/>
                          <a:ea typeface="游ゴシック"/>
                          <a:cs typeface="游ゴシック"/>
                        </a:rPr>
                        <a:t>役員報酬</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譲渡後も計上しない前提</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60" b="0">
                          <a:solidFill>
                            <a:srgbClr val="1A1A1A"/>
                          </a:solidFill>
                          <a:latin typeface="游ゴシック"/>
                          <a:ea typeface="游ゴシック"/>
                          <a:cs typeface="游ゴシック"/>
                        </a:rPr>
                        <a:t>役員借入金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32,744千円。譲渡後に段階的に返済する前提（株式の対価とは別に売主が受領）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60" b="0">
                          <a:solidFill>
                            <a:srgbClr val="1A1A1A"/>
                          </a:solidFill>
                          <a:latin typeface="游ゴシック"/>
                          <a:ea typeface="游ゴシック"/>
                          <a:cs typeface="游ゴシック"/>
                        </a:rPr>
                        <a:t>実効税率</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34％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60" b="0">
                          <a:solidFill>
                            <a:srgbClr val="1A1A1A"/>
                          </a:solidFill>
                          <a:latin typeface="游ゴシック"/>
                          <a:ea typeface="游ゴシック"/>
                          <a:cs typeface="游ゴシック"/>
                        </a:rPr>
                        <a:t>加重平均</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直近期50％・前期30％・前々期20％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9" name="Rectangle 28"/>
          <p:cNvSpPr/>
          <p:nvPr/>
        </p:nvSpPr>
        <p:spPr>
          <a:xfrm>
            <a:off x="448056" y="3840480"/>
            <a:ext cx="9893808"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試算結果</a:t>
            </a:r>
          </a:p>
        </p:txBody>
      </p:sp>
      <p:graphicFrame>
        <p:nvGraphicFramePr>
          <p:cNvPr id="30" name="Table 29"/>
          <p:cNvGraphicFramePr>
            <a:graphicFrameLocks noGrp="1"/>
          </p:cNvGraphicFramePr>
          <p:nvPr/>
        </p:nvGraphicFramePr>
        <p:xfrm>
          <a:off x="448056" y="4151376"/>
          <a:ext cx="9893808" cy="2066544"/>
        </p:xfrm>
        <a:graphic>
          <a:graphicData uri="http://schemas.openxmlformats.org/drawingml/2006/table">
            <a:tbl>
              <a:tblPr firstRow="0" bandRow="0">
                <a:tableStyleId>{5940675A-B579-460E-94D1-54222C63F5DA}</a:tableStyleId>
              </a:tblPr>
              <a:tblGrid>
                <a:gridCol w="1828800"/>
                <a:gridCol w="2743200"/>
                <a:gridCol w="1554480"/>
                <a:gridCol w="3767328"/>
              </a:tblGrid>
              <a:tr h="237744">
                <a:tc>
                  <a:txBody>
                    <a:bodyPr wrap="square"/>
                    <a:lstStyle/>
                    <a:p>
                      <a:pPr algn="ctr">
                        <a:spcAft>
                          <a:spcPts val="0"/>
                        </a:spcAft>
                      </a:pPr>
                      <a:r>
                        <a:rPr sz="860" b="1">
                          <a:solidFill>
                            <a:srgbClr val="FFFFFF"/>
                          </a:solidFill>
                          <a:latin typeface="游ゴシック"/>
                          <a:ea typeface="游ゴシック"/>
                          <a:cs typeface="游ゴシック"/>
                        </a:rPr>
                        <a:t>アプローチ</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手法</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想定株式価値</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備考</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57200">
                <a:tc>
                  <a:txBody>
                    <a:bodyPr wrap="square"/>
                    <a:lstStyle/>
                    <a:p>
                      <a:pPr algn="l">
                        <a:spcAft>
                          <a:spcPts val="0"/>
                        </a:spcAft>
                      </a:pPr>
                      <a:r>
                        <a:rPr sz="860" b="1">
                          <a:solidFill>
                            <a:srgbClr val="1A1A1A"/>
                          </a:solidFill>
                          <a:latin typeface="游ゴシック"/>
                          <a:ea typeface="游ゴシック"/>
                          <a:cs typeface="游ゴシック"/>
                        </a:rPr>
                        <a:t>コストアプローチ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1">
                          <a:solidFill>
                            <a:srgbClr val="1A1A1A"/>
                          </a:solidFill>
                          <a:latin typeface="游ゴシック"/>
                          <a:ea typeface="游ゴシック"/>
                          <a:cs typeface="游ゴシック"/>
                        </a:rPr>
                        <a:t>時価純資産＋営業権法（年買法）</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1">
                          <a:solidFill>
                            <a:srgbClr val="1A1A1A"/>
                          </a:solidFill>
                          <a:latin typeface="游ゴシック"/>
                          <a:ea typeface="游ゴシック"/>
                          <a:cs typeface="游ゴシック"/>
                        </a:rPr>
                        <a:t>22,483千円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1">
                          <a:solidFill>
                            <a:srgbClr val="1A1A1A"/>
                          </a:solidFill>
                          <a:latin typeface="游ゴシック"/>
                          <a:ea typeface="游ゴシック"/>
                          <a:cs typeface="游ゴシック"/>
                        </a:rPr>
                        <a:t>基準営業利益がマイナスのため営業権は0。倍率1〜3倍のいずれでも同額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57200">
                <a:tc>
                  <a:txBody>
                    <a:bodyPr wrap="square"/>
                    <a:lstStyle/>
                    <a:p>
                      <a:pPr algn="l">
                        <a:spcAft>
                          <a:spcPts val="0"/>
                        </a:spcAft>
                      </a:pPr>
                      <a:r>
                        <a:rPr sz="860" b="0">
                          <a:solidFill>
                            <a:srgbClr val="1A1A1A"/>
                          </a:solidFill>
                          <a:latin typeface="游ゴシック"/>
                          <a:ea typeface="游ゴシック"/>
                          <a:cs typeface="游ゴシック"/>
                        </a:rPr>
                        <a:t>マーケットアプローチ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EV/EBITDAマルチプル法</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算定不能</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基準EBITDAが△4,151千円のため事業価値を算定できない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57200">
                <a:tc>
                  <a:txBody>
                    <a:bodyPr wrap="square"/>
                    <a:lstStyle/>
                    <a:p>
                      <a:pPr algn="l">
                        <a:spcAft>
                          <a:spcPts val="0"/>
                        </a:spcAft>
                      </a:pPr>
                      <a:r>
                        <a:rPr sz="860" b="0">
                          <a:solidFill>
                            <a:srgbClr val="1A1A1A"/>
                          </a:solidFill>
                          <a:latin typeface="游ゴシック"/>
                          <a:ea typeface="游ゴシック"/>
                          <a:cs typeface="游ゴシック"/>
                        </a:rPr>
                        <a:t>インカムアプローチ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DCF法・収益還元法</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不採用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詳細な事業計画が存在せず算定が困難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57200">
                <a:tc>
                  <a:txBody>
                    <a:bodyPr wrap="square"/>
                    <a:lstStyle/>
                    <a:p>
                      <a:pPr algn="l">
                        <a:spcAft>
                          <a:spcPts val="0"/>
                        </a:spcAft>
                      </a:pPr>
                      <a:r>
                        <a:rPr sz="860" b="0">
                          <a:solidFill>
                            <a:srgbClr val="1A1A1A"/>
                          </a:solidFill>
                          <a:latin typeface="游ゴシック"/>
                          <a:ea typeface="游ゴシック"/>
                          <a:cs typeface="游ゴシック"/>
                        </a:rPr>
                        <a:t>（参考）着地目線</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時価純資産から未確定事項を概算控除</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16,519千円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評価手法による算定額ではなく、協議の目線（P.25）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31" name="Rectangle 30"/>
          <p:cNvSpPr/>
          <p:nvPr/>
        </p:nvSpPr>
        <p:spPr>
          <a:xfrm>
            <a:off x="448056" y="6272784"/>
            <a:ext cx="9893808" cy="512064"/>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57784" y="6409944"/>
            <a:ext cx="1435608" cy="237744"/>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33" name="TextBox 32"/>
          <p:cNvSpPr txBox="1"/>
          <p:nvPr/>
        </p:nvSpPr>
        <p:spPr>
          <a:xfrm>
            <a:off x="1993392" y="6364224"/>
            <a:ext cx="8238744" cy="329184"/>
          </a:xfrm>
          <a:prstGeom prst="rect">
            <a:avLst/>
          </a:prstGeom>
          <a:noFill/>
        </p:spPr>
        <p:txBody>
          <a:bodyPr wrap="square" lIns="0" rIns="0" tIns="0" bIns="0" anchor="ctr">
            <a:spAutoFit/>
          </a:bodyPr>
          <a:lstStyle/>
          <a:p>
            <a:pPr algn="l">
              <a:lnSpc>
                <a:spcPct val="118000"/>
              </a:lnSpc>
              <a:spcAft>
                <a:spcPts val="200"/>
              </a:spcAft>
            </a:pPr>
            <a:r>
              <a:rPr sz="900" b="0">
                <a:solidFill>
                  <a:srgbClr val="1A1A1A"/>
                </a:solidFill>
                <a:latin typeface="游ゴシック"/>
                <a:ea typeface="游ゴシック"/>
                <a:cs typeface="游ゴシック"/>
              </a:rPr>
              <a:t>本件の価値は収益力ではなく資産の裏付けにある。代表者・配偶者が無報酬であったことで実績は黒字であったが、後任者の人件費を織り込むと営業損益はマイナスとなり営業権は発生しない。</a:t>
            </a:r>
          </a:p>
        </p:txBody>
      </p:sp>
      <p:sp>
        <p:nvSpPr>
          <p:cNvPr id="34" name="TextBox 33"/>
          <p:cNvSpPr txBox="1"/>
          <p:nvPr/>
        </p:nvSpPr>
        <p:spPr>
          <a:xfrm>
            <a:off x="310896" y="685800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単位：千円。詳細はP.23（年買法）・P.24（マルチプル法）・P.25（譲渡条件と売主の受取見込み）をご参照ください。</a:t>
            </a:r>
          </a:p>
        </p:txBody>
      </p:sp>
    </p:spTree>
    <p:extLst>
      <p:ext uri="{BB962C8B-B14F-4D97-AF65-F5344CB8AC3E}">
        <p14:creationId xmlns:p14="http://schemas.microsoft.com/office/powerpoint/2010/main" val="3808153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5E39C6D-60F0-86EE-EFCF-872D0FE99B9E}"/>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B/S</a:t>
            </a:r>
            <a:r>
              <a:rPr lang="ja-JP" altLang="en-US" dirty="0"/>
              <a:t>）</a:t>
            </a:r>
          </a:p>
        </p:txBody>
      </p:sp>
      <p:grpSp>
        <p:nvGrpSpPr>
          <p:cNvPr id="2" name="グループ化 1">
            <a:extLst>
              <a:ext uri="{FF2B5EF4-FFF2-40B4-BE49-F238E27FC236}">
                <a16:creationId xmlns:a16="http://schemas.microsoft.com/office/drawing/2014/main" id="{15306978-470E-B0F6-C5FF-B26948AD9EB2}"/>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2A97B43C-A376-B0B0-4142-E5A9575AD60D}"/>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F5C91817-B1D9-7B38-6106-AA27E6695ACD}"/>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16583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5F3DF0AA-58C6-917B-B152-E777B0E55835}"/>
              </a:ext>
            </a:extLst>
          </p:cNvPr>
          <p:cNvSpPr>
            <a:spLocks noGrp="1"/>
          </p:cNvSpPr>
          <p:nvPr>
            <p:ph type="ctrTitle"/>
          </p:nvPr>
        </p:nvSpPr>
        <p:spPr/>
        <p:txBody>
          <a:bodyPr/>
          <a:lstStyle/>
          <a:p>
            <a:r>
              <a:rPr>
                <a:latin typeface="游ゴシック"/>
                <a:ea typeface="游ゴシック"/>
                <a:cs typeface="游ゴシック"/>
              </a:rPr>
              <a:t>過去BSの推移</a:t>
            </a:r>
          </a:p>
        </p:txBody>
      </p:sp>
      <p:sp>
        <p:nvSpPr>
          <p:cNvPr id="8" name="タイトル 1">
            <a:extLst>
              <a:ext uri="{FF2B5EF4-FFF2-40B4-BE49-F238E27FC236}">
                <a16:creationId xmlns:a16="http://schemas.microsoft.com/office/drawing/2014/main" id="{DAFB17AF-B358-FD61-383D-82CB09BDE6D1}"/>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sp>
        <p:nvSpPr>
          <p:cNvPr id="16" name="Rectangle 15"/>
          <p:cNvSpPr/>
          <p:nvPr/>
        </p:nvSpPr>
        <p:spPr>
          <a:xfrm>
            <a:off x="341312" y="6144766"/>
            <a:ext cx="10009187" cy="864045"/>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562503" y="6457916"/>
            <a:ext cx="1435608" cy="237744"/>
          </a:xfrm>
          <a:prstGeom prst="rect">
            <a:avLst/>
          </a:prstGeom>
          <a:noFill/>
        </p:spPr>
        <p:txBody>
          <a:bodyPr wrap="square" lIns="0" tIns="0" r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18" name="TextBox 17"/>
          <p:cNvSpPr txBox="1"/>
          <p:nvPr/>
        </p:nvSpPr>
        <p:spPr>
          <a:xfrm>
            <a:off x="1847248" y="6310144"/>
            <a:ext cx="6997314" cy="533288"/>
          </a:xfrm>
          <a:prstGeom prst="rect">
            <a:avLst/>
          </a:prstGeom>
          <a:noFill/>
        </p:spPr>
        <p:txBody>
          <a:bodyPr wrap="square" lIns="0" tIns="0" rIns="0" bIns="0" anchor="ctr">
            <a:spAutoFit/>
          </a:bodyPr>
          <a:lstStyle/>
          <a:p>
            <a:pPr algn="l">
              <a:lnSpc>
                <a:spcPct val="118000"/>
              </a:lnSpc>
              <a:spcAft>
                <a:spcPts val="200"/>
              </a:spcAft>
            </a:pPr>
            <a:r>
              <a:rPr sz="900" b="0" dirty="0">
                <a:solidFill>
                  <a:sysClr val="windowText" lastClr="000000"/>
                </a:solidFill>
                <a:latin typeface="游ゴシック"/>
                <a:ea typeface="游ゴシック"/>
                <a:cs typeface="游ゴシック"/>
              </a:rPr>
              <a:t>・総資産は減価償却の進行により69,313→64,254→57,330千円と毎期減少している。</a:t>
            </a:r>
          </a:p>
          <a:p>
            <a:pPr algn="l">
              <a:lnSpc>
                <a:spcPct val="118000"/>
              </a:lnSpc>
              <a:spcAft>
                <a:spcPts val="200"/>
              </a:spcAft>
            </a:pPr>
            <a:r>
              <a:rPr sz="900" b="0" dirty="0">
                <a:solidFill>
                  <a:sysClr val="windowText" lastClr="000000"/>
                </a:solidFill>
                <a:latin typeface="游ゴシック"/>
                <a:ea typeface="游ゴシック"/>
                <a:cs typeface="游ゴシック"/>
              </a:rPr>
              <a:t>・</a:t>
            </a:r>
            <a:r>
              <a:rPr sz="900" b="0" dirty="0" err="1">
                <a:solidFill>
                  <a:sysClr val="windowText" lastClr="000000"/>
                </a:solidFill>
                <a:latin typeface="游ゴシック"/>
                <a:ea typeface="游ゴシック"/>
                <a:cs typeface="游ゴシック"/>
              </a:rPr>
              <a:t>負債</a:t>
            </a:r>
            <a:r>
              <a:rPr lang="ja-JP" altLang="en-US" sz="900" dirty="0">
                <a:solidFill>
                  <a:sysClr val="windowText" lastClr="000000"/>
                </a:solidFill>
                <a:latin typeface="游ゴシック"/>
                <a:ea typeface="游ゴシック"/>
                <a:cs typeface="游ゴシック"/>
              </a:rPr>
              <a:t>の大半</a:t>
            </a:r>
            <a:r>
              <a:rPr sz="900" b="0" dirty="0" err="1">
                <a:solidFill>
                  <a:sysClr val="windowText" lastClr="000000"/>
                </a:solidFill>
                <a:latin typeface="游ゴシック"/>
                <a:ea typeface="游ゴシック"/>
                <a:cs typeface="游ゴシック"/>
              </a:rPr>
              <a:t>は代表者・配偶者からの長期借入金であり、金融機関借入はない</a:t>
            </a:r>
            <a:r>
              <a:rPr sz="900" b="0" dirty="0">
                <a:solidFill>
                  <a:sysClr val="windowText" lastClr="000000"/>
                </a:solidFill>
                <a:latin typeface="游ゴシック"/>
                <a:ea typeface="游ゴシック"/>
                <a:cs typeface="游ゴシック"/>
              </a:rPr>
              <a:t>。</a:t>
            </a:r>
          </a:p>
          <a:p>
            <a:pPr algn="l">
              <a:lnSpc>
                <a:spcPct val="118000"/>
              </a:lnSpc>
              <a:spcAft>
                <a:spcPts val="200"/>
              </a:spcAft>
            </a:pPr>
            <a:r>
              <a:rPr sz="900" b="0" dirty="0">
                <a:solidFill>
                  <a:sysClr val="windowText" lastClr="000000"/>
                </a:solidFill>
                <a:latin typeface="游ゴシック"/>
                <a:ea typeface="游ゴシック"/>
                <a:cs typeface="游ゴシック"/>
              </a:rPr>
              <a:t>・純資産は22,631→23,712→23,658千円とほぼ横ばい。</a:t>
            </a:r>
          </a:p>
        </p:txBody>
      </p:sp>
      <p:pic>
        <p:nvPicPr>
          <p:cNvPr id="9" name="図 8">
            <a:extLst>
              <a:ext uri="{FF2B5EF4-FFF2-40B4-BE49-F238E27FC236}">
                <a16:creationId xmlns:a16="http://schemas.microsoft.com/office/drawing/2014/main" id="{63BE5734-DCF3-D05A-5258-D9172DEC363C}"/>
              </a:ext>
            </a:extLst>
          </p:cNvPr>
          <p:cNvPicPr>
            <a:picLocks noChangeAspect="1"/>
          </p:cNvPicPr>
          <p:nvPr/>
        </p:nvPicPr>
        <p:blipFill>
          <a:blip r:embed="rId3"/>
          <a:stretch>
            <a:fillRect/>
          </a:stretch>
        </p:blipFill>
        <p:spPr>
          <a:xfrm>
            <a:off x="871751" y="1008092"/>
            <a:ext cx="3965720" cy="4823523"/>
          </a:xfrm>
          <a:prstGeom prst="rect">
            <a:avLst/>
          </a:prstGeom>
        </p:spPr>
      </p:pic>
      <p:pic>
        <p:nvPicPr>
          <p:cNvPr id="20" name="図 19">
            <a:extLst>
              <a:ext uri="{FF2B5EF4-FFF2-40B4-BE49-F238E27FC236}">
                <a16:creationId xmlns:a16="http://schemas.microsoft.com/office/drawing/2014/main" id="{A7295496-C8D7-ACCF-2D22-784C7F9B60F9}"/>
              </a:ext>
            </a:extLst>
          </p:cNvPr>
          <p:cNvPicPr>
            <a:picLocks noChangeAspect="1"/>
          </p:cNvPicPr>
          <p:nvPr/>
        </p:nvPicPr>
        <p:blipFill>
          <a:blip r:embed="rId4"/>
          <a:stretch>
            <a:fillRect/>
          </a:stretch>
        </p:blipFill>
        <p:spPr>
          <a:xfrm>
            <a:off x="4837471" y="842713"/>
            <a:ext cx="3969551" cy="2105588"/>
          </a:xfrm>
          <a:prstGeom prst="rect">
            <a:avLst/>
          </a:prstGeom>
        </p:spPr>
      </p:pic>
      <p:pic>
        <p:nvPicPr>
          <p:cNvPr id="26" name="図 25">
            <a:extLst>
              <a:ext uri="{FF2B5EF4-FFF2-40B4-BE49-F238E27FC236}">
                <a16:creationId xmlns:a16="http://schemas.microsoft.com/office/drawing/2014/main" id="{CD059CB2-F605-F806-D060-FB2AB2B47A6A}"/>
              </a:ext>
            </a:extLst>
          </p:cNvPr>
          <p:cNvPicPr>
            <a:picLocks noChangeAspect="1"/>
          </p:cNvPicPr>
          <p:nvPr/>
        </p:nvPicPr>
        <p:blipFill>
          <a:blip r:embed="rId5"/>
          <a:stretch>
            <a:fillRect/>
          </a:stretch>
        </p:blipFill>
        <p:spPr>
          <a:xfrm>
            <a:off x="4837471" y="4491029"/>
            <a:ext cx="3965721" cy="1340586"/>
          </a:xfrm>
          <a:prstGeom prst="rect">
            <a:avLst/>
          </a:prstGeom>
        </p:spPr>
      </p:pic>
    </p:spTree>
    <p:extLst>
      <p:ext uri="{BB962C8B-B14F-4D97-AF65-F5344CB8AC3E}">
        <p14:creationId xmlns:p14="http://schemas.microsoft.com/office/powerpoint/2010/main" val="995234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dirty="0">
                <a:latin typeface="游ゴシック" panose="020B0400000000000000" pitchFamily="50" charset="-128"/>
                <a:ea typeface="游ゴシック" panose="020B0400000000000000" pitchFamily="50" charset="-128"/>
                <a:cs typeface="游ゴシック"/>
              </a:rPr>
              <a:t>BS補足［資産］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panose="020B0400000000000000" pitchFamily="50" charset="-128"/>
                <a:ea typeface="游ゴシック" panose="020B0400000000000000" pitchFamily="50" charset="-128"/>
                <a:cs typeface="游ゴシック"/>
              </a:rPr>
              <a:t>2. Financial Analysis </a:t>
            </a:r>
            <a:endParaRPr lang="ja-JP" altLang="en-US" spc="0" dirty="0">
              <a:latin typeface="游ゴシック" panose="020B0400000000000000" pitchFamily="50" charset="-128"/>
              <a:ea typeface="游ゴシック" panose="020B0400000000000000" pitchFamily="50" charset="-128"/>
            </a:endParaRPr>
          </a:p>
        </p:txBody>
      </p:sp>
      <p:graphicFrame>
        <p:nvGraphicFramePr>
          <p:cNvPr id="7" name="Table 6"/>
          <p:cNvGraphicFramePr>
            <a:graphicFrameLocks noGrp="1"/>
          </p:cNvGraphicFramePr>
          <p:nvPr>
            <p:extLst>
              <p:ext uri="{D42A27DB-BD31-4B8C-83A1-F6EECF244321}">
                <p14:modId xmlns:p14="http://schemas.microsoft.com/office/powerpoint/2010/main" val="2959984470"/>
              </p:ext>
            </p:extLst>
          </p:nvPr>
        </p:nvGraphicFramePr>
        <p:xfrm>
          <a:off x="338328" y="1078992"/>
          <a:ext cx="9902952" cy="4992624"/>
        </p:xfrm>
        <a:graphic>
          <a:graphicData uri="http://schemas.openxmlformats.org/drawingml/2006/table">
            <a:tbl>
              <a:tblPr>
                <a:tableStyleId>{5940675A-B579-460E-94D1-54222C63F5DA}</a:tableStyleId>
              </a:tblPr>
              <a:tblGrid>
                <a:gridCol w="1554480">
                  <a:extLst>
                    <a:ext uri="{9D8B030D-6E8A-4147-A177-3AD203B41FA5}">
                      <a16:colId xmlns:a16="http://schemas.microsoft.com/office/drawing/2014/main" val="20000"/>
                    </a:ext>
                  </a:extLst>
                </a:gridCol>
                <a:gridCol w="841248">
                  <a:extLst>
                    <a:ext uri="{9D8B030D-6E8A-4147-A177-3AD203B41FA5}">
                      <a16:colId xmlns:a16="http://schemas.microsoft.com/office/drawing/2014/main" val="20001"/>
                    </a:ext>
                  </a:extLst>
                </a:gridCol>
                <a:gridCol w="7507224">
                  <a:extLst>
                    <a:ext uri="{9D8B030D-6E8A-4147-A177-3AD203B41FA5}">
                      <a16:colId xmlns:a16="http://schemas.microsoft.com/office/drawing/2014/main" val="20002"/>
                    </a:ext>
                  </a:extLst>
                </a:gridCol>
              </a:tblGrid>
              <a:tr h="237744">
                <a:tc>
                  <a:txBody>
                    <a:bodyPr/>
                    <a:lstStyle/>
                    <a:p>
                      <a:pPr algn="ctr">
                        <a:spcAft>
                          <a:spcPts val="0"/>
                        </a:spcAft>
                      </a:pPr>
                      <a:r>
                        <a:rPr sz="900" b="1">
                          <a:solidFill>
                            <a:srgbClr val="FFFFFF"/>
                          </a:solidFill>
                          <a:latin typeface="游ゴシック" panose="020B0400000000000000" pitchFamily="50" charset="-128"/>
                          <a:ea typeface="游ゴシック" panose="020B0400000000000000" pitchFamily="50" charset="-128"/>
                          <a:cs typeface="游ゴシック"/>
                        </a:rPr>
                        <a:t>科目</a:t>
                      </a:r>
                    </a:p>
                  </a:txBody>
                  <a:tcPr marL="45720" marR="45720" marT="9144" marB="9144" anchor="ctr">
                    <a:solidFill>
                      <a:srgbClr val="0B3041"/>
                    </a:solidFill>
                  </a:tcPr>
                </a:tc>
                <a:tc>
                  <a:txBody>
                    <a:bodyPr/>
                    <a:lstStyle/>
                    <a:p>
                      <a:pPr algn="ctr">
                        <a:spcAft>
                          <a:spcPts val="0"/>
                        </a:spcAft>
                      </a:pPr>
                      <a:r>
                        <a:rPr sz="900" b="1">
                          <a:solidFill>
                            <a:srgbClr val="FFFFFF"/>
                          </a:solidFill>
                          <a:latin typeface="游ゴシック" panose="020B0400000000000000" pitchFamily="50" charset="-128"/>
                          <a:ea typeface="游ゴシック" panose="020B0400000000000000" pitchFamily="50" charset="-128"/>
                          <a:cs typeface="Arial"/>
                        </a:rPr>
                        <a:t>2026/5期</a:t>
                      </a:r>
                    </a:p>
                  </a:txBody>
                  <a:tcPr marL="45720" marR="45720" marT="9144" marB="9144" anchor="ctr">
                    <a:solidFill>
                      <a:srgbClr val="0B3041"/>
                    </a:solidFill>
                  </a:tcPr>
                </a:tc>
                <a:tc>
                  <a:txBody>
                    <a:bodyPr/>
                    <a:lstStyle/>
                    <a:p>
                      <a:pPr algn="ctr">
                        <a:spcAft>
                          <a:spcPts val="0"/>
                        </a:spcAft>
                      </a:pPr>
                      <a:r>
                        <a:rPr lang="ja-JP" altLang="en-US" sz="900" b="1" dirty="0">
                          <a:solidFill>
                            <a:srgbClr val="FFFFFF"/>
                          </a:solidFill>
                          <a:latin typeface="游ゴシック" panose="020B0400000000000000" pitchFamily="50" charset="-128"/>
                          <a:ea typeface="游ゴシック" panose="020B0400000000000000" pitchFamily="50" charset="-128"/>
                          <a:cs typeface="Arial"/>
                        </a:rPr>
                        <a:t>内容</a:t>
                      </a:r>
                      <a:endParaRPr sz="900" b="1" dirty="0">
                        <a:solidFill>
                          <a:srgbClr val="FFFFFF"/>
                        </a:solidFill>
                        <a:latin typeface="游ゴシック" panose="020B0400000000000000" pitchFamily="50" charset="-128"/>
                        <a:ea typeface="游ゴシック" panose="020B0400000000000000" pitchFamily="50" charset="-128"/>
                        <a:cs typeface="Arial"/>
                      </a:endParaRPr>
                    </a:p>
                  </a:txBody>
                  <a:tcPr marL="45720" marR="45720" marT="9144" marB="9144" anchor="ctr">
                    <a:solidFill>
                      <a:srgbClr val="0B3041"/>
                    </a:solidFill>
                  </a:tcPr>
                </a:tc>
                <a:extLst>
                  <a:ext uri="{0D108BD9-81ED-4DB2-BD59-A6C34878D82A}">
                    <a16:rowId xmlns:a16="http://schemas.microsoft.com/office/drawing/2014/main" val="10000"/>
                  </a:ext>
                </a:extLst>
              </a:tr>
              <a:tr h="475488">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現金及び預金</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1,066</a:t>
                      </a:r>
                    </a:p>
                  </a:txBody>
                  <a:tcPr marL="45720" marR="45720" marT="9144" marB="9144" anchor="ctr">
                    <a:solidFill>
                      <a:srgbClr val="FFFFFF"/>
                    </a:solidFill>
                  </a:tcPr>
                </a:tc>
                <a:tc>
                  <a:txBody>
                    <a:bodyPr/>
                    <a:lstStyle/>
                    <a:p>
                      <a:pPr algn="l">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現金234千円＋筑波銀行普通預金832千円。</a:t>
                      </a:r>
                    </a:p>
                  </a:txBody>
                  <a:tcPr marL="45720" marR="45720" marT="9144" marB="9144" anchor="ctr">
                    <a:solidFill>
                      <a:srgbClr val="FFFFFF"/>
                    </a:solidFill>
                  </a:tcPr>
                </a:tc>
                <a:extLst>
                  <a:ext uri="{0D108BD9-81ED-4DB2-BD59-A6C34878D82A}">
                    <a16:rowId xmlns:a16="http://schemas.microsoft.com/office/drawing/2014/main" val="10001"/>
                  </a:ext>
                </a:extLst>
              </a:tr>
              <a:tr h="475488">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棚卸資産</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2,354</a:t>
                      </a:r>
                    </a:p>
                  </a:txBody>
                  <a:tcPr marL="45720" marR="45720" marT="9144" marB="9144" anchor="ctr">
                    <a:solidFill>
                      <a:srgbClr val="FFFFFF"/>
                    </a:solidFill>
                  </a:tcPr>
                </a:tc>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原材料2,025千円は玄そば。当社は1年寝かせてから製粉する製法のため「古」は正常在庫。「古古」312千円の滞留性は要確認。商品329千円は「伊勢又預け分」。</a:t>
                      </a:r>
                    </a:p>
                  </a:txBody>
                  <a:tcPr marL="45720" marR="45720" marT="9144" marB="9144" anchor="ctr">
                    <a:solidFill>
                      <a:srgbClr val="FFFFFF"/>
                    </a:solidFill>
                  </a:tcPr>
                </a:tc>
                <a:extLst>
                  <a:ext uri="{0D108BD9-81ED-4DB2-BD59-A6C34878D82A}">
                    <a16:rowId xmlns:a16="http://schemas.microsoft.com/office/drawing/2014/main" val="10002"/>
                  </a:ext>
                </a:extLst>
              </a:tr>
              <a:tr h="475488">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前払費用</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tc>
                  <a:txBody>
                    <a:bodyPr/>
                    <a:lstStyle/>
                    <a:p>
                      <a:pPr algn="r">
                        <a:spcAft>
                          <a:spcPts val="0"/>
                        </a:spcAft>
                      </a:pPr>
                      <a:r>
                        <a:rPr sz="900" b="0" dirty="0">
                          <a:solidFill>
                            <a:srgbClr val="1A1A1A"/>
                          </a:solidFill>
                          <a:latin typeface="游ゴシック" panose="020B0400000000000000" pitchFamily="50" charset="-128"/>
                          <a:ea typeface="游ゴシック" panose="020B0400000000000000" pitchFamily="50" charset="-128"/>
                          <a:cs typeface="Arial"/>
                        </a:rPr>
                        <a:t>77</a:t>
                      </a:r>
                    </a:p>
                  </a:txBody>
                  <a:tcPr marL="45720" marR="45720" marT="9144" marB="9144" anchor="ctr">
                    <a:solidFill>
                      <a:srgbClr val="FFFFFF"/>
                    </a:solidFill>
                  </a:tcPr>
                </a:tc>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そば種苗費の前払分</a:t>
                      </a:r>
                      <a:r>
                        <a:rPr sz="900" b="0" dirty="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extLst>
                  <a:ext uri="{0D108BD9-81ED-4DB2-BD59-A6C34878D82A}">
                    <a16:rowId xmlns:a16="http://schemas.microsoft.com/office/drawing/2014/main" val="10003"/>
                  </a:ext>
                </a:extLst>
              </a:tr>
              <a:tr h="475488">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未収入金</a:t>
                      </a:r>
                    </a:p>
                  </a:txBody>
                  <a:tcPr marL="45720" marR="45720" marT="9144" marB="9144" anchor="ctr">
                    <a:solidFill>
                      <a:srgbClr val="FFFFFF"/>
                    </a:solidFill>
                  </a:tcPr>
                </a:tc>
                <a:tc>
                  <a:txBody>
                    <a:bodyPr/>
                    <a:lstStyle/>
                    <a:p>
                      <a:pPr algn="r">
                        <a:spcAft>
                          <a:spcPts val="0"/>
                        </a:spcAft>
                      </a:pPr>
                      <a:r>
                        <a:rPr sz="900" b="0" dirty="0">
                          <a:solidFill>
                            <a:srgbClr val="1A1A1A"/>
                          </a:solidFill>
                          <a:latin typeface="游ゴシック" panose="020B0400000000000000" pitchFamily="50" charset="-128"/>
                          <a:ea typeface="游ゴシック" panose="020B0400000000000000" pitchFamily="50" charset="-128"/>
                          <a:cs typeface="Arial"/>
                        </a:rPr>
                        <a:t>3,323</a:t>
                      </a:r>
                    </a:p>
                  </a:txBody>
                  <a:tcPr marL="45720" marR="45720" marT="9144" marB="9144" anchor="ctr">
                    <a:solidFill>
                      <a:srgbClr val="FFFFFF"/>
                    </a:solidFill>
                  </a:tcPr>
                </a:tc>
                <a:tc>
                  <a:txBody>
                    <a:bodyPr/>
                    <a:lstStyle/>
                    <a:p>
                      <a:pPr algn="l">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塩町館2,624千円・小びと699千円の関係先向け債権。2,152→2,737→3,323千円と3期連続で増加しており回収懸念</a:t>
                      </a:r>
                      <a:r>
                        <a:rPr lang="ja-JP" altLang="en-US" sz="900" b="0" dirty="0">
                          <a:solidFill>
                            <a:srgbClr val="1A1A1A"/>
                          </a:solidFill>
                          <a:latin typeface="游ゴシック" panose="020B0400000000000000" pitchFamily="50" charset="-128"/>
                          <a:ea typeface="游ゴシック" panose="020B0400000000000000" pitchFamily="50" charset="-128"/>
                          <a:cs typeface="游ゴシック"/>
                        </a:rPr>
                        <a:t>については要確認。★</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extLst>
                  <a:ext uri="{0D108BD9-81ED-4DB2-BD59-A6C34878D82A}">
                    <a16:rowId xmlns:a16="http://schemas.microsoft.com/office/drawing/2014/main" val="10004"/>
                  </a:ext>
                </a:extLst>
              </a:tr>
              <a:tr h="475488">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建物</a:t>
                      </a:r>
                    </a:p>
                  </a:txBody>
                  <a:tcPr marL="45720" marR="45720" marT="9144" marB="9144" anchor="ctr">
                    <a:solidFill>
                      <a:srgbClr val="FFFFFF"/>
                    </a:solidFill>
                  </a:tcPr>
                </a:tc>
                <a:tc>
                  <a:txBody>
                    <a:bodyPr/>
                    <a:lstStyle/>
                    <a:p>
                      <a:pPr algn="r">
                        <a:spcAft>
                          <a:spcPts val="0"/>
                        </a:spcAft>
                      </a:pPr>
                      <a:r>
                        <a:rPr sz="900" b="0" dirty="0">
                          <a:solidFill>
                            <a:srgbClr val="1A1A1A"/>
                          </a:solidFill>
                          <a:latin typeface="游ゴシック" panose="020B0400000000000000" pitchFamily="50" charset="-128"/>
                          <a:ea typeface="游ゴシック" panose="020B0400000000000000" pitchFamily="50" charset="-128"/>
                          <a:cs typeface="Arial"/>
                        </a:rPr>
                        <a:t>39,249</a:t>
                      </a:r>
                    </a:p>
                  </a:txBody>
                  <a:tcPr marL="45720" marR="45720" marT="9144" marB="9144" anchor="ctr">
                    <a:solidFill>
                      <a:srgbClr val="FFFFFF"/>
                    </a:solidFill>
                  </a:tcPr>
                </a:tc>
                <a:tc>
                  <a:txBody>
                    <a:bodyPr/>
                    <a:lstStyle/>
                    <a:p>
                      <a:pPr algn="l">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取得価額104,599千円。償却限度額を毎期計上しており償却不足はない。うち塩町館関連5,442千円は当社の事業に未供用、かつ建物登記が未了</a:t>
                      </a:r>
                      <a:r>
                        <a:rPr lang="ja-JP" altLang="en-US" sz="900" b="0" dirty="0">
                          <a:solidFill>
                            <a:srgbClr val="1A1A1A"/>
                          </a:solidFill>
                          <a:latin typeface="游ゴシック" panose="020B0400000000000000" pitchFamily="50" charset="-128"/>
                          <a:ea typeface="游ゴシック" panose="020B0400000000000000" pitchFamily="50" charset="-128"/>
                          <a:cs typeface="游ゴシック"/>
                        </a:rPr>
                        <a:t>？★</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extLst>
                  <a:ext uri="{0D108BD9-81ED-4DB2-BD59-A6C34878D82A}">
                    <a16:rowId xmlns:a16="http://schemas.microsoft.com/office/drawing/2014/main" val="10005"/>
                  </a:ext>
                </a:extLst>
              </a:tr>
              <a:tr h="475488">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機械及び装置</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4,219</a:t>
                      </a:r>
                    </a:p>
                  </a:txBody>
                  <a:tcPr marL="45720" marR="45720" marT="9144" marB="9144" anchor="ctr">
                    <a:solidFill>
                      <a:srgbClr val="FFFFFF"/>
                    </a:solidFill>
                  </a:tcPr>
                </a:tc>
                <a:tc>
                  <a:txBody>
                    <a:bodyPr/>
                    <a:lstStyle/>
                    <a:p>
                      <a:pPr algn="l">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石臼製粉機・キルン等。2026年5月期にSUS製小型キルン3,456千円を取得。</a:t>
                      </a:r>
                    </a:p>
                  </a:txBody>
                  <a:tcPr marL="45720" marR="45720" marT="9144" marB="9144" anchor="ctr">
                    <a:solidFill>
                      <a:srgbClr val="FFFFFF"/>
                    </a:solidFill>
                  </a:tcPr>
                </a:tc>
                <a:extLst>
                  <a:ext uri="{0D108BD9-81ED-4DB2-BD59-A6C34878D82A}">
                    <a16:rowId xmlns:a16="http://schemas.microsoft.com/office/drawing/2014/main" val="10006"/>
                  </a:ext>
                </a:extLst>
              </a:tr>
              <a:tr h="475488">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車両運搬具</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0</a:t>
                      </a:r>
                    </a:p>
                  </a:txBody>
                  <a:tcPr marL="45720" marR="45720" marT="9144" marB="9144" anchor="ctr">
                    <a:solidFill>
                      <a:srgbClr val="FFFFFF"/>
                    </a:solidFill>
                  </a:tcPr>
                </a:tc>
                <a:tc>
                  <a:txBody>
                    <a:bodyPr/>
                    <a:lstStyle/>
                    <a:p>
                      <a:pPr algn="l">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ローバー車・シトロエン2CVフォルゴネットの2台。いずれも償却済（簿価1円）。</a:t>
                      </a:r>
                      <a:endParaRPr lang="en-US" sz="900" b="0" dirty="0">
                        <a:solidFill>
                          <a:srgbClr val="1A1A1A"/>
                        </a:solidFill>
                        <a:latin typeface="游ゴシック" panose="020B0400000000000000" pitchFamily="50" charset="-128"/>
                        <a:ea typeface="游ゴシック" panose="020B0400000000000000" pitchFamily="50" charset="-128"/>
                        <a:cs typeface="游ゴシック"/>
                      </a:endParaRPr>
                    </a:p>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クラシックカーであり時価は簿価を上回る可能性がある</a:t>
                      </a:r>
                      <a:r>
                        <a:rPr lang="ja-JP" altLang="en-US" sz="900" b="0" dirty="0">
                          <a:solidFill>
                            <a:srgbClr val="1A1A1A"/>
                          </a:solidFill>
                          <a:latin typeface="游ゴシック" panose="020B0400000000000000" pitchFamily="50" charset="-128"/>
                          <a:ea typeface="游ゴシック" panose="020B0400000000000000" pitchFamily="50" charset="-128"/>
                          <a:cs typeface="游ゴシック"/>
                        </a:rPr>
                        <a:t>。譲渡後の取扱いについては、協議が必要。★</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extLst>
                  <a:ext uri="{0D108BD9-81ED-4DB2-BD59-A6C34878D82A}">
                    <a16:rowId xmlns:a16="http://schemas.microsoft.com/office/drawing/2014/main" val="10007"/>
                  </a:ext>
                </a:extLst>
              </a:tr>
              <a:tr h="475488">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土地</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3,450</a:t>
                      </a:r>
                    </a:p>
                  </a:txBody>
                  <a:tcPr marL="45720" marR="45720" marT="9144" marB="9144" anchor="ctr">
                    <a:solidFill>
                      <a:srgbClr val="FFFFFF"/>
                    </a:solidFill>
                  </a:tcPr>
                </a:tc>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店舗敷地・駐車場。常陸太田市天下野町は路線価の設定がない地域と推察され、固定資産税評価額×倍率による評価が</a:t>
                      </a:r>
                      <a:r>
                        <a:rPr lang="ja-JP" altLang="en-US" sz="900" b="0" dirty="0">
                          <a:solidFill>
                            <a:srgbClr val="1A1A1A"/>
                          </a:solidFill>
                          <a:latin typeface="游ゴシック" panose="020B0400000000000000" pitchFamily="50" charset="-128"/>
                          <a:ea typeface="游ゴシック" panose="020B0400000000000000" pitchFamily="50" charset="-128"/>
                          <a:cs typeface="游ゴシック"/>
                        </a:rPr>
                        <a:t>必要。</a:t>
                      </a:r>
                      <a:endParaRPr lang="en-US" altLang="ja-JP" sz="900" b="0" dirty="0">
                        <a:solidFill>
                          <a:srgbClr val="1A1A1A"/>
                        </a:solidFill>
                        <a:latin typeface="游ゴシック" panose="020B0400000000000000" pitchFamily="50" charset="-128"/>
                        <a:ea typeface="游ゴシック" panose="020B0400000000000000" pitchFamily="50" charset="-128"/>
                        <a:cs typeface="游ゴシック"/>
                      </a:endParaRPr>
                    </a:p>
                    <a:p>
                      <a:pPr algn="l">
                        <a:spcAft>
                          <a:spcPts val="0"/>
                        </a:spcAft>
                      </a:pPr>
                      <a:r>
                        <a:rPr lang="ja-JP" altLang="en-US" sz="900" b="0" dirty="0">
                          <a:solidFill>
                            <a:srgbClr val="1A1A1A"/>
                          </a:solidFill>
                          <a:latin typeface="游ゴシック" panose="020B0400000000000000" pitchFamily="50" charset="-128"/>
                          <a:ea typeface="游ゴシック" panose="020B0400000000000000" pitchFamily="50" charset="-128"/>
                          <a:cs typeface="游ゴシック"/>
                        </a:rPr>
                        <a:t>固定資産税</a:t>
                      </a:r>
                      <a:r>
                        <a:rPr sz="900" b="0" dirty="0" err="1">
                          <a:solidFill>
                            <a:srgbClr val="1A1A1A"/>
                          </a:solidFill>
                          <a:latin typeface="游ゴシック" panose="020B0400000000000000" pitchFamily="50" charset="-128"/>
                          <a:ea typeface="游ゴシック" panose="020B0400000000000000" pitchFamily="50" charset="-128"/>
                          <a:cs typeface="游ゴシック"/>
                        </a:rPr>
                        <a:t>課税明細書</a:t>
                      </a:r>
                      <a:r>
                        <a:rPr lang="ja-JP" altLang="en-US" sz="900" b="0" dirty="0">
                          <a:solidFill>
                            <a:srgbClr val="1A1A1A"/>
                          </a:solidFill>
                          <a:latin typeface="游ゴシック" panose="020B0400000000000000" pitchFamily="50" charset="-128"/>
                          <a:ea typeface="游ゴシック" panose="020B0400000000000000" pitchFamily="50" charset="-128"/>
                          <a:cs typeface="游ゴシック"/>
                        </a:rPr>
                        <a:t>については、資料依頼中。★</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extLst>
                  <a:ext uri="{0D108BD9-81ED-4DB2-BD59-A6C34878D82A}">
                    <a16:rowId xmlns:a16="http://schemas.microsoft.com/office/drawing/2014/main" val="10008"/>
                  </a:ext>
                </a:extLst>
              </a:tr>
              <a:tr h="475488">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電話加入権</a:t>
                      </a:r>
                    </a:p>
                  </a:txBody>
                  <a:tcPr marL="45720" marR="45720" marT="9144" marB="9144" anchor="ctr">
                    <a:solidFill>
                      <a:srgbClr val="FFFFFF"/>
                    </a:solidFill>
                  </a:tcPr>
                </a:tc>
                <a:tc>
                  <a:txBody>
                    <a:bodyPr/>
                    <a:lstStyle/>
                    <a:p>
                      <a:pPr algn="r">
                        <a:spcAft>
                          <a:spcPts val="0"/>
                        </a:spcAft>
                      </a:pPr>
                      <a:r>
                        <a:rPr sz="900" b="0" dirty="0">
                          <a:solidFill>
                            <a:srgbClr val="1A1A1A"/>
                          </a:solidFill>
                          <a:latin typeface="游ゴシック" panose="020B0400000000000000" pitchFamily="50" charset="-128"/>
                          <a:ea typeface="游ゴシック" panose="020B0400000000000000" pitchFamily="50" charset="-128"/>
                          <a:cs typeface="Arial"/>
                        </a:rPr>
                        <a:t>75</a:t>
                      </a:r>
                    </a:p>
                  </a:txBody>
                  <a:tcPr marL="45720" marR="45720" marT="9144" marB="9144" anchor="ctr">
                    <a:solidFill>
                      <a:srgbClr val="FFFFFF"/>
                    </a:solidFill>
                  </a:tcPr>
                </a:tc>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換金価値がないためゼロ評価とする</a:t>
                      </a:r>
                      <a:r>
                        <a:rPr sz="900" b="0" dirty="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extLst>
                  <a:ext uri="{0D108BD9-81ED-4DB2-BD59-A6C34878D82A}">
                    <a16:rowId xmlns:a16="http://schemas.microsoft.com/office/drawing/2014/main" val="10009"/>
                  </a:ext>
                </a:extLst>
              </a:tr>
              <a:tr h="475488">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出資金</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1,100</a:t>
                      </a:r>
                    </a:p>
                  </a:txBody>
                  <a:tcPr marL="45720" marR="45720" marT="9144" marB="9144" anchor="ctr">
                    <a:solidFill>
                      <a:srgbClr val="FFFFFF"/>
                    </a:solidFill>
                  </a:tcPr>
                </a:tc>
                <a:tc>
                  <a:txBody>
                    <a:bodyPr/>
                    <a:lstStyle/>
                    <a:p>
                      <a:pPr algn="l">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（株）慈久庵咸亨酒1,000千円・（株）慈久庵伊勢又100千円。</a:t>
                      </a:r>
                      <a:endParaRPr lang="en-US" sz="900" b="0" dirty="0">
                        <a:solidFill>
                          <a:srgbClr val="1A1A1A"/>
                        </a:solidFill>
                        <a:latin typeface="游ゴシック" panose="020B0400000000000000" pitchFamily="50" charset="-128"/>
                        <a:ea typeface="游ゴシック" panose="020B0400000000000000" pitchFamily="50" charset="-128"/>
                        <a:cs typeface="游ゴシック"/>
                      </a:endParaRPr>
                    </a:p>
                    <a:p>
                      <a:pPr algn="l">
                        <a:spcAft>
                          <a:spcPts val="0"/>
                        </a:spcAft>
                      </a:pPr>
                      <a:r>
                        <a:rPr lang="ja-JP" altLang="en-US" sz="900" b="0" dirty="0">
                          <a:solidFill>
                            <a:srgbClr val="1A1A1A"/>
                          </a:solidFill>
                          <a:latin typeface="游ゴシック" panose="020B0400000000000000" pitchFamily="50" charset="-128"/>
                          <a:ea typeface="游ゴシック" panose="020B0400000000000000" pitchFamily="50" charset="-128"/>
                          <a:cs typeface="游ゴシック"/>
                        </a:rPr>
                        <a:t>換金価値がないためゼロ評価とする。</a:t>
                      </a:r>
                    </a:p>
                  </a:txBody>
                  <a:tcPr marL="45720" marR="45720" marT="9144" marB="9144" anchor="ctr">
                    <a:solidFill>
                      <a:srgbClr val="FFFFFF"/>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721680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a:latin typeface="游ゴシック"/>
                <a:ea typeface="游ゴシック"/>
                <a:cs typeface="游ゴシック"/>
              </a:rPr>
              <a:t>修正BS［資産］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sp>
        <p:nvSpPr>
          <p:cNvPr id="8" name="Rectangle 7"/>
          <p:cNvSpPr/>
          <p:nvPr/>
        </p:nvSpPr>
        <p:spPr>
          <a:xfrm>
            <a:off x="5925312" y="1078992"/>
            <a:ext cx="4315968" cy="576072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6016752" y="1152144"/>
            <a:ext cx="4133087" cy="274320"/>
          </a:xfrm>
          <a:prstGeom prst="rect">
            <a:avLst/>
          </a:prstGeom>
          <a:noFill/>
        </p:spPr>
        <p:txBody>
          <a:bodyPr wrap="square" lIns="0" tIns="0" r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0" name="TextBox 9"/>
          <p:cNvSpPr txBox="1"/>
          <p:nvPr/>
        </p:nvSpPr>
        <p:spPr>
          <a:xfrm>
            <a:off x="6035040" y="1499616"/>
            <a:ext cx="4096511" cy="4303679"/>
          </a:xfrm>
          <a:prstGeom prst="rect">
            <a:avLst/>
          </a:prstGeom>
          <a:noFill/>
        </p:spPr>
        <p:txBody>
          <a:bodyPr wrap="square" lIns="0" tIns="0" rIns="0" bIns="0" anchor="t">
            <a:spAutoFit/>
          </a:bodyPr>
          <a:lstStyle/>
          <a:p>
            <a:pPr>
              <a:lnSpc>
                <a:spcPct val="122000"/>
              </a:lnSpc>
              <a:spcAft>
                <a:spcPts val="200"/>
              </a:spcAft>
            </a:pPr>
            <a:r>
              <a:rPr lang="ja-JP" altLang="en-US" sz="950" b="1" dirty="0">
                <a:solidFill>
                  <a:srgbClr val="0889C9"/>
                </a:solidFill>
                <a:latin typeface="游ゴシック"/>
                <a:ea typeface="游ゴシック"/>
                <a:cs typeface="游ゴシック"/>
              </a:rPr>
              <a:t>棚卸資産</a:t>
            </a:r>
            <a:r>
              <a:rPr lang="ja-JP" altLang="en-US" sz="950" dirty="0">
                <a:solidFill>
                  <a:srgbClr val="1A1A1A"/>
                </a:solidFill>
                <a:latin typeface="游ゴシック"/>
                <a:ea typeface="游ゴシック"/>
                <a:cs typeface="游ゴシック"/>
              </a:rPr>
              <a:t>：原材料</a:t>
            </a:r>
            <a:r>
              <a:rPr lang="en-US" altLang="ja-JP" sz="950" dirty="0">
                <a:solidFill>
                  <a:srgbClr val="1A1A1A"/>
                </a:solidFill>
                <a:latin typeface="游ゴシック"/>
                <a:ea typeface="游ゴシック"/>
                <a:cs typeface="游ゴシック"/>
              </a:rPr>
              <a:t>2,025</a:t>
            </a:r>
            <a:r>
              <a:rPr lang="ja-JP" altLang="en-US" sz="950" dirty="0">
                <a:solidFill>
                  <a:srgbClr val="1A1A1A"/>
                </a:solidFill>
                <a:latin typeface="游ゴシック"/>
                <a:ea typeface="游ゴシック"/>
                <a:cs typeface="游ゴシック"/>
              </a:rPr>
              <a:t>千円は玄そば（海老根・新／古／古古）。当社は玄そばを</a:t>
            </a:r>
            <a:r>
              <a:rPr lang="en-US" altLang="ja-JP" sz="950" dirty="0">
                <a:solidFill>
                  <a:srgbClr val="1A1A1A"/>
                </a:solidFill>
                <a:latin typeface="游ゴシック"/>
                <a:ea typeface="游ゴシック"/>
                <a:cs typeface="游ゴシック"/>
              </a:rPr>
              <a:t>1</a:t>
            </a:r>
            <a:r>
              <a:rPr lang="ja-JP" altLang="en-US" sz="950" dirty="0">
                <a:solidFill>
                  <a:srgbClr val="1A1A1A"/>
                </a:solidFill>
                <a:latin typeface="游ゴシック"/>
                <a:ea typeface="游ゴシック"/>
                <a:cs typeface="游ゴシック"/>
              </a:rPr>
              <a:t>年寝かせてから製粉する製法のため「古」は正常在庫。「古古」</a:t>
            </a:r>
            <a:r>
              <a:rPr lang="en-US" altLang="ja-JP" sz="950" dirty="0">
                <a:solidFill>
                  <a:srgbClr val="1A1A1A"/>
                </a:solidFill>
                <a:latin typeface="游ゴシック"/>
                <a:ea typeface="游ゴシック"/>
                <a:cs typeface="游ゴシック"/>
              </a:rPr>
              <a:t>312</a:t>
            </a:r>
            <a:r>
              <a:rPr lang="ja-JP" altLang="en-US" sz="950" dirty="0">
                <a:solidFill>
                  <a:srgbClr val="1A1A1A"/>
                </a:solidFill>
                <a:latin typeface="游ゴシック"/>
                <a:ea typeface="游ゴシック"/>
                <a:cs typeface="游ゴシック"/>
              </a:rPr>
              <a:t>千円の滞留性は要確認。商品</a:t>
            </a:r>
            <a:r>
              <a:rPr lang="en-US" altLang="ja-JP" sz="950" dirty="0">
                <a:solidFill>
                  <a:srgbClr val="1A1A1A"/>
                </a:solidFill>
                <a:latin typeface="游ゴシック"/>
                <a:ea typeface="游ゴシック"/>
                <a:cs typeface="游ゴシック"/>
              </a:rPr>
              <a:t>329</a:t>
            </a:r>
            <a:r>
              <a:rPr lang="ja-JP" altLang="en-US" sz="950" dirty="0">
                <a:solidFill>
                  <a:srgbClr val="1A1A1A"/>
                </a:solidFill>
                <a:latin typeface="游ゴシック"/>
                <a:ea typeface="游ゴシック"/>
                <a:cs typeface="游ゴシック"/>
              </a:rPr>
              <a:t>千円は「伊勢又預け分」であり実在性・所有権については要確認事項。★</a:t>
            </a:r>
            <a:endParaRPr lang="en-US" sz="950" b="1" dirty="0">
              <a:solidFill>
                <a:srgbClr val="0889C9"/>
              </a:solidFill>
              <a:latin typeface="游ゴシック"/>
              <a:ea typeface="游ゴシック"/>
              <a:cs typeface="游ゴシック"/>
            </a:endParaRPr>
          </a:p>
          <a:p>
            <a:pPr algn="l">
              <a:lnSpc>
                <a:spcPct val="122000"/>
              </a:lnSpc>
              <a:spcAft>
                <a:spcPts val="200"/>
              </a:spcAft>
            </a:pPr>
            <a:endParaRPr lang="en-US" sz="950" b="1" dirty="0">
              <a:solidFill>
                <a:srgbClr val="0889C9"/>
              </a:solidFill>
              <a:latin typeface="游ゴシック"/>
              <a:ea typeface="游ゴシック"/>
              <a:cs typeface="游ゴシック"/>
            </a:endParaRPr>
          </a:p>
          <a:p>
            <a:pPr algn="l">
              <a:lnSpc>
                <a:spcPct val="122000"/>
              </a:lnSpc>
              <a:spcAft>
                <a:spcPts val="200"/>
              </a:spcAft>
            </a:pPr>
            <a:r>
              <a:rPr sz="950" b="1" dirty="0" err="1">
                <a:solidFill>
                  <a:srgbClr val="0889C9"/>
                </a:solidFill>
                <a:latin typeface="游ゴシック"/>
                <a:ea typeface="游ゴシック"/>
                <a:cs typeface="游ゴシック"/>
              </a:rPr>
              <a:t>貸倒引当金</a:t>
            </a:r>
            <a:r>
              <a:rPr sz="950" b="1" dirty="0">
                <a:solidFill>
                  <a:srgbClr val="0889C9"/>
                </a:solidFill>
                <a:latin typeface="游ゴシック"/>
                <a:ea typeface="游ゴシック"/>
                <a:cs typeface="游ゴシック"/>
              </a:rPr>
              <a:t> </a:t>
            </a:r>
            <a:r>
              <a:rPr sz="950" b="0" dirty="0">
                <a:solidFill>
                  <a:srgbClr val="1A1A1A"/>
                </a:solidFill>
                <a:latin typeface="游ゴシック"/>
                <a:ea typeface="游ゴシック"/>
                <a:cs typeface="游ゴシック"/>
              </a:rPr>
              <a:t>：売掛債権については個別に回収可能性を判断しており、また経常的に貸倒れが発生している事実がないことから、貸倒引当金の計上は不要と判断。</a:t>
            </a:r>
          </a:p>
          <a:p>
            <a:pPr algn="l">
              <a:spcAft>
                <a:spcPts val="200"/>
              </a:spcAft>
            </a:pPr>
            <a:endParaRPr sz="950" b="0" dirty="0">
              <a:solidFill>
                <a:srgbClr val="1A1A1A"/>
              </a:solidFill>
              <a:latin typeface="游ゴシック"/>
              <a:ea typeface="游ゴシック"/>
              <a:cs typeface="游ゴシック"/>
            </a:endParaRPr>
          </a:p>
          <a:p>
            <a:pPr algn="l">
              <a:lnSpc>
                <a:spcPct val="122000"/>
              </a:lnSpc>
              <a:spcAft>
                <a:spcPts val="200"/>
              </a:spcAft>
            </a:pPr>
            <a:r>
              <a:rPr sz="950" b="1" dirty="0" err="1">
                <a:solidFill>
                  <a:srgbClr val="0889C9"/>
                </a:solidFill>
                <a:latin typeface="游ゴシック"/>
                <a:ea typeface="游ゴシック"/>
                <a:cs typeface="游ゴシック"/>
              </a:rPr>
              <a:t>土地</a:t>
            </a:r>
            <a:r>
              <a:rPr lang="ja-JP" altLang="en-US" sz="950" b="1" dirty="0">
                <a:solidFill>
                  <a:srgbClr val="0889C9"/>
                </a:solidFill>
                <a:latin typeface="游ゴシック"/>
                <a:ea typeface="游ゴシック"/>
                <a:cs typeface="游ゴシック"/>
              </a:rPr>
              <a:t>・建物</a:t>
            </a:r>
            <a:r>
              <a:rPr sz="950" b="1" dirty="0">
                <a:solidFill>
                  <a:srgbClr val="0889C9"/>
                </a:solidFill>
                <a:latin typeface="游ゴシック"/>
                <a:ea typeface="游ゴシック"/>
                <a:cs typeface="游ゴシック"/>
              </a:rPr>
              <a:t> </a:t>
            </a:r>
            <a:r>
              <a:rPr sz="950" b="0" dirty="0">
                <a:solidFill>
                  <a:srgbClr val="1A1A1A"/>
                </a:solidFill>
                <a:latin typeface="游ゴシック"/>
                <a:ea typeface="游ゴシック"/>
                <a:cs typeface="游ゴシック"/>
              </a:rPr>
              <a:t>：</a:t>
            </a:r>
            <a:r>
              <a:rPr sz="950" b="0" dirty="0" err="1">
                <a:solidFill>
                  <a:srgbClr val="1A1A1A"/>
                </a:solidFill>
                <a:latin typeface="游ゴシック"/>
                <a:ea typeface="游ゴシック"/>
                <a:cs typeface="游ゴシック"/>
              </a:rPr>
              <a:t>固定資産税課税明細書</a:t>
            </a:r>
            <a:r>
              <a:rPr lang="ja-JP" altLang="en-US" sz="950" b="0" dirty="0">
                <a:solidFill>
                  <a:srgbClr val="1A1A1A"/>
                </a:solidFill>
                <a:latin typeface="游ゴシック"/>
                <a:ea typeface="游ゴシック"/>
                <a:cs typeface="游ゴシック"/>
              </a:rPr>
              <a:t>を受領次第、</a:t>
            </a:r>
            <a:r>
              <a:rPr sz="950" b="0" dirty="0" err="1">
                <a:solidFill>
                  <a:srgbClr val="1A1A1A"/>
                </a:solidFill>
                <a:latin typeface="游ゴシック"/>
                <a:ea typeface="游ゴシック"/>
                <a:cs typeface="游ゴシック"/>
              </a:rPr>
              <a:t>時価評価</a:t>
            </a:r>
            <a:r>
              <a:rPr lang="ja-JP" altLang="en-US" sz="950" b="0" dirty="0">
                <a:solidFill>
                  <a:srgbClr val="1A1A1A"/>
                </a:solidFill>
                <a:latin typeface="游ゴシック"/>
                <a:ea typeface="游ゴシック"/>
                <a:cs typeface="游ゴシック"/>
              </a:rPr>
              <a:t>を</a:t>
            </a:r>
            <a:r>
              <a:rPr sz="950" b="0" dirty="0" err="1">
                <a:solidFill>
                  <a:srgbClr val="1A1A1A"/>
                </a:solidFill>
                <a:latin typeface="游ゴシック"/>
                <a:ea typeface="游ゴシック"/>
                <a:cs typeface="游ゴシック"/>
              </a:rPr>
              <a:t>実施</a:t>
            </a:r>
            <a:r>
              <a:rPr lang="ja-JP" altLang="en-US" sz="950" b="0" dirty="0">
                <a:solidFill>
                  <a:srgbClr val="1A1A1A"/>
                </a:solidFill>
                <a:latin typeface="游ゴシック"/>
                <a:ea typeface="游ゴシック"/>
                <a:cs typeface="游ゴシック"/>
              </a:rPr>
              <a:t>予定</a:t>
            </a:r>
            <a:r>
              <a:rPr lang="ja-JP" altLang="en-US" sz="950" dirty="0">
                <a:solidFill>
                  <a:srgbClr val="1A1A1A"/>
                </a:solidFill>
                <a:latin typeface="游ゴシック"/>
                <a:ea typeface="游ゴシック"/>
                <a:cs typeface="游ゴシック"/>
              </a:rPr>
              <a:t>。現時点では、</a:t>
            </a:r>
            <a:r>
              <a:rPr sz="950" b="0" dirty="0" err="1">
                <a:solidFill>
                  <a:srgbClr val="1A1A1A"/>
                </a:solidFill>
                <a:latin typeface="游ゴシック"/>
                <a:ea typeface="游ゴシック"/>
                <a:cs typeface="游ゴシック"/>
              </a:rPr>
              <a:t>簿価評価としている</a:t>
            </a:r>
            <a:r>
              <a:rPr lang="ja-JP" altLang="en-US" sz="950" b="0" dirty="0">
                <a:solidFill>
                  <a:srgbClr val="1A1A1A"/>
                </a:solidFill>
                <a:latin typeface="游ゴシック"/>
                <a:ea typeface="游ゴシック"/>
                <a:cs typeface="游ゴシック"/>
              </a:rPr>
              <a:t>。★</a:t>
            </a:r>
            <a:endParaRPr sz="950" b="0" dirty="0">
              <a:solidFill>
                <a:srgbClr val="1A1A1A"/>
              </a:solidFill>
              <a:latin typeface="游ゴシック"/>
              <a:ea typeface="游ゴシック"/>
              <a:cs typeface="游ゴシック"/>
            </a:endParaRPr>
          </a:p>
          <a:p>
            <a:pPr algn="l">
              <a:spcAft>
                <a:spcPts val="200"/>
              </a:spcAft>
            </a:pPr>
            <a:endParaRPr sz="950" b="0" dirty="0">
              <a:solidFill>
                <a:srgbClr val="1A1A1A"/>
              </a:solidFill>
              <a:latin typeface="游ゴシック"/>
              <a:ea typeface="游ゴシック"/>
              <a:cs typeface="游ゴシック"/>
            </a:endParaRPr>
          </a:p>
          <a:p>
            <a:pPr algn="l">
              <a:lnSpc>
                <a:spcPct val="122000"/>
              </a:lnSpc>
              <a:spcAft>
                <a:spcPts val="200"/>
              </a:spcAft>
            </a:pPr>
            <a:r>
              <a:rPr sz="950" b="1" dirty="0" err="1">
                <a:solidFill>
                  <a:srgbClr val="0889C9"/>
                </a:solidFill>
                <a:latin typeface="游ゴシック"/>
                <a:ea typeface="游ゴシック"/>
                <a:cs typeface="游ゴシック"/>
              </a:rPr>
              <a:t>減価償却資産</a:t>
            </a:r>
            <a:r>
              <a:rPr sz="950" b="1" dirty="0">
                <a:solidFill>
                  <a:srgbClr val="0889C9"/>
                </a:solidFill>
                <a:latin typeface="游ゴシック"/>
                <a:ea typeface="游ゴシック"/>
                <a:cs typeface="游ゴシック"/>
              </a:rPr>
              <a:t> </a:t>
            </a:r>
            <a:r>
              <a:rPr sz="950" b="0" dirty="0">
                <a:solidFill>
                  <a:srgbClr val="1A1A1A"/>
                </a:solidFill>
                <a:latin typeface="游ゴシック"/>
                <a:ea typeface="游ゴシック"/>
                <a:cs typeface="游ゴシック"/>
              </a:rPr>
              <a:t>：</a:t>
            </a:r>
            <a:r>
              <a:rPr sz="950" b="0" dirty="0" err="1">
                <a:solidFill>
                  <a:srgbClr val="1A1A1A"/>
                </a:solidFill>
                <a:latin typeface="游ゴシック"/>
                <a:ea typeface="游ゴシック"/>
                <a:cs typeface="游ゴシック"/>
              </a:rPr>
              <a:t>固定資産減価償却内訳明細書により当期償却額が償却限度額と一致していることを確認した。償却不足額はないため修正は行っていない</a:t>
            </a:r>
            <a:r>
              <a:rPr sz="950" b="0" dirty="0">
                <a:solidFill>
                  <a:srgbClr val="1A1A1A"/>
                </a:solidFill>
                <a:latin typeface="游ゴシック"/>
                <a:ea typeface="游ゴシック"/>
                <a:cs typeface="游ゴシック"/>
              </a:rPr>
              <a:t>。</a:t>
            </a:r>
          </a:p>
          <a:p>
            <a:pPr algn="l">
              <a:spcAft>
                <a:spcPts val="200"/>
              </a:spcAft>
            </a:pPr>
            <a:endParaRPr sz="950" b="0" dirty="0">
              <a:solidFill>
                <a:srgbClr val="1A1A1A"/>
              </a:solidFill>
              <a:latin typeface="游ゴシック"/>
              <a:ea typeface="游ゴシック"/>
              <a:cs typeface="游ゴシック"/>
            </a:endParaRPr>
          </a:p>
          <a:p>
            <a:pPr algn="l">
              <a:lnSpc>
                <a:spcPct val="122000"/>
              </a:lnSpc>
              <a:spcAft>
                <a:spcPts val="200"/>
              </a:spcAft>
            </a:pPr>
            <a:r>
              <a:rPr sz="950" b="1" dirty="0" err="1">
                <a:solidFill>
                  <a:srgbClr val="0889C9"/>
                </a:solidFill>
                <a:latin typeface="游ゴシック"/>
                <a:ea typeface="游ゴシック"/>
                <a:cs typeface="游ゴシック"/>
              </a:rPr>
              <a:t>車両運搬具</a:t>
            </a:r>
            <a:r>
              <a:rPr sz="950" b="1" dirty="0">
                <a:solidFill>
                  <a:srgbClr val="0889C9"/>
                </a:solidFill>
                <a:latin typeface="游ゴシック"/>
                <a:ea typeface="游ゴシック"/>
                <a:cs typeface="游ゴシック"/>
              </a:rPr>
              <a:t> </a:t>
            </a:r>
            <a:r>
              <a:rPr sz="950" b="0" dirty="0">
                <a:solidFill>
                  <a:srgbClr val="1A1A1A"/>
                </a:solidFill>
                <a:latin typeface="游ゴシック"/>
                <a:ea typeface="游ゴシック"/>
                <a:cs typeface="游ゴシック"/>
              </a:rPr>
              <a:t>：ローバー車・シトロエン2CVフォルゴネットの2台はいずれも償却済（簿価1円）。</a:t>
            </a:r>
            <a:r>
              <a:rPr sz="950" b="0" dirty="0" err="1">
                <a:solidFill>
                  <a:srgbClr val="1A1A1A"/>
                </a:solidFill>
                <a:latin typeface="游ゴシック"/>
                <a:ea typeface="游ゴシック"/>
                <a:cs typeface="游ゴシック"/>
              </a:rPr>
              <a:t>クラシックカーとして時価が簿価を上回る可能性があるが</a:t>
            </a:r>
            <a:r>
              <a:rPr sz="950" b="0" dirty="0">
                <a:solidFill>
                  <a:srgbClr val="1A1A1A"/>
                </a:solidFill>
                <a:latin typeface="游ゴシック"/>
                <a:ea typeface="游ゴシック"/>
                <a:cs typeface="游ゴシック"/>
              </a:rPr>
              <a:t>、</a:t>
            </a:r>
            <a:r>
              <a:rPr lang="ja-JP" altLang="en-US" sz="950" b="0" dirty="0">
                <a:solidFill>
                  <a:srgbClr val="1A1A1A"/>
                </a:solidFill>
                <a:latin typeface="游ゴシック"/>
                <a:ea typeface="游ゴシック"/>
                <a:cs typeface="游ゴシック"/>
              </a:rPr>
              <a:t>私用車の場合は譲渡後に名義変更等の対応が必要。★</a:t>
            </a:r>
            <a:endParaRPr lang="en-US" altLang="ja-JP" sz="950" b="0" dirty="0">
              <a:solidFill>
                <a:srgbClr val="1A1A1A"/>
              </a:solidFill>
              <a:latin typeface="游ゴシック"/>
              <a:ea typeface="游ゴシック"/>
              <a:cs typeface="游ゴシック"/>
            </a:endParaRPr>
          </a:p>
          <a:p>
            <a:pPr algn="l">
              <a:lnSpc>
                <a:spcPct val="122000"/>
              </a:lnSpc>
              <a:spcAft>
                <a:spcPts val="200"/>
              </a:spcAft>
            </a:pPr>
            <a:endParaRPr lang="en-US" altLang="ja-JP" sz="950" b="0" dirty="0">
              <a:solidFill>
                <a:srgbClr val="1A1A1A"/>
              </a:solidFill>
              <a:latin typeface="游ゴシック"/>
              <a:ea typeface="游ゴシック"/>
              <a:cs typeface="游ゴシック"/>
            </a:endParaRPr>
          </a:p>
          <a:p>
            <a:pPr>
              <a:lnSpc>
                <a:spcPct val="122000"/>
              </a:lnSpc>
              <a:spcAft>
                <a:spcPts val="200"/>
              </a:spcAft>
            </a:pPr>
            <a:r>
              <a:rPr lang="ja-JP" altLang="en-US" sz="950" b="1" dirty="0">
                <a:solidFill>
                  <a:srgbClr val="0889C9"/>
                </a:solidFill>
                <a:latin typeface="游ゴシック"/>
                <a:ea typeface="游ゴシック"/>
                <a:cs typeface="游ゴシック"/>
              </a:rPr>
              <a:t>電話加入権 </a:t>
            </a:r>
            <a:r>
              <a:rPr lang="ja-JP" altLang="en-US" sz="950" dirty="0">
                <a:solidFill>
                  <a:srgbClr val="1A1A1A"/>
                </a:solidFill>
                <a:latin typeface="游ゴシック"/>
                <a:ea typeface="游ゴシック"/>
                <a:cs typeface="游ゴシック"/>
              </a:rPr>
              <a:t>：換金価値がないものとして評価。</a:t>
            </a:r>
            <a:endParaRPr lang="en-US" altLang="ja-JP" sz="950" dirty="0">
              <a:solidFill>
                <a:srgbClr val="1A1A1A"/>
              </a:solidFill>
              <a:latin typeface="游ゴシック"/>
              <a:ea typeface="游ゴシック"/>
              <a:cs typeface="游ゴシック"/>
            </a:endParaRPr>
          </a:p>
          <a:p>
            <a:pPr>
              <a:lnSpc>
                <a:spcPct val="122000"/>
              </a:lnSpc>
              <a:spcAft>
                <a:spcPts val="200"/>
              </a:spcAft>
            </a:pPr>
            <a:endParaRPr sz="950" b="0" dirty="0">
              <a:solidFill>
                <a:srgbClr val="1A1A1A"/>
              </a:solidFill>
              <a:latin typeface="游ゴシック"/>
              <a:ea typeface="游ゴシック"/>
              <a:cs typeface="游ゴシック"/>
            </a:endParaRPr>
          </a:p>
          <a:p>
            <a:pPr algn="l">
              <a:lnSpc>
                <a:spcPct val="122000"/>
              </a:lnSpc>
              <a:spcAft>
                <a:spcPts val="200"/>
              </a:spcAft>
            </a:pPr>
            <a:r>
              <a:rPr sz="950" b="1" dirty="0" err="1">
                <a:solidFill>
                  <a:srgbClr val="0889C9"/>
                </a:solidFill>
                <a:latin typeface="游ゴシック"/>
                <a:ea typeface="游ゴシック"/>
                <a:cs typeface="游ゴシック"/>
              </a:rPr>
              <a:t>出資金</a:t>
            </a:r>
            <a:r>
              <a:rPr sz="950" b="1" dirty="0">
                <a:solidFill>
                  <a:srgbClr val="0889C9"/>
                </a:solidFill>
                <a:latin typeface="游ゴシック"/>
                <a:ea typeface="游ゴシック"/>
                <a:cs typeface="游ゴシック"/>
              </a:rPr>
              <a:t> </a:t>
            </a:r>
            <a:r>
              <a:rPr sz="950" b="0" dirty="0">
                <a:solidFill>
                  <a:srgbClr val="1A1A1A"/>
                </a:solidFill>
                <a:latin typeface="游ゴシック"/>
                <a:ea typeface="游ゴシック"/>
                <a:cs typeface="游ゴシック"/>
              </a:rPr>
              <a:t>：関係会社2社への出資。</a:t>
            </a:r>
            <a:r>
              <a:rPr lang="ja-JP" altLang="en-US" sz="950" b="0" dirty="0">
                <a:solidFill>
                  <a:srgbClr val="1A1A1A"/>
                </a:solidFill>
                <a:latin typeface="游ゴシック"/>
                <a:ea typeface="游ゴシック"/>
                <a:cs typeface="游ゴシック"/>
              </a:rPr>
              <a:t>こちらも換金価値がないものとして評価。</a:t>
            </a:r>
            <a:endParaRPr sz="950" b="0" dirty="0">
              <a:solidFill>
                <a:srgbClr val="1A1A1A"/>
              </a:solidFill>
              <a:latin typeface="游ゴシック"/>
              <a:ea typeface="游ゴシック"/>
              <a:cs typeface="游ゴシック"/>
            </a:endParaRPr>
          </a:p>
        </p:txBody>
      </p:sp>
      <p:pic>
        <p:nvPicPr>
          <p:cNvPr id="14" name="図 13">
            <a:extLst>
              <a:ext uri="{FF2B5EF4-FFF2-40B4-BE49-F238E27FC236}">
                <a16:creationId xmlns:a16="http://schemas.microsoft.com/office/drawing/2014/main" id="{82EF4E54-087A-DDB6-107B-412488ECFDA7}"/>
              </a:ext>
            </a:extLst>
          </p:cNvPr>
          <p:cNvPicPr>
            <a:picLocks noChangeAspect="1"/>
          </p:cNvPicPr>
          <p:nvPr/>
        </p:nvPicPr>
        <p:blipFill>
          <a:blip r:embed="rId2"/>
          <a:stretch>
            <a:fillRect/>
          </a:stretch>
        </p:blipFill>
        <p:spPr>
          <a:xfrm>
            <a:off x="297611" y="781050"/>
            <a:ext cx="4468889" cy="6062145"/>
          </a:xfrm>
          <a:prstGeom prst="rect">
            <a:avLst/>
          </a:prstGeom>
        </p:spPr>
      </p:pic>
    </p:spTree>
    <p:extLst>
      <p:ext uri="{BB962C8B-B14F-4D97-AF65-F5344CB8AC3E}">
        <p14:creationId xmlns:p14="http://schemas.microsoft.com/office/powerpoint/2010/main" val="1717633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2C329-BBDE-997E-33BB-A9FD47BC642C}"/>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012852EF-C89F-A030-08AF-F6FD92C8DC4C}"/>
              </a:ext>
            </a:extLst>
          </p:cNvPr>
          <p:cNvSpPr>
            <a:spLocks noGrp="1"/>
          </p:cNvSpPr>
          <p:nvPr>
            <p:ph type="ctrTitle"/>
          </p:nvPr>
        </p:nvSpPr>
        <p:spPr/>
        <p:txBody>
          <a:bodyPr/>
          <a:lstStyle/>
          <a:p>
            <a:r>
              <a:rPr>
                <a:latin typeface="游ゴシック"/>
                <a:ea typeface="游ゴシック"/>
                <a:cs typeface="游ゴシック"/>
              </a:rPr>
              <a:t>BS補足［負債・純資産］</a:t>
            </a:r>
          </a:p>
        </p:txBody>
      </p:sp>
      <p:sp>
        <p:nvSpPr>
          <p:cNvPr id="6" name="タイトル 1">
            <a:extLst>
              <a:ext uri="{FF2B5EF4-FFF2-40B4-BE49-F238E27FC236}">
                <a16:creationId xmlns:a16="http://schemas.microsoft.com/office/drawing/2014/main" id="{D054D60A-9874-6F6C-68B4-54AD036BE4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7" name="Table 6"/>
          <p:cNvGraphicFramePr>
            <a:graphicFrameLocks noGrp="1"/>
          </p:cNvGraphicFramePr>
          <p:nvPr>
            <p:extLst>
              <p:ext uri="{D42A27DB-BD31-4B8C-83A1-F6EECF244321}">
                <p14:modId xmlns:p14="http://schemas.microsoft.com/office/powerpoint/2010/main" val="2071011576"/>
              </p:ext>
            </p:extLst>
          </p:nvPr>
        </p:nvGraphicFramePr>
        <p:xfrm>
          <a:off x="338328" y="1078992"/>
          <a:ext cx="9902952" cy="4846320"/>
        </p:xfrm>
        <a:graphic>
          <a:graphicData uri="http://schemas.openxmlformats.org/drawingml/2006/table">
            <a:tbl>
              <a:tblPr>
                <a:tableStyleId>{5940675A-B579-460E-94D1-54222C63F5DA}</a:tableStyleId>
              </a:tblPr>
              <a:tblGrid>
                <a:gridCol w="1554480">
                  <a:extLst>
                    <a:ext uri="{9D8B030D-6E8A-4147-A177-3AD203B41FA5}">
                      <a16:colId xmlns:a16="http://schemas.microsoft.com/office/drawing/2014/main" val="20000"/>
                    </a:ext>
                  </a:extLst>
                </a:gridCol>
                <a:gridCol w="841248">
                  <a:extLst>
                    <a:ext uri="{9D8B030D-6E8A-4147-A177-3AD203B41FA5}">
                      <a16:colId xmlns:a16="http://schemas.microsoft.com/office/drawing/2014/main" val="20001"/>
                    </a:ext>
                  </a:extLst>
                </a:gridCol>
                <a:gridCol w="7507224">
                  <a:extLst>
                    <a:ext uri="{9D8B030D-6E8A-4147-A177-3AD203B41FA5}">
                      <a16:colId xmlns:a16="http://schemas.microsoft.com/office/drawing/2014/main" val="20002"/>
                    </a:ext>
                  </a:extLst>
                </a:gridCol>
              </a:tblGrid>
              <a:tr h="237744">
                <a:tc>
                  <a:txBody>
                    <a:bodyPr/>
                    <a:lstStyle/>
                    <a:p>
                      <a:pPr algn="ctr">
                        <a:spcAft>
                          <a:spcPts val="0"/>
                        </a:spcAft>
                      </a:pPr>
                      <a:r>
                        <a:rPr sz="900" b="1">
                          <a:solidFill>
                            <a:srgbClr val="FFFFFF"/>
                          </a:solidFill>
                          <a:latin typeface="游ゴシック" panose="020B0400000000000000" pitchFamily="50" charset="-128"/>
                          <a:ea typeface="游ゴシック" panose="020B0400000000000000" pitchFamily="50" charset="-128"/>
                          <a:cs typeface="游ゴシック"/>
                        </a:rPr>
                        <a:t>科目</a:t>
                      </a:r>
                    </a:p>
                  </a:txBody>
                  <a:tcPr marL="45720" marR="45720" marT="9144" marB="9144" anchor="ctr">
                    <a:solidFill>
                      <a:srgbClr val="0B3041"/>
                    </a:solidFill>
                  </a:tcPr>
                </a:tc>
                <a:tc>
                  <a:txBody>
                    <a:bodyPr/>
                    <a:lstStyle/>
                    <a:p>
                      <a:pPr algn="ctr">
                        <a:spcAft>
                          <a:spcPts val="0"/>
                        </a:spcAft>
                      </a:pPr>
                      <a:r>
                        <a:rPr sz="900" b="1">
                          <a:solidFill>
                            <a:srgbClr val="FFFFFF"/>
                          </a:solidFill>
                          <a:latin typeface="游ゴシック" panose="020B0400000000000000" pitchFamily="50" charset="-128"/>
                          <a:ea typeface="游ゴシック" panose="020B0400000000000000" pitchFamily="50" charset="-128"/>
                          <a:cs typeface="Arial"/>
                        </a:rPr>
                        <a:t>2026/5期</a:t>
                      </a:r>
                    </a:p>
                  </a:txBody>
                  <a:tcPr marL="45720" marR="45720" marT="9144" marB="9144" anchor="ctr">
                    <a:solidFill>
                      <a:srgbClr val="0B3041"/>
                    </a:solidFill>
                  </a:tcPr>
                </a:tc>
                <a:tc>
                  <a:txBody>
                    <a:bodyPr/>
                    <a:lstStyle/>
                    <a:p>
                      <a:pPr algn="ctr">
                        <a:spcAft>
                          <a:spcPts val="0"/>
                        </a:spcAft>
                      </a:pPr>
                      <a:r>
                        <a:rPr sz="900" b="1" dirty="0" err="1">
                          <a:solidFill>
                            <a:srgbClr val="FFFFFF"/>
                          </a:solidFill>
                          <a:latin typeface="游ゴシック" panose="020B0400000000000000" pitchFamily="50" charset="-128"/>
                          <a:ea typeface="游ゴシック" panose="020B0400000000000000" pitchFamily="50" charset="-128"/>
                          <a:cs typeface="Arial"/>
                        </a:rPr>
                        <a:t>論点</a:t>
                      </a:r>
                      <a:endParaRPr sz="900" b="1" dirty="0">
                        <a:solidFill>
                          <a:srgbClr val="FFFFFF"/>
                        </a:solidFill>
                        <a:latin typeface="游ゴシック" panose="020B0400000000000000" pitchFamily="50" charset="-128"/>
                        <a:ea typeface="游ゴシック" panose="020B0400000000000000" pitchFamily="50" charset="-128"/>
                        <a:cs typeface="Arial"/>
                      </a:endParaRPr>
                    </a:p>
                  </a:txBody>
                  <a:tcPr marL="45720" marR="45720" marT="9144" marB="9144" anchor="ctr">
                    <a:solidFill>
                      <a:srgbClr val="0B3041"/>
                    </a:solidFill>
                  </a:tcPr>
                </a:tc>
                <a:extLst>
                  <a:ext uri="{0D108BD9-81ED-4DB2-BD59-A6C34878D82A}">
                    <a16:rowId xmlns:a16="http://schemas.microsoft.com/office/drawing/2014/main" val="10000"/>
                  </a:ext>
                </a:extLst>
              </a:tr>
              <a:tr h="512064">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未払金</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550</a:t>
                      </a:r>
                    </a:p>
                  </a:txBody>
                  <a:tcPr marL="45720" marR="45720" marT="9144" marB="9144" anchor="ctr">
                    <a:solidFill>
                      <a:srgbClr val="FFFFFF"/>
                    </a:solidFill>
                  </a:tcPr>
                </a:tc>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電子ブレーカーのリース料未払分（＠22千円）。</a:t>
                      </a:r>
                    </a:p>
                  </a:txBody>
                  <a:tcPr marL="45720" marR="45720" marT="9144" marB="9144" anchor="ctr">
                    <a:solidFill>
                      <a:srgbClr val="FFFFFF"/>
                    </a:solidFill>
                  </a:tcPr>
                </a:tc>
                <a:extLst>
                  <a:ext uri="{0D108BD9-81ED-4DB2-BD59-A6C34878D82A}">
                    <a16:rowId xmlns:a16="http://schemas.microsoft.com/office/drawing/2014/main" val="10001"/>
                  </a:ext>
                </a:extLst>
              </a:tr>
              <a:tr h="512064">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未払法人税等</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36</a:t>
                      </a:r>
                    </a:p>
                  </a:txBody>
                  <a:tcPr marL="45720" marR="45720" marT="9144" marB="9144" anchor="ctr">
                    <a:solidFill>
                      <a:srgbClr val="FFFFFF"/>
                    </a:solidFill>
                  </a:tcPr>
                </a:tc>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適正に計上されているものとして帳簿価額により評価する</a:t>
                      </a:r>
                      <a:r>
                        <a:rPr sz="900" b="0" dirty="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extLst>
                  <a:ext uri="{0D108BD9-81ED-4DB2-BD59-A6C34878D82A}">
                    <a16:rowId xmlns:a16="http://schemas.microsoft.com/office/drawing/2014/main" val="10002"/>
                  </a:ext>
                </a:extLst>
              </a:tr>
              <a:tr h="512064">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未払消費税等</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343</a:t>
                      </a:r>
                    </a:p>
                  </a:txBody>
                  <a:tcPr marL="45720" marR="45720" marT="9144" marB="9144" anchor="ctr">
                    <a:solidFill>
                      <a:srgbClr val="FFFFFF"/>
                    </a:solidFill>
                  </a:tcPr>
                </a:tc>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同上。</a:t>
                      </a:r>
                    </a:p>
                  </a:txBody>
                  <a:tcPr marL="45720" marR="45720" marT="9144" marB="9144" anchor="ctr">
                    <a:solidFill>
                      <a:srgbClr val="FFFFFF"/>
                    </a:solidFill>
                  </a:tcPr>
                </a:tc>
                <a:extLst>
                  <a:ext uri="{0D108BD9-81ED-4DB2-BD59-A6C34878D82A}">
                    <a16:rowId xmlns:a16="http://schemas.microsoft.com/office/drawing/2014/main" val="10003"/>
                  </a:ext>
                </a:extLst>
              </a:tr>
              <a:tr h="512064">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長期借入金</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Arial"/>
                        </a:rPr>
                        <a:t>32,744</a:t>
                      </a:r>
                    </a:p>
                  </a:txBody>
                  <a:tcPr marL="45720" marR="45720" marT="9144" marB="9144" anchor="ctr">
                    <a:solidFill>
                      <a:srgbClr val="FFFFFF"/>
                    </a:solidFill>
                  </a:tcPr>
                </a:tc>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全額が代表者</a:t>
                      </a:r>
                      <a:r>
                        <a:rPr sz="900" b="0" dirty="0">
                          <a:solidFill>
                            <a:srgbClr val="1A1A1A"/>
                          </a:solidFill>
                          <a:latin typeface="游ゴシック" panose="020B0400000000000000" pitchFamily="50" charset="-128"/>
                          <a:ea typeface="游ゴシック" panose="020B0400000000000000" pitchFamily="50" charset="-128"/>
                          <a:cs typeface="游ゴシック"/>
                        </a:rPr>
                        <a:t> 小川宣夫氏（9,518千円）および配偶者 小川喜久子氏（23,226千円）からの借入。金融機関借入・連帯保証はなく、利息の支払もない。無利息であるため時価と簿価は実質的に一致する。本件実行時の取扱い（返済・相殺・債務免除）</a:t>
                      </a:r>
                      <a:r>
                        <a:rPr lang="ja-JP" altLang="en-US" sz="900" b="0" dirty="0">
                          <a:solidFill>
                            <a:srgbClr val="1A1A1A"/>
                          </a:solidFill>
                          <a:latin typeface="游ゴシック" panose="020B0400000000000000" pitchFamily="50" charset="-128"/>
                          <a:ea typeface="游ゴシック" panose="020B0400000000000000" pitchFamily="50" charset="-128"/>
                          <a:cs typeface="游ゴシック"/>
                        </a:rPr>
                        <a:t>ついては要協議事項。★</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extLst>
                  <a:ext uri="{0D108BD9-81ED-4DB2-BD59-A6C34878D82A}">
                    <a16:rowId xmlns:a16="http://schemas.microsoft.com/office/drawing/2014/main" val="10004"/>
                  </a:ext>
                </a:extLst>
              </a:tr>
              <a:tr h="512064">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未払給与</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tc>
                  <a:txBody>
                    <a:bodyPr/>
                    <a:lstStyle/>
                    <a:p>
                      <a:pPr algn="r">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tc>
                  <a:txBody>
                    <a:bodyPr/>
                    <a:lstStyle/>
                    <a:p>
                      <a:pPr algn="l">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常時雇用の従業員が0名であり、賃金規程・給与締日の定めが確認できないため計上していない。</a:t>
                      </a:r>
                    </a:p>
                  </a:txBody>
                  <a:tcPr marL="45720" marR="45720" marT="9144" marB="9144" anchor="ctr">
                    <a:solidFill>
                      <a:srgbClr val="FFFFFF"/>
                    </a:solidFill>
                  </a:tcPr>
                </a:tc>
                <a:extLst>
                  <a:ext uri="{0D108BD9-81ED-4DB2-BD59-A6C34878D82A}">
                    <a16:rowId xmlns:a16="http://schemas.microsoft.com/office/drawing/2014/main" val="10005"/>
                  </a:ext>
                </a:extLst>
              </a:tr>
              <a:tr h="512064">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賞与引当金</a:t>
                      </a:r>
                      <a:endParaRPr sz="900" b="0" dirty="0">
                        <a:solidFill>
                          <a:srgbClr val="1A1A1A"/>
                        </a:solidFill>
                        <a:latin typeface="游ゴシック" panose="020B0400000000000000" pitchFamily="50" charset="-128"/>
                        <a:ea typeface="游ゴシック" panose="020B0400000000000000" pitchFamily="50" charset="-128"/>
                        <a:cs typeface="游ゴシック"/>
                      </a:endParaRPr>
                    </a:p>
                  </a:txBody>
                  <a:tcPr marL="45720" marR="45720" marT="9144" marB="9144" anchor="ctr">
                    <a:solidFill>
                      <a:srgbClr val="FFFFFF"/>
                    </a:solidFill>
                  </a:tcPr>
                </a:tc>
                <a:tc>
                  <a:txBody>
                    <a:bodyPr/>
                    <a:lstStyle/>
                    <a:p>
                      <a:pPr algn="r">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賞与の支給実績・規程が確認できないため計上していない</a:t>
                      </a:r>
                      <a:r>
                        <a:rPr sz="900" b="0" dirty="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extLst>
                  <a:ext uri="{0D108BD9-81ED-4DB2-BD59-A6C34878D82A}">
                    <a16:rowId xmlns:a16="http://schemas.microsoft.com/office/drawing/2014/main" val="10006"/>
                  </a:ext>
                </a:extLst>
              </a:tr>
              <a:tr h="512064">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退職給付引当金</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tc>
                  <a:txBody>
                    <a:bodyPr/>
                    <a:lstStyle/>
                    <a:p>
                      <a:pPr algn="l">
                        <a:spcAft>
                          <a:spcPts val="0"/>
                        </a:spcAft>
                      </a:pPr>
                      <a:r>
                        <a:rPr sz="900" b="0" dirty="0">
                          <a:solidFill>
                            <a:srgbClr val="1A1A1A"/>
                          </a:solidFill>
                          <a:latin typeface="游ゴシック" panose="020B0400000000000000" pitchFamily="50" charset="-128"/>
                          <a:ea typeface="游ゴシック" panose="020B0400000000000000" pitchFamily="50" charset="-128"/>
                          <a:cs typeface="游ゴシック"/>
                        </a:rPr>
                        <a:t>従業員0名、退職金規程・中小企業退職金共済への加入も確認できないため計上していない。</a:t>
                      </a:r>
                    </a:p>
                  </a:txBody>
                  <a:tcPr marL="45720" marR="45720" marT="9144" marB="9144" anchor="ctr">
                    <a:solidFill>
                      <a:srgbClr val="FFFFFF"/>
                    </a:solidFill>
                  </a:tcPr>
                </a:tc>
                <a:extLst>
                  <a:ext uri="{0D108BD9-81ED-4DB2-BD59-A6C34878D82A}">
                    <a16:rowId xmlns:a16="http://schemas.microsoft.com/office/drawing/2014/main" val="10007"/>
                  </a:ext>
                </a:extLst>
              </a:tr>
              <a:tr h="512064">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役員退職慰労引当金</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代表者・配偶者はいずれも無報酬であり、役員退職慰労金規程も未確認のため計上していない</a:t>
                      </a:r>
                      <a:r>
                        <a:rPr sz="900" b="0" dirty="0">
                          <a:solidFill>
                            <a:srgbClr val="1A1A1A"/>
                          </a:solidFill>
                          <a:latin typeface="游ゴシック" panose="020B0400000000000000" pitchFamily="50" charset="-128"/>
                          <a:ea typeface="游ゴシック" panose="020B0400000000000000" pitchFamily="50" charset="-128"/>
                          <a:cs typeface="游ゴシック"/>
                        </a:rPr>
                        <a:t>。</a:t>
                      </a:r>
                      <a:endParaRPr lang="en-US" sz="900" b="0" dirty="0">
                        <a:solidFill>
                          <a:srgbClr val="1A1A1A"/>
                        </a:solidFill>
                        <a:latin typeface="游ゴシック" panose="020B0400000000000000" pitchFamily="50" charset="-128"/>
                        <a:ea typeface="游ゴシック" panose="020B0400000000000000" pitchFamily="50" charset="-128"/>
                        <a:cs typeface="游ゴシック"/>
                      </a:endParaRPr>
                    </a:p>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役員退職慰労金を支給する場合、当該金額は株式価値から減算される</a:t>
                      </a:r>
                      <a:r>
                        <a:rPr sz="900" b="0" dirty="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extLst>
                  <a:ext uri="{0D108BD9-81ED-4DB2-BD59-A6C34878D82A}">
                    <a16:rowId xmlns:a16="http://schemas.microsoft.com/office/drawing/2014/main" val="10008"/>
                  </a:ext>
                </a:extLst>
              </a:tr>
              <a:tr h="512064">
                <a:tc>
                  <a:txBody>
                    <a:bodyPr/>
                    <a:lstStyle/>
                    <a:p>
                      <a:pPr algn="l">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資産除去債務</a:t>
                      </a:r>
                    </a:p>
                  </a:txBody>
                  <a:tcPr marL="45720" marR="45720" marT="9144" marB="9144" anchor="ctr">
                    <a:solidFill>
                      <a:srgbClr val="FFFFFF"/>
                    </a:solidFill>
                  </a:tcPr>
                </a:tc>
                <a:tc>
                  <a:txBody>
                    <a:bodyPr/>
                    <a:lstStyle/>
                    <a:p>
                      <a:pPr algn="r">
                        <a:spcAft>
                          <a:spcPts val="0"/>
                        </a:spcAft>
                      </a:pPr>
                      <a:r>
                        <a:rPr sz="900" b="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tc>
                  <a:txBody>
                    <a:bodyPr/>
                    <a:lstStyle/>
                    <a:p>
                      <a:pPr algn="l">
                        <a:spcAft>
                          <a:spcPts val="0"/>
                        </a:spcAft>
                      </a:pPr>
                      <a:r>
                        <a:rPr sz="900" b="0" dirty="0" err="1">
                          <a:solidFill>
                            <a:srgbClr val="1A1A1A"/>
                          </a:solidFill>
                          <a:latin typeface="游ゴシック" panose="020B0400000000000000" pitchFamily="50" charset="-128"/>
                          <a:ea typeface="游ゴシック" panose="020B0400000000000000" pitchFamily="50" charset="-128"/>
                          <a:cs typeface="游ゴシック"/>
                        </a:rPr>
                        <a:t>自社所有物件であり原状回復義務は生じない</a:t>
                      </a:r>
                      <a:r>
                        <a:rPr sz="900" b="0" dirty="0">
                          <a:solidFill>
                            <a:srgbClr val="1A1A1A"/>
                          </a:solidFill>
                          <a:latin typeface="游ゴシック" panose="020B0400000000000000" pitchFamily="50" charset="-128"/>
                          <a:ea typeface="游ゴシック" panose="020B0400000000000000" pitchFamily="50" charset="-128"/>
                          <a:cs typeface="游ゴシック"/>
                        </a:rPr>
                        <a:t>。</a:t>
                      </a:r>
                    </a:p>
                  </a:txBody>
                  <a:tcPr marL="45720" marR="45720" marT="9144" marB="9144" anchor="ctr">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627659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01069-72DF-A6D5-2DC9-38122B5766A8}"/>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4B44719C-88E4-C2E8-E209-EEC4A9F272D2}"/>
              </a:ext>
            </a:extLst>
          </p:cNvPr>
          <p:cNvSpPr>
            <a:spLocks noGrp="1"/>
          </p:cNvSpPr>
          <p:nvPr>
            <p:ph type="ctrTitle"/>
          </p:nvPr>
        </p:nvSpPr>
        <p:spPr/>
        <p:txBody>
          <a:bodyPr/>
          <a:lstStyle/>
          <a:p>
            <a:r>
              <a:rPr>
                <a:latin typeface="游ゴシック"/>
                <a:ea typeface="游ゴシック"/>
                <a:cs typeface="游ゴシック"/>
              </a:rPr>
              <a:t>修正BS［負債・純資産］</a:t>
            </a:r>
          </a:p>
        </p:txBody>
      </p:sp>
      <p:sp>
        <p:nvSpPr>
          <p:cNvPr id="6" name="タイトル 1">
            <a:extLst>
              <a:ext uri="{FF2B5EF4-FFF2-40B4-BE49-F238E27FC236}">
                <a16:creationId xmlns:a16="http://schemas.microsoft.com/office/drawing/2014/main" id="{EED50456-622D-7517-0703-96034524068C}"/>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sp>
        <p:nvSpPr>
          <p:cNvPr id="8" name="Rectangle 7"/>
          <p:cNvSpPr/>
          <p:nvPr/>
        </p:nvSpPr>
        <p:spPr>
          <a:xfrm>
            <a:off x="5925312" y="1078992"/>
            <a:ext cx="4315968" cy="576072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6016752" y="1152144"/>
            <a:ext cx="4133087" cy="274320"/>
          </a:xfrm>
          <a:prstGeom prst="rect">
            <a:avLst/>
          </a:prstGeom>
          <a:noFill/>
        </p:spPr>
        <p:txBody>
          <a:bodyPr wrap="square" lIns="0" tIns="0" r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0" name="TextBox 9"/>
          <p:cNvSpPr txBox="1"/>
          <p:nvPr/>
        </p:nvSpPr>
        <p:spPr>
          <a:xfrm>
            <a:off x="6035040" y="1499616"/>
            <a:ext cx="4197096" cy="2805896"/>
          </a:xfrm>
          <a:prstGeom prst="rect">
            <a:avLst/>
          </a:prstGeom>
          <a:noFill/>
        </p:spPr>
        <p:txBody>
          <a:bodyPr wrap="square" lIns="0" tIns="0" rIns="0" bIns="0" anchor="t">
            <a:spAutoFit/>
          </a:bodyPr>
          <a:lstStyle/>
          <a:p>
            <a:pPr algn="l">
              <a:lnSpc>
                <a:spcPct val="122000"/>
              </a:lnSpc>
              <a:spcAft>
                <a:spcPts val="200"/>
              </a:spcAft>
            </a:pPr>
            <a:r>
              <a:rPr sz="950" b="1" dirty="0" err="1">
                <a:solidFill>
                  <a:srgbClr val="0889C9"/>
                </a:solidFill>
                <a:latin typeface="游ゴシック"/>
                <a:ea typeface="游ゴシック"/>
                <a:cs typeface="游ゴシック"/>
              </a:rPr>
              <a:t>負債</a:t>
            </a:r>
            <a:r>
              <a:rPr sz="950" b="1" dirty="0">
                <a:solidFill>
                  <a:srgbClr val="0889C9"/>
                </a:solidFill>
                <a:latin typeface="游ゴシック"/>
                <a:ea typeface="游ゴシック"/>
                <a:cs typeface="游ゴシック"/>
              </a:rPr>
              <a:t> </a:t>
            </a:r>
            <a:r>
              <a:rPr sz="950" b="0" dirty="0">
                <a:solidFill>
                  <a:srgbClr val="1A1A1A"/>
                </a:solidFill>
                <a:latin typeface="游ゴシック"/>
                <a:ea typeface="游ゴシック"/>
                <a:cs typeface="游ゴシック"/>
              </a:rPr>
              <a:t>：</a:t>
            </a:r>
            <a:r>
              <a:rPr sz="950" b="0" dirty="0" err="1">
                <a:solidFill>
                  <a:srgbClr val="1A1A1A"/>
                </a:solidFill>
                <a:latin typeface="游ゴシック"/>
                <a:ea typeface="游ゴシック"/>
                <a:cs typeface="游ゴシック"/>
              </a:rPr>
              <a:t>借入金を含め、時価評価を要する項目は存在しなかったため、いずれも帳簿価額により評価している</a:t>
            </a:r>
            <a:r>
              <a:rPr sz="950" b="0" dirty="0">
                <a:solidFill>
                  <a:srgbClr val="1A1A1A"/>
                </a:solidFill>
                <a:latin typeface="游ゴシック"/>
                <a:ea typeface="游ゴシック"/>
                <a:cs typeface="游ゴシック"/>
              </a:rPr>
              <a:t>。</a:t>
            </a:r>
          </a:p>
          <a:p>
            <a:pPr algn="l">
              <a:spcAft>
                <a:spcPts val="200"/>
              </a:spcAft>
            </a:pPr>
            <a:endParaRPr sz="950" b="0" dirty="0">
              <a:solidFill>
                <a:srgbClr val="1A1A1A"/>
              </a:solidFill>
              <a:latin typeface="游ゴシック"/>
              <a:ea typeface="游ゴシック"/>
              <a:cs typeface="游ゴシック"/>
            </a:endParaRPr>
          </a:p>
          <a:p>
            <a:pPr algn="l">
              <a:lnSpc>
                <a:spcPct val="122000"/>
              </a:lnSpc>
              <a:spcAft>
                <a:spcPts val="200"/>
              </a:spcAft>
            </a:pPr>
            <a:r>
              <a:rPr sz="950" b="1" dirty="0" err="1">
                <a:solidFill>
                  <a:srgbClr val="0889C9"/>
                </a:solidFill>
                <a:latin typeface="游ゴシック"/>
                <a:ea typeface="游ゴシック"/>
                <a:cs typeface="游ゴシック"/>
              </a:rPr>
              <a:t>長期借入金</a:t>
            </a:r>
            <a:r>
              <a:rPr sz="950" b="1" dirty="0">
                <a:solidFill>
                  <a:srgbClr val="0889C9"/>
                </a:solidFill>
                <a:latin typeface="游ゴシック"/>
                <a:ea typeface="游ゴシック"/>
                <a:cs typeface="游ゴシック"/>
              </a:rPr>
              <a:t> </a:t>
            </a:r>
            <a:r>
              <a:rPr sz="950" b="0" dirty="0">
                <a:solidFill>
                  <a:srgbClr val="1A1A1A"/>
                </a:solidFill>
                <a:latin typeface="游ゴシック"/>
                <a:ea typeface="游ゴシック"/>
                <a:cs typeface="游ゴシック"/>
              </a:rPr>
              <a:t>：</a:t>
            </a:r>
            <a:r>
              <a:rPr sz="950" b="0" dirty="0" err="1">
                <a:solidFill>
                  <a:srgbClr val="1A1A1A"/>
                </a:solidFill>
                <a:latin typeface="游ゴシック"/>
                <a:ea typeface="游ゴシック"/>
                <a:cs typeface="游ゴシック"/>
              </a:rPr>
              <a:t>全額が代表者・配偶者からの無利息借入。法形式上は負債であり譲渡後も当社の債務として残存することから、本評価では額面で評価</a:t>
            </a:r>
            <a:r>
              <a:rPr sz="950" b="0" dirty="0">
                <a:solidFill>
                  <a:srgbClr val="1A1A1A"/>
                </a:solidFill>
                <a:latin typeface="游ゴシック"/>
                <a:ea typeface="游ゴシック"/>
                <a:cs typeface="游ゴシック"/>
              </a:rPr>
              <a:t>。</a:t>
            </a:r>
            <a:endParaRPr lang="en-US" sz="950" b="0" dirty="0">
              <a:solidFill>
                <a:srgbClr val="1A1A1A"/>
              </a:solidFill>
              <a:latin typeface="游ゴシック"/>
              <a:ea typeface="游ゴシック"/>
              <a:cs typeface="游ゴシック"/>
            </a:endParaRPr>
          </a:p>
          <a:p>
            <a:pPr algn="l">
              <a:lnSpc>
                <a:spcPct val="122000"/>
              </a:lnSpc>
              <a:spcAft>
                <a:spcPts val="200"/>
              </a:spcAft>
            </a:pPr>
            <a:endParaRPr sz="950" b="0" dirty="0">
              <a:solidFill>
                <a:srgbClr val="1A1A1A"/>
              </a:solidFill>
              <a:latin typeface="游ゴシック"/>
              <a:ea typeface="游ゴシック"/>
              <a:cs typeface="游ゴシック"/>
            </a:endParaRPr>
          </a:p>
          <a:p>
            <a:pPr algn="l">
              <a:lnSpc>
                <a:spcPct val="122000"/>
              </a:lnSpc>
              <a:spcAft>
                <a:spcPts val="200"/>
              </a:spcAft>
            </a:pPr>
            <a:r>
              <a:rPr sz="950" b="1" dirty="0" err="1">
                <a:solidFill>
                  <a:srgbClr val="0889C9"/>
                </a:solidFill>
                <a:latin typeface="游ゴシック"/>
                <a:ea typeface="游ゴシック"/>
                <a:cs typeface="游ゴシック"/>
              </a:rPr>
              <a:t>人件費関連の引当</a:t>
            </a:r>
            <a:r>
              <a:rPr sz="950" b="1" dirty="0">
                <a:solidFill>
                  <a:srgbClr val="0889C9"/>
                </a:solidFill>
                <a:latin typeface="游ゴシック"/>
                <a:ea typeface="游ゴシック"/>
                <a:cs typeface="游ゴシック"/>
              </a:rPr>
              <a:t> </a:t>
            </a:r>
            <a:r>
              <a:rPr sz="950" b="0" dirty="0">
                <a:solidFill>
                  <a:srgbClr val="1A1A1A"/>
                </a:solidFill>
                <a:latin typeface="游ゴシック"/>
                <a:ea typeface="游ゴシック"/>
                <a:cs typeface="游ゴシック"/>
              </a:rPr>
              <a:t>：未払給与・賞与引当金・退職給付引当金・役員退職慰労引当金はいずれも計上していない。常時雇用の従業員が0名であり、代表者・配偶者が無報酬であることによる。</a:t>
            </a:r>
            <a:endParaRPr lang="en-US" sz="950" b="0" dirty="0">
              <a:solidFill>
                <a:srgbClr val="1A1A1A"/>
              </a:solidFill>
              <a:latin typeface="游ゴシック"/>
              <a:ea typeface="游ゴシック"/>
              <a:cs typeface="游ゴシック"/>
            </a:endParaRPr>
          </a:p>
          <a:p>
            <a:pPr algn="l">
              <a:lnSpc>
                <a:spcPct val="122000"/>
              </a:lnSpc>
              <a:spcAft>
                <a:spcPts val="200"/>
              </a:spcAft>
            </a:pPr>
            <a:endParaRPr sz="950" b="0" dirty="0">
              <a:solidFill>
                <a:srgbClr val="1A1A1A"/>
              </a:solidFill>
              <a:latin typeface="游ゴシック"/>
              <a:ea typeface="游ゴシック"/>
              <a:cs typeface="游ゴシック"/>
            </a:endParaRPr>
          </a:p>
          <a:p>
            <a:pPr algn="l">
              <a:lnSpc>
                <a:spcPct val="122000"/>
              </a:lnSpc>
              <a:spcAft>
                <a:spcPts val="200"/>
              </a:spcAft>
            </a:pPr>
            <a:r>
              <a:rPr sz="950" b="1" dirty="0" err="1">
                <a:solidFill>
                  <a:srgbClr val="0889C9"/>
                </a:solidFill>
                <a:latin typeface="游ゴシック"/>
                <a:ea typeface="游ゴシック"/>
                <a:cs typeface="游ゴシック"/>
              </a:rPr>
              <a:t>簿外債務</a:t>
            </a:r>
            <a:r>
              <a:rPr sz="950" b="1" dirty="0">
                <a:solidFill>
                  <a:srgbClr val="0889C9"/>
                </a:solidFill>
                <a:latin typeface="游ゴシック"/>
                <a:ea typeface="游ゴシック"/>
                <a:cs typeface="游ゴシック"/>
              </a:rPr>
              <a:t> </a:t>
            </a:r>
            <a:r>
              <a:rPr sz="950" b="0" dirty="0">
                <a:solidFill>
                  <a:srgbClr val="1A1A1A"/>
                </a:solidFill>
                <a:latin typeface="游ゴシック"/>
                <a:ea typeface="游ゴシック"/>
                <a:cs typeface="游ゴシック"/>
              </a:rPr>
              <a:t>：</a:t>
            </a:r>
            <a:r>
              <a:rPr sz="950" b="0" dirty="0" err="1">
                <a:solidFill>
                  <a:srgbClr val="1A1A1A"/>
                </a:solidFill>
                <a:latin typeface="游ゴシック"/>
                <a:ea typeface="游ゴシック"/>
                <a:cs typeface="游ゴシック"/>
              </a:rPr>
              <a:t>債務保証・係争・未払残業代等の有無は本書作成時点で確認できていない</a:t>
            </a:r>
            <a:r>
              <a:rPr sz="950" b="0" dirty="0">
                <a:solidFill>
                  <a:srgbClr val="1A1A1A"/>
                </a:solidFill>
                <a:latin typeface="游ゴシック"/>
                <a:ea typeface="游ゴシック"/>
                <a:cs typeface="游ゴシック"/>
              </a:rPr>
              <a:t>。</a:t>
            </a:r>
          </a:p>
          <a:p>
            <a:pPr algn="l">
              <a:spcAft>
                <a:spcPts val="200"/>
              </a:spcAft>
            </a:pPr>
            <a:endParaRPr sz="950" b="0" dirty="0">
              <a:solidFill>
                <a:srgbClr val="1A1A1A"/>
              </a:solidFill>
              <a:latin typeface="游ゴシック"/>
              <a:ea typeface="游ゴシック"/>
              <a:cs typeface="游ゴシック"/>
            </a:endParaRPr>
          </a:p>
          <a:p>
            <a:pPr algn="l">
              <a:lnSpc>
                <a:spcPct val="122000"/>
              </a:lnSpc>
              <a:spcAft>
                <a:spcPts val="200"/>
              </a:spcAft>
            </a:pPr>
            <a:r>
              <a:rPr sz="950" b="1" dirty="0" err="1">
                <a:solidFill>
                  <a:srgbClr val="0B3041"/>
                </a:solidFill>
                <a:latin typeface="游ゴシック"/>
                <a:ea typeface="游ゴシック"/>
                <a:cs typeface="游ゴシック"/>
              </a:rPr>
              <a:t>時価純資産</a:t>
            </a:r>
            <a:r>
              <a:rPr sz="950" b="1" dirty="0">
                <a:solidFill>
                  <a:srgbClr val="0B3041"/>
                </a:solidFill>
                <a:latin typeface="游ゴシック"/>
                <a:ea typeface="游ゴシック"/>
                <a:cs typeface="游ゴシック"/>
              </a:rPr>
              <a:t> </a:t>
            </a:r>
            <a:r>
              <a:rPr sz="950" b="1" dirty="0">
                <a:solidFill>
                  <a:srgbClr val="1A1A1A"/>
                </a:solidFill>
                <a:latin typeface="游ゴシック"/>
                <a:ea typeface="游ゴシック"/>
                <a:cs typeface="游ゴシック"/>
              </a:rPr>
              <a:t>：簿価純資産23,658千円に対し、修正後の時価純資産は2</a:t>
            </a:r>
            <a:r>
              <a:rPr lang="en-US" sz="950" b="1" dirty="0">
                <a:solidFill>
                  <a:srgbClr val="1A1A1A"/>
                </a:solidFill>
                <a:latin typeface="游ゴシック"/>
                <a:ea typeface="游ゴシック"/>
                <a:cs typeface="游ゴシック"/>
              </a:rPr>
              <a:t>2</a:t>
            </a:r>
            <a:r>
              <a:rPr sz="950" b="1" dirty="0">
                <a:solidFill>
                  <a:srgbClr val="1A1A1A"/>
                </a:solidFill>
                <a:latin typeface="游ゴシック"/>
                <a:ea typeface="游ゴシック"/>
                <a:cs typeface="游ゴシック"/>
              </a:rPr>
              <a:t>,</a:t>
            </a:r>
            <a:r>
              <a:rPr lang="en-US" sz="950" b="1" dirty="0">
                <a:solidFill>
                  <a:srgbClr val="1A1A1A"/>
                </a:solidFill>
                <a:latin typeface="游ゴシック"/>
                <a:ea typeface="游ゴシック"/>
                <a:cs typeface="游ゴシック"/>
              </a:rPr>
              <a:t>4</a:t>
            </a:r>
            <a:r>
              <a:rPr sz="950" b="1" dirty="0">
                <a:solidFill>
                  <a:srgbClr val="1A1A1A"/>
                </a:solidFill>
                <a:latin typeface="游ゴシック"/>
                <a:ea typeface="游ゴシック"/>
                <a:cs typeface="游ゴシック"/>
              </a:rPr>
              <a:t>83千円となる。</a:t>
            </a:r>
          </a:p>
        </p:txBody>
      </p:sp>
      <p:pic>
        <p:nvPicPr>
          <p:cNvPr id="3" name="図 2">
            <a:extLst>
              <a:ext uri="{FF2B5EF4-FFF2-40B4-BE49-F238E27FC236}">
                <a16:creationId xmlns:a16="http://schemas.microsoft.com/office/drawing/2014/main" id="{2D47A789-4D2C-48D6-77A7-37ACE2FF2BF5}"/>
              </a:ext>
            </a:extLst>
          </p:cNvPr>
          <p:cNvPicPr>
            <a:picLocks noChangeAspect="1"/>
          </p:cNvPicPr>
          <p:nvPr/>
        </p:nvPicPr>
        <p:blipFill>
          <a:blip r:embed="rId2"/>
          <a:stretch>
            <a:fillRect/>
          </a:stretch>
        </p:blipFill>
        <p:spPr>
          <a:xfrm>
            <a:off x="310896" y="897128"/>
            <a:ext cx="4792044" cy="3036697"/>
          </a:xfrm>
          <a:prstGeom prst="rect">
            <a:avLst/>
          </a:prstGeom>
        </p:spPr>
      </p:pic>
      <p:pic>
        <p:nvPicPr>
          <p:cNvPr id="12" name="図 11">
            <a:extLst>
              <a:ext uri="{FF2B5EF4-FFF2-40B4-BE49-F238E27FC236}">
                <a16:creationId xmlns:a16="http://schemas.microsoft.com/office/drawing/2014/main" id="{E1C6FC77-6D69-4EE7-B4DF-9EAB1A93FC4B}"/>
              </a:ext>
            </a:extLst>
          </p:cNvPr>
          <p:cNvPicPr>
            <a:picLocks noChangeAspect="1"/>
          </p:cNvPicPr>
          <p:nvPr/>
        </p:nvPicPr>
        <p:blipFill>
          <a:blip r:embed="rId3"/>
          <a:stretch>
            <a:fillRect/>
          </a:stretch>
        </p:blipFill>
        <p:spPr>
          <a:xfrm>
            <a:off x="313542" y="4186174"/>
            <a:ext cx="4794789" cy="2100326"/>
          </a:xfrm>
          <a:prstGeom prst="rect">
            <a:avLst/>
          </a:prstGeom>
        </p:spPr>
      </p:pic>
    </p:spTree>
    <p:extLst>
      <p:ext uri="{BB962C8B-B14F-4D97-AF65-F5344CB8AC3E}">
        <p14:creationId xmlns:p14="http://schemas.microsoft.com/office/powerpoint/2010/main" val="1524445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924A-DBCC-BA2E-3DAE-B087BA11D028}"/>
            </a:ext>
          </a:extLst>
        </p:cNvPr>
        <p:cNvGrpSpPr/>
        <p:nvPr/>
      </p:nvGrpSpPr>
      <p:grpSpPr>
        <a:xfrm>
          <a:off x="0" y="0"/>
          <a:ext cx="0" cy="0"/>
          <a:chOff x="0" y="0"/>
          <a:chExt cx="0" cy="0"/>
        </a:xfrm>
      </p:grpSpPr>
      <p:sp>
        <p:nvSpPr>
          <p:cNvPr id="9" name="タイトル 8">
            <a:extLst>
              <a:ext uri="{FF2B5EF4-FFF2-40B4-BE49-F238E27FC236}">
                <a16:creationId xmlns:a16="http://schemas.microsoft.com/office/drawing/2014/main" id="{3457B52A-EE32-66A1-E9D7-A16C41555BD4}"/>
              </a:ext>
            </a:extLst>
          </p:cNvPr>
          <p:cNvSpPr>
            <a:spLocks noGrp="1"/>
          </p:cNvSpPr>
          <p:nvPr>
            <p:ph type="ctrTitle"/>
          </p:nvPr>
        </p:nvSpPr>
        <p:spPr/>
        <p:txBody>
          <a:bodyPr/>
          <a:lstStyle/>
          <a:p>
            <a:r>
              <a:rPr>
                <a:latin typeface="游ゴシック"/>
                <a:ea typeface="游ゴシック"/>
                <a:cs typeface="游ゴシック"/>
              </a:rPr>
              <a:t>ネットキャッシュの算定</a:t>
            </a:r>
            <a:endParaRPr lang="ja-JP" altLang="en-US" sz="1800" dirty="0">
              <a:latin typeface="游ゴシック" panose="020B0400000000000000" pitchFamily="50" charset="-128"/>
              <a:ea typeface="游ゴシック" panose="020B0400000000000000" pitchFamily="50" charset="-128"/>
            </a:endParaRPr>
          </a:p>
        </p:txBody>
      </p:sp>
      <p:sp>
        <p:nvSpPr>
          <p:cNvPr id="3" name="タイトル 1">
            <a:extLst>
              <a:ext uri="{FF2B5EF4-FFF2-40B4-BE49-F238E27FC236}">
                <a16:creationId xmlns:a16="http://schemas.microsoft.com/office/drawing/2014/main" id="{A669AB92-1457-701A-1752-55CB309BC70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latin typeface="游ゴシック" panose="020B0400000000000000" pitchFamily="50" charset="-128"/>
              <a:ea typeface="游ゴシック" panose="020B0400000000000000" pitchFamily="50" charset="-128"/>
            </a:endParaRPr>
          </a:p>
        </p:txBody>
      </p:sp>
      <p:pic>
        <p:nvPicPr>
          <p:cNvPr id="4" name="図 3">
            <a:extLst>
              <a:ext uri="{FF2B5EF4-FFF2-40B4-BE49-F238E27FC236}">
                <a16:creationId xmlns:a16="http://schemas.microsoft.com/office/drawing/2014/main" id="{CBA4C35C-3694-60FE-9FF0-99E98493515B}"/>
              </a:ext>
            </a:extLst>
          </p:cNvPr>
          <p:cNvPicPr>
            <a:picLocks noChangeAspect="1"/>
          </p:cNvPicPr>
          <p:nvPr/>
        </p:nvPicPr>
        <p:blipFill>
          <a:blip r:embed="rId2"/>
          <a:stretch>
            <a:fillRect/>
          </a:stretch>
        </p:blipFill>
        <p:spPr>
          <a:xfrm>
            <a:off x="341313" y="864489"/>
            <a:ext cx="8699500" cy="2355850"/>
          </a:xfrm>
          <a:prstGeom prst="rect">
            <a:avLst/>
          </a:prstGeom>
        </p:spPr>
      </p:pic>
    </p:spTree>
    <p:extLst>
      <p:ext uri="{BB962C8B-B14F-4D97-AF65-F5344CB8AC3E}">
        <p14:creationId xmlns:p14="http://schemas.microsoft.com/office/powerpoint/2010/main" val="130158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2105-3764-0F9B-6D9E-FDC9164E25C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0F54FD88-71A3-9482-A4EB-EB7B53A21670}"/>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P/L</a:t>
            </a:r>
            <a:r>
              <a:rPr lang="ja-JP" altLang="en-US" dirty="0"/>
              <a:t>）</a:t>
            </a:r>
          </a:p>
        </p:txBody>
      </p:sp>
      <p:grpSp>
        <p:nvGrpSpPr>
          <p:cNvPr id="2" name="グループ化 1">
            <a:extLst>
              <a:ext uri="{FF2B5EF4-FFF2-40B4-BE49-F238E27FC236}">
                <a16:creationId xmlns:a16="http://schemas.microsoft.com/office/drawing/2014/main" id="{9BBA03AA-0C3E-769B-7372-5C78F7C906A4}"/>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F0D40862-3FE6-CCAC-56A4-FC8C5BF2AF4C}"/>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43F2BBF9-6AFC-1AC2-87E4-1733C64C416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18230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683D8C01-45AB-F55D-E483-1520171D4D71}"/>
              </a:ext>
            </a:extLst>
          </p:cNvPr>
          <p:cNvSpPr>
            <a:spLocks noGrp="1"/>
          </p:cNvSpPr>
          <p:nvPr>
            <p:ph type="ctrTitle"/>
          </p:nvPr>
        </p:nvSpPr>
        <p:spPr>
          <a:xfrm>
            <a:off x="341313" y="180653"/>
            <a:ext cx="7799917" cy="338554"/>
          </a:xfrm>
        </p:spPr>
        <p:txBody>
          <a:bodyPr/>
          <a:lstStyle/>
          <a:p>
            <a:r>
              <a:rPr>
                <a:latin typeface="游ゴシック"/>
                <a:ea typeface="游ゴシック"/>
                <a:cs typeface="游ゴシック"/>
              </a:rPr>
              <a:t>過去PLの推移</a:t>
            </a:r>
          </a:p>
        </p:txBody>
      </p:sp>
      <p:sp>
        <p:nvSpPr>
          <p:cNvPr id="7" name="タイトル 1">
            <a:extLst>
              <a:ext uri="{FF2B5EF4-FFF2-40B4-BE49-F238E27FC236}">
                <a16:creationId xmlns:a16="http://schemas.microsoft.com/office/drawing/2014/main" id="{7A790640-DDA3-8580-8C0A-46825ED50EDD}"/>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sp>
        <p:nvSpPr>
          <p:cNvPr id="10" name="Rectangle 9"/>
          <p:cNvSpPr/>
          <p:nvPr/>
        </p:nvSpPr>
        <p:spPr>
          <a:xfrm>
            <a:off x="6876288" y="1005840"/>
            <a:ext cx="3364992" cy="484632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967727" y="1078992"/>
            <a:ext cx="3182112" cy="274320"/>
          </a:xfrm>
          <a:prstGeom prst="rect">
            <a:avLst/>
          </a:prstGeom>
          <a:noFill/>
        </p:spPr>
        <p:txBody>
          <a:bodyPr wrap="square" lIns="0" tIns="0" r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2" name="TextBox 11"/>
          <p:cNvSpPr txBox="1"/>
          <p:nvPr/>
        </p:nvSpPr>
        <p:spPr>
          <a:xfrm>
            <a:off x="6986016" y="1426464"/>
            <a:ext cx="3145536" cy="2945935"/>
          </a:xfrm>
          <a:prstGeom prst="rect">
            <a:avLst/>
          </a:prstGeom>
          <a:noFill/>
        </p:spPr>
        <p:txBody>
          <a:bodyPr wrap="square" lIns="0" tIns="0" rIns="0" bIns="0" anchor="t">
            <a:spAutoFit/>
          </a:bodyPr>
          <a:lstStyle/>
          <a:p>
            <a:pPr algn="l">
              <a:lnSpc>
                <a:spcPct val="122000"/>
              </a:lnSpc>
              <a:spcAft>
                <a:spcPts val="200"/>
              </a:spcAft>
            </a:pPr>
            <a:r>
              <a:rPr sz="900" b="1" dirty="0" err="1">
                <a:solidFill>
                  <a:srgbClr val="0889C9"/>
                </a:solidFill>
                <a:latin typeface="游ゴシック"/>
                <a:ea typeface="游ゴシック"/>
                <a:cs typeface="游ゴシック"/>
              </a:rPr>
              <a:t>売上高</a:t>
            </a:r>
            <a:r>
              <a:rPr sz="900" b="1" dirty="0">
                <a:solidFill>
                  <a:srgbClr val="0889C9"/>
                </a:solidFill>
                <a:latin typeface="游ゴシック"/>
                <a:ea typeface="游ゴシック"/>
                <a:cs typeface="游ゴシック"/>
              </a:rPr>
              <a:t> </a:t>
            </a:r>
            <a:r>
              <a:rPr sz="900" b="0" dirty="0">
                <a:solidFill>
                  <a:srgbClr val="1A1A1A"/>
                </a:solidFill>
                <a:latin typeface="游ゴシック"/>
                <a:ea typeface="游ゴシック"/>
                <a:cs typeface="游ゴシック"/>
              </a:rPr>
              <a:t>：24,455→23,542→22,484千円と毎期減少。店頭日商の低下（86→80→75千円）が主因であり、営業日数は203→200日とほぼ一定。</a:t>
            </a:r>
          </a:p>
          <a:p>
            <a:pPr algn="l">
              <a:spcAft>
                <a:spcPts val="200"/>
              </a:spcAft>
            </a:pPr>
            <a:endParaRPr sz="900" b="0" dirty="0">
              <a:solidFill>
                <a:srgbClr val="1A1A1A"/>
              </a:solidFill>
              <a:latin typeface="游ゴシック"/>
              <a:ea typeface="游ゴシック"/>
              <a:cs typeface="游ゴシック"/>
            </a:endParaRPr>
          </a:p>
          <a:p>
            <a:pPr algn="l">
              <a:lnSpc>
                <a:spcPct val="122000"/>
              </a:lnSpc>
              <a:spcAft>
                <a:spcPts val="200"/>
              </a:spcAft>
            </a:pPr>
            <a:r>
              <a:rPr sz="900" b="1" dirty="0" err="1">
                <a:solidFill>
                  <a:srgbClr val="0889C9"/>
                </a:solidFill>
                <a:latin typeface="游ゴシック"/>
                <a:ea typeface="游ゴシック"/>
                <a:cs typeface="游ゴシック"/>
              </a:rPr>
              <a:t>売上原価</a:t>
            </a:r>
            <a:r>
              <a:rPr sz="900" b="1" dirty="0">
                <a:solidFill>
                  <a:srgbClr val="0889C9"/>
                </a:solidFill>
                <a:latin typeface="游ゴシック"/>
                <a:ea typeface="游ゴシック"/>
                <a:cs typeface="游ゴシック"/>
              </a:rPr>
              <a:t> </a:t>
            </a:r>
            <a:r>
              <a:rPr sz="900" b="0" dirty="0">
                <a:solidFill>
                  <a:srgbClr val="1A1A1A"/>
                </a:solidFill>
                <a:latin typeface="游ゴシック"/>
                <a:ea typeface="游ゴシック"/>
                <a:cs typeface="游ゴシック"/>
              </a:rPr>
              <a:t>：16,403→16,047→16,428千円と横ばい。製造原価の42.3％を減価償却費が占めており、売上に連動しない固定費が大きい。</a:t>
            </a:r>
          </a:p>
          <a:p>
            <a:pPr algn="l">
              <a:spcAft>
                <a:spcPts val="200"/>
              </a:spcAft>
            </a:pPr>
            <a:endParaRPr sz="900" b="0" dirty="0">
              <a:solidFill>
                <a:srgbClr val="1A1A1A"/>
              </a:solidFill>
              <a:latin typeface="游ゴシック"/>
              <a:ea typeface="游ゴシック"/>
              <a:cs typeface="游ゴシック"/>
            </a:endParaRPr>
          </a:p>
          <a:p>
            <a:pPr algn="l">
              <a:lnSpc>
                <a:spcPct val="122000"/>
              </a:lnSpc>
              <a:spcAft>
                <a:spcPts val="200"/>
              </a:spcAft>
            </a:pPr>
            <a:r>
              <a:rPr sz="900" b="1" dirty="0" err="1">
                <a:solidFill>
                  <a:srgbClr val="0889C9"/>
                </a:solidFill>
                <a:latin typeface="游ゴシック"/>
                <a:ea typeface="游ゴシック"/>
                <a:cs typeface="游ゴシック"/>
              </a:rPr>
              <a:t>販管費</a:t>
            </a:r>
            <a:r>
              <a:rPr sz="900" b="1" dirty="0">
                <a:solidFill>
                  <a:srgbClr val="0889C9"/>
                </a:solidFill>
                <a:latin typeface="游ゴシック"/>
                <a:ea typeface="游ゴシック"/>
                <a:cs typeface="游ゴシック"/>
              </a:rPr>
              <a:t> </a:t>
            </a:r>
            <a:r>
              <a:rPr sz="900" b="0" dirty="0">
                <a:solidFill>
                  <a:srgbClr val="1A1A1A"/>
                </a:solidFill>
                <a:latin typeface="游ゴシック"/>
                <a:ea typeface="游ゴシック"/>
                <a:cs typeface="游ゴシック"/>
              </a:rPr>
              <a:t>：7,082→6,212→6,267千円。給料手当・役員報酬の計上はない（労務費は製造原価に計上）。</a:t>
            </a:r>
          </a:p>
          <a:p>
            <a:pPr algn="l">
              <a:spcAft>
                <a:spcPts val="200"/>
              </a:spcAft>
            </a:pPr>
            <a:endParaRPr sz="900" b="0" dirty="0">
              <a:solidFill>
                <a:srgbClr val="1A1A1A"/>
              </a:solidFill>
              <a:latin typeface="游ゴシック"/>
              <a:ea typeface="游ゴシック"/>
              <a:cs typeface="游ゴシック"/>
            </a:endParaRPr>
          </a:p>
          <a:p>
            <a:pPr algn="l">
              <a:lnSpc>
                <a:spcPct val="122000"/>
              </a:lnSpc>
              <a:spcAft>
                <a:spcPts val="200"/>
              </a:spcAft>
            </a:pPr>
            <a:r>
              <a:rPr sz="900" b="1" dirty="0" err="1">
                <a:solidFill>
                  <a:srgbClr val="0889C9"/>
                </a:solidFill>
                <a:latin typeface="游ゴシック"/>
                <a:ea typeface="游ゴシック"/>
                <a:cs typeface="游ゴシック"/>
              </a:rPr>
              <a:t>営業外損益</a:t>
            </a:r>
            <a:r>
              <a:rPr sz="900" b="1" dirty="0">
                <a:solidFill>
                  <a:srgbClr val="0889C9"/>
                </a:solidFill>
                <a:latin typeface="游ゴシック"/>
                <a:ea typeface="游ゴシック"/>
                <a:cs typeface="游ゴシック"/>
              </a:rPr>
              <a:t> </a:t>
            </a:r>
            <a:r>
              <a:rPr sz="900" b="0" dirty="0">
                <a:solidFill>
                  <a:srgbClr val="1A1A1A"/>
                </a:solidFill>
                <a:latin typeface="游ゴシック"/>
                <a:ea typeface="游ゴシック"/>
                <a:cs typeface="游ゴシック"/>
              </a:rPr>
              <a:t>：2025年5月期の雑収入2,490千円には補助金収入を含み、営業外費用の圧縮記帳損2,282千円は当該補助金に係るホームページ改修費用の圧縮記帳。いずれも非経常。</a:t>
            </a:r>
          </a:p>
          <a:p>
            <a:pPr algn="l">
              <a:spcAft>
                <a:spcPts val="200"/>
              </a:spcAft>
            </a:pPr>
            <a:endParaRPr sz="900" b="0" dirty="0">
              <a:solidFill>
                <a:srgbClr val="1A1A1A"/>
              </a:solidFill>
              <a:latin typeface="游ゴシック"/>
              <a:ea typeface="游ゴシック"/>
              <a:cs typeface="游ゴシック"/>
            </a:endParaRPr>
          </a:p>
          <a:p>
            <a:pPr algn="l">
              <a:lnSpc>
                <a:spcPct val="122000"/>
              </a:lnSpc>
              <a:spcAft>
                <a:spcPts val="200"/>
              </a:spcAft>
            </a:pPr>
            <a:r>
              <a:rPr sz="900" b="1" dirty="0" err="1">
                <a:solidFill>
                  <a:srgbClr val="0889C9"/>
                </a:solidFill>
                <a:latin typeface="游ゴシック"/>
                <a:ea typeface="游ゴシック"/>
                <a:cs typeface="游ゴシック"/>
              </a:rPr>
              <a:t>支払利息</a:t>
            </a:r>
            <a:r>
              <a:rPr sz="900" b="1" dirty="0">
                <a:solidFill>
                  <a:srgbClr val="0889C9"/>
                </a:solidFill>
                <a:latin typeface="游ゴシック"/>
                <a:ea typeface="游ゴシック"/>
                <a:cs typeface="游ゴシック"/>
              </a:rPr>
              <a:t> </a:t>
            </a:r>
            <a:r>
              <a:rPr sz="900" b="0" dirty="0">
                <a:solidFill>
                  <a:srgbClr val="1A1A1A"/>
                </a:solidFill>
                <a:latin typeface="游ゴシック"/>
                <a:ea typeface="游ゴシック"/>
                <a:cs typeface="游ゴシック"/>
              </a:rPr>
              <a:t>：</a:t>
            </a:r>
            <a:r>
              <a:rPr sz="900" b="0" dirty="0" err="1">
                <a:solidFill>
                  <a:srgbClr val="1A1A1A"/>
                </a:solidFill>
                <a:latin typeface="游ゴシック"/>
                <a:ea typeface="游ゴシック"/>
                <a:cs typeface="游ゴシック"/>
              </a:rPr>
              <a:t>長期借入金は全額が無利息の役員借入であり、支払利息の計上はない</a:t>
            </a:r>
            <a:r>
              <a:rPr sz="900" b="0" dirty="0">
                <a:solidFill>
                  <a:srgbClr val="1A1A1A"/>
                </a:solidFill>
                <a:latin typeface="游ゴシック"/>
                <a:ea typeface="游ゴシック"/>
                <a:cs typeface="游ゴシック"/>
              </a:rPr>
              <a:t>。</a:t>
            </a:r>
          </a:p>
        </p:txBody>
      </p:sp>
      <p:pic>
        <p:nvPicPr>
          <p:cNvPr id="5" name="図 4">
            <a:extLst>
              <a:ext uri="{FF2B5EF4-FFF2-40B4-BE49-F238E27FC236}">
                <a16:creationId xmlns:a16="http://schemas.microsoft.com/office/drawing/2014/main" id="{86B541FC-6B6F-30DB-C3FF-6C6119A533E9}"/>
              </a:ext>
            </a:extLst>
          </p:cNvPr>
          <p:cNvPicPr>
            <a:picLocks noChangeAspect="1"/>
          </p:cNvPicPr>
          <p:nvPr/>
        </p:nvPicPr>
        <p:blipFill>
          <a:blip r:embed="rId2"/>
          <a:stretch>
            <a:fillRect/>
          </a:stretch>
        </p:blipFill>
        <p:spPr>
          <a:xfrm>
            <a:off x="341314" y="771526"/>
            <a:ext cx="6274734" cy="5495924"/>
          </a:xfrm>
          <a:prstGeom prst="rect">
            <a:avLst/>
          </a:prstGeom>
        </p:spPr>
      </p:pic>
    </p:spTree>
    <p:extLst>
      <p:ext uri="{BB962C8B-B14F-4D97-AF65-F5344CB8AC3E}">
        <p14:creationId xmlns:p14="http://schemas.microsoft.com/office/powerpoint/2010/main" val="4072389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EDE74-6222-A468-54C8-62A66BD11830}"/>
            </a:ext>
          </a:extLst>
        </p:cNvPr>
        <p:cNvGrpSpPr/>
        <p:nvPr/>
      </p:nvGrpSpPr>
      <p:grpSpPr>
        <a:xfrm>
          <a:off x="0" y="0"/>
          <a:ext cx="0" cy="0"/>
          <a:chOff x="0" y="0"/>
          <a:chExt cx="0" cy="0"/>
        </a:xfrm>
      </p:grpSpPr>
      <p:sp>
        <p:nvSpPr>
          <p:cNvPr id="8" name="タイトル 7">
            <a:extLst>
              <a:ext uri="{FF2B5EF4-FFF2-40B4-BE49-F238E27FC236}">
                <a16:creationId xmlns:a16="http://schemas.microsoft.com/office/drawing/2014/main" id="{5F22A230-6AFE-45ED-4303-FDFB45310B20}"/>
              </a:ext>
            </a:extLst>
          </p:cNvPr>
          <p:cNvSpPr>
            <a:spLocks noGrp="1"/>
          </p:cNvSpPr>
          <p:nvPr>
            <p:ph type="ctrTitle"/>
          </p:nvPr>
        </p:nvSpPr>
        <p:spPr>
          <a:xfrm>
            <a:off x="341313" y="180653"/>
            <a:ext cx="7799917" cy="338554"/>
          </a:xfrm>
        </p:spPr>
        <p:txBody>
          <a:bodyPr/>
          <a:lstStyle/>
          <a:p>
            <a:r>
              <a:rPr dirty="0" err="1">
                <a:latin typeface="游ゴシック"/>
                <a:ea typeface="游ゴシック"/>
                <a:cs typeface="游ゴシック"/>
              </a:rPr>
              <a:t>過去</a:t>
            </a:r>
            <a:r>
              <a:rPr lang="en-US" altLang="ja-JP" dirty="0" err="1">
                <a:latin typeface="游ゴシック"/>
                <a:ea typeface="游ゴシック"/>
                <a:cs typeface="游ゴシック"/>
              </a:rPr>
              <a:t>SGA</a:t>
            </a:r>
            <a:r>
              <a:rPr dirty="0" err="1">
                <a:latin typeface="游ゴシック"/>
                <a:ea typeface="游ゴシック"/>
                <a:cs typeface="游ゴシック"/>
              </a:rPr>
              <a:t>の推移</a:t>
            </a:r>
            <a:endParaRPr dirty="0">
              <a:latin typeface="游ゴシック"/>
              <a:ea typeface="游ゴシック"/>
              <a:cs typeface="游ゴシック"/>
            </a:endParaRPr>
          </a:p>
        </p:txBody>
      </p:sp>
      <p:sp>
        <p:nvSpPr>
          <p:cNvPr id="7" name="タイトル 1">
            <a:extLst>
              <a:ext uri="{FF2B5EF4-FFF2-40B4-BE49-F238E27FC236}">
                <a16:creationId xmlns:a16="http://schemas.microsoft.com/office/drawing/2014/main" id="{3CFE1CCA-80FF-4783-BB1B-95A634C156D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pic>
        <p:nvPicPr>
          <p:cNvPr id="6" name="図 5">
            <a:extLst>
              <a:ext uri="{FF2B5EF4-FFF2-40B4-BE49-F238E27FC236}">
                <a16:creationId xmlns:a16="http://schemas.microsoft.com/office/drawing/2014/main" id="{27480D6E-855C-C540-DC8D-F9BCCB727F74}"/>
              </a:ext>
            </a:extLst>
          </p:cNvPr>
          <p:cNvPicPr>
            <a:picLocks noChangeAspect="1"/>
          </p:cNvPicPr>
          <p:nvPr/>
        </p:nvPicPr>
        <p:blipFill>
          <a:blip r:embed="rId2"/>
          <a:stretch>
            <a:fillRect/>
          </a:stretch>
        </p:blipFill>
        <p:spPr>
          <a:xfrm>
            <a:off x="341313" y="783808"/>
            <a:ext cx="7143903" cy="4216817"/>
          </a:xfrm>
          <a:prstGeom prst="rect">
            <a:avLst/>
          </a:prstGeom>
        </p:spPr>
      </p:pic>
    </p:spTree>
    <p:extLst>
      <p:ext uri="{BB962C8B-B14F-4D97-AF65-F5344CB8AC3E}">
        <p14:creationId xmlns:p14="http://schemas.microsoft.com/office/powerpoint/2010/main" val="4072007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4E7A8-51E2-4AD7-5FDB-44F0F5265449}"/>
            </a:ext>
          </a:extLst>
        </p:cNvPr>
        <p:cNvGrpSpPr/>
        <p:nvPr/>
      </p:nvGrpSpPr>
      <p:grpSpPr>
        <a:xfrm>
          <a:off x="0" y="0"/>
          <a:ext cx="0" cy="0"/>
          <a:chOff x="0" y="0"/>
          <a:chExt cx="0" cy="0"/>
        </a:xfrm>
      </p:grpSpPr>
      <p:sp>
        <p:nvSpPr>
          <p:cNvPr id="8" name="タイトル 7">
            <a:extLst>
              <a:ext uri="{FF2B5EF4-FFF2-40B4-BE49-F238E27FC236}">
                <a16:creationId xmlns:a16="http://schemas.microsoft.com/office/drawing/2014/main" id="{D9FF609B-86D2-AB0B-051E-5613FC45CF46}"/>
              </a:ext>
            </a:extLst>
          </p:cNvPr>
          <p:cNvSpPr>
            <a:spLocks noGrp="1"/>
          </p:cNvSpPr>
          <p:nvPr>
            <p:ph type="ctrTitle"/>
          </p:nvPr>
        </p:nvSpPr>
        <p:spPr>
          <a:xfrm>
            <a:off x="341313" y="180653"/>
            <a:ext cx="7799917" cy="338554"/>
          </a:xfrm>
        </p:spPr>
        <p:txBody>
          <a:bodyPr/>
          <a:lstStyle/>
          <a:p>
            <a:r>
              <a:rPr dirty="0" err="1">
                <a:latin typeface="游ゴシック"/>
                <a:ea typeface="游ゴシック"/>
                <a:cs typeface="游ゴシック"/>
              </a:rPr>
              <a:t>過去</a:t>
            </a:r>
            <a:r>
              <a:rPr lang="en-US" altLang="ja-JP" dirty="0" err="1">
                <a:latin typeface="游ゴシック"/>
                <a:ea typeface="游ゴシック"/>
                <a:cs typeface="游ゴシック"/>
              </a:rPr>
              <a:t>CR</a:t>
            </a:r>
            <a:r>
              <a:rPr lang="ja-JP" altLang="en-US" dirty="0">
                <a:latin typeface="游ゴシック"/>
                <a:ea typeface="游ゴシック"/>
                <a:cs typeface="游ゴシック"/>
              </a:rPr>
              <a:t>（製造原価報告書）</a:t>
            </a:r>
            <a:r>
              <a:rPr dirty="0" err="1">
                <a:latin typeface="游ゴシック"/>
                <a:ea typeface="游ゴシック"/>
                <a:cs typeface="游ゴシック"/>
              </a:rPr>
              <a:t>の推移</a:t>
            </a:r>
            <a:endParaRPr dirty="0">
              <a:latin typeface="游ゴシック"/>
              <a:ea typeface="游ゴシック"/>
              <a:cs typeface="游ゴシック"/>
            </a:endParaRPr>
          </a:p>
        </p:txBody>
      </p:sp>
      <p:sp>
        <p:nvSpPr>
          <p:cNvPr id="7" name="タイトル 1">
            <a:extLst>
              <a:ext uri="{FF2B5EF4-FFF2-40B4-BE49-F238E27FC236}">
                <a16:creationId xmlns:a16="http://schemas.microsoft.com/office/drawing/2014/main" id="{0149CE30-46AB-F9D5-22D2-6821F0F6ABA4}"/>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pic>
        <p:nvPicPr>
          <p:cNvPr id="3" name="図 2">
            <a:extLst>
              <a:ext uri="{FF2B5EF4-FFF2-40B4-BE49-F238E27FC236}">
                <a16:creationId xmlns:a16="http://schemas.microsoft.com/office/drawing/2014/main" id="{E5414432-3F77-4A61-0D35-758A00031501}"/>
              </a:ext>
            </a:extLst>
          </p:cNvPr>
          <p:cNvPicPr>
            <a:picLocks noChangeAspect="1"/>
          </p:cNvPicPr>
          <p:nvPr/>
        </p:nvPicPr>
        <p:blipFill>
          <a:blip r:embed="rId2"/>
          <a:stretch>
            <a:fillRect/>
          </a:stretch>
        </p:blipFill>
        <p:spPr>
          <a:xfrm>
            <a:off x="341313" y="871795"/>
            <a:ext cx="6611937" cy="6001102"/>
          </a:xfrm>
          <a:prstGeom prst="rect">
            <a:avLst/>
          </a:prstGeom>
        </p:spPr>
      </p:pic>
    </p:spTree>
    <p:extLst>
      <p:ext uri="{BB962C8B-B14F-4D97-AF65-F5344CB8AC3E}">
        <p14:creationId xmlns:p14="http://schemas.microsoft.com/office/powerpoint/2010/main" val="2452630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FFA37B4E-7ECB-634B-D8F4-FB784ED00D76}"/>
              </a:ext>
            </a:extLst>
          </p:cNvPr>
          <p:cNvSpPr>
            <a:spLocks noGrp="1"/>
          </p:cNvSpPr>
          <p:nvPr>
            <p:ph type="ctrTitle"/>
          </p:nvPr>
        </p:nvSpPr>
        <p:spPr>
          <a:xfrm>
            <a:off x="341313" y="180653"/>
            <a:ext cx="7799917" cy="338554"/>
          </a:xfrm>
        </p:spPr>
        <p:txBody>
          <a:bodyPr/>
          <a:lstStyle/>
          <a:p>
            <a:r>
              <a:rPr>
                <a:latin typeface="游ゴシック"/>
                <a:ea typeface="游ゴシック"/>
                <a:cs typeface="游ゴシック"/>
              </a:rPr>
              <a:t>修正PLの算定［正常収益力の集計］</a:t>
            </a:r>
          </a:p>
        </p:txBody>
      </p:sp>
      <p:sp>
        <p:nvSpPr>
          <p:cNvPr id="3" name="タイトル 1">
            <a:extLst>
              <a:ext uri="{FF2B5EF4-FFF2-40B4-BE49-F238E27FC236}">
                <a16:creationId xmlns:a16="http://schemas.microsoft.com/office/drawing/2014/main" id="{8B1FDB05-1F10-E45F-94B4-C962168561F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7" name="Table 6"/>
          <p:cNvGraphicFramePr>
            <a:graphicFrameLocks noGrp="1"/>
          </p:cNvGraphicFramePr>
          <p:nvPr/>
        </p:nvGraphicFramePr>
        <p:xfrm>
          <a:off x="448056" y="1298448"/>
          <a:ext cx="9893807" cy="1965960"/>
        </p:xfrm>
        <a:graphic>
          <a:graphicData uri="http://schemas.openxmlformats.org/drawingml/2006/table">
            <a:tbl>
              <a:tblPr firstRow="0" bandRow="0">
                <a:tableStyleId>{5940675A-B579-460E-94D1-54222C63F5DA}</a:tableStyleId>
              </a:tblPr>
              <a:tblGrid>
                <a:gridCol w="1918466"/>
                <a:gridCol w="886149"/>
                <a:gridCol w="886149"/>
                <a:gridCol w="886149"/>
                <a:gridCol w="886149"/>
                <a:gridCol w="886149"/>
                <a:gridCol w="886149"/>
                <a:gridCol w="886149"/>
                <a:gridCol w="886149"/>
                <a:gridCol w="886149"/>
              </a:tblGrid>
              <a:tr h="228600">
                <a:tc>
                  <a:txBody>
                    <a:bodyPr wrap="square"/>
                    <a:lstStyle/>
                    <a:p>
                      <a:pPr algn="ctr">
                        <a:spcAft>
                          <a:spcPts val="0"/>
                        </a:spcAft>
                      </a:pPr>
                      <a:r>
                        <a:rPr sz="840" b="1">
                          <a:solidFill>
                            <a:srgbClr val="FFFFFF"/>
                          </a:solidFill>
                          <a:latin typeface="游ゴシック"/>
                          <a:ea typeface="游ゴシック"/>
                          <a:cs typeface="游ゴシック"/>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帳簿価額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修正額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修正後</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帳簿価額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修正額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修正後</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帳簿価額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修正額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修正後</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28600">
                <a:tc>
                  <a:txBody>
                    <a:bodyPr wrap="square"/>
                    <a:lstStyle/>
                    <a:p>
                      <a:pPr algn="ctr">
                        <a:spcAft>
                          <a:spcPts val="0"/>
                        </a:spcAft>
                      </a:pPr>
                      <a:r>
                        <a:rPr sz="84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01752">
                <a:tc>
                  <a:txBody>
                    <a:bodyPr wrap="square"/>
                    <a:lstStyle/>
                    <a:p>
                      <a:pPr algn="l">
                        <a:spcAft>
                          <a:spcPts val="0"/>
                        </a:spcAft>
                      </a:pPr>
                      <a:r>
                        <a:rPr sz="840" b="0">
                          <a:solidFill>
                            <a:srgbClr val="1A1A1A"/>
                          </a:solidFill>
                          <a:latin typeface="游ゴシック"/>
                          <a:ea typeface="游ゴシック"/>
                          <a:cs typeface="游ゴシック"/>
                        </a:rPr>
                        <a:t>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24,455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24,455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23,542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23,542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22,484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22,484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01752">
                <a:tc>
                  <a:txBody>
                    <a:bodyPr wrap="square"/>
                    <a:lstStyle/>
                    <a:p>
                      <a:pPr algn="l">
                        <a:spcAft>
                          <a:spcPts val="0"/>
                        </a:spcAft>
                      </a:pPr>
                      <a:r>
                        <a:rPr sz="840" b="0">
                          <a:solidFill>
                            <a:srgbClr val="1A1A1A"/>
                          </a:solidFill>
                          <a:latin typeface="游ゴシック"/>
                          <a:ea typeface="游ゴシック"/>
                          <a:cs typeface="游ゴシック"/>
                        </a:rPr>
                        <a:t>売上原価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16,403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16,403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16,047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16,047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16,428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16,428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01752">
                <a:tc>
                  <a:txBody>
                    <a:bodyPr wrap="square"/>
                    <a:lstStyle/>
                    <a:p>
                      <a:pPr algn="l">
                        <a:spcAft>
                          <a:spcPts val="0"/>
                        </a:spcAft>
                      </a:pPr>
                      <a:r>
                        <a:rPr sz="840" b="1">
                          <a:solidFill>
                            <a:srgbClr val="1A1A1A"/>
                          </a:solidFill>
                          <a:latin typeface="游ゴシック"/>
                          <a:ea typeface="游ゴシック"/>
                          <a:cs typeface="游ゴシック"/>
                        </a:rPr>
                        <a:t>売上総利益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8,051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8,051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7,495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7,495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6,056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6,056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01752">
                <a:tc>
                  <a:txBody>
                    <a:bodyPr wrap="square"/>
                    <a:lstStyle/>
                    <a:p>
                      <a:pPr algn="l">
                        <a:spcAft>
                          <a:spcPts val="0"/>
                        </a:spcAft>
                      </a:pPr>
                      <a:r>
                        <a:rPr sz="840" b="0">
                          <a:solidFill>
                            <a:srgbClr val="1A1A1A"/>
                          </a:solidFill>
                          <a:latin typeface="游ゴシック"/>
                          <a:ea typeface="游ゴシック"/>
                          <a:cs typeface="游ゴシック"/>
                        </a:rPr>
                        <a:t>販売費及び一般管理費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7,082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11,040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18,122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6,212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11,040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17,252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6,267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11,040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17,307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01752">
                <a:tc>
                  <a:txBody>
                    <a:bodyPr wrap="square"/>
                    <a:lstStyle/>
                    <a:p>
                      <a:pPr algn="l">
                        <a:spcAft>
                          <a:spcPts val="0"/>
                        </a:spcAft>
                      </a:pPr>
                      <a:r>
                        <a:rPr sz="840" b="1">
                          <a:solidFill>
                            <a:srgbClr val="1A1A1A"/>
                          </a:solidFill>
                          <a:latin typeface="游ゴシック"/>
                          <a:ea typeface="游ゴシック"/>
                          <a:cs typeface="游ゴシック"/>
                        </a:rPr>
                        <a:t>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970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C03A2B"/>
                          </a:solidFill>
                          <a:latin typeface="Arial"/>
                          <a:ea typeface="Arial"/>
                          <a:cs typeface="Arial"/>
                        </a:rPr>
                        <a:t>△11,040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C03A2B"/>
                          </a:solidFill>
                          <a:latin typeface="Arial"/>
                          <a:ea typeface="Arial"/>
                          <a:cs typeface="Arial"/>
                        </a:rPr>
                        <a:t>△10,070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1,283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C03A2B"/>
                          </a:solidFill>
                          <a:latin typeface="Arial"/>
                          <a:ea typeface="Arial"/>
                          <a:cs typeface="Arial"/>
                        </a:rPr>
                        <a:t>△11,040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C03A2B"/>
                          </a:solidFill>
                          <a:latin typeface="Arial"/>
                          <a:ea typeface="Arial"/>
                          <a:cs typeface="Arial"/>
                        </a:rPr>
                        <a:t>△9,757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C03A2B"/>
                          </a:solidFill>
                          <a:latin typeface="Arial"/>
                          <a:ea typeface="Arial"/>
                          <a:cs typeface="Arial"/>
                        </a:rPr>
                        <a:t>△211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C03A2B"/>
                          </a:solidFill>
                          <a:latin typeface="Arial"/>
                          <a:ea typeface="Arial"/>
                          <a:cs typeface="Arial"/>
                        </a:rPr>
                        <a:t>△11,040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C03A2B"/>
                          </a:solidFill>
                          <a:latin typeface="Arial"/>
                          <a:ea typeface="Arial"/>
                          <a:cs typeface="Arial"/>
                        </a:rPr>
                        <a:t>△11,251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8" name="Rectangle 7"/>
          <p:cNvSpPr/>
          <p:nvPr/>
        </p:nvSpPr>
        <p:spPr>
          <a:xfrm>
            <a:off x="448056" y="3383280"/>
            <a:ext cx="9893808"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修正額の内訳</a:t>
            </a:r>
          </a:p>
        </p:txBody>
      </p:sp>
      <p:graphicFrame>
        <p:nvGraphicFramePr>
          <p:cNvPr id="9" name="Table 8"/>
          <p:cNvGraphicFramePr>
            <a:graphicFrameLocks noGrp="1"/>
          </p:cNvGraphicFramePr>
          <p:nvPr/>
        </p:nvGraphicFramePr>
        <p:xfrm>
          <a:off x="448056" y="3694176"/>
          <a:ext cx="9893808" cy="1499616"/>
        </p:xfrm>
        <a:graphic>
          <a:graphicData uri="http://schemas.openxmlformats.org/drawingml/2006/table">
            <a:tbl>
              <a:tblPr firstRow="0" bandRow="0">
                <a:tableStyleId>{5940675A-B579-460E-94D1-54222C63F5DA}</a:tableStyleId>
              </a:tblPr>
              <a:tblGrid>
                <a:gridCol w="1700784"/>
                <a:gridCol w="841248"/>
                <a:gridCol w="1078992"/>
                <a:gridCol w="1078992"/>
                <a:gridCol w="1078992"/>
                <a:gridCol w="4114800"/>
              </a:tblGrid>
              <a:tr h="237744">
                <a:tc>
                  <a:txBody>
                    <a:bodyPr wrap="square"/>
                    <a:lstStyle/>
                    <a:p>
                      <a:pPr algn="ctr">
                        <a:spcAft>
                          <a:spcPts val="0"/>
                        </a:spcAft>
                      </a:pPr>
                      <a:r>
                        <a:rPr sz="840" b="1">
                          <a:solidFill>
                            <a:srgbClr val="FFFFFF"/>
                          </a:solidFill>
                          <a:latin typeface="游ゴシック"/>
                          <a:ea typeface="游ゴシック"/>
                          <a:cs typeface="游ゴシック"/>
                        </a:rPr>
                        <a:t>修正項目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区分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修正の理由</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20624">
                <a:tc>
                  <a:txBody>
                    <a:bodyPr wrap="square"/>
                    <a:lstStyle/>
                    <a:p>
                      <a:pPr algn="l">
                        <a:spcAft>
                          <a:spcPts val="0"/>
                        </a:spcAft>
                      </a:pPr>
                      <a:r>
                        <a:rPr sz="840" b="0">
                          <a:solidFill>
                            <a:srgbClr val="1A1A1A"/>
                          </a:solidFill>
                          <a:latin typeface="游ゴシック"/>
                          <a:ea typeface="游ゴシック"/>
                          <a:cs typeface="游ゴシック"/>
                        </a:rPr>
                        <a:t>後任者人件費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販管費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11,040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11,040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11,040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代表者・配偶者が無報酬であるため、後任者1名分（月額800千円×12か月＋法定福利費15％）を算入（P.18）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20624">
                <a:tc>
                  <a:txBody>
                    <a:bodyPr wrap="square"/>
                    <a:lstStyle/>
                    <a:p>
                      <a:pPr algn="l">
                        <a:spcAft>
                          <a:spcPts val="0"/>
                        </a:spcAft>
                      </a:pPr>
                      <a:r>
                        <a:rPr sz="840" b="0">
                          <a:solidFill>
                            <a:srgbClr val="1A1A1A"/>
                          </a:solidFill>
                          <a:latin typeface="游ゴシック"/>
                          <a:ea typeface="游ゴシック"/>
                          <a:cs typeface="游ゴシック"/>
                        </a:rPr>
                        <a:t>製造原価の修正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売上原価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修正すべき項目は認められない（P.20）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20624">
                <a:tc>
                  <a:txBody>
                    <a:bodyPr wrap="square"/>
                    <a:lstStyle/>
                    <a:p>
                      <a:pPr algn="l">
                        <a:spcAft>
                          <a:spcPts val="0"/>
                        </a:spcAft>
                      </a:pPr>
                      <a:r>
                        <a:rPr sz="840" b="1">
                          <a:solidFill>
                            <a:srgbClr val="1A1A1A"/>
                          </a:solidFill>
                          <a:latin typeface="游ゴシック"/>
                          <a:ea typeface="游ゴシック"/>
                          <a:cs typeface="游ゴシック"/>
                        </a:rPr>
                        <a:t>修正額 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C03A2B"/>
                          </a:solidFill>
                          <a:latin typeface="Arial"/>
                          <a:ea typeface="Arial"/>
                          <a:cs typeface="Arial"/>
                        </a:rPr>
                        <a:t>△11,040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C03A2B"/>
                          </a:solidFill>
                          <a:latin typeface="Arial"/>
                          <a:ea typeface="Arial"/>
                          <a:cs typeface="Arial"/>
                        </a:rPr>
                        <a:t>△11,040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C03A2B"/>
                          </a:solidFill>
                          <a:latin typeface="Arial"/>
                          <a:ea typeface="Arial"/>
                          <a:cs typeface="Arial"/>
                        </a:rPr>
                        <a:t>△11,040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1">
                          <a:solidFill>
                            <a:srgbClr val="1A1A1A"/>
                          </a:solidFill>
                          <a:latin typeface="游ゴシック"/>
                          <a:ea typeface="游ゴシック"/>
                          <a:cs typeface="游ゴシック"/>
                        </a:rPr>
                        <a:t>営業利益に対する影響額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0" name="Rectangle 9"/>
          <p:cNvSpPr/>
          <p:nvPr/>
        </p:nvSpPr>
        <p:spPr>
          <a:xfrm>
            <a:off x="448056" y="5577840"/>
            <a:ext cx="9893808" cy="91440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57784" y="5916168"/>
            <a:ext cx="1435608" cy="237744"/>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12" name="TextBox 11"/>
          <p:cNvSpPr txBox="1"/>
          <p:nvPr/>
        </p:nvSpPr>
        <p:spPr>
          <a:xfrm>
            <a:off x="1993392" y="5669279"/>
            <a:ext cx="8238744" cy="731520"/>
          </a:xfrm>
          <a:prstGeom prst="rect">
            <a:avLst/>
          </a:prstGeom>
          <a:noFill/>
        </p:spPr>
        <p:txBody>
          <a:bodyPr wrap="square" lIns="0" rIns="0" tIns="0" bIns="0" anchor="ctr">
            <a:spAutoFit/>
          </a:bodyPr>
          <a:lstStyle/>
          <a:p>
            <a:pPr algn="l">
              <a:lnSpc>
                <a:spcPct val="118000"/>
              </a:lnSpc>
              <a:spcAft>
                <a:spcPts val="200"/>
              </a:spcAft>
            </a:pPr>
            <a:r>
              <a:rPr sz="900" b="0">
                <a:solidFill>
                  <a:srgbClr val="1A1A1A"/>
                </a:solidFill>
                <a:latin typeface="游ゴシック"/>
                <a:ea typeface="游ゴシック"/>
                <a:cs typeface="游ゴシック"/>
              </a:rPr>
              <a:t>修正後営業利益は△10,070／△9,757／△11,251千円となり、3期加重平均（直近50％・前期30％・前々期20％）の税考慮後では△6,974千円。年買法における営業権は算定されない。</a:t>
            </a:r>
          </a:p>
          <a:p>
            <a:pPr algn="l">
              <a:lnSpc>
                <a:spcPct val="118000"/>
              </a:lnSpc>
              <a:spcAft>
                <a:spcPts val="200"/>
              </a:spcAft>
            </a:pPr>
            <a:r>
              <a:rPr sz="900" b="0">
                <a:solidFill>
                  <a:srgbClr val="1A1A1A"/>
                </a:solidFill>
                <a:latin typeface="游ゴシック"/>
                <a:ea typeface="游ゴシック"/>
                <a:cs typeface="游ゴシック"/>
              </a:rPr>
              <a:t>実績の営業利益が黒字であったのは、代表者・配偶者が無報酬で労務を提供していたことによるものであり、事業そのものが人件費を負担できる収益力を備えているわけではない。この点が本件評価の中心的な論点である。</a:t>
            </a:r>
          </a:p>
        </p:txBody>
      </p:sp>
      <p:sp>
        <p:nvSpPr>
          <p:cNvPr id="13" name="TextBox 12"/>
          <p:cNvSpPr txBox="1"/>
          <p:nvPr/>
        </p:nvSpPr>
        <p:spPr>
          <a:xfrm>
            <a:off x="310896" y="6620256"/>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単位：千円。帳簿価額は決算書（2024年5月期〜2026年5月期）。修正額は案件マスター「修正SGA」「修正CR」に基づく。</a:t>
            </a:r>
          </a:p>
        </p:txBody>
      </p:sp>
    </p:spTree>
    <p:extLst>
      <p:ext uri="{BB962C8B-B14F-4D97-AF65-F5344CB8AC3E}">
        <p14:creationId xmlns:p14="http://schemas.microsoft.com/office/powerpoint/2010/main" val="1691939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C344F58-829E-63F5-31C6-9FB7EA727573}"/>
              </a:ext>
            </a:extLst>
          </p:cNvPr>
          <p:cNvSpPr>
            <a:spLocks noGrp="1"/>
          </p:cNvSpPr>
          <p:nvPr>
            <p:ph type="title"/>
          </p:nvPr>
        </p:nvSpPr>
        <p:spPr>
          <a:xfrm>
            <a:off x="989013" y="3249063"/>
            <a:ext cx="9221787" cy="1429750"/>
          </a:xfrm>
        </p:spPr>
        <p:txBody>
          <a:bodyPr/>
          <a:lstStyle/>
          <a:p>
            <a:pPr>
              <a:lnSpc>
                <a:spcPct val="120000"/>
              </a:lnSpc>
            </a:pPr>
            <a:r>
              <a:rPr lang="en-US" altLang="ja-JP" dirty="0"/>
              <a:t>Valuation Details </a:t>
            </a:r>
            <a:r>
              <a:rPr lang="ja-JP" altLang="en-US" dirty="0"/>
              <a:t>／</a:t>
            </a:r>
            <a:br>
              <a:rPr lang="en-US" altLang="ja-JP" dirty="0"/>
            </a:br>
            <a:r>
              <a:rPr lang="ja-JP" altLang="en-US" dirty="0"/>
              <a:t>株式価値の試算</a:t>
            </a:r>
          </a:p>
        </p:txBody>
      </p:sp>
      <p:grpSp>
        <p:nvGrpSpPr>
          <p:cNvPr id="6" name="グループ化 5">
            <a:extLst>
              <a:ext uri="{FF2B5EF4-FFF2-40B4-BE49-F238E27FC236}">
                <a16:creationId xmlns:a16="http://schemas.microsoft.com/office/drawing/2014/main" id="{52BB44DF-8448-FFAD-BE30-595A1754DDDF}"/>
              </a:ext>
            </a:extLst>
          </p:cNvPr>
          <p:cNvGrpSpPr/>
          <p:nvPr/>
        </p:nvGrpSpPr>
        <p:grpSpPr>
          <a:xfrm>
            <a:off x="885526" y="2173586"/>
            <a:ext cx="3390141" cy="651396"/>
            <a:chOff x="885526" y="2554586"/>
            <a:chExt cx="3390141" cy="651396"/>
          </a:xfrm>
        </p:grpSpPr>
        <p:sp>
          <p:nvSpPr>
            <p:cNvPr id="9" name="テキスト ボックス 8">
              <a:extLst>
                <a:ext uri="{FF2B5EF4-FFF2-40B4-BE49-F238E27FC236}">
                  <a16:creationId xmlns:a16="http://schemas.microsoft.com/office/drawing/2014/main" id="{F253E30E-0D7C-BFB0-7E67-4C2E49F2BDAA}"/>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3</a:t>
              </a:r>
              <a:endParaRPr lang="ja-JP" altLang="en-US" spc="100" dirty="0">
                <a:solidFill>
                  <a:schemeClr val="accent2">
                    <a:lumMod val="90000"/>
                  </a:schemeClr>
                </a:solidFill>
              </a:endParaRPr>
            </a:p>
          </p:txBody>
        </p:sp>
        <p:cxnSp>
          <p:nvCxnSpPr>
            <p:cNvPr id="10" name="直線コネクタ 9">
              <a:extLst>
                <a:ext uri="{FF2B5EF4-FFF2-40B4-BE49-F238E27FC236}">
                  <a16:creationId xmlns:a16="http://schemas.microsoft.com/office/drawing/2014/main" id="{A375A0D1-57FE-D27E-2B83-8DAF521DF351}"/>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0536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7F503-C243-C5C8-C2F0-929E04595FC1}"/>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a:latin typeface="游ゴシック"/>
                <a:ea typeface="游ゴシック"/>
                <a:cs typeface="游ゴシック"/>
              </a:rPr>
              <a:t>年買法（コストアプローチ）による算出</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3. Valuation Details </a:t>
            </a:r>
            <a:endParaRPr lang="ja-JP" altLang="en-US" spc="0" dirty="0"/>
          </a:p>
        </p:txBody>
      </p:sp>
      <p:sp>
        <p:nvSpPr>
          <p:cNvPr id="18" name="Rectangle 17"/>
          <p:cNvSpPr/>
          <p:nvPr/>
        </p:nvSpPr>
        <p:spPr>
          <a:xfrm>
            <a:off x="448056" y="1280160"/>
            <a:ext cx="475488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① 基準営業利益の算定</a:t>
            </a:r>
          </a:p>
        </p:txBody>
      </p:sp>
      <p:graphicFrame>
        <p:nvGraphicFramePr>
          <p:cNvPr id="19" name="Table 18"/>
          <p:cNvGraphicFramePr>
            <a:graphicFrameLocks noGrp="1"/>
          </p:cNvGraphicFramePr>
          <p:nvPr/>
        </p:nvGraphicFramePr>
        <p:xfrm>
          <a:off x="448056" y="1591056"/>
          <a:ext cx="4754880" cy="1170432"/>
        </p:xfrm>
        <a:graphic>
          <a:graphicData uri="http://schemas.openxmlformats.org/drawingml/2006/table">
            <a:tbl>
              <a:tblPr firstRow="0" bandRow="0">
                <a:tableStyleId>{5940675A-B579-460E-94D1-54222C63F5DA}</a:tableStyleId>
              </a:tblPr>
              <a:tblGrid>
                <a:gridCol w="1499616"/>
                <a:gridCol w="813816"/>
                <a:gridCol w="813816"/>
                <a:gridCol w="813816"/>
                <a:gridCol w="813816"/>
              </a:tblGrid>
              <a:tr h="237744">
                <a:tc>
                  <a:txBody>
                    <a:bodyPr wrap="square"/>
                    <a:lstStyle/>
                    <a:p>
                      <a:pPr algn="ctr">
                        <a:spcAft>
                          <a:spcPts val="0"/>
                        </a:spcAft>
                      </a:pPr>
                      <a:r>
                        <a:rPr sz="819" b="1">
                          <a:solidFill>
                            <a:srgbClr val="FFFFFF"/>
                          </a:solidFill>
                          <a:latin typeface="游ゴシック"/>
                          <a:ea typeface="游ゴシック"/>
                          <a:cs typeface="游ゴシック"/>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加重平均</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l">
                        <a:spcAft>
                          <a:spcPts val="0"/>
                        </a:spcAft>
                      </a:pPr>
                      <a:r>
                        <a:rPr sz="819" b="0">
                          <a:solidFill>
                            <a:srgbClr val="1A1A1A"/>
                          </a:solidFill>
                          <a:latin typeface="游ゴシック"/>
                          <a:ea typeface="游ゴシック"/>
                          <a:cs typeface="游ゴシック"/>
                        </a:rPr>
                        <a:t>修正後営業利益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C03A2B"/>
                          </a:solidFill>
                          <a:latin typeface="Arial"/>
                          <a:ea typeface="Arial"/>
                          <a:cs typeface="Arial"/>
                        </a:rPr>
                        <a:t>△10,070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C03A2B"/>
                          </a:solidFill>
                          <a:latin typeface="Arial"/>
                          <a:ea typeface="Arial"/>
                          <a:cs typeface="Arial"/>
                        </a:rPr>
                        <a:t>△9,757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C03A2B"/>
                          </a:solidFill>
                          <a:latin typeface="Arial"/>
                          <a:ea typeface="Arial"/>
                          <a:cs typeface="Arial"/>
                        </a:rPr>
                        <a:t>△11,251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l">
                        <a:spcAft>
                          <a:spcPts val="0"/>
                        </a:spcAft>
                      </a:pPr>
                      <a:r>
                        <a:rPr sz="819" b="0">
                          <a:solidFill>
                            <a:srgbClr val="1A1A1A"/>
                          </a:solidFill>
                          <a:latin typeface="游ゴシック"/>
                          <a:ea typeface="游ゴシック"/>
                          <a:cs typeface="游ゴシック"/>
                        </a:rPr>
                        <a:t>税考慮額（34％）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3,424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3,317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3,825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l">
                        <a:spcAft>
                          <a:spcPts val="0"/>
                        </a:spcAft>
                      </a:pPr>
                      <a:r>
                        <a:rPr sz="819" b="1">
                          <a:solidFill>
                            <a:srgbClr val="1A1A1A"/>
                          </a:solidFill>
                          <a:latin typeface="游ゴシック"/>
                          <a:ea typeface="游ゴシック"/>
                          <a:cs typeface="游ゴシック"/>
                        </a:rPr>
                        <a:t>税考慮後営業利益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C03A2B"/>
                          </a:solidFill>
                          <a:latin typeface="Arial"/>
                          <a:ea typeface="Arial"/>
                          <a:cs typeface="Arial"/>
                        </a:rPr>
                        <a:t>△6,646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C03A2B"/>
                          </a:solidFill>
                          <a:latin typeface="Arial"/>
                          <a:ea typeface="Arial"/>
                          <a:cs typeface="Arial"/>
                        </a:rPr>
                        <a:t>△6,440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C03A2B"/>
                          </a:solidFill>
                          <a:latin typeface="Arial"/>
                          <a:ea typeface="Arial"/>
                          <a:cs typeface="Arial"/>
                        </a:rPr>
                        <a:t>△7,426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C03A2B"/>
                          </a:solidFill>
                          <a:latin typeface="Arial"/>
                          <a:ea typeface="Arial"/>
                          <a:cs typeface="Arial"/>
                        </a:rPr>
                        <a:t>△6,974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0" name="Rectangle 19"/>
          <p:cNvSpPr/>
          <p:nvPr/>
        </p:nvSpPr>
        <p:spPr>
          <a:xfrm>
            <a:off x="448056" y="2980944"/>
            <a:ext cx="475488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② 時価純資産</a:t>
            </a:r>
          </a:p>
        </p:txBody>
      </p:sp>
      <p:graphicFrame>
        <p:nvGraphicFramePr>
          <p:cNvPr id="21" name="Table 20"/>
          <p:cNvGraphicFramePr>
            <a:graphicFrameLocks noGrp="1"/>
          </p:cNvGraphicFramePr>
          <p:nvPr/>
        </p:nvGraphicFramePr>
        <p:xfrm>
          <a:off x="448056" y="3291840"/>
          <a:ext cx="4754880" cy="1170432"/>
        </p:xfrm>
        <a:graphic>
          <a:graphicData uri="http://schemas.openxmlformats.org/drawingml/2006/table">
            <a:tbl>
              <a:tblPr firstRow="0" bandRow="0">
                <a:tableStyleId>{5940675A-B579-460E-94D1-54222C63F5DA}</a:tableStyleId>
              </a:tblPr>
              <a:tblGrid>
                <a:gridCol w="2926080"/>
                <a:gridCol w="1828800"/>
              </a:tblGrid>
              <a:tr h="237744">
                <a:tc>
                  <a:txBody>
                    <a:bodyPr wrap="square"/>
                    <a:lstStyle/>
                    <a:p>
                      <a:pPr algn="ctr">
                        <a:spcAft>
                          <a:spcPts val="0"/>
                        </a:spcAft>
                      </a:pPr>
                      <a:r>
                        <a:rPr sz="819" b="1">
                          <a:solidFill>
                            <a:srgbClr val="FFFFFF"/>
                          </a:solidFill>
                          <a:latin typeface="游ゴシック"/>
                          <a:ea typeface="游ゴシック"/>
                          <a:cs typeface="游ゴシック"/>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金額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l">
                        <a:spcAft>
                          <a:spcPts val="0"/>
                        </a:spcAft>
                      </a:pPr>
                      <a:r>
                        <a:rPr sz="819" b="0">
                          <a:solidFill>
                            <a:srgbClr val="1A1A1A"/>
                          </a:solidFill>
                          <a:latin typeface="游ゴシック"/>
                          <a:ea typeface="游ゴシック"/>
                          <a:cs typeface="游ゴシック"/>
                        </a:rPr>
                        <a:t>簿価純資産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l">
                        <a:spcAft>
                          <a:spcPts val="0"/>
                        </a:spcAft>
                      </a:pPr>
                      <a:r>
                        <a:rPr sz="819" b="0">
                          <a:solidFill>
                            <a:srgbClr val="1A1A1A"/>
                          </a:solidFill>
                          <a:latin typeface="游ゴシック"/>
                          <a:ea typeface="游ゴシック"/>
                          <a:cs typeface="游ゴシック"/>
                        </a:rPr>
                        <a:t>時価修正額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C03A2B"/>
                          </a:solidFill>
                          <a:latin typeface="Arial"/>
                          <a:ea typeface="Arial"/>
                          <a:cs typeface="Arial"/>
                        </a:rPr>
                        <a:t>△1,175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l">
                        <a:spcAft>
                          <a:spcPts val="0"/>
                        </a:spcAft>
                      </a:pPr>
                      <a:r>
                        <a:rPr sz="819" b="1">
                          <a:solidFill>
                            <a:srgbClr val="1A1A1A"/>
                          </a:solidFill>
                          <a:latin typeface="游ゴシック"/>
                          <a:ea typeface="游ゴシック"/>
                          <a:cs typeface="游ゴシック"/>
                        </a:rPr>
                        <a:t>時価純資産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22,483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2" name="Rectangle 21"/>
          <p:cNvSpPr/>
          <p:nvPr/>
        </p:nvSpPr>
        <p:spPr>
          <a:xfrm>
            <a:off x="5586984" y="1280160"/>
            <a:ext cx="475488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③ 想定株式価値</a:t>
            </a:r>
          </a:p>
        </p:txBody>
      </p:sp>
      <p:graphicFrame>
        <p:nvGraphicFramePr>
          <p:cNvPr id="23" name="Table 22"/>
          <p:cNvGraphicFramePr>
            <a:graphicFrameLocks noGrp="1"/>
          </p:cNvGraphicFramePr>
          <p:nvPr/>
        </p:nvGraphicFramePr>
        <p:xfrm>
          <a:off x="5586984" y="1591056"/>
          <a:ext cx="4754878" cy="1170432"/>
        </p:xfrm>
        <a:graphic>
          <a:graphicData uri="http://schemas.openxmlformats.org/drawingml/2006/table">
            <a:tbl>
              <a:tblPr firstRow="0" bandRow="0">
                <a:tableStyleId>{5940675A-B579-460E-94D1-54222C63F5DA}</a:tableStyleId>
              </a:tblPr>
              <a:tblGrid>
                <a:gridCol w="1664208"/>
                <a:gridCol w="1033271"/>
                <a:gridCol w="1033271"/>
                <a:gridCol w="1024128"/>
              </a:tblGrid>
              <a:tr h="237744">
                <a:tc>
                  <a:txBody>
                    <a:bodyPr wrap="square"/>
                    <a:lstStyle/>
                    <a:p>
                      <a:pPr algn="ctr">
                        <a:spcAft>
                          <a:spcPts val="0"/>
                        </a:spcAft>
                      </a:pPr>
                      <a:r>
                        <a:rPr sz="819" b="1">
                          <a:solidFill>
                            <a:srgbClr val="FFFFFF"/>
                          </a:solidFill>
                          <a:latin typeface="游ゴシック"/>
                          <a:ea typeface="游ゴシック"/>
                          <a:cs typeface="游ゴシック"/>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×1年</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×2年</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×3年</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l">
                        <a:spcAft>
                          <a:spcPts val="0"/>
                        </a:spcAft>
                      </a:pPr>
                      <a:r>
                        <a:rPr sz="819" b="0">
                          <a:solidFill>
                            <a:srgbClr val="1A1A1A"/>
                          </a:solidFill>
                          <a:latin typeface="游ゴシック"/>
                          <a:ea typeface="游ゴシック"/>
                          <a:cs typeface="游ゴシック"/>
                        </a:rPr>
                        <a:t>時価純資産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22,483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22,483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22,483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l">
                        <a:spcAft>
                          <a:spcPts val="0"/>
                        </a:spcAft>
                      </a:pPr>
                      <a:r>
                        <a:rPr sz="819" b="0">
                          <a:solidFill>
                            <a:srgbClr val="1A1A1A"/>
                          </a:solidFill>
                          <a:latin typeface="游ゴシック"/>
                          <a:ea typeface="游ゴシック"/>
                          <a:cs typeface="游ゴシック"/>
                        </a:rPr>
                        <a:t>営業権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l">
                        <a:spcAft>
                          <a:spcPts val="0"/>
                        </a:spcAft>
                      </a:pPr>
                      <a:r>
                        <a:rPr sz="819" b="1">
                          <a:solidFill>
                            <a:srgbClr val="1A1A1A"/>
                          </a:solidFill>
                          <a:latin typeface="游ゴシック"/>
                          <a:ea typeface="游ゴシック"/>
                          <a:cs typeface="游ゴシック"/>
                        </a:rPr>
                        <a:t>想定株式価値</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22,483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22,483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22,483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4" name="Rectangle 23"/>
          <p:cNvSpPr/>
          <p:nvPr/>
        </p:nvSpPr>
        <p:spPr>
          <a:xfrm>
            <a:off x="5586984" y="2980944"/>
            <a:ext cx="4754880" cy="859536"/>
          </a:xfrm>
          <a:prstGeom prst="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586984" y="2980944"/>
            <a:ext cx="1097280" cy="85953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586984" y="3291839"/>
            <a:ext cx="1097280" cy="237744"/>
          </a:xfrm>
          <a:prstGeom prst="rect">
            <a:avLst/>
          </a:prstGeom>
          <a:noFill/>
        </p:spPr>
        <p:txBody>
          <a:bodyPr wrap="square" lIns="0" rIns="0" tIns="0" bIns="0" anchor="t">
            <a:spAutoFit/>
          </a:bodyPr>
          <a:lstStyle/>
          <a:p>
            <a:pPr algn="ctr">
              <a:spcAft>
                <a:spcPts val="0"/>
              </a:spcAft>
            </a:pPr>
            <a:r>
              <a:rPr sz="1400" b="1">
                <a:solidFill>
                  <a:srgbClr val="FFFFFF"/>
                </a:solidFill>
                <a:latin typeface="游ゴシック"/>
                <a:ea typeface="游ゴシック"/>
                <a:cs typeface="游ゴシック"/>
              </a:rPr>
              <a:t>Point</a:t>
            </a:r>
          </a:p>
        </p:txBody>
      </p:sp>
      <p:sp>
        <p:nvSpPr>
          <p:cNvPr id="27" name="TextBox 26"/>
          <p:cNvSpPr txBox="1"/>
          <p:nvPr/>
        </p:nvSpPr>
        <p:spPr>
          <a:xfrm>
            <a:off x="6848856" y="3072384"/>
            <a:ext cx="3364992" cy="676656"/>
          </a:xfrm>
          <a:prstGeom prst="rect">
            <a:avLst/>
          </a:prstGeom>
          <a:noFill/>
        </p:spPr>
        <p:txBody>
          <a:bodyPr wrap="square" lIns="0" rIns="0" tIns="0" bIns="0" anchor="ctr">
            <a:spAutoFit/>
          </a:bodyPr>
          <a:lstStyle/>
          <a:p>
            <a:pPr algn="l">
              <a:lnSpc>
                <a:spcPct val="122000"/>
              </a:lnSpc>
              <a:spcAft>
                <a:spcPts val="200"/>
              </a:spcAft>
            </a:pPr>
            <a:r>
              <a:rPr sz="1050" b="0">
                <a:solidFill>
                  <a:srgbClr val="1A1A1A"/>
                </a:solidFill>
                <a:latin typeface="游ゴシック"/>
                <a:ea typeface="游ゴシック"/>
                <a:cs typeface="游ゴシック"/>
              </a:rPr>
              <a:t>基準営業利益が△6,974千円とマイナスであるため、営業権は倍率にかかわらず0となる。コストアプローチによる想定株式価値は時価純資産22,483千円と同額。</a:t>
            </a:r>
          </a:p>
        </p:txBody>
      </p:sp>
      <p:sp>
        <p:nvSpPr>
          <p:cNvPr id="28" name="Rectangle 27"/>
          <p:cNvSpPr/>
          <p:nvPr/>
        </p:nvSpPr>
        <p:spPr>
          <a:xfrm>
            <a:off x="448056" y="4846320"/>
            <a:ext cx="9893808" cy="91440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57784" y="5184648"/>
            <a:ext cx="1435608" cy="237744"/>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30" name="TextBox 29"/>
          <p:cNvSpPr txBox="1"/>
          <p:nvPr/>
        </p:nvSpPr>
        <p:spPr>
          <a:xfrm>
            <a:off x="1993392" y="4937759"/>
            <a:ext cx="8238744" cy="731520"/>
          </a:xfrm>
          <a:prstGeom prst="rect">
            <a:avLst/>
          </a:prstGeom>
          <a:noFill/>
        </p:spPr>
        <p:txBody>
          <a:bodyPr wrap="square" lIns="0" rIns="0" tIns="0" bIns="0" anchor="ctr">
            <a:spAutoFit/>
          </a:bodyPr>
          <a:lstStyle/>
          <a:p>
            <a:pPr algn="l">
              <a:lnSpc>
                <a:spcPct val="118000"/>
              </a:lnSpc>
              <a:spcAft>
                <a:spcPts val="200"/>
              </a:spcAft>
            </a:pPr>
            <a:r>
              <a:rPr sz="900" b="0">
                <a:solidFill>
                  <a:srgbClr val="1A1A1A"/>
                </a:solidFill>
                <a:latin typeface="游ゴシック"/>
                <a:ea typeface="游ゴシック"/>
                <a:cs typeface="游ゴシック"/>
              </a:rPr>
              <a:t>時価修正額は△1,175千円（電話加入権△75千円、出資金△1,100千円）。出資金は（株）慈久庵咸亨酒1,000千円・（株）慈久庵伊勢又100千円であり、両社の実態が未確認であるため全額を評価減した（要確認）。</a:t>
            </a:r>
          </a:p>
          <a:p>
            <a:pPr algn="l">
              <a:lnSpc>
                <a:spcPct val="118000"/>
              </a:lnSpc>
              <a:spcAft>
                <a:spcPts val="200"/>
              </a:spcAft>
            </a:pPr>
            <a:r>
              <a:rPr sz="900" b="0">
                <a:solidFill>
                  <a:srgbClr val="1A1A1A"/>
                </a:solidFill>
                <a:latin typeface="游ゴシック"/>
                <a:ea typeface="游ゴシック"/>
                <a:cs typeface="游ゴシック"/>
              </a:rPr>
              <a:t>本件の価値は収益力ではなく、土地・建物という事業用資産の裏付けにある。買手にとっては「同等の店舗を新築できない」ことが価値の中心であり、損益から導かれる営業権は本件では発生しない。</a:t>
            </a:r>
          </a:p>
        </p:txBody>
      </p:sp>
      <p:sp>
        <p:nvSpPr>
          <p:cNvPr id="31" name="TextBox 30"/>
          <p:cNvSpPr txBox="1"/>
          <p:nvPr/>
        </p:nvSpPr>
        <p:spPr>
          <a:xfrm>
            <a:off x="310896" y="6620256"/>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単位：千円。基準営業利益は3期加重平均（直近50％・前期30％・前々期20％）。実効税率34％。営業権は基準営業利益がマイナスの場合は0とする。</a:t>
            </a:r>
          </a:p>
        </p:txBody>
      </p:sp>
    </p:spTree>
    <p:extLst>
      <p:ext uri="{BB962C8B-B14F-4D97-AF65-F5344CB8AC3E}">
        <p14:creationId xmlns:p14="http://schemas.microsoft.com/office/powerpoint/2010/main" val="3814231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168CF-D69D-18FC-3A0E-C232A8D38007}"/>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D7EB75FF-F512-AB03-0F54-0531BD69257A}"/>
              </a:ext>
            </a:extLst>
          </p:cNvPr>
          <p:cNvSpPr>
            <a:spLocks noGrp="1"/>
          </p:cNvSpPr>
          <p:nvPr>
            <p:ph type="ctrTitle"/>
          </p:nvPr>
        </p:nvSpPr>
        <p:spPr/>
        <p:txBody>
          <a:bodyPr/>
          <a:lstStyle/>
          <a:p>
            <a:r>
              <a:rPr>
                <a:latin typeface="游ゴシック"/>
                <a:ea typeface="游ゴシック"/>
                <a:cs typeface="游ゴシック"/>
              </a:rPr>
              <a:t>EV/EBITDAマルチプル法（マーケットアプローチ）</a:t>
            </a:r>
          </a:p>
        </p:txBody>
      </p:sp>
      <p:sp>
        <p:nvSpPr>
          <p:cNvPr id="15" name="タイトル 1">
            <a:extLst>
              <a:ext uri="{FF2B5EF4-FFF2-40B4-BE49-F238E27FC236}">
                <a16:creationId xmlns:a16="http://schemas.microsoft.com/office/drawing/2014/main" id="{90570B0E-6143-1519-8292-7086F7DE784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3. Valuation Details </a:t>
            </a:r>
            <a:endParaRPr lang="ja-JP" altLang="en-US" spc="0" dirty="0"/>
          </a:p>
        </p:txBody>
      </p:sp>
      <p:sp>
        <p:nvSpPr>
          <p:cNvPr id="18" name="Rectangle 17"/>
          <p:cNvSpPr/>
          <p:nvPr/>
        </p:nvSpPr>
        <p:spPr>
          <a:xfrm>
            <a:off x="448056" y="1280160"/>
            <a:ext cx="9893808"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① 基準EBITDAの算定</a:t>
            </a:r>
          </a:p>
        </p:txBody>
      </p:sp>
      <p:graphicFrame>
        <p:nvGraphicFramePr>
          <p:cNvPr id="19" name="Table 18"/>
          <p:cNvGraphicFramePr>
            <a:graphicFrameLocks noGrp="1"/>
          </p:cNvGraphicFramePr>
          <p:nvPr/>
        </p:nvGraphicFramePr>
        <p:xfrm>
          <a:off x="448056" y="1591056"/>
          <a:ext cx="9893808" cy="1170432"/>
        </p:xfrm>
        <a:graphic>
          <a:graphicData uri="http://schemas.openxmlformats.org/drawingml/2006/table">
            <a:tbl>
              <a:tblPr firstRow="0" bandRow="0">
                <a:tableStyleId>{5940675A-B579-460E-94D1-54222C63F5DA}</a:tableStyleId>
              </a:tblPr>
              <a:tblGrid>
                <a:gridCol w="2834640"/>
                <a:gridCol w="1764792"/>
                <a:gridCol w="1764792"/>
                <a:gridCol w="1764792"/>
                <a:gridCol w="1764792"/>
              </a:tblGrid>
              <a:tr h="237744">
                <a:tc>
                  <a:txBody>
                    <a:bodyPr wrap="square"/>
                    <a:lstStyle/>
                    <a:p>
                      <a:pPr algn="ctr">
                        <a:spcAft>
                          <a:spcPts val="0"/>
                        </a:spcAft>
                      </a:pPr>
                      <a:r>
                        <a:rPr sz="860" b="1">
                          <a:solidFill>
                            <a:srgbClr val="FFFFFF"/>
                          </a:solidFill>
                          <a:latin typeface="游ゴシック"/>
                          <a:ea typeface="游ゴシック"/>
                          <a:cs typeface="游ゴシック"/>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加重平均</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l">
                        <a:spcAft>
                          <a:spcPts val="0"/>
                        </a:spcAft>
                      </a:pPr>
                      <a:r>
                        <a:rPr sz="860" b="0">
                          <a:solidFill>
                            <a:srgbClr val="1A1A1A"/>
                          </a:solidFill>
                          <a:latin typeface="游ゴシック"/>
                          <a:ea typeface="游ゴシック"/>
                          <a:cs typeface="游ゴシック"/>
                        </a:rPr>
                        <a:t>修正後営業利益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C03A2B"/>
                          </a:solidFill>
                          <a:latin typeface="Arial"/>
                          <a:ea typeface="Arial"/>
                          <a:cs typeface="Arial"/>
                        </a:rPr>
                        <a:t>△10,070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C03A2B"/>
                          </a:solidFill>
                          <a:latin typeface="Arial"/>
                          <a:ea typeface="Arial"/>
                          <a:cs typeface="Arial"/>
                        </a:rPr>
                        <a:t>△9,757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C03A2B"/>
                          </a:solidFill>
                          <a:latin typeface="Arial"/>
                          <a:ea typeface="Arial"/>
                          <a:cs typeface="Arial"/>
                        </a:rPr>
                        <a:t>△11,251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l">
                        <a:spcAft>
                          <a:spcPts val="0"/>
                        </a:spcAft>
                      </a:pPr>
                      <a:r>
                        <a:rPr sz="860" b="0">
                          <a:solidFill>
                            <a:srgbClr val="1A1A1A"/>
                          </a:solidFill>
                          <a:latin typeface="游ゴシック"/>
                          <a:ea typeface="游ゴシック"/>
                          <a:cs typeface="游ゴシック"/>
                        </a:rPr>
                        <a:t>減価償却費（事業供用分）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6,627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6,538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6,258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l">
                        <a:spcAft>
                          <a:spcPts val="0"/>
                        </a:spcAft>
                      </a:pPr>
                      <a:r>
                        <a:rPr sz="860" b="1">
                          <a:solidFill>
                            <a:srgbClr val="1A1A1A"/>
                          </a:solidFill>
                          <a:latin typeface="游ゴシック"/>
                          <a:ea typeface="游ゴシック"/>
                          <a:cs typeface="游ゴシック"/>
                        </a:rPr>
                        <a:t>修正後EBITDA</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1">
                          <a:solidFill>
                            <a:srgbClr val="C03A2B"/>
                          </a:solidFill>
                          <a:latin typeface="Arial"/>
                          <a:ea typeface="Arial"/>
                          <a:cs typeface="Arial"/>
                        </a:rPr>
                        <a:t>△3,444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1">
                          <a:solidFill>
                            <a:srgbClr val="C03A2B"/>
                          </a:solidFill>
                          <a:latin typeface="Arial"/>
                          <a:ea typeface="Arial"/>
                          <a:cs typeface="Arial"/>
                        </a:rPr>
                        <a:t>△3,219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1">
                          <a:solidFill>
                            <a:srgbClr val="C03A2B"/>
                          </a:solidFill>
                          <a:latin typeface="Arial"/>
                          <a:ea typeface="Arial"/>
                          <a:cs typeface="Arial"/>
                        </a:rPr>
                        <a:t>△4,993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1">
                          <a:solidFill>
                            <a:srgbClr val="C03A2B"/>
                          </a:solidFill>
                          <a:latin typeface="Arial"/>
                          <a:ea typeface="Arial"/>
                          <a:cs typeface="Arial"/>
                        </a:rPr>
                        <a:t>△4,151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0" name="Rectangle 19"/>
          <p:cNvSpPr/>
          <p:nvPr/>
        </p:nvSpPr>
        <p:spPr>
          <a:xfrm>
            <a:off x="448056" y="3017520"/>
            <a:ext cx="9893808"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② 想定株式価値の算定</a:t>
            </a:r>
          </a:p>
        </p:txBody>
      </p:sp>
      <p:graphicFrame>
        <p:nvGraphicFramePr>
          <p:cNvPr id="21" name="Table 20"/>
          <p:cNvGraphicFramePr>
            <a:graphicFrameLocks noGrp="1"/>
          </p:cNvGraphicFramePr>
          <p:nvPr/>
        </p:nvGraphicFramePr>
        <p:xfrm>
          <a:off x="448056" y="3328416"/>
          <a:ext cx="9893808" cy="1883664"/>
        </p:xfrm>
        <a:graphic>
          <a:graphicData uri="http://schemas.openxmlformats.org/drawingml/2006/table">
            <a:tbl>
              <a:tblPr firstRow="0" bandRow="0">
                <a:tableStyleId>{5940675A-B579-460E-94D1-54222C63F5DA}</a:tableStyleId>
              </a:tblPr>
              <a:tblGrid>
                <a:gridCol w="3840480"/>
                <a:gridCol w="3840480"/>
                <a:gridCol w="2212848"/>
              </a:tblGrid>
              <a:tr h="237744">
                <a:tc>
                  <a:txBody>
                    <a:bodyPr wrap="square"/>
                    <a:lstStyle/>
                    <a:p>
                      <a:pPr algn="ctr">
                        <a:spcAft>
                          <a:spcPts val="0"/>
                        </a:spcAft>
                      </a:pPr>
                      <a:r>
                        <a:rPr sz="860" b="1">
                          <a:solidFill>
                            <a:srgbClr val="FFFFFF"/>
                          </a:solidFill>
                          <a:latin typeface="游ゴシック"/>
                          <a:ea typeface="游ゴシック"/>
                          <a:cs typeface="游ゴシック"/>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算定</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金額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860" b="0">
                          <a:solidFill>
                            <a:srgbClr val="1A1A1A"/>
                          </a:solidFill>
                          <a:latin typeface="游ゴシック"/>
                          <a:ea typeface="游ゴシック"/>
                          <a:cs typeface="游ゴシック"/>
                        </a:rPr>
                        <a:t>基準EBITDA</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3期加重平均</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C03A2B"/>
                          </a:solidFill>
                          <a:latin typeface="Arial"/>
                          <a:ea typeface="Arial"/>
                          <a:cs typeface="Arial"/>
                        </a:rPr>
                        <a:t>△4,151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860" b="0">
                          <a:solidFill>
                            <a:srgbClr val="1A1A1A"/>
                          </a:solidFill>
                          <a:latin typeface="游ゴシック"/>
                          <a:ea typeface="游ゴシック"/>
                          <a:cs typeface="游ゴシック"/>
                        </a:rPr>
                        <a:t>EV（基準EBITDA × 3〜5倍）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基準EBITDAがマイナスのため算定不能</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860" b="0">
                          <a:solidFill>
                            <a:srgbClr val="1A1A1A"/>
                          </a:solidFill>
                          <a:latin typeface="游ゴシック"/>
                          <a:ea typeface="游ゴシック"/>
                          <a:cs typeface="游ゴシック"/>
                        </a:rPr>
                        <a:t>非流動性ディスカウント30％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同上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860" b="0">
                          <a:solidFill>
                            <a:srgbClr val="1A1A1A"/>
                          </a:solidFill>
                          <a:latin typeface="游ゴシック"/>
                          <a:ea typeface="游ゴシック"/>
                          <a:cs typeface="游ゴシック"/>
                        </a:rPr>
                        <a:t>ネットデット（役員借入金を承継する前提）</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ネットキャッシュ!C19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C03A2B"/>
                          </a:solidFill>
                          <a:latin typeface="Arial"/>
                          <a:ea typeface="Arial"/>
                          <a:cs typeface="Arial"/>
                        </a:rPr>
                        <a:t>△31,714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860" b="1">
                          <a:solidFill>
                            <a:srgbClr val="1A1A1A"/>
                          </a:solidFill>
                          <a:latin typeface="游ゴシック"/>
                          <a:ea typeface="游ゴシック"/>
                          <a:cs typeface="游ゴシック"/>
                        </a:rPr>
                        <a:t>想定株式価値</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1">
                          <a:solidFill>
                            <a:srgbClr val="1A1A1A"/>
                          </a:solidFill>
                          <a:latin typeface="游ゴシック"/>
                          <a:ea typeface="游ゴシック"/>
                          <a:cs typeface="游ゴシック"/>
                        </a:rPr>
                        <a:t>算定不能</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2" name="Rectangle 21"/>
          <p:cNvSpPr/>
          <p:nvPr/>
        </p:nvSpPr>
        <p:spPr>
          <a:xfrm>
            <a:off x="448056" y="5394960"/>
            <a:ext cx="9893808" cy="1042415"/>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57784" y="5797296"/>
            <a:ext cx="1435608" cy="237744"/>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24" name="TextBox 23"/>
          <p:cNvSpPr txBox="1"/>
          <p:nvPr/>
        </p:nvSpPr>
        <p:spPr>
          <a:xfrm>
            <a:off x="1993392" y="5486400"/>
            <a:ext cx="8238744" cy="859536"/>
          </a:xfrm>
          <a:prstGeom prst="rect">
            <a:avLst/>
          </a:prstGeom>
          <a:noFill/>
        </p:spPr>
        <p:txBody>
          <a:bodyPr wrap="square" lIns="0" rIns="0" tIns="0" bIns="0" anchor="ctr">
            <a:spAutoFit/>
          </a:bodyPr>
          <a:lstStyle/>
          <a:p>
            <a:pPr algn="l">
              <a:lnSpc>
                <a:spcPct val="118000"/>
              </a:lnSpc>
              <a:spcAft>
                <a:spcPts val="200"/>
              </a:spcAft>
            </a:pPr>
            <a:r>
              <a:rPr sz="900" b="0">
                <a:solidFill>
                  <a:srgbClr val="1A1A1A"/>
                </a:solidFill>
                <a:latin typeface="游ゴシック"/>
                <a:ea typeface="游ゴシック"/>
                <a:cs typeface="游ゴシック"/>
              </a:rPr>
              <a:t>後任者人件費を織り込んだ修正後EBITDAは3期とも大きなマイナスとなり、事業価値（EV）を算定できない。したがって本件ではマーケットアプローチを評価額の算定に用いず、コストアプローチ（時価純資産＋営業権法）を唯一の根拠とする。</a:t>
            </a:r>
          </a:p>
          <a:p>
            <a:pPr algn="l">
              <a:lnSpc>
                <a:spcPct val="118000"/>
              </a:lnSpc>
              <a:spcAft>
                <a:spcPts val="200"/>
              </a:spcAft>
            </a:pPr>
            <a:r>
              <a:rPr sz="900" b="0">
                <a:solidFill>
                  <a:srgbClr val="1A1A1A"/>
                </a:solidFill>
                <a:latin typeface="游ゴシック"/>
                <a:ea typeface="游ゴシック"/>
                <a:cs typeface="游ゴシック"/>
              </a:rPr>
              <a:t>企業概要書の調整後EBITDA（2026年5月期6,801千円）との関係は、6,801千円 － 塩町館分の減価償却753千円 － 後任者人件費11,040千円 ＝ △4,993千円。概要書は実績ベース、本書は正常収益力ベースであり、差は上記2項目のみである。</a:t>
            </a:r>
          </a:p>
        </p:txBody>
      </p:sp>
      <p:sp>
        <p:nvSpPr>
          <p:cNvPr id="25" name="TextBox 24"/>
          <p:cNvSpPr txBox="1"/>
          <p:nvPr/>
        </p:nvSpPr>
        <p:spPr>
          <a:xfrm>
            <a:off x="310896" y="6748272"/>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単位：千円。修正後EBITDA＝修正後営業利益＋減価償却費（事業供用分）。減価償却費は製造原価・販管費の計上額から、事業に未供用の塩町館分753千円を除外している（P.20）。</a:t>
            </a:r>
          </a:p>
        </p:txBody>
      </p:sp>
    </p:spTree>
    <p:extLst>
      <p:ext uri="{BB962C8B-B14F-4D97-AF65-F5344CB8AC3E}">
        <p14:creationId xmlns:p14="http://schemas.microsoft.com/office/powerpoint/2010/main" val="9668121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タイトル 16">
            <a:extLst>
              <a:ext uri="{FF2B5EF4-FFF2-40B4-BE49-F238E27FC236}">
                <a16:creationId xmlns:a16="http://schemas.microsoft.com/office/drawing/2014/main" id="{D7EB75FF-F512-AB03-0F54-0531BD69257A}"/>
              </a:ext>
            </a:extLst>
          </p:cNvPr>
          <p:cNvSpPr>
            <a:spLocks noGrp="1"/>
          </p:cNvSpPr>
          <p:nvPr>
            <p:ph type="ctrTitle"/>
          </p:nvPr>
        </p:nvSpPr>
        <p:spPr/>
        <p:txBody>
          <a:bodyPr/>
          <a:lstStyle/>
          <a:p>
            <a:r>
              <a:rPr>
                <a:latin typeface="游ゴシック"/>
                <a:ea typeface="游ゴシック"/>
                <a:cs typeface="游ゴシック"/>
              </a:rPr>
              <a:t>譲渡条件と売主の受取見込み</a:t>
            </a:r>
          </a:p>
        </p:txBody>
      </p:sp>
      <p:sp>
        <p:nvSpPr>
          <p:cNvPr id="15" name="タイトル 1">
            <a:extLst>
              <a:ext uri="{FF2B5EF4-FFF2-40B4-BE49-F238E27FC236}">
                <a16:creationId xmlns:a16="http://schemas.microsoft.com/office/drawing/2014/main" id="{90570B0E-6143-1519-8292-7086F7DE784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3. Valuation Details </a:t>
            </a:r>
            <a:endParaRPr lang="ja-JP" altLang="en-US" spc="0" dirty="0"/>
          </a:p>
        </p:txBody>
      </p:sp>
      <p:sp>
        <p:nvSpPr>
          <p:cNvPr id="18" name="Rectangle 17"/>
          <p:cNvSpPr/>
          <p:nvPr/>
        </p:nvSpPr>
        <p:spPr>
          <a:xfrm>
            <a:off x="448056" y="1280160"/>
            <a:ext cx="475488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① 時価純資産から着地目線までの控除</a:t>
            </a:r>
          </a:p>
        </p:txBody>
      </p:sp>
      <p:graphicFrame>
        <p:nvGraphicFramePr>
          <p:cNvPr id="19" name="Table 18"/>
          <p:cNvGraphicFramePr>
            <a:graphicFrameLocks noGrp="1"/>
          </p:cNvGraphicFramePr>
          <p:nvPr/>
        </p:nvGraphicFramePr>
        <p:xfrm>
          <a:off x="448056" y="1591056"/>
          <a:ext cx="4754880" cy="2798064"/>
        </p:xfrm>
        <a:graphic>
          <a:graphicData uri="http://schemas.openxmlformats.org/drawingml/2006/table">
            <a:tbl>
              <a:tblPr firstRow="0" bandRow="0">
                <a:tableStyleId>{5940675A-B579-460E-94D1-54222C63F5DA}</a:tableStyleId>
              </a:tblPr>
              <a:tblGrid>
                <a:gridCol w="3291840"/>
                <a:gridCol w="1463040"/>
              </a:tblGrid>
              <a:tr h="237744">
                <a:tc>
                  <a:txBody>
                    <a:bodyPr wrap="square"/>
                    <a:lstStyle/>
                    <a:p>
                      <a:pPr algn="ctr">
                        <a:spcAft>
                          <a:spcPts val="0"/>
                        </a:spcAft>
                      </a:pPr>
                      <a:r>
                        <a:rPr sz="800" b="1">
                          <a:solidFill>
                            <a:srgbClr val="FFFFFF"/>
                          </a:solidFill>
                          <a:latin typeface="游ゴシック"/>
                          <a:ea typeface="游ゴシック"/>
                          <a:cs typeface="游ゴシック"/>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金額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00" b="0">
                          <a:solidFill>
                            <a:srgbClr val="1A1A1A"/>
                          </a:solidFill>
                          <a:latin typeface="游ゴシック"/>
                          <a:ea typeface="游ゴシック"/>
                          <a:cs typeface="游ゴシック"/>
                        </a:rPr>
                        <a:t>時価純資産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22,483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00" b="0">
                          <a:solidFill>
                            <a:srgbClr val="1A1A1A"/>
                          </a:solidFill>
                          <a:latin typeface="游ゴシック"/>
                          <a:ea typeface="游ゴシック"/>
                          <a:cs typeface="游ゴシック"/>
                        </a:rPr>
                        <a:t>未収入金（塩町館2,624千円・小びと699千円）の回収可能性</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C03A2B"/>
                          </a:solidFill>
                          <a:latin typeface="Arial"/>
                          <a:ea typeface="Arial"/>
                          <a:cs typeface="Arial"/>
                        </a:rPr>
                        <a:t>△3,323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00" b="0">
                          <a:solidFill>
                            <a:srgbClr val="1A1A1A"/>
                          </a:solidFill>
                          <a:latin typeface="游ゴシック"/>
                          <a:ea typeface="游ゴシック"/>
                          <a:cs typeface="游ゴシック"/>
                        </a:rPr>
                        <a:t>滞留在庫（古古312千円・伊勢又預け分329千円）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C03A2B"/>
                          </a:solidFill>
                          <a:latin typeface="Arial"/>
                          <a:ea typeface="Arial"/>
                          <a:cs typeface="Arial"/>
                        </a:rPr>
                        <a:t>△641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00" b="0">
                          <a:solidFill>
                            <a:srgbClr val="1A1A1A"/>
                          </a:solidFill>
                          <a:latin typeface="游ゴシック"/>
                          <a:ea typeface="游ゴシック"/>
                          <a:cs typeface="游ゴシック"/>
                        </a:rPr>
                        <a:t>建物の表題・保存登記、2階明渡し、塩町館の権利関係整理等の未定事項</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C03A2B"/>
                          </a:solidFill>
                          <a:latin typeface="Arial"/>
                          <a:ea typeface="Arial"/>
                          <a:cs typeface="Arial"/>
                        </a:rPr>
                        <a:t>△2,000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00" b="1">
                          <a:solidFill>
                            <a:srgbClr val="1A1A1A"/>
                          </a:solidFill>
                          <a:latin typeface="游ゴシック"/>
                          <a:ea typeface="游ゴシック"/>
                          <a:cs typeface="游ゴシック"/>
                        </a:rPr>
                        <a:t>着地目線（概算）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16,519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0" name="Rectangle 19"/>
          <p:cNvSpPr/>
          <p:nvPr/>
        </p:nvSpPr>
        <p:spPr>
          <a:xfrm>
            <a:off x="5586984" y="1280160"/>
            <a:ext cx="475488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② 売主の受取見込み</a:t>
            </a:r>
          </a:p>
        </p:txBody>
      </p:sp>
      <p:graphicFrame>
        <p:nvGraphicFramePr>
          <p:cNvPr id="21" name="Table 20"/>
          <p:cNvGraphicFramePr>
            <a:graphicFrameLocks noGrp="1"/>
          </p:cNvGraphicFramePr>
          <p:nvPr/>
        </p:nvGraphicFramePr>
        <p:xfrm>
          <a:off x="5586984" y="1591056"/>
          <a:ext cx="4754880" cy="1773936"/>
        </p:xfrm>
        <a:graphic>
          <a:graphicData uri="http://schemas.openxmlformats.org/drawingml/2006/table">
            <a:tbl>
              <a:tblPr firstRow="0" bandRow="0">
                <a:tableStyleId>{5940675A-B579-460E-94D1-54222C63F5DA}</a:tableStyleId>
              </a:tblPr>
              <a:tblGrid>
                <a:gridCol w="3291840"/>
                <a:gridCol w="1463040"/>
              </a:tblGrid>
              <a:tr h="237744">
                <a:tc>
                  <a:txBody>
                    <a:bodyPr wrap="square"/>
                    <a:lstStyle/>
                    <a:p>
                      <a:pPr algn="ctr">
                        <a:spcAft>
                          <a:spcPts val="0"/>
                        </a:spcAft>
                      </a:pPr>
                      <a:r>
                        <a:rPr sz="800" b="1">
                          <a:solidFill>
                            <a:srgbClr val="FFFFFF"/>
                          </a:solidFill>
                          <a:latin typeface="游ゴシック"/>
                          <a:ea typeface="游ゴシック"/>
                          <a:cs typeface="游ゴシック"/>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金額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00" b="0">
                          <a:solidFill>
                            <a:srgbClr val="1A1A1A"/>
                          </a:solidFill>
                          <a:latin typeface="游ゴシック"/>
                          <a:ea typeface="游ゴシック"/>
                          <a:cs typeface="游ゴシック"/>
                        </a:rPr>
                        <a:t>株式譲渡対価（着地目線）</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16,500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00" b="0">
                          <a:solidFill>
                            <a:srgbClr val="1A1A1A"/>
                          </a:solidFill>
                          <a:latin typeface="游ゴシック"/>
                          <a:ea typeface="游ゴシック"/>
                          <a:cs typeface="游ゴシック"/>
                        </a:rPr>
                        <a:t>役員借入金の返済（譲渡後に段階的に返済する前提）</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00" b="1">
                          <a:solidFill>
                            <a:srgbClr val="1A1A1A"/>
                          </a:solidFill>
                          <a:latin typeface="游ゴシック"/>
                          <a:ea typeface="游ゴシック"/>
                          <a:cs typeface="游ゴシック"/>
                        </a:rPr>
                        <a:t>売主の受取見込み 合計（税効果は別途）</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49,244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2" name="Rectangle 21"/>
          <p:cNvSpPr/>
          <p:nvPr/>
        </p:nvSpPr>
        <p:spPr>
          <a:xfrm>
            <a:off x="5586984" y="3383280"/>
            <a:ext cx="4754880" cy="950976"/>
          </a:xfrm>
          <a:prstGeom prst="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5586984" y="3383280"/>
            <a:ext cx="1097280" cy="95097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586984" y="3739896"/>
            <a:ext cx="1097280" cy="237744"/>
          </a:xfrm>
          <a:prstGeom prst="rect">
            <a:avLst/>
          </a:prstGeom>
          <a:noFill/>
        </p:spPr>
        <p:txBody>
          <a:bodyPr wrap="square" lIns="0" rIns="0" tIns="0" bIns="0" anchor="t">
            <a:spAutoFit/>
          </a:bodyPr>
          <a:lstStyle/>
          <a:p>
            <a:pPr algn="ctr">
              <a:spcAft>
                <a:spcPts val="0"/>
              </a:spcAft>
            </a:pPr>
            <a:r>
              <a:rPr sz="1400" b="1">
                <a:solidFill>
                  <a:srgbClr val="FFFFFF"/>
                </a:solidFill>
                <a:latin typeface="游ゴシック"/>
                <a:ea typeface="游ゴシック"/>
                <a:cs typeface="游ゴシック"/>
              </a:rPr>
              <a:t>Point</a:t>
            </a:r>
          </a:p>
        </p:txBody>
      </p:sp>
      <p:sp>
        <p:nvSpPr>
          <p:cNvPr id="25" name="TextBox 24"/>
          <p:cNvSpPr txBox="1"/>
          <p:nvPr/>
        </p:nvSpPr>
        <p:spPr>
          <a:xfrm>
            <a:off x="6848856" y="3474720"/>
            <a:ext cx="3364992" cy="768096"/>
          </a:xfrm>
          <a:prstGeom prst="rect">
            <a:avLst/>
          </a:prstGeom>
          <a:noFill/>
        </p:spPr>
        <p:txBody>
          <a:bodyPr wrap="square" lIns="0" rIns="0" tIns="0" bIns="0" anchor="ctr">
            <a:spAutoFit/>
          </a:bodyPr>
          <a:lstStyle/>
          <a:p>
            <a:pPr algn="l">
              <a:lnSpc>
                <a:spcPct val="122000"/>
              </a:lnSpc>
              <a:spcAft>
                <a:spcPts val="200"/>
              </a:spcAft>
            </a:pPr>
            <a:r>
              <a:rPr sz="1050" b="0">
                <a:solidFill>
                  <a:srgbClr val="1A1A1A"/>
                </a:solidFill>
                <a:latin typeface="游ゴシック"/>
                <a:ea typeface="游ゴシック"/>
                <a:cs typeface="游ゴシック"/>
              </a:rPr>
              <a:t>役員報酬は引き続きゼロ、役員借入金は譲渡後に段階的に返済する前提。株式対価と借入金の返済では課税関係が異なるため、手取り額は税理士への確認を要する。</a:t>
            </a:r>
          </a:p>
        </p:txBody>
      </p:sp>
      <p:sp>
        <p:nvSpPr>
          <p:cNvPr id="26" name="Rectangle 25"/>
          <p:cNvSpPr/>
          <p:nvPr/>
        </p:nvSpPr>
        <p:spPr>
          <a:xfrm>
            <a:off x="448056" y="4663440"/>
            <a:ext cx="9893808" cy="969264"/>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57784" y="5029200"/>
            <a:ext cx="1435608" cy="237744"/>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28" name="TextBox 27"/>
          <p:cNvSpPr txBox="1"/>
          <p:nvPr/>
        </p:nvSpPr>
        <p:spPr>
          <a:xfrm>
            <a:off x="1993392" y="4754879"/>
            <a:ext cx="8238744" cy="786384"/>
          </a:xfrm>
          <a:prstGeom prst="rect">
            <a:avLst/>
          </a:prstGeom>
          <a:noFill/>
        </p:spPr>
        <p:txBody>
          <a:bodyPr wrap="square" lIns="0" rIns="0" tIns="0" bIns="0" anchor="ctr">
            <a:spAutoFit/>
          </a:bodyPr>
          <a:lstStyle/>
          <a:p>
            <a:pPr algn="l">
              <a:lnSpc>
                <a:spcPct val="118000"/>
              </a:lnSpc>
              <a:spcAft>
                <a:spcPts val="200"/>
              </a:spcAft>
            </a:pPr>
            <a:r>
              <a:rPr sz="900" b="0">
                <a:solidFill>
                  <a:srgbClr val="1A1A1A"/>
                </a:solidFill>
                <a:latin typeface="游ゴシック"/>
                <a:ea typeface="游ゴシック"/>
                <a:cs typeface="游ゴシック"/>
              </a:rPr>
              <a:t>コストアプローチによる評価額は22,483千円であるが、未収入金3,323千円の回収可能性、滞留在庫641千円、建物の表題・保存登記、2階の明渡し、塩町館の権利関係の整理といった未確定事項がいずれも株式価値を押し下げる方向に働く。これらを概算で織り込んだ着地目線が16,519千円である。</a:t>
            </a:r>
          </a:p>
          <a:p>
            <a:pPr algn="l">
              <a:lnSpc>
                <a:spcPct val="118000"/>
              </a:lnSpc>
              <a:spcAft>
                <a:spcPts val="200"/>
              </a:spcAft>
            </a:pPr>
            <a:r>
              <a:rPr sz="900" b="0">
                <a:solidFill>
                  <a:srgbClr val="1A1A1A"/>
                </a:solidFill>
                <a:latin typeface="游ゴシック"/>
                <a:ea typeface="游ゴシック"/>
                <a:cs typeface="游ゴシック"/>
              </a:rPr>
              <a:t>なお上記の控除額はいずれも金額が確定していない弊社の概算であり、登記簿・名寄帳・年齢表等の資料を受領したうえで確定させる必要がある。買手との交渉においては、本頁の控除項目が価格の論拠となる。</a:t>
            </a:r>
          </a:p>
        </p:txBody>
      </p:sp>
      <p:sp>
        <p:nvSpPr>
          <p:cNvPr id="29" name="TextBox 28"/>
          <p:cNvSpPr txBox="1"/>
          <p:nvPr/>
        </p:nvSpPr>
        <p:spPr>
          <a:xfrm>
            <a:off x="310896" y="658368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単位：千円。本頁の控除額および着地目線は弊社の概算であり、評価手法に基づく算定額ではありません。最終的な譲渡価額は売主・買主の協議により決定されます。</a:t>
            </a:r>
          </a:p>
          <a:p>
            <a:pPr algn="l">
              <a:lnSpc>
                <a:spcPct val="112000"/>
              </a:lnSpc>
              <a:spcAft>
                <a:spcPts val="100"/>
              </a:spcAft>
            </a:pPr>
            <a:r>
              <a:rPr sz="750" b="0">
                <a:solidFill>
                  <a:srgbClr val="5A6670"/>
                </a:solidFill>
                <a:latin typeface="游ゴシック"/>
                <a:ea typeface="游ゴシック"/>
                <a:cs typeface="游ゴシック"/>
              </a:rPr>
              <a:t>※ 役員借入金の返済原資・返済期間は買手の資金計画に依存します。返済が履行されない場合、売主の受取額は株式対価のみとなります。</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a:latin typeface="游ゴシック"/>
                <a:ea typeface="游ゴシック"/>
                <a:cs typeface="游ゴシック"/>
              </a:rPr>
              <a:t>［Appendix］評価手法について</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Appendix</a:t>
            </a:r>
            <a:endParaRPr lang="ja-JP" altLang="en-US" spc="0" dirty="0"/>
          </a:p>
        </p:txBody>
      </p:sp>
      <p:sp>
        <p:nvSpPr>
          <p:cNvPr id="18" name="Rectangle 17"/>
          <p:cNvSpPr/>
          <p:nvPr/>
        </p:nvSpPr>
        <p:spPr>
          <a:xfrm>
            <a:off x="338328" y="896112"/>
            <a:ext cx="1001268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600" b="1">
                <a:solidFill>
                  <a:srgbClr val="FFFFFF"/>
                </a:solidFill>
                <a:latin typeface="游ゴシック"/>
                <a:ea typeface="游ゴシック"/>
                <a:cs typeface="游ゴシック"/>
              </a:rPr>
              <a:t>株式価値算定の3つのアプローチ</a:t>
            </a:r>
          </a:p>
        </p:txBody>
      </p:sp>
      <p:graphicFrame>
        <p:nvGraphicFramePr>
          <p:cNvPr id="19" name="Table 18"/>
          <p:cNvGraphicFramePr>
            <a:graphicFrameLocks noGrp="1"/>
          </p:cNvGraphicFramePr>
          <p:nvPr/>
        </p:nvGraphicFramePr>
        <p:xfrm>
          <a:off x="338328" y="1207008"/>
          <a:ext cx="10012680" cy="4425696"/>
        </p:xfrm>
        <a:graphic>
          <a:graphicData uri="http://schemas.openxmlformats.org/drawingml/2006/table">
            <a:tbl>
              <a:tblPr>
                <a:tableStyleId>{5940675A-B579-460E-94D1-54222C63F5DA}</a:tableStyleId>
              </a:tblPr>
              <a:tblGrid>
                <a:gridCol w="1078992">
                  <a:extLst>
                    <a:ext uri="{9D8B030D-6E8A-4147-A177-3AD203B41FA5}">
                      <a16:colId xmlns:a16="http://schemas.microsoft.com/office/drawing/2014/main" val="20000"/>
                    </a:ext>
                  </a:extLst>
                </a:gridCol>
                <a:gridCol w="1572768">
                  <a:extLst>
                    <a:ext uri="{9D8B030D-6E8A-4147-A177-3AD203B41FA5}">
                      <a16:colId xmlns:a16="http://schemas.microsoft.com/office/drawing/2014/main" val="20001"/>
                    </a:ext>
                  </a:extLst>
                </a:gridCol>
                <a:gridCol w="2798064">
                  <a:extLst>
                    <a:ext uri="{9D8B030D-6E8A-4147-A177-3AD203B41FA5}">
                      <a16:colId xmlns:a16="http://schemas.microsoft.com/office/drawing/2014/main" val="20002"/>
                    </a:ext>
                  </a:extLst>
                </a:gridCol>
                <a:gridCol w="2487168">
                  <a:extLst>
                    <a:ext uri="{9D8B030D-6E8A-4147-A177-3AD203B41FA5}">
                      <a16:colId xmlns:a16="http://schemas.microsoft.com/office/drawing/2014/main" val="20003"/>
                    </a:ext>
                  </a:extLst>
                </a:gridCol>
                <a:gridCol w="2075688">
                  <a:extLst>
                    <a:ext uri="{9D8B030D-6E8A-4147-A177-3AD203B41FA5}">
                      <a16:colId xmlns:a16="http://schemas.microsoft.com/office/drawing/2014/main" val="20004"/>
                    </a:ext>
                  </a:extLst>
                </a:gridCol>
              </a:tblGrid>
              <a:tr h="256032">
                <a:tc>
                  <a:txBody>
                    <a:bodyPr/>
                    <a:lstStyle/>
                    <a:p>
                      <a:pPr algn="ctr">
                        <a:spcAft>
                          <a:spcPts val="0"/>
                        </a:spcAft>
                      </a:pPr>
                      <a:r>
                        <a:rPr sz="860" b="1">
                          <a:solidFill>
                            <a:srgbClr val="FFFFFF"/>
                          </a:solidFill>
                          <a:latin typeface="游ゴシック"/>
                          <a:ea typeface="游ゴシック"/>
                          <a:cs typeface="游ゴシック"/>
                        </a:rPr>
                        <a:t>アプローチ</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代表的な手法</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考え方</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留意点</a:t>
                      </a:r>
                    </a:p>
                  </a:txBody>
                  <a:tcPr marL="45720" marR="45720" marT="9144" marB="9144" anchor="ctr">
                    <a:solidFill>
                      <a:srgbClr val="0B3041"/>
                    </a:solidFill>
                  </a:tcPr>
                </a:tc>
                <a:tc>
                  <a:txBody>
                    <a:bodyPr/>
                    <a:lstStyle/>
                    <a:p>
                      <a:pPr algn="ctr">
                        <a:spcAft>
                          <a:spcPts val="0"/>
                        </a:spcAft>
                      </a:pPr>
                      <a:r>
                        <a:rPr sz="860" b="1">
                          <a:solidFill>
                            <a:srgbClr val="FFFFFF"/>
                          </a:solidFill>
                          <a:latin typeface="Arial"/>
                          <a:ea typeface="Arial"/>
                          <a:cs typeface="Arial"/>
                        </a:rPr>
                        <a:t>本件の採否</a:t>
                      </a:r>
                    </a:p>
                  </a:txBody>
                  <a:tcPr marL="45720" marR="45720" marT="9144" marB="9144" anchor="ctr">
                    <a:solidFill>
                      <a:srgbClr val="0B3041"/>
                    </a:solidFill>
                  </a:tcPr>
                </a:tc>
                <a:extLst>
                  <a:ext uri="{0D108BD9-81ED-4DB2-BD59-A6C34878D82A}">
                    <a16:rowId xmlns:a16="http://schemas.microsoft.com/office/drawing/2014/main" val="10000"/>
                  </a:ext>
                </a:extLst>
              </a:tr>
              <a:tr h="1389888">
                <a:tc>
                  <a:txBody>
                    <a:bodyPr/>
                    <a:lstStyle/>
                    <a:p>
                      <a:pPr algn="l">
                        <a:spcAft>
                          <a:spcPts val="0"/>
                        </a:spcAft>
                      </a:pPr>
                      <a:r>
                        <a:rPr sz="860" b="0">
                          <a:solidFill>
                            <a:srgbClr val="1A1A1A"/>
                          </a:solidFill>
                          <a:latin typeface="游ゴシック"/>
                          <a:ea typeface="游ゴシック"/>
                          <a:cs typeface="游ゴシック"/>
                        </a:rPr>
                        <a:t>コスト</a:t>
                      </a:r>
                    </a:p>
                    <a:p>
                      <a:pPr algn="l">
                        <a:spcAft>
                          <a:spcPts val="0"/>
                        </a:spcAft>
                      </a:pPr>
                      <a:r>
                        <a:rPr sz="860" b="0">
                          <a:solidFill>
                            <a:srgbClr val="1A1A1A"/>
                          </a:solidFill>
                          <a:latin typeface="游ゴシック"/>
                          <a:ea typeface="游ゴシック"/>
                          <a:cs typeface="游ゴシック"/>
                        </a:rPr>
                        <a:t>アプローチ</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時価純資産法</a:t>
                      </a:r>
                    </a:p>
                    <a:p>
                      <a:pPr algn="l">
                        <a:spcAft>
                          <a:spcPts val="0"/>
                        </a:spcAft>
                      </a:pPr>
                      <a:r>
                        <a:rPr sz="860" b="0">
                          <a:solidFill>
                            <a:srgbClr val="1A1A1A"/>
                          </a:solidFill>
                          <a:latin typeface="游ゴシック"/>
                          <a:ea typeface="游ゴシック"/>
                          <a:cs typeface="游ゴシック"/>
                        </a:rPr>
                        <a:t>時価純資産＋営業権法</a:t>
                      </a:r>
                    </a:p>
                    <a:p>
                      <a:pPr algn="l">
                        <a:spcAft>
                          <a:spcPts val="0"/>
                        </a:spcAft>
                      </a:pPr>
                      <a:r>
                        <a:rPr sz="860" b="0">
                          <a:solidFill>
                            <a:srgbClr val="1A1A1A"/>
                          </a:solidFill>
                          <a:latin typeface="游ゴシック"/>
                          <a:ea typeface="游ゴシック"/>
                          <a:cs typeface="游ゴシック"/>
                        </a:rPr>
                        <a:t>（年買法）</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貸借対照表の資産・負債を時価に評価し直した純資産額を基礎に株式価値を算定する。超過収益力がある場合は営業権を加算する。</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過去の蓄積を反映する一方、将来の収益力や成長性は営業権の倍率を通じてしか反映されない。</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採用</a:t>
                      </a:r>
                    </a:p>
                    <a:p>
                      <a:pPr algn="l">
                        <a:spcAft>
                          <a:spcPts val="0"/>
                        </a:spcAft>
                      </a:pPr>
                      <a:r>
                        <a:rPr sz="860" b="0">
                          <a:solidFill>
                            <a:srgbClr val="1A1A1A"/>
                          </a:solidFill>
                          <a:latin typeface="游ゴシック"/>
                          <a:ea typeface="游ゴシック"/>
                          <a:cs typeface="游ゴシック"/>
                        </a:rPr>
                        <a:t>（主たる手法）</a:t>
                      </a:r>
                    </a:p>
                    <a:p>
                      <a:pPr algn="l">
                        <a:spcAft>
                          <a:spcPts val="0"/>
                        </a:spcAft>
                      </a:pPr>
                      <a:r>
                        <a:rPr sz="860" b="0">
                          <a:solidFill>
                            <a:srgbClr val="1A1A1A"/>
                          </a:solidFill>
                          <a:latin typeface="游ゴシック"/>
                          <a:ea typeface="游ゴシック"/>
                          <a:cs typeface="游ゴシック"/>
                        </a:rPr>
                        <a:t>事業用資産の比重が大きく、資産性が価値の中心であるため適合的。</a:t>
                      </a:r>
                    </a:p>
                  </a:txBody>
                  <a:tcPr marL="45720" marR="45720" marT="9144" marB="9144" anchor="ctr">
                    <a:solidFill>
                      <a:srgbClr val="FFFFFF"/>
                    </a:solidFill>
                  </a:tcPr>
                </a:tc>
                <a:extLst>
                  <a:ext uri="{0D108BD9-81ED-4DB2-BD59-A6C34878D82A}">
                    <a16:rowId xmlns:a16="http://schemas.microsoft.com/office/drawing/2014/main" val="10001"/>
                  </a:ext>
                </a:extLst>
              </a:tr>
              <a:tr h="1389888">
                <a:tc>
                  <a:txBody>
                    <a:bodyPr/>
                    <a:lstStyle/>
                    <a:p>
                      <a:pPr algn="l">
                        <a:spcAft>
                          <a:spcPts val="0"/>
                        </a:spcAft>
                      </a:pPr>
                      <a:r>
                        <a:rPr sz="860" b="0">
                          <a:solidFill>
                            <a:srgbClr val="1A1A1A"/>
                          </a:solidFill>
                          <a:latin typeface="游ゴシック"/>
                          <a:ea typeface="游ゴシック"/>
                          <a:cs typeface="游ゴシック"/>
                        </a:rPr>
                        <a:t>マーケット</a:t>
                      </a:r>
                    </a:p>
                    <a:p>
                      <a:pPr algn="l">
                        <a:spcAft>
                          <a:spcPts val="0"/>
                        </a:spcAft>
                      </a:pPr>
                      <a:r>
                        <a:rPr sz="860" b="0">
                          <a:solidFill>
                            <a:srgbClr val="1A1A1A"/>
                          </a:solidFill>
                          <a:latin typeface="游ゴシック"/>
                          <a:ea typeface="游ゴシック"/>
                          <a:cs typeface="游ゴシック"/>
                        </a:rPr>
                        <a:t>アプローチ</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類似会社比準法</a:t>
                      </a:r>
                    </a:p>
                    <a:p>
                      <a:pPr algn="l">
                        <a:spcAft>
                          <a:spcPts val="0"/>
                        </a:spcAft>
                      </a:pPr>
                      <a:r>
                        <a:rPr sz="860" b="0">
                          <a:solidFill>
                            <a:srgbClr val="1A1A1A"/>
                          </a:solidFill>
                          <a:latin typeface="游ゴシック"/>
                          <a:ea typeface="游ゴシック"/>
                          <a:cs typeface="游ゴシック"/>
                        </a:rPr>
                        <a:t>（EV/EBITDA倍率等）</a:t>
                      </a:r>
                    </a:p>
                    <a:p>
                      <a:pPr algn="l">
                        <a:spcAft>
                          <a:spcPts val="0"/>
                        </a:spcAft>
                      </a:pPr>
                      <a:r>
                        <a:rPr sz="860" b="0">
                          <a:solidFill>
                            <a:srgbClr val="1A1A1A"/>
                          </a:solidFill>
                          <a:latin typeface="游ゴシック"/>
                          <a:ea typeface="游ゴシック"/>
                          <a:cs typeface="游ゴシック"/>
                        </a:rPr>
                        <a:t>類似取引比準法</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事業内容・規模が類似する上場会社の株価倍率を対象会社の財務数値に乗じて企業価値を算定し、ネットキャッシュを加減して株式価値を求める。</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市場の評価を反映できるが、規模・ビジネスモデルの差異と非上場株式の市場性の欠如（非流動性ディスカウント）を調整する必要がある。</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採用</a:t>
                      </a:r>
                    </a:p>
                    <a:p>
                      <a:pPr algn="l">
                        <a:spcAft>
                          <a:spcPts val="0"/>
                        </a:spcAft>
                      </a:pPr>
                      <a:r>
                        <a:rPr sz="860" b="0">
                          <a:solidFill>
                            <a:srgbClr val="1A1A1A"/>
                          </a:solidFill>
                          <a:latin typeface="游ゴシック"/>
                          <a:ea typeface="游ゴシック"/>
                          <a:cs typeface="游ゴシック"/>
                        </a:rPr>
                        <a:t>（参考値）</a:t>
                      </a:r>
                    </a:p>
                    <a:p>
                      <a:pPr algn="l">
                        <a:spcAft>
                          <a:spcPts val="0"/>
                        </a:spcAft>
                      </a:pPr>
                      <a:r>
                        <a:rPr sz="860" b="0">
                          <a:solidFill>
                            <a:srgbClr val="1A1A1A"/>
                          </a:solidFill>
                          <a:latin typeface="游ゴシック"/>
                          <a:ea typeface="游ゴシック"/>
                          <a:cs typeface="游ゴシック"/>
                        </a:rPr>
                        <a:t>1店舗・年商22百万円であり類似上場会社との規模差が大きいため参考値として併記。</a:t>
                      </a:r>
                    </a:p>
                  </a:txBody>
                  <a:tcPr marL="45720" marR="45720" marT="9144" marB="9144" anchor="ctr">
                    <a:solidFill>
                      <a:srgbClr val="FFFFFF"/>
                    </a:solidFill>
                  </a:tcPr>
                </a:tc>
                <a:extLst>
                  <a:ext uri="{0D108BD9-81ED-4DB2-BD59-A6C34878D82A}">
                    <a16:rowId xmlns:a16="http://schemas.microsoft.com/office/drawing/2014/main" val="10002"/>
                  </a:ext>
                </a:extLst>
              </a:tr>
              <a:tr h="1389888">
                <a:tc>
                  <a:txBody>
                    <a:bodyPr/>
                    <a:lstStyle/>
                    <a:p>
                      <a:pPr algn="l">
                        <a:spcAft>
                          <a:spcPts val="0"/>
                        </a:spcAft>
                      </a:pPr>
                      <a:r>
                        <a:rPr sz="860" b="0">
                          <a:solidFill>
                            <a:srgbClr val="1A1A1A"/>
                          </a:solidFill>
                          <a:latin typeface="游ゴシック"/>
                          <a:ea typeface="游ゴシック"/>
                          <a:cs typeface="游ゴシック"/>
                        </a:rPr>
                        <a:t>インカム</a:t>
                      </a:r>
                    </a:p>
                    <a:p>
                      <a:pPr algn="l">
                        <a:spcAft>
                          <a:spcPts val="0"/>
                        </a:spcAft>
                      </a:pPr>
                      <a:r>
                        <a:rPr sz="860" b="0">
                          <a:solidFill>
                            <a:srgbClr val="1A1A1A"/>
                          </a:solidFill>
                          <a:latin typeface="游ゴシック"/>
                          <a:ea typeface="游ゴシック"/>
                          <a:cs typeface="游ゴシック"/>
                        </a:rPr>
                        <a:t>アプローチ</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DCF法</a:t>
                      </a:r>
                    </a:p>
                    <a:p>
                      <a:pPr algn="l">
                        <a:spcAft>
                          <a:spcPts val="0"/>
                        </a:spcAft>
                      </a:pPr>
                      <a:r>
                        <a:rPr sz="860" b="0">
                          <a:solidFill>
                            <a:srgbClr val="1A1A1A"/>
                          </a:solidFill>
                          <a:latin typeface="游ゴシック"/>
                          <a:ea typeface="游ゴシック"/>
                          <a:cs typeface="游ゴシック"/>
                        </a:rPr>
                        <a:t>収益還元法</a:t>
                      </a:r>
                    </a:p>
                    <a:p>
                      <a:pPr algn="l">
                        <a:spcAft>
                          <a:spcPts val="0"/>
                        </a:spcAft>
                      </a:pPr>
                      <a:r>
                        <a:rPr sz="860" b="0">
                          <a:solidFill>
                            <a:srgbClr val="1A1A1A"/>
                          </a:solidFill>
                          <a:latin typeface="游ゴシック"/>
                          <a:ea typeface="游ゴシック"/>
                          <a:cs typeface="游ゴシック"/>
                        </a:rPr>
                        <a:t>配当還元法</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対象会社が将来生み出すキャッシュフローまたは利益を、リスクに見合う割引率で現在価値に割り引いて株式価値を算定する。</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事業計画の精度に結果が強く依存する。配当還元法は配当を目的とする少数株主の視点に立つ手法。</a:t>
                      </a:r>
                    </a:p>
                  </a:txBody>
                  <a:tcPr marL="45720" marR="45720" marT="9144" marB="9144" anchor="ctr">
                    <a:solidFill>
                      <a:srgbClr val="FFFFFF"/>
                    </a:solidFill>
                  </a:tcPr>
                </a:tc>
                <a:tc>
                  <a:txBody>
                    <a:bodyPr/>
                    <a:lstStyle/>
                    <a:p>
                      <a:pPr algn="l">
                        <a:spcAft>
                          <a:spcPts val="0"/>
                        </a:spcAft>
                      </a:pPr>
                      <a:r>
                        <a:rPr sz="860" b="0">
                          <a:solidFill>
                            <a:srgbClr val="1A1A1A"/>
                          </a:solidFill>
                          <a:latin typeface="游ゴシック"/>
                          <a:ea typeface="游ゴシック"/>
                          <a:cs typeface="游ゴシック"/>
                        </a:rPr>
                        <a:t>不採用</a:t>
                      </a:r>
                    </a:p>
                    <a:p>
                      <a:pPr algn="l">
                        <a:spcAft>
                          <a:spcPts val="0"/>
                        </a:spcAft>
                      </a:pPr>
                      <a:r>
                        <a:rPr sz="860" b="0">
                          <a:solidFill>
                            <a:srgbClr val="1A1A1A"/>
                          </a:solidFill>
                          <a:latin typeface="游ゴシック"/>
                          <a:ea typeface="游ゴシック"/>
                          <a:cs typeface="游ゴシック"/>
                        </a:rPr>
                        <a:t>事業計画が存在せず算定根拠を欠く。配当還元法は本件取引の性質に適合しない。</a:t>
                      </a:r>
                    </a:p>
                  </a:txBody>
                  <a:tcPr marL="45720" marR="45720" marT="9144" marB="9144" anchor="ctr">
                    <a:solidFill>
                      <a:srgbClr val="FFFFFF"/>
                    </a:solidFill>
                  </a:tcPr>
                </a:tc>
                <a:extLst>
                  <a:ext uri="{0D108BD9-81ED-4DB2-BD59-A6C34878D82A}">
                    <a16:rowId xmlns:a16="http://schemas.microsoft.com/office/drawing/2014/main" val="10003"/>
                  </a:ext>
                </a:extLst>
              </a:tr>
            </a:tbl>
          </a:graphicData>
        </a:graphic>
      </p:graphicFrame>
      <p:sp>
        <p:nvSpPr>
          <p:cNvPr id="20" name="Rectangle 19"/>
          <p:cNvSpPr/>
          <p:nvPr/>
        </p:nvSpPr>
        <p:spPr>
          <a:xfrm>
            <a:off x="338328" y="5760720"/>
            <a:ext cx="10012680" cy="749808"/>
          </a:xfrm>
          <a:prstGeom prst="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p:cNvSpPr/>
          <p:nvPr/>
        </p:nvSpPr>
        <p:spPr>
          <a:xfrm>
            <a:off x="338328" y="5760720"/>
            <a:ext cx="1188720" cy="74980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338328" y="6016752"/>
            <a:ext cx="1188720" cy="237744"/>
          </a:xfrm>
          <a:prstGeom prst="rect">
            <a:avLst/>
          </a:prstGeom>
          <a:noFill/>
        </p:spPr>
        <p:txBody>
          <a:bodyPr wrap="square" lIns="0" tIns="0" rIns="0" bIns="0" anchor="t">
            <a:spAutoFit/>
          </a:bodyPr>
          <a:lstStyle/>
          <a:p>
            <a:pPr algn="ctr">
              <a:spcAft>
                <a:spcPts val="0"/>
              </a:spcAft>
            </a:pPr>
            <a:r>
              <a:rPr sz="1400" b="1">
                <a:solidFill>
                  <a:srgbClr val="FFFFFF"/>
                </a:solidFill>
                <a:latin typeface="游ゴシック"/>
                <a:ea typeface="游ゴシック"/>
                <a:cs typeface="游ゴシック"/>
              </a:rPr>
              <a:t>Point</a:t>
            </a:r>
          </a:p>
        </p:txBody>
      </p:sp>
      <p:sp>
        <p:nvSpPr>
          <p:cNvPr id="23" name="TextBox 22"/>
          <p:cNvSpPr txBox="1"/>
          <p:nvPr/>
        </p:nvSpPr>
        <p:spPr>
          <a:xfrm>
            <a:off x="1691639" y="5852159"/>
            <a:ext cx="8531351" cy="566927"/>
          </a:xfrm>
          <a:prstGeom prst="rect">
            <a:avLst/>
          </a:prstGeom>
          <a:noFill/>
        </p:spPr>
        <p:txBody>
          <a:bodyPr wrap="square" lIns="0" tIns="0" rIns="0" bIns="0" anchor="ctr">
            <a:spAutoFit/>
          </a:bodyPr>
          <a:lstStyle/>
          <a:p>
            <a:pPr algn="l">
              <a:lnSpc>
                <a:spcPct val="122000"/>
              </a:lnSpc>
              <a:spcAft>
                <a:spcPts val="200"/>
              </a:spcAft>
            </a:pPr>
            <a:r>
              <a:rPr sz="1050" b="0">
                <a:solidFill>
                  <a:srgbClr val="1A1A1A"/>
                </a:solidFill>
                <a:latin typeface="游ゴシック"/>
                <a:ea typeface="游ゴシック"/>
                <a:cs typeface="游ゴシック"/>
              </a:rPr>
              <a:t>中小企業のM&amp;A実務では、客観性が高く当事者間で検証しやすいコストアプローチ（時価純資産＋営業権法）が広く用いられています。本書でも同手法を主たる手法とし、マーケットアプローチによる試算結果を参考値として併記しています。</a:t>
            </a:r>
          </a:p>
        </p:txBody>
      </p:sp>
      <p:sp>
        <p:nvSpPr>
          <p:cNvPr id="24" name="TextBox 23"/>
          <p:cNvSpPr txBox="1"/>
          <p:nvPr/>
        </p:nvSpPr>
        <p:spPr>
          <a:xfrm>
            <a:off x="310896" y="6656832"/>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上記は一般的な評価手法の整理であり、実際の譲渡価格は売主・買主の協議により決定されます。</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a:latin typeface="游ゴシック"/>
                <a:ea typeface="游ゴシック"/>
                <a:cs typeface="游ゴシック"/>
              </a:rPr>
              <a:t>［Appendix］株式価値の考え方</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Appendix</a:t>
            </a:r>
            <a:endParaRPr lang="ja-JP" altLang="en-US" spc="0" dirty="0"/>
          </a:p>
        </p:txBody>
      </p:sp>
      <p:sp>
        <p:nvSpPr>
          <p:cNvPr id="18" name="Rectangle 17"/>
          <p:cNvSpPr/>
          <p:nvPr/>
        </p:nvSpPr>
        <p:spPr>
          <a:xfrm>
            <a:off x="338328" y="896112"/>
            <a:ext cx="1001268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600" b="1">
                <a:solidFill>
                  <a:srgbClr val="FFFFFF"/>
                </a:solidFill>
                <a:latin typeface="游ゴシック"/>
                <a:ea typeface="游ゴシック"/>
                <a:cs typeface="游ゴシック"/>
              </a:rPr>
              <a:t>事業価値・企業価値・株式価値の関係</a:t>
            </a:r>
          </a:p>
        </p:txBody>
      </p:sp>
      <p:sp>
        <p:nvSpPr>
          <p:cNvPr id="19" name="Rectangle 18"/>
          <p:cNvSpPr/>
          <p:nvPr/>
        </p:nvSpPr>
        <p:spPr>
          <a:xfrm>
            <a:off x="548640" y="1325880"/>
            <a:ext cx="2148840" cy="1335024"/>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548640" y="1325880"/>
            <a:ext cx="50292" cy="133502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94944" y="1417320"/>
            <a:ext cx="1874520" cy="219456"/>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a:ea typeface="游ゴシック"/>
                <a:cs typeface="游ゴシック"/>
              </a:rPr>
              <a:t>① 事業価値</a:t>
            </a:r>
          </a:p>
        </p:txBody>
      </p:sp>
      <p:sp>
        <p:nvSpPr>
          <p:cNvPr id="22" name="TextBox 21"/>
          <p:cNvSpPr txBox="1"/>
          <p:nvPr/>
        </p:nvSpPr>
        <p:spPr>
          <a:xfrm>
            <a:off x="694944" y="1691640"/>
            <a:ext cx="1874520" cy="877824"/>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事業そのものが生み出す価値。</a:t>
            </a:r>
          </a:p>
          <a:p>
            <a:pPr algn="l">
              <a:lnSpc>
                <a:spcPct val="118000"/>
              </a:lnSpc>
              <a:spcAft>
                <a:spcPts val="100"/>
              </a:spcAft>
            </a:pPr>
            <a:r>
              <a:rPr sz="830" b="0">
                <a:solidFill>
                  <a:srgbClr val="5A6670"/>
                </a:solidFill>
                <a:latin typeface="游ゴシック"/>
                <a:ea typeface="游ゴシック"/>
                <a:cs typeface="游ゴシック"/>
              </a:rPr>
              <a:t>正常収益力（修正後EBITDA等）に</a:t>
            </a:r>
          </a:p>
          <a:p>
            <a:pPr algn="l">
              <a:lnSpc>
                <a:spcPct val="118000"/>
              </a:lnSpc>
              <a:spcAft>
                <a:spcPts val="100"/>
              </a:spcAft>
            </a:pPr>
            <a:r>
              <a:rPr sz="830" b="0">
                <a:solidFill>
                  <a:srgbClr val="5A6670"/>
                </a:solidFill>
                <a:latin typeface="游ゴシック"/>
                <a:ea typeface="游ゴシック"/>
                <a:cs typeface="游ゴシック"/>
              </a:rPr>
              <a:t>倍率を乗じて算定する。</a:t>
            </a:r>
          </a:p>
        </p:txBody>
      </p:sp>
      <p:sp>
        <p:nvSpPr>
          <p:cNvPr id="23" name="TextBox 22"/>
          <p:cNvSpPr txBox="1"/>
          <p:nvPr/>
        </p:nvSpPr>
        <p:spPr>
          <a:xfrm>
            <a:off x="2761488" y="1847087"/>
            <a:ext cx="365760" cy="292608"/>
          </a:xfrm>
          <a:prstGeom prst="rect">
            <a:avLst/>
          </a:prstGeom>
          <a:noFill/>
        </p:spPr>
        <p:txBody>
          <a:bodyPr wrap="square" lIns="0" tIns="0" rIns="0" bIns="0" anchor="t">
            <a:spAutoFit/>
          </a:bodyPr>
          <a:lstStyle/>
          <a:p>
            <a:pPr algn="ctr">
              <a:spcAft>
                <a:spcPts val="0"/>
              </a:spcAft>
            </a:pPr>
            <a:r>
              <a:rPr sz="1800" b="1">
                <a:solidFill>
                  <a:srgbClr val="0889C9"/>
                </a:solidFill>
                <a:latin typeface="Arial"/>
                <a:ea typeface="Arial"/>
                <a:cs typeface="Arial"/>
              </a:rPr>
              <a:t>＋</a:t>
            </a:r>
          </a:p>
        </p:txBody>
      </p:sp>
      <p:sp>
        <p:nvSpPr>
          <p:cNvPr id="24" name="Rectangle 23"/>
          <p:cNvSpPr/>
          <p:nvPr/>
        </p:nvSpPr>
        <p:spPr>
          <a:xfrm>
            <a:off x="3163824" y="1325880"/>
            <a:ext cx="2148840" cy="1335024"/>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ectangle 24"/>
          <p:cNvSpPr/>
          <p:nvPr/>
        </p:nvSpPr>
        <p:spPr>
          <a:xfrm>
            <a:off x="3163824" y="1325880"/>
            <a:ext cx="50292" cy="133502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3310128" y="1417320"/>
            <a:ext cx="1874520" cy="219456"/>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a:ea typeface="游ゴシック"/>
                <a:cs typeface="游ゴシック"/>
              </a:rPr>
              <a:t>② 非事業用資産</a:t>
            </a:r>
          </a:p>
        </p:txBody>
      </p:sp>
      <p:sp>
        <p:nvSpPr>
          <p:cNvPr id="27" name="TextBox 26"/>
          <p:cNvSpPr txBox="1"/>
          <p:nvPr/>
        </p:nvSpPr>
        <p:spPr>
          <a:xfrm>
            <a:off x="3310128" y="1691640"/>
            <a:ext cx="1874520" cy="877824"/>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事業に使用していない資産。</a:t>
            </a:r>
          </a:p>
          <a:p>
            <a:pPr algn="l">
              <a:lnSpc>
                <a:spcPct val="118000"/>
              </a:lnSpc>
              <a:spcAft>
                <a:spcPts val="100"/>
              </a:spcAft>
            </a:pPr>
            <a:r>
              <a:rPr sz="830" b="0">
                <a:solidFill>
                  <a:srgbClr val="5A6670"/>
                </a:solidFill>
                <a:latin typeface="游ゴシック"/>
                <a:ea typeface="游ゴシック"/>
                <a:cs typeface="游ゴシック"/>
              </a:rPr>
              <a:t>遊休不動産・投資有価証券・</a:t>
            </a:r>
          </a:p>
          <a:p>
            <a:pPr algn="l">
              <a:lnSpc>
                <a:spcPct val="118000"/>
              </a:lnSpc>
              <a:spcAft>
                <a:spcPts val="100"/>
              </a:spcAft>
            </a:pPr>
            <a:r>
              <a:rPr sz="830" b="0">
                <a:solidFill>
                  <a:srgbClr val="5A6670"/>
                </a:solidFill>
                <a:latin typeface="游ゴシック"/>
                <a:ea typeface="游ゴシック"/>
                <a:cs typeface="游ゴシック"/>
              </a:rPr>
              <a:t>保険積立金など。</a:t>
            </a:r>
          </a:p>
        </p:txBody>
      </p:sp>
      <p:sp>
        <p:nvSpPr>
          <p:cNvPr id="28" name="TextBox 27"/>
          <p:cNvSpPr txBox="1"/>
          <p:nvPr/>
        </p:nvSpPr>
        <p:spPr>
          <a:xfrm>
            <a:off x="5376672" y="1847087"/>
            <a:ext cx="365760" cy="292608"/>
          </a:xfrm>
          <a:prstGeom prst="rect">
            <a:avLst/>
          </a:prstGeom>
          <a:noFill/>
        </p:spPr>
        <p:txBody>
          <a:bodyPr wrap="square" lIns="0" tIns="0" rIns="0" bIns="0" anchor="t">
            <a:spAutoFit/>
          </a:bodyPr>
          <a:lstStyle/>
          <a:p>
            <a:pPr algn="ctr">
              <a:spcAft>
                <a:spcPts val="0"/>
              </a:spcAft>
            </a:pPr>
            <a:r>
              <a:rPr sz="1800" b="1">
                <a:solidFill>
                  <a:srgbClr val="0889C9"/>
                </a:solidFill>
                <a:latin typeface="Arial"/>
                <a:ea typeface="Arial"/>
                <a:cs typeface="Arial"/>
              </a:rPr>
              <a:t>＝</a:t>
            </a:r>
          </a:p>
        </p:txBody>
      </p:sp>
      <p:sp>
        <p:nvSpPr>
          <p:cNvPr id="29" name="Rectangle 28"/>
          <p:cNvSpPr/>
          <p:nvPr/>
        </p:nvSpPr>
        <p:spPr>
          <a:xfrm>
            <a:off x="5779007" y="1325880"/>
            <a:ext cx="2148840" cy="1335024"/>
          </a:xfrm>
          <a:prstGeom prst="rect">
            <a:avLst/>
          </a:prstGeom>
          <a:solidFill>
            <a:srgbClr val="F7FAFC"/>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Rectangle 29"/>
          <p:cNvSpPr/>
          <p:nvPr/>
        </p:nvSpPr>
        <p:spPr>
          <a:xfrm>
            <a:off x="5779007" y="1325880"/>
            <a:ext cx="50292" cy="13350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5925312" y="1417320"/>
            <a:ext cx="1874520" cy="219456"/>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a:ea typeface="游ゴシック"/>
                <a:cs typeface="游ゴシック"/>
              </a:rPr>
              <a:t>③ 企業価値（EV）</a:t>
            </a:r>
          </a:p>
        </p:txBody>
      </p:sp>
      <p:sp>
        <p:nvSpPr>
          <p:cNvPr id="32" name="TextBox 31"/>
          <p:cNvSpPr txBox="1"/>
          <p:nvPr/>
        </p:nvSpPr>
        <p:spPr>
          <a:xfrm>
            <a:off x="5925312" y="1691640"/>
            <a:ext cx="1874520" cy="877824"/>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①＋②。会社全体の価値であり、</a:t>
            </a:r>
          </a:p>
          <a:p>
            <a:pPr algn="l">
              <a:lnSpc>
                <a:spcPct val="118000"/>
              </a:lnSpc>
              <a:spcAft>
                <a:spcPts val="100"/>
              </a:spcAft>
            </a:pPr>
            <a:r>
              <a:rPr sz="830" b="0">
                <a:solidFill>
                  <a:srgbClr val="5A6670"/>
                </a:solidFill>
                <a:latin typeface="游ゴシック"/>
                <a:ea typeface="游ゴシック"/>
                <a:cs typeface="游ゴシック"/>
              </a:rPr>
              <a:t>債権者と株主の双方に</a:t>
            </a:r>
          </a:p>
          <a:p>
            <a:pPr algn="l">
              <a:lnSpc>
                <a:spcPct val="118000"/>
              </a:lnSpc>
              <a:spcAft>
                <a:spcPts val="100"/>
              </a:spcAft>
            </a:pPr>
            <a:r>
              <a:rPr sz="830" b="0">
                <a:solidFill>
                  <a:srgbClr val="5A6670"/>
                </a:solidFill>
                <a:latin typeface="游ゴシック"/>
                <a:ea typeface="游ゴシック"/>
                <a:cs typeface="游ゴシック"/>
              </a:rPr>
              <a:t>帰属する価値。</a:t>
            </a:r>
          </a:p>
        </p:txBody>
      </p:sp>
      <p:sp>
        <p:nvSpPr>
          <p:cNvPr id="33" name="TextBox 32"/>
          <p:cNvSpPr txBox="1"/>
          <p:nvPr/>
        </p:nvSpPr>
        <p:spPr>
          <a:xfrm>
            <a:off x="7991856" y="1847087"/>
            <a:ext cx="365760" cy="292608"/>
          </a:xfrm>
          <a:prstGeom prst="rect">
            <a:avLst/>
          </a:prstGeom>
          <a:noFill/>
        </p:spPr>
        <p:txBody>
          <a:bodyPr wrap="square" lIns="0" tIns="0" rIns="0" bIns="0" anchor="t">
            <a:spAutoFit/>
          </a:bodyPr>
          <a:lstStyle/>
          <a:p>
            <a:pPr algn="ctr">
              <a:spcAft>
                <a:spcPts val="0"/>
              </a:spcAft>
            </a:pPr>
            <a:r>
              <a:rPr sz="1800" b="1">
                <a:solidFill>
                  <a:srgbClr val="0889C9"/>
                </a:solidFill>
                <a:latin typeface="Arial"/>
                <a:ea typeface="Arial"/>
                <a:cs typeface="Arial"/>
              </a:rPr>
              <a:t>－</a:t>
            </a:r>
          </a:p>
        </p:txBody>
      </p:sp>
      <p:sp>
        <p:nvSpPr>
          <p:cNvPr id="34" name="Rectangle 33"/>
          <p:cNvSpPr/>
          <p:nvPr/>
        </p:nvSpPr>
        <p:spPr>
          <a:xfrm>
            <a:off x="8394192" y="1325880"/>
            <a:ext cx="1956816" cy="1335024"/>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Rectangle 34"/>
          <p:cNvSpPr/>
          <p:nvPr/>
        </p:nvSpPr>
        <p:spPr>
          <a:xfrm>
            <a:off x="8394192" y="1325880"/>
            <a:ext cx="50292" cy="133502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TextBox 35"/>
          <p:cNvSpPr txBox="1"/>
          <p:nvPr/>
        </p:nvSpPr>
        <p:spPr>
          <a:xfrm>
            <a:off x="8540496" y="1417320"/>
            <a:ext cx="1682496" cy="219456"/>
          </a:xfrm>
          <a:prstGeom prst="rect">
            <a:avLst/>
          </a:prstGeom>
          <a:noFill/>
        </p:spPr>
        <p:txBody>
          <a:bodyPr wrap="square" lIns="0" tIns="0" rIns="0" bIns="0" anchor="t">
            <a:spAutoFit/>
          </a:bodyPr>
          <a:lstStyle/>
          <a:p>
            <a:pPr algn="l">
              <a:spcAft>
                <a:spcPts val="0"/>
              </a:spcAft>
            </a:pPr>
            <a:r>
              <a:rPr sz="950" b="1">
                <a:solidFill>
                  <a:srgbClr val="0B3041"/>
                </a:solidFill>
                <a:latin typeface="游ゴシック"/>
                <a:ea typeface="游ゴシック"/>
                <a:cs typeface="游ゴシック"/>
              </a:rPr>
              <a:t>④ ネットデット</a:t>
            </a:r>
          </a:p>
        </p:txBody>
      </p:sp>
      <p:sp>
        <p:nvSpPr>
          <p:cNvPr id="37" name="TextBox 36"/>
          <p:cNvSpPr txBox="1"/>
          <p:nvPr/>
        </p:nvSpPr>
        <p:spPr>
          <a:xfrm>
            <a:off x="8540496" y="1691640"/>
            <a:ext cx="1682496" cy="877824"/>
          </a:xfrm>
          <a:prstGeom prst="rect">
            <a:avLst/>
          </a:prstGeom>
          <a:noFill/>
        </p:spPr>
        <p:txBody>
          <a:bodyPr wrap="square" lIns="0" tIns="0" r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有利子負債 － 現預金。</a:t>
            </a:r>
          </a:p>
          <a:p>
            <a:pPr algn="l">
              <a:lnSpc>
                <a:spcPct val="118000"/>
              </a:lnSpc>
              <a:spcAft>
                <a:spcPts val="100"/>
              </a:spcAft>
            </a:pPr>
            <a:r>
              <a:rPr sz="830" b="0">
                <a:solidFill>
                  <a:srgbClr val="5A6670"/>
                </a:solidFill>
                <a:latin typeface="游ゴシック"/>
                <a:ea typeface="游ゴシック"/>
                <a:cs typeface="游ゴシック"/>
              </a:rPr>
              <a:t>マイナス（ネットキャッシュ）の</a:t>
            </a:r>
          </a:p>
          <a:p>
            <a:pPr algn="l">
              <a:lnSpc>
                <a:spcPct val="118000"/>
              </a:lnSpc>
              <a:spcAft>
                <a:spcPts val="100"/>
              </a:spcAft>
            </a:pPr>
            <a:r>
              <a:rPr sz="830" b="0">
                <a:solidFill>
                  <a:srgbClr val="5A6670"/>
                </a:solidFill>
                <a:latin typeface="游ゴシック"/>
                <a:ea typeface="游ゴシック"/>
                <a:cs typeface="游ゴシック"/>
              </a:rPr>
              <a:t>場合は加算する。</a:t>
            </a:r>
          </a:p>
        </p:txBody>
      </p:sp>
      <p:sp>
        <p:nvSpPr>
          <p:cNvPr id="38" name="Rectangle 37"/>
          <p:cNvSpPr/>
          <p:nvPr/>
        </p:nvSpPr>
        <p:spPr>
          <a:xfrm>
            <a:off x="548640" y="2933395"/>
            <a:ext cx="9802368"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Rectangle 38"/>
          <p:cNvSpPr/>
          <p:nvPr/>
        </p:nvSpPr>
        <p:spPr>
          <a:xfrm>
            <a:off x="3291840" y="3054096"/>
            <a:ext cx="3840480" cy="4206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50" b="1">
                <a:solidFill>
                  <a:srgbClr val="FFFFFF"/>
                </a:solidFill>
                <a:latin typeface="游ゴシック"/>
                <a:ea typeface="游ゴシック"/>
                <a:cs typeface="游ゴシック"/>
              </a:rPr>
              <a:t>株式価値 ＝ ③ 企業価値 － ④ ネットデット</a:t>
            </a:r>
          </a:p>
        </p:txBody>
      </p:sp>
      <p:sp>
        <p:nvSpPr>
          <p:cNvPr id="40" name="Rectangle 39"/>
          <p:cNvSpPr/>
          <p:nvPr/>
        </p:nvSpPr>
        <p:spPr>
          <a:xfrm>
            <a:off x="338328" y="3730752"/>
            <a:ext cx="1001268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tlCol="0" anchor="ctr"/>
          <a:lstStyle/>
          <a:p>
            <a:pPr algn="l"/>
            <a:r>
              <a:rPr sz="1600" b="1">
                <a:solidFill>
                  <a:srgbClr val="FFFFFF"/>
                </a:solidFill>
                <a:latin typeface="游ゴシック"/>
                <a:ea typeface="游ゴシック"/>
                <a:cs typeface="游ゴシック"/>
              </a:rPr>
              <a:t>株式価値を読むうえでの留意点</a:t>
            </a:r>
          </a:p>
        </p:txBody>
      </p:sp>
      <p:graphicFrame>
        <p:nvGraphicFramePr>
          <p:cNvPr id="41" name="Table 40"/>
          <p:cNvGraphicFramePr>
            <a:graphicFrameLocks noGrp="1"/>
          </p:cNvGraphicFramePr>
          <p:nvPr/>
        </p:nvGraphicFramePr>
        <p:xfrm>
          <a:off x="338328" y="4041648"/>
          <a:ext cx="10012680" cy="2523744"/>
        </p:xfrm>
        <a:graphic>
          <a:graphicData uri="http://schemas.openxmlformats.org/drawingml/2006/table">
            <a:tbl>
              <a:tblPr>
                <a:tableStyleId>{5940675A-B579-460E-94D1-54222C63F5DA}</a:tableStyleId>
              </a:tblPr>
              <a:tblGrid>
                <a:gridCol w="1938528">
                  <a:extLst>
                    <a:ext uri="{9D8B030D-6E8A-4147-A177-3AD203B41FA5}">
                      <a16:colId xmlns:a16="http://schemas.microsoft.com/office/drawing/2014/main" val="20000"/>
                    </a:ext>
                  </a:extLst>
                </a:gridCol>
                <a:gridCol w="8074152">
                  <a:extLst>
                    <a:ext uri="{9D8B030D-6E8A-4147-A177-3AD203B41FA5}">
                      <a16:colId xmlns:a16="http://schemas.microsoft.com/office/drawing/2014/main" val="20001"/>
                    </a:ext>
                  </a:extLst>
                </a:gridCol>
              </a:tblGrid>
              <a:tr h="256032">
                <a:tc>
                  <a:txBody>
                    <a:bodyPr/>
                    <a:lstStyle/>
                    <a:p>
                      <a:pPr algn="ctr">
                        <a:spcAft>
                          <a:spcPts val="0"/>
                        </a:spcAft>
                      </a:pPr>
                      <a:r>
                        <a:rPr sz="919" b="1">
                          <a:solidFill>
                            <a:srgbClr val="FFFFFF"/>
                          </a:solidFill>
                          <a:latin typeface="游ゴシック"/>
                          <a:ea typeface="游ゴシック"/>
                          <a:cs typeface="游ゴシック"/>
                        </a:rPr>
                        <a:t>論点</a:t>
                      </a:r>
                    </a:p>
                  </a:txBody>
                  <a:tcPr marL="45720" marR="45720" marT="9144" marB="9144" anchor="ctr">
                    <a:solidFill>
                      <a:srgbClr val="0B3041"/>
                    </a:solidFill>
                  </a:tcPr>
                </a:tc>
                <a:tc>
                  <a:txBody>
                    <a:bodyPr/>
                    <a:lstStyle/>
                    <a:p>
                      <a:pPr algn="ctr">
                        <a:spcAft>
                          <a:spcPts val="0"/>
                        </a:spcAft>
                      </a:pPr>
                      <a:r>
                        <a:rPr sz="919" b="1">
                          <a:solidFill>
                            <a:srgbClr val="FFFFFF"/>
                          </a:solidFill>
                          <a:latin typeface="Arial"/>
                          <a:ea typeface="Arial"/>
                          <a:cs typeface="Arial"/>
                        </a:rPr>
                        <a:t>内容</a:t>
                      </a:r>
                    </a:p>
                  </a:txBody>
                  <a:tcPr marL="45720" marR="45720" marT="9144" marB="9144" anchor="ctr">
                    <a:solidFill>
                      <a:srgbClr val="0B3041"/>
                    </a:solidFill>
                  </a:tcPr>
                </a:tc>
                <a:extLst>
                  <a:ext uri="{0D108BD9-81ED-4DB2-BD59-A6C34878D82A}">
                    <a16:rowId xmlns:a16="http://schemas.microsoft.com/office/drawing/2014/main" val="10000"/>
                  </a:ext>
                </a:extLst>
              </a:tr>
              <a:tr h="566928">
                <a:tc>
                  <a:txBody>
                    <a:bodyPr/>
                    <a:lstStyle/>
                    <a:p>
                      <a:pPr algn="l">
                        <a:spcAft>
                          <a:spcPts val="0"/>
                        </a:spcAft>
                      </a:pPr>
                      <a:r>
                        <a:rPr sz="919" b="0">
                          <a:solidFill>
                            <a:srgbClr val="1A1A1A"/>
                          </a:solidFill>
                          <a:latin typeface="游ゴシック"/>
                          <a:ea typeface="游ゴシック"/>
                          <a:cs typeface="游ゴシック"/>
                        </a:rPr>
                        <a:t>譲渡対価との関係</a:t>
                      </a:r>
                    </a:p>
                  </a:txBody>
                  <a:tcPr marL="45720" marR="45720" marT="9144" marB="9144" anchor="ctr">
                    <a:solidFill>
                      <a:srgbClr val="FFFFFF"/>
                    </a:solidFill>
                  </a:tcPr>
                </a:tc>
                <a:tc>
                  <a:txBody>
                    <a:bodyPr/>
                    <a:lstStyle/>
                    <a:p>
                      <a:pPr algn="l">
                        <a:spcAft>
                          <a:spcPts val="0"/>
                        </a:spcAft>
                      </a:pPr>
                      <a:r>
                        <a:rPr sz="919" b="0">
                          <a:solidFill>
                            <a:srgbClr val="1A1A1A"/>
                          </a:solidFill>
                          <a:latin typeface="游ゴシック"/>
                          <a:ea typeface="游ゴシック"/>
                          <a:cs typeface="游ゴシック"/>
                        </a:rPr>
                        <a:t>株式価値は譲渡対価の目安であり、実際の価格は売主・買主の交渉により決定される。シナジーを見込む買手が現れた場合、試算結果を上回る価格となることもある。</a:t>
                      </a:r>
                    </a:p>
                  </a:txBody>
                  <a:tcPr marL="45720" marR="45720" marT="9144" marB="9144" anchor="ctr">
                    <a:solidFill>
                      <a:srgbClr val="FFFFFF"/>
                    </a:solidFill>
                  </a:tcPr>
                </a:tc>
                <a:extLst>
                  <a:ext uri="{0D108BD9-81ED-4DB2-BD59-A6C34878D82A}">
                    <a16:rowId xmlns:a16="http://schemas.microsoft.com/office/drawing/2014/main" val="10001"/>
                  </a:ext>
                </a:extLst>
              </a:tr>
              <a:tr h="566928">
                <a:tc>
                  <a:txBody>
                    <a:bodyPr/>
                    <a:lstStyle/>
                    <a:p>
                      <a:pPr algn="l">
                        <a:spcAft>
                          <a:spcPts val="0"/>
                        </a:spcAft>
                      </a:pPr>
                      <a:r>
                        <a:rPr sz="919" b="0">
                          <a:solidFill>
                            <a:srgbClr val="1A1A1A"/>
                          </a:solidFill>
                          <a:latin typeface="游ゴシック"/>
                          <a:ea typeface="游ゴシック"/>
                          <a:cs typeface="游ゴシック"/>
                        </a:rPr>
                        <a:t>役員借入金の取扱い</a:t>
                      </a:r>
                    </a:p>
                  </a:txBody>
                  <a:tcPr marL="45720" marR="45720" marT="9144" marB="9144" anchor="ctr">
                    <a:solidFill>
                      <a:srgbClr val="FFFFFF"/>
                    </a:solidFill>
                  </a:tcPr>
                </a:tc>
                <a:tc>
                  <a:txBody>
                    <a:bodyPr/>
                    <a:lstStyle/>
                    <a:p>
                      <a:pPr algn="l">
                        <a:spcAft>
                          <a:spcPts val="0"/>
                        </a:spcAft>
                      </a:pPr>
                      <a:r>
                        <a:rPr sz="919" b="0">
                          <a:solidFill>
                            <a:srgbClr val="1A1A1A"/>
                          </a:solidFill>
                          <a:latin typeface="游ゴシック"/>
                          <a:ea typeface="游ゴシック"/>
                          <a:cs typeface="游ゴシック"/>
                        </a:rPr>
                        <a:t>代表者等からの借入金は法形式上は負債であり、株式価値の算定では控除される。一方で実質的に資本に近い性格を持つため、債務免除や譲渡対価との相殺による整理を前提とすると株式価値は大きく変わる。</a:t>
                      </a:r>
                    </a:p>
                  </a:txBody>
                  <a:tcPr marL="45720" marR="45720" marT="9144" marB="9144" anchor="ctr">
                    <a:solidFill>
                      <a:srgbClr val="FFFFFF"/>
                    </a:solidFill>
                  </a:tcPr>
                </a:tc>
                <a:extLst>
                  <a:ext uri="{0D108BD9-81ED-4DB2-BD59-A6C34878D82A}">
                    <a16:rowId xmlns:a16="http://schemas.microsoft.com/office/drawing/2014/main" val="10002"/>
                  </a:ext>
                </a:extLst>
              </a:tr>
              <a:tr h="566928">
                <a:tc>
                  <a:txBody>
                    <a:bodyPr/>
                    <a:lstStyle/>
                    <a:p>
                      <a:pPr algn="l">
                        <a:spcAft>
                          <a:spcPts val="0"/>
                        </a:spcAft>
                      </a:pPr>
                      <a:r>
                        <a:rPr sz="919" b="0">
                          <a:solidFill>
                            <a:srgbClr val="1A1A1A"/>
                          </a:solidFill>
                          <a:latin typeface="游ゴシック"/>
                          <a:ea typeface="游ゴシック"/>
                          <a:cs typeface="游ゴシック"/>
                        </a:rPr>
                        <a:t>役員退職慰労金</a:t>
                      </a:r>
                    </a:p>
                  </a:txBody>
                  <a:tcPr marL="45720" marR="45720" marT="9144" marB="9144" anchor="ctr">
                    <a:solidFill>
                      <a:srgbClr val="FFFFFF"/>
                    </a:solidFill>
                  </a:tcPr>
                </a:tc>
                <a:tc>
                  <a:txBody>
                    <a:bodyPr/>
                    <a:lstStyle/>
                    <a:p>
                      <a:pPr algn="l">
                        <a:spcAft>
                          <a:spcPts val="0"/>
                        </a:spcAft>
                      </a:pPr>
                      <a:r>
                        <a:rPr sz="919" b="0">
                          <a:solidFill>
                            <a:srgbClr val="1A1A1A"/>
                          </a:solidFill>
                          <a:latin typeface="游ゴシック"/>
                          <a:ea typeface="游ゴシック"/>
                          <a:cs typeface="游ゴシック"/>
                        </a:rPr>
                        <a:t>譲渡に際して役員退職慰労金を支給する場合、純資産が減少するため株式価値は減少する。一方で売主にとっては所得税法上有利となる場合があり、譲渡所得との総額で比較検討する必要がある。</a:t>
                      </a:r>
                    </a:p>
                  </a:txBody>
                  <a:tcPr marL="45720" marR="45720" marT="9144" marB="9144" anchor="ctr">
                    <a:solidFill>
                      <a:srgbClr val="FFFFFF"/>
                    </a:solidFill>
                  </a:tcPr>
                </a:tc>
                <a:extLst>
                  <a:ext uri="{0D108BD9-81ED-4DB2-BD59-A6C34878D82A}">
                    <a16:rowId xmlns:a16="http://schemas.microsoft.com/office/drawing/2014/main" val="10003"/>
                  </a:ext>
                </a:extLst>
              </a:tr>
              <a:tr h="566928">
                <a:tc>
                  <a:txBody>
                    <a:bodyPr/>
                    <a:lstStyle/>
                    <a:p>
                      <a:pPr algn="l">
                        <a:spcAft>
                          <a:spcPts val="0"/>
                        </a:spcAft>
                      </a:pPr>
                      <a:r>
                        <a:rPr sz="919" b="0">
                          <a:solidFill>
                            <a:srgbClr val="1A1A1A"/>
                          </a:solidFill>
                          <a:latin typeface="游ゴシック"/>
                          <a:ea typeface="游ゴシック"/>
                          <a:cs typeface="游ゴシック"/>
                        </a:rPr>
                        <a:t>非流動性ディスカウント</a:t>
                      </a:r>
                    </a:p>
                  </a:txBody>
                  <a:tcPr marL="45720" marR="45720" marT="9144" marB="9144" anchor="ctr">
                    <a:solidFill>
                      <a:srgbClr val="FFFFFF"/>
                    </a:solidFill>
                  </a:tcPr>
                </a:tc>
                <a:tc>
                  <a:txBody>
                    <a:bodyPr/>
                    <a:lstStyle/>
                    <a:p>
                      <a:pPr algn="l">
                        <a:spcAft>
                          <a:spcPts val="0"/>
                        </a:spcAft>
                      </a:pPr>
                      <a:r>
                        <a:rPr sz="919" b="0">
                          <a:solidFill>
                            <a:srgbClr val="1A1A1A"/>
                          </a:solidFill>
                          <a:latin typeface="游ゴシック"/>
                          <a:ea typeface="游ゴシック"/>
                          <a:cs typeface="游ゴシック"/>
                        </a:rPr>
                        <a:t>非上場株式には市場性がないため、上場会社の株価倍率を用いる場合は30％程度のディスカウントを行うのが一般的である。</a:t>
                      </a:r>
                    </a:p>
                  </a:txBody>
                  <a:tcPr marL="45720" marR="45720" marT="9144" marB="9144" anchor="ctr">
                    <a:solidFill>
                      <a:srgbClr val="FFFFFF"/>
                    </a:solidFill>
                  </a:tcPr>
                </a:tc>
                <a:extLst>
                  <a:ext uri="{0D108BD9-81ED-4DB2-BD59-A6C34878D82A}">
                    <a16:rowId xmlns:a16="http://schemas.microsoft.com/office/drawing/2014/main" val="10004"/>
                  </a:ext>
                </a:extLst>
              </a:tr>
            </a:tbl>
          </a:graphicData>
        </a:graphic>
      </p:graphicFrame>
      <p:sp>
        <p:nvSpPr>
          <p:cNvPr id="42" name="TextBox 41"/>
          <p:cNvSpPr txBox="1"/>
          <p:nvPr/>
        </p:nvSpPr>
        <p:spPr>
          <a:xfrm>
            <a:off x="310896" y="6656832"/>
            <a:ext cx="9921240" cy="320040"/>
          </a:xfrm>
          <a:prstGeom prst="rect">
            <a:avLst/>
          </a:prstGeom>
          <a:noFill/>
        </p:spPr>
        <p:txBody>
          <a:bodyPr wrap="square" lIns="0" tIns="0" r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本頁は一般的な考え方の整理であり、本件固有の前提は本編各頁に記載しています。</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solidFill/>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タイトル 7">
            <a:extLst>
              <a:ext uri="{FF2B5EF4-FFF2-40B4-BE49-F238E27FC236}">
                <a16:creationId xmlns:a16="http://schemas.microsoft.com/office/drawing/2014/main" id="{5F22A230-6AFE-45ED-4303-FDFB45310B20}"/>
              </a:ext>
            </a:extLst>
          </p:cNvPr>
          <p:cNvSpPr>
            <a:spLocks noGrp="1"/>
          </p:cNvSpPr>
          <p:nvPr>
            <p:ph type="ctrTitle"/>
          </p:nvPr>
        </p:nvSpPr>
        <p:spPr>
          <a:xfrm>
            <a:off x="341313" y="180653"/>
            <a:ext cx="7799917" cy="338554"/>
          </a:xfrm>
        </p:spPr>
        <p:txBody>
          <a:bodyPr/>
          <a:lstStyle/>
          <a:p>
            <a:r>
              <a:rPr>
                <a:latin typeface="游ゴシック"/>
                <a:ea typeface="游ゴシック"/>
                <a:cs typeface="游ゴシック"/>
              </a:rPr>
              <a:t>修正SGAの算定［販売費及び一般管理費の修正］</a:t>
            </a:r>
            <a:endParaRPr dirty="0">
              <a:latin typeface="游ゴシック"/>
              <a:ea typeface="游ゴシック"/>
              <a:cs typeface="游ゴシック"/>
            </a:endParaRPr>
          </a:p>
        </p:txBody>
      </p:sp>
      <p:sp>
        <p:nvSpPr>
          <p:cNvPr id="7" name="タイトル 1">
            <a:extLst>
              <a:ext uri="{FF2B5EF4-FFF2-40B4-BE49-F238E27FC236}">
                <a16:creationId xmlns:a16="http://schemas.microsoft.com/office/drawing/2014/main" id="{3CFE1CCA-80FF-4783-BB1B-95A634C156D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9" name="Table 8"/>
          <p:cNvGraphicFramePr>
            <a:graphicFrameLocks noGrp="1"/>
          </p:cNvGraphicFramePr>
          <p:nvPr/>
        </p:nvGraphicFramePr>
        <p:xfrm>
          <a:off x="448056" y="1298448"/>
          <a:ext cx="6492240" cy="4434840"/>
        </p:xfrm>
        <a:graphic>
          <a:graphicData uri="http://schemas.openxmlformats.org/drawingml/2006/table">
            <a:tbl>
              <a:tblPr firstRow="0" bandRow="0">
                <a:tableStyleId>{5940675A-B579-460E-94D1-54222C63F5DA}</a:tableStyleId>
              </a:tblPr>
              <a:tblGrid>
                <a:gridCol w="1627632"/>
                <a:gridCol w="896112"/>
                <a:gridCol w="896112"/>
                <a:gridCol w="896112"/>
                <a:gridCol w="2176272"/>
              </a:tblGrid>
              <a:tr h="237744">
                <a:tc>
                  <a:txBody>
                    <a:bodyPr wrap="square"/>
                    <a:lstStyle/>
                    <a:p>
                      <a:pPr algn="ctr">
                        <a:spcAft>
                          <a:spcPts val="0"/>
                        </a:spcAft>
                      </a:pPr>
                      <a:r>
                        <a:rPr sz="800" b="1">
                          <a:solidFill>
                            <a:srgbClr val="FFFFFF"/>
                          </a:solidFill>
                          <a:latin typeface="游ゴシック"/>
                          <a:ea typeface="游ゴシック"/>
                          <a:cs typeface="游ゴシック"/>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修正の考え方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3172">
                <a:tc>
                  <a:txBody>
                    <a:bodyPr wrap="square"/>
                    <a:lstStyle/>
                    <a:p>
                      <a:pPr algn="l">
                        <a:spcAft>
                          <a:spcPts val="0"/>
                        </a:spcAft>
                      </a:pPr>
                      <a:r>
                        <a:rPr sz="800" b="0">
                          <a:solidFill>
                            <a:srgbClr val="1A1A1A"/>
                          </a:solidFill>
                          <a:latin typeface="游ゴシック"/>
                          <a:ea typeface="游ゴシック"/>
                          <a:cs typeface="游ゴシック"/>
                        </a:rPr>
                        <a:t>広告宣伝費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1,025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674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729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3172">
                <a:tc>
                  <a:txBody>
                    <a:bodyPr wrap="square"/>
                    <a:lstStyle/>
                    <a:p>
                      <a:pPr algn="l">
                        <a:spcAft>
                          <a:spcPts val="0"/>
                        </a:spcAft>
                      </a:pPr>
                      <a:r>
                        <a:rPr sz="800" b="0">
                          <a:solidFill>
                            <a:srgbClr val="1A1A1A"/>
                          </a:solidFill>
                          <a:latin typeface="游ゴシック"/>
                          <a:ea typeface="游ゴシック"/>
                          <a:cs typeface="游ゴシック"/>
                        </a:rPr>
                        <a:t>容器包装費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224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3172">
                <a:tc>
                  <a:txBody>
                    <a:bodyPr wrap="square"/>
                    <a:lstStyle/>
                    <a:p>
                      <a:pPr algn="l">
                        <a:spcAft>
                          <a:spcPts val="0"/>
                        </a:spcAft>
                      </a:pPr>
                      <a:r>
                        <a:rPr sz="800" b="0">
                          <a:solidFill>
                            <a:srgbClr val="1A1A1A"/>
                          </a:solidFill>
                          <a:latin typeface="游ゴシック"/>
                          <a:ea typeface="游ゴシック"/>
                          <a:cs typeface="游ゴシック"/>
                        </a:rPr>
                        <a:t>発送配達費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461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478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465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3172">
                <a:tc>
                  <a:txBody>
                    <a:bodyPr wrap="square"/>
                    <a:lstStyle/>
                    <a:p>
                      <a:pPr algn="l">
                        <a:spcAft>
                          <a:spcPts val="0"/>
                        </a:spcAft>
                      </a:pPr>
                      <a:r>
                        <a:rPr sz="800" b="0">
                          <a:solidFill>
                            <a:srgbClr val="1A1A1A"/>
                          </a:solidFill>
                          <a:latin typeface="游ゴシック"/>
                          <a:ea typeface="游ゴシック"/>
                          <a:cs typeface="游ゴシック"/>
                        </a:rPr>
                        <a:t>修繕費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3172">
                <a:tc>
                  <a:txBody>
                    <a:bodyPr wrap="square"/>
                    <a:lstStyle/>
                    <a:p>
                      <a:pPr algn="l">
                        <a:spcAft>
                          <a:spcPts val="0"/>
                        </a:spcAft>
                      </a:pPr>
                      <a:r>
                        <a:rPr sz="800" b="0">
                          <a:solidFill>
                            <a:srgbClr val="1A1A1A"/>
                          </a:solidFill>
                          <a:latin typeface="游ゴシック"/>
                          <a:ea typeface="游ゴシック"/>
                          <a:cs typeface="游ゴシック"/>
                        </a:rPr>
                        <a:t>減価償却費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115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3172">
                <a:tc>
                  <a:txBody>
                    <a:bodyPr wrap="square"/>
                    <a:lstStyle/>
                    <a:p>
                      <a:pPr algn="l">
                        <a:spcAft>
                          <a:spcPts val="0"/>
                        </a:spcAft>
                      </a:pPr>
                      <a:r>
                        <a:rPr sz="800" b="0">
                          <a:solidFill>
                            <a:srgbClr val="1A1A1A"/>
                          </a:solidFill>
                          <a:latin typeface="游ゴシック"/>
                          <a:ea typeface="游ゴシック"/>
                          <a:cs typeface="游ゴシック"/>
                        </a:rPr>
                        <a:t>事務用消耗品費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3172">
                <a:tc>
                  <a:txBody>
                    <a:bodyPr wrap="square"/>
                    <a:lstStyle/>
                    <a:p>
                      <a:pPr algn="l">
                        <a:spcAft>
                          <a:spcPts val="0"/>
                        </a:spcAft>
                      </a:pPr>
                      <a:r>
                        <a:rPr sz="800" b="0">
                          <a:solidFill>
                            <a:srgbClr val="1A1A1A"/>
                          </a:solidFill>
                          <a:latin typeface="游ゴシック"/>
                          <a:ea typeface="游ゴシック"/>
                          <a:cs typeface="游ゴシック"/>
                        </a:rPr>
                        <a:t>交通費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174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3172">
                <a:tc>
                  <a:txBody>
                    <a:bodyPr wrap="square"/>
                    <a:lstStyle/>
                    <a:p>
                      <a:pPr algn="l">
                        <a:spcAft>
                          <a:spcPts val="0"/>
                        </a:spcAft>
                      </a:pPr>
                      <a:r>
                        <a:rPr sz="800" b="0">
                          <a:solidFill>
                            <a:srgbClr val="1A1A1A"/>
                          </a:solidFill>
                          <a:latin typeface="游ゴシック"/>
                          <a:ea typeface="游ゴシック"/>
                          <a:cs typeface="游ゴシック"/>
                        </a:rPr>
                        <a:t>水道光熱費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1,345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1,498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1,490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3172">
                <a:tc>
                  <a:txBody>
                    <a:bodyPr wrap="square"/>
                    <a:lstStyle/>
                    <a:p>
                      <a:pPr algn="l">
                        <a:spcAft>
                          <a:spcPts val="0"/>
                        </a:spcAft>
                      </a:pPr>
                      <a:r>
                        <a:rPr sz="800" b="0">
                          <a:solidFill>
                            <a:srgbClr val="1A1A1A"/>
                          </a:solidFill>
                          <a:latin typeface="游ゴシック"/>
                          <a:ea typeface="游ゴシック"/>
                          <a:cs typeface="游ゴシック"/>
                        </a:rPr>
                        <a:t>租税公課</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1,181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1,095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1,137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3172">
                <a:tc>
                  <a:txBody>
                    <a:bodyPr wrap="square"/>
                    <a:lstStyle/>
                    <a:p>
                      <a:pPr algn="l">
                        <a:spcAft>
                          <a:spcPts val="0"/>
                        </a:spcAft>
                      </a:pPr>
                      <a:r>
                        <a:rPr sz="800" b="0">
                          <a:solidFill>
                            <a:srgbClr val="1A1A1A"/>
                          </a:solidFill>
                          <a:latin typeface="游ゴシック"/>
                          <a:ea typeface="游ゴシック"/>
                          <a:cs typeface="游ゴシック"/>
                        </a:rPr>
                        <a:t>接待交際費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3172">
                <a:tc>
                  <a:txBody>
                    <a:bodyPr wrap="square"/>
                    <a:lstStyle/>
                    <a:p>
                      <a:pPr algn="l">
                        <a:spcAft>
                          <a:spcPts val="0"/>
                        </a:spcAft>
                      </a:pPr>
                      <a:r>
                        <a:rPr sz="800" b="0">
                          <a:solidFill>
                            <a:srgbClr val="1A1A1A"/>
                          </a:solidFill>
                          <a:latin typeface="游ゴシック"/>
                          <a:ea typeface="游ゴシック"/>
                          <a:cs typeface="游ゴシック"/>
                        </a:rPr>
                        <a:t>保険料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524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620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623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3172">
                <a:tc>
                  <a:txBody>
                    <a:bodyPr wrap="square"/>
                    <a:lstStyle/>
                    <a:p>
                      <a:pPr algn="l">
                        <a:spcAft>
                          <a:spcPts val="0"/>
                        </a:spcAft>
                      </a:pPr>
                      <a:r>
                        <a:rPr sz="800" b="0">
                          <a:solidFill>
                            <a:srgbClr val="1A1A1A"/>
                          </a:solidFill>
                          <a:latin typeface="游ゴシック"/>
                          <a:ea typeface="游ゴシック"/>
                          <a:cs typeface="游ゴシック"/>
                        </a:rPr>
                        <a:t>備品消耗品費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502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62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3172">
                <a:tc>
                  <a:txBody>
                    <a:bodyPr wrap="square"/>
                    <a:lstStyle/>
                    <a:p>
                      <a:pPr algn="l">
                        <a:spcAft>
                          <a:spcPts val="0"/>
                        </a:spcAft>
                      </a:pPr>
                      <a:r>
                        <a:rPr sz="800" b="0">
                          <a:solidFill>
                            <a:srgbClr val="1A1A1A"/>
                          </a:solidFill>
                          <a:latin typeface="游ゴシック"/>
                          <a:ea typeface="游ゴシック"/>
                          <a:cs typeface="游ゴシック"/>
                        </a:rPr>
                        <a:t>管理諸費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1,082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1,184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1,044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3172">
                <a:tc>
                  <a:txBody>
                    <a:bodyPr wrap="square"/>
                    <a:lstStyle/>
                    <a:p>
                      <a:pPr algn="l">
                        <a:spcAft>
                          <a:spcPts val="0"/>
                        </a:spcAft>
                      </a:pPr>
                      <a:r>
                        <a:rPr sz="800" b="0">
                          <a:solidFill>
                            <a:srgbClr val="1A1A1A"/>
                          </a:solidFill>
                          <a:latin typeface="游ゴシック"/>
                          <a:ea typeface="游ゴシック"/>
                          <a:cs typeface="游ゴシック"/>
                        </a:rPr>
                        <a:t>警備料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145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145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145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3172">
                <a:tc>
                  <a:txBody>
                    <a:bodyPr wrap="square"/>
                    <a:lstStyle/>
                    <a:p>
                      <a:pPr algn="l">
                        <a:spcAft>
                          <a:spcPts val="0"/>
                        </a:spcAft>
                      </a:pPr>
                      <a:r>
                        <a:rPr sz="800" b="0">
                          <a:solidFill>
                            <a:srgbClr val="1A1A1A"/>
                          </a:solidFill>
                          <a:latin typeface="游ゴシック"/>
                          <a:ea typeface="游ゴシック"/>
                          <a:cs typeface="游ゴシック"/>
                        </a:rPr>
                        <a:t>雑費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236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194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202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3172">
                <a:tc>
                  <a:txBody>
                    <a:bodyPr wrap="square"/>
                    <a:lstStyle/>
                    <a:p>
                      <a:pPr algn="l">
                        <a:spcAft>
                          <a:spcPts val="0"/>
                        </a:spcAft>
                      </a:pPr>
                      <a:r>
                        <a:rPr sz="800" b="1">
                          <a:solidFill>
                            <a:srgbClr val="1A1A1A"/>
                          </a:solidFill>
                          <a:latin typeface="游ゴシック"/>
                          <a:ea typeface="游ゴシック"/>
                          <a:cs typeface="游ゴシック"/>
                        </a:rPr>
                        <a:t>帳簿価額 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7,082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6,212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6,267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3172">
                <a:tc>
                  <a:txBody>
                    <a:bodyPr wrap="square"/>
                    <a:lstStyle/>
                    <a:p>
                      <a:pPr algn="l">
                        <a:spcAft>
                          <a:spcPts val="0"/>
                        </a:spcAft>
                      </a:pPr>
                      <a:r>
                        <a:rPr sz="800" b="1">
                          <a:solidFill>
                            <a:srgbClr val="1A1A1A"/>
                          </a:solidFill>
                          <a:latin typeface="游ゴシック"/>
                          <a:ea typeface="游ゴシック"/>
                          <a:cs typeface="游ゴシック"/>
                        </a:rPr>
                        <a:t>後任者人件費（修正）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11,040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11,040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11,040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1">
                          <a:solidFill>
                            <a:srgbClr val="1A1A1A"/>
                          </a:solidFill>
                          <a:latin typeface="游ゴシック"/>
                          <a:ea typeface="游ゴシック"/>
                          <a:cs typeface="游ゴシック"/>
                        </a:rPr>
                        <a:t>月額800千円×12か月＋法定福利費15％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3172">
                <a:tc>
                  <a:txBody>
                    <a:bodyPr wrap="square"/>
                    <a:lstStyle/>
                    <a:p>
                      <a:pPr algn="l">
                        <a:spcAft>
                          <a:spcPts val="0"/>
                        </a:spcAft>
                      </a:pPr>
                      <a:r>
                        <a:rPr sz="800" b="1">
                          <a:solidFill>
                            <a:srgbClr val="1A1A1A"/>
                          </a:solidFill>
                          <a:latin typeface="游ゴシック"/>
                          <a:ea typeface="游ゴシック"/>
                          <a:cs typeface="游ゴシック"/>
                        </a:rPr>
                        <a:t>修正後 販管費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18,122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17,252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17,307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0" name="Rectangle 9"/>
          <p:cNvSpPr/>
          <p:nvPr/>
        </p:nvSpPr>
        <p:spPr>
          <a:xfrm>
            <a:off x="7187184" y="1298448"/>
            <a:ext cx="3154680" cy="466344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278624" y="1371600"/>
            <a:ext cx="2971800"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2" name="TextBox 11"/>
          <p:cNvSpPr txBox="1"/>
          <p:nvPr/>
        </p:nvSpPr>
        <p:spPr>
          <a:xfrm>
            <a:off x="7296912" y="1719072"/>
            <a:ext cx="2935224" cy="4151375"/>
          </a:xfrm>
          <a:prstGeom prst="rect">
            <a:avLst/>
          </a:prstGeom>
          <a:noFill/>
        </p:spPr>
        <p:txBody>
          <a:bodyPr wrap="square" lIns="0" rIns="0" tIns="0" bIns="0" anchor="t">
            <a:spAutoFit/>
          </a:bodyPr>
          <a:lstStyle/>
          <a:p>
            <a:pPr algn="l">
              <a:lnSpc>
                <a:spcPct val="120000"/>
              </a:lnSpc>
              <a:spcAft>
                <a:spcPts val="200"/>
              </a:spcAft>
            </a:pPr>
            <a:r>
              <a:rPr sz="900" b="1">
                <a:solidFill>
                  <a:srgbClr val="0889C9"/>
                </a:solidFill>
                <a:latin typeface="游ゴシック"/>
                <a:ea typeface="游ゴシック"/>
                <a:cs typeface="游ゴシック"/>
              </a:rPr>
              <a:t>≪後任者人件費≫ </a:t>
            </a:r>
            <a:r>
              <a:rPr sz="880" b="0">
                <a:solidFill>
                  <a:srgbClr val="1A1A1A"/>
                </a:solidFill>
                <a:latin typeface="游ゴシック"/>
                <a:ea typeface="游ゴシック"/>
                <a:cs typeface="游ゴシック"/>
              </a:rPr>
              <a:t>代表者（79歳）の引退後も店舗には調理・製粉・接客を担う者が常時1名必要となる。月額800千円×12か月＝9,600千円に法定福利費15％（1,440千円）を加えた11,040千円を、3期とも販管費へ算入した。</a:t>
            </a:r>
          </a:p>
          <a:p>
            <a:pPr algn="l">
              <a:spcAft>
                <a:spcPts val="200"/>
              </a:spcAft>
            </a:pPr>
          </a:p>
          <a:p>
            <a:pPr algn="l">
              <a:lnSpc>
                <a:spcPct val="120000"/>
              </a:lnSpc>
              <a:spcAft>
                <a:spcPts val="200"/>
              </a:spcAft>
            </a:pPr>
            <a:r>
              <a:rPr sz="900" b="1">
                <a:solidFill>
                  <a:srgbClr val="0889C9"/>
                </a:solidFill>
                <a:latin typeface="游ゴシック"/>
                <a:ea typeface="游ゴシック"/>
                <a:cs typeface="游ゴシック"/>
              </a:rPr>
              <a:t>≪他に修正すべき科目はない≫ </a:t>
            </a:r>
            <a:r>
              <a:rPr sz="880" b="0">
                <a:solidFill>
                  <a:srgbClr val="1A1A1A"/>
                </a:solidFill>
                <a:latin typeface="游ゴシック"/>
                <a:ea typeface="游ゴシック"/>
                <a:cs typeface="游ゴシック"/>
              </a:rPr>
              <a:t>役員報酬は3期とも計上がなくゼロ。接待交際費52千円・雑費202千円はいずれも少額であり、非経常・私的費用と認められる支出は確認できなかった。補助金収入・圧縮記帳損等の非経常損益は営業外に計上されており営業利益に影響しない。</a:t>
            </a:r>
          </a:p>
          <a:p>
            <a:pPr algn="l">
              <a:spcAft>
                <a:spcPts val="200"/>
              </a:spcAft>
            </a:pPr>
          </a:p>
          <a:p>
            <a:pPr algn="l">
              <a:lnSpc>
                <a:spcPct val="120000"/>
              </a:lnSpc>
              <a:spcAft>
                <a:spcPts val="200"/>
              </a:spcAft>
            </a:pPr>
            <a:r>
              <a:rPr sz="900" b="1">
                <a:solidFill>
                  <a:srgbClr val="0889C9"/>
                </a:solidFill>
                <a:latin typeface="游ゴシック"/>
                <a:ea typeface="游ゴシック"/>
                <a:cs typeface="游ゴシック"/>
              </a:rPr>
              <a:t>≪保険料・租税公課≫ </a:t>
            </a:r>
            <a:r>
              <a:rPr sz="880" b="0">
                <a:solidFill>
                  <a:srgbClr val="1A1A1A"/>
                </a:solidFill>
                <a:latin typeface="游ゴシック"/>
                <a:ea typeface="游ゴシック"/>
                <a:cs typeface="游ゴシック"/>
              </a:rPr>
              <a:t>支払保険料623千円は内容未確認、租税公課1,137千円は固定資産税が中心と推察されるが内訳は未確認。いずれも金額の確からしさを欠く段階ではないため修正していない（要確認）。</a:t>
            </a:r>
          </a:p>
        </p:txBody>
      </p:sp>
      <p:sp>
        <p:nvSpPr>
          <p:cNvPr id="13" name="TextBox 12"/>
          <p:cNvSpPr txBox="1"/>
          <p:nvPr/>
        </p:nvSpPr>
        <p:spPr>
          <a:xfrm>
            <a:off x="310896" y="612648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帳簿価額は決算書 販売費及び一般管理費（2024年5月期〜2026年5月期）。減価償却費は2024年5月期のみ115千円の計上があり、以降は製造原価に全額計上されている。</a:t>
            </a:r>
          </a:p>
          <a:p>
            <a:pPr algn="l">
              <a:lnSpc>
                <a:spcPct val="112000"/>
              </a:lnSpc>
              <a:spcAft>
                <a:spcPts val="100"/>
              </a:spcAft>
            </a:pPr>
            <a:r>
              <a:rPr sz="750" b="0">
                <a:solidFill>
                  <a:srgbClr val="5A6670"/>
                </a:solidFill>
                <a:latin typeface="游ゴシック"/>
                <a:ea typeface="游ゴシック"/>
                <a:cs typeface="游ゴシック"/>
              </a:rPr>
              <a:t>※ 後任者人件費は弊社の仮説であり、実額は採用条件により変動する（要確認）。</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タイトル 7">
            <a:extLst>
              <a:ext uri="{FF2B5EF4-FFF2-40B4-BE49-F238E27FC236}">
                <a16:creationId xmlns:a16="http://schemas.microsoft.com/office/drawing/2014/main" id="{5F22A230-6AFE-45ED-4303-FDFB45310B20}"/>
              </a:ext>
            </a:extLst>
          </p:cNvPr>
          <p:cNvSpPr>
            <a:spLocks noGrp="1"/>
          </p:cNvSpPr>
          <p:nvPr>
            <p:ph type="ctrTitle"/>
          </p:nvPr>
        </p:nvSpPr>
        <p:spPr>
          <a:xfrm>
            <a:off x="341313" y="180653"/>
            <a:ext cx="7799917" cy="338554"/>
          </a:xfrm>
        </p:spPr>
        <p:txBody>
          <a:bodyPr/>
          <a:lstStyle/>
          <a:p>
            <a:r>
              <a:rPr>
                <a:latin typeface="游ゴシック"/>
                <a:ea typeface="游ゴシック"/>
                <a:cs typeface="游ゴシック"/>
              </a:rPr>
              <a:t>修正CRの算定［製造原価報告書の修正］</a:t>
            </a:r>
            <a:endParaRPr dirty="0">
              <a:latin typeface="游ゴシック"/>
              <a:ea typeface="游ゴシック"/>
              <a:cs typeface="游ゴシック"/>
            </a:endParaRPr>
          </a:p>
        </p:txBody>
      </p:sp>
      <p:sp>
        <p:nvSpPr>
          <p:cNvPr id="7" name="タイトル 1">
            <a:extLst>
              <a:ext uri="{FF2B5EF4-FFF2-40B4-BE49-F238E27FC236}">
                <a16:creationId xmlns:a16="http://schemas.microsoft.com/office/drawing/2014/main" id="{3CFE1CCA-80FF-4783-BB1B-95A634C156D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9" name="Table 8"/>
          <p:cNvGraphicFramePr>
            <a:graphicFrameLocks noGrp="1"/>
          </p:cNvGraphicFramePr>
          <p:nvPr/>
        </p:nvGraphicFramePr>
        <p:xfrm>
          <a:off x="448056" y="1298448"/>
          <a:ext cx="6492240" cy="3529584"/>
        </p:xfrm>
        <a:graphic>
          <a:graphicData uri="http://schemas.openxmlformats.org/drawingml/2006/table">
            <a:tbl>
              <a:tblPr firstRow="0" bandRow="0">
                <a:tableStyleId>{5940675A-B579-460E-94D1-54222C63F5DA}</a:tableStyleId>
              </a:tblPr>
              <a:tblGrid>
                <a:gridCol w="1627632"/>
                <a:gridCol w="896112"/>
                <a:gridCol w="896112"/>
                <a:gridCol w="896112"/>
                <a:gridCol w="2176272"/>
              </a:tblGrid>
              <a:tr h="237744">
                <a:tc>
                  <a:txBody>
                    <a:bodyPr wrap="square"/>
                    <a:lstStyle/>
                    <a:p>
                      <a:pPr algn="ctr">
                        <a:spcAft>
                          <a:spcPts val="0"/>
                        </a:spcAft>
                      </a:pPr>
                      <a:r>
                        <a:rPr sz="800" b="1">
                          <a:solidFill>
                            <a:srgbClr val="FFFFFF"/>
                          </a:solidFill>
                          <a:latin typeface="游ゴシック"/>
                          <a:ea typeface="游ゴシック"/>
                          <a:cs typeface="游ゴシック"/>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修正の考え方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00" b="0">
                          <a:solidFill>
                            <a:srgbClr val="1A1A1A"/>
                          </a:solidFill>
                          <a:latin typeface="游ゴシック"/>
                          <a:ea typeface="游ゴシック"/>
                          <a:cs typeface="游ゴシック"/>
                        </a:rPr>
                        <a:t>材料費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5,130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4,612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5,508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00" b="0">
                          <a:solidFill>
                            <a:srgbClr val="1A1A1A"/>
                          </a:solidFill>
                          <a:latin typeface="游ゴシック"/>
                          <a:ea typeface="游ゴシック"/>
                          <a:cs typeface="游ゴシック"/>
                        </a:rPr>
                        <a:t>労務費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1,989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2,199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2,221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00" b="0">
                          <a:solidFill>
                            <a:srgbClr val="1A1A1A"/>
                          </a:solidFill>
                          <a:latin typeface="游ゴシック"/>
                          <a:ea typeface="游ゴシック"/>
                          <a:cs typeface="游ゴシック"/>
                        </a:rPr>
                        <a:t>外注加工費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394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272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00" b="0">
                          <a:solidFill>
                            <a:srgbClr val="1A1A1A"/>
                          </a:solidFill>
                          <a:latin typeface="游ゴシック"/>
                          <a:ea typeface="游ゴシック"/>
                          <a:cs typeface="游ゴシック"/>
                        </a:rPr>
                        <a:t>育苗・耕作費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00" b="0">
                          <a:solidFill>
                            <a:srgbClr val="1A1A1A"/>
                          </a:solidFill>
                          <a:latin typeface="游ゴシック"/>
                          <a:ea typeface="游ゴシック"/>
                          <a:cs typeface="游ゴシック"/>
                        </a:rPr>
                        <a:t>ガス代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00" b="0">
                          <a:solidFill>
                            <a:srgbClr val="1A1A1A"/>
                          </a:solidFill>
                          <a:latin typeface="游ゴシック"/>
                          <a:ea typeface="游ゴシック"/>
                          <a:cs typeface="游ゴシック"/>
                        </a:rPr>
                        <a:t>水道料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99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97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97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00" b="0">
                          <a:solidFill>
                            <a:srgbClr val="1A1A1A"/>
                          </a:solidFill>
                          <a:latin typeface="游ゴシック"/>
                          <a:ea typeface="游ゴシック"/>
                          <a:cs typeface="游ゴシック"/>
                        </a:rPr>
                        <a:t>減価償却費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7,265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7,292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7,012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00" b="0">
                          <a:solidFill>
                            <a:srgbClr val="1A1A1A"/>
                          </a:solidFill>
                          <a:latin typeface="游ゴシック"/>
                          <a:ea typeface="游ゴシック"/>
                          <a:cs typeface="游ゴシック"/>
                        </a:rPr>
                        <a:t>修繕費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591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00" b="0">
                          <a:solidFill>
                            <a:srgbClr val="1A1A1A"/>
                          </a:solidFill>
                          <a:latin typeface="游ゴシック"/>
                          <a:ea typeface="游ゴシック"/>
                          <a:cs typeface="游ゴシック"/>
                        </a:rPr>
                        <a:t>消耗品費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293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00" b="1">
                          <a:solidFill>
                            <a:srgbClr val="1A1A1A"/>
                          </a:solidFill>
                          <a:latin typeface="游ゴシック"/>
                          <a:ea typeface="游ゴシック"/>
                          <a:cs typeface="游ゴシック"/>
                        </a:rPr>
                        <a:t>当期製造費用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16,208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15,680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16,579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00" b="1">
                          <a:solidFill>
                            <a:srgbClr val="1A1A1A"/>
                          </a:solidFill>
                          <a:latin typeface="游ゴシック"/>
                          <a:ea typeface="游ゴシック"/>
                          <a:cs typeface="游ゴシック"/>
                        </a:rPr>
                        <a:t>修正額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1">
                          <a:solidFill>
                            <a:srgbClr val="1A1A1A"/>
                          </a:solidFill>
                          <a:latin typeface="游ゴシック"/>
                          <a:ea typeface="游ゴシック"/>
                          <a:cs typeface="游ゴシック"/>
                        </a:rPr>
                        <a:t>修正項目なし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00" b="1">
                          <a:solidFill>
                            <a:srgbClr val="1A1A1A"/>
                          </a:solidFill>
                          <a:latin typeface="游ゴシック"/>
                          <a:ea typeface="游ゴシック"/>
                          <a:cs typeface="游ゴシック"/>
                        </a:rPr>
                        <a:t>修正後 当期製造費用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16,208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15,680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16,579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0" name="Rectangle 9"/>
          <p:cNvSpPr/>
          <p:nvPr/>
        </p:nvSpPr>
        <p:spPr>
          <a:xfrm>
            <a:off x="7187184" y="1298448"/>
            <a:ext cx="3154680" cy="466344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278624" y="1371600"/>
            <a:ext cx="2971800"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2" name="TextBox 11"/>
          <p:cNvSpPr txBox="1"/>
          <p:nvPr/>
        </p:nvSpPr>
        <p:spPr>
          <a:xfrm>
            <a:off x="7296912" y="1719072"/>
            <a:ext cx="2935224" cy="4151375"/>
          </a:xfrm>
          <a:prstGeom prst="rect">
            <a:avLst/>
          </a:prstGeom>
          <a:noFill/>
        </p:spPr>
        <p:txBody>
          <a:bodyPr wrap="square" lIns="0" rIns="0" tIns="0" bIns="0" anchor="t">
            <a:spAutoFit/>
          </a:bodyPr>
          <a:lstStyle/>
          <a:p>
            <a:pPr algn="l">
              <a:lnSpc>
                <a:spcPct val="120000"/>
              </a:lnSpc>
              <a:spcAft>
                <a:spcPts val="200"/>
              </a:spcAft>
            </a:pPr>
            <a:r>
              <a:rPr sz="900" b="1">
                <a:solidFill>
                  <a:srgbClr val="0889C9"/>
                </a:solidFill>
                <a:latin typeface="游ゴシック"/>
                <a:ea typeface="游ゴシック"/>
                <a:cs typeface="游ゴシック"/>
              </a:rPr>
              <a:t>≪修正項目はない≫ </a:t>
            </a:r>
            <a:r>
              <a:rPr sz="880" b="0">
                <a:solidFill>
                  <a:srgbClr val="1A1A1A"/>
                </a:solidFill>
                <a:latin typeface="游ゴシック"/>
                <a:ea typeface="游ゴシック"/>
                <a:cs typeface="游ゴシック"/>
              </a:rPr>
              <a:t>材料費・労務費・経費のいずれにも、非経常または私的な支出は確認できなかった。労務費（雑給）2,201千円は繁忙時に就労する親族への支払であり、店舗運営に不可欠な費用として修正していない。</a:t>
            </a:r>
          </a:p>
          <a:p>
            <a:pPr algn="l">
              <a:spcAft>
                <a:spcPts val="200"/>
              </a:spcAft>
            </a:pPr>
          </a:p>
          <a:p>
            <a:pPr algn="l">
              <a:lnSpc>
                <a:spcPct val="120000"/>
              </a:lnSpc>
              <a:spcAft>
                <a:spcPts val="200"/>
              </a:spcAft>
            </a:pPr>
            <a:r>
              <a:rPr sz="900" b="1">
                <a:solidFill>
                  <a:srgbClr val="0889C9"/>
                </a:solidFill>
                <a:latin typeface="游ゴシック"/>
                <a:ea typeface="游ゴシック"/>
                <a:cs typeface="游ゴシック"/>
              </a:rPr>
              <a:t>≪減価償却費の扱い≫ </a:t>
            </a:r>
            <a:r>
              <a:rPr sz="880" b="0">
                <a:solidFill>
                  <a:srgbClr val="1A1A1A"/>
                </a:solidFill>
                <a:latin typeface="游ゴシック"/>
                <a:ea typeface="游ゴシック"/>
                <a:cs typeface="游ゴシック"/>
              </a:rPr>
              <a:t>減価償却費7,012千円（2026年5月期）は製造原価の42.3％を占める。このうち塩町館に係る改造工事分753千円は当社の事業に未供用であるため、EBITDAの算定（P.24）では「事業供用分」として除外している。</a:t>
            </a:r>
          </a:p>
          <a:p>
            <a:pPr algn="l">
              <a:spcAft>
                <a:spcPts val="200"/>
              </a:spcAft>
            </a:pPr>
          </a:p>
          <a:p>
            <a:pPr algn="l">
              <a:lnSpc>
                <a:spcPct val="120000"/>
              </a:lnSpc>
              <a:spcAft>
                <a:spcPts val="200"/>
              </a:spcAft>
            </a:pPr>
            <a:r>
              <a:rPr sz="900" b="1">
                <a:solidFill>
                  <a:srgbClr val="0889C9"/>
                </a:solidFill>
                <a:latin typeface="游ゴシック"/>
                <a:ea typeface="游ゴシック"/>
                <a:cs typeface="游ゴシック"/>
              </a:rPr>
              <a:t>≪棚卸資産との関係≫ </a:t>
            </a:r>
            <a:r>
              <a:rPr sz="880" b="0">
                <a:solidFill>
                  <a:srgbClr val="1A1A1A"/>
                </a:solidFill>
                <a:latin typeface="游ゴシック"/>
                <a:ea typeface="游ゴシック"/>
                <a:cs typeface="游ゴシック"/>
              </a:rPr>
              <a:t>玄そばは1年寝かせてから製粉する製法のため、期末材料棚卸高の水準は製法上必要な在庫である。「古古」312千円の滞留性のみ別途確認を要する（P.11）。</a:t>
            </a:r>
          </a:p>
        </p:txBody>
      </p:sp>
      <p:sp>
        <p:nvSpPr>
          <p:cNvPr id="13" name="TextBox 12"/>
          <p:cNvSpPr txBox="1"/>
          <p:nvPr/>
        </p:nvSpPr>
        <p:spPr>
          <a:xfrm>
            <a:off x="310896" y="612648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帳簿価額は決算書 製造原価報告書（2024年5月期〜2026年5月期）。当期製品製造原価は損益計算書の同科目と一致する。</a:t>
            </a:r>
          </a:p>
          <a:p>
            <a:pPr algn="l">
              <a:lnSpc>
                <a:spcPct val="112000"/>
              </a:lnSpc>
              <a:spcAft>
                <a:spcPts val="100"/>
              </a:spcAft>
            </a:pPr>
            <a:r>
              <a:rPr sz="750" b="0">
                <a:solidFill>
                  <a:srgbClr val="5A6670"/>
                </a:solidFill>
                <a:latin typeface="游ゴシック"/>
                <a:ea typeface="游ゴシック"/>
                <a:cs typeface="游ゴシック"/>
              </a:rPr>
              <a:t>※ 塩町館分の減価償却費753千円は、固定資産減価償却内訳明細書の「塩町館改造工事」ほか4件から集計した金額。</a:t>
            </a:r>
          </a:p>
        </p:txBody>
      </p:sp>
    </p:spTree>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7343</TotalTime>
  <Words>2834</Words>
  <Application>Microsoft Office PowerPoint</Application>
  <PresentationFormat>ユーザー設定</PresentationFormat>
  <Paragraphs>640</Paragraphs>
  <Slides>26</Slides>
  <Notes>8</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26</vt:i4>
      </vt:variant>
    </vt:vector>
  </HeadingPairs>
  <TitlesOfParts>
    <vt:vector size="30" baseType="lpstr">
      <vt:lpstr>Meiryo UI</vt:lpstr>
      <vt:lpstr>游ゴシック</vt:lpstr>
      <vt:lpstr>Arial</vt:lpstr>
      <vt:lpstr>SL_2026</vt:lpstr>
      <vt:lpstr>Valuation Report</vt:lpstr>
      <vt:lpstr>はじめに</vt:lpstr>
      <vt:lpstr>株価評価にあたっての注意点</vt:lpstr>
      <vt:lpstr>PowerPoint プレゼンテーション</vt:lpstr>
      <vt:lpstr>Valuation Summary ／ 試算結果</vt:lpstr>
      <vt:lpstr>採用するアプローチの選定</vt:lpstr>
      <vt:lpstr>株式価値の試算結果</vt:lpstr>
      <vt:lpstr>Financial Analysis ／ 財務情報の分析（B/S）</vt:lpstr>
      <vt:lpstr>過去BSの推移</vt:lpstr>
      <vt:lpstr>BS補足［資産］</vt:lpstr>
      <vt:lpstr>修正BS［資産］</vt:lpstr>
      <vt:lpstr>BS補足［負債・純資産］</vt:lpstr>
      <vt:lpstr>修正BS［負債・純資産］</vt:lpstr>
      <vt:lpstr>ネットキャッシュの算定</vt:lpstr>
      <vt:lpstr>Financial Analysis ／ 財務情報の分析（P/L）</vt:lpstr>
      <vt:lpstr>過去PLの推移</vt:lpstr>
      <vt:lpstr>過去SGAの推移</vt:lpstr>
      <vt:lpstr>過去CR（製造原価報告書）の推移</vt:lpstr>
      <vt:lpstr>修正PLの算定［正常収益力の集計］</vt:lpstr>
      <vt:lpstr>Valuation Details ／ 株式価値の試算</vt:lpstr>
      <vt:lpstr>年買法（コストアプローチ）による算出</vt:lpstr>
      <vt:lpstr>EV/EBITDAマルチプル法（マーケットアプローチ）による算出</vt:lpstr>
      <vt:lpstr>役員借入金の取扱いと株式価値への影響</vt:lpstr>
      <vt:lpstr>［Appendix］評価手法について</vt:lpstr>
      <vt:lpstr>［Appendix］株式価値の考え方</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堀 茉莉</dc:creator>
  <cp:lastModifiedBy>田垣内 啓介</cp:lastModifiedBy>
  <cp:revision>128</cp:revision>
  <cp:lastPrinted>2026-07-29T02:36:09Z</cp:lastPrinted>
  <dcterms:created xsi:type="dcterms:W3CDTF">2025-11-26T06:32:54Z</dcterms:created>
  <dcterms:modified xsi:type="dcterms:W3CDTF">2026-10-21T04:00:13Z</dcterms:modified>
</cp:coreProperties>
</file>