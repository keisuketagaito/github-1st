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53" r:id="rId1"/>
  </p:sldMasterIdLst>
  <p:notesMasterIdLst>
    <p:notesMasterId r:id="rId3"/>
  </p:notesMasterIdLst>
  <p:sldIdLst>
    <p:sldId id="693" r:id="rId2"/>
  </p:sldIdLst>
  <p:sldSz cx="10691813" cy="7559675"/>
  <p:notesSz cx="6794500" cy="9931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F15EE332-85E8-464E-BD9B-6722D42356EC}">
          <p14:sldIdLst>
            <p14:sldId id="69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8" userDrawn="1">
          <p15:clr>
            <a:srgbClr val="A4A3A4"/>
          </p15:clr>
        </p15:guide>
        <p15:guide id="2" pos="214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B3041"/>
    <a:srgbClr val="0889C9"/>
    <a:srgbClr val="006AB1"/>
    <a:srgbClr val="54CCB3"/>
    <a:srgbClr val="E1F2FB"/>
    <a:srgbClr val="E3E7E9"/>
    <a:srgbClr val="727F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9FEF8D-0F9E-4D7E-9A0F-5DDE6A6739AB}">
  <a:tblStyle styleId="{2E9FEF8D-0F9E-4D7E-9A0F-5DDE6A6739AB}" styleName="Table_0">
    <a:wholeTbl>
      <a:tcTxStyle b="off" i="off">
        <a:font>
          <a:latin typeface="游ゴシック"/>
          <a:ea typeface="游ゴシック"/>
          <a:cs typeface="游ゴシック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游ゴシック"/>
          <a:ea typeface="游ゴシック"/>
          <a:cs typeface="游ゴシック"/>
        </a:font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 i="off">
        <a:font>
          <a:latin typeface="游ゴシック"/>
          <a:ea typeface="游ゴシック"/>
          <a:cs typeface="游ゴシック"/>
        </a:font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 i="off">
        <a:font>
          <a:latin typeface="游ゴシック"/>
          <a:ea typeface="游ゴシック"/>
          <a:cs typeface="游ゴシック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5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游ゴシック"/>
          <a:ea typeface="游ゴシック"/>
          <a:cs typeface="游ゴシック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5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404" autoAdjust="0"/>
  </p:normalViewPr>
  <p:slideViewPr>
    <p:cSldViewPr snapToGrid="0">
      <p:cViewPr>
        <p:scale>
          <a:sx n="66" d="100"/>
          <a:sy n="66" d="100"/>
        </p:scale>
        <p:origin x="888" y="-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28"/>
        <p:guide pos="214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3" y="3"/>
            <a:ext cx="2944030" cy="497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6" tIns="44066" rIns="88156" bIns="44066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8954" y="3"/>
            <a:ext cx="2944029" cy="497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6" tIns="44066" rIns="88156" bIns="44066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27113" y="1241425"/>
            <a:ext cx="4741862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0209" y="4780077"/>
            <a:ext cx="5435600" cy="3909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6" tIns="44066" rIns="88156" bIns="44066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3" y="9433832"/>
            <a:ext cx="2944030" cy="497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6" tIns="44066" rIns="88156" bIns="44066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8954" y="9433832"/>
            <a:ext cx="2944029" cy="497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6" tIns="44066" rIns="88156" bIns="44066" anchor="b" anchorCtr="0">
            <a:noAutofit/>
          </a:bodyPr>
          <a:lstStyle/>
          <a:p>
            <a:pPr algn="r"/>
            <a:fld id="{00000000-1234-1234-1234-123412341234}" type="slidenum">
              <a:rPr lang="en-US" altLang="ja-JP" sz="1200" smtClean="0">
                <a:solidFill>
                  <a:schemeClr val="dk1"/>
                </a:solidFill>
              </a:rPr>
              <a:pPr algn="r"/>
              <a:t>‹#›</a:t>
            </a:fld>
            <a:endParaRPr lang="en-US" sz="1200">
              <a:solidFill>
                <a:schemeClr val="dk1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92150" y="860425"/>
            <a:ext cx="3278188" cy="23193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2:notes"/>
          <p:cNvSpPr txBox="1">
            <a:spLocks noGrp="1"/>
          </p:cNvSpPr>
          <p:nvPr>
            <p:ph type="body" idx="1"/>
          </p:nvPr>
        </p:nvSpPr>
        <p:spPr>
          <a:xfrm>
            <a:off x="466729" y="3309247"/>
            <a:ext cx="3729663" cy="270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774" tIns="30388" rIns="60774" bIns="30388" anchor="t" anchorCtr="0">
            <a:noAutofit/>
          </a:bodyPr>
          <a:lstStyle/>
          <a:p>
            <a:endParaRPr dirty="0"/>
          </a:p>
        </p:txBody>
      </p:sp>
      <p:sp>
        <p:nvSpPr>
          <p:cNvPr id="257" name="Google Shape;257;p2:notes"/>
          <p:cNvSpPr txBox="1">
            <a:spLocks noGrp="1"/>
          </p:cNvSpPr>
          <p:nvPr>
            <p:ph type="sldNum" idx="12"/>
          </p:nvPr>
        </p:nvSpPr>
        <p:spPr>
          <a:xfrm>
            <a:off x="2640976" y="6531039"/>
            <a:ext cx="2020060" cy="344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774" tIns="30388" rIns="60774" bIns="30388" anchor="b" anchorCtr="0">
            <a:noAutofit/>
          </a:bodyPr>
          <a:lstStyle/>
          <a:p>
            <a:pPr algn="r"/>
            <a:fld id="{00000000-1234-1234-1234-123412341234}" type="slidenum">
              <a:rPr lang="en-US" altLang="ja-JP"/>
              <a:pPr algn="r"/>
              <a:t>0</a:t>
            </a:fld>
            <a:endParaRPr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6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7412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絵と文字の加工写真&#10;&#10;AI 生成コンテンツは誤りを含む可能性があります。">
            <a:extLst>
              <a:ext uri="{FF2B5EF4-FFF2-40B4-BE49-F238E27FC236}">
                <a16:creationId xmlns:a16="http://schemas.microsoft.com/office/drawing/2014/main" id="{995F6558-5E48-7ACD-5E2F-54EE4A6825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19"/>
            <a:ext cx="10691813" cy="7558636"/>
          </a:xfrm>
          <a:prstGeom prst="rect">
            <a:avLst/>
          </a:prstGeom>
        </p:spPr>
      </p:pic>
      <p:sp>
        <p:nvSpPr>
          <p:cNvPr id="6" name="タイトル 1">
            <a:extLst>
              <a:ext uri="{FF2B5EF4-FFF2-40B4-BE49-F238E27FC236}">
                <a16:creationId xmlns:a16="http://schemas.microsoft.com/office/drawing/2014/main" id="{7D824756-0531-3BBA-09FB-CC8ACB55A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526" y="3467606"/>
            <a:ext cx="9221787" cy="7386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lnSpc>
                <a:spcPct val="100000"/>
              </a:lnSpc>
              <a:defRPr lang="ja-JP" altLang="en-US" sz="4800" b="1" spc="200">
                <a:latin typeface="+mj-lt"/>
                <a:cs typeface="+mn-cs"/>
              </a:defRPr>
            </a:lvl1pPr>
          </a:lstStyle>
          <a:p>
            <a:pPr marL="0" lvl="0" defTabSz="503972"/>
            <a:r>
              <a:rPr kumimoji="1" lang="ja-JP" altLang="en-US" dirty="0"/>
              <a:t>マスター タイトルの書式設定</a:t>
            </a:r>
          </a:p>
        </p:txBody>
      </p:sp>
      <p:pic>
        <p:nvPicPr>
          <p:cNvPr id="4" name="図 3" descr="図形&#10;&#10;中程度の精度で自動的に生成された説明">
            <a:extLst>
              <a:ext uri="{FF2B5EF4-FFF2-40B4-BE49-F238E27FC236}">
                <a16:creationId xmlns:a16="http://schemas.microsoft.com/office/drawing/2014/main" id="{DF75B97B-7722-5333-1DF6-425BD31B0F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7898" y="641817"/>
            <a:ext cx="2996516" cy="594316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7F2AB3F-4E5C-EEA1-723A-7D941C02D057}"/>
              </a:ext>
            </a:extLst>
          </p:cNvPr>
          <p:cNvSpPr/>
          <p:nvPr userDrawn="1"/>
        </p:nvSpPr>
        <p:spPr>
          <a:xfrm>
            <a:off x="-1" y="-1"/>
            <a:ext cx="108000" cy="7560000"/>
          </a:xfrm>
          <a:prstGeom prst="rect">
            <a:avLst/>
          </a:prstGeom>
          <a:gradFill>
            <a:gsLst>
              <a:gs pos="100000">
                <a:schemeClr val="accent4"/>
              </a:gs>
              <a:gs pos="17000">
                <a:schemeClr val="tx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263"/>
          </a:p>
        </p:txBody>
      </p:sp>
    </p:spTree>
    <p:extLst>
      <p:ext uri="{BB962C8B-B14F-4D97-AF65-F5344CB8AC3E}">
        <p14:creationId xmlns:p14="http://schemas.microsoft.com/office/powerpoint/2010/main" val="1035968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8E967D6D-5B52-5B07-CA48-6817A5CEB2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19"/>
            <a:ext cx="10691813" cy="7558636"/>
          </a:xfrm>
          <a:prstGeom prst="rect">
            <a:avLst/>
          </a:prstGeom>
        </p:spPr>
      </p:pic>
      <p:pic>
        <p:nvPicPr>
          <p:cNvPr id="4" name="図 3" descr="図形&#10;&#10;中程度の精度で自動的に生成された説明">
            <a:extLst>
              <a:ext uri="{FF2B5EF4-FFF2-40B4-BE49-F238E27FC236}">
                <a16:creationId xmlns:a16="http://schemas.microsoft.com/office/drawing/2014/main" id="{DF75B97B-7722-5333-1DF6-425BD31B0F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1198" y="251293"/>
            <a:ext cx="1627200" cy="322732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A1C1562-A331-DA82-9B95-1B4F0DA08BD0}"/>
              </a:ext>
            </a:extLst>
          </p:cNvPr>
          <p:cNvSpPr txBox="1"/>
          <p:nvPr userDrawn="1"/>
        </p:nvSpPr>
        <p:spPr>
          <a:xfrm>
            <a:off x="9865023" y="7202817"/>
            <a:ext cx="579140" cy="15266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4A9C97F8-90FE-457F-983C-96DAC3349EFE}" type="slidenum">
              <a:rPr kumimoji="1" lang="ja-JP" altLang="en-US" sz="992" smtClean="0">
                <a:solidFill>
                  <a:schemeClr val="accent1"/>
                </a:solidFill>
                <a:latin typeface="+mj-lt"/>
              </a:rPr>
              <a:pPr algn="r"/>
              <a:t>‹#›</a:t>
            </a:fld>
            <a:endParaRPr kumimoji="1" lang="ja-JP" altLang="en-US" sz="992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3" name="Google Shape;14;p31">
            <a:extLst>
              <a:ext uri="{FF2B5EF4-FFF2-40B4-BE49-F238E27FC236}">
                <a16:creationId xmlns:a16="http://schemas.microsoft.com/office/drawing/2014/main" id="{0CB49C29-F967-F011-F3F8-2ED176CC202F}"/>
              </a:ext>
            </a:extLst>
          </p:cNvPr>
          <p:cNvSpPr/>
          <p:nvPr userDrawn="1"/>
        </p:nvSpPr>
        <p:spPr>
          <a:xfrm>
            <a:off x="5516123" y="7220572"/>
            <a:ext cx="4572000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700" b="0" i="0" u="none" strike="noStrike" cap="none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Copyright© M＆A Succession Group Inc. All Right Reserved</a:t>
            </a:r>
            <a:endParaRPr sz="700" b="0" i="0" u="none" strike="noStrike" cap="none" dirty="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493C03D-EF3C-73CD-DCFB-960D33F81124}"/>
              </a:ext>
            </a:extLst>
          </p:cNvPr>
          <p:cNvSpPr/>
          <p:nvPr userDrawn="1"/>
        </p:nvSpPr>
        <p:spPr>
          <a:xfrm>
            <a:off x="6933143" y="7209190"/>
            <a:ext cx="640572" cy="144000"/>
          </a:xfrm>
          <a:prstGeom prst="rect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kumimoji="1" lang="en-US" altLang="ja-JP" sz="800" i="1" dirty="0">
                <a:solidFill>
                  <a:schemeClr val="accent1"/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801445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DE449C2-8B65-9409-394F-45A167C6AE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19"/>
            <a:ext cx="10691813" cy="7558636"/>
          </a:xfrm>
          <a:prstGeom prst="rect">
            <a:avLst/>
          </a:prstGeom>
        </p:spPr>
      </p:pic>
      <p:sp>
        <p:nvSpPr>
          <p:cNvPr id="5" name="タイトル 1">
            <a:extLst>
              <a:ext uri="{FF2B5EF4-FFF2-40B4-BE49-F238E27FC236}">
                <a16:creationId xmlns:a16="http://schemas.microsoft.com/office/drawing/2014/main" id="{07D600CD-5CAD-A0C8-1E3D-CD1EA5B04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3" y="3656161"/>
            <a:ext cx="9221787" cy="61555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lnSpc>
                <a:spcPct val="100000"/>
              </a:lnSpc>
              <a:defRPr lang="ja-JP" altLang="en-US" sz="4000" b="1" spc="200" dirty="0">
                <a:solidFill>
                  <a:schemeClr val="bg1"/>
                </a:solidFill>
                <a:latin typeface="+mj-lt"/>
                <a:cs typeface="+mn-cs"/>
              </a:defRPr>
            </a:lvl1pPr>
          </a:lstStyle>
          <a:p>
            <a:pPr marL="0" lvl="0" defTabSz="503972"/>
            <a:r>
              <a:rPr kumimoji="1" lang="ja-JP" altLang="en-US" dirty="0"/>
              <a:t>マスター タイトルの書式設定</a:t>
            </a:r>
          </a:p>
        </p:txBody>
      </p:sp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8D4E6481-3D38-43CE-56D4-0766A151BD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7898" y="641818"/>
            <a:ext cx="1627200" cy="320105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6F9BFF4-1363-8167-1FD9-7F8105B557A4}"/>
              </a:ext>
            </a:extLst>
          </p:cNvPr>
          <p:cNvSpPr txBox="1"/>
          <p:nvPr userDrawn="1"/>
        </p:nvSpPr>
        <p:spPr>
          <a:xfrm>
            <a:off x="9865023" y="7202817"/>
            <a:ext cx="579140" cy="15266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4A9C97F8-90FE-457F-983C-96DAC3349EFE}" type="slidenum">
              <a:rPr kumimoji="1" lang="ja-JP" altLang="en-US" sz="992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kumimoji="1" lang="ja-JP" altLang="en-US" sz="992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Google Shape;14;p31">
            <a:extLst>
              <a:ext uri="{FF2B5EF4-FFF2-40B4-BE49-F238E27FC236}">
                <a16:creationId xmlns:a16="http://schemas.microsoft.com/office/drawing/2014/main" id="{4768A1B1-9FB9-F183-2D3A-178D813DD52B}"/>
              </a:ext>
            </a:extLst>
          </p:cNvPr>
          <p:cNvSpPr/>
          <p:nvPr userDrawn="1"/>
        </p:nvSpPr>
        <p:spPr>
          <a:xfrm>
            <a:off x="5516123" y="7220572"/>
            <a:ext cx="4572000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7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Copyright© M＆A Succession Group Inc. All Right Reserved</a:t>
            </a:r>
            <a:endParaRPr sz="7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0B19FBA-B74F-4E88-0389-543A882445EE}"/>
              </a:ext>
            </a:extLst>
          </p:cNvPr>
          <p:cNvSpPr/>
          <p:nvPr userDrawn="1"/>
        </p:nvSpPr>
        <p:spPr>
          <a:xfrm>
            <a:off x="6933143" y="7209190"/>
            <a:ext cx="640572" cy="144000"/>
          </a:xfrm>
          <a:prstGeom prst="rect">
            <a:avLst/>
          </a:pr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kumimoji="1" lang="en-US" altLang="ja-JP" sz="800" i="1" dirty="0">
                <a:solidFill>
                  <a:schemeClr val="bg1"/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880950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本編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A577B03-0430-76D0-A4E3-BD118824A3F8}"/>
              </a:ext>
            </a:extLst>
          </p:cNvPr>
          <p:cNvSpPr/>
          <p:nvPr userDrawn="1"/>
        </p:nvSpPr>
        <p:spPr>
          <a:xfrm>
            <a:off x="-1" y="0"/>
            <a:ext cx="10691814" cy="666000"/>
          </a:xfrm>
          <a:prstGeom prst="rect">
            <a:avLst/>
          </a:prstGeom>
          <a:gradFill>
            <a:gsLst>
              <a:gs pos="88000">
                <a:srgbClr val="006AB1"/>
              </a:gs>
              <a:gs pos="5000">
                <a:schemeClr val="tx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263" dirty="0"/>
          </a:p>
        </p:txBody>
      </p:sp>
      <p:sp>
        <p:nvSpPr>
          <p:cNvPr id="31" name="フリーフォーム: 図形 30">
            <a:extLst>
              <a:ext uri="{FF2B5EF4-FFF2-40B4-BE49-F238E27FC236}">
                <a16:creationId xmlns:a16="http://schemas.microsoft.com/office/drawing/2014/main" id="{D9CC89AC-0069-75DF-7665-F8D290946A33}"/>
              </a:ext>
            </a:extLst>
          </p:cNvPr>
          <p:cNvSpPr/>
          <p:nvPr userDrawn="1"/>
        </p:nvSpPr>
        <p:spPr>
          <a:xfrm>
            <a:off x="6714554" y="0"/>
            <a:ext cx="1701594" cy="666001"/>
          </a:xfrm>
          <a:custGeom>
            <a:avLst/>
            <a:gdLst>
              <a:gd name="csX0" fmla="*/ 0 w 1701594"/>
              <a:gd name="csY0" fmla="*/ 0 h 666001"/>
              <a:gd name="csX1" fmla="*/ 1089255 w 1701594"/>
              <a:gd name="csY1" fmla="*/ 0 h 666001"/>
              <a:gd name="csX2" fmla="*/ 1382486 w 1701594"/>
              <a:gd name="csY2" fmla="*/ 0 h 666001"/>
              <a:gd name="csX3" fmla="*/ 1382486 w 1701594"/>
              <a:gd name="csY3" fmla="*/ 183 h 666001"/>
              <a:gd name="csX4" fmla="*/ 1701594 w 1701594"/>
              <a:gd name="csY4" fmla="*/ 381 h 666001"/>
              <a:gd name="csX5" fmla="*/ 1565532 w 1701594"/>
              <a:gd name="csY5" fmla="*/ 333001 h 666001"/>
              <a:gd name="csX6" fmla="*/ 1701594 w 1701594"/>
              <a:gd name="csY6" fmla="*/ 666001 h 666001"/>
              <a:gd name="csX7" fmla="*/ 1382486 w 1701594"/>
              <a:gd name="csY7" fmla="*/ 665803 h 666001"/>
              <a:gd name="csX8" fmla="*/ 1382486 w 1701594"/>
              <a:gd name="csY8" fmla="*/ 666000 h 666001"/>
              <a:gd name="csX9" fmla="*/ 0 w 1701594"/>
              <a:gd name="csY9" fmla="*/ 666000 h 6660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701594" h="666001">
                <a:moveTo>
                  <a:pt x="0" y="0"/>
                </a:moveTo>
                <a:lnTo>
                  <a:pt x="1089255" y="0"/>
                </a:lnTo>
                <a:lnTo>
                  <a:pt x="1382486" y="0"/>
                </a:lnTo>
                <a:lnTo>
                  <a:pt x="1382486" y="183"/>
                </a:lnTo>
                <a:lnTo>
                  <a:pt x="1701594" y="381"/>
                </a:lnTo>
                <a:lnTo>
                  <a:pt x="1565532" y="333001"/>
                </a:lnTo>
                <a:lnTo>
                  <a:pt x="1701594" y="666001"/>
                </a:lnTo>
                <a:lnTo>
                  <a:pt x="1382486" y="665803"/>
                </a:lnTo>
                <a:lnTo>
                  <a:pt x="1382486" y="666000"/>
                </a:lnTo>
                <a:lnTo>
                  <a:pt x="0" y="666000"/>
                </a:lnTo>
                <a:close/>
              </a:path>
            </a:pathLst>
          </a:custGeom>
          <a:gradFill>
            <a:gsLst>
              <a:gs pos="96000">
                <a:schemeClr val="accent4"/>
              </a:gs>
              <a:gs pos="46000">
                <a:schemeClr val="tx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2263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4C44029-31FF-A9F7-06AC-0A055C09D5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75" y="830046"/>
            <a:ext cx="9781875" cy="24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1" spc="55" baseline="0">
                <a:latin typeface="+mj-ea"/>
                <a:ea typeface="+mj-ea"/>
              </a:defRPr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kumimoji="1" lang="ja-JP" altLang="en-US" dirty="0"/>
              <a:t>マスター サブタイトルの書式設定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06A0380-DE0F-1825-615F-4DBC89C8C6DB}"/>
              </a:ext>
            </a:extLst>
          </p:cNvPr>
          <p:cNvSpPr txBox="1"/>
          <p:nvPr userDrawn="1"/>
        </p:nvSpPr>
        <p:spPr>
          <a:xfrm>
            <a:off x="9865023" y="7202817"/>
            <a:ext cx="579140" cy="15266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4A9C97F8-90FE-457F-983C-96DAC3349EFE}" type="slidenum">
              <a:rPr kumimoji="1" lang="ja-JP" altLang="en-US" sz="992" smtClean="0">
                <a:solidFill>
                  <a:schemeClr val="accent1"/>
                </a:solidFill>
                <a:latin typeface="+mj-lt"/>
              </a:rPr>
              <a:pPr algn="r"/>
              <a:t>‹#›</a:t>
            </a:fld>
            <a:endParaRPr kumimoji="1" lang="ja-JP" altLang="en-US" sz="992" dirty="0">
              <a:solidFill>
                <a:schemeClr val="accent1"/>
              </a:solidFill>
              <a:latin typeface="+mj-lt"/>
            </a:endParaRPr>
          </a:p>
        </p:txBody>
      </p:sp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15124CEF-AA7F-DF16-7A5C-692E9AB7616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801" y="7086114"/>
            <a:ext cx="1625600" cy="322220"/>
          </a:xfrm>
          <a:prstGeom prst="rect">
            <a:avLst/>
          </a:prstGeom>
        </p:spPr>
      </p:pic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2864EB89-7DDA-1F5E-BB78-27D39C8659FC}"/>
              </a:ext>
            </a:extLst>
          </p:cNvPr>
          <p:cNvGrpSpPr/>
          <p:nvPr userDrawn="1"/>
        </p:nvGrpSpPr>
        <p:grpSpPr>
          <a:xfrm>
            <a:off x="-1" y="0"/>
            <a:ext cx="252001" cy="666000"/>
            <a:chOff x="-1" y="0"/>
            <a:chExt cx="252001" cy="666000"/>
          </a:xfrm>
        </p:grpSpPr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05B82C66-0A6E-C82F-B38C-D4495200FAA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333000"/>
              <a:ext cx="252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A6BFD29D-964D-B44D-88A5-439ACA448282}"/>
                </a:ext>
              </a:extLst>
            </p:cNvPr>
            <p:cNvSpPr/>
            <p:nvPr userDrawn="1"/>
          </p:nvSpPr>
          <p:spPr>
            <a:xfrm>
              <a:off x="-1" y="0"/>
              <a:ext cx="108000" cy="666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263"/>
            </a:p>
          </p:txBody>
        </p: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B87BA5C7-32E9-C506-2110-1D5AFE77B0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" y="333000"/>
              <a:ext cx="1080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1DA08165-590D-BD55-05E9-10B2D6F8DD63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341313" y="180296"/>
            <a:ext cx="7799917" cy="33926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100000"/>
              </a:lnSpc>
              <a:defRPr sz="2200" b="1" spc="77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0" name="フリーフォーム: 図形 29">
            <a:extLst>
              <a:ext uri="{FF2B5EF4-FFF2-40B4-BE49-F238E27FC236}">
                <a16:creationId xmlns:a16="http://schemas.microsoft.com/office/drawing/2014/main" id="{0AA6A414-726D-CCFA-2EF2-5B8503BE0A88}"/>
              </a:ext>
            </a:extLst>
          </p:cNvPr>
          <p:cNvSpPr/>
          <p:nvPr userDrawn="1"/>
        </p:nvSpPr>
        <p:spPr>
          <a:xfrm>
            <a:off x="6386286" y="0"/>
            <a:ext cx="1701594" cy="666001"/>
          </a:xfrm>
          <a:custGeom>
            <a:avLst/>
            <a:gdLst>
              <a:gd name="csX0" fmla="*/ 0 w 1701594"/>
              <a:gd name="csY0" fmla="*/ 0 h 666001"/>
              <a:gd name="csX1" fmla="*/ 1089255 w 1701594"/>
              <a:gd name="csY1" fmla="*/ 0 h 666001"/>
              <a:gd name="csX2" fmla="*/ 1382486 w 1701594"/>
              <a:gd name="csY2" fmla="*/ 0 h 666001"/>
              <a:gd name="csX3" fmla="*/ 1382486 w 1701594"/>
              <a:gd name="csY3" fmla="*/ 183 h 666001"/>
              <a:gd name="csX4" fmla="*/ 1701594 w 1701594"/>
              <a:gd name="csY4" fmla="*/ 381 h 666001"/>
              <a:gd name="csX5" fmla="*/ 1565532 w 1701594"/>
              <a:gd name="csY5" fmla="*/ 333001 h 666001"/>
              <a:gd name="csX6" fmla="*/ 1701594 w 1701594"/>
              <a:gd name="csY6" fmla="*/ 666001 h 666001"/>
              <a:gd name="csX7" fmla="*/ 1382486 w 1701594"/>
              <a:gd name="csY7" fmla="*/ 665803 h 666001"/>
              <a:gd name="csX8" fmla="*/ 1382486 w 1701594"/>
              <a:gd name="csY8" fmla="*/ 666000 h 666001"/>
              <a:gd name="csX9" fmla="*/ 0 w 1701594"/>
              <a:gd name="csY9" fmla="*/ 666000 h 6660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701594" h="666001">
                <a:moveTo>
                  <a:pt x="0" y="0"/>
                </a:moveTo>
                <a:lnTo>
                  <a:pt x="1089255" y="0"/>
                </a:lnTo>
                <a:lnTo>
                  <a:pt x="1382486" y="0"/>
                </a:lnTo>
                <a:lnTo>
                  <a:pt x="1382486" y="183"/>
                </a:lnTo>
                <a:lnTo>
                  <a:pt x="1701594" y="381"/>
                </a:lnTo>
                <a:lnTo>
                  <a:pt x="1565532" y="333001"/>
                </a:lnTo>
                <a:lnTo>
                  <a:pt x="1701594" y="666001"/>
                </a:lnTo>
                <a:lnTo>
                  <a:pt x="1382486" y="665803"/>
                </a:lnTo>
                <a:lnTo>
                  <a:pt x="1382486" y="666000"/>
                </a:lnTo>
                <a:lnTo>
                  <a:pt x="0" y="666000"/>
                </a:lnTo>
                <a:close/>
              </a:path>
            </a:pathLst>
          </a:custGeom>
          <a:gradFill>
            <a:gsLst>
              <a:gs pos="100000">
                <a:schemeClr val="accent4"/>
              </a:gs>
              <a:gs pos="8000">
                <a:srgbClr val="0167A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2263"/>
          </a:p>
        </p:txBody>
      </p:sp>
      <p:sp>
        <p:nvSpPr>
          <p:cNvPr id="33" name="Google Shape;14;p31">
            <a:extLst>
              <a:ext uri="{FF2B5EF4-FFF2-40B4-BE49-F238E27FC236}">
                <a16:creationId xmlns:a16="http://schemas.microsoft.com/office/drawing/2014/main" id="{273032A6-EBE9-0147-F9C2-495CA12FDE28}"/>
              </a:ext>
            </a:extLst>
          </p:cNvPr>
          <p:cNvSpPr/>
          <p:nvPr userDrawn="1"/>
        </p:nvSpPr>
        <p:spPr>
          <a:xfrm>
            <a:off x="5516123" y="7220572"/>
            <a:ext cx="4572000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700" b="0" i="0" u="none" strike="noStrike" cap="none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Copyright© M＆A Succession Group Inc. All Right Reserved</a:t>
            </a:r>
            <a:endParaRPr sz="700" b="0" i="0" u="none" strike="noStrike" cap="none" dirty="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83DDC2C-ECEE-530D-9F1C-6564A5A2BAB9}"/>
              </a:ext>
            </a:extLst>
          </p:cNvPr>
          <p:cNvSpPr/>
          <p:nvPr userDrawn="1"/>
        </p:nvSpPr>
        <p:spPr>
          <a:xfrm>
            <a:off x="6933143" y="7209190"/>
            <a:ext cx="640572" cy="144000"/>
          </a:xfrm>
          <a:prstGeom prst="rect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kumimoji="1" lang="en-US" altLang="ja-JP" sz="800" i="1" dirty="0">
                <a:solidFill>
                  <a:schemeClr val="accent1"/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6275575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309">
          <p15:clr>
            <a:srgbClr val="FBAE40"/>
          </p15:clr>
        </p15:guide>
        <p15:guide id="3" pos="215">
          <p15:clr>
            <a:srgbClr val="A4A3A4"/>
          </p15:clr>
        </p15:guide>
        <p15:guide id="4" pos="6520">
          <p15:clr>
            <a:srgbClr val="A4A3A4"/>
          </p15:clr>
        </p15:guide>
        <p15:guide id="5" pos="283">
          <p15:clr>
            <a:srgbClr val="FBAE40"/>
          </p15:clr>
        </p15:guide>
        <p15:guide id="6" pos="64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絵と文字の加工写真&#10;&#10;AI 生成コンテンツは誤りを含む可能性があります。">
            <a:extLst>
              <a:ext uri="{FF2B5EF4-FFF2-40B4-BE49-F238E27FC236}">
                <a16:creationId xmlns:a16="http://schemas.microsoft.com/office/drawing/2014/main" id="{995F6558-5E48-7ACD-5E2F-54EE4A6825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19"/>
            <a:ext cx="10691813" cy="7558636"/>
          </a:xfrm>
          <a:prstGeom prst="rect">
            <a:avLst/>
          </a:prstGeom>
        </p:spPr>
      </p:pic>
      <p:sp>
        <p:nvSpPr>
          <p:cNvPr id="6" name="タイトル 1">
            <a:extLst>
              <a:ext uri="{FF2B5EF4-FFF2-40B4-BE49-F238E27FC236}">
                <a16:creationId xmlns:a16="http://schemas.microsoft.com/office/drawing/2014/main" id="{7D824756-0531-3BBA-09FB-CC8ACB55A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526" y="3467606"/>
            <a:ext cx="9221787" cy="7386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lnSpc>
                <a:spcPct val="100000"/>
              </a:lnSpc>
              <a:defRPr lang="ja-JP" altLang="en-US" sz="4800" b="1" spc="200">
                <a:latin typeface="+mj-lt"/>
                <a:cs typeface="+mn-cs"/>
              </a:defRPr>
            </a:lvl1pPr>
          </a:lstStyle>
          <a:p>
            <a:pPr marL="0" lvl="0" defTabSz="503972"/>
            <a:r>
              <a:rPr kumimoji="1" lang="ja-JP" altLang="en-US" dirty="0"/>
              <a:t>マスター タイトルの書式設定</a:t>
            </a:r>
          </a:p>
        </p:txBody>
      </p:sp>
      <p:pic>
        <p:nvPicPr>
          <p:cNvPr id="4" name="図 3" descr="図形&#10;&#10;中程度の精度で自動的に生成された説明">
            <a:extLst>
              <a:ext uri="{FF2B5EF4-FFF2-40B4-BE49-F238E27FC236}">
                <a16:creationId xmlns:a16="http://schemas.microsoft.com/office/drawing/2014/main" id="{DF75B97B-7722-5333-1DF6-425BD31B0F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7898" y="641817"/>
            <a:ext cx="2996516" cy="594316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7F2AB3F-4E5C-EEA1-723A-7D941C02D057}"/>
              </a:ext>
            </a:extLst>
          </p:cNvPr>
          <p:cNvSpPr/>
          <p:nvPr userDrawn="1"/>
        </p:nvSpPr>
        <p:spPr>
          <a:xfrm>
            <a:off x="-1" y="-1"/>
            <a:ext cx="108000" cy="7560000"/>
          </a:xfrm>
          <a:prstGeom prst="rect">
            <a:avLst/>
          </a:prstGeom>
          <a:gradFill>
            <a:gsLst>
              <a:gs pos="100000">
                <a:schemeClr val="accent4"/>
              </a:gs>
              <a:gs pos="17000">
                <a:schemeClr val="tx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263"/>
          </a:p>
        </p:txBody>
      </p:sp>
    </p:spTree>
    <p:extLst>
      <p:ext uri="{BB962C8B-B14F-4D97-AF65-F5344CB8AC3E}">
        <p14:creationId xmlns:p14="http://schemas.microsoft.com/office/powerpoint/2010/main" val="2111189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8542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kumimoji="1"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kumimoji="1"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894F5CC-4DF5-041B-4E72-C602B3C0703B}"/>
              </a:ext>
            </a:extLst>
          </p:cNvPr>
          <p:cNvSpPr/>
          <p:nvPr/>
        </p:nvSpPr>
        <p:spPr>
          <a:xfrm>
            <a:off x="3710915" y="314786"/>
            <a:ext cx="3269982" cy="256714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Arial" panose="020B0604020202020204" pitchFamily="34" charset="0"/>
              </a:rPr>
              <a:t>【</a:t>
            </a:r>
            <a:r>
              <a:rPr kumimoji="0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Arial" panose="020B0604020202020204" pitchFamily="34" charset="0"/>
              </a:rPr>
              <a:t>社内用プロセスレター</a:t>
            </a:r>
            <a:r>
              <a:rPr kumimoji="0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Arial" panose="020B0604020202020204" pitchFamily="34" charset="0"/>
              </a:rPr>
              <a:t>】</a:t>
            </a:r>
            <a:endParaRPr kumimoji="0" lang="ja-JP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3074851E-39B6-6456-121D-485404B3BE69}"/>
              </a:ext>
            </a:extLst>
          </p:cNvPr>
          <p:cNvSpPr/>
          <p:nvPr/>
        </p:nvSpPr>
        <p:spPr>
          <a:xfrm>
            <a:off x="308179" y="666750"/>
            <a:ext cx="5235371" cy="6743866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sng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1. 案件概要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/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(1) 対象会社　・株式会社慈久庵（茨城県常陸太田市／1990年4月設立）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　　　　　　　　東京・南阿佐ヶ谷で創業し、2002年に代表者の故郷へ移転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(2) 想定取引形態　・100％株式譲渡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　　　　　　　　　※株券発行会社。譲渡に取締役会の承認が必要（株券は確認中）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/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(3) 譲渡対象　・対象会社の全事業（そば店「慈久庵」の経営／蕎麦粉・小麦粉の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　　　　　　　　製粉・卸売／乾麺・そばつゆ・醤等の製造販売／通信販売）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　　　　　　　※塩町館は営業権・什器備品を元従業員へ譲渡済。建物は当社BSに残存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　　　　　　　　（登記名義は未変更。譲渡対象の要否は要協議）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/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(4) 売主の希望条件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　■希望譲渡価格　　　　　　　　：1,650万円（当社手数料分）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　■買手候補に期待するシナジー　：店舗の継続と多店舗展開、物販・通信販売の拡大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　■社長等、役員の処遇　　　　　：代表者・配偶者ともに引継ぎ完了後に退任予定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　　　　　　　　　　　　　　　　（引継ぎ期間・方式は応相談）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　　　　　　　　　　　　　　　：取締役 岩間卓哉氏（元従業員）の取扱いは要協議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　■従業員の処遇　　　　　　　　：常時雇用の従業員は0名（繁忙時に親族が就労）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　■取引実行の前提条件　　　　　：役員借入金32,744千円の取扱い（段階返済）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　　　　　　　　　　　　　　　：店舗2階からの明渡し（代表者夫妻が居住中）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　　　　　　　　　　　　　　　：店舗建物の表題登記・保存登記（現状未登記）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/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(5) その他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１　譲渡理由：後継者不在（代表者79歳）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２　表明保証内容及び損害賠償上限の希望：要協議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３　キーマンへの開示状況及び今後の開示方針：未開示（従業員0名）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４　株主、取締役、従業員との間の貸借及び取引状況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　　：役員借入金32,744千円（代表者9,518千円・配偶者23,226千円／無利息）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　　：関係先（塩町館・小びと）への未収入金3,323千円が3期連続で増加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　　：代表者から年180千円の家賃収入（店舗2階の居住分）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５　個人資産への抵当権、個人保証などの存在及び対応方針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　　：金融機関借入なし。連帯保証・担保設定はないものと想定（乙区は要確認）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６　COC等の存在及び対応方針：要確認（卸売先の基本契約書が未受領）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７　一般表明保証抵触可能性のある事項及び対応方針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　　：店舗建物が未登記／商標4件の権利範囲／食品製造の許認可の要否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８　株式の状況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　　：発行済200株（小川宣夫氏130株/65％、小川喜久子氏70株/35％）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　　：株券発行会社・譲渡制限あり（取締役会の承認／株券は確認依頼中）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９　保有資産の瑕疵の有無：店舗建物が未登記。本店（2162番地）と代表者の住所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　　（2162番地の1）で地番が異なり、筆の切分けが未確認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10　競合他社仲介、直接交渉等の状況：なし。当社専任案件。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F3F5444-CAFE-B8FD-7822-848EB8F064D5}"/>
              </a:ext>
            </a:extLst>
          </p:cNvPr>
          <p:cNvSpPr/>
          <p:nvPr/>
        </p:nvSpPr>
        <p:spPr>
          <a:xfrm>
            <a:off x="5676551" y="882505"/>
            <a:ext cx="4829523" cy="6023263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sng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2．論点に対するディールシナリオ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/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【論点】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　①後任者人件費（月額800千円＋法定福利費＝11,040千円）を織り込むと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　　営業損益はマイナス。実績が黒字なのは代表者夫妻が無報酬のため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　②店舗建物が未登記。代表者夫妻が店舗2階に居住中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　③役員借入金32,744千円。価値の中心はブランド・商標・レシピ・店舗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/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【対応方針】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　①評価はコストアプローチ（時価純資産22,483千円）を軸とし、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　　稼働拡大の余地（週4日→週6日）を併せて提示する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　②表題・保存登記と明渡しの時期・費用をSPAの前提条件として早期確定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　③役員借入金は株式対価と分けて説明。段階返済を含む売主の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　　受取見込みは49,244千円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/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sng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3. マッチング方針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/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■案件ランク　：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■NG先　　　  ：未定。次回面談で確認予定。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■売主の希望　：「慈久庵」を蕎麦屋として継続し、将来的に店舗を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　　　　　　　　広げられる先。価額より事業の継続性を重視。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■マッチングアイデア：そば・和食チェーン、地域の外食事業者、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　　　　　　　　食品メーカー・商社、旅館・観光・キャンプ関連事業者、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　　　　　　　　ブランド飲食を手掛ける投資会社、独立志望の職人（個人）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■Batonzの利用：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/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sng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4. スケジュール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/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■意向表明書提出期限：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■入札結果通知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■DD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■最終契約締結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■不動産の手当て：店舗建物の表題・保存登記、店舗2階の明渡し、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　　　　　　　　塩町館の権利関係の整理をSPA締結までに完了させる。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■クロージング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_2026">
  <a:themeElements>
    <a:clrScheme name="M&amp;A">
      <a:dk1>
        <a:srgbClr val="000000"/>
      </a:dk1>
      <a:lt1>
        <a:srgbClr val="FFFFFF"/>
      </a:lt1>
      <a:dk2>
        <a:srgbClr val="0B3041"/>
      </a:dk2>
      <a:lt2>
        <a:srgbClr val="E3E7E9"/>
      </a:lt2>
      <a:accent1>
        <a:srgbClr val="727F88"/>
      </a:accent1>
      <a:accent2>
        <a:srgbClr val="E1F3FB"/>
      </a:accent2>
      <a:accent3>
        <a:srgbClr val="54CCB3"/>
      </a:accent3>
      <a:accent4>
        <a:srgbClr val="0889C9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游ゴシック&amp;Arial">
      <a:majorFont>
        <a:latin typeface="Arial"/>
        <a:ea typeface="游ゴシック"/>
        <a:cs typeface=""/>
      </a:majorFont>
      <a:minorFont>
        <a:latin typeface="Arial"/>
        <a:ea typeface="游ゴシック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12616</TotalTime>
  <Words>595</Words>
  <Application>Microsoft Office PowerPoint</Application>
  <PresentationFormat>ユーザー設定</PresentationFormat>
  <Paragraphs>66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游ゴシック</vt:lpstr>
      <vt:lpstr>Arial</vt:lpstr>
      <vt:lpstr>SL_2026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宮本 健</dc:creator>
  <cp:lastModifiedBy>田垣内 啓介</cp:lastModifiedBy>
  <cp:revision>178</cp:revision>
  <cp:lastPrinted>2026-07-13T08:04:05Z</cp:lastPrinted>
  <dcterms:created xsi:type="dcterms:W3CDTF">2022-11-09T11:25:01Z</dcterms:created>
  <dcterms:modified xsi:type="dcterms:W3CDTF">2026-08-04T14:04:22Z</dcterms:modified>
</cp:coreProperties>
</file>