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7.svg" ContentType="image/svg+xml"/>
  <Override PartName="/ppt/media/image9.svg" ContentType="image/svg+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trictFirstAndLastChars="0" saveSubsetFonts="1" autoCompressPictures="0">
  <p:sldMasterIdLst>
    <p:sldMasterId id="2147483653" r:id="rId1"/>
  </p:sldMasterIdLst>
  <p:notesMasterIdLst>
    <p:notesMasterId r:id="rId38"/>
  </p:notesMasterIdLst>
  <p:sldIdLst>
    <p:sldId id="770" r:id="rId2"/>
    <p:sldId id="269" r:id="rId3"/>
    <p:sldId id="693" r:id="rId4"/>
    <p:sldId id="749" r:id="rId5"/>
    <p:sldId id="748" r:id="rId6"/>
    <p:sldId id="774" r:id="rId7"/>
    <p:sldId id="775" r:id="rId8"/>
    <p:sldId id="266" r:id="rId9"/>
    <p:sldId id="772" r:id="rId10"/>
    <p:sldId id="776" r:id="rId11"/>
    <p:sldId id="798" r:id="rId12"/>
    <p:sldId id="796" r:id="rId13"/>
    <p:sldId id="807" r:id="rId20"/>
    <p:sldId id="792" r:id="rId14"/>
    <p:sldId id="806" r:id="rId33"/>
    <p:sldId id="779" r:id="rId15"/>
    <p:sldId id="797" r:id="rId16"/>
    <p:sldId id="802" r:id="rId41"/>
    <p:sldId id="803" r:id="rId40"/>
    <p:sldId id="771" r:id="rId17"/>
    <p:sldId id="780" r:id="rId18"/>
    <p:sldId id="789" r:id="rId19"/>
    <p:sldId id="790" r:id="rId21"/>
    <p:sldId id="793" r:id="rId22"/>
    <p:sldId id="791" r:id="rId23"/>
    <p:sldId id="795" r:id="rId24"/>
    <p:sldId id="805" r:id="rId34"/>
    <p:sldId id="773" r:id="rId25"/>
    <p:sldId id="784" r:id="rId26"/>
    <p:sldId id="785" r:id="rId27"/>
    <p:sldId id="786" r:id="rId28"/>
    <p:sldId id="787" r:id="rId29"/>
    <p:sldId id="782" r:id="rId30"/>
    <p:sldId id="783" r:id="rId31"/>
    <p:sldId id="794" r:id="rId32"/>
    <p:sldId id="804" r:id="rId39"/>
    <p:sldId id="788" r:id="rId35"/>
    <p:sldId id="801" r:id="rId36"/>
    <p:sldId id="277" r:id="rId37"/>
  </p:sldIdLst>
  <p:sldSz cx="10691813" cy="7559675"/>
  <p:notesSz cx="9939338" cy="14368463"/>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既定のセクション" id="{F15EE332-85E8-464E-BD9B-6722D42356EC}">
          <p14:sldIdLst>
            <p14:sldId id="770"/>
            <p14:sldId id="269"/>
            <p14:sldId id="693"/>
            <p14:sldId id="749"/>
            <p14:sldId id="748"/>
            <p14:sldId id="774"/>
            <p14:sldId id="775"/>
            <p14:sldId id="266"/>
            <p14:sldId id="772"/>
            <p14:sldId id="776"/>
            <p14:sldId id="798"/>
            <p14:sldId id="796"/>
            <p14:sldId id="792"/>
            <p14:sldId id="779"/>
            <p14:sldId id="797"/>
            <p14:sldId id="771"/>
            <p14:sldId id="780"/>
            <p14:sldId id="789"/>
            <p14:sldId id="781"/>
            <p14:sldId id="790"/>
            <p14:sldId id="793"/>
            <p14:sldId id="791"/>
            <p14:sldId id="795"/>
            <p14:sldId id="773"/>
            <p14:sldId id="784"/>
            <p14:sldId id="785"/>
            <p14:sldId id="786"/>
            <p14:sldId id="787"/>
            <p14:sldId id="782"/>
            <p14:sldId id="783"/>
            <p14:sldId id="794"/>
            <p14:sldId id="799"/>
            <p14:sldId id="800"/>
            <p14:sldId id="788"/>
            <p14:sldId id="801"/>
            <p14:sldId id="277"/>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4526" userDrawn="1">
          <p15:clr>
            <a:srgbClr val="A4A3A4"/>
          </p15:clr>
        </p15:guide>
        <p15:guide id="2" pos="3131" userDrawn="1">
          <p15:clr>
            <a:srgbClr val="A4A3A4"/>
          </p15:clr>
        </p15:guide>
      </p15:notes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2" roundtripDataSignature="AMtx7miHo5eoGHrZPWeT5AyeZZ6LkEE/Y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889C9"/>
    <a:srgbClr val="006AB1"/>
    <a:srgbClr val="0B3041"/>
    <a:srgbClr val="54CCB3"/>
    <a:srgbClr val="E1F2FB"/>
    <a:srgbClr val="E3E7E9"/>
    <a:srgbClr val="727F8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E9FEF8D-0F9E-4D7E-9A0F-5DDE6A6739AB}">
  <a:tblStyle styleId="{2E9FEF8D-0F9E-4D7E-9A0F-5DDE6A6739AB}" styleName="Table_0">
    <a:wholeTbl>
      <a:tcTxStyle b="off" i="off">
        <a:font>
          <a:latin typeface="游ゴシック"/>
          <a:ea typeface="游ゴシック"/>
          <a:cs typeface="游ゴシック"/>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9EFF7"/>
          </a:solidFill>
        </a:fill>
      </a:tcStyle>
    </a:wholeTbl>
    <a:band1H>
      <a:tcTxStyle/>
      <a:tcStyle>
        <a:tcBdr/>
        <a:fill>
          <a:solidFill>
            <a:srgbClr val="D0DEEF"/>
          </a:solidFill>
        </a:fill>
      </a:tcStyle>
    </a:band1H>
    <a:band2H>
      <a:tcTxStyle/>
      <a:tcStyle>
        <a:tcBdr/>
      </a:tcStyle>
    </a:band2H>
    <a:band1V>
      <a:tcTxStyle/>
      <a:tcStyle>
        <a:tcBdr/>
        <a:fill>
          <a:solidFill>
            <a:srgbClr val="D0DEEF"/>
          </a:solidFill>
        </a:fill>
      </a:tcStyle>
    </a:band1V>
    <a:band2V>
      <a:tcTxStyle/>
      <a:tcStyle>
        <a:tcBdr/>
      </a:tcStyle>
    </a:band2V>
    <a:lastCol>
      <a:tcTxStyle b="on" i="off">
        <a:font>
          <a:latin typeface="游ゴシック"/>
          <a:ea typeface="游ゴシック"/>
          <a:cs typeface="游ゴシック"/>
        </a:font>
        <a:schemeClr val="lt1"/>
      </a:tcTxStyle>
      <a:tcStyle>
        <a:tcBdr/>
        <a:fill>
          <a:solidFill>
            <a:schemeClr val="accent5"/>
          </a:solidFill>
        </a:fill>
      </a:tcStyle>
    </a:lastCol>
    <a:firstCol>
      <a:tcTxStyle b="on" i="off">
        <a:font>
          <a:latin typeface="游ゴシック"/>
          <a:ea typeface="游ゴシック"/>
          <a:cs typeface="游ゴシック"/>
        </a:font>
        <a:schemeClr val="lt1"/>
      </a:tcTxStyle>
      <a:tcStyle>
        <a:tcBdr/>
        <a:fill>
          <a:solidFill>
            <a:schemeClr val="accent5"/>
          </a:solidFill>
        </a:fill>
      </a:tcStyle>
    </a:firstCol>
    <a:lastRow>
      <a:tcTxStyle b="on" i="off">
        <a:font>
          <a:latin typeface="游ゴシック"/>
          <a:ea typeface="游ゴシック"/>
          <a:cs typeface="游ゴシック"/>
        </a:font>
        <a:schemeClr val="lt1"/>
      </a:tcTxStyle>
      <a:tcStyle>
        <a:tcBdr>
          <a:top>
            <a:ln w="38100" cap="flat" cmpd="sng">
              <a:solidFill>
                <a:schemeClr val="lt1"/>
              </a:solidFill>
              <a:prstDash val="solid"/>
              <a:round/>
              <a:headEnd type="none" w="sm" len="sm"/>
              <a:tailEnd type="none" w="sm" len="sm"/>
            </a:ln>
          </a:top>
        </a:tcBdr>
        <a:fill>
          <a:solidFill>
            <a:schemeClr val="accent5"/>
          </a:solidFill>
        </a:fill>
      </a:tcStyle>
    </a:lastRow>
    <a:seCell>
      <a:tcTxStyle/>
      <a:tcStyle>
        <a:tcBdr/>
      </a:tcStyle>
    </a:seCell>
    <a:swCell>
      <a:tcTxStyle/>
      <a:tcStyle>
        <a:tcBdr/>
      </a:tcStyle>
    </a:swCell>
    <a:firstRow>
      <a:tcTxStyle b="on" i="off">
        <a:font>
          <a:latin typeface="游ゴシック"/>
          <a:ea typeface="游ゴシック"/>
          <a:cs typeface="游ゴシック"/>
        </a:font>
        <a:schemeClr val="lt1"/>
      </a:tcTxStyle>
      <a:tcStyle>
        <a:tcBdr>
          <a:bottom>
            <a:ln w="38100" cap="flat" cmpd="sng">
              <a:solidFill>
                <a:schemeClr val="lt1"/>
              </a:solidFill>
              <a:prstDash val="solid"/>
              <a:round/>
              <a:headEnd type="none" w="sm" len="sm"/>
              <a:tailEnd type="none" w="sm" len="sm"/>
            </a:ln>
          </a:bottom>
        </a:tcBdr>
        <a:fill>
          <a:solidFill>
            <a:schemeClr val="accent5"/>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4660"/>
  </p:normalViewPr>
  <p:slideViewPr>
    <p:cSldViewPr snapToGrid="0">
      <p:cViewPr varScale="1">
        <p:scale>
          <a:sx n="87" d="100"/>
          <a:sy n="87" d="100"/>
        </p:scale>
        <p:origin x="907" y="58"/>
      </p:cViewPr>
      <p:guideLst/>
    </p:cSldViewPr>
  </p:slid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00" d="100"/>
          <a:sy n="100" d="100"/>
        </p:scale>
        <p:origin x="0" y="0"/>
      </p:cViewPr>
      <p:guideLst>
        <p:guide orient="horz" pos="4526"/>
        <p:guide pos="3131"/>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40.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7.xml"/><Relationship Id="rId34" Type="http://schemas.openxmlformats.org/officeDocument/2006/relationships/slide" Target="slides/slide38.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slide" Target="slides/slide33.xml"/><Relationship Id="rId40" Type="http://schemas.openxmlformats.org/officeDocument/2006/relationships/slide" Target="slides/slide32.xml"/><Relationship Id="rId41" Type="http://schemas.openxmlformats.org/officeDocument/2006/relationships/slide" Target="slides/slide19.xml"/><Relationship Id="rId42" Type="http://customschemas.google.com/relationships/presentationmetadata" Target="metadata"/><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5" y="4"/>
            <a:ext cx="4306676" cy="719872"/>
          </a:xfrm>
          <a:prstGeom prst="rect">
            <a:avLst/>
          </a:prstGeom>
          <a:noFill/>
          <a:ln>
            <a:noFill/>
          </a:ln>
        </p:spPr>
        <p:txBody>
          <a:bodyPr spcFirstLastPara="1" wrap="square" lIns="128134" tIns="64050" rIns="128134" bIns="64050" anchor="t" anchorCtr="0">
            <a:noAutofit/>
          </a:bodyPr>
          <a:lstStyle>
            <a:lvl1pPr marR="0" lvl="0" algn="l"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5630444" y="4"/>
            <a:ext cx="4306675" cy="719872"/>
          </a:xfrm>
          <a:prstGeom prst="rect">
            <a:avLst/>
          </a:prstGeom>
          <a:noFill/>
          <a:ln>
            <a:noFill/>
          </a:ln>
        </p:spPr>
        <p:txBody>
          <a:bodyPr spcFirstLastPara="1" wrap="square" lIns="128134" tIns="64050" rIns="128134" bIns="64050" anchor="t" anchorCtr="0">
            <a:noAutofit/>
          </a:bodyPr>
          <a:lstStyle>
            <a:lvl1pPr marR="0" lvl="0" algn="r"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1543050" y="1797050"/>
            <a:ext cx="6856413" cy="4849813"/>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995044" y="6915677"/>
            <a:ext cx="7951470" cy="5656454"/>
          </a:xfrm>
          <a:prstGeom prst="rect">
            <a:avLst/>
          </a:prstGeom>
          <a:noFill/>
          <a:ln>
            <a:noFill/>
          </a:ln>
        </p:spPr>
        <p:txBody>
          <a:bodyPr spcFirstLastPara="1" wrap="square" lIns="128134" tIns="64050" rIns="128134" bIns="6405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5" y="13648596"/>
            <a:ext cx="4306676" cy="719872"/>
          </a:xfrm>
          <a:prstGeom prst="rect">
            <a:avLst/>
          </a:prstGeom>
          <a:noFill/>
          <a:ln>
            <a:noFill/>
          </a:ln>
        </p:spPr>
        <p:txBody>
          <a:bodyPr spcFirstLastPara="1" wrap="square" lIns="128134" tIns="64050" rIns="128134" bIns="64050" anchor="b" anchorCtr="0">
            <a:noAutofit/>
          </a:bodyPr>
          <a:lstStyle>
            <a:lvl1pPr marR="0" lvl="0" algn="l"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5630444" y="13648596"/>
            <a:ext cx="4306675" cy="719872"/>
          </a:xfrm>
          <a:prstGeom prst="rect">
            <a:avLst/>
          </a:prstGeom>
          <a:noFill/>
          <a:ln>
            <a:noFill/>
          </a:ln>
        </p:spPr>
        <p:txBody>
          <a:bodyPr spcFirstLastPara="1" wrap="square" lIns="128134" tIns="64050" rIns="128134" bIns="64050" anchor="b" anchorCtr="0">
            <a:noAutofit/>
          </a:bodyPr>
          <a:lstStyle/>
          <a:p>
            <a:pPr algn="r"/>
            <a:fld id="{00000000-1234-1234-1234-123412341234}" type="slidenum">
              <a:rPr lang="en-US" altLang="ja-JP" sz="1700" smtClean="0">
                <a:solidFill>
                  <a:schemeClr val="dk1"/>
                </a:solidFill>
              </a:rPr>
              <a:pPr algn="r"/>
              <a:t>‹#›</a:t>
            </a:fld>
            <a:endParaRPr lang="en-US" sz="1700">
              <a:solidFill>
                <a:schemeClr val="dk1"/>
              </a:solidFil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72A68-D8F2-B22E-7BFA-83527B74627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8067325-FBD2-0A2C-AAB1-F7B579EB568F}"/>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7CC41CC2-90D7-5CB1-F482-54299D366ABB}"/>
              </a:ext>
            </a:extLst>
          </p:cNvPr>
          <p:cNvSpPr>
            <a:spLocks noGrp="1"/>
          </p:cNvSpPr>
          <p:nvPr>
            <p:ph type="body" idx="1"/>
          </p:nvPr>
        </p:nvSpPr>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6D654142-6A85-EA5B-5409-B0B81E07C5DC}"/>
              </a:ext>
            </a:extLst>
          </p:cNvPr>
          <p:cNvSpPr>
            <a:spLocks noGrp="1"/>
          </p:cNvSpPr>
          <p:nvPr>
            <p:ph type="sldNum" sz="quarter" idx="5"/>
          </p:nvPr>
        </p:nvSpPr>
        <p:spPr/>
        <p:txBody>
          <a:bodyPr/>
          <a:lstStyle/>
          <a:p>
            <a:fld id="{30FF3BCC-1A43-4D25-8467-E40EF431E2F1}" type="slidenum">
              <a:rPr kumimoji="1" lang="ja-JP" altLang="en-US" smtClean="0"/>
              <a:t>0</a:t>
            </a:fld>
            <a:endParaRPr kumimoji="1" lang="ja-JP" altLang="en-US"/>
          </a:p>
        </p:txBody>
      </p:sp>
    </p:spTree>
    <p:extLst>
      <p:ext uri="{BB962C8B-B14F-4D97-AF65-F5344CB8AC3E}">
        <p14:creationId xmlns:p14="http://schemas.microsoft.com/office/powerpoint/2010/main" val="23596415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a:t>
            </a:fld>
            <a:endParaRPr kumimoji="1" lang="ja-JP" altLang="en-US"/>
          </a:p>
        </p:txBody>
      </p:sp>
    </p:spTree>
    <p:extLst>
      <p:ext uri="{BB962C8B-B14F-4D97-AF65-F5344CB8AC3E}">
        <p14:creationId xmlns:p14="http://schemas.microsoft.com/office/powerpoint/2010/main" val="36371673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2:notes"/>
          <p:cNvSpPr>
            <a:spLocks noGrp="1" noRot="1" noChangeAspect="1"/>
          </p:cNvSpPr>
          <p:nvPr>
            <p:ph type="sldImg" idx="2"/>
          </p:nvPr>
        </p:nvSpPr>
        <p:spPr>
          <a:xfrm>
            <a:off x="1038225" y="1244600"/>
            <a:ext cx="4745038" cy="33559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6" name="Google Shape;256;p2:notes"/>
          <p:cNvSpPr txBox="1">
            <a:spLocks noGrp="1"/>
          </p:cNvSpPr>
          <p:nvPr>
            <p:ph type="body" idx="1"/>
          </p:nvPr>
        </p:nvSpPr>
        <p:spPr>
          <a:xfrm>
            <a:off x="682755" y="4787722"/>
            <a:ext cx="5455939" cy="3915961"/>
          </a:xfrm>
          <a:prstGeom prst="rect">
            <a:avLst/>
          </a:prstGeom>
          <a:noFill/>
          <a:ln>
            <a:noFill/>
          </a:ln>
        </p:spPr>
        <p:txBody>
          <a:bodyPr spcFirstLastPara="1" wrap="square" lIns="88335" tIns="44169" rIns="88335" bIns="44169" anchor="t" anchorCtr="0">
            <a:noAutofit/>
          </a:bodyPr>
          <a:lstStyle/>
          <a:p>
            <a:endParaRPr dirty="0"/>
          </a:p>
        </p:txBody>
      </p:sp>
      <p:sp>
        <p:nvSpPr>
          <p:cNvPr id="257" name="Google Shape;257;p2:notes"/>
          <p:cNvSpPr txBox="1">
            <a:spLocks noGrp="1"/>
          </p:cNvSpPr>
          <p:nvPr>
            <p:ph type="sldNum" idx="12"/>
          </p:nvPr>
        </p:nvSpPr>
        <p:spPr>
          <a:xfrm>
            <a:off x="3863353" y="9448918"/>
            <a:ext cx="2955046" cy="498368"/>
          </a:xfrm>
          <a:prstGeom prst="rect">
            <a:avLst/>
          </a:prstGeom>
          <a:noFill/>
          <a:ln>
            <a:noFill/>
          </a:ln>
        </p:spPr>
        <p:txBody>
          <a:bodyPr spcFirstLastPara="1" wrap="square" lIns="88335" tIns="44169" rIns="88335" bIns="44169" anchor="b" anchorCtr="0">
            <a:noAutofit/>
          </a:bodyPr>
          <a:lstStyle/>
          <a:p>
            <a:pPr algn="r"/>
            <a:fld id="{00000000-1234-1234-1234-123412341234}" type="slidenum">
              <a:rPr lang="en-US" altLang="ja-JP"/>
              <a:pPr algn="r"/>
              <a:t>2</a:t>
            </a:fld>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33463" y="1243013"/>
            <a:ext cx="4740275" cy="3352800"/>
          </a:xfrm>
        </p:spPr>
      </p:sp>
      <p:sp>
        <p:nvSpPr>
          <p:cNvPr id="3" name="ノート プレースホルダー 2"/>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p:cNvSpPr>
            <a:spLocks noGrp="1"/>
          </p:cNvSpPr>
          <p:nvPr>
            <p:ph type="sldNum" sz="quarter" idx="5"/>
          </p:nvPr>
        </p:nvSpPr>
        <p:spPr/>
        <p:txBody>
          <a:bodyPr/>
          <a:lstStyle/>
          <a:p>
            <a:fld id="{30FF3BCC-1A43-4D25-8467-E40EF431E2F1}" type="slidenum">
              <a:rPr kumimoji="1" lang="ja-JP" altLang="en-US" smtClean="0"/>
              <a:t>4</a:t>
            </a:fld>
            <a:endParaRPr kumimoji="1" lang="ja-JP" altLang="en-US"/>
          </a:p>
        </p:txBody>
      </p:sp>
    </p:spTree>
    <p:extLst>
      <p:ext uri="{BB962C8B-B14F-4D97-AF65-F5344CB8AC3E}">
        <p14:creationId xmlns:p14="http://schemas.microsoft.com/office/powerpoint/2010/main" val="38172004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D25C8-440A-2828-878D-418A0792F61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F7C3FEA-F9FD-B7DB-149F-6EC1DBA88260}"/>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3A5BB81D-E86C-9959-31EE-7B30A06B6D5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80211B70-4BC5-9F81-584A-69CFC82BF433}"/>
              </a:ext>
            </a:extLst>
          </p:cNvPr>
          <p:cNvSpPr>
            <a:spLocks noGrp="1"/>
          </p:cNvSpPr>
          <p:nvPr>
            <p:ph type="sldNum" sz="quarter" idx="5"/>
          </p:nvPr>
        </p:nvSpPr>
        <p:spPr/>
        <p:txBody>
          <a:bodyPr/>
          <a:lstStyle/>
          <a:p>
            <a:fld id="{30FF3BCC-1A43-4D25-8467-E40EF431E2F1}" type="slidenum">
              <a:rPr kumimoji="1" lang="ja-JP" altLang="en-US" smtClean="0"/>
              <a:t>5</a:t>
            </a:fld>
            <a:endParaRPr kumimoji="1" lang="ja-JP" altLang="en-US"/>
          </a:p>
        </p:txBody>
      </p:sp>
    </p:spTree>
    <p:extLst>
      <p:ext uri="{BB962C8B-B14F-4D97-AF65-F5344CB8AC3E}">
        <p14:creationId xmlns:p14="http://schemas.microsoft.com/office/powerpoint/2010/main" val="7747491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ED554-B8EF-4A9F-7D23-DA7BEB53934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71CEDC1-16A4-E7E3-6D33-36595C1E076B}"/>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07542380-129E-8965-7EF1-2B0D19ED3CF4}"/>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C20D6D73-0F3C-EDF6-E562-BBF922D0AE83}"/>
              </a:ext>
            </a:extLst>
          </p:cNvPr>
          <p:cNvSpPr>
            <a:spLocks noGrp="1"/>
          </p:cNvSpPr>
          <p:nvPr>
            <p:ph type="sldNum" sz="quarter" idx="5"/>
          </p:nvPr>
        </p:nvSpPr>
        <p:spPr/>
        <p:txBody>
          <a:bodyPr/>
          <a:lstStyle/>
          <a:p>
            <a:fld id="{30FF3BCC-1A43-4D25-8467-E40EF431E2F1}" type="slidenum">
              <a:rPr kumimoji="1" lang="ja-JP" altLang="en-US" smtClean="0"/>
              <a:t>6</a:t>
            </a:fld>
            <a:endParaRPr kumimoji="1" lang="ja-JP" altLang="en-US"/>
          </a:p>
        </p:txBody>
      </p:sp>
    </p:spTree>
    <p:extLst>
      <p:ext uri="{BB962C8B-B14F-4D97-AF65-F5344CB8AC3E}">
        <p14:creationId xmlns:p14="http://schemas.microsoft.com/office/powerpoint/2010/main" val="1899608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p11:notes"/>
          <p:cNvSpPr>
            <a:spLocks noGrp="1" noRot="1" noChangeAspect="1"/>
          </p:cNvSpPr>
          <p:nvPr>
            <p:ph type="sldImg" idx="2"/>
          </p:nvPr>
        </p:nvSpPr>
        <p:spPr>
          <a:xfrm>
            <a:off x="1543050" y="1797050"/>
            <a:ext cx="6856413" cy="4849813"/>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7" name="Google Shape;267;p11:notes"/>
          <p:cNvSpPr txBox="1">
            <a:spLocks noGrp="1"/>
          </p:cNvSpPr>
          <p:nvPr>
            <p:ph type="body" idx="1"/>
          </p:nvPr>
        </p:nvSpPr>
        <p:spPr>
          <a:xfrm>
            <a:off x="995044" y="6915677"/>
            <a:ext cx="7951470" cy="5656454"/>
          </a:xfrm>
          <a:prstGeom prst="rect">
            <a:avLst/>
          </a:prstGeom>
          <a:noFill/>
          <a:ln>
            <a:noFill/>
          </a:ln>
        </p:spPr>
        <p:txBody>
          <a:bodyPr spcFirstLastPara="1" wrap="square" lIns="128134" tIns="64050" rIns="128134" bIns="64050" anchor="t" anchorCtr="0">
            <a:noAutofit/>
          </a:bodyPr>
          <a:lstStyle/>
          <a:p>
            <a:pPr marL="0" indent="0"/>
            <a:endParaRPr/>
          </a:p>
        </p:txBody>
      </p:sp>
      <p:sp>
        <p:nvSpPr>
          <p:cNvPr id="268" name="Google Shape;268;p11:notes"/>
          <p:cNvSpPr txBox="1">
            <a:spLocks noGrp="1"/>
          </p:cNvSpPr>
          <p:nvPr>
            <p:ph type="sldNum" idx="12"/>
          </p:nvPr>
        </p:nvSpPr>
        <p:spPr>
          <a:xfrm>
            <a:off x="5630444" y="13648596"/>
            <a:ext cx="4306675" cy="719872"/>
          </a:xfrm>
          <a:prstGeom prst="rect">
            <a:avLst/>
          </a:prstGeom>
          <a:noFill/>
          <a:ln>
            <a:noFill/>
          </a:ln>
        </p:spPr>
        <p:txBody>
          <a:bodyPr spcFirstLastPara="1" wrap="square" lIns="128134" tIns="64050" rIns="128134" bIns="64050" anchor="b" anchorCtr="0">
            <a:noAutofit/>
          </a:bodyPr>
          <a:lstStyle/>
          <a:p>
            <a:pPr algn="r"/>
            <a:fld id="{00000000-1234-1234-1234-123412341234}" type="slidenum">
              <a:rPr lang="en-US" altLang="ja-JP"/>
              <a:pPr algn="r"/>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255F2-72AB-FF31-01FE-A6493B0F509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381C757-4FDD-ACE7-CF68-5819651248C1}"/>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C5EE625D-8D2D-C468-280D-551D9E317BF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0DF0B3B1-489B-7B8F-FCE9-8191D341F15C}"/>
              </a:ext>
            </a:extLst>
          </p:cNvPr>
          <p:cNvSpPr>
            <a:spLocks noGrp="1"/>
          </p:cNvSpPr>
          <p:nvPr>
            <p:ph type="sldNum" sz="quarter" idx="5"/>
          </p:nvPr>
        </p:nvSpPr>
        <p:spPr/>
        <p:txBody>
          <a:bodyPr/>
          <a:lstStyle/>
          <a:p>
            <a:fld id="{CAF5A409-FE33-4202-B69D-8515A6FDCE7E}" type="slidenum">
              <a:rPr kumimoji="1" lang="ja-JP" altLang="en-US" smtClean="0"/>
              <a:t>9</a:t>
            </a:fld>
            <a:endParaRPr kumimoji="1" lang="ja-JP" altLang="en-US"/>
          </a:p>
        </p:txBody>
      </p:sp>
    </p:spTree>
    <p:extLst>
      <p:ext uri="{BB962C8B-B14F-4D97-AF65-F5344CB8AC3E}">
        <p14:creationId xmlns:p14="http://schemas.microsoft.com/office/powerpoint/2010/main" val="1806618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F2053-256C-05EB-FF6B-3E836DA88FD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EBE281C-3A22-F726-BA35-A4756E55EBE3}"/>
              </a:ext>
            </a:extLst>
          </p:cNvPr>
          <p:cNvSpPr>
            <a:spLocks noGrp="1" noRot="1" noChangeAspect="1"/>
          </p:cNvSpPr>
          <p:nvPr>
            <p:ph type="sldImg"/>
          </p:nvPr>
        </p:nvSpPr>
        <p:spPr>
          <a:xfrm>
            <a:off x="1247775" y="1143000"/>
            <a:ext cx="4362450" cy="3086100"/>
          </a:xfrm>
        </p:spPr>
      </p:sp>
      <p:sp>
        <p:nvSpPr>
          <p:cNvPr id="3" name="ノート プレースホルダー 2">
            <a:extLst>
              <a:ext uri="{FF2B5EF4-FFF2-40B4-BE49-F238E27FC236}">
                <a16:creationId xmlns:a16="http://schemas.microsoft.com/office/drawing/2014/main" id="{DB7B9342-8F57-66B0-B807-2488575A5459}"/>
              </a:ext>
            </a:extLst>
          </p:cNvPr>
          <p:cNvSpPr>
            <a:spLocks noGrp="1"/>
          </p:cNvSpPr>
          <p:nvPr>
            <p:ph type="body" idx="1"/>
          </p:nvPr>
        </p:nvSpPr>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00245A20-27B3-F697-2291-87BE1C3A1772}"/>
              </a:ext>
            </a:extLst>
          </p:cNvPr>
          <p:cNvSpPr>
            <a:spLocks noGrp="1"/>
          </p:cNvSpPr>
          <p:nvPr>
            <p:ph type="sldNum" sz="quarter" idx="5"/>
          </p:nvPr>
        </p:nvSpPr>
        <p:spPr/>
        <p:txBody>
          <a:bodyPr/>
          <a:lstStyle/>
          <a:p>
            <a:fld id="{CCD08276-B047-45AB-869B-6FEE4FD0AA7E}" type="slidenum">
              <a:rPr kumimoji="1" lang="ja-JP" altLang="en-US" smtClean="0"/>
              <a:t>10</a:t>
            </a:fld>
            <a:endParaRPr kumimoji="1" lang="ja-JP" altLang="en-US"/>
          </a:p>
        </p:txBody>
      </p:sp>
    </p:spTree>
    <p:extLst>
      <p:ext uri="{BB962C8B-B14F-4D97-AF65-F5344CB8AC3E}">
        <p14:creationId xmlns:p14="http://schemas.microsoft.com/office/powerpoint/2010/main" val="41460065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11</a:t>
            </a:fld>
            <a:endParaRPr kumimoji="1" lang="ja-JP" altLang="en-US"/>
          </a:p>
        </p:txBody>
      </p:sp>
    </p:spTree>
    <p:extLst>
      <p:ext uri="{BB962C8B-B14F-4D97-AF65-F5344CB8AC3E}">
        <p14:creationId xmlns:p14="http://schemas.microsoft.com/office/powerpoint/2010/main" val="37467525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C040D-60A3-F058-65D5-629296F9C77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DF3EA90-DD81-CBB9-EF73-27816BB83DE7}"/>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B54EE8A0-BFED-396D-4CAA-82A6D5708D43}"/>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1534188-0443-756D-A5E2-5F3AA4D2F28B}"/>
              </a:ext>
            </a:extLst>
          </p:cNvPr>
          <p:cNvSpPr>
            <a:spLocks noGrp="1"/>
          </p:cNvSpPr>
          <p:nvPr>
            <p:ph type="sldNum" sz="quarter" idx="5"/>
          </p:nvPr>
        </p:nvSpPr>
        <p:spPr/>
        <p:txBody>
          <a:bodyPr/>
          <a:lstStyle/>
          <a:p>
            <a:fld id="{30FF3BCC-1A43-4D25-8467-E40EF431E2F1}" type="slidenum">
              <a:rPr kumimoji="1" lang="ja-JP" altLang="en-US" smtClean="0"/>
              <a:t>12</a:t>
            </a:fld>
            <a:endParaRPr kumimoji="1" lang="ja-JP" altLang="en-US"/>
          </a:p>
        </p:txBody>
      </p:sp>
    </p:spTree>
    <p:extLst>
      <p:ext uri="{BB962C8B-B14F-4D97-AF65-F5344CB8AC3E}">
        <p14:creationId xmlns:p14="http://schemas.microsoft.com/office/powerpoint/2010/main" val="19973134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9CA458-621A-F6CD-BCBF-9D132A609BE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5834A7-AD91-AB56-B63B-5F4E423CE6AE}"/>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642B7059-7F90-A560-40B9-33E684841ABF}"/>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291A80AB-D339-06B2-3E95-24ED9AB082F7}"/>
              </a:ext>
            </a:extLst>
          </p:cNvPr>
          <p:cNvSpPr>
            <a:spLocks noGrp="1"/>
          </p:cNvSpPr>
          <p:nvPr>
            <p:ph type="sldNum" sz="quarter" idx="5"/>
          </p:nvPr>
        </p:nvSpPr>
        <p:spPr/>
        <p:txBody>
          <a:bodyPr/>
          <a:lstStyle/>
          <a:p>
            <a:fld id="{30FF3BCC-1A43-4D25-8467-E40EF431E2F1}" type="slidenum">
              <a:rPr kumimoji="1" lang="ja-JP" altLang="en-US" smtClean="0"/>
              <a:t>13</a:t>
            </a:fld>
            <a:endParaRPr kumimoji="1" lang="ja-JP" altLang="en-US"/>
          </a:p>
        </p:txBody>
      </p:sp>
    </p:spTree>
    <p:extLst>
      <p:ext uri="{BB962C8B-B14F-4D97-AF65-F5344CB8AC3E}">
        <p14:creationId xmlns:p14="http://schemas.microsoft.com/office/powerpoint/2010/main" val="162688065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4A592E-568B-2BA5-2B19-12B81CE778D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7A7352E-A782-2B96-F549-A44B4533D5CB}"/>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EF54036B-FC89-BE57-BD1D-9528CDD969D8}"/>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71950A32-E8C7-5909-50B6-CF7BE228A3D0}"/>
              </a:ext>
            </a:extLst>
          </p:cNvPr>
          <p:cNvSpPr>
            <a:spLocks noGrp="1"/>
          </p:cNvSpPr>
          <p:nvPr>
            <p:ph type="sldNum" sz="quarter" idx="5"/>
          </p:nvPr>
        </p:nvSpPr>
        <p:spPr/>
        <p:txBody>
          <a:bodyPr/>
          <a:lstStyle/>
          <a:p>
            <a:fld id="{30FF3BCC-1A43-4D25-8467-E40EF431E2F1}" type="slidenum">
              <a:rPr kumimoji="1" lang="ja-JP" altLang="en-US" smtClean="0"/>
              <a:t>14</a:t>
            </a:fld>
            <a:endParaRPr kumimoji="1" lang="ja-JP" altLang="en-US"/>
          </a:p>
        </p:txBody>
      </p:sp>
    </p:spTree>
    <p:extLst>
      <p:ext uri="{BB962C8B-B14F-4D97-AF65-F5344CB8AC3E}">
        <p14:creationId xmlns:p14="http://schemas.microsoft.com/office/powerpoint/2010/main" val="16178411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60B1B-8967-EB16-F654-95E71A21670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6F3223C-6CB5-B48E-4B27-2931302D029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33B0F29-3AAB-5E14-B4D9-A017F82CA42C}"/>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E8F4B38-0355-E574-CF5F-76C145B0E13C}"/>
              </a:ext>
            </a:extLst>
          </p:cNvPr>
          <p:cNvSpPr>
            <a:spLocks noGrp="1"/>
          </p:cNvSpPr>
          <p:nvPr>
            <p:ph type="sldNum" sz="quarter" idx="5"/>
          </p:nvPr>
        </p:nvSpPr>
        <p:spPr/>
        <p:txBody>
          <a:bodyPr/>
          <a:lstStyle/>
          <a:p>
            <a:fld id="{30FF3BCC-1A43-4D25-8467-E40EF431E2F1}" type="slidenum">
              <a:rPr kumimoji="1" lang="ja-JP" altLang="en-US" smtClean="0"/>
              <a:t>16</a:t>
            </a:fld>
            <a:endParaRPr kumimoji="1" lang="ja-JP" altLang="en-US"/>
          </a:p>
        </p:txBody>
      </p:sp>
    </p:spTree>
    <p:extLst>
      <p:ext uri="{BB962C8B-B14F-4D97-AF65-F5344CB8AC3E}">
        <p14:creationId xmlns:p14="http://schemas.microsoft.com/office/powerpoint/2010/main" val="40946642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AFA8DC-3B5A-8CE0-C236-C6578FA6AB0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576820E-69EC-DFBB-76F4-BBF2BC15D6DB}"/>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041A58E-CABA-7A79-2BAA-194DDE6D065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A0865AC2-C5B9-11C1-D7AC-9B470F32EF53}"/>
              </a:ext>
            </a:extLst>
          </p:cNvPr>
          <p:cNvSpPr>
            <a:spLocks noGrp="1"/>
          </p:cNvSpPr>
          <p:nvPr>
            <p:ph type="sldNum" sz="quarter" idx="5"/>
          </p:nvPr>
        </p:nvSpPr>
        <p:spPr/>
        <p:txBody>
          <a:bodyPr/>
          <a:lstStyle/>
          <a:p>
            <a:fld id="{30FF3BCC-1A43-4D25-8467-E40EF431E2F1}" type="slidenum">
              <a:rPr kumimoji="1" lang="ja-JP" altLang="en-US" smtClean="0"/>
              <a:t>17</a:t>
            </a:fld>
            <a:endParaRPr kumimoji="1" lang="ja-JP" altLang="en-US"/>
          </a:p>
        </p:txBody>
      </p:sp>
    </p:spTree>
    <p:extLst>
      <p:ext uri="{BB962C8B-B14F-4D97-AF65-F5344CB8AC3E}">
        <p14:creationId xmlns:p14="http://schemas.microsoft.com/office/powerpoint/2010/main" val="20264455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0C7B85-83C3-9DDE-4335-158CC42969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57E6BA9-F36D-604F-3499-7C87D66ABC57}"/>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445EFA15-1CDA-B8D1-0BAC-253999A0B14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F28CD9B-652E-87FA-D240-FE835F6686E1}"/>
              </a:ext>
            </a:extLst>
          </p:cNvPr>
          <p:cNvSpPr>
            <a:spLocks noGrp="1"/>
          </p:cNvSpPr>
          <p:nvPr>
            <p:ph type="sldNum" sz="quarter" idx="5"/>
          </p:nvPr>
        </p:nvSpPr>
        <p:spPr/>
        <p:txBody>
          <a:bodyPr/>
          <a:lstStyle/>
          <a:p>
            <a:fld id="{30FF3BCC-1A43-4D25-8467-E40EF431E2F1}" type="slidenum">
              <a:rPr kumimoji="1" lang="ja-JP" altLang="en-US" smtClean="0"/>
              <a:t>19</a:t>
            </a:fld>
            <a:endParaRPr kumimoji="1" lang="ja-JP" altLang="en-US"/>
          </a:p>
        </p:txBody>
      </p:sp>
    </p:spTree>
    <p:extLst>
      <p:ext uri="{BB962C8B-B14F-4D97-AF65-F5344CB8AC3E}">
        <p14:creationId xmlns:p14="http://schemas.microsoft.com/office/powerpoint/2010/main" val="58492579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035142-7613-2F88-6DDF-0AA0B95CE30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9A89B74-D534-CC5D-3603-B157866C912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2C5E7B25-D992-5558-9CAA-3A2BB05B714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540B3A9-5359-D1DF-207E-4945C3794197}"/>
              </a:ext>
            </a:extLst>
          </p:cNvPr>
          <p:cNvSpPr>
            <a:spLocks noGrp="1"/>
          </p:cNvSpPr>
          <p:nvPr>
            <p:ph type="sldNum" sz="quarter" idx="5"/>
          </p:nvPr>
        </p:nvSpPr>
        <p:spPr/>
        <p:txBody>
          <a:bodyPr/>
          <a:lstStyle/>
          <a:p>
            <a:fld id="{30FF3BCC-1A43-4D25-8467-E40EF431E2F1}" type="slidenum">
              <a:rPr kumimoji="1" lang="ja-JP" altLang="en-US" smtClean="0"/>
              <a:t>20</a:t>
            </a:fld>
            <a:endParaRPr kumimoji="1" lang="ja-JP" altLang="en-US"/>
          </a:p>
        </p:txBody>
      </p:sp>
    </p:spTree>
    <p:extLst>
      <p:ext uri="{BB962C8B-B14F-4D97-AF65-F5344CB8AC3E}">
        <p14:creationId xmlns:p14="http://schemas.microsoft.com/office/powerpoint/2010/main" val="40718563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576726-F92E-C8AC-70BE-109958028C7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AB818D-78DD-0444-71FA-AF55300919C5}"/>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CC10619B-E5D8-2E73-006F-A5FD1904CBC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D8095705-0959-428A-F57F-B098A8BDB7DB}"/>
              </a:ext>
            </a:extLst>
          </p:cNvPr>
          <p:cNvSpPr>
            <a:spLocks noGrp="1"/>
          </p:cNvSpPr>
          <p:nvPr>
            <p:ph type="sldNum" sz="quarter" idx="5"/>
          </p:nvPr>
        </p:nvSpPr>
        <p:spPr/>
        <p:txBody>
          <a:bodyPr/>
          <a:lstStyle/>
          <a:p>
            <a:fld id="{30FF3BCC-1A43-4D25-8467-E40EF431E2F1}" type="slidenum">
              <a:rPr kumimoji="1" lang="ja-JP" altLang="en-US" smtClean="0"/>
              <a:t>21</a:t>
            </a:fld>
            <a:endParaRPr kumimoji="1" lang="ja-JP" altLang="en-US"/>
          </a:p>
        </p:txBody>
      </p:sp>
    </p:spTree>
    <p:extLst>
      <p:ext uri="{BB962C8B-B14F-4D97-AF65-F5344CB8AC3E}">
        <p14:creationId xmlns:p14="http://schemas.microsoft.com/office/powerpoint/2010/main" val="214913224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93F79-295E-F06B-7AB6-52A5A3EA393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26F7EE7-AB24-EA55-7ACE-47505BF35BAF}"/>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7BDE5B4E-F52E-8016-E763-B450F1D89C74}"/>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86271926-BBCD-B1D8-D398-CE016D9998E8}"/>
              </a:ext>
            </a:extLst>
          </p:cNvPr>
          <p:cNvSpPr>
            <a:spLocks noGrp="1"/>
          </p:cNvSpPr>
          <p:nvPr>
            <p:ph type="sldNum" sz="quarter" idx="5"/>
          </p:nvPr>
        </p:nvSpPr>
        <p:spPr/>
        <p:txBody>
          <a:bodyPr/>
          <a:lstStyle/>
          <a:p>
            <a:fld id="{30FF3BCC-1A43-4D25-8467-E40EF431E2F1}" type="slidenum">
              <a:rPr kumimoji="1" lang="ja-JP" altLang="en-US" smtClean="0"/>
              <a:t>22</a:t>
            </a:fld>
            <a:endParaRPr kumimoji="1" lang="ja-JP" altLang="en-US"/>
          </a:p>
        </p:txBody>
      </p:sp>
    </p:spTree>
    <p:extLst>
      <p:ext uri="{BB962C8B-B14F-4D97-AF65-F5344CB8AC3E}">
        <p14:creationId xmlns:p14="http://schemas.microsoft.com/office/powerpoint/2010/main" val="331735442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58BDAB-B0BC-D005-A2A7-951EBC89B4C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52DC877-776A-449C-A43E-AEB3CE94D630}"/>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030C70C-7CA3-B8C1-0D62-4A544C5F87B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6B92F43-F674-D334-F90F-5304787C5E7D}"/>
              </a:ext>
            </a:extLst>
          </p:cNvPr>
          <p:cNvSpPr>
            <a:spLocks noGrp="1"/>
          </p:cNvSpPr>
          <p:nvPr>
            <p:ph type="sldNum" sz="quarter" idx="5"/>
          </p:nvPr>
        </p:nvSpPr>
        <p:spPr/>
        <p:txBody>
          <a:bodyPr/>
          <a:lstStyle/>
          <a:p>
            <a:fld id="{30FF3BCC-1A43-4D25-8467-E40EF431E2F1}" type="slidenum">
              <a:rPr kumimoji="1" lang="ja-JP" altLang="en-US" smtClean="0"/>
              <a:t>24</a:t>
            </a:fld>
            <a:endParaRPr kumimoji="1" lang="ja-JP" altLang="en-US"/>
          </a:p>
        </p:txBody>
      </p:sp>
    </p:spTree>
    <p:extLst>
      <p:ext uri="{BB962C8B-B14F-4D97-AF65-F5344CB8AC3E}">
        <p14:creationId xmlns:p14="http://schemas.microsoft.com/office/powerpoint/2010/main" val="20659891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A4A82-F556-35B1-B856-FE508044492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EC3BDB4-265E-5E67-CFEA-208DBEE091A4}"/>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BF07348-0B3E-EDA2-CC24-8961BB8EE4D3}"/>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0395BC13-068C-8F1D-24E2-48104E91BC41}"/>
              </a:ext>
            </a:extLst>
          </p:cNvPr>
          <p:cNvSpPr>
            <a:spLocks noGrp="1"/>
          </p:cNvSpPr>
          <p:nvPr>
            <p:ph type="sldNum" sz="quarter" idx="5"/>
          </p:nvPr>
        </p:nvSpPr>
        <p:spPr/>
        <p:txBody>
          <a:bodyPr/>
          <a:lstStyle/>
          <a:p>
            <a:fld id="{30FF3BCC-1A43-4D25-8467-E40EF431E2F1}" type="slidenum">
              <a:rPr kumimoji="1" lang="ja-JP" altLang="en-US" smtClean="0"/>
              <a:t>25</a:t>
            </a:fld>
            <a:endParaRPr kumimoji="1" lang="ja-JP" altLang="en-US"/>
          </a:p>
        </p:txBody>
      </p:sp>
    </p:spTree>
    <p:extLst>
      <p:ext uri="{BB962C8B-B14F-4D97-AF65-F5344CB8AC3E}">
        <p14:creationId xmlns:p14="http://schemas.microsoft.com/office/powerpoint/2010/main" val="29457885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1B632E-8F33-5004-67F5-94EAE2F17F1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A5829DE-8CC9-F6D1-1CB3-0AAF08ECBE22}"/>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FA43D23F-F62E-70B9-7C4E-3904758C33DE}"/>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88AE4E59-2CAF-E95C-7A4D-AA069DEF9C97}"/>
              </a:ext>
            </a:extLst>
          </p:cNvPr>
          <p:cNvSpPr>
            <a:spLocks noGrp="1"/>
          </p:cNvSpPr>
          <p:nvPr>
            <p:ph type="sldNum" sz="quarter" idx="5"/>
          </p:nvPr>
        </p:nvSpPr>
        <p:spPr/>
        <p:txBody>
          <a:bodyPr/>
          <a:lstStyle/>
          <a:p>
            <a:fld id="{30FF3BCC-1A43-4D25-8467-E40EF431E2F1}" type="slidenum">
              <a:rPr kumimoji="1" lang="ja-JP" altLang="en-US" smtClean="0"/>
              <a:t>26</a:t>
            </a:fld>
            <a:endParaRPr kumimoji="1" lang="ja-JP" altLang="en-US"/>
          </a:p>
        </p:txBody>
      </p:sp>
    </p:spTree>
    <p:extLst>
      <p:ext uri="{BB962C8B-B14F-4D97-AF65-F5344CB8AC3E}">
        <p14:creationId xmlns:p14="http://schemas.microsoft.com/office/powerpoint/2010/main" val="217691810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2D6D02-57FD-62EB-BC56-6E300F505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138501E-F5AF-0224-79A6-DBE6F9F7E093}"/>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F0C518C7-436D-8B71-5734-02D19443C6B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4216A50-996C-4CF3-5119-58EFABB781F5}"/>
              </a:ext>
            </a:extLst>
          </p:cNvPr>
          <p:cNvSpPr>
            <a:spLocks noGrp="1"/>
          </p:cNvSpPr>
          <p:nvPr>
            <p:ph type="sldNum" sz="quarter" idx="5"/>
          </p:nvPr>
        </p:nvSpPr>
        <p:spPr/>
        <p:txBody>
          <a:bodyPr/>
          <a:lstStyle/>
          <a:p>
            <a:fld id="{30FF3BCC-1A43-4D25-8467-E40EF431E2F1}" type="slidenum">
              <a:rPr kumimoji="1" lang="ja-JP" altLang="en-US" smtClean="0"/>
              <a:t>27</a:t>
            </a:fld>
            <a:endParaRPr kumimoji="1" lang="ja-JP" altLang="en-US"/>
          </a:p>
        </p:txBody>
      </p:sp>
    </p:spTree>
    <p:extLst>
      <p:ext uri="{BB962C8B-B14F-4D97-AF65-F5344CB8AC3E}">
        <p14:creationId xmlns:p14="http://schemas.microsoft.com/office/powerpoint/2010/main" val="289853074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FF017-472F-0872-A57B-F89F02E4AE7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7AC265-7FBA-5DC7-99A1-03FC2F6AC04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47597C32-1DAD-46CB-92D2-4B18BA8A302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E3D7D21C-CA67-AD27-2D15-37084604B145}"/>
              </a:ext>
            </a:extLst>
          </p:cNvPr>
          <p:cNvSpPr>
            <a:spLocks noGrp="1"/>
          </p:cNvSpPr>
          <p:nvPr>
            <p:ph type="sldNum" sz="quarter" idx="5"/>
          </p:nvPr>
        </p:nvSpPr>
        <p:spPr/>
        <p:txBody>
          <a:bodyPr/>
          <a:lstStyle/>
          <a:p>
            <a:fld id="{30FF3BCC-1A43-4D25-8467-E40EF431E2F1}" type="slidenum">
              <a:rPr kumimoji="1" lang="ja-JP" altLang="en-US" smtClean="0"/>
              <a:t>29</a:t>
            </a:fld>
            <a:endParaRPr kumimoji="1" lang="ja-JP" altLang="en-US"/>
          </a:p>
        </p:txBody>
      </p:sp>
    </p:spTree>
    <p:extLst>
      <p:ext uri="{BB962C8B-B14F-4D97-AF65-F5344CB8AC3E}">
        <p14:creationId xmlns:p14="http://schemas.microsoft.com/office/powerpoint/2010/main" val="8899097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6276C-84CC-C215-DACE-F6ADF0BA4C5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5F6E4CA-435F-061C-18DC-1F4E9AF81BF2}"/>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360C6E64-2E0B-5929-5BC0-D5FAC2E44A2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DB9BCA0D-59ED-2244-A45B-B24BCA184C3C}"/>
              </a:ext>
            </a:extLst>
          </p:cNvPr>
          <p:cNvSpPr>
            <a:spLocks noGrp="1"/>
          </p:cNvSpPr>
          <p:nvPr>
            <p:ph type="sldNum" sz="quarter" idx="5"/>
          </p:nvPr>
        </p:nvSpPr>
        <p:spPr/>
        <p:txBody>
          <a:bodyPr/>
          <a:lstStyle/>
          <a:p>
            <a:fld id="{30FF3BCC-1A43-4D25-8467-E40EF431E2F1}" type="slidenum">
              <a:rPr kumimoji="1" lang="ja-JP" altLang="en-US" smtClean="0"/>
              <a:t>30</a:t>
            </a:fld>
            <a:endParaRPr kumimoji="1" lang="ja-JP" altLang="en-US"/>
          </a:p>
        </p:txBody>
      </p:sp>
    </p:spTree>
    <p:extLst>
      <p:ext uri="{BB962C8B-B14F-4D97-AF65-F5344CB8AC3E}">
        <p14:creationId xmlns:p14="http://schemas.microsoft.com/office/powerpoint/2010/main" val="6535653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08CDCC-4499-9CC9-1F39-99083A511C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93DCC5A-4CF0-CE33-9793-735FCC81AE4E}"/>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6E4A811-4C57-E7FA-999B-3B2346969CF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E5D9E0B5-62CD-B7FC-7619-BDD324DA7A35}"/>
              </a:ext>
            </a:extLst>
          </p:cNvPr>
          <p:cNvSpPr>
            <a:spLocks noGrp="1"/>
          </p:cNvSpPr>
          <p:nvPr>
            <p:ph type="sldNum" sz="quarter" idx="5"/>
          </p:nvPr>
        </p:nvSpPr>
        <p:spPr/>
        <p:txBody>
          <a:bodyPr/>
          <a:lstStyle/>
          <a:p>
            <a:fld id="{30FF3BCC-1A43-4D25-8467-E40EF431E2F1}" type="slidenum">
              <a:rPr kumimoji="1" lang="ja-JP" altLang="en-US" smtClean="0"/>
              <a:t>33</a:t>
            </a:fld>
            <a:endParaRPr kumimoji="1" lang="ja-JP" altLang="en-US"/>
          </a:p>
        </p:txBody>
      </p:sp>
    </p:spTree>
    <p:extLst>
      <p:ext uri="{BB962C8B-B14F-4D97-AF65-F5344CB8AC3E}">
        <p14:creationId xmlns:p14="http://schemas.microsoft.com/office/powerpoint/2010/main" val="216406258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33463" y="1243013"/>
            <a:ext cx="4740275" cy="3352800"/>
          </a:xfrm>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dirty="0"/>
          </a:p>
        </p:txBody>
      </p:sp>
      <p:sp>
        <p:nvSpPr>
          <p:cNvPr id="4" name="スライド番号プレースホルダー 3"/>
          <p:cNvSpPr>
            <a:spLocks noGrp="1"/>
          </p:cNvSpPr>
          <p:nvPr>
            <p:ph type="sldNum" sz="quarter" idx="5"/>
          </p:nvPr>
        </p:nvSpPr>
        <p:spPr/>
        <p:txBody>
          <a:bodyPr/>
          <a:lstStyle/>
          <a:p>
            <a:fld id="{CAF5A409-FE33-4202-B69D-8515A6FDCE7E}" type="slidenum">
              <a:rPr kumimoji="1" lang="ja-JP" altLang="en-US" smtClean="0"/>
              <a:t>34</a:t>
            </a:fld>
            <a:endParaRPr kumimoji="1" lang="ja-JP" altLang="en-US"/>
          </a:p>
        </p:txBody>
      </p:sp>
    </p:spTree>
    <p:extLst>
      <p:ext uri="{BB962C8B-B14F-4D97-AF65-F5344CB8AC3E}">
        <p14:creationId xmlns:p14="http://schemas.microsoft.com/office/powerpoint/2010/main" val="39096212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6.png"/><Relationship Id="rId4" Type="http://schemas.openxmlformats.org/officeDocument/2006/relationships/image" Target="../media/image7.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9974122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表紙">
    <p:spTree>
      <p:nvGrpSpPr>
        <p:cNvPr id="1" name=""/>
        <p:cNvGrpSpPr/>
        <p:nvPr/>
      </p:nvGrpSpPr>
      <p:grpSpPr>
        <a:xfrm>
          <a:off x="0" y="0"/>
          <a:ext cx="0" cy="0"/>
          <a:chOff x="0" y="0"/>
          <a:chExt cx="0" cy="0"/>
        </a:xfrm>
      </p:grpSpPr>
      <p:pic>
        <p:nvPicPr>
          <p:cNvPr id="3" name="図 2" descr="絵と文字の加工写真&#10;&#10;AI 生成コンテンツは誤りを含む可能性があります。">
            <a:extLst>
              <a:ext uri="{FF2B5EF4-FFF2-40B4-BE49-F238E27FC236}">
                <a16:creationId xmlns:a16="http://schemas.microsoft.com/office/drawing/2014/main" id="{995F6558-5E48-7ACD-5E2F-54EE4A6825B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6" name="タイトル 1">
            <a:extLst>
              <a:ext uri="{FF2B5EF4-FFF2-40B4-BE49-F238E27FC236}">
                <a16:creationId xmlns:a16="http://schemas.microsoft.com/office/drawing/2014/main" id="{7D824756-0531-3BBA-09FB-CC8ACB55A36C}"/>
              </a:ext>
            </a:extLst>
          </p:cNvPr>
          <p:cNvSpPr>
            <a:spLocks noGrp="1"/>
          </p:cNvSpPr>
          <p:nvPr>
            <p:ph type="title"/>
          </p:nvPr>
        </p:nvSpPr>
        <p:spPr>
          <a:xfrm>
            <a:off x="885526" y="3467606"/>
            <a:ext cx="9221787" cy="738664"/>
          </a:xfrm>
          <a:prstGeom prst="rect">
            <a:avLst/>
          </a:prstGeom>
          <a:noFill/>
        </p:spPr>
        <p:txBody>
          <a:bodyPr wrap="square" lIns="0" tIns="0" rIns="0" bIns="0" rtlCol="0" anchor="ctr">
            <a:spAutoFit/>
          </a:bodyPr>
          <a:lstStyle>
            <a:lvl1pPr>
              <a:lnSpc>
                <a:spcPct val="100000"/>
              </a:lnSpc>
              <a:defRPr lang="ja-JP" altLang="en-US" sz="4800" b="1" spc="200">
                <a:latin typeface="+mj-lt"/>
                <a:cs typeface="+mn-cs"/>
              </a:defRPr>
            </a:lvl1pPr>
          </a:lstStyle>
          <a:p>
            <a:pPr marL="0" lvl="0" defTabSz="503972"/>
            <a:r>
              <a:rPr kumimoji="1" lang="ja-JP" altLang="en-US" dirty="0"/>
              <a:t>マスター タイトルの書式設定</a:t>
            </a:r>
          </a:p>
        </p:txBody>
      </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7898" y="641817"/>
            <a:ext cx="2996516" cy="594316"/>
          </a:xfrm>
          <a:prstGeom prst="rect">
            <a:avLst/>
          </a:prstGeom>
        </p:spPr>
      </p:pic>
      <p:sp>
        <p:nvSpPr>
          <p:cNvPr id="5" name="正方形/長方形 4">
            <a:extLst>
              <a:ext uri="{FF2B5EF4-FFF2-40B4-BE49-F238E27FC236}">
                <a16:creationId xmlns:a16="http://schemas.microsoft.com/office/drawing/2014/main" id="{E7F2AB3F-4E5C-EEA1-723A-7D941C02D057}"/>
              </a:ext>
            </a:extLst>
          </p:cNvPr>
          <p:cNvSpPr/>
          <p:nvPr userDrawn="1"/>
        </p:nvSpPr>
        <p:spPr>
          <a:xfrm>
            <a:off x="-1" y="-1"/>
            <a:ext cx="108000" cy="7560000"/>
          </a:xfrm>
          <a:prstGeom prst="rect">
            <a:avLst/>
          </a:prstGeom>
          <a:gradFill>
            <a:gsLst>
              <a:gs pos="100000">
                <a:schemeClr val="accent4"/>
              </a:gs>
              <a:gs pos="17000">
                <a:schemeClr val="tx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extLst>
      <p:ext uri="{BB962C8B-B14F-4D97-AF65-F5344CB8AC3E}">
        <p14:creationId xmlns:p14="http://schemas.microsoft.com/office/powerpoint/2010/main" val="10359687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目次">
    <p:spTree>
      <p:nvGrpSpPr>
        <p:cNvPr id="1" name=""/>
        <p:cNvGrpSpPr/>
        <p:nvPr/>
      </p:nvGrpSpPr>
      <p:grpSpPr>
        <a:xfrm>
          <a:off x="0" y="0"/>
          <a:ext cx="0" cy="0"/>
          <a:chOff x="0" y="0"/>
          <a:chExt cx="0" cy="0"/>
        </a:xfrm>
      </p:grpSpPr>
      <p:pic>
        <p:nvPicPr>
          <p:cNvPr id="2" name="図 1" descr="背景パターン&#10;&#10;AI 生成コンテンツは誤りを含む可能性があります。">
            <a:extLst>
              <a:ext uri="{FF2B5EF4-FFF2-40B4-BE49-F238E27FC236}">
                <a16:creationId xmlns:a16="http://schemas.microsoft.com/office/drawing/2014/main" id="{8E967D6D-5B52-5B07-CA48-6817A5CEB27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grpSp>
        <p:nvGrpSpPr>
          <p:cNvPr id="7" name="グループ化 6">
            <a:extLst>
              <a:ext uri="{FF2B5EF4-FFF2-40B4-BE49-F238E27FC236}">
                <a16:creationId xmlns:a16="http://schemas.microsoft.com/office/drawing/2014/main" id="{01D98B25-17B2-272C-53AC-A26D9745042C}"/>
              </a:ext>
            </a:extLst>
          </p:cNvPr>
          <p:cNvGrpSpPr/>
          <p:nvPr userDrawn="1"/>
        </p:nvGrpSpPr>
        <p:grpSpPr>
          <a:xfrm>
            <a:off x="887069" y="3420377"/>
            <a:ext cx="3420000" cy="602349"/>
            <a:chOff x="887069" y="3420377"/>
            <a:chExt cx="3420000" cy="602349"/>
          </a:xfrm>
        </p:grpSpPr>
        <p:sp>
          <p:nvSpPr>
            <p:cNvPr id="9" name="テキスト ボックス 8">
              <a:extLst>
                <a:ext uri="{FF2B5EF4-FFF2-40B4-BE49-F238E27FC236}">
                  <a16:creationId xmlns:a16="http://schemas.microsoft.com/office/drawing/2014/main" id="{C5012DD8-6B05-046F-3AF1-CACA060CA370}"/>
                </a:ext>
              </a:extLst>
            </p:cNvPr>
            <p:cNvSpPr txBox="1"/>
            <p:nvPr/>
          </p:nvSpPr>
          <p:spPr>
            <a:xfrm>
              <a:off x="977069" y="3420377"/>
              <a:ext cx="3240000" cy="492443"/>
            </a:xfrm>
            <a:prstGeom prst="rect">
              <a:avLst/>
            </a:prstGeom>
            <a:noFill/>
          </p:spPr>
          <p:txBody>
            <a:bodyPr wrap="square" lIns="0" tIns="0" rIns="0" bIns="0" anchor="t">
              <a:spAutoFit/>
            </a:bodyPr>
            <a:lstStyle/>
            <a:p>
              <a:pPr algn="ctr"/>
              <a:r>
                <a:rPr lang="ja-JP" altLang="en-US" sz="3200" b="1" dirty="0">
                  <a:latin typeface="+mj-lt"/>
                </a:rPr>
                <a:t>目次</a:t>
              </a:r>
            </a:p>
          </p:txBody>
        </p:sp>
        <p:cxnSp>
          <p:nvCxnSpPr>
            <p:cNvPr id="10" name="直線コネクタ 9">
              <a:extLst>
                <a:ext uri="{FF2B5EF4-FFF2-40B4-BE49-F238E27FC236}">
                  <a16:creationId xmlns:a16="http://schemas.microsoft.com/office/drawing/2014/main" id="{268C069C-EAF1-B7E8-021B-4DF925E86141}"/>
                </a:ext>
              </a:extLst>
            </p:cNvPr>
            <p:cNvCxnSpPr>
              <a:cxnSpLocks/>
            </p:cNvCxnSpPr>
            <p:nvPr/>
          </p:nvCxnSpPr>
          <p:spPr>
            <a:xfrm>
              <a:off x="887069" y="4022726"/>
              <a:ext cx="34200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gr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7898" y="641818"/>
            <a:ext cx="1627200" cy="322732"/>
          </a:xfrm>
          <a:prstGeom prst="rect">
            <a:avLst/>
          </a:prstGeom>
        </p:spPr>
      </p:pic>
      <p:sp>
        <p:nvSpPr>
          <p:cNvPr id="12" name="テキスト ボックス 11">
            <a:extLst>
              <a:ext uri="{FF2B5EF4-FFF2-40B4-BE49-F238E27FC236}">
                <a16:creationId xmlns:a16="http://schemas.microsoft.com/office/drawing/2014/main" id="{1A1C1562-A331-DA82-9B95-1B4F0DA08BD0}"/>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sp>
        <p:nvSpPr>
          <p:cNvPr id="13" name="Google Shape;14;p31">
            <a:extLst>
              <a:ext uri="{FF2B5EF4-FFF2-40B4-BE49-F238E27FC236}">
                <a16:creationId xmlns:a16="http://schemas.microsoft.com/office/drawing/2014/main" id="{0CB49C29-F967-F011-F3F8-2ED176CC202F}"/>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3" name="正方形/長方形 2">
            <a:extLst>
              <a:ext uri="{FF2B5EF4-FFF2-40B4-BE49-F238E27FC236}">
                <a16:creationId xmlns:a16="http://schemas.microsoft.com/office/drawing/2014/main" id="{7493C03D-EF3C-73CD-DCFB-960D33F81124}"/>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28014450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中扉">
    <p:spTree>
      <p:nvGrpSpPr>
        <p:cNvPr id="1" name=""/>
        <p:cNvGrpSpPr/>
        <p:nvPr/>
      </p:nvGrpSpPr>
      <p:grpSpPr>
        <a:xfrm>
          <a:off x="0" y="0"/>
          <a:ext cx="0" cy="0"/>
          <a:chOff x="0" y="0"/>
          <a:chExt cx="0" cy="0"/>
        </a:xfrm>
      </p:grpSpPr>
      <p:pic>
        <p:nvPicPr>
          <p:cNvPr id="3" name="図 2" descr="背景パターン&#10;&#10;AI 生成コンテンツは誤りを含む可能性があります。">
            <a:extLst>
              <a:ext uri="{FF2B5EF4-FFF2-40B4-BE49-F238E27FC236}">
                <a16:creationId xmlns:a16="http://schemas.microsoft.com/office/drawing/2014/main" id="{FDE449C2-8B65-9409-394F-45A167C6AEA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5" name="タイトル 1">
            <a:extLst>
              <a:ext uri="{FF2B5EF4-FFF2-40B4-BE49-F238E27FC236}">
                <a16:creationId xmlns:a16="http://schemas.microsoft.com/office/drawing/2014/main" id="{07D600CD-5CAD-A0C8-1E3D-CD1EA5B04422}"/>
              </a:ext>
            </a:extLst>
          </p:cNvPr>
          <p:cNvSpPr>
            <a:spLocks noGrp="1"/>
          </p:cNvSpPr>
          <p:nvPr>
            <p:ph type="title"/>
          </p:nvPr>
        </p:nvSpPr>
        <p:spPr>
          <a:xfrm>
            <a:off x="989013" y="3656161"/>
            <a:ext cx="9221787" cy="615553"/>
          </a:xfrm>
          <a:prstGeom prst="rect">
            <a:avLst/>
          </a:prstGeom>
          <a:noFill/>
        </p:spPr>
        <p:txBody>
          <a:bodyPr wrap="square" lIns="0" tIns="0" rIns="0" bIns="0" rtlCol="0" anchor="ctr">
            <a:spAutoFit/>
          </a:bodyPr>
          <a:lstStyle>
            <a:lvl1pPr>
              <a:lnSpc>
                <a:spcPct val="100000"/>
              </a:lnSpc>
              <a:defRPr lang="ja-JP" altLang="en-US" sz="4000" b="1" spc="200" dirty="0">
                <a:solidFill>
                  <a:schemeClr val="bg1"/>
                </a:solidFill>
                <a:latin typeface="+mj-lt"/>
                <a:cs typeface="+mn-cs"/>
              </a:defRPr>
            </a:lvl1pPr>
          </a:lstStyle>
          <a:p>
            <a:pPr marL="0" lvl="0" defTabSz="503972"/>
            <a:r>
              <a:rPr kumimoji="1" lang="ja-JP" altLang="en-US" dirty="0"/>
              <a:t>マスター タイトルの書式設定</a:t>
            </a:r>
          </a:p>
        </p:txBody>
      </p:sp>
      <p:pic>
        <p:nvPicPr>
          <p:cNvPr id="4" name="グラフィックス 3">
            <a:extLst>
              <a:ext uri="{FF2B5EF4-FFF2-40B4-BE49-F238E27FC236}">
                <a16:creationId xmlns:a16="http://schemas.microsoft.com/office/drawing/2014/main" id="{8D4E6481-3D38-43CE-56D4-0766A151BDBF}"/>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97898" y="641818"/>
            <a:ext cx="1627200" cy="320105"/>
          </a:xfrm>
          <a:prstGeom prst="rect">
            <a:avLst/>
          </a:prstGeom>
        </p:spPr>
      </p:pic>
      <p:sp>
        <p:nvSpPr>
          <p:cNvPr id="7" name="テキスト ボックス 6">
            <a:extLst>
              <a:ext uri="{FF2B5EF4-FFF2-40B4-BE49-F238E27FC236}">
                <a16:creationId xmlns:a16="http://schemas.microsoft.com/office/drawing/2014/main" id="{06F9BFF4-1363-8167-1FD9-7F8105B557A4}"/>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bg1"/>
                </a:solidFill>
                <a:latin typeface="+mj-lt"/>
              </a:rPr>
              <a:pPr algn="r"/>
              <a:t>‹#›</a:t>
            </a:fld>
            <a:endParaRPr kumimoji="1" lang="ja-JP" altLang="en-US" sz="992" dirty="0">
              <a:solidFill>
                <a:schemeClr val="bg1"/>
              </a:solidFill>
              <a:latin typeface="+mj-lt"/>
            </a:endParaRPr>
          </a:p>
        </p:txBody>
      </p:sp>
      <p:sp>
        <p:nvSpPr>
          <p:cNvPr id="8" name="Google Shape;14;p31">
            <a:extLst>
              <a:ext uri="{FF2B5EF4-FFF2-40B4-BE49-F238E27FC236}">
                <a16:creationId xmlns:a16="http://schemas.microsoft.com/office/drawing/2014/main" id="{4768A1B1-9FB9-F183-2D3A-178D813DD52B}"/>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bg1"/>
                </a:solidFill>
                <a:latin typeface="Arial"/>
                <a:ea typeface="Arial"/>
                <a:cs typeface="Arial"/>
                <a:sym typeface="Arial"/>
              </a:rPr>
              <a:t>Copyright© M＆A Succession Group Inc. All Right Reserved</a:t>
            </a:r>
            <a:endParaRPr sz="700" b="0" i="0" u="none" strike="noStrike" cap="none" dirty="0">
              <a:solidFill>
                <a:schemeClr val="bg1"/>
              </a:solidFill>
              <a:latin typeface="Arial"/>
              <a:ea typeface="Arial"/>
              <a:cs typeface="Arial"/>
              <a:sym typeface="Arial"/>
            </a:endParaRPr>
          </a:p>
        </p:txBody>
      </p:sp>
      <p:sp>
        <p:nvSpPr>
          <p:cNvPr id="2" name="正方形/長方形 1">
            <a:extLst>
              <a:ext uri="{FF2B5EF4-FFF2-40B4-BE49-F238E27FC236}">
                <a16:creationId xmlns:a16="http://schemas.microsoft.com/office/drawing/2014/main" id="{00B19FBA-B74F-4E88-0389-543A882445EE}"/>
              </a:ext>
            </a:extLst>
          </p:cNvPr>
          <p:cNvSpPr/>
          <p:nvPr userDrawn="1"/>
        </p:nvSpPr>
        <p:spPr>
          <a:xfrm>
            <a:off x="6933143" y="7209190"/>
            <a:ext cx="640572" cy="144000"/>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bg1"/>
                </a:solidFill>
              </a:rPr>
              <a:t>Confidential</a:t>
            </a:r>
          </a:p>
        </p:txBody>
      </p:sp>
    </p:spTree>
    <p:extLst>
      <p:ext uri="{BB962C8B-B14F-4D97-AF65-F5344CB8AC3E}">
        <p14:creationId xmlns:p14="http://schemas.microsoft.com/office/powerpoint/2010/main" val="18809509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本編1">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BA577B03-0430-76D0-A4E3-BD118824A3F8}"/>
              </a:ext>
            </a:extLst>
          </p:cNvPr>
          <p:cNvSpPr/>
          <p:nvPr userDrawn="1"/>
        </p:nvSpPr>
        <p:spPr>
          <a:xfrm>
            <a:off x="-1" y="0"/>
            <a:ext cx="10691814" cy="666000"/>
          </a:xfrm>
          <a:prstGeom prst="rect">
            <a:avLst/>
          </a:prstGeom>
          <a:gradFill>
            <a:gsLst>
              <a:gs pos="88000">
                <a:srgbClr val="006AB1"/>
              </a:gs>
              <a:gs pos="5000">
                <a:schemeClr val="tx2"/>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dirty="0"/>
          </a:p>
        </p:txBody>
      </p:sp>
      <p:sp>
        <p:nvSpPr>
          <p:cNvPr id="31" name="フリーフォーム: 図形 30">
            <a:extLst>
              <a:ext uri="{FF2B5EF4-FFF2-40B4-BE49-F238E27FC236}">
                <a16:creationId xmlns:a16="http://schemas.microsoft.com/office/drawing/2014/main" id="{D9CC89AC-0069-75DF-7665-F8D290946A33}"/>
              </a:ext>
            </a:extLst>
          </p:cNvPr>
          <p:cNvSpPr/>
          <p:nvPr userDrawn="1"/>
        </p:nvSpPr>
        <p:spPr>
          <a:xfrm>
            <a:off x="6714554"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96000">
                <a:schemeClr val="accent4"/>
              </a:gs>
              <a:gs pos="46000">
                <a:schemeClr val="tx2">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dirty="0"/>
          </a:p>
        </p:txBody>
      </p:sp>
      <p:sp>
        <p:nvSpPr>
          <p:cNvPr id="3" name="字幕 2">
            <a:extLst>
              <a:ext uri="{FF2B5EF4-FFF2-40B4-BE49-F238E27FC236}">
                <a16:creationId xmlns:a16="http://schemas.microsoft.com/office/drawing/2014/main" id="{E4C44029-31FF-A9F7-06AC-0A055C09D50F}"/>
              </a:ext>
            </a:extLst>
          </p:cNvPr>
          <p:cNvSpPr>
            <a:spLocks noGrp="1"/>
          </p:cNvSpPr>
          <p:nvPr>
            <p:ph type="subTitle" idx="1"/>
          </p:nvPr>
        </p:nvSpPr>
        <p:spPr>
          <a:xfrm>
            <a:off x="460675" y="830046"/>
            <a:ext cx="9781875" cy="241861"/>
          </a:xfrm>
          <a:prstGeom prst="rect">
            <a:avLst/>
          </a:prstGeom>
        </p:spPr>
        <p:txBody>
          <a:bodyPr wrap="square" lIns="0" tIns="0" rIns="0" bIns="0">
            <a:spAutoFit/>
          </a:bodyPr>
          <a:lstStyle>
            <a:lvl1pPr marL="0" indent="0" algn="l">
              <a:lnSpc>
                <a:spcPct val="120000"/>
              </a:lnSpc>
              <a:spcBef>
                <a:spcPts val="0"/>
              </a:spcBef>
              <a:buNone/>
              <a:defRPr sz="1400" b="1" spc="55" baseline="0">
                <a:latin typeface="+mj-ea"/>
                <a:ea typeface="+mj-ea"/>
              </a:defRPr>
            </a:lvl1pPr>
            <a:lvl2pPr marL="503972" indent="0" algn="ctr">
              <a:buNone/>
              <a:defRPr sz="2205"/>
            </a:lvl2pPr>
            <a:lvl3pPr marL="1007943" indent="0" algn="ctr">
              <a:buNone/>
              <a:defRPr sz="1984"/>
            </a:lvl3pPr>
            <a:lvl4pPr marL="1511915" indent="0" algn="ctr">
              <a:buNone/>
              <a:defRPr sz="1764"/>
            </a:lvl4pPr>
            <a:lvl5pPr marL="2015886" indent="0" algn="ctr">
              <a:buNone/>
              <a:defRPr sz="1764"/>
            </a:lvl5pPr>
            <a:lvl6pPr marL="2519858" indent="0" algn="ctr">
              <a:buNone/>
              <a:defRPr sz="1764"/>
            </a:lvl6pPr>
            <a:lvl7pPr marL="3023829" indent="0" algn="ctr">
              <a:buNone/>
              <a:defRPr sz="1764"/>
            </a:lvl7pPr>
            <a:lvl8pPr marL="3527801" indent="0" algn="ctr">
              <a:buNone/>
              <a:defRPr sz="1764"/>
            </a:lvl8pPr>
            <a:lvl9pPr marL="4031772" indent="0" algn="ctr">
              <a:buNone/>
              <a:defRPr sz="1764"/>
            </a:lvl9pPr>
          </a:lstStyle>
          <a:p>
            <a:r>
              <a:rPr kumimoji="1" lang="ja-JP" altLang="en-US" dirty="0"/>
              <a:t>マスター サブタイトルの書式設定</a:t>
            </a:r>
          </a:p>
        </p:txBody>
      </p:sp>
      <p:sp>
        <p:nvSpPr>
          <p:cNvPr id="6" name="テキスト ボックス 5">
            <a:extLst>
              <a:ext uri="{FF2B5EF4-FFF2-40B4-BE49-F238E27FC236}">
                <a16:creationId xmlns:a16="http://schemas.microsoft.com/office/drawing/2014/main" id="{C06A0380-DE0F-1825-615F-4DBC89C8C6DB}"/>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pic>
        <p:nvPicPr>
          <p:cNvPr id="8" name="グラフィックス 7">
            <a:extLst>
              <a:ext uri="{FF2B5EF4-FFF2-40B4-BE49-F238E27FC236}">
                <a16:creationId xmlns:a16="http://schemas.microsoft.com/office/drawing/2014/main" id="{15124CEF-AA7F-DF16-7A5C-692E9AB7616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04801" y="7086114"/>
            <a:ext cx="1625600" cy="322220"/>
          </a:xfrm>
          <a:prstGeom prst="rect">
            <a:avLst/>
          </a:prstGeom>
        </p:spPr>
      </p:pic>
      <p:grpSp>
        <p:nvGrpSpPr>
          <p:cNvPr id="26" name="グループ化 25">
            <a:extLst>
              <a:ext uri="{FF2B5EF4-FFF2-40B4-BE49-F238E27FC236}">
                <a16:creationId xmlns:a16="http://schemas.microsoft.com/office/drawing/2014/main" id="{2864EB89-7DDA-1F5E-BB78-27D39C8659FC}"/>
              </a:ext>
            </a:extLst>
          </p:cNvPr>
          <p:cNvGrpSpPr/>
          <p:nvPr userDrawn="1"/>
        </p:nvGrpSpPr>
        <p:grpSpPr>
          <a:xfrm>
            <a:off x="-1" y="0"/>
            <a:ext cx="252001" cy="666000"/>
            <a:chOff x="-1" y="0"/>
            <a:chExt cx="252001" cy="666000"/>
          </a:xfrm>
        </p:grpSpPr>
        <p:cxnSp>
          <p:nvCxnSpPr>
            <p:cNvPr id="19" name="直線コネクタ 18">
              <a:extLst>
                <a:ext uri="{FF2B5EF4-FFF2-40B4-BE49-F238E27FC236}">
                  <a16:creationId xmlns:a16="http://schemas.microsoft.com/office/drawing/2014/main" id="{05B82C66-0A6E-C82F-B38C-D4495200FAA8}"/>
                </a:ext>
              </a:extLst>
            </p:cNvPr>
            <p:cNvCxnSpPr>
              <a:cxnSpLocks/>
            </p:cNvCxnSpPr>
            <p:nvPr userDrawn="1"/>
          </p:nvCxnSpPr>
          <p:spPr>
            <a:xfrm>
              <a:off x="0" y="333000"/>
              <a:ext cx="252000"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11" name="正方形/長方形 10">
              <a:extLst>
                <a:ext uri="{FF2B5EF4-FFF2-40B4-BE49-F238E27FC236}">
                  <a16:creationId xmlns:a16="http://schemas.microsoft.com/office/drawing/2014/main" id="{A6BFD29D-964D-B44D-88A5-439ACA448282}"/>
                </a:ext>
              </a:extLst>
            </p:cNvPr>
            <p:cNvSpPr/>
            <p:nvPr userDrawn="1"/>
          </p:nvSpPr>
          <p:spPr>
            <a:xfrm>
              <a:off x="-1" y="0"/>
              <a:ext cx="108000" cy="666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cxnSp>
          <p:nvCxnSpPr>
            <p:cNvPr id="18" name="直線コネクタ 17">
              <a:extLst>
                <a:ext uri="{FF2B5EF4-FFF2-40B4-BE49-F238E27FC236}">
                  <a16:creationId xmlns:a16="http://schemas.microsoft.com/office/drawing/2014/main" id="{B87BA5C7-32E9-C506-2110-1D5AFE77B082}"/>
                </a:ext>
              </a:extLst>
            </p:cNvPr>
            <p:cNvCxnSpPr>
              <a:cxnSpLocks/>
            </p:cNvCxnSpPr>
            <p:nvPr userDrawn="1"/>
          </p:nvCxnSpPr>
          <p:spPr>
            <a:xfrm>
              <a:off x="-1" y="333000"/>
              <a:ext cx="108000" cy="0"/>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2" name="タイトル 1">
            <a:extLst>
              <a:ext uri="{FF2B5EF4-FFF2-40B4-BE49-F238E27FC236}">
                <a16:creationId xmlns:a16="http://schemas.microsoft.com/office/drawing/2014/main" id="{1DA08165-590D-BD55-05E9-10B2D6F8DD63}"/>
              </a:ext>
            </a:extLst>
          </p:cNvPr>
          <p:cNvSpPr>
            <a:spLocks noGrp="1"/>
          </p:cNvSpPr>
          <p:nvPr userDrawn="1">
            <p:ph type="ctrTitle"/>
          </p:nvPr>
        </p:nvSpPr>
        <p:spPr>
          <a:xfrm>
            <a:off x="341313" y="180296"/>
            <a:ext cx="7799917" cy="339267"/>
          </a:xfrm>
          <a:prstGeom prst="rect">
            <a:avLst/>
          </a:prstGeom>
        </p:spPr>
        <p:txBody>
          <a:bodyPr wrap="square" lIns="0" tIns="0" rIns="0" bIns="0" anchor="ctr">
            <a:spAutoFit/>
          </a:bodyPr>
          <a:lstStyle>
            <a:lvl1pPr algn="l">
              <a:lnSpc>
                <a:spcPct val="100000"/>
              </a:lnSpc>
              <a:defRPr sz="2200" b="1" spc="77" baseline="0">
                <a:solidFill>
                  <a:schemeClr val="bg1"/>
                </a:solidFill>
                <a:latin typeface="+mj-lt"/>
              </a:defRPr>
            </a:lvl1pPr>
          </a:lstStyle>
          <a:p>
            <a:r>
              <a:rPr kumimoji="1" lang="ja-JP" altLang="en-US" dirty="0"/>
              <a:t>マスター タイトルの書式設定</a:t>
            </a:r>
          </a:p>
        </p:txBody>
      </p:sp>
      <p:sp>
        <p:nvSpPr>
          <p:cNvPr id="30" name="フリーフォーム: 図形 29">
            <a:extLst>
              <a:ext uri="{FF2B5EF4-FFF2-40B4-BE49-F238E27FC236}">
                <a16:creationId xmlns:a16="http://schemas.microsoft.com/office/drawing/2014/main" id="{0AA6A414-726D-CCFA-2EF2-5B8503BE0A88}"/>
              </a:ext>
            </a:extLst>
          </p:cNvPr>
          <p:cNvSpPr/>
          <p:nvPr userDrawn="1"/>
        </p:nvSpPr>
        <p:spPr>
          <a:xfrm>
            <a:off x="6386286"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100000">
                <a:schemeClr val="accent4"/>
              </a:gs>
              <a:gs pos="8000">
                <a:srgbClr val="0167AB">
                  <a:alpha val="0"/>
                </a:srgb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a:p>
        </p:txBody>
      </p:sp>
      <p:sp>
        <p:nvSpPr>
          <p:cNvPr id="33" name="Google Shape;14;p31">
            <a:extLst>
              <a:ext uri="{FF2B5EF4-FFF2-40B4-BE49-F238E27FC236}">
                <a16:creationId xmlns:a16="http://schemas.microsoft.com/office/drawing/2014/main" id="{273032A6-EBE9-0147-F9C2-495CA12FDE28}"/>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5" name="正方形/長方形 4">
            <a:extLst>
              <a:ext uri="{FF2B5EF4-FFF2-40B4-BE49-F238E27FC236}">
                <a16:creationId xmlns:a16="http://schemas.microsoft.com/office/drawing/2014/main" id="{283DDC2C-ECEE-530D-9F1C-6564A5A2BAB9}"/>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2627557559"/>
      </p:ext>
    </p:extLst>
  </p:cSld>
  <p:clrMapOvr>
    <a:masterClrMapping/>
  </p:clrMapOvr>
  <p:extLst>
    <p:ext uri="{DCECCB84-F9BA-43D5-87BE-67443E8EF086}">
      <p15:sldGuideLst xmlns:p15="http://schemas.microsoft.com/office/powerpoint/2012/main">
        <p15:guide id="2" orient="horz" pos="4309">
          <p15:clr>
            <a:srgbClr val="FBAE40"/>
          </p15:clr>
        </p15:guide>
        <p15:guide id="3" pos="215">
          <p15:clr>
            <a:srgbClr val="A4A3A4"/>
          </p15:clr>
        </p15:guide>
        <p15:guide id="4" pos="6520">
          <p15:clr>
            <a:srgbClr val="A4A3A4"/>
          </p15:clr>
        </p15:guide>
        <p15:guide id="5" pos="283">
          <p15:clr>
            <a:srgbClr val="FBAE40"/>
          </p15:clr>
        </p15:guide>
        <p15:guide id="6" pos="64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_表紙">
    <p:spTree>
      <p:nvGrpSpPr>
        <p:cNvPr id="1" name=""/>
        <p:cNvGrpSpPr/>
        <p:nvPr/>
      </p:nvGrpSpPr>
      <p:grpSpPr>
        <a:xfrm>
          <a:off x="0" y="0"/>
          <a:ext cx="0" cy="0"/>
          <a:chOff x="0" y="0"/>
          <a:chExt cx="0" cy="0"/>
        </a:xfrm>
      </p:grpSpPr>
      <p:pic>
        <p:nvPicPr>
          <p:cNvPr id="3" name="図 2" descr="絵と文字の加工写真&#10;&#10;AI 生成コンテンツは誤りを含む可能性があります。">
            <a:extLst>
              <a:ext uri="{FF2B5EF4-FFF2-40B4-BE49-F238E27FC236}">
                <a16:creationId xmlns:a16="http://schemas.microsoft.com/office/drawing/2014/main" id="{995F6558-5E48-7ACD-5E2F-54EE4A6825B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6" name="タイトル 1">
            <a:extLst>
              <a:ext uri="{FF2B5EF4-FFF2-40B4-BE49-F238E27FC236}">
                <a16:creationId xmlns:a16="http://schemas.microsoft.com/office/drawing/2014/main" id="{7D824756-0531-3BBA-09FB-CC8ACB55A36C}"/>
              </a:ext>
            </a:extLst>
          </p:cNvPr>
          <p:cNvSpPr>
            <a:spLocks noGrp="1"/>
          </p:cNvSpPr>
          <p:nvPr>
            <p:ph type="title"/>
          </p:nvPr>
        </p:nvSpPr>
        <p:spPr>
          <a:xfrm>
            <a:off x="885526" y="3467606"/>
            <a:ext cx="9221787" cy="738664"/>
          </a:xfrm>
          <a:prstGeom prst="rect">
            <a:avLst/>
          </a:prstGeom>
          <a:noFill/>
        </p:spPr>
        <p:txBody>
          <a:bodyPr wrap="square" lIns="0" tIns="0" rIns="0" bIns="0" rtlCol="0" anchor="ctr">
            <a:spAutoFit/>
          </a:bodyPr>
          <a:lstStyle>
            <a:lvl1pPr>
              <a:lnSpc>
                <a:spcPct val="100000"/>
              </a:lnSpc>
              <a:defRPr lang="ja-JP" altLang="en-US" sz="4800" b="1" spc="200">
                <a:latin typeface="+mj-lt"/>
                <a:cs typeface="+mn-cs"/>
              </a:defRPr>
            </a:lvl1pPr>
          </a:lstStyle>
          <a:p>
            <a:pPr marL="0" lvl="0" defTabSz="503972"/>
            <a:r>
              <a:rPr kumimoji="1" lang="ja-JP" altLang="en-US" dirty="0"/>
              <a:t>マスター タイトルの書式設定</a:t>
            </a:r>
          </a:p>
        </p:txBody>
      </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7898" y="641817"/>
            <a:ext cx="2996516" cy="594316"/>
          </a:xfrm>
          <a:prstGeom prst="rect">
            <a:avLst/>
          </a:prstGeom>
        </p:spPr>
      </p:pic>
      <p:sp>
        <p:nvSpPr>
          <p:cNvPr id="5" name="正方形/長方形 4">
            <a:extLst>
              <a:ext uri="{FF2B5EF4-FFF2-40B4-BE49-F238E27FC236}">
                <a16:creationId xmlns:a16="http://schemas.microsoft.com/office/drawing/2014/main" id="{E7F2AB3F-4E5C-EEA1-723A-7D941C02D057}"/>
              </a:ext>
            </a:extLst>
          </p:cNvPr>
          <p:cNvSpPr/>
          <p:nvPr userDrawn="1"/>
        </p:nvSpPr>
        <p:spPr>
          <a:xfrm>
            <a:off x="-1" y="-1"/>
            <a:ext cx="108000" cy="7560000"/>
          </a:xfrm>
          <a:prstGeom prst="rect">
            <a:avLst/>
          </a:prstGeom>
          <a:gradFill>
            <a:gsLst>
              <a:gs pos="100000">
                <a:schemeClr val="accent4"/>
              </a:gs>
              <a:gs pos="17000">
                <a:schemeClr val="tx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extLst>
      <p:ext uri="{BB962C8B-B14F-4D97-AF65-F5344CB8AC3E}">
        <p14:creationId xmlns:p14="http://schemas.microsoft.com/office/powerpoint/2010/main" val="21111899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4F2DA376-A25F-9107-DBD3-FB81DA50B980}"/>
              </a:ext>
            </a:extLst>
          </p:cNvPr>
          <p:cNvSpPr txBox="1"/>
          <p:nvPr userDrawn="1"/>
        </p:nvSpPr>
        <p:spPr>
          <a:xfrm rot="19728456" flipH="1">
            <a:off x="1740861" y="3487450"/>
            <a:ext cx="7210090" cy="584775"/>
          </a:xfrm>
          <a:prstGeom prst="rect">
            <a:avLst/>
          </a:prstGeom>
          <a:noFill/>
        </p:spPr>
        <p:txBody>
          <a:bodyPr wrap="square" rtlCol="0">
            <a:spAutoFit/>
          </a:bodyPr>
          <a:lstStyle/>
          <a:p>
            <a:r>
              <a:rPr kumimoji="1" lang="ja-JP" altLang="en-US" sz="3200" dirty="0">
                <a:solidFill>
                  <a:schemeClr val="bg1">
                    <a:lumMod val="85000"/>
                  </a:schemeClr>
                </a:solidFill>
                <a:latin typeface="+mj-ea"/>
                <a:ea typeface="+mj-ea"/>
              </a:rPr>
              <a:t>株式会社●●ホールディングス 御中</a:t>
            </a:r>
          </a:p>
        </p:txBody>
      </p:sp>
    </p:spTree>
    <p:extLst>
      <p:ext uri="{BB962C8B-B14F-4D97-AF65-F5344CB8AC3E}">
        <p14:creationId xmlns:p14="http://schemas.microsoft.com/office/powerpoint/2010/main" val="1858542152"/>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Lst>
  <p:txStyles>
    <p:titleStyle>
      <a:lvl1pPr algn="l" defTabSz="1007943" rtl="0" eaLnBrk="1" latinLnBrk="0" hangingPunct="1">
        <a:lnSpc>
          <a:spcPct val="90000"/>
        </a:lnSpc>
        <a:spcBef>
          <a:spcPct val="0"/>
        </a:spcBef>
        <a:buNone/>
        <a:defRPr kumimoji="1" sz="4850" kern="1200">
          <a:solidFill>
            <a:schemeClr val="tx1"/>
          </a:solidFill>
          <a:latin typeface="+mj-lt"/>
          <a:ea typeface="+mj-ea"/>
          <a:cs typeface="+mj-cs"/>
        </a:defRPr>
      </a:lvl1pPr>
    </p:titleStyle>
    <p:bodyStyle>
      <a:lvl1pPr marL="251986" indent="-251986" algn="l" defTabSz="1007943" rtl="0" eaLnBrk="1" latinLnBrk="0" hangingPunct="1">
        <a:lnSpc>
          <a:spcPct val="90000"/>
        </a:lnSpc>
        <a:spcBef>
          <a:spcPts val="1102"/>
        </a:spcBef>
        <a:buFont typeface="Arial" panose="020B0604020202020204" pitchFamily="34" charset="0"/>
        <a:buChar char="•"/>
        <a:defRPr kumimoji="1"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kumimoji="1"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kumimoji="1"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9pPr>
    </p:bodyStyle>
    <p:otherStyle>
      <a:defPPr>
        <a:defRPr lang="ja-JP"/>
      </a:defPPr>
      <a:lvl1pPr marL="0" algn="l" defTabSz="1007943" rtl="0" eaLnBrk="1" latinLnBrk="0" hangingPunct="1">
        <a:defRPr kumimoji="1" sz="1984" kern="1200">
          <a:solidFill>
            <a:schemeClr val="tx1"/>
          </a:solidFill>
          <a:latin typeface="+mn-lt"/>
          <a:ea typeface="+mn-ea"/>
          <a:cs typeface="+mn-cs"/>
        </a:defRPr>
      </a:lvl1pPr>
      <a:lvl2pPr marL="503972" algn="l" defTabSz="1007943" rtl="0" eaLnBrk="1" latinLnBrk="0" hangingPunct="1">
        <a:defRPr kumimoji="1" sz="1984" kern="1200">
          <a:solidFill>
            <a:schemeClr val="tx1"/>
          </a:solidFill>
          <a:latin typeface="+mn-lt"/>
          <a:ea typeface="+mn-ea"/>
          <a:cs typeface="+mn-cs"/>
        </a:defRPr>
      </a:lvl2pPr>
      <a:lvl3pPr marL="1007943" algn="l" defTabSz="1007943" rtl="0" eaLnBrk="1" latinLnBrk="0" hangingPunct="1">
        <a:defRPr kumimoji="1" sz="1984" kern="1200">
          <a:solidFill>
            <a:schemeClr val="tx1"/>
          </a:solidFill>
          <a:latin typeface="+mn-lt"/>
          <a:ea typeface="+mn-ea"/>
          <a:cs typeface="+mn-cs"/>
        </a:defRPr>
      </a:lvl3pPr>
      <a:lvl4pPr marL="1511915" algn="l" defTabSz="1007943" rtl="0" eaLnBrk="1" latinLnBrk="0" hangingPunct="1">
        <a:defRPr kumimoji="1" sz="1984" kern="1200">
          <a:solidFill>
            <a:schemeClr val="tx1"/>
          </a:solidFill>
          <a:latin typeface="+mn-lt"/>
          <a:ea typeface="+mn-ea"/>
          <a:cs typeface="+mn-cs"/>
        </a:defRPr>
      </a:lvl4pPr>
      <a:lvl5pPr marL="2015886" algn="l" defTabSz="1007943" rtl="0" eaLnBrk="1" latinLnBrk="0" hangingPunct="1">
        <a:defRPr kumimoji="1" sz="1984" kern="1200">
          <a:solidFill>
            <a:schemeClr val="tx1"/>
          </a:solidFill>
          <a:latin typeface="+mn-lt"/>
          <a:ea typeface="+mn-ea"/>
          <a:cs typeface="+mn-cs"/>
        </a:defRPr>
      </a:lvl5pPr>
      <a:lvl6pPr marL="2519858" algn="l" defTabSz="1007943" rtl="0" eaLnBrk="1" latinLnBrk="0" hangingPunct="1">
        <a:defRPr kumimoji="1" sz="1984" kern="1200">
          <a:solidFill>
            <a:schemeClr val="tx1"/>
          </a:solidFill>
          <a:latin typeface="+mn-lt"/>
          <a:ea typeface="+mn-ea"/>
          <a:cs typeface="+mn-cs"/>
        </a:defRPr>
      </a:lvl6pPr>
      <a:lvl7pPr marL="3023829" algn="l" defTabSz="1007943" rtl="0" eaLnBrk="1" latinLnBrk="0" hangingPunct="1">
        <a:defRPr kumimoji="1" sz="1984" kern="1200">
          <a:solidFill>
            <a:schemeClr val="tx1"/>
          </a:solidFill>
          <a:latin typeface="+mn-lt"/>
          <a:ea typeface="+mn-ea"/>
          <a:cs typeface="+mn-cs"/>
        </a:defRPr>
      </a:lvl7pPr>
      <a:lvl8pPr marL="3527801" algn="l" defTabSz="1007943" rtl="0" eaLnBrk="1" latinLnBrk="0" hangingPunct="1">
        <a:defRPr kumimoji="1" sz="1984" kern="1200">
          <a:solidFill>
            <a:schemeClr val="tx1"/>
          </a:solidFill>
          <a:latin typeface="+mn-lt"/>
          <a:ea typeface="+mn-ea"/>
          <a:cs typeface="+mn-cs"/>
        </a:defRPr>
      </a:lvl8pPr>
      <a:lvl9pPr marL="4031772" algn="l" defTabSz="1007943" rtl="0" eaLnBrk="1" latinLnBrk="0" hangingPunct="1">
        <a:defRPr kumimoji="1" sz="1984"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 Id="rId3" Type="http://schemas.openxmlformats.org/officeDocument/2006/relationships/image" Target="../media/image10.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11.em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2.em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3.em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 Id="rId3" Type="http://schemas.openxmlformats.org/officeDocument/2006/relationships/image" Target="../media/image14.emf"/></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5.em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16.emf"/><Relationship Id="rId4" Type="http://schemas.openxmlformats.org/officeDocument/2006/relationships/image" Target="../media/image17.em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em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19.png"/><Relationship Id="rId4" Type="http://schemas.openxmlformats.org/officeDocument/2006/relationships/image" Target="../media/image20.png"/><Relationship Id="rId5" Type="http://schemas.microsoft.com/office/2007/relationships/hdphoto" Target="../media/hdphoto1.wdp"/><Relationship Id="rId6" Type="http://schemas.openxmlformats.org/officeDocument/2006/relationships/image" Target="../media/image21.emf"/></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 Id="rId3" Type="http://schemas.openxmlformats.org/officeDocument/2006/relationships/image" Target="../media/image18.jpg"/><Relationship Id="rId4" Type="http://schemas.openxmlformats.org/officeDocument/2006/relationships/image" Target="../media/image25.jpg"/><Relationship Id="rId5" Type="http://schemas.openxmlformats.org/officeDocument/2006/relationships/image" Target="../media/image26.jpg"/><Relationship Id="rId6" Type="http://schemas.openxmlformats.org/officeDocument/2006/relationships/image" Target="../media/image27.jpg"/><Relationship Id="rId7" Type="http://schemas.openxmlformats.org/officeDocument/2006/relationships/image" Target="../media/image28.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 Id="rId3" Type="http://schemas.openxmlformats.org/officeDocument/2006/relationships/image" Target="../media/image22.emf"/><Relationship Id="rId4" Type="http://schemas.openxmlformats.org/officeDocument/2006/relationships/image" Target="../media/image23.em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emf"/></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jpeg"/><Relationship Id="rId3" Type="http://schemas.openxmlformats.org/officeDocument/2006/relationships/image" Target="../media/image8.png"/><Relationship Id="rId4" Type="http://schemas.openxmlformats.org/officeDocument/2006/relationships/image" Target="../media/image9.sv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E6EF2-E355-DFA0-0FDA-00C6AAD69C4F}"/>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F0EAAA34-63BD-2868-6F6F-9550B61A0EE2}"/>
              </a:ext>
            </a:extLst>
          </p:cNvPr>
          <p:cNvSpPr>
            <a:spLocks noGrp="1"/>
          </p:cNvSpPr>
          <p:nvPr>
            <p:ph type="title"/>
          </p:nvPr>
        </p:nvSpPr>
        <p:spPr/>
        <p:txBody>
          <a:bodyPr/>
          <a:lstStyle/>
          <a:p>
            <a:r>
              <a:t>企業概要書  </a:t>
            </a:r>
            <a:r>
              <a:rPr sz="2400"/>
              <a:t>&lt;そば店／北関東&gt;</a:t>
            </a:r>
          </a:p>
        </p:txBody>
      </p:sp>
      <p:cxnSp>
        <p:nvCxnSpPr>
          <p:cNvPr id="11" name="直線コネクタ 10">
            <a:extLst>
              <a:ext uri="{FF2B5EF4-FFF2-40B4-BE49-F238E27FC236}">
                <a16:creationId xmlns:a16="http://schemas.microsoft.com/office/drawing/2014/main" id="{B552F00F-DAC8-72B9-D861-43E1B7EF96E4}"/>
              </a:ext>
            </a:extLst>
          </p:cNvPr>
          <p:cNvCxnSpPr>
            <a:cxnSpLocks/>
          </p:cNvCxnSpPr>
          <p:nvPr/>
        </p:nvCxnSpPr>
        <p:spPr>
          <a:xfrm>
            <a:off x="885526" y="4272782"/>
            <a:ext cx="6767299"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6" name="タイトル 2">
            <a:extLst>
              <a:ext uri="{FF2B5EF4-FFF2-40B4-BE49-F238E27FC236}">
                <a16:creationId xmlns:a16="http://schemas.microsoft.com/office/drawing/2014/main" id="{483B0F4A-40C8-4F5B-4490-660AE728BBA5}"/>
              </a:ext>
            </a:extLst>
          </p:cNvPr>
          <p:cNvSpPr txBox="1">
            <a:spLocks/>
          </p:cNvSpPr>
          <p:nvPr/>
        </p:nvSpPr>
        <p:spPr>
          <a:xfrm>
            <a:off x="941798" y="4043874"/>
            <a:ext cx="9221787" cy="738664"/>
          </a:xfrm>
          <a:prstGeom prst="rect">
            <a:avLst/>
          </a:prstGeom>
          <a:noFill/>
        </p:spPr>
        <p:txBody>
          <a:bodyPr wrap="square" lIns="0" tIns="0" rIns="0" bIns="0" rtlCol="0" anchor="ctr">
            <a:spAutoFit/>
          </a:bodyPr>
          <a:lstStyle>
            <a:lvl1pPr algn="l" defTabSz="1007943" rtl="0" eaLnBrk="1" latinLnBrk="0" hangingPunct="1">
              <a:lnSpc>
                <a:spcPct val="100000"/>
              </a:lnSpc>
              <a:spcBef>
                <a:spcPct val="0"/>
              </a:spcBef>
              <a:buNone/>
              <a:defRPr kumimoji="1" lang="ja-JP" altLang="en-US" sz="4800" b="1" kern="1200" spc="200">
                <a:solidFill>
                  <a:schemeClr val="tx1"/>
                </a:solidFill>
                <a:latin typeface="+mj-lt"/>
                <a:ea typeface="+mj-ea"/>
                <a:cs typeface="+mn-cs"/>
              </a:defRPr>
            </a:lvl1pPr>
          </a:lstStyle>
          <a:p>
            <a:pPr>
              <a:buClrTx/>
              <a:buFontTx/>
            </a:pPr>
            <a:r>
              <a:rPr lang="en-US" altLang="ja-JP" sz="1800" dirty="0">
                <a:solidFill/>
              </a:rPr>
              <a:t>Information</a:t>
            </a:r>
            <a:r>
              <a:rPr lang="ja-JP" altLang="en-US" sz="1800" dirty="0">
                <a:solidFill/>
              </a:rPr>
              <a:t> </a:t>
            </a:r>
            <a:r>
              <a:rPr lang="en-US" altLang="ja-JP" sz="1800" dirty="0">
                <a:solidFill/>
              </a:rPr>
              <a:t>Memorandum</a:t>
            </a:r>
            <a:r>
              <a:rPr lang="zh-TW" altLang="en-US" dirty="0">
                <a:solidFill/>
              </a:rPr>
              <a:t>　</a:t>
            </a:r>
          </a:p>
        </p:txBody>
      </p:sp>
    </p:spTree>
    <p:extLst>
      <p:ext uri="{BB962C8B-B14F-4D97-AF65-F5344CB8AC3E}">
        <p14:creationId xmlns:p14="http://schemas.microsoft.com/office/powerpoint/2010/main" val="4336838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187;p2">
            <a:extLst>
              <a:ext uri="{FF2B5EF4-FFF2-40B4-BE49-F238E27FC236}">
                <a16:creationId xmlns:a16="http://schemas.microsoft.com/office/drawing/2014/main" id="{A92DF3A4-79D3-09CF-A0AF-2A2E9BAD2537}"/>
              </a:ext>
            </a:extLst>
          </p:cNvPr>
          <p:cNvSpPr txBox="1"/>
          <p:nvPr/>
        </p:nvSpPr>
        <p:spPr>
          <a:xfrm>
            <a:off x="449263" y="5738246"/>
            <a:ext cx="3372853"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defPPr>
              <a:defRPr lang="en-US"/>
            </a:defPPr>
            <a:lvl1pPr marL="180000" indent="-180000">
              <a:buClr>
                <a:schemeClr val="tx2"/>
              </a:buClr>
              <a:buSzPct val="100000"/>
              <a:buFont typeface="游ゴシック" panose="020B0400000000000000" pitchFamily="50" charset="-128"/>
              <a:buChar char="▌"/>
              <a:defRPr sz="1600" b="1" spc="50">
                <a:solidFill>
                  <a:schemeClr val="tx1"/>
                </a:solidFill>
                <a:latin typeface="+mj-ea"/>
                <a:ea typeface="+mj-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solidFill/>
              </a:rPr>
              <a:t>本件のご照会先</a:t>
            </a:r>
          </a:p>
        </p:txBody>
      </p:sp>
      <p:graphicFrame>
        <p:nvGraphicFramePr>
          <p:cNvPr id="3" name="Google Shape;188;p2">
            <a:extLst>
              <a:ext uri="{FF2B5EF4-FFF2-40B4-BE49-F238E27FC236}">
                <a16:creationId xmlns:a16="http://schemas.microsoft.com/office/drawing/2014/main" id="{6A5E1FF5-E790-97CE-E190-6844BCDD57F5}"/>
              </a:ext>
            </a:extLst>
          </p:cNvPr>
          <p:cNvGraphicFramePr/>
          <p:nvPr>
            <p:extLst>
              <p:ext uri="{D42A27DB-BD31-4B8C-83A1-F6EECF244321}">
                <p14:modId xmlns:p14="http://schemas.microsoft.com/office/powerpoint/2010/main" val="3713220567"/>
              </p:ext>
            </p:extLst>
          </p:nvPr>
        </p:nvGraphicFramePr>
        <p:xfrm>
          <a:off x="449264" y="6120538"/>
          <a:ext cx="9793287" cy="720000"/>
        </p:xfrm>
        <a:graphic>
          <a:graphicData uri="http://schemas.openxmlformats.org/drawingml/2006/table">
            <a:tbl>
              <a:tblPr firstRow="1" bandRow="1">
                <a:noFill/>
              </a:tblPr>
              <a:tblGrid>
                <a:gridCol w="2448322">
                  <a:extLst>
                    <a:ext uri="{9D8B030D-6E8A-4147-A177-3AD203B41FA5}">
                      <a16:colId xmlns:a16="http://schemas.microsoft.com/office/drawing/2014/main" val="20000"/>
                    </a:ext>
                  </a:extLst>
                </a:gridCol>
                <a:gridCol w="2448321">
                  <a:extLst>
                    <a:ext uri="{9D8B030D-6E8A-4147-A177-3AD203B41FA5}">
                      <a16:colId xmlns:a16="http://schemas.microsoft.com/office/drawing/2014/main" val="20001"/>
                    </a:ext>
                  </a:extLst>
                </a:gridCol>
                <a:gridCol w="2448322">
                  <a:extLst>
                    <a:ext uri="{9D8B030D-6E8A-4147-A177-3AD203B41FA5}">
                      <a16:colId xmlns:a16="http://schemas.microsoft.com/office/drawing/2014/main" val="20002"/>
                    </a:ext>
                  </a:extLst>
                </a:gridCol>
                <a:gridCol w="2448322">
                  <a:extLst>
                    <a:ext uri="{9D8B030D-6E8A-4147-A177-3AD203B41FA5}">
                      <a16:colId xmlns:a16="http://schemas.microsoft.com/office/drawing/2014/main" val="20003"/>
                    </a:ext>
                  </a:extLst>
                </a:gridCol>
              </a:tblGrid>
              <a:tr h="360000">
                <a:tc>
                  <a:txBody>
                    <a:bodyPr/>
                    <a:lstStyle/>
                    <a:p>
                      <a:pPr marL="0" marR="0" lvl="0" indent="0" algn="ctr" rtl="0">
                        <a:spcBef>
                          <a:spcPts val="0"/>
                        </a:spcBef>
                        <a:spcAft>
                          <a:spcPts val="0"/>
                        </a:spcAft>
                        <a:buNone/>
                      </a:pPr>
                      <a:r>
                        <a:rPr lang="ja-JP" sz="1200" b="1" u="none" strike="noStrike" cap="none" spc="30" baseline="0" dirty="0">
                          <a:latin typeface="+mj-lt"/>
                          <a:ea typeface="+mj-ea"/>
                        </a:rPr>
                        <a:t>弊社名</a:t>
                      </a:r>
                      <a:endParaRPr sz="1200" b="1" spc="30" baseline="0" dirty="0">
                        <a:latin typeface="+mj-lt"/>
                        <a:ea typeface="+mj-ea"/>
                      </a:endParaRPr>
                    </a:p>
                  </a:txBody>
                  <a:tcPr marL="0" marR="0" marT="0" marB="0"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担当者名</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電話番号</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E-mailアドレス</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0000"/>
                  </a:ext>
                </a:extLst>
              </a:tr>
              <a:tr h="360000">
                <a:tc>
                  <a:txBody>
                    <a:bodyPr/>
                    <a:lstStyle/>
                    <a:p>
                      <a:pPr marL="0" marR="0" lvl="0" indent="0" algn="ctr" rtl="0">
                        <a:spcBef>
                          <a:spcPts val="0"/>
                        </a:spcBef>
                        <a:spcAft>
                          <a:spcPts val="0"/>
                        </a:spcAft>
                        <a:buNone/>
                      </a:pPr>
                      <a:r>
                        <a:rPr sz="1100">
                          <a:latin typeface="游ゴシック"/>
                          <a:ea typeface="游ゴシック"/>
                          <a:cs typeface="游ゴシック"/>
                        </a:rPr>
                        <a:t>株式会社M&amp;A承継機構</a:t>
                      </a:r>
                      <a:endParaRPr sz="1200" b="1" u="none" strike="noStrike" cap="none" spc="30" baseline="0" dirty="0">
                        <a:latin typeface="+mj-ea"/>
                        <a:ea typeface="+mj-ea"/>
                      </a:endParaRPr>
                    </a:p>
                  </a:txBody>
                  <a:tcPr marL="91450" marR="91450" marT="45725" marB="45725"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sz="1100">
                          <a:latin typeface="游ゴシック"/>
                          <a:ea typeface="游ゴシック"/>
                          <a:cs typeface="游ゴシック"/>
                        </a:rPr>
                        <a:t>　</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sz="1100">
                          <a:latin typeface="游ゴシック"/>
                          <a:ea typeface="游ゴシック"/>
                          <a:cs typeface="游ゴシック"/>
                        </a:rPr>
                        <a:t>　</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sz="1100">
                          <a:latin typeface="游ゴシック"/>
                          <a:ea typeface="游ゴシック"/>
                          <a:cs typeface="游ゴシック"/>
                        </a:rPr>
                        <a:t>　</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extLst>
                  <a:ext uri="{0D108BD9-81ED-4DB2-BD59-A6C34878D82A}">
                    <a16:rowId xmlns:a16="http://schemas.microsoft.com/office/drawing/2014/main" val="10001"/>
                  </a:ext>
                </a:extLst>
              </a:tr>
            </a:tbl>
          </a:graphicData>
        </a:graphic>
      </p:graphicFrame>
      <p:sp>
        <p:nvSpPr>
          <p:cNvPr id="9" name="タイトル 8">
            <a:extLst>
              <a:ext uri="{FF2B5EF4-FFF2-40B4-BE49-F238E27FC236}">
                <a16:creationId xmlns:a16="http://schemas.microsoft.com/office/drawing/2014/main" id="{02B70F11-C06B-AE35-D3C3-0142145E5C0A}"/>
              </a:ext>
            </a:extLst>
          </p:cNvPr>
          <p:cNvSpPr>
            <a:spLocks noGrp="1"/>
          </p:cNvSpPr>
          <p:nvPr>
            <p:ph type="ctrTitle"/>
          </p:nvPr>
        </p:nvSpPr>
        <p:spPr/>
        <p:txBody>
          <a:bodyPr>
            <a:normAutofit/>
          </a:bodyPr>
          <a:lstStyle/>
          <a:p>
            <a:r>
              <a:rPr lang="ja-JP" altLang="en-US" dirty="0">
                <a:solidFill/>
              </a:rPr>
              <a:t>はじめに</a:t>
            </a:r>
          </a:p>
        </p:txBody>
      </p:sp>
      <p:sp>
        <p:nvSpPr>
          <p:cNvPr id="15" name="正方形/長方形 14">
            <a:extLst>
              <a:ext uri="{FF2B5EF4-FFF2-40B4-BE49-F238E27FC236}">
                <a16:creationId xmlns:a16="http://schemas.microsoft.com/office/drawing/2014/main" id="{51A174C3-B2B8-45E2-E11E-021C915BC89C}"/>
              </a:ext>
            </a:extLst>
          </p:cNvPr>
          <p:cNvSpPr/>
          <p:nvPr/>
        </p:nvSpPr>
        <p:spPr>
          <a:xfrm>
            <a:off x="449263" y="863600"/>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重要なご留意事項</a:t>
            </a:r>
          </a:p>
        </p:txBody>
      </p:sp>
      <p:sp>
        <p:nvSpPr>
          <p:cNvPr id="23" name="テキスト ボックス 22">
            <a:extLst>
              <a:ext uri="{FF2B5EF4-FFF2-40B4-BE49-F238E27FC236}">
                <a16:creationId xmlns:a16="http://schemas.microsoft.com/office/drawing/2014/main" id="{B50E1823-5D75-9C7E-3748-4C2C1C220A43}"/>
              </a:ext>
            </a:extLst>
          </p:cNvPr>
          <p:cNvSpPr txBox="1"/>
          <p:nvPr/>
        </p:nvSpPr>
        <p:spPr>
          <a:xfrm>
            <a:off x="449263" y="1234930"/>
            <a:ext cx="9793287" cy="4012958"/>
          </a:xfrm>
          <a:prstGeom prst="rect">
            <a:avLst/>
          </a:prstGeom>
          <a:noFill/>
        </p:spPr>
        <p:txBody>
          <a:bodyPr wrap="square" lIns="0" tIns="0" rIns="0" bIns="0" rtlCol="0">
            <a:spAutoFit/>
          </a:bodyPr>
          <a:lstStyle>
            <a:defPPr marR="0" lvl="0" algn="l" rtl="0">
              <a:lnSpc>
                <a:spcPct val="100000"/>
              </a:lnSpc>
              <a:spcBef>
                <a:spcPts val="0"/>
              </a:spcBef>
              <a:spcAft>
                <a:spcPts val="0"/>
              </a:spcAft>
            </a:defPPr>
            <a:lvl1pPr marL="180000" indent="-180000">
              <a:lnSpc>
                <a:spcPct val="120000"/>
              </a:lnSpc>
              <a:spcAft>
                <a:spcPts val="1200"/>
              </a:spcAft>
              <a:buClr>
                <a:schemeClr val="tx2"/>
              </a:buClr>
              <a:buSzPct val="80000"/>
              <a:buFont typeface="Wingdings" panose="05000000000000000000" pitchFamily="2" charset="2"/>
              <a:buChar char="n"/>
              <a:defRPr kumimoji="1" sz="1200" spc="50">
                <a:latin typeface="+mn-ea"/>
              </a:defRPr>
            </a:lvl1pPr>
          </a:lstStyle>
          <a:p>
            <a:pPr>
              <a:spcAft>
                <a:spcPts val="1800"/>
              </a:spcAft>
            </a:pPr>
            <a:r>
              <a:rPr lang="ja-JP" altLang="en-US" dirty="0">
                <a:solidFill/>
                <a:ea typeface="+mn-ea"/>
              </a:rPr>
              <a:t>当該企業概要書（以下、「本概要書」といいます）は、株式会社</a:t>
            </a:r>
            <a:r>
              <a:rPr lang="en-US" altLang="ja-JP" dirty="0">
                <a:solidFill/>
                <a:ea typeface="+mn-ea"/>
              </a:rPr>
              <a:t>M&amp;A</a:t>
            </a:r>
            <a:r>
              <a:rPr lang="ja-JP" altLang="en-US" dirty="0">
                <a:solidFill/>
                <a:ea typeface="+mn-ea"/>
              </a:rPr>
              <a:t>承継機構（以下「弊社」といいます）が、対象会社の発行済株式の取得もしくは事業その他資産の譲受（以下「本取引」といいます）に関する仲介者として、対象会社から提供された情報に基づき、対象会社に関する情報を貴社に提供するために作成したものです。</a:t>
            </a:r>
          </a:p>
          <a:p>
            <a:pPr>
              <a:spcAft>
                <a:spcPts val="1800"/>
              </a:spcAft>
            </a:pPr>
            <a:r>
              <a:rPr lang="ja-JP" altLang="en-US" dirty="0">
                <a:solidFill/>
                <a:ea typeface="+mn-ea"/>
              </a:rPr>
              <a:t>本概要書の存在及び記載されている情報並びに本概要書に関する全ての連絡・協議は貴社と弊社間で締結している秘密保持契約書（以下「秘密保持契約書」といいます）に定めのある秘密情報に該当致します。</a:t>
            </a:r>
          </a:p>
          <a:p>
            <a:pPr>
              <a:spcAft>
                <a:spcPts val="1800"/>
              </a:spcAft>
            </a:pPr>
            <a:r>
              <a:rPr lang="ja-JP" altLang="en-US" dirty="0">
                <a:solidFill/>
                <a:ea typeface="+mn-ea"/>
              </a:rPr>
              <a:t>本概要書は、貴社が本取引を行うことを検討するための情報を提供することのみを目的として作成されておりますが、貴社が必要と考える全ての情報を網羅しているとは限りません。また、対象会社並びに弊社取締役、執行役員、監査役及び従業員（以下総称して「情報提供者」といいます）は、本概要書に記載されているいかなる情報及び意見に関しても、明示、黙示にかかわらず、その正確性及び完全性について表明または保証するものではありません。</a:t>
            </a:r>
          </a:p>
          <a:p>
            <a:pPr>
              <a:spcAft>
                <a:spcPts val="1800"/>
              </a:spcAft>
            </a:pPr>
            <a:r>
              <a:rPr lang="ja-JP" altLang="en-US" dirty="0">
                <a:solidFill/>
                <a:ea typeface="+mn-ea"/>
              </a:rPr>
              <a:t>本概要書は必ずしも対象会社の現況をあらわしているものではなく、本概要書に記載されている日付または本概要書に記載されている情報の日付から、対象会社の状態が変化していないことを表明するものではありません。</a:t>
            </a:r>
          </a:p>
          <a:p>
            <a:pPr>
              <a:spcAft>
                <a:spcPts val="1800"/>
              </a:spcAft>
            </a:pPr>
            <a:r>
              <a:rPr lang="ja-JP" altLang="en-US" dirty="0">
                <a:solidFill/>
                <a:ea typeface="+mn-ea"/>
              </a:rPr>
              <a:t>いかなる場合でも、本取引に関して、対象会社の役職員（元役職員を含む）及び取引先に対して、貴社及び貴社のアドバイザー等本取引に関与する者が直接、間接を問わずコンタクトをとることを禁止させていただくと共に、全てのご連絡は必ず弊社を介していただきますようお願い申し上げます。</a:t>
            </a:r>
          </a:p>
        </p:txBody>
      </p:sp>
    </p:spTree>
    <p:extLst>
      <p:ext uri="{BB962C8B-B14F-4D97-AF65-F5344CB8AC3E}">
        <p14:creationId xmlns:p14="http://schemas.microsoft.com/office/powerpoint/2010/main" val="24619439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2"/>
          <p:cNvSpPr txBox="1"/>
          <p:nvPr/>
        </p:nvSpPr>
        <p:spPr>
          <a:xfrm>
            <a:off x="6191813" y="2339371"/>
            <a:ext cx="4500000" cy="3570208"/>
          </a:xfrm>
          <a:prstGeom prst="rect">
            <a:avLst/>
          </a:prstGeom>
          <a:noFill/>
          <a:ln>
            <a:noFill/>
          </a:ln>
        </p:spPr>
        <p:txBody>
          <a:bodyPr spcFirstLastPara="1" wrap="square" lIns="0" tIns="0" rIns="0" bIns="0" anchor="t" anchorCtr="0">
            <a:spAutoFit/>
          </a:bodyPr>
          <a:lstStyle/>
          <a:p>
            <a:pPr>
              <a:lnSpc>
                <a:spcPct val="110000"/>
              </a:lnSpc>
              <a:spcAft>
                <a:spcPts val="2400"/>
              </a:spcAft>
              <a:buClr>
                <a:schemeClr val="dk1"/>
              </a:buClr>
              <a:buSzPts val="1400"/>
            </a:pPr>
            <a:r>
              <a:rPr lang="ja-JP" altLang="en-US" sz="2400" b="1" spc="70" dirty="0">
                <a:solidFill/>
                <a:latin typeface="+mj-lt"/>
                <a:ea typeface="+mj-ea"/>
              </a:rPr>
              <a:t>エグゼクティブサマリー</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solidFill/>
                <a:latin typeface="+mj-lt"/>
                <a:ea typeface="+mj-ea"/>
              </a:rPr>
              <a:t>事業概要</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solidFill/>
                <a:latin typeface="+mj-lt"/>
                <a:ea typeface="+mj-ea"/>
              </a:rPr>
              <a:t>組織、拠点、設備等</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solidFill/>
                <a:latin typeface="+mj-lt"/>
                <a:ea typeface="+mj-ea"/>
              </a:rPr>
              <a:t>財務情報</a:t>
            </a:r>
            <a:endParaRPr lang="en-US" altLang="ja-JP" sz="2400" b="1" spc="70" dirty="0">
              <a:latin typeface="+mj-lt"/>
              <a:ea typeface="+mj-ea"/>
            </a:endParaRPr>
          </a:p>
          <a:p>
            <a:pPr>
              <a:lnSpc>
                <a:spcPct val="110000"/>
              </a:lnSpc>
              <a:spcAft>
                <a:spcPts val="2400"/>
              </a:spcAft>
              <a:buClr>
                <a:schemeClr val="dk1"/>
              </a:buClr>
              <a:buSzPts val="1400"/>
            </a:pPr>
            <a:r>
              <a:rPr lang="en-US" altLang="ja-JP" sz="2400" b="1" spc="70" dirty="0">
                <a:solidFill/>
                <a:latin typeface="+mj-lt"/>
                <a:ea typeface="+mj-ea"/>
              </a:rPr>
              <a:t>Appendix</a:t>
            </a:r>
          </a:p>
        </p:txBody>
      </p:sp>
      <p:sp>
        <p:nvSpPr>
          <p:cNvPr id="6" name="正方形/長方形 5">
            <a:extLst>
              <a:ext uri="{FF2B5EF4-FFF2-40B4-BE49-F238E27FC236}">
                <a16:creationId xmlns:a16="http://schemas.microsoft.com/office/drawing/2014/main" id="{7237316E-451C-1CCC-A702-B2048F3BE5F0}"/>
              </a:ext>
            </a:extLst>
          </p:cNvPr>
          <p:cNvSpPr/>
          <p:nvPr/>
        </p:nvSpPr>
        <p:spPr>
          <a:xfrm>
            <a:off x="5624542" y="235355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solidFill/>
                <a:latin typeface="+mj-lt"/>
              </a:rPr>
              <a:t>1</a:t>
            </a:r>
            <a:endParaRPr kumimoji="1" lang="ja-JP" altLang="en-US" b="1" dirty="0">
              <a:latin typeface="+mj-lt"/>
            </a:endParaRPr>
          </a:p>
        </p:txBody>
      </p:sp>
      <p:sp>
        <p:nvSpPr>
          <p:cNvPr id="9" name="正方形/長方形 8">
            <a:extLst>
              <a:ext uri="{FF2B5EF4-FFF2-40B4-BE49-F238E27FC236}">
                <a16:creationId xmlns:a16="http://schemas.microsoft.com/office/drawing/2014/main" id="{DDB8E843-D87E-F66B-3884-439FB909A0A7}"/>
              </a:ext>
            </a:extLst>
          </p:cNvPr>
          <p:cNvSpPr/>
          <p:nvPr/>
        </p:nvSpPr>
        <p:spPr>
          <a:xfrm>
            <a:off x="5624542" y="3060631"/>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solidFill/>
                <a:latin typeface="+mj-lt"/>
              </a:rPr>
              <a:t>2</a:t>
            </a:r>
            <a:endParaRPr kumimoji="1" lang="ja-JP" altLang="en-US" b="1" dirty="0">
              <a:latin typeface="+mj-lt"/>
            </a:endParaRPr>
          </a:p>
        </p:txBody>
      </p:sp>
      <p:sp>
        <p:nvSpPr>
          <p:cNvPr id="10" name="正方形/長方形 9">
            <a:extLst>
              <a:ext uri="{FF2B5EF4-FFF2-40B4-BE49-F238E27FC236}">
                <a16:creationId xmlns:a16="http://schemas.microsoft.com/office/drawing/2014/main" id="{FF90FB9F-20F8-D38F-B8AF-4A631E224A11}"/>
              </a:ext>
            </a:extLst>
          </p:cNvPr>
          <p:cNvSpPr/>
          <p:nvPr/>
        </p:nvSpPr>
        <p:spPr>
          <a:xfrm>
            <a:off x="5624542" y="376770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solidFill/>
                <a:latin typeface="+mj-lt"/>
              </a:rPr>
              <a:t>3</a:t>
            </a:r>
            <a:endParaRPr kumimoji="1" lang="ja-JP" altLang="en-US" b="1" dirty="0">
              <a:latin typeface="+mj-lt"/>
            </a:endParaRPr>
          </a:p>
        </p:txBody>
      </p:sp>
      <p:sp>
        <p:nvSpPr>
          <p:cNvPr id="11" name="正方形/長方形 10">
            <a:extLst>
              <a:ext uri="{FF2B5EF4-FFF2-40B4-BE49-F238E27FC236}">
                <a16:creationId xmlns:a16="http://schemas.microsoft.com/office/drawing/2014/main" id="{A76F0F70-F53A-8481-50DF-B7EEDD0BEE06}"/>
              </a:ext>
            </a:extLst>
          </p:cNvPr>
          <p:cNvSpPr/>
          <p:nvPr/>
        </p:nvSpPr>
        <p:spPr>
          <a:xfrm>
            <a:off x="5624542" y="4474781"/>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solidFill/>
                <a:latin typeface="+mj-lt"/>
              </a:rPr>
              <a:t>4</a:t>
            </a:r>
            <a:endParaRPr kumimoji="1" lang="ja-JP" altLang="en-US" b="1" dirty="0">
              <a:latin typeface="+mj-lt"/>
            </a:endParaRPr>
          </a:p>
        </p:txBody>
      </p:sp>
      <p:sp>
        <p:nvSpPr>
          <p:cNvPr id="3" name="正方形/長方形 2">
            <a:extLst>
              <a:ext uri="{FF2B5EF4-FFF2-40B4-BE49-F238E27FC236}">
                <a16:creationId xmlns:a16="http://schemas.microsoft.com/office/drawing/2014/main" id="{DE430CD6-B78A-5CFE-3B87-B7F6C2A9CBEA}"/>
              </a:ext>
            </a:extLst>
          </p:cNvPr>
          <p:cNvSpPr/>
          <p:nvPr/>
        </p:nvSpPr>
        <p:spPr>
          <a:xfrm>
            <a:off x="5624542" y="518185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solidFill/>
                <a:latin typeface="+mj-lt"/>
              </a:rPr>
              <a:t>5</a:t>
            </a:r>
            <a:endParaRPr kumimoji="1" lang="ja-JP" altLang="en-US" b="1" dirty="0">
              <a:latin typeface="+mj-l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solidFill/>
              </a:rPr>
              <a:t>エグゼクティブサマリー</a:t>
            </a:r>
            <a:endParaRPr lang="en-US" altLang="ja-JP" dirty="0"/>
          </a:p>
        </p:txBody>
      </p:sp>
    </p:spTree>
    <p:extLst>
      <p:ext uri="{BB962C8B-B14F-4D97-AF65-F5344CB8AC3E}">
        <p14:creationId xmlns:p14="http://schemas.microsoft.com/office/powerpoint/2010/main" val="54040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字幕 13">
            <a:extLst>
              <a:ext uri="{FF2B5EF4-FFF2-40B4-BE49-F238E27FC236}">
                <a16:creationId xmlns:a16="http://schemas.microsoft.com/office/drawing/2014/main" id="{79A14348-475C-CD64-9408-407529B44C13}"/>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食べログ「そば 百名店」の全国区ブランド。週4日・昼のみの営業で売上22,484千円、純資産23,658千円・金融機関借入なし</a:t>
            </a:r>
            <a:endParaRPr lang="en-US" altLang="ja-JP" dirty="0"/>
          </a:p>
        </p:txBody>
      </p:sp>
      <p:sp>
        <p:nvSpPr>
          <p:cNvPr id="13" name="タイトル 12">
            <a:extLst>
              <a:ext uri="{FF2B5EF4-FFF2-40B4-BE49-F238E27FC236}">
                <a16:creationId xmlns:a16="http://schemas.microsoft.com/office/drawing/2014/main" id="{85E2D3B1-D668-47BF-7D76-2F8709456651}"/>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基本情報</a:t>
            </a:r>
          </a:p>
        </p:txBody>
      </p:sp>
      <p:sp>
        <p:nvSpPr>
          <p:cNvPr id="5" name="タイトル 1">
            <a:extLst>
              <a:ext uri="{FF2B5EF4-FFF2-40B4-BE49-F238E27FC236}">
                <a16:creationId xmlns:a16="http://schemas.microsoft.com/office/drawing/2014/main" id="{4F103961-B26C-39D9-FB80-02B45E98D11A}"/>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エグゼクティブサマリー</a:t>
            </a:r>
          </a:p>
        </p:txBody>
      </p:sp>
      <p:sp>
        <p:nvSpPr>
          <p:cNvPr id="15" name="Rectangle 14"/>
          <p:cNvSpPr/>
          <p:nvPr/>
        </p:nvSpPr>
        <p:spPr>
          <a:xfrm>
            <a:off x="310896" y="1517904"/>
            <a:ext cx="5861304"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400" b="1">
                <a:solidFill>
                  <a:srgbClr val="FFFFFF"/>
                </a:solidFill>
                <a:latin typeface="游ゴシック"/>
                <a:ea typeface="游ゴシック"/>
                <a:cs typeface="游ゴシック"/>
              </a:rPr>
              <a:t>会社概要</a:t>
            </a:r>
          </a:p>
        </p:txBody>
      </p:sp>
      <p:graphicFrame>
        <p:nvGraphicFramePr>
          <p:cNvPr id="16" name="Table 15"/>
          <p:cNvGraphicFramePr>
            <a:graphicFrameLocks noGrp="1"/>
          </p:cNvGraphicFramePr>
          <p:nvPr/>
        </p:nvGraphicFramePr>
        <p:xfrm>
          <a:off x="310896" y="1874519"/>
          <a:ext cx="5861304" cy="4818888"/>
        </p:xfrm>
        <a:graphic>
          <a:graphicData uri="http://schemas.openxmlformats.org/drawingml/2006/table">
            <a:tbl>
              <a:tblPr firstRow="0" bandRow="0">
                <a:tableStyleId>{5940675A-B579-460E-94D1-54222C63F5DA}</a:tableStyleId>
              </a:tblPr>
              <a:tblGrid>
                <a:gridCol w="1234440"/>
                <a:gridCol w="4626864"/>
              </a:tblGrid>
              <a:tr h="274320">
                <a:tc>
                  <a:txBody>
                    <a:bodyPr wrap="square"/>
                    <a:lstStyle/>
                    <a:p>
                      <a:pPr algn="ctr">
                        <a:spcAft>
                          <a:spcPts val="0"/>
                        </a:spcAft>
                      </a:pPr>
                      <a:r>
                        <a:rPr sz="850" b="1">
                          <a:solidFill>
                            <a:srgbClr val="FFFFFF"/>
                          </a:solidFill>
                          <a:latin typeface="游ゴシック"/>
                          <a:ea typeface="游ゴシック"/>
                          <a:cs typeface="游ゴシック"/>
                        </a:rPr>
                        <a:t>項目</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50"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会社名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株式会社慈久庵（店舗名：慈久庵／ https://www.jikyuan.co.jp/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本社所在地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茨城県常陸太田市天下野町2162番地（竜神大吊橋の近隣）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設立／創業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1990年4月16日設立（第37期）　※2002年に東京・南阿佐ヶ谷から現在地へ移転</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資本金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10,000千円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代表者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小川 宣夫（1947年 茨城県生まれ・79歳）</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株主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小川 宣夫 130株（65.0％）、小川 喜久子 70株（35.0％）　計200株</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事業内容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そば店「慈久庵」の経営／蕎麦粉・小麦粉の製粉・卸売／乾麺・そばつゆ・醤等の製造販売・通信販売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営業日・時間</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金・土・日・月（定休：火・水・木）　11:30〜14:30（売り切りじまい）</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従業員数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0名（代表者・配偶者の2名で運営。繁忙時は親族が就労）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許認可等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飲食店営業許可　ほか　※許可証の写しは未受領（要確認）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22,484千円（2026年5月期）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調整後EBITDA</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6,801千円（2026年5月期）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純資産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23,658千円（2026年5月期）　※金融機関借入なし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譲渡理由</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代表者の高齢化（79歳）および後継者不在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7" name="Rectangle 16"/>
          <p:cNvSpPr/>
          <p:nvPr/>
        </p:nvSpPr>
        <p:spPr>
          <a:xfrm>
            <a:off x="6355080" y="1517904"/>
            <a:ext cx="4023360"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ctr"/>
            <a:r>
              <a:rPr sz="1100" b="1">
                <a:solidFill>
                  <a:srgbClr val="FFFFFF"/>
                </a:solidFill>
                <a:latin typeface="游ゴシック"/>
                <a:ea typeface="游ゴシック"/>
                <a:cs typeface="游ゴシック"/>
              </a:rPr>
              <a:t>本件のポイント</a:t>
            </a:r>
          </a:p>
        </p:txBody>
      </p:sp>
      <p:sp>
        <p:nvSpPr>
          <p:cNvPr id="18" name="Rectangle 17"/>
          <p:cNvSpPr/>
          <p:nvPr/>
        </p:nvSpPr>
        <p:spPr>
          <a:xfrm>
            <a:off x="6355080" y="1929384"/>
            <a:ext cx="4023360" cy="89611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0889C9"/>
                </a:solidFill>
                <a:latin typeface="游ゴシック"/>
                <a:ea typeface="游ゴシック"/>
                <a:cs typeface="游ゴシック"/>
              </a:rPr>
              <a:t>全国区のブランド</a:t>
            </a:r>
          </a:p>
          <a:p>
            <a:pPr>
              <a:lnSpc>
                <a:spcPct val="114000"/>
              </a:lnSpc>
            </a:pPr>
            <a:r>
              <a:rPr sz="900" b="0">
                <a:solidFill>
                  <a:srgbClr val="1A1A1A"/>
                </a:solidFill>
                <a:latin typeface="游ゴシック"/>
                <a:ea typeface="游ゴシック"/>
                <a:cs typeface="游ゴシック"/>
              </a:rPr>
              <a:t>食べログ「そば 百名店」選出、THE TABELOG AWARD 2022・2023 Bronze、Japan Restaurant Award 2016 茨城県TOP1</a:t>
            </a:r>
          </a:p>
        </p:txBody>
      </p:sp>
      <p:sp>
        <p:nvSpPr>
          <p:cNvPr id="19" name="Rectangle 18"/>
          <p:cNvSpPr/>
          <p:nvPr/>
        </p:nvSpPr>
        <p:spPr>
          <a:xfrm>
            <a:off x="6355080" y="2880360"/>
            <a:ext cx="4023360" cy="89611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0889C9"/>
                </a:solidFill>
                <a:latin typeface="游ゴシック"/>
                <a:ea typeface="游ゴシック"/>
                <a:cs typeface="游ゴシック"/>
              </a:rPr>
              <a:t>粗挽き蕎麦の第一人者</a:t>
            </a:r>
          </a:p>
          <a:p>
            <a:pPr>
              <a:lnSpc>
                <a:spcPct val="114000"/>
              </a:lnSpc>
            </a:pPr>
            <a:r>
              <a:rPr sz="900" b="0">
                <a:solidFill>
                  <a:srgbClr val="1A1A1A"/>
                </a:solidFill>
                <a:latin typeface="游ゴシック"/>
                <a:ea typeface="游ゴシック"/>
                <a:cs typeface="游ゴシック"/>
              </a:rPr>
              <a:t>代表者は荻窪「本むら庵」で8年修業。焼畑農法を再興して24年、著書も持つ業界内の著名人</a:t>
            </a:r>
          </a:p>
        </p:txBody>
      </p:sp>
      <p:sp>
        <p:nvSpPr>
          <p:cNvPr id="20" name="Rectangle 19"/>
          <p:cNvSpPr/>
          <p:nvPr/>
        </p:nvSpPr>
        <p:spPr>
          <a:xfrm>
            <a:off x="6355080" y="3831335"/>
            <a:ext cx="4023360" cy="89611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0889C9"/>
                </a:solidFill>
                <a:latin typeface="游ゴシック"/>
                <a:ea typeface="游ゴシック"/>
                <a:cs typeface="游ゴシック"/>
              </a:rPr>
              <a:t>4本柱の収益構造</a:t>
            </a:r>
          </a:p>
          <a:p>
            <a:pPr>
              <a:lnSpc>
                <a:spcPct val="114000"/>
              </a:lnSpc>
            </a:pPr>
            <a:r>
              <a:rPr sz="900" b="0">
                <a:solidFill>
                  <a:srgbClr val="1A1A1A"/>
                </a:solidFill>
                <a:latin typeface="游ゴシック"/>
                <a:ea typeface="游ゴシック"/>
                <a:cs typeface="游ゴシック"/>
              </a:rPr>
              <a:t>店頭飲食15,099千円のほか、製粉・卸売2,273千円、通信販売・物販1,789千円、関係先向け食材供給3,323千円</a:t>
            </a:r>
          </a:p>
        </p:txBody>
      </p:sp>
      <p:sp>
        <p:nvSpPr>
          <p:cNvPr id="21" name="Rectangle 20"/>
          <p:cNvSpPr/>
          <p:nvPr/>
        </p:nvSpPr>
        <p:spPr>
          <a:xfrm>
            <a:off x="6355080" y="4782312"/>
            <a:ext cx="4023360" cy="89611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0889C9"/>
                </a:solidFill>
                <a:latin typeface="游ゴシック"/>
                <a:ea typeface="游ゴシック"/>
                <a:cs typeface="游ゴシック"/>
              </a:rPr>
              <a:t>事業用不動産を自社保有</a:t>
            </a:r>
          </a:p>
          <a:p>
            <a:pPr>
              <a:lnSpc>
                <a:spcPct val="114000"/>
              </a:lnSpc>
            </a:pPr>
            <a:r>
              <a:rPr sz="900" b="0">
                <a:solidFill>
                  <a:srgbClr val="1A1A1A"/>
                </a:solidFill>
                <a:latin typeface="游ゴシック"/>
                <a:ea typeface="游ゴシック"/>
                <a:cs typeface="游ゴシック"/>
              </a:rPr>
              <a:t>代表者が設計し私財を投じた板倉造・茅葺きの店舗（取得価額104,599千円）と土地を保有。賃料負担なし</a:t>
            </a:r>
          </a:p>
        </p:txBody>
      </p:sp>
      <p:sp>
        <p:nvSpPr>
          <p:cNvPr id="22" name="Rectangle 21"/>
          <p:cNvSpPr/>
          <p:nvPr/>
        </p:nvSpPr>
        <p:spPr>
          <a:xfrm>
            <a:off x="6355080" y="5733288"/>
            <a:ext cx="4023360" cy="89611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0889C9"/>
                </a:solidFill>
                <a:latin typeface="游ゴシック"/>
                <a:ea typeface="游ゴシック"/>
                <a:cs typeface="游ゴシック"/>
              </a:rPr>
              <a:t>論点（要確認）</a:t>
            </a:r>
          </a:p>
          <a:p>
            <a:pPr>
              <a:lnSpc>
                <a:spcPct val="114000"/>
              </a:lnSpc>
            </a:pPr>
            <a:r>
              <a:rPr sz="900" b="0">
                <a:solidFill>
                  <a:srgbClr val="1A1A1A"/>
                </a:solidFill>
                <a:latin typeface="游ゴシック"/>
                <a:ea typeface="游ゴシック"/>
                <a:cs typeface="游ゴシック"/>
              </a:rPr>
              <a:t>売上は30,121→22,484千円と4期で25.4％減。代表者・配偶者は無報酬。店舗建物は未登記で2階に居住中</a:t>
            </a:r>
          </a:p>
        </p:txBody>
      </p:sp>
      <p:sp>
        <p:nvSpPr>
          <p:cNvPr id="23" name="TextBox 22"/>
          <p:cNvSpPr txBox="1"/>
          <p:nvPr/>
        </p:nvSpPr>
        <p:spPr>
          <a:xfrm>
            <a:off x="310896" y="662940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会社名・所在地・設立・資本金・株主・役員は法人登記簿（2026年9月15日現在）、営業日・外部評価は掲載誌および現地実査による。</a:t>
            </a:r>
          </a:p>
        </p:txBody>
      </p:sp>
    </p:spTree>
    <p:extLst>
      <p:ext uri="{BB962C8B-B14F-4D97-AF65-F5344CB8AC3E}">
        <p14:creationId xmlns:p14="http://schemas.microsoft.com/office/powerpoint/2010/main" val="28193464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8EF9F-B9BD-9E7E-BA2C-5A4B51173A7F}"/>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7780A147-C248-92F8-8F3F-25BD76E0BC3B}"/>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財務ハイライト（P/L）</a:t>
            </a:r>
          </a:p>
        </p:txBody>
      </p:sp>
      <p:sp>
        <p:nvSpPr>
          <p:cNvPr id="5" name="タイトル 1">
            <a:extLst>
              <a:ext uri="{FF2B5EF4-FFF2-40B4-BE49-F238E27FC236}">
                <a16:creationId xmlns:a16="http://schemas.microsoft.com/office/drawing/2014/main" id="{BE8912DE-7392-DA52-DCED-61F45ED11AC6}"/>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エグゼクティブサマリー</a:t>
            </a:r>
          </a:p>
        </p:txBody>
      </p:sp>
      <p:sp>
        <p:nvSpPr>
          <p:cNvPr id="16" name="字幕 13">
            <a:extLst>
              <a:ext uri="{FF2B5EF4-FFF2-40B4-BE49-F238E27FC236}">
                <a16:creationId xmlns:a16="http://schemas.microsoft.com/office/drawing/2014/main" id="{7A1881B5-EF3F-935A-CE45-EAB497D19AED}"/>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売上高は4期で25.4％減少し2026/5期は営業赤字。一方で年間7,012千円の減価償却費を戻した調整後EBITDAは6,801千円を確保</a:t>
            </a:r>
            <a:endParaRPr lang="en-US" altLang="ja-JP" dirty="0">
              <a:latin typeface="+mj-ea"/>
            </a:endParaRPr>
          </a:p>
        </p:txBody>
      </p:sp>
      <p:graphicFrame>
        <p:nvGraphicFramePr>
          <p:cNvPr id="17" name="Table 16"/>
          <p:cNvGraphicFramePr>
            <a:graphicFrameLocks noGrp="1"/>
          </p:cNvGraphicFramePr>
          <p:nvPr/>
        </p:nvGraphicFramePr>
        <p:xfrm>
          <a:off x="310896" y="1408176"/>
          <a:ext cx="6044184" cy="2774280"/>
        </p:xfrm>
        <a:graphic>
          <a:graphicData uri="http://schemas.openxmlformats.org/drawingml/2006/table">
            <a:tbl>
              <a:tblPr firstRow="0" bandRow="0">
                <a:tableStyleId>{5940675A-B579-460E-94D1-54222C63F5DA}</a:tableStyleId>
              </a:tblPr>
              <a:tblGrid>
                <a:gridCol w="2112264"/>
                <a:gridCol w="786384"/>
                <a:gridCol w="786384"/>
                <a:gridCol w="786384"/>
                <a:gridCol w="786384"/>
                <a:gridCol w="786384"/>
              </a:tblGrid>
              <a:tr h="228600">
                <a:tc>
                  <a:txBody>
                    <a:bodyPr wrap="square"/>
                    <a:lstStyle/>
                    <a:p>
                      <a:pPr algn="ctr">
                        <a:spcAft>
                          <a:spcPts val="0"/>
                        </a:spcAft>
                      </a:pPr>
                      <a:r>
                        <a:rPr sz="85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50" b="1">
                          <a:solidFill>
                            <a:srgbClr val="FFFFFF"/>
                          </a:solidFill>
                          <a:latin typeface="Arial"/>
                          <a:ea typeface="Arial"/>
                          <a:cs typeface="Arial"/>
                        </a:rPr>
                        <a:t>2022/5期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50" b="1">
                          <a:solidFill>
                            <a:srgbClr val="FFFFFF"/>
                          </a:solidFill>
                          <a:latin typeface="Arial"/>
                          <a:ea typeface="Arial"/>
                          <a:cs typeface="Arial"/>
                        </a:rPr>
                        <a:t>2023/5期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5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5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5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1">
                          <a:solidFill>
                            <a:srgbClr val="1A1A1A"/>
                          </a:solidFill>
                          <a:latin typeface="游ゴシック"/>
                          <a:ea typeface="游ゴシック"/>
                          <a:cs typeface="游ゴシック"/>
                        </a:rPr>
                        <a:t>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30,121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28,446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24,455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23,542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22,484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売上総利益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13,021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10,365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8,051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7,495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6,056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　売上総利益率</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43.2%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36.4%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32.9%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31.8%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26.9%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販売費及び一般管理費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6,430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7,554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7,082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6,212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6,267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1">
                          <a:solidFill>
                            <a:srgbClr val="1A1A1A"/>
                          </a:solidFill>
                          <a:latin typeface="游ゴシック"/>
                          <a:ea typeface="游ゴシック"/>
                          <a:cs typeface="游ゴシック"/>
                        </a:rPr>
                        <a:t>営業利益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6,591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2,810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970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1,283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C03A2B"/>
                          </a:solidFill>
                          <a:latin typeface="Arial"/>
                          <a:ea typeface="Arial"/>
                          <a:cs typeface="Arial"/>
                        </a:rPr>
                        <a:t>△211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　営業利益率</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21.9%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4.0%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C03A2B"/>
                          </a:solidFill>
                          <a:latin typeface="Arial"/>
                          <a:ea typeface="Arial"/>
                          <a:cs typeface="Arial"/>
                        </a:rPr>
                        <a:t>△0.9%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経常利益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6,800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3,079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1,265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1,493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当期純利益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5,561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2,511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911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1,081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C03A2B"/>
                          </a:solidFill>
                          <a:latin typeface="Arial"/>
                          <a:ea typeface="Arial"/>
                          <a:cs typeface="Arial"/>
                        </a:rPr>
                        <a:t>△54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減価償却費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7,380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7,292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7,012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調整項目 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1">
                          <a:solidFill>
                            <a:srgbClr val="1A1A1A"/>
                          </a:solidFill>
                          <a:latin typeface="游ゴシック"/>
                          <a:ea typeface="游ゴシック"/>
                          <a:cs typeface="游ゴシック"/>
                        </a:rPr>
                        <a:t>調整後EBITDA</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1">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1">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8,350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8,575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6,801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　EBITDAマージン</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34.1%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36.4%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30.2%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8" name="Rectangle 17"/>
          <p:cNvSpPr/>
          <p:nvPr/>
        </p:nvSpPr>
        <p:spPr>
          <a:xfrm>
            <a:off x="310896" y="4645152"/>
            <a:ext cx="6044184" cy="1920240"/>
          </a:xfrm>
          <a:prstGeom prst="rect">
            <a:avLst/>
          </a:prstGeom>
          <a:solidFill>
            <a:srgbClr val="FBFCFD"/>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20624" y="4718304"/>
            <a:ext cx="5824728" cy="201168"/>
          </a:xfrm>
          <a:prstGeom prst="rect">
            <a:avLst/>
          </a:prstGeom>
          <a:noFill/>
        </p:spPr>
        <p:txBody>
          <a:bodyPr wrap="square" lIns="0" rIns="0" tIns="0" bIns="0" anchor="t">
            <a:spAutoFit/>
          </a:bodyPr>
          <a:lstStyle/>
          <a:p>
            <a:pPr algn="l">
              <a:spcAft>
                <a:spcPts val="0"/>
              </a:spcAft>
            </a:pPr>
            <a:r>
              <a:rPr sz="900" b="1">
                <a:solidFill>
                  <a:srgbClr val="0B3041"/>
                </a:solidFill>
                <a:latin typeface="游ゴシック"/>
                <a:ea typeface="游ゴシック"/>
                <a:cs typeface="游ゴシック"/>
              </a:rPr>
              <a:t>売上高の推移（千円）</a:t>
            </a:r>
          </a:p>
        </p:txBody>
      </p:sp>
      <p:sp>
        <p:nvSpPr>
          <p:cNvPr id="20" name="Rectangle 19"/>
          <p:cNvSpPr/>
          <p:nvPr/>
        </p:nvSpPr>
        <p:spPr>
          <a:xfrm>
            <a:off x="621792" y="5084064"/>
            <a:ext cx="663854" cy="1170432"/>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48640" y="4901183"/>
            <a:ext cx="840882"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30,121</a:t>
            </a:r>
          </a:p>
        </p:txBody>
      </p:sp>
      <p:sp>
        <p:nvSpPr>
          <p:cNvPr id="22" name="TextBox 21"/>
          <p:cNvSpPr txBox="1"/>
          <p:nvPr/>
        </p:nvSpPr>
        <p:spPr>
          <a:xfrm>
            <a:off x="548640" y="6300216"/>
            <a:ext cx="840882"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22/5期</a:t>
            </a:r>
          </a:p>
        </p:txBody>
      </p:sp>
      <p:sp>
        <p:nvSpPr>
          <p:cNvPr id="23" name="Rectangle 22"/>
          <p:cNvSpPr/>
          <p:nvPr/>
        </p:nvSpPr>
        <p:spPr>
          <a:xfrm>
            <a:off x="1728216" y="5149150"/>
            <a:ext cx="663854" cy="11053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655064" y="4966270"/>
            <a:ext cx="840882"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28,446</a:t>
            </a:r>
          </a:p>
        </p:txBody>
      </p:sp>
      <p:sp>
        <p:nvSpPr>
          <p:cNvPr id="25" name="TextBox 24"/>
          <p:cNvSpPr txBox="1"/>
          <p:nvPr/>
        </p:nvSpPr>
        <p:spPr>
          <a:xfrm>
            <a:off x="1655064" y="6300216"/>
            <a:ext cx="840882"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23/5期</a:t>
            </a:r>
          </a:p>
        </p:txBody>
      </p:sp>
      <p:sp>
        <p:nvSpPr>
          <p:cNvPr id="26" name="Rectangle 25"/>
          <p:cNvSpPr/>
          <p:nvPr/>
        </p:nvSpPr>
        <p:spPr>
          <a:xfrm>
            <a:off x="2834640" y="5304231"/>
            <a:ext cx="663854" cy="950264"/>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761488" y="5121351"/>
            <a:ext cx="840882"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24,455</a:t>
            </a:r>
          </a:p>
        </p:txBody>
      </p:sp>
      <p:sp>
        <p:nvSpPr>
          <p:cNvPr id="28" name="TextBox 27"/>
          <p:cNvSpPr txBox="1"/>
          <p:nvPr/>
        </p:nvSpPr>
        <p:spPr>
          <a:xfrm>
            <a:off x="2761488" y="6300216"/>
            <a:ext cx="840882"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24/5期</a:t>
            </a:r>
          </a:p>
        </p:txBody>
      </p:sp>
      <p:sp>
        <p:nvSpPr>
          <p:cNvPr id="29" name="Rectangle 28"/>
          <p:cNvSpPr/>
          <p:nvPr/>
        </p:nvSpPr>
        <p:spPr>
          <a:xfrm>
            <a:off x="3941064" y="5339708"/>
            <a:ext cx="663854" cy="914787"/>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867912" y="5156828"/>
            <a:ext cx="840882"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23,542</a:t>
            </a:r>
          </a:p>
        </p:txBody>
      </p:sp>
      <p:sp>
        <p:nvSpPr>
          <p:cNvPr id="31" name="TextBox 30"/>
          <p:cNvSpPr txBox="1"/>
          <p:nvPr/>
        </p:nvSpPr>
        <p:spPr>
          <a:xfrm>
            <a:off x="3867912" y="6300216"/>
            <a:ext cx="840882"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25/5期</a:t>
            </a:r>
          </a:p>
        </p:txBody>
      </p:sp>
      <p:sp>
        <p:nvSpPr>
          <p:cNvPr id="32" name="Rectangle 31"/>
          <p:cNvSpPr/>
          <p:nvPr/>
        </p:nvSpPr>
        <p:spPr>
          <a:xfrm>
            <a:off x="5047488" y="5380820"/>
            <a:ext cx="663854" cy="873675"/>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74336" y="5197940"/>
            <a:ext cx="840882"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22,484</a:t>
            </a:r>
          </a:p>
        </p:txBody>
      </p:sp>
      <p:sp>
        <p:nvSpPr>
          <p:cNvPr id="34" name="TextBox 33"/>
          <p:cNvSpPr txBox="1"/>
          <p:nvPr/>
        </p:nvSpPr>
        <p:spPr>
          <a:xfrm>
            <a:off x="4974336" y="6300216"/>
            <a:ext cx="840882"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26/5期</a:t>
            </a:r>
          </a:p>
        </p:txBody>
      </p:sp>
      <p:sp>
        <p:nvSpPr>
          <p:cNvPr id="35" name="Rectangle 34"/>
          <p:cNvSpPr/>
          <p:nvPr/>
        </p:nvSpPr>
        <p:spPr>
          <a:xfrm>
            <a:off x="530352" y="6254496"/>
            <a:ext cx="5641848" cy="13716"/>
          </a:xfrm>
          <a:prstGeom prst="rect">
            <a:avLst/>
          </a:prstGeom>
          <a:solidFill>
            <a:srgbClr val="E3E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6455664" y="1380744"/>
            <a:ext cx="3922776" cy="3108960"/>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547103" y="1453896"/>
            <a:ext cx="3739896"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38" name="TextBox 37"/>
          <p:cNvSpPr txBox="1"/>
          <p:nvPr/>
        </p:nvSpPr>
        <p:spPr>
          <a:xfrm>
            <a:off x="6565392" y="1801368"/>
            <a:ext cx="3703320" cy="2596896"/>
          </a:xfrm>
          <a:prstGeom prst="rect">
            <a:avLst/>
          </a:prstGeom>
          <a:noFill/>
        </p:spPr>
        <p:txBody>
          <a:bodyPr wrap="square" lIns="0" rIns="0" tIns="0" bIns="0" anchor="t">
            <a:spAutoFit/>
          </a:bodyPr>
          <a:lstStyle/>
          <a:p>
            <a:pPr algn="l">
              <a:lnSpc>
                <a:spcPct val="118000"/>
              </a:lnSpc>
              <a:spcAft>
                <a:spcPts val="200"/>
              </a:spcAft>
            </a:pPr>
            <a:r>
              <a:rPr sz="800" b="1">
                <a:solidFill>
                  <a:srgbClr val="0889C9"/>
                </a:solidFill>
                <a:latin typeface="游ゴシック"/>
                <a:ea typeface="游ゴシック"/>
                <a:cs typeface="游ゴシック"/>
              </a:rPr>
              <a:t>≪売上高≫ </a:t>
            </a:r>
            <a:r>
              <a:rPr sz="800" b="0">
                <a:solidFill>
                  <a:srgbClr val="1A1A1A"/>
                </a:solidFill>
                <a:latin typeface="游ゴシック"/>
                <a:ea typeface="游ゴシック"/>
                <a:cs typeface="游ゴシック"/>
              </a:rPr>
              <a:t>30,121→22,484千円（4期で△25.4%）。営業日数は203→200日とほぼ一定であり、減収は店頭日商の低下（86→75千円）による。</a:t>
            </a:r>
          </a:p>
          <a:p>
            <a:pPr algn="l">
              <a:spcAft>
                <a:spcPts val="200"/>
              </a:spcAft>
            </a:pPr>
          </a:p>
          <a:p>
            <a:pPr algn="l">
              <a:lnSpc>
                <a:spcPct val="118000"/>
              </a:lnSpc>
              <a:spcAft>
                <a:spcPts val="200"/>
              </a:spcAft>
            </a:pPr>
            <a:r>
              <a:rPr sz="800" b="1">
                <a:solidFill>
                  <a:srgbClr val="0889C9"/>
                </a:solidFill>
                <a:latin typeface="游ゴシック"/>
                <a:ea typeface="游ゴシック"/>
                <a:cs typeface="游ゴシック"/>
              </a:rPr>
              <a:t>≪売上総利益≫ </a:t>
            </a:r>
            <a:r>
              <a:rPr sz="800" b="0">
                <a:solidFill>
                  <a:srgbClr val="1A1A1A"/>
                </a:solidFill>
                <a:latin typeface="游ゴシック"/>
                <a:ea typeface="游ゴシック"/>
                <a:cs typeface="游ゴシック"/>
              </a:rPr>
              <a:t>粗利率は43.2→26.9％へ低下。製造原価の42.3％を占める減価償却費7,012千円が固定費であり、減収が粗利率低下に直結する。</a:t>
            </a:r>
          </a:p>
          <a:p>
            <a:pPr algn="l">
              <a:spcAft>
                <a:spcPts val="200"/>
              </a:spcAft>
            </a:pPr>
          </a:p>
          <a:p>
            <a:pPr algn="l">
              <a:lnSpc>
                <a:spcPct val="118000"/>
              </a:lnSpc>
              <a:spcAft>
                <a:spcPts val="200"/>
              </a:spcAft>
            </a:pPr>
            <a:r>
              <a:rPr sz="800" b="1">
                <a:solidFill>
                  <a:srgbClr val="0889C9"/>
                </a:solidFill>
                <a:latin typeface="游ゴシック"/>
                <a:ea typeface="游ゴシック"/>
                <a:cs typeface="游ゴシック"/>
              </a:rPr>
              <a:t>≪営業利益≫ </a:t>
            </a:r>
            <a:r>
              <a:rPr sz="800" b="0">
                <a:solidFill>
                  <a:srgbClr val="1A1A1A"/>
                </a:solidFill>
                <a:latin typeface="游ゴシック"/>
                <a:ea typeface="游ゴシック"/>
                <a:cs typeface="游ゴシック"/>
              </a:rPr>
              <a:t>2026/5期は△211千円。販管費6,267千円は前期比ほぼ横ばいで、赤字化は粗利の減少による。</a:t>
            </a:r>
          </a:p>
          <a:p>
            <a:pPr algn="l">
              <a:spcAft>
                <a:spcPts val="200"/>
              </a:spcAft>
            </a:pPr>
          </a:p>
          <a:p>
            <a:pPr algn="l">
              <a:lnSpc>
                <a:spcPct val="118000"/>
              </a:lnSpc>
              <a:spcAft>
                <a:spcPts val="200"/>
              </a:spcAft>
            </a:pPr>
            <a:r>
              <a:rPr sz="800" b="1">
                <a:solidFill>
                  <a:srgbClr val="0889C9"/>
                </a:solidFill>
                <a:latin typeface="游ゴシック"/>
                <a:ea typeface="游ゴシック"/>
                <a:cs typeface="游ゴシック"/>
              </a:rPr>
              <a:t>≪見通し≫ </a:t>
            </a:r>
            <a:r>
              <a:rPr sz="800" b="0">
                <a:solidFill>
                  <a:srgbClr val="1A1A1A"/>
                </a:solidFill>
                <a:latin typeface="游ゴシック"/>
                <a:ea typeface="游ゴシック"/>
                <a:cs typeface="游ゴシック"/>
              </a:rPr>
              <a:t>減価償却費は旧定額法・旧定率法の資産が中心で今後逓減。営業日数・営業時間の拡大が最も直接的な改善策（P.19）。</a:t>
            </a:r>
          </a:p>
        </p:txBody>
      </p:sp>
      <p:sp>
        <p:nvSpPr>
          <p:cNvPr id="39" name="Rectangle 38"/>
          <p:cNvSpPr/>
          <p:nvPr/>
        </p:nvSpPr>
        <p:spPr>
          <a:xfrm>
            <a:off x="6455664" y="4608576"/>
            <a:ext cx="3922776" cy="1975104"/>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547103" y="4681728"/>
            <a:ext cx="3739896" cy="274320"/>
          </a:xfrm>
          <a:prstGeom prst="rect">
            <a:avLst/>
          </a:prstGeom>
          <a:noFill/>
        </p:spPr>
        <p:txBody>
          <a:bodyPr wrap="square" lIns="0" rIns="0" tIns="0" bIns="0" anchor="t">
            <a:spAutoFit/>
          </a:bodyPr>
          <a:lstStyle/>
          <a:p>
            <a:pPr algn="l">
              <a:spcAft>
                <a:spcPts val="0"/>
              </a:spcAft>
            </a:pPr>
            <a:r>
              <a:rPr sz="1100" b="1">
                <a:solidFill>
                  <a:srgbClr val="0B3041"/>
                </a:solidFill>
                <a:latin typeface="游ゴシック"/>
                <a:ea typeface="游ゴシック"/>
                <a:cs typeface="游ゴシック"/>
              </a:rPr>
              <a:t>【調整項目】</a:t>
            </a:r>
          </a:p>
        </p:txBody>
      </p:sp>
      <p:sp>
        <p:nvSpPr>
          <p:cNvPr id="41" name="TextBox 40"/>
          <p:cNvSpPr txBox="1"/>
          <p:nvPr/>
        </p:nvSpPr>
        <p:spPr>
          <a:xfrm>
            <a:off x="6565392" y="5029200"/>
            <a:ext cx="3703320" cy="1463040"/>
          </a:xfrm>
          <a:prstGeom prst="rect">
            <a:avLst/>
          </a:prstGeom>
          <a:noFill/>
        </p:spPr>
        <p:txBody>
          <a:bodyPr wrap="square" lIns="0" rIns="0" tIns="0" bIns="0" anchor="t">
            <a:spAutoFit/>
          </a:bodyPr>
          <a:lstStyle/>
          <a:p>
            <a:pPr algn="l">
              <a:lnSpc>
                <a:spcPct val="118000"/>
              </a:lnSpc>
              <a:spcAft>
                <a:spcPts val="200"/>
              </a:spcAft>
            </a:pPr>
            <a:r>
              <a:rPr sz="800" b="1">
                <a:solidFill>
                  <a:srgbClr val="0889C9"/>
                </a:solidFill>
                <a:latin typeface="游ゴシック"/>
                <a:ea typeface="游ゴシック"/>
                <a:cs typeface="游ゴシック"/>
              </a:rPr>
              <a:t>≪P/L上の調整項目≫ </a:t>
            </a:r>
            <a:r>
              <a:rPr sz="800" b="0">
                <a:solidFill>
                  <a:srgbClr val="1A1A1A"/>
                </a:solidFill>
                <a:latin typeface="游ゴシック"/>
                <a:ea typeface="游ゴシック"/>
                <a:cs typeface="游ゴシック"/>
              </a:rPr>
              <a:t>加減算すべき項目は認められない。代表者・配偶者は無報酬のため加算すべき役員報酬はゼロ。補助金収入・圧縮記帳損等の非経常損益は営業外に計上。</a:t>
            </a:r>
          </a:p>
          <a:p>
            <a:pPr algn="l">
              <a:spcAft>
                <a:spcPts val="200"/>
              </a:spcAft>
            </a:pPr>
          </a:p>
          <a:p>
            <a:pPr algn="l">
              <a:spcAft>
                <a:spcPts val="200"/>
              </a:spcAft>
            </a:pPr>
            <a:r>
              <a:rPr sz="850" b="1">
                <a:solidFill>
                  <a:srgbClr val="0B3041"/>
                </a:solidFill>
                <a:latin typeface="游ゴシック"/>
                <a:ea typeface="游ゴシック"/>
                <a:cs typeface="游ゴシック"/>
              </a:rPr>
              <a:t>✓ 調整後EBITDA（過去3期平均）7,908千円</a:t>
            </a:r>
          </a:p>
          <a:p>
            <a:pPr algn="l">
              <a:spcAft>
                <a:spcPts val="200"/>
              </a:spcAft>
            </a:pPr>
            <a:r>
              <a:rPr sz="850" b="1">
                <a:solidFill>
                  <a:srgbClr val="0B3041"/>
                </a:solidFill>
                <a:latin typeface="游ゴシック"/>
                <a:ea typeface="游ゴシック"/>
                <a:cs typeface="游ゴシック"/>
              </a:rPr>
              <a:t>✓ 直近2期平均 7,688千円</a:t>
            </a:r>
          </a:p>
          <a:p>
            <a:pPr algn="l">
              <a:spcAft>
                <a:spcPts val="200"/>
              </a:spcAft>
            </a:pPr>
          </a:p>
          <a:p>
            <a:pPr algn="l">
              <a:lnSpc>
                <a:spcPct val="116000"/>
              </a:lnSpc>
              <a:spcAft>
                <a:spcPts val="200"/>
              </a:spcAft>
            </a:pPr>
            <a:r>
              <a:rPr sz="760" b="0">
                <a:solidFill>
                  <a:srgbClr val="5A6670"/>
                </a:solidFill>
                <a:latin typeface="游ゴシック"/>
                <a:ea typeface="游ゴシック"/>
                <a:cs typeface="游ゴシック"/>
              </a:rPr>
              <a:t>※ 代表者・配偶者が無報酬であるため、新体制では職人人件費の手当が必要。感応度は P.19 に記載。</a:t>
            </a:r>
          </a:p>
        </p:txBody>
      </p:sp>
      <p:sp>
        <p:nvSpPr>
          <p:cNvPr id="42" name="TextBox 41"/>
          <p:cNvSpPr txBox="1"/>
          <p:nvPr/>
        </p:nvSpPr>
        <p:spPr>
          <a:xfrm>
            <a:off x="310896" y="6638544"/>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2022/5期・2023/5期は決算書からの直接転記。2024/5期以降は案件マスター（PLシート）の数値。調整後EBITDA＝営業利益＋減価償却費。</a:t>
            </a:r>
          </a:p>
          <a:p>
            <a:pPr algn="l">
              <a:lnSpc>
                <a:spcPct val="112000"/>
              </a:lnSpc>
              <a:spcAft>
                <a:spcPts val="100"/>
              </a:spcAft>
            </a:pPr>
            <a:r>
              <a:rPr sz="750" b="0">
                <a:solidFill>
                  <a:srgbClr val="5A6670"/>
                </a:solidFill>
                <a:latin typeface="游ゴシック"/>
                <a:ea typeface="游ゴシック"/>
                <a:cs typeface="游ゴシック"/>
              </a:rPr>
              <a:t>※ 減価償却費は製造原価報告書計上額（2024/5期のみ販管費115千円を含む）。</a:t>
            </a:r>
          </a:p>
        </p:txBody>
      </p:sp>
    </p:spTree>
    <p:extLst>
      <p:ext uri="{BB962C8B-B14F-4D97-AF65-F5344CB8AC3E}">
        <p14:creationId xmlns:p14="http://schemas.microsoft.com/office/powerpoint/2010/main" val="30165897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25D46-8BE9-D21F-8F78-292CE6E9B929}"/>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2AA39DD4-3E77-6023-715D-76F64D8C46A7}"/>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財務ハイライト（B/S）</a:t>
            </a:r>
          </a:p>
        </p:txBody>
      </p:sp>
      <p:sp>
        <p:nvSpPr>
          <p:cNvPr id="5" name="タイトル 1">
            <a:extLst>
              <a:ext uri="{FF2B5EF4-FFF2-40B4-BE49-F238E27FC236}">
                <a16:creationId xmlns:a16="http://schemas.microsoft.com/office/drawing/2014/main" id="{393BEF8A-36B7-CC08-2D29-C971912378C9}"/>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エグゼクティブサマリー</a:t>
            </a:r>
          </a:p>
        </p:txBody>
      </p:sp>
      <p:sp>
        <p:nvSpPr>
          <p:cNvPr id="11" name="字幕 13">
            <a:extLst>
              <a:ext uri="{FF2B5EF4-FFF2-40B4-BE49-F238E27FC236}">
                <a16:creationId xmlns:a16="http://schemas.microsoft.com/office/drawing/2014/main" id="{4BDEA35E-AAC5-A70B-357F-0FB600B4A83F}"/>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金融機関借入はゼロ。負債33,673千円のうち32,744千円は代表者・配偶者からの無利息借入で、実質的な純資産は厚い</a:t>
            </a:r>
            <a:endParaRPr lang="en-US" altLang="ja-JP" dirty="0"/>
          </a:p>
        </p:txBody>
      </p:sp>
      <p:graphicFrame>
        <p:nvGraphicFramePr>
          <p:cNvPr id="14" name="Table 13"/>
          <p:cNvGraphicFramePr>
            <a:graphicFrameLocks noGrp="1"/>
          </p:cNvGraphicFramePr>
          <p:nvPr/>
        </p:nvGraphicFramePr>
        <p:xfrm>
          <a:off x="338328" y="1380744"/>
          <a:ext cx="5001766" cy="3570732"/>
        </p:xfrm>
        <a:graphic>
          <a:graphicData uri="http://schemas.openxmlformats.org/drawingml/2006/table">
            <a:tbl>
              <a:tblPr firstRow="0" bandRow="0">
                <a:tableStyleId>{5940675A-B579-460E-94D1-54222C63F5DA}</a:tableStyleId>
              </a:tblPr>
              <a:tblGrid>
                <a:gridCol w="1641801"/>
                <a:gridCol w="801810"/>
                <a:gridCol w="114544"/>
                <a:gridCol w="1641801"/>
                <a:gridCol w="801810"/>
              </a:tblGrid>
              <a:tr h="228600">
                <a:tc>
                  <a:txBody>
                    <a:bodyPr wrap="square"/>
                    <a:lstStyle/>
                    <a:p>
                      <a:pPr algn="ctr">
                        <a:spcAft>
                          <a:spcPts val="0"/>
                        </a:spcAft>
                      </a:pPr>
                      <a:r>
                        <a:rPr sz="80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　</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1">
                          <a:solidFill>
                            <a:srgbClr val="1A1A1A"/>
                          </a:solidFill>
                          <a:latin typeface="游ゴシック"/>
                          <a:ea typeface="游ゴシック"/>
                          <a:cs typeface="游ゴシック"/>
                        </a:rPr>
                        <a:t>【流動資産】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6,989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1">
                          <a:solidFill>
                            <a:srgbClr val="1A1A1A"/>
                          </a:solidFill>
                          <a:latin typeface="游ゴシック"/>
                          <a:ea typeface="游ゴシック"/>
                          <a:cs typeface="游ゴシック"/>
                        </a:rPr>
                        <a:t>【流動負債】</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929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現金及び預金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未払金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棚卸資産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2,354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未払法人税等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前払費用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未払消費税等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未収入金 ※1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3,323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【固定負債】</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32,744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未収還付法人税等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170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長期借入金 ※5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32,744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1">
                          <a:solidFill>
                            <a:srgbClr val="1A1A1A"/>
                          </a:solidFill>
                          <a:latin typeface="游ゴシック"/>
                          <a:ea typeface="游ゴシック"/>
                          <a:cs typeface="游ゴシック"/>
                        </a:rPr>
                        <a:t>【固定資産】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50,341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1">
                          <a:solidFill>
                            <a:srgbClr val="1A1A1A"/>
                          </a:solidFill>
                          <a:latin typeface="游ゴシック"/>
                          <a:ea typeface="游ゴシック"/>
                          <a:cs typeface="游ゴシック"/>
                        </a:rPr>
                        <a:t>負債合計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33,673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建物 ※2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39,249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資本金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構築物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利益剰余金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13,658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4,219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純資産合計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23,658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車両運搬具 ※3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負債・純資産合計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57,330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工具、器具及び備品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1,677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土地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3,450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リース資産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電話加入権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出資金 ※4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資産合計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57,330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5559552" y="1380744"/>
            <a:ext cx="4791456" cy="2505456"/>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650992" y="1453896"/>
            <a:ext cx="4608576"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17" name="TextBox 16"/>
          <p:cNvSpPr txBox="1"/>
          <p:nvPr/>
        </p:nvSpPr>
        <p:spPr>
          <a:xfrm>
            <a:off x="5669280" y="1801368"/>
            <a:ext cx="4572000" cy="1993392"/>
          </a:xfrm>
          <a:prstGeom prst="rect">
            <a:avLst/>
          </a:prstGeom>
          <a:noFill/>
        </p:spPr>
        <p:txBody>
          <a:bodyPr wrap="square" lIns="0" rIns="0" tIns="0" bIns="0" anchor="t">
            <a:spAutoFit/>
          </a:bodyPr>
          <a:lstStyle/>
          <a:p>
            <a:pPr algn="l">
              <a:lnSpc>
                <a:spcPct val="118000"/>
              </a:lnSpc>
              <a:spcAft>
                <a:spcPts val="200"/>
              </a:spcAft>
            </a:pPr>
            <a:r>
              <a:rPr sz="800" b="1">
                <a:solidFill>
                  <a:srgbClr val="0889C9"/>
                </a:solidFill>
                <a:latin typeface="游ゴシック"/>
                <a:ea typeface="游ゴシック"/>
                <a:cs typeface="游ゴシック"/>
              </a:rPr>
              <a:t>≪建物 39,249千円≫ </a:t>
            </a:r>
            <a:r>
              <a:rPr sz="800" b="0">
                <a:solidFill>
                  <a:srgbClr val="1A1A1A"/>
                </a:solidFill>
                <a:latin typeface="游ゴシック"/>
                <a:ea typeface="游ゴシック"/>
                <a:cs typeface="游ゴシック"/>
              </a:rPr>
              <a:t>取得価額104,599千円。代表者が設計し私財を投じた板倉造・茅葺きの店舗。うち塩町館関連5,442千円は当社の事業に未供用。店舗建物は未登記。</a:t>
            </a:r>
          </a:p>
          <a:p>
            <a:pPr algn="l">
              <a:spcAft>
                <a:spcPts val="200"/>
              </a:spcAft>
            </a:pPr>
          </a:p>
          <a:p>
            <a:pPr algn="l">
              <a:lnSpc>
                <a:spcPct val="118000"/>
              </a:lnSpc>
              <a:spcAft>
                <a:spcPts val="200"/>
              </a:spcAft>
            </a:pPr>
            <a:r>
              <a:rPr sz="800" b="1">
                <a:solidFill>
                  <a:srgbClr val="0889C9"/>
                </a:solidFill>
                <a:latin typeface="游ゴシック"/>
                <a:ea typeface="游ゴシック"/>
                <a:cs typeface="游ゴシック"/>
              </a:rPr>
              <a:t>≪長期借入金 32,744千円≫ </a:t>
            </a:r>
            <a:r>
              <a:rPr sz="800" b="0">
                <a:solidFill>
                  <a:srgbClr val="1A1A1A"/>
                </a:solidFill>
                <a:latin typeface="游ゴシック"/>
                <a:ea typeface="游ゴシック"/>
                <a:cs typeface="游ゴシック"/>
              </a:rPr>
              <a:t>全額が代表者（9,518千円）・配偶者（23,226千円）からの借入。金融機関借入・連帯保証はなく利息の支払もない。本件実行時の取扱いは応相談。</a:t>
            </a:r>
          </a:p>
          <a:p>
            <a:pPr algn="l">
              <a:spcAft>
                <a:spcPts val="200"/>
              </a:spcAft>
            </a:pPr>
          </a:p>
          <a:p>
            <a:pPr algn="l">
              <a:lnSpc>
                <a:spcPct val="118000"/>
              </a:lnSpc>
              <a:spcAft>
                <a:spcPts val="200"/>
              </a:spcAft>
            </a:pPr>
            <a:r>
              <a:rPr sz="800" b="1">
                <a:solidFill>
                  <a:srgbClr val="0889C9"/>
                </a:solidFill>
                <a:latin typeface="游ゴシック"/>
                <a:ea typeface="游ゴシック"/>
                <a:cs typeface="游ゴシック"/>
              </a:rPr>
              <a:t>≪未収入金 3,323千円 ※1≫ </a:t>
            </a:r>
            <a:r>
              <a:rPr sz="800" b="0">
                <a:solidFill>
                  <a:srgbClr val="1A1A1A"/>
                </a:solidFill>
                <a:latin typeface="游ゴシック"/>
                <a:ea typeface="游ゴシック"/>
                <a:cs typeface="游ゴシック"/>
              </a:rPr>
              <a:t>塩町館2,624千円・小びと699千円。2,152→2,737→3,323千円と3期連続で増加しており、回収条件・回収可能性は要確認。</a:t>
            </a:r>
          </a:p>
        </p:txBody>
      </p:sp>
      <p:sp>
        <p:nvSpPr>
          <p:cNvPr id="18" name="Rectangle 17"/>
          <p:cNvSpPr/>
          <p:nvPr/>
        </p:nvSpPr>
        <p:spPr>
          <a:xfrm>
            <a:off x="5559552" y="4005072"/>
            <a:ext cx="4791456" cy="2578608"/>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650992" y="4078224"/>
            <a:ext cx="4608576" cy="274320"/>
          </a:xfrm>
          <a:prstGeom prst="rect">
            <a:avLst/>
          </a:prstGeom>
          <a:noFill/>
        </p:spPr>
        <p:txBody>
          <a:bodyPr wrap="square" lIns="0" rIns="0" tIns="0" bIns="0" anchor="t">
            <a:spAutoFit/>
          </a:bodyPr>
          <a:lstStyle/>
          <a:p>
            <a:pPr algn="l">
              <a:spcAft>
                <a:spcPts val="0"/>
              </a:spcAft>
            </a:pPr>
            <a:r>
              <a:rPr sz="1100" b="1">
                <a:solidFill>
                  <a:srgbClr val="0B3041"/>
                </a:solidFill>
                <a:latin typeface="游ゴシック"/>
                <a:ea typeface="游ゴシック"/>
                <a:cs typeface="游ゴシック"/>
              </a:rPr>
              <a:t>【時価修正の着眼点】</a:t>
            </a:r>
          </a:p>
        </p:txBody>
      </p:sp>
      <p:sp>
        <p:nvSpPr>
          <p:cNvPr id="20" name="TextBox 19"/>
          <p:cNvSpPr txBox="1"/>
          <p:nvPr/>
        </p:nvSpPr>
        <p:spPr>
          <a:xfrm>
            <a:off x="5669280" y="4425696"/>
            <a:ext cx="4572000" cy="2066543"/>
          </a:xfrm>
          <a:prstGeom prst="rect">
            <a:avLst/>
          </a:prstGeom>
          <a:noFill/>
        </p:spPr>
        <p:txBody>
          <a:bodyPr wrap="square" lIns="0" rIns="0" tIns="0" bIns="0" anchor="t">
            <a:spAutoFit/>
          </a:bodyPr>
          <a:lstStyle/>
          <a:p>
            <a:pPr algn="l">
              <a:lnSpc>
                <a:spcPct val="118000"/>
              </a:lnSpc>
              <a:spcAft>
                <a:spcPts val="200"/>
              </a:spcAft>
            </a:pPr>
            <a:r>
              <a:rPr sz="800" b="1">
                <a:solidFill>
                  <a:srgbClr val="0889C9"/>
                </a:solidFill>
                <a:latin typeface="游ゴシック"/>
                <a:ea typeface="游ゴシック"/>
                <a:cs typeface="游ゴシック"/>
              </a:rPr>
              <a:t>≪土地 3,450千円≫ </a:t>
            </a:r>
            <a:r>
              <a:rPr sz="800" b="0">
                <a:solidFill>
                  <a:srgbClr val="1A1A1A"/>
                </a:solidFill>
                <a:latin typeface="游ゴシック"/>
                <a:ea typeface="游ゴシック"/>
                <a:cs typeface="游ゴシック"/>
              </a:rPr>
              <a:t>簿価は取得原価。路線価・固定資産税評価額による時価評価は未実施（要確認）。</a:t>
            </a:r>
          </a:p>
          <a:p>
            <a:pPr algn="l">
              <a:spcAft>
                <a:spcPts val="200"/>
              </a:spcAft>
            </a:pPr>
          </a:p>
          <a:p>
            <a:pPr algn="l">
              <a:lnSpc>
                <a:spcPct val="118000"/>
              </a:lnSpc>
              <a:spcAft>
                <a:spcPts val="200"/>
              </a:spcAft>
            </a:pPr>
            <a:r>
              <a:rPr sz="800" b="1">
                <a:solidFill>
                  <a:srgbClr val="0889C9"/>
                </a:solidFill>
                <a:latin typeface="游ゴシック"/>
                <a:ea typeface="游ゴシック"/>
                <a:cs typeface="游ゴシック"/>
              </a:rPr>
              <a:t>≪車両運搬具 2千円 ※3≫ </a:t>
            </a:r>
            <a:r>
              <a:rPr sz="800" b="0">
                <a:solidFill>
                  <a:srgbClr val="1A1A1A"/>
                </a:solidFill>
                <a:latin typeface="游ゴシック"/>
                <a:ea typeface="游ゴシック"/>
                <a:cs typeface="游ゴシック"/>
              </a:rPr>
              <a:t>ローバー車・シトロエン2CVフォルゴネットの2台。いずれも償却済（簿価1円）で、時価評価の余地あり。譲渡対象の要否は要協議。</a:t>
            </a:r>
          </a:p>
          <a:p>
            <a:pPr algn="l">
              <a:spcAft>
                <a:spcPts val="200"/>
              </a:spcAft>
            </a:pPr>
          </a:p>
          <a:p>
            <a:pPr algn="l">
              <a:lnSpc>
                <a:spcPct val="118000"/>
              </a:lnSpc>
              <a:spcAft>
                <a:spcPts val="200"/>
              </a:spcAft>
            </a:pPr>
            <a:r>
              <a:rPr sz="800" b="1">
                <a:solidFill>
                  <a:srgbClr val="0889C9"/>
                </a:solidFill>
                <a:latin typeface="游ゴシック"/>
                <a:ea typeface="游ゴシック"/>
                <a:cs typeface="游ゴシック"/>
              </a:rPr>
              <a:t>≪出資金 1,100千円 ※4≫ </a:t>
            </a:r>
            <a:r>
              <a:rPr sz="800" b="0">
                <a:solidFill>
                  <a:srgbClr val="1A1A1A"/>
                </a:solidFill>
                <a:latin typeface="游ゴシック"/>
                <a:ea typeface="游ゴシック"/>
                <a:cs typeface="游ゴシック"/>
              </a:rPr>
              <a:t>（株）慈久庵咸亨酒1,000千円、（株）慈久庵伊勢又100千円。いずれも関係会社であり本件での取扱いは要協議。</a:t>
            </a:r>
          </a:p>
          <a:p>
            <a:pPr algn="l">
              <a:spcAft>
                <a:spcPts val="200"/>
              </a:spcAft>
            </a:pPr>
          </a:p>
          <a:p>
            <a:pPr algn="l">
              <a:lnSpc>
                <a:spcPct val="118000"/>
              </a:lnSpc>
              <a:spcAft>
                <a:spcPts val="200"/>
              </a:spcAft>
            </a:pPr>
            <a:r>
              <a:rPr sz="800" b="1">
                <a:solidFill>
                  <a:srgbClr val="0889C9"/>
                </a:solidFill>
                <a:latin typeface="游ゴシック"/>
                <a:ea typeface="游ゴシック"/>
                <a:cs typeface="游ゴシック"/>
              </a:rPr>
              <a:t>≪簿外の価値≫ </a:t>
            </a:r>
            <a:r>
              <a:rPr sz="800" b="0">
                <a:solidFill>
                  <a:srgbClr val="1A1A1A"/>
                </a:solidFill>
                <a:latin typeface="游ゴシック"/>
                <a:ea typeface="游ゴシック"/>
                <a:cs typeface="游ゴシック"/>
              </a:rPr>
              <a:t>商標権（登録4件）は償却済で簿価ゼロ。「慈久庵」「古式けんちんそば」のブランド価値はB/Sに反映されていない。</a:t>
            </a:r>
          </a:p>
        </p:txBody>
      </p:sp>
      <p:sp>
        <p:nvSpPr>
          <p:cNvPr id="21" name="TextBox 20"/>
          <p:cNvSpPr txBox="1"/>
          <p:nvPr/>
        </p:nvSpPr>
        <p:spPr>
          <a:xfrm>
            <a:off x="310896" y="667512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2026年5月期（2026年5月31日）の決算書および勘定科目内訳明細書に基づく。時価純資産の算定は未了。千円未満の端数処理により合計が一致しない場合がある。</a:t>
            </a:r>
          </a:p>
        </p:txBody>
      </p:sp>
    </p:spTree>
    <p:extLst>
      <p:ext uri="{BB962C8B-B14F-4D97-AF65-F5344CB8AC3E}">
        <p14:creationId xmlns:p14="http://schemas.microsoft.com/office/powerpoint/2010/main" val="40303346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7" name="タイトル 6">
            <a:extLst>
              <a:ext uri="{FF2B5EF4-FFF2-40B4-BE49-F238E27FC236}">
                <a16:creationId xmlns:a16="http://schemas.microsoft.com/office/drawing/2014/main" id="{5297D612-8E56-9402-459F-FE068C2C5D1A}"/>
              </a:ext>
            </a:extLst>
          </p:cNvPr>
          <p:cNvSpPr>
            <a:spLocks noGrp="1"/>
          </p:cNvSpPr>
          <p:nvPr>
            <p:ph type="ctrTitle"/>
          </p:nvPr>
        </p:nvSpPr>
        <p:spPr>
          <a:xfrm>
            <a:off x="341313" y="180296"/>
            <a:ext cx="7799917" cy="339267"/>
          </a:xfrm>
        </p:spPr>
        <p:txBody>
          <a:bodyPr/>
          <a:lstStyle/>
          <a:p>
            <a:r>
              <a:rPr lang="zh-CN" altLang="en-US" dirty="0">
                <a:solidFill/>
              </a:rPr>
              <a:t>譲渡希望条件</a:t>
            </a:r>
          </a:p>
        </p:txBody>
      </p:sp>
      <p:sp>
        <p:nvSpPr>
          <p:cNvPr id="9" name="タイトル 1">
            <a:extLst>
              <a:ext uri="{FF2B5EF4-FFF2-40B4-BE49-F238E27FC236}">
                <a16:creationId xmlns:a16="http://schemas.microsoft.com/office/drawing/2014/main" id="{203C135E-3923-6D8E-447A-FF4DC0536B9B}"/>
              </a:ext>
            </a:extLst>
          </p:cNvPr>
          <p:cNvSpPr txBox="1">
            <a:spLocks/>
          </p:cNvSpPr>
          <p:nvPr/>
        </p:nvSpPr>
        <p:spPr>
          <a:xfrm>
            <a:off x="8366333" y="252154"/>
            <a:ext cx="1984167" cy="184666"/>
          </a:xfrm>
          <a:prstGeom prst="rect">
            <a:avLst/>
          </a:prstGeom>
        </p:spPr>
        <p:txBody>
          <a:bodyPr vert="horz" lIns="0" tIns="0" rIns="0" bIns="0" rtlCol="0" anchor="ctr">
            <a:spAutoFit/>
          </a:bodyPr>
          <a:lstStyle>
            <a:defPPr marR="0" lvl="0" algn="l" rtl="0">
              <a:lnSpc>
                <a:spcPct val="100000"/>
              </a:lnSpc>
              <a:spcBef>
                <a:spcPts val="0"/>
              </a:spcBef>
              <a:spcAft>
                <a:spcPts val="0"/>
              </a:spcAft>
              <a:defRPr/>
            </a:defPPr>
            <a:lvl1pPr algn="r" defTabSz="914400" eaLnBrk="1" latinLnBrk="0" hangingPunct="1">
              <a:spcBef>
                <a:spcPct val="0"/>
              </a:spcBef>
              <a:buClr>
                <a:schemeClr val="bg1"/>
              </a:buClr>
              <a:buNone/>
              <a:defRPr kumimoji="1" sz="1200" b="1" kern="1200" spc="55">
                <a:solidFill>
                  <a:schemeClr val="bg1"/>
                </a:solidFill>
                <a:latin typeface="+mj-lt"/>
                <a:ea typeface="+mj-ea"/>
                <a:cs typeface="+mj-cs"/>
              </a:defRPr>
            </a:lvl1pPr>
          </a:lstStyle>
          <a:p>
            <a:r>
              <a:rPr sz="1200" b="1">
                <a:latin typeface="游ゴシック"/>
                <a:ea typeface="游ゴシック"/>
                <a:cs typeface="游ゴシック"/>
              </a:rPr>
              <a:t>　エグゼクティブサマリー</a:t>
            </a:r>
          </a:p>
        </p:txBody>
      </p:sp>
      <p:sp>
        <p:nvSpPr>
          <p:cNvPr id="18" name="正方形/長方形 17">
            <a:extLst>
              <a:ext uri="{FF2B5EF4-FFF2-40B4-BE49-F238E27FC236}">
                <a16:creationId xmlns:a16="http://schemas.microsoft.com/office/drawing/2014/main" id="{77AE94F8-D910-3328-173F-F4A99716CFE7}"/>
              </a:ext>
            </a:extLst>
          </p:cNvPr>
          <p:cNvSpPr/>
          <p:nvPr/>
        </p:nvSpPr>
        <p:spPr>
          <a:xfrm>
            <a:off x="449262" y="1225957"/>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22" name="直線コネクタ 21">
            <a:extLst>
              <a:ext uri="{FF2B5EF4-FFF2-40B4-BE49-F238E27FC236}">
                <a16:creationId xmlns:a16="http://schemas.microsoft.com/office/drawing/2014/main" id="{1928CBFA-2EBE-A608-C5BF-40E5AFFAF1AD}"/>
              </a:ext>
            </a:extLst>
          </p:cNvPr>
          <p:cNvCxnSpPr>
            <a:cxnSpLocks/>
          </p:cNvCxnSpPr>
          <p:nvPr/>
        </p:nvCxnSpPr>
        <p:spPr>
          <a:xfrm>
            <a:off x="3133558" y="1349963"/>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9" name="テキスト ボックス 18">
            <a:extLst>
              <a:ext uri="{FF2B5EF4-FFF2-40B4-BE49-F238E27FC236}">
                <a16:creationId xmlns:a16="http://schemas.microsoft.com/office/drawing/2014/main" id="{FFFB131C-8535-2A88-A3C8-FF60589D2A11}"/>
              </a:ext>
            </a:extLst>
          </p:cNvPr>
          <p:cNvSpPr txBox="1"/>
          <p:nvPr/>
        </p:nvSpPr>
        <p:spPr>
          <a:xfrm>
            <a:off x="3151380" y="1703936"/>
            <a:ext cx="7074659" cy="338554"/>
          </a:xfrm>
          <a:prstGeom prst="rect">
            <a:avLst/>
          </a:prstGeom>
          <a:noFill/>
        </p:spPr>
        <p:txBody>
          <a:bodyPr wrap="square" lIns="1440000" tIns="0" rIns="0" bIns="0" rtlCol="0" anchor="ctr">
            <a:spAutoFit/>
          </a:bodyPr>
          <a:lstStyle/>
          <a:p>
            <a:pPr>
              <a:lnSpc>
                <a:spcPct val="126000"/>
              </a:lnSpc>
              <a:buNone/>
            </a:pPr>
            <a:r>
              <a:rPr sz="1800" b="1">
                <a:solidFill>
                  <a:srgbClr val="0B3041"/>
                </a:solidFill>
                <a:latin typeface="游ゴシック"/>
                <a:ea typeface="游ゴシック"/>
                <a:cs typeface="游ゴシック"/>
              </a:rPr>
              <a:t>株式譲渡（発行済株式100％）</a:t>
            </a:r>
          </a:p>
        </p:txBody>
      </p:sp>
      <p:sp>
        <p:nvSpPr>
          <p:cNvPr id="23" name="正方形/長方形 22">
            <a:extLst>
              <a:ext uri="{FF2B5EF4-FFF2-40B4-BE49-F238E27FC236}">
                <a16:creationId xmlns:a16="http://schemas.microsoft.com/office/drawing/2014/main" id="{A4BC3D1B-6519-3EC6-F8C8-D12E5886EBA8}"/>
              </a:ext>
            </a:extLst>
          </p:cNvPr>
          <p:cNvSpPr/>
          <p:nvPr/>
        </p:nvSpPr>
        <p:spPr>
          <a:xfrm>
            <a:off x="908477" y="1467627"/>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1</a:t>
            </a:r>
          </a:p>
        </p:txBody>
      </p:sp>
      <p:sp>
        <p:nvSpPr>
          <p:cNvPr id="46" name="正方形/長方形 45">
            <a:extLst>
              <a:ext uri="{FF2B5EF4-FFF2-40B4-BE49-F238E27FC236}">
                <a16:creationId xmlns:a16="http://schemas.microsoft.com/office/drawing/2014/main" id="{538DA60A-A0C2-2AC4-6AFA-6E9A0A840E2F}"/>
              </a:ext>
            </a:extLst>
          </p:cNvPr>
          <p:cNvSpPr/>
          <p:nvPr/>
        </p:nvSpPr>
        <p:spPr>
          <a:xfrm>
            <a:off x="908477" y="1905968"/>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スキーム</a:t>
            </a:r>
            <a:endParaRPr lang="en-US" altLang="ja-JP" sz="1800" b="1" spc="70" dirty="0">
              <a:solidFill>
                <a:schemeClr val="tx2"/>
              </a:solidFill>
              <a:latin typeface="+mj-ea"/>
              <a:ea typeface="+mj-ea"/>
            </a:endParaRPr>
          </a:p>
        </p:txBody>
      </p:sp>
      <p:sp>
        <p:nvSpPr>
          <p:cNvPr id="47" name="二等辺三角形 46">
            <a:extLst>
              <a:ext uri="{FF2B5EF4-FFF2-40B4-BE49-F238E27FC236}">
                <a16:creationId xmlns:a16="http://schemas.microsoft.com/office/drawing/2014/main" id="{E30A0C32-ED58-E579-307E-2A50184F7621}"/>
              </a:ext>
            </a:extLst>
          </p:cNvPr>
          <p:cNvSpPr/>
          <p:nvPr/>
        </p:nvSpPr>
        <p:spPr>
          <a:xfrm rot="5400000">
            <a:off x="3953282" y="1731194"/>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54" name="正方形/長方形 53">
            <a:extLst>
              <a:ext uri="{FF2B5EF4-FFF2-40B4-BE49-F238E27FC236}">
                <a16:creationId xmlns:a16="http://schemas.microsoft.com/office/drawing/2014/main" id="{CF75FB02-E0C4-B24A-D8DD-19550648E691}"/>
              </a:ext>
            </a:extLst>
          </p:cNvPr>
          <p:cNvSpPr/>
          <p:nvPr/>
        </p:nvSpPr>
        <p:spPr>
          <a:xfrm>
            <a:off x="449262" y="2678813"/>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55" name="直線コネクタ 54">
            <a:extLst>
              <a:ext uri="{FF2B5EF4-FFF2-40B4-BE49-F238E27FC236}">
                <a16:creationId xmlns:a16="http://schemas.microsoft.com/office/drawing/2014/main" id="{031A2A35-DDED-EC21-CA05-09DA68DA2C0D}"/>
              </a:ext>
            </a:extLst>
          </p:cNvPr>
          <p:cNvCxnSpPr>
            <a:cxnSpLocks/>
          </p:cNvCxnSpPr>
          <p:nvPr/>
        </p:nvCxnSpPr>
        <p:spPr>
          <a:xfrm>
            <a:off x="3133558" y="2802819"/>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56" name="テキスト ボックス 55">
            <a:extLst>
              <a:ext uri="{FF2B5EF4-FFF2-40B4-BE49-F238E27FC236}">
                <a16:creationId xmlns:a16="http://schemas.microsoft.com/office/drawing/2014/main" id="{4F61C06A-72C7-F15D-8706-7F1E6F179BF5}"/>
              </a:ext>
            </a:extLst>
          </p:cNvPr>
          <p:cNvSpPr txBox="1"/>
          <p:nvPr/>
        </p:nvSpPr>
        <p:spPr>
          <a:xfrm>
            <a:off x="3151380" y="3156792"/>
            <a:ext cx="7074659" cy="338554"/>
          </a:xfrm>
          <a:prstGeom prst="rect">
            <a:avLst/>
          </a:prstGeom>
          <a:noFill/>
        </p:spPr>
        <p:txBody>
          <a:bodyPr wrap="square" lIns="1440000" tIns="0" rIns="0" bIns="0" rtlCol="0" anchor="ctr">
            <a:spAutoFit/>
          </a:bodyPr>
          <a:lstStyle>
            <a:defPPr marR="0" lvl="0" algn="l" rtl="0">
              <a:lnSpc>
                <a:spcPct val="100000"/>
              </a:lnSpc>
              <a:spcBef>
                <a:spcPts val="0"/>
              </a:spcBef>
              <a:spcAft>
                <a:spcPts val="0"/>
              </a:spcAft>
            </a:defPPr>
            <a:lvl1pPr algn="ctr">
              <a:defRPr sz="2200" b="1">
                <a:solidFill>
                  <a:schemeClr val="dk1"/>
                </a:solidFill>
                <a:latin typeface="+mj-ea"/>
                <a:ea typeface="+mj-ea"/>
              </a:defRPr>
            </a:lvl1pPr>
          </a:lstStyle>
          <a:p>
            <a:pPr algn="l">
              <a:lnSpc>
                <a:spcPct val="126000"/>
              </a:lnSpc>
              <a:buNone/>
            </a:pPr>
            <a:r>
              <a:rPr sz="1200" b="0">
                <a:solidFill>
                  <a:srgbClr val="0B3041"/>
                </a:solidFill>
                <a:latin typeface="游ゴシック"/>
                <a:ea typeface="游ゴシック"/>
                <a:cs typeface="游ゴシック"/>
              </a:rPr>
              <a:t>応相談　※純資産23,658千円（2026/5期）を一つの目線としつつ、価額より事業の継続性を重視</a:t>
            </a:r>
          </a:p>
        </p:txBody>
      </p:sp>
      <p:sp>
        <p:nvSpPr>
          <p:cNvPr id="59" name="正方形/長方形 58">
            <a:extLst>
              <a:ext uri="{FF2B5EF4-FFF2-40B4-BE49-F238E27FC236}">
                <a16:creationId xmlns:a16="http://schemas.microsoft.com/office/drawing/2014/main" id="{CFFDBAD3-865C-CB13-2F89-BB6495428292}"/>
              </a:ext>
            </a:extLst>
          </p:cNvPr>
          <p:cNvSpPr/>
          <p:nvPr/>
        </p:nvSpPr>
        <p:spPr>
          <a:xfrm>
            <a:off x="908477" y="2920483"/>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2</a:t>
            </a:r>
          </a:p>
        </p:txBody>
      </p:sp>
      <p:sp>
        <p:nvSpPr>
          <p:cNvPr id="60" name="正方形/長方形 59">
            <a:extLst>
              <a:ext uri="{FF2B5EF4-FFF2-40B4-BE49-F238E27FC236}">
                <a16:creationId xmlns:a16="http://schemas.microsoft.com/office/drawing/2014/main" id="{C0C6D277-3738-13CF-070E-BA308BBE1973}"/>
              </a:ext>
            </a:extLst>
          </p:cNvPr>
          <p:cNvSpPr/>
          <p:nvPr/>
        </p:nvSpPr>
        <p:spPr>
          <a:xfrm>
            <a:off x="908477" y="3358824"/>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希望価格</a:t>
            </a:r>
          </a:p>
        </p:txBody>
      </p:sp>
      <p:sp>
        <p:nvSpPr>
          <p:cNvPr id="58" name="二等辺三角形 57">
            <a:extLst>
              <a:ext uri="{FF2B5EF4-FFF2-40B4-BE49-F238E27FC236}">
                <a16:creationId xmlns:a16="http://schemas.microsoft.com/office/drawing/2014/main" id="{C23C8717-6A45-2543-9780-94DF43068F77}"/>
              </a:ext>
            </a:extLst>
          </p:cNvPr>
          <p:cNvSpPr/>
          <p:nvPr/>
        </p:nvSpPr>
        <p:spPr>
          <a:xfrm rot="5400000">
            <a:off x="3953282" y="3184050"/>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62" name="正方形/長方形 61">
            <a:extLst>
              <a:ext uri="{FF2B5EF4-FFF2-40B4-BE49-F238E27FC236}">
                <a16:creationId xmlns:a16="http://schemas.microsoft.com/office/drawing/2014/main" id="{7140BAFD-DDE9-DDDD-13AE-F82ADD82CD40}"/>
              </a:ext>
            </a:extLst>
          </p:cNvPr>
          <p:cNvSpPr/>
          <p:nvPr/>
        </p:nvSpPr>
        <p:spPr>
          <a:xfrm>
            <a:off x="449262" y="4131669"/>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63" name="直線コネクタ 62">
            <a:extLst>
              <a:ext uri="{FF2B5EF4-FFF2-40B4-BE49-F238E27FC236}">
                <a16:creationId xmlns:a16="http://schemas.microsoft.com/office/drawing/2014/main" id="{364A6865-94EE-F5C9-85ED-D69680FD951A}"/>
              </a:ext>
            </a:extLst>
          </p:cNvPr>
          <p:cNvCxnSpPr>
            <a:cxnSpLocks/>
          </p:cNvCxnSpPr>
          <p:nvPr/>
        </p:nvCxnSpPr>
        <p:spPr>
          <a:xfrm>
            <a:off x="3133558" y="4255675"/>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56" name="テキスト ボックス 255">
            <a:extLst>
              <a:ext uri="{FF2B5EF4-FFF2-40B4-BE49-F238E27FC236}">
                <a16:creationId xmlns:a16="http://schemas.microsoft.com/office/drawing/2014/main" id="{B6D90125-A2A7-8289-0B44-6FD810A06C6F}"/>
              </a:ext>
            </a:extLst>
          </p:cNvPr>
          <p:cNvSpPr txBox="1"/>
          <p:nvPr/>
        </p:nvSpPr>
        <p:spPr>
          <a:xfrm>
            <a:off x="3151380" y="4427548"/>
            <a:ext cx="7074659" cy="702756"/>
          </a:xfrm>
          <a:prstGeom prst="rect">
            <a:avLst/>
          </a:prstGeom>
          <a:noFill/>
        </p:spPr>
        <p:txBody>
          <a:bodyPr wrap="square" lIns="1368000" tIns="0" rIns="0" bIns="0" rtlCol="0" anchor="ctr">
            <a:spAutoFit/>
          </a:bodyPr>
          <a:lstStyle>
            <a:defPPr marR="0" lvl="0" algn="l" rtl="0">
              <a:lnSpc>
                <a:spcPct val="100000"/>
              </a:lnSpc>
              <a:spcBef>
                <a:spcPts val="0"/>
              </a:spcBef>
              <a:spcAft>
                <a:spcPts val="0"/>
              </a:spcAft>
            </a:defPPr>
            <a:lvl1pPr algn="ctr">
              <a:defRPr sz="2200" b="1">
                <a:solidFill>
                  <a:schemeClr val="dk1"/>
                </a:solidFill>
                <a:latin typeface="+mj-ea"/>
                <a:ea typeface="+mj-ea"/>
              </a:defRPr>
            </a:lvl1pPr>
          </a:lstStyle>
          <a:p>
            <a:pPr marL="324000" indent="-324000" algn="l">
              <a:lnSpc>
                <a:spcPct val="126000"/>
              </a:lnSpc>
              <a:spcAft>
                <a:spcPts val="200"/>
              </a:spcAft>
              <a:buClr>
                <a:schemeClr val="tx2"/>
              </a:buClr>
              <a:buFont typeface="游ゴシック" panose="020B0400000000000000" pitchFamily="50" charset="-128"/>
              <a:buNone/>
            </a:pPr>
            <a:r>
              <a:rPr sz="1000" b="0">
                <a:solidFill>
                  <a:srgbClr val="0B3041"/>
                </a:solidFill>
                <a:latin typeface="游ゴシック"/>
                <a:ea typeface="游ゴシック"/>
                <a:cs typeface="游ゴシック"/>
              </a:rPr>
              <a:t>代表者・配偶者は引継ぎ完了後に退任（引継ぎ期間・方式は応相談）</a:t>
            </a:r>
            <a:endParaRPr lang="en-US" altLang="ja-JP" spc="50" dirty="0"/>
          </a:p>
          <a:p>
            <a:pPr>
              <a:lnSpc>
                <a:spcPct val="126000"/>
              </a:lnSpc>
              <a:buNone/>
            </a:pPr>
            <a:r>
              <a:rPr sz="1000" b="0">
                <a:solidFill>
                  <a:srgbClr val="0B3041"/>
                </a:solidFill>
                <a:latin typeface="游ゴシック"/>
                <a:ea typeface="游ゴシック"/>
                <a:cs typeface="游ゴシック"/>
              </a:rPr>
              <a:t>代表者・配偶者からの借入金32,744千円の取扱い（返済・相殺・債務免除等）は応相談</a:t>
            </a:r>
          </a:p>
          <a:p>
            <a:pPr>
              <a:lnSpc>
                <a:spcPct val="126000"/>
              </a:lnSpc>
              <a:buNone/>
            </a:pPr>
            <a:r>
              <a:rPr sz="1000" b="0">
                <a:solidFill>
                  <a:srgbClr val="0B3041"/>
                </a:solidFill>
                <a:latin typeface="游ゴシック"/>
                <a:ea typeface="游ゴシック"/>
                <a:cs typeface="游ゴシック"/>
              </a:rPr>
              <a:t>店舗2階に代表者夫妻が居住中。明渡しの時期・条件は協議事項（金融機関借入・連帯保証はなし）</a:t>
            </a:r>
          </a:p>
        </p:txBody>
      </p:sp>
      <p:sp>
        <p:nvSpPr>
          <p:cNvPr id="259" name="正方形/長方形 258">
            <a:extLst>
              <a:ext uri="{FF2B5EF4-FFF2-40B4-BE49-F238E27FC236}">
                <a16:creationId xmlns:a16="http://schemas.microsoft.com/office/drawing/2014/main" id="{11BED845-77D7-96E2-7088-05671252A4BC}"/>
              </a:ext>
            </a:extLst>
          </p:cNvPr>
          <p:cNvSpPr/>
          <p:nvPr/>
        </p:nvSpPr>
        <p:spPr>
          <a:xfrm>
            <a:off x="908477" y="4373339"/>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3</a:t>
            </a:r>
          </a:p>
        </p:txBody>
      </p:sp>
      <p:sp>
        <p:nvSpPr>
          <p:cNvPr id="260" name="正方形/長方形 259">
            <a:extLst>
              <a:ext uri="{FF2B5EF4-FFF2-40B4-BE49-F238E27FC236}">
                <a16:creationId xmlns:a16="http://schemas.microsoft.com/office/drawing/2014/main" id="{6B9DA270-CEE2-C021-D23B-6674C7B58B8F}"/>
              </a:ext>
            </a:extLst>
          </p:cNvPr>
          <p:cNvSpPr/>
          <p:nvPr/>
        </p:nvSpPr>
        <p:spPr>
          <a:xfrm>
            <a:off x="908477" y="4811680"/>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付帯条件</a:t>
            </a:r>
          </a:p>
        </p:txBody>
      </p:sp>
      <p:sp>
        <p:nvSpPr>
          <p:cNvPr id="258" name="二等辺三角形 257">
            <a:extLst>
              <a:ext uri="{FF2B5EF4-FFF2-40B4-BE49-F238E27FC236}">
                <a16:creationId xmlns:a16="http://schemas.microsoft.com/office/drawing/2014/main" id="{ED431A8E-E118-9737-A89C-BA75554554F2}"/>
              </a:ext>
            </a:extLst>
          </p:cNvPr>
          <p:cNvSpPr/>
          <p:nvPr/>
        </p:nvSpPr>
        <p:spPr>
          <a:xfrm rot="5400000">
            <a:off x="3953282" y="4636906"/>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262" name="正方形/長方形 261">
            <a:extLst>
              <a:ext uri="{FF2B5EF4-FFF2-40B4-BE49-F238E27FC236}">
                <a16:creationId xmlns:a16="http://schemas.microsoft.com/office/drawing/2014/main" id="{0DA87416-6EB3-2B9D-5D99-EBF7AD989A1A}"/>
              </a:ext>
            </a:extLst>
          </p:cNvPr>
          <p:cNvSpPr/>
          <p:nvPr/>
        </p:nvSpPr>
        <p:spPr>
          <a:xfrm>
            <a:off x="449262" y="5584525"/>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263" name="直線コネクタ 262">
            <a:extLst>
              <a:ext uri="{FF2B5EF4-FFF2-40B4-BE49-F238E27FC236}">
                <a16:creationId xmlns:a16="http://schemas.microsoft.com/office/drawing/2014/main" id="{348C7A7D-E8C0-8FBA-0152-B09944A67B14}"/>
              </a:ext>
            </a:extLst>
          </p:cNvPr>
          <p:cNvCxnSpPr>
            <a:cxnSpLocks/>
          </p:cNvCxnSpPr>
          <p:nvPr/>
        </p:nvCxnSpPr>
        <p:spPr>
          <a:xfrm>
            <a:off x="3133558" y="5708531"/>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64" name="テキスト ボックス 263">
            <a:extLst>
              <a:ext uri="{FF2B5EF4-FFF2-40B4-BE49-F238E27FC236}">
                <a16:creationId xmlns:a16="http://schemas.microsoft.com/office/drawing/2014/main" id="{37AEE9E9-0B13-7FD4-A3CA-A47C7839F11C}"/>
              </a:ext>
            </a:extLst>
          </p:cNvPr>
          <p:cNvSpPr txBox="1"/>
          <p:nvPr/>
        </p:nvSpPr>
        <p:spPr>
          <a:xfrm>
            <a:off x="3151380" y="6062504"/>
            <a:ext cx="7074659" cy="338554"/>
          </a:xfrm>
          <a:prstGeom prst="rect">
            <a:avLst/>
          </a:prstGeom>
          <a:noFill/>
        </p:spPr>
        <p:txBody>
          <a:bodyPr wrap="square" lIns="1440000" tIns="0" rIns="0" bIns="0" rtlCol="0" anchor="ctr">
            <a:spAutoFit/>
          </a:bodyPr>
          <a:lstStyle>
            <a:defPPr marR="0" lvl="0" algn="l" rtl="0">
              <a:lnSpc>
                <a:spcPct val="100000"/>
              </a:lnSpc>
              <a:spcBef>
                <a:spcPts val="0"/>
              </a:spcBef>
              <a:spcAft>
                <a:spcPts val="0"/>
              </a:spcAft>
            </a:defPPr>
            <a:lvl1pPr>
              <a:defRPr sz="2200" b="1">
                <a:solidFill>
                  <a:schemeClr val="dk1"/>
                </a:solidFill>
                <a:latin typeface="+mj-ea"/>
                <a:ea typeface="+mj-ea"/>
              </a:defRPr>
            </a:lvl1pPr>
          </a:lstStyle>
          <a:p>
            <a:pPr>
              <a:lnSpc>
                <a:spcPct val="126000"/>
              </a:lnSpc>
              <a:buNone/>
            </a:pPr>
            <a:r>
              <a:rPr sz="1200" b="0">
                <a:solidFill>
                  <a:srgbClr val="0B3041"/>
                </a:solidFill>
                <a:latin typeface="游ゴシック"/>
                <a:ea typeface="游ゴシック"/>
                <a:cs typeface="游ゴシック"/>
              </a:rPr>
              <a:t>後継者不在。①「慈久庵」の店舗を守り蕎麦屋として継続すること、②将来的に店舗を広げられることを重視</a:t>
            </a:r>
          </a:p>
        </p:txBody>
      </p:sp>
      <p:sp>
        <p:nvSpPr>
          <p:cNvPr id="267" name="正方形/長方形 266">
            <a:extLst>
              <a:ext uri="{FF2B5EF4-FFF2-40B4-BE49-F238E27FC236}">
                <a16:creationId xmlns:a16="http://schemas.microsoft.com/office/drawing/2014/main" id="{5C906CE1-F422-F0CF-35F9-FA21CDF60987}"/>
              </a:ext>
            </a:extLst>
          </p:cNvPr>
          <p:cNvSpPr/>
          <p:nvPr/>
        </p:nvSpPr>
        <p:spPr>
          <a:xfrm>
            <a:off x="908477" y="5826195"/>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その他</a:t>
            </a:r>
            <a:endParaRPr lang="en-US" altLang="ja-JP" b="1" spc="70" dirty="0">
              <a:solidFill>
                <a:schemeClr val="bg1"/>
              </a:solidFill>
              <a:latin typeface="+mj-ea"/>
              <a:ea typeface="+mj-ea"/>
            </a:endParaRPr>
          </a:p>
        </p:txBody>
      </p:sp>
      <p:sp>
        <p:nvSpPr>
          <p:cNvPr id="268" name="正方形/長方形 267">
            <a:extLst>
              <a:ext uri="{FF2B5EF4-FFF2-40B4-BE49-F238E27FC236}">
                <a16:creationId xmlns:a16="http://schemas.microsoft.com/office/drawing/2014/main" id="{46529E79-2433-FBD9-6238-E748A585579E}"/>
              </a:ext>
            </a:extLst>
          </p:cNvPr>
          <p:cNvSpPr/>
          <p:nvPr/>
        </p:nvSpPr>
        <p:spPr>
          <a:xfrm>
            <a:off x="908477" y="6264536"/>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譲渡理由</a:t>
            </a:r>
          </a:p>
        </p:txBody>
      </p:sp>
      <p:sp>
        <p:nvSpPr>
          <p:cNvPr id="266" name="二等辺三角形 265">
            <a:extLst>
              <a:ext uri="{FF2B5EF4-FFF2-40B4-BE49-F238E27FC236}">
                <a16:creationId xmlns:a16="http://schemas.microsoft.com/office/drawing/2014/main" id="{94757AC3-62D5-3E6F-15D0-8CC989986978}"/>
              </a:ext>
            </a:extLst>
          </p:cNvPr>
          <p:cNvSpPr/>
          <p:nvPr/>
        </p:nvSpPr>
        <p:spPr>
          <a:xfrm rot="5400000">
            <a:off x="3953282" y="6089762"/>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269" name="TextBox 268"/>
          <p:cNvSpPr txBox="1"/>
          <p:nvPr/>
        </p:nvSpPr>
        <p:spPr>
          <a:xfrm>
            <a:off x="310896" y="6967728"/>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上記は現時点における譲渡オーナー様のご意向であり、確定した条件ではありません。最終的な条件は個別協議により決定されます。</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solidFill/>
              </a:rPr>
              <a:t>事業概要</a:t>
            </a:r>
            <a:endParaRPr lang="en-US" altLang="ja-JP" dirty="0"/>
          </a:p>
        </p:txBody>
      </p:sp>
    </p:spTree>
    <p:extLst>
      <p:ext uri="{BB962C8B-B14F-4D97-AF65-F5344CB8AC3E}">
        <p14:creationId xmlns:p14="http://schemas.microsoft.com/office/powerpoint/2010/main" val="40851993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DDAF01-C12B-9043-B114-455CAA33D0F7}"/>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E91DD8E0-55E1-1614-7417-2E76D253FEAD}"/>
              </a:ext>
            </a:extLst>
          </p:cNvPr>
          <p:cNvSpPr>
            <a:spLocks noGrp="1"/>
          </p:cNvSpPr>
          <p:nvPr>
            <p:ph type="ctrTitle"/>
          </p:nvPr>
        </p:nvSpPr>
        <p:spPr/>
        <p:txBody>
          <a:bodyPr/>
          <a:lstStyle/>
          <a:p>
            <a:r>
              <a:rPr>
                <a:latin typeface="游ゴシック"/>
                <a:ea typeface="游ゴシック"/>
                <a:cs typeface="游ゴシック"/>
              </a:rPr>
              <a:t>商流</a:t>
            </a:r>
          </a:p>
        </p:txBody>
      </p:sp>
      <p:sp>
        <p:nvSpPr>
          <p:cNvPr id="20" name="タイトル 1">
            <a:extLst>
              <a:ext uri="{FF2B5EF4-FFF2-40B4-BE49-F238E27FC236}">
                <a16:creationId xmlns:a16="http://schemas.microsoft.com/office/drawing/2014/main" id="{96C927CB-5A9B-C47E-368A-3579B2595C1E}"/>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sz="1200" b="1">
                <a:latin typeface="游ゴシック"/>
                <a:ea typeface="游ゴシック"/>
                <a:cs typeface="游ゴシック"/>
              </a:rPr>
              <a:t>事業概要</a:t>
            </a:r>
          </a:p>
        </p:txBody>
      </p:sp>
      <p:sp>
        <p:nvSpPr>
          <p:cNvPr id="35" name="字幕 13">
            <a:extLst>
              <a:ext uri="{FF2B5EF4-FFF2-40B4-BE49-F238E27FC236}">
                <a16:creationId xmlns:a16="http://schemas.microsoft.com/office/drawing/2014/main" id="{999986B5-FEED-86D6-9A2B-D6BEF4A1BD44}"/>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店頭飲食が売上の67％。残りは石臼挽き小麦粉・玄そばの卸売と通信販売で、いずれも慈久庵ブランドを前提とした直接取引</a:t>
            </a:r>
            <a:endParaRPr lang="en-US" altLang="ja-JP" dirty="0"/>
          </a:p>
        </p:txBody>
      </p:sp>
      <p:sp>
        <p:nvSpPr>
          <p:cNvPr id="36" name="Rectangle 35"/>
          <p:cNvSpPr/>
          <p:nvPr/>
        </p:nvSpPr>
        <p:spPr>
          <a:xfrm>
            <a:off x="4078224" y="2615184"/>
            <a:ext cx="2542032" cy="170078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078224" y="2761488"/>
            <a:ext cx="2542032" cy="256032"/>
          </a:xfrm>
          <a:prstGeom prst="rect">
            <a:avLst/>
          </a:prstGeom>
          <a:noFill/>
        </p:spPr>
        <p:txBody>
          <a:bodyPr wrap="square" lIns="0" rIns="0" tIns="0" bIns="0" anchor="t">
            <a:spAutoFit/>
          </a:bodyPr>
          <a:lstStyle/>
          <a:p>
            <a:pPr algn="ctr">
              <a:spcAft>
                <a:spcPts val="0"/>
              </a:spcAft>
            </a:pPr>
            <a:r>
              <a:rPr sz="1300" b="1">
                <a:solidFill>
                  <a:srgbClr val="FFFFFF"/>
                </a:solidFill>
                <a:latin typeface="游ゴシック"/>
                <a:ea typeface="游ゴシック"/>
                <a:cs typeface="游ゴシック"/>
              </a:rPr>
              <a:t>株式会社慈久庵</a:t>
            </a:r>
          </a:p>
        </p:txBody>
      </p:sp>
      <p:sp>
        <p:nvSpPr>
          <p:cNvPr id="38" name="TextBox 37"/>
          <p:cNvSpPr txBox="1"/>
          <p:nvPr/>
        </p:nvSpPr>
        <p:spPr>
          <a:xfrm>
            <a:off x="4206240" y="3127248"/>
            <a:ext cx="2286000" cy="1097280"/>
          </a:xfrm>
          <a:prstGeom prst="rect">
            <a:avLst/>
          </a:prstGeom>
          <a:noFill/>
        </p:spPr>
        <p:txBody>
          <a:bodyPr wrap="square" lIns="0" rIns="0" tIns="0" bIns="0" anchor="t">
            <a:spAutoFit/>
          </a:bodyPr>
          <a:lstStyle/>
          <a:p>
            <a:pPr algn="l">
              <a:lnSpc>
                <a:spcPct val="118000"/>
              </a:lnSpc>
              <a:spcAft>
                <a:spcPts val="300"/>
              </a:spcAft>
            </a:pPr>
            <a:r>
              <a:rPr sz="900" b="0">
                <a:solidFill>
                  <a:srgbClr val="D6E4EA"/>
                </a:solidFill>
                <a:latin typeface="游ゴシック"/>
                <a:ea typeface="游ゴシック"/>
                <a:cs typeface="游ゴシック"/>
              </a:rPr>
              <a:t>◆ そば店「慈久庵」</a:t>
            </a:r>
          </a:p>
          <a:p>
            <a:pPr algn="l">
              <a:lnSpc>
                <a:spcPct val="118000"/>
              </a:lnSpc>
              <a:spcAft>
                <a:spcPts val="300"/>
              </a:spcAft>
            </a:pPr>
            <a:r>
              <a:rPr sz="900" b="0">
                <a:solidFill>
                  <a:srgbClr val="D6E4EA"/>
                </a:solidFill>
                <a:latin typeface="游ゴシック"/>
                <a:ea typeface="游ゴシック"/>
                <a:cs typeface="游ゴシック"/>
              </a:rPr>
              <a:t>◆ 自家製粉（石臼）</a:t>
            </a:r>
          </a:p>
          <a:p>
            <a:pPr algn="l">
              <a:lnSpc>
                <a:spcPct val="118000"/>
              </a:lnSpc>
              <a:spcAft>
                <a:spcPts val="300"/>
              </a:spcAft>
            </a:pPr>
            <a:r>
              <a:rPr sz="900" b="0">
                <a:solidFill>
                  <a:srgbClr val="D6E4EA"/>
                </a:solidFill>
                <a:latin typeface="游ゴシック"/>
                <a:ea typeface="游ゴシック"/>
                <a:cs typeface="游ゴシック"/>
              </a:rPr>
              <a:t>◆ 乾麺・そばつゆ・醤の製造</a:t>
            </a:r>
          </a:p>
          <a:p>
            <a:pPr algn="l">
              <a:lnSpc>
                <a:spcPct val="118000"/>
              </a:lnSpc>
              <a:spcAft>
                <a:spcPts val="300"/>
              </a:spcAft>
            </a:pPr>
            <a:r>
              <a:rPr sz="900" b="0">
                <a:solidFill>
                  <a:srgbClr val="D6E4EA"/>
                </a:solidFill>
                <a:latin typeface="游ゴシック"/>
                <a:ea typeface="游ゴシック"/>
                <a:cs typeface="游ゴシック"/>
              </a:rPr>
              <a:t>◆ そば・小麦の栽培（焼畑）</a:t>
            </a:r>
          </a:p>
        </p:txBody>
      </p:sp>
      <p:sp>
        <p:nvSpPr>
          <p:cNvPr id="39" name="TextBox 38"/>
          <p:cNvSpPr txBox="1"/>
          <p:nvPr/>
        </p:nvSpPr>
        <p:spPr>
          <a:xfrm>
            <a:off x="310896" y="1481328"/>
            <a:ext cx="3291840" cy="219456"/>
          </a:xfrm>
          <a:prstGeom prst="rect">
            <a:avLst/>
          </a:prstGeom>
          <a:noFill/>
        </p:spPr>
        <p:txBody>
          <a:bodyPr wrap="square" lIns="0" rIns="0" tIns="0" bIns="0" anchor="t">
            <a:spAutoFit/>
          </a:bodyPr>
          <a:lstStyle/>
          <a:p>
            <a:pPr algn="l">
              <a:spcAft>
                <a:spcPts val="0"/>
              </a:spcAft>
            </a:pPr>
            <a:r>
              <a:rPr sz="1200" b="1">
                <a:solidFill>
                  <a:srgbClr val="0B3041"/>
                </a:solidFill>
                <a:latin typeface="游ゴシック"/>
                <a:ea typeface="游ゴシック"/>
                <a:cs typeface="游ゴシック"/>
              </a:rPr>
              <a:t>主要仕入先</a:t>
            </a:r>
          </a:p>
        </p:txBody>
      </p:sp>
      <p:sp>
        <p:nvSpPr>
          <p:cNvPr id="40" name="TextBox 39"/>
          <p:cNvSpPr txBox="1"/>
          <p:nvPr/>
        </p:nvSpPr>
        <p:spPr>
          <a:xfrm>
            <a:off x="7095744" y="1481328"/>
            <a:ext cx="3291840" cy="219456"/>
          </a:xfrm>
          <a:prstGeom prst="rect">
            <a:avLst/>
          </a:prstGeom>
          <a:noFill/>
        </p:spPr>
        <p:txBody>
          <a:bodyPr wrap="square" lIns="0" rIns="0" tIns="0" bIns="0" anchor="t">
            <a:spAutoFit/>
          </a:bodyPr>
          <a:lstStyle/>
          <a:p>
            <a:pPr algn="l">
              <a:spcAft>
                <a:spcPts val="0"/>
              </a:spcAft>
            </a:pPr>
            <a:r>
              <a:rPr sz="1200" b="1">
                <a:solidFill>
                  <a:srgbClr val="0B3041"/>
                </a:solidFill>
                <a:latin typeface="游ゴシック"/>
                <a:ea typeface="游ゴシック"/>
                <a:cs typeface="游ゴシック"/>
              </a:rPr>
              <a:t>主要販売先</a:t>
            </a:r>
          </a:p>
        </p:txBody>
      </p:sp>
      <p:sp>
        <p:nvSpPr>
          <p:cNvPr id="41" name="Rectangle 40"/>
          <p:cNvSpPr/>
          <p:nvPr/>
        </p:nvSpPr>
        <p:spPr>
          <a:xfrm>
            <a:off x="310896" y="1773936"/>
            <a:ext cx="3291840" cy="914400"/>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310896" y="1773936"/>
            <a:ext cx="50292" cy="91440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57200" y="1865376"/>
            <a:ext cx="301752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玄そば（常陸秋そば）</a:t>
            </a:r>
          </a:p>
        </p:txBody>
      </p:sp>
      <p:sp>
        <p:nvSpPr>
          <p:cNvPr id="44" name="TextBox 43"/>
          <p:cNvSpPr txBox="1"/>
          <p:nvPr/>
        </p:nvSpPr>
        <p:spPr>
          <a:xfrm>
            <a:off x="457200" y="2139696"/>
            <a:ext cx="3017520" cy="457200"/>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海老根 章 氏 660千円／地元生産者</a:t>
            </a:r>
          </a:p>
          <a:p>
            <a:pPr algn="l">
              <a:lnSpc>
                <a:spcPct val="118000"/>
              </a:lnSpc>
              <a:spcAft>
                <a:spcPts val="100"/>
              </a:spcAft>
            </a:pPr>
            <a:r>
              <a:rPr sz="830" b="0">
                <a:solidFill>
                  <a:srgbClr val="5A6670"/>
                </a:solidFill>
                <a:latin typeface="游ゴシック"/>
                <a:ea typeface="游ゴシック"/>
                <a:cs typeface="游ゴシック"/>
              </a:rPr>
              <a:t>自家栽培（焼畑）分を併用</a:t>
            </a:r>
          </a:p>
        </p:txBody>
      </p:sp>
      <p:sp>
        <p:nvSpPr>
          <p:cNvPr id="45" name="Rectangle 44"/>
          <p:cNvSpPr/>
          <p:nvPr/>
        </p:nvSpPr>
        <p:spPr>
          <a:xfrm>
            <a:off x="3602736" y="2220163"/>
            <a:ext cx="475488"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Rectangle 45"/>
          <p:cNvSpPr/>
          <p:nvPr/>
        </p:nvSpPr>
        <p:spPr>
          <a:xfrm>
            <a:off x="310896" y="2798064"/>
            <a:ext cx="3291840" cy="914400"/>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ectangle 46"/>
          <p:cNvSpPr/>
          <p:nvPr/>
        </p:nvSpPr>
        <p:spPr>
          <a:xfrm>
            <a:off x="310896" y="2798064"/>
            <a:ext cx="50292" cy="91440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457200" y="2889504"/>
            <a:ext cx="301752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小麦</a:t>
            </a:r>
          </a:p>
        </p:txBody>
      </p:sp>
      <p:sp>
        <p:nvSpPr>
          <p:cNvPr id="49" name="TextBox 48"/>
          <p:cNvSpPr txBox="1"/>
          <p:nvPr/>
        </p:nvSpPr>
        <p:spPr>
          <a:xfrm>
            <a:off x="457200" y="3163824"/>
            <a:ext cx="3017520" cy="457200"/>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ミルキーウェーブ（外岡 清秀）1,155千円</a:t>
            </a:r>
          </a:p>
          <a:p>
            <a:pPr algn="l">
              <a:lnSpc>
                <a:spcPct val="118000"/>
              </a:lnSpc>
              <a:spcAft>
                <a:spcPts val="100"/>
              </a:spcAft>
            </a:pPr>
            <a:r>
              <a:rPr sz="830" b="0">
                <a:solidFill>
                  <a:srgbClr val="5A6670"/>
                </a:solidFill>
                <a:latin typeface="游ゴシック"/>
                <a:ea typeface="游ゴシック"/>
                <a:cs typeface="游ゴシック"/>
              </a:rPr>
              <a:t>材料仕入高の25.1％を占める最大の仕入先</a:t>
            </a:r>
          </a:p>
        </p:txBody>
      </p:sp>
      <p:sp>
        <p:nvSpPr>
          <p:cNvPr id="50" name="Rectangle 49"/>
          <p:cNvSpPr/>
          <p:nvPr/>
        </p:nvSpPr>
        <p:spPr>
          <a:xfrm>
            <a:off x="3602736" y="3244291"/>
            <a:ext cx="475488"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Rectangle 50"/>
          <p:cNvSpPr/>
          <p:nvPr/>
        </p:nvSpPr>
        <p:spPr>
          <a:xfrm>
            <a:off x="310896" y="3822191"/>
            <a:ext cx="3291840" cy="914400"/>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Rectangle 51"/>
          <p:cNvSpPr/>
          <p:nvPr/>
        </p:nvSpPr>
        <p:spPr>
          <a:xfrm>
            <a:off x="310896" y="3822191"/>
            <a:ext cx="50292" cy="91440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457200" y="3913631"/>
            <a:ext cx="301752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食材・調味料</a:t>
            </a:r>
          </a:p>
        </p:txBody>
      </p:sp>
      <p:sp>
        <p:nvSpPr>
          <p:cNvPr id="54" name="TextBox 53"/>
          <p:cNvSpPr txBox="1"/>
          <p:nvPr/>
        </p:nvSpPr>
        <p:spPr>
          <a:xfrm>
            <a:off x="457200" y="4187952"/>
            <a:ext cx="3017520" cy="457200"/>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（株）鈴木商店334千円、健興通商477千円</a:t>
            </a:r>
          </a:p>
          <a:p>
            <a:pPr algn="l">
              <a:lnSpc>
                <a:spcPct val="118000"/>
              </a:lnSpc>
              <a:spcAft>
                <a:spcPts val="100"/>
              </a:spcAft>
            </a:pPr>
            <a:r>
              <a:rPr sz="830" b="0">
                <a:solidFill>
                  <a:srgbClr val="5A6670"/>
                </a:solidFill>
                <a:latin typeface="游ゴシック"/>
                <a:ea typeface="游ゴシック"/>
                <a:cs typeface="游ゴシック"/>
              </a:rPr>
              <a:t>西崎ファーム（鴨肉）、岩魚郷北条屋敷 ほか</a:t>
            </a:r>
          </a:p>
        </p:txBody>
      </p:sp>
      <p:sp>
        <p:nvSpPr>
          <p:cNvPr id="55" name="Rectangle 54"/>
          <p:cNvSpPr/>
          <p:nvPr/>
        </p:nvSpPr>
        <p:spPr>
          <a:xfrm>
            <a:off x="3602736" y="4268419"/>
            <a:ext cx="475488"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Rectangle 55"/>
          <p:cNvSpPr/>
          <p:nvPr/>
        </p:nvSpPr>
        <p:spPr>
          <a:xfrm>
            <a:off x="310896" y="4846320"/>
            <a:ext cx="3291840" cy="786384"/>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Rectangle 56"/>
          <p:cNvSpPr/>
          <p:nvPr/>
        </p:nvSpPr>
        <p:spPr>
          <a:xfrm>
            <a:off x="310896" y="4846320"/>
            <a:ext cx="50292" cy="786384"/>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457200" y="4937759"/>
            <a:ext cx="301752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製粉外注</a:t>
            </a:r>
          </a:p>
        </p:txBody>
      </p:sp>
      <p:sp>
        <p:nvSpPr>
          <p:cNvPr id="59" name="TextBox 58"/>
          <p:cNvSpPr txBox="1"/>
          <p:nvPr/>
        </p:nvSpPr>
        <p:spPr>
          <a:xfrm>
            <a:off x="457200" y="5212080"/>
            <a:ext cx="3017520" cy="329184"/>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伊勢又米穀製粉（株）267千円</a:t>
            </a:r>
          </a:p>
          <a:p>
            <a:pPr algn="l">
              <a:lnSpc>
                <a:spcPct val="118000"/>
              </a:lnSpc>
              <a:spcAft>
                <a:spcPts val="100"/>
              </a:spcAft>
            </a:pPr>
            <a:r>
              <a:rPr sz="830" b="0">
                <a:solidFill>
                  <a:srgbClr val="5A6670"/>
                </a:solidFill>
                <a:latin typeface="游ゴシック"/>
                <a:ea typeface="游ゴシック"/>
                <a:cs typeface="游ゴシック"/>
              </a:rPr>
              <a:t>※関係会社との関係整理は要確認</a:t>
            </a:r>
          </a:p>
        </p:txBody>
      </p:sp>
      <p:sp>
        <p:nvSpPr>
          <p:cNvPr id="60" name="Rectangle 59"/>
          <p:cNvSpPr/>
          <p:nvPr/>
        </p:nvSpPr>
        <p:spPr>
          <a:xfrm>
            <a:off x="3602736" y="5228539"/>
            <a:ext cx="475488"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Rectangle 60"/>
          <p:cNvSpPr/>
          <p:nvPr/>
        </p:nvSpPr>
        <p:spPr>
          <a:xfrm>
            <a:off x="7095744" y="1773936"/>
            <a:ext cx="3291840" cy="914400"/>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Rectangle 61"/>
          <p:cNvSpPr/>
          <p:nvPr/>
        </p:nvSpPr>
        <p:spPr>
          <a:xfrm>
            <a:off x="7095744" y="1773936"/>
            <a:ext cx="50292" cy="91440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7242048" y="1865376"/>
            <a:ext cx="301752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① 店頭飲食　15,099千円（67.2％）</a:t>
            </a:r>
          </a:p>
        </p:txBody>
      </p:sp>
      <p:sp>
        <p:nvSpPr>
          <p:cNvPr id="64" name="TextBox 63"/>
          <p:cNvSpPr txBox="1"/>
          <p:nvPr/>
        </p:nvSpPr>
        <p:spPr>
          <a:xfrm>
            <a:off x="7242048" y="2139696"/>
            <a:ext cx="3017520" cy="457200"/>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一般消費者／昼のみ・売り切りじまい</a:t>
            </a:r>
          </a:p>
          <a:p>
            <a:pPr algn="l">
              <a:lnSpc>
                <a:spcPct val="118000"/>
              </a:lnSpc>
              <a:spcAft>
                <a:spcPts val="100"/>
              </a:spcAft>
            </a:pPr>
            <a:r>
              <a:rPr sz="830" b="0">
                <a:solidFill>
                  <a:srgbClr val="5A6670"/>
                </a:solidFill>
                <a:latin typeface="游ゴシック"/>
                <a:ea typeface="游ゴシック"/>
                <a:cs typeface="游ゴシック"/>
              </a:rPr>
              <a:t>年間営業日200日・日商平均75千円</a:t>
            </a:r>
          </a:p>
        </p:txBody>
      </p:sp>
      <p:sp>
        <p:nvSpPr>
          <p:cNvPr id="65" name="Rectangle 64"/>
          <p:cNvSpPr/>
          <p:nvPr/>
        </p:nvSpPr>
        <p:spPr>
          <a:xfrm>
            <a:off x="6620256" y="2220163"/>
            <a:ext cx="475487"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Rectangle 65"/>
          <p:cNvSpPr/>
          <p:nvPr/>
        </p:nvSpPr>
        <p:spPr>
          <a:xfrm>
            <a:off x="7095744" y="2798064"/>
            <a:ext cx="3291840" cy="914400"/>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Rectangle 66"/>
          <p:cNvSpPr/>
          <p:nvPr/>
        </p:nvSpPr>
        <p:spPr>
          <a:xfrm>
            <a:off x="7095744" y="2798064"/>
            <a:ext cx="50292" cy="91440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7242048" y="2889504"/>
            <a:ext cx="301752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② 製粉・卸売　2,273千円（10.1％）</a:t>
            </a:r>
          </a:p>
        </p:txBody>
      </p:sp>
      <p:sp>
        <p:nvSpPr>
          <p:cNvPr id="69" name="TextBox 68"/>
          <p:cNvSpPr txBox="1"/>
          <p:nvPr/>
        </p:nvSpPr>
        <p:spPr>
          <a:xfrm>
            <a:off x="7242048" y="3163824"/>
            <a:ext cx="3017520" cy="457200"/>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キビヤベーカリー1,865千円、ルヴァン㈱231千円</a:t>
            </a:r>
          </a:p>
          <a:p>
            <a:pPr algn="l">
              <a:lnSpc>
                <a:spcPct val="118000"/>
              </a:lnSpc>
              <a:spcAft>
                <a:spcPts val="100"/>
              </a:spcAft>
            </a:pPr>
            <a:r>
              <a:rPr sz="830" b="0">
                <a:solidFill>
                  <a:srgbClr val="5A6670"/>
                </a:solidFill>
                <a:latin typeface="游ゴシック"/>
                <a:ea typeface="游ゴシック"/>
                <a:cs typeface="游ゴシック"/>
              </a:rPr>
              <a:t>（株）シオミ169千円／著名ベーカリー向け</a:t>
            </a:r>
          </a:p>
        </p:txBody>
      </p:sp>
      <p:sp>
        <p:nvSpPr>
          <p:cNvPr id="70" name="Rectangle 69"/>
          <p:cNvSpPr/>
          <p:nvPr/>
        </p:nvSpPr>
        <p:spPr>
          <a:xfrm>
            <a:off x="6620256" y="3244291"/>
            <a:ext cx="475487"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Rectangle 70"/>
          <p:cNvSpPr/>
          <p:nvPr/>
        </p:nvSpPr>
        <p:spPr>
          <a:xfrm>
            <a:off x="7095744" y="3822191"/>
            <a:ext cx="3291840" cy="914400"/>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Rectangle 71"/>
          <p:cNvSpPr/>
          <p:nvPr/>
        </p:nvSpPr>
        <p:spPr>
          <a:xfrm>
            <a:off x="7095744" y="3822191"/>
            <a:ext cx="50292" cy="91440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TextBox 72"/>
          <p:cNvSpPr txBox="1"/>
          <p:nvPr/>
        </p:nvSpPr>
        <p:spPr>
          <a:xfrm>
            <a:off x="7242048" y="3913631"/>
            <a:ext cx="301752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③ 通信販売・物販　1,789千円（8.0％）</a:t>
            </a:r>
          </a:p>
        </p:txBody>
      </p:sp>
      <p:sp>
        <p:nvSpPr>
          <p:cNvPr id="74" name="TextBox 73"/>
          <p:cNvSpPr txBox="1"/>
          <p:nvPr/>
        </p:nvSpPr>
        <p:spPr>
          <a:xfrm>
            <a:off x="7242048" y="4187952"/>
            <a:ext cx="3017520" cy="457200"/>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Ｅコレクトサガワ（代引通販）1,020千円</a:t>
            </a:r>
          </a:p>
          <a:p>
            <a:pPr algn="l">
              <a:lnSpc>
                <a:spcPct val="118000"/>
              </a:lnSpc>
              <a:spcAft>
                <a:spcPts val="100"/>
              </a:spcAft>
            </a:pPr>
            <a:r>
              <a:rPr sz="830" b="0">
                <a:solidFill>
                  <a:srgbClr val="5A6670"/>
                </a:solidFill>
                <a:latin typeface="游ゴシック"/>
                <a:ea typeface="游ゴシック"/>
                <a:cs typeface="游ゴシック"/>
              </a:rPr>
              <a:t>水府振興公社274千円、アマゾン166千円 ほか</a:t>
            </a:r>
          </a:p>
        </p:txBody>
      </p:sp>
      <p:sp>
        <p:nvSpPr>
          <p:cNvPr id="75" name="Rectangle 74"/>
          <p:cNvSpPr/>
          <p:nvPr/>
        </p:nvSpPr>
        <p:spPr>
          <a:xfrm>
            <a:off x="6620256" y="4268419"/>
            <a:ext cx="475487"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6" name="Rectangle 75"/>
          <p:cNvSpPr/>
          <p:nvPr/>
        </p:nvSpPr>
        <p:spPr>
          <a:xfrm>
            <a:off x="7095744" y="4846320"/>
            <a:ext cx="3291840" cy="786384"/>
          </a:xfrm>
          <a:prstGeom prst="rect">
            <a:avLst/>
          </a:prstGeom>
          <a:solidFill>
            <a:srgbClr val="FCF3F2"/>
          </a:solidFill>
          <a:ln w="12700">
            <a:solidFill>
              <a:srgbClr val="C03A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7" name="Rectangle 76"/>
          <p:cNvSpPr/>
          <p:nvPr/>
        </p:nvSpPr>
        <p:spPr>
          <a:xfrm>
            <a:off x="7095744" y="4846320"/>
            <a:ext cx="50292" cy="786384"/>
          </a:xfrm>
          <a:prstGeom prst="rect">
            <a:avLst/>
          </a:prstGeom>
          <a:solidFill>
            <a:srgbClr val="C03A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8" name="TextBox 77"/>
          <p:cNvSpPr txBox="1"/>
          <p:nvPr/>
        </p:nvSpPr>
        <p:spPr>
          <a:xfrm>
            <a:off x="7242048" y="4937759"/>
            <a:ext cx="301752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④ 関係先への食材供給　3,323千円</a:t>
            </a:r>
          </a:p>
        </p:txBody>
      </p:sp>
      <p:sp>
        <p:nvSpPr>
          <p:cNvPr id="79" name="TextBox 78"/>
          <p:cNvSpPr txBox="1"/>
          <p:nvPr/>
        </p:nvSpPr>
        <p:spPr>
          <a:xfrm>
            <a:off x="7242048" y="5212080"/>
            <a:ext cx="3017520" cy="329184"/>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塩町館2,624千円、小びと699千円</a:t>
            </a:r>
          </a:p>
          <a:p>
            <a:pPr algn="l">
              <a:lnSpc>
                <a:spcPct val="118000"/>
              </a:lnSpc>
              <a:spcAft>
                <a:spcPts val="100"/>
              </a:spcAft>
            </a:pPr>
            <a:r>
              <a:rPr sz="830" b="0">
                <a:solidFill>
                  <a:srgbClr val="5A6670"/>
                </a:solidFill>
                <a:latin typeface="游ゴシック"/>
                <a:ea typeface="游ゴシック"/>
                <a:cs typeface="游ゴシック"/>
              </a:rPr>
              <a:t>※回収状況は要確認（P.7）</a:t>
            </a:r>
          </a:p>
        </p:txBody>
      </p:sp>
      <p:sp>
        <p:nvSpPr>
          <p:cNvPr id="80" name="Rectangle 79"/>
          <p:cNvSpPr/>
          <p:nvPr/>
        </p:nvSpPr>
        <p:spPr>
          <a:xfrm>
            <a:off x="6620256" y="5228539"/>
            <a:ext cx="475487" cy="21945"/>
          </a:xfrm>
          <a:prstGeom prst="rect">
            <a:avLst/>
          </a:prstGeom>
          <a:solidFill>
            <a:srgbClr val="C03A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1" name="TextBox 80"/>
          <p:cNvSpPr txBox="1"/>
          <p:nvPr/>
        </p:nvSpPr>
        <p:spPr>
          <a:xfrm>
            <a:off x="4078224" y="4590288"/>
            <a:ext cx="2542032" cy="219456"/>
          </a:xfrm>
          <a:prstGeom prst="rect">
            <a:avLst/>
          </a:prstGeom>
          <a:noFill/>
        </p:spPr>
        <p:txBody>
          <a:bodyPr wrap="square" lIns="0" rIns="0" tIns="0" bIns="0" anchor="t">
            <a:spAutoFit/>
          </a:bodyPr>
          <a:lstStyle/>
          <a:p>
            <a:pPr algn="ctr">
              <a:spcAft>
                <a:spcPts val="0"/>
              </a:spcAft>
            </a:pPr>
            <a:r>
              <a:rPr sz="850" b="0">
                <a:solidFill>
                  <a:srgbClr val="5A6670"/>
                </a:solidFill>
                <a:latin typeface="游ゴシック"/>
                <a:ea typeface="游ゴシック"/>
                <a:cs typeface="游ゴシック"/>
              </a:rPr>
              <a:t>玄そば・小麦・食材</a:t>
            </a:r>
          </a:p>
        </p:txBody>
      </p:sp>
      <p:sp>
        <p:nvSpPr>
          <p:cNvPr id="82" name="TextBox 81"/>
          <p:cNvSpPr txBox="1"/>
          <p:nvPr/>
        </p:nvSpPr>
        <p:spPr>
          <a:xfrm>
            <a:off x="4078224" y="2340864"/>
            <a:ext cx="2542032" cy="219456"/>
          </a:xfrm>
          <a:prstGeom prst="rect">
            <a:avLst/>
          </a:prstGeom>
          <a:noFill/>
        </p:spPr>
        <p:txBody>
          <a:bodyPr wrap="square" lIns="0" rIns="0" tIns="0" bIns="0" anchor="t">
            <a:spAutoFit/>
          </a:bodyPr>
          <a:lstStyle/>
          <a:p>
            <a:pPr algn="ctr">
              <a:spcAft>
                <a:spcPts val="0"/>
              </a:spcAft>
            </a:pPr>
            <a:r>
              <a:rPr sz="850" b="0">
                <a:solidFill>
                  <a:srgbClr val="5A6670"/>
                </a:solidFill>
                <a:latin typeface="游ゴシック"/>
                <a:ea typeface="游ゴシック"/>
                <a:cs typeface="游ゴシック"/>
              </a:rPr>
              <a:t>蕎麦・蕎麦粉・小麦粉・商品</a:t>
            </a:r>
          </a:p>
        </p:txBody>
      </p:sp>
      <p:sp>
        <p:nvSpPr>
          <p:cNvPr id="83" name="TextBox 82"/>
          <p:cNvSpPr txBox="1"/>
          <p:nvPr/>
        </p:nvSpPr>
        <p:spPr>
          <a:xfrm>
            <a:off x="310896" y="585216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金額はいずれも2026年5月期。総勘定元帳の相手科目・取引先欄により弊社が集計したものであり、決算書の勘定科目区分とは一致しない。</a:t>
            </a:r>
          </a:p>
        </p:txBody>
      </p:sp>
    </p:spTree>
    <p:extLst>
      <p:ext uri="{BB962C8B-B14F-4D97-AF65-F5344CB8AC3E}">
        <p14:creationId xmlns:p14="http://schemas.microsoft.com/office/powerpoint/2010/main" val="5383831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0B1C5-D3FA-B80D-FCF0-3C49EF8E798D}"/>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C98E073B-FCE4-F6FA-66A7-29E757285F77}"/>
              </a:ext>
            </a:extLst>
          </p:cNvPr>
          <p:cNvSpPr>
            <a:spLocks noGrp="1"/>
          </p:cNvSpPr>
          <p:nvPr>
            <p:ph type="ctrTitle"/>
          </p:nvPr>
        </p:nvSpPr>
        <p:spPr/>
        <p:txBody>
          <a:bodyPr/>
          <a:lstStyle/>
          <a:p>
            <a:r>
              <a:rPr>
                <a:latin typeface="游ゴシック"/>
                <a:ea typeface="游ゴシック"/>
                <a:cs typeface="游ゴシック"/>
              </a:rPr>
              <a:t>「慈久庵」というブランドと代表者</a:t>
            </a:r>
          </a:p>
        </p:txBody>
      </p:sp>
      <p:sp>
        <p:nvSpPr>
          <p:cNvPr id="2" name="タイトル 1">
            <a:extLst>
              <a:ext uri="{FF2B5EF4-FFF2-40B4-BE49-F238E27FC236}">
                <a16:creationId xmlns:a16="http://schemas.microsoft.com/office/drawing/2014/main" id="{1F33762E-23F4-8C5B-C467-2E3E3671C9B0}"/>
              </a:ext>
            </a:extLst>
          </p:cNvPr>
          <p:cNvSpPr txBox="1">
            <a:spLocks/>
          </p:cNvSpPr>
          <p:nvPr/>
        </p:nvSpPr>
        <p:spPr>
          <a:xfrm>
            <a:off x="8293101" y="252155"/>
            <a:ext cx="2057400" cy="184666"/>
          </a:xfrm>
          <a:prstGeom prst="rect">
            <a:avLst/>
          </a:prstGeom>
        </p:spPr>
        <p:txBody>
          <a:bodyPr vert="horz" wrap="square"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sz="1200" b="1">
                <a:latin typeface="游ゴシック"/>
                <a:ea typeface="游ゴシック"/>
                <a:cs typeface="游ゴシック"/>
              </a:rPr>
              <a:t>事業概要</a:t>
            </a:r>
          </a:p>
        </p:txBody>
      </p:sp>
      <p:sp>
        <p:nvSpPr>
          <p:cNvPr id="4" name="Rectangle 3"/>
          <p:cNvSpPr/>
          <p:nvPr/>
        </p:nvSpPr>
        <p:spPr>
          <a:xfrm>
            <a:off x="310896" y="1444752"/>
            <a:ext cx="4846320"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代表者 小川 宣夫 氏の歩み</a:t>
            </a:r>
          </a:p>
        </p:txBody>
      </p:sp>
      <p:graphicFrame>
        <p:nvGraphicFramePr>
          <p:cNvPr id="5" name="Table 4"/>
          <p:cNvGraphicFramePr>
            <a:graphicFrameLocks noGrp="1"/>
          </p:cNvGraphicFramePr>
          <p:nvPr/>
        </p:nvGraphicFramePr>
        <p:xfrm>
          <a:off x="310896" y="1801368"/>
          <a:ext cx="4846318" cy="3118104"/>
        </p:xfrm>
        <a:graphic>
          <a:graphicData uri="http://schemas.openxmlformats.org/drawingml/2006/table">
            <a:tbl>
              <a:tblPr firstRow="0" bandRow="0">
                <a:tableStyleId>{5940675A-B579-460E-94D1-54222C63F5DA}</a:tableStyleId>
              </a:tblPr>
              <a:tblGrid>
                <a:gridCol w="786383"/>
                <a:gridCol w="4059935"/>
              </a:tblGrid>
              <a:tr h="228600">
                <a:tc>
                  <a:txBody>
                    <a:bodyPr wrap="square"/>
                    <a:lstStyle/>
                    <a:p>
                      <a:pPr algn="ctr">
                        <a:spcAft>
                          <a:spcPts val="0"/>
                        </a:spcAft>
                      </a:pPr>
                      <a:r>
                        <a:rPr sz="840" b="1">
                          <a:solidFill>
                            <a:srgbClr val="FFFFFF"/>
                          </a:solidFill>
                          <a:latin typeface="游ゴシック"/>
                          <a:ea typeface="游ゴシック"/>
                          <a:cs typeface="游ゴシック"/>
                        </a:rPr>
                        <a:t>年</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ctr">
                        <a:spcAft>
                          <a:spcPts val="0"/>
                        </a:spcAft>
                      </a:pPr>
                      <a:r>
                        <a:rPr sz="840" b="0">
                          <a:solidFill>
                            <a:srgbClr val="1A1A1A"/>
                          </a:solidFill>
                          <a:latin typeface="游ゴシック"/>
                          <a:ea typeface="游ゴシック"/>
                          <a:cs typeface="游ゴシック"/>
                        </a:rPr>
                        <a:t>1947年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茨城県（現・常陸太田市）に生まれる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ctr">
                        <a:spcAft>
                          <a:spcPts val="0"/>
                        </a:spcAft>
                      </a:pPr>
                      <a:r>
                        <a:rPr sz="840" b="0">
                          <a:solidFill>
                            <a:srgbClr val="1A1A1A"/>
                          </a:solidFill>
                          <a:latin typeface="游ゴシック"/>
                          <a:ea typeface="游ゴシック"/>
                          <a:cs typeface="游ゴシック"/>
                        </a:rPr>
                        <a:t>20代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東京での会社員生活を経て、信州有数の蕎麦どころである長野県大町市へ移住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ctr">
                        <a:spcAft>
                          <a:spcPts val="0"/>
                        </a:spcAft>
                      </a:pPr>
                      <a:r>
                        <a:rPr sz="840" b="0">
                          <a:solidFill>
                            <a:srgbClr val="1A1A1A"/>
                          </a:solidFill>
                          <a:latin typeface="游ゴシック"/>
                          <a:ea typeface="游ゴシック"/>
                          <a:cs typeface="游ゴシック"/>
                        </a:rPr>
                        <a:t>1978年頃</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31歳で東京・荻窪の名店「本むら庵」に入店。8年間の修業を経て独立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ctr">
                        <a:spcAft>
                          <a:spcPts val="0"/>
                        </a:spcAft>
                      </a:pPr>
                      <a:r>
                        <a:rPr sz="840" b="0">
                          <a:solidFill>
                            <a:srgbClr val="1A1A1A"/>
                          </a:solidFill>
                          <a:latin typeface="游ゴシック"/>
                          <a:ea typeface="游ゴシック"/>
                          <a:cs typeface="游ゴシック"/>
                        </a:rPr>
                        <a:t>1990年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東京・南阿佐ヶ谷に石臼挽き自家製粉の手打ち蕎麦店「慈久庵」を開業（株式会社慈久庵 設立）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ctr">
                        <a:spcAft>
                          <a:spcPts val="0"/>
                        </a:spcAft>
                      </a:pPr>
                      <a:r>
                        <a:rPr sz="840" b="0">
                          <a:solidFill>
                            <a:srgbClr val="1A1A1A"/>
                          </a:solidFill>
                          <a:latin typeface="游ゴシック"/>
                          <a:ea typeface="游ゴシック"/>
                          <a:cs typeface="游ゴシック"/>
                        </a:rPr>
                        <a:t>2002年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里山再生への思いから、生まれ故郷の茨城県久慈郡水府村（現・常陸太田市）へ移転</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ctr">
                        <a:spcAft>
                          <a:spcPts val="0"/>
                        </a:spcAft>
                      </a:pPr>
                      <a:r>
                        <a:rPr sz="840" b="0">
                          <a:solidFill>
                            <a:srgbClr val="1A1A1A"/>
                          </a:solidFill>
                          <a:latin typeface="游ゴシック"/>
                          <a:ea typeface="游ゴシック"/>
                          <a:cs typeface="游ゴシック"/>
                        </a:rPr>
                        <a:t>2005年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常陸太田市の旧市街地に手打ち饂飩店「塩町館」を開店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ctr">
                        <a:spcAft>
                          <a:spcPts val="0"/>
                        </a:spcAft>
                      </a:pPr>
                      <a:r>
                        <a:rPr sz="840" b="0">
                          <a:solidFill>
                            <a:srgbClr val="1A1A1A"/>
                          </a:solidFill>
                          <a:latin typeface="游ゴシック"/>
                          <a:ea typeface="游ゴシック"/>
                          <a:cs typeface="游ゴシック"/>
                        </a:rPr>
                        <a:t>現在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粗挽き粉で打つ蕎麦の第一人者として知られ、焼き畑蕎麦栽培・小麦や茶の栽培にも取り組む</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ctr">
                        <a:spcAft>
                          <a:spcPts val="0"/>
                        </a:spcAft>
                      </a:pPr>
                      <a:r>
                        <a:rPr sz="840" b="0">
                          <a:solidFill>
                            <a:srgbClr val="1A1A1A"/>
                          </a:solidFill>
                          <a:latin typeface="游ゴシック"/>
                          <a:ea typeface="游ゴシック"/>
                          <a:cs typeface="游ゴシック"/>
                        </a:rPr>
                        <a:t>著作</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『小川宣夫の蕎麦・饂飩指南 ― 粗挽き蕎麦と石臼挽き饂飩』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6" name="Rectangle 5"/>
          <p:cNvSpPr/>
          <p:nvPr/>
        </p:nvSpPr>
        <p:spPr>
          <a:xfrm>
            <a:off x="5376672" y="1444752"/>
            <a:ext cx="500176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外部からの評価</a:t>
            </a:r>
          </a:p>
        </p:txBody>
      </p:sp>
      <p:graphicFrame>
        <p:nvGraphicFramePr>
          <p:cNvPr id="7" name="Table 6"/>
          <p:cNvGraphicFramePr>
            <a:graphicFrameLocks noGrp="1"/>
          </p:cNvGraphicFramePr>
          <p:nvPr/>
        </p:nvGraphicFramePr>
        <p:xfrm>
          <a:off x="5376672" y="1801368"/>
          <a:ext cx="5001766" cy="1600200"/>
        </p:xfrm>
        <a:graphic>
          <a:graphicData uri="http://schemas.openxmlformats.org/drawingml/2006/table">
            <a:tbl>
              <a:tblPr firstRow="0" bandRow="0">
                <a:tableStyleId>{5940675A-B579-460E-94D1-54222C63F5DA}</a:tableStyleId>
              </a:tblPr>
              <a:tblGrid>
                <a:gridCol w="2377439"/>
                <a:gridCol w="2624327"/>
              </a:tblGrid>
              <a:tr h="228600">
                <a:tc>
                  <a:txBody>
                    <a:bodyPr wrap="square"/>
                    <a:lstStyle/>
                    <a:p>
                      <a:pPr algn="ctr">
                        <a:spcAft>
                          <a:spcPts val="0"/>
                        </a:spcAft>
                      </a:pPr>
                      <a:r>
                        <a:rPr sz="840" b="1">
                          <a:solidFill>
                            <a:srgbClr val="FFFFFF"/>
                          </a:solidFill>
                          <a:latin typeface="游ゴシック"/>
                          <a:ea typeface="游ゴシック"/>
                          <a:cs typeface="游ゴシック"/>
                        </a:rPr>
                        <a:t>評価・受賞</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40" b="0">
                          <a:solidFill>
                            <a:srgbClr val="1A1A1A"/>
                          </a:solidFill>
                          <a:latin typeface="游ゴシック"/>
                          <a:ea typeface="游ゴシック"/>
                          <a:cs typeface="游ゴシック"/>
                        </a:rPr>
                        <a:t>Japan Restaurant Award 2016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食べログ　茨城県 TOP 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40" b="0">
                          <a:solidFill>
                            <a:srgbClr val="1A1A1A"/>
                          </a:solidFill>
                          <a:latin typeface="游ゴシック"/>
                          <a:ea typeface="游ゴシック"/>
                          <a:cs typeface="游ゴシック"/>
                        </a:rPr>
                        <a:t>THE TABELOG AWARD 2022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Bronze</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40" b="0">
                          <a:solidFill>
                            <a:srgbClr val="1A1A1A"/>
                          </a:solidFill>
                          <a:latin typeface="游ゴシック"/>
                          <a:ea typeface="游ゴシック"/>
                          <a:cs typeface="游ゴシック"/>
                        </a:rPr>
                        <a:t>THE TABELOG AWARD 2023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Bronze</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40" b="0">
                          <a:solidFill>
                            <a:srgbClr val="1A1A1A"/>
                          </a:solidFill>
                          <a:latin typeface="游ゴシック"/>
                          <a:ea typeface="游ゴシック"/>
                          <a:cs typeface="游ゴシック"/>
                        </a:rPr>
                        <a:t>食べログ「そば 百名店」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選出（店内にステッカー掲示）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40" b="0">
                          <a:solidFill>
                            <a:srgbClr val="1A1A1A"/>
                          </a:solidFill>
                          <a:latin typeface="游ゴシック"/>
                          <a:ea typeface="游ゴシック"/>
                          <a:cs typeface="游ゴシック"/>
                        </a:rPr>
                        <a:t>Japan Brand Collection 2026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茨城版に「古式健珍蕎麦 慈久庵」として掲載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8" name="Rectangle 7"/>
          <p:cNvSpPr/>
          <p:nvPr/>
        </p:nvSpPr>
        <p:spPr>
          <a:xfrm>
            <a:off x="5376672" y="3566160"/>
            <a:ext cx="500176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ブランドを支える「つくり方」</a:t>
            </a:r>
          </a:p>
        </p:txBody>
      </p:sp>
      <p:sp>
        <p:nvSpPr>
          <p:cNvPr id="9" name="Rectangle 8"/>
          <p:cNvSpPr/>
          <p:nvPr/>
        </p:nvSpPr>
        <p:spPr>
          <a:xfrm>
            <a:off x="5376672" y="3922776"/>
            <a:ext cx="5001768" cy="2670048"/>
          </a:xfrm>
          <a:prstGeom prst="rect">
            <a:avLst/>
          </a:prstGeom>
          <a:solidFill>
            <a:srgbClr val="F7FAFC"/>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504688" y="4032504"/>
            <a:ext cx="4745736" cy="2468880"/>
          </a:xfrm>
          <a:prstGeom prst="rect">
            <a:avLst/>
          </a:prstGeom>
          <a:noFill/>
        </p:spPr>
        <p:txBody>
          <a:bodyPr wrap="square" lIns="0" rIns="0" tIns="0" bIns="0" anchor="t">
            <a:spAutoFit/>
          </a:bodyPr>
          <a:lstStyle/>
          <a:p>
            <a:pPr algn="l">
              <a:lnSpc>
                <a:spcPct val="118000"/>
              </a:lnSpc>
              <a:spcAft>
                <a:spcPts val="200"/>
              </a:spcAft>
            </a:pPr>
            <a:r>
              <a:rPr sz="850" b="1">
                <a:solidFill>
                  <a:srgbClr val="0889C9"/>
                </a:solidFill>
                <a:latin typeface="游ゴシック"/>
                <a:ea typeface="游ゴシック"/>
                <a:cs typeface="游ゴシック"/>
              </a:rPr>
              <a:t>原料　</a:t>
            </a:r>
            <a:r>
              <a:rPr sz="850" b="0">
                <a:solidFill>
                  <a:srgbClr val="1A1A1A"/>
                </a:solidFill>
                <a:latin typeface="游ゴシック"/>
                <a:ea typeface="游ゴシック"/>
                <a:cs typeface="游ゴシック"/>
              </a:rPr>
              <a:t>玄そばの最高峰とされる地元産「常陸秋そば」を、農家を応援する意味合いから高値で買い取り。併せて代表者自ら畑に出て栽培にも従事。</a:t>
            </a:r>
          </a:p>
          <a:p>
            <a:pPr algn="l">
              <a:spcAft>
                <a:spcPts val="200"/>
              </a:spcAft>
            </a:pPr>
          </a:p>
          <a:p>
            <a:pPr algn="l">
              <a:lnSpc>
                <a:spcPct val="118000"/>
              </a:lnSpc>
              <a:spcAft>
                <a:spcPts val="200"/>
              </a:spcAft>
            </a:pPr>
            <a:r>
              <a:rPr sz="850" b="1">
                <a:solidFill>
                  <a:srgbClr val="0889C9"/>
                </a:solidFill>
                <a:latin typeface="游ゴシック"/>
                <a:ea typeface="游ゴシック"/>
                <a:cs typeface="游ゴシック"/>
              </a:rPr>
              <a:t>焼畑　</a:t>
            </a:r>
            <a:r>
              <a:rPr sz="850" b="0">
                <a:solidFill>
                  <a:srgbClr val="1A1A1A"/>
                </a:solidFill>
                <a:latin typeface="游ゴシック"/>
                <a:ea typeface="游ゴシック"/>
                <a:cs typeface="游ゴシック"/>
              </a:rPr>
              <a:t>国内でも希少となった焼き畑農法を再興して24年。放棄されていた土地を再生し、茎が太く生命力に満ちたそばを収穫。</a:t>
            </a:r>
          </a:p>
          <a:p>
            <a:pPr algn="l">
              <a:spcAft>
                <a:spcPts val="200"/>
              </a:spcAft>
            </a:pPr>
          </a:p>
          <a:p>
            <a:pPr algn="l">
              <a:lnSpc>
                <a:spcPct val="118000"/>
              </a:lnSpc>
              <a:spcAft>
                <a:spcPts val="200"/>
              </a:spcAft>
            </a:pPr>
            <a:r>
              <a:rPr sz="850" b="1">
                <a:solidFill>
                  <a:srgbClr val="0889C9"/>
                </a:solidFill>
                <a:latin typeface="游ゴシック"/>
                <a:ea typeface="游ゴシック"/>
                <a:cs typeface="游ゴシック"/>
              </a:rPr>
              <a:t>製粉　</a:t>
            </a:r>
            <a:r>
              <a:rPr sz="850" b="0">
                <a:solidFill>
                  <a:srgbClr val="1A1A1A"/>
                </a:solidFill>
                <a:latin typeface="游ゴシック"/>
                <a:ea typeface="游ゴシック"/>
                <a:cs typeface="游ゴシック"/>
              </a:rPr>
              <a:t>集めたそばを一年間寝かせてから石臼で自家製粉。同一品種でも畑により性質が異なるため畑ごとに袋を分け、寝かせた粉と新しい粉をブレンド。基本は九一。</a:t>
            </a:r>
          </a:p>
          <a:p>
            <a:pPr algn="l">
              <a:spcAft>
                <a:spcPts val="200"/>
              </a:spcAft>
            </a:pPr>
          </a:p>
          <a:p>
            <a:pPr algn="l">
              <a:lnSpc>
                <a:spcPct val="118000"/>
              </a:lnSpc>
              <a:spcAft>
                <a:spcPts val="200"/>
              </a:spcAft>
            </a:pPr>
            <a:r>
              <a:rPr sz="850" b="1">
                <a:solidFill>
                  <a:srgbClr val="0889C9"/>
                </a:solidFill>
                <a:latin typeface="游ゴシック"/>
                <a:ea typeface="游ゴシック"/>
                <a:cs typeface="游ゴシック"/>
              </a:rPr>
              <a:t>商品　</a:t>
            </a:r>
            <a:r>
              <a:rPr sz="850" b="0">
                <a:solidFill>
                  <a:srgbClr val="1A1A1A"/>
                </a:solidFill>
                <a:latin typeface="游ゴシック"/>
                <a:ea typeface="游ゴシック"/>
                <a:cs typeface="游ゴシック"/>
              </a:rPr>
              <a:t>「ホシ」と呼ばれる黒い斑点が浮かぶ粗挽き蕎麦が看板。地元の無農薬有機野菜を使った茨城の郷土蕎麦「古式けんちんそば」（1,900円）も提供。</a:t>
            </a:r>
          </a:p>
          <a:p>
            <a:pPr algn="l">
              <a:spcAft>
                <a:spcPts val="200"/>
              </a:spcAft>
            </a:pPr>
          </a:p>
          <a:p>
            <a:pPr algn="l">
              <a:lnSpc>
                <a:spcPct val="118000"/>
              </a:lnSpc>
              <a:spcAft>
                <a:spcPts val="200"/>
              </a:spcAft>
            </a:pPr>
            <a:r>
              <a:rPr sz="850" b="1">
                <a:solidFill>
                  <a:srgbClr val="0889C9"/>
                </a:solidFill>
                <a:latin typeface="游ゴシック"/>
                <a:ea typeface="游ゴシック"/>
                <a:cs typeface="游ゴシック"/>
              </a:rPr>
              <a:t>同業からの評価　</a:t>
            </a:r>
            <a:r>
              <a:rPr sz="850" b="0">
                <a:solidFill>
                  <a:srgbClr val="1A1A1A"/>
                </a:solidFill>
                <a:latin typeface="游ゴシック"/>
                <a:ea typeface="游ゴシック"/>
                <a:cs typeface="游ゴシック"/>
              </a:rPr>
              <a:t>打心蕎庵・玉笑など同業の有名店が玄そば・蕎麦粉を仕入れ。石臼挽き小麦粉はキビヤベーカリー・ルヴァンへ供給。</a:t>
            </a:r>
          </a:p>
          <a:p>
            <a:pPr algn="l">
              <a:spcAft>
                <a:spcPts val="200"/>
              </a:spcAft>
            </a:pPr>
          </a:p>
        </p:txBody>
      </p:sp>
      <p:sp>
        <p:nvSpPr>
          <p:cNvPr id="11" name="TextBox 10"/>
          <p:cNvSpPr txBox="1"/>
          <p:nvPr/>
        </p:nvSpPr>
        <p:spPr>
          <a:xfrm>
            <a:off x="310896" y="667512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代表者経歴は著書『小川宣夫の蕎麦・饂飩指南』の著者略歴、ブランド・製法に関する記述は Japan Brand Collection 2026 茨城版に基づく。</a:t>
            </a:r>
          </a:p>
          <a:p>
            <a:pPr algn="l">
              <a:lnSpc>
                <a:spcPct val="112000"/>
              </a:lnSpc>
              <a:spcAft>
                <a:spcPts val="100"/>
              </a:spcAft>
            </a:pPr>
            <a:r>
              <a:rPr sz="750" b="0">
                <a:solidFill>
                  <a:srgbClr val="5A6670"/>
                </a:solidFill>
                <a:latin typeface="游ゴシック"/>
                <a:ea typeface="游ゴシック"/>
                <a:cs typeface="游ゴシック"/>
              </a:rPr>
              <a:t>※ 受賞歴は店内に掲示された盾・楯・ステッカーの実査により確認。受賞記録の原本（表彰状等）は要確認。</a:t>
            </a:r>
          </a:p>
        </p:txBody>
      </p:sp>
    </p:spTree>
    <p:extLst>
      <p:ext uri="{BB962C8B-B14F-4D97-AF65-F5344CB8AC3E}">
        <p14:creationId xmlns:p14="http://schemas.microsoft.com/office/powerpoint/2010/main" val="25275136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3DD08FDB-DE43-2BEC-7657-AFC65253B448}"/>
              </a:ext>
            </a:extLst>
          </p:cNvPr>
          <p:cNvSpPr>
            <a:spLocks noGrp="1"/>
          </p:cNvSpPr>
          <p:nvPr>
            <p:ph type="ctrTitle"/>
          </p:nvPr>
        </p:nvSpPr>
        <p:spPr/>
        <p:txBody>
          <a:bodyPr/>
          <a:lstStyle/>
          <a:p>
            <a:r>
              <a:rPr>
                <a:latin typeface="游ゴシック"/>
                <a:ea typeface="游ゴシック"/>
                <a:cs typeface="游ゴシック"/>
              </a:rPr>
              <a:t>特徴</a:t>
            </a:r>
          </a:p>
        </p:txBody>
      </p:sp>
      <p:sp>
        <p:nvSpPr>
          <p:cNvPr id="2" name="タイトル 1">
            <a:extLst>
              <a:ext uri="{FF2B5EF4-FFF2-40B4-BE49-F238E27FC236}">
                <a16:creationId xmlns:a16="http://schemas.microsoft.com/office/drawing/2014/main" id="{0A4FF749-E8A2-9754-A990-0C08664F52BF}"/>
              </a:ext>
            </a:extLst>
          </p:cNvPr>
          <p:cNvSpPr txBox="1">
            <a:spLocks/>
          </p:cNvSpPr>
          <p:nvPr/>
        </p:nvSpPr>
        <p:spPr>
          <a:xfrm>
            <a:off x="8293101" y="252155"/>
            <a:ext cx="2057400" cy="184666"/>
          </a:xfrm>
          <a:prstGeom prst="rect">
            <a:avLst/>
          </a:prstGeom>
        </p:spPr>
        <p:txBody>
          <a:bodyPr vert="horz" wrap="square"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sz="1200" b="1">
                <a:latin typeface="游ゴシック"/>
                <a:ea typeface="游ゴシック"/>
                <a:cs typeface="游ゴシック"/>
              </a:rPr>
              <a:t>事業概要</a:t>
            </a:r>
          </a:p>
        </p:txBody>
      </p:sp>
      <p:sp>
        <p:nvSpPr>
          <p:cNvPr id="4" name="Rectangle 3"/>
          <p:cNvSpPr/>
          <p:nvPr/>
        </p:nvSpPr>
        <p:spPr>
          <a:xfrm>
            <a:off x="448056" y="1124712"/>
            <a:ext cx="9793224" cy="1655064"/>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448056" y="1124712"/>
            <a:ext cx="50292" cy="165506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49224" y="1472184"/>
            <a:ext cx="1188720" cy="96926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游ゴシック"/>
                <a:ea typeface="游ゴシック"/>
                <a:cs typeface="游ゴシック"/>
              </a:rPr>
              <a:t>特徴</a:t>
            </a:r>
          </a:p>
        </p:txBody>
      </p:sp>
      <p:sp>
        <p:nvSpPr>
          <p:cNvPr id="7" name="TextBox 6"/>
          <p:cNvSpPr txBox="1"/>
          <p:nvPr/>
        </p:nvSpPr>
        <p:spPr>
          <a:xfrm>
            <a:off x="2112264" y="1380744"/>
            <a:ext cx="7918704" cy="310896"/>
          </a:xfrm>
          <a:prstGeom prst="rect">
            <a:avLst/>
          </a:prstGeom>
          <a:noFill/>
        </p:spPr>
        <p:txBody>
          <a:bodyPr wrap="square" lIns="0" rIns="0" tIns="0" bIns="0" anchor="t">
            <a:spAutoFit/>
          </a:bodyPr>
          <a:lstStyle/>
          <a:p>
            <a:pPr algn="l">
              <a:spcAft>
                <a:spcPts val="0"/>
              </a:spcAft>
            </a:pPr>
            <a:r>
              <a:rPr sz="1400" b="1">
                <a:solidFill>
                  <a:srgbClr val="0B3041"/>
                </a:solidFill>
                <a:latin typeface="游ゴシック"/>
                <a:ea typeface="游ゴシック"/>
                <a:cs typeface="游ゴシック"/>
              </a:rPr>
              <a:t>模倣困難な垂直統合と全国区のブランド力</a:t>
            </a:r>
          </a:p>
        </p:txBody>
      </p:sp>
      <p:sp>
        <p:nvSpPr>
          <p:cNvPr id="8" name="TextBox 7"/>
          <p:cNvSpPr txBox="1"/>
          <p:nvPr/>
        </p:nvSpPr>
        <p:spPr>
          <a:xfrm>
            <a:off x="2112264" y="1783080"/>
            <a:ext cx="7918704" cy="832104"/>
          </a:xfrm>
          <a:prstGeom prst="rect">
            <a:avLst/>
          </a:prstGeom>
          <a:noFill/>
        </p:spPr>
        <p:txBody>
          <a:bodyPr wrap="square" lIns="0" rIns="0" tIns="0" bIns="0" anchor="t">
            <a:spAutoFit/>
          </a:bodyPr>
          <a:lstStyle/>
          <a:p>
            <a:pPr algn="l">
              <a:lnSpc>
                <a:spcPct val="122000"/>
              </a:lnSpc>
              <a:spcAft>
                <a:spcPts val="0"/>
              </a:spcAft>
            </a:pPr>
            <a:r>
              <a:rPr sz="1050" b="0">
                <a:solidFill>
                  <a:srgbClr val="1A1A1A"/>
                </a:solidFill>
                <a:latin typeface="游ゴシック"/>
                <a:ea typeface="游ゴシック"/>
                <a:cs typeface="游ゴシック"/>
              </a:rPr>
              <a:t>栽培（焼畑）→ 一年熟成 → 石臼自家製粉 → 手打ち までを自社で完結。食べログ百名店・TABELOG AWARD Bronze（2022・2023）に加え、</a:t>
            </a:r>
          </a:p>
          <a:p>
            <a:pPr algn="l">
              <a:lnSpc>
                <a:spcPct val="122000"/>
              </a:lnSpc>
              <a:spcAft>
                <a:spcPts val="0"/>
              </a:spcAft>
            </a:pPr>
            <a:r>
              <a:rPr sz="1050" b="0">
                <a:solidFill>
                  <a:srgbClr val="1A1A1A"/>
                </a:solidFill>
                <a:latin typeface="游ゴシック"/>
                <a:ea typeface="游ゴシック"/>
                <a:cs typeface="游ゴシック"/>
              </a:rPr>
              <a:t>打心蕎庵・玉笑など同業の有名店が玄そば・蕎麦粉を仕入れに訪れる水準の評価を得ている。</a:t>
            </a:r>
          </a:p>
        </p:txBody>
      </p:sp>
      <p:sp>
        <p:nvSpPr>
          <p:cNvPr id="9" name="Rectangle 8"/>
          <p:cNvSpPr/>
          <p:nvPr/>
        </p:nvSpPr>
        <p:spPr>
          <a:xfrm>
            <a:off x="448056" y="3127248"/>
            <a:ext cx="9793224" cy="1655064"/>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448056" y="3127248"/>
            <a:ext cx="50292" cy="165506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49224" y="3474720"/>
            <a:ext cx="1188720" cy="96926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游ゴシック"/>
                <a:ea typeface="游ゴシック"/>
                <a:cs typeface="游ゴシック"/>
              </a:rPr>
              <a:t>強み</a:t>
            </a:r>
          </a:p>
        </p:txBody>
      </p:sp>
      <p:sp>
        <p:nvSpPr>
          <p:cNvPr id="12" name="TextBox 11"/>
          <p:cNvSpPr txBox="1"/>
          <p:nvPr/>
        </p:nvSpPr>
        <p:spPr>
          <a:xfrm>
            <a:off x="2112264" y="3383280"/>
            <a:ext cx="7918704" cy="310896"/>
          </a:xfrm>
          <a:prstGeom prst="rect">
            <a:avLst/>
          </a:prstGeom>
          <a:noFill/>
        </p:spPr>
        <p:txBody>
          <a:bodyPr wrap="square" lIns="0" rIns="0" tIns="0" bIns="0" anchor="t">
            <a:spAutoFit/>
          </a:bodyPr>
          <a:lstStyle/>
          <a:p>
            <a:pPr algn="l">
              <a:spcAft>
                <a:spcPts val="0"/>
              </a:spcAft>
            </a:pPr>
            <a:r>
              <a:rPr sz="1400" b="1">
                <a:solidFill>
                  <a:srgbClr val="0B3041"/>
                </a:solidFill>
                <a:latin typeface="游ゴシック"/>
                <a:ea typeface="游ゴシック"/>
                <a:cs typeface="游ゴシック"/>
              </a:rPr>
              <a:t>賃料・金融機関借入の負担がない資産構成</a:t>
            </a:r>
          </a:p>
        </p:txBody>
      </p:sp>
      <p:sp>
        <p:nvSpPr>
          <p:cNvPr id="13" name="TextBox 12"/>
          <p:cNvSpPr txBox="1"/>
          <p:nvPr/>
        </p:nvSpPr>
        <p:spPr>
          <a:xfrm>
            <a:off x="2112264" y="3785615"/>
            <a:ext cx="7918704" cy="832104"/>
          </a:xfrm>
          <a:prstGeom prst="rect">
            <a:avLst/>
          </a:prstGeom>
          <a:noFill/>
        </p:spPr>
        <p:txBody>
          <a:bodyPr wrap="square" lIns="0" rIns="0" tIns="0" bIns="0" anchor="t">
            <a:spAutoFit/>
          </a:bodyPr>
          <a:lstStyle/>
          <a:p>
            <a:pPr algn="l">
              <a:lnSpc>
                <a:spcPct val="122000"/>
              </a:lnSpc>
              <a:spcAft>
                <a:spcPts val="0"/>
              </a:spcAft>
            </a:pPr>
            <a:r>
              <a:rPr sz="1050" b="0">
                <a:solidFill>
                  <a:srgbClr val="1A1A1A"/>
                </a:solidFill>
                <a:latin typeface="游ゴシック"/>
                <a:ea typeface="游ゴシック"/>
                <a:cs typeface="游ゴシック"/>
              </a:rPr>
              <a:t>板倉造・茅葺きの自社建物（取得価額104,599千円）と土地を保有し、賃料負担はゼロ。金融機関借入もなく、負債33,673千円の</a:t>
            </a:r>
          </a:p>
          <a:p>
            <a:pPr algn="l">
              <a:lnSpc>
                <a:spcPct val="122000"/>
              </a:lnSpc>
              <a:spcAft>
                <a:spcPts val="0"/>
              </a:spcAft>
            </a:pPr>
            <a:r>
              <a:rPr sz="1050" b="0">
                <a:solidFill>
                  <a:srgbClr val="1A1A1A"/>
                </a:solidFill>
                <a:latin typeface="游ゴシック"/>
                <a:ea typeface="游ゴシック"/>
                <a:cs typeface="游ゴシック"/>
              </a:rPr>
              <a:t>うち32,744千円は代表者・配偶者からの無利息借入。「慈久庵」「古式けんちんそば」の商標も登録済（4件）。</a:t>
            </a:r>
          </a:p>
        </p:txBody>
      </p:sp>
      <p:sp>
        <p:nvSpPr>
          <p:cNvPr id="14" name="Rectangle 13"/>
          <p:cNvSpPr/>
          <p:nvPr/>
        </p:nvSpPr>
        <p:spPr>
          <a:xfrm>
            <a:off x="448056" y="5129783"/>
            <a:ext cx="9793224" cy="1655064"/>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8056" y="5129783"/>
            <a:ext cx="50292" cy="165506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649224" y="5477255"/>
            <a:ext cx="1188720" cy="96926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游ゴシック"/>
                <a:ea typeface="游ゴシック"/>
                <a:cs typeface="游ゴシック"/>
              </a:rPr>
              <a:t>成長性</a:t>
            </a:r>
          </a:p>
        </p:txBody>
      </p:sp>
      <p:sp>
        <p:nvSpPr>
          <p:cNvPr id="17" name="TextBox 16"/>
          <p:cNvSpPr txBox="1"/>
          <p:nvPr/>
        </p:nvSpPr>
        <p:spPr>
          <a:xfrm>
            <a:off x="2112264" y="5385816"/>
            <a:ext cx="7918704" cy="310896"/>
          </a:xfrm>
          <a:prstGeom prst="rect">
            <a:avLst/>
          </a:prstGeom>
          <a:noFill/>
        </p:spPr>
        <p:txBody>
          <a:bodyPr wrap="square" lIns="0" rIns="0" tIns="0" bIns="0" anchor="t">
            <a:spAutoFit/>
          </a:bodyPr>
          <a:lstStyle/>
          <a:p>
            <a:pPr algn="l">
              <a:spcAft>
                <a:spcPts val="0"/>
              </a:spcAft>
            </a:pPr>
            <a:r>
              <a:rPr sz="1400" b="1">
                <a:solidFill>
                  <a:srgbClr val="0B3041"/>
                </a:solidFill>
                <a:latin typeface="游ゴシック"/>
                <a:ea typeface="游ゴシック"/>
                <a:cs typeface="游ゴシック"/>
              </a:rPr>
              <a:t>週4日・昼のみという稼働余地と、商品・多店舗への展開余地</a:t>
            </a:r>
          </a:p>
        </p:txBody>
      </p:sp>
      <p:sp>
        <p:nvSpPr>
          <p:cNvPr id="18" name="TextBox 17"/>
          <p:cNvSpPr txBox="1"/>
          <p:nvPr/>
        </p:nvSpPr>
        <p:spPr>
          <a:xfrm>
            <a:off x="2112264" y="5788151"/>
            <a:ext cx="7918704" cy="832104"/>
          </a:xfrm>
          <a:prstGeom prst="rect">
            <a:avLst/>
          </a:prstGeom>
          <a:noFill/>
        </p:spPr>
        <p:txBody>
          <a:bodyPr wrap="square" lIns="0" rIns="0" tIns="0" bIns="0" anchor="t">
            <a:spAutoFit/>
          </a:bodyPr>
          <a:lstStyle/>
          <a:p>
            <a:pPr algn="l">
              <a:lnSpc>
                <a:spcPct val="122000"/>
              </a:lnSpc>
              <a:spcAft>
                <a:spcPts val="0"/>
              </a:spcAft>
            </a:pPr>
            <a:r>
              <a:rPr sz="1050" b="0">
                <a:solidFill>
                  <a:srgbClr val="1A1A1A"/>
                </a:solidFill>
                <a:latin typeface="游ゴシック"/>
                <a:ea typeface="游ゴシック"/>
                <a:cs typeface="游ゴシック"/>
              </a:rPr>
              <a:t>営業は金・土・日・月の11:30〜14:30のみ（年間200日）。営業日・営業時間の拡大が最も直接的な打ち手となる。</a:t>
            </a:r>
          </a:p>
          <a:p>
            <a:pPr algn="l">
              <a:lnSpc>
                <a:spcPct val="122000"/>
              </a:lnSpc>
              <a:spcAft>
                <a:spcPts val="0"/>
              </a:spcAft>
            </a:pPr>
            <a:r>
              <a:rPr sz="1050" b="0">
                <a:solidFill>
                  <a:srgbClr val="1A1A1A"/>
                </a:solidFill>
                <a:latin typeface="游ゴシック"/>
                <a:ea typeface="游ゴシック"/>
                <a:cs typeface="游ゴシック"/>
              </a:rPr>
              <a:t>通信販売は696→1,020千円と伸長中で、ふるさと納税返礼品にも採用済。過去に弟子へ店舗を承継した実績があり暖簾分けの素地もある。</a:t>
            </a:r>
          </a:p>
        </p:txBody>
      </p:sp>
      <p:sp>
        <p:nvSpPr>
          <p:cNvPr id="19" name="TextBox 18"/>
          <p:cNvSpPr txBox="1"/>
          <p:nvPr/>
        </p:nvSpPr>
        <p:spPr>
          <a:xfrm>
            <a:off x="310896" y="6912864"/>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「強み」「成長性」は弊社の評価であり、将来の業績を保証するものではありません。営業日拡大の効果試算は P.19 に記載。</a:t>
            </a:r>
          </a:p>
        </p:txBody>
      </p:sp>
    </p:spTree>
    <p:extLst>
      <p:ext uri="{BB962C8B-B14F-4D97-AF65-F5344CB8AC3E}">
        <p14:creationId xmlns:p14="http://schemas.microsoft.com/office/powerpoint/2010/main" val="27210844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6F8F80-D630-2549-01F8-FD24A474441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売上区分別売上高</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事業概要</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減収は店頭飲食（4期で△6,157千円）と商品売上（同△2,202千円）が主因。石臼挽き小麦粉の卸売と通信販売はむしろ増加</a:t>
            </a:r>
            <a:endParaRPr lang="en-US" altLang="ja-JP" dirty="0"/>
          </a:p>
        </p:txBody>
      </p:sp>
      <p:graphicFrame>
        <p:nvGraphicFramePr>
          <p:cNvPr id="14" name="Table 13"/>
          <p:cNvGraphicFramePr>
            <a:graphicFrameLocks noGrp="1"/>
          </p:cNvGraphicFramePr>
          <p:nvPr/>
        </p:nvGraphicFramePr>
        <p:xfrm>
          <a:off x="310896" y="1408176"/>
          <a:ext cx="9921236" cy="1627632"/>
        </p:xfrm>
        <a:graphic>
          <a:graphicData uri="http://schemas.openxmlformats.org/drawingml/2006/table">
            <a:tbl>
              <a:tblPr firstRow="0" bandRow="0">
                <a:tableStyleId>{5940675A-B579-460E-94D1-54222C63F5DA}</a:tableStyleId>
              </a:tblPr>
              <a:tblGrid>
                <a:gridCol w="2174802"/>
                <a:gridCol w="1325593"/>
                <a:gridCol w="1325593"/>
                <a:gridCol w="1325593"/>
                <a:gridCol w="1325593"/>
                <a:gridCol w="1325593"/>
                <a:gridCol w="1118469"/>
              </a:tblGrid>
              <a:tr h="256032">
                <a:tc>
                  <a:txBody>
                    <a:bodyPr wrap="square"/>
                    <a:lstStyle/>
                    <a:p>
                      <a:pPr algn="ctr">
                        <a:spcAft>
                          <a:spcPts val="0"/>
                        </a:spcAft>
                      </a:pPr>
                      <a:r>
                        <a:rPr sz="90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900" b="1">
                          <a:solidFill>
                            <a:srgbClr val="FFFFFF"/>
                          </a:solidFill>
                          <a:latin typeface="Arial"/>
                          <a:ea typeface="Arial"/>
                          <a:cs typeface="Arial"/>
                        </a:rPr>
                        <a:t>2022/5期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900" b="1">
                          <a:solidFill>
                            <a:srgbClr val="FFFFFF"/>
                          </a:solidFill>
                          <a:latin typeface="Arial"/>
                          <a:ea typeface="Arial"/>
                          <a:cs typeface="Arial"/>
                        </a:rPr>
                        <a:t>2023/5期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90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90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90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900" b="1">
                          <a:solidFill>
                            <a:srgbClr val="FFFFFF"/>
                          </a:solidFill>
                          <a:latin typeface="Arial"/>
                          <a:ea typeface="Arial"/>
                          <a:cs typeface="Arial"/>
                        </a:rPr>
                        <a:t>22年比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900" b="0">
                          <a:solidFill>
                            <a:srgbClr val="1A1A1A"/>
                          </a:solidFill>
                          <a:latin typeface="游ゴシック"/>
                          <a:ea typeface="游ゴシック"/>
                          <a:cs typeface="游ゴシック"/>
                        </a:rPr>
                        <a:t>飲食店売上高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23,880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22,083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19,255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19,019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17,723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C03A2B"/>
                          </a:solidFill>
                          <a:latin typeface="Arial"/>
                          <a:ea typeface="Arial"/>
                          <a:cs typeface="Arial"/>
                        </a:rPr>
                        <a:t>△25.8%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900" b="0">
                          <a:solidFill>
                            <a:srgbClr val="1A1A1A"/>
                          </a:solidFill>
                          <a:latin typeface="游ゴシック"/>
                          <a:ea typeface="游ゴシック"/>
                          <a:cs typeface="游ゴシック"/>
                        </a:rPr>
                        <a:t>小麦等売上高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2,235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2,288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2,131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1,919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2,273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900" b="0">
                          <a:solidFill>
                            <a:srgbClr val="1A1A1A"/>
                          </a:solidFill>
                          <a:latin typeface="游ゴシック"/>
                          <a:ea typeface="游ゴシック"/>
                          <a:cs typeface="游ゴシック"/>
                        </a:rPr>
                        <a:t>そば売上高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1,266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1,664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1,928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1,592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1,949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54.0%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900" b="0">
                          <a:solidFill>
                            <a:srgbClr val="1A1A1A"/>
                          </a:solidFill>
                          <a:latin typeface="游ゴシック"/>
                          <a:ea typeface="游ゴシック"/>
                          <a:cs typeface="游ゴシック"/>
                        </a:rPr>
                        <a:t>商品売上高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2,740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2,412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1,141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1,012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538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C03A2B"/>
                          </a:solidFill>
                          <a:latin typeface="Arial"/>
                          <a:ea typeface="Arial"/>
                          <a:cs typeface="Arial"/>
                        </a:rPr>
                        <a:t>△80.4%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900" b="1">
                          <a:solidFill>
                            <a:srgbClr val="1A1A1A"/>
                          </a:solidFill>
                          <a:latin typeface="游ゴシック"/>
                          <a:ea typeface="游ゴシック"/>
                          <a:cs typeface="游ゴシック"/>
                        </a:rPr>
                        <a:t>売上高 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1">
                          <a:solidFill>
                            <a:srgbClr val="1A1A1A"/>
                          </a:solidFill>
                          <a:latin typeface="Arial"/>
                          <a:ea typeface="Arial"/>
                          <a:cs typeface="Arial"/>
                        </a:rPr>
                        <a:t>30,121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1">
                          <a:solidFill>
                            <a:srgbClr val="1A1A1A"/>
                          </a:solidFill>
                          <a:latin typeface="Arial"/>
                          <a:ea typeface="Arial"/>
                          <a:cs typeface="Arial"/>
                        </a:rPr>
                        <a:t>28,446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1">
                          <a:solidFill>
                            <a:srgbClr val="1A1A1A"/>
                          </a:solidFill>
                          <a:latin typeface="Arial"/>
                          <a:ea typeface="Arial"/>
                          <a:cs typeface="Arial"/>
                        </a:rPr>
                        <a:t>24,455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1">
                          <a:solidFill>
                            <a:srgbClr val="1A1A1A"/>
                          </a:solidFill>
                          <a:latin typeface="Arial"/>
                          <a:ea typeface="Arial"/>
                          <a:cs typeface="Arial"/>
                        </a:rPr>
                        <a:t>23,542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1">
                          <a:solidFill>
                            <a:srgbClr val="1A1A1A"/>
                          </a:solidFill>
                          <a:latin typeface="Arial"/>
                          <a:ea typeface="Arial"/>
                          <a:cs typeface="Arial"/>
                        </a:rPr>
                        <a:t>22,484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1">
                          <a:solidFill>
                            <a:srgbClr val="C03A2B"/>
                          </a:solidFill>
                          <a:latin typeface="Arial"/>
                          <a:ea typeface="Arial"/>
                          <a:cs typeface="Arial"/>
                        </a:rPr>
                        <a:t>△25.4%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310896" y="3255264"/>
            <a:ext cx="5760720" cy="2066543"/>
          </a:xfrm>
          <a:prstGeom prst="rect">
            <a:avLst/>
          </a:prstGeom>
          <a:solidFill>
            <a:srgbClr val="FBFCFD"/>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20624" y="3328416"/>
            <a:ext cx="5541264" cy="201168"/>
          </a:xfrm>
          <a:prstGeom prst="rect">
            <a:avLst/>
          </a:prstGeom>
          <a:noFill/>
        </p:spPr>
        <p:txBody>
          <a:bodyPr wrap="square" lIns="0" rIns="0" tIns="0" bIns="0" anchor="t">
            <a:spAutoFit/>
          </a:bodyPr>
          <a:lstStyle/>
          <a:p>
            <a:pPr algn="l">
              <a:spcAft>
                <a:spcPts val="0"/>
              </a:spcAft>
            </a:pPr>
            <a:r>
              <a:rPr sz="900" b="1">
                <a:solidFill>
                  <a:srgbClr val="0B3041"/>
                </a:solidFill>
                <a:latin typeface="游ゴシック"/>
                <a:ea typeface="游ゴシック"/>
                <a:cs typeface="游ゴシック"/>
              </a:rPr>
              <a:t>売上高の推移（千円）</a:t>
            </a:r>
          </a:p>
        </p:txBody>
      </p:sp>
      <p:sp>
        <p:nvSpPr>
          <p:cNvPr id="17" name="Rectangle 16"/>
          <p:cNvSpPr/>
          <p:nvPr/>
        </p:nvSpPr>
        <p:spPr>
          <a:xfrm>
            <a:off x="621792" y="3694176"/>
            <a:ext cx="629838" cy="131673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48640" y="3511296"/>
            <a:ext cx="797795"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30,121</a:t>
            </a:r>
          </a:p>
        </p:txBody>
      </p:sp>
      <p:sp>
        <p:nvSpPr>
          <p:cNvPr id="19" name="TextBox 18"/>
          <p:cNvSpPr txBox="1"/>
          <p:nvPr/>
        </p:nvSpPr>
        <p:spPr>
          <a:xfrm>
            <a:off x="548640" y="5056632"/>
            <a:ext cx="797795"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22/5期</a:t>
            </a:r>
          </a:p>
        </p:txBody>
      </p:sp>
      <p:sp>
        <p:nvSpPr>
          <p:cNvPr id="20" name="Rectangle 19"/>
          <p:cNvSpPr/>
          <p:nvPr/>
        </p:nvSpPr>
        <p:spPr>
          <a:xfrm>
            <a:off x="1671523" y="3767398"/>
            <a:ext cx="629838" cy="1243513"/>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598371" y="3584518"/>
            <a:ext cx="797795"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28,446</a:t>
            </a:r>
          </a:p>
        </p:txBody>
      </p:sp>
      <p:sp>
        <p:nvSpPr>
          <p:cNvPr id="22" name="TextBox 21"/>
          <p:cNvSpPr txBox="1"/>
          <p:nvPr/>
        </p:nvSpPr>
        <p:spPr>
          <a:xfrm>
            <a:off x="1598371" y="5056632"/>
            <a:ext cx="797795"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23/5期</a:t>
            </a:r>
          </a:p>
        </p:txBody>
      </p:sp>
      <p:sp>
        <p:nvSpPr>
          <p:cNvPr id="23" name="Rectangle 22"/>
          <p:cNvSpPr/>
          <p:nvPr/>
        </p:nvSpPr>
        <p:spPr>
          <a:xfrm>
            <a:off x="2721254" y="3941864"/>
            <a:ext cx="629838" cy="1069047"/>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648102" y="3758984"/>
            <a:ext cx="797795"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24,455</a:t>
            </a:r>
          </a:p>
        </p:txBody>
      </p:sp>
      <p:sp>
        <p:nvSpPr>
          <p:cNvPr id="25" name="TextBox 24"/>
          <p:cNvSpPr txBox="1"/>
          <p:nvPr/>
        </p:nvSpPr>
        <p:spPr>
          <a:xfrm>
            <a:off x="2648102" y="5056632"/>
            <a:ext cx="797795"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24/5期</a:t>
            </a:r>
          </a:p>
        </p:txBody>
      </p:sp>
      <p:sp>
        <p:nvSpPr>
          <p:cNvPr id="26" name="Rectangle 25"/>
          <p:cNvSpPr/>
          <p:nvPr/>
        </p:nvSpPr>
        <p:spPr>
          <a:xfrm>
            <a:off x="3770985" y="3981776"/>
            <a:ext cx="629838" cy="102913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97833" y="3798896"/>
            <a:ext cx="797795"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23,542</a:t>
            </a:r>
          </a:p>
        </p:txBody>
      </p:sp>
      <p:sp>
        <p:nvSpPr>
          <p:cNvPr id="28" name="TextBox 27"/>
          <p:cNvSpPr txBox="1"/>
          <p:nvPr/>
        </p:nvSpPr>
        <p:spPr>
          <a:xfrm>
            <a:off x="3697833" y="5056632"/>
            <a:ext cx="797795"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25/5期</a:t>
            </a:r>
          </a:p>
        </p:txBody>
      </p:sp>
      <p:sp>
        <p:nvSpPr>
          <p:cNvPr id="29" name="Rectangle 28"/>
          <p:cNvSpPr/>
          <p:nvPr/>
        </p:nvSpPr>
        <p:spPr>
          <a:xfrm>
            <a:off x="4820716" y="4028026"/>
            <a:ext cx="629838" cy="982885"/>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747564" y="3845146"/>
            <a:ext cx="797795"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22,484</a:t>
            </a:r>
          </a:p>
        </p:txBody>
      </p:sp>
      <p:sp>
        <p:nvSpPr>
          <p:cNvPr id="31" name="TextBox 30"/>
          <p:cNvSpPr txBox="1"/>
          <p:nvPr/>
        </p:nvSpPr>
        <p:spPr>
          <a:xfrm>
            <a:off x="4747564" y="5056632"/>
            <a:ext cx="797795"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26/5期</a:t>
            </a:r>
          </a:p>
        </p:txBody>
      </p:sp>
      <p:sp>
        <p:nvSpPr>
          <p:cNvPr id="32" name="Rectangle 31"/>
          <p:cNvSpPr/>
          <p:nvPr/>
        </p:nvSpPr>
        <p:spPr>
          <a:xfrm>
            <a:off x="530352" y="5010912"/>
            <a:ext cx="5358383" cy="13716"/>
          </a:xfrm>
          <a:prstGeom prst="rect">
            <a:avLst/>
          </a:prstGeom>
          <a:solidFill>
            <a:srgbClr val="E3E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72784" y="3255264"/>
            <a:ext cx="4105656" cy="2066543"/>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364224" y="3328416"/>
            <a:ext cx="3922776"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35" name="TextBox 34"/>
          <p:cNvSpPr txBox="1"/>
          <p:nvPr/>
        </p:nvSpPr>
        <p:spPr>
          <a:xfrm>
            <a:off x="6382512" y="3675888"/>
            <a:ext cx="3886200" cy="1554479"/>
          </a:xfrm>
          <a:prstGeom prst="rect">
            <a:avLst/>
          </a:prstGeom>
          <a:noFill/>
        </p:spPr>
        <p:txBody>
          <a:bodyPr wrap="square" lIns="0" rIns="0" tIns="0" bIns="0" anchor="t">
            <a:spAutoFit/>
          </a:bodyPr>
          <a:lstStyle/>
          <a:p>
            <a:pPr algn="l">
              <a:lnSpc>
                <a:spcPct val="118000"/>
              </a:lnSpc>
              <a:spcAft>
                <a:spcPts val="200"/>
              </a:spcAft>
            </a:pPr>
            <a:r>
              <a:rPr sz="830" b="1">
                <a:solidFill>
                  <a:srgbClr val="0889C9"/>
                </a:solidFill>
                <a:latin typeface="游ゴシック"/>
                <a:ea typeface="游ゴシック"/>
                <a:cs typeface="游ゴシック"/>
              </a:rPr>
              <a:t>≪店頭飲食≫ </a:t>
            </a:r>
            <a:r>
              <a:rPr sz="830" b="0">
                <a:solidFill>
                  <a:srgbClr val="1A1A1A"/>
                </a:solidFill>
                <a:latin typeface="游ゴシック"/>
                <a:ea typeface="游ゴシック"/>
                <a:cs typeface="游ゴシック"/>
              </a:rPr>
              <a:t>23,880→17,723千円（△25.8％）。売上減の約8割を占める最大の要因。</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≪小麦等売上≫ </a:t>
            </a:r>
            <a:r>
              <a:rPr sz="830" b="0">
                <a:solidFill>
                  <a:srgbClr val="1A1A1A"/>
                </a:solidFill>
                <a:latin typeface="游ゴシック"/>
                <a:ea typeface="游ゴシック"/>
                <a:cs typeface="游ゴシック"/>
              </a:rPr>
              <a:t>2,235→2,273千円とほぼ横ばい。キビヤベーカリー向けが8割を占め、取引は3期連続で継続。</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≪そば売上≫ </a:t>
            </a:r>
            <a:r>
              <a:rPr sz="830" b="0">
                <a:solidFill>
                  <a:srgbClr val="1A1A1A"/>
                </a:solidFill>
                <a:latin typeface="游ゴシック"/>
                <a:ea typeface="游ゴシック"/>
                <a:cs typeface="游ゴシック"/>
              </a:rPr>
              <a:t>1,266→1,949千円と増加。通信販売（Ｅコレクトサガワ経由）が604→1,020千円と伸長。</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≪商品売上≫ </a:t>
            </a:r>
            <a:r>
              <a:rPr sz="830" b="0">
                <a:solidFill>
                  <a:srgbClr val="1A1A1A"/>
                </a:solidFill>
                <a:latin typeface="游ゴシック"/>
                <a:ea typeface="游ゴシック"/>
                <a:cs typeface="游ゴシック"/>
              </a:rPr>
              <a:t>2,740→538千円。健興通商向けの商品卸（2024/5期474千円）が2026/5期にゼロとなったことが主因で、同社は現在は仕入先（要確認）。</a:t>
            </a:r>
          </a:p>
        </p:txBody>
      </p:sp>
      <p:sp>
        <p:nvSpPr>
          <p:cNvPr id="36" name="TextBox 35"/>
          <p:cNvSpPr txBox="1"/>
          <p:nvPr/>
        </p:nvSpPr>
        <p:spPr>
          <a:xfrm>
            <a:off x="310896" y="548640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2022/5期・2023/5期は決算書からの直接転記、2024/5期以降は案件マスター（PLシート）の数値。</a:t>
            </a:r>
          </a:p>
          <a:p>
            <a:pPr algn="l">
              <a:lnSpc>
                <a:spcPct val="112000"/>
              </a:lnSpc>
              <a:spcAft>
                <a:spcPts val="100"/>
              </a:spcAft>
            </a:pPr>
            <a:r>
              <a:rPr sz="750" b="0">
                <a:solidFill>
                  <a:srgbClr val="5A6670"/>
                </a:solidFill>
                <a:latin typeface="游ゴシック"/>
                <a:ea typeface="游ゴシック"/>
                <a:cs typeface="游ゴシック"/>
              </a:rPr>
              <a:t>※ 飲食店売上高には関係先（塩町館・小びと）への食材供給分を含む。店頭飲食のみの金額は P.16 参照。</a:t>
            </a:r>
          </a:p>
        </p:txBody>
      </p:sp>
    </p:spTree>
    <p:extLst>
      <p:ext uri="{BB962C8B-B14F-4D97-AF65-F5344CB8AC3E}">
        <p14:creationId xmlns:p14="http://schemas.microsoft.com/office/powerpoint/2010/main" val="5886346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B8376-2868-4693-0731-367BA549897E}"/>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C27F0F89-0B1D-9CEC-826A-DEB17C9DB0B7}"/>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主要販売先別売上高</a:t>
            </a:r>
          </a:p>
        </p:txBody>
      </p:sp>
      <p:sp>
        <p:nvSpPr>
          <p:cNvPr id="5" name="タイトル 1">
            <a:extLst>
              <a:ext uri="{FF2B5EF4-FFF2-40B4-BE49-F238E27FC236}">
                <a16:creationId xmlns:a16="http://schemas.microsoft.com/office/drawing/2014/main" id="{2223494B-5776-7256-BAFB-772D4CDC079C}"/>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事業概要</a:t>
            </a:r>
          </a:p>
        </p:txBody>
      </p:sp>
      <p:sp>
        <p:nvSpPr>
          <p:cNvPr id="15" name="字幕 13">
            <a:extLst>
              <a:ext uri="{FF2B5EF4-FFF2-40B4-BE49-F238E27FC236}">
                <a16:creationId xmlns:a16="http://schemas.microsoft.com/office/drawing/2014/main" id="{1F008ACD-B486-E0BB-8334-06D21A697D08}"/>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売上の67％は店頭の一般消費者であり特定先への依存はない。卸売最大のキビヤベーカリーでも構成比8.3％</a:t>
            </a:r>
            <a:endParaRPr lang="en-US" altLang="ja-JP" dirty="0"/>
          </a:p>
        </p:txBody>
      </p:sp>
      <p:graphicFrame>
        <p:nvGraphicFramePr>
          <p:cNvPr id="16" name="Table 15"/>
          <p:cNvGraphicFramePr>
            <a:graphicFrameLocks noGrp="1"/>
          </p:cNvGraphicFramePr>
          <p:nvPr/>
        </p:nvGraphicFramePr>
        <p:xfrm>
          <a:off x="310896" y="1408176"/>
          <a:ext cx="9921235" cy="3401556"/>
        </p:xfrm>
        <a:graphic>
          <a:graphicData uri="http://schemas.openxmlformats.org/drawingml/2006/table">
            <a:tbl>
              <a:tblPr firstRow="0" bandRow="0">
                <a:tableStyleId>{5940675A-B579-460E-94D1-54222C63F5DA}</a:tableStyleId>
              </a:tblPr>
              <a:tblGrid>
                <a:gridCol w="375094"/>
                <a:gridCol w="2119281"/>
                <a:gridCol w="2081772"/>
                <a:gridCol w="956490"/>
                <a:gridCol w="806452"/>
                <a:gridCol w="656414"/>
                <a:gridCol w="806452"/>
                <a:gridCol w="656414"/>
                <a:gridCol w="806452"/>
                <a:gridCol w="656414"/>
              </a:tblGrid>
              <a:tr h="274320">
                <a:tc>
                  <a:txBody>
                    <a:bodyPr wrap="square"/>
                    <a:lstStyle/>
                    <a:p>
                      <a:pPr algn="ctr">
                        <a:spcAft>
                          <a:spcPts val="0"/>
                        </a:spcAft>
                      </a:pPr>
                      <a:r>
                        <a:rPr sz="810" b="1">
                          <a:solidFill>
                            <a:srgbClr val="FFFFFF"/>
                          </a:solidFill>
                          <a:latin typeface="游ゴシック"/>
                          <a:ea typeface="游ゴシック"/>
                          <a:cs typeface="游ゴシック"/>
                        </a:rPr>
                        <a:t>No.</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得意先</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取引内容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業種等</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一般消費者（店頭飲食）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そば店「慈久庵」での店内飲食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一般消費者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17,517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16,167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68.7%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15,099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塩町館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そば・食材の供給</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飲食店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2,852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2,624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キビヤベーカリー</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石臼挽き小麦粉の卸売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ベーカリー</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1,778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1,563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1,865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8.3%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Ｅコレクトサガワ（通信販売）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蕎麦粉・玄そば等の通信販売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通販代引決済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696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733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4.5%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小びと 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玄そば・材料費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飲食店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413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410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水府振興公社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乾麺・そばつゆ等の商品卸</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道の駅・物産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274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ルヴァン株式会社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石臼挽き小麦粉の卸売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ベーカリー</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327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玉笑い</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玄そばの卸売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飲食店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株式会社シオミ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石臼挽き小麦粉の卸売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ベーカリー</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169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アマゾンジャパン</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乾麺・そばつゆ等のEC販売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ＥＣモール</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その他</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1,612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1">
                          <a:solidFill>
                            <a:srgbClr val="1A1A1A"/>
                          </a:solidFill>
                          <a:latin typeface="游ゴシック"/>
                          <a:ea typeface="游ゴシック"/>
                          <a:cs typeface="游ゴシック"/>
                        </a:rPr>
                        <a:t>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24,455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23,542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22,484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7" name="Rounded Rectangle 16"/>
          <p:cNvSpPr/>
          <p:nvPr/>
        </p:nvSpPr>
        <p:spPr>
          <a:xfrm>
            <a:off x="310896" y="5074920"/>
            <a:ext cx="9921240" cy="877824"/>
          </a:xfrm>
          <a:prstGeom prst="roundRect">
            <a:avLst/>
          </a:prstGeom>
          <a:solidFill>
            <a:srgbClr val="E1F3FB"/>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310896" y="5074920"/>
            <a:ext cx="1417320" cy="877824"/>
          </a:xfrm>
          <a:prstGeom prst="round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02336" y="5404103"/>
            <a:ext cx="1271016" cy="219456"/>
          </a:xfrm>
          <a:prstGeom prst="rect">
            <a:avLst/>
          </a:prstGeom>
          <a:noFill/>
        </p:spPr>
        <p:txBody>
          <a:bodyPr wrap="square" lIns="0" rIns="0" tIns="0" bIns="0" anchor="t">
            <a:spAutoFit/>
          </a:bodyPr>
          <a:lstStyle/>
          <a:p>
            <a:pPr algn="ctr">
              <a:spcAft>
                <a:spcPts val="0"/>
              </a:spcAft>
            </a:pPr>
            <a:r>
              <a:rPr sz="1300" b="1">
                <a:solidFill>
                  <a:srgbClr val="FFFFFF"/>
                </a:solidFill>
                <a:latin typeface="游ゴシック"/>
                <a:ea typeface="游ゴシック"/>
                <a:cs typeface="游ゴシック"/>
              </a:rPr>
              <a:t>ポイント</a:t>
            </a:r>
          </a:p>
        </p:txBody>
      </p:sp>
      <p:sp>
        <p:nvSpPr>
          <p:cNvPr id="20" name="Oval 19"/>
          <p:cNvSpPr/>
          <p:nvPr/>
        </p:nvSpPr>
        <p:spPr>
          <a:xfrm>
            <a:off x="1883664" y="5394959"/>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21" name="TextBox 20"/>
          <p:cNvSpPr txBox="1"/>
          <p:nvPr/>
        </p:nvSpPr>
        <p:spPr>
          <a:xfrm>
            <a:off x="2194560" y="5239512"/>
            <a:ext cx="2380487" cy="603503"/>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店頭の一般消費者が67.2％。</a:t>
            </a:r>
          </a:p>
          <a:p>
            <a:pPr algn="l">
              <a:lnSpc>
                <a:spcPct val="118000"/>
              </a:lnSpc>
              <a:spcAft>
                <a:spcPts val="0"/>
              </a:spcAft>
            </a:pPr>
            <a:r>
              <a:rPr sz="930" b="1">
                <a:solidFill>
                  <a:srgbClr val="202020"/>
                </a:solidFill>
                <a:latin typeface="游ゴシック"/>
                <a:ea typeface="游ゴシック"/>
                <a:cs typeface="游ゴシック"/>
              </a:rPr>
              <a:t>特定の法人顧客への依存はない</a:t>
            </a:r>
          </a:p>
        </p:txBody>
      </p:sp>
      <p:sp>
        <p:nvSpPr>
          <p:cNvPr id="22" name="Oval 21"/>
          <p:cNvSpPr/>
          <p:nvPr/>
        </p:nvSpPr>
        <p:spPr>
          <a:xfrm>
            <a:off x="4666488" y="5394959"/>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23" name="TextBox 22"/>
          <p:cNvSpPr txBox="1"/>
          <p:nvPr/>
        </p:nvSpPr>
        <p:spPr>
          <a:xfrm>
            <a:off x="4977384" y="5239512"/>
            <a:ext cx="2380487" cy="603503"/>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通信販売696→1,020千円、キビヤ</a:t>
            </a:r>
          </a:p>
          <a:p>
            <a:pPr algn="l">
              <a:lnSpc>
                <a:spcPct val="118000"/>
              </a:lnSpc>
              <a:spcAft>
                <a:spcPts val="0"/>
              </a:spcAft>
            </a:pPr>
            <a:r>
              <a:rPr sz="930" b="1">
                <a:solidFill>
                  <a:srgbClr val="202020"/>
                </a:solidFill>
                <a:latin typeface="游ゴシック"/>
                <a:ea typeface="游ゴシック"/>
                <a:cs typeface="游ゴシック"/>
              </a:rPr>
              <a:t>ベーカリー1,778→1,865千円と増加</a:t>
            </a:r>
          </a:p>
        </p:txBody>
      </p:sp>
      <p:sp>
        <p:nvSpPr>
          <p:cNvPr id="24" name="Oval 23"/>
          <p:cNvSpPr/>
          <p:nvPr/>
        </p:nvSpPr>
        <p:spPr>
          <a:xfrm>
            <a:off x="7449312" y="5394959"/>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25" name="TextBox 24"/>
          <p:cNvSpPr txBox="1"/>
          <p:nvPr/>
        </p:nvSpPr>
        <p:spPr>
          <a:xfrm>
            <a:off x="7760208" y="5239512"/>
            <a:ext cx="2380487" cy="603503"/>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塩町館・小びと（計3,323千円）は</a:t>
            </a:r>
          </a:p>
          <a:p>
            <a:pPr algn="l">
              <a:lnSpc>
                <a:spcPct val="118000"/>
              </a:lnSpc>
              <a:spcAft>
                <a:spcPts val="0"/>
              </a:spcAft>
            </a:pPr>
            <a:r>
              <a:rPr sz="930" b="1">
                <a:solidFill>
                  <a:srgbClr val="202020"/>
                </a:solidFill>
                <a:latin typeface="游ゴシック"/>
                <a:ea typeface="游ゴシック"/>
                <a:cs typeface="游ゴシック"/>
              </a:rPr>
              <a:t>関係先向け。未収金の滞留は要確認</a:t>
            </a:r>
          </a:p>
        </p:txBody>
      </p:sp>
      <p:sp>
        <p:nvSpPr>
          <p:cNvPr id="26" name="TextBox 25"/>
          <p:cNvSpPr txBox="1"/>
          <p:nvPr/>
        </p:nvSpPr>
        <p:spPr>
          <a:xfrm>
            <a:off x="310896" y="612648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総勘定元帳の取引先欄を集計したもの。相手先の記載がない仕訳は「その他」に含まれる。</a:t>
            </a:r>
          </a:p>
          <a:p>
            <a:pPr algn="l">
              <a:lnSpc>
                <a:spcPct val="112000"/>
              </a:lnSpc>
              <a:spcAft>
                <a:spcPts val="100"/>
              </a:spcAft>
            </a:pPr>
            <a:r>
              <a:rPr sz="750" b="0">
                <a:solidFill>
                  <a:srgbClr val="5A6670"/>
                </a:solidFill>
                <a:latin typeface="游ゴシック"/>
                <a:ea typeface="游ゴシック"/>
                <a:cs typeface="游ゴシック"/>
              </a:rPr>
              <a:t>※ 「小びと 等」の2024/5期・2025/5期は、元帳上の摘要が「玄そば未収分」等であり取引先の特定が未了（要確認）。</a:t>
            </a:r>
          </a:p>
        </p:txBody>
      </p:sp>
    </p:spTree>
    <p:extLst>
      <p:ext uri="{BB962C8B-B14F-4D97-AF65-F5344CB8AC3E}">
        <p14:creationId xmlns:p14="http://schemas.microsoft.com/office/powerpoint/2010/main" val="19629684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E7C0C1-FCD4-88FA-EA3C-20168900DCC8}"/>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AE20CDE1-7008-F0D4-81FD-53AE154BF5EA}"/>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主要仕入先別取引高</a:t>
            </a:r>
          </a:p>
        </p:txBody>
      </p:sp>
      <p:sp>
        <p:nvSpPr>
          <p:cNvPr id="5" name="タイトル 1">
            <a:extLst>
              <a:ext uri="{FF2B5EF4-FFF2-40B4-BE49-F238E27FC236}">
                <a16:creationId xmlns:a16="http://schemas.microsoft.com/office/drawing/2014/main" id="{6790A563-0096-2902-0624-D66AB2A099B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事業概要</a:t>
            </a:r>
          </a:p>
        </p:txBody>
      </p:sp>
      <p:sp>
        <p:nvSpPr>
          <p:cNvPr id="7" name="字幕 13">
            <a:extLst>
              <a:ext uri="{FF2B5EF4-FFF2-40B4-BE49-F238E27FC236}">
                <a16:creationId xmlns:a16="http://schemas.microsoft.com/office/drawing/2014/main" id="{C28AC2D5-7B01-C5B2-1062-1CE28DB5BD3C}"/>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原料は小麦（ミルキーウェーブ）と玄そば（海老根氏）の2先で約4割。いずれも地元・個人の生産者との直接取引</a:t>
            </a:r>
            <a:endParaRPr lang="en-US" altLang="ja-JP" dirty="0"/>
          </a:p>
        </p:txBody>
      </p:sp>
      <p:graphicFrame>
        <p:nvGraphicFramePr>
          <p:cNvPr id="14" name="Table 13"/>
          <p:cNvGraphicFramePr>
            <a:graphicFrameLocks noGrp="1"/>
          </p:cNvGraphicFramePr>
          <p:nvPr/>
        </p:nvGraphicFramePr>
        <p:xfrm>
          <a:off x="310896" y="1408176"/>
          <a:ext cx="9921235" cy="3401556"/>
        </p:xfrm>
        <a:graphic>
          <a:graphicData uri="http://schemas.openxmlformats.org/drawingml/2006/table">
            <a:tbl>
              <a:tblPr firstRow="0" bandRow="0">
                <a:tableStyleId>{5940675A-B579-460E-94D1-54222C63F5DA}</a:tableStyleId>
              </a:tblPr>
              <a:tblGrid>
                <a:gridCol w="375094"/>
                <a:gridCol w="2306828"/>
                <a:gridCol w="1594150"/>
                <a:gridCol w="1256565"/>
                <a:gridCol w="806452"/>
                <a:gridCol w="656414"/>
                <a:gridCol w="806452"/>
                <a:gridCol w="656414"/>
                <a:gridCol w="806452"/>
                <a:gridCol w="656414"/>
              </a:tblGrid>
              <a:tr h="274320">
                <a:tc>
                  <a:txBody>
                    <a:bodyPr wrap="square"/>
                    <a:lstStyle/>
                    <a:p>
                      <a:pPr algn="ctr">
                        <a:spcAft>
                          <a:spcPts val="0"/>
                        </a:spcAft>
                      </a:pPr>
                      <a:r>
                        <a:rPr sz="810" b="1">
                          <a:solidFill>
                            <a:srgbClr val="FFFFFF"/>
                          </a:solidFill>
                          <a:latin typeface="游ゴシック"/>
                          <a:ea typeface="游ゴシック"/>
                          <a:cs typeface="游ゴシック"/>
                        </a:rPr>
                        <a:t>No.</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仕入先</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仕入内容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所在地</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ミルキーウェーブ（外岡 清秀）</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小麦（原料）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1,235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海老根 章</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玄そば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茨城県内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1,300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660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健興通商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酒類・食材</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148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5.9%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477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株式会社鈴木商店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食材全般</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茨城県内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191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334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株式会社西崎ファーム</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鴨肉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三輪デグストアトウキョウ</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食材</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東京都</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85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岩魚郷北条屋敷</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岩魚</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135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多田製粉株式会社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粉類</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135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伊勢又米穀製粉株式会社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打ち粉・製粉外注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茨城県常陸太田市</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岡村製油株式会社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天ぷら油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大阪府</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その他</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1,365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26.9%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1,245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27.1%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1">
                          <a:solidFill>
                            <a:srgbClr val="1A1A1A"/>
                          </a:solidFill>
                          <a:latin typeface="游ゴシック"/>
                          <a:ea typeface="游ゴシック"/>
                          <a:cs typeface="游ゴシック"/>
                        </a:rPr>
                        <a:t>合計（材料仕入高）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5,079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4,313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4,595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ounded Rectangle 14"/>
          <p:cNvSpPr/>
          <p:nvPr/>
        </p:nvSpPr>
        <p:spPr>
          <a:xfrm>
            <a:off x="310896" y="5074920"/>
            <a:ext cx="9921240" cy="877824"/>
          </a:xfrm>
          <a:prstGeom prst="roundRect">
            <a:avLst/>
          </a:prstGeom>
          <a:solidFill>
            <a:srgbClr val="E1F3FB"/>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310896" y="5074920"/>
            <a:ext cx="1417320" cy="877824"/>
          </a:xfrm>
          <a:prstGeom prst="round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2336" y="5404103"/>
            <a:ext cx="1271016" cy="219456"/>
          </a:xfrm>
          <a:prstGeom prst="rect">
            <a:avLst/>
          </a:prstGeom>
          <a:noFill/>
        </p:spPr>
        <p:txBody>
          <a:bodyPr wrap="square" lIns="0" rIns="0" tIns="0" bIns="0" anchor="t">
            <a:spAutoFit/>
          </a:bodyPr>
          <a:lstStyle/>
          <a:p>
            <a:pPr algn="ctr">
              <a:spcAft>
                <a:spcPts val="0"/>
              </a:spcAft>
            </a:pPr>
            <a:r>
              <a:rPr sz="1300" b="1">
                <a:solidFill>
                  <a:srgbClr val="FFFFFF"/>
                </a:solidFill>
                <a:latin typeface="游ゴシック"/>
                <a:ea typeface="游ゴシック"/>
                <a:cs typeface="游ゴシック"/>
              </a:rPr>
              <a:t>ポイント</a:t>
            </a:r>
          </a:p>
        </p:txBody>
      </p:sp>
      <p:sp>
        <p:nvSpPr>
          <p:cNvPr id="18" name="Oval 17"/>
          <p:cNvSpPr/>
          <p:nvPr/>
        </p:nvSpPr>
        <p:spPr>
          <a:xfrm>
            <a:off x="1883664" y="5394959"/>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19" name="TextBox 18"/>
          <p:cNvSpPr txBox="1"/>
          <p:nvPr/>
        </p:nvSpPr>
        <p:spPr>
          <a:xfrm>
            <a:off x="2194560" y="5239512"/>
            <a:ext cx="2380487" cy="603503"/>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上位2先で39.5％。いずれも個人・</a:t>
            </a:r>
          </a:p>
          <a:p>
            <a:pPr algn="l">
              <a:lnSpc>
                <a:spcPct val="118000"/>
              </a:lnSpc>
              <a:spcAft>
                <a:spcPts val="0"/>
              </a:spcAft>
            </a:pPr>
            <a:r>
              <a:rPr sz="930" b="1">
                <a:solidFill>
                  <a:srgbClr val="202020"/>
                </a:solidFill>
                <a:latin typeface="游ゴシック"/>
                <a:ea typeface="游ゴシック"/>
                <a:cs typeface="游ゴシック"/>
              </a:rPr>
              <a:t>小規模の生産者との直接取引</a:t>
            </a:r>
          </a:p>
        </p:txBody>
      </p:sp>
      <p:sp>
        <p:nvSpPr>
          <p:cNvPr id="20" name="Oval 19"/>
          <p:cNvSpPr/>
          <p:nvPr/>
        </p:nvSpPr>
        <p:spPr>
          <a:xfrm>
            <a:off x="4666488" y="5394959"/>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21" name="TextBox 20"/>
          <p:cNvSpPr txBox="1"/>
          <p:nvPr/>
        </p:nvSpPr>
        <p:spPr>
          <a:xfrm>
            <a:off x="4977384" y="5239512"/>
            <a:ext cx="2380487" cy="603503"/>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玄そばの仕入は1,300→660千円と</a:t>
            </a:r>
          </a:p>
          <a:p>
            <a:pPr algn="l">
              <a:lnSpc>
                <a:spcPct val="118000"/>
              </a:lnSpc>
              <a:spcAft>
                <a:spcPts val="0"/>
              </a:spcAft>
            </a:pPr>
            <a:r>
              <a:rPr sz="930" b="1">
                <a:solidFill>
                  <a:srgbClr val="202020"/>
                </a:solidFill>
                <a:latin typeface="游ゴシック"/>
                <a:ea typeface="游ゴシック"/>
                <a:cs typeface="游ゴシック"/>
              </a:rPr>
              <a:t>減少。棚卸資産2,025千円との整理が必要</a:t>
            </a:r>
          </a:p>
        </p:txBody>
      </p:sp>
      <p:sp>
        <p:nvSpPr>
          <p:cNvPr id="22" name="Oval 21"/>
          <p:cNvSpPr/>
          <p:nvPr/>
        </p:nvSpPr>
        <p:spPr>
          <a:xfrm>
            <a:off x="7449312" y="5394959"/>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23" name="TextBox 22"/>
          <p:cNvSpPr txBox="1"/>
          <p:nvPr/>
        </p:nvSpPr>
        <p:spPr>
          <a:xfrm>
            <a:off x="7760208" y="5239512"/>
            <a:ext cx="2380487" cy="603503"/>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契約書は未受領。価格決定方法・</a:t>
            </a:r>
          </a:p>
          <a:p>
            <a:pPr algn="l">
              <a:lnSpc>
                <a:spcPct val="118000"/>
              </a:lnSpc>
              <a:spcAft>
                <a:spcPts val="0"/>
              </a:spcAft>
            </a:pPr>
            <a:r>
              <a:rPr sz="930" b="1">
                <a:solidFill>
                  <a:srgbClr val="202020"/>
                </a:solidFill>
                <a:latin typeface="游ゴシック"/>
                <a:ea typeface="游ゴシック"/>
                <a:cs typeface="游ゴシック"/>
              </a:rPr>
              <a:t>供給継続性は要確認</a:t>
            </a:r>
          </a:p>
        </p:txBody>
      </p:sp>
      <p:sp>
        <p:nvSpPr>
          <p:cNvPr id="24" name="TextBox 23"/>
          <p:cNvSpPr txBox="1"/>
          <p:nvPr/>
        </p:nvSpPr>
        <p:spPr>
          <a:xfrm>
            <a:off x="310896" y="612648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製造原価報告書「材料仕入高」の総勘定元帳明細を集計したもの。商品仕入高92千円・外注加工費272千円は含まない。</a:t>
            </a:r>
          </a:p>
          <a:p>
            <a:pPr algn="l">
              <a:lnSpc>
                <a:spcPct val="112000"/>
              </a:lnSpc>
              <a:spcAft>
                <a:spcPts val="100"/>
              </a:spcAft>
            </a:pPr>
            <a:r>
              <a:rPr sz="750" b="0">
                <a:solidFill>
                  <a:srgbClr val="5A6670"/>
                </a:solidFill>
                <a:latin typeface="游ゴシック"/>
                <a:ea typeface="游ゴシック"/>
                <a:cs typeface="游ゴシック"/>
              </a:rPr>
              <a:t>※ 相手先の記載がない仕訳は「その他」に含まれる。</a:t>
            </a:r>
          </a:p>
        </p:txBody>
      </p:sp>
    </p:spTree>
    <p:extLst>
      <p:ext uri="{BB962C8B-B14F-4D97-AF65-F5344CB8AC3E}">
        <p14:creationId xmlns:p14="http://schemas.microsoft.com/office/powerpoint/2010/main" val="29325859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solidFill/>
              </a:rPr>
              <a:t>組織、拠点、設備等</a:t>
            </a:r>
            <a:endParaRPr lang="en-US" altLang="ja-JP" dirty="0"/>
          </a:p>
        </p:txBody>
      </p:sp>
    </p:spTree>
    <p:extLst>
      <p:ext uri="{BB962C8B-B14F-4D97-AF65-F5344CB8AC3E}">
        <p14:creationId xmlns:p14="http://schemas.microsoft.com/office/powerpoint/2010/main" val="1797825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DBCD3-5A3B-2BD8-C28A-632388175E8D}"/>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59B21744-4533-BD30-603B-B8A7A98290C9}"/>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運営体制と承継</a:t>
            </a:r>
          </a:p>
        </p:txBody>
      </p:sp>
      <p:sp>
        <p:nvSpPr>
          <p:cNvPr id="5" name="タイトル 1">
            <a:extLst>
              <a:ext uri="{FF2B5EF4-FFF2-40B4-BE49-F238E27FC236}">
                <a16:creationId xmlns:a16="http://schemas.microsoft.com/office/drawing/2014/main" id="{804C58BE-3C7F-3F33-BB99-084C0822899F}"/>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組織、拠点、設備等</a:t>
            </a:r>
          </a:p>
        </p:txBody>
      </p:sp>
      <p:sp>
        <p:nvSpPr>
          <p:cNvPr id="85" name="字幕 13">
            <a:extLst>
              <a:ext uri="{FF2B5EF4-FFF2-40B4-BE49-F238E27FC236}">
                <a16:creationId xmlns:a16="http://schemas.microsoft.com/office/drawing/2014/main" id="{AE763FA6-9689-E705-5BEC-31A36E71F8C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常時雇用の従業員は0名。代表者・配偶者の2名で運営し、繁忙時は親族が就労（雑給2,201千円）</a:t>
            </a:r>
            <a:endParaRPr lang="en-US" altLang="ja-JP" dirty="0">
              <a:latin typeface="+mj-ea"/>
            </a:endParaRPr>
          </a:p>
        </p:txBody>
      </p:sp>
      <p:sp>
        <p:nvSpPr>
          <p:cNvPr id="86" name="Rectangle 85"/>
          <p:cNvSpPr/>
          <p:nvPr/>
        </p:nvSpPr>
        <p:spPr>
          <a:xfrm>
            <a:off x="4078224" y="1554480"/>
            <a:ext cx="2542032" cy="78638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TextBox 86"/>
          <p:cNvSpPr txBox="1"/>
          <p:nvPr/>
        </p:nvSpPr>
        <p:spPr>
          <a:xfrm>
            <a:off x="4078224" y="1682495"/>
            <a:ext cx="2542032" cy="237744"/>
          </a:xfrm>
          <a:prstGeom prst="rect">
            <a:avLst/>
          </a:prstGeom>
          <a:noFill/>
        </p:spPr>
        <p:txBody>
          <a:bodyPr wrap="square" lIns="0" rIns="0" tIns="0" bIns="0" anchor="t">
            <a:spAutoFit/>
          </a:bodyPr>
          <a:lstStyle/>
          <a:p>
            <a:pPr algn="ctr">
              <a:spcAft>
                <a:spcPts val="0"/>
              </a:spcAft>
            </a:pPr>
            <a:r>
              <a:rPr sz="1100" b="1">
                <a:solidFill>
                  <a:srgbClr val="FFFFFF"/>
                </a:solidFill>
                <a:latin typeface="游ゴシック"/>
                <a:ea typeface="游ゴシック"/>
                <a:cs typeface="游ゴシック"/>
              </a:rPr>
              <a:t>代表取締役　小川 宣夫</a:t>
            </a:r>
          </a:p>
        </p:txBody>
      </p:sp>
      <p:sp>
        <p:nvSpPr>
          <p:cNvPr id="88" name="TextBox 87"/>
          <p:cNvSpPr txBox="1"/>
          <p:nvPr/>
        </p:nvSpPr>
        <p:spPr>
          <a:xfrm>
            <a:off x="4078224" y="1956816"/>
            <a:ext cx="2542032" cy="237744"/>
          </a:xfrm>
          <a:prstGeom prst="rect">
            <a:avLst/>
          </a:prstGeom>
          <a:noFill/>
        </p:spPr>
        <p:txBody>
          <a:bodyPr wrap="square" lIns="0" rIns="0" tIns="0" bIns="0" anchor="t">
            <a:spAutoFit/>
          </a:bodyPr>
          <a:lstStyle/>
          <a:p>
            <a:pPr algn="ctr">
              <a:spcAft>
                <a:spcPts val="0"/>
              </a:spcAft>
            </a:pPr>
            <a:r>
              <a:rPr sz="900" b="0">
                <a:solidFill>
                  <a:srgbClr val="C9D6DC"/>
                </a:solidFill>
                <a:latin typeface="游ゴシック"/>
                <a:ea typeface="游ゴシック"/>
                <a:cs typeface="游ゴシック"/>
              </a:rPr>
              <a:t>（79歳・無報酬）</a:t>
            </a:r>
          </a:p>
        </p:txBody>
      </p:sp>
      <p:sp>
        <p:nvSpPr>
          <p:cNvPr id="89" name="Rectangle 88"/>
          <p:cNvSpPr/>
          <p:nvPr/>
        </p:nvSpPr>
        <p:spPr>
          <a:xfrm>
            <a:off x="548640" y="2761488"/>
            <a:ext cx="2651760" cy="932688"/>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TextBox 89"/>
          <p:cNvSpPr txBox="1"/>
          <p:nvPr/>
        </p:nvSpPr>
        <p:spPr>
          <a:xfrm>
            <a:off x="676656" y="2871216"/>
            <a:ext cx="2395728" cy="219456"/>
          </a:xfrm>
          <a:prstGeom prst="rect">
            <a:avLst/>
          </a:prstGeom>
          <a:noFill/>
        </p:spPr>
        <p:txBody>
          <a:bodyPr wrap="square" lIns="0" rIns="0" tIns="0" bIns="0" anchor="t">
            <a:spAutoFit/>
          </a:bodyPr>
          <a:lstStyle/>
          <a:p>
            <a:pPr algn="l">
              <a:spcAft>
                <a:spcPts val="0"/>
              </a:spcAft>
            </a:pPr>
            <a:r>
              <a:rPr sz="1000" b="1">
                <a:solidFill>
                  <a:srgbClr val="0B3041"/>
                </a:solidFill>
                <a:latin typeface="游ゴシック"/>
                <a:ea typeface="游ゴシック"/>
                <a:cs typeface="游ゴシック"/>
              </a:rPr>
              <a:t>そば打ち・製粉</a:t>
            </a:r>
          </a:p>
        </p:txBody>
      </p:sp>
      <p:sp>
        <p:nvSpPr>
          <p:cNvPr id="91" name="TextBox 90"/>
          <p:cNvSpPr txBox="1"/>
          <p:nvPr/>
        </p:nvSpPr>
        <p:spPr>
          <a:xfrm>
            <a:off x="676656" y="3145536"/>
            <a:ext cx="2395728" cy="475488"/>
          </a:xfrm>
          <a:prstGeom prst="rect">
            <a:avLst/>
          </a:prstGeom>
          <a:noFill/>
        </p:spPr>
        <p:txBody>
          <a:bodyPr wrap="square" lIns="0" rIns="0" tIns="0" bIns="0" anchor="t">
            <a:spAutoFit/>
          </a:bodyPr>
          <a:lstStyle/>
          <a:p>
            <a:pPr algn="l">
              <a:lnSpc>
                <a:spcPct val="118000"/>
              </a:lnSpc>
              <a:spcAft>
                <a:spcPts val="0"/>
              </a:spcAft>
            </a:pPr>
            <a:r>
              <a:rPr sz="840" b="0">
                <a:solidFill>
                  <a:srgbClr val="1A1A1A"/>
                </a:solidFill>
                <a:latin typeface="游ゴシック"/>
                <a:ea typeface="游ゴシック"/>
                <a:cs typeface="游ゴシック"/>
              </a:rPr>
              <a:t>玄そばの仕入・選別／一年熟成／石臼自家製粉／手打ち</a:t>
            </a:r>
          </a:p>
        </p:txBody>
      </p:sp>
      <p:sp>
        <p:nvSpPr>
          <p:cNvPr id="92" name="Rectangle 91"/>
          <p:cNvSpPr/>
          <p:nvPr/>
        </p:nvSpPr>
        <p:spPr>
          <a:xfrm>
            <a:off x="1863547" y="2329891"/>
            <a:ext cx="21945"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3" name="Rectangle 92"/>
          <p:cNvSpPr/>
          <p:nvPr/>
        </p:nvSpPr>
        <p:spPr>
          <a:xfrm>
            <a:off x="3401568" y="2761488"/>
            <a:ext cx="2651760" cy="932688"/>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4" name="TextBox 93"/>
          <p:cNvSpPr txBox="1"/>
          <p:nvPr/>
        </p:nvSpPr>
        <p:spPr>
          <a:xfrm>
            <a:off x="3529584" y="2871216"/>
            <a:ext cx="2395728" cy="219456"/>
          </a:xfrm>
          <a:prstGeom prst="rect">
            <a:avLst/>
          </a:prstGeom>
          <a:noFill/>
        </p:spPr>
        <p:txBody>
          <a:bodyPr wrap="square" lIns="0" rIns="0" tIns="0" bIns="0" anchor="t">
            <a:spAutoFit/>
          </a:bodyPr>
          <a:lstStyle/>
          <a:p>
            <a:pPr algn="l">
              <a:spcAft>
                <a:spcPts val="0"/>
              </a:spcAft>
            </a:pPr>
            <a:r>
              <a:rPr sz="1000" b="1">
                <a:solidFill>
                  <a:srgbClr val="0B3041"/>
                </a:solidFill>
                <a:latin typeface="游ゴシック"/>
                <a:ea typeface="游ゴシック"/>
                <a:cs typeface="游ゴシック"/>
              </a:rPr>
              <a:t>調理・接客・会計</a:t>
            </a:r>
          </a:p>
        </p:txBody>
      </p:sp>
      <p:sp>
        <p:nvSpPr>
          <p:cNvPr id="95" name="TextBox 94"/>
          <p:cNvSpPr txBox="1"/>
          <p:nvPr/>
        </p:nvSpPr>
        <p:spPr>
          <a:xfrm>
            <a:off x="3529584" y="3145536"/>
            <a:ext cx="2395728" cy="475488"/>
          </a:xfrm>
          <a:prstGeom prst="rect">
            <a:avLst/>
          </a:prstGeom>
          <a:noFill/>
        </p:spPr>
        <p:txBody>
          <a:bodyPr wrap="square" lIns="0" rIns="0" tIns="0" bIns="0" anchor="t">
            <a:spAutoFit/>
          </a:bodyPr>
          <a:lstStyle/>
          <a:p>
            <a:pPr algn="l">
              <a:lnSpc>
                <a:spcPct val="118000"/>
              </a:lnSpc>
              <a:spcAft>
                <a:spcPts val="0"/>
              </a:spcAft>
            </a:pPr>
            <a:r>
              <a:rPr sz="840" b="0">
                <a:solidFill>
                  <a:srgbClr val="1A1A1A"/>
                </a:solidFill>
                <a:latin typeface="游ゴシック"/>
                <a:ea typeface="游ゴシック"/>
                <a:cs typeface="游ゴシック"/>
              </a:rPr>
              <a:t>天ぷら・けんちん汁の調理／接客／片付け／レジ</a:t>
            </a:r>
          </a:p>
        </p:txBody>
      </p:sp>
      <p:sp>
        <p:nvSpPr>
          <p:cNvPr id="96" name="Rectangle 95"/>
          <p:cNvSpPr/>
          <p:nvPr/>
        </p:nvSpPr>
        <p:spPr>
          <a:xfrm>
            <a:off x="4716475" y="2329891"/>
            <a:ext cx="21945"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7" name="Rectangle 96"/>
          <p:cNvSpPr/>
          <p:nvPr/>
        </p:nvSpPr>
        <p:spPr>
          <a:xfrm>
            <a:off x="6254496" y="2761488"/>
            <a:ext cx="2651760" cy="932688"/>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8" name="TextBox 97"/>
          <p:cNvSpPr txBox="1"/>
          <p:nvPr/>
        </p:nvSpPr>
        <p:spPr>
          <a:xfrm>
            <a:off x="6382512" y="2871216"/>
            <a:ext cx="2395728" cy="219456"/>
          </a:xfrm>
          <a:prstGeom prst="rect">
            <a:avLst/>
          </a:prstGeom>
          <a:noFill/>
        </p:spPr>
        <p:txBody>
          <a:bodyPr wrap="square" lIns="0" rIns="0" tIns="0" bIns="0" anchor="t">
            <a:spAutoFit/>
          </a:bodyPr>
          <a:lstStyle/>
          <a:p>
            <a:pPr algn="l">
              <a:spcAft>
                <a:spcPts val="0"/>
              </a:spcAft>
            </a:pPr>
            <a:r>
              <a:rPr sz="1000" b="1">
                <a:solidFill>
                  <a:srgbClr val="0B3041"/>
                </a:solidFill>
                <a:latin typeface="游ゴシック"/>
                <a:ea typeface="游ゴシック"/>
                <a:cs typeface="游ゴシック"/>
              </a:rPr>
              <a:t>仕入・卸売・通販</a:t>
            </a:r>
          </a:p>
        </p:txBody>
      </p:sp>
      <p:sp>
        <p:nvSpPr>
          <p:cNvPr id="99" name="TextBox 98"/>
          <p:cNvSpPr txBox="1"/>
          <p:nvPr/>
        </p:nvSpPr>
        <p:spPr>
          <a:xfrm>
            <a:off x="6382512" y="3145536"/>
            <a:ext cx="2395728" cy="475488"/>
          </a:xfrm>
          <a:prstGeom prst="rect">
            <a:avLst/>
          </a:prstGeom>
          <a:noFill/>
        </p:spPr>
        <p:txBody>
          <a:bodyPr wrap="square" lIns="0" rIns="0" tIns="0" bIns="0" anchor="t">
            <a:spAutoFit/>
          </a:bodyPr>
          <a:lstStyle/>
          <a:p>
            <a:pPr algn="l">
              <a:lnSpc>
                <a:spcPct val="118000"/>
              </a:lnSpc>
              <a:spcAft>
                <a:spcPts val="0"/>
              </a:spcAft>
            </a:pPr>
            <a:r>
              <a:rPr sz="840" b="0">
                <a:solidFill>
                  <a:srgbClr val="1A1A1A"/>
                </a:solidFill>
                <a:latin typeface="游ゴシック"/>
                <a:ea typeface="游ゴシック"/>
                <a:cs typeface="游ゴシック"/>
              </a:rPr>
              <a:t>食材の仕入／卸売先への出荷／通信販売の受注・発送</a:t>
            </a:r>
          </a:p>
        </p:txBody>
      </p:sp>
      <p:sp>
        <p:nvSpPr>
          <p:cNvPr id="100" name="Rectangle 99"/>
          <p:cNvSpPr/>
          <p:nvPr/>
        </p:nvSpPr>
        <p:spPr>
          <a:xfrm>
            <a:off x="7569403" y="2329891"/>
            <a:ext cx="21945"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1" name="Rectangle 100"/>
          <p:cNvSpPr/>
          <p:nvPr/>
        </p:nvSpPr>
        <p:spPr>
          <a:xfrm>
            <a:off x="1874519" y="2468880"/>
            <a:ext cx="5705855"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2" name="Rectangle 101"/>
          <p:cNvSpPr/>
          <p:nvPr/>
        </p:nvSpPr>
        <p:spPr>
          <a:xfrm>
            <a:off x="1863547" y="2468880"/>
            <a:ext cx="21945" cy="292607"/>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3" name="Rectangle 102"/>
          <p:cNvSpPr/>
          <p:nvPr/>
        </p:nvSpPr>
        <p:spPr>
          <a:xfrm>
            <a:off x="4716475" y="2468880"/>
            <a:ext cx="21945" cy="292607"/>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4" name="Rectangle 103"/>
          <p:cNvSpPr/>
          <p:nvPr/>
        </p:nvSpPr>
        <p:spPr>
          <a:xfrm>
            <a:off x="7569403" y="2468880"/>
            <a:ext cx="21945" cy="292607"/>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Rectangle 104"/>
          <p:cNvSpPr/>
          <p:nvPr/>
        </p:nvSpPr>
        <p:spPr>
          <a:xfrm>
            <a:off x="5338267" y="2340864"/>
            <a:ext cx="21945" cy="128016"/>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6" name="Rectangle 105"/>
          <p:cNvSpPr/>
          <p:nvPr/>
        </p:nvSpPr>
        <p:spPr>
          <a:xfrm>
            <a:off x="1280160" y="4005072"/>
            <a:ext cx="3291840" cy="71323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7" name="TextBox 106"/>
          <p:cNvSpPr txBox="1"/>
          <p:nvPr/>
        </p:nvSpPr>
        <p:spPr>
          <a:xfrm>
            <a:off x="1408176" y="4096511"/>
            <a:ext cx="3035808"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小川 喜久子（取締役・配偶者）</a:t>
            </a:r>
          </a:p>
        </p:txBody>
      </p:sp>
      <p:sp>
        <p:nvSpPr>
          <p:cNvPr id="108" name="TextBox 107"/>
          <p:cNvSpPr txBox="1"/>
          <p:nvPr/>
        </p:nvSpPr>
        <p:spPr>
          <a:xfrm>
            <a:off x="1408176" y="4352544"/>
            <a:ext cx="3035808" cy="274320"/>
          </a:xfrm>
          <a:prstGeom prst="rect">
            <a:avLst/>
          </a:prstGeom>
          <a:noFill/>
        </p:spPr>
        <p:txBody>
          <a:bodyPr wrap="square" lIns="0" rIns="0" tIns="0" bIns="0" anchor="t">
            <a:spAutoFit/>
          </a:bodyPr>
          <a:lstStyle/>
          <a:p>
            <a:pPr algn="l">
              <a:spcAft>
                <a:spcPts val="0"/>
              </a:spcAft>
            </a:pPr>
            <a:r>
              <a:rPr sz="840" b="0">
                <a:solidFill>
                  <a:srgbClr val="5A6670"/>
                </a:solidFill>
                <a:latin typeface="游ゴシック"/>
                <a:ea typeface="游ゴシック"/>
                <a:cs typeface="游ゴシック"/>
              </a:rPr>
              <a:t>接客・経理／無報酬</a:t>
            </a:r>
          </a:p>
        </p:txBody>
      </p:sp>
      <p:sp>
        <p:nvSpPr>
          <p:cNvPr id="109" name="Rectangle 108"/>
          <p:cNvSpPr/>
          <p:nvPr/>
        </p:nvSpPr>
        <p:spPr>
          <a:xfrm>
            <a:off x="5577840" y="4005072"/>
            <a:ext cx="3291840" cy="71323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0" name="TextBox 109"/>
          <p:cNvSpPr txBox="1"/>
          <p:nvPr/>
        </p:nvSpPr>
        <p:spPr>
          <a:xfrm>
            <a:off x="5705855" y="4096511"/>
            <a:ext cx="3035808"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親族（繁忙時）</a:t>
            </a:r>
          </a:p>
        </p:txBody>
      </p:sp>
      <p:sp>
        <p:nvSpPr>
          <p:cNvPr id="111" name="TextBox 110"/>
          <p:cNvSpPr txBox="1"/>
          <p:nvPr/>
        </p:nvSpPr>
        <p:spPr>
          <a:xfrm>
            <a:off x="5705855" y="4352544"/>
            <a:ext cx="3035808" cy="274320"/>
          </a:xfrm>
          <a:prstGeom prst="rect">
            <a:avLst/>
          </a:prstGeom>
          <a:noFill/>
        </p:spPr>
        <p:txBody>
          <a:bodyPr wrap="square" lIns="0" rIns="0" tIns="0" bIns="0" anchor="t">
            <a:spAutoFit/>
          </a:bodyPr>
          <a:lstStyle/>
          <a:p>
            <a:pPr algn="l">
              <a:spcAft>
                <a:spcPts val="0"/>
              </a:spcAft>
            </a:pPr>
            <a:r>
              <a:rPr sz="840" b="0">
                <a:solidFill>
                  <a:srgbClr val="5A6670"/>
                </a:solidFill>
                <a:latin typeface="游ゴシック"/>
                <a:ea typeface="游ゴシック"/>
                <a:cs typeface="游ゴシック"/>
              </a:rPr>
              <a:t>雑給 2,201千円（支払先「小川実他1」）</a:t>
            </a:r>
          </a:p>
        </p:txBody>
      </p:sp>
      <p:sp>
        <p:nvSpPr>
          <p:cNvPr id="112" name="Rectangle 111"/>
          <p:cNvSpPr/>
          <p:nvPr/>
        </p:nvSpPr>
        <p:spPr>
          <a:xfrm>
            <a:off x="310896" y="4937760"/>
            <a:ext cx="9921240"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100" b="1">
                <a:solidFill>
                  <a:srgbClr val="FFFFFF"/>
                </a:solidFill>
                <a:latin typeface="游ゴシック"/>
                <a:ea typeface="游ゴシック"/>
                <a:cs typeface="游ゴシック"/>
              </a:rPr>
              <a:t>属人性の整理 ― 「事実」と「備え」</a:t>
            </a:r>
          </a:p>
        </p:txBody>
      </p:sp>
      <p:sp>
        <p:nvSpPr>
          <p:cNvPr id="113" name="Rectangle 112"/>
          <p:cNvSpPr/>
          <p:nvPr/>
        </p:nvSpPr>
        <p:spPr>
          <a:xfrm>
            <a:off x="310896" y="5294376"/>
            <a:ext cx="9921240" cy="1207008"/>
          </a:xfrm>
          <a:prstGeom prst="rect">
            <a:avLst/>
          </a:prstGeom>
          <a:solidFill>
            <a:srgbClr val="F7FAFC"/>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4" name="TextBox 113"/>
          <p:cNvSpPr txBox="1"/>
          <p:nvPr/>
        </p:nvSpPr>
        <p:spPr>
          <a:xfrm>
            <a:off x="457200" y="5404104"/>
            <a:ext cx="9628632" cy="1005840"/>
          </a:xfrm>
          <a:prstGeom prst="rect">
            <a:avLst/>
          </a:prstGeom>
          <a:noFill/>
        </p:spPr>
        <p:txBody>
          <a:bodyPr wrap="square" lIns="0" rIns="0" tIns="0" bIns="0" anchor="t">
            <a:spAutoFit/>
          </a:bodyPr>
          <a:lstStyle/>
          <a:p>
            <a:pPr algn="l">
              <a:lnSpc>
                <a:spcPct val="120000"/>
              </a:lnSpc>
              <a:spcAft>
                <a:spcPts val="200"/>
              </a:spcAft>
            </a:pPr>
            <a:r>
              <a:rPr sz="900" b="1">
                <a:solidFill>
                  <a:srgbClr val="0889C9"/>
                </a:solidFill>
                <a:latin typeface="游ゴシック"/>
                <a:ea typeface="游ゴシック"/>
                <a:cs typeface="游ゴシック"/>
              </a:rPr>
              <a:t>事実　</a:t>
            </a:r>
            <a:r>
              <a:rPr sz="900" b="0">
                <a:solidFill>
                  <a:srgbClr val="1A1A1A"/>
                </a:solidFill>
                <a:latin typeface="游ゴシック"/>
                <a:ea typeface="游ゴシック"/>
                <a:cs typeface="游ゴシック"/>
              </a:rPr>
              <a:t>掲載誌には「接客や調理、片付けまでの全てを小川氏一人でこなすため、席に着いてからも正直かなりの時間がかかる」と記載されている。昼のみ・売り切りじまい・週4日という営業形態も、この体制を前提としたものと考えられる。</a:t>
            </a:r>
          </a:p>
          <a:p>
            <a:pPr algn="l">
              <a:lnSpc>
                <a:spcPct val="120000"/>
              </a:lnSpc>
              <a:spcAft>
                <a:spcPts val="200"/>
              </a:spcAft>
            </a:pPr>
            <a:r>
              <a:rPr sz="900" b="1">
                <a:solidFill>
                  <a:srgbClr val="0889C9"/>
                </a:solidFill>
                <a:latin typeface="游ゴシック"/>
                <a:ea typeface="游ゴシック"/>
                <a:cs typeface="游ゴシック"/>
              </a:rPr>
              <a:t>備え　</a:t>
            </a:r>
            <a:r>
              <a:rPr sz="900" b="0">
                <a:solidFill>
                  <a:srgbClr val="1A1A1A"/>
                </a:solidFill>
                <a:latin typeface="游ゴシック"/>
                <a:ea typeface="游ゴシック"/>
                <a:cs typeface="游ゴシック"/>
              </a:rPr>
              <a:t>一方で、レシピや「かえし」については誰でも再現できるよう整理済とのことであり（面談ヒアリング）、過去には弟子へ別店舗（塩町館）の営業を承継した実績がある。「代表者がいなければ蕎麦を打てない」という状態ではないと伺っている。</a:t>
            </a:r>
          </a:p>
          <a:p>
            <a:pPr algn="l">
              <a:lnSpc>
                <a:spcPct val="120000"/>
              </a:lnSpc>
              <a:spcAft>
                <a:spcPts val="200"/>
              </a:spcAft>
            </a:pPr>
            <a:r>
              <a:rPr sz="900" b="1">
                <a:solidFill>
                  <a:srgbClr val="0889C9"/>
                </a:solidFill>
                <a:latin typeface="游ゴシック"/>
                <a:ea typeface="游ゴシック"/>
                <a:cs typeface="游ゴシック"/>
              </a:rPr>
              <a:t>次のステップ　</a:t>
            </a:r>
            <a:r>
              <a:rPr sz="900" b="0">
                <a:solidFill>
                  <a:srgbClr val="1A1A1A"/>
                </a:solidFill>
                <a:latin typeface="游ゴシック"/>
                <a:ea typeface="游ゴシック"/>
                <a:cs typeface="游ゴシック"/>
              </a:rPr>
              <a:t>標準化資料（レシピ・かえし・そば打ち手順）の実物確認、引継ぎに要する期間・人数の具体化、焼畑栽培・製粉工程を含めたどの範囲を承継するかの整理が必要。</a:t>
            </a:r>
          </a:p>
        </p:txBody>
      </p:sp>
      <p:sp>
        <p:nvSpPr>
          <p:cNvPr id="115" name="TextBox 114"/>
          <p:cNvSpPr txBox="1"/>
          <p:nvPr/>
        </p:nvSpPr>
        <p:spPr>
          <a:xfrm>
            <a:off x="310896" y="6638544"/>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常時雇用の従業員は0名のため「従業員」ページは作成していません。雑給の支払先「小川実他1」の勤務実態・雇用形態・社会保険の適用状況は要確認です。</a:t>
            </a:r>
          </a:p>
        </p:txBody>
      </p:sp>
    </p:spTree>
    <p:extLst>
      <p:ext uri="{BB962C8B-B14F-4D97-AF65-F5344CB8AC3E}">
        <p14:creationId xmlns:p14="http://schemas.microsoft.com/office/powerpoint/2010/main" val="27286124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B11F1-1D51-B82A-B921-6A785A325690}"/>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0FAD2F8E-0153-3144-7799-F8299088775F}"/>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株主及び役員</a:t>
            </a:r>
          </a:p>
        </p:txBody>
      </p:sp>
      <p:sp>
        <p:nvSpPr>
          <p:cNvPr id="4" name="タイトル 1">
            <a:extLst>
              <a:ext uri="{FF2B5EF4-FFF2-40B4-BE49-F238E27FC236}">
                <a16:creationId xmlns:a16="http://schemas.microsoft.com/office/drawing/2014/main" id="{7A477B2A-8CB0-33C5-E13F-6A9007ED2C1F}"/>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組織、拠点、設備等</a:t>
            </a:r>
          </a:p>
        </p:txBody>
      </p:sp>
      <p:sp>
        <p:nvSpPr>
          <p:cNvPr id="8" name="字幕 13">
            <a:extLst>
              <a:ext uri="{FF2B5EF4-FFF2-40B4-BE49-F238E27FC236}">
                <a16:creationId xmlns:a16="http://schemas.microsoft.com/office/drawing/2014/main" id="{B2B57451-0F79-4EA4-E5F7-DD3BE659A77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株主・役員ともに代表者夫妻が中心。役員報酬は3期を通じて計上がなく、代表者夫妻は無報酬</a:t>
            </a:r>
            <a:endParaRPr lang="en-US" altLang="ja-JP" dirty="0"/>
          </a:p>
        </p:txBody>
      </p:sp>
      <p:sp>
        <p:nvSpPr>
          <p:cNvPr id="14" name="Rectangle 13"/>
          <p:cNvSpPr/>
          <p:nvPr/>
        </p:nvSpPr>
        <p:spPr>
          <a:xfrm>
            <a:off x="310896" y="1517904"/>
            <a:ext cx="148132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400" b="1">
                <a:solidFill>
                  <a:srgbClr val="FFFFFF"/>
                </a:solidFill>
                <a:latin typeface="游ゴシック"/>
                <a:ea typeface="游ゴシック"/>
                <a:cs typeface="游ゴシック"/>
              </a:rPr>
              <a:t>株主</a:t>
            </a:r>
          </a:p>
        </p:txBody>
      </p:sp>
      <p:graphicFrame>
        <p:nvGraphicFramePr>
          <p:cNvPr id="15" name="Table 14"/>
          <p:cNvGraphicFramePr>
            <a:graphicFrameLocks noGrp="1"/>
          </p:cNvGraphicFramePr>
          <p:nvPr/>
        </p:nvGraphicFramePr>
        <p:xfrm>
          <a:off x="310896" y="1874519"/>
          <a:ext cx="10067544" cy="1133856"/>
        </p:xfrm>
        <a:graphic>
          <a:graphicData uri="http://schemas.openxmlformats.org/drawingml/2006/table">
            <a:tbl>
              <a:tblPr firstRow="0" bandRow="0">
                <a:tableStyleId>{5940675A-B579-460E-94D1-54222C63F5DA}</a:tableStyleId>
              </a:tblPr>
              <a:tblGrid>
                <a:gridCol w="420624"/>
                <a:gridCol w="1554480"/>
                <a:gridCol w="1463040"/>
                <a:gridCol w="1188720"/>
                <a:gridCol w="1005840"/>
                <a:gridCol w="4434840"/>
              </a:tblGrid>
              <a:tr h="256032">
                <a:tc>
                  <a:txBody>
                    <a:bodyPr wrap="square"/>
                    <a:lstStyle/>
                    <a:p>
                      <a:pPr algn="ctr">
                        <a:spcAft>
                          <a:spcPts val="0"/>
                        </a:spcAft>
                      </a:pPr>
                      <a:r>
                        <a:rPr sz="860" b="1">
                          <a:solidFill>
                            <a:srgbClr val="FFFFFF"/>
                          </a:solidFill>
                          <a:latin typeface="游ゴシック"/>
                          <a:ea typeface="游ゴシック"/>
                          <a:cs typeface="游ゴシック"/>
                        </a:rPr>
                        <a:t>No.</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氏名</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役職</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保有株式数</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保有割合</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備考</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92608">
                <a:tc>
                  <a:txBody>
                    <a:bodyPr wrap="square"/>
                    <a:lstStyle/>
                    <a:p>
                      <a:pPr algn="ctr">
                        <a:spcAft>
                          <a:spcPts val="0"/>
                        </a:spcAft>
                      </a:pPr>
                      <a:r>
                        <a:rPr sz="860"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小川　宣夫</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代表取締役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130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65.0%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引継ぎ完了後、退任予定</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92608">
                <a:tc>
                  <a:txBody>
                    <a:bodyPr wrap="square"/>
                    <a:lstStyle/>
                    <a:p>
                      <a:pPr algn="ctr">
                        <a:spcAft>
                          <a:spcPts val="0"/>
                        </a:spcAft>
                      </a:pPr>
                      <a:r>
                        <a:rPr sz="860"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小川　喜久子</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取締役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70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35.0%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クロージング時 退任予定</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92608">
                <a:tc>
                  <a:txBody>
                    <a:bodyPr wrap="square"/>
                    <a:lstStyle/>
                    <a:p>
                      <a:pPr algn="ctr">
                        <a:spcAft>
                          <a:spcPts val="0"/>
                        </a:spcAft>
                      </a:pPr>
                      <a:r>
                        <a:rPr sz="86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1">
                          <a:solidFill>
                            <a:srgbClr val="1A1A1A"/>
                          </a:solidFill>
                          <a:latin typeface="游ゴシック"/>
                          <a:ea typeface="游ゴシック"/>
                          <a:cs typeface="游ゴシック"/>
                        </a:rPr>
                        <a:t>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1">
                          <a:solidFill>
                            <a:srgbClr val="1A1A1A"/>
                          </a:solidFill>
                          <a:latin typeface="Arial"/>
                          <a:ea typeface="Arial"/>
                          <a:cs typeface="Arial"/>
                        </a:rPr>
                        <a:t>200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6" name="Rectangle 15"/>
          <p:cNvSpPr/>
          <p:nvPr/>
        </p:nvSpPr>
        <p:spPr>
          <a:xfrm>
            <a:off x="310896" y="3383280"/>
            <a:ext cx="148132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400" b="1">
                <a:solidFill>
                  <a:srgbClr val="FFFFFF"/>
                </a:solidFill>
                <a:latin typeface="游ゴシック"/>
                <a:ea typeface="游ゴシック"/>
                <a:cs typeface="游ゴシック"/>
              </a:rPr>
              <a:t>役員</a:t>
            </a:r>
          </a:p>
        </p:txBody>
      </p:sp>
      <p:graphicFrame>
        <p:nvGraphicFramePr>
          <p:cNvPr id="17" name="Table 16"/>
          <p:cNvGraphicFramePr>
            <a:graphicFrameLocks noGrp="1"/>
          </p:cNvGraphicFramePr>
          <p:nvPr/>
        </p:nvGraphicFramePr>
        <p:xfrm>
          <a:off x="310896" y="3739896"/>
          <a:ext cx="10067544" cy="1591056"/>
        </p:xfrm>
        <a:graphic>
          <a:graphicData uri="http://schemas.openxmlformats.org/drawingml/2006/table">
            <a:tbl>
              <a:tblPr firstRow="0" bandRow="0">
                <a:tableStyleId>{5940675A-B579-460E-94D1-54222C63F5DA}</a:tableStyleId>
              </a:tblPr>
              <a:tblGrid>
                <a:gridCol w="420624"/>
                <a:gridCol w="1554480"/>
                <a:gridCol w="1188720"/>
                <a:gridCol w="1371600"/>
                <a:gridCol w="914400"/>
                <a:gridCol w="2286000"/>
                <a:gridCol w="2331720"/>
              </a:tblGrid>
              <a:tr h="347472">
                <a:tc>
                  <a:txBody>
                    <a:bodyPr wrap="square"/>
                    <a:lstStyle/>
                    <a:p>
                      <a:pPr algn="ctr">
                        <a:spcAft>
                          <a:spcPts val="0"/>
                        </a:spcAft>
                      </a:pPr>
                      <a:r>
                        <a:rPr sz="860" b="1">
                          <a:solidFill>
                            <a:srgbClr val="FFFFFF"/>
                          </a:solidFill>
                          <a:latin typeface="游ゴシック"/>
                          <a:ea typeface="游ゴシック"/>
                          <a:cs typeface="游ゴシック"/>
                        </a:rPr>
                        <a:t>No.</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氏名</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役職</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代表者との関係</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役員報酬</a:t>
                      </a:r>
                    </a:p>
                    <a:p>
                      <a:pPr algn="ctr">
                        <a:spcAft>
                          <a:spcPts val="0"/>
                        </a:spcAft>
                      </a:pPr>
                      <a:r>
                        <a:rPr sz="86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業務範囲</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備考</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10896">
                <a:tc>
                  <a:txBody>
                    <a:bodyPr wrap="square"/>
                    <a:lstStyle/>
                    <a:p>
                      <a:pPr algn="ctr">
                        <a:spcAft>
                          <a:spcPts val="0"/>
                        </a:spcAft>
                      </a:pPr>
                      <a:r>
                        <a:rPr sz="860"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小川　宣夫</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代表取締役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本人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そば打ち・製粉・仕入・接客を含む店舗運営全般</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引継ぎ完了後、退任予定</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10896">
                <a:tc>
                  <a:txBody>
                    <a:bodyPr wrap="square"/>
                    <a:lstStyle/>
                    <a:p>
                      <a:pPr algn="ctr">
                        <a:spcAft>
                          <a:spcPts val="0"/>
                        </a:spcAft>
                      </a:pPr>
                      <a:r>
                        <a:rPr sz="860"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小川　喜久子</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取締役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配偶者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接客・経理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クロージング時 退任予定</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10896">
                <a:tc>
                  <a:txBody>
                    <a:bodyPr wrap="square"/>
                    <a:lstStyle/>
                    <a:p>
                      <a:pPr algn="ctr">
                        <a:spcAft>
                          <a:spcPts val="0"/>
                        </a:spcAft>
                      </a:pPr>
                      <a:r>
                        <a:rPr sz="860" b="0">
                          <a:solidFill>
                            <a:srgbClr val="1A1A1A"/>
                          </a:solidFill>
                          <a:latin typeface="Arial"/>
                          <a:ea typeface="Arial"/>
                          <a:cs typeface="Arial"/>
                        </a:rPr>
                        <a:t>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岩間　卓哉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取締役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元従業員（弟子）</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勤務実態なし（要確認）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塩町館の営業を承継された方。本件後の取扱いは要協議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10896">
                <a:tc>
                  <a:txBody>
                    <a:bodyPr wrap="square"/>
                    <a:lstStyle/>
                    <a:p>
                      <a:pPr algn="ctr">
                        <a:spcAft>
                          <a:spcPts val="0"/>
                        </a:spcAft>
                      </a:pPr>
                      <a:r>
                        <a:rPr sz="860" b="0">
                          <a:solidFill>
                            <a:srgbClr val="1A1A1A"/>
                          </a:solidFill>
                          <a:latin typeface="Arial"/>
                          <a:ea typeface="Arial"/>
                          <a:cs typeface="Arial"/>
                        </a:rPr>
                        <a:t>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小川　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監査役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親族（要確認）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会計監査限定（登記簿）</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会計監査に限定（登記簿）</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8" name="TextBox 17"/>
          <p:cNvSpPr txBox="1"/>
          <p:nvPr/>
        </p:nvSpPr>
        <p:spPr>
          <a:xfrm>
            <a:off x="310896" y="557784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株主構成は法人税申告書 別表二（2026年5月期）、役員構成は法人登記簿（2026年9月15日現在）に基づく。発行済株式総数200株、株券発行会社。</a:t>
            </a:r>
          </a:p>
          <a:p>
            <a:pPr algn="l">
              <a:lnSpc>
                <a:spcPct val="112000"/>
              </a:lnSpc>
              <a:spcAft>
                <a:spcPts val="100"/>
              </a:spcAft>
            </a:pPr>
            <a:r>
              <a:rPr sz="750" b="0">
                <a:solidFill>
                  <a:srgbClr val="5A6670"/>
                </a:solidFill>
                <a:latin typeface="游ゴシック"/>
                <a:ea typeface="游ゴシック"/>
                <a:cs typeface="游ゴシック"/>
              </a:rPr>
              <a:t>※ 株式の譲渡には取締役会の承認を要する（登記簿）。名義株の有無は要確認。役員報酬は2024/5期〜2026/5期の3期を通じて計上がない。</a:t>
            </a:r>
          </a:p>
        </p:txBody>
      </p:sp>
    </p:spTree>
    <p:extLst>
      <p:ext uri="{BB962C8B-B14F-4D97-AF65-F5344CB8AC3E}">
        <p14:creationId xmlns:p14="http://schemas.microsoft.com/office/powerpoint/2010/main" val="1111365944"/>
      </p:ext>
    </p:extLst>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AE20CDE1-7008-F0D4-81FD-53AE154BF5EA}"/>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月次売上・営業日の分析</a:t>
            </a:r>
          </a:p>
        </p:txBody>
      </p:sp>
      <p:sp>
        <p:nvSpPr>
          <p:cNvPr id="5" name="タイトル 1">
            <a:extLst>
              <a:ext uri="{FF2B5EF4-FFF2-40B4-BE49-F238E27FC236}">
                <a16:creationId xmlns:a16="http://schemas.microsoft.com/office/drawing/2014/main" id="{6790A563-0096-2902-0624-D66AB2A099B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事業概要</a:t>
            </a:r>
          </a:p>
        </p:txBody>
      </p:sp>
      <p:sp>
        <p:nvSpPr>
          <p:cNvPr id="7" name="字幕 13">
            <a:extLst>
              <a:ext uri="{FF2B5EF4-FFF2-40B4-BE49-F238E27FC236}">
                <a16:creationId xmlns:a16="http://schemas.microsoft.com/office/drawing/2014/main" id="{C28AC2D5-7B01-C5B2-1062-1CE28DB5BD3C}"/>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営業は金・土・日・月の週4日・昼のみ（年間200日）。新そばの11月が日商141千円と突出し、1月の約3倍</a:t>
            </a:r>
            <a:endParaRPr lang="en-US" altLang="ja-JP" dirty="0"/>
          </a:p>
        </p:txBody>
      </p:sp>
      <p:graphicFrame>
        <p:nvGraphicFramePr>
          <p:cNvPr id="14" name="Table 13"/>
          <p:cNvGraphicFramePr>
            <a:graphicFrameLocks noGrp="1"/>
          </p:cNvGraphicFramePr>
          <p:nvPr/>
        </p:nvGraphicFramePr>
        <p:xfrm>
          <a:off x="310896" y="1408176"/>
          <a:ext cx="3529580" cy="2820007"/>
        </p:xfrm>
        <a:graphic>
          <a:graphicData uri="http://schemas.openxmlformats.org/drawingml/2006/table">
            <a:tbl>
              <a:tblPr firstRow="0" bandRow="0">
                <a:tableStyleId>{5940675A-B579-460E-94D1-54222C63F5DA}</a:tableStyleId>
              </a:tblPr>
              <a:tblGrid>
                <a:gridCol w="694943"/>
                <a:gridCol w="1207007"/>
                <a:gridCol w="804671"/>
                <a:gridCol w="822959"/>
              </a:tblGrid>
              <a:tr h="228600">
                <a:tc>
                  <a:txBody>
                    <a:bodyPr wrap="square"/>
                    <a:lstStyle/>
                    <a:p>
                      <a:pPr algn="ctr">
                        <a:spcAft>
                          <a:spcPts val="0"/>
                        </a:spcAft>
                      </a:pPr>
                      <a:r>
                        <a:rPr sz="819" b="1">
                          <a:solidFill>
                            <a:srgbClr val="FFFFFF"/>
                          </a:solidFill>
                          <a:latin typeface="游ゴシック"/>
                          <a:ea typeface="游ゴシック"/>
                          <a:cs typeface="游ゴシック"/>
                        </a:rPr>
                        <a:t>月</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店頭売上高</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営業日数</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日商平均</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6月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975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57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7月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1,106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69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8月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1,622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85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9月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1,249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10月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1,503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11月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2,531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12月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778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1月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613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47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925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3月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1,072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60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4月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5月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1,491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93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1">
                          <a:solidFill>
                            <a:srgbClr val="1A1A1A"/>
                          </a:solidFill>
                          <a:latin typeface="游ゴシック"/>
                          <a:ea typeface="游ゴシック"/>
                          <a:cs typeface="游ゴシック"/>
                        </a:rPr>
                        <a:t>小計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1">
                          <a:solidFill>
                            <a:srgbClr val="1A1A1A"/>
                          </a:solidFill>
                          <a:latin typeface="Arial"/>
                          <a:ea typeface="Arial"/>
                          <a:cs typeface="Arial"/>
                        </a:rPr>
                        <a:t>14,967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1">
                          <a:solidFill>
                            <a:srgbClr val="1A1A1A"/>
                          </a:solidFill>
                          <a:latin typeface="Arial"/>
                          <a:ea typeface="Arial"/>
                          <a:cs typeface="Arial"/>
                        </a:rPr>
                        <a:t>200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1">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4041648" y="1408176"/>
            <a:ext cx="6336792" cy="2798064"/>
          </a:xfrm>
          <a:prstGeom prst="rect">
            <a:avLst/>
          </a:prstGeom>
          <a:solidFill>
            <a:srgbClr val="FBFCFD"/>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151376" y="1481328"/>
            <a:ext cx="6117336" cy="201168"/>
          </a:xfrm>
          <a:prstGeom prst="rect">
            <a:avLst/>
          </a:prstGeom>
          <a:noFill/>
        </p:spPr>
        <p:txBody>
          <a:bodyPr wrap="square" lIns="0" rIns="0" tIns="0" bIns="0" anchor="t">
            <a:spAutoFit/>
          </a:bodyPr>
          <a:lstStyle/>
          <a:p>
            <a:pPr algn="l">
              <a:spcAft>
                <a:spcPts val="0"/>
              </a:spcAft>
            </a:pPr>
            <a:r>
              <a:rPr sz="900" b="1">
                <a:solidFill>
                  <a:srgbClr val="0B3041"/>
                </a:solidFill>
                <a:latin typeface="游ゴシック"/>
                <a:ea typeface="游ゴシック"/>
                <a:cs typeface="游ゴシック"/>
              </a:rPr>
              <a:t>月次 店頭売上高（千円）</a:t>
            </a:r>
          </a:p>
        </p:txBody>
      </p:sp>
      <p:sp>
        <p:nvSpPr>
          <p:cNvPr id="17" name="Rectangle 16"/>
          <p:cNvSpPr/>
          <p:nvPr/>
        </p:nvSpPr>
        <p:spPr>
          <a:xfrm>
            <a:off x="4352544" y="3106308"/>
            <a:ext cx="291236" cy="78903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79392" y="2923428"/>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975</a:t>
            </a:r>
          </a:p>
        </p:txBody>
      </p:sp>
      <p:sp>
        <p:nvSpPr>
          <p:cNvPr id="19" name="TextBox 18"/>
          <p:cNvSpPr txBox="1"/>
          <p:nvPr/>
        </p:nvSpPr>
        <p:spPr>
          <a:xfrm>
            <a:off x="4279392"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6月</a:t>
            </a:r>
          </a:p>
        </p:txBody>
      </p:sp>
      <p:sp>
        <p:nvSpPr>
          <p:cNvPr id="20" name="Rectangle 19"/>
          <p:cNvSpPr/>
          <p:nvPr/>
        </p:nvSpPr>
        <p:spPr>
          <a:xfrm>
            <a:off x="4837938" y="3000294"/>
            <a:ext cx="291236" cy="895049"/>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764786" y="2817414"/>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1,106</a:t>
            </a:r>
          </a:p>
        </p:txBody>
      </p:sp>
      <p:sp>
        <p:nvSpPr>
          <p:cNvPr id="22" name="TextBox 21"/>
          <p:cNvSpPr txBox="1"/>
          <p:nvPr/>
        </p:nvSpPr>
        <p:spPr>
          <a:xfrm>
            <a:off x="4764786"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7月</a:t>
            </a:r>
          </a:p>
        </p:txBody>
      </p:sp>
      <p:sp>
        <p:nvSpPr>
          <p:cNvPr id="23" name="Rectangle 22"/>
          <p:cNvSpPr/>
          <p:nvPr/>
        </p:nvSpPr>
        <p:spPr>
          <a:xfrm>
            <a:off x="5323332" y="2582712"/>
            <a:ext cx="291236" cy="1312631"/>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50180" y="2399832"/>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1,622</a:t>
            </a:r>
          </a:p>
        </p:txBody>
      </p:sp>
      <p:sp>
        <p:nvSpPr>
          <p:cNvPr id="25" name="TextBox 24"/>
          <p:cNvSpPr txBox="1"/>
          <p:nvPr/>
        </p:nvSpPr>
        <p:spPr>
          <a:xfrm>
            <a:off x="5250180"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8月</a:t>
            </a:r>
          </a:p>
        </p:txBody>
      </p:sp>
      <p:sp>
        <p:nvSpPr>
          <p:cNvPr id="26" name="Rectangle 25"/>
          <p:cNvSpPr/>
          <p:nvPr/>
        </p:nvSpPr>
        <p:spPr>
          <a:xfrm>
            <a:off x="5808725" y="2884568"/>
            <a:ext cx="291236" cy="101077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735573" y="2701688"/>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1,249</a:t>
            </a:r>
          </a:p>
        </p:txBody>
      </p:sp>
      <p:sp>
        <p:nvSpPr>
          <p:cNvPr id="28" name="TextBox 27"/>
          <p:cNvSpPr txBox="1"/>
          <p:nvPr/>
        </p:nvSpPr>
        <p:spPr>
          <a:xfrm>
            <a:off x="5735573"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9月</a:t>
            </a:r>
          </a:p>
        </p:txBody>
      </p:sp>
      <p:sp>
        <p:nvSpPr>
          <p:cNvPr id="29" name="Rectangle 28"/>
          <p:cNvSpPr/>
          <p:nvPr/>
        </p:nvSpPr>
        <p:spPr>
          <a:xfrm>
            <a:off x="6294120" y="2679014"/>
            <a:ext cx="291236" cy="1216329"/>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220967" y="2496134"/>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1,503</a:t>
            </a:r>
          </a:p>
        </p:txBody>
      </p:sp>
      <p:sp>
        <p:nvSpPr>
          <p:cNvPr id="31" name="TextBox 30"/>
          <p:cNvSpPr txBox="1"/>
          <p:nvPr/>
        </p:nvSpPr>
        <p:spPr>
          <a:xfrm>
            <a:off x="6220967"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10月</a:t>
            </a:r>
          </a:p>
        </p:txBody>
      </p:sp>
      <p:sp>
        <p:nvSpPr>
          <p:cNvPr id="32" name="Rectangle 31"/>
          <p:cNvSpPr/>
          <p:nvPr/>
        </p:nvSpPr>
        <p:spPr>
          <a:xfrm>
            <a:off x="6779514" y="1847088"/>
            <a:ext cx="291236" cy="2048255"/>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706362" y="1664208"/>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2,531</a:t>
            </a:r>
          </a:p>
        </p:txBody>
      </p:sp>
      <p:sp>
        <p:nvSpPr>
          <p:cNvPr id="34" name="TextBox 33"/>
          <p:cNvSpPr txBox="1"/>
          <p:nvPr/>
        </p:nvSpPr>
        <p:spPr>
          <a:xfrm>
            <a:off x="6706362"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11月</a:t>
            </a:r>
          </a:p>
        </p:txBody>
      </p:sp>
      <p:sp>
        <p:nvSpPr>
          <p:cNvPr id="35" name="Rectangle 34"/>
          <p:cNvSpPr/>
          <p:nvPr/>
        </p:nvSpPr>
        <p:spPr>
          <a:xfrm>
            <a:off x="7264907" y="3265733"/>
            <a:ext cx="291236" cy="62961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7191755" y="3082853"/>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778</a:t>
            </a:r>
          </a:p>
        </p:txBody>
      </p:sp>
      <p:sp>
        <p:nvSpPr>
          <p:cNvPr id="37" name="TextBox 36"/>
          <p:cNvSpPr txBox="1"/>
          <p:nvPr/>
        </p:nvSpPr>
        <p:spPr>
          <a:xfrm>
            <a:off x="7191755"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12月</a:t>
            </a:r>
          </a:p>
        </p:txBody>
      </p:sp>
      <p:sp>
        <p:nvSpPr>
          <p:cNvPr id="38" name="Rectangle 37"/>
          <p:cNvSpPr/>
          <p:nvPr/>
        </p:nvSpPr>
        <p:spPr>
          <a:xfrm>
            <a:off x="7750301" y="3399263"/>
            <a:ext cx="291236" cy="49608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677149" y="3216383"/>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613</a:t>
            </a:r>
          </a:p>
        </p:txBody>
      </p:sp>
      <p:sp>
        <p:nvSpPr>
          <p:cNvPr id="40" name="TextBox 39"/>
          <p:cNvSpPr txBox="1"/>
          <p:nvPr/>
        </p:nvSpPr>
        <p:spPr>
          <a:xfrm>
            <a:off x="7677149"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1月</a:t>
            </a:r>
          </a:p>
        </p:txBody>
      </p:sp>
      <p:sp>
        <p:nvSpPr>
          <p:cNvPr id="41" name="Rectangle 40"/>
          <p:cNvSpPr/>
          <p:nvPr/>
        </p:nvSpPr>
        <p:spPr>
          <a:xfrm>
            <a:off x="8235695" y="3146771"/>
            <a:ext cx="291236" cy="748572"/>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162543" y="2963891"/>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925</a:t>
            </a:r>
          </a:p>
        </p:txBody>
      </p:sp>
      <p:sp>
        <p:nvSpPr>
          <p:cNvPr id="43" name="TextBox 42"/>
          <p:cNvSpPr txBox="1"/>
          <p:nvPr/>
        </p:nvSpPr>
        <p:spPr>
          <a:xfrm>
            <a:off x="8162543"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2月</a:t>
            </a:r>
          </a:p>
        </p:txBody>
      </p:sp>
      <p:sp>
        <p:nvSpPr>
          <p:cNvPr id="44" name="Rectangle 43"/>
          <p:cNvSpPr/>
          <p:nvPr/>
        </p:nvSpPr>
        <p:spPr>
          <a:xfrm>
            <a:off x="8721090" y="3027809"/>
            <a:ext cx="291236" cy="867534"/>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647938" y="2844929"/>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1,072</a:t>
            </a:r>
          </a:p>
        </p:txBody>
      </p:sp>
      <p:sp>
        <p:nvSpPr>
          <p:cNvPr id="46" name="TextBox 45"/>
          <p:cNvSpPr txBox="1"/>
          <p:nvPr/>
        </p:nvSpPr>
        <p:spPr>
          <a:xfrm>
            <a:off x="8647938"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3月</a:t>
            </a:r>
          </a:p>
        </p:txBody>
      </p:sp>
      <p:sp>
        <p:nvSpPr>
          <p:cNvPr id="47" name="Rectangle 46"/>
          <p:cNvSpPr/>
          <p:nvPr/>
        </p:nvSpPr>
        <p:spPr>
          <a:xfrm>
            <a:off x="9206483" y="3005149"/>
            <a:ext cx="291236" cy="890194"/>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133331" y="2822269"/>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1,100</a:t>
            </a:r>
          </a:p>
        </p:txBody>
      </p:sp>
      <p:sp>
        <p:nvSpPr>
          <p:cNvPr id="49" name="TextBox 48"/>
          <p:cNvSpPr txBox="1"/>
          <p:nvPr/>
        </p:nvSpPr>
        <p:spPr>
          <a:xfrm>
            <a:off x="9133331"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4月</a:t>
            </a:r>
          </a:p>
        </p:txBody>
      </p:sp>
      <p:sp>
        <p:nvSpPr>
          <p:cNvPr id="50" name="Rectangle 49"/>
          <p:cNvSpPr/>
          <p:nvPr/>
        </p:nvSpPr>
        <p:spPr>
          <a:xfrm>
            <a:off x="9691877" y="2688726"/>
            <a:ext cx="291236" cy="1206617"/>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9618725" y="2505846"/>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1,491</a:t>
            </a:r>
          </a:p>
        </p:txBody>
      </p:sp>
      <p:sp>
        <p:nvSpPr>
          <p:cNvPr id="52" name="TextBox 51"/>
          <p:cNvSpPr txBox="1"/>
          <p:nvPr/>
        </p:nvSpPr>
        <p:spPr>
          <a:xfrm>
            <a:off x="9618725"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5月</a:t>
            </a:r>
          </a:p>
        </p:txBody>
      </p:sp>
      <p:sp>
        <p:nvSpPr>
          <p:cNvPr id="53" name="Rectangle 52"/>
          <p:cNvSpPr/>
          <p:nvPr/>
        </p:nvSpPr>
        <p:spPr>
          <a:xfrm>
            <a:off x="4261104" y="3895344"/>
            <a:ext cx="5934455" cy="13716"/>
          </a:xfrm>
          <a:prstGeom prst="rect">
            <a:avLst/>
          </a:prstGeom>
          <a:solidFill>
            <a:srgbClr val="E3E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54" name="Table 53"/>
          <p:cNvGraphicFramePr>
            <a:graphicFrameLocks noGrp="1"/>
          </p:cNvGraphicFramePr>
          <p:nvPr/>
        </p:nvGraphicFramePr>
        <p:xfrm>
          <a:off x="310896" y="4498848"/>
          <a:ext cx="3529580" cy="1179576"/>
        </p:xfrm>
        <a:graphic>
          <a:graphicData uri="http://schemas.openxmlformats.org/drawingml/2006/table">
            <a:tbl>
              <a:tblPr firstRow="0" bandRow="0">
                <a:tableStyleId>{5940675A-B579-460E-94D1-54222C63F5DA}</a:tableStyleId>
              </a:tblPr>
              <a:tblGrid>
                <a:gridCol w="1408175"/>
                <a:gridCol w="704087"/>
                <a:gridCol w="704087"/>
                <a:gridCol w="713231"/>
              </a:tblGrid>
              <a:tr h="228600">
                <a:tc>
                  <a:txBody>
                    <a:bodyPr wrap="square"/>
                    <a:lstStyle/>
                    <a:p>
                      <a:pPr algn="ctr">
                        <a:spcAft>
                          <a:spcPts val="0"/>
                        </a:spcAft>
                      </a:pPr>
                      <a:r>
                        <a:rPr sz="819" b="1">
                          <a:solidFill>
                            <a:srgbClr val="FFFFFF"/>
                          </a:solidFill>
                          <a:latin typeface="游ゴシック"/>
                          <a:ea typeface="游ゴシック"/>
                          <a:cs typeface="游ゴシック"/>
                        </a:rPr>
                        <a:t>区分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37744">
                <a:tc>
                  <a:txBody>
                    <a:bodyPr wrap="square"/>
                    <a:lstStyle/>
                    <a:p>
                      <a:pPr algn="l">
                        <a:spcAft>
                          <a:spcPts val="0"/>
                        </a:spcAft>
                      </a:pPr>
                      <a:r>
                        <a:rPr sz="819" b="0">
                          <a:solidFill>
                            <a:srgbClr val="1A1A1A"/>
                          </a:solidFill>
                          <a:latin typeface="游ゴシック"/>
                          <a:ea typeface="游ゴシック"/>
                          <a:cs typeface="游ゴシック"/>
                        </a:rPr>
                        <a:t>店頭売上高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17,517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16,167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15,099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37744">
                <a:tc>
                  <a:txBody>
                    <a:bodyPr wrap="square"/>
                    <a:lstStyle/>
                    <a:p>
                      <a:pPr algn="l">
                        <a:spcAft>
                          <a:spcPts val="0"/>
                        </a:spcAft>
                      </a:pPr>
                      <a:r>
                        <a:rPr sz="819" b="0">
                          <a:solidFill>
                            <a:srgbClr val="1A1A1A"/>
                          </a:solidFill>
                          <a:latin typeface="游ゴシック"/>
                          <a:ea typeface="游ゴシック"/>
                          <a:cs typeface="游ゴシック"/>
                        </a:rPr>
                        <a:t>関係先向け食材供給</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2,151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3,261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3,323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37744">
                <a:tc>
                  <a:txBody>
                    <a:bodyPr wrap="square"/>
                    <a:lstStyle/>
                    <a:p>
                      <a:pPr algn="l">
                        <a:spcAft>
                          <a:spcPts val="0"/>
                        </a:spcAft>
                      </a:pPr>
                      <a:r>
                        <a:rPr sz="819" b="0">
                          <a:solidFill>
                            <a:srgbClr val="1A1A1A"/>
                          </a:solidFill>
                          <a:latin typeface="游ゴシック"/>
                          <a:ea typeface="游ゴシック"/>
                          <a:cs typeface="游ゴシック"/>
                        </a:rPr>
                        <a:t>営業日数（日）</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203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201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200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37744">
                <a:tc>
                  <a:txBody>
                    <a:bodyPr wrap="square"/>
                    <a:lstStyle/>
                    <a:p>
                      <a:pPr algn="l">
                        <a:spcAft>
                          <a:spcPts val="0"/>
                        </a:spcAft>
                      </a:pPr>
                      <a:r>
                        <a:rPr sz="819" b="1">
                          <a:solidFill>
                            <a:srgbClr val="1A1A1A"/>
                          </a:solidFill>
                          <a:latin typeface="游ゴシック"/>
                          <a:ea typeface="游ゴシック"/>
                          <a:cs typeface="游ゴシック"/>
                        </a:rPr>
                        <a:t>日商平均</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1">
                          <a:solidFill>
                            <a:srgbClr val="1A1A1A"/>
                          </a:solidFill>
                          <a:latin typeface="Arial"/>
                          <a:ea typeface="Arial"/>
                          <a:cs typeface="Arial"/>
                        </a:rPr>
                        <a:t>86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1">
                          <a:solidFill>
                            <a:srgbClr val="1A1A1A"/>
                          </a:solidFill>
                          <a:latin typeface="Arial"/>
                          <a:ea typeface="Arial"/>
                          <a:cs typeface="Arial"/>
                        </a:rPr>
                        <a:t>80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1">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55" name="Rectangle 54"/>
          <p:cNvSpPr/>
          <p:nvPr/>
        </p:nvSpPr>
        <p:spPr>
          <a:xfrm>
            <a:off x="4041648" y="4370832"/>
            <a:ext cx="6336792" cy="2084831"/>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4133087" y="4443984"/>
            <a:ext cx="6153912"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57" name="TextBox 56"/>
          <p:cNvSpPr txBox="1"/>
          <p:nvPr/>
        </p:nvSpPr>
        <p:spPr>
          <a:xfrm>
            <a:off x="4151376" y="4791456"/>
            <a:ext cx="6117336" cy="1572767"/>
          </a:xfrm>
          <a:prstGeom prst="rect">
            <a:avLst/>
          </a:prstGeom>
          <a:noFill/>
        </p:spPr>
        <p:txBody>
          <a:bodyPr wrap="square" lIns="0" rIns="0" tIns="0" bIns="0" anchor="t">
            <a:spAutoFit/>
          </a:bodyPr>
          <a:lstStyle/>
          <a:p>
            <a:pPr algn="l">
              <a:lnSpc>
                <a:spcPct val="118000"/>
              </a:lnSpc>
              <a:spcAft>
                <a:spcPts val="200"/>
              </a:spcAft>
            </a:pPr>
            <a:r>
              <a:rPr sz="830" b="1">
                <a:solidFill>
                  <a:srgbClr val="0889C9"/>
                </a:solidFill>
                <a:latin typeface="游ゴシック"/>
                <a:ea typeface="游ゴシック"/>
                <a:cs typeface="游ゴシック"/>
              </a:rPr>
              <a:t>≪営業日≫ </a:t>
            </a:r>
            <a:r>
              <a:rPr sz="830" b="0">
                <a:solidFill>
                  <a:srgbClr val="1A1A1A"/>
                </a:solidFill>
                <a:latin typeface="游ゴシック"/>
                <a:ea typeface="游ゴシック"/>
                <a:cs typeface="游ゴシック"/>
              </a:rPr>
              <a:t>定休は火・水・木、営業は金・土・日・月の週4日。11:30〜14:30の昼のみで売り切り次第閉店。実績営業日数は203→201→200日とほぼ一定であり、公表されている定休日とも整合する。</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≪季節性≫ </a:t>
            </a:r>
            <a:r>
              <a:rPr sz="830" b="0">
                <a:solidFill>
                  <a:srgbClr val="1A1A1A"/>
                </a:solidFill>
                <a:latin typeface="游ゴシック"/>
                <a:ea typeface="游ゴシック"/>
                <a:cs typeface="游ゴシック"/>
              </a:rPr>
              <a:t>新そばの時期にあたる11月が2,531千円・日商141千円と突出。1月（613千円・日商47千円）が最も低く、繁閑差は約3倍。</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≪日商の低下≫ </a:t>
            </a:r>
            <a:r>
              <a:rPr sz="830" b="0">
                <a:solidFill>
                  <a:srgbClr val="1A1A1A"/>
                </a:solidFill>
                <a:latin typeface="游ゴシック"/>
                <a:ea typeface="游ゴシック"/>
                <a:cs typeface="游ゴシック"/>
              </a:rPr>
              <a:t>店頭日商平均は86→80→75千円と低下傾向。平均予算約3,000円を前提とすると1日あたり約25名と推計され、客数・客単価のいずれが要因かは要確認。</a:t>
            </a:r>
          </a:p>
        </p:txBody>
      </p:sp>
      <p:sp>
        <p:nvSpPr>
          <p:cNvPr id="58" name="TextBox 57"/>
          <p:cNvSpPr txBox="1"/>
          <p:nvPr/>
        </p:nvSpPr>
        <p:spPr>
          <a:xfrm>
            <a:off x="310896" y="6601968"/>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総勘定元帳「飲食店売上高」のうち普通預金・現金への入金明細（摘要「本店売上（月／日）」）を集計したもの。関係先への食材供給分は含まない。</a:t>
            </a:r>
          </a:p>
          <a:p>
            <a:pPr algn="l">
              <a:lnSpc>
                <a:spcPct val="112000"/>
              </a:lnSpc>
              <a:spcAft>
                <a:spcPts val="100"/>
              </a:spcAft>
            </a:pPr>
            <a:r>
              <a:rPr sz="750" b="0">
                <a:solidFill>
                  <a:srgbClr val="5A6670"/>
                </a:solidFill>
                <a:latin typeface="游ゴシック"/>
                <a:ea typeface="游ゴシック"/>
                <a:cs typeface="游ゴシック"/>
              </a:rPr>
              <a:t>※ 2026/5期の店頭売上高合計には、期末に一括計上された5月分現金売上132千円を含む（月次表には含まれない）。平均予算の出所は Japan Brand Collection 2026 茨城版。</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C3BC0-753C-033E-F6BF-1E996308297A}"/>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33F37850-AD52-3D13-0C74-E00196D01FCC}"/>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拠点概要（本店）</a:t>
            </a:r>
          </a:p>
        </p:txBody>
      </p:sp>
      <p:sp>
        <p:nvSpPr>
          <p:cNvPr id="6" name="タイトル 1">
            <a:extLst>
              <a:ext uri="{FF2B5EF4-FFF2-40B4-BE49-F238E27FC236}">
                <a16:creationId xmlns:a16="http://schemas.microsoft.com/office/drawing/2014/main" id="{C94241A7-8BCE-A268-9079-8C5AF9CFCFBF}"/>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組織、拠点、設備等</a:t>
            </a:r>
          </a:p>
        </p:txBody>
      </p:sp>
      <p:sp>
        <p:nvSpPr>
          <p:cNvPr id="9" name="字幕 13">
            <a:extLst>
              <a:ext uri="{FF2B5EF4-FFF2-40B4-BE49-F238E27FC236}">
                <a16:creationId xmlns:a16="http://schemas.microsoft.com/office/drawing/2014/main" id="{B8D00A9D-DB7C-195B-A6F7-0DBDF4FF7287}"/>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代表者が自ら設計し私財を投じて2002年に建築した板倉造・茅葺きの自社店舗。「100〜200年もつ建物」を企図</a:t>
            </a:r>
            <a:endParaRPr lang="en-US" altLang="ja-JP" dirty="0"/>
          </a:p>
        </p:txBody>
      </p:sp>
      <p:sp>
        <p:nvSpPr>
          <p:cNvPr id="14" name="Rectangle 13"/>
          <p:cNvSpPr/>
          <p:nvPr/>
        </p:nvSpPr>
        <p:spPr>
          <a:xfrm>
            <a:off x="310896" y="1517904"/>
            <a:ext cx="4846320"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本店</a:t>
            </a:r>
          </a:p>
        </p:txBody>
      </p:sp>
      <p:graphicFrame>
        <p:nvGraphicFramePr>
          <p:cNvPr id="15" name="Table 14"/>
          <p:cNvGraphicFramePr>
            <a:graphicFrameLocks noGrp="1"/>
          </p:cNvGraphicFramePr>
          <p:nvPr/>
        </p:nvGraphicFramePr>
        <p:xfrm>
          <a:off x="310896" y="1874519"/>
          <a:ext cx="4846320" cy="4210812"/>
        </p:xfrm>
        <a:graphic>
          <a:graphicData uri="http://schemas.openxmlformats.org/drawingml/2006/table">
            <a:tbl>
              <a:tblPr firstRow="0" bandRow="0">
                <a:tableStyleId>{5940675A-B579-460E-94D1-54222C63F5DA}</a:tableStyleId>
              </a:tblPr>
              <a:tblGrid>
                <a:gridCol w="987552"/>
                <a:gridCol w="3858768"/>
              </a:tblGrid>
              <a:tr h="237744">
                <a:tc>
                  <a:txBody>
                    <a:bodyPr wrap="square"/>
                    <a:lstStyle/>
                    <a:p>
                      <a:pPr algn="ctr">
                        <a:spcAft>
                          <a:spcPts val="0"/>
                        </a:spcAft>
                      </a:pPr>
                      <a:r>
                        <a:rPr sz="840" b="1">
                          <a:solidFill>
                            <a:srgbClr val="FFFFFF"/>
                          </a:solidFill>
                          <a:latin typeface="游ゴシック"/>
                          <a:ea typeface="游ゴシック"/>
                          <a:cs typeface="游ゴシック"/>
                        </a:rPr>
                        <a:t>項目</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所在地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茨城県常陸太田市天下野町2162番地（竜神大吊橋の近隣）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建物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木造モルタル造（板倉造・茅葺き屋根）　1階：店舗／2階：代表者住居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設計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この地方に伝わる曲がり家と欧州の田舎家を合わせた意匠。代表者が自ら設計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取得時期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2002年2月（建物本体）</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取得価額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建物 85,704千円、建物附属設備 32,646千円、構築物 1,584千円 ほか 計104,599千円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期末簿価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建物 39,249千円、構築物 43千円（2026年5月期）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土地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自己所有（簿価3,450千円）。店舗敷地および駐車場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客席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土間の待合、板の間、畳敷の座敷（座卓6卓程度）、囲炉裏、縁側デッキ。薪ストーブ2台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営業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金・土・日・月　11:30〜14:30（売り切りじまい）　平均予算 約3,000円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登記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建物は未登記。表題登記・保存登記の実施可否・費用・所要期間は要確認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居住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代表者・配偶者が店舗2階に居住中。明渡しの時期・条件は協議事項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6" name="Rectangle 15"/>
          <p:cNvSpPr/>
          <p:nvPr/>
        </p:nvSpPr>
        <p:spPr>
          <a:xfrm>
            <a:off x="5376672" y="1517904"/>
            <a:ext cx="500176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買手にとっての意味合い</a:t>
            </a:r>
          </a:p>
        </p:txBody>
      </p:sp>
      <p:sp>
        <p:nvSpPr>
          <p:cNvPr id="17" name="Rectangle 16"/>
          <p:cNvSpPr/>
          <p:nvPr/>
        </p:nvSpPr>
        <p:spPr>
          <a:xfrm>
            <a:off x="5376672" y="1874519"/>
            <a:ext cx="5001768" cy="2103120"/>
          </a:xfrm>
          <a:prstGeom prst="rect">
            <a:avLst/>
          </a:prstGeom>
          <a:solidFill>
            <a:srgbClr val="F7FAFC"/>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504688" y="1984248"/>
            <a:ext cx="4745736" cy="1901952"/>
          </a:xfrm>
          <a:prstGeom prst="rect">
            <a:avLst/>
          </a:prstGeom>
          <a:noFill/>
        </p:spPr>
        <p:txBody>
          <a:bodyPr wrap="square" lIns="0" rIns="0" tIns="0" bIns="0" anchor="t">
            <a:spAutoFit/>
          </a:bodyPr>
          <a:lstStyle/>
          <a:p>
            <a:pPr algn="l">
              <a:lnSpc>
                <a:spcPct val="118000"/>
              </a:lnSpc>
              <a:spcAft>
                <a:spcPts val="200"/>
              </a:spcAft>
            </a:pPr>
            <a:r>
              <a:rPr sz="860" b="1">
                <a:solidFill>
                  <a:srgbClr val="0889C9"/>
                </a:solidFill>
                <a:latin typeface="游ゴシック"/>
                <a:ea typeface="游ゴシック"/>
                <a:cs typeface="游ゴシック"/>
              </a:rPr>
              <a:t>店舗そのものがブランドの一部　</a:t>
            </a:r>
            <a:r>
              <a:rPr sz="860" b="0">
                <a:solidFill>
                  <a:srgbClr val="1A1A1A"/>
                </a:solidFill>
                <a:latin typeface="游ゴシック"/>
                <a:ea typeface="游ゴシック"/>
                <a:cs typeface="游ゴシック"/>
              </a:rPr>
              <a:t>茅葺き・板倉造の建物と里山の景観は「慈久庵」の体験価値を構成する要素であり、同等の店舗を新規に建築することは事実上困難。</a:t>
            </a:r>
          </a:p>
          <a:p>
            <a:pPr algn="l">
              <a:lnSpc>
                <a:spcPct val="118000"/>
              </a:lnSpc>
              <a:spcAft>
                <a:spcPts val="200"/>
              </a:spcAft>
            </a:pPr>
            <a:r>
              <a:rPr sz="860" b="1">
                <a:solidFill>
                  <a:srgbClr val="0889C9"/>
                </a:solidFill>
                <a:latin typeface="游ゴシック"/>
                <a:ea typeface="游ゴシック"/>
                <a:cs typeface="游ゴシック"/>
              </a:rPr>
              <a:t>賃料負担がない　</a:t>
            </a:r>
            <a:r>
              <a:rPr sz="860" b="0">
                <a:solidFill>
                  <a:srgbClr val="1A1A1A"/>
                </a:solidFill>
                <a:latin typeface="游ゴシック"/>
                <a:ea typeface="游ゴシック"/>
                <a:cs typeface="游ゴシック"/>
              </a:rPr>
              <a:t>土地・建物とも自己所有で地代家賃の計上はない。固定費は水道光熱費1,490千円・租税公課1,137千円等が中心。</a:t>
            </a:r>
          </a:p>
          <a:p>
            <a:pPr algn="l">
              <a:lnSpc>
                <a:spcPct val="118000"/>
              </a:lnSpc>
              <a:spcAft>
                <a:spcPts val="200"/>
              </a:spcAft>
            </a:pPr>
            <a:r>
              <a:rPr sz="860" b="1">
                <a:solidFill>
                  <a:srgbClr val="0889C9"/>
                </a:solidFill>
                <a:latin typeface="游ゴシック"/>
                <a:ea typeface="游ゴシック"/>
                <a:cs typeface="游ゴシック"/>
              </a:rPr>
              <a:t>一方で　</a:t>
            </a:r>
            <a:r>
              <a:rPr sz="860" b="0">
                <a:solidFill>
                  <a:srgbClr val="1A1A1A"/>
                </a:solidFill>
                <a:latin typeface="游ゴシック"/>
                <a:ea typeface="游ゴシック"/>
                <a:cs typeface="游ゴシック"/>
              </a:rPr>
              <a:t>建物が未登記であること、代表者夫妻が2階に居住していることは、本件実行前に整理が必要な事項。</a:t>
            </a:r>
          </a:p>
        </p:txBody>
      </p:sp>
      <p:sp>
        <p:nvSpPr>
          <p:cNvPr id="19" name="Rectangle 18"/>
          <p:cNvSpPr/>
          <p:nvPr/>
        </p:nvSpPr>
        <p:spPr>
          <a:xfrm>
            <a:off x="5376672" y="4133087"/>
            <a:ext cx="500176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減価償却資産の構成（2026/5期）</a:t>
            </a:r>
          </a:p>
        </p:txBody>
      </p:sp>
      <p:graphicFrame>
        <p:nvGraphicFramePr>
          <p:cNvPr id="20" name="Table 19"/>
          <p:cNvGraphicFramePr>
            <a:graphicFrameLocks noGrp="1"/>
          </p:cNvGraphicFramePr>
          <p:nvPr/>
        </p:nvGraphicFramePr>
        <p:xfrm>
          <a:off x="5376672" y="4489704"/>
          <a:ext cx="5001768" cy="2022651"/>
        </p:xfrm>
        <a:graphic>
          <a:graphicData uri="http://schemas.openxmlformats.org/drawingml/2006/table">
            <a:tbl>
              <a:tblPr firstRow="0" bandRow="0">
                <a:tableStyleId>{5940675A-B579-460E-94D1-54222C63F5DA}</a:tableStyleId>
              </a:tblPr>
              <a:tblGrid>
                <a:gridCol w="2441448"/>
                <a:gridCol w="1280160"/>
                <a:gridCol w="1280160"/>
              </a:tblGrid>
              <a:tr h="228600">
                <a:tc>
                  <a:txBody>
                    <a:bodyPr wrap="square"/>
                    <a:lstStyle/>
                    <a:p>
                      <a:pPr algn="ctr">
                        <a:spcAft>
                          <a:spcPts val="0"/>
                        </a:spcAft>
                      </a:pPr>
                      <a:r>
                        <a:rPr sz="84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取得価額</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期末簿価</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0">
                          <a:solidFill>
                            <a:srgbClr val="1A1A1A"/>
                          </a:solidFill>
                          <a:latin typeface="游ゴシック"/>
                          <a:ea typeface="游ゴシック"/>
                          <a:cs typeface="游ゴシック"/>
                        </a:rPr>
                        <a:t>建物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104,599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33,405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0">
                          <a:solidFill>
                            <a:srgbClr val="1A1A1A"/>
                          </a:solidFill>
                          <a:latin typeface="游ゴシック"/>
                          <a:ea typeface="游ゴシック"/>
                          <a:cs typeface="游ゴシック"/>
                        </a:rPr>
                        <a:t>建物附属設備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32,646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6,373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0">
                          <a:solidFill>
                            <a:srgbClr val="1A1A1A"/>
                          </a:solidFill>
                          <a:latin typeface="游ゴシック"/>
                          <a:ea typeface="游ゴシック"/>
                          <a:cs typeface="游ゴシック"/>
                        </a:rPr>
                        <a:t>構築物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1,584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6,256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4,219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0">
                          <a:solidFill>
                            <a:srgbClr val="1A1A1A"/>
                          </a:solidFill>
                          <a:latin typeface="游ゴシック"/>
                          <a:ea typeface="游ゴシック"/>
                          <a:cs typeface="游ゴシック"/>
                        </a:rPr>
                        <a:t>車両及び運搬具</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7,299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0">
                          <a:solidFill>
                            <a:srgbClr val="1A1A1A"/>
                          </a:solidFill>
                          <a:latin typeface="游ゴシック"/>
                          <a:ea typeface="游ゴシック"/>
                          <a:cs typeface="游ゴシック"/>
                        </a:rPr>
                        <a:t>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23,956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1,677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0">
                          <a:solidFill>
                            <a:srgbClr val="1A1A1A"/>
                          </a:solidFill>
                          <a:latin typeface="游ゴシック"/>
                          <a:ea typeface="游ゴシック"/>
                          <a:cs typeface="游ゴシック"/>
                        </a:rPr>
                        <a:t>商標権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703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0">
                          <a:solidFill>
                            <a:srgbClr val="1A1A1A"/>
                          </a:solidFill>
                          <a:latin typeface="游ゴシック"/>
                          <a:ea typeface="游ゴシック"/>
                          <a:cs typeface="游ゴシック"/>
                        </a:rPr>
                        <a:t>ソフトウェア</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3,667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1">
                          <a:solidFill>
                            <a:srgbClr val="1A1A1A"/>
                          </a:solidFill>
                          <a:latin typeface="游ゴシック"/>
                          <a:ea typeface="游ゴシック"/>
                          <a:cs typeface="游ゴシック"/>
                        </a:rPr>
                        <a:t>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1">
                          <a:solidFill>
                            <a:srgbClr val="1A1A1A"/>
                          </a:solidFill>
                          <a:latin typeface="Arial"/>
                          <a:ea typeface="Arial"/>
                          <a:cs typeface="Arial"/>
                        </a:rPr>
                        <a:t>180,709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1">
                          <a:solidFill>
                            <a:srgbClr val="1A1A1A"/>
                          </a:solidFill>
                          <a:latin typeface="Arial"/>
                          <a:ea typeface="Arial"/>
                          <a:cs typeface="Arial"/>
                        </a:rPr>
                        <a:t>45,716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21" name="TextBox 20"/>
          <p:cNvSpPr txBox="1"/>
          <p:nvPr/>
        </p:nvSpPr>
        <p:spPr>
          <a:xfrm>
            <a:off x="310896" y="6620256"/>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固定資産減価償却内訳明細書（2026年5月期）に基づく。建物の取得価額には塩町館に係る改造工事16,744千円（期末簿価5,442千円）を含む。</a:t>
            </a:r>
          </a:p>
          <a:p>
            <a:pPr algn="l">
              <a:lnSpc>
                <a:spcPct val="112000"/>
              </a:lnSpc>
              <a:spcAft>
                <a:spcPts val="100"/>
              </a:spcAft>
            </a:pPr>
            <a:r>
              <a:rPr sz="750" b="0">
                <a:solidFill>
                  <a:srgbClr val="5A6670"/>
                </a:solidFill>
                <a:latin typeface="游ゴシック"/>
                <a:ea typeface="游ゴシック"/>
                <a:cs typeface="游ゴシック"/>
              </a:rPr>
              <a:t>※ 土地・建物の面積は公簿・実測とも資料未受領のため記載していない（要確認）。路線価等による時価評価も未実施。</a:t>
            </a:r>
          </a:p>
        </p:txBody>
      </p:sp>
    </p:spTree>
    <p:extLst>
      <p:ext uri="{BB962C8B-B14F-4D97-AF65-F5344CB8AC3E}">
        <p14:creationId xmlns:p14="http://schemas.microsoft.com/office/powerpoint/2010/main" val="6307501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12D40-6E48-E93D-4FC9-F10D333C1CB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F9793F7-DC5F-E269-D0AF-CEA1591E82A7}"/>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拠点概要（厨房・製造設備）</a:t>
            </a:r>
          </a:p>
        </p:txBody>
      </p:sp>
      <p:sp>
        <p:nvSpPr>
          <p:cNvPr id="6" name="タイトル 1">
            <a:extLst>
              <a:ext uri="{FF2B5EF4-FFF2-40B4-BE49-F238E27FC236}">
                <a16:creationId xmlns:a16="http://schemas.microsoft.com/office/drawing/2014/main" id="{541F4B75-7B8F-E770-E8BD-648B0D9A1125}"/>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組織、拠点、設備等</a:t>
            </a:r>
          </a:p>
        </p:txBody>
      </p:sp>
      <p:sp>
        <p:nvSpPr>
          <p:cNvPr id="9" name="字幕 13">
            <a:extLst>
              <a:ext uri="{FF2B5EF4-FFF2-40B4-BE49-F238E27FC236}">
                <a16:creationId xmlns:a16="http://schemas.microsoft.com/office/drawing/2014/main" id="{C67BBAB2-F39C-2CF9-AEE1-8D09DEE08EBD}"/>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ワンオペを前提としつつも、業務用厨房・冷蔵設備・製粉設備は複数店舗分の仕込みに耐える構成</a:t>
            </a:r>
            <a:endParaRPr lang="en-US" altLang="ja-JP" dirty="0"/>
          </a:p>
        </p:txBody>
      </p:sp>
      <p:pic>
        <p:nvPicPr>
          <p:cNvPr id="14" name="Picture 13" descr="厨房01.jpg"/>
          <p:cNvPicPr>
            <a:picLocks noChangeAspect="1"/>
          </p:cNvPicPr>
          <p:nvPr/>
        </p:nvPicPr>
        <p:blipFill>
          <a:blip r:embed="rId3"/>
          <a:stretch>
            <a:fillRect/>
          </a:stretch>
        </p:blipFill>
        <p:spPr>
          <a:xfrm>
            <a:off x="310896" y="1481328"/>
            <a:ext cx="3145536" cy="2359152"/>
          </a:xfrm>
          <a:prstGeom prst="rect">
            <a:avLst/>
          </a:prstGeom>
          <a:ln w="9525">
            <a:solidFill>
              <a:srgbClr val="E3E7E9"/>
            </a:solidFill>
          </a:ln>
        </p:spPr>
      </p:pic>
      <p:sp>
        <p:nvSpPr>
          <p:cNvPr id="15" name="TextBox 14"/>
          <p:cNvSpPr txBox="1"/>
          <p:nvPr/>
        </p:nvSpPr>
        <p:spPr>
          <a:xfrm>
            <a:off x="310896" y="3877056"/>
            <a:ext cx="3145536" cy="182880"/>
          </a:xfrm>
          <a:prstGeom prst="rect">
            <a:avLst/>
          </a:prstGeom>
          <a:noFill/>
        </p:spPr>
        <p:txBody>
          <a:bodyPr wrap="square" lIns="0" rIns="0" tIns="0" bIns="0" anchor="t">
            <a:spAutoFit/>
          </a:bodyPr>
          <a:lstStyle/>
          <a:p>
            <a:pPr algn="l">
              <a:spcAft>
                <a:spcPts val="0"/>
              </a:spcAft>
            </a:pPr>
            <a:r>
              <a:rPr sz="800" b="0">
                <a:solidFill>
                  <a:srgbClr val="5A6670"/>
                </a:solidFill>
                <a:latin typeface="游ゴシック"/>
                <a:ea typeface="游ゴシック"/>
                <a:cs typeface="游ゴシック"/>
              </a:rPr>
              <a:t>調理場（業務用ガスコンロ・五徳鍋）</a:t>
            </a:r>
          </a:p>
        </p:txBody>
      </p:sp>
      <p:pic>
        <p:nvPicPr>
          <p:cNvPr id="16" name="Picture 15" descr="厨房03.jpg"/>
          <p:cNvPicPr>
            <a:picLocks noChangeAspect="1"/>
          </p:cNvPicPr>
          <p:nvPr/>
        </p:nvPicPr>
        <p:blipFill>
          <a:blip r:embed="rId4"/>
          <a:stretch>
            <a:fillRect/>
          </a:stretch>
        </p:blipFill>
        <p:spPr>
          <a:xfrm>
            <a:off x="3602736" y="1481328"/>
            <a:ext cx="3145536" cy="2359152"/>
          </a:xfrm>
          <a:prstGeom prst="rect">
            <a:avLst/>
          </a:prstGeom>
          <a:ln w="9525">
            <a:solidFill>
              <a:srgbClr val="E3E7E9"/>
            </a:solidFill>
          </a:ln>
        </p:spPr>
      </p:pic>
      <p:sp>
        <p:nvSpPr>
          <p:cNvPr id="17" name="TextBox 16"/>
          <p:cNvSpPr txBox="1"/>
          <p:nvPr/>
        </p:nvSpPr>
        <p:spPr>
          <a:xfrm>
            <a:off x="3602736" y="3877056"/>
            <a:ext cx="3145536" cy="182880"/>
          </a:xfrm>
          <a:prstGeom prst="rect">
            <a:avLst/>
          </a:prstGeom>
          <a:noFill/>
        </p:spPr>
        <p:txBody>
          <a:bodyPr wrap="square" lIns="0" rIns="0" tIns="0" bIns="0" anchor="t">
            <a:spAutoFit/>
          </a:bodyPr>
          <a:lstStyle/>
          <a:p>
            <a:pPr algn="l">
              <a:spcAft>
                <a:spcPts val="0"/>
              </a:spcAft>
            </a:pPr>
            <a:r>
              <a:rPr sz="800" b="0">
                <a:solidFill>
                  <a:srgbClr val="5A6670"/>
                </a:solidFill>
                <a:latin typeface="游ゴシック"/>
                <a:ea typeface="游ゴシック"/>
                <a:cs typeface="游ゴシック"/>
              </a:rPr>
              <a:t>洗い場・食器洗浄機</a:t>
            </a:r>
          </a:p>
        </p:txBody>
      </p:sp>
      <p:pic>
        <p:nvPicPr>
          <p:cNvPr id="18" name="Picture 17" descr="厨房05.jpg"/>
          <p:cNvPicPr>
            <a:picLocks noChangeAspect="1"/>
          </p:cNvPicPr>
          <p:nvPr/>
        </p:nvPicPr>
        <p:blipFill>
          <a:blip r:embed="rId5"/>
          <a:stretch>
            <a:fillRect/>
          </a:stretch>
        </p:blipFill>
        <p:spPr>
          <a:xfrm>
            <a:off x="6894576" y="1481328"/>
            <a:ext cx="3145536" cy="2359152"/>
          </a:xfrm>
          <a:prstGeom prst="rect">
            <a:avLst/>
          </a:prstGeom>
          <a:ln w="9525">
            <a:solidFill>
              <a:srgbClr val="E3E7E9"/>
            </a:solidFill>
          </a:ln>
        </p:spPr>
      </p:pic>
      <p:sp>
        <p:nvSpPr>
          <p:cNvPr id="19" name="TextBox 18"/>
          <p:cNvSpPr txBox="1"/>
          <p:nvPr/>
        </p:nvSpPr>
        <p:spPr>
          <a:xfrm>
            <a:off x="6894576" y="3877056"/>
            <a:ext cx="3145536" cy="182880"/>
          </a:xfrm>
          <a:prstGeom prst="rect">
            <a:avLst/>
          </a:prstGeom>
          <a:noFill/>
        </p:spPr>
        <p:txBody>
          <a:bodyPr wrap="square" lIns="0" rIns="0" tIns="0" bIns="0" anchor="t">
            <a:spAutoFit/>
          </a:bodyPr>
          <a:lstStyle/>
          <a:p>
            <a:pPr algn="l">
              <a:spcAft>
                <a:spcPts val="0"/>
              </a:spcAft>
            </a:pPr>
            <a:r>
              <a:rPr sz="800" b="0">
                <a:solidFill>
                  <a:srgbClr val="5A6670"/>
                </a:solidFill>
                <a:latin typeface="游ゴシック"/>
                <a:ea typeface="游ゴシック"/>
                <a:cs typeface="游ゴシック"/>
              </a:rPr>
              <a:t>焼き台・食器棚</a:t>
            </a:r>
          </a:p>
        </p:txBody>
      </p:sp>
      <p:pic>
        <p:nvPicPr>
          <p:cNvPr id="20" name="Picture 19" descr="厨房04.jpg"/>
          <p:cNvPicPr>
            <a:picLocks noChangeAspect="1"/>
          </p:cNvPicPr>
          <p:nvPr/>
        </p:nvPicPr>
        <p:blipFill>
          <a:blip r:embed="rId6"/>
          <a:srcRect t="9302" b="9302"/>
          <a:stretch>
            <a:fillRect/>
          </a:stretch>
        </p:blipFill>
        <p:spPr>
          <a:xfrm>
            <a:off x="310896" y="4133087"/>
            <a:ext cx="3145536" cy="1920240"/>
          </a:xfrm>
          <a:prstGeom prst="rect">
            <a:avLst/>
          </a:prstGeom>
          <a:ln w="9525">
            <a:solidFill>
              <a:srgbClr val="E3E7E9"/>
            </a:solidFill>
          </a:ln>
        </p:spPr>
      </p:pic>
      <p:sp>
        <p:nvSpPr>
          <p:cNvPr id="21" name="TextBox 20"/>
          <p:cNvSpPr txBox="1"/>
          <p:nvPr/>
        </p:nvSpPr>
        <p:spPr>
          <a:xfrm>
            <a:off x="310896" y="6089903"/>
            <a:ext cx="3145536" cy="182880"/>
          </a:xfrm>
          <a:prstGeom prst="rect">
            <a:avLst/>
          </a:prstGeom>
          <a:noFill/>
        </p:spPr>
        <p:txBody>
          <a:bodyPr wrap="square" lIns="0" rIns="0" tIns="0" bIns="0" anchor="t">
            <a:spAutoFit/>
          </a:bodyPr>
          <a:lstStyle/>
          <a:p>
            <a:pPr algn="l">
              <a:spcAft>
                <a:spcPts val="0"/>
              </a:spcAft>
            </a:pPr>
            <a:r>
              <a:rPr sz="800" b="0">
                <a:solidFill>
                  <a:srgbClr val="5A6670"/>
                </a:solidFill>
                <a:latin typeface="游ゴシック"/>
                <a:ea typeface="游ゴシック"/>
                <a:cs typeface="游ゴシック"/>
              </a:rPr>
              <a:t>釜場（茹で釜・ゆで麺機）</a:t>
            </a:r>
          </a:p>
        </p:txBody>
      </p:sp>
      <p:pic>
        <p:nvPicPr>
          <p:cNvPr id="22" name="Picture 21" descr="厨房02.jpg"/>
          <p:cNvPicPr>
            <a:picLocks noChangeAspect="1"/>
          </p:cNvPicPr>
          <p:nvPr/>
        </p:nvPicPr>
        <p:blipFill>
          <a:blip r:embed="rId7"/>
          <a:srcRect t="9615" b="9615"/>
          <a:stretch>
            <a:fillRect/>
          </a:stretch>
        </p:blipFill>
        <p:spPr>
          <a:xfrm>
            <a:off x="3602736" y="4133087"/>
            <a:ext cx="1783080" cy="1920240"/>
          </a:xfrm>
          <a:prstGeom prst="rect">
            <a:avLst/>
          </a:prstGeom>
          <a:ln w="9525">
            <a:solidFill>
              <a:srgbClr val="E3E7E9"/>
            </a:solidFill>
          </a:ln>
        </p:spPr>
      </p:pic>
      <p:sp>
        <p:nvSpPr>
          <p:cNvPr id="23" name="TextBox 22"/>
          <p:cNvSpPr txBox="1"/>
          <p:nvPr/>
        </p:nvSpPr>
        <p:spPr>
          <a:xfrm>
            <a:off x="3602736" y="6089903"/>
            <a:ext cx="1783080" cy="182880"/>
          </a:xfrm>
          <a:prstGeom prst="rect">
            <a:avLst/>
          </a:prstGeom>
          <a:noFill/>
        </p:spPr>
        <p:txBody>
          <a:bodyPr wrap="square" lIns="0" rIns="0" tIns="0" bIns="0" anchor="t">
            <a:spAutoFit/>
          </a:bodyPr>
          <a:lstStyle/>
          <a:p>
            <a:pPr algn="l">
              <a:spcAft>
                <a:spcPts val="0"/>
              </a:spcAft>
            </a:pPr>
            <a:r>
              <a:rPr sz="800" b="0">
                <a:solidFill>
                  <a:srgbClr val="5A6670"/>
                </a:solidFill>
                <a:latin typeface="游ゴシック"/>
                <a:ea typeface="游ゴシック"/>
                <a:cs typeface="游ゴシック"/>
              </a:rPr>
              <a:t>業務用冷蔵庫（6ドア＋縦型）</a:t>
            </a:r>
          </a:p>
        </p:txBody>
      </p:sp>
      <p:sp>
        <p:nvSpPr>
          <p:cNvPr id="24" name="Rectangle 23"/>
          <p:cNvSpPr/>
          <p:nvPr/>
        </p:nvSpPr>
        <p:spPr>
          <a:xfrm>
            <a:off x="5577840" y="4133087"/>
            <a:ext cx="4800600"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100" b="1">
                <a:solidFill>
                  <a:srgbClr val="FFFFFF"/>
                </a:solidFill>
                <a:latin typeface="游ゴシック"/>
                <a:ea typeface="游ゴシック"/>
                <a:cs typeface="游ゴシック"/>
              </a:rPr>
              <a:t>現地実査で確認できた主な設備</a:t>
            </a:r>
          </a:p>
        </p:txBody>
      </p:sp>
      <p:sp>
        <p:nvSpPr>
          <p:cNvPr id="25" name="Rectangle 24"/>
          <p:cNvSpPr/>
          <p:nvPr/>
        </p:nvSpPr>
        <p:spPr>
          <a:xfrm>
            <a:off x="5577840" y="4489704"/>
            <a:ext cx="4800600" cy="1691640"/>
          </a:xfrm>
          <a:prstGeom prst="rect">
            <a:avLst/>
          </a:prstGeom>
          <a:solidFill>
            <a:srgbClr val="F7FAFC"/>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705856" y="4599432"/>
            <a:ext cx="4544568" cy="1472184"/>
          </a:xfrm>
          <a:prstGeom prst="rect">
            <a:avLst/>
          </a:prstGeom>
          <a:noFill/>
        </p:spPr>
        <p:txBody>
          <a:bodyPr wrap="square" lIns="0" rIns="0" tIns="0" bIns="0" anchor="t">
            <a:spAutoFit/>
          </a:bodyPr>
          <a:lstStyle/>
          <a:p>
            <a:pPr algn="l">
              <a:lnSpc>
                <a:spcPct val="116000"/>
              </a:lnSpc>
              <a:spcAft>
                <a:spcPts val="100"/>
              </a:spcAft>
            </a:pPr>
            <a:r>
              <a:rPr sz="819" b="0">
                <a:solidFill>
                  <a:srgbClr val="1A1A1A"/>
                </a:solidFill>
                <a:latin typeface="游ゴシック"/>
                <a:ea typeface="游ゴシック"/>
                <a:cs typeface="游ゴシック"/>
              </a:rPr>
              <a:t>■ 厨房：業務用ガスコンロ（maruzen）複数、茹で釜・ゆで麺機、焼き台、換気フード、</a:t>
            </a:r>
          </a:p>
          <a:p>
            <a:pPr algn="l">
              <a:lnSpc>
                <a:spcPct val="116000"/>
              </a:lnSpc>
              <a:spcAft>
                <a:spcPts val="100"/>
              </a:spcAft>
            </a:pPr>
            <a:r>
              <a:rPr sz="819" b="0">
                <a:solidFill>
                  <a:srgbClr val="1A1A1A"/>
                </a:solidFill>
                <a:latin typeface="游ゴシック"/>
                <a:ea typeface="游ゴシック"/>
                <a:cs typeface="游ゴシック"/>
              </a:rPr>
              <a:t>　　　　食器洗浄機（SMART A5）、三槽シンク</a:t>
            </a:r>
          </a:p>
          <a:p>
            <a:pPr algn="l">
              <a:lnSpc>
                <a:spcPct val="116000"/>
              </a:lnSpc>
              <a:spcAft>
                <a:spcPts val="100"/>
              </a:spcAft>
            </a:pPr>
            <a:r>
              <a:rPr sz="819" b="0">
                <a:solidFill>
                  <a:srgbClr val="1A1A1A"/>
                </a:solidFill>
                <a:latin typeface="游ゴシック"/>
                <a:ea typeface="游ゴシック"/>
                <a:cs typeface="游ゴシック"/>
              </a:rPr>
              <a:t>■ 冷蔵：業務用冷蔵庫（ホシザキ 6ドア＋縦型）、冷蔵ショーケース、冷蔵ユニット2基</a:t>
            </a:r>
          </a:p>
          <a:p>
            <a:pPr algn="l">
              <a:lnSpc>
                <a:spcPct val="116000"/>
              </a:lnSpc>
              <a:spcAft>
                <a:spcPts val="100"/>
              </a:spcAft>
            </a:pPr>
            <a:r>
              <a:rPr sz="819" b="0">
                <a:solidFill>
                  <a:srgbClr val="1A1A1A"/>
                </a:solidFill>
                <a:latin typeface="游ゴシック"/>
                <a:ea typeface="游ゴシック"/>
                <a:cs typeface="游ゴシック"/>
              </a:rPr>
              <a:t>■ 製粉：電動石臼製粉機、木製石臼製粉機、二連式石臼製粉機、小麦製粉機、大理石作業台</a:t>
            </a:r>
          </a:p>
          <a:p>
            <a:pPr algn="l">
              <a:lnSpc>
                <a:spcPct val="116000"/>
              </a:lnSpc>
              <a:spcAft>
                <a:spcPts val="100"/>
              </a:spcAft>
            </a:pPr>
            <a:r>
              <a:rPr sz="819" b="0">
                <a:solidFill>
                  <a:srgbClr val="1A1A1A"/>
                </a:solidFill>
                <a:latin typeface="游ゴシック"/>
                <a:ea typeface="游ゴシック"/>
                <a:cs typeface="游ゴシック"/>
              </a:rPr>
              <a:t>■ そば打ち場：木製そば打ち台2台、朱塗りこね鉢、そば包丁3丁、こま板、専用シンク</a:t>
            </a:r>
          </a:p>
          <a:p>
            <a:pPr algn="l">
              <a:lnSpc>
                <a:spcPct val="116000"/>
              </a:lnSpc>
              <a:spcAft>
                <a:spcPts val="100"/>
              </a:spcAft>
            </a:pPr>
            <a:r>
              <a:rPr sz="819" b="0">
                <a:solidFill>
                  <a:srgbClr val="1A1A1A"/>
                </a:solidFill>
                <a:latin typeface="游ゴシック"/>
                <a:ea typeface="游ゴシック"/>
                <a:cs typeface="游ゴシック"/>
              </a:rPr>
              <a:t>■ 保管：玄そば定温保管庫（冷却ユニット付・木造断熱仕様）</a:t>
            </a:r>
          </a:p>
          <a:p>
            <a:pPr algn="l">
              <a:lnSpc>
                <a:spcPct val="116000"/>
              </a:lnSpc>
              <a:spcAft>
                <a:spcPts val="100"/>
              </a:spcAft>
            </a:pPr>
            <a:r>
              <a:rPr sz="819" b="0">
                <a:solidFill>
                  <a:srgbClr val="1A1A1A"/>
                </a:solidFill>
                <a:latin typeface="游ゴシック"/>
                <a:ea typeface="游ゴシック"/>
                <a:cs typeface="游ゴシック"/>
              </a:rPr>
              <a:t>■ 客席：座敷（座卓6卓程度）・囲炉裏・縁側デッキ、薪ストーブ2台</a:t>
            </a:r>
          </a:p>
        </p:txBody>
      </p:sp>
      <p:sp>
        <p:nvSpPr>
          <p:cNvPr id="27" name="TextBox 26"/>
          <p:cNvSpPr txBox="1"/>
          <p:nvPr/>
        </p:nvSpPr>
        <p:spPr>
          <a:xfrm>
            <a:off x="310896" y="630936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写真は現地実査時に撮影したもの。設備の稼働状況・更新履歴・保守契約の有無は要確認。</a:t>
            </a:r>
          </a:p>
        </p:txBody>
      </p:sp>
    </p:spTree>
    <p:extLst>
      <p:ext uri="{BB962C8B-B14F-4D97-AF65-F5344CB8AC3E}">
        <p14:creationId xmlns:p14="http://schemas.microsoft.com/office/powerpoint/2010/main" val="370727506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6CA44-E527-07A7-EABE-FD69A9CC275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676FF1C4-EA62-3485-4D28-7C17FD9DDA7D}"/>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不動産詳細</a:t>
            </a:r>
          </a:p>
        </p:txBody>
      </p:sp>
      <p:sp>
        <p:nvSpPr>
          <p:cNvPr id="4" name="タイトル 1">
            <a:extLst>
              <a:ext uri="{FF2B5EF4-FFF2-40B4-BE49-F238E27FC236}">
                <a16:creationId xmlns:a16="http://schemas.microsoft.com/office/drawing/2014/main" id="{DAA41D5B-A131-C808-ADF3-2DAFD20777F6}"/>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組織、拠点、設備等</a:t>
            </a:r>
          </a:p>
        </p:txBody>
      </p:sp>
      <p:sp>
        <p:nvSpPr>
          <p:cNvPr id="8" name="字幕 13">
            <a:extLst>
              <a:ext uri="{FF2B5EF4-FFF2-40B4-BE49-F238E27FC236}">
                <a16:creationId xmlns:a16="http://schemas.microsoft.com/office/drawing/2014/main" id="{A751CA4D-CB14-CD08-826F-75C234B5BA9A}"/>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事業用不動産は全て自己所有で賃借はなし。ただし店舗建物は未登記であり、本件実行前に権利関係の整備が必要</a:t>
            </a:r>
            <a:endParaRPr lang="en-US" altLang="ja-JP" dirty="0"/>
          </a:p>
        </p:txBody>
      </p:sp>
      <p:sp>
        <p:nvSpPr>
          <p:cNvPr id="14" name="Rectangle 13"/>
          <p:cNvSpPr/>
          <p:nvPr/>
        </p:nvSpPr>
        <p:spPr>
          <a:xfrm>
            <a:off x="310896" y="1517904"/>
            <a:ext cx="148132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400" b="1">
                <a:solidFill>
                  <a:srgbClr val="FFFFFF"/>
                </a:solidFill>
                <a:latin typeface="游ゴシック"/>
                <a:ea typeface="游ゴシック"/>
                <a:cs typeface="游ゴシック"/>
              </a:rPr>
              <a:t>所有</a:t>
            </a:r>
          </a:p>
        </p:txBody>
      </p:sp>
      <p:graphicFrame>
        <p:nvGraphicFramePr>
          <p:cNvPr id="15" name="Table 14"/>
          <p:cNvGraphicFramePr>
            <a:graphicFrameLocks noGrp="1"/>
          </p:cNvGraphicFramePr>
          <p:nvPr/>
        </p:nvGraphicFramePr>
        <p:xfrm>
          <a:off x="310896" y="1874519"/>
          <a:ext cx="10067539" cy="2359152"/>
        </p:xfrm>
        <a:graphic>
          <a:graphicData uri="http://schemas.openxmlformats.org/drawingml/2006/table">
            <a:tbl>
              <a:tblPr firstRow="0" bandRow="0">
                <a:tableStyleId>{5940675A-B579-460E-94D1-54222C63F5DA}</a:tableStyleId>
              </a:tblPr>
              <a:tblGrid>
                <a:gridCol w="289945"/>
                <a:gridCol w="1433618"/>
                <a:gridCol w="1079240"/>
                <a:gridCol w="1449726"/>
                <a:gridCol w="499350"/>
                <a:gridCol w="1030916"/>
                <a:gridCol w="628214"/>
                <a:gridCol w="628214"/>
                <a:gridCol w="1095348"/>
                <a:gridCol w="1932968"/>
              </a:tblGrid>
              <a:tr h="256032">
                <a:tc>
                  <a:txBody>
                    <a:bodyPr wrap="square"/>
                    <a:lstStyle/>
                    <a:p>
                      <a:pPr algn="ctr">
                        <a:spcAft>
                          <a:spcPts val="0"/>
                        </a:spcAft>
                      </a:pPr>
                      <a:r>
                        <a:rPr sz="780" b="1">
                          <a:solidFill>
                            <a:srgbClr val="FFFFFF"/>
                          </a:solidFill>
                          <a:latin typeface="游ゴシック"/>
                          <a:ea typeface="游ゴシック"/>
                          <a:cs typeface="游ゴシック"/>
                        </a:rPr>
                        <a:t>No.</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所在</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種類</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構造</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面積</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取得年月</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取得価額</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期末簿価</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用途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備考</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20624">
                <a:tc>
                  <a:txBody>
                    <a:bodyPr wrap="square"/>
                    <a:lstStyle/>
                    <a:p>
                      <a:pPr algn="ctr">
                        <a:spcAft>
                          <a:spcPts val="0"/>
                        </a:spcAft>
                      </a:pPr>
                      <a:r>
                        <a:rPr sz="780"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常陸太田市天下野町2162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土地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3,450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3,450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店舗敷地・駐車場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路線価・固定資産税評価額による時価評価は未実施</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20624">
                <a:tc>
                  <a:txBody>
                    <a:bodyPr wrap="square"/>
                    <a:lstStyle/>
                    <a:p>
                      <a:pPr algn="ctr">
                        <a:spcAft>
                          <a:spcPts val="0"/>
                        </a:spcAft>
                      </a:pPr>
                      <a:r>
                        <a:rPr sz="780"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同上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建物（店舗兼住居）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木造モルタル造（板倉造・茅葺き）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2002年2月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85,704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27,854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1階 店舗／2階 代表者住居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代表者が設計。未登記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20624">
                <a:tc>
                  <a:txBody>
                    <a:bodyPr wrap="square"/>
                    <a:lstStyle/>
                    <a:p>
                      <a:pPr algn="ctr">
                        <a:spcAft>
                          <a:spcPts val="0"/>
                        </a:spcAft>
                      </a:pPr>
                      <a:r>
                        <a:rPr sz="780" b="0">
                          <a:solidFill>
                            <a:srgbClr val="1A1A1A"/>
                          </a:solidFill>
                          <a:latin typeface="Arial"/>
                          <a:ea typeface="Arial"/>
                          <a:cs typeface="Arial"/>
                        </a:rPr>
                        <a:t>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同上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建物附属設備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電気・給排水設備ほか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2002年2月〜2022年6月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32,646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6,373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店舗設備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自動火災報知設備・冷蔵設備・縁側席工事等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20624">
                <a:tc>
                  <a:txBody>
                    <a:bodyPr wrap="square"/>
                    <a:lstStyle/>
                    <a:p>
                      <a:pPr algn="ctr">
                        <a:spcAft>
                          <a:spcPts val="0"/>
                        </a:spcAft>
                      </a:pPr>
                      <a:r>
                        <a:rPr sz="780" b="0">
                          <a:solidFill>
                            <a:srgbClr val="1A1A1A"/>
                          </a:solidFill>
                          <a:latin typeface="Arial"/>
                          <a:ea typeface="Arial"/>
                          <a:cs typeface="Arial"/>
                        </a:rPr>
                        <a:t>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同上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構築物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駐車場舗装・看板・ブロック塀</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2003年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1,584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駐車場・外構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20624">
                <a:tc>
                  <a:txBody>
                    <a:bodyPr wrap="square"/>
                    <a:lstStyle/>
                    <a:p>
                      <a:pPr algn="ctr">
                        <a:spcAft>
                          <a:spcPts val="0"/>
                        </a:spcAft>
                      </a:pPr>
                      <a:r>
                        <a:rPr sz="780" b="0">
                          <a:solidFill>
                            <a:srgbClr val="1A1A1A"/>
                          </a:solidFill>
                          <a:latin typeface="Arial"/>
                          <a:ea typeface="Arial"/>
                          <a:cs typeface="Arial"/>
                        </a:rPr>
                        <a:t>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常陸太田市（塩町館）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建物（改造工事）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木造モルタル造</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2004年12月〜2005年4月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16,744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5,442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当社の事業に未供用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営業権・什器備品は元従業員へ譲渡済。登記変更は未了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6" name="Rectangle 15"/>
          <p:cNvSpPr/>
          <p:nvPr/>
        </p:nvSpPr>
        <p:spPr>
          <a:xfrm>
            <a:off x="310896" y="4572000"/>
            <a:ext cx="148132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400" b="1">
                <a:solidFill>
                  <a:srgbClr val="FFFFFF"/>
                </a:solidFill>
                <a:latin typeface="游ゴシック"/>
                <a:ea typeface="游ゴシック"/>
                <a:cs typeface="游ゴシック"/>
              </a:rPr>
              <a:t>賃借</a:t>
            </a:r>
          </a:p>
        </p:txBody>
      </p:sp>
      <p:sp>
        <p:nvSpPr>
          <p:cNvPr id="17" name="Rectangle 16"/>
          <p:cNvSpPr/>
          <p:nvPr/>
        </p:nvSpPr>
        <p:spPr>
          <a:xfrm>
            <a:off x="310896" y="4928616"/>
            <a:ext cx="10067544" cy="475488"/>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57200" y="5047488"/>
            <a:ext cx="9774936" cy="256032"/>
          </a:xfrm>
          <a:prstGeom prst="rect">
            <a:avLst/>
          </a:prstGeom>
          <a:noFill/>
        </p:spPr>
        <p:txBody>
          <a:bodyPr wrap="square" lIns="0" rIns="0" tIns="0" bIns="0" anchor="t">
            <a:spAutoFit/>
          </a:bodyPr>
          <a:lstStyle/>
          <a:p>
            <a:pPr algn="l">
              <a:spcAft>
                <a:spcPts val="0"/>
              </a:spcAft>
            </a:pPr>
            <a:r>
              <a:rPr sz="950" b="0">
                <a:solidFill>
                  <a:srgbClr val="1A1A1A"/>
                </a:solidFill>
                <a:latin typeface="游ゴシック"/>
                <a:ea typeface="游ゴシック"/>
                <a:cs typeface="游ゴシック"/>
              </a:rPr>
              <a:t>該当なし（事業用不動産の賃借はありません。地代家賃の計上もありません）</a:t>
            </a:r>
          </a:p>
        </p:txBody>
      </p:sp>
      <p:sp>
        <p:nvSpPr>
          <p:cNvPr id="19" name="Rectangle 18"/>
          <p:cNvSpPr/>
          <p:nvPr/>
        </p:nvSpPr>
        <p:spPr>
          <a:xfrm>
            <a:off x="310896" y="5559552"/>
            <a:ext cx="148132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400" b="1">
                <a:solidFill>
                  <a:srgbClr val="FFFFFF"/>
                </a:solidFill>
                <a:latin typeface="游ゴシック"/>
                <a:ea typeface="游ゴシック"/>
                <a:cs typeface="游ゴシック"/>
              </a:rPr>
              <a:t>担保</a:t>
            </a:r>
          </a:p>
        </p:txBody>
      </p:sp>
      <p:sp>
        <p:nvSpPr>
          <p:cNvPr id="20" name="Rectangle 19"/>
          <p:cNvSpPr/>
          <p:nvPr/>
        </p:nvSpPr>
        <p:spPr>
          <a:xfrm>
            <a:off x="310896" y="5916168"/>
            <a:ext cx="10067544" cy="475488"/>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57200" y="6035040"/>
            <a:ext cx="9774936" cy="256032"/>
          </a:xfrm>
          <a:prstGeom prst="rect">
            <a:avLst/>
          </a:prstGeom>
          <a:noFill/>
        </p:spPr>
        <p:txBody>
          <a:bodyPr wrap="square" lIns="0" rIns="0" tIns="0" bIns="0" anchor="t">
            <a:spAutoFit/>
          </a:bodyPr>
          <a:lstStyle/>
          <a:p>
            <a:pPr algn="l">
              <a:spcAft>
                <a:spcPts val="0"/>
              </a:spcAft>
            </a:pPr>
            <a:r>
              <a:rPr sz="950" b="0">
                <a:solidFill>
                  <a:srgbClr val="1A1A1A"/>
                </a:solidFill>
                <a:latin typeface="游ゴシック"/>
                <a:ea typeface="游ゴシック"/>
                <a:cs typeface="游ゴシック"/>
              </a:rPr>
              <a:t>金融機関借入がないため、担保設定はないものと想定（要確認：登記簿謄本は未受領）</a:t>
            </a:r>
          </a:p>
        </p:txBody>
      </p:sp>
      <p:sp>
        <p:nvSpPr>
          <p:cNvPr id="22" name="TextBox 21"/>
          <p:cNvSpPr txBox="1"/>
          <p:nvPr/>
        </p:nvSpPr>
        <p:spPr>
          <a:xfrm>
            <a:off x="310896" y="658368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単位：千円。期末簿価は2026年5月期。建物は未登記であり、土地・建物の登記簿謄本・公図・測量図はいずれも未受領です（要確認）。</a:t>
            </a:r>
          </a:p>
        </p:txBody>
      </p:sp>
    </p:spTree>
    <p:extLst>
      <p:ext uri="{BB962C8B-B14F-4D97-AF65-F5344CB8AC3E}">
        <p14:creationId xmlns:p14="http://schemas.microsoft.com/office/powerpoint/2010/main" val="20041296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83CB5-D66B-9D1A-A660-C02FFA666B7D}"/>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B1EDBB24-67BB-E96E-B74B-D3EB5F75EDA4}"/>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保有設備一覧</a:t>
            </a:r>
          </a:p>
        </p:txBody>
      </p:sp>
      <p:sp>
        <p:nvSpPr>
          <p:cNvPr id="4" name="タイトル 1">
            <a:extLst>
              <a:ext uri="{FF2B5EF4-FFF2-40B4-BE49-F238E27FC236}">
                <a16:creationId xmlns:a16="http://schemas.microsoft.com/office/drawing/2014/main" id="{9A038C7C-FDC6-3DA9-FB86-371BEF2D480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組織、拠点、設備等</a:t>
            </a:r>
          </a:p>
        </p:txBody>
      </p:sp>
      <p:sp>
        <p:nvSpPr>
          <p:cNvPr id="7" name="字幕 13">
            <a:extLst>
              <a:ext uri="{FF2B5EF4-FFF2-40B4-BE49-F238E27FC236}">
                <a16:creationId xmlns:a16="http://schemas.microsoft.com/office/drawing/2014/main" id="{AF62B1A2-0C69-2A17-FF69-1256D98EBEC7}"/>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石臼製粉機2基、そば打ち場、玄そば定温保管庫、業務用厨房を保有。蕎麦の一貫製造に必要な設備は揃っている</a:t>
            </a:r>
            <a:endParaRPr lang="en-US" altLang="ja-JP" dirty="0"/>
          </a:p>
        </p:txBody>
      </p:sp>
      <p:graphicFrame>
        <p:nvGraphicFramePr>
          <p:cNvPr id="14" name="Table 13"/>
          <p:cNvGraphicFramePr>
            <a:graphicFrameLocks noGrp="1"/>
          </p:cNvGraphicFramePr>
          <p:nvPr/>
        </p:nvGraphicFramePr>
        <p:xfrm>
          <a:off x="310896" y="1408176"/>
          <a:ext cx="10067544" cy="4535424"/>
        </p:xfrm>
        <a:graphic>
          <a:graphicData uri="http://schemas.openxmlformats.org/drawingml/2006/table">
            <a:tbl>
              <a:tblPr firstRow="0" bandRow="0">
                <a:tableStyleId>{5940675A-B579-460E-94D1-54222C63F5DA}</a:tableStyleId>
              </a:tblPr>
              <a:tblGrid>
                <a:gridCol w="310896"/>
                <a:gridCol w="2468880"/>
                <a:gridCol w="841248"/>
                <a:gridCol w="932688"/>
                <a:gridCol w="512064"/>
                <a:gridCol w="713232"/>
                <a:gridCol w="694944"/>
                <a:gridCol w="3593592"/>
              </a:tblGrid>
              <a:tr h="237744">
                <a:tc>
                  <a:txBody>
                    <a:bodyPr wrap="square"/>
                    <a:lstStyle/>
                    <a:p>
                      <a:pPr algn="ctr">
                        <a:spcAft>
                          <a:spcPts val="0"/>
                        </a:spcAft>
                      </a:pPr>
                      <a:r>
                        <a:rPr sz="720" b="1">
                          <a:solidFill>
                            <a:srgbClr val="FFFFFF"/>
                          </a:solidFill>
                          <a:latin typeface="游ゴシック"/>
                          <a:ea typeface="游ゴシック"/>
                          <a:cs typeface="游ゴシック"/>
                        </a:rPr>
                        <a:t>No.</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1">
                          <a:solidFill>
                            <a:srgbClr val="FFFFFF"/>
                          </a:solidFill>
                          <a:latin typeface="Arial"/>
                          <a:ea typeface="Arial"/>
                          <a:cs typeface="Arial"/>
                        </a:rPr>
                        <a:t>資産名称</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1">
                          <a:solidFill>
                            <a:srgbClr val="FFFFFF"/>
                          </a:solidFill>
                          <a:latin typeface="Arial"/>
                          <a:ea typeface="Arial"/>
                          <a:cs typeface="Arial"/>
                        </a:rPr>
                        <a:t>種類</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1">
                          <a:solidFill>
                            <a:srgbClr val="FFFFFF"/>
                          </a:solidFill>
                          <a:latin typeface="Arial"/>
                          <a:ea typeface="Arial"/>
                          <a:cs typeface="Arial"/>
                        </a:rPr>
                        <a:t>取得年月</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1">
                          <a:solidFill>
                            <a:srgbClr val="FFFFFF"/>
                          </a:solidFill>
                          <a:latin typeface="Arial"/>
                          <a:ea typeface="Arial"/>
                          <a:cs typeface="Arial"/>
                        </a:rPr>
                        <a:t>数量</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1">
                          <a:solidFill>
                            <a:srgbClr val="FFFFFF"/>
                          </a:solidFill>
                          <a:latin typeface="Arial"/>
                          <a:ea typeface="Arial"/>
                          <a:cs typeface="Arial"/>
                        </a:rPr>
                        <a:t>取得価額</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1">
                          <a:solidFill>
                            <a:srgbClr val="FFFFFF"/>
                          </a:solidFill>
                          <a:latin typeface="Arial"/>
                          <a:ea typeface="Arial"/>
                          <a:cs typeface="Arial"/>
                        </a:rPr>
                        <a:t>期末簿価</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1">
                          <a:solidFill>
                            <a:srgbClr val="FFFFFF"/>
                          </a:solidFill>
                          <a:latin typeface="Arial"/>
                          <a:ea typeface="Arial"/>
                          <a:cs typeface="Arial"/>
                        </a:rPr>
                        <a:t>備考</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ＳＵＳ製小型キルン（醤粉製造器）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2026年8月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3,456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3,456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2026年5月期に取得。醤（ひしお）製造用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二連式石臼製粉機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2024年10月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763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自家製粉の中核設備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小麦製粉機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2007年9月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1,200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償却済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麺機ロール製造設備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2007年5月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500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償却済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ペレット薪ストーブ ＨＰＳ-110Ｓ型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2024年12月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988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549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ペレットストーブ（設置工事含む）</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2022年6月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1組</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968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191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自動火災報知設備（無線式）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建物附属設備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2021年5月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2,420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882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縁側席工事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建物附属設備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2020年11月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1,400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618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コロナ禍の客席拡張</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業務用冷蔵設備（コンデンシングユニット等）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建物附属設備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2018年9月〜2021年4月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3台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1,676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626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暖房設備一式・玄そば脱皮機・磨き機・石抜き機ほか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2002年2月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一式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15,084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892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開業時に導入。多くは償却済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テーブル61個・イス22脚・クッション94個ほか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2002年2月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2,495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償却済。客席什器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ローバー車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車両運搬具</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2000年1月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3,802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償却済。事業供用の実態・時価は要確認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シトロエン2ＣＶフォルゴネット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車両運搬具</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2018年9月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3,497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償却済。クラシックカーであり時価評価余地あり（要確認）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そば打ち台（木製・大型）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什器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2台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現地実査。こね鉢（朱塗り）・そば包丁3丁・こま板・のし棒掛け・専用シンクを併</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電動石臼製粉機（金属フレーム）</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現地実査。台帳の「小麦製粉機」等との対応関係は要確認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木製石臼製粉機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現地実査。木枠造作の自家仕様機。台帳との対応関係は要確認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石板（大理石）作業台・ふるい・粉箱</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什器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一式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現地実査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玄そば定温保管庫（冷却ユニット付）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建物附属設備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1室</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現地実査。木造・断熱仕様。茨城県産玄そば／常陸秋そばを袋単位で保管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薪ストーブ（鋳物）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2022年6月・2024年12月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2台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1,956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741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台帳の「ペレットストーブ」「ペレット薪ストーブHPS-110S型」に対応</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座敷座卓・座布団・囲炉裏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什器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座卓6卓程度</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現地実査。畳敷の座敷に囲炉裏を設置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TextBox 14"/>
          <p:cNvSpPr txBox="1"/>
          <p:nvPr/>
        </p:nvSpPr>
        <p:spPr>
          <a:xfrm>
            <a:off x="310896" y="6272784"/>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単位：千円。No.1〜15は2026年5月期 固定資産減価償却内訳明細書からの抜粋、No.16〜22は現地実査により把握した資産です。</a:t>
            </a:r>
          </a:p>
          <a:p>
            <a:pPr algn="l">
              <a:lnSpc>
                <a:spcPct val="112000"/>
              </a:lnSpc>
              <a:spcAft>
                <a:spcPts val="100"/>
              </a:spcAft>
            </a:pPr>
            <a:r>
              <a:rPr sz="750" b="0">
                <a:solidFill>
                  <a:srgbClr val="5A6670"/>
                </a:solidFill>
                <a:latin typeface="游ゴシック"/>
                <a:ea typeface="游ゴシック"/>
                <a:cs typeface="游ゴシック"/>
              </a:rPr>
              <a:t>※ 後者は固定資産台帳との対応関係が未整理であり、取得年月・取得価額は要確認です。固定資産全体の取得価額合計は180,709千円、期末簿価合計は45,716千円です。</a:t>
            </a:r>
          </a:p>
        </p:txBody>
      </p:sp>
    </p:spTree>
    <p:extLst>
      <p:ext uri="{BB962C8B-B14F-4D97-AF65-F5344CB8AC3E}">
        <p14:creationId xmlns:p14="http://schemas.microsoft.com/office/powerpoint/2010/main" val="9155409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17F8BB-F852-9D0D-47DC-B75AAADC3F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2D80B5D-88ED-D63E-E6F8-E5830356F6CE}"/>
              </a:ext>
            </a:extLst>
          </p:cNvPr>
          <p:cNvSpPr>
            <a:spLocks noGrp="1"/>
          </p:cNvSpPr>
          <p:nvPr>
            <p:ph type="title"/>
          </p:nvPr>
        </p:nvSpPr>
        <p:spPr>
          <a:xfrm>
            <a:off x="989013" y="3656161"/>
            <a:ext cx="9221787" cy="615553"/>
          </a:xfrm>
        </p:spPr>
        <p:txBody>
          <a:bodyPr/>
          <a:lstStyle/>
          <a:p>
            <a:r>
              <a:rPr lang="ja-JP" altLang="en-US" dirty="0">
                <a:solidFill/>
              </a:rPr>
              <a:t>財務情報詳細</a:t>
            </a:r>
            <a:endParaRPr lang="en-US" altLang="ja-JP" dirty="0"/>
          </a:p>
        </p:txBody>
      </p:sp>
    </p:spTree>
    <p:extLst>
      <p:ext uri="{BB962C8B-B14F-4D97-AF65-F5344CB8AC3E}">
        <p14:creationId xmlns:p14="http://schemas.microsoft.com/office/powerpoint/2010/main" val="15844496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B347B-E74F-2AA1-D695-C8F2C57E0D27}"/>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AB158FB-2AD5-0994-A1DD-08907F35E57B}"/>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貸借対照表</a:t>
            </a:r>
          </a:p>
        </p:txBody>
      </p:sp>
      <p:sp>
        <p:nvSpPr>
          <p:cNvPr id="5" name="タイトル 1">
            <a:extLst>
              <a:ext uri="{FF2B5EF4-FFF2-40B4-BE49-F238E27FC236}">
                <a16:creationId xmlns:a16="http://schemas.microsoft.com/office/drawing/2014/main" id="{CB37C797-A02B-4ADD-85CA-EEB0AC88114E}"/>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財務情報詳細</a:t>
            </a:r>
          </a:p>
        </p:txBody>
      </p:sp>
      <p:sp>
        <p:nvSpPr>
          <p:cNvPr id="4" name="字幕 13">
            <a:extLst>
              <a:ext uri="{FF2B5EF4-FFF2-40B4-BE49-F238E27FC236}">
                <a16:creationId xmlns:a16="http://schemas.microsoft.com/office/drawing/2014/main" id="{9FB86E35-A8A4-6E80-826F-9FF288E82A13}"/>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総資産は減価償却の進行により毎期減少。役員借入を3期で12,451千円返済し、純資産は23,658千円を維持</a:t>
            </a:r>
            <a:endParaRPr lang="en-US" altLang="ja-JP" dirty="0"/>
          </a:p>
        </p:txBody>
      </p:sp>
      <p:graphicFrame>
        <p:nvGraphicFramePr>
          <p:cNvPr id="14" name="Table 13"/>
          <p:cNvGraphicFramePr>
            <a:graphicFrameLocks noGrp="1"/>
          </p:cNvGraphicFramePr>
          <p:nvPr/>
        </p:nvGraphicFramePr>
        <p:xfrm>
          <a:off x="310896" y="1408176"/>
          <a:ext cx="4846316" cy="4165092"/>
        </p:xfrm>
        <a:graphic>
          <a:graphicData uri="http://schemas.openxmlformats.org/drawingml/2006/table">
            <a:tbl>
              <a:tblPr firstRow="0" bandRow="0">
                <a:tableStyleId>{5940675A-B579-460E-94D1-54222C63F5DA}</a:tableStyleId>
              </a:tblPr>
              <a:tblGrid>
                <a:gridCol w="1993391"/>
                <a:gridCol w="950975"/>
                <a:gridCol w="950975"/>
                <a:gridCol w="950975"/>
              </a:tblGrid>
              <a:tr h="228600">
                <a:tc>
                  <a:txBody>
                    <a:bodyPr wrap="square"/>
                    <a:lstStyle/>
                    <a:p>
                      <a:pPr algn="ctr">
                        <a:spcAft>
                          <a:spcPts val="0"/>
                        </a:spcAft>
                      </a:pPr>
                      <a:r>
                        <a:rPr sz="79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9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9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9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【流動資産】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7,856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6,901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6,989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現金及び預金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2,107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棚卸資産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3,518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3,024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2,354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前払費用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未収入金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2,152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2,737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3,323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未収還付法人税等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9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170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【固定資産】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61,457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57,353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50,341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［有形固定資産］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61,382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56,178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49,166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建物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51,246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45,201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39,249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構築物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59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3,456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4,409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4,219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車両運搬具</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258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工具、器具及び備品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1,838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2,266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1,677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土地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3,450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3,450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3,450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リース資産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528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［無形固定資産］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ソフトウェア</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9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電話加入権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［投資その他の資産］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出資金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9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資産合計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69,313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64,254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57,330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graphicFrame>
        <p:nvGraphicFramePr>
          <p:cNvPr id="15" name="Table 14"/>
          <p:cNvGraphicFramePr>
            <a:graphicFrameLocks noGrp="1"/>
          </p:cNvGraphicFramePr>
          <p:nvPr/>
        </p:nvGraphicFramePr>
        <p:xfrm>
          <a:off x="5376672" y="1408176"/>
          <a:ext cx="5001764" cy="2665476"/>
        </p:xfrm>
        <a:graphic>
          <a:graphicData uri="http://schemas.openxmlformats.org/drawingml/2006/table">
            <a:tbl>
              <a:tblPr firstRow="0" bandRow="0">
                <a:tableStyleId>{5940675A-B579-460E-94D1-54222C63F5DA}</a:tableStyleId>
              </a:tblPr>
              <a:tblGrid>
                <a:gridCol w="2148839"/>
                <a:gridCol w="950975"/>
                <a:gridCol w="950975"/>
                <a:gridCol w="950975"/>
              </a:tblGrid>
              <a:tr h="228600">
                <a:tc>
                  <a:txBody>
                    <a:bodyPr wrap="square"/>
                    <a:lstStyle/>
                    <a:p>
                      <a:pPr algn="ctr">
                        <a:spcAft>
                          <a:spcPts val="0"/>
                        </a:spcAft>
                      </a:pPr>
                      <a:r>
                        <a:rPr sz="79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9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9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9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【流動負債】</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1,487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1,546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929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未払金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1,078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814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550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未払法人税等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412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未払消費税等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336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【固定負債】</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45,195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38,997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32,744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長期借入金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45,195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38,997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32,744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負債合計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46,682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40,542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33,673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【資本金】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資本金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【利益剰余金】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12,631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13,712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13,658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繰越利益剰余金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12,631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13,712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13,658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純資産合計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22,631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23,712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23,658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負債・純資産合計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69,313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64,254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57,330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6" name="Rectangle 15"/>
          <p:cNvSpPr/>
          <p:nvPr/>
        </p:nvSpPr>
        <p:spPr>
          <a:xfrm>
            <a:off x="5376672" y="4315968"/>
            <a:ext cx="5001768" cy="2267712"/>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468112" y="4389120"/>
            <a:ext cx="4818888"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18" name="TextBox 17"/>
          <p:cNvSpPr txBox="1"/>
          <p:nvPr/>
        </p:nvSpPr>
        <p:spPr>
          <a:xfrm>
            <a:off x="5486400" y="4736592"/>
            <a:ext cx="4782312" cy="1755648"/>
          </a:xfrm>
          <a:prstGeom prst="rect">
            <a:avLst/>
          </a:prstGeom>
          <a:noFill/>
        </p:spPr>
        <p:txBody>
          <a:bodyPr wrap="square" lIns="0" rIns="0" tIns="0" bIns="0" anchor="t">
            <a:spAutoFit/>
          </a:bodyPr>
          <a:lstStyle/>
          <a:p>
            <a:pPr algn="l">
              <a:lnSpc>
                <a:spcPct val="114000"/>
              </a:lnSpc>
              <a:spcAft>
                <a:spcPts val="200"/>
              </a:spcAft>
            </a:pPr>
            <a:r>
              <a:rPr sz="800" b="1">
                <a:solidFill>
                  <a:srgbClr val="0889C9"/>
                </a:solidFill>
                <a:latin typeface="游ゴシック"/>
                <a:ea typeface="游ゴシック"/>
                <a:cs typeface="游ゴシック"/>
              </a:rPr>
              <a:t>≪総資産≫ </a:t>
            </a:r>
            <a:r>
              <a:rPr sz="800" b="0">
                <a:solidFill>
                  <a:srgbClr val="1A1A1A"/>
                </a:solidFill>
                <a:latin typeface="游ゴシック"/>
                <a:ea typeface="游ゴシック"/>
                <a:cs typeface="游ゴシック"/>
              </a:rPr>
              <a:t>69,313→64,254→57,330千円。減価償却の進行により毎期減少し、建物は51,246→39,249千円（3期で△11,997千円）。</a:t>
            </a:r>
          </a:p>
          <a:p>
            <a:pPr algn="l">
              <a:spcAft>
                <a:spcPts val="200"/>
              </a:spcAft>
            </a:pPr>
          </a:p>
          <a:p>
            <a:pPr algn="l">
              <a:lnSpc>
                <a:spcPct val="114000"/>
              </a:lnSpc>
              <a:spcAft>
                <a:spcPts val="200"/>
              </a:spcAft>
            </a:pPr>
            <a:r>
              <a:rPr sz="800" b="1">
                <a:solidFill>
                  <a:srgbClr val="0889C9"/>
                </a:solidFill>
                <a:latin typeface="游ゴシック"/>
                <a:ea typeface="游ゴシック"/>
                <a:cs typeface="游ゴシック"/>
              </a:rPr>
              <a:t>≪長期借入金≫ </a:t>
            </a:r>
            <a:r>
              <a:rPr sz="800" b="0">
                <a:solidFill>
                  <a:srgbClr val="1A1A1A"/>
                </a:solidFill>
                <a:latin typeface="游ゴシック"/>
                <a:ea typeface="游ゴシック"/>
                <a:cs typeface="游ゴシック"/>
              </a:rPr>
              <a:t>45,195→38,997→32,744千円と3期で12,451千円を返済。全額が代表者・配偶者からの無利息借入で、金融機関借入・連帯保証はない。</a:t>
            </a:r>
          </a:p>
          <a:p>
            <a:pPr algn="l">
              <a:spcAft>
                <a:spcPts val="200"/>
              </a:spcAft>
            </a:pPr>
          </a:p>
          <a:p>
            <a:pPr algn="l">
              <a:lnSpc>
                <a:spcPct val="114000"/>
              </a:lnSpc>
              <a:spcAft>
                <a:spcPts val="200"/>
              </a:spcAft>
            </a:pPr>
            <a:r>
              <a:rPr sz="800" b="1">
                <a:solidFill>
                  <a:srgbClr val="0889C9"/>
                </a:solidFill>
                <a:latin typeface="游ゴシック"/>
                <a:ea typeface="游ゴシック"/>
                <a:cs typeface="游ゴシック"/>
              </a:rPr>
              <a:t>≪未収入金≫ </a:t>
            </a:r>
            <a:r>
              <a:rPr sz="800" b="0">
                <a:solidFill>
                  <a:srgbClr val="1A1A1A"/>
                </a:solidFill>
                <a:latin typeface="游ゴシック"/>
                <a:ea typeface="游ゴシック"/>
                <a:cs typeface="游ゴシック"/>
              </a:rPr>
              <a:t>2,152→2,737→3,323千円と3期連続で増加。関係先向けの債権であり回収条件・回収可能性は要確認。</a:t>
            </a:r>
          </a:p>
          <a:p>
            <a:pPr algn="l">
              <a:spcAft>
                <a:spcPts val="200"/>
              </a:spcAft>
            </a:pPr>
          </a:p>
          <a:p>
            <a:pPr algn="l">
              <a:lnSpc>
                <a:spcPct val="114000"/>
              </a:lnSpc>
              <a:spcAft>
                <a:spcPts val="200"/>
              </a:spcAft>
            </a:pPr>
            <a:r>
              <a:rPr sz="800" b="1">
                <a:solidFill>
                  <a:srgbClr val="0889C9"/>
                </a:solidFill>
                <a:latin typeface="游ゴシック"/>
                <a:ea typeface="游ゴシック"/>
                <a:cs typeface="游ゴシック"/>
              </a:rPr>
              <a:t>≪純資産≫ </a:t>
            </a:r>
            <a:r>
              <a:rPr sz="800" b="0">
                <a:solidFill>
                  <a:srgbClr val="1A1A1A"/>
                </a:solidFill>
                <a:latin typeface="游ゴシック"/>
                <a:ea typeface="游ゴシック"/>
                <a:cs typeface="游ゴシック"/>
              </a:rPr>
              <a:t>22,631→23,712→23,658千円とほぼ横ばい。2026/5期は当期純損失△54千円により微減。</a:t>
            </a:r>
          </a:p>
        </p:txBody>
      </p:sp>
      <p:sp>
        <p:nvSpPr>
          <p:cNvPr id="19" name="TextBox 18"/>
          <p:cNvSpPr txBox="1"/>
          <p:nvPr/>
        </p:nvSpPr>
        <p:spPr>
          <a:xfrm>
            <a:off x="310896" y="667512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決算書（2024年5月期〜2026年5月期）に基づく。千円未満の端数処理により合計が一致しない場合がある。</a:t>
            </a:r>
          </a:p>
          <a:p>
            <a:pPr algn="l">
              <a:lnSpc>
                <a:spcPct val="112000"/>
              </a:lnSpc>
              <a:spcAft>
                <a:spcPts val="100"/>
              </a:spcAft>
            </a:pPr>
            <a:r>
              <a:rPr sz="750" b="0">
                <a:solidFill>
                  <a:srgbClr val="5A6670"/>
                </a:solidFill>
                <a:latin typeface="游ゴシック"/>
                <a:ea typeface="游ゴシック"/>
                <a:cs typeface="游ゴシック"/>
              </a:rPr>
              <a:t>※ 時価修正の着眼点：①土地3,450千円の時価評価、②車両2台（簿価1円のクラシックカー）の時価、③出資金1,100千円（関係会社）の評価、④未収入金の回収可能性、⑤商標権（簿価ゼロ）のブランド価値。いずれも未検証であり、時価純資産の算定は未了です。</a:t>
            </a:r>
          </a:p>
        </p:txBody>
      </p:sp>
    </p:spTree>
    <p:extLst>
      <p:ext uri="{BB962C8B-B14F-4D97-AF65-F5344CB8AC3E}">
        <p14:creationId xmlns:p14="http://schemas.microsoft.com/office/powerpoint/2010/main" val="28778819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D83D88-B54F-0820-A617-759035C5FFCE}"/>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2C2D39CC-0147-8513-46F0-368EBE22D97C}"/>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損益計算書</a:t>
            </a:r>
          </a:p>
        </p:txBody>
      </p:sp>
      <p:sp>
        <p:nvSpPr>
          <p:cNvPr id="5" name="タイトル 1">
            <a:extLst>
              <a:ext uri="{FF2B5EF4-FFF2-40B4-BE49-F238E27FC236}">
                <a16:creationId xmlns:a16="http://schemas.microsoft.com/office/drawing/2014/main" id="{B1382B80-EF7F-718A-0685-302C41A8531B}"/>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財務情報詳細</a:t>
            </a:r>
          </a:p>
        </p:txBody>
      </p:sp>
      <p:sp>
        <p:nvSpPr>
          <p:cNvPr id="4" name="字幕 13">
            <a:extLst>
              <a:ext uri="{FF2B5EF4-FFF2-40B4-BE49-F238E27FC236}">
                <a16:creationId xmlns:a16="http://schemas.microsoft.com/office/drawing/2014/main" id="{C391002A-F61E-39B7-D75D-796D17928C17}"/>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売上高・粗利ともに減少。販管費6,267千円は3期横ばいであり、営業損益の悪化は粗利の減少による</a:t>
            </a:r>
            <a:endParaRPr lang="en-US" altLang="ja-JP" dirty="0"/>
          </a:p>
        </p:txBody>
      </p:sp>
      <p:graphicFrame>
        <p:nvGraphicFramePr>
          <p:cNvPr id="14" name="Table 13"/>
          <p:cNvGraphicFramePr>
            <a:graphicFrameLocks noGrp="1"/>
          </p:cNvGraphicFramePr>
          <p:nvPr/>
        </p:nvGraphicFramePr>
        <p:xfrm>
          <a:off x="310896" y="1408176"/>
          <a:ext cx="6583677" cy="4904824"/>
        </p:xfrm>
        <a:graphic>
          <a:graphicData uri="http://schemas.openxmlformats.org/drawingml/2006/table">
            <a:tbl>
              <a:tblPr firstRow="0" bandRow="0">
                <a:tableStyleId>{5940675A-B579-460E-94D1-54222C63F5DA}</a:tableStyleId>
              </a:tblPr>
              <a:tblGrid>
                <a:gridCol w="2113707"/>
                <a:gridCol w="866273"/>
                <a:gridCol w="623717"/>
                <a:gridCol w="866273"/>
                <a:gridCol w="623717"/>
                <a:gridCol w="866273"/>
                <a:gridCol w="623717"/>
              </a:tblGrid>
              <a:tr h="237744">
                <a:tc>
                  <a:txBody>
                    <a:bodyPr wrap="square"/>
                    <a:lstStyle/>
                    <a:p>
                      <a:pPr algn="ctr">
                        <a:spcAft>
                          <a:spcPts val="0"/>
                        </a:spcAft>
                      </a:pPr>
                      <a:r>
                        <a:rPr sz="80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そば売上高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1,592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小麦等売上高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2,131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商品売上高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1,141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飲食店売上高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19,255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78.7%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19,019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17,723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1">
                          <a:solidFill>
                            <a:srgbClr val="1A1A1A"/>
                          </a:solidFill>
                          <a:latin typeface="游ゴシック"/>
                          <a:ea typeface="游ゴシック"/>
                          <a:cs typeface="游ゴシック"/>
                        </a:rPr>
                        <a:t>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24,455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23,542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22,484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期首棚卸高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281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商品仕入高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当期製品製造原価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16,208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66.3%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15,680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16,579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73.7%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期末棚卸高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△281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△86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△0.4%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△329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△1.5%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1">
                          <a:solidFill>
                            <a:srgbClr val="1A1A1A"/>
                          </a:solidFill>
                          <a:latin typeface="游ゴシック"/>
                          <a:ea typeface="游ゴシック"/>
                          <a:cs typeface="游ゴシック"/>
                        </a:rPr>
                        <a:t>売上原価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16,403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67.1%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16,047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16,428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73.1%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1">
                          <a:solidFill>
                            <a:srgbClr val="1A1A1A"/>
                          </a:solidFill>
                          <a:latin typeface="游ゴシック"/>
                          <a:ea typeface="游ゴシック"/>
                          <a:cs typeface="游ゴシック"/>
                        </a:rPr>
                        <a:t>売上総利益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8,051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32.9%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7,495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31.8%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6,056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26.9%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販売費及び一般管理費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7,082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29.0%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6,212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6,267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1">
                          <a:solidFill>
                            <a:srgbClr val="1A1A1A"/>
                          </a:solidFill>
                          <a:latin typeface="游ゴシック"/>
                          <a:ea typeface="游ゴシック"/>
                          <a:cs typeface="游ゴシック"/>
                        </a:rPr>
                        <a:t>営業利益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970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4.0%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1,283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C03A2B"/>
                          </a:solidFill>
                          <a:latin typeface="Arial"/>
                          <a:ea typeface="Arial"/>
                          <a:cs typeface="Arial"/>
                        </a:rPr>
                        <a:t>△211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C03A2B"/>
                          </a:solidFill>
                          <a:latin typeface="Arial"/>
                          <a:ea typeface="Arial"/>
                          <a:cs typeface="Arial"/>
                        </a:rPr>
                        <a:t>△0.9%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営業外収益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2,492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　受取利息</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　雑収入</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2,490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営業外費用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　圧縮記帳損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1">
                          <a:solidFill>
                            <a:srgbClr val="1A1A1A"/>
                          </a:solidFill>
                          <a:latin typeface="游ゴシック"/>
                          <a:ea typeface="游ゴシック"/>
                          <a:cs typeface="游ゴシック"/>
                        </a:rPr>
                        <a:t>経常利益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1,265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5.2%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1,493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1">
                          <a:solidFill>
                            <a:srgbClr val="1A1A1A"/>
                          </a:solidFill>
                          <a:latin typeface="游ゴシック"/>
                          <a:ea typeface="游ゴシック"/>
                          <a:cs typeface="游ゴシック"/>
                        </a:rPr>
                        <a:t>税引前当期純利益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1,265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5.2%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1,493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法人税等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1">
                          <a:solidFill>
                            <a:srgbClr val="1A1A1A"/>
                          </a:solidFill>
                          <a:latin typeface="游ゴシック"/>
                          <a:ea typeface="游ゴシック"/>
                          <a:cs typeface="游ゴシック"/>
                        </a:rPr>
                        <a:t>当期純利益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911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3.7%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1,081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C03A2B"/>
                          </a:solidFill>
                          <a:latin typeface="Arial"/>
                          <a:ea typeface="Arial"/>
                          <a:cs typeface="Arial"/>
                        </a:rPr>
                        <a:t>△54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C03A2B"/>
                          </a:solidFill>
                          <a:latin typeface="Arial"/>
                          <a:ea typeface="Arial"/>
                          <a:cs typeface="Arial"/>
                        </a:rPr>
                        <a:t>△0.2%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7114032" y="1408176"/>
            <a:ext cx="3264408" cy="5047488"/>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205472" y="1481328"/>
            <a:ext cx="3081527"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17" name="TextBox 16"/>
          <p:cNvSpPr txBox="1"/>
          <p:nvPr/>
        </p:nvSpPr>
        <p:spPr>
          <a:xfrm>
            <a:off x="7223760" y="1828800"/>
            <a:ext cx="3044952" cy="4535423"/>
          </a:xfrm>
          <a:prstGeom prst="rect">
            <a:avLst/>
          </a:prstGeom>
          <a:noFill/>
        </p:spPr>
        <p:txBody>
          <a:bodyPr wrap="square" lIns="0" rIns="0" tIns="0" bIns="0" anchor="t">
            <a:spAutoFit/>
          </a:bodyPr>
          <a:lstStyle/>
          <a:p>
            <a:pPr algn="l">
              <a:lnSpc>
                <a:spcPct val="118000"/>
              </a:lnSpc>
              <a:spcAft>
                <a:spcPts val="200"/>
              </a:spcAft>
            </a:pPr>
            <a:r>
              <a:rPr sz="830" b="1">
                <a:solidFill>
                  <a:srgbClr val="0889C9"/>
                </a:solidFill>
                <a:latin typeface="游ゴシック"/>
                <a:ea typeface="游ゴシック"/>
                <a:cs typeface="游ゴシック"/>
              </a:rPr>
              <a:t>≪売上高≫ </a:t>
            </a:r>
            <a:r>
              <a:rPr sz="830" b="0">
                <a:solidFill>
                  <a:srgbClr val="1A1A1A"/>
                </a:solidFill>
                <a:latin typeface="游ゴシック"/>
                <a:ea typeface="游ゴシック"/>
                <a:cs typeface="游ゴシック"/>
              </a:rPr>
              <a:t>24,455→23,542→22,484千円と毎期減少。4区分のうち飲食店売上高の減少が最大。</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≪売上原価≫ </a:t>
            </a:r>
            <a:r>
              <a:rPr sz="830" b="0">
                <a:solidFill>
                  <a:srgbClr val="1A1A1A"/>
                </a:solidFill>
                <a:latin typeface="游ゴシック"/>
                <a:ea typeface="游ゴシック"/>
                <a:cs typeface="游ゴシック"/>
              </a:rPr>
              <a:t>16,403→16,047→16,428千円と横ばい。製造原価の42.3％が減価償却費であり、売上に連動しない固定費が大きい。</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≪販管費≫ </a:t>
            </a:r>
            <a:r>
              <a:rPr sz="830" b="0">
                <a:solidFill>
                  <a:srgbClr val="1A1A1A"/>
                </a:solidFill>
                <a:latin typeface="游ゴシック"/>
                <a:ea typeface="游ゴシック"/>
                <a:cs typeface="游ゴシック"/>
              </a:rPr>
              <a:t>7,082→6,212→6,267千円。給料手当・役員報酬の計上はない（労務費は製造原価）。</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≪営業外損益≫ </a:t>
            </a:r>
            <a:r>
              <a:rPr sz="830" b="0">
                <a:solidFill>
                  <a:srgbClr val="1A1A1A"/>
                </a:solidFill>
                <a:latin typeface="游ゴシック"/>
                <a:ea typeface="游ゴシック"/>
                <a:cs typeface="游ゴシック"/>
              </a:rPr>
              <a:t>2025/5期の雑収入2,490千円には補助金収入を含み、営業外費用の圧縮記帳損2,282千円は当該補助金に係るホームページ改修費用の圧縮記帳。いずれも非経常。</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≪当期純利益≫ </a:t>
            </a:r>
            <a:r>
              <a:rPr sz="830" b="0">
                <a:solidFill>
                  <a:srgbClr val="1A1A1A"/>
                </a:solidFill>
                <a:latin typeface="游ゴシック"/>
                <a:ea typeface="游ゴシック"/>
                <a:cs typeface="游ゴシック"/>
              </a:rPr>
              <a:t>911→1,081→△54千円。2026/5期は法人税等72千円の計上により最終赤字。</a:t>
            </a:r>
          </a:p>
        </p:txBody>
      </p:sp>
      <p:sp>
        <p:nvSpPr>
          <p:cNvPr id="18" name="TextBox 17"/>
          <p:cNvSpPr txBox="1"/>
          <p:nvPr/>
        </p:nvSpPr>
        <p:spPr>
          <a:xfrm>
            <a:off x="310896" y="6638544"/>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決算書（2024年5月期〜2026年5月期）に基づく。構成比は売上高に対する比率。</a:t>
            </a:r>
          </a:p>
        </p:txBody>
      </p:sp>
    </p:spTree>
    <p:extLst>
      <p:ext uri="{BB962C8B-B14F-4D97-AF65-F5344CB8AC3E}">
        <p14:creationId xmlns:p14="http://schemas.microsoft.com/office/powerpoint/2010/main" val="374094293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30F011-9D10-1689-48C1-6E79216CA945}"/>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4A828581-8161-ED21-30AA-A4EFF4112CCB}"/>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製造原価報告書</a:t>
            </a:r>
          </a:p>
        </p:txBody>
      </p:sp>
      <p:sp>
        <p:nvSpPr>
          <p:cNvPr id="5" name="タイトル 1">
            <a:extLst>
              <a:ext uri="{FF2B5EF4-FFF2-40B4-BE49-F238E27FC236}">
                <a16:creationId xmlns:a16="http://schemas.microsoft.com/office/drawing/2014/main" id="{7A0FBE86-5EA8-D086-19D3-6B5D523DBCD3}"/>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財務情報詳細</a:t>
            </a:r>
          </a:p>
        </p:txBody>
      </p:sp>
      <p:sp>
        <p:nvSpPr>
          <p:cNvPr id="4" name="字幕 13">
            <a:extLst>
              <a:ext uri="{FF2B5EF4-FFF2-40B4-BE49-F238E27FC236}">
                <a16:creationId xmlns:a16="http://schemas.microsoft.com/office/drawing/2014/main" id="{C3D523D1-0942-99BF-C039-E07124B2F5C1}"/>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製造原価16,579千円のうち減価償却費が7,012千円（42.3％）を占め、売上に連動しない固定費性の高い原価構造</a:t>
            </a:r>
            <a:endParaRPr lang="en-US" altLang="ja-JP" dirty="0"/>
          </a:p>
        </p:txBody>
      </p:sp>
      <p:graphicFrame>
        <p:nvGraphicFramePr>
          <p:cNvPr id="14" name="Table 13"/>
          <p:cNvGraphicFramePr>
            <a:graphicFrameLocks noGrp="1"/>
          </p:cNvGraphicFramePr>
          <p:nvPr/>
        </p:nvGraphicFramePr>
        <p:xfrm>
          <a:off x="310896" y="1408176"/>
          <a:ext cx="4846316" cy="4615887"/>
        </p:xfrm>
        <a:graphic>
          <a:graphicData uri="http://schemas.openxmlformats.org/drawingml/2006/table">
            <a:tbl>
              <a:tblPr firstRow="0" bandRow="0">
                <a:tableStyleId>{5940675A-B579-460E-94D1-54222C63F5DA}</a:tableStyleId>
              </a:tblPr>
              <a:tblGrid>
                <a:gridCol w="1993391"/>
                <a:gridCol w="950975"/>
                <a:gridCol w="950975"/>
                <a:gridCol w="950975"/>
              </a:tblGrid>
              <a:tr h="237744">
                <a:tc>
                  <a:txBody>
                    <a:bodyPr wrap="square"/>
                    <a:lstStyle/>
                    <a:p>
                      <a:pPr algn="ctr">
                        <a:spcAft>
                          <a:spcPts val="0"/>
                        </a:spcAft>
                      </a:pPr>
                      <a:r>
                        <a:rPr sz="80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期首材料棚卸高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3,288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3,237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2,938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材料仕入高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5,079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4,313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4,595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小計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8,367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7,550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7,533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期末材料棚卸高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△3,237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△2,938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△2,025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材料費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5,130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4,612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5,508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雑給</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1,989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2,188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厚生費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労務費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1,989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2,199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2,221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外注加工費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394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外注費 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394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育苗・耕作費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ガス代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水道料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減価償却費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7,265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7,292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7,012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修繕費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591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消耗品費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293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旅費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衛生管理費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287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286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経費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8,695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8,863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8,578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当期総製造費用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16,208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15,680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16,579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当期製品製造原価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16,208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15,680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16,579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5376672" y="1408176"/>
            <a:ext cx="5001768" cy="5047488"/>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468112" y="1481328"/>
            <a:ext cx="4818888"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17" name="TextBox 16"/>
          <p:cNvSpPr txBox="1"/>
          <p:nvPr/>
        </p:nvSpPr>
        <p:spPr>
          <a:xfrm>
            <a:off x="5486400" y="1828800"/>
            <a:ext cx="4782312" cy="4535423"/>
          </a:xfrm>
          <a:prstGeom prst="rect">
            <a:avLst/>
          </a:prstGeom>
          <a:noFill/>
        </p:spPr>
        <p:txBody>
          <a:bodyPr wrap="square" lIns="0" rIns="0" tIns="0" bIns="0" anchor="t">
            <a:spAutoFit/>
          </a:bodyPr>
          <a:lstStyle/>
          <a:p>
            <a:pPr algn="l">
              <a:lnSpc>
                <a:spcPct val="122000"/>
              </a:lnSpc>
              <a:spcAft>
                <a:spcPts val="200"/>
              </a:spcAft>
            </a:pPr>
            <a:r>
              <a:rPr sz="900" b="1">
                <a:solidFill>
                  <a:srgbClr val="0889C9"/>
                </a:solidFill>
                <a:latin typeface="游ゴシック"/>
                <a:ea typeface="游ゴシック"/>
                <a:cs typeface="游ゴシック"/>
              </a:rPr>
              <a:t>≪減価償却費 7,012千円≫ </a:t>
            </a:r>
            <a:r>
              <a:rPr sz="900" b="0">
                <a:solidFill>
                  <a:srgbClr val="1A1A1A"/>
                </a:solidFill>
                <a:latin typeface="游ゴシック"/>
                <a:ea typeface="游ゴシック"/>
                <a:cs typeface="游ゴシック"/>
              </a:rPr>
              <a:t>7,265→7,292→7,012千円。製造原価の42.3％を占める。2002年取得の建物・建物附属設備（旧定額法・旧定率法）が中心であり、今後は逓減する見込み。</a:t>
            </a:r>
          </a:p>
          <a:p>
            <a:pPr algn="l">
              <a:spcAft>
                <a:spcPts val="200"/>
              </a:spcAft>
            </a:pPr>
          </a:p>
          <a:p>
            <a:pPr algn="l">
              <a:lnSpc>
                <a:spcPct val="122000"/>
              </a:lnSpc>
              <a:spcAft>
                <a:spcPts val="200"/>
              </a:spcAft>
            </a:pPr>
            <a:r>
              <a:rPr sz="900" b="1">
                <a:solidFill>
                  <a:srgbClr val="0889C9"/>
                </a:solidFill>
                <a:latin typeface="游ゴシック"/>
                <a:ea typeface="游ゴシック"/>
                <a:cs typeface="游ゴシック"/>
              </a:rPr>
              <a:t>≪材料費 5,508千円≫ </a:t>
            </a:r>
            <a:r>
              <a:rPr sz="900" b="0">
                <a:solidFill>
                  <a:srgbClr val="1A1A1A"/>
                </a:solidFill>
                <a:latin typeface="游ゴシック"/>
                <a:ea typeface="游ゴシック"/>
                <a:cs typeface="游ゴシック"/>
              </a:rPr>
              <a:t>5,130→4,612→5,508千円。玄そば・小麦のほか、鴨肉・岩魚・山菜等の季節食材を含む。期末材料棚卸高は3,237→2,938→2,025千円と減少しており、玄そばの在庫水準の低下が見られる。</a:t>
            </a:r>
          </a:p>
          <a:p>
            <a:pPr algn="l">
              <a:spcAft>
                <a:spcPts val="200"/>
              </a:spcAft>
            </a:pPr>
          </a:p>
          <a:p>
            <a:pPr algn="l">
              <a:lnSpc>
                <a:spcPct val="122000"/>
              </a:lnSpc>
              <a:spcAft>
                <a:spcPts val="200"/>
              </a:spcAft>
            </a:pPr>
            <a:r>
              <a:rPr sz="900" b="1">
                <a:solidFill>
                  <a:srgbClr val="0889C9"/>
                </a:solidFill>
                <a:latin typeface="游ゴシック"/>
                <a:ea typeface="游ゴシック"/>
                <a:cs typeface="游ゴシック"/>
              </a:rPr>
              <a:t>≪労務費 2,221千円≫ </a:t>
            </a:r>
            <a:r>
              <a:rPr sz="900" b="0">
                <a:solidFill>
                  <a:srgbClr val="1A1A1A"/>
                </a:solidFill>
                <a:latin typeface="游ゴシック"/>
                <a:ea typeface="游ゴシック"/>
                <a:cs typeface="游ゴシック"/>
              </a:rPr>
              <a:t>雑給1,989→2,199→2,221千円。親族への「手伝い料」が中心で支払先は「小川実他1」。代表者・配偶者はいずれも無報酬であり、本報告書にも計上されていない。</a:t>
            </a:r>
          </a:p>
          <a:p>
            <a:pPr algn="l">
              <a:spcAft>
                <a:spcPts val="200"/>
              </a:spcAft>
            </a:pPr>
          </a:p>
          <a:p>
            <a:pPr algn="l">
              <a:lnSpc>
                <a:spcPct val="122000"/>
              </a:lnSpc>
              <a:spcAft>
                <a:spcPts val="200"/>
              </a:spcAft>
            </a:pPr>
            <a:r>
              <a:rPr sz="900" b="1">
                <a:solidFill>
                  <a:srgbClr val="0889C9"/>
                </a:solidFill>
                <a:latin typeface="游ゴシック"/>
                <a:ea typeface="游ゴシック"/>
                <a:cs typeface="游ゴシック"/>
              </a:rPr>
              <a:t>≪外注加工費 272千円≫ </a:t>
            </a:r>
            <a:r>
              <a:rPr sz="900" b="0">
                <a:solidFill>
                  <a:srgbClr val="1A1A1A"/>
                </a:solidFill>
                <a:latin typeface="游ゴシック"/>
                <a:ea typeface="游ゴシック"/>
                <a:cs typeface="游ゴシック"/>
              </a:rPr>
              <a:t>394→6→272千円。2026/5期は伊勢又米穀製粉（株）への製粉外注267千円が中心。</a:t>
            </a:r>
          </a:p>
          <a:p>
            <a:pPr algn="l">
              <a:spcAft>
                <a:spcPts val="200"/>
              </a:spcAft>
            </a:pPr>
          </a:p>
          <a:p>
            <a:pPr algn="l">
              <a:lnSpc>
                <a:spcPct val="122000"/>
              </a:lnSpc>
              <a:spcAft>
                <a:spcPts val="200"/>
              </a:spcAft>
            </a:pPr>
            <a:r>
              <a:rPr sz="900" b="1">
                <a:solidFill>
                  <a:srgbClr val="0889C9"/>
                </a:solidFill>
                <a:latin typeface="游ゴシック"/>
                <a:ea typeface="游ゴシック"/>
                <a:cs typeface="游ゴシック"/>
              </a:rPr>
              <a:t>≪育苗・耕作費 39千円≫ </a:t>
            </a:r>
            <a:r>
              <a:rPr sz="900" b="0">
                <a:solidFill>
                  <a:srgbClr val="1A1A1A"/>
                </a:solidFill>
                <a:latin typeface="游ゴシック"/>
                <a:ea typeface="游ゴシック"/>
                <a:cs typeface="游ゴシック"/>
              </a:rPr>
              <a:t>自家栽培（焼畑を含む）に係る費用。大規模生産は中止し、現在は地元産の玄そばを適正価格で仕入れる方針と伺っている（面談ヒアリング）。</a:t>
            </a:r>
          </a:p>
        </p:txBody>
      </p:sp>
      <p:sp>
        <p:nvSpPr>
          <p:cNvPr id="18" name="TextBox 17"/>
          <p:cNvSpPr txBox="1"/>
          <p:nvPr/>
        </p:nvSpPr>
        <p:spPr>
          <a:xfrm>
            <a:off x="310896" y="6638544"/>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決算書（2024年5月期〜2026年5月期）に基づく。当期製品製造原価は損益計算書の同科目と一致する。</a:t>
            </a:r>
          </a:p>
        </p:txBody>
      </p:sp>
    </p:spTree>
    <p:extLst>
      <p:ext uri="{BB962C8B-B14F-4D97-AF65-F5344CB8AC3E}">
        <p14:creationId xmlns:p14="http://schemas.microsoft.com/office/powerpoint/2010/main" val="29680945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11451-02A5-56C7-8AF6-DBDAA7CFCC10}"/>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F326988B-EA79-EED8-C9CB-DD122747A00F}"/>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販売費及び一般管理費</a:t>
            </a:r>
          </a:p>
        </p:txBody>
      </p:sp>
      <p:sp>
        <p:nvSpPr>
          <p:cNvPr id="5" name="タイトル 1">
            <a:extLst>
              <a:ext uri="{FF2B5EF4-FFF2-40B4-BE49-F238E27FC236}">
                <a16:creationId xmlns:a16="http://schemas.microsoft.com/office/drawing/2014/main" id="{7691939A-6180-3920-2B7D-F305819429C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財務情報詳細</a:t>
            </a:r>
          </a:p>
        </p:txBody>
      </p:sp>
      <p:sp>
        <p:nvSpPr>
          <p:cNvPr id="4" name="字幕 13">
            <a:extLst>
              <a:ext uri="{FF2B5EF4-FFF2-40B4-BE49-F238E27FC236}">
                <a16:creationId xmlns:a16="http://schemas.microsoft.com/office/drawing/2014/main" id="{7F8A1EE0-ADF4-993B-FF72-FBEC016B826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販管費6,267千円は3期を通じてほぼ横ばい。水道光熱費・租税公課・管理諸費の3科目で59％を占める</a:t>
            </a:r>
            <a:endParaRPr lang="en-US" altLang="ja-JP" dirty="0"/>
          </a:p>
        </p:txBody>
      </p:sp>
      <p:graphicFrame>
        <p:nvGraphicFramePr>
          <p:cNvPr id="14" name="Table 13"/>
          <p:cNvGraphicFramePr>
            <a:graphicFrameLocks noGrp="1"/>
          </p:cNvGraphicFramePr>
          <p:nvPr/>
        </p:nvGraphicFramePr>
        <p:xfrm>
          <a:off x="310896" y="1408176"/>
          <a:ext cx="6583677" cy="3836816"/>
        </p:xfrm>
        <a:graphic>
          <a:graphicData uri="http://schemas.openxmlformats.org/drawingml/2006/table">
            <a:tbl>
              <a:tblPr firstRow="0" bandRow="0">
                <a:tableStyleId>{5940675A-B579-460E-94D1-54222C63F5DA}</a:tableStyleId>
              </a:tblPr>
              <a:tblGrid>
                <a:gridCol w="2113707"/>
                <a:gridCol w="866273"/>
                <a:gridCol w="623717"/>
                <a:gridCol w="866273"/>
                <a:gridCol w="623717"/>
                <a:gridCol w="866273"/>
                <a:gridCol w="623717"/>
              </a:tblGrid>
              <a:tr h="237744">
                <a:tc>
                  <a:txBody>
                    <a:bodyPr wrap="square"/>
                    <a:lstStyle/>
                    <a:p>
                      <a:pPr algn="ctr">
                        <a:spcAft>
                          <a:spcPts val="0"/>
                        </a:spcAft>
                      </a:pPr>
                      <a:r>
                        <a:rPr sz="80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広告宣伝費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674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容器包装費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発送配達費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461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478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修繕費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減価償却費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115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事務用消耗品費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交通費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174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水道光熱費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1,345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1,498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1,490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租税公課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1,181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1,137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接待交際費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保険料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備品消耗品費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管理諸費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1,184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警備料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雑費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236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1">
                          <a:solidFill>
                            <a:srgbClr val="1A1A1A"/>
                          </a:solidFill>
                          <a:latin typeface="游ゴシック"/>
                          <a:ea typeface="游ゴシック"/>
                          <a:cs typeface="游ゴシック"/>
                        </a:rPr>
                        <a:t>販売費及び一般管理費 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7,082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29.0%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6,212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6,267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7114032" y="1408176"/>
            <a:ext cx="3264408" cy="5047488"/>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205472" y="1481328"/>
            <a:ext cx="3081527"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17" name="TextBox 16"/>
          <p:cNvSpPr txBox="1"/>
          <p:nvPr/>
        </p:nvSpPr>
        <p:spPr>
          <a:xfrm>
            <a:off x="7223760" y="1828800"/>
            <a:ext cx="3044952" cy="4535423"/>
          </a:xfrm>
          <a:prstGeom prst="rect">
            <a:avLst/>
          </a:prstGeom>
          <a:noFill/>
        </p:spPr>
        <p:txBody>
          <a:bodyPr wrap="square" lIns="0" rIns="0" tIns="0" bIns="0" anchor="t">
            <a:spAutoFit/>
          </a:bodyPr>
          <a:lstStyle/>
          <a:p>
            <a:pPr algn="l">
              <a:lnSpc>
                <a:spcPct val="118000"/>
              </a:lnSpc>
              <a:spcAft>
                <a:spcPts val="200"/>
              </a:spcAft>
            </a:pPr>
            <a:r>
              <a:rPr sz="830" b="1">
                <a:solidFill>
                  <a:srgbClr val="0889C9"/>
                </a:solidFill>
                <a:latin typeface="游ゴシック"/>
                <a:ea typeface="游ゴシック"/>
                <a:cs typeface="游ゴシック"/>
              </a:rPr>
              <a:t>≪水道光熱費 1,490千円≫ </a:t>
            </a:r>
            <a:r>
              <a:rPr sz="830" b="0">
                <a:solidFill>
                  <a:srgbClr val="1A1A1A"/>
                </a:solidFill>
                <a:latin typeface="游ゴシック"/>
                <a:ea typeface="游ゴシック"/>
                <a:cs typeface="游ゴシック"/>
              </a:rPr>
              <a:t>販管費の23.8％。茅葺き・板倉造の建物と薪ストーブ併用の空調に起因すると推察。</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≪租税公課 1,137千円≫ </a:t>
            </a:r>
            <a:r>
              <a:rPr sz="830" b="0">
                <a:solidFill>
                  <a:srgbClr val="1A1A1A"/>
                </a:solidFill>
                <a:latin typeface="游ゴシック"/>
                <a:ea typeface="游ゴシック"/>
                <a:cs typeface="游ゴシック"/>
              </a:rPr>
              <a:t>固定資産税が中心と推察。内訳は要確認。</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≪管理諸費 1,044千円≫ </a:t>
            </a:r>
            <a:r>
              <a:rPr sz="830" b="0">
                <a:solidFill>
                  <a:srgbClr val="1A1A1A"/>
                </a:solidFill>
                <a:latin typeface="游ゴシック"/>
                <a:ea typeface="游ゴシック"/>
                <a:cs typeface="游ゴシック"/>
              </a:rPr>
              <a:t>税理士報酬594千円、Mマート（B2B受発注）248千円、銀行振込手数料83千円、特許事務所61千円等。</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≪広告宣伝費 729千円≫ </a:t>
            </a:r>
            <a:r>
              <a:rPr sz="830" b="0">
                <a:solidFill>
                  <a:srgbClr val="1A1A1A"/>
                </a:solidFill>
                <a:latin typeface="游ゴシック"/>
                <a:ea typeface="游ゴシック"/>
                <a:cs typeface="游ゴシック"/>
              </a:rPr>
              <a:t>ライフガード330千円、SMBC 198千円、サイバーメディア198千円。内容は要確認。</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≪発送配達費 465千円≫ </a:t>
            </a:r>
            <a:r>
              <a:rPr sz="830" b="0">
                <a:solidFill>
                  <a:srgbClr val="1A1A1A"/>
                </a:solidFill>
                <a:latin typeface="游ゴシック"/>
                <a:ea typeface="游ゴシック"/>
                <a:cs typeface="游ゴシック"/>
              </a:rPr>
              <a:t>通信販売・卸売に係る送料。通販の伸長に対応している。</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≪人件費≫ </a:t>
            </a:r>
            <a:r>
              <a:rPr sz="830" b="0">
                <a:solidFill>
                  <a:srgbClr val="1A1A1A"/>
                </a:solidFill>
                <a:latin typeface="游ゴシック"/>
                <a:ea typeface="游ゴシック"/>
                <a:cs typeface="游ゴシック"/>
              </a:rPr>
              <a:t>販管費には給料手当・役員報酬の計上がない。労務費（雑給2,201千円）は製造原価に計上。</a:t>
            </a:r>
          </a:p>
        </p:txBody>
      </p:sp>
      <p:sp>
        <p:nvSpPr>
          <p:cNvPr id="18" name="TextBox 17"/>
          <p:cNvSpPr txBox="1"/>
          <p:nvPr/>
        </p:nvSpPr>
        <p:spPr>
          <a:xfrm>
            <a:off x="310896" y="6638544"/>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決算書（2024年5月期〜2026年5月期）に基づく。構成比は売上高に対する比率。科目の内訳は総勘定元帳（2026年5月期）の取引先欄を集計したもの。</a:t>
            </a:r>
          </a:p>
        </p:txBody>
      </p:sp>
    </p:spTree>
    <p:extLst>
      <p:ext uri="{BB962C8B-B14F-4D97-AF65-F5344CB8AC3E}">
        <p14:creationId xmlns:p14="http://schemas.microsoft.com/office/powerpoint/2010/main" val="19093800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6E9481-F171-6C11-CA74-858754CED30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1067C0B-FDBB-DAD1-C4BF-FB866758BEC6}"/>
              </a:ext>
            </a:extLst>
          </p:cNvPr>
          <p:cNvSpPr>
            <a:spLocks noGrp="1"/>
          </p:cNvSpPr>
          <p:nvPr>
            <p:ph type="title"/>
          </p:nvPr>
        </p:nvSpPr>
        <p:spPr>
          <a:xfrm>
            <a:off x="989013" y="3656161"/>
            <a:ext cx="9221787" cy="615553"/>
          </a:xfrm>
        </p:spPr>
        <p:txBody>
          <a:bodyPr/>
          <a:lstStyle/>
          <a:p>
            <a:r>
              <a:rPr lang="en-US" altLang="ja-JP" dirty="0">
                <a:solidFill/>
              </a:rPr>
              <a:t>Appendix</a:t>
            </a:r>
          </a:p>
        </p:txBody>
      </p:sp>
    </p:spTree>
    <p:extLst>
      <p:ext uri="{BB962C8B-B14F-4D97-AF65-F5344CB8AC3E}">
        <p14:creationId xmlns:p14="http://schemas.microsoft.com/office/powerpoint/2010/main" val="34130237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2E3EC-2048-079E-7643-70D2CF76772A}"/>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02E27983-8C8F-AAE9-9CF2-1036574B4BDE}"/>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沿革</a:t>
            </a:r>
          </a:p>
        </p:txBody>
      </p:sp>
      <p:sp>
        <p:nvSpPr>
          <p:cNvPr id="5" name="タイトル 1">
            <a:extLst>
              <a:ext uri="{FF2B5EF4-FFF2-40B4-BE49-F238E27FC236}">
                <a16:creationId xmlns:a16="http://schemas.microsoft.com/office/drawing/2014/main" id="{7C6D20B5-6E7B-D773-483A-3D3213A63C3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Appendix</a:t>
            </a:r>
            <a:endParaRPr lang="ja-JP" altLang="en-US" sz="1200" b="1" spc="55" dirty="0">
              <a:solidFill>
                <a:schemeClr val="bg1"/>
              </a:solidFill>
            </a:endParaRPr>
          </a:p>
        </p:txBody>
      </p:sp>
      <p:sp>
        <p:nvSpPr>
          <p:cNvPr id="4" name="字幕 13">
            <a:extLst>
              <a:ext uri="{FF2B5EF4-FFF2-40B4-BE49-F238E27FC236}">
                <a16:creationId xmlns:a16="http://schemas.microsoft.com/office/drawing/2014/main" id="{16508C02-2E69-432A-5CCB-7583CED20D5E}"/>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東京・南阿佐ヶ谷での創業から36年。2002年の故郷への移転以降、焼畑栽培と里山再生に取り組む</a:t>
            </a:r>
            <a:endParaRPr lang="en-US" altLang="ja-JP" dirty="0"/>
          </a:p>
        </p:txBody>
      </p:sp>
      <p:graphicFrame>
        <p:nvGraphicFramePr>
          <p:cNvPr id="14" name="Table 13"/>
          <p:cNvGraphicFramePr>
            <a:graphicFrameLocks noGrp="1"/>
          </p:cNvGraphicFramePr>
          <p:nvPr/>
        </p:nvGraphicFramePr>
        <p:xfrm>
          <a:off x="310896" y="1408176"/>
          <a:ext cx="10067544" cy="4838998"/>
        </p:xfrm>
        <a:graphic>
          <a:graphicData uri="http://schemas.openxmlformats.org/drawingml/2006/table">
            <a:tbl>
              <a:tblPr firstRow="0" bandRow="0">
                <a:tableStyleId>{5940675A-B579-460E-94D1-54222C63F5DA}</a:tableStyleId>
              </a:tblPr>
              <a:tblGrid>
                <a:gridCol w="1170432"/>
                <a:gridCol w="8897112"/>
              </a:tblGrid>
              <a:tr h="237744">
                <a:tc>
                  <a:txBody>
                    <a:bodyPr wrap="square"/>
                    <a:lstStyle/>
                    <a:p>
                      <a:pPr algn="ctr">
                        <a:spcAft>
                          <a:spcPts val="0"/>
                        </a:spcAft>
                      </a:pPr>
                      <a:r>
                        <a:rPr sz="840" b="1">
                          <a:solidFill>
                            <a:srgbClr val="FFFFFF"/>
                          </a:solidFill>
                          <a:latin typeface="游ゴシック"/>
                          <a:ea typeface="游ゴシック"/>
                          <a:cs typeface="游ゴシック"/>
                        </a:rPr>
                        <a:t>年</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1947年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代表者 小川 宣夫 氏、茨城県（現・常陸太田市）に生まれる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1970年代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東京での会社員生活を経て、長野県大町市へ移住。蕎麦打ちに関心を持つ</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1978年頃</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31歳で東京・荻窪の名店「本むら庵」に入店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1986年頃</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8年間の修業を経て独立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1990年4月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株式会社慈久庵 設立。東京・南阿佐ヶ谷に石臼挽き自家製粉の手打ち蕎麦店「慈久庵」を開業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2002年2月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茨城県久慈郡水府村（現・常陸太田市天下野町）に店舗兼住居を建築し移転。板倉造・茅葺きの現店舗で営業を開始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2004年12月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市町村合併に伴い本店所在地の表示が「常陸太田市天下野町2162番地」に変更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2005年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常陸太田市の旧市街地に石臼挽き自家製粉の手打ち饂飩店「塩町館」を開店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2011年12月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商標を登録（4件）</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2014年4月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定款の事業目的を変更（農園の経営、農業、農産物の生産・栽培・販売等を追加）</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2016年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食べログ Japan Restaurant Award 2016「茨城県 TOP1」に選出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2018年頃</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食べログ「そば 百名店」に選出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2019年頃</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「古式けんちんそば」の商標展開を開始（約7年前／面談ヒアリング）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2020〜2021年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コロナ禍および代表者の入院により約5か月休業。再開後はキャンプ需要等により来店客が増加</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2022年・2023年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THE TABELOG AWARD Bronze を2年連続で受賞</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近年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塩町館の営業権・什器備品を元従業員へ譲渡（建物は当社に残存）。そばの大規模栽培は中止し、地元産玄そばの適正価格での仕入に方針転換</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2026年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Japan Brand Collection 2026 茨城版に掲載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TextBox 14"/>
          <p:cNvSpPr txBox="1"/>
          <p:nvPr/>
        </p:nvSpPr>
        <p:spPr>
          <a:xfrm>
            <a:off x="310896" y="658368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設立年月日・本店移転・事業目的の変更は法人登記簿、代表者経歴は著書の著者略歴、受賞歴は店内掲示物の実査、その他は面談ヒアリングに基づく。</a:t>
            </a:r>
          </a:p>
          <a:p>
            <a:pPr algn="l">
              <a:lnSpc>
                <a:spcPct val="112000"/>
              </a:lnSpc>
              <a:spcAft>
                <a:spcPts val="100"/>
              </a:spcAft>
            </a:pPr>
            <a:r>
              <a:rPr sz="750" b="0">
                <a:solidFill>
                  <a:srgbClr val="5A6670"/>
                </a:solidFill>
                <a:latin typeface="游ゴシック"/>
                <a:ea typeface="游ゴシック"/>
                <a:cs typeface="游ゴシック"/>
              </a:rPr>
              <a:t>※ 「1978年頃」「1986年頃」「2019年頃」等は、著者略歴の記載（31歳で入店、8年修業）および面談時の発言から弊社が推定したもの（推定）。</a:t>
            </a:r>
          </a:p>
        </p:txBody>
      </p:sp>
    </p:spTree>
    <p:extLst>
      <p:ext uri="{BB962C8B-B14F-4D97-AF65-F5344CB8AC3E}">
        <p14:creationId xmlns:p14="http://schemas.microsoft.com/office/powerpoint/2010/main" val="3914015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C83CD-8F2B-A456-D63E-667BDA8864FE}"/>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6ECAC2D0-8CC0-B4C9-19B7-FFEA448BA129}"/>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代表者経歴</a:t>
            </a:r>
          </a:p>
        </p:txBody>
      </p:sp>
      <p:sp>
        <p:nvSpPr>
          <p:cNvPr id="5" name="タイトル 1">
            <a:extLst>
              <a:ext uri="{FF2B5EF4-FFF2-40B4-BE49-F238E27FC236}">
                <a16:creationId xmlns:a16="http://schemas.microsoft.com/office/drawing/2014/main" id="{B2954D03-DD0B-9909-BBC6-EB4264689F16}"/>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Appendix</a:t>
            </a:r>
            <a:endParaRPr lang="ja-JP" altLang="en-US" sz="1200" b="1" spc="55" dirty="0">
              <a:solidFill>
                <a:schemeClr val="bg1"/>
              </a:solidFill>
            </a:endParaRPr>
          </a:p>
        </p:txBody>
      </p:sp>
      <p:sp>
        <p:nvSpPr>
          <p:cNvPr id="4" name="字幕 13">
            <a:extLst>
              <a:ext uri="{FF2B5EF4-FFF2-40B4-BE49-F238E27FC236}">
                <a16:creationId xmlns:a16="http://schemas.microsoft.com/office/drawing/2014/main" id="{44A78BE3-8FEA-62DF-2E04-90B59A7097B8}"/>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粗挽き蕎麦の第一人者。里山再生という目的のために東京の人気店を畳み、生まれ故郷へ移った経緯を持つ</a:t>
            </a:r>
            <a:endParaRPr lang="en-US" altLang="ja-JP" dirty="0"/>
          </a:p>
        </p:txBody>
      </p:sp>
      <p:sp>
        <p:nvSpPr>
          <p:cNvPr id="14" name="Rectangle 13"/>
          <p:cNvSpPr/>
          <p:nvPr/>
        </p:nvSpPr>
        <p:spPr>
          <a:xfrm>
            <a:off x="310896" y="1481328"/>
            <a:ext cx="4846320"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小川 宣夫 氏（代表取締役）</a:t>
            </a:r>
          </a:p>
        </p:txBody>
      </p:sp>
      <p:graphicFrame>
        <p:nvGraphicFramePr>
          <p:cNvPr id="15" name="Table 14"/>
          <p:cNvGraphicFramePr>
            <a:graphicFrameLocks noGrp="1"/>
          </p:cNvGraphicFramePr>
          <p:nvPr/>
        </p:nvGraphicFramePr>
        <p:xfrm>
          <a:off x="310896" y="1837943"/>
          <a:ext cx="4846320" cy="2834640"/>
        </p:xfrm>
        <a:graphic>
          <a:graphicData uri="http://schemas.openxmlformats.org/drawingml/2006/table">
            <a:tbl>
              <a:tblPr firstRow="0" bandRow="0">
                <a:tableStyleId>{5940675A-B579-460E-94D1-54222C63F5DA}</a:tableStyleId>
              </a:tblPr>
              <a:tblGrid>
                <a:gridCol w="1188720"/>
                <a:gridCol w="3657600"/>
              </a:tblGrid>
              <a:tr h="237744">
                <a:tc>
                  <a:txBody>
                    <a:bodyPr wrap="square"/>
                    <a:lstStyle/>
                    <a:p>
                      <a:pPr algn="ctr">
                        <a:spcAft>
                          <a:spcPts val="0"/>
                        </a:spcAft>
                      </a:pPr>
                      <a:r>
                        <a:rPr sz="840" b="1">
                          <a:solidFill>
                            <a:srgbClr val="FFFFFF"/>
                          </a:solidFill>
                          <a:latin typeface="游ゴシック"/>
                          <a:ea typeface="游ゴシック"/>
                          <a:cs typeface="游ゴシック"/>
                        </a:rPr>
                        <a:t>項目</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40" b="0">
                          <a:solidFill>
                            <a:srgbClr val="1A1A1A"/>
                          </a:solidFill>
                          <a:latin typeface="游ゴシック"/>
                          <a:ea typeface="游ゴシック"/>
                          <a:cs typeface="游ゴシック"/>
                        </a:rPr>
                        <a:t>生年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1947年（79歳）</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40" b="0">
                          <a:solidFill>
                            <a:srgbClr val="1A1A1A"/>
                          </a:solidFill>
                          <a:latin typeface="游ゴシック"/>
                          <a:ea typeface="游ゴシック"/>
                          <a:cs typeface="游ゴシック"/>
                        </a:rPr>
                        <a:t>出身</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茨城県（現・常陸太田市）</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40" b="0">
                          <a:solidFill>
                            <a:srgbClr val="1A1A1A"/>
                          </a:solidFill>
                          <a:latin typeface="游ゴシック"/>
                          <a:ea typeface="游ゴシック"/>
                          <a:cs typeface="游ゴシック"/>
                        </a:rPr>
                        <a:t>修業先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東京・荻窪「本むら庵」（8年間）</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40" b="0">
                          <a:solidFill>
                            <a:srgbClr val="1A1A1A"/>
                          </a:solidFill>
                          <a:latin typeface="游ゴシック"/>
                          <a:ea typeface="游ゴシック"/>
                          <a:cs typeface="游ゴシック"/>
                        </a:rPr>
                        <a:t>専門</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粗挽き粉で打つ蕎麦の第一人者。在来農法・焼き畑蕎麦栽培、小麦・茶の栽培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40" b="0">
                          <a:solidFill>
                            <a:srgbClr val="1A1A1A"/>
                          </a:solidFill>
                          <a:latin typeface="游ゴシック"/>
                          <a:ea typeface="游ゴシック"/>
                          <a:cs typeface="游ゴシック"/>
                        </a:rPr>
                        <a:t>著作</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『小川宣夫の蕎麦・饂飩指南 ― 粗挽き蕎麦と石臼挽き饂飩』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40" b="0">
                          <a:solidFill>
                            <a:srgbClr val="1A1A1A"/>
                          </a:solidFill>
                          <a:latin typeface="游ゴシック"/>
                          <a:ea typeface="游ゴシック"/>
                          <a:cs typeface="游ゴシック"/>
                        </a:rPr>
                        <a:t>保有株式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130株（65.0％）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40" b="0">
                          <a:solidFill>
                            <a:srgbClr val="1A1A1A"/>
                          </a:solidFill>
                          <a:latin typeface="游ゴシック"/>
                          <a:ea typeface="游ゴシック"/>
                          <a:cs typeface="游ゴシック"/>
                        </a:rPr>
                        <a:t>役員報酬</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計上なし（無報酬）</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40" b="0">
                          <a:solidFill>
                            <a:srgbClr val="1A1A1A"/>
                          </a:solidFill>
                          <a:latin typeface="游ゴシック"/>
                          <a:ea typeface="游ゴシック"/>
                          <a:cs typeface="游ゴシック"/>
                        </a:rPr>
                        <a:t>本件後の関与</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引継ぎ完了後に退任予定（引継ぎ期間・方式は応相談）</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6" name="Rectangle 15"/>
          <p:cNvSpPr/>
          <p:nvPr/>
        </p:nvSpPr>
        <p:spPr>
          <a:xfrm>
            <a:off x="5376672" y="1481328"/>
            <a:ext cx="500176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経営姿勢・買手選定にあたってのご意向</a:t>
            </a:r>
          </a:p>
        </p:txBody>
      </p:sp>
      <p:sp>
        <p:nvSpPr>
          <p:cNvPr id="17" name="Rectangle 16"/>
          <p:cNvSpPr/>
          <p:nvPr/>
        </p:nvSpPr>
        <p:spPr>
          <a:xfrm>
            <a:off x="5376672" y="1837943"/>
            <a:ext cx="5001768" cy="3035808"/>
          </a:xfrm>
          <a:prstGeom prst="rect">
            <a:avLst/>
          </a:prstGeom>
          <a:solidFill>
            <a:srgbClr val="F7FAFC"/>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504688" y="1947672"/>
            <a:ext cx="4745736" cy="2816352"/>
          </a:xfrm>
          <a:prstGeom prst="rect">
            <a:avLst/>
          </a:prstGeom>
          <a:noFill/>
        </p:spPr>
        <p:txBody>
          <a:bodyPr wrap="square" lIns="0" rIns="0" tIns="0" bIns="0" anchor="t">
            <a:spAutoFit/>
          </a:bodyPr>
          <a:lstStyle/>
          <a:p>
            <a:pPr algn="l">
              <a:lnSpc>
                <a:spcPct val="120000"/>
              </a:lnSpc>
              <a:spcAft>
                <a:spcPts val="200"/>
              </a:spcAft>
            </a:pPr>
            <a:r>
              <a:rPr sz="880" b="1">
                <a:solidFill>
                  <a:srgbClr val="0889C9"/>
                </a:solidFill>
                <a:latin typeface="游ゴシック"/>
                <a:ea typeface="游ゴシック"/>
                <a:cs typeface="游ゴシック"/>
              </a:rPr>
              <a:t>里山再生という動機　</a:t>
            </a:r>
            <a:r>
              <a:rPr sz="880" b="0">
                <a:solidFill>
                  <a:srgbClr val="1A1A1A"/>
                </a:solidFill>
                <a:latin typeface="游ゴシック"/>
                <a:ea typeface="游ゴシック"/>
                <a:cs typeface="游ゴシック"/>
              </a:rPr>
              <a:t>「もっとおいしい蕎麦を」という追求と、放棄されていた地元の里山を再生したいという思いから、2002年に東京で評価を得ていた店を畳み、生まれ故郷へ移転。国内でも希少となった焼き畑農法を再興して24年になる。</a:t>
            </a:r>
          </a:p>
          <a:p>
            <a:pPr algn="l">
              <a:lnSpc>
                <a:spcPct val="120000"/>
              </a:lnSpc>
              <a:spcAft>
                <a:spcPts val="200"/>
              </a:spcAft>
            </a:pPr>
            <a:r>
              <a:rPr sz="880" b="1">
                <a:solidFill>
                  <a:srgbClr val="0889C9"/>
                </a:solidFill>
                <a:latin typeface="游ゴシック"/>
                <a:ea typeface="游ゴシック"/>
                <a:cs typeface="游ゴシック"/>
              </a:rPr>
              <a:t>地域との関係　</a:t>
            </a:r>
            <a:r>
              <a:rPr sz="880" b="0">
                <a:solidFill>
                  <a:srgbClr val="1A1A1A"/>
                </a:solidFill>
                <a:latin typeface="游ゴシック"/>
                <a:ea typeface="游ゴシック"/>
                <a:cs typeface="游ゴシック"/>
              </a:rPr>
              <a:t>玄そばは、農家を応援する意味合いから地元産の常陸秋そばを高値で買い取る方針。地域の生産者との関係性そのものが、原料調達の基盤になっている。</a:t>
            </a:r>
          </a:p>
          <a:p>
            <a:pPr algn="l">
              <a:lnSpc>
                <a:spcPct val="120000"/>
              </a:lnSpc>
              <a:spcAft>
                <a:spcPts val="200"/>
              </a:spcAft>
            </a:pPr>
            <a:r>
              <a:rPr sz="880" b="1">
                <a:solidFill>
                  <a:srgbClr val="0889C9"/>
                </a:solidFill>
                <a:latin typeface="游ゴシック"/>
                <a:ea typeface="游ゴシック"/>
                <a:cs typeface="游ゴシック"/>
              </a:rPr>
              <a:t>買手選定のご意向　</a:t>
            </a:r>
            <a:r>
              <a:rPr sz="880" b="0">
                <a:solidFill>
                  <a:srgbClr val="1A1A1A"/>
                </a:solidFill>
                <a:latin typeface="游ゴシック"/>
                <a:ea typeface="游ゴシック"/>
                <a:cs typeface="游ゴシック"/>
              </a:rPr>
              <a:t>譲渡価額よりも、①「慈久庵」の店舗を守り蕎麦屋として事業を継続してくれること、②将来的に店舗を広げていけること、の2点を重視されている。「慈久庵」のブランドと郷土料理（古式けんちんそば）の両方を活かしてほしいとのご意向。</a:t>
            </a:r>
          </a:p>
          <a:p>
            <a:pPr algn="l">
              <a:lnSpc>
                <a:spcPct val="120000"/>
              </a:lnSpc>
              <a:spcAft>
                <a:spcPts val="200"/>
              </a:spcAft>
            </a:pPr>
            <a:r>
              <a:rPr sz="880" b="1">
                <a:solidFill>
                  <a:srgbClr val="0889C9"/>
                </a:solidFill>
                <a:latin typeface="游ゴシック"/>
                <a:ea typeface="游ゴシック"/>
                <a:cs typeface="游ゴシック"/>
              </a:rPr>
              <a:t>引継ぎについて　</a:t>
            </a:r>
            <a:r>
              <a:rPr sz="880" b="0">
                <a:solidFill>
                  <a:srgbClr val="1A1A1A"/>
                </a:solidFill>
                <a:latin typeface="游ゴシック"/>
                <a:ea typeface="游ゴシック"/>
                <a:cs typeface="游ゴシック"/>
              </a:rPr>
              <a:t>レシピや「かえし」は誰でも再現できるよう整理済とのこと。過去には弟子へ別店舗（塩町館）の営業を承継した実績がある。</a:t>
            </a:r>
          </a:p>
        </p:txBody>
      </p:sp>
      <p:sp>
        <p:nvSpPr>
          <p:cNvPr id="19" name="TextBox 18"/>
          <p:cNvSpPr txBox="1"/>
          <p:nvPr/>
        </p:nvSpPr>
        <p:spPr>
          <a:xfrm>
            <a:off x="310896" y="512064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経歴は著書『小川宣夫の蕎麦・饂飩指南』の著者略歴および Japan Brand Collection 2026 茨城版、ご意向は面談ヒアリングに基づく。</a:t>
            </a:r>
          </a:p>
        </p:txBody>
      </p:sp>
    </p:spTree>
    <p:extLst>
      <p:ext uri="{BB962C8B-B14F-4D97-AF65-F5344CB8AC3E}">
        <p14:creationId xmlns:p14="http://schemas.microsoft.com/office/powerpoint/2010/main" val="3170289564"/>
      </p:ext>
    </p:extLst>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AE20CDE1-7008-F0D4-81FD-53AE154BF5EA}"/>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参考｜営業日・営業時間の拡大余地と人件費の論点</a:t>
            </a:r>
          </a:p>
        </p:txBody>
      </p:sp>
      <p:sp>
        <p:nvSpPr>
          <p:cNvPr id="5" name="タイトル 1">
            <a:extLst>
              <a:ext uri="{FF2B5EF4-FFF2-40B4-BE49-F238E27FC236}">
                <a16:creationId xmlns:a16="http://schemas.microsoft.com/office/drawing/2014/main" id="{6790A563-0096-2902-0624-D66AB2A099B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事業概要</a:t>
            </a:r>
          </a:p>
        </p:txBody>
      </p:sp>
      <p:sp>
        <p:nvSpPr>
          <p:cNvPr id="7" name="字幕 13">
            <a:extLst>
              <a:ext uri="{FF2B5EF4-FFF2-40B4-BE49-F238E27FC236}">
                <a16:creationId xmlns:a16="http://schemas.microsoft.com/office/drawing/2014/main" id="{C28AC2D5-7B01-C5B2-1062-1CE28DB5BD3C}"/>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週4日・昼のみという稼働が最大の伸び代である一方、代表者・配偶者が無報酬である点は買手が必ず織り込むべき論点</a:t>
            </a:r>
            <a:endParaRPr lang="en-US" altLang="ja-JP" dirty="0"/>
          </a:p>
        </p:txBody>
      </p:sp>
      <p:sp>
        <p:nvSpPr>
          <p:cNvPr id="14" name="Rectangle 13"/>
          <p:cNvSpPr/>
          <p:nvPr/>
        </p:nvSpPr>
        <p:spPr>
          <a:xfrm>
            <a:off x="310896" y="1408176"/>
            <a:ext cx="4846320"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100" b="1">
                <a:solidFill>
                  <a:srgbClr val="FFFFFF"/>
                </a:solidFill>
                <a:latin typeface="游ゴシック"/>
                <a:ea typeface="游ゴシック"/>
                <a:cs typeface="游ゴシック"/>
              </a:rPr>
              <a:t>① 営業日を拡大した場合の売上インパクト（仮説）</a:t>
            </a:r>
          </a:p>
        </p:txBody>
      </p:sp>
      <p:graphicFrame>
        <p:nvGraphicFramePr>
          <p:cNvPr id="15" name="Table 14"/>
          <p:cNvGraphicFramePr>
            <a:graphicFrameLocks noGrp="1"/>
          </p:cNvGraphicFramePr>
          <p:nvPr/>
        </p:nvGraphicFramePr>
        <p:xfrm>
          <a:off x="310896" y="1764792"/>
          <a:ext cx="4846319" cy="1335024"/>
        </p:xfrm>
        <a:graphic>
          <a:graphicData uri="http://schemas.openxmlformats.org/drawingml/2006/table">
            <a:tbl>
              <a:tblPr firstRow="0" bandRow="0">
                <a:tableStyleId>{5940675A-B579-460E-94D1-54222C63F5DA}</a:tableStyleId>
              </a:tblPr>
              <a:tblGrid>
                <a:gridCol w="1638937"/>
                <a:gridCol w="740165"/>
                <a:gridCol w="740165"/>
                <a:gridCol w="881149"/>
                <a:gridCol w="845903"/>
              </a:tblGrid>
              <a:tr h="237744">
                <a:tc>
                  <a:txBody>
                    <a:bodyPr wrap="square"/>
                    <a:lstStyle/>
                    <a:p>
                      <a:pPr algn="ctr">
                        <a:spcAft>
                          <a:spcPts val="0"/>
                        </a:spcAft>
                      </a:pPr>
                      <a:r>
                        <a:rPr sz="819" b="1">
                          <a:solidFill>
                            <a:srgbClr val="FFFFFF"/>
                          </a:solidFill>
                          <a:latin typeface="游ゴシック"/>
                          <a:ea typeface="游ゴシック"/>
                          <a:cs typeface="游ゴシック"/>
                        </a:rPr>
                        <a:t>前提</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営業日数</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日商平均</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店頭売上高</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現状比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19" b="0">
                          <a:solidFill>
                            <a:srgbClr val="1A1A1A"/>
                          </a:solidFill>
                          <a:latin typeface="游ゴシック"/>
                          <a:ea typeface="游ゴシック"/>
                          <a:cs typeface="游ゴシック"/>
                        </a:rPr>
                        <a:t>現状（2026/5期 実績）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游ゴシック"/>
                          <a:ea typeface="游ゴシック"/>
                          <a:cs typeface="游ゴシック"/>
                        </a:rPr>
                        <a:t>200日</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游ゴシック"/>
                          <a:ea typeface="游ゴシック"/>
                          <a:cs typeface="游ゴシック"/>
                        </a:rPr>
                        <a:t>75千円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游ゴシック"/>
                          <a:ea typeface="游ゴシック"/>
                          <a:cs typeface="游ゴシック"/>
                        </a:rPr>
                        <a:t>15,099千円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19" b="0">
                          <a:solidFill>
                            <a:srgbClr val="1A1A1A"/>
                          </a:solidFill>
                          <a:latin typeface="游ゴシック"/>
                          <a:ea typeface="游ゴシック"/>
                          <a:cs typeface="游ゴシック"/>
                        </a:rPr>
                        <a:t>週4日 → 週5日</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游ゴシック"/>
                          <a:ea typeface="游ゴシック"/>
                          <a:cs typeface="游ゴシック"/>
                        </a:rPr>
                        <a:t>250日</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游ゴシック"/>
                          <a:ea typeface="游ゴシック"/>
                          <a:cs typeface="游ゴシック"/>
                        </a:rPr>
                        <a:t>75千円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游ゴシック"/>
                          <a:ea typeface="游ゴシック"/>
                          <a:cs typeface="游ゴシック"/>
                        </a:rPr>
                        <a:t>18,874千円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游ゴシック"/>
                          <a:ea typeface="游ゴシック"/>
                          <a:cs typeface="游ゴシック"/>
                        </a:rPr>
                        <a:t>＋3,775千円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19" b="0">
                          <a:solidFill>
                            <a:srgbClr val="1A1A1A"/>
                          </a:solidFill>
                          <a:latin typeface="游ゴシック"/>
                          <a:ea typeface="游ゴシック"/>
                          <a:cs typeface="游ゴシック"/>
                        </a:rPr>
                        <a:t>週4日 → 週6日</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游ゴシック"/>
                          <a:ea typeface="游ゴシック"/>
                          <a:cs typeface="游ゴシック"/>
                        </a:rPr>
                        <a:t>300日</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游ゴシック"/>
                          <a:ea typeface="游ゴシック"/>
                          <a:cs typeface="游ゴシック"/>
                        </a:rPr>
                        <a:t>75千円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游ゴシック"/>
                          <a:ea typeface="游ゴシック"/>
                          <a:cs typeface="游ゴシック"/>
                        </a:rPr>
                        <a:t>22,649千円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游ゴシック"/>
                          <a:ea typeface="游ゴシック"/>
                          <a:cs typeface="游ゴシック"/>
                        </a:rPr>
                        <a:t>＋7,550千円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19" b="0">
                          <a:solidFill>
                            <a:srgbClr val="1A1A1A"/>
                          </a:solidFill>
                          <a:latin typeface="游ゴシック"/>
                          <a:ea typeface="游ゴシック"/>
                          <a:cs typeface="游ゴシック"/>
                        </a:rPr>
                        <a:t>現状＋日商を2024/5期水準へ</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游ゴシック"/>
                          <a:ea typeface="游ゴシック"/>
                          <a:cs typeface="游ゴシック"/>
                        </a:rPr>
                        <a:t>200日</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游ゴシック"/>
                          <a:ea typeface="游ゴシック"/>
                          <a:cs typeface="游ゴシック"/>
                        </a:rPr>
                        <a:t>86千円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游ゴシック"/>
                          <a:ea typeface="游ゴシック"/>
                          <a:cs typeface="游ゴシック"/>
                        </a:rPr>
                        <a:t>17,258千円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游ゴシック"/>
                          <a:ea typeface="游ゴシック"/>
                          <a:cs typeface="游ゴシック"/>
                        </a:rPr>
                        <a:t>＋2,159千円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6" name="TextBox 15"/>
          <p:cNvSpPr txBox="1"/>
          <p:nvPr/>
        </p:nvSpPr>
        <p:spPr>
          <a:xfrm>
            <a:off x="310896" y="3163824"/>
            <a:ext cx="4846320" cy="420624"/>
          </a:xfrm>
          <a:prstGeom prst="rect">
            <a:avLst/>
          </a:prstGeom>
          <a:noFill/>
        </p:spPr>
        <p:txBody>
          <a:bodyPr wrap="square" lIns="0" rIns="0" tIns="0" bIns="0" anchor="t">
            <a:spAutoFit/>
          </a:bodyPr>
          <a:lstStyle/>
          <a:p>
            <a:pPr algn="l">
              <a:lnSpc>
                <a:spcPct val="114000"/>
              </a:lnSpc>
              <a:spcAft>
                <a:spcPts val="0"/>
              </a:spcAft>
            </a:pPr>
            <a:r>
              <a:rPr sz="760" b="0">
                <a:solidFill>
                  <a:srgbClr val="5A6670"/>
                </a:solidFill>
                <a:latin typeface="游ゴシック"/>
                <a:ea typeface="游ゴシック"/>
                <a:cs typeface="游ゴシック"/>
              </a:rPr>
              <a:t>※ 日商が維持されることのみを前提とした単純試算であり、人員体制・原料調達・集客の制約は考慮していない（仮説）。</a:t>
            </a:r>
          </a:p>
        </p:txBody>
      </p:sp>
      <p:sp>
        <p:nvSpPr>
          <p:cNvPr id="17" name="Rectangle 16"/>
          <p:cNvSpPr/>
          <p:nvPr/>
        </p:nvSpPr>
        <p:spPr>
          <a:xfrm>
            <a:off x="310896" y="3675887"/>
            <a:ext cx="4846320"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100" b="1">
                <a:solidFill>
                  <a:srgbClr val="FFFFFF"/>
                </a:solidFill>
                <a:latin typeface="游ゴシック"/>
                <a:ea typeface="游ゴシック"/>
                <a:cs typeface="游ゴシック"/>
              </a:rPr>
              <a:t>② 代表者報酬を正常化した場合のEBITDA（仮説）</a:t>
            </a:r>
          </a:p>
        </p:txBody>
      </p:sp>
      <p:graphicFrame>
        <p:nvGraphicFramePr>
          <p:cNvPr id="18" name="Table 17"/>
          <p:cNvGraphicFramePr>
            <a:graphicFrameLocks noGrp="1"/>
          </p:cNvGraphicFramePr>
          <p:nvPr/>
        </p:nvGraphicFramePr>
        <p:xfrm>
          <a:off x="310896" y="4032504"/>
          <a:ext cx="4846316" cy="1060704"/>
        </p:xfrm>
        <a:graphic>
          <a:graphicData uri="http://schemas.openxmlformats.org/drawingml/2006/table">
            <a:tbl>
              <a:tblPr firstRow="0" bandRow="0">
                <a:tableStyleId>{5940675A-B579-460E-94D1-54222C63F5DA}</a:tableStyleId>
              </a:tblPr>
              <a:tblGrid>
                <a:gridCol w="2048255"/>
                <a:gridCol w="932687"/>
                <a:gridCol w="932687"/>
                <a:gridCol w="932687"/>
              </a:tblGrid>
              <a:tr h="237744">
                <a:tc>
                  <a:txBody>
                    <a:bodyPr wrap="square"/>
                    <a:lstStyle/>
                    <a:p>
                      <a:pPr algn="ctr">
                        <a:spcAft>
                          <a:spcPts val="0"/>
                        </a:spcAft>
                      </a:pPr>
                      <a:r>
                        <a:rPr sz="819"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19" b="0">
                          <a:solidFill>
                            <a:srgbClr val="1A1A1A"/>
                          </a:solidFill>
                          <a:latin typeface="游ゴシック"/>
                          <a:ea typeface="游ゴシック"/>
                          <a:cs typeface="游ゴシック"/>
                        </a:rPr>
                        <a:t>調整後EBITDA（実績）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8,350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8,575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6,801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19" b="0">
                          <a:solidFill>
                            <a:srgbClr val="1A1A1A"/>
                          </a:solidFill>
                          <a:latin typeface="游ゴシック"/>
                          <a:ea typeface="游ゴシック"/>
                          <a:cs typeface="游ゴシック"/>
                        </a:rPr>
                        <a:t>そば職人1名分 想定人件費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C03A2B"/>
                          </a:solidFill>
                          <a:latin typeface="Arial"/>
                          <a:ea typeface="Arial"/>
                          <a:cs typeface="Arial"/>
                        </a:rPr>
                        <a:t>△6,900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C03A2B"/>
                          </a:solidFill>
                          <a:latin typeface="Arial"/>
                          <a:ea typeface="Arial"/>
                          <a:cs typeface="Arial"/>
                        </a:rPr>
                        <a:t>△6,900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C03A2B"/>
                          </a:solidFill>
                          <a:latin typeface="Arial"/>
                          <a:ea typeface="Arial"/>
                          <a:cs typeface="Arial"/>
                        </a:rPr>
                        <a:t>△6,900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19" b="1">
                          <a:solidFill>
                            <a:srgbClr val="1A1A1A"/>
                          </a:solidFill>
                          <a:latin typeface="游ゴシック"/>
                          <a:ea typeface="游ゴシック"/>
                          <a:cs typeface="游ゴシック"/>
                        </a:rPr>
                        <a:t>正常化後EBITDA（参考）</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1">
                          <a:solidFill>
                            <a:srgbClr val="1A1A1A"/>
                          </a:solidFill>
                          <a:latin typeface="Arial"/>
                          <a:ea typeface="Arial"/>
                          <a:cs typeface="Arial"/>
                        </a:rPr>
                        <a:t>1,450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1">
                          <a:solidFill>
                            <a:srgbClr val="1A1A1A"/>
                          </a:solidFill>
                          <a:latin typeface="Arial"/>
                          <a:ea typeface="Arial"/>
                          <a:cs typeface="Arial"/>
                        </a:rPr>
                        <a:t>1,675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1">
                          <a:solidFill>
                            <a:srgbClr val="C03A2B"/>
                          </a:solidFill>
                          <a:latin typeface="Arial"/>
                          <a:ea typeface="Arial"/>
                          <a:cs typeface="Arial"/>
                        </a:rPr>
                        <a:t>△99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9" name="TextBox 18"/>
          <p:cNvSpPr txBox="1"/>
          <p:nvPr/>
        </p:nvSpPr>
        <p:spPr>
          <a:xfrm>
            <a:off x="310896" y="5212080"/>
            <a:ext cx="4846320" cy="548640"/>
          </a:xfrm>
          <a:prstGeom prst="rect">
            <a:avLst/>
          </a:prstGeom>
          <a:noFill/>
        </p:spPr>
        <p:txBody>
          <a:bodyPr wrap="square" lIns="0" rIns="0" tIns="0" bIns="0" anchor="t">
            <a:spAutoFit/>
          </a:bodyPr>
          <a:lstStyle/>
          <a:p>
            <a:pPr algn="l">
              <a:lnSpc>
                <a:spcPct val="114000"/>
              </a:lnSpc>
              <a:spcAft>
                <a:spcPts val="0"/>
              </a:spcAft>
            </a:pPr>
            <a:r>
              <a:rPr sz="760" b="0">
                <a:solidFill>
                  <a:srgbClr val="5A6670"/>
                </a:solidFill>
                <a:latin typeface="游ゴシック"/>
                <a:ea typeface="游ゴシック"/>
                <a:cs typeface="游ゴシック"/>
              </a:rPr>
              <a:t>※ 代表者・配偶者はいずれも無報酬であり、新体制ではそば職人の人件費が新たに発生する。年収600万円＋社会保険料概算15％を仮置きした弊社の仮説値であり、実額は未確定（要確認）。</a:t>
            </a:r>
          </a:p>
        </p:txBody>
      </p:sp>
      <p:sp>
        <p:nvSpPr>
          <p:cNvPr id="20" name="Rectangle 19"/>
          <p:cNvSpPr/>
          <p:nvPr/>
        </p:nvSpPr>
        <p:spPr>
          <a:xfrm>
            <a:off x="5376672" y="1408176"/>
            <a:ext cx="5001768" cy="5047488"/>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468112" y="1481328"/>
            <a:ext cx="4818888"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22" name="TextBox 21"/>
          <p:cNvSpPr txBox="1"/>
          <p:nvPr/>
        </p:nvSpPr>
        <p:spPr>
          <a:xfrm>
            <a:off x="5486400" y="1828800"/>
            <a:ext cx="4782312" cy="4535423"/>
          </a:xfrm>
          <a:prstGeom prst="rect">
            <a:avLst/>
          </a:prstGeom>
          <a:noFill/>
        </p:spPr>
        <p:txBody>
          <a:bodyPr wrap="square" lIns="0" rIns="0" tIns="0" bIns="0" anchor="t">
            <a:spAutoFit/>
          </a:bodyPr>
          <a:lstStyle/>
          <a:p>
            <a:pPr algn="l">
              <a:lnSpc>
                <a:spcPct val="122000"/>
              </a:lnSpc>
              <a:spcAft>
                <a:spcPts val="200"/>
              </a:spcAft>
            </a:pPr>
            <a:r>
              <a:rPr sz="900" b="1">
                <a:solidFill>
                  <a:srgbClr val="0889C9"/>
                </a:solidFill>
                <a:latin typeface="游ゴシック"/>
                <a:ea typeface="游ゴシック"/>
                <a:cs typeface="游ゴシック"/>
              </a:rPr>
              <a:t>≪この2つを合わせて読む≫ </a:t>
            </a:r>
            <a:r>
              <a:rPr sz="900" b="0">
                <a:solidFill>
                  <a:srgbClr val="1A1A1A"/>
                </a:solidFill>
                <a:latin typeface="游ゴシック"/>
                <a:ea typeface="游ゴシック"/>
                <a:cs typeface="游ゴシック"/>
              </a:rPr>
              <a:t>職人1名を雇用した場合の正常化後EBITDAは2026/5期で△99千円となる。これを黒字化するには、営業日の拡大・日商の回復・卸売や通販の伸長のいずれか、あるいはその組合せが必要となる。</a:t>
            </a:r>
          </a:p>
          <a:p>
            <a:pPr algn="l">
              <a:spcAft>
                <a:spcPts val="200"/>
              </a:spcAft>
            </a:pPr>
          </a:p>
          <a:p>
            <a:pPr algn="l">
              <a:lnSpc>
                <a:spcPct val="122000"/>
              </a:lnSpc>
              <a:spcAft>
                <a:spcPts val="200"/>
              </a:spcAft>
            </a:pPr>
            <a:r>
              <a:rPr sz="900" b="1">
                <a:solidFill>
                  <a:srgbClr val="0889C9"/>
                </a:solidFill>
                <a:latin typeface="游ゴシック"/>
                <a:ea typeface="游ゴシック"/>
                <a:cs typeface="游ゴシック"/>
              </a:rPr>
              <a:t>≪営業日拡大の実現性（要確認）≫ </a:t>
            </a:r>
            <a:r>
              <a:rPr sz="900" b="0">
                <a:solidFill>
                  <a:srgbClr val="1A1A1A"/>
                </a:solidFill>
                <a:latin typeface="游ゴシック"/>
                <a:ea typeface="游ゴシック"/>
                <a:cs typeface="游ゴシック"/>
              </a:rPr>
              <a:t>掲載誌には「接客や調理、片付けまでの全てを小川氏一人でこなす」との記載があり、現在の週4日・昼のみという営業形態はこの体制を前提としたもの。営業日を増やすには人員の追加が前提となるため、①どの工程に何名必要か、②製粉・仕入・そば打ちの工程をどこまで分業できるか、の見極めが重要となる。</a:t>
            </a:r>
          </a:p>
          <a:p>
            <a:pPr algn="l">
              <a:spcAft>
                <a:spcPts val="200"/>
              </a:spcAft>
            </a:pPr>
          </a:p>
          <a:p>
            <a:pPr algn="l">
              <a:lnSpc>
                <a:spcPct val="122000"/>
              </a:lnSpc>
              <a:spcAft>
                <a:spcPts val="200"/>
              </a:spcAft>
            </a:pPr>
            <a:r>
              <a:rPr sz="900" b="1">
                <a:solidFill>
                  <a:srgbClr val="0889C9"/>
                </a:solidFill>
                <a:latin typeface="游ゴシック"/>
                <a:ea typeface="游ゴシック"/>
                <a:cs typeface="游ゴシック"/>
              </a:rPr>
              <a:t>≪承継の下地はある≫ </a:t>
            </a:r>
            <a:r>
              <a:rPr sz="900" b="0">
                <a:solidFill>
                  <a:srgbClr val="1A1A1A"/>
                </a:solidFill>
                <a:latin typeface="游ゴシック"/>
                <a:ea typeface="游ゴシック"/>
                <a:cs typeface="游ゴシック"/>
              </a:rPr>
              <a:t>レシピや「かえし」は誰でも再現できるよう整理済とのことであり（面談ヒアリング）、過去には弟子へ別店舗（塩町館）の営業を承継した実績がある。「代表者がいなければ蕎麦を打てない」という状態ではないと伺っている。</a:t>
            </a:r>
          </a:p>
          <a:p>
            <a:pPr algn="l">
              <a:spcAft>
                <a:spcPts val="200"/>
              </a:spcAft>
            </a:pPr>
          </a:p>
          <a:p>
            <a:pPr algn="l">
              <a:lnSpc>
                <a:spcPct val="122000"/>
              </a:lnSpc>
              <a:spcAft>
                <a:spcPts val="200"/>
              </a:spcAft>
            </a:pPr>
            <a:r>
              <a:rPr sz="900" b="1">
                <a:solidFill>
                  <a:srgbClr val="0889C9"/>
                </a:solidFill>
                <a:latin typeface="游ゴシック"/>
                <a:ea typeface="游ゴシック"/>
                <a:cs typeface="游ゴシック"/>
              </a:rPr>
              <a:t>≪売上規模以外の価値≫ </a:t>
            </a:r>
            <a:r>
              <a:rPr sz="900" b="0">
                <a:solidFill>
                  <a:srgbClr val="1A1A1A"/>
                </a:solidFill>
                <a:latin typeface="游ゴシック"/>
                <a:ea typeface="游ゴシック"/>
                <a:cs typeface="游ゴシック"/>
              </a:rPr>
              <a:t>本件の価値は直近の損益水準よりも、①同等の建築が事実上困難な店舗（取得価額104,599千円）、②全国区のブランドと商標、③金融機関借入のない資産構成、④未活用の稼働余地にある。</a:t>
            </a:r>
          </a:p>
        </p:txBody>
      </p:sp>
      <p:sp>
        <p:nvSpPr>
          <p:cNvPr id="23" name="TextBox 22"/>
          <p:cNvSpPr txBox="1"/>
          <p:nvPr/>
        </p:nvSpPr>
        <p:spPr>
          <a:xfrm>
            <a:off x="310896" y="6601968"/>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本ページの試算はいずれも弊社の仮説であり、将来の業績を保証するものではありません。前提の妥当性は買手候補様においてご検証ください。</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外部評価・メディア掲載</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Appendix</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食べログアワードBronzeを2年連続で受賞し、そば百名店にも選出。加えて同業の名店が原料を仕入れに訪れており、一般の評価サイトの順位以上の意味を持つ</a:t>
            </a:r>
            <a:endParaRPr lang="en-US" altLang="ja-JP" dirty="0"/>
          </a:p>
        </p:txBody>
      </p:sp>
      <p:graphicFrame>
        <p:nvGraphicFramePr>
          <p:cNvPr id="14" name="Table 13"/>
          <p:cNvGraphicFramePr>
            <a:graphicFrameLocks noGrp="1"/>
          </p:cNvGraphicFramePr>
          <p:nvPr/>
        </p:nvGraphicFramePr>
        <p:xfrm>
          <a:off x="310896" y="1463040"/>
          <a:ext cx="6382512" cy="2212848"/>
        </p:xfrm>
        <a:graphic>
          <a:graphicData uri="http://schemas.openxmlformats.org/drawingml/2006/table">
            <a:tbl>
              <a:tblPr firstRow="0" bandRow="0">
                <a:tableStyleId>{5940675A-B579-460E-94D1-54222C63F5DA}</a:tableStyleId>
              </a:tblPr>
              <a:tblGrid>
                <a:gridCol w="987552"/>
                <a:gridCol w="2743200"/>
                <a:gridCol w="749808"/>
                <a:gridCol w="1901952"/>
              </a:tblGrid>
              <a:tr h="237744">
                <a:tc>
                  <a:txBody>
                    <a:bodyPr wrap="square"/>
                    <a:lstStyle/>
                    <a:p>
                      <a:pPr algn="ctr">
                        <a:spcAft>
                          <a:spcPts val="0"/>
                        </a:spcAft>
                      </a:pPr>
                      <a:r>
                        <a:rPr sz="840" b="1">
                          <a:solidFill>
                            <a:srgbClr val="FFFFFF"/>
                          </a:solidFill>
                          <a:latin typeface="游ゴシック"/>
                          <a:ea typeface="游ゴシック"/>
                          <a:cs typeface="游ゴシック"/>
                        </a:rPr>
                        <a:t>区分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名称・媒体</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時期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9184">
                <a:tc>
                  <a:txBody>
                    <a:bodyPr wrap="square"/>
                    <a:lstStyle/>
                    <a:p>
                      <a:pPr algn="l">
                        <a:spcAft>
                          <a:spcPts val="0"/>
                        </a:spcAft>
                      </a:pPr>
                      <a:r>
                        <a:rPr sz="840" b="0">
                          <a:solidFill>
                            <a:srgbClr val="1A1A1A"/>
                          </a:solidFill>
                          <a:latin typeface="游ゴシック"/>
                          <a:ea typeface="游ゴシック"/>
                          <a:cs typeface="游ゴシック"/>
                        </a:rPr>
                        <a:t>受賞・選出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Japan Restaurant Award（食べログ）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2016年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茨城県 TOP 1 に選出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9184">
                <a:tc>
                  <a:txBody>
                    <a:bodyPr wrap="square"/>
                    <a:lstStyle/>
                    <a:p>
                      <a:pPr algn="l">
                        <a:spcAft>
                          <a:spcPts val="0"/>
                        </a:spcAft>
                      </a:pPr>
                      <a:r>
                        <a:rPr sz="840" b="0">
                          <a:solidFill>
                            <a:srgbClr val="1A1A1A"/>
                          </a:solidFill>
                          <a:latin typeface="游ゴシック"/>
                          <a:ea typeface="游ゴシック"/>
                          <a:cs typeface="游ゴシック"/>
                        </a:rPr>
                        <a:t>受賞・選出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THE TABELOG AWARD</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2022年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Bronze 受賞</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9184">
                <a:tc>
                  <a:txBody>
                    <a:bodyPr wrap="square"/>
                    <a:lstStyle/>
                    <a:p>
                      <a:pPr algn="l">
                        <a:spcAft>
                          <a:spcPts val="0"/>
                        </a:spcAft>
                      </a:pPr>
                      <a:r>
                        <a:rPr sz="840" b="0">
                          <a:solidFill>
                            <a:srgbClr val="1A1A1A"/>
                          </a:solidFill>
                          <a:latin typeface="游ゴシック"/>
                          <a:ea typeface="游ゴシック"/>
                          <a:cs typeface="游ゴシック"/>
                        </a:rPr>
                        <a:t>受賞・選出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THE TABELOG AWARD</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2023年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Bronze 受賞（2年連続）</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9184">
                <a:tc>
                  <a:txBody>
                    <a:bodyPr wrap="square"/>
                    <a:lstStyle/>
                    <a:p>
                      <a:pPr algn="l">
                        <a:spcAft>
                          <a:spcPts val="0"/>
                        </a:spcAft>
                      </a:pPr>
                      <a:r>
                        <a:rPr sz="840" b="0">
                          <a:solidFill>
                            <a:srgbClr val="1A1A1A"/>
                          </a:solidFill>
                          <a:latin typeface="游ゴシック"/>
                          <a:ea typeface="游ゴシック"/>
                          <a:cs typeface="游ゴシック"/>
                        </a:rPr>
                        <a:t>受賞・選出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食べログ「そば 百名店」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2018年頃</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選出。店内にステッカーを掲示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9184">
                <a:tc>
                  <a:txBody>
                    <a:bodyPr wrap="square"/>
                    <a:lstStyle/>
                    <a:p>
                      <a:pPr algn="l">
                        <a:spcAft>
                          <a:spcPts val="0"/>
                        </a:spcAft>
                      </a:pPr>
                      <a:r>
                        <a:rPr sz="840" b="0">
                          <a:solidFill>
                            <a:srgbClr val="1A1A1A"/>
                          </a:solidFill>
                          <a:latin typeface="游ゴシック"/>
                          <a:ea typeface="游ゴシック"/>
                          <a:cs typeface="游ゴシック"/>
                        </a:rPr>
                        <a:t>媒体掲載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Japan Brand Collection 2026 茨城版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2026年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「古式健珍蕎麦 慈久庵」として掲載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9184">
                <a:tc>
                  <a:txBody>
                    <a:bodyPr wrap="square"/>
                    <a:lstStyle/>
                    <a:p>
                      <a:pPr algn="l">
                        <a:spcAft>
                          <a:spcPts val="0"/>
                        </a:spcAft>
                      </a:pPr>
                      <a:r>
                        <a:rPr sz="840" b="0">
                          <a:solidFill>
                            <a:srgbClr val="1A1A1A"/>
                          </a:solidFill>
                          <a:latin typeface="游ゴシック"/>
                          <a:ea typeface="游ゴシック"/>
                          <a:cs typeface="游ゴシック"/>
                        </a:rPr>
                        <a:t>書籍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『小川宣夫の蕎麦・饂飩指南 ― 粗挽き蕎麦と石臼挽き饂飩』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代表者による著作</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310896" y="3895344"/>
            <a:ext cx="6382512" cy="292608"/>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同業・つくり手からの評価</a:t>
            </a:r>
          </a:p>
        </p:txBody>
      </p:sp>
      <p:sp>
        <p:nvSpPr>
          <p:cNvPr id="16" name="TextBox 15"/>
          <p:cNvSpPr txBox="1"/>
          <p:nvPr/>
        </p:nvSpPr>
        <p:spPr>
          <a:xfrm>
            <a:off x="365760" y="4315968"/>
            <a:ext cx="6272784" cy="1389888"/>
          </a:xfrm>
          <a:prstGeom prst="rect">
            <a:avLst/>
          </a:prstGeom>
          <a:noFill/>
        </p:spPr>
        <p:txBody>
          <a:bodyPr wrap="square" lIns="0" rIns="0" tIns="0" bIns="0" anchor="t">
            <a:spAutoFit/>
          </a:bodyPr>
          <a:lstStyle/>
          <a:p>
            <a:pPr algn="l">
              <a:lnSpc>
                <a:spcPct val="122000"/>
              </a:lnSpc>
              <a:spcAft>
                <a:spcPts val="200"/>
              </a:spcAft>
            </a:pPr>
            <a:r>
              <a:rPr sz="940" b="1">
                <a:solidFill>
                  <a:srgbClr val="0889C9"/>
                </a:solidFill>
                <a:latin typeface="游ゴシック"/>
                <a:ea typeface="游ゴシック"/>
                <a:cs typeface="游ゴシック"/>
              </a:rPr>
              <a:t>玄そば・蕎麦粉の供給先　</a:t>
            </a:r>
            <a:r>
              <a:rPr sz="919" b="0">
                <a:solidFill>
                  <a:srgbClr val="1A1A1A"/>
                </a:solidFill>
                <a:latin typeface="游ゴシック"/>
                <a:ea typeface="游ゴシック"/>
                <a:cs typeface="游ゴシック"/>
              </a:rPr>
              <a:t>打心蕎庵・玉笑など、同業の有名店が玄そば・蕎麦粉を仕入れている。</a:t>
            </a:r>
          </a:p>
          <a:p>
            <a:pPr algn="l">
              <a:lnSpc>
                <a:spcPct val="122000"/>
              </a:lnSpc>
              <a:spcAft>
                <a:spcPts val="200"/>
              </a:spcAft>
            </a:pPr>
            <a:r>
              <a:rPr sz="940" b="1">
                <a:solidFill>
                  <a:srgbClr val="0889C9"/>
                </a:solidFill>
                <a:latin typeface="游ゴシック"/>
                <a:ea typeface="游ゴシック"/>
                <a:cs typeface="游ゴシック"/>
              </a:rPr>
              <a:t>石臼挽き小麦粉の供給先　</a:t>
            </a:r>
            <a:r>
              <a:rPr sz="919" b="0">
                <a:solidFill>
                  <a:srgbClr val="1A1A1A"/>
                </a:solidFill>
                <a:latin typeface="游ゴシック"/>
                <a:ea typeface="游ゴシック"/>
                <a:cs typeface="游ゴシック"/>
              </a:rPr>
              <a:t>キビヤベーカリー（1,865千円）、ルヴァン（231千円）。いずれも3期連続で取引が継続している。</a:t>
            </a:r>
          </a:p>
          <a:p>
            <a:pPr algn="l">
              <a:lnSpc>
                <a:spcPct val="122000"/>
              </a:lnSpc>
              <a:spcAft>
                <a:spcPts val="200"/>
              </a:spcAft>
            </a:pPr>
            <a:r>
              <a:rPr sz="940" b="1">
                <a:solidFill>
                  <a:srgbClr val="0889C9"/>
                </a:solidFill>
                <a:latin typeface="游ゴシック"/>
                <a:ea typeface="游ゴシック"/>
                <a:cs typeface="游ゴシック"/>
              </a:rPr>
              <a:t>意味合い　</a:t>
            </a:r>
            <a:r>
              <a:rPr sz="919" b="0">
                <a:solidFill>
                  <a:srgbClr val="1A1A1A"/>
                </a:solidFill>
                <a:latin typeface="游ゴシック"/>
                <a:ea typeface="游ゴシック"/>
                <a:cs typeface="游ゴシック"/>
              </a:rPr>
              <a:t>消費者の評価だけでなく、原料の目利きができる「つくり手」から選ばれている点が、ブランドの持続性を裏付けている（弊社の評価）。</a:t>
            </a:r>
          </a:p>
        </p:txBody>
      </p:sp>
      <p:sp>
        <p:nvSpPr>
          <p:cNvPr id="17" name="Rectangle 16"/>
          <p:cNvSpPr/>
          <p:nvPr/>
        </p:nvSpPr>
        <p:spPr>
          <a:xfrm>
            <a:off x="6876288" y="1463040"/>
            <a:ext cx="3502152" cy="4242816"/>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67727" y="1536192"/>
            <a:ext cx="3319272"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19" name="TextBox 18"/>
          <p:cNvSpPr txBox="1"/>
          <p:nvPr/>
        </p:nvSpPr>
        <p:spPr>
          <a:xfrm>
            <a:off x="6986016" y="1883664"/>
            <a:ext cx="3282696" cy="3730752"/>
          </a:xfrm>
          <a:prstGeom prst="rect">
            <a:avLst/>
          </a:prstGeom>
          <a:noFill/>
        </p:spPr>
        <p:txBody>
          <a:bodyPr wrap="square" lIns="0" rIns="0" tIns="0" bIns="0" anchor="t">
            <a:spAutoFit/>
          </a:bodyPr>
          <a:lstStyle/>
          <a:p>
            <a:pPr algn="l">
              <a:lnSpc>
                <a:spcPct val="120000"/>
              </a:lnSpc>
              <a:spcAft>
                <a:spcPts val="200"/>
              </a:spcAft>
            </a:pPr>
            <a:r>
              <a:rPr sz="919" b="1">
                <a:solidFill>
                  <a:srgbClr val="0889C9"/>
                </a:solidFill>
                <a:latin typeface="游ゴシック"/>
                <a:ea typeface="游ゴシック"/>
                <a:cs typeface="游ゴシック"/>
              </a:rPr>
              <a:t>≪知名度の位置づけ≫ </a:t>
            </a:r>
            <a:r>
              <a:rPr sz="900" b="0">
                <a:solidFill>
                  <a:srgbClr val="1A1A1A"/>
                </a:solidFill>
                <a:latin typeface="游ゴシック"/>
                <a:ea typeface="游ゴシック"/>
                <a:cs typeface="游ゴシック"/>
              </a:rPr>
              <a:t>常陸太田市天下野町という、鉄道駅から離れた中山間地に立地しながら、県内トップの評価と全国区の認知を得ている。立地の不利を上回る集客力は、ブランドそのものに起因していると考えられる。</a:t>
            </a:r>
          </a:p>
          <a:p>
            <a:pPr algn="l">
              <a:spcAft>
                <a:spcPts val="200"/>
              </a:spcAft>
            </a:pPr>
          </a:p>
          <a:p>
            <a:pPr algn="l">
              <a:lnSpc>
                <a:spcPct val="120000"/>
              </a:lnSpc>
              <a:spcAft>
                <a:spcPts val="200"/>
              </a:spcAft>
            </a:pPr>
            <a:r>
              <a:rPr sz="919" b="1">
                <a:solidFill>
                  <a:srgbClr val="0889C9"/>
                </a:solidFill>
                <a:latin typeface="游ゴシック"/>
                <a:ea typeface="游ゴシック"/>
                <a:cs typeface="游ゴシック"/>
              </a:rPr>
              <a:t>≪承継後の継続性≫ </a:t>
            </a:r>
            <a:r>
              <a:rPr sz="900" b="0">
                <a:solidFill>
                  <a:srgbClr val="1A1A1A"/>
                </a:solidFill>
                <a:latin typeface="游ゴシック"/>
                <a:ea typeface="游ゴシック"/>
                <a:cs typeface="游ゴシック"/>
              </a:rPr>
              <a:t>受賞・選出は店舗と製法に対する評価であり、代表者個人への評価と不可分な部分がある。承継後も評価を維持できるかは、製法の引継ぎの完成度に依存する（P.21・P.35）。</a:t>
            </a:r>
          </a:p>
          <a:p>
            <a:pPr algn="l">
              <a:spcAft>
                <a:spcPts val="200"/>
              </a:spcAft>
            </a:pPr>
          </a:p>
          <a:p>
            <a:pPr algn="l">
              <a:lnSpc>
                <a:spcPct val="120000"/>
              </a:lnSpc>
              <a:spcAft>
                <a:spcPts val="200"/>
              </a:spcAft>
            </a:pPr>
            <a:r>
              <a:rPr sz="919" b="1">
                <a:solidFill>
                  <a:srgbClr val="0889C9"/>
                </a:solidFill>
                <a:latin typeface="游ゴシック"/>
                <a:ea typeface="游ゴシック"/>
                <a:cs typeface="游ゴシック"/>
              </a:rPr>
              <a:t>≪掲載物の取扱い≫ </a:t>
            </a:r>
            <a:r>
              <a:rPr sz="900" b="0">
                <a:solidFill>
                  <a:srgbClr val="1A1A1A"/>
                </a:solidFill>
                <a:latin typeface="游ゴシック"/>
                <a:ea typeface="游ゴシック"/>
                <a:cs typeface="游ゴシック"/>
              </a:rPr>
              <a:t>掲載誌の誌面および書籍の写真を本書に転載する場合は、発行元の許諾が必要となる。受賞盾・ステッカー等の店内掲示物を弊社が撮影した写真であれば、この制約を受けずに掲載できる。</a:t>
            </a:r>
          </a:p>
          <a:p>
            <a:pPr algn="l">
              <a:spcAft>
                <a:spcPts val="200"/>
              </a:spcAft>
            </a:pPr>
          </a:p>
          <a:p>
            <a:pPr algn="l">
              <a:lnSpc>
                <a:spcPct val="120000"/>
              </a:lnSpc>
              <a:spcAft>
                <a:spcPts val="200"/>
              </a:spcAft>
            </a:pPr>
            <a:r>
              <a:rPr sz="919" b="1">
                <a:solidFill>
                  <a:srgbClr val="0889C9"/>
                </a:solidFill>
                <a:latin typeface="游ゴシック"/>
                <a:ea typeface="游ゴシック"/>
                <a:cs typeface="游ゴシック"/>
              </a:rPr>
              <a:t>≪裏付け資料≫ </a:t>
            </a:r>
            <a:r>
              <a:rPr sz="900" b="0">
                <a:solidFill>
                  <a:srgbClr val="1A1A1A"/>
                </a:solidFill>
                <a:latin typeface="游ゴシック"/>
                <a:ea typeface="游ゴシック"/>
                <a:cs typeface="游ゴシック"/>
              </a:rPr>
              <a:t>受賞歴は店内に掲示された盾・楯・ステッカーの実査により確認。表彰状等の原本および掲載誌の現物は要確認。</a:t>
            </a:r>
          </a:p>
        </p:txBody>
      </p:sp>
      <p:sp>
        <p:nvSpPr>
          <p:cNvPr id="20" name="TextBox 19"/>
          <p:cNvSpPr txBox="1"/>
          <p:nvPr/>
        </p:nvSpPr>
        <p:spPr>
          <a:xfrm>
            <a:off x="310896" y="6473952"/>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受賞・選出は店内掲示物の実査、媒体掲載は Japan Brand Collection 2026 茨城版、供給先金額は総勘定元帳の取引先別集計に基づきます。</a:t>
            </a:r>
          </a:p>
          <a:p>
            <a:pPr algn="l">
              <a:lnSpc>
                <a:spcPct val="112000"/>
              </a:lnSpc>
              <a:spcAft>
                <a:spcPts val="100"/>
              </a:spcAft>
            </a:pPr>
            <a:r>
              <a:rPr sz="750" b="0">
                <a:solidFill>
                  <a:srgbClr val="5A6670"/>
                </a:solidFill>
                <a:latin typeface="游ゴシック"/>
                <a:ea typeface="游ゴシック"/>
                <a:cs typeface="游ゴシック"/>
              </a:rPr>
              <a:t>※ 受賞記録の原本は未受領です（案件マスター「その他」シート 追加論点 No.7）。</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75621-FF75-0C7B-591E-C5EBD950595B}"/>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7E874B4C-2D5E-166C-B8B9-0164D0AAEFB9}"/>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要確認事項・ネクストステップ</a:t>
            </a:r>
          </a:p>
        </p:txBody>
      </p:sp>
      <p:sp>
        <p:nvSpPr>
          <p:cNvPr id="5" name="タイトル 1">
            <a:extLst>
              <a:ext uri="{FF2B5EF4-FFF2-40B4-BE49-F238E27FC236}">
                <a16:creationId xmlns:a16="http://schemas.microsoft.com/office/drawing/2014/main" id="{8B300F08-EE1D-F462-B949-D3B040FD027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Appendix</a:t>
            </a:r>
            <a:endParaRPr lang="ja-JP" altLang="en-US" sz="1200" b="1" spc="55" dirty="0">
              <a:solidFill>
                <a:schemeClr val="bg1"/>
              </a:solidFill>
            </a:endParaRPr>
          </a:p>
        </p:txBody>
      </p:sp>
      <p:sp>
        <p:nvSpPr>
          <p:cNvPr id="4" name="字幕 13">
            <a:extLst>
              <a:ext uri="{FF2B5EF4-FFF2-40B4-BE49-F238E27FC236}">
                <a16:creationId xmlns:a16="http://schemas.microsoft.com/office/drawing/2014/main" id="{FCA9575B-1240-BC5B-38CA-16FCB838E8D8}"/>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本概要書の作成時点で裏付資料の受領が完了していない事項。トップ面談前の確定を想定</a:t>
            </a:r>
            <a:endParaRPr lang="en-US" altLang="ja-JP" dirty="0"/>
          </a:p>
        </p:txBody>
      </p:sp>
      <p:graphicFrame>
        <p:nvGraphicFramePr>
          <p:cNvPr id="14" name="Table 13"/>
          <p:cNvGraphicFramePr>
            <a:graphicFrameLocks noGrp="1"/>
          </p:cNvGraphicFramePr>
          <p:nvPr/>
        </p:nvGraphicFramePr>
        <p:xfrm>
          <a:off x="310896" y="1408176"/>
          <a:ext cx="10067544" cy="4683550"/>
        </p:xfrm>
        <a:graphic>
          <a:graphicData uri="http://schemas.openxmlformats.org/drawingml/2006/table">
            <a:tbl>
              <a:tblPr firstRow="0" bandRow="0">
                <a:tableStyleId>{5940675A-B579-460E-94D1-54222C63F5DA}</a:tableStyleId>
              </a:tblPr>
              <a:tblGrid>
                <a:gridCol w="365760"/>
                <a:gridCol w="1188720"/>
                <a:gridCol w="7781544"/>
                <a:gridCol w="731520"/>
              </a:tblGrid>
              <a:tr h="237744">
                <a:tc>
                  <a:txBody>
                    <a:bodyPr wrap="square"/>
                    <a:lstStyle/>
                    <a:p>
                      <a:pPr algn="ctr">
                        <a:spcAft>
                          <a:spcPts val="0"/>
                        </a:spcAft>
                      </a:pPr>
                      <a:r>
                        <a:rPr sz="819" b="1">
                          <a:solidFill>
                            <a:srgbClr val="FFFFFF"/>
                          </a:solidFill>
                          <a:latin typeface="游ゴシック"/>
                          <a:ea typeface="游ゴシック"/>
                          <a:cs typeface="游ゴシック"/>
                        </a:rPr>
                        <a:t>No.</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分野</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確認事項</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優先度</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不動産・権利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店舗建物が未登記。表題登記・保存登記の実施可否、費用、所要期間。土地の登記簿・公図・測量図の取得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不動産・権利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代表者・配偶者が店舗2階に居住中。明渡しの時期・条件（現状は年180千円の家賃収入を雑収入に計上）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譲渡対象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塩町館（建物簿価5,442千円）の取扱い。営業権・什器備品は元従業員へ譲渡済だが建物登記は未変更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関係会社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（株）慈久庵咸亨酒・（株）慈久庵伊勢又の事業内容・株主構成・当社との取引関係および本件での取扱い</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債権回収</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未収入金3,323千円（塩町館・小びと）が3期連続で増加。回収条件・回収可能性・取引継続の是非</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借入金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代表者・配偶者からの借入32,744千円の本件実行時の取扱い。金銭消費貸借契約書の有無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知的財産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商標登録4件の登録番号・区分・指定商品役務・存続期間。「古式けんちんそば」の登録状況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人員・属人性</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レシピ・「かえし」等の標準化資料の実物確認。引継ぎに要する期間・人数・方式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営業体制</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営業日・営業時間を拡大する際の制約要因（人員・原料・体力・地域事情）と拡大余地の定量化</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売上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店頭日商が86→80→75千円と低下。客数・客単価のいずれが要因か。価格改定・休業の影響</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許認可</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飲食店営業許可証の写し。乾麺・そばつゆ・醤・味噌の製造販売に係る許可の要否</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原価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玄そばの仕入先・数量・単価。自家栽培（焼畑）の現況と農地の権利関係</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クラシックカー2台（簿価1円）の事業供用実態と時価。本件譲渡対象に含めるか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財務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支払保険料623千円の内訳。役員保険・解約返戻金のある契約の有無。退職金規程の有無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財務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勘定科目内訳明細書は2026年5月期のみ受領済。2024年・2025年5月期分の受領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労務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雑給2,201千円の支払先「小川実他1」の勤務実態・雇用形態・社会保険の適用状況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通販・物販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ふるさと納税返礼品の採用状況・取扱数量・手数料率。物販商品の製造場所・許認可・原価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TextBox 14"/>
          <p:cNvSpPr txBox="1"/>
          <p:nvPr/>
        </p:nvSpPr>
        <p:spPr>
          <a:xfrm>
            <a:off x="310896" y="6711696"/>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【高】はトップ面談前に確定させたい事項、【中】は基本合意までに確認したい事項です。本一覧は案件マスター「その他」シートに集約しています。</a:t>
            </a:r>
          </a:p>
        </p:txBody>
      </p:sp>
    </p:spTree>
    <p:extLst>
      <p:ext uri="{BB962C8B-B14F-4D97-AF65-F5344CB8AC3E}">
        <p14:creationId xmlns:p14="http://schemas.microsoft.com/office/powerpoint/2010/main" val="8056887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正方形/長方形 12">
            <a:extLst>
              <a:ext uri="{FF2B5EF4-FFF2-40B4-BE49-F238E27FC236}">
                <a16:creationId xmlns:a16="http://schemas.microsoft.com/office/drawing/2014/main" id="{89F2FC56-6ADD-9704-B514-62FD74DE3ED5}"/>
              </a:ext>
            </a:extLst>
          </p:cNvPr>
          <p:cNvSpPr/>
          <p:nvPr/>
        </p:nvSpPr>
        <p:spPr>
          <a:xfrm>
            <a:off x="449263" y="1362266"/>
            <a:ext cx="3816000" cy="366383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360000" rIns="180000" bIns="0" rtlCol="0" anchor="t"/>
          <a:lstStyle/>
          <a:p>
            <a:pPr algn="ctr">
              <a:buClr>
                <a:schemeClr val="tx2"/>
              </a:buClr>
              <a:buSzPct val="80000"/>
            </a:pPr>
            <a:endParaRPr kumimoji="1" lang="zh-TW" altLang="en-US" sz="2000" b="1" spc="110" dirty="0">
              <a:solidFill>
                <a:schemeClr val="tx2"/>
              </a:solidFill>
              <a:latin typeface="+mj-ea"/>
              <a:ea typeface="+mj-ea"/>
            </a:endParaRPr>
          </a:p>
        </p:txBody>
      </p:sp>
      <p:sp>
        <p:nvSpPr>
          <p:cNvPr id="34" name="正方形/長方形 33">
            <a:extLst>
              <a:ext uri="{FF2B5EF4-FFF2-40B4-BE49-F238E27FC236}">
                <a16:creationId xmlns:a16="http://schemas.microsoft.com/office/drawing/2014/main" id="{F2057333-40C8-2D4A-60A4-202E9B7B444C}"/>
              </a:ext>
            </a:extLst>
          </p:cNvPr>
          <p:cNvSpPr/>
          <p:nvPr/>
        </p:nvSpPr>
        <p:spPr>
          <a:xfrm>
            <a:off x="4522064" y="1362266"/>
            <a:ext cx="5724000" cy="572432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0" rtlCol="0" anchor="t"/>
          <a:lstStyle/>
          <a:p>
            <a:pPr algn="ctr">
              <a:buClr>
                <a:schemeClr val="tx2"/>
              </a:buClr>
              <a:buSzPct val="80000"/>
            </a:pPr>
            <a:r>
              <a:rPr kumimoji="1" lang="ja-JP" altLang="en-US" sz="1800" b="1" spc="110" dirty="0">
                <a:solidFill>
                  <a:schemeClr val="tx1"/>
                </a:solidFill>
                <a:latin typeface="+mj-ea"/>
                <a:ea typeface="+mj-ea"/>
              </a:rPr>
              <a:t>成功報酬</a:t>
            </a:r>
            <a:r>
              <a:rPr kumimoji="1" lang="en-US" altLang="ja-JP" sz="1800" spc="110" baseline="30000" dirty="0">
                <a:solidFill>
                  <a:schemeClr val="tx1"/>
                </a:solidFill>
                <a:latin typeface="+mj-ea"/>
                <a:ea typeface="+mj-ea"/>
              </a:rPr>
              <a:t>※2</a:t>
            </a:r>
            <a:r>
              <a:rPr kumimoji="1" lang="ja-JP" altLang="en-US" sz="1800" b="1" spc="110" dirty="0">
                <a:solidFill>
                  <a:schemeClr val="tx1"/>
                </a:solidFill>
                <a:latin typeface="+mj-ea"/>
                <a:ea typeface="+mj-ea"/>
              </a:rPr>
              <a:t>の算定方法</a:t>
            </a:r>
          </a:p>
        </p:txBody>
      </p:sp>
      <p:sp>
        <p:nvSpPr>
          <p:cNvPr id="6" name="字幕 5">
            <a:extLst>
              <a:ext uri="{FF2B5EF4-FFF2-40B4-BE49-F238E27FC236}">
                <a16:creationId xmlns:a16="http://schemas.microsoft.com/office/drawing/2014/main" id="{8B635CAA-C777-BCBD-D6CB-D6FE9099ED6B}"/>
              </a:ext>
            </a:extLst>
          </p:cNvPr>
          <p:cNvSpPr>
            <a:spLocks noGrp="1"/>
          </p:cNvSpPr>
          <p:nvPr>
            <p:ph type="subTitle" idx="1"/>
          </p:nvPr>
        </p:nvSpPr>
        <p:spPr>
          <a:xfrm>
            <a:off x="460675" y="830046"/>
            <a:ext cx="9781875" cy="241861"/>
          </a:xfrm>
        </p:spPr>
        <p:txBody>
          <a:bodyPr/>
          <a:lstStyle/>
          <a:p>
            <a:r>
              <a:rPr lang="ja-JP" altLang="en-US" dirty="0">
                <a:solidFill/>
              </a:rPr>
              <a:t>時価総資産</a:t>
            </a:r>
            <a:r>
              <a:rPr lang="en-US" altLang="ja-JP" dirty="0">
                <a:solidFill/>
              </a:rPr>
              <a:t>(</a:t>
            </a:r>
            <a:r>
              <a:rPr lang="ja-JP" altLang="en-US" dirty="0">
                <a:solidFill/>
              </a:rPr>
              <a:t>営業権含む</a:t>
            </a:r>
            <a:r>
              <a:rPr lang="en-US" altLang="ja-JP" dirty="0">
                <a:solidFill/>
              </a:rPr>
              <a:t>)</a:t>
            </a:r>
            <a:r>
              <a:rPr lang="ja-JP" altLang="en-US" dirty="0">
                <a:solidFill/>
              </a:rPr>
              <a:t>を基準とした報酬体系であり、独占交渉権獲得の段階まで費用は発生しません</a:t>
            </a:r>
            <a:endParaRPr lang="en-US" altLang="ja-JP" dirty="0"/>
          </a:p>
        </p:txBody>
      </p:sp>
      <p:sp>
        <p:nvSpPr>
          <p:cNvPr id="2" name="タイトル 1">
            <a:extLst>
              <a:ext uri="{FF2B5EF4-FFF2-40B4-BE49-F238E27FC236}">
                <a16:creationId xmlns:a16="http://schemas.microsoft.com/office/drawing/2014/main" id="{D080ECA5-1EC6-E0DA-1045-7623DC8B0517}"/>
              </a:ext>
            </a:extLst>
          </p:cNvPr>
          <p:cNvSpPr>
            <a:spLocks noGrp="1"/>
          </p:cNvSpPr>
          <p:nvPr>
            <p:ph type="ctrTitle"/>
          </p:nvPr>
        </p:nvSpPr>
        <p:spPr/>
        <p:txBody>
          <a:bodyPr/>
          <a:lstStyle/>
          <a:p>
            <a:r>
              <a:rPr lang="ja-JP" altLang="en-US" dirty="0">
                <a:solidFill/>
              </a:rPr>
              <a:t>報酬体系</a:t>
            </a:r>
          </a:p>
        </p:txBody>
      </p:sp>
      <p:sp>
        <p:nvSpPr>
          <p:cNvPr id="7" name="タイトル 1">
            <a:extLst>
              <a:ext uri="{FF2B5EF4-FFF2-40B4-BE49-F238E27FC236}">
                <a16:creationId xmlns:a16="http://schemas.microsoft.com/office/drawing/2014/main" id="{0DF55F9A-C4D7-02A8-F804-D2CAF9784F10}"/>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solidFill/>
              </a:rPr>
              <a:t>　</a:t>
            </a:r>
            <a:r>
              <a:rPr lang="en-US" altLang="ja-JP" dirty="0">
                <a:solidFill/>
              </a:rPr>
              <a:t>Appendix</a:t>
            </a:r>
            <a:endParaRPr lang="ja-JP" altLang="en-US" dirty="0"/>
          </a:p>
        </p:txBody>
      </p:sp>
      <p:cxnSp>
        <p:nvCxnSpPr>
          <p:cNvPr id="15" name="直線コネクタ 14">
            <a:extLst>
              <a:ext uri="{FF2B5EF4-FFF2-40B4-BE49-F238E27FC236}">
                <a16:creationId xmlns:a16="http://schemas.microsoft.com/office/drawing/2014/main" id="{CB8BC532-89AB-609B-2D65-2652067D6567}"/>
              </a:ext>
            </a:extLst>
          </p:cNvPr>
          <p:cNvCxnSpPr>
            <a:cxnSpLocks/>
          </p:cNvCxnSpPr>
          <p:nvPr/>
        </p:nvCxnSpPr>
        <p:spPr>
          <a:xfrm>
            <a:off x="449263" y="1362267"/>
            <a:ext cx="3816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8" name="正方形/長方形 17">
            <a:extLst>
              <a:ext uri="{FF2B5EF4-FFF2-40B4-BE49-F238E27FC236}">
                <a16:creationId xmlns:a16="http://schemas.microsoft.com/office/drawing/2014/main" id="{6E720941-89DA-5B24-F4D1-711BB1F814EF}"/>
              </a:ext>
            </a:extLst>
          </p:cNvPr>
          <p:cNvSpPr>
            <a:spLocks/>
          </p:cNvSpPr>
          <p:nvPr/>
        </p:nvSpPr>
        <p:spPr>
          <a:xfrm>
            <a:off x="768087" y="2452713"/>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zh-TW" altLang="en-US" sz="1600" b="1" spc="110" dirty="0">
                <a:solidFill>
                  <a:schemeClr val="tx2"/>
                </a:solidFill>
                <a:latin typeface="+mj-ea"/>
                <a:ea typeface="+mj-ea"/>
              </a:rPr>
              <a:t>着手金</a:t>
            </a:r>
            <a:endParaRPr kumimoji="1" lang="zh-TW" altLang="en-US" sz="1600" spc="110" baseline="30000" dirty="0">
              <a:solidFill>
                <a:schemeClr val="tx2"/>
              </a:solidFill>
              <a:latin typeface="+mj-ea"/>
              <a:ea typeface="+mj-ea"/>
            </a:endParaRPr>
          </a:p>
        </p:txBody>
      </p:sp>
      <p:sp>
        <p:nvSpPr>
          <p:cNvPr id="20" name="正方形/長方形 19">
            <a:extLst>
              <a:ext uri="{FF2B5EF4-FFF2-40B4-BE49-F238E27FC236}">
                <a16:creationId xmlns:a16="http://schemas.microsoft.com/office/drawing/2014/main" id="{C770662D-0186-159D-6B20-6AADFFE9CBBA}"/>
              </a:ext>
            </a:extLst>
          </p:cNvPr>
          <p:cNvSpPr>
            <a:spLocks/>
          </p:cNvSpPr>
          <p:nvPr/>
        </p:nvSpPr>
        <p:spPr>
          <a:xfrm>
            <a:off x="768087" y="3965025"/>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ja-JP" altLang="en-US" sz="1600" b="1" spc="110" dirty="0">
                <a:solidFill>
                  <a:schemeClr val="tx2"/>
                </a:solidFill>
                <a:latin typeface="+mj-ea"/>
                <a:ea typeface="+mj-ea"/>
              </a:rPr>
              <a:t>リテイナーフィー</a:t>
            </a:r>
            <a:endParaRPr kumimoji="1" lang="zh-TW" altLang="en-US" sz="1600" spc="110" baseline="30000" dirty="0">
              <a:solidFill>
                <a:schemeClr val="tx2"/>
              </a:solidFill>
              <a:latin typeface="+mj-ea"/>
              <a:ea typeface="+mj-ea"/>
            </a:endParaRPr>
          </a:p>
        </p:txBody>
      </p:sp>
      <p:sp>
        <p:nvSpPr>
          <p:cNvPr id="21" name="正方形/長方形 20">
            <a:extLst>
              <a:ext uri="{FF2B5EF4-FFF2-40B4-BE49-F238E27FC236}">
                <a16:creationId xmlns:a16="http://schemas.microsoft.com/office/drawing/2014/main" id="{E00098F5-AD27-787B-FFFF-9D575BB76654}"/>
              </a:ext>
            </a:extLst>
          </p:cNvPr>
          <p:cNvSpPr>
            <a:spLocks/>
          </p:cNvSpPr>
          <p:nvPr/>
        </p:nvSpPr>
        <p:spPr>
          <a:xfrm>
            <a:off x="768087" y="3208869"/>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ja-JP" altLang="en-US" sz="1600" b="1" spc="110" dirty="0">
                <a:solidFill>
                  <a:schemeClr val="tx2"/>
                </a:solidFill>
                <a:latin typeface="+mj-ea"/>
                <a:ea typeface="+mj-ea"/>
              </a:rPr>
              <a:t>情報提供料</a:t>
            </a:r>
            <a:endParaRPr kumimoji="1" lang="zh-TW" altLang="en-US" sz="1600" b="1" spc="110" dirty="0">
              <a:solidFill>
                <a:schemeClr val="tx2"/>
              </a:solidFill>
              <a:latin typeface="+mj-ea"/>
              <a:ea typeface="+mj-ea"/>
            </a:endParaRPr>
          </a:p>
        </p:txBody>
      </p:sp>
      <p:sp>
        <p:nvSpPr>
          <p:cNvPr id="24" name="テキスト ボックス 23">
            <a:extLst>
              <a:ext uri="{FF2B5EF4-FFF2-40B4-BE49-F238E27FC236}">
                <a16:creationId xmlns:a16="http://schemas.microsoft.com/office/drawing/2014/main" id="{732BB496-90B0-3CEC-6685-2DABCCD36309}"/>
              </a:ext>
            </a:extLst>
          </p:cNvPr>
          <p:cNvSpPr txBox="1"/>
          <p:nvPr/>
        </p:nvSpPr>
        <p:spPr>
          <a:xfrm>
            <a:off x="3604575" y="3422948"/>
            <a:ext cx="428323" cy="278731"/>
          </a:xfrm>
          <a:prstGeom prst="rect">
            <a:avLst/>
          </a:prstGeom>
          <a:noFill/>
        </p:spPr>
        <p:txBody>
          <a:bodyPr wrap="none" lIns="0" tIns="0" rIns="0" bIns="0" rtlCol="0">
            <a:spAutoFit/>
          </a:bodyPr>
          <a:lstStyle/>
          <a:p>
            <a:pPr algn="ctr">
              <a:lnSpc>
                <a:spcPct val="120000"/>
              </a:lnSpc>
              <a:buClr>
                <a:schemeClr val="tx2"/>
              </a:buClr>
              <a:buSzPct val="80000"/>
            </a:pPr>
            <a:r>
              <a:rPr lang="ja-JP" altLang="en-US" sz="1600" b="1" spc="70" dirty="0">
                <a:solidFill/>
                <a:latin typeface="+mj-ea"/>
                <a:ea typeface="+mj-ea"/>
              </a:rPr>
              <a:t>無料</a:t>
            </a:r>
          </a:p>
        </p:txBody>
      </p:sp>
      <p:sp>
        <p:nvSpPr>
          <p:cNvPr id="30" name="右大かっこ 29">
            <a:extLst>
              <a:ext uri="{FF2B5EF4-FFF2-40B4-BE49-F238E27FC236}">
                <a16:creationId xmlns:a16="http://schemas.microsoft.com/office/drawing/2014/main" id="{3B1D8EBE-EC59-B246-AF6C-841872564D9C}"/>
              </a:ext>
            </a:extLst>
          </p:cNvPr>
          <p:cNvSpPr/>
          <p:nvPr/>
        </p:nvSpPr>
        <p:spPr>
          <a:xfrm>
            <a:off x="3324087" y="2479728"/>
            <a:ext cx="174824" cy="2097297"/>
          </a:xfrm>
          <a:prstGeom prst="rightBracket">
            <a:avLst>
              <a:gd name="adj" fmla="val 0"/>
            </a:avLst>
          </a:prstGeom>
          <a:ln w="12700">
            <a:solidFill>
              <a:schemeClr val="tx2"/>
            </a:solidFill>
            <a:prstDash val="sysDot"/>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36" name="正方形/長方形 35">
            <a:extLst>
              <a:ext uri="{FF2B5EF4-FFF2-40B4-BE49-F238E27FC236}">
                <a16:creationId xmlns:a16="http://schemas.microsoft.com/office/drawing/2014/main" id="{9AE04EFA-8A89-729B-C209-CDC92D8F408B}"/>
              </a:ext>
            </a:extLst>
          </p:cNvPr>
          <p:cNvSpPr/>
          <p:nvPr/>
        </p:nvSpPr>
        <p:spPr>
          <a:xfrm>
            <a:off x="4766690" y="6067960"/>
            <a:ext cx="4411464" cy="942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b">
            <a:spAutoFit/>
          </a:bodyPr>
          <a:lstStyle/>
          <a:p>
            <a:pPr>
              <a:lnSpc>
                <a:spcPct val="110000"/>
              </a:lnSpc>
            </a:pPr>
            <a:r>
              <a:rPr lang="en-US" altLang="ja-JP" sz="800" dirty="0">
                <a:solidFill>
                  <a:schemeClr val="tx1"/>
                </a:solidFill>
                <a:latin typeface="+mn-ea"/>
              </a:rPr>
              <a:t>※2</a:t>
            </a:r>
            <a:r>
              <a:rPr lang="ja-JP" altLang="en-US" sz="800" dirty="0">
                <a:solidFill>
                  <a:schemeClr val="tx1"/>
                </a:solidFill>
                <a:latin typeface="+mn-ea"/>
              </a:rPr>
              <a:t>　以下の項目については上記報酬には含まれておりません。</a:t>
            </a:r>
          </a:p>
          <a:p>
            <a:pPr>
              <a:lnSpc>
                <a:spcPct val="110000"/>
              </a:lnSpc>
            </a:pPr>
            <a:r>
              <a:rPr lang="ja-JP" altLang="en-US" sz="800" dirty="0">
                <a:solidFill>
                  <a:schemeClr val="tx1"/>
                </a:solidFill>
                <a:latin typeface="+mn-ea"/>
              </a:rPr>
              <a:t>　　・買収監査、特殊な市場調査や技術評価、経営計画作成のための費用</a:t>
            </a:r>
          </a:p>
          <a:p>
            <a:pPr>
              <a:lnSpc>
                <a:spcPct val="110000"/>
              </a:lnSpc>
            </a:pPr>
            <a:r>
              <a:rPr lang="ja-JP" altLang="en-US" sz="800" dirty="0">
                <a:solidFill>
                  <a:schemeClr val="tx1"/>
                </a:solidFill>
                <a:latin typeface="+mn-ea"/>
              </a:rPr>
              <a:t>　　・登記費用および公認会計士、税理士、弁護士、不動産鑑定士等の専門家費用の実費</a:t>
            </a:r>
          </a:p>
          <a:p>
            <a:pPr>
              <a:lnSpc>
                <a:spcPct val="110000"/>
              </a:lnSpc>
            </a:pPr>
            <a:r>
              <a:rPr lang="ja-JP" altLang="en-US" sz="800" dirty="0">
                <a:solidFill>
                  <a:schemeClr val="tx1"/>
                </a:solidFill>
                <a:latin typeface="+mn-ea"/>
              </a:rPr>
              <a:t>　　・譲渡企業の海外事業所等訪問時の通訳費、当社および貴社関係者の交通費、宿泊費、日当</a:t>
            </a:r>
            <a:endParaRPr lang="en-US" altLang="ja-JP" sz="800" dirty="0">
              <a:solidFill>
                <a:schemeClr val="tx1"/>
              </a:solidFill>
              <a:latin typeface="+mn-ea"/>
            </a:endParaRPr>
          </a:p>
          <a:p>
            <a:pPr>
              <a:lnSpc>
                <a:spcPct val="110000"/>
              </a:lnSpc>
            </a:pPr>
            <a:r>
              <a:rPr lang="ja-JP" altLang="en-US" sz="800" dirty="0">
                <a:solidFill>
                  <a:schemeClr val="tx1"/>
                </a:solidFill>
                <a:latin typeface="+mn-ea"/>
              </a:rPr>
              <a:t>　　以下の場合、上記の各種報酬について別途ご相談いたします。</a:t>
            </a:r>
          </a:p>
          <a:p>
            <a:pPr>
              <a:lnSpc>
                <a:spcPct val="110000"/>
              </a:lnSpc>
            </a:pPr>
            <a:r>
              <a:rPr lang="ja-JP" altLang="en-US" sz="800" dirty="0">
                <a:solidFill>
                  <a:schemeClr val="tx1"/>
                </a:solidFill>
                <a:latin typeface="+mn-ea"/>
              </a:rPr>
              <a:t>　　・譲渡企業が関係会社を保有する場合や事業所を複数持つ場合</a:t>
            </a:r>
          </a:p>
          <a:p>
            <a:pPr>
              <a:lnSpc>
                <a:spcPct val="110000"/>
              </a:lnSpc>
            </a:pPr>
            <a:r>
              <a:rPr lang="ja-JP" altLang="en-US" sz="800" dirty="0">
                <a:solidFill>
                  <a:schemeClr val="tx1"/>
                </a:solidFill>
                <a:latin typeface="+mn-ea"/>
              </a:rPr>
              <a:t>　　・譲渡企業が海外に関係会社・事業所・工場を保有する場合</a:t>
            </a:r>
          </a:p>
        </p:txBody>
      </p:sp>
      <p:sp>
        <p:nvSpPr>
          <p:cNvPr id="37" name="正方形/長方形 36">
            <a:extLst>
              <a:ext uri="{FF2B5EF4-FFF2-40B4-BE49-F238E27FC236}">
                <a16:creationId xmlns:a16="http://schemas.microsoft.com/office/drawing/2014/main" id="{F22E4C30-8FC3-B869-53BD-9D8860037344}"/>
              </a:ext>
            </a:extLst>
          </p:cNvPr>
          <p:cNvSpPr/>
          <p:nvPr/>
        </p:nvSpPr>
        <p:spPr>
          <a:xfrm>
            <a:off x="683263" y="1669542"/>
            <a:ext cx="3348000" cy="468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zh-TW" altLang="en-US" sz="1800" b="1" spc="70" dirty="0">
                <a:solidFill>
                  <a:schemeClr val="bg1"/>
                </a:solidFill>
                <a:latin typeface="+mj-ea"/>
                <a:ea typeface="+mj-ea"/>
              </a:rPr>
              <a:t>料金体系｜成功報酬型</a:t>
            </a:r>
          </a:p>
        </p:txBody>
      </p:sp>
      <p:sp>
        <p:nvSpPr>
          <p:cNvPr id="38" name="正方形/長方形 37">
            <a:extLst>
              <a:ext uri="{FF2B5EF4-FFF2-40B4-BE49-F238E27FC236}">
                <a16:creationId xmlns:a16="http://schemas.microsoft.com/office/drawing/2014/main" id="{A662A524-58DF-E539-7CF9-2CCAAD4E7CAF}"/>
              </a:ext>
            </a:extLst>
          </p:cNvPr>
          <p:cNvSpPr>
            <a:spLocks/>
          </p:cNvSpPr>
          <p:nvPr/>
        </p:nvSpPr>
        <p:spPr>
          <a:xfrm>
            <a:off x="4752550" y="1974789"/>
            <a:ext cx="5256000" cy="3051315"/>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en-US" altLang="ja-JP" sz="1543" b="1">
                <a:solidFill>
                  <a:schemeClr val="tx2"/>
                </a:solidFill>
                <a:ea typeface="+mj-ea"/>
              </a:rPr>
              <a:t>1. M</a:t>
            </a:r>
            <a:r>
              <a:rPr kumimoji="1" lang="ja-JP" altLang="en-US" sz="1543" b="1">
                <a:solidFill>
                  <a:schemeClr val="tx2"/>
                </a:solidFill>
                <a:ea typeface="+mj-ea"/>
              </a:rPr>
              <a:t>＆</a:t>
            </a:r>
            <a:r>
              <a:rPr kumimoji="1" lang="en-US" altLang="ja-JP" sz="1543" b="1">
                <a:solidFill>
                  <a:schemeClr val="tx2"/>
                </a:solidFill>
                <a:ea typeface="+mj-ea"/>
              </a:rPr>
              <a:t>A</a:t>
            </a:r>
            <a:r>
              <a:rPr kumimoji="1" lang="ja-JP" altLang="en-US" sz="1543" b="1">
                <a:solidFill>
                  <a:schemeClr val="tx2"/>
                </a:solidFill>
                <a:ea typeface="+mj-ea"/>
              </a:rPr>
              <a:t>（株式・事業譲渡）の場合</a:t>
            </a:r>
            <a:endParaRPr kumimoji="1" lang="ja-JP" altLang="en-US" sz="1543" b="1" dirty="0">
              <a:solidFill>
                <a:schemeClr val="tx2"/>
              </a:solidFill>
              <a:ea typeface="+mj-ea"/>
            </a:endParaRPr>
          </a:p>
        </p:txBody>
      </p:sp>
      <p:sp>
        <p:nvSpPr>
          <p:cNvPr id="39" name="正方形/長方形 38">
            <a:extLst>
              <a:ext uri="{FF2B5EF4-FFF2-40B4-BE49-F238E27FC236}">
                <a16:creationId xmlns:a16="http://schemas.microsoft.com/office/drawing/2014/main" id="{3005CCDB-36FD-4152-9A26-F18CB327D833}"/>
              </a:ext>
            </a:extLst>
          </p:cNvPr>
          <p:cNvSpPr>
            <a:spLocks/>
          </p:cNvSpPr>
          <p:nvPr/>
        </p:nvSpPr>
        <p:spPr>
          <a:xfrm>
            <a:off x="4752550" y="5145149"/>
            <a:ext cx="5256000" cy="855016"/>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en-US" altLang="ja-JP" sz="1543" b="1" dirty="0">
                <a:solidFill>
                  <a:schemeClr val="tx2"/>
                </a:solidFill>
                <a:ea typeface="+mj-ea"/>
              </a:rPr>
              <a:t>2. </a:t>
            </a:r>
            <a:r>
              <a:rPr kumimoji="1" lang="ja-JP" altLang="en-US" sz="1543" b="1" dirty="0">
                <a:solidFill>
                  <a:schemeClr val="tx2"/>
                </a:solidFill>
                <a:ea typeface="+mj-ea"/>
              </a:rPr>
              <a:t>合併・会社分割・業務提携などの場合</a:t>
            </a:r>
          </a:p>
        </p:txBody>
      </p:sp>
      <p:sp>
        <p:nvSpPr>
          <p:cNvPr id="43" name="正方形/長方形 42">
            <a:extLst>
              <a:ext uri="{FF2B5EF4-FFF2-40B4-BE49-F238E27FC236}">
                <a16:creationId xmlns:a16="http://schemas.microsoft.com/office/drawing/2014/main" id="{45F9569B-84C3-F6AA-8270-6F2A0C5A48FE}"/>
              </a:ext>
            </a:extLst>
          </p:cNvPr>
          <p:cNvSpPr/>
          <p:nvPr/>
        </p:nvSpPr>
        <p:spPr>
          <a:xfrm>
            <a:off x="4968550" y="5594330"/>
            <a:ext cx="4824000" cy="286791"/>
          </a:xfrm>
          <a:prstGeom prst="rect">
            <a:avLst/>
          </a:prstGeom>
          <a:solidFill>
            <a:schemeClr val="bg1"/>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r>
              <a:rPr kumimoji="1" lang="ja-JP" altLang="en-US" sz="1600" b="1" spc="30" dirty="0">
                <a:solidFill>
                  <a:schemeClr val="tx1"/>
                </a:solidFill>
                <a:latin typeface="+mj-ea"/>
                <a:ea typeface="+mj-ea"/>
              </a:rPr>
              <a:t>形態、規模に応じてお見積り</a:t>
            </a:r>
          </a:p>
        </p:txBody>
      </p:sp>
      <p:sp>
        <p:nvSpPr>
          <p:cNvPr id="44" name="テキスト ボックス 43">
            <a:extLst>
              <a:ext uri="{FF2B5EF4-FFF2-40B4-BE49-F238E27FC236}">
                <a16:creationId xmlns:a16="http://schemas.microsoft.com/office/drawing/2014/main" id="{1E78D870-E1BA-6FCD-62FA-37BB1F2E0B3D}"/>
              </a:ext>
            </a:extLst>
          </p:cNvPr>
          <p:cNvSpPr txBox="1"/>
          <p:nvPr/>
        </p:nvSpPr>
        <p:spPr>
          <a:xfrm>
            <a:off x="4968550" y="4554047"/>
            <a:ext cx="3546805" cy="191399"/>
          </a:xfrm>
          <a:prstGeom prst="rect">
            <a:avLst/>
          </a:prstGeom>
          <a:noFill/>
        </p:spPr>
        <p:txBody>
          <a:bodyPr wrap="none" lIns="0" tIns="0" rIns="0" bIns="0" rtlCol="0">
            <a:spAutoFit/>
          </a:bodyPr>
          <a:lstStyle/>
          <a:p>
            <a:pPr>
              <a:lnSpc>
                <a:spcPct val="120000"/>
              </a:lnSpc>
              <a:buClr>
                <a:schemeClr val="tx2"/>
              </a:buClr>
              <a:buSzPct val="80000"/>
            </a:pPr>
            <a:r>
              <a:rPr lang="ja-JP" altLang="en-US" sz="1100" spc="70" dirty="0">
                <a:solidFill/>
                <a:latin typeface="+mn-ea"/>
              </a:rPr>
              <a:t>成功報酬の最低額は</a:t>
            </a:r>
            <a:r>
              <a:rPr lang="en-US" altLang="ja-JP" sz="1100" spc="70" dirty="0">
                <a:solidFill/>
                <a:latin typeface="+mn-ea"/>
              </a:rPr>
              <a:t>1,500</a:t>
            </a:r>
            <a:r>
              <a:rPr lang="ja-JP" altLang="en-US" sz="1100" spc="70" dirty="0">
                <a:solidFill/>
                <a:latin typeface="+mn-ea"/>
              </a:rPr>
              <a:t>万円を設定しております。</a:t>
            </a:r>
          </a:p>
        </p:txBody>
      </p:sp>
      <p:graphicFrame>
        <p:nvGraphicFramePr>
          <p:cNvPr id="45" name="表 44">
            <a:extLst>
              <a:ext uri="{FF2B5EF4-FFF2-40B4-BE49-F238E27FC236}">
                <a16:creationId xmlns:a16="http://schemas.microsoft.com/office/drawing/2014/main" id="{43BEAE47-9189-F306-0E9E-F73105167DC7}"/>
              </a:ext>
            </a:extLst>
          </p:cNvPr>
          <p:cNvGraphicFramePr>
            <a:graphicFrameLocks noGrp="1"/>
          </p:cNvGraphicFramePr>
          <p:nvPr/>
        </p:nvGraphicFramePr>
        <p:xfrm>
          <a:off x="4968550" y="2395845"/>
          <a:ext cx="4824000" cy="2448000"/>
        </p:xfrm>
        <a:graphic>
          <a:graphicData uri="http://schemas.openxmlformats.org/drawingml/2006/table">
            <a:tbl>
              <a:tblPr firstRow="1" bandRow="1">
                <a:tableStyleId>{F2DE63D5-997A-4646-A377-4702673A728D}</a:tableStyleId>
              </a:tblPr>
              <a:tblGrid>
                <a:gridCol w="2952000">
                  <a:extLst>
                    <a:ext uri="{9D8B030D-6E8A-4147-A177-3AD203B41FA5}">
                      <a16:colId xmlns:a16="http://schemas.microsoft.com/office/drawing/2014/main" val="4012313631"/>
                    </a:ext>
                  </a:extLst>
                </a:gridCol>
                <a:gridCol w="1872000">
                  <a:extLst>
                    <a:ext uri="{9D8B030D-6E8A-4147-A177-3AD203B41FA5}">
                      <a16:colId xmlns:a16="http://schemas.microsoft.com/office/drawing/2014/main" val="1332805218"/>
                    </a:ext>
                  </a:extLst>
                </a:gridCol>
              </a:tblGrid>
              <a:tr h="396000">
                <a:tc>
                  <a:txBody>
                    <a:bodyPr/>
                    <a:lstStyle/>
                    <a:p>
                      <a:pPr marL="0" marR="0" lvl="0" indent="0" algn="ctr" defTabSz="914400" rtl="0" eaLnBrk="1" fontAlgn="auto" latinLnBrk="0" hangingPunct="1">
                        <a:lnSpc>
                          <a:spcPct val="110000"/>
                        </a:lnSpc>
                        <a:spcBef>
                          <a:spcPts val="0"/>
                        </a:spcBef>
                        <a:spcAft>
                          <a:spcPts val="0"/>
                        </a:spcAft>
                        <a:buClrTx/>
                        <a:buSzTx/>
                        <a:buFontTx/>
                        <a:buNone/>
                        <a:tabLst/>
                        <a:defRPr/>
                      </a:pPr>
                      <a:r>
                        <a:rPr kumimoji="1" lang="ja-JP" altLang="en-US" sz="1100" b="1" i="0" u="none" strike="noStrike" kern="1200" cap="none" spc="50" normalizeH="0" baseline="0" noProof="0" dirty="0">
                          <a:ln>
                            <a:noFill/>
                          </a:ln>
                          <a:solidFill>
                            <a:schemeClr val="bg1"/>
                          </a:solidFill>
                          <a:effectLst/>
                          <a:uLnTx/>
                          <a:uFillTx/>
                          <a:latin typeface="+mj-ea"/>
                          <a:ea typeface="+mj-ea"/>
                        </a:rPr>
                        <a:t>譲渡企業の時価総資産額</a:t>
                      </a:r>
                      <a:endParaRPr kumimoji="1" lang="en-US" altLang="ja-JP" sz="1100" b="1" i="0" u="none" strike="noStrike" kern="1200" cap="none" spc="50" normalizeH="0" baseline="0" noProof="0" dirty="0">
                        <a:ln>
                          <a:noFill/>
                        </a:ln>
                        <a:solidFill>
                          <a:schemeClr val="bg1"/>
                        </a:solidFill>
                        <a:effectLst/>
                        <a:uLnTx/>
                        <a:uFillTx/>
                        <a:latin typeface="+mj-ea"/>
                        <a:ea typeface="+mj-ea"/>
                      </a:endParaRPr>
                    </a:p>
                    <a:p>
                      <a:pPr marL="0" marR="0" lvl="0" indent="0" algn="ctr" defTabSz="914400" rtl="0" eaLnBrk="1" fontAlgn="auto" latinLnBrk="0" hangingPunct="1">
                        <a:lnSpc>
                          <a:spcPct val="110000"/>
                        </a:lnSpc>
                        <a:spcBef>
                          <a:spcPts val="0"/>
                        </a:spcBef>
                        <a:spcAft>
                          <a:spcPts val="0"/>
                        </a:spcAft>
                        <a:buClrTx/>
                        <a:buSzTx/>
                        <a:buFontTx/>
                        <a:buNone/>
                        <a:tabLst/>
                        <a:defRPr/>
                      </a:pPr>
                      <a:r>
                        <a:rPr kumimoji="1" lang="ja-JP" altLang="en-US" sz="800" b="1" i="0" u="none" strike="noStrike" kern="1200" cap="none" spc="50" normalizeH="0" baseline="0" noProof="0" dirty="0">
                          <a:ln>
                            <a:noFill/>
                          </a:ln>
                          <a:solidFill>
                            <a:schemeClr val="bg1"/>
                          </a:solidFill>
                          <a:effectLst/>
                          <a:uLnTx/>
                          <a:uFillTx/>
                          <a:latin typeface="+mj-ea"/>
                          <a:ea typeface="+mj-ea"/>
                        </a:rPr>
                        <a:t>（営業権を含む）</a:t>
                      </a:r>
                    </a:p>
                  </a:txBody>
                  <a:tcPr marL="0" marR="0" marT="0" marB="0" anchor="ctr" anchorCtr="1">
                    <a:lnL w="3175"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nSpc>
                          <a:spcPct val="110000"/>
                        </a:lnSpc>
                      </a:pPr>
                      <a:r>
                        <a:rPr kumimoji="1" lang="ja-JP" altLang="en-US" sz="1100" b="1" spc="50" baseline="0" dirty="0">
                          <a:latin typeface="+mj-ea"/>
                          <a:ea typeface="+mj-ea"/>
                        </a:rPr>
                        <a:t>手数料率</a:t>
                      </a:r>
                    </a:p>
                  </a:txBody>
                  <a:tcPr marL="0" marR="0" marT="0" marB="0" anchor="ctr" anchorCtr="1">
                    <a:lnL w="12700" cap="flat" cmpd="sng" algn="ctr">
                      <a:solidFill>
                        <a:schemeClr val="bg1"/>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3552892255"/>
                  </a:ext>
                </a:extLst>
              </a:tr>
              <a:tr h="342000">
                <a:tc>
                  <a:txBody>
                    <a:bodyPr/>
                    <a:lstStyle/>
                    <a:p>
                      <a:pPr algn="l">
                        <a:lnSpc>
                          <a:spcPct val="110000"/>
                        </a:lnSpc>
                      </a:pPr>
                      <a:r>
                        <a:rPr kumimoji="1" lang="en-US" altLang="ja-JP" sz="1200" b="1" spc="50" baseline="0" dirty="0">
                          <a:latin typeface="+mj-lt"/>
                          <a:ea typeface="+mj-ea"/>
                        </a:rPr>
                        <a:t>2</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accent2">
                          <a:lumMod val="10000"/>
                        </a:schemeClr>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2,000</a:t>
                      </a:r>
                      <a:r>
                        <a:rPr kumimoji="1" lang="ja-JP" altLang="en-US" sz="1100" b="1" spc="50" baseline="0" dirty="0">
                          <a:solidFill>
                            <a:schemeClr val="tx1"/>
                          </a:solidFill>
                          <a:latin typeface="+mn-lt"/>
                          <a:ea typeface="+mn-ea"/>
                        </a:rPr>
                        <a:t>万円</a:t>
                      </a:r>
                      <a:endParaRPr kumimoji="1" lang="ja-JP" altLang="en-US" sz="1100" b="0" spc="50" baseline="0" dirty="0">
                        <a:solidFill>
                          <a:schemeClr val="tx1"/>
                        </a:solidFill>
                        <a:latin typeface="+mn-lt"/>
                        <a:ea typeface="+mn-ea"/>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accent2">
                          <a:lumMod val="1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1334838"/>
                  </a:ext>
                </a:extLst>
              </a:tr>
              <a:tr h="342000">
                <a:tc>
                  <a:txBody>
                    <a:bodyPr/>
                    <a:lstStyle/>
                    <a:p>
                      <a:pPr marL="0" marR="0" lvl="0" indent="0" algn="l" defTabSz="1007943" rtl="0" eaLnBrk="1" fontAlgn="auto" latinLnBrk="0" hangingPunct="1">
                        <a:lnSpc>
                          <a:spcPct val="110000"/>
                        </a:lnSpc>
                        <a:spcBef>
                          <a:spcPts val="0"/>
                        </a:spcBef>
                        <a:spcAft>
                          <a:spcPts val="0"/>
                        </a:spcAft>
                        <a:buClrTx/>
                        <a:buSzTx/>
                        <a:buFontTx/>
                        <a:buNone/>
                        <a:tabLst/>
                        <a:defRPr/>
                      </a:pPr>
                      <a:r>
                        <a:rPr kumimoji="1" lang="en-US" altLang="ja-JP" sz="1200" b="1" kern="1200" spc="50" baseline="0" dirty="0">
                          <a:solidFill>
                            <a:schemeClr val="tx1"/>
                          </a:solidFill>
                          <a:latin typeface="+mn-lt"/>
                          <a:ea typeface="+mn-ea"/>
                          <a:cs typeface="+mn-cs"/>
                        </a:rPr>
                        <a:t>2</a:t>
                      </a:r>
                      <a:r>
                        <a:rPr kumimoji="1" lang="ja-JP" altLang="en-US" sz="1200" b="1" kern="1200" spc="50" baseline="0" dirty="0">
                          <a:solidFill>
                            <a:schemeClr val="tx1"/>
                          </a:solidFill>
                          <a:latin typeface="+mn-lt"/>
                          <a:ea typeface="+mn-ea"/>
                          <a:cs typeface="+mn-cs"/>
                        </a:rPr>
                        <a:t>億円超　</a:t>
                      </a:r>
                      <a:r>
                        <a:rPr kumimoji="1" lang="en-US" altLang="ja-JP" sz="1200" b="1" kern="1200" spc="50" baseline="0" dirty="0">
                          <a:solidFill>
                            <a:schemeClr val="tx1"/>
                          </a:solidFill>
                          <a:latin typeface="+mn-lt"/>
                          <a:ea typeface="+mn-ea"/>
                          <a:cs typeface="+mn-cs"/>
                        </a:rPr>
                        <a:t>5</a:t>
                      </a:r>
                      <a:r>
                        <a:rPr kumimoji="1" lang="ja-JP" altLang="en-US" sz="1200" b="1" kern="1200" spc="50" baseline="0" dirty="0">
                          <a:solidFill>
                            <a:schemeClr val="tx1"/>
                          </a:solidFill>
                          <a:latin typeface="+mn-lt"/>
                          <a:ea typeface="+mn-ea"/>
                          <a:cs typeface="+mn-cs"/>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accent2">
                          <a:lumMod val="10000"/>
                        </a:schemeClr>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nSpc>
                          <a:spcPct val="110000"/>
                        </a:lnSpc>
                      </a:pPr>
                      <a:r>
                        <a:rPr kumimoji="1" lang="en-US" altLang="ja-JP" sz="1800" b="1" spc="50" baseline="0" dirty="0">
                          <a:solidFill>
                            <a:schemeClr val="tx1"/>
                          </a:solidFill>
                          <a:latin typeface="+mn-lt"/>
                          <a:ea typeface="+mn-ea"/>
                        </a:rPr>
                        <a:t>5</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accent2">
                          <a:lumMod val="10000"/>
                        </a:schemeClr>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0064655"/>
                  </a:ext>
                </a:extLst>
              </a:tr>
              <a:tr h="342000">
                <a:tc>
                  <a:txBody>
                    <a:bodyPr/>
                    <a:lstStyle/>
                    <a:p>
                      <a:pPr algn="l">
                        <a:lnSpc>
                          <a:spcPct val="110000"/>
                        </a:lnSpc>
                      </a:pPr>
                      <a:r>
                        <a:rPr kumimoji="1" lang="en-US" altLang="ja-JP" sz="1200" b="1" spc="50" baseline="0" dirty="0">
                          <a:latin typeface="+mj-lt"/>
                          <a:ea typeface="+mj-ea"/>
                        </a:rPr>
                        <a:t>5</a:t>
                      </a:r>
                      <a:r>
                        <a:rPr kumimoji="1" lang="ja-JP" altLang="en-US" sz="1200" b="1" spc="50" baseline="0" dirty="0">
                          <a:latin typeface="+mj-lt"/>
                          <a:ea typeface="+mj-ea"/>
                        </a:rPr>
                        <a:t>億円超　</a:t>
                      </a:r>
                      <a:r>
                        <a:rPr kumimoji="1" lang="en-US" altLang="ja-JP" sz="1200" b="1" spc="50" baseline="0" dirty="0">
                          <a:latin typeface="+mj-lt"/>
                          <a:ea typeface="+mj-ea"/>
                        </a:rPr>
                        <a:t>10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4</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45221436"/>
                  </a:ext>
                </a:extLst>
              </a:tr>
              <a:tr h="342000">
                <a:tc>
                  <a:txBody>
                    <a:bodyPr/>
                    <a:lstStyle/>
                    <a:p>
                      <a:pPr algn="l">
                        <a:lnSpc>
                          <a:spcPct val="110000"/>
                        </a:lnSpc>
                      </a:pPr>
                      <a:r>
                        <a:rPr kumimoji="1" lang="en-US" altLang="ja-JP" sz="1200" b="1" spc="50" baseline="0" dirty="0">
                          <a:latin typeface="+mj-lt"/>
                          <a:ea typeface="+mj-ea"/>
                        </a:rPr>
                        <a:t>10</a:t>
                      </a:r>
                      <a:r>
                        <a:rPr kumimoji="1" lang="ja-JP" altLang="en-US" sz="1200" b="1" spc="50" baseline="0" dirty="0">
                          <a:latin typeface="+mj-lt"/>
                          <a:ea typeface="+mj-ea"/>
                        </a:rPr>
                        <a:t>億円超　</a:t>
                      </a:r>
                      <a:r>
                        <a:rPr kumimoji="1" lang="en-US" altLang="ja-JP" sz="1200" b="1" spc="50" baseline="0" dirty="0">
                          <a:latin typeface="+mj-lt"/>
                          <a:ea typeface="+mj-ea"/>
                        </a:rPr>
                        <a:t>50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3</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54929017"/>
                  </a:ext>
                </a:extLst>
              </a:tr>
              <a:tr h="342000">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200" b="1" spc="50" baseline="0" dirty="0">
                          <a:latin typeface="+mj-lt"/>
                          <a:ea typeface="+mj-ea"/>
                        </a:rPr>
                        <a:t>50</a:t>
                      </a:r>
                      <a:r>
                        <a:rPr kumimoji="1" lang="ja-JP" altLang="en-US" sz="1200" b="1" spc="50" baseline="0" dirty="0">
                          <a:latin typeface="+mj-lt"/>
                          <a:ea typeface="+mj-ea"/>
                        </a:rPr>
                        <a:t>億円超　</a:t>
                      </a:r>
                      <a:r>
                        <a:rPr kumimoji="1" lang="en-US" altLang="ja-JP" sz="1200" b="1" spc="50" baseline="0" dirty="0">
                          <a:latin typeface="+mj-lt"/>
                          <a:ea typeface="+mj-ea"/>
                        </a:rPr>
                        <a:t>100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2</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96813135"/>
                  </a:ext>
                </a:extLst>
              </a:tr>
              <a:tr h="342000">
                <a:tc>
                  <a:txBody>
                    <a:bodyPr/>
                    <a:lstStyle/>
                    <a:p>
                      <a:pPr algn="l">
                        <a:lnSpc>
                          <a:spcPct val="110000"/>
                        </a:lnSpc>
                      </a:pPr>
                      <a:r>
                        <a:rPr kumimoji="1" lang="en-US" altLang="ja-JP" sz="1200" b="1" spc="50" baseline="0" dirty="0">
                          <a:latin typeface="+mj-lt"/>
                          <a:ea typeface="+mj-ea"/>
                        </a:rPr>
                        <a:t>100</a:t>
                      </a:r>
                      <a:r>
                        <a:rPr kumimoji="1" lang="ja-JP" altLang="en-US" sz="1200" b="1" spc="50" baseline="0" dirty="0">
                          <a:latin typeface="+mj-lt"/>
                          <a:ea typeface="+mj-ea"/>
                        </a:rPr>
                        <a:t>億円超の部分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1</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0759054"/>
                  </a:ext>
                </a:extLst>
              </a:tr>
            </a:tbl>
          </a:graphicData>
        </a:graphic>
      </p:graphicFrame>
      <p:sp>
        <p:nvSpPr>
          <p:cNvPr id="3" name="テキスト ボックス 2">
            <a:extLst>
              <a:ext uri="{FF2B5EF4-FFF2-40B4-BE49-F238E27FC236}">
                <a16:creationId xmlns:a16="http://schemas.microsoft.com/office/drawing/2014/main" id="{08F1693B-FFF1-ED80-7351-7BBDED97C92F}"/>
              </a:ext>
            </a:extLst>
          </p:cNvPr>
          <p:cNvSpPr txBox="1"/>
          <p:nvPr/>
        </p:nvSpPr>
        <p:spPr>
          <a:xfrm>
            <a:off x="8985126" y="2145278"/>
            <a:ext cx="788036" cy="209545"/>
          </a:xfrm>
          <a:prstGeom prst="rect">
            <a:avLst/>
          </a:prstGeom>
          <a:noFill/>
        </p:spPr>
        <p:txBody>
          <a:bodyPr wrap="none" lIns="0" tIns="0" rIns="0" bIns="0" rtlCol="0">
            <a:spAutoFit/>
          </a:bodyPr>
          <a:lstStyle/>
          <a:p>
            <a:pPr algn="ctr">
              <a:lnSpc>
                <a:spcPct val="120000"/>
              </a:lnSpc>
              <a:buClr>
                <a:schemeClr val="tx2"/>
              </a:buClr>
              <a:buSzPct val="80000"/>
            </a:pPr>
            <a:r>
              <a:rPr lang="en-US" altLang="ja-JP" sz="1200" spc="70" dirty="0">
                <a:solidFill/>
                <a:latin typeface="+mj-ea"/>
                <a:ea typeface="+mj-ea"/>
              </a:rPr>
              <a:t>(</a:t>
            </a:r>
            <a:r>
              <a:rPr lang="ja-JP" altLang="en-US" sz="1200" spc="70" dirty="0">
                <a:solidFill/>
                <a:latin typeface="+mj-ea"/>
                <a:ea typeface="+mj-ea"/>
              </a:rPr>
              <a:t>消費税別</a:t>
            </a:r>
            <a:r>
              <a:rPr lang="en-US" altLang="ja-JP" sz="1200" spc="70" dirty="0">
                <a:solidFill/>
                <a:latin typeface="+mj-ea"/>
                <a:ea typeface="+mj-ea"/>
              </a:rPr>
              <a:t>)</a:t>
            </a:r>
            <a:endParaRPr lang="ja-JP" altLang="en-US" sz="1200" spc="70" dirty="0">
              <a:latin typeface="+mj-ea"/>
              <a:ea typeface="+mj-ea"/>
            </a:endParaRPr>
          </a:p>
        </p:txBody>
      </p:sp>
      <p:sp>
        <p:nvSpPr>
          <p:cNvPr id="4" name="正方形/長方形 3">
            <a:extLst>
              <a:ext uri="{FF2B5EF4-FFF2-40B4-BE49-F238E27FC236}">
                <a16:creationId xmlns:a16="http://schemas.microsoft.com/office/drawing/2014/main" id="{021EBBB3-E8D6-A883-4081-72409664F3A2}"/>
              </a:ext>
            </a:extLst>
          </p:cNvPr>
          <p:cNvSpPr/>
          <p:nvPr/>
        </p:nvSpPr>
        <p:spPr>
          <a:xfrm>
            <a:off x="449264" y="5224403"/>
            <a:ext cx="3816000" cy="186218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0" rtlCol="0" anchor="t"/>
          <a:lstStyle/>
          <a:p>
            <a:pPr algn="ctr">
              <a:buClr>
                <a:schemeClr val="tx2"/>
              </a:buClr>
              <a:buSzPct val="80000"/>
            </a:pPr>
            <a:r>
              <a:rPr kumimoji="1" lang="ja-JP" altLang="en-US" sz="1800" b="1" spc="110" dirty="0">
                <a:solidFill>
                  <a:schemeClr val="tx1"/>
                </a:solidFill>
                <a:latin typeface="+mj-ea"/>
                <a:ea typeface="+mj-ea"/>
              </a:rPr>
              <a:t>中間報酬</a:t>
            </a:r>
            <a:r>
              <a:rPr kumimoji="1" lang="en-US" altLang="ja-JP" sz="1800" spc="110" baseline="30000" dirty="0">
                <a:solidFill>
                  <a:schemeClr val="tx1"/>
                </a:solidFill>
                <a:latin typeface="+mj-ea"/>
                <a:ea typeface="+mj-ea"/>
              </a:rPr>
              <a:t>※1</a:t>
            </a:r>
            <a:r>
              <a:rPr kumimoji="1" lang="ja-JP" altLang="en-US" sz="1800" b="1" spc="110" dirty="0">
                <a:solidFill>
                  <a:schemeClr val="tx1"/>
                </a:solidFill>
                <a:latin typeface="+mj-ea"/>
                <a:ea typeface="+mj-ea"/>
              </a:rPr>
              <a:t>の算定方法</a:t>
            </a:r>
          </a:p>
        </p:txBody>
      </p:sp>
      <p:sp>
        <p:nvSpPr>
          <p:cNvPr id="5" name="正方形/長方形 4">
            <a:extLst>
              <a:ext uri="{FF2B5EF4-FFF2-40B4-BE49-F238E27FC236}">
                <a16:creationId xmlns:a16="http://schemas.microsoft.com/office/drawing/2014/main" id="{0A844F69-2E35-9611-A4E1-15256E6FA8E2}"/>
              </a:ext>
            </a:extLst>
          </p:cNvPr>
          <p:cNvSpPr/>
          <p:nvPr/>
        </p:nvSpPr>
        <p:spPr>
          <a:xfrm>
            <a:off x="615951" y="5812442"/>
            <a:ext cx="3482623" cy="916330"/>
          </a:xfrm>
          <a:prstGeom prst="rect">
            <a:avLst/>
          </a:prstGeom>
          <a:solidFill>
            <a:schemeClr val="bg1"/>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r>
              <a:rPr kumimoji="1" lang="ja-JP" altLang="en-US" sz="1600" b="1" spc="30" dirty="0">
                <a:solidFill>
                  <a:schemeClr val="tx1"/>
                </a:solidFill>
                <a:latin typeface="+mj-ea"/>
                <a:ea typeface="+mj-ea"/>
              </a:rPr>
              <a:t>成功報酬の</a:t>
            </a:r>
            <a:r>
              <a:rPr kumimoji="1" lang="en-US" altLang="ja-JP" sz="1600" b="1" spc="30" dirty="0">
                <a:solidFill>
                  <a:schemeClr val="tx1"/>
                </a:solidFill>
                <a:latin typeface="+mj-ea"/>
                <a:ea typeface="+mj-ea"/>
              </a:rPr>
              <a:t>10</a:t>
            </a:r>
            <a:r>
              <a:rPr kumimoji="1" lang="ja-JP" altLang="en-US" sz="1600" b="1" spc="30" dirty="0">
                <a:solidFill>
                  <a:schemeClr val="tx1"/>
                </a:solidFill>
                <a:latin typeface="+mj-ea"/>
                <a:ea typeface="+mj-ea"/>
              </a:rPr>
              <a:t>％</a:t>
            </a:r>
            <a:endParaRPr kumimoji="1" lang="en-US" altLang="ja-JP" sz="1600" b="1" spc="30" dirty="0">
              <a:solidFill>
                <a:schemeClr val="tx1"/>
              </a:solidFill>
              <a:latin typeface="+mj-ea"/>
              <a:ea typeface="+mj-ea"/>
            </a:endParaRPr>
          </a:p>
          <a:p>
            <a:pPr algn="ctr">
              <a:lnSpc>
                <a:spcPct val="120000"/>
              </a:lnSpc>
            </a:pPr>
            <a:r>
              <a:rPr kumimoji="1" lang="ja-JP" altLang="en-US" sz="1200" b="1" spc="30" dirty="0">
                <a:solidFill>
                  <a:schemeClr val="tx1"/>
                </a:solidFill>
                <a:latin typeface="+mj-ea"/>
                <a:ea typeface="+mj-ea"/>
              </a:rPr>
              <a:t>（但し最低額は</a:t>
            </a:r>
            <a:r>
              <a:rPr kumimoji="1" lang="en-US" altLang="ja-JP" sz="1200" b="1" spc="30" dirty="0">
                <a:solidFill>
                  <a:schemeClr val="tx1"/>
                </a:solidFill>
                <a:latin typeface="+mj-ea"/>
                <a:ea typeface="+mj-ea"/>
              </a:rPr>
              <a:t>300</a:t>
            </a:r>
            <a:r>
              <a:rPr kumimoji="1" lang="ja-JP" altLang="en-US" sz="1200" b="1" spc="30" dirty="0">
                <a:solidFill>
                  <a:schemeClr val="tx1"/>
                </a:solidFill>
                <a:latin typeface="+mj-ea"/>
                <a:ea typeface="+mj-ea"/>
              </a:rPr>
              <a:t>万円とします）</a:t>
            </a:r>
          </a:p>
        </p:txBody>
      </p:sp>
      <p:sp>
        <p:nvSpPr>
          <p:cNvPr id="8" name="正方形/長方形 7">
            <a:extLst>
              <a:ext uri="{FF2B5EF4-FFF2-40B4-BE49-F238E27FC236}">
                <a16:creationId xmlns:a16="http://schemas.microsoft.com/office/drawing/2014/main" id="{6EED8059-D8E2-0DAF-A350-928100484E14}"/>
              </a:ext>
            </a:extLst>
          </p:cNvPr>
          <p:cNvSpPr/>
          <p:nvPr/>
        </p:nvSpPr>
        <p:spPr>
          <a:xfrm>
            <a:off x="615951" y="6812925"/>
            <a:ext cx="3135474" cy="1299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b">
            <a:spAutoFit/>
          </a:bodyPr>
          <a:lstStyle/>
          <a:p>
            <a:pPr>
              <a:lnSpc>
                <a:spcPct val="110000"/>
              </a:lnSpc>
            </a:pPr>
            <a:r>
              <a:rPr lang="en-US" altLang="ja-JP" sz="800" dirty="0">
                <a:solidFill>
                  <a:schemeClr val="tx1"/>
                </a:solidFill>
                <a:latin typeface="+mn-ea"/>
              </a:rPr>
              <a:t>※1</a:t>
            </a:r>
            <a:r>
              <a:rPr lang="ja-JP" altLang="en-US" sz="800" dirty="0">
                <a:solidFill>
                  <a:schemeClr val="tx1"/>
                </a:solidFill>
                <a:latin typeface="+mn-ea"/>
              </a:rPr>
              <a:t>　中間報酬は成約した場合、成功報酬に含め、充当いたします。</a:t>
            </a:r>
          </a:p>
        </p:txBody>
      </p:sp>
    </p:spTree>
    <p:extLst>
      <p:ext uri="{BB962C8B-B14F-4D97-AF65-F5344CB8AC3E}">
        <p14:creationId xmlns:p14="http://schemas.microsoft.com/office/powerpoint/2010/main" val="25774995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図 16" descr="背景パターン&#10;&#10;AI 生成コンテンツは誤りを含む可能性があります。">
            <a:extLst>
              <a:ext uri="{FF2B5EF4-FFF2-40B4-BE49-F238E27FC236}">
                <a16:creationId xmlns:a16="http://schemas.microsoft.com/office/drawing/2014/main" id="{38E11F1F-6089-6877-97F2-46DAB0493C33}"/>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8" name="テキスト ボックス 7">
            <a:extLst>
              <a:ext uri="{FF2B5EF4-FFF2-40B4-BE49-F238E27FC236}">
                <a16:creationId xmlns:a16="http://schemas.microsoft.com/office/drawing/2014/main" id="{9DC24A9B-5E33-B3B6-B79B-2D6D5E5AF179}"/>
              </a:ext>
            </a:extLst>
          </p:cNvPr>
          <p:cNvSpPr txBox="1"/>
          <p:nvPr/>
        </p:nvSpPr>
        <p:spPr>
          <a:xfrm>
            <a:off x="2626785" y="4635223"/>
            <a:ext cx="5604098" cy="276999"/>
          </a:xfrm>
          <a:prstGeom prst="rect">
            <a:avLst/>
          </a:prstGeom>
          <a:noFill/>
        </p:spPr>
        <p:txBody>
          <a:bodyPr wrap="none" lIns="0" tIns="0" rIns="0" bIns="0" rtlCol="0">
            <a:spAutoFit/>
          </a:bodyPr>
          <a:lstStyle/>
          <a:p>
            <a:pPr algn="ctr"/>
            <a:r>
              <a:rPr lang="ja-JP" altLang="en-US" b="1" spc="100" dirty="0">
                <a:solidFill/>
                <a:latin typeface="+mj-ea"/>
                <a:ea typeface="+mj-ea"/>
              </a:rPr>
              <a:t>企業価値の最大化を通じて、経済に正しい循環を。</a:t>
            </a:r>
          </a:p>
        </p:txBody>
      </p:sp>
      <p:pic>
        <p:nvPicPr>
          <p:cNvPr id="4" name="グラフィックス 3">
            <a:extLst>
              <a:ext uri="{FF2B5EF4-FFF2-40B4-BE49-F238E27FC236}">
                <a16:creationId xmlns:a16="http://schemas.microsoft.com/office/drawing/2014/main" id="{549C4F39-0611-3D63-A333-95F8642EF8D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518588" y="3080873"/>
            <a:ext cx="5502236" cy="1090632"/>
          </a:xfrm>
          <a:prstGeom prst="rect">
            <a:avLst/>
          </a:prstGeom>
        </p:spPr>
      </p:pic>
    </p:spTree>
    <p:extLst>
      <p:ext uri="{BB962C8B-B14F-4D97-AF65-F5344CB8AC3E}">
        <p14:creationId xmlns:p14="http://schemas.microsoft.com/office/powerpoint/2010/main" val="3135229745"/>
      </p:ext>
    </p:extLst>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物販・通信販売の商品</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事業概要</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店頭飲食以外に、卸・通信販売・ふるさと納税の導線を保有。通信販売は604→1,020千円と伸長する一方、製造場所・許認可・原価は未確認であり、拡販前に整理が必要</a:t>
            </a:r>
            <a:endParaRPr lang="en-US" altLang="ja-JP" dirty="0"/>
          </a:p>
        </p:txBody>
      </p:sp>
      <p:graphicFrame>
        <p:nvGraphicFramePr>
          <p:cNvPr id="14" name="Table 13"/>
          <p:cNvGraphicFramePr>
            <a:graphicFrameLocks noGrp="1"/>
          </p:cNvGraphicFramePr>
          <p:nvPr/>
        </p:nvGraphicFramePr>
        <p:xfrm>
          <a:off x="310896" y="1463040"/>
          <a:ext cx="6382512" cy="3822192"/>
        </p:xfrm>
        <a:graphic>
          <a:graphicData uri="http://schemas.openxmlformats.org/drawingml/2006/table">
            <a:tbl>
              <a:tblPr firstRow="0" bandRow="0">
                <a:tableStyleId>{5940675A-B579-460E-94D1-54222C63F5DA}</a:tableStyleId>
              </a:tblPr>
              <a:tblGrid>
                <a:gridCol w="1572768"/>
                <a:gridCol w="1225296"/>
                <a:gridCol w="987552"/>
                <a:gridCol w="2596896"/>
              </a:tblGrid>
              <a:tr h="237744">
                <a:tc>
                  <a:txBody>
                    <a:bodyPr wrap="square"/>
                    <a:lstStyle/>
                    <a:p>
                      <a:pPr algn="ctr">
                        <a:spcAft>
                          <a:spcPts val="0"/>
                        </a:spcAft>
                      </a:pPr>
                      <a:r>
                        <a:rPr sz="840" b="1">
                          <a:solidFill>
                            <a:srgbClr val="FFFFFF"/>
                          </a:solidFill>
                          <a:latin typeface="游ゴシック"/>
                          <a:ea typeface="游ゴシック"/>
                          <a:cs typeface="游ゴシック"/>
                        </a:rPr>
                        <a:t>商品</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チャネル</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計上区分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確認状況</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12064">
                <a:tc>
                  <a:txBody>
                    <a:bodyPr wrap="square"/>
                    <a:lstStyle/>
                    <a:p>
                      <a:pPr algn="l">
                        <a:spcAft>
                          <a:spcPts val="0"/>
                        </a:spcAft>
                      </a:pPr>
                      <a:r>
                        <a:rPr sz="840" b="0">
                          <a:solidFill>
                            <a:srgbClr val="1A1A1A"/>
                          </a:solidFill>
                          <a:latin typeface="游ゴシック"/>
                          <a:ea typeface="游ゴシック"/>
                          <a:cs typeface="游ゴシック"/>
                        </a:rPr>
                        <a:t>玄そば・石臼挽きそば粉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卸（同業の蕎麦店）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そば売上高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打心蕎庵・玉笑ほか。取引条件（基本契約書・COC条項）は要確認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12064">
                <a:tc>
                  <a:txBody>
                    <a:bodyPr wrap="square"/>
                    <a:lstStyle/>
                    <a:p>
                      <a:pPr algn="l">
                        <a:spcAft>
                          <a:spcPts val="0"/>
                        </a:spcAft>
                      </a:pPr>
                      <a:r>
                        <a:rPr sz="840" b="0">
                          <a:solidFill>
                            <a:srgbClr val="1A1A1A"/>
                          </a:solidFill>
                          <a:latin typeface="游ゴシック"/>
                          <a:ea typeface="游ゴシック"/>
                          <a:cs typeface="游ゴシック"/>
                        </a:rPr>
                        <a:t>石臼挽き小麦粉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卸（ベーカリー）</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小麦等売上高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キビヤベーカリー1,865千円・ルヴァン231千円。3期連続で取引継続</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12064">
                <a:tc>
                  <a:txBody>
                    <a:bodyPr wrap="square"/>
                    <a:lstStyle/>
                    <a:p>
                      <a:pPr algn="l">
                        <a:spcAft>
                          <a:spcPts val="0"/>
                        </a:spcAft>
                      </a:pPr>
                      <a:r>
                        <a:rPr sz="840" b="0">
                          <a:solidFill>
                            <a:srgbClr val="1A1A1A"/>
                          </a:solidFill>
                          <a:latin typeface="游ゴシック"/>
                          <a:ea typeface="游ゴシック"/>
                          <a:cs typeface="游ゴシック"/>
                        </a:rPr>
                        <a:t>乾麺（そば）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通信販売／店頭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そば売上高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通販はＥコレクトサガワ経由1,020千円。製造場所・委託先は要確認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12064">
                <a:tc>
                  <a:txBody>
                    <a:bodyPr wrap="square"/>
                    <a:lstStyle/>
                    <a:p>
                      <a:pPr algn="l">
                        <a:spcAft>
                          <a:spcPts val="0"/>
                        </a:spcAft>
                      </a:pPr>
                      <a:r>
                        <a:rPr sz="840" b="0">
                          <a:solidFill>
                            <a:srgbClr val="1A1A1A"/>
                          </a:solidFill>
                          <a:latin typeface="游ゴシック"/>
                          <a:ea typeface="游ゴシック"/>
                          <a:cs typeface="游ゴシック"/>
                        </a:rPr>
                        <a:t>そばつゆ／本返し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通信販売／店頭／卸</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商品売上高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製造場所・許認可・原価ともに要確認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12064">
                <a:tc>
                  <a:txBody>
                    <a:bodyPr wrap="square"/>
                    <a:lstStyle/>
                    <a:p>
                      <a:pPr algn="l">
                        <a:spcAft>
                          <a:spcPts val="0"/>
                        </a:spcAft>
                      </a:pPr>
                      <a:r>
                        <a:rPr sz="840" b="0">
                          <a:solidFill>
                            <a:srgbClr val="1A1A1A"/>
                          </a:solidFill>
                          <a:latin typeface="游ゴシック"/>
                          <a:ea typeface="游ゴシック"/>
                          <a:cs typeface="游ゴシック"/>
                        </a:rPr>
                        <a:t>醤（ひしお）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通信販売／店頭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商品売上高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同上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12064">
                <a:tc>
                  <a:txBody>
                    <a:bodyPr wrap="square"/>
                    <a:lstStyle/>
                    <a:p>
                      <a:pPr algn="l">
                        <a:spcAft>
                          <a:spcPts val="0"/>
                        </a:spcAft>
                      </a:pPr>
                      <a:r>
                        <a:rPr sz="840" b="0">
                          <a:solidFill>
                            <a:srgbClr val="1A1A1A"/>
                          </a:solidFill>
                          <a:latin typeface="游ゴシック"/>
                          <a:ea typeface="游ゴシック"/>
                          <a:cs typeface="游ゴシック"/>
                        </a:rPr>
                        <a:t>えごま味噌／大麦糀味噌</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通信販売／店頭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商品売上高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同上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12064">
                <a:tc>
                  <a:txBody>
                    <a:bodyPr wrap="square"/>
                    <a:lstStyle/>
                    <a:p>
                      <a:pPr algn="l">
                        <a:spcAft>
                          <a:spcPts val="0"/>
                        </a:spcAft>
                      </a:pPr>
                      <a:r>
                        <a:rPr sz="840" b="0">
                          <a:solidFill>
                            <a:srgbClr val="1A1A1A"/>
                          </a:solidFill>
                          <a:latin typeface="游ゴシック"/>
                          <a:ea typeface="游ゴシック"/>
                          <a:cs typeface="游ゴシック"/>
                        </a:rPr>
                        <a:t>ふるさと納税返礼品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常陸太田市</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採用状況・取扱数量・手数料率は要確認。商品売上高との対応関係も整理が必要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6876288" y="1463040"/>
            <a:ext cx="3502152" cy="4315968"/>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67727" y="1536192"/>
            <a:ext cx="3319272"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17" name="TextBox 16"/>
          <p:cNvSpPr txBox="1"/>
          <p:nvPr/>
        </p:nvSpPr>
        <p:spPr>
          <a:xfrm>
            <a:off x="6986016" y="1883664"/>
            <a:ext cx="3282696" cy="3803904"/>
          </a:xfrm>
          <a:prstGeom prst="rect">
            <a:avLst/>
          </a:prstGeom>
          <a:noFill/>
        </p:spPr>
        <p:txBody>
          <a:bodyPr wrap="square" lIns="0" rIns="0" tIns="0" bIns="0" anchor="t">
            <a:spAutoFit/>
          </a:bodyPr>
          <a:lstStyle/>
          <a:p>
            <a:pPr algn="l">
              <a:lnSpc>
                <a:spcPct val="120000"/>
              </a:lnSpc>
              <a:spcAft>
                <a:spcPts val="200"/>
              </a:spcAft>
            </a:pPr>
            <a:r>
              <a:rPr sz="919" b="1">
                <a:solidFill>
                  <a:srgbClr val="0889C9"/>
                </a:solidFill>
                <a:latin typeface="游ゴシック"/>
                <a:ea typeface="游ゴシック"/>
                <a:cs typeface="游ゴシック"/>
              </a:rPr>
              <a:t>≪商品売上高の推移≫ </a:t>
            </a:r>
            <a:r>
              <a:rPr sz="900" b="0">
                <a:solidFill>
                  <a:srgbClr val="1A1A1A"/>
                </a:solidFill>
                <a:latin typeface="游ゴシック"/>
                <a:ea typeface="游ゴシック"/>
                <a:cs typeface="游ゴシック"/>
              </a:rPr>
              <a:t>2,740→538千円（22/5期比△80.4％）。健興通商向けの商品卸が2026/5期にゼロとなったことが主因であり、物販そのものの需要が消えたわけではない（同社は現在は仕入先。要確認）。</a:t>
            </a:r>
          </a:p>
          <a:p>
            <a:pPr algn="l">
              <a:spcAft>
                <a:spcPts val="200"/>
              </a:spcAft>
            </a:pPr>
          </a:p>
          <a:p>
            <a:pPr algn="l">
              <a:lnSpc>
                <a:spcPct val="120000"/>
              </a:lnSpc>
              <a:spcAft>
                <a:spcPts val="200"/>
              </a:spcAft>
            </a:pPr>
            <a:r>
              <a:rPr sz="919" b="1">
                <a:solidFill>
                  <a:srgbClr val="0889C9"/>
                </a:solidFill>
                <a:latin typeface="游ゴシック"/>
                <a:ea typeface="游ゴシック"/>
                <a:cs typeface="游ゴシック"/>
              </a:rPr>
              <a:t>≪通信販売≫ </a:t>
            </a:r>
            <a:r>
              <a:rPr sz="900" b="0">
                <a:solidFill>
                  <a:srgbClr val="1A1A1A"/>
                </a:solidFill>
                <a:latin typeface="游ゴシック"/>
                <a:ea typeface="游ゴシック"/>
                <a:cs typeface="游ゴシック"/>
              </a:rPr>
              <a:t>604→1,020千円と伸長。受注・発送の担当者、EC（Amazon等）の運用主体が代表者個人か法人かは要確認であり、承継時の体制づくりが論点となる。</a:t>
            </a:r>
          </a:p>
          <a:p>
            <a:pPr algn="l">
              <a:spcAft>
                <a:spcPts val="200"/>
              </a:spcAft>
            </a:pPr>
          </a:p>
          <a:p>
            <a:pPr algn="l">
              <a:lnSpc>
                <a:spcPct val="120000"/>
              </a:lnSpc>
              <a:spcAft>
                <a:spcPts val="200"/>
              </a:spcAft>
            </a:pPr>
            <a:r>
              <a:rPr sz="919" b="1">
                <a:solidFill>
                  <a:srgbClr val="0889C9"/>
                </a:solidFill>
                <a:latin typeface="游ゴシック"/>
                <a:ea typeface="游ゴシック"/>
                <a:cs typeface="游ゴシック"/>
              </a:rPr>
              <a:t>≪許認可≫ </a:t>
            </a:r>
            <a:r>
              <a:rPr sz="900" b="0">
                <a:solidFill>
                  <a:srgbClr val="1A1A1A"/>
                </a:solidFill>
                <a:latin typeface="游ゴシック"/>
                <a:ea typeface="游ゴシック"/>
                <a:cs typeface="游ゴシック"/>
              </a:rPr>
              <a:t>乾麺・そばつゆ・醤の製造販売には、飲食店営業許可とは別に菓子製造業・そうざい製造業等の許可を要する可能性がある。要否と取得状況は未確認（P.27）。</a:t>
            </a:r>
          </a:p>
          <a:p>
            <a:pPr algn="l">
              <a:spcAft>
                <a:spcPts val="200"/>
              </a:spcAft>
            </a:pPr>
          </a:p>
          <a:p>
            <a:pPr algn="l">
              <a:lnSpc>
                <a:spcPct val="120000"/>
              </a:lnSpc>
              <a:spcAft>
                <a:spcPts val="200"/>
              </a:spcAft>
            </a:pPr>
            <a:r>
              <a:rPr sz="919" b="1">
                <a:solidFill>
                  <a:srgbClr val="0889C9"/>
                </a:solidFill>
                <a:latin typeface="游ゴシック"/>
                <a:ea typeface="游ゴシック"/>
                <a:cs typeface="游ゴシック"/>
              </a:rPr>
              <a:t>≪預け在庫≫ </a:t>
            </a:r>
            <a:r>
              <a:rPr sz="900" b="0">
                <a:solidFill>
                  <a:srgbClr val="1A1A1A"/>
                </a:solidFill>
                <a:latin typeface="游ゴシック"/>
                <a:ea typeface="游ゴシック"/>
                <a:cs typeface="游ゴシック"/>
              </a:rPr>
              <a:t>棚卸資産2,354千円のうち商品329千円は「伊勢又預け分」。実在性・所有権・評価は要確認。</a:t>
            </a:r>
          </a:p>
          <a:p>
            <a:pPr algn="l">
              <a:spcAft>
                <a:spcPts val="200"/>
              </a:spcAft>
            </a:pPr>
          </a:p>
          <a:p>
            <a:pPr algn="l">
              <a:lnSpc>
                <a:spcPct val="120000"/>
              </a:lnSpc>
              <a:spcAft>
                <a:spcPts val="200"/>
              </a:spcAft>
            </a:pPr>
            <a:r>
              <a:rPr sz="919" b="1">
                <a:solidFill>
                  <a:srgbClr val="0889C9"/>
                </a:solidFill>
                <a:latin typeface="游ゴシック"/>
                <a:ea typeface="游ゴシック"/>
                <a:cs typeface="游ゴシック"/>
              </a:rPr>
              <a:t>≪買手にとっての意味≫ </a:t>
            </a:r>
            <a:r>
              <a:rPr sz="900" b="0">
                <a:solidFill>
                  <a:srgbClr val="1A1A1A"/>
                </a:solidFill>
                <a:latin typeface="游ゴシック"/>
                <a:ea typeface="游ゴシック"/>
                <a:cs typeface="游ゴシック"/>
              </a:rPr>
              <a:t>店舗が週4日・昼のみである以上、ブランドを面で広げる導線は物販・通販・ふるさと納税に限られる。製造・許認可を整理できれば、店舗の稼働拡大と並ぶ打ち手になる（弊社の評価）。</a:t>
            </a:r>
          </a:p>
        </p:txBody>
      </p:sp>
      <p:sp>
        <p:nvSpPr>
          <p:cNvPr id="18" name="TextBox 17"/>
          <p:cNvSpPr txBox="1"/>
          <p:nvPr/>
        </p:nvSpPr>
        <p:spPr>
          <a:xfrm>
            <a:off x="310896" y="5961888"/>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商品名は受領した画像資料および面談ヒアリングに基づきます。価格・原価・取扱数量は未受領のため記載していません。</a:t>
            </a:r>
          </a:p>
          <a:p>
            <a:pPr algn="l">
              <a:lnSpc>
                <a:spcPct val="112000"/>
              </a:lnSpc>
              <a:spcAft>
                <a:spcPts val="100"/>
              </a:spcAft>
            </a:pPr>
            <a:r>
              <a:rPr sz="750" b="0">
                <a:solidFill>
                  <a:srgbClr val="5A6670"/>
                </a:solidFill>
                <a:latin typeface="游ゴシック"/>
                <a:ea typeface="游ゴシック"/>
                <a:cs typeface="游ゴシック"/>
              </a:rPr>
              <a:t>※ 計上区分は案件マスター（PLシート）の売上区分に対応しています。金額の推移は P.14 をご参照ください。</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知的財産・許認可</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組織、拠点、設備等</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「慈久庵」「古式けんちんそば」等の商標を4件保有。ブランド価値の法的な裏付けであり、登録原簿の取得と権利範囲の確認が本件の優先確認事項</a:t>
            </a:r>
            <a:endParaRPr lang="en-US" altLang="ja-JP" dirty="0"/>
          </a:p>
        </p:txBody>
      </p:sp>
      <p:graphicFrame>
        <p:nvGraphicFramePr>
          <p:cNvPr id="14" name="Table 13"/>
          <p:cNvGraphicFramePr>
            <a:graphicFrameLocks noGrp="1"/>
          </p:cNvGraphicFramePr>
          <p:nvPr/>
        </p:nvGraphicFramePr>
        <p:xfrm>
          <a:off x="310896" y="1463040"/>
          <a:ext cx="10067544" cy="4078224"/>
        </p:xfrm>
        <a:graphic>
          <a:graphicData uri="http://schemas.openxmlformats.org/drawingml/2006/table">
            <a:tbl>
              <a:tblPr firstRow="0" bandRow="0">
                <a:tableStyleId>{5940675A-B579-460E-94D1-54222C63F5DA}</a:tableStyleId>
              </a:tblPr>
              <a:tblGrid>
                <a:gridCol w="1115568"/>
                <a:gridCol w="2962656"/>
                <a:gridCol w="841248"/>
                <a:gridCol w="566928"/>
                <a:gridCol w="4581144"/>
              </a:tblGrid>
              <a:tr h="237744">
                <a:tc>
                  <a:txBody>
                    <a:bodyPr wrap="square"/>
                    <a:lstStyle/>
                    <a:p>
                      <a:pPr algn="ctr">
                        <a:spcAft>
                          <a:spcPts val="0"/>
                        </a:spcAft>
                      </a:pPr>
                      <a:r>
                        <a:rPr sz="840" b="1">
                          <a:solidFill>
                            <a:srgbClr val="FFFFFF"/>
                          </a:solidFill>
                          <a:latin typeface="游ゴシック"/>
                          <a:ea typeface="游ゴシック"/>
                          <a:cs typeface="游ゴシック"/>
                        </a:rPr>
                        <a:t>区分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取得・時期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簿価</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確認状況</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48640">
                <a:tc>
                  <a:txBody>
                    <a:bodyPr wrap="square"/>
                    <a:lstStyle/>
                    <a:p>
                      <a:pPr algn="l">
                        <a:spcAft>
                          <a:spcPts val="0"/>
                        </a:spcAft>
                      </a:pPr>
                      <a:r>
                        <a:rPr sz="840" b="0">
                          <a:solidFill>
                            <a:srgbClr val="1A1A1A"/>
                          </a:solidFill>
                          <a:latin typeface="游ゴシック"/>
                          <a:ea typeface="游ゴシック"/>
                          <a:cs typeface="游ゴシック"/>
                        </a:rPr>
                        <a:t>商標権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商標登録4件。「慈久庵」「古式けんちんそば」「古式健珍蕎麦」等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2011年12月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0円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登録番号・区分・指定商品役務・存続期間は未確認。登録原簿の取得が必要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48640">
                <a:tc>
                  <a:txBody>
                    <a:bodyPr wrap="square"/>
                    <a:lstStyle/>
                    <a:p>
                      <a:pPr algn="l">
                        <a:spcAft>
                          <a:spcPts val="0"/>
                        </a:spcAft>
                      </a:pPr>
                      <a:r>
                        <a:rPr sz="840" b="0">
                          <a:solidFill>
                            <a:srgbClr val="1A1A1A"/>
                          </a:solidFill>
                          <a:latin typeface="游ゴシック"/>
                          <a:ea typeface="游ゴシック"/>
                          <a:cs typeface="游ゴシック"/>
                        </a:rPr>
                        <a:t>商標の維持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松田国際特許事務所へ年間60千円を支払（販管費・支払手数料）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継続</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支払内容の内訳（更新料・管理料の別）は要確認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48640">
                <a:tc>
                  <a:txBody>
                    <a:bodyPr wrap="square"/>
                    <a:lstStyle/>
                    <a:p>
                      <a:pPr algn="l">
                        <a:spcAft>
                          <a:spcPts val="0"/>
                        </a:spcAft>
                      </a:pPr>
                      <a:r>
                        <a:rPr sz="840" b="0">
                          <a:solidFill>
                            <a:srgbClr val="1A1A1A"/>
                          </a:solidFill>
                          <a:latin typeface="游ゴシック"/>
                          <a:ea typeface="游ゴシック"/>
                          <a:cs typeface="游ゴシック"/>
                        </a:rPr>
                        <a:t>商標の展開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「古式けんちんそば」の商標展開を約7年前に開始（面談ヒアリング）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2019年頃</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登録状況・使用許諾の有無は要確認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48640">
                <a:tc>
                  <a:txBody>
                    <a:bodyPr wrap="square"/>
                    <a:lstStyle/>
                    <a:p>
                      <a:pPr algn="l">
                        <a:spcAft>
                          <a:spcPts val="0"/>
                        </a:spcAft>
                      </a:pPr>
                      <a:r>
                        <a:rPr sz="840" b="0">
                          <a:solidFill>
                            <a:srgbClr val="1A1A1A"/>
                          </a:solidFill>
                          <a:latin typeface="游ゴシック"/>
                          <a:ea typeface="游ゴシック"/>
                          <a:cs typeface="游ゴシック"/>
                        </a:rPr>
                        <a:t>著作</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代表者著『小川宣夫の蕎麦・饂飩指南 ― 粗挽き蕎麦と石臼挽き饂飩』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出版社・発行年・印税の帰属（法人／個人）は要確認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48640">
                <a:tc>
                  <a:txBody>
                    <a:bodyPr wrap="square"/>
                    <a:lstStyle/>
                    <a:p>
                      <a:pPr algn="l">
                        <a:spcAft>
                          <a:spcPts val="0"/>
                        </a:spcAft>
                      </a:pPr>
                      <a:r>
                        <a:rPr sz="840" b="0">
                          <a:solidFill>
                            <a:srgbClr val="1A1A1A"/>
                          </a:solidFill>
                          <a:latin typeface="游ゴシック"/>
                          <a:ea typeface="游ゴシック"/>
                          <a:cs typeface="游ゴシック"/>
                        </a:rPr>
                        <a:t>飲食店営業許可</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常陸太田市（所管保健所）</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許可証の写しが未受領。承継手続・所要期間の確認が必要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48640">
                <a:tc>
                  <a:txBody>
                    <a:bodyPr wrap="square"/>
                    <a:lstStyle/>
                    <a:p>
                      <a:pPr algn="l">
                        <a:spcAft>
                          <a:spcPts val="0"/>
                        </a:spcAft>
                      </a:pPr>
                      <a:r>
                        <a:rPr sz="840" b="0">
                          <a:solidFill>
                            <a:srgbClr val="1A1A1A"/>
                          </a:solidFill>
                          <a:latin typeface="游ゴシック"/>
                          <a:ea typeface="游ゴシック"/>
                          <a:cs typeface="游ゴシック"/>
                        </a:rPr>
                        <a:t>食品製造の許可</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菓子製造業・そうざい製造業等（乾麺・そばつゆ・醤の製造販売に関連）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要否・取得状況ともに未確認。物販の拡販可否を左右する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48640">
                <a:tc>
                  <a:txBody>
                    <a:bodyPr wrap="square"/>
                    <a:lstStyle/>
                    <a:p>
                      <a:pPr algn="l">
                        <a:spcAft>
                          <a:spcPts val="0"/>
                        </a:spcAft>
                      </a:pPr>
                      <a:r>
                        <a:rPr sz="840" b="0">
                          <a:solidFill>
                            <a:srgbClr val="1A1A1A"/>
                          </a:solidFill>
                          <a:latin typeface="游ゴシック"/>
                          <a:ea typeface="游ゴシック"/>
                          <a:cs typeface="游ゴシック"/>
                        </a:rPr>
                        <a:t>農地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焼き畑によるそば栽培に使用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権利関係（所有／賃借）および本件譲渡対象の要否は要確認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ounded Rectangle 14"/>
          <p:cNvSpPr/>
          <p:nvPr/>
        </p:nvSpPr>
        <p:spPr>
          <a:xfrm>
            <a:off x="310896" y="5596128"/>
            <a:ext cx="10067544" cy="713232"/>
          </a:xfrm>
          <a:prstGeom prst="roundRect">
            <a:avLst/>
          </a:prstGeom>
          <a:solidFill>
            <a:srgbClr val="E1F3FB"/>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310896" y="5596128"/>
            <a:ext cx="1417320" cy="713232"/>
          </a:xfrm>
          <a:prstGeom prst="round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2336" y="5843016"/>
            <a:ext cx="1271016" cy="219456"/>
          </a:xfrm>
          <a:prstGeom prst="rect">
            <a:avLst/>
          </a:prstGeom>
          <a:noFill/>
        </p:spPr>
        <p:txBody>
          <a:bodyPr wrap="square" lIns="0" rIns="0" tIns="0" bIns="0" anchor="t">
            <a:spAutoFit/>
          </a:bodyPr>
          <a:lstStyle/>
          <a:p>
            <a:pPr algn="ctr">
              <a:spcAft>
                <a:spcPts val="0"/>
              </a:spcAft>
            </a:pPr>
            <a:r>
              <a:rPr sz="1300" b="1">
                <a:solidFill>
                  <a:srgbClr val="FFFFFF"/>
                </a:solidFill>
                <a:latin typeface="游ゴシック"/>
                <a:ea typeface="游ゴシック"/>
                <a:cs typeface="游ゴシック"/>
              </a:rPr>
              <a:t>ポイント</a:t>
            </a:r>
          </a:p>
        </p:txBody>
      </p:sp>
      <p:sp>
        <p:nvSpPr>
          <p:cNvPr id="18" name="Oval 17"/>
          <p:cNvSpPr/>
          <p:nvPr/>
        </p:nvSpPr>
        <p:spPr>
          <a:xfrm>
            <a:off x="1883664" y="5833872"/>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19" name="TextBox 18"/>
          <p:cNvSpPr txBox="1"/>
          <p:nvPr/>
        </p:nvSpPr>
        <p:spPr>
          <a:xfrm>
            <a:off x="2194560" y="5760720"/>
            <a:ext cx="2429255" cy="438912"/>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商標はブランドの法的裏付け。買手の関心は「古式けんちんそば」の権利範囲に集中する</a:t>
            </a:r>
          </a:p>
        </p:txBody>
      </p:sp>
      <p:sp>
        <p:nvSpPr>
          <p:cNvPr id="20" name="Oval 19"/>
          <p:cNvSpPr/>
          <p:nvPr/>
        </p:nvSpPr>
        <p:spPr>
          <a:xfrm>
            <a:off x="4715256" y="5833872"/>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21" name="TextBox 20"/>
          <p:cNvSpPr txBox="1"/>
          <p:nvPr/>
        </p:nvSpPr>
        <p:spPr>
          <a:xfrm>
            <a:off x="5026151" y="5760720"/>
            <a:ext cx="2429255" cy="438912"/>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営業許可の承継手続と所要期間は、クロージング日程を左右するため早期に確定させたい</a:t>
            </a:r>
          </a:p>
        </p:txBody>
      </p:sp>
      <p:sp>
        <p:nvSpPr>
          <p:cNvPr id="22" name="Oval 21"/>
          <p:cNvSpPr/>
          <p:nvPr/>
        </p:nvSpPr>
        <p:spPr>
          <a:xfrm>
            <a:off x="7546847" y="5833872"/>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23" name="TextBox 22"/>
          <p:cNvSpPr txBox="1"/>
          <p:nvPr/>
        </p:nvSpPr>
        <p:spPr>
          <a:xfrm>
            <a:off x="7857743" y="5760720"/>
            <a:ext cx="2429255" cy="438912"/>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物販を伸ばす前提として、食品製造の許可の要否整理が必要</a:t>
            </a:r>
          </a:p>
        </p:txBody>
      </p:sp>
      <p:sp>
        <p:nvSpPr>
          <p:cNvPr id="24" name="TextBox 23"/>
          <p:cNvSpPr txBox="1"/>
          <p:nvPr/>
        </p:nvSpPr>
        <p:spPr>
          <a:xfrm>
            <a:off x="310896" y="6473952"/>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商標の件数・取得時期は法人登記簿および固定資産の状況、特許事務所への支払は総勘定元帳（支払手数料）に基づきます。</a:t>
            </a:r>
          </a:p>
          <a:p>
            <a:pPr algn="l">
              <a:lnSpc>
                <a:spcPct val="112000"/>
              </a:lnSpc>
              <a:spcAft>
                <a:spcPts val="100"/>
              </a:spcAft>
            </a:pPr>
            <a:r>
              <a:rPr sz="750" b="0">
                <a:solidFill>
                  <a:srgbClr val="5A6670"/>
                </a:solidFill>
                <a:latin typeface="游ゴシック"/>
                <a:ea typeface="游ゴシック"/>
                <a:cs typeface="游ゴシック"/>
              </a:rPr>
              <a:t>※ 本頁の「要確認」は案件マスター「その他」シートの No.7・No.15 に対応しています。</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そばづくりの工程</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事業概要</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畑から器までの6工程を自社で完結。とりわけ「一年寝かせる」工程は、設備を買っても時間を買えないため、新規参入者が最も再現しにくい</a:t>
            </a:r>
            <a:endParaRPr lang="en-US" altLang="ja-JP" dirty="0"/>
          </a:p>
        </p:txBody>
      </p:sp>
      <p:sp>
        <p:nvSpPr>
          <p:cNvPr id="14" name="Rectangle 13"/>
          <p:cNvSpPr/>
          <p:nvPr/>
        </p:nvSpPr>
        <p:spPr>
          <a:xfrm>
            <a:off x="310896" y="1426464"/>
            <a:ext cx="1517904" cy="1481328"/>
          </a:xfrm>
          <a:prstGeom prst="rect">
            <a:avLst/>
          </a:prstGeom>
          <a:solidFill>
            <a:srgbClr val="F7FAFC"/>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310896" y="1426464"/>
            <a:ext cx="50292" cy="1481328"/>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7200" y="1517904"/>
            <a:ext cx="1243584"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① 原料調達</a:t>
            </a:r>
          </a:p>
        </p:txBody>
      </p:sp>
      <p:sp>
        <p:nvSpPr>
          <p:cNvPr id="17" name="TextBox 16"/>
          <p:cNvSpPr txBox="1"/>
          <p:nvPr/>
        </p:nvSpPr>
        <p:spPr>
          <a:xfrm>
            <a:off x="457200" y="1792224"/>
            <a:ext cx="1243584" cy="1024128"/>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玄そばの最高峰とされる地元産「常陸秋そば」を、農家を応援する意味合いから高値で買い取り。代表者自ら畑にも従事。</a:t>
            </a:r>
          </a:p>
        </p:txBody>
      </p:sp>
      <p:sp>
        <p:nvSpPr>
          <p:cNvPr id="18" name="TextBox 17"/>
          <p:cNvSpPr txBox="1"/>
          <p:nvPr/>
        </p:nvSpPr>
        <p:spPr>
          <a:xfrm>
            <a:off x="1828800" y="2066544"/>
            <a:ext cx="182880" cy="201168"/>
          </a:xfrm>
          <a:prstGeom prst="rect">
            <a:avLst/>
          </a:prstGeom>
          <a:noFill/>
        </p:spPr>
        <p:txBody>
          <a:bodyPr wrap="square" lIns="0" rIns="0" tIns="0" bIns="0" anchor="t">
            <a:spAutoFit/>
          </a:bodyPr>
          <a:lstStyle/>
          <a:p>
            <a:pPr algn="ctr">
              <a:spcAft>
                <a:spcPts val="0"/>
              </a:spcAft>
            </a:pPr>
            <a:r>
              <a:rPr sz="1000" b="1">
                <a:solidFill>
                  <a:srgbClr val="0889C9"/>
                </a:solidFill>
                <a:latin typeface="Arial"/>
                <a:ea typeface="Arial"/>
                <a:cs typeface="Arial"/>
              </a:rPr>
              <a:t>▶</a:t>
            </a:r>
          </a:p>
        </p:txBody>
      </p:sp>
      <p:sp>
        <p:nvSpPr>
          <p:cNvPr id="19" name="Rectangle 18"/>
          <p:cNvSpPr/>
          <p:nvPr/>
        </p:nvSpPr>
        <p:spPr>
          <a:xfrm>
            <a:off x="2011679" y="1426464"/>
            <a:ext cx="1517904" cy="1481328"/>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2011679" y="1426464"/>
            <a:ext cx="50292" cy="1481328"/>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57984" y="1517904"/>
            <a:ext cx="1243584"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② 焼畑栽培</a:t>
            </a:r>
          </a:p>
        </p:txBody>
      </p:sp>
      <p:sp>
        <p:nvSpPr>
          <p:cNvPr id="22" name="TextBox 21"/>
          <p:cNvSpPr txBox="1"/>
          <p:nvPr/>
        </p:nvSpPr>
        <p:spPr>
          <a:xfrm>
            <a:off x="2157984" y="1792224"/>
            <a:ext cx="1243584" cy="1024128"/>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国内でも希少となった焼き畑農法を再興して24年。放棄されていた土地を再生し、茎が太く生命力に満ちたそばを収穫。</a:t>
            </a:r>
          </a:p>
        </p:txBody>
      </p:sp>
      <p:sp>
        <p:nvSpPr>
          <p:cNvPr id="23" name="TextBox 22"/>
          <p:cNvSpPr txBox="1"/>
          <p:nvPr/>
        </p:nvSpPr>
        <p:spPr>
          <a:xfrm>
            <a:off x="3529583" y="2066544"/>
            <a:ext cx="182880" cy="201168"/>
          </a:xfrm>
          <a:prstGeom prst="rect">
            <a:avLst/>
          </a:prstGeom>
          <a:noFill/>
        </p:spPr>
        <p:txBody>
          <a:bodyPr wrap="square" lIns="0" rIns="0" tIns="0" bIns="0" anchor="t">
            <a:spAutoFit/>
          </a:bodyPr>
          <a:lstStyle/>
          <a:p>
            <a:pPr algn="ctr">
              <a:spcAft>
                <a:spcPts val="0"/>
              </a:spcAft>
            </a:pPr>
            <a:r>
              <a:rPr sz="1000" b="1">
                <a:solidFill>
                  <a:srgbClr val="0889C9"/>
                </a:solidFill>
                <a:latin typeface="Arial"/>
                <a:ea typeface="Arial"/>
                <a:cs typeface="Arial"/>
              </a:rPr>
              <a:t>▶</a:t>
            </a:r>
          </a:p>
        </p:txBody>
      </p:sp>
      <p:sp>
        <p:nvSpPr>
          <p:cNvPr id="24" name="Rectangle 23"/>
          <p:cNvSpPr/>
          <p:nvPr/>
        </p:nvSpPr>
        <p:spPr>
          <a:xfrm>
            <a:off x="3712463" y="1426464"/>
            <a:ext cx="1517904" cy="1481328"/>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3712463" y="1426464"/>
            <a:ext cx="50292" cy="1481328"/>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858768" y="1517904"/>
            <a:ext cx="1243584"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③ 一年熟成</a:t>
            </a:r>
          </a:p>
        </p:txBody>
      </p:sp>
      <p:sp>
        <p:nvSpPr>
          <p:cNvPr id="27" name="TextBox 26"/>
          <p:cNvSpPr txBox="1"/>
          <p:nvPr/>
        </p:nvSpPr>
        <p:spPr>
          <a:xfrm>
            <a:off x="3858768" y="1792224"/>
            <a:ext cx="1243584" cy="1024128"/>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収穫した玄そばを一年間寝かせてから使用。同一品種でも畑により性質が異なるため、畑ごとに袋を分けて管理。</a:t>
            </a:r>
          </a:p>
        </p:txBody>
      </p:sp>
      <p:sp>
        <p:nvSpPr>
          <p:cNvPr id="28" name="TextBox 27"/>
          <p:cNvSpPr txBox="1"/>
          <p:nvPr/>
        </p:nvSpPr>
        <p:spPr>
          <a:xfrm>
            <a:off x="5230368" y="2066544"/>
            <a:ext cx="182880" cy="201168"/>
          </a:xfrm>
          <a:prstGeom prst="rect">
            <a:avLst/>
          </a:prstGeom>
          <a:noFill/>
        </p:spPr>
        <p:txBody>
          <a:bodyPr wrap="square" lIns="0" rIns="0" tIns="0" bIns="0" anchor="t">
            <a:spAutoFit/>
          </a:bodyPr>
          <a:lstStyle/>
          <a:p>
            <a:pPr algn="ctr">
              <a:spcAft>
                <a:spcPts val="0"/>
              </a:spcAft>
            </a:pPr>
            <a:r>
              <a:rPr sz="1000" b="1">
                <a:solidFill>
                  <a:srgbClr val="0889C9"/>
                </a:solidFill>
                <a:latin typeface="Arial"/>
                <a:ea typeface="Arial"/>
                <a:cs typeface="Arial"/>
              </a:rPr>
              <a:t>▶</a:t>
            </a:r>
          </a:p>
        </p:txBody>
      </p:sp>
      <p:sp>
        <p:nvSpPr>
          <p:cNvPr id="29" name="Rectangle 28"/>
          <p:cNvSpPr/>
          <p:nvPr/>
        </p:nvSpPr>
        <p:spPr>
          <a:xfrm>
            <a:off x="5413248" y="1426464"/>
            <a:ext cx="1517904" cy="1481328"/>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413248" y="1426464"/>
            <a:ext cx="50292" cy="1481328"/>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559552" y="1517904"/>
            <a:ext cx="1243584"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④ 石臼自家製粉</a:t>
            </a:r>
          </a:p>
        </p:txBody>
      </p:sp>
      <p:sp>
        <p:nvSpPr>
          <p:cNvPr id="32" name="TextBox 31"/>
          <p:cNvSpPr txBox="1"/>
          <p:nvPr/>
        </p:nvSpPr>
        <p:spPr>
          <a:xfrm>
            <a:off x="5559552" y="1792224"/>
            <a:ext cx="1243584" cy="1024128"/>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寝かせた粉と新しい粉をブレンドして石臼で自家製粉。製粉機は電動・木製の石臼を併せて保有。</a:t>
            </a:r>
          </a:p>
        </p:txBody>
      </p:sp>
      <p:sp>
        <p:nvSpPr>
          <p:cNvPr id="33" name="TextBox 32"/>
          <p:cNvSpPr txBox="1"/>
          <p:nvPr/>
        </p:nvSpPr>
        <p:spPr>
          <a:xfrm>
            <a:off x="6931152" y="2066544"/>
            <a:ext cx="182880" cy="201168"/>
          </a:xfrm>
          <a:prstGeom prst="rect">
            <a:avLst/>
          </a:prstGeom>
          <a:noFill/>
        </p:spPr>
        <p:txBody>
          <a:bodyPr wrap="square" lIns="0" rIns="0" tIns="0" bIns="0" anchor="t">
            <a:spAutoFit/>
          </a:bodyPr>
          <a:lstStyle/>
          <a:p>
            <a:pPr algn="ctr">
              <a:spcAft>
                <a:spcPts val="0"/>
              </a:spcAft>
            </a:pPr>
            <a:r>
              <a:rPr sz="1000" b="1">
                <a:solidFill>
                  <a:srgbClr val="0889C9"/>
                </a:solidFill>
                <a:latin typeface="Arial"/>
                <a:ea typeface="Arial"/>
                <a:cs typeface="Arial"/>
              </a:rPr>
              <a:t>▶</a:t>
            </a:r>
          </a:p>
        </p:txBody>
      </p:sp>
      <p:sp>
        <p:nvSpPr>
          <p:cNvPr id="34" name="Rectangle 33"/>
          <p:cNvSpPr/>
          <p:nvPr/>
        </p:nvSpPr>
        <p:spPr>
          <a:xfrm>
            <a:off x="7114031" y="1426464"/>
            <a:ext cx="1517904" cy="1481328"/>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7114031" y="1426464"/>
            <a:ext cx="50292" cy="1481328"/>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7260336" y="1517904"/>
            <a:ext cx="1243584"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⑤ 手打ち</a:t>
            </a:r>
          </a:p>
        </p:txBody>
      </p:sp>
      <p:sp>
        <p:nvSpPr>
          <p:cNvPr id="37" name="TextBox 36"/>
          <p:cNvSpPr txBox="1"/>
          <p:nvPr/>
        </p:nvSpPr>
        <p:spPr>
          <a:xfrm>
            <a:off x="7260336" y="1792224"/>
            <a:ext cx="1243584" cy="1024128"/>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基本は九一。「ホシ」と呼ばれる黒い斑点が浮かぶ粗挽き蕎麦が看板。そば打ち台2台を保有。</a:t>
            </a:r>
          </a:p>
        </p:txBody>
      </p:sp>
      <p:sp>
        <p:nvSpPr>
          <p:cNvPr id="38" name="TextBox 37"/>
          <p:cNvSpPr txBox="1"/>
          <p:nvPr/>
        </p:nvSpPr>
        <p:spPr>
          <a:xfrm>
            <a:off x="8631936" y="2066544"/>
            <a:ext cx="182880" cy="201168"/>
          </a:xfrm>
          <a:prstGeom prst="rect">
            <a:avLst/>
          </a:prstGeom>
          <a:noFill/>
        </p:spPr>
        <p:txBody>
          <a:bodyPr wrap="square" lIns="0" rIns="0" tIns="0" bIns="0" anchor="t">
            <a:spAutoFit/>
          </a:bodyPr>
          <a:lstStyle/>
          <a:p>
            <a:pPr algn="ctr">
              <a:spcAft>
                <a:spcPts val="0"/>
              </a:spcAft>
            </a:pPr>
            <a:r>
              <a:rPr sz="1000" b="1">
                <a:solidFill>
                  <a:srgbClr val="0889C9"/>
                </a:solidFill>
                <a:latin typeface="Arial"/>
                <a:ea typeface="Arial"/>
                <a:cs typeface="Arial"/>
              </a:rPr>
              <a:t>▶</a:t>
            </a:r>
          </a:p>
        </p:txBody>
      </p:sp>
      <p:sp>
        <p:nvSpPr>
          <p:cNvPr id="39" name="Rectangle 38"/>
          <p:cNvSpPr/>
          <p:nvPr/>
        </p:nvSpPr>
        <p:spPr>
          <a:xfrm>
            <a:off x="8814815" y="1426464"/>
            <a:ext cx="1517904" cy="1481328"/>
          </a:xfrm>
          <a:prstGeom prst="rect">
            <a:avLst/>
          </a:prstGeom>
          <a:solidFill>
            <a:srgbClr val="F7FAFC"/>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8814815" y="1426464"/>
            <a:ext cx="50292" cy="1481328"/>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961119" y="1517904"/>
            <a:ext cx="1243584"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⑥ 提供・卸</a:t>
            </a:r>
          </a:p>
        </p:txBody>
      </p:sp>
      <p:sp>
        <p:nvSpPr>
          <p:cNvPr id="42" name="TextBox 41"/>
          <p:cNvSpPr txBox="1"/>
          <p:nvPr/>
        </p:nvSpPr>
        <p:spPr>
          <a:xfrm>
            <a:off x="8961119" y="1792224"/>
            <a:ext cx="1243584" cy="1024128"/>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店頭は週4日・昼のみの売り切りじまい。併せて同業の有名店・パン店へ玄そば・粉を供給。</a:t>
            </a:r>
          </a:p>
        </p:txBody>
      </p:sp>
      <p:sp>
        <p:nvSpPr>
          <p:cNvPr id="43" name="Rectangle 42"/>
          <p:cNvSpPr/>
          <p:nvPr/>
        </p:nvSpPr>
        <p:spPr>
          <a:xfrm>
            <a:off x="310896" y="3200400"/>
            <a:ext cx="10067544"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400" b="1">
                <a:solidFill>
                  <a:srgbClr val="FFFFFF"/>
                </a:solidFill>
                <a:latin typeface="游ゴシック"/>
                <a:ea typeface="游ゴシック"/>
                <a:cs typeface="游ゴシック"/>
              </a:rPr>
              <a:t>模倣困難性 ― 設備を買っても再現できないもの</a:t>
            </a:r>
          </a:p>
        </p:txBody>
      </p:sp>
      <p:sp>
        <p:nvSpPr>
          <p:cNvPr id="44" name="Rectangle 43"/>
          <p:cNvSpPr/>
          <p:nvPr/>
        </p:nvSpPr>
        <p:spPr>
          <a:xfrm>
            <a:off x="310896" y="3657600"/>
            <a:ext cx="3264408" cy="1591056"/>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310896" y="3657600"/>
            <a:ext cx="50292" cy="159105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75488" y="3767328"/>
            <a:ext cx="2953512" cy="237744"/>
          </a:xfrm>
          <a:prstGeom prst="rect">
            <a:avLst/>
          </a:prstGeom>
          <a:noFill/>
        </p:spPr>
        <p:txBody>
          <a:bodyPr wrap="square" lIns="0" rIns="0" tIns="0" bIns="0" anchor="t">
            <a:spAutoFit/>
          </a:bodyPr>
          <a:lstStyle/>
          <a:p>
            <a:pPr algn="l">
              <a:spcAft>
                <a:spcPts val="0"/>
              </a:spcAft>
            </a:pPr>
            <a:r>
              <a:rPr sz="1200" b="1">
                <a:solidFill>
                  <a:srgbClr val="0B3041"/>
                </a:solidFill>
                <a:latin typeface="游ゴシック"/>
                <a:ea typeface="游ゴシック"/>
                <a:cs typeface="游ゴシック"/>
              </a:rPr>
              <a:t>時間</a:t>
            </a:r>
          </a:p>
        </p:txBody>
      </p:sp>
      <p:sp>
        <p:nvSpPr>
          <p:cNvPr id="47" name="TextBox 46"/>
          <p:cNvSpPr txBox="1"/>
          <p:nvPr/>
        </p:nvSpPr>
        <p:spPr>
          <a:xfrm>
            <a:off x="475488" y="4078224"/>
            <a:ext cx="2953512" cy="1097280"/>
          </a:xfrm>
          <a:prstGeom prst="rect">
            <a:avLst/>
          </a:prstGeom>
          <a:noFill/>
        </p:spPr>
        <p:txBody>
          <a:bodyPr wrap="square" lIns="0" rIns="0" tIns="0" bIns="0" anchor="t">
            <a:spAutoFit/>
          </a:bodyPr>
          <a:lstStyle/>
          <a:p>
            <a:pPr algn="l">
              <a:lnSpc>
                <a:spcPct val="120000"/>
              </a:lnSpc>
              <a:spcAft>
                <a:spcPts val="0"/>
              </a:spcAft>
            </a:pPr>
            <a:r>
              <a:rPr sz="900" b="0">
                <a:solidFill>
                  <a:srgbClr val="1A1A1A"/>
                </a:solidFill>
                <a:latin typeface="游ゴシック"/>
                <a:ea typeface="游ゴシック"/>
                <a:cs typeface="游ゴシック"/>
              </a:rPr>
              <a:t>そばは一年寝かせてから使うため、仕入れた玄そばはその年には使えない。期末の棚卸資産2,354千円は、そのまま「1年分の時間」を先に負担した在庫であり、新規参入者は開業時にこの1年を買うことができない。</a:t>
            </a:r>
          </a:p>
        </p:txBody>
      </p:sp>
      <p:sp>
        <p:nvSpPr>
          <p:cNvPr id="48" name="Rectangle 47"/>
          <p:cNvSpPr/>
          <p:nvPr/>
        </p:nvSpPr>
        <p:spPr>
          <a:xfrm>
            <a:off x="3712463" y="3657600"/>
            <a:ext cx="3264408" cy="1591056"/>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Rectangle 48"/>
          <p:cNvSpPr/>
          <p:nvPr/>
        </p:nvSpPr>
        <p:spPr>
          <a:xfrm>
            <a:off x="3712463" y="3657600"/>
            <a:ext cx="50292" cy="159105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3877055" y="3767328"/>
            <a:ext cx="2953512" cy="237744"/>
          </a:xfrm>
          <a:prstGeom prst="rect">
            <a:avLst/>
          </a:prstGeom>
          <a:noFill/>
        </p:spPr>
        <p:txBody>
          <a:bodyPr wrap="square" lIns="0" rIns="0" tIns="0" bIns="0" anchor="t">
            <a:spAutoFit/>
          </a:bodyPr>
          <a:lstStyle/>
          <a:p>
            <a:pPr algn="l">
              <a:spcAft>
                <a:spcPts val="0"/>
              </a:spcAft>
            </a:pPr>
            <a:r>
              <a:rPr sz="1200" b="1">
                <a:solidFill>
                  <a:srgbClr val="0B3041"/>
                </a:solidFill>
                <a:latin typeface="游ゴシック"/>
                <a:ea typeface="游ゴシック"/>
                <a:cs typeface="游ゴシック"/>
              </a:rPr>
              <a:t>関係</a:t>
            </a:r>
          </a:p>
        </p:txBody>
      </p:sp>
      <p:sp>
        <p:nvSpPr>
          <p:cNvPr id="51" name="TextBox 50"/>
          <p:cNvSpPr txBox="1"/>
          <p:nvPr/>
        </p:nvSpPr>
        <p:spPr>
          <a:xfrm>
            <a:off x="3877055" y="4078224"/>
            <a:ext cx="2953512" cy="1097280"/>
          </a:xfrm>
          <a:prstGeom prst="rect">
            <a:avLst/>
          </a:prstGeom>
          <a:noFill/>
        </p:spPr>
        <p:txBody>
          <a:bodyPr wrap="square" lIns="0" rIns="0" tIns="0" bIns="0" anchor="t">
            <a:spAutoFit/>
          </a:bodyPr>
          <a:lstStyle/>
          <a:p>
            <a:pPr algn="l">
              <a:lnSpc>
                <a:spcPct val="120000"/>
              </a:lnSpc>
              <a:spcAft>
                <a:spcPts val="0"/>
              </a:spcAft>
            </a:pPr>
            <a:r>
              <a:rPr sz="900" b="0">
                <a:solidFill>
                  <a:srgbClr val="1A1A1A"/>
                </a:solidFill>
                <a:latin typeface="游ゴシック"/>
                <a:ea typeface="游ゴシック"/>
                <a:cs typeface="游ゴシック"/>
              </a:rPr>
              <a:t>常陸秋そばの買付は、価格条件ではなく地元生産者との関係に支えられている。代表者は農家を応援する意味合いから高値で買い取る方針を続けており、原料の安定調達はこの関係性そのものに依存している（承継方法は要確認）。</a:t>
            </a:r>
          </a:p>
        </p:txBody>
      </p:sp>
      <p:sp>
        <p:nvSpPr>
          <p:cNvPr id="52" name="Rectangle 51"/>
          <p:cNvSpPr/>
          <p:nvPr/>
        </p:nvSpPr>
        <p:spPr>
          <a:xfrm>
            <a:off x="7114031" y="3657600"/>
            <a:ext cx="3264408" cy="1591056"/>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Rectangle 52"/>
          <p:cNvSpPr/>
          <p:nvPr/>
        </p:nvSpPr>
        <p:spPr>
          <a:xfrm>
            <a:off x="7114031" y="3657600"/>
            <a:ext cx="50292" cy="159105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7278623" y="3767328"/>
            <a:ext cx="2953512" cy="237744"/>
          </a:xfrm>
          <a:prstGeom prst="rect">
            <a:avLst/>
          </a:prstGeom>
          <a:noFill/>
        </p:spPr>
        <p:txBody>
          <a:bodyPr wrap="square" lIns="0" rIns="0" tIns="0" bIns="0" anchor="t">
            <a:spAutoFit/>
          </a:bodyPr>
          <a:lstStyle/>
          <a:p>
            <a:pPr algn="l">
              <a:spcAft>
                <a:spcPts val="0"/>
              </a:spcAft>
            </a:pPr>
            <a:r>
              <a:rPr sz="1200" b="1">
                <a:solidFill>
                  <a:srgbClr val="0B3041"/>
                </a:solidFill>
                <a:latin typeface="游ゴシック"/>
                <a:ea typeface="游ゴシック"/>
                <a:cs typeface="游ゴシック"/>
              </a:rPr>
              <a:t>評価</a:t>
            </a:r>
          </a:p>
        </p:txBody>
      </p:sp>
      <p:sp>
        <p:nvSpPr>
          <p:cNvPr id="55" name="TextBox 54"/>
          <p:cNvSpPr txBox="1"/>
          <p:nvPr/>
        </p:nvSpPr>
        <p:spPr>
          <a:xfrm>
            <a:off x="7278623" y="4078224"/>
            <a:ext cx="2953512" cy="1097280"/>
          </a:xfrm>
          <a:prstGeom prst="rect">
            <a:avLst/>
          </a:prstGeom>
          <a:noFill/>
        </p:spPr>
        <p:txBody>
          <a:bodyPr wrap="square" lIns="0" rIns="0" tIns="0" bIns="0" anchor="t">
            <a:spAutoFit/>
          </a:bodyPr>
          <a:lstStyle/>
          <a:p>
            <a:pPr algn="l">
              <a:lnSpc>
                <a:spcPct val="120000"/>
              </a:lnSpc>
              <a:spcAft>
                <a:spcPts val="0"/>
              </a:spcAft>
            </a:pPr>
            <a:r>
              <a:rPr sz="900" b="0">
                <a:solidFill>
                  <a:srgbClr val="1A1A1A"/>
                </a:solidFill>
                <a:latin typeface="游ゴシック"/>
                <a:ea typeface="游ゴシック"/>
                <a:cs typeface="游ゴシック"/>
              </a:rPr>
              <a:t>打心蕎庵・玉笑といった同業の有名店が玄そば・蕎麦粉を仕入れに訪れ、石臼挽き小麦粉はキビヤベーカリー（1,865千円）・ルヴァン（231千円）へ供給。一般消費者だけでなく「つくり手」から選ばれている点が評価の裏付けとなる。</a:t>
            </a:r>
          </a:p>
        </p:txBody>
      </p:sp>
      <p:sp>
        <p:nvSpPr>
          <p:cNvPr id="56" name="Rounded Rectangle 55"/>
          <p:cNvSpPr/>
          <p:nvPr/>
        </p:nvSpPr>
        <p:spPr>
          <a:xfrm>
            <a:off x="310896" y="5486400"/>
            <a:ext cx="10067544" cy="713232"/>
          </a:xfrm>
          <a:prstGeom prst="roundRect">
            <a:avLst/>
          </a:prstGeom>
          <a:solidFill>
            <a:srgbClr val="E1F3FB"/>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Rounded Rectangle 56"/>
          <p:cNvSpPr/>
          <p:nvPr/>
        </p:nvSpPr>
        <p:spPr>
          <a:xfrm>
            <a:off x="310896" y="5486400"/>
            <a:ext cx="1417320" cy="713232"/>
          </a:xfrm>
          <a:prstGeom prst="round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402336" y="5733288"/>
            <a:ext cx="1271016" cy="219456"/>
          </a:xfrm>
          <a:prstGeom prst="rect">
            <a:avLst/>
          </a:prstGeom>
          <a:noFill/>
        </p:spPr>
        <p:txBody>
          <a:bodyPr wrap="square" lIns="0" rIns="0" tIns="0" bIns="0" anchor="t">
            <a:spAutoFit/>
          </a:bodyPr>
          <a:lstStyle/>
          <a:p>
            <a:pPr algn="ctr">
              <a:spcAft>
                <a:spcPts val="0"/>
              </a:spcAft>
            </a:pPr>
            <a:r>
              <a:rPr sz="1300" b="1">
                <a:solidFill>
                  <a:srgbClr val="FFFFFF"/>
                </a:solidFill>
                <a:latin typeface="游ゴシック"/>
                <a:ea typeface="游ゴシック"/>
                <a:cs typeface="游ゴシック"/>
              </a:rPr>
              <a:t>ポイント</a:t>
            </a:r>
          </a:p>
        </p:txBody>
      </p:sp>
      <p:sp>
        <p:nvSpPr>
          <p:cNvPr id="59" name="Oval 58"/>
          <p:cNvSpPr/>
          <p:nvPr/>
        </p:nvSpPr>
        <p:spPr>
          <a:xfrm>
            <a:off x="1883664" y="5724144"/>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60" name="TextBox 59"/>
          <p:cNvSpPr txBox="1"/>
          <p:nvPr/>
        </p:nvSpPr>
        <p:spPr>
          <a:xfrm>
            <a:off x="2194560" y="5650992"/>
            <a:ext cx="2429255" cy="438912"/>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一年熟成と畑別管理により、原料在庫がそのまま参入コストになる</a:t>
            </a:r>
          </a:p>
        </p:txBody>
      </p:sp>
      <p:sp>
        <p:nvSpPr>
          <p:cNvPr id="61" name="Oval 60"/>
          <p:cNvSpPr/>
          <p:nvPr/>
        </p:nvSpPr>
        <p:spPr>
          <a:xfrm>
            <a:off x="4715256" y="5724144"/>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62" name="TextBox 61"/>
          <p:cNvSpPr txBox="1"/>
          <p:nvPr/>
        </p:nvSpPr>
        <p:spPr>
          <a:xfrm>
            <a:off x="5026151" y="5650992"/>
            <a:ext cx="2429255" cy="438912"/>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原料調達は価格ではなく地元生産者との関係に依存（承継方法は要確認）</a:t>
            </a:r>
          </a:p>
        </p:txBody>
      </p:sp>
      <p:sp>
        <p:nvSpPr>
          <p:cNvPr id="63" name="Oval 62"/>
          <p:cNvSpPr/>
          <p:nvPr/>
        </p:nvSpPr>
        <p:spPr>
          <a:xfrm>
            <a:off x="7546847" y="5724144"/>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64" name="TextBox 63"/>
          <p:cNvSpPr txBox="1"/>
          <p:nvPr/>
        </p:nvSpPr>
        <p:spPr>
          <a:xfrm>
            <a:off x="7857743" y="5650992"/>
            <a:ext cx="2429255" cy="438912"/>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同業の名店・ベーカリーが仕入先として選ぶ水準の品質評価</a:t>
            </a:r>
          </a:p>
        </p:txBody>
      </p:sp>
      <p:sp>
        <p:nvSpPr>
          <p:cNvPr id="65" name="TextBox 64"/>
          <p:cNvSpPr txBox="1"/>
          <p:nvPr/>
        </p:nvSpPr>
        <p:spPr>
          <a:xfrm>
            <a:off x="310896" y="640080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製法・栽培に関する記述は Japan Brand Collection 2026 茨城版および面談ヒアリングに基づく弊社の整理です。</a:t>
            </a:r>
          </a:p>
          <a:p>
            <a:pPr algn="l">
              <a:lnSpc>
                <a:spcPct val="112000"/>
              </a:lnSpc>
              <a:spcAft>
                <a:spcPts val="100"/>
              </a:spcAft>
            </a:pPr>
            <a:r>
              <a:rPr sz="750" b="0">
                <a:solidFill>
                  <a:srgbClr val="5A6670"/>
                </a:solidFill>
                <a:latin typeface="游ゴシック"/>
                <a:ea typeface="游ゴシック"/>
                <a:cs typeface="游ゴシック"/>
              </a:rPr>
              <a:t>※ 自家栽培の面積・収穫量・農地の権利関係、焼き畑の現況は要確認（P.37）。大規模栽培は中止し、地元産玄そばの適正価格での仕入に方針転換済とのことです。</a:t>
            </a:r>
          </a:p>
        </p:txBody>
      </p:sp>
    </p:spTree>
  </p:cSld>
  <p:clrMapOvr>
    <a:masterClrMapping/>
  </p:clrMapOvr>
</p:sld>
</file>

<file path=ppt/theme/theme1.xml><?xml version="1.0" encoding="utf-8"?>
<a:theme xmlns:a="http://schemas.openxmlformats.org/drawingml/2006/main" name="SL_2026">
  <a:themeElements>
    <a:clrScheme name="M&amp;A">
      <a:dk1>
        <a:srgbClr val="000000"/>
      </a:dk1>
      <a:lt1>
        <a:srgbClr val="FFFFFF"/>
      </a:lt1>
      <a:dk2>
        <a:srgbClr val="0B3041"/>
      </a:dk2>
      <a:lt2>
        <a:srgbClr val="E3E7E9"/>
      </a:lt2>
      <a:accent1>
        <a:srgbClr val="727F88"/>
      </a:accent1>
      <a:accent2>
        <a:srgbClr val="E1F3FB"/>
      </a:accent2>
      <a:accent3>
        <a:srgbClr val="54CCB3"/>
      </a:accent3>
      <a:accent4>
        <a:srgbClr val="0889C9"/>
      </a:accent4>
      <a:accent5>
        <a:srgbClr val="FFFFFF"/>
      </a:accent5>
      <a:accent6>
        <a:srgbClr val="FFFFFF"/>
      </a:accent6>
      <a:hlink>
        <a:srgbClr val="FFFFFF"/>
      </a:hlink>
      <a:folHlink>
        <a:srgbClr val="FFFFFF"/>
      </a:folHlink>
    </a:clrScheme>
    <a:fontScheme name="游ゴシック&amp;Arial">
      <a:majorFont>
        <a:latin typeface="Arial"/>
        <a:ea typeface="游ゴシック"/>
        <a:cs typeface=""/>
      </a:majorFont>
      <a:minorFont>
        <a:latin typeface="Arial"/>
        <a:ea typeface="游ゴシック Medium"/>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7717</TotalTime>
  <Words>3079</Words>
  <Application>Microsoft Office PowerPoint</Application>
  <PresentationFormat>ユーザー設定</PresentationFormat>
  <Paragraphs>384</Paragraphs>
  <Slides>36</Slides>
  <Notes>30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36</vt:i4>
      </vt:variant>
    </vt:vector>
  </HeadingPairs>
  <TitlesOfParts>
    <vt:vector size="40" baseType="lpstr">
      <vt:lpstr>游ゴシック</vt:lpstr>
      <vt:lpstr>Arial</vt:lpstr>
      <vt:lpstr>Wingdings</vt:lpstr>
      <vt:lpstr>SL_2026</vt:lpstr>
      <vt:lpstr>企業概要書 &lt;●●業/●●地区&gt;　</vt:lpstr>
      <vt:lpstr>はじめに</vt:lpstr>
      <vt:lpstr>PowerPoint プレゼンテーション</vt:lpstr>
      <vt:lpstr>エグゼクティブサマリー</vt:lpstr>
      <vt:lpstr>基本情報</vt:lpstr>
      <vt:lpstr>財務ハイライト（P/L）</vt:lpstr>
      <vt:lpstr>財務ハイライト（B/S）</vt:lpstr>
      <vt:lpstr>譲渡希望条件</vt:lpstr>
      <vt:lpstr>事業概要</vt:lpstr>
      <vt:lpstr>事業内容</vt:lpstr>
      <vt:lpstr>サービス概要、製品一例、工事実績、など</vt:lpstr>
      <vt:lpstr>特徴、強み、成長性等</vt:lpstr>
      <vt:lpstr>●●別売上高</vt:lpstr>
      <vt:lpstr>仕入先別取引高</vt:lpstr>
      <vt:lpstr>外注費</vt:lpstr>
      <vt:lpstr>組織、拠点、設備等</vt:lpstr>
      <vt:lpstr>組織図</vt:lpstr>
      <vt:lpstr>株主及び役員</vt:lpstr>
      <vt:lpstr>従業員</vt:lpstr>
      <vt:lpstr>拠点概要（本社）</vt:lpstr>
      <vt:lpstr>拠点概要（●●工場）</vt:lpstr>
      <vt:lpstr>不動産詳細</vt:lpstr>
      <vt:lpstr>保有設備一覧</vt:lpstr>
      <vt:lpstr>財務情報詳細</vt:lpstr>
      <vt:lpstr>貸借対照表</vt:lpstr>
      <vt:lpstr>損益計算書</vt:lpstr>
      <vt:lpstr>製造原価報告書</vt:lpstr>
      <vt:lpstr>販売費及び一般管理費</vt:lpstr>
      <vt:lpstr>Appendix</vt:lpstr>
      <vt:lpstr>沿革</vt:lpstr>
      <vt:lpstr>代表者経歴</vt:lpstr>
      <vt:lpstr>事業計画</vt:lpstr>
      <vt:lpstr>今期予算</vt:lpstr>
      <vt:lpstr>その他補足情報</vt:lpstr>
      <vt:lpstr>報酬体系</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宮本 健</dc:creator>
  <cp:lastModifiedBy>越智 真也</cp:lastModifiedBy>
  <cp:revision>176</cp:revision>
  <cp:lastPrinted>2025-10-23T01:12:16Z</cp:lastPrinted>
  <dcterms:created xsi:type="dcterms:W3CDTF">2022-11-09T11:25:01Z</dcterms:created>
  <dcterms:modified xsi:type="dcterms:W3CDTF">2026-02-10T11:59:22Z</dcterms:modified>
</cp:coreProperties>
</file>