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7.svg" ContentType="image/svg+xml"/>
  <Override PartName="/ppt/media/image9.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53" r:id="rId1"/>
  </p:sldMasterIdLst>
  <p:notesMasterIdLst>
    <p:notesMasterId r:id="rId38"/>
  </p:notesMasterIdLst>
  <p:sldIdLst>
    <p:sldId id="770" r:id="rId2"/>
    <p:sldId id="269" r:id="rId3"/>
    <p:sldId id="693" r:id="rId4"/>
    <p:sldId id="749" r:id="rId5"/>
    <p:sldId id="748" r:id="rId6"/>
    <p:sldId id="774" r:id="rId7"/>
    <p:sldId id="775" r:id="rId8"/>
    <p:sldId id="266" r:id="rId9"/>
    <p:sldId id="772" r:id="rId10"/>
    <p:sldId id="776" r:id="rId11"/>
    <p:sldId id="798" r:id="rId12"/>
    <p:sldId id="796" r:id="rId13"/>
    <p:sldId id="810" r:id="rId49"/>
    <p:sldId id="792" r:id="rId14"/>
    <p:sldId id="809" r:id="rId48"/>
    <p:sldId id="779" r:id="rId15"/>
    <p:sldId id="797" r:id="rId16"/>
    <p:sldId id="802" r:id="rId41"/>
    <p:sldId id="803" r:id="rId40"/>
    <p:sldId id="808" r:id="rId47"/>
    <p:sldId id="771" r:id="rId17"/>
    <p:sldId id="780" r:id="rId18"/>
    <p:sldId id="807" r:id="rId20"/>
    <p:sldId id="789" r:id="rId19"/>
    <p:sldId id="790" r:id="rId21"/>
    <p:sldId id="806" r:id="rId33"/>
    <p:sldId id="793" r:id="rId22"/>
    <p:sldId id="791" r:id="rId23"/>
    <p:sldId id="795" r:id="rId24"/>
    <p:sldId id="805" r:id="rId34"/>
    <p:sldId id="773" r:id="rId25"/>
    <p:sldId id="784" r:id="rId26"/>
    <p:sldId id="785" r:id="rId27"/>
    <p:sldId id="786" r:id="rId28"/>
    <p:sldId id="787" r:id="rId29"/>
    <p:sldId id="782" r:id="rId30"/>
    <p:sldId id="783" r:id="rId31"/>
    <p:sldId id="794" r:id="rId32"/>
    <p:sldId id="804" r:id="rId39"/>
    <p:sldId id="788" r:id="rId35"/>
    <p:sldId id="801" r:id="rId36"/>
    <p:sldId id="277" r:id="rId37"/>
  </p:sldIdLst>
  <p:sldSz cx="10691813" cy="7559675"/>
  <p:notesSz cx="9939338" cy="1436846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既定のセクション" id="{F15EE332-85E8-464E-BD9B-6722D42356EC}">
          <p14:sldIdLst>
            <p14:sldId id="770"/>
            <p14:sldId id="269"/>
            <p14:sldId id="693"/>
            <p14:sldId id="749"/>
            <p14:sldId id="748"/>
            <p14:sldId id="774"/>
            <p14:sldId id="775"/>
            <p14:sldId id="266"/>
            <p14:sldId id="772"/>
            <p14:sldId id="776"/>
            <p14:sldId id="798"/>
            <p14:sldId id="796"/>
            <p14:sldId id="792"/>
            <p14:sldId id="779"/>
            <p14:sldId id="797"/>
            <p14:sldId id="771"/>
            <p14:sldId id="780"/>
            <p14:sldId id="789"/>
            <p14:sldId id="781"/>
            <p14:sldId id="790"/>
            <p14:sldId id="793"/>
            <p14:sldId id="791"/>
            <p14:sldId id="795"/>
            <p14:sldId id="773"/>
            <p14:sldId id="784"/>
            <p14:sldId id="785"/>
            <p14:sldId id="786"/>
            <p14:sldId id="787"/>
            <p14:sldId id="782"/>
            <p14:sldId id="783"/>
            <p14:sldId id="794"/>
            <p14:sldId id="799"/>
            <p14:sldId id="800"/>
            <p14:sldId id="788"/>
            <p14:sldId id="801"/>
            <p14:sldId id="27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4526" userDrawn="1">
          <p15:clr>
            <a:srgbClr val="A4A3A4"/>
          </p15:clr>
        </p15:guide>
        <p15:guide id="2" pos="3131" userDrawn="1">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2" roundtripDataSignature="AMtx7miHo5eoGHrZPWeT5AyeZZ6LkEE/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89C9"/>
    <a:srgbClr val="006AB1"/>
    <a:srgbClr val="0B3041"/>
    <a:srgbClr val="54CCB3"/>
    <a:srgbClr val="E1F2FB"/>
    <a:srgbClr val="E3E7E9"/>
    <a:srgbClr val="727F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E9FEF8D-0F9E-4D7E-9A0F-5DDE6A6739AB}">
  <a:tblStyle styleId="{2E9FEF8D-0F9E-4D7E-9A0F-5DDE6A6739AB}" styleName="Table_0">
    <a:wholeTbl>
      <a:tcTxStyle b="off" i="off">
        <a:font>
          <a:latin typeface="游ゴシック"/>
          <a:ea typeface="游ゴシック"/>
          <a:cs typeface="游ゴシック"/>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游ゴシック"/>
          <a:ea typeface="游ゴシック"/>
          <a:cs typeface="游ゴシック"/>
        </a:font>
        <a:schemeClr val="lt1"/>
      </a:tcTxStyle>
      <a:tcStyle>
        <a:tcBdr/>
        <a:fill>
          <a:solidFill>
            <a:schemeClr val="accent5"/>
          </a:solidFill>
        </a:fill>
      </a:tcStyle>
    </a:lastCol>
    <a:firstCol>
      <a:tcTxStyle b="on" i="off">
        <a:font>
          <a:latin typeface="游ゴシック"/>
          <a:ea typeface="游ゴシック"/>
          <a:cs typeface="游ゴシック"/>
        </a:font>
        <a:schemeClr val="lt1"/>
      </a:tcTxStyle>
      <a:tcStyle>
        <a:tcBdr/>
        <a:fill>
          <a:solidFill>
            <a:schemeClr val="accent5"/>
          </a:solidFill>
        </a:fill>
      </a:tcStyle>
    </a:firstCol>
    <a:lastRow>
      <a:tcTxStyle b="on" i="off">
        <a:font>
          <a:latin typeface="游ゴシック"/>
          <a:ea typeface="游ゴシック"/>
          <a:cs typeface="游ゴシック"/>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游ゴシック"/>
          <a:ea typeface="游ゴシック"/>
          <a:cs typeface="游ゴシック"/>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87" d="100"/>
          <a:sy n="87" d="100"/>
        </p:scale>
        <p:origin x="907" y="58"/>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100" d="100"/>
          <a:sy n="100" d="100"/>
        </p:scale>
        <p:origin x="0" y="0"/>
      </p:cViewPr>
      <p:guideLst>
        <p:guide orient="horz" pos="4526"/>
        <p:guide pos="3131"/>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40.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7.xml"/><Relationship Id="rId34" Type="http://schemas.openxmlformats.org/officeDocument/2006/relationships/slide" Target="slides/slide38.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slide" Target="slides/slide33.xml"/><Relationship Id="rId40" Type="http://schemas.openxmlformats.org/officeDocument/2006/relationships/slide" Target="slides/slide32.xml"/><Relationship Id="rId41" Type="http://schemas.openxmlformats.org/officeDocument/2006/relationships/slide" Target="slides/slide19.xml"/><Relationship Id="rId42" Type="http://customschemas.google.com/relationships/presentationmetadata" Target="metadata"/><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 Id="rId47" Type="http://schemas.openxmlformats.org/officeDocument/2006/relationships/slide" Target="slides/slide39.xml"/><Relationship Id="rId48" Type="http://schemas.openxmlformats.org/officeDocument/2006/relationships/slide" Target="slides/slide42.xml"/><Relationship Id="rId49"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5" y="4"/>
            <a:ext cx="4306676" cy="719872"/>
          </a:xfrm>
          <a:prstGeom prst="rect">
            <a:avLst/>
          </a:prstGeom>
          <a:noFill/>
          <a:ln>
            <a:noFill/>
          </a:ln>
        </p:spPr>
        <p:txBody>
          <a:bodyPr spcFirstLastPara="1" wrap="square" lIns="128134" tIns="64050" rIns="128134" bIns="64050" anchor="t" anchorCtr="0">
            <a:noAutofit/>
          </a:bodyPr>
          <a:lstStyle>
            <a:lvl1pPr marR="0" lvl="0" algn="l"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5630444" y="4"/>
            <a:ext cx="4306675" cy="719872"/>
          </a:xfrm>
          <a:prstGeom prst="rect">
            <a:avLst/>
          </a:prstGeom>
          <a:noFill/>
          <a:ln>
            <a:noFill/>
          </a:ln>
        </p:spPr>
        <p:txBody>
          <a:bodyPr spcFirstLastPara="1" wrap="square" lIns="128134" tIns="64050" rIns="128134" bIns="64050" anchor="t" anchorCtr="0">
            <a:noAutofit/>
          </a:bodyPr>
          <a:lstStyle>
            <a:lvl1pPr marR="0" lvl="0" algn="r"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5" y="13648596"/>
            <a:ext cx="4306676" cy="719872"/>
          </a:xfrm>
          <a:prstGeom prst="rect">
            <a:avLst/>
          </a:prstGeom>
          <a:noFill/>
          <a:ln>
            <a:noFill/>
          </a:ln>
        </p:spPr>
        <p:txBody>
          <a:bodyPr spcFirstLastPara="1" wrap="square" lIns="128134" tIns="64050" rIns="128134" bIns="64050" anchor="b" anchorCtr="0">
            <a:noAutofit/>
          </a:bodyPr>
          <a:lstStyle>
            <a:lvl1pPr marR="0" lvl="0" algn="l"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sz="1700" smtClean="0">
                <a:solidFill>
                  <a:schemeClr val="dk1"/>
                </a:solidFill>
              </a:rPr>
              <a:pPr algn="r"/>
              <a:t>‹#›</a:t>
            </a:fld>
            <a:endParaRPr lang="en-US" sz="1700">
              <a:solidFill>
                <a:schemeClr val="dk1"/>
              </a:solidFil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72A68-D8F2-B22E-7BFA-83527B74627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8067325-FBD2-0A2C-AAB1-F7B579EB568F}"/>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7CC41CC2-90D7-5CB1-F482-54299D366ABB}"/>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6D654142-6A85-EA5B-5409-B0B81E07C5DC}"/>
              </a:ext>
            </a:extLst>
          </p:cNvPr>
          <p:cNvSpPr>
            <a:spLocks noGrp="1"/>
          </p:cNvSpPr>
          <p:nvPr>
            <p:ph type="sldNum" sz="quarter" idx="5"/>
          </p:nvPr>
        </p:nvSpPr>
        <p:spPr/>
        <p:txBody>
          <a:bodyPr/>
          <a:lstStyle/>
          <a:p>
            <a:fld id="{30FF3BCC-1A43-4D25-8467-E40EF431E2F1}" type="slidenum">
              <a:rPr kumimoji="1" lang="ja-JP" altLang="en-US" smtClean="0"/>
              <a:t>0</a:t>
            </a:fld>
            <a:endParaRPr kumimoji="1" lang="ja-JP" altLang="en-US"/>
          </a:p>
        </p:txBody>
      </p:sp>
    </p:spTree>
    <p:extLst>
      <p:ext uri="{BB962C8B-B14F-4D97-AF65-F5344CB8AC3E}">
        <p14:creationId xmlns:p14="http://schemas.microsoft.com/office/powerpoint/2010/main" val="23596415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a:t>
            </a:fld>
            <a:endParaRPr kumimoji="1" lang="ja-JP" altLang="en-US"/>
          </a:p>
        </p:txBody>
      </p:sp>
    </p:spTree>
    <p:extLst>
      <p:ext uri="{BB962C8B-B14F-4D97-AF65-F5344CB8AC3E}">
        <p14:creationId xmlns:p14="http://schemas.microsoft.com/office/powerpoint/2010/main" val="363716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notes"/>
          <p:cNvSpPr>
            <a:spLocks noGrp="1" noRot="1" noChangeAspect="1"/>
          </p:cNvSpPr>
          <p:nvPr>
            <p:ph type="sldImg" idx="2"/>
          </p:nvPr>
        </p:nvSpPr>
        <p:spPr>
          <a:xfrm>
            <a:off x="1038225" y="1244600"/>
            <a:ext cx="4745038"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2:notes"/>
          <p:cNvSpPr txBox="1">
            <a:spLocks noGrp="1"/>
          </p:cNvSpPr>
          <p:nvPr>
            <p:ph type="body" idx="1"/>
          </p:nvPr>
        </p:nvSpPr>
        <p:spPr>
          <a:xfrm>
            <a:off x="682755" y="4787722"/>
            <a:ext cx="5455939" cy="3915961"/>
          </a:xfrm>
          <a:prstGeom prst="rect">
            <a:avLst/>
          </a:prstGeom>
          <a:noFill/>
          <a:ln>
            <a:noFill/>
          </a:ln>
        </p:spPr>
        <p:txBody>
          <a:bodyPr spcFirstLastPara="1" wrap="square" lIns="88335" tIns="44169" rIns="88335" bIns="44169" anchor="t" anchorCtr="0">
            <a:noAutofit/>
          </a:bodyPr>
          <a:lstStyle/>
          <a:p>
            <a:endParaRPr dirty="0"/>
          </a:p>
        </p:txBody>
      </p:sp>
      <p:sp>
        <p:nvSpPr>
          <p:cNvPr id="257" name="Google Shape;257;p2:notes"/>
          <p:cNvSpPr txBox="1">
            <a:spLocks noGrp="1"/>
          </p:cNvSpPr>
          <p:nvPr>
            <p:ph type="sldNum" idx="12"/>
          </p:nvPr>
        </p:nvSpPr>
        <p:spPr>
          <a:xfrm>
            <a:off x="3863353" y="9448918"/>
            <a:ext cx="2955046" cy="498368"/>
          </a:xfrm>
          <a:prstGeom prst="rect">
            <a:avLst/>
          </a:prstGeom>
          <a:noFill/>
          <a:ln>
            <a:noFill/>
          </a:ln>
        </p:spPr>
        <p:txBody>
          <a:bodyPr spcFirstLastPara="1" wrap="square" lIns="88335" tIns="44169" rIns="88335" bIns="44169" anchor="b" anchorCtr="0">
            <a:noAutofit/>
          </a:bodyPr>
          <a:lstStyle/>
          <a:p>
            <a:pPr algn="r"/>
            <a:fld id="{00000000-1234-1234-1234-123412341234}" type="slidenum">
              <a:rPr lang="en-US" altLang="ja-JP"/>
              <a:pPr algn="r"/>
              <a:t>2</a:t>
            </a:fld>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33463" y="1243013"/>
            <a:ext cx="4740275" cy="3352800"/>
          </a:xfrm>
        </p:spPr>
      </p:sp>
      <p:sp>
        <p:nvSpPr>
          <p:cNvPr id="3" name="ノート プレースホルダー 2"/>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p:cNvSpPr>
            <a:spLocks noGrp="1"/>
          </p:cNvSpPr>
          <p:nvPr>
            <p:ph type="sldNum" sz="quarter" idx="5"/>
          </p:nvPr>
        </p:nvSpPr>
        <p:spPr/>
        <p:txBody>
          <a:bodyPr/>
          <a:lstStyle/>
          <a:p>
            <a:fld id="{30FF3BCC-1A43-4D25-8467-E40EF431E2F1}" type="slidenum">
              <a:rPr kumimoji="1" lang="ja-JP" altLang="en-US" smtClean="0"/>
              <a:t>4</a:t>
            </a:fld>
            <a:endParaRPr kumimoji="1" lang="ja-JP" altLang="en-US"/>
          </a:p>
        </p:txBody>
      </p:sp>
    </p:spTree>
    <p:extLst>
      <p:ext uri="{BB962C8B-B14F-4D97-AF65-F5344CB8AC3E}">
        <p14:creationId xmlns:p14="http://schemas.microsoft.com/office/powerpoint/2010/main" val="3817200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D25C8-440A-2828-878D-418A0792F61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F7C3FEA-F9FD-B7DB-149F-6EC1DBA88260}"/>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3A5BB81D-E86C-9959-31EE-7B30A06B6D5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0211B70-4BC5-9F81-584A-69CFC82BF433}"/>
              </a:ext>
            </a:extLst>
          </p:cNvPr>
          <p:cNvSpPr>
            <a:spLocks noGrp="1"/>
          </p:cNvSpPr>
          <p:nvPr>
            <p:ph type="sldNum" sz="quarter" idx="5"/>
          </p:nvPr>
        </p:nvSpPr>
        <p:spPr/>
        <p:txBody>
          <a:bodyPr/>
          <a:lstStyle/>
          <a:p>
            <a:fld id="{30FF3BCC-1A43-4D25-8467-E40EF431E2F1}" type="slidenum">
              <a:rPr kumimoji="1" lang="ja-JP" altLang="en-US" smtClean="0"/>
              <a:t>5</a:t>
            </a:fld>
            <a:endParaRPr kumimoji="1" lang="ja-JP" altLang="en-US"/>
          </a:p>
        </p:txBody>
      </p:sp>
    </p:spTree>
    <p:extLst>
      <p:ext uri="{BB962C8B-B14F-4D97-AF65-F5344CB8AC3E}">
        <p14:creationId xmlns:p14="http://schemas.microsoft.com/office/powerpoint/2010/main" val="7747491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ED554-B8EF-4A9F-7D23-DA7BEB53934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71CEDC1-16A4-E7E3-6D33-36595C1E076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07542380-129E-8965-7EF1-2B0D19ED3CF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C20D6D73-0F3C-EDF6-E562-BBF922D0AE83}"/>
              </a:ext>
            </a:extLst>
          </p:cNvPr>
          <p:cNvSpPr>
            <a:spLocks noGrp="1"/>
          </p:cNvSpPr>
          <p:nvPr>
            <p:ph type="sldNum" sz="quarter" idx="5"/>
          </p:nvPr>
        </p:nvSpPr>
        <p:spPr/>
        <p:txBody>
          <a:bodyPr/>
          <a:lstStyle/>
          <a:p>
            <a:fld id="{30FF3BCC-1A43-4D25-8467-E40EF431E2F1}" type="slidenum">
              <a:rPr kumimoji="1" lang="ja-JP" altLang="en-US" smtClean="0"/>
              <a:t>6</a:t>
            </a:fld>
            <a:endParaRPr kumimoji="1" lang="ja-JP" altLang="en-US"/>
          </a:p>
        </p:txBody>
      </p:sp>
    </p:spTree>
    <p:extLst>
      <p:ext uri="{BB962C8B-B14F-4D97-AF65-F5344CB8AC3E}">
        <p14:creationId xmlns:p14="http://schemas.microsoft.com/office/powerpoint/2010/main" val="1899608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1:notes"/>
          <p:cNvSpPr>
            <a:spLocks noGrp="1" noRot="1" noChangeAspect="1"/>
          </p:cNvSpPr>
          <p:nvPr>
            <p:ph type="sldImg" idx="2"/>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11:notes"/>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p>
            <a:pPr marL="0" indent="0"/>
            <a:endParaRPr/>
          </a:p>
        </p:txBody>
      </p:sp>
      <p:sp>
        <p:nvSpPr>
          <p:cNvPr id="268" name="Google Shape;268;p11:notes"/>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a:pPr algn="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255F2-72AB-FF31-01FE-A6493B0F509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381C757-4FDD-ACE7-CF68-5819651248C1}"/>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C5EE625D-8D2D-C468-280D-551D9E317BF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0DF0B3B1-489B-7B8F-FCE9-8191D341F15C}"/>
              </a:ext>
            </a:extLst>
          </p:cNvPr>
          <p:cNvSpPr>
            <a:spLocks noGrp="1"/>
          </p:cNvSpPr>
          <p:nvPr>
            <p:ph type="sldNum" sz="quarter" idx="5"/>
          </p:nvPr>
        </p:nvSpPr>
        <p:spPr/>
        <p:txBody>
          <a:bodyPr/>
          <a:lstStyle/>
          <a:p>
            <a:fld id="{CAF5A409-FE33-4202-B69D-8515A6FDCE7E}" type="slidenum">
              <a:rPr kumimoji="1" lang="ja-JP" altLang="en-US" smtClean="0"/>
              <a:t>9</a:t>
            </a:fld>
            <a:endParaRPr kumimoji="1" lang="ja-JP" altLang="en-US"/>
          </a:p>
        </p:txBody>
      </p:sp>
    </p:spTree>
    <p:extLst>
      <p:ext uri="{BB962C8B-B14F-4D97-AF65-F5344CB8AC3E}">
        <p14:creationId xmlns:p14="http://schemas.microsoft.com/office/powerpoint/2010/main" val="1806618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F2053-256C-05EB-FF6B-3E836DA88FD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BE281C-3A22-F726-BA35-A4756E55EBE3}"/>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DB7B9342-8F57-66B0-B807-2488575A5459}"/>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00245A20-27B3-F697-2291-87BE1C3A1772}"/>
              </a:ext>
            </a:extLst>
          </p:cNvPr>
          <p:cNvSpPr>
            <a:spLocks noGrp="1"/>
          </p:cNvSpPr>
          <p:nvPr>
            <p:ph type="sldNum" sz="quarter" idx="5"/>
          </p:nvPr>
        </p:nvSpPr>
        <p:spPr/>
        <p:txBody>
          <a:bodyPr/>
          <a:lstStyle/>
          <a:p>
            <a:fld id="{CCD08276-B047-45AB-869B-6FEE4FD0AA7E}" type="slidenum">
              <a:rPr kumimoji="1" lang="ja-JP" altLang="en-US" smtClean="0"/>
              <a:t>10</a:t>
            </a:fld>
            <a:endParaRPr kumimoji="1" lang="ja-JP" altLang="en-US"/>
          </a:p>
        </p:txBody>
      </p:sp>
    </p:spTree>
    <p:extLst>
      <p:ext uri="{BB962C8B-B14F-4D97-AF65-F5344CB8AC3E}">
        <p14:creationId xmlns:p14="http://schemas.microsoft.com/office/powerpoint/2010/main" val="41460065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11</a:t>
            </a:fld>
            <a:endParaRPr kumimoji="1" lang="ja-JP" altLang="en-US"/>
          </a:p>
        </p:txBody>
      </p:sp>
    </p:spTree>
    <p:extLst>
      <p:ext uri="{BB962C8B-B14F-4D97-AF65-F5344CB8AC3E}">
        <p14:creationId xmlns:p14="http://schemas.microsoft.com/office/powerpoint/2010/main" val="37467525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C040D-60A3-F058-65D5-629296F9C7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DF3EA90-DD81-CBB9-EF73-27816BB83DE7}"/>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B54EE8A0-BFED-396D-4CAA-82A6D5708D43}"/>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1534188-0443-756D-A5E2-5F3AA4D2F28B}"/>
              </a:ext>
            </a:extLst>
          </p:cNvPr>
          <p:cNvSpPr>
            <a:spLocks noGrp="1"/>
          </p:cNvSpPr>
          <p:nvPr>
            <p:ph type="sldNum" sz="quarter" idx="5"/>
          </p:nvPr>
        </p:nvSpPr>
        <p:spPr/>
        <p:txBody>
          <a:bodyPr/>
          <a:lstStyle/>
          <a:p>
            <a:fld id="{30FF3BCC-1A43-4D25-8467-E40EF431E2F1}" type="slidenum">
              <a:rPr kumimoji="1" lang="ja-JP" altLang="en-US" smtClean="0"/>
              <a:t>12</a:t>
            </a:fld>
            <a:endParaRPr kumimoji="1" lang="ja-JP" altLang="en-US"/>
          </a:p>
        </p:txBody>
      </p:sp>
    </p:spTree>
    <p:extLst>
      <p:ext uri="{BB962C8B-B14F-4D97-AF65-F5344CB8AC3E}">
        <p14:creationId xmlns:p14="http://schemas.microsoft.com/office/powerpoint/2010/main" val="19973134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CA458-621A-F6CD-BCBF-9D132A609BE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5834A7-AD91-AB56-B63B-5F4E423CE6AE}"/>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642B7059-7F90-A560-40B9-33E684841ABF}"/>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291A80AB-D339-06B2-3E95-24ED9AB082F7}"/>
              </a:ext>
            </a:extLst>
          </p:cNvPr>
          <p:cNvSpPr>
            <a:spLocks noGrp="1"/>
          </p:cNvSpPr>
          <p:nvPr>
            <p:ph type="sldNum" sz="quarter" idx="5"/>
          </p:nvPr>
        </p:nvSpPr>
        <p:spPr/>
        <p:txBody>
          <a:bodyPr/>
          <a:lstStyle/>
          <a:p>
            <a:fld id="{30FF3BCC-1A43-4D25-8467-E40EF431E2F1}" type="slidenum">
              <a:rPr kumimoji="1" lang="ja-JP" altLang="en-US" smtClean="0"/>
              <a:t>13</a:t>
            </a:fld>
            <a:endParaRPr kumimoji="1" lang="ja-JP" altLang="en-US"/>
          </a:p>
        </p:txBody>
      </p:sp>
    </p:spTree>
    <p:extLst>
      <p:ext uri="{BB962C8B-B14F-4D97-AF65-F5344CB8AC3E}">
        <p14:creationId xmlns:p14="http://schemas.microsoft.com/office/powerpoint/2010/main" val="16268806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A592E-568B-2BA5-2B19-12B81CE778D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7A7352E-A782-2B96-F549-A44B4533D5C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EF54036B-FC89-BE57-BD1D-9528CDD969D8}"/>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71950A32-E8C7-5909-50B6-CF7BE228A3D0}"/>
              </a:ext>
            </a:extLst>
          </p:cNvPr>
          <p:cNvSpPr>
            <a:spLocks noGrp="1"/>
          </p:cNvSpPr>
          <p:nvPr>
            <p:ph type="sldNum" sz="quarter" idx="5"/>
          </p:nvPr>
        </p:nvSpPr>
        <p:spPr/>
        <p:txBody>
          <a:bodyPr/>
          <a:lstStyle/>
          <a:p>
            <a:fld id="{30FF3BCC-1A43-4D25-8467-E40EF431E2F1}" type="slidenum">
              <a:rPr kumimoji="1" lang="ja-JP" altLang="en-US" smtClean="0"/>
              <a:t>14</a:t>
            </a:fld>
            <a:endParaRPr kumimoji="1" lang="ja-JP" altLang="en-US"/>
          </a:p>
        </p:txBody>
      </p:sp>
    </p:spTree>
    <p:extLst>
      <p:ext uri="{BB962C8B-B14F-4D97-AF65-F5344CB8AC3E}">
        <p14:creationId xmlns:p14="http://schemas.microsoft.com/office/powerpoint/2010/main" val="16178411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60B1B-8967-EB16-F654-95E71A21670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6F3223C-6CB5-B48E-4B27-2931302D029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33B0F29-3AAB-5E14-B4D9-A017F82CA42C}"/>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E8F4B38-0355-E574-CF5F-76C145B0E13C}"/>
              </a:ext>
            </a:extLst>
          </p:cNvPr>
          <p:cNvSpPr>
            <a:spLocks noGrp="1"/>
          </p:cNvSpPr>
          <p:nvPr>
            <p:ph type="sldNum" sz="quarter" idx="5"/>
          </p:nvPr>
        </p:nvSpPr>
        <p:spPr/>
        <p:txBody>
          <a:bodyPr/>
          <a:lstStyle/>
          <a:p>
            <a:fld id="{30FF3BCC-1A43-4D25-8467-E40EF431E2F1}" type="slidenum">
              <a:rPr kumimoji="1" lang="ja-JP" altLang="en-US" smtClean="0"/>
              <a:t>16</a:t>
            </a:fld>
            <a:endParaRPr kumimoji="1" lang="ja-JP" altLang="en-US"/>
          </a:p>
        </p:txBody>
      </p:sp>
    </p:spTree>
    <p:extLst>
      <p:ext uri="{BB962C8B-B14F-4D97-AF65-F5344CB8AC3E}">
        <p14:creationId xmlns:p14="http://schemas.microsoft.com/office/powerpoint/2010/main" val="40946642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FA8DC-3B5A-8CE0-C236-C6578FA6AB0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576820E-69EC-DFBB-76F4-BBF2BC15D6D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041A58E-CABA-7A79-2BAA-194DDE6D065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A0865AC2-C5B9-11C1-D7AC-9B470F32EF53}"/>
              </a:ext>
            </a:extLst>
          </p:cNvPr>
          <p:cNvSpPr>
            <a:spLocks noGrp="1"/>
          </p:cNvSpPr>
          <p:nvPr>
            <p:ph type="sldNum" sz="quarter" idx="5"/>
          </p:nvPr>
        </p:nvSpPr>
        <p:spPr/>
        <p:txBody>
          <a:bodyPr/>
          <a:lstStyle/>
          <a:p>
            <a:fld id="{30FF3BCC-1A43-4D25-8467-E40EF431E2F1}" type="slidenum">
              <a:rPr kumimoji="1" lang="ja-JP" altLang="en-US" smtClean="0"/>
              <a:t>17</a:t>
            </a:fld>
            <a:endParaRPr kumimoji="1" lang="ja-JP" altLang="en-US"/>
          </a:p>
        </p:txBody>
      </p:sp>
    </p:spTree>
    <p:extLst>
      <p:ext uri="{BB962C8B-B14F-4D97-AF65-F5344CB8AC3E}">
        <p14:creationId xmlns:p14="http://schemas.microsoft.com/office/powerpoint/2010/main" val="20264455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C7B85-83C3-9DDE-4335-158CC42969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57E6BA9-F36D-604F-3499-7C87D66ABC57}"/>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445EFA15-1CDA-B8D1-0BAC-253999A0B14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F28CD9B-652E-87FA-D240-FE835F6686E1}"/>
              </a:ext>
            </a:extLst>
          </p:cNvPr>
          <p:cNvSpPr>
            <a:spLocks noGrp="1"/>
          </p:cNvSpPr>
          <p:nvPr>
            <p:ph type="sldNum" sz="quarter" idx="5"/>
          </p:nvPr>
        </p:nvSpPr>
        <p:spPr/>
        <p:txBody>
          <a:bodyPr/>
          <a:lstStyle/>
          <a:p>
            <a:fld id="{30FF3BCC-1A43-4D25-8467-E40EF431E2F1}" type="slidenum">
              <a:rPr kumimoji="1" lang="ja-JP" altLang="en-US" smtClean="0"/>
              <a:t>19</a:t>
            </a:fld>
            <a:endParaRPr kumimoji="1" lang="ja-JP" altLang="en-US"/>
          </a:p>
        </p:txBody>
      </p:sp>
    </p:spTree>
    <p:extLst>
      <p:ext uri="{BB962C8B-B14F-4D97-AF65-F5344CB8AC3E}">
        <p14:creationId xmlns:p14="http://schemas.microsoft.com/office/powerpoint/2010/main" val="5849257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35142-7613-2F88-6DDF-0AA0B95CE30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9A89B74-D534-CC5D-3603-B157866C912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2C5E7B25-D992-5558-9CAA-3A2BB05B714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540B3A9-5359-D1DF-207E-4945C3794197}"/>
              </a:ext>
            </a:extLst>
          </p:cNvPr>
          <p:cNvSpPr>
            <a:spLocks noGrp="1"/>
          </p:cNvSpPr>
          <p:nvPr>
            <p:ph type="sldNum" sz="quarter" idx="5"/>
          </p:nvPr>
        </p:nvSpPr>
        <p:spPr/>
        <p:txBody>
          <a:bodyPr/>
          <a:lstStyle/>
          <a:p>
            <a:fld id="{30FF3BCC-1A43-4D25-8467-E40EF431E2F1}" type="slidenum">
              <a:rPr kumimoji="1" lang="ja-JP" altLang="en-US" smtClean="0"/>
              <a:t>20</a:t>
            </a:fld>
            <a:endParaRPr kumimoji="1" lang="ja-JP" altLang="en-US"/>
          </a:p>
        </p:txBody>
      </p:sp>
    </p:spTree>
    <p:extLst>
      <p:ext uri="{BB962C8B-B14F-4D97-AF65-F5344CB8AC3E}">
        <p14:creationId xmlns:p14="http://schemas.microsoft.com/office/powerpoint/2010/main" val="4071856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76726-F92E-C8AC-70BE-109958028C7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AB818D-78DD-0444-71FA-AF55300919C5}"/>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CC10619B-E5D8-2E73-006F-A5FD1904CBCA}"/>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D8095705-0959-428A-F57F-B098A8BDB7DB}"/>
              </a:ext>
            </a:extLst>
          </p:cNvPr>
          <p:cNvSpPr>
            <a:spLocks noGrp="1"/>
          </p:cNvSpPr>
          <p:nvPr>
            <p:ph type="sldNum" sz="quarter" idx="5"/>
          </p:nvPr>
        </p:nvSpPr>
        <p:spPr/>
        <p:txBody>
          <a:bodyPr/>
          <a:lstStyle/>
          <a:p>
            <a:fld id="{30FF3BCC-1A43-4D25-8467-E40EF431E2F1}" type="slidenum">
              <a:rPr kumimoji="1" lang="ja-JP" altLang="en-US" smtClean="0"/>
              <a:t>21</a:t>
            </a:fld>
            <a:endParaRPr kumimoji="1" lang="ja-JP" altLang="en-US"/>
          </a:p>
        </p:txBody>
      </p:sp>
    </p:spTree>
    <p:extLst>
      <p:ext uri="{BB962C8B-B14F-4D97-AF65-F5344CB8AC3E}">
        <p14:creationId xmlns:p14="http://schemas.microsoft.com/office/powerpoint/2010/main" val="21491322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93F79-295E-F06B-7AB6-52A5A3EA39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26F7EE7-AB24-EA55-7ACE-47505BF35BAF}"/>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7BDE5B4E-F52E-8016-E763-B450F1D89C7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6271926-BBCD-B1D8-D398-CE016D9998E8}"/>
              </a:ext>
            </a:extLst>
          </p:cNvPr>
          <p:cNvSpPr>
            <a:spLocks noGrp="1"/>
          </p:cNvSpPr>
          <p:nvPr>
            <p:ph type="sldNum" sz="quarter" idx="5"/>
          </p:nvPr>
        </p:nvSpPr>
        <p:spPr/>
        <p:txBody>
          <a:bodyPr/>
          <a:lstStyle/>
          <a:p>
            <a:fld id="{30FF3BCC-1A43-4D25-8467-E40EF431E2F1}" type="slidenum">
              <a:rPr kumimoji="1" lang="ja-JP" altLang="en-US" smtClean="0"/>
              <a:t>22</a:t>
            </a:fld>
            <a:endParaRPr kumimoji="1" lang="ja-JP" altLang="en-US"/>
          </a:p>
        </p:txBody>
      </p:sp>
    </p:spTree>
    <p:extLst>
      <p:ext uri="{BB962C8B-B14F-4D97-AF65-F5344CB8AC3E}">
        <p14:creationId xmlns:p14="http://schemas.microsoft.com/office/powerpoint/2010/main" val="33173544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8BDAB-B0BC-D005-A2A7-951EBC89B4C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2DC877-776A-449C-A43E-AEB3CE94D630}"/>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030C70C-7CA3-B8C1-0D62-4A544C5F87B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6B92F43-F674-D334-F90F-5304787C5E7D}"/>
              </a:ext>
            </a:extLst>
          </p:cNvPr>
          <p:cNvSpPr>
            <a:spLocks noGrp="1"/>
          </p:cNvSpPr>
          <p:nvPr>
            <p:ph type="sldNum" sz="quarter" idx="5"/>
          </p:nvPr>
        </p:nvSpPr>
        <p:spPr/>
        <p:txBody>
          <a:bodyPr/>
          <a:lstStyle/>
          <a:p>
            <a:fld id="{30FF3BCC-1A43-4D25-8467-E40EF431E2F1}" type="slidenum">
              <a:rPr kumimoji="1" lang="ja-JP" altLang="en-US" smtClean="0"/>
              <a:t>24</a:t>
            </a:fld>
            <a:endParaRPr kumimoji="1" lang="ja-JP" altLang="en-US"/>
          </a:p>
        </p:txBody>
      </p:sp>
    </p:spTree>
    <p:extLst>
      <p:ext uri="{BB962C8B-B14F-4D97-AF65-F5344CB8AC3E}">
        <p14:creationId xmlns:p14="http://schemas.microsoft.com/office/powerpoint/2010/main" val="2065989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A4A82-F556-35B1-B856-FE508044492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EC3BDB4-265E-5E67-CFEA-208DBEE091A4}"/>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BF07348-0B3E-EDA2-CC24-8961BB8EE4D3}"/>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0395BC13-068C-8F1D-24E2-48104E91BC41}"/>
              </a:ext>
            </a:extLst>
          </p:cNvPr>
          <p:cNvSpPr>
            <a:spLocks noGrp="1"/>
          </p:cNvSpPr>
          <p:nvPr>
            <p:ph type="sldNum" sz="quarter" idx="5"/>
          </p:nvPr>
        </p:nvSpPr>
        <p:spPr/>
        <p:txBody>
          <a:bodyPr/>
          <a:lstStyle/>
          <a:p>
            <a:fld id="{30FF3BCC-1A43-4D25-8467-E40EF431E2F1}" type="slidenum">
              <a:rPr kumimoji="1" lang="ja-JP" altLang="en-US" smtClean="0"/>
              <a:t>25</a:t>
            </a:fld>
            <a:endParaRPr kumimoji="1" lang="ja-JP" altLang="en-US"/>
          </a:p>
        </p:txBody>
      </p:sp>
    </p:spTree>
    <p:extLst>
      <p:ext uri="{BB962C8B-B14F-4D97-AF65-F5344CB8AC3E}">
        <p14:creationId xmlns:p14="http://schemas.microsoft.com/office/powerpoint/2010/main" val="2945788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B632E-8F33-5004-67F5-94EAE2F17F1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A5829DE-8CC9-F6D1-1CB3-0AAF08ECBE22}"/>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FA43D23F-F62E-70B9-7C4E-3904758C33DE}"/>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8AE4E59-2CAF-E95C-7A4D-AA069DEF9C97}"/>
              </a:ext>
            </a:extLst>
          </p:cNvPr>
          <p:cNvSpPr>
            <a:spLocks noGrp="1"/>
          </p:cNvSpPr>
          <p:nvPr>
            <p:ph type="sldNum" sz="quarter" idx="5"/>
          </p:nvPr>
        </p:nvSpPr>
        <p:spPr/>
        <p:txBody>
          <a:bodyPr/>
          <a:lstStyle/>
          <a:p>
            <a:fld id="{30FF3BCC-1A43-4D25-8467-E40EF431E2F1}" type="slidenum">
              <a:rPr kumimoji="1" lang="ja-JP" altLang="en-US" smtClean="0"/>
              <a:t>26</a:t>
            </a:fld>
            <a:endParaRPr kumimoji="1" lang="ja-JP" altLang="en-US"/>
          </a:p>
        </p:txBody>
      </p:sp>
    </p:spTree>
    <p:extLst>
      <p:ext uri="{BB962C8B-B14F-4D97-AF65-F5344CB8AC3E}">
        <p14:creationId xmlns:p14="http://schemas.microsoft.com/office/powerpoint/2010/main" val="21769181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D6D02-57FD-62EB-BC56-6E300F505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138501E-F5AF-0224-79A6-DBE6F9F7E093}"/>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F0C518C7-436D-8B71-5734-02D19443C6BA}"/>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4216A50-996C-4CF3-5119-58EFABB781F5}"/>
              </a:ext>
            </a:extLst>
          </p:cNvPr>
          <p:cNvSpPr>
            <a:spLocks noGrp="1"/>
          </p:cNvSpPr>
          <p:nvPr>
            <p:ph type="sldNum" sz="quarter" idx="5"/>
          </p:nvPr>
        </p:nvSpPr>
        <p:spPr/>
        <p:txBody>
          <a:bodyPr/>
          <a:lstStyle/>
          <a:p>
            <a:fld id="{30FF3BCC-1A43-4D25-8467-E40EF431E2F1}" type="slidenum">
              <a:rPr kumimoji="1" lang="ja-JP" altLang="en-US" smtClean="0"/>
              <a:t>27</a:t>
            </a:fld>
            <a:endParaRPr kumimoji="1" lang="ja-JP" altLang="en-US"/>
          </a:p>
        </p:txBody>
      </p:sp>
    </p:spTree>
    <p:extLst>
      <p:ext uri="{BB962C8B-B14F-4D97-AF65-F5344CB8AC3E}">
        <p14:creationId xmlns:p14="http://schemas.microsoft.com/office/powerpoint/2010/main" val="28985307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FF017-472F-0872-A57B-F89F02E4AE7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7AC265-7FBA-5DC7-99A1-03FC2F6AC04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47597C32-1DAD-46CB-92D2-4B18BA8A302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E3D7D21C-CA67-AD27-2D15-37084604B145}"/>
              </a:ext>
            </a:extLst>
          </p:cNvPr>
          <p:cNvSpPr>
            <a:spLocks noGrp="1"/>
          </p:cNvSpPr>
          <p:nvPr>
            <p:ph type="sldNum" sz="quarter" idx="5"/>
          </p:nvPr>
        </p:nvSpPr>
        <p:spPr/>
        <p:txBody>
          <a:bodyPr/>
          <a:lstStyle/>
          <a:p>
            <a:fld id="{30FF3BCC-1A43-4D25-8467-E40EF431E2F1}" type="slidenum">
              <a:rPr kumimoji="1" lang="ja-JP" altLang="en-US" smtClean="0"/>
              <a:t>29</a:t>
            </a:fld>
            <a:endParaRPr kumimoji="1" lang="ja-JP" altLang="en-US"/>
          </a:p>
        </p:txBody>
      </p:sp>
    </p:spTree>
    <p:extLst>
      <p:ext uri="{BB962C8B-B14F-4D97-AF65-F5344CB8AC3E}">
        <p14:creationId xmlns:p14="http://schemas.microsoft.com/office/powerpoint/2010/main" val="8899097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6276C-84CC-C215-DACE-F6ADF0BA4C5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5F6E4CA-435F-061C-18DC-1F4E9AF81BF2}"/>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360C6E64-2E0B-5929-5BC0-D5FAC2E44A2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DB9BCA0D-59ED-2244-A45B-B24BCA184C3C}"/>
              </a:ext>
            </a:extLst>
          </p:cNvPr>
          <p:cNvSpPr>
            <a:spLocks noGrp="1"/>
          </p:cNvSpPr>
          <p:nvPr>
            <p:ph type="sldNum" sz="quarter" idx="5"/>
          </p:nvPr>
        </p:nvSpPr>
        <p:spPr/>
        <p:txBody>
          <a:bodyPr/>
          <a:lstStyle/>
          <a:p>
            <a:fld id="{30FF3BCC-1A43-4D25-8467-E40EF431E2F1}" type="slidenum">
              <a:rPr kumimoji="1" lang="ja-JP" altLang="en-US" smtClean="0"/>
              <a:t>30</a:t>
            </a:fld>
            <a:endParaRPr kumimoji="1" lang="ja-JP" altLang="en-US"/>
          </a:p>
        </p:txBody>
      </p:sp>
    </p:spTree>
    <p:extLst>
      <p:ext uri="{BB962C8B-B14F-4D97-AF65-F5344CB8AC3E}">
        <p14:creationId xmlns:p14="http://schemas.microsoft.com/office/powerpoint/2010/main" val="653565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8CDCC-4499-9CC9-1F39-99083A511C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93DCC5A-4CF0-CE33-9793-735FCC81AE4E}"/>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6E4A811-4C57-E7FA-999B-3B2346969CFA}"/>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E5D9E0B5-62CD-B7FC-7619-BDD324DA7A35}"/>
              </a:ext>
            </a:extLst>
          </p:cNvPr>
          <p:cNvSpPr>
            <a:spLocks noGrp="1"/>
          </p:cNvSpPr>
          <p:nvPr>
            <p:ph type="sldNum" sz="quarter" idx="5"/>
          </p:nvPr>
        </p:nvSpPr>
        <p:spPr/>
        <p:txBody>
          <a:bodyPr/>
          <a:lstStyle/>
          <a:p>
            <a:fld id="{30FF3BCC-1A43-4D25-8467-E40EF431E2F1}" type="slidenum">
              <a:rPr kumimoji="1" lang="ja-JP" altLang="en-US" smtClean="0"/>
              <a:t>33</a:t>
            </a:fld>
            <a:endParaRPr kumimoji="1" lang="ja-JP" altLang="en-US"/>
          </a:p>
        </p:txBody>
      </p:sp>
    </p:spTree>
    <p:extLst>
      <p:ext uri="{BB962C8B-B14F-4D97-AF65-F5344CB8AC3E}">
        <p14:creationId xmlns:p14="http://schemas.microsoft.com/office/powerpoint/2010/main" val="21640625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33463" y="1243013"/>
            <a:ext cx="4740275" cy="33528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p:cNvSpPr>
            <a:spLocks noGrp="1"/>
          </p:cNvSpPr>
          <p:nvPr>
            <p:ph type="sldNum" sz="quarter" idx="5"/>
          </p:nvPr>
        </p:nvSpPr>
        <p:spPr/>
        <p:txBody>
          <a:bodyPr/>
          <a:lstStyle/>
          <a:p>
            <a:fld id="{CAF5A409-FE33-4202-B69D-8515A6FDCE7E}" type="slidenum">
              <a:rPr kumimoji="1" lang="ja-JP" altLang="en-US" smtClean="0"/>
              <a:t>34</a:t>
            </a:fld>
            <a:endParaRPr kumimoji="1" lang="ja-JP" altLang="en-US"/>
          </a:p>
        </p:txBody>
      </p:sp>
    </p:spTree>
    <p:extLst>
      <p:ext uri="{BB962C8B-B14F-4D97-AF65-F5344CB8AC3E}">
        <p14:creationId xmlns:p14="http://schemas.microsoft.com/office/powerpoint/2010/main" val="3909621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997412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1035968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pic>
        <p:nvPicPr>
          <p:cNvPr id="2" name="図 1" descr="背景パターン&#10;&#10;AI 生成コンテンツは誤りを含む可能性があります。">
            <a:extLst>
              <a:ext uri="{FF2B5EF4-FFF2-40B4-BE49-F238E27FC236}">
                <a16:creationId xmlns:a16="http://schemas.microsoft.com/office/drawing/2014/main" id="{8E967D6D-5B52-5B07-CA48-6817A5CEB27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grpSp>
        <p:nvGrpSpPr>
          <p:cNvPr id="7" name="グループ化 6">
            <a:extLst>
              <a:ext uri="{FF2B5EF4-FFF2-40B4-BE49-F238E27FC236}">
                <a16:creationId xmlns:a16="http://schemas.microsoft.com/office/drawing/2014/main" id="{01D98B25-17B2-272C-53AC-A26D9745042C}"/>
              </a:ext>
            </a:extLst>
          </p:cNvPr>
          <p:cNvGrpSpPr/>
          <p:nvPr userDrawn="1"/>
        </p:nvGrpSpPr>
        <p:grpSpPr>
          <a:xfrm>
            <a:off x="887069" y="3420377"/>
            <a:ext cx="3420000" cy="602349"/>
            <a:chOff x="887069" y="3420377"/>
            <a:chExt cx="3420000" cy="602349"/>
          </a:xfrm>
        </p:grpSpPr>
        <p:sp>
          <p:nvSpPr>
            <p:cNvPr id="9" name="テキスト ボックス 8">
              <a:extLst>
                <a:ext uri="{FF2B5EF4-FFF2-40B4-BE49-F238E27FC236}">
                  <a16:creationId xmlns:a16="http://schemas.microsoft.com/office/drawing/2014/main" id="{C5012DD8-6B05-046F-3AF1-CACA060CA370}"/>
                </a:ext>
              </a:extLst>
            </p:cNvPr>
            <p:cNvSpPr txBox="1"/>
            <p:nvPr/>
          </p:nvSpPr>
          <p:spPr>
            <a:xfrm>
              <a:off x="977069" y="3420377"/>
              <a:ext cx="3240000" cy="492443"/>
            </a:xfrm>
            <a:prstGeom prst="rect">
              <a:avLst/>
            </a:prstGeom>
            <a:noFill/>
          </p:spPr>
          <p:txBody>
            <a:bodyPr wrap="square" lIns="0" tIns="0" rIns="0" bIns="0" anchor="t">
              <a:spAutoFit/>
            </a:bodyPr>
            <a:lstStyle/>
            <a:p>
              <a:pPr algn="ctr"/>
              <a:r>
                <a:rPr lang="ja-JP" altLang="en-US" sz="3200" b="1" dirty="0">
                  <a:latin typeface="+mj-lt"/>
                </a:rPr>
                <a:t>目次</a:t>
              </a:r>
            </a:p>
          </p:txBody>
        </p:sp>
        <p:cxnSp>
          <p:nvCxnSpPr>
            <p:cNvPr id="10" name="直線コネクタ 9">
              <a:extLst>
                <a:ext uri="{FF2B5EF4-FFF2-40B4-BE49-F238E27FC236}">
                  <a16:creationId xmlns:a16="http://schemas.microsoft.com/office/drawing/2014/main" id="{268C069C-EAF1-B7E8-021B-4DF925E86141}"/>
                </a:ext>
              </a:extLst>
            </p:cNvPr>
            <p:cNvCxnSpPr>
              <a:cxnSpLocks/>
            </p:cNvCxnSpPr>
            <p:nvPr/>
          </p:nvCxnSpPr>
          <p:spPr>
            <a:xfrm>
              <a:off x="887069" y="4022726"/>
              <a:ext cx="34200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8"/>
            <a:ext cx="1627200" cy="322732"/>
          </a:xfrm>
          <a:prstGeom prst="rect">
            <a:avLst/>
          </a:prstGeom>
        </p:spPr>
      </p:pic>
      <p:sp>
        <p:nvSpPr>
          <p:cNvPr id="12" name="テキスト ボックス 11">
            <a:extLst>
              <a:ext uri="{FF2B5EF4-FFF2-40B4-BE49-F238E27FC236}">
                <a16:creationId xmlns:a16="http://schemas.microsoft.com/office/drawing/2014/main" id="{1A1C1562-A331-DA82-9B95-1B4F0DA08BD0}"/>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sp>
        <p:nvSpPr>
          <p:cNvPr id="13" name="Google Shape;14;p31">
            <a:extLst>
              <a:ext uri="{FF2B5EF4-FFF2-40B4-BE49-F238E27FC236}">
                <a16:creationId xmlns:a16="http://schemas.microsoft.com/office/drawing/2014/main" id="{0CB49C29-F967-F011-F3F8-2ED176CC202F}"/>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3" name="正方形/長方形 2">
            <a:extLst>
              <a:ext uri="{FF2B5EF4-FFF2-40B4-BE49-F238E27FC236}">
                <a16:creationId xmlns:a16="http://schemas.microsoft.com/office/drawing/2014/main" id="{7493C03D-EF3C-73CD-DCFB-960D33F81124}"/>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801445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pic>
        <p:nvPicPr>
          <p:cNvPr id="3" name="図 2" descr="背景パターン&#10;&#10;AI 生成コンテンツは誤りを含む可能性があります。">
            <a:extLst>
              <a:ext uri="{FF2B5EF4-FFF2-40B4-BE49-F238E27FC236}">
                <a16:creationId xmlns:a16="http://schemas.microsoft.com/office/drawing/2014/main" id="{FDE449C2-8B65-9409-394F-45A167C6AEA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5" name="タイトル 1">
            <a:extLst>
              <a:ext uri="{FF2B5EF4-FFF2-40B4-BE49-F238E27FC236}">
                <a16:creationId xmlns:a16="http://schemas.microsoft.com/office/drawing/2014/main" id="{07D600CD-5CAD-A0C8-1E3D-CD1EA5B04422}"/>
              </a:ext>
            </a:extLst>
          </p:cNvPr>
          <p:cNvSpPr>
            <a:spLocks noGrp="1"/>
          </p:cNvSpPr>
          <p:nvPr>
            <p:ph type="title"/>
          </p:nvPr>
        </p:nvSpPr>
        <p:spPr>
          <a:xfrm>
            <a:off x="989013" y="3656161"/>
            <a:ext cx="9221787" cy="615553"/>
          </a:xfrm>
          <a:prstGeom prst="rect">
            <a:avLst/>
          </a:prstGeom>
          <a:noFill/>
        </p:spPr>
        <p:txBody>
          <a:bodyPr wrap="square" lIns="0" tIns="0" rIns="0" bIns="0" rtlCol="0" anchor="ctr">
            <a:spAutoFit/>
          </a:bodyPr>
          <a:lstStyle>
            <a:lvl1pPr>
              <a:lnSpc>
                <a:spcPct val="100000"/>
              </a:lnSpc>
              <a:defRPr lang="ja-JP" altLang="en-US" sz="4000" b="1" spc="200" dirty="0">
                <a:solidFill>
                  <a:schemeClr val="bg1"/>
                </a:solidFill>
                <a:latin typeface="+mj-lt"/>
                <a:cs typeface="+mn-cs"/>
              </a:defRPr>
            </a:lvl1pPr>
          </a:lstStyle>
          <a:p>
            <a:pPr marL="0" lvl="0" defTabSz="503972"/>
            <a:r>
              <a:rPr kumimoji="1" lang="ja-JP" altLang="en-US" dirty="0"/>
              <a:t>マスター タイトルの書式設定</a:t>
            </a:r>
          </a:p>
        </p:txBody>
      </p:sp>
      <p:pic>
        <p:nvPicPr>
          <p:cNvPr id="4" name="グラフィックス 3">
            <a:extLst>
              <a:ext uri="{FF2B5EF4-FFF2-40B4-BE49-F238E27FC236}">
                <a16:creationId xmlns:a16="http://schemas.microsoft.com/office/drawing/2014/main" id="{8D4E6481-3D38-43CE-56D4-0766A151BDB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97898" y="641818"/>
            <a:ext cx="1627200" cy="320105"/>
          </a:xfrm>
          <a:prstGeom prst="rect">
            <a:avLst/>
          </a:prstGeom>
        </p:spPr>
      </p:pic>
      <p:sp>
        <p:nvSpPr>
          <p:cNvPr id="7" name="テキスト ボックス 6">
            <a:extLst>
              <a:ext uri="{FF2B5EF4-FFF2-40B4-BE49-F238E27FC236}">
                <a16:creationId xmlns:a16="http://schemas.microsoft.com/office/drawing/2014/main" id="{06F9BFF4-1363-8167-1FD9-7F8105B557A4}"/>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bg1"/>
                </a:solidFill>
                <a:latin typeface="+mj-lt"/>
              </a:rPr>
              <a:pPr algn="r"/>
              <a:t>‹#›</a:t>
            </a:fld>
            <a:endParaRPr kumimoji="1" lang="ja-JP" altLang="en-US" sz="992" dirty="0">
              <a:solidFill>
                <a:schemeClr val="bg1"/>
              </a:solidFill>
              <a:latin typeface="+mj-lt"/>
            </a:endParaRPr>
          </a:p>
        </p:txBody>
      </p:sp>
      <p:sp>
        <p:nvSpPr>
          <p:cNvPr id="8" name="Google Shape;14;p31">
            <a:extLst>
              <a:ext uri="{FF2B5EF4-FFF2-40B4-BE49-F238E27FC236}">
                <a16:creationId xmlns:a16="http://schemas.microsoft.com/office/drawing/2014/main" id="{4768A1B1-9FB9-F183-2D3A-178D813DD52B}"/>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bg1"/>
                </a:solidFill>
                <a:latin typeface="Arial"/>
                <a:ea typeface="Arial"/>
                <a:cs typeface="Arial"/>
                <a:sym typeface="Arial"/>
              </a:rPr>
              <a:t>Copyright© M＆A Succession Group Inc. All Right Reserved</a:t>
            </a:r>
            <a:endParaRPr sz="700" b="0" i="0" u="none" strike="noStrike" cap="none" dirty="0">
              <a:solidFill>
                <a:schemeClr val="bg1"/>
              </a:solidFill>
              <a:latin typeface="Arial"/>
              <a:ea typeface="Arial"/>
              <a:cs typeface="Arial"/>
              <a:sym typeface="Arial"/>
            </a:endParaRPr>
          </a:p>
        </p:txBody>
      </p:sp>
      <p:sp>
        <p:nvSpPr>
          <p:cNvPr id="2" name="正方形/長方形 1">
            <a:extLst>
              <a:ext uri="{FF2B5EF4-FFF2-40B4-BE49-F238E27FC236}">
                <a16:creationId xmlns:a16="http://schemas.microsoft.com/office/drawing/2014/main" id="{00B19FBA-B74F-4E88-0389-543A882445EE}"/>
              </a:ext>
            </a:extLst>
          </p:cNvPr>
          <p:cNvSpPr/>
          <p:nvPr userDrawn="1"/>
        </p:nvSpPr>
        <p:spPr>
          <a:xfrm>
            <a:off x="6933143" y="7209190"/>
            <a:ext cx="640572" cy="1440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bg1"/>
                </a:solidFill>
              </a:rPr>
              <a:t>Confidential</a:t>
            </a:r>
          </a:p>
        </p:txBody>
      </p:sp>
    </p:spTree>
    <p:extLst>
      <p:ext uri="{BB962C8B-B14F-4D97-AF65-F5344CB8AC3E}">
        <p14:creationId xmlns:p14="http://schemas.microsoft.com/office/powerpoint/2010/main" val="1880950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本編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A577B03-0430-76D0-A4E3-BD118824A3F8}"/>
              </a:ext>
            </a:extLst>
          </p:cNvPr>
          <p:cNvSpPr/>
          <p:nvPr userDrawn="1"/>
        </p:nvSpPr>
        <p:spPr>
          <a:xfrm>
            <a:off x="-1" y="0"/>
            <a:ext cx="10691814"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sp>
        <p:nvSpPr>
          <p:cNvPr id="31" name="フリーフォーム: 図形 30">
            <a:extLst>
              <a:ext uri="{FF2B5EF4-FFF2-40B4-BE49-F238E27FC236}">
                <a16:creationId xmlns:a16="http://schemas.microsoft.com/office/drawing/2014/main" id="{D9CC89AC-0069-75DF-7665-F8D290946A33}"/>
              </a:ext>
            </a:extLst>
          </p:cNvPr>
          <p:cNvSpPr/>
          <p:nvPr userDrawn="1"/>
        </p:nvSpPr>
        <p:spPr>
          <a:xfrm>
            <a:off x="671455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3" name="字幕 2">
            <a:extLst>
              <a:ext uri="{FF2B5EF4-FFF2-40B4-BE49-F238E27FC236}">
                <a16:creationId xmlns:a16="http://schemas.microsoft.com/office/drawing/2014/main" id="{E4C44029-31FF-A9F7-06AC-0A055C09D50F}"/>
              </a:ext>
            </a:extLst>
          </p:cNvPr>
          <p:cNvSpPr>
            <a:spLocks noGrp="1"/>
          </p:cNvSpPr>
          <p:nvPr>
            <p:ph type="subTitle" idx="1"/>
          </p:nvPr>
        </p:nvSpPr>
        <p:spPr>
          <a:xfrm>
            <a:off x="460675" y="830046"/>
            <a:ext cx="9781875" cy="241861"/>
          </a:xfrm>
          <a:prstGeom prst="rect">
            <a:avLst/>
          </a:prstGeom>
        </p:spPr>
        <p:txBody>
          <a:bodyPr wrap="square" lIns="0" tIns="0" rIns="0" bIns="0">
            <a:spAutoFit/>
          </a:bodyPr>
          <a:lstStyle>
            <a:lvl1pPr marL="0" indent="0" algn="l">
              <a:lnSpc>
                <a:spcPct val="120000"/>
              </a:lnSpc>
              <a:spcBef>
                <a:spcPts val="0"/>
              </a:spcBef>
              <a:buNone/>
              <a:defRPr sz="1400" b="1" spc="55" baseline="0">
                <a:latin typeface="+mj-ea"/>
                <a:ea typeface="+mj-ea"/>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kumimoji="1" lang="ja-JP" altLang="en-US" dirty="0"/>
              <a:t>マスター サブタイトルの書式設定</a:t>
            </a:r>
          </a:p>
        </p:txBody>
      </p:sp>
      <p:sp>
        <p:nvSpPr>
          <p:cNvPr id="6" name="テキスト ボックス 5">
            <a:extLst>
              <a:ext uri="{FF2B5EF4-FFF2-40B4-BE49-F238E27FC236}">
                <a16:creationId xmlns:a16="http://schemas.microsoft.com/office/drawing/2014/main" id="{C06A0380-DE0F-1825-615F-4DBC89C8C6DB}"/>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pic>
        <p:nvPicPr>
          <p:cNvPr id="8" name="グラフィックス 7">
            <a:extLst>
              <a:ext uri="{FF2B5EF4-FFF2-40B4-BE49-F238E27FC236}">
                <a16:creationId xmlns:a16="http://schemas.microsoft.com/office/drawing/2014/main" id="{15124CEF-AA7F-DF16-7A5C-692E9AB7616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04801" y="7086114"/>
            <a:ext cx="1625600" cy="322220"/>
          </a:xfrm>
          <a:prstGeom prst="rect">
            <a:avLst/>
          </a:prstGeom>
        </p:spPr>
      </p:pic>
      <p:grpSp>
        <p:nvGrpSpPr>
          <p:cNvPr id="26" name="グループ化 25">
            <a:extLst>
              <a:ext uri="{FF2B5EF4-FFF2-40B4-BE49-F238E27FC236}">
                <a16:creationId xmlns:a16="http://schemas.microsoft.com/office/drawing/2014/main" id="{2864EB89-7DDA-1F5E-BB78-27D39C8659FC}"/>
              </a:ext>
            </a:extLst>
          </p:cNvPr>
          <p:cNvGrpSpPr/>
          <p:nvPr userDrawn="1"/>
        </p:nvGrpSpPr>
        <p:grpSpPr>
          <a:xfrm>
            <a:off x="-1" y="0"/>
            <a:ext cx="252001" cy="666000"/>
            <a:chOff x="-1" y="0"/>
            <a:chExt cx="252001" cy="666000"/>
          </a:xfrm>
        </p:grpSpPr>
        <p:cxnSp>
          <p:nvCxnSpPr>
            <p:cNvPr id="19" name="直線コネクタ 18">
              <a:extLst>
                <a:ext uri="{FF2B5EF4-FFF2-40B4-BE49-F238E27FC236}">
                  <a16:creationId xmlns:a16="http://schemas.microsoft.com/office/drawing/2014/main" id="{05B82C66-0A6E-C82F-B38C-D4495200FAA8}"/>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A6BFD29D-964D-B44D-88A5-439ACA448282}"/>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8" name="直線コネクタ 17">
              <a:extLst>
                <a:ext uri="{FF2B5EF4-FFF2-40B4-BE49-F238E27FC236}">
                  <a16:creationId xmlns:a16="http://schemas.microsoft.com/office/drawing/2014/main" id="{B87BA5C7-32E9-C506-2110-1D5AFE77B082}"/>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1DA08165-590D-BD55-05E9-10B2D6F8DD63}"/>
              </a:ext>
            </a:extLst>
          </p:cNvPr>
          <p:cNvSpPr>
            <a:spLocks noGrp="1"/>
          </p:cNvSpPr>
          <p:nvPr userDrawn="1">
            <p:ph type="ctrTitle"/>
          </p:nvPr>
        </p:nvSpPr>
        <p:spPr>
          <a:xfrm>
            <a:off x="341313" y="180296"/>
            <a:ext cx="7799917" cy="339267"/>
          </a:xfrm>
          <a:prstGeom prst="rect">
            <a:avLst/>
          </a:prstGeom>
        </p:spPr>
        <p:txBody>
          <a:bodyPr wrap="square" lIns="0" tIns="0" rIns="0" bIns="0" anchor="ctr">
            <a:spAutoFit/>
          </a:bodyPr>
          <a:lstStyle>
            <a:lvl1pPr algn="l">
              <a:lnSpc>
                <a:spcPct val="100000"/>
              </a:lnSpc>
              <a:defRPr sz="2200" b="1" spc="77" baseline="0">
                <a:solidFill>
                  <a:schemeClr val="bg1"/>
                </a:solidFill>
                <a:latin typeface="+mj-lt"/>
              </a:defRPr>
            </a:lvl1pPr>
          </a:lstStyle>
          <a:p>
            <a:r>
              <a:rPr kumimoji="1" lang="ja-JP" altLang="en-US" dirty="0"/>
              <a:t>マスター タイトルの書式設定</a:t>
            </a:r>
          </a:p>
        </p:txBody>
      </p:sp>
      <p:sp>
        <p:nvSpPr>
          <p:cNvPr id="30" name="フリーフォーム: 図形 29">
            <a:extLst>
              <a:ext uri="{FF2B5EF4-FFF2-40B4-BE49-F238E27FC236}">
                <a16:creationId xmlns:a16="http://schemas.microsoft.com/office/drawing/2014/main" id="{0AA6A414-726D-CCFA-2EF2-5B8503BE0A88}"/>
              </a:ext>
            </a:extLst>
          </p:cNvPr>
          <p:cNvSpPr/>
          <p:nvPr userDrawn="1"/>
        </p:nvSpPr>
        <p:spPr>
          <a:xfrm>
            <a:off x="638628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sp>
        <p:nvSpPr>
          <p:cNvPr id="33" name="Google Shape;14;p31">
            <a:extLst>
              <a:ext uri="{FF2B5EF4-FFF2-40B4-BE49-F238E27FC236}">
                <a16:creationId xmlns:a16="http://schemas.microsoft.com/office/drawing/2014/main" id="{273032A6-EBE9-0147-F9C2-495CA12FDE28}"/>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5" name="正方形/長方形 4">
            <a:extLst>
              <a:ext uri="{FF2B5EF4-FFF2-40B4-BE49-F238E27FC236}">
                <a16:creationId xmlns:a16="http://schemas.microsoft.com/office/drawing/2014/main" id="{283DDC2C-ECEE-530D-9F1C-6564A5A2BAB9}"/>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627557559"/>
      </p:ext>
    </p:extLst>
  </p:cSld>
  <p:clrMapOvr>
    <a:masterClrMapping/>
  </p:clrMapOvr>
  <p:extLst>
    <p:ext uri="{DCECCB84-F9BA-43D5-87BE-67443E8EF086}">
      <p15:sldGuideLst xmlns:p15="http://schemas.microsoft.com/office/powerpoint/2012/main">
        <p15:guide id="2" orient="horz" pos="4309">
          <p15:clr>
            <a:srgbClr val="FBAE40"/>
          </p15:clr>
        </p15:guide>
        <p15:guide id="3" pos="215">
          <p15:clr>
            <a:srgbClr val="A4A3A4"/>
          </p15:clr>
        </p15:guide>
        <p15:guide id="4" pos="6520">
          <p15:clr>
            <a:srgbClr val="A4A3A4"/>
          </p15:clr>
        </p15:guide>
        <p15:guide id="5" pos="283">
          <p15:clr>
            <a:srgbClr val="FBAE40"/>
          </p15:clr>
        </p15:guide>
        <p15:guide id="6" pos="64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2111189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F2DA376-A25F-9107-DBD3-FB81DA50B980}"/>
              </a:ext>
            </a:extLst>
          </p:cNvPr>
          <p:cNvSpPr txBox="1"/>
          <p:nvPr userDrawn="1"/>
        </p:nvSpPr>
        <p:spPr>
          <a:xfrm rot="19728456" flipH="1">
            <a:off x="1740861" y="3487450"/>
            <a:ext cx="7210090" cy="584775"/>
          </a:xfrm>
          <a:prstGeom prst="rect">
            <a:avLst/>
          </a:prstGeom>
          <a:noFill/>
        </p:spPr>
        <p:txBody>
          <a:bodyPr wrap="square" rtlCol="0">
            <a:spAutoFit/>
          </a:bodyPr>
          <a:lstStyle/>
          <a:p>
            <a:r>
              <a:rPr kumimoji="1" lang="ja-JP" altLang="en-US" sz="3200" dirty="0">
                <a:solidFill>
                  <a:schemeClr val="bg1">
                    <a:lumMod val="85000"/>
                  </a:schemeClr>
                </a:solidFill>
                <a:latin typeface="+mj-ea"/>
                <a:ea typeface="+mj-ea"/>
              </a:rPr>
              <a:t>株式会社●●ホールディングス 御中</a:t>
            </a:r>
          </a:p>
        </p:txBody>
      </p:sp>
    </p:spTree>
    <p:extLst>
      <p:ext uri="{BB962C8B-B14F-4D97-AF65-F5344CB8AC3E}">
        <p14:creationId xmlns:p14="http://schemas.microsoft.com/office/powerpoint/2010/main" val="1858542152"/>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Lst>
  <p:txStyles>
    <p:titleStyle>
      <a:lvl1pPr algn="l" defTabSz="1007943" rtl="0" eaLnBrk="1" latinLnBrk="0" hangingPunct="1">
        <a:lnSpc>
          <a:spcPct val="90000"/>
        </a:lnSpc>
        <a:spcBef>
          <a:spcPct val="0"/>
        </a:spcBef>
        <a:buNone/>
        <a:defRPr kumimoji="1"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kumimoji="1"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kumimoji="1"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kumimoji="1"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ja-JP"/>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0.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1.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2.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3.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4.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5.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6.emf"/><Relationship Id="rId4" Type="http://schemas.openxmlformats.org/officeDocument/2006/relationships/image" Target="../media/image17.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9.png"/><Relationship Id="rId4" Type="http://schemas.openxmlformats.org/officeDocument/2006/relationships/image" Target="../media/image20.png"/><Relationship Id="rId5" Type="http://schemas.microsoft.com/office/2007/relationships/hdphoto" Target="../media/hdphoto1.wdp"/><Relationship Id="rId6" Type="http://schemas.openxmlformats.org/officeDocument/2006/relationships/image" Target="../media/image21.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8.jpg"/><Relationship Id="rId4" Type="http://schemas.openxmlformats.org/officeDocument/2006/relationships/image" Target="../media/image25.jpg"/><Relationship Id="rId5" Type="http://schemas.openxmlformats.org/officeDocument/2006/relationships/image" Target="../media/image26.jpg"/><Relationship Id="rId6" Type="http://schemas.openxmlformats.org/officeDocument/2006/relationships/image" Target="../media/image27.jpg"/><Relationship Id="rId7" Type="http://schemas.openxmlformats.org/officeDocument/2006/relationships/image" Target="../media/image2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22.emf"/><Relationship Id="rId4" Type="http://schemas.openxmlformats.org/officeDocument/2006/relationships/image" Target="../media/image23.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jpeg"/><Relationship Id="rId3" Type="http://schemas.openxmlformats.org/officeDocument/2006/relationships/image" Target="../media/image8.png"/><Relationship Id="rId4" Type="http://schemas.openxmlformats.org/officeDocument/2006/relationships/image" Target="../media/image9.sv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E6EF2-E355-DFA0-0FDA-00C6AAD69C4F}"/>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0EAAA34-63BD-2868-6F6F-9550B61A0EE2}"/>
              </a:ext>
            </a:extLst>
          </p:cNvPr>
          <p:cNvSpPr>
            <a:spLocks noGrp="1"/>
          </p:cNvSpPr>
          <p:nvPr>
            <p:ph type="title"/>
          </p:nvPr>
        </p:nvSpPr>
        <p:spPr/>
        <p:txBody>
          <a:bodyPr/>
          <a:lstStyle/>
          <a:p>
            <a:r>
              <a:t>企業概要書  </a:t>
            </a:r>
            <a:r>
              <a:rPr sz="2400"/>
              <a:t>&lt;そば店／北関東&gt;</a:t>
            </a:r>
          </a:p>
        </p:txBody>
      </p:sp>
      <p:cxnSp>
        <p:nvCxnSpPr>
          <p:cNvPr id="11" name="直線コネクタ 10">
            <a:extLst>
              <a:ext uri="{FF2B5EF4-FFF2-40B4-BE49-F238E27FC236}">
                <a16:creationId xmlns:a16="http://schemas.microsoft.com/office/drawing/2014/main" id="{B552F00F-DAC8-72B9-D861-43E1B7EF96E4}"/>
              </a:ext>
            </a:extLst>
          </p:cNvPr>
          <p:cNvCxnSpPr>
            <a:cxnSpLocks/>
          </p:cNvCxnSpPr>
          <p:nvPr/>
        </p:nvCxnSpPr>
        <p:spPr>
          <a:xfrm>
            <a:off x="885526" y="4272782"/>
            <a:ext cx="6767299"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タイトル 2">
            <a:extLst>
              <a:ext uri="{FF2B5EF4-FFF2-40B4-BE49-F238E27FC236}">
                <a16:creationId xmlns:a16="http://schemas.microsoft.com/office/drawing/2014/main" id="{483B0F4A-40C8-4F5B-4490-660AE728BBA5}"/>
              </a:ext>
            </a:extLst>
          </p:cNvPr>
          <p:cNvSpPr txBox="1">
            <a:spLocks/>
          </p:cNvSpPr>
          <p:nvPr/>
        </p:nvSpPr>
        <p:spPr>
          <a:xfrm>
            <a:off x="941798" y="4043874"/>
            <a:ext cx="9221787" cy="738664"/>
          </a:xfrm>
          <a:prstGeom prst="rect">
            <a:avLst/>
          </a:prstGeom>
          <a:noFill/>
        </p:spPr>
        <p:txBody>
          <a:bodyPr wrap="square" lIns="0" tIns="0" rIns="0" bIns="0" rtlCol="0" anchor="ctr">
            <a:spAutoFit/>
          </a:bodyPr>
          <a:lstStyle>
            <a:lvl1pPr algn="l" defTabSz="1007943" rtl="0" eaLnBrk="1" latinLnBrk="0" hangingPunct="1">
              <a:lnSpc>
                <a:spcPct val="100000"/>
              </a:lnSpc>
              <a:spcBef>
                <a:spcPct val="0"/>
              </a:spcBef>
              <a:buNone/>
              <a:defRPr kumimoji="1" lang="ja-JP" altLang="en-US" sz="4800" b="1" kern="1200" spc="200">
                <a:solidFill>
                  <a:schemeClr val="tx1"/>
                </a:solidFill>
                <a:latin typeface="+mj-lt"/>
                <a:ea typeface="+mj-ea"/>
                <a:cs typeface="+mn-cs"/>
              </a:defRPr>
            </a:lvl1pPr>
          </a:lstStyle>
          <a:p>
            <a:pPr>
              <a:buClrTx/>
              <a:buFontTx/>
            </a:pPr>
            <a:r>
              <a:rPr lang="en-US" altLang="ja-JP" sz="1800" dirty="0">
                <a:solidFill/>
              </a:rPr>
              <a:t>Information</a:t>
            </a:r>
            <a:r>
              <a:rPr lang="ja-JP" altLang="en-US" sz="1800" dirty="0">
                <a:solidFill/>
              </a:rPr>
              <a:t> </a:t>
            </a:r>
            <a:r>
              <a:rPr lang="en-US" altLang="ja-JP" sz="1800" dirty="0">
                <a:solidFill/>
              </a:rPr>
              <a:t>Memorandum</a:t>
            </a:r>
            <a:r>
              <a:rPr lang="zh-TW" altLang="en-US" dirty="0">
                <a:solidFill/>
              </a:rPr>
              <a:t>　</a:t>
            </a:r>
          </a:p>
        </p:txBody>
      </p:sp>
    </p:spTree>
    <p:extLst>
      <p:ext uri="{BB962C8B-B14F-4D97-AF65-F5344CB8AC3E}">
        <p14:creationId xmlns:p14="http://schemas.microsoft.com/office/powerpoint/2010/main" val="433683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7;p2">
            <a:extLst>
              <a:ext uri="{FF2B5EF4-FFF2-40B4-BE49-F238E27FC236}">
                <a16:creationId xmlns:a16="http://schemas.microsoft.com/office/drawing/2014/main" id="{A92DF3A4-79D3-09CF-A0AF-2A2E9BAD2537}"/>
              </a:ext>
            </a:extLst>
          </p:cNvPr>
          <p:cNvSpPr txBox="1"/>
          <p:nvPr/>
        </p:nvSpPr>
        <p:spPr>
          <a:xfrm>
            <a:off x="449263" y="5738246"/>
            <a:ext cx="3372853"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solidFill/>
              </a:rPr>
              <a:t>本件のご照会先</a:t>
            </a:r>
          </a:p>
        </p:txBody>
      </p:sp>
      <p:graphicFrame>
        <p:nvGraphicFramePr>
          <p:cNvPr id="3" name="Google Shape;188;p2">
            <a:extLst>
              <a:ext uri="{FF2B5EF4-FFF2-40B4-BE49-F238E27FC236}">
                <a16:creationId xmlns:a16="http://schemas.microsoft.com/office/drawing/2014/main" id="{6A5E1FF5-E790-97CE-E190-6844BCDD57F5}"/>
              </a:ext>
            </a:extLst>
          </p:cNvPr>
          <p:cNvGraphicFramePr/>
          <p:nvPr>
            <p:extLst>
              <p:ext uri="{D42A27DB-BD31-4B8C-83A1-F6EECF244321}">
                <p14:modId xmlns:p14="http://schemas.microsoft.com/office/powerpoint/2010/main" val="3713220567"/>
              </p:ext>
            </p:extLst>
          </p:nvPr>
        </p:nvGraphicFramePr>
        <p:xfrm>
          <a:off x="449264" y="6120538"/>
          <a:ext cx="9793287" cy="720000"/>
        </p:xfrm>
        <a:graphic>
          <a:graphicData uri="http://schemas.openxmlformats.org/drawingml/2006/table">
            <a:tbl>
              <a:tblPr firstRow="1" bandRow="1">
                <a:noFill/>
              </a:tblPr>
              <a:tblGrid>
                <a:gridCol w="2448322">
                  <a:extLst>
                    <a:ext uri="{9D8B030D-6E8A-4147-A177-3AD203B41FA5}">
                      <a16:colId xmlns:a16="http://schemas.microsoft.com/office/drawing/2014/main" val="20000"/>
                    </a:ext>
                  </a:extLst>
                </a:gridCol>
                <a:gridCol w="2448321">
                  <a:extLst>
                    <a:ext uri="{9D8B030D-6E8A-4147-A177-3AD203B41FA5}">
                      <a16:colId xmlns:a16="http://schemas.microsoft.com/office/drawing/2014/main" val="20001"/>
                    </a:ext>
                  </a:extLst>
                </a:gridCol>
                <a:gridCol w="2448322">
                  <a:extLst>
                    <a:ext uri="{9D8B030D-6E8A-4147-A177-3AD203B41FA5}">
                      <a16:colId xmlns:a16="http://schemas.microsoft.com/office/drawing/2014/main" val="20002"/>
                    </a:ext>
                  </a:extLst>
                </a:gridCol>
                <a:gridCol w="2448322">
                  <a:extLst>
                    <a:ext uri="{9D8B030D-6E8A-4147-A177-3AD203B41FA5}">
                      <a16:colId xmlns:a16="http://schemas.microsoft.com/office/drawing/2014/main" val="20003"/>
                    </a:ext>
                  </a:extLst>
                </a:gridCol>
              </a:tblGrid>
              <a:tr h="360000">
                <a:tc>
                  <a:txBody>
                    <a:bodyPr/>
                    <a:lstStyle/>
                    <a:p>
                      <a:pPr marL="0" marR="0" lvl="0" indent="0" algn="ctr" rtl="0">
                        <a:spcBef>
                          <a:spcPts val="0"/>
                        </a:spcBef>
                        <a:spcAft>
                          <a:spcPts val="0"/>
                        </a:spcAft>
                        <a:buNone/>
                      </a:pPr>
                      <a:r>
                        <a:rPr lang="ja-JP" sz="1200" b="1" u="none" strike="noStrike" cap="none" spc="30" baseline="0" dirty="0">
                          <a:latin typeface="+mj-lt"/>
                          <a:ea typeface="+mj-ea"/>
                        </a:rPr>
                        <a:t>弊社名</a:t>
                      </a:r>
                      <a:endParaRPr sz="1200" b="1" spc="30" baseline="0" dirty="0">
                        <a:latin typeface="+mj-lt"/>
                        <a:ea typeface="+mj-ea"/>
                      </a:endParaRPr>
                    </a:p>
                  </a:txBody>
                  <a:tcPr marL="0" marR="0" marT="0" marB="0"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担当者名</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電話番号</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E-mailアドレス</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60000">
                <a:tc>
                  <a:txBody>
                    <a:bodyPr/>
                    <a:lstStyle/>
                    <a:p>
                      <a:pPr marL="0" marR="0" lvl="0" indent="0" algn="ctr" rtl="0">
                        <a:spcBef>
                          <a:spcPts val="0"/>
                        </a:spcBef>
                        <a:spcAft>
                          <a:spcPts val="0"/>
                        </a:spcAft>
                        <a:buNone/>
                      </a:pPr>
                      <a:r>
                        <a:rPr sz="1100">
                          <a:latin typeface="游ゴシック"/>
                          <a:ea typeface="游ゴシック"/>
                          <a:cs typeface="游ゴシック"/>
                        </a:rPr>
                        <a:t>株式会社M&amp;A承継機構</a:t>
                      </a:r>
                      <a:endParaRPr sz="1200" b="1" u="none" strike="noStrike" cap="none" spc="30" baseline="0" dirty="0">
                        <a:latin typeface="+mj-ea"/>
                        <a:ea typeface="+mj-ea"/>
                      </a:endParaRPr>
                    </a:p>
                  </a:txBody>
                  <a:tcPr marL="91450" marR="91450" marT="45725" marB="45725"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sz="1100">
                          <a:latin typeface="游ゴシック"/>
                          <a:ea typeface="游ゴシック"/>
                          <a:cs typeface="游ゴシック"/>
                        </a:rPr>
                        <a:t>田垣内　啓介</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sz="1100">
                          <a:latin typeface="游ゴシック"/>
                          <a:ea typeface="游ゴシック"/>
                          <a:cs typeface="游ゴシック"/>
                        </a:rPr>
                        <a:t>080-4737-4326</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sz="1100">
                          <a:latin typeface="游ゴシック"/>
                          <a:ea typeface="游ゴシック"/>
                          <a:cs typeface="游ゴシック"/>
                        </a:rPr>
                        <a:t>tagaito_keisuke@ma-sg.co.jp</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bl>
          </a:graphicData>
        </a:graphic>
      </p:graphicFrame>
      <p:sp>
        <p:nvSpPr>
          <p:cNvPr id="9" name="タイトル 8">
            <a:extLst>
              <a:ext uri="{FF2B5EF4-FFF2-40B4-BE49-F238E27FC236}">
                <a16:creationId xmlns:a16="http://schemas.microsoft.com/office/drawing/2014/main" id="{02B70F11-C06B-AE35-D3C3-0142145E5C0A}"/>
              </a:ext>
            </a:extLst>
          </p:cNvPr>
          <p:cNvSpPr>
            <a:spLocks noGrp="1"/>
          </p:cNvSpPr>
          <p:nvPr>
            <p:ph type="ctrTitle"/>
          </p:nvPr>
        </p:nvSpPr>
        <p:spPr/>
        <p:txBody>
          <a:bodyPr>
            <a:normAutofit/>
          </a:bodyPr>
          <a:lstStyle/>
          <a:p>
            <a:r>
              <a:rPr lang="ja-JP" altLang="en-US" dirty="0">
                <a:solidFill/>
              </a:rPr>
              <a:t>はじめに</a:t>
            </a:r>
          </a:p>
        </p:txBody>
      </p:sp>
      <p:sp>
        <p:nvSpPr>
          <p:cNvPr id="15" name="正方形/長方形 14">
            <a:extLst>
              <a:ext uri="{FF2B5EF4-FFF2-40B4-BE49-F238E27FC236}">
                <a16:creationId xmlns:a16="http://schemas.microsoft.com/office/drawing/2014/main" id="{51A174C3-B2B8-45E2-E11E-021C915BC89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重要なご留意事項</a:t>
            </a:r>
          </a:p>
        </p:txBody>
      </p:sp>
      <p:sp>
        <p:nvSpPr>
          <p:cNvPr id="23" name="テキスト ボックス 22">
            <a:extLst>
              <a:ext uri="{FF2B5EF4-FFF2-40B4-BE49-F238E27FC236}">
                <a16:creationId xmlns:a16="http://schemas.microsoft.com/office/drawing/2014/main" id="{B50E1823-5D75-9C7E-3748-4C2C1C220A43}"/>
              </a:ext>
            </a:extLst>
          </p:cNvPr>
          <p:cNvSpPr txBox="1"/>
          <p:nvPr/>
        </p:nvSpPr>
        <p:spPr>
          <a:xfrm>
            <a:off x="449263" y="1234930"/>
            <a:ext cx="9793287" cy="4012958"/>
          </a:xfrm>
          <a:prstGeom prst="rect">
            <a:avLst/>
          </a:prstGeom>
          <a:noFill/>
        </p:spPr>
        <p:txBody>
          <a:bodyPr wrap="square" lIns="0" tIns="0" rIns="0" bIns="0" rtlCol="0">
            <a:spAutoFit/>
          </a:bodyPr>
          <a:lstStyle>
            <a:defPPr marR="0" lvl="0" algn="l" rtl="0">
              <a:lnSpc>
                <a:spcPct val="100000"/>
              </a:lnSpc>
              <a:spcBef>
                <a:spcPts val="0"/>
              </a:spcBef>
              <a:spcAft>
                <a:spcPts val="0"/>
              </a:spcAft>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pPr>
              <a:spcAft>
                <a:spcPts val="1800"/>
              </a:spcAft>
            </a:pPr>
            <a:r>
              <a:rPr lang="ja-JP" altLang="en-US" dirty="0">
                <a:solidFill/>
                <a:ea typeface="+mn-ea"/>
              </a:rPr>
              <a:t>当該企業概要書（以下、「本概要書」といいます）は、株式会社</a:t>
            </a:r>
            <a:r>
              <a:rPr lang="en-US" altLang="ja-JP" dirty="0">
                <a:solidFill/>
                <a:ea typeface="+mn-ea"/>
              </a:rPr>
              <a:t>M&amp;A</a:t>
            </a:r>
            <a:r>
              <a:rPr lang="ja-JP" altLang="en-US" dirty="0">
                <a:solidFill/>
                <a:ea typeface="+mn-ea"/>
              </a:rPr>
              <a:t>承継機構（以下「弊社」といいます）が、対象会社の発行済株式の取得もしくは事業その他資産の譲受（以下「本取引」といいます）に関する仲介者として、対象会社から提供された情報に基づき、対象会社に関する情報を貴社に提供するために作成したものです。</a:t>
            </a:r>
          </a:p>
          <a:p>
            <a:pPr>
              <a:spcAft>
                <a:spcPts val="1800"/>
              </a:spcAft>
            </a:pPr>
            <a:r>
              <a:rPr lang="ja-JP" altLang="en-US" dirty="0">
                <a:solidFill/>
                <a:ea typeface="+mn-ea"/>
              </a:rPr>
              <a:t>本概要書の存在及び記載されている情報並びに本概要書に関する全ての連絡・協議は貴社と弊社間で締結している秘密保持契約書（以下「秘密保持契約書」といいます）に定めのある秘密情報に該当致します。</a:t>
            </a:r>
          </a:p>
          <a:p>
            <a:pPr>
              <a:spcAft>
                <a:spcPts val="1800"/>
              </a:spcAft>
            </a:pPr>
            <a:r>
              <a:rPr lang="ja-JP" altLang="en-US" dirty="0">
                <a:solidFill/>
                <a:ea typeface="+mn-ea"/>
              </a:rPr>
              <a:t>本概要書は、貴社が本取引を行うことを検討するための情報を提供することのみを目的として作成されておりますが、貴社が必要と考える全ての情報を網羅しているとは限りません。また、対象会社並びに弊社取締役、執行役員、監査役及び従業員（以下総称して「情報提供者」といいます）は、本概要書に記載されているいかなる情報及び意見に関しても、明示、黙示にかかわらず、その正確性及び完全性について表明または保証するものではありません。</a:t>
            </a:r>
          </a:p>
          <a:p>
            <a:pPr>
              <a:spcAft>
                <a:spcPts val="1800"/>
              </a:spcAft>
            </a:pPr>
            <a:r>
              <a:rPr lang="ja-JP" altLang="en-US" dirty="0">
                <a:solidFill/>
                <a:ea typeface="+mn-ea"/>
              </a:rPr>
              <a:t>本概要書は必ずしも対象会社の現況をあらわしているものではなく、本概要書に記載されている日付または本概要書に記載されている情報の日付から、対象会社の状態が変化していないことを表明するものではありません。</a:t>
            </a:r>
          </a:p>
          <a:p>
            <a:pPr>
              <a:spcAft>
                <a:spcPts val="1800"/>
              </a:spcAft>
            </a:pPr>
            <a:r>
              <a:rPr lang="ja-JP" altLang="en-US" dirty="0">
                <a:solidFill/>
                <a:ea typeface="+mn-ea"/>
              </a:rPr>
              <a:t>いかなる場合でも、本取引に関して、対象会社の役職員（元役職員を含む）及び取引先に対して、貴社及び貴社のアドバイザー等本取引に関与する者が直接、間接を問わずコンタクトをとることを禁止させていただくと共に、全てのご連絡は必ず弊社を介していただきますようお願い申し上げます。</a:t>
            </a:r>
          </a:p>
        </p:txBody>
      </p:sp>
    </p:spTree>
    <p:extLst>
      <p:ext uri="{BB962C8B-B14F-4D97-AF65-F5344CB8AC3E}">
        <p14:creationId xmlns:p14="http://schemas.microsoft.com/office/powerpoint/2010/main" val="246194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
          <p:cNvSpPr txBox="1"/>
          <p:nvPr/>
        </p:nvSpPr>
        <p:spPr>
          <a:xfrm>
            <a:off x="6191813" y="2339371"/>
            <a:ext cx="4500000" cy="3570208"/>
          </a:xfrm>
          <a:prstGeom prst="rect">
            <a:avLst/>
          </a:prstGeom>
          <a:noFill/>
          <a:ln>
            <a:noFill/>
          </a:ln>
        </p:spPr>
        <p:txBody>
          <a:bodyPr spcFirstLastPara="1" wrap="square" lIns="0" tIns="0" rIns="0" bIns="0" anchor="t" anchorCtr="0">
            <a:spAutoFit/>
          </a:bodyPr>
          <a:lstStyle/>
          <a:p>
            <a:pPr>
              <a:lnSpc>
                <a:spcPct val="110000"/>
              </a:lnSpc>
              <a:spcAft>
                <a:spcPts val="2400"/>
              </a:spcAft>
              <a:buClr>
                <a:schemeClr val="dk1"/>
              </a:buClr>
              <a:buSzPts val="1400"/>
            </a:pPr>
            <a:r>
              <a:rPr lang="ja-JP" altLang="en-US" sz="2400" b="1" spc="70" dirty="0">
                <a:solidFill/>
                <a:latin typeface="+mj-lt"/>
                <a:ea typeface="+mj-ea"/>
              </a:rPr>
              <a:t>エグゼクティブサマリー</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solidFill/>
                <a:latin typeface="+mj-lt"/>
                <a:ea typeface="+mj-ea"/>
              </a:rPr>
              <a:t>事業概要</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solidFill/>
                <a:latin typeface="+mj-lt"/>
                <a:ea typeface="+mj-ea"/>
              </a:rPr>
              <a:t>組織、拠点、設備等</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solidFill/>
                <a:latin typeface="+mj-lt"/>
                <a:ea typeface="+mj-ea"/>
              </a:rPr>
              <a:t>財務情報</a:t>
            </a:r>
            <a:endParaRPr lang="en-US" altLang="ja-JP" sz="2400" b="1" spc="70" dirty="0">
              <a:latin typeface="+mj-lt"/>
              <a:ea typeface="+mj-ea"/>
            </a:endParaRPr>
          </a:p>
          <a:p>
            <a:pPr>
              <a:lnSpc>
                <a:spcPct val="110000"/>
              </a:lnSpc>
              <a:spcAft>
                <a:spcPts val="2400"/>
              </a:spcAft>
              <a:buClr>
                <a:schemeClr val="dk1"/>
              </a:buClr>
              <a:buSzPts val="1400"/>
            </a:pPr>
            <a:r>
              <a:rPr lang="en-US" altLang="ja-JP" sz="2400" b="1" spc="70" dirty="0">
                <a:solidFill/>
                <a:latin typeface="+mj-lt"/>
                <a:ea typeface="+mj-ea"/>
              </a:rPr>
              <a:t>Appendix</a:t>
            </a:r>
          </a:p>
        </p:txBody>
      </p:sp>
      <p:sp>
        <p:nvSpPr>
          <p:cNvPr id="6" name="正方形/長方形 5">
            <a:extLst>
              <a:ext uri="{FF2B5EF4-FFF2-40B4-BE49-F238E27FC236}">
                <a16:creationId xmlns:a16="http://schemas.microsoft.com/office/drawing/2014/main" id="{7237316E-451C-1CCC-A702-B2048F3BE5F0}"/>
              </a:ext>
            </a:extLst>
          </p:cNvPr>
          <p:cNvSpPr/>
          <p:nvPr/>
        </p:nvSpPr>
        <p:spPr>
          <a:xfrm>
            <a:off x="5624542" y="23535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latin typeface="+mj-lt"/>
              </a:rPr>
              <a:t>1</a:t>
            </a:r>
            <a:endParaRPr kumimoji="1" lang="ja-JP" altLang="en-US" b="1" dirty="0">
              <a:latin typeface="+mj-lt"/>
            </a:endParaRPr>
          </a:p>
        </p:txBody>
      </p:sp>
      <p:sp>
        <p:nvSpPr>
          <p:cNvPr id="9" name="正方形/長方形 8">
            <a:extLst>
              <a:ext uri="{FF2B5EF4-FFF2-40B4-BE49-F238E27FC236}">
                <a16:creationId xmlns:a16="http://schemas.microsoft.com/office/drawing/2014/main" id="{DDB8E843-D87E-F66B-3884-439FB909A0A7}"/>
              </a:ext>
            </a:extLst>
          </p:cNvPr>
          <p:cNvSpPr/>
          <p:nvPr/>
        </p:nvSpPr>
        <p:spPr>
          <a:xfrm>
            <a:off x="5624542" y="306063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latin typeface="+mj-lt"/>
              </a:rPr>
              <a:t>2</a:t>
            </a:r>
            <a:endParaRPr kumimoji="1" lang="ja-JP" altLang="en-US" b="1" dirty="0">
              <a:latin typeface="+mj-lt"/>
            </a:endParaRPr>
          </a:p>
        </p:txBody>
      </p:sp>
      <p:sp>
        <p:nvSpPr>
          <p:cNvPr id="10" name="正方形/長方形 9">
            <a:extLst>
              <a:ext uri="{FF2B5EF4-FFF2-40B4-BE49-F238E27FC236}">
                <a16:creationId xmlns:a16="http://schemas.microsoft.com/office/drawing/2014/main" id="{FF90FB9F-20F8-D38F-B8AF-4A631E224A11}"/>
              </a:ext>
            </a:extLst>
          </p:cNvPr>
          <p:cNvSpPr/>
          <p:nvPr/>
        </p:nvSpPr>
        <p:spPr>
          <a:xfrm>
            <a:off x="5624542" y="376770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latin typeface="+mj-lt"/>
              </a:rPr>
              <a:t>3</a:t>
            </a:r>
            <a:endParaRPr kumimoji="1" lang="ja-JP" altLang="en-US" b="1" dirty="0">
              <a:latin typeface="+mj-lt"/>
            </a:endParaRPr>
          </a:p>
        </p:txBody>
      </p:sp>
      <p:sp>
        <p:nvSpPr>
          <p:cNvPr id="11" name="正方形/長方形 10">
            <a:extLst>
              <a:ext uri="{FF2B5EF4-FFF2-40B4-BE49-F238E27FC236}">
                <a16:creationId xmlns:a16="http://schemas.microsoft.com/office/drawing/2014/main" id="{A76F0F70-F53A-8481-50DF-B7EEDD0BEE06}"/>
              </a:ext>
            </a:extLst>
          </p:cNvPr>
          <p:cNvSpPr/>
          <p:nvPr/>
        </p:nvSpPr>
        <p:spPr>
          <a:xfrm>
            <a:off x="5624542" y="447478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latin typeface="+mj-lt"/>
              </a:rPr>
              <a:t>4</a:t>
            </a:r>
            <a:endParaRPr kumimoji="1" lang="ja-JP" altLang="en-US" b="1" dirty="0">
              <a:latin typeface="+mj-lt"/>
            </a:endParaRPr>
          </a:p>
        </p:txBody>
      </p:sp>
      <p:sp>
        <p:nvSpPr>
          <p:cNvPr id="3" name="正方形/長方形 2">
            <a:extLst>
              <a:ext uri="{FF2B5EF4-FFF2-40B4-BE49-F238E27FC236}">
                <a16:creationId xmlns:a16="http://schemas.microsoft.com/office/drawing/2014/main" id="{DE430CD6-B78A-5CFE-3B87-B7F6C2A9CBEA}"/>
              </a:ext>
            </a:extLst>
          </p:cNvPr>
          <p:cNvSpPr/>
          <p:nvPr/>
        </p:nvSpPr>
        <p:spPr>
          <a:xfrm>
            <a:off x="5624542" y="51818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latin typeface="+mj-lt"/>
              </a:rPr>
              <a:t>5</a:t>
            </a:r>
            <a:endParaRPr kumimoji="1" lang="ja-JP" altLang="en-US" b="1" dirty="0">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solidFill/>
              </a:rPr>
              <a:t>エグゼクティブサマリー</a:t>
            </a:r>
            <a:endParaRPr lang="en-US" altLang="ja-JP" dirty="0"/>
          </a:p>
        </p:txBody>
      </p:sp>
    </p:spTree>
    <p:extLst>
      <p:ext uri="{BB962C8B-B14F-4D97-AF65-F5344CB8AC3E}">
        <p14:creationId xmlns:p14="http://schemas.microsoft.com/office/powerpoint/2010/main" val="540406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字幕 13">
            <a:extLst>
              <a:ext uri="{FF2B5EF4-FFF2-40B4-BE49-F238E27FC236}">
                <a16:creationId xmlns:a16="http://schemas.microsoft.com/office/drawing/2014/main" id="{79A14348-475C-CD64-9408-407529B44C13}"/>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食べログ「そば 百名店」の全国区ブランド。週4日・昼のみの営業で売上22,484千円、純資産23,658千円・金融機関借入なし</a:t>
            </a:r>
            <a:endParaRPr lang="en-US" altLang="ja-JP" dirty="0"/>
          </a:p>
        </p:txBody>
      </p:sp>
      <p:sp>
        <p:nvSpPr>
          <p:cNvPr id="13" name="タイトル 12">
            <a:extLst>
              <a:ext uri="{FF2B5EF4-FFF2-40B4-BE49-F238E27FC236}">
                <a16:creationId xmlns:a16="http://schemas.microsoft.com/office/drawing/2014/main" id="{85E2D3B1-D668-47BF-7D76-2F8709456651}"/>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基本情報</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a:latin typeface="游ゴシック"/>
                <a:ea typeface="游ゴシック"/>
                <a:cs typeface="游ゴシック"/>
              </a:rPr>
              <a:t>エグゼクティブサマリー</a:t>
            </a:r>
          </a:p>
        </p:txBody>
      </p:sp>
      <p:sp>
        <p:nvSpPr>
          <p:cNvPr id="15" name="Rectangle 14"/>
          <p:cNvSpPr/>
          <p:nvPr/>
        </p:nvSpPr>
        <p:spPr>
          <a:xfrm>
            <a:off x="310896" y="1517904"/>
            <a:ext cx="5861304"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400" b="1">
                <a:solidFill>
                  <a:srgbClr val="FFFFFF"/>
                </a:solidFill>
                <a:latin typeface="游ゴシック"/>
                <a:ea typeface="游ゴシック"/>
                <a:cs typeface="游ゴシック"/>
              </a:rPr>
              <a:t>会社概要</a:t>
            </a:r>
          </a:p>
        </p:txBody>
      </p:sp>
      <p:graphicFrame>
        <p:nvGraphicFramePr>
          <p:cNvPr id="16" name="Table 15"/>
          <p:cNvGraphicFramePr>
            <a:graphicFrameLocks noGrp="1"/>
          </p:cNvGraphicFramePr>
          <p:nvPr/>
        </p:nvGraphicFramePr>
        <p:xfrm>
          <a:off x="310896" y="1874519"/>
          <a:ext cx="5861304" cy="4818888"/>
        </p:xfrm>
        <a:graphic>
          <a:graphicData uri="http://schemas.openxmlformats.org/drawingml/2006/table">
            <a:tbl>
              <a:tblPr firstRow="0" bandRow="0">
                <a:tableStyleId>{5940675A-B579-460E-94D1-54222C63F5DA}</a:tableStyleId>
              </a:tblPr>
              <a:tblGrid>
                <a:gridCol w="1234440"/>
                <a:gridCol w="4626864"/>
              </a:tblGrid>
              <a:tr h="274320">
                <a:tc>
                  <a:txBody>
                    <a:bodyPr wrap="square"/>
                    <a:lstStyle/>
                    <a:p>
                      <a:pPr algn="ctr">
                        <a:spcAft>
                          <a:spcPts val="0"/>
                        </a:spcAft>
                      </a:pPr>
                      <a:r>
                        <a:rPr sz="850" b="1">
                          <a:solidFill>
                            <a:srgbClr val="FFFFFF"/>
                          </a:solidFill>
                          <a:latin typeface="游ゴシック"/>
                          <a:ea typeface="游ゴシック"/>
                          <a:cs typeface="游ゴシック"/>
                        </a:rPr>
                        <a:t>項目</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50" b="1">
                          <a:solidFill>
                            <a:srgbClr val="FFFFFF"/>
                          </a:solidFill>
                          <a:latin typeface="Arial"/>
                          <a:ea typeface="Arial"/>
                          <a:cs typeface="Arial"/>
                        </a:rPr>
                        <a:t>内容</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4612">
                <a:tc>
                  <a:txBody>
                    <a:bodyPr wrap="square"/>
                    <a:lstStyle/>
                    <a:p>
                      <a:pPr algn="l">
                        <a:spcAft>
                          <a:spcPts val="0"/>
                        </a:spcAft>
                      </a:pPr>
                      <a:r>
                        <a:rPr sz="850" b="0">
                          <a:solidFill>
                            <a:srgbClr val="1A1A1A"/>
                          </a:solidFill>
                          <a:latin typeface="游ゴシック"/>
                          <a:ea typeface="游ゴシック"/>
                          <a:cs typeface="游ゴシック"/>
                        </a:rPr>
                        <a:t>会社名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50" b="0">
                          <a:solidFill>
                            <a:srgbClr val="1A1A1A"/>
                          </a:solidFill>
                          <a:latin typeface="游ゴシック"/>
                          <a:ea typeface="游ゴシック"/>
                          <a:cs typeface="游ゴシック"/>
                        </a:rPr>
                        <a:t>株式会社慈久庵（店舗名：慈久庵／ https://www.jikyuan.co.jp/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4612">
                <a:tc>
                  <a:txBody>
                    <a:bodyPr wrap="square"/>
                    <a:lstStyle/>
                    <a:p>
                      <a:pPr algn="l">
                        <a:spcAft>
                          <a:spcPts val="0"/>
                        </a:spcAft>
                      </a:pPr>
                      <a:r>
                        <a:rPr sz="850" b="0">
                          <a:solidFill>
                            <a:srgbClr val="1A1A1A"/>
                          </a:solidFill>
                          <a:latin typeface="游ゴシック"/>
                          <a:ea typeface="游ゴシック"/>
                          <a:cs typeface="游ゴシック"/>
                        </a:rPr>
                        <a:t>本社所在地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50" b="0">
                          <a:solidFill>
                            <a:srgbClr val="1A1A1A"/>
                          </a:solidFill>
                          <a:latin typeface="游ゴシック"/>
                          <a:ea typeface="游ゴシック"/>
                          <a:cs typeface="游ゴシック"/>
                        </a:rPr>
                        <a:t>茨城県常陸太田市天下野町2162番地（竜神大吊橋の近隣）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4612">
                <a:tc>
                  <a:txBody>
                    <a:bodyPr wrap="square"/>
                    <a:lstStyle/>
                    <a:p>
                      <a:pPr algn="l">
                        <a:spcAft>
                          <a:spcPts val="0"/>
                        </a:spcAft>
                      </a:pPr>
                      <a:r>
                        <a:rPr sz="850" b="0">
                          <a:solidFill>
                            <a:srgbClr val="1A1A1A"/>
                          </a:solidFill>
                          <a:latin typeface="游ゴシック"/>
                          <a:ea typeface="游ゴシック"/>
                          <a:cs typeface="游ゴシック"/>
                        </a:rPr>
                        <a:t>設立／創業</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50" b="0">
                          <a:solidFill>
                            <a:srgbClr val="1A1A1A"/>
                          </a:solidFill>
                          <a:latin typeface="游ゴシック"/>
                          <a:ea typeface="游ゴシック"/>
                          <a:cs typeface="游ゴシック"/>
                        </a:rPr>
                        <a:t>1990年4月16日設立（第37期）　※2002年に東京・南阿佐ヶ谷から現在地へ移転</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4612">
                <a:tc>
                  <a:txBody>
                    <a:bodyPr wrap="square"/>
                    <a:lstStyle/>
                    <a:p>
                      <a:pPr algn="l">
                        <a:spcAft>
                          <a:spcPts val="0"/>
                        </a:spcAft>
                      </a:pPr>
                      <a:r>
                        <a:rPr sz="850" b="0">
                          <a:solidFill>
                            <a:srgbClr val="1A1A1A"/>
                          </a:solidFill>
                          <a:latin typeface="游ゴシック"/>
                          <a:ea typeface="游ゴシック"/>
                          <a:cs typeface="游ゴシック"/>
                        </a:rPr>
                        <a:t>資本金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50" b="0">
                          <a:solidFill>
                            <a:srgbClr val="1A1A1A"/>
                          </a:solidFill>
                          <a:latin typeface="游ゴシック"/>
                          <a:ea typeface="游ゴシック"/>
                          <a:cs typeface="游ゴシック"/>
                        </a:rPr>
                        <a:t>10,000千円</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4612">
                <a:tc>
                  <a:txBody>
                    <a:bodyPr wrap="square"/>
                    <a:lstStyle/>
                    <a:p>
                      <a:pPr algn="l">
                        <a:spcAft>
                          <a:spcPts val="0"/>
                        </a:spcAft>
                      </a:pPr>
                      <a:r>
                        <a:rPr sz="850" b="0">
                          <a:solidFill>
                            <a:srgbClr val="1A1A1A"/>
                          </a:solidFill>
                          <a:latin typeface="游ゴシック"/>
                          <a:ea typeface="游ゴシック"/>
                          <a:cs typeface="游ゴシック"/>
                        </a:rPr>
                        <a:t>代表者</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50" b="0">
                          <a:solidFill>
                            <a:srgbClr val="1A1A1A"/>
                          </a:solidFill>
                          <a:latin typeface="游ゴシック"/>
                          <a:ea typeface="游ゴシック"/>
                          <a:cs typeface="游ゴシック"/>
                        </a:rPr>
                        <a:t>小川 宣夫（1947年 茨城県生まれ・79歳）</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4612">
                <a:tc>
                  <a:txBody>
                    <a:bodyPr wrap="square"/>
                    <a:lstStyle/>
                    <a:p>
                      <a:pPr algn="l">
                        <a:spcAft>
                          <a:spcPts val="0"/>
                        </a:spcAft>
                      </a:pPr>
                      <a:r>
                        <a:rPr sz="850" b="0">
                          <a:solidFill>
                            <a:srgbClr val="1A1A1A"/>
                          </a:solidFill>
                          <a:latin typeface="游ゴシック"/>
                          <a:ea typeface="游ゴシック"/>
                          <a:cs typeface="游ゴシック"/>
                        </a:rPr>
                        <a:t>株主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50" b="0">
                          <a:solidFill>
                            <a:srgbClr val="1A1A1A"/>
                          </a:solidFill>
                          <a:latin typeface="游ゴシック"/>
                          <a:ea typeface="游ゴシック"/>
                          <a:cs typeface="游ゴシック"/>
                        </a:rPr>
                        <a:t>小川 宣夫 130株（65.0％）、小川 喜久子 70株（35.0％）　計200株</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4612">
                <a:tc>
                  <a:txBody>
                    <a:bodyPr wrap="square"/>
                    <a:lstStyle/>
                    <a:p>
                      <a:pPr algn="l">
                        <a:spcAft>
                          <a:spcPts val="0"/>
                        </a:spcAft>
                      </a:pPr>
                      <a:r>
                        <a:rPr sz="850" b="0">
                          <a:solidFill>
                            <a:srgbClr val="1A1A1A"/>
                          </a:solidFill>
                          <a:latin typeface="游ゴシック"/>
                          <a:ea typeface="游ゴシック"/>
                          <a:cs typeface="游ゴシック"/>
                        </a:rPr>
                        <a:t>事業内容</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50" b="0">
                          <a:solidFill>
                            <a:srgbClr val="1A1A1A"/>
                          </a:solidFill>
                          <a:latin typeface="游ゴシック"/>
                          <a:ea typeface="游ゴシック"/>
                          <a:cs typeface="游ゴシック"/>
                        </a:rPr>
                        <a:t>そば店「慈久庵」の経営／蕎麦粉・小麦粉の製粉・卸売／乾麺・そばつゆ・醤等の製造販売・通信販売</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4612">
                <a:tc>
                  <a:txBody>
                    <a:bodyPr wrap="square"/>
                    <a:lstStyle/>
                    <a:p>
                      <a:pPr algn="l">
                        <a:spcAft>
                          <a:spcPts val="0"/>
                        </a:spcAft>
                      </a:pPr>
                      <a:r>
                        <a:rPr sz="850" b="0">
                          <a:solidFill>
                            <a:srgbClr val="1A1A1A"/>
                          </a:solidFill>
                          <a:latin typeface="游ゴシック"/>
                          <a:ea typeface="游ゴシック"/>
                          <a:cs typeface="游ゴシック"/>
                        </a:rPr>
                        <a:t>営業日・時間</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50" b="0">
                          <a:solidFill>
                            <a:srgbClr val="1A1A1A"/>
                          </a:solidFill>
                          <a:latin typeface="游ゴシック"/>
                          <a:ea typeface="游ゴシック"/>
                          <a:cs typeface="游ゴシック"/>
                        </a:rPr>
                        <a:t>金・土・日・月（定休：火・水・木）　11:30〜14:30（売り切りじまい）</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4612">
                <a:tc>
                  <a:txBody>
                    <a:bodyPr wrap="square"/>
                    <a:lstStyle/>
                    <a:p>
                      <a:pPr algn="l">
                        <a:spcAft>
                          <a:spcPts val="0"/>
                        </a:spcAft>
                      </a:pPr>
                      <a:r>
                        <a:rPr sz="850" b="0">
                          <a:solidFill>
                            <a:srgbClr val="1A1A1A"/>
                          </a:solidFill>
                          <a:latin typeface="游ゴシック"/>
                          <a:ea typeface="游ゴシック"/>
                          <a:cs typeface="游ゴシック"/>
                        </a:rPr>
                        <a:t>従業員数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50" b="0">
                          <a:solidFill>
                            <a:srgbClr val="1A1A1A"/>
                          </a:solidFill>
                          <a:latin typeface="游ゴシック"/>
                          <a:ea typeface="游ゴシック"/>
                          <a:cs typeface="游ゴシック"/>
                        </a:rPr>
                        <a:t>0名（代表者・配偶者の2名で運営。繁忙時は親族が就労）</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4612">
                <a:tc>
                  <a:txBody>
                    <a:bodyPr wrap="square"/>
                    <a:lstStyle/>
                    <a:p>
                      <a:pPr algn="l">
                        <a:spcAft>
                          <a:spcPts val="0"/>
                        </a:spcAft>
                      </a:pPr>
                      <a:r>
                        <a:rPr sz="850" b="0">
                          <a:solidFill>
                            <a:srgbClr val="1A1A1A"/>
                          </a:solidFill>
                          <a:latin typeface="游ゴシック"/>
                          <a:ea typeface="游ゴシック"/>
                          <a:cs typeface="游ゴシック"/>
                        </a:rPr>
                        <a:t>許認可等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50" b="0">
                          <a:solidFill>
                            <a:srgbClr val="1A1A1A"/>
                          </a:solidFill>
                          <a:latin typeface="游ゴシック"/>
                          <a:ea typeface="游ゴシック"/>
                          <a:cs typeface="游ゴシック"/>
                        </a:rPr>
                        <a:t>飲食店営業許可　ほか　※許可証の写しは未受領（要確認）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4612">
                <a:tc>
                  <a:txBody>
                    <a:bodyPr wrap="square"/>
                    <a:lstStyle/>
                    <a:p>
                      <a:pPr algn="l">
                        <a:spcAft>
                          <a:spcPts val="0"/>
                        </a:spcAft>
                      </a:pPr>
                      <a:r>
                        <a:rPr sz="850" b="0">
                          <a:solidFill>
                            <a:srgbClr val="1A1A1A"/>
                          </a:solidFill>
                          <a:latin typeface="游ゴシック"/>
                          <a:ea typeface="游ゴシック"/>
                          <a:cs typeface="游ゴシック"/>
                        </a:rPr>
                        <a:t>売上高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50" b="0">
                          <a:solidFill>
                            <a:srgbClr val="1A1A1A"/>
                          </a:solidFill>
                          <a:latin typeface="游ゴシック"/>
                          <a:ea typeface="游ゴシック"/>
                          <a:cs typeface="游ゴシック"/>
                        </a:rPr>
                        <a:t>22,484千円（2026年5月期）</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4612">
                <a:tc>
                  <a:txBody>
                    <a:bodyPr wrap="square"/>
                    <a:lstStyle/>
                    <a:p>
                      <a:pPr algn="l">
                        <a:spcAft>
                          <a:spcPts val="0"/>
                        </a:spcAft>
                      </a:pPr>
                      <a:r>
                        <a:rPr sz="850" b="0">
                          <a:solidFill>
                            <a:srgbClr val="1A1A1A"/>
                          </a:solidFill>
                          <a:latin typeface="游ゴシック"/>
                          <a:ea typeface="游ゴシック"/>
                          <a:cs typeface="游ゴシック"/>
                        </a:rPr>
                        <a:t>調整後EBITDA</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50" b="0">
                          <a:solidFill>
                            <a:srgbClr val="1A1A1A"/>
                          </a:solidFill>
                          <a:latin typeface="游ゴシック"/>
                          <a:ea typeface="游ゴシック"/>
                          <a:cs typeface="游ゴシック"/>
                        </a:rPr>
                        <a:t>6,801千円（2026年5月期）</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4612">
                <a:tc>
                  <a:txBody>
                    <a:bodyPr wrap="square"/>
                    <a:lstStyle/>
                    <a:p>
                      <a:pPr algn="l">
                        <a:spcAft>
                          <a:spcPts val="0"/>
                        </a:spcAft>
                      </a:pPr>
                      <a:r>
                        <a:rPr sz="850" b="0">
                          <a:solidFill>
                            <a:srgbClr val="1A1A1A"/>
                          </a:solidFill>
                          <a:latin typeface="游ゴシック"/>
                          <a:ea typeface="游ゴシック"/>
                          <a:cs typeface="游ゴシック"/>
                        </a:rPr>
                        <a:t>純資産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50" b="0">
                          <a:solidFill>
                            <a:srgbClr val="1A1A1A"/>
                          </a:solidFill>
                          <a:latin typeface="游ゴシック"/>
                          <a:ea typeface="游ゴシック"/>
                          <a:cs typeface="游ゴシック"/>
                        </a:rPr>
                        <a:t>23,658千円（2026年5月期）　※金融機関借入なし</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4612">
                <a:tc>
                  <a:txBody>
                    <a:bodyPr wrap="square"/>
                    <a:lstStyle/>
                    <a:p>
                      <a:pPr algn="l">
                        <a:spcAft>
                          <a:spcPts val="0"/>
                        </a:spcAft>
                      </a:pPr>
                      <a:r>
                        <a:rPr sz="850" b="0">
                          <a:solidFill>
                            <a:srgbClr val="1A1A1A"/>
                          </a:solidFill>
                          <a:latin typeface="游ゴシック"/>
                          <a:ea typeface="游ゴシック"/>
                          <a:cs typeface="游ゴシック"/>
                        </a:rPr>
                        <a:t>譲渡理由</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50" b="0">
                          <a:solidFill>
                            <a:srgbClr val="1A1A1A"/>
                          </a:solidFill>
                          <a:latin typeface="游ゴシック"/>
                          <a:ea typeface="游ゴシック"/>
                          <a:cs typeface="游ゴシック"/>
                        </a:rPr>
                        <a:t>代表者の高齢化（79歳）および後継者不在</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7" name="Rectangle 16"/>
          <p:cNvSpPr/>
          <p:nvPr/>
        </p:nvSpPr>
        <p:spPr>
          <a:xfrm>
            <a:off x="6355080" y="1517904"/>
            <a:ext cx="4023360"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100" b="1">
                <a:solidFill>
                  <a:srgbClr val="FFFFFF"/>
                </a:solidFill>
                <a:latin typeface="游ゴシック"/>
                <a:ea typeface="游ゴシック"/>
                <a:cs typeface="游ゴシック"/>
              </a:rPr>
              <a:t>本件のポイント</a:t>
            </a:r>
          </a:p>
        </p:txBody>
      </p:sp>
      <p:sp>
        <p:nvSpPr>
          <p:cNvPr id="18" name="Rectangle 17"/>
          <p:cNvSpPr/>
          <p:nvPr/>
        </p:nvSpPr>
        <p:spPr>
          <a:xfrm>
            <a:off x="6355080" y="1929384"/>
            <a:ext cx="4023360" cy="896112"/>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0889C9"/>
                </a:solidFill>
                <a:latin typeface="游ゴシック"/>
                <a:ea typeface="游ゴシック"/>
                <a:cs typeface="游ゴシック"/>
              </a:rPr>
              <a:t>全国区のブランド</a:t>
            </a:r>
          </a:p>
          <a:p>
            <a:pPr>
              <a:lnSpc>
                <a:spcPct val="114000"/>
              </a:lnSpc>
            </a:pPr>
            <a:r>
              <a:rPr sz="900" b="0">
                <a:solidFill>
                  <a:srgbClr val="1A1A1A"/>
                </a:solidFill>
                <a:latin typeface="游ゴシック"/>
                <a:ea typeface="游ゴシック"/>
                <a:cs typeface="游ゴシック"/>
              </a:rPr>
              <a:t>食べログ「そば 百名店」選出、THE TABELOG AWARD 2022・2023 Bronze、Japan Restaurant Award 2016 茨城県TOP1</a:t>
            </a:r>
          </a:p>
        </p:txBody>
      </p:sp>
      <p:sp>
        <p:nvSpPr>
          <p:cNvPr id="19" name="Rectangle 18"/>
          <p:cNvSpPr/>
          <p:nvPr/>
        </p:nvSpPr>
        <p:spPr>
          <a:xfrm>
            <a:off x="6355080" y="2880360"/>
            <a:ext cx="4023360" cy="896112"/>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0889C9"/>
                </a:solidFill>
                <a:latin typeface="游ゴシック"/>
                <a:ea typeface="游ゴシック"/>
                <a:cs typeface="游ゴシック"/>
              </a:rPr>
              <a:t>粗挽き蕎麦の第一人者</a:t>
            </a:r>
          </a:p>
          <a:p>
            <a:pPr>
              <a:lnSpc>
                <a:spcPct val="114000"/>
              </a:lnSpc>
            </a:pPr>
            <a:r>
              <a:rPr sz="900" b="0">
                <a:solidFill>
                  <a:srgbClr val="1A1A1A"/>
                </a:solidFill>
                <a:latin typeface="游ゴシック"/>
                <a:ea typeface="游ゴシック"/>
                <a:cs typeface="游ゴシック"/>
              </a:rPr>
              <a:t>代表者は荻窪「本むら庵」で8年修業。焼畑農法を再興して24年、著書も持つ業界内の著名人</a:t>
            </a:r>
          </a:p>
        </p:txBody>
      </p:sp>
      <p:sp>
        <p:nvSpPr>
          <p:cNvPr id="20" name="Rectangle 19"/>
          <p:cNvSpPr/>
          <p:nvPr/>
        </p:nvSpPr>
        <p:spPr>
          <a:xfrm>
            <a:off x="6355080" y="3831335"/>
            <a:ext cx="4023360" cy="896112"/>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0889C9"/>
                </a:solidFill>
                <a:latin typeface="游ゴシック"/>
                <a:ea typeface="游ゴシック"/>
                <a:cs typeface="游ゴシック"/>
              </a:rPr>
              <a:t>4本柱の収益構造</a:t>
            </a:r>
          </a:p>
          <a:p>
            <a:pPr>
              <a:lnSpc>
                <a:spcPct val="114000"/>
              </a:lnSpc>
            </a:pPr>
            <a:r>
              <a:rPr sz="900" b="0">
                <a:solidFill>
                  <a:srgbClr val="1A1A1A"/>
                </a:solidFill>
                <a:latin typeface="游ゴシック"/>
                <a:ea typeface="游ゴシック"/>
                <a:cs typeface="游ゴシック"/>
              </a:rPr>
              <a:t>店頭飲食15,099千円のほか、製粉・卸売2,273千円、通信販売・物販1,789千円、関係先向け食材供給3,323千円</a:t>
            </a:r>
          </a:p>
        </p:txBody>
      </p:sp>
      <p:sp>
        <p:nvSpPr>
          <p:cNvPr id="21" name="Rectangle 20"/>
          <p:cNvSpPr/>
          <p:nvPr/>
        </p:nvSpPr>
        <p:spPr>
          <a:xfrm>
            <a:off x="6355080" y="4782312"/>
            <a:ext cx="4023360" cy="896112"/>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0889C9"/>
                </a:solidFill>
                <a:latin typeface="游ゴシック"/>
                <a:ea typeface="游ゴシック"/>
                <a:cs typeface="游ゴシック"/>
              </a:rPr>
              <a:t>事業用不動産を自社保有</a:t>
            </a:r>
          </a:p>
          <a:p>
            <a:pPr>
              <a:lnSpc>
                <a:spcPct val="114000"/>
              </a:lnSpc>
            </a:pPr>
            <a:r>
              <a:rPr sz="900" b="0">
                <a:solidFill>
                  <a:srgbClr val="1A1A1A"/>
                </a:solidFill>
                <a:latin typeface="游ゴシック"/>
                <a:ea typeface="游ゴシック"/>
                <a:cs typeface="游ゴシック"/>
              </a:rPr>
              <a:t>代表者が設計し私財を投じた板倉造・茅葺きの店舗（取得価額104,599千円）と土地を保有。賃料負担なし</a:t>
            </a:r>
          </a:p>
        </p:txBody>
      </p:sp>
      <p:sp>
        <p:nvSpPr>
          <p:cNvPr id="22" name="Rectangle 21"/>
          <p:cNvSpPr/>
          <p:nvPr/>
        </p:nvSpPr>
        <p:spPr>
          <a:xfrm>
            <a:off x="6355080" y="5733288"/>
            <a:ext cx="4023360" cy="896112"/>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0889C9"/>
                </a:solidFill>
                <a:latin typeface="游ゴシック"/>
                <a:ea typeface="游ゴシック"/>
                <a:cs typeface="游ゴシック"/>
              </a:rPr>
              <a:t>稼働余地と論点（要確認）</a:t>
            </a:r>
          </a:p>
          <a:p>
            <a:pPr>
              <a:lnSpc>
                <a:spcPct val="114000"/>
              </a:lnSpc>
            </a:pPr>
            <a:r>
              <a:rPr sz="900" b="0">
                <a:solidFill>
                  <a:srgbClr val="1A1A1A"/>
                </a:solidFill>
                <a:latin typeface="游ゴシック"/>
                <a:ea typeface="游ゴシック"/>
                <a:cs typeface="游ゴシック"/>
              </a:rPr>
              <a:t>週4日・昼のみ・売り切りじまいで年間200日稼働。拡大余地の試算は P.19。売上は4期で25.4％減、代表者夫妻は無報酬、店舗建物は未登記</a:t>
            </a:r>
          </a:p>
        </p:txBody>
      </p:sp>
      <p:sp>
        <p:nvSpPr>
          <p:cNvPr id="23" name="TextBox 22"/>
          <p:cNvSpPr txBox="1"/>
          <p:nvPr/>
        </p:nvSpPr>
        <p:spPr>
          <a:xfrm>
            <a:off x="310896" y="6629400"/>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会社名・所在地・設立・資本金・株主・役員は法人登記簿（2026年9月15日現在）、営業日・外部評価は掲載誌および現地実査による。</a:t>
            </a:r>
          </a:p>
        </p:txBody>
      </p:sp>
    </p:spTree>
    <p:extLst>
      <p:ext uri="{BB962C8B-B14F-4D97-AF65-F5344CB8AC3E}">
        <p14:creationId xmlns:p14="http://schemas.microsoft.com/office/powerpoint/2010/main" val="2819346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8EF9F-B9BD-9E7E-BA2C-5A4B51173A7F}"/>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780A147-C248-92F8-8F3F-25BD76E0BC3B}"/>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財務ハイライト（P/L）</a:t>
            </a:r>
          </a:p>
        </p:txBody>
      </p:sp>
      <p:sp>
        <p:nvSpPr>
          <p:cNvPr id="5" name="タイトル 1">
            <a:extLst>
              <a:ext uri="{FF2B5EF4-FFF2-40B4-BE49-F238E27FC236}">
                <a16:creationId xmlns:a16="http://schemas.microsoft.com/office/drawing/2014/main" id="{BE8912DE-7392-DA52-DCED-61F45ED11AC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a:latin typeface="游ゴシック"/>
                <a:ea typeface="游ゴシック"/>
                <a:cs typeface="游ゴシック"/>
              </a:rPr>
              <a:t>エグゼクティブサマリー</a:t>
            </a:r>
          </a:p>
        </p:txBody>
      </p:sp>
      <p:sp>
        <p:nvSpPr>
          <p:cNvPr id="16" name="字幕 13">
            <a:extLst>
              <a:ext uri="{FF2B5EF4-FFF2-40B4-BE49-F238E27FC236}">
                <a16:creationId xmlns:a16="http://schemas.microsoft.com/office/drawing/2014/main" id="{7A1881B5-EF3F-935A-CE45-EAB497D19AED}"/>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売上高は4期で25.4％減少し2026/5期は営業赤字。一方で年間7,012千円の減価償却費を戻した調整後EBITDAは6,801千円を確保</a:t>
            </a:r>
            <a:endParaRPr lang="en-US" altLang="ja-JP" dirty="0">
              <a:latin typeface="+mj-ea"/>
            </a:endParaRPr>
          </a:p>
        </p:txBody>
      </p:sp>
      <p:graphicFrame>
        <p:nvGraphicFramePr>
          <p:cNvPr id="17" name="Table 16"/>
          <p:cNvGraphicFramePr>
            <a:graphicFrameLocks noGrp="1"/>
          </p:cNvGraphicFramePr>
          <p:nvPr/>
        </p:nvGraphicFramePr>
        <p:xfrm>
          <a:off x="310896" y="1408176"/>
          <a:ext cx="6044184" cy="2774280"/>
        </p:xfrm>
        <a:graphic>
          <a:graphicData uri="http://schemas.openxmlformats.org/drawingml/2006/table">
            <a:tbl>
              <a:tblPr firstRow="0" bandRow="0">
                <a:tableStyleId>{5940675A-B579-460E-94D1-54222C63F5DA}</a:tableStyleId>
              </a:tblPr>
              <a:tblGrid>
                <a:gridCol w="2112264"/>
                <a:gridCol w="786384"/>
                <a:gridCol w="786384"/>
                <a:gridCol w="786384"/>
                <a:gridCol w="786384"/>
                <a:gridCol w="786384"/>
              </a:tblGrid>
              <a:tr h="228600">
                <a:tc>
                  <a:txBody>
                    <a:bodyPr wrap="square"/>
                    <a:lstStyle/>
                    <a:p>
                      <a:pPr algn="ctr">
                        <a:spcAft>
                          <a:spcPts val="0"/>
                        </a:spcAft>
                      </a:pPr>
                      <a:r>
                        <a:rPr sz="850" b="1">
                          <a:solidFill>
                            <a:srgbClr val="FFFFFF"/>
                          </a:solidFill>
                          <a:latin typeface="游ゴシック"/>
                          <a:ea typeface="游ゴシック"/>
                          <a:cs typeface="游ゴシック"/>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50" b="1">
                          <a:solidFill>
                            <a:srgbClr val="FFFFFF"/>
                          </a:solidFill>
                          <a:latin typeface="Arial"/>
                          <a:ea typeface="Arial"/>
                          <a:cs typeface="Arial"/>
                        </a:rPr>
                        <a:t>2022/5期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50" b="1">
                          <a:solidFill>
                            <a:srgbClr val="FFFFFF"/>
                          </a:solidFill>
                          <a:latin typeface="Arial"/>
                          <a:ea typeface="Arial"/>
                          <a:cs typeface="Arial"/>
                        </a:rPr>
                        <a:t>2023/5期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50" b="1">
                          <a:solidFill>
                            <a:srgbClr val="FFFFFF"/>
                          </a:solidFill>
                          <a:latin typeface="Arial"/>
                          <a:ea typeface="Arial"/>
                          <a:cs typeface="Arial"/>
                        </a:rPr>
                        <a:t>2024/5期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50" b="1">
                          <a:solidFill>
                            <a:srgbClr val="FFFFFF"/>
                          </a:solidFill>
                          <a:latin typeface="Arial"/>
                          <a:ea typeface="Arial"/>
                          <a:cs typeface="Arial"/>
                        </a:rPr>
                        <a:t>2025/5期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50" b="1">
                          <a:solidFill>
                            <a:srgbClr val="FFFFFF"/>
                          </a:solidFill>
                          <a:latin typeface="Arial"/>
                          <a:ea typeface="Arial"/>
                          <a:cs typeface="Arial"/>
                        </a:rPr>
                        <a:t>2026/5期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2140">
                <a:tc>
                  <a:txBody>
                    <a:bodyPr wrap="square"/>
                    <a:lstStyle/>
                    <a:p>
                      <a:pPr algn="l">
                        <a:spcAft>
                          <a:spcPts val="0"/>
                        </a:spcAft>
                      </a:pPr>
                      <a:r>
                        <a:rPr sz="850" b="1">
                          <a:solidFill>
                            <a:srgbClr val="1A1A1A"/>
                          </a:solidFill>
                          <a:latin typeface="游ゴシック"/>
                          <a:ea typeface="游ゴシック"/>
                          <a:cs typeface="游ゴシック"/>
                        </a:rPr>
                        <a:t>売上高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1">
                          <a:solidFill>
                            <a:srgbClr val="1A1A1A"/>
                          </a:solidFill>
                          <a:latin typeface="Arial"/>
                          <a:ea typeface="Arial"/>
                          <a:cs typeface="Arial"/>
                        </a:rPr>
                        <a:t>30,121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1">
                          <a:solidFill>
                            <a:srgbClr val="1A1A1A"/>
                          </a:solidFill>
                          <a:latin typeface="Arial"/>
                          <a:ea typeface="Arial"/>
                          <a:cs typeface="Arial"/>
                        </a:rPr>
                        <a:t>28,446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1">
                          <a:solidFill>
                            <a:srgbClr val="1A1A1A"/>
                          </a:solidFill>
                          <a:latin typeface="Arial"/>
                          <a:ea typeface="Arial"/>
                          <a:cs typeface="Arial"/>
                        </a:rPr>
                        <a:t>24,455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1">
                          <a:solidFill>
                            <a:srgbClr val="1A1A1A"/>
                          </a:solidFill>
                          <a:latin typeface="Arial"/>
                          <a:ea typeface="Arial"/>
                          <a:cs typeface="Arial"/>
                        </a:rPr>
                        <a:t>23,542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1">
                          <a:solidFill>
                            <a:srgbClr val="1A1A1A"/>
                          </a:solidFill>
                          <a:latin typeface="Arial"/>
                          <a:ea typeface="Arial"/>
                          <a:cs typeface="Arial"/>
                        </a:rPr>
                        <a:t>22,484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2140">
                <a:tc>
                  <a:txBody>
                    <a:bodyPr wrap="square"/>
                    <a:lstStyle/>
                    <a:p>
                      <a:pPr algn="l">
                        <a:spcAft>
                          <a:spcPts val="0"/>
                        </a:spcAft>
                      </a:pPr>
                      <a:r>
                        <a:rPr sz="850" b="0">
                          <a:solidFill>
                            <a:srgbClr val="1A1A1A"/>
                          </a:solidFill>
                          <a:latin typeface="游ゴシック"/>
                          <a:ea typeface="游ゴシック"/>
                          <a:cs typeface="游ゴシック"/>
                        </a:rPr>
                        <a:t>売上総利益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13,021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10,365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8,051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7,495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6,056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2140">
                <a:tc>
                  <a:txBody>
                    <a:bodyPr wrap="square"/>
                    <a:lstStyle/>
                    <a:p>
                      <a:pPr algn="l">
                        <a:spcAft>
                          <a:spcPts val="0"/>
                        </a:spcAft>
                      </a:pPr>
                      <a:r>
                        <a:rPr sz="850" b="0">
                          <a:solidFill>
                            <a:srgbClr val="1A1A1A"/>
                          </a:solidFill>
                          <a:latin typeface="游ゴシック"/>
                          <a:ea typeface="游ゴシック"/>
                          <a:cs typeface="游ゴシック"/>
                        </a:rPr>
                        <a:t>　売上総利益率</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43.2%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36.4%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32.9%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31.8%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26.9%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2140">
                <a:tc>
                  <a:txBody>
                    <a:bodyPr wrap="square"/>
                    <a:lstStyle/>
                    <a:p>
                      <a:pPr algn="l">
                        <a:spcAft>
                          <a:spcPts val="0"/>
                        </a:spcAft>
                      </a:pPr>
                      <a:r>
                        <a:rPr sz="850" b="0">
                          <a:solidFill>
                            <a:srgbClr val="1A1A1A"/>
                          </a:solidFill>
                          <a:latin typeface="游ゴシック"/>
                          <a:ea typeface="游ゴシック"/>
                          <a:cs typeface="游ゴシック"/>
                        </a:rPr>
                        <a:t>販売費及び一般管理費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6,430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7,554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7,082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6,212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6,267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2140">
                <a:tc>
                  <a:txBody>
                    <a:bodyPr wrap="square"/>
                    <a:lstStyle/>
                    <a:p>
                      <a:pPr algn="l">
                        <a:spcAft>
                          <a:spcPts val="0"/>
                        </a:spcAft>
                      </a:pPr>
                      <a:r>
                        <a:rPr sz="850" b="1">
                          <a:solidFill>
                            <a:srgbClr val="1A1A1A"/>
                          </a:solidFill>
                          <a:latin typeface="游ゴシック"/>
                          <a:ea typeface="游ゴシック"/>
                          <a:cs typeface="游ゴシック"/>
                        </a:rPr>
                        <a:t>営業利益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1">
                          <a:solidFill>
                            <a:srgbClr val="1A1A1A"/>
                          </a:solidFill>
                          <a:latin typeface="Arial"/>
                          <a:ea typeface="Arial"/>
                          <a:cs typeface="Arial"/>
                        </a:rPr>
                        <a:t>6,591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1">
                          <a:solidFill>
                            <a:srgbClr val="1A1A1A"/>
                          </a:solidFill>
                          <a:latin typeface="Arial"/>
                          <a:ea typeface="Arial"/>
                          <a:cs typeface="Arial"/>
                        </a:rPr>
                        <a:t>2,810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1">
                          <a:solidFill>
                            <a:srgbClr val="1A1A1A"/>
                          </a:solidFill>
                          <a:latin typeface="Arial"/>
                          <a:ea typeface="Arial"/>
                          <a:cs typeface="Arial"/>
                        </a:rPr>
                        <a:t>970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1">
                          <a:solidFill>
                            <a:srgbClr val="1A1A1A"/>
                          </a:solidFill>
                          <a:latin typeface="Arial"/>
                          <a:ea typeface="Arial"/>
                          <a:cs typeface="Arial"/>
                        </a:rPr>
                        <a:t>1,283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1">
                          <a:solidFill>
                            <a:srgbClr val="C03A2B"/>
                          </a:solidFill>
                          <a:latin typeface="Arial"/>
                          <a:ea typeface="Arial"/>
                          <a:cs typeface="Arial"/>
                        </a:rPr>
                        <a:t>△211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2140">
                <a:tc>
                  <a:txBody>
                    <a:bodyPr wrap="square"/>
                    <a:lstStyle/>
                    <a:p>
                      <a:pPr algn="l">
                        <a:spcAft>
                          <a:spcPts val="0"/>
                        </a:spcAft>
                      </a:pPr>
                      <a:r>
                        <a:rPr sz="850" b="0">
                          <a:solidFill>
                            <a:srgbClr val="1A1A1A"/>
                          </a:solidFill>
                          <a:latin typeface="游ゴシック"/>
                          <a:ea typeface="游ゴシック"/>
                          <a:cs typeface="游ゴシック"/>
                        </a:rPr>
                        <a:t>　営業利益率</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21.9%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9.9%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4.0%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5.5%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C03A2B"/>
                          </a:solidFill>
                          <a:latin typeface="Arial"/>
                          <a:ea typeface="Arial"/>
                          <a:cs typeface="Arial"/>
                        </a:rPr>
                        <a:t>△0.9%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2140">
                <a:tc>
                  <a:txBody>
                    <a:bodyPr wrap="square"/>
                    <a:lstStyle/>
                    <a:p>
                      <a:pPr algn="l">
                        <a:spcAft>
                          <a:spcPts val="0"/>
                        </a:spcAft>
                      </a:pPr>
                      <a:r>
                        <a:rPr sz="850" b="0">
                          <a:solidFill>
                            <a:srgbClr val="1A1A1A"/>
                          </a:solidFill>
                          <a:latin typeface="游ゴシック"/>
                          <a:ea typeface="游ゴシック"/>
                          <a:cs typeface="游ゴシック"/>
                        </a:rPr>
                        <a:t>経常利益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6,800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3,079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1,265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1,493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18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2140">
                <a:tc>
                  <a:txBody>
                    <a:bodyPr wrap="square"/>
                    <a:lstStyle/>
                    <a:p>
                      <a:pPr algn="l">
                        <a:spcAft>
                          <a:spcPts val="0"/>
                        </a:spcAft>
                      </a:pPr>
                      <a:r>
                        <a:rPr sz="850" b="0">
                          <a:solidFill>
                            <a:srgbClr val="1A1A1A"/>
                          </a:solidFill>
                          <a:latin typeface="游ゴシック"/>
                          <a:ea typeface="游ゴシック"/>
                          <a:cs typeface="游ゴシック"/>
                        </a:rPr>
                        <a:t>当期純利益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5,561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2,511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911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1,081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C03A2B"/>
                          </a:solidFill>
                          <a:latin typeface="Arial"/>
                          <a:ea typeface="Arial"/>
                          <a:cs typeface="Arial"/>
                        </a:rPr>
                        <a:t>△54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2140">
                <a:tc>
                  <a:txBody>
                    <a:bodyPr wrap="square"/>
                    <a:lstStyle/>
                    <a:p>
                      <a:pPr algn="l">
                        <a:spcAft>
                          <a:spcPts val="0"/>
                        </a:spcAft>
                      </a:pPr>
                      <a:r>
                        <a:rPr sz="850" b="0">
                          <a:solidFill>
                            <a:srgbClr val="1A1A1A"/>
                          </a:solidFill>
                          <a:latin typeface="游ゴシック"/>
                          <a:ea typeface="游ゴシック"/>
                          <a:cs typeface="游ゴシック"/>
                        </a:rPr>
                        <a:t>減価償却費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5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5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7,380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7,292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7,012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2140">
                <a:tc>
                  <a:txBody>
                    <a:bodyPr wrap="square"/>
                    <a:lstStyle/>
                    <a:p>
                      <a:pPr algn="l">
                        <a:spcAft>
                          <a:spcPts val="0"/>
                        </a:spcAft>
                      </a:pPr>
                      <a:r>
                        <a:rPr sz="850" b="0">
                          <a:solidFill>
                            <a:srgbClr val="1A1A1A"/>
                          </a:solidFill>
                          <a:latin typeface="游ゴシック"/>
                          <a:ea typeface="游ゴシック"/>
                          <a:cs typeface="游ゴシック"/>
                        </a:rPr>
                        <a:t>調整項目 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5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5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2140">
                <a:tc>
                  <a:txBody>
                    <a:bodyPr wrap="square"/>
                    <a:lstStyle/>
                    <a:p>
                      <a:pPr algn="l">
                        <a:spcAft>
                          <a:spcPts val="0"/>
                        </a:spcAft>
                      </a:pPr>
                      <a:r>
                        <a:rPr sz="850" b="1">
                          <a:solidFill>
                            <a:srgbClr val="1A1A1A"/>
                          </a:solidFill>
                          <a:latin typeface="游ゴシック"/>
                          <a:ea typeface="游ゴシック"/>
                          <a:cs typeface="游ゴシック"/>
                        </a:rPr>
                        <a:t>調整後EBITDA</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50"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50" b="1">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1">
                          <a:solidFill>
                            <a:srgbClr val="1A1A1A"/>
                          </a:solidFill>
                          <a:latin typeface="Arial"/>
                          <a:ea typeface="Arial"/>
                          <a:cs typeface="Arial"/>
                        </a:rPr>
                        <a:t>8,350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1">
                          <a:solidFill>
                            <a:srgbClr val="1A1A1A"/>
                          </a:solidFill>
                          <a:latin typeface="Arial"/>
                          <a:ea typeface="Arial"/>
                          <a:cs typeface="Arial"/>
                        </a:rPr>
                        <a:t>8,575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1">
                          <a:solidFill>
                            <a:srgbClr val="1A1A1A"/>
                          </a:solidFill>
                          <a:latin typeface="Arial"/>
                          <a:ea typeface="Arial"/>
                          <a:cs typeface="Arial"/>
                        </a:rPr>
                        <a:t>6,801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2140">
                <a:tc>
                  <a:txBody>
                    <a:bodyPr wrap="square"/>
                    <a:lstStyle/>
                    <a:p>
                      <a:pPr algn="l">
                        <a:spcAft>
                          <a:spcPts val="0"/>
                        </a:spcAft>
                      </a:pPr>
                      <a:r>
                        <a:rPr sz="850" b="0">
                          <a:solidFill>
                            <a:srgbClr val="1A1A1A"/>
                          </a:solidFill>
                          <a:latin typeface="游ゴシック"/>
                          <a:ea typeface="游ゴシック"/>
                          <a:cs typeface="游ゴシック"/>
                        </a:rPr>
                        <a:t>　EBITDAマージン</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5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5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34.1%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36.4%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50" b="0">
                          <a:solidFill>
                            <a:srgbClr val="1A1A1A"/>
                          </a:solidFill>
                          <a:latin typeface="Arial"/>
                          <a:ea typeface="Arial"/>
                          <a:cs typeface="Arial"/>
                        </a:rPr>
                        <a:t>30.2%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8" name="Rectangle 17"/>
          <p:cNvSpPr/>
          <p:nvPr/>
        </p:nvSpPr>
        <p:spPr>
          <a:xfrm>
            <a:off x="310896" y="4645152"/>
            <a:ext cx="6044184" cy="1920240"/>
          </a:xfrm>
          <a:prstGeom prst="rect">
            <a:avLst/>
          </a:prstGeom>
          <a:solidFill>
            <a:srgbClr val="FBFCFD"/>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20624" y="4718304"/>
            <a:ext cx="5824728" cy="201168"/>
          </a:xfrm>
          <a:prstGeom prst="rect">
            <a:avLst/>
          </a:prstGeom>
          <a:noFill/>
        </p:spPr>
        <p:txBody>
          <a:bodyPr wrap="square" lIns="0" rIns="0" tIns="0" bIns="0" anchor="t">
            <a:spAutoFit/>
          </a:bodyPr>
          <a:lstStyle/>
          <a:p>
            <a:pPr algn="l">
              <a:spcAft>
                <a:spcPts val="0"/>
              </a:spcAft>
            </a:pPr>
            <a:r>
              <a:rPr sz="900" b="1">
                <a:solidFill>
                  <a:srgbClr val="0B3041"/>
                </a:solidFill>
                <a:latin typeface="游ゴシック"/>
                <a:ea typeface="游ゴシック"/>
                <a:cs typeface="游ゴシック"/>
              </a:rPr>
              <a:t>売上高の推移（千円）</a:t>
            </a:r>
          </a:p>
        </p:txBody>
      </p:sp>
      <p:sp>
        <p:nvSpPr>
          <p:cNvPr id="20" name="Rectangle 19"/>
          <p:cNvSpPr/>
          <p:nvPr/>
        </p:nvSpPr>
        <p:spPr>
          <a:xfrm>
            <a:off x="621792" y="5084064"/>
            <a:ext cx="663854" cy="1170432"/>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48640" y="4901183"/>
            <a:ext cx="840882" cy="164592"/>
          </a:xfrm>
          <a:prstGeom prst="rect">
            <a:avLst/>
          </a:prstGeom>
          <a:noFill/>
        </p:spPr>
        <p:txBody>
          <a:bodyPr wrap="square" lIns="0" rIns="0" tIns="0" bIns="0" anchor="t">
            <a:spAutoFit/>
          </a:bodyPr>
          <a:lstStyle/>
          <a:p>
            <a:pPr algn="ctr">
              <a:spcAft>
                <a:spcPts val="0"/>
              </a:spcAft>
            </a:pPr>
            <a:r>
              <a:rPr sz="680" b="0">
                <a:solidFill>
                  <a:srgbClr val="0B3041"/>
                </a:solidFill>
                <a:latin typeface="Arial"/>
                <a:ea typeface="Arial"/>
                <a:cs typeface="Arial"/>
              </a:rPr>
              <a:t>30,121</a:t>
            </a:r>
          </a:p>
        </p:txBody>
      </p:sp>
      <p:sp>
        <p:nvSpPr>
          <p:cNvPr id="22" name="TextBox 21"/>
          <p:cNvSpPr txBox="1"/>
          <p:nvPr/>
        </p:nvSpPr>
        <p:spPr>
          <a:xfrm>
            <a:off x="548640" y="6300216"/>
            <a:ext cx="840882" cy="164592"/>
          </a:xfrm>
          <a:prstGeom prst="rect">
            <a:avLst/>
          </a:prstGeom>
          <a:noFill/>
        </p:spPr>
        <p:txBody>
          <a:bodyPr wrap="square" lIns="0" rIns="0" tIns="0" bIns="0" anchor="t">
            <a:spAutoFit/>
          </a:bodyPr>
          <a:lstStyle/>
          <a:p>
            <a:pPr algn="ctr">
              <a:spcAft>
                <a:spcPts val="0"/>
              </a:spcAft>
            </a:pPr>
            <a:r>
              <a:rPr sz="700" b="0">
                <a:solidFill>
                  <a:srgbClr val="5A6670"/>
                </a:solidFill>
                <a:latin typeface="Arial"/>
                <a:ea typeface="Arial"/>
                <a:cs typeface="Arial"/>
              </a:rPr>
              <a:t>22/5期</a:t>
            </a:r>
          </a:p>
        </p:txBody>
      </p:sp>
      <p:sp>
        <p:nvSpPr>
          <p:cNvPr id="23" name="Rectangle 22"/>
          <p:cNvSpPr/>
          <p:nvPr/>
        </p:nvSpPr>
        <p:spPr>
          <a:xfrm>
            <a:off x="1728216" y="5149150"/>
            <a:ext cx="663854" cy="110534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655064" y="4966270"/>
            <a:ext cx="840882" cy="164592"/>
          </a:xfrm>
          <a:prstGeom prst="rect">
            <a:avLst/>
          </a:prstGeom>
          <a:noFill/>
        </p:spPr>
        <p:txBody>
          <a:bodyPr wrap="square" lIns="0" rIns="0" tIns="0" bIns="0" anchor="t">
            <a:spAutoFit/>
          </a:bodyPr>
          <a:lstStyle/>
          <a:p>
            <a:pPr algn="ctr">
              <a:spcAft>
                <a:spcPts val="0"/>
              </a:spcAft>
            </a:pPr>
            <a:r>
              <a:rPr sz="680" b="0">
                <a:solidFill>
                  <a:srgbClr val="0B3041"/>
                </a:solidFill>
                <a:latin typeface="Arial"/>
                <a:ea typeface="Arial"/>
                <a:cs typeface="Arial"/>
              </a:rPr>
              <a:t>28,446</a:t>
            </a:r>
          </a:p>
        </p:txBody>
      </p:sp>
      <p:sp>
        <p:nvSpPr>
          <p:cNvPr id="25" name="TextBox 24"/>
          <p:cNvSpPr txBox="1"/>
          <p:nvPr/>
        </p:nvSpPr>
        <p:spPr>
          <a:xfrm>
            <a:off x="1655064" y="6300216"/>
            <a:ext cx="840882" cy="164592"/>
          </a:xfrm>
          <a:prstGeom prst="rect">
            <a:avLst/>
          </a:prstGeom>
          <a:noFill/>
        </p:spPr>
        <p:txBody>
          <a:bodyPr wrap="square" lIns="0" rIns="0" tIns="0" bIns="0" anchor="t">
            <a:spAutoFit/>
          </a:bodyPr>
          <a:lstStyle/>
          <a:p>
            <a:pPr algn="ctr">
              <a:spcAft>
                <a:spcPts val="0"/>
              </a:spcAft>
            </a:pPr>
            <a:r>
              <a:rPr sz="700" b="0">
                <a:solidFill>
                  <a:srgbClr val="5A6670"/>
                </a:solidFill>
                <a:latin typeface="Arial"/>
                <a:ea typeface="Arial"/>
                <a:cs typeface="Arial"/>
              </a:rPr>
              <a:t>23/5期</a:t>
            </a:r>
          </a:p>
        </p:txBody>
      </p:sp>
      <p:sp>
        <p:nvSpPr>
          <p:cNvPr id="26" name="Rectangle 25"/>
          <p:cNvSpPr/>
          <p:nvPr/>
        </p:nvSpPr>
        <p:spPr>
          <a:xfrm>
            <a:off x="2834640" y="5304231"/>
            <a:ext cx="663854" cy="950264"/>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2761488" y="5121351"/>
            <a:ext cx="840882" cy="164592"/>
          </a:xfrm>
          <a:prstGeom prst="rect">
            <a:avLst/>
          </a:prstGeom>
          <a:noFill/>
        </p:spPr>
        <p:txBody>
          <a:bodyPr wrap="square" lIns="0" rIns="0" tIns="0" bIns="0" anchor="t">
            <a:spAutoFit/>
          </a:bodyPr>
          <a:lstStyle/>
          <a:p>
            <a:pPr algn="ctr">
              <a:spcAft>
                <a:spcPts val="0"/>
              </a:spcAft>
            </a:pPr>
            <a:r>
              <a:rPr sz="680" b="0">
                <a:solidFill>
                  <a:srgbClr val="0B3041"/>
                </a:solidFill>
                <a:latin typeface="Arial"/>
                <a:ea typeface="Arial"/>
                <a:cs typeface="Arial"/>
              </a:rPr>
              <a:t>24,455</a:t>
            </a:r>
          </a:p>
        </p:txBody>
      </p:sp>
      <p:sp>
        <p:nvSpPr>
          <p:cNvPr id="28" name="TextBox 27"/>
          <p:cNvSpPr txBox="1"/>
          <p:nvPr/>
        </p:nvSpPr>
        <p:spPr>
          <a:xfrm>
            <a:off x="2761488" y="6300216"/>
            <a:ext cx="840882" cy="164592"/>
          </a:xfrm>
          <a:prstGeom prst="rect">
            <a:avLst/>
          </a:prstGeom>
          <a:noFill/>
        </p:spPr>
        <p:txBody>
          <a:bodyPr wrap="square" lIns="0" rIns="0" tIns="0" bIns="0" anchor="t">
            <a:spAutoFit/>
          </a:bodyPr>
          <a:lstStyle/>
          <a:p>
            <a:pPr algn="ctr">
              <a:spcAft>
                <a:spcPts val="0"/>
              </a:spcAft>
            </a:pPr>
            <a:r>
              <a:rPr sz="700" b="0">
                <a:solidFill>
                  <a:srgbClr val="5A6670"/>
                </a:solidFill>
                <a:latin typeface="Arial"/>
                <a:ea typeface="Arial"/>
                <a:cs typeface="Arial"/>
              </a:rPr>
              <a:t>24/5期</a:t>
            </a:r>
          </a:p>
        </p:txBody>
      </p:sp>
      <p:sp>
        <p:nvSpPr>
          <p:cNvPr id="29" name="Rectangle 28"/>
          <p:cNvSpPr/>
          <p:nvPr/>
        </p:nvSpPr>
        <p:spPr>
          <a:xfrm>
            <a:off x="3941064" y="5339708"/>
            <a:ext cx="663854" cy="914787"/>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3867912" y="5156828"/>
            <a:ext cx="840882" cy="164592"/>
          </a:xfrm>
          <a:prstGeom prst="rect">
            <a:avLst/>
          </a:prstGeom>
          <a:noFill/>
        </p:spPr>
        <p:txBody>
          <a:bodyPr wrap="square" lIns="0" rIns="0" tIns="0" bIns="0" anchor="t">
            <a:spAutoFit/>
          </a:bodyPr>
          <a:lstStyle/>
          <a:p>
            <a:pPr algn="ctr">
              <a:spcAft>
                <a:spcPts val="0"/>
              </a:spcAft>
            </a:pPr>
            <a:r>
              <a:rPr sz="680" b="0">
                <a:solidFill>
                  <a:srgbClr val="0B3041"/>
                </a:solidFill>
                <a:latin typeface="Arial"/>
                <a:ea typeface="Arial"/>
                <a:cs typeface="Arial"/>
              </a:rPr>
              <a:t>23,542</a:t>
            </a:r>
          </a:p>
        </p:txBody>
      </p:sp>
      <p:sp>
        <p:nvSpPr>
          <p:cNvPr id="31" name="TextBox 30"/>
          <p:cNvSpPr txBox="1"/>
          <p:nvPr/>
        </p:nvSpPr>
        <p:spPr>
          <a:xfrm>
            <a:off x="3867912" y="6300216"/>
            <a:ext cx="840882" cy="164592"/>
          </a:xfrm>
          <a:prstGeom prst="rect">
            <a:avLst/>
          </a:prstGeom>
          <a:noFill/>
        </p:spPr>
        <p:txBody>
          <a:bodyPr wrap="square" lIns="0" rIns="0" tIns="0" bIns="0" anchor="t">
            <a:spAutoFit/>
          </a:bodyPr>
          <a:lstStyle/>
          <a:p>
            <a:pPr algn="ctr">
              <a:spcAft>
                <a:spcPts val="0"/>
              </a:spcAft>
            </a:pPr>
            <a:r>
              <a:rPr sz="700" b="0">
                <a:solidFill>
                  <a:srgbClr val="5A6670"/>
                </a:solidFill>
                <a:latin typeface="Arial"/>
                <a:ea typeface="Arial"/>
                <a:cs typeface="Arial"/>
              </a:rPr>
              <a:t>25/5期</a:t>
            </a:r>
          </a:p>
        </p:txBody>
      </p:sp>
      <p:sp>
        <p:nvSpPr>
          <p:cNvPr id="32" name="Rectangle 31"/>
          <p:cNvSpPr/>
          <p:nvPr/>
        </p:nvSpPr>
        <p:spPr>
          <a:xfrm>
            <a:off x="5047488" y="5380820"/>
            <a:ext cx="663854" cy="873675"/>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4974336" y="5197940"/>
            <a:ext cx="840882" cy="164592"/>
          </a:xfrm>
          <a:prstGeom prst="rect">
            <a:avLst/>
          </a:prstGeom>
          <a:noFill/>
        </p:spPr>
        <p:txBody>
          <a:bodyPr wrap="square" lIns="0" rIns="0" tIns="0" bIns="0" anchor="t">
            <a:spAutoFit/>
          </a:bodyPr>
          <a:lstStyle/>
          <a:p>
            <a:pPr algn="ctr">
              <a:spcAft>
                <a:spcPts val="0"/>
              </a:spcAft>
            </a:pPr>
            <a:r>
              <a:rPr sz="680" b="0">
                <a:solidFill>
                  <a:srgbClr val="0B3041"/>
                </a:solidFill>
                <a:latin typeface="Arial"/>
                <a:ea typeface="Arial"/>
                <a:cs typeface="Arial"/>
              </a:rPr>
              <a:t>22,484</a:t>
            </a:r>
          </a:p>
        </p:txBody>
      </p:sp>
      <p:sp>
        <p:nvSpPr>
          <p:cNvPr id="34" name="TextBox 33"/>
          <p:cNvSpPr txBox="1"/>
          <p:nvPr/>
        </p:nvSpPr>
        <p:spPr>
          <a:xfrm>
            <a:off x="4974336" y="6300216"/>
            <a:ext cx="840882" cy="164592"/>
          </a:xfrm>
          <a:prstGeom prst="rect">
            <a:avLst/>
          </a:prstGeom>
          <a:noFill/>
        </p:spPr>
        <p:txBody>
          <a:bodyPr wrap="square" lIns="0" rIns="0" tIns="0" bIns="0" anchor="t">
            <a:spAutoFit/>
          </a:bodyPr>
          <a:lstStyle/>
          <a:p>
            <a:pPr algn="ctr">
              <a:spcAft>
                <a:spcPts val="0"/>
              </a:spcAft>
            </a:pPr>
            <a:r>
              <a:rPr sz="700" b="0">
                <a:solidFill>
                  <a:srgbClr val="5A6670"/>
                </a:solidFill>
                <a:latin typeface="Arial"/>
                <a:ea typeface="Arial"/>
                <a:cs typeface="Arial"/>
              </a:rPr>
              <a:t>26/5期</a:t>
            </a:r>
          </a:p>
        </p:txBody>
      </p:sp>
      <p:sp>
        <p:nvSpPr>
          <p:cNvPr id="35" name="Rectangle 34"/>
          <p:cNvSpPr/>
          <p:nvPr/>
        </p:nvSpPr>
        <p:spPr>
          <a:xfrm>
            <a:off x="530352" y="6254496"/>
            <a:ext cx="5641848" cy="13716"/>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6455664" y="1380744"/>
            <a:ext cx="3922776" cy="3108960"/>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547103" y="1453896"/>
            <a:ext cx="3739896" cy="274320"/>
          </a:xfrm>
          <a:prstGeom prst="rect">
            <a:avLst/>
          </a:prstGeom>
          <a:noFill/>
        </p:spPr>
        <p:txBody>
          <a:bodyPr wrap="square" lIns="0" rIns="0" t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38" name="TextBox 37"/>
          <p:cNvSpPr txBox="1"/>
          <p:nvPr/>
        </p:nvSpPr>
        <p:spPr>
          <a:xfrm>
            <a:off x="6565392" y="1801368"/>
            <a:ext cx="3703320" cy="2596896"/>
          </a:xfrm>
          <a:prstGeom prst="rect">
            <a:avLst/>
          </a:prstGeom>
          <a:noFill/>
        </p:spPr>
        <p:txBody>
          <a:bodyPr wrap="square" lIns="0" rIns="0" tIns="0" bIns="0" anchor="t">
            <a:spAutoFit/>
          </a:bodyPr>
          <a:lstStyle/>
          <a:p>
            <a:pPr algn="l">
              <a:lnSpc>
                <a:spcPct val="118000"/>
              </a:lnSpc>
              <a:spcAft>
                <a:spcPts val="200"/>
              </a:spcAft>
            </a:pPr>
            <a:r>
              <a:rPr sz="800" b="1">
                <a:solidFill>
                  <a:srgbClr val="0889C9"/>
                </a:solidFill>
                <a:latin typeface="游ゴシック"/>
                <a:ea typeface="游ゴシック"/>
                <a:cs typeface="游ゴシック"/>
              </a:rPr>
              <a:t>≪売上高≫ </a:t>
            </a:r>
            <a:r>
              <a:rPr sz="800" b="0">
                <a:solidFill>
                  <a:srgbClr val="1A1A1A"/>
                </a:solidFill>
                <a:latin typeface="游ゴシック"/>
                <a:ea typeface="游ゴシック"/>
                <a:cs typeface="游ゴシック"/>
              </a:rPr>
              <a:t>30,121→22,484千円（4期で△25.4%）。営業日数は203→200日とほぼ一定であり、減収は店頭日商の低下（86→75千円）による。</a:t>
            </a:r>
          </a:p>
          <a:p>
            <a:pPr algn="l">
              <a:spcAft>
                <a:spcPts val="200"/>
              </a:spcAft>
            </a:pPr>
          </a:p>
          <a:p>
            <a:pPr algn="l">
              <a:lnSpc>
                <a:spcPct val="118000"/>
              </a:lnSpc>
              <a:spcAft>
                <a:spcPts val="200"/>
              </a:spcAft>
            </a:pPr>
            <a:r>
              <a:rPr sz="800" b="1">
                <a:solidFill>
                  <a:srgbClr val="0889C9"/>
                </a:solidFill>
                <a:latin typeface="游ゴシック"/>
                <a:ea typeface="游ゴシック"/>
                <a:cs typeface="游ゴシック"/>
              </a:rPr>
              <a:t>≪売上総利益≫ </a:t>
            </a:r>
            <a:r>
              <a:rPr sz="800" b="0">
                <a:solidFill>
                  <a:srgbClr val="1A1A1A"/>
                </a:solidFill>
                <a:latin typeface="游ゴシック"/>
                <a:ea typeface="游ゴシック"/>
                <a:cs typeface="游ゴシック"/>
              </a:rPr>
              <a:t>粗利率は43.2→26.9％へ低下。製造原価の42.3％を占める減価償却費7,012千円が固定費であり、減収が粗利率低下に直結する。</a:t>
            </a:r>
          </a:p>
          <a:p>
            <a:pPr algn="l">
              <a:spcAft>
                <a:spcPts val="200"/>
              </a:spcAft>
            </a:pPr>
          </a:p>
          <a:p>
            <a:pPr algn="l">
              <a:lnSpc>
                <a:spcPct val="118000"/>
              </a:lnSpc>
              <a:spcAft>
                <a:spcPts val="200"/>
              </a:spcAft>
            </a:pPr>
            <a:r>
              <a:rPr sz="800" b="1">
                <a:solidFill>
                  <a:srgbClr val="0889C9"/>
                </a:solidFill>
                <a:latin typeface="游ゴシック"/>
                <a:ea typeface="游ゴシック"/>
                <a:cs typeface="游ゴシック"/>
              </a:rPr>
              <a:t>≪営業利益≫ </a:t>
            </a:r>
            <a:r>
              <a:rPr sz="800" b="0">
                <a:solidFill>
                  <a:srgbClr val="1A1A1A"/>
                </a:solidFill>
                <a:latin typeface="游ゴシック"/>
                <a:ea typeface="游ゴシック"/>
                <a:cs typeface="游ゴシック"/>
              </a:rPr>
              <a:t>2026/5期は△211千円。販管費6,267千円は前期比ほぼ横ばいで、赤字化は粗利の減少による。</a:t>
            </a:r>
          </a:p>
          <a:p>
            <a:pPr algn="l">
              <a:spcAft>
                <a:spcPts val="200"/>
              </a:spcAft>
            </a:pPr>
          </a:p>
          <a:p>
            <a:pPr algn="l">
              <a:lnSpc>
                <a:spcPct val="118000"/>
              </a:lnSpc>
              <a:spcAft>
                <a:spcPts val="200"/>
              </a:spcAft>
            </a:pPr>
            <a:r>
              <a:rPr sz="800" b="1">
                <a:solidFill>
                  <a:srgbClr val="0889C9"/>
                </a:solidFill>
                <a:latin typeface="游ゴシック"/>
                <a:ea typeface="游ゴシック"/>
                <a:cs typeface="游ゴシック"/>
              </a:rPr>
              <a:t>≪見通し≫ </a:t>
            </a:r>
            <a:r>
              <a:rPr sz="800" b="0">
                <a:solidFill>
                  <a:srgbClr val="1A1A1A"/>
                </a:solidFill>
                <a:latin typeface="游ゴシック"/>
                <a:ea typeface="游ゴシック"/>
                <a:cs typeface="游ゴシック"/>
              </a:rPr>
              <a:t>減価償却費は旧定額法・旧定率法の資産が中心で今後逓減。営業日数・営業時間の拡大が最も直接的な改善策（P.19）。</a:t>
            </a:r>
          </a:p>
        </p:txBody>
      </p:sp>
      <p:sp>
        <p:nvSpPr>
          <p:cNvPr id="39" name="Rectangle 38"/>
          <p:cNvSpPr/>
          <p:nvPr/>
        </p:nvSpPr>
        <p:spPr>
          <a:xfrm>
            <a:off x="6455664" y="4608576"/>
            <a:ext cx="3922776" cy="1975104"/>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547103" y="4681728"/>
            <a:ext cx="3739896" cy="274320"/>
          </a:xfrm>
          <a:prstGeom prst="rect">
            <a:avLst/>
          </a:prstGeom>
          <a:noFill/>
        </p:spPr>
        <p:txBody>
          <a:bodyPr wrap="square" lIns="0" rIns="0" tIns="0" bIns="0" anchor="t">
            <a:spAutoFit/>
          </a:bodyPr>
          <a:lstStyle/>
          <a:p>
            <a:pPr algn="l">
              <a:spcAft>
                <a:spcPts val="0"/>
              </a:spcAft>
            </a:pPr>
            <a:r>
              <a:rPr sz="1100" b="1">
                <a:solidFill>
                  <a:srgbClr val="0B3041"/>
                </a:solidFill>
                <a:latin typeface="游ゴシック"/>
                <a:ea typeface="游ゴシック"/>
                <a:cs typeface="游ゴシック"/>
              </a:rPr>
              <a:t>【調整項目】</a:t>
            </a:r>
          </a:p>
        </p:txBody>
      </p:sp>
      <p:sp>
        <p:nvSpPr>
          <p:cNvPr id="41" name="TextBox 40"/>
          <p:cNvSpPr txBox="1"/>
          <p:nvPr/>
        </p:nvSpPr>
        <p:spPr>
          <a:xfrm>
            <a:off x="6565392" y="5029200"/>
            <a:ext cx="3703320" cy="1463040"/>
          </a:xfrm>
          <a:prstGeom prst="rect">
            <a:avLst/>
          </a:prstGeom>
          <a:noFill/>
        </p:spPr>
        <p:txBody>
          <a:bodyPr wrap="square" lIns="0" rIns="0" tIns="0" bIns="0" anchor="t">
            <a:spAutoFit/>
          </a:bodyPr>
          <a:lstStyle/>
          <a:p>
            <a:pPr algn="l">
              <a:lnSpc>
                <a:spcPct val="118000"/>
              </a:lnSpc>
              <a:spcAft>
                <a:spcPts val="200"/>
              </a:spcAft>
            </a:pPr>
            <a:r>
              <a:rPr sz="800" b="1">
                <a:solidFill>
                  <a:srgbClr val="0889C9"/>
                </a:solidFill>
                <a:latin typeface="游ゴシック"/>
                <a:ea typeface="游ゴシック"/>
                <a:cs typeface="游ゴシック"/>
              </a:rPr>
              <a:t>≪P/L上の調整項目≫ </a:t>
            </a:r>
            <a:r>
              <a:rPr sz="800" b="0">
                <a:solidFill>
                  <a:srgbClr val="1A1A1A"/>
                </a:solidFill>
                <a:latin typeface="游ゴシック"/>
                <a:ea typeface="游ゴシック"/>
                <a:cs typeface="游ゴシック"/>
              </a:rPr>
              <a:t>加減算すべき項目は認められない。代表者・配偶者は無報酬のため加算すべき役員報酬はゼロ。補助金収入・圧縮記帳損等の非経常損益は営業外に計上。</a:t>
            </a:r>
          </a:p>
          <a:p>
            <a:pPr algn="l">
              <a:spcAft>
                <a:spcPts val="200"/>
              </a:spcAft>
            </a:pPr>
          </a:p>
          <a:p>
            <a:pPr algn="l">
              <a:spcAft>
                <a:spcPts val="200"/>
              </a:spcAft>
            </a:pPr>
            <a:r>
              <a:rPr sz="850" b="1">
                <a:solidFill>
                  <a:srgbClr val="0B3041"/>
                </a:solidFill>
                <a:latin typeface="游ゴシック"/>
                <a:ea typeface="游ゴシック"/>
                <a:cs typeface="游ゴシック"/>
              </a:rPr>
              <a:t>✓ 調整後EBITDA（過去3期平均）7,908千円</a:t>
            </a:r>
          </a:p>
          <a:p>
            <a:pPr algn="l">
              <a:spcAft>
                <a:spcPts val="200"/>
              </a:spcAft>
            </a:pPr>
            <a:r>
              <a:rPr sz="850" b="1">
                <a:solidFill>
                  <a:srgbClr val="0B3041"/>
                </a:solidFill>
                <a:latin typeface="游ゴシック"/>
                <a:ea typeface="游ゴシック"/>
                <a:cs typeface="游ゴシック"/>
              </a:rPr>
              <a:t>✓ 直近2期平均 7,688千円</a:t>
            </a:r>
          </a:p>
          <a:p>
            <a:pPr algn="l">
              <a:spcAft>
                <a:spcPts val="200"/>
              </a:spcAft>
            </a:pPr>
          </a:p>
          <a:p>
            <a:pPr algn="l">
              <a:lnSpc>
                <a:spcPct val="116000"/>
              </a:lnSpc>
              <a:spcAft>
                <a:spcPts val="200"/>
              </a:spcAft>
            </a:pPr>
            <a:r>
              <a:rPr sz="760" b="0">
                <a:solidFill>
                  <a:srgbClr val="5A6670"/>
                </a:solidFill>
                <a:latin typeface="游ゴシック"/>
                <a:ea typeface="游ゴシック"/>
                <a:cs typeface="游ゴシック"/>
              </a:rPr>
              <a:t>※ 代表者・配偶者は無報酬。職人人件費と稼働拡大を織り込んだ試算は P.19。</a:t>
            </a:r>
          </a:p>
        </p:txBody>
      </p:sp>
      <p:sp>
        <p:nvSpPr>
          <p:cNvPr id="42" name="TextBox 41"/>
          <p:cNvSpPr txBox="1"/>
          <p:nvPr/>
        </p:nvSpPr>
        <p:spPr>
          <a:xfrm>
            <a:off x="310896" y="6638544"/>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2022/5期・2023/5期は決算書からの直接転記。2024/5期以降は案件マスター（PLシート）の数値。調整後EBITDA＝営業利益＋減価償却費。</a:t>
            </a:r>
          </a:p>
          <a:p>
            <a:pPr algn="l">
              <a:lnSpc>
                <a:spcPct val="112000"/>
              </a:lnSpc>
              <a:spcAft>
                <a:spcPts val="100"/>
              </a:spcAft>
            </a:pPr>
            <a:r>
              <a:rPr sz="750" b="0">
                <a:solidFill>
                  <a:srgbClr val="5A6670"/>
                </a:solidFill>
                <a:latin typeface="游ゴシック"/>
                <a:ea typeface="游ゴシック"/>
                <a:cs typeface="游ゴシック"/>
              </a:rPr>
              <a:t>※ 減価償却費は製造原価報告書計上額（2024/5期のみ販管費115千円を含む）。</a:t>
            </a:r>
          </a:p>
        </p:txBody>
      </p:sp>
    </p:spTree>
    <p:extLst>
      <p:ext uri="{BB962C8B-B14F-4D97-AF65-F5344CB8AC3E}">
        <p14:creationId xmlns:p14="http://schemas.microsoft.com/office/powerpoint/2010/main" val="3016589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25D46-8BE9-D21F-8F78-292CE6E9B929}"/>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2AA39DD4-3E77-6023-715D-76F64D8C46A7}"/>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財務ハイライト（B/S）</a:t>
            </a:r>
          </a:p>
        </p:txBody>
      </p:sp>
      <p:sp>
        <p:nvSpPr>
          <p:cNvPr id="5" name="タイトル 1">
            <a:extLst>
              <a:ext uri="{FF2B5EF4-FFF2-40B4-BE49-F238E27FC236}">
                <a16:creationId xmlns:a16="http://schemas.microsoft.com/office/drawing/2014/main" id="{393BEF8A-36B7-CC08-2D29-C971912378C9}"/>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a:latin typeface="游ゴシック"/>
                <a:ea typeface="游ゴシック"/>
                <a:cs typeface="游ゴシック"/>
              </a:rPr>
              <a:t>エグゼクティブサマリー</a:t>
            </a:r>
          </a:p>
        </p:txBody>
      </p:sp>
      <p:sp>
        <p:nvSpPr>
          <p:cNvPr id="11" name="字幕 13">
            <a:extLst>
              <a:ext uri="{FF2B5EF4-FFF2-40B4-BE49-F238E27FC236}">
                <a16:creationId xmlns:a16="http://schemas.microsoft.com/office/drawing/2014/main" id="{4BDEA35E-AAC5-A70B-357F-0FB600B4A83F}"/>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金融機関借入はゼロ。負債33,673千円のうち32,744千円は代表者・配偶者からの無利息借入で、実質的な純資産は厚い</a:t>
            </a:r>
            <a:endParaRPr lang="en-US" altLang="ja-JP" dirty="0"/>
          </a:p>
        </p:txBody>
      </p:sp>
      <p:graphicFrame>
        <p:nvGraphicFramePr>
          <p:cNvPr id="14" name="Table 13"/>
          <p:cNvGraphicFramePr>
            <a:graphicFrameLocks noGrp="1"/>
          </p:cNvGraphicFramePr>
          <p:nvPr/>
        </p:nvGraphicFramePr>
        <p:xfrm>
          <a:off x="338328" y="1380744"/>
          <a:ext cx="5001766" cy="3570732"/>
        </p:xfrm>
        <a:graphic>
          <a:graphicData uri="http://schemas.openxmlformats.org/drawingml/2006/table">
            <a:tbl>
              <a:tblPr firstRow="0" bandRow="0">
                <a:tableStyleId>{5940675A-B579-460E-94D1-54222C63F5DA}</a:tableStyleId>
              </a:tblPr>
              <a:tblGrid>
                <a:gridCol w="1641801"/>
                <a:gridCol w="801810"/>
                <a:gridCol w="114544"/>
                <a:gridCol w="1641801"/>
                <a:gridCol w="801810"/>
              </a:tblGrid>
              <a:tr h="228600">
                <a:tc>
                  <a:txBody>
                    <a:bodyPr wrap="square"/>
                    <a:lstStyle/>
                    <a:p>
                      <a:pPr algn="ctr">
                        <a:spcAft>
                          <a:spcPts val="0"/>
                        </a:spcAft>
                      </a:pPr>
                      <a:r>
                        <a:rPr sz="800" b="1">
                          <a:solidFill>
                            <a:srgbClr val="FFFFFF"/>
                          </a:solidFill>
                          <a:latin typeface="游ゴシック"/>
                          <a:ea typeface="游ゴシック"/>
                          <a:cs typeface="游ゴシック"/>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2026/5期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　</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2026/5期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6596">
                <a:tc>
                  <a:txBody>
                    <a:bodyPr wrap="square"/>
                    <a:lstStyle/>
                    <a:p>
                      <a:pPr algn="l">
                        <a:spcAft>
                          <a:spcPts val="0"/>
                        </a:spcAft>
                      </a:pPr>
                      <a:r>
                        <a:rPr sz="800" b="1">
                          <a:solidFill>
                            <a:srgbClr val="1A1A1A"/>
                          </a:solidFill>
                          <a:latin typeface="游ゴシック"/>
                          <a:ea typeface="游ゴシック"/>
                          <a:cs typeface="游ゴシック"/>
                        </a:rPr>
                        <a:t>【流動資産】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6,989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1">
                          <a:solidFill>
                            <a:srgbClr val="1A1A1A"/>
                          </a:solidFill>
                          <a:latin typeface="游ゴシック"/>
                          <a:ea typeface="游ゴシック"/>
                          <a:cs typeface="游ゴシック"/>
                        </a:rPr>
                        <a:t>【流動負債】</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929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6596">
                <a:tc>
                  <a:txBody>
                    <a:bodyPr wrap="square"/>
                    <a:lstStyle/>
                    <a:p>
                      <a:pPr algn="l">
                        <a:spcAft>
                          <a:spcPts val="0"/>
                        </a:spcAft>
                      </a:pPr>
                      <a:r>
                        <a:rPr sz="800" b="0">
                          <a:solidFill>
                            <a:srgbClr val="1A1A1A"/>
                          </a:solidFill>
                          <a:latin typeface="游ゴシック"/>
                          <a:ea typeface="游ゴシック"/>
                          <a:cs typeface="游ゴシック"/>
                        </a:rPr>
                        <a:t>　現金及び預金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1,066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　未払金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550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6596">
                <a:tc>
                  <a:txBody>
                    <a:bodyPr wrap="square"/>
                    <a:lstStyle/>
                    <a:p>
                      <a:pPr algn="l">
                        <a:spcAft>
                          <a:spcPts val="0"/>
                        </a:spcAft>
                      </a:pPr>
                      <a:r>
                        <a:rPr sz="800" b="0">
                          <a:solidFill>
                            <a:srgbClr val="1A1A1A"/>
                          </a:solidFill>
                          <a:latin typeface="游ゴシック"/>
                          <a:ea typeface="游ゴシック"/>
                          <a:cs typeface="游ゴシック"/>
                        </a:rPr>
                        <a:t>　棚卸資産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2,354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　未払法人税等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36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6596">
                <a:tc>
                  <a:txBody>
                    <a:bodyPr wrap="square"/>
                    <a:lstStyle/>
                    <a:p>
                      <a:pPr algn="l">
                        <a:spcAft>
                          <a:spcPts val="0"/>
                        </a:spcAft>
                      </a:pPr>
                      <a:r>
                        <a:rPr sz="800" b="0">
                          <a:solidFill>
                            <a:srgbClr val="1A1A1A"/>
                          </a:solidFill>
                          <a:latin typeface="游ゴシック"/>
                          <a:ea typeface="游ゴシック"/>
                          <a:cs typeface="游ゴシック"/>
                        </a:rPr>
                        <a:t>　前払費用</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77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　未払消費税等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343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6596">
                <a:tc>
                  <a:txBody>
                    <a:bodyPr wrap="square"/>
                    <a:lstStyle/>
                    <a:p>
                      <a:pPr algn="l">
                        <a:spcAft>
                          <a:spcPts val="0"/>
                        </a:spcAft>
                      </a:pPr>
                      <a:r>
                        <a:rPr sz="800" b="0">
                          <a:solidFill>
                            <a:srgbClr val="1A1A1A"/>
                          </a:solidFill>
                          <a:latin typeface="游ゴシック"/>
                          <a:ea typeface="游ゴシック"/>
                          <a:cs typeface="游ゴシック"/>
                        </a:rPr>
                        <a:t>　未収入金 ※1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3,323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【固定負債】</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32,744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6596">
                <a:tc>
                  <a:txBody>
                    <a:bodyPr wrap="square"/>
                    <a:lstStyle/>
                    <a:p>
                      <a:pPr algn="l">
                        <a:spcAft>
                          <a:spcPts val="0"/>
                        </a:spcAft>
                      </a:pPr>
                      <a:r>
                        <a:rPr sz="800" b="0">
                          <a:solidFill>
                            <a:srgbClr val="1A1A1A"/>
                          </a:solidFill>
                          <a:latin typeface="游ゴシック"/>
                          <a:ea typeface="游ゴシック"/>
                          <a:cs typeface="游ゴシック"/>
                        </a:rPr>
                        <a:t>　未収還付法人税等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170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　長期借入金 ※5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32,744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6596">
                <a:tc>
                  <a:txBody>
                    <a:bodyPr wrap="square"/>
                    <a:lstStyle/>
                    <a:p>
                      <a:pPr algn="l">
                        <a:spcAft>
                          <a:spcPts val="0"/>
                        </a:spcAft>
                      </a:pPr>
                      <a:r>
                        <a:rPr sz="800" b="1">
                          <a:solidFill>
                            <a:srgbClr val="1A1A1A"/>
                          </a:solidFill>
                          <a:latin typeface="游ゴシック"/>
                          <a:ea typeface="游ゴシック"/>
                          <a:cs typeface="游ゴシック"/>
                        </a:rPr>
                        <a:t>【固定資産】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50,341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1">
                          <a:solidFill>
                            <a:srgbClr val="1A1A1A"/>
                          </a:solidFill>
                          <a:latin typeface="游ゴシック"/>
                          <a:ea typeface="游ゴシック"/>
                          <a:cs typeface="游ゴシック"/>
                        </a:rPr>
                        <a:t>負債合計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33,673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6596">
                <a:tc>
                  <a:txBody>
                    <a:bodyPr wrap="square"/>
                    <a:lstStyle/>
                    <a:p>
                      <a:pPr algn="l">
                        <a:spcAft>
                          <a:spcPts val="0"/>
                        </a:spcAft>
                      </a:pPr>
                      <a:r>
                        <a:rPr sz="800" b="0">
                          <a:solidFill>
                            <a:srgbClr val="1A1A1A"/>
                          </a:solidFill>
                          <a:latin typeface="游ゴシック"/>
                          <a:ea typeface="游ゴシック"/>
                          <a:cs typeface="游ゴシック"/>
                        </a:rPr>
                        <a:t>　建物 ※2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39,249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　資本金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10,000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6596">
                <a:tc>
                  <a:txBody>
                    <a:bodyPr wrap="square"/>
                    <a:lstStyle/>
                    <a:p>
                      <a:pPr algn="l">
                        <a:spcAft>
                          <a:spcPts val="0"/>
                        </a:spcAft>
                      </a:pPr>
                      <a:r>
                        <a:rPr sz="800" b="0">
                          <a:solidFill>
                            <a:srgbClr val="1A1A1A"/>
                          </a:solidFill>
                          <a:latin typeface="游ゴシック"/>
                          <a:ea typeface="游ゴシック"/>
                          <a:cs typeface="游ゴシック"/>
                        </a:rPr>
                        <a:t>　構築物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43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　利益剰余金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13,658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6596">
                <a:tc>
                  <a:txBody>
                    <a:bodyPr wrap="square"/>
                    <a:lstStyle/>
                    <a:p>
                      <a:pPr algn="l">
                        <a:spcAft>
                          <a:spcPts val="0"/>
                        </a:spcAft>
                      </a:pPr>
                      <a:r>
                        <a:rPr sz="800" b="0">
                          <a:solidFill>
                            <a:srgbClr val="1A1A1A"/>
                          </a:solidFill>
                          <a:latin typeface="游ゴシック"/>
                          <a:ea typeface="游ゴシック"/>
                          <a:cs typeface="游ゴシック"/>
                        </a:rPr>
                        <a:t>　機械及び装置</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4,219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純資産合計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23,658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6596">
                <a:tc>
                  <a:txBody>
                    <a:bodyPr wrap="square"/>
                    <a:lstStyle/>
                    <a:p>
                      <a:pPr algn="l">
                        <a:spcAft>
                          <a:spcPts val="0"/>
                        </a:spcAft>
                      </a:pPr>
                      <a:r>
                        <a:rPr sz="800" b="0">
                          <a:solidFill>
                            <a:srgbClr val="1A1A1A"/>
                          </a:solidFill>
                          <a:latin typeface="游ゴシック"/>
                          <a:ea typeface="游ゴシック"/>
                          <a:cs typeface="游ゴシック"/>
                        </a:rPr>
                        <a:t>　車両運搬具 ※3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負債・純資産合計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57,330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6596">
                <a:tc>
                  <a:txBody>
                    <a:bodyPr wrap="square"/>
                    <a:lstStyle/>
                    <a:p>
                      <a:pPr algn="l">
                        <a:spcAft>
                          <a:spcPts val="0"/>
                        </a:spcAft>
                      </a:pPr>
                      <a:r>
                        <a:rPr sz="800" b="0">
                          <a:solidFill>
                            <a:srgbClr val="1A1A1A"/>
                          </a:solidFill>
                          <a:latin typeface="游ゴシック"/>
                          <a:ea typeface="游ゴシック"/>
                          <a:cs typeface="游ゴシック"/>
                        </a:rPr>
                        <a:t>　工具、器具及び備品</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1,677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6596">
                <a:tc>
                  <a:txBody>
                    <a:bodyPr wrap="square"/>
                    <a:lstStyle/>
                    <a:p>
                      <a:pPr algn="l">
                        <a:spcAft>
                          <a:spcPts val="0"/>
                        </a:spcAft>
                      </a:pPr>
                      <a:r>
                        <a:rPr sz="800" b="0">
                          <a:solidFill>
                            <a:srgbClr val="1A1A1A"/>
                          </a:solidFill>
                          <a:latin typeface="游ゴシック"/>
                          <a:ea typeface="游ゴシック"/>
                          <a:cs typeface="游ゴシック"/>
                        </a:rPr>
                        <a:t>　土地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3,450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6596">
                <a:tc>
                  <a:txBody>
                    <a:bodyPr wrap="square"/>
                    <a:lstStyle/>
                    <a:p>
                      <a:pPr algn="l">
                        <a:spcAft>
                          <a:spcPts val="0"/>
                        </a:spcAft>
                      </a:pPr>
                      <a:r>
                        <a:rPr sz="800" b="0">
                          <a:solidFill>
                            <a:srgbClr val="1A1A1A"/>
                          </a:solidFill>
                          <a:latin typeface="游ゴシック"/>
                          <a:ea typeface="游ゴシック"/>
                          <a:cs typeface="游ゴシック"/>
                        </a:rPr>
                        <a:t>　リース資産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528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6596">
                <a:tc>
                  <a:txBody>
                    <a:bodyPr wrap="square"/>
                    <a:lstStyle/>
                    <a:p>
                      <a:pPr algn="l">
                        <a:spcAft>
                          <a:spcPts val="0"/>
                        </a:spcAft>
                      </a:pPr>
                      <a:r>
                        <a:rPr sz="800" b="0">
                          <a:solidFill>
                            <a:srgbClr val="1A1A1A"/>
                          </a:solidFill>
                          <a:latin typeface="游ゴシック"/>
                          <a:ea typeface="游ゴシック"/>
                          <a:cs typeface="游ゴシック"/>
                        </a:rPr>
                        <a:t>　電話加入権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6596">
                <a:tc>
                  <a:txBody>
                    <a:bodyPr wrap="square"/>
                    <a:lstStyle/>
                    <a:p>
                      <a:pPr algn="l">
                        <a:spcAft>
                          <a:spcPts val="0"/>
                        </a:spcAft>
                      </a:pPr>
                      <a:r>
                        <a:rPr sz="800" b="0">
                          <a:solidFill>
                            <a:srgbClr val="1A1A1A"/>
                          </a:solidFill>
                          <a:latin typeface="游ゴシック"/>
                          <a:ea typeface="游ゴシック"/>
                          <a:cs typeface="游ゴシック"/>
                        </a:rPr>
                        <a:t>　出資金 ※4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1,100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6596">
                <a:tc>
                  <a:txBody>
                    <a:bodyPr wrap="square"/>
                    <a:lstStyle/>
                    <a:p>
                      <a:pPr algn="l">
                        <a:spcAft>
                          <a:spcPts val="0"/>
                        </a:spcAft>
                      </a:pPr>
                      <a:r>
                        <a:rPr sz="800" b="0">
                          <a:solidFill>
                            <a:srgbClr val="1A1A1A"/>
                          </a:solidFill>
                          <a:latin typeface="游ゴシック"/>
                          <a:ea typeface="游ゴシック"/>
                          <a:cs typeface="游ゴシック"/>
                        </a:rPr>
                        <a:t>資産合計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57,330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5" name="Rectangle 14"/>
          <p:cNvSpPr/>
          <p:nvPr/>
        </p:nvSpPr>
        <p:spPr>
          <a:xfrm>
            <a:off x="5559552" y="1380744"/>
            <a:ext cx="4791456" cy="2505456"/>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650992" y="1453896"/>
            <a:ext cx="4608576" cy="274320"/>
          </a:xfrm>
          <a:prstGeom prst="rect">
            <a:avLst/>
          </a:prstGeom>
          <a:noFill/>
        </p:spPr>
        <p:txBody>
          <a:bodyPr wrap="square" lIns="0" rIns="0" t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17" name="TextBox 16"/>
          <p:cNvSpPr txBox="1"/>
          <p:nvPr/>
        </p:nvSpPr>
        <p:spPr>
          <a:xfrm>
            <a:off x="5669280" y="1801368"/>
            <a:ext cx="4572000" cy="1993392"/>
          </a:xfrm>
          <a:prstGeom prst="rect">
            <a:avLst/>
          </a:prstGeom>
          <a:noFill/>
        </p:spPr>
        <p:txBody>
          <a:bodyPr wrap="square" lIns="0" rIns="0" tIns="0" bIns="0" anchor="t">
            <a:spAutoFit/>
          </a:bodyPr>
          <a:lstStyle/>
          <a:p>
            <a:pPr algn="l">
              <a:lnSpc>
                <a:spcPct val="118000"/>
              </a:lnSpc>
              <a:spcAft>
                <a:spcPts val="200"/>
              </a:spcAft>
            </a:pPr>
            <a:r>
              <a:rPr sz="800" b="1">
                <a:solidFill>
                  <a:srgbClr val="0889C9"/>
                </a:solidFill>
                <a:latin typeface="游ゴシック"/>
                <a:ea typeface="游ゴシック"/>
                <a:cs typeface="游ゴシック"/>
              </a:rPr>
              <a:t>≪建物 39,249千円≫ </a:t>
            </a:r>
            <a:r>
              <a:rPr sz="800" b="0">
                <a:solidFill>
                  <a:srgbClr val="1A1A1A"/>
                </a:solidFill>
                <a:latin typeface="游ゴシック"/>
                <a:ea typeface="游ゴシック"/>
                <a:cs typeface="游ゴシック"/>
              </a:rPr>
              <a:t>取得価額104,599千円。代表者が設計し私財を投じた板倉造・茅葺きの店舗。うち塩町館関連5,442千円は当社の事業に未供用。店舗建物は未登記。</a:t>
            </a:r>
          </a:p>
          <a:p>
            <a:pPr algn="l">
              <a:spcAft>
                <a:spcPts val="200"/>
              </a:spcAft>
            </a:pPr>
          </a:p>
          <a:p>
            <a:pPr algn="l">
              <a:lnSpc>
                <a:spcPct val="118000"/>
              </a:lnSpc>
              <a:spcAft>
                <a:spcPts val="200"/>
              </a:spcAft>
            </a:pPr>
            <a:r>
              <a:rPr sz="800" b="1">
                <a:solidFill>
                  <a:srgbClr val="0889C9"/>
                </a:solidFill>
                <a:latin typeface="游ゴシック"/>
                <a:ea typeface="游ゴシック"/>
                <a:cs typeface="游ゴシック"/>
              </a:rPr>
              <a:t>≪長期借入金 32,744千円≫ </a:t>
            </a:r>
            <a:r>
              <a:rPr sz="800" b="0">
                <a:solidFill>
                  <a:srgbClr val="1A1A1A"/>
                </a:solidFill>
                <a:latin typeface="游ゴシック"/>
                <a:ea typeface="游ゴシック"/>
                <a:cs typeface="游ゴシック"/>
              </a:rPr>
              <a:t>全額が代表者（9,518千円）・配偶者（23,226千円）からの借入。金融機関借入・連帯保証はなく利息の支払もない。本件実行時の取扱いは応相談。</a:t>
            </a:r>
          </a:p>
          <a:p>
            <a:pPr algn="l">
              <a:spcAft>
                <a:spcPts val="200"/>
              </a:spcAft>
            </a:pPr>
          </a:p>
          <a:p>
            <a:pPr algn="l">
              <a:lnSpc>
                <a:spcPct val="118000"/>
              </a:lnSpc>
              <a:spcAft>
                <a:spcPts val="200"/>
              </a:spcAft>
            </a:pPr>
            <a:r>
              <a:rPr sz="800" b="1">
                <a:solidFill>
                  <a:srgbClr val="0889C9"/>
                </a:solidFill>
                <a:latin typeface="游ゴシック"/>
                <a:ea typeface="游ゴシック"/>
                <a:cs typeface="游ゴシック"/>
              </a:rPr>
              <a:t>≪未収入金 3,323千円 ※1≫ </a:t>
            </a:r>
            <a:r>
              <a:rPr sz="800" b="0">
                <a:solidFill>
                  <a:srgbClr val="1A1A1A"/>
                </a:solidFill>
                <a:latin typeface="游ゴシック"/>
                <a:ea typeface="游ゴシック"/>
                <a:cs typeface="游ゴシック"/>
              </a:rPr>
              <a:t>塩町館2,624千円・小びと699千円。2,152→2,737→3,323千円と3期連続で増加しており、回収条件・回収可能性は要確認。</a:t>
            </a:r>
          </a:p>
        </p:txBody>
      </p:sp>
      <p:sp>
        <p:nvSpPr>
          <p:cNvPr id="18" name="Rectangle 17"/>
          <p:cNvSpPr/>
          <p:nvPr/>
        </p:nvSpPr>
        <p:spPr>
          <a:xfrm>
            <a:off x="5559552" y="4005072"/>
            <a:ext cx="4791456" cy="2578608"/>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650992" y="4078224"/>
            <a:ext cx="4608576" cy="274320"/>
          </a:xfrm>
          <a:prstGeom prst="rect">
            <a:avLst/>
          </a:prstGeom>
          <a:noFill/>
        </p:spPr>
        <p:txBody>
          <a:bodyPr wrap="square" lIns="0" rIns="0" tIns="0" bIns="0" anchor="t">
            <a:spAutoFit/>
          </a:bodyPr>
          <a:lstStyle/>
          <a:p>
            <a:pPr algn="l">
              <a:spcAft>
                <a:spcPts val="0"/>
              </a:spcAft>
            </a:pPr>
            <a:r>
              <a:rPr sz="1100" b="1">
                <a:solidFill>
                  <a:srgbClr val="0B3041"/>
                </a:solidFill>
                <a:latin typeface="游ゴシック"/>
                <a:ea typeface="游ゴシック"/>
                <a:cs typeface="游ゴシック"/>
              </a:rPr>
              <a:t>【時価修正の着眼点】</a:t>
            </a:r>
          </a:p>
        </p:txBody>
      </p:sp>
      <p:sp>
        <p:nvSpPr>
          <p:cNvPr id="20" name="TextBox 19"/>
          <p:cNvSpPr txBox="1"/>
          <p:nvPr/>
        </p:nvSpPr>
        <p:spPr>
          <a:xfrm>
            <a:off x="5669280" y="4425696"/>
            <a:ext cx="4572000" cy="2066543"/>
          </a:xfrm>
          <a:prstGeom prst="rect">
            <a:avLst/>
          </a:prstGeom>
          <a:noFill/>
        </p:spPr>
        <p:txBody>
          <a:bodyPr wrap="square" lIns="0" rIns="0" tIns="0" bIns="0" anchor="t">
            <a:spAutoFit/>
          </a:bodyPr>
          <a:lstStyle/>
          <a:p>
            <a:pPr algn="l">
              <a:lnSpc>
                <a:spcPct val="118000"/>
              </a:lnSpc>
              <a:spcAft>
                <a:spcPts val="200"/>
              </a:spcAft>
            </a:pPr>
            <a:r>
              <a:rPr sz="800" b="1">
                <a:solidFill>
                  <a:srgbClr val="0889C9"/>
                </a:solidFill>
                <a:latin typeface="游ゴシック"/>
                <a:ea typeface="游ゴシック"/>
                <a:cs typeface="游ゴシック"/>
              </a:rPr>
              <a:t>≪土地 3,450千円≫ </a:t>
            </a:r>
            <a:r>
              <a:rPr sz="800" b="0">
                <a:solidFill>
                  <a:srgbClr val="1A1A1A"/>
                </a:solidFill>
                <a:latin typeface="游ゴシック"/>
                <a:ea typeface="游ゴシック"/>
                <a:cs typeface="游ゴシック"/>
              </a:rPr>
              <a:t>簿価は取得原価。路線価・固定資産税評価額による時価評価は未実施（要確認）。</a:t>
            </a:r>
          </a:p>
          <a:p>
            <a:pPr algn="l">
              <a:spcAft>
                <a:spcPts val="200"/>
              </a:spcAft>
            </a:pPr>
          </a:p>
          <a:p>
            <a:pPr algn="l">
              <a:lnSpc>
                <a:spcPct val="118000"/>
              </a:lnSpc>
              <a:spcAft>
                <a:spcPts val="200"/>
              </a:spcAft>
            </a:pPr>
            <a:r>
              <a:rPr sz="800" b="1">
                <a:solidFill>
                  <a:srgbClr val="0889C9"/>
                </a:solidFill>
                <a:latin typeface="游ゴシック"/>
                <a:ea typeface="游ゴシック"/>
                <a:cs typeface="游ゴシック"/>
              </a:rPr>
              <a:t>≪車両運搬具 2千円 ※3≫ </a:t>
            </a:r>
            <a:r>
              <a:rPr sz="800" b="0">
                <a:solidFill>
                  <a:srgbClr val="1A1A1A"/>
                </a:solidFill>
                <a:latin typeface="游ゴシック"/>
                <a:ea typeface="游ゴシック"/>
                <a:cs typeface="游ゴシック"/>
              </a:rPr>
              <a:t>ローバー車・シトロエン2CVフォルゴネットの2台。いずれも償却済（簿価1円）で、時価評価の余地あり。譲渡対象の要否は要協議。</a:t>
            </a:r>
          </a:p>
          <a:p>
            <a:pPr algn="l">
              <a:spcAft>
                <a:spcPts val="200"/>
              </a:spcAft>
            </a:pPr>
          </a:p>
          <a:p>
            <a:pPr algn="l">
              <a:lnSpc>
                <a:spcPct val="118000"/>
              </a:lnSpc>
              <a:spcAft>
                <a:spcPts val="200"/>
              </a:spcAft>
            </a:pPr>
            <a:r>
              <a:rPr sz="800" b="1">
                <a:solidFill>
                  <a:srgbClr val="0889C9"/>
                </a:solidFill>
                <a:latin typeface="游ゴシック"/>
                <a:ea typeface="游ゴシック"/>
                <a:cs typeface="游ゴシック"/>
              </a:rPr>
              <a:t>≪出資金 1,100千円 ※4≫ </a:t>
            </a:r>
            <a:r>
              <a:rPr sz="800" b="0">
                <a:solidFill>
                  <a:srgbClr val="1A1A1A"/>
                </a:solidFill>
                <a:latin typeface="游ゴシック"/>
                <a:ea typeface="游ゴシック"/>
                <a:cs typeface="游ゴシック"/>
              </a:rPr>
              <a:t>（株）慈久庵咸亨酒1,000千円、（株）慈久庵伊勢又100千円。いずれも関係会社であり本件での取扱いは要協議。</a:t>
            </a:r>
          </a:p>
          <a:p>
            <a:pPr algn="l">
              <a:spcAft>
                <a:spcPts val="200"/>
              </a:spcAft>
            </a:pPr>
          </a:p>
          <a:p>
            <a:pPr algn="l">
              <a:lnSpc>
                <a:spcPct val="118000"/>
              </a:lnSpc>
              <a:spcAft>
                <a:spcPts val="200"/>
              </a:spcAft>
            </a:pPr>
            <a:r>
              <a:rPr sz="800" b="1">
                <a:solidFill>
                  <a:srgbClr val="0889C9"/>
                </a:solidFill>
                <a:latin typeface="游ゴシック"/>
                <a:ea typeface="游ゴシック"/>
                <a:cs typeface="游ゴシック"/>
              </a:rPr>
              <a:t>≪簿外の価値≫ </a:t>
            </a:r>
            <a:r>
              <a:rPr sz="800" b="0">
                <a:solidFill>
                  <a:srgbClr val="1A1A1A"/>
                </a:solidFill>
                <a:latin typeface="游ゴシック"/>
                <a:ea typeface="游ゴシック"/>
                <a:cs typeface="游ゴシック"/>
              </a:rPr>
              <a:t>商標権（登録4件）は償却済で簿価ゼロ。「慈久庵」「古式けんちんそば」のブランド価値はB/Sに反映されていない。</a:t>
            </a:r>
          </a:p>
        </p:txBody>
      </p:sp>
      <p:sp>
        <p:nvSpPr>
          <p:cNvPr id="21" name="TextBox 20"/>
          <p:cNvSpPr txBox="1"/>
          <p:nvPr/>
        </p:nvSpPr>
        <p:spPr>
          <a:xfrm>
            <a:off x="310896" y="6675120"/>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2026年5月期（2026年5月31日）の決算書および勘定科目内訳明細書に基づく。時価純資産の算定は未了。千円未満の端数処理により合計が一致しない場合がある。</a:t>
            </a:r>
          </a:p>
        </p:txBody>
      </p:sp>
    </p:spTree>
    <p:extLst>
      <p:ext uri="{BB962C8B-B14F-4D97-AF65-F5344CB8AC3E}">
        <p14:creationId xmlns:p14="http://schemas.microsoft.com/office/powerpoint/2010/main" val="4030334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7" name="タイトル 6">
            <a:extLst>
              <a:ext uri="{FF2B5EF4-FFF2-40B4-BE49-F238E27FC236}">
                <a16:creationId xmlns:a16="http://schemas.microsoft.com/office/drawing/2014/main" id="{5297D612-8E56-9402-459F-FE068C2C5D1A}"/>
              </a:ext>
            </a:extLst>
          </p:cNvPr>
          <p:cNvSpPr>
            <a:spLocks noGrp="1"/>
          </p:cNvSpPr>
          <p:nvPr>
            <p:ph type="ctrTitle"/>
          </p:nvPr>
        </p:nvSpPr>
        <p:spPr>
          <a:xfrm>
            <a:off x="341313" y="180296"/>
            <a:ext cx="7799917" cy="339267"/>
          </a:xfrm>
        </p:spPr>
        <p:txBody>
          <a:bodyPr/>
          <a:lstStyle/>
          <a:p>
            <a:r>
              <a:rPr lang="zh-CN" altLang="en-US" dirty="0">
                <a:solidFill/>
              </a:rPr>
              <a:t>譲渡希望条件</a:t>
            </a:r>
          </a:p>
        </p:txBody>
      </p:sp>
      <p:sp>
        <p:nvSpPr>
          <p:cNvPr id="9" name="タイトル 1">
            <a:extLst>
              <a:ext uri="{FF2B5EF4-FFF2-40B4-BE49-F238E27FC236}">
                <a16:creationId xmlns:a16="http://schemas.microsoft.com/office/drawing/2014/main" id="{203C135E-3923-6D8E-447A-FF4DC0536B9B}"/>
              </a:ext>
            </a:extLst>
          </p:cNvPr>
          <p:cNvSpPr txBox="1">
            <a:spLocks/>
          </p:cNvSpPr>
          <p:nvPr/>
        </p:nvSpPr>
        <p:spPr>
          <a:xfrm>
            <a:off x="8366333" y="252154"/>
            <a:ext cx="1984167" cy="184666"/>
          </a:xfrm>
          <a:prstGeom prst="rect">
            <a:avLst/>
          </a:prstGeom>
        </p:spPr>
        <p:txBody>
          <a:bodyPr vert="horz" lIns="0" tIns="0" rIns="0" bIns="0" rtlCol="0" anchor="ctr">
            <a:spAutoFit/>
          </a:bodyPr>
          <a:lstStyle>
            <a:defPPr marR="0" lvl="0" algn="l" rtl="0">
              <a:lnSpc>
                <a:spcPct val="100000"/>
              </a:lnSpc>
              <a:spcBef>
                <a:spcPts val="0"/>
              </a:spcBef>
              <a:spcAft>
                <a:spcPts val="0"/>
              </a:spcAft>
              <a:defRPr/>
            </a:defPPr>
            <a:lvl1pPr algn="r" defTabSz="914400" eaLnBrk="1" latinLnBrk="0" hangingPunct="1">
              <a:spcBef>
                <a:spcPct val="0"/>
              </a:spcBef>
              <a:buClr>
                <a:schemeClr val="bg1"/>
              </a:buClr>
              <a:buNone/>
              <a:defRPr kumimoji="1" sz="1200" b="1" kern="1200" spc="55">
                <a:solidFill>
                  <a:schemeClr val="bg1"/>
                </a:solidFill>
                <a:latin typeface="+mj-lt"/>
                <a:ea typeface="+mj-ea"/>
                <a:cs typeface="+mj-cs"/>
              </a:defRPr>
            </a:lvl1pPr>
          </a:lstStyle>
          <a:p>
            <a:r>
              <a:rPr sz="1200" b="1">
                <a:latin typeface="游ゴシック"/>
                <a:ea typeface="游ゴシック"/>
                <a:cs typeface="游ゴシック"/>
              </a:rPr>
              <a:t>　エグゼクティブサマリー</a:t>
            </a:r>
          </a:p>
        </p:txBody>
      </p:sp>
      <p:sp>
        <p:nvSpPr>
          <p:cNvPr id="18" name="正方形/長方形 17">
            <a:extLst>
              <a:ext uri="{FF2B5EF4-FFF2-40B4-BE49-F238E27FC236}">
                <a16:creationId xmlns:a16="http://schemas.microsoft.com/office/drawing/2014/main" id="{77AE94F8-D910-3328-173F-F4A99716CFE7}"/>
              </a:ext>
            </a:extLst>
          </p:cNvPr>
          <p:cNvSpPr/>
          <p:nvPr/>
        </p:nvSpPr>
        <p:spPr>
          <a:xfrm>
            <a:off x="449262" y="1225957"/>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2" name="直線コネクタ 21">
            <a:extLst>
              <a:ext uri="{FF2B5EF4-FFF2-40B4-BE49-F238E27FC236}">
                <a16:creationId xmlns:a16="http://schemas.microsoft.com/office/drawing/2014/main" id="{1928CBFA-2EBE-A608-C5BF-40E5AFFAF1AD}"/>
              </a:ext>
            </a:extLst>
          </p:cNvPr>
          <p:cNvCxnSpPr>
            <a:cxnSpLocks/>
          </p:cNvCxnSpPr>
          <p:nvPr/>
        </p:nvCxnSpPr>
        <p:spPr>
          <a:xfrm>
            <a:off x="3133558" y="1349963"/>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FFFB131C-8535-2A88-A3C8-FF60589D2A11}"/>
              </a:ext>
            </a:extLst>
          </p:cNvPr>
          <p:cNvSpPr txBox="1"/>
          <p:nvPr/>
        </p:nvSpPr>
        <p:spPr>
          <a:xfrm>
            <a:off x="3151380" y="1703936"/>
            <a:ext cx="7074659" cy="338554"/>
          </a:xfrm>
          <a:prstGeom prst="rect">
            <a:avLst/>
          </a:prstGeom>
          <a:noFill/>
        </p:spPr>
        <p:txBody>
          <a:bodyPr wrap="square" lIns="1440000" tIns="0" rIns="0" bIns="0" rtlCol="0" anchor="ctr">
            <a:spAutoFit/>
          </a:bodyPr>
          <a:lstStyle/>
          <a:p>
            <a:pPr>
              <a:lnSpc>
                <a:spcPct val="126000"/>
              </a:lnSpc>
              <a:buNone/>
            </a:pPr>
            <a:r>
              <a:rPr sz="1800" b="1">
                <a:solidFill>
                  <a:srgbClr val="0B3041"/>
                </a:solidFill>
                <a:latin typeface="游ゴシック"/>
                <a:ea typeface="游ゴシック"/>
                <a:cs typeface="游ゴシック"/>
              </a:rPr>
              <a:t>株式譲渡（発行済株式100％）</a:t>
            </a:r>
          </a:p>
        </p:txBody>
      </p:sp>
      <p:sp>
        <p:nvSpPr>
          <p:cNvPr id="23" name="正方形/長方形 22">
            <a:extLst>
              <a:ext uri="{FF2B5EF4-FFF2-40B4-BE49-F238E27FC236}">
                <a16:creationId xmlns:a16="http://schemas.microsoft.com/office/drawing/2014/main" id="{A4BC3D1B-6519-3EC6-F8C8-D12E5886EBA8}"/>
              </a:ext>
            </a:extLst>
          </p:cNvPr>
          <p:cNvSpPr/>
          <p:nvPr/>
        </p:nvSpPr>
        <p:spPr>
          <a:xfrm>
            <a:off x="908477" y="1467627"/>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1</a:t>
            </a:r>
          </a:p>
        </p:txBody>
      </p:sp>
      <p:sp>
        <p:nvSpPr>
          <p:cNvPr id="46" name="正方形/長方形 45">
            <a:extLst>
              <a:ext uri="{FF2B5EF4-FFF2-40B4-BE49-F238E27FC236}">
                <a16:creationId xmlns:a16="http://schemas.microsoft.com/office/drawing/2014/main" id="{538DA60A-A0C2-2AC4-6AFA-6E9A0A840E2F}"/>
              </a:ext>
            </a:extLst>
          </p:cNvPr>
          <p:cNvSpPr/>
          <p:nvPr/>
        </p:nvSpPr>
        <p:spPr>
          <a:xfrm>
            <a:off x="908477" y="1905968"/>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スキーム</a:t>
            </a:r>
            <a:endParaRPr lang="en-US" altLang="ja-JP" sz="1800" b="1" spc="70" dirty="0">
              <a:solidFill>
                <a:schemeClr val="tx2"/>
              </a:solidFill>
              <a:latin typeface="+mj-ea"/>
              <a:ea typeface="+mj-ea"/>
            </a:endParaRPr>
          </a:p>
        </p:txBody>
      </p:sp>
      <p:sp>
        <p:nvSpPr>
          <p:cNvPr id="47" name="二等辺三角形 46">
            <a:extLst>
              <a:ext uri="{FF2B5EF4-FFF2-40B4-BE49-F238E27FC236}">
                <a16:creationId xmlns:a16="http://schemas.microsoft.com/office/drawing/2014/main" id="{E30A0C32-ED58-E579-307E-2A50184F7621}"/>
              </a:ext>
            </a:extLst>
          </p:cNvPr>
          <p:cNvSpPr/>
          <p:nvPr/>
        </p:nvSpPr>
        <p:spPr>
          <a:xfrm rot="5400000">
            <a:off x="3953282" y="1731194"/>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54" name="正方形/長方形 53">
            <a:extLst>
              <a:ext uri="{FF2B5EF4-FFF2-40B4-BE49-F238E27FC236}">
                <a16:creationId xmlns:a16="http://schemas.microsoft.com/office/drawing/2014/main" id="{CF75FB02-E0C4-B24A-D8DD-19550648E691}"/>
              </a:ext>
            </a:extLst>
          </p:cNvPr>
          <p:cNvSpPr/>
          <p:nvPr/>
        </p:nvSpPr>
        <p:spPr>
          <a:xfrm>
            <a:off x="449262" y="2678813"/>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55" name="直線コネクタ 54">
            <a:extLst>
              <a:ext uri="{FF2B5EF4-FFF2-40B4-BE49-F238E27FC236}">
                <a16:creationId xmlns:a16="http://schemas.microsoft.com/office/drawing/2014/main" id="{031A2A35-DDED-EC21-CA05-09DA68DA2C0D}"/>
              </a:ext>
            </a:extLst>
          </p:cNvPr>
          <p:cNvCxnSpPr>
            <a:cxnSpLocks/>
          </p:cNvCxnSpPr>
          <p:nvPr/>
        </p:nvCxnSpPr>
        <p:spPr>
          <a:xfrm>
            <a:off x="3133558" y="2802819"/>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56" name="テキスト ボックス 55">
            <a:extLst>
              <a:ext uri="{FF2B5EF4-FFF2-40B4-BE49-F238E27FC236}">
                <a16:creationId xmlns:a16="http://schemas.microsoft.com/office/drawing/2014/main" id="{4F61C06A-72C7-F15D-8706-7F1E6F179BF5}"/>
              </a:ext>
            </a:extLst>
          </p:cNvPr>
          <p:cNvSpPr txBox="1"/>
          <p:nvPr/>
        </p:nvSpPr>
        <p:spPr>
          <a:xfrm>
            <a:off x="3151380" y="3156792"/>
            <a:ext cx="7074659" cy="338554"/>
          </a:xfrm>
          <a:prstGeom prst="rect">
            <a:avLst/>
          </a:prstGeom>
          <a:noFill/>
        </p:spPr>
        <p:txBody>
          <a:bodyPr wrap="square" lIns="1440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algn="l">
              <a:lnSpc>
                <a:spcPct val="126000"/>
              </a:lnSpc>
              <a:buNone/>
            </a:pPr>
            <a:r>
              <a:rPr sz="1200" b="0">
                <a:solidFill>
                  <a:srgbClr val="0B3041"/>
                </a:solidFill>
                <a:latin typeface="游ゴシック"/>
                <a:ea typeface="游ゴシック"/>
                <a:cs typeface="游ゴシック"/>
              </a:rPr>
              <a:t>応相談　※純資産23,658千円（2026/5期）を一つの目線としつつ、価額より事業の継続性を重視</a:t>
            </a:r>
          </a:p>
        </p:txBody>
      </p:sp>
      <p:sp>
        <p:nvSpPr>
          <p:cNvPr id="59" name="正方形/長方形 58">
            <a:extLst>
              <a:ext uri="{FF2B5EF4-FFF2-40B4-BE49-F238E27FC236}">
                <a16:creationId xmlns:a16="http://schemas.microsoft.com/office/drawing/2014/main" id="{CFFDBAD3-865C-CB13-2F89-BB6495428292}"/>
              </a:ext>
            </a:extLst>
          </p:cNvPr>
          <p:cNvSpPr/>
          <p:nvPr/>
        </p:nvSpPr>
        <p:spPr>
          <a:xfrm>
            <a:off x="908477" y="2920483"/>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2</a:t>
            </a:r>
          </a:p>
        </p:txBody>
      </p:sp>
      <p:sp>
        <p:nvSpPr>
          <p:cNvPr id="60" name="正方形/長方形 59">
            <a:extLst>
              <a:ext uri="{FF2B5EF4-FFF2-40B4-BE49-F238E27FC236}">
                <a16:creationId xmlns:a16="http://schemas.microsoft.com/office/drawing/2014/main" id="{C0C6D277-3738-13CF-070E-BA308BBE1973}"/>
              </a:ext>
            </a:extLst>
          </p:cNvPr>
          <p:cNvSpPr/>
          <p:nvPr/>
        </p:nvSpPr>
        <p:spPr>
          <a:xfrm>
            <a:off x="908477" y="3358824"/>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希望価格</a:t>
            </a:r>
          </a:p>
        </p:txBody>
      </p:sp>
      <p:sp>
        <p:nvSpPr>
          <p:cNvPr id="58" name="二等辺三角形 57">
            <a:extLst>
              <a:ext uri="{FF2B5EF4-FFF2-40B4-BE49-F238E27FC236}">
                <a16:creationId xmlns:a16="http://schemas.microsoft.com/office/drawing/2014/main" id="{C23C8717-6A45-2543-9780-94DF43068F77}"/>
              </a:ext>
            </a:extLst>
          </p:cNvPr>
          <p:cNvSpPr/>
          <p:nvPr/>
        </p:nvSpPr>
        <p:spPr>
          <a:xfrm rot="5400000">
            <a:off x="3953282" y="3184050"/>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62" name="正方形/長方形 61">
            <a:extLst>
              <a:ext uri="{FF2B5EF4-FFF2-40B4-BE49-F238E27FC236}">
                <a16:creationId xmlns:a16="http://schemas.microsoft.com/office/drawing/2014/main" id="{7140BAFD-DDE9-DDDD-13AE-F82ADD82CD40}"/>
              </a:ext>
            </a:extLst>
          </p:cNvPr>
          <p:cNvSpPr/>
          <p:nvPr/>
        </p:nvSpPr>
        <p:spPr>
          <a:xfrm>
            <a:off x="449262" y="4131669"/>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63" name="直線コネクタ 62">
            <a:extLst>
              <a:ext uri="{FF2B5EF4-FFF2-40B4-BE49-F238E27FC236}">
                <a16:creationId xmlns:a16="http://schemas.microsoft.com/office/drawing/2014/main" id="{364A6865-94EE-F5C9-85ED-D69680FD951A}"/>
              </a:ext>
            </a:extLst>
          </p:cNvPr>
          <p:cNvCxnSpPr>
            <a:cxnSpLocks/>
          </p:cNvCxnSpPr>
          <p:nvPr/>
        </p:nvCxnSpPr>
        <p:spPr>
          <a:xfrm>
            <a:off x="3133558" y="4255675"/>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56" name="テキスト ボックス 255">
            <a:extLst>
              <a:ext uri="{FF2B5EF4-FFF2-40B4-BE49-F238E27FC236}">
                <a16:creationId xmlns:a16="http://schemas.microsoft.com/office/drawing/2014/main" id="{B6D90125-A2A7-8289-0B44-6FD810A06C6F}"/>
              </a:ext>
            </a:extLst>
          </p:cNvPr>
          <p:cNvSpPr txBox="1"/>
          <p:nvPr/>
        </p:nvSpPr>
        <p:spPr>
          <a:xfrm>
            <a:off x="3151380" y="4427548"/>
            <a:ext cx="7074659" cy="702756"/>
          </a:xfrm>
          <a:prstGeom prst="rect">
            <a:avLst/>
          </a:prstGeom>
          <a:noFill/>
        </p:spPr>
        <p:txBody>
          <a:bodyPr wrap="square" lIns="1368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marL="324000" indent="-324000" algn="l">
              <a:lnSpc>
                <a:spcPct val="126000"/>
              </a:lnSpc>
              <a:spcAft>
                <a:spcPts val="200"/>
              </a:spcAft>
              <a:buClr>
                <a:schemeClr val="tx2"/>
              </a:buClr>
              <a:buFont typeface="游ゴシック" panose="020B0400000000000000" pitchFamily="50" charset="-128"/>
              <a:buNone/>
            </a:pPr>
            <a:r>
              <a:rPr sz="1000" b="0">
                <a:solidFill>
                  <a:srgbClr val="0B3041"/>
                </a:solidFill>
                <a:latin typeface="游ゴシック"/>
                <a:ea typeface="游ゴシック"/>
                <a:cs typeface="游ゴシック"/>
              </a:rPr>
              <a:t>代表者・配偶者は引継ぎ完了後に退任（引継ぎ期間・方式は応相談）</a:t>
            </a:r>
            <a:endParaRPr lang="en-US" altLang="ja-JP" spc="50" dirty="0"/>
          </a:p>
          <a:p>
            <a:pPr>
              <a:lnSpc>
                <a:spcPct val="126000"/>
              </a:lnSpc>
              <a:buNone/>
            </a:pPr>
            <a:r>
              <a:rPr sz="1000" b="0">
                <a:solidFill>
                  <a:srgbClr val="0B3041"/>
                </a:solidFill>
                <a:latin typeface="游ゴシック"/>
                <a:ea typeface="游ゴシック"/>
                <a:cs typeface="游ゴシック"/>
              </a:rPr>
              <a:t>代表者・配偶者からの借入金32,744千円の取扱い（返済・相殺・債務免除等）は応相談</a:t>
            </a:r>
          </a:p>
          <a:p>
            <a:pPr>
              <a:lnSpc>
                <a:spcPct val="126000"/>
              </a:lnSpc>
              <a:buNone/>
            </a:pPr>
            <a:r>
              <a:rPr sz="1000" b="0">
                <a:solidFill>
                  <a:srgbClr val="0B3041"/>
                </a:solidFill>
                <a:latin typeface="游ゴシック"/>
                <a:ea typeface="游ゴシック"/>
                <a:cs typeface="游ゴシック"/>
              </a:rPr>
              <a:t>店舗2階に代表者夫妻が居住中。明渡しの時期・条件は協議事項（金融機関借入・連帯保証はなし）</a:t>
            </a:r>
          </a:p>
        </p:txBody>
      </p:sp>
      <p:sp>
        <p:nvSpPr>
          <p:cNvPr id="259" name="正方形/長方形 258">
            <a:extLst>
              <a:ext uri="{FF2B5EF4-FFF2-40B4-BE49-F238E27FC236}">
                <a16:creationId xmlns:a16="http://schemas.microsoft.com/office/drawing/2014/main" id="{11BED845-77D7-96E2-7088-05671252A4BC}"/>
              </a:ext>
            </a:extLst>
          </p:cNvPr>
          <p:cNvSpPr/>
          <p:nvPr/>
        </p:nvSpPr>
        <p:spPr>
          <a:xfrm>
            <a:off x="908477" y="4373339"/>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3</a:t>
            </a:r>
          </a:p>
        </p:txBody>
      </p:sp>
      <p:sp>
        <p:nvSpPr>
          <p:cNvPr id="260" name="正方形/長方形 259">
            <a:extLst>
              <a:ext uri="{FF2B5EF4-FFF2-40B4-BE49-F238E27FC236}">
                <a16:creationId xmlns:a16="http://schemas.microsoft.com/office/drawing/2014/main" id="{6B9DA270-CEE2-C021-D23B-6674C7B58B8F}"/>
              </a:ext>
            </a:extLst>
          </p:cNvPr>
          <p:cNvSpPr/>
          <p:nvPr/>
        </p:nvSpPr>
        <p:spPr>
          <a:xfrm>
            <a:off x="908477" y="4811680"/>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付帯条件</a:t>
            </a:r>
          </a:p>
        </p:txBody>
      </p:sp>
      <p:sp>
        <p:nvSpPr>
          <p:cNvPr id="258" name="二等辺三角形 257">
            <a:extLst>
              <a:ext uri="{FF2B5EF4-FFF2-40B4-BE49-F238E27FC236}">
                <a16:creationId xmlns:a16="http://schemas.microsoft.com/office/drawing/2014/main" id="{ED431A8E-E118-9737-A89C-BA75554554F2}"/>
              </a:ext>
            </a:extLst>
          </p:cNvPr>
          <p:cNvSpPr/>
          <p:nvPr/>
        </p:nvSpPr>
        <p:spPr>
          <a:xfrm rot="5400000">
            <a:off x="3953282" y="463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262" name="正方形/長方形 261">
            <a:extLst>
              <a:ext uri="{FF2B5EF4-FFF2-40B4-BE49-F238E27FC236}">
                <a16:creationId xmlns:a16="http://schemas.microsoft.com/office/drawing/2014/main" id="{0DA87416-6EB3-2B9D-5D99-EBF7AD989A1A}"/>
              </a:ext>
            </a:extLst>
          </p:cNvPr>
          <p:cNvSpPr/>
          <p:nvPr/>
        </p:nvSpPr>
        <p:spPr>
          <a:xfrm>
            <a:off x="449262" y="5584525"/>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63" name="直線コネクタ 262">
            <a:extLst>
              <a:ext uri="{FF2B5EF4-FFF2-40B4-BE49-F238E27FC236}">
                <a16:creationId xmlns:a16="http://schemas.microsoft.com/office/drawing/2014/main" id="{348C7A7D-E8C0-8FBA-0152-B09944A67B14}"/>
              </a:ext>
            </a:extLst>
          </p:cNvPr>
          <p:cNvCxnSpPr>
            <a:cxnSpLocks/>
          </p:cNvCxnSpPr>
          <p:nvPr/>
        </p:nvCxnSpPr>
        <p:spPr>
          <a:xfrm>
            <a:off x="3133558" y="5708531"/>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64" name="テキスト ボックス 263">
            <a:extLst>
              <a:ext uri="{FF2B5EF4-FFF2-40B4-BE49-F238E27FC236}">
                <a16:creationId xmlns:a16="http://schemas.microsoft.com/office/drawing/2014/main" id="{37AEE9E9-0B13-7FD4-A3CA-A47C7839F11C}"/>
              </a:ext>
            </a:extLst>
          </p:cNvPr>
          <p:cNvSpPr txBox="1"/>
          <p:nvPr/>
        </p:nvSpPr>
        <p:spPr>
          <a:xfrm>
            <a:off x="3151380" y="6062504"/>
            <a:ext cx="7074659" cy="338554"/>
          </a:xfrm>
          <a:prstGeom prst="rect">
            <a:avLst/>
          </a:prstGeom>
          <a:noFill/>
        </p:spPr>
        <p:txBody>
          <a:bodyPr wrap="square" lIns="1440000" tIns="0" rIns="0" bIns="0" rtlCol="0" anchor="ctr">
            <a:spAutoFit/>
          </a:bodyPr>
          <a:lstStyle>
            <a:defPPr marR="0" lvl="0" algn="l" rtl="0">
              <a:lnSpc>
                <a:spcPct val="100000"/>
              </a:lnSpc>
              <a:spcBef>
                <a:spcPts val="0"/>
              </a:spcBef>
              <a:spcAft>
                <a:spcPts val="0"/>
              </a:spcAft>
            </a:defPPr>
            <a:lvl1pPr>
              <a:defRPr sz="2200" b="1">
                <a:solidFill>
                  <a:schemeClr val="dk1"/>
                </a:solidFill>
                <a:latin typeface="+mj-ea"/>
                <a:ea typeface="+mj-ea"/>
              </a:defRPr>
            </a:lvl1pPr>
          </a:lstStyle>
          <a:p>
            <a:pPr>
              <a:lnSpc>
                <a:spcPct val="126000"/>
              </a:lnSpc>
              <a:buNone/>
            </a:pPr>
            <a:r>
              <a:rPr sz="1200" b="0">
                <a:solidFill>
                  <a:srgbClr val="0B3041"/>
                </a:solidFill>
                <a:latin typeface="游ゴシック"/>
                <a:ea typeface="游ゴシック"/>
                <a:cs typeface="游ゴシック"/>
              </a:rPr>
              <a:t>後継者不在。①「慈久庵」の店舗を守り蕎麦屋として継続すること、②将来的に店舗を広げられることを重視</a:t>
            </a:r>
          </a:p>
        </p:txBody>
      </p:sp>
      <p:sp>
        <p:nvSpPr>
          <p:cNvPr id="267" name="正方形/長方形 266">
            <a:extLst>
              <a:ext uri="{FF2B5EF4-FFF2-40B4-BE49-F238E27FC236}">
                <a16:creationId xmlns:a16="http://schemas.microsoft.com/office/drawing/2014/main" id="{5C906CE1-F422-F0CF-35F9-FA21CDF60987}"/>
              </a:ext>
            </a:extLst>
          </p:cNvPr>
          <p:cNvSpPr/>
          <p:nvPr/>
        </p:nvSpPr>
        <p:spPr>
          <a:xfrm>
            <a:off x="908477" y="5826195"/>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その他</a:t>
            </a:r>
            <a:endParaRPr lang="en-US" altLang="ja-JP" b="1" spc="70" dirty="0">
              <a:solidFill>
                <a:schemeClr val="bg1"/>
              </a:solidFill>
              <a:latin typeface="+mj-ea"/>
              <a:ea typeface="+mj-ea"/>
            </a:endParaRPr>
          </a:p>
        </p:txBody>
      </p:sp>
      <p:sp>
        <p:nvSpPr>
          <p:cNvPr id="268" name="正方形/長方形 267">
            <a:extLst>
              <a:ext uri="{FF2B5EF4-FFF2-40B4-BE49-F238E27FC236}">
                <a16:creationId xmlns:a16="http://schemas.microsoft.com/office/drawing/2014/main" id="{46529E79-2433-FBD9-6238-E748A585579E}"/>
              </a:ext>
            </a:extLst>
          </p:cNvPr>
          <p:cNvSpPr/>
          <p:nvPr/>
        </p:nvSpPr>
        <p:spPr>
          <a:xfrm>
            <a:off x="908477" y="6264536"/>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譲渡理由</a:t>
            </a:r>
          </a:p>
        </p:txBody>
      </p:sp>
      <p:sp>
        <p:nvSpPr>
          <p:cNvPr id="266" name="二等辺三角形 265">
            <a:extLst>
              <a:ext uri="{FF2B5EF4-FFF2-40B4-BE49-F238E27FC236}">
                <a16:creationId xmlns:a16="http://schemas.microsoft.com/office/drawing/2014/main" id="{94757AC3-62D5-3E6F-15D0-8CC989986978}"/>
              </a:ext>
            </a:extLst>
          </p:cNvPr>
          <p:cNvSpPr/>
          <p:nvPr/>
        </p:nvSpPr>
        <p:spPr>
          <a:xfrm rot="5400000">
            <a:off x="3953282" y="6089762"/>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269" name="TextBox 268"/>
          <p:cNvSpPr txBox="1"/>
          <p:nvPr/>
        </p:nvSpPr>
        <p:spPr>
          <a:xfrm>
            <a:off x="310896" y="6967728"/>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上記は現時点における譲渡オーナー様のご意向であり、確定した条件ではありません。最終的な条件は個別協議により決定されます。</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solidFill/>
              </a:rPr>
              <a:t>事業概要</a:t>
            </a:r>
            <a:endParaRPr lang="en-US" altLang="ja-JP" dirty="0"/>
          </a:p>
        </p:txBody>
      </p:sp>
    </p:spTree>
    <p:extLst>
      <p:ext uri="{BB962C8B-B14F-4D97-AF65-F5344CB8AC3E}">
        <p14:creationId xmlns:p14="http://schemas.microsoft.com/office/powerpoint/2010/main" val="4085199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DAF01-C12B-9043-B114-455CAA33D0F7}"/>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E91DD8E0-55E1-1614-7417-2E76D253FEAD}"/>
              </a:ext>
            </a:extLst>
          </p:cNvPr>
          <p:cNvSpPr>
            <a:spLocks noGrp="1"/>
          </p:cNvSpPr>
          <p:nvPr>
            <p:ph type="ctrTitle"/>
          </p:nvPr>
        </p:nvSpPr>
        <p:spPr/>
        <p:txBody>
          <a:bodyPr/>
          <a:lstStyle/>
          <a:p>
            <a:r>
              <a:rPr>
                <a:latin typeface="游ゴシック"/>
                <a:ea typeface="游ゴシック"/>
                <a:cs typeface="游ゴシック"/>
              </a:rPr>
              <a:t>商流</a:t>
            </a:r>
          </a:p>
        </p:txBody>
      </p:sp>
      <p:sp>
        <p:nvSpPr>
          <p:cNvPr id="20" name="タイトル 1">
            <a:extLst>
              <a:ext uri="{FF2B5EF4-FFF2-40B4-BE49-F238E27FC236}">
                <a16:creationId xmlns:a16="http://schemas.microsoft.com/office/drawing/2014/main" id="{96C927CB-5A9B-C47E-368A-3579B2595C1E}"/>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事業概要</a:t>
            </a:r>
          </a:p>
        </p:txBody>
      </p:sp>
      <p:sp>
        <p:nvSpPr>
          <p:cNvPr id="35" name="字幕 13">
            <a:extLst>
              <a:ext uri="{FF2B5EF4-FFF2-40B4-BE49-F238E27FC236}">
                <a16:creationId xmlns:a16="http://schemas.microsoft.com/office/drawing/2014/main" id="{999986B5-FEED-86D6-9A2B-D6BEF4A1BD44}"/>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店頭飲食が売上の67％。残りは石臼挽き小麦粉・玄そばの卸売と通信販売で、いずれも慈久庵ブランドを前提とした直接取引</a:t>
            </a:r>
            <a:endParaRPr lang="en-US" altLang="ja-JP" dirty="0"/>
          </a:p>
        </p:txBody>
      </p:sp>
      <p:sp>
        <p:nvSpPr>
          <p:cNvPr id="36" name="Rectangle 35"/>
          <p:cNvSpPr/>
          <p:nvPr/>
        </p:nvSpPr>
        <p:spPr>
          <a:xfrm>
            <a:off x="4078224" y="2615184"/>
            <a:ext cx="2542032" cy="170078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4078224" y="2761488"/>
            <a:ext cx="2542032" cy="256032"/>
          </a:xfrm>
          <a:prstGeom prst="rect">
            <a:avLst/>
          </a:prstGeom>
          <a:noFill/>
        </p:spPr>
        <p:txBody>
          <a:bodyPr wrap="square" lIns="0" rIns="0" tIns="0" bIns="0" anchor="t">
            <a:spAutoFit/>
          </a:bodyPr>
          <a:lstStyle/>
          <a:p>
            <a:pPr algn="ctr">
              <a:spcAft>
                <a:spcPts val="0"/>
              </a:spcAft>
            </a:pPr>
            <a:r>
              <a:rPr sz="1300" b="1">
                <a:solidFill>
                  <a:srgbClr val="FFFFFF"/>
                </a:solidFill>
                <a:latin typeface="游ゴシック"/>
                <a:ea typeface="游ゴシック"/>
                <a:cs typeface="游ゴシック"/>
              </a:rPr>
              <a:t>株式会社慈久庵</a:t>
            </a:r>
          </a:p>
        </p:txBody>
      </p:sp>
      <p:sp>
        <p:nvSpPr>
          <p:cNvPr id="38" name="TextBox 37"/>
          <p:cNvSpPr txBox="1"/>
          <p:nvPr/>
        </p:nvSpPr>
        <p:spPr>
          <a:xfrm>
            <a:off x="4206240" y="3127248"/>
            <a:ext cx="2286000" cy="1097280"/>
          </a:xfrm>
          <a:prstGeom prst="rect">
            <a:avLst/>
          </a:prstGeom>
          <a:noFill/>
        </p:spPr>
        <p:txBody>
          <a:bodyPr wrap="square" lIns="0" rIns="0" tIns="0" bIns="0" anchor="t">
            <a:spAutoFit/>
          </a:bodyPr>
          <a:lstStyle/>
          <a:p>
            <a:pPr algn="l">
              <a:lnSpc>
                <a:spcPct val="118000"/>
              </a:lnSpc>
              <a:spcAft>
                <a:spcPts val="300"/>
              </a:spcAft>
            </a:pPr>
            <a:r>
              <a:rPr sz="900" b="0">
                <a:solidFill>
                  <a:srgbClr val="D6E4EA"/>
                </a:solidFill>
                <a:latin typeface="游ゴシック"/>
                <a:ea typeface="游ゴシック"/>
                <a:cs typeface="游ゴシック"/>
              </a:rPr>
              <a:t>◆ そば店「慈久庵」</a:t>
            </a:r>
          </a:p>
          <a:p>
            <a:pPr algn="l">
              <a:lnSpc>
                <a:spcPct val="118000"/>
              </a:lnSpc>
              <a:spcAft>
                <a:spcPts val="300"/>
              </a:spcAft>
            </a:pPr>
            <a:r>
              <a:rPr sz="900" b="0">
                <a:solidFill>
                  <a:srgbClr val="D6E4EA"/>
                </a:solidFill>
                <a:latin typeface="游ゴシック"/>
                <a:ea typeface="游ゴシック"/>
                <a:cs typeface="游ゴシック"/>
              </a:rPr>
              <a:t>◆ 自家製粉（石臼）</a:t>
            </a:r>
          </a:p>
          <a:p>
            <a:pPr algn="l">
              <a:lnSpc>
                <a:spcPct val="118000"/>
              </a:lnSpc>
              <a:spcAft>
                <a:spcPts val="300"/>
              </a:spcAft>
            </a:pPr>
            <a:r>
              <a:rPr sz="900" b="0">
                <a:solidFill>
                  <a:srgbClr val="D6E4EA"/>
                </a:solidFill>
                <a:latin typeface="游ゴシック"/>
                <a:ea typeface="游ゴシック"/>
                <a:cs typeface="游ゴシック"/>
              </a:rPr>
              <a:t>◆ 乾麺・そばつゆ・醤の製造</a:t>
            </a:r>
          </a:p>
          <a:p>
            <a:pPr algn="l">
              <a:lnSpc>
                <a:spcPct val="118000"/>
              </a:lnSpc>
              <a:spcAft>
                <a:spcPts val="300"/>
              </a:spcAft>
            </a:pPr>
            <a:r>
              <a:rPr sz="900" b="0">
                <a:solidFill>
                  <a:srgbClr val="D6E4EA"/>
                </a:solidFill>
                <a:latin typeface="游ゴシック"/>
                <a:ea typeface="游ゴシック"/>
                <a:cs typeface="游ゴシック"/>
              </a:rPr>
              <a:t>◆ そば・小麦の栽培（焼畑）</a:t>
            </a:r>
          </a:p>
        </p:txBody>
      </p:sp>
      <p:sp>
        <p:nvSpPr>
          <p:cNvPr id="39" name="TextBox 38"/>
          <p:cNvSpPr txBox="1"/>
          <p:nvPr/>
        </p:nvSpPr>
        <p:spPr>
          <a:xfrm>
            <a:off x="310896" y="1481328"/>
            <a:ext cx="3291840" cy="219456"/>
          </a:xfrm>
          <a:prstGeom prst="rect">
            <a:avLst/>
          </a:prstGeom>
          <a:noFill/>
        </p:spPr>
        <p:txBody>
          <a:bodyPr wrap="square" lIns="0" rIns="0" tIns="0" bIns="0" anchor="t">
            <a:spAutoFit/>
          </a:bodyPr>
          <a:lstStyle/>
          <a:p>
            <a:pPr algn="l">
              <a:spcAft>
                <a:spcPts val="0"/>
              </a:spcAft>
            </a:pPr>
            <a:r>
              <a:rPr sz="1200" b="1">
                <a:solidFill>
                  <a:srgbClr val="0B3041"/>
                </a:solidFill>
                <a:latin typeface="游ゴシック"/>
                <a:ea typeface="游ゴシック"/>
                <a:cs typeface="游ゴシック"/>
              </a:rPr>
              <a:t>主要仕入先</a:t>
            </a:r>
          </a:p>
        </p:txBody>
      </p:sp>
      <p:sp>
        <p:nvSpPr>
          <p:cNvPr id="40" name="TextBox 39"/>
          <p:cNvSpPr txBox="1"/>
          <p:nvPr/>
        </p:nvSpPr>
        <p:spPr>
          <a:xfrm>
            <a:off x="7095744" y="1481328"/>
            <a:ext cx="3291840" cy="219456"/>
          </a:xfrm>
          <a:prstGeom prst="rect">
            <a:avLst/>
          </a:prstGeom>
          <a:noFill/>
        </p:spPr>
        <p:txBody>
          <a:bodyPr wrap="square" lIns="0" rIns="0" tIns="0" bIns="0" anchor="t">
            <a:spAutoFit/>
          </a:bodyPr>
          <a:lstStyle/>
          <a:p>
            <a:pPr algn="l">
              <a:spcAft>
                <a:spcPts val="0"/>
              </a:spcAft>
            </a:pPr>
            <a:r>
              <a:rPr sz="1200" b="1">
                <a:solidFill>
                  <a:srgbClr val="0B3041"/>
                </a:solidFill>
                <a:latin typeface="游ゴシック"/>
                <a:ea typeface="游ゴシック"/>
                <a:cs typeface="游ゴシック"/>
              </a:rPr>
              <a:t>主要販売先</a:t>
            </a:r>
          </a:p>
        </p:txBody>
      </p:sp>
      <p:sp>
        <p:nvSpPr>
          <p:cNvPr id="41" name="Rectangle 40"/>
          <p:cNvSpPr/>
          <p:nvPr/>
        </p:nvSpPr>
        <p:spPr>
          <a:xfrm>
            <a:off x="310896" y="1773936"/>
            <a:ext cx="3291840" cy="914400"/>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310896" y="1773936"/>
            <a:ext cx="50292" cy="91440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457200" y="1865376"/>
            <a:ext cx="3017520" cy="219456"/>
          </a:xfrm>
          <a:prstGeom prst="rect">
            <a:avLst/>
          </a:prstGeom>
          <a:noFill/>
        </p:spPr>
        <p:txBody>
          <a:bodyPr wrap="square" lIns="0" rIns="0" tIns="0" bIns="0" anchor="t">
            <a:spAutoFit/>
          </a:bodyPr>
          <a:lstStyle/>
          <a:p>
            <a:pPr algn="l">
              <a:spcAft>
                <a:spcPts val="0"/>
              </a:spcAft>
            </a:pPr>
            <a:r>
              <a:rPr sz="950" b="1">
                <a:solidFill>
                  <a:srgbClr val="0B3041"/>
                </a:solidFill>
                <a:latin typeface="游ゴシック"/>
                <a:ea typeface="游ゴシック"/>
                <a:cs typeface="游ゴシック"/>
              </a:rPr>
              <a:t>玄そば（常陸秋そば）</a:t>
            </a:r>
          </a:p>
        </p:txBody>
      </p:sp>
      <p:sp>
        <p:nvSpPr>
          <p:cNvPr id="44" name="TextBox 43"/>
          <p:cNvSpPr txBox="1"/>
          <p:nvPr/>
        </p:nvSpPr>
        <p:spPr>
          <a:xfrm>
            <a:off x="457200" y="2139696"/>
            <a:ext cx="3017520" cy="457200"/>
          </a:xfrm>
          <a:prstGeom prst="rect">
            <a:avLst/>
          </a:prstGeom>
          <a:noFill/>
        </p:spPr>
        <p:txBody>
          <a:bodyPr wrap="square" lIns="0" rIns="0" t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海老根 章 氏 660千円／地元生産者</a:t>
            </a:r>
          </a:p>
          <a:p>
            <a:pPr algn="l">
              <a:lnSpc>
                <a:spcPct val="118000"/>
              </a:lnSpc>
              <a:spcAft>
                <a:spcPts val="100"/>
              </a:spcAft>
            </a:pPr>
            <a:r>
              <a:rPr sz="830" b="0">
                <a:solidFill>
                  <a:srgbClr val="5A6670"/>
                </a:solidFill>
                <a:latin typeface="游ゴシック"/>
                <a:ea typeface="游ゴシック"/>
                <a:cs typeface="游ゴシック"/>
              </a:rPr>
              <a:t>自家栽培（焼畑）分を併用</a:t>
            </a:r>
          </a:p>
        </p:txBody>
      </p:sp>
      <p:sp>
        <p:nvSpPr>
          <p:cNvPr id="45" name="Rectangle 44"/>
          <p:cNvSpPr/>
          <p:nvPr/>
        </p:nvSpPr>
        <p:spPr>
          <a:xfrm>
            <a:off x="3602736" y="2220163"/>
            <a:ext cx="475488" cy="2194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310896" y="2798064"/>
            <a:ext cx="3291840" cy="914400"/>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ectangle 46"/>
          <p:cNvSpPr/>
          <p:nvPr/>
        </p:nvSpPr>
        <p:spPr>
          <a:xfrm>
            <a:off x="310896" y="2798064"/>
            <a:ext cx="50292" cy="91440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457200" y="2889504"/>
            <a:ext cx="3017520" cy="219456"/>
          </a:xfrm>
          <a:prstGeom prst="rect">
            <a:avLst/>
          </a:prstGeom>
          <a:noFill/>
        </p:spPr>
        <p:txBody>
          <a:bodyPr wrap="square" lIns="0" rIns="0" tIns="0" bIns="0" anchor="t">
            <a:spAutoFit/>
          </a:bodyPr>
          <a:lstStyle/>
          <a:p>
            <a:pPr algn="l">
              <a:spcAft>
                <a:spcPts val="0"/>
              </a:spcAft>
            </a:pPr>
            <a:r>
              <a:rPr sz="950" b="1">
                <a:solidFill>
                  <a:srgbClr val="0B3041"/>
                </a:solidFill>
                <a:latin typeface="游ゴシック"/>
                <a:ea typeface="游ゴシック"/>
                <a:cs typeface="游ゴシック"/>
              </a:rPr>
              <a:t>小麦</a:t>
            </a:r>
          </a:p>
        </p:txBody>
      </p:sp>
      <p:sp>
        <p:nvSpPr>
          <p:cNvPr id="49" name="TextBox 48"/>
          <p:cNvSpPr txBox="1"/>
          <p:nvPr/>
        </p:nvSpPr>
        <p:spPr>
          <a:xfrm>
            <a:off x="457200" y="3163824"/>
            <a:ext cx="3017520" cy="457200"/>
          </a:xfrm>
          <a:prstGeom prst="rect">
            <a:avLst/>
          </a:prstGeom>
          <a:noFill/>
        </p:spPr>
        <p:txBody>
          <a:bodyPr wrap="square" lIns="0" rIns="0" t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ミルキーウェーブ（外岡 清秀）1,155千円</a:t>
            </a:r>
          </a:p>
          <a:p>
            <a:pPr algn="l">
              <a:lnSpc>
                <a:spcPct val="118000"/>
              </a:lnSpc>
              <a:spcAft>
                <a:spcPts val="100"/>
              </a:spcAft>
            </a:pPr>
            <a:r>
              <a:rPr sz="830" b="0">
                <a:solidFill>
                  <a:srgbClr val="5A6670"/>
                </a:solidFill>
                <a:latin typeface="游ゴシック"/>
                <a:ea typeface="游ゴシック"/>
                <a:cs typeface="游ゴシック"/>
              </a:rPr>
              <a:t>材料仕入高の25.1％を占める最大の仕入先</a:t>
            </a:r>
          </a:p>
        </p:txBody>
      </p:sp>
      <p:sp>
        <p:nvSpPr>
          <p:cNvPr id="50" name="Rectangle 49"/>
          <p:cNvSpPr/>
          <p:nvPr/>
        </p:nvSpPr>
        <p:spPr>
          <a:xfrm>
            <a:off x="3602736" y="3244291"/>
            <a:ext cx="475488" cy="2194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310896" y="3822191"/>
            <a:ext cx="3291840" cy="914400"/>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ectangle 51"/>
          <p:cNvSpPr/>
          <p:nvPr/>
        </p:nvSpPr>
        <p:spPr>
          <a:xfrm>
            <a:off x="310896" y="3822191"/>
            <a:ext cx="50292" cy="91440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457200" y="3913631"/>
            <a:ext cx="3017520" cy="219456"/>
          </a:xfrm>
          <a:prstGeom prst="rect">
            <a:avLst/>
          </a:prstGeom>
          <a:noFill/>
        </p:spPr>
        <p:txBody>
          <a:bodyPr wrap="square" lIns="0" rIns="0" tIns="0" bIns="0" anchor="t">
            <a:spAutoFit/>
          </a:bodyPr>
          <a:lstStyle/>
          <a:p>
            <a:pPr algn="l">
              <a:spcAft>
                <a:spcPts val="0"/>
              </a:spcAft>
            </a:pPr>
            <a:r>
              <a:rPr sz="950" b="1">
                <a:solidFill>
                  <a:srgbClr val="0B3041"/>
                </a:solidFill>
                <a:latin typeface="游ゴシック"/>
                <a:ea typeface="游ゴシック"/>
                <a:cs typeface="游ゴシック"/>
              </a:rPr>
              <a:t>食材・調味料</a:t>
            </a:r>
          </a:p>
        </p:txBody>
      </p:sp>
      <p:sp>
        <p:nvSpPr>
          <p:cNvPr id="54" name="TextBox 53"/>
          <p:cNvSpPr txBox="1"/>
          <p:nvPr/>
        </p:nvSpPr>
        <p:spPr>
          <a:xfrm>
            <a:off x="457200" y="4187952"/>
            <a:ext cx="3017520" cy="457200"/>
          </a:xfrm>
          <a:prstGeom prst="rect">
            <a:avLst/>
          </a:prstGeom>
          <a:noFill/>
        </p:spPr>
        <p:txBody>
          <a:bodyPr wrap="square" lIns="0" rIns="0" t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（株）鈴木商店334千円、健興通商477千円</a:t>
            </a:r>
          </a:p>
          <a:p>
            <a:pPr algn="l">
              <a:lnSpc>
                <a:spcPct val="118000"/>
              </a:lnSpc>
              <a:spcAft>
                <a:spcPts val="100"/>
              </a:spcAft>
            </a:pPr>
            <a:r>
              <a:rPr sz="830" b="0">
                <a:solidFill>
                  <a:srgbClr val="5A6670"/>
                </a:solidFill>
                <a:latin typeface="游ゴシック"/>
                <a:ea typeface="游ゴシック"/>
                <a:cs typeface="游ゴシック"/>
              </a:rPr>
              <a:t>西崎ファーム（鴨肉）、岩魚郷北条屋敷 ほか</a:t>
            </a:r>
          </a:p>
        </p:txBody>
      </p:sp>
      <p:sp>
        <p:nvSpPr>
          <p:cNvPr id="55" name="Rectangle 54"/>
          <p:cNvSpPr/>
          <p:nvPr/>
        </p:nvSpPr>
        <p:spPr>
          <a:xfrm>
            <a:off x="3602736" y="4268419"/>
            <a:ext cx="475488" cy="2194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310896" y="4846320"/>
            <a:ext cx="3291840" cy="786384"/>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ectangle 56"/>
          <p:cNvSpPr/>
          <p:nvPr/>
        </p:nvSpPr>
        <p:spPr>
          <a:xfrm>
            <a:off x="310896" y="4846320"/>
            <a:ext cx="50292" cy="786384"/>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457200" y="4937759"/>
            <a:ext cx="3017520" cy="219456"/>
          </a:xfrm>
          <a:prstGeom prst="rect">
            <a:avLst/>
          </a:prstGeom>
          <a:noFill/>
        </p:spPr>
        <p:txBody>
          <a:bodyPr wrap="square" lIns="0" rIns="0" tIns="0" bIns="0" anchor="t">
            <a:spAutoFit/>
          </a:bodyPr>
          <a:lstStyle/>
          <a:p>
            <a:pPr algn="l">
              <a:spcAft>
                <a:spcPts val="0"/>
              </a:spcAft>
            </a:pPr>
            <a:r>
              <a:rPr sz="950" b="1">
                <a:solidFill>
                  <a:srgbClr val="0B3041"/>
                </a:solidFill>
                <a:latin typeface="游ゴシック"/>
                <a:ea typeface="游ゴシック"/>
                <a:cs typeface="游ゴシック"/>
              </a:rPr>
              <a:t>製粉外注</a:t>
            </a:r>
          </a:p>
        </p:txBody>
      </p:sp>
      <p:sp>
        <p:nvSpPr>
          <p:cNvPr id="59" name="TextBox 58"/>
          <p:cNvSpPr txBox="1"/>
          <p:nvPr/>
        </p:nvSpPr>
        <p:spPr>
          <a:xfrm>
            <a:off x="457200" y="5212080"/>
            <a:ext cx="3017520" cy="329184"/>
          </a:xfrm>
          <a:prstGeom prst="rect">
            <a:avLst/>
          </a:prstGeom>
          <a:noFill/>
        </p:spPr>
        <p:txBody>
          <a:bodyPr wrap="square" lIns="0" rIns="0" t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伊勢又米穀製粉（株）267千円</a:t>
            </a:r>
          </a:p>
          <a:p>
            <a:pPr algn="l">
              <a:lnSpc>
                <a:spcPct val="118000"/>
              </a:lnSpc>
              <a:spcAft>
                <a:spcPts val="100"/>
              </a:spcAft>
            </a:pPr>
            <a:r>
              <a:rPr sz="830" b="0">
                <a:solidFill>
                  <a:srgbClr val="5A6670"/>
                </a:solidFill>
                <a:latin typeface="游ゴシック"/>
                <a:ea typeface="游ゴシック"/>
                <a:cs typeface="游ゴシック"/>
              </a:rPr>
              <a:t>※関係会社との関係整理は要確認</a:t>
            </a:r>
          </a:p>
        </p:txBody>
      </p:sp>
      <p:sp>
        <p:nvSpPr>
          <p:cNvPr id="60" name="Rectangle 59"/>
          <p:cNvSpPr/>
          <p:nvPr/>
        </p:nvSpPr>
        <p:spPr>
          <a:xfrm>
            <a:off x="3602736" y="5228539"/>
            <a:ext cx="475488" cy="2194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Rectangle 60"/>
          <p:cNvSpPr/>
          <p:nvPr/>
        </p:nvSpPr>
        <p:spPr>
          <a:xfrm>
            <a:off x="7095744" y="1773936"/>
            <a:ext cx="3291840" cy="914400"/>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Rectangle 61"/>
          <p:cNvSpPr/>
          <p:nvPr/>
        </p:nvSpPr>
        <p:spPr>
          <a:xfrm>
            <a:off x="7095744" y="1773936"/>
            <a:ext cx="50292" cy="91440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3" name="TextBox 62"/>
          <p:cNvSpPr txBox="1"/>
          <p:nvPr/>
        </p:nvSpPr>
        <p:spPr>
          <a:xfrm>
            <a:off x="7242048" y="1865376"/>
            <a:ext cx="3017520" cy="219456"/>
          </a:xfrm>
          <a:prstGeom prst="rect">
            <a:avLst/>
          </a:prstGeom>
          <a:noFill/>
        </p:spPr>
        <p:txBody>
          <a:bodyPr wrap="square" lIns="0" rIns="0" tIns="0" bIns="0" anchor="t">
            <a:spAutoFit/>
          </a:bodyPr>
          <a:lstStyle/>
          <a:p>
            <a:pPr algn="l">
              <a:spcAft>
                <a:spcPts val="0"/>
              </a:spcAft>
            </a:pPr>
            <a:r>
              <a:rPr sz="950" b="1">
                <a:solidFill>
                  <a:srgbClr val="0B3041"/>
                </a:solidFill>
                <a:latin typeface="游ゴシック"/>
                <a:ea typeface="游ゴシック"/>
                <a:cs typeface="游ゴシック"/>
              </a:rPr>
              <a:t>① 店頭飲食　15,099千円（67.2％）</a:t>
            </a:r>
          </a:p>
        </p:txBody>
      </p:sp>
      <p:sp>
        <p:nvSpPr>
          <p:cNvPr id="64" name="TextBox 63"/>
          <p:cNvSpPr txBox="1"/>
          <p:nvPr/>
        </p:nvSpPr>
        <p:spPr>
          <a:xfrm>
            <a:off x="7242048" y="2139696"/>
            <a:ext cx="3017520" cy="457200"/>
          </a:xfrm>
          <a:prstGeom prst="rect">
            <a:avLst/>
          </a:prstGeom>
          <a:noFill/>
        </p:spPr>
        <p:txBody>
          <a:bodyPr wrap="square" lIns="0" rIns="0" t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一般消費者／昼のみ・売り切りじまい</a:t>
            </a:r>
          </a:p>
          <a:p>
            <a:pPr algn="l">
              <a:lnSpc>
                <a:spcPct val="118000"/>
              </a:lnSpc>
              <a:spcAft>
                <a:spcPts val="100"/>
              </a:spcAft>
            </a:pPr>
            <a:r>
              <a:rPr sz="830" b="0">
                <a:solidFill>
                  <a:srgbClr val="5A6670"/>
                </a:solidFill>
                <a:latin typeface="游ゴシック"/>
                <a:ea typeface="游ゴシック"/>
                <a:cs typeface="游ゴシック"/>
              </a:rPr>
              <a:t>年間営業日200日・日商平均75千円</a:t>
            </a:r>
          </a:p>
        </p:txBody>
      </p:sp>
      <p:sp>
        <p:nvSpPr>
          <p:cNvPr id="65" name="Rectangle 64"/>
          <p:cNvSpPr/>
          <p:nvPr/>
        </p:nvSpPr>
        <p:spPr>
          <a:xfrm>
            <a:off x="6620256" y="2220163"/>
            <a:ext cx="475487" cy="2194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Rectangle 65"/>
          <p:cNvSpPr/>
          <p:nvPr/>
        </p:nvSpPr>
        <p:spPr>
          <a:xfrm>
            <a:off x="7095744" y="2798064"/>
            <a:ext cx="3291840" cy="914400"/>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Rectangle 66"/>
          <p:cNvSpPr/>
          <p:nvPr/>
        </p:nvSpPr>
        <p:spPr>
          <a:xfrm>
            <a:off x="7095744" y="2798064"/>
            <a:ext cx="50292" cy="91440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TextBox 67"/>
          <p:cNvSpPr txBox="1"/>
          <p:nvPr/>
        </p:nvSpPr>
        <p:spPr>
          <a:xfrm>
            <a:off x="7242048" y="2889504"/>
            <a:ext cx="3017520" cy="219456"/>
          </a:xfrm>
          <a:prstGeom prst="rect">
            <a:avLst/>
          </a:prstGeom>
          <a:noFill/>
        </p:spPr>
        <p:txBody>
          <a:bodyPr wrap="square" lIns="0" rIns="0" tIns="0" bIns="0" anchor="t">
            <a:spAutoFit/>
          </a:bodyPr>
          <a:lstStyle/>
          <a:p>
            <a:pPr algn="l">
              <a:spcAft>
                <a:spcPts val="0"/>
              </a:spcAft>
            </a:pPr>
            <a:r>
              <a:rPr sz="950" b="1">
                <a:solidFill>
                  <a:srgbClr val="0B3041"/>
                </a:solidFill>
                <a:latin typeface="游ゴシック"/>
                <a:ea typeface="游ゴシック"/>
                <a:cs typeface="游ゴシック"/>
              </a:rPr>
              <a:t>② 製粉・卸売　2,273千円（10.1％）</a:t>
            </a:r>
          </a:p>
        </p:txBody>
      </p:sp>
      <p:sp>
        <p:nvSpPr>
          <p:cNvPr id="69" name="TextBox 68"/>
          <p:cNvSpPr txBox="1"/>
          <p:nvPr/>
        </p:nvSpPr>
        <p:spPr>
          <a:xfrm>
            <a:off x="7242048" y="3163824"/>
            <a:ext cx="3017520" cy="457200"/>
          </a:xfrm>
          <a:prstGeom prst="rect">
            <a:avLst/>
          </a:prstGeom>
          <a:noFill/>
        </p:spPr>
        <p:txBody>
          <a:bodyPr wrap="square" lIns="0" rIns="0" t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キビヤベーカリー1,865千円、ルヴァン㈱231千円</a:t>
            </a:r>
          </a:p>
          <a:p>
            <a:pPr algn="l">
              <a:lnSpc>
                <a:spcPct val="118000"/>
              </a:lnSpc>
              <a:spcAft>
                <a:spcPts val="100"/>
              </a:spcAft>
            </a:pPr>
            <a:r>
              <a:rPr sz="830" b="0">
                <a:solidFill>
                  <a:srgbClr val="5A6670"/>
                </a:solidFill>
                <a:latin typeface="游ゴシック"/>
                <a:ea typeface="游ゴシック"/>
                <a:cs typeface="游ゴシック"/>
              </a:rPr>
              <a:t>（株）シオミ169千円／著名ベーカリー向け</a:t>
            </a:r>
          </a:p>
        </p:txBody>
      </p:sp>
      <p:sp>
        <p:nvSpPr>
          <p:cNvPr id="70" name="Rectangle 69"/>
          <p:cNvSpPr/>
          <p:nvPr/>
        </p:nvSpPr>
        <p:spPr>
          <a:xfrm>
            <a:off x="6620256" y="3244291"/>
            <a:ext cx="475487" cy="2194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1" name="Rectangle 70"/>
          <p:cNvSpPr/>
          <p:nvPr/>
        </p:nvSpPr>
        <p:spPr>
          <a:xfrm>
            <a:off x="7095744" y="3822191"/>
            <a:ext cx="3291840" cy="914400"/>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Rectangle 71"/>
          <p:cNvSpPr/>
          <p:nvPr/>
        </p:nvSpPr>
        <p:spPr>
          <a:xfrm>
            <a:off x="7095744" y="3822191"/>
            <a:ext cx="50292" cy="91440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3" name="TextBox 72"/>
          <p:cNvSpPr txBox="1"/>
          <p:nvPr/>
        </p:nvSpPr>
        <p:spPr>
          <a:xfrm>
            <a:off x="7242048" y="3913631"/>
            <a:ext cx="3017520" cy="219456"/>
          </a:xfrm>
          <a:prstGeom prst="rect">
            <a:avLst/>
          </a:prstGeom>
          <a:noFill/>
        </p:spPr>
        <p:txBody>
          <a:bodyPr wrap="square" lIns="0" rIns="0" tIns="0" bIns="0" anchor="t">
            <a:spAutoFit/>
          </a:bodyPr>
          <a:lstStyle/>
          <a:p>
            <a:pPr algn="l">
              <a:spcAft>
                <a:spcPts val="0"/>
              </a:spcAft>
            </a:pPr>
            <a:r>
              <a:rPr sz="950" b="1">
                <a:solidFill>
                  <a:srgbClr val="0B3041"/>
                </a:solidFill>
                <a:latin typeface="游ゴシック"/>
                <a:ea typeface="游ゴシック"/>
                <a:cs typeface="游ゴシック"/>
              </a:rPr>
              <a:t>③ 通信販売・物販　1,789千円（8.0％）</a:t>
            </a:r>
          </a:p>
        </p:txBody>
      </p:sp>
      <p:sp>
        <p:nvSpPr>
          <p:cNvPr id="74" name="TextBox 73"/>
          <p:cNvSpPr txBox="1"/>
          <p:nvPr/>
        </p:nvSpPr>
        <p:spPr>
          <a:xfrm>
            <a:off x="7242048" y="4187952"/>
            <a:ext cx="3017520" cy="457200"/>
          </a:xfrm>
          <a:prstGeom prst="rect">
            <a:avLst/>
          </a:prstGeom>
          <a:noFill/>
        </p:spPr>
        <p:txBody>
          <a:bodyPr wrap="square" lIns="0" rIns="0" t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Ｅコレクトサガワ（代引通販）1,020千円</a:t>
            </a:r>
          </a:p>
          <a:p>
            <a:pPr algn="l">
              <a:lnSpc>
                <a:spcPct val="118000"/>
              </a:lnSpc>
              <a:spcAft>
                <a:spcPts val="100"/>
              </a:spcAft>
            </a:pPr>
            <a:r>
              <a:rPr sz="830" b="0">
                <a:solidFill>
                  <a:srgbClr val="5A6670"/>
                </a:solidFill>
                <a:latin typeface="游ゴシック"/>
                <a:ea typeface="游ゴシック"/>
                <a:cs typeface="游ゴシック"/>
              </a:rPr>
              <a:t>水府振興公社274千円、アマゾン166千円 ほか</a:t>
            </a:r>
          </a:p>
        </p:txBody>
      </p:sp>
      <p:sp>
        <p:nvSpPr>
          <p:cNvPr id="75" name="Rectangle 74"/>
          <p:cNvSpPr/>
          <p:nvPr/>
        </p:nvSpPr>
        <p:spPr>
          <a:xfrm>
            <a:off x="6620256" y="4268419"/>
            <a:ext cx="475487" cy="2194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6" name="Rectangle 75"/>
          <p:cNvSpPr/>
          <p:nvPr/>
        </p:nvSpPr>
        <p:spPr>
          <a:xfrm>
            <a:off x="7095744" y="4846320"/>
            <a:ext cx="3291840" cy="786384"/>
          </a:xfrm>
          <a:prstGeom prst="rect">
            <a:avLst/>
          </a:prstGeom>
          <a:solidFill>
            <a:srgbClr val="FCF3F2"/>
          </a:solidFill>
          <a:ln w="12700">
            <a:solidFill>
              <a:srgbClr val="C03A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7" name="Rectangle 76"/>
          <p:cNvSpPr/>
          <p:nvPr/>
        </p:nvSpPr>
        <p:spPr>
          <a:xfrm>
            <a:off x="7095744" y="4846320"/>
            <a:ext cx="50292" cy="786384"/>
          </a:xfrm>
          <a:prstGeom prst="rect">
            <a:avLst/>
          </a:prstGeom>
          <a:solidFill>
            <a:srgbClr val="C03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8" name="TextBox 77"/>
          <p:cNvSpPr txBox="1"/>
          <p:nvPr/>
        </p:nvSpPr>
        <p:spPr>
          <a:xfrm>
            <a:off x="7242048" y="4937759"/>
            <a:ext cx="3017520" cy="219456"/>
          </a:xfrm>
          <a:prstGeom prst="rect">
            <a:avLst/>
          </a:prstGeom>
          <a:noFill/>
        </p:spPr>
        <p:txBody>
          <a:bodyPr wrap="square" lIns="0" rIns="0" tIns="0" bIns="0" anchor="t">
            <a:spAutoFit/>
          </a:bodyPr>
          <a:lstStyle/>
          <a:p>
            <a:pPr algn="l">
              <a:spcAft>
                <a:spcPts val="0"/>
              </a:spcAft>
            </a:pPr>
            <a:r>
              <a:rPr sz="950" b="1">
                <a:solidFill>
                  <a:srgbClr val="0B3041"/>
                </a:solidFill>
                <a:latin typeface="游ゴシック"/>
                <a:ea typeface="游ゴシック"/>
                <a:cs typeface="游ゴシック"/>
              </a:rPr>
              <a:t>④ 関係先への食材供給　3,323千円</a:t>
            </a:r>
          </a:p>
        </p:txBody>
      </p:sp>
      <p:sp>
        <p:nvSpPr>
          <p:cNvPr id="79" name="TextBox 78"/>
          <p:cNvSpPr txBox="1"/>
          <p:nvPr/>
        </p:nvSpPr>
        <p:spPr>
          <a:xfrm>
            <a:off x="7242048" y="5212080"/>
            <a:ext cx="3017520" cy="329184"/>
          </a:xfrm>
          <a:prstGeom prst="rect">
            <a:avLst/>
          </a:prstGeom>
          <a:noFill/>
        </p:spPr>
        <p:txBody>
          <a:bodyPr wrap="square" lIns="0" rIns="0" t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塩町館2,624千円、小びと699千円</a:t>
            </a:r>
          </a:p>
          <a:p>
            <a:pPr algn="l">
              <a:lnSpc>
                <a:spcPct val="118000"/>
              </a:lnSpc>
              <a:spcAft>
                <a:spcPts val="100"/>
              </a:spcAft>
            </a:pPr>
            <a:r>
              <a:rPr sz="830" b="0">
                <a:solidFill>
                  <a:srgbClr val="5A6670"/>
                </a:solidFill>
                <a:latin typeface="游ゴシック"/>
                <a:ea typeface="游ゴシック"/>
                <a:cs typeface="游ゴシック"/>
              </a:rPr>
              <a:t>※回収状況は要確認（P.7）</a:t>
            </a:r>
          </a:p>
        </p:txBody>
      </p:sp>
      <p:sp>
        <p:nvSpPr>
          <p:cNvPr id="80" name="Rectangle 79"/>
          <p:cNvSpPr/>
          <p:nvPr/>
        </p:nvSpPr>
        <p:spPr>
          <a:xfrm>
            <a:off x="6620256" y="5228539"/>
            <a:ext cx="475487" cy="21945"/>
          </a:xfrm>
          <a:prstGeom prst="rect">
            <a:avLst/>
          </a:prstGeom>
          <a:solidFill>
            <a:srgbClr val="C03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1" name="TextBox 80"/>
          <p:cNvSpPr txBox="1"/>
          <p:nvPr/>
        </p:nvSpPr>
        <p:spPr>
          <a:xfrm>
            <a:off x="4078224" y="4590288"/>
            <a:ext cx="2542032" cy="219456"/>
          </a:xfrm>
          <a:prstGeom prst="rect">
            <a:avLst/>
          </a:prstGeom>
          <a:noFill/>
        </p:spPr>
        <p:txBody>
          <a:bodyPr wrap="square" lIns="0" rIns="0" tIns="0" bIns="0" anchor="t">
            <a:spAutoFit/>
          </a:bodyPr>
          <a:lstStyle/>
          <a:p>
            <a:pPr algn="ctr">
              <a:spcAft>
                <a:spcPts val="0"/>
              </a:spcAft>
            </a:pPr>
            <a:r>
              <a:rPr sz="850" b="0">
                <a:solidFill>
                  <a:srgbClr val="5A6670"/>
                </a:solidFill>
                <a:latin typeface="游ゴシック"/>
                <a:ea typeface="游ゴシック"/>
                <a:cs typeface="游ゴシック"/>
              </a:rPr>
              <a:t>玄そば・小麦・食材</a:t>
            </a:r>
          </a:p>
        </p:txBody>
      </p:sp>
      <p:sp>
        <p:nvSpPr>
          <p:cNvPr id="82" name="TextBox 81"/>
          <p:cNvSpPr txBox="1"/>
          <p:nvPr/>
        </p:nvSpPr>
        <p:spPr>
          <a:xfrm>
            <a:off x="4078224" y="2340864"/>
            <a:ext cx="2542032" cy="219456"/>
          </a:xfrm>
          <a:prstGeom prst="rect">
            <a:avLst/>
          </a:prstGeom>
          <a:noFill/>
        </p:spPr>
        <p:txBody>
          <a:bodyPr wrap="square" lIns="0" rIns="0" tIns="0" bIns="0" anchor="t">
            <a:spAutoFit/>
          </a:bodyPr>
          <a:lstStyle/>
          <a:p>
            <a:pPr algn="ctr">
              <a:spcAft>
                <a:spcPts val="0"/>
              </a:spcAft>
            </a:pPr>
            <a:r>
              <a:rPr sz="850" b="0">
                <a:solidFill>
                  <a:srgbClr val="5A6670"/>
                </a:solidFill>
                <a:latin typeface="游ゴシック"/>
                <a:ea typeface="游ゴシック"/>
                <a:cs typeface="游ゴシック"/>
              </a:rPr>
              <a:t>蕎麦・蕎麦粉・小麦粉・商品</a:t>
            </a:r>
          </a:p>
        </p:txBody>
      </p:sp>
      <p:sp>
        <p:nvSpPr>
          <p:cNvPr id="83" name="TextBox 82"/>
          <p:cNvSpPr txBox="1"/>
          <p:nvPr/>
        </p:nvSpPr>
        <p:spPr>
          <a:xfrm>
            <a:off x="310896" y="5852160"/>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金額はいずれも2026年5月期。総勘定元帳の相手科目・取引先欄により弊社が集計したものであり、決算書の勘定科目区分とは一致しない。</a:t>
            </a:r>
          </a:p>
        </p:txBody>
      </p:sp>
    </p:spTree>
    <p:extLst>
      <p:ext uri="{BB962C8B-B14F-4D97-AF65-F5344CB8AC3E}">
        <p14:creationId xmlns:p14="http://schemas.microsoft.com/office/powerpoint/2010/main" val="5383831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0B1C5-D3FA-B80D-FCF0-3C49EF8E798D}"/>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C98E073B-FCE4-F6FA-66A7-29E757285F77}"/>
              </a:ext>
            </a:extLst>
          </p:cNvPr>
          <p:cNvSpPr>
            <a:spLocks noGrp="1"/>
          </p:cNvSpPr>
          <p:nvPr>
            <p:ph type="ctrTitle"/>
          </p:nvPr>
        </p:nvSpPr>
        <p:spPr/>
        <p:txBody>
          <a:bodyPr/>
          <a:lstStyle/>
          <a:p>
            <a:r>
              <a:rPr>
                <a:latin typeface="游ゴシック"/>
                <a:ea typeface="游ゴシック"/>
                <a:cs typeface="游ゴシック"/>
              </a:rPr>
              <a:t>「慈久庵」というブランドと代表者</a:t>
            </a:r>
          </a:p>
        </p:txBody>
      </p:sp>
      <p:sp>
        <p:nvSpPr>
          <p:cNvPr id="2" name="タイトル 1">
            <a:extLst>
              <a:ext uri="{FF2B5EF4-FFF2-40B4-BE49-F238E27FC236}">
                <a16:creationId xmlns:a16="http://schemas.microsoft.com/office/drawing/2014/main" id="{1F33762E-23F4-8C5B-C467-2E3E3671C9B0}"/>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事業概要</a:t>
            </a:r>
          </a:p>
        </p:txBody>
      </p:sp>
      <p:sp>
        <p:nvSpPr>
          <p:cNvPr id="4" name="Rectangle 3"/>
          <p:cNvSpPr/>
          <p:nvPr/>
        </p:nvSpPr>
        <p:spPr>
          <a:xfrm>
            <a:off x="310896" y="1444752"/>
            <a:ext cx="4846320"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200" b="1">
                <a:solidFill>
                  <a:srgbClr val="FFFFFF"/>
                </a:solidFill>
                <a:latin typeface="游ゴシック"/>
                <a:ea typeface="游ゴシック"/>
                <a:cs typeface="游ゴシック"/>
              </a:rPr>
              <a:t>代表者 小川 宣夫 氏の歩み</a:t>
            </a:r>
          </a:p>
        </p:txBody>
      </p:sp>
      <p:graphicFrame>
        <p:nvGraphicFramePr>
          <p:cNvPr id="5" name="Table 4"/>
          <p:cNvGraphicFramePr>
            <a:graphicFrameLocks noGrp="1"/>
          </p:cNvGraphicFramePr>
          <p:nvPr/>
        </p:nvGraphicFramePr>
        <p:xfrm>
          <a:off x="310896" y="1801368"/>
          <a:ext cx="4846318" cy="3118104"/>
        </p:xfrm>
        <a:graphic>
          <a:graphicData uri="http://schemas.openxmlformats.org/drawingml/2006/table">
            <a:tbl>
              <a:tblPr firstRow="0" bandRow="0">
                <a:tableStyleId>{5940675A-B579-460E-94D1-54222C63F5DA}</a:tableStyleId>
              </a:tblPr>
              <a:tblGrid>
                <a:gridCol w="786383"/>
                <a:gridCol w="4059935"/>
              </a:tblGrid>
              <a:tr h="228600">
                <a:tc>
                  <a:txBody>
                    <a:bodyPr wrap="square"/>
                    <a:lstStyle/>
                    <a:p>
                      <a:pPr algn="ctr">
                        <a:spcAft>
                          <a:spcPts val="0"/>
                        </a:spcAft>
                      </a:pPr>
                      <a:r>
                        <a:rPr sz="840" b="1">
                          <a:solidFill>
                            <a:srgbClr val="FFFFFF"/>
                          </a:solidFill>
                          <a:latin typeface="游ゴシック"/>
                          <a:ea typeface="游ゴシック"/>
                          <a:cs typeface="游ゴシック"/>
                        </a:rPr>
                        <a:t>年</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内容</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1188">
                <a:tc>
                  <a:txBody>
                    <a:bodyPr wrap="square"/>
                    <a:lstStyle/>
                    <a:p>
                      <a:pPr algn="ctr">
                        <a:spcAft>
                          <a:spcPts val="0"/>
                        </a:spcAft>
                      </a:pPr>
                      <a:r>
                        <a:rPr sz="840" b="0">
                          <a:solidFill>
                            <a:srgbClr val="1A1A1A"/>
                          </a:solidFill>
                          <a:latin typeface="游ゴシック"/>
                          <a:ea typeface="游ゴシック"/>
                          <a:cs typeface="游ゴシック"/>
                        </a:rPr>
                        <a:t>1947年</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茨城県（現・常陸太田市）に生まれる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1188">
                <a:tc>
                  <a:txBody>
                    <a:bodyPr wrap="square"/>
                    <a:lstStyle/>
                    <a:p>
                      <a:pPr algn="ctr">
                        <a:spcAft>
                          <a:spcPts val="0"/>
                        </a:spcAft>
                      </a:pPr>
                      <a:r>
                        <a:rPr sz="840" b="0">
                          <a:solidFill>
                            <a:srgbClr val="1A1A1A"/>
                          </a:solidFill>
                          <a:latin typeface="游ゴシック"/>
                          <a:ea typeface="游ゴシック"/>
                          <a:cs typeface="游ゴシック"/>
                        </a:rPr>
                        <a:t>20代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東京での会社員生活を経て、信州有数の蕎麦どころである長野県大町市へ移住</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1188">
                <a:tc>
                  <a:txBody>
                    <a:bodyPr wrap="square"/>
                    <a:lstStyle/>
                    <a:p>
                      <a:pPr algn="ctr">
                        <a:spcAft>
                          <a:spcPts val="0"/>
                        </a:spcAft>
                      </a:pPr>
                      <a:r>
                        <a:rPr sz="840" b="0">
                          <a:solidFill>
                            <a:srgbClr val="1A1A1A"/>
                          </a:solidFill>
                          <a:latin typeface="游ゴシック"/>
                          <a:ea typeface="游ゴシック"/>
                          <a:cs typeface="游ゴシック"/>
                        </a:rPr>
                        <a:t>1978年頃</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31歳で東京・荻窪の名店「本むら庵」に入店。8年間の修業を経て独立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1188">
                <a:tc>
                  <a:txBody>
                    <a:bodyPr wrap="square"/>
                    <a:lstStyle/>
                    <a:p>
                      <a:pPr algn="ctr">
                        <a:spcAft>
                          <a:spcPts val="0"/>
                        </a:spcAft>
                      </a:pPr>
                      <a:r>
                        <a:rPr sz="840" b="0">
                          <a:solidFill>
                            <a:srgbClr val="1A1A1A"/>
                          </a:solidFill>
                          <a:latin typeface="游ゴシック"/>
                          <a:ea typeface="游ゴシック"/>
                          <a:cs typeface="游ゴシック"/>
                        </a:rPr>
                        <a:t>1990年</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東京・南阿佐ヶ谷に石臼挽き自家製粉の手打ち蕎麦店「慈久庵」を開業（株式会社慈久庵 設立）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1188">
                <a:tc>
                  <a:txBody>
                    <a:bodyPr wrap="square"/>
                    <a:lstStyle/>
                    <a:p>
                      <a:pPr algn="ctr">
                        <a:spcAft>
                          <a:spcPts val="0"/>
                        </a:spcAft>
                      </a:pPr>
                      <a:r>
                        <a:rPr sz="840" b="0">
                          <a:solidFill>
                            <a:srgbClr val="1A1A1A"/>
                          </a:solidFill>
                          <a:latin typeface="游ゴシック"/>
                          <a:ea typeface="游ゴシック"/>
                          <a:cs typeface="游ゴシック"/>
                        </a:rPr>
                        <a:t>2002年</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里山再生への思いから、生まれ故郷の茨城県久慈郡水府村（現・常陸太田市）へ移転</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1188">
                <a:tc>
                  <a:txBody>
                    <a:bodyPr wrap="square"/>
                    <a:lstStyle/>
                    <a:p>
                      <a:pPr algn="ctr">
                        <a:spcAft>
                          <a:spcPts val="0"/>
                        </a:spcAft>
                      </a:pPr>
                      <a:r>
                        <a:rPr sz="840" b="0">
                          <a:solidFill>
                            <a:srgbClr val="1A1A1A"/>
                          </a:solidFill>
                          <a:latin typeface="游ゴシック"/>
                          <a:ea typeface="游ゴシック"/>
                          <a:cs typeface="游ゴシック"/>
                        </a:rPr>
                        <a:t>2005年</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常陸太田市の旧市街地に手打ち饂飩店「塩町館」を開店</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1188">
                <a:tc>
                  <a:txBody>
                    <a:bodyPr wrap="square"/>
                    <a:lstStyle/>
                    <a:p>
                      <a:pPr algn="ctr">
                        <a:spcAft>
                          <a:spcPts val="0"/>
                        </a:spcAft>
                      </a:pPr>
                      <a:r>
                        <a:rPr sz="840" b="0">
                          <a:solidFill>
                            <a:srgbClr val="1A1A1A"/>
                          </a:solidFill>
                          <a:latin typeface="游ゴシック"/>
                          <a:ea typeface="游ゴシック"/>
                          <a:cs typeface="游ゴシック"/>
                        </a:rPr>
                        <a:t>現在</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粗挽き粉で打つ蕎麦の第一人者として知られ、焼き畑蕎麦栽培・小麦や茶の栽培にも取り組む</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1188">
                <a:tc>
                  <a:txBody>
                    <a:bodyPr wrap="square"/>
                    <a:lstStyle/>
                    <a:p>
                      <a:pPr algn="ctr">
                        <a:spcAft>
                          <a:spcPts val="0"/>
                        </a:spcAft>
                      </a:pPr>
                      <a:r>
                        <a:rPr sz="840" b="0">
                          <a:solidFill>
                            <a:srgbClr val="1A1A1A"/>
                          </a:solidFill>
                          <a:latin typeface="游ゴシック"/>
                          <a:ea typeface="游ゴシック"/>
                          <a:cs typeface="游ゴシック"/>
                        </a:rPr>
                        <a:t>著作</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『小川宣夫の蕎麦・饂飩指南 ― 粗挽き蕎麦と石臼挽き饂飩』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6" name="Rectangle 5"/>
          <p:cNvSpPr/>
          <p:nvPr/>
        </p:nvSpPr>
        <p:spPr>
          <a:xfrm>
            <a:off x="5376672" y="1444752"/>
            <a:ext cx="5001768"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200" b="1">
                <a:solidFill>
                  <a:srgbClr val="FFFFFF"/>
                </a:solidFill>
                <a:latin typeface="游ゴシック"/>
                <a:ea typeface="游ゴシック"/>
                <a:cs typeface="游ゴシック"/>
              </a:rPr>
              <a:t>外部からの評価</a:t>
            </a:r>
          </a:p>
        </p:txBody>
      </p:sp>
      <p:graphicFrame>
        <p:nvGraphicFramePr>
          <p:cNvPr id="7" name="Table 6"/>
          <p:cNvGraphicFramePr>
            <a:graphicFrameLocks noGrp="1"/>
          </p:cNvGraphicFramePr>
          <p:nvPr/>
        </p:nvGraphicFramePr>
        <p:xfrm>
          <a:off x="5376672" y="1801368"/>
          <a:ext cx="5001766" cy="1600200"/>
        </p:xfrm>
        <a:graphic>
          <a:graphicData uri="http://schemas.openxmlformats.org/drawingml/2006/table">
            <a:tbl>
              <a:tblPr firstRow="0" bandRow="0">
                <a:tableStyleId>{5940675A-B579-460E-94D1-54222C63F5DA}</a:tableStyleId>
              </a:tblPr>
              <a:tblGrid>
                <a:gridCol w="2377439"/>
                <a:gridCol w="2624327"/>
              </a:tblGrid>
              <a:tr h="228600">
                <a:tc>
                  <a:txBody>
                    <a:bodyPr wrap="square"/>
                    <a:lstStyle/>
                    <a:p>
                      <a:pPr algn="ctr">
                        <a:spcAft>
                          <a:spcPts val="0"/>
                        </a:spcAft>
                      </a:pPr>
                      <a:r>
                        <a:rPr sz="840" b="1">
                          <a:solidFill>
                            <a:srgbClr val="FFFFFF"/>
                          </a:solidFill>
                          <a:latin typeface="游ゴシック"/>
                          <a:ea typeface="游ゴシック"/>
                          <a:cs typeface="游ゴシック"/>
                        </a:rPr>
                        <a:t>評価・受賞</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内容</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840" b="0">
                          <a:solidFill>
                            <a:srgbClr val="1A1A1A"/>
                          </a:solidFill>
                          <a:latin typeface="游ゴシック"/>
                          <a:ea typeface="游ゴシック"/>
                          <a:cs typeface="游ゴシック"/>
                        </a:rPr>
                        <a:t>Japan Restaurant Award 2016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食べログ　茨城県 TOP 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840" b="0">
                          <a:solidFill>
                            <a:srgbClr val="1A1A1A"/>
                          </a:solidFill>
                          <a:latin typeface="游ゴシック"/>
                          <a:ea typeface="游ゴシック"/>
                          <a:cs typeface="游ゴシック"/>
                        </a:rPr>
                        <a:t>THE TABELOG AWARD 2022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Bronze</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840" b="0">
                          <a:solidFill>
                            <a:srgbClr val="1A1A1A"/>
                          </a:solidFill>
                          <a:latin typeface="游ゴシック"/>
                          <a:ea typeface="游ゴシック"/>
                          <a:cs typeface="游ゴシック"/>
                        </a:rPr>
                        <a:t>THE TABELOG AWARD 2023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Bronze</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840" b="0">
                          <a:solidFill>
                            <a:srgbClr val="1A1A1A"/>
                          </a:solidFill>
                          <a:latin typeface="游ゴシック"/>
                          <a:ea typeface="游ゴシック"/>
                          <a:cs typeface="游ゴシック"/>
                        </a:rPr>
                        <a:t>食べログ「そば 百名店」</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選出（店内にステッカー掲示）</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840" b="0">
                          <a:solidFill>
                            <a:srgbClr val="1A1A1A"/>
                          </a:solidFill>
                          <a:latin typeface="游ゴシック"/>
                          <a:ea typeface="游ゴシック"/>
                          <a:cs typeface="游ゴシック"/>
                        </a:rPr>
                        <a:t>Japan Brand Collection 2026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茨城版に「古式健珍蕎麦 慈久庵」として掲載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8" name="Rectangle 7"/>
          <p:cNvSpPr/>
          <p:nvPr/>
        </p:nvSpPr>
        <p:spPr>
          <a:xfrm>
            <a:off x="5376672" y="3566160"/>
            <a:ext cx="5001768"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200" b="1">
                <a:solidFill>
                  <a:srgbClr val="FFFFFF"/>
                </a:solidFill>
                <a:latin typeface="游ゴシック"/>
                <a:ea typeface="游ゴシック"/>
                <a:cs typeface="游ゴシック"/>
              </a:rPr>
              <a:t>ブランドを支える「つくり方」</a:t>
            </a:r>
          </a:p>
        </p:txBody>
      </p:sp>
      <p:sp>
        <p:nvSpPr>
          <p:cNvPr id="9" name="Rectangle 8"/>
          <p:cNvSpPr/>
          <p:nvPr/>
        </p:nvSpPr>
        <p:spPr>
          <a:xfrm>
            <a:off x="5376672" y="3922776"/>
            <a:ext cx="5001768" cy="2670048"/>
          </a:xfrm>
          <a:prstGeom prst="rect">
            <a:avLst/>
          </a:prstGeom>
          <a:solidFill>
            <a:srgbClr val="F7FAFC"/>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504688" y="4032504"/>
            <a:ext cx="4745736" cy="2468880"/>
          </a:xfrm>
          <a:prstGeom prst="rect">
            <a:avLst/>
          </a:prstGeom>
          <a:noFill/>
        </p:spPr>
        <p:txBody>
          <a:bodyPr wrap="square" lIns="0" rIns="0" tIns="0" bIns="0" anchor="t">
            <a:spAutoFit/>
          </a:bodyPr>
          <a:lstStyle/>
          <a:p>
            <a:pPr algn="l">
              <a:lnSpc>
                <a:spcPct val="118000"/>
              </a:lnSpc>
              <a:spcAft>
                <a:spcPts val="200"/>
              </a:spcAft>
            </a:pPr>
            <a:r>
              <a:rPr sz="850" b="1">
                <a:solidFill>
                  <a:srgbClr val="0889C9"/>
                </a:solidFill>
                <a:latin typeface="游ゴシック"/>
                <a:ea typeface="游ゴシック"/>
                <a:cs typeface="游ゴシック"/>
              </a:rPr>
              <a:t>原料　</a:t>
            </a:r>
            <a:r>
              <a:rPr sz="850" b="0">
                <a:solidFill>
                  <a:srgbClr val="1A1A1A"/>
                </a:solidFill>
                <a:latin typeface="游ゴシック"/>
                <a:ea typeface="游ゴシック"/>
                <a:cs typeface="游ゴシック"/>
              </a:rPr>
              <a:t>玄そばの最高峰とされる地元産「常陸秋そば」を、農家を応援する意味合いから高値で買い取り。併せて代表者自ら畑に出て栽培にも従事。</a:t>
            </a:r>
          </a:p>
          <a:p>
            <a:pPr algn="l">
              <a:spcAft>
                <a:spcPts val="200"/>
              </a:spcAft>
            </a:pPr>
          </a:p>
          <a:p>
            <a:pPr algn="l">
              <a:lnSpc>
                <a:spcPct val="118000"/>
              </a:lnSpc>
              <a:spcAft>
                <a:spcPts val="200"/>
              </a:spcAft>
            </a:pPr>
            <a:r>
              <a:rPr sz="850" b="1">
                <a:solidFill>
                  <a:srgbClr val="0889C9"/>
                </a:solidFill>
                <a:latin typeface="游ゴシック"/>
                <a:ea typeface="游ゴシック"/>
                <a:cs typeface="游ゴシック"/>
              </a:rPr>
              <a:t>焼畑　</a:t>
            </a:r>
            <a:r>
              <a:rPr sz="850" b="0">
                <a:solidFill>
                  <a:srgbClr val="1A1A1A"/>
                </a:solidFill>
                <a:latin typeface="游ゴシック"/>
                <a:ea typeface="游ゴシック"/>
                <a:cs typeface="游ゴシック"/>
              </a:rPr>
              <a:t>国内でも希少となった焼き畑農法を再興して24年。放棄されていた土地を再生し、茎が太く生命力に満ちたそばを収穫。</a:t>
            </a:r>
          </a:p>
          <a:p>
            <a:pPr algn="l">
              <a:spcAft>
                <a:spcPts val="200"/>
              </a:spcAft>
            </a:pPr>
          </a:p>
          <a:p>
            <a:pPr algn="l">
              <a:lnSpc>
                <a:spcPct val="118000"/>
              </a:lnSpc>
              <a:spcAft>
                <a:spcPts val="200"/>
              </a:spcAft>
            </a:pPr>
            <a:r>
              <a:rPr sz="850" b="1">
                <a:solidFill>
                  <a:srgbClr val="0889C9"/>
                </a:solidFill>
                <a:latin typeface="游ゴシック"/>
                <a:ea typeface="游ゴシック"/>
                <a:cs typeface="游ゴシック"/>
              </a:rPr>
              <a:t>製粉　</a:t>
            </a:r>
            <a:r>
              <a:rPr sz="850" b="0">
                <a:solidFill>
                  <a:srgbClr val="1A1A1A"/>
                </a:solidFill>
                <a:latin typeface="游ゴシック"/>
                <a:ea typeface="游ゴシック"/>
                <a:cs typeface="游ゴシック"/>
              </a:rPr>
              <a:t>集めたそばを一年間寝かせてから石臼で自家製粉。同一品種でも畑により性質が異なるため畑ごとに袋を分け、寝かせた粉と新しい粉をブレンド。基本は九一。</a:t>
            </a:r>
          </a:p>
          <a:p>
            <a:pPr algn="l">
              <a:spcAft>
                <a:spcPts val="200"/>
              </a:spcAft>
            </a:pPr>
          </a:p>
          <a:p>
            <a:pPr algn="l">
              <a:lnSpc>
                <a:spcPct val="118000"/>
              </a:lnSpc>
              <a:spcAft>
                <a:spcPts val="200"/>
              </a:spcAft>
            </a:pPr>
            <a:r>
              <a:rPr sz="850" b="1">
                <a:solidFill>
                  <a:srgbClr val="0889C9"/>
                </a:solidFill>
                <a:latin typeface="游ゴシック"/>
                <a:ea typeface="游ゴシック"/>
                <a:cs typeface="游ゴシック"/>
              </a:rPr>
              <a:t>商品　</a:t>
            </a:r>
            <a:r>
              <a:rPr sz="850" b="0">
                <a:solidFill>
                  <a:srgbClr val="1A1A1A"/>
                </a:solidFill>
                <a:latin typeface="游ゴシック"/>
                <a:ea typeface="游ゴシック"/>
                <a:cs typeface="游ゴシック"/>
              </a:rPr>
              <a:t>「ホシ」と呼ばれる黒い斑点が浮かぶ粗挽き蕎麦が看板。地元の無農薬有機野菜を使った茨城の郷土蕎麦「古式けんちんそば」（1,900円）も提供。</a:t>
            </a:r>
          </a:p>
          <a:p>
            <a:pPr algn="l">
              <a:spcAft>
                <a:spcPts val="200"/>
              </a:spcAft>
            </a:pPr>
          </a:p>
          <a:p>
            <a:pPr algn="l">
              <a:lnSpc>
                <a:spcPct val="118000"/>
              </a:lnSpc>
              <a:spcAft>
                <a:spcPts val="200"/>
              </a:spcAft>
            </a:pPr>
            <a:r>
              <a:rPr sz="850" b="1">
                <a:solidFill>
                  <a:srgbClr val="0889C9"/>
                </a:solidFill>
                <a:latin typeface="游ゴシック"/>
                <a:ea typeface="游ゴシック"/>
                <a:cs typeface="游ゴシック"/>
              </a:rPr>
              <a:t>同業からの評価　</a:t>
            </a:r>
            <a:r>
              <a:rPr sz="850" b="0">
                <a:solidFill>
                  <a:srgbClr val="1A1A1A"/>
                </a:solidFill>
                <a:latin typeface="游ゴシック"/>
                <a:ea typeface="游ゴシック"/>
                <a:cs typeface="游ゴシック"/>
              </a:rPr>
              <a:t>打心蕎庵・玉笑など同業の有名店が玄そば・蕎麦粉を仕入れ。石臼挽き小麦粉はキビヤベーカリー・ルヴァンへ供給。</a:t>
            </a:r>
          </a:p>
          <a:p>
            <a:pPr algn="l">
              <a:spcAft>
                <a:spcPts val="200"/>
              </a:spcAft>
            </a:pPr>
          </a:p>
        </p:txBody>
      </p:sp>
      <p:sp>
        <p:nvSpPr>
          <p:cNvPr id="11" name="TextBox 10"/>
          <p:cNvSpPr txBox="1"/>
          <p:nvPr/>
        </p:nvSpPr>
        <p:spPr>
          <a:xfrm>
            <a:off x="310896" y="6675120"/>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代表者経歴は著書『小川宣夫の蕎麦・饂飩指南』の著者略歴、ブランド・製法に関する記述は Japan Brand Collection 2026 茨城版に基づく。</a:t>
            </a:r>
          </a:p>
          <a:p>
            <a:pPr algn="l">
              <a:lnSpc>
                <a:spcPct val="112000"/>
              </a:lnSpc>
              <a:spcAft>
                <a:spcPts val="100"/>
              </a:spcAft>
            </a:pPr>
            <a:r>
              <a:rPr sz="750" b="0">
                <a:solidFill>
                  <a:srgbClr val="5A6670"/>
                </a:solidFill>
                <a:latin typeface="游ゴシック"/>
                <a:ea typeface="游ゴシック"/>
                <a:cs typeface="游ゴシック"/>
              </a:rPr>
              <a:t>※ 受賞歴は店内に掲示された盾・楯・ステッカーの実査により確認。受賞記録の原本（表彰状等）は要確認。</a:t>
            </a:r>
          </a:p>
        </p:txBody>
      </p:sp>
    </p:spTree>
    <p:extLst>
      <p:ext uri="{BB962C8B-B14F-4D97-AF65-F5344CB8AC3E}">
        <p14:creationId xmlns:p14="http://schemas.microsoft.com/office/powerpoint/2010/main" val="25275136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3DD08FDB-DE43-2BEC-7657-AFC65253B448}"/>
              </a:ext>
            </a:extLst>
          </p:cNvPr>
          <p:cNvSpPr>
            <a:spLocks noGrp="1"/>
          </p:cNvSpPr>
          <p:nvPr>
            <p:ph type="ctrTitle"/>
          </p:nvPr>
        </p:nvSpPr>
        <p:spPr/>
        <p:txBody>
          <a:bodyPr/>
          <a:lstStyle/>
          <a:p>
            <a:r>
              <a:rPr>
                <a:latin typeface="游ゴシック"/>
                <a:ea typeface="游ゴシック"/>
                <a:cs typeface="游ゴシック"/>
              </a:rPr>
              <a:t>特徴</a:t>
            </a:r>
          </a:p>
        </p:txBody>
      </p:sp>
      <p:sp>
        <p:nvSpPr>
          <p:cNvPr id="2" name="タイトル 1">
            <a:extLst>
              <a:ext uri="{FF2B5EF4-FFF2-40B4-BE49-F238E27FC236}">
                <a16:creationId xmlns:a16="http://schemas.microsoft.com/office/drawing/2014/main" id="{0A4FF749-E8A2-9754-A990-0C08664F52BF}"/>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sz="1200" b="1">
                <a:latin typeface="游ゴシック"/>
                <a:ea typeface="游ゴシック"/>
                <a:cs typeface="游ゴシック"/>
              </a:rPr>
              <a:t>事業概要</a:t>
            </a:r>
          </a:p>
        </p:txBody>
      </p:sp>
      <p:sp>
        <p:nvSpPr>
          <p:cNvPr id="4" name="Rectangle 3"/>
          <p:cNvSpPr/>
          <p:nvPr/>
        </p:nvSpPr>
        <p:spPr>
          <a:xfrm>
            <a:off x="448056" y="1124712"/>
            <a:ext cx="9793224" cy="1655064"/>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448056" y="1124712"/>
            <a:ext cx="50292" cy="165506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649224" y="1472184"/>
            <a:ext cx="1188720" cy="96926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游ゴシック"/>
                <a:ea typeface="游ゴシック"/>
                <a:cs typeface="游ゴシック"/>
              </a:rPr>
              <a:t>特徴</a:t>
            </a:r>
          </a:p>
        </p:txBody>
      </p:sp>
      <p:sp>
        <p:nvSpPr>
          <p:cNvPr id="7" name="TextBox 6"/>
          <p:cNvSpPr txBox="1"/>
          <p:nvPr/>
        </p:nvSpPr>
        <p:spPr>
          <a:xfrm>
            <a:off x="2112264" y="1380744"/>
            <a:ext cx="7918704" cy="310896"/>
          </a:xfrm>
          <a:prstGeom prst="rect">
            <a:avLst/>
          </a:prstGeom>
          <a:noFill/>
        </p:spPr>
        <p:txBody>
          <a:bodyPr wrap="square" lIns="0" rIns="0" tIns="0" bIns="0" anchor="t">
            <a:spAutoFit/>
          </a:bodyPr>
          <a:lstStyle/>
          <a:p>
            <a:pPr algn="l">
              <a:spcAft>
                <a:spcPts val="0"/>
              </a:spcAft>
            </a:pPr>
            <a:r>
              <a:rPr sz="1400" b="1">
                <a:solidFill>
                  <a:srgbClr val="0B3041"/>
                </a:solidFill>
                <a:latin typeface="游ゴシック"/>
                <a:ea typeface="游ゴシック"/>
                <a:cs typeface="游ゴシック"/>
              </a:rPr>
              <a:t>模倣困難な垂直統合と全国区のブランド力</a:t>
            </a:r>
          </a:p>
        </p:txBody>
      </p:sp>
      <p:sp>
        <p:nvSpPr>
          <p:cNvPr id="8" name="TextBox 7"/>
          <p:cNvSpPr txBox="1"/>
          <p:nvPr/>
        </p:nvSpPr>
        <p:spPr>
          <a:xfrm>
            <a:off x="2112264" y="1783080"/>
            <a:ext cx="7918704" cy="832104"/>
          </a:xfrm>
          <a:prstGeom prst="rect">
            <a:avLst/>
          </a:prstGeom>
          <a:noFill/>
        </p:spPr>
        <p:txBody>
          <a:bodyPr wrap="square" lIns="0" rIns="0" tIns="0" bIns="0" anchor="t">
            <a:spAutoFit/>
          </a:bodyPr>
          <a:lstStyle/>
          <a:p>
            <a:pPr algn="l">
              <a:lnSpc>
                <a:spcPct val="122000"/>
              </a:lnSpc>
              <a:spcAft>
                <a:spcPts val="0"/>
              </a:spcAft>
            </a:pPr>
            <a:r>
              <a:rPr sz="1050" b="0">
                <a:solidFill>
                  <a:srgbClr val="1A1A1A"/>
                </a:solidFill>
                <a:latin typeface="游ゴシック"/>
                <a:ea typeface="游ゴシック"/>
                <a:cs typeface="游ゴシック"/>
              </a:rPr>
              <a:t>栽培（焼畑）→ 一年熟成 → 石臼自家製粉 → 手打ち までを自社で完結。食べログ百名店・TABELOG AWARD Bronze（2022・2023）に加え、</a:t>
            </a:r>
          </a:p>
          <a:p>
            <a:pPr algn="l">
              <a:lnSpc>
                <a:spcPct val="122000"/>
              </a:lnSpc>
              <a:spcAft>
                <a:spcPts val="0"/>
              </a:spcAft>
            </a:pPr>
            <a:r>
              <a:rPr sz="1050" b="0">
                <a:solidFill>
                  <a:srgbClr val="1A1A1A"/>
                </a:solidFill>
                <a:latin typeface="游ゴシック"/>
                <a:ea typeface="游ゴシック"/>
                <a:cs typeface="游ゴシック"/>
              </a:rPr>
              <a:t>打心蕎庵・玉笑など同業の有名店が玄そば・蕎麦粉を仕入れに訪れる水準の評価を得ている。</a:t>
            </a:r>
          </a:p>
        </p:txBody>
      </p:sp>
      <p:sp>
        <p:nvSpPr>
          <p:cNvPr id="9" name="Rectangle 8"/>
          <p:cNvSpPr/>
          <p:nvPr/>
        </p:nvSpPr>
        <p:spPr>
          <a:xfrm>
            <a:off x="448056" y="3127248"/>
            <a:ext cx="9793224" cy="1655064"/>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448056" y="3127248"/>
            <a:ext cx="50292" cy="165506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49224" y="3474720"/>
            <a:ext cx="1188720" cy="96926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游ゴシック"/>
                <a:ea typeface="游ゴシック"/>
                <a:cs typeface="游ゴシック"/>
              </a:rPr>
              <a:t>強み</a:t>
            </a:r>
          </a:p>
        </p:txBody>
      </p:sp>
      <p:sp>
        <p:nvSpPr>
          <p:cNvPr id="12" name="TextBox 11"/>
          <p:cNvSpPr txBox="1"/>
          <p:nvPr/>
        </p:nvSpPr>
        <p:spPr>
          <a:xfrm>
            <a:off x="2112264" y="3383280"/>
            <a:ext cx="7918704" cy="310896"/>
          </a:xfrm>
          <a:prstGeom prst="rect">
            <a:avLst/>
          </a:prstGeom>
          <a:noFill/>
        </p:spPr>
        <p:txBody>
          <a:bodyPr wrap="square" lIns="0" rIns="0" tIns="0" bIns="0" anchor="t">
            <a:spAutoFit/>
          </a:bodyPr>
          <a:lstStyle/>
          <a:p>
            <a:pPr algn="l">
              <a:spcAft>
                <a:spcPts val="0"/>
              </a:spcAft>
            </a:pPr>
            <a:r>
              <a:rPr sz="1400" b="1">
                <a:solidFill>
                  <a:srgbClr val="0B3041"/>
                </a:solidFill>
                <a:latin typeface="游ゴシック"/>
                <a:ea typeface="游ゴシック"/>
                <a:cs typeface="游ゴシック"/>
              </a:rPr>
              <a:t>賃料・金融機関借入の負担がない資産構成</a:t>
            </a:r>
          </a:p>
        </p:txBody>
      </p:sp>
      <p:sp>
        <p:nvSpPr>
          <p:cNvPr id="13" name="TextBox 12"/>
          <p:cNvSpPr txBox="1"/>
          <p:nvPr/>
        </p:nvSpPr>
        <p:spPr>
          <a:xfrm>
            <a:off x="2112264" y="3785615"/>
            <a:ext cx="7918704" cy="832104"/>
          </a:xfrm>
          <a:prstGeom prst="rect">
            <a:avLst/>
          </a:prstGeom>
          <a:noFill/>
        </p:spPr>
        <p:txBody>
          <a:bodyPr wrap="square" lIns="0" rIns="0" tIns="0" bIns="0" anchor="t">
            <a:spAutoFit/>
          </a:bodyPr>
          <a:lstStyle/>
          <a:p>
            <a:pPr algn="l">
              <a:lnSpc>
                <a:spcPct val="122000"/>
              </a:lnSpc>
              <a:spcAft>
                <a:spcPts val="0"/>
              </a:spcAft>
            </a:pPr>
            <a:r>
              <a:rPr sz="1050" b="0">
                <a:solidFill>
                  <a:srgbClr val="1A1A1A"/>
                </a:solidFill>
                <a:latin typeface="游ゴシック"/>
                <a:ea typeface="游ゴシック"/>
                <a:cs typeface="游ゴシック"/>
              </a:rPr>
              <a:t>板倉造・茅葺きの自社建物（取得価額104,599千円）と土地を保有し、賃料負担はゼロ。金融機関借入もなく、負債33,673千円の</a:t>
            </a:r>
          </a:p>
          <a:p>
            <a:pPr algn="l">
              <a:lnSpc>
                <a:spcPct val="122000"/>
              </a:lnSpc>
              <a:spcAft>
                <a:spcPts val="0"/>
              </a:spcAft>
            </a:pPr>
            <a:r>
              <a:rPr sz="1050" b="0">
                <a:solidFill>
                  <a:srgbClr val="1A1A1A"/>
                </a:solidFill>
                <a:latin typeface="游ゴシック"/>
                <a:ea typeface="游ゴシック"/>
                <a:cs typeface="游ゴシック"/>
              </a:rPr>
              <a:t>うち32,744千円は代表者・配偶者からの無利息借入。「慈久庵」「古式けんちんそば」の商標も登録済（4件）。</a:t>
            </a:r>
          </a:p>
        </p:txBody>
      </p:sp>
      <p:sp>
        <p:nvSpPr>
          <p:cNvPr id="14" name="Rectangle 13"/>
          <p:cNvSpPr/>
          <p:nvPr/>
        </p:nvSpPr>
        <p:spPr>
          <a:xfrm>
            <a:off x="448056" y="5129783"/>
            <a:ext cx="9793224" cy="1655064"/>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48056" y="5129783"/>
            <a:ext cx="50292" cy="165506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49224" y="5477255"/>
            <a:ext cx="1188720" cy="96926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游ゴシック"/>
                <a:ea typeface="游ゴシック"/>
                <a:cs typeface="游ゴシック"/>
              </a:rPr>
              <a:t>成長性</a:t>
            </a:r>
          </a:p>
        </p:txBody>
      </p:sp>
      <p:sp>
        <p:nvSpPr>
          <p:cNvPr id="17" name="TextBox 16"/>
          <p:cNvSpPr txBox="1"/>
          <p:nvPr/>
        </p:nvSpPr>
        <p:spPr>
          <a:xfrm>
            <a:off x="2112264" y="5385816"/>
            <a:ext cx="7918704" cy="310896"/>
          </a:xfrm>
          <a:prstGeom prst="rect">
            <a:avLst/>
          </a:prstGeom>
          <a:noFill/>
        </p:spPr>
        <p:txBody>
          <a:bodyPr wrap="square" lIns="0" rIns="0" tIns="0" bIns="0" anchor="t">
            <a:spAutoFit/>
          </a:bodyPr>
          <a:lstStyle/>
          <a:p>
            <a:pPr algn="l">
              <a:spcAft>
                <a:spcPts val="0"/>
              </a:spcAft>
            </a:pPr>
            <a:r>
              <a:rPr sz="1400" b="1">
                <a:solidFill>
                  <a:srgbClr val="0B3041"/>
                </a:solidFill>
                <a:latin typeface="游ゴシック"/>
                <a:ea typeface="游ゴシック"/>
                <a:cs typeface="游ゴシック"/>
              </a:rPr>
              <a:t>週4日・昼のみという稼働余地と、商品・多店舗への展開余地</a:t>
            </a:r>
          </a:p>
        </p:txBody>
      </p:sp>
      <p:sp>
        <p:nvSpPr>
          <p:cNvPr id="18" name="TextBox 17"/>
          <p:cNvSpPr txBox="1"/>
          <p:nvPr/>
        </p:nvSpPr>
        <p:spPr>
          <a:xfrm>
            <a:off x="2112264" y="5788151"/>
            <a:ext cx="7918704" cy="832104"/>
          </a:xfrm>
          <a:prstGeom prst="rect">
            <a:avLst/>
          </a:prstGeom>
          <a:noFill/>
        </p:spPr>
        <p:txBody>
          <a:bodyPr wrap="square" lIns="0" rIns="0" tIns="0" bIns="0" anchor="t">
            <a:spAutoFit/>
          </a:bodyPr>
          <a:lstStyle/>
          <a:p>
            <a:pPr algn="l">
              <a:lnSpc>
                <a:spcPct val="122000"/>
              </a:lnSpc>
              <a:spcAft>
                <a:spcPts val="0"/>
              </a:spcAft>
            </a:pPr>
            <a:r>
              <a:rPr sz="1050" b="0">
                <a:solidFill>
                  <a:srgbClr val="1A1A1A"/>
                </a:solidFill>
                <a:latin typeface="游ゴシック"/>
                <a:ea typeface="游ゴシック"/>
                <a:cs typeface="游ゴシック"/>
              </a:rPr>
              <a:t>営業は金・土・日・月の11:30〜14:30のみ（年間200日）。営業日・営業時間の拡大が最も直接的な打ち手となる。</a:t>
            </a:r>
          </a:p>
          <a:p>
            <a:pPr algn="l">
              <a:lnSpc>
                <a:spcPct val="122000"/>
              </a:lnSpc>
              <a:spcAft>
                <a:spcPts val="0"/>
              </a:spcAft>
            </a:pPr>
            <a:r>
              <a:rPr sz="1050" b="0">
                <a:solidFill>
                  <a:srgbClr val="1A1A1A"/>
                </a:solidFill>
                <a:latin typeface="游ゴシック"/>
                <a:ea typeface="游ゴシック"/>
                <a:cs typeface="游ゴシック"/>
              </a:rPr>
              <a:t>通信販売は696→1,020千円と伸長中で、ふるさと納税返礼品にも採用済。過去に弟子へ店舗を承継した実績があり暖簾分けの素地もある。</a:t>
            </a:r>
          </a:p>
        </p:txBody>
      </p:sp>
      <p:sp>
        <p:nvSpPr>
          <p:cNvPr id="19" name="TextBox 18"/>
          <p:cNvSpPr txBox="1"/>
          <p:nvPr/>
        </p:nvSpPr>
        <p:spPr>
          <a:xfrm>
            <a:off x="310896" y="6912864"/>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「強み」「成長性」は弊社の評価であり、将来の業績を保証するものではありません。営業日拡大の効果試算は P.19 に記載。</a:t>
            </a:r>
          </a:p>
        </p:txBody>
      </p:sp>
    </p:spTree>
    <p:extLst>
      <p:ext uri="{BB962C8B-B14F-4D97-AF65-F5344CB8AC3E}">
        <p14:creationId xmlns:p14="http://schemas.microsoft.com/office/powerpoint/2010/main" val="27210844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F8F80-D630-2549-01F8-FD24A474441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売上区分別売上高</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a:latin typeface="游ゴシック"/>
                <a:ea typeface="游ゴシック"/>
                <a:cs typeface="游ゴシック"/>
              </a:rPr>
              <a:t>事業概要</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減収は店頭飲食（4期で△6,157千円）と商品売上（同△2,202千円）が主因。石臼挽き小麦粉の卸売と通信販売はむしろ増加</a:t>
            </a:r>
            <a:endParaRPr lang="en-US" altLang="ja-JP" dirty="0"/>
          </a:p>
        </p:txBody>
      </p:sp>
      <p:graphicFrame>
        <p:nvGraphicFramePr>
          <p:cNvPr id="14" name="Table 13"/>
          <p:cNvGraphicFramePr>
            <a:graphicFrameLocks noGrp="1"/>
          </p:cNvGraphicFramePr>
          <p:nvPr/>
        </p:nvGraphicFramePr>
        <p:xfrm>
          <a:off x="310896" y="1408176"/>
          <a:ext cx="9921236" cy="1627632"/>
        </p:xfrm>
        <a:graphic>
          <a:graphicData uri="http://schemas.openxmlformats.org/drawingml/2006/table">
            <a:tbl>
              <a:tblPr firstRow="0" bandRow="0">
                <a:tableStyleId>{5940675A-B579-460E-94D1-54222C63F5DA}</a:tableStyleId>
              </a:tblPr>
              <a:tblGrid>
                <a:gridCol w="2174802"/>
                <a:gridCol w="1325593"/>
                <a:gridCol w="1325593"/>
                <a:gridCol w="1325593"/>
                <a:gridCol w="1325593"/>
                <a:gridCol w="1325593"/>
                <a:gridCol w="1118469"/>
              </a:tblGrid>
              <a:tr h="256032">
                <a:tc>
                  <a:txBody>
                    <a:bodyPr wrap="square"/>
                    <a:lstStyle/>
                    <a:p>
                      <a:pPr algn="ctr">
                        <a:spcAft>
                          <a:spcPts val="0"/>
                        </a:spcAft>
                      </a:pPr>
                      <a:r>
                        <a:rPr sz="900" b="1">
                          <a:solidFill>
                            <a:srgbClr val="FFFFFF"/>
                          </a:solidFill>
                          <a:latin typeface="游ゴシック"/>
                          <a:ea typeface="游ゴシック"/>
                          <a:cs typeface="游ゴシック"/>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2022/5期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2023/5期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2024/5期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2025/5期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2026/5期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900" b="1">
                          <a:solidFill>
                            <a:srgbClr val="FFFFFF"/>
                          </a:solidFill>
                          <a:latin typeface="Arial"/>
                          <a:ea typeface="Arial"/>
                          <a:cs typeface="Arial"/>
                        </a:rPr>
                        <a:t>22年比</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900" b="0">
                          <a:solidFill>
                            <a:srgbClr val="1A1A1A"/>
                          </a:solidFill>
                          <a:latin typeface="游ゴシック"/>
                          <a:ea typeface="游ゴシック"/>
                          <a:cs typeface="游ゴシック"/>
                        </a:rPr>
                        <a:t>飲食店売上高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23,880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22,083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19,255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19,019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17,723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C03A2B"/>
                          </a:solidFill>
                          <a:latin typeface="Arial"/>
                          <a:ea typeface="Arial"/>
                          <a:cs typeface="Arial"/>
                        </a:rPr>
                        <a:t>△25.8%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900" b="0">
                          <a:solidFill>
                            <a:srgbClr val="1A1A1A"/>
                          </a:solidFill>
                          <a:latin typeface="游ゴシック"/>
                          <a:ea typeface="游ゴシック"/>
                          <a:cs typeface="游ゴシック"/>
                        </a:rPr>
                        <a:t>小麦等売上高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2,235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2,288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2,131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1,919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2,273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1.7%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900" b="0">
                          <a:solidFill>
                            <a:srgbClr val="1A1A1A"/>
                          </a:solidFill>
                          <a:latin typeface="游ゴシック"/>
                          <a:ea typeface="游ゴシック"/>
                          <a:cs typeface="游ゴシック"/>
                        </a:rPr>
                        <a:t>そば売上高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1,266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1,664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1,928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1,592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1,949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54.0%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900" b="0">
                          <a:solidFill>
                            <a:srgbClr val="1A1A1A"/>
                          </a:solidFill>
                          <a:latin typeface="游ゴシック"/>
                          <a:ea typeface="游ゴシック"/>
                          <a:cs typeface="游ゴシック"/>
                        </a:rPr>
                        <a:t>商品売上高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2,740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2,412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1,141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1,012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1A1A1A"/>
                          </a:solidFill>
                          <a:latin typeface="Arial"/>
                          <a:ea typeface="Arial"/>
                          <a:cs typeface="Arial"/>
                        </a:rPr>
                        <a:t>538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0">
                          <a:solidFill>
                            <a:srgbClr val="C03A2B"/>
                          </a:solidFill>
                          <a:latin typeface="Arial"/>
                          <a:ea typeface="Arial"/>
                          <a:cs typeface="Arial"/>
                        </a:rPr>
                        <a:t>△80.4%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4320">
                <a:tc>
                  <a:txBody>
                    <a:bodyPr wrap="square"/>
                    <a:lstStyle/>
                    <a:p>
                      <a:pPr algn="l">
                        <a:spcAft>
                          <a:spcPts val="0"/>
                        </a:spcAft>
                      </a:pPr>
                      <a:r>
                        <a:rPr sz="900" b="1">
                          <a:solidFill>
                            <a:srgbClr val="1A1A1A"/>
                          </a:solidFill>
                          <a:latin typeface="游ゴシック"/>
                          <a:ea typeface="游ゴシック"/>
                          <a:cs typeface="游ゴシック"/>
                        </a:rPr>
                        <a:t>売上高 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1A1A1A"/>
                          </a:solidFill>
                          <a:latin typeface="Arial"/>
                          <a:ea typeface="Arial"/>
                          <a:cs typeface="Arial"/>
                        </a:rPr>
                        <a:t>30,121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1A1A1A"/>
                          </a:solidFill>
                          <a:latin typeface="Arial"/>
                          <a:ea typeface="Arial"/>
                          <a:cs typeface="Arial"/>
                        </a:rPr>
                        <a:t>28,446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1A1A1A"/>
                          </a:solidFill>
                          <a:latin typeface="Arial"/>
                          <a:ea typeface="Arial"/>
                          <a:cs typeface="Arial"/>
                        </a:rPr>
                        <a:t>24,455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1A1A1A"/>
                          </a:solidFill>
                          <a:latin typeface="Arial"/>
                          <a:ea typeface="Arial"/>
                          <a:cs typeface="Arial"/>
                        </a:rPr>
                        <a:t>23,542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1A1A1A"/>
                          </a:solidFill>
                          <a:latin typeface="Arial"/>
                          <a:ea typeface="Arial"/>
                          <a:cs typeface="Arial"/>
                        </a:rPr>
                        <a:t>22,484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900" b="1">
                          <a:solidFill>
                            <a:srgbClr val="C03A2B"/>
                          </a:solidFill>
                          <a:latin typeface="Arial"/>
                          <a:ea typeface="Arial"/>
                          <a:cs typeface="Arial"/>
                        </a:rPr>
                        <a:t>△25.4%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5" name="Rectangle 14"/>
          <p:cNvSpPr/>
          <p:nvPr/>
        </p:nvSpPr>
        <p:spPr>
          <a:xfrm>
            <a:off x="310896" y="3255264"/>
            <a:ext cx="5760720" cy="2066543"/>
          </a:xfrm>
          <a:prstGeom prst="rect">
            <a:avLst/>
          </a:prstGeom>
          <a:solidFill>
            <a:srgbClr val="FBFCFD"/>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20624" y="3328416"/>
            <a:ext cx="5541264" cy="201168"/>
          </a:xfrm>
          <a:prstGeom prst="rect">
            <a:avLst/>
          </a:prstGeom>
          <a:noFill/>
        </p:spPr>
        <p:txBody>
          <a:bodyPr wrap="square" lIns="0" rIns="0" tIns="0" bIns="0" anchor="t">
            <a:spAutoFit/>
          </a:bodyPr>
          <a:lstStyle/>
          <a:p>
            <a:pPr algn="l">
              <a:spcAft>
                <a:spcPts val="0"/>
              </a:spcAft>
            </a:pPr>
            <a:r>
              <a:rPr sz="900" b="1">
                <a:solidFill>
                  <a:srgbClr val="0B3041"/>
                </a:solidFill>
                <a:latin typeface="游ゴシック"/>
                <a:ea typeface="游ゴシック"/>
                <a:cs typeface="游ゴシック"/>
              </a:rPr>
              <a:t>売上高の推移（千円）</a:t>
            </a:r>
          </a:p>
        </p:txBody>
      </p:sp>
      <p:sp>
        <p:nvSpPr>
          <p:cNvPr id="17" name="Rectangle 16"/>
          <p:cNvSpPr/>
          <p:nvPr/>
        </p:nvSpPr>
        <p:spPr>
          <a:xfrm>
            <a:off x="621792" y="3694176"/>
            <a:ext cx="629838" cy="131673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48640" y="3511296"/>
            <a:ext cx="797795" cy="164592"/>
          </a:xfrm>
          <a:prstGeom prst="rect">
            <a:avLst/>
          </a:prstGeom>
          <a:noFill/>
        </p:spPr>
        <p:txBody>
          <a:bodyPr wrap="square" lIns="0" rIns="0" tIns="0" bIns="0" anchor="t">
            <a:spAutoFit/>
          </a:bodyPr>
          <a:lstStyle/>
          <a:p>
            <a:pPr algn="ctr">
              <a:spcAft>
                <a:spcPts val="0"/>
              </a:spcAft>
            </a:pPr>
            <a:r>
              <a:rPr sz="680" b="0">
                <a:solidFill>
                  <a:srgbClr val="0B3041"/>
                </a:solidFill>
                <a:latin typeface="Arial"/>
                <a:ea typeface="Arial"/>
                <a:cs typeface="Arial"/>
              </a:rPr>
              <a:t>30,121</a:t>
            </a:r>
          </a:p>
        </p:txBody>
      </p:sp>
      <p:sp>
        <p:nvSpPr>
          <p:cNvPr id="19" name="TextBox 18"/>
          <p:cNvSpPr txBox="1"/>
          <p:nvPr/>
        </p:nvSpPr>
        <p:spPr>
          <a:xfrm>
            <a:off x="548640" y="5056632"/>
            <a:ext cx="797795" cy="164592"/>
          </a:xfrm>
          <a:prstGeom prst="rect">
            <a:avLst/>
          </a:prstGeom>
          <a:noFill/>
        </p:spPr>
        <p:txBody>
          <a:bodyPr wrap="square" lIns="0" rIns="0" tIns="0" bIns="0" anchor="t">
            <a:spAutoFit/>
          </a:bodyPr>
          <a:lstStyle/>
          <a:p>
            <a:pPr algn="ctr">
              <a:spcAft>
                <a:spcPts val="0"/>
              </a:spcAft>
            </a:pPr>
            <a:r>
              <a:rPr sz="700" b="0">
                <a:solidFill>
                  <a:srgbClr val="5A6670"/>
                </a:solidFill>
                <a:latin typeface="Arial"/>
                <a:ea typeface="Arial"/>
                <a:cs typeface="Arial"/>
              </a:rPr>
              <a:t>22/5期</a:t>
            </a:r>
          </a:p>
        </p:txBody>
      </p:sp>
      <p:sp>
        <p:nvSpPr>
          <p:cNvPr id="20" name="Rectangle 19"/>
          <p:cNvSpPr/>
          <p:nvPr/>
        </p:nvSpPr>
        <p:spPr>
          <a:xfrm>
            <a:off x="1671523" y="3767398"/>
            <a:ext cx="629838" cy="1243513"/>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598371" y="3584518"/>
            <a:ext cx="797795" cy="164592"/>
          </a:xfrm>
          <a:prstGeom prst="rect">
            <a:avLst/>
          </a:prstGeom>
          <a:noFill/>
        </p:spPr>
        <p:txBody>
          <a:bodyPr wrap="square" lIns="0" rIns="0" tIns="0" bIns="0" anchor="t">
            <a:spAutoFit/>
          </a:bodyPr>
          <a:lstStyle/>
          <a:p>
            <a:pPr algn="ctr">
              <a:spcAft>
                <a:spcPts val="0"/>
              </a:spcAft>
            </a:pPr>
            <a:r>
              <a:rPr sz="680" b="0">
                <a:solidFill>
                  <a:srgbClr val="0B3041"/>
                </a:solidFill>
                <a:latin typeface="Arial"/>
                <a:ea typeface="Arial"/>
                <a:cs typeface="Arial"/>
              </a:rPr>
              <a:t>28,446</a:t>
            </a:r>
          </a:p>
        </p:txBody>
      </p:sp>
      <p:sp>
        <p:nvSpPr>
          <p:cNvPr id="22" name="TextBox 21"/>
          <p:cNvSpPr txBox="1"/>
          <p:nvPr/>
        </p:nvSpPr>
        <p:spPr>
          <a:xfrm>
            <a:off x="1598371" y="5056632"/>
            <a:ext cx="797795" cy="164592"/>
          </a:xfrm>
          <a:prstGeom prst="rect">
            <a:avLst/>
          </a:prstGeom>
          <a:noFill/>
        </p:spPr>
        <p:txBody>
          <a:bodyPr wrap="square" lIns="0" rIns="0" tIns="0" bIns="0" anchor="t">
            <a:spAutoFit/>
          </a:bodyPr>
          <a:lstStyle/>
          <a:p>
            <a:pPr algn="ctr">
              <a:spcAft>
                <a:spcPts val="0"/>
              </a:spcAft>
            </a:pPr>
            <a:r>
              <a:rPr sz="700" b="0">
                <a:solidFill>
                  <a:srgbClr val="5A6670"/>
                </a:solidFill>
                <a:latin typeface="Arial"/>
                <a:ea typeface="Arial"/>
                <a:cs typeface="Arial"/>
              </a:rPr>
              <a:t>23/5期</a:t>
            </a:r>
          </a:p>
        </p:txBody>
      </p:sp>
      <p:sp>
        <p:nvSpPr>
          <p:cNvPr id="23" name="Rectangle 22"/>
          <p:cNvSpPr/>
          <p:nvPr/>
        </p:nvSpPr>
        <p:spPr>
          <a:xfrm>
            <a:off x="2721254" y="3941864"/>
            <a:ext cx="629838" cy="1069047"/>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2648102" y="3758984"/>
            <a:ext cx="797795" cy="164592"/>
          </a:xfrm>
          <a:prstGeom prst="rect">
            <a:avLst/>
          </a:prstGeom>
          <a:noFill/>
        </p:spPr>
        <p:txBody>
          <a:bodyPr wrap="square" lIns="0" rIns="0" tIns="0" bIns="0" anchor="t">
            <a:spAutoFit/>
          </a:bodyPr>
          <a:lstStyle/>
          <a:p>
            <a:pPr algn="ctr">
              <a:spcAft>
                <a:spcPts val="0"/>
              </a:spcAft>
            </a:pPr>
            <a:r>
              <a:rPr sz="680" b="0">
                <a:solidFill>
                  <a:srgbClr val="0B3041"/>
                </a:solidFill>
                <a:latin typeface="Arial"/>
                <a:ea typeface="Arial"/>
                <a:cs typeface="Arial"/>
              </a:rPr>
              <a:t>24,455</a:t>
            </a:r>
          </a:p>
        </p:txBody>
      </p:sp>
      <p:sp>
        <p:nvSpPr>
          <p:cNvPr id="25" name="TextBox 24"/>
          <p:cNvSpPr txBox="1"/>
          <p:nvPr/>
        </p:nvSpPr>
        <p:spPr>
          <a:xfrm>
            <a:off x="2648102" y="5056632"/>
            <a:ext cx="797795" cy="164592"/>
          </a:xfrm>
          <a:prstGeom prst="rect">
            <a:avLst/>
          </a:prstGeom>
          <a:noFill/>
        </p:spPr>
        <p:txBody>
          <a:bodyPr wrap="square" lIns="0" rIns="0" tIns="0" bIns="0" anchor="t">
            <a:spAutoFit/>
          </a:bodyPr>
          <a:lstStyle/>
          <a:p>
            <a:pPr algn="ctr">
              <a:spcAft>
                <a:spcPts val="0"/>
              </a:spcAft>
            </a:pPr>
            <a:r>
              <a:rPr sz="700" b="0">
                <a:solidFill>
                  <a:srgbClr val="5A6670"/>
                </a:solidFill>
                <a:latin typeface="Arial"/>
                <a:ea typeface="Arial"/>
                <a:cs typeface="Arial"/>
              </a:rPr>
              <a:t>24/5期</a:t>
            </a:r>
          </a:p>
        </p:txBody>
      </p:sp>
      <p:sp>
        <p:nvSpPr>
          <p:cNvPr id="26" name="Rectangle 25"/>
          <p:cNvSpPr/>
          <p:nvPr/>
        </p:nvSpPr>
        <p:spPr>
          <a:xfrm>
            <a:off x="3770985" y="3981776"/>
            <a:ext cx="629838" cy="102913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697833" y="3798896"/>
            <a:ext cx="797795" cy="164592"/>
          </a:xfrm>
          <a:prstGeom prst="rect">
            <a:avLst/>
          </a:prstGeom>
          <a:noFill/>
        </p:spPr>
        <p:txBody>
          <a:bodyPr wrap="square" lIns="0" rIns="0" tIns="0" bIns="0" anchor="t">
            <a:spAutoFit/>
          </a:bodyPr>
          <a:lstStyle/>
          <a:p>
            <a:pPr algn="ctr">
              <a:spcAft>
                <a:spcPts val="0"/>
              </a:spcAft>
            </a:pPr>
            <a:r>
              <a:rPr sz="680" b="0">
                <a:solidFill>
                  <a:srgbClr val="0B3041"/>
                </a:solidFill>
                <a:latin typeface="Arial"/>
                <a:ea typeface="Arial"/>
                <a:cs typeface="Arial"/>
              </a:rPr>
              <a:t>23,542</a:t>
            </a:r>
          </a:p>
        </p:txBody>
      </p:sp>
      <p:sp>
        <p:nvSpPr>
          <p:cNvPr id="28" name="TextBox 27"/>
          <p:cNvSpPr txBox="1"/>
          <p:nvPr/>
        </p:nvSpPr>
        <p:spPr>
          <a:xfrm>
            <a:off x="3697833" y="5056632"/>
            <a:ext cx="797795" cy="164592"/>
          </a:xfrm>
          <a:prstGeom prst="rect">
            <a:avLst/>
          </a:prstGeom>
          <a:noFill/>
        </p:spPr>
        <p:txBody>
          <a:bodyPr wrap="square" lIns="0" rIns="0" tIns="0" bIns="0" anchor="t">
            <a:spAutoFit/>
          </a:bodyPr>
          <a:lstStyle/>
          <a:p>
            <a:pPr algn="ctr">
              <a:spcAft>
                <a:spcPts val="0"/>
              </a:spcAft>
            </a:pPr>
            <a:r>
              <a:rPr sz="700" b="0">
                <a:solidFill>
                  <a:srgbClr val="5A6670"/>
                </a:solidFill>
                <a:latin typeface="Arial"/>
                <a:ea typeface="Arial"/>
                <a:cs typeface="Arial"/>
              </a:rPr>
              <a:t>25/5期</a:t>
            </a:r>
          </a:p>
        </p:txBody>
      </p:sp>
      <p:sp>
        <p:nvSpPr>
          <p:cNvPr id="29" name="Rectangle 28"/>
          <p:cNvSpPr/>
          <p:nvPr/>
        </p:nvSpPr>
        <p:spPr>
          <a:xfrm>
            <a:off x="4820716" y="4028026"/>
            <a:ext cx="629838" cy="982885"/>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4747564" y="3845146"/>
            <a:ext cx="797795" cy="164592"/>
          </a:xfrm>
          <a:prstGeom prst="rect">
            <a:avLst/>
          </a:prstGeom>
          <a:noFill/>
        </p:spPr>
        <p:txBody>
          <a:bodyPr wrap="square" lIns="0" rIns="0" tIns="0" bIns="0" anchor="t">
            <a:spAutoFit/>
          </a:bodyPr>
          <a:lstStyle/>
          <a:p>
            <a:pPr algn="ctr">
              <a:spcAft>
                <a:spcPts val="0"/>
              </a:spcAft>
            </a:pPr>
            <a:r>
              <a:rPr sz="680" b="0">
                <a:solidFill>
                  <a:srgbClr val="0B3041"/>
                </a:solidFill>
                <a:latin typeface="Arial"/>
                <a:ea typeface="Arial"/>
                <a:cs typeface="Arial"/>
              </a:rPr>
              <a:t>22,484</a:t>
            </a:r>
          </a:p>
        </p:txBody>
      </p:sp>
      <p:sp>
        <p:nvSpPr>
          <p:cNvPr id="31" name="TextBox 30"/>
          <p:cNvSpPr txBox="1"/>
          <p:nvPr/>
        </p:nvSpPr>
        <p:spPr>
          <a:xfrm>
            <a:off x="4747564" y="5056632"/>
            <a:ext cx="797795" cy="164592"/>
          </a:xfrm>
          <a:prstGeom prst="rect">
            <a:avLst/>
          </a:prstGeom>
          <a:noFill/>
        </p:spPr>
        <p:txBody>
          <a:bodyPr wrap="square" lIns="0" rIns="0" tIns="0" bIns="0" anchor="t">
            <a:spAutoFit/>
          </a:bodyPr>
          <a:lstStyle/>
          <a:p>
            <a:pPr algn="ctr">
              <a:spcAft>
                <a:spcPts val="0"/>
              </a:spcAft>
            </a:pPr>
            <a:r>
              <a:rPr sz="700" b="0">
                <a:solidFill>
                  <a:srgbClr val="5A6670"/>
                </a:solidFill>
                <a:latin typeface="Arial"/>
                <a:ea typeface="Arial"/>
                <a:cs typeface="Arial"/>
              </a:rPr>
              <a:t>26/5期</a:t>
            </a:r>
          </a:p>
        </p:txBody>
      </p:sp>
      <p:sp>
        <p:nvSpPr>
          <p:cNvPr id="32" name="Rectangle 31"/>
          <p:cNvSpPr/>
          <p:nvPr/>
        </p:nvSpPr>
        <p:spPr>
          <a:xfrm>
            <a:off x="530352" y="5010912"/>
            <a:ext cx="5358383" cy="13716"/>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6272784" y="3255264"/>
            <a:ext cx="4105656" cy="2066543"/>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364224" y="3328416"/>
            <a:ext cx="3922776" cy="274320"/>
          </a:xfrm>
          <a:prstGeom prst="rect">
            <a:avLst/>
          </a:prstGeom>
          <a:noFill/>
        </p:spPr>
        <p:txBody>
          <a:bodyPr wrap="square" lIns="0" rIns="0" t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35" name="TextBox 34"/>
          <p:cNvSpPr txBox="1"/>
          <p:nvPr/>
        </p:nvSpPr>
        <p:spPr>
          <a:xfrm>
            <a:off x="6382512" y="3675888"/>
            <a:ext cx="3886200" cy="1554479"/>
          </a:xfrm>
          <a:prstGeom prst="rect">
            <a:avLst/>
          </a:prstGeom>
          <a:noFill/>
        </p:spPr>
        <p:txBody>
          <a:bodyPr wrap="square" lIns="0" rIns="0" tIns="0" bIns="0" anchor="t">
            <a:spAutoFit/>
          </a:bodyPr>
          <a:lstStyle/>
          <a:p>
            <a:pPr algn="l">
              <a:lnSpc>
                <a:spcPct val="118000"/>
              </a:lnSpc>
              <a:spcAft>
                <a:spcPts val="200"/>
              </a:spcAft>
            </a:pPr>
            <a:r>
              <a:rPr sz="830" b="1">
                <a:solidFill>
                  <a:srgbClr val="0889C9"/>
                </a:solidFill>
                <a:latin typeface="游ゴシック"/>
                <a:ea typeface="游ゴシック"/>
                <a:cs typeface="游ゴシック"/>
              </a:rPr>
              <a:t>≪店頭飲食≫ </a:t>
            </a:r>
            <a:r>
              <a:rPr sz="830" b="0">
                <a:solidFill>
                  <a:srgbClr val="1A1A1A"/>
                </a:solidFill>
                <a:latin typeface="游ゴシック"/>
                <a:ea typeface="游ゴシック"/>
                <a:cs typeface="游ゴシック"/>
              </a:rPr>
              <a:t>23,880→17,723千円（△25.8％）。売上減の約8割を占める最大の要因。</a:t>
            </a:r>
          </a:p>
          <a:p>
            <a:pPr algn="l">
              <a:spcAft>
                <a:spcPts val="200"/>
              </a:spcAft>
            </a:pPr>
          </a:p>
          <a:p>
            <a:pPr algn="l">
              <a:lnSpc>
                <a:spcPct val="118000"/>
              </a:lnSpc>
              <a:spcAft>
                <a:spcPts val="200"/>
              </a:spcAft>
            </a:pPr>
            <a:r>
              <a:rPr sz="830" b="1">
                <a:solidFill>
                  <a:srgbClr val="0889C9"/>
                </a:solidFill>
                <a:latin typeface="游ゴシック"/>
                <a:ea typeface="游ゴシック"/>
                <a:cs typeface="游ゴシック"/>
              </a:rPr>
              <a:t>≪小麦等売上≫ </a:t>
            </a:r>
            <a:r>
              <a:rPr sz="830" b="0">
                <a:solidFill>
                  <a:srgbClr val="1A1A1A"/>
                </a:solidFill>
                <a:latin typeface="游ゴシック"/>
                <a:ea typeface="游ゴシック"/>
                <a:cs typeface="游ゴシック"/>
              </a:rPr>
              <a:t>2,235→2,273千円とほぼ横ばい。キビヤベーカリー向けが8割を占め、取引は3期連続で継続。</a:t>
            </a:r>
          </a:p>
          <a:p>
            <a:pPr algn="l">
              <a:spcAft>
                <a:spcPts val="200"/>
              </a:spcAft>
            </a:pPr>
          </a:p>
          <a:p>
            <a:pPr algn="l">
              <a:lnSpc>
                <a:spcPct val="118000"/>
              </a:lnSpc>
              <a:spcAft>
                <a:spcPts val="200"/>
              </a:spcAft>
            </a:pPr>
            <a:r>
              <a:rPr sz="830" b="1">
                <a:solidFill>
                  <a:srgbClr val="0889C9"/>
                </a:solidFill>
                <a:latin typeface="游ゴシック"/>
                <a:ea typeface="游ゴシック"/>
                <a:cs typeface="游ゴシック"/>
              </a:rPr>
              <a:t>≪そば売上≫ </a:t>
            </a:r>
            <a:r>
              <a:rPr sz="830" b="0">
                <a:solidFill>
                  <a:srgbClr val="1A1A1A"/>
                </a:solidFill>
                <a:latin typeface="游ゴシック"/>
                <a:ea typeface="游ゴシック"/>
                <a:cs typeface="游ゴシック"/>
              </a:rPr>
              <a:t>1,266→1,949千円と増加。通信販売（Ｅコレクトサガワ経由）が604→1,020千円と伸長。</a:t>
            </a:r>
          </a:p>
          <a:p>
            <a:pPr algn="l">
              <a:spcAft>
                <a:spcPts val="200"/>
              </a:spcAft>
            </a:pPr>
          </a:p>
          <a:p>
            <a:pPr algn="l">
              <a:lnSpc>
                <a:spcPct val="118000"/>
              </a:lnSpc>
              <a:spcAft>
                <a:spcPts val="200"/>
              </a:spcAft>
            </a:pPr>
            <a:r>
              <a:rPr sz="830" b="1">
                <a:solidFill>
                  <a:srgbClr val="0889C9"/>
                </a:solidFill>
                <a:latin typeface="游ゴシック"/>
                <a:ea typeface="游ゴシック"/>
                <a:cs typeface="游ゴシック"/>
              </a:rPr>
              <a:t>≪商品売上≫ </a:t>
            </a:r>
            <a:r>
              <a:rPr sz="830" b="0">
                <a:solidFill>
                  <a:srgbClr val="1A1A1A"/>
                </a:solidFill>
                <a:latin typeface="游ゴシック"/>
                <a:ea typeface="游ゴシック"/>
                <a:cs typeface="游ゴシック"/>
              </a:rPr>
              <a:t>2,740→538千円。健興通商向けの商品卸（2024/5期474千円）が2026/5期にゼロとなったことが主因で、同社は現在は仕入先（要確認）。</a:t>
            </a:r>
          </a:p>
        </p:txBody>
      </p:sp>
      <p:sp>
        <p:nvSpPr>
          <p:cNvPr id="36" name="TextBox 35"/>
          <p:cNvSpPr txBox="1"/>
          <p:nvPr/>
        </p:nvSpPr>
        <p:spPr>
          <a:xfrm>
            <a:off x="310896" y="5486400"/>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2022/5期・2023/5期は決算書からの直接転記、2024/5期以降は案件マスター（PLシート）の数値。</a:t>
            </a:r>
          </a:p>
          <a:p>
            <a:pPr algn="l">
              <a:lnSpc>
                <a:spcPct val="112000"/>
              </a:lnSpc>
              <a:spcAft>
                <a:spcPts val="100"/>
              </a:spcAft>
            </a:pPr>
            <a:r>
              <a:rPr sz="750" b="0">
                <a:solidFill>
                  <a:srgbClr val="5A6670"/>
                </a:solidFill>
                <a:latin typeface="游ゴシック"/>
                <a:ea typeface="游ゴシック"/>
                <a:cs typeface="游ゴシック"/>
              </a:rPr>
              <a:t>※ 飲食店売上高には関係先（塩町館・小びと）への食材供給分を含む。店頭飲食のみの金額は P.16 参照。</a:t>
            </a:r>
          </a:p>
        </p:txBody>
      </p:sp>
    </p:spTree>
    <p:extLst>
      <p:ext uri="{BB962C8B-B14F-4D97-AF65-F5344CB8AC3E}">
        <p14:creationId xmlns:p14="http://schemas.microsoft.com/office/powerpoint/2010/main" val="588634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B8376-2868-4693-0731-367BA549897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C27F0F89-0B1D-9CEC-826A-DEB17C9DB0B7}"/>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主要販売先別売上高</a:t>
            </a:r>
          </a:p>
        </p:txBody>
      </p:sp>
      <p:sp>
        <p:nvSpPr>
          <p:cNvPr id="5" name="タイトル 1">
            <a:extLst>
              <a:ext uri="{FF2B5EF4-FFF2-40B4-BE49-F238E27FC236}">
                <a16:creationId xmlns:a16="http://schemas.microsoft.com/office/drawing/2014/main" id="{2223494B-5776-7256-BAFB-772D4CDC079C}"/>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a:latin typeface="游ゴシック"/>
                <a:ea typeface="游ゴシック"/>
                <a:cs typeface="游ゴシック"/>
              </a:rPr>
              <a:t>事業概要</a:t>
            </a:r>
          </a:p>
        </p:txBody>
      </p:sp>
      <p:sp>
        <p:nvSpPr>
          <p:cNvPr id="15" name="字幕 13">
            <a:extLst>
              <a:ext uri="{FF2B5EF4-FFF2-40B4-BE49-F238E27FC236}">
                <a16:creationId xmlns:a16="http://schemas.microsoft.com/office/drawing/2014/main" id="{1F008ACD-B486-E0BB-8334-06D21A697D08}"/>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売上の67％は店頭の一般消費者であり特定先への依存はない。卸売最大のキビヤベーカリーでも構成比8.3％</a:t>
            </a:r>
            <a:endParaRPr lang="en-US" altLang="ja-JP" dirty="0"/>
          </a:p>
        </p:txBody>
      </p:sp>
      <p:graphicFrame>
        <p:nvGraphicFramePr>
          <p:cNvPr id="16" name="Table 15"/>
          <p:cNvGraphicFramePr>
            <a:graphicFrameLocks noGrp="1"/>
          </p:cNvGraphicFramePr>
          <p:nvPr/>
        </p:nvGraphicFramePr>
        <p:xfrm>
          <a:off x="310896" y="1408176"/>
          <a:ext cx="9921235" cy="3401556"/>
        </p:xfrm>
        <a:graphic>
          <a:graphicData uri="http://schemas.openxmlformats.org/drawingml/2006/table">
            <a:tbl>
              <a:tblPr firstRow="0" bandRow="0">
                <a:tableStyleId>{5940675A-B579-460E-94D1-54222C63F5DA}</a:tableStyleId>
              </a:tblPr>
              <a:tblGrid>
                <a:gridCol w="375094"/>
                <a:gridCol w="2119281"/>
                <a:gridCol w="2081772"/>
                <a:gridCol w="956490"/>
                <a:gridCol w="806452"/>
                <a:gridCol w="656414"/>
                <a:gridCol w="806452"/>
                <a:gridCol w="656414"/>
                <a:gridCol w="806452"/>
                <a:gridCol w="656414"/>
              </a:tblGrid>
              <a:tr h="274320">
                <a:tc>
                  <a:txBody>
                    <a:bodyPr wrap="square"/>
                    <a:lstStyle/>
                    <a:p>
                      <a:pPr algn="ctr">
                        <a:spcAft>
                          <a:spcPts val="0"/>
                        </a:spcAft>
                      </a:pPr>
                      <a:r>
                        <a:rPr sz="810" b="1">
                          <a:solidFill>
                            <a:srgbClr val="FFFFFF"/>
                          </a:solidFill>
                          <a:latin typeface="游ゴシック"/>
                          <a:ea typeface="游ゴシック"/>
                          <a:cs typeface="游ゴシック"/>
                        </a:rPr>
                        <a:t>No.</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0" b="1">
                          <a:solidFill>
                            <a:srgbClr val="FFFFFF"/>
                          </a:solidFill>
                          <a:latin typeface="Arial"/>
                          <a:ea typeface="Arial"/>
                          <a:cs typeface="Arial"/>
                        </a:rPr>
                        <a:t>得意先</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0" b="1">
                          <a:solidFill>
                            <a:srgbClr val="FFFFFF"/>
                          </a:solidFill>
                          <a:latin typeface="Arial"/>
                          <a:ea typeface="Arial"/>
                          <a:cs typeface="Arial"/>
                        </a:rPr>
                        <a:t>取引内容</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0" b="1">
                          <a:solidFill>
                            <a:srgbClr val="FFFFFF"/>
                          </a:solidFill>
                          <a:latin typeface="Arial"/>
                          <a:ea typeface="Arial"/>
                          <a:cs typeface="Arial"/>
                        </a:rPr>
                        <a:t>業種等</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0" b="1">
                          <a:solidFill>
                            <a:srgbClr val="FFFFFF"/>
                          </a:solidFill>
                          <a:latin typeface="Arial"/>
                          <a:ea typeface="Arial"/>
                          <a:cs typeface="Arial"/>
                        </a:rPr>
                        <a:t>2024/5期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0" b="1">
                          <a:solidFill>
                            <a:srgbClr val="FFFFFF"/>
                          </a:solidFill>
                          <a:latin typeface="Arial"/>
                          <a:ea typeface="Arial"/>
                          <a:cs typeface="Arial"/>
                        </a:rPr>
                        <a:t>構成比</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0" b="1">
                          <a:solidFill>
                            <a:srgbClr val="FFFFFF"/>
                          </a:solidFill>
                          <a:latin typeface="Arial"/>
                          <a:ea typeface="Arial"/>
                          <a:cs typeface="Arial"/>
                        </a:rPr>
                        <a:t>2025/5期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0" b="1">
                          <a:solidFill>
                            <a:srgbClr val="FFFFFF"/>
                          </a:solidFill>
                          <a:latin typeface="Arial"/>
                          <a:ea typeface="Arial"/>
                          <a:cs typeface="Arial"/>
                        </a:rPr>
                        <a:t>構成比</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0" b="1">
                          <a:solidFill>
                            <a:srgbClr val="FFFFFF"/>
                          </a:solidFill>
                          <a:latin typeface="Arial"/>
                          <a:ea typeface="Arial"/>
                          <a:cs typeface="Arial"/>
                        </a:rPr>
                        <a:t>2026/5期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0" b="1">
                          <a:solidFill>
                            <a:srgbClr val="FFFFFF"/>
                          </a:solidFill>
                          <a:latin typeface="Arial"/>
                          <a:ea typeface="Arial"/>
                          <a:cs typeface="Arial"/>
                        </a:rPr>
                        <a:t>構成比</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ctr">
                        <a:spcAft>
                          <a:spcPts val="0"/>
                        </a:spcAft>
                      </a:pPr>
                      <a:r>
                        <a:rPr sz="810" b="0">
                          <a:solidFill>
                            <a:srgbClr val="1A1A1A"/>
                          </a:solidFill>
                          <a:latin typeface="Arial"/>
                          <a:ea typeface="Arial"/>
                          <a:cs typeface="Arial"/>
                        </a:rPr>
                        <a:t>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一般消費者（店頭飲食）</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そば店「慈久庵」での店内飲食</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一般消費者</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17,517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71.6%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16,167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68.7%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15,099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67.2%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ctr">
                        <a:spcAft>
                          <a:spcPts val="0"/>
                        </a:spcAft>
                      </a:pPr>
                      <a:r>
                        <a:rPr sz="810" b="0">
                          <a:solidFill>
                            <a:srgbClr val="1A1A1A"/>
                          </a:solidFill>
                          <a:latin typeface="Arial"/>
                          <a:ea typeface="Arial"/>
                          <a:cs typeface="Arial"/>
                        </a:rPr>
                        <a:t>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塩町館</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そば・食材の供給</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飲食店</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1,738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7.1%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2,852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12.1%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2,624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11.7%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ctr">
                        <a:spcAft>
                          <a:spcPts val="0"/>
                        </a:spcAft>
                      </a:pPr>
                      <a:r>
                        <a:rPr sz="810" b="0">
                          <a:solidFill>
                            <a:srgbClr val="1A1A1A"/>
                          </a:solidFill>
                          <a:latin typeface="Arial"/>
                          <a:ea typeface="Arial"/>
                          <a:cs typeface="Arial"/>
                        </a:rPr>
                        <a:t>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キビヤベーカリー</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石臼挽き小麦粉の卸売</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ベーカリー</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1,778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7.3%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1,563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1,865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8.3%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ctr">
                        <a:spcAft>
                          <a:spcPts val="0"/>
                        </a:spcAft>
                      </a:pPr>
                      <a:r>
                        <a:rPr sz="810" b="0">
                          <a:solidFill>
                            <a:srgbClr val="1A1A1A"/>
                          </a:solidFill>
                          <a:latin typeface="Arial"/>
                          <a:ea typeface="Arial"/>
                          <a:cs typeface="Arial"/>
                        </a:rPr>
                        <a:t>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Ｅコレクトサガワ（通信販売）</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蕎麦粉・玄そば等の通信販売</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通販代引決済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696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2.8%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733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3.1%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1,020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4.5%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ctr">
                        <a:spcAft>
                          <a:spcPts val="0"/>
                        </a:spcAft>
                      </a:pPr>
                      <a:r>
                        <a:rPr sz="810" b="0">
                          <a:solidFill>
                            <a:srgbClr val="1A1A1A"/>
                          </a:solidFill>
                          <a:latin typeface="Arial"/>
                          <a:ea typeface="Arial"/>
                          <a:cs typeface="Arial"/>
                        </a:rPr>
                        <a:t>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小びと 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玄そば・材料費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飲食店</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413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410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699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3.1%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ctr">
                        <a:spcAft>
                          <a:spcPts val="0"/>
                        </a:spcAft>
                      </a:pPr>
                      <a:r>
                        <a:rPr sz="810" b="0">
                          <a:solidFill>
                            <a:srgbClr val="1A1A1A"/>
                          </a:solidFill>
                          <a:latin typeface="Arial"/>
                          <a:ea typeface="Arial"/>
                          <a:cs typeface="Arial"/>
                        </a:rPr>
                        <a:t>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水府振興公社</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乾麺・そばつゆ等の商品卸</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道の駅・物産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257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257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274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ctr">
                        <a:spcAft>
                          <a:spcPts val="0"/>
                        </a:spcAft>
                      </a:pPr>
                      <a:r>
                        <a:rPr sz="810" b="0">
                          <a:solidFill>
                            <a:srgbClr val="1A1A1A"/>
                          </a:solidFill>
                          <a:latin typeface="Arial"/>
                          <a:ea typeface="Arial"/>
                          <a:cs typeface="Arial"/>
                        </a:rPr>
                        <a:t>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ルヴァン株式会社</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石臼挽き小麦粉の卸売</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ベーカリー</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327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277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231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ctr">
                        <a:spcAft>
                          <a:spcPts val="0"/>
                        </a:spcAft>
                      </a:pPr>
                      <a:r>
                        <a:rPr sz="810" b="0">
                          <a:solidFill>
                            <a:srgbClr val="1A1A1A"/>
                          </a:solidFill>
                          <a:latin typeface="Arial"/>
                          <a:ea typeface="Arial"/>
                          <a:cs typeface="Arial"/>
                        </a:rPr>
                        <a:t>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玉笑い</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玄そばの卸売</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飲食店</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230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ctr">
                        <a:spcAft>
                          <a:spcPts val="0"/>
                        </a:spcAft>
                      </a:pPr>
                      <a:r>
                        <a:rPr sz="810" b="0">
                          <a:solidFill>
                            <a:srgbClr val="1A1A1A"/>
                          </a:solidFill>
                          <a:latin typeface="Arial"/>
                          <a:ea typeface="Arial"/>
                          <a:cs typeface="Arial"/>
                        </a:rPr>
                        <a:t>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株式会社シオミ</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石臼挽き小麦粉の卸売</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ベーカリー</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0.1%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169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0.8%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ctr">
                        <a:spcAft>
                          <a:spcPts val="0"/>
                        </a:spcAft>
                      </a:pPr>
                      <a:r>
                        <a:rPr sz="810" b="0">
                          <a:solidFill>
                            <a:srgbClr val="1A1A1A"/>
                          </a:solidFill>
                          <a:latin typeface="Arial"/>
                          <a:ea typeface="Arial"/>
                          <a:cs typeface="Arial"/>
                        </a:rPr>
                        <a:t>10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アマゾンジャパン</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乾麺・そばつゆ等のEC販売</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ＥＣモール</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117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0.5%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249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0.7%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ctr">
                        <a:spcAft>
                          <a:spcPts val="0"/>
                        </a:spcAft>
                      </a:pPr>
                      <a:r>
                        <a:rPr sz="81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その他</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1,612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1,018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4.3%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107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0.5%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ctr">
                        <a:spcAft>
                          <a:spcPts val="0"/>
                        </a:spcAft>
                      </a:pPr>
                      <a:r>
                        <a:rPr sz="810" b="1">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1">
                          <a:solidFill>
                            <a:srgbClr val="1A1A1A"/>
                          </a:solidFill>
                          <a:latin typeface="游ゴシック"/>
                          <a:ea typeface="游ゴシック"/>
                          <a:cs typeface="游ゴシック"/>
                        </a:rPr>
                        <a:t>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1">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1">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1">
                          <a:solidFill>
                            <a:srgbClr val="1A1A1A"/>
                          </a:solidFill>
                          <a:latin typeface="Arial"/>
                          <a:ea typeface="Arial"/>
                          <a:cs typeface="Arial"/>
                        </a:rPr>
                        <a:t>24,455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1">
                          <a:solidFill>
                            <a:srgbClr val="1A1A1A"/>
                          </a:solidFill>
                          <a:latin typeface="Arial"/>
                          <a:ea typeface="Arial"/>
                          <a:cs typeface="Arial"/>
                        </a:rPr>
                        <a:t>100.0%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1">
                          <a:solidFill>
                            <a:srgbClr val="1A1A1A"/>
                          </a:solidFill>
                          <a:latin typeface="Arial"/>
                          <a:ea typeface="Arial"/>
                          <a:cs typeface="Arial"/>
                        </a:rPr>
                        <a:t>23,542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1">
                          <a:solidFill>
                            <a:srgbClr val="1A1A1A"/>
                          </a:solidFill>
                          <a:latin typeface="Arial"/>
                          <a:ea typeface="Arial"/>
                          <a:cs typeface="Arial"/>
                        </a:rPr>
                        <a:t>100.0%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1">
                          <a:solidFill>
                            <a:srgbClr val="1A1A1A"/>
                          </a:solidFill>
                          <a:latin typeface="Arial"/>
                          <a:ea typeface="Arial"/>
                          <a:cs typeface="Arial"/>
                        </a:rPr>
                        <a:t>22,484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1">
                          <a:solidFill>
                            <a:srgbClr val="1A1A1A"/>
                          </a:solidFill>
                          <a:latin typeface="Arial"/>
                          <a:ea typeface="Arial"/>
                          <a:cs typeface="Arial"/>
                        </a:rPr>
                        <a:t>100.0%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7" name="Rounded Rectangle 16"/>
          <p:cNvSpPr/>
          <p:nvPr/>
        </p:nvSpPr>
        <p:spPr>
          <a:xfrm>
            <a:off x="310896" y="5074920"/>
            <a:ext cx="9921240" cy="877824"/>
          </a:xfrm>
          <a:prstGeom prst="roundRect">
            <a:avLst/>
          </a:prstGeom>
          <a:solidFill>
            <a:srgbClr val="E1F3FB"/>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310896" y="5074920"/>
            <a:ext cx="1417320" cy="877824"/>
          </a:xfrm>
          <a:prstGeom prst="round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02336" y="5404103"/>
            <a:ext cx="1271016" cy="219456"/>
          </a:xfrm>
          <a:prstGeom prst="rect">
            <a:avLst/>
          </a:prstGeom>
          <a:noFill/>
        </p:spPr>
        <p:txBody>
          <a:bodyPr wrap="square" lIns="0" rIns="0" tIns="0" bIns="0" anchor="t">
            <a:spAutoFit/>
          </a:bodyPr>
          <a:lstStyle/>
          <a:p>
            <a:pPr algn="ctr">
              <a:spcAft>
                <a:spcPts val="0"/>
              </a:spcAft>
            </a:pPr>
            <a:r>
              <a:rPr sz="1300" b="1">
                <a:solidFill>
                  <a:srgbClr val="FFFFFF"/>
                </a:solidFill>
                <a:latin typeface="游ゴシック"/>
                <a:ea typeface="游ゴシック"/>
                <a:cs typeface="游ゴシック"/>
              </a:rPr>
              <a:t>ポイント</a:t>
            </a:r>
          </a:p>
        </p:txBody>
      </p:sp>
      <p:sp>
        <p:nvSpPr>
          <p:cNvPr id="20" name="Oval 19"/>
          <p:cNvSpPr/>
          <p:nvPr/>
        </p:nvSpPr>
        <p:spPr>
          <a:xfrm>
            <a:off x="1883664" y="5394959"/>
            <a:ext cx="237744" cy="237744"/>
          </a:xfrm>
          <a:prstGeom prst="ellipse">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游ゴシック"/>
                <a:ea typeface="游ゴシック"/>
                <a:cs typeface="游ゴシック"/>
              </a:rPr>
              <a:t>✓</a:t>
            </a:r>
          </a:p>
        </p:txBody>
      </p:sp>
      <p:sp>
        <p:nvSpPr>
          <p:cNvPr id="21" name="TextBox 20"/>
          <p:cNvSpPr txBox="1"/>
          <p:nvPr/>
        </p:nvSpPr>
        <p:spPr>
          <a:xfrm>
            <a:off x="2194560" y="5239512"/>
            <a:ext cx="2380487" cy="603503"/>
          </a:xfrm>
          <a:prstGeom prst="rect">
            <a:avLst/>
          </a:prstGeom>
          <a:noFill/>
        </p:spPr>
        <p:txBody>
          <a:bodyPr wrap="square" lIns="0" rIns="0" tIns="0" bIns="0" anchor="ctr">
            <a:spAutoFit/>
          </a:bodyPr>
          <a:lstStyle/>
          <a:p>
            <a:pPr algn="l">
              <a:lnSpc>
                <a:spcPct val="118000"/>
              </a:lnSpc>
              <a:spcAft>
                <a:spcPts val="0"/>
              </a:spcAft>
            </a:pPr>
            <a:r>
              <a:rPr sz="930" b="1">
                <a:solidFill>
                  <a:srgbClr val="202020"/>
                </a:solidFill>
                <a:latin typeface="游ゴシック"/>
                <a:ea typeface="游ゴシック"/>
                <a:cs typeface="游ゴシック"/>
              </a:rPr>
              <a:t>店頭の一般消費者が67.2％。</a:t>
            </a:r>
          </a:p>
          <a:p>
            <a:pPr algn="l">
              <a:lnSpc>
                <a:spcPct val="118000"/>
              </a:lnSpc>
              <a:spcAft>
                <a:spcPts val="0"/>
              </a:spcAft>
            </a:pPr>
            <a:r>
              <a:rPr sz="930" b="1">
                <a:solidFill>
                  <a:srgbClr val="202020"/>
                </a:solidFill>
                <a:latin typeface="游ゴシック"/>
                <a:ea typeface="游ゴシック"/>
                <a:cs typeface="游ゴシック"/>
              </a:rPr>
              <a:t>特定の法人顧客への依存はない</a:t>
            </a:r>
          </a:p>
        </p:txBody>
      </p:sp>
      <p:sp>
        <p:nvSpPr>
          <p:cNvPr id="22" name="Oval 21"/>
          <p:cNvSpPr/>
          <p:nvPr/>
        </p:nvSpPr>
        <p:spPr>
          <a:xfrm>
            <a:off x="4666488" y="5394959"/>
            <a:ext cx="237744" cy="237744"/>
          </a:xfrm>
          <a:prstGeom prst="ellipse">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游ゴシック"/>
                <a:ea typeface="游ゴシック"/>
                <a:cs typeface="游ゴシック"/>
              </a:rPr>
              <a:t>✓</a:t>
            </a:r>
          </a:p>
        </p:txBody>
      </p:sp>
      <p:sp>
        <p:nvSpPr>
          <p:cNvPr id="23" name="TextBox 22"/>
          <p:cNvSpPr txBox="1"/>
          <p:nvPr/>
        </p:nvSpPr>
        <p:spPr>
          <a:xfrm>
            <a:off x="4977384" y="5239512"/>
            <a:ext cx="2380487" cy="603503"/>
          </a:xfrm>
          <a:prstGeom prst="rect">
            <a:avLst/>
          </a:prstGeom>
          <a:noFill/>
        </p:spPr>
        <p:txBody>
          <a:bodyPr wrap="square" lIns="0" rIns="0" tIns="0" bIns="0" anchor="ctr">
            <a:spAutoFit/>
          </a:bodyPr>
          <a:lstStyle/>
          <a:p>
            <a:pPr algn="l">
              <a:lnSpc>
                <a:spcPct val="118000"/>
              </a:lnSpc>
              <a:spcAft>
                <a:spcPts val="0"/>
              </a:spcAft>
            </a:pPr>
            <a:r>
              <a:rPr sz="930" b="1">
                <a:solidFill>
                  <a:srgbClr val="202020"/>
                </a:solidFill>
                <a:latin typeface="游ゴシック"/>
                <a:ea typeface="游ゴシック"/>
                <a:cs typeface="游ゴシック"/>
              </a:rPr>
              <a:t>通信販売696→1,020千円、キビヤ</a:t>
            </a:r>
          </a:p>
          <a:p>
            <a:pPr algn="l">
              <a:lnSpc>
                <a:spcPct val="118000"/>
              </a:lnSpc>
              <a:spcAft>
                <a:spcPts val="0"/>
              </a:spcAft>
            </a:pPr>
            <a:r>
              <a:rPr sz="930" b="1">
                <a:solidFill>
                  <a:srgbClr val="202020"/>
                </a:solidFill>
                <a:latin typeface="游ゴシック"/>
                <a:ea typeface="游ゴシック"/>
                <a:cs typeface="游ゴシック"/>
              </a:rPr>
              <a:t>ベーカリー1,778→1,865千円と増加</a:t>
            </a:r>
          </a:p>
        </p:txBody>
      </p:sp>
      <p:sp>
        <p:nvSpPr>
          <p:cNvPr id="24" name="Oval 23"/>
          <p:cNvSpPr/>
          <p:nvPr/>
        </p:nvSpPr>
        <p:spPr>
          <a:xfrm>
            <a:off x="7449312" y="5394959"/>
            <a:ext cx="237744" cy="237744"/>
          </a:xfrm>
          <a:prstGeom prst="ellipse">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游ゴシック"/>
                <a:ea typeface="游ゴシック"/>
                <a:cs typeface="游ゴシック"/>
              </a:rPr>
              <a:t>✓</a:t>
            </a:r>
          </a:p>
        </p:txBody>
      </p:sp>
      <p:sp>
        <p:nvSpPr>
          <p:cNvPr id="25" name="TextBox 24"/>
          <p:cNvSpPr txBox="1"/>
          <p:nvPr/>
        </p:nvSpPr>
        <p:spPr>
          <a:xfrm>
            <a:off x="7760208" y="5239512"/>
            <a:ext cx="2380487" cy="603503"/>
          </a:xfrm>
          <a:prstGeom prst="rect">
            <a:avLst/>
          </a:prstGeom>
          <a:noFill/>
        </p:spPr>
        <p:txBody>
          <a:bodyPr wrap="square" lIns="0" rIns="0" tIns="0" bIns="0" anchor="ctr">
            <a:spAutoFit/>
          </a:bodyPr>
          <a:lstStyle/>
          <a:p>
            <a:pPr algn="l">
              <a:lnSpc>
                <a:spcPct val="118000"/>
              </a:lnSpc>
              <a:spcAft>
                <a:spcPts val="0"/>
              </a:spcAft>
            </a:pPr>
            <a:r>
              <a:rPr sz="930" b="1">
                <a:solidFill>
                  <a:srgbClr val="202020"/>
                </a:solidFill>
                <a:latin typeface="游ゴシック"/>
                <a:ea typeface="游ゴシック"/>
                <a:cs typeface="游ゴシック"/>
              </a:rPr>
              <a:t>塩町館・小びと（計3,323千円）は</a:t>
            </a:r>
          </a:p>
          <a:p>
            <a:pPr algn="l">
              <a:lnSpc>
                <a:spcPct val="118000"/>
              </a:lnSpc>
              <a:spcAft>
                <a:spcPts val="0"/>
              </a:spcAft>
            </a:pPr>
            <a:r>
              <a:rPr sz="930" b="1">
                <a:solidFill>
                  <a:srgbClr val="202020"/>
                </a:solidFill>
                <a:latin typeface="游ゴシック"/>
                <a:ea typeface="游ゴシック"/>
                <a:cs typeface="游ゴシック"/>
              </a:rPr>
              <a:t>関係先向け。未収金の滞留は要確認</a:t>
            </a:r>
          </a:p>
        </p:txBody>
      </p:sp>
      <p:sp>
        <p:nvSpPr>
          <p:cNvPr id="26" name="TextBox 25"/>
          <p:cNvSpPr txBox="1"/>
          <p:nvPr/>
        </p:nvSpPr>
        <p:spPr>
          <a:xfrm>
            <a:off x="310896" y="6126480"/>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総勘定元帳の取引先欄を集計したもの。相手先の記載がない仕訳は「その他」に含まれる。</a:t>
            </a:r>
          </a:p>
          <a:p>
            <a:pPr algn="l">
              <a:lnSpc>
                <a:spcPct val="112000"/>
              </a:lnSpc>
              <a:spcAft>
                <a:spcPts val="100"/>
              </a:spcAft>
            </a:pPr>
            <a:r>
              <a:rPr sz="750" b="0">
                <a:solidFill>
                  <a:srgbClr val="5A6670"/>
                </a:solidFill>
                <a:latin typeface="游ゴシック"/>
                <a:ea typeface="游ゴシック"/>
                <a:cs typeface="游ゴシック"/>
              </a:rPr>
              <a:t>※ 「小びと 等」の2024/5期・2025/5期は、元帳上の摘要が「玄そば未収分」等であり取引先の特定が未了（要確認）。</a:t>
            </a:r>
          </a:p>
        </p:txBody>
      </p:sp>
    </p:spTree>
    <p:extLst>
      <p:ext uri="{BB962C8B-B14F-4D97-AF65-F5344CB8AC3E}">
        <p14:creationId xmlns:p14="http://schemas.microsoft.com/office/powerpoint/2010/main" val="1962968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7C0C1-FCD4-88FA-EA3C-20168900DCC8}"/>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AE20CDE1-7008-F0D4-81FD-53AE154BF5EA}"/>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主要仕入先別取引高</a:t>
            </a:r>
          </a:p>
        </p:txBody>
      </p:sp>
      <p:sp>
        <p:nvSpPr>
          <p:cNvPr id="5" name="タイトル 1">
            <a:extLst>
              <a:ext uri="{FF2B5EF4-FFF2-40B4-BE49-F238E27FC236}">
                <a16:creationId xmlns:a16="http://schemas.microsoft.com/office/drawing/2014/main" id="{6790A563-0096-2902-0624-D66AB2A099B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a:latin typeface="游ゴシック"/>
                <a:ea typeface="游ゴシック"/>
                <a:cs typeface="游ゴシック"/>
              </a:rPr>
              <a:t>事業概要</a:t>
            </a:r>
          </a:p>
        </p:txBody>
      </p:sp>
      <p:sp>
        <p:nvSpPr>
          <p:cNvPr id="7" name="字幕 13">
            <a:extLst>
              <a:ext uri="{FF2B5EF4-FFF2-40B4-BE49-F238E27FC236}">
                <a16:creationId xmlns:a16="http://schemas.microsoft.com/office/drawing/2014/main" id="{C28AC2D5-7B01-C5B2-1062-1CE28DB5BD3C}"/>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原料は小麦（ミルキーウェーブ）と玄そば（海老根氏）の2先で約4割。いずれも地元・個人の生産者との直接取引</a:t>
            </a:r>
            <a:endParaRPr lang="en-US" altLang="ja-JP" dirty="0"/>
          </a:p>
        </p:txBody>
      </p:sp>
      <p:graphicFrame>
        <p:nvGraphicFramePr>
          <p:cNvPr id="14" name="Table 13"/>
          <p:cNvGraphicFramePr>
            <a:graphicFrameLocks noGrp="1"/>
          </p:cNvGraphicFramePr>
          <p:nvPr/>
        </p:nvGraphicFramePr>
        <p:xfrm>
          <a:off x="310896" y="1408176"/>
          <a:ext cx="9921235" cy="3401556"/>
        </p:xfrm>
        <a:graphic>
          <a:graphicData uri="http://schemas.openxmlformats.org/drawingml/2006/table">
            <a:tbl>
              <a:tblPr firstRow="0" bandRow="0">
                <a:tableStyleId>{5940675A-B579-460E-94D1-54222C63F5DA}</a:tableStyleId>
              </a:tblPr>
              <a:tblGrid>
                <a:gridCol w="375094"/>
                <a:gridCol w="2306828"/>
                <a:gridCol w="1594150"/>
                <a:gridCol w="1256565"/>
                <a:gridCol w="806452"/>
                <a:gridCol w="656414"/>
                <a:gridCol w="806452"/>
                <a:gridCol w="656414"/>
                <a:gridCol w="806452"/>
                <a:gridCol w="656414"/>
              </a:tblGrid>
              <a:tr h="274320">
                <a:tc>
                  <a:txBody>
                    <a:bodyPr wrap="square"/>
                    <a:lstStyle/>
                    <a:p>
                      <a:pPr algn="ctr">
                        <a:spcAft>
                          <a:spcPts val="0"/>
                        </a:spcAft>
                      </a:pPr>
                      <a:r>
                        <a:rPr sz="810" b="1">
                          <a:solidFill>
                            <a:srgbClr val="FFFFFF"/>
                          </a:solidFill>
                          <a:latin typeface="游ゴシック"/>
                          <a:ea typeface="游ゴシック"/>
                          <a:cs typeface="游ゴシック"/>
                        </a:rPr>
                        <a:t>No.</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0" b="1">
                          <a:solidFill>
                            <a:srgbClr val="FFFFFF"/>
                          </a:solidFill>
                          <a:latin typeface="Arial"/>
                          <a:ea typeface="Arial"/>
                          <a:cs typeface="Arial"/>
                        </a:rPr>
                        <a:t>仕入先</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0" b="1">
                          <a:solidFill>
                            <a:srgbClr val="FFFFFF"/>
                          </a:solidFill>
                          <a:latin typeface="Arial"/>
                          <a:ea typeface="Arial"/>
                          <a:cs typeface="Arial"/>
                        </a:rPr>
                        <a:t>仕入内容</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0" b="1">
                          <a:solidFill>
                            <a:srgbClr val="FFFFFF"/>
                          </a:solidFill>
                          <a:latin typeface="Arial"/>
                          <a:ea typeface="Arial"/>
                          <a:cs typeface="Arial"/>
                        </a:rPr>
                        <a:t>所在地</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0" b="1">
                          <a:solidFill>
                            <a:srgbClr val="FFFFFF"/>
                          </a:solidFill>
                          <a:latin typeface="Arial"/>
                          <a:ea typeface="Arial"/>
                          <a:cs typeface="Arial"/>
                        </a:rPr>
                        <a:t>2024/5期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0" b="1">
                          <a:solidFill>
                            <a:srgbClr val="FFFFFF"/>
                          </a:solidFill>
                          <a:latin typeface="Arial"/>
                          <a:ea typeface="Arial"/>
                          <a:cs typeface="Arial"/>
                        </a:rPr>
                        <a:t>構成比</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0" b="1">
                          <a:solidFill>
                            <a:srgbClr val="FFFFFF"/>
                          </a:solidFill>
                          <a:latin typeface="Arial"/>
                          <a:ea typeface="Arial"/>
                          <a:cs typeface="Arial"/>
                        </a:rPr>
                        <a:t>2025/5期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0" b="1">
                          <a:solidFill>
                            <a:srgbClr val="FFFFFF"/>
                          </a:solidFill>
                          <a:latin typeface="Arial"/>
                          <a:ea typeface="Arial"/>
                          <a:cs typeface="Arial"/>
                        </a:rPr>
                        <a:t>構成比</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0" b="1">
                          <a:solidFill>
                            <a:srgbClr val="FFFFFF"/>
                          </a:solidFill>
                          <a:latin typeface="Arial"/>
                          <a:ea typeface="Arial"/>
                          <a:cs typeface="Arial"/>
                        </a:rPr>
                        <a:t>2026/5期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0" b="1">
                          <a:solidFill>
                            <a:srgbClr val="FFFFFF"/>
                          </a:solidFill>
                          <a:latin typeface="Arial"/>
                          <a:ea typeface="Arial"/>
                          <a:cs typeface="Arial"/>
                        </a:rPr>
                        <a:t>構成比</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ctr">
                        <a:spcAft>
                          <a:spcPts val="0"/>
                        </a:spcAft>
                      </a:pPr>
                      <a:r>
                        <a:rPr sz="810" b="0">
                          <a:solidFill>
                            <a:srgbClr val="1A1A1A"/>
                          </a:solidFill>
                          <a:latin typeface="Arial"/>
                          <a:ea typeface="Arial"/>
                          <a:cs typeface="Arial"/>
                        </a:rPr>
                        <a:t>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ミルキーウェーブ（外岡 清秀）</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小麦（原料）</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1,235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24.3%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1,241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28.8%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1,155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25.1%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ctr">
                        <a:spcAft>
                          <a:spcPts val="0"/>
                        </a:spcAft>
                      </a:pPr>
                      <a:r>
                        <a:rPr sz="810" b="0">
                          <a:solidFill>
                            <a:srgbClr val="1A1A1A"/>
                          </a:solidFill>
                          <a:latin typeface="Arial"/>
                          <a:ea typeface="Arial"/>
                          <a:cs typeface="Arial"/>
                        </a:rPr>
                        <a:t>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海老根 章</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玄そば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茨城県内</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1,300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25.6%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1,100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25.5%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660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14.4%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ctr">
                        <a:spcAft>
                          <a:spcPts val="0"/>
                        </a:spcAft>
                      </a:pPr>
                      <a:r>
                        <a:rPr sz="810" b="0">
                          <a:solidFill>
                            <a:srgbClr val="1A1A1A"/>
                          </a:solidFill>
                          <a:latin typeface="Arial"/>
                          <a:ea typeface="Arial"/>
                          <a:cs typeface="Arial"/>
                        </a:rPr>
                        <a:t>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健興通商</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酒類・食材</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148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2.9%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253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5.9%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477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10.4%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ctr">
                        <a:spcAft>
                          <a:spcPts val="0"/>
                        </a:spcAft>
                      </a:pPr>
                      <a:r>
                        <a:rPr sz="810" b="0">
                          <a:solidFill>
                            <a:srgbClr val="1A1A1A"/>
                          </a:solidFill>
                          <a:latin typeface="Arial"/>
                          <a:ea typeface="Arial"/>
                          <a:cs typeface="Arial"/>
                        </a:rPr>
                        <a:t>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株式会社鈴木商店</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食材全般</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茨城県内</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191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3.8%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321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7.4%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334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7.3%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ctr">
                        <a:spcAft>
                          <a:spcPts val="0"/>
                        </a:spcAft>
                      </a:pPr>
                      <a:r>
                        <a:rPr sz="810" b="0">
                          <a:solidFill>
                            <a:srgbClr val="1A1A1A"/>
                          </a:solidFill>
                          <a:latin typeface="Arial"/>
                          <a:ea typeface="Arial"/>
                          <a:cs typeface="Arial"/>
                        </a:rPr>
                        <a:t>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株式会社西崎ファーム</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鴨肉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42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174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3.8%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ctr">
                        <a:spcAft>
                          <a:spcPts val="0"/>
                        </a:spcAft>
                      </a:pPr>
                      <a:r>
                        <a:rPr sz="810" b="0">
                          <a:solidFill>
                            <a:srgbClr val="1A1A1A"/>
                          </a:solidFill>
                          <a:latin typeface="Arial"/>
                          <a:ea typeface="Arial"/>
                          <a:cs typeface="Arial"/>
                        </a:rPr>
                        <a:t>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三輪デグストアトウキョウ</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食材</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東京都</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85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217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125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2.7%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ctr">
                        <a:spcAft>
                          <a:spcPts val="0"/>
                        </a:spcAft>
                      </a:pPr>
                      <a:r>
                        <a:rPr sz="810" b="0">
                          <a:solidFill>
                            <a:srgbClr val="1A1A1A"/>
                          </a:solidFill>
                          <a:latin typeface="Arial"/>
                          <a:ea typeface="Arial"/>
                          <a:cs typeface="Arial"/>
                        </a:rPr>
                        <a:t>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岩魚郷北条屋敷</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岩魚</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135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2.7%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107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2.5%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113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2.5%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ctr">
                        <a:spcAft>
                          <a:spcPts val="0"/>
                        </a:spcAft>
                      </a:pPr>
                      <a:r>
                        <a:rPr sz="810" b="0">
                          <a:solidFill>
                            <a:srgbClr val="1A1A1A"/>
                          </a:solidFill>
                          <a:latin typeface="Arial"/>
                          <a:ea typeface="Arial"/>
                          <a:cs typeface="Arial"/>
                        </a:rPr>
                        <a:t>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多田製粉株式会社</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粉類</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125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2.5%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135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3.1%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110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2.4%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ctr">
                        <a:spcAft>
                          <a:spcPts val="0"/>
                        </a:spcAft>
                      </a:pPr>
                      <a:r>
                        <a:rPr sz="810" b="0">
                          <a:solidFill>
                            <a:srgbClr val="1A1A1A"/>
                          </a:solidFill>
                          <a:latin typeface="Arial"/>
                          <a:ea typeface="Arial"/>
                          <a:cs typeface="Arial"/>
                        </a:rPr>
                        <a:t>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伊勢又米穀製粉株式会社</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打ち粉・製粉外注</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茨城県常陸太田市</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384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7.6%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104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2.4%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109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2.4%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ctr">
                        <a:spcAft>
                          <a:spcPts val="0"/>
                        </a:spcAft>
                      </a:pPr>
                      <a:r>
                        <a:rPr sz="810" b="0">
                          <a:solidFill>
                            <a:srgbClr val="1A1A1A"/>
                          </a:solidFill>
                          <a:latin typeface="Arial"/>
                          <a:ea typeface="Arial"/>
                          <a:cs typeface="Arial"/>
                        </a:rPr>
                        <a:t>10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岡村製油株式会社</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天ぷら油</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大阪府</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113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2.2%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82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92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2.0%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ctr">
                        <a:spcAft>
                          <a:spcPts val="0"/>
                        </a:spcAft>
                      </a:pPr>
                      <a:r>
                        <a:rPr sz="81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その他</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1,365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26.9%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710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16.5%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1,245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0">
                          <a:solidFill>
                            <a:srgbClr val="1A1A1A"/>
                          </a:solidFill>
                          <a:latin typeface="Arial"/>
                          <a:ea typeface="Arial"/>
                          <a:cs typeface="Arial"/>
                        </a:rPr>
                        <a:t>27.1%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0603">
                <a:tc>
                  <a:txBody>
                    <a:bodyPr wrap="square"/>
                    <a:lstStyle/>
                    <a:p>
                      <a:pPr algn="ctr">
                        <a:spcAft>
                          <a:spcPts val="0"/>
                        </a:spcAft>
                      </a:pPr>
                      <a:r>
                        <a:rPr sz="810" b="1">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1">
                          <a:solidFill>
                            <a:srgbClr val="1A1A1A"/>
                          </a:solidFill>
                          <a:latin typeface="游ゴシック"/>
                          <a:ea typeface="游ゴシック"/>
                          <a:cs typeface="游ゴシック"/>
                        </a:rPr>
                        <a:t>合計（材料仕入高）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1">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0" b="1">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1">
                          <a:solidFill>
                            <a:srgbClr val="1A1A1A"/>
                          </a:solidFill>
                          <a:latin typeface="Arial"/>
                          <a:ea typeface="Arial"/>
                          <a:cs typeface="Arial"/>
                        </a:rPr>
                        <a:t>5,079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1">
                          <a:solidFill>
                            <a:srgbClr val="1A1A1A"/>
                          </a:solidFill>
                          <a:latin typeface="Arial"/>
                          <a:ea typeface="Arial"/>
                          <a:cs typeface="Arial"/>
                        </a:rPr>
                        <a:t>100.0%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1">
                          <a:solidFill>
                            <a:srgbClr val="1A1A1A"/>
                          </a:solidFill>
                          <a:latin typeface="Arial"/>
                          <a:ea typeface="Arial"/>
                          <a:cs typeface="Arial"/>
                        </a:rPr>
                        <a:t>4,313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1">
                          <a:solidFill>
                            <a:srgbClr val="1A1A1A"/>
                          </a:solidFill>
                          <a:latin typeface="Arial"/>
                          <a:ea typeface="Arial"/>
                          <a:cs typeface="Arial"/>
                        </a:rPr>
                        <a:t>100.0%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1">
                          <a:solidFill>
                            <a:srgbClr val="1A1A1A"/>
                          </a:solidFill>
                          <a:latin typeface="Arial"/>
                          <a:ea typeface="Arial"/>
                          <a:cs typeface="Arial"/>
                        </a:rPr>
                        <a:t>4,595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0" b="1">
                          <a:solidFill>
                            <a:srgbClr val="1A1A1A"/>
                          </a:solidFill>
                          <a:latin typeface="Arial"/>
                          <a:ea typeface="Arial"/>
                          <a:cs typeface="Arial"/>
                        </a:rPr>
                        <a:t>100.0%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5" name="Rounded Rectangle 14"/>
          <p:cNvSpPr/>
          <p:nvPr/>
        </p:nvSpPr>
        <p:spPr>
          <a:xfrm>
            <a:off x="310896" y="5074920"/>
            <a:ext cx="9921240" cy="877824"/>
          </a:xfrm>
          <a:prstGeom prst="roundRect">
            <a:avLst/>
          </a:prstGeom>
          <a:solidFill>
            <a:srgbClr val="E1F3FB"/>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310896" y="5074920"/>
            <a:ext cx="1417320" cy="877824"/>
          </a:xfrm>
          <a:prstGeom prst="round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02336" y="5404103"/>
            <a:ext cx="1271016" cy="219456"/>
          </a:xfrm>
          <a:prstGeom prst="rect">
            <a:avLst/>
          </a:prstGeom>
          <a:noFill/>
        </p:spPr>
        <p:txBody>
          <a:bodyPr wrap="square" lIns="0" rIns="0" tIns="0" bIns="0" anchor="t">
            <a:spAutoFit/>
          </a:bodyPr>
          <a:lstStyle/>
          <a:p>
            <a:pPr algn="ctr">
              <a:spcAft>
                <a:spcPts val="0"/>
              </a:spcAft>
            </a:pPr>
            <a:r>
              <a:rPr sz="1300" b="1">
                <a:solidFill>
                  <a:srgbClr val="FFFFFF"/>
                </a:solidFill>
                <a:latin typeface="游ゴシック"/>
                <a:ea typeface="游ゴシック"/>
                <a:cs typeface="游ゴシック"/>
              </a:rPr>
              <a:t>ポイント</a:t>
            </a:r>
          </a:p>
        </p:txBody>
      </p:sp>
      <p:sp>
        <p:nvSpPr>
          <p:cNvPr id="18" name="Oval 17"/>
          <p:cNvSpPr/>
          <p:nvPr/>
        </p:nvSpPr>
        <p:spPr>
          <a:xfrm>
            <a:off x="1883664" y="5394959"/>
            <a:ext cx="237744" cy="237744"/>
          </a:xfrm>
          <a:prstGeom prst="ellipse">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游ゴシック"/>
                <a:ea typeface="游ゴシック"/>
                <a:cs typeface="游ゴシック"/>
              </a:rPr>
              <a:t>✓</a:t>
            </a:r>
          </a:p>
        </p:txBody>
      </p:sp>
      <p:sp>
        <p:nvSpPr>
          <p:cNvPr id="19" name="TextBox 18"/>
          <p:cNvSpPr txBox="1"/>
          <p:nvPr/>
        </p:nvSpPr>
        <p:spPr>
          <a:xfrm>
            <a:off x="2194560" y="5239512"/>
            <a:ext cx="2380487" cy="603503"/>
          </a:xfrm>
          <a:prstGeom prst="rect">
            <a:avLst/>
          </a:prstGeom>
          <a:noFill/>
        </p:spPr>
        <p:txBody>
          <a:bodyPr wrap="square" lIns="0" rIns="0" tIns="0" bIns="0" anchor="ctr">
            <a:spAutoFit/>
          </a:bodyPr>
          <a:lstStyle/>
          <a:p>
            <a:pPr algn="l">
              <a:lnSpc>
                <a:spcPct val="118000"/>
              </a:lnSpc>
              <a:spcAft>
                <a:spcPts val="0"/>
              </a:spcAft>
            </a:pPr>
            <a:r>
              <a:rPr sz="930" b="1">
                <a:solidFill>
                  <a:srgbClr val="202020"/>
                </a:solidFill>
                <a:latin typeface="游ゴシック"/>
                <a:ea typeface="游ゴシック"/>
                <a:cs typeface="游ゴシック"/>
              </a:rPr>
              <a:t>上位2先で39.5％。いずれも個人・</a:t>
            </a:r>
          </a:p>
          <a:p>
            <a:pPr algn="l">
              <a:lnSpc>
                <a:spcPct val="118000"/>
              </a:lnSpc>
              <a:spcAft>
                <a:spcPts val="0"/>
              </a:spcAft>
            </a:pPr>
            <a:r>
              <a:rPr sz="930" b="1">
                <a:solidFill>
                  <a:srgbClr val="202020"/>
                </a:solidFill>
                <a:latin typeface="游ゴシック"/>
                <a:ea typeface="游ゴシック"/>
                <a:cs typeface="游ゴシック"/>
              </a:rPr>
              <a:t>小規模の生産者との直接取引</a:t>
            </a:r>
          </a:p>
        </p:txBody>
      </p:sp>
      <p:sp>
        <p:nvSpPr>
          <p:cNvPr id="20" name="Oval 19"/>
          <p:cNvSpPr/>
          <p:nvPr/>
        </p:nvSpPr>
        <p:spPr>
          <a:xfrm>
            <a:off x="4666488" y="5394959"/>
            <a:ext cx="237744" cy="237744"/>
          </a:xfrm>
          <a:prstGeom prst="ellipse">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游ゴシック"/>
                <a:ea typeface="游ゴシック"/>
                <a:cs typeface="游ゴシック"/>
              </a:rPr>
              <a:t>✓</a:t>
            </a:r>
          </a:p>
        </p:txBody>
      </p:sp>
      <p:sp>
        <p:nvSpPr>
          <p:cNvPr id="21" name="TextBox 20"/>
          <p:cNvSpPr txBox="1"/>
          <p:nvPr/>
        </p:nvSpPr>
        <p:spPr>
          <a:xfrm>
            <a:off x="4977384" y="5239512"/>
            <a:ext cx="2380487" cy="603503"/>
          </a:xfrm>
          <a:prstGeom prst="rect">
            <a:avLst/>
          </a:prstGeom>
          <a:noFill/>
        </p:spPr>
        <p:txBody>
          <a:bodyPr wrap="square" lIns="0" rIns="0" tIns="0" bIns="0" anchor="ctr">
            <a:spAutoFit/>
          </a:bodyPr>
          <a:lstStyle/>
          <a:p>
            <a:pPr algn="l">
              <a:lnSpc>
                <a:spcPct val="118000"/>
              </a:lnSpc>
              <a:spcAft>
                <a:spcPts val="0"/>
              </a:spcAft>
            </a:pPr>
            <a:r>
              <a:rPr sz="930" b="1">
                <a:solidFill>
                  <a:srgbClr val="202020"/>
                </a:solidFill>
                <a:latin typeface="游ゴシック"/>
                <a:ea typeface="游ゴシック"/>
                <a:cs typeface="游ゴシック"/>
              </a:rPr>
              <a:t>玄そばの仕入は1,300→660千円と</a:t>
            </a:r>
          </a:p>
          <a:p>
            <a:pPr algn="l">
              <a:lnSpc>
                <a:spcPct val="118000"/>
              </a:lnSpc>
              <a:spcAft>
                <a:spcPts val="0"/>
              </a:spcAft>
            </a:pPr>
            <a:r>
              <a:rPr sz="930" b="1">
                <a:solidFill>
                  <a:srgbClr val="202020"/>
                </a:solidFill>
                <a:latin typeface="游ゴシック"/>
                <a:ea typeface="游ゴシック"/>
                <a:cs typeface="游ゴシック"/>
              </a:rPr>
              <a:t>減少。棚卸資産2,025千円との整理が必要</a:t>
            </a:r>
          </a:p>
        </p:txBody>
      </p:sp>
      <p:sp>
        <p:nvSpPr>
          <p:cNvPr id="22" name="Oval 21"/>
          <p:cNvSpPr/>
          <p:nvPr/>
        </p:nvSpPr>
        <p:spPr>
          <a:xfrm>
            <a:off x="7449312" y="5394959"/>
            <a:ext cx="237744" cy="237744"/>
          </a:xfrm>
          <a:prstGeom prst="ellipse">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游ゴシック"/>
                <a:ea typeface="游ゴシック"/>
                <a:cs typeface="游ゴシック"/>
              </a:rPr>
              <a:t>✓</a:t>
            </a:r>
          </a:p>
        </p:txBody>
      </p:sp>
      <p:sp>
        <p:nvSpPr>
          <p:cNvPr id="23" name="TextBox 22"/>
          <p:cNvSpPr txBox="1"/>
          <p:nvPr/>
        </p:nvSpPr>
        <p:spPr>
          <a:xfrm>
            <a:off x="7760208" y="5239512"/>
            <a:ext cx="2380487" cy="603503"/>
          </a:xfrm>
          <a:prstGeom prst="rect">
            <a:avLst/>
          </a:prstGeom>
          <a:noFill/>
        </p:spPr>
        <p:txBody>
          <a:bodyPr wrap="square" lIns="0" rIns="0" tIns="0" bIns="0" anchor="ctr">
            <a:spAutoFit/>
          </a:bodyPr>
          <a:lstStyle/>
          <a:p>
            <a:pPr algn="l">
              <a:lnSpc>
                <a:spcPct val="118000"/>
              </a:lnSpc>
              <a:spcAft>
                <a:spcPts val="0"/>
              </a:spcAft>
            </a:pPr>
            <a:r>
              <a:rPr sz="930" b="1">
                <a:solidFill>
                  <a:srgbClr val="202020"/>
                </a:solidFill>
                <a:latin typeface="游ゴシック"/>
                <a:ea typeface="游ゴシック"/>
                <a:cs typeface="游ゴシック"/>
              </a:rPr>
              <a:t>契約書は未受領。価格決定方法・</a:t>
            </a:r>
          </a:p>
          <a:p>
            <a:pPr algn="l">
              <a:lnSpc>
                <a:spcPct val="118000"/>
              </a:lnSpc>
              <a:spcAft>
                <a:spcPts val="0"/>
              </a:spcAft>
            </a:pPr>
            <a:r>
              <a:rPr sz="930" b="1">
                <a:solidFill>
                  <a:srgbClr val="202020"/>
                </a:solidFill>
                <a:latin typeface="游ゴシック"/>
                <a:ea typeface="游ゴシック"/>
                <a:cs typeface="游ゴシック"/>
              </a:rPr>
              <a:t>供給継続性は要確認</a:t>
            </a:r>
          </a:p>
        </p:txBody>
      </p:sp>
      <p:sp>
        <p:nvSpPr>
          <p:cNvPr id="24" name="TextBox 23"/>
          <p:cNvSpPr txBox="1"/>
          <p:nvPr/>
        </p:nvSpPr>
        <p:spPr>
          <a:xfrm>
            <a:off x="310896" y="6126480"/>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製造原価報告書「材料仕入高」の総勘定元帳明細を集計したもの。商品仕入高92千円・外注加工費272千円は含まない。</a:t>
            </a:r>
          </a:p>
          <a:p>
            <a:pPr algn="l">
              <a:lnSpc>
                <a:spcPct val="112000"/>
              </a:lnSpc>
              <a:spcAft>
                <a:spcPts val="100"/>
              </a:spcAft>
            </a:pPr>
            <a:r>
              <a:rPr sz="750" b="0">
                <a:solidFill>
                  <a:srgbClr val="5A6670"/>
                </a:solidFill>
                <a:latin typeface="游ゴシック"/>
                <a:ea typeface="游ゴシック"/>
                <a:cs typeface="游ゴシック"/>
              </a:rPr>
              <a:t>※ 相手先の記載がない仕訳は「その他」に含まれる。</a:t>
            </a:r>
          </a:p>
        </p:txBody>
      </p:sp>
    </p:spTree>
    <p:extLst>
      <p:ext uri="{BB962C8B-B14F-4D97-AF65-F5344CB8AC3E}">
        <p14:creationId xmlns:p14="http://schemas.microsoft.com/office/powerpoint/2010/main" val="2932585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solidFill/>
              </a:rPr>
              <a:t>組織、拠点、設備等</a:t>
            </a:r>
            <a:endParaRPr lang="en-US" altLang="ja-JP" dirty="0"/>
          </a:p>
        </p:txBody>
      </p:sp>
    </p:spTree>
    <p:extLst>
      <p:ext uri="{BB962C8B-B14F-4D97-AF65-F5344CB8AC3E}">
        <p14:creationId xmlns:p14="http://schemas.microsoft.com/office/powerpoint/2010/main" val="1797825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DBCD3-5A3B-2BD8-C28A-632388175E8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59B21744-4533-BD30-603B-B8A7A98290C9}"/>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運営体制と承継</a:t>
            </a:r>
          </a:p>
        </p:txBody>
      </p:sp>
      <p:sp>
        <p:nvSpPr>
          <p:cNvPr id="5" name="タイトル 1">
            <a:extLst>
              <a:ext uri="{FF2B5EF4-FFF2-40B4-BE49-F238E27FC236}">
                <a16:creationId xmlns:a16="http://schemas.microsoft.com/office/drawing/2014/main" id="{804C58BE-3C7F-3F33-BB99-084C0822899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a:latin typeface="游ゴシック"/>
                <a:ea typeface="游ゴシック"/>
                <a:cs typeface="游ゴシック"/>
              </a:rPr>
              <a:t>組織、拠点、設備等</a:t>
            </a:r>
          </a:p>
        </p:txBody>
      </p:sp>
      <p:sp>
        <p:nvSpPr>
          <p:cNvPr id="85" name="字幕 13">
            <a:extLst>
              <a:ext uri="{FF2B5EF4-FFF2-40B4-BE49-F238E27FC236}">
                <a16:creationId xmlns:a16="http://schemas.microsoft.com/office/drawing/2014/main" id="{AE763FA6-9689-E705-5BEC-31A36E71F8CB}"/>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常時雇用の従業員は0名。代表者・配偶者の2名で運営し、繁忙時は親族が就労（雑給2,201千円）</a:t>
            </a:r>
            <a:endParaRPr lang="en-US" altLang="ja-JP" dirty="0">
              <a:latin typeface="+mj-ea"/>
            </a:endParaRPr>
          </a:p>
        </p:txBody>
      </p:sp>
      <p:sp>
        <p:nvSpPr>
          <p:cNvPr id="86" name="Rectangle 85"/>
          <p:cNvSpPr/>
          <p:nvPr/>
        </p:nvSpPr>
        <p:spPr>
          <a:xfrm>
            <a:off x="4078224" y="1554480"/>
            <a:ext cx="2542032" cy="78638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7" name="TextBox 86"/>
          <p:cNvSpPr txBox="1"/>
          <p:nvPr/>
        </p:nvSpPr>
        <p:spPr>
          <a:xfrm>
            <a:off x="4078224" y="1682495"/>
            <a:ext cx="2542032" cy="237744"/>
          </a:xfrm>
          <a:prstGeom prst="rect">
            <a:avLst/>
          </a:prstGeom>
          <a:noFill/>
        </p:spPr>
        <p:txBody>
          <a:bodyPr wrap="square" lIns="0" rIns="0" tIns="0" bIns="0" anchor="t">
            <a:spAutoFit/>
          </a:bodyPr>
          <a:lstStyle/>
          <a:p>
            <a:pPr algn="ctr">
              <a:spcAft>
                <a:spcPts val="0"/>
              </a:spcAft>
            </a:pPr>
            <a:r>
              <a:rPr sz="1100" b="1">
                <a:solidFill>
                  <a:srgbClr val="FFFFFF"/>
                </a:solidFill>
                <a:latin typeface="游ゴシック"/>
                <a:ea typeface="游ゴシック"/>
                <a:cs typeface="游ゴシック"/>
              </a:rPr>
              <a:t>代表取締役　小川 宣夫</a:t>
            </a:r>
          </a:p>
        </p:txBody>
      </p:sp>
      <p:sp>
        <p:nvSpPr>
          <p:cNvPr id="88" name="TextBox 87"/>
          <p:cNvSpPr txBox="1"/>
          <p:nvPr/>
        </p:nvSpPr>
        <p:spPr>
          <a:xfrm>
            <a:off x="4078224" y="1956816"/>
            <a:ext cx="2542032" cy="237744"/>
          </a:xfrm>
          <a:prstGeom prst="rect">
            <a:avLst/>
          </a:prstGeom>
          <a:noFill/>
        </p:spPr>
        <p:txBody>
          <a:bodyPr wrap="square" lIns="0" rIns="0" tIns="0" bIns="0" anchor="t">
            <a:spAutoFit/>
          </a:bodyPr>
          <a:lstStyle/>
          <a:p>
            <a:pPr algn="ctr">
              <a:spcAft>
                <a:spcPts val="0"/>
              </a:spcAft>
            </a:pPr>
            <a:r>
              <a:rPr sz="900" b="0">
                <a:solidFill>
                  <a:srgbClr val="C9D6DC"/>
                </a:solidFill>
                <a:latin typeface="游ゴシック"/>
                <a:ea typeface="游ゴシック"/>
                <a:cs typeface="游ゴシック"/>
              </a:rPr>
              <a:t>（79歳・無報酬）</a:t>
            </a:r>
          </a:p>
        </p:txBody>
      </p:sp>
      <p:sp>
        <p:nvSpPr>
          <p:cNvPr id="89" name="Rectangle 88"/>
          <p:cNvSpPr/>
          <p:nvPr/>
        </p:nvSpPr>
        <p:spPr>
          <a:xfrm>
            <a:off x="548640" y="2761488"/>
            <a:ext cx="2651760" cy="932688"/>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0" name="TextBox 89"/>
          <p:cNvSpPr txBox="1"/>
          <p:nvPr/>
        </p:nvSpPr>
        <p:spPr>
          <a:xfrm>
            <a:off x="676656" y="2871216"/>
            <a:ext cx="2395728" cy="219456"/>
          </a:xfrm>
          <a:prstGeom prst="rect">
            <a:avLst/>
          </a:prstGeom>
          <a:noFill/>
        </p:spPr>
        <p:txBody>
          <a:bodyPr wrap="square" lIns="0" rIns="0" tIns="0" bIns="0" anchor="t">
            <a:spAutoFit/>
          </a:bodyPr>
          <a:lstStyle/>
          <a:p>
            <a:pPr algn="l">
              <a:spcAft>
                <a:spcPts val="0"/>
              </a:spcAft>
            </a:pPr>
            <a:r>
              <a:rPr sz="1000" b="1">
                <a:solidFill>
                  <a:srgbClr val="0B3041"/>
                </a:solidFill>
                <a:latin typeface="游ゴシック"/>
                <a:ea typeface="游ゴシック"/>
                <a:cs typeface="游ゴシック"/>
              </a:rPr>
              <a:t>そば打ち・製粉</a:t>
            </a:r>
          </a:p>
        </p:txBody>
      </p:sp>
      <p:sp>
        <p:nvSpPr>
          <p:cNvPr id="91" name="TextBox 90"/>
          <p:cNvSpPr txBox="1"/>
          <p:nvPr/>
        </p:nvSpPr>
        <p:spPr>
          <a:xfrm>
            <a:off x="676656" y="3145536"/>
            <a:ext cx="2395728" cy="475488"/>
          </a:xfrm>
          <a:prstGeom prst="rect">
            <a:avLst/>
          </a:prstGeom>
          <a:noFill/>
        </p:spPr>
        <p:txBody>
          <a:bodyPr wrap="square" lIns="0" rIns="0" tIns="0" bIns="0" anchor="t">
            <a:spAutoFit/>
          </a:bodyPr>
          <a:lstStyle/>
          <a:p>
            <a:pPr algn="l">
              <a:lnSpc>
                <a:spcPct val="118000"/>
              </a:lnSpc>
              <a:spcAft>
                <a:spcPts val="0"/>
              </a:spcAft>
            </a:pPr>
            <a:r>
              <a:rPr sz="840" b="0">
                <a:solidFill>
                  <a:srgbClr val="1A1A1A"/>
                </a:solidFill>
                <a:latin typeface="游ゴシック"/>
                <a:ea typeface="游ゴシック"/>
                <a:cs typeface="游ゴシック"/>
              </a:rPr>
              <a:t>玄そばの仕入・選別／一年熟成／石臼自家製粉／手打ち</a:t>
            </a:r>
          </a:p>
        </p:txBody>
      </p:sp>
      <p:sp>
        <p:nvSpPr>
          <p:cNvPr id="92" name="Rectangle 91"/>
          <p:cNvSpPr/>
          <p:nvPr/>
        </p:nvSpPr>
        <p:spPr>
          <a:xfrm>
            <a:off x="1863547" y="2329891"/>
            <a:ext cx="21945" cy="2194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3" name="Rectangle 92"/>
          <p:cNvSpPr/>
          <p:nvPr/>
        </p:nvSpPr>
        <p:spPr>
          <a:xfrm>
            <a:off x="3401568" y="2761488"/>
            <a:ext cx="2651760" cy="932688"/>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4" name="TextBox 93"/>
          <p:cNvSpPr txBox="1"/>
          <p:nvPr/>
        </p:nvSpPr>
        <p:spPr>
          <a:xfrm>
            <a:off x="3529584" y="2871216"/>
            <a:ext cx="2395728" cy="219456"/>
          </a:xfrm>
          <a:prstGeom prst="rect">
            <a:avLst/>
          </a:prstGeom>
          <a:noFill/>
        </p:spPr>
        <p:txBody>
          <a:bodyPr wrap="square" lIns="0" rIns="0" tIns="0" bIns="0" anchor="t">
            <a:spAutoFit/>
          </a:bodyPr>
          <a:lstStyle/>
          <a:p>
            <a:pPr algn="l">
              <a:spcAft>
                <a:spcPts val="0"/>
              </a:spcAft>
            </a:pPr>
            <a:r>
              <a:rPr sz="1000" b="1">
                <a:solidFill>
                  <a:srgbClr val="0B3041"/>
                </a:solidFill>
                <a:latin typeface="游ゴシック"/>
                <a:ea typeface="游ゴシック"/>
                <a:cs typeface="游ゴシック"/>
              </a:rPr>
              <a:t>調理・接客・会計</a:t>
            </a:r>
          </a:p>
        </p:txBody>
      </p:sp>
      <p:sp>
        <p:nvSpPr>
          <p:cNvPr id="95" name="TextBox 94"/>
          <p:cNvSpPr txBox="1"/>
          <p:nvPr/>
        </p:nvSpPr>
        <p:spPr>
          <a:xfrm>
            <a:off x="3529584" y="3145536"/>
            <a:ext cx="2395728" cy="475488"/>
          </a:xfrm>
          <a:prstGeom prst="rect">
            <a:avLst/>
          </a:prstGeom>
          <a:noFill/>
        </p:spPr>
        <p:txBody>
          <a:bodyPr wrap="square" lIns="0" rIns="0" tIns="0" bIns="0" anchor="t">
            <a:spAutoFit/>
          </a:bodyPr>
          <a:lstStyle/>
          <a:p>
            <a:pPr algn="l">
              <a:lnSpc>
                <a:spcPct val="118000"/>
              </a:lnSpc>
              <a:spcAft>
                <a:spcPts val="0"/>
              </a:spcAft>
            </a:pPr>
            <a:r>
              <a:rPr sz="840" b="0">
                <a:solidFill>
                  <a:srgbClr val="1A1A1A"/>
                </a:solidFill>
                <a:latin typeface="游ゴシック"/>
                <a:ea typeface="游ゴシック"/>
                <a:cs typeface="游ゴシック"/>
              </a:rPr>
              <a:t>天ぷら・けんちん汁の調理／接客／片付け／レジ</a:t>
            </a:r>
          </a:p>
        </p:txBody>
      </p:sp>
      <p:sp>
        <p:nvSpPr>
          <p:cNvPr id="96" name="Rectangle 95"/>
          <p:cNvSpPr/>
          <p:nvPr/>
        </p:nvSpPr>
        <p:spPr>
          <a:xfrm>
            <a:off x="4716475" y="2329891"/>
            <a:ext cx="21945" cy="2194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7" name="Rectangle 96"/>
          <p:cNvSpPr/>
          <p:nvPr/>
        </p:nvSpPr>
        <p:spPr>
          <a:xfrm>
            <a:off x="6254496" y="2761488"/>
            <a:ext cx="2651760" cy="932688"/>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8" name="TextBox 97"/>
          <p:cNvSpPr txBox="1"/>
          <p:nvPr/>
        </p:nvSpPr>
        <p:spPr>
          <a:xfrm>
            <a:off x="6382512" y="2871216"/>
            <a:ext cx="2395728" cy="219456"/>
          </a:xfrm>
          <a:prstGeom prst="rect">
            <a:avLst/>
          </a:prstGeom>
          <a:noFill/>
        </p:spPr>
        <p:txBody>
          <a:bodyPr wrap="square" lIns="0" rIns="0" tIns="0" bIns="0" anchor="t">
            <a:spAutoFit/>
          </a:bodyPr>
          <a:lstStyle/>
          <a:p>
            <a:pPr algn="l">
              <a:spcAft>
                <a:spcPts val="0"/>
              </a:spcAft>
            </a:pPr>
            <a:r>
              <a:rPr sz="1000" b="1">
                <a:solidFill>
                  <a:srgbClr val="0B3041"/>
                </a:solidFill>
                <a:latin typeface="游ゴシック"/>
                <a:ea typeface="游ゴシック"/>
                <a:cs typeface="游ゴシック"/>
              </a:rPr>
              <a:t>仕入・卸売・通販</a:t>
            </a:r>
          </a:p>
        </p:txBody>
      </p:sp>
      <p:sp>
        <p:nvSpPr>
          <p:cNvPr id="99" name="TextBox 98"/>
          <p:cNvSpPr txBox="1"/>
          <p:nvPr/>
        </p:nvSpPr>
        <p:spPr>
          <a:xfrm>
            <a:off x="6382512" y="3145536"/>
            <a:ext cx="2395728" cy="475488"/>
          </a:xfrm>
          <a:prstGeom prst="rect">
            <a:avLst/>
          </a:prstGeom>
          <a:noFill/>
        </p:spPr>
        <p:txBody>
          <a:bodyPr wrap="square" lIns="0" rIns="0" tIns="0" bIns="0" anchor="t">
            <a:spAutoFit/>
          </a:bodyPr>
          <a:lstStyle/>
          <a:p>
            <a:pPr algn="l">
              <a:lnSpc>
                <a:spcPct val="118000"/>
              </a:lnSpc>
              <a:spcAft>
                <a:spcPts val="0"/>
              </a:spcAft>
            </a:pPr>
            <a:r>
              <a:rPr sz="840" b="0">
                <a:solidFill>
                  <a:srgbClr val="1A1A1A"/>
                </a:solidFill>
                <a:latin typeface="游ゴシック"/>
                <a:ea typeface="游ゴシック"/>
                <a:cs typeface="游ゴシック"/>
              </a:rPr>
              <a:t>食材の仕入／卸売先への出荷／通信販売の受注・発送</a:t>
            </a:r>
          </a:p>
        </p:txBody>
      </p:sp>
      <p:sp>
        <p:nvSpPr>
          <p:cNvPr id="100" name="Rectangle 99"/>
          <p:cNvSpPr/>
          <p:nvPr/>
        </p:nvSpPr>
        <p:spPr>
          <a:xfrm>
            <a:off x="7569403" y="2329891"/>
            <a:ext cx="21945" cy="2194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1" name="Rectangle 100"/>
          <p:cNvSpPr/>
          <p:nvPr/>
        </p:nvSpPr>
        <p:spPr>
          <a:xfrm>
            <a:off x="1874519" y="2468880"/>
            <a:ext cx="5705855" cy="2194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2" name="Rectangle 101"/>
          <p:cNvSpPr/>
          <p:nvPr/>
        </p:nvSpPr>
        <p:spPr>
          <a:xfrm>
            <a:off x="1863547" y="2468880"/>
            <a:ext cx="21945" cy="292607"/>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3" name="Rectangle 102"/>
          <p:cNvSpPr/>
          <p:nvPr/>
        </p:nvSpPr>
        <p:spPr>
          <a:xfrm>
            <a:off x="4716475" y="2468880"/>
            <a:ext cx="21945" cy="292607"/>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4" name="Rectangle 103"/>
          <p:cNvSpPr/>
          <p:nvPr/>
        </p:nvSpPr>
        <p:spPr>
          <a:xfrm>
            <a:off x="7569403" y="2468880"/>
            <a:ext cx="21945" cy="292607"/>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5" name="Rectangle 104"/>
          <p:cNvSpPr/>
          <p:nvPr/>
        </p:nvSpPr>
        <p:spPr>
          <a:xfrm>
            <a:off x="5338267" y="2340864"/>
            <a:ext cx="21945" cy="128016"/>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6" name="Rectangle 105"/>
          <p:cNvSpPr/>
          <p:nvPr/>
        </p:nvSpPr>
        <p:spPr>
          <a:xfrm>
            <a:off x="1280160" y="4005072"/>
            <a:ext cx="3291840" cy="713232"/>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7" name="TextBox 106"/>
          <p:cNvSpPr txBox="1"/>
          <p:nvPr/>
        </p:nvSpPr>
        <p:spPr>
          <a:xfrm>
            <a:off x="1408176" y="4096511"/>
            <a:ext cx="3035808" cy="219456"/>
          </a:xfrm>
          <a:prstGeom prst="rect">
            <a:avLst/>
          </a:prstGeom>
          <a:noFill/>
        </p:spPr>
        <p:txBody>
          <a:bodyPr wrap="square" lIns="0" rIns="0" tIns="0" bIns="0" anchor="t">
            <a:spAutoFit/>
          </a:bodyPr>
          <a:lstStyle/>
          <a:p>
            <a:pPr algn="l">
              <a:spcAft>
                <a:spcPts val="0"/>
              </a:spcAft>
            </a:pPr>
            <a:r>
              <a:rPr sz="950" b="1">
                <a:solidFill>
                  <a:srgbClr val="0B3041"/>
                </a:solidFill>
                <a:latin typeface="游ゴシック"/>
                <a:ea typeface="游ゴシック"/>
                <a:cs typeface="游ゴシック"/>
              </a:rPr>
              <a:t>小川 喜久子（取締役・配偶者）</a:t>
            </a:r>
          </a:p>
        </p:txBody>
      </p:sp>
      <p:sp>
        <p:nvSpPr>
          <p:cNvPr id="108" name="TextBox 107"/>
          <p:cNvSpPr txBox="1"/>
          <p:nvPr/>
        </p:nvSpPr>
        <p:spPr>
          <a:xfrm>
            <a:off x="1408176" y="4352544"/>
            <a:ext cx="3035808" cy="274320"/>
          </a:xfrm>
          <a:prstGeom prst="rect">
            <a:avLst/>
          </a:prstGeom>
          <a:noFill/>
        </p:spPr>
        <p:txBody>
          <a:bodyPr wrap="square" lIns="0" rIns="0" tIns="0" bIns="0" anchor="t">
            <a:spAutoFit/>
          </a:bodyPr>
          <a:lstStyle/>
          <a:p>
            <a:pPr algn="l">
              <a:spcAft>
                <a:spcPts val="0"/>
              </a:spcAft>
            </a:pPr>
            <a:r>
              <a:rPr sz="840" b="0">
                <a:solidFill>
                  <a:srgbClr val="5A6670"/>
                </a:solidFill>
                <a:latin typeface="游ゴシック"/>
                <a:ea typeface="游ゴシック"/>
                <a:cs typeface="游ゴシック"/>
              </a:rPr>
              <a:t>接客・経理／無報酬</a:t>
            </a:r>
          </a:p>
        </p:txBody>
      </p:sp>
      <p:sp>
        <p:nvSpPr>
          <p:cNvPr id="109" name="Rectangle 108"/>
          <p:cNvSpPr/>
          <p:nvPr/>
        </p:nvSpPr>
        <p:spPr>
          <a:xfrm>
            <a:off x="5577840" y="4005072"/>
            <a:ext cx="3291840" cy="713232"/>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0" name="TextBox 109"/>
          <p:cNvSpPr txBox="1"/>
          <p:nvPr/>
        </p:nvSpPr>
        <p:spPr>
          <a:xfrm>
            <a:off x="5705855" y="4096511"/>
            <a:ext cx="3035808" cy="219456"/>
          </a:xfrm>
          <a:prstGeom prst="rect">
            <a:avLst/>
          </a:prstGeom>
          <a:noFill/>
        </p:spPr>
        <p:txBody>
          <a:bodyPr wrap="square" lIns="0" rIns="0" tIns="0" bIns="0" anchor="t">
            <a:spAutoFit/>
          </a:bodyPr>
          <a:lstStyle/>
          <a:p>
            <a:pPr algn="l">
              <a:spcAft>
                <a:spcPts val="0"/>
              </a:spcAft>
            </a:pPr>
            <a:r>
              <a:rPr sz="950" b="1">
                <a:solidFill>
                  <a:srgbClr val="0B3041"/>
                </a:solidFill>
                <a:latin typeface="游ゴシック"/>
                <a:ea typeface="游ゴシック"/>
                <a:cs typeface="游ゴシック"/>
              </a:rPr>
              <a:t>親族（繁忙時）</a:t>
            </a:r>
          </a:p>
        </p:txBody>
      </p:sp>
      <p:sp>
        <p:nvSpPr>
          <p:cNvPr id="111" name="TextBox 110"/>
          <p:cNvSpPr txBox="1"/>
          <p:nvPr/>
        </p:nvSpPr>
        <p:spPr>
          <a:xfrm>
            <a:off x="5705855" y="4352544"/>
            <a:ext cx="3035808" cy="274320"/>
          </a:xfrm>
          <a:prstGeom prst="rect">
            <a:avLst/>
          </a:prstGeom>
          <a:noFill/>
        </p:spPr>
        <p:txBody>
          <a:bodyPr wrap="square" lIns="0" rIns="0" tIns="0" bIns="0" anchor="t">
            <a:spAutoFit/>
          </a:bodyPr>
          <a:lstStyle/>
          <a:p>
            <a:pPr algn="l">
              <a:spcAft>
                <a:spcPts val="0"/>
              </a:spcAft>
            </a:pPr>
            <a:r>
              <a:rPr sz="840" b="0">
                <a:solidFill>
                  <a:srgbClr val="5A6670"/>
                </a:solidFill>
                <a:latin typeface="游ゴシック"/>
                <a:ea typeface="游ゴシック"/>
                <a:cs typeface="游ゴシック"/>
              </a:rPr>
              <a:t>雑給 2,201千円（支払先「小川実他1」）</a:t>
            </a:r>
          </a:p>
        </p:txBody>
      </p:sp>
      <p:sp>
        <p:nvSpPr>
          <p:cNvPr id="112" name="Rectangle 111"/>
          <p:cNvSpPr/>
          <p:nvPr/>
        </p:nvSpPr>
        <p:spPr>
          <a:xfrm>
            <a:off x="310896" y="4937760"/>
            <a:ext cx="9921240"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100" b="1">
                <a:solidFill>
                  <a:srgbClr val="FFFFFF"/>
                </a:solidFill>
                <a:latin typeface="游ゴシック"/>
                <a:ea typeface="游ゴシック"/>
                <a:cs typeface="游ゴシック"/>
              </a:rPr>
              <a:t>属人性の整理 ― 「事実」と「備え」</a:t>
            </a:r>
          </a:p>
        </p:txBody>
      </p:sp>
      <p:sp>
        <p:nvSpPr>
          <p:cNvPr id="113" name="Rectangle 112"/>
          <p:cNvSpPr/>
          <p:nvPr/>
        </p:nvSpPr>
        <p:spPr>
          <a:xfrm>
            <a:off x="310896" y="5294376"/>
            <a:ext cx="9921240" cy="1207008"/>
          </a:xfrm>
          <a:prstGeom prst="rect">
            <a:avLst/>
          </a:prstGeom>
          <a:solidFill>
            <a:srgbClr val="F7FAFC"/>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4" name="TextBox 113"/>
          <p:cNvSpPr txBox="1"/>
          <p:nvPr/>
        </p:nvSpPr>
        <p:spPr>
          <a:xfrm>
            <a:off x="457200" y="5404104"/>
            <a:ext cx="9628632" cy="1005840"/>
          </a:xfrm>
          <a:prstGeom prst="rect">
            <a:avLst/>
          </a:prstGeom>
          <a:noFill/>
        </p:spPr>
        <p:txBody>
          <a:bodyPr wrap="square" lIns="0" rIns="0" tIns="0" bIns="0" anchor="t">
            <a:spAutoFit/>
          </a:bodyPr>
          <a:lstStyle/>
          <a:p>
            <a:pPr algn="l">
              <a:lnSpc>
                <a:spcPct val="120000"/>
              </a:lnSpc>
              <a:spcAft>
                <a:spcPts val="200"/>
              </a:spcAft>
            </a:pPr>
            <a:r>
              <a:rPr sz="900" b="1">
                <a:solidFill>
                  <a:srgbClr val="0889C9"/>
                </a:solidFill>
                <a:latin typeface="游ゴシック"/>
                <a:ea typeface="游ゴシック"/>
                <a:cs typeface="游ゴシック"/>
              </a:rPr>
              <a:t>事実　</a:t>
            </a:r>
            <a:r>
              <a:rPr sz="900" b="0">
                <a:solidFill>
                  <a:srgbClr val="1A1A1A"/>
                </a:solidFill>
                <a:latin typeface="游ゴシック"/>
                <a:ea typeface="游ゴシック"/>
                <a:cs typeface="游ゴシック"/>
              </a:rPr>
              <a:t>掲載誌には「接客や調理、片付けまでの全てを小川氏一人でこなすため、席に着いてからも正直かなりの時間がかかる」と記載されている。昼のみ・売り切りじまい・週4日という営業形態も、この体制を前提としたものと考えられる。</a:t>
            </a:r>
          </a:p>
          <a:p>
            <a:pPr algn="l">
              <a:lnSpc>
                <a:spcPct val="120000"/>
              </a:lnSpc>
              <a:spcAft>
                <a:spcPts val="200"/>
              </a:spcAft>
            </a:pPr>
            <a:r>
              <a:rPr sz="900" b="1">
                <a:solidFill>
                  <a:srgbClr val="0889C9"/>
                </a:solidFill>
                <a:latin typeface="游ゴシック"/>
                <a:ea typeface="游ゴシック"/>
                <a:cs typeface="游ゴシック"/>
              </a:rPr>
              <a:t>備え　</a:t>
            </a:r>
            <a:r>
              <a:rPr sz="900" b="0">
                <a:solidFill>
                  <a:srgbClr val="1A1A1A"/>
                </a:solidFill>
                <a:latin typeface="游ゴシック"/>
                <a:ea typeface="游ゴシック"/>
                <a:cs typeface="游ゴシック"/>
              </a:rPr>
              <a:t>一方で、レシピや「かえし」については誰でも再現できるよう整理済とのことであり（面談ヒアリング）、過去には弟子へ別店舗（塩町館）の営業を承継した実績がある。「代表者がいなければ蕎麦を打てない」という状態ではないと伺っている。</a:t>
            </a:r>
          </a:p>
          <a:p>
            <a:pPr algn="l">
              <a:lnSpc>
                <a:spcPct val="120000"/>
              </a:lnSpc>
              <a:spcAft>
                <a:spcPts val="200"/>
              </a:spcAft>
            </a:pPr>
            <a:r>
              <a:rPr sz="900" b="1">
                <a:solidFill>
                  <a:srgbClr val="0889C9"/>
                </a:solidFill>
                <a:latin typeface="游ゴシック"/>
                <a:ea typeface="游ゴシック"/>
                <a:cs typeface="游ゴシック"/>
              </a:rPr>
              <a:t>次のステップ　</a:t>
            </a:r>
            <a:r>
              <a:rPr sz="900" b="0">
                <a:solidFill>
                  <a:srgbClr val="1A1A1A"/>
                </a:solidFill>
                <a:latin typeface="游ゴシック"/>
                <a:ea typeface="游ゴシック"/>
                <a:cs typeface="游ゴシック"/>
              </a:rPr>
              <a:t>標準化資料（レシピ・かえし・そば打ち手順）の実物確認、引継ぎに要する期間・人数の具体化、焼畑栽培・製粉工程を含めたどの範囲を承継するかの整理が必要。</a:t>
            </a:r>
          </a:p>
        </p:txBody>
      </p:sp>
      <p:sp>
        <p:nvSpPr>
          <p:cNvPr id="115" name="TextBox 114"/>
          <p:cNvSpPr txBox="1"/>
          <p:nvPr/>
        </p:nvSpPr>
        <p:spPr>
          <a:xfrm>
            <a:off x="310896" y="6638544"/>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常時雇用の従業員は0名のため「従業員」ページは作成していません。雑給の支払先「小川実他1」の勤務実態・雇用形態・社会保険の適用状況は要確認です。</a:t>
            </a:r>
          </a:p>
        </p:txBody>
      </p:sp>
    </p:spTree>
    <p:extLst>
      <p:ext uri="{BB962C8B-B14F-4D97-AF65-F5344CB8AC3E}">
        <p14:creationId xmlns:p14="http://schemas.microsoft.com/office/powerpoint/2010/main" val="27286124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B11F1-1D51-B82A-B921-6A785A32569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0FAD2F8E-0153-3144-7799-F8299088775F}"/>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株主及び役員</a:t>
            </a:r>
          </a:p>
        </p:txBody>
      </p:sp>
      <p:sp>
        <p:nvSpPr>
          <p:cNvPr id="4" name="タイトル 1">
            <a:extLst>
              <a:ext uri="{FF2B5EF4-FFF2-40B4-BE49-F238E27FC236}">
                <a16:creationId xmlns:a16="http://schemas.microsoft.com/office/drawing/2014/main" id="{7A477B2A-8CB0-33C5-E13F-6A9007ED2C1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a:latin typeface="游ゴシック"/>
                <a:ea typeface="游ゴシック"/>
                <a:cs typeface="游ゴシック"/>
              </a:rPr>
              <a:t>組織、拠点、設備等</a:t>
            </a:r>
          </a:p>
        </p:txBody>
      </p:sp>
      <p:sp>
        <p:nvSpPr>
          <p:cNvPr id="8" name="字幕 13">
            <a:extLst>
              <a:ext uri="{FF2B5EF4-FFF2-40B4-BE49-F238E27FC236}">
                <a16:creationId xmlns:a16="http://schemas.microsoft.com/office/drawing/2014/main" id="{B2B57451-0F79-4EA4-E5F7-DD3BE659A77B}"/>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株主・役員ともに代表者夫妻が中心。役員報酬は3期を通じて計上がなく、代表者夫妻は無報酬</a:t>
            </a:r>
            <a:endParaRPr lang="en-US" altLang="ja-JP" dirty="0"/>
          </a:p>
        </p:txBody>
      </p:sp>
      <p:sp>
        <p:nvSpPr>
          <p:cNvPr id="14" name="Rectangle 13"/>
          <p:cNvSpPr/>
          <p:nvPr/>
        </p:nvSpPr>
        <p:spPr>
          <a:xfrm>
            <a:off x="310896" y="1517904"/>
            <a:ext cx="1481328"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400" b="1">
                <a:solidFill>
                  <a:srgbClr val="FFFFFF"/>
                </a:solidFill>
                <a:latin typeface="游ゴシック"/>
                <a:ea typeface="游ゴシック"/>
                <a:cs typeface="游ゴシック"/>
              </a:rPr>
              <a:t>株主</a:t>
            </a:r>
          </a:p>
        </p:txBody>
      </p:sp>
      <p:graphicFrame>
        <p:nvGraphicFramePr>
          <p:cNvPr id="15" name="Table 14"/>
          <p:cNvGraphicFramePr>
            <a:graphicFrameLocks noGrp="1"/>
          </p:cNvGraphicFramePr>
          <p:nvPr/>
        </p:nvGraphicFramePr>
        <p:xfrm>
          <a:off x="310896" y="1874519"/>
          <a:ext cx="10067544" cy="1133856"/>
        </p:xfrm>
        <a:graphic>
          <a:graphicData uri="http://schemas.openxmlformats.org/drawingml/2006/table">
            <a:tbl>
              <a:tblPr firstRow="0" bandRow="0">
                <a:tableStyleId>{5940675A-B579-460E-94D1-54222C63F5DA}</a:tableStyleId>
              </a:tblPr>
              <a:tblGrid>
                <a:gridCol w="420624"/>
                <a:gridCol w="1554480"/>
                <a:gridCol w="1463040"/>
                <a:gridCol w="1188720"/>
                <a:gridCol w="1005840"/>
                <a:gridCol w="4434840"/>
              </a:tblGrid>
              <a:tr h="256032">
                <a:tc>
                  <a:txBody>
                    <a:bodyPr wrap="square"/>
                    <a:lstStyle/>
                    <a:p>
                      <a:pPr algn="ctr">
                        <a:spcAft>
                          <a:spcPts val="0"/>
                        </a:spcAft>
                      </a:pPr>
                      <a:r>
                        <a:rPr sz="860" b="1">
                          <a:solidFill>
                            <a:srgbClr val="FFFFFF"/>
                          </a:solidFill>
                          <a:latin typeface="游ゴシック"/>
                          <a:ea typeface="游ゴシック"/>
                          <a:cs typeface="游ゴシック"/>
                        </a:rPr>
                        <a:t>No.</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60" b="1">
                          <a:solidFill>
                            <a:srgbClr val="FFFFFF"/>
                          </a:solidFill>
                          <a:latin typeface="Arial"/>
                          <a:ea typeface="Arial"/>
                          <a:cs typeface="Arial"/>
                        </a:rPr>
                        <a:t>氏名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60" b="1">
                          <a:solidFill>
                            <a:srgbClr val="FFFFFF"/>
                          </a:solidFill>
                          <a:latin typeface="Arial"/>
                          <a:ea typeface="Arial"/>
                          <a:cs typeface="Arial"/>
                        </a:rPr>
                        <a:t>役職</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60" b="1">
                          <a:solidFill>
                            <a:srgbClr val="FFFFFF"/>
                          </a:solidFill>
                          <a:latin typeface="Arial"/>
                          <a:ea typeface="Arial"/>
                          <a:cs typeface="Arial"/>
                        </a:rPr>
                        <a:t>保有株式数</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60" b="1">
                          <a:solidFill>
                            <a:srgbClr val="FFFFFF"/>
                          </a:solidFill>
                          <a:latin typeface="Arial"/>
                          <a:ea typeface="Arial"/>
                          <a:cs typeface="Arial"/>
                        </a:rPr>
                        <a:t>保有割合</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60" b="1">
                          <a:solidFill>
                            <a:srgbClr val="FFFFFF"/>
                          </a:solidFill>
                          <a:latin typeface="Arial"/>
                          <a:ea typeface="Arial"/>
                          <a:cs typeface="Arial"/>
                        </a:rPr>
                        <a:t>備考</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92608">
                <a:tc>
                  <a:txBody>
                    <a:bodyPr wrap="square"/>
                    <a:lstStyle/>
                    <a:p>
                      <a:pPr algn="ctr">
                        <a:spcAft>
                          <a:spcPts val="0"/>
                        </a:spcAft>
                      </a:pPr>
                      <a:r>
                        <a:rPr sz="860" b="0">
                          <a:solidFill>
                            <a:srgbClr val="1A1A1A"/>
                          </a:solidFill>
                          <a:latin typeface="Arial"/>
                          <a:ea typeface="Arial"/>
                          <a:cs typeface="Arial"/>
                        </a:rPr>
                        <a:t>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小川　宣夫</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代表取締役</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0">
                          <a:solidFill>
                            <a:srgbClr val="1A1A1A"/>
                          </a:solidFill>
                          <a:latin typeface="Arial"/>
                          <a:ea typeface="Arial"/>
                          <a:cs typeface="Arial"/>
                        </a:rPr>
                        <a:t>130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0">
                          <a:solidFill>
                            <a:srgbClr val="1A1A1A"/>
                          </a:solidFill>
                          <a:latin typeface="Arial"/>
                          <a:ea typeface="Arial"/>
                          <a:cs typeface="Arial"/>
                        </a:rPr>
                        <a:t>65.0%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引継ぎ完了後、退任予定</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92608">
                <a:tc>
                  <a:txBody>
                    <a:bodyPr wrap="square"/>
                    <a:lstStyle/>
                    <a:p>
                      <a:pPr algn="ctr">
                        <a:spcAft>
                          <a:spcPts val="0"/>
                        </a:spcAft>
                      </a:pPr>
                      <a:r>
                        <a:rPr sz="860" b="0">
                          <a:solidFill>
                            <a:srgbClr val="1A1A1A"/>
                          </a:solidFill>
                          <a:latin typeface="Arial"/>
                          <a:ea typeface="Arial"/>
                          <a:cs typeface="Arial"/>
                        </a:rPr>
                        <a:t>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小川　喜久子</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取締役</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0">
                          <a:solidFill>
                            <a:srgbClr val="1A1A1A"/>
                          </a:solidFill>
                          <a:latin typeface="Arial"/>
                          <a:ea typeface="Arial"/>
                          <a:cs typeface="Arial"/>
                        </a:rPr>
                        <a:t>70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0">
                          <a:solidFill>
                            <a:srgbClr val="1A1A1A"/>
                          </a:solidFill>
                          <a:latin typeface="Arial"/>
                          <a:ea typeface="Arial"/>
                          <a:cs typeface="Arial"/>
                        </a:rPr>
                        <a:t>35.0%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クロージング時 退任予定</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92608">
                <a:tc>
                  <a:txBody>
                    <a:bodyPr wrap="square"/>
                    <a:lstStyle/>
                    <a:p>
                      <a:pPr algn="ctr">
                        <a:spcAft>
                          <a:spcPts val="0"/>
                        </a:spcAft>
                      </a:pPr>
                      <a:r>
                        <a:rPr sz="860" b="1">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1">
                          <a:solidFill>
                            <a:srgbClr val="1A1A1A"/>
                          </a:solidFill>
                          <a:latin typeface="游ゴシック"/>
                          <a:ea typeface="游ゴシック"/>
                          <a:cs typeface="游ゴシック"/>
                        </a:rPr>
                        <a:t>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1">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1">
                          <a:solidFill>
                            <a:srgbClr val="1A1A1A"/>
                          </a:solidFill>
                          <a:latin typeface="Arial"/>
                          <a:ea typeface="Arial"/>
                          <a:cs typeface="Arial"/>
                        </a:rPr>
                        <a:t>200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1">
                          <a:solidFill>
                            <a:srgbClr val="1A1A1A"/>
                          </a:solidFill>
                          <a:latin typeface="Arial"/>
                          <a:ea typeface="Arial"/>
                          <a:cs typeface="Arial"/>
                        </a:rPr>
                        <a:t>100.0%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1">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6" name="Rectangle 15"/>
          <p:cNvSpPr/>
          <p:nvPr/>
        </p:nvSpPr>
        <p:spPr>
          <a:xfrm>
            <a:off x="310896" y="3383280"/>
            <a:ext cx="1481328"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400" b="1">
                <a:solidFill>
                  <a:srgbClr val="FFFFFF"/>
                </a:solidFill>
                <a:latin typeface="游ゴシック"/>
                <a:ea typeface="游ゴシック"/>
                <a:cs typeface="游ゴシック"/>
              </a:rPr>
              <a:t>役員</a:t>
            </a:r>
          </a:p>
        </p:txBody>
      </p:sp>
      <p:graphicFrame>
        <p:nvGraphicFramePr>
          <p:cNvPr id="17" name="Table 16"/>
          <p:cNvGraphicFramePr>
            <a:graphicFrameLocks noGrp="1"/>
          </p:cNvGraphicFramePr>
          <p:nvPr/>
        </p:nvGraphicFramePr>
        <p:xfrm>
          <a:off x="310896" y="3739896"/>
          <a:ext cx="10067544" cy="1591056"/>
        </p:xfrm>
        <a:graphic>
          <a:graphicData uri="http://schemas.openxmlformats.org/drawingml/2006/table">
            <a:tbl>
              <a:tblPr firstRow="0" bandRow="0">
                <a:tableStyleId>{5940675A-B579-460E-94D1-54222C63F5DA}</a:tableStyleId>
              </a:tblPr>
              <a:tblGrid>
                <a:gridCol w="420624"/>
                <a:gridCol w="1554480"/>
                <a:gridCol w="1188720"/>
                <a:gridCol w="1371600"/>
                <a:gridCol w="914400"/>
                <a:gridCol w="2286000"/>
                <a:gridCol w="2331720"/>
              </a:tblGrid>
              <a:tr h="347472">
                <a:tc>
                  <a:txBody>
                    <a:bodyPr wrap="square"/>
                    <a:lstStyle/>
                    <a:p>
                      <a:pPr algn="ctr">
                        <a:spcAft>
                          <a:spcPts val="0"/>
                        </a:spcAft>
                      </a:pPr>
                      <a:r>
                        <a:rPr sz="860" b="1">
                          <a:solidFill>
                            <a:srgbClr val="FFFFFF"/>
                          </a:solidFill>
                          <a:latin typeface="游ゴシック"/>
                          <a:ea typeface="游ゴシック"/>
                          <a:cs typeface="游ゴシック"/>
                        </a:rPr>
                        <a:t>No.</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60" b="1">
                          <a:solidFill>
                            <a:srgbClr val="FFFFFF"/>
                          </a:solidFill>
                          <a:latin typeface="Arial"/>
                          <a:ea typeface="Arial"/>
                          <a:cs typeface="Arial"/>
                        </a:rPr>
                        <a:t>氏名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60" b="1">
                          <a:solidFill>
                            <a:srgbClr val="FFFFFF"/>
                          </a:solidFill>
                          <a:latin typeface="Arial"/>
                          <a:ea typeface="Arial"/>
                          <a:cs typeface="Arial"/>
                        </a:rPr>
                        <a:t>役職</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60" b="1">
                          <a:solidFill>
                            <a:srgbClr val="FFFFFF"/>
                          </a:solidFill>
                          <a:latin typeface="Arial"/>
                          <a:ea typeface="Arial"/>
                          <a:cs typeface="Arial"/>
                        </a:rPr>
                        <a:t>代表者との関係</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60" b="1">
                          <a:solidFill>
                            <a:srgbClr val="FFFFFF"/>
                          </a:solidFill>
                          <a:latin typeface="Arial"/>
                          <a:ea typeface="Arial"/>
                          <a:cs typeface="Arial"/>
                        </a:rPr>
                        <a:t>役員報酬</a:t>
                      </a:r>
                    </a:p>
                    <a:p>
                      <a:pPr algn="ctr">
                        <a:spcAft>
                          <a:spcPts val="0"/>
                        </a:spcAft>
                      </a:pPr>
                      <a:r>
                        <a:rPr sz="860" b="1">
                          <a:solidFill>
                            <a:srgbClr val="FFFFFF"/>
                          </a:solidFill>
                          <a:latin typeface="Arial"/>
                          <a:ea typeface="Arial"/>
                          <a:cs typeface="Arial"/>
                        </a:rPr>
                        <a:t>（2026/5期）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60" b="1">
                          <a:solidFill>
                            <a:srgbClr val="FFFFFF"/>
                          </a:solidFill>
                          <a:latin typeface="Arial"/>
                          <a:ea typeface="Arial"/>
                          <a:cs typeface="Arial"/>
                        </a:rPr>
                        <a:t>業務範囲</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60" b="1">
                          <a:solidFill>
                            <a:srgbClr val="FFFFFF"/>
                          </a:solidFill>
                          <a:latin typeface="Arial"/>
                          <a:ea typeface="Arial"/>
                          <a:cs typeface="Arial"/>
                        </a:rPr>
                        <a:t>備考</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0896">
                <a:tc>
                  <a:txBody>
                    <a:bodyPr wrap="square"/>
                    <a:lstStyle/>
                    <a:p>
                      <a:pPr algn="ctr">
                        <a:spcAft>
                          <a:spcPts val="0"/>
                        </a:spcAft>
                      </a:pPr>
                      <a:r>
                        <a:rPr sz="860" b="0">
                          <a:solidFill>
                            <a:srgbClr val="1A1A1A"/>
                          </a:solidFill>
                          <a:latin typeface="Arial"/>
                          <a:ea typeface="Arial"/>
                          <a:cs typeface="Arial"/>
                        </a:rPr>
                        <a:t>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小川　宣夫</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代表取締役</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本人</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そば打ち・製粉・仕入・接客を含む店舗運営全般</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引継ぎ完了後、退任予定</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0896">
                <a:tc>
                  <a:txBody>
                    <a:bodyPr wrap="square"/>
                    <a:lstStyle/>
                    <a:p>
                      <a:pPr algn="ctr">
                        <a:spcAft>
                          <a:spcPts val="0"/>
                        </a:spcAft>
                      </a:pPr>
                      <a:r>
                        <a:rPr sz="860" b="0">
                          <a:solidFill>
                            <a:srgbClr val="1A1A1A"/>
                          </a:solidFill>
                          <a:latin typeface="Arial"/>
                          <a:ea typeface="Arial"/>
                          <a:cs typeface="Arial"/>
                        </a:rPr>
                        <a:t>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小川　喜久子</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取締役</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配偶者</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接客・経理</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クロージング時 退任予定</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0896">
                <a:tc>
                  <a:txBody>
                    <a:bodyPr wrap="square"/>
                    <a:lstStyle/>
                    <a:p>
                      <a:pPr algn="ctr">
                        <a:spcAft>
                          <a:spcPts val="0"/>
                        </a:spcAft>
                      </a:pPr>
                      <a:r>
                        <a:rPr sz="860" b="0">
                          <a:solidFill>
                            <a:srgbClr val="1A1A1A"/>
                          </a:solidFill>
                          <a:latin typeface="Arial"/>
                          <a:ea typeface="Arial"/>
                          <a:cs typeface="Arial"/>
                        </a:rPr>
                        <a:t>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岩間　卓哉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取締役</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元従業員（弟子）</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勤務実態なし（要確認）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塩町館の営業を承継された方。本件後の取扱いは要協議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0896">
                <a:tc>
                  <a:txBody>
                    <a:bodyPr wrap="square"/>
                    <a:lstStyle/>
                    <a:p>
                      <a:pPr algn="ctr">
                        <a:spcAft>
                          <a:spcPts val="0"/>
                        </a:spcAft>
                      </a:pPr>
                      <a:r>
                        <a:rPr sz="860" b="0">
                          <a:solidFill>
                            <a:srgbClr val="1A1A1A"/>
                          </a:solidFill>
                          <a:latin typeface="Arial"/>
                          <a:ea typeface="Arial"/>
                          <a:cs typeface="Arial"/>
                        </a:rPr>
                        <a:t>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小川　実</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監査役</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親族（要確認）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会計監査限定（登記簿）</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会計監査に限定（登記簿）</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8" name="TextBox 17"/>
          <p:cNvSpPr txBox="1"/>
          <p:nvPr/>
        </p:nvSpPr>
        <p:spPr>
          <a:xfrm>
            <a:off x="310896" y="5577840"/>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株主構成は法人税申告書 別表二（2026年5月期）、役員構成は法人登記簿（2026年9月15日現在）に基づく。発行済株式総数200株、株券発行会社。</a:t>
            </a:r>
          </a:p>
          <a:p>
            <a:pPr algn="l">
              <a:lnSpc>
                <a:spcPct val="112000"/>
              </a:lnSpc>
              <a:spcAft>
                <a:spcPts val="100"/>
              </a:spcAft>
            </a:pPr>
            <a:r>
              <a:rPr sz="750" b="0">
                <a:solidFill>
                  <a:srgbClr val="5A6670"/>
                </a:solidFill>
                <a:latin typeface="游ゴシック"/>
                <a:ea typeface="游ゴシック"/>
                <a:cs typeface="游ゴシック"/>
              </a:rPr>
              <a:t>※ 株式の譲渡には取締役会の承認を要する（登記簿）。名義株の有無は要確認。役員報酬は2024/5期〜2026/5期の3期を通じて計上がない。</a:t>
            </a:r>
          </a:p>
        </p:txBody>
      </p:sp>
    </p:spTree>
    <p:extLst>
      <p:ext uri="{BB962C8B-B14F-4D97-AF65-F5344CB8AC3E}">
        <p14:creationId xmlns:p14="http://schemas.microsoft.com/office/powerpoint/2010/main" val="1111365944"/>
      </p:ext>
    </p:extLst>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タイトル 12">
            <a:extLst>
              <a:ext uri="{FF2B5EF4-FFF2-40B4-BE49-F238E27FC236}">
                <a16:creationId xmlns:a16="http://schemas.microsoft.com/office/drawing/2014/main" id="{AE20CDE1-7008-F0D4-81FD-53AE154BF5EA}"/>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月次売上・営業日の分析</a:t>
            </a:r>
          </a:p>
        </p:txBody>
      </p:sp>
      <p:sp>
        <p:nvSpPr>
          <p:cNvPr id="5" name="タイトル 1">
            <a:extLst>
              <a:ext uri="{FF2B5EF4-FFF2-40B4-BE49-F238E27FC236}">
                <a16:creationId xmlns:a16="http://schemas.microsoft.com/office/drawing/2014/main" id="{6790A563-0096-2902-0624-D66AB2A099B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a:latin typeface="游ゴシック"/>
                <a:ea typeface="游ゴシック"/>
                <a:cs typeface="游ゴシック"/>
              </a:rPr>
              <a:t>事業概要</a:t>
            </a:r>
          </a:p>
        </p:txBody>
      </p:sp>
      <p:sp>
        <p:nvSpPr>
          <p:cNvPr id="7" name="字幕 13">
            <a:extLst>
              <a:ext uri="{FF2B5EF4-FFF2-40B4-BE49-F238E27FC236}">
                <a16:creationId xmlns:a16="http://schemas.microsoft.com/office/drawing/2014/main" id="{C28AC2D5-7B01-C5B2-1062-1CE28DB5BD3C}"/>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営業は金・土・日・月の週4日・昼のみ（年間200日）。新そばの11月が日商141千円と突出し、1月の約3倍</a:t>
            </a:r>
            <a:endParaRPr lang="en-US" altLang="ja-JP" dirty="0"/>
          </a:p>
        </p:txBody>
      </p:sp>
      <p:graphicFrame>
        <p:nvGraphicFramePr>
          <p:cNvPr id="14" name="Table 13"/>
          <p:cNvGraphicFramePr>
            <a:graphicFrameLocks noGrp="1"/>
          </p:cNvGraphicFramePr>
          <p:nvPr/>
        </p:nvGraphicFramePr>
        <p:xfrm>
          <a:off x="310896" y="1408176"/>
          <a:ext cx="3529580" cy="2820007"/>
        </p:xfrm>
        <a:graphic>
          <a:graphicData uri="http://schemas.openxmlformats.org/drawingml/2006/table">
            <a:tbl>
              <a:tblPr firstRow="0" bandRow="0">
                <a:tableStyleId>{5940675A-B579-460E-94D1-54222C63F5DA}</a:tableStyleId>
              </a:tblPr>
              <a:tblGrid>
                <a:gridCol w="694943"/>
                <a:gridCol w="1207007"/>
                <a:gridCol w="804671"/>
                <a:gridCol w="822959"/>
              </a:tblGrid>
              <a:tr h="228600">
                <a:tc>
                  <a:txBody>
                    <a:bodyPr wrap="square"/>
                    <a:lstStyle/>
                    <a:p>
                      <a:pPr algn="ctr">
                        <a:spcAft>
                          <a:spcPts val="0"/>
                        </a:spcAft>
                      </a:pPr>
                      <a:r>
                        <a:rPr sz="819" b="1">
                          <a:solidFill>
                            <a:srgbClr val="FFFFFF"/>
                          </a:solidFill>
                          <a:latin typeface="游ゴシック"/>
                          <a:ea typeface="游ゴシック"/>
                          <a:cs typeface="游ゴシック"/>
                        </a:rPr>
                        <a:t>月</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店頭売上高</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営業日数</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日商平均</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9339">
                <a:tc>
                  <a:txBody>
                    <a:bodyPr wrap="square"/>
                    <a:lstStyle/>
                    <a:p>
                      <a:pPr algn="l">
                        <a:spcAft>
                          <a:spcPts val="0"/>
                        </a:spcAft>
                      </a:pPr>
                      <a:r>
                        <a:rPr sz="819" b="0">
                          <a:solidFill>
                            <a:srgbClr val="1A1A1A"/>
                          </a:solidFill>
                          <a:latin typeface="游ゴシック"/>
                          <a:ea typeface="游ゴシック"/>
                          <a:cs typeface="游ゴシック"/>
                        </a:rPr>
                        <a:t>6月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975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57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9339">
                <a:tc>
                  <a:txBody>
                    <a:bodyPr wrap="square"/>
                    <a:lstStyle/>
                    <a:p>
                      <a:pPr algn="l">
                        <a:spcAft>
                          <a:spcPts val="0"/>
                        </a:spcAft>
                      </a:pPr>
                      <a:r>
                        <a:rPr sz="819" b="0">
                          <a:solidFill>
                            <a:srgbClr val="1A1A1A"/>
                          </a:solidFill>
                          <a:latin typeface="游ゴシック"/>
                          <a:ea typeface="游ゴシック"/>
                          <a:cs typeface="游ゴシック"/>
                        </a:rPr>
                        <a:t>7月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1,106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69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9339">
                <a:tc>
                  <a:txBody>
                    <a:bodyPr wrap="square"/>
                    <a:lstStyle/>
                    <a:p>
                      <a:pPr algn="l">
                        <a:spcAft>
                          <a:spcPts val="0"/>
                        </a:spcAft>
                      </a:pPr>
                      <a:r>
                        <a:rPr sz="819" b="0">
                          <a:solidFill>
                            <a:srgbClr val="1A1A1A"/>
                          </a:solidFill>
                          <a:latin typeface="游ゴシック"/>
                          <a:ea typeface="游ゴシック"/>
                          <a:cs typeface="游ゴシック"/>
                        </a:rPr>
                        <a:t>8月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1,622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85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9339">
                <a:tc>
                  <a:txBody>
                    <a:bodyPr wrap="square"/>
                    <a:lstStyle/>
                    <a:p>
                      <a:pPr algn="l">
                        <a:spcAft>
                          <a:spcPts val="0"/>
                        </a:spcAft>
                      </a:pPr>
                      <a:r>
                        <a:rPr sz="819" b="0">
                          <a:solidFill>
                            <a:srgbClr val="1A1A1A"/>
                          </a:solidFill>
                          <a:latin typeface="游ゴシック"/>
                          <a:ea typeface="游ゴシック"/>
                          <a:cs typeface="游ゴシック"/>
                        </a:rPr>
                        <a:t>9月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1,249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73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9339">
                <a:tc>
                  <a:txBody>
                    <a:bodyPr wrap="square"/>
                    <a:lstStyle/>
                    <a:p>
                      <a:pPr algn="l">
                        <a:spcAft>
                          <a:spcPts val="0"/>
                        </a:spcAft>
                      </a:pPr>
                      <a:r>
                        <a:rPr sz="819" b="0">
                          <a:solidFill>
                            <a:srgbClr val="1A1A1A"/>
                          </a:solidFill>
                          <a:latin typeface="游ゴシック"/>
                          <a:ea typeface="游ゴシック"/>
                          <a:cs typeface="游ゴシック"/>
                        </a:rPr>
                        <a:t>10月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1,503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88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9339">
                <a:tc>
                  <a:txBody>
                    <a:bodyPr wrap="square"/>
                    <a:lstStyle/>
                    <a:p>
                      <a:pPr algn="l">
                        <a:spcAft>
                          <a:spcPts val="0"/>
                        </a:spcAft>
                      </a:pPr>
                      <a:r>
                        <a:rPr sz="819" b="0">
                          <a:solidFill>
                            <a:srgbClr val="1A1A1A"/>
                          </a:solidFill>
                          <a:latin typeface="游ゴシック"/>
                          <a:ea typeface="游ゴシック"/>
                          <a:cs typeface="游ゴシック"/>
                        </a:rPr>
                        <a:t>11月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2,531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141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9339">
                <a:tc>
                  <a:txBody>
                    <a:bodyPr wrap="square"/>
                    <a:lstStyle/>
                    <a:p>
                      <a:pPr algn="l">
                        <a:spcAft>
                          <a:spcPts val="0"/>
                        </a:spcAft>
                      </a:pPr>
                      <a:r>
                        <a:rPr sz="819" b="0">
                          <a:solidFill>
                            <a:srgbClr val="1A1A1A"/>
                          </a:solidFill>
                          <a:latin typeface="游ゴシック"/>
                          <a:ea typeface="游ゴシック"/>
                          <a:cs typeface="游ゴシック"/>
                        </a:rPr>
                        <a:t>12月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778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49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9339">
                <a:tc>
                  <a:txBody>
                    <a:bodyPr wrap="square"/>
                    <a:lstStyle/>
                    <a:p>
                      <a:pPr algn="l">
                        <a:spcAft>
                          <a:spcPts val="0"/>
                        </a:spcAft>
                      </a:pPr>
                      <a:r>
                        <a:rPr sz="819" b="0">
                          <a:solidFill>
                            <a:srgbClr val="1A1A1A"/>
                          </a:solidFill>
                          <a:latin typeface="游ゴシック"/>
                          <a:ea typeface="游ゴシック"/>
                          <a:cs typeface="游ゴシック"/>
                        </a:rPr>
                        <a:t>1月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613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47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9339">
                <a:tc>
                  <a:txBody>
                    <a:bodyPr wrap="square"/>
                    <a:lstStyle/>
                    <a:p>
                      <a:pPr algn="l">
                        <a:spcAft>
                          <a:spcPts val="0"/>
                        </a:spcAft>
                      </a:pPr>
                      <a:r>
                        <a:rPr sz="819" b="0">
                          <a:solidFill>
                            <a:srgbClr val="1A1A1A"/>
                          </a:solidFill>
                          <a:latin typeface="游ゴシック"/>
                          <a:ea typeface="游ゴシック"/>
                          <a:cs typeface="游ゴシック"/>
                        </a:rPr>
                        <a:t>2月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925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9339">
                <a:tc>
                  <a:txBody>
                    <a:bodyPr wrap="square"/>
                    <a:lstStyle/>
                    <a:p>
                      <a:pPr algn="l">
                        <a:spcAft>
                          <a:spcPts val="0"/>
                        </a:spcAft>
                      </a:pPr>
                      <a:r>
                        <a:rPr sz="819" b="0">
                          <a:solidFill>
                            <a:srgbClr val="1A1A1A"/>
                          </a:solidFill>
                          <a:latin typeface="游ゴシック"/>
                          <a:ea typeface="游ゴシック"/>
                          <a:cs typeface="游ゴシック"/>
                        </a:rPr>
                        <a:t>3月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1,072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60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9339">
                <a:tc>
                  <a:txBody>
                    <a:bodyPr wrap="square"/>
                    <a:lstStyle/>
                    <a:p>
                      <a:pPr algn="l">
                        <a:spcAft>
                          <a:spcPts val="0"/>
                        </a:spcAft>
                      </a:pPr>
                      <a:r>
                        <a:rPr sz="819" b="0">
                          <a:solidFill>
                            <a:srgbClr val="1A1A1A"/>
                          </a:solidFill>
                          <a:latin typeface="游ゴシック"/>
                          <a:ea typeface="游ゴシック"/>
                          <a:cs typeface="游ゴシック"/>
                        </a:rPr>
                        <a:t>4月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1,100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65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9339">
                <a:tc>
                  <a:txBody>
                    <a:bodyPr wrap="square"/>
                    <a:lstStyle/>
                    <a:p>
                      <a:pPr algn="l">
                        <a:spcAft>
                          <a:spcPts val="0"/>
                        </a:spcAft>
                      </a:pPr>
                      <a:r>
                        <a:rPr sz="819" b="0">
                          <a:solidFill>
                            <a:srgbClr val="1A1A1A"/>
                          </a:solidFill>
                          <a:latin typeface="游ゴシック"/>
                          <a:ea typeface="游ゴシック"/>
                          <a:cs typeface="游ゴシック"/>
                        </a:rPr>
                        <a:t>5月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1,491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93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9339">
                <a:tc>
                  <a:txBody>
                    <a:bodyPr wrap="square"/>
                    <a:lstStyle/>
                    <a:p>
                      <a:pPr algn="l">
                        <a:spcAft>
                          <a:spcPts val="0"/>
                        </a:spcAft>
                      </a:pPr>
                      <a:r>
                        <a:rPr sz="819" b="1">
                          <a:solidFill>
                            <a:srgbClr val="1A1A1A"/>
                          </a:solidFill>
                          <a:latin typeface="游ゴシック"/>
                          <a:ea typeface="游ゴシック"/>
                          <a:cs typeface="游ゴシック"/>
                        </a:rPr>
                        <a:t>小計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14,967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200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5" name="Rectangle 14"/>
          <p:cNvSpPr/>
          <p:nvPr/>
        </p:nvSpPr>
        <p:spPr>
          <a:xfrm>
            <a:off x="4041648" y="1408176"/>
            <a:ext cx="6336792" cy="2798064"/>
          </a:xfrm>
          <a:prstGeom prst="rect">
            <a:avLst/>
          </a:prstGeom>
          <a:solidFill>
            <a:srgbClr val="FBFCFD"/>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151376" y="1481328"/>
            <a:ext cx="6117336" cy="201168"/>
          </a:xfrm>
          <a:prstGeom prst="rect">
            <a:avLst/>
          </a:prstGeom>
          <a:noFill/>
        </p:spPr>
        <p:txBody>
          <a:bodyPr wrap="square" lIns="0" rIns="0" tIns="0" bIns="0" anchor="t">
            <a:spAutoFit/>
          </a:bodyPr>
          <a:lstStyle/>
          <a:p>
            <a:pPr algn="l">
              <a:spcAft>
                <a:spcPts val="0"/>
              </a:spcAft>
            </a:pPr>
            <a:r>
              <a:rPr sz="900" b="1">
                <a:solidFill>
                  <a:srgbClr val="0B3041"/>
                </a:solidFill>
                <a:latin typeface="游ゴシック"/>
                <a:ea typeface="游ゴシック"/>
                <a:cs typeface="游ゴシック"/>
              </a:rPr>
              <a:t>月次 店頭売上高（千円）</a:t>
            </a:r>
          </a:p>
        </p:txBody>
      </p:sp>
      <p:sp>
        <p:nvSpPr>
          <p:cNvPr id="17" name="Rectangle 16"/>
          <p:cNvSpPr/>
          <p:nvPr/>
        </p:nvSpPr>
        <p:spPr>
          <a:xfrm>
            <a:off x="4352544" y="3106308"/>
            <a:ext cx="291236" cy="78903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279392" y="2923428"/>
            <a:ext cx="368899" cy="164592"/>
          </a:xfrm>
          <a:prstGeom prst="rect">
            <a:avLst/>
          </a:prstGeom>
          <a:noFill/>
        </p:spPr>
        <p:txBody>
          <a:bodyPr wrap="square" lIns="0" rIns="0" tIns="0" bIns="0" anchor="t">
            <a:spAutoFit/>
          </a:bodyPr>
          <a:lstStyle/>
          <a:p>
            <a:pPr algn="ctr">
              <a:spcAft>
                <a:spcPts val="0"/>
              </a:spcAft>
            </a:pPr>
            <a:r>
              <a:rPr sz="680" b="0">
                <a:solidFill>
                  <a:srgbClr val="0B3041"/>
                </a:solidFill>
                <a:latin typeface="Arial"/>
                <a:ea typeface="Arial"/>
                <a:cs typeface="Arial"/>
              </a:rPr>
              <a:t>975</a:t>
            </a:r>
          </a:p>
        </p:txBody>
      </p:sp>
      <p:sp>
        <p:nvSpPr>
          <p:cNvPr id="19" name="TextBox 18"/>
          <p:cNvSpPr txBox="1"/>
          <p:nvPr/>
        </p:nvSpPr>
        <p:spPr>
          <a:xfrm>
            <a:off x="4279392" y="3941063"/>
            <a:ext cx="368899" cy="164592"/>
          </a:xfrm>
          <a:prstGeom prst="rect">
            <a:avLst/>
          </a:prstGeom>
          <a:noFill/>
        </p:spPr>
        <p:txBody>
          <a:bodyPr wrap="square" lIns="0" rIns="0" tIns="0" bIns="0" anchor="t">
            <a:spAutoFit/>
          </a:bodyPr>
          <a:lstStyle/>
          <a:p>
            <a:pPr algn="ctr">
              <a:spcAft>
                <a:spcPts val="0"/>
              </a:spcAft>
            </a:pPr>
            <a:r>
              <a:rPr sz="700" b="0">
                <a:solidFill>
                  <a:srgbClr val="5A6670"/>
                </a:solidFill>
                <a:latin typeface="Arial"/>
                <a:ea typeface="Arial"/>
                <a:cs typeface="Arial"/>
              </a:rPr>
              <a:t>6月</a:t>
            </a:r>
          </a:p>
        </p:txBody>
      </p:sp>
      <p:sp>
        <p:nvSpPr>
          <p:cNvPr id="20" name="Rectangle 19"/>
          <p:cNvSpPr/>
          <p:nvPr/>
        </p:nvSpPr>
        <p:spPr>
          <a:xfrm>
            <a:off x="4837938" y="3000294"/>
            <a:ext cx="291236" cy="895049"/>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764786" y="2817414"/>
            <a:ext cx="368899" cy="164592"/>
          </a:xfrm>
          <a:prstGeom prst="rect">
            <a:avLst/>
          </a:prstGeom>
          <a:noFill/>
        </p:spPr>
        <p:txBody>
          <a:bodyPr wrap="square" lIns="0" rIns="0" tIns="0" bIns="0" anchor="t">
            <a:spAutoFit/>
          </a:bodyPr>
          <a:lstStyle/>
          <a:p>
            <a:pPr algn="ctr">
              <a:spcAft>
                <a:spcPts val="0"/>
              </a:spcAft>
            </a:pPr>
            <a:r>
              <a:rPr sz="680" b="0">
                <a:solidFill>
                  <a:srgbClr val="0B3041"/>
                </a:solidFill>
                <a:latin typeface="Arial"/>
                <a:ea typeface="Arial"/>
                <a:cs typeface="Arial"/>
              </a:rPr>
              <a:t>1,106</a:t>
            </a:r>
          </a:p>
        </p:txBody>
      </p:sp>
      <p:sp>
        <p:nvSpPr>
          <p:cNvPr id="22" name="TextBox 21"/>
          <p:cNvSpPr txBox="1"/>
          <p:nvPr/>
        </p:nvSpPr>
        <p:spPr>
          <a:xfrm>
            <a:off x="4764786" y="3941063"/>
            <a:ext cx="368899" cy="164592"/>
          </a:xfrm>
          <a:prstGeom prst="rect">
            <a:avLst/>
          </a:prstGeom>
          <a:noFill/>
        </p:spPr>
        <p:txBody>
          <a:bodyPr wrap="square" lIns="0" rIns="0" tIns="0" bIns="0" anchor="t">
            <a:spAutoFit/>
          </a:bodyPr>
          <a:lstStyle/>
          <a:p>
            <a:pPr algn="ctr">
              <a:spcAft>
                <a:spcPts val="0"/>
              </a:spcAft>
            </a:pPr>
            <a:r>
              <a:rPr sz="700" b="0">
                <a:solidFill>
                  <a:srgbClr val="5A6670"/>
                </a:solidFill>
                <a:latin typeface="Arial"/>
                <a:ea typeface="Arial"/>
                <a:cs typeface="Arial"/>
              </a:rPr>
              <a:t>7月</a:t>
            </a:r>
          </a:p>
        </p:txBody>
      </p:sp>
      <p:sp>
        <p:nvSpPr>
          <p:cNvPr id="23" name="Rectangle 22"/>
          <p:cNvSpPr/>
          <p:nvPr/>
        </p:nvSpPr>
        <p:spPr>
          <a:xfrm>
            <a:off x="5323332" y="2582712"/>
            <a:ext cx="291236" cy="1312631"/>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250180" y="2399832"/>
            <a:ext cx="368899" cy="164592"/>
          </a:xfrm>
          <a:prstGeom prst="rect">
            <a:avLst/>
          </a:prstGeom>
          <a:noFill/>
        </p:spPr>
        <p:txBody>
          <a:bodyPr wrap="square" lIns="0" rIns="0" tIns="0" bIns="0" anchor="t">
            <a:spAutoFit/>
          </a:bodyPr>
          <a:lstStyle/>
          <a:p>
            <a:pPr algn="ctr">
              <a:spcAft>
                <a:spcPts val="0"/>
              </a:spcAft>
            </a:pPr>
            <a:r>
              <a:rPr sz="680" b="0">
                <a:solidFill>
                  <a:srgbClr val="0B3041"/>
                </a:solidFill>
                <a:latin typeface="Arial"/>
                <a:ea typeface="Arial"/>
                <a:cs typeface="Arial"/>
              </a:rPr>
              <a:t>1,622</a:t>
            </a:r>
          </a:p>
        </p:txBody>
      </p:sp>
      <p:sp>
        <p:nvSpPr>
          <p:cNvPr id="25" name="TextBox 24"/>
          <p:cNvSpPr txBox="1"/>
          <p:nvPr/>
        </p:nvSpPr>
        <p:spPr>
          <a:xfrm>
            <a:off x="5250180" y="3941063"/>
            <a:ext cx="368899" cy="164592"/>
          </a:xfrm>
          <a:prstGeom prst="rect">
            <a:avLst/>
          </a:prstGeom>
          <a:noFill/>
        </p:spPr>
        <p:txBody>
          <a:bodyPr wrap="square" lIns="0" rIns="0" tIns="0" bIns="0" anchor="t">
            <a:spAutoFit/>
          </a:bodyPr>
          <a:lstStyle/>
          <a:p>
            <a:pPr algn="ctr">
              <a:spcAft>
                <a:spcPts val="0"/>
              </a:spcAft>
            </a:pPr>
            <a:r>
              <a:rPr sz="700" b="0">
                <a:solidFill>
                  <a:srgbClr val="5A6670"/>
                </a:solidFill>
                <a:latin typeface="Arial"/>
                <a:ea typeface="Arial"/>
                <a:cs typeface="Arial"/>
              </a:rPr>
              <a:t>8月</a:t>
            </a:r>
          </a:p>
        </p:txBody>
      </p:sp>
      <p:sp>
        <p:nvSpPr>
          <p:cNvPr id="26" name="Rectangle 25"/>
          <p:cNvSpPr/>
          <p:nvPr/>
        </p:nvSpPr>
        <p:spPr>
          <a:xfrm>
            <a:off x="5808725" y="2884568"/>
            <a:ext cx="291236" cy="1010775"/>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735573" y="2701688"/>
            <a:ext cx="368899" cy="164592"/>
          </a:xfrm>
          <a:prstGeom prst="rect">
            <a:avLst/>
          </a:prstGeom>
          <a:noFill/>
        </p:spPr>
        <p:txBody>
          <a:bodyPr wrap="square" lIns="0" rIns="0" tIns="0" bIns="0" anchor="t">
            <a:spAutoFit/>
          </a:bodyPr>
          <a:lstStyle/>
          <a:p>
            <a:pPr algn="ctr">
              <a:spcAft>
                <a:spcPts val="0"/>
              </a:spcAft>
            </a:pPr>
            <a:r>
              <a:rPr sz="680" b="0">
                <a:solidFill>
                  <a:srgbClr val="0B3041"/>
                </a:solidFill>
                <a:latin typeface="Arial"/>
                <a:ea typeface="Arial"/>
                <a:cs typeface="Arial"/>
              </a:rPr>
              <a:t>1,249</a:t>
            </a:r>
          </a:p>
        </p:txBody>
      </p:sp>
      <p:sp>
        <p:nvSpPr>
          <p:cNvPr id="28" name="TextBox 27"/>
          <p:cNvSpPr txBox="1"/>
          <p:nvPr/>
        </p:nvSpPr>
        <p:spPr>
          <a:xfrm>
            <a:off x="5735573" y="3941063"/>
            <a:ext cx="368899" cy="164592"/>
          </a:xfrm>
          <a:prstGeom prst="rect">
            <a:avLst/>
          </a:prstGeom>
          <a:noFill/>
        </p:spPr>
        <p:txBody>
          <a:bodyPr wrap="square" lIns="0" rIns="0" tIns="0" bIns="0" anchor="t">
            <a:spAutoFit/>
          </a:bodyPr>
          <a:lstStyle/>
          <a:p>
            <a:pPr algn="ctr">
              <a:spcAft>
                <a:spcPts val="0"/>
              </a:spcAft>
            </a:pPr>
            <a:r>
              <a:rPr sz="700" b="0">
                <a:solidFill>
                  <a:srgbClr val="5A6670"/>
                </a:solidFill>
                <a:latin typeface="Arial"/>
                <a:ea typeface="Arial"/>
                <a:cs typeface="Arial"/>
              </a:rPr>
              <a:t>9月</a:t>
            </a:r>
          </a:p>
        </p:txBody>
      </p:sp>
      <p:sp>
        <p:nvSpPr>
          <p:cNvPr id="29" name="Rectangle 28"/>
          <p:cNvSpPr/>
          <p:nvPr/>
        </p:nvSpPr>
        <p:spPr>
          <a:xfrm>
            <a:off x="6294120" y="2679014"/>
            <a:ext cx="291236" cy="1216329"/>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220967" y="2496134"/>
            <a:ext cx="368899" cy="164592"/>
          </a:xfrm>
          <a:prstGeom prst="rect">
            <a:avLst/>
          </a:prstGeom>
          <a:noFill/>
        </p:spPr>
        <p:txBody>
          <a:bodyPr wrap="square" lIns="0" rIns="0" tIns="0" bIns="0" anchor="t">
            <a:spAutoFit/>
          </a:bodyPr>
          <a:lstStyle/>
          <a:p>
            <a:pPr algn="ctr">
              <a:spcAft>
                <a:spcPts val="0"/>
              </a:spcAft>
            </a:pPr>
            <a:r>
              <a:rPr sz="680" b="0">
                <a:solidFill>
                  <a:srgbClr val="0B3041"/>
                </a:solidFill>
                <a:latin typeface="Arial"/>
                <a:ea typeface="Arial"/>
                <a:cs typeface="Arial"/>
              </a:rPr>
              <a:t>1,503</a:t>
            </a:r>
          </a:p>
        </p:txBody>
      </p:sp>
      <p:sp>
        <p:nvSpPr>
          <p:cNvPr id="31" name="TextBox 30"/>
          <p:cNvSpPr txBox="1"/>
          <p:nvPr/>
        </p:nvSpPr>
        <p:spPr>
          <a:xfrm>
            <a:off x="6220967" y="3941063"/>
            <a:ext cx="368899" cy="164592"/>
          </a:xfrm>
          <a:prstGeom prst="rect">
            <a:avLst/>
          </a:prstGeom>
          <a:noFill/>
        </p:spPr>
        <p:txBody>
          <a:bodyPr wrap="square" lIns="0" rIns="0" tIns="0" bIns="0" anchor="t">
            <a:spAutoFit/>
          </a:bodyPr>
          <a:lstStyle/>
          <a:p>
            <a:pPr algn="ctr">
              <a:spcAft>
                <a:spcPts val="0"/>
              </a:spcAft>
            </a:pPr>
            <a:r>
              <a:rPr sz="700" b="0">
                <a:solidFill>
                  <a:srgbClr val="5A6670"/>
                </a:solidFill>
                <a:latin typeface="Arial"/>
                <a:ea typeface="Arial"/>
                <a:cs typeface="Arial"/>
              </a:rPr>
              <a:t>10月</a:t>
            </a:r>
          </a:p>
        </p:txBody>
      </p:sp>
      <p:sp>
        <p:nvSpPr>
          <p:cNvPr id="32" name="Rectangle 31"/>
          <p:cNvSpPr/>
          <p:nvPr/>
        </p:nvSpPr>
        <p:spPr>
          <a:xfrm>
            <a:off x="6779514" y="1847088"/>
            <a:ext cx="291236" cy="2048255"/>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706362" y="1664208"/>
            <a:ext cx="368899" cy="164592"/>
          </a:xfrm>
          <a:prstGeom prst="rect">
            <a:avLst/>
          </a:prstGeom>
          <a:noFill/>
        </p:spPr>
        <p:txBody>
          <a:bodyPr wrap="square" lIns="0" rIns="0" tIns="0" bIns="0" anchor="t">
            <a:spAutoFit/>
          </a:bodyPr>
          <a:lstStyle/>
          <a:p>
            <a:pPr algn="ctr">
              <a:spcAft>
                <a:spcPts val="0"/>
              </a:spcAft>
            </a:pPr>
            <a:r>
              <a:rPr sz="680" b="0">
                <a:solidFill>
                  <a:srgbClr val="0B3041"/>
                </a:solidFill>
                <a:latin typeface="Arial"/>
                <a:ea typeface="Arial"/>
                <a:cs typeface="Arial"/>
              </a:rPr>
              <a:t>2,531</a:t>
            </a:r>
          </a:p>
        </p:txBody>
      </p:sp>
      <p:sp>
        <p:nvSpPr>
          <p:cNvPr id="34" name="TextBox 33"/>
          <p:cNvSpPr txBox="1"/>
          <p:nvPr/>
        </p:nvSpPr>
        <p:spPr>
          <a:xfrm>
            <a:off x="6706362" y="3941063"/>
            <a:ext cx="368899" cy="164592"/>
          </a:xfrm>
          <a:prstGeom prst="rect">
            <a:avLst/>
          </a:prstGeom>
          <a:noFill/>
        </p:spPr>
        <p:txBody>
          <a:bodyPr wrap="square" lIns="0" rIns="0" tIns="0" bIns="0" anchor="t">
            <a:spAutoFit/>
          </a:bodyPr>
          <a:lstStyle/>
          <a:p>
            <a:pPr algn="ctr">
              <a:spcAft>
                <a:spcPts val="0"/>
              </a:spcAft>
            </a:pPr>
            <a:r>
              <a:rPr sz="700" b="0">
                <a:solidFill>
                  <a:srgbClr val="5A6670"/>
                </a:solidFill>
                <a:latin typeface="Arial"/>
                <a:ea typeface="Arial"/>
                <a:cs typeface="Arial"/>
              </a:rPr>
              <a:t>11月</a:t>
            </a:r>
          </a:p>
        </p:txBody>
      </p:sp>
      <p:sp>
        <p:nvSpPr>
          <p:cNvPr id="35" name="Rectangle 34"/>
          <p:cNvSpPr/>
          <p:nvPr/>
        </p:nvSpPr>
        <p:spPr>
          <a:xfrm>
            <a:off x="7264907" y="3265733"/>
            <a:ext cx="291236" cy="62961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191755" y="3082853"/>
            <a:ext cx="368899" cy="164592"/>
          </a:xfrm>
          <a:prstGeom prst="rect">
            <a:avLst/>
          </a:prstGeom>
          <a:noFill/>
        </p:spPr>
        <p:txBody>
          <a:bodyPr wrap="square" lIns="0" rIns="0" tIns="0" bIns="0" anchor="t">
            <a:spAutoFit/>
          </a:bodyPr>
          <a:lstStyle/>
          <a:p>
            <a:pPr algn="ctr">
              <a:spcAft>
                <a:spcPts val="0"/>
              </a:spcAft>
            </a:pPr>
            <a:r>
              <a:rPr sz="680" b="0">
                <a:solidFill>
                  <a:srgbClr val="0B3041"/>
                </a:solidFill>
                <a:latin typeface="Arial"/>
                <a:ea typeface="Arial"/>
                <a:cs typeface="Arial"/>
              </a:rPr>
              <a:t>778</a:t>
            </a:r>
          </a:p>
        </p:txBody>
      </p:sp>
      <p:sp>
        <p:nvSpPr>
          <p:cNvPr id="37" name="TextBox 36"/>
          <p:cNvSpPr txBox="1"/>
          <p:nvPr/>
        </p:nvSpPr>
        <p:spPr>
          <a:xfrm>
            <a:off x="7191755" y="3941063"/>
            <a:ext cx="368899" cy="164592"/>
          </a:xfrm>
          <a:prstGeom prst="rect">
            <a:avLst/>
          </a:prstGeom>
          <a:noFill/>
        </p:spPr>
        <p:txBody>
          <a:bodyPr wrap="square" lIns="0" rIns="0" tIns="0" bIns="0" anchor="t">
            <a:spAutoFit/>
          </a:bodyPr>
          <a:lstStyle/>
          <a:p>
            <a:pPr algn="ctr">
              <a:spcAft>
                <a:spcPts val="0"/>
              </a:spcAft>
            </a:pPr>
            <a:r>
              <a:rPr sz="700" b="0">
                <a:solidFill>
                  <a:srgbClr val="5A6670"/>
                </a:solidFill>
                <a:latin typeface="Arial"/>
                <a:ea typeface="Arial"/>
                <a:cs typeface="Arial"/>
              </a:rPr>
              <a:t>12月</a:t>
            </a:r>
          </a:p>
        </p:txBody>
      </p:sp>
      <p:sp>
        <p:nvSpPr>
          <p:cNvPr id="38" name="Rectangle 37"/>
          <p:cNvSpPr/>
          <p:nvPr/>
        </p:nvSpPr>
        <p:spPr>
          <a:xfrm>
            <a:off x="7750301" y="3399263"/>
            <a:ext cx="291236" cy="49608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677149" y="3216383"/>
            <a:ext cx="368899" cy="164592"/>
          </a:xfrm>
          <a:prstGeom prst="rect">
            <a:avLst/>
          </a:prstGeom>
          <a:noFill/>
        </p:spPr>
        <p:txBody>
          <a:bodyPr wrap="square" lIns="0" rIns="0" tIns="0" bIns="0" anchor="t">
            <a:spAutoFit/>
          </a:bodyPr>
          <a:lstStyle/>
          <a:p>
            <a:pPr algn="ctr">
              <a:spcAft>
                <a:spcPts val="0"/>
              </a:spcAft>
            </a:pPr>
            <a:r>
              <a:rPr sz="680" b="0">
                <a:solidFill>
                  <a:srgbClr val="0B3041"/>
                </a:solidFill>
                <a:latin typeface="Arial"/>
                <a:ea typeface="Arial"/>
                <a:cs typeface="Arial"/>
              </a:rPr>
              <a:t>613</a:t>
            </a:r>
          </a:p>
        </p:txBody>
      </p:sp>
      <p:sp>
        <p:nvSpPr>
          <p:cNvPr id="40" name="TextBox 39"/>
          <p:cNvSpPr txBox="1"/>
          <p:nvPr/>
        </p:nvSpPr>
        <p:spPr>
          <a:xfrm>
            <a:off x="7677149" y="3941063"/>
            <a:ext cx="368899" cy="164592"/>
          </a:xfrm>
          <a:prstGeom prst="rect">
            <a:avLst/>
          </a:prstGeom>
          <a:noFill/>
        </p:spPr>
        <p:txBody>
          <a:bodyPr wrap="square" lIns="0" rIns="0" tIns="0" bIns="0" anchor="t">
            <a:spAutoFit/>
          </a:bodyPr>
          <a:lstStyle/>
          <a:p>
            <a:pPr algn="ctr">
              <a:spcAft>
                <a:spcPts val="0"/>
              </a:spcAft>
            </a:pPr>
            <a:r>
              <a:rPr sz="700" b="0">
                <a:solidFill>
                  <a:srgbClr val="5A6670"/>
                </a:solidFill>
                <a:latin typeface="Arial"/>
                <a:ea typeface="Arial"/>
                <a:cs typeface="Arial"/>
              </a:rPr>
              <a:t>1月</a:t>
            </a:r>
          </a:p>
        </p:txBody>
      </p:sp>
      <p:sp>
        <p:nvSpPr>
          <p:cNvPr id="41" name="Rectangle 40"/>
          <p:cNvSpPr/>
          <p:nvPr/>
        </p:nvSpPr>
        <p:spPr>
          <a:xfrm>
            <a:off x="8235695" y="3146771"/>
            <a:ext cx="291236" cy="748572"/>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8162543" y="2963891"/>
            <a:ext cx="368899" cy="164592"/>
          </a:xfrm>
          <a:prstGeom prst="rect">
            <a:avLst/>
          </a:prstGeom>
          <a:noFill/>
        </p:spPr>
        <p:txBody>
          <a:bodyPr wrap="square" lIns="0" rIns="0" tIns="0" bIns="0" anchor="t">
            <a:spAutoFit/>
          </a:bodyPr>
          <a:lstStyle/>
          <a:p>
            <a:pPr algn="ctr">
              <a:spcAft>
                <a:spcPts val="0"/>
              </a:spcAft>
            </a:pPr>
            <a:r>
              <a:rPr sz="680" b="0">
                <a:solidFill>
                  <a:srgbClr val="0B3041"/>
                </a:solidFill>
                <a:latin typeface="Arial"/>
                <a:ea typeface="Arial"/>
                <a:cs typeface="Arial"/>
              </a:rPr>
              <a:t>925</a:t>
            </a:r>
          </a:p>
        </p:txBody>
      </p:sp>
      <p:sp>
        <p:nvSpPr>
          <p:cNvPr id="43" name="TextBox 42"/>
          <p:cNvSpPr txBox="1"/>
          <p:nvPr/>
        </p:nvSpPr>
        <p:spPr>
          <a:xfrm>
            <a:off x="8162543" y="3941063"/>
            <a:ext cx="368899" cy="164592"/>
          </a:xfrm>
          <a:prstGeom prst="rect">
            <a:avLst/>
          </a:prstGeom>
          <a:noFill/>
        </p:spPr>
        <p:txBody>
          <a:bodyPr wrap="square" lIns="0" rIns="0" tIns="0" bIns="0" anchor="t">
            <a:spAutoFit/>
          </a:bodyPr>
          <a:lstStyle/>
          <a:p>
            <a:pPr algn="ctr">
              <a:spcAft>
                <a:spcPts val="0"/>
              </a:spcAft>
            </a:pPr>
            <a:r>
              <a:rPr sz="700" b="0">
                <a:solidFill>
                  <a:srgbClr val="5A6670"/>
                </a:solidFill>
                <a:latin typeface="Arial"/>
                <a:ea typeface="Arial"/>
                <a:cs typeface="Arial"/>
              </a:rPr>
              <a:t>2月</a:t>
            </a:r>
          </a:p>
        </p:txBody>
      </p:sp>
      <p:sp>
        <p:nvSpPr>
          <p:cNvPr id="44" name="Rectangle 43"/>
          <p:cNvSpPr/>
          <p:nvPr/>
        </p:nvSpPr>
        <p:spPr>
          <a:xfrm>
            <a:off x="8721090" y="3027809"/>
            <a:ext cx="291236" cy="867534"/>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8647938" y="2844929"/>
            <a:ext cx="368899" cy="164592"/>
          </a:xfrm>
          <a:prstGeom prst="rect">
            <a:avLst/>
          </a:prstGeom>
          <a:noFill/>
        </p:spPr>
        <p:txBody>
          <a:bodyPr wrap="square" lIns="0" rIns="0" tIns="0" bIns="0" anchor="t">
            <a:spAutoFit/>
          </a:bodyPr>
          <a:lstStyle/>
          <a:p>
            <a:pPr algn="ctr">
              <a:spcAft>
                <a:spcPts val="0"/>
              </a:spcAft>
            </a:pPr>
            <a:r>
              <a:rPr sz="680" b="0">
                <a:solidFill>
                  <a:srgbClr val="0B3041"/>
                </a:solidFill>
                <a:latin typeface="Arial"/>
                <a:ea typeface="Arial"/>
                <a:cs typeface="Arial"/>
              </a:rPr>
              <a:t>1,072</a:t>
            </a:r>
          </a:p>
        </p:txBody>
      </p:sp>
      <p:sp>
        <p:nvSpPr>
          <p:cNvPr id="46" name="TextBox 45"/>
          <p:cNvSpPr txBox="1"/>
          <p:nvPr/>
        </p:nvSpPr>
        <p:spPr>
          <a:xfrm>
            <a:off x="8647938" y="3941063"/>
            <a:ext cx="368899" cy="164592"/>
          </a:xfrm>
          <a:prstGeom prst="rect">
            <a:avLst/>
          </a:prstGeom>
          <a:noFill/>
        </p:spPr>
        <p:txBody>
          <a:bodyPr wrap="square" lIns="0" rIns="0" tIns="0" bIns="0" anchor="t">
            <a:spAutoFit/>
          </a:bodyPr>
          <a:lstStyle/>
          <a:p>
            <a:pPr algn="ctr">
              <a:spcAft>
                <a:spcPts val="0"/>
              </a:spcAft>
            </a:pPr>
            <a:r>
              <a:rPr sz="700" b="0">
                <a:solidFill>
                  <a:srgbClr val="5A6670"/>
                </a:solidFill>
                <a:latin typeface="Arial"/>
                <a:ea typeface="Arial"/>
                <a:cs typeface="Arial"/>
              </a:rPr>
              <a:t>3月</a:t>
            </a:r>
          </a:p>
        </p:txBody>
      </p:sp>
      <p:sp>
        <p:nvSpPr>
          <p:cNvPr id="47" name="Rectangle 46"/>
          <p:cNvSpPr/>
          <p:nvPr/>
        </p:nvSpPr>
        <p:spPr>
          <a:xfrm>
            <a:off x="9206483" y="3005149"/>
            <a:ext cx="291236" cy="890194"/>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9133331" y="2822269"/>
            <a:ext cx="368899" cy="164592"/>
          </a:xfrm>
          <a:prstGeom prst="rect">
            <a:avLst/>
          </a:prstGeom>
          <a:noFill/>
        </p:spPr>
        <p:txBody>
          <a:bodyPr wrap="square" lIns="0" rIns="0" tIns="0" bIns="0" anchor="t">
            <a:spAutoFit/>
          </a:bodyPr>
          <a:lstStyle/>
          <a:p>
            <a:pPr algn="ctr">
              <a:spcAft>
                <a:spcPts val="0"/>
              </a:spcAft>
            </a:pPr>
            <a:r>
              <a:rPr sz="680" b="0">
                <a:solidFill>
                  <a:srgbClr val="0B3041"/>
                </a:solidFill>
                <a:latin typeface="Arial"/>
                <a:ea typeface="Arial"/>
                <a:cs typeface="Arial"/>
              </a:rPr>
              <a:t>1,100</a:t>
            </a:r>
          </a:p>
        </p:txBody>
      </p:sp>
      <p:sp>
        <p:nvSpPr>
          <p:cNvPr id="49" name="TextBox 48"/>
          <p:cNvSpPr txBox="1"/>
          <p:nvPr/>
        </p:nvSpPr>
        <p:spPr>
          <a:xfrm>
            <a:off x="9133331" y="3941063"/>
            <a:ext cx="368899" cy="164592"/>
          </a:xfrm>
          <a:prstGeom prst="rect">
            <a:avLst/>
          </a:prstGeom>
          <a:noFill/>
        </p:spPr>
        <p:txBody>
          <a:bodyPr wrap="square" lIns="0" rIns="0" tIns="0" bIns="0" anchor="t">
            <a:spAutoFit/>
          </a:bodyPr>
          <a:lstStyle/>
          <a:p>
            <a:pPr algn="ctr">
              <a:spcAft>
                <a:spcPts val="0"/>
              </a:spcAft>
            </a:pPr>
            <a:r>
              <a:rPr sz="700" b="0">
                <a:solidFill>
                  <a:srgbClr val="5A6670"/>
                </a:solidFill>
                <a:latin typeface="Arial"/>
                <a:ea typeface="Arial"/>
                <a:cs typeface="Arial"/>
              </a:rPr>
              <a:t>4月</a:t>
            </a:r>
          </a:p>
        </p:txBody>
      </p:sp>
      <p:sp>
        <p:nvSpPr>
          <p:cNvPr id="50" name="Rectangle 49"/>
          <p:cNvSpPr/>
          <p:nvPr/>
        </p:nvSpPr>
        <p:spPr>
          <a:xfrm>
            <a:off x="9691877" y="2688726"/>
            <a:ext cx="291236" cy="1206617"/>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9618725" y="2505846"/>
            <a:ext cx="368899" cy="164592"/>
          </a:xfrm>
          <a:prstGeom prst="rect">
            <a:avLst/>
          </a:prstGeom>
          <a:noFill/>
        </p:spPr>
        <p:txBody>
          <a:bodyPr wrap="square" lIns="0" rIns="0" tIns="0" bIns="0" anchor="t">
            <a:spAutoFit/>
          </a:bodyPr>
          <a:lstStyle/>
          <a:p>
            <a:pPr algn="ctr">
              <a:spcAft>
                <a:spcPts val="0"/>
              </a:spcAft>
            </a:pPr>
            <a:r>
              <a:rPr sz="680" b="0">
                <a:solidFill>
                  <a:srgbClr val="0B3041"/>
                </a:solidFill>
                <a:latin typeface="Arial"/>
                <a:ea typeface="Arial"/>
                <a:cs typeface="Arial"/>
              </a:rPr>
              <a:t>1,491</a:t>
            </a:r>
          </a:p>
        </p:txBody>
      </p:sp>
      <p:sp>
        <p:nvSpPr>
          <p:cNvPr id="52" name="TextBox 51"/>
          <p:cNvSpPr txBox="1"/>
          <p:nvPr/>
        </p:nvSpPr>
        <p:spPr>
          <a:xfrm>
            <a:off x="9618725" y="3941063"/>
            <a:ext cx="368899" cy="164592"/>
          </a:xfrm>
          <a:prstGeom prst="rect">
            <a:avLst/>
          </a:prstGeom>
          <a:noFill/>
        </p:spPr>
        <p:txBody>
          <a:bodyPr wrap="square" lIns="0" rIns="0" tIns="0" bIns="0" anchor="t">
            <a:spAutoFit/>
          </a:bodyPr>
          <a:lstStyle/>
          <a:p>
            <a:pPr algn="ctr">
              <a:spcAft>
                <a:spcPts val="0"/>
              </a:spcAft>
            </a:pPr>
            <a:r>
              <a:rPr sz="700" b="0">
                <a:solidFill>
                  <a:srgbClr val="5A6670"/>
                </a:solidFill>
                <a:latin typeface="Arial"/>
                <a:ea typeface="Arial"/>
                <a:cs typeface="Arial"/>
              </a:rPr>
              <a:t>5月</a:t>
            </a:r>
          </a:p>
        </p:txBody>
      </p:sp>
      <p:sp>
        <p:nvSpPr>
          <p:cNvPr id="53" name="Rectangle 52"/>
          <p:cNvSpPr/>
          <p:nvPr/>
        </p:nvSpPr>
        <p:spPr>
          <a:xfrm>
            <a:off x="4261104" y="3895344"/>
            <a:ext cx="5934455" cy="13716"/>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54" name="Table 53"/>
          <p:cNvGraphicFramePr>
            <a:graphicFrameLocks noGrp="1"/>
          </p:cNvGraphicFramePr>
          <p:nvPr/>
        </p:nvGraphicFramePr>
        <p:xfrm>
          <a:off x="310896" y="4498848"/>
          <a:ext cx="3529580" cy="1179576"/>
        </p:xfrm>
        <a:graphic>
          <a:graphicData uri="http://schemas.openxmlformats.org/drawingml/2006/table">
            <a:tbl>
              <a:tblPr firstRow="0" bandRow="0">
                <a:tableStyleId>{5940675A-B579-460E-94D1-54222C63F5DA}</a:tableStyleId>
              </a:tblPr>
              <a:tblGrid>
                <a:gridCol w="1408175"/>
                <a:gridCol w="704087"/>
                <a:gridCol w="704087"/>
                <a:gridCol w="713231"/>
              </a:tblGrid>
              <a:tr h="228600">
                <a:tc>
                  <a:txBody>
                    <a:bodyPr wrap="square"/>
                    <a:lstStyle/>
                    <a:p>
                      <a:pPr algn="ctr">
                        <a:spcAft>
                          <a:spcPts val="0"/>
                        </a:spcAft>
                      </a:pPr>
                      <a:r>
                        <a:rPr sz="819" b="1">
                          <a:solidFill>
                            <a:srgbClr val="FFFFFF"/>
                          </a:solidFill>
                          <a:latin typeface="游ゴシック"/>
                          <a:ea typeface="游ゴシック"/>
                          <a:cs typeface="游ゴシック"/>
                        </a:rPr>
                        <a:t>区分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2024/5期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2025/5期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2026/5期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37744">
                <a:tc>
                  <a:txBody>
                    <a:bodyPr wrap="square"/>
                    <a:lstStyle/>
                    <a:p>
                      <a:pPr algn="l">
                        <a:spcAft>
                          <a:spcPts val="0"/>
                        </a:spcAft>
                      </a:pPr>
                      <a:r>
                        <a:rPr sz="819" b="0">
                          <a:solidFill>
                            <a:srgbClr val="1A1A1A"/>
                          </a:solidFill>
                          <a:latin typeface="游ゴシック"/>
                          <a:ea typeface="游ゴシック"/>
                          <a:cs typeface="游ゴシック"/>
                        </a:rPr>
                        <a:t>店頭売上高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17,517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16,167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15,099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37744">
                <a:tc>
                  <a:txBody>
                    <a:bodyPr wrap="square"/>
                    <a:lstStyle/>
                    <a:p>
                      <a:pPr algn="l">
                        <a:spcAft>
                          <a:spcPts val="0"/>
                        </a:spcAft>
                      </a:pPr>
                      <a:r>
                        <a:rPr sz="819" b="0">
                          <a:solidFill>
                            <a:srgbClr val="1A1A1A"/>
                          </a:solidFill>
                          <a:latin typeface="游ゴシック"/>
                          <a:ea typeface="游ゴシック"/>
                          <a:cs typeface="游ゴシック"/>
                        </a:rPr>
                        <a:t>関係先向け食材供給</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2,151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3,261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3,323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37744">
                <a:tc>
                  <a:txBody>
                    <a:bodyPr wrap="square"/>
                    <a:lstStyle/>
                    <a:p>
                      <a:pPr algn="l">
                        <a:spcAft>
                          <a:spcPts val="0"/>
                        </a:spcAft>
                      </a:pPr>
                      <a:r>
                        <a:rPr sz="819" b="0">
                          <a:solidFill>
                            <a:srgbClr val="1A1A1A"/>
                          </a:solidFill>
                          <a:latin typeface="游ゴシック"/>
                          <a:ea typeface="游ゴシック"/>
                          <a:cs typeface="游ゴシック"/>
                        </a:rPr>
                        <a:t>営業日数（日）</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203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201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0">
                          <a:solidFill>
                            <a:srgbClr val="1A1A1A"/>
                          </a:solidFill>
                          <a:latin typeface="Arial"/>
                          <a:ea typeface="Arial"/>
                          <a:cs typeface="Arial"/>
                        </a:rPr>
                        <a:t>200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37744">
                <a:tc>
                  <a:txBody>
                    <a:bodyPr wrap="square"/>
                    <a:lstStyle/>
                    <a:p>
                      <a:pPr algn="l">
                        <a:spcAft>
                          <a:spcPts val="0"/>
                        </a:spcAft>
                      </a:pPr>
                      <a:r>
                        <a:rPr sz="819" b="1">
                          <a:solidFill>
                            <a:srgbClr val="1A1A1A"/>
                          </a:solidFill>
                          <a:latin typeface="游ゴシック"/>
                          <a:ea typeface="游ゴシック"/>
                          <a:cs typeface="游ゴシック"/>
                        </a:rPr>
                        <a:t>日商平均</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86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80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19" b="1">
                          <a:solidFill>
                            <a:srgbClr val="1A1A1A"/>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55" name="Rectangle 54"/>
          <p:cNvSpPr/>
          <p:nvPr/>
        </p:nvSpPr>
        <p:spPr>
          <a:xfrm>
            <a:off x="4041648" y="4370832"/>
            <a:ext cx="6336792" cy="2084831"/>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4133087" y="4443984"/>
            <a:ext cx="6153912" cy="274320"/>
          </a:xfrm>
          <a:prstGeom prst="rect">
            <a:avLst/>
          </a:prstGeom>
          <a:noFill/>
        </p:spPr>
        <p:txBody>
          <a:bodyPr wrap="square" lIns="0" rIns="0" t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57" name="TextBox 56"/>
          <p:cNvSpPr txBox="1"/>
          <p:nvPr/>
        </p:nvSpPr>
        <p:spPr>
          <a:xfrm>
            <a:off x="4151376" y="4791456"/>
            <a:ext cx="6117336" cy="1572767"/>
          </a:xfrm>
          <a:prstGeom prst="rect">
            <a:avLst/>
          </a:prstGeom>
          <a:noFill/>
        </p:spPr>
        <p:txBody>
          <a:bodyPr wrap="square" lIns="0" rIns="0" tIns="0" bIns="0" anchor="t">
            <a:spAutoFit/>
          </a:bodyPr>
          <a:lstStyle/>
          <a:p>
            <a:pPr algn="l">
              <a:lnSpc>
                <a:spcPct val="118000"/>
              </a:lnSpc>
              <a:spcAft>
                <a:spcPts val="200"/>
              </a:spcAft>
            </a:pPr>
            <a:r>
              <a:rPr sz="830" b="1">
                <a:solidFill>
                  <a:srgbClr val="0889C9"/>
                </a:solidFill>
                <a:latin typeface="游ゴシック"/>
                <a:ea typeface="游ゴシック"/>
                <a:cs typeface="游ゴシック"/>
              </a:rPr>
              <a:t>≪営業日≫ </a:t>
            </a:r>
            <a:r>
              <a:rPr sz="830" b="0">
                <a:solidFill>
                  <a:srgbClr val="1A1A1A"/>
                </a:solidFill>
                <a:latin typeface="游ゴシック"/>
                <a:ea typeface="游ゴシック"/>
                <a:cs typeface="游ゴシック"/>
              </a:rPr>
              <a:t>定休は火・水・木、営業は金・土・日・月の週4日。11:30〜14:30の昼のみで売り切り次第閉店。実績営業日数は203→201→200日とほぼ一定であり、公表されている定休日とも整合する。</a:t>
            </a:r>
          </a:p>
          <a:p>
            <a:pPr algn="l">
              <a:spcAft>
                <a:spcPts val="200"/>
              </a:spcAft>
            </a:pPr>
          </a:p>
          <a:p>
            <a:pPr algn="l">
              <a:lnSpc>
                <a:spcPct val="118000"/>
              </a:lnSpc>
              <a:spcAft>
                <a:spcPts val="200"/>
              </a:spcAft>
            </a:pPr>
            <a:r>
              <a:rPr sz="830" b="1">
                <a:solidFill>
                  <a:srgbClr val="0889C9"/>
                </a:solidFill>
                <a:latin typeface="游ゴシック"/>
                <a:ea typeface="游ゴシック"/>
                <a:cs typeface="游ゴシック"/>
              </a:rPr>
              <a:t>≪季節性≫ </a:t>
            </a:r>
            <a:r>
              <a:rPr sz="830" b="0">
                <a:solidFill>
                  <a:srgbClr val="1A1A1A"/>
                </a:solidFill>
                <a:latin typeface="游ゴシック"/>
                <a:ea typeface="游ゴシック"/>
                <a:cs typeface="游ゴシック"/>
              </a:rPr>
              <a:t>新そばの時期にあたる11月が2,531千円・日商141千円と突出。1月（613千円・日商47千円）が最も低く、繁閑差は約3倍。</a:t>
            </a:r>
          </a:p>
          <a:p>
            <a:pPr algn="l">
              <a:spcAft>
                <a:spcPts val="200"/>
              </a:spcAft>
            </a:pPr>
          </a:p>
          <a:p>
            <a:pPr algn="l">
              <a:lnSpc>
                <a:spcPct val="118000"/>
              </a:lnSpc>
              <a:spcAft>
                <a:spcPts val="200"/>
              </a:spcAft>
            </a:pPr>
            <a:r>
              <a:rPr sz="830" b="1">
                <a:solidFill>
                  <a:srgbClr val="0889C9"/>
                </a:solidFill>
                <a:latin typeface="游ゴシック"/>
                <a:ea typeface="游ゴシック"/>
                <a:cs typeface="游ゴシック"/>
              </a:rPr>
              <a:t>≪日商の低下≫ </a:t>
            </a:r>
            <a:r>
              <a:rPr sz="830" b="0">
                <a:solidFill>
                  <a:srgbClr val="1A1A1A"/>
                </a:solidFill>
                <a:latin typeface="游ゴシック"/>
                <a:ea typeface="游ゴシック"/>
                <a:cs typeface="游ゴシック"/>
              </a:rPr>
              <a:t>店頭日商平均は86→80→75千円と低下傾向。平均予算約3,000円を前提とすると1日あたり約25名と推計され、客数・客単価のいずれが要因かは要確認。</a:t>
            </a:r>
          </a:p>
        </p:txBody>
      </p:sp>
      <p:sp>
        <p:nvSpPr>
          <p:cNvPr id="58" name="TextBox 57"/>
          <p:cNvSpPr txBox="1"/>
          <p:nvPr/>
        </p:nvSpPr>
        <p:spPr>
          <a:xfrm>
            <a:off x="310896" y="6601968"/>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総勘定元帳「飲食店売上高」のうち普通預金・現金への入金明細（摘要「本店売上（月／日）」）を集計したもの。関係先への食材供給分は含まない。</a:t>
            </a:r>
          </a:p>
          <a:p>
            <a:pPr algn="l">
              <a:lnSpc>
                <a:spcPct val="112000"/>
              </a:lnSpc>
              <a:spcAft>
                <a:spcPts val="100"/>
              </a:spcAft>
            </a:pPr>
            <a:r>
              <a:rPr sz="750" b="0">
                <a:solidFill>
                  <a:srgbClr val="5A6670"/>
                </a:solidFill>
                <a:latin typeface="游ゴシック"/>
                <a:ea typeface="游ゴシック"/>
                <a:cs typeface="游ゴシック"/>
              </a:rPr>
              <a:t>※ 2026/5期の店頭売上高合計には、期末に一括計上された5月分現金売上132千円を含む（月次表には含まれない）。平均予算の出所は Japan Brand Collection 2026 茨城版。</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C3BC0-753C-033E-F6BF-1E996308297A}"/>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33F37850-AD52-3D13-0C74-E00196D01FCC}"/>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拠点概要（本店）</a:t>
            </a:r>
          </a:p>
        </p:txBody>
      </p:sp>
      <p:sp>
        <p:nvSpPr>
          <p:cNvPr id="6" name="タイトル 1">
            <a:extLst>
              <a:ext uri="{FF2B5EF4-FFF2-40B4-BE49-F238E27FC236}">
                <a16:creationId xmlns:a16="http://schemas.microsoft.com/office/drawing/2014/main" id="{C94241A7-8BCE-A268-9079-8C5AF9CFCFB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a:latin typeface="游ゴシック"/>
                <a:ea typeface="游ゴシック"/>
                <a:cs typeface="游ゴシック"/>
              </a:rPr>
              <a:t>組織、拠点、設備等</a:t>
            </a:r>
          </a:p>
        </p:txBody>
      </p:sp>
      <p:sp>
        <p:nvSpPr>
          <p:cNvPr id="9" name="字幕 13">
            <a:extLst>
              <a:ext uri="{FF2B5EF4-FFF2-40B4-BE49-F238E27FC236}">
                <a16:creationId xmlns:a16="http://schemas.microsoft.com/office/drawing/2014/main" id="{B8D00A9D-DB7C-195B-A6F7-0DBDF4FF7287}"/>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代表者が自ら設計し私財を投じて2002年に建築した板倉造・茅葺きの自社店舗。「100〜200年もつ建物」を企図</a:t>
            </a:r>
            <a:endParaRPr lang="en-US" altLang="ja-JP" dirty="0"/>
          </a:p>
        </p:txBody>
      </p:sp>
      <p:sp>
        <p:nvSpPr>
          <p:cNvPr id="14" name="Rectangle 13"/>
          <p:cNvSpPr/>
          <p:nvPr/>
        </p:nvSpPr>
        <p:spPr>
          <a:xfrm>
            <a:off x="310896" y="1517904"/>
            <a:ext cx="4846320"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200" b="1">
                <a:solidFill>
                  <a:srgbClr val="FFFFFF"/>
                </a:solidFill>
                <a:latin typeface="游ゴシック"/>
                <a:ea typeface="游ゴシック"/>
                <a:cs typeface="游ゴシック"/>
              </a:rPr>
              <a:t>本店</a:t>
            </a:r>
          </a:p>
        </p:txBody>
      </p:sp>
      <p:graphicFrame>
        <p:nvGraphicFramePr>
          <p:cNvPr id="15" name="Table 14"/>
          <p:cNvGraphicFramePr>
            <a:graphicFrameLocks noGrp="1"/>
          </p:cNvGraphicFramePr>
          <p:nvPr/>
        </p:nvGraphicFramePr>
        <p:xfrm>
          <a:off x="310896" y="1874519"/>
          <a:ext cx="4846320" cy="4210812"/>
        </p:xfrm>
        <a:graphic>
          <a:graphicData uri="http://schemas.openxmlformats.org/drawingml/2006/table">
            <a:tbl>
              <a:tblPr firstRow="0" bandRow="0">
                <a:tableStyleId>{5940675A-B579-460E-94D1-54222C63F5DA}</a:tableStyleId>
              </a:tblPr>
              <a:tblGrid>
                <a:gridCol w="987552"/>
                <a:gridCol w="3858768"/>
              </a:tblGrid>
              <a:tr h="237744">
                <a:tc>
                  <a:txBody>
                    <a:bodyPr wrap="square"/>
                    <a:lstStyle/>
                    <a:p>
                      <a:pPr algn="ctr">
                        <a:spcAft>
                          <a:spcPts val="0"/>
                        </a:spcAft>
                      </a:pPr>
                      <a:r>
                        <a:rPr sz="840" b="1">
                          <a:solidFill>
                            <a:srgbClr val="FFFFFF"/>
                          </a:solidFill>
                          <a:latin typeface="游ゴシック"/>
                          <a:ea typeface="游ゴシック"/>
                          <a:cs typeface="游ゴシック"/>
                        </a:rPr>
                        <a:t>項目</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内容</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1188">
                <a:tc>
                  <a:txBody>
                    <a:bodyPr wrap="square"/>
                    <a:lstStyle/>
                    <a:p>
                      <a:pPr algn="l">
                        <a:spcAft>
                          <a:spcPts val="0"/>
                        </a:spcAft>
                      </a:pPr>
                      <a:r>
                        <a:rPr sz="840" b="0">
                          <a:solidFill>
                            <a:srgbClr val="1A1A1A"/>
                          </a:solidFill>
                          <a:latin typeface="游ゴシック"/>
                          <a:ea typeface="游ゴシック"/>
                          <a:cs typeface="游ゴシック"/>
                        </a:rPr>
                        <a:t>所在地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茨城県常陸太田市天下野町2162番地（竜神大吊橋の近隣）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1188">
                <a:tc>
                  <a:txBody>
                    <a:bodyPr wrap="square"/>
                    <a:lstStyle/>
                    <a:p>
                      <a:pPr algn="l">
                        <a:spcAft>
                          <a:spcPts val="0"/>
                        </a:spcAft>
                      </a:pPr>
                      <a:r>
                        <a:rPr sz="840" b="0">
                          <a:solidFill>
                            <a:srgbClr val="1A1A1A"/>
                          </a:solidFill>
                          <a:latin typeface="游ゴシック"/>
                          <a:ea typeface="游ゴシック"/>
                          <a:cs typeface="游ゴシック"/>
                        </a:rPr>
                        <a:t>建物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木造モルタル造（板倉造・茅葺き屋根）　1階：店舗／2階：代表者住居</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1188">
                <a:tc>
                  <a:txBody>
                    <a:bodyPr wrap="square"/>
                    <a:lstStyle/>
                    <a:p>
                      <a:pPr algn="l">
                        <a:spcAft>
                          <a:spcPts val="0"/>
                        </a:spcAft>
                      </a:pPr>
                      <a:r>
                        <a:rPr sz="840" b="0">
                          <a:solidFill>
                            <a:srgbClr val="1A1A1A"/>
                          </a:solidFill>
                          <a:latin typeface="游ゴシック"/>
                          <a:ea typeface="游ゴシック"/>
                          <a:cs typeface="游ゴシック"/>
                        </a:rPr>
                        <a:t>設計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この地方に伝わる曲がり家と欧州の田舎家を合わせた意匠。代表者が自ら設計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1188">
                <a:tc>
                  <a:txBody>
                    <a:bodyPr wrap="square"/>
                    <a:lstStyle/>
                    <a:p>
                      <a:pPr algn="l">
                        <a:spcAft>
                          <a:spcPts val="0"/>
                        </a:spcAft>
                      </a:pPr>
                      <a:r>
                        <a:rPr sz="840" b="0">
                          <a:solidFill>
                            <a:srgbClr val="1A1A1A"/>
                          </a:solidFill>
                          <a:latin typeface="游ゴシック"/>
                          <a:ea typeface="游ゴシック"/>
                          <a:cs typeface="游ゴシック"/>
                        </a:rPr>
                        <a:t>取得時期</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2002年2月（建物本体）</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1188">
                <a:tc>
                  <a:txBody>
                    <a:bodyPr wrap="square"/>
                    <a:lstStyle/>
                    <a:p>
                      <a:pPr algn="l">
                        <a:spcAft>
                          <a:spcPts val="0"/>
                        </a:spcAft>
                      </a:pPr>
                      <a:r>
                        <a:rPr sz="840" b="0">
                          <a:solidFill>
                            <a:srgbClr val="1A1A1A"/>
                          </a:solidFill>
                          <a:latin typeface="游ゴシック"/>
                          <a:ea typeface="游ゴシック"/>
                          <a:cs typeface="游ゴシック"/>
                        </a:rPr>
                        <a:t>取得価額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建物 85,704千円、建物附属設備 32,646千円、構築物 1,584千円 ほか 計104,599千円</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1188">
                <a:tc>
                  <a:txBody>
                    <a:bodyPr wrap="square"/>
                    <a:lstStyle/>
                    <a:p>
                      <a:pPr algn="l">
                        <a:spcAft>
                          <a:spcPts val="0"/>
                        </a:spcAft>
                      </a:pPr>
                      <a:r>
                        <a:rPr sz="840" b="0">
                          <a:solidFill>
                            <a:srgbClr val="1A1A1A"/>
                          </a:solidFill>
                          <a:latin typeface="游ゴシック"/>
                          <a:ea typeface="游ゴシック"/>
                          <a:cs typeface="游ゴシック"/>
                        </a:rPr>
                        <a:t>期末簿価</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建物 39,249千円、構築物 43千円（2026年5月期）</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1188">
                <a:tc>
                  <a:txBody>
                    <a:bodyPr wrap="square"/>
                    <a:lstStyle/>
                    <a:p>
                      <a:pPr algn="l">
                        <a:spcAft>
                          <a:spcPts val="0"/>
                        </a:spcAft>
                      </a:pPr>
                      <a:r>
                        <a:rPr sz="840" b="0">
                          <a:solidFill>
                            <a:srgbClr val="1A1A1A"/>
                          </a:solidFill>
                          <a:latin typeface="游ゴシック"/>
                          <a:ea typeface="游ゴシック"/>
                          <a:cs typeface="游ゴシック"/>
                        </a:rPr>
                        <a:t>土地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自己所有（簿価3,450千円）。店舗敷地および駐車場</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1188">
                <a:tc>
                  <a:txBody>
                    <a:bodyPr wrap="square"/>
                    <a:lstStyle/>
                    <a:p>
                      <a:pPr algn="l">
                        <a:spcAft>
                          <a:spcPts val="0"/>
                        </a:spcAft>
                      </a:pPr>
                      <a:r>
                        <a:rPr sz="840" b="0">
                          <a:solidFill>
                            <a:srgbClr val="1A1A1A"/>
                          </a:solidFill>
                          <a:latin typeface="游ゴシック"/>
                          <a:ea typeface="游ゴシック"/>
                          <a:cs typeface="游ゴシック"/>
                        </a:rPr>
                        <a:t>客席</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土間の待合、板の間、畳敷の座敷（座卓6卓程度）、囲炉裏、縁側デッキ。薪ストーブ2台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1188">
                <a:tc>
                  <a:txBody>
                    <a:bodyPr wrap="square"/>
                    <a:lstStyle/>
                    <a:p>
                      <a:pPr algn="l">
                        <a:spcAft>
                          <a:spcPts val="0"/>
                        </a:spcAft>
                      </a:pPr>
                      <a:r>
                        <a:rPr sz="840" b="0">
                          <a:solidFill>
                            <a:srgbClr val="1A1A1A"/>
                          </a:solidFill>
                          <a:latin typeface="游ゴシック"/>
                          <a:ea typeface="游ゴシック"/>
                          <a:cs typeface="游ゴシック"/>
                        </a:rPr>
                        <a:t>営業</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金・土・日・月　11:30〜14:30（売り切りじまい）　平均予算 約3,000円</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1188">
                <a:tc>
                  <a:txBody>
                    <a:bodyPr wrap="square"/>
                    <a:lstStyle/>
                    <a:p>
                      <a:pPr algn="l">
                        <a:spcAft>
                          <a:spcPts val="0"/>
                        </a:spcAft>
                      </a:pPr>
                      <a:r>
                        <a:rPr sz="840" b="0">
                          <a:solidFill>
                            <a:srgbClr val="1A1A1A"/>
                          </a:solidFill>
                          <a:latin typeface="游ゴシック"/>
                          <a:ea typeface="游ゴシック"/>
                          <a:cs typeface="游ゴシック"/>
                        </a:rPr>
                        <a:t>登記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建物は未登記。表題登記・保存登記の実施可否・費用・所要期間は要確認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61188">
                <a:tc>
                  <a:txBody>
                    <a:bodyPr wrap="square"/>
                    <a:lstStyle/>
                    <a:p>
                      <a:pPr algn="l">
                        <a:spcAft>
                          <a:spcPts val="0"/>
                        </a:spcAft>
                      </a:pPr>
                      <a:r>
                        <a:rPr sz="840" b="0">
                          <a:solidFill>
                            <a:srgbClr val="1A1A1A"/>
                          </a:solidFill>
                          <a:latin typeface="游ゴシック"/>
                          <a:ea typeface="游ゴシック"/>
                          <a:cs typeface="游ゴシック"/>
                        </a:rPr>
                        <a:t>居住</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代表者・配偶者が店舗2階に居住中。明渡しの時期・条件は協議事項</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6" name="Rectangle 15"/>
          <p:cNvSpPr/>
          <p:nvPr/>
        </p:nvSpPr>
        <p:spPr>
          <a:xfrm>
            <a:off x="5376672" y="1517904"/>
            <a:ext cx="5001768"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200" b="1">
                <a:solidFill>
                  <a:srgbClr val="FFFFFF"/>
                </a:solidFill>
                <a:latin typeface="游ゴシック"/>
                <a:ea typeface="游ゴシック"/>
                <a:cs typeface="游ゴシック"/>
              </a:rPr>
              <a:t>買手にとっての意味合い</a:t>
            </a:r>
          </a:p>
        </p:txBody>
      </p:sp>
      <p:sp>
        <p:nvSpPr>
          <p:cNvPr id="17" name="Rectangle 16"/>
          <p:cNvSpPr/>
          <p:nvPr/>
        </p:nvSpPr>
        <p:spPr>
          <a:xfrm>
            <a:off x="5376672" y="1874519"/>
            <a:ext cx="5001768" cy="2103120"/>
          </a:xfrm>
          <a:prstGeom prst="rect">
            <a:avLst/>
          </a:prstGeom>
          <a:solidFill>
            <a:srgbClr val="F7FAFC"/>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504688" y="1984248"/>
            <a:ext cx="4745736" cy="1901952"/>
          </a:xfrm>
          <a:prstGeom prst="rect">
            <a:avLst/>
          </a:prstGeom>
          <a:noFill/>
        </p:spPr>
        <p:txBody>
          <a:bodyPr wrap="square" lIns="0" rIns="0" tIns="0" bIns="0" anchor="t">
            <a:spAutoFit/>
          </a:bodyPr>
          <a:lstStyle/>
          <a:p>
            <a:pPr algn="l">
              <a:lnSpc>
                <a:spcPct val="118000"/>
              </a:lnSpc>
              <a:spcAft>
                <a:spcPts val="200"/>
              </a:spcAft>
            </a:pPr>
            <a:r>
              <a:rPr sz="860" b="1">
                <a:solidFill>
                  <a:srgbClr val="0889C9"/>
                </a:solidFill>
                <a:latin typeface="游ゴシック"/>
                <a:ea typeface="游ゴシック"/>
                <a:cs typeface="游ゴシック"/>
              </a:rPr>
              <a:t>店舗そのものがブランドの一部　</a:t>
            </a:r>
            <a:r>
              <a:rPr sz="860" b="0">
                <a:solidFill>
                  <a:srgbClr val="1A1A1A"/>
                </a:solidFill>
                <a:latin typeface="游ゴシック"/>
                <a:ea typeface="游ゴシック"/>
                <a:cs typeface="游ゴシック"/>
              </a:rPr>
              <a:t>茅葺き・板倉造の建物と里山の景観は「慈久庵」の体験価値を構成する要素であり、同等の店舗を新規に建築することは事実上困難。</a:t>
            </a:r>
          </a:p>
          <a:p>
            <a:pPr algn="l">
              <a:lnSpc>
                <a:spcPct val="118000"/>
              </a:lnSpc>
              <a:spcAft>
                <a:spcPts val="200"/>
              </a:spcAft>
            </a:pPr>
            <a:r>
              <a:rPr sz="860" b="1">
                <a:solidFill>
                  <a:srgbClr val="0889C9"/>
                </a:solidFill>
                <a:latin typeface="游ゴシック"/>
                <a:ea typeface="游ゴシック"/>
                <a:cs typeface="游ゴシック"/>
              </a:rPr>
              <a:t>賃料負担がない　</a:t>
            </a:r>
            <a:r>
              <a:rPr sz="860" b="0">
                <a:solidFill>
                  <a:srgbClr val="1A1A1A"/>
                </a:solidFill>
                <a:latin typeface="游ゴシック"/>
                <a:ea typeface="游ゴシック"/>
                <a:cs typeface="游ゴシック"/>
              </a:rPr>
              <a:t>土地・建物とも自己所有で地代家賃の計上はない。固定費は水道光熱費1,490千円・租税公課1,137千円等が中心。</a:t>
            </a:r>
          </a:p>
          <a:p>
            <a:pPr algn="l">
              <a:lnSpc>
                <a:spcPct val="118000"/>
              </a:lnSpc>
              <a:spcAft>
                <a:spcPts val="200"/>
              </a:spcAft>
            </a:pPr>
            <a:r>
              <a:rPr sz="860" b="1">
                <a:solidFill>
                  <a:srgbClr val="0889C9"/>
                </a:solidFill>
                <a:latin typeface="游ゴシック"/>
                <a:ea typeface="游ゴシック"/>
                <a:cs typeface="游ゴシック"/>
              </a:rPr>
              <a:t>観光動線上の立地　</a:t>
            </a:r>
            <a:r>
              <a:rPr sz="860" b="0">
                <a:solidFill>
                  <a:srgbClr val="1A1A1A"/>
                </a:solidFill>
                <a:latin typeface="游ゴシック"/>
                <a:ea typeface="游ゴシック"/>
                <a:cs typeface="游ゴシック"/>
              </a:rPr>
              <a:t>竜神大吊橋の近隣に位置し、鉄道駅から離れた中山間地でありながら観光客の動線上にある。コロナ後の再開時にはキャンプ需要等により来店客が増加した実績があり（面談ヒアリング）、営業日・製造食数を拡大する際の集客の下地となる（P.19）。</a:t>
            </a:r>
          </a:p>
          <a:p>
            <a:pPr algn="l">
              <a:lnSpc>
                <a:spcPct val="118000"/>
              </a:lnSpc>
              <a:spcAft>
                <a:spcPts val="200"/>
              </a:spcAft>
            </a:pPr>
            <a:r>
              <a:rPr sz="860" b="1">
                <a:solidFill>
                  <a:srgbClr val="0889C9"/>
                </a:solidFill>
                <a:latin typeface="游ゴシック"/>
                <a:ea typeface="游ゴシック"/>
                <a:cs typeface="游ゴシック"/>
              </a:rPr>
              <a:t>一方で　</a:t>
            </a:r>
            <a:r>
              <a:rPr sz="860" b="0">
                <a:solidFill>
                  <a:srgbClr val="1A1A1A"/>
                </a:solidFill>
                <a:latin typeface="游ゴシック"/>
                <a:ea typeface="游ゴシック"/>
                <a:cs typeface="游ゴシック"/>
              </a:rPr>
              <a:t>建物が未登記であること、代表者夫妻が2階に居住していることは、本件実行前に整理が必要な事項。</a:t>
            </a:r>
          </a:p>
        </p:txBody>
      </p:sp>
      <p:sp>
        <p:nvSpPr>
          <p:cNvPr id="19" name="Rectangle 18"/>
          <p:cNvSpPr/>
          <p:nvPr/>
        </p:nvSpPr>
        <p:spPr>
          <a:xfrm>
            <a:off x="5376672" y="4133087"/>
            <a:ext cx="5001768"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200" b="1">
                <a:solidFill>
                  <a:srgbClr val="FFFFFF"/>
                </a:solidFill>
                <a:latin typeface="游ゴシック"/>
                <a:ea typeface="游ゴシック"/>
                <a:cs typeface="游ゴシック"/>
              </a:rPr>
              <a:t>減価償却資産の構成（2026/5期）</a:t>
            </a:r>
          </a:p>
        </p:txBody>
      </p:sp>
      <p:graphicFrame>
        <p:nvGraphicFramePr>
          <p:cNvPr id="20" name="Table 19"/>
          <p:cNvGraphicFramePr>
            <a:graphicFrameLocks noGrp="1"/>
          </p:cNvGraphicFramePr>
          <p:nvPr/>
        </p:nvGraphicFramePr>
        <p:xfrm>
          <a:off x="5376672" y="4489704"/>
          <a:ext cx="5001768" cy="2022651"/>
        </p:xfrm>
        <a:graphic>
          <a:graphicData uri="http://schemas.openxmlformats.org/drawingml/2006/table">
            <a:tbl>
              <a:tblPr firstRow="0" bandRow="0">
                <a:tableStyleId>{5940675A-B579-460E-94D1-54222C63F5DA}</a:tableStyleId>
              </a:tblPr>
              <a:tblGrid>
                <a:gridCol w="2441448"/>
                <a:gridCol w="1280160"/>
                <a:gridCol w="1280160"/>
              </a:tblGrid>
              <a:tr h="228600">
                <a:tc>
                  <a:txBody>
                    <a:bodyPr wrap="square"/>
                    <a:lstStyle/>
                    <a:p>
                      <a:pPr algn="ctr">
                        <a:spcAft>
                          <a:spcPts val="0"/>
                        </a:spcAft>
                      </a:pPr>
                      <a:r>
                        <a:rPr sz="840" b="1">
                          <a:solidFill>
                            <a:srgbClr val="FFFFFF"/>
                          </a:solidFill>
                          <a:latin typeface="游ゴシック"/>
                          <a:ea typeface="游ゴシック"/>
                          <a:cs typeface="游ゴシック"/>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取得価額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期末簿価</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9339">
                <a:tc>
                  <a:txBody>
                    <a:bodyPr wrap="square"/>
                    <a:lstStyle/>
                    <a:p>
                      <a:pPr algn="l">
                        <a:spcAft>
                          <a:spcPts val="0"/>
                        </a:spcAft>
                      </a:pPr>
                      <a:r>
                        <a:rPr sz="840" b="0">
                          <a:solidFill>
                            <a:srgbClr val="1A1A1A"/>
                          </a:solidFill>
                          <a:latin typeface="游ゴシック"/>
                          <a:ea typeface="游ゴシック"/>
                          <a:cs typeface="游ゴシック"/>
                        </a:rPr>
                        <a:t>建物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104,599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33,405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9339">
                <a:tc>
                  <a:txBody>
                    <a:bodyPr wrap="square"/>
                    <a:lstStyle/>
                    <a:p>
                      <a:pPr algn="l">
                        <a:spcAft>
                          <a:spcPts val="0"/>
                        </a:spcAft>
                      </a:pPr>
                      <a:r>
                        <a:rPr sz="840" b="0">
                          <a:solidFill>
                            <a:srgbClr val="1A1A1A"/>
                          </a:solidFill>
                          <a:latin typeface="游ゴシック"/>
                          <a:ea typeface="游ゴシック"/>
                          <a:cs typeface="游ゴシック"/>
                        </a:rPr>
                        <a:t>建物附属設備</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32,646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6,373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9339">
                <a:tc>
                  <a:txBody>
                    <a:bodyPr wrap="square"/>
                    <a:lstStyle/>
                    <a:p>
                      <a:pPr algn="l">
                        <a:spcAft>
                          <a:spcPts val="0"/>
                        </a:spcAft>
                      </a:pPr>
                      <a:r>
                        <a:rPr sz="840" b="0">
                          <a:solidFill>
                            <a:srgbClr val="1A1A1A"/>
                          </a:solidFill>
                          <a:latin typeface="游ゴシック"/>
                          <a:ea typeface="游ゴシック"/>
                          <a:cs typeface="游ゴシック"/>
                        </a:rPr>
                        <a:t>構築物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1,584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43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9339">
                <a:tc>
                  <a:txBody>
                    <a:bodyPr wrap="square"/>
                    <a:lstStyle/>
                    <a:p>
                      <a:pPr algn="l">
                        <a:spcAft>
                          <a:spcPts val="0"/>
                        </a:spcAft>
                      </a:pPr>
                      <a:r>
                        <a:rPr sz="840" b="0">
                          <a:solidFill>
                            <a:srgbClr val="1A1A1A"/>
                          </a:solidFill>
                          <a:latin typeface="游ゴシック"/>
                          <a:ea typeface="游ゴシック"/>
                          <a:cs typeface="游ゴシック"/>
                        </a:rPr>
                        <a:t>機械及び装置</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6,256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4,219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9339">
                <a:tc>
                  <a:txBody>
                    <a:bodyPr wrap="square"/>
                    <a:lstStyle/>
                    <a:p>
                      <a:pPr algn="l">
                        <a:spcAft>
                          <a:spcPts val="0"/>
                        </a:spcAft>
                      </a:pPr>
                      <a:r>
                        <a:rPr sz="840" b="0">
                          <a:solidFill>
                            <a:srgbClr val="1A1A1A"/>
                          </a:solidFill>
                          <a:latin typeface="游ゴシック"/>
                          <a:ea typeface="游ゴシック"/>
                          <a:cs typeface="游ゴシック"/>
                        </a:rPr>
                        <a:t>車両及び運搬具</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7,299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9339">
                <a:tc>
                  <a:txBody>
                    <a:bodyPr wrap="square"/>
                    <a:lstStyle/>
                    <a:p>
                      <a:pPr algn="l">
                        <a:spcAft>
                          <a:spcPts val="0"/>
                        </a:spcAft>
                      </a:pPr>
                      <a:r>
                        <a:rPr sz="840" b="0">
                          <a:solidFill>
                            <a:srgbClr val="1A1A1A"/>
                          </a:solidFill>
                          <a:latin typeface="游ゴシック"/>
                          <a:ea typeface="游ゴシック"/>
                          <a:cs typeface="游ゴシック"/>
                        </a:rPr>
                        <a:t>器具及び備品</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23,956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1,677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9339">
                <a:tc>
                  <a:txBody>
                    <a:bodyPr wrap="square"/>
                    <a:lstStyle/>
                    <a:p>
                      <a:pPr algn="l">
                        <a:spcAft>
                          <a:spcPts val="0"/>
                        </a:spcAft>
                      </a:pPr>
                      <a:r>
                        <a:rPr sz="840" b="0">
                          <a:solidFill>
                            <a:srgbClr val="1A1A1A"/>
                          </a:solidFill>
                          <a:latin typeface="游ゴシック"/>
                          <a:ea typeface="游ゴシック"/>
                          <a:cs typeface="游ゴシック"/>
                        </a:rPr>
                        <a:t>商標権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703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9339">
                <a:tc>
                  <a:txBody>
                    <a:bodyPr wrap="square"/>
                    <a:lstStyle/>
                    <a:p>
                      <a:pPr algn="l">
                        <a:spcAft>
                          <a:spcPts val="0"/>
                        </a:spcAft>
                      </a:pPr>
                      <a:r>
                        <a:rPr sz="840" b="0">
                          <a:solidFill>
                            <a:srgbClr val="1A1A1A"/>
                          </a:solidFill>
                          <a:latin typeface="游ゴシック"/>
                          <a:ea typeface="游ゴシック"/>
                          <a:cs typeface="游ゴシック"/>
                        </a:rPr>
                        <a:t>ソフトウェア</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3,667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99339">
                <a:tc>
                  <a:txBody>
                    <a:bodyPr wrap="square"/>
                    <a:lstStyle/>
                    <a:p>
                      <a:pPr algn="l">
                        <a:spcAft>
                          <a:spcPts val="0"/>
                        </a:spcAft>
                      </a:pPr>
                      <a:r>
                        <a:rPr sz="840" b="1">
                          <a:solidFill>
                            <a:srgbClr val="1A1A1A"/>
                          </a:solidFill>
                          <a:latin typeface="游ゴシック"/>
                          <a:ea typeface="游ゴシック"/>
                          <a:cs typeface="游ゴシック"/>
                        </a:rPr>
                        <a:t>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180,709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40" b="1">
                          <a:solidFill>
                            <a:srgbClr val="1A1A1A"/>
                          </a:solidFill>
                          <a:latin typeface="Arial"/>
                          <a:ea typeface="Arial"/>
                          <a:cs typeface="Arial"/>
                        </a:rPr>
                        <a:t>45,716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21" name="TextBox 20"/>
          <p:cNvSpPr txBox="1"/>
          <p:nvPr/>
        </p:nvSpPr>
        <p:spPr>
          <a:xfrm>
            <a:off x="310896" y="6620256"/>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固定資産減価償却内訳明細書（2026年5月期）に基づく。建物の取得価額には塩町館に係る改造工事16,744千円（期末簿価5,442千円）を含む。</a:t>
            </a:r>
          </a:p>
          <a:p>
            <a:pPr algn="l">
              <a:lnSpc>
                <a:spcPct val="112000"/>
              </a:lnSpc>
              <a:spcAft>
                <a:spcPts val="100"/>
              </a:spcAft>
            </a:pPr>
            <a:r>
              <a:rPr sz="750" b="0">
                <a:solidFill>
                  <a:srgbClr val="5A6670"/>
                </a:solidFill>
                <a:latin typeface="游ゴシック"/>
                <a:ea typeface="游ゴシック"/>
                <a:cs typeface="游ゴシック"/>
              </a:rPr>
              <a:t>※ 土地・建物の面積は公簿・実測とも資料未受領のため記載していない（要確認）。路線価等による時価評価も未実施。</a:t>
            </a:r>
          </a:p>
        </p:txBody>
      </p:sp>
    </p:spTree>
    <p:extLst>
      <p:ext uri="{BB962C8B-B14F-4D97-AF65-F5344CB8AC3E}">
        <p14:creationId xmlns:p14="http://schemas.microsoft.com/office/powerpoint/2010/main" val="6307501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12D40-6E48-E93D-4FC9-F10D333C1CB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F9793F7-DC5F-E269-D0AF-CEA1591E82A7}"/>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拠点概要（厨房・製造設備）</a:t>
            </a:r>
          </a:p>
        </p:txBody>
      </p:sp>
      <p:sp>
        <p:nvSpPr>
          <p:cNvPr id="6" name="タイトル 1">
            <a:extLst>
              <a:ext uri="{FF2B5EF4-FFF2-40B4-BE49-F238E27FC236}">
                <a16:creationId xmlns:a16="http://schemas.microsoft.com/office/drawing/2014/main" id="{541F4B75-7B8F-E770-E8BD-648B0D9A1125}"/>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a:latin typeface="游ゴシック"/>
                <a:ea typeface="游ゴシック"/>
                <a:cs typeface="游ゴシック"/>
              </a:rPr>
              <a:t>組織、拠点、設備等</a:t>
            </a:r>
          </a:p>
        </p:txBody>
      </p:sp>
      <p:sp>
        <p:nvSpPr>
          <p:cNvPr id="9" name="字幕 13">
            <a:extLst>
              <a:ext uri="{FF2B5EF4-FFF2-40B4-BE49-F238E27FC236}">
                <a16:creationId xmlns:a16="http://schemas.microsoft.com/office/drawing/2014/main" id="{C67BBAB2-F39C-2CF9-AEE1-8D09DEE08EBD}"/>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ワンオペを前提としつつも、業務用厨房・冷蔵設備・製粉設備は複数店舗分の仕込みに耐える構成</a:t>
            </a:r>
            <a:endParaRPr lang="en-US" altLang="ja-JP" dirty="0"/>
          </a:p>
        </p:txBody>
      </p:sp>
      <p:pic>
        <p:nvPicPr>
          <p:cNvPr id="14" name="Picture 13" descr="厨房01.jpg"/>
          <p:cNvPicPr>
            <a:picLocks noChangeAspect="1"/>
          </p:cNvPicPr>
          <p:nvPr/>
        </p:nvPicPr>
        <p:blipFill>
          <a:blip r:embed="rId3"/>
          <a:stretch>
            <a:fillRect/>
          </a:stretch>
        </p:blipFill>
        <p:spPr>
          <a:xfrm>
            <a:off x="310896" y="1481328"/>
            <a:ext cx="3145536" cy="2359152"/>
          </a:xfrm>
          <a:prstGeom prst="rect">
            <a:avLst/>
          </a:prstGeom>
          <a:ln w="9525">
            <a:solidFill>
              <a:srgbClr val="E3E7E9"/>
            </a:solidFill>
          </a:ln>
        </p:spPr>
      </p:pic>
      <p:sp>
        <p:nvSpPr>
          <p:cNvPr id="15" name="TextBox 14"/>
          <p:cNvSpPr txBox="1"/>
          <p:nvPr/>
        </p:nvSpPr>
        <p:spPr>
          <a:xfrm>
            <a:off x="310896" y="3877056"/>
            <a:ext cx="3145536" cy="182880"/>
          </a:xfrm>
          <a:prstGeom prst="rect">
            <a:avLst/>
          </a:prstGeom>
          <a:noFill/>
        </p:spPr>
        <p:txBody>
          <a:bodyPr wrap="square" lIns="0" rIns="0" tIns="0" bIns="0" anchor="t">
            <a:spAutoFit/>
          </a:bodyPr>
          <a:lstStyle/>
          <a:p>
            <a:pPr algn="l">
              <a:spcAft>
                <a:spcPts val="0"/>
              </a:spcAft>
            </a:pPr>
            <a:r>
              <a:rPr sz="800" b="0">
                <a:solidFill>
                  <a:srgbClr val="5A6670"/>
                </a:solidFill>
                <a:latin typeface="游ゴシック"/>
                <a:ea typeface="游ゴシック"/>
                <a:cs typeface="游ゴシック"/>
              </a:rPr>
              <a:t>調理場（業務用ガスコンロ・五徳鍋）</a:t>
            </a:r>
          </a:p>
        </p:txBody>
      </p:sp>
      <p:pic>
        <p:nvPicPr>
          <p:cNvPr id="16" name="Picture 15" descr="厨房03.jpg"/>
          <p:cNvPicPr>
            <a:picLocks noChangeAspect="1"/>
          </p:cNvPicPr>
          <p:nvPr/>
        </p:nvPicPr>
        <p:blipFill>
          <a:blip r:embed="rId4"/>
          <a:stretch>
            <a:fillRect/>
          </a:stretch>
        </p:blipFill>
        <p:spPr>
          <a:xfrm>
            <a:off x="3602736" y="1481328"/>
            <a:ext cx="3145536" cy="2359152"/>
          </a:xfrm>
          <a:prstGeom prst="rect">
            <a:avLst/>
          </a:prstGeom>
          <a:ln w="9525">
            <a:solidFill>
              <a:srgbClr val="E3E7E9"/>
            </a:solidFill>
          </a:ln>
        </p:spPr>
      </p:pic>
      <p:sp>
        <p:nvSpPr>
          <p:cNvPr id="17" name="TextBox 16"/>
          <p:cNvSpPr txBox="1"/>
          <p:nvPr/>
        </p:nvSpPr>
        <p:spPr>
          <a:xfrm>
            <a:off x="3602736" y="3877056"/>
            <a:ext cx="3145536" cy="182880"/>
          </a:xfrm>
          <a:prstGeom prst="rect">
            <a:avLst/>
          </a:prstGeom>
          <a:noFill/>
        </p:spPr>
        <p:txBody>
          <a:bodyPr wrap="square" lIns="0" rIns="0" tIns="0" bIns="0" anchor="t">
            <a:spAutoFit/>
          </a:bodyPr>
          <a:lstStyle/>
          <a:p>
            <a:pPr algn="l">
              <a:spcAft>
                <a:spcPts val="0"/>
              </a:spcAft>
            </a:pPr>
            <a:r>
              <a:rPr sz="800" b="0">
                <a:solidFill>
                  <a:srgbClr val="5A6670"/>
                </a:solidFill>
                <a:latin typeface="游ゴシック"/>
                <a:ea typeface="游ゴシック"/>
                <a:cs typeface="游ゴシック"/>
              </a:rPr>
              <a:t>洗い場・食器洗浄機</a:t>
            </a:r>
          </a:p>
        </p:txBody>
      </p:sp>
      <p:pic>
        <p:nvPicPr>
          <p:cNvPr id="18" name="Picture 17" descr="厨房05.jpg"/>
          <p:cNvPicPr>
            <a:picLocks noChangeAspect="1"/>
          </p:cNvPicPr>
          <p:nvPr/>
        </p:nvPicPr>
        <p:blipFill>
          <a:blip r:embed="rId5"/>
          <a:stretch>
            <a:fillRect/>
          </a:stretch>
        </p:blipFill>
        <p:spPr>
          <a:xfrm>
            <a:off x="6894576" y="1481328"/>
            <a:ext cx="3145536" cy="2359152"/>
          </a:xfrm>
          <a:prstGeom prst="rect">
            <a:avLst/>
          </a:prstGeom>
          <a:ln w="9525">
            <a:solidFill>
              <a:srgbClr val="E3E7E9"/>
            </a:solidFill>
          </a:ln>
        </p:spPr>
      </p:pic>
      <p:sp>
        <p:nvSpPr>
          <p:cNvPr id="19" name="TextBox 18"/>
          <p:cNvSpPr txBox="1"/>
          <p:nvPr/>
        </p:nvSpPr>
        <p:spPr>
          <a:xfrm>
            <a:off x="6894576" y="3877056"/>
            <a:ext cx="3145536" cy="182880"/>
          </a:xfrm>
          <a:prstGeom prst="rect">
            <a:avLst/>
          </a:prstGeom>
          <a:noFill/>
        </p:spPr>
        <p:txBody>
          <a:bodyPr wrap="square" lIns="0" rIns="0" tIns="0" bIns="0" anchor="t">
            <a:spAutoFit/>
          </a:bodyPr>
          <a:lstStyle/>
          <a:p>
            <a:pPr algn="l">
              <a:spcAft>
                <a:spcPts val="0"/>
              </a:spcAft>
            </a:pPr>
            <a:r>
              <a:rPr sz="800" b="0">
                <a:solidFill>
                  <a:srgbClr val="5A6670"/>
                </a:solidFill>
                <a:latin typeface="游ゴシック"/>
                <a:ea typeface="游ゴシック"/>
                <a:cs typeface="游ゴシック"/>
              </a:rPr>
              <a:t>焼き台・食器棚</a:t>
            </a:r>
          </a:p>
        </p:txBody>
      </p:sp>
      <p:pic>
        <p:nvPicPr>
          <p:cNvPr id="20" name="Picture 19" descr="厨房04.jpg"/>
          <p:cNvPicPr>
            <a:picLocks noChangeAspect="1"/>
          </p:cNvPicPr>
          <p:nvPr/>
        </p:nvPicPr>
        <p:blipFill>
          <a:blip r:embed="rId6"/>
          <a:srcRect t="9302" b="9302"/>
          <a:stretch>
            <a:fillRect/>
          </a:stretch>
        </p:blipFill>
        <p:spPr>
          <a:xfrm>
            <a:off x="310896" y="4133087"/>
            <a:ext cx="3145536" cy="1920240"/>
          </a:xfrm>
          <a:prstGeom prst="rect">
            <a:avLst/>
          </a:prstGeom>
          <a:ln w="9525">
            <a:solidFill>
              <a:srgbClr val="E3E7E9"/>
            </a:solidFill>
          </a:ln>
        </p:spPr>
      </p:pic>
      <p:sp>
        <p:nvSpPr>
          <p:cNvPr id="21" name="TextBox 20"/>
          <p:cNvSpPr txBox="1"/>
          <p:nvPr/>
        </p:nvSpPr>
        <p:spPr>
          <a:xfrm>
            <a:off x="310896" y="6089903"/>
            <a:ext cx="3145536" cy="182880"/>
          </a:xfrm>
          <a:prstGeom prst="rect">
            <a:avLst/>
          </a:prstGeom>
          <a:noFill/>
        </p:spPr>
        <p:txBody>
          <a:bodyPr wrap="square" lIns="0" rIns="0" tIns="0" bIns="0" anchor="t">
            <a:spAutoFit/>
          </a:bodyPr>
          <a:lstStyle/>
          <a:p>
            <a:pPr algn="l">
              <a:spcAft>
                <a:spcPts val="0"/>
              </a:spcAft>
            </a:pPr>
            <a:r>
              <a:rPr sz="800" b="0">
                <a:solidFill>
                  <a:srgbClr val="5A6670"/>
                </a:solidFill>
                <a:latin typeface="游ゴシック"/>
                <a:ea typeface="游ゴシック"/>
                <a:cs typeface="游ゴシック"/>
              </a:rPr>
              <a:t>釜場（茹で釜・ゆで麺機）</a:t>
            </a:r>
          </a:p>
        </p:txBody>
      </p:sp>
      <p:pic>
        <p:nvPicPr>
          <p:cNvPr id="22" name="Picture 21" descr="厨房02.jpg"/>
          <p:cNvPicPr>
            <a:picLocks noChangeAspect="1"/>
          </p:cNvPicPr>
          <p:nvPr/>
        </p:nvPicPr>
        <p:blipFill>
          <a:blip r:embed="rId7"/>
          <a:srcRect t="9615" b="9615"/>
          <a:stretch>
            <a:fillRect/>
          </a:stretch>
        </p:blipFill>
        <p:spPr>
          <a:xfrm>
            <a:off x="3602736" y="4133087"/>
            <a:ext cx="1783080" cy="1920240"/>
          </a:xfrm>
          <a:prstGeom prst="rect">
            <a:avLst/>
          </a:prstGeom>
          <a:ln w="9525">
            <a:solidFill>
              <a:srgbClr val="E3E7E9"/>
            </a:solidFill>
          </a:ln>
        </p:spPr>
      </p:pic>
      <p:sp>
        <p:nvSpPr>
          <p:cNvPr id="23" name="TextBox 22"/>
          <p:cNvSpPr txBox="1"/>
          <p:nvPr/>
        </p:nvSpPr>
        <p:spPr>
          <a:xfrm>
            <a:off x="3602736" y="6089903"/>
            <a:ext cx="1783080" cy="182880"/>
          </a:xfrm>
          <a:prstGeom prst="rect">
            <a:avLst/>
          </a:prstGeom>
          <a:noFill/>
        </p:spPr>
        <p:txBody>
          <a:bodyPr wrap="square" lIns="0" rIns="0" tIns="0" bIns="0" anchor="t">
            <a:spAutoFit/>
          </a:bodyPr>
          <a:lstStyle/>
          <a:p>
            <a:pPr algn="l">
              <a:spcAft>
                <a:spcPts val="0"/>
              </a:spcAft>
            </a:pPr>
            <a:r>
              <a:rPr sz="800" b="0">
                <a:solidFill>
                  <a:srgbClr val="5A6670"/>
                </a:solidFill>
                <a:latin typeface="游ゴシック"/>
                <a:ea typeface="游ゴシック"/>
                <a:cs typeface="游ゴシック"/>
              </a:rPr>
              <a:t>業務用冷蔵庫（6ドア＋縦型）</a:t>
            </a:r>
          </a:p>
        </p:txBody>
      </p:sp>
      <p:sp>
        <p:nvSpPr>
          <p:cNvPr id="24" name="Rectangle 23"/>
          <p:cNvSpPr/>
          <p:nvPr/>
        </p:nvSpPr>
        <p:spPr>
          <a:xfrm>
            <a:off x="5577840" y="4133087"/>
            <a:ext cx="4800600"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100" b="1">
                <a:solidFill>
                  <a:srgbClr val="FFFFFF"/>
                </a:solidFill>
                <a:latin typeface="游ゴシック"/>
                <a:ea typeface="游ゴシック"/>
                <a:cs typeface="游ゴシック"/>
              </a:rPr>
              <a:t>現地実査で確認できた主な設備</a:t>
            </a:r>
          </a:p>
        </p:txBody>
      </p:sp>
      <p:sp>
        <p:nvSpPr>
          <p:cNvPr id="25" name="Rectangle 24"/>
          <p:cNvSpPr/>
          <p:nvPr/>
        </p:nvSpPr>
        <p:spPr>
          <a:xfrm>
            <a:off x="5577840" y="4489704"/>
            <a:ext cx="4800600" cy="1691640"/>
          </a:xfrm>
          <a:prstGeom prst="rect">
            <a:avLst/>
          </a:prstGeom>
          <a:solidFill>
            <a:srgbClr val="F7FAFC"/>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705856" y="4599432"/>
            <a:ext cx="4544568" cy="1472184"/>
          </a:xfrm>
          <a:prstGeom prst="rect">
            <a:avLst/>
          </a:prstGeom>
          <a:noFill/>
        </p:spPr>
        <p:txBody>
          <a:bodyPr wrap="square" lIns="0" rIns="0" tIns="0" bIns="0" anchor="t">
            <a:spAutoFit/>
          </a:bodyPr>
          <a:lstStyle/>
          <a:p>
            <a:pPr algn="l">
              <a:lnSpc>
                <a:spcPct val="116000"/>
              </a:lnSpc>
              <a:spcAft>
                <a:spcPts val="100"/>
              </a:spcAft>
            </a:pPr>
            <a:r>
              <a:rPr sz="819" b="0">
                <a:solidFill>
                  <a:srgbClr val="1A1A1A"/>
                </a:solidFill>
                <a:latin typeface="游ゴシック"/>
                <a:ea typeface="游ゴシック"/>
                <a:cs typeface="游ゴシック"/>
              </a:rPr>
              <a:t>■ 厨房：業務用ガスコンロ（maruzen）複数、茹で釜・ゆで麺機、焼き台、換気フード、</a:t>
            </a:r>
          </a:p>
          <a:p>
            <a:pPr algn="l">
              <a:lnSpc>
                <a:spcPct val="116000"/>
              </a:lnSpc>
              <a:spcAft>
                <a:spcPts val="100"/>
              </a:spcAft>
            </a:pPr>
            <a:r>
              <a:rPr sz="819" b="0">
                <a:solidFill>
                  <a:srgbClr val="1A1A1A"/>
                </a:solidFill>
                <a:latin typeface="游ゴシック"/>
                <a:ea typeface="游ゴシック"/>
                <a:cs typeface="游ゴシック"/>
              </a:rPr>
              <a:t>　　　　食器洗浄機（SMART A5）、三槽シンク</a:t>
            </a:r>
          </a:p>
          <a:p>
            <a:pPr algn="l">
              <a:lnSpc>
                <a:spcPct val="116000"/>
              </a:lnSpc>
              <a:spcAft>
                <a:spcPts val="100"/>
              </a:spcAft>
            </a:pPr>
            <a:r>
              <a:rPr sz="819" b="0">
                <a:solidFill>
                  <a:srgbClr val="1A1A1A"/>
                </a:solidFill>
                <a:latin typeface="游ゴシック"/>
                <a:ea typeface="游ゴシック"/>
                <a:cs typeface="游ゴシック"/>
              </a:rPr>
              <a:t>■ 冷蔵：業務用冷蔵庫（ホシザキ 6ドア＋縦型）、冷蔵ショーケース、冷蔵ユニット2基</a:t>
            </a:r>
          </a:p>
          <a:p>
            <a:pPr algn="l">
              <a:lnSpc>
                <a:spcPct val="116000"/>
              </a:lnSpc>
              <a:spcAft>
                <a:spcPts val="100"/>
              </a:spcAft>
            </a:pPr>
            <a:r>
              <a:rPr sz="819" b="0">
                <a:solidFill>
                  <a:srgbClr val="1A1A1A"/>
                </a:solidFill>
                <a:latin typeface="游ゴシック"/>
                <a:ea typeface="游ゴシック"/>
                <a:cs typeface="游ゴシック"/>
              </a:rPr>
              <a:t>■ 製粉：電動石臼製粉機、木製石臼製粉機、二連式石臼製粉機、小麦製粉機、大理石作業台</a:t>
            </a:r>
          </a:p>
          <a:p>
            <a:pPr algn="l">
              <a:lnSpc>
                <a:spcPct val="116000"/>
              </a:lnSpc>
              <a:spcAft>
                <a:spcPts val="100"/>
              </a:spcAft>
            </a:pPr>
            <a:r>
              <a:rPr sz="819" b="0">
                <a:solidFill>
                  <a:srgbClr val="1A1A1A"/>
                </a:solidFill>
                <a:latin typeface="游ゴシック"/>
                <a:ea typeface="游ゴシック"/>
                <a:cs typeface="游ゴシック"/>
              </a:rPr>
              <a:t>■ そば打ち場：木製そば打ち台2台、朱塗りこね鉢、そば包丁3丁、こま板、専用シンク</a:t>
            </a:r>
          </a:p>
          <a:p>
            <a:pPr algn="l">
              <a:lnSpc>
                <a:spcPct val="116000"/>
              </a:lnSpc>
              <a:spcAft>
                <a:spcPts val="100"/>
              </a:spcAft>
            </a:pPr>
            <a:r>
              <a:rPr sz="819" b="0">
                <a:solidFill>
                  <a:srgbClr val="1A1A1A"/>
                </a:solidFill>
                <a:latin typeface="游ゴシック"/>
                <a:ea typeface="游ゴシック"/>
                <a:cs typeface="游ゴシック"/>
              </a:rPr>
              <a:t>■ 保管：玄そば定温保管庫（冷却ユニット付・木造断熱仕様）</a:t>
            </a:r>
          </a:p>
          <a:p>
            <a:pPr algn="l">
              <a:lnSpc>
                <a:spcPct val="116000"/>
              </a:lnSpc>
              <a:spcAft>
                <a:spcPts val="100"/>
              </a:spcAft>
            </a:pPr>
            <a:r>
              <a:rPr sz="819" b="0">
                <a:solidFill>
                  <a:srgbClr val="1A1A1A"/>
                </a:solidFill>
                <a:latin typeface="游ゴシック"/>
                <a:ea typeface="游ゴシック"/>
                <a:cs typeface="游ゴシック"/>
              </a:rPr>
              <a:t>■ 客席：座敷（座卓6卓程度）・囲炉裏・縁側デッキ、薪ストーブ2台</a:t>
            </a:r>
          </a:p>
        </p:txBody>
      </p:sp>
      <p:sp>
        <p:nvSpPr>
          <p:cNvPr id="27" name="TextBox 26"/>
          <p:cNvSpPr txBox="1"/>
          <p:nvPr/>
        </p:nvSpPr>
        <p:spPr>
          <a:xfrm>
            <a:off x="310896" y="6309360"/>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写真は現地実査時に撮影したもの。設備の稼働状況・更新履歴・保守契約の有無は要確認。</a:t>
            </a:r>
          </a:p>
        </p:txBody>
      </p:sp>
    </p:spTree>
    <p:extLst>
      <p:ext uri="{BB962C8B-B14F-4D97-AF65-F5344CB8AC3E}">
        <p14:creationId xmlns:p14="http://schemas.microsoft.com/office/powerpoint/2010/main" val="37072750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6CA44-E527-07A7-EABE-FD69A9CC275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676FF1C4-EA62-3485-4D28-7C17FD9DDA7D}"/>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不動産詳細</a:t>
            </a:r>
          </a:p>
        </p:txBody>
      </p:sp>
      <p:sp>
        <p:nvSpPr>
          <p:cNvPr id="4" name="タイトル 1">
            <a:extLst>
              <a:ext uri="{FF2B5EF4-FFF2-40B4-BE49-F238E27FC236}">
                <a16:creationId xmlns:a16="http://schemas.microsoft.com/office/drawing/2014/main" id="{DAA41D5B-A131-C808-ADF3-2DAFD20777F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a:latin typeface="游ゴシック"/>
                <a:ea typeface="游ゴシック"/>
                <a:cs typeface="游ゴシック"/>
              </a:rPr>
              <a:t>組織、拠点、設備等</a:t>
            </a:r>
          </a:p>
        </p:txBody>
      </p:sp>
      <p:sp>
        <p:nvSpPr>
          <p:cNvPr id="8" name="字幕 13">
            <a:extLst>
              <a:ext uri="{FF2B5EF4-FFF2-40B4-BE49-F238E27FC236}">
                <a16:creationId xmlns:a16="http://schemas.microsoft.com/office/drawing/2014/main" id="{A751CA4D-CB14-CD08-826F-75C234B5BA9A}"/>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事業用不動産は全て自己所有で賃借はなし。ただし店舗建物は未登記であり、本件実行前に権利関係の整備が必要</a:t>
            </a:r>
            <a:endParaRPr lang="en-US" altLang="ja-JP" dirty="0"/>
          </a:p>
        </p:txBody>
      </p:sp>
      <p:sp>
        <p:nvSpPr>
          <p:cNvPr id="14" name="Rectangle 13"/>
          <p:cNvSpPr/>
          <p:nvPr/>
        </p:nvSpPr>
        <p:spPr>
          <a:xfrm>
            <a:off x="310896" y="1517904"/>
            <a:ext cx="1481328"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400" b="1">
                <a:solidFill>
                  <a:srgbClr val="FFFFFF"/>
                </a:solidFill>
                <a:latin typeface="游ゴシック"/>
                <a:ea typeface="游ゴシック"/>
                <a:cs typeface="游ゴシック"/>
              </a:rPr>
              <a:t>所有</a:t>
            </a:r>
          </a:p>
        </p:txBody>
      </p:sp>
      <p:graphicFrame>
        <p:nvGraphicFramePr>
          <p:cNvPr id="15" name="Table 14"/>
          <p:cNvGraphicFramePr>
            <a:graphicFrameLocks noGrp="1"/>
          </p:cNvGraphicFramePr>
          <p:nvPr/>
        </p:nvGraphicFramePr>
        <p:xfrm>
          <a:off x="310896" y="1874519"/>
          <a:ext cx="10067539" cy="2359152"/>
        </p:xfrm>
        <a:graphic>
          <a:graphicData uri="http://schemas.openxmlformats.org/drawingml/2006/table">
            <a:tbl>
              <a:tblPr firstRow="0" bandRow="0">
                <a:tableStyleId>{5940675A-B579-460E-94D1-54222C63F5DA}</a:tableStyleId>
              </a:tblPr>
              <a:tblGrid>
                <a:gridCol w="289945"/>
                <a:gridCol w="1433618"/>
                <a:gridCol w="1079240"/>
                <a:gridCol w="1449726"/>
                <a:gridCol w="499350"/>
                <a:gridCol w="1030916"/>
                <a:gridCol w="628214"/>
                <a:gridCol w="628214"/>
                <a:gridCol w="1095348"/>
                <a:gridCol w="1932968"/>
              </a:tblGrid>
              <a:tr h="256032">
                <a:tc>
                  <a:txBody>
                    <a:bodyPr wrap="square"/>
                    <a:lstStyle/>
                    <a:p>
                      <a:pPr algn="ctr">
                        <a:spcAft>
                          <a:spcPts val="0"/>
                        </a:spcAft>
                      </a:pPr>
                      <a:r>
                        <a:rPr sz="780" b="1">
                          <a:solidFill>
                            <a:srgbClr val="FFFFFF"/>
                          </a:solidFill>
                          <a:latin typeface="游ゴシック"/>
                          <a:ea typeface="游ゴシック"/>
                          <a:cs typeface="游ゴシック"/>
                        </a:rPr>
                        <a:t>No.</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所在</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種類</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構造</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面積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取得年月</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取得価額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期末簿価</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用途</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1">
                          <a:solidFill>
                            <a:srgbClr val="FFFFFF"/>
                          </a:solidFill>
                          <a:latin typeface="Arial"/>
                          <a:ea typeface="Arial"/>
                          <a:cs typeface="Arial"/>
                        </a:rPr>
                        <a:t>備考</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20624">
                <a:tc>
                  <a:txBody>
                    <a:bodyPr wrap="square"/>
                    <a:lstStyle/>
                    <a:p>
                      <a:pPr algn="ctr">
                        <a:spcAft>
                          <a:spcPts val="0"/>
                        </a:spcAft>
                      </a:pPr>
                      <a:r>
                        <a:rPr sz="780" b="0">
                          <a:solidFill>
                            <a:srgbClr val="1A1A1A"/>
                          </a:solidFill>
                          <a:latin typeface="Arial"/>
                          <a:ea typeface="Arial"/>
                          <a:cs typeface="Arial"/>
                        </a:rPr>
                        <a:t>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常陸太田市天下野町2162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土地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3,450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3,450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店舗敷地・駐車場</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路線価・固定資産税評価額による時価評価は未実施</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20624">
                <a:tc>
                  <a:txBody>
                    <a:bodyPr wrap="square"/>
                    <a:lstStyle/>
                    <a:p>
                      <a:pPr algn="ctr">
                        <a:spcAft>
                          <a:spcPts val="0"/>
                        </a:spcAft>
                      </a:pPr>
                      <a:r>
                        <a:rPr sz="780" b="0">
                          <a:solidFill>
                            <a:srgbClr val="1A1A1A"/>
                          </a:solidFill>
                          <a:latin typeface="Arial"/>
                          <a:ea typeface="Arial"/>
                          <a:cs typeface="Arial"/>
                        </a:rPr>
                        <a:t>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同上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建物（店舗兼住居）</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木造モルタル造（板倉造・茅葺き）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2002年2月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85,704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27,854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1階 店舗／2階 代表者住居</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代表者が設計。未登記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20624">
                <a:tc>
                  <a:txBody>
                    <a:bodyPr wrap="square"/>
                    <a:lstStyle/>
                    <a:p>
                      <a:pPr algn="ctr">
                        <a:spcAft>
                          <a:spcPts val="0"/>
                        </a:spcAft>
                      </a:pPr>
                      <a:r>
                        <a:rPr sz="780" b="0">
                          <a:solidFill>
                            <a:srgbClr val="1A1A1A"/>
                          </a:solidFill>
                          <a:latin typeface="Arial"/>
                          <a:ea typeface="Arial"/>
                          <a:cs typeface="Arial"/>
                        </a:rPr>
                        <a:t>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同上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建物附属設備</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電気・給排水設備ほか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2002年2月〜2022年6月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32,646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6,373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店舗設備</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自動火災報知設備・冷蔵設備・縁側席工事等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20624">
                <a:tc>
                  <a:txBody>
                    <a:bodyPr wrap="square"/>
                    <a:lstStyle/>
                    <a:p>
                      <a:pPr algn="ctr">
                        <a:spcAft>
                          <a:spcPts val="0"/>
                        </a:spcAft>
                      </a:pPr>
                      <a:r>
                        <a:rPr sz="780" b="0">
                          <a:solidFill>
                            <a:srgbClr val="1A1A1A"/>
                          </a:solidFill>
                          <a:latin typeface="Arial"/>
                          <a:ea typeface="Arial"/>
                          <a:cs typeface="Arial"/>
                        </a:rPr>
                        <a:t>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同上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構築物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駐車場舗装・看板・ブロック塀</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2003年</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1,584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43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駐車場・外構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20624">
                <a:tc>
                  <a:txBody>
                    <a:bodyPr wrap="square"/>
                    <a:lstStyle/>
                    <a:p>
                      <a:pPr algn="ctr">
                        <a:spcAft>
                          <a:spcPts val="0"/>
                        </a:spcAft>
                      </a:pPr>
                      <a:r>
                        <a:rPr sz="780" b="0">
                          <a:solidFill>
                            <a:srgbClr val="1A1A1A"/>
                          </a:solidFill>
                          <a:latin typeface="Arial"/>
                          <a:ea typeface="Arial"/>
                          <a:cs typeface="Arial"/>
                        </a:rPr>
                        <a:t>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常陸太田市（塩町館）</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建物（改造工事）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木造モルタル造</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80"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2004年12月〜2005年4月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16,744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80" b="0">
                          <a:solidFill>
                            <a:srgbClr val="1A1A1A"/>
                          </a:solidFill>
                          <a:latin typeface="Arial"/>
                          <a:ea typeface="Arial"/>
                          <a:cs typeface="Arial"/>
                        </a:rPr>
                        <a:t>5,442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当社の事業に未供用</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80" b="0">
                          <a:solidFill>
                            <a:srgbClr val="1A1A1A"/>
                          </a:solidFill>
                          <a:latin typeface="游ゴシック"/>
                          <a:ea typeface="游ゴシック"/>
                          <a:cs typeface="游ゴシック"/>
                        </a:rPr>
                        <a:t>営業権・什器備品は元従業員へ譲渡済。登記変更は未了</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6" name="Rectangle 15"/>
          <p:cNvSpPr/>
          <p:nvPr/>
        </p:nvSpPr>
        <p:spPr>
          <a:xfrm>
            <a:off x="310896" y="4572000"/>
            <a:ext cx="1481328"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400" b="1">
                <a:solidFill>
                  <a:srgbClr val="FFFFFF"/>
                </a:solidFill>
                <a:latin typeface="游ゴシック"/>
                <a:ea typeface="游ゴシック"/>
                <a:cs typeface="游ゴシック"/>
              </a:rPr>
              <a:t>賃借</a:t>
            </a:r>
          </a:p>
        </p:txBody>
      </p:sp>
      <p:sp>
        <p:nvSpPr>
          <p:cNvPr id="17" name="Rectangle 16"/>
          <p:cNvSpPr/>
          <p:nvPr/>
        </p:nvSpPr>
        <p:spPr>
          <a:xfrm>
            <a:off x="310896" y="4928616"/>
            <a:ext cx="10067544" cy="475488"/>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57200" y="5047488"/>
            <a:ext cx="9774936" cy="256032"/>
          </a:xfrm>
          <a:prstGeom prst="rect">
            <a:avLst/>
          </a:prstGeom>
          <a:noFill/>
        </p:spPr>
        <p:txBody>
          <a:bodyPr wrap="square" lIns="0" rIns="0" tIns="0" bIns="0" anchor="t">
            <a:spAutoFit/>
          </a:bodyPr>
          <a:lstStyle/>
          <a:p>
            <a:pPr algn="l">
              <a:spcAft>
                <a:spcPts val="0"/>
              </a:spcAft>
            </a:pPr>
            <a:r>
              <a:rPr sz="950" b="0">
                <a:solidFill>
                  <a:srgbClr val="1A1A1A"/>
                </a:solidFill>
                <a:latin typeface="游ゴシック"/>
                <a:ea typeface="游ゴシック"/>
                <a:cs typeface="游ゴシック"/>
              </a:rPr>
              <a:t>該当なし（事業用不動産の賃借はありません。地代家賃の計上もありません）</a:t>
            </a:r>
          </a:p>
        </p:txBody>
      </p:sp>
      <p:sp>
        <p:nvSpPr>
          <p:cNvPr id="19" name="Rectangle 18"/>
          <p:cNvSpPr/>
          <p:nvPr/>
        </p:nvSpPr>
        <p:spPr>
          <a:xfrm>
            <a:off x="310896" y="5559552"/>
            <a:ext cx="1481328"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400" b="1">
                <a:solidFill>
                  <a:srgbClr val="FFFFFF"/>
                </a:solidFill>
                <a:latin typeface="游ゴシック"/>
                <a:ea typeface="游ゴシック"/>
                <a:cs typeface="游ゴシック"/>
              </a:rPr>
              <a:t>担保</a:t>
            </a:r>
          </a:p>
        </p:txBody>
      </p:sp>
      <p:sp>
        <p:nvSpPr>
          <p:cNvPr id="20" name="Rectangle 19"/>
          <p:cNvSpPr/>
          <p:nvPr/>
        </p:nvSpPr>
        <p:spPr>
          <a:xfrm>
            <a:off x="310896" y="5916168"/>
            <a:ext cx="10067544" cy="475488"/>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57200" y="6035040"/>
            <a:ext cx="9774936" cy="256032"/>
          </a:xfrm>
          <a:prstGeom prst="rect">
            <a:avLst/>
          </a:prstGeom>
          <a:noFill/>
        </p:spPr>
        <p:txBody>
          <a:bodyPr wrap="square" lIns="0" rIns="0" tIns="0" bIns="0" anchor="t">
            <a:spAutoFit/>
          </a:bodyPr>
          <a:lstStyle/>
          <a:p>
            <a:pPr algn="l">
              <a:spcAft>
                <a:spcPts val="0"/>
              </a:spcAft>
            </a:pPr>
            <a:r>
              <a:rPr sz="950" b="0">
                <a:solidFill>
                  <a:srgbClr val="1A1A1A"/>
                </a:solidFill>
                <a:latin typeface="游ゴシック"/>
                <a:ea typeface="游ゴシック"/>
                <a:cs typeface="游ゴシック"/>
              </a:rPr>
              <a:t>金融機関借入がないため、担保設定はないものと想定（要確認：登記簿謄本は未受領）</a:t>
            </a:r>
          </a:p>
        </p:txBody>
      </p:sp>
      <p:sp>
        <p:nvSpPr>
          <p:cNvPr id="22" name="TextBox 21"/>
          <p:cNvSpPr txBox="1"/>
          <p:nvPr/>
        </p:nvSpPr>
        <p:spPr>
          <a:xfrm>
            <a:off x="310896" y="6583680"/>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単位：千円。期末簿価は2026年5月期。建物は未登記であり、土地・建物の登記簿謄本・公図・測量図はいずれも未受領です（要確認）。</a:t>
            </a:r>
          </a:p>
        </p:txBody>
      </p:sp>
    </p:spTree>
    <p:extLst>
      <p:ext uri="{BB962C8B-B14F-4D97-AF65-F5344CB8AC3E}">
        <p14:creationId xmlns:p14="http://schemas.microsoft.com/office/powerpoint/2010/main" val="20041296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83CB5-D66B-9D1A-A660-C02FFA666B7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B1EDBB24-67BB-E96E-B74B-D3EB5F75EDA4}"/>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保有設備一覧</a:t>
            </a:r>
          </a:p>
        </p:txBody>
      </p:sp>
      <p:sp>
        <p:nvSpPr>
          <p:cNvPr id="4" name="タイトル 1">
            <a:extLst>
              <a:ext uri="{FF2B5EF4-FFF2-40B4-BE49-F238E27FC236}">
                <a16:creationId xmlns:a16="http://schemas.microsoft.com/office/drawing/2014/main" id="{9A038C7C-FDC6-3DA9-FB86-371BEF2D480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a:latin typeface="游ゴシック"/>
                <a:ea typeface="游ゴシック"/>
                <a:cs typeface="游ゴシック"/>
              </a:rPr>
              <a:t>組織、拠点、設備等</a:t>
            </a:r>
          </a:p>
        </p:txBody>
      </p:sp>
      <p:sp>
        <p:nvSpPr>
          <p:cNvPr id="7" name="字幕 13">
            <a:extLst>
              <a:ext uri="{FF2B5EF4-FFF2-40B4-BE49-F238E27FC236}">
                <a16:creationId xmlns:a16="http://schemas.microsoft.com/office/drawing/2014/main" id="{AF62B1A2-0C69-2A17-FF69-1256D98EBEC7}"/>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石臼製粉機2基、そば打ち場、玄そば定温保管庫、業務用厨房を保有。蕎麦の一貫製造に必要な設備は揃っている</a:t>
            </a:r>
            <a:endParaRPr lang="en-US" altLang="ja-JP" dirty="0"/>
          </a:p>
        </p:txBody>
      </p:sp>
      <p:graphicFrame>
        <p:nvGraphicFramePr>
          <p:cNvPr id="14" name="Table 13"/>
          <p:cNvGraphicFramePr>
            <a:graphicFrameLocks noGrp="1"/>
          </p:cNvGraphicFramePr>
          <p:nvPr/>
        </p:nvGraphicFramePr>
        <p:xfrm>
          <a:off x="310896" y="1408176"/>
          <a:ext cx="10067544" cy="4535424"/>
        </p:xfrm>
        <a:graphic>
          <a:graphicData uri="http://schemas.openxmlformats.org/drawingml/2006/table">
            <a:tbl>
              <a:tblPr firstRow="0" bandRow="0">
                <a:tableStyleId>{5940675A-B579-460E-94D1-54222C63F5DA}</a:tableStyleId>
              </a:tblPr>
              <a:tblGrid>
                <a:gridCol w="310896"/>
                <a:gridCol w="2468880"/>
                <a:gridCol w="841248"/>
                <a:gridCol w="932688"/>
                <a:gridCol w="512064"/>
                <a:gridCol w="713232"/>
                <a:gridCol w="694944"/>
                <a:gridCol w="3593592"/>
              </a:tblGrid>
              <a:tr h="237744">
                <a:tc>
                  <a:txBody>
                    <a:bodyPr wrap="square"/>
                    <a:lstStyle/>
                    <a:p>
                      <a:pPr algn="ctr">
                        <a:spcAft>
                          <a:spcPts val="0"/>
                        </a:spcAft>
                      </a:pPr>
                      <a:r>
                        <a:rPr sz="720" b="1">
                          <a:solidFill>
                            <a:srgbClr val="FFFFFF"/>
                          </a:solidFill>
                          <a:latin typeface="游ゴシック"/>
                          <a:ea typeface="游ゴシック"/>
                          <a:cs typeface="游ゴシック"/>
                        </a:rPr>
                        <a:t>No.</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20" b="1">
                          <a:solidFill>
                            <a:srgbClr val="FFFFFF"/>
                          </a:solidFill>
                          <a:latin typeface="Arial"/>
                          <a:ea typeface="Arial"/>
                          <a:cs typeface="Arial"/>
                        </a:rPr>
                        <a:t>資産名称</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20" b="1">
                          <a:solidFill>
                            <a:srgbClr val="FFFFFF"/>
                          </a:solidFill>
                          <a:latin typeface="Arial"/>
                          <a:ea typeface="Arial"/>
                          <a:cs typeface="Arial"/>
                        </a:rPr>
                        <a:t>種類</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20" b="1">
                          <a:solidFill>
                            <a:srgbClr val="FFFFFF"/>
                          </a:solidFill>
                          <a:latin typeface="Arial"/>
                          <a:ea typeface="Arial"/>
                          <a:cs typeface="Arial"/>
                        </a:rPr>
                        <a:t>取得年月</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20" b="1">
                          <a:solidFill>
                            <a:srgbClr val="FFFFFF"/>
                          </a:solidFill>
                          <a:latin typeface="Arial"/>
                          <a:ea typeface="Arial"/>
                          <a:cs typeface="Arial"/>
                        </a:rPr>
                        <a:t>数量</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20" b="1">
                          <a:solidFill>
                            <a:srgbClr val="FFFFFF"/>
                          </a:solidFill>
                          <a:latin typeface="Arial"/>
                          <a:ea typeface="Arial"/>
                          <a:cs typeface="Arial"/>
                        </a:rPr>
                        <a:t>取得価額</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20" b="1">
                          <a:solidFill>
                            <a:srgbClr val="FFFFFF"/>
                          </a:solidFill>
                          <a:latin typeface="Arial"/>
                          <a:ea typeface="Arial"/>
                          <a:cs typeface="Arial"/>
                        </a:rPr>
                        <a:t>期末簿価</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20" b="1">
                          <a:solidFill>
                            <a:srgbClr val="FFFFFF"/>
                          </a:solidFill>
                          <a:latin typeface="Arial"/>
                          <a:ea typeface="Arial"/>
                          <a:cs typeface="Arial"/>
                        </a:rPr>
                        <a:t>備考</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4884">
                <a:tc>
                  <a:txBody>
                    <a:bodyPr wrap="square"/>
                    <a:lstStyle/>
                    <a:p>
                      <a:pPr algn="ctr">
                        <a:spcAft>
                          <a:spcPts val="0"/>
                        </a:spcAft>
                      </a:pPr>
                      <a:r>
                        <a:rPr sz="720" b="0">
                          <a:solidFill>
                            <a:srgbClr val="1A1A1A"/>
                          </a:solidFill>
                          <a:latin typeface="Arial"/>
                          <a:ea typeface="Arial"/>
                          <a:cs typeface="Arial"/>
                        </a:rPr>
                        <a:t>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ＳＵＳ製小型キルン（醤粉製造器）</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機械及び装置</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2026年8月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20" b="0">
                          <a:solidFill>
                            <a:srgbClr val="1A1A1A"/>
                          </a:solidFill>
                          <a:latin typeface="游ゴシック"/>
                          <a:ea typeface="游ゴシック"/>
                          <a:cs typeface="游ゴシック"/>
                        </a:rPr>
                        <a:t>1基</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Arial"/>
                          <a:ea typeface="Arial"/>
                          <a:cs typeface="Arial"/>
                        </a:rPr>
                        <a:t>3,456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Arial"/>
                          <a:ea typeface="Arial"/>
                          <a:cs typeface="Arial"/>
                        </a:rPr>
                        <a:t>3,456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2026年5月期に取得。醤（ひしお）製造用</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4884">
                <a:tc>
                  <a:txBody>
                    <a:bodyPr wrap="square"/>
                    <a:lstStyle/>
                    <a:p>
                      <a:pPr algn="ctr">
                        <a:spcAft>
                          <a:spcPts val="0"/>
                        </a:spcAft>
                      </a:pPr>
                      <a:r>
                        <a:rPr sz="720" b="0">
                          <a:solidFill>
                            <a:srgbClr val="1A1A1A"/>
                          </a:solidFill>
                          <a:latin typeface="Arial"/>
                          <a:ea typeface="Arial"/>
                          <a:cs typeface="Arial"/>
                        </a:rPr>
                        <a:t>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二連式石臼製粉機</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機械及び装置</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2024年10月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20" b="0">
                          <a:solidFill>
                            <a:srgbClr val="1A1A1A"/>
                          </a:solidFill>
                          <a:latin typeface="游ゴシック"/>
                          <a:ea typeface="游ゴシック"/>
                          <a:cs typeface="游ゴシック"/>
                        </a:rPr>
                        <a:t>1台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Arial"/>
                          <a:ea typeface="Arial"/>
                          <a:cs typeface="Arial"/>
                        </a:rPr>
                        <a:t>1,100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Arial"/>
                          <a:ea typeface="Arial"/>
                          <a:cs typeface="Arial"/>
                        </a:rPr>
                        <a:t>763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自家製粉の中核設備</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4884">
                <a:tc>
                  <a:txBody>
                    <a:bodyPr wrap="square"/>
                    <a:lstStyle/>
                    <a:p>
                      <a:pPr algn="ctr">
                        <a:spcAft>
                          <a:spcPts val="0"/>
                        </a:spcAft>
                      </a:pPr>
                      <a:r>
                        <a:rPr sz="720" b="0">
                          <a:solidFill>
                            <a:srgbClr val="1A1A1A"/>
                          </a:solidFill>
                          <a:latin typeface="Arial"/>
                          <a:ea typeface="Arial"/>
                          <a:cs typeface="Arial"/>
                        </a:rPr>
                        <a:t>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小麦製粉機</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機械及び装置</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2007年9月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20" b="0">
                          <a:solidFill>
                            <a:srgbClr val="1A1A1A"/>
                          </a:solidFill>
                          <a:latin typeface="游ゴシック"/>
                          <a:ea typeface="游ゴシック"/>
                          <a:cs typeface="游ゴシック"/>
                        </a:rPr>
                        <a:t>1台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Arial"/>
                          <a:ea typeface="Arial"/>
                          <a:cs typeface="Arial"/>
                        </a:rPr>
                        <a:t>1,200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償却済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4884">
                <a:tc>
                  <a:txBody>
                    <a:bodyPr wrap="square"/>
                    <a:lstStyle/>
                    <a:p>
                      <a:pPr algn="ctr">
                        <a:spcAft>
                          <a:spcPts val="0"/>
                        </a:spcAft>
                      </a:pPr>
                      <a:r>
                        <a:rPr sz="720" b="0">
                          <a:solidFill>
                            <a:srgbClr val="1A1A1A"/>
                          </a:solidFill>
                          <a:latin typeface="Arial"/>
                          <a:ea typeface="Arial"/>
                          <a:cs typeface="Arial"/>
                        </a:rPr>
                        <a:t>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麺機ロール製造設備</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機械及び装置</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2007年5月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20" b="0">
                          <a:solidFill>
                            <a:srgbClr val="1A1A1A"/>
                          </a:solidFill>
                          <a:latin typeface="游ゴシック"/>
                          <a:ea typeface="游ゴシック"/>
                          <a:cs typeface="游ゴシック"/>
                        </a:rPr>
                        <a:t>1台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Arial"/>
                          <a:ea typeface="Arial"/>
                          <a:cs typeface="Arial"/>
                        </a:rPr>
                        <a:t>500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償却済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4884">
                <a:tc>
                  <a:txBody>
                    <a:bodyPr wrap="square"/>
                    <a:lstStyle/>
                    <a:p>
                      <a:pPr algn="ctr">
                        <a:spcAft>
                          <a:spcPts val="0"/>
                        </a:spcAft>
                      </a:pPr>
                      <a:r>
                        <a:rPr sz="720" b="0">
                          <a:solidFill>
                            <a:srgbClr val="1A1A1A"/>
                          </a:solidFill>
                          <a:latin typeface="Arial"/>
                          <a:ea typeface="Arial"/>
                          <a:cs typeface="Arial"/>
                        </a:rPr>
                        <a:t>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ペレット薪ストーブ ＨＰＳ-110Ｓ型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器具及び備品</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2024年12月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20" b="0">
                          <a:solidFill>
                            <a:srgbClr val="1A1A1A"/>
                          </a:solidFill>
                          <a:latin typeface="游ゴシック"/>
                          <a:ea typeface="游ゴシック"/>
                          <a:cs typeface="游ゴシック"/>
                        </a:rPr>
                        <a:t>1台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Arial"/>
                          <a:ea typeface="Arial"/>
                          <a:cs typeface="Arial"/>
                        </a:rPr>
                        <a:t>988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Arial"/>
                          <a:ea typeface="Arial"/>
                          <a:cs typeface="Arial"/>
                        </a:rPr>
                        <a:t>549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4884">
                <a:tc>
                  <a:txBody>
                    <a:bodyPr wrap="square"/>
                    <a:lstStyle/>
                    <a:p>
                      <a:pPr algn="ctr">
                        <a:spcAft>
                          <a:spcPts val="0"/>
                        </a:spcAft>
                      </a:pPr>
                      <a:r>
                        <a:rPr sz="720" b="0">
                          <a:solidFill>
                            <a:srgbClr val="1A1A1A"/>
                          </a:solidFill>
                          <a:latin typeface="Arial"/>
                          <a:ea typeface="Arial"/>
                          <a:cs typeface="Arial"/>
                        </a:rPr>
                        <a:t>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ペレットストーブ（設置工事含む）</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器具及び備品</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2022年6月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20" b="0">
                          <a:solidFill>
                            <a:srgbClr val="1A1A1A"/>
                          </a:solidFill>
                          <a:latin typeface="游ゴシック"/>
                          <a:ea typeface="游ゴシック"/>
                          <a:cs typeface="游ゴシック"/>
                        </a:rPr>
                        <a:t>1組</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Arial"/>
                          <a:ea typeface="Arial"/>
                          <a:cs typeface="Arial"/>
                        </a:rPr>
                        <a:t>968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Arial"/>
                          <a:ea typeface="Arial"/>
                          <a:cs typeface="Arial"/>
                        </a:rPr>
                        <a:t>191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4884">
                <a:tc>
                  <a:txBody>
                    <a:bodyPr wrap="square"/>
                    <a:lstStyle/>
                    <a:p>
                      <a:pPr algn="ctr">
                        <a:spcAft>
                          <a:spcPts val="0"/>
                        </a:spcAft>
                      </a:pPr>
                      <a:r>
                        <a:rPr sz="720" b="0">
                          <a:solidFill>
                            <a:srgbClr val="1A1A1A"/>
                          </a:solidFill>
                          <a:latin typeface="Arial"/>
                          <a:ea typeface="Arial"/>
                          <a:cs typeface="Arial"/>
                        </a:rPr>
                        <a:t>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自動火災報知設備（無線式）</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建物附属設備</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2021年5月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20" b="0">
                          <a:solidFill>
                            <a:srgbClr val="1A1A1A"/>
                          </a:solidFill>
                          <a:latin typeface="游ゴシック"/>
                          <a:ea typeface="游ゴシック"/>
                          <a:cs typeface="游ゴシック"/>
                        </a:rPr>
                        <a:t>1式</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Arial"/>
                          <a:ea typeface="Arial"/>
                          <a:cs typeface="Arial"/>
                        </a:rPr>
                        <a:t>2,420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Arial"/>
                          <a:ea typeface="Arial"/>
                          <a:cs typeface="Arial"/>
                        </a:rPr>
                        <a:t>882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4884">
                <a:tc>
                  <a:txBody>
                    <a:bodyPr wrap="square"/>
                    <a:lstStyle/>
                    <a:p>
                      <a:pPr algn="ctr">
                        <a:spcAft>
                          <a:spcPts val="0"/>
                        </a:spcAft>
                      </a:pPr>
                      <a:r>
                        <a:rPr sz="720" b="0">
                          <a:solidFill>
                            <a:srgbClr val="1A1A1A"/>
                          </a:solidFill>
                          <a:latin typeface="Arial"/>
                          <a:ea typeface="Arial"/>
                          <a:cs typeface="Arial"/>
                        </a:rPr>
                        <a:t>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縁側席工事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建物附属設備</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2020年11月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20" b="0">
                          <a:solidFill>
                            <a:srgbClr val="1A1A1A"/>
                          </a:solidFill>
                          <a:latin typeface="游ゴシック"/>
                          <a:ea typeface="游ゴシック"/>
                          <a:cs typeface="游ゴシック"/>
                        </a:rPr>
                        <a:t>1式</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Arial"/>
                          <a:ea typeface="Arial"/>
                          <a:cs typeface="Arial"/>
                        </a:rPr>
                        <a:t>1,400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Arial"/>
                          <a:ea typeface="Arial"/>
                          <a:cs typeface="Arial"/>
                        </a:rPr>
                        <a:t>618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コロナ禍の客席拡張</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4884">
                <a:tc>
                  <a:txBody>
                    <a:bodyPr wrap="square"/>
                    <a:lstStyle/>
                    <a:p>
                      <a:pPr algn="ctr">
                        <a:spcAft>
                          <a:spcPts val="0"/>
                        </a:spcAft>
                      </a:pPr>
                      <a:r>
                        <a:rPr sz="720" b="0">
                          <a:solidFill>
                            <a:srgbClr val="1A1A1A"/>
                          </a:solidFill>
                          <a:latin typeface="Arial"/>
                          <a:ea typeface="Arial"/>
                          <a:cs typeface="Arial"/>
                        </a:rPr>
                        <a:t>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業務用冷蔵設備（コンデンシングユニット等）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建物附属設備</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2018年9月〜2021年4月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20" b="0">
                          <a:solidFill>
                            <a:srgbClr val="1A1A1A"/>
                          </a:solidFill>
                          <a:latin typeface="游ゴシック"/>
                          <a:ea typeface="游ゴシック"/>
                          <a:cs typeface="游ゴシック"/>
                        </a:rPr>
                        <a:t>3台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Arial"/>
                          <a:ea typeface="Arial"/>
                          <a:cs typeface="Arial"/>
                        </a:rPr>
                        <a:t>1,676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Arial"/>
                          <a:ea typeface="Arial"/>
                          <a:cs typeface="Arial"/>
                        </a:rPr>
                        <a:t>626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　</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4884">
                <a:tc>
                  <a:txBody>
                    <a:bodyPr wrap="square"/>
                    <a:lstStyle/>
                    <a:p>
                      <a:pPr algn="ctr">
                        <a:spcAft>
                          <a:spcPts val="0"/>
                        </a:spcAft>
                      </a:pPr>
                      <a:r>
                        <a:rPr sz="720" b="0">
                          <a:solidFill>
                            <a:srgbClr val="1A1A1A"/>
                          </a:solidFill>
                          <a:latin typeface="Arial"/>
                          <a:ea typeface="Arial"/>
                          <a:cs typeface="Arial"/>
                        </a:rPr>
                        <a:t>10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暖房設備一式・玄そば脱皮機・磨き機・石抜き機ほか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器具及び備品</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2002年2月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20" b="0">
                          <a:solidFill>
                            <a:srgbClr val="1A1A1A"/>
                          </a:solidFill>
                          <a:latin typeface="游ゴシック"/>
                          <a:ea typeface="游ゴシック"/>
                          <a:cs typeface="游ゴシック"/>
                        </a:rPr>
                        <a:t>一式</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Arial"/>
                          <a:ea typeface="Arial"/>
                          <a:cs typeface="Arial"/>
                        </a:rPr>
                        <a:t>15,084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Arial"/>
                          <a:ea typeface="Arial"/>
                          <a:cs typeface="Arial"/>
                        </a:rPr>
                        <a:t>892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開業時に導入。多くは償却済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4884">
                <a:tc>
                  <a:txBody>
                    <a:bodyPr wrap="square"/>
                    <a:lstStyle/>
                    <a:p>
                      <a:pPr algn="ctr">
                        <a:spcAft>
                          <a:spcPts val="0"/>
                        </a:spcAft>
                      </a:pPr>
                      <a:r>
                        <a:rPr sz="720" b="0">
                          <a:solidFill>
                            <a:srgbClr val="1A1A1A"/>
                          </a:solidFill>
                          <a:latin typeface="Arial"/>
                          <a:ea typeface="Arial"/>
                          <a:cs typeface="Arial"/>
                        </a:rPr>
                        <a:t>11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テーブル61個・イス22脚・クッション94個ほか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器具及び備品</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2002年2月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2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Arial"/>
                          <a:ea typeface="Arial"/>
                          <a:cs typeface="Arial"/>
                        </a:rPr>
                        <a:t>2,495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償却済。客席什器</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4884">
                <a:tc>
                  <a:txBody>
                    <a:bodyPr wrap="square"/>
                    <a:lstStyle/>
                    <a:p>
                      <a:pPr algn="ctr">
                        <a:spcAft>
                          <a:spcPts val="0"/>
                        </a:spcAft>
                      </a:pPr>
                      <a:r>
                        <a:rPr sz="720" b="0">
                          <a:solidFill>
                            <a:srgbClr val="1A1A1A"/>
                          </a:solidFill>
                          <a:latin typeface="Arial"/>
                          <a:ea typeface="Arial"/>
                          <a:cs typeface="Arial"/>
                        </a:rPr>
                        <a:t>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ローバー車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車両運搬具</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2000年1月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20" b="0">
                          <a:solidFill>
                            <a:srgbClr val="1A1A1A"/>
                          </a:solidFill>
                          <a:latin typeface="游ゴシック"/>
                          <a:ea typeface="游ゴシック"/>
                          <a:cs typeface="游ゴシック"/>
                        </a:rPr>
                        <a:t>1台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Arial"/>
                          <a:ea typeface="Arial"/>
                          <a:cs typeface="Arial"/>
                        </a:rPr>
                        <a:t>3,802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償却済。事業供用の実態・時価は要確認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4884">
                <a:tc>
                  <a:txBody>
                    <a:bodyPr wrap="square"/>
                    <a:lstStyle/>
                    <a:p>
                      <a:pPr algn="ctr">
                        <a:spcAft>
                          <a:spcPts val="0"/>
                        </a:spcAft>
                      </a:pPr>
                      <a:r>
                        <a:rPr sz="720" b="0">
                          <a:solidFill>
                            <a:srgbClr val="1A1A1A"/>
                          </a:solidFill>
                          <a:latin typeface="Arial"/>
                          <a:ea typeface="Arial"/>
                          <a:cs typeface="Arial"/>
                        </a:rPr>
                        <a:t>13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シトロエン2ＣＶフォルゴネット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車両運搬具</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2018年9月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20" b="0">
                          <a:solidFill>
                            <a:srgbClr val="1A1A1A"/>
                          </a:solidFill>
                          <a:latin typeface="游ゴシック"/>
                          <a:ea typeface="游ゴシック"/>
                          <a:cs typeface="游ゴシック"/>
                        </a:rPr>
                        <a:t>1台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Arial"/>
                          <a:ea typeface="Arial"/>
                          <a:cs typeface="Arial"/>
                        </a:rPr>
                        <a:t>3,497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償却済。クラシックカーであり時価評価余地あり（要確認）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4884">
                <a:tc>
                  <a:txBody>
                    <a:bodyPr wrap="square"/>
                    <a:lstStyle/>
                    <a:p>
                      <a:pPr algn="ctr">
                        <a:spcAft>
                          <a:spcPts val="0"/>
                        </a:spcAft>
                      </a:pPr>
                      <a:r>
                        <a:rPr sz="720" b="0">
                          <a:solidFill>
                            <a:srgbClr val="1A1A1A"/>
                          </a:solidFill>
                          <a:latin typeface="Arial"/>
                          <a:ea typeface="Arial"/>
                          <a:cs typeface="Arial"/>
                        </a:rPr>
                        <a:t>14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そば打ち台（木製・大型）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什器</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20" b="0">
                          <a:solidFill>
                            <a:srgbClr val="1A1A1A"/>
                          </a:solidFill>
                          <a:latin typeface="游ゴシック"/>
                          <a:ea typeface="游ゴシック"/>
                          <a:cs typeface="游ゴシック"/>
                        </a:rPr>
                        <a:t>2台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現地実査。こね鉢（朱塗り）・そば包丁3丁・こま板・のし棒掛け・専用シンクを併</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4884">
                <a:tc>
                  <a:txBody>
                    <a:bodyPr wrap="square"/>
                    <a:lstStyle/>
                    <a:p>
                      <a:pPr algn="ctr">
                        <a:spcAft>
                          <a:spcPts val="0"/>
                        </a:spcAft>
                      </a:pPr>
                      <a:r>
                        <a:rPr sz="720" b="0">
                          <a:solidFill>
                            <a:srgbClr val="1A1A1A"/>
                          </a:solidFill>
                          <a:latin typeface="Arial"/>
                          <a:ea typeface="Arial"/>
                          <a:cs typeface="Arial"/>
                        </a:rPr>
                        <a:t>15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電動石臼製粉機（金属フレーム）</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機械及び装置</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20" b="0">
                          <a:solidFill>
                            <a:srgbClr val="1A1A1A"/>
                          </a:solidFill>
                          <a:latin typeface="游ゴシック"/>
                          <a:ea typeface="游ゴシック"/>
                          <a:cs typeface="游ゴシック"/>
                        </a:rPr>
                        <a:t>1台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現地実査。台帳の「小麦製粉機」等との対応関係は要確認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4884">
                <a:tc>
                  <a:txBody>
                    <a:bodyPr wrap="square"/>
                    <a:lstStyle/>
                    <a:p>
                      <a:pPr algn="ctr">
                        <a:spcAft>
                          <a:spcPts val="0"/>
                        </a:spcAft>
                      </a:pPr>
                      <a:r>
                        <a:rPr sz="720" b="0">
                          <a:solidFill>
                            <a:srgbClr val="1A1A1A"/>
                          </a:solidFill>
                          <a:latin typeface="Arial"/>
                          <a:ea typeface="Arial"/>
                          <a:cs typeface="Arial"/>
                        </a:rPr>
                        <a:t>16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木製石臼製粉機</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機械及び装置</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20" b="0">
                          <a:solidFill>
                            <a:srgbClr val="1A1A1A"/>
                          </a:solidFill>
                          <a:latin typeface="游ゴシック"/>
                          <a:ea typeface="游ゴシック"/>
                          <a:cs typeface="游ゴシック"/>
                        </a:rPr>
                        <a:t>1台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現地実査。木枠造作の自家仕様機。台帳との対応関係は要確認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4884">
                <a:tc>
                  <a:txBody>
                    <a:bodyPr wrap="square"/>
                    <a:lstStyle/>
                    <a:p>
                      <a:pPr algn="ctr">
                        <a:spcAft>
                          <a:spcPts val="0"/>
                        </a:spcAft>
                      </a:pPr>
                      <a:r>
                        <a:rPr sz="720" b="0">
                          <a:solidFill>
                            <a:srgbClr val="1A1A1A"/>
                          </a:solidFill>
                          <a:latin typeface="Arial"/>
                          <a:ea typeface="Arial"/>
                          <a:cs typeface="Arial"/>
                        </a:rPr>
                        <a:t>17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石板（大理石）作業台・ふるい・粉箱</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什器</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20" b="0">
                          <a:solidFill>
                            <a:srgbClr val="1A1A1A"/>
                          </a:solidFill>
                          <a:latin typeface="游ゴシック"/>
                          <a:ea typeface="游ゴシック"/>
                          <a:cs typeface="游ゴシック"/>
                        </a:rPr>
                        <a:t>一式</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現地実査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4884">
                <a:tc>
                  <a:txBody>
                    <a:bodyPr wrap="square"/>
                    <a:lstStyle/>
                    <a:p>
                      <a:pPr algn="ctr">
                        <a:spcAft>
                          <a:spcPts val="0"/>
                        </a:spcAft>
                      </a:pPr>
                      <a:r>
                        <a:rPr sz="720" b="0">
                          <a:solidFill>
                            <a:srgbClr val="1A1A1A"/>
                          </a:solidFill>
                          <a:latin typeface="Arial"/>
                          <a:ea typeface="Arial"/>
                          <a:cs typeface="Arial"/>
                        </a:rPr>
                        <a:t>18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玄そば定温保管庫（冷却ユニット付）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建物附属設備</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20" b="0">
                          <a:solidFill>
                            <a:srgbClr val="1A1A1A"/>
                          </a:solidFill>
                          <a:latin typeface="游ゴシック"/>
                          <a:ea typeface="游ゴシック"/>
                          <a:cs typeface="游ゴシック"/>
                        </a:rPr>
                        <a:t>1室</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現地実査。木造・断熱仕様。茨城県産玄そば／常陸秋そばを袋単位で保管</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4884">
                <a:tc>
                  <a:txBody>
                    <a:bodyPr wrap="square"/>
                    <a:lstStyle/>
                    <a:p>
                      <a:pPr algn="ctr">
                        <a:spcAft>
                          <a:spcPts val="0"/>
                        </a:spcAft>
                      </a:pPr>
                      <a:r>
                        <a:rPr sz="720" b="0">
                          <a:solidFill>
                            <a:srgbClr val="1A1A1A"/>
                          </a:solidFill>
                          <a:latin typeface="Arial"/>
                          <a:ea typeface="Arial"/>
                          <a:cs typeface="Arial"/>
                        </a:rPr>
                        <a:t>19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薪ストーブ（鋳物）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器具及び備品</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2022年6月・2024年12月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20" b="0">
                          <a:solidFill>
                            <a:srgbClr val="1A1A1A"/>
                          </a:solidFill>
                          <a:latin typeface="游ゴシック"/>
                          <a:ea typeface="游ゴシック"/>
                          <a:cs typeface="游ゴシック"/>
                        </a:rPr>
                        <a:t>2台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Arial"/>
                          <a:ea typeface="Arial"/>
                          <a:cs typeface="Arial"/>
                        </a:rPr>
                        <a:t>1,956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Arial"/>
                          <a:ea typeface="Arial"/>
                          <a:cs typeface="Arial"/>
                        </a:rPr>
                        <a:t>741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台帳の「ペレットストーブ」「ペレット薪ストーブHPS-110S型」に対応</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4884">
                <a:tc>
                  <a:txBody>
                    <a:bodyPr wrap="square"/>
                    <a:lstStyle/>
                    <a:p>
                      <a:pPr algn="ctr">
                        <a:spcAft>
                          <a:spcPts val="0"/>
                        </a:spcAft>
                      </a:pPr>
                      <a:r>
                        <a:rPr sz="720" b="0">
                          <a:solidFill>
                            <a:srgbClr val="1A1A1A"/>
                          </a:solidFill>
                          <a:latin typeface="Arial"/>
                          <a:ea typeface="Arial"/>
                          <a:cs typeface="Arial"/>
                        </a:rPr>
                        <a:t>20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座敷座卓・座布団・囲炉裏</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什器</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20" b="0">
                          <a:solidFill>
                            <a:srgbClr val="1A1A1A"/>
                          </a:solidFill>
                          <a:latin typeface="游ゴシック"/>
                          <a:ea typeface="游ゴシック"/>
                          <a:cs typeface="游ゴシック"/>
                        </a:rPr>
                        <a:t>座卓6卓程度</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20"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20" b="0">
                          <a:solidFill>
                            <a:srgbClr val="1A1A1A"/>
                          </a:solidFill>
                          <a:latin typeface="游ゴシック"/>
                          <a:ea typeface="游ゴシック"/>
                          <a:cs typeface="游ゴシック"/>
                        </a:rPr>
                        <a:t>現地実査。畳敷の座敷に囲炉裏を設置</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5" name="TextBox 14"/>
          <p:cNvSpPr txBox="1"/>
          <p:nvPr/>
        </p:nvSpPr>
        <p:spPr>
          <a:xfrm>
            <a:off x="310896" y="6272784"/>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単位：千円。No.1〜15は2026年5月期 固定資産減価償却内訳明細書からの抜粋、No.16〜22は現地実査により把握した資産です。</a:t>
            </a:r>
          </a:p>
          <a:p>
            <a:pPr algn="l">
              <a:lnSpc>
                <a:spcPct val="112000"/>
              </a:lnSpc>
              <a:spcAft>
                <a:spcPts val="100"/>
              </a:spcAft>
            </a:pPr>
            <a:r>
              <a:rPr sz="750" b="0">
                <a:solidFill>
                  <a:srgbClr val="5A6670"/>
                </a:solidFill>
                <a:latin typeface="游ゴシック"/>
                <a:ea typeface="游ゴシック"/>
                <a:cs typeface="游ゴシック"/>
              </a:rPr>
              <a:t>※ 後者は固定資産台帳との対応関係が未整理であり、取得年月・取得価額は要確認です。固定資産全体の取得価額合計は180,709千円、期末簿価合計は45,716千円です。</a:t>
            </a:r>
          </a:p>
        </p:txBody>
      </p:sp>
    </p:spTree>
    <p:extLst>
      <p:ext uri="{BB962C8B-B14F-4D97-AF65-F5344CB8AC3E}">
        <p14:creationId xmlns:p14="http://schemas.microsoft.com/office/powerpoint/2010/main" val="9155409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7F8BB-F852-9D0D-47DC-B75AAADC3F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2D80B5D-88ED-D63E-E6F8-E5830356F6CE}"/>
              </a:ext>
            </a:extLst>
          </p:cNvPr>
          <p:cNvSpPr>
            <a:spLocks noGrp="1"/>
          </p:cNvSpPr>
          <p:nvPr>
            <p:ph type="title"/>
          </p:nvPr>
        </p:nvSpPr>
        <p:spPr>
          <a:xfrm>
            <a:off x="989013" y="3656161"/>
            <a:ext cx="9221787" cy="615553"/>
          </a:xfrm>
        </p:spPr>
        <p:txBody>
          <a:bodyPr/>
          <a:lstStyle/>
          <a:p>
            <a:r>
              <a:rPr lang="ja-JP" altLang="en-US" dirty="0">
                <a:solidFill/>
              </a:rPr>
              <a:t>財務情報詳細</a:t>
            </a:r>
            <a:endParaRPr lang="en-US" altLang="ja-JP" dirty="0"/>
          </a:p>
        </p:txBody>
      </p:sp>
    </p:spTree>
    <p:extLst>
      <p:ext uri="{BB962C8B-B14F-4D97-AF65-F5344CB8AC3E}">
        <p14:creationId xmlns:p14="http://schemas.microsoft.com/office/powerpoint/2010/main" val="15844496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B347B-E74F-2AA1-D695-C8F2C57E0D27}"/>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AB158FB-2AD5-0994-A1DD-08907F35E57B}"/>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貸借対照表</a:t>
            </a:r>
          </a:p>
        </p:txBody>
      </p:sp>
      <p:sp>
        <p:nvSpPr>
          <p:cNvPr id="5" name="タイトル 1">
            <a:extLst>
              <a:ext uri="{FF2B5EF4-FFF2-40B4-BE49-F238E27FC236}">
                <a16:creationId xmlns:a16="http://schemas.microsoft.com/office/drawing/2014/main" id="{CB37C797-A02B-4ADD-85CA-EEB0AC88114E}"/>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a:latin typeface="游ゴシック"/>
                <a:ea typeface="游ゴシック"/>
                <a:cs typeface="游ゴシック"/>
              </a:rPr>
              <a:t>財務情報詳細</a:t>
            </a:r>
          </a:p>
        </p:txBody>
      </p:sp>
      <p:sp>
        <p:nvSpPr>
          <p:cNvPr id="4" name="字幕 13">
            <a:extLst>
              <a:ext uri="{FF2B5EF4-FFF2-40B4-BE49-F238E27FC236}">
                <a16:creationId xmlns:a16="http://schemas.microsoft.com/office/drawing/2014/main" id="{9FB86E35-A8A4-6E80-826F-9FF288E82A13}"/>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総資産は減価償却の進行により毎期減少。役員借入を3期で12,451千円返済し、純資産は23,658千円を維持</a:t>
            </a:r>
            <a:endParaRPr lang="en-US" altLang="ja-JP" dirty="0"/>
          </a:p>
        </p:txBody>
      </p:sp>
      <p:graphicFrame>
        <p:nvGraphicFramePr>
          <p:cNvPr id="14" name="Table 13"/>
          <p:cNvGraphicFramePr>
            <a:graphicFrameLocks noGrp="1"/>
          </p:cNvGraphicFramePr>
          <p:nvPr/>
        </p:nvGraphicFramePr>
        <p:xfrm>
          <a:off x="310896" y="1408176"/>
          <a:ext cx="4846316" cy="4165092"/>
        </p:xfrm>
        <a:graphic>
          <a:graphicData uri="http://schemas.openxmlformats.org/drawingml/2006/table">
            <a:tbl>
              <a:tblPr firstRow="0" bandRow="0">
                <a:tableStyleId>{5940675A-B579-460E-94D1-54222C63F5DA}</a:tableStyleId>
              </a:tblPr>
              <a:tblGrid>
                <a:gridCol w="1993391"/>
                <a:gridCol w="950975"/>
                <a:gridCol w="950975"/>
                <a:gridCol w="950975"/>
              </a:tblGrid>
              <a:tr h="228600">
                <a:tc>
                  <a:txBody>
                    <a:bodyPr wrap="square"/>
                    <a:lstStyle/>
                    <a:p>
                      <a:pPr algn="ctr">
                        <a:spcAft>
                          <a:spcPts val="0"/>
                        </a:spcAft>
                      </a:pPr>
                      <a:r>
                        <a:rPr sz="790" b="1">
                          <a:solidFill>
                            <a:srgbClr val="FFFFFF"/>
                          </a:solidFill>
                          <a:latin typeface="游ゴシック"/>
                          <a:ea typeface="游ゴシック"/>
                          <a:cs typeface="游ゴシック"/>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90" b="1">
                          <a:solidFill>
                            <a:srgbClr val="FFFFFF"/>
                          </a:solidFill>
                          <a:latin typeface="Arial"/>
                          <a:ea typeface="Arial"/>
                          <a:cs typeface="Arial"/>
                        </a:rPr>
                        <a:t>2024/5期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90" b="1">
                          <a:solidFill>
                            <a:srgbClr val="FFFFFF"/>
                          </a:solidFill>
                          <a:latin typeface="Arial"/>
                          <a:ea typeface="Arial"/>
                          <a:cs typeface="Arial"/>
                        </a:rPr>
                        <a:t>2025/5期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90" b="1">
                          <a:solidFill>
                            <a:srgbClr val="FFFFFF"/>
                          </a:solidFill>
                          <a:latin typeface="Arial"/>
                          <a:ea typeface="Arial"/>
                          <a:cs typeface="Arial"/>
                        </a:rPr>
                        <a:t>2026/5期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90" b="1">
                          <a:solidFill>
                            <a:srgbClr val="1A1A1A"/>
                          </a:solidFill>
                          <a:latin typeface="游ゴシック"/>
                          <a:ea typeface="游ゴシック"/>
                          <a:cs typeface="游ゴシック"/>
                        </a:rPr>
                        <a:t>【流動資産】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7,856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6,901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6,989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90" b="0">
                          <a:solidFill>
                            <a:srgbClr val="1A1A1A"/>
                          </a:solidFill>
                          <a:latin typeface="游ゴシック"/>
                          <a:ea typeface="游ゴシック"/>
                          <a:cs typeface="游ゴシック"/>
                        </a:rPr>
                        <a:t>　現金及び預金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2,107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1,064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1,066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90" b="0">
                          <a:solidFill>
                            <a:srgbClr val="1A1A1A"/>
                          </a:solidFill>
                          <a:latin typeface="游ゴシック"/>
                          <a:ea typeface="游ゴシック"/>
                          <a:cs typeface="游ゴシック"/>
                        </a:rPr>
                        <a:t>　棚卸資産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3,518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3,024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2,354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90" b="0">
                          <a:solidFill>
                            <a:srgbClr val="1A1A1A"/>
                          </a:solidFill>
                          <a:latin typeface="游ゴシック"/>
                          <a:ea typeface="游ゴシック"/>
                          <a:cs typeface="游ゴシック"/>
                        </a:rPr>
                        <a:t>　前払費用</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77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77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77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90" b="0">
                          <a:solidFill>
                            <a:srgbClr val="1A1A1A"/>
                          </a:solidFill>
                          <a:latin typeface="游ゴシック"/>
                          <a:ea typeface="游ゴシック"/>
                          <a:cs typeface="游ゴシック"/>
                        </a:rPr>
                        <a:t>　未収入金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2,152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2,737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3,323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90" b="0">
                          <a:solidFill>
                            <a:srgbClr val="1A1A1A"/>
                          </a:solidFill>
                          <a:latin typeface="游ゴシック"/>
                          <a:ea typeface="游ゴシック"/>
                          <a:cs typeface="游ゴシック"/>
                        </a:rPr>
                        <a:t>　未収還付法人税等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9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170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90" b="1">
                          <a:solidFill>
                            <a:srgbClr val="1A1A1A"/>
                          </a:solidFill>
                          <a:latin typeface="游ゴシック"/>
                          <a:ea typeface="游ゴシック"/>
                          <a:cs typeface="游ゴシック"/>
                        </a:rPr>
                        <a:t>【固定資産】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61,457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57,353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50,341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90" b="1">
                          <a:solidFill>
                            <a:srgbClr val="1A1A1A"/>
                          </a:solidFill>
                          <a:latin typeface="游ゴシック"/>
                          <a:ea typeface="游ゴシック"/>
                          <a:cs typeface="游ゴシック"/>
                        </a:rPr>
                        <a:t>［有形固定資産］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61,382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56,178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49,166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90" b="0">
                          <a:solidFill>
                            <a:srgbClr val="1A1A1A"/>
                          </a:solidFill>
                          <a:latin typeface="游ゴシック"/>
                          <a:ea typeface="游ゴシック"/>
                          <a:cs typeface="游ゴシック"/>
                        </a:rPr>
                        <a:t>　建物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51,246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45,201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39,249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90" b="0">
                          <a:solidFill>
                            <a:srgbClr val="1A1A1A"/>
                          </a:solidFill>
                          <a:latin typeface="游ゴシック"/>
                          <a:ea typeface="游ゴシック"/>
                          <a:cs typeface="游ゴシック"/>
                        </a:rPr>
                        <a:t>　構築物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77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59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43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90" b="0">
                          <a:solidFill>
                            <a:srgbClr val="1A1A1A"/>
                          </a:solidFill>
                          <a:latin typeface="游ゴシック"/>
                          <a:ea typeface="游ゴシック"/>
                          <a:cs typeface="游ゴシック"/>
                        </a:rPr>
                        <a:t>　機械及び装置</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3,456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4,409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4,219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90" b="0">
                          <a:solidFill>
                            <a:srgbClr val="1A1A1A"/>
                          </a:solidFill>
                          <a:latin typeface="游ゴシック"/>
                          <a:ea typeface="游ゴシック"/>
                          <a:cs typeface="游ゴシック"/>
                        </a:rPr>
                        <a:t>　車両運搬具</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258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90" b="0">
                          <a:solidFill>
                            <a:srgbClr val="1A1A1A"/>
                          </a:solidFill>
                          <a:latin typeface="游ゴシック"/>
                          <a:ea typeface="游ゴシック"/>
                          <a:cs typeface="游ゴシック"/>
                        </a:rPr>
                        <a:t>　工具、器具及び備品</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1,838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2,266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1,677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90" b="0">
                          <a:solidFill>
                            <a:srgbClr val="1A1A1A"/>
                          </a:solidFill>
                          <a:latin typeface="游ゴシック"/>
                          <a:ea typeface="游ゴシック"/>
                          <a:cs typeface="游ゴシック"/>
                        </a:rPr>
                        <a:t>　土地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3,450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3,450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3,450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90" b="0">
                          <a:solidFill>
                            <a:srgbClr val="1A1A1A"/>
                          </a:solidFill>
                          <a:latin typeface="游ゴシック"/>
                          <a:ea typeface="游ゴシック"/>
                          <a:cs typeface="游ゴシック"/>
                        </a:rPr>
                        <a:t>　リース資産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1,056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792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528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90" b="1">
                          <a:solidFill>
                            <a:srgbClr val="1A1A1A"/>
                          </a:solidFill>
                          <a:latin typeface="游ゴシック"/>
                          <a:ea typeface="游ゴシック"/>
                          <a:cs typeface="游ゴシック"/>
                        </a:rPr>
                        <a:t>［無形固定資産］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90" b="0">
                          <a:solidFill>
                            <a:srgbClr val="1A1A1A"/>
                          </a:solidFill>
                          <a:latin typeface="游ゴシック"/>
                          <a:ea typeface="游ゴシック"/>
                          <a:cs typeface="游ゴシック"/>
                        </a:rPr>
                        <a:t>　ソフトウェア</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9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90" b="0">
                          <a:solidFill>
                            <a:srgbClr val="1A1A1A"/>
                          </a:solidFill>
                          <a:latin typeface="游ゴシック"/>
                          <a:ea typeface="游ゴシック"/>
                          <a:cs typeface="游ゴシック"/>
                        </a:rPr>
                        <a:t>　電話加入権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75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90" b="1">
                          <a:solidFill>
                            <a:srgbClr val="1A1A1A"/>
                          </a:solidFill>
                          <a:latin typeface="游ゴシック"/>
                          <a:ea typeface="游ゴシック"/>
                          <a:cs typeface="游ゴシック"/>
                        </a:rPr>
                        <a:t>［投資その他の資産］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1,100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1,100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90" b="0">
                          <a:solidFill>
                            <a:srgbClr val="1A1A1A"/>
                          </a:solidFill>
                          <a:latin typeface="游ゴシック"/>
                          <a:ea typeface="游ゴシック"/>
                          <a:cs typeface="游ゴシック"/>
                        </a:rPr>
                        <a:t>　出資金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79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1,100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1,100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90" b="1">
                          <a:solidFill>
                            <a:srgbClr val="1A1A1A"/>
                          </a:solidFill>
                          <a:latin typeface="游ゴシック"/>
                          <a:ea typeface="游ゴシック"/>
                          <a:cs typeface="游ゴシック"/>
                        </a:rPr>
                        <a:t>資産合計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69,313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64,254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57,330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graphicFrame>
        <p:nvGraphicFramePr>
          <p:cNvPr id="15" name="Table 14"/>
          <p:cNvGraphicFramePr>
            <a:graphicFrameLocks noGrp="1"/>
          </p:cNvGraphicFramePr>
          <p:nvPr/>
        </p:nvGraphicFramePr>
        <p:xfrm>
          <a:off x="5376672" y="1408176"/>
          <a:ext cx="5001764" cy="2665476"/>
        </p:xfrm>
        <a:graphic>
          <a:graphicData uri="http://schemas.openxmlformats.org/drawingml/2006/table">
            <a:tbl>
              <a:tblPr firstRow="0" bandRow="0">
                <a:tableStyleId>{5940675A-B579-460E-94D1-54222C63F5DA}</a:tableStyleId>
              </a:tblPr>
              <a:tblGrid>
                <a:gridCol w="2148839"/>
                <a:gridCol w="950975"/>
                <a:gridCol w="950975"/>
                <a:gridCol w="950975"/>
              </a:tblGrid>
              <a:tr h="228600">
                <a:tc>
                  <a:txBody>
                    <a:bodyPr wrap="square"/>
                    <a:lstStyle/>
                    <a:p>
                      <a:pPr algn="ctr">
                        <a:spcAft>
                          <a:spcPts val="0"/>
                        </a:spcAft>
                      </a:pPr>
                      <a:r>
                        <a:rPr sz="790" b="1">
                          <a:solidFill>
                            <a:srgbClr val="FFFFFF"/>
                          </a:solidFill>
                          <a:latin typeface="游ゴシック"/>
                          <a:ea typeface="游ゴシック"/>
                          <a:cs typeface="游ゴシック"/>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90" b="1">
                          <a:solidFill>
                            <a:srgbClr val="FFFFFF"/>
                          </a:solidFill>
                          <a:latin typeface="Arial"/>
                          <a:ea typeface="Arial"/>
                          <a:cs typeface="Arial"/>
                        </a:rPr>
                        <a:t>2024/5期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90" b="1">
                          <a:solidFill>
                            <a:srgbClr val="FFFFFF"/>
                          </a:solidFill>
                          <a:latin typeface="Arial"/>
                          <a:ea typeface="Arial"/>
                          <a:cs typeface="Arial"/>
                        </a:rPr>
                        <a:t>2025/5期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790" b="1">
                          <a:solidFill>
                            <a:srgbClr val="FFFFFF"/>
                          </a:solidFill>
                          <a:latin typeface="Arial"/>
                          <a:ea typeface="Arial"/>
                          <a:cs typeface="Arial"/>
                        </a:rPr>
                        <a:t>2026/5期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90" b="1">
                          <a:solidFill>
                            <a:srgbClr val="1A1A1A"/>
                          </a:solidFill>
                          <a:latin typeface="游ゴシック"/>
                          <a:ea typeface="游ゴシック"/>
                          <a:cs typeface="游ゴシック"/>
                        </a:rPr>
                        <a:t>【流動負債】</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1,487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1,546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929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90" b="0">
                          <a:solidFill>
                            <a:srgbClr val="1A1A1A"/>
                          </a:solidFill>
                          <a:latin typeface="游ゴシック"/>
                          <a:ea typeface="游ゴシック"/>
                          <a:cs typeface="游ゴシック"/>
                        </a:rPr>
                        <a:t>　未払金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1,078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814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550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90" b="0">
                          <a:solidFill>
                            <a:srgbClr val="1A1A1A"/>
                          </a:solidFill>
                          <a:latin typeface="游ゴシック"/>
                          <a:ea typeface="游ゴシック"/>
                          <a:cs typeface="游ゴシック"/>
                        </a:rPr>
                        <a:t>　未払法人税等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73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412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36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90" b="0">
                          <a:solidFill>
                            <a:srgbClr val="1A1A1A"/>
                          </a:solidFill>
                          <a:latin typeface="游ゴシック"/>
                          <a:ea typeface="游ゴシック"/>
                          <a:cs typeface="游ゴシック"/>
                        </a:rPr>
                        <a:t>　未払消費税等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336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320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343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90" b="1">
                          <a:solidFill>
                            <a:srgbClr val="1A1A1A"/>
                          </a:solidFill>
                          <a:latin typeface="游ゴシック"/>
                          <a:ea typeface="游ゴシック"/>
                          <a:cs typeface="游ゴシック"/>
                        </a:rPr>
                        <a:t>【固定負債】</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45,195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38,997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32,744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90" b="0">
                          <a:solidFill>
                            <a:srgbClr val="1A1A1A"/>
                          </a:solidFill>
                          <a:latin typeface="游ゴシック"/>
                          <a:ea typeface="游ゴシック"/>
                          <a:cs typeface="游ゴシック"/>
                        </a:rPr>
                        <a:t>　長期借入金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45,195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38,997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32,744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90" b="1">
                          <a:solidFill>
                            <a:srgbClr val="1A1A1A"/>
                          </a:solidFill>
                          <a:latin typeface="游ゴシック"/>
                          <a:ea typeface="游ゴシック"/>
                          <a:cs typeface="游ゴシック"/>
                        </a:rPr>
                        <a:t>負債合計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46,682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40,542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33,673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90" b="1">
                          <a:solidFill>
                            <a:srgbClr val="1A1A1A"/>
                          </a:solidFill>
                          <a:latin typeface="游ゴシック"/>
                          <a:ea typeface="游ゴシック"/>
                          <a:cs typeface="游ゴシック"/>
                        </a:rPr>
                        <a:t>【資本金】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10,000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10,000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10,000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90" b="0">
                          <a:solidFill>
                            <a:srgbClr val="1A1A1A"/>
                          </a:solidFill>
                          <a:latin typeface="游ゴシック"/>
                          <a:ea typeface="游ゴシック"/>
                          <a:cs typeface="游ゴシック"/>
                        </a:rPr>
                        <a:t>　資本金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10,000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10,000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10,000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90" b="1">
                          <a:solidFill>
                            <a:srgbClr val="1A1A1A"/>
                          </a:solidFill>
                          <a:latin typeface="游ゴシック"/>
                          <a:ea typeface="游ゴシック"/>
                          <a:cs typeface="游ゴシック"/>
                        </a:rPr>
                        <a:t>【利益剰余金】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12,631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13,712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13,658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90" b="0">
                          <a:solidFill>
                            <a:srgbClr val="1A1A1A"/>
                          </a:solidFill>
                          <a:latin typeface="游ゴシック"/>
                          <a:ea typeface="游ゴシック"/>
                          <a:cs typeface="游ゴシック"/>
                        </a:rPr>
                        <a:t>　繰越利益剰余金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12,631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13,712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0">
                          <a:solidFill>
                            <a:srgbClr val="1A1A1A"/>
                          </a:solidFill>
                          <a:latin typeface="Arial"/>
                          <a:ea typeface="Arial"/>
                          <a:cs typeface="Arial"/>
                        </a:rPr>
                        <a:t>13,658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90" b="1">
                          <a:solidFill>
                            <a:srgbClr val="1A1A1A"/>
                          </a:solidFill>
                          <a:latin typeface="游ゴシック"/>
                          <a:ea typeface="游ゴシック"/>
                          <a:cs typeface="游ゴシック"/>
                        </a:rPr>
                        <a:t>純資産合計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22,631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23,712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23,658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187452">
                <a:tc>
                  <a:txBody>
                    <a:bodyPr wrap="square"/>
                    <a:lstStyle/>
                    <a:p>
                      <a:pPr algn="l">
                        <a:spcAft>
                          <a:spcPts val="0"/>
                        </a:spcAft>
                      </a:pPr>
                      <a:r>
                        <a:rPr sz="790" b="1">
                          <a:solidFill>
                            <a:srgbClr val="1A1A1A"/>
                          </a:solidFill>
                          <a:latin typeface="游ゴシック"/>
                          <a:ea typeface="游ゴシック"/>
                          <a:cs typeface="游ゴシック"/>
                        </a:rPr>
                        <a:t>負債・純資産合計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69,313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64,254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790" b="1">
                          <a:solidFill>
                            <a:srgbClr val="1A1A1A"/>
                          </a:solidFill>
                          <a:latin typeface="Arial"/>
                          <a:ea typeface="Arial"/>
                          <a:cs typeface="Arial"/>
                        </a:rPr>
                        <a:t>57,330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6" name="Rectangle 15"/>
          <p:cNvSpPr/>
          <p:nvPr/>
        </p:nvSpPr>
        <p:spPr>
          <a:xfrm>
            <a:off x="5376672" y="4315968"/>
            <a:ext cx="5001768" cy="2267712"/>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468112" y="4389120"/>
            <a:ext cx="4818888" cy="274320"/>
          </a:xfrm>
          <a:prstGeom prst="rect">
            <a:avLst/>
          </a:prstGeom>
          <a:noFill/>
        </p:spPr>
        <p:txBody>
          <a:bodyPr wrap="square" lIns="0" rIns="0" t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18" name="TextBox 17"/>
          <p:cNvSpPr txBox="1"/>
          <p:nvPr/>
        </p:nvSpPr>
        <p:spPr>
          <a:xfrm>
            <a:off x="5486400" y="4736592"/>
            <a:ext cx="4782312" cy="1755648"/>
          </a:xfrm>
          <a:prstGeom prst="rect">
            <a:avLst/>
          </a:prstGeom>
          <a:noFill/>
        </p:spPr>
        <p:txBody>
          <a:bodyPr wrap="square" lIns="0" rIns="0" tIns="0" bIns="0" anchor="t">
            <a:spAutoFit/>
          </a:bodyPr>
          <a:lstStyle/>
          <a:p>
            <a:pPr algn="l">
              <a:lnSpc>
                <a:spcPct val="114000"/>
              </a:lnSpc>
              <a:spcAft>
                <a:spcPts val="200"/>
              </a:spcAft>
            </a:pPr>
            <a:r>
              <a:rPr sz="800" b="1">
                <a:solidFill>
                  <a:srgbClr val="0889C9"/>
                </a:solidFill>
                <a:latin typeface="游ゴシック"/>
                <a:ea typeface="游ゴシック"/>
                <a:cs typeface="游ゴシック"/>
              </a:rPr>
              <a:t>≪総資産≫ </a:t>
            </a:r>
            <a:r>
              <a:rPr sz="800" b="0">
                <a:solidFill>
                  <a:srgbClr val="1A1A1A"/>
                </a:solidFill>
                <a:latin typeface="游ゴシック"/>
                <a:ea typeface="游ゴシック"/>
                <a:cs typeface="游ゴシック"/>
              </a:rPr>
              <a:t>69,313→64,254→57,330千円。減価償却の進行により毎期減少し、建物は51,246→39,249千円（3期で△11,997千円）。</a:t>
            </a:r>
          </a:p>
          <a:p>
            <a:pPr algn="l">
              <a:spcAft>
                <a:spcPts val="200"/>
              </a:spcAft>
            </a:pPr>
          </a:p>
          <a:p>
            <a:pPr algn="l">
              <a:lnSpc>
                <a:spcPct val="114000"/>
              </a:lnSpc>
              <a:spcAft>
                <a:spcPts val="200"/>
              </a:spcAft>
            </a:pPr>
            <a:r>
              <a:rPr sz="800" b="1">
                <a:solidFill>
                  <a:srgbClr val="0889C9"/>
                </a:solidFill>
                <a:latin typeface="游ゴシック"/>
                <a:ea typeface="游ゴシック"/>
                <a:cs typeface="游ゴシック"/>
              </a:rPr>
              <a:t>≪長期借入金≫ </a:t>
            </a:r>
            <a:r>
              <a:rPr sz="800" b="0">
                <a:solidFill>
                  <a:srgbClr val="1A1A1A"/>
                </a:solidFill>
                <a:latin typeface="游ゴシック"/>
                <a:ea typeface="游ゴシック"/>
                <a:cs typeface="游ゴシック"/>
              </a:rPr>
              <a:t>45,195→38,997→32,744千円と3期で12,451千円を返済。全額が代表者・配偶者からの無利息借入で、金融機関借入・連帯保証はない。</a:t>
            </a:r>
          </a:p>
          <a:p>
            <a:pPr algn="l">
              <a:spcAft>
                <a:spcPts val="200"/>
              </a:spcAft>
            </a:pPr>
          </a:p>
          <a:p>
            <a:pPr algn="l">
              <a:lnSpc>
                <a:spcPct val="114000"/>
              </a:lnSpc>
              <a:spcAft>
                <a:spcPts val="200"/>
              </a:spcAft>
            </a:pPr>
            <a:r>
              <a:rPr sz="800" b="1">
                <a:solidFill>
                  <a:srgbClr val="0889C9"/>
                </a:solidFill>
                <a:latin typeface="游ゴシック"/>
                <a:ea typeface="游ゴシック"/>
                <a:cs typeface="游ゴシック"/>
              </a:rPr>
              <a:t>≪未収入金≫ </a:t>
            </a:r>
            <a:r>
              <a:rPr sz="800" b="0">
                <a:solidFill>
                  <a:srgbClr val="1A1A1A"/>
                </a:solidFill>
                <a:latin typeface="游ゴシック"/>
                <a:ea typeface="游ゴシック"/>
                <a:cs typeface="游ゴシック"/>
              </a:rPr>
              <a:t>2,152→2,737→3,323千円と3期連続で増加。関係先向けの債権であり回収条件・回収可能性は要確認。</a:t>
            </a:r>
          </a:p>
          <a:p>
            <a:pPr algn="l">
              <a:spcAft>
                <a:spcPts val="200"/>
              </a:spcAft>
            </a:pPr>
          </a:p>
          <a:p>
            <a:pPr algn="l">
              <a:lnSpc>
                <a:spcPct val="114000"/>
              </a:lnSpc>
              <a:spcAft>
                <a:spcPts val="200"/>
              </a:spcAft>
            </a:pPr>
            <a:r>
              <a:rPr sz="800" b="1">
                <a:solidFill>
                  <a:srgbClr val="0889C9"/>
                </a:solidFill>
                <a:latin typeface="游ゴシック"/>
                <a:ea typeface="游ゴシック"/>
                <a:cs typeface="游ゴシック"/>
              </a:rPr>
              <a:t>≪純資産≫ </a:t>
            </a:r>
            <a:r>
              <a:rPr sz="800" b="0">
                <a:solidFill>
                  <a:srgbClr val="1A1A1A"/>
                </a:solidFill>
                <a:latin typeface="游ゴシック"/>
                <a:ea typeface="游ゴシック"/>
                <a:cs typeface="游ゴシック"/>
              </a:rPr>
              <a:t>22,631→23,712→23,658千円とほぼ横ばい。2026/5期は当期純損失△54千円により微減。</a:t>
            </a:r>
          </a:p>
        </p:txBody>
      </p:sp>
      <p:sp>
        <p:nvSpPr>
          <p:cNvPr id="19" name="TextBox 18"/>
          <p:cNvSpPr txBox="1"/>
          <p:nvPr/>
        </p:nvSpPr>
        <p:spPr>
          <a:xfrm>
            <a:off x="310896" y="6675120"/>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決算書（2024年5月期〜2026年5月期）に基づく。千円未満の端数処理により合計が一致しない場合がある。</a:t>
            </a:r>
          </a:p>
          <a:p>
            <a:pPr algn="l">
              <a:lnSpc>
                <a:spcPct val="112000"/>
              </a:lnSpc>
              <a:spcAft>
                <a:spcPts val="100"/>
              </a:spcAft>
            </a:pPr>
            <a:r>
              <a:rPr sz="750" b="0">
                <a:solidFill>
                  <a:srgbClr val="5A6670"/>
                </a:solidFill>
                <a:latin typeface="游ゴシック"/>
                <a:ea typeface="游ゴシック"/>
                <a:cs typeface="游ゴシック"/>
              </a:rPr>
              <a:t>※ 時価修正の着眼点：①土地3,450千円の時価評価、②車両2台（簿価1円のクラシックカー）の時価、③出資金1,100千円（関係会社）の評価、④未収入金の回収可能性、⑤商標権（簿価ゼロ）のブランド価値。いずれも未検証であり、時価純資産の算定は未了です。</a:t>
            </a:r>
          </a:p>
        </p:txBody>
      </p:sp>
    </p:spTree>
    <p:extLst>
      <p:ext uri="{BB962C8B-B14F-4D97-AF65-F5344CB8AC3E}">
        <p14:creationId xmlns:p14="http://schemas.microsoft.com/office/powerpoint/2010/main" val="28778819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83D88-B54F-0820-A617-759035C5FFC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2C2D39CC-0147-8513-46F0-368EBE22D97C}"/>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損益計算書</a:t>
            </a:r>
          </a:p>
        </p:txBody>
      </p:sp>
      <p:sp>
        <p:nvSpPr>
          <p:cNvPr id="5" name="タイトル 1">
            <a:extLst>
              <a:ext uri="{FF2B5EF4-FFF2-40B4-BE49-F238E27FC236}">
                <a16:creationId xmlns:a16="http://schemas.microsoft.com/office/drawing/2014/main" id="{B1382B80-EF7F-718A-0685-302C41A8531B}"/>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a:latin typeface="游ゴシック"/>
                <a:ea typeface="游ゴシック"/>
                <a:cs typeface="游ゴシック"/>
              </a:rPr>
              <a:t>財務情報詳細</a:t>
            </a:r>
          </a:p>
        </p:txBody>
      </p:sp>
      <p:sp>
        <p:nvSpPr>
          <p:cNvPr id="4" name="字幕 13">
            <a:extLst>
              <a:ext uri="{FF2B5EF4-FFF2-40B4-BE49-F238E27FC236}">
                <a16:creationId xmlns:a16="http://schemas.microsoft.com/office/drawing/2014/main" id="{C391002A-F61E-39B7-D75D-796D17928C17}"/>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売上高・粗利ともに減少。販管費6,267千円は3期横ばいであり、営業損益の悪化は粗利の減少による</a:t>
            </a:r>
            <a:endParaRPr lang="en-US" altLang="ja-JP" dirty="0"/>
          </a:p>
        </p:txBody>
      </p:sp>
      <p:graphicFrame>
        <p:nvGraphicFramePr>
          <p:cNvPr id="14" name="Table 13"/>
          <p:cNvGraphicFramePr>
            <a:graphicFrameLocks noGrp="1"/>
          </p:cNvGraphicFramePr>
          <p:nvPr/>
        </p:nvGraphicFramePr>
        <p:xfrm>
          <a:off x="310896" y="1408176"/>
          <a:ext cx="6583677" cy="4904824"/>
        </p:xfrm>
        <a:graphic>
          <a:graphicData uri="http://schemas.openxmlformats.org/drawingml/2006/table">
            <a:tbl>
              <a:tblPr firstRow="0" bandRow="0">
                <a:tableStyleId>{5940675A-B579-460E-94D1-54222C63F5DA}</a:tableStyleId>
              </a:tblPr>
              <a:tblGrid>
                <a:gridCol w="2113707"/>
                <a:gridCol w="866273"/>
                <a:gridCol w="623717"/>
                <a:gridCol w="866273"/>
                <a:gridCol w="623717"/>
                <a:gridCol w="866273"/>
                <a:gridCol w="623717"/>
              </a:tblGrid>
              <a:tr h="237744">
                <a:tc>
                  <a:txBody>
                    <a:bodyPr wrap="square"/>
                    <a:lstStyle/>
                    <a:p>
                      <a:pPr algn="ctr">
                        <a:spcAft>
                          <a:spcPts val="0"/>
                        </a:spcAft>
                      </a:pPr>
                      <a:r>
                        <a:rPr sz="800" b="1">
                          <a:solidFill>
                            <a:srgbClr val="FFFFFF"/>
                          </a:solidFill>
                          <a:latin typeface="游ゴシック"/>
                          <a:ea typeface="游ゴシック"/>
                          <a:cs typeface="游ゴシック"/>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2024/5期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構成比</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2025/5期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構成比</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2026/5期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構成比</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2140">
                <a:tc>
                  <a:txBody>
                    <a:bodyPr wrap="square"/>
                    <a:lstStyle/>
                    <a:p>
                      <a:pPr algn="l">
                        <a:spcAft>
                          <a:spcPts val="0"/>
                        </a:spcAft>
                      </a:pPr>
                      <a:r>
                        <a:rPr sz="800" b="0">
                          <a:solidFill>
                            <a:srgbClr val="1A1A1A"/>
                          </a:solidFill>
                          <a:latin typeface="游ゴシック"/>
                          <a:ea typeface="游ゴシック"/>
                          <a:cs typeface="游ゴシック"/>
                        </a:rPr>
                        <a:t>そば売上高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1,928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7.9%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1,592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6.8%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1,949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8.7%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2140">
                <a:tc>
                  <a:txBody>
                    <a:bodyPr wrap="square"/>
                    <a:lstStyle/>
                    <a:p>
                      <a:pPr algn="l">
                        <a:spcAft>
                          <a:spcPts val="0"/>
                        </a:spcAft>
                      </a:pPr>
                      <a:r>
                        <a:rPr sz="800" b="0">
                          <a:solidFill>
                            <a:srgbClr val="1A1A1A"/>
                          </a:solidFill>
                          <a:latin typeface="游ゴシック"/>
                          <a:ea typeface="游ゴシック"/>
                          <a:cs typeface="游ゴシック"/>
                        </a:rPr>
                        <a:t>小麦等売上高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2,131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8.7%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1,919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8.2%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2,273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10.1%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2140">
                <a:tc>
                  <a:txBody>
                    <a:bodyPr wrap="square"/>
                    <a:lstStyle/>
                    <a:p>
                      <a:pPr algn="l">
                        <a:spcAft>
                          <a:spcPts val="0"/>
                        </a:spcAft>
                      </a:pPr>
                      <a:r>
                        <a:rPr sz="800" b="0">
                          <a:solidFill>
                            <a:srgbClr val="1A1A1A"/>
                          </a:solidFill>
                          <a:latin typeface="游ゴシック"/>
                          <a:ea typeface="游ゴシック"/>
                          <a:cs typeface="游ゴシック"/>
                        </a:rPr>
                        <a:t>商品売上高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1,141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4.7%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1,012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4.3%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538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2140">
                <a:tc>
                  <a:txBody>
                    <a:bodyPr wrap="square"/>
                    <a:lstStyle/>
                    <a:p>
                      <a:pPr algn="l">
                        <a:spcAft>
                          <a:spcPts val="0"/>
                        </a:spcAft>
                      </a:pPr>
                      <a:r>
                        <a:rPr sz="800" b="0">
                          <a:solidFill>
                            <a:srgbClr val="1A1A1A"/>
                          </a:solidFill>
                          <a:latin typeface="游ゴシック"/>
                          <a:ea typeface="游ゴシック"/>
                          <a:cs typeface="游ゴシック"/>
                        </a:rPr>
                        <a:t>飲食店売上高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19,255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78.7%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19,019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80.8%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17,723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78.8%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2140">
                <a:tc>
                  <a:txBody>
                    <a:bodyPr wrap="square"/>
                    <a:lstStyle/>
                    <a:p>
                      <a:pPr algn="l">
                        <a:spcAft>
                          <a:spcPts val="0"/>
                        </a:spcAft>
                      </a:pPr>
                      <a:r>
                        <a:rPr sz="800" b="1">
                          <a:solidFill>
                            <a:srgbClr val="1A1A1A"/>
                          </a:solidFill>
                          <a:latin typeface="游ゴシック"/>
                          <a:ea typeface="游ゴシック"/>
                          <a:cs typeface="游ゴシック"/>
                        </a:rPr>
                        <a:t>売上高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24,455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100.0%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23,542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100.0%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22,484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100.0%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2140">
                <a:tc>
                  <a:txBody>
                    <a:bodyPr wrap="square"/>
                    <a:lstStyle/>
                    <a:p>
                      <a:pPr algn="l">
                        <a:spcAft>
                          <a:spcPts val="0"/>
                        </a:spcAft>
                      </a:pPr>
                      <a:r>
                        <a:rPr sz="800" b="0">
                          <a:solidFill>
                            <a:srgbClr val="1A1A1A"/>
                          </a:solidFill>
                          <a:latin typeface="游ゴシック"/>
                          <a:ea typeface="游ゴシック"/>
                          <a:cs typeface="游ゴシック"/>
                        </a:rPr>
                        <a:t>期首棚卸高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323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281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86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2140">
                <a:tc>
                  <a:txBody>
                    <a:bodyPr wrap="square"/>
                    <a:lstStyle/>
                    <a:p>
                      <a:pPr algn="l">
                        <a:spcAft>
                          <a:spcPts val="0"/>
                        </a:spcAft>
                      </a:pPr>
                      <a:r>
                        <a:rPr sz="800" b="0">
                          <a:solidFill>
                            <a:srgbClr val="1A1A1A"/>
                          </a:solidFill>
                          <a:latin typeface="游ゴシック"/>
                          <a:ea typeface="游ゴシック"/>
                          <a:cs typeface="游ゴシック"/>
                        </a:rPr>
                        <a:t>商品仕入高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154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172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92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2140">
                <a:tc>
                  <a:txBody>
                    <a:bodyPr wrap="square"/>
                    <a:lstStyle/>
                    <a:p>
                      <a:pPr algn="l">
                        <a:spcAft>
                          <a:spcPts val="0"/>
                        </a:spcAft>
                      </a:pPr>
                      <a:r>
                        <a:rPr sz="800" b="0">
                          <a:solidFill>
                            <a:srgbClr val="1A1A1A"/>
                          </a:solidFill>
                          <a:latin typeface="游ゴシック"/>
                          <a:ea typeface="游ゴシック"/>
                          <a:cs typeface="游ゴシック"/>
                        </a:rPr>
                        <a:t>当期製品製造原価</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16,208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66.3%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15,680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66.6%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16,579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73.7%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2140">
                <a:tc>
                  <a:txBody>
                    <a:bodyPr wrap="square"/>
                    <a:lstStyle/>
                    <a:p>
                      <a:pPr algn="l">
                        <a:spcAft>
                          <a:spcPts val="0"/>
                        </a:spcAft>
                      </a:pPr>
                      <a:r>
                        <a:rPr sz="800" b="0">
                          <a:solidFill>
                            <a:srgbClr val="1A1A1A"/>
                          </a:solidFill>
                          <a:latin typeface="游ゴシック"/>
                          <a:ea typeface="游ゴシック"/>
                          <a:cs typeface="游ゴシック"/>
                        </a:rPr>
                        <a:t>期末棚卸高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C03A2B"/>
                          </a:solidFill>
                          <a:latin typeface="Arial"/>
                          <a:ea typeface="Arial"/>
                          <a:cs typeface="Arial"/>
                        </a:rPr>
                        <a:t>△281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C03A2B"/>
                          </a:solidFill>
                          <a:latin typeface="Arial"/>
                          <a:ea typeface="Arial"/>
                          <a:cs typeface="Arial"/>
                        </a:rPr>
                        <a:t>△1.1%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C03A2B"/>
                          </a:solidFill>
                          <a:latin typeface="Arial"/>
                          <a:ea typeface="Arial"/>
                          <a:cs typeface="Arial"/>
                        </a:rPr>
                        <a:t>△86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C03A2B"/>
                          </a:solidFill>
                          <a:latin typeface="Arial"/>
                          <a:ea typeface="Arial"/>
                          <a:cs typeface="Arial"/>
                        </a:rPr>
                        <a:t>△0.4%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C03A2B"/>
                          </a:solidFill>
                          <a:latin typeface="Arial"/>
                          <a:ea typeface="Arial"/>
                          <a:cs typeface="Arial"/>
                        </a:rPr>
                        <a:t>△329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C03A2B"/>
                          </a:solidFill>
                          <a:latin typeface="Arial"/>
                          <a:ea typeface="Arial"/>
                          <a:cs typeface="Arial"/>
                        </a:rPr>
                        <a:t>△1.5%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2140">
                <a:tc>
                  <a:txBody>
                    <a:bodyPr wrap="square"/>
                    <a:lstStyle/>
                    <a:p>
                      <a:pPr algn="l">
                        <a:spcAft>
                          <a:spcPts val="0"/>
                        </a:spcAft>
                      </a:pPr>
                      <a:r>
                        <a:rPr sz="800" b="1">
                          <a:solidFill>
                            <a:srgbClr val="1A1A1A"/>
                          </a:solidFill>
                          <a:latin typeface="游ゴシック"/>
                          <a:ea typeface="游ゴシック"/>
                          <a:cs typeface="游ゴシック"/>
                        </a:rPr>
                        <a:t>売上原価</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16,403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67.1%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16,047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68.2%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16,428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73.1%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2140">
                <a:tc>
                  <a:txBody>
                    <a:bodyPr wrap="square"/>
                    <a:lstStyle/>
                    <a:p>
                      <a:pPr algn="l">
                        <a:spcAft>
                          <a:spcPts val="0"/>
                        </a:spcAft>
                      </a:pPr>
                      <a:r>
                        <a:rPr sz="800" b="1">
                          <a:solidFill>
                            <a:srgbClr val="1A1A1A"/>
                          </a:solidFill>
                          <a:latin typeface="游ゴシック"/>
                          <a:ea typeface="游ゴシック"/>
                          <a:cs typeface="游ゴシック"/>
                        </a:rPr>
                        <a:t>売上総利益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8,051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32.9%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7,495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31.8%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6,056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26.9%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2140">
                <a:tc>
                  <a:txBody>
                    <a:bodyPr wrap="square"/>
                    <a:lstStyle/>
                    <a:p>
                      <a:pPr algn="l">
                        <a:spcAft>
                          <a:spcPts val="0"/>
                        </a:spcAft>
                      </a:pPr>
                      <a:r>
                        <a:rPr sz="800" b="0">
                          <a:solidFill>
                            <a:srgbClr val="1A1A1A"/>
                          </a:solidFill>
                          <a:latin typeface="游ゴシック"/>
                          <a:ea typeface="游ゴシック"/>
                          <a:cs typeface="游ゴシック"/>
                        </a:rPr>
                        <a:t>販売費及び一般管理費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7,082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29.0%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6,212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26.4%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6,267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27.9%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2140">
                <a:tc>
                  <a:txBody>
                    <a:bodyPr wrap="square"/>
                    <a:lstStyle/>
                    <a:p>
                      <a:pPr algn="l">
                        <a:spcAft>
                          <a:spcPts val="0"/>
                        </a:spcAft>
                      </a:pPr>
                      <a:r>
                        <a:rPr sz="800" b="1">
                          <a:solidFill>
                            <a:srgbClr val="1A1A1A"/>
                          </a:solidFill>
                          <a:latin typeface="游ゴシック"/>
                          <a:ea typeface="游ゴシック"/>
                          <a:cs typeface="游ゴシック"/>
                        </a:rPr>
                        <a:t>営業利益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970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4.0%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1,283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5.5%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C03A2B"/>
                          </a:solidFill>
                          <a:latin typeface="Arial"/>
                          <a:ea typeface="Arial"/>
                          <a:cs typeface="Arial"/>
                        </a:rPr>
                        <a:t>△211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C03A2B"/>
                          </a:solidFill>
                          <a:latin typeface="Arial"/>
                          <a:ea typeface="Arial"/>
                          <a:cs typeface="Arial"/>
                        </a:rPr>
                        <a:t>△0.9%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2140">
                <a:tc>
                  <a:txBody>
                    <a:bodyPr wrap="square"/>
                    <a:lstStyle/>
                    <a:p>
                      <a:pPr algn="l">
                        <a:spcAft>
                          <a:spcPts val="0"/>
                        </a:spcAft>
                      </a:pPr>
                      <a:r>
                        <a:rPr sz="800" b="0">
                          <a:solidFill>
                            <a:srgbClr val="1A1A1A"/>
                          </a:solidFill>
                          <a:latin typeface="游ゴシック"/>
                          <a:ea typeface="游ゴシック"/>
                          <a:cs typeface="游ゴシック"/>
                        </a:rPr>
                        <a:t>営業外収益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295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2,492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10.6%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229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2140">
                <a:tc>
                  <a:txBody>
                    <a:bodyPr wrap="square"/>
                    <a:lstStyle/>
                    <a:p>
                      <a:pPr algn="l">
                        <a:spcAft>
                          <a:spcPts val="0"/>
                        </a:spcAft>
                      </a:pPr>
                      <a:r>
                        <a:rPr sz="800" b="0">
                          <a:solidFill>
                            <a:srgbClr val="1A1A1A"/>
                          </a:solidFill>
                          <a:latin typeface="游ゴシック"/>
                          <a:ea typeface="游ゴシック"/>
                          <a:cs typeface="游ゴシック"/>
                        </a:rPr>
                        <a:t>　受取利息</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2140">
                <a:tc>
                  <a:txBody>
                    <a:bodyPr wrap="square"/>
                    <a:lstStyle/>
                    <a:p>
                      <a:pPr algn="l">
                        <a:spcAft>
                          <a:spcPts val="0"/>
                        </a:spcAft>
                      </a:pPr>
                      <a:r>
                        <a:rPr sz="800" b="0">
                          <a:solidFill>
                            <a:srgbClr val="1A1A1A"/>
                          </a:solidFill>
                          <a:latin typeface="游ゴシック"/>
                          <a:ea typeface="游ゴシック"/>
                          <a:cs typeface="游ゴシック"/>
                        </a:rPr>
                        <a:t>　雑収入</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295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2,490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10.6%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227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2140">
                <a:tc>
                  <a:txBody>
                    <a:bodyPr wrap="square"/>
                    <a:lstStyle/>
                    <a:p>
                      <a:pPr algn="l">
                        <a:spcAft>
                          <a:spcPts val="0"/>
                        </a:spcAft>
                      </a:pPr>
                      <a:r>
                        <a:rPr sz="800" b="0">
                          <a:solidFill>
                            <a:srgbClr val="1A1A1A"/>
                          </a:solidFill>
                          <a:latin typeface="游ゴシック"/>
                          <a:ea typeface="游ゴシック"/>
                          <a:cs typeface="游ゴシック"/>
                        </a:rPr>
                        <a:t>営業外費用</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2,282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9.7%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2140">
                <a:tc>
                  <a:txBody>
                    <a:bodyPr wrap="square"/>
                    <a:lstStyle/>
                    <a:p>
                      <a:pPr algn="l">
                        <a:spcAft>
                          <a:spcPts val="0"/>
                        </a:spcAft>
                      </a:pPr>
                      <a:r>
                        <a:rPr sz="800" b="0">
                          <a:solidFill>
                            <a:srgbClr val="1A1A1A"/>
                          </a:solidFill>
                          <a:latin typeface="游ゴシック"/>
                          <a:ea typeface="游ゴシック"/>
                          <a:cs typeface="游ゴシック"/>
                        </a:rPr>
                        <a:t>　圧縮記帳損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2,282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9.7%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2140">
                <a:tc>
                  <a:txBody>
                    <a:bodyPr wrap="square"/>
                    <a:lstStyle/>
                    <a:p>
                      <a:pPr algn="l">
                        <a:spcAft>
                          <a:spcPts val="0"/>
                        </a:spcAft>
                      </a:pPr>
                      <a:r>
                        <a:rPr sz="800" b="1">
                          <a:solidFill>
                            <a:srgbClr val="1A1A1A"/>
                          </a:solidFill>
                          <a:latin typeface="游ゴシック"/>
                          <a:ea typeface="游ゴシック"/>
                          <a:cs typeface="游ゴシック"/>
                        </a:rPr>
                        <a:t>経常利益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1,265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5.2%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1,493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6.3%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18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0.1%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2140">
                <a:tc>
                  <a:txBody>
                    <a:bodyPr wrap="square"/>
                    <a:lstStyle/>
                    <a:p>
                      <a:pPr algn="l">
                        <a:spcAft>
                          <a:spcPts val="0"/>
                        </a:spcAft>
                      </a:pPr>
                      <a:r>
                        <a:rPr sz="800" b="1">
                          <a:solidFill>
                            <a:srgbClr val="1A1A1A"/>
                          </a:solidFill>
                          <a:latin typeface="游ゴシック"/>
                          <a:ea typeface="游ゴシック"/>
                          <a:cs typeface="游ゴシック"/>
                        </a:rPr>
                        <a:t>税引前当期純利益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1,265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5.2%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1,493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6.3%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18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0.1%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2140">
                <a:tc>
                  <a:txBody>
                    <a:bodyPr wrap="square"/>
                    <a:lstStyle/>
                    <a:p>
                      <a:pPr algn="l">
                        <a:spcAft>
                          <a:spcPts val="0"/>
                        </a:spcAft>
                      </a:pPr>
                      <a:r>
                        <a:rPr sz="800" b="0">
                          <a:solidFill>
                            <a:srgbClr val="1A1A1A"/>
                          </a:solidFill>
                          <a:latin typeface="游ゴシック"/>
                          <a:ea typeface="游ゴシック"/>
                          <a:cs typeface="游ゴシック"/>
                        </a:rPr>
                        <a:t>法人税等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354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412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72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12140">
                <a:tc>
                  <a:txBody>
                    <a:bodyPr wrap="square"/>
                    <a:lstStyle/>
                    <a:p>
                      <a:pPr algn="l">
                        <a:spcAft>
                          <a:spcPts val="0"/>
                        </a:spcAft>
                      </a:pPr>
                      <a:r>
                        <a:rPr sz="800" b="1">
                          <a:solidFill>
                            <a:srgbClr val="1A1A1A"/>
                          </a:solidFill>
                          <a:latin typeface="游ゴシック"/>
                          <a:ea typeface="游ゴシック"/>
                          <a:cs typeface="游ゴシック"/>
                        </a:rPr>
                        <a:t>当期純利益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911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3.7%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1,081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4.6%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C03A2B"/>
                          </a:solidFill>
                          <a:latin typeface="Arial"/>
                          <a:ea typeface="Arial"/>
                          <a:cs typeface="Arial"/>
                        </a:rPr>
                        <a:t>△54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C03A2B"/>
                          </a:solidFill>
                          <a:latin typeface="Arial"/>
                          <a:ea typeface="Arial"/>
                          <a:cs typeface="Arial"/>
                        </a:rPr>
                        <a:t>△0.2%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5" name="Rectangle 14"/>
          <p:cNvSpPr/>
          <p:nvPr/>
        </p:nvSpPr>
        <p:spPr>
          <a:xfrm>
            <a:off x="7114032" y="1408176"/>
            <a:ext cx="3264408" cy="5047488"/>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205472" y="1481328"/>
            <a:ext cx="3081527" cy="274320"/>
          </a:xfrm>
          <a:prstGeom prst="rect">
            <a:avLst/>
          </a:prstGeom>
          <a:noFill/>
        </p:spPr>
        <p:txBody>
          <a:bodyPr wrap="square" lIns="0" rIns="0" t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17" name="TextBox 16"/>
          <p:cNvSpPr txBox="1"/>
          <p:nvPr/>
        </p:nvSpPr>
        <p:spPr>
          <a:xfrm>
            <a:off x="7223760" y="1828800"/>
            <a:ext cx="3044952" cy="4535423"/>
          </a:xfrm>
          <a:prstGeom prst="rect">
            <a:avLst/>
          </a:prstGeom>
          <a:noFill/>
        </p:spPr>
        <p:txBody>
          <a:bodyPr wrap="square" lIns="0" rIns="0" tIns="0" bIns="0" anchor="t">
            <a:spAutoFit/>
          </a:bodyPr>
          <a:lstStyle/>
          <a:p>
            <a:pPr algn="l">
              <a:lnSpc>
                <a:spcPct val="118000"/>
              </a:lnSpc>
              <a:spcAft>
                <a:spcPts val="200"/>
              </a:spcAft>
            </a:pPr>
            <a:r>
              <a:rPr sz="830" b="1">
                <a:solidFill>
                  <a:srgbClr val="0889C9"/>
                </a:solidFill>
                <a:latin typeface="游ゴシック"/>
                <a:ea typeface="游ゴシック"/>
                <a:cs typeface="游ゴシック"/>
              </a:rPr>
              <a:t>≪売上高≫ </a:t>
            </a:r>
            <a:r>
              <a:rPr sz="830" b="0">
                <a:solidFill>
                  <a:srgbClr val="1A1A1A"/>
                </a:solidFill>
                <a:latin typeface="游ゴシック"/>
                <a:ea typeface="游ゴシック"/>
                <a:cs typeface="游ゴシック"/>
              </a:rPr>
              <a:t>24,455→23,542→22,484千円と毎期減少。4区分のうち飲食店売上高の減少が最大。</a:t>
            </a:r>
          </a:p>
          <a:p>
            <a:pPr algn="l">
              <a:spcAft>
                <a:spcPts val="200"/>
              </a:spcAft>
            </a:pPr>
          </a:p>
          <a:p>
            <a:pPr algn="l">
              <a:lnSpc>
                <a:spcPct val="118000"/>
              </a:lnSpc>
              <a:spcAft>
                <a:spcPts val="200"/>
              </a:spcAft>
            </a:pPr>
            <a:r>
              <a:rPr sz="830" b="1">
                <a:solidFill>
                  <a:srgbClr val="0889C9"/>
                </a:solidFill>
                <a:latin typeface="游ゴシック"/>
                <a:ea typeface="游ゴシック"/>
                <a:cs typeface="游ゴシック"/>
              </a:rPr>
              <a:t>≪売上原価≫ </a:t>
            </a:r>
            <a:r>
              <a:rPr sz="830" b="0">
                <a:solidFill>
                  <a:srgbClr val="1A1A1A"/>
                </a:solidFill>
                <a:latin typeface="游ゴシック"/>
                <a:ea typeface="游ゴシック"/>
                <a:cs typeface="游ゴシック"/>
              </a:rPr>
              <a:t>16,403→16,047→16,428千円と横ばい。製造原価の42.3％が減価償却費であり、売上に連動しない固定費が大きい。</a:t>
            </a:r>
          </a:p>
          <a:p>
            <a:pPr algn="l">
              <a:spcAft>
                <a:spcPts val="200"/>
              </a:spcAft>
            </a:pPr>
          </a:p>
          <a:p>
            <a:pPr algn="l">
              <a:lnSpc>
                <a:spcPct val="118000"/>
              </a:lnSpc>
              <a:spcAft>
                <a:spcPts val="200"/>
              </a:spcAft>
            </a:pPr>
            <a:r>
              <a:rPr sz="830" b="1">
                <a:solidFill>
                  <a:srgbClr val="0889C9"/>
                </a:solidFill>
                <a:latin typeface="游ゴシック"/>
                <a:ea typeface="游ゴシック"/>
                <a:cs typeface="游ゴシック"/>
              </a:rPr>
              <a:t>≪販管費≫ </a:t>
            </a:r>
            <a:r>
              <a:rPr sz="830" b="0">
                <a:solidFill>
                  <a:srgbClr val="1A1A1A"/>
                </a:solidFill>
                <a:latin typeface="游ゴシック"/>
                <a:ea typeface="游ゴシック"/>
                <a:cs typeface="游ゴシック"/>
              </a:rPr>
              <a:t>7,082→6,212→6,267千円。給料手当・役員報酬の計上はない（労務費は製造原価）。</a:t>
            </a:r>
          </a:p>
          <a:p>
            <a:pPr algn="l">
              <a:spcAft>
                <a:spcPts val="200"/>
              </a:spcAft>
            </a:pPr>
          </a:p>
          <a:p>
            <a:pPr algn="l">
              <a:lnSpc>
                <a:spcPct val="118000"/>
              </a:lnSpc>
              <a:spcAft>
                <a:spcPts val="200"/>
              </a:spcAft>
            </a:pPr>
            <a:r>
              <a:rPr sz="830" b="1">
                <a:solidFill>
                  <a:srgbClr val="0889C9"/>
                </a:solidFill>
                <a:latin typeface="游ゴシック"/>
                <a:ea typeface="游ゴシック"/>
                <a:cs typeface="游ゴシック"/>
              </a:rPr>
              <a:t>≪営業外損益≫ </a:t>
            </a:r>
            <a:r>
              <a:rPr sz="830" b="0">
                <a:solidFill>
                  <a:srgbClr val="1A1A1A"/>
                </a:solidFill>
                <a:latin typeface="游ゴシック"/>
                <a:ea typeface="游ゴシック"/>
                <a:cs typeface="游ゴシック"/>
              </a:rPr>
              <a:t>2025/5期の雑収入2,490千円には補助金収入を含み、営業外費用の圧縮記帳損2,282千円は当該補助金に係るホームページ改修費用の圧縮記帳。いずれも非経常。</a:t>
            </a:r>
          </a:p>
          <a:p>
            <a:pPr algn="l">
              <a:spcAft>
                <a:spcPts val="200"/>
              </a:spcAft>
            </a:pPr>
          </a:p>
          <a:p>
            <a:pPr algn="l">
              <a:lnSpc>
                <a:spcPct val="118000"/>
              </a:lnSpc>
              <a:spcAft>
                <a:spcPts val="200"/>
              </a:spcAft>
            </a:pPr>
            <a:r>
              <a:rPr sz="830" b="1">
                <a:solidFill>
                  <a:srgbClr val="0889C9"/>
                </a:solidFill>
                <a:latin typeface="游ゴシック"/>
                <a:ea typeface="游ゴシック"/>
                <a:cs typeface="游ゴシック"/>
              </a:rPr>
              <a:t>≪当期純利益≫ </a:t>
            </a:r>
            <a:r>
              <a:rPr sz="830" b="0">
                <a:solidFill>
                  <a:srgbClr val="1A1A1A"/>
                </a:solidFill>
                <a:latin typeface="游ゴシック"/>
                <a:ea typeface="游ゴシック"/>
                <a:cs typeface="游ゴシック"/>
              </a:rPr>
              <a:t>911→1,081→△54千円。2026/5期は法人税等72千円の計上により最終赤字。</a:t>
            </a:r>
          </a:p>
        </p:txBody>
      </p:sp>
      <p:sp>
        <p:nvSpPr>
          <p:cNvPr id="18" name="TextBox 17"/>
          <p:cNvSpPr txBox="1"/>
          <p:nvPr/>
        </p:nvSpPr>
        <p:spPr>
          <a:xfrm>
            <a:off x="310896" y="6638544"/>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決算書（2024年5月期〜2026年5月期）に基づく。構成比は売上高に対する比率。</a:t>
            </a:r>
          </a:p>
        </p:txBody>
      </p:sp>
    </p:spTree>
    <p:extLst>
      <p:ext uri="{BB962C8B-B14F-4D97-AF65-F5344CB8AC3E}">
        <p14:creationId xmlns:p14="http://schemas.microsoft.com/office/powerpoint/2010/main" val="37409429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0F011-9D10-1689-48C1-6E79216CA945}"/>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4A828581-8161-ED21-30AA-A4EFF4112CCB}"/>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製造原価報告書</a:t>
            </a:r>
          </a:p>
        </p:txBody>
      </p:sp>
      <p:sp>
        <p:nvSpPr>
          <p:cNvPr id="5" name="タイトル 1">
            <a:extLst>
              <a:ext uri="{FF2B5EF4-FFF2-40B4-BE49-F238E27FC236}">
                <a16:creationId xmlns:a16="http://schemas.microsoft.com/office/drawing/2014/main" id="{7A0FBE86-5EA8-D086-19D3-6B5D523DBCD3}"/>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a:latin typeface="游ゴシック"/>
                <a:ea typeface="游ゴシック"/>
                <a:cs typeface="游ゴシック"/>
              </a:rPr>
              <a:t>財務情報詳細</a:t>
            </a:r>
          </a:p>
        </p:txBody>
      </p:sp>
      <p:sp>
        <p:nvSpPr>
          <p:cNvPr id="4" name="字幕 13">
            <a:extLst>
              <a:ext uri="{FF2B5EF4-FFF2-40B4-BE49-F238E27FC236}">
                <a16:creationId xmlns:a16="http://schemas.microsoft.com/office/drawing/2014/main" id="{C3D523D1-0942-99BF-C039-E07124B2F5C1}"/>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製造原価16,579千円のうち減価償却費が7,012千円（42.3％）を占め、売上に連動しない固定費性の高い原価構造</a:t>
            </a:r>
            <a:endParaRPr lang="en-US" altLang="ja-JP" dirty="0"/>
          </a:p>
        </p:txBody>
      </p:sp>
      <p:graphicFrame>
        <p:nvGraphicFramePr>
          <p:cNvPr id="14" name="Table 13"/>
          <p:cNvGraphicFramePr>
            <a:graphicFrameLocks noGrp="1"/>
          </p:cNvGraphicFramePr>
          <p:nvPr/>
        </p:nvGraphicFramePr>
        <p:xfrm>
          <a:off x="310896" y="1408176"/>
          <a:ext cx="4846316" cy="4615887"/>
        </p:xfrm>
        <a:graphic>
          <a:graphicData uri="http://schemas.openxmlformats.org/drawingml/2006/table">
            <a:tbl>
              <a:tblPr firstRow="0" bandRow="0">
                <a:tableStyleId>{5940675A-B579-460E-94D1-54222C63F5DA}</a:tableStyleId>
              </a:tblPr>
              <a:tblGrid>
                <a:gridCol w="1993391"/>
                <a:gridCol w="950975"/>
                <a:gridCol w="950975"/>
                <a:gridCol w="950975"/>
              </a:tblGrid>
              <a:tr h="237744">
                <a:tc>
                  <a:txBody>
                    <a:bodyPr wrap="square"/>
                    <a:lstStyle/>
                    <a:p>
                      <a:pPr algn="ctr">
                        <a:spcAft>
                          <a:spcPts val="0"/>
                        </a:spcAft>
                      </a:pPr>
                      <a:r>
                        <a:rPr sz="800" b="1">
                          <a:solidFill>
                            <a:srgbClr val="FFFFFF"/>
                          </a:solidFill>
                          <a:latin typeface="游ゴシック"/>
                          <a:ea typeface="游ゴシック"/>
                          <a:cs typeface="游ゴシック"/>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2024/5期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2025/5期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2026/5期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8483">
                <a:tc>
                  <a:txBody>
                    <a:bodyPr wrap="square"/>
                    <a:lstStyle/>
                    <a:p>
                      <a:pPr algn="l">
                        <a:spcAft>
                          <a:spcPts val="0"/>
                        </a:spcAft>
                      </a:pPr>
                      <a:r>
                        <a:rPr sz="800" b="0">
                          <a:solidFill>
                            <a:srgbClr val="1A1A1A"/>
                          </a:solidFill>
                          <a:latin typeface="游ゴシック"/>
                          <a:ea typeface="游ゴシック"/>
                          <a:cs typeface="游ゴシック"/>
                        </a:rPr>
                        <a:t>期首材料棚卸高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3,288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3,237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2,938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8483">
                <a:tc>
                  <a:txBody>
                    <a:bodyPr wrap="square"/>
                    <a:lstStyle/>
                    <a:p>
                      <a:pPr algn="l">
                        <a:spcAft>
                          <a:spcPts val="0"/>
                        </a:spcAft>
                      </a:pPr>
                      <a:r>
                        <a:rPr sz="800" b="0">
                          <a:solidFill>
                            <a:srgbClr val="1A1A1A"/>
                          </a:solidFill>
                          <a:latin typeface="游ゴシック"/>
                          <a:ea typeface="游ゴシック"/>
                          <a:cs typeface="游ゴシック"/>
                        </a:rPr>
                        <a:t>材料仕入高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5,079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4,313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4,595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8483">
                <a:tc>
                  <a:txBody>
                    <a:bodyPr wrap="square"/>
                    <a:lstStyle/>
                    <a:p>
                      <a:pPr algn="l">
                        <a:spcAft>
                          <a:spcPts val="0"/>
                        </a:spcAft>
                      </a:pPr>
                      <a:r>
                        <a:rPr sz="800" b="0">
                          <a:solidFill>
                            <a:srgbClr val="1A1A1A"/>
                          </a:solidFill>
                          <a:latin typeface="游ゴシック"/>
                          <a:ea typeface="游ゴシック"/>
                          <a:cs typeface="游ゴシック"/>
                        </a:rPr>
                        <a:t>小計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8,367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7,550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7,533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8483">
                <a:tc>
                  <a:txBody>
                    <a:bodyPr wrap="square"/>
                    <a:lstStyle/>
                    <a:p>
                      <a:pPr algn="l">
                        <a:spcAft>
                          <a:spcPts val="0"/>
                        </a:spcAft>
                      </a:pPr>
                      <a:r>
                        <a:rPr sz="800" b="0">
                          <a:solidFill>
                            <a:srgbClr val="1A1A1A"/>
                          </a:solidFill>
                          <a:latin typeface="游ゴシック"/>
                          <a:ea typeface="游ゴシック"/>
                          <a:cs typeface="游ゴシック"/>
                        </a:rPr>
                        <a:t>期末材料棚卸高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C03A2B"/>
                          </a:solidFill>
                          <a:latin typeface="Arial"/>
                          <a:ea typeface="Arial"/>
                          <a:cs typeface="Arial"/>
                        </a:rPr>
                        <a:t>△3,237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C03A2B"/>
                          </a:solidFill>
                          <a:latin typeface="Arial"/>
                          <a:ea typeface="Arial"/>
                          <a:cs typeface="Arial"/>
                        </a:rPr>
                        <a:t>△2,938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C03A2B"/>
                          </a:solidFill>
                          <a:latin typeface="Arial"/>
                          <a:ea typeface="Arial"/>
                          <a:cs typeface="Arial"/>
                        </a:rPr>
                        <a:t>△2,025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8483">
                <a:tc>
                  <a:txBody>
                    <a:bodyPr wrap="square"/>
                    <a:lstStyle/>
                    <a:p>
                      <a:pPr algn="l">
                        <a:spcAft>
                          <a:spcPts val="0"/>
                        </a:spcAft>
                      </a:pPr>
                      <a:r>
                        <a:rPr sz="800" b="1">
                          <a:solidFill>
                            <a:srgbClr val="1A1A1A"/>
                          </a:solidFill>
                          <a:latin typeface="游ゴシック"/>
                          <a:ea typeface="游ゴシック"/>
                          <a:cs typeface="游ゴシック"/>
                        </a:rPr>
                        <a:t>材料費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5,130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4,612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5,508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8483">
                <a:tc>
                  <a:txBody>
                    <a:bodyPr wrap="square"/>
                    <a:lstStyle/>
                    <a:p>
                      <a:pPr algn="l">
                        <a:spcAft>
                          <a:spcPts val="0"/>
                        </a:spcAft>
                      </a:pPr>
                      <a:r>
                        <a:rPr sz="800" b="0">
                          <a:solidFill>
                            <a:srgbClr val="1A1A1A"/>
                          </a:solidFill>
                          <a:latin typeface="游ゴシック"/>
                          <a:ea typeface="游ゴシック"/>
                          <a:cs typeface="游ゴシック"/>
                        </a:rPr>
                        <a:t>雑給</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1,989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2,188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2,201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8483">
                <a:tc>
                  <a:txBody>
                    <a:bodyPr wrap="square"/>
                    <a:lstStyle/>
                    <a:p>
                      <a:pPr algn="l">
                        <a:spcAft>
                          <a:spcPts val="0"/>
                        </a:spcAft>
                      </a:pPr>
                      <a:r>
                        <a:rPr sz="800" b="0">
                          <a:solidFill>
                            <a:srgbClr val="1A1A1A"/>
                          </a:solidFill>
                          <a:latin typeface="游ゴシック"/>
                          <a:ea typeface="游ゴシック"/>
                          <a:cs typeface="游ゴシック"/>
                        </a:rPr>
                        <a:t>厚生費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8483">
                <a:tc>
                  <a:txBody>
                    <a:bodyPr wrap="square"/>
                    <a:lstStyle/>
                    <a:p>
                      <a:pPr algn="l">
                        <a:spcAft>
                          <a:spcPts val="0"/>
                        </a:spcAft>
                      </a:pPr>
                      <a:r>
                        <a:rPr sz="800" b="1">
                          <a:solidFill>
                            <a:srgbClr val="1A1A1A"/>
                          </a:solidFill>
                          <a:latin typeface="游ゴシック"/>
                          <a:ea typeface="游ゴシック"/>
                          <a:cs typeface="游ゴシック"/>
                        </a:rPr>
                        <a:t>労務費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1,989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2,199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2,221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8483">
                <a:tc>
                  <a:txBody>
                    <a:bodyPr wrap="square"/>
                    <a:lstStyle/>
                    <a:p>
                      <a:pPr algn="l">
                        <a:spcAft>
                          <a:spcPts val="0"/>
                        </a:spcAft>
                      </a:pPr>
                      <a:r>
                        <a:rPr sz="800" b="0">
                          <a:solidFill>
                            <a:srgbClr val="1A1A1A"/>
                          </a:solidFill>
                          <a:latin typeface="游ゴシック"/>
                          <a:ea typeface="游ゴシック"/>
                          <a:cs typeface="游ゴシック"/>
                        </a:rPr>
                        <a:t>外注加工費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394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272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8483">
                <a:tc>
                  <a:txBody>
                    <a:bodyPr wrap="square"/>
                    <a:lstStyle/>
                    <a:p>
                      <a:pPr algn="l">
                        <a:spcAft>
                          <a:spcPts val="0"/>
                        </a:spcAft>
                      </a:pPr>
                      <a:r>
                        <a:rPr sz="800" b="1">
                          <a:solidFill>
                            <a:srgbClr val="1A1A1A"/>
                          </a:solidFill>
                          <a:latin typeface="游ゴシック"/>
                          <a:ea typeface="游ゴシック"/>
                          <a:cs typeface="游ゴシック"/>
                        </a:rPr>
                        <a:t>外注費 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394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272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8483">
                <a:tc>
                  <a:txBody>
                    <a:bodyPr wrap="square"/>
                    <a:lstStyle/>
                    <a:p>
                      <a:pPr algn="l">
                        <a:spcAft>
                          <a:spcPts val="0"/>
                        </a:spcAft>
                      </a:pPr>
                      <a:r>
                        <a:rPr sz="800" b="0">
                          <a:solidFill>
                            <a:srgbClr val="1A1A1A"/>
                          </a:solidFill>
                          <a:latin typeface="游ゴシック"/>
                          <a:ea typeface="游ゴシック"/>
                          <a:cs typeface="游ゴシック"/>
                        </a:rPr>
                        <a:t>育苗・耕作費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39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8483">
                <a:tc>
                  <a:txBody>
                    <a:bodyPr wrap="square"/>
                    <a:lstStyle/>
                    <a:p>
                      <a:pPr algn="l">
                        <a:spcAft>
                          <a:spcPts val="0"/>
                        </a:spcAft>
                      </a:pPr>
                      <a:r>
                        <a:rPr sz="800" b="0">
                          <a:solidFill>
                            <a:srgbClr val="1A1A1A"/>
                          </a:solidFill>
                          <a:latin typeface="游ゴシック"/>
                          <a:ea typeface="游ゴシック"/>
                          <a:cs typeface="游ゴシック"/>
                        </a:rPr>
                        <a:t>ガス代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364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350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342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8483">
                <a:tc>
                  <a:txBody>
                    <a:bodyPr wrap="square"/>
                    <a:lstStyle/>
                    <a:p>
                      <a:pPr algn="l">
                        <a:spcAft>
                          <a:spcPts val="0"/>
                        </a:spcAft>
                      </a:pPr>
                      <a:r>
                        <a:rPr sz="800" b="0">
                          <a:solidFill>
                            <a:srgbClr val="1A1A1A"/>
                          </a:solidFill>
                          <a:latin typeface="游ゴシック"/>
                          <a:ea typeface="游ゴシック"/>
                          <a:cs typeface="游ゴシック"/>
                        </a:rPr>
                        <a:t>水道料</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99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97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97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8483">
                <a:tc>
                  <a:txBody>
                    <a:bodyPr wrap="square"/>
                    <a:lstStyle/>
                    <a:p>
                      <a:pPr algn="l">
                        <a:spcAft>
                          <a:spcPts val="0"/>
                        </a:spcAft>
                      </a:pPr>
                      <a:r>
                        <a:rPr sz="800" b="0">
                          <a:solidFill>
                            <a:srgbClr val="1A1A1A"/>
                          </a:solidFill>
                          <a:latin typeface="游ゴシック"/>
                          <a:ea typeface="游ゴシック"/>
                          <a:cs typeface="游ゴシック"/>
                        </a:rPr>
                        <a:t>減価償却費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7,265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7,292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7,012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8483">
                <a:tc>
                  <a:txBody>
                    <a:bodyPr wrap="square"/>
                    <a:lstStyle/>
                    <a:p>
                      <a:pPr algn="l">
                        <a:spcAft>
                          <a:spcPts val="0"/>
                        </a:spcAft>
                      </a:pPr>
                      <a:r>
                        <a:rPr sz="800" b="0">
                          <a:solidFill>
                            <a:srgbClr val="1A1A1A"/>
                          </a:solidFill>
                          <a:latin typeface="游ゴシック"/>
                          <a:ea typeface="游ゴシック"/>
                          <a:cs typeface="游ゴシック"/>
                        </a:rPr>
                        <a:t>修繕費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367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564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591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8483">
                <a:tc>
                  <a:txBody>
                    <a:bodyPr wrap="square"/>
                    <a:lstStyle/>
                    <a:p>
                      <a:pPr algn="l">
                        <a:spcAft>
                          <a:spcPts val="0"/>
                        </a:spcAft>
                      </a:pPr>
                      <a:r>
                        <a:rPr sz="800" b="0">
                          <a:solidFill>
                            <a:srgbClr val="1A1A1A"/>
                          </a:solidFill>
                          <a:latin typeface="游ゴシック"/>
                          <a:ea typeface="游ゴシック"/>
                          <a:cs typeface="游ゴシック"/>
                        </a:rPr>
                        <a:t>消耗品費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293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201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267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8483">
                <a:tc>
                  <a:txBody>
                    <a:bodyPr wrap="square"/>
                    <a:lstStyle/>
                    <a:p>
                      <a:pPr algn="l">
                        <a:spcAft>
                          <a:spcPts val="0"/>
                        </a:spcAft>
                      </a:pPr>
                      <a:r>
                        <a:rPr sz="800" b="0">
                          <a:solidFill>
                            <a:srgbClr val="1A1A1A"/>
                          </a:solidFill>
                          <a:latin typeface="游ゴシック"/>
                          <a:ea typeface="游ゴシック"/>
                          <a:cs typeface="游ゴシック"/>
                        </a:rPr>
                        <a:t>旅費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8483">
                <a:tc>
                  <a:txBody>
                    <a:bodyPr wrap="square"/>
                    <a:lstStyle/>
                    <a:p>
                      <a:pPr algn="l">
                        <a:spcAft>
                          <a:spcPts val="0"/>
                        </a:spcAft>
                      </a:pPr>
                      <a:r>
                        <a:rPr sz="800" b="0">
                          <a:solidFill>
                            <a:srgbClr val="1A1A1A"/>
                          </a:solidFill>
                          <a:latin typeface="游ゴシック"/>
                          <a:ea typeface="游ゴシック"/>
                          <a:cs typeface="游ゴシック"/>
                        </a:rPr>
                        <a:t>衛生管理費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287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286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224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8483">
                <a:tc>
                  <a:txBody>
                    <a:bodyPr wrap="square"/>
                    <a:lstStyle/>
                    <a:p>
                      <a:pPr algn="l">
                        <a:spcAft>
                          <a:spcPts val="0"/>
                        </a:spcAft>
                      </a:pPr>
                      <a:r>
                        <a:rPr sz="800" b="1">
                          <a:solidFill>
                            <a:srgbClr val="1A1A1A"/>
                          </a:solidFill>
                          <a:latin typeface="游ゴシック"/>
                          <a:ea typeface="游ゴシック"/>
                          <a:cs typeface="游ゴシック"/>
                        </a:rPr>
                        <a:t>経費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8,695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8,863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8,578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8483">
                <a:tc>
                  <a:txBody>
                    <a:bodyPr wrap="square"/>
                    <a:lstStyle/>
                    <a:p>
                      <a:pPr algn="l">
                        <a:spcAft>
                          <a:spcPts val="0"/>
                        </a:spcAft>
                      </a:pPr>
                      <a:r>
                        <a:rPr sz="800" b="1">
                          <a:solidFill>
                            <a:srgbClr val="1A1A1A"/>
                          </a:solidFill>
                          <a:latin typeface="游ゴシック"/>
                          <a:ea typeface="游ゴシック"/>
                          <a:cs typeface="游ゴシック"/>
                        </a:rPr>
                        <a:t>当期総製造費用</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16,208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15,680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16,579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08483">
                <a:tc>
                  <a:txBody>
                    <a:bodyPr wrap="square"/>
                    <a:lstStyle/>
                    <a:p>
                      <a:pPr algn="l">
                        <a:spcAft>
                          <a:spcPts val="0"/>
                        </a:spcAft>
                      </a:pPr>
                      <a:r>
                        <a:rPr sz="800" b="1">
                          <a:solidFill>
                            <a:srgbClr val="1A1A1A"/>
                          </a:solidFill>
                          <a:latin typeface="游ゴシック"/>
                          <a:ea typeface="游ゴシック"/>
                          <a:cs typeface="游ゴシック"/>
                        </a:rPr>
                        <a:t>当期製品製造原価</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16,208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15,680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16,579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5" name="Rectangle 14"/>
          <p:cNvSpPr/>
          <p:nvPr/>
        </p:nvSpPr>
        <p:spPr>
          <a:xfrm>
            <a:off x="5376672" y="1408176"/>
            <a:ext cx="5001768" cy="5047488"/>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468112" y="1481328"/>
            <a:ext cx="4818888" cy="274320"/>
          </a:xfrm>
          <a:prstGeom prst="rect">
            <a:avLst/>
          </a:prstGeom>
          <a:noFill/>
        </p:spPr>
        <p:txBody>
          <a:bodyPr wrap="square" lIns="0" rIns="0" t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17" name="TextBox 16"/>
          <p:cNvSpPr txBox="1"/>
          <p:nvPr/>
        </p:nvSpPr>
        <p:spPr>
          <a:xfrm>
            <a:off x="5486400" y="1828800"/>
            <a:ext cx="4782312" cy="4535423"/>
          </a:xfrm>
          <a:prstGeom prst="rect">
            <a:avLst/>
          </a:prstGeom>
          <a:noFill/>
        </p:spPr>
        <p:txBody>
          <a:bodyPr wrap="square" lIns="0" rIns="0" tIns="0" bIns="0" anchor="t">
            <a:spAutoFit/>
          </a:bodyPr>
          <a:lstStyle/>
          <a:p>
            <a:pPr algn="l">
              <a:lnSpc>
                <a:spcPct val="122000"/>
              </a:lnSpc>
              <a:spcAft>
                <a:spcPts val="200"/>
              </a:spcAft>
            </a:pPr>
            <a:r>
              <a:rPr sz="900" b="1">
                <a:solidFill>
                  <a:srgbClr val="0889C9"/>
                </a:solidFill>
                <a:latin typeface="游ゴシック"/>
                <a:ea typeface="游ゴシック"/>
                <a:cs typeface="游ゴシック"/>
              </a:rPr>
              <a:t>≪減価償却費 7,012千円≫ </a:t>
            </a:r>
            <a:r>
              <a:rPr sz="900" b="0">
                <a:solidFill>
                  <a:srgbClr val="1A1A1A"/>
                </a:solidFill>
                <a:latin typeface="游ゴシック"/>
                <a:ea typeface="游ゴシック"/>
                <a:cs typeface="游ゴシック"/>
              </a:rPr>
              <a:t>7,265→7,292→7,012千円。製造原価の42.3％を占める。2002年取得の建物・建物附属設備（旧定額法・旧定率法）が中心であり、今後は逓減する見込み。</a:t>
            </a:r>
          </a:p>
          <a:p>
            <a:pPr algn="l">
              <a:spcAft>
                <a:spcPts val="200"/>
              </a:spcAft>
            </a:pPr>
          </a:p>
          <a:p>
            <a:pPr algn="l">
              <a:lnSpc>
                <a:spcPct val="122000"/>
              </a:lnSpc>
              <a:spcAft>
                <a:spcPts val="200"/>
              </a:spcAft>
            </a:pPr>
            <a:r>
              <a:rPr sz="900" b="1">
                <a:solidFill>
                  <a:srgbClr val="0889C9"/>
                </a:solidFill>
                <a:latin typeface="游ゴシック"/>
                <a:ea typeface="游ゴシック"/>
                <a:cs typeface="游ゴシック"/>
              </a:rPr>
              <a:t>≪材料費 5,508千円≫ </a:t>
            </a:r>
            <a:r>
              <a:rPr sz="900" b="0">
                <a:solidFill>
                  <a:srgbClr val="1A1A1A"/>
                </a:solidFill>
                <a:latin typeface="游ゴシック"/>
                <a:ea typeface="游ゴシック"/>
                <a:cs typeface="游ゴシック"/>
              </a:rPr>
              <a:t>5,130→4,612→5,508千円。玄そば・小麦のほか、鴨肉・岩魚・山菜等の季節食材を含む。期末材料棚卸高は3,237→2,938→2,025千円と減少しており、玄そばの在庫水準の低下が見られる。</a:t>
            </a:r>
          </a:p>
          <a:p>
            <a:pPr algn="l">
              <a:spcAft>
                <a:spcPts val="200"/>
              </a:spcAft>
            </a:pPr>
          </a:p>
          <a:p>
            <a:pPr algn="l">
              <a:lnSpc>
                <a:spcPct val="122000"/>
              </a:lnSpc>
              <a:spcAft>
                <a:spcPts val="200"/>
              </a:spcAft>
            </a:pPr>
            <a:r>
              <a:rPr sz="900" b="1">
                <a:solidFill>
                  <a:srgbClr val="0889C9"/>
                </a:solidFill>
                <a:latin typeface="游ゴシック"/>
                <a:ea typeface="游ゴシック"/>
                <a:cs typeface="游ゴシック"/>
              </a:rPr>
              <a:t>≪労務費 2,221千円≫ </a:t>
            </a:r>
            <a:r>
              <a:rPr sz="900" b="0">
                <a:solidFill>
                  <a:srgbClr val="1A1A1A"/>
                </a:solidFill>
                <a:latin typeface="游ゴシック"/>
                <a:ea typeface="游ゴシック"/>
                <a:cs typeface="游ゴシック"/>
              </a:rPr>
              <a:t>雑給1,989→2,199→2,221千円。親族への「手伝い料」が中心で支払先は「小川実他1」。代表者・配偶者はいずれも無報酬であり、本報告書にも計上されていない。</a:t>
            </a:r>
          </a:p>
          <a:p>
            <a:pPr algn="l">
              <a:spcAft>
                <a:spcPts val="200"/>
              </a:spcAft>
            </a:pPr>
          </a:p>
          <a:p>
            <a:pPr algn="l">
              <a:lnSpc>
                <a:spcPct val="122000"/>
              </a:lnSpc>
              <a:spcAft>
                <a:spcPts val="200"/>
              </a:spcAft>
            </a:pPr>
            <a:r>
              <a:rPr sz="900" b="1">
                <a:solidFill>
                  <a:srgbClr val="0889C9"/>
                </a:solidFill>
                <a:latin typeface="游ゴシック"/>
                <a:ea typeface="游ゴシック"/>
                <a:cs typeface="游ゴシック"/>
              </a:rPr>
              <a:t>≪外注加工費 272千円≫ </a:t>
            </a:r>
            <a:r>
              <a:rPr sz="900" b="0">
                <a:solidFill>
                  <a:srgbClr val="1A1A1A"/>
                </a:solidFill>
                <a:latin typeface="游ゴシック"/>
                <a:ea typeface="游ゴシック"/>
                <a:cs typeface="游ゴシック"/>
              </a:rPr>
              <a:t>394→6→272千円。2026/5期は伊勢又米穀製粉（株）への製粉外注267千円が中心。</a:t>
            </a:r>
          </a:p>
          <a:p>
            <a:pPr algn="l">
              <a:spcAft>
                <a:spcPts val="200"/>
              </a:spcAft>
            </a:pPr>
          </a:p>
          <a:p>
            <a:pPr algn="l">
              <a:lnSpc>
                <a:spcPct val="122000"/>
              </a:lnSpc>
              <a:spcAft>
                <a:spcPts val="200"/>
              </a:spcAft>
            </a:pPr>
            <a:r>
              <a:rPr sz="900" b="1">
                <a:solidFill>
                  <a:srgbClr val="0889C9"/>
                </a:solidFill>
                <a:latin typeface="游ゴシック"/>
                <a:ea typeface="游ゴシック"/>
                <a:cs typeface="游ゴシック"/>
              </a:rPr>
              <a:t>≪育苗・耕作費 39千円≫ </a:t>
            </a:r>
            <a:r>
              <a:rPr sz="900" b="0">
                <a:solidFill>
                  <a:srgbClr val="1A1A1A"/>
                </a:solidFill>
                <a:latin typeface="游ゴシック"/>
                <a:ea typeface="游ゴシック"/>
                <a:cs typeface="游ゴシック"/>
              </a:rPr>
              <a:t>自家栽培（焼畑を含む）に係る費用。大規模生産は中止し、現在は地元産の玄そばを適正価格で仕入れる方針と伺っている（面談ヒアリング）。</a:t>
            </a:r>
          </a:p>
        </p:txBody>
      </p:sp>
      <p:sp>
        <p:nvSpPr>
          <p:cNvPr id="18" name="TextBox 17"/>
          <p:cNvSpPr txBox="1"/>
          <p:nvPr/>
        </p:nvSpPr>
        <p:spPr>
          <a:xfrm>
            <a:off x="310896" y="6638544"/>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決算書（2024年5月期〜2026年5月期）に基づく。当期製品製造原価は損益計算書の同科目と一致する。</a:t>
            </a:r>
          </a:p>
        </p:txBody>
      </p:sp>
    </p:spTree>
    <p:extLst>
      <p:ext uri="{BB962C8B-B14F-4D97-AF65-F5344CB8AC3E}">
        <p14:creationId xmlns:p14="http://schemas.microsoft.com/office/powerpoint/2010/main" val="2968094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11451-02A5-56C7-8AF6-DBDAA7CFCC1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326988B-EA79-EED8-C9CB-DD122747A00F}"/>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販売費及び一般管理費</a:t>
            </a:r>
          </a:p>
        </p:txBody>
      </p:sp>
      <p:sp>
        <p:nvSpPr>
          <p:cNvPr id="5" name="タイトル 1">
            <a:extLst>
              <a:ext uri="{FF2B5EF4-FFF2-40B4-BE49-F238E27FC236}">
                <a16:creationId xmlns:a16="http://schemas.microsoft.com/office/drawing/2014/main" id="{7691939A-6180-3920-2B7D-F305819429C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a:latin typeface="游ゴシック"/>
                <a:ea typeface="游ゴシック"/>
                <a:cs typeface="游ゴシック"/>
              </a:rPr>
              <a:t>財務情報詳細</a:t>
            </a:r>
          </a:p>
        </p:txBody>
      </p:sp>
      <p:sp>
        <p:nvSpPr>
          <p:cNvPr id="4" name="字幕 13">
            <a:extLst>
              <a:ext uri="{FF2B5EF4-FFF2-40B4-BE49-F238E27FC236}">
                <a16:creationId xmlns:a16="http://schemas.microsoft.com/office/drawing/2014/main" id="{7F8A1EE0-ADF4-993B-FF72-FBEC016B826B}"/>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販管費6,267千円は3期を通じてほぼ横ばい。水道光熱費・租税公課・管理諸費の3科目で59％を占める</a:t>
            </a:r>
            <a:endParaRPr lang="en-US" altLang="ja-JP" dirty="0"/>
          </a:p>
        </p:txBody>
      </p:sp>
      <p:graphicFrame>
        <p:nvGraphicFramePr>
          <p:cNvPr id="14" name="Table 13"/>
          <p:cNvGraphicFramePr>
            <a:graphicFrameLocks noGrp="1"/>
          </p:cNvGraphicFramePr>
          <p:nvPr/>
        </p:nvGraphicFramePr>
        <p:xfrm>
          <a:off x="310896" y="1408176"/>
          <a:ext cx="6583677" cy="3836816"/>
        </p:xfrm>
        <a:graphic>
          <a:graphicData uri="http://schemas.openxmlformats.org/drawingml/2006/table">
            <a:tbl>
              <a:tblPr firstRow="0" bandRow="0">
                <a:tableStyleId>{5940675A-B579-460E-94D1-54222C63F5DA}</a:tableStyleId>
              </a:tblPr>
              <a:tblGrid>
                <a:gridCol w="2113707"/>
                <a:gridCol w="866273"/>
                <a:gridCol w="623717"/>
                <a:gridCol w="866273"/>
                <a:gridCol w="623717"/>
                <a:gridCol w="866273"/>
                <a:gridCol w="623717"/>
              </a:tblGrid>
              <a:tr h="237744">
                <a:tc>
                  <a:txBody>
                    <a:bodyPr wrap="square"/>
                    <a:lstStyle/>
                    <a:p>
                      <a:pPr algn="ctr">
                        <a:spcAft>
                          <a:spcPts val="0"/>
                        </a:spcAft>
                      </a:pPr>
                      <a:r>
                        <a:rPr sz="800" b="1">
                          <a:solidFill>
                            <a:srgbClr val="FFFFFF"/>
                          </a:solidFill>
                          <a:latin typeface="游ゴシック"/>
                          <a:ea typeface="游ゴシック"/>
                          <a:cs typeface="游ゴシック"/>
                        </a:rPr>
                        <a:t>（単位：千円）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2024/5期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構成比</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2025/5期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構成比</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2026/5期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構成比</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24942">
                <a:tc>
                  <a:txBody>
                    <a:bodyPr wrap="square"/>
                    <a:lstStyle/>
                    <a:p>
                      <a:pPr algn="l">
                        <a:spcAft>
                          <a:spcPts val="0"/>
                        </a:spcAft>
                      </a:pPr>
                      <a:r>
                        <a:rPr sz="800" b="0">
                          <a:solidFill>
                            <a:srgbClr val="1A1A1A"/>
                          </a:solidFill>
                          <a:latin typeface="游ゴシック"/>
                          <a:ea typeface="游ゴシック"/>
                          <a:cs typeface="游ゴシック"/>
                        </a:rPr>
                        <a:t>広告宣伝費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1,025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4.2%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674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729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3.2%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24942">
                <a:tc>
                  <a:txBody>
                    <a:bodyPr wrap="square"/>
                    <a:lstStyle/>
                    <a:p>
                      <a:pPr algn="l">
                        <a:spcAft>
                          <a:spcPts val="0"/>
                        </a:spcAft>
                      </a:pPr>
                      <a:r>
                        <a:rPr sz="800" b="0">
                          <a:solidFill>
                            <a:srgbClr val="1A1A1A"/>
                          </a:solidFill>
                          <a:latin typeface="游ゴシック"/>
                          <a:ea typeface="游ゴシック"/>
                          <a:cs typeface="游ゴシック"/>
                        </a:rPr>
                        <a:t>容器包装費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224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24942">
                <a:tc>
                  <a:txBody>
                    <a:bodyPr wrap="square"/>
                    <a:lstStyle/>
                    <a:p>
                      <a:pPr algn="l">
                        <a:spcAft>
                          <a:spcPts val="0"/>
                        </a:spcAft>
                      </a:pPr>
                      <a:r>
                        <a:rPr sz="800" b="0">
                          <a:solidFill>
                            <a:srgbClr val="1A1A1A"/>
                          </a:solidFill>
                          <a:latin typeface="游ゴシック"/>
                          <a:ea typeface="游ゴシック"/>
                          <a:cs typeface="游ゴシック"/>
                        </a:rPr>
                        <a:t>発送配達費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461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478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465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24942">
                <a:tc>
                  <a:txBody>
                    <a:bodyPr wrap="square"/>
                    <a:lstStyle/>
                    <a:p>
                      <a:pPr algn="l">
                        <a:spcAft>
                          <a:spcPts val="0"/>
                        </a:spcAft>
                      </a:pPr>
                      <a:r>
                        <a:rPr sz="800" b="0">
                          <a:solidFill>
                            <a:srgbClr val="1A1A1A"/>
                          </a:solidFill>
                          <a:latin typeface="游ゴシック"/>
                          <a:ea typeface="游ゴシック"/>
                          <a:cs typeface="游ゴシック"/>
                        </a:rPr>
                        <a:t>修繕費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24942">
                <a:tc>
                  <a:txBody>
                    <a:bodyPr wrap="square"/>
                    <a:lstStyle/>
                    <a:p>
                      <a:pPr algn="l">
                        <a:spcAft>
                          <a:spcPts val="0"/>
                        </a:spcAft>
                      </a:pPr>
                      <a:r>
                        <a:rPr sz="800" b="0">
                          <a:solidFill>
                            <a:srgbClr val="1A1A1A"/>
                          </a:solidFill>
                          <a:latin typeface="游ゴシック"/>
                          <a:ea typeface="游ゴシック"/>
                          <a:cs typeface="游ゴシック"/>
                        </a:rPr>
                        <a:t>減価償却費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115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24942">
                <a:tc>
                  <a:txBody>
                    <a:bodyPr wrap="square"/>
                    <a:lstStyle/>
                    <a:p>
                      <a:pPr algn="l">
                        <a:spcAft>
                          <a:spcPts val="0"/>
                        </a:spcAft>
                      </a:pPr>
                      <a:r>
                        <a:rPr sz="800" b="0">
                          <a:solidFill>
                            <a:srgbClr val="1A1A1A"/>
                          </a:solidFill>
                          <a:latin typeface="游ゴシック"/>
                          <a:ea typeface="游ゴシック"/>
                          <a:cs typeface="游ゴシック"/>
                        </a:rPr>
                        <a:t>事務用消耗品費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53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24942">
                <a:tc>
                  <a:txBody>
                    <a:bodyPr wrap="square"/>
                    <a:lstStyle/>
                    <a:p>
                      <a:pPr algn="l">
                        <a:spcAft>
                          <a:spcPts val="0"/>
                        </a:spcAft>
                      </a:pPr>
                      <a:r>
                        <a:rPr sz="800" b="0">
                          <a:solidFill>
                            <a:srgbClr val="1A1A1A"/>
                          </a:solidFill>
                          <a:latin typeface="游ゴシック"/>
                          <a:ea typeface="游ゴシック"/>
                          <a:cs typeface="游ゴシック"/>
                        </a:rPr>
                        <a:t>交通費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214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174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158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24942">
                <a:tc>
                  <a:txBody>
                    <a:bodyPr wrap="square"/>
                    <a:lstStyle/>
                    <a:p>
                      <a:pPr algn="l">
                        <a:spcAft>
                          <a:spcPts val="0"/>
                        </a:spcAft>
                      </a:pPr>
                      <a:r>
                        <a:rPr sz="800" b="0">
                          <a:solidFill>
                            <a:srgbClr val="1A1A1A"/>
                          </a:solidFill>
                          <a:latin typeface="游ゴシック"/>
                          <a:ea typeface="游ゴシック"/>
                          <a:cs typeface="游ゴシック"/>
                        </a:rPr>
                        <a:t>水道光熱費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1,345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5.5%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1,498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6.4%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1,490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6.6%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24942">
                <a:tc>
                  <a:txBody>
                    <a:bodyPr wrap="square"/>
                    <a:lstStyle/>
                    <a:p>
                      <a:pPr algn="l">
                        <a:spcAft>
                          <a:spcPts val="0"/>
                        </a:spcAft>
                      </a:pPr>
                      <a:r>
                        <a:rPr sz="800" b="0">
                          <a:solidFill>
                            <a:srgbClr val="1A1A1A"/>
                          </a:solidFill>
                          <a:latin typeface="游ゴシック"/>
                          <a:ea typeface="游ゴシック"/>
                          <a:cs typeface="游ゴシック"/>
                        </a:rPr>
                        <a:t>租税公課</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1,181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4.8%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1,095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4.7%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1,137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5.1%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24942">
                <a:tc>
                  <a:txBody>
                    <a:bodyPr wrap="square"/>
                    <a:lstStyle/>
                    <a:p>
                      <a:pPr algn="l">
                        <a:spcAft>
                          <a:spcPts val="0"/>
                        </a:spcAft>
                      </a:pPr>
                      <a:r>
                        <a:rPr sz="800" b="0">
                          <a:solidFill>
                            <a:srgbClr val="1A1A1A"/>
                          </a:solidFill>
                          <a:latin typeface="游ゴシック"/>
                          <a:ea typeface="游ゴシック"/>
                          <a:cs typeface="游ゴシック"/>
                        </a:rPr>
                        <a:t>接待交際費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52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24942">
                <a:tc>
                  <a:txBody>
                    <a:bodyPr wrap="square"/>
                    <a:lstStyle/>
                    <a:p>
                      <a:pPr algn="l">
                        <a:spcAft>
                          <a:spcPts val="0"/>
                        </a:spcAft>
                      </a:pPr>
                      <a:r>
                        <a:rPr sz="800" b="0">
                          <a:solidFill>
                            <a:srgbClr val="1A1A1A"/>
                          </a:solidFill>
                          <a:latin typeface="游ゴシック"/>
                          <a:ea typeface="游ゴシック"/>
                          <a:cs typeface="游ゴシック"/>
                        </a:rPr>
                        <a:t>保険料</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524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620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623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24942">
                <a:tc>
                  <a:txBody>
                    <a:bodyPr wrap="square"/>
                    <a:lstStyle/>
                    <a:p>
                      <a:pPr algn="l">
                        <a:spcAft>
                          <a:spcPts val="0"/>
                        </a:spcAft>
                      </a:pPr>
                      <a:r>
                        <a:rPr sz="800" b="0">
                          <a:solidFill>
                            <a:srgbClr val="1A1A1A"/>
                          </a:solidFill>
                          <a:latin typeface="游ゴシック"/>
                          <a:ea typeface="游ゴシック"/>
                          <a:cs typeface="游ゴシック"/>
                        </a:rPr>
                        <a:t>備品消耗品費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502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62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46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24942">
                <a:tc>
                  <a:txBody>
                    <a:bodyPr wrap="square"/>
                    <a:lstStyle/>
                    <a:p>
                      <a:pPr algn="l">
                        <a:spcAft>
                          <a:spcPts val="0"/>
                        </a:spcAft>
                      </a:pPr>
                      <a:r>
                        <a:rPr sz="800" b="0">
                          <a:solidFill>
                            <a:srgbClr val="1A1A1A"/>
                          </a:solidFill>
                          <a:latin typeface="游ゴシック"/>
                          <a:ea typeface="游ゴシック"/>
                          <a:cs typeface="游ゴシック"/>
                        </a:rPr>
                        <a:t>管理諸費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1,082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4.4%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1,184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1,044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4.6%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24942">
                <a:tc>
                  <a:txBody>
                    <a:bodyPr wrap="square"/>
                    <a:lstStyle/>
                    <a:p>
                      <a:pPr algn="l">
                        <a:spcAft>
                          <a:spcPts val="0"/>
                        </a:spcAft>
                      </a:pPr>
                      <a:r>
                        <a:rPr sz="800" b="0">
                          <a:solidFill>
                            <a:srgbClr val="1A1A1A"/>
                          </a:solidFill>
                          <a:latin typeface="游ゴシック"/>
                          <a:ea typeface="游ゴシック"/>
                          <a:cs typeface="游ゴシック"/>
                        </a:rPr>
                        <a:t>警備料</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145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145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145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24942">
                <a:tc>
                  <a:txBody>
                    <a:bodyPr wrap="square"/>
                    <a:lstStyle/>
                    <a:p>
                      <a:pPr algn="l">
                        <a:spcAft>
                          <a:spcPts val="0"/>
                        </a:spcAft>
                      </a:pPr>
                      <a:r>
                        <a:rPr sz="800" b="0">
                          <a:solidFill>
                            <a:srgbClr val="1A1A1A"/>
                          </a:solidFill>
                          <a:latin typeface="游ゴシック"/>
                          <a:ea typeface="游ゴシック"/>
                          <a:cs typeface="游ゴシック"/>
                        </a:rPr>
                        <a:t>雑費</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236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194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202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0">
                          <a:solidFill>
                            <a:srgbClr val="1A1A1A"/>
                          </a:solidFill>
                          <a:latin typeface="Arial"/>
                          <a:ea typeface="Arial"/>
                          <a:cs typeface="Arial"/>
                        </a:rPr>
                        <a:t>0.9%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24942">
                <a:tc>
                  <a:txBody>
                    <a:bodyPr wrap="square"/>
                    <a:lstStyle/>
                    <a:p>
                      <a:pPr algn="l">
                        <a:spcAft>
                          <a:spcPts val="0"/>
                        </a:spcAft>
                      </a:pPr>
                      <a:r>
                        <a:rPr sz="800" b="1">
                          <a:solidFill>
                            <a:srgbClr val="1A1A1A"/>
                          </a:solidFill>
                          <a:latin typeface="游ゴシック"/>
                          <a:ea typeface="游ゴシック"/>
                          <a:cs typeface="游ゴシック"/>
                        </a:rPr>
                        <a:t>販売費及び一般管理費 合計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7,082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29.0%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6,212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26.4%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6,267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00" b="1">
                          <a:solidFill>
                            <a:srgbClr val="1A1A1A"/>
                          </a:solidFill>
                          <a:latin typeface="Arial"/>
                          <a:ea typeface="Arial"/>
                          <a:cs typeface="Arial"/>
                        </a:rPr>
                        <a:t>27.9%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5" name="Rectangle 14"/>
          <p:cNvSpPr/>
          <p:nvPr/>
        </p:nvSpPr>
        <p:spPr>
          <a:xfrm>
            <a:off x="7114032" y="1408176"/>
            <a:ext cx="3264408" cy="5047488"/>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205472" y="1481328"/>
            <a:ext cx="3081527" cy="274320"/>
          </a:xfrm>
          <a:prstGeom prst="rect">
            <a:avLst/>
          </a:prstGeom>
          <a:noFill/>
        </p:spPr>
        <p:txBody>
          <a:bodyPr wrap="square" lIns="0" rIns="0" t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17" name="TextBox 16"/>
          <p:cNvSpPr txBox="1"/>
          <p:nvPr/>
        </p:nvSpPr>
        <p:spPr>
          <a:xfrm>
            <a:off x="7223760" y="1828800"/>
            <a:ext cx="3044952" cy="4535423"/>
          </a:xfrm>
          <a:prstGeom prst="rect">
            <a:avLst/>
          </a:prstGeom>
          <a:noFill/>
        </p:spPr>
        <p:txBody>
          <a:bodyPr wrap="square" lIns="0" rIns="0" tIns="0" bIns="0" anchor="t">
            <a:spAutoFit/>
          </a:bodyPr>
          <a:lstStyle/>
          <a:p>
            <a:pPr algn="l">
              <a:lnSpc>
                <a:spcPct val="118000"/>
              </a:lnSpc>
              <a:spcAft>
                <a:spcPts val="200"/>
              </a:spcAft>
            </a:pPr>
            <a:r>
              <a:rPr sz="830" b="1">
                <a:solidFill>
                  <a:srgbClr val="0889C9"/>
                </a:solidFill>
                <a:latin typeface="游ゴシック"/>
                <a:ea typeface="游ゴシック"/>
                <a:cs typeface="游ゴシック"/>
              </a:rPr>
              <a:t>≪水道光熱費 1,490千円≫ </a:t>
            </a:r>
            <a:r>
              <a:rPr sz="830" b="0">
                <a:solidFill>
                  <a:srgbClr val="1A1A1A"/>
                </a:solidFill>
                <a:latin typeface="游ゴシック"/>
                <a:ea typeface="游ゴシック"/>
                <a:cs typeface="游ゴシック"/>
              </a:rPr>
              <a:t>販管費の23.8％。茅葺き・板倉造の建物と薪ストーブ併用の空調に起因すると推察。</a:t>
            </a:r>
          </a:p>
          <a:p>
            <a:pPr algn="l">
              <a:spcAft>
                <a:spcPts val="200"/>
              </a:spcAft>
            </a:pPr>
          </a:p>
          <a:p>
            <a:pPr algn="l">
              <a:lnSpc>
                <a:spcPct val="118000"/>
              </a:lnSpc>
              <a:spcAft>
                <a:spcPts val="200"/>
              </a:spcAft>
            </a:pPr>
            <a:r>
              <a:rPr sz="830" b="1">
                <a:solidFill>
                  <a:srgbClr val="0889C9"/>
                </a:solidFill>
                <a:latin typeface="游ゴシック"/>
                <a:ea typeface="游ゴシック"/>
                <a:cs typeface="游ゴシック"/>
              </a:rPr>
              <a:t>≪租税公課 1,137千円≫ </a:t>
            </a:r>
            <a:r>
              <a:rPr sz="830" b="0">
                <a:solidFill>
                  <a:srgbClr val="1A1A1A"/>
                </a:solidFill>
                <a:latin typeface="游ゴシック"/>
                <a:ea typeface="游ゴシック"/>
                <a:cs typeface="游ゴシック"/>
              </a:rPr>
              <a:t>固定資産税が中心と推察。内訳は要確認。</a:t>
            </a:r>
          </a:p>
          <a:p>
            <a:pPr algn="l">
              <a:spcAft>
                <a:spcPts val="200"/>
              </a:spcAft>
            </a:pPr>
          </a:p>
          <a:p>
            <a:pPr algn="l">
              <a:lnSpc>
                <a:spcPct val="118000"/>
              </a:lnSpc>
              <a:spcAft>
                <a:spcPts val="200"/>
              </a:spcAft>
            </a:pPr>
            <a:r>
              <a:rPr sz="830" b="1">
                <a:solidFill>
                  <a:srgbClr val="0889C9"/>
                </a:solidFill>
                <a:latin typeface="游ゴシック"/>
                <a:ea typeface="游ゴシック"/>
                <a:cs typeface="游ゴシック"/>
              </a:rPr>
              <a:t>≪管理諸費 1,044千円≫ </a:t>
            </a:r>
            <a:r>
              <a:rPr sz="830" b="0">
                <a:solidFill>
                  <a:srgbClr val="1A1A1A"/>
                </a:solidFill>
                <a:latin typeface="游ゴシック"/>
                <a:ea typeface="游ゴシック"/>
                <a:cs typeface="游ゴシック"/>
              </a:rPr>
              <a:t>税理士報酬594千円、Mマート（B2B受発注）248千円、銀行振込手数料83千円、特許事務所61千円等。</a:t>
            </a:r>
          </a:p>
          <a:p>
            <a:pPr algn="l">
              <a:spcAft>
                <a:spcPts val="200"/>
              </a:spcAft>
            </a:pPr>
          </a:p>
          <a:p>
            <a:pPr algn="l">
              <a:lnSpc>
                <a:spcPct val="118000"/>
              </a:lnSpc>
              <a:spcAft>
                <a:spcPts val="200"/>
              </a:spcAft>
            </a:pPr>
            <a:r>
              <a:rPr sz="830" b="1">
                <a:solidFill>
                  <a:srgbClr val="0889C9"/>
                </a:solidFill>
                <a:latin typeface="游ゴシック"/>
                <a:ea typeface="游ゴシック"/>
                <a:cs typeface="游ゴシック"/>
              </a:rPr>
              <a:t>≪広告宣伝費 729千円≫ </a:t>
            </a:r>
            <a:r>
              <a:rPr sz="830" b="0">
                <a:solidFill>
                  <a:srgbClr val="1A1A1A"/>
                </a:solidFill>
                <a:latin typeface="游ゴシック"/>
                <a:ea typeface="游ゴシック"/>
                <a:cs typeface="游ゴシック"/>
              </a:rPr>
              <a:t>ライフガード330千円、SMBC 198千円、サイバーメディア198千円。内容は要確認。</a:t>
            </a:r>
          </a:p>
          <a:p>
            <a:pPr algn="l">
              <a:spcAft>
                <a:spcPts val="200"/>
              </a:spcAft>
            </a:pPr>
          </a:p>
          <a:p>
            <a:pPr algn="l">
              <a:lnSpc>
                <a:spcPct val="118000"/>
              </a:lnSpc>
              <a:spcAft>
                <a:spcPts val="200"/>
              </a:spcAft>
            </a:pPr>
            <a:r>
              <a:rPr sz="830" b="1">
                <a:solidFill>
                  <a:srgbClr val="0889C9"/>
                </a:solidFill>
                <a:latin typeface="游ゴシック"/>
                <a:ea typeface="游ゴシック"/>
                <a:cs typeface="游ゴシック"/>
              </a:rPr>
              <a:t>≪発送配達費 465千円≫ </a:t>
            </a:r>
            <a:r>
              <a:rPr sz="830" b="0">
                <a:solidFill>
                  <a:srgbClr val="1A1A1A"/>
                </a:solidFill>
                <a:latin typeface="游ゴシック"/>
                <a:ea typeface="游ゴシック"/>
                <a:cs typeface="游ゴシック"/>
              </a:rPr>
              <a:t>通信販売・卸売に係る送料。通販の伸長に対応している。</a:t>
            </a:r>
          </a:p>
          <a:p>
            <a:pPr algn="l">
              <a:spcAft>
                <a:spcPts val="200"/>
              </a:spcAft>
            </a:pPr>
          </a:p>
          <a:p>
            <a:pPr algn="l">
              <a:lnSpc>
                <a:spcPct val="118000"/>
              </a:lnSpc>
              <a:spcAft>
                <a:spcPts val="200"/>
              </a:spcAft>
            </a:pPr>
            <a:r>
              <a:rPr sz="830" b="1">
                <a:solidFill>
                  <a:srgbClr val="0889C9"/>
                </a:solidFill>
                <a:latin typeface="游ゴシック"/>
                <a:ea typeface="游ゴシック"/>
                <a:cs typeface="游ゴシック"/>
              </a:rPr>
              <a:t>≪人件費≫ </a:t>
            </a:r>
            <a:r>
              <a:rPr sz="830" b="0">
                <a:solidFill>
                  <a:srgbClr val="1A1A1A"/>
                </a:solidFill>
                <a:latin typeface="游ゴシック"/>
                <a:ea typeface="游ゴシック"/>
                <a:cs typeface="游ゴシック"/>
              </a:rPr>
              <a:t>販管費には給料手当・役員報酬の計上がない。労務費（雑給2,201千円）は製造原価に計上。</a:t>
            </a:r>
          </a:p>
        </p:txBody>
      </p:sp>
      <p:sp>
        <p:nvSpPr>
          <p:cNvPr id="18" name="TextBox 17"/>
          <p:cNvSpPr txBox="1"/>
          <p:nvPr/>
        </p:nvSpPr>
        <p:spPr>
          <a:xfrm>
            <a:off x="310896" y="6638544"/>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決算書（2024年5月期〜2026年5月期）に基づく。構成比は売上高に対する比率。科目の内訳は総勘定元帳（2026年5月期）の取引先欄を集計したもの。</a:t>
            </a:r>
          </a:p>
        </p:txBody>
      </p:sp>
    </p:spTree>
    <p:extLst>
      <p:ext uri="{BB962C8B-B14F-4D97-AF65-F5344CB8AC3E}">
        <p14:creationId xmlns:p14="http://schemas.microsoft.com/office/powerpoint/2010/main" val="19093800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E9481-F171-6C11-CA74-858754CED30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1067C0B-FDBB-DAD1-C4BF-FB866758BEC6}"/>
              </a:ext>
            </a:extLst>
          </p:cNvPr>
          <p:cNvSpPr>
            <a:spLocks noGrp="1"/>
          </p:cNvSpPr>
          <p:nvPr>
            <p:ph type="title"/>
          </p:nvPr>
        </p:nvSpPr>
        <p:spPr>
          <a:xfrm>
            <a:off x="989013" y="3656161"/>
            <a:ext cx="9221787" cy="615553"/>
          </a:xfrm>
        </p:spPr>
        <p:txBody>
          <a:bodyPr/>
          <a:lstStyle/>
          <a:p>
            <a:r>
              <a:rPr lang="en-US" altLang="ja-JP" dirty="0">
                <a:solidFill/>
              </a:rPr>
              <a:t>Appendix</a:t>
            </a:r>
          </a:p>
        </p:txBody>
      </p:sp>
    </p:spTree>
    <p:extLst>
      <p:ext uri="{BB962C8B-B14F-4D97-AF65-F5344CB8AC3E}">
        <p14:creationId xmlns:p14="http://schemas.microsoft.com/office/powerpoint/2010/main" val="34130237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2E3EC-2048-079E-7643-70D2CF76772A}"/>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02E27983-8C8F-AAE9-9CF2-1036574B4BDE}"/>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沿革</a:t>
            </a:r>
          </a:p>
        </p:txBody>
      </p:sp>
      <p:sp>
        <p:nvSpPr>
          <p:cNvPr id="5" name="タイトル 1">
            <a:extLst>
              <a:ext uri="{FF2B5EF4-FFF2-40B4-BE49-F238E27FC236}">
                <a16:creationId xmlns:a16="http://schemas.microsoft.com/office/drawing/2014/main" id="{7C6D20B5-6E7B-D773-483A-3D3213A63C3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a:latin typeface="游ゴシック"/>
                <a:ea typeface="游ゴシック"/>
                <a:cs typeface="游ゴシック"/>
              </a:rPr>
              <a:t>Appendix</a:t>
            </a:r>
            <a:endParaRPr lang="ja-JP" altLang="en-US" sz="1200" b="1" spc="55" dirty="0">
              <a:solidFill>
                <a:schemeClr val="bg1"/>
              </a:solidFill>
            </a:endParaRPr>
          </a:p>
        </p:txBody>
      </p:sp>
      <p:sp>
        <p:nvSpPr>
          <p:cNvPr id="4" name="字幕 13">
            <a:extLst>
              <a:ext uri="{FF2B5EF4-FFF2-40B4-BE49-F238E27FC236}">
                <a16:creationId xmlns:a16="http://schemas.microsoft.com/office/drawing/2014/main" id="{16508C02-2E69-432A-5CCB-7583CED20D5E}"/>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東京・南阿佐ヶ谷での創業から36年。2002年の故郷への移転以降、焼畑栽培と里山再生に取り組む</a:t>
            </a:r>
            <a:endParaRPr lang="en-US" altLang="ja-JP" dirty="0"/>
          </a:p>
        </p:txBody>
      </p:sp>
      <p:graphicFrame>
        <p:nvGraphicFramePr>
          <p:cNvPr id="14" name="Table 13"/>
          <p:cNvGraphicFramePr>
            <a:graphicFrameLocks noGrp="1"/>
          </p:cNvGraphicFramePr>
          <p:nvPr/>
        </p:nvGraphicFramePr>
        <p:xfrm>
          <a:off x="310896" y="1408176"/>
          <a:ext cx="10067544" cy="4838998"/>
        </p:xfrm>
        <a:graphic>
          <a:graphicData uri="http://schemas.openxmlformats.org/drawingml/2006/table">
            <a:tbl>
              <a:tblPr firstRow="0" bandRow="0">
                <a:tableStyleId>{5940675A-B579-460E-94D1-54222C63F5DA}</a:tableStyleId>
              </a:tblPr>
              <a:tblGrid>
                <a:gridCol w="1170432"/>
                <a:gridCol w="8897112"/>
              </a:tblGrid>
              <a:tr h="237744">
                <a:tc>
                  <a:txBody>
                    <a:bodyPr wrap="square"/>
                    <a:lstStyle/>
                    <a:p>
                      <a:pPr algn="ctr">
                        <a:spcAft>
                          <a:spcPts val="0"/>
                        </a:spcAft>
                      </a:pPr>
                      <a:r>
                        <a:rPr sz="840" b="1">
                          <a:solidFill>
                            <a:srgbClr val="FFFFFF"/>
                          </a:solidFill>
                          <a:latin typeface="游ゴシック"/>
                          <a:ea typeface="游ゴシック"/>
                          <a:cs typeface="游ゴシック"/>
                        </a:rPr>
                        <a:t>年</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内容</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0662">
                <a:tc>
                  <a:txBody>
                    <a:bodyPr wrap="square"/>
                    <a:lstStyle/>
                    <a:p>
                      <a:pPr algn="ctr">
                        <a:spcAft>
                          <a:spcPts val="0"/>
                        </a:spcAft>
                      </a:pPr>
                      <a:r>
                        <a:rPr sz="840" b="0">
                          <a:solidFill>
                            <a:srgbClr val="1A1A1A"/>
                          </a:solidFill>
                          <a:latin typeface="游ゴシック"/>
                          <a:ea typeface="游ゴシック"/>
                          <a:cs typeface="游ゴシック"/>
                        </a:rPr>
                        <a:t>1947年</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代表者 小川 宣夫 氏、茨城県（現・常陸太田市）に生まれる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0662">
                <a:tc>
                  <a:txBody>
                    <a:bodyPr wrap="square"/>
                    <a:lstStyle/>
                    <a:p>
                      <a:pPr algn="ctr">
                        <a:spcAft>
                          <a:spcPts val="0"/>
                        </a:spcAft>
                      </a:pPr>
                      <a:r>
                        <a:rPr sz="840" b="0">
                          <a:solidFill>
                            <a:srgbClr val="1A1A1A"/>
                          </a:solidFill>
                          <a:latin typeface="游ゴシック"/>
                          <a:ea typeface="游ゴシック"/>
                          <a:cs typeface="游ゴシック"/>
                        </a:rPr>
                        <a:t>1970年代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東京での会社員生活を経て、長野県大町市へ移住。蕎麦打ちに関心を持つ</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0662">
                <a:tc>
                  <a:txBody>
                    <a:bodyPr wrap="square"/>
                    <a:lstStyle/>
                    <a:p>
                      <a:pPr algn="ctr">
                        <a:spcAft>
                          <a:spcPts val="0"/>
                        </a:spcAft>
                      </a:pPr>
                      <a:r>
                        <a:rPr sz="840" b="0">
                          <a:solidFill>
                            <a:srgbClr val="1A1A1A"/>
                          </a:solidFill>
                          <a:latin typeface="游ゴシック"/>
                          <a:ea typeface="游ゴシック"/>
                          <a:cs typeface="游ゴシック"/>
                        </a:rPr>
                        <a:t>1978年頃</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31歳で東京・荻窪の名店「本むら庵」に入店</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0662">
                <a:tc>
                  <a:txBody>
                    <a:bodyPr wrap="square"/>
                    <a:lstStyle/>
                    <a:p>
                      <a:pPr algn="ctr">
                        <a:spcAft>
                          <a:spcPts val="0"/>
                        </a:spcAft>
                      </a:pPr>
                      <a:r>
                        <a:rPr sz="840" b="0">
                          <a:solidFill>
                            <a:srgbClr val="1A1A1A"/>
                          </a:solidFill>
                          <a:latin typeface="游ゴシック"/>
                          <a:ea typeface="游ゴシック"/>
                          <a:cs typeface="游ゴシック"/>
                        </a:rPr>
                        <a:t>1986年頃</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8年間の修業を経て独立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0662">
                <a:tc>
                  <a:txBody>
                    <a:bodyPr wrap="square"/>
                    <a:lstStyle/>
                    <a:p>
                      <a:pPr algn="ctr">
                        <a:spcAft>
                          <a:spcPts val="0"/>
                        </a:spcAft>
                      </a:pPr>
                      <a:r>
                        <a:rPr sz="840" b="0">
                          <a:solidFill>
                            <a:srgbClr val="1A1A1A"/>
                          </a:solidFill>
                          <a:latin typeface="游ゴシック"/>
                          <a:ea typeface="游ゴシック"/>
                          <a:cs typeface="游ゴシック"/>
                        </a:rPr>
                        <a:t>1990年4月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株式会社慈久庵 設立。東京・南阿佐ヶ谷に石臼挽き自家製粉の手打ち蕎麦店「慈久庵」を開業</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0662">
                <a:tc>
                  <a:txBody>
                    <a:bodyPr wrap="square"/>
                    <a:lstStyle/>
                    <a:p>
                      <a:pPr algn="ctr">
                        <a:spcAft>
                          <a:spcPts val="0"/>
                        </a:spcAft>
                      </a:pPr>
                      <a:r>
                        <a:rPr sz="840" b="0">
                          <a:solidFill>
                            <a:srgbClr val="1A1A1A"/>
                          </a:solidFill>
                          <a:latin typeface="游ゴシック"/>
                          <a:ea typeface="游ゴシック"/>
                          <a:cs typeface="游ゴシック"/>
                        </a:rPr>
                        <a:t>2002年2月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茨城県久慈郡水府村（現・常陸太田市天下野町）に店舗兼住居を建築し移転。板倉造・茅葺きの現店舗で営業を開始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0662">
                <a:tc>
                  <a:txBody>
                    <a:bodyPr wrap="square"/>
                    <a:lstStyle/>
                    <a:p>
                      <a:pPr algn="ctr">
                        <a:spcAft>
                          <a:spcPts val="0"/>
                        </a:spcAft>
                      </a:pPr>
                      <a:r>
                        <a:rPr sz="840" b="0">
                          <a:solidFill>
                            <a:srgbClr val="1A1A1A"/>
                          </a:solidFill>
                          <a:latin typeface="游ゴシック"/>
                          <a:ea typeface="游ゴシック"/>
                          <a:cs typeface="游ゴシック"/>
                        </a:rPr>
                        <a:t>2004年12月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市町村合併に伴い本店所在地の表示が「常陸太田市天下野町2162番地」に変更</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0662">
                <a:tc>
                  <a:txBody>
                    <a:bodyPr wrap="square"/>
                    <a:lstStyle/>
                    <a:p>
                      <a:pPr algn="ctr">
                        <a:spcAft>
                          <a:spcPts val="0"/>
                        </a:spcAft>
                      </a:pPr>
                      <a:r>
                        <a:rPr sz="840" b="0">
                          <a:solidFill>
                            <a:srgbClr val="1A1A1A"/>
                          </a:solidFill>
                          <a:latin typeface="游ゴシック"/>
                          <a:ea typeface="游ゴシック"/>
                          <a:cs typeface="游ゴシック"/>
                        </a:rPr>
                        <a:t>2005年</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常陸太田市の旧市街地に石臼挽き自家製粉の手打ち饂飩店「塩町館」を開店</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0662">
                <a:tc>
                  <a:txBody>
                    <a:bodyPr wrap="square"/>
                    <a:lstStyle/>
                    <a:p>
                      <a:pPr algn="ctr">
                        <a:spcAft>
                          <a:spcPts val="0"/>
                        </a:spcAft>
                      </a:pPr>
                      <a:r>
                        <a:rPr sz="840" b="0">
                          <a:solidFill>
                            <a:srgbClr val="1A1A1A"/>
                          </a:solidFill>
                          <a:latin typeface="游ゴシック"/>
                          <a:ea typeface="游ゴシック"/>
                          <a:cs typeface="游ゴシック"/>
                        </a:rPr>
                        <a:t>2011年12月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商標を登録（4件）</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0662">
                <a:tc>
                  <a:txBody>
                    <a:bodyPr wrap="square"/>
                    <a:lstStyle/>
                    <a:p>
                      <a:pPr algn="ctr">
                        <a:spcAft>
                          <a:spcPts val="0"/>
                        </a:spcAft>
                      </a:pPr>
                      <a:r>
                        <a:rPr sz="840" b="0">
                          <a:solidFill>
                            <a:srgbClr val="1A1A1A"/>
                          </a:solidFill>
                          <a:latin typeface="游ゴシック"/>
                          <a:ea typeface="游ゴシック"/>
                          <a:cs typeface="游ゴシック"/>
                        </a:rPr>
                        <a:t>2014年4月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定款の事業目的を変更（農園の経営、農業、農産物の生産・栽培・販売等を追加）</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0662">
                <a:tc>
                  <a:txBody>
                    <a:bodyPr wrap="square"/>
                    <a:lstStyle/>
                    <a:p>
                      <a:pPr algn="ctr">
                        <a:spcAft>
                          <a:spcPts val="0"/>
                        </a:spcAft>
                      </a:pPr>
                      <a:r>
                        <a:rPr sz="840" b="0">
                          <a:solidFill>
                            <a:srgbClr val="1A1A1A"/>
                          </a:solidFill>
                          <a:latin typeface="游ゴシック"/>
                          <a:ea typeface="游ゴシック"/>
                          <a:cs typeface="游ゴシック"/>
                        </a:rPr>
                        <a:t>2016年</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食べログ Japan Restaurant Award 2016「茨城県 TOP1」に選出</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0662">
                <a:tc>
                  <a:txBody>
                    <a:bodyPr wrap="square"/>
                    <a:lstStyle/>
                    <a:p>
                      <a:pPr algn="ctr">
                        <a:spcAft>
                          <a:spcPts val="0"/>
                        </a:spcAft>
                      </a:pPr>
                      <a:r>
                        <a:rPr sz="840" b="0">
                          <a:solidFill>
                            <a:srgbClr val="1A1A1A"/>
                          </a:solidFill>
                          <a:latin typeface="游ゴシック"/>
                          <a:ea typeface="游ゴシック"/>
                          <a:cs typeface="游ゴシック"/>
                        </a:rPr>
                        <a:t>2018年頃</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食べログ「そば 百名店」に選出</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0662">
                <a:tc>
                  <a:txBody>
                    <a:bodyPr wrap="square"/>
                    <a:lstStyle/>
                    <a:p>
                      <a:pPr algn="ctr">
                        <a:spcAft>
                          <a:spcPts val="0"/>
                        </a:spcAft>
                      </a:pPr>
                      <a:r>
                        <a:rPr sz="840" b="0">
                          <a:solidFill>
                            <a:srgbClr val="1A1A1A"/>
                          </a:solidFill>
                          <a:latin typeface="游ゴシック"/>
                          <a:ea typeface="游ゴシック"/>
                          <a:cs typeface="游ゴシック"/>
                        </a:rPr>
                        <a:t>2019年頃</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「古式けんちんそば」の商標展開を開始（約7年前／面談ヒアリング）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0662">
                <a:tc>
                  <a:txBody>
                    <a:bodyPr wrap="square"/>
                    <a:lstStyle/>
                    <a:p>
                      <a:pPr algn="ctr">
                        <a:spcAft>
                          <a:spcPts val="0"/>
                        </a:spcAft>
                      </a:pPr>
                      <a:r>
                        <a:rPr sz="840" b="0">
                          <a:solidFill>
                            <a:srgbClr val="1A1A1A"/>
                          </a:solidFill>
                          <a:latin typeface="游ゴシック"/>
                          <a:ea typeface="游ゴシック"/>
                          <a:cs typeface="游ゴシック"/>
                        </a:rPr>
                        <a:t>2020〜2021年</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コロナ禍および代表者の入院により約5か月休業。再開後はキャンプ需要等により来店客が増加</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0662">
                <a:tc>
                  <a:txBody>
                    <a:bodyPr wrap="square"/>
                    <a:lstStyle/>
                    <a:p>
                      <a:pPr algn="ctr">
                        <a:spcAft>
                          <a:spcPts val="0"/>
                        </a:spcAft>
                      </a:pPr>
                      <a:r>
                        <a:rPr sz="840" b="0">
                          <a:solidFill>
                            <a:srgbClr val="1A1A1A"/>
                          </a:solidFill>
                          <a:latin typeface="游ゴシック"/>
                          <a:ea typeface="游ゴシック"/>
                          <a:cs typeface="游ゴシック"/>
                        </a:rPr>
                        <a:t>2022年・2023年</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THE TABELOG AWARD Bronze を2年連続で受賞</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0662">
                <a:tc>
                  <a:txBody>
                    <a:bodyPr wrap="square"/>
                    <a:lstStyle/>
                    <a:p>
                      <a:pPr algn="ctr">
                        <a:spcAft>
                          <a:spcPts val="0"/>
                        </a:spcAft>
                      </a:pPr>
                      <a:r>
                        <a:rPr sz="840" b="0">
                          <a:solidFill>
                            <a:srgbClr val="1A1A1A"/>
                          </a:solidFill>
                          <a:latin typeface="游ゴシック"/>
                          <a:ea typeface="游ゴシック"/>
                          <a:cs typeface="游ゴシック"/>
                        </a:rPr>
                        <a:t>近年</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塩町館の営業権・什器備品を元従業員へ譲渡（建物は当社に残存）。そばの大規模栽培は中止し、地元産玄そばの適正価格での仕入に方針転換</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70662">
                <a:tc>
                  <a:txBody>
                    <a:bodyPr wrap="square"/>
                    <a:lstStyle/>
                    <a:p>
                      <a:pPr algn="ctr">
                        <a:spcAft>
                          <a:spcPts val="0"/>
                        </a:spcAft>
                      </a:pPr>
                      <a:r>
                        <a:rPr sz="840" b="0">
                          <a:solidFill>
                            <a:srgbClr val="1A1A1A"/>
                          </a:solidFill>
                          <a:latin typeface="游ゴシック"/>
                          <a:ea typeface="游ゴシック"/>
                          <a:cs typeface="游ゴシック"/>
                        </a:rPr>
                        <a:t>2026年</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Japan Brand Collection 2026 茨城版に掲載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5" name="TextBox 14"/>
          <p:cNvSpPr txBox="1"/>
          <p:nvPr/>
        </p:nvSpPr>
        <p:spPr>
          <a:xfrm>
            <a:off x="310896" y="6583680"/>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設立年月日・本店移転・事業目的の変更は法人登記簿、代表者経歴は著書の著者略歴、受賞歴は店内掲示物の実査、その他は面談ヒアリングに基づく。</a:t>
            </a:r>
          </a:p>
          <a:p>
            <a:pPr algn="l">
              <a:lnSpc>
                <a:spcPct val="112000"/>
              </a:lnSpc>
              <a:spcAft>
                <a:spcPts val="100"/>
              </a:spcAft>
            </a:pPr>
            <a:r>
              <a:rPr sz="750" b="0">
                <a:solidFill>
                  <a:srgbClr val="5A6670"/>
                </a:solidFill>
                <a:latin typeface="游ゴシック"/>
                <a:ea typeface="游ゴシック"/>
                <a:cs typeface="游ゴシック"/>
              </a:rPr>
              <a:t>※ 「1978年頃」「1986年頃」「2019年頃」等は、著者略歴の記載（31歳で入店、8年修業）および面談時の発言から弊社が推定したもの（推定）。</a:t>
            </a:r>
          </a:p>
        </p:txBody>
      </p:sp>
    </p:spTree>
    <p:extLst>
      <p:ext uri="{BB962C8B-B14F-4D97-AF65-F5344CB8AC3E}">
        <p14:creationId xmlns:p14="http://schemas.microsoft.com/office/powerpoint/2010/main" val="3914015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C83CD-8F2B-A456-D63E-667BDA8864F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6ECAC2D0-8CC0-B4C9-19B7-FFEA448BA129}"/>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代表者経歴</a:t>
            </a:r>
          </a:p>
        </p:txBody>
      </p:sp>
      <p:sp>
        <p:nvSpPr>
          <p:cNvPr id="5" name="タイトル 1">
            <a:extLst>
              <a:ext uri="{FF2B5EF4-FFF2-40B4-BE49-F238E27FC236}">
                <a16:creationId xmlns:a16="http://schemas.microsoft.com/office/drawing/2014/main" id="{B2954D03-DD0B-9909-BBC6-EB4264689F1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a:latin typeface="游ゴシック"/>
                <a:ea typeface="游ゴシック"/>
                <a:cs typeface="游ゴシック"/>
              </a:rPr>
              <a:t>Appendix</a:t>
            </a:r>
            <a:endParaRPr lang="ja-JP" altLang="en-US" sz="1200" b="1" spc="55" dirty="0">
              <a:solidFill>
                <a:schemeClr val="bg1"/>
              </a:solidFill>
            </a:endParaRPr>
          </a:p>
        </p:txBody>
      </p:sp>
      <p:sp>
        <p:nvSpPr>
          <p:cNvPr id="4" name="字幕 13">
            <a:extLst>
              <a:ext uri="{FF2B5EF4-FFF2-40B4-BE49-F238E27FC236}">
                <a16:creationId xmlns:a16="http://schemas.microsoft.com/office/drawing/2014/main" id="{44A78BE3-8FEA-62DF-2E04-90B59A7097B8}"/>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粗挽き蕎麦の第一人者。里山再生という目的のために東京の人気店を畳み、生まれ故郷へ移った経緯を持つ</a:t>
            </a:r>
            <a:endParaRPr lang="en-US" altLang="ja-JP" dirty="0"/>
          </a:p>
        </p:txBody>
      </p:sp>
      <p:sp>
        <p:nvSpPr>
          <p:cNvPr id="14" name="Rectangle 13"/>
          <p:cNvSpPr/>
          <p:nvPr/>
        </p:nvSpPr>
        <p:spPr>
          <a:xfrm>
            <a:off x="310896" y="1481328"/>
            <a:ext cx="4846320"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200" b="1">
                <a:solidFill>
                  <a:srgbClr val="FFFFFF"/>
                </a:solidFill>
                <a:latin typeface="游ゴシック"/>
                <a:ea typeface="游ゴシック"/>
                <a:cs typeface="游ゴシック"/>
              </a:rPr>
              <a:t>小川 宣夫 氏（代表取締役）</a:t>
            </a:r>
          </a:p>
        </p:txBody>
      </p:sp>
      <p:graphicFrame>
        <p:nvGraphicFramePr>
          <p:cNvPr id="15" name="Table 14"/>
          <p:cNvGraphicFramePr>
            <a:graphicFrameLocks noGrp="1"/>
          </p:cNvGraphicFramePr>
          <p:nvPr/>
        </p:nvGraphicFramePr>
        <p:xfrm>
          <a:off x="310896" y="1837943"/>
          <a:ext cx="4846320" cy="2834640"/>
        </p:xfrm>
        <a:graphic>
          <a:graphicData uri="http://schemas.openxmlformats.org/drawingml/2006/table">
            <a:tbl>
              <a:tblPr firstRow="0" bandRow="0">
                <a:tableStyleId>{5940675A-B579-460E-94D1-54222C63F5DA}</a:tableStyleId>
              </a:tblPr>
              <a:tblGrid>
                <a:gridCol w="1188720"/>
                <a:gridCol w="3657600"/>
              </a:tblGrid>
              <a:tr h="237744">
                <a:tc>
                  <a:txBody>
                    <a:bodyPr wrap="square"/>
                    <a:lstStyle/>
                    <a:p>
                      <a:pPr algn="ctr">
                        <a:spcAft>
                          <a:spcPts val="0"/>
                        </a:spcAft>
                      </a:pPr>
                      <a:r>
                        <a:rPr sz="840" b="1">
                          <a:solidFill>
                            <a:srgbClr val="FFFFFF"/>
                          </a:solidFill>
                          <a:latin typeface="游ゴシック"/>
                          <a:ea typeface="游ゴシック"/>
                          <a:cs typeface="游ゴシック"/>
                        </a:rPr>
                        <a:t>項目</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内容</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4612">
                <a:tc>
                  <a:txBody>
                    <a:bodyPr wrap="square"/>
                    <a:lstStyle/>
                    <a:p>
                      <a:pPr algn="l">
                        <a:spcAft>
                          <a:spcPts val="0"/>
                        </a:spcAft>
                      </a:pPr>
                      <a:r>
                        <a:rPr sz="840" b="0">
                          <a:solidFill>
                            <a:srgbClr val="1A1A1A"/>
                          </a:solidFill>
                          <a:latin typeface="游ゴシック"/>
                          <a:ea typeface="游ゴシック"/>
                          <a:cs typeface="游ゴシック"/>
                        </a:rPr>
                        <a:t>生年</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1947年（79歳）</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4612">
                <a:tc>
                  <a:txBody>
                    <a:bodyPr wrap="square"/>
                    <a:lstStyle/>
                    <a:p>
                      <a:pPr algn="l">
                        <a:spcAft>
                          <a:spcPts val="0"/>
                        </a:spcAft>
                      </a:pPr>
                      <a:r>
                        <a:rPr sz="840" b="0">
                          <a:solidFill>
                            <a:srgbClr val="1A1A1A"/>
                          </a:solidFill>
                          <a:latin typeface="游ゴシック"/>
                          <a:ea typeface="游ゴシック"/>
                          <a:cs typeface="游ゴシック"/>
                        </a:rPr>
                        <a:t>出身</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茨城県（現・常陸太田市）</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4612">
                <a:tc>
                  <a:txBody>
                    <a:bodyPr wrap="square"/>
                    <a:lstStyle/>
                    <a:p>
                      <a:pPr algn="l">
                        <a:spcAft>
                          <a:spcPts val="0"/>
                        </a:spcAft>
                      </a:pPr>
                      <a:r>
                        <a:rPr sz="840" b="0">
                          <a:solidFill>
                            <a:srgbClr val="1A1A1A"/>
                          </a:solidFill>
                          <a:latin typeface="游ゴシック"/>
                          <a:ea typeface="游ゴシック"/>
                          <a:cs typeface="游ゴシック"/>
                        </a:rPr>
                        <a:t>修業先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東京・荻窪「本むら庵」（8年間）</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4612">
                <a:tc>
                  <a:txBody>
                    <a:bodyPr wrap="square"/>
                    <a:lstStyle/>
                    <a:p>
                      <a:pPr algn="l">
                        <a:spcAft>
                          <a:spcPts val="0"/>
                        </a:spcAft>
                      </a:pPr>
                      <a:r>
                        <a:rPr sz="840" b="0">
                          <a:solidFill>
                            <a:srgbClr val="1A1A1A"/>
                          </a:solidFill>
                          <a:latin typeface="游ゴシック"/>
                          <a:ea typeface="游ゴシック"/>
                          <a:cs typeface="游ゴシック"/>
                        </a:rPr>
                        <a:t>専門</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粗挽き粉で打つ蕎麦の第一人者。在来農法・焼き畑蕎麦栽培、小麦・茶の栽培</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4612">
                <a:tc>
                  <a:txBody>
                    <a:bodyPr wrap="square"/>
                    <a:lstStyle/>
                    <a:p>
                      <a:pPr algn="l">
                        <a:spcAft>
                          <a:spcPts val="0"/>
                        </a:spcAft>
                      </a:pPr>
                      <a:r>
                        <a:rPr sz="840" b="0">
                          <a:solidFill>
                            <a:srgbClr val="1A1A1A"/>
                          </a:solidFill>
                          <a:latin typeface="游ゴシック"/>
                          <a:ea typeface="游ゴシック"/>
                          <a:cs typeface="游ゴシック"/>
                        </a:rPr>
                        <a:t>著作</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『小川宣夫の蕎麦・饂飩指南 ― 粗挽き蕎麦と石臼挽き饂飩』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4612">
                <a:tc>
                  <a:txBody>
                    <a:bodyPr wrap="square"/>
                    <a:lstStyle/>
                    <a:p>
                      <a:pPr algn="l">
                        <a:spcAft>
                          <a:spcPts val="0"/>
                        </a:spcAft>
                      </a:pPr>
                      <a:r>
                        <a:rPr sz="840" b="0">
                          <a:solidFill>
                            <a:srgbClr val="1A1A1A"/>
                          </a:solidFill>
                          <a:latin typeface="游ゴシック"/>
                          <a:ea typeface="游ゴシック"/>
                          <a:cs typeface="游ゴシック"/>
                        </a:rPr>
                        <a:t>保有株式</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130株（65.0％）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4612">
                <a:tc>
                  <a:txBody>
                    <a:bodyPr wrap="square"/>
                    <a:lstStyle/>
                    <a:p>
                      <a:pPr algn="l">
                        <a:spcAft>
                          <a:spcPts val="0"/>
                        </a:spcAft>
                      </a:pPr>
                      <a:r>
                        <a:rPr sz="840" b="0">
                          <a:solidFill>
                            <a:srgbClr val="1A1A1A"/>
                          </a:solidFill>
                          <a:latin typeface="游ゴシック"/>
                          <a:ea typeface="游ゴシック"/>
                          <a:cs typeface="游ゴシック"/>
                        </a:rPr>
                        <a:t>役員報酬</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計上なし（無報酬）</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4612">
                <a:tc>
                  <a:txBody>
                    <a:bodyPr wrap="square"/>
                    <a:lstStyle/>
                    <a:p>
                      <a:pPr algn="l">
                        <a:spcAft>
                          <a:spcPts val="0"/>
                        </a:spcAft>
                      </a:pPr>
                      <a:r>
                        <a:rPr sz="840" b="0">
                          <a:solidFill>
                            <a:srgbClr val="1A1A1A"/>
                          </a:solidFill>
                          <a:latin typeface="游ゴシック"/>
                          <a:ea typeface="游ゴシック"/>
                          <a:cs typeface="游ゴシック"/>
                        </a:rPr>
                        <a:t>本件後の関与</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引継ぎ完了後に退任予定（引継ぎ期間・方式は応相談）</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6" name="Rectangle 15"/>
          <p:cNvSpPr/>
          <p:nvPr/>
        </p:nvSpPr>
        <p:spPr>
          <a:xfrm>
            <a:off x="5376672" y="1481328"/>
            <a:ext cx="5001768"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200" b="1">
                <a:solidFill>
                  <a:srgbClr val="FFFFFF"/>
                </a:solidFill>
                <a:latin typeface="游ゴシック"/>
                <a:ea typeface="游ゴシック"/>
                <a:cs typeface="游ゴシック"/>
              </a:rPr>
              <a:t>経営姿勢・買手選定にあたってのご意向</a:t>
            </a:r>
          </a:p>
        </p:txBody>
      </p:sp>
      <p:sp>
        <p:nvSpPr>
          <p:cNvPr id="17" name="Rectangle 16"/>
          <p:cNvSpPr/>
          <p:nvPr/>
        </p:nvSpPr>
        <p:spPr>
          <a:xfrm>
            <a:off x="5376672" y="1837943"/>
            <a:ext cx="5001768" cy="3035808"/>
          </a:xfrm>
          <a:prstGeom prst="rect">
            <a:avLst/>
          </a:prstGeom>
          <a:solidFill>
            <a:srgbClr val="F7FAFC"/>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504688" y="1947672"/>
            <a:ext cx="4745736" cy="2816352"/>
          </a:xfrm>
          <a:prstGeom prst="rect">
            <a:avLst/>
          </a:prstGeom>
          <a:noFill/>
        </p:spPr>
        <p:txBody>
          <a:bodyPr wrap="square" lIns="0" rIns="0" tIns="0" bIns="0" anchor="t">
            <a:spAutoFit/>
          </a:bodyPr>
          <a:lstStyle/>
          <a:p>
            <a:pPr algn="l">
              <a:lnSpc>
                <a:spcPct val="120000"/>
              </a:lnSpc>
              <a:spcAft>
                <a:spcPts val="200"/>
              </a:spcAft>
            </a:pPr>
            <a:r>
              <a:rPr sz="880" b="1">
                <a:solidFill>
                  <a:srgbClr val="0889C9"/>
                </a:solidFill>
                <a:latin typeface="游ゴシック"/>
                <a:ea typeface="游ゴシック"/>
                <a:cs typeface="游ゴシック"/>
              </a:rPr>
              <a:t>里山再生という動機　</a:t>
            </a:r>
            <a:r>
              <a:rPr sz="880" b="0">
                <a:solidFill>
                  <a:srgbClr val="1A1A1A"/>
                </a:solidFill>
                <a:latin typeface="游ゴシック"/>
                <a:ea typeface="游ゴシック"/>
                <a:cs typeface="游ゴシック"/>
              </a:rPr>
              <a:t>「もっとおいしい蕎麦を」という追求と、放棄されていた地元の里山を再生したいという思いから、2002年に東京で評価を得ていた店を畳み、生まれ故郷へ移転。国内でも希少となった焼き畑農法を再興して24年になる。</a:t>
            </a:r>
          </a:p>
          <a:p>
            <a:pPr algn="l">
              <a:lnSpc>
                <a:spcPct val="120000"/>
              </a:lnSpc>
              <a:spcAft>
                <a:spcPts val="200"/>
              </a:spcAft>
            </a:pPr>
            <a:r>
              <a:rPr sz="880" b="1">
                <a:solidFill>
                  <a:srgbClr val="0889C9"/>
                </a:solidFill>
                <a:latin typeface="游ゴシック"/>
                <a:ea typeface="游ゴシック"/>
                <a:cs typeface="游ゴシック"/>
              </a:rPr>
              <a:t>地域との関係　</a:t>
            </a:r>
            <a:r>
              <a:rPr sz="880" b="0">
                <a:solidFill>
                  <a:srgbClr val="1A1A1A"/>
                </a:solidFill>
                <a:latin typeface="游ゴシック"/>
                <a:ea typeface="游ゴシック"/>
                <a:cs typeface="游ゴシック"/>
              </a:rPr>
              <a:t>玄そばは、農家を応援する意味合いから地元産の常陸秋そばを高値で買い取る方針。地域の生産者との関係性そのものが、原料調達の基盤になっている。</a:t>
            </a:r>
          </a:p>
          <a:p>
            <a:pPr algn="l">
              <a:lnSpc>
                <a:spcPct val="120000"/>
              </a:lnSpc>
              <a:spcAft>
                <a:spcPts val="200"/>
              </a:spcAft>
            </a:pPr>
            <a:r>
              <a:rPr sz="880" b="1">
                <a:solidFill>
                  <a:srgbClr val="0889C9"/>
                </a:solidFill>
                <a:latin typeface="游ゴシック"/>
                <a:ea typeface="游ゴシック"/>
                <a:cs typeface="游ゴシック"/>
              </a:rPr>
              <a:t>買手選定のご意向　</a:t>
            </a:r>
            <a:r>
              <a:rPr sz="880" b="0">
                <a:solidFill>
                  <a:srgbClr val="1A1A1A"/>
                </a:solidFill>
                <a:latin typeface="游ゴシック"/>
                <a:ea typeface="游ゴシック"/>
                <a:cs typeface="游ゴシック"/>
              </a:rPr>
              <a:t>譲渡価額よりも、①「慈久庵」の店舗を守り蕎麦屋として事業を継続してくれること、②将来的に店舗を広げていけること、の2点を重視されている。「慈久庵」のブランドと郷土料理（古式けんちんそば）の両方を活かしてほしいとのご意向。</a:t>
            </a:r>
          </a:p>
          <a:p>
            <a:pPr algn="l">
              <a:lnSpc>
                <a:spcPct val="120000"/>
              </a:lnSpc>
              <a:spcAft>
                <a:spcPts val="200"/>
              </a:spcAft>
            </a:pPr>
            <a:r>
              <a:rPr sz="880" b="1">
                <a:solidFill>
                  <a:srgbClr val="0889C9"/>
                </a:solidFill>
                <a:latin typeface="游ゴシック"/>
                <a:ea typeface="游ゴシック"/>
                <a:cs typeface="游ゴシック"/>
              </a:rPr>
              <a:t>引継ぎについて　</a:t>
            </a:r>
            <a:r>
              <a:rPr sz="880" b="0">
                <a:solidFill>
                  <a:srgbClr val="1A1A1A"/>
                </a:solidFill>
                <a:latin typeface="游ゴシック"/>
                <a:ea typeface="游ゴシック"/>
                <a:cs typeface="游ゴシック"/>
              </a:rPr>
              <a:t>レシピや「かえし」は誰でも再現できるよう整理済とのこと。過去には弟子へ別店舗（塩町館）の営業を承継した実績がある。</a:t>
            </a:r>
          </a:p>
        </p:txBody>
      </p:sp>
      <p:sp>
        <p:nvSpPr>
          <p:cNvPr id="19" name="TextBox 18"/>
          <p:cNvSpPr txBox="1"/>
          <p:nvPr/>
        </p:nvSpPr>
        <p:spPr>
          <a:xfrm>
            <a:off x="310896" y="5120640"/>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経歴は著書『小川宣夫の蕎麦・饂飩指南』の著者略歴および Japan Brand Collection 2026 茨城版、ご意向は面談ヒアリングに基づく。</a:t>
            </a:r>
          </a:p>
        </p:txBody>
      </p:sp>
    </p:spTree>
    <p:extLst>
      <p:ext uri="{BB962C8B-B14F-4D97-AF65-F5344CB8AC3E}">
        <p14:creationId xmlns:p14="http://schemas.microsoft.com/office/powerpoint/2010/main" val="3170289564"/>
      </p:ext>
    </p:extLst>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タイトル 12">
            <a:extLst>
              <a:ext uri="{FF2B5EF4-FFF2-40B4-BE49-F238E27FC236}">
                <a16:creationId xmlns:a16="http://schemas.microsoft.com/office/drawing/2014/main" id="{AE20CDE1-7008-F0D4-81FD-53AE154BF5EA}"/>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参考｜稼働拡大による売上・利益インパクト（仮説）</a:t>
            </a:r>
          </a:p>
        </p:txBody>
      </p:sp>
      <p:sp>
        <p:nvSpPr>
          <p:cNvPr id="5" name="タイトル 1">
            <a:extLst>
              <a:ext uri="{FF2B5EF4-FFF2-40B4-BE49-F238E27FC236}">
                <a16:creationId xmlns:a16="http://schemas.microsoft.com/office/drawing/2014/main" id="{6790A563-0096-2902-0624-D66AB2A099B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a:latin typeface="游ゴシック"/>
                <a:ea typeface="游ゴシック"/>
                <a:cs typeface="游ゴシック"/>
              </a:rPr>
              <a:t>事業概要</a:t>
            </a:r>
          </a:p>
        </p:txBody>
      </p:sp>
      <p:sp>
        <p:nvSpPr>
          <p:cNvPr id="7" name="字幕 13">
            <a:extLst>
              <a:ext uri="{FF2B5EF4-FFF2-40B4-BE49-F238E27FC236}">
                <a16:creationId xmlns:a16="http://schemas.microsoft.com/office/drawing/2014/main" id="{C28AC2D5-7B01-C5B2-1062-1CE28DB5BD3C}"/>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週4日・昼のみ・売り切りじまいという稼働が最大の伸び代。営業日を週6日とし日商を2024年5月期水準へ戻せば、そば職人1名を新たに雇用しても調整後EBITDAは現状を上回る</a:t>
            </a:r>
            <a:endParaRPr lang="en-US" altLang="ja-JP" dirty="0"/>
          </a:p>
        </p:txBody>
      </p:sp>
      <p:sp>
        <p:nvSpPr>
          <p:cNvPr id="14" name="Rectangle 13"/>
          <p:cNvSpPr/>
          <p:nvPr/>
        </p:nvSpPr>
        <p:spPr>
          <a:xfrm>
            <a:off x="310896" y="1371600"/>
            <a:ext cx="10067544"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100" b="1">
                <a:solidFill>
                  <a:srgbClr val="FFFFFF"/>
                </a:solidFill>
                <a:latin typeface="游ゴシック"/>
                <a:ea typeface="游ゴシック"/>
                <a:cs typeface="游ゴシック"/>
              </a:rPr>
              <a:t>① 営業日・日商を変えた場合の売上・利益（いずれも弊社の仮説）</a:t>
            </a:r>
          </a:p>
        </p:txBody>
      </p:sp>
      <p:graphicFrame>
        <p:nvGraphicFramePr>
          <p:cNvPr id="15" name="Table 14"/>
          <p:cNvGraphicFramePr>
            <a:graphicFrameLocks noGrp="1"/>
          </p:cNvGraphicFramePr>
          <p:nvPr/>
        </p:nvGraphicFramePr>
        <p:xfrm>
          <a:off x="310896" y="1728216"/>
          <a:ext cx="10067544" cy="1481328"/>
        </p:xfrm>
        <a:graphic>
          <a:graphicData uri="http://schemas.openxmlformats.org/drawingml/2006/table">
            <a:tbl>
              <a:tblPr firstRow="0" bandRow="0">
                <a:tableStyleId>{5940675A-B579-460E-94D1-54222C63F5DA}</a:tableStyleId>
              </a:tblPr>
              <a:tblGrid>
                <a:gridCol w="2706624"/>
                <a:gridCol w="822960"/>
                <a:gridCol w="822960"/>
                <a:gridCol w="1280160"/>
                <a:gridCol w="1280160"/>
                <a:gridCol w="1417320"/>
                <a:gridCol w="1737360"/>
              </a:tblGrid>
              <a:tr h="237744">
                <a:tc>
                  <a:txBody>
                    <a:bodyPr wrap="square"/>
                    <a:lstStyle/>
                    <a:p>
                      <a:pPr algn="ctr">
                        <a:spcAft>
                          <a:spcPts val="0"/>
                        </a:spcAft>
                      </a:pPr>
                      <a:r>
                        <a:rPr sz="860" b="1">
                          <a:solidFill>
                            <a:srgbClr val="FFFFFF"/>
                          </a:solidFill>
                          <a:latin typeface="游ゴシック"/>
                          <a:ea typeface="游ゴシック"/>
                          <a:cs typeface="游ゴシック"/>
                        </a:rPr>
                        <a:t>シナリオ</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60" b="1">
                          <a:solidFill>
                            <a:srgbClr val="FFFFFF"/>
                          </a:solidFill>
                          <a:latin typeface="Arial"/>
                          <a:ea typeface="Arial"/>
                          <a:cs typeface="Arial"/>
                        </a:rPr>
                        <a:t>営業日数</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60" b="1">
                          <a:solidFill>
                            <a:srgbClr val="FFFFFF"/>
                          </a:solidFill>
                          <a:latin typeface="Arial"/>
                          <a:ea typeface="Arial"/>
                          <a:cs typeface="Arial"/>
                        </a:rPr>
                        <a:t>日商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60" b="1">
                          <a:solidFill>
                            <a:srgbClr val="FFFFFF"/>
                          </a:solidFill>
                          <a:latin typeface="Arial"/>
                          <a:ea typeface="Arial"/>
                          <a:cs typeface="Arial"/>
                        </a:rPr>
                        <a:t>店頭売上高</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60" b="1">
                          <a:solidFill>
                            <a:srgbClr val="FFFFFF"/>
                          </a:solidFill>
                          <a:latin typeface="Arial"/>
                          <a:ea typeface="Arial"/>
                          <a:cs typeface="Arial"/>
                        </a:rPr>
                        <a:t>売上高 計</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60" b="1">
                          <a:solidFill>
                            <a:srgbClr val="FFFFFF"/>
                          </a:solidFill>
                          <a:latin typeface="Arial"/>
                          <a:ea typeface="Arial"/>
                          <a:cs typeface="Arial"/>
                        </a:rPr>
                        <a:t>調整後EBITDA</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60" b="1">
                          <a:solidFill>
                            <a:srgbClr val="FFFFFF"/>
                          </a:solidFill>
                          <a:latin typeface="Arial"/>
                          <a:ea typeface="Arial"/>
                          <a:cs typeface="Arial"/>
                        </a:rPr>
                        <a:t>職人1名雇用後</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0896">
                <a:tc>
                  <a:txBody>
                    <a:bodyPr wrap="square"/>
                    <a:lstStyle/>
                    <a:p>
                      <a:pPr algn="l">
                        <a:spcAft>
                          <a:spcPts val="0"/>
                        </a:spcAft>
                      </a:pPr>
                      <a:r>
                        <a:rPr sz="860" b="0">
                          <a:solidFill>
                            <a:srgbClr val="1A1A1A"/>
                          </a:solidFill>
                          <a:latin typeface="游ゴシック"/>
                          <a:ea typeface="游ゴシック"/>
                          <a:cs typeface="游ゴシック"/>
                        </a:rPr>
                        <a:t>現状（2026年5月期 実績）</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200日</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75千円</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0">
                          <a:solidFill>
                            <a:srgbClr val="1A1A1A"/>
                          </a:solidFill>
                          <a:latin typeface="Arial"/>
                          <a:ea typeface="Arial"/>
                          <a:cs typeface="Arial"/>
                        </a:rPr>
                        <a:t>15,099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0">
                          <a:solidFill>
                            <a:srgbClr val="1A1A1A"/>
                          </a:solidFill>
                          <a:latin typeface="Arial"/>
                          <a:ea typeface="Arial"/>
                          <a:cs typeface="Arial"/>
                        </a:rPr>
                        <a:t>22,484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0">
                          <a:solidFill>
                            <a:srgbClr val="1A1A1A"/>
                          </a:solidFill>
                          <a:latin typeface="Arial"/>
                          <a:ea typeface="Arial"/>
                          <a:cs typeface="Arial"/>
                        </a:rPr>
                        <a:t>6,801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0">
                          <a:solidFill>
                            <a:srgbClr val="C03A2B"/>
                          </a:solidFill>
                          <a:latin typeface="Arial"/>
                          <a:ea typeface="Arial"/>
                          <a:cs typeface="Arial"/>
                        </a:rPr>
                        <a:t>△99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0896">
                <a:tc>
                  <a:txBody>
                    <a:bodyPr wrap="square"/>
                    <a:lstStyle/>
                    <a:p>
                      <a:pPr algn="l">
                        <a:spcAft>
                          <a:spcPts val="0"/>
                        </a:spcAft>
                      </a:pPr>
                      <a:r>
                        <a:rPr sz="860" b="0">
                          <a:solidFill>
                            <a:srgbClr val="1A1A1A"/>
                          </a:solidFill>
                          <a:latin typeface="游ゴシック"/>
                          <a:ea typeface="游ゴシック"/>
                          <a:cs typeface="游ゴシック"/>
                        </a:rPr>
                        <a:t>A 週4日 → 週5日（日商は現状維持）</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250日</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75千円</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0">
                          <a:solidFill>
                            <a:srgbClr val="1A1A1A"/>
                          </a:solidFill>
                          <a:latin typeface="Arial"/>
                          <a:ea typeface="Arial"/>
                          <a:cs typeface="Arial"/>
                        </a:rPr>
                        <a:t>18,874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0">
                          <a:solidFill>
                            <a:srgbClr val="1A1A1A"/>
                          </a:solidFill>
                          <a:latin typeface="Arial"/>
                          <a:ea typeface="Arial"/>
                          <a:cs typeface="Arial"/>
                        </a:rPr>
                        <a:t>26,259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0">
                          <a:solidFill>
                            <a:srgbClr val="1A1A1A"/>
                          </a:solidFill>
                          <a:latin typeface="Arial"/>
                          <a:ea typeface="Arial"/>
                          <a:cs typeface="Arial"/>
                        </a:rPr>
                        <a:t>9,254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0">
                          <a:solidFill>
                            <a:srgbClr val="1A1A1A"/>
                          </a:solidFill>
                          <a:latin typeface="Arial"/>
                          <a:ea typeface="Arial"/>
                          <a:cs typeface="Arial"/>
                        </a:rPr>
                        <a:t>2,354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0896">
                <a:tc>
                  <a:txBody>
                    <a:bodyPr wrap="square"/>
                    <a:lstStyle/>
                    <a:p>
                      <a:pPr algn="l">
                        <a:spcAft>
                          <a:spcPts val="0"/>
                        </a:spcAft>
                      </a:pPr>
                      <a:r>
                        <a:rPr sz="860" b="0">
                          <a:solidFill>
                            <a:srgbClr val="1A1A1A"/>
                          </a:solidFill>
                          <a:latin typeface="游ゴシック"/>
                          <a:ea typeface="游ゴシック"/>
                          <a:cs typeface="游ゴシック"/>
                        </a:rPr>
                        <a:t>B 週5日 ＋ 日商を2024年5月期水準へ回復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250日</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0">
                          <a:solidFill>
                            <a:srgbClr val="1A1A1A"/>
                          </a:solidFill>
                          <a:latin typeface="游ゴシック"/>
                          <a:ea typeface="游ゴシック"/>
                          <a:cs typeface="游ゴシック"/>
                        </a:rPr>
                        <a:t>86千円</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0">
                          <a:solidFill>
                            <a:srgbClr val="1A1A1A"/>
                          </a:solidFill>
                          <a:latin typeface="Arial"/>
                          <a:ea typeface="Arial"/>
                          <a:cs typeface="Arial"/>
                        </a:rPr>
                        <a:t>21,572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0">
                          <a:solidFill>
                            <a:srgbClr val="1A1A1A"/>
                          </a:solidFill>
                          <a:latin typeface="Arial"/>
                          <a:ea typeface="Arial"/>
                          <a:cs typeface="Arial"/>
                        </a:rPr>
                        <a:t>28,957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0">
                          <a:solidFill>
                            <a:srgbClr val="1A1A1A"/>
                          </a:solidFill>
                          <a:latin typeface="Arial"/>
                          <a:ea typeface="Arial"/>
                          <a:cs typeface="Arial"/>
                        </a:rPr>
                        <a:t>11,008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0">
                          <a:solidFill>
                            <a:srgbClr val="1A1A1A"/>
                          </a:solidFill>
                          <a:latin typeface="Arial"/>
                          <a:ea typeface="Arial"/>
                          <a:cs typeface="Arial"/>
                        </a:rPr>
                        <a:t>4,108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10896">
                <a:tc>
                  <a:txBody>
                    <a:bodyPr wrap="square"/>
                    <a:lstStyle/>
                    <a:p>
                      <a:pPr algn="l">
                        <a:spcAft>
                          <a:spcPts val="0"/>
                        </a:spcAft>
                      </a:pPr>
                      <a:r>
                        <a:rPr sz="860" b="1">
                          <a:solidFill>
                            <a:srgbClr val="1A1A1A"/>
                          </a:solidFill>
                          <a:latin typeface="游ゴシック"/>
                          <a:ea typeface="游ゴシック"/>
                          <a:cs typeface="游ゴシック"/>
                        </a:rPr>
                        <a:t>C 週6日 ＋ 日商を2024年5月期水準へ回復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1">
                          <a:solidFill>
                            <a:srgbClr val="1A1A1A"/>
                          </a:solidFill>
                          <a:latin typeface="游ゴシック"/>
                          <a:ea typeface="游ゴシック"/>
                          <a:cs typeface="游ゴシック"/>
                        </a:rPr>
                        <a:t>300日</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60" b="1">
                          <a:solidFill>
                            <a:srgbClr val="1A1A1A"/>
                          </a:solidFill>
                          <a:latin typeface="游ゴシック"/>
                          <a:ea typeface="游ゴシック"/>
                          <a:cs typeface="游ゴシック"/>
                        </a:rPr>
                        <a:t>86千円</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1">
                          <a:solidFill>
                            <a:srgbClr val="1A1A1A"/>
                          </a:solidFill>
                          <a:latin typeface="Arial"/>
                          <a:ea typeface="Arial"/>
                          <a:cs typeface="Arial"/>
                        </a:rPr>
                        <a:t>25,887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1">
                          <a:solidFill>
                            <a:srgbClr val="1A1A1A"/>
                          </a:solidFill>
                          <a:latin typeface="Arial"/>
                          <a:ea typeface="Arial"/>
                          <a:cs typeface="Arial"/>
                        </a:rPr>
                        <a:t>33,272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1">
                          <a:solidFill>
                            <a:srgbClr val="1A1A1A"/>
                          </a:solidFill>
                          <a:latin typeface="Arial"/>
                          <a:ea typeface="Arial"/>
                          <a:cs typeface="Arial"/>
                        </a:rPr>
                        <a:t>13,813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r">
                        <a:spcAft>
                          <a:spcPts val="0"/>
                        </a:spcAft>
                      </a:pPr>
                      <a:r>
                        <a:rPr sz="860" b="1">
                          <a:solidFill>
                            <a:srgbClr val="1A1A1A"/>
                          </a:solidFill>
                          <a:latin typeface="Arial"/>
                          <a:ea typeface="Arial"/>
                          <a:cs typeface="Arial"/>
                        </a:rPr>
                        <a:t>6,913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6" name="TextBox 15"/>
          <p:cNvSpPr txBox="1"/>
          <p:nvPr/>
        </p:nvSpPr>
        <p:spPr>
          <a:xfrm>
            <a:off x="310896" y="3273552"/>
            <a:ext cx="10067544" cy="402336"/>
          </a:xfrm>
          <a:prstGeom prst="rect">
            <a:avLst/>
          </a:prstGeom>
          <a:noFill/>
        </p:spPr>
        <p:txBody>
          <a:bodyPr wrap="square" lIns="0" rIns="0" tIns="0" bIns="0" anchor="t">
            <a:spAutoFit/>
          </a:bodyPr>
          <a:lstStyle/>
          <a:p>
            <a:pPr algn="l">
              <a:lnSpc>
                <a:spcPct val="114000"/>
              </a:lnSpc>
              <a:spcAft>
                <a:spcPts val="0"/>
              </a:spcAft>
            </a:pPr>
            <a:r>
              <a:rPr sz="760" b="0">
                <a:solidFill>
                  <a:srgbClr val="5A6670"/>
                </a:solidFill>
                <a:latin typeface="游ゴシック"/>
                <a:ea typeface="游ゴシック"/>
                <a:cs typeface="游ゴシック"/>
              </a:rPr>
              <a:t>※ 店頭飲食のみを「営業日数×日商」で変動させ、卸売・通信販売・関係先向け供給は現状のまま据え置いた単純試算。限界利益率65％＝1－材料費率24.5％－ガス1.5％－水道0.4％－雑給9.8％（2026年5月期の売上高比）を切り下げたもの。</a:t>
            </a:r>
          </a:p>
          <a:p>
            <a:pPr algn="l">
              <a:lnSpc>
                <a:spcPct val="114000"/>
              </a:lnSpc>
              <a:spcAft>
                <a:spcPts val="0"/>
              </a:spcAft>
            </a:pPr>
            <a:r>
              <a:rPr sz="760" b="0">
                <a:solidFill>
                  <a:srgbClr val="5A6670"/>
                </a:solidFill>
                <a:latin typeface="游ゴシック"/>
                <a:ea typeface="游ゴシック"/>
                <a:cs typeface="游ゴシック"/>
              </a:rPr>
              <a:t>※ 日商は総勘定元帳の入金摘要から集計した実績（2026年5月期 75千円／2024年5月期 86千円）。そば職人1名分の想定人件費6,900千円は年収600万円＋社会保険料概算15％の仮置きであり、実額は要確認。</a:t>
            </a:r>
          </a:p>
        </p:txBody>
      </p:sp>
      <p:sp>
        <p:nvSpPr>
          <p:cNvPr id="17" name="Rectangle 16"/>
          <p:cNvSpPr/>
          <p:nvPr/>
        </p:nvSpPr>
        <p:spPr>
          <a:xfrm>
            <a:off x="310896" y="3767328"/>
            <a:ext cx="6382512"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100" b="1">
                <a:solidFill>
                  <a:srgbClr val="FFFFFF"/>
                </a:solidFill>
                <a:latin typeface="游ゴシック"/>
                <a:ea typeface="游ゴシック"/>
                <a:cs typeface="游ゴシック"/>
              </a:rPr>
              <a:t>② シナリオC（週6日＋日商回復）の組み立て</a:t>
            </a:r>
          </a:p>
        </p:txBody>
      </p:sp>
      <p:sp>
        <p:nvSpPr>
          <p:cNvPr id="18" name="Rectangle 17"/>
          <p:cNvSpPr/>
          <p:nvPr/>
        </p:nvSpPr>
        <p:spPr>
          <a:xfrm>
            <a:off x="310896" y="4123944"/>
            <a:ext cx="1499616" cy="1225296"/>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02336" y="4270248"/>
            <a:ext cx="1316736" cy="475488"/>
          </a:xfrm>
          <a:prstGeom prst="rect">
            <a:avLst/>
          </a:prstGeom>
          <a:noFill/>
        </p:spPr>
        <p:txBody>
          <a:bodyPr wrap="square" lIns="0" rIns="0" tIns="0" bIns="0" anchor="t">
            <a:spAutoFit/>
          </a:bodyPr>
          <a:lstStyle/>
          <a:p>
            <a:pPr algn="ctr">
              <a:lnSpc>
                <a:spcPct val="114000"/>
              </a:lnSpc>
              <a:spcAft>
                <a:spcPts val="0"/>
              </a:spcAft>
            </a:pPr>
            <a:r>
              <a:rPr sz="860" b="1">
                <a:solidFill>
                  <a:srgbClr val="1A1A1A"/>
                </a:solidFill>
                <a:latin typeface="游ゴシック"/>
                <a:ea typeface="游ゴシック"/>
                <a:cs typeface="游ゴシック"/>
              </a:rPr>
              <a:t>現状の調整後EBITDA</a:t>
            </a:r>
          </a:p>
        </p:txBody>
      </p:sp>
      <p:sp>
        <p:nvSpPr>
          <p:cNvPr id="20" name="TextBox 19"/>
          <p:cNvSpPr txBox="1"/>
          <p:nvPr/>
        </p:nvSpPr>
        <p:spPr>
          <a:xfrm>
            <a:off x="384048" y="4837176"/>
            <a:ext cx="1353312" cy="310896"/>
          </a:xfrm>
          <a:prstGeom prst="rect">
            <a:avLst/>
          </a:prstGeom>
          <a:noFill/>
        </p:spPr>
        <p:txBody>
          <a:bodyPr wrap="square" lIns="0" rIns="0" tIns="0" bIns="0" anchor="t">
            <a:spAutoFit/>
          </a:bodyPr>
          <a:lstStyle/>
          <a:p>
            <a:pPr algn="ctr">
              <a:spcAft>
                <a:spcPts val="0"/>
              </a:spcAft>
            </a:pPr>
            <a:r>
              <a:rPr sz="1300" b="1">
                <a:solidFill>
                  <a:srgbClr val="1A1A1A"/>
                </a:solidFill>
                <a:latin typeface="Arial"/>
                <a:ea typeface="Arial"/>
                <a:cs typeface="Arial"/>
              </a:rPr>
              <a:t>6,801千円</a:t>
            </a:r>
          </a:p>
        </p:txBody>
      </p:sp>
      <p:sp>
        <p:nvSpPr>
          <p:cNvPr id="21" name="Rectangle 20"/>
          <p:cNvSpPr/>
          <p:nvPr/>
        </p:nvSpPr>
        <p:spPr>
          <a:xfrm>
            <a:off x="1938527" y="4123944"/>
            <a:ext cx="1499616" cy="1225296"/>
          </a:xfrm>
          <a:prstGeom prst="rect">
            <a:avLst/>
          </a:prstGeom>
          <a:solidFill>
            <a:srgbClr val="E1F3FB"/>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2029967" y="4270248"/>
            <a:ext cx="1316736" cy="475488"/>
          </a:xfrm>
          <a:prstGeom prst="rect">
            <a:avLst/>
          </a:prstGeom>
          <a:noFill/>
        </p:spPr>
        <p:txBody>
          <a:bodyPr wrap="square" lIns="0" rIns="0" tIns="0" bIns="0" anchor="t">
            <a:spAutoFit/>
          </a:bodyPr>
          <a:lstStyle/>
          <a:p>
            <a:pPr algn="ctr">
              <a:lnSpc>
                <a:spcPct val="114000"/>
              </a:lnSpc>
              <a:spcAft>
                <a:spcPts val="0"/>
              </a:spcAft>
            </a:pPr>
            <a:r>
              <a:rPr sz="860" b="1">
                <a:solidFill>
                  <a:srgbClr val="0B3041"/>
                </a:solidFill>
                <a:latin typeface="游ゴシック"/>
                <a:ea typeface="游ゴシック"/>
                <a:cs typeface="游ゴシック"/>
              </a:rPr>
              <a:t>＋ 稼働拡大による増益</a:t>
            </a:r>
          </a:p>
        </p:txBody>
      </p:sp>
      <p:sp>
        <p:nvSpPr>
          <p:cNvPr id="23" name="TextBox 22"/>
          <p:cNvSpPr txBox="1"/>
          <p:nvPr/>
        </p:nvSpPr>
        <p:spPr>
          <a:xfrm>
            <a:off x="2011679" y="4837176"/>
            <a:ext cx="1353312" cy="310896"/>
          </a:xfrm>
          <a:prstGeom prst="rect">
            <a:avLst/>
          </a:prstGeom>
          <a:noFill/>
        </p:spPr>
        <p:txBody>
          <a:bodyPr wrap="square" lIns="0" rIns="0" tIns="0" bIns="0" anchor="t">
            <a:spAutoFit/>
          </a:bodyPr>
          <a:lstStyle/>
          <a:p>
            <a:pPr algn="ctr">
              <a:spcAft>
                <a:spcPts val="0"/>
              </a:spcAft>
            </a:pPr>
            <a:r>
              <a:rPr sz="1300" b="1">
                <a:solidFill>
                  <a:srgbClr val="0B3041"/>
                </a:solidFill>
                <a:latin typeface="Arial"/>
                <a:ea typeface="Arial"/>
                <a:cs typeface="Arial"/>
              </a:rPr>
              <a:t>＋7,012千円</a:t>
            </a:r>
          </a:p>
        </p:txBody>
      </p:sp>
      <p:sp>
        <p:nvSpPr>
          <p:cNvPr id="24" name="Rectangle 23"/>
          <p:cNvSpPr/>
          <p:nvPr/>
        </p:nvSpPr>
        <p:spPr>
          <a:xfrm>
            <a:off x="3566159" y="4123944"/>
            <a:ext cx="1499616" cy="1225296"/>
          </a:xfrm>
          <a:prstGeom prst="rect">
            <a:avLst/>
          </a:prstGeom>
          <a:solidFill>
            <a:srgbClr val="FFFFFF"/>
          </a:solidFill>
          <a:ln w="12700">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657599" y="4270248"/>
            <a:ext cx="1316736" cy="475488"/>
          </a:xfrm>
          <a:prstGeom prst="rect">
            <a:avLst/>
          </a:prstGeom>
          <a:noFill/>
        </p:spPr>
        <p:txBody>
          <a:bodyPr wrap="square" lIns="0" rIns="0" tIns="0" bIns="0" anchor="t">
            <a:spAutoFit/>
          </a:bodyPr>
          <a:lstStyle/>
          <a:p>
            <a:pPr algn="ctr">
              <a:lnSpc>
                <a:spcPct val="114000"/>
              </a:lnSpc>
              <a:spcAft>
                <a:spcPts val="0"/>
              </a:spcAft>
            </a:pPr>
            <a:r>
              <a:rPr sz="860" b="1">
                <a:solidFill>
                  <a:srgbClr val="C03A2B"/>
                </a:solidFill>
                <a:latin typeface="游ゴシック"/>
                <a:ea typeface="游ゴシック"/>
                <a:cs typeface="游ゴシック"/>
              </a:rPr>
              <a:t>△ そば職人1名の人件費</a:t>
            </a:r>
          </a:p>
        </p:txBody>
      </p:sp>
      <p:sp>
        <p:nvSpPr>
          <p:cNvPr id="26" name="TextBox 25"/>
          <p:cNvSpPr txBox="1"/>
          <p:nvPr/>
        </p:nvSpPr>
        <p:spPr>
          <a:xfrm>
            <a:off x="3639311" y="4837176"/>
            <a:ext cx="1353312" cy="310896"/>
          </a:xfrm>
          <a:prstGeom prst="rect">
            <a:avLst/>
          </a:prstGeom>
          <a:noFill/>
        </p:spPr>
        <p:txBody>
          <a:bodyPr wrap="square" lIns="0" rIns="0" tIns="0" bIns="0" anchor="t">
            <a:spAutoFit/>
          </a:bodyPr>
          <a:lstStyle/>
          <a:p>
            <a:pPr algn="ctr">
              <a:spcAft>
                <a:spcPts val="0"/>
              </a:spcAft>
            </a:pPr>
            <a:r>
              <a:rPr sz="1300" b="1">
                <a:solidFill>
                  <a:srgbClr val="C03A2B"/>
                </a:solidFill>
                <a:latin typeface="Arial"/>
                <a:ea typeface="Arial"/>
                <a:cs typeface="Arial"/>
              </a:rPr>
              <a:t>△6,900千円</a:t>
            </a:r>
          </a:p>
        </p:txBody>
      </p:sp>
      <p:sp>
        <p:nvSpPr>
          <p:cNvPr id="27" name="Rectangle 26"/>
          <p:cNvSpPr/>
          <p:nvPr/>
        </p:nvSpPr>
        <p:spPr>
          <a:xfrm>
            <a:off x="5193792" y="4123944"/>
            <a:ext cx="1499616" cy="1225296"/>
          </a:xfrm>
          <a:prstGeom prst="rect">
            <a:avLst/>
          </a:prstGeom>
          <a:solidFill>
            <a:srgbClr val="0B3041"/>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5285231" y="4270248"/>
            <a:ext cx="1316736" cy="475488"/>
          </a:xfrm>
          <a:prstGeom prst="rect">
            <a:avLst/>
          </a:prstGeom>
          <a:noFill/>
        </p:spPr>
        <p:txBody>
          <a:bodyPr wrap="square" lIns="0" rIns="0" tIns="0" bIns="0" anchor="t">
            <a:spAutoFit/>
          </a:bodyPr>
          <a:lstStyle/>
          <a:p>
            <a:pPr algn="ctr">
              <a:lnSpc>
                <a:spcPct val="114000"/>
              </a:lnSpc>
              <a:spcAft>
                <a:spcPts val="0"/>
              </a:spcAft>
            </a:pPr>
            <a:r>
              <a:rPr sz="860" b="1">
                <a:solidFill>
                  <a:srgbClr val="FFFFFF"/>
                </a:solidFill>
                <a:latin typeface="游ゴシック"/>
                <a:ea typeface="游ゴシック"/>
                <a:cs typeface="游ゴシック"/>
              </a:rPr>
              <a:t>＝ シナリオC 着地</a:t>
            </a:r>
          </a:p>
        </p:txBody>
      </p:sp>
      <p:sp>
        <p:nvSpPr>
          <p:cNvPr id="29" name="TextBox 28"/>
          <p:cNvSpPr txBox="1"/>
          <p:nvPr/>
        </p:nvSpPr>
        <p:spPr>
          <a:xfrm>
            <a:off x="5266944" y="4837176"/>
            <a:ext cx="1353312" cy="310896"/>
          </a:xfrm>
          <a:prstGeom prst="rect">
            <a:avLst/>
          </a:prstGeom>
          <a:noFill/>
        </p:spPr>
        <p:txBody>
          <a:bodyPr wrap="square" lIns="0" rIns="0" tIns="0" bIns="0" anchor="t">
            <a:spAutoFit/>
          </a:bodyPr>
          <a:lstStyle/>
          <a:p>
            <a:pPr algn="ctr">
              <a:spcAft>
                <a:spcPts val="0"/>
              </a:spcAft>
            </a:pPr>
            <a:r>
              <a:rPr sz="1300" b="1">
                <a:solidFill>
                  <a:srgbClr val="FFFFFF"/>
                </a:solidFill>
                <a:latin typeface="Arial"/>
                <a:ea typeface="Arial"/>
                <a:cs typeface="Arial"/>
              </a:rPr>
              <a:t>6,913千円</a:t>
            </a:r>
          </a:p>
        </p:txBody>
      </p:sp>
      <p:sp>
        <p:nvSpPr>
          <p:cNvPr id="30" name="TextBox 29"/>
          <p:cNvSpPr txBox="1"/>
          <p:nvPr/>
        </p:nvSpPr>
        <p:spPr>
          <a:xfrm>
            <a:off x="310896" y="5504688"/>
            <a:ext cx="6382512" cy="768096"/>
          </a:xfrm>
          <a:prstGeom prst="rect">
            <a:avLst/>
          </a:prstGeom>
          <a:noFill/>
        </p:spPr>
        <p:txBody>
          <a:bodyPr wrap="square" lIns="0" rIns="0" tIns="0" bIns="0" anchor="t">
            <a:spAutoFit/>
          </a:bodyPr>
          <a:lstStyle/>
          <a:p>
            <a:pPr algn="l">
              <a:lnSpc>
                <a:spcPct val="124000"/>
              </a:lnSpc>
              <a:spcAft>
                <a:spcPts val="0"/>
              </a:spcAft>
            </a:pPr>
            <a:r>
              <a:rPr sz="940" b="0">
                <a:solidFill>
                  <a:srgbClr val="1A1A1A"/>
                </a:solidFill>
                <a:latin typeface="游ゴシック"/>
                <a:ea typeface="游ゴシック"/>
                <a:cs typeface="游ゴシック"/>
              </a:rPr>
              <a:t>職人1名を雇用しても、営業日を週6日・日商を2024年5月期水準へ戻せれば調整後EBITDAは6,913千円となり、現状の6,801千円を上回る。言い換えると、本件の損益は「人件費を吸収できないほど薄い」のではなく、「稼働が週4日・昼のみに抑えられていることの結果」と読むのが妥当と考えている（弊社の評価）。</a:t>
            </a:r>
          </a:p>
        </p:txBody>
      </p:sp>
      <p:sp>
        <p:nvSpPr>
          <p:cNvPr id="31" name="Rectangle 30"/>
          <p:cNvSpPr/>
          <p:nvPr/>
        </p:nvSpPr>
        <p:spPr>
          <a:xfrm>
            <a:off x="6876288" y="3767328"/>
            <a:ext cx="3502152" cy="2651760"/>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967727" y="3840480"/>
            <a:ext cx="3319272" cy="274320"/>
          </a:xfrm>
          <a:prstGeom prst="rect">
            <a:avLst/>
          </a:prstGeom>
          <a:noFill/>
        </p:spPr>
        <p:txBody>
          <a:bodyPr wrap="square" lIns="0" rIns="0" t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33" name="TextBox 32"/>
          <p:cNvSpPr txBox="1"/>
          <p:nvPr/>
        </p:nvSpPr>
        <p:spPr>
          <a:xfrm>
            <a:off x="6986016" y="4187952"/>
            <a:ext cx="3282696" cy="2139696"/>
          </a:xfrm>
          <a:prstGeom prst="rect">
            <a:avLst/>
          </a:prstGeom>
          <a:noFill/>
        </p:spPr>
        <p:txBody>
          <a:bodyPr wrap="square" lIns="0" rIns="0" tIns="0" bIns="0" anchor="t">
            <a:spAutoFit/>
          </a:bodyPr>
          <a:lstStyle/>
          <a:p>
            <a:pPr algn="l">
              <a:lnSpc>
                <a:spcPct val="118000"/>
              </a:lnSpc>
              <a:spcAft>
                <a:spcPts val="500"/>
              </a:spcAft>
            </a:pPr>
            <a:r>
              <a:rPr sz="880" b="1">
                <a:solidFill>
                  <a:srgbClr val="0889C9"/>
                </a:solidFill>
                <a:latin typeface="游ゴシック"/>
                <a:ea typeface="游ゴシック"/>
                <a:cs typeface="游ゴシック"/>
              </a:rPr>
              <a:t>≪売り切りじまい≫ </a:t>
            </a:r>
            <a:r>
              <a:rPr sz="860" b="0">
                <a:solidFill>
                  <a:srgbClr val="1A1A1A"/>
                </a:solidFill>
                <a:latin typeface="游ゴシック"/>
                <a:ea typeface="游ゴシック"/>
                <a:cs typeface="游ゴシック"/>
              </a:rPr>
              <a:t>用意した分が出たら閉店。供給が需要を規定している可能性があり、食数を増やせば伸びる余地がある（要確認）。</a:t>
            </a:r>
          </a:p>
          <a:p>
            <a:pPr algn="l">
              <a:lnSpc>
                <a:spcPct val="118000"/>
              </a:lnSpc>
              <a:spcAft>
                <a:spcPts val="500"/>
              </a:spcAft>
            </a:pPr>
            <a:r>
              <a:rPr sz="880" b="1">
                <a:solidFill>
                  <a:srgbClr val="0889C9"/>
                </a:solidFill>
                <a:latin typeface="游ゴシック"/>
                <a:ea typeface="游ゴシック"/>
                <a:cs typeface="游ゴシック"/>
              </a:rPr>
              <a:t>≪拡大に必要なもの≫ </a:t>
            </a:r>
            <a:r>
              <a:rPr sz="860" b="0">
                <a:solidFill>
                  <a:srgbClr val="1A1A1A"/>
                </a:solidFill>
                <a:latin typeface="游ゴシック"/>
                <a:ea typeface="游ゴシック"/>
                <a:cs typeface="游ゴシック"/>
              </a:rPr>
              <a:t>①人員の追加、②玄そばの調達量（シナリオCで約1.7倍）、③集客の裏付け。掲載誌には「接客や調理、片付けまでの全てを小川氏一人でこなす」との記載がある。</a:t>
            </a:r>
          </a:p>
          <a:p>
            <a:pPr algn="l">
              <a:lnSpc>
                <a:spcPct val="118000"/>
              </a:lnSpc>
              <a:spcAft>
                <a:spcPts val="500"/>
              </a:spcAft>
            </a:pPr>
            <a:r>
              <a:rPr sz="880" b="1">
                <a:solidFill>
                  <a:srgbClr val="0889C9"/>
                </a:solidFill>
                <a:latin typeface="游ゴシック"/>
                <a:ea typeface="游ゴシック"/>
                <a:cs typeface="游ゴシック"/>
              </a:rPr>
              <a:t>≪集客の下地≫ </a:t>
            </a:r>
            <a:r>
              <a:rPr sz="860" b="0">
                <a:solidFill>
                  <a:srgbClr val="1A1A1A"/>
                </a:solidFill>
                <a:latin typeface="游ゴシック"/>
                <a:ea typeface="游ゴシック"/>
                <a:cs typeface="游ゴシック"/>
              </a:rPr>
              <a:t>竜神大吊橋の近隣という観光動線上に立地。コロナ後の再開時にはキャンプ需要等で来店客が増加した実績がある。</a:t>
            </a:r>
          </a:p>
          <a:p>
            <a:pPr algn="l">
              <a:lnSpc>
                <a:spcPct val="118000"/>
              </a:lnSpc>
              <a:spcAft>
                <a:spcPts val="200"/>
              </a:spcAft>
            </a:pPr>
            <a:r>
              <a:rPr sz="880" b="1">
                <a:solidFill>
                  <a:srgbClr val="0889C9"/>
                </a:solidFill>
                <a:latin typeface="游ゴシック"/>
                <a:ea typeface="游ゴシック"/>
                <a:cs typeface="游ゴシック"/>
              </a:rPr>
              <a:t>≪人件費の読み方≫ </a:t>
            </a:r>
            <a:r>
              <a:rPr sz="860" b="0">
                <a:solidFill>
                  <a:srgbClr val="1A1A1A"/>
                </a:solidFill>
                <a:latin typeface="游ゴシック"/>
                <a:ea typeface="游ゴシック"/>
                <a:cs typeface="游ゴシック"/>
              </a:rPr>
              <a:t>6,900千円は買手が経営に専念する前提の仮置き。買手自身が店に入るなら自らの役員報酬となる。買手タイプ別の整理は次頁。</a:t>
            </a:r>
          </a:p>
        </p:txBody>
      </p:sp>
      <p:sp>
        <p:nvSpPr>
          <p:cNvPr id="34" name="TextBox 33"/>
          <p:cNvSpPr txBox="1"/>
          <p:nvPr/>
        </p:nvSpPr>
        <p:spPr>
          <a:xfrm>
            <a:off x="310896" y="6492240"/>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本ページの試算はいずれも弊社の仮説であり、将来の業績を保証するものではありません。前提の妥当性は買手候補様においてご検証ください。</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外部評価・メディア掲載</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a:latin typeface="游ゴシック"/>
                <a:ea typeface="游ゴシック"/>
                <a:cs typeface="游ゴシック"/>
              </a:rPr>
              <a:t>Appendix</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食べログアワードBronzeを2年連続で受賞し、そば百名店にも選出。加えて同業の名店が原料を仕入れに訪れており、一般の評価サイトの順位以上の意味を持つ</a:t>
            </a:r>
            <a:endParaRPr lang="en-US" altLang="ja-JP" dirty="0"/>
          </a:p>
        </p:txBody>
      </p:sp>
      <p:graphicFrame>
        <p:nvGraphicFramePr>
          <p:cNvPr id="14" name="Table 13"/>
          <p:cNvGraphicFramePr>
            <a:graphicFrameLocks noGrp="1"/>
          </p:cNvGraphicFramePr>
          <p:nvPr/>
        </p:nvGraphicFramePr>
        <p:xfrm>
          <a:off x="310896" y="1463040"/>
          <a:ext cx="6382512" cy="2212848"/>
        </p:xfrm>
        <a:graphic>
          <a:graphicData uri="http://schemas.openxmlformats.org/drawingml/2006/table">
            <a:tbl>
              <a:tblPr firstRow="0" bandRow="0">
                <a:tableStyleId>{5940675A-B579-460E-94D1-54222C63F5DA}</a:tableStyleId>
              </a:tblPr>
              <a:tblGrid>
                <a:gridCol w="987552"/>
                <a:gridCol w="2743200"/>
                <a:gridCol w="749808"/>
                <a:gridCol w="1901952"/>
              </a:tblGrid>
              <a:tr h="237744">
                <a:tc>
                  <a:txBody>
                    <a:bodyPr wrap="square"/>
                    <a:lstStyle/>
                    <a:p>
                      <a:pPr algn="ctr">
                        <a:spcAft>
                          <a:spcPts val="0"/>
                        </a:spcAft>
                      </a:pPr>
                      <a:r>
                        <a:rPr sz="840" b="1">
                          <a:solidFill>
                            <a:srgbClr val="FFFFFF"/>
                          </a:solidFill>
                          <a:latin typeface="游ゴシック"/>
                          <a:ea typeface="游ゴシック"/>
                          <a:cs typeface="游ゴシック"/>
                        </a:rPr>
                        <a:t>区分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名称・媒体</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時期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内容</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9184">
                <a:tc>
                  <a:txBody>
                    <a:bodyPr wrap="square"/>
                    <a:lstStyle/>
                    <a:p>
                      <a:pPr algn="l">
                        <a:spcAft>
                          <a:spcPts val="0"/>
                        </a:spcAft>
                      </a:pPr>
                      <a:r>
                        <a:rPr sz="840" b="0">
                          <a:solidFill>
                            <a:srgbClr val="1A1A1A"/>
                          </a:solidFill>
                          <a:latin typeface="游ゴシック"/>
                          <a:ea typeface="游ゴシック"/>
                          <a:cs typeface="游ゴシック"/>
                        </a:rPr>
                        <a:t>受賞・選出</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Japan Restaurant Award（食べログ）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2016年</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茨城県 TOP 1 に選出</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9184">
                <a:tc>
                  <a:txBody>
                    <a:bodyPr wrap="square"/>
                    <a:lstStyle/>
                    <a:p>
                      <a:pPr algn="l">
                        <a:spcAft>
                          <a:spcPts val="0"/>
                        </a:spcAft>
                      </a:pPr>
                      <a:r>
                        <a:rPr sz="840" b="0">
                          <a:solidFill>
                            <a:srgbClr val="1A1A1A"/>
                          </a:solidFill>
                          <a:latin typeface="游ゴシック"/>
                          <a:ea typeface="游ゴシック"/>
                          <a:cs typeface="游ゴシック"/>
                        </a:rPr>
                        <a:t>受賞・選出</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THE TABELOG AWARD</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2022年</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Bronze 受賞</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9184">
                <a:tc>
                  <a:txBody>
                    <a:bodyPr wrap="square"/>
                    <a:lstStyle/>
                    <a:p>
                      <a:pPr algn="l">
                        <a:spcAft>
                          <a:spcPts val="0"/>
                        </a:spcAft>
                      </a:pPr>
                      <a:r>
                        <a:rPr sz="840" b="0">
                          <a:solidFill>
                            <a:srgbClr val="1A1A1A"/>
                          </a:solidFill>
                          <a:latin typeface="游ゴシック"/>
                          <a:ea typeface="游ゴシック"/>
                          <a:cs typeface="游ゴシック"/>
                        </a:rPr>
                        <a:t>受賞・選出</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THE TABELOG AWARD</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2023年</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Bronze 受賞（2年連続）</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9184">
                <a:tc>
                  <a:txBody>
                    <a:bodyPr wrap="square"/>
                    <a:lstStyle/>
                    <a:p>
                      <a:pPr algn="l">
                        <a:spcAft>
                          <a:spcPts val="0"/>
                        </a:spcAft>
                      </a:pPr>
                      <a:r>
                        <a:rPr sz="840" b="0">
                          <a:solidFill>
                            <a:srgbClr val="1A1A1A"/>
                          </a:solidFill>
                          <a:latin typeface="游ゴシック"/>
                          <a:ea typeface="游ゴシック"/>
                          <a:cs typeface="游ゴシック"/>
                        </a:rPr>
                        <a:t>受賞・選出</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食べログ「そば 百名店」</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2018年頃</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選出。店内にステッカーを掲示</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9184">
                <a:tc>
                  <a:txBody>
                    <a:bodyPr wrap="square"/>
                    <a:lstStyle/>
                    <a:p>
                      <a:pPr algn="l">
                        <a:spcAft>
                          <a:spcPts val="0"/>
                        </a:spcAft>
                      </a:pPr>
                      <a:r>
                        <a:rPr sz="840" b="0">
                          <a:solidFill>
                            <a:srgbClr val="1A1A1A"/>
                          </a:solidFill>
                          <a:latin typeface="游ゴシック"/>
                          <a:ea typeface="游ゴシック"/>
                          <a:cs typeface="游ゴシック"/>
                        </a:rPr>
                        <a:t>媒体掲載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Japan Brand Collection 2026 茨城版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2026年</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「古式健珍蕎麦 慈久庵」として掲載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29184">
                <a:tc>
                  <a:txBody>
                    <a:bodyPr wrap="square"/>
                    <a:lstStyle/>
                    <a:p>
                      <a:pPr algn="l">
                        <a:spcAft>
                          <a:spcPts val="0"/>
                        </a:spcAft>
                      </a:pPr>
                      <a:r>
                        <a:rPr sz="840" b="0">
                          <a:solidFill>
                            <a:srgbClr val="1A1A1A"/>
                          </a:solidFill>
                          <a:latin typeface="游ゴシック"/>
                          <a:ea typeface="游ゴシック"/>
                          <a:cs typeface="游ゴシック"/>
                        </a:rPr>
                        <a:t>書籍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『小川宣夫の蕎麦・饂飩指南 ― 粗挽き蕎麦と石臼挽き饂飩』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代表者による著作</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5" name="Rectangle 14"/>
          <p:cNvSpPr/>
          <p:nvPr/>
        </p:nvSpPr>
        <p:spPr>
          <a:xfrm>
            <a:off x="310896" y="3895344"/>
            <a:ext cx="6382512" cy="29260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200" b="1">
                <a:solidFill>
                  <a:srgbClr val="FFFFFF"/>
                </a:solidFill>
                <a:latin typeface="游ゴシック"/>
                <a:ea typeface="游ゴシック"/>
                <a:cs typeface="游ゴシック"/>
              </a:rPr>
              <a:t>同業・つくり手からの評価</a:t>
            </a:r>
          </a:p>
        </p:txBody>
      </p:sp>
      <p:sp>
        <p:nvSpPr>
          <p:cNvPr id="16" name="TextBox 15"/>
          <p:cNvSpPr txBox="1"/>
          <p:nvPr/>
        </p:nvSpPr>
        <p:spPr>
          <a:xfrm>
            <a:off x="365760" y="4315968"/>
            <a:ext cx="6272784" cy="1389888"/>
          </a:xfrm>
          <a:prstGeom prst="rect">
            <a:avLst/>
          </a:prstGeom>
          <a:noFill/>
        </p:spPr>
        <p:txBody>
          <a:bodyPr wrap="square" lIns="0" rIns="0" tIns="0" bIns="0" anchor="t">
            <a:spAutoFit/>
          </a:bodyPr>
          <a:lstStyle/>
          <a:p>
            <a:pPr algn="l">
              <a:lnSpc>
                <a:spcPct val="122000"/>
              </a:lnSpc>
              <a:spcAft>
                <a:spcPts val="200"/>
              </a:spcAft>
            </a:pPr>
            <a:r>
              <a:rPr sz="940" b="1">
                <a:solidFill>
                  <a:srgbClr val="0889C9"/>
                </a:solidFill>
                <a:latin typeface="游ゴシック"/>
                <a:ea typeface="游ゴシック"/>
                <a:cs typeface="游ゴシック"/>
              </a:rPr>
              <a:t>玄そば・蕎麦粉の供給先　</a:t>
            </a:r>
            <a:r>
              <a:rPr sz="919" b="0">
                <a:solidFill>
                  <a:srgbClr val="1A1A1A"/>
                </a:solidFill>
                <a:latin typeface="游ゴシック"/>
                <a:ea typeface="游ゴシック"/>
                <a:cs typeface="游ゴシック"/>
              </a:rPr>
              <a:t>打心蕎庵・玉笑など、同業の有名店が玄そば・蕎麦粉を仕入れている。</a:t>
            </a:r>
          </a:p>
          <a:p>
            <a:pPr algn="l">
              <a:lnSpc>
                <a:spcPct val="122000"/>
              </a:lnSpc>
              <a:spcAft>
                <a:spcPts val="200"/>
              </a:spcAft>
            </a:pPr>
            <a:r>
              <a:rPr sz="940" b="1">
                <a:solidFill>
                  <a:srgbClr val="0889C9"/>
                </a:solidFill>
                <a:latin typeface="游ゴシック"/>
                <a:ea typeface="游ゴシック"/>
                <a:cs typeface="游ゴシック"/>
              </a:rPr>
              <a:t>石臼挽き小麦粉の供給先　</a:t>
            </a:r>
            <a:r>
              <a:rPr sz="919" b="0">
                <a:solidFill>
                  <a:srgbClr val="1A1A1A"/>
                </a:solidFill>
                <a:latin typeface="游ゴシック"/>
                <a:ea typeface="游ゴシック"/>
                <a:cs typeface="游ゴシック"/>
              </a:rPr>
              <a:t>キビヤベーカリー（1,865千円）、ルヴァン（231千円）。いずれも3期連続で取引が継続している。</a:t>
            </a:r>
          </a:p>
          <a:p>
            <a:pPr algn="l">
              <a:lnSpc>
                <a:spcPct val="122000"/>
              </a:lnSpc>
              <a:spcAft>
                <a:spcPts val="200"/>
              </a:spcAft>
            </a:pPr>
            <a:r>
              <a:rPr sz="940" b="1">
                <a:solidFill>
                  <a:srgbClr val="0889C9"/>
                </a:solidFill>
                <a:latin typeface="游ゴシック"/>
                <a:ea typeface="游ゴシック"/>
                <a:cs typeface="游ゴシック"/>
              </a:rPr>
              <a:t>意味合い　</a:t>
            </a:r>
            <a:r>
              <a:rPr sz="919" b="0">
                <a:solidFill>
                  <a:srgbClr val="1A1A1A"/>
                </a:solidFill>
                <a:latin typeface="游ゴシック"/>
                <a:ea typeface="游ゴシック"/>
                <a:cs typeface="游ゴシック"/>
              </a:rPr>
              <a:t>消費者の評価だけでなく、原料の目利きができる「つくり手」から選ばれている点が、ブランドの持続性を裏付けている（弊社の評価）。</a:t>
            </a:r>
          </a:p>
        </p:txBody>
      </p:sp>
      <p:sp>
        <p:nvSpPr>
          <p:cNvPr id="17" name="Rectangle 16"/>
          <p:cNvSpPr/>
          <p:nvPr/>
        </p:nvSpPr>
        <p:spPr>
          <a:xfrm>
            <a:off x="6876288" y="1463040"/>
            <a:ext cx="3502152" cy="4242816"/>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967727" y="1536192"/>
            <a:ext cx="3319272" cy="274320"/>
          </a:xfrm>
          <a:prstGeom prst="rect">
            <a:avLst/>
          </a:prstGeom>
          <a:noFill/>
        </p:spPr>
        <p:txBody>
          <a:bodyPr wrap="square" lIns="0" rIns="0" t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19" name="TextBox 18"/>
          <p:cNvSpPr txBox="1"/>
          <p:nvPr/>
        </p:nvSpPr>
        <p:spPr>
          <a:xfrm>
            <a:off x="6986016" y="1883664"/>
            <a:ext cx="3282696" cy="3730752"/>
          </a:xfrm>
          <a:prstGeom prst="rect">
            <a:avLst/>
          </a:prstGeom>
          <a:noFill/>
        </p:spPr>
        <p:txBody>
          <a:bodyPr wrap="square" lIns="0" rIns="0" tIns="0" bIns="0" anchor="t">
            <a:spAutoFit/>
          </a:bodyPr>
          <a:lstStyle/>
          <a:p>
            <a:pPr algn="l">
              <a:lnSpc>
                <a:spcPct val="120000"/>
              </a:lnSpc>
              <a:spcAft>
                <a:spcPts val="200"/>
              </a:spcAft>
            </a:pPr>
            <a:r>
              <a:rPr sz="919" b="1">
                <a:solidFill>
                  <a:srgbClr val="0889C9"/>
                </a:solidFill>
                <a:latin typeface="游ゴシック"/>
                <a:ea typeface="游ゴシック"/>
                <a:cs typeface="游ゴシック"/>
              </a:rPr>
              <a:t>≪知名度の位置づけ≫ </a:t>
            </a:r>
            <a:r>
              <a:rPr sz="900" b="0">
                <a:solidFill>
                  <a:srgbClr val="1A1A1A"/>
                </a:solidFill>
                <a:latin typeface="游ゴシック"/>
                <a:ea typeface="游ゴシック"/>
                <a:cs typeface="游ゴシック"/>
              </a:rPr>
              <a:t>常陸太田市天下野町という、鉄道駅から離れた中山間地に立地しながら、県内トップの評価と全国区の認知を得ている。立地の不利を上回る集客力は、ブランドそのものに起因していると考えられる。</a:t>
            </a:r>
          </a:p>
          <a:p>
            <a:pPr algn="l">
              <a:spcAft>
                <a:spcPts val="200"/>
              </a:spcAft>
            </a:pPr>
          </a:p>
          <a:p>
            <a:pPr algn="l">
              <a:lnSpc>
                <a:spcPct val="120000"/>
              </a:lnSpc>
              <a:spcAft>
                <a:spcPts val="200"/>
              </a:spcAft>
            </a:pPr>
            <a:r>
              <a:rPr sz="919" b="1">
                <a:solidFill>
                  <a:srgbClr val="0889C9"/>
                </a:solidFill>
                <a:latin typeface="游ゴシック"/>
                <a:ea typeface="游ゴシック"/>
                <a:cs typeface="游ゴシック"/>
              </a:rPr>
              <a:t>≪承継後の継続性≫ </a:t>
            </a:r>
            <a:r>
              <a:rPr sz="900" b="0">
                <a:solidFill>
                  <a:srgbClr val="1A1A1A"/>
                </a:solidFill>
                <a:latin typeface="游ゴシック"/>
                <a:ea typeface="游ゴシック"/>
                <a:cs typeface="游ゴシック"/>
              </a:rPr>
              <a:t>受賞・選出は店舗と製法に対する評価であり、代表者個人への評価と不可分な部分がある。承継後も評価を維持できるかは、製法の引継ぎの完成度に依存する（P.22・P.38）。</a:t>
            </a:r>
          </a:p>
          <a:p>
            <a:pPr algn="l">
              <a:spcAft>
                <a:spcPts val="200"/>
              </a:spcAft>
            </a:pPr>
          </a:p>
          <a:p>
            <a:pPr algn="l">
              <a:lnSpc>
                <a:spcPct val="120000"/>
              </a:lnSpc>
              <a:spcAft>
                <a:spcPts val="200"/>
              </a:spcAft>
            </a:pPr>
            <a:r>
              <a:rPr sz="919" b="1">
                <a:solidFill>
                  <a:srgbClr val="0889C9"/>
                </a:solidFill>
                <a:latin typeface="游ゴシック"/>
                <a:ea typeface="游ゴシック"/>
                <a:cs typeface="游ゴシック"/>
              </a:rPr>
              <a:t>≪掲載物の取扱い≫ </a:t>
            </a:r>
            <a:r>
              <a:rPr sz="900" b="0">
                <a:solidFill>
                  <a:srgbClr val="1A1A1A"/>
                </a:solidFill>
                <a:latin typeface="游ゴシック"/>
                <a:ea typeface="游ゴシック"/>
                <a:cs typeface="游ゴシック"/>
              </a:rPr>
              <a:t>掲載誌の誌面および書籍の写真を本書に転載する場合は、発行元の許諾が必要となる。受賞盾・ステッカー等の店内掲示物を弊社が撮影した写真であれば、この制約を受けずに掲載できる。</a:t>
            </a:r>
          </a:p>
          <a:p>
            <a:pPr algn="l">
              <a:spcAft>
                <a:spcPts val="200"/>
              </a:spcAft>
            </a:pPr>
          </a:p>
          <a:p>
            <a:pPr algn="l">
              <a:lnSpc>
                <a:spcPct val="120000"/>
              </a:lnSpc>
              <a:spcAft>
                <a:spcPts val="200"/>
              </a:spcAft>
            </a:pPr>
            <a:r>
              <a:rPr sz="919" b="1">
                <a:solidFill>
                  <a:srgbClr val="0889C9"/>
                </a:solidFill>
                <a:latin typeface="游ゴシック"/>
                <a:ea typeface="游ゴシック"/>
                <a:cs typeface="游ゴシック"/>
              </a:rPr>
              <a:t>≪裏付け資料≫ </a:t>
            </a:r>
            <a:r>
              <a:rPr sz="900" b="0">
                <a:solidFill>
                  <a:srgbClr val="1A1A1A"/>
                </a:solidFill>
                <a:latin typeface="游ゴシック"/>
                <a:ea typeface="游ゴシック"/>
                <a:cs typeface="游ゴシック"/>
              </a:rPr>
              <a:t>受賞歴は店内に掲示された盾・楯・ステッカーの実査により確認。表彰状等の原本および掲載誌の現物は要確認。</a:t>
            </a:r>
          </a:p>
        </p:txBody>
      </p:sp>
      <p:sp>
        <p:nvSpPr>
          <p:cNvPr id="20" name="TextBox 19"/>
          <p:cNvSpPr txBox="1"/>
          <p:nvPr/>
        </p:nvSpPr>
        <p:spPr>
          <a:xfrm>
            <a:off x="310896" y="6473952"/>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受賞・選出は店内掲示物の実査、媒体掲載は Japan Brand Collection 2026 茨城版、供給先金額は総勘定元帳の取引先別集計に基づきます。</a:t>
            </a:r>
          </a:p>
          <a:p>
            <a:pPr algn="l">
              <a:lnSpc>
                <a:spcPct val="112000"/>
              </a:lnSpc>
              <a:spcAft>
                <a:spcPts val="100"/>
              </a:spcAft>
            </a:pPr>
            <a:r>
              <a:rPr sz="750" b="0">
                <a:solidFill>
                  <a:srgbClr val="5A6670"/>
                </a:solidFill>
                <a:latin typeface="游ゴシック"/>
                <a:ea typeface="游ゴシック"/>
                <a:cs typeface="游ゴシック"/>
              </a:rPr>
              <a:t>※ 受賞記録の原本は未受領です（案件マスター「その他」シート 追加論点 No.7）。</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75621-FF75-0C7B-591E-C5EBD950595B}"/>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E874B4C-2D5E-166C-B8B9-0164D0AAEFB9}"/>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要確認事項・ネクストステップ</a:t>
            </a:r>
          </a:p>
        </p:txBody>
      </p:sp>
      <p:sp>
        <p:nvSpPr>
          <p:cNvPr id="5" name="タイトル 1">
            <a:extLst>
              <a:ext uri="{FF2B5EF4-FFF2-40B4-BE49-F238E27FC236}">
                <a16:creationId xmlns:a16="http://schemas.microsoft.com/office/drawing/2014/main" id="{8B300F08-EE1D-F462-B949-D3B040FD027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a:latin typeface="游ゴシック"/>
                <a:ea typeface="游ゴシック"/>
                <a:cs typeface="游ゴシック"/>
              </a:rPr>
              <a:t>Appendix</a:t>
            </a:r>
            <a:endParaRPr lang="ja-JP" altLang="en-US" sz="1200" b="1" spc="55" dirty="0">
              <a:solidFill>
                <a:schemeClr val="bg1"/>
              </a:solidFill>
            </a:endParaRPr>
          </a:p>
        </p:txBody>
      </p:sp>
      <p:sp>
        <p:nvSpPr>
          <p:cNvPr id="4" name="字幕 13">
            <a:extLst>
              <a:ext uri="{FF2B5EF4-FFF2-40B4-BE49-F238E27FC236}">
                <a16:creationId xmlns:a16="http://schemas.microsoft.com/office/drawing/2014/main" id="{FCA9575B-1240-BC5B-38CA-16FCB838E8D8}"/>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本概要書の作成時点で裏付資料の受領が完了していない事項。トップ面談前の確定を想定</a:t>
            </a:r>
            <a:endParaRPr lang="en-US" altLang="ja-JP" dirty="0"/>
          </a:p>
        </p:txBody>
      </p:sp>
      <p:graphicFrame>
        <p:nvGraphicFramePr>
          <p:cNvPr id="14" name="Table 13"/>
          <p:cNvGraphicFramePr>
            <a:graphicFrameLocks noGrp="1"/>
          </p:cNvGraphicFramePr>
          <p:nvPr/>
        </p:nvGraphicFramePr>
        <p:xfrm>
          <a:off x="310896" y="1408176"/>
          <a:ext cx="10067544" cy="4683550"/>
        </p:xfrm>
        <a:graphic>
          <a:graphicData uri="http://schemas.openxmlformats.org/drawingml/2006/table">
            <a:tbl>
              <a:tblPr firstRow="0" bandRow="0">
                <a:tableStyleId>{5940675A-B579-460E-94D1-54222C63F5DA}</a:tableStyleId>
              </a:tblPr>
              <a:tblGrid>
                <a:gridCol w="365760"/>
                <a:gridCol w="1188720"/>
                <a:gridCol w="7781544"/>
                <a:gridCol w="731520"/>
              </a:tblGrid>
              <a:tr h="237744">
                <a:tc>
                  <a:txBody>
                    <a:bodyPr wrap="square"/>
                    <a:lstStyle/>
                    <a:p>
                      <a:pPr algn="ctr">
                        <a:spcAft>
                          <a:spcPts val="0"/>
                        </a:spcAft>
                      </a:pPr>
                      <a:r>
                        <a:rPr sz="819" b="1">
                          <a:solidFill>
                            <a:srgbClr val="FFFFFF"/>
                          </a:solidFill>
                          <a:latin typeface="游ゴシック"/>
                          <a:ea typeface="游ゴシック"/>
                          <a:cs typeface="游ゴシック"/>
                        </a:rPr>
                        <a:t>No.</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分野</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確認事項</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優先度</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1518">
                <a:tc>
                  <a:txBody>
                    <a:bodyPr wrap="square"/>
                    <a:lstStyle/>
                    <a:p>
                      <a:pPr algn="ctr">
                        <a:spcAft>
                          <a:spcPts val="0"/>
                        </a:spcAft>
                      </a:pPr>
                      <a:r>
                        <a:rPr sz="819" b="0">
                          <a:solidFill>
                            <a:srgbClr val="1A1A1A"/>
                          </a:solidFill>
                          <a:latin typeface="Arial"/>
                          <a:ea typeface="Arial"/>
                          <a:cs typeface="Arial"/>
                        </a:rPr>
                        <a:t>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不動産・権利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店舗建物が未登記。表題登記・保存登記の実施可否、費用、所要期間。土地の登記簿・公図・測量図の取得</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0">
                          <a:solidFill>
                            <a:srgbClr val="1A1A1A"/>
                          </a:solidFill>
                          <a:latin typeface="游ゴシック"/>
                          <a:ea typeface="游ゴシック"/>
                          <a:cs typeface="游ゴシック"/>
                        </a:rPr>
                        <a:t>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1518">
                <a:tc>
                  <a:txBody>
                    <a:bodyPr wrap="square"/>
                    <a:lstStyle/>
                    <a:p>
                      <a:pPr algn="ctr">
                        <a:spcAft>
                          <a:spcPts val="0"/>
                        </a:spcAft>
                      </a:pPr>
                      <a:r>
                        <a:rPr sz="819" b="0">
                          <a:solidFill>
                            <a:srgbClr val="1A1A1A"/>
                          </a:solidFill>
                          <a:latin typeface="Arial"/>
                          <a:ea typeface="Arial"/>
                          <a:cs typeface="Arial"/>
                        </a:rPr>
                        <a:t>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不動産・権利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代表者・配偶者が店舗2階に居住中。明渡しの時期・条件（現状は年180千円の家賃収入を雑収入に計上）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0">
                          <a:solidFill>
                            <a:srgbClr val="1A1A1A"/>
                          </a:solidFill>
                          <a:latin typeface="游ゴシック"/>
                          <a:ea typeface="游ゴシック"/>
                          <a:cs typeface="游ゴシック"/>
                        </a:rPr>
                        <a:t>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1518">
                <a:tc>
                  <a:txBody>
                    <a:bodyPr wrap="square"/>
                    <a:lstStyle/>
                    <a:p>
                      <a:pPr algn="ctr">
                        <a:spcAft>
                          <a:spcPts val="0"/>
                        </a:spcAft>
                      </a:pPr>
                      <a:r>
                        <a:rPr sz="819" b="0">
                          <a:solidFill>
                            <a:srgbClr val="1A1A1A"/>
                          </a:solidFill>
                          <a:latin typeface="Arial"/>
                          <a:ea typeface="Arial"/>
                          <a:cs typeface="Arial"/>
                        </a:rPr>
                        <a:t>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譲渡対象</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塩町館（建物簿価5,442千円）の取扱い。営業権・什器備品は元従業員へ譲渡済だが建物登記は未変更</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0">
                          <a:solidFill>
                            <a:srgbClr val="1A1A1A"/>
                          </a:solidFill>
                          <a:latin typeface="游ゴシック"/>
                          <a:ea typeface="游ゴシック"/>
                          <a:cs typeface="游ゴシック"/>
                        </a:rPr>
                        <a:t>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1518">
                <a:tc>
                  <a:txBody>
                    <a:bodyPr wrap="square"/>
                    <a:lstStyle/>
                    <a:p>
                      <a:pPr algn="ctr">
                        <a:spcAft>
                          <a:spcPts val="0"/>
                        </a:spcAft>
                      </a:pPr>
                      <a:r>
                        <a:rPr sz="819" b="0">
                          <a:solidFill>
                            <a:srgbClr val="1A1A1A"/>
                          </a:solidFill>
                          <a:latin typeface="Arial"/>
                          <a:ea typeface="Arial"/>
                          <a:cs typeface="Arial"/>
                        </a:rPr>
                        <a:t>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関係会社</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（株）慈久庵咸亨酒・（株）慈久庵伊勢又の事業内容・株主構成・当社との取引関係および本件での取扱い</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0">
                          <a:solidFill>
                            <a:srgbClr val="1A1A1A"/>
                          </a:solidFill>
                          <a:latin typeface="游ゴシック"/>
                          <a:ea typeface="游ゴシック"/>
                          <a:cs typeface="游ゴシック"/>
                        </a:rPr>
                        <a:t>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1518">
                <a:tc>
                  <a:txBody>
                    <a:bodyPr wrap="square"/>
                    <a:lstStyle/>
                    <a:p>
                      <a:pPr algn="ctr">
                        <a:spcAft>
                          <a:spcPts val="0"/>
                        </a:spcAft>
                      </a:pPr>
                      <a:r>
                        <a:rPr sz="819" b="0">
                          <a:solidFill>
                            <a:srgbClr val="1A1A1A"/>
                          </a:solidFill>
                          <a:latin typeface="Arial"/>
                          <a:ea typeface="Arial"/>
                          <a:cs typeface="Arial"/>
                        </a:rPr>
                        <a:t>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債権回収</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未収入金3,323千円（塩町館・小びと）が3期連続で増加。回収条件・回収可能性・取引継続の是非</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0">
                          <a:solidFill>
                            <a:srgbClr val="1A1A1A"/>
                          </a:solidFill>
                          <a:latin typeface="游ゴシック"/>
                          <a:ea typeface="游ゴシック"/>
                          <a:cs typeface="游ゴシック"/>
                        </a:rPr>
                        <a:t>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1518">
                <a:tc>
                  <a:txBody>
                    <a:bodyPr wrap="square"/>
                    <a:lstStyle/>
                    <a:p>
                      <a:pPr algn="ctr">
                        <a:spcAft>
                          <a:spcPts val="0"/>
                        </a:spcAft>
                      </a:pPr>
                      <a:r>
                        <a:rPr sz="819" b="0">
                          <a:solidFill>
                            <a:srgbClr val="1A1A1A"/>
                          </a:solidFill>
                          <a:latin typeface="Arial"/>
                          <a:ea typeface="Arial"/>
                          <a:cs typeface="Arial"/>
                        </a:rPr>
                        <a:t>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借入金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代表者・配偶者からの借入32,744千円の本件実行時の取扱い。金銭消費貸借契約書の有無</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0">
                          <a:solidFill>
                            <a:srgbClr val="1A1A1A"/>
                          </a:solidFill>
                          <a:latin typeface="游ゴシック"/>
                          <a:ea typeface="游ゴシック"/>
                          <a:cs typeface="游ゴシック"/>
                        </a:rPr>
                        <a:t>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1518">
                <a:tc>
                  <a:txBody>
                    <a:bodyPr wrap="square"/>
                    <a:lstStyle/>
                    <a:p>
                      <a:pPr algn="ctr">
                        <a:spcAft>
                          <a:spcPts val="0"/>
                        </a:spcAft>
                      </a:pPr>
                      <a:r>
                        <a:rPr sz="819" b="0">
                          <a:solidFill>
                            <a:srgbClr val="1A1A1A"/>
                          </a:solidFill>
                          <a:latin typeface="Arial"/>
                          <a:ea typeface="Arial"/>
                          <a:cs typeface="Arial"/>
                        </a:rPr>
                        <a:t>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知的財産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商標登録4件の登録番号・区分・指定商品役務・存続期間。「古式けんちんそば」の登録状況</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0">
                          <a:solidFill>
                            <a:srgbClr val="1A1A1A"/>
                          </a:solidFill>
                          <a:latin typeface="游ゴシック"/>
                          <a:ea typeface="游ゴシック"/>
                          <a:cs typeface="游ゴシック"/>
                        </a:rPr>
                        <a:t>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1518">
                <a:tc>
                  <a:txBody>
                    <a:bodyPr wrap="square"/>
                    <a:lstStyle/>
                    <a:p>
                      <a:pPr algn="ctr">
                        <a:spcAft>
                          <a:spcPts val="0"/>
                        </a:spcAft>
                      </a:pPr>
                      <a:r>
                        <a:rPr sz="819" b="0">
                          <a:solidFill>
                            <a:srgbClr val="1A1A1A"/>
                          </a:solidFill>
                          <a:latin typeface="Arial"/>
                          <a:ea typeface="Arial"/>
                          <a:cs typeface="Arial"/>
                        </a:rPr>
                        <a:t>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人員・属人性</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レシピ・「かえし」等の標準化資料の実物確認。引継ぎに要する期間・人数・方式</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0">
                          <a:solidFill>
                            <a:srgbClr val="1A1A1A"/>
                          </a:solidFill>
                          <a:latin typeface="游ゴシック"/>
                          <a:ea typeface="游ゴシック"/>
                          <a:cs typeface="游ゴシック"/>
                        </a:rPr>
                        <a:t>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1518">
                <a:tc>
                  <a:txBody>
                    <a:bodyPr wrap="square"/>
                    <a:lstStyle/>
                    <a:p>
                      <a:pPr algn="ctr">
                        <a:spcAft>
                          <a:spcPts val="0"/>
                        </a:spcAft>
                      </a:pPr>
                      <a:r>
                        <a:rPr sz="819" b="0">
                          <a:solidFill>
                            <a:srgbClr val="1A1A1A"/>
                          </a:solidFill>
                          <a:latin typeface="Arial"/>
                          <a:ea typeface="Arial"/>
                          <a:cs typeface="Arial"/>
                        </a:rPr>
                        <a:t>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営業体制</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営業日・営業時間を拡大する際の制約要因（人員・原料・体力・地域事情）と拡大余地の定量化</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0">
                          <a:solidFill>
                            <a:srgbClr val="1A1A1A"/>
                          </a:solidFill>
                          <a:latin typeface="游ゴシック"/>
                          <a:ea typeface="游ゴシック"/>
                          <a:cs typeface="游ゴシック"/>
                        </a:rPr>
                        <a:t>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1518">
                <a:tc>
                  <a:txBody>
                    <a:bodyPr wrap="square"/>
                    <a:lstStyle/>
                    <a:p>
                      <a:pPr algn="ctr">
                        <a:spcAft>
                          <a:spcPts val="0"/>
                        </a:spcAft>
                      </a:pPr>
                      <a:r>
                        <a:rPr sz="819" b="0">
                          <a:solidFill>
                            <a:srgbClr val="1A1A1A"/>
                          </a:solidFill>
                          <a:latin typeface="Arial"/>
                          <a:ea typeface="Arial"/>
                          <a:cs typeface="Arial"/>
                        </a:rPr>
                        <a:t>10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売上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店頭日商が86→80→75千円と低下。客数・客単価のいずれが要因か。価格改定・休業の影響</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0">
                          <a:solidFill>
                            <a:srgbClr val="1A1A1A"/>
                          </a:solidFill>
                          <a:latin typeface="游ゴシック"/>
                          <a:ea typeface="游ゴシック"/>
                          <a:cs typeface="游ゴシック"/>
                        </a:rPr>
                        <a:t>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1518">
                <a:tc>
                  <a:txBody>
                    <a:bodyPr wrap="square"/>
                    <a:lstStyle/>
                    <a:p>
                      <a:pPr algn="ctr">
                        <a:spcAft>
                          <a:spcPts val="0"/>
                        </a:spcAft>
                      </a:pPr>
                      <a:r>
                        <a:rPr sz="819" b="0">
                          <a:solidFill>
                            <a:srgbClr val="1A1A1A"/>
                          </a:solidFill>
                          <a:latin typeface="Arial"/>
                          <a:ea typeface="Arial"/>
                          <a:cs typeface="Arial"/>
                        </a:rPr>
                        <a:t>11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許認可</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飲食店営業許可証の写し。乾麺・そばつゆ・醤・味噌の製造販売に係る許可の要否</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0">
                          <a:solidFill>
                            <a:srgbClr val="1A1A1A"/>
                          </a:solidFill>
                          <a:latin typeface="游ゴシック"/>
                          <a:ea typeface="游ゴシック"/>
                          <a:cs typeface="游ゴシック"/>
                        </a:rPr>
                        <a:t>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1518">
                <a:tc>
                  <a:txBody>
                    <a:bodyPr wrap="square"/>
                    <a:lstStyle/>
                    <a:p>
                      <a:pPr algn="ctr">
                        <a:spcAft>
                          <a:spcPts val="0"/>
                        </a:spcAft>
                      </a:pPr>
                      <a:r>
                        <a:rPr sz="819" b="0">
                          <a:solidFill>
                            <a:srgbClr val="1A1A1A"/>
                          </a:solidFill>
                          <a:latin typeface="Arial"/>
                          <a:ea typeface="Arial"/>
                          <a:cs typeface="Arial"/>
                        </a:rPr>
                        <a:t>12</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原価</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玄そばの仕入先・数量・単価。自家栽培（焼畑）の現況と農地の権利関係</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0">
                          <a:solidFill>
                            <a:srgbClr val="1A1A1A"/>
                          </a:solidFill>
                          <a:latin typeface="游ゴシック"/>
                          <a:ea typeface="游ゴシック"/>
                          <a:cs typeface="游ゴシック"/>
                        </a:rPr>
                        <a:t>中</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1518">
                <a:tc>
                  <a:txBody>
                    <a:bodyPr wrap="square"/>
                    <a:lstStyle/>
                    <a:p>
                      <a:pPr algn="ctr">
                        <a:spcAft>
                          <a:spcPts val="0"/>
                        </a:spcAft>
                      </a:pPr>
                      <a:r>
                        <a:rPr sz="819" b="0">
                          <a:solidFill>
                            <a:srgbClr val="1A1A1A"/>
                          </a:solidFill>
                          <a:latin typeface="Arial"/>
                          <a:ea typeface="Arial"/>
                          <a:cs typeface="Arial"/>
                        </a:rPr>
                        <a:t>13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設備</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クラシックカー2台（簿価1円）の事業供用実態と時価。本件譲渡対象に含めるか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0">
                          <a:solidFill>
                            <a:srgbClr val="1A1A1A"/>
                          </a:solidFill>
                          <a:latin typeface="游ゴシック"/>
                          <a:ea typeface="游ゴシック"/>
                          <a:cs typeface="游ゴシック"/>
                        </a:rPr>
                        <a:t>中</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1518">
                <a:tc>
                  <a:txBody>
                    <a:bodyPr wrap="square"/>
                    <a:lstStyle/>
                    <a:p>
                      <a:pPr algn="ctr">
                        <a:spcAft>
                          <a:spcPts val="0"/>
                        </a:spcAft>
                      </a:pPr>
                      <a:r>
                        <a:rPr sz="819" b="0">
                          <a:solidFill>
                            <a:srgbClr val="1A1A1A"/>
                          </a:solidFill>
                          <a:latin typeface="Arial"/>
                          <a:ea typeface="Arial"/>
                          <a:cs typeface="Arial"/>
                        </a:rPr>
                        <a:t>14</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財務</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支払保険料623千円の内訳。役員保険・解約返戻金のある契約の有無。退職金規程の有無</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0">
                          <a:solidFill>
                            <a:srgbClr val="1A1A1A"/>
                          </a:solidFill>
                          <a:latin typeface="游ゴシック"/>
                          <a:ea typeface="游ゴシック"/>
                          <a:cs typeface="游ゴシック"/>
                        </a:rPr>
                        <a:t>中</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1518">
                <a:tc>
                  <a:txBody>
                    <a:bodyPr wrap="square"/>
                    <a:lstStyle/>
                    <a:p>
                      <a:pPr algn="ctr">
                        <a:spcAft>
                          <a:spcPts val="0"/>
                        </a:spcAft>
                      </a:pPr>
                      <a:r>
                        <a:rPr sz="819" b="0">
                          <a:solidFill>
                            <a:srgbClr val="1A1A1A"/>
                          </a:solidFill>
                          <a:latin typeface="Arial"/>
                          <a:ea typeface="Arial"/>
                          <a:cs typeface="Arial"/>
                        </a:rPr>
                        <a:t>15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財務</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勘定科目内訳明細書は2026年5月期のみ受領済。2024年・2025年5月期分の受領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0">
                          <a:solidFill>
                            <a:srgbClr val="1A1A1A"/>
                          </a:solidFill>
                          <a:latin typeface="游ゴシック"/>
                          <a:ea typeface="游ゴシック"/>
                          <a:cs typeface="游ゴシック"/>
                        </a:rPr>
                        <a:t>中</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1518">
                <a:tc>
                  <a:txBody>
                    <a:bodyPr wrap="square"/>
                    <a:lstStyle/>
                    <a:p>
                      <a:pPr algn="ctr">
                        <a:spcAft>
                          <a:spcPts val="0"/>
                        </a:spcAft>
                      </a:pPr>
                      <a:r>
                        <a:rPr sz="819" b="0">
                          <a:solidFill>
                            <a:srgbClr val="1A1A1A"/>
                          </a:solidFill>
                          <a:latin typeface="Arial"/>
                          <a:ea typeface="Arial"/>
                          <a:cs typeface="Arial"/>
                        </a:rPr>
                        <a:t>16</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労務</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雑給2,201千円の支払先「小川実他1」の勤務実態・雇用形態・社会保険の適用状況</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0">
                          <a:solidFill>
                            <a:srgbClr val="1A1A1A"/>
                          </a:solidFill>
                          <a:latin typeface="游ゴシック"/>
                          <a:ea typeface="游ゴシック"/>
                          <a:cs typeface="游ゴシック"/>
                        </a:rPr>
                        <a:t>中</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261518">
                <a:tc>
                  <a:txBody>
                    <a:bodyPr wrap="square"/>
                    <a:lstStyle/>
                    <a:p>
                      <a:pPr algn="ctr">
                        <a:spcAft>
                          <a:spcPts val="0"/>
                        </a:spcAft>
                      </a:pPr>
                      <a:r>
                        <a:rPr sz="819" b="0">
                          <a:solidFill>
                            <a:srgbClr val="1A1A1A"/>
                          </a:solidFill>
                          <a:latin typeface="Arial"/>
                          <a:ea typeface="Arial"/>
                          <a:cs typeface="Arial"/>
                        </a:rPr>
                        <a:t>17</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通販・物販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ふるさと納税返礼品の採用状況・取扱数量・手数料率。物販商品の製造場所・許認可・原価</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0">
                          <a:solidFill>
                            <a:srgbClr val="1A1A1A"/>
                          </a:solidFill>
                          <a:latin typeface="游ゴシック"/>
                          <a:ea typeface="游ゴシック"/>
                          <a:cs typeface="游ゴシック"/>
                        </a:rPr>
                        <a:t>中</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5" name="TextBox 14"/>
          <p:cNvSpPr txBox="1"/>
          <p:nvPr/>
        </p:nvSpPr>
        <p:spPr>
          <a:xfrm>
            <a:off x="310896" y="6711696"/>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【高】はトップ面談前に確定させたい事項、【中】は基本合意までに確認したい事項です。本一覧は案件マスター「その他」シートに集約しています。</a:t>
            </a:r>
          </a:p>
        </p:txBody>
      </p:sp>
    </p:spTree>
    <p:extLst>
      <p:ext uri="{BB962C8B-B14F-4D97-AF65-F5344CB8AC3E}">
        <p14:creationId xmlns:p14="http://schemas.microsoft.com/office/powerpoint/2010/main" val="8056887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89F2FC56-6ADD-9704-B514-62FD74DE3ED5}"/>
              </a:ext>
            </a:extLst>
          </p:cNvPr>
          <p:cNvSpPr/>
          <p:nvPr/>
        </p:nvSpPr>
        <p:spPr>
          <a:xfrm>
            <a:off x="449263" y="1362266"/>
            <a:ext cx="3816000" cy="366383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360000" rIns="180000" bIns="0" rtlCol="0" anchor="t"/>
          <a:lstStyle/>
          <a:p>
            <a:pPr algn="ctr">
              <a:buClr>
                <a:schemeClr val="tx2"/>
              </a:buClr>
              <a:buSzPct val="80000"/>
            </a:pPr>
            <a:endParaRPr kumimoji="1" lang="zh-TW" altLang="en-US" sz="2000" b="1" spc="110" dirty="0">
              <a:solidFill>
                <a:schemeClr val="tx2"/>
              </a:solidFill>
              <a:latin typeface="+mj-ea"/>
              <a:ea typeface="+mj-ea"/>
            </a:endParaRPr>
          </a:p>
        </p:txBody>
      </p:sp>
      <p:sp>
        <p:nvSpPr>
          <p:cNvPr id="34" name="正方形/長方形 33">
            <a:extLst>
              <a:ext uri="{FF2B5EF4-FFF2-40B4-BE49-F238E27FC236}">
                <a16:creationId xmlns:a16="http://schemas.microsoft.com/office/drawing/2014/main" id="{F2057333-40C8-2D4A-60A4-202E9B7B444C}"/>
              </a:ext>
            </a:extLst>
          </p:cNvPr>
          <p:cNvSpPr/>
          <p:nvPr/>
        </p:nvSpPr>
        <p:spPr>
          <a:xfrm>
            <a:off x="4522064" y="1362266"/>
            <a:ext cx="5724000" cy="572432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0" rtlCol="0" anchor="t"/>
          <a:lstStyle/>
          <a:p>
            <a:pPr algn="ctr">
              <a:buClr>
                <a:schemeClr val="tx2"/>
              </a:buClr>
              <a:buSzPct val="80000"/>
            </a:pPr>
            <a:r>
              <a:rPr kumimoji="1" lang="ja-JP" altLang="en-US" sz="1800" b="1" spc="110" dirty="0">
                <a:solidFill>
                  <a:schemeClr val="tx1"/>
                </a:solidFill>
                <a:latin typeface="+mj-ea"/>
                <a:ea typeface="+mj-ea"/>
              </a:rPr>
              <a:t>成功報酬</a:t>
            </a:r>
            <a:r>
              <a:rPr kumimoji="1" lang="en-US" altLang="ja-JP" sz="1800" spc="110" baseline="30000" dirty="0">
                <a:solidFill>
                  <a:schemeClr val="tx1"/>
                </a:solidFill>
                <a:latin typeface="+mj-ea"/>
                <a:ea typeface="+mj-ea"/>
              </a:rPr>
              <a:t>※2</a:t>
            </a:r>
            <a:r>
              <a:rPr kumimoji="1" lang="ja-JP" altLang="en-US" sz="1800" b="1" spc="110" dirty="0">
                <a:solidFill>
                  <a:schemeClr val="tx1"/>
                </a:solidFill>
                <a:latin typeface="+mj-ea"/>
                <a:ea typeface="+mj-ea"/>
              </a:rPr>
              <a:t>の算定方法</a:t>
            </a:r>
          </a:p>
        </p:txBody>
      </p:sp>
      <p:sp>
        <p:nvSpPr>
          <p:cNvPr id="6" name="字幕 5">
            <a:extLst>
              <a:ext uri="{FF2B5EF4-FFF2-40B4-BE49-F238E27FC236}">
                <a16:creationId xmlns:a16="http://schemas.microsoft.com/office/drawing/2014/main" id="{8B635CAA-C777-BCBD-D6CB-D6FE9099ED6B}"/>
              </a:ext>
            </a:extLst>
          </p:cNvPr>
          <p:cNvSpPr>
            <a:spLocks noGrp="1"/>
          </p:cNvSpPr>
          <p:nvPr>
            <p:ph type="subTitle" idx="1"/>
          </p:nvPr>
        </p:nvSpPr>
        <p:spPr>
          <a:xfrm>
            <a:off x="460675" y="830046"/>
            <a:ext cx="9781875" cy="241861"/>
          </a:xfrm>
        </p:spPr>
        <p:txBody>
          <a:bodyPr/>
          <a:lstStyle/>
          <a:p>
            <a:r>
              <a:rPr lang="ja-JP" altLang="en-US" dirty="0">
                <a:solidFill/>
              </a:rPr>
              <a:t>時価総資産</a:t>
            </a:r>
            <a:r>
              <a:rPr lang="en-US" altLang="ja-JP" dirty="0">
                <a:solidFill/>
              </a:rPr>
              <a:t>(</a:t>
            </a:r>
            <a:r>
              <a:rPr lang="ja-JP" altLang="en-US" dirty="0">
                <a:solidFill/>
              </a:rPr>
              <a:t>営業権含む</a:t>
            </a:r>
            <a:r>
              <a:rPr lang="en-US" altLang="ja-JP" dirty="0">
                <a:solidFill/>
              </a:rPr>
              <a:t>)</a:t>
            </a:r>
            <a:r>
              <a:rPr lang="ja-JP" altLang="en-US" dirty="0">
                <a:solidFill/>
              </a:rPr>
              <a:t>を基準とした報酬体系であり、独占交渉権獲得の段階まで費用は発生しません</a:t>
            </a:r>
            <a:endParaRPr lang="en-US" altLang="ja-JP" dirty="0"/>
          </a:p>
        </p:txBody>
      </p:sp>
      <p:sp>
        <p:nvSpPr>
          <p:cNvPr id="2" name="タイトル 1">
            <a:extLst>
              <a:ext uri="{FF2B5EF4-FFF2-40B4-BE49-F238E27FC236}">
                <a16:creationId xmlns:a16="http://schemas.microsoft.com/office/drawing/2014/main" id="{D080ECA5-1EC6-E0DA-1045-7623DC8B0517}"/>
              </a:ext>
            </a:extLst>
          </p:cNvPr>
          <p:cNvSpPr>
            <a:spLocks noGrp="1"/>
          </p:cNvSpPr>
          <p:nvPr>
            <p:ph type="ctrTitle"/>
          </p:nvPr>
        </p:nvSpPr>
        <p:spPr/>
        <p:txBody>
          <a:bodyPr/>
          <a:lstStyle/>
          <a:p>
            <a:r>
              <a:rPr lang="ja-JP" altLang="en-US" dirty="0">
                <a:solidFill/>
              </a:rPr>
              <a:t>報酬体系</a:t>
            </a:r>
          </a:p>
        </p:txBody>
      </p:sp>
      <p:sp>
        <p:nvSpPr>
          <p:cNvPr id="7" name="タイトル 1">
            <a:extLst>
              <a:ext uri="{FF2B5EF4-FFF2-40B4-BE49-F238E27FC236}">
                <a16:creationId xmlns:a16="http://schemas.microsoft.com/office/drawing/2014/main" id="{0DF55F9A-C4D7-02A8-F804-D2CAF9784F10}"/>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solidFill/>
              </a:rPr>
              <a:t>　</a:t>
            </a:r>
            <a:r>
              <a:rPr lang="en-US" altLang="ja-JP" dirty="0">
                <a:solidFill/>
              </a:rPr>
              <a:t>Appendix</a:t>
            </a:r>
            <a:endParaRPr lang="ja-JP" altLang="en-US" dirty="0"/>
          </a:p>
        </p:txBody>
      </p:sp>
      <p:cxnSp>
        <p:nvCxnSpPr>
          <p:cNvPr id="15" name="直線コネクタ 14">
            <a:extLst>
              <a:ext uri="{FF2B5EF4-FFF2-40B4-BE49-F238E27FC236}">
                <a16:creationId xmlns:a16="http://schemas.microsoft.com/office/drawing/2014/main" id="{CB8BC532-89AB-609B-2D65-2652067D6567}"/>
              </a:ext>
            </a:extLst>
          </p:cNvPr>
          <p:cNvCxnSpPr>
            <a:cxnSpLocks/>
          </p:cNvCxnSpPr>
          <p:nvPr/>
        </p:nvCxnSpPr>
        <p:spPr>
          <a:xfrm>
            <a:off x="449263" y="1362267"/>
            <a:ext cx="3816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8" name="正方形/長方形 17">
            <a:extLst>
              <a:ext uri="{FF2B5EF4-FFF2-40B4-BE49-F238E27FC236}">
                <a16:creationId xmlns:a16="http://schemas.microsoft.com/office/drawing/2014/main" id="{6E720941-89DA-5B24-F4D1-711BB1F814EF}"/>
              </a:ext>
            </a:extLst>
          </p:cNvPr>
          <p:cNvSpPr>
            <a:spLocks/>
          </p:cNvSpPr>
          <p:nvPr/>
        </p:nvSpPr>
        <p:spPr>
          <a:xfrm>
            <a:off x="768087" y="2452713"/>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zh-TW" altLang="en-US" sz="1600" b="1" spc="110" dirty="0">
                <a:solidFill>
                  <a:schemeClr val="tx2"/>
                </a:solidFill>
                <a:latin typeface="+mj-ea"/>
                <a:ea typeface="+mj-ea"/>
              </a:rPr>
              <a:t>着手金</a:t>
            </a:r>
            <a:endParaRPr kumimoji="1" lang="zh-TW" altLang="en-US" sz="1600" spc="110" baseline="30000" dirty="0">
              <a:solidFill>
                <a:schemeClr val="tx2"/>
              </a:solidFill>
              <a:latin typeface="+mj-ea"/>
              <a:ea typeface="+mj-ea"/>
            </a:endParaRPr>
          </a:p>
        </p:txBody>
      </p:sp>
      <p:sp>
        <p:nvSpPr>
          <p:cNvPr id="20" name="正方形/長方形 19">
            <a:extLst>
              <a:ext uri="{FF2B5EF4-FFF2-40B4-BE49-F238E27FC236}">
                <a16:creationId xmlns:a16="http://schemas.microsoft.com/office/drawing/2014/main" id="{C770662D-0186-159D-6B20-6AADFFE9CBBA}"/>
              </a:ext>
            </a:extLst>
          </p:cNvPr>
          <p:cNvSpPr>
            <a:spLocks/>
          </p:cNvSpPr>
          <p:nvPr/>
        </p:nvSpPr>
        <p:spPr>
          <a:xfrm>
            <a:off x="768087" y="3965025"/>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ja-JP" altLang="en-US" sz="1600" b="1" spc="110" dirty="0">
                <a:solidFill>
                  <a:schemeClr val="tx2"/>
                </a:solidFill>
                <a:latin typeface="+mj-ea"/>
                <a:ea typeface="+mj-ea"/>
              </a:rPr>
              <a:t>リテイナーフィー</a:t>
            </a:r>
            <a:endParaRPr kumimoji="1" lang="zh-TW" altLang="en-US" sz="1600" spc="110" baseline="30000" dirty="0">
              <a:solidFill>
                <a:schemeClr val="tx2"/>
              </a:solidFill>
              <a:latin typeface="+mj-ea"/>
              <a:ea typeface="+mj-ea"/>
            </a:endParaRPr>
          </a:p>
        </p:txBody>
      </p:sp>
      <p:sp>
        <p:nvSpPr>
          <p:cNvPr id="21" name="正方形/長方形 20">
            <a:extLst>
              <a:ext uri="{FF2B5EF4-FFF2-40B4-BE49-F238E27FC236}">
                <a16:creationId xmlns:a16="http://schemas.microsoft.com/office/drawing/2014/main" id="{E00098F5-AD27-787B-FFFF-9D575BB76654}"/>
              </a:ext>
            </a:extLst>
          </p:cNvPr>
          <p:cNvSpPr>
            <a:spLocks/>
          </p:cNvSpPr>
          <p:nvPr/>
        </p:nvSpPr>
        <p:spPr>
          <a:xfrm>
            <a:off x="768087" y="3208869"/>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ja-JP" altLang="en-US" sz="1600" b="1" spc="110" dirty="0">
                <a:solidFill>
                  <a:schemeClr val="tx2"/>
                </a:solidFill>
                <a:latin typeface="+mj-ea"/>
                <a:ea typeface="+mj-ea"/>
              </a:rPr>
              <a:t>情報提供料</a:t>
            </a:r>
            <a:endParaRPr kumimoji="1" lang="zh-TW" altLang="en-US" sz="1600" b="1" spc="110" dirty="0">
              <a:solidFill>
                <a:schemeClr val="tx2"/>
              </a:solidFill>
              <a:latin typeface="+mj-ea"/>
              <a:ea typeface="+mj-ea"/>
            </a:endParaRPr>
          </a:p>
        </p:txBody>
      </p:sp>
      <p:sp>
        <p:nvSpPr>
          <p:cNvPr id="24" name="テキスト ボックス 23">
            <a:extLst>
              <a:ext uri="{FF2B5EF4-FFF2-40B4-BE49-F238E27FC236}">
                <a16:creationId xmlns:a16="http://schemas.microsoft.com/office/drawing/2014/main" id="{732BB496-90B0-3CEC-6685-2DABCCD36309}"/>
              </a:ext>
            </a:extLst>
          </p:cNvPr>
          <p:cNvSpPr txBox="1"/>
          <p:nvPr/>
        </p:nvSpPr>
        <p:spPr>
          <a:xfrm>
            <a:off x="3604575" y="3422948"/>
            <a:ext cx="428323" cy="278731"/>
          </a:xfrm>
          <a:prstGeom prst="rect">
            <a:avLst/>
          </a:prstGeom>
          <a:noFill/>
        </p:spPr>
        <p:txBody>
          <a:bodyPr wrap="none" lIns="0" tIns="0" rIns="0" bIns="0" rtlCol="0">
            <a:spAutoFit/>
          </a:bodyPr>
          <a:lstStyle/>
          <a:p>
            <a:pPr algn="ctr">
              <a:lnSpc>
                <a:spcPct val="120000"/>
              </a:lnSpc>
              <a:buClr>
                <a:schemeClr val="tx2"/>
              </a:buClr>
              <a:buSzPct val="80000"/>
            </a:pPr>
            <a:r>
              <a:rPr lang="ja-JP" altLang="en-US" sz="1600" b="1" spc="70" dirty="0">
                <a:solidFill/>
                <a:latin typeface="+mj-ea"/>
                <a:ea typeface="+mj-ea"/>
              </a:rPr>
              <a:t>無料</a:t>
            </a:r>
          </a:p>
        </p:txBody>
      </p:sp>
      <p:sp>
        <p:nvSpPr>
          <p:cNvPr id="30" name="右大かっこ 29">
            <a:extLst>
              <a:ext uri="{FF2B5EF4-FFF2-40B4-BE49-F238E27FC236}">
                <a16:creationId xmlns:a16="http://schemas.microsoft.com/office/drawing/2014/main" id="{3B1D8EBE-EC59-B246-AF6C-841872564D9C}"/>
              </a:ext>
            </a:extLst>
          </p:cNvPr>
          <p:cNvSpPr/>
          <p:nvPr/>
        </p:nvSpPr>
        <p:spPr>
          <a:xfrm>
            <a:off x="3324087" y="2479728"/>
            <a:ext cx="174824" cy="2097297"/>
          </a:xfrm>
          <a:prstGeom prst="rightBracket">
            <a:avLst>
              <a:gd name="adj" fmla="val 0"/>
            </a:avLst>
          </a:prstGeom>
          <a:ln w="12700">
            <a:solidFill>
              <a:schemeClr val="tx2"/>
            </a:solidFill>
            <a:prstDash val="sysDot"/>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36" name="正方形/長方形 35">
            <a:extLst>
              <a:ext uri="{FF2B5EF4-FFF2-40B4-BE49-F238E27FC236}">
                <a16:creationId xmlns:a16="http://schemas.microsoft.com/office/drawing/2014/main" id="{9AE04EFA-8A89-729B-C209-CDC92D8F408B}"/>
              </a:ext>
            </a:extLst>
          </p:cNvPr>
          <p:cNvSpPr/>
          <p:nvPr/>
        </p:nvSpPr>
        <p:spPr>
          <a:xfrm>
            <a:off x="4766690" y="6067960"/>
            <a:ext cx="4411464" cy="942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p>
            <a:pPr>
              <a:lnSpc>
                <a:spcPct val="110000"/>
              </a:lnSpc>
            </a:pPr>
            <a:r>
              <a:rPr lang="en-US" altLang="ja-JP" sz="800" dirty="0">
                <a:solidFill>
                  <a:schemeClr val="tx1"/>
                </a:solidFill>
                <a:latin typeface="+mn-ea"/>
              </a:rPr>
              <a:t>※2</a:t>
            </a:r>
            <a:r>
              <a:rPr lang="ja-JP" altLang="en-US" sz="800" dirty="0">
                <a:solidFill>
                  <a:schemeClr val="tx1"/>
                </a:solidFill>
                <a:latin typeface="+mn-ea"/>
              </a:rPr>
              <a:t>　以下の項目については上記報酬には含まれておりません。</a:t>
            </a:r>
          </a:p>
          <a:p>
            <a:pPr>
              <a:lnSpc>
                <a:spcPct val="110000"/>
              </a:lnSpc>
            </a:pPr>
            <a:r>
              <a:rPr lang="ja-JP" altLang="en-US" sz="800" dirty="0">
                <a:solidFill>
                  <a:schemeClr val="tx1"/>
                </a:solidFill>
                <a:latin typeface="+mn-ea"/>
              </a:rPr>
              <a:t>　　・買収監査、特殊な市場調査や技術評価、経営計画作成のための費用</a:t>
            </a:r>
          </a:p>
          <a:p>
            <a:pPr>
              <a:lnSpc>
                <a:spcPct val="110000"/>
              </a:lnSpc>
            </a:pPr>
            <a:r>
              <a:rPr lang="ja-JP" altLang="en-US" sz="800" dirty="0">
                <a:solidFill>
                  <a:schemeClr val="tx1"/>
                </a:solidFill>
                <a:latin typeface="+mn-ea"/>
              </a:rPr>
              <a:t>　　・登記費用および公認会計士、税理士、弁護士、不動産鑑定士等の専門家費用の実費</a:t>
            </a:r>
          </a:p>
          <a:p>
            <a:pPr>
              <a:lnSpc>
                <a:spcPct val="110000"/>
              </a:lnSpc>
            </a:pPr>
            <a:r>
              <a:rPr lang="ja-JP" altLang="en-US" sz="800" dirty="0">
                <a:solidFill>
                  <a:schemeClr val="tx1"/>
                </a:solidFill>
                <a:latin typeface="+mn-ea"/>
              </a:rPr>
              <a:t>　　・譲渡企業の海外事業所等訪問時の通訳費、当社および貴社関係者の交通費、宿泊費、日当</a:t>
            </a:r>
            <a:endParaRPr lang="en-US" altLang="ja-JP" sz="800" dirty="0">
              <a:solidFill>
                <a:schemeClr val="tx1"/>
              </a:solidFill>
              <a:latin typeface="+mn-ea"/>
            </a:endParaRPr>
          </a:p>
          <a:p>
            <a:pPr>
              <a:lnSpc>
                <a:spcPct val="110000"/>
              </a:lnSpc>
            </a:pPr>
            <a:r>
              <a:rPr lang="ja-JP" altLang="en-US" sz="800" dirty="0">
                <a:solidFill>
                  <a:schemeClr val="tx1"/>
                </a:solidFill>
                <a:latin typeface="+mn-ea"/>
              </a:rPr>
              <a:t>　　以下の場合、上記の各種報酬について別途ご相談いたします。</a:t>
            </a:r>
          </a:p>
          <a:p>
            <a:pPr>
              <a:lnSpc>
                <a:spcPct val="110000"/>
              </a:lnSpc>
            </a:pPr>
            <a:r>
              <a:rPr lang="ja-JP" altLang="en-US" sz="800" dirty="0">
                <a:solidFill>
                  <a:schemeClr val="tx1"/>
                </a:solidFill>
                <a:latin typeface="+mn-ea"/>
              </a:rPr>
              <a:t>　　・譲渡企業が関係会社を保有する場合や事業所を複数持つ場合</a:t>
            </a:r>
          </a:p>
          <a:p>
            <a:pPr>
              <a:lnSpc>
                <a:spcPct val="110000"/>
              </a:lnSpc>
            </a:pPr>
            <a:r>
              <a:rPr lang="ja-JP" altLang="en-US" sz="800" dirty="0">
                <a:solidFill>
                  <a:schemeClr val="tx1"/>
                </a:solidFill>
                <a:latin typeface="+mn-ea"/>
              </a:rPr>
              <a:t>　　・譲渡企業が海外に関係会社・事業所・工場を保有する場合</a:t>
            </a:r>
          </a:p>
        </p:txBody>
      </p:sp>
      <p:sp>
        <p:nvSpPr>
          <p:cNvPr id="37" name="正方形/長方形 36">
            <a:extLst>
              <a:ext uri="{FF2B5EF4-FFF2-40B4-BE49-F238E27FC236}">
                <a16:creationId xmlns:a16="http://schemas.microsoft.com/office/drawing/2014/main" id="{F22E4C30-8FC3-B869-53BD-9D8860037344}"/>
              </a:ext>
            </a:extLst>
          </p:cNvPr>
          <p:cNvSpPr/>
          <p:nvPr/>
        </p:nvSpPr>
        <p:spPr>
          <a:xfrm>
            <a:off x="683263" y="1669542"/>
            <a:ext cx="3348000" cy="468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zh-TW" altLang="en-US" sz="1800" b="1" spc="70" dirty="0">
                <a:solidFill>
                  <a:schemeClr val="bg1"/>
                </a:solidFill>
                <a:latin typeface="+mj-ea"/>
                <a:ea typeface="+mj-ea"/>
              </a:rPr>
              <a:t>料金体系｜成功報酬型</a:t>
            </a:r>
          </a:p>
        </p:txBody>
      </p:sp>
      <p:sp>
        <p:nvSpPr>
          <p:cNvPr id="38" name="正方形/長方形 37">
            <a:extLst>
              <a:ext uri="{FF2B5EF4-FFF2-40B4-BE49-F238E27FC236}">
                <a16:creationId xmlns:a16="http://schemas.microsoft.com/office/drawing/2014/main" id="{A662A524-58DF-E539-7CF9-2CCAAD4E7CAF}"/>
              </a:ext>
            </a:extLst>
          </p:cNvPr>
          <p:cNvSpPr>
            <a:spLocks/>
          </p:cNvSpPr>
          <p:nvPr/>
        </p:nvSpPr>
        <p:spPr>
          <a:xfrm>
            <a:off x="4752550" y="1974789"/>
            <a:ext cx="5256000" cy="3051315"/>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en-US" altLang="ja-JP" sz="1543" b="1">
                <a:solidFill>
                  <a:schemeClr val="tx2"/>
                </a:solidFill>
                <a:ea typeface="+mj-ea"/>
              </a:rPr>
              <a:t>1. M</a:t>
            </a:r>
            <a:r>
              <a:rPr kumimoji="1" lang="ja-JP" altLang="en-US" sz="1543" b="1">
                <a:solidFill>
                  <a:schemeClr val="tx2"/>
                </a:solidFill>
                <a:ea typeface="+mj-ea"/>
              </a:rPr>
              <a:t>＆</a:t>
            </a:r>
            <a:r>
              <a:rPr kumimoji="1" lang="en-US" altLang="ja-JP" sz="1543" b="1">
                <a:solidFill>
                  <a:schemeClr val="tx2"/>
                </a:solidFill>
                <a:ea typeface="+mj-ea"/>
              </a:rPr>
              <a:t>A</a:t>
            </a:r>
            <a:r>
              <a:rPr kumimoji="1" lang="ja-JP" altLang="en-US" sz="1543" b="1">
                <a:solidFill>
                  <a:schemeClr val="tx2"/>
                </a:solidFill>
                <a:ea typeface="+mj-ea"/>
              </a:rPr>
              <a:t>（株式・事業譲渡）の場合</a:t>
            </a:r>
            <a:endParaRPr kumimoji="1" lang="ja-JP" altLang="en-US" sz="1543" b="1" dirty="0">
              <a:solidFill>
                <a:schemeClr val="tx2"/>
              </a:solidFill>
              <a:ea typeface="+mj-ea"/>
            </a:endParaRPr>
          </a:p>
        </p:txBody>
      </p:sp>
      <p:sp>
        <p:nvSpPr>
          <p:cNvPr id="39" name="正方形/長方形 38">
            <a:extLst>
              <a:ext uri="{FF2B5EF4-FFF2-40B4-BE49-F238E27FC236}">
                <a16:creationId xmlns:a16="http://schemas.microsoft.com/office/drawing/2014/main" id="{3005CCDB-36FD-4152-9A26-F18CB327D833}"/>
              </a:ext>
            </a:extLst>
          </p:cNvPr>
          <p:cNvSpPr>
            <a:spLocks/>
          </p:cNvSpPr>
          <p:nvPr/>
        </p:nvSpPr>
        <p:spPr>
          <a:xfrm>
            <a:off x="4752550" y="5145149"/>
            <a:ext cx="5256000" cy="855016"/>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en-US" altLang="ja-JP" sz="1543" b="1" dirty="0">
                <a:solidFill>
                  <a:schemeClr val="tx2"/>
                </a:solidFill>
                <a:ea typeface="+mj-ea"/>
              </a:rPr>
              <a:t>2. </a:t>
            </a:r>
            <a:r>
              <a:rPr kumimoji="1" lang="ja-JP" altLang="en-US" sz="1543" b="1" dirty="0">
                <a:solidFill>
                  <a:schemeClr val="tx2"/>
                </a:solidFill>
                <a:ea typeface="+mj-ea"/>
              </a:rPr>
              <a:t>合併・会社分割・業務提携などの場合</a:t>
            </a:r>
          </a:p>
        </p:txBody>
      </p:sp>
      <p:sp>
        <p:nvSpPr>
          <p:cNvPr id="43" name="正方形/長方形 42">
            <a:extLst>
              <a:ext uri="{FF2B5EF4-FFF2-40B4-BE49-F238E27FC236}">
                <a16:creationId xmlns:a16="http://schemas.microsoft.com/office/drawing/2014/main" id="{45F9569B-84C3-F6AA-8270-6F2A0C5A48FE}"/>
              </a:ext>
            </a:extLst>
          </p:cNvPr>
          <p:cNvSpPr/>
          <p:nvPr/>
        </p:nvSpPr>
        <p:spPr>
          <a:xfrm>
            <a:off x="4968550" y="5594330"/>
            <a:ext cx="4824000" cy="286791"/>
          </a:xfrm>
          <a:prstGeom prst="rect">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ja-JP" altLang="en-US" sz="1600" b="1" spc="30" dirty="0">
                <a:solidFill>
                  <a:schemeClr val="tx1"/>
                </a:solidFill>
                <a:latin typeface="+mj-ea"/>
                <a:ea typeface="+mj-ea"/>
              </a:rPr>
              <a:t>形態、規模に応じてお見積り</a:t>
            </a:r>
          </a:p>
        </p:txBody>
      </p:sp>
      <p:sp>
        <p:nvSpPr>
          <p:cNvPr id="44" name="テキスト ボックス 43">
            <a:extLst>
              <a:ext uri="{FF2B5EF4-FFF2-40B4-BE49-F238E27FC236}">
                <a16:creationId xmlns:a16="http://schemas.microsoft.com/office/drawing/2014/main" id="{1E78D870-E1BA-6FCD-62FA-37BB1F2E0B3D}"/>
              </a:ext>
            </a:extLst>
          </p:cNvPr>
          <p:cNvSpPr txBox="1"/>
          <p:nvPr/>
        </p:nvSpPr>
        <p:spPr>
          <a:xfrm>
            <a:off x="4968550" y="4554047"/>
            <a:ext cx="3546805" cy="191399"/>
          </a:xfrm>
          <a:prstGeom prst="rect">
            <a:avLst/>
          </a:prstGeom>
          <a:noFill/>
        </p:spPr>
        <p:txBody>
          <a:bodyPr wrap="none" lIns="0" tIns="0" rIns="0" bIns="0" rtlCol="0">
            <a:spAutoFit/>
          </a:bodyPr>
          <a:lstStyle/>
          <a:p>
            <a:pPr>
              <a:lnSpc>
                <a:spcPct val="120000"/>
              </a:lnSpc>
              <a:buClr>
                <a:schemeClr val="tx2"/>
              </a:buClr>
              <a:buSzPct val="80000"/>
            </a:pPr>
            <a:r>
              <a:rPr lang="ja-JP" altLang="en-US" sz="1100" spc="70" dirty="0">
                <a:solidFill/>
                <a:latin typeface="+mn-ea"/>
              </a:rPr>
              <a:t>成功報酬の最低額は</a:t>
            </a:r>
            <a:r>
              <a:rPr lang="en-US" altLang="ja-JP" sz="1100" spc="70" dirty="0">
                <a:solidFill/>
                <a:latin typeface="+mn-ea"/>
              </a:rPr>
              <a:t>1,500</a:t>
            </a:r>
            <a:r>
              <a:rPr lang="ja-JP" altLang="en-US" sz="1100" spc="70" dirty="0">
                <a:solidFill/>
                <a:latin typeface="+mn-ea"/>
              </a:rPr>
              <a:t>万円を設定しております。</a:t>
            </a:r>
          </a:p>
        </p:txBody>
      </p:sp>
      <p:graphicFrame>
        <p:nvGraphicFramePr>
          <p:cNvPr id="45" name="表 44">
            <a:extLst>
              <a:ext uri="{FF2B5EF4-FFF2-40B4-BE49-F238E27FC236}">
                <a16:creationId xmlns:a16="http://schemas.microsoft.com/office/drawing/2014/main" id="{43BEAE47-9189-F306-0E9E-F73105167DC7}"/>
              </a:ext>
            </a:extLst>
          </p:cNvPr>
          <p:cNvGraphicFramePr>
            <a:graphicFrameLocks noGrp="1"/>
          </p:cNvGraphicFramePr>
          <p:nvPr/>
        </p:nvGraphicFramePr>
        <p:xfrm>
          <a:off x="4968550" y="2395845"/>
          <a:ext cx="4824000" cy="2448000"/>
        </p:xfrm>
        <a:graphic>
          <a:graphicData uri="http://schemas.openxmlformats.org/drawingml/2006/table">
            <a:tbl>
              <a:tblPr firstRow="1" bandRow="1">
                <a:tableStyleId>{F2DE63D5-997A-4646-A377-4702673A728D}</a:tableStyleId>
              </a:tblPr>
              <a:tblGrid>
                <a:gridCol w="2952000">
                  <a:extLst>
                    <a:ext uri="{9D8B030D-6E8A-4147-A177-3AD203B41FA5}">
                      <a16:colId xmlns:a16="http://schemas.microsoft.com/office/drawing/2014/main" val="4012313631"/>
                    </a:ext>
                  </a:extLst>
                </a:gridCol>
                <a:gridCol w="1872000">
                  <a:extLst>
                    <a:ext uri="{9D8B030D-6E8A-4147-A177-3AD203B41FA5}">
                      <a16:colId xmlns:a16="http://schemas.microsoft.com/office/drawing/2014/main" val="1332805218"/>
                    </a:ext>
                  </a:extLst>
                </a:gridCol>
              </a:tblGrid>
              <a:tr h="396000">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1" lang="ja-JP" altLang="en-US" sz="1100" b="1" i="0" u="none" strike="noStrike" kern="1200" cap="none" spc="50" normalizeH="0" baseline="0" noProof="0" dirty="0">
                          <a:ln>
                            <a:noFill/>
                          </a:ln>
                          <a:solidFill>
                            <a:schemeClr val="bg1"/>
                          </a:solidFill>
                          <a:effectLst/>
                          <a:uLnTx/>
                          <a:uFillTx/>
                          <a:latin typeface="+mj-ea"/>
                          <a:ea typeface="+mj-ea"/>
                        </a:rPr>
                        <a:t>譲渡企業の時価総資産額</a:t>
                      </a:r>
                      <a:endParaRPr kumimoji="1" lang="en-US" altLang="ja-JP" sz="1100" b="1" i="0" u="none" strike="noStrike" kern="1200" cap="none" spc="50" normalizeH="0" baseline="0" noProof="0" dirty="0">
                        <a:ln>
                          <a:noFill/>
                        </a:ln>
                        <a:solidFill>
                          <a:schemeClr val="bg1"/>
                        </a:solidFill>
                        <a:effectLst/>
                        <a:uLnTx/>
                        <a:uFillTx/>
                        <a:latin typeface="+mj-ea"/>
                        <a:ea typeface="+mj-ea"/>
                      </a:endParaRPr>
                    </a:p>
                    <a:p>
                      <a:pPr marL="0" marR="0" lvl="0" indent="0" algn="ctr" defTabSz="914400" rtl="0" eaLnBrk="1" fontAlgn="auto" latinLnBrk="0" hangingPunct="1">
                        <a:lnSpc>
                          <a:spcPct val="110000"/>
                        </a:lnSpc>
                        <a:spcBef>
                          <a:spcPts val="0"/>
                        </a:spcBef>
                        <a:spcAft>
                          <a:spcPts val="0"/>
                        </a:spcAft>
                        <a:buClrTx/>
                        <a:buSzTx/>
                        <a:buFontTx/>
                        <a:buNone/>
                        <a:tabLst/>
                        <a:defRPr/>
                      </a:pPr>
                      <a:r>
                        <a:rPr kumimoji="1" lang="ja-JP" altLang="en-US" sz="800" b="1" i="0" u="none" strike="noStrike" kern="1200" cap="none" spc="50" normalizeH="0" baseline="0" noProof="0" dirty="0">
                          <a:ln>
                            <a:noFill/>
                          </a:ln>
                          <a:solidFill>
                            <a:schemeClr val="bg1"/>
                          </a:solidFill>
                          <a:effectLst/>
                          <a:uLnTx/>
                          <a:uFillTx/>
                          <a:latin typeface="+mj-ea"/>
                          <a:ea typeface="+mj-ea"/>
                        </a:rPr>
                        <a:t>（営業権を含む）</a:t>
                      </a:r>
                    </a:p>
                  </a:txBody>
                  <a:tcPr marL="0" marR="0" marT="0" marB="0" anchor="ctr" anchorCtr="1">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110000"/>
                        </a:lnSpc>
                      </a:pPr>
                      <a:r>
                        <a:rPr kumimoji="1" lang="ja-JP" altLang="en-US" sz="1100" b="1" spc="50" baseline="0" dirty="0">
                          <a:latin typeface="+mj-ea"/>
                          <a:ea typeface="+mj-ea"/>
                        </a:rPr>
                        <a:t>手数料率</a:t>
                      </a:r>
                    </a:p>
                  </a:txBody>
                  <a:tcPr marL="0" marR="0" marT="0" marB="0" anchor="ctr" anchorCtr="1">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552892255"/>
                  </a:ext>
                </a:extLst>
              </a:tr>
              <a:tr h="342000">
                <a:tc>
                  <a:txBody>
                    <a:bodyPr/>
                    <a:lstStyle/>
                    <a:p>
                      <a:pPr algn="l">
                        <a:lnSpc>
                          <a:spcPct val="110000"/>
                        </a:lnSpc>
                      </a:pPr>
                      <a:r>
                        <a:rPr kumimoji="1" lang="en-US" altLang="ja-JP" sz="1200" b="1" spc="50" baseline="0" dirty="0">
                          <a:latin typeface="+mj-lt"/>
                          <a:ea typeface="+mj-ea"/>
                        </a:rPr>
                        <a:t>2</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accent2">
                          <a:lumMod val="10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2,000</a:t>
                      </a:r>
                      <a:r>
                        <a:rPr kumimoji="1" lang="ja-JP" altLang="en-US" sz="1100" b="1" spc="50" baseline="0" dirty="0">
                          <a:solidFill>
                            <a:schemeClr val="tx1"/>
                          </a:solidFill>
                          <a:latin typeface="+mn-lt"/>
                          <a:ea typeface="+mn-ea"/>
                        </a:rPr>
                        <a:t>万円</a:t>
                      </a:r>
                      <a:endParaRPr kumimoji="1" lang="ja-JP" altLang="en-US" sz="1100" b="0" spc="50" baseline="0" dirty="0">
                        <a:solidFill>
                          <a:schemeClr val="tx1"/>
                        </a:solidFill>
                        <a:latin typeface="+mn-lt"/>
                        <a:ea typeface="+mn-ea"/>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accent2">
                          <a:lumMod val="1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21334838"/>
                  </a:ext>
                </a:extLst>
              </a:tr>
              <a:tr h="342000">
                <a:tc>
                  <a:txBody>
                    <a:bodyPr/>
                    <a:lstStyle/>
                    <a:p>
                      <a:pPr marL="0" marR="0" lvl="0" indent="0" algn="l" defTabSz="1007943" rtl="0" eaLnBrk="1" fontAlgn="auto" latinLnBrk="0" hangingPunct="1">
                        <a:lnSpc>
                          <a:spcPct val="110000"/>
                        </a:lnSpc>
                        <a:spcBef>
                          <a:spcPts val="0"/>
                        </a:spcBef>
                        <a:spcAft>
                          <a:spcPts val="0"/>
                        </a:spcAft>
                        <a:buClrTx/>
                        <a:buSzTx/>
                        <a:buFontTx/>
                        <a:buNone/>
                        <a:tabLst/>
                        <a:defRPr/>
                      </a:pPr>
                      <a:r>
                        <a:rPr kumimoji="1" lang="en-US" altLang="ja-JP" sz="1200" b="1" kern="1200" spc="50" baseline="0" dirty="0">
                          <a:solidFill>
                            <a:schemeClr val="tx1"/>
                          </a:solidFill>
                          <a:latin typeface="+mn-lt"/>
                          <a:ea typeface="+mn-ea"/>
                          <a:cs typeface="+mn-cs"/>
                        </a:rPr>
                        <a:t>2</a:t>
                      </a:r>
                      <a:r>
                        <a:rPr kumimoji="1" lang="ja-JP" altLang="en-US" sz="1200" b="1" kern="1200" spc="50" baseline="0" dirty="0">
                          <a:solidFill>
                            <a:schemeClr val="tx1"/>
                          </a:solidFill>
                          <a:latin typeface="+mn-lt"/>
                          <a:ea typeface="+mn-ea"/>
                          <a:cs typeface="+mn-cs"/>
                        </a:rPr>
                        <a:t>億円超　</a:t>
                      </a:r>
                      <a:r>
                        <a:rPr kumimoji="1" lang="en-US" altLang="ja-JP" sz="1200" b="1" kern="1200" spc="50" baseline="0" dirty="0">
                          <a:solidFill>
                            <a:schemeClr val="tx1"/>
                          </a:solidFill>
                          <a:latin typeface="+mn-lt"/>
                          <a:ea typeface="+mn-ea"/>
                          <a:cs typeface="+mn-cs"/>
                        </a:rPr>
                        <a:t>5</a:t>
                      </a:r>
                      <a:r>
                        <a:rPr kumimoji="1" lang="ja-JP" altLang="en-US" sz="1200" b="1" kern="1200" spc="50" baseline="0" dirty="0">
                          <a:solidFill>
                            <a:schemeClr val="tx1"/>
                          </a:solidFill>
                          <a:latin typeface="+mn-lt"/>
                          <a:ea typeface="+mn-ea"/>
                          <a:cs typeface="+mn-cs"/>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2">
                          <a:lumMod val="10000"/>
                        </a:schemeClr>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nSpc>
                          <a:spcPct val="110000"/>
                        </a:lnSpc>
                      </a:pPr>
                      <a:r>
                        <a:rPr kumimoji="1" lang="en-US" altLang="ja-JP" sz="1800" b="1" spc="50" baseline="0" dirty="0">
                          <a:solidFill>
                            <a:schemeClr val="tx1"/>
                          </a:solidFill>
                          <a:latin typeface="+mn-lt"/>
                          <a:ea typeface="+mn-ea"/>
                        </a:rPr>
                        <a:t>5</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2">
                          <a:lumMod val="10000"/>
                        </a:schemeClr>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0064655"/>
                  </a:ext>
                </a:extLst>
              </a:tr>
              <a:tr h="342000">
                <a:tc>
                  <a:txBody>
                    <a:bodyPr/>
                    <a:lstStyle/>
                    <a:p>
                      <a:pPr algn="l">
                        <a:lnSpc>
                          <a:spcPct val="110000"/>
                        </a:lnSpc>
                      </a:pPr>
                      <a:r>
                        <a:rPr kumimoji="1" lang="en-US" altLang="ja-JP" sz="1200" b="1" spc="50" baseline="0" dirty="0">
                          <a:latin typeface="+mj-lt"/>
                          <a:ea typeface="+mj-ea"/>
                        </a:rPr>
                        <a:t>5</a:t>
                      </a:r>
                      <a:r>
                        <a:rPr kumimoji="1" lang="ja-JP" altLang="en-US" sz="1200" b="1" spc="50" baseline="0" dirty="0">
                          <a:latin typeface="+mj-lt"/>
                          <a:ea typeface="+mj-ea"/>
                        </a:rPr>
                        <a:t>億円超　</a:t>
                      </a:r>
                      <a:r>
                        <a:rPr kumimoji="1" lang="en-US" altLang="ja-JP" sz="1200" b="1" spc="50" baseline="0" dirty="0">
                          <a:latin typeface="+mj-lt"/>
                          <a:ea typeface="+mj-ea"/>
                        </a:rPr>
                        <a:t>10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4</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5221436"/>
                  </a:ext>
                </a:extLst>
              </a:tr>
              <a:tr h="342000">
                <a:tc>
                  <a:txBody>
                    <a:bodyPr/>
                    <a:lstStyle/>
                    <a:p>
                      <a:pPr algn="l">
                        <a:lnSpc>
                          <a:spcPct val="110000"/>
                        </a:lnSpc>
                      </a:pPr>
                      <a:r>
                        <a:rPr kumimoji="1" lang="en-US" altLang="ja-JP" sz="1200" b="1" spc="50" baseline="0" dirty="0">
                          <a:latin typeface="+mj-lt"/>
                          <a:ea typeface="+mj-ea"/>
                        </a:rPr>
                        <a:t>10</a:t>
                      </a:r>
                      <a:r>
                        <a:rPr kumimoji="1" lang="ja-JP" altLang="en-US" sz="1200" b="1" spc="50" baseline="0" dirty="0">
                          <a:latin typeface="+mj-lt"/>
                          <a:ea typeface="+mj-ea"/>
                        </a:rPr>
                        <a:t>億円超　</a:t>
                      </a:r>
                      <a:r>
                        <a:rPr kumimoji="1" lang="en-US" altLang="ja-JP" sz="1200" b="1" spc="50" baseline="0" dirty="0">
                          <a:latin typeface="+mj-lt"/>
                          <a:ea typeface="+mj-ea"/>
                        </a:rPr>
                        <a:t>50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3</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54929017"/>
                  </a:ext>
                </a:extLst>
              </a:tr>
              <a:tr h="342000">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200" b="1" spc="50" baseline="0" dirty="0">
                          <a:latin typeface="+mj-lt"/>
                          <a:ea typeface="+mj-ea"/>
                        </a:rPr>
                        <a:t>50</a:t>
                      </a:r>
                      <a:r>
                        <a:rPr kumimoji="1" lang="ja-JP" altLang="en-US" sz="1200" b="1" spc="50" baseline="0" dirty="0">
                          <a:latin typeface="+mj-lt"/>
                          <a:ea typeface="+mj-ea"/>
                        </a:rPr>
                        <a:t>億円超　</a:t>
                      </a:r>
                      <a:r>
                        <a:rPr kumimoji="1" lang="en-US" altLang="ja-JP" sz="1200" b="1" spc="50" baseline="0" dirty="0">
                          <a:latin typeface="+mj-lt"/>
                          <a:ea typeface="+mj-ea"/>
                        </a:rPr>
                        <a:t>100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2</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96813135"/>
                  </a:ext>
                </a:extLst>
              </a:tr>
              <a:tr h="342000">
                <a:tc>
                  <a:txBody>
                    <a:bodyPr/>
                    <a:lstStyle/>
                    <a:p>
                      <a:pPr algn="l">
                        <a:lnSpc>
                          <a:spcPct val="110000"/>
                        </a:lnSpc>
                      </a:pPr>
                      <a:r>
                        <a:rPr kumimoji="1" lang="en-US" altLang="ja-JP" sz="1200" b="1" spc="50" baseline="0" dirty="0">
                          <a:latin typeface="+mj-lt"/>
                          <a:ea typeface="+mj-ea"/>
                        </a:rPr>
                        <a:t>100</a:t>
                      </a:r>
                      <a:r>
                        <a:rPr kumimoji="1" lang="ja-JP" altLang="en-US" sz="1200" b="1" spc="50" baseline="0" dirty="0">
                          <a:latin typeface="+mj-lt"/>
                          <a:ea typeface="+mj-ea"/>
                        </a:rPr>
                        <a:t>億円超の部分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1</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0759054"/>
                  </a:ext>
                </a:extLst>
              </a:tr>
            </a:tbl>
          </a:graphicData>
        </a:graphic>
      </p:graphicFrame>
      <p:sp>
        <p:nvSpPr>
          <p:cNvPr id="3" name="テキスト ボックス 2">
            <a:extLst>
              <a:ext uri="{FF2B5EF4-FFF2-40B4-BE49-F238E27FC236}">
                <a16:creationId xmlns:a16="http://schemas.microsoft.com/office/drawing/2014/main" id="{08F1693B-FFF1-ED80-7351-7BBDED97C92F}"/>
              </a:ext>
            </a:extLst>
          </p:cNvPr>
          <p:cNvSpPr txBox="1"/>
          <p:nvPr/>
        </p:nvSpPr>
        <p:spPr>
          <a:xfrm>
            <a:off x="8985126" y="2145278"/>
            <a:ext cx="788036" cy="209545"/>
          </a:xfrm>
          <a:prstGeom prst="rect">
            <a:avLst/>
          </a:prstGeom>
          <a:noFill/>
        </p:spPr>
        <p:txBody>
          <a:bodyPr wrap="none" lIns="0" tIns="0" rIns="0" bIns="0" rtlCol="0">
            <a:spAutoFit/>
          </a:bodyPr>
          <a:lstStyle/>
          <a:p>
            <a:pPr algn="ctr">
              <a:lnSpc>
                <a:spcPct val="120000"/>
              </a:lnSpc>
              <a:buClr>
                <a:schemeClr val="tx2"/>
              </a:buClr>
              <a:buSzPct val="80000"/>
            </a:pPr>
            <a:r>
              <a:rPr lang="en-US" altLang="ja-JP" sz="1200" spc="70" dirty="0">
                <a:solidFill/>
                <a:latin typeface="+mj-ea"/>
                <a:ea typeface="+mj-ea"/>
              </a:rPr>
              <a:t>(</a:t>
            </a:r>
            <a:r>
              <a:rPr lang="ja-JP" altLang="en-US" sz="1200" spc="70" dirty="0">
                <a:solidFill/>
                <a:latin typeface="+mj-ea"/>
                <a:ea typeface="+mj-ea"/>
              </a:rPr>
              <a:t>消費税別</a:t>
            </a:r>
            <a:r>
              <a:rPr lang="en-US" altLang="ja-JP" sz="1200" spc="70" dirty="0">
                <a:solidFill/>
                <a:latin typeface="+mj-ea"/>
                <a:ea typeface="+mj-ea"/>
              </a:rPr>
              <a:t>)</a:t>
            </a:r>
            <a:endParaRPr lang="ja-JP" altLang="en-US" sz="1200" spc="70" dirty="0">
              <a:latin typeface="+mj-ea"/>
              <a:ea typeface="+mj-ea"/>
            </a:endParaRPr>
          </a:p>
        </p:txBody>
      </p:sp>
      <p:sp>
        <p:nvSpPr>
          <p:cNvPr id="4" name="正方形/長方形 3">
            <a:extLst>
              <a:ext uri="{FF2B5EF4-FFF2-40B4-BE49-F238E27FC236}">
                <a16:creationId xmlns:a16="http://schemas.microsoft.com/office/drawing/2014/main" id="{021EBBB3-E8D6-A883-4081-72409664F3A2}"/>
              </a:ext>
            </a:extLst>
          </p:cNvPr>
          <p:cNvSpPr/>
          <p:nvPr/>
        </p:nvSpPr>
        <p:spPr>
          <a:xfrm>
            <a:off x="449264" y="5224403"/>
            <a:ext cx="3816000" cy="186218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0" rtlCol="0" anchor="t"/>
          <a:lstStyle/>
          <a:p>
            <a:pPr algn="ctr">
              <a:buClr>
                <a:schemeClr val="tx2"/>
              </a:buClr>
              <a:buSzPct val="80000"/>
            </a:pPr>
            <a:r>
              <a:rPr kumimoji="1" lang="ja-JP" altLang="en-US" sz="1800" b="1" spc="110" dirty="0">
                <a:solidFill>
                  <a:schemeClr val="tx1"/>
                </a:solidFill>
                <a:latin typeface="+mj-ea"/>
                <a:ea typeface="+mj-ea"/>
              </a:rPr>
              <a:t>中間報酬</a:t>
            </a:r>
            <a:r>
              <a:rPr kumimoji="1" lang="en-US" altLang="ja-JP" sz="1800" spc="110" baseline="30000" dirty="0">
                <a:solidFill>
                  <a:schemeClr val="tx1"/>
                </a:solidFill>
                <a:latin typeface="+mj-ea"/>
                <a:ea typeface="+mj-ea"/>
              </a:rPr>
              <a:t>※1</a:t>
            </a:r>
            <a:r>
              <a:rPr kumimoji="1" lang="ja-JP" altLang="en-US" sz="1800" b="1" spc="110" dirty="0">
                <a:solidFill>
                  <a:schemeClr val="tx1"/>
                </a:solidFill>
                <a:latin typeface="+mj-ea"/>
                <a:ea typeface="+mj-ea"/>
              </a:rPr>
              <a:t>の算定方法</a:t>
            </a:r>
          </a:p>
        </p:txBody>
      </p:sp>
      <p:sp>
        <p:nvSpPr>
          <p:cNvPr id="5" name="正方形/長方形 4">
            <a:extLst>
              <a:ext uri="{FF2B5EF4-FFF2-40B4-BE49-F238E27FC236}">
                <a16:creationId xmlns:a16="http://schemas.microsoft.com/office/drawing/2014/main" id="{0A844F69-2E35-9611-A4E1-15256E6FA8E2}"/>
              </a:ext>
            </a:extLst>
          </p:cNvPr>
          <p:cNvSpPr/>
          <p:nvPr/>
        </p:nvSpPr>
        <p:spPr>
          <a:xfrm>
            <a:off x="615951" y="5812442"/>
            <a:ext cx="3482623" cy="916330"/>
          </a:xfrm>
          <a:prstGeom prst="rect">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ja-JP" altLang="en-US" sz="1600" b="1" spc="30" dirty="0">
                <a:solidFill>
                  <a:schemeClr val="tx1"/>
                </a:solidFill>
                <a:latin typeface="+mj-ea"/>
                <a:ea typeface="+mj-ea"/>
              </a:rPr>
              <a:t>成功報酬の</a:t>
            </a:r>
            <a:r>
              <a:rPr kumimoji="1" lang="en-US" altLang="ja-JP" sz="1600" b="1" spc="30" dirty="0">
                <a:solidFill>
                  <a:schemeClr val="tx1"/>
                </a:solidFill>
                <a:latin typeface="+mj-ea"/>
                <a:ea typeface="+mj-ea"/>
              </a:rPr>
              <a:t>10</a:t>
            </a:r>
            <a:r>
              <a:rPr kumimoji="1" lang="ja-JP" altLang="en-US" sz="1600" b="1" spc="30" dirty="0">
                <a:solidFill>
                  <a:schemeClr val="tx1"/>
                </a:solidFill>
                <a:latin typeface="+mj-ea"/>
                <a:ea typeface="+mj-ea"/>
              </a:rPr>
              <a:t>％</a:t>
            </a:r>
            <a:endParaRPr kumimoji="1" lang="en-US" altLang="ja-JP" sz="1600" b="1" spc="30" dirty="0">
              <a:solidFill>
                <a:schemeClr val="tx1"/>
              </a:solidFill>
              <a:latin typeface="+mj-ea"/>
              <a:ea typeface="+mj-ea"/>
            </a:endParaRPr>
          </a:p>
          <a:p>
            <a:pPr algn="ctr">
              <a:lnSpc>
                <a:spcPct val="120000"/>
              </a:lnSpc>
            </a:pPr>
            <a:r>
              <a:rPr kumimoji="1" lang="ja-JP" altLang="en-US" sz="1200" b="1" spc="30" dirty="0">
                <a:solidFill>
                  <a:schemeClr val="tx1"/>
                </a:solidFill>
                <a:latin typeface="+mj-ea"/>
                <a:ea typeface="+mj-ea"/>
              </a:rPr>
              <a:t>（但し最低額は</a:t>
            </a:r>
            <a:r>
              <a:rPr kumimoji="1" lang="en-US" altLang="ja-JP" sz="1200" b="1" spc="30" dirty="0">
                <a:solidFill>
                  <a:schemeClr val="tx1"/>
                </a:solidFill>
                <a:latin typeface="+mj-ea"/>
                <a:ea typeface="+mj-ea"/>
              </a:rPr>
              <a:t>300</a:t>
            </a:r>
            <a:r>
              <a:rPr kumimoji="1" lang="ja-JP" altLang="en-US" sz="1200" b="1" spc="30" dirty="0">
                <a:solidFill>
                  <a:schemeClr val="tx1"/>
                </a:solidFill>
                <a:latin typeface="+mj-ea"/>
                <a:ea typeface="+mj-ea"/>
              </a:rPr>
              <a:t>万円とします）</a:t>
            </a:r>
          </a:p>
        </p:txBody>
      </p:sp>
      <p:sp>
        <p:nvSpPr>
          <p:cNvPr id="8" name="正方形/長方形 7">
            <a:extLst>
              <a:ext uri="{FF2B5EF4-FFF2-40B4-BE49-F238E27FC236}">
                <a16:creationId xmlns:a16="http://schemas.microsoft.com/office/drawing/2014/main" id="{6EED8059-D8E2-0DAF-A350-928100484E14}"/>
              </a:ext>
            </a:extLst>
          </p:cNvPr>
          <p:cNvSpPr/>
          <p:nvPr/>
        </p:nvSpPr>
        <p:spPr>
          <a:xfrm>
            <a:off x="615951" y="6812925"/>
            <a:ext cx="3135474" cy="1299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p>
            <a:pPr>
              <a:lnSpc>
                <a:spcPct val="110000"/>
              </a:lnSpc>
            </a:pPr>
            <a:r>
              <a:rPr lang="en-US" altLang="ja-JP" sz="800" dirty="0">
                <a:solidFill>
                  <a:schemeClr val="tx1"/>
                </a:solidFill>
                <a:latin typeface="+mn-ea"/>
              </a:rPr>
              <a:t>※1</a:t>
            </a:r>
            <a:r>
              <a:rPr lang="ja-JP" altLang="en-US" sz="800" dirty="0">
                <a:solidFill>
                  <a:schemeClr val="tx1"/>
                </a:solidFill>
                <a:latin typeface="+mn-ea"/>
              </a:rPr>
              <a:t>　中間報酬は成約した場合、成功報酬に含め、充当いたします。</a:t>
            </a:r>
          </a:p>
        </p:txBody>
      </p:sp>
    </p:spTree>
    <p:extLst>
      <p:ext uri="{BB962C8B-B14F-4D97-AF65-F5344CB8AC3E}">
        <p14:creationId xmlns:p14="http://schemas.microsoft.com/office/powerpoint/2010/main" val="2577499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descr="背景パターン&#10;&#10;AI 生成コンテンツは誤りを含む可能性があります。">
            <a:extLst>
              <a:ext uri="{FF2B5EF4-FFF2-40B4-BE49-F238E27FC236}">
                <a16:creationId xmlns:a16="http://schemas.microsoft.com/office/drawing/2014/main" id="{38E11F1F-6089-6877-97F2-46DAB0493C3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8" name="テキスト ボックス 7">
            <a:extLst>
              <a:ext uri="{FF2B5EF4-FFF2-40B4-BE49-F238E27FC236}">
                <a16:creationId xmlns:a16="http://schemas.microsoft.com/office/drawing/2014/main" id="{9DC24A9B-5E33-B3B6-B79B-2D6D5E5AF179}"/>
              </a:ext>
            </a:extLst>
          </p:cNvPr>
          <p:cNvSpPr txBox="1"/>
          <p:nvPr/>
        </p:nvSpPr>
        <p:spPr>
          <a:xfrm>
            <a:off x="2626785" y="4635223"/>
            <a:ext cx="5604098" cy="276999"/>
          </a:xfrm>
          <a:prstGeom prst="rect">
            <a:avLst/>
          </a:prstGeom>
          <a:noFill/>
        </p:spPr>
        <p:txBody>
          <a:bodyPr wrap="none" lIns="0" tIns="0" rIns="0" bIns="0" rtlCol="0">
            <a:spAutoFit/>
          </a:bodyPr>
          <a:lstStyle/>
          <a:p>
            <a:pPr algn="ctr"/>
            <a:r>
              <a:rPr lang="ja-JP" altLang="en-US" b="1" spc="100" dirty="0">
                <a:solidFill/>
                <a:latin typeface="+mj-ea"/>
                <a:ea typeface="+mj-ea"/>
              </a:rPr>
              <a:t>企業価値の最大化を通じて、経済に正しい循環を。</a:t>
            </a:r>
          </a:p>
        </p:txBody>
      </p:sp>
      <p:pic>
        <p:nvPicPr>
          <p:cNvPr id="4" name="グラフィックス 3">
            <a:extLst>
              <a:ext uri="{FF2B5EF4-FFF2-40B4-BE49-F238E27FC236}">
                <a16:creationId xmlns:a16="http://schemas.microsoft.com/office/drawing/2014/main" id="{549C4F39-0611-3D63-A333-95F8642EF8D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18588" y="3080873"/>
            <a:ext cx="5502236" cy="1090632"/>
          </a:xfrm>
          <a:prstGeom prst="rect">
            <a:avLst/>
          </a:prstGeom>
        </p:spPr>
      </p:pic>
    </p:spTree>
    <p:extLst>
      <p:ext uri="{BB962C8B-B14F-4D97-AF65-F5344CB8AC3E}">
        <p14:creationId xmlns:p14="http://schemas.microsoft.com/office/powerpoint/2010/main" val="3135229745"/>
      </p:ext>
    </p:extLst>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拠点概要（店舗レイアウト・客席）</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a:latin typeface="游ゴシック"/>
                <a:ea typeface="游ゴシック"/>
                <a:cs typeface="游ゴシック"/>
              </a:rPr>
              <a:t>組織、拠点、設備等</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客席は板の間・座敷・縁側デッキの3区画。コロナ禍に縁側席を増設している。席数よりも「昼のみ・売り切りじまい」という運用が供給量を規定している</a:t>
            </a:r>
            <a:endParaRPr lang="en-US" altLang="ja-JP" dirty="0"/>
          </a:p>
        </p:txBody>
      </p:sp>
      <p:graphicFrame>
        <p:nvGraphicFramePr>
          <p:cNvPr id="14" name="Table 13"/>
          <p:cNvGraphicFramePr>
            <a:graphicFrameLocks noGrp="1"/>
          </p:cNvGraphicFramePr>
          <p:nvPr/>
        </p:nvGraphicFramePr>
        <p:xfrm>
          <a:off x="310896" y="1426464"/>
          <a:ext cx="6400800" cy="4809744"/>
        </p:xfrm>
        <a:graphic>
          <a:graphicData uri="http://schemas.openxmlformats.org/drawingml/2006/table">
            <a:tbl>
              <a:tblPr firstRow="0" bandRow="0">
                <a:tableStyleId>{5940675A-B579-460E-94D1-54222C63F5DA}</a:tableStyleId>
              </a:tblPr>
              <a:tblGrid>
                <a:gridCol w="1024128"/>
                <a:gridCol w="1115568"/>
                <a:gridCol w="2596896"/>
                <a:gridCol w="1664208"/>
              </a:tblGrid>
              <a:tr h="237744">
                <a:tc>
                  <a:txBody>
                    <a:bodyPr wrap="square"/>
                    <a:lstStyle/>
                    <a:p>
                      <a:pPr algn="ctr">
                        <a:spcAft>
                          <a:spcPts val="0"/>
                        </a:spcAft>
                      </a:pPr>
                      <a:r>
                        <a:rPr sz="800" b="1">
                          <a:solidFill>
                            <a:srgbClr val="FFFFFF"/>
                          </a:solidFill>
                          <a:latin typeface="游ゴシック"/>
                          <a:ea typeface="游ゴシック"/>
                          <a:cs typeface="游ゴシック"/>
                        </a:rPr>
                        <a:t>区画</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用途</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什器・設備</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備考</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57200">
                <a:tc>
                  <a:txBody>
                    <a:bodyPr wrap="square"/>
                    <a:lstStyle/>
                    <a:p>
                      <a:pPr algn="l">
                        <a:spcAft>
                          <a:spcPts val="0"/>
                        </a:spcAft>
                      </a:pPr>
                      <a:r>
                        <a:rPr sz="800" b="0">
                          <a:solidFill>
                            <a:srgbClr val="1A1A1A"/>
                          </a:solidFill>
                          <a:latin typeface="游ゴシック"/>
                          <a:ea typeface="游ゴシック"/>
                          <a:cs typeface="游ゴシック"/>
                        </a:rPr>
                        <a:t>土間</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入口・待合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開店前に待ち列が生じる（待ち時間・お断りした客数は要確認）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57200">
                <a:tc>
                  <a:txBody>
                    <a:bodyPr wrap="square"/>
                    <a:lstStyle/>
                    <a:p>
                      <a:pPr algn="l">
                        <a:spcAft>
                          <a:spcPts val="0"/>
                        </a:spcAft>
                      </a:pPr>
                      <a:r>
                        <a:rPr sz="800" b="0">
                          <a:solidFill>
                            <a:srgbClr val="1A1A1A"/>
                          </a:solidFill>
                          <a:latin typeface="游ゴシック"/>
                          <a:ea typeface="游ゴシック"/>
                          <a:cs typeface="游ゴシック"/>
                        </a:rPr>
                        <a:t>板の間</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テーブル席</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テーブル・イス（器具及び備品に計上）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2002年の開業時に導入。償却済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57200">
                <a:tc>
                  <a:txBody>
                    <a:bodyPr wrap="square"/>
                    <a:lstStyle/>
                    <a:p>
                      <a:pPr algn="l">
                        <a:spcAft>
                          <a:spcPts val="0"/>
                        </a:spcAft>
                      </a:pPr>
                      <a:r>
                        <a:rPr sz="800" b="0">
                          <a:solidFill>
                            <a:srgbClr val="1A1A1A"/>
                          </a:solidFill>
                          <a:latin typeface="游ゴシック"/>
                          <a:ea typeface="游ゴシック"/>
                          <a:cs typeface="游ゴシック"/>
                        </a:rPr>
                        <a:t>座敷（畳）</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座卓席</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座卓6卓程度・座布団・囲炉裏</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現地実査により把握</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57200">
                <a:tc>
                  <a:txBody>
                    <a:bodyPr wrap="square"/>
                    <a:lstStyle/>
                    <a:p>
                      <a:pPr algn="l">
                        <a:spcAft>
                          <a:spcPts val="0"/>
                        </a:spcAft>
                      </a:pPr>
                      <a:r>
                        <a:rPr sz="800" b="0">
                          <a:solidFill>
                            <a:srgbClr val="1A1A1A"/>
                          </a:solidFill>
                          <a:latin typeface="游ゴシック"/>
                          <a:ea typeface="游ゴシック"/>
                          <a:cs typeface="游ゴシック"/>
                        </a:rPr>
                        <a:t>縁側デッキ</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縁側席</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2020年11月に増設（縁側席工事1,400千円）。コロナ禍の客席拡張</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57200">
                <a:tc>
                  <a:txBody>
                    <a:bodyPr wrap="square"/>
                    <a:lstStyle/>
                    <a:p>
                      <a:pPr algn="l">
                        <a:spcAft>
                          <a:spcPts val="0"/>
                        </a:spcAft>
                      </a:pPr>
                      <a:r>
                        <a:rPr sz="800" b="0">
                          <a:solidFill>
                            <a:srgbClr val="1A1A1A"/>
                          </a:solidFill>
                          <a:latin typeface="游ゴシック"/>
                          <a:ea typeface="游ゴシック"/>
                          <a:cs typeface="游ゴシック"/>
                        </a:rPr>
                        <a:t>座敷まわり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暖房</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薪ストーブ2台（鋳物）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2022年6月・2024年12月に取得</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57200">
                <a:tc>
                  <a:txBody>
                    <a:bodyPr wrap="square"/>
                    <a:lstStyle/>
                    <a:p>
                      <a:pPr algn="l">
                        <a:spcAft>
                          <a:spcPts val="0"/>
                        </a:spcAft>
                      </a:pPr>
                      <a:r>
                        <a:rPr sz="800" b="0">
                          <a:solidFill>
                            <a:srgbClr val="1A1A1A"/>
                          </a:solidFill>
                          <a:latin typeface="游ゴシック"/>
                          <a:ea typeface="游ゴシック"/>
                          <a:cs typeface="游ゴシック"/>
                        </a:rPr>
                        <a:t>厨房</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調理・洗い場・釜場</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業務用ガスコンロ、茹で釜・ゆで麺機、焼き台、換気フード、食器洗浄機、三槽シンク</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写真は P.27。複数店舗分の仕込みに耐える構成</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57200">
                <a:tc>
                  <a:txBody>
                    <a:bodyPr wrap="square"/>
                    <a:lstStyle/>
                    <a:p>
                      <a:pPr algn="l">
                        <a:spcAft>
                          <a:spcPts val="0"/>
                        </a:spcAft>
                      </a:pPr>
                      <a:r>
                        <a:rPr sz="800" b="0">
                          <a:solidFill>
                            <a:srgbClr val="1A1A1A"/>
                          </a:solidFill>
                          <a:latin typeface="游ゴシック"/>
                          <a:ea typeface="游ゴシック"/>
                          <a:cs typeface="游ゴシック"/>
                        </a:rPr>
                        <a:t>製粉室</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石臼自家製粉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電動石臼製粉機、木製石臼製粉機、二連式石臼製粉機、小麦製粉機、大理石作業台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台帳との対応関係は要確認（P.29）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57200">
                <a:tc>
                  <a:txBody>
                    <a:bodyPr wrap="square"/>
                    <a:lstStyle/>
                    <a:p>
                      <a:pPr algn="l">
                        <a:spcAft>
                          <a:spcPts val="0"/>
                        </a:spcAft>
                      </a:pPr>
                      <a:r>
                        <a:rPr sz="800" b="0">
                          <a:solidFill>
                            <a:srgbClr val="1A1A1A"/>
                          </a:solidFill>
                          <a:latin typeface="游ゴシック"/>
                          <a:ea typeface="游ゴシック"/>
                          <a:cs typeface="游ゴシック"/>
                        </a:rPr>
                        <a:t>そば打ち場</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手打ち</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木製そば打ち台2台、朱塗りこね鉢、そば包丁3丁、こま板、専用シンク</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現地実査により把握</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57200">
                <a:tc>
                  <a:txBody>
                    <a:bodyPr wrap="square"/>
                    <a:lstStyle/>
                    <a:p>
                      <a:pPr algn="l">
                        <a:spcAft>
                          <a:spcPts val="0"/>
                        </a:spcAft>
                      </a:pPr>
                      <a:r>
                        <a:rPr sz="800" b="0">
                          <a:solidFill>
                            <a:srgbClr val="1A1A1A"/>
                          </a:solidFill>
                          <a:latin typeface="游ゴシック"/>
                          <a:ea typeface="游ゴシック"/>
                          <a:cs typeface="游ゴシック"/>
                        </a:rPr>
                        <a:t>保管</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原料保管</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玄そば定温保管庫（冷却ユニット付・木造断熱仕様）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玄そばを袋単位で保管</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57200">
                <a:tc>
                  <a:txBody>
                    <a:bodyPr wrap="square"/>
                    <a:lstStyle/>
                    <a:p>
                      <a:pPr algn="l">
                        <a:spcAft>
                          <a:spcPts val="0"/>
                        </a:spcAft>
                      </a:pPr>
                      <a:r>
                        <a:rPr sz="800" b="0">
                          <a:solidFill>
                            <a:srgbClr val="1A1A1A"/>
                          </a:solidFill>
                          <a:latin typeface="游ゴシック"/>
                          <a:ea typeface="游ゴシック"/>
                          <a:cs typeface="游ゴシック"/>
                        </a:rPr>
                        <a:t>2階</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代表者住居</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代表者夫妻が居住中。明渡しの時期・条件は協議事項（P.23）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5" name="Rectangle 14"/>
          <p:cNvSpPr/>
          <p:nvPr/>
        </p:nvSpPr>
        <p:spPr>
          <a:xfrm>
            <a:off x="6876288" y="1426464"/>
            <a:ext cx="3502152" cy="4809744"/>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67727" y="1499616"/>
            <a:ext cx="3319272" cy="274320"/>
          </a:xfrm>
          <a:prstGeom prst="rect">
            <a:avLst/>
          </a:prstGeom>
          <a:noFill/>
        </p:spPr>
        <p:txBody>
          <a:bodyPr wrap="square" lIns="0" rIns="0" t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17" name="TextBox 16"/>
          <p:cNvSpPr txBox="1"/>
          <p:nvPr/>
        </p:nvSpPr>
        <p:spPr>
          <a:xfrm>
            <a:off x="6986016" y="1847088"/>
            <a:ext cx="3282696" cy="4297679"/>
          </a:xfrm>
          <a:prstGeom prst="rect">
            <a:avLst/>
          </a:prstGeom>
          <a:noFill/>
        </p:spPr>
        <p:txBody>
          <a:bodyPr wrap="square" lIns="0" rIns="0" tIns="0" bIns="0" anchor="t">
            <a:spAutoFit/>
          </a:bodyPr>
          <a:lstStyle/>
          <a:p>
            <a:pPr algn="l">
              <a:lnSpc>
                <a:spcPct val="120000"/>
              </a:lnSpc>
              <a:spcAft>
                <a:spcPts val="200"/>
              </a:spcAft>
            </a:pPr>
            <a:r>
              <a:rPr sz="900" b="1">
                <a:solidFill>
                  <a:srgbClr val="0889C9"/>
                </a:solidFill>
                <a:latin typeface="游ゴシック"/>
                <a:ea typeface="游ゴシック"/>
                <a:cs typeface="游ゴシック"/>
              </a:rPr>
              <a:t>≪1日あたりの客数（推計）≫ </a:t>
            </a:r>
            <a:r>
              <a:rPr sz="880" b="0">
                <a:solidFill>
                  <a:srgbClr val="1A1A1A"/>
                </a:solidFill>
                <a:latin typeface="游ゴシック"/>
                <a:ea typeface="游ゴシック"/>
                <a:cs typeface="游ゴシック"/>
              </a:rPr>
              <a:t>店頭売上15,099千円 ÷ 年間200日 ＝ 日商75千円。平均予算約3,000円（公表情報）で割り戻すと1日あたり約25名となる（弊社の推計）。</a:t>
            </a:r>
          </a:p>
          <a:p>
            <a:pPr algn="l">
              <a:spcAft>
                <a:spcPts val="200"/>
              </a:spcAft>
            </a:pPr>
          </a:p>
          <a:p>
            <a:pPr algn="l">
              <a:lnSpc>
                <a:spcPct val="120000"/>
              </a:lnSpc>
              <a:spcAft>
                <a:spcPts val="200"/>
              </a:spcAft>
            </a:pPr>
            <a:r>
              <a:rPr sz="900" b="1">
                <a:solidFill>
                  <a:srgbClr val="0889C9"/>
                </a:solidFill>
                <a:latin typeface="游ゴシック"/>
                <a:ea typeface="游ゴシック"/>
                <a:cs typeface="游ゴシック"/>
              </a:rPr>
              <a:t>≪客席什器の記録≫ </a:t>
            </a:r>
            <a:r>
              <a:rPr sz="880" b="0">
                <a:solidFill>
                  <a:srgbClr val="1A1A1A"/>
                </a:solidFill>
                <a:latin typeface="游ゴシック"/>
                <a:ea typeface="游ゴシック"/>
                <a:cs typeface="游ゴシック"/>
              </a:rPr>
              <a:t>固定資産台帳には「テーブル61個・イス22脚・クッション94個ほか」が2002年2月取得・取得価額2,494千円で計上されている（償却済）。現在の配置・使用状況は要確認。</a:t>
            </a:r>
          </a:p>
          <a:p>
            <a:pPr algn="l">
              <a:spcAft>
                <a:spcPts val="200"/>
              </a:spcAft>
            </a:pPr>
          </a:p>
          <a:p>
            <a:pPr algn="l">
              <a:lnSpc>
                <a:spcPct val="120000"/>
              </a:lnSpc>
              <a:spcAft>
                <a:spcPts val="200"/>
              </a:spcAft>
            </a:pPr>
            <a:r>
              <a:rPr sz="900" b="1">
                <a:solidFill>
                  <a:srgbClr val="0889C9"/>
                </a:solidFill>
                <a:latin typeface="游ゴシック"/>
                <a:ea typeface="游ゴシック"/>
                <a:cs typeface="游ゴシック"/>
              </a:rPr>
              <a:t>≪席数より仕込み食数≫ </a:t>
            </a:r>
            <a:r>
              <a:rPr sz="880" b="0">
                <a:solidFill>
                  <a:srgbClr val="1A1A1A"/>
                </a:solidFill>
                <a:latin typeface="游ゴシック"/>
                <a:ea typeface="游ゴシック"/>
                <a:cs typeface="游ゴシック"/>
              </a:rPr>
              <a:t>11:30〜14:30の昼のみ、用意した分が出たら閉店する「売り切りじまい」であるため、供給の上限を決めているのは席数ではなく仕込み食数と考えられる。席数を増やすより、製造食数と営業日を増やす方が直接的（P.19）。</a:t>
            </a:r>
          </a:p>
          <a:p>
            <a:pPr algn="l">
              <a:spcAft>
                <a:spcPts val="200"/>
              </a:spcAft>
            </a:pPr>
          </a:p>
          <a:p>
            <a:pPr algn="l">
              <a:lnSpc>
                <a:spcPct val="120000"/>
              </a:lnSpc>
              <a:spcAft>
                <a:spcPts val="200"/>
              </a:spcAft>
            </a:pPr>
            <a:r>
              <a:rPr sz="900" b="1">
                <a:solidFill>
                  <a:srgbClr val="0889C9"/>
                </a:solidFill>
                <a:latin typeface="游ゴシック"/>
                <a:ea typeface="游ゴシック"/>
                <a:cs typeface="游ゴシック"/>
              </a:rPr>
              <a:t>≪要確認≫ </a:t>
            </a:r>
            <a:r>
              <a:rPr sz="880" b="0">
                <a:solidFill>
                  <a:srgbClr val="1A1A1A"/>
                </a:solidFill>
                <a:latin typeface="游ゴシック"/>
                <a:ea typeface="游ゴシック"/>
                <a:cs typeface="游ゴシック"/>
              </a:rPr>
              <a:t>実席数、1日の回転数、待ち時間とお断りした客数、縁側席の通年稼働の可否（冬季）。平面図・面積は資料未受領。</a:t>
            </a:r>
          </a:p>
        </p:txBody>
      </p:sp>
      <p:sp>
        <p:nvSpPr>
          <p:cNvPr id="18" name="TextBox 17"/>
          <p:cNvSpPr txBox="1"/>
          <p:nvPr/>
        </p:nvSpPr>
        <p:spPr>
          <a:xfrm>
            <a:off x="310896" y="6492240"/>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区画構成は現地実査および受領した画像資料に基づく弊社の整理です。平面図・寸法・面積・席数の確定資料は未受領であり、本頁に寸法は記載していません（要確認）。</a:t>
            </a:r>
          </a:p>
          <a:p>
            <a:pPr algn="l">
              <a:lnSpc>
                <a:spcPct val="112000"/>
              </a:lnSpc>
              <a:spcAft>
                <a:spcPts val="100"/>
              </a:spcAft>
            </a:pPr>
            <a:r>
              <a:rPr sz="750" b="0">
                <a:solidFill>
                  <a:srgbClr val="5A6670"/>
                </a:solidFill>
                <a:latin typeface="游ゴシック"/>
                <a:ea typeface="游ゴシック"/>
                <a:cs typeface="游ゴシック"/>
              </a:rPr>
              <a:t>※ 什器・設備の取得価額・期末簿価は2026年5月期 固定資産減価償却内訳明細書、現地実査分は台帳との対応関係が未整理です。</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知的財産・許認可</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a:latin typeface="游ゴシック"/>
                <a:ea typeface="游ゴシック"/>
                <a:cs typeface="游ゴシック"/>
              </a:rPr>
              <a:t>組織、拠点、設備等</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「慈久庵」「古式けんちんそば」等の商標を4件保有。ブランド価値の法的な裏付けであり、登録原簿の取得と権利範囲の確認が本件の優先確認事項</a:t>
            </a:r>
            <a:endParaRPr lang="en-US" altLang="ja-JP" dirty="0"/>
          </a:p>
        </p:txBody>
      </p:sp>
      <p:graphicFrame>
        <p:nvGraphicFramePr>
          <p:cNvPr id="14" name="Table 13"/>
          <p:cNvGraphicFramePr>
            <a:graphicFrameLocks noGrp="1"/>
          </p:cNvGraphicFramePr>
          <p:nvPr/>
        </p:nvGraphicFramePr>
        <p:xfrm>
          <a:off x="310896" y="1463040"/>
          <a:ext cx="10067544" cy="4078224"/>
        </p:xfrm>
        <a:graphic>
          <a:graphicData uri="http://schemas.openxmlformats.org/drawingml/2006/table">
            <a:tbl>
              <a:tblPr firstRow="0" bandRow="0">
                <a:tableStyleId>{5940675A-B579-460E-94D1-54222C63F5DA}</a:tableStyleId>
              </a:tblPr>
              <a:tblGrid>
                <a:gridCol w="1115568"/>
                <a:gridCol w="2962656"/>
                <a:gridCol w="841248"/>
                <a:gridCol w="566928"/>
                <a:gridCol w="4581144"/>
              </a:tblGrid>
              <a:tr h="237744">
                <a:tc>
                  <a:txBody>
                    <a:bodyPr wrap="square"/>
                    <a:lstStyle/>
                    <a:p>
                      <a:pPr algn="ctr">
                        <a:spcAft>
                          <a:spcPts val="0"/>
                        </a:spcAft>
                      </a:pPr>
                      <a:r>
                        <a:rPr sz="840" b="1">
                          <a:solidFill>
                            <a:srgbClr val="FFFFFF"/>
                          </a:solidFill>
                          <a:latin typeface="游ゴシック"/>
                          <a:ea typeface="游ゴシック"/>
                          <a:cs typeface="游ゴシック"/>
                        </a:rPr>
                        <a:t>区分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内容</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取得・時期</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簿価</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確認状況</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48640">
                <a:tc>
                  <a:txBody>
                    <a:bodyPr wrap="square"/>
                    <a:lstStyle/>
                    <a:p>
                      <a:pPr algn="l">
                        <a:spcAft>
                          <a:spcPts val="0"/>
                        </a:spcAft>
                      </a:pPr>
                      <a:r>
                        <a:rPr sz="840" b="0">
                          <a:solidFill>
                            <a:srgbClr val="1A1A1A"/>
                          </a:solidFill>
                          <a:latin typeface="游ゴシック"/>
                          <a:ea typeface="游ゴシック"/>
                          <a:cs typeface="游ゴシック"/>
                        </a:rPr>
                        <a:t>商標権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商標登録4件。「慈久庵」「古式けんちんそば」「古式健珍蕎麦」等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2011年12月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0円</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登録番号・区分・指定商品役務・存続期間は未確認。登録原簿の取得が必要</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48640">
                <a:tc>
                  <a:txBody>
                    <a:bodyPr wrap="square"/>
                    <a:lstStyle/>
                    <a:p>
                      <a:pPr algn="l">
                        <a:spcAft>
                          <a:spcPts val="0"/>
                        </a:spcAft>
                      </a:pPr>
                      <a:r>
                        <a:rPr sz="840" b="0">
                          <a:solidFill>
                            <a:srgbClr val="1A1A1A"/>
                          </a:solidFill>
                          <a:latin typeface="游ゴシック"/>
                          <a:ea typeface="游ゴシック"/>
                          <a:cs typeface="游ゴシック"/>
                        </a:rPr>
                        <a:t>商標の維持</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松田国際特許事務所へ年間60千円を支払（販管費・支払手数料）</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継続</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支払内容の内訳（更新料・管理料の別）は要確認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48640">
                <a:tc>
                  <a:txBody>
                    <a:bodyPr wrap="square"/>
                    <a:lstStyle/>
                    <a:p>
                      <a:pPr algn="l">
                        <a:spcAft>
                          <a:spcPts val="0"/>
                        </a:spcAft>
                      </a:pPr>
                      <a:r>
                        <a:rPr sz="840" b="0">
                          <a:solidFill>
                            <a:srgbClr val="1A1A1A"/>
                          </a:solidFill>
                          <a:latin typeface="游ゴシック"/>
                          <a:ea typeface="游ゴシック"/>
                          <a:cs typeface="游ゴシック"/>
                        </a:rPr>
                        <a:t>商標の展開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「古式けんちんそば」の商標展開を約7年前に開始（面談ヒアリング）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2019年頃</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登録状況・使用許諾の有無は要確認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48640">
                <a:tc>
                  <a:txBody>
                    <a:bodyPr wrap="square"/>
                    <a:lstStyle/>
                    <a:p>
                      <a:pPr algn="l">
                        <a:spcAft>
                          <a:spcPts val="0"/>
                        </a:spcAft>
                      </a:pPr>
                      <a:r>
                        <a:rPr sz="840" b="0">
                          <a:solidFill>
                            <a:srgbClr val="1A1A1A"/>
                          </a:solidFill>
                          <a:latin typeface="游ゴシック"/>
                          <a:ea typeface="游ゴシック"/>
                          <a:cs typeface="游ゴシック"/>
                        </a:rPr>
                        <a:t>著作</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代表者著『小川宣夫の蕎麦・饂飩指南 ― 粗挽き蕎麦と石臼挽き饂飩』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出版社・発行年・印税の帰属（法人／個人）は要確認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48640">
                <a:tc>
                  <a:txBody>
                    <a:bodyPr wrap="square"/>
                    <a:lstStyle/>
                    <a:p>
                      <a:pPr algn="l">
                        <a:spcAft>
                          <a:spcPts val="0"/>
                        </a:spcAft>
                      </a:pPr>
                      <a:r>
                        <a:rPr sz="840" b="0">
                          <a:solidFill>
                            <a:srgbClr val="1A1A1A"/>
                          </a:solidFill>
                          <a:latin typeface="游ゴシック"/>
                          <a:ea typeface="游ゴシック"/>
                          <a:cs typeface="游ゴシック"/>
                        </a:rPr>
                        <a:t>飲食店営業許可</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常陸太田市（所管保健所）</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許可証の写しが未受領。承継手続・所要期間の確認が必要</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48640">
                <a:tc>
                  <a:txBody>
                    <a:bodyPr wrap="square"/>
                    <a:lstStyle/>
                    <a:p>
                      <a:pPr algn="l">
                        <a:spcAft>
                          <a:spcPts val="0"/>
                        </a:spcAft>
                      </a:pPr>
                      <a:r>
                        <a:rPr sz="840" b="0">
                          <a:solidFill>
                            <a:srgbClr val="1A1A1A"/>
                          </a:solidFill>
                          <a:latin typeface="游ゴシック"/>
                          <a:ea typeface="游ゴシック"/>
                          <a:cs typeface="游ゴシック"/>
                        </a:rPr>
                        <a:t>食品製造の許可</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菓子製造業・そうざい製造業等（乾麺・そばつゆ・醤の製造販売に関連）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要否・取得状況ともに未確認。物販の拡販可否を左右する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48640">
                <a:tc>
                  <a:txBody>
                    <a:bodyPr wrap="square"/>
                    <a:lstStyle/>
                    <a:p>
                      <a:pPr algn="l">
                        <a:spcAft>
                          <a:spcPts val="0"/>
                        </a:spcAft>
                      </a:pPr>
                      <a:r>
                        <a:rPr sz="840" b="0">
                          <a:solidFill>
                            <a:srgbClr val="1A1A1A"/>
                          </a:solidFill>
                          <a:latin typeface="游ゴシック"/>
                          <a:ea typeface="游ゴシック"/>
                          <a:cs typeface="游ゴシック"/>
                        </a:rPr>
                        <a:t>農地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焼き畑によるそば栽培に使用</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権利関係（所有／賃借）および本件譲渡対象の要否は要確認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5" name="Rounded Rectangle 14"/>
          <p:cNvSpPr/>
          <p:nvPr/>
        </p:nvSpPr>
        <p:spPr>
          <a:xfrm>
            <a:off x="310896" y="5596128"/>
            <a:ext cx="10067544" cy="713232"/>
          </a:xfrm>
          <a:prstGeom prst="roundRect">
            <a:avLst/>
          </a:prstGeom>
          <a:solidFill>
            <a:srgbClr val="E1F3FB"/>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310896" y="5596128"/>
            <a:ext cx="1417320" cy="713232"/>
          </a:xfrm>
          <a:prstGeom prst="round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02336" y="5843016"/>
            <a:ext cx="1271016" cy="219456"/>
          </a:xfrm>
          <a:prstGeom prst="rect">
            <a:avLst/>
          </a:prstGeom>
          <a:noFill/>
        </p:spPr>
        <p:txBody>
          <a:bodyPr wrap="square" lIns="0" rIns="0" tIns="0" bIns="0" anchor="t">
            <a:spAutoFit/>
          </a:bodyPr>
          <a:lstStyle/>
          <a:p>
            <a:pPr algn="ctr">
              <a:spcAft>
                <a:spcPts val="0"/>
              </a:spcAft>
            </a:pPr>
            <a:r>
              <a:rPr sz="1300" b="1">
                <a:solidFill>
                  <a:srgbClr val="FFFFFF"/>
                </a:solidFill>
                <a:latin typeface="游ゴシック"/>
                <a:ea typeface="游ゴシック"/>
                <a:cs typeface="游ゴシック"/>
              </a:rPr>
              <a:t>ポイント</a:t>
            </a:r>
          </a:p>
        </p:txBody>
      </p:sp>
      <p:sp>
        <p:nvSpPr>
          <p:cNvPr id="18" name="Oval 17"/>
          <p:cNvSpPr/>
          <p:nvPr/>
        </p:nvSpPr>
        <p:spPr>
          <a:xfrm>
            <a:off x="1883664" y="5833872"/>
            <a:ext cx="237744" cy="237744"/>
          </a:xfrm>
          <a:prstGeom prst="ellipse">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游ゴシック"/>
                <a:ea typeface="游ゴシック"/>
                <a:cs typeface="游ゴシック"/>
              </a:rPr>
              <a:t>✓</a:t>
            </a:r>
          </a:p>
        </p:txBody>
      </p:sp>
      <p:sp>
        <p:nvSpPr>
          <p:cNvPr id="19" name="TextBox 18"/>
          <p:cNvSpPr txBox="1"/>
          <p:nvPr/>
        </p:nvSpPr>
        <p:spPr>
          <a:xfrm>
            <a:off x="2194560" y="5760720"/>
            <a:ext cx="2429255" cy="438912"/>
          </a:xfrm>
          <a:prstGeom prst="rect">
            <a:avLst/>
          </a:prstGeom>
          <a:noFill/>
        </p:spPr>
        <p:txBody>
          <a:bodyPr wrap="square" lIns="0" rIns="0" tIns="0" bIns="0" anchor="ctr">
            <a:spAutoFit/>
          </a:bodyPr>
          <a:lstStyle/>
          <a:p>
            <a:pPr algn="l">
              <a:lnSpc>
                <a:spcPct val="118000"/>
              </a:lnSpc>
              <a:spcAft>
                <a:spcPts val="0"/>
              </a:spcAft>
            </a:pPr>
            <a:r>
              <a:rPr sz="930" b="1">
                <a:solidFill>
                  <a:srgbClr val="202020"/>
                </a:solidFill>
                <a:latin typeface="游ゴシック"/>
                <a:ea typeface="游ゴシック"/>
                <a:cs typeface="游ゴシック"/>
              </a:rPr>
              <a:t>商標はブランドの法的裏付け。買手の関心は「古式けんちんそば」の権利範囲に集中する</a:t>
            </a:r>
          </a:p>
        </p:txBody>
      </p:sp>
      <p:sp>
        <p:nvSpPr>
          <p:cNvPr id="20" name="Oval 19"/>
          <p:cNvSpPr/>
          <p:nvPr/>
        </p:nvSpPr>
        <p:spPr>
          <a:xfrm>
            <a:off x="4715256" y="5833872"/>
            <a:ext cx="237744" cy="237744"/>
          </a:xfrm>
          <a:prstGeom prst="ellipse">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游ゴシック"/>
                <a:ea typeface="游ゴシック"/>
                <a:cs typeface="游ゴシック"/>
              </a:rPr>
              <a:t>✓</a:t>
            </a:r>
          </a:p>
        </p:txBody>
      </p:sp>
      <p:sp>
        <p:nvSpPr>
          <p:cNvPr id="21" name="TextBox 20"/>
          <p:cNvSpPr txBox="1"/>
          <p:nvPr/>
        </p:nvSpPr>
        <p:spPr>
          <a:xfrm>
            <a:off x="5026151" y="5760720"/>
            <a:ext cx="2429255" cy="438912"/>
          </a:xfrm>
          <a:prstGeom prst="rect">
            <a:avLst/>
          </a:prstGeom>
          <a:noFill/>
        </p:spPr>
        <p:txBody>
          <a:bodyPr wrap="square" lIns="0" rIns="0" tIns="0" bIns="0" anchor="ctr">
            <a:spAutoFit/>
          </a:bodyPr>
          <a:lstStyle/>
          <a:p>
            <a:pPr algn="l">
              <a:lnSpc>
                <a:spcPct val="118000"/>
              </a:lnSpc>
              <a:spcAft>
                <a:spcPts val="0"/>
              </a:spcAft>
            </a:pPr>
            <a:r>
              <a:rPr sz="930" b="1">
                <a:solidFill>
                  <a:srgbClr val="202020"/>
                </a:solidFill>
                <a:latin typeface="游ゴシック"/>
                <a:ea typeface="游ゴシック"/>
                <a:cs typeface="游ゴシック"/>
              </a:rPr>
              <a:t>営業許可の承継手続と所要期間は、クロージング日程を左右するため早期に確定させたい</a:t>
            </a:r>
          </a:p>
        </p:txBody>
      </p:sp>
      <p:sp>
        <p:nvSpPr>
          <p:cNvPr id="22" name="Oval 21"/>
          <p:cNvSpPr/>
          <p:nvPr/>
        </p:nvSpPr>
        <p:spPr>
          <a:xfrm>
            <a:off x="7546847" y="5833872"/>
            <a:ext cx="237744" cy="237744"/>
          </a:xfrm>
          <a:prstGeom prst="ellipse">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游ゴシック"/>
                <a:ea typeface="游ゴシック"/>
                <a:cs typeface="游ゴシック"/>
              </a:rPr>
              <a:t>✓</a:t>
            </a:r>
          </a:p>
        </p:txBody>
      </p:sp>
      <p:sp>
        <p:nvSpPr>
          <p:cNvPr id="23" name="TextBox 22"/>
          <p:cNvSpPr txBox="1"/>
          <p:nvPr/>
        </p:nvSpPr>
        <p:spPr>
          <a:xfrm>
            <a:off x="7857743" y="5760720"/>
            <a:ext cx="2429255" cy="438912"/>
          </a:xfrm>
          <a:prstGeom prst="rect">
            <a:avLst/>
          </a:prstGeom>
          <a:noFill/>
        </p:spPr>
        <p:txBody>
          <a:bodyPr wrap="square" lIns="0" rIns="0" tIns="0" bIns="0" anchor="ctr">
            <a:spAutoFit/>
          </a:bodyPr>
          <a:lstStyle/>
          <a:p>
            <a:pPr algn="l">
              <a:lnSpc>
                <a:spcPct val="118000"/>
              </a:lnSpc>
              <a:spcAft>
                <a:spcPts val="0"/>
              </a:spcAft>
            </a:pPr>
            <a:r>
              <a:rPr sz="930" b="1">
                <a:solidFill>
                  <a:srgbClr val="202020"/>
                </a:solidFill>
                <a:latin typeface="游ゴシック"/>
                <a:ea typeface="游ゴシック"/>
                <a:cs typeface="游ゴシック"/>
              </a:rPr>
              <a:t>物販を伸ばす前提として、食品製造の許可の要否整理が必要</a:t>
            </a:r>
          </a:p>
        </p:txBody>
      </p:sp>
      <p:sp>
        <p:nvSpPr>
          <p:cNvPr id="24" name="TextBox 23"/>
          <p:cNvSpPr txBox="1"/>
          <p:nvPr/>
        </p:nvSpPr>
        <p:spPr>
          <a:xfrm>
            <a:off x="310896" y="6473952"/>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商標の件数・取得時期は法人登記簿および固定資産の状況、特許事務所への支払は総勘定元帳（支払手数料）に基づきます。</a:t>
            </a:r>
          </a:p>
          <a:p>
            <a:pPr algn="l">
              <a:lnSpc>
                <a:spcPct val="112000"/>
              </a:lnSpc>
              <a:spcAft>
                <a:spcPts val="100"/>
              </a:spcAft>
            </a:pPr>
            <a:r>
              <a:rPr sz="750" b="0">
                <a:solidFill>
                  <a:srgbClr val="5A6670"/>
                </a:solidFill>
                <a:latin typeface="游ゴシック"/>
                <a:ea typeface="游ゴシック"/>
                <a:cs typeface="游ゴシック"/>
              </a:rPr>
              <a:t>※ 本頁の「要確認」は案件マスター「その他」シートの No.7・No.15 に対応しています。</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買手が承継するもの ― ブランド・商標・レシピ</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a:latin typeface="游ゴシック"/>
                <a:ea typeface="游ゴシック"/>
                <a:cs typeface="游ゴシック"/>
              </a:rPr>
              <a:t>事業概要</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本件で引き継がれるのは直近の損益ではなく、新設では作れない資産。ブランド・商標・レシピ・再建築困難な店舗・産地との関係が承継対象となる</a:t>
            </a:r>
            <a:endParaRPr lang="en-US" altLang="ja-JP" dirty="0"/>
          </a:p>
        </p:txBody>
      </p:sp>
      <p:graphicFrame>
        <p:nvGraphicFramePr>
          <p:cNvPr id="14" name="Table 13"/>
          <p:cNvGraphicFramePr>
            <a:graphicFrameLocks noGrp="1"/>
          </p:cNvGraphicFramePr>
          <p:nvPr/>
        </p:nvGraphicFramePr>
        <p:xfrm>
          <a:off x="310896" y="1426464"/>
          <a:ext cx="10067543" cy="3054096"/>
        </p:xfrm>
        <a:graphic>
          <a:graphicData uri="http://schemas.openxmlformats.org/drawingml/2006/table">
            <a:tbl>
              <a:tblPr firstRow="0" bandRow="0">
                <a:tableStyleId>{5940675A-B579-460E-94D1-54222C63F5DA}</a:tableStyleId>
              </a:tblPr>
              <a:tblGrid>
                <a:gridCol w="1389888"/>
                <a:gridCol w="3310128"/>
                <a:gridCol w="2066543"/>
                <a:gridCol w="3300984"/>
              </a:tblGrid>
              <a:tr h="237744">
                <a:tc>
                  <a:txBody>
                    <a:bodyPr wrap="square"/>
                    <a:lstStyle/>
                    <a:p>
                      <a:pPr algn="ctr">
                        <a:spcAft>
                          <a:spcPts val="0"/>
                        </a:spcAft>
                      </a:pPr>
                      <a:r>
                        <a:rPr sz="819" b="1">
                          <a:solidFill>
                            <a:srgbClr val="FFFFFF"/>
                          </a:solidFill>
                          <a:latin typeface="游ゴシック"/>
                          <a:ea typeface="游ゴシック"/>
                          <a:cs typeface="游ゴシック"/>
                        </a:rPr>
                        <a:t>承継対象</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内容</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承継の方法・可否</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19" b="1">
                          <a:solidFill>
                            <a:srgbClr val="FFFFFF"/>
                          </a:solidFill>
                          <a:latin typeface="Arial"/>
                          <a:ea typeface="Arial"/>
                          <a:cs typeface="Arial"/>
                        </a:rPr>
                        <a:t>買手にとっての意味</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02336">
                <a:tc>
                  <a:txBody>
                    <a:bodyPr wrap="square"/>
                    <a:lstStyle/>
                    <a:p>
                      <a:pPr algn="l">
                        <a:spcAft>
                          <a:spcPts val="0"/>
                        </a:spcAft>
                      </a:pPr>
                      <a:r>
                        <a:rPr sz="819" b="0">
                          <a:solidFill>
                            <a:srgbClr val="1A1A1A"/>
                          </a:solidFill>
                          <a:latin typeface="游ゴシック"/>
                          <a:ea typeface="游ゴシック"/>
                          <a:cs typeface="游ゴシック"/>
                        </a:rPr>
                        <a:t>ブランド「慈久庵」</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食べログ「そば 百名店」選出、THE TABELOG AWARD 2022・2023 Bronze、Japan Restaurant Award 2016 茨城県TOP1</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法人の株式譲渡により移転</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広告費をかけずに集客できる状態を初日から得られる。新規開業では年単位でも作れない</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02336">
                <a:tc>
                  <a:txBody>
                    <a:bodyPr wrap="square"/>
                    <a:lstStyle/>
                    <a:p>
                      <a:pPr algn="l">
                        <a:spcAft>
                          <a:spcPts val="0"/>
                        </a:spcAft>
                      </a:pPr>
                      <a:r>
                        <a:rPr sz="819" b="0">
                          <a:solidFill>
                            <a:srgbClr val="1A1A1A"/>
                          </a:solidFill>
                          <a:latin typeface="游ゴシック"/>
                          <a:ea typeface="游ゴシック"/>
                          <a:cs typeface="游ゴシック"/>
                        </a:rPr>
                        <a:t>商標権4件</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「慈久庵」「古式けんちんそば」「古式健珍蕎麦」等（2011年12月取得）</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法人の株式譲渡により移転。権利範囲は要確認（P.30）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店名・商品名を他社に使わせない。多店舗展開・物販展開の法的な基盤になる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02336">
                <a:tc>
                  <a:txBody>
                    <a:bodyPr wrap="square"/>
                    <a:lstStyle/>
                    <a:p>
                      <a:pPr algn="l">
                        <a:spcAft>
                          <a:spcPts val="0"/>
                        </a:spcAft>
                      </a:pPr>
                      <a:r>
                        <a:rPr sz="819" b="0">
                          <a:solidFill>
                            <a:srgbClr val="1A1A1A"/>
                          </a:solidFill>
                          <a:latin typeface="游ゴシック"/>
                          <a:ea typeface="游ゴシック"/>
                          <a:cs typeface="游ゴシック"/>
                        </a:rPr>
                        <a:t>レシピ・「かえし」</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誰でも再現できるよう整理済とのこと（面談ヒアリング）。過去に弟子へ別店舗の営業を承継した実績あり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引継ぎ対象。標準化資料の実物確認が必要</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「代表者がいなければ蕎麦を打てない」状態ではない。職人を採用すれば再現できる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02336">
                <a:tc>
                  <a:txBody>
                    <a:bodyPr wrap="square"/>
                    <a:lstStyle/>
                    <a:p>
                      <a:pPr algn="l">
                        <a:spcAft>
                          <a:spcPts val="0"/>
                        </a:spcAft>
                      </a:pPr>
                      <a:r>
                        <a:rPr sz="819" b="0">
                          <a:solidFill>
                            <a:srgbClr val="1A1A1A"/>
                          </a:solidFill>
                          <a:latin typeface="游ゴシック"/>
                          <a:ea typeface="游ゴシック"/>
                          <a:cs typeface="游ゴシック"/>
                        </a:rPr>
                        <a:t>製法・製造設備</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焼畑→一年熟成→石臼自家製粉→手打ちの一貫体制。電動・木製の石臼製粉機、そば打ち台2台、玄そば定温保管庫</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法人の株式譲渡により移転</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同等の設備一式を新規に揃えるには相応の投資と時間を要する（P.13・P.29）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02336">
                <a:tc>
                  <a:txBody>
                    <a:bodyPr wrap="square"/>
                    <a:lstStyle/>
                    <a:p>
                      <a:pPr algn="l">
                        <a:spcAft>
                          <a:spcPts val="0"/>
                        </a:spcAft>
                      </a:pPr>
                      <a:r>
                        <a:rPr sz="819" b="0">
                          <a:solidFill>
                            <a:srgbClr val="1A1A1A"/>
                          </a:solidFill>
                          <a:latin typeface="游ゴシック"/>
                          <a:ea typeface="游ゴシック"/>
                          <a:cs typeface="游ゴシック"/>
                        </a:rPr>
                        <a:t>店舗（土地・建物）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代表者が自ら設計した板倉造・茅葺きの店舗（取得価額104,599千円）と土地。賃料負担なし</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法人の株式譲渡により移転。建物は未登記のため表題・保存登記が論点</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同等の建築は事実上困難。囲炉裏・座敷・縁側デッキを含む体験価値が店舗そのものに宿る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02336">
                <a:tc>
                  <a:txBody>
                    <a:bodyPr wrap="square"/>
                    <a:lstStyle/>
                    <a:p>
                      <a:pPr algn="l">
                        <a:spcAft>
                          <a:spcPts val="0"/>
                        </a:spcAft>
                      </a:pPr>
                      <a:r>
                        <a:rPr sz="819" b="0">
                          <a:solidFill>
                            <a:srgbClr val="1A1A1A"/>
                          </a:solidFill>
                          <a:latin typeface="游ゴシック"/>
                          <a:ea typeface="游ゴシック"/>
                          <a:cs typeface="游ゴシック"/>
                        </a:rPr>
                        <a:t>産地・仕入先との関係</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地元産「常陸秋そば」を農家を応援する意味合いから高値で買い取る方針により築かれた生産者との関係</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属人性が残る。引継ぎ方法は要確認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原料の安定調達の基盤。承継計画の中心論点であり、拡大シナリオの前提にもなる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402336">
                <a:tc>
                  <a:txBody>
                    <a:bodyPr wrap="square"/>
                    <a:lstStyle/>
                    <a:p>
                      <a:pPr algn="l">
                        <a:spcAft>
                          <a:spcPts val="0"/>
                        </a:spcAft>
                      </a:pPr>
                      <a:r>
                        <a:rPr sz="819" b="0">
                          <a:solidFill>
                            <a:srgbClr val="1A1A1A"/>
                          </a:solidFill>
                          <a:latin typeface="游ゴシック"/>
                          <a:ea typeface="游ゴシック"/>
                          <a:cs typeface="游ゴシック"/>
                        </a:rPr>
                        <a:t>卸売・通販の取引先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打心蕎庵・玉笑（玄そば）、キビヤベーカリー・ルヴァン（石臼挽き小麦粉）、通信販売・ふるさと納税</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法人の株式譲渡により継続。COC条項の有無は要確認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19" b="0">
                          <a:solidFill>
                            <a:srgbClr val="1A1A1A"/>
                          </a:solidFill>
                          <a:latin typeface="游ゴシック"/>
                          <a:ea typeface="游ゴシック"/>
                          <a:cs typeface="游ゴシック"/>
                        </a:rPr>
                        <a:t>店舗以外の売上導線を初日から保有。物販は許認可の整理により伸ばせる（P.15）</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5" name="Rectangle 14"/>
          <p:cNvSpPr/>
          <p:nvPr/>
        </p:nvSpPr>
        <p:spPr>
          <a:xfrm>
            <a:off x="310896" y="4572000"/>
            <a:ext cx="10067544"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100" b="1">
                <a:solidFill>
                  <a:srgbClr val="FFFFFF"/>
                </a:solidFill>
                <a:latin typeface="游ゴシック"/>
                <a:ea typeface="游ゴシック"/>
                <a:cs typeface="游ゴシック"/>
              </a:rPr>
              <a:t>買手タイプ別｜そば職人の人件費の見え方（弊社の整理）</a:t>
            </a:r>
          </a:p>
        </p:txBody>
      </p:sp>
      <p:sp>
        <p:nvSpPr>
          <p:cNvPr id="16" name="Rectangle 15"/>
          <p:cNvSpPr/>
          <p:nvPr/>
        </p:nvSpPr>
        <p:spPr>
          <a:xfrm>
            <a:off x="310896" y="4992624"/>
            <a:ext cx="3264408" cy="1335024"/>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310896" y="4992624"/>
            <a:ext cx="50292" cy="133502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75488" y="5084064"/>
            <a:ext cx="2953512" cy="219456"/>
          </a:xfrm>
          <a:prstGeom prst="rect">
            <a:avLst/>
          </a:prstGeom>
          <a:noFill/>
        </p:spPr>
        <p:txBody>
          <a:bodyPr wrap="square" lIns="0" rIns="0" tIns="0" bIns="0" anchor="t">
            <a:spAutoFit/>
          </a:bodyPr>
          <a:lstStyle/>
          <a:p>
            <a:pPr algn="l">
              <a:spcAft>
                <a:spcPts val="0"/>
              </a:spcAft>
            </a:pPr>
            <a:r>
              <a:rPr sz="1100" b="1">
                <a:solidFill>
                  <a:srgbClr val="0B3041"/>
                </a:solidFill>
                <a:latin typeface="游ゴシック"/>
                <a:ea typeface="游ゴシック"/>
                <a:cs typeface="游ゴシック"/>
              </a:rPr>
              <a:t>A オーナー経営型</a:t>
            </a:r>
          </a:p>
        </p:txBody>
      </p:sp>
      <p:sp>
        <p:nvSpPr>
          <p:cNvPr id="19" name="TextBox 18"/>
          <p:cNvSpPr txBox="1"/>
          <p:nvPr/>
        </p:nvSpPr>
        <p:spPr>
          <a:xfrm>
            <a:off x="475488" y="5340096"/>
            <a:ext cx="2953512" cy="182880"/>
          </a:xfrm>
          <a:prstGeom prst="rect">
            <a:avLst/>
          </a:prstGeom>
          <a:noFill/>
        </p:spPr>
        <p:txBody>
          <a:bodyPr wrap="square" lIns="0" rIns="0" tIns="0" bIns="0" anchor="t">
            <a:spAutoFit/>
          </a:bodyPr>
          <a:lstStyle/>
          <a:p>
            <a:pPr algn="l">
              <a:spcAft>
                <a:spcPts val="0"/>
              </a:spcAft>
            </a:pPr>
            <a:r>
              <a:rPr sz="800" b="0">
                <a:solidFill>
                  <a:srgbClr val="0889C9"/>
                </a:solidFill>
                <a:latin typeface="游ゴシック"/>
                <a:ea typeface="游ゴシック"/>
                <a:cs typeface="游ゴシック"/>
              </a:rPr>
              <a:t>買手ご自身（またはご家族）が店に入る場合</a:t>
            </a:r>
          </a:p>
        </p:txBody>
      </p:sp>
      <p:sp>
        <p:nvSpPr>
          <p:cNvPr id="20" name="TextBox 19"/>
          <p:cNvSpPr txBox="1"/>
          <p:nvPr/>
        </p:nvSpPr>
        <p:spPr>
          <a:xfrm>
            <a:off x="475488" y="5559552"/>
            <a:ext cx="2953512" cy="713232"/>
          </a:xfrm>
          <a:prstGeom prst="rect">
            <a:avLst/>
          </a:prstGeom>
          <a:noFill/>
        </p:spPr>
        <p:txBody>
          <a:bodyPr wrap="square" lIns="0" rIns="0" tIns="0" bIns="0" anchor="t">
            <a:spAutoFit/>
          </a:bodyPr>
          <a:lstStyle/>
          <a:p>
            <a:pPr algn="l">
              <a:lnSpc>
                <a:spcPct val="118000"/>
              </a:lnSpc>
              <a:spcAft>
                <a:spcPts val="0"/>
              </a:spcAft>
            </a:pPr>
            <a:r>
              <a:rPr sz="880" b="0">
                <a:solidFill>
                  <a:srgbClr val="1A1A1A"/>
                </a:solidFill>
                <a:latin typeface="游ゴシック"/>
                <a:ea typeface="游ゴシック"/>
                <a:cs typeface="游ゴシック"/>
              </a:rPr>
              <a:t>職人人件費は買手自身の役員報酬となる。実績の調整後EBITDA6,801千円がそのまま報酬および投資回収の原資になる。</a:t>
            </a:r>
          </a:p>
        </p:txBody>
      </p:sp>
      <p:sp>
        <p:nvSpPr>
          <p:cNvPr id="21" name="Rectangle 20"/>
          <p:cNvSpPr/>
          <p:nvPr/>
        </p:nvSpPr>
        <p:spPr>
          <a:xfrm>
            <a:off x="3712463" y="4992624"/>
            <a:ext cx="3264408" cy="1335024"/>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3712463" y="4992624"/>
            <a:ext cx="50292" cy="133502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877055" y="5084064"/>
            <a:ext cx="2953512" cy="219456"/>
          </a:xfrm>
          <a:prstGeom prst="rect">
            <a:avLst/>
          </a:prstGeom>
          <a:noFill/>
        </p:spPr>
        <p:txBody>
          <a:bodyPr wrap="square" lIns="0" rIns="0" tIns="0" bIns="0" anchor="t">
            <a:spAutoFit/>
          </a:bodyPr>
          <a:lstStyle/>
          <a:p>
            <a:pPr algn="l">
              <a:spcAft>
                <a:spcPts val="0"/>
              </a:spcAft>
            </a:pPr>
            <a:r>
              <a:rPr sz="1100" b="1">
                <a:solidFill>
                  <a:srgbClr val="0B3041"/>
                </a:solidFill>
                <a:latin typeface="游ゴシック"/>
                <a:ea typeface="游ゴシック"/>
                <a:cs typeface="游ゴシック"/>
              </a:rPr>
              <a:t>B 経営専任型</a:t>
            </a:r>
          </a:p>
        </p:txBody>
      </p:sp>
      <p:sp>
        <p:nvSpPr>
          <p:cNvPr id="24" name="TextBox 23"/>
          <p:cNvSpPr txBox="1"/>
          <p:nvPr/>
        </p:nvSpPr>
        <p:spPr>
          <a:xfrm>
            <a:off x="3877055" y="5340096"/>
            <a:ext cx="2953512" cy="182880"/>
          </a:xfrm>
          <a:prstGeom prst="rect">
            <a:avLst/>
          </a:prstGeom>
          <a:noFill/>
        </p:spPr>
        <p:txBody>
          <a:bodyPr wrap="square" lIns="0" rIns="0" tIns="0" bIns="0" anchor="t">
            <a:spAutoFit/>
          </a:bodyPr>
          <a:lstStyle/>
          <a:p>
            <a:pPr algn="l">
              <a:spcAft>
                <a:spcPts val="0"/>
              </a:spcAft>
            </a:pPr>
            <a:r>
              <a:rPr sz="800" b="0">
                <a:solidFill>
                  <a:srgbClr val="0889C9"/>
                </a:solidFill>
                <a:latin typeface="游ゴシック"/>
                <a:ea typeface="游ゴシック"/>
                <a:cs typeface="游ゴシック"/>
              </a:rPr>
              <a:t>職人を雇用し、買手は経営に専念する場合</a:t>
            </a:r>
          </a:p>
        </p:txBody>
      </p:sp>
      <p:sp>
        <p:nvSpPr>
          <p:cNvPr id="25" name="TextBox 24"/>
          <p:cNvSpPr txBox="1"/>
          <p:nvPr/>
        </p:nvSpPr>
        <p:spPr>
          <a:xfrm>
            <a:off x="3877055" y="5559552"/>
            <a:ext cx="2953512" cy="713232"/>
          </a:xfrm>
          <a:prstGeom prst="rect">
            <a:avLst/>
          </a:prstGeom>
          <a:noFill/>
        </p:spPr>
        <p:txBody>
          <a:bodyPr wrap="square" lIns="0" rIns="0" tIns="0" bIns="0" anchor="t">
            <a:spAutoFit/>
          </a:bodyPr>
          <a:lstStyle/>
          <a:p>
            <a:pPr algn="l">
              <a:lnSpc>
                <a:spcPct val="118000"/>
              </a:lnSpc>
              <a:spcAft>
                <a:spcPts val="0"/>
              </a:spcAft>
            </a:pPr>
            <a:r>
              <a:rPr sz="880" b="0">
                <a:solidFill>
                  <a:srgbClr val="1A1A1A"/>
                </a:solidFill>
                <a:latin typeface="游ゴシック"/>
                <a:ea typeface="游ゴシック"/>
                <a:cs typeface="游ゴシック"/>
              </a:rPr>
              <a:t>年6,900千円の増分費用が発生する。P.19のシナリオB・Cのとおり、営業日・日商の回復により吸収できる水準にある。</a:t>
            </a:r>
          </a:p>
        </p:txBody>
      </p:sp>
      <p:sp>
        <p:nvSpPr>
          <p:cNvPr id="26" name="Rectangle 25"/>
          <p:cNvSpPr/>
          <p:nvPr/>
        </p:nvSpPr>
        <p:spPr>
          <a:xfrm>
            <a:off x="7114031" y="4992624"/>
            <a:ext cx="3264408" cy="1335024"/>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7114031" y="4992624"/>
            <a:ext cx="50292" cy="133502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278623" y="5084064"/>
            <a:ext cx="2953512" cy="219456"/>
          </a:xfrm>
          <a:prstGeom prst="rect">
            <a:avLst/>
          </a:prstGeom>
          <a:noFill/>
        </p:spPr>
        <p:txBody>
          <a:bodyPr wrap="square" lIns="0" rIns="0" tIns="0" bIns="0" anchor="t">
            <a:spAutoFit/>
          </a:bodyPr>
          <a:lstStyle/>
          <a:p>
            <a:pPr algn="l">
              <a:spcAft>
                <a:spcPts val="0"/>
              </a:spcAft>
            </a:pPr>
            <a:r>
              <a:rPr sz="1100" b="1">
                <a:solidFill>
                  <a:srgbClr val="0B3041"/>
                </a:solidFill>
                <a:latin typeface="游ゴシック"/>
                <a:ea typeface="游ゴシック"/>
                <a:cs typeface="游ゴシック"/>
              </a:rPr>
              <a:t>C 既存事業者による運営吸収型</a:t>
            </a:r>
          </a:p>
        </p:txBody>
      </p:sp>
      <p:sp>
        <p:nvSpPr>
          <p:cNvPr id="29" name="TextBox 28"/>
          <p:cNvSpPr txBox="1"/>
          <p:nvPr/>
        </p:nvSpPr>
        <p:spPr>
          <a:xfrm>
            <a:off x="7278623" y="5340096"/>
            <a:ext cx="2953512" cy="182880"/>
          </a:xfrm>
          <a:prstGeom prst="rect">
            <a:avLst/>
          </a:prstGeom>
          <a:noFill/>
        </p:spPr>
        <p:txBody>
          <a:bodyPr wrap="square" lIns="0" rIns="0" tIns="0" bIns="0" anchor="t">
            <a:spAutoFit/>
          </a:bodyPr>
          <a:lstStyle/>
          <a:p>
            <a:pPr algn="l">
              <a:spcAft>
                <a:spcPts val="0"/>
              </a:spcAft>
            </a:pPr>
            <a:r>
              <a:rPr sz="800" b="0">
                <a:solidFill>
                  <a:srgbClr val="0889C9"/>
                </a:solidFill>
                <a:latin typeface="游ゴシック"/>
                <a:ea typeface="游ゴシック"/>
                <a:cs typeface="游ゴシック"/>
              </a:rPr>
              <a:t>飲食・食品事業者が既存組織へ取り込む場合</a:t>
            </a:r>
          </a:p>
        </p:txBody>
      </p:sp>
      <p:sp>
        <p:nvSpPr>
          <p:cNvPr id="30" name="TextBox 29"/>
          <p:cNvSpPr txBox="1"/>
          <p:nvPr/>
        </p:nvSpPr>
        <p:spPr>
          <a:xfrm>
            <a:off x="7278623" y="5559552"/>
            <a:ext cx="2953512" cy="713232"/>
          </a:xfrm>
          <a:prstGeom prst="rect">
            <a:avLst/>
          </a:prstGeom>
          <a:noFill/>
        </p:spPr>
        <p:txBody>
          <a:bodyPr wrap="square" lIns="0" rIns="0" tIns="0" bIns="0" anchor="t">
            <a:spAutoFit/>
          </a:bodyPr>
          <a:lstStyle/>
          <a:p>
            <a:pPr algn="l">
              <a:lnSpc>
                <a:spcPct val="118000"/>
              </a:lnSpc>
              <a:spcAft>
                <a:spcPts val="0"/>
              </a:spcAft>
            </a:pPr>
            <a:r>
              <a:rPr sz="880" b="0">
                <a:solidFill>
                  <a:srgbClr val="1A1A1A"/>
                </a:solidFill>
                <a:latin typeface="游ゴシック"/>
                <a:ea typeface="游ゴシック"/>
                <a:cs typeface="游ゴシック"/>
              </a:rPr>
              <a:t>経理・仕入・販売・採用の機能を既存組織と共用でき、増分は現場人員に限られる。商標を使った物販・多店舗への横展開余地も大きい。</a:t>
            </a:r>
          </a:p>
        </p:txBody>
      </p:sp>
      <p:sp>
        <p:nvSpPr>
          <p:cNvPr id="31" name="TextBox 30"/>
          <p:cNvSpPr txBox="1"/>
          <p:nvPr/>
        </p:nvSpPr>
        <p:spPr>
          <a:xfrm>
            <a:off x="310896" y="6419088"/>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承継方法は株式譲渡を前提とした一般的な整理であり、個別の契約・許認可の承継可否はデューデリジェンスにおいてご確認ください。</a:t>
            </a:r>
          </a:p>
          <a:p>
            <a:pPr algn="l">
              <a:lnSpc>
                <a:spcPct val="112000"/>
              </a:lnSpc>
              <a:spcAft>
                <a:spcPts val="100"/>
              </a:spcAft>
            </a:pPr>
            <a:r>
              <a:rPr sz="750" b="0">
                <a:solidFill>
                  <a:srgbClr val="5A6670"/>
                </a:solidFill>
                <a:latin typeface="游ゴシック"/>
                <a:ea typeface="游ゴシック"/>
                <a:cs typeface="游ゴシック"/>
              </a:rPr>
              <a:t>※ 「買手タイプ別の見え方」は弊社の整理であり、実際の必要人員・人件費は買手候補様の体制により異なります。</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代表者個人に紐づく事項の整理</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a:latin typeface="游ゴシック"/>
                <a:ea typeface="游ゴシック"/>
                <a:cs typeface="游ゴシック"/>
              </a:rPr>
              <a:t>組織、拠点、設備等</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本件は代表者個人と法人の境界が論点になる。個人名義の資産・個人に帰属する権利・個人が担う関係を棚卸しし、本件での取扱いを整理した</a:t>
            </a:r>
            <a:endParaRPr lang="en-US" altLang="ja-JP" dirty="0"/>
          </a:p>
        </p:txBody>
      </p:sp>
      <p:graphicFrame>
        <p:nvGraphicFramePr>
          <p:cNvPr id="14" name="Table 13"/>
          <p:cNvGraphicFramePr>
            <a:graphicFrameLocks noGrp="1"/>
          </p:cNvGraphicFramePr>
          <p:nvPr/>
        </p:nvGraphicFramePr>
        <p:xfrm>
          <a:off x="310896" y="1426464"/>
          <a:ext cx="10067544" cy="5230368"/>
        </p:xfrm>
        <a:graphic>
          <a:graphicData uri="http://schemas.openxmlformats.org/drawingml/2006/table">
            <a:tbl>
              <a:tblPr firstRow="0" bandRow="0">
                <a:tableStyleId>{5940675A-B579-460E-94D1-54222C63F5DA}</a:tableStyleId>
              </a:tblPr>
              <a:tblGrid>
                <a:gridCol w="1152144"/>
                <a:gridCol w="3401568"/>
                <a:gridCol w="1298448"/>
                <a:gridCol w="3072384"/>
                <a:gridCol w="1143000"/>
              </a:tblGrid>
              <a:tr h="237744">
                <a:tc>
                  <a:txBody>
                    <a:bodyPr wrap="square"/>
                    <a:lstStyle/>
                    <a:p>
                      <a:pPr algn="ctr">
                        <a:spcAft>
                          <a:spcPts val="0"/>
                        </a:spcAft>
                      </a:pPr>
                      <a:r>
                        <a:rPr sz="800" b="1">
                          <a:solidFill>
                            <a:srgbClr val="FFFFFF"/>
                          </a:solidFill>
                          <a:latin typeface="游ゴシック"/>
                          <a:ea typeface="游ゴシック"/>
                          <a:cs typeface="游ゴシック"/>
                        </a:rPr>
                        <a:t>項目</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内容</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帰属</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本件での取扱い・論点</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00" b="1">
                          <a:solidFill>
                            <a:srgbClr val="FFFFFF"/>
                          </a:solidFill>
                          <a:latin typeface="Arial"/>
                          <a:ea typeface="Arial"/>
                          <a:cs typeface="Arial"/>
                        </a:rPr>
                        <a:t>確認状況</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800" b="0">
                          <a:solidFill>
                            <a:srgbClr val="1A1A1A"/>
                          </a:solidFill>
                          <a:latin typeface="游ゴシック"/>
                          <a:ea typeface="游ゴシック"/>
                          <a:cs typeface="游ゴシック"/>
                        </a:rPr>
                        <a:t>役員報酬</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代表者・配偶者とも3期を通じて役員報酬の計上がない</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新体制では職人の人件費が新たに発生する。稼働拡大を織り込んだ試算は P.19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確定（決算書）</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800" b="0">
                          <a:solidFill>
                            <a:srgbClr val="1A1A1A"/>
                          </a:solidFill>
                          <a:latin typeface="游ゴシック"/>
                          <a:ea typeface="游ゴシック"/>
                          <a:cs typeface="游ゴシック"/>
                        </a:rPr>
                        <a:t>役員借入金</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32,744千円（代表者9,518千円・配偶者23,226千円）。全額が無利息</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個人→法人</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返済・相殺・債務免除のいずれかを協議。株式価値を最も大きく動かす論点</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金銭消費貸借契約書は要確認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800" b="0">
                          <a:solidFill>
                            <a:srgbClr val="1A1A1A"/>
                          </a:solidFill>
                          <a:latin typeface="游ゴシック"/>
                          <a:ea typeface="游ゴシック"/>
                          <a:cs typeface="游ゴシック"/>
                        </a:rPr>
                        <a:t>居住</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代表者夫妻が店舗2階に居住。家賃収入180千円／年を雑収入に計上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個人</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明渡しの時期・条件は協議事項。明渡しまでの賃貸借条件の明確化が必要</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賃貸借契約の有無は要確認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800" b="0">
                          <a:solidFill>
                            <a:srgbClr val="1A1A1A"/>
                          </a:solidFill>
                          <a:latin typeface="游ゴシック"/>
                          <a:ea typeface="游ゴシック"/>
                          <a:cs typeface="游ゴシック"/>
                        </a:rPr>
                        <a:t>店舗の建築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代表者が自ら設計し私財を投じて2002年に建築（取得価額104,599千円）</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法人資産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建物は未登記。表題登記・保存登記の実施可否・費用・所要期間</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登記簿未受領（P.28）</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800" b="0">
                          <a:solidFill>
                            <a:srgbClr val="1A1A1A"/>
                          </a:solidFill>
                          <a:latin typeface="游ゴシック"/>
                          <a:ea typeface="游ゴシック"/>
                          <a:cs typeface="游ゴシック"/>
                        </a:rPr>
                        <a:t>代表者の住所</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法人登記簿上の代表取締役の住所は「天下野町2162番地の1」。本店は「2162番地」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少なくとも2筆ある可能性。法人名義と個人名義の切り分けを登記簿で確認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要確認（名寄帳・登記簿）</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800" b="0">
                          <a:solidFill>
                            <a:srgbClr val="1A1A1A"/>
                          </a:solidFill>
                          <a:latin typeface="游ゴシック"/>
                          <a:ea typeface="游ゴシック"/>
                          <a:cs typeface="游ゴシック"/>
                        </a:rPr>
                        <a:t>著作</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代表者著『小川宣夫の蕎麦・饂飩指南 ― 粗挽き蕎麦と石臼挽き饂飩』</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著作権・印税の帰属が法人か個人か。ブランド活用の可否に影響</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800" b="0">
                          <a:solidFill>
                            <a:srgbClr val="1A1A1A"/>
                          </a:solidFill>
                          <a:latin typeface="游ゴシック"/>
                          <a:ea typeface="游ゴシック"/>
                          <a:cs typeface="游ゴシック"/>
                        </a:rPr>
                        <a:t>外部評価</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受賞・選出は店舗と製法への評価だが、代表者個人への評価と不可分な部分がある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承継後も評価を維持できるかは製法の引継ぎの完成度に依存（P.40）</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800" b="0">
                          <a:solidFill>
                            <a:srgbClr val="1A1A1A"/>
                          </a:solidFill>
                          <a:latin typeface="游ゴシック"/>
                          <a:ea typeface="游ゴシック"/>
                          <a:cs typeface="游ゴシック"/>
                        </a:rPr>
                        <a:t>原料調達</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地元産「常陸秋そば」を農家を応援する意味合いから高値で買い取る方針</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代表者に属人的な関係</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関係の承継方法が稼働拡大シナリオの前提になる（P.19）</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800" b="0">
                          <a:solidFill>
                            <a:srgbClr val="1A1A1A"/>
                          </a:solidFill>
                          <a:latin typeface="游ゴシック"/>
                          <a:ea typeface="游ゴシック"/>
                          <a:cs typeface="游ゴシック"/>
                        </a:rPr>
                        <a:t>農地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焼き畑によるそば栽培地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所有か賃借かの別、本件譲渡対象の要否、農地法上の制約</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800" b="0">
                          <a:solidFill>
                            <a:srgbClr val="1A1A1A"/>
                          </a:solidFill>
                          <a:latin typeface="游ゴシック"/>
                          <a:ea typeface="游ゴシック"/>
                          <a:cs typeface="游ゴシック"/>
                        </a:rPr>
                        <a:t>関係会社</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（株）慈久庵咸亨酒 出資1,000千円（所在：天下野町2162-1）、（株）慈久庵伊勢又 出資100千円（所在：中城町199-3）</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法人の出資</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事業内容・株主構成・当社との取引関係、本件での取扱い</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履歴事項全部証明書 未取得</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800" b="0">
                          <a:solidFill>
                            <a:srgbClr val="1A1A1A"/>
                          </a:solidFill>
                          <a:latin typeface="游ゴシック"/>
                          <a:ea typeface="游ゴシック"/>
                          <a:cs typeface="游ゴシック"/>
                        </a:rPr>
                        <a:t>車両</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ローバー車・シトロエン2CVフォルゴネットの2台（いずれも簿価1円）</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法人資産</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事業供用の実態と時価。本件譲渡対象に含めるか否か</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800" b="0">
                          <a:solidFill>
                            <a:srgbClr val="1A1A1A"/>
                          </a:solidFill>
                          <a:latin typeface="游ゴシック"/>
                          <a:ea typeface="游ゴシック"/>
                          <a:cs typeface="游ゴシック"/>
                        </a:rPr>
                        <a:t>親族の就労</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雑給2,201千円の支払先は「小川実他1」。小川実氏は監査役</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個人</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勤務実態・雇用形態・社会保険の適用状況</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384048">
                <a:tc>
                  <a:txBody>
                    <a:bodyPr wrap="square"/>
                    <a:lstStyle/>
                    <a:p>
                      <a:pPr algn="l">
                        <a:spcAft>
                          <a:spcPts val="0"/>
                        </a:spcAft>
                      </a:pPr>
                      <a:r>
                        <a:rPr sz="800" b="0">
                          <a:solidFill>
                            <a:srgbClr val="1A1A1A"/>
                          </a:solidFill>
                          <a:latin typeface="游ゴシック"/>
                          <a:ea typeface="游ゴシック"/>
                          <a:cs typeface="游ゴシック"/>
                        </a:rPr>
                        <a:t>承継の実績</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塩町館の営業権・什器備品を元従業員（岩間卓哉氏・取締役）へ譲渡済</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建物の登記名義は未変更。本件譲渡対象の切り分けが必要</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00"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5" name="TextBox 14"/>
          <p:cNvSpPr txBox="1"/>
          <p:nvPr/>
        </p:nvSpPr>
        <p:spPr>
          <a:xfrm>
            <a:off x="310896" y="6784848"/>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金額は2026年5月期。帰属・取扱いの整理は弊社の見解であり、確定にはデューデリジェンスでの確認を要します。</a:t>
            </a:r>
          </a:p>
          <a:p>
            <a:pPr algn="l">
              <a:lnSpc>
                <a:spcPct val="112000"/>
              </a:lnSpc>
              <a:spcAft>
                <a:spcPts val="100"/>
              </a:spcAft>
            </a:pPr>
            <a:r>
              <a:rPr sz="750" b="0">
                <a:solidFill>
                  <a:srgbClr val="5A6670"/>
                </a:solidFill>
                <a:latin typeface="游ゴシック"/>
                <a:ea typeface="游ゴシック"/>
                <a:cs typeface="游ゴシック"/>
              </a:rPr>
              <a:t>※ 本頁の「要確認」は案件マスター「その他」シートおよび登記簿等取得確認リストに対応しています。</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そばづくりの工程</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a:latin typeface="游ゴシック"/>
                <a:ea typeface="游ゴシック"/>
                <a:cs typeface="游ゴシック"/>
              </a:rPr>
              <a:t>事業概要</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畑から器までの6工程を自社で完結。とりわけ「一年寝かせる」工程は、設備を買っても時間を買えないため、新規参入者が最も再現しにくい</a:t>
            </a:r>
            <a:endParaRPr lang="en-US" altLang="ja-JP" dirty="0"/>
          </a:p>
        </p:txBody>
      </p:sp>
      <p:sp>
        <p:nvSpPr>
          <p:cNvPr id="14" name="Rectangle 13"/>
          <p:cNvSpPr/>
          <p:nvPr/>
        </p:nvSpPr>
        <p:spPr>
          <a:xfrm>
            <a:off x="310896" y="1426464"/>
            <a:ext cx="1517904" cy="1481328"/>
          </a:xfrm>
          <a:prstGeom prst="rect">
            <a:avLst/>
          </a:prstGeom>
          <a:solidFill>
            <a:srgbClr val="F7FAFC"/>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310896" y="1426464"/>
            <a:ext cx="50292" cy="148132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57200" y="1517904"/>
            <a:ext cx="1243584" cy="219456"/>
          </a:xfrm>
          <a:prstGeom prst="rect">
            <a:avLst/>
          </a:prstGeom>
          <a:noFill/>
        </p:spPr>
        <p:txBody>
          <a:bodyPr wrap="square" lIns="0" rIns="0" tIns="0" bIns="0" anchor="t">
            <a:spAutoFit/>
          </a:bodyPr>
          <a:lstStyle/>
          <a:p>
            <a:pPr algn="l">
              <a:spcAft>
                <a:spcPts val="0"/>
              </a:spcAft>
            </a:pPr>
            <a:r>
              <a:rPr sz="950" b="1">
                <a:solidFill>
                  <a:srgbClr val="0B3041"/>
                </a:solidFill>
                <a:latin typeface="游ゴシック"/>
                <a:ea typeface="游ゴシック"/>
                <a:cs typeface="游ゴシック"/>
              </a:rPr>
              <a:t>① 原料調達</a:t>
            </a:r>
          </a:p>
        </p:txBody>
      </p:sp>
      <p:sp>
        <p:nvSpPr>
          <p:cNvPr id="17" name="TextBox 16"/>
          <p:cNvSpPr txBox="1"/>
          <p:nvPr/>
        </p:nvSpPr>
        <p:spPr>
          <a:xfrm>
            <a:off x="457200" y="1792224"/>
            <a:ext cx="1243584" cy="1024128"/>
          </a:xfrm>
          <a:prstGeom prst="rect">
            <a:avLst/>
          </a:prstGeom>
          <a:noFill/>
        </p:spPr>
        <p:txBody>
          <a:bodyPr wrap="square" lIns="0" rIns="0" t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玄そばの最高峰とされる地元産「常陸秋そば」を、農家を応援する意味合いから高値で買い取り。代表者自ら畑にも従事。</a:t>
            </a:r>
          </a:p>
        </p:txBody>
      </p:sp>
      <p:sp>
        <p:nvSpPr>
          <p:cNvPr id="18" name="TextBox 17"/>
          <p:cNvSpPr txBox="1"/>
          <p:nvPr/>
        </p:nvSpPr>
        <p:spPr>
          <a:xfrm>
            <a:off x="1828800" y="2066544"/>
            <a:ext cx="182880" cy="201168"/>
          </a:xfrm>
          <a:prstGeom prst="rect">
            <a:avLst/>
          </a:prstGeom>
          <a:noFill/>
        </p:spPr>
        <p:txBody>
          <a:bodyPr wrap="square" lIns="0" rIns="0" tIns="0" bIns="0" anchor="t">
            <a:spAutoFit/>
          </a:bodyPr>
          <a:lstStyle/>
          <a:p>
            <a:pPr algn="ctr">
              <a:spcAft>
                <a:spcPts val="0"/>
              </a:spcAft>
            </a:pPr>
            <a:r>
              <a:rPr sz="1000" b="1">
                <a:solidFill>
                  <a:srgbClr val="0889C9"/>
                </a:solidFill>
                <a:latin typeface="Arial"/>
                <a:ea typeface="Arial"/>
                <a:cs typeface="Arial"/>
              </a:rPr>
              <a:t>▶</a:t>
            </a:r>
          </a:p>
        </p:txBody>
      </p:sp>
      <p:sp>
        <p:nvSpPr>
          <p:cNvPr id="19" name="Rectangle 18"/>
          <p:cNvSpPr/>
          <p:nvPr/>
        </p:nvSpPr>
        <p:spPr>
          <a:xfrm>
            <a:off x="2011679" y="1426464"/>
            <a:ext cx="1517904" cy="1481328"/>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2011679" y="1426464"/>
            <a:ext cx="50292" cy="1481328"/>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157984" y="1517904"/>
            <a:ext cx="1243584" cy="219456"/>
          </a:xfrm>
          <a:prstGeom prst="rect">
            <a:avLst/>
          </a:prstGeom>
          <a:noFill/>
        </p:spPr>
        <p:txBody>
          <a:bodyPr wrap="square" lIns="0" rIns="0" tIns="0" bIns="0" anchor="t">
            <a:spAutoFit/>
          </a:bodyPr>
          <a:lstStyle/>
          <a:p>
            <a:pPr algn="l">
              <a:spcAft>
                <a:spcPts val="0"/>
              </a:spcAft>
            </a:pPr>
            <a:r>
              <a:rPr sz="950" b="1">
                <a:solidFill>
                  <a:srgbClr val="0B3041"/>
                </a:solidFill>
                <a:latin typeface="游ゴシック"/>
                <a:ea typeface="游ゴシック"/>
                <a:cs typeface="游ゴシック"/>
              </a:rPr>
              <a:t>② 焼畑栽培</a:t>
            </a:r>
          </a:p>
        </p:txBody>
      </p:sp>
      <p:sp>
        <p:nvSpPr>
          <p:cNvPr id="22" name="TextBox 21"/>
          <p:cNvSpPr txBox="1"/>
          <p:nvPr/>
        </p:nvSpPr>
        <p:spPr>
          <a:xfrm>
            <a:off x="2157984" y="1792224"/>
            <a:ext cx="1243584" cy="1024128"/>
          </a:xfrm>
          <a:prstGeom prst="rect">
            <a:avLst/>
          </a:prstGeom>
          <a:noFill/>
        </p:spPr>
        <p:txBody>
          <a:bodyPr wrap="square" lIns="0" rIns="0" t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国内でも希少となった焼き畑農法を再興して24年。放棄されていた土地を再生し、茎が太く生命力に満ちたそばを収穫。</a:t>
            </a:r>
          </a:p>
        </p:txBody>
      </p:sp>
      <p:sp>
        <p:nvSpPr>
          <p:cNvPr id="23" name="TextBox 22"/>
          <p:cNvSpPr txBox="1"/>
          <p:nvPr/>
        </p:nvSpPr>
        <p:spPr>
          <a:xfrm>
            <a:off x="3529583" y="2066544"/>
            <a:ext cx="182880" cy="201168"/>
          </a:xfrm>
          <a:prstGeom prst="rect">
            <a:avLst/>
          </a:prstGeom>
          <a:noFill/>
        </p:spPr>
        <p:txBody>
          <a:bodyPr wrap="square" lIns="0" rIns="0" tIns="0" bIns="0" anchor="t">
            <a:spAutoFit/>
          </a:bodyPr>
          <a:lstStyle/>
          <a:p>
            <a:pPr algn="ctr">
              <a:spcAft>
                <a:spcPts val="0"/>
              </a:spcAft>
            </a:pPr>
            <a:r>
              <a:rPr sz="1000" b="1">
                <a:solidFill>
                  <a:srgbClr val="0889C9"/>
                </a:solidFill>
                <a:latin typeface="Arial"/>
                <a:ea typeface="Arial"/>
                <a:cs typeface="Arial"/>
              </a:rPr>
              <a:t>▶</a:t>
            </a:r>
          </a:p>
        </p:txBody>
      </p:sp>
      <p:sp>
        <p:nvSpPr>
          <p:cNvPr id="24" name="Rectangle 23"/>
          <p:cNvSpPr/>
          <p:nvPr/>
        </p:nvSpPr>
        <p:spPr>
          <a:xfrm>
            <a:off x="3712463" y="1426464"/>
            <a:ext cx="1517904" cy="1481328"/>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3712463" y="1426464"/>
            <a:ext cx="50292" cy="1481328"/>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858768" y="1517904"/>
            <a:ext cx="1243584" cy="219456"/>
          </a:xfrm>
          <a:prstGeom prst="rect">
            <a:avLst/>
          </a:prstGeom>
          <a:noFill/>
        </p:spPr>
        <p:txBody>
          <a:bodyPr wrap="square" lIns="0" rIns="0" tIns="0" bIns="0" anchor="t">
            <a:spAutoFit/>
          </a:bodyPr>
          <a:lstStyle/>
          <a:p>
            <a:pPr algn="l">
              <a:spcAft>
                <a:spcPts val="0"/>
              </a:spcAft>
            </a:pPr>
            <a:r>
              <a:rPr sz="950" b="1">
                <a:solidFill>
                  <a:srgbClr val="0B3041"/>
                </a:solidFill>
                <a:latin typeface="游ゴシック"/>
                <a:ea typeface="游ゴシック"/>
                <a:cs typeface="游ゴシック"/>
              </a:rPr>
              <a:t>③ 一年熟成</a:t>
            </a:r>
          </a:p>
        </p:txBody>
      </p:sp>
      <p:sp>
        <p:nvSpPr>
          <p:cNvPr id="27" name="TextBox 26"/>
          <p:cNvSpPr txBox="1"/>
          <p:nvPr/>
        </p:nvSpPr>
        <p:spPr>
          <a:xfrm>
            <a:off x="3858768" y="1792224"/>
            <a:ext cx="1243584" cy="1024128"/>
          </a:xfrm>
          <a:prstGeom prst="rect">
            <a:avLst/>
          </a:prstGeom>
          <a:noFill/>
        </p:spPr>
        <p:txBody>
          <a:bodyPr wrap="square" lIns="0" rIns="0" t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収穫した玄そばを一年間寝かせてから使用。同一品種でも畑により性質が異なるため、畑ごとに袋を分けて管理。</a:t>
            </a:r>
          </a:p>
        </p:txBody>
      </p:sp>
      <p:sp>
        <p:nvSpPr>
          <p:cNvPr id="28" name="TextBox 27"/>
          <p:cNvSpPr txBox="1"/>
          <p:nvPr/>
        </p:nvSpPr>
        <p:spPr>
          <a:xfrm>
            <a:off x="5230368" y="2066544"/>
            <a:ext cx="182880" cy="201168"/>
          </a:xfrm>
          <a:prstGeom prst="rect">
            <a:avLst/>
          </a:prstGeom>
          <a:noFill/>
        </p:spPr>
        <p:txBody>
          <a:bodyPr wrap="square" lIns="0" rIns="0" tIns="0" bIns="0" anchor="t">
            <a:spAutoFit/>
          </a:bodyPr>
          <a:lstStyle/>
          <a:p>
            <a:pPr algn="ctr">
              <a:spcAft>
                <a:spcPts val="0"/>
              </a:spcAft>
            </a:pPr>
            <a:r>
              <a:rPr sz="1000" b="1">
                <a:solidFill>
                  <a:srgbClr val="0889C9"/>
                </a:solidFill>
                <a:latin typeface="Arial"/>
                <a:ea typeface="Arial"/>
                <a:cs typeface="Arial"/>
              </a:rPr>
              <a:t>▶</a:t>
            </a:r>
          </a:p>
        </p:txBody>
      </p:sp>
      <p:sp>
        <p:nvSpPr>
          <p:cNvPr id="29" name="Rectangle 28"/>
          <p:cNvSpPr/>
          <p:nvPr/>
        </p:nvSpPr>
        <p:spPr>
          <a:xfrm>
            <a:off x="5413248" y="1426464"/>
            <a:ext cx="1517904" cy="1481328"/>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5413248" y="1426464"/>
            <a:ext cx="50292" cy="1481328"/>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5559552" y="1517904"/>
            <a:ext cx="1243584" cy="219456"/>
          </a:xfrm>
          <a:prstGeom prst="rect">
            <a:avLst/>
          </a:prstGeom>
          <a:noFill/>
        </p:spPr>
        <p:txBody>
          <a:bodyPr wrap="square" lIns="0" rIns="0" tIns="0" bIns="0" anchor="t">
            <a:spAutoFit/>
          </a:bodyPr>
          <a:lstStyle/>
          <a:p>
            <a:pPr algn="l">
              <a:spcAft>
                <a:spcPts val="0"/>
              </a:spcAft>
            </a:pPr>
            <a:r>
              <a:rPr sz="950" b="1">
                <a:solidFill>
                  <a:srgbClr val="0B3041"/>
                </a:solidFill>
                <a:latin typeface="游ゴシック"/>
                <a:ea typeface="游ゴシック"/>
                <a:cs typeface="游ゴシック"/>
              </a:rPr>
              <a:t>④ 石臼自家製粉</a:t>
            </a:r>
          </a:p>
        </p:txBody>
      </p:sp>
      <p:sp>
        <p:nvSpPr>
          <p:cNvPr id="32" name="TextBox 31"/>
          <p:cNvSpPr txBox="1"/>
          <p:nvPr/>
        </p:nvSpPr>
        <p:spPr>
          <a:xfrm>
            <a:off x="5559552" y="1792224"/>
            <a:ext cx="1243584" cy="1024128"/>
          </a:xfrm>
          <a:prstGeom prst="rect">
            <a:avLst/>
          </a:prstGeom>
          <a:noFill/>
        </p:spPr>
        <p:txBody>
          <a:bodyPr wrap="square" lIns="0" rIns="0" t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寝かせた粉と新しい粉をブレンドして石臼で自家製粉。製粉機は電動・木製の石臼を併せて保有。</a:t>
            </a:r>
          </a:p>
        </p:txBody>
      </p:sp>
      <p:sp>
        <p:nvSpPr>
          <p:cNvPr id="33" name="TextBox 32"/>
          <p:cNvSpPr txBox="1"/>
          <p:nvPr/>
        </p:nvSpPr>
        <p:spPr>
          <a:xfrm>
            <a:off x="6931152" y="2066544"/>
            <a:ext cx="182880" cy="201168"/>
          </a:xfrm>
          <a:prstGeom prst="rect">
            <a:avLst/>
          </a:prstGeom>
          <a:noFill/>
        </p:spPr>
        <p:txBody>
          <a:bodyPr wrap="square" lIns="0" rIns="0" tIns="0" bIns="0" anchor="t">
            <a:spAutoFit/>
          </a:bodyPr>
          <a:lstStyle/>
          <a:p>
            <a:pPr algn="ctr">
              <a:spcAft>
                <a:spcPts val="0"/>
              </a:spcAft>
            </a:pPr>
            <a:r>
              <a:rPr sz="1000" b="1">
                <a:solidFill>
                  <a:srgbClr val="0889C9"/>
                </a:solidFill>
                <a:latin typeface="Arial"/>
                <a:ea typeface="Arial"/>
                <a:cs typeface="Arial"/>
              </a:rPr>
              <a:t>▶</a:t>
            </a:r>
          </a:p>
        </p:txBody>
      </p:sp>
      <p:sp>
        <p:nvSpPr>
          <p:cNvPr id="34" name="Rectangle 33"/>
          <p:cNvSpPr/>
          <p:nvPr/>
        </p:nvSpPr>
        <p:spPr>
          <a:xfrm>
            <a:off x="7114031" y="1426464"/>
            <a:ext cx="1517904" cy="1481328"/>
          </a:xfrm>
          <a:prstGeom prst="rect">
            <a:avLst/>
          </a:prstGeom>
          <a:solidFill>
            <a:srgbClr val="F7FAFC"/>
          </a:solidFill>
          <a:ln w="12700">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7114031" y="1426464"/>
            <a:ext cx="50292" cy="1481328"/>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260336" y="1517904"/>
            <a:ext cx="1243584" cy="219456"/>
          </a:xfrm>
          <a:prstGeom prst="rect">
            <a:avLst/>
          </a:prstGeom>
          <a:noFill/>
        </p:spPr>
        <p:txBody>
          <a:bodyPr wrap="square" lIns="0" rIns="0" tIns="0" bIns="0" anchor="t">
            <a:spAutoFit/>
          </a:bodyPr>
          <a:lstStyle/>
          <a:p>
            <a:pPr algn="l">
              <a:spcAft>
                <a:spcPts val="0"/>
              </a:spcAft>
            </a:pPr>
            <a:r>
              <a:rPr sz="950" b="1">
                <a:solidFill>
                  <a:srgbClr val="0B3041"/>
                </a:solidFill>
                <a:latin typeface="游ゴシック"/>
                <a:ea typeface="游ゴシック"/>
                <a:cs typeface="游ゴシック"/>
              </a:rPr>
              <a:t>⑤ 手打ち</a:t>
            </a:r>
          </a:p>
        </p:txBody>
      </p:sp>
      <p:sp>
        <p:nvSpPr>
          <p:cNvPr id="37" name="TextBox 36"/>
          <p:cNvSpPr txBox="1"/>
          <p:nvPr/>
        </p:nvSpPr>
        <p:spPr>
          <a:xfrm>
            <a:off x="7260336" y="1792224"/>
            <a:ext cx="1243584" cy="1024128"/>
          </a:xfrm>
          <a:prstGeom prst="rect">
            <a:avLst/>
          </a:prstGeom>
          <a:noFill/>
        </p:spPr>
        <p:txBody>
          <a:bodyPr wrap="square" lIns="0" rIns="0" t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基本は九一。「ホシ」と呼ばれる黒い斑点が浮かぶ粗挽き蕎麦が看板。そば打ち台2台を保有。</a:t>
            </a:r>
          </a:p>
        </p:txBody>
      </p:sp>
      <p:sp>
        <p:nvSpPr>
          <p:cNvPr id="38" name="TextBox 37"/>
          <p:cNvSpPr txBox="1"/>
          <p:nvPr/>
        </p:nvSpPr>
        <p:spPr>
          <a:xfrm>
            <a:off x="8631936" y="2066544"/>
            <a:ext cx="182880" cy="201168"/>
          </a:xfrm>
          <a:prstGeom prst="rect">
            <a:avLst/>
          </a:prstGeom>
          <a:noFill/>
        </p:spPr>
        <p:txBody>
          <a:bodyPr wrap="square" lIns="0" rIns="0" tIns="0" bIns="0" anchor="t">
            <a:spAutoFit/>
          </a:bodyPr>
          <a:lstStyle/>
          <a:p>
            <a:pPr algn="ctr">
              <a:spcAft>
                <a:spcPts val="0"/>
              </a:spcAft>
            </a:pPr>
            <a:r>
              <a:rPr sz="1000" b="1">
                <a:solidFill>
                  <a:srgbClr val="0889C9"/>
                </a:solidFill>
                <a:latin typeface="Arial"/>
                <a:ea typeface="Arial"/>
                <a:cs typeface="Arial"/>
              </a:rPr>
              <a:t>▶</a:t>
            </a:r>
          </a:p>
        </p:txBody>
      </p:sp>
      <p:sp>
        <p:nvSpPr>
          <p:cNvPr id="39" name="Rectangle 38"/>
          <p:cNvSpPr/>
          <p:nvPr/>
        </p:nvSpPr>
        <p:spPr>
          <a:xfrm>
            <a:off x="8814815" y="1426464"/>
            <a:ext cx="1517904" cy="1481328"/>
          </a:xfrm>
          <a:prstGeom prst="rect">
            <a:avLst/>
          </a:prstGeom>
          <a:solidFill>
            <a:srgbClr val="F7FAFC"/>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8814815" y="1426464"/>
            <a:ext cx="50292" cy="148132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8961119" y="1517904"/>
            <a:ext cx="1243584" cy="219456"/>
          </a:xfrm>
          <a:prstGeom prst="rect">
            <a:avLst/>
          </a:prstGeom>
          <a:noFill/>
        </p:spPr>
        <p:txBody>
          <a:bodyPr wrap="square" lIns="0" rIns="0" tIns="0" bIns="0" anchor="t">
            <a:spAutoFit/>
          </a:bodyPr>
          <a:lstStyle/>
          <a:p>
            <a:pPr algn="l">
              <a:spcAft>
                <a:spcPts val="0"/>
              </a:spcAft>
            </a:pPr>
            <a:r>
              <a:rPr sz="950" b="1">
                <a:solidFill>
                  <a:srgbClr val="0B3041"/>
                </a:solidFill>
                <a:latin typeface="游ゴシック"/>
                <a:ea typeface="游ゴシック"/>
                <a:cs typeface="游ゴシック"/>
              </a:rPr>
              <a:t>⑥ 提供・卸</a:t>
            </a:r>
          </a:p>
        </p:txBody>
      </p:sp>
      <p:sp>
        <p:nvSpPr>
          <p:cNvPr id="42" name="TextBox 41"/>
          <p:cNvSpPr txBox="1"/>
          <p:nvPr/>
        </p:nvSpPr>
        <p:spPr>
          <a:xfrm>
            <a:off x="8961119" y="1792224"/>
            <a:ext cx="1243584" cy="1024128"/>
          </a:xfrm>
          <a:prstGeom prst="rect">
            <a:avLst/>
          </a:prstGeom>
          <a:noFill/>
        </p:spPr>
        <p:txBody>
          <a:bodyPr wrap="square" lIns="0" rIns="0" tIns="0" bIns="0" anchor="t">
            <a:spAutoFit/>
          </a:bodyPr>
          <a:lstStyle/>
          <a:p>
            <a:pPr algn="l">
              <a:lnSpc>
                <a:spcPct val="118000"/>
              </a:lnSpc>
              <a:spcAft>
                <a:spcPts val="100"/>
              </a:spcAft>
            </a:pPr>
            <a:r>
              <a:rPr sz="830" b="0">
                <a:solidFill>
                  <a:srgbClr val="5A6670"/>
                </a:solidFill>
                <a:latin typeface="游ゴシック"/>
                <a:ea typeface="游ゴシック"/>
                <a:cs typeface="游ゴシック"/>
              </a:rPr>
              <a:t>店頭は週4日・昼のみの売り切りじまい。併せて同業の有名店・パン店へ玄そば・粉を供給。</a:t>
            </a:r>
          </a:p>
        </p:txBody>
      </p:sp>
      <p:sp>
        <p:nvSpPr>
          <p:cNvPr id="43" name="Rectangle 42"/>
          <p:cNvSpPr/>
          <p:nvPr/>
        </p:nvSpPr>
        <p:spPr>
          <a:xfrm>
            <a:off x="310896" y="3200400"/>
            <a:ext cx="10067544"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l"/>
            <a:r>
              <a:rPr sz="1400" b="1">
                <a:solidFill>
                  <a:srgbClr val="FFFFFF"/>
                </a:solidFill>
                <a:latin typeface="游ゴシック"/>
                <a:ea typeface="游ゴシック"/>
                <a:cs typeface="游ゴシック"/>
              </a:rPr>
              <a:t>模倣困難性 ― 設備を買っても再現できないもの</a:t>
            </a:r>
          </a:p>
        </p:txBody>
      </p:sp>
      <p:sp>
        <p:nvSpPr>
          <p:cNvPr id="44" name="Rectangle 43"/>
          <p:cNvSpPr/>
          <p:nvPr/>
        </p:nvSpPr>
        <p:spPr>
          <a:xfrm>
            <a:off x="310896" y="3657600"/>
            <a:ext cx="3264408" cy="1591056"/>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310896" y="3657600"/>
            <a:ext cx="50292" cy="159105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475488" y="3767328"/>
            <a:ext cx="2953512" cy="237744"/>
          </a:xfrm>
          <a:prstGeom prst="rect">
            <a:avLst/>
          </a:prstGeom>
          <a:noFill/>
        </p:spPr>
        <p:txBody>
          <a:bodyPr wrap="square" lIns="0" rIns="0" tIns="0" bIns="0" anchor="t">
            <a:spAutoFit/>
          </a:bodyPr>
          <a:lstStyle/>
          <a:p>
            <a:pPr algn="l">
              <a:spcAft>
                <a:spcPts val="0"/>
              </a:spcAft>
            </a:pPr>
            <a:r>
              <a:rPr sz="1200" b="1">
                <a:solidFill>
                  <a:srgbClr val="0B3041"/>
                </a:solidFill>
                <a:latin typeface="游ゴシック"/>
                <a:ea typeface="游ゴシック"/>
                <a:cs typeface="游ゴシック"/>
              </a:rPr>
              <a:t>時間</a:t>
            </a:r>
          </a:p>
        </p:txBody>
      </p:sp>
      <p:sp>
        <p:nvSpPr>
          <p:cNvPr id="47" name="TextBox 46"/>
          <p:cNvSpPr txBox="1"/>
          <p:nvPr/>
        </p:nvSpPr>
        <p:spPr>
          <a:xfrm>
            <a:off x="475488" y="4078224"/>
            <a:ext cx="2953512" cy="1097280"/>
          </a:xfrm>
          <a:prstGeom prst="rect">
            <a:avLst/>
          </a:prstGeom>
          <a:noFill/>
        </p:spPr>
        <p:txBody>
          <a:bodyPr wrap="square" lIns="0" rIns="0" tIns="0" bIns="0" anchor="t">
            <a:spAutoFit/>
          </a:bodyPr>
          <a:lstStyle/>
          <a:p>
            <a:pPr algn="l">
              <a:lnSpc>
                <a:spcPct val="120000"/>
              </a:lnSpc>
              <a:spcAft>
                <a:spcPts val="0"/>
              </a:spcAft>
            </a:pPr>
            <a:r>
              <a:rPr sz="900" b="0">
                <a:solidFill>
                  <a:srgbClr val="1A1A1A"/>
                </a:solidFill>
                <a:latin typeface="游ゴシック"/>
                <a:ea typeface="游ゴシック"/>
                <a:cs typeface="游ゴシック"/>
              </a:rPr>
              <a:t>そばは一年寝かせてから使うため、仕入れた玄そばはその年には使えない。期末の棚卸資産2,354千円は、そのまま「1年分の時間」を先に負担した在庫であり、新規参入者は開業時にこの1年を買うことができない。</a:t>
            </a:r>
          </a:p>
        </p:txBody>
      </p:sp>
      <p:sp>
        <p:nvSpPr>
          <p:cNvPr id="48" name="Rectangle 47"/>
          <p:cNvSpPr/>
          <p:nvPr/>
        </p:nvSpPr>
        <p:spPr>
          <a:xfrm>
            <a:off x="3712463" y="3657600"/>
            <a:ext cx="3264408" cy="1591056"/>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Rectangle 48"/>
          <p:cNvSpPr/>
          <p:nvPr/>
        </p:nvSpPr>
        <p:spPr>
          <a:xfrm>
            <a:off x="3712463" y="3657600"/>
            <a:ext cx="50292" cy="159105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3877055" y="3767328"/>
            <a:ext cx="2953512" cy="237744"/>
          </a:xfrm>
          <a:prstGeom prst="rect">
            <a:avLst/>
          </a:prstGeom>
          <a:noFill/>
        </p:spPr>
        <p:txBody>
          <a:bodyPr wrap="square" lIns="0" rIns="0" tIns="0" bIns="0" anchor="t">
            <a:spAutoFit/>
          </a:bodyPr>
          <a:lstStyle/>
          <a:p>
            <a:pPr algn="l">
              <a:spcAft>
                <a:spcPts val="0"/>
              </a:spcAft>
            </a:pPr>
            <a:r>
              <a:rPr sz="1200" b="1">
                <a:solidFill>
                  <a:srgbClr val="0B3041"/>
                </a:solidFill>
                <a:latin typeface="游ゴシック"/>
                <a:ea typeface="游ゴシック"/>
                <a:cs typeface="游ゴシック"/>
              </a:rPr>
              <a:t>関係</a:t>
            </a:r>
          </a:p>
        </p:txBody>
      </p:sp>
      <p:sp>
        <p:nvSpPr>
          <p:cNvPr id="51" name="TextBox 50"/>
          <p:cNvSpPr txBox="1"/>
          <p:nvPr/>
        </p:nvSpPr>
        <p:spPr>
          <a:xfrm>
            <a:off x="3877055" y="4078224"/>
            <a:ext cx="2953512" cy="1097280"/>
          </a:xfrm>
          <a:prstGeom prst="rect">
            <a:avLst/>
          </a:prstGeom>
          <a:noFill/>
        </p:spPr>
        <p:txBody>
          <a:bodyPr wrap="square" lIns="0" rIns="0" tIns="0" bIns="0" anchor="t">
            <a:spAutoFit/>
          </a:bodyPr>
          <a:lstStyle/>
          <a:p>
            <a:pPr algn="l">
              <a:lnSpc>
                <a:spcPct val="120000"/>
              </a:lnSpc>
              <a:spcAft>
                <a:spcPts val="0"/>
              </a:spcAft>
            </a:pPr>
            <a:r>
              <a:rPr sz="900" b="0">
                <a:solidFill>
                  <a:srgbClr val="1A1A1A"/>
                </a:solidFill>
                <a:latin typeface="游ゴシック"/>
                <a:ea typeface="游ゴシック"/>
                <a:cs typeface="游ゴシック"/>
              </a:rPr>
              <a:t>常陸秋そばの買付は、価格条件ではなく地元生産者との関係に支えられている。代表者は農家を応援する意味合いから高値で買い取る方針を続けており、原料の安定調達はこの関係性そのものに依存している（承継方法は要確認）。</a:t>
            </a:r>
          </a:p>
        </p:txBody>
      </p:sp>
      <p:sp>
        <p:nvSpPr>
          <p:cNvPr id="52" name="Rectangle 51"/>
          <p:cNvSpPr/>
          <p:nvPr/>
        </p:nvSpPr>
        <p:spPr>
          <a:xfrm>
            <a:off x="7114031" y="3657600"/>
            <a:ext cx="3264408" cy="1591056"/>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Rectangle 52"/>
          <p:cNvSpPr/>
          <p:nvPr/>
        </p:nvSpPr>
        <p:spPr>
          <a:xfrm>
            <a:off x="7114031" y="3657600"/>
            <a:ext cx="50292" cy="159105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7278623" y="3767328"/>
            <a:ext cx="2953512" cy="237744"/>
          </a:xfrm>
          <a:prstGeom prst="rect">
            <a:avLst/>
          </a:prstGeom>
          <a:noFill/>
        </p:spPr>
        <p:txBody>
          <a:bodyPr wrap="square" lIns="0" rIns="0" tIns="0" bIns="0" anchor="t">
            <a:spAutoFit/>
          </a:bodyPr>
          <a:lstStyle/>
          <a:p>
            <a:pPr algn="l">
              <a:spcAft>
                <a:spcPts val="0"/>
              </a:spcAft>
            </a:pPr>
            <a:r>
              <a:rPr sz="1200" b="1">
                <a:solidFill>
                  <a:srgbClr val="0B3041"/>
                </a:solidFill>
                <a:latin typeface="游ゴシック"/>
                <a:ea typeface="游ゴシック"/>
                <a:cs typeface="游ゴシック"/>
              </a:rPr>
              <a:t>評価</a:t>
            </a:r>
          </a:p>
        </p:txBody>
      </p:sp>
      <p:sp>
        <p:nvSpPr>
          <p:cNvPr id="55" name="TextBox 54"/>
          <p:cNvSpPr txBox="1"/>
          <p:nvPr/>
        </p:nvSpPr>
        <p:spPr>
          <a:xfrm>
            <a:off x="7278623" y="4078224"/>
            <a:ext cx="2953512" cy="1097280"/>
          </a:xfrm>
          <a:prstGeom prst="rect">
            <a:avLst/>
          </a:prstGeom>
          <a:noFill/>
        </p:spPr>
        <p:txBody>
          <a:bodyPr wrap="square" lIns="0" rIns="0" tIns="0" bIns="0" anchor="t">
            <a:spAutoFit/>
          </a:bodyPr>
          <a:lstStyle/>
          <a:p>
            <a:pPr algn="l">
              <a:lnSpc>
                <a:spcPct val="120000"/>
              </a:lnSpc>
              <a:spcAft>
                <a:spcPts val="0"/>
              </a:spcAft>
            </a:pPr>
            <a:r>
              <a:rPr sz="900" b="0">
                <a:solidFill>
                  <a:srgbClr val="1A1A1A"/>
                </a:solidFill>
                <a:latin typeface="游ゴシック"/>
                <a:ea typeface="游ゴシック"/>
                <a:cs typeface="游ゴシック"/>
              </a:rPr>
              <a:t>打心蕎庵・玉笑といった同業の有名店が玄そば・蕎麦粉を仕入れに訪れ、石臼挽き小麦粉はキビヤベーカリー（1,865千円）・ルヴァン（231千円）へ供給。一般消費者だけでなく「つくり手」から選ばれている点が評価の裏付けとなる。</a:t>
            </a:r>
          </a:p>
        </p:txBody>
      </p:sp>
      <p:sp>
        <p:nvSpPr>
          <p:cNvPr id="56" name="Rounded Rectangle 55"/>
          <p:cNvSpPr/>
          <p:nvPr/>
        </p:nvSpPr>
        <p:spPr>
          <a:xfrm>
            <a:off x="310896" y="5486400"/>
            <a:ext cx="10067544" cy="713232"/>
          </a:xfrm>
          <a:prstGeom prst="roundRect">
            <a:avLst/>
          </a:prstGeom>
          <a:solidFill>
            <a:srgbClr val="E1F3FB"/>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Rounded Rectangle 56"/>
          <p:cNvSpPr/>
          <p:nvPr/>
        </p:nvSpPr>
        <p:spPr>
          <a:xfrm>
            <a:off x="310896" y="5486400"/>
            <a:ext cx="1417320" cy="713232"/>
          </a:xfrm>
          <a:prstGeom prst="round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402336" y="5733288"/>
            <a:ext cx="1271016" cy="219456"/>
          </a:xfrm>
          <a:prstGeom prst="rect">
            <a:avLst/>
          </a:prstGeom>
          <a:noFill/>
        </p:spPr>
        <p:txBody>
          <a:bodyPr wrap="square" lIns="0" rIns="0" tIns="0" bIns="0" anchor="t">
            <a:spAutoFit/>
          </a:bodyPr>
          <a:lstStyle/>
          <a:p>
            <a:pPr algn="ctr">
              <a:spcAft>
                <a:spcPts val="0"/>
              </a:spcAft>
            </a:pPr>
            <a:r>
              <a:rPr sz="1300" b="1">
                <a:solidFill>
                  <a:srgbClr val="FFFFFF"/>
                </a:solidFill>
                <a:latin typeface="游ゴシック"/>
                <a:ea typeface="游ゴシック"/>
                <a:cs typeface="游ゴシック"/>
              </a:rPr>
              <a:t>ポイント</a:t>
            </a:r>
          </a:p>
        </p:txBody>
      </p:sp>
      <p:sp>
        <p:nvSpPr>
          <p:cNvPr id="59" name="Oval 58"/>
          <p:cNvSpPr/>
          <p:nvPr/>
        </p:nvSpPr>
        <p:spPr>
          <a:xfrm>
            <a:off x="1883664" y="5724144"/>
            <a:ext cx="237744" cy="237744"/>
          </a:xfrm>
          <a:prstGeom prst="ellipse">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游ゴシック"/>
                <a:ea typeface="游ゴシック"/>
                <a:cs typeface="游ゴシック"/>
              </a:rPr>
              <a:t>✓</a:t>
            </a:r>
          </a:p>
        </p:txBody>
      </p:sp>
      <p:sp>
        <p:nvSpPr>
          <p:cNvPr id="60" name="TextBox 59"/>
          <p:cNvSpPr txBox="1"/>
          <p:nvPr/>
        </p:nvSpPr>
        <p:spPr>
          <a:xfrm>
            <a:off x="2194560" y="5650992"/>
            <a:ext cx="2429255" cy="438912"/>
          </a:xfrm>
          <a:prstGeom prst="rect">
            <a:avLst/>
          </a:prstGeom>
          <a:noFill/>
        </p:spPr>
        <p:txBody>
          <a:bodyPr wrap="square" lIns="0" rIns="0" tIns="0" bIns="0" anchor="ctr">
            <a:spAutoFit/>
          </a:bodyPr>
          <a:lstStyle/>
          <a:p>
            <a:pPr algn="l">
              <a:lnSpc>
                <a:spcPct val="118000"/>
              </a:lnSpc>
              <a:spcAft>
                <a:spcPts val="0"/>
              </a:spcAft>
            </a:pPr>
            <a:r>
              <a:rPr sz="930" b="1">
                <a:solidFill>
                  <a:srgbClr val="202020"/>
                </a:solidFill>
                <a:latin typeface="游ゴシック"/>
                <a:ea typeface="游ゴシック"/>
                <a:cs typeface="游ゴシック"/>
              </a:rPr>
              <a:t>一年熟成と畑別管理により、原料在庫がそのまま参入コストになる</a:t>
            </a:r>
          </a:p>
        </p:txBody>
      </p:sp>
      <p:sp>
        <p:nvSpPr>
          <p:cNvPr id="61" name="Oval 60"/>
          <p:cNvSpPr/>
          <p:nvPr/>
        </p:nvSpPr>
        <p:spPr>
          <a:xfrm>
            <a:off x="4715256" y="5724144"/>
            <a:ext cx="237744" cy="237744"/>
          </a:xfrm>
          <a:prstGeom prst="ellipse">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游ゴシック"/>
                <a:ea typeface="游ゴシック"/>
                <a:cs typeface="游ゴシック"/>
              </a:rPr>
              <a:t>✓</a:t>
            </a:r>
          </a:p>
        </p:txBody>
      </p:sp>
      <p:sp>
        <p:nvSpPr>
          <p:cNvPr id="62" name="TextBox 61"/>
          <p:cNvSpPr txBox="1"/>
          <p:nvPr/>
        </p:nvSpPr>
        <p:spPr>
          <a:xfrm>
            <a:off x="5026151" y="5650992"/>
            <a:ext cx="2429255" cy="438912"/>
          </a:xfrm>
          <a:prstGeom prst="rect">
            <a:avLst/>
          </a:prstGeom>
          <a:noFill/>
        </p:spPr>
        <p:txBody>
          <a:bodyPr wrap="square" lIns="0" rIns="0" tIns="0" bIns="0" anchor="ctr">
            <a:spAutoFit/>
          </a:bodyPr>
          <a:lstStyle/>
          <a:p>
            <a:pPr algn="l">
              <a:lnSpc>
                <a:spcPct val="118000"/>
              </a:lnSpc>
              <a:spcAft>
                <a:spcPts val="0"/>
              </a:spcAft>
            </a:pPr>
            <a:r>
              <a:rPr sz="930" b="1">
                <a:solidFill>
                  <a:srgbClr val="202020"/>
                </a:solidFill>
                <a:latin typeface="游ゴシック"/>
                <a:ea typeface="游ゴシック"/>
                <a:cs typeface="游ゴシック"/>
              </a:rPr>
              <a:t>原料調達は価格ではなく地元生産者との関係に依存（承継方法は要確認）</a:t>
            </a:r>
          </a:p>
        </p:txBody>
      </p:sp>
      <p:sp>
        <p:nvSpPr>
          <p:cNvPr id="63" name="Oval 62"/>
          <p:cNvSpPr/>
          <p:nvPr/>
        </p:nvSpPr>
        <p:spPr>
          <a:xfrm>
            <a:off x="7546847" y="5724144"/>
            <a:ext cx="237744" cy="237744"/>
          </a:xfrm>
          <a:prstGeom prst="ellipse">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游ゴシック"/>
                <a:ea typeface="游ゴシック"/>
                <a:cs typeface="游ゴシック"/>
              </a:rPr>
              <a:t>✓</a:t>
            </a:r>
          </a:p>
        </p:txBody>
      </p:sp>
      <p:sp>
        <p:nvSpPr>
          <p:cNvPr id="64" name="TextBox 63"/>
          <p:cNvSpPr txBox="1"/>
          <p:nvPr/>
        </p:nvSpPr>
        <p:spPr>
          <a:xfrm>
            <a:off x="7857743" y="5650992"/>
            <a:ext cx="2429255" cy="438912"/>
          </a:xfrm>
          <a:prstGeom prst="rect">
            <a:avLst/>
          </a:prstGeom>
          <a:noFill/>
        </p:spPr>
        <p:txBody>
          <a:bodyPr wrap="square" lIns="0" rIns="0" tIns="0" bIns="0" anchor="ctr">
            <a:spAutoFit/>
          </a:bodyPr>
          <a:lstStyle/>
          <a:p>
            <a:pPr algn="l">
              <a:lnSpc>
                <a:spcPct val="118000"/>
              </a:lnSpc>
              <a:spcAft>
                <a:spcPts val="0"/>
              </a:spcAft>
            </a:pPr>
            <a:r>
              <a:rPr sz="930" b="1">
                <a:solidFill>
                  <a:srgbClr val="202020"/>
                </a:solidFill>
                <a:latin typeface="游ゴシック"/>
                <a:ea typeface="游ゴシック"/>
                <a:cs typeface="游ゴシック"/>
              </a:rPr>
              <a:t>同業の名店・ベーカリーが仕入先として選ぶ水準の品質評価</a:t>
            </a:r>
          </a:p>
        </p:txBody>
      </p:sp>
      <p:sp>
        <p:nvSpPr>
          <p:cNvPr id="65" name="TextBox 64"/>
          <p:cNvSpPr txBox="1"/>
          <p:nvPr/>
        </p:nvSpPr>
        <p:spPr>
          <a:xfrm>
            <a:off x="310896" y="6400800"/>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製法・栽培に関する記述は Japan Brand Collection 2026 茨城版および面談ヒアリングに基づく弊社の整理です。</a:t>
            </a:r>
          </a:p>
          <a:p>
            <a:pPr algn="l">
              <a:lnSpc>
                <a:spcPct val="112000"/>
              </a:lnSpc>
              <a:spcAft>
                <a:spcPts val="100"/>
              </a:spcAft>
            </a:pPr>
            <a:r>
              <a:rPr sz="750" b="0">
                <a:solidFill>
                  <a:srgbClr val="5A6670"/>
                </a:solidFill>
                <a:latin typeface="游ゴシック"/>
                <a:ea typeface="游ゴシック"/>
                <a:cs typeface="游ゴシック"/>
              </a:rPr>
              <a:t>※ 自家栽培の面積・収穫量・農地の権利関係、焼き畑の現況は要確認（P.40）。大規模栽培は中止し、地元産玄そばの適正価格での仕入に方針転換済とのことです。</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a:latin typeface="游ゴシック"/>
                <a:ea typeface="游ゴシック"/>
                <a:cs typeface="游ゴシック"/>
              </a:rPr>
              <a:t>物販・通信販売の商品</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sz="1200" b="1">
                <a:latin typeface="游ゴシック"/>
                <a:ea typeface="游ゴシック"/>
                <a:cs typeface="游ゴシック"/>
              </a:rPr>
              <a:t>事業概要</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a:latin typeface="游ゴシック"/>
                <a:ea typeface="游ゴシック"/>
                <a:cs typeface="游ゴシック"/>
              </a:rPr>
              <a:t>店頭飲食以外に、卸・通信販売・ふるさと納税の導線を保有。通信販売は604→1,020千円と伸長する一方、製造場所・許認可・原価は未確認であり、拡販前に整理が必要</a:t>
            </a:r>
            <a:endParaRPr lang="en-US" altLang="ja-JP" dirty="0"/>
          </a:p>
        </p:txBody>
      </p:sp>
      <p:graphicFrame>
        <p:nvGraphicFramePr>
          <p:cNvPr id="14" name="Table 13"/>
          <p:cNvGraphicFramePr>
            <a:graphicFrameLocks noGrp="1"/>
          </p:cNvGraphicFramePr>
          <p:nvPr/>
        </p:nvGraphicFramePr>
        <p:xfrm>
          <a:off x="310896" y="1463040"/>
          <a:ext cx="6382512" cy="3822192"/>
        </p:xfrm>
        <a:graphic>
          <a:graphicData uri="http://schemas.openxmlformats.org/drawingml/2006/table">
            <a:tbl>
              <a:tblPr firstRow="0" bandRow="0">
                <a:tableStyleId>{5940675A-B579-460E-94D1-54222C63F5DA}</a:tableStyleId>
              </a:tblPr>
              <a:tblGrid>
                <a:gridCol w="1572768"/>
                <a:gridCol w="1225296"/>
                <a:gridCol w="987552"/>
                <a:gridCol w="2596896"/>
              </a:tblGrid>
              <a:tr h="237744">
                <a:tc>
                  <a:txBody>
                    <a:bodyPr wrap="square"/>
                    <a:lstStyle/>
                    <a:p>
                      <a:pPr algn="ctr">
                        <a:spcAft>
                          <a:spcPts val="0"/>
                        </a:spcAft>
                      </a:pPr>
                      <a:r>
                        <a:rPr sz="840" b="1">
                          <a:solidFill>
                            <a:srgbClr val="FFFFFF"/>
                          </a:solidFill>
                          <a:latin typeface="游ゴシック"/>
                          <a:ea typeface="游ゴシック"/>
                          <a:cs typeface="游ゴシック"/>
                        </a:rPr>
                        <a:t>商品</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チャネル</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計上区分</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ctr">
                        <a:spcAft>
                          <a:spcPts val="0"/>
                        </a:spcAft>
                      </a:pPr>
                      <a:r>
                        <a:rPr sz="840" b="1">
                          <a:solidFill>
                            <a:srgbClr val="FFFFFF"/>
                          </a:solidFill>
                          <a:latin typeface="Arial"/>
                          <a:ea typeface="Arial"/>
                          <a:cs typeface="Arial"/>
                        </a:rPr>
                        <a:t>確認状況</a:t>
                      </a:r>
                    </a:p>
                  </a:txBody>
                  <a:tcPr marL="45720" marR="45720" marT="9144" marB="9144" anchor="ctr">
                    <a:solidFill>
                      <a:srgbClr val="0B3041"/>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12064">
                <a:tc>
                  <a:txBody>
                    <a:bodyPr wrap="square"/>
                    <a:lstStyle/>
                    <a:p>
                      <a:pPr algn="l">
                        <a:spcAft>
                          <a:spcPts val="0"/>
                        </a:spcAft>
                      </a:pPr>
                      <a:r>
                        <a:rPr sz="840" b="0">
                          <a:solidFill>
                            <a:srgbClr val="1A1A1A"/>
                          </a:solidFill>
                          <a:latin typeface="游ゴシック"/>
                          <a:ea typeface="游ゴシック"/>
                          <a:cs typeface="游ゴシック"/>
                        </a:rPr>
                        <a:t>玄そば・石臼挽きそば粉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卸（同業の蕎麦店）</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そば売上高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打心蕎庵・玉笑ほか。取引条件（基本契約書・COC条項）は要確認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12064">
                <a:tc>
                  <a:txBody>
                    <a:bodyPr wrap="square"/>
                    <a:lstStyle/>
                    <a:p>
                      <a:pPr algn="l">
                        <a:spcAft>
                          <a:spcPts val="0"/>
                        </a:spcAft>
                      </a:pPr>
                      <a:r>
                        <a:rPr sz="840" b="0">
                          <a:solidFill>
                            <a:srgbClr val="1A1A1A"/>
                          </a:solidFill>
                          <a:latin typeface="游ゴシック"/>
                          <a:ea typeface="游ゴシック"/>
                          <a:cs typeface="游ゴシック"/>
                        </a:rPr>
                        <a:t>石臼挽き小麦粉</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卸（ベーカリー）</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小麦等売上高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キビヤベーカリー1,865千円・ルヴァン231千円。3期連続で取引継続</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12064">
                <a:tc>
                  <a:txBody>
                    <a:bodyPr wrap="square"/>
                    <a:lstStyle/>
                    <a:p>
                      <a:pPr algn="l">
                        <a:spcAft>
                          <a:spcPts val="0"/>
                        </a:spcAft>
                      </a:pPr>
                      <a:r>
                        <a:rPr sz="840" b="0">
                          <a:solidFill>
                            <a:srgbClr val="1A1A1A"/>
                          </a:solidFill>
                          <a:latin typeface="游ゴシック"/>
                          <a:ea typeface="游ゴシック"/>
                          <a:cs typeface="游ゴシック"/>
                        </a:rPr>
                        <a:t>乾麺（そば）</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通信販売／店頭</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そば売上高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通販はＥコレクトサガワ経由1,020千円。製造場所・委託先は要確認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12064">
                <a:tc>
                  <a:txBody>
                    <a:bodyPr wrap="square"/>
                    <a:lstStyle/>
                    <a:p>
                      <a:pPr algn="l">
                        <a:spcAft>
                          <a:spcPts val="0"/>
                        </a:spcAft>
                      </a:pPr>
                      <a:r>
                        <a:rPr sz="840" b="0">
                          <a:solidFill>
                            <a:srgbClr val="1A1A1A"/>
                          </a:solidFill>
                          <a:latin typeface="游ゴシック"/>
                          <a:ea typeface="游ゴシック"/>
                          <a:cs typeface="游ゴシック"/>
                        </a:rPr>
                        <a:t>そばつゆ／本返し</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通信販売／店頭／卸</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商品売上高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製造場所・許認可・原価ともに要確認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12064">
                <a:tc>
                  <a:txBody>
                    <a:bodyPr wrap="square"/>
                    <a:lstStyle/>
                    <a:p>
                      <a:pPr algn="l">
                        <a:spcAft>
                          <a:spcPts val="0"/>
                        </a:spcAft>
                      </a:pPr>
                      <a:r>
                        <a:rPr sz="840" b="0">
                          <a:solidFill>
                            <a:srgbClr val="1A1A1A"/>
                          </a:solidFill>
                          <a:latin typeface="游ゴシック"/>
                          <a:ea typeface="游ゴシック"/>
                          <a:cs typeface="游ゴシック"/>
                        </a:rPr>
                        <a:t>醤（ひしお）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通信販売／店頭</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商品売上高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同上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12064">
                <a:tc>
                  <a:txBody>
                    <a:bodyPr wrap="square"/>
                    <a:lstStyle/>
                    <a:p>
                      <a:pPr algn="l">
                        <a:spcAft>
                          <a:spcPts val="0"/>
                        </a:spcAft>
                      </a:pPr>
                      <a:r>
                        <a:rPr sz="840" b="0">
                          <a:solidFill>
                            <a:srgbClr val="1A1A1A"/>
                          </a:solidFill>
                          <a:latin typeface="游ゴシック"/>
                          <a:ea typeface="游ゴシック"/>
                          <a:cs typeface="游ゴシック"/>
                        </a:rPr>
                        <a:t>えごま味噌／大麦糀味噌</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通信販売／店頭</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商品売上高</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同上</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r h="512064">
                <a:tc>
                  <a:txBody>
                    <a:bodyPr wrap="square"/>
                    <a:lstStyle/>
                    <a:p>
                      <a:pPr algn="l">
                        <a:spcAft>
                          <a:spcPts val="0"/>
                        </a:spcAft>
                      </a:pPr>
                      <a:r>
                        <a:rPr sz="840" b="0">
                          <a:solidFill>
                            <a:srgbClr val="1A1A1A"/>
                          </a:solidFill>
                          <a:latin typeface="游ゴシック"/>
                          <a:ea typeface="游ゴシック"/>
                          <a:cs typeface="游ゴシック"/>
                        </a:rPr>
                        <a:t>ふるさと納税返礼品</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常陸太田市</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要確認</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c>
                  <a:txBody>
                    <a:bodyPr wrap="square"/>
                    <a:lstStyle/>
                    <a:p>
                      <a:pPr algn="l">
                        <a:spcAft>
                          <a:spcPts val="0"/>
                        </a:spcAft>
                      </a:pPr>
                      <a:r>
                        <a:rPr sz="840" b="0">
                          <a:solidFill>
                            <a:srgbClr val="1A1A1A"/>
                          </a:solidFill>
                          <a:latin typeface="游ゴシック"/>
                          <a:ea typeface="游ゴシック"/>
                          <a:cs typeface="游ゴシック"/>
                        </a:rPr>
                        <a:t>採用状況・取扱数量・手数料率は要確認。商品売上高との対応関係も整理が必要</a:t>
                      </a:r>
                    </a:p>
                  </a:txBody>
                  <a:tcPr marL="45720" marR="45720" marT="9144" marB="9144" anchor="ctr">
                    <a:solidFill>
                      <a:srgbClr val="FFFFFF"/>
                    </a:solidFill>
                    <a:lnL w="6350" cap="flat" cmpd="sng" algn="ctr">
                      <a:solidFill>
                        <a:srgbClr val="B9C2C7"/>
                      </a:solidFill>
                    </a:lnL>
                    <a:lnR w="6350" cap="flat" cmpd="sng" algn="ctr">
                      <a:solidFill>
                        <a:srgbClr val="B9C2C7"/>
                      </a:solidFill>
                    </a:lnR>
                    <a:lnT w="6350" cap="flat" cmpd="sng" algn="ctr">
                      <a:solidFill>
                        <a:srgbClr val="B9C2C7"/>
                      </a:solidFill>
                    </a:lnT>
                    <a:lnB w="6350" cap="flat" cmpd="sng" algn="ctr">
                      <a:solidFill>
                        <a:srgbClr val="B9C2C7"/>
                      </a:solidFill>
                    </a:lnB>
                  </a:tcPr>
                </a:tc>
              </a:tr>
            </a:tbl>
          </a:graphicData>
        </a:graphic>
      </p:graphicFrame>
      <p:sp>
        <p:nvSpPr>
          <p:cNvPr id="15" name="Rectangle 14"/>
          <p:cNvSpPr/>
          <p:nvPr/>
        </p:nvSpPr>
        <p:spPr>
          <a:xfrm>
            <a:off x="6876288" y="1463040"/>
            <a:ext cx="3502152" cy="4315968"/>
          </a:xfrm>
          <a:prstGeom prst="rect">
            <a:avLst/>
          </a:prstGeom>
          <a:solidFill>
            <a:srgbClr val="FFFFFF"/>
          </a:solidFill>
          <a:ln w="12700">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67727" y="1536192"/>
            <a:ext cx="3319272" cy="274320"/>
          </a:xfrm>
          <a:prstGeom prst="rect">
            <a:avLst/>
          </a:prstGeom>
          <a:noFill/>
        </p:spPr>
        <p:txBody>
          <a:bodyPr wrap="square" lIns="0" rIns="0" tIns="0" bIns="0" anchor="t">
            <a:spAutoFit/>
          </a:bodyPr>
          <a:lstStyle/>
          <a:p>
            <a:pPr algn="l">
              <a:spcAft>
                <a:spcPts val="0"/>
              </a:spcAft>
            </a:pPr>
            <a:r>
              <a:rPr sz="1600" b="1">
                <a:solidFill>
                  <a:srgbClr val="0B3041"/>
                </a:solidFill>
                <a:latin typeface="游ゴシック"/>
                <a:ea typeface="游ゴシック"/>
                <a:cs typeface="游ゴシック"/>
              </a:rPr>
              <a:t>Comment</a:t>
            </a:r>
          </a:p>
        </p:txBody>
      </p:sp>
      <p:sp>
        <p:nvSpPr>
          <p:cNvPr id="17" name="TextBox 16"/>
          <p:cNvSpPr txBox="1"/>
          <p:nvPr/>
        </p:nvSpPr>
        <p:spPr>
          <a:xfrm>
            <a:off x="6986016" y="1883664"/>
            <a:ext cx="3282696" cy="3803904"/>
          </a:xfrm>
          <a:prstGeom prst="rect">
            <a:avLst/>
          </a:prstGeom>
          <a:noFill/>
        </p:spPr>
        <p:txBody>
          <a:bodyPr wrap="square" lIns="0" rIns="0" tIns="0" bIns="0" anchor="t">
            <a:spAutoFit/>
          </a:bodyPr>
          <a:lstStyle/>
          <a:p>
            <a:pPr algn="l">
              <a:lnSpc>
                <a:spcPct val="120000"/>
              </a:lnSpc>
              <a:spcAft>
                <a:spcPts val="200"/>
              </a:spcAft>
            </a:pPr>
            <a:r>
              <a:rPr sz="919" b="1">
                <a:solidFill>
                  <a:srgbClr val="0889C9"/>
                </a:solidFill>
                <a:latin typeface="游ゴシック"/>
                <a:ea typeface="游ゴシック"/>
                <a:cs typeface="游ゴシック"/>
              </a:rPr>
              <a:t>≪商品売上高の推移≫ </a:t>
            </a:r>
            <a:r>
              <a:rPr sz="900" b="0">
                <a:solidFill>
                  <a:srgbClr val="1A1A1A"/>
                </a:solidFill>
                <a:latin typeface="游ゴシック"/>
                <a:ea typeface="游ゴシック"/>
                <a:cs typeface="游ゴシック"/>
              </a:rPr>
              <a:t>2,740→538千円（22/5期比△80.4％）。健興通商向けの商品卸が2026/5期にゼロとなったことが主因であり、物販そのものの需要が消えたわけではない（同社は現在は仕入先。要確認）。</a:t>
            </a:r>
          </a:p>
          <a:p>
            <a:pPr algn="l">
              <a:spcAft>
                <a:spcPts val="200"/>
              </a:spcAft>
            </a:pPr>
          </a:p>
          <a:p>
            <a:pPr algn="l">
              <a:lnSpc>
                <a:spcPct val="120000"/>
              </a:lnSpc>
              <a:spcAft>
                <a:spcPts val="200"/>
              </a:spcAft>
            </a:pPr>
            <a:r>
              <a:rPr sz="919" b="1">
                <a:solidFill>
                  <a:srgbClr val="0889C9"/>
                </a:solidFill>
                <a:latin typeface="游ゴシック"/>
                <a:ea typeface="游ゴシック"/>
                <a:cs typeface="游ゴシック"/>
              </a:rPr>
              <a:t>≪通信販売≫ </a:t>
            </a:r>
            <a:r>
              <a:rPr sz="900" b="0">
                <a:solidFill>
                  <a:srgbClr val="1A1A1A"/>
                </a:solidFill>
                <a:latin typeface="游ゴシック"/>
                <a:ea typeface="游ゴシック"/>
                <a:cs typeface="游ゴシック"/>
              </a:rPr>
              <a:t>604→1,020千円と伸長。受注・発送の担当者、EC（Amazon等）の運用主体が代表者個人か法人かは要確認であり、承継時の体制づくりが論点となる。</a:t>
            </a:r>
          </a:p>
          <a:p>
            <a:pPr algn="l">
              <a:spcAft>
                <a:spcPts val="200"/>
              </a:spcAft>
            </a:pPr>
          </a:p>
          <a:p>
            <a:pPr algn="l">
              <a:lnSpc>
                <a:spcPct val="120000"/>
              </a:lnSpc>
              <a:spcAft>
                <a:spcPts val="200"/>
              </a:spcAft>
            </a:pPr>
            <a:r>
              <a:rPr sz="919" b="1">
                <a:solidFill>
                  <a:srgbClr val="0889C9"/>
                </a:solidFill>
                <a:latin typeface="游ゴシック"/>
                <a:ea typeface="游ゴシック"/>
                <a:cs typeface="游ゴシック"/>
              </a:rPr>
              <a:t>≪許認可≫ </a:t>
            </a:r>
            <a:r>
              <a:rPr sz="900" b="0">
                <a:solidFill>
                  <a:srgbClr val="1A1A1A"/>
                </a:solidFill>
                <a:latin typeface="游ゴシック"/>
                <a:ea typeface="游ゴシック"/>
                <a:cs typeface="游ゴシック"/>
              </a:rPr>
              <a:t>乾麺・そばつゆ・醤の製造販売には、飲食店営業許可とは別に菓子製造業・そうざい製造業等の許可を要する可能性がある。要否と取得状況は未確認（P.30）。</a:t>
            </a:r>
          </a:p>
          <a:p>
            <a:pPr algn="l">
              <a:spcAft>
                <a:spcPts val="200"/>
              </a:spcAft>
            </a:pPr>
          </a:p>
          <a:p>
            <a:pPr algn="l">
              <a:lnSpc>
                <a:spcPct val="120000"/>
              </a:lnSpc>
              <a:spcAft>
                <a:spcPts val="200"/>
              </a:spcAft>
            </a:pPr>
            <a:r>
              <a:rPr sz="919" b="1">
                <a:solidFill>
                  <a:srgbClr val="0889C9"/>
                </a:solidFill>
                <a:latin typeface="游ゴシック"/>
                <a:ea typeface="游ゴシック"/>
                <a:cs typeface="游ゴシック"/>
              </a:rPr>
              <a:t>≪預け在庫≫ </a:t>
            </a:r>
            <a:r>
              <a:rPr sz="900" b="0">
                <a:solidFill>
                  <a:srgbClr val="1A1A1A"/>
                </a:solidFill>
                <a:latin typeface="游ゴシック"/>
                <a:ea typeface="游ゴシック"/>
                <a:cs typeface="游ゴシック"/>
              </a:rPr>
              <a:t>棚卸資産2,354千円のうち商品329千円は「伊勢又預け分」。実在性・所有権・評価は要確認。</a:t>
            </a:r>
          </a:p>
          <a:p>
            <a:pPr algn="l">
              <a:spcAft>
                <a:spcPts val="200"/>
              </a:spcAft>
            </a:pPr>
          </a:p>
          <a:p>
            <a:pPr algn="l">
              <a:lnSpc>
                <a:spcPct val="120000"/>
              </a:lnSpc>
              <a:spcAft>
                <a:spcPts val="200"/>
              </a:spcAft>
            </a:pPr>
            <a:r>
              <a:rPr sz="919" b="1">
                <a:solidFill>
                  <a:srgbClr val="0889C9"/>
                </a:solidFill>
                <a:latin typeface="游ゴシック"/>
                <a:ea typeface="游ゴシック"/>
                <a:cs typeface="游ゴシック"/>
              </a:rPr>
              <a:t>≪買手にとっての意味≫ </a:t>
            </a:r>
            <a:r>
              <a:rPr sz="900" b="0">
                <a:solidFill>
                  <a:srgbClr val="1A1A1A"/>
                </a:solidFill>
                <a:latin typeface="游ゴシック"/>
                <a:ea typeface="游ゴシック"/>
                <a:cs typeface="游ゴシック"/>
              </a:rPr>
              <a:t>店舗が週4日・昼のみである以上、ブランドを面で広げる導線は物販・通販・ふるさと納税に限られる。製造・許認可を整理できれば、店舗の稼働拡大と並ぶ打ち手になる（弊社の評価）。</a:t>
            </a:r>
          </a:p>
        </p:txBody>
      </p:sp>
      <p:sp>
        <p:nvSpPr>
          <p:cNvPr id="18" name="TextBox 17"/>
          <p:cNvSpPr txBox="1"/>
          <p:nvPr/>
        </p:nvSpPr>
        <p:spPr>
          <a:xfrm>
            <a:off x="310896" y="5961888"/>
            <a:ext cx="9921240" cy="320040"/>
          </a:xfrm>
          <a:prstGeom prst="rect">
            <a:avLst/>
          </a:prstGeom>
          <a:noFill/>
        </p:spPr>
        <p:txBody>
          <a:bodyPr wrap="square" lIns="0" rIns="0" tIns="0" bIns="0" anchor="t">
            <a:spAutoFit/>
          </a:bodyPr>
          <a:lstStyle/>
          <a:p>
            <a:pPr algn="l">
              <a:lnSpc>
                <a:spcPct val="112000"/>
              </a:lnSpc>
              <a:spcAft>
                <a:spcPts val="100"/>
              </a:spcAft>
            </a:pPr>
            <a:r>
              <a:rPr sz="750" b="0">
                <a:solidFill>
                  <a:srgbClr val="5A6670"/>
                </a:solidFill>
                <a:latin typeface="游ゴシック"/>
                <a:ea typeface="游ゴシック"/>
                <a:cs typeface="游ゴシック"/>
              </a:rPr>
              <a:t>※ 商品名は受領した画像資料および面談ヒアリングに基づきます。価格・原価・取扱数量は未受領のため記載していません。</a:t>
            </a:r>
          </a:p>
          <a:p>
            <a:pPr algn="l">
              <a:lnSpc>
                <a:spcPct val="112000"/>
              </a:lnSpc>
              <a:spcAft>
                <a:spcPts val="100"/>
              </a:spcAft>
            </a:pPr>
            <a:r>
              <a:rPr sz="750" b="0">
                <a:solidFill>
                  <a:srgbClr val="5A6670"/>
                </a:solidFill>
                <a:latin typeface="游ゴシック"/>
                <a:ea typeface="游ゴシック"/>
                <a:cs typeface="游ゴシック"/>
              </a:rPr>
              <a:t>※ 計上区分は案件マスター（PLシート）の売上区分に対応しています。金額の推移は P.14 をご参照ください。</a:t>
            </a:r>
          </a:p>
        </p:txBody>
      </p:sp>
    </p:spTree>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7717</TotalTime>
  <Words>3079</Words>
  <Application>Microsoft Office PowerPoint</Application>
  <PresentationFormat>ユーザー設定</PresentationFormat>
  <Paragraphs>384</Paragraphs>
  <Slides>36</Slides>
  <Notes>30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36</vt:i4>
      </vt:variant>
    </vt:vector>
  </HeadingPairs>
  <TitlesOfParts>
    <vt:vector size="40" baseType="lpstr">
      <vt:lpstr>游ゴシック</vt:lpstr>
      <vt:lpstr>Arial</vt:lpstr>
      <vt:lpstr>Wingdings</vt:lpstr>
      <vt:lpstr>SL_2026</vt:lpstr>
      <vt:lpstr>企業概要書 &lt;●●業/●●地区&gt;　</vt:lpstr>
      <vt:lpstr>はじめに</vt:lpstr>
      <vt:lpstr>PowerPoint プレゼンテーション</vt:lpstr>
      <vt:lpstr>エグゼクティブサマリー</vt:lpstr>
      <vt:lpstr>基本情報</vt:lpstr>
      <vt:lpstr>財務ハイライト（P/L）</vt:lpstr>
      <vt:lpstr>財務ハイライト（B/S）</vt:lpstr>
      <vt:lpstr>譲渡希望条件</vt:lpstr>
      <vt:lpstr>事業概要</vt:lpstr>
      <vt:lpstr>事業内容</vt:lpstr>
      <vt:lpstr>サービス概要、製品一例、工事実績、など</vt:lpstr>
      <vt:lpstr>特徴、強み、成長性等</vt:lpstr>
      <vt:lpstr>●●別売上高</vt:lpstr>
      <vt:lpstr>仕入先別取引高</vt:lpstr>
      <vt:lpstr>外注費</vt:lpstr>
      <vt:lpstr>組織、拠点、設備等</vt:lpstr>
      <vt:lpstr>組織図</vt:lpstr>
      <vt:lpstr>株主及び役員</vt:lpstr>
      <vt:lpstr>従業員</vt:lpstr>
      <vt:lpstr>拠点概要（本社）</vt:lpstr>
      <vt:lpstr>拠点概要（●●工場）</vt:lpstr>
      <vt:lpstr>不動産詳細</vt:lpstr>
      <vt:lpstr>保有設備一覧</vt:lpstr>
      <vt:lpstr>財務情報詳細</vt:lpstr>
      <vt:lpstr>貸借対照表</vt:lpstr>
      <vt:lpstr>損益計算書</vt:lpstr>
      <vt:lpstr>製造原価報告書</vt:lpstr>
      <vt:lpstr>販売費及び一般管理費</vt:lpstr>
      <vt:lpstr>Appendix</vt:lpstr>
      <vt:lpstr>沿革</vt:lpstr>
      <vt:lpstr>代表者経歴</vt:lpstr>
      <vt:lpstr>事業計画</vt:lpstr>
      <vt:lpstr>今期予算</vt:lpstr>
      <vt:lpstr>その他補足情報</vt:lpstr>
      <vt:lpstr>報酬体系</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宮本 健</dc:creator>
  <cp:lastModifiedBy>越智 真也</cp:lastModifiedBy>
  <cp:revision>176</cp:revision>
  <cp:lastPrinted>2025-10-23T01:12:16Z</cp:lastPrinted>
  <dcterms:created xsi:type="dcterms:W3CDTF">2022-11-09T11:25:01Z</dcterms:created>
  <dcterms:modified xsi:type="dcterms:W3CDTF">2026-02-10T11:59:22Z</dcterms:modified>
</cp:coreProperties>
</file>