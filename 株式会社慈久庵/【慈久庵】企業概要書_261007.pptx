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0689336" cy="756208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10896" cy="756208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371600" y="2304288"/>
            <a:ext cx="8229600" cy="310896"/>
          </a:xfrm>
          <a:prstGeom prst="rect">
            <a:avLst/>
          </a:prstGeom>
          <a:noFill/>
        </p:spPr>
        <p:txBody>
          <a:bodyPr wrap="square" lIns="0" rIns="0" tIns="0" bIns="0" anchor="t">
            <a:spAutoFit/>
          </a:bodyPr>
          <a:lstStyle/>
          <a:p>
            <a:pPr algn="l">
              <a:spcAft>
                <a:spcPts val="0"/>
              </a:spcAft>
            </a:pPr>
            <a:r>
              <a:rPr sz="1500" b="1">
                <a:solidFill>
                  <a:srgbClr val="0889C9"/>
                </a:solidFill>
                <a:latin typeface="游ゴシック"/>
                <a:ea typeface="游ゴシック"/>
                <a:cs typeface="游ゴシック"/>
              </a:rPr>
              <a:t>企業概要書</a:t>
            </a:r>
          </a:p>
        </p:txBody>
      </p:sp>
      <p:sp>
        <p:nvSpPr>
          <p:cNvPr id="5" name="TextBox 4"/>
          <p:cNvSpPr txBox="1"/>
          <p:nvPr/>
        </p:nvSpPr>
        <p:spPr>
          <a:xfrm>
            <a:off x="1371600" y="2724912"/>
            <a:ext cx="8503920" cy="731520"/>
          </a:xfrm>
          <a:prstGeom prst="rect">
            <a:avLst/>
          </a:prstGeom>
          <a:noFill/>
        </p:spPr>
        <p:txBody>
          <a:bodyPr wrap="square" lIns="0" rIns="0" tIns="0" bIns="0" anchor="t">
            <a:spAutoFit/>
          </a:bodyPr>
          <a:lstStyle/>
          <a:p>
            <a:pPr algn="l">
              <a:spcAft>
                <a:spcPts val="0"/>
              </a:spcAft>
            </a:pPr>
            <a:r>
              <a:rPr sz="3300" b="1">
                <a:solidFill>
                  <a:srgbClr val="FFFFFF"/>
                </a:solidFill>
                <a:latin typeface="游ゴシック"/>
                <a:ea typeface="游ゴシック"/>
                <a:cs typeface="游ゴシック"/>
              </a:rPr>
              <a:t>茨城県常陸太田市　そば店「慈久庵」</a:t>
            </a:r>
          </a:p>
        </p:txBody>
      </p:sp>
      <p:sp>
        <p:nvSpPr>
          <p:cNvPr id="6" name="Rectangle 5"/>
          <p:cNvSpPr/>
          <p:nvPr/>
        </p:nvSpPr>
        <p:spPr>
          <a:xfrm>
            <a:off x="1389888" y="3639312"/>
            <a:ext cx="2743200" cy="2743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371600" y="3895344"/>
            <a:ext cx="8503920" cy="914400"/>
          </a:xfrm>
          <a:prstGeom prst="rect">
            <a:avLst/>
          </a:prstGeom>
          <a:noFill/>
        </p:spPr>
        <p:txBody>
          <a:bodyPr wrap="square" lIns="0" rIns="0" tIns="0" bIns="0" anchor="t">
            <a:spAutoFit/>
          </a:bodyPr>
          <a:lstStyle/>
          <a:p>
            <a:pPr algn="l">
              <a:lnSpc>
                <a:spcPct val="125000"/>
              </a:lnSpc>
              <a:spcAft>
                <a:spcPts val="400"/>
              </a:spcAft>
            </a:pPr>
            <a:r>
              <a:rPr sz="1250" b="0">
                <a:solidFill>
                  <a:srgbClr val="C9D6DC"/>
                </a:solidFill>
                <a:latin typeface="游ゴシック"/>
                <a:ea typeface="游ゴシック"/>
                <a:cs typeface="游ゴシック"/>
              </a:rPr>
              <a:t>食べログ「そば 百名店」／ THE TABELOG AWARD 2022・2023 Bronze</a:t>
            </a:r>
          </a:p>
          <a:p>
            <a:pPr algn="l">
              <a:lnSpc>
                <a:spcPct val="125000"/>
              </a:lnSpc>
              <a:spcAft>
                <a:spcPts val="400"/>
              </a:spcAft>
            </a:pPr>
            <a:r>
              <a:rPr sz="1250" b="0">
                <a:solidFill>
                  <a:srgbClr val="C9D6DC"/>
                </a:solidFill>
                <a:latin typeface="游ゴシック"/>
                <a:ea typeface="游ゴシック"/>
                <a:cs typeface="游ゴシック"/>
              </a:rPr>
              <a:t>焼畑栽培・常陸秋そば・石臼自家製粉　―　全国区の知名度を持つ蕎麦ブランド</a:t>
            </a:r>
          </a:p>
        </p:txBody>
      </p:sp>
      <p:sp>
        <p:nvSpPr>
          <p:cNvPr id="8" name="TextBox 7"/>
          <p:cNvSpPr txBox="1"/>
          <p:nvPr/>
        </p:nvSpPr>
        <p:spPr>
          <a:xfrm>
            <a:off x="1371600" y="5961888"/>
            <a:ext cx="4572000" cy="237744"/>
          </a:xfrm>
          <a:prstGeom prst="rect">
            <a:avLst/>
          </a:prstGeom>
          <a:noFill/>
        </p:spPr>
        <p:txBody>
          <a:bodyPr wrap="square" lIns="0" rIns="0" tIns="0" bIns="0" anchor="t">
            <a:spAutoFit/>
          </a:bodyPr>
          <a:lstStyle/>
          <a:p>
            <a:pPr algn="l">
              <a:spcAft>
                <a:spcPts val="0"/>
              </a:spcAft>
            </a:pPr>
            <a:r>
              <a:rPr sz="1100" b="0">
                <a:solidFill>
                  <a:srgbClr val="9FB2BC"/>
                </a:solidFill>
                <a:latin typeface="Arial"/>
                <a:ea typeface="Arial"/>
                <a:cs typeface="Arial"/>
              </a:rPr>
              <a:t>2026年10月</a:t>
            </a:r>
          </a:p>
        </p:txBody>
      </p:sp>
      <p:sp>
        <p:nvSpPr>
          <p:cNvPr id="9" name="TextBox 8"/>
          <p:cNvSpPr txBox="1"/>
          <p:nvPr/>
        </p:nvSpPr>
        <p:spPr>
          <a:xfrm>
            <a:off x="1371600" y="6254496"/>
            <a:ext cx="5486400" cy="274320"/>
          </a:xfrm>
          <a:prstGeom prst="rect">
            <a:avLst/>
          </a:prstGeom>
          <a:noFill/>
        </p:spPr>
        <p:txBody>
          <a:bodyPr wrap="square" lIns="0" rIns="0" tIns="0" bIns="0" anchor="t">
            <a:spAutoFit/>
          </a:bodyPr>
          <a:lstStyle/>
          <a:p>
            <a:pPr algn="l">
              <a:spcAft>
                <a:spcPts val="0"/>
              </a:spcAft>
            </a:pPr>
            <a:r>
              <a:rPr sz="1300" b="1">
                <a:solidFill>
                  <a:srgbClr val="FFFFFF"/>
                </a:solidFill>
                <a:latin typeface="游ゴシック"/>
                <a:ea typeface="游ゴシック"/>
                <a:cs typeface="游ゴシック"/>
              </a:rPr>
              <a:t>株式会社M&amp;A承継機構</a:t>
            </a:r>
          </a:p>
        </p:txBody>
      </p:sp>
      <p:sp>
        <p:nvSpPr>
          <p:cNvPr id="10" name="TextBox 9"/>
          <p:cNvSpPr txBox="1"/>
          <p:nvPr/>
        </p:nvSpPr>
        <p:spPr>
          <a:xfrm>
            <a:off x="7004304" y="6967728"/>
            <a:ext cx="3291840" cy="201168"/>
          </a:xfrm>
          <a:prstGeom prst="rect">
            <a:avLst/>
          </a:prstGeom>
          <a:noFill/>
        </p:spPr>
        <p:txBody>
          <a:bodyPr wrap="square" lIns="0" rIns="0" tIns="0" bIns="0" anchor="t">
            <a:spAutoFit/>
          </a:bodyPr>
          <a:lstStyle/>
          <a:p>
            <a:pPr algn="r">
              <a:spcAft>
                <a:spcPts val="0"/>
              </a:spcAft>
            </a:pPr>
            <a:r>
              <a:rPr sz="850" b="0">
                <a:solidFill>
                  <a:srgbClr val="6E8692"/>
                </a:solidFill>
                <a:latin typeface="Arial"/>
                <a:ea typeface="Arial"/>
                <a:cs typeface="Arial"/>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重要なご留意事項</a:t>
            </a:r>
          </a:p>
        </p:txBody>
      </p:sp>
      <p:sp>
        <p:nvSpPr>
          <p:cNvPr id="3" name="Rectangle 2"/>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2</a:t>
            </a:r>
          </a:p>
        </p:txBody>
      </p:sp>
      <p:sp>
        <p:nvSpPr>
          <p:cNvPr id="5" name="TextBox 4"/>
          <p:cNvSpPr txBox="1"/>
          <p:nvPr/>
        </p:nvSpPr>
        <p:spPr>
          <a:xfrm>
            <a:off x="484632" y="1152144"/>
            <a:ext cx="9720072" cy="5394960"/>
          </a:xfrm>
          <a:prstGeom prst="rect">
            <a:avLst/>
          </a:prstGeom>
          <a:noFill/>
        </p:spPr>
        <p:txBody>
          <a:bodyPr wrap="square" lIns="0" rIns="0" tIns="0" bIns="0" anchor="t">
            <a:spAutoFit/>
          </a:bodyPr>
          <a:lstStyle/>
          <a:p>
            <a:pPr algn="l">
              <a:lnSpc>
                <a:spcPct val="134000"/>
              </a:lnSpc>
              <a:spcAft>
                <a:spcPts val="1100"/>
              </a:spcAft>
            </a:pPr>
            <a:r>
              <a:rPr sz="1050" b="0">
                <a:solidFill>
                  <a:srgbClr val="1A1A1A"/>
                </a:solidFill>
                <a:latin typeface="游ゴシック"/>
                <a:ea typeface="游ゴシック"/>
                <a:cs typeface="游ゴシック"/>
              </a:rPr>
              <a:t>本企業概要書（以下、「本概要書」といいます）は、株式会社M&amp;A承継機構（以下「弊社」といいます）が、株式会社慈久庵（以下「対象会社」といいます）の発行済株式の取得もしくは事業その他資産の譲受（以下「本取引」といいます）に関して、対象会社から提供された情報および弊社が実施した調査に基づき、対象会社に関する情報を貴社に提供するために作成したものです。</a:t>
            </a:r>
          </a:p>
          <a:p>
            <a:pPr algn="l">
              <a:lnSpc>
                <a:spcPct val="134000"/>
              </a:lnSpc>
              <a:spcAft>
                <a:spcPts val="1100"/>
              </a:spcAft>
            </a:pPr>
            <a:r>
              <a:rPr sz="1050" b="0">
                <a:solidFill>
                  <a:srgbClr val="1A1A1A"/>
                </a:solidFill>
                <a:latin typeface="游ゴシック"/>
                <a:ea typeface="游ゴシック"/>
                <a:cs typeface="游ゴシック"/>
              </a:rPr>
              <a:t>本概要書の存在および記載されている情報ならびに本概要書に関する全ての連絡・協議は、貴社と弊社との間で締結している秘密保持契約書に定めのある秘密情報に該当いたします。</a:t>
            </a:r>
          </a:p>
          <a:p>
            <a:pPr algn="l">
              <a:lnSpc>
                <a:spcPct val="134000"/>
              </a:lnSpc>
              <a:spcAft>
                <a:spcPts val="1100"/>
              </a:spcAft>
            </a:pPr>
            <a:r>
              <a:rPr sz="1050" b="0">
                <a:solidFill>
                  <a:srgbClr val="1A1A1A"/>
                </a:solidFill>
                <a:latin typeface="游ゴシック"/>
                <a:ea typeface="游ゴシック"/>
                <a:cs typeface="游ゴシック"/>
              </a:rPr>
              <a:t>本概要書は、貴社が本取引を行うことを検討するための情報を提供することのみを目的として作成されておりますが、貴社が必要と考える全ての情報を網羅しているとは限りません。また、対象会社ならびに弊社の役員および従業員（以下総称して「情報提供者」といいます）は、本概要書に記載されているいかなる情報および意見に関しても、明示・黙示にかかわらず、その正確性および完全性について表明または保証するものではありません。</a:t>
            </a:r>
          </a:p>
          <a:p>
            <a:pPr algn="l">
              <a:lnSpc>
                <a:spcPct val="134000"/>
              </a:lnSpc>
              <a:spcAft>
                <a:spcPts val="1100"/>
              </a:spcAft>
            </a:pPr>
            <a:r>
              <a:rPr sz="1050" b="0">
                <a:solidFill>
                  <a:srgbClr val="1A1A1A"/>
                </a:solidFill>
                <a:latin typeface="游ゴシック"/>
                <a:ea typeface="游ゴシック"/>
                <a:cs typeface="游ゴシック"/>
              </a:rPr>
              <a:t>本概要書に記載の財務数値は、対象会社の決算書・勘定科目内訳明細書・総勘定元帳等に基づき弊社が集計・加工したものであり、公認会計士等による監査を受けたものではありません。また、「要確認」と付記した事項は、本概要書作成時点で裏付資料の受領が完了していない事項です。</a:t>
            </a:r>
          </a:p>
          <a:p>
            <a:pPr algn="l">
              <a:lnSpc>
                <a:spcPct val="134000"/>
              </a:lnSpc>
              <a:spcAft>
                <a:spcPts val="1100"/>
              </a:spcAft>
            </a:pPr>
            <a:r>
              <a:rPr sz="1050" b="0">
                <a:solidFill>
                  <a:srgbClr val="1A1A1A"/>
                </a:solidFill>
                <a:latin typeface="游ゴシック"/>
                <a:ea typeface="游ゴシック"/>
                <a:cs typeface="游ゴシック"/>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lgn="l">
              <a:lnSpc>
                <a:spcPct val="134000"/>
              </a:lnSpc>
              <a:spcAft>
                <a:spcPts val="1100"/>
              </a:spcAft>
            </a:pPr>
            <a:r>
              <a:rPr sz="1050" b="0">
                <a:solidFill>
                  <a:srgbClr val="1A1A1A"/>
                </a:solidFill>
                <a:latin typeface="游ゴシック"/>
                <a:ea typeface="游ゴシック"/>
                <a:cs typeface="游ゴシック"/>
              </a:rPr>
              <a:t>いかなる場合でも、本取引に関して、対象会社の役職員（元役職員を含む）および取引先に対して、貴社および貴社のアドバイザー等、本取引に関与する者が直接・間接を問わずコンタクトをとることを禁止させていただくとともに、全てのご連絡は必ず弊社を介していただきますようお願い申し上げます。</a:t>
            </a:r>
          </a:p>
        </p:txBody>
      </p:sp>
      <p:sp>
        <p:nvSpPr>
          <p:cNvPr id="6" name="Rectangle 5"/>
          <p:cNvSpPr/>
          <p:nvPr/>
        </p:nvSpPr>
        <p:spPr>
          <a:xfrm>
            <a:off x="393192" y="6693408"/>
            <a:ext cx="9902952"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393192" y="6821424"/>
            <a:ext cx="9902952" cy="457200"/>
          </a:xfrm>
          <a:prstGeom prst="rect">
            <a:avLst/>
          </a:prstGeom>
          <a:noFill/>
        </p:spPr>
        <p:txBody>
          <a:bodyPr wrap="square" lIns="0" rIns="0" tIns="0" bIns="0" anchor="t">
            <a:spAutoFit/>
          </a:bodyPr>
          <a:lstStyle/>
          <a:p>
            <a:pPr algn="l">
              <a:spcAft>
                <a:spcPts val="0"/>
              </a:spcAft>
            </a:pPr>
            <a:r>
              <a:rPr sz="900" b="0">
                <a:solidFill>
                  <a:srgbClr val="5A656B"/>
                </a:solidFill>
                <a:latin typeface="游ゴシック Medium"/>
                <a:ea typeface="游ゴシック Medium"/>
                <a:cs typeface="游ゴシック Medium"/>
              </a:rPr>
              <a:t>お問い合わせ先：株式会社M&amp;A承継機構　／　本件担当までご連絡ください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目次</a:t>
            </a:r>
          </a:p>
        </p:txBody>
      </p:sp>
      <p:sp>
        <p:nvSpPr>
          <p:cNvPr id="3" name="Rectangle 2"/>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3</a:t>
            </a:r>
          </a:p>
        </p:txBody>
      </p:sp>
      <p:sp>
        <p:nvSpPr>
          <p:cNvPr id="5" name="Rectangle 4"/>
          <p:cNvSpPr/>
          <p:nvPr/>
        </p:nvSpPr>
        <p:spPr>
          <a:xfrm>
            <a:off x="393192" y="1481328"/>
            <a:ext cx="475488" cy="6766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393192" y="1481328"/>
            <a:ext cx="475488" cy="676656"/>
          </a:xfrm>
          <a:prstGeom prst="rect">
            <a:avLst/>
          </a:prstGeom>
          <a:noFill/>
        </p:spPr>
        <p:txBody>
          <a:bodyPr wrap="square" lIns="0" rIns="0" tIns="0" bIns="0" anchor="ctr">
            <a:spAutoFit/>
          </a:bodyPr>
          <a:lstStyle/>
          <a:p>
            <a:pPr algn="ctr">
              <a:spcAft>
                <a:spcPts val="0"/>
              </a:spcAft>
            </a:pPr>
            <a:r>
              <a:rPr sz="1900" b="1">
                <a:solidFill>
                  <a:srgbClr val="FFFFFF"/>
                </a:solidFill>
                <a:latin typeface="Arial"/>
                <a:ea typeface="Arial"/>
                <a:cs typeface="Arial"/>
              </a:rPr>
              <a:t>1</a:t>
            </a:r>
          </a:p>
        </p:txBody>
      </p:sp>
      <p:sp>
        <p:nvSpPr>
          <p:cNvPr id="7" name="Rectangle 6"/>
          <p:cNvSpPr/>
          <p:nvPr/>
        </p:nvSpPr>
        <p:spPr>
          <a:xfrm>
            <a:off x="868680" y="1481328"/>
            <a:ext cx="9427464" cy="67665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88136" y="1572768"/>
            <a:ext cx="6949440" cy="256032"/>
          </a:xfrm>
          <a:prstGeom prst="rect">
            <a:avLst/>
          </a:prstGeom>
          <a:noFill/>
        </p:spPr>
        <p:txBody>
          <a:bodyPr wrap="square" lIns="0" rIns="0" tIns="0" bIns="0" anchor="t">
            <a:spAutoFit/>
          </a:bodyPr>
          <a:lstStyle/>
          <a:p>
            <a:pPr algn="l">
              <a:spcAft>
                <a:spcPts val="0"/>
              </a:spcAft>
            </a:pPr>
            <a:r>
              <a:rPr sz="1300" b="1">
                <a:solidFill>
                  <a:srgbClr val="0B3041"/>
                </a:solidFill>
                <a:latin typeface="游ゴシック"/>
                <a:ea typeface="游ゴシック"/>
                <a:cs typeface="游ゴシック"/>
              </a:rPr>
              <a:t>エグゼクティブ・サマリー</a:t>
            </a:r>
          </a:p>
        </p:txBody>
      </p:sp>
      <p:sp>
        <p:nvSpPr>
          <p:cNvPr id="9" name="TextBox 8"/>
          <p:cNvSpPr txBox="1"/>
          <p:nvPr/>
        </p:nvSpPr>
        <p:spPr>
          <a:xfrm>
            <a:off x="1088136" y="1865376"/>
            <a:ext cx="7589520" cy="219456"/>
          </a:xfrm>
          <a:prstGeom prst="rect">
            <a:avLst/>
          </a:prstGeom>
          <a:noFill/>
        </p:spPr>
        <p:txBody>
          <a:bodyPr wrap="square" lIns="0" rIns="0" tIns="0" bIns="0" anchor="t">
            <a:spAutoFit/>
          </a:bodyPr>
          <a:lstStyle/>
          <a:p>
            <a:pPr algn="l">
              <a:spcAft>
                <a:spcPts val="0"/>
              </a:spcAft>
            </a:pPr>
            <a:r>
              <a:rPr sz="900" b="0">
                <a:solidFill>
                  <a:srgbClr val="5A656B"/>
                </a:solidFill>
                <a:latin typeface="游ゴシック Medium"/>
                <a:ea typeface="游ゴシック Medium"/>
                <a:cs typeface="游ゴシック Medium"/>
              </a:rPr>
              <a:t>本件サマリー／会社概要／財務ハイライト（P/L・B/S）／譲渡希望条件</a:t>
            </a:r>
          </a:p>
        </p:txBody>
      </p:sp>
      <p:sp>
        <p:nvSpPr>
          <p:cNvPr id="10" name="TextBox 9"/>
          <p:cNvSpPr txBox="1"/>
          <p:nvPr/>
        </p:nvSpPr>
        <p:spPr>
          <a:xfrm>
            <a:off x="9107424" y="1572768"/>
            <a:ext cx="1005840" cy="256032"/>
          </a:xfrm>
          <a:prstGeom prst="rect">
            <a:avLst/>
          </a:prstGeom>
          <a:noFill/>
        </p:spPr>
        <p:txBody>
          <a:bodyPr wrap="square" lIns="0" rIns="0" tIns="0" bIns="0" anchor="t">
            <a:spAutoFit/>
          </a:bodyPr>
          <a:lstStyle/>
          <a:p>
            <a:pPr algn="r">
              <a:spcAft>
                <a:spcPts val="0"/>
              </a:spcAft>
            </a:pPr>
            <a:r>
              <a:rPr sz="1050" b="1">
                <a:solidFill>
                  <a:srgbClr val="0B3041"/>
                </a:solidFill>
                <a:latin typeface="Arial"/>
                <a:ea typeface="Arial"/>
                <a:cs typeface="Arial"/>
              </a:rPr>
              <a:t>P. 5 - 9</a:t>
            </a:r>
          </a:p>
        </p:txBody>
      </p:sp>
      <p:sp>
        <p:nvSpPr>
          <p:cNvPr id="11" name="Rectangle 10"/>
          <p:cNvSpPr/>
          <p:nvPr/>
        </p:nvSpPr>
        <p:spPr>
          <a:xfrm>
            <a:off x="393192" y="2304288"/>
            <a:ext cx="475488" cy="6766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93192" y="2304288"/>
            <a:ext cx="475488" cy="676656"/>
          </a:xfrm>
          <a:prstGeom prst="rect">
            <a:avLst/>
          </a:prstGeom>
          <a:noFill/>
        </p:spPr>
        <p:txBody>
          <a:bodyPr wrap="square" lIns="0" rIns="0" tIns="0" bIns="0" anchor="ctr">
            <a:spAutoFit/>
          </a:bodyPr>
          <a:lstStyle/>
          <a:p>
            <a:pPr algn="ctr">
              <a:spcAft>
                <a:spcPts val="0"/>
              </a:spcAft>
            </a:pPr>
            <a:r>
              <a:rPr sz="1900" b="1">
                <a:solidFill>
                  <a:srgbClr val="FFFFFF"/>
                </a:solidFill>
                <a:latin typeface="Arial"/>
                <a:ea typeface="Arial"/>
                <a:cs typeface="Arial"/>
              </a:rPr>
              <a:t>2</a:t>
            </a:r>
          </a:p>
        </p:txBody>
      </p:sp>
      <p:sp>
        <p:nvSpPr>
          <p:cNvPr id="13" name="Rectangle 12"/>
          <p:cNvSpPr/>
          <p:nvPr/>
        </p:nvSpPr>
        <p:spPr>
          <a:xfrm>
            <a:off x="868680" y="2304288"/>
            <a:ext cx="9427464" cy="67665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88136" y="2395728"/>
            <a:ext cx="6949440" cy="256032"/>
          </a:xfrm>
          <a:prstGeom prst="rect">
            <a:avLst/>
          </a:prstGeom>
          <a:noFill/>
        </p:spPr>
        <p:txBody>
          <a:bodyPr wrap="square" lIns="0" rIns="0" tIns="0" bIns="0" anchor="t">
            <a:spAutoFit/>
          </a:bodyPr>
          <a:lstStyle/>
          <a:p>
            <a:pPr algn="l">
              <a:spcAft>
                <a:spcPts val="0"/>
              </a:spcAft>
            </a:pPr>
            <a:r>
              <a:rPr sz="1300" b="1">
                <a:solidFill>
                  <a:srgbClr val="0B3041"/>
                </a:solidFill>
                <a:latin typeface="游ゴシック"/>
                <a:ea typeface="游ゴシック"/>
                <a:cs typeface="游ゴシック"/>
              </a:rPr>
              <a:t>事業概要</a:t>
            </a:r>
          </a:p>
        </p:txBody>
      </p:sp>
      <p:sp>
        <p:nvSpPr>
          <p:cNvPr id="15" name="TextBox 14"/>
          <p:cNvSpPr txBox="1"/>
          <p:nvPr/>
        </p:nvSpPr>
        <p:spPr>
          <a:xfrm>
            <a:off x="1088136" y="2688336"/>
            <a:ext cx="7589520" cy="219456"/>
          </a:xfrm>
          <a:prstGeom prst="rect">
            <a:avLst/>
          </a:prstGeom>
          <a:noFill/>
        </p:spPr>
        <p:txBody>
          <a:bodyPr wrap="square" lIns="0" rIns="0" tIns="0" bIns="0" anchor="t">
            <a:spAutoFit/>
          </a:bodyPr>
          <a:lstStyle/>
          <a:p>
            <a:pPr algn="l">
              <a:spcAft>
                <a:spcPts val="0"/>
              </a:spcAft>
            </a:pPr>
            <a:r>
              <a:rPr sz="900" b="0">
                <a:solidFill>
                  <a:srgbClr val="5A656B"/>
                </a:solidFill>
                <a:latin typeface="游ゴシック Medium"/>
                <a:ea typeface="游ゴシック Medium"/>
                <a:cs typeface="游ゴシック Medium"/>
              </a:rPr>
              <a:t>ブランドと代表者／店舗・不動産／収益構造／売上構成／月次分析／販売先・仕入先／強みと成長余地</a:t>
            </a:r>
          </a:p>
        </p:txBody>
      </p:sp>
      <p:sp>
        <p:nvSpPr>
          <p:cNvPr id="16" name="TextBox 15"/>
          <p:cNvSpPr txBox="1"/>
          <p:nvPr/>
        </p:nvSpPr>
        <p:spPr>
          <a:xfrm>
            <a:off x="9107424" y="2395728"/>
            <a:ext cx="1005840" cy="256032"/>
          </a:xfrm>
          <a:prstGeom prst="rect">
            <a:avLst/>
          </a:prstGeom>
          <a:noFill/>
        </p:spPr>
        <p:txBody>
          <a:bodyPr wrap="square" lIns="0" rIns="0" tIns="0" bIns="0" anchor="t">
            <a:spAutoFit/>
          </a:bodyPr>
          <a:lstStyle/>
          <a:p>
            <a:pPr algn="r">
              <a:spcAft>
                <a:spcPts val="0"/>
              </a:spcAft>
            </a:pPr>
            <a:r>
              <a:rPr sz="1050" b="1">
                <a:solidFill>
                  <a:srgbClr val="0B3041"/>
                </a:solidFill>
                <a:latin typeface="Arial"/>
                <a:ea typeface="Arial"/>
                <a:cs typeface="Arial"/>
              </a:rPr>
              <a:t>P. 11 - 18</a:t>
            </a:r>
          </a:p>
        </p:txBody>
      </p:sp>
      <p:sp>
        <p:nvSpPr>
          <p:cNvPr id="17" name="Rectangle 16"/>
          <p:cNvSpPr/>
          <p:nvPr/>
        </p:nvSpPr>
        <p:spPr>
          <a:xfrm>
            <a:off x="393192" y="3127248"/>
            <a:ext cx="475488" cy="6766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3192" y="3127248"/>
            <a:ext cx="475488" cy="676656"/>
          </a:xfrm>
          <a:prstGeom prst="rect">
            <a:avLst/>
          </a:prstGeom>
          <a:noFill/>
        </p:spPr>
        <p:txBody>
          <a:bodyPr wrap="square" lIns="0" rIns="0" tIns="0" bIns="0" anchor="ctr">
            <a:spAutoFit/>
          </a:bodyPr>
          <a:lstStyle/>
          <a:p>
            <a:pPr algn="ctr">
              <a:spcAft>
                <a:spcPts val="0"/>
              </a:spcAft>
            </a:pPr>
            <a:r>
              <a:rPr sz="1900" b="1">
                <a:solidFill>
                  <a:srgbClr val="FFFFFF"/>
                </a:solidFill>
                <a:latin typeface="Arial"/>
                <a:ea typeface="Arial"/>
                <a:cs typeface="Arial"/>
              </a:rPr>
              <a:t>3</a:t>
            </a:r>
          </a:p>
        </p:txBody>
      </p:sp>
      <p:sp>
        <p:nvSpPr>
          <p:cNvPr id="19" name="Rectangle 18"/>
          <p:cNvSpPr/>
          <p:nvPr/>
        </p:nvSpPr>
        <p:spPr>
          <a:xfrm>
            <a:off x="868680" y="3127248"/>
            <a:ext cx="9427464" cy="67665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88136" y="3218688"/>
            <a:ext cx="6949440" cy="256032"/>
          </a:xfrm>
          <a:prstGeom prst="rect">
            <a:avLst/>
          </a:prstGeom>
          <a:noFill/>
        </p:spPr>
        <p:txBody>
          <a:bodyPr wrap="square" lIns="0" rIns="0" tIns="0" bIns="0" anchor="t">
            <a:spAutoFit/>
          </a:bodyPr>
          <a:lstStyle/>
          <a:p>
            <a:pPr algn="l">
              <a:spcAft>
                <a:spcPts val="0"/>
              </a:spcAft>
            </a:pPr>
            <a:r>
              <a:rPr sz="1300" b="1">
                <a:solidFill>
                  <a:srgbClr val="0B3041"/>
                </a:solidFill>
                <a:latin typeface="游ゴシック"/>
                <a:ea typeface="游ゴシック"/>
                <a:cs typeface="游ゴシック"/>
              </a:rPr>
              <a:t>組織・体制・設備</a:t>
            </a:r>
          </a:p>
        </p:txBody>
      </p:sp>
      <p:sp>
        <p:nvSpPr>
          <p:cNvPr id="21" name="TextBox 20"/>
          <p:cNvSpPr txBox="1"/>
          <p:nvPr/>
        </p:nvSpPr>
        <p:spPr>
          <a:xfrm>
            <a:off x="1088136" y="3511296"/>
            <a:ext cx="7589520" cy="219456"/>
          </a:xfrm>
          <a:prstGeom prst="rect">
            <a:avLst/>
          </a:prstGeom>
          <a:noFill/>
        </p:spPr>
        <p:txBody>
          <a:bodyPr wrap="square" lIns="0" rIns="0" tIns="0" bIns="0" anchor="t">
            <a:spAutoFit/>
          </a:bodyPr>
          <a:lstStyle/>
          <a:p>
            <a:pPr algn="l">
              <a:spcAft>
                <a:spcPts val="0"/>
              </a:spcAft>
            </a:pPr>
            <a:r>
              <a:rPr sz="900" b="0">
                <a:solidFill>
                  <a:srgbClr val="5A656B"/>
                </a:solidFill>
                <a:latin typeface="游ゴシック Medium"/>
                <a:ea typeface="游ゴシック Medium"/>
                <a:cs typeface="游ゴシック Medium"/>
              </a:rPr>
              <a:t>株主及び役員／人員体制と承継／保有設備</a:t>
            </a:r>
          </a:p>
        </p:txBody>
      </p:sp>
      <p:sp>
        <p:nvSpPr>
          <p:cNvPr id="22" name="TextBox 21"/>
          <p:cNvSpPr txBox="1"/>
          <p:nvPr/>
        </p:nvSpPr>
        <p:spPr>
          <a:xfrm>
            <a:off x="9107424" y="3218688"/>
            <a:ext cx="1005840" cy="256032"/>
          </a:xfrm>
          <a:prstGeom prst="rect">
            <a:avLst/>
          </a:prstGeom>
          <a:noFill/>
        </p:spPr>
        <p:txBody>
          <a:bodyPr wrap="square" lIns="0" rIns="0" tIns="0" bIns="0" anchor="t">
            <a:spAutoFit/>
          </a:bodyPr>
          <a:lstStyle/>
          <a:p>
            <a:pPr algn="r">
              <a:spcAft>
                <a:spcPts val="0"/>
              </a:spcAft>
            </a:pPr>
            <a:r>
              <a:rPr sz="1050" b="1">
                <a:solidFill>
                  <a:srgbClr val="0B3041"/>
                </a:solidFill>
                <a:latin typeface="Arial"/>
                <a:ea typeface="Arial"/>
                <a:cs typeface="Arial"/>
              </a:rPr>
              <a:t>P. 20 - 22</a:t>
            </a:r>
          </a:p>
        </p:txBody>
      </p:sp>
      <p:sp>
        <p:nvSpPr>
          <p:cNvPr id="23" name="Rectangle 22"/>
          <p:cNvSpPr/>
          <p:nvPr/>
        </p:nvSpPr>
        <p:spPr>
          <a:xfrm>
            <a:off x="393192" y="3950208"/>
            <a:ext cx="475488" cy="6766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93192" y="3950208"/>
            <a:ext cx="475488" cy="676656"/>
          </a:xfrm>
          <a:prstGeom prst="rect">
            <a:avLst/>
          </a:prstGeom>
          <a:noFill/>
        </p:spPr>
        <p:txBody>
          <a:bodyPr wrap="square" lIns="0" rIns="0" tIns="0" bIns="0" anchor="ctr">
            <a:spAutoFit/>
          </a:bodyPr>
          <a:lstStyle/>
          <a:p>
            <a:pPr algn="ctr">
              <a:spcAft>
                <a:spcPts val="0"/>
              </a:spcAft>
            </a:pPr>
            <a:r>
              <a:rPr sz="1900" b="1">
                <a:solidFill>
                  <a:srgbClr val="FFFFFF"/>
                </a:solidFill>
                <a:latin typeface="Arial"/>
                <a:ea typeface="Arial"/>
                <a:cs typeface="Arial"/>
              </a:rPr>
              <a:t>4</a:t>
            </a:r>
          </a:p>
        </p:txBody>
      </p:sp>
      <p:sp>
        <p:nvSpPr>
          <p:cNvPr id="25" name="Rectangle 24"/>
          <p:cNvSpPr/>
          <p:nvPr/>
        </p:nvSpPr>
        <p:spPr>
          <a:xfrm>
            <a:off x="868680" y="3950208"/>
            <a:ext cx="9427464" cy="67665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8136" y="4041648"/>
            <a:ext cx="6949440" cy="256032"/>
          </a:xfrm>
          <a:prstGeom prst="rect">
            <a:avLst/>
          </a:prstGeom>
          <a:noFill/>
        </p:spPr>
        <p:txBody>
          <a:bodyPr wrap="square" lIns="0" rIns="0" tIns="0" bIns="0" anchor="t">
            <a:spAutoFit/>
          </a:bodyPr>
          <a:lstStyle/>
          <a:p>
            <a:pPr algn="l">
              <a:spcAft>
                <a:spcPts val="0"/>
              </a:spcAft>
            </a:pPr>
            <a:r>
              <a:rPr sz="1300" b="1">
                <a:solidFill>
                  <a:srgbClr val="0B3041"/>
                </a:solidFill>
                <a:latin typeface="游ゴシック"/>
                <a:ea typeface="游ゴシック"/>
                <a:cs typeface="游ゴシック"/>
              </a:rPr>
              <a:t>財務情報詳細</a:t>
            </a:r>
          </a:p>
        </p:txBody>
      </p:sp>
      <p:sp>
        <p:nvSpPr>
          <p:cNvPr id="27" name="TextBox 26"/>
          <p:cNvSpPr txBox="1"/>
          <p:nvPr/>
        </p:nvSpPr>
        <p:spPr>
          <a:xfrm>
            <a:off x="1088136" y="4334256"/>
            <a:ext cx="7589520" cy="219456"/>
          </a:xfrm>
          <a:prstGeom prst="rect">
            <a:avLst/>
          </a:prstGeom>
          <a:noFill/>
        </p:spPr>
        <p:txBody>
          <a:bodyPr wrap="square" lIns="0" rIns="0" tIns="0" bIns="0" anchor="t">
            <a:spAutoFit/>
          </a:bodyPr>
          <a:lstStyle/>
          <a:p>
            <a:pPr algn="l">
              <a:spcAft>
                <a:spcPts val="0"/>
              </a:spcAft>
            </a:pPr>
            <a:r>
              <a:rPr sz="900" b="0">
                <a:solidFill>
                  <a:srgbClr val="5A656B"/>
                </a:solidFill>
                <a:latin typeface="游ゴシック Medium"/>
                <a:ea typeface="游ゴシック Medium"/>
                <a:cs typeface="游ゴシック Medium"/>
              </a:rPr>
              <a:t>比較貸借対照表／比較損益計算書／比較製造原価報告書／比較販管費</a:t>
            </a:r>
          </a:p>
        </p:txBody>
      </p:sp>
      <p:sp>
        <p:nvSpPr>
          <p:cNvPr id="28" name="TextBox 27"/>
          <p:cNvSpPr txBox="1"/>
          <p:nvPr/>
        </p:nvSpPr>
        <p:spPr>
          <a:xfrm>
            <a:off x="9107424" y="4041648"/>
            <a:ext cx="1005840" cy="256032"/>
          </a:xfrm>
          <a:prstGeom prst="rect">
            <a:avLst/>
          </a:prstGeom>
          <a:noFill/>
        </p:spPr>
        <p:txBody>
          <a:bodyPr wrap="square" lIns="0" rIns="0" tIns="0" bIns="0" anchor="t">
            <a:spAutoFit/>
          </a:bodyPr>
          <a:lstStyle/>
          <a:p>
            <a:pPr algn="r">
              <a:spcAft>
                <a:spcPts val="0"/>
              </a:spcAft>
            </a:pPr>
            <a:r>
              <a:rPr sz="1050" b="1">
                <a:solidFill>
                  <a:srgbClr val="0B3041"/>
                </a:solidFill>
                <a:latin typeface="Arial"/>
                <a:ea typeface="Arial"/>
                <a:cs typeface="Arial"/>
              </a:rPr>
              <a:t>P. 24 - 27</a:t>
            </a:r>
          </a:p>
        </p:txBody>
      </p:sp>
      <p:sp>
        <p:nvSpPr>
          <p:cNvPr id="29" name="Rectangle 28"/>
          <p:cNvSpPr/>
          <p:nvPr/>
        </p:nvSpPr>
        <p:spPr>
          <a:xfrm>
            <a:off x="393192" y="4773168"/>
            <a:ext cx="475488" cy="6766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93192" y="4773168"/>
            <a:ext cx="475488" cy="676656"/>
          </a:xfrm>
          <a:prstGeom prst="rect">
            <a:avLst/>
          </a:prstGeom>
          <a:noFill/>
        </p:spPr>
        <p:txBody>
          <a:bodyPr wrap="square" lIns="0" rIns="0" tIns="0" bIns="0" anchor="ctr">
            <a:spAutoFit/>
          </a:bodyPr>
          <a:lstStyle/>
          <a:p>
            <a:pPr algn="ctr">
              <a:spcAft>
                <a:spcPts val="0"/>
              </a:spcAft>
            </a:pPr>
            <a:r>
              <a:rPr sz="1900" b="1">
                <a:solidFill>
                  <a:srgbClr val="FFFFFF"/>
                </a:solidFill>
                <a:latin typeface="Arial"/>
                <a:ea typeface="Arial"/>
                <a:cs typeface="Arial"/>
              </a:rPr>
              <a:t>5</a:t>
            </a:r>
          </a:p>
        </p:txBody>
      </p:sp>
      <p:sp>
        <p:nvSpPr>
          <p:cNvPr id="31" name="Rectangle 30"/>
          <p:cNvSpPr/>
          <p:nvPr/>
        </p:nvSpPr>
        <p:spPr>
          <a:xfrm>
            <a:off x="868680" y="4773168"/>
            <a:ext cx="9427464" cy="67665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088136" y="4864608"/>
            <a:ext cx="6949440" cy="256032"/>
          </a:xfrm>
          <a:prstGeom prst="rect">
            <a:avLst/>
          </a:prstGeom>
          <a:noFill/>
        </p:spPr>
        <p:txBody>
          <a:bodyPr wrap="square" lIns="0" rIns="0" tIns="0" bIns="0" anchor="t">
            <a:spAutoFit/>
          </a:bodyPr>
          <a:lstStyle/>
          <a:p>
            <a:pPr algn="l">
              <a:spcAft>
                <a:spcPts val="0"/>
              </a:spcAft>
            </a:pPr>
            <a:r>
              <a:rPr sz="1300" b="1">
                <a:solidFill>
                  <a:srgbClr val="0B3041"/>
                </a:solidFill>
                <a:latin typeface="游ゴシック"/>
                <a:ea typeface="游ゴシック"/>
                <a:cs typeface="游ゴシック"/>
              </a:rPr>
              <a:t>Appendix</a:t>
            </a:r>
          </a:p>
        </p:txBody>
      </p:sp>
      <p:sp>
        <p:nvSpPr>
          <p:cNvPr id="33" name="TextBox 32"/>
          <p:cNvSpPr txBox="1"/>
          <p:nvPr/>
        </p:nvSpPr>
        <p:spPr>
          <a:xfrm>
            <a:off x="1088136" y="5157216"/>
            <a:ext cx="7589520" cy="219456"/>
          </a:xfrm>
          <a:prstGeom prst="rect">
            <a:avLst/>
          </a:prstGeom>
          <a:noFill/>
        </p:spPr>
        <p:txBody>
          <a:bodyPr wrap="square" lIns="0" rIns="0" tIns="0" bIns="0" anchor="t">
            <a:spAutoFit/>
          </a:bodyPr>
          <a:lstStyle/>
          <a:p>
            <a:pPr algn="l">
              <a:spcAft>
                <a:spcPts val="0"/>
              </a:spcAft>
            </a:pPr>
            <a:r>
              <a:rPr sz="900" b="0">
                <a:solidFill>
                  <a:srgbClr val="5A656B"/>
                </a:solidFill>
                <a:latin typeface="游ゴシック Medium"/>
                <a:ea typeface="游ゴシック Medium"/>
                <a:cs typeface="游ゴシック Medium"/>
              </a:rPr>
              <a:t>沿革／要確認事項・ネクストステップ</a:t>
            </a:r>
          </a:p>
        </p:txBody>
      </p:sp>
      <p:sp>
        <p:nvSpPr>
          <p:cNvPr id="34" name="TextBox 33"/>
          <p:cNvSpPr txBox="1"/>
          <p:nvPr/>
        </p:nvSpPr>
        <p:spPr>
          <a:xfrm>
            <a:off x="9107424" y="4864608"/>
            <a:ext cx="1005840" cy="256032"/>
          </a:xfrm>
          <a:prstGeom prst="rect">
            <a:avLst/>
          </a:prstGeom>
          <a:noFill/>
        </p:spPr>
        <p:txBody>
          <a:bodyPr wrap="square" lIns="0" rIns="0" tIns="0" bIns="0" anchor="t">
            <a:spAutoFit/>
          </a:bodyPr>
          <a:lstStyle/>
          <a:p>
            <a:pPr algn="r">
              <a:spcAft>
                <a:spcPts val="0"/>
              </a:spcAft>
            </a:pPr>
            <a:r>
              <a:rPr sz="1050" b="1">
                <a:solidFill>
                  <a:srgbClr val="0B3041"/>
                </a:solidFill>
                <a:latin typeface="Arial"/>
                <a:ea typeface="Arial"/>
                <a:cs typeface="Arial"/>
              </a:rPr>
              <a:t>P. 29 - 30</a:t>
            </a:r>
          </a:p>
        </p:txBody>
      </p:sp>
      <p:sp>
        <p:nvSpPr>
          <p:cNvPr id="35" name="TextBox 34"/>
          <p:cNvSpPr txBox="1"/>
          <p:nvPr/>
        </p:nvSpPr>
        <p:spPr>
          <a:xfrm>
            <a:off x="393192" y="6766560"/>
            <a:ext cx="9902952" cy="521207"/>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ページ番号は本概要書のスライド番号です。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1188720" y="2743200"/>
            <a:ext cx="82296" cy="96012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81328" y="2761488"/>
            <a:ext cx="2743200" cy="457200"/>
          </a:xfrm>
          <a:prstGeom prst="rect">
            <a:avLst/>
          </a:prstGeom>
          <a:noFill/>
        </p:spPr>
        <p:txBody>
          <a:bodyPr wrap="square" lIns="0" rIns="0" tIns="0" bIns="0" anchor="t">
            <a:spAutoFit/>
          </a:bodyPr>
          <a:lstStyle/>
          <a:p>
            <a:pPr algn="l">
              <a:spcAft>
                <a:spcPts val="0"/>
              </a:spcAft>
            </a:pPr>
            <a:r>
              <a:rPr sz="1300" b="1">
                <a:solidFill>
                  <a:srgbClr val="0889C9"/>
                </a:solidFill>
                <a:latin typeface="Arial"/>
                <a:ea typeface="Arial"/>
                <a:cs typeface="Arial"/>
              </a:rPr>
              <a:t>Section 1</a:t>
            </a:r>
          </a:p>
        </p:txBody>
      </p:sp>
      <p:sp>
        <p:nvSpPr>
          <p:cNvPr id="5" name="TextBox 4"/>
          <p:cNvSpPr txBox="1"/>
          <p:nvPr/>
        </p:nvSpPr>
        <p:spPr>
          <a:xfrm>
            <a:off x="1481328" y="3145536"/>
            <a:ext cx="6858000" cy="566928"/>
          </a:xfrm>
          <a:prstGeom prst="rect">
            <a:avLst/>
          </a:prstGeom>
          <a:noFill/>
        </p:spPr>
        <p:txBody>
          <a:bodyPr wrap="square" lIns="0" rIns="0" tIns="0" bIns="0" anchor="t">
            <a:spAutoFit/>
          </a:bodyPr>
          <a:lstStyle/>
          <a:p>
            <a:pPr algn="l">
              <a:spcAft>
                <a:spcPts val="0"/>
              </a:spcAft>
            </a:pPr>
            <a:r>
              <a:rPr sz="2600" b="1">
                <a:solidFill>
                  <a:srgbClr val="FFFFFF"/>
                </a:solidFill>
                <a:latin typeface="游ゴシック"/>
                <a:ea typeface="游ゴシック"/>
                <a:cs typeface="游ゴシック"/>
              </a:rPr>
              <a:t>エグゼクティブ・サマリー</a:t>
            </a:r>
          </a:p>
        </p:txBody>
      </p:sp>
      <p:sp>
        <p:nvSpPr>
          <p:cNvPr id="6" name="TextBox 5"/>
          <p:cNvSpPr txBox="1"/>
          <p:nvPr/>
        </p:nvSpPr>
        <p:spPr>
          <a:xfrm>
            <a:off x="1517904" y="3977639"/>
            <a:ext cx="7315200" cy="1645920"/>
          </a:xfrm>
          <a:prstGeom prst="rect">
            <a:avLst/>
          </a:prstGeom>
          <a:noFill/>
        </p:spPr>
        <p:txBody>
          <a:bodyPr wrap="square" lIns="0" rIns="0" tIns="0" bIns="0" anchor="t">
            <a:spAutoFit/>
          </a:bodyPr>
          <a:lstStyle/>
          <a:p>
            <a:pPr algn="l">
              <a:spcAft>
                <a:spcPts val="500"/>
              </a:spcAft>
            </a:pPr>
            <a:r>
              <a:rPr sz="1100" b="0">
                <a:solidFill>
                  <a:srgbClr val="C9D6DC"/>
                </a:solidFill>
                <a:latin typeface="游ゴシック"/>
                <a:ea typeface="游ゴシック"/>
                <a:cs typeface="游ゴシック"/>
              </a:rPr>
              <a:t>—  本件サマリー</a:t>
            </a:r>
          </a:p>
          <a:p>
            <a:pPr algn="l">
              <a:spcAft>
                <a:spcPts val="500"/>
              </a:spcAft>
            </a:pPr>
            <a:r>
              <a:rPr sz="1100" b="0">
                <a:solidFill>
                  <a:srgbClr val="C9D6DC"/>
                </a:solidFill>
                <a:latin typeface="游ゴシック"/>
                <a:ea typeface="游ゴシック"/>
                <a:cs typeface="游ゴシック"/>
              </a:rPr>
              <a:t>—  会社概要</a:t>
            </a:r>
          </a:p>
          <a:p>
            <a:pPr algn="l">
              <a:spcAft>
                <a:spcPts val="500"/>
              </a:spcAft>
            </a:pPr>
            <a:r>
              <a:rPr sz="1100" b="0">
                <a:solidFill>
                  <a:srgbClr val="C9D6DC"/>
                </a:solidFill>
                <a:latin typeface="游ゴシック"/>
                <a:ea typeface="游ゴシック"/>
                <a:cs typeface="游ゴシック"/>
              </a:rPr>
              <a:t>—  財務ハイライト（損益計算書）</a:t>
            </a:r>
          </a:p>
          <a:p>
            <a:pPr algn="l">
              <a:spcAft>
                <a:spcPts val="500"/>
              </a:spcAft>
            </a:pPr>
            <a:r>
              <a:rPr sz="1100" b="0">
                <a:solidFill>
                  <a:srgbClr val="C9D6DC"/>
                </a:solidFill>
                <a:latin typeface="游ゴシック"/>
                <a:ea typeface="游ゴシック"/>
                <a:cs typeface="游ゴシック"/>
              </a:rPr>
              <a:t>—  財務ハイライト（貸借対照表）</a:t>
            </a:r>
          </a:p>
          <a:p>
            <a:pPr algn="l">
              <a:spcAft>
                <a:spcPts val="500"/>
              </a:spcAft>
            </a:pPr>
            <a:r>
              <a:rPr sz="1100" b="0">
                <a:solidFill>
                  <a:srgbClr val="C9D6DC"/>
                </a:solidFill>
                <a:latin typeface="游ゴシック"/>
                <a:ea typeface="游ゴシック"/>
                <a:cs typeface="游ゴシック"/>
              </a:rPr>
              <a:t>—  譲渡希望条件</a:t>
            </a:r>
          </a:p>
        </p:txBody>
      </p:sp>
      <p:sp>
        <p:nvSpPr>
          <p:cNvPr id="7" name="TextBox 6"/>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6E8692"/>
                </a:solidFill>
                <a:latin typeface="Arial"/>
                <a:ea typeface="Arial"/>
                <a:cs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1. エグゼクティブ・サマリー</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本件サマリー</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全国区の蕎麦ブランドを、週4日・昼のみ営業（年間200日）の状態のまま承継できる案件。EBITDAは6,801千円、純資産23,658千円、金融機関借入なし</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5</a:t>
            </a:r>
          </a:p>
        </p:txBody>
      </p:sp>
      <p:sp>
        <p:nvSpPr>
          <p:cNvPr id="9" name="Rectangle 8"/>
          <p:cNvSpPr/>
          <p:nvPr/>
        </p:nvSpPr>
        <p:spPr>
          <a:xfrm>
            <a:off x="393192" y="1481328"/>
            <a:ext cx="1389888" cy="9784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66344" y="1481328"/>
            <a:ext cx="1243584" cy="978408"/>
          </a:xfrm>
          <a:prstGeom prst="rect">
            <a:avLst/>
          </a:prstGeom>
          <a:noFill/>
        </p:spPr>
        <p:txBody>
          <a:bodyPr wrap="square" lIns="0" rIns="0" tIns="0" bIns="0" anchor="ctr">
            <a:spAutoFit/>
          </a:bodyPr>
          <a:lstStyle/>
          <a:p>
            <a:pPr algn="ctr">
              <a:spcAft>
                <a:spcPts val="0"/>
              </a:spcAft>
            </a:pPr>
            <a:r>
              <a:rPr sz="1150" b="1">
                <a:solidFill>
                  <a:srgbClr val="FFFFFF"/>
                </a:solidFill>
                <a:latin typeface="游ゴシック"/>
                <a:ea typeface="游ゴシック"/>
                <a:cs typeface="游ゴシック"/>
              </a:rPr>
              <a:t>ブランド</a:t>
            </a:r>
          </a:p>
        </p:txBody>
      </p:sp>
      <p:sp>
        <p:nvSpPr>
          <p:cNvPr id="11" name="Rectangle 10"/>
          <p:cNvSpPr/>
          <p:nvPr/>
        </p:nvSpPr>
        <p:spPr>
          <a:xfrm>
            <a:off x="1783080" y="1481328"/>
            <a:ext cx="8513064" cy="978408"/>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965960" y="1591056"/>
            <a:ext cx="8110728" cy="795528"/>
          </a:xfrm>
          <a:prstGeom prst="rect">
            <a:avLst/>
          </a:prstGeom>
          <a:noFill/>
        </p:spPr>
        <p:txBody>
          <a:bodyPr wrap="square" lIns="0" rIns="0" tIns="0" bIns="0" anchor="ctr">
            <a:spAutoFit/>
          </a:bodyPr>
          <a:lstStyle/>
          <a:p>
            <a:pPr algn="l">
              <a:lnSpc>
                <a:spcPct val="128000"/>
              </a:lnSpc>
              <a:spcAft>
                <a:spcPts val="0"/>
              </a:spcAft>
            </a:pPr>
            <a:r>
              <a:rPr sz="1000" b="0">
                <a:solidFill>
                  <a:srgbClr val="1A1A1A"/>
                </a:solidFill>
                <a:latin typeface="游ゴシック"/>
                <a:ea typeface="游ゴシック"/>
                <a:cs typeface="游ゴシック"/>
              </a:rPr>
              <a:t>食べログ「そば 百名店」選出、THE TABELOG AWARD 2022・2023 Bronze、Japan Restaurant Award 2016「茨城県 TOP1」。代表者は粗挽き蕎麦の第一人者として著書も持ち、業界内の評価も高い。玄そば・蕎麦粉は打心蕎庵・玉笑など同業有名店へ、石臼挽き小麦粉はキビヤベーカリー・ルヴァン等の著名ベーカリーへ卸売。</a:t>
            </a:r>
          </a:p>
        </p:txBody>
      </p:sp>
      <p:sp>
        <p:nvSpPr>
          <p:cNvPr id="13" name="Rectangle 12"/>
          <p:cNvSpPr/>
          <p:nvPr/>
        </p:nvSpPr>
        <p:spPr>
          <a:xfrm>
            <a:off x="393192" y="2551176"/>
            <a:ext cx="1389888" cy="9784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66344" y="2551176"/>
            <a:ext cx="1243584" cy="978408"/>
          </a:xfrm>
          <a:prstGeom prst="rect">
            <a:avLst/>
          </a:prstGeom>
          <a:noFill/>
        </p:spPr>
        <p:txBody>
          <a:bodyPr wrap="square" lIns="0" rIns="0" tIns="0" bIns="0" anchor="ctr">
            <a:spAutoFit/>
          </a:bodyPr>
          <a:lstStyle/>
          <a:p>
            <a:pPr algn="ctr">
              <a:spcAft>
                <a:spcPts val="0"/>
              </a:spcAft>
            </a:pPr>
            <a:r>
              <a:rPr sz="1150" b="1">
                <a:solidFill>
                  <a:srgbClr val="FFFFFF"/>
                </a:solidFill>
                <a:latin typeface="游ゴシック"/>
                <a:ea typeface="游ゴシック"/>
                <a:cs typeface="游ゴシック"/>
              </a:rPr>
              <a:t>収益構造</a:t>
            </a:r>
          </a:p>
        </p:txBody>
      </p:sp>
      <p:sp>
        <p:nvSpPr>
          <p:cNvPr id="15" name="Rectangle 14"/>
          <p:cNvSpPr/>
          <p:nvPr/>
        </p:nvSpPr>
        <p:spPr>
          <a:xfrm>
            <a:off x="1783080" y="2551176"/>
            <a:ext cx="8513064" cy="978408"/>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65960" y="2660904"/>
            <a:ext cx="8110728" cy="795528"/>
          </a:xfrm>
          <a:prstGeom prst="rect">
            <a:avLst/>
          </a:prstGeom>
          <a:noFill/>
        </p:spPr>
        <p:txBody>
          <a:bodyPr wrap="square" lIns="0" rIns="0" tIns="0" bIns="0" anchor="ctr">
            <a:spAutoFit/>
          </a:bodyPr>
          <a:lstStyle/>
          <a:p>
            <a:pPr algn="l">
              <a:lnSpc>
                <a:spcPct val="128000"/>
              </a:lnSpc>
              <a:spcAft>
                <a:spcPts val="0"/>
              </a:spcAft>
            </a:pPr>
            <a:r>
              <a:rPr sz="1000" b="0">
                <a:solidFill>
                  <a:srgbClr val="1A1A1A"/>
                </a:solidFill>
                <a:latin typeface="游ゴシック"/>
                <a:ea typeface="游ゴシック"/>
                <a:cs typeface="游ゴシック"/>
              </a:rPr>
              <a:t>2026年5月期 売上高22,484千円の内訳は、店頭飲食15,099千円（67.2％）、関係先への食材供給3,323千円（14.8％）、製粉・卸売2,273千円（10.1％）、通信販売・物販1,789千円（8.0％）。店舗一本足ではなく、製粉・卸・通販の4本柱を持つ。</a:t>
            </a:r>
          </a:p>
        </p:txBody>
      </p:sp>
      <p:sp>
        <p:nvSpPr>
          <p:cNvPr id="17" name="Rectangle 16"/>
          <p:cNvSpPr/>
          <p:nvPr/>
        </p:nvSpPr>
        <p:spPr>
          <a:xfrm>
            <a:off x="393192" y="3621024"/>
            <a:ext cx="1389888" cy="9784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6344" y="3621024"/>
            <a:ext cx="1243584" cy="978408"/>
          </a:xfrm>
          <a:prstGeom prst="rect">
            <a:avLst/>
          </a:prstGeom>
          <a:noFill/>
        </p:spPr>
        <p:txBody>
          <a:bodyPr wrap="square" lIns="0" rIns="0" tIns="0" bIns="0" anchor="ctr">
            <a:spAutoFit/>
          </a:bodyPr>
          <a:lstStyle/>
          <a:p>
            <a:pPr algn="ctr">
              <a:spcAft>
                <a:spcPts val="0"/>
              </a:spcAft>
            </a:pPr>
            <a:r>
              <a:rPr sz="1150" b="1">
                <a:solidFill>
                  <a:srgbClr val="FFFFFF"/>
                </a:solidFill>
                <a:latin typeface="游ゴシック"/>
                <a:ea typeface="游ゴシック"/>
                <a:cs typeface="游ゴシック"/>
              </a:rPr>
              <a:t>資産・財務</a:t>
            </a:r>
          </a:p>
        </p:txBody>
      </p:sp>
      <p:sp>
        <p:nvSpPr>
          <p:cNvPr id="19" name="Rectangle 18"/>
          <p:cNvSpPr/>
          <p:nvPr/>
        </p:nvSpPr>
        <p:spPr>
          <a:xfrm>
            <a:off x="1783080" y="3621024"/>
            <a:ext cx="8513064" cy="978408"/>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65960" y="3730752"/>
            <a:ext cx="8110728" cy="795528"/>
          </a:xfrm>
          <a:prstGeom prst="rect">
            <a:avLst/>
          </a:prstGeom>
          <a:noFill/>
        </p:spPr>
        <p:txBody>
          <a:bodyPr wrap="square" lIns="0" rIns="0" tIns="0" bIns="0" anchor="ctr">
            <a:spAutoFit/>
          </a:bodyPr>
          <a:lstStyle/>
          <a:p>
            <a:pPr algn="l">
              <a:lnSpc>
                <a:spcPct val="128000"/>
              </a:lnSpc>
              <a:spcAft>
                <a:spcPts val="0"/>
              </a:spcAft>
            </a:pPr>
            <a:r>
              <a:rPr sz="1000" b="0">
                <a:solidFill>
                  <a:srgbClr val="1A1A1A"/>
                </a:solidFill>
                <a:latin typeface="游ゴシック"/>
                <a:ea typeface="游ゴシック"/>
                <a:cs typeface="游ゴシック"/>
              </a:rPr>
              <a:t>代表者が私財を投じて2002年に建築した板倉造・茅葺きの自社店舗（取得価額104,599千円／期末簿価39,249千円）と土地を保有。金融機関借入はゼロ、長期借入金32,744千円は全額が代表者・配偶者からの無利息借入。純資産23,658千円。</a:t>
            </a:r>
          </a:p>
        </p:txBody>
      </p:sp>
      <p:sp>
        <p:nvSpPr>
          <p:cNvPr id="21" name="Rectangle 20"/>
          <p:cNvSpPr/>
          <p:nvPr/>
        </p:nvSpPr>
        <p:spPr>
          <a:xfrm>
            <a:off x="393192" y="4690872"/>
            <a:ext cx="1389888" cy="9784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6344" y="4690872"/>
            <a:ext cx="1243584" cy="978408"/>
          </a:xfrm>
          <a:prstGeom prst="rect">
            <a:avLst/>
          </a:prstGeom>
          <a:noFill/>
        </p:spPr>
        <p:txBody>
          <a:bodyPr wrap="square" lIns="0" rIns="0" tIns="0" bIns="0" anchor="ctr">
            <a:spAutoFit/>
          </a:bodyPr>
          <a:lstStyle/>
          <a:p>
            <a:pPr algn="ctr">
              <a:spcAft>
                <a:spcPts val="0"/>
              </a:spcAft>
            </a:pPr>
            <a:r>
              <a:rPr sz="1150" b="1">
                <a:solidFill>
                  <a:srgbClr val="FFFFFF"/>
                </a:solidFill>
                <a:latin typeface="游ゴシック"/>
                <a:ea typeface="游ゴシック"/>
                <a:cs typeface="游ゴシック"/>
              </a:rPr>
              <a:t>成長余地</a:t>
            </a:r>
          </a:p>
        </p:txBody>
      </p:sp>
      <p:sp>
        <p:nvSpPr>
          <p:cNvPr id="23" name="Rectangle 22"/>
          <p:cNvSpPr/>
          <p:nvPr/>
        </p:nvSpPr>
        <p:spPr>
          <a:xfrm>
            <a:off x="1783080" y="4690872"/>
            <a:ext cx="8513064" cy="978408"/>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65960" y="4800600"/>
            <a:ext cx="8110728" cy="795528"/>
          </a:xfrm>
          <a:prstGeom prst="rect">
            <a:avLst/>
          </a:prstGeom>
          <a:noFill/>
        </p:spPr>
        <p:txBody>
          <a:bodyPr wrap="square" lIns="0" rIns="0" tIns="0" bIns="0" anchor="ctr">
            <a:spAutoFit/>
          </a:bodyPr>
          <a:lstStyle/>
          <a:p>
            <a:pPr algn="l">
              <a:lnSpc>
                <a:spcPct val="128000"/>
              </a:lnSpc>
              <a:spcAft>
                <a:spcPts val="0"/>
              </a:spcAft>
            </a:pPr>
            <a:r>
              <a:rPr sz="1000" b="0">
                <a:solidFill>
                  <a:srgbClr val="1A1A1A"/>
                </a:solidFill>
                <a:latin typeface="游ゴシック"/>
                <a:ea typeface="游ゴシック"/>
                <a:cs typeface="游ゴシック"/>
              </a:rPr>
              <a:t>営業は金・土・日・月の週4日、11:30〜14:30の昼のみ・売り切りじまい（年間200日）。営業日・営業時間の拡大、「慈久庵」「古式けんちんそば」の商標を活かした商品展開・多店舗展開、ふるさと納税・ECの拡販など、打ち手の余地が大きい。</a:t>
            </a:r>
          </a:p>
        </p:txBody>
      </p:sp>
      <p:sp>
        <p:nvSpPr>
          <p:cNvPr id="25" name="Rectangle 24"/>
          <p:cNvSpPr/>
          <p:nvPr/>
        </p:nvSpPr>
        <p:spPr>
          <a:xfrm>
            <a:off x="393192" y="5760720"/>
            <a:ext cx="1389888" cy="978408"/>
          </a:xfrm>
          <a:prstGeom prst="rect">
            <a:avLst/>
          </a:prstGeom>
          <a:solidFill>
            <a:srgbClr val="7A3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6344" y="5760720"/>
            <a:ext cx="1243584" cy="978408"/>
          </a:xfrm>
          <a:prstGeom prst="rect">
            <a:avLst/>
          </a:prstGeom>
          <a:noFill/>
        </p:spPr>
        <p:txBody>
          <a:bodyPr wrap="square" lIns="0" rIns="0" tIns="0" bIns="0" anchor="ctr">
            <a:spAutoFit/>
          </a:bodyPr>
          <a:lstStyle/>
          <a:p>
            <a:pPr algn="ctr">
              <a:spcAft>
                <a:spcPts val="0"/>
              </a:spcAft>
            </a:pPr>
            <a:r>
              <a:rPr sz="1150" b="1">
                <a:solidFill>
                  <a:srgbClr val="FFFFFF"/>
                </a:solidFill>
                <a:latin typeface="游ゴシック"/>
                <a:ea typeface="游ゴシック"/>
                <a:cs typeface="游ゴシック"/>
              </a:rPr>
              <a:t>留意点</a:t>
            </a:r>
          </a:p>
        </p:txBody>
      </p:sp>
      <p:sp>
        <p:nvSpPr>
          <p:cNvPr id="27" name="Rectangle 26"/>
          <p:cNvSpPr/>
          <p:nvPr/>
        </p:nvSpPr>
        <p:spPr>
          <a:xfrm>
            <a:off x="1783080" y="5760720"/>
            <a:ext cx="8513064" cy="978408"/>
          </a:xfrm>
          <a:prstGeom prst="rect">
            <a:avLst/>
          </a:prstGeom>
          <a:solidFill>
            <a:srgbClr val="FCF3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65960" y="5870448"/>
            <a:ext cx="8110728" cy="795528"/>
          </a:xfrm>
          <a:prstGeom prst="rect">
            <a:avLst/>
          </a:prstGeom>
          <a:noFill/>
        </p:spPr>
        <p:txBody>
          <a:bodyPr wrap="square" lIns="0" rIns="0" tIns="0" bIns="0" anchor="ctr">
            <a:spAutoFit/>
          </a:bodyPr>
          <a:lstStyle/>
          <a:p>
            <a:pPr algn="l">
              <a:lnSpc>
                <a:spcPct val="128000"/>
              </a:lnSpc>
              <a:spcAft>
                <a:spcPts val="0"/>
              </a:spcAft>
            </a:pPr>
            <a:r>
              <a:rPr sz="1000" b="0">
                <a:solidFill>
                  <a:srgbClr val="1A1A1A"/>
                </a:solidFill>
                <a:latin typeface="游ゴシック"/>
                <a:ea typeface="游ゴシック"/>
                <a:cs typeface="游ゴシック"/>
              </a:rPr>
              <a:t>売上高は30,121千円（2022年5月期）から22,484千円（2026年5月期）へ4期で25.4％減少。店頭日商も86千円→75千円へ低下。代表者・配偶者はいずれも無報酬であり、新体制では職人人件費の手当が必要（P.7 参照）。店舗建物は未登記で、代表者夫妻が2階に居住中。</a:t>
            </a:r>
          </a:p>
        </p:txBody>
      </p:sp>
      <p:sp>
        <p:nvSpPr>
          <p:cNvPr id="29" name="TextBox 28"/>
          <p:cNvSpPr txBox="1"/>
          <p:nvPr/>
        </p:nvSpPr>
        <p:spPr>
          <a:xfrm>
            <a:off x="393192" y="6784848"/>
            <a:ext cx="9902952" cy="502919"/>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売上構成の区分は、総勘定元帳の相手科目・取引先欄により弊社が集計したものです（P.14・P.16 参照）。</a:t>
            </a:r>
          </a:p>
          <a:p>
            <a:pPr algn="l">
              <a:lnSpc>
                <a:spcPct val="108000"/>
              </a:lnSpc>
              <a:spcAft>
                <a:spcPts val="100"/>
              </a:spcAft>
            </a:pPr>
            <a:r>
              <a:rPr sz="800" b="0">
                <a:solidFill>
                  <a:srgbClr val="5A656B"/>
                </a:solidFill>
                <a:latin typeface="游ゴシック Medium"/>
                <a:ea typeface="游ゴシック Medium"/>
                <a:cs typeface="游ゴシック Medium"/>
              </a:rPr>
              <a:t>※ 外部評価は店内に掲示された盾・楯・ステッカー、および掲載誌の実査により確認しています。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1. エグゼクティブ・サマリー</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会社概要</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1990年に東京・南阿佐ヶ谷で創業し、2002年に代表者の生まれ故郷である常陸太田へ移転。株主・役員は代表者夫妻のみ</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6</a:t>
            </a:r>
          </a:p>
        </p:txBody>
      </p:sp>
      <p:graphicFrame>
        <p:nvGraphicFramePr>
          <p:cNvPr id="9" name="Table 8"/>
          <p:cNvGraphicFramePr>
            <a:graphicFrameLocks noGrp="1"/>
          </p:cNvGraphicFramePr>
          <p:nvPr/>
        </p:nvGraphicFramePr>
        <p:xfrm>
          <a:off x="393192" y="1481328"/>
          <a:ext cx="9902952" cy="4718304"/>
        </p:xfrm>
        <a:graphic>
          <a:graphicData uri="http://schemas.openxmlformats.org/drawingml/2006/table">
            <a:tbl>
              <a:tblPr firstRow="0" bandRow="0">
                <a:tableStyleId>{5C22544A-7EE6-4342-B048-85BDC9FD1C3A}</a:tableStyleId>
              </a:tblPr>
              <a:tblGrid>
                <a:gridCol w="1481328"/>
                <a:gridCol w="8421624"/>
              </a:tblGrid>
              <a:tr h="256032">
                <a:tc>
                  <a:txBody>
                    <a:bodyPr wrap="square"/>
                    <a:lstStyle/>
                    <a:p>
                      <a:pPr algn="ctr">
                        <a:spcAft>
                          <a:spcPts val="0"/>
                        </a:spcAft>
                      </a:pPr>
                      <a:r>
                        <a:rPr sz="86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游ゴシック"/>
                          <a:ea typeface="游ゴシック"/>
                          <a:cs typeface="游ゴシック"/>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会社名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株式会社慈久庵（店舗名：慈久庵／ https://www.jikyuan.co.jp/ ／ TEL 0294-70-6290）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本社所在地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茨城県常陸太田市天下野町2162番地　（店舗は本店1拠点のみ。竜神大吊橋の近隣）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設立／創業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1990年4月16日設立（第37期）　※1990年に東京・南阿佐ヶ谷で「慈久庵」を開業、2002年に現在地へ移転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10,000千円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代表者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宣夫（代表取締役／1947年 茨城県生まれ・79歳）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株主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宣夫（130株／65.0％）、小川 喜久子（70株／35.0％）　計200株</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事業内容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そば店「慈久庵」の経営（店内飲食・昼のみ・売り切りじまい）／蕎麦粉・小麦粉の製粉および卸売／乾麺・そばつゆ・本返し・醤・味噌の製造販売、通信販売、ふるさと納税返礼品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営業日・時間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営業日：金・土・日・月（定休：火・水・木）　営業時間：11:30〜14:30（売り切りじまい）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従業員数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0名（2026年5月31日時点）　※代表者・配偶者の2名で運営。繁忙時は親族が就労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許認可等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飲食店営業許可　ほか　※許可証の写しは未受領（要確認）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22,484千円（2026年5月期）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6,801千円（2026年5月期）　※営業利益△211千円＋減価償却費7,012千円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純資産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23,658千円（2026年5月期）　※金融機関借入なし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関係会社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株式会社慈久庵咸亨酒（出資金1,000千円）、株式会社慈久庵伊勢又（同100千円）　※本件での取扱いは要確認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関連店舗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塩町館（2005年開店の手打ち饂飩店）　※営業権・什器備品は元従業員へ譲渡済、建物のみ当社に残存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8892">
                <a:tc>
                  <a:txBody>
                    <a:bodyPr wrap="square"/>
                    <a:lstStyle/>
                    <a:p>
                      <a:pPr algn="l">
                        <a:spcAft>
                          <a:spcPts val="0"/>
                        </a:spcAft>
                      </a:pPr>
                      <a:r>
                        <a:rPr sz="860" b="0">
                          <a:solidFill>
                            <a:srgbClr val="1A1A1A"/>
                          </a:solidFill>
                          <a:latin typeface="游ゴシック"/>
                          <a:ea typeface="游ゴシック"/>
                          <a:cs typeface="游ゴシック"/>
                        </a:rPr>
                        <a:t>譲渡理由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代表者の高齢化（79歳）および後継者不在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6455664"/>
            <a:ext cx="9902952" cy="832103"/>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会社名・本店所在地・設立年月日・資本金・発行済株式総数・株主構成・役員構成は法人登記簿（2026年9月15日現在）に基づきます。</a:t>
            </a:r>
          </a:p>
          <a:p>
            <a:pPr algn="l">
              <a:lnSpc>
                <a:spcPct val="108000"/>
              </a:lnSpc>
              <a:spcAft>
                <a:spcPts val="100"/>
              </a:spcAft>
            </a:pPr>
            <a:r>
              <a:rPr sz="800" b="0">
                <a:solidFill>
                  <a:srgbClr val="5A656B"/>
                </a:solidFill>
                <a:latin typeface="游ゴシック Medium"/>
                <a:ea typeface="游ゴシック Medium"/>
                <a:cs typeface="游ゴシック Medium"/>
              </a:rPr>
              <a:t>※ 営業日・営業時間は掲載誌および現地実査により確認しており、総勘定元帳から集計した実績営業日数（2026年5月期 200日）とも整合しています。</a:t>
            </a:r>
          </a:p>
          <a:p>
            <a:pPr algn="l">
              <a:lnSpc>
                <a:spcPct val="108000"/>
              </a:lnSpc>
              <a:spcAft>
                <a:spcPts val="100"/>
              </a:spcAft>
            </a:pPr>
            <a:r>
              <a:rPr sz="800" b="0">
                <a:solidFill>
                  <a:srgbClr val="5A656B"/>
                </a:solidFill>
                <a:latin typeface="游ゴシック Medium"/>
                <a:ea typeface="游ゴシック Medium"/>
                <a:cs typeface="游ゴシック Medium"/>
              </a:rPr>
              <a:t>※ 外部評価・代表者経歴は P.11、メニュー・物販商品は P.13 をご参照ください。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1. エグゼクティブ・サマリー</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財務ハイライト（損益計算書）</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売上高は4期で25.4％減少し営業損益は赤字転落も、年間7,012千円の減価償却費を戻すとEBITDAは6,801千円を確保</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7</a:t>
            </a:r>
          </a:p>
        </p:txBody>
      </p:sp>
      <p:sp>
        <p:nvSpPr>
          <p:cNvPr id="9" name="TextBox 8"/>
          <p:cNvSpPr txBox="1"/>
          <p:nvPr/>
        </p:nvSpPr>
        <p:spPr>
          <a:xfrm>
            <a:off x="393192" y="1481328"/>
            <a:ext cx="5961888"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（単位：千円）</a:t>
            </a:r>
          </a:p>
        </p:txBody>
      </p:sp>
      <p:graphicFrame>
        <p:nvGraphicFramePr>
          <p:cNvPr id="10" name="Table 9"/>
          <p:cNvGraphicFramePr>
            <a:graphicFrameLocks noGrp="1"/>
          </p:cNvGraphicFramePr>
          <p:nvPr/>
        </p:nvGraphicFramePr>
        <p:xfrm>
          <a:off x="393192" y="1700784"/>
          <a:ext cx="5961884" cy="2514600"/>
        </p:xfrm>
        <a:graphic>
          <a:graphicData uri="http://schemas.openxmlformats.org/drawingml/2006/table">
            <a:tbl>
              <a:tblPr firstRow="0" bandRow="0">
                <a:tableStyleId>{5C22544A-7EE6-4342-B048-85BDC9FD1C3A}</a:tableStyleId>
              </a:tblPr>
              <a:tblGrid>
                <a:gridCol w="1625139"/>
                <a:gridCol w="867349"/>
                <a:gridCol w="867349"/>
                <a:gridCol w="867349"/>
                <a:gridCol w="867349"/>
                <a:gridCol w="867349"/>
              </a:tblGrid>
              <a:tr h="274320">
                <a:tc>
                  <a:txBody>
                    <a:bodyPr wrap="square"/>
                    <a:lstStyle/>
                    <a:p>
                      <a:pPr algn="ctr">
                        <a:spcAft>
                          <a:spcPts val="0"/>
                        </a:spcAft>
                      </a:pPr>
                      <a:r>
                        <a:rPr sz="840" b="1">
                          <a:solidFill>
                            <a:srgbClr val="FFFFFF"/>
                          </a:solidFill>
                          <a:latin typeface="游ゴシック"/>
                          <a:ea typeface="游ゴシック"/>
                          <a:cs typeface="游ゴシック"/>
                        </a:rPr>
                        <a:t>科目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2022年5月期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2023年5月期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2024年5月期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2025年5月期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2026年5月期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0">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13,021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10,365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6,430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7,554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6,591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2,810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0">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6,800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0">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5,561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2,511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7,380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0">
                          <a:solidFill>
                            <a:srgbClr val="1A1A1A"/>
                          </a:solidFill>
                          <a:latin typeface="游ゴシック"/>
                          <a:ea typeface="游ゴシック"/>
                          <a:cs typeface="游ゴシック"/>
                        </a:rPr>
                        <a:t>調整項目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1">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8,350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8,575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028">
                <a:tc>
                  <a:txBody>
                    <a:bodyPr wrap="square"/>
                    <a:lstStyle/>
                    <a:p>
                      <a:pPr algn="l">
                        <a:spcAft>
                          <a:spcPts val="0"/>
                        </a:spcAft>
                      </a:pPr>
                      <a:r>
                        <a:rPr sz="840" b="0">
                          <a:solidFill>
                            <a:srgbClr val="1A1A1A"/>
                          </a:solidFill>
                          <a:latin typeface="游ゴシック"/>
                          <a:ea typeface="游ゴシック"/>
                          <a:cs typeface="游ゴシック"/>
                        </a:rPr>
                        <a:t>売上総利益率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1" name="Rectangle 10"/>
          <p:cNvSpPr/>
          <p:nvPr/>
        </p:nvSpPr>
        <p:spPr>
          <a:xfrm>
            <a:off x="6537959" y="1700784"/>
            <a:ext cx="375818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647688" y="1700784"/>
            <a:ext cx="353872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Comment</a:t>
            </a:r>
          </a:p>
        </p:txBody>
      </p:sp>
      <p:sp>
        <p:nvSpPr>
          <p:cNvPr id="13" name="Rectangle 12"/>
          <p:cNvSpPr/>
          <p:nvPr/>
        </p:nvSpPr>
        <p:spPr>
          <a:xfrm>
            <a:off x="6537959" y="1938528"/>
            <a:ext cx="3758184" cy="2633472"/>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665975" y="2048256"/>
            <a:ext cx="3502152" cy="2414016"/>
          </a:xfrm>
          <a:prstGeom prst="rect">
            <a:avLst/>
          </a:prstGeom>
          <a:noFill/>
        </p:spPr>
        <p:txBody>
          <a:bodyPr wrap="square" lIns="0" rIns="0" tIns="0" bIns="0" anchor="t">
            <a:spAutoFit/>
          </a:bodyPr>
          <a:lstStyle/>
          <a:p>
            <a:pPr algn="l">
              <a:lnSpc>
                <a:spcPct val="116000"/>
              </a:lnSpc>
              <a:spcAft>
                <a:spcPts val="200"/>
              </a:spcAft>
            </a:pPr>
            <a:r>
              <a:rPr sz="850" b="1">
                <a:solidFill>
                  <a:srgbClr val="0B3041"/>
                </a:solidFill>
                <a:latin typeface="游ゴシック"/>
                <a:ea typeface="游ゴシック"/>
                <a:cs typeface="游ゴシック"/>
              </a:rPr>
              <a:t>≪売上高≫ </a:t>
            </a:r>
            <a:r>
              <a:rPr sz="850" b="0">
                <a:solidFill>
                  <a:srgbClr val="1A1A1A"/>
                </a:solidFill>
                <a:latin typeface="游ゴシック"/>
                <a:ea typeface="游ゴシック"/>
                <a:cs typeface="游ゴシック"/>
              </a:rPr>
              <a:t>4期連続で減収。営業日数は203日→200日とほぼ横ばいであり、減収は店頭日商の低下による（P.15）。</a:t>
            </a:r>
          </a:p>
          <a:p>
            <a:pPr algn="l">
              <a:spcAft>
                <a:spcPts val="200"/>
              </a:spcAft>
            </a:pPr>
          </a:p>
          <a:p>
            <a:pPr algn="l">
              <a:lnSpc>
                <a:spcPct val="116000"/>
              </a:lnSpc>
              <a:spcAft>
                <a:spcPts val="200"/>
              </a:spcAft>
            </a:pPr>
            <a:r>
              <a:rPr sz="850" b="1">
                <a:solidFill>
                  <a:srgbClr val="0B3041"/>
                </a:solidFill>
                <a:latin typeface="游ゴシック"/>
                <a:ea typeface="游ゴシック"/>
                <a:cs typeface="游ゴシック"/>
              </a:rPr>
              <a:t>≪売上総利益≫ </a:t>
            </a:r>
            <a:r>
              <a:rPr sz="850" b="0">
                <a:solidFill>
                  <a:srgbClr val="1A1A1A"/>
                </a:solidFill>
                <a:latin typeface="游ゴシック"/>
                <a:ea typeface="游ゴシック"/>
                <a:cs typeface="游ゴシック"/>
              </a:rPr>
              <a:t>粗利率は43.2％→26.9％へ低下。製造原価の約4割を占める減価償却費7,012千円が固定費のため、減収が粗利率低下に直結する構造。</a:t>
            </a:r>
          </a:p>
          <a:p>
            <a:pPr algn="l">
              <a:spcAft>
                <a:spcPts val="200"/>
              </a:spcAft>
            </a:pPr>
          </a:p>
          <a:p>
            <a:pPr algn="l">
              <a:lnSpc>
                <a:spcPct val="116000"/>
              </a:lnSpc>
              <a:spcAft>
                <a:spcPts val="200"/>
              </a:spcAft>
            </a:pPr>
            <a:r>
              <a:rPr sz="850" b="1">
                <a:solidFill>
                  <a:srgbClr val="0B3041"/>
                </a:solidFill>
                <a:latin typeface="游ゴシック"/>
                <a:ea typeface="游ゴシック"/>
                <a:cs typeface="游ゴシック"/>
              </a:rPr>
              <a:t>≪営業利益≫ </a:t>
            </a:r>
            <a:r>
              <a:rPr sz="850" b="0">
                <a:solidFill>
                  <a:srgbClr val="1A1A1A"/>
                </a:solidFill>
                <a:latin typeface="游ゴシック"/>
                <a:ea typeface="游ゴシック"/>
                <a:cs typeface="游ゴシック"/>
              </a:rPr>
              <a:t>26年5月期は△211千円。販管費6,267千円は前期比ほぼ横ばいで、赤字化は粗利の減少による。</a:t>
            </a:r>
          </a:p>
          <a:p>
            <a:pPr algn="l">
              <a:spcAft>
                <a:spcPts val="200"/>
              </a:spcAft>
            </a:pPr>
          </a:p>
          <a:p>
            <a:pPr algn="l">
              <a:lnSpc>
                <a:spcPct val="116000"/>
              </a:lnSpc>
              <a:spcAft>
                <a:spcPts val="200"/>
              </a:spcAft>
            </a:pPr>
            <a:r>
              <a:rPr sz="850" b="1">
                <a:solidFill>
                  <a:srgbClr val="0B3041"/>
                </a:solidFill>
                <a:latin typeface="游ゴシック"/>
                <a:ea typeface="游ゴシック"/>
                <a:cs typeface="游ゴシック"/>
              </a:rPr>
              <a:t>≪見通し≫ </a:t>
            </a:r>
            <a:r>
              <a:rPr sz="850" b="0">
                <a:solidFill>
                  <a:srgbClr val="1A1A1A"/>
                </a:solidFill>
                <a:latin typeface="游ゴシック"/>
                <a:ea typeface="游ゴシック"/>
                <a:cs typeface="游ゴシック"/>
              </a:rPr>
              <a:t>減価償却費は今後逓減する見込み。営業日数・営業時間の拡大が最も直接的な打ち手。</a:t>
            </a:r>
          </a:p>
        </p:txBody>
      </p:sp>
      <p:sp>
        <p:nvSpPr>
          <p:cNvPr id="15" name="Rectangle 14"/>
          <p:cNvSpPr/>
          <p:nvPr/>
        </p:nvSpPr>
        <p:spPr>
          <a:xfrm>
            <a:off x="6537959" y="4663440"/>
            <a:ext cx="375818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47688" y="4663440"/>
            <a:ext cx="353872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【調整項目】</a:t>
            </a:r>
          </a:p>
        </p:txBody>
      </p:sp>
      <p:sp>
        <p:nvSpPr>
          <p:cNvPr id="17" name="Rectangle 16"/>
          <p:cNvSpPr/>
          <p:nvPr/>
        </p:nvSpPr>
        <p:spPr>
          <a:xfrm>
            <a:off x="6537959" y="4901183"/>
            <a:ext cx="3758184" cy="1481328"/>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65975" y="5010912"/>
            <a:ext cx="3502152" cy="1316736"/>
          </a:xfrm>
          <a:prstGeom prst="rect">
            <a:avLst/>
          </a:prstGeom>
          <a:noFill/>
        </p:spPr>
        <p:txBody>
          <a:bodyPr wrap="square" lIns="0" rIns="0" tIns="0" bIns="0" anchor="t">
            <a:spAutoFit/>
          </a:bodyPr>
          <a:lstStyle/>
          <a:p>
            <a:pPr algn="l">
              <a:lnSpc>
                <a:spcPct val="116000"/>
              </a:lnSpc>
              <a:spcAft>
                <a:spcPts val="200"/>
              </a:spcAft>
            </a:pPr>
            <a:r>
              <a:rPr sz="850" b="1">
                <a:solidFill>
                  <a:srgbClr val="0B3041"/>
                </a:solidFill>
                <a:latin typeface="游ゴシック"/>
                <a:ea typeface="游ゴシック"/>
                <a:cs typeface="游ゴシック"/>
              </a:rPr>
              <a:t>≪P/L上の調整項目≫ </a:t>
            </a:r>
            <a:r>
              <a:rPr sz="850" b="0">
                <a:solidFill>
                  <a:srgbClr val="1A1A1A"/>
                </a:solidFill>
                <a:latin typeface="游ゴシック"/>
                <a:ea typeface="游ゴシック"/>
                <a:cs typeface="游ゴシック"/>
              </a:rPr>
              <a:t>加減算すべき調整項目は認められません。代表者・配偶者は無報酬のため加算すべき役員報酬はゼロ、補助金収入・圧縮記帳損等の非経常損益は営業外に計上されています。</a:t>
            </a:r>
          </a:p>
          <a:p>
            <a:pPr algn="l">
              <a:spcAft>
                <a:spcPts val="200"/>
              </a:spcAft>
            </a:pPr>
          </a:p>
          <a:p>
            <a:pPr algn="l">
              <a:spcAft>
                <a:spcPts val="200"/>
              </a:spcAft>
            </a:pPr>
            <a:r>
              <a:rPr sz="900" b="1">
                <a:solidFill>
                  <a:srgbClr val="0B3041"/>
                </a:solidFill>
                <a:latin typeface="游ゴシック"/>
                <a:ea typeface="游ゴシック"/>
                <a:cs typeface="游ゴシック"/>
              </a:rPr>
              <a:t>✓ 調整後EBITDA（過去3期平均）は 7,908千円</a:t>
            </a:r>
          </a:p>
          <a:p>
            <a:pPr algn="l">
              <a:spcAft>
                <a:spcPts val="200"/>
              </a:spcAft>
            </a:pPr>
            <a:r>
              <a:rPr sz="900" b="1">
                <a:solidFill>
                  <a:srgbClr val="0B3041"/>
                </a:solidFill>
                <a:latin typeface="游ゴシック"/>
                <a:ea typeface="游ゴシック"/>
                <a:cs typeface="游ゴシック"/>
              </a:rPr>
              <a:t>✓ 直近2期平均は 7,688千円</a:t>
            </a:r>
          </a:p>
        </p:txBody>
      </p:sp>
      <p:sp>
        <p:nvSpPr>
          <p:cNvPr id="19" name="Rectangle 18"/>
          <p:cNvSpPr/>
          <p:nvPr/>
        </p:nvSpPr>
        <p:spPr>
          <a:xfrm>
            <a:off x="393192" y="4315968"/>
            <a:ext cx="5961888" cy="237744"/>
          </a:xfrm>
          <a:prstGeom prst="rect">
            <a:avLst/>
          </a:prstGeom>
          <a:solidFill>
            <a:srgbClr val="7A5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2920" y="4315968"/>
            <a:ext cx="5742431"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＜参考＞代表者報酬を正常化した場合の試算（仮説）</a:t>
            </a:r>
          </a:p>
        </p:txBody>
      </p:sp>
      <p:graphicFrame>
        <p:nvGraphicFramePr>
          <p:cNvPr id="21" name="Table 20"/>
          <p:cNvGraphicFramePr>
            <a:graphicFrameLocks noGrp="1"/>
          </p:cNvGraphicFramePr>
          <p:nvPr/>
        </p:nvGraphicFramePr>
        <p:xfrm>
          <a:off x="393192" y="4553712"/>
          <a:ext cx="5961884" cy="937260"/>
        </p:xfrm>
        <a:graphic>
          <a:graphicData uri="http://schemas.openxmlformats.org/drawingml/2006/table">
            <a:tbl>
              <a:tblPr firstRow="0" bandRow="0">
                <a:tableStyleId>{5C22544A-7EE6-4342-B048-85BDC9FD1C3A}</a:tableStyleId>
              </a:tblPr>
              <a:tblGrid>
                <a:gridCol w="2450591"/>
                <a:gridCol w="1170431"/>
                <a:gridCol w="1170431"/>
                <a:gridCol w="1170431"/>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7A5A1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2024年5月期</a:t>
                      </a:r>
                    </a:p>
                  </a:txBody>
                  <a:tcPr marL="45720" marR="45720" marT="9144" marB="9144" anchor="ctr">
                    <a:solidFill>
                      <a:srgbClr val="7A5A1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2025年5月期</a:t>
                      </a:r>
                    </a:p>
                  </a:txBody>
                  <a:tcPr marL="45720" marR="45720" marT="9144" marB="9144" anchor="ctr">
                    <a:solidFill>
                      <a:srgbClr val="7A5A1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2026年5月期</a:t>
                      </a:r>
                    </a:p>
                  </a:txBody>
                  <a:tcPr marL="45720" marR="45720" marT="9144" marB="9144" anchor="ctr">
                    <a:solidFill>
                      <a:srgbClr val="7A5A1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3172">
                <a:tc>
                  <a:txBody>
                    <a:bodyPr wrap="square"/>
                    <a:lstStyle/>
                    <a:p>
                      <a:pPr algn="l">
                        <a:spcAft>
                          <a:spcPts val="0"/>
                        </a:spcAft>
                      </a:pPr>
                      <a:r>
                        <a:rPr sz="840" b="0">
                          <a:solidFill>
                            <a:srgbClr val="1A1A1A"/>
                          </a:solidFill>
                          <a:latin typeface="游ゴシック"/>
                          <a:ea typeface="游ゴシック"/>
                          <a:cs typeface="游ゴシック"/>
                        </a:rPr>
                        <a:t>調整後EBITDA（実績）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8,350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8,575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3172">
                <a:tc>
                  <a:txBody>
                    <a:bodyPr wrap="square"/>
                    <a:lstStyle/>
                    <a:p>
                      <a:pPr algn="l">
                        <a:spcAft>
                          <a:spcPts val="0"/>
                        </a:spcAft>
                      </a:pPr>
                      <a:r>
                        <a:rPr sz="840" b="0">
                          <a:solidFill>
                            <a:srgbClr val="1A1A1A"/>
                          </a:solidFill>
                          <a:latin typeface="游ゴシック"/>
                          <a:ea typeface="游ゴシック"/>
                          <a:cs typeface="游ゴシック"/>
                        </a:rPr>
                        <a:t>そば職人1名分 想定人件費（仮説）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C03A2B"/>
                          </a:solidFill>
                          <a:latin typeface="Arial"/>
                          <a:ea typeface="Arial"/>
                          <a:cs typeface="Arial"/>
                        </a:rPr>
                        <a:t>△6,900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C03A2B"/>
                          </a:solidFill>
                          <a:latin typeface="Arial"/>
                          <a:ea typeface="Arial"/>
                          <a:cs typeface="Arial"/>
                        </a:rPr>
                        <a:t>△6,900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C03A2B"/>
                          </a:solidFill>
                          <a:latin typeface="Arial"/>
                          <a:ea typeface="Arial"/>
                          <a:cs typeface="Arial"/>
                        </a:rPr>
                        <a:t>△6,900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3172">
                <a:tc>
                  <a:txBody>
                    <a:bodyPr wrap="square"/>
                    <a:lstStyle/>
                    <a:p>
                      <a:pPr algn="l">
                        <a:spcAft>
                          <a:spcPts val="0"/>
                        </a:spcAft>
                      </a:pPr>
                      <a:r>
                        <a:rPr sz="840" b="1">
                          <a:solidFill>
                            <a:srgbClr val="1A1A1A"/>
                          </a:solidFill>
                          <a:latin typeface="游ゴシック"/>
                          <a:ea typeface="游ゴシック"/>
                          <a:cs typeface="游ゴシック"/>
                        </a:rPr>
                        <a:t>正常化後EBITDA（参考）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1,675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C03A2B"/>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22" name="TextBox 21"/>
          <p:cNvSpPr txBox="1"/>
          <p:nvPr/>
        </p:nvSpPr>
        <p:spPr>
          <a:xfrm>
            <a:off x="393192" y="6035040"/>
            <a:ext cx="9902952" cy="1252728"/>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調整後EBITDA＝営業利益＋減価償却費。減価償却費は製造原価報告書計上額（2024年5月期のみ販管費115千円を含む）。</a:t>
            </a:r>
          </a:p>
          <a:p>
            <a:pPr algn="l">
              <a:lnSpc>
                <a:spcPct val="108000"/>
              </a:lnSpc>
              <a:spcAft>
                <a:spcPts val="100"/>
              </a:spcAft>
            </a:pPr>
            <a:r>
              <a:rPr sz="800" b="0">
                <a:solidFill>
                  <a:srgbClr val="5A656B"/>
                </a:solidFill>
                <a:latin typeface="游ゴシック Medium"/>
                <a:ea typeface="游ゴシック Medium"/>
                <a:cs typeface="游ゴシック Medium"/>
              </a:rPr>
              <a:t>※ 上記「参考試算」は、代表者・配偶者が無報酬であることを踏まえ、新体制でそば職人1名を雇用する前提を置いた弊社の仮説です。年収600万円＋社会保険料概算15％を仮置きしており、実額は未確定です（要確認）。</a:t>
            </a:r>
          </a:p>
          <a:p>
            <a:pPr algn="l">
              <a:lnSpc>
                <a:spcPct val="108000"/>
              </a:lnSpc>
              <a:spcAft>
                <a:spcPts val="100"/>
              </a:spcAft>
            </a:pPr>
            <a:r>
              <a:rPr sz="800" b="0">
                <a:solidFill>
                  <a:srgbClr val="5A656B"/>
                </a:solidFill>
                <a:latin typeface="游ゴシック Medium"/>
                <a:ea typeface="游ゴシック Medium"/>
                <a:cs typeface="游ゴシック Medium"/>
              </a:rPr>
              <a:t>※ 2022年5月期・2023年5月期は決算書からの直接転記であり、調整後EBITDAの算定対象外です。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1. エグゼクティブ・サマリー</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財務ハイライト（貸借対照表）</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金融機関借入はゼロ。負債33,673千円のうち32,744千円は代表者・配偶者からの無利息借入で、純資産は23,658千円</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8</a:t>
            </a:r>
          </a:p>
        </p:txBody>
      </p:sp>
      <p:graphicFrame>
        <p:nvGraphicFramePr>
          <p:cNvPr id="9" name="Table 8"/>
          <p:cNvGraphicFramePr>
            <a:graphicFrameLocks noGrp="1"/>
          </p:cNvGraphicFramePr>
          <p:nvPr/>
        </p:nvGraphicFramePr>
        <p:xfrm>
          <a:off x="393192" y="1481328"/>
          <a:ext cx="3127248" cy="3990438"/>
        </p:xfrm>
        <a:graphic>
          <a:graphicData uri="http://schemas.openxmlformats.org/drawingml/2006/table">
            <a:tbl>
              <a:tblPr firstRow="0" bandRow="0">
                <a:tableStyleId>{5C22544A-7EE6-4342-B048-85BDC9FD1C3A}</a:tableStyleId>
              </a:tblPr>
              <a:tblGrid>
                <a:gridCol w="2029968"/>
                <a:gridCol w="1097280"/>
              </a:tblGrid>
              <a:tr h="237744">
                <a:tc>
                  <a:txBody>
                    <a:bodyPr wrap="square"/>
                    <a:lstStyle/>
                    <a:p>
                      <a:pPr algn="ctr">
                        <a:spcAft>
                          <a:spcPts val="0"/>
                        </a:spcAft>
                      </a:pPr>
                      <a:r>
                        <a:rPr sz="830" b="1">
                          <a:solidFill>
                            <a:srgbClr val="FFFFFF"/>
                          </a:solidFill>
                          <a:latin typeface="游ゴシック"/>
                          <a:ea typeface="游ゴシック"/>
                          <a:cs typeface="游ゴシック"/>
                        </a:rPr>
                        <a:t>資産の部</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30" b="1">
                          <a:solidFill>
                            <a:srgbClr val="FFFFFF"/>
                          </a:solidFill>
                          <a:latin typeface="游ゴシック"/>
                          <a:ea typeface="游ゴシック"/>
                          <a:cs typeface="游ゴシック"/>
                        </a:rPr>
                        <a:t>金額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未収入金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建物　※2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車両運搬具　※3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出資金　※4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1">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graphicFrame>
        <p:nvGraphicFramePr>
          <p:cNvPr id="10" name="Table 9"/>
          <p:cNvGraphicFramePr>
            <a:graphicFrameLocks noGrp="1"/>
          </p:cNvGraphicFramePr>
          <p:nvPr/>
        </p:nvGraphicFramePr>
        <p:xfrm>
          <a:off x="3703320" y="1481328"/>
          <a:ext cx="3127248" cy="2531057"/>
        </p:xfrm>
        <a:graphic>
          <a:graphicData uri="http://schemas.openxmlformats.org/drawingml/2006/table">
            <a:tbl>
              <a:tblPr firstRow="0" bandRow="0">
                <a:tableStyleId>{5C22544A-7EE6-4342-B048-85BDC9FD1C3A}</a:tableStyleId>
              </a:tblPr>
              <a:tblGrid>
                <a:gridCol w="2029968"/>
                <a:gridCol w="1097280"/>
              </a:tblGrid>
              <a:tr h="237744">
                <a:tc>
                  <a:txBody>
                    <a:bodyPr wrap="square"/>
                    <a:lstStyle/>
                    <a:p>
                      <a:pPr algn="ctr">
                        <a:spcAft>
                          <a:spcPts val="0"/>
                        </a:spcAft>
                      </a:pPr>
                      <a:r>
                        <a:rPr sz="830" b="1">
                          <a:solidFill>
                            <a:srgbClr val="FFFFFF"/>
                          </a:solidFill>
                          <a:latin typeface="游ゴシック"/>
                          <a:ea typeface="游ゴシック"/>
                          <a:cs typeface="游ゴシック"/>
                        </a:rPr>
                        <a:t>負債・純資産の部</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30" b="1">
                          <a:solidFill>
                            <a:srgbClr val="FFFFFF"/>
                          </a:solidFill>
                          <a:latin typeface="游ゴシック"/>
                          <a:ea typeface="游ゴシック"/>
                          <a:cs typeface="游ゴシック"/>
                        </a:rPr>
                        <a:t>金額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1">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1">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長期借入金　※5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0">
                          <a:solidFill>
                            <a:srgbClr val="1A1A1A"/>
                          </a:solidFill>
                          <a:latin typeface="游ゴシック"/>
                          <a:ea typeface="游ゴシック"/>
                          <a:cs typeface="游ゴシック"/>
                        </a:rPr>
                        <a:t>　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1">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1">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30" b="1">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3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1" name="TextBox 10"/>
          <p:cNvSpPr txBox="1"/>
          <p:nvPr/>
        </p:nvSpPr>
        <p:spPr>
          <a:xfrm>
            <a:off x="393192" y="1280160"/>
            <a:ext cx="6437376"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2026年5月31日現在　（単位：千円）</a:t>
            </a:r>
          </a:p>
        </p:txBody>
      </p:sp>
      <p:sp>
        <p:nvSpPr>
          <p:cNvPr id="12" name="Rectangle 11"/>
          <p:cNvSpPr/>
          <p:nvPr/>
        </p:nvSpPr>
        <p:spPr>
          <a:xfrm>
            <a:off x="7013448" y="1481328"/>
            <a:ext cx="3282696"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123176" y="1481328"/>
            <a:ext cx="3063239"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注記・詳細</a:t>
            </a:r>
          </a:p>
        </p:txBody>
      </p:sp>
      <p:sp>
        <p:nvSpPr>
          <p:cNvPr id="14" name="Rectangle 13"/>
          <p:cNvSpPr/>
          <p:nvPr/>
        </p:nvSpPr>
        <p:spPr>
          <a:xfrm>
            <a:off x="7013448" y="1719072"/>
            <a:ext cx="3282696" cy="4864608"/>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141464" y="1828800"/>
            <a:ext cx="3026663" cy="4681728"/>
          </a:xfrm>
          <a:prstGeom prst="rect">
            <a:avLst/>
          </a:prstGeom>
          <a:noFill/>
        </p:spPr>
        <p:txBody>
          <a:bodyPr wrap="square" lIns="0" rIns="0" tIns="0" bIns="0" anchor="t">
            <a:spAutoFit/>
          </a:bodyPr>
          <a:lstStyle/>
          <a:p>
            <a:pPr algn="l">
              <a:lnSpc>
                <a:spcPct val="116000"/>
              </a:lnSpc>
              <a:spcAft>
                <a:spcPts val="200"/>
              </a:spcAft>
            </a:pPr>
            <a:r>
              <a:rPr sz="850" b="1">
                <a:solidFill>
                  <a:srgbClr val="0B3041"/>
                </a:solidFill>
                <a:latin typeface="游ゴシック"/>
                <a:ea typeface="游ゴシック"/>
                <a:cs typeface="游ゴシック"/>
              </a:rPr>
              <a:t>※1 未収入金 3,323千円　</a:t>
            </a:r>
            <a:r>
              <a:rPr sz="850" b="0">
                <a:solidFill>
                  <a:srgbClr val="1A1A1A"/>
                </a:solidFill>
                <a:latin typeface="游ゴシック"/>
                <a:ea typeface="游ゴシック"/>
                <a:cs typeface="游ゴシック"/>
              </a:rPr>
              <a:t>塩町館向け2,624千円、小びと向け699千円。残高は2,152→2,737→3,323千円と3期連続で増加しており、回収条件・回収可能性は要確認。</a:t>
            </a:r>
          </a:p>
          <a:p>
            <a:pPr algn="l">
              <a:spcAft>
                <a:spcPts val="200"/>
              </a:spcAft>
            </a:pPr>
          </a:p>
          <a:p>
            <a:pPr algn="l">
              <a:lnSpc>
                <a:spcPct val="116000"/>
              </a:lnSpc>
              <a:spcAft>
                <a:spcPts val="200"/>
              </a:spcAft>
            </a:pPr>
            <a:r>
              <a:rPr sz="850" b="1">
                <a:solidFill>
                  <a:srgbClr val="0B3041"/>
                </a:solidFill>
                <a:latin typeface="游ゴシック"/>
                <a:ea typeface="游ゴシック"/>
                <a:cs typeface="游ゴシック"/>
              </a:rPr>
              <a:t>※2 建物 39,249千円　</a:t>
            </a:r>
            <a:r>
              <a:rPr sz="850" b="0">
                <a:solidFill>
                  <a:srgbClr val="1A1A1A"/>
                </a:solidFill>
                <a:latin typeface="游ゴシック"/>
                <a:ea typeface="游ゴシック"/>
                <a:cs typeface="游ゴシック"/>
              </a:rPr>
              <a:t>取得価額104,599千円。うち塩町館関連5,442千円を含み、当該部分は当社の事業に供されていません。店舗建物は未登記です。</a:t>
            </a:r>
          </a:p>
          <a:p>
            <a:pPr algn="l">
              <a:spcAft>
                <a:spcPts val="200"/>
              </a:spcAft>
            </a:pPr>
          </a:p>
          <a:p>
            <a:pPr algn="l">
              <a:lnSpc>
                <a:spcPct val="116000"/>
              </a:lnSpc>
              <a:spcAft>
                <a:spcPts val="200"/>
              </a:spcAft>
            </a:pPr>
            <a:r>
              <a:rPr sz="850" b="1">
                <a:solidFill>
                  <a:srgbClr val="0B3041"/>
                </a:solidFill>
                <a:latin typeface="游ゴシック"/>
                <a:ea typeface="游ゴシック"/>
                <a:cs typeface="游ゴシック"/>
              </a:rPr>
              <a:t>※3 車両運搬具 2千円　</a:t>
            </a:r>
            <a:r>
              <a:rPr sz="850" b="0">
                <a:solidFill>
                  <a:srgbClr val="1A1A1A"/>
                </a:solidFill>
                <a:latin typeface="游ゴシック"/>
                <a:ea typeface="游ゴシック"/>
                <a:cs typeface="游ゴシック"/>
              </a:rPr>
              <a:t>ローバー車・シトロエン2CVフォルゴネットの2台で、いずれも償却済（簿価1円）。時価評価の余地および譲渡対象の要否は要確認。</a:t>
            </a:r>
          </a:p>
          <a:p>
            <a:pPr algn="l">
              <a:spcAft>
                <a:spcPts val="200"/>
              </a:spcAft>
            </a:pPr>
          </a:p>
          <a:p>
            <a:pPr algn="l">
              <a:lnSpc>
                <a:spcPct val="116000"/>
              </a:lnSpc>
              <a:spcAft>
                <a:spcPts val="200"/>
              </a:spcAft>
            </a:pPr>
            <a:r>
              <a:rPr sz="850" b="1">
                <a:solidFill>
                  <a:srgbClr val="0B3041"/>
                </a:solidFill>
                <a:latin typeface="游ゴシック"/>
                <a:ea typeface="游ゴシック"/>
                <a:cs typeface="游ゴシック"/>
              </a:rPr>
              <a:t>※4 出資金 1,100千円　</a:t>
            </a:r>
            <a:r>
              <a:rPr sz="850" b="0">
                <a:solidFill>
                  <a:srgbClr val="1A1A1A"/>
                </a:solidFill>
                <a:latin typeface="游ゴシック"/>
                <a:ea typeface="游ゴシック"/>
                <a:cs typeface="游ゴシック"/>
              </a:rPr>
              <a:t>（株）慈久庵咸亨酒1,000千円、（株）慈久庵伊勢又100千円。いずれも関係会社であり、本件での取扱いは要協議。</a:t>
            </a:r>
          </a:p>
          <a:p>
            <a:pPr algn="l">
              <a:spcAft>
                <a:spcPts val="200"/>
              </a:spcAft>
            </a:pPr>
          </a:p>
          <a:p>
            <a:pPr algn="l">
              <a:lnSpc>
                <a:spcPct val="116000"/>
              </a:lnSpc>
              <a:spcAft>
                <a:spcPts val="200"/>
              </a:spcAft>
            </a:pPr>
            <a:r>
              <a:rPr sz="850" b="1">
                <a:solidFill>
                  <a:srgbClr val="0B3041"/>
                </a:solidFill>
                <a:latin typeface="游ゴシック"/>
                <a:ea typeface="游ゴシック"/>
                <a:cs typeface="游ゴシック"/>
              </a:rPr>
              <a:t>※5 長期借入金 32,744千円　</a:t>
            </a:r>
            <a:r>
              <a:rPr sz="850" b="0">
                <a:solidFill>
                  <a:srgbClr val="1A1A1A"/>
                </a:solidFill>
                <a:latin typeface="游ゴシック"/>
                <a:ea typeface="游ゴシック"/>
                <a:cs typeface="游ゴシック"/>
              </a:rPr>
              <a:t>全額が代表者（9,518千円）および配偶者（23,226千円）からの借入です。金融機関借入・連帯保証はなく、利息の支払もありません。本件実行時の取扱いは応相談。</a:t>
            </a:r>
          </a:p>
          <a:p>
            <a:pPr algn="l">
              <a:spcAft>
                <a:spcPts val="200"/>
              </a:spcAft>
            </a:pPr>
          </a:p>
          <a:p>
            <a:pPr algn="l">
              <a:lnSpc>
                <a:spcPct val="116000"/>
              </a:lnSpc>
              <a:spcAft>
                <a:spcPts val="200"/>
              </a:spcAft>
            </a:pPr>
            <a:r>
              <a:rPr sz="850" b="1">
                <a:solidFill>
                  <a:srgbClr val="0B3041"/>
                </a:solidFill>
                <a:latin typeface="游ゴシック"/>
                <a:ea typeface="游ゴシック"/>
                <a:cs typeface="游ゴシック"/>
              </a:rPr>
              <a:t>【補足】</a:t>
            </a:r>
            <a:r>
              <a:rPr sz="850" b="0">
                <a:solidFill>
                  <a:srgbClr val="1A1A1A"/>
                </a:solidFill>
                <a:latin typeface="游ゴシック"/>
                <a:ea typeface="游ゴシック"/>
                <a:cs typeface="游ゴシック"/>
              </a:rPr>
              <a:t>・棚卸資産2,354千円のうち商品329千円は「伊勢又預け分」です。
・商標権（登録4件）は償却済で簿価ゼロですが、ブランド価値はB/Sに反映されていません。
・時価純資産の算定は未了です。</a:t>
            </a:r>
          </a:p>
        </p:txBody>
      </p:sp>
      <p:sp>
        <p:nvSpPr>
          <p:cNvPr id="16" name="TextBox 15"/>
          <p:cNvSpPr txBox="1"/>
          <p:nvPr/>
        </p:nvSpPr>
        <p:spPr>
          <a:xfrm>
            <a:off x="393192" y="6656832"/>
            <a:ext cx="9902952" cy="630935"/>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2026年5月期（2026年5月31日）の決算書および勘定科目内訳明細書に基づきます。千円未満の端数処理により合計が一致しない場合があります。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1. エグゼクティブ・サマリー</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譲渡希望条件</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金額よりも「慈久庵を守ってくれること」「将来的に店舗を広げてくれること」を重視。譲渡価額は応相談</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9</a:t>
            </a:r>
          </a:p>
        </p:txBody>
      </p:sp>
      <p:sp>
        <p:nvSpPr>
          <p:cNvPr id="9" name="Rectangle 8"/>
          <p:cNvSpPr/>
          <p:nvPr/>
        </p:nvSpPr>
        <p:spPr>
          <a:xfrm>
            <a:off x="393192" y="1536192"/>
            <a:ext cx="640080" cy="896112"/>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93192" y="1536192"/>
            <a:ext cx="640080" cy="896112"/>
          </a:xfrm>
          <a:prstGeom prst="rect">
            <a:avLst/>
          </a:prstGeom>
          <a:noFill/>
        </p:spPr>
        <p:txBody>
          <a:bodyPr wrap="square" lIns="0" rIns="0" tIns="0" bIns="0" anchor="ctr">
            <a:spAutoFit/>
          </a:bodyPr>
          <a:lstStyle/>
          <a:p>
            <a:pPr algn="ctr">
              <a:spcAft>
                <a:spcPts val="0"/>
              </a:spcAft>
            </a:pPr>
            <a:r>
              <a:rPr sz="1000" b="1">
                <a:solidFill>
                  <a:srgbClr val="0B3041"/>
                </a:solidFill>
                <a:latin typeface="游ゴシック"/>
                <a:ea typeface="游ゴシック"/>
                <a:cs typeface="游ゴシック"/>
              </a:rPr>
              <a:t>条件1</a:t>
            </a:r>
          </a:p>
        </p:txBody>
      </p:sp>
      <p:sp>
        <p:nvSpPr>
          <p:cNvPr id="11" name="Rectangle 10"/>
          <p:cNvSpPr/>
          <p:nvPr/>
        </p:nvSpPr>
        <p:spPr>
          <a:xfrm>
            <a:off x="1033271" y="1536192"/>
            <a:ext cx="1371600" cy="89611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33271" y="1536192"/>
            <a:ext cx="1371600" cy="896112"/>
          </a:xfrm>
          <a:prstGeom prst="rect">
            <a:avLst/>
          </a:prstGeom>
          <a:noFill/>
        </p:spPr>
        <p:txBody>
          <a:bodyPr wrap="square" lIns="0" rIns="0" tIns="0" bIns="0" anchor="ctr">
            <a:spAutoFit/>
          </a:bodyPr>
          <a:lstStyle/>
          <a:p>
            <a:pPr algn="ctr">
              <a:spcAft>
                <a:spcPts val="0"/>
              </a:spcAft>
            </a:pPr>
            <a:r>
              <a:rPr sz="1150" b="1">
                <a:solidFill>
                  <a:srgbClr val="FFFFFF"/>
                </a:solidFill>
                <a:latin typeface="游ゴシック"/>
                <a:ea typeface="游ゴシック"/>
                <a:cs typeface="游ゴシック"/>
              </a:rPr>
              <a:t>スキーム</a:t>
            </a:r>
          </a:p>
        </p:txBody>
      </p:sp>
      <p:sp>
        <p:nvSpPr>
          <p:cNvPr id="13" name="Rectangle 12"/>
          <p:cNvSpPr/>
          <p:nvPr/>
        </p:nvSpPr>
        <p:spPr>
          <a:xfrm>
            <a:off x="2404872" y="1536192"/>
            <a:ext cx="7891271" cy="896112"/>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06040" y="1645919"/>
            <a:ext cx="7470648" cy="713232"/>
          </a:xfrm>
          <a:prstGeom prst="rect">
            <a:avLst/>
          </a:prstGeom>
          <a:noFill/>
        </p:spPr>
        <p:txBody>
          <a:bodyPr wrap="square" lIns="0" rIns="0" tIns="0" bIns="0" anchor="ctr">
            <a:spAutoFit/>
          </a:bodyPr>
          <a:lstStyle/>
          <a:p>
            <a:pPr algn="l">
              <a:lnSpc>
                <a:spcPct val="130000"/>
              </a:lnSpc>
              <a:spcAft>
                <a:spcPts val="200"/>
              </a:spcAft>
            </a:pPr>
            <a:r>
              <a:rPr sz="1100" b="0">
                <a:solidFill>
                  <a:srgbClr val="1A1A1A"/>
                </a:solidFill>
                <a:latin typeface="游ゴシック"/>
                <a:ea typeface="游ゴシック"/>
                <a:cs typeface="游ゴシック"/>
              </a:rPr>
              <a:t>株式譲渡（発行済株式100％）</a:t>
            </a:r>
          </a:p>
          <a:p>
            <a:pPr algn="l">
              <a:lnSpc>
                <a:spcPct val="130000"/>
              </a:lnSpc>
              <a:spcAft>
                <a:spcPts val="200"/>
              </a:spcAft>
            </a:pPr>
            <a:r>
              <a:rPr sz="1100" b="0">
                <a:solidFill>
                  <a:srgbClr val="1A1A1A"/>
                </a:solidFill>
                <a:latin typeface="游ゴシック"/>
                <a:ea typeface="游ゴシック"/>
                <a:cs typeface="游ゴシック"/>
              </a:rPr>
              <a:t>※事業譲渡での検討も可。その場合は店舗不動産・商標の取扱いを別途協議</a:t>
            </a:r>
          </a:p>
        </p:txBody>
      </p:sp>
      <p:sp>
        <p:nvSpPr>
          <p:cNvPr id="15" name="Rectangle 14"/>
          <p:cNvSpPr/>
          <p:nvPr/>
        </p:nvSpPr>
        <p:spPr>
          <a:xfrm>
            <a:off x="393192" y="2578608"/>
            <a:ext cx="640080" cy="896112"/>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3192" y="2578608"/>
            <a:ext cx="640080" cy="896112"/>
          </a:xfrm>
          <a:prstGeom prst="rect">
            <a:avLst/>
          </a:prstGeom>
          <a:noFill/>
        </p:spPr>
        <p:txBody>
          <a:bodyPr wrap="square" lIns="0" rIns="0" tIns="0" bIns="0" anchor="ctr">
            <a:spAutoFit/>
          </a:bodyPr>
          <a:lstStyle/>
          <a:p>
            <a:pPr algn="ctr">
              <a:spcAft>
                <a:spcPts val="0"/>
              </a:spcAft>
            </a:pPr>
            <a:r>
              <a:rPr sz="1000" b="1">
                <a:solidFill>
                  <a:srgbClr val="0B3041"/>
                </a:solidFill>
                <a:latin typeface="游ゴシック"/>
                <a:ea typeface="游ゴシック"/>
                <a:cs typeface="游ゴシック"/>
              </a:rPr>
              <a:t>条件2</a:t>
            </a:r>
          </a:p>
        </p:txBody>
      </p:sp>
      <p:sp>
        <p:nvSpPr>
          <p:cNvPr id="17" name="Rectangle 16"/>
          <p:cNvSpPr/>
          <p:nvPr/>
        </p:nvSpPr>
        <p:spPr>
          <a:xfrm>
            <a:off x="1033271" y="2578608"/>
            <a:ext cx="1371600" cy="89611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33271" y="2578608"/>
            <a:ext cx="1371600" cy="896112"/>
          </a:xfrm>
          <a:prstGeom prst="rect">
            <a:avLst/>
          </a:prstGeom>
          <a:noFill/>
        </p:spPr>
        <p:txBody>
          <a:bodyPr wrap="square" lIns="0" rIns="0" tIns="0" bIns="0" anchor="ctr">
            <a:spAutoFit/>
          </a:bodyPr>
          <a:lstStyle/>
          <a:p>
            <a:pPr algn="ctr">
              <a:spcAft>
                <a:spcPts val="0"/>
              </a:spcAft>
            </a:pPr>
            <a:r>
              <a:rPr sz="1150" b="1">
                <a:solidFill>
                  <a:srgbClr val="FFFFFF"/>
                </a:solidFill>
                <a:latin typeface="游ゴシック"/>
                <a:ea typeface="游ゴシック"/>
                <a:cs typeface="游ゴシック"/>
              </a:rPr>
              <a:t>希望価格</a:t>
            </a:r>
          </a:p>
        </p:txBody>
      </p:sp>
      <p:sp>
        <p:nvSpPr>
          <p:cNvPr id="19" name="Rectangle 18"/>
          <p:cNvSpPr/>
          <p:nvPr/>
        </p:nvSpPr>
        <p:spPr>
          <a:xfrm>
            <a:off x="2404872" y="2578608"/>
            <a:ext cx="7891271" cy="896112"/>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06040" y="2688336"/>
            <a:ext cx="7470648" cy="713232"/>
          </a:xfrm>
          <a:prstGeom prst="rect">
            <a:avLst/>
          </a:prstGeom>
          <a:noFill/>
        </p:spPr>
        <p:txBody>
          <a:bodyPr wrap="square" lIns="0" rIns="0" tIns="0" bIns="0" anchor="ctr">
            <a:spAutoFit/>
          </a:bodyPr>
          <a:lstStyle/>
          <a:p>
            <a:pPr algn="l">
              <a:lnSpc>
                <a:spcPct val="130000"/>
              </a:lnSpc>
              <a:spcAft>
                <a:spcPts val="200"/>
              </a:spcAft>
            </a:pPr>
            <a:r>
              <a:rPr sz="1100" b="0">
                <a:solidFill>
                  <a:srgbClr val="1A1A1A"/>
                </a:solidFill>
                <a:latin typeface="游ゴシック"/>
                <a:ea typeface="游ゴシック"/>
                <a:cs typeface="游ゴシック"/>
              </a:rPr>
              <a:t>応相談</a:t>
            </a:r>
          </a:p>
          <a:p>
            <a:pPr algn="l">
              <a:lnSpc>
                <a:spcPct val="130000"/>
              </a:lnSpc>
              <a:spcAft>
                <a:spcPts val="200"/>
              </a:spcAft>
            </a:pPr>
            <a:r>
              <a:rPr sz="1100" b="0">
                <a:solidFill>
                  <a:srgbClr val="1A1A1A"/>
                </a:solidFill>
                <a:latin typeface="游ゴシック"/>
                <a:ea typeface="游ゴシック"/>
                <a:cs typeface="游ゴシック"/>
              </a:rPr>
              <a:t>※純資産23,658千円（2026年5月期）を一つの目線としつつ、価額よりも事業の継続性を重視するご意向</a:t>
            </a:r>
          </a:p>
        </p:txBody>
      </p:sp>
      <p:sp>
        <p:nvSpPr>
          <p:cNvPr id="21" name="Rectangle 20"/>
          <p:cNvSpPr/>
          <p:nvPr/>
        </p:nvSpPr>
        <p:spPr>
          <a:xfrm>
            <a:off x="393192" y="3621024"/>
            <a:ext cx="640080" cy="122529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93192" y="3621024"/>
            <a:ext cx="640080" cy="1225296"/>
          </a:xfrm>
          <a:prstGeom prst="rect">
            <a:avLst/>
          </a:prstGeom>
          <a:noFill/>
        </p:spPr>
        <p:txBody>
          <a:bodyPr wrap="square" lIns="0" rIns="0" tIns="0" bIns="0" anchor="ctr">
            <a:spAutoFit/>
          </a:bodyPr>
          <a:lstStyle/>
          <a:p>
            <a:pPr algn="ctr">
              <a:spcAft>
                <a:spcPts val="0"/>
              </a:spcAft>
            </a:pPr>
            <a:r>
              <a:rPr sz="1000" b="1">
                <a:solidFill>
                  <a:srgbClr val="0B3041"/>
                </a:solidFill>
                <a:latin typeface="游ゴシック"/>
                <a:ea typeface="游ゴシック"/>
                <a:cs typeface="游ゴシック"/>
              </a:rPr>
              <a:t>条件3</a:t>
            </a:r>
          </a:p>
        </p:txBody>
      </p:sp>
      <p:sp>
        <p:nvSpPr>
          <p:cNvPr id="23" name="Rectangle 22"/>
          <p:cNvSpPr/>
          <p:nvPr/>
        </p:nvSpPr>
        <p:spPr>
          <a:xfrm>
            <a:off x="1033271" y="3621024"/>
            <a:ext cx="1371600" cy="122529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33271" y="3621024"/>
            <a:ext cx="1371600" cy="1225296"/>
          </a:xfrm>
          <a:prstGeom prst="rect">
            <a:avLst/>
          </a:prstGeom>
          <a:noFill/>
        </p:spPr>
        <p:txBody>
          <a:bodyPr wrap="square" lIns="0" rIns="0" tIns="0" bIns="0" anchor="ctr">
            <a:spAutoFit/>
          </a:bodyPr>
          <a:lstStyle/>
          <a:p>
            <a:pPr algn="ctr">
              <a:spcAft>
                <a:spcPts val="0"/>
              </a:spcAft>
            </a:pPr>
            <a:r>
              <a:rPr sz="1150" b="1">
                <a:solidFill>
                  <a:srgbClr val="FFFFFF"/>
                </a:solidFill>
                <a:latin typeface="游ゴシック"/>
                <a:ea typeface="游ゴシック"/>
                <a:cs typeface="游ゴシック"/>
              </a:rPr>
              <a:t>付帯条件</a:t>
            </a:r>
          </a:p>
        </p:txBody>
      </p:sp>
      <p:sp>
        <p:nvSpPr>
          <p:cNvPr id="25" name="Rectangle 24"/>
          <p:cNvSpPr/>
          <p:nvPr/>
        </p:nvSpPr>
        <p:spPr>
          <a:xfrm>
            <a:off x="2404872" y="3621024"/>
            <a:ext cx="7891271" cy="1225296"/>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606040" y="3730752"/>
            <a:ext cx="7470648" cy="1042416"/>
          </a:xfrm>
          <a:prstGeom prst="rect">
            <a:avLst/>
          </a:prstGeom>
          <a:noFill/>
        </p:spPr>
        <p:txBody>
          <a:bodyPr wrap="square" lIns="0" rIns="0" tIns="0" bIns="0" anchor="ctr">
            <a:spAutoFit/>
          </a:bodyPr>
          <a:lstStyle/>
          <a:p>
            <a:pPr algn="l">
              <a:lnSpc>
                <a:spcPct val="130000"/>
              </a:lnSpc>
              <a:spcAft>
                <a:spcPts val="200"/>
              </a:spcAft>
            </a:pPr>
            <a:r>
              <a:rPr sz="1100" b="0">
                <a:solidFill>
                  <a:srgbClr val="1A1A1A"/>
                </a:solidFill>
                <a:latin typeface="游ゴシック"/>
                <a:ea typeface="游ゴシック"/>
                <a:cs typeface="游ゴシック"/>
              </a:rPr>
              <a:t>・代表者および配偶者は引継ぎ完了後に退任（引継ぎ期間・方式は応相談）</a:t>
            </a:r>
          </a:p>
          <a:p>
            <a:pPr algn="l">
              <a:lnSpc>
                <a:spcPct val="130000"/>
              </a:lnSpc>
              <a:spcAft>
                <a:spcPts val="200"/>
              </a:spcAft>
            </a:pPr>
            <a:r>
              <a:rPr sz="1100" b="0">
                <a:solidFill>
                  <a:srgbClr val="1A1A1A"/>
                </a:solidFill>
                <a:latin typeface="游ゴシック"/>
                <a:ea typeface="游ゴシック"/>
                <a:cs typeface="游ゴシック"/>
              </a:rPr>
              <a:t>・代表者・配偶者からの借入金32,744千円の取扱い（返済・相殺・債務免除等）は応相談</a:t>
            </a:r>
          </a:p>
          <a:p>
            <a:pPr algn="l">
              <a:lnSpc>
                <a:spcPct val="130000"/>
              </a:lnSpc>
              <a:spcAft>
                <a:spcPts val="200"/>
              </a:spcAft>
            </a:pPr>
            <a:r>
              <a:rPr sz="1100" b="0">
                <a:solidFill>
                  <a:srgbClr val="1A1A1A"/>
                </a:solidFill>
                <a:latin typeface="游ゴシック"/>
                <a:ea typeface="游ゴシック"/>
                <a:cs typeface="游ゴシック"/>
              </a:rPr>
              <a:t>・店舗2階に代表者夫妻が居住中。明渡しの時期・条件は協議事項</a:t>
            </a:r>
          </a:p>
          <a:p>
            <a:pPr algn="l">
              <a:lnSpc>
                <a:spcPct val="130000"/>
              </a:lnSpc>
              <a:spcAft>
                <a:spcPts val="200"/>
              </a:spcAft>
            </a:pPr>
            <a:r>
              <a:rPr sz="1100" b="0">
                <a:solidFill>
                  <a:srgbClr val="1A1A1A"/>
                </a:solidFill>
                <a:latin typeface="游ゴシック"/>
                <a:ea typeface="游ゴシック"/>
                <a:cs typeface="游ゴシック"/>
              </a:rPr>
              <a:t>・金融機関借入および連帯保証はなし</a:t>
            </a:r>
          </a:p>
        </p:txBody>
      </p:sp>
      <p:sp>
        <p:nvSpPr>
          <p:cNvPr id="27" name="Rectangle 26"/>
          <p:cNvSpPr/>
          <p:nvPr/>
        </p:nvSpPr>
        <p:spPr>
          <a:xfrm>
            <a:off x="393192" y="4992624"/>
            <a:ext cx="640080" cy="896112"/>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192" y="4992624"/>
            <a:ext cx="640080" cy="896112"/>
          </a:xfrm>
          <a:prstGeom prst="rect">
            <a:avLst/>
          </a:prstGeom>
          <a:noFill/>
        </p:spPr>
        <p:txBody>
          <a:bodyPr wrap="square" lIns="0" rIns="0" tIns="0" bIns="0" anchor="ctr">
            <a:spAutoFit/>
          </a:bodyPr>
          <a:lstStyle/>
          <a:p>
            <a:pPr algn="ctr">
              <a:spcAft>
                <a:spcPts val="0"/>
              </a:spcAft>
            </a:pPr>
            <a:r>
              <a:rPr sz="1000" b="1">
                <a:solidFill>
                  <a:srgbClr val="0B3041"/>
                </a:solidFill>
                <a:latin typeface="游ゴシック"/>
                <a:ea typeface="游ゴシック"/>
                <a:cs typeface="游ゴシック"/>
              </a:rPr>
              <a:t>その他</a:t>
            </a:r>
          </a:p>
        </p:txBody>
      </p:sp>
      <p:sp>
        <p:nvSpPr>
          <p:cNvPr id="29" name="Rectangle 28"/>
          <p:cNvSpPr/>
          <p:nvPr/>
        </p:nvSpPr>
        <p:spPr>
          <a:xfrm>
            <a:off x="1033271" y="4992624"/>
            <a:ext cx="1371600" cy="896112"/>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33271" y="4992624"/>
            <a:ext cx="1371600" cy="896112"/>
          </a:xfrm>
          <a:prstGeom prst="rect">
            <a:avLst/>
          </a:prstGeom>
          <a:noFill/>
        </p:spPr>
        <p:txBody>
          <a:bodyPr wrap="square" lIns="0" rIns="0" tIns="0" bIns="0" anchor="ctr">
            <a:spAutoFit/>
          </a:bodyPr>
          <a:lstStyle/>
          <a:p>
            <a:pPr algn="ctr">
              <a:spcAft>
                <a:spcPts val="0"/>
              </a:spcAft>
            </a:pPr>
            <a:r>
              <a:rPr sz="1150" b="1">
                <a:solidFill>
                  <a:srgbClr val="FFFFFF"/>
                </a:solidFill>
                <a:latin typeface="游ゴシック"/>
                <a:ea typeface="游ゴシック"/>
                <a:cs typeface="游ゴシック"/>
              </a:rPr>
              <a:t>譲渡理由</a:t>
            </a:r>
          </a:p>
        </p:txBody>
      </p:sp>
      <p:sp>
        <p:nvSpPr>
          <p:cNvPr id="31" name="Rectangle 30"/>
          <p:cNvSpPr/>
          <p:nvPr/>
        </p:nvSpPr>
        <p:spPr>
          <a:xfrm>
            <a:off x="2404872" y="4992624"/>
            <a:ext cx="7891271" cy="896112"/>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606040" y="5102352"/>
            <a:ext cx="7470648" cy="713232"/>
          </a:xfrm>
          <a:prstGeom prst="rect">
            <a:avLst/>
          </a:prstGeom>
          <a:noFill/>
        </p:spPr>
        <p:txBody>
          <a:bodyPr wrap="square" lIns="0" rIns="0" tIns="0" bIns="0" anchor="ctr">
            <a:spAutoFit/>
          </a:bodyPr>
          <a:lstStyle/>
          <a:p>
            <a:pPr algn="l">
              <a:lnSpc>
                <a:spcPct val="130000"/>
              </a:lnSpc>
              <a:spcAft>
                <a:spcPts val="200"/>
              </a:spcAft>
            </a:pPr>
            <a:r>
              <a:rPr sz="1100" b="0">
                <a:solidFill>
                  <a:srgbClr val="1A1A1A"/>
                </a:solidFill>
                <a:latin typeface="游ゴシック"/>
                <a:ea typeface="游ゴシック"/>
                <a:cs typeface="游ゴシック"/>
              </a:rPr>
              <a:t>代表者の高齢化（79歳）および後継者不在。</a:t>
            </a:r>
          </a:p>
          <a:p>
            <a:pPr algn="l">
              <a:lnSpc>
                <a:spcPct val="130000"/>
              </a:lnSpc>
              <a:spcAft>
                <a:spcPts val="200"/>
              </a:spcAft>
            </a:pPr>
            <a:r>
              <a:rPr sz="1100" b="0">
                <a:solidFill>
                  <a:srgbClr val="1A1A1A"/>
                </a:solidFill>
                <a:latin typeface="游ゴシック"/>
                <a:ea typeface="游ゴシック"/>
                <a:cs typeface="游ゴシック"/>
              </a:rPr>
              <a:t>買手選定にあたっては、①「慈久庵」の店舗を守り蕎麦屋として事業を継続すること、②将来的に店舗を広げていけることの2点を重視されています。</a:t>
            </a:r>
          </a:p>
        </p:txBody>
      </p:sp>
      <p:sp>
        <p:nvSpPr>
          <p:cNvPr id="33" name="TextBox 32"/>
          <p:cNvSpPr txBox="1"/>
          <p:nvPr/>
        </p:nvSpPr>
        <p:spPr>
          <a:xfrm>
            <a:off x="393192" y="6565392"/>
            <a:ext cx="9902952" cy="722375"/>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上記は現時点における譲渡オーナー様のご意向であり、確定した条件ではありません。最終的な条件は個別協議により決定されます。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1188720" y="2743200"/>
            <a:ext cx="82296" cy="96012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81328" y="2761488"/>
            <a:ext cx="2743200" cy="457200"/>
          </a:xfrm>
          <a:prstGeom prst="rect">
            <a:avLst/>
          </a:prstGeom>
          <a:noFill/>
        </p:spPr>
        <p:txBody>
          <a:bodyPr wrap="square" lIns="0" rIns="0" tIns="0" bIns="0" anchor="t">
            <a:spAutoFit/>
          </a:bodyPr>
          <a:lstStyle/>
          <a:p>
            <a:pPr algn="l">
              <a:spcAft>
                <a:spcPts val="0"/>
              </a:spcAft>
            </a:pPr>
            <a:r>
              <a:rPr sz="1300" b="1">
                <a:solidFill>
                  <a:srgbClr val="0889C9"/>
                </a:solidFill>
                <a:latin typeface="Arial"/>
                <a:ea typeface="Arial"/>
                <a:cs typeface="Arial"/>
              </a:rPr>
              <a:t>Section 2</a:t>
            </a:r>
          </a:p>
        </p:txBody>
      </p:sp>
      <p:sp>
        <p:nvSpPr>
          <p:cNvPr id="5" name="TextBox 4"/>
          <p:cNvSpPr txBox="1"/>
          <p:nvPr/>
        </p:nvSpPr>
        <p:spPr>
          <a:xfrm>
            <a:off x="1481328" y="3145536"/>
            <a:ext cx="6858000" cy="566928"/>
          </a:xfrm>
          <a:prstGeom prst="rect">
            <a:avLst/>
          </a:prstGeom>
          <a:noFill/>
        </p:spPr>
        <p:txBody>
          <a:bodyPr wrap="square" lIns="0" rIns="0" tIns="0" bIns="0" anchor="t">
            <a:spAutoFit/>
          </a:bodyPr>
          <a:lstStyle/>
          <a:p>
            <a:pPr algn="l">
              <a:spcAft>
                <a:spcPts val="0"/>
              </a:spcAft>
            </a:pPr>
            <a:r>
              <a:rPr sz="2600" b="1">
                <a:solidFill>
                  <a:srgbClr val="FFFFFF"/>
                </a:solidFill>
                <a:latin typeface="游ゴシック"/>
                <a:ea typeface="游ゴシック"/>
                <a:cs typeface="游ゴシック"/>
              </a:rPr>
              <a:t>事業概要</a:t>
            </a:r>
          </a:p>
        </p:txBody>
      </p:sp>
      <p:sp>
        <p:nvSpPr>
          <p:cNvPr id="6" name="TextBox 5"/>
          <p:cNvSpPr txBox="1"/>
          <p:nvPr/>
        </p:nvSpPr>
        <p:spPr>
          <a:xfrm>
            <a:off x="1517904" y="3977639"/>
            <a:ext cx="7315200" cy="1645920"/>
          </a:xfrm>
          <a:prstGeom prst="rect">
            <a:avLst/>
          </a:prstGeom>
          <a:noFill/>
        </p:spPr>
        <p:txBody>
          <a:bodyPr wrap="square" lIns="0" rIns="0" tIns="0" bIns="0" anchor="t">
            <a:spAutoFit/>
          </a:bodyPr>
          <a:lstStyle/>
          <a:p>
            <a:pPr algn="l">
              <a:spcAft>
                <a:spcPts val="500"/>
              </a:spcAft>
            </a:pPr>
            <a:r>
              <a:rPr sz="1100" b="0">
                <a:solidFill>
                  <a:srgbClr val="C9D6DC"/>
                </a:solidFill>
                <a:latin typeface="游ゴシック"/>
                <a:ea typeface="游ゴシック"/>
                <a:cs typeface="游ゴシック"/>
              </a:rPr>
              <a:t>—  「慈久庵」というブランドと代表者</a:t>
            </a:r>
          </a:p>
          <a:p>
            <a:pPr algn="l">
              <a:spcAft>
                <a:spcPts val="500"/>
              </a:spcAft>
            </a:pPr>
            <a:r>
              <a:rPr sz="1100" b="0">
                <a:solidFill>
                  <a:srgbClr val="C9D6DC"/>
                </a:solidFill>
                <a:latin typeface="游ゴシック"/>
                <a:ea typeface="游ゴシック"/>
                <a:cs typeface="游ゴシック"/>
              </a:rPr>
              <a:t>—  店舗・不動産の概況</a:t>
            </a:r>
          </a:p>
          <a:p>
            <a:pPr algn="l">
              <a:spcAft>
                <a:spcPts val="500"/>
              </a:spcAft>
            </a:pPr>
            <a:r>
              <a:rPr sz="1100" b="0">
                <a:solidFill>
                  <a:srgbClr val="C9D6DC"/>
                </a:solidFill>
                <a:latin typeface="游ゴシック"/>
                <a:ea typeface="游ゴシック"/>
                <a:cs typeface="游ゴシック"/>
              </a:rPr>
              <a:t>—  収益構造（商流）</a:t>
            </a:r>
          </a:p>
          <a:p>
            <a:pPr algn="l">
              <a:spcAft>
                <a:spcPts val="500"/>
              </a:spcAft>
            </a:pPr>
            <a:r>
              <a:rPr sz="1100" b="0">
                <a:solidFill>
                  <a:srgbClr val="C9D6DC"/>
                </a:solidFill>
                <a:latin typeface="游ゴシック"/>
                <a:ea typeface="游ゴシック"/>
                <a:cs typeface="游ゴシック"/>
              </a:rPr>
              <a:t>—  売上構成の推移</a:t>
            </a:r>
          </a:p>
          <a:p>
            <a:pPr algn="l">
              <a:spcAft>
                <a:spcPts val="500"/>
              </a:spcAft>
            </a:pPr>
            <a:r>
              <a:rPr sz="1100" b="0">
                <a:solidFill>
                  <a:srgbClr val="C9D6DC"/>
                </a:solidFill>
                <a:latin typeface="游ゴシック"/>
                <a:ea typeface="游ゴシック"/>
                <a:cs typeface="游ゴシック"/>
              </a:rPr>
              <a:t>—  月次売上・営業日の分析</a:t>
            </a:r>
          </a:p>
          <a:p>
            <a:pPr algn="l">
              <a:spcAft>
                <a:spcPts val="500"/>
              </a:spcAft>
            </a:pPr>
            <a:r>
              <a:rPr sz="1100" b="0">
                <a:solidFill>
                  <a:srgbClr val="C9D6DC"/>
                </a:solidFill>
                <a:latin typeface="游ゴシック"/>
                <a:ea typeface="游ゴシック"/>
                <a:cs typeface="游ゴシック"/>
              </a:rPr>
              <a:t>—  主要販売先 ／ 主要仕入先</a:t>
            </a:r>
          </a:p>
          <a:p>
            <a:pPr algn="l">
              <a:spcAft>
                <a:spcPts val="500"/>
              </a:spcAft>
            </a:pPr>
            <a:r>
              <a:rPr sz="1100" b="0">
                <a:solidFill>
                  <a:srgbClr val="C9D6DC"/>
                </a:solidFill>
                <a:latin typeface="游ゴシック"/>
                <a:ea typeface="游ゴシック"/>
                <a:cs typeface="游ゴシック"/>
              </a:rPr>
              <a:t>—  強み・成長余地と留意点</a:t>
            </a:r>
          </a:p>
        </p:txBody>
      </p:sp>
      <p:sp>
        <p:nvSpPr>
          <p:cNvPr id="7" name="TextBox 6"/>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6E8692"/>
                </a:solidFill>
                <a:latin typeface="Arial"/>
                <a:ea typeface="Arial"/>
                <a:cs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2. 事業概要</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「慈久庵」というブランドと代表者</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粗挽き蕎麦の第一人者が、焼畑農法の再興と里山再生を背景に築いたブランド。外部評価は全国区</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11</a:t>
            </a:r>
          </a:p>
        </p:txBody>
      </p:sp>
      <p:sp>
        <p:nvSpPr>
          <p:cNvPr id="9" name="Rectangle 8"/>
          <p:cNvSpPr/>
          <p:nvPr/>
        </p:nvSpPr>
        <p:spPr>
          <a:xfrm>
            <a:off x="393192" y="1536192"/>
            <a:ext cx="4828032"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02920" y="1536192"/>
            <a:ext cx="4608576"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代表者 小川 宣夫 氏の経歴</a:t>
            </a:r>
          </a:p>
        </p:txBody>
      </p:sp>
      <p:graphicFrame>
        <p:nvGraphicFramePr>
          <p:cNvPr id="11" name="Table 10"/>
          <p:cNvGraphicFramePr>
            <a:graphicFrameLocks noGrp="1"/>
          </p:cNvGraphicFramePr>
          <p:nvPr/>
        </p:nvGraphicFramePr>
        <p:xfrm>
          <a:off x="393192" y="1773936"/>
          <a:ext cx="4828032" cy="3300984"/>
        </p:xfrm>
        <a:graphic>
          <a:graphicData uri="http://schemas.openxmlformats.org/drawingml/2006/table">
            <a:tbl>
              <a:tblPr firstRow="0" bandRow="0">
                <a:tableStyleId>{5C22544A-7EE6-4342-B048-85BDC9FD1C3A}</a:tableStyleId>
              </a:tblPr>
              <a:tblGrid>
                <a:gridCol w="786384"/>
                <a:gridCol w="4041648"/>
              </a:tblGrid>
              <a:tr h="228600">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ctr">
                        <a:spcAft>
                          <a:spcPts val="0"/>
                        </a:spcAft>
                      </a:pPr>
                      <a:r>
                        <a:rPr sz="840" b="0">
                          <a:solidFill>
                            <a:srgbClr val="1A1A1A"/>
                          </a:solidFill>
                          <a:latin typeface="游ゴシック"/>
                          <a:ea typeface="游ゴシック"/>
                          <a:cs typeface="游ゴシック"/>
                        </a:rPr>
                        <a:t>20代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東京で会社員生活を経て、20歳代の終わり頃に信州有数の蕎麦どころである長野県大町市へ移住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ctr">
                        <a:spcAft>
                          <a:spcPts val="0"/>
                        </a:spcAft>
                      </a:pPr>
                      <a:r>
                        <a:rPr sz="840" b="0">
                          <a:solidFill>
                            <a:srgbClr val="1A1A1A"/>
                          </a:solidFill>
                          <a:latin typeface="游ゴシック"/>
                          <a:ea typeface="游ゴシック"/>
                          <a:cs typeface="游ゴシック"/>
                        </a:rPr>
                        <a:t>1990年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東京・南阿佐ヶ谷に石臼挽き自家製粉の手打ち蕎麦店「慈久庵」を開業（株式会社慈久庵 設立）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ctr">
                        <a:spcAft>
                          <a:spcPts val="0"/>
                        </a:spcAft>
                      </a:pPr>
                      <a:r>
                        <a:rPr sz="840" b="0">
                          <a:solidFill>
                            <a:srgbClr val="1A1A1A"/>
                          </a:solidFill>
                          <a:latin typeface="游ゴシック"/>
                          <a:ea typeface="游ゴシック"/>
                          <a:cs typeface="游ゴシック"/>
                        </a:rPr>
                        <a:t>2002年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「もっとおいしい蕎麦」の追求と里山再生への思いから、生まれ故郷の茨城県久慈郡水府村（現・常陸太田市）へ移転。現店舗で営業を開始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常陸太田市の旧市街地に石臼挽き自家製粉の手打ち饂飩店「塩町館」を開店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ctr">
                        <a:spcAft>
                          <a:spcPts val="0"/>
                        </a:spcAft>
                      </a:pPr>
                      <a:r>
                        <a:rPr sz="840" b="0">
                          <a:solidFill>
                            <a:srgbClr val="1A1A1A"/>
                          </a:solidFill>
                          <a:latin typeface="游ゴシック"/>
                          <a:ea typeface="游ゴシック"/>
                          <a:cs typeface="游ゴシック"/>
                        </a:rPr>
                        <a:t>現在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粗挽き粉で打つ蕎麦の第一人者として知られ、在来農法・焼き畑蕎麦栽培、小麦や茶の栽培にも取り組む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ctr">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2" name="Rectangle 11"/>
          <p:cNvSpPr/>
          <p:nvPr/>
        </p:nvSpPr>
        <p:spPr>
          <a:xfrm>
            <a:off x="5440679" y="1536192"/>
            <a:ext cx="485546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550407" y="1536192"/>
            <a:ext cx="463600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外部からの評価</a:t>
            </a:r>
          </a:p>
        </p:txBody>
      </p:sp>
      <p:graphicFrame>
        <p:nvGraphicFramePr>
          <p:cNvPr id="14" name="Table 13"/>
          <p:cNvGraphicFramePr>
            <a:graphicFrameLocks noGrp="1"/>
          </p:cNvGraphicFramePr>
          <p:nvPr/>
        </p:nvGraphicFramePr>
        <p:xfrm>
          <a:off x="5440679" y="1773936"/>
          <a:ext cx="4855464" cy="1600200"/>
        </p:xfrm>
        <a:graphic>
          <a:graphicData uri="http://schemas.openxmlformats.org/drawingml/2006/table">
            <a:tbl>
              <a:tblPr firstRow="0" bandRow="0">
                <a:tableStyleId>{5C22544A-7EE6-4342-B048-85BDC9FD1C3A}</a:tableStyleId>
              </a:tblPr>
              <a:tblGrid>
                <a:gridCol w="2304288"/>
                <a:gridCol w="2551176"/>
              </a:tblGrid>
              <a:tr h="228600">
                <a:tc>
                  <a:txBody>
                    <a:bodyPr wrap="square"/>
                    <a:lstStyle/>
                    <a:p>
                      <a:pPr algn="ctr">
                        <a:spcAft>
                          <a:spcPts val="0"/>
                        </a:spcAft>
                      </a:pPr>
                      <a:r>
                        <a:rPr sz="840" b="1">
                          <a:solidFill>
                            <a:srgbClr val="FFFFFF"/>
                          </a:solidFill>
                          <a:latin typeface="游ゴシック"/>
                          <a:ea typeface="游ゴシック"/>
                          <a:cs typeface="游ゴシック"/>
                        </a:rPr>
                        <a:t>評価・受賞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Restaurant Award 2016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茨城県 TOP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Brand Collection 2026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茨城版に「古式健珍蕎麦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440679" y="3474720"/>
            <a:ext cx="485546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550407" y="3474720"/>
            <a:ext cx="463600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ブランドを支える「つくり方」</a:t>
            </a:r>
          </a:p>
        </p:txBody>
      </p:sp>
      <p:sp>
        <p:nvSpPr>
          <p:cNvPr id="17" name="Rectangle 16"/>
          <p:cNvSpPr/>
          <p:nvPr/>
        </p:nvSpPr>
        <p:spPr>
          <a:xfrm>
            <a:off x="5440679" y="3712463"/>
            <a:ext cx="4855464" cy="2340864"/>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68695" y="3822191"/>
            <a:ext cx="4599432" cy="2157984"/>
          </a:xfrm>
          <a:prstGeom prst="rect">
            <a:avLst/>
          </a:prstGeom>
          <a:noFill/>
        </p:spPr>
        <p:txBody>
          <a:bodyPr wrap="square" lIns="0" rIns="0" tIns="0" bIns="0" anchor="t">
            <a:spAutoFit/>
          </a:bodyPr>
          <a:lstStyle/>
          <a:p>
            <a:pPr algn="l">
              <a:lnSpc>
                <a:spcPct val="118000"/>
              </a:lnSpc>
              <a:spcAft>
                <a:spcPts val="200"/>
              </a:spcAft>
            </a:pPr>
            <a:r>
              <a:rPr sz="850" b="1">
                <a:solidFill>
                  <a:srgbClr val="0B3041"/>
                </a:solidFill>
                <a:latin typeface="游ゴシック"/>
                <a:ea typeface="游ゴシック"/>
                <a:cs typeface="游ゴシック"/>
              </a:rPr>
              <a:t>原料　</a:t>
            </a:r>
            <a:r>
              <a:rPr sz="850" b="0">
                <a:solidFill>
                  <a:srgbClr val="1A1A1A"/>
                </a:solidFill>
                <a:latin typeface="游ゴシック"/>
                <a:ea typeface="游ゴシック"/>
                <a:cs typeface="游ゴシック"/>
              </a:rPr>
              <a:t>玄そばの最高峰とされる地元産「常陸秋そば」を、農家を応援する意味合いから高値で買い取り。併せて代表者自ら畑に出て栽培にも従事。</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焼畑　</a:t>
            </a:r>
            <a:r>
              <a:rPr sz="850" b="0">
                <a:solidFill>
                  <a:srgbClr val="1A1A1A"/>
                </a:solidFill>
                <a:latin typeface="游ゴシック"/>
                <a:ea typeface="游ゴシック"/>
                <a:cs typeface="游ゴシック"/>
              </a:rPr>
              <a:t>国内でも希少となった焼き畑農法を再興して24年。放棄されていた土地を再生し、茎が太く生命力に満ちたそばを収穫。</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製粉　</a:t>
            </a:r>
            <a:r>
              <a:rPr sz="850" b="0">
                <a:solidFill>
                  <a:srgbClr val="1A1A1A"/>
                </a:solidFill>
                <a:latin typeface="游ゴシック"/>
                <a:ea typeface="游ゴシック"/>
                <a:cs typeface="游ゴシック"/>
              </a:rPr>
              <a:t>集めたそばを一年間寝かせてから石臼で自家製粉。同一品種でも畑により性質が異なるため畑ごとに袋を分け、寝かせた粉と新しい粉をブレンド。基本は九一。</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商品　</a:t>
            </a:r>
            <a:r>
              <a:rPr sz="850" b="0">
                <a:solidFill>
                  <a:srgbClr val="1A1A1A"/>
                </a:solidFill>
                <a:latin typeface="游ゴシック"/>
                <a:ea typeface="游ゴシック"/>
                <a:cs typeface="游ゴシック"/>
              </a:rPr>
              <a:t>「ホシ」と呼ばれる黒い斑点が浮かぶ粗挽き蕎麦が看板。地元の無農薬有機野菜を使った茨城の郷土蕎麦「古式けんちんそば」も提供。</a:t>
            </a:r>
          </a:p>
          <a:p>
            <a:pPr algn="l">
              <a:spcAft>
                <a:spcPts val="200"/>
              </a:spcAft>
            </a:pPr>
          </a:p>
        </p:txBody>
      </p:sp>
      <p:sp>
        <p:nvSpPr>
          <p:cNvPr id="19" name="TextBox 18"/>
          <p:cNvSpPr txBox="1"/>
          <p:nvPr/>
        </p:nvSpPr>
        <p:spPr>
          <a:xfrm>
            <a:off x="393192" y="6473952"/>
            <a:ext cx="9902952" cy="813815"/>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代表者経歴は著書『小川宣夫の蕎麦・饂飩指南』の著者略歴、ブランド・製法に関する記述は Japan Brand Collection 2026 茨城版（メディアパルムック）に基づきます。</a:t>
            </a:r>
          </a:p>
          <a:p>
            <a:pPr algn="l">
              <a:lnSpc>
                <a:spcPct val="108000"/>
              </a:lnSpc>
              <a:spcAft>
                <a:spcPts val="100"/>
              </a:spcAft>
            </a:pPr>
            <a:r>
              <a:rPr sz="800" b="0">
                <a:solidFill>
                  <a:srgbClr val="5A656B"/>
                </a:solidFill>
                <a:latin typeface="游ゴシック Medium"/>
                <a:ea typeface="游ゴシック Medium"/>
                <a:cs typeface="游ゴシック Medium"/>
              </a:rPr>
              <a:t>※ 受賞歴は店内に掲示された盾・楯・ステッカーの実査により確認しています。受賞記録の原本（表彰状等）は要確認。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2. 事業概要</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店舗・不動産の概況</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代表者が設計し私財を投じて2002年に建築した板倉造・茅葺きの自社店舗。「100〜200年もつ建物」を企図</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12</a:t>
            </a:r>
          </a:p>
        </p:txBody>
      </p:sp>
      <p:sp>
        <p:nvSpPr>
          <p:cNvPr id="9" name="Rectangle 8"/>
          <p:cNvSpPr/>
          <p:nvPr/>
        </p:nvSpPr>
        <p:spPr>
          <a:xfrm>
            <a:off x="393192" y="1536192"/>
            <a:ext cx="4828032"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02920" y="1536192"/>
            <a:ext cx="4608576"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店舗・不動産の概要</a:t>
            </a:r>
          </a:p>
        </p:txBody>
      </p:sp>
      <p:graphicFrame>
        <p:nvGraphicFramePr>
          <p:cNvPr id="11" name="Table 10"/>
          <p:cNvGraphicFramePr>
            <a:graphicFrameLocks noGrp="1"/>
          </p:cNvGraphicFramePr>
          <p:nvPr/>
        </p:nvGraphicFramePr>
        <p:xfrm>
          <a:off x="393192" y="1773936"/>
          <a:ext cx="4828032" cy="3840480"/>
        </p:xfrm>
        <a:graphic>
          <a:graphicData uri="http://schemas.openxmlformats.org/drawingml/2006/table">
            <a:tbl>
              <a:tblPr firstRow="0" bandRow="0">
                <a:tableStyleId>{5C22544A-7EE6-4342-B048-85BDC9FD1C3A}</a:tableStyleId>
              </a:tblPr>
              <a:tblGrid>
                <a:gridCol w="987552"/>
                <a:gridCol w="3840480"/>
              </a:tblGrid>
              <a:tr h="228600">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木造モルタル造（板倉造・茅葺き屋根）　1階：店舗／2階：代表者住居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この地方に伝わる曲がり家と欧州の田舎家を合わせた意匠。代表者が自ら設計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取得時期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2002年2月（建物本体）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取得価額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85,704千円、建物附属設備 32,646千円、構築物 1,584千円 ほか　計 104,599千円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期末簿価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39,249千円、構築物 43千円（2026年5月期）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自己所有（簿価 3,450千円）。店舗敷地および駐車場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客席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土間の待合、板の間、畳敷の座敷（座卓6卓程度）、囲炉裏、縁側デッキ。薪ストーブ2台を設置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建物は未登記。表題登記・保存登記の実施可否、費用、所要期間は要確認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居住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代表者・配偶者が店舗2階に居住中。明渡しの時期・条件は協議事項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2" name="Rectangle 11"/>
          <p:cNvSpPr/>
          <p:nvPr/>
        </p:nvSpPr>
        <p:spPr>
          <a:xfrm>
            <a:off x="5440679" y="1536192"/>
            <a:ext cx="485546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550407" y="1536192"/>
            <a:ext cx="463600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買手にとっての意味合い</a:t>
            </a:r>
          </a:p>
        </p:txBody>
      </p:sp>
      <p:sp>
        <p:nvSpPr>
          <p:cNvPr id="14" name="Rectangle 13"/>
          <p:cNvSpPr/>
          <p:nvPr/>
        </p:nvSpPr>
        <p:spPr>
          <a:xfrm>
            <a:off x="5440679" y="1773936"/>
            <a:ext cx="4855464" cy="2066543"/>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568695" y="1883664"/>
            <a:ext cx="4599432" cy="1883664"/>
          </a:xfrm>
          <a:prstGeom prst="rect">
            <a:avLst/>
          </a:prstGeom>
          <a:noFill/>
        </p:spPr>
        <p:txBody>
          <a:bodyPr wrap="square" lIns="0" rIns="0" tIns="0" bIns="0" anchor="t">
            <a:spAutoFit/>
          </a:bodyPr>
          <a:lstStyle/>
          <a:p>
            <a:pPr algn="l">
              <a:lnSpc>
                <a:spcPct val="118000"/>
              </a:lnSpc>
              <a:spcAft>
                <a:spcPts val="200"/>
              </a:spcAft>
            </a:pPr>
            <a:r>
              <a:rPr sz="850" b="1">
                <a:solidFill>
                  <a:srgbClr val="0B3041"/>
                </a:solidFill>
                <a:latin typeface="游ゴシック"/>
                <a:ea typeface="游ゴシック"/>
                <a:cs typeface="游ゴシック"/>
              </a:rPr>
              <a:t>店舗そのものがブランドの一部　</a:t>
            </a:r>
            <a:r>
              <a:rPr sz="850" b="0">
                <a:solidFill>
                  <a:srgbClr val="1A1A1A"/>
                </a:solidFill>
                <a:latin typeface="游ゴシック"/>
                <a:ea typeface="游ゴシック"/>
                <a:cs typeface="游ゴシック"/>
              </a:rPr>
              <a:t>茅葺き・板倉造の建物と里山の景観は「慈久庵」の体験価値を構成する要素であり、同等の店舗を新規に建築することは事実上困難です。</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賃料負担がない　</a:t>
            </a:r>
            <a:r>
              <a:rPr sz="850" b="0">
                <a:solidFill>
                  <a:srgbClr val="1A1A1A"/>
                </a:solidFill>
                <a:latin typeface="游ゴシック"/>
                <a:ea typeface="游ゴシック"/>
                <a:cs typeface="游ゴシック"/>
              </a:rPr>
              <a:t>土地・建物とも自己所有であり、地代家賃の計上はありません。固定費は水道光熱費1,490千円・租税公課1,137千円等が中心です。</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一方で　</a:t>
            </a:r>
            <a:r>
              <a:rPr sz="850" b="0">
                <a:solidFill>
                  <a:srgbClr val="1A1A1A"/>
                </a:solidFill>
                <a:latin typeface="游ゴシック"/>
                <a:ea typeface="游ゴシック"/>
                <a:cs typeface="游ゴシック"/>
              </a:rPr>
              <a:t>建物が未登記であること、代表者夫妻が2階に居住していることは、本件実行前に整理が必要な事項です。</a:t>
            </a:r>
          </a:p>
          <a:p>
            <a:pPr algn="l">
              <a:spcAft>
                <a:spcPts val="200"/>
              </a:spcAft>
            </a:pPr>
          </a:p>
        </p:txBody>
      </p:sp>
      <p:sp>
        <p:nvSpPr>
          <p:cNvPr id="16" name="Rectangle 15"/>
          <p:cNvSpPr/>
          <p:nvPr/>
        </p:nvSpPr>
        <p:spPr>
          <a:xfrm>
            <a:off x="5440679" y="3858768"/>
            <a:ext cx="485546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550407" y="3858768"/>
            <a:ext cx="463600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減価償却資産の構成（2026年5月期）</a:t>
            </a:r>
          </a:p>
        </p:txBody>
      </p:sp>
      <p:graphicFrame>
        <p:nvGraphicFramePr>
          <p:cNvPr id="18" name="Table 17"/>
          <p:cNvGraphicFramePr>
            <a:graphicFrameLocks noGrp="1"/>
          </p:cNvGraphicFramePr>
          <p:nvPr/>
        </p:nvGraphicFramePr>
        <p:xfrm>
          <a:off x="5440679" y="4096511"/>
          <a:ext cx="4855464" cy="2104947"/>
        </p:xfrm>
        <a:graphic>
          <a:graphicData uri="http://schemas.openxmlformats.org/drawingml/2006/table">
            <a:tbl>
              <a:tblPr firstRow="0" bandRow="0">
                <a:tableStyleId>{5C22544A-7EE6-4342-B048-85BDC9FD1C3A}</a:tableStyleId>
              </a:tblPr>
              <a:tblGrid>
                <a:gridCol w="2295144"/>
                <a:gridCol w="1280160"/>
                <a:gridCol w="1280160"/>
              </a:tblGrid>
              <a:tr h="228600">
                <a:tc>
                  <a:txBody>
                    <a:bodyPr wrap="square"/>
                    <a:lstStyle/>
                    <a:p>
                      <a:pPr algn="ctr">
                        <a:spcAft>
                          <a:spcPts val="0"/>
                        </a:spcAft>
                      </a:pPr>
                      <a:r>
                        <a:rPr sz="840" b="1">
                          <a:solidFill>
                            <a:srgbClr val="FFFFFF"/>
                          </a:solidFill>
                          <a:latin typeface="游ゴシック"/>
                          <a:ea typeface="游ゴシック"/>
                          <a:cs typeface="游ゴシック"/>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104,599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33,405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4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40" b="0">
                          <a:solidFill>
                            <a:srgbClr val="1A1A1A"/>
                          </a:solidFill>
                          <a:latin typeface="游ゴシック"/>
                          <a:ea typeface="游ゴシック"/>
                          <a:cs typeface="游ゴシック"/>
                        </a:rPr>
                        <a:t>車両及び運搬具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7,299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23,956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40" b="0">
                          <a:solidFill>
                            <a:srgbClr val="1A1A1A"/>
                          </a:solidFill>
                          <a:latin typeface="游ゴシック"/>
                          <a:ea typeface="游ゴシック"/>
                          <a:cs typeface="游ゴシック"/>
                        </a:rPr>
                        <a:t>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3,667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4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180,709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45,716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9" name="TextBox 18"/>
          <p:cNvSpPr txBox="1"/>
          <p:nvPr/>
        </p:nvSpPr>
        <p:spPr>
          <a:xfrm>
            <a:off x="5440679" y="3657600"/>
            <a:ext cx="4855464"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（単位：千円）</a:t>
            </a:r>
          </a:p>
        </p:txBody>
      </p:sp>
      <p:sp>
        <p:nvSpPr>
          <p:cNvPr id="20" name="TextBox 19"/>
          <p:cNvSpPr txBox="1"/>
          <p:nvPr/>
        </p:nvSpPr>
        <p:spPr>
          <a:xfrm>
            <a:off x="393192" y="6455664"/>
            <a:ext cx="9902952" cy="832103"/>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固定資産減価償却内訳明細書（2026年5月期）に基づきます。建物の取得価額には塩町館に係る改造工事16,744千円（期末簿価5,442千円）を含みます。</a:t>
            </a:r>
          </a:p>
          <a:p>
            <a:pPr algn="l">
              <a:lnSpc>
                <a:spcPct val="108000"/>
              </a:lnSpc>
              <a:spcAft>
                <a:spcPts val="100"/>
              </a:spcAft>
            </a:pPr>
            <a:r>
              <a:rPr sz="800" b="0">
                <a:solidFill>
                  <a:srgbClr val="5A656B"/>
                </a:solidFill>
                <a:latin typeface="游ゴシック Medium"/>
                <a:ea typeface="游ゴシック Medium"/>
                <a:cs typeface="游ゴシック Medium"/>
              </a:rPr>
              <a:t>※ 土地・建物の面積は公簿・実測とも資料未受領のため記載していません（要確認）。路線価等による時価評価も未実施です。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2. 事業概要</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収益構造（商流）</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店頭飲食に加え、製粉・卸売、通信販売・物販、関係先への食材供給の4本柱。店舗一本足ではない</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13</a:t>
            </a:r>
          </a:p>
        </p:txBody>
      </p:sp>
      <p:sp>
        <p:nvSpPr>
          <p:cNvPr id="9" name="Rectangle 8"/>
          <p:cNvSpPr/>
          <p:nvPr/>
        </p:nvSpPr>
        <p:spPr>
          <a:xfrm>
            <a:off x="3968496" y="2468880"/>
            <a:ext cx="2743200" cy="173736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968496" y="2596896"/>
            <a:ext cx="2743200" cy="274320"/>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株式会社慈久庵</a:t>
            </a:r>
          </a:p>
        </p:txBody>
      </p:sp>
      <p:sp>
        <p:nvSpPr>
          <p:cNvPr id="11" name="TextBox 10"/>
          <p:cNvSpPr txBox="1"/>
          <p:nvPr/>
        </p:nvSpPr>
        <p:spPr>
          <a:xfrm>
            <a:off x="4078224" y="2944368"/>
            <a:ext cx="2523744" cy="1152144"/>
          </a:xfrm>
          <a:prstGeom prst="rect">
            <a:avLst/>
          </a:prstGeom>
          <a:noFill/>
        </p:spPr>
        <p:txBody>
          <a:bodyPr wrap="square" lIns="0" rIns="0" tIns="0" bIns="0" anchor="t">
            <a:spAutoFit/>
          </a:bodyPr>
          <a:lstStyle/>
          <a:p>
            <a:pPr algn="l">
              <a:lnSpc>
                <a:spcPct val="118000"/>
              </a:lnSpc>
              <a:spcAft>
                <a:spcPts val="300"/>
              </a:spcAft>
            </a:pPr>
            <a:r>
              <a:rPr sz="900" b="0">
                <a:solidFill>
                  <a:srgbClr val="D6E4EA"/>
                </a:solidFill>
                <a:latin typeface="游ゴシック"/>
                <a:ea typeface="游ゴシック"/>
                <a:cs typeface="游ゴシック"/>
              </a:rPr>
              <a:t>◆ そば店「慈久庵」</a:t>
            </a:r>
          </a:p>
          <a:p>
            <a:pPr algn="l">
              <a:lnSpc>
                <a:spcPct val="118000"/>
              </a:lnSpc>
              <a:spcAft>
                <a:spcPts val="300"/>
              </a:spcAft>
            </a:pPr>
            <a:r>
              <a:rPr sz="900" b="0">
                <a:solidFill>
                  <a:srgbClr val="D6E4EA"/>
                </a:solidFill>
                <a:latin typeface="游ゴシック"/>
                <a:ea typeface="游ゴシック"/>
                <a:cs typeface="游ゴシック"/>
              </a:rPr>
              <a:t>◆ 自家製粉（石臼）</a:t>
            </a:r>
          </a:p>
          <a:p>
            <a:pPr algn="l">
              <a:lnSpc>
                <a:spcPct val="118000"/>
              </a:lnSpc>
              <a:spcAft>
                <a:spcPts val="300"/>
              </a:spcAft>
            </a:pPr>
            <a:r>
              <a:rPr sz="900" b="0">
                <a:solidFill>
                  <a:srgbClr val="D6E4EA"/>
                </a:solidFill>
                <a:latin typeface="游ゴシック"/>
                <a:ea typeface="游ゴシック"/>
                <a:cs typeface="游ゴシック"/>
              </a:rPr>
              <a:t>◆ 乾麺・そばつゆ・醤等の製造</a:t>
            </a:r>
          </a:p>
          <a:p>
            <a:pPr algn="l">
              <a:lnSpc>
                <a:spcPct val="118000"/>
              </a:lnSpc>
              <a:spcAft>
                <a:spcPts val="300"/>
              </a:spcAft>
            </a:pPr>
            <a:r>
              <a:rPr sz="900" b="0">
                <a:solidFill>
                  <a:srgbClr val="D6E4EA"/>
                </a:solidFill>
                <a:latin typeface="游ゴシック"/>
                <a:ea typeface="游ゴシック"/>
                <a:cs typeface="游ゴシック"/>
              </a:rPr>
              <a:t>◆ そば・小麦の栽培（焼畑）</a:t>
            </a:r>
          </a:p>
        </p:txBody>
      </p:sp>
      <p:sp>
        <p:nvSpPr>
          <p:cNvPr id="12" name="Rectangle 11"/>
          <p:cNvSpPr/>
          <p:nvPr/>
        </p:nvSpPr>
        <p:spPr>
          <a:xfrm>
            <a:off x="393192" y="1554480"/>
            <a:ext cx="3108960" cy="987552"/>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93192" y="1554480"/>
            <a:ext cx="5029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9496" y="1645920"/>
            <a:ext cx="283464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店頭飲食　15,099千円（67.2％）</a:t>
            </a:r>
          </a:p>
        </p:txBody>
      </p:sp>
      <p:sp>
        <p:nvSpPr>
          <p:cNvPr id="15" name="TextBox 14"/>
          <p:cNvSpPr txBox="1"/>
          <p:nvPr/>
        </p:nvSpPr>
        <p:spPr>
          <a:xfrm>
            <a:off x="539496" y="1920240"/>
            <a:ext cx="2834640" cy="530352"/>
          </a:xfrm>
          <a:prstGeom prst="rect">
            <a:avLst/>
          </a:prstGeom>
          <a:noFill/>
        </p:spPr>
        <p:txBody>
          <a:bodyPr wrap="square" lIns="0" rIns="0" tIns="0" bIns="0" anchor="t">
            <a:spAutoFit/>
          </a:bodyPr>
          <a:lstStyle/>
          <a:p>
            <a:pPr algn="l">
              <a:lnSpc>
                <a:spcPct val="118000"/>
              </a:lnSpc>
              <a:spcAft>
                <a:spcPts val="100"/>
              </a:spcAft>
            </a:pPr>
            <a:r>
              <a:rPr sz="830" b="0">
                <a:solidFill>
                  <a:srgbClr val="5A656B"/>
                </a:solidFill>
                <a:latin typeface="游ゴシック Medium"/>
                <a:ea typeface="游ゴシック Medium"/>
                <a:cs typeface="游ゴシック Medium"/>
              </a:rPr>
              <a:t>一般消費者／昼のみ・売り切りじまい</a:t>
            </a:r>
          </a:p>
          <a:p>
            <a:pPr algn="l">
              <a:lnSpc>
                <a:spcPct val="118000"/>
              </a:lnSpc>
              <a:spcAft>
                <a:spcPts val="100"/>
              </a:spcAft>
            </a:pPr>
            <a:r>
              <a:rPr sz="830" b="0">
                <a:solidFill>
                  <a:srgbClr val="5A656B"/>
                </a:solidFill>
                <a:latin typeface="游ゴシック Medium"/>
                <a:ea typeface="游ゴシック Medium"/>
                <a:cs typeface="游ゴシック Medium"/>
              </a:rPr>
              <a:t>年間営業日数200日・日商平均75千円</a:t>
            </a:r>
          </a:p>
        </p:txBody>
      </p:sp>
      <p:sp>
        <p:nvSpPr>
          <p:cNvPr id="16" name="Rectangle 15"/>
          <p:cNvSpPr/>
          <p:nvPr/>
        </p:nvSpPr>
        <p:spPr>
          <a:xfrm>
            <a:off x="3502152" y="2037283"/>
            <a:ext cx="466343"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93192" y="2743200"/>
            <a:ext cx="3108960" cy="987552"/>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393192" y="2743200"/>
            <a:ext cx="5029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9496" y="2834640"/>
            <a:ext cx="283464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製粉・卸売　2,273千円（10.1％）</a:t>
            </a:r>
          </a:p>
        </p:txBody>
      </p:sp>
      <p:sp>
        <p:nvSpPr>
          <p:cNvPr id="20" name="TextBox 19"/>
          <p:cNvSpPr txBox="1"/>
          <p:nvPr/>
        </p:nvSpPr>
        <p:spPr>
          <a:xfrm>
            <a:off x="539496" y="3108960"/>
            <a:ext cx="2834640" cy="530352"/>
          </a:xfrm>
          <a:prstGeom prst="rect">
            <a:avLst/>
          </a:prstGeom>
          <a:noFill/>
        </p:spPr>
        <p:txBody>
          <a:bodyPr wrap="square" lIns="0" rIns="0" tIns="0" bIns="0" anchor="t">
            <a:spAutoFit/>
          </a:bodyPr>
          <a:lstStyle/>
          <a:p>
            <a:pPr algn="l">
              <a:lnSpc>
                <a:spcPct val="118000"/>
              </a:lnSpc>
              <a:spcAft>
                <a:spcPts val="100"/>
              </a:spcAft>
            </a:pPr>
            <a:r>
              <a:rPr sz="830" b="0">
                <a:solidFill>
                  <a:srgbClr val="5A656B"/>
                </a:solidFill>
                <a:latin typeface="游ゴシック Medium"/>
                <a:ea typeface="游ゴシック Medium"/>
                <a:cs typeface="游ゴシック Medium"/>
              </a:rPr>
              <a:t>キビヤベーカリー、ルヴァン㈱、（株）シオミ</a:t>
            </a:r>
          </a:p>
          <a:p>
            <a:pPr algn="l">
              <a:lnSpc>
                <a:spcPct val="118000"/>
              </a:lnSpc>
              <a:spcAft>
                <a:spcPts val="100"/>
              </a:spcAft>
            </a:pPr>
            <a:r>
              <a:rPr sz="830" b="0">
                <a:solidFill>
                  <a:srgbClr val="5A656B"/>
                </a:solidFill>
                <a:latin typeface="游ゴシック Medium"/>
                <a:ea typeface="游ゴシック Medium"/>
                <a:cs typeface="游ゴシック Medium"/>
              </a:rPr>
              <a:t>石臼挽き小麦粉を著名ベーカリーへ供給</a:t>
            </a:r>
          </a:p>
        </p:txBody>
      </p:sp>
      <p:sp>
        <p:nvSpPr>
          <p:cNvPr id="21" name="Rectangle 20"/>
          <p:cNvSpPr/>
          <p:nvPr/>
        </p:nvSpPr>
        <p:spPr>
          <a:xfrm>
            <a:off x="3502152" y="3226003"/>
            <a:ext cx="466343"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93192" y="3931920"/>
            <a:ext cx="3108960" cy="987552"/>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93192" y="3931920"/>
            <a:ext cx="5029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9496" y="4023359"/>
            <a:ext cx="283464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玄そば・蕎麦粉の卸売</a:t>
            </a:r>
          </a:p>
        </p:txBody>
      </p:sp>
      <p:sp>
        <p:nvSpPr>
          <p:cNvPr id="25" name="TextBox 24"/>
          <p:cNvSpPr txBox="1"/>
          <p:nvPr/>
        </p:nvSpPr>
        <p:spPr>
          <a:xfrm>
            <a:off x="539496" y="4297680"/>
            <a:ext cx="2834640" cy="530352"/>
          </a:xfrm>
          <a:prstGeom prst="rect">
            <a:avLst/>
          </a:prstGeom>
          <a:noFill/>
        </p:spPr>
        <p:txBody>
          <a:bodyPr wrap="square" lIns="0" rIns="0" tIns="0" bIns="0" anchor="t">
            <a:spAutoFit/>
          </a:bodyPr>
          <a:lstStyle/>
          <a:p>
            <a:pPr algn="l">
              <a:lnSpc>
                <a:spcPct val="118000"/>
              </a:lnSpc>
              <a:spcAft>
                <a:spcPts val="100"/>
              </a:spcAft>
            </a:pPr>
            <a:r>
              <a:rPr sz="830" b="0">
                <a:solidFill>
                  <a:srgbClr val="5A656B"/>
                </a:solidFill>
                <a:latin typeface="游ゴシック Medium"/>
                <a:ea typeface="游ゴシック Medium"/>
                <a:cs typeface="游ゴシック Medium"/>
              </a:rPr>
              <a:t>打心蕎庵、玉笑 等の同業有名店へ</a:t>
            </a:r>
          </a:p>
          <a:p>
            <a:pPr algn="l">
              <a:lnSpc>
                <a:spcPct val="118000"/>
              </a:lnSpc>
              <a:spcAft>
                <a:spcPts val="100"/>
              </a:spcAft>
            </a:pPr>
            <a:r>
              <a:rPr sz="830" b="0">
                <a:solidFill>
                  <a:srgbClr val="5A656B"/>
                </a:solidFill>
                <a:latin typeface="游ゴシック Medium"/>
                <a:ea typeface="游ゴシック Medium"/>
                <a:cs typeface="游ゴシック Medium"/>
              </a:rPr>
              <a:t>（そば売上高1,949千円に含む）</a:t>
            </a:r>
          </a:p>
        </p:txBody>
      </p:sp>
      <p:sp>
        <p:nvSpPr>
          <p:cNvPr id="26" name="Rectangle 25"/>
          <p:cNvSpPr/>
          <p:nvPr/>
        </p:nvSpPr>
        <p:spPr>
          <a:xfrm>
            <a:off x="3502152" y="4414723"/>
            <a:ext cx="466343"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7187184" y="1554480"/>
            <a:ext cx="3108960" cy="987552"/>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187184" y="1554480"/>
            <a:ext cx="5029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333488" y="1645920"/>
            <a:ext cx="283464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通信販売・EC　1,021千円</a:t>
            </a:r>
          </a:p>
        </p:txBody>
      </p:sp>
      <p:sp>
        <p:nvSpPr>
          <p:cNvPr id="30" name="TextBox 29"/>
          <p:cNvSpPr txBox="1"/>
          <p:nvPr/>
        </p:nvSpPr>
        <p:spPr>
          <a:xfrm>
            <a:off x="7333488" y="1920240"/>
            <a:ext cx="2834640" cy="530352"/>
          </a:xfrm>
          <a:prstGeom prst="rect">
            <a:avLst/>
          </a:prstGeom>
          <a:noFill/>
        </p:spPr>
        <p:txBody>
          <a:bodyPr wrap="square" lIns="0" rIns="0" tIns="0" bIns="0" anchor="t">
            <a:spAutoFit/>
          </a:bodyPr>
          <a:lstStyle/>
          <a:p>
            <a:pPr algn="l">
              <a:lnSpc>
                <a:spcPct val="118000"/>
              </a:lnSpc>
              <a:spcAft>
                <a:spcPts val="100"/>
              </a:spcAft>
            </a:pPr>
            <a:r>
              <a:rPr sz="830" b="0">
                <a:solidFill>
                  <a:srgbClr val="5A656B"/>
                </a:solidFill>
                <a:latin typeface="游ゴシック Medium"/>
                <a:ea typeface="游ゴシック Medium"/>
                <a:cs typeface="游ゴシック Medium"/>
              </a:rPr>
              <a:t>Ｅコレクトサガワ（代引通販）</a:t>
            </a:r>
          </a:p>
          <a:p>
            <a:pPr algn="l">
              <a:lnSpc>
                <a:spcPct val="118000"/>
              </a:lnSpc>
              <a:spcAft>
                <a:spcPts val="100"/>
              </a:spcAft>
            </a:pPr>
            <a:r>
              <a:rPr sz="830" b="0">
                <a:solidFill>
                  <a:srgbClr val="5A656B"/>
                </a:solidFill>
                <a:latin typeface="游ゴシック Medium"/>
                <a:ea typeface="游ゴシック Medium"/>
                <a:cs typeface="游ゴシック Medium"/>
              </a:rPr>
              <a:t>アマゾンジャパン、（株）一休 等</a:t>
            </a:r>
          </a:p>
        </p:txBody>
      </p:sp>
      <p:sp>
        <p:nvSpPr>
          <p:cNvPr id="31" name="Rectangle 30"/>
          <p:cNvSpPr/>
          <p:nvPr/>
        </p:nvSpPr>
        <p:spPr>
          <a:xfrm>
            <a:off x="6711696" y="2037283"/>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7187184" y="2743200"/>
            <a:ext cx="3108960" cy="987552"/>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7187184" y="2743200"/>
            <a:ext cx="50292" cy="98755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33488" y="2834640"/>
            <a:ext cx="283464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⑤ 物販・ふるさと納税　538千円</a:t>
            </a:r>
          </a:p>
        </p:txBody>
      </p:sp>
      <p:sp>
        <p:nvSpPr>
          <p:cNvPr id="35" name="TextBox 34"/>
          <p:cNvSpPr txBox="1"/>
          <p:nvPr/>
        </p:nvSpPr>
        <p:spPr>
          <a:xfrm>
            <a:off x="7333488" y="3108960"/>
            <a:ext cx="2834640" cy="530352"/>
          </a:xfrm>
          <a:prstGeom prst="rect">
            <a:avLst/>
          </a:prstGeom>
          <a:noFill/>
        </p:spPr>
        <p:txBody>
          <a:bodyPr wrap="square" lIns="0" rIns="0" tIns="0" bIns="0" anchor="t">
            <a:spAutoFit/>
          </a:bodyPr>
          <a:lstStyle/>
          <a:p>
            <a:pPr algn="l">
              <a:lnSpc>
                <a:spcPct val="118000"/>
              </a:lnSpc>
              <a:spcAft>
                <a:spcPts val="100"/>
              </a:spcAft>
            </a:pPr>
            <a:r>
              <a:rPr sz="830" b="0">
                <a:solidFill>
                  <a:srgbClr val="5A656B"/>
                </a:solidFill>
                <a:latin typeface="游ゴシック Medium"/>
                <a:ea typeface="游ゴシック Medium"/>
                <a:cs typeface="游ゴシック Medium"/>
              </a:rPr>
              <a:t>水府振興公社、常陸太田市振興公社 等</a:t>
            </a:r>
          </a:p>
          <a:p>
            <a:pPr algn="l">
              <a:lnSpc>
                <a:spcPct val="118000"/>
              </a:lnSpc>
              <a:spcAft>
                <a:spcPts val="100"/>
              </a:spcAft>
            </a:pPr>
            <a:r>
              <a:rPr sz="830" b="0">
                <a:solidFill>
                  <a:srgbClr val="5A656B"/>
                </a:solidFill>
                <a:latin typeface="游ゴシック Medium"/>
                <a:ea typeface="游ゴシック Medium"/>
                <a:cs typeface="游ゴシック Medium"/>
              </a:rPr>
              <a:t>乾麺・そばつゆ・本返し・醤・味噌</a:t>
            </a:r>
          </a:p>
        </p:txBody>
      </p:sp>
      <p:sp>
        <p:nvSpPr>
          <p:cNvPr id="36" name="Rectangle 35"/>
          <p:cNvSpPr/>
          <p:nvPr/>
        </p:nvSpPr>
        <p:spPr>
          <a:xfrm>
            <a:off x="6711696" y="3226003"/>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7187184" y="3931920"/>
            <a:ext cx="3108960" cy="987552"/>
          </a:xfrm>
          <a:prstGeom prst="rect">
            <a:avLst/>
          </a:prstGeom>
          <a:solidFill>
            <a:srgbClr val="F7FAFC"/>
          </a:solidFill>
          <a:ln w="12700">
            <a:solidFill>
              <a:srgbClr val="7A33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7187184" y="3931920"/>
            <a:ext cx="50292" cy="987552"/>
          </a:xfrm>
          <a:prstGeom prst="rect">
            <a:avLst/>
          </a:prstGeom>
          <a:solidFill>
            <a:srgbClr val="7A3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33488" y="4023359"/>
            <a:ext cx="283464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⑥ 関係先への食材供給　3,323千円</a:t>
            </a:r>
          </a:p>
        </p:txBody>
      </p:sp>
      <p:sp>
        <p:nvSpPr>
          <p:cNvPr id="40" name="TextBox 39"/>
          <p:cNvSpPr txBox="1"/>
          <p:nvPr/>
        </p:nvSpPr>
        <p:spPr>
          <a:xfrm>
            <a:off x="7333488" y="4297680"/>
            <a:ext cx="2834640" cy="530352"/>
          </a:xfrm>
          <a:prstGeom prst="rect">
            <a:avLst/>
          </a:prstGeom>
          <a:noFill/>
        </p:spPr>
        <p:txBody>
          <a:bodyPr wrap="square" lIns="0" rIns="0" tIns="0" bIns="0" anchor="t">
            <a:spAutoFit/>
          </a:bodyPr>
          <a:lstStyle/>
          <a:p>
            <a:pPr algn="l">
              <a:lnSpc>
                <a:spcPct val="118000"/>
              </a:lnSpc>
              <a:spcAft>
                <a:spcPts val="100"/>
              </a:spcAft>
            </a:pPr>
            <a:r>
              <a:rPr sz="830" b="0">
                <a:solidFill>
                  <a:srgbClr val="5A656B"/>
                </a:solidFill>
                <a:latin typeface="游ゴシック Medium"/>
                <a:ea typeface="游ゴシック Medium"/>
                <a:cs typeface="游ゴシック Medium"/>
              </a:rPr>
              <a:t>塩町館 2,624千円、小びと 699千円</a:t>
            </a:r>
          </a:p>
          <a:p>
            <a:pPr algn="l">
              <a:lnSpc>
                <a:spcPct val="118000"/>
              </a:lnSpc>
              <a:spcAft>
                <a:spcPts val="100"/>
              </a:spcAft>
            </a:pPr>
            <a:r>
              <a:rPr sz="830" b="0">
                <a:solidFill>
                  <a:srgbClr val="5A656B"/>
                </a:solidFill>
                <a:latin typeface="游ゴシック Medium"/>
                <a:ea typeface="游ゴシック Medium"/>
                <a:cs typeface="游ゴシック Medium"/>
              </a:rPr>
              <a:t>※回収状況は要確認（P.8 ※1）</a:t>
            </a:r>
          </a:p>
        </p:txBody>
      </p:sp>
      <p:sp>
        <p:nvSpPr>
          <p:cNvPr id="41" name="Rectangle 40"/>
          <p:cNvSpPr/>
          <p:nvPr/>
        </p:nvSpPr>
        <p:spPr>
          <a:xfrm>
            <a:off x="6711696" y="4414723"/>
            <a:ext cx="475488" cy="21945"/>
          </a:xfrm>
          <a:prstGeom prst="rect">
            <a:avLst/>
          </a:prstGeom>
          <a:solidFill>
            <a:srgbClr val="7A3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393192" y="5230368"/>
            <a:ext cx="3108960" cy="2194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2920" y="5230368"/>
            <a:ext cx="2889504" cy="219456"/>
          </a:xfrm>
          <a:prstGeom prst="rect">
            <a:avLst/>
          </a:prstGeom>
          <a:noFill/>
        </p:spPr>
        <p:txBody>
          <a:bodyPr wrap="square" lIns="0" rIns="0" tIns="0" bIns="0" anchor="ctr">
            <a:spAutoFit/>
          </a:bodyPr>
          <a:lstStyle/>
          <a:p>
            <a:pPr algn="l">
              <a:spcAft>
                <a:spcPts val="0"/>
              </a:spcAft>
            </a:pPr>
            <a:r>
              <a:rPr sz="900" b="1">
                <a:solidFill>
                  <a:srgbClr val="FFFFFF"/>
                </a:solidFill>
                <a:latin typeface="游ゴシック"/>
                <a:ea typeface="游ゴシック"/>
                <a:cs typeface="游ゴシック"/>
              </a:rPr>
              <a:t>主要な仕入先</a:t>
            </a:r>
          </a:p>
        </p:txBody>
      </p:sp>
      <p:sp>
        <p:nvSpPr>
          <p:cNvPr id="44" name="Rectangle 43"/>
          <p:cNvSpPr/>
          <p:nvPr/>
        </p:nvSpPr>
        <p:spPr>
          <a:xfrm>
            <a:off x="393192" y="5449824"/>
            <a:ext cx="3108960" cy="1078992"/>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21208" y="5541264"/>
            <a:ext cx="2852928" cy="896112"/>
          </a:xfrm>
          <a:prstGeom prst="rect">
            <a:avLst/>
          </a:prstGeom>
          <a:noFill/>
        </p:spPr>
        <p:txBody>
          <a:bodyPr wrap="square" lIns="0" rIns="0" tIns="0" bIns="0" anchor="t">
            <a:spAutoFit/>
          </a:bodyPr>
          <a:lstStyle/>
          <a:p>
            <a:pPr algn="l">
              <a:lnSpc>
                <a:spcPct val="120000"/>
              </a:lnSpc>
              <a:spcAft>
                <a:spcPts val="100"/>
              </a:spcAft>
            </a:pPr>
            <a:r>
              <a:rPr sz="830" b="0">
                <a:solidFill>
                  <a:srgbClr val="1A1A1A"/>
                </a:solidFill>
                <a:latin typeface="游ゴシック Medium"/>
                <a:ea typeface="游ゴシック Medium"/>
                <a:cs typeface="游ゴシック Medium"/>
              </a:rPr>
              <a:t>ミルキーウェーブ（小麦）1,155千円</a:t>
            </a:r>
          </a:p>
          <a:p>
            <a:pPr algn="l">
              <a:lnSpc>
                <a:spcPct val="120000"/>
              </a:lnSpc>
              <a:spcAft>
                <a:spcPts val="100"/>
              </a:spcAft>
            </a:pPr>
            <a:r>
              <a:rPr sz="830" b="0">
                <a:solidFill>
                  <a:srgbClr val="1A1A1A"/>
                </a:solidFill>
                <a:latin typeface="游ゴシック Medium"/>
                <a:ea typeface="游ゴシック Medium"/>
                <a:cs typeface="游ゴシック Medium"/>
              </a:rPr>
              <a:t>海老根 章 氏（玄そば）660千円</a:t>
            </a:r>
          </a:p>
          <a:p>
            <a:pPr algn="l">
              <a:lnSpc>
                <a:spcPct val="120000"/>
              </a:lnSpc>
              <a:spcAft>
                <a:spcPts val="100"/>
              </a:spcAft>
            </a:pPr>
            <a:r>
              <a:rPr sz="830" b="0">
                <a:solidFill>
                  <a:srgbClr val="1A1A1A"/>
                </a:solidFill>
                <a:latin typeface="游ゴシック Medium"/>
                <a:ea typeface="游ゴシック Medium"/>
                <a:cs typeface="游ゴシック Medium"/>
              </a:rPr>
              <a:t>健興通商（酒類）477千円、（株）鈴木商店（食材）334千円</a:t>
            </a:r>
          </a:p>
        </p:txBody>
      </p:sp>
      <p:sp>
        <p:nvSpPr>
          <p:cNvPr id="46" name="Rectangle 45"/>
          <p:cNvSpPr/>
          <p:nvPr/>
        </p:nvSpPr>
        <p:spPr>
          <a:xfrm>
            <a:off x="7187184" y="5230368"/>
            <a:ext cx="3108960" cy="2194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296912" y="5230368"/>
            <a:ext cx="2889504" cy="219456"/>
          </a:xfrm>
          <a:prstGeom prst="rect">
            <a:avLst/>
          </a:prstGeom>
          <a:noFill/>
        </p:spPr>
        <p:txBody>
          <a:bodyPr wrap="square" lIns="0" rIns="0" tIns="0" bIns="0" anchor="ctr">
            <a:spAutoFit/>
          </a:bodyPr>
          <a:lstStyle/>
          <a:p>
            <a:pPr algn="l">
              <a:spcAft>
                <a:spcPts val="0"/>
              </a:spcAft>
            </a:pPr>
            <a:r>
              <a:rPr sz="900" b="1">
                <a:solidFill>
                  <a:srgbClr val="FFFFFF"/>
                </a:solidFill>
                <a:latin typeface="游ゴシック"/>
                <a:ea typeface="游ゴシック"/>
                <a:cs typeface="游ゴシック"/>
              </a:rPr>
              <a:t>外注先</a:t>
            </a:r>
          </a:p>
        </p:txBody>
      </p:sp>
      <p:sp>
        <p:nvSpPr>
          <p:cNvPr id="48" name="Rectangle 47"/>
          <p:cNvSpPr/>
          <p:nvPr/>
        </p:nvSpPr>
        <p:spPr>
          <a:xfrm>
            <a:off x="7187184" y="5449824"/>
            <a:ext cx="3108960" cy="1078992"/>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315200" y="5541264"/>
            <a:ext cx="2852928" cy="896112"/>
          </a:xfrm>
          <a:prstGeom prst="rect">
            <a:avLst/>
          </a:prstGeom>
          <a:noFill/>
        </p:spPr>
        <p:txBody>
          <a:bodyPr wrap="square" lIns="0" rIns="0" tIns="0" bIns="0" anchor="t">
            <a:spAutoFit/>
          </a:bodyPr>
          <a:lstStyle/>
          <a:p>
            <a:pPr algn="l">
              <a:lnSpc>
                <a:spcPct val="120000"/>
              </a:lnSpc>
              <a:spcAft>
                <a:spcPts val="100"/>
              </a:spcAft>
            </a:pPr>
            <a:r>
              <a:rPr sz="830" b="0">
                <a:solidFill>
                  <a:srgbClr val="1A1A1A"/>
                </a:solidFill>
                <a:latin typeface="游ゴシック Medium"/>
                <a:ea typeface="游ゴシック Medium"/>
                <a:cs typeface="游ゴシック Medium"/>
              </a:rPr>
              <a:t>伊勢又米穀製粉（株）267千円（製粉外注）</a:t>
            </a:r>
          </a:p>
          <a:p>
            <a:pPr algn="l">
              <a:lnSpc>
                <a:spcPct val="120000"/>
              </a:lnSpc>
              <a:spcAft>
                <a:spcPts val="100"/>
              </a:spcAft>
            </a:pPr>
            <a:r>
              <a:rPr sz="830" b="0">
                <a:solidFill>
                  <a:srgbClr val="1A1A1A"/>
                </a:solidFill>
                <a:latin typeface="游ゴシック Medium"/>
                <a:ea typeface="游ゴシック Medium"/>
                <a:cs typeface="游ゴシック Medium"/>
              </a:rPr>
              <a:t>吉沢製粉 5千円</a:t>
            </a:r>
          </a:p>
          <a:p>
            <a:pPr algn="l">
              <a:lnSpc>
                <a:spcPct val="120000"/>
              </a:lnSpc>
              <a:spcAft>
                <a:spcPts val="100"/>
              </a:spcAft>
            </a:pPr>
            <a:r>
              <a:rPr sz="830" b="0">
                <a:solidFill>
                  <a:srgbClr val="1A1A1A"/>
                </a:solidFill>
                <a:latin typeface="游ゴシック Medium"/>
                <a:ea typeface="游ゴシック Medium"/>
                <a:cs typeface="游ゴシック Medium"/>
              </a:rPr>
              <a:t>※関係会社（株）慈久庵伊勢又との関係整理は要確認</a:t>
            </a:r>
          </a:p>
        </p:txBody>
      </p:sp>
      <p:sp>
        <p:nvSpPr>
          <p:cNvPr id="50" name="TextBox 49"/>
          <p:cNvSpPr txBox="1"/>
          <p:nvPr/>
        </p:nvSpPr>
        <p:spPr>
          <a:xfrm>
            <a:off x="393192" y="6547104"/>
            <a:ext cx="9902952" cy="740663"/>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金額はいずれも2026年5月期。売上の区分は総勘定元帳の相手科目・取引先欄により弊社が集計したものであり、決算書の勘定科目区分とは一致しません。</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2. 事業概要</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売上構成の推移</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減収は店頭飲食（△2,418千円）と商品売上（△603千円）が主因。小麦粉の卸売と通信販売はむしろ増加</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14</a:t>
            </a:r>
          </a:p>
        </p:txBody>
      </p:sp>
      <p:graphicFrame>
        <p:nvGraphicFramePr>
          <p:cNvPr id="9" name="Table 8"/>
          <p:cNvGraphicFramePr>
            <a:graphicFrameLocks noGrp="1"/>
          </p:cNvGraphicFramePr>
          <p:nvPr/>
        </p:nvGraphicFramePr>
        <p:xfrm>
          <a:off x="393192" y="1554480"/>
          <a:ext cx="9902946" cy="1645920"/>
        </p:xfrm>
        <a:graphic>
          <a:graphicData uri="http://schemas.openxmlformats.org/drawingml/2006/table">
            <a:tbl>
              <a:tblPr firstRow="0" bandRow="0">
                <a:tableStyleId>{5C22544A-7EE6-4342-B048-85BDC9FD1C3A}</a:tableStyleId>
              </a:tblPr>
              <a:tblGrid>
                <a:gridCol w="2084831"/>
                <a:gridCol w="1355140"/>
                <a:gridCol w="1355140"/>
                <a:gridCol w="1355140"/>
                <a:gridCol w="1355140"/>
                <a:gridCol w="1355140"/>
                <a:gridCol w="1042415"/>
              </a:tblGrid>
              <a:tr h="274320">
                <a:tc>
                  <a:txBody>
                    <a:bodyPr wrap="square"/>
                    <a:lstStyle/>
                    <a:p>
                      <a:pPr algn="ctr">
                        <a:spcAft>
                          <a:spcPts val="0"/>
                        </a:spcAft>
                      </a:pPr>
                      <a:r>
                        <a:rPr sz="900" b="1">
                          <a:solidFill>
                            <a:srgbClr val="FFFFFF"/>
                          </a:solidFill>
                          <a:latin typeface="游ゴシック"/>
                          <a:ea typeface="游ゴシック"/>
                          <a:cs typeface="游ゴシック"/>
                        </a:rPr>
                        <a:t>勘定科目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游ゴシック"/>
                          <a:ea typeface="游ゴシック"/>
                          <a:cs typeface="游ゴシック"/>
                        </a:rPr>
                        <a:t>2022年5月期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游ゴシック"/>
                          <a:ea typeface="游ゴシック"/>
                          <a:cs typeface="游ゴシック"/>
                        </a:rPr>
                        <a:t>2023年5月期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游ゴシック"/>
                          <a:ea typeface="游ゴシック"/>
                          <a:cs typeface="游ゴシック"/>
                        </a:rPr>
                        <a:t>2024年5月期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游ゴシック"/>
                          <a:ea typeface="游ゴシック"/>
                          <a:cs typeface="游ゴシック"/>
                        </a:rPr>
                        <a:t>2025年5月期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游ゴシック"/>
                          <a:ea typeface="游ゴシック"/>
                          <a:cs typeface="游ゴシック"/>
                        </a:rPr>
                        <a:t>2026年5月期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游ゴシック"/>
                          <a:ea typeface="游ゴシック"/>
                          <a:cs typeface="游ゴシック"/>
                        </a:rPr>
                        <a:t>22年比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23,880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22,083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1,664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2,740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△80.4%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1">
                          <a:solidFill>
                            <a:srgbClr val="1A1A1A"/>
                          </a:solidFill>
                          <a:latin typeface="游ゴシック"/>
                          <a:ea typeface="游ゴシック"/>
                          <a:cs typeface="游ゴシック"/>
                        </a:rPr>
                        <a:t>売上高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C03A2B"/>
                          </a:solidFill>
                          <a:latin typeface="Arial"/>
                          <a:ea typeface="Arial"/>
                          <a:cs typeface="Arial"/>
                        </a:rPr>
                        <a:t>△25.4%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1353312"/>
            <a:ext cx="9902952"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（単位：千円）</a:t>
            </a:r>
          </a:p>
        </p:txBody>
      </p:sp>
      <p:sp>
        <p:nvSpPr>
          <p:cNvPr id="11" name="Rectangle 10"/>
          <p:cNvSpPr/>
          <p:nvPr/>
        </p:nvSpPr>
        <p:spPr>
          <a:xfrm>
            <a:off x="393192" y="3255264"/>
            <a:ext cx="5577840" cy="210312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84632" y="3310128"/>
            <a:ext cx="3657600"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13" name="Rectangle 12"/>
          <p:cNvSpPr/>
          <p:nvPr/>
        </p:nvSpPr>
        <p:spPr>
          <a:xfrm>
            <a:off x="777240" y="3639311"/>
            <a:ext cx="553029" cy="138988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3447287"/>
            <a:ext cx="750539" cy="182880"/>
          </a:xfrm>
          <a:prstGeom prst="rect">
            <a:avLst/>
          </a:prstGeom>
          <a:noFill/>
        </p:spPr>
        <p:txBody>
          <a:bodyPr wrap="square" lIns="0" rIns="0" tIns="0" bIns="0" anchor="t">
            <a:spAutoFit/>
          </a:bodyPr>
          <a:lstStyle/>
          <a:p>
            <a:pPr algn="ctr">
              <a:spcAft>
                <a:spcPts val="0"/>
              </a:spcAft>
            </a:pPr>
            <a:r>
              <a:rPr sz="800" b="1">
                <a:solidFill>
                  <a:srgbClr val="0B3041"/>
                </a:solidFill>
                <a:latin typeface="Arial"/>
                <a:ea typeface="Arial"/>
                <a:cs typeface="Arial"/>
              </a:rPr>
              <a:t>30,121</a:t>
            </a:r>
          </a:p>
        </p:txBody>
      </p:sp>
      <p:sp>
        <p:nvSpPr>
          <p:cNvPr id="15" name="TextBox 14"/>
          <p:cNvSpPr txBox="1"/>
          <p:nvPr/>
        </p:nvSpPr>
        <p:spPr>
          <a:xfrm>
            <a:off x="685800" y="5074919"/>
            <a:ext cx="750539" cy="182880"/>
          </a:xfrm>
          <a:prstGeom prst="rect">
            <a:avLst/>
          </a:prstGeom>
          <a:noFill/>
        </p:spPr>
        <p:txBody>
          <a:bodyPr wrap="square" lIns="0" rIns="0" tIns="0" bIns="0" anchor="t">
            <a:spAutoFit/>
          </a:bodyPr>
          <a:lstStyle/>
          <a:p>
            <a:pPr algn="ctr">
              <a:spcAft>
                <a:spcPts val="0"/>
              </a:spcAft>
            </a:pPr>
            <a:r>
              <a:rPr sz="800" b="0">
                <a:solidFill>
                  <a:srgbClr val="5A656B"/>
                </a:solidFill>
                <a:latin typeface="Arial"/>
                <a:ea typeface="Arial"/>
                <a:cs typeface="Arial"/>
              </a:rPr>
              <a:t>22/5期</a:t>
            </a:r>
          </a:p>
        </p:txBody>
      </p:sp>
      <p:sp>
        <p:nvSpPr>
          <p:cNvPr id="16" name="Rectangle 15"/>
          <p:cNvSpPr/>
          <p:nvPr/>
        </p:nvSpPr>
        <p:spPr>
          <a:xfrm>
            <a:off x="1764791" y="3716602"/>
            <a:ext cx="553029" cy="131259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673351" y="3524578"/>
            <a:ext cx="750539" cy="182880"/>
          </a:xfrm>
          <a:prstGeom prst="rect">
            <a:avLst/>
          </a:prstGeom>
          <a:noFill/>
        </p:spPr>
        <p:txBody>
          <a:bodyPr wrap="square" lIns="0" rIns="0" tIns="0" bIns="0" anchor="t">
            <a:spAutoFit/>
          </a:bodyPr>
          <a:lstStyle/>
          <a:p>
            <a:pPr algn="ctr">
              <a:spcAft>
                <a:spcPts val="0"/>
              </a:spcAft>
            </a:pPr>
            <a:r>
              <a:rPr sz="800" b="1">
                <a:solidFill>
                  <a:srgbClr val="0B3041"/>
                </a:solidFill>
                <a:latin typeface="Arial"/>
                <a:ea typeface="Arial"/>
                <a:cs typeface="Arial"/>
              </a:rPr>
              <a:t>28,446</a:t>
            </a:r>
          </a:p>
        </p:txBody>
      </p:sp>
      <p:sp>
        <p:nvSpPr>
          <p:cNvPr id="18" name="TextBox 17"/>
          <p:cNvSpPr txBox="1"/>
          <p:nvPr/>
        </p:nvSpPr>
        <p:spPr>
          <a:xfrm>
            <a:off x="1673351" y="5074919"/>
            <a:ext cx="750539" cy="182880"/>
          </a:xfrm>
          <a:prstGeom prst="rect">
            <a:avLst/>
          </a:prstGeom>
          <a:noFill/>
        </p:spPr>
        <p:txBody>
          <a:bodyPr wrap="square" lIns="0" rIns="0" tIns="0" bIns="0" anchor="t">
            <a:spAutoFit/>
          </a:bodyPr>
          <a:lstStyle/>
          <a:p>
            <a:pPr algn="ctr">
              <a:spcAft>
                <a:spcPts val="0"/>
              </a:spcAft>
            </a:pPr>
            <a:r>
              <a:rPr sz="800" b="0">
                <a:solidFill>
                  <a:srgbClr val="5A656B"/>
                </a:solidFill>
                <a:latin typeface="Arial"/>
                <a:ea typeface="Arial"/>
                <a:cs typeface="Arial"/>
              </a:rPr>
              <a:t>23/5期</a:t>
            </a:r>
          </a:p>
        </p:txBody>
      </p:sp>
      <p:sp>
        <p:nvSpPr>
          <p:cNvPr id="19" name="Rectangle 18"/>
          <p:cNvSpPr/>
          <p:nvPr/>
        </p:nvSpPr>
        <p:spPr>
          <a:xfrm>
            <a:off x="2752344" y="3900761"/>
            <a:ext cx="553029" cy="112843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60903" y="3708737"/>
            <a:ext cx="750539" cy="182880"/>
          </a:xfrm>
          <a:prstGeom prst="rect">
            <a:avLst/>
          </a:prstGeom>
          <a:noFill/>
        </p:spPr>
        <p:txBody>
          <a:bodyPr wrap="square" lIns="0" rIns="0" tIns="0" bIns="0" anchor="t">
            <a:spAutoFit/>
          </a:bodyPr>
          <a:lstStyle/>
          <a:p>
            <a:pPr algn="ctr">
              <a:spcAft>
                <a:spcPts val="0"/>
              </a:spcAft>
            </a:pPr>
            <a:r>
              <a:rPr sz="800" b="1">
                <a:solidFill>
                  <a:srgbClr val="0B3041"/>
                </a:solidFill>
                <a:latin typeface="Arial"/>
                <a:ea typeface="Arial"/>
                <a:cs typeface="Arial"/>
              </a:rPr>
              <a:t>24,455</a:t>
            </a:r>
          </a:p>
        </p:txBody>
      </p:sp>
      <p:sp>
        <p:nvSpPr>
          <p:cNvPr id="21" name="TextBox 20"/>
          <p:cNvSpPr txBox="1"/>
          <p:nvPr/>
        </p:nvSpPr>
        <p:spPr>
          <a:xfrm>
            <a:off x="2660903" y="5074919"/>
            <a:ext cx="750539" cy="182880"/>
          </a:xfrm>
          <a:prstGeom prst="rect">
            <a:avLst/>
          </a:prstGeom>
          <a:noFill/>
        </p:spPr>
        <p:txBody>
          <a:bodyPr wrap="square" lIns="0" rIns="0" tIns="0" bIns="0" anchor="t">
            <a:spAutoFit/>
          </a:bodyPr>
          <a:lstStyle/>
          <a:p>
            <a:pPr algn="ctr">
              <a:spcAft>
                <a:spcPts val="0"/>
              </a:spcAft>
            </a:pPr>
            <a:r>
              <a:rPr sz="800" b="0">
                <a:solidFill>
                  <a:srgbClr val="5A656B"/>
                </a:solidFill>
                <a:latin typeface="Arial"/>
                <a:ea typeface="Arial"/>
                <a:cs typeface="Arial"/>
              </a:rPr>
              <a:t>24/5期</a:t>
            </a:r>
          </a:p>
        </p:txBody>
      </p:sp>
      <p:sp>
        <p:nvSpPr>
          <p:cNvPr id="22" name="Rectangle 21"/>
          <p:cNvSpPr/>
          <p:nvPr/>
        </p:nvSpPr>
        <p:spPr>
          <a:xfrm>
            <a:off x="3739895" y="3942890"/>
            <a:ext cx="553029" cy="108630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48455" y="3750866"/>
            <a:ext cx="750539" cy="182880"/>
          </a:xfrm>
          <a:prstGeom prst="rect">
            <a:avLst/>
          </a:prstGeom>
          <a:noFill/>
        </p:spPr>
        <p:txBody>
          <a:bodyPr wrap="square" lIns="0" rIns="0" tIns="0" bIns="0" anchor="t">
            <a:spAutoFit/>
          </a:bodyPr>
          <a:lstStyle/>
          <a:p>
            <a:pPr algn="ctr">
              <a:spcAft>
                <a:spcPts val="0"/>
              </a:spcAft>
            </a:pPr>
            <a:r>
              <a:rPr sz="800" b="1">
                <a:solidFill>
                  <a:srgbClr val="0B3041"/>
                </a:solidFill>
                <a:latin typeface="Arial"/>
                <a:ea typeface="Arial"/>
                <a:cs typeface="Arial"/>
              </a:rPr>
              <a:t>23,542</a:t>
            </a:r>
          </a:p>
        </p:txBody>
      </p:sp>
      <p:sp>
        <p:nvSpPr>
          <p:cNvPr id="24" name="TextBox 23"/>
          <p:cNvSpPr txBox="1"/>
          <p:nvPr/>
        </p:nvSpPr>
        <p:spPr>
          <a:xfrm>
            <a:off x="3648455" y="5074919"/>
            <a:ext cx="750539" cy="182880"/>
          </a:xfrm>
          <a:prstGeom prst="rect">
            <a:avLst/>
          </a:prstGeom>
          <a:noFill/>
        </p:spPr>
        <p:txBody>
          <a:bodyPr wrap="square" lIns="0" rIns="0" tIns="0" bIns="0" anchor="t">
            <a:spAutoFit/>
          </a:bodyPr>
          <a:lstStyle/>
          <a:p>
            <a:pPr algn="ctr">
              <a:spcAft>
                <a:spcPts val="0"/>
              </a:spcAft>
            </a:pPr>
            <a:r>
              <a:rPr sz="800" b="0">
                <a:solidFill>
                  <a:srgbClr val="5A656B"/>
                </a:solidFill>
                <a:latin typeface="Arial"/>
                <a:ea typeface="Arial"/>
                <a:cs typeface="Arial"/>
              </a:rPr>
              <a:t>25/5期</a:t>
            </a:r>
          </a:p>
        </p:txBody>
      </p:sp>
      <p:sp>
        <p:nvSpPr>
          <p:cNvPr id="25" name="Rectangle 24"/>
          <p:cNvSpPr/>
          <p:nvPr/>
        </p:nvSpPr>
        <p:spPr>
          <a:xfrm>
            <a:off x="4727447" y="3991709"/>
            <a:ext cx="553029" cy="103749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36007" y="3799685"/>
            <a:ext cx="750539" cy="182880"/>
          </a:xfrm>
          <a:prstGeom prst="rect">
            <a:avLst/>
          </a:prstGeom>
          <a:noFill/>
        </p:spPr>
        <p:txBody>
          <a:bodyPr wrap="square" lIns="0" rIns="0" tIns="0" bIns="0" anchor="t">
            <a:spAutoFit/>
          </a:bodyPr>
          <a:lstStyle/>
          <a:p>
            <a:pPr algn="ctr">
              <a:spcAft>
                <a:spcPts val="0"/>
              </a:spcAft>
            </a:pPr>
            <a:r>
              <a:rPr sz="800" b="1">
                <a:solidFill>
                  <a:srgbClr val="0B3041"/>
                </a:solidFill>
                <a:latin typeface="Arial"/>
                <a:ea typeface="Arial"/>
                <a:cs typeface="Arial"/>
              </a:rPr>
              <a:t>22,484</a:t>
            </a:r>
          </a:p>
        </p:txBody>
      </p:sp>
      <p:sp>
        <p:nvSpPr>
          <p:cNvPr id="27" name="TextBox 26"/>
          <p:cNvSpPr txBox="1"/>
          <p:nvPr/>
        </p:nvSpPr>
        <p:spPr>
          <a:xfrm>
            <a:off x="4636007" y="5074919"/>
            <a:ext cx="750539" cy="182880"/>
          </a:xfrm>
          <a:prstGeom prst="rect">
            <a:avLst/>
          </a:prstGeom>
          <a:noFill/>
        </p:spPr>
        <p:txBody>
          <a:bodyPr wrap="square" lIns="0" rIns="0" tIns="0" bIns="0" anchor="t">
            <a:spAutoFit/>
          </a:bodyPr>
          <a:lstStyle/>
          <a:p>
            <a:pPr algn="ctr">
              <a:spcAft>
                <a:spcPts val="0"/>
              </a:spcAft>
            </a:pPr>
            <a:r>
              <a:rPr sz="800" b="0">
                <a:solidFill>
                  <a:srgbClr val="5A656B"/>
                </a:solidFill>
                <a:latin typeface="Arial"/>
                <a:ea typeface="Arial"/>
                <a:cs typeface="Arial"/>
              </a:rPr>
              <a:t>26/5期</a:t>
            </a:r>
          </a:p>
        </p:txBody>
      </p:sp>
      <p:sp>
        <p:nvSpPr>
          <p:cNvPr id="28" name="Rectangle 27"/>
          <p:cNvSpPr/>
          <p:nvPr/>
        </p:nvSpPr>
        <p:spPr>
          <a:xfrm>
            <a:off x="667512" y="5029199"/>
            <a:ext cx="5102352"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53912" y="3255264"/>
            <a:ext cx="4142232"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63640" y="3255264"/>
            <a:ext cx="3922776"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Comment</a:t>
            </a:r>
          </a:p>
        </p:txBody>
      </p:sp>
      <p:sp>
        <p:nvSpPr>
          <p:cNvPr id="31" name="Rectangle 30"/>
          <p:cNvSpPr/>
          <p:nvPr/>
        </p:nvSpPr>
        <p:spPr>
          <a:xfrm>
            <a:off x="6153912" y="3493008"/>
            <a:ext cx="4142232" cy="1865376"/>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281927" y="3602736"/>
            <a:ext cx="3886200" cy="1682496"/>
          </a:xfrm>
          <a:prstGeom prst="rect">
            <a:avLst/>
          </a:prstGeom>
          <a:noFill/>
        </p:spPr>
        <p:txBody>
          <a:bodyPr wrap="square" lIns="0" rIns="0" tIns="0" bIns="0" anchor="t">
            <a:spAutoFit/>
          </a:bodyPr>
          <a:lstStyle/>
          <a:p>
            <a:pPr algn="l">
              <a:lnSpc>
                <a:spcPct val="118000"/>
              </a:lnSpc>
              <a:spcAft>
                <a:spcPts val="200"/>
              </a:spcAft>
            </a:pPr>
            <a:r>
              <a:rPr sz="850" b="1">
                <a:solidFill>
                  <a:srgbClr val="0B3041"/>
                </a:solidFill>
                <a:latin typeface="游ゴシック"/>
                <a:ea typeface="游ゴシック"/>
                <a:cs typeface="游ゴシック"/>
              </a:rPr>
              <a:t>店頭飲食　</a:t>
            </a:r>
            <a:r>
              <a:rPr sz="850" b="0">
                <a:solidFill>
                  <a:srgbClr val="1A1A1A"/>
                </a:solidFill>
                <a:latin typeface="游ゴシック"/>
                <a:ea typeface="游ゴシック"/>
                <a:cs typeface="游ゴシック"/>
              </a:rPr>
              <a:t>2022年5月期 23,880千円 → 2026年5月期 17,723千円（△25.8％）。売上減の約8割を占める最大の要因。</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小麦等売上　</a:t>
            </a:r>
            <a:r>
              <a:rPr sz="850" b="0">
                <a:solidFill>
                  <a:srgbClr val="1A1A1A"/>
                </a:solidFill>
                <a:latin typeface="游ゴシック"/>
                <a:ea typeface="游ゴシック"/>
                <a:cs typeface="游ゴシック"/>
              </a:rPr>
              <a:t>2,235→2,273千円とほぼ横ばい。キビヤベーカリー向けが8割を占め、取引は3期連続で継続。</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そば売上　</a:t>
            </a:r>
            <a:r>
              <a:rPr sz="850" b="0">
                <a:solidFill>
                  <a:srgbClr val="1A1A1A"/>
                </a:solidFill>
                <a:latin typeface="游ゴシック"/>
                <a:ea typeface="游ゴシック"/>
                <a:cs typeface="游ゴシック"/>
              </a:rPr>
              <a:t>1,266→1,949千円と増加。通信販売（Ｅコレクトサガワ経由）が604→1,020千円と伸長。</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商品売上　</a:t>
            </a:r>
            <a:r>
              <a:rPr sz="850" b="0">
                <a:solidFill>
                  <a:srgbClr val="1A1A1A"/>
                </a:solidFill>
                <a:latin typeface="游ゴシック"/>
                <a:ea typeface="游ゴシック"/>
                <a:cs typeface="游ゴシック"/>
              </a:rPr>
              <a:t>2,740→538千円と大きく減少。健興通商向けの商品卸（2024年5月期474千円）が2026年5月期にゼロとなったことが主因で、同社は現在は仕入先となっています（要確認）。</a:t>
            </a:r>
          </a:p>
          <a:p>
            <a:pPr algn="l">
              <a:spcAft>
                <a:spcPts val="200"/>
              </a:spcAft>
            </a:pPr>
          </a:p>
        </p:txBody>
      </p:sp>
      <p:sp>
        <p:nvSpPr>
          <p:cNvPr id="33" name="TextBox 32"/>
          <p:cNvSpPr txBox="1"/>
          <p:nvPr/>
        </p:nvSpPr>
        <p:spPr>
          <a:xfrm>
            <a:off x="393192" y="5559552"/>
            <a:ext cx="9902952" cy="1728215"/>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2022年5月期・2023年5月期は決算書からの直接転記、2024年5月期以降は案件マスター（PLシート）の数値です。</a:t>
            </a:r>
          </a:p>
          <a:p>
            <a:pPr algn="l">
              <a:lnSpc>
                <a:spcPct val="108000"/>
              </a:lnSpc>
              <a:spcAft>
                <a:spcPts val="100"/>
              </a:spcAft>
            </a:pPr>
            <a:r>
              <a:rPr sz="800" b="0">
                <a:solidFill>
                  <a:srgbClr val="5A656B"/>
                </a:solidFill>
                <a:latin typeface="游ゴシック Medium"/>
                <a:ea typeface="游ゴシック Medium"/>
                <a:cs typeface="游ゴシック Medium"/>
              </a:rPr>
              <a:t>※ 飲食店売上高には関係先（塩町館・小びと）への食材供給分を含みます。店頭飲食のみの金額は P.16 をご参照ください。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2. 事業概要</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月次売上・営業日の分析</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営業は金・土・日・月の週4日・昼のみ（年間200日）。新そばの11月が突出し、日商は140千円に達する</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15</a:t>
            </a:r>
          </a:p>
        </p:txBody>
      </p:sp>
      <p:graphicFrame>
        <p:nvGraphicFramePr>
          <p:cNvPr id="9" name="Table 8"/>
          <p:cNvGraphicFramePr>
            <a:graphicFrameLocks noGrp="1"/>
          </p:cNvGraphicFramePr>
          <p:nvPr/>
        </p:nvGraphicFramePr>
        <p:xfrm>
          <a:off x="393192" y="1554480"/>
          <a:ext cx="3749040" cy="2912364"/>
        </p:xfrm>
        <a:graphic>
          <a:graphicData uri="http://schemas.openxmlformats.org/drawingml/2006/table">
            <a:tbl>
              <a:tblPr firstRow="0" bandRow="0">
                <a:tableStyleId>{5C22544A-7EE6-4342-B048-85BDC9FD1C3A}</a:tableStyleId>
              </a:tblPr>
              <a:tblGrid>
                <a:gridCol w="731520"/>
                <a:gridCol w="1280160"/>
                <a:gridCol w="822960"/>
                <a:gridCol w="914400"/>
              </a:tblGrid>
              <a:tr h="237744">
                <a:tc>
                  <a:txBody>
                    <a:bodyPr wrap="square"/>
                    <a:lstStyle/>
                    <a:p>
                      <a:pPr algn="ctr">
                        <a:spcAft>
                          <a:spcPts val="0"/>
                        </a:spcAft>
                      </a:pPr>
                      <a:r>
                        <a:rPr sz="840" b="1">
                          <a:solidFill>
                            <a:srgbClr val="FFFFFF"/>
                          </a:solidFill>
                          <a:latin typeface="游ゴシック"/>
                          <a:ea typeface="游ゴシック"/>
                          <a:cs typeface="游ゴシック"/>
                        </a:rPr>
                        <a:t>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日商平均</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975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7月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1,503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2,531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925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3月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1,072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0">
                          <a:solidFill>
                            <a:srgbClr val="1A1A1A"/>
                          </a:solidFill>
                          <a:latin typeface="游ゴシック"/>
                          <a:ea typeface="游ゴシック"/>
                          <a:cs typeface="游ゴシック"/>
                        </a:rPr>
                        <a:t>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1,491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5740">
                <a:tc>
                  <a:txBody>
                    <a:bodyPr wrap="square"/>
                    <a:lstStyle/>
                    <a:p>
                      <a:pPr algn="l">
                        <a:spcAft>
                          <a:spcPts val="0"/>
                        </a:spcAft>
                      </a:pPr>
                      <a:r>
                        <a:rPr sz="840" b="1">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14,967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1353312"/>
            <a:ext cx="3749039"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2026年5月期　（単位：千円）</a:t>
            </a:r>
          </a:p>
        </p:txBody>
      </p:sp>
      <p:sp>
        <p:nvSpPr>
          <p:cNvPr id="11" name="Rectangle 10"/>
          <p:cNvSpPr/>
          <p:nvPr/>
        </p:nvSpPr>
        <p:spPr>
          <a:xfrm>
            <a:off x="4343400" y="1554480"/>
            <a:ext cx="5952744" cy="2834640"/>
          </a:xfrm>
          <a:prstGeom prst="rect">
            <a:avLst/>
          </a:prstGeom>
          <a:solidFill>
            <a:srgbClr val="FBFC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453128" y="1627632"/>
            <a:ext cx="3657600"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月次 店頭売上高（千円）</a:t>
            </a:r>
          </a:p>
        </p:txBody>
      </p:sp>
      <p:sp>
        <p:nvSpPr>
          <p:cNvPr id="13" name="Rectangle 12"/>
          <p:cNvSpPr/>
          <p:nvPr/>
        </p:nvSpPr>
        <p:spPr>
          <a:xfrm>
            <a:off x="4654296" y="3282143"/>
            <a:ext cx="281101" cy="79608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581144" y="3108407"/>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975</a:t>
            </a:r>
          </a:p>
        </p:txBody>
      </p:sp>
      <p:sp>
        <p:nvSpPr>
          <p:cNvPr id="15" name="TextBox 14"/>
          <p:cNvSpPr txBox="1"/>
          <p:nvPr/>
        </p:nvSpPr>
        <p:spPr>
          <a:xfrm>
            <a:off x="4581144"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6月</a:t>
            </a:r>
          </a:p>
        </p:txBody>
      </p:sp>
      <p:sp>
        <p:nvSpPr>
          <p:cNvPr id="16" name="Rectangle 15"/>
          <p:cNvSpPr/>
          <p:nvPr/>
        </p:nvSpPr>
        <p:spPr>
          <a:xfrm>
            <a:off x="5107686" y="3175182"/>
            <a:ext cx="281101" cy="903041"/>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34534" y="3001446"/>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1,106</a:t>
            </a:r>
          </a:p>
        </p:txBody>
      </p:sp>
      <p:sp>
        <p:nvSpPr>
          <p:cNvPr id="18" name="TextBox 17"/>
          <p:cNvSpPr txBox="1"/>
          <p:nvPr/>
        </p:nvSpPr>
        <p:spPr>
          <a:xfrm>
            <a:off x="5034534"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7月</a:t>
            </a:r>
          </a:p>
        </p:txBody>
      </p:sp>
      <p:sp>
        <p:nvSpPr>
          <p:cNvPr id="19" name="Rectangle 18"/>
          <p:cNvSpPr/>
          <p:nvPr/>
        </p:nvSpPr>
        <p:spPr>
          <a:xfrm>
            <a:off x="5561075" y="2753872"/>
            <a:ext cx="281101" cy="1324351"/>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87923" y="2580136"/>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1,622</a:t>
            </a:r>
          </a:p>
        </p:txBody>
      </p:sp>
      <p:sp>
        <p:nvSpPr>
          <p:cNvPr id="21" name="TextBox 20"/>
          <p:cNvSpPr txBox="1"/>
          <p:nvPr/>
        </p:nvSpPr>
        <p:spPr>
          <a:xfrm>
            <a:off x="5487923"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8月</a:t>
            </a:r>
          </a:p>
        </p:txBody>
      </p:sp>
      <p:sp>
        <p:nvSpPr>
          <p:cNvPr id="22" name="Rectangle 21"/>
          <p:cNvSpPr/>
          <p:nvPr/>
        </p:nvSpPr>
        <p:spPr>
          <a:xfrm>
            <a:off x="6014466" y="3058424"/>
            <a:ext cx="281101" cy="101979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941314" y="2884688"/>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1,249</a:t>
            </a:r>
          </a:p>
        </p:txBody>
      </p:sp>
      <p:sp>
        <p:nvSpPr>
          <p:cNvPr id="24" name="TextBox 23"/>
          <p:cNvSpPr txBox="1"/>
          <p:nvPr/>
        </p:nvSpPr>
        <p:spPr>
          <a:xfrm>
            <a:off x="5941314"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9月</a:t>
            </a:r>
          </a:p>
        </p:txBody>
      </p:sp>
      <p:sp>
        <p:nvSpPr>
          <p:cNvPr id="25" name="Rectangle 24"/>
          <p:cNvSpPr/>
          <p:nvPr/>
        </p:nvSpPr>
        <p:spPr>
          <a:xfrm>
            <a:off x="6467856" y="2851034"/>
            <a:ext cx="281101" cy="122718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94704" y="2677298"/>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1,503</a:t>
            </a:r>
          </a:p>
        </p:txBody>
      </p:sp>
      <p:sp>
        <p:nvSpPr>
          <p:cNvPr id="27" name="TextBox 26"/>
          <p:cNvSpPr txBox="1"/>
          <p:nvPr/>
        </p:nvSpPr>
        <p:spPr>
          <a:xfrm>
            <a:off x="6394704"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10月</a:t>
            </a:r>
          </a:p>
        </p:txBody>
      </p:sp>
      <p:sp>
        <p:nvSpPr>
          <p:cNvPr id="28" name="Rectangle 27"/>
          <p:cNvSpPr/>
          <p:nvPr/>
        </p:nvSpPr>
        <p:spPr>
          <a:xfrm>
            <a:off x="6921245" y="2011680"/>
            <a:ext cx="281101" cy="2066543"/>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48093" y="1837944"/>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2,531</a:t>
            </a:r>
          </a:p>
        </p:txBody>
      </p:sp>
      <p:sp>
        <p:nvSpPr>
          <p:cNvPr id="30" name="TextBox 29"/>
          <p:cNvSpPr txBox="1"/>
          <p:nvPr/>
        </p:nvSpPr>
        <p:spPr>
          <a:xfrm>
            <a:off x="6848093"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11月</a:t>
            </a:r>
          </a:p>
        </p:txBody>
      </p:sp>
      <p:sp>
        <p:nvSpPr>
          <p:cNvPr id="31" name="Rectangle 30"/>
          <p:cNvSpPr/>
          <p:nvPr/>
        </p:nvSpPr>
        <p:spPr>
          <a:xfrm>
            <a:off x="7374636" y="3442992"/>
            <a:ext cx="281101" cy="635231"/>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01483" y="3269256"/>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778</a:t>
            </a:r>
          </a:p>
        </p:txBody>
      </p:sp>
      <p:sp>
        <p:nvSpPr>
          <p:cNvPr id="33" name="TextBox 32"/>
          <p:cNvSpPr txBox="1"/>
          <p:nvPr/>
        </p:nvSpPr>
        <p:spPr>
          <a:xfrm>
            <a:off x="7301483"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12月</a:t>
            </a:r>
          </a:p>
        </p:txBody>
      </p:sp>
      <p:sp>
        <p:nvSpPr>
          <p:cNvPr id="34" name="Rectangle 33"/>
          <p:cNvSpPr/>
          <p:nvPr/>
        </p:nvSpPr>
        <p:spPr>
          <a:xfrm>
            <a:off x="7828026" y="3577713"/>
            <a:ext cx="281101" cy="50051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54874" y="3403977"/>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613</a:t>
            </a:r>
          </a:p>
        </p:txBody>
      </p:sp>
      <p:sp>
        <p:nvSpPr>
          <p:cNvPr id="36" name="TextBox 35"/>
          <p:cNvSpPr txBox="1"/>
          <p:nvPr/>
        </p:nvSpPr>
        <p:spPr>
          <a:xfrm>
            <a:off x="7754874"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1月</a:t>
            </a:r>
          </a:p>
        </p:txBody>
      </p:sp>
      <p:sp>
        <p:nvSpPr>
          <p:cNvPr id="37" name="Rectangle 36"/>
          <p:cNvSpPr/>
          <p:nvPr/>
        </p:nvSpPr>
        <p:spPr>
          <a:xfrm>
            <a:off x="8281416" y="3322967"/>
            <a:ext cx="281101" cy="75525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08264" y="3149231"/>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925</a:t>
            </a:r>
          </a:p>
        </p:txBody>
      </p:sp>
      <p:sp>
        <p:nvSpPr>
          <p:cNvPr id="39" name="TextBox 38"/>
          <p:cNvSpPr txBox="1"/>
          <p:nvPr/>
        </p:nvSpPr>
        <p:spPr>
          <a:xfrm>
            <a:off x="8208264"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2月</a:t>
            </a:r>
          </a:p>
        </p:txBody>
      </p:sp>
      <p:sp>
        <p:nvSpPr>
          <p:cNvPr id="40" name="Rectangle 39"/>
          <p:cNvSpPr/>
          <p:nvPr/>
        </p:nvSpPr>
        <p:spPr>
          <a:xfrm>
            <a:off x="8734805" y="3202943"/>
            <a:ext cx="281101" cy="87528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661653" y="3029207"/>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1,072</a:t>
            </a:r>
          </a:p>
        </p:txBody>
      </p:sp>
      <p:sp>
        <p:nvSpPr>
          <p:cNvPr id="42" name="TextBox 41"/>
          <p:cNvSpPr txBox="1"/>
          <p:nvPr/>
        </p:nvSpPr>
        <p:spPr>
          <a:xfrm>
            <a:off x="8661653"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3月</a:t>
            </a:r>
          </a:p>
        </p:txBody>
      </p:sp>
      <p:sp>
        <p:nvSpPr>
          <p:cNvPr id="43" name="Rectangle 42"/>
          <p:cNvSpPr/>
          <p:nvPr/>
        </p:nvSpPr>
        <p:spPr>
          <a:xfrm>
            <a:off x="9188195" y="3180081"/>
            <a:ext cx="281101" cy="89814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115043" y="3006345"/>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1,100</a:t>
            </a:r>
          </a:p>
        </p:txBody>
      </p:sp>
      <p:sp>
        <p:nvSpPr>
          <p:cNvPr id="45" name="TextBox 44"/>
          <p:cNvSpPr txBox="1"/>
          <p:nvPr/>
        </p:nvSpPr>
        <p:spPr>
          <a:xfrm>
            <a:off x="9115043"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4月</a:t>
            </a:r>
          </a:p>
        </p:txBody>
      </p:sp>
      <p:sp>
        <p:nvSpPr>
          <p:cNvPr id="46" name="Rectangle 45"/>
          <p:cNvSpPr/>
          <p:nvPr/>
        </p:nvSpPr>
        <p:spPr>
          <a:xfrm>
            <a:off x="9641585" y="2860832"/>
            <a:ext cx="281101" cy="1217391"/>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568433" y="2687096"/>
            <a:ext cx="353644" cy="164592"/>
          </a:xfrm>
          <a:prstGeom prst="rect">
            <a:avLst/>
          </a:prstGeom>
          <a:noFill/>
        </p:spPr>
        <p:txBody>
          <a:bodyPr wrap="square" lIns="0" rIns="0" tIns="0" bIns="0" anchor="t">
            <a:spAutoFit/>
          </a:bodyPr>
          <a:lstStyle/>
          <a:p>
            <a:pPr algn="ctr">
              <a:spcAft>
                <a:spcPts val="0"/>
              </a:spcAft>
            </a:pPr>
            <a:r>
              <a:rPr sz="660" b="0">
                <a:solidFill>
                  <a:srgbClr val="0B3041"/>
                </a:solidFill>
                <a:latin typeface="Arial"/>
                <a:ea typeface="Arial"/>
                <a:cs typeface="Arial"/>
              </a:rPr>
              <a:t>1,491</a:t>
            </a:r>
          </a:p>
        </p:txBody>
      </p:sp>
      <p:sp>
        <p:nvSpPr>
          <p:cNvPr id="48" name="TextBox 47"/>
          <p:cNvSpPr txBox="1"/>
          <p:nvPr/>
        </p:nvSpPr>
        <p:spPr>
          <a:xfrm>
            <a:off x="9568433" y="4123944"/>
            <a:ext cx="353644" cy="164592"/>
          </a:xfrm>
          <a:prstGeom prst="rect">
            <a:avLst/>
          </a:prstGeom>
          <a:noFill/>
        </p:spPr>
        <p:txBody>
          <a:bodyPr wrap="square" lIns="0" rIns="0" tIns="0" bIns="0" anchor="t">
            <a:spAutoFit/>
          </a:bodyPr>
          <a:lstStyle/>
          <a:p>
            <a:pPr algn="ctr">
              <a:spcAft>
                <a:spcPts val="0"/>
              </a:spcAft>
            </a:pPr>
            <a:r>
              <a:rPr sz="700" b="0">
                <a:solidFill>
                  <a:srgbClr val="5A656B"/>
                </a:solidFill>
                <a:latin typeface="Arial"/>
                <a:ea typeface="Arial"/>
                <a:cs typeface="Arial"/>
              </a:rPr>
              <a:t>5月</a:t>
            </a:r>
          </a:p>
        </p:txBody>
      </p:sp>
      <p:sp>
        <p:nvSpPr>
          <p:cNvPr id="49" name="Rectangle 48"/>
          <p:cNvSpPr/>
          <p:nvPr/>
        </p:nvSpPr>
        <p:spPr>
          <a:xfrm>
            <a:off x="4562856" y="4078224"/>
            <a:ext cx="5550407"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343400" y="4517136"/>
            <a:ext cx="595274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453128" y="4517136"/>
            <a:ext cx="573328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Comment</a:t>
            </a:r>
          </a:p>
        </p:txBody>
      </p:sp>
      <p:sp>
        <p:nvSpPr>
          <p:cNvPr id="52" name="Rectangle 51"/>
          <p:cNvSpPr/>
          <p:nvPr/>
        </p:nvSpPr>
        <p:spPr>
          <a:xfrm>
            <a:off x="4343400" y="4754880"/>
            <a:ext cx="5952744" cy="1517904"/>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471416" y="4864608"/>
            <a:ext cx="5696712" cy="1335024"/>
          </a:xfrm>
          <a:prstGeom prst="rect">
            <a:avLst/>
          </a:prstGeom>
          <a:noFill/>
        </p:spPr>
        <p:txBody>
          <a:bodyPr wrap="square" lIns="0" rIns="0" tIns="0" bIns="0" anchor="t">
            <a:spAutoFit/>
          </a:bodyPr>
          <a:lstStyle/>
          <a:p>
            <a:pPr algn="l">
              <a:lnSpc>
                <a:spcPct val="118000"/>
              </a:lnSpc>
              <a:spcAft>
                <a:spcPts val="200"/>
              </a:spcAft>
            </a:pPr>
            <a:r>
              <a:rPr sz="840" b="1">
                <a:solidFill>
                  <a:srgbClr val="0B3041"/>
                </a:solidFill>
                <a:latin typeface="游ゴシック"/>
                <a:ea typeface="游ゴシック"/>
                <a:cs typeface="游ゴシック"/>
              </a:rPr>
              <a:t>営業日　</a:t>
            </a:r>
            <a:r>
              <a:rPr sz="840" b="0">
                <a:solidFill>
                  <a:srgbClr val="1A1A1A"/>
                </a:solidFill>
                <a:latin typeface="游ゴシック"/>
                <a:ea typeface="游ゴシック"/>
                <a:cs typeface="游ゴシック"/>
              </a:rPr>
              <a:t>定休は火・水・木、営業は金・土・日・月の週4日。11:30〜14:30の昼のみで売り切り次第閉店。実績営業日数は203日→201日→200日とほぼ一定。</a:t>
            </a:r>
          </a:p>
          <a:p>
            <a:pPr algn="l">
              <a:spcAft>
                <a:spcPts val="200"/>
              </a:spcAft>
            </a:pPr>
          </a:p>
          <a:p>
            <a:pPr algn="l">
              <a:lnSpc>
                <a:spcPct val="118000"/>
              </a:lnSpc>
              <a:spcAft>
                <a:spcPts val="200"/>
              </a:spcAft>
            </a:pPr>
            <a:r>
              <a:rPr sz="840" b="1">
                <a:solidFill>
                  <a:srgbClr val="0B3041"/>
                </a:solidFill>
                <a:latin typeface="游ゴシック"/>
                <a:ea typeface="游ゴシック"/>
                <a:cs typeface="游ゴシック"/>
              </a:rPr>
              <a:t>季節性　</a:t>
            </a:r>
            <a:r>
              <a:rPr sz="840" b="0">
                <a:solidFill>
                  <a:srgbClr val="1A1A1A"/>
                </a:solidFill>
                <a:latin typeface="游ゴシック"/>
                <a:ea typeface="游ゴシック"/>
                <a:cs typeface="游ゴシック"/>
              </a:rPr>
              <a:t>新そばの11月が2,531千円・日商141千円と突出、1月が613千円・日商47千円で最も低く、繁閑差は約3倍。</a:t>
            </a:r>
          </a:p>
          <a:p>
            <a:pPr algn="l">
              <a:spcAft>
                <a:spcPts val="200"/>
              </a:spcAft>
            </a:pPr>
          </a:p>
          <a:p>
            <a:pPr algn="l">
              <a:lnSpc>
                <a:spcPct val="118000"/>
              </a:lnSpc>
              <a:spcAft>
                <a:spcPts val="200"/>
              </a:spcAft>
            </a:pPr>
            <a:r>
              <a:rPr sz="840" b="1">
                <a:solidFill>
                  <a:srgbClr val="0B3041"/>
                </a:solidFill>
                <a:latin typeface="游ゴシック"/>
                <a:ea typeface="游ゴシック"/>
                <a:cs typeface="游ゴシック"/>
              </a:rPr>
              <a:t>日商の低下　</a:t>
            </a:r>
            <a:r>
              <a:rPr sz="840" b="0">
                <a:solidFill>
                  <a:srgbClr val="1A1A1A"/>
                </a:solidFill>
                <a:latin typeface="游ゴシック"/>
                <a:ea typeface="游ゴシック"/>
                <a:cs typeface="游ゴシック"/>
              </a:rPr>
              <a:t>店頭日商平均は86→80→75千円と低下傾向。客数・客単価のいずれが要因かは要確認。</a:t>
            </a:r>
          </a:p>
          <a:p>
            <a:pPr algn="l">
              <a:spcAft>
                <a:spcPts val="200"/>
              </a:spcAft>
            </a:pPr>
          </a:p>
        </p:txBody>
      </p:sp>
      <p:sp>
        <p:nvSpPr>
          <p:cNvPr id="54" name="Rectangle 53"/>
          <p:cNvSpPr/>
          <p:nvPr/>
        </p:nvSpPr>
        <p:spPr>
          <a:xfrm>
            <a:off x="393192" y="4645152"/>
            <a:ext cx="3749039" cy="2194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502920" y="4645152"/>
            <a:ext cx="3529583" cy="219456"/>
          </a:xfrm>
          <a:prstGeom prst="rect">
            <a:avLst/>
          </a:prstGeom>
          <a:noFill/>
        </p:spPr>
        <p:txBody>
          <a:bodyPr wrap="square" lIns="0" rIns="0" tIns="0" bIns="0" anchor="ctr">
            <a:spAutoFit/>
          </a:bodyPr>
          <a:lstStyle/>
          <a:p>
            <a:pPr algn="l">
              <a:spcAft>
                <a:spcPts val="0"/>
              </a:spcAft>
            </a:pPr>
            <a:r>
              <a:rPr sz="900" b="1">
                <a:solidFill>
                  <a:srgbClr val="FFFFFF"/>
                </a:solidFill>
                <a:latin typeface="游ゴシック"/>
                <a:ea typeface="游ゴシック"/>
                <a:cs typeface="游ゴシック"/>
              </a:rPr>
              <a:t>3期推移</a:t>
            </a:r>
          </a:p>
        </p:txBody>
      </p:sp>
      <p:graphicFrame>
        <p:nvGraphicFramePr>
          <p:cNvPr id="56" name="Table 55"/>
          <p:cNvGraphicFramePr>
            <a:graphicFrameLocks noGrp="1"/>
          </p:cNvGraphicFramePr>
          <p:nvPr/>
        </p:nvGraphicFramePr>
        <p:xfrm>
          <a:off x="393192" y="4864608"/>
          <a:ext cx="3749040" cy="941832"/>
        </p:xfrm>
        <a:graphic>
          <a:graphicData uri="http://schemas.openxmlformats.org/drawingml/2006/table">
            <a:tbl>
              <a:tblPr firstRow="0" bandRow="0">
                <a:tableStyleId>{5C22544A-7EE6-4342-B048-85BDC9FD1C3A}</a:tableStyleId>
              </a:tblPr>
              <a:tblGrid>
                <a:gridCol w="1463040"/>
                <a:gridCol w="758952"/>
                <a:gridCol w="758952"/>
                <a:gridCol w="768096"/>
              </a:tblGrid>
              <a:tr h="228600">
                <a:tc>
                  <a:txBody>
                    <a:bodyPr wrap="square"/>
                    <a:lstStyle/>
                    <a:p>
                      <a:pPr algn="ctr">
                        <a:spcAft>
                          <a:spcPts val="0"/>
                        </a:spcAft>
                      </a:pPr>
                      <a:r>
                        <a:rPr sz="840"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40" b="0">
                          <a:solidFill>
                            <a:srgbClr val="1A1A1A"/>
                          </a:solidFill>
                          <a:latin typeface="游ゴシック"/>
                          <a:ea typeface="游ゴシック"/>
                          <a:cs typeface="游ゴシック"/>
                        </a:rPr>
                        <a:t>店頭売上高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40" b="0">
                          <a:solidFill>
                            <a:srgbClr val="1A1A1A"/>
                          </a:solidFill>
                          <a:latin typeface="游ゴシック"/>
                          <a:ea typeface="游ゴシック"/>
                          <a:cs typeface="游ゴシック"/>
                        </a:rPr>
                        <a:t>営業日数（日）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40" b="1">
                          <a:solidFill>
                            <a:srgbClr val="1A1A1A"/>
                          </a:solidFill>
                          <a:latin typeface="游ゴシック"/>
                          <a:ea typeface="游ゴシック"/>
                          <a:cs typeface="游ゴシック"/>
                        </a:rPr>
                        <a:t>日商平均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57" name="TextBox 56"/>
          <p:cNvSpPr txBox="1"/>
          <p:nvPr/>
        </p:nvSpPr>
        <p:spPr>
          <a:xfrm>
            <a:off x="393192" y="6364224"/>
            <a:ext cx="9902952" cy="923543"/>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店頭売上高は、総勘定元帳「飲食店売上高」のうち普通預金・現金への入金明細（摘要「本店売上（月／日）」）を集計したものです。関係先（塩町館・小びと）への食材供給分は含みません。</a:t>
            </a:r>
          </a:p>
          <a:p>
            <a:pPr algn="l">
              <a:lnSpc>
                <a:spcPct val="108000"/>
              </a:lnSpc>
              <a:spcAft>
                <a:spcPts val="100"/>
              </a:spcAft>
            </a:pPr>
            <a:r>
              <a:rPr sz="800" b="0">
                <a:solidFill>
                  <a:srgbClr val="5A656B"/>
                </a:solidFill>
                <a:latin typeface="游ゴシック Medium"/>
                <a:ea typeface="游ゴシック Medium"/>
                <a:cs typeface="游ゴシック Medium"/>
              </a:rPr>
              <a:t>※ 2026年5月期の店頭売上高合計には、期末に一括計上された5月分現金売上132千円を含みます（月次表には含まれません）。</a:t>
            </a:r>
          </a:p>
          <a:p>
            <a:pPr algn="l">
              <a:lnSpc>
                <a:spcPct val="108000"/>
              </a:lnSpc>
              <a:spcAft>
                <a:spcPts val="100"/>
              </a:spcAft>
            </a:pPr>
            <a:r>
              <a:rPr sz="800" b="0">
                <a:solidFill>
                  <a:srgbClr val="5A656B"/>
                </a:solidFill>
                <a:latin typeface="游ゴシック Medium"/>
                <a:ea typeface="游ゴシック Medium"/>
                <a:cs typeface="游ゴシック Medium"/>
              </a:rPr>
              <a:t>※ 平均予算は約3,000円（出所：Japan Brand Collection 2026 茨城版）。これを前提とすると1日あたりの来店客数は約25名と推計されます（弊社推計）。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2. 事業概要</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主要販売先別売上高</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店頭の一般消費者が67.2％。残り約3割は卸売・通販で、キビヤベーカリーと通信販売は3期連続で増加</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16</a:t>
            </a:r>
          </a:p>
        </p:txBody>
      </p:sp>
      <p:graphicFrame>
        <p:nvGraphicFramePr>
          <p:cNvPr id="9" name="Table 8"/>
          <p:cNvGraphicFramePr>
            <a:graphicFrameLocks noGrp="1"/>
          </p:cNvGraphicFramePr>
          <p:nvPr/>
        </p:nvGraphicFramePr>
        <p:xfrm>
          <a:off x="393192" y="1554480"/>
          <a:ext cx="9902945" cy="3434484"/>
        </p:xfrm>
        <a:graphic>
          <a:graphicData uri="http://schemas.openxmlformats.org/drawingml/2006/table">
            <a:tbl>
              <a:tblPr firstRow="0" bandRow="0">
                <a:tableStyleId>{5C22544A-7EE6-4342-B048-85BDC9FD1C3A}</a:tableStyleId>
              </a:tblPr>
              <a:tblGrid>
                <a:gridCol w="374402"/>
                <a:gridCol w="2115375"/>
                <a:gridCol w="2077935"/>
                <a:gridCol w="954726"/>
                <a:gridCol w="804965"/>
                <a:gridCol w="655204"/>
                <a:gridCol w="804965"/>
                <a:gridCol w="655204"/>
                <a:gridCol w="804965"/>
                <a:gridCol w="65520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得意先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取引内容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業種等</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一般消費者（店頭飲食）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そば店「慈久庵」での店内飲食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そば・食材の供給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キビヤベーカリー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Ｅコレクトサガワ（通信販売）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蕎麦粉・玄そば等の通信販売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通販代引決済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小びと 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水府振興公社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乾麺・そばつゆ等の商品卸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道の駅・物産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ルヴァン株式会社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玉笑い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株式会社シオミ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アマゾンジャパン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乾麺・そばつゆ等のEC販売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ＥＣモール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1353312"/>
            <a:ext cx="9902952"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（単位：千円）</a:t>
            </a:r>
          </a:p>
        </p:txBody>
      </p:sp>
      <p:sp>
        <p:nvSpPr>
          <p:cNvPr id="11" name="Rectangle 10"/>
          <p:cNvSpPr/>
          <p:nvPr/>
        </p:nvSpPr>
        <p:spPr>
          <a:xfrm>
            <a:off x="393192" y="5084064"/>
            <a:ext cx="9902952"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02920" y="5084064"/>
            <a:ext cx="9683496"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Comment</a:t>
            </a:r>
          </a:p>
        </p:txBody>
      </p:sp>
      <p:sp>
        <p:nvSpPr>
          <p:cNvPr id="13" name="Rectangle 12"/>
          <p:cNvSpPr/>
          <p:nvPr/>
        </p:nvSpPr>
        <p:spPr>
          <a:xfrm>
            <a:off x="393192" y="5321807"/>
            <a:ext cx="9902952" cy="118872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9496" y="5422392"/>
            <a:ext cx="9610344" cy="987552"/>
          </a:xfrm>
          <a:prstGeom prst="rect">
            <a:avLst/>
          </a:prstGeom>
          <a:noFill/>
        </p:spPr>
        <p:txBody>
          <a:bodyPr wrap="square" lIns="0" rIns="0" tIns="0" bIns="0" anchor="t">
            <a:spAutoFit/>
          </a:bodyPr>
          <a:lstStyle/>
          <a:p>
            <a:pPr algn="l">
              <a:lnSpc>
                <a:spcPct val="122000"/>
              </a:lnSpc>
              <a:spcAft>
                <a:spcPts val="300"/>
              </a:spcAft>
            </a:pPr>
            <a:r>
              <a:rPr sz="860" b="0">
                <a:solidFill>
                  <a:srgbClr val="1A1A1A"/>
                </a:solidFill>
                <a:latin typeface="游ゴシック Medium"/>
                <a:ea typeface="游ゴシック Medium"/>
                <a:cs typeface="游ゴシック Medium"/>
              </a:rPr>
              <a:t>■ 特定の法人顧客への依存はなく、売上の67.2％は店頭の一般消費者。卸売先で最大のキビヤベーカリーでも構成比8.3％にとどまります。</a:t>
            </a:r>
          </a:p>
          <a:p>
            <a:pPr algn="l">
              <a:lnSpc>
                <a:spcPct val="122000"/>
              </a:lnSpc>
              <a:spcAft>
                <a:spcPts val="300"/>
              </a:spcAft>
            </a:pPr>
            <a:r>
              <a:rPr sz="860" b="0">
                <a:solidFill>
                  <a:srgbClr val="1A1A1A"/>
                </a:solidFill>
                <a:latin typeface="游ゴシック Medium"/>
                <a:ea typeface="游ゴシック Medium"/>
                <a:cs typeface="游ゴシック Medium"/>
              </a:rPr>
              <a:t>■ 増加しているのは通信販売（696→1,020千円）とキビヤベーカリー（1,778→1,865千円）。2026年5月期からは玉笑（230千円）、（株）シオミ（169千円）との取引も開始しています。</a:t>
            </a:r>
          </a:p>
          <a:p>
            <a:pPr algn="l">
              <a:lnSpc>
                <a:spcPct val="122000"/>
              </a:lnSpc>
              <a:spcAft>
                <a:spcPts val="300"/>
              </a:spcAft>
            </a:pPr>
            <a:r>
              <a:rPr sz="860" b="0">
                <a:solidFill>
                  <a:srgbClr val="1A1A1A"/>
                </a:solidFill>
                <a:latin typeface="游ゴシック Medium"/>
                <a:ea typeface="游ゴシック Medium"/>
                <a:cs typeface="游ゴシック Medium"/>
              </a:rPr>
              <a:t>■ 塩町館・小びとの2先（計3,323千円・14.8％）は関係先向けであり、未収入金として残高が積み上がっています。取引条件と回収可能性は本件における重要な確認事項です。</a:t>
            </a:r>
          </a:p>
        </p:txBody>
      </p:sp>
      <p:sp>
        <p:nvSpPr>
          <p:cNvPr id="15" name="TextBox 14"/>
          <p:cNvSpPr txBox="1"/>
          <p:nvPr/>
        </p:nvSpPr>
        <p:spPr>
          <a:xfrm>
            <a:off x="393192" y="6601968"/>
            <a:ext cx="9902952" cy="685799"/>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総勘定元帳の取引先欄を集計したものです。相手先の記載がない仕訳は「その他」に含まれます。</a:t>
            </a:r>
          </a:p>
          <a:p>
            <a:pPr algn="l">
              <a:lnSpc>
                <a:spcPct val="108000"/>
              </a:lnSpc>
              <a:spcAft>
                <a:spcPts val="100"/>
              </a:spcAft>
            </a:pPr>
            <a:r>
              <a:rPr sz="800" b="0">
                <a:solidFill>
                  <a:srgbClr val="5A656B"/>
                </a:solidFill>
                <a:latin typeface="游ゴシック Medium"/>
                <a:ea typeface="游ゴシック Medium"/>
                <a:cs typeface="游ゴシック Medium"/>
              </a:rPr>
              <a:t>※ 「小びと 等」の2024年5月期・2025年5月期は、元帳上の摘要が「玄そば未収分」等であり取引先の特定が未了です（要確認）。</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2. 事業概要</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主要仕入先別取引高</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原料は小麦（ミルキーウェーブ）と玄そば（海老根氏）の2先で約4割。いずれも地元・個人の生産者との直接取引</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17</a:t>
            </a:r>
          </a:p>
        </p:txBody>
      </p:sp>
      <p:graphicFrame>
        <p:nvGraphicFramePr>
          <p:cNvPr id="9" name="Table 8"/>
          <p:cNvGraphicFramePr>
            <a:graphicFrameLocks noGrp="1"/>
          </p:cNvGraphicFramePr>
          <p:nvPr/>
        </p:nvGraphicFramePr>
        <p:xfrm>
          <a:off x="393192" y="1554480"/>
          <a:ext cx="9902945" cy="3434484"/>
        </p:xfrm>
        <a:graphic>
          <a:graphicData uri="http://schemas.openxmlformats.org/drawingml/2006/table">
            <a:tbl>
              <a:tblPr firstRow="0" bandRow="0">
                <a:tableStyleId>{5C22544A-7EE6-4342-B048-85BDC9FD1C3A}</a:tableStyleId>
              </a:tblPr>
              <a:tblGrid>
                <a:gridCol w="374402"/>
                <a:gridCol w="2302576"/>
                <a:gridCol w="1591211"/>
                <a:gridCol w="1254249"/>
                <a:gridCol w="804965"/>
                <a:gridCol w="655204"/>
                <a:gridCol w="804965"/>
                <a:gridCol w="655204"/>
                <a:gridCol w="804965"/>
                <a:gridCol w="65520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仕入先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仕入内容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所在地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ミルキーウェーブ（外岡 清秀）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小麦（原料）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海老根 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健興通商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酒類・食材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株式会社鈴木商店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334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株式会社西崎ファーム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鴨肉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三輪デグストアトウキョウ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東京都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岩魚郷北条屋敷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多田製粉株式会社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粉類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伊勢又米穀製粉株式会社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打ち粉・製粉外注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岡村製油株式会社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天ぷら油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大阪府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3347">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1353312"/>
            <a:ext cx="9902952"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（単位：千円）</a:t>
            </a:r>
          </a:p>
        </p:txBody>
      </p:sp>
      <p:sp>
        <p:nvSpPr>
          <p:cNvPr id="11" name="Rectangle 10"/>
          <p:cNvSpPr/>
          <p:nvPr/>
        </p:nvSpPr>
        <p:spPr>
          <a:xfrm>
            <a:off x="393192" y="5084064"/>
            <a:ext cx="9902952"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02920" y="5084064"/>
            <a:ext cx="9683496"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Comment</a:t>
            </a:r>
          </a:p>
        </p:txBody>
      </p:sp>
      <p:sp>
        <p:nvSpPr>
          <p:cNvPr id="13" name="Rectangle 12"/>
          <p:cNvSpPr/>
          <p:nvPr/>
        </p:nvSpPr>
        <p:spPr>
          <a:xfrm>
            <a:off x="393192" y="5321807"/>
            <a:ext cx="9902952" cy="118872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9496" y="5422392"/>
            <a:ext cx="9610344" cy="987552"/>
          </a:xfrm>
          <a:prstGeom prst="rect">
            <a:avLst/>
          </a:prstGeom>
          <a:noFill/>
        </p:spPr>
        <p:txBody>
          <a:bodyPr wrap="square" lIns="0" rIns="0" tIns="0" bIns="0" anchor="t">
            <a:spAutoFit/>
          </a:bodyPr>
          <a:lstStyle/>
          <a:p>
            <a:pPr algn="l">
              <a:lnSpc>
                <a:spcPct val="122000"/>
              </a:lnSpc>
              <a:spcAft>
                <a:spcPts val="300"/>
              </a:spcAft>
            </a:pPr>
            <a:r>
              <a:rPr sz="860" b="0">
                <a:solidFill>
                  <a:srgbClr val="1A1A1A"/>
                </a:solidFill>
                <a:latin typeface="游ゴシック Medium"/>
                <a:ea typeface="游ゴシック Medium"/>
                <a:cs typeface="游ゴシック Medium"/>
              </a:rPr>
              <a:t>■ 材料仕入高4,595千円のうち、ミルキーウェーブ（小麦）1,155千円と海老根 章 氏（玄そば）660千円で39.5％を占めます。いずれも個人・小規模の生産者との直接取引であり、契約書は未受領です（要確認）。</a:t>
            </a:r>
          </a:p>
          <a:p>
            <a:pPr algn="l">
              <a:lnSpc>
                <a:spcPct val="122000"/>
              </a:lnSpc>
              <a:spcAft>
                <a:spcPts val="300"/>
              </a:spcAft>
            </a:pPr>
            <a:r>
              <a:rPr sz="860" b="0">
                <a:solidFill>
                  <a:srgbClr val="1A1A1A"/>
                </a:solidFill>
                <a:latin typeface="游ゴシック Medium"/>
                <a:ea typeface="游ゴシック Medium"/>
                <a:cs typeface="游ゴシック Medium"/>
              </a:rPr>
              <a:t>■ 玄そばの仕入額は1,300→1,100→660千円と減少しています。棚卸資産には「玄そば（海老根・新／古／古古）」が2,025千円計上されており、年度ごとの作柄・仕入数量との関係整理が必要です。</a:t>
            </a:r>
          </a:p>
          <a:p>
            <a:pPr algn="l">
              <a:lnSpc>
                <a:spcPct val="122000"/>
              </a:lnSpc>
              <a:spcAft>
                <a:spcPts val="300"/>
              </a:spcAft>
            </a:pPr>
            <a:r>
              <a:rPr sz="860" b="0">
                <a:solidFill>
                  <a:srgbClr val="1A1A1A"/>
                </a:solidFill>
                <a:latin typeface="游ゴシック Medium"/>
                <a:ea typeface="游ゴシック Medium"/>
                <a:cs typeface="游ゴシック Medium"/>
              </a:rPr>
              <a:t>■ このほか外注加工費272千円（うち伊勢又米穀製粉267千円）、商品仕入高92千円があります。</a:t>
            </a:r>
          </a:p>
        </p:txBody>
      </p:sp>
      <p:sp>
        <p:nvSpPr>
          <p:cNvPr id="15" name="TextBox 14"/>
          <p:cNvSpPr txBox="1"/>
          <p:nvPr/>
        </p:nvSpPr>
        <p:spPr>
          <a:xfrm>
            <a:off x="393192" y="6601968"/>
            <a:ext cx="9902952" cy="685799"/>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製造原価報告書「材料仕入高」の総勘定元帳明細を集計したものです。商品仕入高・外注加工費は含みません。</a:t>
            </a:r>
          </a:p>
          <a:p>
            <a:pPr algn="l">
              <a:lnSpc>
                <a:spcPct val="108000"/>
              </a:lnSpc>
              <a:spcAft>
                <a:spcPts val="100"/>
              </a:spcAft>
            </a:pPr>
            <a:r>
              <a:rPr sz="800" b="0">
                <a:solidFill>
                  <a:srgbClr val="5A656B"/>
                </a:solidFill>
                <a:latin typeface="游ゴシック Medium"/>
                <a:ea typeface="游ゴシック Medium"/>
                <a:cs typeface="游ゴシック Medium"/>
              </a:rPr>
              <a:t>※ 相手先の記載がない仕訳は「その他」に含まれます。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2. 事業概要</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強み・成長余地と留意点</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承継後に最も効きやすい打ち手は「営業日・営業時間の拡大」。ブランドと設備は既に整っている</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18</a:t>
            </a:r>
          </a:p>
        </p:txBody>
      </p:sp>
      <p:sp>
        <p:nvSpPr>
          <p:cNvPr id="9" name="Rectangle 8"/>
          <p:cNvSpPr/>
          <p:nvPr/>
        </p:nvSpPr>
        <p:spPr>
          <a:xfrm>
            <a:off x="393192" y="1536192"/>
            <a:ext cx="4828032"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02920" y="1536192"/>
            <a:ext cx="4608576"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強み</a:t>
            </a:r>
          </a:p>
        </p:txBody>
      </p:sp>
      <p:sp>
        <p:nvSpPr>
          <p:cNvPr id="11" name="Rectangle 10"/>
          <p:cNvSpPr/>
          <p:nvPr/>
        </p:nvSpPr>
        <p:spPr>
          <a:xfrm>
            <a:off x="393192" y="1828800"/>
            <a:ext cx="45720"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57784" y="1847088"/>
            <a:ext cx="4572000" cy="201168"/>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 全国区のブランド</a:t>
            </a:r>
          </a:p>
        </p:txBody>
      </p:sp>
      <p:sp>
        <p:nvSpPr>
          <p:cNvPr id="13" name="TextBox 12"/>
          <p:cNvSpPr txBox="1"/>
          <p:nvPr/>
        </p:nvSpPr>
        <p:spPr>
          <a:xfrm>
            <a:off x="557784" y="2084832"/>
            <a:ext cx="4572000" cy="512064"/>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Medium"/>
                <a:ea typeface="游ゴシック Medium"/>
                <a:cs typeface="游ゴシック Medium"/>
              </a:rPr>
              <a:t>食べログ百名店・TABELOG AWARD Bronze（2022・2023）・Japan Restaurant Award 2016 茨城県TOP1。同業の有名店が玄そば・蕎麦粉を仕入れに来る水準の評価。</a:t>
            </a:r>
          </a:p>
        </p:txBody>
      </p:sp>
      <p:sp>
        <p:nvSpPr>
          <p:cNvPr id="14" name="Rectangle 13"/>
          <p:cNvSpPr/>
          <p:nvPr/>
        </p:nvSpPr>
        <p:spPr>
          <a:xfrm>
            <a:off x="393192" y="2670048"/>
            <a:ext cx="45720"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57784" y="2688336"/>
            <a:ext cx="4572000" cy="201168"/>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 垂直統合された「つくり方」</a:t>
            </a:r>
          </a:p>
        </p:txBody>
      </p:sp>
      <p:sp>
        <p:nvSpPr>
          <p:cNvPr id="16" name="TextBox 15"/>
          <p:cNvSpPr txBox="1"/>
          <p:nvPr/>
        </p:nvSpPr>
        <p:spPr>
          <a:xfrm>
            <a:off x="557784" y="2926080"/>
            <a:ext cx="4572000" cy="512064"/>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Medium"/>
                <a:ea typeface="游ゴシック Medium"/>
                <a:cs typeface="游ゴシック Medium"/>
              </a:rPr>
              <a:t>栽培（焼畑）→ 一年熟成 → 石臼自家製粉 → 手打ち までを自社で完結。模倣が難しく、原料コストのコントロールも効く。</a:t>
            </a:r>
          </a:p>
        </p:txBody>
      </p:sp>
      <p:sp>
        <p:nvSpPr>
          <p:cNvPr id="17" name="Rectangle 16"/>
          <p:cNvSpPr/>
          <p:nvPr/>
        </p:nvSpPr>
        <p:spPr>
          <a:xfrm>
            <a:off x="393192" y="3511296"/>
            <a:ext cx="45720"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7784" y="3529584"/>
            <a:ext cx="4572000" cy="201168"/>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 店舗そのものが資産</a:t>
            </a:r>
          </a:p>
        </p:txBody>
      </p:sp>
      <p:sp>
        <p:nvSpPr>
          <p:cNvPr id="19" name="TextBox 18"/>
          <p:cNvSpPr txBox="1"/>
          <p:nvPr/>
        </p:nvSpPr>
        <p:spPr>
          <a:xfrm>
            <a:off x="557784" y="3767328"/>
            <a:ext cx="4572000" cy="512064"/>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Medium"/>
                <a:ea typeface="游ゴシック Medium"/>
                <a:cs typeface="游ゴシック Medium"/>
              </a:rPr>
              <a:t>板倉造・茅葺きの自社建物（取得価額104,599千円）と土地を保有。賃料負担ゼロ、金融機関借入ゼロ。</a:t>
            </a:r>
          </a:p>
        </p:txBody>
      </p:sp>
      <p:sp>
        <p:nvSpPr>
          <p:cNvPr id="20" name="Rectangle 19"/>
          <p:cNvSpPr/>
          <p:nvPr/>
        </p:nvSpPr>
        <p:spPr>
          <a:xfrm>
            <a:off x="393192" y="4352544"/>
            <a:ext cx="45720"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7784" y="4370831"/>
            <a:ext cx="4572000" cy="201168"/>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 商標</a:t>
            </a:r>
          </a:p>
        </p:txBody>
      </p:sp>
      <p:sp>
        <p:nvSpPr>
          <p:cNvPr id="22" name="TextBox 21"/>
          <p:cNvSpPr txBox="1"/>
          <p:nvPr/>
        </p:nvSpPr>
        <p:spPr>
          <a:xfrm>
            <a:off x="557784" y="4608576"/>
            <a:ext cx="4572000" cy="512064"/>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Medium"/>
                <a:ea typeface="游ゴシック Medium"/>
                <a:cs typeface="游ゴシック Medium"/>
              </a:rPr>
              <a:t>「慈久庵」および「古式けんちんそば」等の商標を登録済（4件）。商品展開・多店舗展開の基盤。</a:t>
            </a:r>
          </a:p>
        </p:txBody>
      </p:sp>
      <p:sp>
        <p:nvSpPr>
          <p:cNvPr id="23" name="Rectangle 22"/>
          <p:cNvSpPr/>
          <p:nvPr/>
        </p:nvSpPr>
        <p:spPr>
          <a:xfrm>
            <a:off x="393192" y="5193792"/>
            <a:ext cx="45720"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7784" y="5212079"/>
            <a:ext cx="4572000" cy="201168"/>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 承継の下地</a:t>
            </a:r>
          </a:p>
        </p:txBody>
      </p:sp>
      <p:sp>
        <p:nvSpPr>
          <p:cNvPr id="25" name="TextBox 24"/>
          <p:cNvSpPr txBox="1"/>
          <p:nvPr/>
        </p:nvSpPr>
        <p:spPr>
          <a:xfrm>
            <a:off x="557784" y="5449824"/>
            <a:ext cx="4572000" cy="512064"/>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Medium"/>
                <a:ea typeface="游ゴシック Medium"/>
                <a:cs typeface="游ゴシック Medium"/>
              </a:rPr>
              <a:t>レシピや「かえし」は誰でも再現できるよう整理済とのこと。過去には弟子へ別店舗（塩町館）を承継した実績あり。</a:t>
            </a:r>
          </a:p>
        </p:txBody>
      </p:sp>
      <p:sp>
        <p:nvSpPr>
          <p:cNvPr id="26" name="Rectangle 25"/>
          <p:cNvSpPr/>
          <p:nvPr/>
        </p:nvSpPr>
        <p:spPr>
          <a:xfrm>
            <a:off x="5440679" y="1536192"/>
            <a:ext cx="485546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550407" y="1536192"/>
            <a:ext cx="463600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成長余地（買手にとっての打ち手）</a:t>
            </a:r>
          </a:p>
        </p:txBody>
      </p:sp>
      <p:sp>
        <p:nvSpPr>
          <p:cNvPr id="28" name="Rectangle 27"/>
          <p:cNvSpPr/>
          <p:nvPr/>
        </p:nvSpPr>
        <p:spPr>
          <a:xfrm>
            <a:off x="5440679" y="1828800"/>
            <a:ext cx="45720"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5271" y="1847088"/>
            <a:ext cx="4572000" cy="201168"/>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 営業日・営業時間の拡大</a:t>
            </a:r>
          </a:p>
        </p:txBody>
      </p:sp>
      <p:sp>
        <p:nvSpPr>
          <p:cNvPr id="30" name="TextBox 29"/>
          <p:cNvSpPr txBox="1"/>
          <p:nvPr/>
        </p:nvSpPr>
        <p:spPr>
          <a:xfrm>
            <a:off x="5605271" y="2084832"/>
            <a:ext cx="4572000" cy="512064"/>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Medium"/>
                <a:ea typeface="游ゴシック Medium"/>
                <a:cs typeface="游ゴシック Medium"/>
              </a:rPr>
              <a:t>現在は週4日・昼のみ（年間200日）。仮に営業日を週5日（年間250日）とし日商が維持できれば、店頭売上は約3.8百万円増加する計算（弊社試算）。</a:t>
            </a:r>
          </a:p>
        </p:txBody>
      </p:sp>
      <p:sp>
        <p:nvSpPr>
          <p:cNvPr id="31" name="Rectangle 30"/>
          <p:cNvSpPr/>
          <p:nvPr/>
        </p:nvSpPr>
        <p:spPr>
          <a:xfrm>
            <a:off x="5440679" y="2670048"/>
            <a:ext cx="45720"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605271" y="2688336"/>
            <a:ext cx="4572000" cy="201168"/>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 商品・EC の拡販</a:t>
            </a:r>
          </a:p>
        </p:txBody>
      </p:sp>
      <p:sp>
        <p:nvSpPr>
          <p:cNvPr id="33" name="TextBox 32"/>
          <p:cNvSpPr txBox="1"/>
          <p:nvPr/>
        </p:nvSpPr>
        <p:spPr>
          <a:xfrm>
            <a:off x="5605271" y="2926080"/>
            <a:ext cx="4572000" cy="512064"/>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Medium"/>
                <a:ea typeface="游ゴシック Medium"/>
                <a:cs typeface="游ゴシック Medium"/>
              </a:rPr>
              <a:t>通信販売は696→1,020千円と伸長中。ふるさと納税返礼品にも採用済で、商品ラインは乾麺・そばつゆ・本返し・醤・味噌と既に揃っている。</a:t>
            </a:r>
          </a:p>
        </p:txBody>
      </p:sp>
      <p:sp>
        <p:nvSpPr>
          <p:cNvPr id="34" name="Rectangle 33"/>
          <p:cNvSpPr/>
          <p:nvPr/>
        </p:nvSpPr>
        <p:spPr>
          <a:xfrm>
            <a:off x="5440679" y="3511296"/>
            <a:ext cx="45720"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605271" y="3529584"/>
            <a:ext cx="4572000" cy="201168"/>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 卸売の拡大</a:t>
            </a:r>
          </a:p>
        </p:txBody>
      </p:sp>
      <p:sp>
        <p:nvSpPr>
          <p:cNvPr id="36" name="TextBox 35"/>
          <p:cNvSpPr txBox="1"/>
          <p:nvPr/>
        </p:nvSpPr>
        <p:spPr>
          <a:xfrm>
            <a:off x="5605271" y="3767328"/>
            <a:ext cx="4572000" cy="512064"/>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Medium"/>
                <a:ea typeface="游ゴシック Medium"/>
                <a:cs typeface="游ゴシック Medium"/>
              </a:rPr>
              <a:t>石臼挽き小麦粉は著名ベーカリーに継続採用されており、製粉能力に余力があれば販路拡大の余地。</a:t>
            </a:r>
          </a:p>
        </p:txBody>
      </p:sp>
      <p:sp>
        <p:nvSpPr>
          <p:cNvPr id="37" name="Rectangle 36"/>
          <p:cNvSpPr/>
          <p:nvPr/>
        </p:nvSpPr>
        <p:spPr>
          <a:xfrm>
            <a:off x="5440679" y="4352544"/>
            <a:ext cx="45720"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605271" y="4370831"/>
            <a:ext cx="4572000" cy="201168"/>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 多店舗展開</a:t>
            </a:r>
          </a:p>
        </p:txBody>
      </p:sp>
      <p:sp>
        <p:nvSpPr>
          <p:cNvPr id="39" name="TextBox 38"/>
          <p:cNvSpPr txBox="1"/>
          <p:nvPr/>
        </p:nvSpPr>
        <p:spPr>
          <a:xfrm>
            <a:off x="5605271" y="4608576"/>
            <a:ext cx="4572000" cy="512064"/>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Medium"/>
                <a:ea typeface="游ゴシック Medium"/>
                <a:cs typeface="游ゴシック Medium"/>
              </a:rPr>
              <a:t>「慈久庵」「古式けんちんそば」の商標を活かした出店。過去に弟子へ店舗を承継した実績があり、暖簾分けモデルの素地がある。</a:t>
            </a:r>
          </a:p>
        </p:txBody>
      </p:sp>
      <p:sp>
        <p:nvSpPr>
          <p:cNvPr id="40" name="Rectangle 39"/>
          <p:cNvSpPr/>
          <p:nvPr/>
        </p:nvSpPr>
        <p:spPr>
          <a:xfrm>
            <a:off x="5440679" y="4956048"/>
            <a:ext cx="4855464" cy="237744"/>
          </a:xfrm>
          <a:prstGeom prst="rect">
            <a:avLst/>
          </a:prstGeom>
          <a:solidFill>
            <a:srgbClr val="7A3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550407" y="4956048"/>
            <a:ext cx="463600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留意点</a:t>
            </a:r>
          </a:p>
        </p:txBody>
      </p:sp>
      <p:sp>
        <p:nvSpPr>
          <p:cNvPr id="42" name="Rectangle 41"/>
          <p:cNvSpPr/>
          <p:nvPr/>
        </p:nvSpPr>
        <p:spPr>
          <a:xfrm>
            <a:off x="5440679" y="5193792"/>
            <a:ext cx="4855464" cy="1225296"/>
          </a:xfrm>
          <a:prstGeom prst="rect">
            <a:avLst/>
          </a:prstGeom>
          <a:solidFill>
            <a:srgbClr val="FCF3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586983" y="5285231"/>
            <a:ext cx="4562856" cy="1042415"/>
          </a:xfrm>
          <a:prstGeom prst="rect">
            <a:avLst/>
          </a:prstGeom>
          <a:noFill/>
        </p:spPr>
        <p:txBody>
          <a:bodyPr wrap="square" lIns="0" rIns="0" tIns="0" bIns="0" anchor="t">
            <a:spAutoFit/>
          </a:bodyPr>
          <a:lstStyle/>
          <a:p>
            <a:pPr algn="l">
              <a:lnSpc>
                <a:spcPct val="120000"/>
              </a:lnSpc>
              <a:spcAft>
                <a:spcPts val="200"/>
              </a:spcAft>
            </a:pPr>
            <a:r>
              <a:rPr sz="840" b="0">
                <a:solidFill>
                  <a:srgbClr val="1A1A1A"/>
                </a:solidFill>
                <a:latin typeface="游ゴシック Medium"/>
                <a:ea typeface="游ゴシック Medium"/>
                <a:cs typeface="游ゴシック Medium"/>
              </a:rPr>
              <a:t>・代表者（79歳）に運営が集中。掲載誌には「接客・調理・片付けまで代表者一人でこなす」との記載があり、引継ぎに要する期間・人数の具体化が必要です。</a:t>
            </a:r>
          </a:p>
          <a:p>
            <a:pPr algn="l">
              <a:lnSpc>
                <a:spcPct val="120000"/>
              </a:lnSpc>
              <a:spcAft>
                <a:spcPts val="200"/>
              </a:spcAft>
            </a:pPr>
            <a:r>
              <a:rPr sz="840" b="0">
                <a:solidFill>
                  <a:srgbClr val="1A1A1A"/>
                </a:solidFill>
                <a:latin typeface="游ゴシック Medium"/>
                <a:ea typeface="游ゴシック Medium"/>
                <a:cs typeface="游ゴシック Medium"/>
              </a:rPr>
              <a:t>・代表者・配偶者は無報酬であり、新体制では職人人件費の手当が必要です（P.7 参考試算）。</a:t>
            </a:r>
          </a:p>
          <a:p>
            <a:pPr algn="l">
              <a:lnSpc>
                <a:spcPct val="120000"/>
              </a:lnSpc>
              <a:spcAft>
                <a:spcPts val="200"/>
              </a:spcAft>
            </a:pPr>
            <a:r>
              <a:rPr sz="840" b="0">
                <a:solidFill>
                  <a:srgbClr val="1A1A1A"/>
                </a:solidFill>
                <a:latin typeface="游ゴシック Medium"/>
                <a:ea typeface="游ゴシック Medium"/>
                <a:cs typeface="游ゴシック Medium"/>
              </a:rPr>
              <a:t>・店舗建物は未登記。代表者夫妻が2階に居住中です。</a:t>
            </a:r>
          </a:p>
        </p:txBody>
      </p:sp>
      <p:sp>
        <p:nvSpPr>
          <p:cNvPr id="44" name="TextBox 43"/>
          <p:cNvSpPr txBox="1"/>
          <p:nvPr/>
        </p:nvSpPr>
        <p:spPr>
          <a:xfrm>
            <a:off x="393192" y="6528816"/>
            <a:ext cx="9902952" cy="758951"/>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「営業日を週5日とした場合」の試算は、日商平均75千円が維持されることを前提とした弊社の単純試算であり、人員体制・原料調達の制約は考慮していません（仮説）。</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1188720" y="2743200"/>
            <a:ext cx="82296" cy="96012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81328" y="2761488"/>
            <a:ext cx="2743200" cy="457200"/>
          </a:xfrm>
          <a:prstGeom prst="rect">
            <a:avLst/>
          </a:prstGeom>
          <a:noFill/>
        </p:spPr>
        <p:txBody>
          <a:bodyPr wrap="square" lIns="0" rIns="0" tIns="0" bIns="0" anchor="t">
            <a:spAutoFit/>
          </a:bodyPr>
          <a:lstStyle/>
          <a:p>
            <a:pPr algn="l">
              <a:spcAft>
                <a:spcPts val="0"/>
              </a:spcAft>
            </a:pPr>
            <a:r>
              <a:rPr sz="1300" b="1">
                <a:solidFill>
                  <a:srgbClr val="0889C9"/>
                </a:solidFill>
                <a:latin typeface="Arial"/>
                <a:ea typeface="Arial"/>
                <a:cs typeface="Arial"/>
              </a:rPr>
              <a:t>Section 3</a:t>
            </a:r>
          </a:p>
        </p:txBody>
      </p:sp>
      <p:sp>
        <p:nvSpPr>
          <p:cNvPr id="5" name="TextBox 4"/>
          <p:cNvSpPr txBox="1"/>
          <p:nvPr/>
        </p:nvSpPr>
        <p:spPr>
          <a:xfrm>
            <a:off x="1481328" y="3145536"/>
            <a:ext cx="6858000" cy="566928"/>
          </a:xfrm>
          <a:prstGeom prst="rect">
            <a:avLst/>
          </a:prstGeom>
          <a:noFill/>
        </p:spPr>
        <p:txBody>
          <a:bodyPr wrap="square" lIns="0" rIns="0" tIns="0" bIns="0" anchor="t">
            <a:spAutoFit/>
          </a:bodyPr>
          <a:lstStyle/>
          <a:p>
            <a:pPr algn="l">
              <a:spcAft>
                <a:spcPts val="0"/>
              </a:spcAft>
            </a:pPr>
            <a:r>
              <a:rPr sz="2600" b="1">
                <a:solidFill>
                  <a:srgbClr val="FFFFFF"/>
                </a:solidFill>
                <a:latin typeface="游ゴシック"/>
                <a:ea typeface="游ゴシック"/>
                <a:cs typeface="游ゴシック"/>
              </a:rPr>
              <a:t>組織・体制・設備</a:t>
            </a:r>
          </a:p>
        </p:txBody>
      </p:sp>
      <p:sp>
        <p:nvSpPr>
          <p:cNvPr id="6" name="TextBox 5"/>
          <p:cNvSpPr txBox="1"/>
          <p:nvPr/>
        </p:nvSpPr>
        <p:spPr>
          <a:xfrm>
            <a:off x="1517904" y="3977639"/>
            <a:ext cx="7315200" cy="1645920"/>
          </a:xfrm>
          <a:prstGeom prst="rect">
            <a:avLst/>
          </a:prstGeom>
          <a:noFill/>
        </p:spPr>
        <p:txBody>
          <a:bodyPr wrap="square" lIns="0" rIns="0" tIns="0" bIns="0" anchor="t">
            <a:spAutoFit/>
          </a:bodyPr>
          <a:lstStyle/>
          <a:p>
            <a:pPr algn="l">
              <a:spcAft>
                <a:spcPts val="500"/>
              </a:spcAft>
            </a:pPr>
            <a:r>
              <a:rPr sz="1100" b="0">
                <a:solidFill>
                  <a:srgbClr val="C9D6DC"/>
                </a:solidFill>
                <a:latin typeface="游ゴシック"/>
                <a:ea typeface="游ゴシック"/>
                <a:cs typeface="游ゴシック"/>
              </a:rPr>
              <a:t>—  株主及び役員</a:t>
            </a:r>
          </a:p>
          <a:p>
            <a:pPr algn="l">
              <a:spcAft>
                <a:spcPts val="500"/>
              </a:spcAft>
            </a:pPr>
            <a:r>
              <a:rPr sz="1100" b="0">
                <a:solidFill>
                  <a:srgbClr val="C9D6DC"/>
                </a:solidFill>
                <a:latin typeface="游ゴシック"/>
                <a:ea typeface="游ゴシック"/>
                <a:cs typeface="游ゴシック"/>
              </a:rPr>
              <a:t>—  人員体制と承継</a:t>
            </a:r>
          </a:p>
          <a:p>
            <a:pPr algn="l">
              <a:spcAft>
                <a:spcPts val="500"/>
              </a:spcAft>
            </a:pPr>
            <a:r>
              <a:rPr sz="1100" b="0">
                <a:solidFill>
                  <a:srgbClr val="C9D6DC"/>
                </a:solidFill>
                <a:latin typeface="游ゴシック"/>
                <a:ea typeface="游ゴシック"/>
                <a:cs typeface="游ゴシック"/>
              </a:rPr>
              <a:t>—  保有設備</a:t>
            </a:r>
          </a:p>
        </p:txBody>
      </p:sp>
      <p:sp>
        <p:nvSpPr>
          <p:cNvPr id="7" name="TextBox 6"/>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6E8692"/>
                </a:solidFill>
                <a:latin typeface="Arial"/>
                <a:ea typeface="Arial"/>
                <a:cs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3. 組織・体制・設備</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株主及び役員</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株主・役員ともに代表者夫妻が中心。役員報酬は3期を通じて計上がなく、代表者夫妻は無報酬</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20</a:t>
            </a:r>
          </a:p>
        </p:txBody>
      </p:sp>
      <p:sp>
        <p:nvSpPr>
          <p:cNvPr id="9" name="Rectangle 8"/>
          <p:cNvSpPr/>
          <p:nvPr/>
        </p:nvSpPr>
        <p:spPr>
          <a:xfrm>
            <a:off x="393192" y="1536192"/>
            <a:ext cx="4828032"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02920" y="1536192"/>
            <a:ext cx="4608576"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株主</a:t>
            </a:r>
          </a:p>
        </p:txBody>
      </p:sp>
      <p:graphicFrame>
        <p:nvGraphicFramePr>
          <p:cNvPr id="11" name="Table 10"/>
          <p:cNvGraphicFramePr>
            <a:graphicFrameLocks noGrp="1"/>
          </p:cNvGraphicFramePr>
          <p:nvPr/>
        </p:nvGraphicFramePr>
        <p:xfrm>
          <a:off x="393192" y="1773936"/>
          <a:ext cx="4828032" cy="1060704"/>
        </p:xfrm>
        <a:graphic>
          <a:graphicData uri="http://schemas.openxmlformats.org/drawingml/2006/table">
            <a:tbl>
              <a:tblPr firstRow="0" bandRow="0">
                <a:tableStyleId>{5C22544A-7EE6-4342-B048-85BDC9FD1C3A}</a:tableStyleId>
              </a:tblPr>
              <a:tblGrid>
                <a:gridCol w="365760"/>
                <a:gridCol w="1060704"/>
                <a:gridCol w="877824"/>
                <a:gridCol w="749808"/>
                <a:gridCol w="640080"/>
                <a:gridCol w="1133856"/>
              </a:tblGrid>
              <a:tr h="237744">
                <a:tc>
                  <a:txBody>
                    <a:bodyPr wrap="square"/>
                    <a:lstStyle/>
                    <a:p>
                      <a:pPr algn="ctr">
                        <a:spcAft>
                          <a:spcPts val="0"/>
                        </a:spcAft>
                      </a:pPr>
                      <a:r>
                        <a:rPr sz="819"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保有株式数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保有割合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ctr">
                        <a:spcAft>
                          <a:spcPts val="0"/>
                        </a:spcAft>
                      </a:pPr>
                      <a:r>
                        <a:rPr sz="819"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ctr">
                        <a:spcAft>
                          <a:spcPts val="0"/>
                        </a:spcAft>
                      </a:pPr>
                      <a:r>
                        <a:rPr sz="819"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ctr">
                        <a:spcAft>
                          <a:spcPts val="0"/>
                        </a:spcAft>
                      </a:pPr>
                      <a:r>
                        <a:rPr sz="819"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2" name="Rectangle 11"/>
          <p:cNvSpPr/>
          <p:nvPr/>
        </p:nvSpPr>
        <p:spPr>
          <a:xfrm>
            <a:off x="5440679" y="1536192"/>
            <a:ext cx="485546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550407" y="1536192"/>
            <a:ext cx="463600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役員</a:t>
            </a:r>
          </a:p>
        </p:txBody>
      </p:sp>
      <p:graphicFrame>
        <p:nvGraphicFramePr>
          <p:cNvPr id="14" name="Table 13"/>
          <p:cNvGraphicFramePr>
            <a:graphicFrameLocks noGrp="1"/>
          </p:cNvGraphicFramePr>
          <p:nvPr/>
        </p:nvGraphicFramePr>
        <p:xfrm>
          <a:off x="5440679" y="1773936"/>
          <a:ext cx="4855464" cy="1335024"/>
        </p:xfrm>
        <a:graphic>
          <a:graphicData uri="http://schemas.openxmlformats.org/drawingml/2006/table">
            <a:tbl>
              <a:tblPr firstRow="0" bandRow="0">
                <a:tableStyleId>{5C22544A-7EE6-4342-B048-85BDC9FD1C3A}</a:tableStyleId>
              </a:tblPr>
              <a:tblGrid>
                <a:gridCol w="329184"/>
                <a:gridCol w="969264"/>
                <a:gridCol w="731520"/>
                <a:gridCol w="969264"/>
                <a:gridCol w="566928"/>
                <a:gridCol w="1289304"/>
              </a:tblGrid>
              <a:tr h="237744">
                <a:tc>
                  <a:txBody>
                    <a:bodyPr wrap="square"/>
                    <a:lstStyle/>
                    <a:p>
                      <a:pPr algn="ctr">
                        <a:spcAft>
                          <a:spcPts val="0"/>
                        </a:spcAft>
                      </a:pPr>
                      <a:r>
                        <a:rPr sz="819"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代表者との関係</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役員報酬</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業務範囲</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ctr">
                        <a:spcAft>
                          <a:spcPts val="0"/>
                        </a:spcAft>
                      </a:pPr>
                      <a:r>
                        <a:rPr sz="819"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本人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そば打ち・製粉・仕入・接客を含む店舗運営全般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ctr">
                        <a:spcAft>
                          <a:spcPts val="0"/>
                        </a:spcAft>
                      </a:pPr>
                      <a:r>
                        <a:rPr sz="819"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配偶者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接客・経理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ctr">
                        <a:spcAft>
                          <a:spcPts val="0"/>
                        </a:spcAft>
                      </a:pPr>
                      <a:r>
                        <a:rPr sz="819"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岩間　卓哉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元従業員（弟子）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勤務実態なし（要確認）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ctr">
                        <a:spcAft>
                          <a:spcPts val="0"/>
                        </a:spcAft>
                      </a:pPr>
                      <a:r>
                        <a:rPr sz="819"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小川　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監査役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親族（要確認）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会計監査限定（登記簿）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93192" y="3108960"/>
            <a:ext cx="9902952"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02920" y="3108960"/>
            <a:ext cx="9683496"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人員体制と承継（属人性の整理）</a:t>
            </a:r>
          </a:p>
        </p:txBody>
      </p:sp>
      <p:sp>
        <p:nvSpPr>
          <p:cNvPr id="17" name="Rectangle 16"/>
          <p:cNvSpPr/>
          <p:nvPr/>
        </p:nvSpPr>
        <p:spPr>
          <a:xfrm>
            <a:off x="393192" y="3346704"/>
            <a:ext cx="9902952" cy="2395728"/>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9496" y="3456432"/>
            <a:ext cx="9610344" cy="2212848"/>
          </a:xfrm>
          <a:prstGeom prst="rect">
            <a:avLst/>
          </a:prstGeom>
          <a:noFill/>
        </p:spPr>
        <p:txBody>
          <a:bodyPr wrap="square" lIns="0" rIns="0" tIns="0" bIns="0" anchor="t">
            <a:spAutoFit/>
          </a:bodyPr>
          <a:lstStyle/>
          <a:p>
            <a:pPr algn="l">
              <a:lnSpc>
                <a:spcPct val="122000"/>
              </a:lnSpc>
              <a:spcAft>
                <a:spcPts val="200"/>
              </a:spcAft>
            </a:pPr>
            <a:r>
              <a:rPr sz="900" b="1">
                <a:solidFill>
                  <a:srgbClr val="0B3041"/>
                </a:solidFill>
                <a:latin typeface="游ゴシック"/>
                <a:ea typeface="游ゴシック"/>
                <a:cs typeface="游ゴシック"/>
              </a:rPr>
              <a:t>常時雇用の従業員　</a:t>
            </a:r>
            <a:r>
              <a:rPr sz="900" b="0">
                <a:solidFill>
                  <a:srgbClr val="1A1A1A"/>
                </a:solidFill>
                <a:latin typeface="游ゴシック"/>
                <a:ea typeface="游ゴシック"/>
                <a:cs typeface="游ゴシック"/>
              </a:rPr>
              <a:t>0名。代表者および配偶者の2名で運営しています。繁忙時は親族が就労しており、2026年5月期の雑給計上額は2,201千円（支払先「小川実他1」）です。勤務実態・雇用形態・社会保険の適用状況は要確認です。</a:t>
            </a:r>
          </a:p>
          <a:p>
            <a:pPr algn="l">
              <a:spcAft>
                <a:spcPts val="200"/>
              </a:spcAft>
            </a:pPr>
          </a:p>
          <a:p>
            <a:pPr algn="l">
              <a:lnSpc>
                <a:spcPct val="122000"/>
              </a:lnSpc>
              <a:spcAft>
                <a:spcPts val="200"/>
              </a:spcAft>
            </a:pPr>
            <a:r>
              <a:rPr sz="900" b="1">
                <a:solidFill>
                  <a:srgbClr val="0B3041"/>
                </a:solidFill>
                <a:latin typeface="游ゴシック"/>
                <a:ea typeface="游ゴシック"/>
                <a:cs typeface="游ゴシック"/>
              </a:rPr>
              <a:t>属人性に関する「事実」　</a:t>
            </a:r>
            <a:r>
              <a:rPr sz="900" b="0">
                <a:solidFill>
                  <a:srgbClr val="1A1A1A"/>
                </a:solidFill>
                <a:latin typeface="游ゴシック"/>
                <a:ea typeface="游ゴシック"/>
                <a:cs typeface="游ゴシック"/>
              </a:rPr>
              <a:t>掲載誌（Japan Brand Collection 2026 茨城版）には「接客や調理、片付けまでの全てを小川氏一人でこなすため、席に着いてからも正直かなりの時間がかかる」と記載されています。昼のみ・売り切りじまいの営業形態も、この体制を前提としたものと考えられます。</a:t>
            </a:r>
          </a:p>
          <a:p>
            <a:pPr algn="l">
              <a:spcAft>
                <a:spcPts val="200"/>
              </a:spcAft>
            </a:pPr>
          </a:p>
          <a:p>
            <a:pPr algn="l">
              <a:lnSpc>
                <a:spcPct val="122000"/>
              </a:lnSpc>
              <a:spcAft>
                <a:spcPts val="200"/>
              </a:spcAft>
            </a:pPr>
            <a:r>
              <a:rPr sz="900" b="1">
                <a:solidFill>
                  <a:srgbClr val="0B3041"/>
                </a:solidFill>
                <a:latin typeface="游ゴシック"/>
                <a:ea typeface="游ゴシック"/>
                <a:cs typeface="游ゴシック"/>
              </a:rPr>
              <a:t>承継に向けた「備え」　</a:t>
            </a:r>
            <a:r>
              <a:rPr sz="900" b="0">
                <a:solidFill>
                  <a:srgbClr val="1A1A1A"/>
                </a:solidFill>
                <a:latin typeface="游ゴシック"/>
                <a:ea typeface="游ゴシック"/>
                <a:cs typeface="游ゴシック"/>
              </a:rPr>
              <a:t>一方で、レシピや「かえし」については誰でも再現できるよう整理済とのことであり（面談ヒアリング）、過去には弟子へ別店舗（塩町館）の営業を承継した実績があります。「代表者がいなければ蕎麦を打てない」という状態ではないと伺っています。</a:t>
            </a:r>
          </a:p>
          <a:p>
            <a:pPr algn="l">
              <a:spcAft>
                <a:spcPts val="200"/>
              </a:spcAft>
            </a:pPr>
          </a:p>
          <a:p>
            <a:pPr algn="l">
              <a:lnSpc>
                <a:spcPct val="122000"/>
              </a:lnSpc>
              <a:spcAft>
                <a:spcPts val="200"/>
              </a:spcAft>
            </a:pPr>
            <a:r>
              <a:rPr sz="900" b="1">
                <a:solidFill>
                  <a:srgbClr val="0B3041"/>
                </a:solidFill>
                <a:latin typeface="游ゴシック"/>
                <a:ea typeface="游ゴシック"/>
                <a:cs typeface="游ゴシック"/>
              </a:rPr>
              <a:t>次のステップ　</a:t>
            </a:r>
            <a:r>
              <a:rPr sz="900" b="0">
                <a:solidFill>
                  <a:srgbClr val="1A1A1A"/>
                </a:solidFill>
                <a:latin typeface="游ゴシック"/>
                <a:ea typeface="游ゴシック"/>
                <a:cs typeface="游ゴシック"/>
              </a:rPr>
              <a:t>標準化資料（レシピ・かえし・そば打ち手順）の実物確認、引継ぎに要する期間・人数の具体化、焼畑栽培・製粉工程を含めたどの範囲を承継するかの整理が必要です。</a:t>
            </a:r>
          </a:p>
          <a:p>
            <a:pPr algn="l">
              <a:spcAft>
                <a:spcPts val="200"/>
              </a:spcAft>
            </a:pPr>
          </a:p>
        </p:txBody>
      </p:sp>
      <p:sp>
        <p:nvSpPr>
          <p:cNvPr id="19" name="TextBox 18"/>
          <p:cNvSpPr txBox="1"/>
          <p:nvPr/>
        </p:nvSpPr>
        <p:spPr>
          <a:xfrm>
            <a:off x="393192" y="5925312"/>
            <a:ext cx="9902952" cy="1362455"/>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株主構成は法人税申告書 別表二（2026年5月期）、役員構成は法人登記簿（2026年9月15日現在）に基づきます。</a:t>
            </a:r>
          </a:p>
          <a:p>
            <a:pPr algn="l">
              <a:lnSpc>
                <a:spcPct val="108000"/>
              </a:lnSpc>
              <a:spcAft>
                <a:spcPts val="100"/>
              </a:spcAft>
            </a:pPr>
            <a:r>
              <a:rPr sz="800" b="0">
                <a:solidFill>
                  <a:srgbClr val="5A656B"/>
                </a:solidFill>
                <a:latin typeface="游ゴシック Medium"/>
                <a:ea typeface="游ゴシック Medium"/>
                <a:cs typeface="游ゴシック Medium"/>
              </a:rPr>
              <a:t>※ 役員報酬は2024年5月期〜2026年5月期の3期を通じて計上がありません。監査役は会計監査に限定されています。</a:t>
            </a:r>
          </a:p>
          <a:p>
            <a:pPr algn="l">
              <a:lnSpc>
                <a:spcPct val="108000"/>
              </a:lnSpc>
              <a:spcAft>
                <a:spcPts val="100"/>
              </a:spcAft>
            </a:pPr>
            <a:r>
              <a:rPr sz="800" b="0">
                <a:solidFill>
                  <a:srgbClr val="5A656B"/>
                </a:solidFill>
                <a:latin typeface="游ゴシック Medium"/>
                <a:ea typeface="游ゴシック Medium"/>
                <a:cs typeface="游ゴシック Medium"/>
              </a:rPr>
              <a:t>※ 取締役 岩間 卓哉 氏は塩町館の営業を承継された方であり、当社における勤務実態は要確認です。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3. 組織・体制・設備</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保有設備一覧</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石臼製粉機2基、そば打ち場、玄そば定温保管庫、業務用厨房を保有。蕎麦の一貫製造に必要な設備は揃っている</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21</a:t>
            </a:r>
          </a:p>
        </p:txBody>
      </p:sp>
      <p:graphicFrame>
        <p:nvGraphicFramePr>
          <p:cNvPr id="9" name="Table 8"/>
          <p:cNvGraphicFramePr>
            <a:graphicFrameLocks noGrp="1"/>
          </p:cNvGraphicFramePr>
          <p:nvPr/>
        </p:nvGraphicFramePr>
        <p:xfrm>
          <a:off x="393192" y="1517904"/>
          <a:ext cx="9902952" cy="3858764"/>
        </p:xfrm>
        <a:graphic>
          <a:graphicData uri="http://schemas.openxmlformats.org/drawingml/2006/table">
            <a:tbl>
              <a:tblPr firstRow="0" bandRow="0">
                <a:tableStyleId>{5C22544A-7EE6-4342-B048-85BDC9FD1C3A}</a:tableStyleId>
              </a:tblPr>
              <a:tblGrid>
                <a:gridCol w="310896"/>
                <a:gridCol w="2377440"/>
                <a:gridCol w="841248"/>
                <a:gridCol w="896112"/>
                <a:gridCol w="548640"/>
                <a:gridCol w="731520"/>
                <a:gridCol w="713232"/>
                <a:gridCol w="3483864"/>
              </a:tblGrid>
              <a:tr h="237744">
                <a:tc>
                  <a:txBody>
                    <a:bodyPr wrap="square"/>
                    <a:lstStyle/>
                    <a:p>
                      <a:pPr algn="ctr">
                        <a:spcAft>
                          <a:spcPts val="0"/>
                        </a:spcAft>
                      </a:pPr>
                      <a:r>
                        <a:rPr sz="74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1">
                          <a:solidFill>
                            <a:srgbClr val="FFFFFF"/>
                          </a:solidFill>
                          <a:latin typeface="游ゴシック"/>
                          <a:ea typeface="游ゴシック"/>
                          <a:cs typeface="游ゴシック"/>
                        </a:rPr>
                        <a:t>資産名称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1">
                          <a:solidFill>
                            <a:srgbClr val="FFFFFF"/>
                          </a:solidFill>
                          <a:latin typeface="游ゴシック"/>
                          <a:ea typeface="游ゴシック"/>
                          <a:cs typeface="游ゴシック"/>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1">
                          <a:solidFill>
                            <a:srgbClr val="FFFFFF"/>
                          </a:solidFill>
                          <a:latin typeface="游ゴシック"/>
                          <a:ea typeface="游ゴシック"/>
                          <a:cs typeface="游ゴシック"/>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1">
                          <a:solidFill>
                            <a:srgbClr val="FFFFFF"/>
                          </a:solidFill>
                          <a:latin typeface="游ゴシック"/>
                          <a:ea typeface="游ゴシック"/>
                          <a:cs typeface="游ゴシック"/>
                        </a:rPr>
                        <a:t>数量</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1">
                          <a:solidFill>
                            <a:srgbClr val="FFFFFF"/>
                          </a:solidFill>
                          <a:latin typeface="游ゴシック"/>
                          <a:ea typeface="游ゴシック"/>
                          <a:cs typeface="游ゴシック"/>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1">
                          <a:solidFill>
                            <a:srgbClr val="FFFFFF"/>
                          </a:solidFill>
                          <a:latin typeface="游ゴシック"/>
                          <a:ea typeface="游ゴシック"/>
                          <a:cs typeface="游ゴシック"/>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1">
                          <a:solidFill>
                            <a:srgbClr val="FFFFFF"/>
                          </a:solidFill>
                          <a:latin typeface="游ゴシック"/>
                          <a:ea typeface="游ゴシック"/>
                          <a:cs typeface="游ゴシック"/>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ＳＵＳ製小型キルン（醤粉製造器）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2026年8月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2026年5月期に取得。醤（ひしお）製造用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二連式石臼製粉機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2024年10月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763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自家製粉の中核設備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小麦製粉機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2007年9月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1,200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麺機ロール製造設備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2007年5月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500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ペレット薪ストーブ ＨＰＳ-110Ｓ型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988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549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ペレットストーブ（設置工事含む）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968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自動火災報知設備（無線式）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2021年5月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2,420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882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縁側席工事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2020年11月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1,400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618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コロナ禍の客席拡張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業務用冷蔵設備（コンデンシングユニット等）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2018年9月〜2021年4月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3台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1,676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626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暖房設備一式・玄そば脱皮機・磨き機・石抜き機ほか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15,084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892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開業時に導入。多くは償却済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テーブル61個・イス22脚・クッション94個ほか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2,495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償却済。客席什器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ローバー車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2000年1月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3,802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償却済。事業供用の実態・時価は要確認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シトロエン2ＣＶフォルゴネット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2018年9月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3,497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償却済。クラシックカーであり時価評価余地あり（要確認）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そば打ち台（木製・大型）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現地実査。こね鉢（朱塗り）・そば包丁3丁・こま板・のし棒掛け・専用シンクを併設。固定資産台帳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電動石臼製粉機（金属フレーム）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現地実査。台帳の「小麦製粉機」等との対応関係は要確認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木製石臼製粉機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現地実査。木枠造作の自家仕様機。台帳との対応関係は要確認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石板（大理石）作業台・ふるい・粉箱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現地実査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玄そば定温保管庫（冷却ユニット付）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1室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現地実査。木造・断熱仕様。茨城県産玄そば／常陸秋そばを袋単位で保管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薪ストーブ（鋳物）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2022年6月・2024年12月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1,956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Arial"/>
                          <a:ea typeface="Arial"/>
                          <a:cs typeface="Arial"/>
                        </a:rPr>
                        <a:t>741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台帳の「ペレットストーブ」「ペレット薪ストーブHPS-110S型」に対応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1051">
                <a:tc>
                  <a:txBody>
                    <a:bodyPr wrap="square"/>
                    <a:lstStyle/>
                    <a:p>
                      <a:pPr algn="ctr">
                        <a:spcAft>
                          <a:spcPts val="0"/>
                        </a:spcAft>
                      </a:pPr>
                      <a:r>
                        <a:rPr sz="74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座敷座卓・座布団・囲炉裏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40" b="0">
                          <a:solidFill>
                            <a:srgbClr val="1A1A1A"/>
                          </a:solidFill>
                          <a:latin typeface="游ゴシック"/>
                          <a:ea typeface="游ゴシック"/>
                          <a:cs typeface="游ゴシック"/>
                        </a:rPr>
                        <a:t>座卓6卓程度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40" b="0">
                          <a:solidFill>
                            <a:srgbClr val="1A1A1A"/>
                          </a:solidFill>
                          <a:latin typeface="游ゴシック"/>
                          <a:ea typeface="游ゴシック"/>
                          <a:cs typeface="游ゴシック"/>
                        </a:rPr>
                        <a:t>現地実査。畳敷の座敷に囲炉裏を設置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1316736"/>
            <a:ext cx="9902952"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（単位：円）</a:t>
            </a:r>
          </a:p>
        </p:txBody>
      </p:sp>
      <p:sp>
        <p:nvSpPr>
          <p:cNvPr id="11" name="TextBox 10"/>
          <p:cNvSpPr txBox="1"/>
          <p:nvPr/>
        </p:nvSpPr>
        <p:spPr>
          <a:xfrm>
            <a:off x="393192" y="5760720"/>
            <a:ext cx="9902952" cy="1527047"/>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No.1〜15は2026年5月期 固定資産減価償却内訳明細書からの抜粋、No.16〜22は現地実査により把握した資産です。後者は固定資産台帳との対応関係が未整理であり、取得年月・取得価額は要確認です。</a:t>
            </a:r>
          </a:p>
          <a:p>
            <a:pPr algn="l">
              <a:lnSpc>
                <a:spcPct val="108000"/>
              </a:lnSpc>
              <a:spcAft>
                <a:spcPts val="100"/>
              </a:spcAft>
            </a:pPr>
            <a:r>
              <a:rPr sz="800" b="0">
                <a:solidFill>
                  <a:srgbClr val="5A656B"/>
                </a:solidFill>
                <a:latin typeface="游ゴシック Medium"/>
                <a:ea typeface="游ゴシック Medium"/>
                <a:cs typeface="游ゴシック Medium"/>
              </a:rPr>
              <a:t>※ 固定資産全体の取得価額合計は180,709千円、期末簿価合計は45,716千円です。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3. 組織・体制・設備</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厨房・製造設備（現地実査）</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ワンオペを前提としつつも、業務用厨房・冷蔵設備は複数店舗分の仕込みに耐える構成</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22</a:t>
            </a:r>
          </a:p>
        </p:txBody>
      </p:sp>
      <p:pic>
        <p:nvPicPr>
          <p:cNvPr id="9" name="Picture 8" descr="厨房01.jpg"/>
          <p:cNvPicPr>
            <a:picLocks noChangeAspect="1"/>
          </p:cNvPicPr>
          <p:nvPr/>
        </p:nvPicPr>
        <p:blipFill>
          <a:blip r:embed="rId2"/>
          <a:stretch>
            <a:fillRect/>
          </a:stretch>
        </p:blipFill>
        <p:spPr>
          <a:xfrm>
            <a:off x="393192" y="1536192"/>
            <a:ext cx="3218688" cy="2414016"/>
          </a:xfrm>
          <a:prstGeom prst="rect">
            <a:avLst/>
          </a:prstGeom>
        </p:spPr>
      </p:pic>
      <p:sp>
        <p:nvSpPr>
          <p:cNvPr id="10" name="TextBox 9"/>
          <p:cNvSpPr txBox="1"/>
          <p:nvPr/>
        </p:nvSpPr>
        <p:spPr>
          <a:xfrm>
            <a:off x="393192" y="3986784"/>
            <a:ext cx="3218688" cy="182880"/>
          </a:xfrm>
          <a:prstGeom prst="rect">
            <a:avLst/>
          </a:prstGeom>
          <a:noFill/>
        </p:spPr>
        <p:txBody>
          <a:bodyPr wrap="square" lIns="0" rIns="0" tIns="0" bIns="0" anchor="t">
            <a:spAutoFit/>
          </a:bodyPr>
          <a:lstStyle/>
          <a:p>
            <a:pPr algn="l">
              <a:spcAft>
                <a:spcPts val="0"/>
              </a:spcAft>
            </a:pPr>
            <a:r>
              <a:rPr sz="800" b="0">
                <a:solidFill>
                  <a:srgbClr val="5A656B"/>
                </a:solidFill>
                <a:latin typeface="游ゴシック Medium"/>
                <a:ea typeface="游ゴシック Medium"/>
                <a:cs typeface="游ゴシック Medium"/>
              </a:rPr>
              <a:t>調理場（業務用ガスコンロ・五徳鍋）</a:t>
            </a:r>
          </a:p>
        </p:txBody>
      </p:sp>
      <p:pic>
        <p:nvPicPr>
          <p:cNvPr id="11" name="Picture 10" descr="厨房03.jpg"/>
          <p:cNvPicPr>
            <a:picLocks noChangeAspect="1"/>
          </p:cNvPicPr>
          <p:nvPr/>
        </p:nvPicPr>
        <p:blipFill>
          <a:blip r:embed="rId3"/>
          <a:stretch>
            <a:fillRect/>
          </a:stretch>
        </p:blipFill>
        <p:spPr>
          <a:xfrm>
            <a:off x="3794760" y="1536192"/>
            <a:ext cx="3218688" cy="2414016"/>
          </a:xfrm>
          <a:prstGeom prst="rect">
            <a:avLst/>
          </a:prstGeom>
        </p:spPr>
      </p:pic>
      <p:sp>
        <p:nvSpPr>
          <p:cNvPr id="12" name="TextBox 11"/>
          <p:cNvSpPr txBox="1"/>
          <p:nvPr/>
        </p:nvSpPr>
        <p:spPr>
          <a:xfrm>
            <a:off x="3794760" y="3986784"/>
            <a:ext cx="3218688" cy="182880"/>
          </a:xfrm>
          <a:prstGeom prst="rect">
            <a:avLst/>
          </a:prstGeom>
          <a:noFill/>
        </p:spPr>
        <p:txBody>
          <a:bodyPr wrap="square" lIns="0" rIns="0" tIns="0" bIns="0" anchor="t">
            <a:spAutoFit/>
          </a:bodyPr>
          <a:lstStyle/>
          <a:p>
            <a:pPr algn="l">
              <a:spcAft>
                <a:spcPts val="0"/>
              </a:spcAft>
            </a:pPr>
            <a:r>
              <a:rPr sz="800" b="0">
                <a:solidFill>
                  <a:srgbClr val="5A656B"/>
                </a:solidFill>
                <a:latin typeface="游ゴシック Medium"/>
                <a:ea typeface="游ゴシック Medium"/>
                <a:cs typeface="游ゴシック Medium"/>
              </a:rPr>
              <a:t>洗い場・食器洗浄機</a:t>
            </a:r>
          </a:p>
        </p:txBody>
      </p:sp>
      <p:pic>
        <p:nvPicPr>
          <p:cNvPr id="13" name="Picture 12" descr="厨房05.jpg"/>
          <p:cNvPicPr>
            <a:picLocks noChangeAspect="1"/>
          </p:cNvPicPr>
          <p:nvPr/>
        </p:nvPicPr>
        <p:blipFill>
          <a:blip r:embed="rId4"/>
          <a:stretch>
            <a:fillRect/>
          </a:stretch>
        </p:blipFill>
        <p:spPr>
          <a:xfrm>
            <a:off x="7196328" y="1536192"/>
            <a:ext cx="3099816" cy="2324862"/>
          </a:xfrm>
          <a:prstGeom prst="rect">
            <a:avLst/>
          </a:prstGeom>
        </p:spPr>
      </p:pic>
      <p:sp>
        <p:nvSpPr>
          <p:cNvPr id="14" name="TextBox 13"/>
          <p:cNvSpPr txBox="1"/>
          <p:nvPr/>
        </p:nvSpPr>
        <p:spPr>
          <a:xfrm>
            <a:off x="7196328" y="3986784"/>
            <a:ext cx="3099816" cy="182880"/>
          </a:xfrm>
          <a:prstGeom prst="rect">
            <a:avLst/>
          </a:prstGeom>
          <a:noFill/>
        </p:spPr>
        <p:txBody>
          <a:bodyPr wrap="square" lIns="0" rIns="0" tIns="0" bIns="0" anchor="t">
            <a:spAutoFit/>
          </a:bodyPr>
          <a:lstStyle/>
          <a:p>
            <a:pPr algn="l">
              <a:spcAft>
                <a:spcPts val="0"/>
              </a:spcAft>
            </a:pPr>
            <a:r>
              <a:rPr sz="800" b="0">
                <a:solidFill>
                  <a:srgbClr val="5A656B"/>
                </a:solidFill>
                <a:latin typeface="游ゴシック Medium"/>
                <a:ea typeface="游ゴシック Medium"/>
                <a:cs typeface="游ゴシック Medium"/>
              </a:rPr>
              <a:t>焼き台・食器棚</a:t>
            </a:r>
          </a:p>
        </p:txBody>
      </p:sp>
      <p:pic>
        <p:nvPicPr>
          <p:cNvPr id="15" name="Picture 14" descr="厨房04.jpg"/>
          <p:cNvPicPr>
            <a:picLocks noChangeAspect="1"/>
          </p:cNvPicPr>
          <p:nvPr/>
        </p:nvPicPr>
        <p:blipFill>
          <a:blip r:embed="rId5"/>
          <a:stretch>
            <a:fillRect/>
          </a:stretch>
        </p:blipFill>
        <p:spPr>
          <a:xfrm>
            <a:off x="393192" y="4224528"/>
            <a:ext cx="2609088" cy="1956816"/>
          </a:xfrm>
          <a:prstGeom prst="rect">
            <a:avLst/>
          </a:prstGeom>
        </p:spPr>
      </p:pic>
      <p:sp>
        <p:nvSpPr>
          <p:cNvPr id="16" name="TextBox 15"/>
          <p:cNvSpPr txBox="1"/>
          <p:nvPr/>
        </p:nvSpPr>
        <p:spPr>
          <a:xfrm>
            <a:off x="393192" y="6217920"/>
            <a:ext cx="3218688" cy="182880"/>
          </a:xfrm>
          <a:prstGeom prst="rect">
            <a:avLst/>
          </a:prstGeom>
          <a:noFill/>
        </p:spPr>
        <p:txBody>
          <a:bodyPr wrap="square" lIns="0" rIns="0" tIns="0" bIns="0" anchor="t">
            <a:spAutoFit/>
          </a:bodyPr>
          <a:lstStyle/>
          <a:p>
            <a:pPr algn="l">
              <a:spcAft>
                <a:spcPts val="0"/>
              </a:spcAft>
            </a:pPr>
            <a:r>
              <a:rPr sz="800" b="0">
                <a:solidFill>
                  <a:srgbClr val="5A656B"/>
                </a:solidFill>
                <a:latin typeface="游ゴシック Medium"/>
                <a:ea typeface="游ゴシック Medium"/>
                <a:cs typeface="游ゴシック Medium"/>
              </a:rPr>
              <a:t>釜場（茹で釜・ゆで麺機）</a:t>
            </a:r>
          </a:p>
        </p:txBody>
      </p:sp>
      <p:pic>
        <p:nvPicPr>
          <p:cNvPr id="17" name="Picture 16" descr="厨房02.jpg"/>
          <p:cNvPicPr>
            <a:picLocks noChangeAspect="1"/>
          </p:cNvPicPr>
          <p:nvPr/>
        </p:nvPicPr>
        <p:blipFill>
          <a:blip r:embed="rId6"/>
          <a:stretch>
            <a:fillRect/>
          </a:stretch>
        </p:blipFill>
        <p:spPr>
          <a:xfrm>
            <a:off x="3794760" y="4224528"/>
            <a:ext cx="1467612" cy="1956816"/>
          </a:xfrm>
          <a:prstGeom prst="rect">
            <a:avLst/>
          </a:prstGeom>
        </p:spPr>
      </p:pic>
      <p:sp>
        <p:nvSpPr>
          <p:cNvPr id="18" name="TextBox 17"/>
          <p:cNvSpPr txBox="1"/>
          <p:nvPr/>
        </p:nvSpPr>
        <p:spPr>
          <a:xfrm>
            <a:off x="3794760" y="6217920"/>
            <a:ext cx="1828800" cy="182880"/>
          </a:xfrm>
          <a:prstGeom prst="rect">
            <a:avLst/>
          </a:prstGeom>
          <a:noFill/>
        </p:spPr>
        <p:txBody>
          <a:bodyPr wrap="square" lIns="0" rIns="0" tIns="0" bIns="0" anchor="t">
            <a:spAutoFit/>
          </a:bodyPr>
          <a:lstStyle/>
          <a:p>
            <a:pPr algn="l">
              <a:spcAft>
                <a:spcPts val="0"/>
              </a:spcAft>
            </a:pPr>
            <a:r>
              <a:rPr sz="800" b="0">
                <a:solidFill>
                  <a:srgbClr val="5A656B"/>
                </a:solidFill>
                <a:latin typeface="游ゴシック Medium"/>
                <a:ea typeface="游ゴシック Medium"/>
                <a:cs typeface="游ゴシック Medium"/>
              </a:rPr>
              <a:t>業務用冷蔵庫（6ドア＋縦型）</a:t>
            </a:r>
          </a:p>
        </p:txBody>
      </p:sp>
      <p:sp>
        <p:nvSpPr>
          <p:cNvPr id="19" name="Rectangle 18"/>
          <p:cNvSpPr/>
          <p:nvPr/>
        </p:nvSpPr>
        <p:spPr>
          <a:xfrm>
            <a:off x="5971031" y="4224528"/>
            <a:ext cx="4325112"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0759" y="4224528"/>
            <a:ext cx="4105656"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確認できた主な設備</a:t>
            </a:r>
          </a:p>
        </p:txBody>
      </p:sp>
      <p:sp>
        <p:nvSpPr>
          <p:cNvPr id="21" name="Rectangle 20"/>
          <p:cNvSpPr/>
          <p:nvPr/>
        </p:nvSpPr>
        <p:spPr>
          <a:xfrm>
            <a:off x="5971031" y="4462272"/>
            <a:ext cx="4325112" cy="1773936"/>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17336" y="4553712"/>
            <a:ext cx="4032504" cy="1591056"/>
          </a:xfrm>
          <a:prstGeom prst="rect">
            <a:avLst/>
          </a:prstGeom>
          <a:noFill/>
        </p:spPr>
        <p:txBody>
          <a:bodyPr wrap="square" lIns="0" rIns="0" tIns="0" bIns="0" anchor="t">
            <a:spAutoFit/>
          </a:bodyPr>
          <a:lstStyle/>
          <a:p>
            <a:pPr algn="l">
              <a:lnSpc>
                <a:spcPct val="116000"/>
              </a:lnSpc>
              <a:spcAft>
                <a:spcPts val="100"/>
              </a:spcAft>
            </a:pPr>
            <a:r>
              <a:rPr sz="819" b="0">
                <a:solidFill>
                  <a:srgbClr val="1A1A1A"/>
                </a:solidFill>
                <a:latin typeface="游ゴシック Medium"/>
                <a:ea typeface="游ゴシック Medium"/>
                <a:cs typeface="游ゴシック Medium"/>
              </a:rPr>
              <a:t>■ 厨房：業務用ガスコンロ（maruzen）複数、茹で釜・ゆで麺機、焼き台、換気フード、</a:t>
            </a:r>
          </a:p>
          <a:p>
            <a:pPr algn="l">
              <a:lnSpc>
                <a:spcPct val="116000"/>
              </a:lnSpc>
              <a:spcAft>
                <a:spcPts val="100"/>
              </a:spcAft>
            </a:pPr>
            <a:r>
              <a:rPr sz="819" b="0">
                <a:solidFill>
                  <a:srgbClr val="1A1A1A"/>
                </a:solidFill>
                <a:latin typeface="游ゴシック Medium"/>
                <a:ea typeface="游ゴシック Medium"/>
                <a:cs typeface="游ゴシック Medium"/>
              </a:rPr>
              <a:t>　　　　食器洗浄機（SMART A5）、三槽シンク</a:t>
            </a:r>
          </a:p>
          <a:p>
            <a:pPr algn="l">
              <a:lnSpc>
                <a:spcPct val="116000"/>
              </a:lnSpc>
              <a:spcAft>
                <a:spcPts val="100"/>
              </a:spcAft>
            </a:pPr>
            <a:r>
              <a:rPr sz="819" b="0">
                <a:solidFill>
                  <a:srgbClr val="1A1A1A"/>
                </a:solidFill>
                <a:latin typeface="游ゴシック Medium"/>
                <a:ea typeface="游ゴシック Medium"/>
                <a:cs typeface="游ゴシック Medium"/>
              </a:rPr>
              <a:t>■ 冷蔵：業務用冷蔵庫（ホシザキ 6ドア＋縦型）、冷蔵ショーケース、</a:t>
            </a:r>
          </a:p>
          <a:p>
            <a:pPr algn="l">
              <a:lnSpc>
                <a:spcPct val="116000"/>
              </a:lnSpc>
              <a:spcAft>
                <a:spcPts val="100"/>
              </a:spcAft>
            </a:pPr>
            <a:r>
              <a:rPr sz="819" b="0">
                <a:solidFill>
                  <a:srgbClr val="1A1A1A"/>
                </a:solidFill>
                <a:latin typeface="游ゴシック Medium"/>
                <a:ea typeface="游ゴシック Medium"/>
                <a:cs typeface="游ゴシック Medium"/>
              </a:rPr>
              <a:t>　　　　冷蔵コンデンシングユニット2基</a:t>
            </a:r>
          </a:p>
          <a:p>
            <a:pPr algn="l">
              <a:lnSpc>
                <a:spcPct val="116000"/>
              </a:lnSpc>
              <a:spcAft>
                <a:spcPts val="100"/>
              </a:spcAft>
            </a:pPr>
            <a:r>
              <a:rPr sz="819" b="0">
                <a:solidFill>
                  <a:srgbClr val="1A1A1A"/>
                </a:solidFill>
                <a:latin typeface="游ゴシック Medium"/>
                <a:ea typeface="游ゴシック Medium"/>
                <a:cs typeface="游ゴシック Medium"/>
              </a:rPr>
              <a:t>■ 製粉：電動石臼製粉機、木製石臼製粉機、二連式石臼製粉機、小麦製粉機、</a:t>
            </a:r>
          </a:p>
          <a:p>
            <a:pPr algn="l">
              <a:lnSpc>
                <a:spcPct val="116000"/>
              </a:lnSpc>
              <a:spcAft>
                <a:spcPts val="100"/>
              </a:spcAft>
            </a:pPr>
            <a:r>
              <a:rPr sz="819" b="0">
                <a:solidFill>
                  <a:srgbClr val="1A1A1A"/>
                </a:solidFill>
                <a:latin typeface="游ゴシック Medium"/>
                <a:ea typeface="游ゴシック Medium"/>
                <a:cs typeface="游ゴシック Medium"/>
              </a:rPr>
              <a:t>　　　　大理石作業台、ふるい・粉箱</a:t>
            </a:r>
          </a:p>
          <a:p>
            <a:pPr algn="l">
              <a:lnSpc>
                <a:spcPct val="116000"/>
              </a:lnSpc>
              <a:spcAft>
                <a:spcPts val="100"/>
              </a:spcAft>
            </a:pPr>
            <a:r>
              <a:rPr sz="819" b="0">
                <a:solidFill>
                  <a:srgbClr val="1A1A1A"/>
                </a:solidFill>
                <a:latin typeface="游ゴシック Medium"/>
                <a:ea typeface="游ゴシック Medium"/>
                <a:cs typeface="游ゴシック Medium"/>
              </a:rPr>
              <a:t>■ そば打ち場：木製そば打ち台2台、朱塗りこね鉢、そば包丁3丁、こま板、のし棒掛け、専用シンク</a:t>
            </a:r>
          </a:p>
          <a:p>
            <a:pPr algn="l">
              <a:lnSpc>
                <a:spcPct val="116000"/>
              </a:lnSpc>
              <a:spcAft>
                <a:spcPts val="100"/>
              </a:spcAft>
            </a:pPr>
            <a:r>
              <a:rPr sz="819" b="0">
                <a:solidFill>
                  <a:srgbClr val="1A1A1A"/>
                </a:solidFill>
                <a:latin typeface="游ゴシック Medium"/>
                <a:ea typeface="游ゴシック Medium"/>
                <a:cs typeface="游ゴシック Medium"/>
              </a:rPr>
              <a:t>■ 保管：玄そば定温保管庫（冷却ユニット付・木造断熱仕様）</a:t>
            </a:r>
          </a:p>
          <a:p>
            <a:pPr algn="l">
              <a:lnSpc>
                <a:spcPct val="116000"/>
              </a:lnSpc>
              <a:spcAft>
                <a:spcPts val="100"/>
              </a:spcAft>
            </a:pPr>
            <a:r>
              <a:rPr sz="819" b="0">
                <a:solidFill>
                  <a:srgbClr val="1A1A1A"/>
                </a:solidFill>
                <a:latin typeface="游ゴシック Medium"/>
                <a:ea typeface="游ゴシック Medium"/>
                <a:cs typeface="游ゴシック Medium"/>
              </a:rPr>
              <a:t>■ 客席：座敷（座卓6卓程度）・囲炉裏・縁側デッキ、薪ストーブ2台</a:t>
            </a:r>
          </a:p>
        </p:txBody>
      </p:sp>
      <p:sp>
        <p:nvSpPr>
          <p:cNvPr id="23" name="TextBox 22"/>
          <p:cNvSpPr txBox="1"/>
          <p:nvPr/>
        </p:nvSpPr>
        <p:spPr>
          <a:xfrm>
            <a:off x="393192" y="6364224"/>
            <a:ext cx="9902952" cy="923543"/>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写真は現地実査時に撮影したものです。設備の稼働状況・更新履歴・保守契約の有無は要確認です。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1188720" y="2743200"/>
            <a:ext cx="82296" cy="96012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81328" y="2761488"/>
            <a:ext cx="2743200" cy="457200"/>
          </a:xfrm>
          <a:prstGeom prst="rect">
            <a:avLst/>
          </a:prstGeom>
          <a:noFill/>
        </p:spPr>
        <p:txBody>
          <a:bodyPr wrap="square" lIns="0" rIns="0" tIns="0" bIns="0" anchor="t">
            <a:spAutoFit/>
          </a:bodyPr>
          <a:lstStyle/>
          <a:p>
            <a:pPr algn="l">
              <a:spcAft>
                <a:spcPts val="0"/>
              </a:spcAft>
            </a:pPr>
            <a:r>
              <a:rPr sz="1300" b="1">
                <a:solidFill>
                  <a:srgbClr val="0889C9"/>
                </a:solidFill>
                <a:latin typeface="Arial"/>
                <a:ea typeface="Arial"/>
                <a:cs typeface="Arial"/>
              </a:rPr>
              <a:t>Section 4</a:t>
            </a:r>
          </a:p>
        </p:txBody>
      </p:sp>
      <p:sp>
        <p:nvSpPr>
          <p:cNvPr id="5" name="TextBox 4"/>
          <p:cNvSpPr txBox="1"/>
          <p:nvPr/>
        </p:nvSpPr>
        <p:spPr>
          <a:xfrm>
            <a:off x="1481328" y="3145536"/>
            <a:ext cx="6858000" cy="566928"/>
          </a:xfrm>
          <a:prstGeom prst="rect">
            <a:avLst/>
          </a:prstGeom>
          <a:noFill/>
        </p:spPr>
        <p:txBody>
          <a:bodyPr wrap="square" lIns="0" rIns="0" tIns="0" bIns="0" anchor="t">
            <a:spAutoFit/>
          </a:bodyPr>
          <a:lstStyle/>
          <a:p>
            <a:pPr algn="l">
              <a:spcAft>
                <a:spcPts val="0"/>
              </a:spcAft>
            </a:pPr>
            <a:r>
              <a:rPr sz="2600" b="1">
                <a:solidFill>
                  <a:srgbClr val="FFFFFF"/>
                </a:solidFill>
                <a:latin typeface="游ゴシック"/>
                <a:ea typeface="游ゴシック"/>
                <a:cs typeface="游ゴシック"/>
              </a:rPr>
              <a:t>財務情報詳細</a:t>
            </a:r>
          </a:p>
        </p:txBody>
      </p:sp>
      <p:sp>
        <p:nvSpPr>
          <p:cNvPr id="6" name="TextBox 5"/>
          <p:cNvSpPr txBox="1"/>
          <p:nvPr/>
        </p:nvSpPr>
        <p:spPr>
          <a:xfrm>
            <a:off x="1517904" y="3977639"/>
            <a:ext cx="7315200" cy="1645920"/>
          </a:xfrm>
          <a:prstGeom prst="rect">
            <a:avLst/>
          </a:prstGeom>
          <a:noFill/>
        </p:spPr>
        <p:txBody>
          <a:bodyPr wrap="square" lIns="0" rIns="0" tIns="0" bIns="0" anchor="t">
            <a:spAutoFit/>
          </a:bodyPr>
          <a:lstStyle/>
          <a:p>
            <a:pPr algn="l">
              <a:spcAft>
                <a:spcPts val="500"/>
              </a:spcAft>
            </a:pPr>
            <a:r>
              <a:rPr sz="1100" b="0">
                <a:solidFill>
                  <a:srgbClr val="C9D6DC"/>
                </a:solidFill>
                <a:latin typeface="游ゴシック"/>
                <a:ea typeface="游ゴシック"/>
                <a:cs typeface="游ゴシック"/>
              </a:rPr>
              <a:t>—  比較貸借対照表</a:t>
            </a:r>
          </a:p>
          <a:p>
            <a:pPr algn="l">
              <a:spcAft>
                <a:spcPts val="500"/>
              </a:spcAft>
            </a:pPr>
            <a:r>
              <a:rPr sz="1100" b="0">
                <a:solidFill>
                  <a:srgbClr val="C9D6DC"/>
                </a:solidFill>
                <a:latin typeface="游ゴシック"/>
                <a:ea typeface="游ゴシック"/>
                <a:cs typeface="游ゴシック"/>
              </a:rPr>
              <a:t>—  比較損益計算書</a:t>
            </a:r>
          </a:p>
          <a:p>
            <a:pPr algn="l">
              <a:spcAft>
                <a:spcPts val="500"/>
              </a:spcAft>
            </a:pPr>
            <a:r>
              <a:rPr sz="1100" b="0">
                <a:solidFill>
                  <a:srgbClr val="C9D6DC"/>
                </a:solidFill>
                <a:latin typeface="游ゴシック"/>
                <a:ea typeface="游ゴシック"/>
                <a:cs typeface="游ゴシック"/>
              </a:rPr>
              <a:t>—  比較製造原価報告書</a:t>
            </a:r>
          </a:p>
          <a:p>
            <a:pPr algn="l">
              <a:spcAft>
                <a:spcPts val="500"/>
              </a:spcAft>
            </a:pPr>
            <a:r>
              <a:rPr sz="1100" b="0">
                <a:solidFill>
                  <a:srgbClr val="C9D6DC"/>
                </a:solidFill>
                <a:latin typeface="游ゴシック"/>
                <a:ea typeface="游ゴシック"/>
                <a:cs typeface="游ゴシック"/>
              </a:rPr>
              <a:t>—  比較販売費及び一般管理費</a:t>
            </a:r>
          </a:p>
        </p:txBody>
      </p:sp>
      <p:sp>
        <p:nvSpPr>
          <p:cNvPr id="7" name="TextBox 6"/>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6E8692"/>
                </a:solidFill>
                <a:latin typeface="Arial"/>
                <a:ea typeface="Arial"/>
                <a:cs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4. 財務情報詳細</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比較貸借対照表</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総資産は80,657千円（22年5月期）から57,330千円へ減少。減価償却の進行と役員借入金の返済が主因</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24</a:t>
            </a:r>
          </a:p>
        </p:txBody>
      </p:sp>
      <p:graphicFrame>
        <p:nvGraphicFramePr>
          <p:cNvPr id="9" name="Table 8"/>
          <p:cNvGraphicFramePr>
            <a:graphicFrameLocks noGrp="1"/>
          </p:cNvGraphicFramePr>
          <p:nvPr/>
        </p:nvGraphicFramePr>
        <p:xfrm>
          <a:off x="393192" y="1517904"/>
          <a:ext cx="4828032" cy="4423863"/>
        </p:xfrm>
        <a:graphic>
          <a:graphicData uri="http://schemas.openxmlformats.org/drawingml/2006/table">
            <a:tbl>
              <a:tblPr firstRow="0" bandRow="0">
                <a:tableStyleId>{5C22544A-7EE6-4342-B048-85BDC9FD1C3A}</a:tableStyleId>
              </a:tblPr>
              <a:tblGrid>
                <a:gridCol w="1975104"/>
                <a:gridCol w="950976"/>
                <a:gridCol w="950976"/>
                <a:gridCol w="950976"/>
              </a:tblGrid>
              <a:tr h="237744">
                <a:tc>
                  <a:txBody>
                    <a:bodyPr wrap="square"/>
                    <a:lstStyle/>
                    <a:p>
                      <a:pPr algn="ctr">
                        <a:spcAft>
                          <a:spcPts val="0"/>
                        </a:spcAft>
                      </a:pPr>
                      <a:r>
                        <a:rPr sz="790" b="1">
                          <a:solidFill>
                            <a:srgbClr val="FFFFFF"/>
                          </a:solidFill>
                          <a:latin typeface="游ゴシック"/>
                          <a:ea typeface="游ゴシック"/>
                          <a:cs typeface="游ゴシック"/>
                        </a:rPr>
                        <a:t>科目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游ゴシック"/>
                          <a:ea typeface="游ゴシック"/>
                          <a:cs typeface="游ゴシック"/>
                        </a:rPr>
                        <a:t>2024年5月期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游ゴシック"/>
                          <a:ea typeface="游ゴシック"/>
                          <a:cs typeface="游ゴシック"/>
                        </a:rPr>
                        <a:t>2025年5月期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游ゴシック"/>
                          <a:ea typeface="游ゴシック"/>
                          <a:cs typeface="游ゴシック"/>
                        </a:rPr>
                        <a:t>2026年5月期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7,856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3,518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3,024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未収入金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61,457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［有形固定資産］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61,382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56,178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49,166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51,246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4,409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1,838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［無形固定資産］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［投資その他の資産］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出資金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graphicFrame>
        <p:nvGraphicFramePr>
          <p:cNvPr id="10" name="Table 9"/>
          <p:cNvGraphicFramePr>
            <a:graphicFrameLocks noGrp="1"/>
          </p:cNvGraphicFramePr>
          <p:nvPr/>
        </p:nvGraphicFramePr>
        <p:xfrm>
          <a:off x="5440679" y="1517904"/>
          <a:ext cx="4855460" cy="2829151"/>
        </p:xfrm>
        <a:graphic>
          <a:graphicData uri="http://schemas.openxmlformats.org/drawingml/2006/table">
            <a:tbl>
              <a:tblPr firstRow="0" bandRow="0">
                <a:tableStyleId>{5C22544A-7EE6-4342-B048-85BDC9FD1C3A}</a:tableStyleId>
              </a:tblPr>
              <a:tblGrid>
                <a:gridCol w="2002535"/>
                <a:gridCol w="950975"/>
                <a:gridCol w="950975"/>
                <a:gridCol w="950975"/>
              </a:tblGrid>
              <a:tr h="237744">
                <a:tc>
                  <a:txBody>
                    <a:bodyPr wrap="square"/>
                    <a:lstStyle/>
                    <a:p>
                      <a:pPr algn="ctr">
                        <a:spcAft>
                          <a:spcPts val="0"/>
                        </a:spcAft>
                      </a:pPr>
                      <a:r>
                        <a:rPr sz="790" b="1">
                          <a:solidFill>
                            <a:srgbClr val="FFFFFF"/>
                          </a:solidFill>
                          <a:latin typeface="游ゴシック"/>
                          <a:ea typeface="游ゴシック"/>
                          <a:cs typeface="游ゴシック"/>
                        </a:rPr>
                        <a:t>科目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游ゴシック"/>
                          <a:ea typeface="游ゴシック"/>
                          <a:cs typeface="游ゴシック"/>
                        </a:rPr>
                        <a:t>2024年5月期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游ゴシック"/>
                          <a:ea typeface="游ゴシック"/>
                          <a:cs typeface="游ゴシック"/>
                        </a:rPr>
                        <a:t>2025年5月期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游ゴシック"/>
                          <a:ea typeface="游ゴシック"/>
                          <a:cs typeface="游ゴシック"/>
                        </a:rPr>
                        <a:t>2026年5月期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1,487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1,546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814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長期借入金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46,682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40,542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0">
                          <a:solidFill>
                            <a:srgbClr val="1A1A1A"/>
                          </a:solidFill>
                          <a:latin typeface="游ゴシック"/>
                          <a:ea typeface="游ゴシック"/>
                          <a:cs typeface="游ゴシック"/>
                        </a:rPr>
                        <a:t>　繰越利益剰余金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790" b="1">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1" name="TextBox 10"/>
          <p:cNvSpPr txBox="1"/>
          <p:nvPr/>
        </p:nvSpPr>
        <p:spPr>
          <a:xfrm>
            <a:off x="393192" y="1316736"/>
            <a:ext cx="9902952"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（単位：千円）</a:t>
            </a:r>
          </a:p>
        </p:txBody>
      </p:sp>
      <p:sp>
        <p:nvSpPr>
          <p:cNvPr id="12" name="Rectangle 11"/>
          <p:cNvSpPr/>
          <p:nvPr/>
        </p:nvSpPr>
        <p:spPr>
          <a:xfrm>
            <a:off x="5440679" y="4425696"/>
            <a:ext cx="485546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550407" y="4425696"/>
            <a:ext cx="4636007"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Comment</a:t>
            </a:r>
          </a:p>
        </p:txBody>
      </p:sp>
      <p:sp>
        <p:nvSpPr>
          <p:cNvPr id="14" name="Rectangle 13"/>
          <p:cNvSpPr/>
          <p:nvPr/>
        </p:nvSpPr>
        <p:spPr>
          <a:xfrm>
            <a:off x="5440679" y="4663440"/>
            <a:ext cx="4855464" cy="173736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586983" y="4773168"/>
            <a:ext cx="4572000" cy="1554480"/>
          </a:xfrm>
          <a:prstGeom prst="rect">
            <a:avLst/>
          </a:prstGeom>
          <a:noFill/>
        </p:spPr>
        <p:txBody>
          <a:bodyPr wrap="square" lIns="0" rIns="0" tIns="0" bIns="0" anchor="t">
            <a:spAutoFit/>
          </a:bodyPr>
          <a:lstStyle/>
          <a:p>
            <a:pPr algn="l">
              <a:lnSpc>
                <a:spcPct val="120000"/>
              </a:lnSpc>
              <a:spcAft>
                <a:spcPts val="200"/>
              </a:spcAft>
            </a:pPr>
            <a:r>
              <a:rPr sz="840" b="0">
                <a:solidFill>
                  <a:srgbClr val="1A1A1A"/>
                </a:solidFill>
                <a:latin typeface="游ゴシック Medium"/>
                <a:ea typeface="游ゴシック Medium"/>
                <a:cs typeface="游ゴシック Medium"/>
              </a:rPr>
              <a:t>■ 総資産は減価償却の進行により毎期減少。建物は51,246→39,249千円（3期で△11,997千円）。</a:t>
            </a:r>
          </a:p>
          <a:p>
            <a:pPr algn="l">
              <a:lnSpc>
                <a:spcPct val="120000"/>
              </a:lnSpc>
              <a:spcAft>
                <a:spcPts val="200"/>
              </a:spcAft>
            </a:pPr>
            <a:r>
              <a:rPr sz="840" b="0">
                <a:solidFill>
                  <a:srgbClr val="1A1A1A"/>
                </a:solidFill>
                <a:latin typeface="游ゴシック Medium"/>
                <a:ea typeface="游ゴシック Medium"/>
                <a:cs typeface="游ゴシック Medium"/>
              </a:rPr>
              <a:t>■ 長期借入金（代表者・配偶者からの借入）は45,195→32,744千円へ3期で12,451千円を返済。</a:t>
            </a:r>
          </a:p>
          <a:p>
            <a:pPr algn="l">
              <a:lnSpc>
                <a:spcPct val="120000"/>
              </a:lnSpc>
              <a:spcAft>
                <a:spcPts val="200"/>
              </a:spcAft>
            </a:pPr>
            <a:r>
              <a:rPr sz="840" b="0">
                <a:solidFill>
                  <a:srgbClr val="1A1A1A"/>
                </a:solidFill>
                <a:latin typeface="游ゴシック Medium"/>
                <a:ea typeface="游ゴシック Medium"/>
                <a:cs typeface="游ゴシック Medium"/>
              </a:rPr>
              <a:t>　 無利息であり、利息の支払はありません。</a:t>
            </a:r>
          </a:p>
          <a:p>
            <a:pPr algn="l">
              <a:lnSpc>
                <a:spcPct val="120000"/>
              </a:lnSpc>
              <a:spcAft>
                <a:spcPts val="200"/>
              </a:spcAft>
            </a:pPr>
            <a:r>
              <a:rPr sz="840" b="0">
                <a:solidFill>
                  <a:srgbClr val="1A1A1A"/>
                </a:solidFill>
                <a:latin typeface="游ゴシック Medium"/>
                <a:ea typeface="游ゴシック Medium"/>
                <a:cs typeface="游ゴシック Medium"/>
              </a:rPr>
              <a:t>■ 純資産は22,631→23,658千円とほぼ横ばい。2026年5月期は当期純損失△54千円により微減。</a:t>
            </a:r>
          </a:p>
          <a:p>
            <a:pPr algn="l">
              <a:lnSpc>
                <a:spcPct val="120000"/>
              </a:lnSpc>
              <a:spcAft>
                <a:spcPts val="200"/>
              </a:spcAft>
            </a:pPr>
            <a:r>
              <a:rPr sz="840" b="0">
                <a:solidFill>
                  <a:srgbClr val="1A1A1A"/>
                </a:solidFill>
                <a:latin typeface="游ゴシック Medium"/>
                <a:ea typeface="游ゴシック Medium"/>
                <a:cs typeface="游ゴシック Medium"/>
              </a:rPr>
              <a:t>■ 未収入金は2,152→3,323千円と増加しており、関係先向け債権の滞留が見られます（P.8 ※1）。</a:t>
            </a:r>
          </a:p>
        </p:txBody>
      </p:sp>
      <p:sp>
        <p:nvSpPr>
          <p:cNvPr id="16" name="TextBox 15"/>
          <p:cNvSpPr txBox="1"/>
          <p:nvPr/>
        </p:nvSpPr>
        <p:spPr>
          <a:xfrm>
            <a:off x="393192" y="6272784"/>
            <a:ext cx="9902952" cy="1014983"/>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決算書（2024年5月期〜2026年5月期）に基づきます。千円未満の端数処理により合計が一致しない場合があります。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4. 財務情報詳細</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比較損益計算書</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売上高・粗利ともに減少。販管費は6,267千円で横ばいであり、営業損益の悪化は粗利の減少による</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25</a:t>
            </a:r>
          </a:p>
        </p:txBody>
      </p:sp>
      <p:graphicFrame>
        <p:nvGraphicFramePr>
          <p:cNvPr id="9" name="Table 8"/>
          <p:cNvGraphicFramePr>
            <a:graphicFrameLocks noGrp="1"/>
          </p:cNvGraphicFramePr>
          <p:nvPr/>
        </p:nvGraphicFramePr>
        <p:xfrm>
          <a:off x="393192" y="1517904"/>
          <a:ext cx="9902948" cy="4824370"/>
        </p:xfrm>
        <a:graphic>
          <a:graphicData uri="http://schemas.openxmlformats.org/drawingml/2006/table">
            <a:tbl>
              <a:tblPr firstRow="0" bandRow="0">
                <a:tableStyleId>{5C22544A-7EE6-4342-B048-85BDC9FD1C3A}</a:tableStyleId>
              </a:tblPr>
              <a:tblGrid>
                <a:gridCol w="2785205"/>
                <a:gridCol w="1423549"/>
                <a:gridCol w="949032"/>
                <a:gridCol w="1423549"/>
                <a:gridCol w="949032"/>
                <a:gridCol w="1423549"/>
                <a:gridCol w="949032"/>
              </a:tblGrid>
              <a:tr h="237744">
                <a:tc>
                  <a:txBody>
                    <a:bodyPr wrap="square"/>
                    <a:lstStyle/>
                    <a:p>
                      <a:pPr algn="ctr">
                        <a:spcAft>
                          <a:spcPts val="0"/>
                        </a:spcAft>
                      </a:pPr>
                      <a:r>
                        <a:rPr sz="800" b="1">
                          <a:solidFill>
                            <a:srgbClr val="FFFFFF"/>
                          </a:solidFill>
                          <a:latin typeface="游ゴシック"/>
                          <a:ea typeface="游ゴシック"/>
                          <a:cs typeface="游ゴシック"/>
                        </a:rPr>
                        <a:t>科目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2024年5月期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2025年5月期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2026年5月期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期首棚卸高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商品仕入高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期末棚卸高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売上原価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16,047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営業外収益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　受取利息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　雑収入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営業外費用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　圧縮記帳損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税引前当期純利益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1316736"/>
            <a:ext cx="9902952"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（単位：千円）</a:t>
            </a:r>
          </a:p>
        </p:txBody>
      </p:sp>
      <p:sp>
        <p:nvSpPr>
          <p:cNvPr id="11" name="TextBox 10"/>
          <p:cNvSpPr txBox="1"/>
          <p:nvPr/>
        </p:nvSpPr>
        <p:spPr>
          <a:xfrm>
            <a:off x="393192" y="6455664"/>
            <a:ext cx="9902952" cy="832103"/>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決算書（2024年5月期〜2026年5月期）に基づきます。構成比は売上高に対する比率です。</a:t>
            </a:r>
          </a:p>
          <a:p>
            <a:pPr algn="l">
              <a:lnSpc>
                <a:spcPct val="108000"/>
              </a:lnSpc>
              <a:spcAft>
                <a:spcPts val="100"/>
              </a:spcAft>
            </a:pPr>
            <a:r>
              <a:rPr sz="800" b="0">
                <a:solidFill>
                  <a:srgbClr val="5A656B"/>
                </a:solidFill>
                <a:latin typeface="游ゴシック Medium"/>
                <a:ea typeface="游ゴシック Medium"/>
                <a:cs typeface="游ゴシック Medium"/>
              </a:rPr>
              <a:t>※ 2025年5月期の雑収入2,490千円には補助金収入が、営業外費用の圧縮記帳損2,282千円は当該補助金に係るホームページ改修費用の圧縮記帳が含まれます。いずれも非経常的な項目です。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4. 財務情報詳細</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比較製造原価報告書</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製造原価16,579千円のうち減価償却費が7,012千円（42.3％）を占め、固定費性の高い原価構造</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26</a:t>
            </a:r>
          </a:p>
        </p:txBody>
      </p:sp>
      <p:graphicFrame>
        <p:nvGraphicFramePr>
          <p:cNvPr id="9" name="Table 8"/>
          <p:cNvGraphicFramePr>
            <a:graphicFrameLocks noGrp="1"/>
          </p:cNvGraphicFramePr>
          <p:nvPr/>
        </p:nvGraphicFramePr>
        <p:xfrm>
          <a:off x="393192" y="1517904"/>
          <a:ext cx="4828032" cy="4615887"/>
        </p:xfrm>
        <a:graphic>
          <a:graphicData uri="http://schemas.openxmlformats.org/drawingml/2006/table">
            <a:tbl>
              <a:tblPr firstRow="0" bandRow="0">
                <a:tableStyleId>{5C22544A-7EE6-4342-B048-85BDC9FD1C3A}</a:tableStyleId>
              </a:tblPr>
              <a:tblGrid>
                <a:gridCol w="1975104"/>
                <a:gridCol w="950976"/>
                <a:gridCol w="950976"/>
                <a:gridCol w="950976"/>
              </a:tblGrid>
              <a:tr h="237744">
                <a:tc>
                  <a:txBody>
                    <a:bodyPr wrap="square"/>
                    <a:lstStyle/>
                    <a:p>
                      <a:pPr algn="ctr">
                        <a:spcAft>
                          <a:spcPts val="0"/>
                        </a:spcAft>
                      </a:pPr>
                      <a:r>
                        <a:rPr sz="800" b="1">
                          <a:solidFill>
                            <a:srgbClr val="FFFFFF"/>
                          </a:solidFill>
                          <a:latin typeface="游ゴシック"/>
                          <a:ea typeface="游ゴシック"/>
                          <a:cs typeface="游ゴシック"/>
                        </a:rPr>
                        <a:t>科目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2024年5月期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2025年5月期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2026年5月期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期首材料棚卸高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期末材料棚卸高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雑給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厚生費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労務費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2,199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外注加工費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外注費 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育苗・耕作費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ガス代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水道料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衛生管理費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経費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8,695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8,863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8,578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当期総製造費用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1316736"/>
            <a:ext cx="4828032"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（単位：千円）</a:t>
            </a:r>
          </a:p>
        </p:txBody>
      </p:sp>
      <p:sp>
        <p:nvSpPr>
          <p:cNvPr id="11" name="Rectangle 10"/>
          <p:cNvSpPr/>
          <p:nvPr/>
        </p:nvSpPr>
        <p:spPr>
          <a:xfrm>
            <a:off x="5440679" y="1517904"/>
            <a:ext cx="4855464"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550407" y="1517904"/>
            <a:ext cx="4636008"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Comment</a:t>
            </a:r>
          </a:p>
        </p:txBody>
      </p:sp>
      <p:sp>
        <p:nvSpPr>
          <p:cNvPr id="13" name="Rectangle 12"/>
          <p:cNvSpPr/>
          <p:nvPr/>
        </p:nvSpPr>
        <p:spPr>
          <a:xfrm>
            <a:off x="5440679" y="1755648"/>
            <a:ext cx="4855464" cy="301752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568695" y="1865376"/>
            <a:ext cx="4599432" cy="2834640"/>
          </a:xfrm>
          <a:prstGeom prst="rect">
            <a:avLst/>
          </a:prstGeom>
          <a:noFill/>
        </p:spPr>
        <p:txBody>
          <a:bodyPr wrap="square" lIns="0" rIns="0" tIns="0" bIns="0" anchor="t">
            <a:spAutoFit/>
          </a:bodyPr>
          <a:lstStyle/>
          <a:p>
            <a:pPr algn="l">
              <a:lnSpc>
                <a:spcPct val="118000"/>
              </a:lnSpc>
              <a:spcAft>
                <a:spcPts val="200"/>
              </a:spcAft>
            </a:pPr>
            <a:r>
              <a:rPr sz="850" b="1">
                <a:solidFill>
                  <a:srgbClr val="0B3041"/>
                </a:solidFill>
                <a:latin typeface="游ゴシック"/>
                <a:ea typeface="游ゴシック"/>
                <a:cs typeface="游ゴシック"/>
              </a:rPr>
              <a:t>減価償却費　</a:t>
            </a:r>
            <a:r>
              <a:rPr sz="850" b="0">
                <a:solidFill>
                  <a:srgbClr val="1A1A1A"/>
                </a:solidFill>
                <a:latin typeface="游ゴシック"/>
                <a:ea typeface="游ゴシック"/>
                <a:cs typeface="游ゴシック"/>
              </a:rPr>
              <a:t>7,265→7,292→7,012千円。製造原価の42.3％（2026年5月期）を占めます。2002年取得の建物・建物附属設備（旧定額法・旧定率法）が中心で、今後は逓減する見込みです。</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材料費　</a:t>
            </a:r>
            <a:r>
              <a:rPr sz="850" b="0">
                <a:solidFill>
                  <a:srgbClr val="1A1A1A"/>
                </a:solidFill>
                <a:latin typeface="游ゴシック"/>
                <a:ea typeface="游ゴシック"/>
                <a:cs typeface="游ゴシック"/>
              </a:rPr>
              <a:t>5,130→4,612→5,508千円。玄そば・小麦のほか、鴨肉・岩魚・山菜等の季節食材を含みます。期末材料棚卸高は3,237→2,938→2,025千円と減少しており、玄そばの在庫水準の低下が見られます。</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労務費（雑給）　</a:t>
            </a:r>
            <a:r>
              <a:rPr sz="850" b="0">
                <a:solidFill>
                  <a:srgbClr val="1A1A1A"/>
                </a:solidFill>
                <a:latin typeface="游ゴシック"/>
                <a:ea typeface="游ゴシック"/>
                <a:cs typeface="游ゴシック"/>
              </a:rPr>
              <a:t>1,989→2,199→2,221千円。親族への「手伝い料」が中心で、支払先は「小川実他1」です。勤務実態・雇用形態は要確認です。</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外注加工費　</a:t>
            </a:r>
            <a:r>
              <a:rPr sz="850" b="0">
                <a:solidFill>
                  <a:srgbClr val="1A1A1A"/>
                </a:solidFill>
                <a:latin typeface="游ゴシック"/>
                <a:ea typeface="游ゴシック"/>
                <a:cs typeface="游ゴシック"/>
              </a:rPr>
              <a:t>394→6→272千円。2026年5月期は伊勢又米穀製粉（株）への製粉外注267千円が中心です。</a:t>
            </a:r>
          </a:p>
          <a:p>
            <a:pPr algn="l">
              <a:spcAft>
                <a:spcPts val="200"/>
              </a:spcAft>
            </a:pPr>
          </a:p>
          <a:p>
            <a:pPr algn="l">
              <a:lnSpc>
                <a:spcPct val="118000"/>
              </a:lnSpc>
              <a:spcAft>
                <a:spcPts val="200"/>
              </a:spcAft>
            </a:pPr>
            <a:r>
              <a:rPr sz="850" b="1">
                <a:solidFill>
                  <a:srgbClr val="0B3041"/>
                </a:solidFill>
                <a:latin typeface="游ゴシック"/>
                <a:ea typeface="游ゴシック"/>
                <a:cs typeface="游ゴシック"/>
              </a:rPr>
              <a:t>育苗・耕作費　</a:t>
            </a:r>
            <a:r>
              <a:rPr sz="850" b="0">
                <a:solidFill>
                  <a:srgbClr val="1A1A1A"/>
                </a:solidFill>
                <a:latin typeface="游ゴシック"/>
                <a:ea typeface="游ゴシック"/>
                <a:cs typeface="游ゴシック"/>
              </a:rPr>
              <a:t>20→50→39千円。自家栽培（焼畑含む）に係る費用です。大規模生産は中止し、現在は地元産の玄そばを適正価格で仕入れる方針と伺っています（面談ヒアリング）。</a:t>
            </a:r>
          </a:p>
          <a:p>
            <a:pPr algn="l">
              <a:spcAft>
                <a:spcPts val="200"/>
              </a:spcAft>
            </a:pPr>
          </a:p>
        </p:txBody>
      </p:sp>
      <p:sp>
        <p:nvSpPr>
          <p:cNvPr id="15" name="TextBox 14"/>
          <p:cNvSpPr txBox="1"/>
          <p:nvPr/>
        </p:nvSpPr>
        <p:spPr>
          <a:xfrm>
            <a:off x="393192" y="6272784"/>
            <a:ext cx="9902952" cy="1014983"/>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決算書（2024年5月期〜2026年5月期）に基づきます。当期製品製造原価は損益計算書の同科目と一致します。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4. 財務情報詳細</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比較販売費及び一般管理費</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販管費6,267千円は3期を通じてほぼ横ばい。水道光熱費・租税公課・管理諸費の3科目で59％を占める</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27</a:t>
            </a:r>
          </a:p>
        </p:txBody>
      </p:sp>
      <p:graphicFrame>
        <p:nvGraphicFramePr>
          <p:cNvPr id="9" name="Table 8"/>
          <p:cNvGraphicFramePr>
            <a:graphicFrameLocks noGrp="1"/>
          </p:cNvGraphicFramePr>
          <p:nvPr/>
        </p:nvGraphicFramePr>
        <p:xfrm>
          <a:off x="393192" y="1517904"/>
          <a:ext cx="6675116" cy="3836816"/>
        </p:xfrm>
        <a:graphic>
          <a:graphicData uri="http://schemas.openxmlformats.org/drawingml/2006/table">
            <a:tbl>
              <a:tblPr firstRow="0" bandRow="0">
                <a:tableStyleId>{5C22544A-7EE6-4342-B048-85BDC9FD1C3A}</a:tableStyleId>
              </a:tblPr>
              <a:tblGrid>
                <a:gridCol w="2000612"/>
                <a:gridCol w="904122"/>
                <a:gridCol w="654046"/>
                <a:gridCol w="904122"/>
                <a:gridCol w="654046"/>
                <a:gridCol w="904122"/>
                <a:gridCol w="654046"/>
              </a:tblGrid>
              <a:tr h="237744">
                <a:tc>
                  <a:txBody>
                    <a:bodyPr wrap="square"/>
                    <a:lstStyle/>
                    <a:p>
                      <a:pPr algn="ctr">
                        <a:spcAft>
                          <a:spcPts val="0"/>
                        </a:spcAft>
                      </a:pPr>
                      <a:r>
                        <a:rPr sz="800" b="1">
                          <a:solidFill>
                            <a:srgbClr val="FFFFFF"/>
                          </a:solidFill>
                          <a:latin typeface="游ゴシック"/>
                          <a:ea typeface="游ゴシック"/>
                          <a:cs typeface="游ゴシック"/>
                        </a:rPr>
                        <a:t>科目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2024年5月期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2025年5月期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2026年5月期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游ゴシック"/>
                          <a:ea typeface="游ゴシック"/>
                          <a:cs typeface="游ゴシック"/>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広告宣伝費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容器包装費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発送配達費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事務用消耗品費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交通費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水道光熱費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租税公課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接待交際費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保険料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備品消耗品費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管理諸費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警備料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雑費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1">
                          <a:solidFill>
                            <a:srgbClr val="1A1A1A"/>
                          </a:solidFill>
                          <a:latin typeface="游ゴシック"/>
                          <a:ea typeface="游ゴシック"/>
                          <a:cs typeface="游ゴシック"/>
                        </a:rPr>
                        <a:t>販売費及び一般管理費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1316736"/>
            <a:ext cx="6675120" cy="182880"/>
          </a:xfrm>
          <a:prstGeom prst="rect">
            <a:avLst/>
          </a:prstGeom>
          <a:noFill/>
        </p:spPr>
        <p:txBody>
          <a:bodyPr wrap="square" lIns="0" rIns="0" tIns="0" bIns="0" anchor="t">
            <a:spAutoFit/>
          </a:bodyPr>
          <a:lstStyle/>
          <a:p>
            <a:pPr algn="r">
              <a:spcAft>
                <a:spcPts val="0"/>
              </a:spcAft>
            </a:pPr>
            <a:r>
              <a:rPr sz="750" b="0">
                <a:solidFill>
                  <a:srgbClr val="5A656B"/>
                </a:solidFill>
                <a:latin typeface="游ゴシック Medium"/>
                <a:ea typeface="游ゴシック Medium"/>
                <a:cs typeface="游ゴシック Medium"/>
              </a:rPr>
              <a:t>（単位：千円／構成比は売上高比）</a:t>
            </a:r>
          </a:p>
        </p:txBody>
      </p:sp>
      <p:sp>
        <p:nvSpPr>
          <p:cNvPr id="11" name="Rectangle 10"/>
          <p:cNvSpPr/>
          <p:nvPr/>
        </p:nvSpPr>
        <p:spPr>
          <a:xfrm>
            <a:off x="7287768" y="1517904"/>
            <a:ext cx="3008376" cy="23774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397496" y="1517904"/>
            <a:ext cx="2788920" cy="237744"/>
          </a:xfrm>
          <a:prstGeom prst="rect">
            <a:avLst/>
          </a:prstGeom>
          <a:noFill/>
        </p:spPr>
        <p:txBody>
          <a:bodyPr wrap="square" lIns="0" rIns="0" tIns="0" bIns="0" anchor="ctr">
            <a:spAutoFit/>
          </a:bodyPr>
          <a:lstStyle/>
          <a:p>
            <a:pPr algn="l">
              <a:spcAft>
                <a:spcPts val="0"/>
              </a:spcAft>
            </a:pPr>
            <a:r>
              <a:rPr sz="950" b="1">
                <a:solidFill>
                  <a:srgbClr val="FFFFFF"/>
                </a:solidFill>
                <a:latin typeface="游ゴシック"/>
                <a:ea typeface="游ゴシック"/>
                <a:cs typeface="游ゴシック"/>
              </a:rPr>
              <a:t>Comment</a:t>
            </a:r>
          </a:p>
        </p:txBody>
      </p:sp>
      <p:sp>
        <p:nvSpPr>
          <p:cNvPr id="13" name="Rectangle 12"/>
          <p:cNvSpPr/>
          <p:nvPr/>
        </p:nvSpPr>
        <p:spPr>
          <a:xfrm>
            <a:off x="7287768" y="1755648"/>
            <a:ext cx="3008376" cy="3657600"/>
          </a:xfrm>
          <a:prstGeom prst="rect">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415783" y="1865376"/>
            <a:ext cx="2752344" cy="3474720"/>
          </a:xfrm>
          <a:prstGeom prst="rect">
            <a:avLst/>
          </a:prstGeom>
          <a:noFill/>
        </p:spPr>
        <p:txBody>
          <a:bodyPr wrap="square" lIns="0" rIns="0" tIns="0" bIns="0" anchor="t">
            <a:spAutoFit/>
          </a:bodyPr>
          <a:lstStyle/>
          <a:p>
            <a:pPr algn="l">
              <a:lnSpc>
                <a:spcPct val="116000"/>
              </a:lnSpc>
              <a:spcAft>
                <a:spcPts val="200"/>
              </a:spcAft>
            </a:pPr>
            <a:r>
              <a:rPr sz="830" b="1">
                <a:solidFill>
                  <a:srgbClr val="0B3041"/>
                </a:solidFill>
                <a:latin typeface="游ゴシック"/>
                <a:ea typeface="游ゴシック"/>
                <a:cs typeface="游ゴシック"/>
              </a:rPr>
              <a:t>水道光熱費 1,490千円　</a:t>
            </a:r>
            <a:r>
              <a:rPr sz="830" b="0">
                <a:solidFill>
                  <a:srgbClr val="1A1A1A"/>
                </a:solidFill>
                <a:latin typeface="游ゴシック"/>
                <a:ea typeface="游ゴシック"/>
                <a:cs typeface="游ゴシック"/>
              </a:rPr>
              <a:t>販管費の23.8％。店舗規模に対して大きく、茅葺き・板倉造の建物と薪ストーブ併用の空調に起因すると推察されます。</a:t>
            </a:r>
          </a:p>
          <a:p>
            <a:pPr algn="l">
              <a:spcAft>
                <a:spcPts val="200"/>
              </a:spcAft>
            </a:pPr>
          </a:p>
          <a:p>
            <a:pPr algn="l">
              <a:lnSpc>
                <a:spcPct val="116000"/>
              </a:lnSpc>
              <a:spcAft>
                <a:spcPts val="200"/>
              </a:spcAft>
            </a:pPr>
            <a:r>
              <a:rPr sz="830" b="1">
                <a:solidFill>
                  <a:srgbClr val="0B3041"/>
                </a:solidFill>
                <a:latin typeface="游ゴシック"/>
                <a:ea typeface="游ゴシック"/>
                <a:cs typeface="游ゴシック"/>
              </a:rPr>
              <a:t>租税公課 1,137千円　</a:t>
            </a:r>
            <a:r>
              <a:rPr sz="830" b="0">
                <a:solidFill>
                  <a:srgbClr val="1A1A1A"/>
                </a:solidFill>
                <a:latin typeface="游ゴシック"/>
                <a:ea typeface="游ゴシック"/>
                <a:cs typeface="游ゴシック"/>
              </a:rPr>
              <a:t>固定資産税が中心と推察。内訳は要確認です。</a:t>
            </a:r>
          </a:p>
          <a:p>
            <a:pPr algn="l">
              <a:spcAft>
                <a:spcPts val="200"/>
              </a:spcAft>
            </a:pPr>
          </a:p>
          <a:p>
            <a:pPr algn="l">
              <a:lnSpc>
                <a:spcPct val="116000"/>
              </a:lnSpc>
              <a:spcAft>
                <a:spcPts val="200"/>
              </a:spcAft>
            </a:pPr>
            <a:r>
              <a:rPr sz="830" b="1">
                <a:solidFill>
                  <a:srgbClr val="0B3041"/>
                </a:solidFill>
                <a:latin typeface="游ゴシック"/>
                <a:ea typeface="游ゴシック"/>
                <a:cs typeface="游ゴシック"/>
              </a:rPr>
              <a:t>管理諸費 1,044千円　</a:t>
            </a:r>
            <a:r>
              <a:rPr sz="830" b="0">
                <a:solidFill>
                  <a:srgbClr val="1A1A1A"/>
                </a:solidFill>
                <a:latin typeface="游ゴシック"/>
                <a:ea typeface="游ゴシック"/>
                <a:cs typeface="游ゴシック"/>
              </a:rPr>
              <a:t>税理士報酬594千円、Mマート（B2B受発注サービス）248千円、銀行振込手数料83千円、特許事務所61千円等。</a:t>
            </a:r>
          </a:p>
          <a:p>
            <a:pPr algn="l">
              <a:spcAft>
                <a:spcPts val="200"/>
              </a:spcAft>
            </a:pPr>
          </a:p>
          <a:p>
            <a:pPr algn="l">
              <a:lnSpc>
                <a:spcPct val="116000"/>
              </a:lnSpc>
              <a:spcAft>
                <a:spcPts val="200"/>
              </a:spcAft>
            </a:pPr>
            <a:r>
              <a:rPr sz="830" b="1">
                <a:solidFill>
                  <a:srgbClr val="0B3041"/>
                </a:solidFill>
                <a:latin typeface="游ゴシック"/>
                <a:ea typeface="游ゴシック"/>
                <a:cs typeface="游ゴシック"/>
              </a:rPr>
              <a:t>広告宣伝費 729千円　</a:t>
            </a:r>
            <a:r>
              <a:rPr sz="830" b="0">
                <a:solidFill>
                  <a:srgbClr val="1A1A1A"/>
                </a:solidFill>
                <a:latin typeface="游ゴシック"/>
                <a:ea typeface="游ゴシック"/>
                <a:cs typeface="游ゴシック"/>
              </a:rPr>
              <a:t>ライフガード330千円、SMBC 198千円、サイバーメディア198千円。内容は要確認です。</a:t>
            </a:r>
          </a:p>
          <a:p>
            <a:pPr algn="l">
              <a:spcAft>
                <a:spcPts val="200"/>
              </a:spcAft>
            </a:pPr>
          </a:p>
          <a:p>
            <a:pPr algn="l">
              <a:lnSpc>
                <a:spcPct val="116000"/>
              </a:lnSpc>
              <a:spcAft>
                <a:spcPts val="200"/>
              </a:spcAft>
            </a:pPr>
            <a:r>
              <a:rPr sz="830" b="1">
                <a:solidFill>
                  <a:srgbClr val="0B3041"/>
                </a:solidFill>
                <a:latin typeface="游ゴシック"/>
                <a:ea typeface="游ゴシック"/>
                <a:cs typeface="游ゴシック"/>
              </a:rPr>
              <a:t>発送配達費 465千円　</a:t>
            </a:r>
            <a:r>
              <a:rPr sz="830" b="0">
                <a:solidFill>
                  <a:srgbClr val="1A1A1A"/>
                </a:solidFill>
                <a:latin typeface="游ゴシック"/>
                <a:ea typeface="游ゴシック"/>
                <a:cs typeface="游ゴシック"/>
              </a:rPr>
              <a:t>通信販売・卸売に係る送料。通販の伸長に対応しています。</a:t>
            </a:r>
          </a:p>
          <a:p>
            <a:pPr algn="l">
              <a:spcAft>
                <a:spcPts val="200"/>
              </a:spcAft>
            </a:pPr>
          </a:p>
          <a:p>
            <a:pPr algn="l">
              <a:lnSpc>
                <a:spcPct val="116000"/>
              </a:lnSpc>
              <a:spcAft>
                <a:spcPts val="200"/>
              </a:spcAft>
            </a:pPr>
            <a:r>
              <a:rPr sz="830" b="1">
                <a:solidFill>
                  <a:srgbClr val="0B3041"/>
                </a:solidFill>
                <a:latin typeface="游ゴシック"/>
                <a:ea typeface="游ゴシック"/>
                <a:cs typeface="游ゴシック"/>
              </a:rPr>
              <a:t>保険料 623千円　</a:t>
            </a:r>
            <a:r>
              <a:rPr sz="830" b="0">
                <a:solidFill>
                  <a:srgbClr val="1A1A1A"/>
                </a:solidFill>
                <a:latin typeface="游ゴシック"/>
                <a:ea typeface="游ゴシック"/>
                <a:cs typeface="游ゴシック"/>
              </a:rPr>
              <a:t>内容未確認。役員保険・解約返戻金のある契約の有無は要確認です。</a:t>
            </a:r>
          </a:p>
          <a:p>
            <a:pPr algn="l">
              <a:spcAft>
                <a:spcPts val="200"/>
              </a:spcAft>
            </a:pPr>
          </a:p>
          <a:p>
            <a:pPr algn="l">
              <a:lnSpc>
                <a:spcPct val="116000"/>
              </a:lnSpc>
              <a:spcAft>
                <a:spcPts val="200"/>
              </a:spcAft>
            </a:pPr>
            <a:r>
              <a:rPr sz="830" b="1">
                <a:solidFill>
                  <a:srgbClr val="0B3041"/>
                </a:solidFill>
                <a:latin typeface="游ゴシック"/>
                <a:ea typeface="游ゴシック"/>
                <a:cs typeface="游ゴシック"/>
              </a:rPr>
              <a:t>人件費　</a:t>
            </a:r>
            <a:r>
              <a:rPr sz="830" b="0">
                <a:solidFill>
                  <a:srgbClr val="1A1A1A"/>
                </a:solidFill>
                <a:latin typeface="游ゴシック"/>
                <a:ea typeface="游ゴシック"/>
                <a:cs typeface="游ゴシック"/>
              </a:rPr>
              <a:t>販管費には給料手当・役員報酬の計上がありません。労務費（雑給2,201千円）は製造原価に計上されています。</a:t>
            </a:r>
          </a:p>
          <a:p>
            <a:pPr algn="l">
              <a:spcAft>
                <a:spcPts val="200"/>
              </a:spcAft>
            </a:pPr>
          </a:p>
        </p:txBody>
      </p:sp>
      <p:sp>
        <p:nvSpPr>
          <p:cNvPr id="15" name="TextBox 14"/>
          <p:cNvSpPr txBox="1"/>
          <p:nvPr/>
        </p:nvSpPr>
        <p:spPr>
          <a:xfrm>
            <a:off x="393192" y="6272784"/>
            <a:ext cx="9902952" cy="1014983"/>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決算書（2024年5月期〜2026年5月期）に基づきます。構成比は売上高に対する比率です。</a:t>
            </a:r>
          </a:p>
          <a:p>
            <a:pPr algn="l">
              <a:lnSpc>
                <a:spcPct val="108000"/>
              </a:lnSpc>
              <a:spcAft>
                <a:spcPts val="100"/>
              </a:spcAft>
            </a:pPr>
            <a:r>
              <a:rPr sz="800" b="0">
                <a:solidFill>
                  <a:srgbClr val="5A656B"/>
                </a:solidFill>
                <a:latin typeface="游ゴシック Medium"/>
                <a:ea typeface="游ゴシック Medium"/>
                <a:cs typeface="游ゴシック Medium"/>
              </a:rPr>
              <a:t>※ 科目の内訳は総勘定元帳（2026年5月期）の取引先欄を集計したものです。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1188720" y="2743200"/>
            <a:ext cx="82296" cy="96012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81328" y="2761488"/>
            <a:ext cx="2743200" cy="457200"/>
          </a:xfrm>
          <a:prstGeom prst="rect">
            <a:avLst/>
          </a:prstGeom>
          <a:noFill/>
        </p:spPr>
        <p:txBody>
          <a:bodyPr wrap="square" lIns="0" rIns="0" tIns="0" bIns="0" anchor="t">
            <a:spAutoFit/>
          </a:bodyPr>
          <a:lstStyle/>
          <a:p>
            <a:pPr algn="l">
              <a:spcAft>
                <a:spcPts val="0"/>
              </a:spcAft>
            </a:pPr>
            <a:r>
              <a:rPr sz="1300" b="1">
                <a:solidFill>
                  <a:srgbClr val="0889C9"/>
                </a:solidFill>
                <a:latin typeface="Arial"/>
                <a:ea typeface="Arial"/>
                <a:cs typeface="Arial"/>
              </a:rPr>
              <a:t>Section 5</a:t>
            </a:r>
          </a:p>
        </p:txBody>
      </p:sp>
      <p:sp>
        <p:nvSpPr>
          <p:cNvPr id="5" name="TextBox 4"/>
          <p:cNvSpPr txBox="1"/>
          <p:nvPr/>
        </p:nvSpPr>
        <p:spPr>
          <a:xfrm>
            <a:off x="1481328" y="3145536"/>
            <a:ext cx="6858000" cy="566928"/>
          </a:xfrm>
          <a:prstGeom prst="rect">
            <a:avLst/>
          </a:prstGeom>
          <a:noFill/>
        </p:spPr>
        <p:txBody>
          <a:bodyPr wrap="square" lIns="0" rIns="0" tIns="0" bIns="0" anchor="t">
            <a:spAutoFit/>
          </a:bodyPr>
          <a:lstStyle/>
          <a:p>
            <a:pPr algn="l">
              <a:spcAft>
                <a:spcPts val="0"/>
              </a:spcAft>
            </a:pPr>
            <a:r>
              <a:rPr sz="2600" b="1">
                <a:solidFill>
                  <a:srgbClr val="FFFFFF"/>
                </a:solidFill>
                <a:latin typeface="游ゴシック"/>
                <a:ea typeface="游ゴシック"/>
                <a:cs typeface="游ゴシック"/>
              </a:rPr>
              <a:t>Appendix</a:t>
            </a:r>
          </a:p>
        </p:txBody>
      </p:sp>
      <p:sp>
        <p:nvSpPr>
          <p:cNvPr id="6" name="TextBox 5"/>
          <p:cNvSpPr txBox="1"/>
          <p:nvPr/>
        </p:nvSpPr>
        <p:spPr>
          <a:xfrm>
            <a:off x="1517904" y="3977639"/>
            <a:ext cx="7315200" cy="1645920"/>
          </a:xfrm>
          <a:prstGeom prst="rect">
            <a:avLst/>
          </a:prstGeom>
          <a:noFill/>
        </p:spPr>
        <p:txBody>
          <a:bodyPr wrap="square" lIns="0" rIns="0" tIns="0" bIns="0" anchor="t">
            <a:spAutoFit/>
          </a:bodyPr>
          <a:lstStyle/>
          <a:p>
            <a:pPr algn="l">
              <a:spcAft>
                <a:spcPts val="500"/>
              </a:spcAft>
            </a:pPr>
            <a:r>
              <a:rPr sz="1100" b="0">
                <a:solidFill>
                  <a:srgbClr val="C9D6DC"/>
                </a:solidFill>
                <a:latin typeface="游ゴシック"/>
                <a:ea typeface="游ゴシック"/>
                <a:cs typeface="游ゴシック"/>
              </a:rPr>
              <a:t>—  沿革</a:t>
            </a:r>
          </a:p>
          <a:p>
            <a:pPr algn="l">
              <a:spcAft>
                <a:spcPts val="500"/>
              </a:spcAft>
            </a:pPr>
            <a:r>
              <a:rPr sz="1100" b="0">
                <a:solidFill>
                  <a:srgbClr val="C9D6DC"/>
                </a:solidFill>
                <a:latin typeface="游ゴシック"/>
                <a:ea typeface="游ゴシック"/>
                <a:cs typeface="游ゴシック"/>
              </a:rPr>
              <a:t>—  要確認事項・ネクストステップ</a:t>
            </a:r>
          </a:p>
        </p:txBody>
      </p:sp>
      <p:sp>
        <p:nvSpPr>
          <p:cNvPr id="7" name="TextBox 6"/>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6E8692"/>
                </a:solidFill>
                <a:latin typeface="Arial"/>
                <a:ea typeface="Arial"/>
                <a:cs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5. Appendix</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沿革</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東京・南阿佐ヶ谷での創業から36年。2002年の故郷への移転以降、焼畑栽培と里山再生に取り組む</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29</a:t>
            </a:r>
          </a:p>
        </p:txBody>
      </p:sp>
      <p:graphicFrame>
        <p:nvGraphicFramePr>
          <p:cNvPr id="9" name="Table 8"/>
          <p:cNvGraphicFramePr>
            <a:graphicFrameLocks noGrp="1"/>
          </p:cNvGraphicFramePr>
          <p:nvPr/>
        </p:nvGraphicFramePr>
        <p:xfrm>
          <a:off x="393192" y="1517904"/>
          <a:ext cx="9902952" cy="4465916"/>
        </p:xfrm>
        <a:graphic>
          <a:graphicData uri="http://schemas.openxmlformats.org/drawingml/2006/table">
            <a:tbl>
              <a:tblPr firstRow="0" bandRow="0">
                <a:tableStyleId>{5C22544A-7EE6-4342-B048-85BDC9FD1C3A}</a:tableStyleId>
              </a:tblPr>
              <a:tblGrid>
                <a:gridCol w="1170432"/>
                <a:gridCol w="8732520"/>
              </a:tblGrid>
              <a:tr h="237744">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游ゴシック"/>
                          <a:ea typeface="游ゴシック"/>
                          <a:cs typeface="游ゴシック"/>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 小川 宣夫 氏、茨城県（現・常陸太田市）に生まれる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1970年代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東京での会社員生活を経て、長野県大町市へ移住。蕎麦打ちに関心を持つ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1986年頃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1990年4月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株式会社慈久庵 設立。東京・南阿佐ヶ谷に石臼挽き自家製粉の手打ち蕎麦店「慈久庵」を開業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茨城県久慈郡水府村（現・常陸太田市天下野町）に店舗兼住居を建築し移転。板倉造・茅葺きの現店舗で営業を開始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2004年12月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市町村合併に伴い本店所在地の表示が「常陸太田市天下野町2162番地」に変更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常陸太田市の旧市街地に石臼挽き自家製粉の手打ち饂飩店「塩町館」を開店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商標を登録（4件）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2014年4月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定款の事業目的を変更（農園の経営、農業、農産物の生産・栽培・販売等を追加）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Japan Restaurant Award 2016「茨城県 TOP1」に選出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「古式けんちんそば」の商標展開を開始（約7年前／面談ヒアリング）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2020〜2021年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コロナ禍および代表者の入院により約5か月休業。再開後はキャンプ需要等により来店客が増加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2022年・2023年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 Bronze を2年連続で受賞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近年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塩町館の営業権・什器備品を元従業員へ譲渡（建物は当社に残存）。そばの大規模栽培は中止し、地元産玄そばの適正価格での仕入に方針転換</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48716">
                <a:tc>
                  <a:txBody>
                    <a:bodyPr wrap="square"/>
                    <a:lstStyle/>
                    <a:p>
                      <a:pPr algn="ctr">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茨城版に掲載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6199632"/>
            <a:ext cx="9902952" cy="1088135"/>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設立年月日・本店移転・事業目的の変更は法人登記簿、代表者経歴は著書の著者略歴、受賞歴は店内掲示物の実査、その他は面談ヒアリングに基づきます。</a:t>
            </a:r>
          </a:p>
          <a:p>
            <a:pPr algn="l">
              <a:lnSpc>
                <a:spcPct val="108000"/>
              </a:lnSpc>
              <a:spcAft>
                <a:spcPts val="100"/>
              </a:spcAft>
            </a:pPr>
            <a:r>
              <a:rPr sz="800" b="0">
                <a:solidFill>
                  <a:srgbClr val="5A656B"/>
                </a:solidFill>
                <a:latin typeface="游ゴシック Medium"/>
                <a:ea typeface="游ゴシック Medium"/>
                <a:cs typeface="游ゴシック Medium"/>
              </a:rPr>
              <a:t>※ 「1978年頃」「1986年頃」「2019年頃」等は、著者略歴の記載（31歳で入店、8年修業）および面談時の発言から弊社が推定したものです（推定）。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72783" y="219456"/>
            <a:ext cx="4023360" cy="182880"/>
          </a:xfrm>
          <a:prstGeom prst="rect">
            <a:avLst/>
          </a:prstGeom>
          <a:noFill/>
        </p:spPr>
        <p:txBody>
          <a:bodyPr wrap="square" lIns="0" rIns="0" tIns="0" bIns="0" anchor="t">
            <a:spAutoFit/>
          </a:bodyPr>
          <a:lstStyle/>
          <a:p>
            <a:pPr algn="r">
              <a:spcAft>
                <a:spcPts val="0"/>
              </a:spcAft>
            </a:pPr>
            <a:r>
              <a:rPr sz="900" b="0">
                <a:solidFill>
                  <a:srgbClr val="5A656B"/>
                </a:solidFill>
                <a:latin typeface="游ゴシック"/>
                <a:ea typeface="游ゴシック"/>
                <a:cs typeface="游ゴシック"/>
              </a:rPr>
              <a:t>5. Appendix</a:t>
            </a:r>
          </a:p>
        </p:txBody>
      </p:sp>
      <p:sp>
        <p:nvSpPr>
          <p:cNvPr id="3" name="TextBox 2"/>
          <p:cNvSpPr txBox="1"/>
          <p:nvPr/>
        </p:nvSpPr>
        <p:spPr>
          <a:xfrm>
            <a:off x="393192" y="402336"/>
            <a:ext cx="5696712" cy="329184"/>
          </a:xfrm>
          <a:prstGeom prst="rect">
            <a:avLst/>
          </a:prstGeom>
          <a:noFill/>
        </p:spPr>
        <p:txBody>
          <a:bodyPr wrap="square" lIns="0" rIns="0" tIns="0" bIns="0" anchor="t">
            <a:spAutoFit/>
          </a:bodyPr>
          <a:lstStyle/>
          <a:p>
            <a:pPr algn="l">
              <a:spcAft>
                <a:spcPts val="0"/>
              </a:spcAft>
            </a:pPr>
            <a:r>
              <a:rPr sz="1700" b="1">
                <a:solidFill>
                  <a:srgbClr val="0B3041"/>
                </a:solidFill>
                <a:latin typeface="游ゴシック"/>
                <a:ea typeface="游ゴシック"/>
                <a:cs typeface="游ゴシック"/>
              </a:rPr>
              <a:t>要確認事項・ネクストステップ</a:t>
            </a:r>
          </a:p>
        </p:txBody>
      </p:sp>
      <p:sp>
        <p:nvSpPr>
          <p:cNvPr id="4" name="Rectangle 3"/>
          <p:cNvSpPr/>
          <p:nvPr/>
        </p:nvSpPr>
        <p:spPr>
          <a:xfrm>
            <a:off x="393192" y="822960"/>
            <a:ext cx="9902952" cy="201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393192" y="914400"/>
            <a:ext cx="50292" cy="40233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443484" y="914400"/>
            <a:ext cx="9852660" cy="402336"/>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76072" y="914400"/>
            <a:ext cx="9573768" cy="402336"/>
          </a:xfrm>
          <a:prstGeom prst="rect">
            <a:avLst/>
          </a:prstGeom>
          <a:noFill/>
        </p:spPr>
        <p:txBody>
          <a:bodyPr wrap="square" lIns="0" rIns="0" tIns="0" bIns="0" anchor="ctr">
            <a:spAutoFit/>
          </a:bodyPr>
          <a:lstStyle/>
          <a:p>
            <a:pPr algn="l">
              <a:lnSpc>
                <a:spcPct val="105000"/>
              </a:lnSpc>
              <a:spcAft>
                <a:spcPts val="0"/>
              </a:spcAft>
            </a:pPr>
            <a:r>
              <a:rPr sz="1050" b="1">
                <a:solidFill>
                  <a:srgbClr val="0B3041"/>
                </a:solidFill>
                <a:latin typeface="游ゴシック"/>
                <a:ea typeface="游ゴシック"/>
                <a:cs typeface="游ゴシック"/>
              </a:rPr>
              <a:t>本概要書の作成時点で裏付資料の受領が完了していない事項。トップ面談前の確定を想定</a:t>
            </a:r>
          </a:p>
        </p:txBody>
      </p:sp>
      <p:sp>
        <p:nvSpPr>
          <p:cNvPr id="8" name="TextBox 7"/>
          <p:cNvSpPr txBox="1"/>
          <p:nvPr/>
        </p:nvSpPr>
        <p:spPr>
          <a:xfrm>
            <a:off x="9381744" y="7178040"/>
            <a:ext cx="914400" cy="201168"/>
          </a:xfrm>
          <a:prstGeom prst="rect">
            <a:avLst/>
          </a:prstGeom>
          <a:noFill/>
        </p:spPr>
        <p:txBody>
          <a:bodyPr wrap="square" lIns="0" rIns="0" tIns="0" bIns="0" anchor="t">
            <a:spAutoFit/>
          </a:bodyPr>
          <a:lstStyle/>
          <a:p>
            <a:pPr algn="r">
              <a:spcAft>
                <a:spcPts val="0"/>
              </a:spcAft>
            </a:pPr>
            <a:r>
              <a:rPr sz="900" b="0">
                <a:solidFill>
                  <a:srgbClr val="5A656B"/>
                </a:solidFill>
                <a:latin typeface="Arial"/>
                <a:ea typeface="Arial"/>
                <a:cs typeface="Arial"/>
              </a:rPr>
              <a:t>30</a:t>
            </a:r>
          </a:p>
        </p:txBody>
      </p:sp>
      <p:graphicFrame>
        <p:nvGraphicFramePr>
          <p:cNvPr id="9" name="Table 8"/>
          <p:cNvGraphicFramePr>
            <a:graphicFrameLocks noGrp="1"/>
          </p:cNvGraphicFramePr>
          <p:nvPr/>
        </p:nvGraphicFramePr>
        <p:xfrm>
          <a:off x="393192" y="1517904"/>
          <a:ext cx="9902952" cy="4392768"/>
        </p:xfrm>
        <a:graphic>
          <a:graphicData uri="http://schemas.openxmlformats.org/drawingml/2006/table">
            <a:tbl>
              <a:tblPr firstRow="0" bandRow="0">
                <a:tableStyleId>{5C22544A-7EE6-4342-B048-85BDC9FD1C3A}</a:tableStyleId>
              </a:tblPr>
              <a:tblGrid>
                <a:gridCol w="365760"/>
                <a:gridCol w="1115568"/>
                <a:gridCol w="7690104"/>
                <a:gridCol w="731520"/>
              </a:tblGrid>
              <a:tr h="237744">
                <a:tc>
                  <a:txBody>
                    <a:bodyPr wrap="square"/>
                    <a:lstStyle/>
                    <a:p>
                      <a:pPr algn="ctr">
                        <a:spcAft>
                          <a:spcPts val="0"/>
                        </a:spcAft>
                      </a:pPr>
                      <a:r>
                        <a:rPr sz="819"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分野</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確認事項</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游ゴシック"/>
                          <a:ea typeface="游ゴシック"/>
                          <a:cs typeface="游ゴシック"/>
                        </a:rPr>
                        <a:t>優先度</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店舗建物が未登記。表題登記・保存登記の実施可否、費用、所要期間。土地の登記簿・公図・測量図の取得。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代表者・配偶者が店舗2階に居住中。明渡しの時期・条件（現状は年180千円の家賃収入を雑収入に計上）。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譲渡対象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塩町館（建物簿価5,442千円）の取扱い。営業権・什器備品は元従業員へ譲渡済だが建物登記は未変更。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関係会社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（株）慈久庵咸亨酒・（株）慈久庵伊勢又の事業内容・株主構成・当社との取引関係および本件での取扱い。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債権回収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未収入金3,323千円（塩町館・小びと）が3期連続で増加。回収条件・回収可能性・取引継続の是非。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代表者・配偶者からの借入32,744千円の本件実行時の取扱い。金銭消費貸借契約書の有無。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知的財産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商標登録4件の登録番号・区分・指定商品役務・存続期間。「古式けんちんそば」の登録状況。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人員・属人性</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レシピ・「かえし」等の標準化資料の実物確認。引継ぎに要する期間・人数・方式。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営業体制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営業日・営業時間を拡大する際の制約要因（人員・原料・体力・地域事情）と拡大余地の定量化。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売上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店頭日商が86→80→75千円と低下。客数・客単価のいずれが要因か。価格改定・休業の影響。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許認可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飲食店営業許可証の写し。乾麺・そばつゆ・醤・味噌の製造販売に係る許可の要否。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玄そばの仕入先・数量・単価。自家栽培（焼畑）の現況と農地の権利関係。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クラシックカー2台（簿価1円）の事業供用実態と時価。本件譲渡対象に含めるか。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支払保険料623千円の内訳。役員保険・解約返戻金のある契約の有無。退職金規程の有無。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勘定科目内訳明細書は2026年5月期のみ受領済。2024年・2025年5月期分の受領。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59689">
                <a:tc>
                  <a:txBody>
                    <a:bodyPr wrap="square"/>
                    <a:lstStyle/>
                    <a:p>
                      <a:pPr algn="ct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労務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雑給2,201千円の支払先「小川実他1」の勤務実態・雇用形態・社会保険の適用状況。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0" name="TextBox 9"/>
          <p:cNvSpPr txBox="1"/>
          <p:nvPr/>
        </p:nvSpPr>
        <p:spPr>
          <a:xfrm>
            <a:off x="393192" y="6473952"/>
            <a:ext cx="9902952" cy="813815"/>
          </a:xfrm>
          <a:prstGeom prst="rect">
            <a:avLst/>
          </a:prstGeom>
          <a:noFill/>
        </p:spPr>
        <p:txBody>
          <a:bodyPr wrap="square" lIns="0" rIns="0" tIns="0" bIns="0" anchor="t">
            <a:spAutoFit/>
          </a:bodyPr>
          <a:lstStyle/>
          <a:p>
            <a:pPr algn="l">
              <a:lnSpc>
                <a:spcPct val="108000"/>
              </a:lnSpc>
              <a:spcAft>
                <a:spcPts val="100"/>
              </a:spcAft>
            </a:pPr>
            <a:r>
              <a:rPr sz="800" b="0">
                <a:solidFill>
                  <a:srgbClr val="5A656B"/>
                </a:solidFill>
                <a:latin typeface="游ゴシック Medium"/>
                <a:ea typeface="游ゴシック Medium"/>
                <a:cs typeface="游ゴシック Medium"/>
              </a:rPr>
              <a:t>※ 【高】はトップ面談前に確定させたい事項、【中】は基本合意までに確認したい事項です。</a:t>
            </a:r>
          </a:p>
          <a:p>
            <a:pPr algn="l">
              <a:lnSpc>
                <a:spcPct val="108000"/>
              </a:lnSpc>
              <a:spcAft>
                <a:spcPts val="100"/>
              </a:spcAft>
            </a:pPr>
            <a:r>
              <a:rPr sz="800" b="0">
                <a:solidFill>
                  <a:srgbClr val="5A656B"/>
                </a:solidFill>
                <a:latin typeface="游ゴシック Medium"/>
                <a:ea typeface="游ゴシック Medium"/>
                <a:cs typeface="游ゴシック Medium"/>
              </a:rPr>
              <a:t>※ 本一覧は案件マスター「その他」シートに集約しており、追加の論点は随時更新いたします。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10896" cy="756208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371600" y="3017520"/>
            <a:ext cx="8229600" cy="402336"/>
          </a:xfrm>
          <a:prstGeom prst="rect">
            <a:avLst/>
          </a:prstGeom>
          <a:noFill/>
        </p:spPr>
        <p:txBody>
          <a:bodyPr wrap="square" lIns="0" rIns="0" tIns="0" bIns="0" anchor="t">
            <a:spAutoFit/>
          </a:bodyPr>
          <a:lstStyle/>
          <a:p>
            <a:pPr algn="l">
              <a:spcAft>
                <a:spcPts val="0"/>
              </a:spcAft>
            </a:pPr>
            <a:r>
              <a:rPr sz="2200" b="1">
                <a:solidFill>
                  <a:srgbClr val="FFFFFF"/>
                </a:solidFill>
                <a:latin typeface="游ゴシック"/>
                <a:ea typeface="游ゴシック"/>
                <a:cs typeface="游ゴシック"/>
              </a:rPr>
              <a:t>株式会社M&amp;A承継機構</a:t>
            </a:r>
          </a:p>
        </p:txBody>
      </p:sp>
      <p:sp>
        <p:nvSpPr>
          <p:cNvPr id="5" name="Rectangle 4"/>
          <p:cNvSpPr/>
          <p:nvPr/>
        </p:nvSpPr>
        <p:spPr>
          <a:xfrm>
            <a:off x="1389888" y="3621024"/>
            <a:ext cx="2194560" cy="2377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371600" y="3877056"/>
            <a:ext cx="8229600" cy="640080"/>
          </a:xfrm>
          <a:prstGeom prst="rect">
            <a:avLst/>
          </a:prstGeom>
          <a:noFill/>
        </p:spPr>
        <p:txBody>
          <a:bodyPr wrap="square" lIns="0" rIns="0" tIns="0" bIns="0" anchor="t">
            <a:spAutoFit/>
          </a:bodyPr>
          <a:lstStyle/>
          <a:p>
            <a:pPr algn="l">
              <a:lnSpc>
                <a:spcPct val="130000"/>
              </a:lnSpc>
              <a:spcAft>
                <a:spcPts val="300"/>
              </a:spcAft>
            </a:pPr>
            <a:r>
              <a:rPr sz="1100" b="0">
                <a:solidFill>
                  <a:srgbClr val="C9D6DC"/>
                </a:solidFill>
                <a:latin typeface="游ゴシック"/>
                <a:ea typeface="游ゴシック"/>
                <a:cs typeface="游ゴシック"/>
              </a:rPr>
              <a:t>本概要書に関するお問い合わせは、すべて弊社を通じてお願い申し上げます。</a:t>
            </a:r>
          </a:p>
          <a:p>
            <a:pPr algn="l">
              <a:lnSpc>
                <a:spcPct val="130000"/>
              </a:lnSpc>
              <a:spcAft>
                <a:spcPts val="300"/>
              </a:spcAft>
            </a:pPr>
            <a:r>
              <a:rPr sz="1100" b="0">
                <a:solidFill>
                  <a:srgbClr val="C9D6DC"/>
                </a:solidFill>
                <a:latin typeface="游ゴシック"/>
                <a:ea typeface="游ゴシック"/>
                <a:cs typeface="游ゴシック"/>
              </a:rPr>
              <a:t>対象会社の役職員および取引先への直接のご連絡はお控えください。</a:t>
            </a:r>
          </a:p>
        </p:txBody>
      </p:sp>
      <p:sp>
        <p:nvSpPr>
          <p:cNvPr id="7" name="TextBox 6"/>
          <p:cNvSpPr txBox="1"/>
          <p:nvPr/>
        </p:nvSpPr>
        <p:spPr>
          <a:xfrm>
            <a:off x="7004304" y="6967728"/>
            <a:ext cx="3291840" cy="201168"/>
          </a:xfrm>
          <a:prstGeom prst="rect">
            <a:avLst/>
          </a:prstGeom>
          <a:noFill/>
        </p:spPr>
        <p:txBody>
          <a:bodyPr wrap="square" lIns="0" rIns="0" tIns="0" bIns="0" anchor="t">
            <a:spAutoFit/>
          </a:bodyPr>
          <a:lstStyle/>
          <a:p>
            <a:pPr algn="r">
              <a:spcAft>
                <a:spcPts val="0"/>
              </a:spcAft>
            </a:pPr>
            <a:r>
              <a:rPr sz="850" b="0">
                <a:solidFill>
                  <a:srgbClr val="6E8692"/>
                </a:solidFill>
                <a:latin typeface="Arial"/>
                <a:ea typeface="Arial"/>
                <a:cs typeface="Arial"/>
              </a:rPr>
              <a:t>STRICTLY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