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792" r:id="rId14"/>
    <p:sldId id="779" r:id="rId15"/>
    <p:sldId id="797" r:id="rId16"/>
    <p:sldId id="802" r:id="rId41"/>
    <p:sldId id="803" r:id="rId40"/>
    <p:sldId id="771" r:id="rId17"/>
    <p:sldId id="780" r:id="rId18"/>
    <p:sldId id="789" r:id="rId19"/>
    <p:sldId id="790" r:id="rId21"/>
    <p:sldId id="793" r:id="rId22"/>
    <p:sldId id="791" r:id="rId23"/>
    <p:sldId id="795" r:id="rId24"/>
    <p:sldId id="773" r:id="rId25"/>
    <p:sldId id="784" r:id="rId26"/>
    <p:sldId id="785" r:id="rId27"/>
    <p:sldId id="786" r:id="rId28"/>
    <p:sldId id="787" r:id="rId29"/>
    <p:sldId id="782" r:id="rId30"/>
    <p:sldId id="783" r:id="rId31"/>
    <p:sldId id="794" r:id="rId32"/>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40" Type="http://schemas.openxmlformats.org/officeDocument/2006/relationships/slide" Target="slides/slide32.xml"/><Relationship Id="rId41" Type="http://schemas.openxmlformats.org/officeDocument/2006/relationships/slide" Target="slides/slide19.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632E-8F33-5004-67F5-94EAE2F17F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5829DE-8CC9-F6D1-1CB3-0AAF08ECBE2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A43D23F-F62E-70B9-7C4E-3904758C33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8AE4E59-2CAF-E95C-7A4D-AA069DEF9C97}"/>
              </a:ext>
            </a:extLst>
          </p:cNvPr>
          <p:cNvSpPr>
            <a:spLocks noGrp="1"/>
          </p:cNvSpPr>
          <p:nvPr>
            <p:ph type="sldNum" sz="quarter" idx="5"/>
          </p:nvPr>
        </p:nvSpPr>
        <p:spPr/>
        <p:txBody>
          <a:bodyPr/>
          <a:lstStyle/>
          <a:p>
            <a:fld id="{30FF3BCC-1A43-4D25-8467-E40EF431E2F1}" type="slidenum">
              <a:rPr kumimoji="1" lang="ja-JP" altLang="en-US" smtClean="0"/>
              <a:t>26</a:t>
            </a:fld>
            <a:endParaRPr kumimoji="1" lang="ja-JP" altLang="en-US"/>
          </a:p>
        </p:txBody>
      </p:sp>
    </p:spTree>
    <p:extLst>
      <p:ext uri="{BB962C8B-B14F-4D97-AF65-F5344CB8AC3E}">
        <p14:creationId xmlns:p14="http://schemas.microsoft.com/office/powerpoint/2010/main" val="21769181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t>企業概要書  </a:t>
            </a:r>
            <a:r>
              <a:rPr sz="2400"/>
              <a:t>&lt;そば店／北関東&gt;</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solidFill/>
              </a:rPr>
              <a:t>Information</a:t>
            </a:r>
            <a:r>
              <a:rPr lang="ja-JP" altLang="en-US" sz="1800" dirty="0">
                <a:solidFill/>
              </a:rPr>
              <a:t> </a:t>
            </a:r>
            <a:r>
              <a:rPr lang="en-US" altLang="ja-JP" sz="1800" dirty="0">
                <a:solidFill/>
              </a:rPr>
              <a:t>Memorandum</a:t>
            </a:r>
            <a:r>
              <a:rPr lang="zh-TW" altLang="en-US" dirty="0">
                <a:solidFill/>
              </a:rPr>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rPr>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sz="1100">
                          <a:latin typeface="游ゴシック"/>
                          <a:ea typeface="游ゴシック"/>
                          <a:cs typeface="游ゴシック"/>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solidFill/>
              </a:rPr>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solidFill/>
                <a:ea typeface="+mn-ea"/>
              </a:rPr>
              <a:t>当該企業概要書（以下、「本概要書」といいます）は、株式会社</a:t>
            </a:r>
            <a:r>
              <a:rPr lang="en-US" altLang="ja-JP" dirty="0">
                <a:solidFill/>
                <a:ea typeface="+mn-ea"/>
              </a:rPr>
              <a:t>M&amp;A</a:t>
            </a:r>
            <a:r>
              <a:rPr lang="ja-JP" altLang="en-US" dirty="0">
                <a:solidFill/>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solidFill/>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solidFill/>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solidFill/>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solidFill/>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solidFill/>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solidFill/>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食べログ「そば 百名店」の全国区ブランド。週4日・昼のみの営業で売上22,484千円、純資産23,658千円・金融機関借入なし</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5" name="Rectangle 14"/>
          <p:cNvSpPr/>
          <p:nvPr/>
        </p:nvSpPr>
        <p:spPr>
          <a:xfrm>
            <a:off x="310896" y="1517904"/>
            <a:ext cx="586130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会社概要</a:t>
            </a:r>
          </a:p>
        </p:txBody>
      </p:sp>
      <p:graphicFrame>
        <p:nvGraphicFramePr>
          <p:cNvPr id="16" name="Table 15"/>
          <p:cNvGraphicFramePr>
            <a:graphicFrameLocks noGrp="1"/>
          </p:cNvGraphicFramePr>
          <p:nvPr/>
        </p:nvGraphicFramePr>
        <p:xfrm>
          <a:off x="310896" y="1874519"/>
          <a:ext cx="5861304" cy="4818888"/>
        </p:xfrm>
        <a:graphic>
          <a:graphicData uri="http://schemas.openxmlformats.org/drawingml/2006/table">
            <a:tbl>
              <a:tblPr firstRow="0" bandRow="0">
                <a:tableStyleId>{5940675A-B579-460E-94D1-54222C63F5DA}</a:tableStyleId>
              </a:tblPr>
              <a:tblGrid>
                <a:gridCol w="1234440"/>
                <a:gridCol w="4626864"/>
              </a:tblGrid>
              <a:tr h="274320">
                <a:tc>
                  <a:txBody>
                    <a:bodyPr wrap="square"/>
                    <a:lstStyle/>
                    <a:p>
                      <a:pPr algn="ctr">
                        <a:spcAft>
                          <a:spcPts val="0"/>
                        </a:spcAft>
                      </a:pPr>
                      <a:r>
                        <a:rPr sz="85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株式会社慈久庵（店舗名：慈久庵／ https://www.jikyuan.co.jp/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1990年4月16日設立（第37期）　※2002年に東京・南阿佐ヶ谷から現在地へ移転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 130株（65.0％）、小川 喜久子 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そば店「慈久庵」の経営／蕎麦粉・小麦粉の製粉・卸売／乾麺・そばつゆ・醤等の製造販売・通信販売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金・土・日・月（定休：火・水・木）　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0名（代表者・配偶者の2名で運営。繁忙時は親族が就労）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6,801千円（2026年5月期）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ectangle 16"/>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100" b="1">
                <a:solidFill>
                  <a:srgbClr val="FFFFFF"/>
                </a:solidFill>
                <a:latin typeface="游ゴシック"/>
                <a:ea typeface="游ゴシック"/>
                <a:cs typeface="游ゴシック"/>
              </a:rPr>
              <a:t>本件のポイント</a:t>
            </a:r>
          </a:p>
        </p:txBody>
      </p:sp>
      <p:sp>
        <p:nvSpPr>
          <p:cNvPr id="18" name="Rectangle 17"/>
          <p:cNvSpPr/>
          <p:nvPr/>
        </p:nvSpPr>
        <p:spPr>
          <a:xfrm>
            <a:off x="6355080" y="192938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全国区のブランド</a:t>
            </a:r>
          </a:p>
          <a:p>
            <a:pPr>
              <a:lnSpc>
                <a:spcPct val="114000"/>
              </a:lnSpc>
            </a:pPr>
            <a:r>
              <a:rPr sz="900" b="0">
                <a:solidFill>
                  <a:srgbClr val="1A1A1A"/>
                </a:solidFill>
                <a:latin typeface="游ゴシック"/>
                <a:ea typeface="游ゴシック"/>
                <a:cs typeface="游ゴシック"/>
              </a:rPr>
              <a:t>食べログ「そば 百名店」選出、THE TABELOG AWARD 2022・2023 Bronze、Japan Restaurant Award 2016 茨城県TOP1</a:t>
            </a:r>
          </a:p>
        </p:txBody>
      </p:sp>
      <p:sp>
        <p:nvSpPr>
          <p:cNvPr id="19" name="Rectangle 18"/>
          <p:cNvSpPr/>
          <p:nvPr/>
        </p:nvSpPr>
        <p:spPr>
          <a:xfrm>
            <a:off x="6355080" y="288036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粗挽き蕎麦の第一人者</a:t>
            </a:r>
          </a:p>
          <a:p>
            <a:pPr>
              <a:lnSpc>
                <a:spcPct val="114000"/>
              </a:lnSpc>
            </a:pPr>
            <a:r>
              <a:rPr sz="900" b="0">
                <a:solidFill>
                  <a:srgbClr val="1A1A1A"/>
                </a:solidFill>
                <a:latin typeface="游ゴシック"/>
                <a:ea typeface="游ゴシック"/>
                <a:cs typeface="游ゴシック"/>
              </a:rPr>
              <a:t>代表者は荻窪「本むら庵」で8年修業。焼畑農法を再興して24年、著書も持つ業界内の著名人</a:t>
            </a:r>
          </a:p>
        </p:txBody>
      </p:sp>
      <p:sp>
        <p:nvSpPr>
          <p:cNvPr id="20" name="Rectangle 19"/>
          <p:cNvSpPr/>
          <p:nvPr/>
        </p:nvSpPr>
        <p:spPr>
          <a:xfrm>
            <a:off x="6355080" y="3831335"/>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4本柱の収益構造</a:t>
            </a:r>
          </a:p>
          <a:p>
            <a:pPr>
              <a:lnSpc>
                <a:spcPct val="114000"/>
              </a:lnSpc>
            </a:pPr>
            <a:r>
              <a:rPr sz="900" b="0">
                <a:solidFill>
                  <a:srgbClr val="1A1A1A"/>
                </a:solidFill>
                <a:latin typeface="游ゴシック"/>
                <a:ea typeface="游ゴシック"/>
                <a:cs typeface="游ゴシック"/>
              </a:rPr>
              <a:t>店頭飲食15,099千円のほか、製粉・卸売2,273千円、通信販売・物販1,789千円、関係先向け食材供給3,323千円</a:t>
            </a:r>
          </a:p>
        </p:txBody>
      </p:sp>
      <p:sp>
        <p:nvSpPr>
          <p:cNvPr id="21" name="Rectangle 20"/>
          <p:cNvSpPr/>
          <p:nvPr/>
        </p:nvSpPr>
        <p:spPr>
          <a:xfrm>
            <a:off x="6355080" y="478231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事業用不動産を自社保有</a:t>
            </a:r>
          </a:p>
          <a:p>
            <a:pPr>
              <a:lnSpc>
                <a:spcPct val="114000"/>
              </a:lnSpc>
            </a:pPr>
            <a:r>
              <a:rPr sz="900" b="0">
                <a:solidFill>
                  <a:srgbClr val="1A1A1A"/>
                </a:solidFill>
                <a:latin typeface="游ゴシック"/>
                <a:ea typeface="游ゴシック"/>
                <a:cs typeface="游ゴシック"/>
              </a:rPr>
              <a:t>代表者が設計し私財を投じた板倉造・茅葺きの店舗（取得価額104,599千円）と土地を保有。賃料負担なし</a:t>
            </a:r>
          </a:p>
        </p:txBody>
      </p:sp>
      <p:sp>
        <p:nvSpPr>
          <p:cNvPr id="22" name="Rectangle 21"/>
          <p:cNvSpPr/>
          <p:nvPr/>
        </p:nvSpPr>
        <p:spPr>
          <a:xfrm>
            <a:off x="6355080" y="573328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論点（要確認）</a:t>
            </a:r>
          </a:p>
          <a:p>
            <a:pPr>
              <a:lnSpc>
                <a:spcPct val="114000"/>
              </a:lnSpc>
            </a:pPr>
            <a:r>
              <a:rPr sz="900" b="0">
                <a:solidFill>
                  <a:srgbClr val="1A1A1A"/>
                </a:solidFill>
                <a:latin typeface="游ゴシック"/>
                <a:ea typeface="游ゴシック"/>
                <a:cs typeface="游ゴシック"/>
              </a:rPr>
              <a:t>売上は30,121→22,484千円と4期で25.4％減。代表者・配偶者は無報酬。店舗建物は未登記で2階に居住中</a:t>
            </a:r>
          </a:p>
        </p:txBody>
      </p:sp>
      <p:sp>
        <p:nvSpPr>
          <p:cNvPr id="23" name="TextBox 22"/>
          <p:cNvSpPr txBox="1"/>
          <p:nvPr/>
        </p:nvSpPr>
        <p:spPr>
          <a:xfrm>
            <a:off x="310896" y="6629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会社名・所在地・設立・資本金・株主・役員は法人登記簿（2026年9月15日現在）、営業日・外部評価は掲載誌および現地実査による。</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売上高は4期で25.4％減少し2026/5期は営業赤字。一方で年間7,012千円の減価償却費を戻した調整後EBITDAは6,801千円を確保</a:t>
            </a:r>
            <a:endParaRPr lang="en-US" altLang="ja-JP" dirty="0">
              <a:latin typeface="+mj-ea"/>
            </a:endParaRPr>
          </a:p>
        </p:txBody>
      </p:sp>
      <p:graphicFrame>
        <p:nvGraphicFramePr>
          <p:cNvPr id="17" name="Table 16"/>
          <p:cNvGraphicFramePr>
            <a:graphicFrameLocks noGrp="1"/>
          </p:cNvGraphicFramePr>
          <p:nvPr/>
        </p:nvGraphicFramePr>
        <p:xfrm>
          <a:off x="310896" y="1408176"/>
          <a:ext cx="6044184" cy="2774280"/>
        </p:xfrm>
        <a:graphic>
          <a:graphicData uri="http://schemas.openxmlformats.org/drawingml/2006/table">
            <a:tbl>
              <a:tblPr firstRow="0" bandRow="0">
                <a:tableStyleId>{5940675A-B579-460E-94D1-54222C63F5DA}</a:tableStyleId>
              </a:tblPr>
              <a:tblGrid>
                <a:gridCol w="2112264"/>
                <a:gridCol w="786384"/>
                <a:gridCol w="786384"/>
                <a:gridCol w="786384"/>
                <a:gridCol w="786384"/>
                <a:gridCol w="786384"/>
              </a:tblGrid>
              <a:tr h="228600">
                <a:tc>
                  <a:txBody>
                    <a:bodyPr wrap="square"/>
                    <a:lstStyle/>
                    <a:p>
                      <a:pPr algn="ctr">
                        <a:spcAft>
                          <a:spcPts val="0"/>
                        </a:spcAft>
                      </a:pPr>
                      <a:r>
                        <a:rPr sz="85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営業利益率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EBITDAマージン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Rectangle 17"/>
          <p:cNvSpPr/>
          <p:nvPr/>
        </p:nvSpPr>
        <p:spPr>
          <a:xfrm>
            <a:off x="310896" y="4645152"/>
            <a:ext cx="6044184" cy="1920240"/>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20624" y="4718304"/>
            <a:ext cx="5824728"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20" name="Rectangle 19"/>
          <p:cNvSpPr/>
          <p:nvPr/>
        </p:nvSpPr>
        <p:spPr>
          <a:xfrm>
            <a:off x="621792" y="5084064"/>
            <a:ext cx="663854" cy="1170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8640" y="4901183"/>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22" name="TextBox 21"/>
          <p:cNvSpPr txBox="1"/>
          <p:nvPr/>
        </p:nvSpPr>
        <p:spPr>
          <a:xfrm>
            <a:off x="548640"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3" name="Rectangle 22"/>
          <p:cNvSpPr/>
          <p:nvPr/>
        </p:nvSpPr>
        <p:spPr>
          <a:xfrm>
            <a:off x="1728216" y="5149150"/>
            <a:ext cx="663854" cy="11053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655064" y="496627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5" name="TextBox 24"/>
          <p:cNvSpPr txBox="1"/>
          <p:nvPr/>
        </p:nvSpPr>
        <p:spPr>
          <a:xfrm>
            <a:off x="1655064"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6" name="Rectangle 25"/>
          <p:cNvSpPr/>
          <p:nvPr/>
        </p:nvSpPr>
        <p:spPr>
          <a:xfrm>
            <a:off x="2834640" y="5304231"/>
            <a:ext cx="663854" cy="95026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761488" y="5121351"/>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8" name="TextBox 27"/>
          <p:cNvSpPr txBox="1"/>
          <p:nvPr/>
        </p:nvSpPr>
        <p:spPr>
          <a:xfrm>
            <a:off x="2761488"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9" name="Rectangle 28"/>
          <p:cNvSpPr/>
          <p:nvPr/>
        </p:nvSpPr>
        <p:spPr>
          <a:xfrm>
            <a:off x="3941064" y="5339708"/>
            <a:ext cx="663854" cy="91478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67912" y="5156828"/>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31" name="TextBox 30"/>
          <p:cNvSpPr txBox="1"/>
          <p:nvPr/>
        </p:nvSpPr>
        <p:spPr>
          <a:xfrm>
            <a:off x="3867912"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32" name="Rectangle 31"/>
          <p:cNvSpPr/>
          <p:nvPr/>
        </p:nvSpPr>
        <p:spPr>
          <a:xfrm>
            <a:off x="5047488" y="5380820"/>
            <a:ext cx="663854" cy="87367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74336" y="519794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4" name="TextBox 33"/>
          <p:cNvSpPr txBox="1"/>
          <p:nvPr/>
        </p:nvSpPr>
        <p:spPr>
          <a:xfrm>
            <a:off x="4974336"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5" name="Rectangle 34"/>
          <p:cNvSpPr/>
          <p:nvPr/>
        </p:nvSpPr>
        <p:spPr>
          <a:xfrm>
            <a:off x="530352" y="6254496"/>
            <a:ext cx="5641848"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55664" y="1380744"/>
            <a:ext cx="3922776" cy="31089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47103" y="1453896"/>
            <a:ext cx="373989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8" name="TextBox 37"/>
          <p:cNvSpPr txBox="1"/>
          <p:nvPr/>
        </p:nvSpPr>
        <p:spPr>
          <a:xfrm>
            <a:off x="6565392" y="1801368"/>
            <a:ext cx="3703320" cy="2596896"/>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≪売上高≫ </a:t>
            </a:r>
            <a:r>
              <a:rPr sz="800" b="0">
                <a:solidFill>
                  <a:srgbClr val="1A1A1A"/>
                </a:solidFill>
                <a:latin typeface="游ゴシック"/>
                <a:ea typeface="游ゴシック"/>
                <a:cs typeface="游ゴシック"/>
              </a:rPr>
              <a:t>30,121→22,484千円（4期で△25.4%）。営業日数は203→200日とほぼ一定であり、減収は店頭日商の低下（86→75千円）による。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≪売上総利益≫ </a:t>
            </a:r>
            <a:r>
              <a:rPr sz="800" b="0">
                <a:solidFill>
                  <a:srgbClr val="1A1A1A"/>
                </a:solidFill>
                <a:latin typeface="游ゴシック"/>
                <a:ea typeface="游ゴシック"/>
                <a:cs typeface="游ゴシック"/>
              </a:rPr>
              <a:t>粗利率は43.2→26.9％へ低下。製造原価の42.3％を占める減価償却費7,012千円が固定費であり、減収が粗利率低下に直結する。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≪営業利益≫ </a:t>
            </a:r>
            <a:r>
              <a:rPr sz="800" b="0">
                <a:solidFill>
                  <a:srgbClr val="1A1A1A"/>
                </a:solidFill>
                <a:latin typeface="游ゴシック"/>
                <a:ea typeface="游ゴシック"/>
                <a:cs typeface="游ゴシック"/>
              </a:rPr>
              <a:t>2026/5期は△211千円。販管費6,267千円は前期比ほぼ横ばいで、赤字化は粗利の減少による。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≪見通し≫ </a:t>
            </a:r>
            <a:r>
              <a:rPr sz="800" b="0">
                <a:solidFill>
                  <a:srgbClr val="1A1A1A"/>
                </a:solidFill>
                <a:latin typeface="游ゴシック"/>
                <a:ea typeface="游ゴシック"/>
                <a:cs typeface="游ゴシック"/>
              </a:rPr>
              <a:t>減価償却費は旧定額法・旧定率法の資産が中心で今後逓減。営業日数・営業時間の拡大が最も直接的な改善策（P.17）。</a:t>
            </a:r>
          </a:p>
        </p:txBody>
      </p:sp>
      <p:sp>
        <p:nvSpPr>
          <p:cNvPr id="39" name="Rectangle 38"/>
          <p:cNvSpPr/>
          <p:nvPr/>
        </p:nvSpPr>
        <p:spPr>
          <a:xfrm>
            <a:off x="6455664" y="4608576"/>
            <a:ext cx="3922776" cy="197510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47103" y="4681728"/>
            <a:ext cx="373989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【調整項目】</a:t>
            </a:r>
          </a:p>
        </p:txBody>
      </p:sp>
      <p:sp>
        <p:nvSpPr>
          <p:cNvPr id="41" name="TextBox 40"/>
          <p:cNvSpPr txBox="1"/>
          <p:nvPr/>
        </p:nvSpPr>
        <p:spPr>
          <a:xfrm>
            <a:off x="6565392" y="5029200"/>
            <a:ext cx="3703320" cy="1463040"/>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≪P/L上の調整項目≫ </a:t>
            </a:r>
            <a:r>
              <a:rPr sz="800" b="0">
                <a:solidFill>
                  <a:srgbClr val="1A1A1A"/>
                </a:solidFill>
                <a:latin typeface="游ゴシック"/>
                <a:ea typeface="游ゴシック"/>
                <a:cs typeface="游ゴシック"/>
              </a:rPr>
              <a:t>加減算すべき項目は認められない。代表者・配偶者は無報酬のため加算すべき役員報酬はゼロ。補助金収入・圧縮記帳損等の非経常損益は営業外に計上。</a:t>
            </a:r>
          </a:p>
          <a:p>
            <a:pPr algn="l">
              <a:spcAft>
                <a:spcPts val="200"/>
              </a:spcAft>
            </a:pPr>
          </a:p>
          <a:p>
            <a:pPr algn="l">
              <a:spcAft>
                <a:spcPts val="200"/>
              </a:spcAft>
            </a:pPr>
            <a:r>
              <a:rPr sz="850" b="1">
                <a:solidFill>
                  <a:srgbClr val="0B3041"/>
                </a:solidFill>
                <a:latin typeface="游ゴシック"/>
                <a:ea typeface="游ゴシック"/>
                <a:cs typeface="游ゴシック"/>
              </a:rPr>
              <a:t>✓ 調整後EBITDA（過去3期平均）7,908千円</a:t>
            </a:r>
          </a:p>
          <a:p>
            <a:pPr algn="l">
              <a:spcAft>
                <a:spcPts val="200"/>
              </a:spcAft>
            </a:pPr>
            <a:r>
              <a:rPr sz="850" b="1">
                <a:solidFill>
                  <a:srgbClr val="0B3041"/>
                </a:solidFill>
                <a:latin typeface="游ゴシック"/>
                <a:ea typeface="游ゴシック"/>
                <a:cs typeface="游ゴシック"/>
              </a:rPr>
              <a:t>✓ 直近2期平均 7,688千円</a:t>
            </a:r>
          </a:p>
          <a:p>
            <a:pPr algn="l">
              <a:spcAft>
                <a:spcPts val="200"/>
              </a:spcAft>
            </a:pPr>
          </a:p>
          <a:p>
            <a:pPr algn="l">
              <a:lnSpc>
                <a:spcPct val="116000"/>
              </a:lnSpc>
              <a:spcAft>
                <a:spcPts val="200"/>
              </a:spcAft>
            </a:pPr>
            <a:r>
              <a:rPr sz="760" b="0">
                <a:solidFill>
                  <a:srgbClr val="5A6670"/>
                </a:solidFill>
                <a:latin typeface="游ゴシック"/>
                <a:ea typeface="游ゴシック"/>
                <a:cs typeface="游ゴシック"/>
              </a:rPr>
              <a:t>※ 代表者・配偶者が無報酬であるため、新体制では職人人件費の手当が必要。感応度は P.17 に記載。</a:t>
            </a:r>
          </a:p>
        </p:txBody>
      </p:sp>
      <p:sp>
        <p:nvSpPr>
          <p:cNvPr id="42" name="TextBox 41"/>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2022/5期・2023/5期は決算書からの直接転記。2024/5期以降は案件マスター（PLシート）の数値。調整後EBITDA＝営業利益＋減価償却費。</a:t>
            </a:r>
          </a:p>
          <a:p>
            <a:pPr algn="l">
              <a:lnSpc>
                <a:spcPct val="112000"/>
              </a:lnSpc>
              <a:spcAft>
                <a:spcPts val="100"/>
              </a:spcAft>
            </a:pPr>
            <a:r>
              <a:rPr sz="750" b="0">
                <a:solidFill>
                  <a:srgbClr val="5A6670"/>
                </a:solidFill>
                <a:latin typeface="游ゴシック"/>
                <a:ea typeface="游ゴシック"/>
                <a:cs typeface="游ゴシック"/>
              </a:rPr>
              <a:t>※ 減価償却費は製造原価報告書計上額（2024/5期のみ販管費115千円を含む）。</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金融機関借入はゼロ。負債33,673千円のうち32,744千円は代表者・配偶者からの無利息借入で、実質的な純資産は厚い</a:t>
            </a:r>
            <a:endParaRPr lang="en-US" altLang="ja-JP" dirty="0"/>
          </a:p>
        </p:txBody>
      </p:sp>
      <p:graphicFrame>
        <p:nvGraphicFramePr>
          <p:cNvPr id="14" name="Table 13"/>
          <p:cNvGraphicFramePr>
            <a:graphicFrameLocks noGrp="1"/>
          </p:cNvGraphicFramePr>
          <p:nvPr/>
        </p:nvGraphicFramePr>
        <p:xfrm>
          <a:off x="338328" y="1380744"/>
          <a:ext cx="5001766" cy="3570732"/>
        </p:xfrm>
        <a:graphic>
          <a:graphicData uri="http://schemas.openxmlformats.org/drawingml/2006/table">
            <a:tbl>
              <a:tblPr firstRow="0" bandRow="0">
                <a:tableStyleId>{5940675A-B579-460E-94D1-54222C63F5DA}</a:tableStyleId>
              </a:tblPr>
              <a:tblGrid>
                <a:gridCol w="1641801"/>
                <a:gridCol w="801810"/>
                <a:gridCol w="114544"/>
                <a:gridCol w="1641801"/>
                <a:gridCol w="801810"/>
              </a:tblGrid>
              <a:tr h="228600">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　</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559552" y="1380744"/>
            <a:ext cx="4791456" cy="250545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50992" y="1453896"/>
            <a:ext cx="46085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669280" y="1801368"/>
            <a:ext cx="4572000" cy="1993392"/>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≪建物 39,249千円≫ </a:t>
            </a:r>
            <a:r>
              <a:rPr sz="800" b="0">
                <a:solidFill>
                  <a:srgbClr val="1A1A1A"/>
                </a:solidFill>
                <a:latin typeface="游ゴシック"/>
                <a:ea typeface="游ゴシック"/>
                <a:cs typeface="游ゴシック"/>
              </a:rPr>
              <a:t>取得価額104,599千円。代表者が設計し私財を投じた板倉造・茅葺きの店舗。うち塩町館関連5,442千円は当社の事業に未供用。店舗建物は未登記。</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≪長期借入金 32,744千円≫ </a:t>
            </a:r>
            <a:r>
              <a:rPr sz="800" b="0">
                <a:solidFill>
                  <a:srgbClr val="1A1A1A"/>
                </a:solidFill>
                <a:latin typeface="游ゴシック"/>
                <a:ea typeface="游ゴシック"/>
                <a:cs typeface="游ゴシック"/>
              </a:rPr>
              <a:t>全額が代表者（9,518千円）・配偶者（23,226千円）からの借入。金融機関借入・連帯保証はなく利息の支払もない。本件実行時の取扱いは応相談。</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≪未収入金 3,323千円 ※1≫ </a:t>
            </a:r>
            <a:r>
              <a:rPr sz="800" b="0">
                <a:solidFill>
                  <a:srgbClr val="1A1A1A"/>
                </a:solidFill>
                <a:latin typeface="游ゴシック"/>
                <a:ea typeface="游ゴシック"/>
                <a:cs typeface="游ゴシック"/>
              </a:rPr>
              <a:t>塩町館2,624千円・小びと699千円。2,152→2,737→3,323千円と3期連続で増加しており、回収条件・回収可能性は要確認。</a:t>
            </a:r>
          </a:p>
        </p:txBody>
      </p:sp>
      <p:sp>
        <p:nvSpPr>
          <p:cNvPr id="18" name="Rectangle 17"/>
          <p:cNvSpPr/>
          <p:nvPr/>
        </p:nvSpPr>
        <p:spPr>
          <a:xfrm>
            <a:off x="5559552" y="4005072"/>
            <a:ext cx="4791456" cy="257860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50992" y="4078224"/>
            <a:ext cx="460857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【時価修正の着眼点】</a:t>
            </a:r>
          </a:p>
        </p:txBody>
      </p:sp>
      <p:sp>
        <p:nvSpPr>
          <p:cNvPr id="20" name="TextBox 19"/>
          <p:cNvSpPr txBox="1"/>
          <p:nvPr/>
        </p:nvSpPr>
        <p:spPr>
          <a:xfrm>
            <a:off x="5669280" y="4425696"/>
            <a:ext cx="4572000" cy="2066543"/>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≪土地 3,450千円≫ </a:t>
            </a:r>
            <a:r>
              <a:rPr sz="800" b="0">
                <a:solidFill>
                  <a:srgbClr val="1A1A1A"/>
                </a:solidFill>
                <a:latin typeface="游ゴシック"/>
                <a:ea typeface="游ゴシック"/>
                <a:cs typeface="游ゴシック"/>
              </a:rPr>
              <a:t>簿価は取得原価。路線価・固定資産税評価額による時価評価は未実施（要確認）。</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≪車両運搬具 2千円 ※3≫ </a:t>
            </a:r>
            <a:r>
              <a:rPr sz="800" b="0">
                <a:solidFill>
                  <a:srgbClr val="1A1A1A"/>
                </a:solidFill>
                <a:latin typeface="游ゴシック"/>
                <a:ea typeface="游ゴシック"/>
                <a:cs typeface="游ゴシック"/>
              </a:rPr>
              <a:t>ローバー車・シトロエン2CVフォルゴネットの2台。いずれも償却済（簿価1円）で、時価評価の余地あり。譲渡対象の要否は要協議。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≪出資金 1,100千円 ※4≫ </a:t>
            </a:r>
            <a:r>
              <a:rPr sz="80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≪簿外の価値≫ </a:t>
            </a:r>
            <a:r>
              <a:rPr sz="800" b="0">
                <a:solidFill>
                  <a:srgbClr val="1A1A1A"/>
                </a:solidFill>
                <a:latin typeface="游ゴシック"/>
                <a:ea typeface="游ゴシック"/>
                <a:cs typeface="游ゴシック"/>
              </a:rPr>
              <a:t>商標権（登録4件）は償却済で簿価ゼロ。「慈久庵」「古式けんちんそば」のブランド価値はB/Sに反映されていない。</a:t>
            </a:r>
          </a:p>
        </p:txBody>
      </p:sp>
      <p:sp>
        <p:nvSpPr>
          <p:cNvPr id="21" name="TextBox 2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2026年5月期（2026年5月31日）の決算書および勘定科目内訳明細書に基づく。時価純資産の算定は未了。千円未満の端数処理により合計が一致しない場合がある。</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solidFill/>
              </a:rPr>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sz="1200" b="1">
                <a:latin typeface="游ゴシック"/>
                <a:ea typeface="游ゴシック"/>
                <a:cs typeface="游ゴシック"/>
              </a:rPr>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pPr>
              <a:lnSpc>
                <a:spcPct val="126000"/>
              </a:lnSpc>
              <a:buNone/>
            </a:pPr>
            <a:r>
              <a:rPr sz="1800" b="1">
                <a:solidFill>
                  <a:srgbClr val="0B3041"/>
                </a:solidFill>
                <a:latin typeface="游ゴシック"/>
                <a:ea typeface="游ゴシック"/>
                <a:cs typeface="游ゴシック"/>
              </a:rPr>
              <a:t>株式譲渡（発行済株式100％）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lnSpc>
                <a:spcPct val="126000"/>
              </a:lnSpc>
              <a:buNone/>
            </a:pPr>
            <a:r>
              <a:rPr sz="1200" b="0">
                <a:solidFill>
                  <a:srgbClr val="0B3041"/>
                </a:solidFill>
                <a:latin typeface="游ゴシック"/>
                <a:ea typeface="游ゴシック"/>
                <a:cs typeface="游ゴシック"/>
              </a:rPr>
              <a:t>応相談　※純資産23,658千円（2026/5期）を一つの目線としつつ、価額より事業の継続性を重視</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lnSpc>
                <a:spcPct val="126000"/>
              </a:lnSpc>
              <a:spcAft>
                <a:spcPts val="200"/>
              </a:spcAft>
              <a:buClr>
                <a:schemeClr val="tx2"/>
              </a:buClr>
              <a:buFont typeface="游ゴシック" panose="020B0400000000000000" pitchFamily="50" charset="-128"/>
              <a:buNone/>
            </a:pPr>
            <a:r>
              <a:rPr sz="1000" b="0">
                <a:solidFill>
                  <a:srgbClr val="0B3041"/>
                </a:solidFill>
                <a:latin typeface="游ゴシック"/>
                <a:ea typeface="游ゴシック"/>
                <a:cs typeface="游ゴシック"/>
              </a:rPr>
              <a:t>代表者・配偶者は引継ぎ完了後に退任（引継ぎ期間・方式は応相談）</a:t>
            </a:r>
            <a:endParaRPr lang="en-US" altLang="ja-JP" spc="50" dirty="0"/>
          </a:p>
          <a:p>
            <a:pPr>
              <a:lnSpc>
                <a:spcPct val="126000"/>
              </a:lnSpc>
              <a:buNone/>
            </a:pPr>
            <a:r>
              <a:rPr sz="1000" b="0">
                <a:solidFill>
                  <a:srgbClr val="0B3041"/>
                </a:solidFill>
                <a:latin typeface="游ゴシック"/>
                <a:ea typeface="游ゴシック"/>
                <a:cs typeface="游ゴシック"/>
              </a:rPr>
              <a:t>代表者・配偶者からの借入金32,744千円の取扱い（返済・相殺・債務免除等）は応相談</a:t>
            </a:r>
          </a:p>
          <a:p>
            <a:pPr>
              <a:lnSpc>
                <a:spcPct val="126000"/>
              </a:lnSpc>
              <a:buNone/>
            </a:pPr>
            <a:r>
              <a:rPr sz="1000" b="0">
                <a:solidFill>
                  <a:srgbClr val="0B3041"/>
                </a:solidFill>
                <a:latin typeface="游ゴシック"/>
                <a:ea typeface="游ゴシック"/>
                <a:cs typeface="游ゴシック"/>
              </a:rPr>
              <a:t>店舗2階に代表者夫妻が居住中。明渡しの時期・条件は協議事項（金融機関借入・連帯保証はなし）</a:t>
            </a:r>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pPr>
              <a:lnSpc>
                <a:spcPct val="126000"/>
              </a:lnSpc>
              <a:buNone/>
            </a:pPr>
            <a:r>
              <a:rPr sz="1200" b="0">
                <a:solidFill>
                  <a:srgbClr val="0B3041"/>
                </a:solidFill>
                <a:latin typeface="游ゴシック"/>
                <a:ea typeface="游ゴシック"/>
                <a:cs typeface="游ゴシック"/>
              </a:rPr>
              <a:t>後継者不在。①「慈久庵」の店舗を守り蕎麦屋として継続すること、②将来的に店舗を広げられることを重視</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9" name="TextBox 268"/>
          <p:cNvSpPr txBox="1"/>
          <p:nvPr/>
        </p:nvSpPr>
        <p:spPr>
          <a:xfrm>
            <a:off x="310896" y="696772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a:latin typeface="游ゴシック"/>
                <a:ea typeface="游ゴシック"/>
                <a:cs typeface="游ゴシック"/>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店頭飲食が売上の67％。残りは石臼挽き小麦粉・玄そばの卸売と通信販売で、いずれも慈久庵ブランドを前提とした直接取引</a:t>
            </a:r>
            <a:endParaRPr lang="en-US" altLang="ja-JP" dirty="0"/>
          </a:p>
        </p:txBody>
      </p:sp>
      <p:sp>
        <p:nvSpPr>
          <p:cNvPr id="36" name="Rectangle 35"/>
          <p:cNvSpPr/>
          <p:nvPr/>
        </p:nvSpPr>
        <p:spPr>
          <a:xfrm>
            <a:off x="4078224" y="2615184"/>
            <a:ext cx="2542032" cy="17007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78224" y="2761488"/>
            <a:ext cx="2542032" cy="256032"/>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38" name="TextBox 37"/>
          <p:cNvSpPr txBox="1"/>
          <p:nvPr/>
        </p:nvSpPr>
        <p:spPr>
          <a:xfrm>
            <a:off x="4206240" y="3127248"/>
            <a:ext cx="2286000" cy="1097280"/>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39" name="TextBox 38"/>
          <p:cNvSpPr txBox="1"/>
          <p:nvPr/>
        </p:nvSpPr>
        <p:spPr>
          <a:xfrm>
            <a:off x="310896"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主要仕入先</a:t>
            </a:r>
          </a:p>
        </p:txBody>
      </p:sp>
      <p:sp>
        <p:nvSpPr>
          <p:cNvPr id="40" name="TextBox 39"/>
          <p:cNvSpPr txBox="1"/>
          <p:nvPr/>
        </p:nvSpPr>
        <p:spPr>
          <a:xfrm>
            <a:off x="7095744"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主要販売先</a:t>
            </a:r>
          </a:p>
        </p:txBody>
      </p:sp>
      <p:sp>
        <p:nvSpPr>
          <p:cNvPr id="41" name="Rectangle 40"/>
          <p:cNvSpPr/>
          <p:nvPr/>
        </p:nvSpPr>
        <p:spPr>
          <a:xfrm>
            <a:off x="310896"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96"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玄そば（常陸秋そば）</a:t>
            </a:r>
          </a:p>
        </p:txBody>
      </p:sp>
      <p:sp>
        <p:nvSpPr>
          <p:cNvPr id="44" name="TextBox 43"/>
          <p:cNvSpPr txBox="1"/>
          <p:nvPr/>
        </p:nvSpPr>
        <p:spPr>
          <a:xfrm>
            <a:off x="457200"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海老根 章 氏 660千円／地元生産者</a:t>
            </a:r>
          </a:p>
          <a:p>
            <a:pPr algn="l">
              <a:lnSpc>
                <a:spcPct val="118000"/>
              </a:lnSpc>
              <a:spcAft>
                <a:spcPts val="100"/>
              </a:spcAft>
            </a:pPr>
            <a:r>
              <a:rPr sz="830" b="0">
                <a:solidFill>
                  <a:srgbClr val="5A6670"/>
                </a:solidFill>
                <a:latin typeface="游ゴシック"/>
                <a:ea typeface="游ゴシック"/>
                <a:cs typeface="游ゴシック"/>
              </a:rPr>
              <a:t>自家栽培（焼畑）分を併用</a:t>
            </a:r>
          </a:p>
        </p:txBody>
      </p:sp>
      <p:sp>
        <p:nvSpPr>
          <p:cNvPr id="45" name="Rectangle 44"/>
          <p:cNvSpPr/>
          <p:nvPr/>
        </p:nvSpPr>
        <p:spPr>
          <a:xfrm>
            <a:off x="3602736" y="222016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10896"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10896"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57200"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小麦</a:t>
            </a:r>
          </a:p>
        </p:txBody>
      </p:sp>
      <p:sp>
        <p:nvSpPr>
          <p:cNvPr id="49" name="TextBox 48"/>
          <p:cNvSpPr txBox="1"/>
          <p:nvPr/>
        </p:nvSpPr>
        <p:spPr>
          <a:xfrm>
            <a:off x="457200"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ミルキーウェーブ（外岡 清秀）1,155千円</a:t>
            </a:r>
          </a:p>
          <a:p>
            <a:pPr algn="l">
              <a:lnSpc>
                <a:spcPct val="118000"/>
              </a:lnSpc>
              <a:spcAft>
                <a:spcPts val="100"/>
              </a:spcAft>
            </a:pPr>
            <a:r>
              <a:rPr sz="830" b="0">
                <a:solidFill>
                  <a:srgbClr val="5A6670"/>
                </a:solidFill>
                <a:latin typeface="游ゴシック"/>
                <a:ea typeface="游ゴシック"/>
                <a:cs typeface="游ゴシック"/>
              </a:rPr>
              <a:t>材料仕入高の25.1％を占める最大の仕入先</a:t>
            </a:r>
          </a:p>
        </p:txBody>
      </p:sp>
      <p:sp>
        <p:nvSpPr>
          <p:cNvPr id="50" name="Rectangle 49"/>
          <p:cNvSpPr/>
          <p:nvPr/>
        </p:nvSpPr>
        <p:spPr>
          <a:xfrm>
            <a:off x="3602736" y="3244291"/>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10896"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10896"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食材・調味料</a:t>
            </a:r>
          </a:p>
        </p:txBody>
      </p:sp>
      <p:sp>
        <p:nvSpPr>
          <p:cNvPr id="54" name="TextBox 53"/>
          <p:cNvSpPr txBox="1"/>
          <p:nvPr/>
        </p:nvSpPr>
        <p:spPr>
          <a:xfrm>
            <a:off x="457200"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（株）鈴木商店334千円、健興通商477千円</a:t>
            </a:r>
          </a:p>
          <a:p>
            <a:pPr algn="l">
              <a:lnSpc>
                <a:spcPct val="118000"/>
              </a:lnSpc>
              <a:spcAft>
                <a:spcPts val="100"/>
              </a:spcAft>
            </a:pPr>
            <a:r>
              <a:rPr sz="830" b="0">
                <a:solidFill>
                  <a:srgbClr val="5A6670"/>
                </a:solidFill>
                <a:latin typeface="游ゴシック"/>
                <a:ea typeface="游ゴシック"/>
                <a:cs typeface="游ゴシック"/>
              </a:rPr>
              <a:t>西崎ファーム（鴨肉）、岩魚郷北条屋敷 ほか</a:t>
            </a:r>
          </a:p>
        </p:txBody>
      </p:sp>
      <p:sp>
        <p:nvSpPr>
          <p:cNvPr id="55" name="Rectangle 54"/>
          <p:cNvSpPr/>
          <p:nvPr/>
        </p:nvSpPr>
        <p:spPr>
          <a:xfrm>
            <a:off x="3602736" y="426841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310896" y="4846320"/>
            <a:ext cx="3291840" cy="786384"/>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310896" y="4846320"/>
            <a:ext cx="50292"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製粉外注</a:t>
            </a:r>
          </a:p>
        </p:txBody>
      </p:sp>
      <p:sp>
        <p:nvSpPr>
          <p:cNvPr id="59" name="TextBox 58"/>
          <p:cNvSpPr txBox="1"/>
          <p:nvPr/>
        </p:nvSpPr>
        <p:spPr>
          <a:xfrm>
            <a:off x="457200"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伊勢又米穀製粉（株）267千円</a:t>
            </a:r>
          </a:p>
          <a:p>
            <a:pPr algn="l">
              <a:lnSpc>
                <a:spcPct val="118000"/>
              </a:lnSpc>
              <a:spcAft>
                <a:spcPts val="100"/>
              </a:spcAft>
            </a:pPr>
            <a:r>
              <a:rPr sz="830" b="0">
                <a:solidFill>
                  <a:srgbClr val="5A6670"/>
                </a:solidFill>
                <a:latin typeface="游ゴシック"/>
                <a:ea typeface="游ゴシック"/>
                <a:cs typeface="游ゴシック"/>
              </a:rPr>
              <a:t>※関係会社との関係整理は要確認</a:t>
            </a:r>
          </a:p>
        </p:txBody>
      </p:sp>
      <p:sp>
        <p:nvSpPr>
          <p:cNvPr id="60" name="Rectangle 59"/>
          <p:cNvSpPr/>
          <p:nvPr/>
        </p:nvSpPr>
        <p:spPr>
          <a:xfrm>
            <a:off x="3602736" y="522853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095744"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095744"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42048"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64" name="TextBox 63"/>
          <p:cNvSpPr txBox="1"/>
          <p:nvPr/>
        </p:nvSpPr>
        <p:spPr>
          <a:xfrm>
            <a:off x="7242048"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一般消費者／昼のみ・売り切りじまい</a:t>
            </a:r>
          </a:p>
          <a:p>
            <a:pPr algn="l">
              <a:lnSpc>
                <a:spcPct val="118000"/>
              </a:lnSpc>
              <a:spcAft>
                <a:spcPts val="100"/>
              </a:spcAft>
            </a:pPr>
            <a:r>
              <a:rPr sz="830" b="0">
                <a:solidFill>
                  <a:srgbClr val="5A6670"/>
                </a:solidFill>
                <a:latin typeface="游ゴシック"/>
                <a:ea typeface="游ゴシック"/>
                <a:cs typeface="游ゴシック"/>
              </a:rPr>
              <a:t>年間営業日200日・日商平均75千円</a:t>
            </a:r>
          </a:p>
        </p:txBody>
      </p:sp>
      <p:sp>
        <p:nvSpPr>
          <p:cNvPr id="65" name="Rectangle 64"/>
          <p:cNvSpPr/>
          <p:nvPr/>
        </p:nvSpPr>
        <p:spPr>
          <a:xfrm>
            <a:off x="6620256" y="2220163"/>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7095744"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7095744"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242048"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69" name="TextBox 68"/>
          <p:cNvSpPr txBox="1"/>
          <p:nvPr/>
        </p:nvSpPr>
        <p:spPr>
          <a:xfrm>
            <a:off x="7242048"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キビヤベーカリー1,865千円、ルヴァン㈱231千円</a:t>
            </a:r>
          </a:p>
          <a:p>
            <a:pPr algn="l">
              <a:lnSpc>
                <a:spcPct val="118000"/>
              </a:lnSpc>
              <a:spcAft>
                <a:spcPts val="100"/>
              </a:spcAft>
            </a:pPr>
            <a:r>
              <a:rPr sz="830" b="0">
                <a:solidFill>
                  <a:srgbClr val="5A6670"/>
                </a:solidFill>
                <a:latin typeface="游ゴシック"/>
                <a:ea typeface="游ゴシック"/>
                <a:cs typeface="游ゴシック"/>
              </a:rPr>
              <a:t>（株）シオミ169千円／著名ベーカリー向け</a:t>
            </a:r>
          </a:p>
        </p:txBody>
      </p:sp>
      <p:sp>
        <p:nvSpPr>
          <p:cNvPr id="70" name="Rectangle 69"/>
          <p:cNvSpPr/>
          <p:nvPr/>
        </p:nvSpPr>
        <p:spPr>
          <a:xfrm>
            <a:off x="6620256" y="3244291"/>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7095744"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7095744"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242048"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通信販売・物販　1,789千円（8.0％）</a:t>
            </a:r>
          </a:p>
        </p:txBody>
      </p:sp>
      <p:sp>
        <p:nvSpPr>
          <p:cNvPr id="74" name="TextBox 73"/>
          <p:cNvSpPr txBox="1"/>
          <p:nvPr/>
        </p:nvSpPr>
        <p:spPr>
          <a:xfrm>
            <a:off x="7242048"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Ｅコレクトサガワ（代引通販）1,020千円</a:t>
            </a:r>
          </a:p>
          <a:p>
            <a:pPr algn="l">
              <a:lnSpc>
                <a:spcPct val="118000"/>
              </a:lnSpc>
              <a:spcAft>
                <a:spcPts val="100"/>
              </a:spcAft>
            </a:pPr>
            <a:r>
              <a:rPr sz="830" b="0">
                <a:solidFill>
                  <a:srgbClr val="5A6670"/>
                </a:solidFill>
                <a:latin typeface="游ゴシック"/>
                <a:ea typeface="游ゴシック"/>
                <a:cs typeface="游ゴシック"/>
              </a:rPr>
              <a:t>水府振興公社274千円、アマゾン166千円 ほか</a:t>
            </a:r>
          </a:p>
        </p:txBody>
      </p:sp>
      <p:sp>
        <p:nvSpPr>
          <p:cNvPr id="75" name="Rectangle 74"/>
          <p:cNvSpPr/>
          <p:nvPr/>
        </p:nvSpPr>
        <p:spPr>
          <a:xfrm>
            <a:off x="6620256" y="4268419"/>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7095744" y="4846320"/>
            <a:ext cx="3291840" cy="786384"/>
          </a:xfrm>
          <a:prstGeom prst="rect">
            <a:avLst/>
          </a:prstGeom>
          <a:solidFill>
            <a:srgbClr val="FCF3F2"/>
          </a:solidFill>
          <a:ln w="1270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7095744" y="4846320"/>
            <a:ext cx="50292" cy="78638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242048"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関係先への食材供給　3,323千円</a:t>
            </a:r>
          </a:p>
        </p:txBody>
      </p:sp>
      <p:sp>
        <p:nvSpPr>
          <p:cNvPr id="79" name="TextBox 78"/>
          <p:cNvSpPr txBox="1"/>
          <p:nvPr/>
        </p:nvSpPr>
        <p:spPr>
          <a:xfrm>
            <a:off x="7242048"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塩町館2,624千円、小びと699千円</a:t>
            </a:r>
          </a:p>
          <a:p>
            <a:pPr algn="l">
              <a:lnSpc>
                <a:spcPct val="118000"/>
              </a:lnSpc>
              <a:spcAft>
                <a:spcPts val="100"/>
              </a:spcAft>
            </a:pPr>
            <a:r>
              <a:rPr sz="830" b="0">
                <a:solidFill>
                  <a:srgbClr val="5A6670"/>
                </a:solidFill>
                <a:latin typeface="游ゴシック"/>
                <a:ea typeface="游ゴシック"/>
                <a:cs typeface="游ゴシック"/>
              </a:rPr>
              <a:t>※回収状況は要確認（P.7）</a:t>
            </a:r>
          </a:p>
        </p:txBody>
      </p:sp>
      <p:sp>
        <p:nvSpPr>
          <p:cNvPr id="80" name="Rectangle 79"/>
          <p:cNvSpPr/>
          <p:nvPr/>
        </p:nvSpPr>
        <p:spPr>
          <a:xfrm>
            <a:off x="6620256" y="5228539"/>
            <a:ext cx="475487" cy="21945"/>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4078224" y="4590288"/>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玄そば・小麦・食材</a:t>
            </a:r>
          </a:p>
        </p:txBody>
      </p:sp>
      <p:sp>
        <p:nvSpPr>
          <p:cNvPr id="82" name="TextBox 81"/>
          <p:cNvSpPr txBox="1"/>
          <p:nvPr/>
        </p:nvSpPr>
        <p:spPr>
          <a:xfrm>
            <a:off x="4078224" y="2340864"/>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蕎麦・蕎麦粉・小麦粉・商品</a:t>
            </a:r>
          </a:p>
        </p:txBody>
      </p:sp>
      <p:sp>
        <p:nvSpPr>
          <p:cNvPr id="83" name="TextBox 82"/>
          <p:cNvSpPr txBox="1"/>
          <p:nvPr/>
        </p:nvSpPr>
        <p:spPr>
          <a:xfrm>
            <a:off x="310896" y="58521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金額はいずれも2026年5月期。総勘定元帳の相手科目・取引先欄により弊社が集計したものであり、決算書の勘定科目区分とは一致しない。</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a:latin typeface="游ゴシック"/>
                <a:ea typeface="游ゴシック"/>
                <a:cs typeface="游ゴシック"/>
              </a:rPr>
              <a:t>「慈久庵」というブランドと代表者</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310896" y="1444752"/>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代表者 小川 宣夫 氏の歩み</a:t>
            </a:r>
          </a:p>
        </p:txBody>
      </p:sp>
      <p:graphicFrame>
        <p:nvGraphicFramePr>
          <p:cNvPr id="5" name="Table 4"/>
          <p:cNvGraphicFramePr>
            <a:graphicFrameLocks noGrp="1"/>
          </p:cNvGraphicFramePr>
          <p:nvPr/>
        </p:nvGraphicFramePr>
        <p:xfrm>
          <a:off x="310896" y="1801368"/>
          <a:ext cx="4846318" cy="3118104"/>
        </p:xfrm>
        <a:graphic>
          <a:graphicData uri="http://schemas.openxmlformats.org/drawingml/2006/table">
            <a:tbl>
              <a:tblPr firstRow="0" bandRow="0">
                <a:tableStyleId>{5940675A-B579-460E-94D1-54222C63F5DA}</a:tableStyleId>
              </a:tblPr>
              <a:tblGrid>
                <a:gridCol w="786383"/>
                <a:gridCol w="4059935"/>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里山再生への思いから、生まれ故郷の茨城県久慈郡水府村（現・常陸太田市）へ移転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6" name="Rectangle 5"/>
          <p:cNvSpPr/>
          <p:nvPr/>
        </p:nvSpPr>
        <p:spPr>
          <a:xfrm>
            <a:off x="5376672" y="1444752"/>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外部からの評価</a:t>
            </a:r>
          </a:p>
        </p:txBody>
      </p:sp>
      <p:graphicFrame>
        <p:nvGraphicFramePr>
          <p:cNvPr id="7" name="Table 6"/>
          <p:cNvGraphicFramePr>
            <a:graphicFrameLocks noGrp="1"/>
          </p:cNvGraphicFramePr>
          <p:nvPr/>
        </p:nvGraphicFramePr>
        <p:xfrm>
          <a:off x="5376672" y="1801368"/>
          <a:ext cx="5001766" cy="1600200"/>
        </p:xfrm>
        <a:graphic>
          <a:graphicData uri="http://schemas.openxmlformats.org/drawingml/2006/table">
            <a:tbl>
              <a:tblPr firstRow="0" bandRow="0">
                <a:tableStyleId>{5940675A-B579-460E-94D1-54222C63F5DA}</a:tableStyleId>
              </a:tblPr>
              <a:tblGrid>
                <a:gridCol w="2377439"/>
                <a:gridCol w="2624327"/>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8" name="Rectangle 7"/>
          <p:cNvSpPr/>
          <p:nvPr/>
        </p:nvSpPr>
        <p:spPr>
          <a:xfrm>
            <a:off x="5376672" y="3566160"/>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ブランドを支える「つくり方」</a:t>
            </a:r>
          </a:p>
        </p:txBody>
      </p:sp>
      <p:sp>
        <p:nvSpPr>
          <p:cNvPr id="9" name="Rectangle 8"/>
          <p:cNvSpPr/>
          <p:nvPr/>
        </p:nvSpPr>
        <p:spPr>
          <a:xfrm>
            <a:off x="5376672" y="3922776"/>
            <a:ext cx="5001768" cy="267004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04688" y="4032504"/>
            <a:ext cx="4745736" cy="2468880"/>
          </a:xfrm>
          <a:prstGeom prst="rect">
            <a:avLst/>
          </a:prstGeom>
          <a:noFill/>
        </p:spPr>
        <p:txBody>
          <a:bodyPr wrap="square" lIns="0" rIns="0" tIns="0" bIns="0" anchor="t">
            <a:spAutoFit/>
          </a:bodyPr>
          <a:lstStyle/>
          <a:p>
            <a:pPr algn="l">
              <a:lnSpc>
                <a:spcPct val="118000"/>
              </a:lnSpc>
              <a:spcAft>
                <a:spcPts val="200"/>
              </a:spcAft>
            </a:pPr>
            <a:r>
              <a:rPr sz="850" b="1">
                <a:solidFill>
                  <a:srgbClr val="0889C9"/>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「ホシ」と呼ばれる黒い斑点が浮かぶ粗挽き蕎麦が看板。地元の無農薬有機野菜を使った茨城の郷土蕎麦「古式けんちんそば」（1,900円）も提供。</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同業からの評価　</a:t>
            </a:r>
            <a:r>
              <a:rPr sz="850" b="0">
                <a:solidFill>
                  <a:srgbClr val="1A1A1A"/>
                </a:solidFill>
                <a:latin typeface="游ゴシック"/>
                <a:ea typeface="游ゴシック"/>
                <a:cs typeface="游ゴシック"/>
              </a:rPr>
              <a:t>打心蕎庵・玉笑など同業の有名店が玄そば・蕎麦粉を仕入れ。石臼挽き小麦粉はキビヤベーカリー・ルヴァンへ供給。</a:t>
            </a:r>
          </a:p>
          <a:p>
            <a:pPr algn="l">
              <a:spcAft>
                <a:spcPts val="200"/>
              </a:spcAft>
            </a:pPr>
          </a:p>
        </p:txBody>
      </p:sp>
      <p:sp>
        <p:nvSpPr>
          <p:cNvPr id="11" name="TextBox 1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代表者経歴は著書『小川宣夫の蕎麦・饂飩指南』の著者略歴、ブランド・製法に関する記述は Japan Brand Collection 2026 茨城版に基づく。</a:t>
            </a:r>
          </a:p>
          <a:p>
            <a:pPr algn="l">
              <a:lnSpc>
                <a:spcPct val="112000"/>
              </a:lnSpc>
              <a:spcAft>
                <a:spcPts val="100"/>
              </a:spcAft>
            </a:pPr>
            <a:r>
              <a:rPr sz="750" b="0">
                <a:solidFill>
                  <a:srgbClr val="5A6670"/>
                </a:solidFill>
                <a:latin typeface="游ゴシック"/>
                <a:ea typeface="游ゴシック"/>
                <a:cs typeface="游ゴシック"/>
              </a:rPr>
              <a:t>※ 受賞歴は店内に掲示された盾・楯・ステッカーの実査により確認。受賞記録の原本（表彰状等）は要確認。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a:latin typeface="游ゴシック"/>
                <a:ea typeface="游ゴシック"/>
                <a:cs typeface="游ゴシック"/>
              </a:rPr>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448056" y="1124712"/>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48056" y="1124712"/>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49224" y="1472184"/>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特徴</a:t>
            </a:r>
          </a:p>
        </p:txBody>
      </p:sp>
      <p:sp>
        <p:nvSpPr>
          <p:cNvPr id="7" name="TextBox 6"/>
          <p:cNvSpPr txBox="1"/>
          <p:nvPr/>
        </p:nvSpPr>
        <p:spPr>
          <a:xfrm>
            <a:off x="2112264" y="1380744"/>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模倣困難な垂直統合と全国区のブランド力</a:t>
            </a:r>
          </a:p>
        </p:txBody>
      </p:sp>
      <p:sp>
        <p:nvSpPr>
          <p:cNvPr id="8" name="TextBox 7"/>
          <p:cNvSpPr txBox="1"/>
          <p:nvPr/>
        </p:nvSpPr>
        <p:spPr>
          <a:xfrm>
            <a:off x="2112264" y="1783080"/>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栽培（焼畑）→ 一年熟成 → 石臼自家製粉 → 手打ち までを自社で完結。食べログ百名店・TABELOG AWARD Bronze（2022・2023）に加え、</a:t>
            </a:r>
          </a:p>
          <a:p>
            <a:pPr algn="l">
              <a:lnSpc>
                <a:spcPct val="122000"/>
              </a:lnSpc>
              <a:spcAft>
                <a:spcPts val="0"/>
              </a:spcAft>
            </a:pPr>
            <a:r>
              <a:rPr sz="1050" b="0">
                <a:solidFill>
                  <a:srgbClr val="1A1A1A"/>
                </a:solidFill>
                <a:latin typeface="游ゴシック"/>
                <a:ea typeface="游ゴシック"/>
                <a:cs typeface="游ゴシック"/>
              </a:rPr>
              <a:t>打心蕎庵・玉笑など同業の有名店が玄そば・蕎麦粉を仕入れに訪れる水準の評価を得ている。</a:t>
            </a:r>
          </a:p>
        </p:txBody>
      </p:sp>
      <p:sp>
        <p:nvSpPr>
          <p:cNvPr id="9" name="Rectangle 8"/>
          <p:cNvSpPr/>
          <p:nvPr/>
        </p:nvSpPr>
        <p:spPr>
          <a:xfrm>
            <a:off x="448056" y="3127248"/>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8056" y="3127248"/>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9224" y="3474720"/>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強み</a:t>
            </a:r>
          </a:p>
        </p:txBody>
      </p:sp>
      <p:sp>
        <p:nvSpPr>
          <p:cNvPr id="12" name="TextBox 11"/>
          <p:cNvSpPr txBox="1"/>
          <p:nvPr/>
        </p:nvSpPr>
        <p:spPr>
          <a:xfrm>
            <a:off x="2112264" y="3383280"/>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賃料・金融機関借入の負担がない資産構成</a:t>
            </a:r>
          </a:p>
        </p:txBody>
      </p:sp>
      <p:sp>
        <p:nvSpPr>
          <p:cNvPr id="13" name="TextBox 12"/>
          <p:cNvSpPr txBox="1"/>
          <p:nvPr/>
        </p:nvSpPr>
        <p:spPr>
          <a:xfrm>
            <a:off x="2112264" y="3785615"/>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板倉造・茅葺きの自社建物（取得価額104,599千円）と土地を保有し、賃料負担はゼロ。金融機関借入もなく、負債33,673千円の</a:t>
            </a:r>
          </a:p>
          <a:p>
            <a:pPr algn="l">
              <a:lnSpc>
                <a:spcPct val="122000"/>
              </a:lnSpc>
              <a:spcAft>
                <a:spcPts val="0"/>
              </a:spcAft>
            </a:pPr>
            <a:r>
              <a:rPr sz="1050" b="0">
                <a:solidFill>
                  <a:srgbClr val="1A1A1A"/>
                </a:solidFill>
                <a:latin typeface="游ゴシック"/>
                <a:ea typeface="游ゴシック"/>
                <a:cs typeface="游ゴシック"/>
              </a:rPr>
              <a:t>うち32,744千円は代表者・配偶者からの無利息借入。「慈久庵」「古式けんちんそば」の商標も登録済（4件）。</a:t>
            </a:r>
          </a:p>
        </p:txBody>
      </p:sp>
      <p:sp>
        <p:nvSpPr>
          <p:cNvPr id="14" name="Rectangle 13"/>
          <p:cNvSpPr/>
          <p:nvPr/>
        </p:nvSpPr>
        <p:spPr>
          <a:xfrm>
            <a:off x="448056" y="5129783"/>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8056" y="5129783"/>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49224" y="5477255"/>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成長性</a:t>
            </a:r>
          </a:p>
        </p:txBody>
      </p:sp>
      <p:sp>
        <p:nvSpPr>
          <p:cNvPr id="17" name="TextBox 16"/>
          <p:cNvSpPr txBox="1"/>
          <p:nvPr/>
        </p:nvSpPr>
        <p:spPr>
          <a:xfrm>
            <a:off x="2112264" y="5385816"/>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週4日・昼のみという稼働余地と、商品・多店舗への展開余地</a:t>
            </a:r>
          </a:p>
        </p:txBody>
      </p:sp>
      <p:sp>
        <p:nvSpPr>
          <p:cNvPr id="18" name="TextBox 17"/>
          <p:cNvSpPr txBox="1"/>
          <p:nvPr/>
        </p:nvSpPr>
        <p:spPr>
          <a:xfrm>
            <a:off x="2112264" y="5788151"/>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営業は金・土・日・月の11:30〜14:30のみ（年間200日）。営業日・営業時間の拡大が最も直接的な打ち手となる。</a:t>
            </a:r>
          </a:p>
          <a:p>
            <a:pPr algn="l">
              <a:lnSpc>
                <a:spcPct val="122000"/>
              </a:lnSpc>
              <a:spcAft>
                <a:spcPts val="0"/>
              </a:spcAft>
            </a:pPr>
            <a:r>
              <a:rPr sz="1050" b="0">
                <a:solidFill>
                  <a:srgbClr val="1A1A1A"/>
                </a:solidFill>
                <a:latin typeface="游ゴシック"/>
                <a:ea typeface="游ゴシック"/>
                <a:cs typeface="游ゴシック"/>
              </a:rPr>
              <a:t>通信販売は696→1,020千円と伸長中で、ふるさと納税返礼品にも採用済。過去に弟子へ店舗を承継した実績があり暖簾分けの素地もある。</a:t>
            </a:r>
          </a:p>
        </p:txBody>
      </p:sp>
      <p:sp>
        <p:nvSpPr>
          <p:cNvPr id="19" name="TextBox 18"/>
          <p:cNvSpPr txBox="1"/>
          <p:nvPr/>
        </p:nvSpPr>
        <p:spPr>
          <a:xfrm>
            <a:off x="310896" y="691286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「強み」「成長性」は弊社の評価であり、将来の業績を保証するものではありません。営業日拡大の効果試算は P.17 に記載。</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売上区分別売上高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減収は店頭飲食（4期で△6,157千円）と商品売上（同△2,202千円）が主因。石臼挽き小麦粉の卸売と通信販売はむしろ増加</a:t>
            </a:r>
            <a:endParaRPr lang="en-US" altLang="ja-JP" dirty="0"/>
          </a:p>
        </p:txBody>
      </p:sp>
      <p:graphicFrame>
        <p:nvGraphicFramePr>
          <p:cNvPr id="14" name="Table 13"/>
          <p:cNvGraphicFramePr>
            <a:graphicFrameLocks noGrp="1"/>
          </p:cNvGraphicFramePr>
          <p:nvPr/>
        </p:nvGraphicFramePr>
        <p:xfrm>
          <a:off x="310896" y="1408176"/>
          <a:ext cx="9921236" cy="1627632"/>
        </p:xfrm>
        <a:graphic>
          <a:graphicData uri="http://schemas.openxmlformats.org/drawingml/2006/table">
            <a:tbl>
              <a:tblPr firstRow="0" bandRow="0">
                <a:tableStyleId>{5940675A-B579-460E-94D1-54222C63F5DA}</a:tableStyleId>
              </a:tblPr>
              <a:tblGrid>
                <a:gridCol w="2174802"/>
                <a:gridCol w="1325593"/>
                <a:gridCol w="1325593"/>
                <a:gridCol w="1325593"/>
                <a:gridCol w="1325593"/>
                <a:gridCol w="1325593"/>
                <a:gridCol w="1118469"/>
              </a:tblGrid>
              <a:tr h="256032">
                <a:tc>
                  <a:txBody>
                    <a:bodyPr wrap="square"/>
                    <a:lstStyle/>
                    <a:p>
                      <a:pPr algn="ctr">
                        <a:spcAft>
                          <a:spcPts val="0"/>
                        </a:spcAft>
                      </a:pPr>
                      <a:r>
                        <a:rPr sz="9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255264"/>
            <a:ext cx="5760720" cy="2066543"/>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20624" y="3328416"/>
            <a:ext cx="5541264"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7" name="Rectangle 16"/>
          <p:cNvSpPr/>
          <p:nvPr/>
        </p:nvSpPr>
        <p:spPr>
          <a:xfrm>
            <a:off x="621792" y="3694176"/>
            <a:ext cx="629838" cy="13167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8640" y="35112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19" name="TextBox 18"/>
          <p:cNvSpPr txBox="1"/>
          <p:nvPr/>
        </p:nvSpPr>
        <p:spPr>
          <a:xfrm>
            <a:off x="548640"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0" name="Rectangle 19"/>
          <p:cNvSpPr/>
          <p:nvPr/>
        </p:nvSpPr>
        <p:spPr>
          <a:xfrm>
            <a:off x="1671523" y="3767398"/>
            <a:ext cx="629838" cy="1243513"/>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598371" y="3584518"/>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2" name="TextBox 21"/>
          <p:cNvSpPr txBox="1"/>
          <p:nvPr/>
        </p:nvSpPr>
        <p:spPr>
          <a:xfrm>
            <a:off x="1598371"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3" name="Rectangle 22"/>
          <p:cNvSpPr/>
          <p:nvPr/>
        </p:nvSpPr>
        <p:spPr>
          <a:xfrm>
            <a:off x="2721254" y="3941864"/>
            <a:ext cx="629838" cy="106904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48102" y="3758984"/>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5" name="TextBox 24"/>
          <p:cNvSpPr txBox="1"/>
          <p:nvPr/>
        </p:nvSpPr>
        <p:spPr>
          <a:xfrm>
            <a:off x="2648102"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6" name="Rectangle 25"/>
          <p:cNvSpPr/>
          <p:nvPr/>
        </p:nvSpPr>
        <p:spPr>
          <a:xfrm>
            <a:off x="3770985" y="3981776"/>
            <a:ext cx="629838" cy="10291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97833" y="37988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28" name="TextBox 27"/>
          <p:cNvSpPr txBox="1"/>
          <p:nvPr/>
        </p:nvSpPr>
        <p:spPr>
          <a:xfrm>
            <a:off x="3697833"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29" name="Rectangle 28"/>
          <p:cNvSpPr/>
          <p:nvPr/>
        </p:nvSpPr>
        <p:spPr>
          <a:xfrm>
            <a:off x="4820716" y="4028026"/>
            <a:ext cx="629838" cy="98288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47564" y="384514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1" name="TextBox 30"/>
          <p:cNvSpPr txBox="1"/>
          <p:nvPr/>
        </p:nvSpPr>
        <p:spPr>
          <a:xfrm>
            <a:off x="4747564"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2" name="Rectangle 31"/>
          <p:cNvSpPr/>
          <p:nvPr/>
        </p:nvSpPr>
        <p:spPr>
          <a:xfrm>
            <a:off x="530352" y="5010912"/>
            <a:ext cx="5358383"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72784" y="3255264"/>
            <a:ext cx="4105656" cy="2066543"/>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3328416"/>
            <a:ext cx="39227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5" name="TextBox 34"/>
          <p:cNvSpPr txBox="1"/>
          <p:nvPr/>
        </p:nvSpPr>
        <p:spPr>
          <a:xfrm>
            <a:off x="6382512" y="3675888"/>
            <a:ext cx="3886200" cy="1554479"/>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≪店頭飲食≫ </a:t>
            </a:r>
            <a:r>
              <a:rPr sz="830" b="0">
                <a:solidFill>
                  <a:srgbClr val="1A1A1A"/>
                </a:solidFill>
                <a:latin typeface="游ゴシック"/>
                <a:ea typeface="游ゴシック"/>
                <a:cs typeface="游ゴシック"/>
              </a:rPr>
              <a:t>23,880→17,723千円（△25.8％）。売上減の約8割を占める最大の要因。</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≪小麦等売上≫ </a:t>
            </a:r>
            <a:r>
              <a:rPr sz="83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≪そば売上≫ </a:t>
            </a:r>
            <a:r>
              <a:rPr sz="83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≪商品売上≫ </a:t>
            </a:r>
            <a:r>
              <a:rPr sz="830" b="0">
                <a:solidFill>
                  <a:srgbClr val="1A1A1A"/>
                </a:solidFill>
                <a:latin typeface="游ゴシック"/>
                <a:ea typeface="游ゴシック"/>
                <a:cs typeface="游ゴシック"/>
              </a:rPr>
              <a:t>2,740→538千円。健興通商向けの商品卸（2024/5期474千円）が2026/5期にゼロとなったことが主因で、同社は現在は仕入先（要確認）。</a:t>
            </a:r>
          </a:p>
        </p:txBody>
      </p:sp>
      <p:sp>
        <p:nvSpPr>
          <p:cNvPr id="36" name="TextBox 35"/>
          <p:cNvSpPr txBox="1"/>
          <p:nvPr/>
        </p:nvSpPr>
        <p:spPr>
          <a:xfrm>
            <a:off x="310896" y="5486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a:t>
            </a:r>
          </a:p>
          <a:p>
            <a:pPr algn="l">
              <a:lnSpc>
                <a:spcPct val="112000"/>
              </a:lnSpc>
              <a:spcAft>
                <a:spcPts val="100"/>
              </a:spcAft>
            </a:pPr>
            <a:r>
              <a:rPr sz="750" b="0">
                <a:solidFill>
                  <a:srgbClr val="5A6670"/>
                </a:solidFill>
                <a:latin typeface="游ゴシック"/>
                <a:ea typeface="游ゴシック"/>
                <a:cs typeface="游ゴシック"/>
              </a:rPr>
              <a:t>※ 飲食店売上高には関係先（塩町館・小びと）への食材供給分を含む。店頭飲食のみの金額は P.14 参照。</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主要販売先別売上高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売上の67％は店頭の一般消費者であり特定先への依存はない。卸売最大のキビヤベーカリーでも構成比8.3％</a:t>
            </a:r>
            <a:endParaRPr lang="en-US" altLang="ja-JP" dirty="0"/>
          </a:p>
        </p:txBody>
      </p:sp>
      <p:graphicFrame>
        <p:nvGraphicFramePr>
          <p:cNvPr id="16" name="Table 15"/>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119281"/>
                <a:gridCol w="2081772"/>
                <a:gridCol w="956490"/>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ounded Rectangle 16"/>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20" name="Oval 19"/>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店頭の一般消費者が67.2％。</a:t>
            </a:r>
          </a:p>
          <a:p>
            <a:pPr algn="l">
              <a:lnSpc>
                <a:spcPct val="118000"/>
              </a:lnSpc>
              <a:spcAft>
                <a:spcPts val="0"/>
              </a:spcAft>
            </a:pPr>
            <a:r>
              <a:rPr sz="930" b="1">
                <a:solidFill>
                  <a:srgbClr val="202020"/>
                </a:solidFill>
                <a:latin typeface="游ゴシック"/>
                <a:ea typeface="游ゴシック"/>
                <a:cs typeface="游ゴシック"/>
              </a:rPr>
              <a:t>特定の法人顧客への依存はない</a:t>
            </a:r>
          </a:p>
        </p:txBody>
      </p:sp>
      <p:sp>
        <p:nvSpPr>
          <p:cNvPr id="22" name="Oval 21"/>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通信販売696→1,020千円、キビヤ</a:t>
            </a:r>
          </a:p>
          <a:p>
            <a:pPr algn="l">
              <a:lnSpc>
                <a:spcPct val="118000"/>
              </a:lnSpc>
              <a:spcAft>
                <a:spcPts val="0"/>
              </a:spcAft>
            </a:pPr>
            <a:r>
              <a:rPr sz="930" b="1">
                <a:solidFill>
                  <a:srgbClr val="202020"/>
                </a:solidFill>
                <a:latin typeface="游ゴシック"/>
                <a:ea typeface="游ゴシック"/>
                <a:cs typeface="游ゴシック"/>
              </a:rPr>
              <a:t>ベーカリー1,778→1,865千円と増加</a:t>
            </a:r>
          </a:p>
        </p:txBody>
      </p:sp>
      <p:sp>
        <p:nvSpPr>
          <p:cNvPr id="24" name="Oval 23"/>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5" name="TextBox 24"/>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塩町館・小びと（計3,323千円）は</a:t>
            </a:r>
          </a:p>
          <a:p>
            <a:pPr algn="l">
              <a:lnSpc>
                <a:spcPct val="118000"/>
              </a:lnSpc>
              <a:spcAft>
                <a:spcPts val="0"/>
              </a:spcAft>
            </a:pPr>
            <a:r>
              <a:rPr sz="930" b="1">
                <a:solidFill>
                  <a:srgbClr val="202020"/>
                </a:solidFill>
                <a:latin typeface="游ゴシック"/>
                <a:ea typeface="游ゴシック"/>
                <a:cs typeface="游ゴシック"/>
              </a:rPr>
              <a:t>関係先向け。未収金の滞留は要確認</a:t>
            </a:r>
          </a:p>
        </p:txBody>
      </p:sp>
      <p:sp>
        <p:nvSpPr>
          <p:cNvPr id="26" name="TextBox 25"/>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総勘定元帳の取引先欄を集計したもの。相手先の記載がない仕訳は「その他」に含まれる。</a:t>
            </a:r>
          </a:p>
          <a:p>
            <a:pPr algn="l">
              <a:lnSpc>
                <a:spcPct val="112000"/>
              </a:lnSpc>
              <a:spcAft>
                <a:spcPts val="100"/>
              </a:spcAft>
            </a:pPr>
            <a:r>
              <a:rPr sz="750" b="0">
                <a:solidFill>
                  <a:srgbClr val="5A6670"/>
                </a:solidFill>
                <a:latin typeface="游ゴシック"/>
                <a:ea typeface="游ゴシック"/>
                <a:cs typeface="游ゴシック"/>
              </a:rPr>
              <a:t>※ 「小びと 等」の2024/5期・2025/5期は、元帳上の摘要が「玄そば未収分」等であり取引先の特定が未了（要確認）。</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主要仕入先別取引高</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原料は小麦（ミルキーウェーブ）と玄そば（海老根氏）の2先で約4割。いずれも地元・個人の生産者との直接取引</a:t>
            </a:r>
            <a:endParaRPr lang="en-US" altLang="ja-JP" dirty="0"/>
          </a:p>
        </p:txBody>
      </p:sp>
      <p:graphicFrame>
        <p:nvGraphicFramePr>
          <p:cNvPr id="14" name="Table 13"/>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306828"/>
                <a:gridCol w="1594150"/>
                <a:gridCol w="1256565"/>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上位2先で39.5％。いずれも個人・</a:t>
            </a:r>
          </a:p>
          <a:p>
            <a:pPr algn="l">
              <a:lnSpc>
                <a:spcPct val="118000"/>
              </a:lnSpc>
              <a:spcAft>
                <a:spcPts val="0"/>
              </a:spcAft>
            </a:pPr>
            <a:r>
              <a:rPr sz="930" b="1">
                <a:solidFill>
                  <a:srgbClr val="202020"/>
                </a:solidFill>
                <a:latin typeface="游ゴシック"/>
                <a:ea typeface="游ゴシック"/>
                <a:cs typeface="游ゴシック"/>
              </a:rPr>
              <a:t>小規模の生産者との直接取引</a:t>
            </a:r>
          </a:p>
        </p:txBody>
      </p:sp>
      <p:sp>
        <p:nvSpPr>
          <p:cNvPr id="20" name="Oval 19"/>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玄そばの仕入は1,300→660千円と</a:t>
            </a:r>
          </a:p>
          <a:p>
            <a:pPr algn="l">
              <a:lnSpc>
                <a:spcPct val="118000"/>
              </a:lnSpc>
              <a:spcAft>
                <a:spcPts val="0"/>
              </a:spcAft>
            </a:pPr>
            <a:r>
              <a:rPr sz="930" b="1">
                <a:solidFill>
                  <a:srgbClr val="202020"/>
                </a:solidFill>
                <a:latin typeface="游ゴシック"/>
                <a:ea typeface="游ゴシック"/>
                <a:cs typeface="游ゴシック"/>
              </a:rPr>
              <a:t>減少。棚卸資産2,025千円との整理が必要</a:t>
            </a:r>
          </a:p>
        </p:txBody>
      </p:sp>
      <p:sp>
        <p:nvSpPr>
          <p:cNvPr id="22" name="Oval 21"/>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契約書は未受領。価格決定方法・</a:t>
            </a:r>
          </a:p>
          <a:p>
            <a:pPr algn="l">
              <a:lnSpc>
                <a:spcPct val="118000"/>
              </a:lnSpc>
              <a:spcAft>
                <a:spcPts val="0"/>
              </a:spcAft>
            </a:pPr>
            <a:r>
              <a:rPr sz="930" b="1">
                <a:solidFill>
                  <a:srgbClr val="202020"/>
                </a:solidFill>
                <a:latin typeface="游ゴシック"/>
                <a:ea typeface="游ゴシック"/>
                <a:cs typeface="游ゴシック"/>
              </a:rPr>
              <a:t>供給継続性は要確認</a:t>
            </a:r>
          </a:p>
        </p:txBody>
      </p:sp>
      <p:sp>
        <p:nvSpPr>
          <p:cNvPr id="24" name="TextBox 23"/>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製造原価報告書「材料仕入高」の総勘定元帳明細を集計したもの。商品仕入高92千円・外注加工費272千円は含まない。</a:t>
            </a:r>
          </a:p>
          <a:p>
            <a:pPr algn="l">
              <a:lnSpc>
                <a:spcPct val="112000"/>
              </a:lnSpc>
              <a:spcAft>
                <a:spcPts val="100"/>
              </a:spcAft>
            </a:pPr>
            <a:r>
              <a:rPr sz="750" b="0">
                <a:solidFill>
                  <a:srgbClr val="5A6670"/>
                </a:solidFill>
                <a:latin typeface="游ゴシック"/>
                <a:ea typeface="游ゴシック"/>
                <a:cs typeface="游ゴシック"/>
              </a:rPr>
              <a:t>※ 相手先の記載がない仕訳は「その他」に含まれる。</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運営体制と承継</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常時雇用の従業員は0名。代表者・配偶者の2名で運営し、繁忙時は親族が就労（雑給2,201千円）</a:t>
            </a:r>
            <a:endParaRPr lang="en-US" altLang="ja-JP" dirty="0">
              <a:latin typeface="+mj-ea"/>
            </a:endParaRPr>
          </a:p>
        </p:txBody>
      </p:sp>
      <p:sp>
        <p:nvSpPr>
          <p:cNvPr id="86" name="Rectangle 85"/>
          <p:cNvSpPr/>
          <p:nvPr/>
        </p:nvSpPr>
        <p:spPr>
          <a:xfrm>
            <a:off x="4078224" y="1554480"/>
            <a:ext cx="2542032" cy="7863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078224" y="1682495"/>
            <a:ext cx="2542032" cy="237744"/>
          </a:xfrm>
          <a:prstGeom prst="rect">
            <a:avLst/>
          </a:prstGeom>
          <a:noFill/>
        </p:spPr>
        <p:txBody>
          <a:bodyPr wrap="square" lIns="0" rIns="0" tIns="0" bIns="0" anchor="t">
            <a:spAutoFit/>
          </a:bodyPr>
          <a:lstStyle/>
          <a:p>
            <a:pPr algn="ctr">
              <a:spcAft>
                <a:spcPts val="0"/>
              </a:spcAft>
            </a:pPr>
            <a:r>
              <a:rPr sz="1100" b="1">
                <a:solidFill>
                  <a:srgbClr val="FFFFFF"/>
                </a:solidFill>
                <a:latin typeface="游ゴシック"/>
                <a:ea typeface="游ゴシック"/>
                <a:cs typeface="游ゴシック"/>
              </a:rPr>
              <a:t>代表取締役　小川 宣夫</a:t>
            </a:r>
          </a:p>
        </p:txBody>
      </p:sp>
      <p:sp>
        <p:nvSpPr>
          <p:cNvPr id="88" name="TextBox 87"/>
          <p:cNvSpPr txBox="1"/>
          <p:nvPr/>
        </p:nvSpPr>
        <p:spPr>
          <a:xfrm>
            <a:off x="4078224" y="1956816"/>
            <a:ext cx="2542032" cy="237744"/>
          </a:xfrm>
          <a:prstGeom prst="rect">
            <a:avLst/>
          </a:prstGeom>
          <a:noFill/>
        </p:spPr>
        <p:txBody>
          <a:bodyPr wrap="square" lIns="0" rIns="0" tIns="0" bIns="0" anchor="t">
            <a:spAutoFit/>
          </a:bodyPr>
          <a:lstStyle/>
          <a:p>
            <a:pPr algn="ctr">
              <a:spcAft>
                <a:spcPts val="0"/>
              </a:spcAft>
            </a:pPr>
            <a:r>
              <a:rPr sz="900" b="0">
                <a:solidFill>
                  <a:srgbClr val="C9D6DC"/>
                </a:solidFill>
                <a:latin typeface="游ゴシック"/>
                <a:ea typeface="游ゴシック"/>
                <a:cs typeface="游ゴシック"/>
              </a:rPr>
              <a:t>（79歳・無報酬）</a:t>
            </a:r>
          </a:p>
        </p:txBody>
      </p:sp>
      <p:sp>
        <p:nvSpPr>
          <p:cNvPr id="89" name="Rectangle 88"/>
          <p:cNvSpPr/>
          <p:nvPr/>
        </p:nvSpPr>
        <p:spPr>
          <a:xfrm>
            <a:off x="548640"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76656"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そば打ち・製粉</a:t>
            </a:r>
          </a:p>
        </p:txBody>
      </p:sp>
      <p:sp>
        <p:nvSpPr>
          <p:cNvPr id="91" name="TextBox 90"/>
          <p:cNvSpPr txBox="1"/>
          <p:nvPr/>
        </p:nvSpPr>
        <p:spPr>
          <a:xfrm>
            <a:off x="676656"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玄そばの仕入・選別／一年熟成／石臼自家製粉／手打ち</a:t>
            </a:r>
          </a:p>
        </p:txBody>
      </p:sp>
      <p:sp>
        <p:nvSpPr>
          <p:cNvPr id="92" name="Rectangle 91"/>
          <p:cNvSpPr/>
          <p:nvPr/>
        </p:nvSpPr>
        <p:spPr>
          <a:xfrm>
            <a:off x="1863547"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3401568"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529584"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調理・接客・会計</a:t>
            </a:r>
          </a:p>
        </p:txBody>
      </p:sp>
      <p:sp>
        <p:nvSpPr>
          <p:cNvPr id="95" name="TextBox 94"/>
          <p:cNvSpPr txBox="1"/>
          <p:nvPr/>
        </p:nvSpPr>
        <p:spPr>
          <a:xfrm>
            <a:off x="3529584"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天ぷら・けんちん汁の調理／接客／片付け／レジ</a:t>
            </a:r>
          </a:p>
        </p:txBody>
      </p:sp>
      <p:sp>
        <p:nvSpPr>
          <p:cNvPr id="96" name="Rectangle 95"/>
          <p:cNvSpPr/>
          <p:nvPr/>
        </p:nvSpPr>
        <p:spPr>
          <a:xfrm>
            <a:off x="4716475"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6254496"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382512"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仕入・卸売・通販</a:t>
            </a:r>
          </a:p>
        </p:txBody>
      </p:sp>
      <p:sp>
        <p:nvSpPr>
          <p:cNvPr id="99" name="TextBox 98"/>
          <p:cNvSpPr txBox="1"/>
          <p:nvPr/>
        </p:nvSpPr>
        <p:spPr>
          <a:xfrm>
            <a:off x="6382512"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食材の仕入／卸売先への出荷／通信販売の受注・発送</a:t>
            </a:r>
          </a:p>
        </p:txBody>
      </p:sp>
      <p:sp>
        <p:nvSpPr>
          <p:cNvPr id="100" name="Rectangle 99"/>
          <p:cNvSpPr/>
          <p:nvPr/>
        </p:nvSpPr>
        <p:spPr>
          <a:xfrm>
            <a:off x="7569403"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1874519" y="2468880"/>
            <a:ext cx="570585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1863547"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4716475"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7569403"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5338267" y="2340864"/>
            <a:ext cx="21945" cy="12801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128016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1408176"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小川 喜久子（取締役・配偶者）</a:t>
            </a:r>
          </a:p>
        </p:txBody>
      </p:sp>
      <p:sp>
        <p:nvSpPr>
          <p:cNvPr id="108" name="TextBox 107"/>
          <p:cNvSpPr txBox="1"/>
          <p:nvPr/>
        </p:nvSpPr>
        <p:spPr>
          <a:xfrm>
            <a:off x="1408176"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接客・経理／無報酬</a:t>
            </a:r>
          </a:p>
        </p:txBody>
      </p:sp>
      <p:sp>
        <p:nvSpPr>
          <p:cNvPr id="109" name="Rectangle 108"/>
          <p:cNvSpPr/>
          <p:nvPr/>
        </p:nvSpPr>
        <p:spPr>
          <a:xfrm>
            <a:off x="557784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TextBox 109"/>
          <p:cNvSpPr txBox="1"/>
          <p:nvPr/>
        </p:nvSpPr>
        <p:spPr>
          <a:xfrm>
            <a:off x="5705855"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親族（繁忙時）</a:t>
            </a:r>
          </a:p>
        </p:txBody>
      </p:sp>
      <p:sp>
        <p:nvSpPr>
          <p:cNvPr id="111" name="TextBox 110"/>
          <p:cNvSpPr txBox="1"/>
          <p:nvPr/>
        </p:nvSpPr>
        <p:spPr>
          <a:xfrm>
            <a:off x="5705855"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雑給 2,201千円（支払先「小川実他1」）</a:t>
            </a:r>
          </a:p>
        </p:txBody>
      </p:sp>
      <p:sp>
        <p:nvSpPr>
          <p:cNvPr id="112" name="Rectangle 111"/>
          <p:cNvSpPr/>
          <p:nvPr/>
        </p:nvSpPr>
        <p:spPr>
          <a:xfrm>
            <a:off x="310896" y="4937760"/>
            <a:ext cx="992124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属人性の整理 ― 「事実」と「備え」</a:t>
            </a:r>
          </a:p>
        </p:txBody>
      </p:sp>
      <p:sp>
        <p:nvSpPr>
          <p:cNvPr id="113" name="Rectangle 112"/>
          <p:cNvSpPr/>
          <p:nvPr/>
        </p:nvSpPr>
        <p:spPr>
          <a:xfrm>
            <a:off x="310896" y="5294376"/>
            <a:ext cx="9921240" cy="12070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457200" y="5404104"/>
            <a:ext cx="9628632" cy="1005840"/>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事実　</a:t>
            </a:r>
            <a:r>
              <a:rPr sz="900" b="0">
                <a:solidFill>
                  <a:srgbClr val="1A1A1A"/>
                </a:solidFill>
                <a:latin typeface="游ゴシック"/>
                <a:ea typeface="游ゴシック"/>
                <a:cs typeface="游ゴシック"/>
              </a:rPr>
              <a:t>掲載誌には「接客や調理、片付けまでの全てを小川氏一人でこなすため、席に着いてからも正直かなりの時間がかかる」と記載されている。昼のみ・売り切りじまい・週4日という営業形態も、この体制を前提としたものと考えられる。</a:t>
            </a:r>
          </a:p>
          <a:p>
            <a:pPr algn="l">
              <a:lnSpc>
                <a:spcPct val="120000"/>
              </a:lnSpc>
              <a:spcAft>
                <a:spcPts val="200"/>
              </a:spcAft>
            </a:pPr>
            <a:r>
              <a:rPr sz="900" b="1">
                <a:solidFill>
                  <a:srgbClr val="0889C9"/>
                </a:solidFill>
                <a:latin typeface="游ゴシック"/>
                <a:ea typeface="游ゴシック"/>
                <a:cs typeface="游ゴシック"/>
              </a:rPr>
              <a:t>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る。「代表者がいなければ蕎麦を打てない」という状態ではないと伺っている。</a:t>
            </a:r>
          </a:p>
          <a:p>
            <a:pPr algn="l">
              <a:lnSpc>
                <a:spcPct val="120000"/>
              </a:lnSpc>
              <a:spcAft>
                <a:spcPts val="200"/>
              </a:spcAft>
            </a:pPr>
            <a:r>
              <a:rPr sz="900" b="1">
                <a:solidFill>
                  <a:srgbClr val="0889C9"/>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a:t>
            </a:r>
          </a:p>
        </p:txBody>
      </p:sp>
      <p:sp>
        <p:nvSpPr>
          <p:cNvPr id="115" name="TextBox 114"/>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常時雇用の従業員は0名のため「従業員」ページは作成していません。雑給の支払先「小川実他1」の勤務実態・雇用形態・社会保険の適用状況は要確認です。</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株主及び役員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株主・役員ともに代表者夫妻が中心。役員報酬は3期を通じて計上がなく、代表者夫妻は無報酬</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株主</a:t>
            </a:r>
          </a:p>
        </p:txBody>
      </p:sp>
      <p:graphicFrame>
        <p:nvGraphicFramePr>
          <p:cNvPr id="15" name="Table 14"/>
          <p:cNvGraphicFramePr>
            <a:graphicFrameLocks noGrp="1"/>
          </p:cNvGraphicFramePr>
          <p:nvPr/>
        </p:nvGraphicFramePr>
        <p:xfrm>
          <a:off x="310896" y="1874519"/>
          <a:ext cx="10067544" cy="1133856"/>
        </p:xfrm>
        <a:graphic>
          <a:graphicData uri="http://schemas.openxmlformats.org/drawingml/2006/table">
            <a:tbl>
              <a:tblPr firstRow="0" bandRow="0">
                <a:tableStyleId>{5940675A-B579-460E-94D1-54222C63F5DA}</a:tableStyleId>
              </a:tblPr>
              <a:tblGrid>
                <a:gridCol w="420624"/>
                <a:gridCol w="1554480"/>
                <a:gridCol w="1463040"/>
                <a:gridCol w="1188720"/>
                <a:gridCol w="1005840"/>
                <a:gridCol w="4434840"/>
              </a:tblGrid>
              <a:tr h="25603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338328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役員</a:t>
            </a:r>
          </a:p>
        </p:txBody>
      </p:sp>
      <p:graphicFrame>
        <p:nvGraphicFramePr>
          <p:cNvPr id="17" name="Table 16"/>
          <p:cNvGraphicFramePr>
            <a:graphicFrameLocks noGrp="1"/>
          </p:cNvGraphicFramePr>
          <p:nvPr/>
        </p:nvGraphicFramePr>
        <p:xfrm>
          <a:off x="310896" y="3739896"/>
          <a:ext cx="10067544" cy="1591056"/>
        </p:xfrm>
        <a:graphic>
          <a:graphicData uri="http://schemas.openxmlformats.org/drawingml/2006/table">
            <a:tbl>
              <a:tblPr firstRow="0" bandRow="0">
                <a:tableStyleId>{5940675A-B579-460E-94D1-54222C63F5DA}</a:tableStyleId>
              </a:tblPr>
              <a:tblGrid>
                <a:gridCol w="420624"/>
                <a:gridCol w="1554480"/>
                <a:gridCol w="1188720"/>
                <a:gridCol w="1371600"/>
                <a:gridCol w="914400"/>
                <a:gridCol w="2286000"/>
                <a:gridCol w="2331720"/>
              </a:tblGrid>
              <a:tr h="34747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役員報酬</a:t>
                      </a:r>
                    </a:p>
                    <a:p>
                      <a:pPr algn="ctr">
                        <a:spcAft>
                          <a:spcPts val="0"/>
                        </a:spcAft>
                      </a:pPr>
                      <a:r>
                        <a:rPr sz="86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塩町館の営業を承継された方。本件後の取扱いは要協議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会計監査に限定（登記簿）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TextBox 17"/>
          <p:cNvSpPr txBox="1"/>
          <p:nvPr/>
        </p:nvSpPr>
        <p:spPr>
          <a:xfrm>
            <a:off x="310896" y="55778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株主構成は法人税申告書 別表二（2026年5月期）、役員構成は法人登記簿（2026年9月15日現在）に基づく。発行済株式総数200株、株券発行会社。</a:t>
            </a:r>
          </a:p>
          <a:p>
            <a:pPr algn="l">
              <a:lnSpc>
                <a:spcPct val="112000"/>
              </a:lnSpc>
              <a:spcAft>
                <a:spcPts val="100"/>
              </a:spcAft>
            </a:pPr>
            <a:r>
              <a:rPr sz="750" b="0">
                <a:solidFill>
                  <a:srgbClr val="5A6670"/>
                </a:solidFill>
                <a:latin typeface="游ゴシック"/>
                <a:ea typeface="游ゴシック"/>
                <a:cs typeface="游ゴシック"/>
              </a:rPr>
              <a:t>※ 株式の譲渡には取締役会の承認を要する（登記簿）。名義株の有無は要確認。役員報酬は2024/5期〜2026/5期の3期を通じて計上がない。</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月次売上・営業日の分析</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営業は金・土・日・月の週4日・昼のみ（年間200日）。新そばの11月が日商141千円と突出し、1月の約3倍</a:t>
            </a:r>
            <a:endParaRPr lang="en-US" altLang="ja-JP" dirty="0"/>
          </a:p>
        </p:txBody>
      </p:sp>
      <p:graphicFrame>
        <p:nvGraphicFramePr>
          <p:cNvPr id="14" name="Table 13"/>
          <p:cNvGraphicFramePr>
            <a:graphicFrameLocks noGrp="1"/>
          </p:cNvGraphicFramePr>
          <p:nvPr/>
        </p:nvGraphicFramePr>
        <p:xfrm>
          <a:off x="310896" y="1408176"/>
          <a:ext cx="3529580" cy="2820007"/>
        </p:xfrm>
        <a:graphic>
          <a:graphicData uri="http://schemas.openxmlformats.org/drawingml/2006/table">
            <a:tbl>
              <a:tblPr firstRow="0" bandRow="0">
                <a:tableStyleId>{5940675A-B579-460E-94D1-54222C63F5DA}</a:tableStyleId>
              </a:tblPr>
              <a:tblGrid>
                <a:gridCol w="694943"/>
                <a:gridCol w="1207007"/>
                <a:gridCol w="804671"/>
                <a:gridCol w="822959"/>
              </a:tblGrid>
              <a:tr h="228600">
                <a:tc>
                  <a:txBody>
                    <a:bodyPr wrap="square"/>
                    <a:lstStyle/>
                    <a:p>
                      <a:pPr algn="ctr">
                        <a:spcAft>
                          <a:spcPts val="0"/>
                        </a:spcAft>
                      </a:pPr>
                      <a:r>
                        <a:rPr sz="819"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4041648" y="1408176"/>
            <a:ext cx="6336792" cy="2798064"/>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51376" y="1481328"/>
            <a:ext cx="6117336"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7" name="Rectangle 16"/>
          <p:cNvSpPr/>
          <p:nvPr/>
        </p:nvSpPr>
        <p:spPr>
          <a:xfrm>
            <a:off x="4352544" y="3106308"/>
            <a:ext cx="291236" cy="7890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9392" y="292342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975</a:t>
            </a:r>
          </a:p>
        </p:txBody>
      </p:sp>
      <p:sp>
        <p:nvSpPr>
          <p:cNvPr id="19" name="TextBox 18"/>
          <p:cNvSpPr txBox="1"/>
          <p:nvPr/>
        </p:nvSpPr>
        <p:spPr>
          <a:xfrm>
            <a:off x="427939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6月</a:t>
            </a:r>
          </a:p>
        </p:txBody>
      </p:sp>
      <p:sp>
        <p:nvSpPr>
          <p:cNvPr id="20" name="Rectangle 19"/>
          <p:cNvSpPr/>
          <p:nvPr/>
        </p:nvSpPr>
        <p:spPr>
          <a:xfrm>
            <a:off x="4837938" y="3000294"/>
            <a:ext cx="291236" cy="89504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64786" y="281741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1,106</a:t>
            </a:r>
          </a:p>
        </p:txBody>
      </p:sp>
      <p:sp>
        <p:nvSpPr>
          <p:cNvPr id="22" name="TextBox 21"/>
          <p:cNvSpPr txBox="1"/>
          <p:nvPr/>
        </p:nvSpPr>
        <p:spPr>
          <a:xfrm>
            <a:off x="4764786"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7月</a:t>
            </a:r>
          </a:p>
        </p:txBody>
      </p:sp>
      <p:sp>
        <p:nvSpPr>
          <p:cNvPr id="23" name="Rectangle 22"/>
          <p:cNvSpPr/>
          <p:nvPr/>
        </p:nvSpPr>
        <p:spPr>
          <a:xfrm>
            <a:off x="5323332" y="2582712"/>
            <a:ext cx="291236" cy="13126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50180" y="2399832"/>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1,622</a:t>
            </a:r>
          </a:p>
        </p:txBody>
      </p:sp>
      <p:sp>
        <p:nvSpPr>
          <p:cNvPr id="25" name="TextBox 24"/>
          <p:cNvSpPr txBox="1"/>
          <p:nvPr/>
        </p:nvSpPr>
        <p:spPr>
          <a:xfrm>
            <a:off x="5250180"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8月</a:t>
            </a:r>
          </a:p>
        </p:txBody>
      </p:sp>
      <p:sp>
        <p:nvSpPr>
          <p:cNvPr id="26" name="Rectangle 25"/>
          <p:cNvSpPr/>
          <p:nvPr/>
        </p:nvSpPr>
        <p:spPr>
          <a:xfrm>
            <a:off x="5808725" y="2884568"/>
            <a:ext cx="291236" cy="101077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35573" y="270168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1,249</a:t>
            </a:r>
          </a:p>
        </p:txBody>
      </p:sp>
      <p:sp>
        <p:nvSpPr>
          <p:cNvPr id="28" name="TextBox 27"/>
          <p:cNvSpPr txBox="1"/>
          <p:nvPr/>
        </p:nvSpPr>
        <p:spPr>
          <a:xfrm>
            <a:off x="573557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9月</a:t>
            </a:r>
          </a:p>
        </p:txBody>
      </p:sp>
      <p:sp>
        <p:nvSpPr>
          <p:cNvPr id="29" name="Rectangle 28"/>
          <p:cNvSpPr/>
          <p:nvPr/>
        </p:nvSpPr>
        <p:spPr>
          <a:xfrm>
            <a:off x="6294120" y="2679014"/>
            <a:ext cx="291236" cy="121632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0967" y="249613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1,503</a:t>
            </a:r>
          </a:p>
        </p:txBody>
      </p:sp>
      <p:sp>
        <p:nvSpPr>
          <p:cNvPr id="31" name="TextBox 30"/>
          <p:cNvSpPr txBox="1"/>
          <p:nvPr/>
        </p:nvSpPr>
        <p:spPr>
          <a:xfrm>
            <a:off x="6220967"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10月</a:t>
            </a:r>
          </a:p>
        </p:txBody>
      </p:sp>
      <p:sp>
        <p:nvSpPr>
          <p:cNvPr id="32" name="Rectangle 31"/>
          <p:cNvSpPr/>
          <p:nvPr/>
        </p:nvSpPr>
        <p:spPr>
          <a:xfrm>
            <a:off x="6779514" y="1847088"/>
            <a:ext cx="291236" cy="204825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6362" y="166420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2,531</a:t>
            </a:r>
          </a:p>
        </p:txBody>
      </p:sp>
      <p:sp>
        <p:nvSpPr>
          <p:cNvPr id="34" name="TextBox 33"/>
          <p:cNvSpPr txBox="1"/>
          <p:nvPr/>
        </p:nvSpPr>
        <p:spPr>
          <a:xfrm>
            <a:off x="670636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11月</a:t>
            </a:r>
          </a:p>
        </p:txBody>
      </p:sp>
      <p:sp>
        <p:nvSpPr>
          <p:cNvPr id="35" name="Rectangle 34"/>
          <p:cNvSpPr/>
          <p:nvPr/>
        </p:nvSpPr>
        <p:spPr>
          <a:xfrm>
            <a:off x="7264907" y="3265733"/>
            <a:ext cx="291236" cy="6296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91755" y="308285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778</a:t>
            </a:r>
          </a:p>
        </p:txBody>
      </p:sp>
      <p:sp>
        <p:nvSpPr>
          <p:cNvPr id="37" name="TextBox 36"/>
          <p:cNvSpPr txBox="1"/>
          <p:nvPr/>
        </p:nvSpPr>
        <p:spPr>
          <a:xfrm>
            <a:off x="719175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12月</a:t>
            </a:r>
          </a:p>
        </p:txBody>
      </p:sp>
      <p:sp>
        <p:nvSpPr>
          <p:cNvPr id="38" name="Rectangle 37"/>
          <p:cNvSpPr/>
          <p:nvPr/>
        </p:nvSpPr>
        <p:spPr>
          <a:xfrm>
            <a:off x="7750301" y="3399263"/>
            <a:ext cx="291236" cy="4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77149" y="321638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613</a:t>
            </a:r>
          </a:p>
        </p:txBody>
      </p:sp>
      <p:sp>
        <p:nvSpPr>
          <p:cNvPr id="40" name="TextBox 39"/>
          <p:cNvSpPr txBox="1"/>
          <p:nvPr/>
        </p:nvSpPr>
        <p:spPr>
          <a:xfrm>
            <a:off x="7677149"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1月</a:t>
            </a:r>
          </a:p>
        </p:txBody>
      </p:sp>
      <p:sp>
        <p:nvSpPr>
          <p:cNvPr id="41" name="Rectangle 40"/>
          <p:cNvSpPr/>
          <p:nvPr/>
        </p:nvSpPr>
        <p:spPr>
          <a:xfrm>
            <a:off x="8235695" y="3146771"/>
            <a:ext cx="291236" cy="74857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62543" y="2963891"/>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925</a:t>
            </a:r>
          </a:p>
        </p:txBody>
      </p:sp>
      <p:sp>
        <p:nvSpPr>
          <p:cNvPr id="43" name="TextBox 42"/>
          <p:cNvSpPr txBox="1"/>
          <p:nvPr/>
        </p:nvSpPr>
        <p:spPr>
          <a:xfrm>
            <a:off x="816254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2月</a:t>
            </a:r>
          </a:p>
        </p:txBody>
      </p:sp>
      <p:sp>
        <p:nvSpPr>
          <p:cNvPr id="44" name="Rectangle 43"/>
          <p:cNvSpPr/>
          <p:nvPr/>
        </p:nvSpPr>
        <p:spPr>
          <a:xfrm>
            <a:off x="8721090" y="3027809"/>
            <a:ext cx="291236" cy="86753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47938" y="284492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1,072</a:t>
            </a:r>
          </a:p>
        </p:txBody>
      </p:sp>
      <p:sp>
        <p:nvSpPr>
          <p:cNvPr id="46" name="TextBox 45"/>
          <p:cNvSpPr txBox="1"/>
          <p:nvPr/>
        </p:nvSpPr>
        <p:spPr>
          <a:xfrm>
            <a:off x="8647938"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3月</a:t>
            </a:r>
          </a:p>
        </p:txBody>
      </p:sp>
      <p:sp>
        <p:nvSpPr>
          <p:cNvPr id="47" name="Rectangle 46"/>
          <p:cNvSpPr/>
          <p:nvPr/>
        </p:nvSpPr>
        <p:spPr>
          <a:xfrm>
            <a:off x="9206483" y="3005149"/>
            <a:ext cx="291236" cy="89019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133331" y="282226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1,100</a:t>
            </a:r>
          </a:p>
        </p:txBody>
      </p:sp>
      <p:sp>
        <p:nvSpPr>
          <p:cNvPr id="49" name="TextBox 48"/>
          <p:cNvSpPr txBox="1"/>
          <p:nvPr/>
        </p:nvSpPr>
        <p:spPr>
          <a:xfrm>
            <a:off x="9133331"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4月</a:t>
            </a:r>
          </a:p>
        </p:txBody>
      </p:sp>
      <p:sp>
        <p:nvSpPr>
          <p:cNvPr id="50" name="Rectangle 49"/>
          <p:cNvSpPr/>
          <p:nvPr/>
        </p:nvSpPr>
        <p:spPr>
          <a:xfrm>
            <a:off x="9691877" y="2688726"/>
            <a:ext cx="291236" cy="120661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618725" y="2505846"/>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1,491</a:t>
            </a:r>
          </a:p>
        </p:txBody>
      </p:sp>
      <p:sp>
        <p:nvSpPr>
          <p:cNvPr id="52" name="TextBox 51"/>
          <p:cNvSpPr txBox="1"/>
          <p:nvPr/>
        </p:nvSpPr>
        <p:spPr>
          <a:xfrm>
            <a:off x="961872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5月</a:t>
            </a:r>
          </a:p>
        </p:txBody>
      </p:sp>
      <p:sp>
        <p:nvSpPr>
          <p:cNvPr id="53" name="Rectangle 52"/>
          <p:cNvSpPr/>
          <p:nvPr/>
        </p:nvSpPr>
        <p:spPr>
          <a:xfrm>
            <a:off x="4261104" y="3895344"/>
            <a:ext cx="5934455"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4" name="Table 53"/>
          <p:cNvGraphicFramePr>
            <a:graphicFrameLocks noGrp="1"/>
          </p:cNvGraphicFramePr>
          <p:nvPr/>
        </p:nvGraphicFramePr>
        <p:xfrm>
          <a:off x="310896" y="4498848"/>
          <a:ext cx="3529580" cy="1179576"/>
        </p:xfrm>
        <a:graphic>
          <a:graphicData uri="http://schemas.openxmlformats.org/drawingml/2006/table">
            <a:tbl>
              <a:tblPr firstRow="0" bandRow="0">
                <a:tableStyleId>{5940675A-B579-460E-94D1-54222C63F5DA}</a:tableStyleId>
              </a:tblPr>
              <a:tblGrid>
                <a:gridCol w="1408175"/>
                <a:gridCol w="704087"/>
                <a:gridCol w="704087"/>
                <a:gridCol w="713231"/>
              </a:tblGrid>
              <a:tr h="228600">
                <a:tc>
                  <a:txBody>
                    <a:bodyPr wrap="square"/>
                    <a:lstStyle/>
                    <a:p>
                      <a:pPr algn="ctr">
                        <a:spcAft>
                          <a:spcPts val="0"/>
                        </a:spcAft>
                      </a:pPr>
                      <a:r>
                        <a:rPr sz="819"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関係先向け食材供給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2,151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3,261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5" name="Rectangle 54"/>
          <p:cNvSpPr/>
          <p:nvPr/>
        </p:nvSpPr>
        <p:spPr>
          <a:xfrm>
            <a:off x="4041648" y="4370832"/>
            <a:ext cx="6336792" cy="2084831"/>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133087" y="4443984"/>
            <a:ext cx="615391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57" name="TextBox 56"/>
          <p:cNvSpPr txBox="1"/>
          <p:nvPr/>
        </p:nvSpPr>
        <p:spPr>
          <a:xfrm>
            <a:off x="4151376" y="4791456"/>
            <a:ext cx="6117336" cy="1572767"/>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≪営業日≫ </a:t>
            </a:r>
            <a:r>
              <a:rPr sz="830" b="0">
                <a:solidFill>
                  <a:srgbClr val="1A1A1A"/>
                </a:solidFill>
                <a:latin typeface="游ゴシック"/>
                <a:ea typeface="游ゴシック"/>
                <a:cs typeface="游ゴシック"/>
              </a:rPr>
              <a:t>定休は火・水・木、営業は金・土・日・月の週4日。11:30〜14:30の昼のみで売り切り次第閉店。実績営業日数は203→201→200日とほぼ一定であり、公表されている定休日とも整合する。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≪季節性≫ </a:t>
            </a:r>
            <a:r>
              <a:rPr sz="830" b="0">
                <a:solidFill>
                  <a:srgbClr val="1A1A1A"/>
                </a:solidFill>
                <a:latin typeface="游ゴシック"/>
                <a:ea typeface="游ゴシック"/>
                <a:cs typeface="游ゴシック"/>
              </a:rPr>
              <a:t>新そばの時期にあたる11月が2,531千円・日商141千円と突出。1月（613千円・日商47千円）が最も低く、繁閑差は約3倍。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≪日商の低下≫ </a:t>
            </a:r>
            <a:r>
              <a:rPr sz="830" b="0">
                <a:solidFill>
                  <a:srgbClr val="1A1A1A"/>
                </a:solidFill>
                <a:latin typeface="游ゴシック"/>
                <a:ea typeface="游ゴシック"/>
                <a:cs typeface="游ゴシック"/>
              </a:rPr>
              <a:t>店頭日商平均は86→80→75千円と低下傾向。平均予算約3,000円を前提とすると1日あたり約25名と推計され、客数・客単価のいずれが要因かは要確認。</a:t>
            </a:r>
          </a:p>
        </p:txBody>
      </p:sp>
      <p:sp>
        <p:nvSpPr>
          <p:cNvPr id="58" name="TextBox 57"/>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総勘定元帳「飲食店売上高」のうち普通預金・現金への入金明細（摘要「本店売上（月／日）」）を集計したもの。関係先への食材供給分は含まない。</a:t>
            </a:r>
          </a:p>
          <a:p>
            <a:pPr algn="l">
              <a:lnSpc>
                <a:spcPct val="112000"/>
              </a:lnSpc>
              <a:spcAft>
                <a:spcPts val="100"/>
              </a:spcAft>
            </a:pPr>
            <a:r>
              <a:rPr sz="750" b="0">
                <a:solidFill>
                  <a:srgbClr val="5A6670"/>
                </a:solidFill>
                <a:latin typeface="游ゴシック"/>
                <a:ea typeface="游ゴシック"/>
                <a:cs typeface="游ゴシック"/>
              </a:rPr>
              <a:t>※ 2026/5期の店頭売上高合計には、期末に一括計上された5月分現金売上132千円を含む（月次表には含まれない）。平均予算の出所は Japan Brand Collection 2026 茨城版。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拠点概要（本店）</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代表者が自ら設計し私財を投じて2002年に建築した板倉造・茅葺きの自社店舗。「100〜200年もつ建物」を企図</a:t>
            </a:r>
            <a:endParaRPr lang="en-US" altLang="ja-JP" dirty="0"/>
          </a:p>
        </p:txBody>
      </p:sp>
      <p:sp>
        <p:nvSpPr>
          <p:cNvPr id="14" name="Rectangle 13"/>
          <p:cNvSpPr/>
          <p:nvPr/>
        </p:nvSpPr>
        <p:spPr>
          <a:xfrm>
            <a:off x="310896" y="1517904"/>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本店</a:t>
            </a:r>
          </a:p>
        </p:txBody>
      </p:sp>
      <p:graphicFrame>
        <p:nvGraphicFramePr>
          <p:cNvPr id="15" name="Table 14"/>
          <p:cNvGraphicFramePr>
            <a:graphicFrameLocks noGrp="1"/>
          </p:cNvGraphicFramePr>
          <p:nvPr/>
        </p:nvGraphicFramePr>
        <p:xfrm>
          <a:off x="310896" y="1874519"/>
          <a:ext cx="4846320" cy="4210812"/>
        </p:xfrm>
        <a:graphic>
          <a:graphicData uri="http://schemas.openxmlformats.org/drawingml/2006/table">
            <a:tbl>
              <a:tblPr firstRow="0" bandRow="0">
                <a:tableStyleId>{5940675A-B579-460E-94D1-54222C63F5DA}</a:tableStyleId>
              </a:tblPr>
              <a:tblGrid>
                <a:gridCol w="987552"/>
                <a:gridCol w="3858768"/>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営業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金・土・日・月　11:30〜14:30（売り切りじまい）　平均予算 約3,000円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517904"/>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買手にとっての意味合い</a:t>
            </a:r>
          </a:p>
        </p:txBody>
      </p:sp>
      <p:sp>
        <p:nvSpPr>
          <p:cNvPr id="17" name="Rectangle 16"/>
          <p:cNvSpPr/>
          <p:nvPr/>
        </p:nvSpPr>
        <p:spPr>
          <a:xfrm>
            <a:off x="5376672" y="1874519"/>
            <a:ext cx="5001768" cy="210312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84248"/>
            <a:ext cx="4745736" cy="1901952"/>
          </a:xfrm>
          <a:prstGeom prst="rect">
            <a:avLst/>
          </a:prstGeom>
          <a:noFill/>
        </p:spPr>
        <p:txBody>
          <a:bodyPr wrap="square" lIns="0" rIns="0" tIns="0" bIns="0" anchor="t">
            <a:spAutoFit/>
          </a:bodyPr>
          <a:lstStyle/>
          <a:p>
            <a:pPr algn="l">
              <a:lnSpc>
                <a:spcPct val="118000"/>
              </a:lnSpc>
              <a:spcAft>
                <a:spcPts val="200"/>
              </a:spcAft>
            </a:pPr>
            <a:r>
              <a:rPr sz="860" b="1">
                <a:solidFill>
                  <a:srgbClr val="0889C9"/>
                </a:solidFill>
                <a:latin typeface="游ゴシック"/>
                <a:ea typeface="游ゴシック"/>
                <a:cs typeface="游ゴシック"/>
              </a:rPr>
              <a:t>店舗そのものがブランドの一部　</a:t>
            </a:r>
            <a:r>
              <a:rPr sz="86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a:t>
            </a:r>
          </a:p>
          <a:p>
            <a:pPr algn="l">
              <a:lnSpc>
                <a:spcPct val="118000"/>
              </a:lnSpc>
              <a:spcAft>
                <a:spcPts val="200"/>
              </a:spcAft>
            </a:pPr>
            <a:r>
              <a:rPr sz="860" b="1">
                <a:solidFill>
                  <a:srgbClr val="0889C9"/>
                </a:solidFill>
                <a:latin typeface="游ゴシック"/>
                <a:ea typeface="游ゴシック"/>
                <a:cs typeface="游ゴシック"/>
              </a:rPr>
              <a:t>賃料負担がない　</a:t>
            </a:r>
            <a:r>
              <a:rPr sz="860" b="0">
                <a:solidFill>
                  <a:srgbClr val="1A1A1A"/>
                </a:solidFill>
                <a:latin typeface="游ゴシック"/>
                <a:ea typeface="游ゴシック"/>
                <a:cs typeface="游ゴシック"/>
              </a:rPr>
              <a:t>土地・建物とも自己所有で地代家賃の計上はない。固定費は水道光熱費1,490千円・租税公課1,137千円等が中心。</a:t>
            </a:r>
          </a:p>
          <a:p>
            <a:pPr algn="l">
              <a:lnSpc>
                <a:spcPct val="118000"/>
              </a:lnSpc>
              <a:spcAft>
                <a:spcPts val="200"/>
              </a:spcAft>
            </a:pPr>
            <a:r>
              <a:rPr sz="860" b="1">
                <a:solidFill>
                  <a:srgbClr val="0889C9"/>
                </a:solidFill>
                <a:latin typeface="游ゴシック"/>
                <a:ea typeface="游ゴシック"/>
                <a:cs typeface="游ゴシック"/>
              </a:rPr>
              <a:t>一方で　</a:t>
            </a:r>
            <a:r>
              <a:rPr sz="860" b="0">
                <a:solidFill>
                  <a:srgbClr val="1A1A1A"/>
                </a:solidFill>
                <a:latin typeface="游ゴシック"/>
                <a:ea typeface="游ゴシック"/>
                <a:cs typeface="游ゴシック"/>
              </a:rPr>
              <a:t>建物が未登記であること、代表者夫妻が2階に居住していることは、本件実行前に整理が必要な事項。</a:t>
            </a:r>
          </a:p>
        </p:txBody>
      </p:sp>
      <p:sp>
        <p:nvSpPr>
          <p:cNvPr id="19" name="Rectangle 18"/>
          <p:cNvSpPr/>
          <p:nvPr/>
        </p:nvSpPr>
        <p:spPr>
          <a:xfrm>
            <a:off x="5376672" y="4133087"/>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減価償却資産の構成（2026/5期）</a:t>
            </a:r>
          </a:p>
        </p:txBody>
      </p:sp>
      <p:graphicFrame>
        <p:nvGraphicFramePr>
          <p:cNvPr id="20" name="Table 19"/>
          <p:cNvGraphicFramePr>
            <a:graphicFrameLocks noGrp="1"/>
          </p:cNvGraphicFramePr>
          <p:nvPr/>
        </p:nvGraphicFramePr>
        <p:xfrm>
          <a:off x="5376672" y="4489704"/>
          <a:ext cx="5001768" cy="2022651"/>
        </p:xfrm>
        <a:graphic>
          <a:graphicData uri="http://schemas.openxmlformats.org/drawingml/2006/table">
            <a:tbl>
              <a:tblPr firstRow="0" bandRow="0">
                <a:tableStyleId>{5940675A-B579-460E-94D1-54222C63F5DA}</a:tableStyleId>
              </a:tblPr>
              <a:tblGrid>
                <a:gridCol w="2441448"/>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1" name="TextBox 20"/>
          <p:cNvSpPr txBox="1"/>
          <p:nvPr/>
        </p:nvSpPr>
        <p:spPr>
          <a:xfrm>
            <a:off x="310896" y="662025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固定資産減価償却内訳明細書（2026年5月期）に基づく。建物の取得価額には塩町館に係る改造工事16,744千円（期末簿価5,442千円）を含む。</a:t>
            </a:r>
          </a:p>
          <a:p>
            <a:pPr algn="l">
              <a:lnSpc>
                <a:spcPct val="112000"/>
              </a:lnSpc>
              <a:spcAft>
                <a:spcPts val="100"/>
              </a:spcAft>
            </a:pPr>
            <a:r>
              <a:rPr sz="750" b="0">
                <a:solidFill>
                  <a:srgbClr val="5A6670"/>
                </a:solidFill>
                <a:latin typeface="游ゴシック"/>
                <a:ea typeface="游ゴシック"/>
                <a:cs typeface="游ゴシック"/>
              </a:rPr>
              <a:t>※ 土地・建物の面積は公簿・実測とも資料未受領のため記載していない（要確認）。路線価等による時価評価も未実施。</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拠点概要（厨房・製造設備）</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ワンオペを前提としつつも、業務用厨房・冷蔵設備・製粉設備は複数店舗分の仕込みに耐える構成</a:t>
            </a:r>
            <a:endParaRPr lang="en-US" altLang="ja-JP" dirty="0"/>
          </a:p>
        </p:txBody>
      </p:sp>
      <p:pic>
        <p:nvPicPr>
          <p:cNvPr id="14" name="Picture 13" descr="厨房01.jpg"/>
          <p:cNvPicPr>
            <a:picLocks noChangeAspect="1"/>
          </p:cNvPicPr>
          <p:nvPr/>
        </p:nvPicPr>
        <p:blipFill>
          <a:blip r:embed="rId3"/>
          <a:stretch>
            <a:fillRect/>
          </a:stretch>
        </p:blipFill>
        <p:spPr>
          <a:xfrm>
            <a:off x="310896" y="1481328"/>
            <a:ext cx="3145536" cy="2359152"/>
          </a:xfrm>
          <a:prstGeom prst="rect">
            <a:avLst/>
          </a:prstGeom>
        </p:spPr>
      </p:pic>
      <p:sp>
        <p:nvSpPr>
          <p:cNvPr id="15" name="TextBox 14"/>
          <p:cNvSpPr txBox="1"/>
          <p:nvPr/>
        </p:nvSpPr>
        <p:spPr>
          <a:xfrm>
            <a:off x="31089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調理場（業務用ガスコンロ・五徳鍋）</a:t>
            </a:r>
          </a:p>
        </p:txBody>
      </p:sp>
      <p:pic>
        <p:nvPicPr>
          <p:cNvPr id="16" name="Picture 15" descr="厨房03.jpg"/>
          <p:cNvPicPr>
            <a:picLocks noChangeAspect="1"/>
          </p:cNvPicPr>
          <p:nvPr/>
        </p:nvPicPr>
        <p:blipFill>
          <a:blip r:embed="rId4"/>
          <a:stretch>
            <a:fillRect/>
          </a:stretch>
        </p:blipFill>
        <p:spPr>
          <a:xfrm>
            <a:off x="3602736" y="1481328"/>
            <a:ext cx="3145536" cy="2359152"/>
          </a:xfrm>
          <a:prstGeom prst="rect">
            <a:avLst/>
          </a:prstGeom>
        </p:spPr>
      </p:pic>
      <p:sp>
        <p:nvSpPr>
          <p:cNvPr id="17" name="TextBox 16"/>
          <p:cNvSpPr txBox="1"/>
          <p:nvPr/>
        </p:nvSpPr>
        <p:spPr>
          <a:xfrm>
            <a:off x="360273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洗い場・食器洗浄機</a:t>
            </a:r>
          </a:p>
        </p:txBody>
      </p:sp>
      <p:pic>
        <p:nvPicPr>
          <p:cNvPr id="18" name="Picture 17" descr="厨房05.jpg"/>
          <p:cNvPicPr>
            <a:picLocks noChangeAspect="1"/>
          </p:cNvPicPr>
          <p:nvPr/>
        </p:nvPicPr>
        <p:blipFill>
          <a:blip r:embed="rId5"/>
          <a:stretch>
            <a:fillRect/>
          </a:stretch>
        </p:blipFill>
        <p:spPr>
          <a:xfrm>
            <a:off x="6894576" y="1481328"/>
            <a:ext cx="3145536" cy="2359152"/>
          </a:xfrm>
          <a:prstGeom prst="rect">
            <a:avLst/>
          </a:prstGeom>
        </p:spPr>
      </p:pic>
      <p:sp>
        <p:nvSpPr>
          <p:cNvPr id="19" name="TextBox 18"/>
          <p:cNvSpPr txBox="1"/>
          <p:nvPr/>
        </p:nvSpPr>
        <p:spPr>
          <a:xfrm>
            <a:off x="689457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焼き台・食器棚</a:t>
            </a:r>
          </a:p>
        </p:txBody>
      </p:sp>
      <p:pic>
        <p:nvPicPr>
          <p:cNvPr id="20" name="Picture 19" descr="厨房04.jpg"/>
          <p:cNvPicPr>
            <a:picLocks noChangeAspect="1"/>
          </p:cNvPicPr>
          <p:nvPr/>
        </p:nvPicPr>
        <p:blipFill>
          <a:blip r:embed="rId6"/>
          <a:stretch>
            <a:fillRect/>
          </a:stretch>
        </p:blipFill>
        <p:spPr>
          <a:xfrm>
            <a:off x="310896" y="4133087"/>
            <a:ext cx="2560320" cy="1920240"/>
          </a:xfrm>
          <a:prstGeom prst="rect">
            <a:avLst/>
          </a:prstGeom>
        </p:spPr>
      </p:pic>
      <p:sp>
        <p:nvSpPr>
          <p:cNvPr id="21" name="TextBox 20"/>
          <p:cNvSpPr txBox="1"/>
          <p:nvPr/>
        </p:nvSpPr>
        <p:spPr>
          <a:xfrm>
            <a:off x="310896" y="6089903"/>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釜場（茹で釜・ゆで麺機）</a:t>
            </a:r>
          </a:p>
        </p:txBody>
      </p:sp>
      <p:pic>
        <p:nvPicPr>
          <p:cNvPr id="22" name="Picture 21" descr="厨房02.jpg"/>
          <p:cNvPicPr>
            <a:picLocks noChangeAspect="1"/>
          </p:cNvPicPr>
          <p:nvPr/>
        </p:nvPicPr>
        <p:blipFill>
          <a:blip r:embed="rId7"/>
          <a:stretch>
            <a:fillRect/>
          </a:stretch>
        </p:blipFill>
        <p:spPr>
          <a:xfrm>
            <a:off x="3602736" y="4133087"/>
            <a:ext cx="1440180" cy="1920240"/>
          </a:xfrm>
          <a:prstGeom prst="rect">
            <a:avLst/>
          </a:prstGeom>
        </p:spPr>
      </p:pic>
      <p:sp>
        <p:nvSpPr>
          <p:cNvPr id="23" name="TextBox 22"/>
          <p:cNvSpPr txBox="1"/>
          <p:nvPr/>
        </p:nvSpPr>
        <p:spPr>
          <a:xfrm>
            <a:off x="3602736" y="6089903"/>
            <a:ext cx="178308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業務用冷蔵庫（6ドア＋縦型）</a:t>
            </a:r>
          </a:p>
        </p:txBody>
      </p:sp>
      <p:sp>
        <p:nvSpPr>
          <p:cNvPr id="24" name="Rectangle 23"/>
          <p:cNvSpPr/>
          <p:nvPr/>
        </p:nvSpPr>
        <p:spPr>
          <a:xfrm>
            <a:off x="5577840" y="4133087"/>
            <a:ext cx="480060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現地実査で確認できた主な設備</a:t>
            </a:r>
          </a:p>
        </p:txBody>
      </p:sp>
      <p:sp>
        <p:nvSpPr>
          <p:cNvPr id="25" name="Rectangle 24"/>
          <p:cNvSpPr/>
          <p:nvPr/>
        </p:nvSpPr>
        <p:spPr>
          <a:xfrm>
            <a:off x="5577840" y="4489704"/>
            <a:ext cx="4800600" cy="169164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05856" y="4599432"/>
            <a:ext cx="4544568" cy="1472184"/>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a:ea typeface="游ゴシック"/>
                <a:cs typeface="游ゴシック"/>
              </a:rPr>
              <a:t>■ 厨房：業務用ガスコンロ（maruzen）複数、茹で釜・ゆで麺機、焼き台、換気フード、</a:t>
            </a:r>
          </a:p>
          <a:p>
            <a:pPr algn="l">
              <a:lnSpc>
                <a:spcPct val="116000"/>
              </a:lnSpc>
              <a:spcAft>
                <a:spcPts val="100"/>
              </a:spcAft>
            </a:pPr>
            <a:r>
              <a:rPr sz="819" b="0">
                <a:solidFill>
                  <a:srgbClr val="1A1A1A"/>
                </a:solidFill>
                <a:latin typeface="游ゴシック"/>
                <a:ea typeface="游ゴシック"/>
                <a:cs typeface="游ゴシック"/>
              </a:rPr>
              <a:t>　　　　食器洗浄機（SMART A5）、三槽シンク</a:t>
            </a:r>
          </a:p>
          <a:p>
            <a:pPr algn="l">
              <a:lnSpc>
                <a:spcPct val="116000"/>
              </a:lnSpc>
              <a:spcAft>
                <a:spcPts val="100"/>
              </a:spcAft>
            </a:pPr>
            <a:r>
              <a:rPr sz="819" b="0">
                <a:solidFill>
                  <a:srgbClr val="1A1A1A"/>
                </a:solidFill>
                <a:latin typeface="游ゴシック"/>
                <a:ea typeface="游ゴシック"/>
                <a:cs typeface="游ゴシック"/>
              </a:rPr>
              <a:t>■ 冷蔵：業務用冷蔵庫（ホシザキ 6ドア＋縦型）、冷蔵ショーケース、冷蔵ユニット2基</a:t>
            </a:r>
          </a:p>
          <a:p>
            <a:pPr algn="l">
              <a:lnSpc>
                <a:spcPct val="116000"/>
              </a:lnSpc>
              <a:spcAft>
                <a:spcPts val="100"/>
              </a:spcAft>
            </a:pPr>
            <a:r>
              <a:rPr sz="819" b="0">
                <a:solidFill>
                  <a:srgbClr val="1A1A1A"/>
                </a:solidFill>
                <a:latin typeface="游ゴシック"/>
                <a:ea typeface="游ゴシック"/>
                <a:cs typeface="游ゴシック"/>
              </a:rPr>
              <a:t>■ 製粉：電動石臼製粉機、木製石臼製粉機、二連式石臼製粉機、小麦製粉機、大理石作業台</a:t>
            </a:r>
          </a:p>
          <a:p>
            <a:pPr algn="l">
              <a:lnSpc>
                <a:spcPct val="116000"/>
              </a:lnSpc>
              <a:spcAft>
                <a:spcPts val="100"/>
              </a:spcAft>
            </a:pPr>
            <a:r>
              <a:rPr sz="819" b="0">
                <a:solidFill>
                  <a:srgbClr val="1A1A1A"/>
                </a:solidFill>
                <a:latin typeface="游ゴシック"/>
                <a:ea typeface="游ゴシック"/>
                <a:cs typeface="游ゴシック"/>
              </a:rPr>
              <a:t>■ そば打ち場：木製そば打ち台2台、朱塗りこね鉢、そば包丁3丁、こま板、専用シンク</a:t>
            </a:r>
          </a:p>
          <a:p>
            <a:pPr algn="l">
              <a:lnSpc>
                <a:spcPct val="116000"/>
              </a:lnSpc>
              <a:spcAft>
                <a:spcPts val="100"/>
              </a:spcAft>
            </a:pPr>
            <a:r>
              <a:rPr sz="819" b="0">
                <a:solidFill>
                  <a:srgbClr val="1A1A1A"/>
                </a:solidFill>
                <a:latin typeface="游ゴシック"/>
                <a:ea typeface="游ゴシック"/>
                <a:cs typeface="游ゴシック"/>
              </a:rPr>
              <a:t>■ 保管：玄そば定温保管庫（冷却ユニット付・木造断熱仕様）</a:t>
            </a:r>
          </a:p>
          <a:p>
            <a:pPr algn="l">
              <a:lnSpc>
                <a:spcPct val="116000"/>
              </a:lnSpc>
              <a:spcAft>
                <a:spcPts val="100"/>
              </a:spcAft>
            </a:pPr>
            <a:r>
              <a:rPr sz="819" b="0">
                <a:solidFill>
                  <a:srgbClr val="1A1A1A"/>
                </a:solidFill>
                <a:latin typeface="游ゴシック"/>
                <a:ea typeface="游ゴシック"/>
                <a:cs typeface="游ゴシック"/>
              </a:rPr>
              <a:t>■ 客席：座敷（座卓6卓程度）・囲炉裏・縁側デッキ、薪ストーブ2台</a:t>
            </a:r>
          </a:p>
        </p:txBody>
      </p:sp>
      <p:sp>
        <p:nvSpPr>
          <p:cNvPr id="27" name="TextBox 26"/>
          <p:cNvSpPr txBox="1"/>
          <p:nvPr/>
        </p:nvSpPr>
        <p:spPr>
          <a:xfrm>
            <a:off x="310896" y="63093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写真は現地実査時に撮影したもの。設備の稼働状況・更新履歴・保守契約の有無は要確認。</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不動産詳細</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事業用不動産は全て自己所有で賃借はなし。ただし店舗建物は未登記であり、本件実行前に権利関係の整備が必要</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所有</a:t>
            </a:r>
          </a:p>
        </p:txBody>
      </p:sp>
      <p:graphicFrame>
        <p:nvGraphicFramePr>
          <p:cNvPr id="15" name="Table 14"/>
          <p:cNvGraphicFramePr>
            <a:graphicFrameLocks noGrp="1"/>
          </p:cNvGraphicFramePr>
          <p:nvPr/>
        </p:nvGraphicFramePr>
        <p:xfrm>
          <a:off x="310896" y="1874519"/>
          <a:ext cx="10067539" cy="2359152"/>
        </p:xfrm>
        <a:graphic>
          <a:graphicData uri="http://schemas.openxmlformats.org/drawingml/2006/table">
            <a:tbl>
              <a:tblPr firstRow="0" bandRow="0">
                <a:tableStyleId>{5940675A-B579-460E-94D1-54222C63F5DA}</a:tableStyleId>
              </a:tblPr>
              <a:tblGrid>
                <a:gridCol w="289945"/>
                <a:gridCol w="1433618"/>
                <a:gridCol w="1079240"/>
                <a:gridCol w="1449726"/>
                <a:gridCol w="499350"/>
                <a:gridCol w="1030916"/>
                <a:gridCol w="628214"/>
                <a:gridCol w="628214"/>
                <a:gridCol w="1095348"/>
                <a:gridCol w="1932968"/>
              </a:tblGrid>
              <a:tr h="256032">
                <a:tc>
                  <a:txBody>
                    <a:bodyPr wrap="square"/>
                    <a:lstStyle/>
                    <a:p>
                      <a:pPr algn="ctr">
                        <a:spcAft>
                          <a:spcPts val="0"/>
                        </a:spcAft>
                      </a:pPr>
                      <a:r>
                        <a:rPr sz="78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所在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構造</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面積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常陸太田市天下野町2162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店舗敷地・駐車場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路線価・固定資産税評価額による時価評価は未実施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建物（店舗兼住居）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木造モルタル造（板倉造・茅葺き）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85,704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27,854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1階 店舗／2階 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代表者が設計。未登記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電気・給排水設備ほか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自動火災報知設備・冷蔵設備・縁側席工事等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駐車場舗装・看板・ブロック塀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駐車場・外構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建物（改造工事）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2004年12月〜2005年4月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16,744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5,442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当社の事業に未供用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営業権・什器備品は元従業員へ譲渡済。登記変更は未了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457200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賃借</a:t>
            </a:r>
          </a:p>
        </p:txBody>
      </p:sp>
      <p:sp>
        <p:nvSpPr>
          <p:cNvPr id="17" name="Rectangle 16"/>
          <p:cNvSpPr/>
          <p:nvPr/>
        </p:nvSpPr>
        <p:spPr>
          <a:xfrm>
            <a:off x="310896" y="4928616"/>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5047488"/>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該当なし（事業用不動産の賃借はありません。地代家賃の計上もありません）</a:t>
            </a:r>
          </a:p>
        </p:txBody>
      </p:sp>
      <p:sp>
        <p:nvSpPr>
          <p:cNvPr id="19" name="Rectangle 18"/>
          <p:cNvSpPr/>
          <p:nvPr/>
        </p:nvSpPr>
        <p:spPr>
          <a:xfrm>
            <a:off x="310896" y="5559552"/>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担保</a:t>
            </a:r>
          </a:p>
        </p:txBody>
      </p:sp>
      <p:sp>
        <p:nvSpPr>
          <p:cNvPr id="20" name="Rectangle 19"/>
          <p:cNvSpPr/>
          <p:nvPr/>
        </p:nvSpPr>
        <p:spPr>
          <a:xfrm>
            <a:off x="310896" y="5916168"/>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6035040"/>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金融機関借入がないため、担保設定はないものと想定（要確認：登記簿謄本は未受領）</a:t>
            </a:r>
          </a:p>
        </p:txBody>
      </p:sp>
      <p:sp>
        <p:nvSpPr>
          <p:cNvPr id="22" name="TextBox 21"/>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単位：千円。期末簿価は2026年5月期。建物は未登記であり、土地・建物の登記簿謄本・公図・測量図はいずれも未受領です（要確認）。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石臼製粉機2基、そば打ち場、玄そば定温保管庫、業務用厨房を保有。蕎麦の一貫製造に必要な設備は揃っている</a:t>
            </a:r>
            <a:endParaRPr lang="en-US" altLang="ja-JP" dirty="0"/>
          </a:p>
        </p:txBody>
      </p:sp>
      <p:graphicFrame>
        <p:nvGraphicFramePr>
          <p:cNvPr id="14" name="Table 13"/>
          <p:cNvGraphicFramePr>
            <a:graphicFrameLocks noGrp="1"/>
          </p:cNvGraphicFramePr>
          <p:nvPr/>
        </p:nvGraphicFramePr>
        <p:xfrm>
          <a:off x="310896" y="1408176"/>
          <a:ext cx="10067544" cy="4535424"/>
        </p:xfrm>
        <a:graphic>
          <a:graphicData uri="http://schemas.openxmlformats.org/drawingml/2006/table">
            <a:tbl>
              <a:tblPr firstRow="0" bandRow="0">
                <a:tableStyleId>{5940675A-B579-460E-94D1-54222C63F5DA}</a:tableStyleId>
              </a:tblPr>
              <a:tblGrid>
                <a:gridCol w="310896"/>
                <a:gridCol w="2468880"/>
                <a:gridCol w="841248"/>
                <a:gridCol w="932688"/>
                <a:gridCol w="512064"/>
                <a:gridCol w="713232"/>
                <a:gridCol w="694944"/>
                <a:gridCol w="3593592"/>
              </a:tblGrid>
              <a:tr h="237744">
                <a:tc>
                  <a:txBody>
                    <a:bodyPr wrap="square"/>
                    <a:lstStyle/>
                    <a:p>
                      <a:pPr algn="ctr">
                        <a:spcAft>
                          <a:spcPts val="0"/>
                        </a:spcAft>
                      </a:pPr>
                      <a:r>
                        <a:rPr sz="72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現地実査。こね鉢（朱塗り）・そば包丁3丁・こま板・のし棒掛け・専用シンクを併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27278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単位：千円。No.1〜15は2026年5月期 固定資産減価償却内訳明細書からの抜粋、No.16〜22は現地実査により把握した資産です。</a:t>
            </a:r>
          </a:p>
          <a:p>
            <a:pPr algn="l">
              <a:lnSpc>
                <a:spcPct val="112000"/>
              </a:lnSpc>
              <a:spcAft>
                <a:spcPts val="100"/>
              </a:spcAft>
            </a:pPr>
            <a:r>
              <a:rPr sz="750" b="0">
                <a:solidFill>
                  <a:srgbClr val="5A6670"/>
                </a:solidFill>
                <a:latin typeface="游ゴシック"/>
                <a:ea typeface="游ゴシック"/>
                <a:cs typeface="游ゴシック"/>
              </a:rPr>
              <a:t>※ 後者は固定資産台帳との対応関係が未整理であり、取得年月・取得価額は要確認です。固定資産全体の取得価額合計は180,709千円、期末簿価合計は45,716千円です。</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solidFill/>
              </a:rPr>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総資産は減価償却の進行により毎期減少。役員借入を3期で12,451千円返済し、純資産は23,658千円を維持</a:t>
            </a:r>
            <a:endParaRPr lang="en-US" altLang="ja-JP" dirty="0"/>
          </a:p>
        </p:txBody>
      </p:sp>
      <p:graphicFrame>
        <p:nvGraphicFramePr>
          <p:cNvPr id="14" name="Table 13"/>
          <p:cNvGraphicFramePr>
            <a:graphicFrameLocks noGrp="1"/>
          </p:cNvGraphicFramePr>
          <p:nvPr/>
        </p:nvGraphicFramePr>
        <p:xfrm>
          <a:off x="310896" y="1408176"/>
          <a:ext cx="4846316" cy="4165092"/>
        </p:xfrm>
        <a:graphic>
          <a:graphicData uri="http://schemas.openxmlformats.org/drawingml/2006/table">
            <a:tbl>
              <a:tblPr firstRow="0" bandRow="0">
                <a:tableStyleId>{5940675A-B579-460E-94D1-54222C63F5DA}</a:tableStyleId>
              </a:tblPr>
              <a:tblGrid>
                <a:gridCol w="1993391"/>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5" name="Table 14"/>
          <p:cNvGraphicFramePr>
            <a:graphicFrameLocks noGrp="1"/>
          </p:cNvGraphicFramePr>
          <p:nvPr/>
        </p:nvGraphicFramePr>
        <p:xfrm>
          <a:off x="5376672" y="1408176"/>
          <a:ext cx="5001764" cy="2665476"/>
        </p:xfrm>
        <a:graphic>
          <a:graphicData uri="http://schemas.openxmlformats.org/drawingml/2006/table">
            <a:tbl>
              <a:tblPr firstRow="0" bandRow="0">
                <a:tableStyleId>{5940675A-B579-460E-94D1-54222C63F5DA}</a:tableStyleId>
              </a:tblPr>
              <a:tblGrid>
                <a:gridCol w="2148839"/>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4315968"/>
            <a:ext cx="5001768" cy="226771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68112" y="4389120"/>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8" name="TextBox 17"/>
          <p:cNvSpPr txBox="1"/>
          <p:nvPr/>
        </p:nvSpPr>
        <p:spPr>
          <a:xfrm>
            <a:off x="5486400" y="4736592"/>
            <a:ext cx="4782312" cy="1755648"/>
          </a:xfrm>
          <a:prstGeom prst="rect">
            <a:avLst/>
          </a:prstGeom>
          <a:noFill/>
        </p:spPr>
        <p:txBody>
          <a:bodyPr wrap="square" lIns="0" rIns="0" tIns="0" bIns="0" anchor="t">
            <a:spAutoFit/>
          </a:bodyPr>
          <a:lstStyle/>
          <a:p>
            <a:pPr algn="l">
              <a:lnSpc>
                <a:spcPct val="114000"/>
              </a:lnSpc>
              <a:spcAft>
                <a:spcPts val="200"/>
              </a:spcAft>
            </a:pPr>
            <a:r>
              <a:rPr sz="800" b="1">
                <a:solidFill>
                  <a:srgbClr val="0889C9"/>
                </a:solidFill>
                <a:latin typeface="游ゴシック"/>
                <a:ea typeface="游ゴシック"/>
                <a:cs typeface="游ゴシック"/>
              </a:rPr>
              <a:t>≪総資産≫ </a:t>
            </a:r>
            <a:r>
              <a:rPr sz="800" b="0">
                <a:solidFill>
                  <a:srgbClr val="1A1A1A"/>
                </a:solidFill>
                <a:latin typeface="游ゴシック"/>
                <a:ea typeface="游ゴシック"/>
                <a:cs typeface="游ゴシック"/>
              </a:rPr>
              <a:t>69,313→64,254→57,330千円。減価償却の進行により毎期減少し、建物は51,246→39,249千円（3期で△11,997千円）。</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≪長期借入金≫ </a:t>
            </a:r>
            <a:r>
              <a:rPr sz="800" b="0">
                <a:solidFill>
                  <a:srgbClr val="1A1A1A"/>
                </a:solidFill>
                <a:latin typeface="游ゴシック"/>
                <a:ea typeface="游ゴシック"/>
                <a:cs typeface="游ゴシック"/>
              </a:rPr>
              <a:t>45,195→38,997→32,744千円と3期で12,451千円を返済。全額が代表者・配偶者からの無利息借入で、金融機関借入・連帯保証はない。</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≪未収入金≫ </a:t>
            </a:r>
            <a:r>
              <a:rPr sz="800" b="0">
                <a:solidFill>
                  <a:srgbClr val="1A1A1A"/>
                </a:solidFill>
                <a:latin typeface="游ゴシック"/>
                <a:ea typeface="游ゴシック"/>
                <a:cs typeface="游ゴシック"/>
              </a:rPr>
              <a:t>2,152→2,737→3,323千円と3期連続で増加。関係先向けの債権であり回収条件・回収可能性は要確認。</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≪純資産≫ </a:t>
            </a:r>
            <a:r>
              <a:rPr sz="800" b="0">
                <a:solidFill>
                  <a:srgbClr val="1A1A1A"/>
                </a:solidFill>
                <a:latin typeface="游ゴシック"/>
                <a:ea typeface="游ゴシック"/>
                <a:cs typeface="游ゴシック"/>
              </a:rPr>
              <a:t>22,631→23,712→23,658千円とほぼ横ばい。2026/5期は当期純損失△54千円により微減。</a:t>
            </a:r>
          </a:p>
        </p:txBody>
      </p:sp>
      <p:sp>
        <p:nvSpPr>
          <p:cNvPr id="19" name="TextBox 18"/>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決算書（2024年5月期〜2026年5月期）に基づく。千円未満の端数処理により合計が一致しない場合がある。</a:t>
            </a:r>
          </a:p>
          <a:p>
            <a:pPr algn="l">
              <a:lnSpc>
                <a:spcPct val="112000"/>
              </a:lnSpc>
              <a:spcAft>
                <a:spcPts val="100"/>
              </a:spcAft>
            </a:pPr>
            <a:r>
              <a:rPr sz="750" b="0">
                <a:solidFill>
                  <a:srgbClr val="5A6670"/>
                </a:solidFill>
                <a:latin typeface="游ゴシック"/>
                <a:ea typeface="游ゴシック"/>
                <a:cs typeface="游ゴシック"/>
              </a:rPr>
              <a:t>※ 時価修正の着眼点：①土地3,450千円の時価評価、②車両2台（簿価1円のクラシックカー）の時価、③出資金1,100千円（関係会社）の評価、④未収入金の回収可能性、⑤商標権（簿価ゼロ）のブランド価値。いずれも未検証であり、時価純資産の算定は未了です。</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売上高・粗利ともに減少。販管費6,267千円は3期横ばいであり、営業損益の悪化は粗利の減少による</a:t>
            </a:r>
            <a:endParaRPr lang="en-US" altLang="ja-JP" dirty="0"/>
          </a:p>
        </p:txBody>
      </p:sp>
      <p:graphicFrame>
        <p:nvGraphicFramePr>
          <p:cNvPr id="14" name="Table 13"/>
          <p:cNvGraphicFramePr>
            <a:graphicFrameLocks noGrp="1"/>
          </p:cNvGraphicFramePr>
          <p:nvPr/>
        </p:nvGraphicFramePr>
        <p:xfrm>
          <a:off x="310896" y="1408176"/>
          <a:ext cx="6583677" cy="4904824"/>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≪売上高≫ </a:t>
            </a:r>
            <a:r>
              <a:rPr sz="830" b="0">
                <a:solidFill>
                  <a:srgbClr val="1A1A1A"/>
                </a:solidFill>
                <a:latin typeface="游ゴシック"/>
                <a:ea typeface="游ゴシック"/>
                <a:cs typeface="游ゴシック"/>
              </a:rPr>
              <a:t>24,455→23,542→22,484千円と毎期減少。4区分のうち飲食店売上高の減少が最大。</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≪売上原価≫ </a:t>
            </a:r>
            <a:r>
              <a:rPr sz="830" b="0">
                <a:solidFill>
                  <a:srgbClr val="1A1A1A"/>
                </a:solidFill>
                <a:latin typeface="游ゴシック"/>
                <a:ea typeface="游ゴシック"/>
                <a:cs typeface="游ゴシック"/>
              </a:rPr>
              <a:t>16,403→16,047→16,428千円と横ばい。製造原価の42.3％が減価償却費であり、売上に連動しない固定費が大きい。</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≪販管費≫ </a:t>
            </a:r>
            <a:r>
              <a:rPr sz="830" b="0">
                <a:solidFill>
                  <a:srgbClr val="1A1A1A"/>
                </a:solidFill>
                <a:latin typeface="游ゴシック"/>
                <a:ea typeface="游ゴシック"/>
                <a:cs typeface="游ゴシック"/>
              </a:rPr>
              <a:t>7,082→6,212→6,267千円。給料手当・役員報酬の計上はない（労務費は製造原価）。</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≪営業外損益≫ </a:t>
            </a:r>
            <a:r>
              <a:rPr sz="830" b="0">
                <a:solidFill>
                  <a:srgbClr val="1A1A1A"/>
                </a:solidFill>
                <a:latin typeface="游ゴシック"/>
                <a:ea typeface="游ゴシック"/>
                <a:cs typeface="游ゴシック"/>
              </a:rPr>
              <a:t>2025/5期の雑収入2,490千円には補助金収入を含み、営業外費用の圧縮記帳損2,282千円は当該補助金に係るホームページ改修費用の圧縮記帳。いずれも非経常。</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≪当期純利益≫ </a:t>
            </a:r>
            <a:r>
              <a:rPr sz="830" b="0">
                <a:solidFill>
                  <a:srgbClr val="1A1A1A"/>
                </a:solidFill>
                <a:latin typeface="游ゴシック"/>
                <a:ea typeface="游ゴシック"/>
                <a:cs typeface="游ゴシック"/>
              </a:rPr>
              <a:t>911→1,081→△54千円。2026/5期は法人税等72千円の計上により最終赤字。</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a:t>
            </a:r>
          </a:p>
        </p:txBody>
      </p:sp>
    </p:spTree>
    <p:extLst>
      <p:ext uri="{BB962C8B-B14F-4D97-AF65-F5344CB8AC3E}">
        <p14:creationId xmlns:p14="http://schemas.microsoft.com/office/powerpoint/2010/main" val="37409429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F011-9D10-1689-48C1-6E79216CA945}"/>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A828581-8161-ED21-30AA-A4EFF4112CC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製造原価報告書</a:t>
            </a:r>
          </a:p>
        </p:txBody>
      </p:sp>
      <p:sp>
        <p:nvSpPr>
          <p:cNvPr id="5" name="タイトル 1">
            <a:extLst>
              <a:ext uri="{FF2B5EF4-FFF2-40B4-BE49-F238E27FC236}">
                <a16:creationId xmlns:a16="http://schemas.microsoft.com/office/drawing/2014/main" id="{7A0FBE86-5EA8-D086-19D3-6B5D523DBCD3}"/>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D523D1-0942-99BF-C039-E07124B2F5C1}"/>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製造原価16,579千円のうち減価償却費が7,012千円（42.3％）を占め、売上に連動しない固定費性の高い原価構造</a:t>
            </a:r>
            <a:endParaRPr lang="en-US" altLang="ja-JP" dirty="0"/>
          </a:p>
        </p:txBody>
      </p:sp>
      <p:graphicFrame>
        <p:nvGraphicFramePr>
          <p:cNvPr id="14" name="Table 13"/>
          <p:cNvGraphicFramePr>
            <a:graphicFrameLocks noGrp="1"/>
          </p:cNvGraphicFramePr>
          <p:nvPr/>
        </p:nvGraphicFramePr>
        <p:xfrm>
          <a:off x="310896" y="1408176"/>
          <a:ext cx="4846316" cy="4615887"/>
        </p:xfrm>
        <a:graphic>
          <a:graphicData uri="http://schemas.openxmlformats.org/drawingml/2006/table">
            <a:tbl>
              <a:tblPr firstRow="0" bandRow="0">
                <a:tableStyleId>{5940675A-B579-460E-94D1-54222C63F5DA}</a:tableStyleId>
              </a:tblPr>
              <a:tblGrid>
                <a:gridCol w="1993391"/>
                <a:gridCol w="950975"/>
                <a:gridCol w="950975"/>
                <a:gridCol w="950975"/>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≪減価償却費 7,012千円≫ </a:t>
            </a:r>
            <a:r>
              <a:rPr sz="900" b="0">
                <a:solidFill>
                  <a:srgbClr val="1A1A1A"/>
                </a:solidFill>
                <a:latin typeface="游ゴシック"/>
                <a:ea typeface="游ゴシック"/>
                <a:cs typeface="游ゴシック"/>
              </a:rPr>
              <a:t>7,265→7,292→7,012千円。製造原価の42.3％を占める。2002年取得の建物・建物附属設備（旧定額法・旧定率法）が中心であり、今後は逓減する見込み。</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≪材料費 5,508千円≫ </a:t>
            </a:r>
            <a:r>
              <a:rPr sz="900" b="0">
                <a:solidFill>
                  <a:srgbClr val="1A1A1A"/>
                </a:solidFill>
                <a:latin typeface="游ゴシック"/>
                <a:ea typeface="游ゴシック"/>
                <a:cs typeface="游ゴシック"/>
              </a:rPr>
              <a:t>5,130→4,612→5,508千円。玄そば・小麦のほか、鴨肉・岩魚・山菜等の季節食材を含む。期末材料棚卸高は3,237→2,938→2,025千円と減少しており、玄そばの在庫水準の低下が見られる。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≪労務費 2,221千円≫ </a:t>
            </a:r>
            <a:r>
              <a:rPr sz="900" b="0">
                <a:solidFill>
                  <a:srgbClr val="1A1A1A"/>
                </a:solidFill>
                <a:latin typeface="游ゴシック"/>
                <a:ea typeface="游ゴシック"/>
                <a:cs typeface="游ゴシック"/>
              </a:rPr>
              <a:t>雑給1,989→2,199→2,221千円。親族への「手伝い料」が中心で支払先は「小川実他1」。代表者・配偶者はいずれも無報酬であり、本報告書にも計上されていない。</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≪外注加工費 272千円≫ </a:t>
            </a:r>
            <a:r>
              <a:rPr sz="900" b="0">
                <a:solidFill>
                  <a:srgbClr val="1A1A1A"/>
                </a:solidFill>
                <a:latin typeface="游ゴシック"/>
                <a:ea typeface="游ゴシック"/>
                <a:cs typeface="游ゴシック"/>
              </a:rPr>
              <a:t>394→6→272千円。2026/5期は伊勢又米穀製粉（株）への製粉外注267千円が中心。</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≪育苗・耕作費 39千円≫ </a:t>
            </a:r>
            <a:r>
              <a:rPr sz="900" b="0">
                <a:solidFill>
                  <a:srgbClr val="1A1A1A"/>
                </a:solidFill>
                <a:latin typeface="游ゴシック"/>
                <a:ea typeface="游ゴシック"/>
                <a:cs typeface="游ゴシック"/>
              </a:rPr>
              <a:t>自家栽培（焼畑を含む）に係る費用。大規模生産は中止し、現在は地元産の玄そばを適正価格で仕入れる方針と伺っている（面談ヒアリング）。</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決算書（2024年5月期〜2026年5月期）に基づく。当期製品製造原価は損益計算書の同科目と一致する。</a:t>
            </a:r>
          </a:p>
        </p:txBody>
      </p:sp>
    </p:spTree>
    <p:extLst>
      <p:ext uri="{BB962C8B-B14F-4D97-AF65-F5344CB8AC3E}">
        <p14:creationId xmlns:p14="http://schemas.microsoft.com/office/powerpoint/2010/main" val="296809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販管費6,267千円は3期を通じてほぼ横ばい。水道光熱費・租税公課・管理諸費の3科目で59％を占める</a:t>
            </a:r>
            <a:endParaRPr lang="en-US" altLang="ja-JP" dirty="0"/>
          </a:p>
        </p:txBody>
      </p:sp>
      <p:graphicFrame>
        <p:nvGraphicFramePr>
          <p:cNvPr id="14" name="Table 13"/>
          <p:cNvGraphicFramePr>
            <a:graphicFrameLocks noGrp="1"/>
          </p:cNvGraphicFramePr>
          <p:nvPr/>
        </p:nvGraphicFramePr>
        <p:xfrm>
          <a:off x="310896" y="1408176"/>
          <a:ext cx="6583677" cy="3836816"/>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販管費の23.8％。茅葺き・板倉造の建物と薪ストーブ併用の空調に起因すると推察。</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税理士報酬594千円、Mマート（B2B受発注）248千円、銀行振込手数料83千円、特許事務所61千円等。</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販管費には給料手当・役員報酬の計上がない。労務費（雑給2,201千円）は製造原価に計上。</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決算書（2024年5月期〜2026年5月期）に基づく。構成比は売上高に対する比率。科目の内訳は総勘定元帳（2026年5月期）の取引先欄を集計したもの。</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solidFill/>
              </a:rPr>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東京・南阿佐ヶ谷での創業から36年。2002年の故郷への移転以降、焼畑栽培と里山再生に取り組む</a:t>
            </a:r>
            <a:endParaRPr lang="en-US" altLang="ja-JP" dirty="0"/>
          </a:p>
        </p:txBody>
      </p:sp>
      <p:graphicFrame>
        <p:nvGraphicFramePr>
          <p:cNvPr id="14" name="Table 13"/>
          <p:cNvGraphicFramePr>
            <a:graphicFrameLocks noGrp="1"/>
          </p:cNvGraphicFramePr>
          <p:nvPr/>
        </p:nvGraphicFramePr>
        <p:xfrm>
          <a:off x="310896" y="1408176"/>
          <a:ext cx="10067544" cy="4838998"/>
        </p:xfrm>
        <a:graphic>
          <a:graphicData uri="http://schemas.openxmlformats.org/drawingml/2006/table">
            <a:tbl>
              <a:tblPr firstRow="0" bandRow="0">
                <a:tableStyleId>{5940675A-B579-460E-94D1-54222C63F5DA}</a:tableStyleId>
              </a:tblPr>
              <a:tblGrid>
                <a:gridCol w="1170432"/>
                <a:gridCol w="8897112"/>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設立年月日・本店移転・事業目的の変更は法人登記簿、代表者経歴は著書の著者略歴、受賞歴は店内掲示物の実査、その他は面談ヒアリングに基づく。</a:t>
            </a:r>
          </a:p>
          <a:p>
            <a:pPr algn="l">
              <a:lnSpc>
                <a:spcPct val="112000"/>
              </a:lnSpc>
              <a:spcAft>
                <a:spcPts val="100"/>
              </a:spcAft>
            </a:pPr>
            <a:r>
              <a:rPr sz="750" b="0">
                <a:solidFill>
                  <a:srgbClr val="5A6670"/>
                </a:solidFill>
                <a:latin typeface="游ゴシック"/>
                <a:ea typeface="游ゴシック"/>
                <a:cs typeface="游ゴシック"/>
              </a:rPr>
              <a:t>※ 「1978年頃」「1986年頃」「2019年頃」等は、著者略歴の記載（31歳で入店、8年修業）および面談時の発言から弊社が推定したもの（推定）。</a:t>
            </a:r>
          </a:p>
        </p:txBody>
      </p:sp>
    </p:spTree>
    <p:extLst>
      <p:ext uri="{BB962C8B-B14F-4D97-AF65-F5344CB8AC3E}">
        <p14:creationId xmlns:p14="http://schemas.microsoft.com/office/powerpoint/2010/main" val="391401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粗挽き蕎麦の第一人者。里山再生という目的のために東京の人気店を畳み、生まれ故郷へ移った経緯を持つ</a:t>
            </a:r>
            <a:endParaRPr lang="en-US" altLang="ja-JP" dirty="0"/>
          </a:p>
        </p:txBody>
      </p:sp>
      <p:sp>
        <p:nvSpPr>
          <p:cNvPr id="14" name="Rectangle 13"/>
          <p:cNvSpPr/>
          <p:nvPr/>
        </p:nvSpPr>
        <p:spPr>
          <a:xfrm>
            <a:off x="310896" y="1481328"/>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小川 宣夫 氏（代表取締役）</a:t>
            </a:r>
          </a:p>
        </p:txBody>
      </p:sp>
      <p:graphicFrame>
        <p:nvGraphicFramePr>
          <p:cNvPr id="15" name="Table 14"/>
          <p:cNvGraphicFramePr>
            <a:graphicFrameLocks noGrp="1"/>
          </p:cNvGraphicFramePr>
          <p:nvPr/>
        </p:nvGraphicFramePr>
        <p:xfrm>
          <a:off x="310896" y="1837943"/>
          <a:ext cx="4846320" cy="2834640"/>
        </p:xfrm>
        <a:graphic>
          <a:graphicData uri="http://schemas.openxmlformats.org/drawingml/2006/table">
            <a:tbl>
              <a:tblPr firstRow="0" bandRow="0">
                <a:tableStyleId>{5940675A-B579-460E-94D1-54222C63F5DA}</a:tableStyleId>
              </a:tblPr>
              <a:tblGrid>
                <a:gridCol w="1188720"/>
                <a:gridCol w="3657600"/>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生年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1947年（79歳）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出身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修業先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東京・荻窪「本むら庵」（8年間）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専門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粗挽き粉で打つ蕎麦の第一人者。在来農法・焼き畑蕎麦栽培、小麦・茶の栽培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保有株式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130株（65.0％）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計上なし（無報酬）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本件後の関与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引継ぎ完了後に退任予定（引継ぎ期間・方式は応相談）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481328"/>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経営姿勢・買手選定にあたってのご意向</a:t>
            </a:r>
          </a:p>
        </p:txBody>
      </p:sp>
      <p:sp>
        <p:nvSpPr>
          <p:cNvPr id="17" name="Rectangle 16"/>
          <p:cNvSpPr/>
          <p:nvPr/>
        </p:nvSpPr>
        <p:spPr>
          <a:xfrm>
            <a:off x="5376672" y="1837943"/>
            <a:ext cx="5001768" cy="30358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47672"/>
            <a:ext cx="4745736" cy="2816352"/>
          </a:xfrm>
          <a:prstGeom prst="rect">
            <a:avLst/>
          </a:prstGeom>
          <a:noFill/>
        </p:spPr>
        <p:txBody>
          <a:bodyPr wrap="square" lIns="0" rIns="0" tIns="0" bIns="0" anchor="t">
            <a:spAutoFit/>
          </a:bodyPr>
          <a:lstStyle/>
          <a:p>
            <a:pPr algn="l">
              <a:lnSpc>
                <a:spcPct val="120000"/>
              </a:lnSpc>
              <a:spcAft>
                <a:spcPts val="200"/>
              </a:spcAft>
            </a:pPr>
            <a:r>
              <a:rPr sz="880" b="1">
                <a:solidFill>
                  <a:srgbClr val="0889C9"/>
                </a:solidFill>
                <a:latin typeface="游ゴシック"/>
                <a:ea typeface="游ゴシック"/>
                <a:cs typeface="游ゴシック"/>
              </a:rPr>
              <a:t>里山再生という動機　</a:t>
            </a:r>
            <a:r>
              <a:rPr sz="880" b="0">
                <a:solidFill>
                  <a:srgbClr val="1A1A1A"/>
                </a:solidFill>
                <a:latin typeface="游ゴシック"/>
                <a:ea typeface="游ゴシック"/>
                <a:cs typeface="游ゴシック"/>
              </a:rPr>
              <a:t>「もっとおいしい蕎麦を」という追求と、放棄されていた地元の里山を再生したいという思いから、2002年に東京で評価を得ていた店を畳み、生まれ故郷へ移転。国内でも希少となった焼き畑農法を再興して24年になる。</a:t>
            </a:r>
          </a:p>
          <a:p>
            <a:pPr algn="l">
              <a:lnSpc>
                <a:spcPct val="120000"/>
              </a:lnSpc>
              <a:spcAft>
                <a:spcPts val="200"/>
              </a:spcAft>
            </a:pPr>
            <a:r>
              <a:rPr sz="880" b="1">
                <a:solidFill>
                  <a:srgbClr val="0889C9"/>
                </a:solidFill>
                <a:latin typeface="游ゴシック"/>
                <a:ea typeface="游ゴシック"/>
                <a:cs typeface="游ゴシック"/>
              </a:rPr>
              <a:t>地域との関係　</a:t>
            </a:r>
            <a:r>
              <a:rPr sz="880" b="0">
                <a:solidFill>
                  <a:srgbClr val="1A1A1A"/>
                </a:solidFill>
                <a:latin typeface="游ゴシック"/>
                <a:ea typeface="游ゴシック"/>
                <a:cs typeface="游ゴシック"/>
              </a:rPr>
              <a:t>玄そばは、農家を応援する意味合いから地元産の常陸秋そばを高値で買い取る方針。地域の生産者との関係性そのものが、原料調達の基盤になっている。</a:t>
            </a:r>
          </a:p>
          <a:p>
            <a:pPr algn="l">
              <a:lnSpc>
                <a:spcPct val="120000"/>
              </a:lnSpc>
              <a:spcAft>
                <a:spcPts val="200"/>
              </a:spcAft>
            </a:pPr>
            <a:r>
              <a:rPr sz="880" b="1">
                <a:solidFill>
                  <a:srgbClr val="0889C9"/>
                </a:solidFill>
                <a:latin typeface="游ゴシック"/>
                <a:ea typeface="游ゴシック"/>
                <a:cs typeface="游ゴシック"/>
              </a:rPr>
              <a:t>買手選定のご意向　</a:t>
            </a:r>
            <a:r>
              <a:rPr sz="880" b="0">
                <a:solidFill>
                  <a:srgbClr val="1A1A1A"/>
                </a:solidFill>
                <a:latin typeface="游ゴシック"/>
                <a:ea typeface="游ゴシック"/>
                <a:cs typeface="游ゴシック"/>
              </a:rPr>
              <a:t>譲渡価額よりも、①「慈久庵」の店舗を守り蕎麦屋として事業を継続してくれること、②将来的に店舗を広げていけること、の2点を重視されている。「慈久庵」のブランドと郷土料理（古式けんちんそば）の両方を活かしてほしいとのご意向。</a:t>
            </a:r>
          </a:p>
          <a:p>
            <a:pPr algn="l">
              <a:lnSpc>
                <a:spcPct val="120000"/>
              </a:lnSpc>
              <a:spcAft>
                <a:spcPts val="200"/>
              </a:spcAft>
            </a:pPr>
            <a:r>
              <a:rPr sz="880" b="1">
                <a:solidFill>
                  <a:srgbClr val="0889C9"/>
                </a:solidFill>
                <a:latin typeface="游ゴシック"/>
                <a:ea typeface="游ゴシック"/>
                <a:cs typeface="游ゴシック"/>
              </a:rPr>
              <a:t>引継ぎについて　</a:t>
            </a:r>
            <a:r>
              <a:rPr sz="880" b="0">
                <a:solidFill>
                  <a:srgbClr val="1A1A1A"/>
                </a:solidFill>
                <a:latin typeface="游ゴシック"/>
                <a:ea typeface="游ゴシック"/>
                <a:cs typeface="游ゴシック"/>
              </a:rPr>
              <a:t>レシピや「かえし」は誰でも再現できるよう整理済とのこと。過去には弟子へ別店舗（塩町館）の営業を承継した実績がある。</a:t>
            </a:r>
          </a:p>
        </p:txBody>
      </p:sp>
      <p:sp>
        <p:nvSpPr>
          <p:cNvPr id="19" name="TextBox 18"/>
          <p:cNvSpPr txBox="1"/>
          <p:nvPr/>
        </p:nvSpPr>
        <p:spPr>
          <a:xfrm>
            <a:off x="310896" y="51206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経歴は著書『小川宣夫の蕎麦・饂飩指南』の著者略歴および Japan Brand Collection 2026 茨城版、ご意向は面談ヒアリングに基づく。</a:t>
            </a:r>
          </a:p>
        </p:txBody>
      </p:sp>
    </p:spTree>
    <p:extLst>
      <p:ext uri="{BB962C8B-B14F-4D97-AF65-F5344CB8AC3E}">
        <p14:creationId xmlns:p14="http://schemas.microsoft.com/office/powerpoint/2010/main" val="3170289564"/>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参考｜営業日・営業時間の拡大余地と人件費の論点</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週4日・昼のみという稼働が最大の伸び代である一方、代表者・配偶者が無報酬である点は買手が必ず織り込むべき論点</a:t>
            </a:r>
            <a:endParaRPr lang="en-US" altLang="ja-JP" dirty="0"/>
          </a:p>
        </p:txBody>
      </p:sp>
      <p:sp>
        <p:nvSpPr>
          <p:cNvPr id="14" name="Rectangle 13"/>
          <p:cNvSpPr/>
          <p:nvPr/>
        </p:nvSpPr>
        <p:spPr>
          <a:xfrm>
            <a:off x="310896" y="1408176"/>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① 営業日を拡大した場合の売上インパクト（仮説）</a:t>
            </a:r>
          </a:p>
        </p:txBody>
      </p:sp>
      <p:graphicFrame>
        <p:nvGraphicFramePr>
          <p:cNvPr id="15" name="Table 14"/>
          <p:cNvGraphicFramePr>
            <a:graphicFrameLocks noGrp="1"/>
          </p:cNvGraphicFramePr>
          <p:nvPr/>
        </p:nvGraphicFramePr>
        <p:xfrm>
          <a:off x="310896" y="1764792"/>
          <a:ext cx="4846319" cy="1335024"/>
        </p:xfrm>
        <a:graphic>
          <a:graphicData uri="http://schemas.openxmlformats.org/drawingml/2006/table">
            <a:tbl>
              <a:tblPr firstRow="0" bandRow="0">
                <a:tableStyleId>{5940675A-B579-460E-94D1-54222C63F5DA}</a:tableStyleId>
              </a:tblPr>
              <a:tblGrid>
                <a:gridCol w="1638937"/>
                <a:gridCol w="740165"/>
                <a:gridCol w="740165"/>
                <a:gridCol w="881149"/>
                <a:gridCol w="845903"/>
              </a:tblGrid>
              <a:tr h="237744">
                <a:tc>
                  <a:txBody>
                    <a:bodyPr wrap="square"/>
                    <a:lstStyle/>
                    <a:p>
                      <a:pPr algn="ctr">
                        <a:spcAft>
                          <a:spcPts val="0"/>
                        </a:spcAft>
                      </a:pPr>
                      <a:r>
                        <a:rPr sz="819" b="1">
                          <a:solidFill>
                            <a:srgbClr val="FFFFFF"/>
                          </a:solidFill>
                          <a:latin typeface="游ゴシック"/>
                          <a:ea typeface="游ゴシック"/>
                          <a:cs typeface="游ゴシック"/>
                        </a:rPr>
                        <a:t>前提</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現状比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現状（2026/5期 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15,099千円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週4日 → 週5日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18,874千円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＋3,775千円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週4日 → 週6日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300日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22,649千円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＋7,550千円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現状＋日商を2024/5期水準へ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17,258千円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＋2,159千円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TextBox 15"/>
          <p:cNvSpPr txBox="1"/>
          <p:nvPr/>
        </p:nvSpPr>
        <p:spPr>
          <a:xfrm>
            <a:off x="310896" y="3163824"/>
            <a:ext cx="4846320" cy="420624"/>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日商が維持されることのみを前提とした単純試算であり、人員体制・原料調達・集客の制約は考慮していない（仮説）。</a:t>
            </a:r>
          </a:p>
        </p:txBody>
      </p:sp>
      <p:sp>
        <p:nvSpPr>
          <p:cNvPr id="17" name="Rectangle 16"/>
          <p:cNvSpPr/>
          <p:nvPr/>
        </p:nvSpPr>
        <p:spPr>
          <a:xfrm>
            <a:off x="310896" y="3675887"/>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② 代表者報酬を正常化した場合のEBITDA（仮説）</a:t>
            </a:r>
          </a:p>
        </p:txBody>
      </p:sp>
      <p:graphicFrame>
        <p:nvGraphicFramePr>
          <p:cNvPr id="18" name="Table 17"/>
          <p:cNvGraphicFramePr>
            <a:graphicFrameLocks noGrp="1"/>
          </p:cNvGraphicFramePr>
          <p:nvPr/>
        </p:nvGraphicFramePr>
        <p:xfrm>
          <a:off x="310896" y="4032504"/>
          <a:ext cx="4846316" cy="1060704"/>
        </p:xfrm>
        <a:graphic>
          <a:graphicData uri="http://schemas.openxmlformats.org/drawingml/2006/table">
            <a:tbl>
              <a:tblPr firstRow="0" bandRow="0">
                <a:tableStyleId>{5940675A-B579-460E-94D1-54222C63F5DA}</a:tableStyleId>
              </a:tblPr>
              <a:tblGrid>
                <a:gridCol w="2048255"/>
                <a:gridCol w="932687"/>
                <a:gridCol w="932687"/>
                <a:gridCol w="932687"/>
              </a:tblGrid>
              <a:tr h="237744">
                <a:tc>
                  <a:txBody>
                    <a:bodyPr wrap="square"/>
                    <a:lstStyle/>
                    <a:p>
                      <a:pPr algn="ctr">
                        <a:spcAft>
                          <a:spcPts val="0"/>
                        </a:spcAft>
                      </a:pPr>
                      <a:r>
                        <a:rPr sz="819"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調整後EBITDA（実績）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そば職人1名分 想定人件費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1">
                          <a:solidFill>
                            <a:srgbClr val="1A1A1A"/>
                          </a:solidFill>
                          <a:latin typeface="游ゴシック"/>
                          <a:ea typeface="游ゴシック"/>
                          <a:cs typeface="游ゴシック"/>
                        </a:rPr>
                        <a:t>正常化後EBITDA（参考）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1,675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9" name="TextBox 18"/>
          <p:cNvSpPr txBox="1"/>
          <p:nvPr/>
        </p:nvSpPr>
        <p:spPr>
          <a:xfrm>
            <a:off x="310896" y="5212080"/>
            <a:ext cx="4846320" cy="548640"/>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代表者・配偶者はいずれも無報酬であり、新体制ではそば職人の人件費が新たに発生する。年収600万円＋社会保険料概算15％を仮置きした弊社の仮説値であり、実額は未確定（要確認）。</a:t>
            </a:r>
          </a:p>
        </p:txBody>
      </p:sp>
      <p:sp>
        <p:nvSpPr>
          <p:cNvPr id="20" name="Rectangle 19"/>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22" name="TextBox 21"/>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≪この2つを合わせて読む≫ </a:t>
            </a:r>
            <a:r>
              <a:rPr sz="900" b="0">
                <a:solidFill>
                  <a:srgbClr val="1A1A1A"/>
                </a:solidFill>
                <a:latin typeface="游ゴシック"/>
                <a:ea typeface="游ゴシック"/>
                <a:cs typeface="游ゴシック"/>
              </a:rPr>
              <a:t>職人1名を雇用した場合の正常化後EBITDAは2026/5期で△99千円となる。これを黒字化するには、営業日の拡大・日商の回復・卸売や通販の伸長のいずれか、あるいはその組合せが必要となる。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≪営業日拡大の実現性（要確認）≫ </a:t>
            </a:r>
            <a:r>
              <a:rPr sz="900" b="0">
                <a:solidFill>
                  <a:srgbClr val="1A1A1A"/>
                </a:solidFill>
                <a:latin typeface="游ゴシック"/>
                <a:ea typeface="游ゴシック"/>
                <a:cs typeface="游ゴシック"/>
              </a:rPr>
              <a:t>掲載誌には「接客や調理、片付けまでの全てを小川氏一人でこなす」との記載があり、現在の週4日・昼のみという営業形態はこの体制を前提としたもの。営業日を増やすには人員の追加が前提となるため、①どの工程に何名必要か、②製粉・仕入・そば打ちの工程をどこまで分業できるか、の見極めが重要とな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≪承継の下地はある≫ </a:t>
            </a:r>
            <a:r>
              <a:rPr sz="900" b="0">
                <a:solidFill>
                  <a:srgbClr val="1A1A1A"/>
                </a:solidFill>
                <a:latin typeface="游ゴシック"/>
                <a:ea typeface="游ゴシック"/>
                <a:cs typeface="游ゴシック"/>
              </a:rPr>
              <a:t>レシピや「かえし」は誰でも再現できるよう整理済とのことであり（面談ヒアリング）、過去には弟子へ別店舗（塩町館）の営業を承継した実績がある。「代表者がいなければ蕎麦を打てない」という状態ではないと伺ってい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≪売上規模以外の価値≫ </a:t>
            </a:r>
            <a:r>
              <a:rPr sz="900" b="0">
                <a:solidFill>
                  <a:srgbClr val="1A1A1A"/>
                </a:solidFill>
                <a:latin typeface="游ゴシック"/>
                <a:ea typeface="游ゴシック"/>
                <a:cs typeface="游ゴシック"/>
              </a:rPr>
              <a:t>本件の価値は直近の損益水準よりも、①同等の建築が事実上困難な店舗（取得価額104,599千円）、②全国区のブランドと商標、③金融機関借入のない資産構成、④未活用の稼働余地にある。</a:t>
            </a:r>
          </a:p>
        </p:txBody>
      </p:sp>
      <p:sp>
        <p:nvSpPr>
          <p:cNvPr id="23" name="TextBox 22"/>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本ページの試算はいずれも弊社の仮説であり、将来の業績を保証するものではありません。前提の妥当性は買手候補様においてご検証ください。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本概要書の作成時点で裏付資料の受領が完了していない事項。トップ面談前の確定を想定</a:t>
            </a:r>
            <a:endParaRPr lang="en-US" altLang="ja-JP" dirty="0"/>
          </a:p>
        </p:txBody>
      </p:sp>
      <p:graphicFrame>
        <p:nvGraphicFramePr>
          <p:cNvPr id="14" name="Table 13"/>
          <p:cNvGraphicFramePr>
            <a:graphicFrameLocks noGrp="1"/>
          </p:cNvGraphicFramePr>
          <p:nvPr/>
        </p:nvGraphicFramePr>
        <p:xfrm>
          <a:off x="310896" y="1408176"/>
          <a:ext cx="10067544" cy="4683550"/>
        </p:xfrm>
        <a:graphic>
          <a:graphicData uri="http://schemas.openxmlformats.org/drawingml/2006/table">
            <a:tbl>
              <a:tblPr firstRow="0" bandRow="0">
                <a:tableStyleId>{5940675A-B579-460E-94D1-54222C63F5DA}</a:tableStyleId>
              </a:tblPr>
              <a:tblGrid>
                <a:gridCol w="365760"/>
                <a:gridCol w="1188720"/>
                <a:gridCol w="778154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通販・物販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ふるさと納税返礼品の採用状況・取扱数量・手数料率。物販商品の製造場所・許認可・原価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1169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【高】はトップ面談前に確定させたい事項、【中】は基本合意までに確認したい事項です。本一覧は案件マスター「その他」シートに集約しています。</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solidFill/>
              </a:rPr>
              <a:t>時価総資産</a:t>
            </a:r>
            <a:r>
              <a:rPr lang="en-US" altLang="ja-JP" dirty="0">
                <a:solidFill/>
              </a:rPr>
              <a:t>(</a:t>
            </a:r>
            <a:r>
              <a:rPr lang="ja-JP" altLang="en-US" dirty="0">
                <a:solidFill/>
              </a:rPr>
              <a:t>営業権含む</a:t>
            </a:r>
            <a:r>
              <a:rPr lang="en-US" altLang="ja-JP" dirty="0">
                <a:solidFill/>
              </a:rPr>
              <a:t>)</a:t>
            </a:r>
            <a:r>
              <a:rPr lang="ja-JP" altLang="en-US" dirty="0">
                <a:solidFill/>
              </a:rPr>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solidFill/>
              </a:rPr>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solidFill/>
              </a:rPr>
              <a:t>　</a:t>
            </a:r>
            <a:r>
              <a:rPr lang="en-US" altLang="ja-JP" dirty="0">
                <a:solidFill/>
              </a:rPr>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solidFill/>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solidFill/>
                <a:latin typeface="+mn-ea"/>
              </a:rPr>
              <a:t>成功報酬の最低額は</a:t>
            </a:r>
            <a:r>
              <a:rPr lang="en-US" altLang="ja-JP" sz="1100" spc="70" dirty="0">
                <a:solidFill/>
                <a:latin typeface="+mn-ea"/>
              </a:rPr>
              <a:t>1,500</a:t>
            </a:r>
            <a:r>
              <a:rPr lang="ja-JP" altLang="en-US" sz="1100" spc="70" dirty="0">
                <a:solidFill/>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solidFill/>
                <a:latin typeface="+mj-ea"/>
                <a:ea typeface="+mj-ea"/>
              </a:rPr>
              <a:t>(</a:t>
            </a:r>
            <a:r>
              <a:rPr lang="ja-JP" altLang="en-US" sz="1200" spc="70" dirty="0">
                <a:solidFill/>
                <a:latin typeface="+mj-ea"/>
                <a:ea typeface="+mj-ea"/>
              </a:rPr>
              <a:t>消費税別</a:t>
            </a:r>
            <a:r>
              <a:rPr lang="en-US" altLang="ja-JP" sz="1200" spc="70" dirty="0">
                <a:solidFill/>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solidFill/>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