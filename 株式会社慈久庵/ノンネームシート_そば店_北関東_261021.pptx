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Lst>
  <p:sldSz cx="7559675" cy="10691813"/>
  <p:notesSz cx="6794500" cy="9931400"/>
  <p:defaultTextStyle>
    <a:defPPr>
      <a:defRPr lang="en-US"/>
    </a:defPPr>
    <a:lvl1pPr marL="0" algn="l" defTabSz="497754" rtl="0" eaLnBrk="1" latinLnBrk="0" hangingPunct="1">
      <a:defRPr sz="1960" kern="1200">
        <a:solidFill>
          <a:schemeClr val="tx1"/>
        </a:solidFill>
        <a:latin typeface="+mn-lt"/>
        <a:ea typeface="+mn-ea"/>
        <a:cs typeface="+mn-cs"/>
      </a:defRPr>
    </a:lvl1pPr>
    <a:lvl2pPr marL="497754" algn="l" defTabSz="497754" rtl="0" eaLnBrk="1" latinLnBrk="0" hangingPunct="1">
      <a:defRPr sz="1960" kern="1200">
        <a:solidFill>
          <a:schemeClr val="tx1"/>
        </a:solidFill>
        <a:latin typeface="+mn-lt"/>
        <a:ea typeface="+mn-ea"/>
        <a:cs typeface="+mn-cs"/>
      </a:defRPr>
    </a:lvl2pPr>
    <a:lvl3pPr marL="995507" algn="l" defTabSz="497754" rtl="0" eaLnBrk="1" latinLnBrk="0" hangingPunct="1">
      <a:defRPr sz="1960" kern="1200">
        <a:solidFill>
          <a:schemeClr val="tx1"/>
        </a:solidFill>
        <a:latin typeface="+mn-lt"/>
        <a:ea typeface="+mn-ea"/>
        <a:cs typeface="+mn-cs"/>
      </a:defRPr>
    </a:lvl3pPr>
    <a:lvl4pPr marL="1493261" algn="l" defTabSz="497754" rtl="0" eaLnBrk="1" latinLnBrk="0" hangingPunct="1">
      <a:defRPr sz="1960" kern="1200">
        <a:solidFill>
          <a:schemeClr val="tx1"/>
        </a:solidFill>
        <a:latin typeface="+mn-lt"/>
        <a:ea typeface="+mn-ea"/>
        <a:cs typeface="+mn-cs"/>
      </a:defRPr>
    </a:lvl4pPr>
    <a:lvl5pPr marL="1991015" algn="l" defTabSz="497754" rtl="0" eaLnBrk="1" latinLnBrk="0" hangingPunct="1">
      <a:defRPr sz="1960" kern="1200">
        <a:solidFill>
          <a:schemeClr val="tx1"/>
        </a:solidFill>
        <a:latin typeface="+mn-lt"/>
        <a:ea typeface="+mn-ea"/>
        <a:cs typeface="+mn-cs"/>
      </a:defRPr>
    </a:lvl5pPr>
    <a:lvl6pPr marL="2488768" algn="l" defTabSz="497754" rtl="0" eaLnBrk="1" latinLnBrk="0" hangingPunct="1">
      <a:defRPr sz="1960" kern="1200">
        <a:solidFill>
          <a:schemeClr val="tx1"/>
        </a:solidFill>
        <a:latin typeface="+mn-lt"/>
        <a:ea typeface="+mn-ea"/>
        <a:cs typeface="+mn-cs"/>
      </a:defRPr>
    </a:lvl6pPr>
    <a:lvl7pPr marL="2986522" algn="l" defTabSz="497754" rtl="0" eaLnBrk="1" latinLnBrk="0" hangingPunct="1">
      <a:defRPr sz="1960" kern="1200">
        <a:solidFill>
          <a:schemeClr val="tx1"/>
        </a:solidFill>
        <a:latin typeface="+mn-lt"/>
        <a:ea typeface="+mn-ea"/>
        <a:cs typeface="+mn-cs"/>
      </a:defRPr>
    </a:lvl7pPr>
    <a:lvl8pPr marL="3484275" algn="l" defTabSz="497754" rtl="0" eaLnBrk="1" latinLnBrk="0" hangingPunct="1">
      <a:defRPr sz="1960" kern="1200">
        <a:solidFill>
          <a:schemeClr val="tx1"/>
        </a:solidFill>
        <a:latin typeface="+mn-lt"/>
        <a:ea typeface="+mn-ea"/>
        <a:cs typeface="+mn-cs"/>
      </a:defRPr>
    </a:lvl8pPr>
    <a:lvl9pPr marL="3982029" algn="l" defTabSz="497754"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3" autoAdjust="0"/>
    <p:restoredTop sz="94660"/>
  </p:normalViewPr>
  <p:slideViewPr>
    <p:cSldViewPr snapToGrid="0">
      <p:cViewPr>
        <p:scale>
          <a:sx n="75" d="100"/>
          <a:sy n="75" d="100"/>
        </p:scale>
        <p:origin x="3282"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03C1FEC9-08F1-3206-894D-1033108E62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288" y="10021028"/>
            <a:ext cx="1625600" cy="322220"/>
          </a:xfrm>
          <a:prstGeom prst="rect">
            <a:avLst/>
          </a:prstGeom>
        </p:spPr>
      </p:pic>
      <p:sp>
        <p:nvSpPr>
          <p:cNvPr id="9" name="Google Shape;14;p31">
            <a:extLst>
              <a:ext uri="{FF2B5EF4-FFF2-40B4-BE49-F238E27FC236}">
                <a16:creationId xmlns:a16="http://schemas.microsoft.com/office/drawing/2014/main" id="{15703526-0016-FB32-A3A0-CBA5E90CA30D}"/>
              </a:ext>
            </a:extLst>
          </p:cNvPr>
          <p:cNvSpPr/>
          <p:nvPr userDrawn="1"/>
        </p:nvSpPr>
        <p:spPr>
          <a:xfrm>
            <a:off x="2592388" y="10155486"/>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10" name="正方形/長方形 9">
            <a:extLst>
              <a:ext uri="{FF2B5EF4-FFF2-40B4-BE49-F238E27FC236}">
                <a16:creationId xmlns:a16="http://schemas.microsoft.com/office/drawing/2014/main" id="{5F2C6A4A-EF53-D838-4D82-21F440B977AB}"/>
              </a:ext>
            </a:extLst>
          </p:cNvPr>
          <p:cNvSpPr/>
          <p:nvPr userDrawn="1"/>
        </p:nvSpPr>
        <p:spPr>
          <a:xfrm>
            <a:off x="4009408" y="10144104"/>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
        <p:nvSpPr>
          <p:cNvPr id="11" name="正方形/長方形 10">
            <a:extLst>
              <a:ext uri="{FF2B5EF4-FFF2-40B4-BE49-F238E27FC236}">
                <a16:creationId xmlns:a16="http://schemas.microsoft.com/office/drawing/2014/main" id="{1E27C258-B171-B306-FCA9-1F991EB4B407}"/>
              </a:ext>
            </a:extLst>
          </p:cNvPr>
          <p:cNvSpPr/>
          <p:nvPr userDrawn="1"/>
        </p:nvSpPr>
        <p:spPr>
          <a:xfrm>
            <a:off x="-1" y="0"/>
            <a:ext cx="7560000"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grpSp>
        <p:nvGrpSpPr>
          <p:cNvPr id="13" name="グループ化 12">
            <a:extLst>
              <a:ext uri="{FF2B5EF4-FFF2-40B4-BE49-F238E27FC236}">
                <a16:creationId xmlns:a16="http://schemas.microsoft.com/office/drawing/2014/main" id="{19BC2D2A-4437-47A2-0981-B11CD292C292}"/>
              </a:ext>
            </a:extLst>
          </p:cNvPr>
          <p:cNvGrpSpPr/>
          <p:nvPr userDrawn="1"/>
        </p:nvGrpSpPr>
        <p:grpSpPr>
          <a:xfrm>
            <a:off x="-1" y="0"/>
            <a:ext cx="252001" cy="666000"/>
            <a:chOff x="-1" y="0"/>
            <a:chExt cx="252001" cy="666000"/>
          </a:xfrm>
        </p:grpSpPr>
        <p:cxnSp>
          <p:nvCxnSpPr>
            <p:cNvPr id="14" name="直線コネクタ 13">
              <a:extLst>
                <a:ext uri="{FF2B5EF4-FFF2-40B4-BE49-F238E27FC236}">
                  <a16:creationId xmlns:a16="http://schemas.microsoft.com/office/drawing/2014/main" id="{30E97B07-01E5-EB36-061D-D92F9275FA5B}"/>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6D30B4A-72ED-26A7-3E61-8F973A7103AC}"/>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 name="直線コネクタ 15">
              <a:extLst>
                <a:ext uri="{FF2B5EF4-FFF2-40B4-BE49-F238E27FC236}">
                  <a16:creationId xmlns:a16="http://schemas.microsoft.com/office/drawing/2014/main" id="{6F803093-4AF9-96A5-B24A-90412CE50F14}"/>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9" name="グループ化 18">
            <a:extLst>
              <a:ext uri="{FF2B5EF4-FFF2-40B4-BE49-F238E27FC236}">
                <a16:creationId xmlns:a16="http://schemas.microsoft.com/office/drawing/2014/main" id="{2E346A5A-9683-7014-168E-E518989BCD1E}"/>
              </a:ext>
            </a:extLst>
          </p:cNvPr>
          <p:cNvGrpSpPr/>
          <p:nvPr userDrawn="1"/>
        </p:nvGrpSpPr>
        <p:grpSpPr>
          <a:xfrm>
            <a:off x="5266199" y="0"/>
            <a:ext cx="2029862" cy="666001"/>
            <a:chOff x="5134526" y="0"/>
            <a:chExt cx="2029862" cy="666001"/>
          </a:xfrm>
        </p:grpSpPr>
        <p:sp>
          <p:nvSpPr>
            <p:cNvPr id="12" name="フリーフォーム: 図形 11">
              <a:extLst>
                <a:ext uri="{FF2B5EF4-FFF2-40B4-BE49-F238E27FC236}">
                  <a16:creationId xmlns:a16="http://schemas.microsoft.com/office/drawing/2014/main" id="{D0034112-492B-641B-EBBA-8B3741F9D9E7}"/>
                </a:ext>
              </a:extLst>
            </p:cNvPr>
            <p:cNvSpPr/>
            <p:nvPr userDrawn="1"/>
          </p:nvSpPr>
          <p:spPr>
            <a:xfrm>
              <a:off x="546279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18" name="フリーフォーム: 図形 17">
              <a:extLst>
                <a:ext uri="{FF2B5EF4-FFF2-40B4-BE49-F238E27FC236}">
                  <a16:creationId xmlns:a16="http://schemas.microsoft.com/office/drawing/2014/main" id="{49CF3432-3315-44B8-410D-03FBCEBFAAED}"/>
                </a:ext>
              </a:extLst>
            </p:cNvPr>
            <p:cNvSpPr/>
            <p:nvPr userDrawn="1"/>
          </p:nvSpPr>
          <p:spPr>
            <a:xfrm>
              <a:off x="513452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grpSp>
      <p:sp>
        <p:nvSpPr>
          <p:cNvPr id="2" name="タイトル 1">
            <a:extLst>
              <a:ext uri="{FF2B5EF4-FFF2-40B4-BE49-F238E27FC236}">
                <a16:creationId xmlns:a16="http://schemas.microsoft.com/office/drawing/2014/main" id="{82E97937-A78B-74CB-5321-0D409C781972}"/>
              </a:ext>
            </a:extLst>
          </p:cNvPr>
          <p:cNvSpPr>
            <a:spLocks noGrp="1"/>
          </p:cNvSpPr>
          <p:nvPr>
            <p:ph type="ctrTitle"/>
          </p:nvPr>
        </p:nvSpPr>
        <p:spPr>
          <a:xfrm>
            <a:off x="395288" y="180296"/>
            <a:ext cx="6312750" cy="338554"/>
          </a:xfrm>
          <a:prstGeom prst="rect">
            <a:avLst/>
          </a:prstGeom>
        </p:spPr>
        <p:txBody>
          <a:bodyPr wrap="square" lIns="0" tIns="0" rIns="0" bIns="0" anchor="ctr">
            <a:spAutoFit/>
          </a:bodyPr>
          <a:lstStyle>
            <a:lvl1pPr algn="l">
              <a:defRPr lang="ja-JP" altLang="en-US" sz="2200" b="1" spc="77" baseline="0" dirty="0">
                <a:solidFill>
                  <a:schemeClr val="bg1"/>
                </a:solidFill>
                <a:latin typeface="+mj-lt"/>
                <a:ea typeface="+mj-ea"/>
                <a:cs typeface="+mj-cs"/>
              </a:defRPr>
            </a:lvl1pPr>
          </a:lstStyle>
          <a:p>
            <a:pPr marL="0" lvl="0">
              <a:lnSpc>
                <a:spcPct val="100000"/>
              </a:lnSpc>
            </a:pPr>
            <a:r>
              <a:rPr kumimoji="1" lang="ja-JP" altLang="en-US" dirty="0"/>
              <a:t>マスター タイトルの書式設定</a:t>
            </a:r>
          </a:p>
        </p:txBody>
      </p:sp>
    </p:spTree>
    <p:extLst>
      <p:ext uri="{BB962C8B-B14F-4D97-AF65-F5344CB8AC3E}">
        <p14:creationId xmlns:p14="http://schemas.microsoft.com/office/powerpoint/2010/main" val="36415131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837346"/>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86912" rtl="0" eaLnBrk="1" latinLnBrk="0" hangingPunct="1">
        <a:lnSpc>
          <a:spcPct val="90000"/>
        </a:lnSpc>
        <a:spcBef>
          <a:spcPct val="0"/>
        </a:spcBef>
        <a:buNone/>
        <a:defRPr kumimoji="1" sz="4749" kern="1200">
          <a:solidFill>
            <a:schemeClr val="tx1"/>
          </a:solidFill>
          <a:latin typeface="+mj-lt"/>
          <a:ea typeface="+mj-ea"/>
          <a:cs typeface="+mj-cs"/>
        </a:defRPr>
      </a:lvl1pPr>
    </p:titleStyle>
    <p:bodyStyle>
      <a:lvl1pPr marL="246728" indent="-246728" algn="l" defTabSz="986912" rtl="0" eaLnBrk="1" latinLnBrk="0" hangingPunct="1">
        <a:lnSpc>
          <a:spcPct val="90000"/>
        </a:lnSpc>
        <a:spcBef>
          <a:spcPts val="1079"/>
        </a:spcBef>
        <a:buFont typeface="Arial" panose="020B0604020202020204" pitchFamily="34" charset="0"/>
        <a:buChar char="•"/>
        <a:defRPr kumimoji="1" sz="3022" kern="1200">
          <a:solidFill>
            <a:schemeClr val="tx1"/>
          </a:solidFill>
          <a:latin typeface="+mn-lt"/>
          <a:ea typeface="+mn-ea"/>
          <a:cs typeface="+mn-cs"/>
        </a:defRPr>
      </a:lvl1pPr>
      <a:lvl2pPr marL="740184" indent="-246728" algn="l" defTabSz="986912" rtl="0" eaLnBrk="1" latinLnBrk="0" hangingPunct="1">
        <a:lnSpc>
          <a:spcPct val="90000"/>
        </a:lnSpc>
        <a:spcBef>
          <a:spcPts val="540"/>
        </a:spcBef>
        <a:buFont typeface="Arial" panose="020B0604020202020204" pitchFamily="34" charset="0"/>
        <a:buChar char="•"/>
        <a:defRPr kumimoji="1" sz="2590" kern="1200">
          <a:solidFill>
            <a:schemeClr val="tx1"/>
          </a:solidFill>
          <a:latin typeface="+mn-lt"/>
          <a:ea typeface="+mn-ea"/>
          <a:cs typeface="+mn-cs"/>
        </a:defRPr>
      </a:lvl2pPr>
      <a:lvl3pPr marL="1233640" indent="-246728" algn="l" defTabSz="986912" rtl="0" eaLnBrk="1" latinLnBrk="0" hangingPunct="1">
        <a:lnSpc>
          <a:spcPct val="90000"/>
        </a:lnSpc>
        <a:spcBef>
          <a:spcPts val="540"/>
        </a:spcBef>
        <a:buFont typeface="Arial" panose="020B0604020202020204" pitchFamily="34" charset="0"/>
        <a:buChar char="•"/>
        <a:defRPr kumimoji="1" sz="2159" kern="1200">
          <a:solidFill>
            <a:schemeClr val="tx1"/>
          </a:solidFill>
          <a:latin typeface="+mn-lt"/>
          <a:ea typeface="+mn-ea"/>
          <a:cs typeface="+mn-cs"/>
        </a:defRPr>
      </a:lvl3pPr>
      <a:lvl4pPr marL="172709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4pPr>
      <a:lvl5pPr marL="2220552"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5pPr>
      <a:lvl6pPr marL="2714008"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6pPr>
      <a:lvl7pPr marL="3207464"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7pPr>
      <a:lvl8pPr marL="3700920"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8pPr>
      <a:lvl9pPr marL="419437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9pPr>
    </p:bodyStyle>
    <p:otherStyle>
      <a:defPPr>
        <a:defRPr lang="ja-JP"/>
      </a:defPPr>
      <a:lvl1pPr marL="0" algn="l" defTabSz="986912" rtl="0" eaLnBrk="1" latinLnBrk="0" hangingPunct="1">
        <a:defRPr kumimoji="1" sz="1943" kern="1200">
          <a:solidFill>
            <a:schemeClr val="tx1"/>
          </a:solidFill>
          <a:latin typeface="+mn-lt"/>
          <a:ea typeface="+mn-ea"/>
          <a:cs typeface="+mn-cs"/>
        </a:defRPr>
      </a:lvl1pPr>
      <a:lvl2pPr marL="493456" algn="l" defTabSz="986912" rtl="0" eaLnBrk="1" latinLnBrk="0" hangingPunct="1">
        <a:defRPr kumimoji="1" sz="1943" kern="1200">
          <a:solidFill>
            <a:schemeClr val="tx1"/>
          </a:solidFill>
          <a:latin typeface="+mn-lt"/>
          <a:ea typeface="+mn-ea"/>
          <a:cs typeface="+mn-cs"/>
        </a:defRPr>
      </a:lvl2pPr>
      <a:lvl3pPr marL="986912" algn="l" defTabSz="986912" rtl="0" eaLnBrk="1" latinLnBrk="0" hangingPunct="1">
        <a:defRPr kumimoji="1" sz="1943" kern="1200">
          <a:solidFill>
            <a:schemeClr val="tx1"/>
          </a:solidFill>
          <a:latin typeface="+mn-lt"/>
          <a:ea typeface="+mn-ea"/>
          <a:cs typeface="+mn-cs"/>
        </a:defRPr>
      </a:lvl3pPr>
      <a:lvl4pPr marL="1480368" algn="l" defTabSz="986912" rtl="0" eaLnBrk="1" latinLnBrk="0" hangingPunct="1">
        <a:defRPr kumimoji="1" sz="1943" kern="1200">
          <a:solidFill>
            <a:schemeClr val="tx1"/>
          </a:solidFill>
          <a:latin typeface="+mn-lt"/>
          <a:ea typeface="+mn-ea"/>
          <a:cs typeface="+mn-cs"/>
        </a:defRPr>
      </a:lvl4pPr>
      <a:lvl5pPr marL="1973824" algn="l" defTabSz="986912" rtl="0" eaLnBrk="1" latinLnBrk="0" hangingPunct="1">
        <a:defRPr kumimoji="1" sz="1943" kern="1200">
          <a:solidFill>
            <a:schemeClr val="tx1"/>
          </a:solidFill>
          <a:latin typeface="+mn-lt"/>
          <a:ea typeface="+mn-ea"/>
          <a:cs typeface="+mn-cs"/>
        </a:defRPr>
      </a:lvl5pPr>
      <a:lvl6pPr marL="2467280" algn="l" defTabSz="986912" rtl="0" eaLnBrk="1" latinLnBrk="0" hangingPunct="1">
        <a:defRPr kumimoji="1" sz="1943" kern="1200">
          <a:solidFill>
            <a:schemeClr val="tx1"/>
          </a:solidFill>
          <a:latin typeface="+mn-lt"/>
          <a:ea typeface="+mn-ea"/>
          <a:cs typeface="+mn-cs"/>
        </a:defRPr>
      </a:lvl6pPr>
      <a:lvl7pPr marL="2960736" algn="l" defTabSz="986912" rtl="0" eaLnBrk="1" latinLnBrk="0" hangingPunct="1">
        <a:defRPr kumimoji="1" sz="1943" kern="1200">
          <a:solidFill>
            <a:schemeClr val="tx1"/>
          </a:solidFill>
          <a:latin typeface="+mn-lt"/>
          <a:ea typeface="+mn-ea"/>
          <a:cs typeface="+mn-cs"/>
        </a:defRPr>
      </a:lvl7pPr>
      <a:lvl8pPr marL="3454192" algn="l" defTabSz="986912" rtl="0" eaLnBrk="1" latinLnBrk="0" hangingPunct="1">
        <a:defRPr kumimoji="1" sz="1943" kern="1200">
          <a:solidFill>
            <a:schemeClr val="tx1"/>
          </a:solidFill>
          <a:latin typeface="+mn-lt"/>
          <a:ea typeface="+mn-ea"/>
          <a:cs typeface="+mn-cs"/>
        </a:defRPr>
      </a:lvl8pPr>
      <a:lvl9pPr marL="3947648" algn="l" defTabSz="986912" rtl="0" eaLnBrk="1" latinLnBrk="0" hangingPunct="1">
        <a:defRPr kumimoji="1"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97" userDrawn="1">
          <p15:clr>
            <a:srgbClr val="FBAE40"/>
          </p15:clr>
        </p15:guide>
        <p15:guide id="2" pos="249" userDrawn="1">
          <p15:clr>
            <a:srgbClr val="FBAE40"/>
          </p15:clr>
        </p15:guide>
        <p15:guide id="3" pos="4513"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88E1B8-0153-DECA-3B80-F24B78728526}"/>
              </a:ext>
            </a:extLst>
          </p:cNvPr>
          <p:cNvSpPr>
            <a:spLocks noChangeArrowheads="1"/>
          </p:cNvSpPr>
          <p:nvPr/>
        </p:nvSpPr>
        <p:spPr bwMode="auto">
          <a:xfrm>
            <a:off x="243315" y="198657"/>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9" name="Rectangle 6">
            <a:extLst>
              <a:ext uri="{FF2B5EF4-FFF2-40B4-BE49-F238E27FC236}">
                <a16:creationId xmlns:a16="http://schemas.microsoft.com/office/drawing/2014/main" id="{91FDEF8C-A708-35C1-68E9-DF22D8ADD4F3}"/>
              </a:ext>
            </a:extLst>
          </p:cNvPr>
          <p:cNvSpPr>
            <a:spLocks noChangeArrowheads="1"/>
          </p:cNvSpPr>
          <p:nvPr/>
        </p:nvSpPr>
        <p:spPr bwMode="auto">
          <a:xfrm>
            <a:off x="243315" y="445393"/>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72A98AC9-7248-8221-81A9-97B62E43ACD1}"/>
              </a:ext>
            </a:extLst>
          </p:cNvPr>
          <p:cNvSpPr txBox="1"/>
          <p:nvPr/>
        </p:nvSpPr>
        <p:spPr>
          <a:xfrm>
            <a:off x="395837" y="8571977"/>
            <a:ext cx="6768000" cy="1119665"/>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marL="144000" indent="-144000">
              <a:lnSpc>
                <a:spcPct val="110000"/>
              </a:lnSpc>
              <a:spcAft>
                <a:spcPts val="600"/>
              </a:spcAft>
            </a:pPr>
            <a:r>
              <a:rPr lang="ja-JP" altLang="ja-JP" sz="1050" b="1" spc="30" dirty="0">
                <a:latin typeface="游ゴシック" panose="020B0400000000000000" pitchFamily="50" charset="-128"/>
                <a:ea typeface="游ゴシック" panose="020B0400000000000000" pitchFamily="50" charset="-128"/>
              </a:rPr>
              <a:t>本情報の取扱について</a:t>
            </a:r>
            <a:endParaRPr lang="en-US" altLang="ja-JP" sz="1050" b="1" spc="30" dirty="0">
              <a:latin typeface="游ゴシック" panose="020B0400000000000000" pitchFamily="50" charset="-128"/>
              <a:ea typeface="游ゴシック" panose="020B0400000000000000" pitchFamily="50" charset="-128"/>
            </a:endParaRPr>
          </a:p>
          <a:p>
            <a:pPr marL="0" indent="0">
              <a:lnSpc>
                <a:spcPct val="110000"/>
              </a:lnSpc>
              <a:spcAft>
                <a:spcPts val="600"/>
              </a:spcAft>
              <a:buNone/>
            </a:pPr>
            <a:r>
              <a:rPr lang="ja-JP" altLang="ja-JP" sz="1000" spc="30" dirty="0">
                <a:latin typeface="游ゴシック" panose="020B0400000000000000" pitchFamily="50" charset="-128"/>
                <a:ea typeface="游ゴシック" panose="020B0400000000000000" pitchFamily="50" charset="-128"/>
              </a:rPr>
              <a:t>貴社の今後の経営戦略上、相乗効果があると思われる譲渡希望企業に関する情報を提供させていただきました。なお、本情報は、貴社を信頼した上での情報提供であり、また、譲渡希望企業にとりましては、絶対に漏洩されてはならない極秘情報です。</a:t>
            </a:r>
            <a:r>
              <a:rPr lang="ja-JP" altLang="ja-JP" sz="1000" b="1" spc="30" dirty="0">
                <a:latin typeface="游ゴシック" panose="020B0400000000000000" pitchFamily="50" charset="-128"/>
                <a:ea typeface="游ゴシック" panose="020B0400000000000000" pitchFamily="50" charset="-128"/>
              </a:rPr>
              <a:t>本情報を第三者に伝達、</a:t>
            </a:r>
            <a:r>
              <a:rPr lang="en-US" altLang="ja-JP" sz="1000" b="1" spc="30" dirty="0">
                <a:latin typeface="游ゴシック" panose="020B0400000000000000" pitchFamily="50" charset="-128"/>
                <a:ea typeface="游ゴシック" panose="020B0400000000000000" pitchFamily="50" charset="-128"/>
              </a:rPr>
              <a:t>FAX</a:t>
            </a:r>
            <a:r>
              <a:rPr lang="ja-JP" altLang="ja-JP" sz="1000" b="1" spc="30" dirty="0">
                <a:latin typeface="游ゴシック" panose="020B0400000000000000" pitchFamily="50" charset="-128"/>
                <a:ea typeface="游ゴシック" panose="020B0400000000000000" pitchFamily="50" charset="-128"/>
              </a:rPr>
              <a:t>等により情報が漏洩することのないよう、お取扱いには充分ご留意くださいますようお願い申し上げます。また、万が一、上記内容から個別企業が特定できてしまった場合も、秘密厳守いただきますよう、お願い申し上げます。</a:t>
            </a:r>
            <a:endParaRPr lang="ja-JP" altLang="en-US" sz="1000" b="1" spc="30" dirty="0">
              <a:latin typeface="游ゴシック" panose="020B0400000000000000" pitchFamily="50" charset="-128"/>
              <a:ea typeface="游ゴシック" panose="020B0400000000000000" pitchFamily="50" charset="-128"/>
            </a:endParaRPr>
          </a:p>
        </p:txBody>
      </p:sp>
      <p:sp>
        <p:nvSpPr>
          <p:cNvPr id="19" name="タイトル 18">
            <a:extLst>
              <a:ext uri="{FF2B5EF4-FFF2-40B4-BE49-F238E27FC236}">
                <a16:creationId xmlns:a16="http://schemas.microsoft.com/office/drawing/2014/main" id="{6C90DF39-7E4C-8D71-E2D6-9BFCE35B4780}"/>
              </a:ext>
            </a:extLst>
          </p:cNvPr>
          <p:cNvSpPr>
            <a:spLocks noGrp="1"/>
          </p:cNvSpPr>
          <p:nvPr>
            <p:ph type="ctrTitle"/>
          </p:nvPr>
        </p:nvSpPr>
        <p:spPr>
          <a:xfrm>
            <a:off x="395288" y="180296"/>
            <a:ext cx="6312750" cy="338554"/>
          </a:xfrm>
        </p:spPr>
        <p:txBody>
          <a:bodyPr/>
          <a:lstStyle/>
          <a:p>
            <a:pPr>
              <a:lnSpc>
                <a:spcPct val="100000"/>
              </a:lnSpc>
            </a:pPr>
            <a:r>
              <a:rPr lang="en-US" altLang="ja-JP" dirty="0">
                <a:latin typeface="游ゴシック" panose="020B0400000000000000" pitchFamily="50" charset="-128"/>
                <a:ea typeface="游ゴシック" panose="020B0400000000000000" pitchFamily="50" charset="-128"/>
              </a:rPr>
              <a:t>M</a:t>
            </a:r>
            <a:r>
              <a:rPr lang="ja-JP" altLang="ja-JP"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A</a:t>
            </a:r>
            <a:r>
              <a:rPr lang="ja-JP" altLang="ja-JP" dirty="0">
                <a:latin typeface="游ゴシック" panose="020B0400000000000000" pitchFamily="50" charset="-128"/>
                <a:ea typeface="游ゴシック" panose="020B0400000000000000" pitchFamily="50" charset="-128"/>
              </a:rPr>
              <a:t>案件 ノンネームシート</a:t>
            </a:r>
          </a:p>
        </p:txBody>
      </p:sp>
      <p:sp>
        <p:nvSpPr>
          <p:cNvPr id="23" name="テキスト ボックス 22">
            <a:extLst>
              <a:ext uri="{FF2B5EF4-FFF2-40B4-BE49-F238E27FC236}">
                <a16:creationId xmlns:a16="http://schemas.microsoft.com/office/drawing/2014/main" id="{9E28014E-FBFD-106F-4D5F-D53837A1C057}"/>
              </a:ext>
            </a:extLst>
          </p:cNvPr>
          <p:cNvSpPr txBox="1"/>
          <p:nvPr/>
        </p:nvSpPr>
        <p:spPr>
          <a:xfrm>
            <a:off x="395837" y="872366"/>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事業内容</a:t>
            </a:r>
          </a:p>
        </p:txBody>
      </p:sp>
      <p:sp>
        <p:nvSpPr>
          <p:cNvPr id="25" name="テキスト ボックス 24">
            <a:extLst>
              <a:ext uri="{FF2B5EF4-FFF2-40B4-BE49-F238E27FC236}">
                <a16:creationId xmlns:a16="http://schemas.microsoft.com/office/drawing/2014/main" id="{2A1C669F-1542-BE66-DA66-B4EE245A9E57}"/>
              </a:ext>
            </a:extLst>
          </p:cNvPr>
          <p:cNvSpPr txBox="1"/>
          <p:nvPr/>
        </p:nvSpPr>
        <p:spPr>
          <a:xfrm>
            <a:off x="395837" y="3108960"/>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特徴・強み</a:t>
            </a:r>
          </a:p>
        </p:txBody>
      </p:sp>
      <p:sp>
        <p:nvSpPr>
          <p:cNvPr id="27" name="テキスト ボックス 26">
            <a:extLst>
              <a:ext uri="{FF2B5EF4-FFF2-40B4-BE49-F238E27FC236}">
                <a16:creationId xmlns:a16="http://schemas.microsoft.com/office/drawing/2014/main" id="{D9D4DACD-ED65-2617-52E5-79A22AC3A052}"/>
              </a:ext>
            </a:extLst>
          </p:cNvPr>
          <p:cNvSpPr txBox="1"/>
          <p:nvPr/>
        </p:nvSpPr>
        <p:spPr>
          <a:xfrm>
            <a:off x="395837" y="6885432"/>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補足事項</a:t>
            </a:r>
          </a:p>
        </p:txBody>
      </p:sp>
      <p:graphicFrame>
        <p:nvGraphicFramePr>
          <p:cNvPr id="29" name="表 28">
            <a:extLst>
              <a:ext uri="{FF2B5EF4-FFF2-40B4-BE49-F238E27FC236}">
                <a16:creationId xmlns:a16="http://schemas.microsoft.com/office/drawing/2014/main" id="{A641D9B2-1C32-B1BB-4E1E-555310178BFC}"/>
              </a:ext>
            </a:extLst>
          </p:cNvPr>
          <p:cNvGraphicFramePr>
            <a:graphicFrameLocks noGrp="1"/>
          </p:cNvGraphicFramePr>
          <p:nvPr>
            <p:extLst>
              <p:ext uri="{D42A27DB-BD31-4B8C-83A1-F6EECF244321}">
                <p14:modId xmlns:p14="http://schemas.microsoft.com/office/powerpoint/2010/main" val="2703154112"/>
              </p:ext>
            </p:extLst>
          </p:nvPr>
        </p:nvGraphicFramePr>
        <p:xfrm>
          <a:off x="395288" y="1241972"/>
          <a:ext cx="6768000" cy="1698372"/>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4593">
                <a:tc>
                  <a:txBody>
                    <a:bodyPr/>
                    <a:lstStyle/>
                    <a:p>
                      <a:pPr algn="l"/>
                      <a:r>
                        <a:rPr lang="ja-JP" altLang="ja-JP" sz="1400" b="1" spc="50" baseline="0" dirty="0">
                          <a:solidFill>
                            <a:schemeClr val="tx1"/>
                          </a:solidFill>
                          <a:latin typeface="游ゴシック" panose="020B0400000000000000" pitchFamily="50" charset="-128"/>
                          <a:ea typeface="游ゴシック" panose="020B0400000000000000" pitchFamily="50" charset="-128"/>
                        </a:rPr>
                        <a:t>業種</a:t>
                      </a:r>
                      <a:endParaRPr kumimoji="1" lang="ja-JP" altLang="en-US"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18000" marB="0" anchor="ctr">
                    <a:lnL w="12700" cmpd="sng">
                      <a:noFill/>
                    </a:lnL>
                    <a:lnR w="1270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b="0" spc="50" baseline="0" dirty="0">
                          <a:solidFill>
                            <a:schemeClr val="tx1"/>
                          </a:solidFill>
                          <a:latin typeface="游ゴシック" panose="020B0400000000000000" pitchFamily="50" charset="-128"/>
                          <a:ea typeface="游ゴシック" panose="020B0400000000000000" pitchFamily="50" charset="-128"/>
                        </a:rPr>
                        <a:t>そば店（飲食業）／そば粉・小麦粉の製粉・卸売</a:t>
                      </a:r>
                    </a:p>
                  </a:txBody>
                  <a:tcPr marL="144000" marR="108000" marT="18000" marB="0" anchor="ctr">
                    <a:lnL w="12700" cap="flat" cmpd="sng" algn="ctr">
                      <a:solidFill>
                        <a:schemeClr val="bg1"/>
                      </a:solidFill>
                      <a:prstDash val="solid"/>
                      <a:round/>
                      <a:headEnd type="none" w="med" len="med"/>
                      <a:tailEnd type="none" w="med" len="med"/>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451389"/>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エリア</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spc="50" baseline="0" dirty="0">
                          <a:latin typeface="游ゴシック" panose="020B0400000000000000" pitchFamily="50" charset="-128"/>
                          <a:ea typeface="游ゴシック" panose="020B0400000000000000" pitchFamily="50" charset="-128"/>
                        </a:rPr>
                        <a:t>北関東</a:t>
                      </a:r>
                      <a:endParaRPr lang="ja-JP" altLang="ja-JP" sz="140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4593">
                <a:tc>
                  <a:txBody>
                    <a:bodyPr/>
                    <a:lstStyle/>
                    <a:p>
                      <a:pPr algn="l"/>
                      <a:r>
                        <a:rPr lang="zh-TW" altLang="ja-JP" sz="1400" b="1" spc="50" baseline="0" dirty="0">
                          <a:latin typeface="游ゴシック" panose="020B0400000000000000" pitchFamily="50" charset="-128"/>
                          <a:ea typeface="游ゴシック" panose="020B0400000000000000" pitchFamily="50" charset="-128"/>
                        </a:rPr>
                        <a:t>売 上 高</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游ゴシック" panose="020B0400000000000000" pitchFamily="50" charset="-128"/>
                          <a:ea typeface="游ゴシック" panose="020B0400000000000000" pitchFamily="50" charset="-128"/>
                        </a:rPr>
                        <a:t>1億円未満</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従 業 員</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altLang="ja-JP" sz="1400" spc="50" baseline="0" dirty="0">
                          <a:latin typeface="游ゴシック" panose="020B0400000000000000" pitchFamily="50" charset="-128"/>
                          <a:ea typeface="游ゴシック" panose="020B0400000000000000" pitchFamily="50" charset="-128"/>
                        </a:rPr>
                        <a:t>5名未満（役員2名で運営）</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727746"/>
                  </a:ext>
                </a:extLst>
              </a:tr>
            </a:tbl>
          </a:graphicData>
        </a:graphic>
      </p:graphicFrame>
      <p:graphicFrame>
        <p:nvGraphicFramePr>
          <p:cNvPr id="30" name="表 29">
            <a:extLst>
              <a:ext uri="{FF2B5EF4-FFF2-40B4-BE49-F238E27FC236}">
                <a16:creationId xmlns:a16="http://schemas.microsoft.com/office/drawing/2014/main" id="{058C6A93-50F6-9EEA-0E8E-D78019F88DC0}"/>
              </a:ext>
            </a:extLst>
          </p:cNvPr>
          <p:cNvGraphicFramePr>
            <a:graphicFrameLocks noGrp="1"/>
          </p:cNvGraphicFramePr>
          <p:nvPr>
            <p:extLst>
              <p:ext uri="{D42A27DB-BD31-4B8C-83A1-F6EECF244321}">
                <p14:modId xmlns:p14="http://schemas.microsoft.com/office/powerpoint/2010/main" val="2052281728"/>
              </p:ext>
            </p:extLst>
          </p:nvPr>
        </p:nvGraphicFramePr>
        <p:xfrm>
          <a:off x="395288" y="3419856"/>
          <a:ext cx="6768000" cy="3218688"/>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1389888">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ビジネス面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全国的に知名度の高い手打ちそば店。大手グルメサイトの全国上位店に複数年選出</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仕入から石臼自家製粉・手打ち・提供まで自社完結。一年熟成など再現の難しい製法</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店頭飲食に加え、同業著名店・ベーカリーへの原料卸、通信販売・ふるさと納税の導線を保有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屋号・主力商品について商標を複数保有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804672">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財務面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売上高1億円未満。役員報酬の計上がなく、減価償却費を加算したEBITDAは黒字</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土地・建物を自社保有し賃料負担なし。金融機関借入なく、純資産はプラスを維持</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1024128">
                <a:tc>
                  <a:txBody>
                    <a:bodyPr/>
                    <a:lstStyle/>
                    <a:p>
                      <a:pPr>
                        <a:lnSpc>
                          <a:spcPct val="120000"/>
                        </a:lnSpc>
                      </a:pPr>
                      <a:r>
                        <a:rPr kumimoji="1" lang="ja-JP" altLang="en-US" sz="1400" b="1" spc="50" baseline="0" dirty="0">
                          <a:solidFill>
                            <a:schemeClr val="tx1"/>
                          </a:solidFill>
                          <a:latin typeface="游ゴシック" panose="020B0400000000000000" pitchFamily="50" charset="-128"/>
                          <a:ea typeface="游ゴシック" panose="020B0400000000000000" pitchFamily="50" charset="-128"/>
                        </a:rPr>
                        <a:t>組織面</a:t>
                      </a:r>
                      <a:endParaRPr kumimoji="1" lang="en-US" altLang="ja-JP"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代表者と配偶者の2名で運営（繁忙時は親族が就労）</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レシピ等は第三者が再現できるよう整理済。別店舗の営業を承継した実績あり</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営業は週4日・昼のみ（年間約200日）。営業日・提供食数の拡大が伸び代（弊社の評価）</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graphicFrame>
        <p:nvGraphicFramePr>
          <p:cNvPr id="31" name="表 30">
            <a:extLst>
              <a:ext uri="{FF2B5EF4-FFF2-40B4-BE49-F238E27FC236}">
                <a16:creationId xmlns:a16="http://schemas.microsoft.com/office/drawing/2014/main" id="{06B6E9E3-203A-CA00-9F50-A2947860CA20}"/>
              </a:ext>
            </a:extLst>
          </p:cNvPr>
          <p:cNvGraphicFramePr>
            <a:graphicFrameLocks noGrp="1"/>
          </p:cNvGraphicFramePr>
          <p:nvPr>
            <p:extLst>
              <p:ext uri="{D42A27DB-BD31-4B8C-83A1-F6EECF244321}">
                <p14:modId xmlns:p14="http://schemas.microsoft.com/office/powerpoint/2010/main" val="1594064185"/>
              </p:ext>
            </p:extLst>
          </p:nvPr>
        </p:nvGraphicFramePr>
        <p:xfrm>
          <a:off x="395288" y="7223760"/>
          <a:ext cx="6768000" cy="126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譲渡理由</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en-US" sz="1400" b="0" spc="50" baseline="0" dirty="0">
                          <a:solidFill>
                            <a:schemeClr val="tx1"/>
                          </a:solidFill>
                          <a:latin typeface="游ゴシック" panose="020B0400000000000000" pitchFamily="50" charset="-128"/>
                          <a:ea typeface="游ゴシック" panose="020B0400000000000000" pitchFamily="50" charset="-128"/>
                        </a:rPr>
                        <a:t>後継者不在（代表者の高齢化）</a:t>
                      </a:r>
                      <a:endParaRPr lang="ja-JP" altLang="ja-JP" sz="1400" b="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スキーム</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ja-JP" sz="1400" b="0" spc="50" baseline="0" dirty="0">
                          <a:solidFill>
                            <a:schemeClr val="tx1"/>
                          </a:solidFill>
                          <a:latin typeface="游ゴシック" panose="020B0400000000000000" pitchFamily="50" charset="-128"/>
                          <a:ea typeface="游ゴシック" panose="020B0400000000000000" pitchFamily="50" charset="-128"/>
                        </a:rPr>
                        <a:t>株式100％譲渡</a:t>
                      </a:r>
                      <a:endParaRPr lang="ja-JP" altLang="ja-JP" sz="1400" b="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希望譲渡価額</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10000"/>
                        </a:lnSpc>
                        <a:spcBef>
                          <a:spcPts val="0"/>
                        </a:spcBef>
                        <a:spcAft>
                          <a:spcPts val="0"/>
                        </a:spcAft>
                        <a:buClr>
                          <a:schemeClr val="tx2"/>
                        </a:buClr>
                        <a:buSzTx/>
                        <a:buFontTx/>
                        <a:buNone/>
                        <a:tabLst/>
                        <a:defRPr/>
                      </a:pPr>
                      <a:r>
                        <a:rPr lang="ja-JP" altLang="en-US" sz="1400" b="0" spc="50" baseline="0" dirty="0">
                          <a:solidFill>
                            <a:schemeClr val="tx1"/>
                          </a:solidFill>
                          <a:latin typeface="游ゴシック" panose="020B0400000000000000" pitchFamily="50" charset="-128"/>
                          <a:ea typeface="游ゴシック" panose="020B0400000000000000" pitchFamily="50" charset="-128"/>
                        </a:rPr>
                        <a:t>応相談</a:t>
                      </a:r>
                      <a:endParaRPr lang="ja-JP" altLang="ja-JP" sz="1400" b="0"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spTree>
    <p:extLst>
      <p:ext uri="{BB962C8B-B14F-4D97-AF65-F5344CB8AC3E}">
        <p14:creationId xmlns:p14="http://schemas.microsoft.com/office/powerpoint/2010/main" val="838304872"/>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86</TotalTime>
  <Words>308</Words>
  <Application>Microsoft Office PowerPoint</Application>
  <PresentationFormat>ユーザー設定</PresentationFormat>
  <Paragraphs>32</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SL_2026</vt:lpstr>
      <vt:lpstr>M＆A案件 ノンネームシート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cp:revision>
  <cp:lastPrinted>2026-10-15T10:28:50Z</cp:lastPrinted>
  <dcterms:created xsi:type="dcterms:W3CDTF">2026-01-08T03:45:10Z</dcterms:created>
  <dcterms:modified xsi:type="dcterms:W3CDTF">2026-10-15T10:28:50Z</dcterms:modified>
</cp:coreProperties>
</file>