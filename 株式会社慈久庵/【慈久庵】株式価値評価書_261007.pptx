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24"/>
  </p:notesMasterIdLst>
  <p:sldIdLst>
    <p:sldId id="256" r:id="rId2"/>
    <p:sldId id="257" r:id="rId3"/>
    <p:sldId id="290" r:id="rId4"/>
    <p:sldId id="314" r:id="rId5"/>
    <p:sldId id="259" r:id="rId6"/>
    <p:sldId id="295" r:id="rId7"/>
    <p:sldId id="315" r:id="rId8"/>
    <p:sldId id="262" r:id="rId9"/>
    <p:sldId id="263" r:id="rId10"/>
    <p:sldId id="264" r:id="rId11"/>
    <p:sldId id="317" r:id="rId12"/>
    <p:sldId id="318" r:id="rId13"/>
    <p:sldId id="319" r:id="rId14"/>
    <p:sldId id="309" r:id="rId15"/>
    <p:sldId id="310" r:id="rId16"/>
    <p:sldId id="282" r:id="rId17"/>
    <p:sldId id="283" r:id="rId18"/>
    <p:sldId id="299" r:id="rId19"/>
    <p:sldId id="287" r:id="rId20"/>
    <p:sldId id="320" r:id="rId21"/>
    <p:sldId id="312" r:id="rId22"/>
    <p:sldId id="321" r:id="rId29"/>
    <p:sldId id="322" r:id="rId30"/>
    <p:sldId id="323" r:id="rId31"/>
    <p:sldId id="277" r:id="rId23"/>
  </p:sldIdLst>
  <p:sldSz cx="10691813" cy="7559675"/>
  <p:notesSz cx="6794500" cy="9931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35" userDrawn="1">
          <p15:clr>
            <a:srgbClr val="A4A3A4"/>
          </p15:clr>
        </p15:guide>
        <p15:guide id="2" pos="336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150" autoAdjust="0"/>
    <p:restoredTop sz="75000" autoAdjust="0"/>
  </p:normalViewPr>
  <p:slideViewPr>
    <p:cSldViewPr snapToGrid="0">
      <p:cViewPr varScale="1">
        <p:scale>
          <a:sx n="64" d="100"/>
          <a:sy n="64" d="100"/>
        </p:scale>
        <p:origin x="1244" y="52"/>
      </p:cViewPr>
      <p:guideLst>
        <p:guide orient="horz" pos="635"/>
        <p:guide pos="3367"/>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4.xml"/><Relationship Id="rId30" Type="http://schemas.openxmlformats.org/officeDocument/2006/relationships/slide" Target="slides/slide23.xml"/><Relationship Id="rId31"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spPr>
            <a:noFill/>
            <a:ln w="0">
              <a:noFill/>
            </a:ln>
          </c:spPr>
          <c:invertIfNegative val="0"/>
          <c:dLbls>
            <c:spPr>
              <a:noFill/>
              <a:ln>
                <a:noFill/>
              </a:ln>
              <a:effectLst/>
            </c:spPr>
            <c:txPr>
              <a:bodyPr wrap="square"/>
              <a:lstStyle/>
              <a:p>
                <a:pPr>
                  <a:defRPr sz="1000" b="0" strike="noStrike" spc="-1">
                    <a:solidFill>
                      <a:srgbClr val="000000"/>
                    </a:solidFill>
                    <a:latin typeface="Arial"/>
                    <a:ea typeface="游ゴシック Medium"/>
                  </a:defRPr>
                </a:pPr>
                <a:endParaRPr lang="ja-JP"/>
              </a:p>
            </c:txPr>
            <c:dLblPos val="ct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'株式価値 '!$B$4:$B$6</c:f>
              <c:strCache>
                <c:ptCount val="3"/>
                <c:pt idx="0">
                  <c:v>インカム</c:v>
                </c:pt>
                <c:pt idx="1">
                  <c:v>マーケット</c:v>
                </c:pt>
                <c:pt idx="2">
                  <c:v>コスト</c:v>
                </c:pt>
              </c:strCache>
            </c:strRef>
          </c:cat>
          <c:val>
            <c:numRef>
              <c:f>'株式価値 '!$C$4:$C$6</c:f>
              <c:numCache>
                <c:formatCode>#,##0,</c:formatCode>
                <c:ptCount val="3"/>
                <c:pt idx="0">
                  <c:v>0</c:v>
                </c:pt>
                <c:pt idx="1">
                  <c:v>0</c:v>
                </c:pt>
                <c:pt idx="2">
                  <c:v>0</c:v>
                </c:pt>
              </c:numCache>
            </c:numRef>
          </c:val>
          <c:extLst>
            <c:ext xmlns:c16="http://schemas.microsoft.com/office/drawing/2014/chart" uri="{C3380CC4-5D6E-409C-BE32-E72D297353CC}">
              <c16:uniqueId val="{00000000-2B92-40CA-8669-90E01AE844BB}"/>
            </c:ext>
          </c:extLst>
        </c:ser>
        <c:ser>
          <c:idx val="1"/>
          <c:order val="1"/>
          <c:spPr>
            <a:solidFill>
              <a:srgbClr val="0889C9"/>
            </a:solidFill>
            <a:ln w="0">
              <a:noFill/>
            </a:ln>
          </c:spPr>
          <c:invertIfNegative val="0"/>
          <c:dLbls>
            <c:spPr>
              <a:noFill/>
              <a:ln>
                <a:noFill/>
              </a:ln>
              <a:effectLst/>
            </c:spPr>
            <c:txPr>
              <a:bodyPr wrap="square"/>
              <a:lstStyle/>
              <a:p>
                <a:pPr>
                  <a:defRPr sz="1000" b="0" strike="noStrike" spc="-1">
                    <a:solidFill>
                      <a:srgbClr val="000000"/>
                    </a:solidFill>
                    <a:latin typeface="Arial"/>
                    <a:ea typeface="游ゴシック Medium"/>
                  </a:defRPr>
                </a:pPr>
                <a:endParaRPr lang="ja-JP"/>
              </a:p>
            </c:txPr>
            <c:dLblPos val="ct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'株式価値 '!$B$4:$B$6</c:f>
              <c:strCache>
                <c:ptCount val="3"/>
                <c:pt idx="0">
                  <c:v>インカム</c:v>
                </c:pt>
                <c:pt idx="1">
                  <c:v>マーケット</c:v>
                </c:pt>
                <c:pt idx="2">
                  <c:v>コスト</c:v>
                </c:pt>
              </c:strCache>
            </c:strRef>
          </c:cat>
          <c:val>
            <c:numRef>
              <c:f>'株式価値 '!$D$4:$D$6</c:f>
              <c:numCache>
                <c:formatCode>#,##0,</c:formatCode>
                <c:ptCount val="3"/>
                <c:pt idx="0">
                  <c:v>0</c:v>
                </c:pt>
                <c:pt idx="1">
                  <c:v>0</c:v>
                </c:pt>
                <c:pt idx="2">
                  <c:v>0</c:v>
                </c:pt>
              </c:numCache>
            </c:numRef>
          </c:val>
          <c:extLst>
            <c:ext xmlns:c16="http://schemas.microsoft.com/office/drawing/2014/chart" uri="{C3380CC4-5D6E-409C-BE32-E72D297353CC}">
              <c16:uniqueId val="{00000001-2B92-40CA-8669-90E01AE844BB}"/>
            </c:ext>
          </c:extLst>
        </c:ser>
        <c:dLbls>
          <c:showLegendKey val="0"/>
          <c:showVal val="0"/>
          <c:showCatName val="0"/>
          <c:showSerName val="0"/>
          <c:showPercent val="0"/>
          <c:showBubbleSize val="0"/>
        </c:dLbls>
        <c:gapWidth val="70"/>
        <c:overlap val="100"/>
        <c:axId val="70114149"/>
        <c:axId val="98614812"/>
      </c:barChart>
      <c:catAx>
        <c:axId val="70114149"/>
        <c:scaling>
          <c:orientation val="minMax"/>
        </c:scaling>
        <c:delete val="1"/>
        <c:axPos val="l"/>
        <c:numFmt formatCode="General" sourceLinked="1"/>
        <c:majorTickMark val="out"/>
        <c:minorTickMark val="none"/>
        <c:tickLblPos val="nextTo"/>
        <c:crossAx val="98614812"/>
        <c:crosses val="autoZero"/>
        <c:auto val="1"/>
        <c:lblAlgn val="ctr"/>
        <c:lblOffset val="100"/>
        <c:noMultiLvlLbl val="0"/>
      </c:catAx>
      <c:valAx>
        <c:axId val="98614812"/>
        <c:scaling>
          <c:orientation val="minMax"/>
        </c:scaling>
        <c:delete val="0"/>
        <c:axPos val="b"/>
        <c:majorGridlines>
          <c:spPr>
            <a:ln w="9360">
              <a:solidFill>
                <a:srgbClr val="0B3041"/>
              </a:solidFill>
              <a:round/>
            </a:ln>
          </c:spPr>
        </c:majorGridlines>
        <c:numFmt formatCode="#,##0," sourceLinked="0"/>
        <c:majorTickMark val="out"/>
        <c:minorTickMark val="none"/>
        <c:tickLblPos val="nextTo"/>
        <c:spPr>
          <a:ln w="12600">
            <a:noFill/>
          </a:ln>
        </c:spPr>
        <c:txPr>
          <a:bodyPr/>
          <a:lstStyle/>
          <a:p>
            <a:pPr>
              <a:defRPr sz="900" b="0" strike="noStrike" spc="-1">
                <a:solidFill>
                  <a:srgbClr val="0B3041"/>
                </a:solidFill>
                <a:latin typeface="Arial"/>
                <a:ea typeface="游ゴシック Medium"/>
              </a:defRPr>
            </a:pPr>
            <a:endParaRPr lang="ja-JP"/>
          </a:p>
        </c:txPr>
        <c:crossAx val="70114149"/>
        <c:crosses val="autoZero"/>
        <c:crossBetween val="between"/>
      </c:valAx>
      <c:spPr>
        <a:noFill/>
        <a:ln w="0">
          <a:noFill/>
        </a:ln>
      </c:spPr>
    </c:plotArea>
    <c:plotVisOnly val="1"/>
    <c:dispBlanksAs val="gap"/>
    <c:showDLblsOverMax val="1"/>
  </c:chart>
  <c:spPr>
    <a:solidFill>
      <a:srgbClr val="FFFFFF"/>
    </a:solidFill>
    <a:ln w="12600">
      <a:noFill/>
    </a:ln>
  </c:spPr>
  <c:externalData r:id="rId2">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5E719245-6B48-4D9E-9EED-FA258D3B0C86}" type="datetimeFigureOut">
              <a:rPr kumimoji="1" lang="ja-JP" altLang="en-US" smtClean="0"/>
              <a:t>2026/7/29</a:t>
            </a:fld>
            <a:endParaRPr kumimoji="1" lang="ja-JP" altLang="en-US"/>
          </a:p>
        </p:txBody>
      </p:sp>
      <p:sp>
        <p:nvSpPr>
          <p:cNvPr id="4" name="スライド イメージ プレースホルダー 3"/>
          <p:cNvSpPr>
            <a:spLocks noGrp="1" noRot="1" noChangeAspect="1"/>
          </p:cNvSpPr>
          <p:nvPr>
            <p:ph type="sldImg" idx="2"/>
          </p:nvPr>
        </p:nvSpPr>
        <p:spPr>
          <a:xfrm>
            <a:off x="1028700" y="1241425"/>
            <a:ext cx="4737100" cy="335121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CCD08276-B047-45AB-869B-6FEE4FD0AA7E}" type="slidenum">
              <a:rPr kumimoji="1" lang="ja-JP" altLang="en-US" smtClean="0"/>
              <a:t>‹#›</a:t>
            </a:fld>
            <a:endParaRPr kumimoji="1" lang="ja-JP" altLang="en-US"/>
          </a:p>
        </p:txBody>
      </p:sp>
    </p:spTree>
    <p:extLst>
      <p:ext uri="{BB962C8B-B14F-4D97-AF65-F5344CB8AC3E}">
        <p14:creationId xmlns:p14="http://schemas.microsoft.com/office/powerpoint/2010/main" val="1234540164"/>
      </p:ext>
    </p:extLst>
  </p:cSld>
  <p:clrMap bg1="lt1" tx1="dk1" bg2="lt2" tx2="dk2" accent1="accent1" accent2="accent2" accent3="accent3" accent4="accent4" accent5="accent5" accent6="accent6" hlink="hlink" folHlink="folHlink"/>
  <p:notesStyle>
    <a:lvl1pPr marL="0" algn="l" defTabSz="1042873" rtl="0" eaLnBrk="1" latinLnBrk="0" hangingPunct="1">
      <a:defRPr kumimoji="1" sz="1369" kern="1200">
        <a:solidFill>
          <a:schemeClr val="tx1"/>
        </a:solidFill>
        <a:latin typeface="+mn-lt"/>
        <a:ea typeface="+mn-ea"/>
        <a:cs typeface="+mn-cs"/>
      </a:defRPr>
    </a:lvl1pPr>
    <a:lvl2pPr marL="521437" algn="l" defTabSz="1042873" rtl="0" eaLnBrk="1" latinLnBrk="0" hangingPunct="1">
      <a:defRPr kumimoji="1" sz="1369" kern="1200">
        <a:solidFill>
          <a:schemeClr val="tx1"/>
        </a:solidFill>
        <a:latin typeface="+mn-lt"/>
        <a:ea typeface="+mn-ea"/>
        <a:cs typeface="+mn-cs"/>
      </a:defRPr>
    </a:lvl2pPr>
    <a:lvl3pPr marL="1042873" algn="l" defTabSz="1042873" rtl="0" eaLnBrk="1" latinLnBrk="0" hangingPunct="1">
      <a:defRPr kumimoji="1" sz="1369" kern="1200">
        <a:solidFill>
          <a:schemeClr val="tx1"/>
        </a:solidFill>
        <a:latin typeface="+mn-lt"/>
        <a:ea typeface="+mn-ea"/>
        <a:cs typeface="+mn-cs"/>
      </a:defRPr>
    </a:lvl3pPr>
    <a:lvl4pPr marL="1564310" algn="l" defTabSz="1042873" rtl="0" eaLnBrk="1" latinLnBrk="0" hangingPunct="1">
      <a:defRPr kumimoji="1" sz="1369" kern="1200">
        <a:solidFill>
          <a:schemeClr val="tx1"/>
        </a:solidFill>
        <a:latin typeface="+mn-lt"/>
        <a:ea typeface="+mn-ea"/>
        <a:cs typeface="+mn-cs"/>
      </a:defRPr>
    </a:lvl4pPr>
    <a:lvl5pPr marL="2085746" algn="l" defTabSz="1042873" rtl="0" eaLnBrk="1" latinLnBrk="0" hangingPunct="1">
      <a:defRPr kumimoji="1" sz="1369" kern="1200">
        <a:solidFill>
          <a:schemeClr val="tx1"/>
        </a:solidFill>
        <a:latin typeface="+mn-lt"/>
        <a:ea typeface="+mn-ea"/>
        <a:cs typeface="+mn-cs"/>
      </a:defRPr>
    </a:lvl5pPr>
    <a:lvl6pPr marL="2607183" algn="l" defTabSz="1042873" rtl="0" eaLnBrk="1" latinLnBrk="0" hangingPunct="1">
      <a:defRPr kumimoji="1" sz="1369" kern="1200">
        <a:solidFill>
          <a:schemeClr val="tx1"/>
        </a:solidFill>
        <a:latin typeface="+mn-lt"/>
        <a:ea typeface="+mn-ea"/>
        <a:cs typeface="+mn-cs"/>
      </a:defRPr>
    </a:lvl6pPr>
    <a:lvl7pPr marL="3128620" algn="l" defTabSz="1042873" rtl="0" eaLnBrk="1" latinLnBrk="0" hangingPunct="1">
      <a:defRPr kumimoji="1" sz="1369" kern="1200">
        <a:solidFill>
          <a:schemeClr val="tx1"/>
        </a:solidFill>
        <a:latin typeface="+mn-lt"/>
        <a:ea typeface="+mn-ea"/>
        <a:cs typeface="+mn-cs"/>
      </a:defRPr>
    </a:lvl7pPr>
    <a:lvl8pPr marL="3650056" algn="l" defTabSz="1042873" rtl="0" eaLnBrk="1" latinLnBrk="0" hangingPunct="1">
      <a:defRPr kumimoji="1" sz="1369" kern="1200">
        <a:solidFill>
          <a:schemeClr val="tx1"/>
        </a:solidFill>
        <a:latin typeface="+mn-lt"/>
        <a:ea typeface="+mn-ea"/>
        <a:cs typeface="+mn-cs"/>
      </a:defRPr>
    </a:lvl8pPr>
    <a:lvl9pPr marL="4171493" algn="l" defTabSz="1042873" rtl="0" eaLnBrk="1" latinLnBrk="0" hangingPunct="1">
      <a:defRPr kumimoji="1"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237344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9E3F-7139-D801-6405-856863FC06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DBFDA3-D264-0383-7900-345B5B3B56A7}"/>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EC6E1337-5507-C2F6-0F8C-87C4AC26C0AC}"/>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BC0F35DD-7D73-1125-F6E1-E3965E28DE7C}"/>
              </a:ext>
            </a:extLst>
          </p:cNvPr>
          <p:cNvSpPr>
            <a:spLocks noGrp="1"/>
          </p:cNvSpPr>
          <p:nvPr>
            <p:ph type="sldNum" sz="quarter" idx="5"/>
          </p:nvPr>
        </p:nvSpPr>
        <p:spPr/>
        <p:txBody>
          <a:bodyPr/>
          <a:lstStyle/>
          <a:p>
            <a:fld id="{CCD08276-B047-45AB-869B-6FEE4FD0AA7E}" type="slidenum">
              <a:rPr kumimoji="1" lang="ja-JP" altLang="en-US" smtClean="0"/>
              <a:t>3</a:t>
            </a:fld>
            <a:endParaRPr kumimoji="1" lang="ja-JP" altLang="en-US"/>
          </a:p>
        </p:txBody>
      </p:sp>
    </p:spTree>
    <p:extLst>
      <p:ext uri="{BB962C8B-B14F-4D97-AF65-F5344CB8AC3E}">
        <p14:creationId xmlns:p14="http://schemas.microsoft.com/office/powerpoint/2010/main" val="3658020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3: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3: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192" name="Google Shape;192;p3: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F929-C853-B63F-7A81-878CD012E2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9FE65EB-FC45-F115-A953-E456E1A9B152}"/>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A742DFA8-F037-213C-7D7D-423295DEBEAD}"/>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7138E276-27EB-6F25-5A7A-74C8CC8E81F2}"/>
              </a:ext>
            </a:extLst>
          </p:cNvPr>
          <p:cNvSpPr>
            <a:spLocks noGrp="1"/>
          </p:cNvSpPr>
          <p:nvPr>
            <p:ph type="sldNum" sz="quarter" idx="5"/>
          </p:nvPr>
        </p:nvSpPr>
        <p:spPr/>
        <p:txBody>
          <a:bodyPr/>
          <a:lstStyle/>
          <a:p>
            <a:fld id="{CCD08276-B047-45AB-869B-6FEE4FD0AA7E}" type="slidenum">
              <a:rPr kumimoji="1" lang="ja-JP" altLang="en-US" smtClean="0"/>
              <a:t>6</a:t>
            </a:fld>
            <a:endParaRPr kumimoji="1" lang="ja-JP" altLang="en-US"/>
          </a:p>
        </p:txBody>
      </p:sp>
    </p:spTree>
    <p:extLst>
      <p:ext uri="{BB962C8B-B14F-4D97-AF65-F5344CB8AC3E}">
        <p14:creationId xmlns:p14="http://schemas.microsoft.com/office/powerpoint/2010/main" val="55174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67E3-E20D-C509-6096-3F8BA55762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13D625-8F3E-2CDF-E22F-DAABBF281649}"/>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9B3D2D6A-0AEA-F151-2BFE-9C80597640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a:extLst>
              <a:ext uri="{FF2B5EF4-FFF2-40B4-BE49-F238E27FC236}">
                <a16:creationId xmlns:a16="http://schemas.microsoft.com/office/drawing/2014/main" id="{84478388-9ECF-D759-1C81-F7248689CBD8}"/>
              </a:ext>
            </a:extLst>
          </p:cNvPr>
          <p:cNvSpPr>
            <a:spLocks noGrp="1"/>
          </p:cNvSpPr>
          <p:nvPr>
            <p:ph type="sldNum" sz="quarter" idx="5"/>
          </p:nvPr>
        </p:nvSpPr>
        <p:spPr/>
        <p:txBody>
          <a:bodyPr/>
          <a:lstStyle/>
          <a:p>
            <a:fld id="{CCD08276-B047-45AB-869B-6FEE4FD0AA7E}" type="slidenum">
              <a:rPr kumimoji="1" lang="ja-JP" altLang="en-US" smtClean="0"/>
              <a:t>7</a:t>
            </a:fld>
            <a:endParaRPr kumimoji="1" lang="ja-JP" altLang="en-US"/>
          </a:p>
        </p:txBody>
      </p:sp>
    </p:spTree>
    <p:extLst>
      <p:ext uri="{BB962C8B-B14F-4D97-AF65-F5344CB8AC3E}">
        <p14:creationId xmlns:p14="http://schemas.microsoft.com/office/powerpoint/2010/main" val="160967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9</a:t>
            </a:fld>
            <a:endParaRPr kumimoji="1" lang="ja-JP" altLang="en-US"/>
          </a:p>
        </p:txBody>
      </p:sp>
    </p:spTree>
    <p:extLst>
      <p:ext uri="{BB962C8B-B14F-4D97-AF65-F5344CB8AC3E}">
        <p14:creationId xmlns:p14="http://schemas.microsoft.com/office/powerpoint/2010/main" val="406546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18</a:t>
            </a:fld>
            <a:endParaRPr kumimoji="1" lang="ja-JP" altLang="en-US"/>
          </a:p>
        </p:txBody>
      </p:sp>
    </p:spTree>
    <p:extLst>
      <p:ext uri="{BB962C8B-B14F-4D97-AF65-F5344CB8AC3E}">
        <p14:creationId xmlns:p14="http://schemas.microsoft.com/office/powerpoint/2010/main" val="18242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826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169804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984386"/>
            <a:chOff x="887069" y="3420377"/>
            <a:chExt cx="3420000" cy="984386"/>
          </a:xfrm>
        </p:grpSpPr>
        <p:sp>
          <p:nvSpPr>
            <p:cNvPr id="8" name="Google Shape;261;p2">
              <a:extLst>
                <a:ext uri="{FF2B5EF4-FFF2-40B4-BE49-F238E27FC236}">
                  <a16:creationId xmlns:a16="http://schemas.microsoft.com/office/drawing/2014/main" id="{749E3869-09D9-C379-3B1A-E14B89FDBC05}"/>
                </a:ext>
              </a:extLst>
            </p:cNvPr>
            <p:cNvSpPr txBox="1"/>
            <p:nvPr/>
          </p:nvSpPr>
          <p:spPr>
            <a:xfrm>
              <a:off x="1085069" y="4238564"/>
              <a:ext cx="3024000" cy="166199"/>
            </a:xfrm>
            <a:prstGeom prst="rect">
              <a:avLst/>
            </a:prstGeom>
            <a:noFill/>
            <a:ln>
              <a:noFill/>
            </a:ln>
          </p:spPr>
          <p:txBody>
            <a:bodyPr spcFirstLastPara="1" wrap="square" lIns="0" tIns="0" rIns="0" bIns="0" anchor="t" anchorCtr="0">
              <a:spAutoFit/>
            </a:bodyPr>
            <a:lstStyle/>
            <a:p>
              <a:pPr marL="103241" algn="ctr">
                <a:lnSpc>
                  <a:spcPct val="90000"/>
                </a:lnSpc>
                <a:buClr>
                  <a:schemeClr val="dk1"/>
                </a:buClr>
                <a:buSzPts val="1400"/>
              </a:pPr>
              <a:r>
                <a:rPr lang="ja-JP" altLang="en-US" sz="1200" b="1" dirty="0">
                  <a:solidFill>
                    <a:schemeClr val="dk1"/>
                  </a:solidFill>
                  <a:latin typeface="+mj-ea"/>
                  <a:ea typeface="+mj-ea"/>
                </a:rPr>
                <a:t>ミーティングアジェンダ</a:t>
              </a:r>
              <a:endParaRPr sz="1200" b="1" dirty="0">
                <a:latin typeface="+mj-ea"/>
                <a:ea typeface="+mj-ea"/>
              </a:endParaRPr>
            </a:p>
          </p:txBody>
        </p:sp>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en-US" altLang="ja-JP" sz="3200" b="1" i="0" dirty="0">
                  <a:solidFill>
                    <a:srgbClr val="1F1F1F"/>
                  </a:solidFill>
                  <a:effectLst/>
                  <a:latin typeface="+mj-lt"/>
                </a:rPr>
                <a:t>Meeting Agenda</a:t>
              </a:r>
              <a:endParaRPr lang="ja-JP" altLang="en-US" sz="3200" b="1" dirty="0">
                <a:latin typeface="+mj-lt"/>
              </a:endParaRP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65997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2900326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3552754477"/>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81400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eg"/><Relationship Id="rId3" Type="http://schemas.openxmlformats.org/officeDocument/2006/relationships/image" Target="../media/image7.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D987C9A9-7152-3DD4-F23C-48E1B5BABCAA}"/>
              </a:ext>
            </a:extLst>
          </p:cNvPr>
          <p:cNvSpPr>
            <a:spLocks noGrp="1"/>
          </p:cNvSpPr>
          <p:nvPr>
            <p:ph type="title"/>
          </p:nvPr>
        </p:nvSpPr>
        <p:spPr>
          <a:xfrm>
            <a:off x="885526" y="3467606"/>
            <a:ext cx="9221787" cy="738664"/>
          </a:xfrm>
        </p:spPr>
        <p:txBody>
          <a:bodyPr/>
          <a:lstStyle/>
          <a:p>
            <a:r>
              <a:rPr lang="en-US" altLang="ja-JP" dirty="0">
                <a:solidFill/>
              </a:rPr>
              <a:t>Valuation</a:t>
            </a:r>
            <a:r>
              <a:rPr lang="ja-JP" altLang="en-US" dirty="0">
                <a:solidFill/>
              </a:rPr>
              <a:t> </a:t>
            </a:r>
            <a:r>
              <a:rPr lang="en-US" altLang="ja-JP" dirty="0">
                <a:solidFill/>
              </a:rPr>
              <a:t>Report</a:t>
            </a:r>
            <a:endParaRPr lang="ja-JP" altLang="en-US" dirty="0"/>
          </a:p>
        </p:txBody>
      </p:sp>
      <p:sp>
        <p:nvSpPr>
          <p:cNvPr id="3" name="テキスト ボックス 2">
            <a:extLst>
              <a:ext uri="{FF2B5EF4-FFF2-40B4-BE49-F238E27FC236}">
                <a16:creationId xmlns:a16="http://schemas.microsoft.com/office/drawing/2014/main" id="{C2CE6D41-E85A-5C3B-AEBD-17BCB7C688FB}"/>
              </a:ext>
            </a:extLst>
          </p:cNvPr>
          <p:cNvSpPr txBox="1"/>
          <p:nvPr/>
        </p:nvSpPr>
        <p:spPr>
          <a:xfrm>
            <a:off x="857354" y="2606111"/>
            <a:ext cx="2192908" cy="276999"/>
          </a:xfrm>
          <a:prstGeom prst="rect">
            <a:avLst/>
          </a:prstGeom>
          <a:noFill/>
        </p:spPr>
        <p:txBody>
          <a:bodyPr wrap="none" lIns="0" tIns="0" rIns="0" bIns="0" rtlCol="0">
            <a:spAutoFit/>
          </a:bodyPr>
          <a:lstStyle/>
          <a:p>
            <a:r>
              <a:rPr>
                <a:latin typeface="游ゴシック"/>
                <a:ea typeface="游ゴシック"/>
                <a:cs typeface="游ゴシック"/>
              </a:rPr>
              <a:t>株式会社慈久庵　御中</a:t>
            </a:r>
            <a:endParaRPr kumimoji="1" lang="ja-JP" altLang="en-US" b="1" spc="100" dirty="0">
              <a:latin typeface="+mj-lt"/>
              <a:ea typeface="+mj-ea"/>
            </a:endParaRPr>
          </a:p>
        </p:txBody>
      </p:sp>
      <p:sp>
        <p:nvSpPr>
          <p:cNvPr id="11" name="テキスト ボックス 10">
            <a:extLst>
              <a:ext uri="{FF2B5EF4-FFF2-40B4-BE49-F238E27FC236}">
                <a16:creationId xmlns:a16="http://schemas.microsoft.com/office/drawing/2014/main" id="{B8E93A22-E152-6430-ED5D-2758EDBEA463}"/>
              </a:ext>
            </a:extLst>
          </p:cNvPr>
          <p:cNvSpPr txBox="1"/>
          <p:nvPr/>
        </p:nvSpPr>
        <p:spPr>
          <a:xfrm>
            <a:off x="988426" y="4772601"/>
            <a:ext cx="1540486" cy="246221"/>
          </a:xfrm>
          <a:prstGeom prst="rect">
            <a:avLst/>
          </a:prstGeom>
          <a:noFill/>
        </p:spPr>
        <p:txBody>
          <a:bodyPr wrap="none" lIns="0" tIns="0" rIns="0" bIns="0" rtlCol="0" anchor="ctr">
            <a:spAutoFit/>
          </a:bodyPr>
          <a:lstStyle/>
          <a:p>
            <a:pPr defTabSz="503972">
              <a:defRPr/>
            </a:pPr>
            <a:r>
              <a:rPr>
                <a:latin typeface="游ゴシック"/>
                <a:ea typeface="游ゴシック"/>
                <a:cs typeface="游ゴシック"/>
              </a:rPr>
              <a:t>2026年10月7日</a:t>
            </a:r>
          </a:p>
        </p:txBody>
      </p:sp>
      <p:cxnSp>
        <p:nvCxnSpPr>
          <p:cNvPr id="12" name="直線コネクタ 11">
            <a:extLst>
              <a:ext uri="{FF2B5EF4-FFF2-40B4-BE49-F238E27FC236}">
                <a16:creationId xmlns:a16="http://schemas.microsoft.com/office/drawing/2014/main" id="{20CAB1A1-BCBE-F6F7-8DA5-16D451D49054}"/>
              </a:ext>
            </a:extLst>
          </p:cNvPr>
          <p:cNvCxnSpPr>
            <a:cxnSpLocks/>
          </p:cNvCxnSpPr>
          <p:nvPr/>
        </p:nvCxnSpPr>
        <p:spPr>
          <a:xfrm>
            <a:off x="885526" y="4272782"/>
            <a:ext cx="536127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01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olidFill/>
                <a:sym typeface="Arial"/>
              </a:rPr>
              <a:t>本件に関する問い合わせ先</a:t>
            </a:r>
            <a:endParaRPr dirty="0">
              <a:sym typeface="Arial"/>
            </a:endParaRP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2631826034"/>
              </p:ext>
            </p:extLst>
          </p:nvPr>
        </p:nvGraphicFramePr>
        <p:xfrm>
          <a:off x="449264" y="6120538"/>
          <a:ext cx="9793288"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2">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sz="1100">
                          <a:latin typeface="游ゴシック"/>
                          <a:ea typeface="游ゴシック"/>
                          <a:cs typeface="游ゴシック"/>
                        </a:rPr>
                        <a:t>株式会社M&amp;A承継機構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sz="1100">
                          <a:latin typeface="游ゴシック"/>
                          <a:ea typeface="游ゴシック"/>
                          <a:cs typeface="游ゴシック"/>
                        </a:rPr>
                        <a:t>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sz="1100">
                          <a:latin typeface="游ゴシック"/>
                          <a:ea typeface="游ゴシック"/>
                          <a:cs typeface="游ゴシック"/>
                        </a:rPr>
                        <a:t>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sz="1100">
                          <a:latin typeface="游ゴシック"/>
                          <a:ea typeface="游ゴシック"/>
                          <a:cs typeface="游ゴシック"/>
                        </a:rPr>
                        <a:t>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a:xfrm>
            <a:off x="341313" y="180653"/>
            <a:ext cx="7799917" cy="338554"/>
          </a:xfrm>
        </p:spPr>
        <p:txBody>
          <a:bodyPr/>
          <a:lstStyle/>
          <a:p>
            <a:r>
              <a:rPr lang="ja-JP" altLang="en-US" dirty="0">
                <a:solidFill/>
              </a:rPr>
              <a:t>はじめに</a:t>
            </a:r>
          </a:p>
        </p:txBody>
      </p:sp>
      <p:cxnSp>
        <p:nvCxnSpPr>
          <p:cNvPr id="13" name="直線コネクタ 12">
            <a:extLst>
              <a:ext uri="{FF2B5EF4-FFF2-40B4-BE49-F238E27FC236}">
                <a16:creationId xmlns:a16="http://schemas.microsoft.com/office/drawing/2014/main" id="{FB09082A-B52F-14F1-BAAD-CC1AE1853CD8}"/>
              </a:ext>
            </a:extLst>
          </p:cNvPr>
          <p:cNvCxnSpPr>
            <a:cxnSpLocks/>
          </p:cNvCxnSpPr>
          <p:nvPr/>
        </p:nvCxnSpPr>
        <p:spPr>
          <a:xfrm>
            <a:off x="449263" y="4380131"/>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2886496"/>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a:spcAft>
                <a:spcPts val="1200"/>
              </a:spcAft>
            </a:pPr>
            <a:r>
              <a:rPr lang="ja-JP" altLang="en-US" sz="1200" dirty="0">
                <a:solidFill/>
              </a:rPr>
              <a:t>本書における試算結果は対象会社より提出を受けた資料及び一般に公開されている情報並びに対象会社及びその関係者へのインタビューに基づいております。これらの資料、情報及びインタビュー内容の正確性、妥当性、適法性、網羅性または完全性について当社独自の調査・検証は行われておりません。従って、試算の基礎となった資料や情報、インタビュー内容の誤謬に基づく試算結果等への影響について、当社は何らの責任も負いません。</a:t>
            </a:r>
            <a:endParaRPr lang="en-US" altLang="ja-JP" sz="1200" dirty="0"/>
          </a:p>
          <a:p>
            <a:pPr>
              <a:spcAft>
                <a:spcPts val="1200"/>
              </a:spcAft>
            </a:pPr>
            <a:r>
              <a:rPr lang="ja-JP" altLang="en-US" sz="1200" dirty="0">
                <a:solidFill/>
              </a:rPr>
              <a:t>本書において、対象会社の基準日における資産及び負債等の評価（不動産の簡易価格調査結果を含む）、損益実績値の調整、将来予測数値等の分析結果について当社のコメントを付したものがありますが、これらの正確性、妥当性、適法性、網羅性、完全性または実現可能性を保証するものではありません。</a:t>
            </a:r>
          </a:p>
          <a:p>
            <a:pPr>
              <a:spcAft>
                <a:spcPts val="1200"/>
              </a:spcAft>
            </a:pPr>
            <a:r>
              <a:rPr lang="ja-JP" altLang="en-US" sz="1200" dirty="0">
                <a:solidFill/>
              </a:rPr>
              <a:t>本書における試算結果は、限定された情報及び調査機会に基づき本書の日付現在における当社としての意見を述べるものであり、その絶対性を保証するものではありません。従って、本書の試算結果は</a:t>
            </a:r>
            <a:r>
              <a:rPr lang="en-US" altLang="ja-JP" sz="1200" dirty="0">
                <a:solidFill/>
              </a:rPr>
              <a:t>M&amp;A</a:t>
            </a:r>
            <a:r>
              <a:rPr lang="ja-JP" altLang="en-US" sz="1200" dirty="0">
                <a:solidFill/>
              </a:rPr>
              <a:t>実行時の譲渡価額（売買取引価額）を保証するものではありません。</a:t>
            </a:r>
          </a:p>
          <a:p>
            <a:pPr>
              <a:spcAft>
                <a:spcPts val="1200"/>
              </a:spcAft>
            </a:pPr>
            <a:r>
              <a:rPr lang="ja-JP" altLang="en-US" sz="1200" dirty="0">
                <a:solidFill/>
              </a:rPr>
              <a:t>本書を本件試算目的以外で利用する場合及び本件取引の関連当事者以外に開示する場合には、当社の書面による承諾が必要となります。</a:t>
            </a:r>
          </a:p>
        </p:txBody>
      </p:sp>
      <p:grpSp>
        <p:nvGrpSpPr>
          <p:cNvPr id="28" name="グループ化 27">
            <a:extLst>
              <a:ext uri="{FF2B5EF4-FFF2-40B4-BE49-F238E27FC236}">
                <a16:creationId xmlns:a16="http://schemas.microsoft.com/office/drawing/2014/main" id="{D1C6A406-8443-F3E6-28CA-B536B1AA45B5}"/>
              </a:ext>
            </a:extLst>
          </p:cNvPr>
          <p:cNvGrpSpPr/>
          <p:nvPr/>
        </p:nvGrpSpPr>
        <p:grpSpPr>
          <a:xfrm>
            <a:off x="449263" y="4638836"/>
            <a:ext cx="9792000" cy="581999"/>
            <a:chOff x="449263" y="4445708"/>
            <a:chExt cx="9792000" cy="581999"/>
          </a:xfrm>
        </p:grpSpPr>
        <p:sp>
          <p:nvSpPr>
            <p:cNvPr id="24" name="正方形/長方形 23">
              <a:extLst>
                <a:ext uri="{FF2B5EF4-FFF2-40B4-BE49-F238E27FC236}">
                  <a16:creationId xmlns:a16="http://schemas.microsoft.com/office/drawing/2014/main" id="{2FCA2641-923F-459F-562E-5D27E6F566C7}"/>
                </a:ext>
              </a:extLst>
            </p:cNvPr>
            <p:cNvSpPr/>
            <p:nvPr/>
          </p:nvSpPr>
          <p:spPr>
            <a:xfrm>
              <a:off x="449263" y="4445708"/>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用語の定義</a:t>
              </a:r>
            </a:p>
          </p:txBody>
        </p:sp>
        <p:sp>
          <p:nvSpPr>
            <p:cNvPr id="26" name="テキスト ボックス 25">
              <a:extLst>
                <a:ext uri="{FF2B5EF4-FFF2-40B4-BE49-F238E27FC236}">
                  <a16:creationId xmlns:a16="http://schemas.microsoft.com/office/drawing/2014/main" id="{84E29355-A1C9-2368-8A78-4E9FAD4ED010}"/>
                </a:ext>
              </a:extLst>
            </p:cNvPr>
            <p:cNvSpPr txBox="1"/>
            <p:nvPr/>
          </p:nvSpPr>
          <p:spPr>
            <a:xfrm>
              <a:off x="449263" y="4818867"/>
              <a:ext cx="9792000" cy="208840"/>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r>
                <a:rPr lang="ja-JP" altLang="en-US" dirty="0"/>
                <a:t>本書で用いられる「本件取引」「本件試算目的」の定義は、「企業価値試算結果」のページに記載しております。</a:t>
              </a:r>
            </a:p>
          </p:txBody>
        </p:sp>
      </p:grpSp>
      <p:cxnSp>
        <p:nvCxnSpPr>
          <p:cNvPr id="27" name="直線コネクタ 26">
            <a:extLst>
              <a:ext uri="{FF2B5EF4-FFF2-40B4-BE49-F238E27FC236}">
                <a16:creationId xmlns:a16="http://schemas.microsoft.com/office/drawing/2014/main" id="{F946AE5A-CED3-47EB-17ED-BE6A1ABD1294}"/>
              </a:ext>
            </a:extLst>
          </p:cNvPr>
          <p:cNvCxnSpPr>
            <a:cxnSpLocks/>
          </p:cNvCxnSpPr>
          <p:nvPr/>
        </p:nvCxnSpPr>
        <p:spPr>
          <a:xfrm>
            <a:off x="449263" y="5479540"/>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35B2-585C-A9A9-5167-EBEF6489416D}"/>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BFD2964-553D-9D91-68F1-870D0805E2CB}"/>
              </a:ext>
            </a:extLst>
          </p:cNvPr>
          <p:cNvSpPr>
            <a:spLocks noGrp="1"/>
          </p:cNvSpPr>
          <p:nvPr>
            <p:ph type="ctrTitle"/>
          </p:nvPr>
        </p:nvSpPr>
        <p:spPr>
          <a:xfrm>
            <a:off x="341313" y="180653"/>
            <a:ext cx="7799917" cy="338554"/>
          </a:xfrm>
        </p:spPr>
        <p:txBody>
          <a:bodyPr/>
          <a:lstStyle/>
          <a:p>
            <a:r>
              <a:rPr lang="ja-JP" altLang="en-US" dirty="0">
                <a:solidFill/>
              </a:rPr>
              <a:t>株価評価にあたっての注意点</a:t>
            </a:r>
          </a:p>
        </p:txBody>
      </p:sp>
      <p:sp>
        <p:nvSpPr>
          <p:cNvPr id="18" name="テキスト ボックス 17">
            <a:extLst>
              <a:ext uri="{FF2B5EF4-FFF2-40B4-BE49-F238E27FC236}">
                <a16:creationId xmlns:a16="http://schemas.microsoft.com/office/drawing/2014/main" id="{43FF748D-7302-6B92-5A45-49968A63F0B4}"/>
              </a:ext>
            </a:extLst>
          </p:cNvPr>
          <p:cNvSpPr txBox="1"/>
          <p:nvPr/>
        </p:nvSpPr>
        <p:spPr>
          <a:xfrm>
            <a:off x="1109133" y="10679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solidFill/>
              </a:rPr>
              <a:t>M&amp;A</a:t>
            </a:r>
            <a:r>
              <a:rPr lang="ja-JP" altLang="en-US" dirty="0">
                <a:solidFill/>
              </a:rPr>
              <a:t>における株価は、買主との協議によって決定されるものであり、最終的に本書での評価結果の範囲外に</a:t>
            </a:r>
            <a:br>
              <a:rPr lang="en-US" altLang="ja-JP" dirty="0"/>
            </a:br>
            <a:r>
              <a:rPr lang="ja-JP" altLang="en-US" dirty="0">
                <a:solidFill/>
              </a:rPr>
              <a:t>なる可能性も相応に御座います。本書での評価結果はあくまで目安の一つとして、ご理解ください。</a:t>
            </a:r>
            <a:endParaRPr lang="en-US" altLang="ja-JP" dirty="0"/>
          </a:p>
        </p:txBody>
      </p:sp>
      <p:sp>
        <p:nvSpPr>
          <p:cNvPr id="20" name="テキスト ボックス 19">
            <a:extLst>
              <a:ext uri="{FF2B5EF4-FFF2-40B4-BE49-F238E27FC236}">
                <a16:creationId xmlns:a16="http://schemas.microsoft.com/office/drawing/2014/main" id="{43A2A16C-AED8-ACCF-CB8F-70E0B810FB3B}"/>
              </a:ext>
            </a:extLst>
          </p:cNvPr>
          <p:cNvSpPr txBox="1"/>
          <p:nvPr/>
        </p:nvSpPr>
        <p:spPr>
          <a:xfrm>
            <a:off x="1109133" y="2052538"/>
            <a:ext cx="9132130" cy="760657"/>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solidFill/>
              </a:rPr>
              <a:t>M&amp;A</a:t>
            </a:r>
            <a:r>
              <a:rPr lang="ja-JP" altLang="en-US" dirty="0">
                <a:solidFill/>
              </a:rPr>
              <a:t>における株価評価方法は画一的なものはなく、世の中には多数の算出手法が存在します。</a:t>
            </a:r>
            <a:br>
              <a:rPr lang="en-US" altLang="ja-JP" dirty="0"/>
            </a:br>
            <a:r>
              <a:rPr lang="ja-JP" altLang="en-US" dirty="0">
                <a:solidFill/>
              </a:rPr>
              <a:t>本書においては中小企業</a:t>
            </a:r>
            <a:r>
              <a:rPr lang="en-US" altLang="ja-JP" dirty="0">
                <a:solidFill/>
              </a:rPr>
              <a:t>M&amp;A</a:t>
            </a:r>
            <a:r>
              <a:rPr lang="ja-JP" altLang="en-US" dirty="0">
                <a:solidFill/>
              </a:rPr>
              <a:t>において用いられる一般的な評価手法から、貴社の評価に適していると</a:t>
            </a:r>
            <a:br>
              <a:rPr lang="en-US" altLang="ja-JP" dirty="0"/>
            </a:br>
            <a:r>
              <a:rPr lang="ja-JP" altLang="en-US" dirty="0">
                <a:solidFill/>
              </a:rPr>
              <a:t>考えられる手法を採用しております。</a:t>
            </a:r>
            <a:endParaRPr lang="en-US" altLang="ja-JP" dirty="0"/>
          </a:p>
        </p:txBody>
      </p:sp>
      <p:sp>
        <p:nvSpPr>
          <p:cNvPr id="22" name="テキスト ボックス 21">
            <a:extLst>
              <a:ext uri="{FF2B5EF4-FFF2-40B4-BE49-F238E27FC236}">
                <a16:creationId xmlns:a16="http://schemas.microsoft.com/office/drawing/2014/main" id="{4E37E670-53DE-767E-52D8-7829791681E1}"/>
              </a:ext>
            </a:extLst>
          </p:cNvPr>
          <p:cNvSpPr txBox="1"/>
          <p:nvPr/>
        </p:nvSpPr>
        <p:spPr>
          <a:xfrm>
            <a:off x="1109133" y="3295695"/>
            <a:ext cx="9132130" cy="243593"/>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solidFill/>
              </a:rPr>
              <a:t>買主による評価（株価の考え方及び評価方法）は一律ではなく、各買主によって異なる結果になります。</a:t>
            </a:r>
            <a:endParaRPr lang="en-US" altLang="ja-JP" dirty="0"/>
          </a:p>
        </p:txBody>
      </p:sp>
      <p:sp>
        <p:nvSpPr>
          <p:cNvPr id="24" name="テキスト ボックス 23">
            <a:extLst>
              <a:ext uri="{FF2B5EF4-FFF2-40B4-BE49-F238E27FC236}">
                <a16:creationId xmlns:a16="http://schemas.microsoft.com/office/drawing/2014/main" id="{04F96851-B7F8-2437-2EDD-96F0EF865CAB}"/>
              </a:ext>
            </a:extLst>
          </p:cNvPr>
          <p:cNvSpPr txBox="1"/>
          <p:nvPr/>
        </p:nvSpPr>
        <p:spPr>
          <a:xfrm>
            <a:off x="1109133" y="4021788"/>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solidFill/>
              </a:rPr>
              <a:t>今後の業績や事業の状態・見通し等の変化によって、株式価値は変動する為、適宜、月次試算表のご提出や、</a:t>
            </a:r>
            <a:br>
              <a:rPr lang="en-US" altLang="ja-JP" dirty="0"/>
            </a:br>
            <a:r>
              <a:rPr lang="ja-JP" altLang="en-US" dirty="0">
                <a:solidFill/>
              </a:rPr>
              <a:t>事業状況の変化についても共有をお願いいたします。</a:t>
            </a:r>
            <a:endParaRPr lang="en-US" altLang="ja-JP" dirty="0"/>
          </a:p>
        </p:txBody>
      </p:sp>
      <p:sp>
        <p:nvSpPr>
          <p:cNvPr id="26" name="テキスト ボックス 25">
            <a:extLst>
              <a:ext uri="{FF2B5EF4-FFF2-40B4-BE49-F238E27FC236}">
                <a16:creationId xmlns:a16="http://schemas.microsoft.com/office/drawing/2014/main" id="{8DE73831-EEAA-7D18-DA19-BDDE4EA3C4F8}"/>
              </a:ext>
            </a:extLst>
          </p:cNvPr>
          <p:cNvSpPr txBox="1"/>
          <p:nvPr/>
        </p:nvSpPr>
        <p:spPr>
          <a:xfrm>
            <a:off x="1109133" y="50064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solidFill/>
              </a:rPr>
              <a:t>株価の一部を退職金や配当として受け取る事を希望される場合、当該金額は株価から減算されることが</a:t>
            </a:r>
            <a:br>
              <a:rPr lang="en-US" altLang="ja-JP" dirty="0"/>
            </a:br>
            <a:r>
              <a:rPr lang="ja-JP" altLang="en-US" dirty="0">
                <a:solidFill/>
              </a:rPr>
              <a:t>一般的でございます。</a:t>
            </a:r>
            <a:endParaRPr lang="en-US" altLang="ja-JP" dirty="0"/>
          </a:p>
        </p:txBody>
      </p:sp>
      <p:sp>
        <p:nvSpPr>
          <p:cNvPr id="28" name="テキスト ボックス 27">
            <a:extLst>
              <a:ext uri="{FF2B5EF4-FFF2-40B4-BE49-F238E27FC236}">
                <a16:creationId xmlns:a16="http://schemas.microsoft.com/office/drawing/2014/main" id="{0C5A509E-7475-2B0E-8947-020650C0994C}"/>
              </a:ext>
            </a:extLst>
          </p:cNvPr>
          <p:cNvSpPr txBox="1"/>
          <p:nvPr/>
        </p:nvSpPr>
        <p:spPr>
          <a:xfrm>
            <a:off x="1109133" y="5991041"/>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solidFill/>
              </a:rPr>
              <a:t>本書での評価結果を大幅に上回る株価を希望される場合、マッチングが困難になる為、</a:t>
            </a:r>
            <a:br>
              <a:rPr lang="en-US" altLang="ja-JP" dirty="0"/>
            </a:br>
            <a:r>
              <a:rPr lang="ja-JP" altLang="en-US" dirty="0">
                <a:solidFill/>
              </a:rPr>
              <a:t>相手が見つからない事や、長期間の時間を要す可能性が高くなります。</a:t>
            </a:r>
          </a:p>
        </p:txBody>
      </p:sp>
      <p:cxnSp>
        <p:nvCxnSpPr>
          <p:cNvPr id="29" name="直線コネクタ 28">
            <a:extLst>
              <a:ext uri="{FF2B5EF4-FFF2-40B4-BE49-F238E27FC236}">
                <a16:creationId xmlns:a16="http://schemas.microsoft.com/office/drawing/2014/main" id="{35B39C5F-7E18-97A3-3BCF-044BD39FF17C}"/>
              </a:ext>
            </a:extLst>
          </p:cNvPr>
          <p:cNvCxnSpPr>
            <a:cxnSpLocks/>
          </p:cNvCxnSpPr>
          <p:nvPr/>
        </p:nvCxnSpPr>
        <p:spPr>
          <a:xfrm>
            <a:off x="449263" y="57497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6AD9E28A-BBAC-DF8F-A86C-68460E385CD4}"/>
              </a:ext>
            </a:extLst>
          </p:cNvPr>
          <p:cNvCxnSpPr>
            <a:cxnSpLocks/>
          </p:cNvCxnSpPr>
          <p:nvPr/>
        </p:nvCxnSpPr>
        <p:spPr>
          <a:xfrm>
            <a:off x="449263" y="4765163"/>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035FDFB6-13CE-B940-E337-9990F42F633B}"/>
              </a:ext>
            </a:extLst>
          </p:cNvPr>
          <p:cNvCxnSpPr>
            <a:cxnSpLocks/>
          </p:cNvCxnSpPr>
          <p:nvPr/>
        </p:nvCxnSpPr>
        <p:spPr>
          <a:xfrm>
            <a:off x="449263" y="378053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0BDB2F5-6079-A5D7-D2D1-B3F25D6D8012}"/>
              </a:ext>
            </a:extLst>
          </p:cNvPr>
          <p:cNvCxnSpPr>
            <a:cxnSpLocks/>
          </p:cNvCxnSpPr>
          <p:nvPr/>
        </p:nvCxnSpPr>
        <p:spPr>
          <a:xfrm>
            <a:off x="449263" y="3054445"/>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3F9B2615-C99C-C209-F4AD-56373013FA24}"/>
              </a:ext>
            </a:extLst>
          </p:cNvPr>
          <p:cNvCxnSpPr>
            <a:cxnSpLocks/>
          </p:cNvCxnSpPr>
          <p:nvPr/>
        </p:nvCxnSpPr>
        <p:spPr>
          <a:xfrm>
            <a:off x="449263" y="18112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34" name="楕円 33">
            <a:extLst>
              <a:ext uri="{FF2B5EF4-FFF2-40B4-BE49-F238E27FC236}">
                <a16:creationId xmlns:a16="http://schemas.microsoft.com/office/drawing/2014/main" id="{FAEBD9E3-D818-BE03-ADD3-4C5B4AA4F637}"/>
              </a:ext>
            </a:extLst>
          </p:cNvPr>
          <p:cNvSpPr>
            <a:spLocks noChangeAspect="1"/>
          </p:cNvSpPr>
          <p:nvPr/>
        </p:nvSpPr>
        <p:spPr>
          <a:xfrm>
            <a:off x="613435" y="1072307"/>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1</a:t>
            </a:r>
            <a:endParaRPr lang="ja-JP" altLang="en-US" sz="1600" b="1" spc="70" dirty="0">
              <a:solidFill>
                <a:schemeClr val="bg1"/>
              </a:solidFill>
              <a:ea typeface="+mj-ea"/>
            </a:endParaRPr>
          </a:p>
        </p:txBody>
      </p:sp>
      <p:sp>
        <p:nvSpPr>
          <p:cNvPr id="35" name="楕円 34">
            <a:extLst>
              <a:ext uri="{FF2B5EF4-FFF2-40B4-BE49-F238E27FC236}">
                <a16:creationId xmlns:a16="http://schemas.microsoft.com/office/drawing/2014/main" id="{A4699F67-F2C0-E701-1981-BE99A943F4B1}"/>
              </a:ext>
            </a:extLst>
          </p:cNvPr>
          <p:cNvSpPr>
            <a:spLocks noChangeAspect="1"/>
          </p:cNvSpPr>
          <p:nvPr/>
        </p:nvSpPr>
        <p:spPr>
          <a:xfrm>
            <a:off x="613435" y="205270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2</a:t>
            </a:r>
            <a:endParaRPr lang="ja-JP" altLang="en-US" sz="1600" b="1" spc="70" dirty="0">
              <a:solidFill>
                <a:schemeClr val="bg1"/>
              </a:solidFill>
              <a:ea typeface="+mj-ea"/>
            </a:endParaRPr>
          </a:p>
        </p:txBody>
      </p:sp>
      <p:sp>
        <p:nvSpPr>
          <p:cNvPr id="36" name="楕円 35">
            <a:extLst>
              <a:ext uri="{FF2B5EF4-FFF2-40B4-BE49-F238E27FC236}">
                <a16:creationId xmlns:a16="http://schemas.microsoft.com/office/drawing/2014/main" id="{956ADA7D-C5BF-D213-6720-23A1C842F4D0}"/>
              </a:ext>
            </a:extLst>
          </p:cNvPr>
          <p:cNvSpPr>
            <a:spLocks noChangeAspect="1"/>
          </p:cNvSpPr>
          <p:nvPr/>
        </p:nvSpPr>
        <p:spPr>
          <a:xfrm>
            <a:off x="613435" y="3297170"/>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3</a:t>
            </a:r>
            <a:endParaRPr lang="ja-JP" altLang="en-US" sz="1600" b="1" spc="70" dirty="0">
              <a:solidFill>
                <a:schemeClr val="bg1"/>
              </a:solidFill>
              <a:ea typeface="+mj-ea"/>
            </a:endParaRPr>
          </a:p>
        </p:txBody>
      </p:sp>
      <p:sp>
        <p:nvSpPr>
          <p:cNvPr id="37" name="楕円 36">
            <a:extLst>
              <a:ext uri="{FF2B5EF4-FFF2-40B4-BE49-F238E27FC236}">
                <a16:creationId xmlns:a16="http://schemas.microsoft.com/office/drawing/2014/main" id="{E576DF4D-4E9B-1204-40C0-E6AC3658458A}"/>
              </a:ext>
            </a:extLst>
          </p:cNvPr>
          <p:cNvSpPr>
            <a:spLocks noChangeAspect="1"/>
          </p:cNvSpPr>
          <p:nvPr/>
        </p:nvSpPr>
        <p:spPr>
          <a:xfrm>
            <a:off x="613435" y="402758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4</a:t>
            </a:r>
            <a:endParaRPr lang="ja-JP" altLang="en-US" sz="1600" b="1" spc="70" dirty="0">
              <a:solidFill>
                <a:schemeClr val="bg1"/>
              </a:solidFill>
              <a:ea typeface="+mj-ea"/>
            </a:endParaRPr>
          </a:p>
        </p:txBody>
      </p:sp>
      <p:sp>
        <p:nvSpPr>
          <p:cNvPr id="38" name="楕円 37">
            <a:extLst>
              <a:ext uri="{FF2B5EF4-FFF2-40B4-BE49-F238E27FC236}">
                <a16:creationId xmlns:a16="http://schemas.microsoft.com/office/drawing/2014/main" id="{ACEF13D5-5C48-6E65-68D1-217A140C3016}"/>
              </a:ext>
            </a:extLst>
          </p:cNvPr>
          <p:cNvSpPr>
            <a:spLocks noChangeAspect="1"/>
          </p:cNvSpPr>
          <p:nvPr/>
        </p:nvSpPr>
        <p:spPr>
          <a:xfrm>
            <a:off x="613435" y="501181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5</a:t>
            </a:r>
            <a:endParaRPr lang="ja-JP" altLang="en-US" sz="1600" b="1" spc="70" dirty="0">
              <a:solidFill>
                <a:schemeClr val="bg1"/>
              </a:solidFill>
              <a:ea typeface="+mj-ea"/>
            </a:endParaRPr>
          </a:p>
        </p:txBody>
      </p:sp>
      <p:sp>
        <p:nvSpPr>
          <p:cNvPr id="39" name="楕円 38">
            <a:extLst>
              <a:ext uri="{FF2B5EF4-FFF2-40B4-BE49-F238E27FC236}">
                <a16:creationId xmlns:a16="http://schemas.microsoft.com/office/drawing/2014/main" id="{6165E92A-C06D-AE2F-D14B-947E6D286B3F}"/>
              </a:ext>
            </a:extLst>
          </p:cNvPr>
          <p:cNvSpPr>
            <a:spLocks noChangeAspect="1"/>
          </p:cNvSpPr>
          <p:nvPr/>
        </p:nvSpPr>
        <p:spPr>
          <a:xfrm>
            <a:off x="613435" y="5982493"/>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6</a:t>
            </a:r>
            <a:endParaRPr lang="ja-JP" altLang="en-US" sz="1600" b="1" spc="70" dirty="0">
              <a:solidFill>
                <a:schemeClr val="bg1"/>
              </a:solidFill>
              <a:ea typeface="+mj-ea"/>
            </a:endParaRPr>
          </a:p>
        </p:txBody>
      </p:sp>
    </p:spTree>
    <p:extLst>
      <p:ext uri="{BB962C8B-B14F-4D97-AF65-F5344CB8AC3E}">
        <p14:creationId xmlns:p14="http://schemas.microsoft.com/office/powerpoint/2010/main" val="245789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
          <p:cNvSpPr txBox="1"/>
          <p:nvPr/>
        </p:nvSpPr>
        <p:spPr>
          <a:xfrm>
            <a:off x="6191813" y="1667046"/>
            <a:ext cx="4500000" cy="2382191"/>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solidFill/>
              </a:rPr>
              <a:t>Valuation Summary </a:t>
            </a:r>
            <a:r>
              <a:rPr lang="ja-JP" altLang="en-US" sz="1600" dirty="0">
                <a:solidFill/>
              </a:rPr>
              <a:t>／ </a:t>
            </a:r>
            <a:br>
              <a:rPr lang="en-US" altLang="ja-JP" sz="1800" dirty="0"/>
            </a:br>
            <a:r>
              <a:rPr lang="ja-JP" altLang="en-US" sz="2200" dirty="0">
                <a:solidFill/>
              </a:rPr>
              <a:t>試算結果</a:t>
            </a:r>
            <a:endParaRPr lang="en-US" altLang="ja-JP" sz="2200" dirty="0"/>
          </a:p>
          <a:p>
            <a:pPr>
              <a:spcAft>
                <a:spcPts val="1000"/>
              </a:spcAft>
            </a:pPr>
            <a:r>
              <a:rPr lang="en-US" altLang="ja-JP" sz="1600" dirty="0">
                <a:solidFill/>
              </a:rPr>
              <a:t>Financial Analysis </a:t>
            </a:r>
            <a:r>
              <a:rPr lang="ja-JP" altLang="en-US" sz="1600" dirty="0">
                <a:solidFill/>
              </a:rPr>
              <a:t>／ </a:t>
            </a:r>
            <a:br>
              <a:rPr lang="en-US" altLang="ja-JP" sz="1800" dirty="0"/>
            </a:br>
            <a:r>
              <a:rPr lang="ja-JP" altLang="en-US" dirty="0">
                <a:solidFill/>
              </a:rPr>
              <a:t>財務情報の分析</a:t>
            </a:r>
          </a:p>
          <a:p>
            <a:pPr>
              <a:spcAft>
                <a:spcPts val="1000"/>
              </a:spcAft>
            </a:pPr>
            <a:r>
              <a:rPr lang="en-US" altLang="ja-JP" sz="1600" dirty="0">
                <a:solidFill/>
              </a:rPr>
              <a:t>Valuation Details </a:t>
            </a:r>
            <a:r>
              <a:rPr lang="ja-JP" altLang="en-US" sz="1600" dirty="0">
                <a:solidFill/>
              </a:rPr>
              <a:t>／ </a:t>
            </a:r>
            <a:br>
              <a:rPr lang="en-US" altLang="ja-JP" sz="1800" dirty="0"/>
            </a:br>
            <a:r>
              <a:rPr lang="ja-JP" altLang="en-US" dirty="0">
                <a:solidFill/>
              </a:rPr>
              <a:t>株式価値の試算</a:t>
            </a:r>
          </a:p>
        </p:txBody>
      </p:sp>
      <p:sp>
        <p:nvSpPr>
          <p:cNvPr id="7" name="正方形/長方形 6">
            <a:extLst>
              <a:ext uri="{FF2B5EF4-FFF2-40B4-BE49-F238E27FC236}">
                <a16:creationId xmlns:a16="http://schemas.microsoft.com/office/drawing/2014/main" id="{2C1708EA-89F0-5F4C-1E17-8D5ACE55DC86}"/>
              </a:ext>
            </a:extLst>
          </p:cNvPr>
          <p:cNvSpPr/>
          <p:nvPr/>
        </p:nvSpPr>
        <p:spPr>
          <a:xfrm>
            <a:off x="5624541" y="1732147"/>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latin typeface="+mj-lt"/>
              </a:rPr>
              <a:t>1</a:t>
            </a:r>
            <a:endParaRPr kumimoji="1" lang="ja-JP" altLang="en-US" b="1" dirty="0">
              <a:latin typeface="+mj-lt"/>
            </a:endParaRPr>
          </a:p>
        </p:txBody>
      </p:sp>
      <p:sp>
        <p:nvSpPr>
          <p:cNvPr id="8" name="正方形/長方形 7">
            <a:extLst>
              <a:ext uri="{FF2B5EF4-FFF2-40B4-BE49-F238E27FC236}">
                <a16:creationId xmlns:a16="http://schemas.microsoft.com/office/drawing/2014/main" id="{CD50E8F0-8863-1FB0-5044-94DF9D298836}"/>
              </a:ext>
            </a:extLst>
          </p:cNvPr>
          <p:cNvSpPr/>
          <p:nvPr/>
        </p:nvSpPr>
        <p:spPr>
          <a:xfrm>
            <a:off x="5624542" y="2489129"/>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latin typeface="+mj-lt"/>
              </a:rPr>
              <a:t>2</a:t>
            </a:r>
            <a:endParaRPr kumimoji="1" lang="ja-JP" altLang="en-US" b="1" dirty="0">
              <a:latin typeface="+mj-lt"/>
            </a:endParaRPr>
          </a:p>
        </p:txBody>
      </p:sp>
      <p:sp>
        <p:nvSpPr>
          <p:cNvPr id="9" name="正方形/長方形 8">
            <a:extLst>
              <a:ext uri="{FF2B5EF4-FFF2-40B4-BE49-F238E27FC236}">
                <a16:creationId xmlns:a16="http://schemas.microsoft.com/office/drawing/2014/main" id="{93D365FE-0FEC-F530-0DDB-077BF8F26623}"/>
              </a:ext>
            </a:extLst>
          </p:cNvPr>
          <p:cNvSpPr/>
          <p:nvPr/>
        </p:nvSpPr>
        <p:spPr>
          <a:xfrm>
            <a:off x="5624542" y="3297805"/>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latin typeface="+mj-lt"/>
              </a:rPr>
              <a:t>3</a:t>
            </a:r>
            <a:endParaRPr kumimoji="1" lang="ja-JP" altLang="en-US" b="1" dirty="0">
              <a:latin typeface="+mj-lt"/>
            </a:endParaRPr>
          </a:p>
        </p:txBody>
      </p:sp>
      <p:sp>
        <p:nvSpPr>
          <p:cNvPr id="10" name="正方形/長方形 9">
            <a:extLst>
              <a:ext uri="{FF2B5EF4-FFF2-40B4-BE49-F238E27FC236}">
                <a16:creationId xmlns:a16="http://schemas.microsoft.com/office/drawing/2014/main" id="{356BA6C0-4C4F-20D8-A4B5-B9A7E93A5626}"/>
              </a:ext>
            </a:extLst>
          </p:cNvPr>
          <p:cNvSpPr/>
          <p:nvPr/>
        </p:nvSpPr>
        <p:spPr>
          <a:xfrm>
            <a:off x="5624541" y="4876948"/>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latin typeface="+mj-lt"/>
              </a:rPr>
              <a:t>4</a:t>
            </a:r>
            <a:endParaRPr kumimoji="1" lang="ja-JP" altLang="en-US" b="1" dirty="0">
              <a:latin typeface="+mj-lt"/>
            </a:endParaRPr>
          </a:p>
        </p:txBody>
      </p:sp>
      <p:sp>
        <p:nvSpPr>
          <p:cNvPr id="11" name="正方形/長方形 10">
            <a:extLst>
              <a:ext uri="{FF2B5EF4-FFF2-40B4-BE49-F238E27FC236}">
                <a16:creationId xmlns:a16="http://schemas.microsoft.com/office/drawing/2014/main" id="{A3313A39-62ED-3ADF-A7D6-60D17898BFB5}"/>
              </a:ext>
            </a:extLst>
          </p:cNvPr>
          <p:cNvSpPr/>
          <p:nvPr/>
        </p:nvSpPr>
        <p:spPr>
          <a:xfrm>
            <a:off x="5624542" y="569409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latin typeface="+mj-lt"/>
              </a:rPr>
              <a:t>5</a:t>
            </a:r>
            <a:endParaRPr kumimoji="1" lang="ja-JP" altLang="en-US" b="1" dirty="0">
              <a:latin typeface="+mj-lt"/>
            </a:endParaRPr>
          </a:p>
        </p:txBody>
      </p:sp>
      <p:grpSp>
        <p:nvGrpSpPr>
          <p:cNvPr id="18" name="グループ化 17">
            <a:extLst>
              <a:ext uri="{FF2B5EF4-FFF2-40B4-BE49-F238E27FC236}">
                <a16:creationId xmlns:a16="http://schemas.microsoft.com/office/drawing/2014/main" id="{0DDEFAE0-C3C3-0B06-AC36-5F2C87ABC64B}"/>
              </a:ext>
            </a:extLst>
          </p:cNvPr>
          <p:cNvGrpSpPr/>
          <p:nvPr/>
        </p:nvGrpSpPr>
        <p:grpSpPr>
          <a:xfrm>
            <a:off x="5624541" y="1159642"/>
            <a:ext cx="3492000" cy="310672"/>
            <a:chOff x="885525" y="2895310"/>
            <a:chExt cx="3492000" cy="310672"/>
          </a:xfrm>
        </p:grpSpPr>
        <p:sp>
          <p:nvSpPr>
            <p:cNvPr id="19" name="テキスト ボックス 18">
              <a:extLst>
                <a:ext uri="{FF2B5EF4-FFF2-40B4-BE49-F238E27FC236}">
                  <a16:creationId xmlns:a16="http://schemas.microsoft.com/office/drawing/2014/main" id="{0894204C-E42E-AEE7-1705-732C7C1CA805}"/>
                </a:ext>
              </a:extLst>
            </p:cNvPr>
            <p:cNvSpPr txBox="1"/>
            <p:nvPr/>
          </p:nvSpPr>
          <p:spPr>
            <a:xfrm>
              <a:off x="974063" y="2895310"/>
              <a:ext cx="2099337" cy="276999"/>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1800" spc="50" dirty="0">
                  <a:solidFill>
                    <a:schemeClr val="tx2"/>
                  </a:solidFill>
                </a:rPr>
                <a:t>Section</a:t>
              </a:r>
              <a:endParaRPr lang="ja-JP" altLang="en-US" sz="1800" spc="50" dirty="0">
                <a:solidFill>
                  <a:schemeClr val="tx2"/>
                </a:solidFill>
              </a:endParaRPr>
            </a:p>
          </p:txBody>
        </p:sp>
        <p:cxnSp>
          <p:nvCxnSpPr>
            <p:cNvPr id="20" name="直線コネクタ 19">
              <a:extLst>
                <a:ext uri="{FF2B5EF4-FFF2-40B4-BE49-F238E27FC236}">
                  <a16:creationId xmlns:a16="http://schemas.microsoft.com/office/drawing/2014/main" id="{8F991BA0-BA15-EAE6-6617-CF5AE0EA46D0}"/>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1" name="グループ化 20">
            <a:extLst>
              <a:ext uri="{FF2B5EF4-FFF2-40B4-BE49-F238E27FC236}">
                <a16:creationId xmlns:a16="http://schemas.microsoft.com/office/drawing/2014/main" id="{C5DA3EA3-89C2-83D0-3698-1ECBC4BDC2FB}"/>
              </a:ext>
            </a:extLst>
          </p:cNvPr>
          <p:cNvGrpSpPr/>
          <p:nvPr/>
        </p:nvGrpSpPr>
        <p:grpSpPr>
          <a:xfrm>
            <a:off x="5624541" y="4298553"/>
            <a:ext cx="3492000" cy="310672"/>
            <a:chOff x="885525" y="2895310"/>
            <a:chExt cx="3492000" cy="310672"/>
          </a:xfrm>
        </p:grpSpPr>
        <p:sp>
          <p:nvSpPr>
            <p:cNvPr id="22" name="テキスト ボックス 21">
              <a:extLst>
                <a:ext uri="{FF2B5EF4-FFF2-40B4-BE49-F238E27FC236}">
                  <a16:creationId xmlns:a16="http://schemas.microsoft.com/office/drawing/2014/main" id="{9C1DC0E6-ED6E-2F07-E66C-1E1D60682552}"/>
                </a:ext>
              </a:extLst>
            </p:cNvPr>
            <p:cNvSpPr txBox="1"/>
            <p:nvPr/>
          </p:nvSpPr>
          <p:spPr>
            <a:xfrm>
              <a:off x="974063" y="2895310"/>
              <a:ext cx="2099337" cy="276999"/>
            </a:xfrm>
            <a:prstGeom prst="rect">
              <a:avLst/>
            </a:prstGeom>
            <a:noFill/>
          </p:spPr>
          <p:txBody>
            <a:bodyPr wrap="square" lIns="0" tIns="0" rIns="0" bIns="0" rtlCol="0" anchor="ctr">
              <a:spAutoFit/>
            </a:bodyPr>
            <a:lstStyle>
              <a:defPPr>
                <a:defRPr lang="en-US"/>
              </a:defPPr>
              <a:lvl1pPr defTabSz="1007943">
                <a:lnSpc>
                  <a:spcPct val="100000"/>
                </a:lnSpc>
                <a:spcBef>
                  <a:spcPct val="0"/>
                </a:spcBef>
                <a:buClr>
                  <a:schemeClr val="bg1"/>
                </a:buClr>
                <a:buNone/>
                <a:defRPr kumimoji="1" b="1" spc="100">
                  <a:solidFill>
                    <a:schemeClr val="tx2"/>
                  </a:solidFill>
                  <a:latin typeface="+mj-lt"/>
                  <a:ea typeface="+mj-ea"/>
                </a:defRPr>
              </a:lvl1pPr>
            </a:lstStyle>
            <a:p>
              <a:r>
                <a:rPr lang="en-US" altLang="ja-JP" spc="50" dirty="0"/>
                <a:t>Appendix</a:t>
              </a:r>
            </a:p>
          </p:txBody>
        </p:sp>
        <p:cxnSp>
          <p:nvCxnSpPr>
            <p:cNvPr id="23" name="直線コネクタ 22">
              <a:extLst>
                <a:ext uri="{FF2B5EF4-FFF2-40B4-BE49-F238E27FC236}">
                  <a16:creationId xmlns:a16="http://schemas.microsoft.com/office/drawing/2014/main" id="{612D37CD-A59C-F55E-221F-B13CD355E5F9}"/>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4" name="Google Shape;194;p3">
            <a:extLst>
              <a:ext uri="{FF2B5EF4-FFF2-40B4-BE49-F238E27FC236}">
                <a16:creationId xmlns:a16="http://schemas.microsoft.com/office/drawing/2014/main" id="{51263BEA-61A8-35D5-87C2-23D10C6930F5}"/>
              </a:ext>
            </a:extLst>
          </p:cNvPr>
          <p:cNvSpPr txBox="1"/>
          <p:nvPr/>
        </p:nvSpPr>
        <p:spPr>
          <a:xfrm>
            <a:off x="6191813" y="4825113"/>
            <a:ext cx="4500000" cy="1610697"/>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solidFill/>
              </a:rPr>
              <a:t>Valuation Methodology </a:t>
            </a:r>
            <a:r>
              <a:rPr lang="ja-JP" altLang="en-US" sz="1600" dirty="0">
                <a:solidFill/>
              </a:rPr>
              <a:t>／ </a:t>
            </a:r>
            <a:br>
              <a:rPr lang="en-US" altLang="ja-JP" sz="1800" dirty="0"/>
            </a:br>
            <a:r>
              <a:rPr lang="ja-JP" altLang="en-US" dirty="0">
                <a:solidFill/>
              </a:rPr>
              <a:t>評価手法について</a:t>
            </a:r>
            <a:endParaRPr lang="en-US" altLang="ja-JP" dirty="0"/>
          </a:p>
          <a:p>
            <a:pPr>
              <a:spcAft>
                <a:spcPts val="1000"/>
              </a:spcAft>
            </a:pPr>
            <a:r>
              <a:rPr lang="en-US" altLang="ja-JP" sz="1600" dirty="0">
                <a:solidFill/>
              </a:rPr>
              <a:t>Valuation Concept </a:t>
            </a:r>
            <a:r>
              <a:rPr lang="ja-JP" altLang="en-US" sz="1600" dirty="0">
                <a:solidFill/>
              </a:rPr>
              <a:t>／ </a:t>
            </a:r>
            <a:br>
              <a:rPr lang="en-US" altLang="ja-JP" sz="1800" dirty="0"/>
            </a:br>
            <a:r>
              <a:rPr lang="ja-JP" altLang="en-US" dirty="0">
                <a:solidFill/>
              </a:rPr>
              <a:t>株式価値の考え方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E3DA6B61-FAFD-DD87-1996-71591FC85C3F}"/>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solidFill/>
              </a:rPr>
              <a:t>Valuation Summary </a:t>
            </a:r>
            <a:r>
              <a:rPr lang="ja-JP" altLang="en-US" dirty="0">
                <a:solidFill/>
              </a:rPr>
              <a:t>／</a:t>
            </a:r>
            <a:br>
              <a:rPr lang="en-US" altLang="ja-JP" dirty="0"/>
            </a:br>
            <a:r>
              <a:rPr lang="ja-JP" altLang="en-US" dirty="0">
                <a:solidFill/>
              </a:rPr>
              <a:t>試算結果</a:t>
            </a:r>
          </a:p>
        </p:txBody>
      </p:sp>
      <p:grpSp>
        <p:nvGrpSpPr>
          <p:cNvPr id="11" name="グループ化 10">
            <a:extLst>
              <a:ext uri="{FF2B5EF4-FFF2-40B4-BE49-F238E27FC236}">
                <a16:creationId xmlns:a16="http://schemas.microsoft.com/office/drawing/2014/main" id="{28C8DACB-015F-010F-F923-94C20FE54908}"/>
              </a:ext>
            </a:extLst>
          </p:cNvPr>
          <p:cNvGrpSpPr/>
          <p:nvPr/>
        </p:nvGrpSpPr>
        <p:grpSpPr>
          <a:xfrm>
            <a:off x="885526" y="2173586"/>
            <a:ext cx="3390141" cy="651396"/>
            <a:chOff x="885526" y="2554586"/>
            <a:chExt cx="3390141" cy="651396"/>
          </a:xfrm>
        </p:grpSpPr>
        <p:sp>
          <p:nvSpPr>
            <p:cNvPr id="12" name="テキスト ボックス 11">
              <a:extLst>
                <a:ext uri="{FF2B5EF4-FFF2-40B4-BE49-F238E27FC236}">
                  <a16:creationId xmlns:a16="http://schemas.microsoft.com/office/drawing/2014/main" id="{22B6E4BF-C4F4-525F-6A55-FCF5A0ACC52E}"/>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1</a:t>
              </a:r>
              <a:endParaRPr lang="ja-JP" altLang="en-US" spc="100" dirty="0">
                <a:solidFill>
                  <a:schemeClr val="accent2">
                    <a:lumMod val="90000"/>
                  </a:schemeClr>
                </a:solidFill>
              </a:endParaRPr>
            </a:p>
          </p:txBody>
        </p:sp>
        <p:cxnSp>
          <p:nvCxnSpPr>
            <p:cNvPr id="13" name="直線コネクタ 12">
              <a:extLst>
                <a:ext uri="{FF2B5EF4-FFF2-40B4-BE49-F238E27FC236}">
                  <a16:creationId xmlns:a16="http://schemas.microsoft.com/office/drawing/2014/main" id="{6086A45E-386C-748D-F12D-BB22E67E44E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2226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5677-B8B4-CBCB-42B2-C7230FBB069D}"/>
            </a:ext>
          </a:extLst>
        </p:cNvPr>
        <p:cNvGrpSpPr/>
        <p:nvPr/>
      </p:nvGrpSpPr>
      <p:grpSpPr>
        <a:xfrm>
          <a:off x="0" y="0"/>
          <a:ext cx="0" cy="0"/>
          <a:chOff x="0" y="0"/>
          <a:chExt cx="0" cy="0"/>
        </a:xfrm>
      </p:grpSpPr>
      <p:sp>
        <p:nvSpPr>
          <p:cNvPr id="5" name="字幕 4">
            <a:extLst>
              <a:ext uri="{FF2B5EF4-FFF2-40B4-BE49-F238E27FC236}">
                <a16:creationId xmlns:a16="http://schemas.microsoft.com/office/drawing/2014/main" id="{40B59A8A-DD72-B327-5EE3-75AE45DE656C}"/>
              </a:ext>
            </a:extLst>
          </p:cNvPr>
          <p:cNvSpPr>
            <a:spLocks noGrp="1"/>
          </p:cNvSpPr>
          <p:nvPr>
            <p:ph type="subTitle" idx="1"/>
          </p:nvPr>
        </p:nvSpPr>
        <p:spPr/>
        <p:txBody>
          <a:bodyPr/>
          <a:lstStyle/>
          <a:p>
            <a:r>
              <a:rPr lang="ja-JP" altLang="en-US" dirty="0">
                <a:solidFill/>
              </a:rPr>
              <a:t>現在、一般的に認められている株式価値算定の手法は次のとおり分類されています</a:t>
            </a:r>
          </a:p>
        </p:txBody>
      </p:sp>
      <p:sp>
        <p:nvSpPr>
          <p:cNvPr id="2" name="タイトル 1">
            <a:extLst>
              <a:ext uri="{FF2B5EF4-FFF2-40B4-BE49-F238E27FC236}">
                <a16:creationId xmlns:a16="http://schemas.microsoft.com/office/drawing/2014/main" id="{6661711B-6AA4-E2BF-069F-2959DD69E33E}"/>
              </a:ext>
            </a:extLst>
          </p:cNvPr>
          <p:cNvSpPr>
            <a:spLocks noGrp="1"/>
          </p:cNvSpPr>
          <p:nvPr>
            <p:ph type="ctrTitle"/>
          </p:nvPr>
        </p:nvSpPr>
        <p:spPr/>
        <p:txBody>
          <a:bodyPr/>
          <a:lstStyle/>
          <a:p>
            <a:r>
              <a:rPr lang="ja-JP" altLang="en-US" dirty="0">
                <a:solidFill/>
              </a:rPr>
              <a:t>採用するアプローチの選定</a:t>
            </a:r>
          </a:p>
        </p:txBody>
      </p:sp>
      <p:sp>
        <p:nvSpPr>
          <p:cNvPr id="3" name="タイトル 1">
            <a:extLst>
              <a:ext uri="{FF2B5EF4-FFF2-40B4-BE49-F238E27FC236}">
                <a16:creationId xmlns:a16="http://schemas.microsoft.com/office/drawing/2014/main" id="{E07A9094-1106-36D4-CE53-B7B2CE8FC369}"/>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solidFill/>
              </a:rPr>
              <a:t>1. Valuation Summary</a:t>
            </a:r>
            <a:endParaRPr lang="ja-JP" altLang="en-US" spc="0" dirty="0"/>
          </a:p>
        </p:txBody>
      </p:sp>
      <p:sp>
        <p:nvSpPr>
          <p:cNvPr id="6" name="乗算記号 5">
            <a:extLst>
              <a:ext uri="{FF2B5EF4-FFF2-40B4-BE49-F238E27FC236}">
                <a16:creationId xmlns:a16="http://schemas.microsoft.com/office/drawing/2014/main" id="{142BB6C9-EEAE-1776-D618-40F16814CE0C}"/>
              </a:ext>
            </a:extLst>
          </p:cNvPr>
          <p:cNvSpPr/>
          <p:nvPr/>
        </p:nvSpPr>
        <p:spPr>
          <a:xfrm>
            <a:off x="5418835" y="3889114"/>
            <a:ext cx="747006" cy="72381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3" name="フローチャート: 処理 12">
            <a:extLst>
              <a:ext uri="{FF2B5EF4-FFF2-40B4-BE49-F238E27FC236}">
                <a16:creationId xmlns:a16="http://schemas.microsoft.com/office/drawing/2014/main" id="{FA8545AF-F6D4-C9D4-463F-EE482C1828FE}"/>
              </a:ext>
            </a:extLst>
          </p:cNvPr>
          <p:cNvSpPr/>
          <p:nvPr/>
        </p:nvSpPr>
        <p:spPr>
          <a:xfrm>
            <a:off x="449264" y="6120538"/>
            <a:ext cx="9793286" cy="72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nSpc>
                <a:spcPct val="120000"/>
              </a:lnSpc>
              <a:spcAft>
                <a:spcPts val="300"/>
              </a:spcAft>
              <a:buNone/>
            </a:pPr>
            <a:br>
              <a:rPr lang="en-US" altLang="ja-JP" sz="1200" b="1" spc="30">
                <a:solidFill>
                  <a:schemeClr val="tx2"/>
                </a:solidFill>
                <a:latin typeface="+mj-ea"/>
                <a:ea typeface="+mj-ea"/>
              </a:rPr>
            </a:br>
            <a:r>
              <a:rPr sz="1050">
                <a:solidFill>
                  <a:srgbClr val="1A1A1A"/>
                </a:solidFill>
                <a:latin typeface="游ゴシック"/>
                <a:ea typeface="游ゴシック"/>
                <a:cs typeface="游ゴシック"/>
              </a:rPr>
              <a:t>最適な評価手法の選定にあたっては、対象会社の性質や評価目的などを踏まえ、総合的に判断する必要があります。</a:t>
            </a:r>
            <a:endParaRPr kumimoji="1" lang="ja-JP" altLang="en-US" sz="1200" b="1" spc="30" dirty="0">
              <a:solidFill>
                <a:schemeClr val="tx2"/>
              </a:solidFill>
              <a:latin typeface="+mj-ea"/>
              <a:ea typeface="+mj-ea"/>
            </a:endParaRPr>
          </a:p>
          <a:p>
            <a:pPr>
              <a:buNone/>
            </a:pPr>
            <a:r>
              <a:rPr sz="1050">
                <a:solidFill>
                  <a:srgbClr val="1A1A1A"/>
                </a:solidFill>
                <a:latin typeface="游ゴシック"/>
                <a:ea typeface="游ゴシック"/>
                <a:cs typeface="游ゴシック"/>
              </a:rPr>
              <a:t>なお、各手法の概略につきましては、巻末のAppendix「評価手法について」をご確認ください。</a:t>
            </a:r>
          </a:p>
        </p:txBody>
      </p:sp>
      <p:sp>
        <p:nvSpPr>
          <p:cNvPr id="14" name="乗算記号 13">
            <a:extLst>
              <a:ext uri="{FF2B5EF4-FFF2-40B4-BE49-F238E27FC236}">
                <a16:creationId xmlns:a16="http://schemas.microsoft.com/office/drawing/2014/main" id="{0E497E37-91F1-6E83-A999-ACA92BE33138}"/>
              </a:ext>
            </a:extLst>
          </p:cNvPr>
          <p:cNvSpPr/>
          <p:nvPr/>
        </p:nvSpPr>
        <p:spPr>
          <a:xfrm>
            <a:off x="5364867" y="5236843"/>
            <a:ext cx="854815" cy="82827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graphicFrame>
        <p:nvGraphicFramePr>
          <p:cNvPr id="15" name="表 14">
            <a:extLst>
              <a:ext uri="{FF2B5EF4-FFF2-40B4-BE49-F238E27FC236}">
                <a16:creationId xmlns:a16="http://schemas.microsoft.com/office/drawing/2014/main" id="{4C5CBA27-1CE9-EB68-0FF4-E0BB71BB8CFC}"/>
              </a:ext>
            </a:extLst>
          </p:cNvPr>
          <p:cNvGraphicFramePr>
            <a:graphicFrameLocks noGrp="1"/>
          </p:cNvGraphicFramePr>
          <p:nvPr/>
        </p:nvGraphicFramePr>
        <p:xfrm>
          <a:off x="456921" y="1366838"/>
          <a:ext cx="9792000" cy="446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274597146"/>
                    </a:ext>
                  </a:extLst>
                </a:gridCol>
                <a:gridCol w="1440000">
                  <a:extLst>
                    <a:ext uri="{9D8B030D-6E8A-4147-A177-3AD203B41FA5}">
                      <a16:colId xmlns:a16="http://schemas.microsoft.com/office/drawing/2014/main" val="671554233"/>
                    </a:ext>
                  </a:extLst>
                </a:gridCol>
                <a:gridCol w="1908000">
                  <a:extLst>
                    <a:ext uri="{9D8B030D-6E8A-4147-A177-3AD203B41FA5}">
                      <a16:colId xmlns:a16="http://schemas.microsoft.com/office/drawing/2014/main" val="633478589"/>
                    </a:ext>
                  </a:extLst>
                </a:gridCol>
                <a:gridCol w="792000">
                  <a:extLst>
                    <a:ext uri="{9D8B030D-6E8A-4147-A177-3AD203B41FA5}">
                      <a16:colId xmlns:a16="http://schemas.microsoft.com/office/drawing/2014/main" val="2625689903"/>
                    </a:ext>
                  </a:extLst>
                </a:gridCol>
                <a:gridCol w="4212000">
                  <a:extLst>
                    <a:ext uri="{9D8B030D-6E8A-4147-A177-3AD203B41FA5}">
                      <a16:colId xmlns:a16="http://schemas.microsoft.com/office/drawing/2014/main" val="634309969"/>
                    </a:ext>
                  </a:extLst>
                </a:gridCol>
              </a:tblGrid>
              <a:tr h="360000">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評価アプローチ</a:t>
                      </a:r>
                    </a:p>
                  </a:txBody>
                  <a:tcPr marL="108000" marR="108000" marT="0" marB="0" anchor="ct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着目点</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評価手法</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gridSpan="2">
                  <a:txBody>
                    <a:bodyPr/>
                    <a:lstStyle/>
                    <a:p>
                      <a:pPr marL="0" marR="0" lvl="0" indent="0" algn="ctr" defTabSz="1007943" rtl="0" eaLnBrk="1" fontAlgn="auto" latinLnBrk="0" hangingPunct="1">
                        <a:lnSpc>
                          <a:spcPct val="110000"/>
                        </a:lnSpc>
                        <a:spcBef>
                          <a:spcPts val="0"/>
                        </a:spcBef>
                        <a:spcAft>
                          <a:spcPts val="300"/>
                        </a:spcAft>
                        <a:buClrTx/>
                        <a:buSzTx/>
                        <a:buFontTx/>
                        <a:buNone/>
                        <a:tabLst/>
                        <a:defRPr/>
                      </a:pPr>
                      <a:r>
                        <a:rPr kumimoji="1" lang="ja-JP" altLang="en-US" sz="1200" b="1" kern="1200" dirty="0">
                          <a:solidFill>
                            <a:schemeClr val="lt1"/>
                          </a:solidFill>
                          <a:latin typeface="+mj-lt"/>
                          <a:ea typeface="+mj-ea"/>
                          <a:cs typeface="+mn-cs"/>
                        </a:rPr>
                        <a:t>採用可否と選定理由</a:t>
                      </a:r>
                    </a:p>
                  </a:txBody>
                  <a:tcPr marL="108000" marR="108000" marT="0" marB="0" anchor="ct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hMerge="1">
                  <a:txBody>
                    <a:bodyPr/>
                    <a:lstStyle/>
                    <a:p>
                      <a:endParaRPr kumimoji="1" lang="ja-JP" altLang="en-US" dirty="0"/>
                    </a:p>
                  </a:txBody>
                  <a:tcPr/>
                </a:tc>
                <a:extLst>
                  <a:ext uri="{0D108BD9-81ED-4DB2-BD59-A6C34878D82A}">
                    <a16:rowId xmlns:a16="http://schemas.microsoft.com/office/drawing/2014/main" val="3874904672"/>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コスト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純資産価値</a:t>
                      </a:r>
                      <a:endParaRPr kumimoji="1" lang="en-US" altLang="ja-JP" sz="11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j-lt"/>
                          <a:ea typeface="+mj-ea"/>
                          <a:cs typeface="+mn-cs"/>
                        </a:rPr>
                        <a:t>□ 薄価純資産価額法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時価純資産価額法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時価純資産＋営業権法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　（年買法）</a:t>
                      </a: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br>
                        <a:rPr kumimoji="1" lang="en-US" altLang="ja-JP" sz="1000" b="1" kern="1200" dirty="0">
                          <a:solidFill>
                            <a:schemeClr val="tx2"/>
                          </a:solidFill>
                          <a:latin typeface="+mj-lt"/>
                          <a:ea typeface="+mj-ea"/>
                          <a:cs typeface="+mn-cs"/>
                        </a:rPr>
                      </a:br>
                      <a:r>
                        <a:rPr sz="900">
                          <a:solidFill>
                            <a:srgbClr val="1A1A1A"/>
                          </a:solidFill>
                          <a:latin typeface="游ゴシック"/>
                          <a:ea typeface="游ゴシック"/>
                          <a:cs typeface="游ゴシック"/>
                        </a:rPr>
                        <a:t>時価純資産に会社の超過収益力である営業権を加算することで継続企業価値を算定する手法。</a:t>
                      </a:r>
                    </a:p>
                    <a:p>
                      <a:pPr>
                        <a:buNone/>
                      </a:pPr>
                      <a:r>
                        <a:rPr sz="900">
                          <a:solidFill>
                            <a:srgbClr val="1A1A1A"/>
                          </a:solidFill>
                          <a:latin typeface="游ゴシック"/>
                          <a:ea typeface="游ゴシック"/>
                          <a:cs typeface="游ゴシック"/>
                        </a:rPr>
                        <a:t>・実質的な財政状態に加え、経営成績をバランスよく反映させることができる「時価純資産価額法」に「営業権」を加味する手法を採用。</a:t>
                      </a:r>
                    </a:p>
                    <a:p>
                      <a:pPr>
                        <a:buNone/>
                      </a:pPr>
                      <a:r>
                        <a:rPr sz="900">
                          <a:solidFill>
                            <a:srgbClr val="1A1A1A"/>
                          </a:solidFill>
                          <a:latin typeface="游ゴシック"/>
                          <a:ea typeface="游ゴシック"/>
                          <a:cs typeface="游ゴシック"/>
                        </a:rPr>
                        <a:t>・本件は店舗・土地という事業用資産の比重が大きく、資産性が価値の中心であるため特に適合的である。</a:t>
                      </a: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6074"/>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マーケット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株式市場</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における株価</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市場価額法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類似業種比準法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類似会社比準法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a:t>
                      </a:r>
                      <a:r>
                        <a:rPr kumimoji="1" lang="en-US" altLang="ja-JP" sz="900" b="1" kern="1200" dirty="0">
                          <a:solidFill>
                            <a:schemeClr val="tx2"/>
                          </a:solidFill>
                          <a:latin typeface="+mj-lt"/>
                          <a:ea typeface="+mj-ea"/>
                          <a:cs typeface="+mn-cs"/>
                        </a:rPr>
                        <a:t>EV/EBITDA</a:t>
                      </a:r>
                      <a:r>
                        <a:rPr kumimoji="1" lang="ja-JP" altLang="en-US" sz="900" b="1" kern="1200" dirty="0">
                          <a:solidFill>
                            <a:schemeClr val="tx2"/>
                          </a:solidFill>
                          <a:latin typeface="+mj-lt"/>
                          <a:ea typeface="+mj-ea"/>
                          <a:cs typeface="+mn-cs"/>
                        </a:rPr>
                        <a:t>マルチプル法）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br>
                        <a:rPr kumimoji="1" lang="en-US" altLang="ja-JP" sz="1000" b="1" kern="1200" dirty="0">
                          <a:solidFill>
                            <a:schemeClr val="tx2"/>
                          </a:solidFill>
                          <a:latin typeface="+mj-lt"/>
                          <a:ea typeface="+mj-ea"/>
                          <a:cs typeface="+mn-cs"/>
                        </a:rPr>
                      </a:br>
                      <a:r>
                        <a:rPr sz="900">
                          <a:solidFill>
                            <a:srgbClr val="1A1A1A"/>
                          </a:solidFill>
                          <a:latin typeface="游ゴシック"/>
                          <a:ea typeface="游ゴシック"/>
                          <a:cs typeface="游ゴシック"/>
                        </a:rPr>
                        <a:t>規模・業種が類似する企業の株価指標（倍率）をもとに、価値を算定する手法。</a:t>
                      </a:r>
                    </a:p>
                    <a:p>
                      <a:pPr>
                        <a:buNone/>
                      </a:pPr>
                      <a:r>
                        <a:rPr sz="900">
                          <a:solidFill>
                            <a:srgbClr val="1A1A1A"/>
                          </a:solidFill>
                          <a:latin typeface="游ゴシック"/>
                          <a:ea typeface="游ゴシック"/>
                          <a:cs typeface="游ゴシック"/>
                        </a:rPr>
                        <a:t>・株式市場における客観的な評価尺度である「株価」をベースとし、市場のトレンドを反映できる本手法を採用。</a:t>
                      </a:r>
                    </a:p>
                    <a:p>
                      <a:pPr>
                        <a:buNone/>
                      </a:pPr>
                      <a:r>
                        <a:rPr sz="900">
                          <a:solidFill>
                            <a:srgbClr val="1A1A1A"/>
                          </a:solidFill>
                          <a:latin typeface="游ゴシック"/>
                          <a:ea typeface="游ゴシック"/>
                          <a:cs typeface="游ゴシック"/>
                        </a:rPr>
                        <a:t>・ただし当社は1店舗・年商22百万円であり、類似上場会社とは事業規模が大きく異なるため、倍率は中小企業M&amp;Aの実例水準を用いた。</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160336"/>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インカム</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収益力</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収益還元法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en-US" altLang="ja-JP" sz="1100" b="1" kern="1200" dirty="0">
                          <a:solidFill>
                            <a:schemeClr val="accent1">
                              <a:lumMod val="60000"/>
                              <a:lumOff val="40000"/>
                            </a:schemeClr>
                          </a:solidFill>
                          <a:latin typeface="+mj-lt"/>
                          <a:ea typeface="+mj-ea"/>
                          <a:cs typeface="+mn-cs"/>
                        </a:rPr>
                        <a:t>DCF</a:t>
                      </a:r>
                      <a:r>
                        <a:rPr kumimoji="1" lang="ja-JP" altLang="en-US" sz="1100" b="1" kern="1200" dirty="0">
                          <a:solidFill>
                            <a:schemeClr val="accent1">
                              <a:lumMod val="60000"/>
                              <a:lumOff val="40000"/>
                            </a:schemeClr>
                          </a:solidFill>
                          <a:latin typeface="+mj-lt"/>
                          <a:ea typeface="+mj-ea"/>
                          <a:cs typeface="+mn-cs"/>
                        </a:rPr>
                        <a:t>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800" b="1" kern="1200" dirty="0">
                          <a:solidFill>
                            <a:schemeClr val="accent1">
                              <a:lumMod val="60000"/>
                              <a:lumOff val="40000"/>
                            </a:schemeClr>
                          </a:solidFill>
                          <a:latin typeface="+mj-lt"/>
                          <a:ea typeface="+mj-ea"/>
                          <a:cs typeface="+mn-cs"/>
                        </a:rPr>
                        <a:t>    （ディスカウンティド</a:t>
                      </a:r>
                      <a:br>
                        <a:rPr kumimoji="1" lang="en-US" altLang="ja-JP" sz="800" b="1" kern="1200" dirty="0">
                          <a:solidFill>
                            <a:schemeClr val="accent1">
                              <a:lumMod val="60000"/>
                              <a:lumOff val="40000"/>
                            </a:schemeClr>
                          </a:solidFill>
                          <a:latin typeface="+mj-lt"/>
                          <a:ea typeface="+mj-ea"/>
                          <a:cs typeface="+mn-cs"/>
                        </a:rPr>
                      </a:br>
                      <a:r>
                        <a:rPr kumimoji="1" lang="en-US" altLang="ja-JP" sz="800" b="1" kern="1200" dirty="0">
                          <a:solidFill>
                            <a:schemeClr val="accent1">
                              <a:lumMod val="60000"/>
                              <a:lumOff val="40000"/>
                            </a:schemeClr>
                          </a:solidFill>
                          <a:latin typeface="+mj-lt"/>
                          <a:ea typeface="+mj-ea"/>
                          <a:cs typeface="+mn-cs"/>
                        </a:rPr>
                        <a:t>        </a:t>
                      </a:r>
                      <a:r>
                        <a:rPr kumimoji="1" lang="ja-JP" altLang="en-US" sz="800" b="1" kern="1200" dirty="0">
                          <a:solidFill>
                            <a:schemeClr val="accent1">
                              <a:lumMod val="60000"/>
                              <a:lumOff val="40000"/>
                            </a:schemeClr>
                          </a:solidFill>
                          <a:latin typeface="+mj-lt"/>
                          <a:ea typeface="+mj-ea"/>
                          <a:cs typeface="+mn-cs"/>
                        </a:rPr>
                        <a:t>キャッシュフロー法）</a:t>
                      </a:r>
                      <a:endParaRPr kumimoji="1" lang="en-US" altLang="ja-JP" sz="8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配当還元法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indent="-144000" algn="l">
                        <a:lnSpc>
                          <a:spcPct val="110000"/>
                        </a:lnSpc>
                        <a:spcBef>
                          <a:spcPts val="0"/>
                        </a:spcBef>
                        <a:spcAft>
                          <a:spcPts val="300"/>
                        </a:spcAft>
                        <a:buClr>
                          <a:schemeClr val="tx2"/>
                        </a:buClr>
                        <a:buFont typeface="游ゴシック" panose="020B0400000000000000" pitchFamily="50" charset="-128"/>
                        <a:buNone/>
                      </a:pPr>
                      <a:r>
                        <a:rPr sz="900">
                          <a:solidFill>
                            <a:srgbClr val="1A1A1A"/>
                          </a:solidFill>
                          <a:latin typeface="游ゴシック"/>
                          <a:ea typeface="游ゴシック"/>
                          <a:cs typeface="游ゴシック"/>
                        </a:rPr>
                        <a:t>・収益還元法やDCF法を適用するには、根拠となる利益やキャッシュフローの計画値が必要となる。現状、詳細な事業計画が存在せず算定が困難であることから、これらの手法は採用しない。</a:t>
                      </a:r>
                    </a:p>
                    <a:p>
                      <a:pPr>
                        <a:buNone/>
                      </a:pPr>
                      <a:r>
                        <a:rPr sz="900">
                          <a:solidFill>
                            <a:srgbClr val="1A1A1A"/>
                          </a:solidFill>
                          <a:latin typeface="游ゴシック"/>
                          <a:ea typeface="游ゴシック"/>
                          <a:cs typeface="游ゴシック"/>
                        </a:rPr>
                        <a:t>・配当還元法は、本来、配当獲得を主眼とする少数株主の視点に立った評価手法である。したがって、本件取引の性質上、採用は適切ではないと判断した。</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6927477"/>
                  </a:ext>
                </a:extLst>
              </a:tr>
            </a:tbl>
          </a:graphicData>
        </a:graphic>
      </p:graphicFrame>
      <p:sp>
        <p:nvSpPr>
          <p:cNvPr id="36" name="正方形/長方形 35">
            <a:extLst>
              <a:ext uri="{FF2B5EF4-FFF2-40B4-BE49-F238E27FC236}">
                <a16:creationId xmlns:a16="http://schemas.microsoft.com/office/drawing/2014/main" id="{F9F3D3B4-E97C-CA46-6200-0218472772E0}"/>
              </a:ext>
            </a:extLst>
          </p:cNvPr>
          <p:cNvSpPr/>
          <p:nvPr/>
        </p:nvSpPr>
        <p:spPr>
          <a:xfrm>
            <a:off x="449263" y="6120538"/>
            <a:ext cx="1440000" cy="72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612000" tIns="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37" name="グループ化 36">
            <a:extLst>
              <a:ext uri="{FF2B5EF4-FFF2-40B4-BE49-F238E27FC236}">
                <a16:creationId xmlns:a16="http://schemas.microsoft.com/office/drawing/2014/main" id="{E898EBFA-2528-F2FB-84C8-F09FADD39F13}"/>
              </a:ext>
            </a:extLst>
          </p:cNvPr>
          <p:cNvGrpSpPr/>
          <p:nvPr/>
        </p:nvGrpSpPr>
        <p:grpSpPr>
          <a:xfrm>
            <a:off x="583355" y="6293952"/>
            <a:ext cx="373173" cy="373173"/>
            <a:chOff x="557955" y="6293952"/>
            <a:chExt cx="373173" cy="373173"/>
          </a:xfrm>
        </p:grpSpPr>
        <p:sp>
          <p:nvSpPr>
            <p:cNvPr id="38" name="楕円 37">
              <a:extLst>
                <a:ext uri="{FF2B5EF4-FFF2-40B4-BE49-F238E27FC236}">
                  <a16:creationId xmlns:a16="http://schemas.microsoft.com/office/drawing/2014/main" id="{389C6F0D-9B5A-2543-2198-3B5B285670D8}"/>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39" name="グループ化 38">
              <a:extLst>
                <a:ext uri="{FF2B5EF4-FFF2-40B4-BE49-F238E27FC236}">
                  <a16:creationId xmlns:a16="http://schemas.microsoft.com/office/drawing/2014/main" id="{8560C8E1-4DCA-CEC1-7D98-78FA5AFE8E73}"/>
                </a:ext>
              </a:extLst>
            </p:cNvPr>
            <p:cNvGrpSpPr/>
            <p:nvPr/>
          </p:nvGrpSpPr>
          <p:grpSpPr>
            <a:xfrm>
              <a:off x="620003" y="6342163"/>
              <a:ext cx="249077" cy="276751"/>
              <a:chOff x="605367" y="6371166"/>
              <a:chExt cx="210977" cy="234418"/>
            </a:xfrm>
          </p:grpSpPr>
          <p:sp>
            <p:nvSpPr>
              <p:cNvPr id="40" name="フリーフォーム: 図形 39">
                <a:extLst>
                  <a:ext uri="{FF2B5EF4-FFF2-40B4-BE49-F238E27FC236}">
                    <a16:creationId xmlns:a16="http://schemas.microsoft.com/office/drawing/2014/main" id="{79744F08-7A7F-1C36-C1D9-B8ED71537226}"/>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41" name="フリーフォーム: 図形 40">
                <a:extLst>
                  <a:ext uri="{FF2B5EF4-FFF2-40B4-BE49-F238E27FC236}">
                    <a16:creationId xmlns:a16="http://schemas.microsoft.com/office/drawing/2014/main" id="{D3FCDE67-0CF1-77D9-659B-CE2034D9D9B8}"/>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42" name="フリーフォーム: 図形 41">
                <a:extLst>
                  <a:ext uri="{FF2B5EF4-FFF2-40B4-BE49-F238E27FC236}">
                    <a16:creationId xmlns:a16="http://schemas.microsoft.com/office/drawing/2014/main" id="{2AE217CF-74E8-32CA-65CD-76EB0FEEDDD3}"/>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43" name="フリーフォーム: 図形 42">
                <a:extLst>
                  <a:ext uri="{FF2B5EF4-FFF2-40B4-BE49-F238E27FC236}">
                    <a16:creationId xmlns:a16="http://schemas.microsoft.com/office/drawing/2014/main" id="{02308513-C54F-4FAE-A20F-B4579F782FD7}"/>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6" name="フリーフォーム: 図形 45">
                <a:extLst>
                  <a:ext uri="{FF2B5EF4-FFF2-40B4-BE49-F238E27FC236}">
                    <a16:creationId xmlns:a16="http://schemas.microsoft.com/office/drawing/2014/main" id="{A66EF74A-42E2-64CE-3710-A80D5B8E3B53}"/>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7" name="フリーフォーム: 図形 46">
                <a:extLst>
                  <a:ext uri="{FF2B5EF4-FFF2-40B4-BE49-F238E27FC236}">
                    <a16:creationId xmlns:a16="http://schemas.microsoft.com/office/drawing/2014/main" id="{B0D5B854-2E41-4D3A-468F-D33B76BF091C}"/>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48" name="グラフィックス 32">
                <a:extLst>
                  <a:ext uri="{FF2B5EF4-FFF2-40B4-BE49-F238E27FC236}">
                    <a16:creationId xmlns:a16="http://schemas.microsoft.com/office/drawing/2014/main" id="{F383B767-481F-2755-6F75-CD54335E4008}"/>
                  </a:ext>
                </a:extLst>
              </p:cNvPr>
              <p:cNvGrpSpPr/>
              <p:nvPr/>
            </p:nvGrpSpPr>
            <p:grpSpPr>
              <a:xfrm>
                <a:off x="639299" y="6399061"/>
                <a:ext cx="149149" cy="149149"/>
                <a:chOff x="639299" y="6399061"/>
                <a:chExt cx="149149" cy="149149"/>
              </a:xfrm>
            </p:grpSpPr>
            <p:sp>
              <p:nvSpPr>
                <p:cNvPr id="59" name="フリーフォーム: 図形 58">
                  <a:extLst>
                    <a:ext uri="{FF2B5EF4-FFF2-40B4-BE49-F238E27FC236}">
                      <a16:creationId xmlns:a16="http://schemas.microsoft.com/office/drawing/2014/main" id="{5B51B83B-0943-ADC2-2455-8E83664BBFBE}"/>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0" name="フリーフォーム: 図形 59">
                  <a:extLst>
                    <a:ext uri="{FF2B5EF4-FFF2-40B4-BE49-F238E27FC236}">
                      <a16:creationId xmlns:a16="http://schemas.microsoft.com/office/drawing/2014/main" id="{145276C0-2C8D-7A97-FD3D-0F906A846958}"/>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49" name="フリーフォーム: 図形 48">
                <a:extLst>
                  <a:ext uri="{FF2B5EF4-FFF2-40B4-BE49-F238E27FC236}">
                    <a16:creationId xmlns:a16="http://schemas.microsoft.com/office/drawing/2014/main" id="{77EB68C9-E454-9D24-23CA-711803A1911D}"/>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50" name="グラフィックス 32">
                <a:extLst>
                  <a:ext uri="{FF2B5EF4-FFF2-40B4-BE49-F238E27FC236}">
                    <a16:creationId xmlns:a16="http://schemas.microsoft.com/office/drawing/2014/main" id="{528FAC06-79C8-D0C3-7A25-10E574345A71}"/>
                  </a:ext>
                </a:extLst>
              </p:cNvPr>
              <p:cNvGrpSpPr/>
              <p:nvPr/>
            </p:nvGrpSpPr>
            <p:grpSpPr>
              <a:xfrm>
                <a:off x="605367" y="6470794"/>
                <a:ext cx="210977" cy="5860"/>
                <a:chOff x="605367" y="6470794"/>
                <a:chExt cx="210977" cy="5860"/>
              </a:xfrm>
            </p:grpSpPr>
            <p:sp>
              <p:nvSpPr>
                <p:cNvPr id="57" name="フリーフォーム: 図形 56">
                  <a:extLst>
                    <a:ext uri="{FF2B5EF4-FFF2-40B4-BE49-F238E27FC236}">
                      <a16:creationId xmlns:a16="http://schemas.microsoft.com/office/drawing/2014/main" id="{4BFFA65F-8343-57FF-3BF0-A0744E26E026}"/>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D250E6B6-FB2D-5104-EDE9-70FC57F8A4FD}"/>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51" name="グラフィックス 32">
                <a:extLst>
                  <a:ext uri="{FF2B5EF4-FFF2-40B4-BE49-F238E27FC236}">
                    <a16:creationId xmlns:a16="http://schemas.microsoft.com/office/drawing/2014/main" id="{8986A5C1-349E-7A36-3EE9-7277DE54D243}"/>
                  </a:ext>
                </a:extLst>
              </p:cNvPr>
              <p:cNvGrpSpPr/>
              <p:nvPr/>
            </p:nvGrpSpPr>
            <p:grpSpPr>
              <a:xfrm>
                <a:off x="633262" y="6399061"/>
                <a:ext cx="149149" cy="149149"/>
                <a:chOff x="633262" y="6399061"/>
                <a:chExt cx="149149" cy="149149"/>
              </a:xfrm>
            </p:grpSpPr>
            <p:sp>
              <p:nvSpPr>
                <p:cNvPr id="53" name="フリーフォーム: 図形 52">
                  <a:extLst>
                    <a:ext uri="{FF2B5EF4-FFF2-40B4-BE49-F238E27FC236}">
                      <a16:creationId xmlns:a16="http://schemas.microsoft.com/office/drawing/2014/main" id="{F5412291-1DB9-9DE1-6A56-7377A0D63C34}"/>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C2E1BD1C-9D4B-37D8-0888-6D40B6A45667}"/>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sp>
        <p:nvSpPr>
          <p:cNvPr id="61" name="グラフィックス 59">
            <a:extLst>
              <a:ext uri="{FF2B5EF4-FFF2-40B4-BE49-F238E27FC236}">
                <a16:creationId xmlns:a16="http://schemas.microsoft.com/office/drawing/2014/main" id="{4243167B-A39B-11A2-C832-56FC6093FF70}"/>
              </a:ext>
            </a:extLst>
          </p:cNvPr>
          <p:cNvSpPr/>
          <p:nvPr/>
        </p:nvSpPr>
        <p:spPr>
          <a:xfrm>
            <a:off x="3507052" y="2478212"/>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sp>
        <p:nvSpPr>
          <p:cNvPr id="62" name="グラフィックス 59">
            <a:extLst>
              <a:ext uri="{FF2B5EF4-FFF2-40B4-BE49-F238E27FC236}">
                <a16:creationId xmlns:a16="http://schemas.microsoft.com/office/drawing/2014/main" id="{5DBAFE3A-EBEF-EBB2-E8FA-8870D3C86C9D}"/>
              </a:ext>
            </a:extLst>
          </p:cNvPr>
          <p:cNvSpPr/>
          <p:nvPr/>
        </p:nvSpPr>
        <p:spPr>
          <a:xfrm>
            <a:off x="3507052" y="3846447"/>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grpSp>
        <p:nvGrpSpPr>
          <p:cNvPr id="84" name="グループ化 83">
            <a:extLst>
              <a:ext uri="{FF2B5EF4-FFF2-40B4-BE49-F238E27FC236}">
                <a16:creationId xmlns:a16="http://schemas.microsoft.com/office/drawing/2014/main" id="{D26399A4-4A64-3667-475E-0430981C2BFA}"/>
              </a:ext>
            </a:extLst>
          </p:cNvPr>
          <p:cNvGrpSpPr/>
          <p:nvPr/>
        </p:nvGrpSpPr>
        <p:grpSpPr>
          <a:xfrm>
            <a:off x="5401757" y="2057401"/>
            <a:ext cx="557845" cy="3495772"/>
            <a:chOff x="5401757" y="2057401"/>
            <a:chExt cx="557845" cy="3495772"/>
          </a:xfrm>
        </p:grpSpPr>
        <p:grpSp>
          <p:nvGrpSpPr>
            <p:cNvPr id="18" name="グループ化 17">
              <a:extLst>
                <a:ext uri="{FF2B5EF4-FFF2-40B4-BE49-F238E27FC236}">
                  <a16:creationId xmlns:a16="http://schemas.microsoft.com/office/drawing/2014/main" id="{DB5C609D-310E-C306-98F7-D4C2DD3642DA}"/>
                </a:ext>
              </a:extLst>
            </p:cNvPr>
            <p:cNvGrpSpPr/>
            <p:nvPr/>
          </p:nvGrpSpPr>
          <p:grpSpPr>
            <a:xfrm>
              <a:off x="5475363" y="2057401"/>
              <a:ext cx="410634" cy="734169"/>
              <a:chOff x="5517698" y="2057401"/>
              <a:chExt cx="410634" cy="734169"/>
            </a:xfrm>
          </p:grpSpPr>
          <p:sp>
            <p:nvSpPr>
              <p:cNvPr id="34" name="楕円 33">
                <a:extLst>
                  <a:ext uri="{FF2B5EF4-FFF2-40B4-BE49-F238E27FC236}">
                    <a16:creationId xmlns:a16="http://schemas.microsoft.com/office/drawing/2014/main" id="{479466C7-C649-A725-BD8C-7F7550AB2EEF}"/>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3FFEDA4B-E179-A28B-0195-9A0DA4F61678}"/>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nvGrpSpPr>
            <p:cNvPr id="21" name="グループ化 20">
              <a:extLst>
                <a:ext uri="{FF2B5EF4-FFF2-40B4-BE49-F238E27FC236}">
                  <a16:creationId xmlns:a16="http://schemas.microsoft.com/office/drawing/2014/main" id="{24D7C6D8-9BED-A365-0AF5-79DC01D710F6}"/>
                </a:ext>
              </a:extLst>
            </p:cNvPr>
            <p:cNvGrpSpPr/>
            <p:nvPr/>
          </p:nvGrpSpPr>
          <p:grpSpPr>
            <a:xfrm>
              <a:off x="5401757" y="4859957"/>
              <a:ext cx="557845" cy="693216"/>
              <a:chOff x="5444092" y="3460750"/>
              <a:chExt cx="557845" cy="693216"/>
            </a:xfrm>
          </p:grpSpPr>
          <p:sp>
            <p:nvSpPr>
              <p:cNvPr id="22" name="テキスト ボックス 21">
                <a:extLst>
                  <a:ext uri="{FF2B5EF4-FFF2-40B4-BE49-F238E27FC236}">
                    <a16:creationId xmlns:a16="http://schemas.microsoft.com/office/drawing/2014/main" id="{4200C4FF-D773-CD41-30AA-E5E5CC2A5E14}"/>
                  </a:ext>
                </a:extLst>
              </p:cNvPr>
              <p:cNvSpPr txBox="1"/>
              <p:nvPr/>
            </p:nvSpPr>
            <p:spPr>
              <a:xfrm>
                <a:off x="5444092" y="3938522"/>
                <a:ext cx="557845" cy="215444"/>
              </a:xfrm>
              <a:prstGeom prst="rect">
                <a:avLst/>
              </a:prstGeom>
              <a:noFill/>
            </p:spPr>
            <p:txBody>
              <a:bodyPr wrap="none" lIns="0" tIns="0" rIns="0" bIns="0" rtlCol="0">
                <a:spAutoFit/>
              </a:bodyPr>
              <a:lstStyle/>
              <a:p>
                <a:pPr algn="ctr"/>
                <a:r>
                  <a:rPr kumimoji="1" lang="ja-JP" altLang="en-US" sz="1400" b="1" spc="50" dirty="0">
                    <a:solidFill>
                      <a:schemeClr val="accent1"/>
                    </a:solidFill>
                    <a:latin typeface="+mj-ea"/>
                    <a:ea typeface="+mj-ea"/>
                  </a:rPr>
                  <a:t>不採用</a:t>
                </a:r>
              </a:p>
            </p:txBody>
          </p:sp>
          <p:grpSp>
            <p:nvGrpSpPr>
              <p:cNvPr id="23" name="グループ化 22">
                <a:extLst>
                  <a:ext uri="{FF2B5EF4-FFF2-40B4-BE49-F238E27FC236}">
                    <a16:creationId xmlns:a16="http://schemas.microsoft.com/office/drawing/2014/main" id="{112413C6-A96E-7D3F-B364-F303C091FB32}"/>
                  </a:ext>
                </a:extLst>
              </p:cNvPr>
              <p:cNvGrpSpPr>
                <a:grpSpLocks noChangeAspect="1"/>
              </p:cNvGrpSpPr>
              <p:nvPr/>
            </p:nvGrpSpPr>
            <p:grpSpPr>
              <a:xfrm>
                <a:off x="5543015" y="3460750"/>
                <a:ext cx="360000" cy="360000"/>
                <a:chOff x="-161714" y="1568450"/>
                <a:chExt cx="412750" cy="412750"/>
              </a:xfrm>
            </p:grpSpPr>
            <p:cxnSp>
              <p:nvCxnSpPr>
                <p:cNvPr id="27" name="直線コネクタ 26">
                  <a:extLst>
                    <a:ext uri="{FF2B5EF4-FFF2-40B4-BE49-F238E27FC236}">
                      <a16:creationId xmlns:a16="http://schemas.microsoft.com/office/drawing/2014/main" id="{F8365950-98F3-B0B0-FDB0-CC66BBDEEF5D}"/>
                    </a:ext>
                  </a:extLst>
                </p:cNvPr>
                <p:cNvCxnSpPr>
                  <a:cxnSpLocks/>
                </p:cNvCxnSpPr>
                <p:nvPr/>
              </p:nvCxnSpPr>
              <p:spPr>
                <a:xfrm>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cxnSp>
              <p:nvCxnSpPr>
                <p:cNvPr id="28" name="直線コネクタ 27">
                  <a:extLst>
                    <a:ext uri="{FF2B5EF4-FFF2-40B4-BE49-F238E27FC236}">
                      <a16:creationId xmlns:a16="http://schemas.microsoft.com/office/drawing/2014/main" id="{9DBF255E-AD57-19F7-5F05-E30869355B1B}"/>
                    </a:ext>
                  </a:extLst>
                </p:cNvPr>
                <p:cNvCxnSpPr>
                  <a:cxnSpLocks/>
                </p:cNvCxnSpPr>
                <p:nvPr/>
              </p:nvCxnSpPr>
              <p:spPr>
                <a:xfrm flipH="1">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grpSp>
        </p:grpSp>
        <p:grpSp>
          <p:nvGrpSpPr>
            <p:cNvPr id="81" name="グループ化 80">
              <a:extLst>
                <a:ext uri="{FF2B5EF4-FFF2-40B4-BE49-F238E27FC236}">
                  <a16:creationId xmlns:a16="http://schemas.microsoft.com/office/drawing/2014/main" id="{4BB2CB5C-26A6-5AA8-C554-5E6E15B6C766}"/>
                </a:ext>
              </a:extLst>
            </p:cNvPr>
            <p:cNvGrpSpPr/>
            <p:nvPr/>
          </p:nvGrpSpPr>
          <p:grpSpPr>
            <a:xfrm>
              <a:off x="5475363" y="3458679"/>
              <a:ext cx="410634" cy="734169"/>
              <a:chOff x="5517698" y="2057401"/>
              <a:chExt cx="410634" cy="734169"/>
            </a:xfrm>
          </p:grpSpPr>
          <p:sp>
            <p:nvSpPr>
              <p:cNvPr id="82" name="楕円 81">
                <a:extLst>
                  <a:ext uri="{FF2B5EF4-FFF2-40B4-BE49-F238E27FC236}">
                    <a16:creationId xmlns:a16="http://schemas.microsoft.com/office/drawing/2014/main" id="{5B3FD3C1-E450-32CE-E683-E79A71D468AB}"/>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8DA332E3-3670-A6D4-F20F-91D631A6833E}"/>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spTree>
    <p:extLst>
      <p:ext uri="{BB962C8B-B14F-4D97-AF65-F5344CB8AC3E}">
        <p14:creationId xmlns:p14="http://schemas.microsoft.com/office/powerpoint/2010/main" val="71424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059B5-FB60-D143-C280-CC8417F28261}"/>
            </a:ext>
          </a:extLst>
        </p:cNvPr>
        <p:cNvGrpSpPr/>
        <p:nvPr/>
      </p:nvGrpSpPr>
      <p:grpSpPr>
        <a:xfrm>
          <a:off x="0" y="0"/>
          <a:ext cx="0" cy="0"/>
          <a:chOff x="0" y="0"/>
          <a:chExt cx="0" cy="0"/>
        </a:xfrm>
      </p:grpSpPr>
      <p:sp>
        <p:nvSpPr>
          <p:cNvPr id="26" name="タイトル 25">
            <a:extLst>
              <a:ext uri="{FF2B5EF4-FFF2-40B4-BE49-F238E27FC236}">
                <a16:creationId xmlns:a16="http://schemas.microsoft.com/office/drawing/2014/main" id="{13D15798-0B0F-EC57-0019-D0F77B468AEF}"/>
              </a:ext>
            </a:extLst>
          </p:cNvPr>
          <p:cNvSpPr>
            <a:spLocks noGrp="1"/>
          </p:cNvSpPr>
          <p:nvPr>
            <p:ph type="ctrTitle"/>
          </p:nvPr>
        </p:nvSpPr>
        <p:spPr>
          <a:xfrm>
            <a:off x="341313" y="180653"/>
            <a:ext cx="7799917" cy="338554"/>
          </a:xfrm>
        </p:spPr>
        <p:txBody>
          <a:bodyPr/>
          <a:lstStyle/>
          <a:p>
            <a:r>
              <a:rPr>
                <a:latin typeface="游ゴシック"/>
                <a:ea typeface="游ゴシック"/>
                <a:cs typeface="游ゴシック"/>
              </a:rPr>
              <a:t>株式価値の試算結果</a:t>
            </a:r>
          </a:p>
        </p:txBody>
      </p:sp>
      <p:sp>
        <p:nvSpPr>
          <p:cNvPr id="10" name="タイトル 1">
            <a:extLst>
              <a:ext uri="{FF2B5EF4-FFF2-40B4-BE49-F238E27FC236}">
                <a16:creationId xmlns:a16="http://schemas.microsoft.com/office/drawing/2014/main" id="{258AD7E0-D342-7F0B-B7C4-8C6662E241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1. Valuation Summary</a:t>
            </a:r>
            <a:endParaRPr lang="ja-JP" altLang="en-US" spc="0" dirty="0"/>
          </a:p>
        </p:txBody>
      </p:sp>
      <p:sp>
        <p:nvSpPr>
          <p:cNvPr id="27" name="Rectangle 26"/>
          <p:cNvSpPr/>
          <p:nvPr/>
        </p:nvSpPr>
        <p:spPr>
          <a:xfrm>
            <a:off x="448056" y="859536"/>
            <a:ext cx="845820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試算の前提条件</a:t>
            </a:r>
          </a:p>
        </p:txBody>
      </p:sp>
      <p:graphicFrame>
        <p:nvGraphicFramePr>
          <p:cNvPr id="28" name="Table 27"/>
          <p:cNvGraphicFramePr>
            <a:graphicFrameLocks noGrp="1"/>
          </p:cNvGraphicFramePr>
          <p:nvPr/>
        </p:nvGraphicFramePr>
        <p:xfrm>
          <a:off x="448056" y="1188720"/>
          <a:ext cx="9793224" cy="1609344"/>
        </p:xfrm>
        <a:graphic>
          <a:graphicData uri="http://schemas.openxmlformats.org/drawingml/2006/table">
            <a:tbl>
              <a:tblPr firstRow="0" bandRow="0">
                <a:tableStyleId>{5940675A-B579-460E-94D1-54222C63F5DA}</a:tableStyleId>
              </a:tblPr>
              <a:tblGrid>
                <a:gridCol w="1078992"/>
                <a:gridCol w="8714232"/>
              </a:tblGrid>
              <a:tr h="237744">
                <a:tc>
                  <a:txBody>
                    <a:bodyPr wrap="square"/>
                    <a:lstStyle/>
                    <a:p>
                      <a:pPr algn="ctr">
                        <a:spcAft>
                          <a:spcPts val="0"/>
                        </a:spcAft>
                      </a:pPr>
                      <a:r>
                        <a:rPr sz="900" b="1">
                          <a:solidFill>
                            <a:srgbClr val="FFFFFF"/>
                          </a:solidFill>
                          <a:latin typeface="游ゴシック"/>
                          <a:ea typeface="游ゴシック"/>
                          <a:cs typeface="游ゴシック"/>
                        </a:rPr>
                        <a:t>項目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評価対象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株式会社慈久庵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算定日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2026年10月7日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基準日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2026年5月期（2026年5月31日／貸借対照表の基準日）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参照期間</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2024年5月期〜2026年5月期（損益計算書の参照期間）</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目的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対象会社の過半数の株式を第三者間で売買取引・M&amp;Aする場合（「本件取引」といいます）の譲渡価額決定の参考資料とすること（「本件試算目的」といいます）を目的に本株式価値試算報告書は作成されておりま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9" name="Rectangle 28"/>
          <p:cNvSpPr/>
          <p:nvPr/>
        </p:nvSpPr>
        <p:spPr>
          <a:xfrm>
            <a:off x="448056" y="3163824"/>
            <a:ext cx="845820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株式価値試算結果</a:t>
            </a:r>
          </a:p>
        </p:txBody>
      </p:sp>
      <p:sp>
        <p:nvSpPr>
          <p:cNvPr id="30" name="TextBox 29"/>
          <p:cNvSpPr txBox="1"/>
          <p:nvPr/>
        </p:nvSpPr>
        <p:spPr>
          <a:xfrm>
            <a:off x="448056" y="3547872"/>
            <a:ext cx="4846320" cy="201168"/>
          </a:xfrm>
          <a:prstGeom prst="rect">
            <a:avLst/>
          </a:prstGeom>
          <a:noFill/>
        </p:spPr>
        <p:txBody>
          <a:bodyPr wrap="square" lIns="0" rIns="0" tIns="0" bIns="0" anchor="t">
            <a:spAutoFit/>
          </a:bodyPr>
          <a:lstStyle/>
          <a:p>
            <a:pPr algn="l">
              <a:spcAft>
                <a:spcPts val="0"/>
              </a:spcAft>
            </a:pPr>
            <a:r>
              <a:rPr sz="1100" b="1">
                <a:solidFill>
                  <a:srgbClr val="0B3041"/>
                </a:solidFill>
                <a:latin typeface="游ゴシック"/>
                <a:ea typeface="游ゴシック"/>
                <a:cs typeface="游ゴシック"/>
              </a:rPr>
              <a:t>■ コストアプローチ（年買法）</a:t>
            </a:r>
          </a:p>
        </p:txBody>
      </p:sp>
      <p:sp>
        <p:nvSpPr>
          <p:cNvPr id="31" name="Rectangle 30"/>
          <p:cNvSpPr/>
          <p:nvPr/>
        </p:nvSpPr>
        <p:spPr>
          <a:xfrm>
            <a:off x="448056" y="3785615"/>
            <a:ext cx="4846320" cy="402336"/>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448056" y="3785615"/>
            <a:ext cx="1188720" cy="40233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48056" y="3785615"/>
            <a:ext cx="1188720" cy="402336"/>
          </a:xfrm>
          <a:prstGeom prst="rect">
            <a:avLst/>
          </a:prstGeom>
          <a:noFill/>
        </p:spPr>
        <p:txBody>
          <a:bodyPr wrap="square" lIns="0" rIns="0" tIns="0" bIns="0" anchor="ctr">
            <a:spAutoFit/>
          </a:bodyPr>
          <a:lstStyle/>
          <a:p>
            <a:pPr algn="ctr">
              <a:spcAft>
                <a:spcPts val="0"/>
              </a:spcAft>
            </a:pPr>
            <a:r>
              <a:rPr sz="1200" b="1">
                <a:solidFill>
                  <a:srgbClr val="FFFFFF"/>
                </a:solidFill>
                <a:latin typeface="游ゴシック"/>
                <a:ea typeface="游ゴシック"/>
                <a:cs typeface="游ゴシック"/>
              </a:rPr>
              <a:t>想定レンジ</a:t>
            </a:r>
          </a:p>
        </p:txBody>
      </p:sp>
      <p:sp>
        <p:nvSpPr>
          <p:cNvPr id="34" name="TextBox 33"/>
          <p:cNvSpPr txBox="1"/>
          <p:nvPr/>
        </p:nvSpPr>
        <p:spPr>
          <a:xfrm>
            <a:off x="1728216" y="3785615"/>
            <a:ext cx="3474720" cy="402336"/>
          </a:xfrm>
          <a:prstGeom prst="rect">
            <a:avLst/>
          </a:prstGeom>
          <a:noFill/>
        </p:spPr>
        <p:txBody>
          <a:bodyPr wrap="square" lIns="0" rIns="0" tIns="0" bIns="0" anchor="ctr">
            <a:spAutoFit/>
          </a:bodyPr>
          <a:lstStyle/>
          <a:p>
            <a:pPr algn="l">
              <a:spcAft>
                <a:spcPts val="0"/>
              </a:spcAft>
            </a:pPr>
            <a:r>
              <a:rPr sz="1600" b="1">
                <a:solidFill>
                  <a:srgbClr val="0B3041"/>
                </a:solidFill>
                <a:latin typeface="Arial"/>
                <a:ea typeface="Arial"/>
                <a:cs typeface="Arial"/>
              </a:rPr>
              <a:t>24,392　～　26,012（千円）</a:t>
            </a:r>
          </a:p>
        </p:txBody>
      </p:sp>
      <p:sp>
        <p:nvSpPr>
          <p:cNvPr id="35" name="TextBox 34"/>
          <p:cNvSpPr txBox="1"/>
          <p:nvPr/>
        </p:nvSpPr>
        <p:spPr>
          <a:xfrm>
            <a:off x="448056" y="4334256"/>
            <a:ext cx="4846320" cy="201168"/>
          </a:xfrm>
          <a:prstGeom prst="rect">
            <a:avLst/>
          </a:prstGeom>
          <a:noFill/>
        </p:spPr>
        <p:txBody>
          <a:bodyPr wrap="square" lIns="0" rIns="0" tIns="0" bIns="0" anchor="t">
            <a:spAutoFit/>
          </a:bodyPr>
          <a:lstStyle/>
          <a:p>
            <a:pPr algn="l">
              <a:spcAft>
                <a:spcPts val="0"/>
              </a:spcAft>
            </a:pPr>
            <a:r>
              <a:rPr sz="1100" b="1">
                <a:solidFill>
                  <a:srgbClr val="0B3041"/>
                </a:solidFill>
                <a:latin typeface="游ゴシック"/>
                <a:ea typeface="游ゴシック"/>
                <a:cs typeface="游ゴシック"/>
              </a:rPr>
              <a:t>■ マーケットアプローチ（EV/EBITDAマルチプル法）</a:t>
            </a:r>
          </a:p>
        </p:txBody>
      </p:sp>
      <p:sp>
        <p:nvSpPr>
          <p:cNvPr id="36" name="Rectangle 35"/>
          <p:cNvSpPr/>
          <p:nvPr/>
        </p:nvSpPr>
        <p:spPr>
          <a:xfrm>
            <a:off x="448056" y="4572000"/>
            <a:ext cx="4846320" cy="402336"/>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48056" y="4572000"/>
            <a:ext cx="1188720" cy="40233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48056" y="4572000"/>
            <a:ext cx="1188720" cy="402336"/>
          </a:xfrm>
          <a:prstGeom prst="rect">
            <a:avLst/>
          </a:prstGeom>
          <a:noFill/>
        </p:spPr>
        <p:txBody>
          <a:bodyPr wrap="square" lIns="0" rIns="0" tIns="0" bIns="0" anchor="ctr">
            <a:spAutoFit/>
          </a:bodyPr>
          <a:lstStyle/>
          <a:p>
            <a:pPr algn="ctr">
              <a:spcAft>
                <a:spcPts val="0"/>
              </a:spcAft>
            </a:pPr>
            <a:r>
              <a:rPr sz="1200" b="1">
                <a:solidFill>
                  <a:srgbClr val="FFFFFF"/>
                </a:solidFill>
                <a:latin typeface="游ゴシック"/>
                <a:ea typeface="游ゴシック"/>
                <a:cs typeface="游ゴシック"/>
              </a:rPr>
              <a:t>想定レンジ</a:t>
            </a:r>
          </a:p>
        </p:txBody>
      </p:sp>
      <p:sp>
        <p:nvSpPr>
          <p:cNvPr id="39" name="TextBox 38"/>
          <p:cNvSpPr txBox="1"/>
          <p:nvPr/>
        </p:nvSpPr>
        <p:spPr>
          <a:xfrm>
            <a:off x="1728216" y="4572000"/>
            <a:ext cx="3474720" cy="402336"/>
          </a:xfrm>
          <a:prstGeom prst="rect">
            <a:avLst/>
          </a:prstGeom>
          <a:noFill/>
        </p:spPr>
        <p:txBody>
          <a:bodyPr wrap="square" lIns="0" rIns="0" tIns="0" bIns="0" anchor="ctr">
            <a:spAutoFit/>
          </a:bodyPr>
          <a:lstStyle/>
          <a:p>
            <a:pPr algn="l">
              <a:spcAft>
                <a:spcPts val="0"/>
              </a:spcAft>
            </a:pPr>
            <a:r>
              <a:rPr sz="1600" b="1">
                <a:solidFill>
                  <a:srgbClr val="0B3041"/>
                </a:solidFill>
                <a:latin typeface="Arial"/>
                <a:ea typeface="Arial"/>
                <a:cs typeface="Arial"/>
              </a:rPr>
              <a:t>△14,564　～　△3,864（千円）</a:t>
            </a:r>
          </a:p>
        </p:txBody>
      </p:sp>
      <p:sp>
        <p:nvSpPr>
          <p:cNvPr id="40" name="TextBox 39"/>
          <p:cNvSpPr txBox="1"/>
          <p:nvPr/>
        </p:nvSpPr>
        <p:spPr>
          <a:xfrm>
            <a:off x="448056" y="5010912"/>
            <a:ext cx="4846320" cy="182880"/>
          </a:xfrm>
          <a:prstGeom prst="rect">
            <a:avLst/>
          </a:prstGeom>
          <a:noFill/>
        </p:spPr>
        <p:txBody>
          <a:bodyPr wrap="square" lIns="0" rIns="0" tIns="0" bIns="0" anchor="t">
            <a:spAutoFit/>
          </a:bodyPr>
          <a:lstStyle/>
          <a:p>
            <a:pPr algn="l">
              <a:spcAft>
                <a:spcPts val="0"/>
              </a:spcAft>
            </a:pPr>
            <a:r>
              <a:rPr sz="800" b="0">
                <a:solidFill>
                  <a:srgbClr val="5A6670"/>
                </a:solidFill>
                <a:latin typeface="游ゴシック"/>
                <a:ea typeface="游ゴシック"/>
                <a:cs typeface="游ゴシック"/>
              </a:rPr>
              <a:t>※ 役員借入金32,744千円を買手が承継する前提（主たる前提）</a:t>
            </a:r>
          </a:p>
        </p:txBody>
      </p:sp>
      <p:sp>
        <p:nvSpPr>
          <p:cNvPr id="41" name="TextBox 40"/>
          <p:cNvSpPr txBox="1"/>
          <p:nvPr/>
        </p:nvSpPr>
        <p:spPr>
          <a:xfrm>
            <a:off x="448056" y="5175504"/>
            <a:ext cx="4846320" cy="201168"/>
          </a:xfrm>
          <a:prstGeom prst="rect">
            <a:avLst/>
          </a:prstGeom>
          <a:noFill/>
        </p:spPr>
        <p:txBody>
          <a:bodyPr wrap="square" lIns="0" rIns="0" tIns="0" bIns="0" anchor="t">
            <a:spAutoFit/>
          </a:bodyPr>
          <a:lstStyle/>
          <a:p>
            <a:pPr algn="l">
              <a:spcAft>
                <a:spcPts val="0"/>
              </a:spcAft>
            </a:pPr>
            <a:r>
              <a:rPr sz="1100" b="1">
                <a:solidFill>
                  <a:srgbClr val="0B3041"/>
                </a:solidFill>
                <a:latin typeface="游ゴシック"/>
                <a:ea typeface="游ゴシック"/>
                <a:cs typeface="游ゴシック"/>
              </a:rPr>
              <a:t>■ インカムアプローチ（DCF法・収益還元法）</a:t>
            </a:r>
          </a:p>
        </p:txBody>
      </p:sp>
      <p:sp>
        <p:nvSpPr>
          <p:cNvPr id="42" name="Rectangle 41"/>
          <p:cNvSpPr/>
          <p:nvPr/>
        </p:nvSpPr>
        <p:spPr>
          <a:xfrm>
            <a:off x="448056" y="5413248"/>
            <a:ext cx="4846320" cy="402336"/>
          </a:xfrm>
          <a:prstGeom prst="rect">
            <a:avLst/>
          </a:prstGeom>
          <a:solidFill>
            <a:srgbClr val="F2F4F5"/>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48056" y="5413248"/>
            <a:ext cx="4846320" cy="402336"/>
          </a:xfrm>
          <a:prstGeom prst="rect">
            <a:avLst/>
          </a:prstGeom>
          <a:noFill/>
        </p:spPr>
        <p:txBody>
          <a:bodyPr wrap="square" lIns="0" rIns="0" tIns="0" bIns="0" anchor="ctr">
            <a:spAutoFit/>
          </a:bodyPr>
          <a:lstStyle/>
          <a:p>
            <a:pPr algn="ctr">
              <a:spcAft>
                <a:spcPts val="0"/>
              </a:spcAft>
            </a:pPr>
            <a:r>
              <a:rPr sz="1200" b="1">
                <a:solidFill>
                  <a:srgbClr val="5A6670"/>
                </a:solidFill>
                <a:latin typeface="游ゴシック"/>
                <a:ea typeface="游ゴシック"/>
                <a:cs typeface="游ゴシック"/>
              </a:rPr>
              <a:t>※※※※※　不採用　※※※※※</a:t>
            </a:r>
          </a:p>
        </p:txBody>
      </p:sp>
      <p:sp>
        <p:nvSpPr>
          <p:cNvPr id="44" name="Rectangle 43"/>
          <p:cNvSpPr/>
          <p:nvPr/>
        </p:nvSpPr>
        <p:spPr>
          <a:xfrm>
            <a:off x="5577840" y="3657600"/>
            <a:ext cx="4663440" cy="2359152"/>
          </a:xfrm>
          <a:prstGeom prst="rect">
            <a:avLst/>
          </a:prstGeom>
          <a:solidFill>
            <a:srgbClr val="FBFCFD"/>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577840" y="3474720"/>
            <a:ext cx="4663440" cy="164592"/>
          </a:xfrm>
          <a:prstGeom prst="rect">
            <a:avLst/>
          </a:prstGeom>
          <a:noFill/>
        </p:spPr>
        <p:txBody>
          <a:bodyPr wrap="square" lIns="0" rIns="0" tIns="0" bIns="0" anchor="t">
            <a:spAutoFit/>
          </a:bodyPr>
          <a:lstStyle/>
          <a:p>
            <a:pPr algn="r">
              <a:spcAft>
                <a:spcPts val="0"/>
              </a:spcAft>
            </a:pPr>
            <a:r>
              <a:rPr sz="750" b="0">
                <a:solidFill>
                  <a:srgbClr val="5A6670"/>
                </a:solidFill>
                <a:latin typeface="游ゴシック"/>
                <a:ea typeface="游ゴシック"/>
                <a:cs typeface="游ゴシック"/>
              </a:rPr>
              <a:t>（単位：千円）</a:t>
            </a:r>
          </a:p>
        </p:txBody>
      </p:sp>
      <p:sp>
        <p:nvSpPr>
          <p:cNvPr id="46" name="Rectangle 45"/>
          <p:cNvSpPr/>
          <p:nvPr/>
        </p:nvSpPr>
        <p:spPr>
          <a:xfrm>
            <a:off x="8139698" y="3913632"/>
            <a:ext cx="14630" cy="1719072"/>
          </a:xfrm>
          <a:prstGeom prst="rect">
            <a:avLst/>
          </a:prstGeom>
          <a:solidFill>
            <a:srgbClr val="9FAE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5687568" y="4126992"/>
            <a:ext cx="1389888" cy="256032"/>
          </a:xfrm>
          <a:prstGeom prst="rect">
            <a:avLst/>
          </a:prstGeom>
          <a:noFill/>
        </p:spPr>
        <p:txBody>
          <a:bodyPr wrap="square" lIns="0" rIns="0" tIns="0" bIns="0" anchor="ctr">
            <a:spAutoFit/>
          </a:bodyPr>
          <a:lstStyle/>
          <a:p>
            <a:pPr algn="l">
              <a:spcAft>
                <a:spcPts val="0"/>
              </a:spcAft>
            </a:pPr>
            <a:r>
              <a:rPr sz="850" b="0">
                <a:solidFill>
                  <a:srgbClr val="1A1A1A"/>
                </a:solidFill>
                <a:latin typeface="游ゴシック"/>
                <a:ea typeface="游ゴシック"/>
                <a:cs typeface="游ゴシック"/>
              </a:rPr>
              <a:t>コスト</a:t>
            </a:r>
          </a:p>
          <a:p>
            <a:pPr algn="l">
              <a:spcAft>
                <a:spcPts val="0"/>
              </a:spcAft>
            </a:pPr>
            <a:r>
              <a:rPr sz="850" b="0">
                <a:solidFill>
                  <a:srgbClr val="1A1A1A"/>
                </a:solidFill>
                <a:latin typeface="游ゴシック"/>
                <a:ea typeface="游ゴシック"/>
                <a:cs typeface="游ゴシック"/>
              </a:rPr>
              <a:t>（年買法）</a:t>
            </a:r>
          </a:p>
        </p:txBody>
      </p:sp>
      <p:sp>
        <p:nvSpPr>
          <p:cNvPr id="48" name="Rectangle 47"/>
          <p:cNvSpPr/>
          <p:nvPr/>
        </p:nvSpPr>
        <p:spPr>
          <a:xfrm>
            <a:off x="9519024" y="4108704"/>
            <a:ext cx="91122" cy="29260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604624" y="4145280"/>
            <a:ext cx="877824" cy="219456"/>
          </a:xfrm>
          <a:prstGeom prst="rect">
            <a:avLst/>
          </a:prstGeom>
          <a:noFill/>
        </p:spPr>
        <p:txBody>
          <a:bodyPr wrap="square" lIns="0" rIns="0" tIns="0" bIns="0" anchor="ctr">
            <a:spAutoFit/>
          </a:bodyPr>
          <a:lstStyle/>
          <a:p>
            <a:pPr algn="r">
              <a:spcAft>
                <a:spcPts val="0"/>
              </a:spcAft>
            </a:pPr>
            <a:r>
              <a:rPr sz="800" b="0">
                <a:solidFill>
                  <a:srgbClr val="0B3041"/>
                </a:solidFill>
                <a:latin typeface="Arial"/>
                <a:ea typeface="Arial"/>
                <a:cs typeface="Arial"/>
              </a:rPr>
              <a:t>24,392</a:t>
            </a:r>
          </a:p>
        </p:txBody>
      </p:sp>
      <p:sp>
        <p:nvSpPr>
          <p:cNvPr id="50" name="TextBox 49"/>
          <p:cNvSpPr txBox="1"/>
          <p:nvPr/>
        </p:nvSpPr>
        <p:spPr>
          <a:xfrm>
            <a:off x="9665011" y="4145280"/>
            <a:ext cx="914400" cy="219456"/>
          </a:xfrm>
          <a:prstGeom prst="rect">
            <a:avLst/>
          </a:prstGeom>
          <a:noFill/>
        </p:spPr>
        <p:txBody>
          <a:bodyPr wrap="square" lIns="0" rIns="0" tIns="0" bIns="0" anchor="ctr">
            <a:spAutoFit/>
          </a:bodyPr>
          <a:lstStyle/>
          <a:p>
            <a:pPr algn="l">
              <a:spcAft>
                <a:spcPts val="0"/>
              </a:spcAft>
            </a:pPr>
            <a:r>
              <a:rPr sz="800" b="0">
                <a:solidFill>
                  <a:srgbClr val="0B3041"/>
                </a:solidFill>
                <a:latin typeface="Arial"/>
                <a:ea typeface="Arial"/>
                <a:cs typeface="Arial"/>
              </a:rPr>
              <a:t>26,012</a:t>
            </a:r>
          </a:p>
        </p:txBody>
      </p:sp>
      <p:sp>
        <p:nvSpPr>
          <p:cNvPr id="51" name="TextBox 50"/>
          <p:cNvSpPr txBox="1"/>
          <p:nvPr/>
        </p:nvSpPr>
        <p:spPr>
          <a:xfrm>
            <a:off x="5687568" y="4700016"/>
            <a:ext cx="1389888" cy="256032"/>
          </a:xfrm>
          <a:prstGeom prst="rect">
            <a:avLst/>
          </a:prstGeom>
          <a:noFill/>
        </p:spPr>
        <p:txBody>
          <a:bodyPr wrap="square" lIns="0" rIns="0" tIns="0" bIns="0" anchor="ctr">
            <a:spAutoFit/>
          </a:bodyPr>
          <a:lstStyle/>
          <a:p>
            <a:pPr algn="l">
              <a:spcAft>
                <a:spcPts val="0"/>
              </a:spcAft>
            </a:pPr>
            <a:r>
              <a:rPr sz="850" b="0">
                <a:solidFill>
                  <a:srgbClr val="1A1A1A"/>
                </a:solidFill>
                <a:latin typeface="游ゴシック"/>
                <a:ea typeface="游ゴシック"/>
                <a:cs typeface="游ゴシック"/>
              </a:rPr>
              <a:t>マーケット</a:t>
            </a:r>
          </a:p>
          <a:p>
            <a:pPr algn="l">
              <a:spcAft>
                <a:spcPts val="0"/>
              </a:spcAft>
            </a:pPr>
            <a:r>
              <a:rPr sz="850" b="0">
                <a:solidFill>
                  <a:srgbClr val="1A1A1A"/>
                </a:solidFill>
                <a:latin typeface="游ゴシック"/>
                <a:ea typeface="游ゴシック"/>
                <a:cs typeface="游ゴシック"/>
              </a:rPr>
              <a:t>【主】</a:t>
            </a:r>
          </a:p>
        </p:txBody>
      </p:sp>
      <p:sp>
        <p:nvSpPr>
          <p:cNvPr id="52" name="Rectangle 51"/>
          <p:cNvSpPr/>
          <p:nvPr/>
        </p:nvSpPr>
        <p:spPr>
          <a:xfrm>
            <a:off x="7327812" y="4681728"/>
            <a:ext cx="601857" cy="29260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6413412" y="4718304"/>
            <a:ext cx="877824" cy="219456"/>
          </a:xfrm>
          <a:prstGeom prst="rect">
            <a:avLst/>
          </a:prstGeom>
          <a:noFill/>
        </p:spPr>
        <p:txBody>
          <a:bodyPr wrap="square" lIns="0" rIns="0" tIns="0" bIns="0" anchor="ctr">
            <a:spAutoFit/>
          </a:bodyPr>
          <a:lstStyle/>
          <a:p>
            <a:pPr algn="r">
              <a:spcAft>
                <a:spcPts val="0"/>
              </a:spcAft>
            </a:pPr>
            <a:r>
              <a:rPr sz="800" b="0">
                <a:solidFill>
                  <a:srgbClr val="0B3041"/>
                </a:solidFill>
                <a:latin typeface="Arial"/>
                <a:ea typeface="Arial"/>
                <a:cs typeface="Arial"/>
              </a:rPr>
              <a:t>△14,564</a:t>
            </a:r>
          </a:p>
        </p:txBody>
      </p:sp>
      <p:sp>
        <p:nvSpPr>
          <p:cNvPr id="54" name="TextBox 53"/>
          <p:cNvSpPr txBox="1"/>
          <p:nvPr/>
        </p:nvSpPr>
        <p:spPr>
          <a:xfrm>
            <a:off x="7984534" y="4718304"/>
            <a:ext cx="914400" cy="219456"/>
          </a:xfrm>
          <a:prstGeom prst="rect">
            <a:avLst/>
          </a:prstGeom>
          <a:noFill/>
        </p:spPr>
        <p:txBody>
          <a:bodyPr wrap="square" lIns="0" rIns="0" tIns="0" bIns="0" anchor="ctr">
            <a:spAutoFit/>
          </a:bodyPr>
          <a:lstStyle/>
          <a:p>
            <a:pPr algn="l">
              <a:spcAft>
                <a:spcPts val="0"/>
              </a:spcAft>
            </a:pPr>
            <a:r>
              <a:rPr sz="800" b="0">
                <a:solidFill>
                  <a:srgbClr val="0B3041"/>
                </a:solidFill>
                <a:latin typeface="Arial"/>
                <a:ea typeface="Arial"/>
                <a:cs typeface="Arial"/>
              </a:rPr>
              <a:t>△3,864</a:t>
            </a:r>
          </a:p>
        </p:txBody>
      </p:sp>
      <p:sp>
        <p:nvSpPr>
          <p:cNvPr id="55" name="TextBox 54"/>
          <p:cNvSpPr txBox="1"/>
          <p:nvPr/>
        </p:nvSpPr>
        <p:spPr>
          <a:xfrm>
            <a:off x="5687568" y="5273040"/>
            <a:ext cx="1389888" cy="256032"/>
          </a:xfrm>
          <a:prstGeom prst="rect">
            <a:avLst/>
          </a:prstGeom>
          <a:noFill/>
        </p:spPr>
        <p:txBody>
          <a:bodyPr wrap="square" lIns="0" rIns="0" tIns="0" bIns="0" anchor="ctr">
            <a:spAutoFit/>
          </a:bodyPr>
          <a:lstStyle/>
          <a:p>
            <a:pPr algn="l">
              <a:spcAft>
                <a:spcPts val="0"/>
              </a:spcAft>
            </a:pPr>
            <a:r>
              <a:rPr sz="850" b="0">
                <a:solidFill>
                  <a:srgbClr val="1A1A1A"/>
                </a:solidFill>
                <a:latin typeface="游ゴシック"/>
                <a:ea typeface="游ゴシック"/>
                <a:cs typeface="游ゴシック"/>
              </a:rPr>
              <a:t>マーケット</a:t>
            </a:r>
          </a:p>
          <a:p>
            <a:pPr algn="l">
              <a:spcAft>
                <a:spcPts val="0"/>
              </a:spcAft>
            </a:pPr>
            <a:r>
              <a:rPr sz="850" b="0">
                <a:solidFill>
                  <a:srgbClr val="1A1A1A"/>
                </a:solidFill>
                <a:latin typeface="游ゴシック"/>
                <a:ea typeface="游ゴシック"/>
                <a:cs typeface="游ゴシック"/>
              </a:rPr>
              <a:t>【参考】</a:t>
            </a:r>
          </a:p>
        </p:txBody>
      </p:sp>
      <p:sp>
        <p:nvSpPr>
          <p:cNvPr id="56" name="Rectangle 55"/>
          <p:cNvSpPr/>
          <p:nvPr/>
        </p:nvSpPr>
        <p:spPr>
          <a:xfrm>
            <a:off x="9169609" y="5254752"/>
            <a:ext cx="601857" cy="29260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8255209" y="5291328"/>
            <a:ext cx="877824" cy="219456"/>
          </a:xfrm>
          <a:prstGeom prst="rect">
            <a:avLst/>
          </a:prstGeom>
          <a:noFill/>
        </p:spPr>
        <p:txBody>
          <a:bodyPr wrap="square" lIns="0" rIns="0" tIns="0" bIns="0" anchor="ctr">
            <a:spAutoFit/>
          </a:bodyPr>
          <a:lstStyle/>
          <a:p>
            <a:pPr algn="r">
              <a:spcAft>
                <a:spcPts val="0"/>
              </a:spcAft>
            </a:pPr>
            <a:r>
              <a:rPr sz="800" b="0">
                <a:solidFill>
                  <a:srgbClr val="0B3041"/>
                </a:solidFill>
                <a:latin typeface="Arial"/>
                <a:ea typeface="Arial"/>
                <a:cs typeface="Arial"/>
              </a:rPr>
              <a:t>18,180</a:t>
            </a:r>
          </a:p>
        </p:txBody>
      </p:sp>
      <p:sp>
        <p:nvSpPr>
          <p:cNvPr id="58" name="TextBox 57"/>
          <p:cNvSpPr txBox="1"/>
          <p:nvPr/>
        </p:nvSpPr>
        <p:spPr>
          <a:xfrm>
            <a:off x="9826331" y="5291328"/>
            <a:ext cx="914400" cy="219456"/>
          </a:xfrm>
          <a:prstGeom prst="rect">
            <a:avLst/>
          </a:prstGeom>
          <a:noFill/>
        </p:spPr>
        <p:txBody>
          <a:bodyPr wrap="square" lIns="0" rIns="0" tIns="0" bIns="0" anchor="ctr">
            <a:spAutoFit/>
          </a:bodyPr>
          <a:lstStyle/>
          <a:p>
            <a:pPr algn="l">
              <a:spcAft>
                <a:spcPts val="0"/>
              </a:spcAft>
            </a:pPr>
            <a:r>
              <a:rPr sz="800" b="0">
                <a:solidFill>
                  <a:srgbClr val="0B3041"/>
                </a:solidFill>
                <a:latin typeface="Arial"/>
                <a:ea typeface="Arial"/>
                <a:cs typeface="Arial"/>
              </a:rPr>
              <a:t>28,880</a:t>
            </a:r>
          </a:p>
        </p:txBody>
      </p:sp>
      <p:sp>
        <p:nvSpPr>
          <p:cNvPr id="59" name="Rectangle 58"/>
          <p:cNvSpPr/>
          <p:nvPr/>
        </p:nvSpPr>
        <p:spPr>
          <a:xfrm>
            <a:off x="7132320" y="5742432"/>
            <a:ext cx="2834639" cy="10972"/>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448056" y="6199632"/>
            <a:ext cx="9793224" cy="694944"/>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448056" y="6199632"/>
            <a:ext cx="1435608" cy="69494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448056" y="6428232"/>
            <a:ext cx="1435608" cy="237744"/>
          </a:xfrm>
          <a:prstGeom prst="rect">
            <a:avLst/>
          </a:prstGeom>
          <a:noFill/>
        </p:spPr>
        <p:txBody>
          <a:bodyPr wrap="square" lIns="0" rIns="0" t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63" name="TextBox 62"/>
          <p:cNvSpPr txBox="1"/>
          <p:nvPr/>
        </p:nvSpPr>
        <p:spPr>
          <a:xfrm>
            <a:off x="2048256" y="6291072"/>
            <a:ext cx="8065008" cy="512064"/>
          </a:xfrm>
          <a:prstGeom prst="rect">
            <a:avLst/>
          </a:prstGeom>
          <a:noFill/>
        </p:spPr>
        <p:txBody>
          <a:bodyPr wrap="square" lIns="0" rIns="0" tIns="0" bIns="0" anchor="ctr">
            <a:spAutoFit/>
          </a:bodyPr>
          <a:lstStyle/>
          <a:p>
            <a:pPr algn="l">
              <a:lnSpc>
                <a:spcPct val="122000"/>
              </a:lnSpc>
              <a:spcAft>
                <a:spcPts val="200"/>
              </a:spcAft>
            </a:pPr>
            <a:r>
              <a:rPr sz="1050" b="0">
                <a:solidFill>
                  <a:srgbClr val="1A1A1A"/>
                </a:solidFill>
                <a:latin typeface="游ゴシック"/>
                <a:ea typeface="游ゴシック"/>
                <a:cs typeface="游ゴシック"/>
              </a:rPr>
              <a:t>コストアプローチとマーケットアプローチが大きく乖離している。基準EBITDA7,643千円に対し役員借入金32,744千円が重く、収益力ベースでは株式価値が残らない構造であることを示している。</a:t>
            </a:r>
          </a:p>
          <a:p>
            <a:pPr algn="l">
              <a:lnSpc>
                <a:spcPct val="122000"/>
              </a:lnSpc>
              <a:spcAft>
                <a:spcPts val="200"/>
              </a:spcAft>
            </a:pPr>
            <a:r>
              <a:rPr sz="1050" b="0">
                <a:solidFill>
                  <a:srgbClr val="1A1A1A"/>
                </a:solidFill>
                <a:latin typeface="游ゴシック"/>
                <a:ea typeface="游ゴシック"/>
                <a:cs typeface="游ゴシック"/>
              </a:rPr>
              <a:t>本件の株式価値は収益力ではなく資産性（店舗・土地・ブランド）に依拠しており、コストアプローチが実態をよく表している。</a:t>
            </a:r>
          </a:p>
        </p:txBody>
      </p:sp>
      <p:sp>
        <p:nvSpPr>
          <p:cNvPr id="64" name="TextBox 63"/>
          <p:cNvSpPr txBox="1"/>
          <p:nvPr/>
        </p:nvSpPr>
        <p:spPr>
          <a:xfrm>
            <a:off x="310896" y="6967728"/>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単位：千円。マーケットアプローチ【参考】は、役員借入金が債務免除または譲渡対価との相殺により整理される前提（P.22参照）。</a:t>
            </a:r>
          </a:p>
        </p:txBody>
      </p:sp>
    </p:spTree>
    <p:extLst>
      <p:ext uri="{BB962C8B-B14F-4D97-AF65-F5344CB8AC3E}">
        <p14:creationId xmlns:p14="http://schemas.microsoft.com/office/powerpoint/2010/main" val="3808153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5E39C6D-60F0-86EE-EFCF-872D0FE99B9E}"/>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solidFill/>
              </a:rPr>
              <a:t>Financial Analysis ／</a:t>
            </a:r>
            <a:br>
              <a:rPr lang="en-US" altLang="ja-JP" dirty="0"/>
            </a:br>
            <a:r>
              <a:rPr lang="ja-JP" altLang="en-US" dirty="0">
                <a:solidFill/>
              </a:rPr>
              <a:t>財務情報の分析（</a:t>
            </a:r>
            <a:r>
              <a:rPr lang="en-US" altLang="ja-JP" dirty="0">
                <a:solidFill/>
              </a:rPr>
              <a:t>B/S</a:t>
            </a:r>
            <a:r>
              <a:rPr lang="ja-JP" altLang="en-US" dirty="0">
                <a:solidFill/>
              </a:rPr>
              <a:t>）</a:t>
            </a:r>
          </a:p>
        </p:txBody>
      </p:sp>
      <p:grpSp>
        <p:nvGrpSpPr>
          <p:cNvPr id="2" name="グループ化 1">
            <a:extLst>
              <a:ext uri="{FF2B5EF4-FFF2-40B4-BE49-F238E27FC236}">
                <a16:creationId xmlns:a16="http://schemas.microsoft.com/office/drawing/2014/main" id="{15306978-470E-B0F6-C5FF-B26948AD9EB2}"/>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2A97B43C-A376-B0B0-4142-E5A9575AD60D}"/>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F5C91817-B1D9-7B38-6106-AA27E6695ACD}"/>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16583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5F3DF0AA-58C6-917B-B152-E777B0E55835}"/>
              </a:ext>
            </a:extLst>
          </p:cNvPr>
          <p:cNvSpPr>
            <a:spLocks noGrp="1"/>
          </p:cNvSpPr>
          <p:nvPr>
            <p:ph type="ctrTitle"/>
          </p:nvPr>
        </p:nvSpPr>
        <p:spPr/>
        <p:txBody>
          <a:bodyPr/>
          <a:lstStyle/>
          <a:p>
            <a:r>
              <a:rPr>
                <a:latin typeface="游ゴシック"/>
                <a:ea typeface="游ゴシック"/>
                <a:cs typeface="游ゴシック"/>
              </a:rPr>
              <a:t>過去BSの推移</a:t>
            </a:r>
          </a:p>
        </p:txBody>
      </p:sp>
      <p:sp>
        <p:nvSpPr>
          <p:cNvPr id="8" name="タイトル 1">
            <a:extLst>
              <a:ext uri="{FF2B5EF4-FFF2-40B4-BE49-F238E27FC236}">
                <a16:creationId xmlns:a16="http://schemas.microsoft.com/office/drawing/2014/main" id="{DAFB17AF-B358-FD61-383D-82CB09BDE6D1}"/>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13" name="Table 12"/>
          <p:cNvGraphicFramePr>
            <a:graphicFrameLocks noGrp="1"/>
          </p:cNvGraphicFramePr>
          <p:nvPr/>
        </p:nvGraphicFramePr>
        <p:xfrm>
          <a:off x="338328" y="978408"/>
          <a:ext cx="5001765" cy="4338828"/>
        </p:xfrm>
        <a:graphic>
          <a:graphicData uri="http://schemas.openxmlformats.org/drawingml/2006/table">
            <a:tbl>
              <a:tblPr firstRow="0" bandRow="0">
                <a:tableStyleId>{5940675A-B579-460E-94D1-54222C63F5DA}</a:tableStyleId>
              </a:tblPr>
              <a:tblGrid>
                <a:gridCol w="1731381"/>
                <a:gridCol w="1090128"/>
                <a:gridCol w="1090128"/>
                <a:gridCol w="1090128"/>
              </a:tblGrid>
              <a:tr h="201168">
                <a:tc>
                  <a:txBody>
                    <a:bodyPr wrap="square"/>
                    <a:lstStyle/>
                    <a:p>
                      <a:pPr algn="ctr">
                        <a:spcAft>
                          <a:spcPts val="0"/>
                        </a:spcAft>
                      </a:pPr>
                      <a:r>
                        <a:rPr sz="760" b="1">
                          <a:solidFill>
                            <a:srgbClr val="FFFFFF"/>
                          </a:solidFill>
                          <a:latin typeface="游ゴシック"/>
                          <a:ea typeface="游ゴシック"/>
                          <a:cs typeface="游ゴシック"/>
                        </a:rPr>
                        <a:t>資産の部</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1168">
                <a:tc>
                  <a:txBody>
                    <a:bodyPr wrap="square"/>
                    <a:lstStyle/>
                    <a:p>
                      <a:pPr algn="ctr">
                        <a:spcAft>
                          <a:spcPts val="0"/>
                        </a:spcAft>
                      </a:pPr>
                      <a:r>
                        <a:rPr sz="760"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1">
                          <a:solidFill>
                            <a:srgbClr val="1A1A1A"/>
                          </a:solidFill>
                          <a:latin typeface="游ゴシック"/>
                          <a:ea typeface="游ゴシック"/>
                          <a:cs typeface="游ゴシック"/>
                        </a:rPr>
                        <a:t>【流動資産】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7,856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6,901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6,989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現金及び預金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2,107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1,064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1,066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棚卸資産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3,518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3,024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2,354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前払費用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未収入金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2,152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2,737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未収還付法人税等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6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1">
                          <a:solidFill>
                            <a:srgbClr val="1A1A1A"/>
                          </a:solidFill>
                          <a:latin typeface="游ゴシック"/>
                          <a:ea typeface="游ゴシック"/>
                          <a:cs typeface="游ゴシック"/>
                        </a:rPr>
                        <a:t>【固定資産】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61,457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57,353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50,341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1">
                          <a:solidFill>
                            <a:srgbClr val="1A1A1A"/>
                          </a:solidFill>
                          <a:latin typeface="游ゴシック"/>
                          <a:ea typeface="游ゴシック"/>
                          <a:cs typeface="游ゴシック"/>
                        </a:rPr>
                        <a:t>［有形固定資産］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61,382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56,178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49,166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建物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51,246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45,201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39,249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構築物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59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機械及び装置</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3,456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4,409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4,219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車両運搬具</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258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工具、器具及び備品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1,838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2,266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1,677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土地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リース資産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1,056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528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1">
                          <a:solidFill>
                            <a:srgbClr val="1A1A1A"/>
                          </a:solidFill>
                          <a:latin typeface="游ゴシック"/>
                          <a:ea typeface="游ゴシック"/>
                          <a:cs typeface="游ゴシック"/>
                        </a:rPr>
                        <a:t>［無形固定資産］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ソフトウェア</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6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電話加入権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1">
                          <a:solidFill>
                            <a:srgbClr val="1A1A1A"/>
                          </a:solidFill>
                          <a:latin typeface="游ゴシック"/>
                          <a:ea typeface="游ゴシック"/>
                          <a:cs typeface="游ゴシック"/>
                        </a:rPr>
                        <a:t>［投資その他の資産］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0">
                          <a:solidFill>
                            <a:srgbClr val="1A1A1A"/>
                          </a:solidFill>
                          <a:latin typeface="游ゴシック"/>
                          <a:ea typeface="游ゴシック"/>
                          <a:cs typeface="游ゴシック"/>
                        </a:rPr>
                        <a:t>出資金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6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60" b="1">
                          <a:solidFill>
                            <a:srgbClr val="1A1A1A"/>
                          </a:solidFill>
                          <a:latin typeface="游ゴシック"/>
                          <a:ea typeface="游ゴシック"/>
                          <a:cs typeface="游ゴシック"/>
                        </a:rPr>
                        <a:t>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69,313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64,254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57,330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graphicFrame>
        <p:nvGraphicFramePr>
          <p:cNvPr id="14" name="Table 13"/>
          <p:cNvGraphicFramePr>
            <a:graphicFrameLocks noGrp="1"/>
          </p:cNvGraphicFramePr>
          <p:nvPr/>
        </p:nvGraphicFramePr>
        <p:xfrm>
          <a:off x="5349240" y="978408"/>
          <a:ext cx="5001765" cy="1842516"/>
        </p:xfrm>
        <a:graphic>
          <a:graphicData uri="http://schemas.openxmlformats.org/drawingml/2006/table">
            <a:tbl>
              <a:tblPr firstRow="0" bandRow="0">
                <a:tableStyleId>{5940675A-B579-460E-94D1-54222C63F5DA}</a:tableStyleId>
              </a:tblPr>
              <a:tblGrid>
                <a:gridCol w="1731381"/>
                <a:gridCol w="1090128"/>
                <a:gridCol w="1090128"/>
                <a:gridCol w="1090128"/>
              </a:tblGrid>
              <a:tr h="201168">
                <a:tc>
                  <a:txBody>
                    <a:bodyPr wrap="square"/>
                    <a:lstStyle/>
                    <a:p>
                      <a:pPr algn="ctr">
                        <a:spcAft>
                          <a:spcPts val="0"/>
                        </a:spcAft>
                      </a:pPr>
                      <a:r>
                        <a:rPr sz="760" b="1">
                          <a:solidFill>
                            <a:srgbClr val="FFFFFF"/>
                          </a:solidFill>
                          <a:latin typeface="游ゴシック"/>
                          <a:ea typeface="游ゴシック"/>
                          <a:cs typeface="游ゴシック"/>
                        </a:rPr>
                        <a:t>負債の部</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1168">
                <a:tc>
                  <a:txBody>
                    <a:bodyPr wrap="square"/>
                    <a:lstStyle/>
                    <a:p>
                      <a:pPr algn="ctr">
                        <a:spcAft>
                          <a:spcPts val="0"/>
                        </a:spcAft>
                      </a:pPr>
                      <a:r>
                        <a:rPr sz="760"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1">
                          <a:solidFill>
                            <a:srgbClr val="1A1A1A"/>
                          </a:solidFill>
                          <a:latin typeface="游ゴシック"/>
                          <a:ea typeface="游ゴシック"/>
                          <a:cs typeface="游ゴシック"/>
                        </a:rPr>
                        <a:t>【流動負債】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1,487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1,546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929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0">
                          <a:solidFill>
                            <a:srgbClr val="1A1A1A"/>
                          </a:solidFill>
                          <a:latin typeface="游ゴシック"/>
                          <a:ea typeface="游ゴシック"/>
                          <a:cs typeface="游ゴシック"/>
                        </a:rPr>
                        <a:t>未払金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1,078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814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550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0">
                          <a:solidFill>
                            <a:srgbClr val="1A1A1A"/>
                          </a:solidFill>
                          <a:latin typeface="游ゴシック"/>
                          <a:ea typeface="游ゴシック"/>
                          <a:cs typeface="游ゴシック"/>
                        </a:rPr>
                        <a:t>未払法人税等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412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0">
                          <a:solidFill>
                            <a:srgbClr val="1A1A1A"/>
                          </a:solidFill>
                          <a:latin typeface="游ゴシック"/>
                          <a:ea typeface="游ゴシック"/>
                          <a:cs typeface="游ゴシック"/>
                        </a:rPr>
                        <a:t>未払消費税等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1">
                          <a:solidFill>
                            <a:srgbClr val="1A1A1A"/>
                          </a:solidFill>
                          <a:latin typeface="游ゴシック"/>
                          <a:ea typeface="游ゴシック"/>
                          <a:cs typeface="游ゴシック"/>
                        </a:rPr>
                        <a:t>【固定負債】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45,195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38,997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0">
                          <a:solidFill>
                            <a:srgbClr val="1A1A1A"/>
                          </a:solidFill>
                          <a:latin typeface="游ゴシック"/>
                          <a:ea typeface="游ゴシック"/>
                          <a:cs typeface="游ゴシック"/>
                        </a:rPr>
                        <a:t>長期借入金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45,195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38,997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1">
                          <a:solidFill>
                            <a:srgbClr val="1A1A1A"/>
                          </a:solidFill>
                          <a:latin typeface="游ゴシック"/>
                          <a:ea typeface="游ゴシック"/>
                          <a:cs typeface="游ゴシック"/>
                        </a:rPr>
                        <a:t>負債合計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46,682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40,542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33,673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graphicFrame>
        <p:nvGraphicFramePr>
          <p:cNvPr id="15" name="Table 14"/>
          <p:cNvGraphicFramePr>
            <a:graphicFrameLocks noGrp="1"/>
          </p:cNvGraphicFramePr>
          <p:nvPr/>
        </p:nvGraphicFramePr>
        <p:xfrm>
          <a:off x="5349240" y="3291840"/>
          <a:ext cx="5001765" cy="1417320"/>
        </p:xfrm>
        <a:graphic>
          <a:graphicData uri="http://schemas.openxmlformats.org/drawingml/2006/table">
            <a:tbl>
              <a:tblPr firstRow="0" bandRow="0">
                <a:tableStyleId>{5940675A-B579-460E-94D1-54222C63F5DA}</a:tableStyleId>
              </a:tblPr>
              <a:tblGrid>
                <a:gridCol w="1731381"/>
                <a:gridCol w="1090128"/>
                <a:gridCol w="1090128"/>
                <a:gridCol w="1090128"/>
              </a:tblGrid>
              <a:tr h="182880">
                <a:tc>
                  <a:txBody>
                    <a:bodyPr wrap="square"/>
                    <a:lstStyle/>
                    <a:p>
                      <a:pPr algn="ctr">
                        <a:spcAft>
                          <a:spcPts val="0"/>
                        </a:spcAft>
                      </a:pPr>
                      <a:r>
                        <a:rPr sz="760" b="1">
                          <a:solidFill>
                            <a:srgbClr val="FFFFFF"/>
                          </a:solidFill>
                          <a:latin typeface="游ゴシック"/>
                          <a:ea typeface="游ゴシック"/>
                          <a:cs typeface="游ゴシック"/>
                        </a:rPr>
                        <a:t>純資産の部</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6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1">
                          <a:solidFill>
                            <a:srgbClr val="1A1A1A"/>
                          </a:solidFill>
                          <a:latin typeface="游ゴシック"/>
                          <a:ea typeface="游ゴシック"/>
                          <a:cs typeface="游ゴシック"/>
                        </a:rPr>
                        <a:t>【資本金】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0">
                          <a:solidFill>
                            <a:srgbClr val="1A1A1A"/>
                          </a:solidFill>
                          <a:latin typeface="游ゴシック"/>
                          <a:ea typeface="游ゴシック"/>
                          <a:cs typeface="游ゴシック"/>
                        </a:rPr>
                        <a:t>資本金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1">
                          <a:solidFill>
                            <a:srgbClr val="1A1A1A"/>
                          </a:solidFill>
                          <a:latin typeface="游ゴシック"/>
                          <a:ea typeface="游ゴシック"/>
                          <a:cs typeface="游ゴシック"/>
                        </a:rPr>
                        <a:t>【利益剰余金】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12,631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13,712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13,658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0">
                          <a:solidFill>
                            <a:srgbClr val="1A1A1A"/>
                          </a:solidFill>
                          <a:latin typeface="游ゴシック"/>
                          <a:ea typeface="游ゴシック"/>
                          <a:cs typeface="游ゴシック"/>
                        </a:rPr>
                        <a:t>繰越利益剰余金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12,631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13,712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0">
                          <a:solidFill>
                            <a:srgbClr val="1A1A1A"/>
                          </a:solidFill>
                          <a:latin typeface="Arial"/>
                          <a:ea typeface="Arial"/>
                          <a:cs typeface="Arial"/>
                        </a:rPr>
                        <a:t>13,658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1">
                          <a:solidFill>
                            <a:srgbClr val="1A1A1A"/>
                          </a:solidFill>
                          <a:latin typeface="游ゴシック"/>
                          <a:ea typeface="游ゴシック"/>
                          <a:cs typeface="游ゴシック"/>
                        </a:rPr>
                        <a:t>純資産合計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22,631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23,712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23,658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60" b="1">
                          <a:solidFill>
                            <a:srgbClr val="1A1A1A"/>
                          </a:solidFill>
                          <a:latin typeface="游ゴシック"/>
                          <a:ea typeface="游ゴシック"/>
                          <a:cs typeface="游ゴシック"/>
                        </a:rPr>
                        <a:t>負債・純資産合計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69,313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64,254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60" b="1">
                          <a:solidFill>
                            <a:srgbClr val="1A1A1A"/>
                          </a:solidFill>
                          <a:latin typeface="Arial"/>
                          <a:ea typeface="Arial"/>
                          <a:cs typeface="Arial"/>
                        </a:rPr>
                        <a:t>57,330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6" name="Rectangle 15"/>
          <p:cNvSpPr/>
          <p:nvPr/>
        </p:nvSpPr>
        <p:spPr>
          <a:xfrm>
            <a:off x="5349240" y="4846320"/>
            <a:ext cx="5001768" cy="91440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458968" y="5184648"/>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18" name="TextBox 17"/>
          <p:cNvSpPr txBox="1"/>
          <p:nvPr/>
        </p:nvSpPr>
        <p:spPr>
          <a:xfrm>
            <a:off x="6894576" y="4937759"/>
            <a:ext cx="3346703" cy="731520"/>
          </a:xfrm>
          <a:prstGeom prst="rect">
            <a:avLst/>
          </a:prstGeom>
          <a:noFill/>
        </p:spPr>
        <p:txBody>
          <a:bodyPr wrap="square" lIns="0" rIns="0" tIns="0" bIns="0" anchor="ctr">
            <a:spAutoFit/>
          </a:bodyPr>
          <a:lstStyle/>
          <a:p>
            <a:pPr algn="l">
              <a:lnSpc>
                <a:spcPct val="118000"/>
              </a:lnSpc>
              <a:spcAft>
                <a:spcPts val="200"/>
              </a:spcAft>
            </a:pPr>
            <a:r>
              <a:rPr sz="900" b="0">
                <a:solidFill>
                  <a:srgbClr val="1A1A1A"/>
                </a:solidFill>
                <a:latin typeface="游ゴシック"/>
                <a:ea typeface="游ゴシック"/>
                <a:cs typeface="游ゴシック"/>
              </a:rPr>
              <a:t>・総資産は減価償却の進行により69,313→64,254→57,330千円と毎期減少している。</a:t>
            </a:r>
          </a:p>
          <a:p>
            <a:pPr algn="l">
              <a:lnSpc>
                <a:spcPct val="118000"/>
              </a:lnSpc>
              <a:spcAft>
                <a:spcPts val="200"/>
              </a:spcAft>
            </a:pPr>
            <a:r>
              <a:rPr sz="900" b="0">
                <a:solidFill>
                  <a:srgbClr val="1A1A1A"/>
                </a:solidFill>
                <a:latin typeface="游ゴシック"/>
                <a:ea typeface="游ゴシック"/>
                <a:cs typeface="游ゴシック"/>
              </a:rPr>
              <a:t>・負債の大半は代表者・配偶者からの長期借入金であり、金融機関借入はない。</a:t>
            </a:r>
          </a:p>
          <a:p>
            <a:pPr algn="l">
              <a:lnSpc>
                <a:spcPct val="118000"/>
              </a:lnSpc>
              <a:spcAft>
                <a:spcPts val="200"/>
              </a:spcAft>
            </a:pPr>
            <a:r>
              <a:rPr sz="900" b="0">
                <a:solidFill>
                  <a:srgbClr val="1A1A1A"/>
                </a:solidFill>
                <a:latin typeface="游ゴシック"/>
                <a:ea typeface="游ゴシック"/>
                <a:cs typeface="游ゴシック"/>
              </a:rPr>
              <a:t>・純資産は22,631→23,712→23,658千円とほぼ横ばい。</a:t>
            </a:r>
          </a:p>
        </p:txBody>
      </p:sp>
      <p:sp>
        <p:nvSpPr>
          <p:cNvPr id="19" name="TextBox 18"/>
          <p:cNvSpPr txBox="1"/>
          <p:nvPr/>
        </p:nvSpPr>
        <p:spPr>
          <a:xfrm>
            <a:off x="310896" y="6803136"/>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決算書（2024年5月期〜2026年5月期）に基づく。千円未満の端数処理により合計が一致しない場合がある。</a:t>
            </a:r>
          </a:p>
        </p:txBody>
      </p:sp>
    </p:spTree>
    <p:extLst>
      <p:ext uri="{BB962C8B-B14F-4D97-AF65-F5344CB8AC3E}">
        <p14:creationId xmlns:p14="http://schemas.microsoft.com/office/powerpoint/2010/main" val="995234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a:latin typeface="游ゴシック"/>
                <a:ea typeface="游ゴシック"/>
                <a:cs typeface="游ゴシック"/>
              </a:rPr>
              <a:t>BS補足［資産］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7" name="Table 6"/>
          <p:cNvGraphicFramePr>
            <a:graphicFrameLocks noGrp="1"/>
          </p:cNvGraphicFramePr>
          <p:nvPr/>
        </p:nvGraphicFramePr>
        <p:xfrm>
          <a:off x="338328" y="1078992"/>
          <a:ext cx="9902952" cy="4992624"/>
        </p:xfrm>
        <a:graphic>
          <a:graphicData uri="http://schemas.openxmlformats.org/drawingml/2006/table">
            <a:tbl>
              <a:tblPr firstRow="0" bandRow="0">
                <a:tableStyleId>{5940675A-B579-460E-94D1-54222C63F5DA}</a:tableStyleId>
              </a:tblPr>
              <a:tblGrid>
                <a:gridCol w="1554480"/>
                <a:gridCol w="841248"/>
                <a:gridCol w="7507224"/>
              </a:tblGrid>
              <a:tr h="237744">
                <a:tc>
                  <a:txBody>
                    <a:bodyPr wrap="square"/>
                    <a:lstStyle/>
                    <a:p>
                      <a:pPr algn="ctr">
                        <a:spcAft>
                          <a:spcPts val="0"/>
                        </a:spcAft>
                      </a:pPr>
                      <a:r>
                        <a:rPr sz="840"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論点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現金及び預金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1,066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現金234千円＋筑波銀行普通預金832千円。事業運営に必要な水準を上回る残高は確認できない。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棚卸資産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原材料2,025千円は玄そば。当社は1年寝かせてから製粉する製法のため「古」は正常在庫。「古古」312千円の滞留性は要確認。商品329千円は「伊勢又預け分」。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前払費用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そば種苗費の前払分。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未収入金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塩町館2,624千円・小びと699千円の関係先向け債権。2,152→2,737→3,323千円と3期連続で増加しており回収懸念があるが、年齢表が未受領で個別評価ができない。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建物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39,249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取得価額104,599千円。償却限度額を毎期計上しており償却不足はない。うち塩町館関連5,442千円は当社の事業に未供用、かつ建物登記が未了。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機械及び装置</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4,219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石臼製粉機・キルン等。2026年5月期にSUS製小型キルン3,456千円を取得。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車両運搬具</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ローバー車・シトロエン2CVフォルゴネットの2台。いずれも償却済（簿価1円）。クラシックカーであり時価は簿価を上回る可能性があるが査定書が未受領。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土地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店舗敷地・駐車場。常陸太田市天下野町は路線価の設定がない地域と推察され、固定資産税評価額×倍率による評価が必要だが課税明細書が未受領。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電話加入権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換金価値がないためゼロ評価とする。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75488">
                <a:tc>
                  <a:txBody>
                    <a:bodyPr wrap="square"/>
                    <a:lstStyle/>
                    <a:p>
                      <a:pPr algn="l">
                        <a:spcAft>
                          <a:spcPts val="0"/>
                        </a:spcAft>
                      </a:pPr>
                      <a:r>
                        <a:rPr sz="840" b="0">
                          <a:solidFill>
                            <a:srgbClr val="1A1A1A"/>
                          </a:solidFill>
                          <a:latin typeface="游ゴシック"/>
                          <a:ea typeface="游ゴシック"/>
                          <a:cs typeface="游ゴシック"/>
                        </a:rPr>
                        <a:t>出資金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（株）慈久庵咸亨酒1,000千円・（株）慈久庵伊勢又100千円。両社の財務資料が未受領で純資産法による評価ができない。非事業用資産としてネットキャッシュに算入。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8" name="TextBox 7"/>
          <p:cNvSpPr txBox="1"/>
          <p:nvPr/>
        </p:nvSpPr>
        <p:spPr>
          <a:xfrm>
            <a:off x="310896" y="649224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単位：千円。2026年5月期（2026年5月31日）の決算書・勘定科目内訳明細書・固定資産減価償却内訳明細書に基づく。</a:t>
            </a:r>
          </a:p>
          <a:p>
            <a:pPr algn="l">
              <a:lnSpc>
                <a:spcPct val="112000"/>
              </a:lnSpc>
              <a:spcAft>
                <a:spcPts val="100"/>
              </a:spcAft>
            </a:pPr>
            <a:r>
              <a:rPr sz="750" b="0">
                <a:solidFill>
                  <a:srgbClr val="5A6670"/>
                </a:solidFill>
                <a:latin typeface="游ゴシック"/>
                <a:ea typeface="游ゴシック"/>
                <a:cs typeface="游ゴシック"/>
              </a:rPr>
              <a:t>※ 「要確認」と付記した事項は、本書作成時点で裏付資料の受領が完了していないものであり、DDにおける追加調整の余地を示す。</a:t>
            </a:r>
          </a:p>
        </p:txBody>
      </p:sp>
    </p:spTree>
    <p:extLst>
      <p:ext uri="{BB962C8B-B14F-4D97-AF65-F5344CB8AC3E}">
        <p14:creationId xmlns:p14="http://schemas.microsoft.com/office/powerpoint/2010/main" val="2721680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a:latin typeface="游ゴシック"/>
                <a:ea typeface="游ゴシック"/>
                <a:cs typeface="游ゴシック"/>
              </a:rPr>
              <a:t>修正BS［資産］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7" name="Table 6"/>
          <p:cNvGraphicFramePr>
            <a:graphicFrameLocks noGrp="1"/>
          </p:cNvGraphicFramePr>
          <p:nvPr/>
        </p:nvGraphicFramePr>
        <p:xfrm>
          <a:off x="338328" y="896112"/>
          <a:ext cx="5102352" cy="4924044"/>
        </p:xfrm>
        <a:graphic>
          <a:graphicData uri="http://schemas.openxmlformats.org/drawingml/2006/table">
            <a:tbl>
              <a:tblPr firstRow="0" bandRow="0">
                <a:tableStyleId>{5940675A-B579-460E-94D1-54222C63F5DA}</a:tableStyleId>
              </a:tblPr>
              <a:tblGrid>
                <a:gridCol w="1865376"/>
                <a:gridCol w="1078992"/>
                <a:gridCol w="1078992"/>
                <a:gridCol w="1078992"/>
              </a:tblGrid>
              <a:tr h="201168">
                <a:tc>
                  <a:txBody>
                    <a:bodyPr wrap="square"/>
                    <a:lstStyle/>
                    <a:p>
                      <a:pPr algn="ctr">
                        <a:spcAft>
                          <a:spcPts val="0"/>
                        </a:spcAft>
                      </a:pPr>
                      <a:r>
                        <a:rPr sz="78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1168">
                <a:tc>
                  <a:txBody>
                    <a:bodyPr wrap="square"/>
                    <a:lstStyle/>
                    <a:p>
                      <a:pPr algn="ctr">
                        <a:spcAft>
                          <a:spcPts val="0"/>
                        </a:spcAft>
                      </a:pPr>
                      <a:r>
                        <a:rPr sz="780" b="1">
                          <a:solidFill>
                            <a:srgbClr val="FFFFFF"/>
                          </a:solidFill>
                          <a:latin typeface="游ゴシック"/>
                          <a:ea typeface="游ゴシック"/>
                          <a:cs typeface="游ゴシック"/>
                        </a:rPr>
                        <a:t>資産の部</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1168">
                <a:tc>
                  <a:txBody>
                    <a:bodyPr wrap="square"/>
                    <a:lstStyle/>
                    <a:p>
                      <a:pPr algn="ctr">
                        <a:spcAft>
                          <a:spcPts val="0"/>
                        </a:spcAft>
                      </a:pPr>
                      <a:r>
                        <a:rPr sz="780"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修正額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修正後</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1">
                          <a:solidFill>
                            <a:srgbClr val="1A1A1A"/>
                          </a:solidFill>
                          <a:latin typeface="游ゴシック"/>
                          <a:ea typeface="游ゴシック"/>
                          <a:cs typeface="游ゴシック"/>
                        </a:rPr>
                        <a:t>【流動資産】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6,989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6,989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現金及び預金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1,066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1,066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棚卸資産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2,354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2,354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前払費用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未収入金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未収還付法人税等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1">
                          <a:solidFill>
                            <a:srgbClr val="1A1A1A"/>
                          </a:solidFill>
                          <a:latin typeface="游ゴシック"/>
                          <a:ea typeface="游ゴシック"/>
                          <a:cs typeface="游ゴシック"/>
                        </a:rPr>
                        <a:t>【固定資産】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50,341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50,266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1">
                          <a:solidFill>
                            <a:srgbClr val="1A1A1A"/>
                          </a:solidFill>
                          <a:latin typeface="游ゴシック"/>
                          <a:ea typeface="游ゴシック"/>
                          <a:cs typeface="游ゴシック"/>
                        </a:rPr>
                        <a:t>［有形固定資産］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49,166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49,166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建物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39,249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39,249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構築物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機械及び装置</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4,219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4,219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車両運搬具</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工具、器具及び備品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1,677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1,677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土地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リース資産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528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528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1">
                          <a:solidFill>
                            <a:srgbClr val="1A1A1A"/>
                          </a:solidFill>
                          <a:latin typeface="游ゴシック"/>
                          <a:ea typeface="游ゴシック"/>
                          <a:cs typeface="游ゴシック"/>
                        </a:rPr>
                        <a:t>［無形固定資産］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ソフトウェア</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電話加入権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1">
                          <a:solidFill>
                            <a:srgbClr val="1A1A1A"/>
                          </a:solidFill>
                          <a:latin typeface="游ゴシック"/>
                          <a:ea typeface="游ゴシック"/>
                          <a:cs typeface="游ゴシック"/>
                        </a:rPr>
                        <a:t>［投資その他の資産］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0">
                          <a:solidFill>
                            <a:srgbClr val="1A1A1A"/>
                          </a:solidFill>
                          <a:latin typeface="游ゴシック"/>
                          <a:ea typeface="游ゴシック"/>
                          <a:cs typeface="游ゴシック"/>
                        </a:rPr>
                        <a:t>出資金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5740">
                <a:tc>
                  <a:txBody>
                    <a:bodyPr wrap="square"/>
                    <a:lstStyle/>
                    <a:p>
                      <a:pPr algn="l">
                        <a:spcAft>
                          <a:spcPts val="0"/>
                        </a:spcAft>
                      </a:pPr>
                      <a:r>
                        <a:rPr sz="780" b="1">
                          <a:solidFill>
                            <a:srgbClr val="1A1A1A"/>
                          </a:solidFill>
                          <a:latin typeface="游ゴシック"/>
                          <a:ea typeface="游ゴシック"/>
                          <a:cs typeface="游ゴシック"/>
                        </a:rPr>
                        <a:t>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57,330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57,255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8" name="Rectangle 7"/>
          <p:cNvSpPr/>
          <p:nvPr/>
        </p:nvSpPr>
        <p:spPr>
          <a:xfrm>
            <a:off x="5925312" y="1078992"/>
            <a:ext cx="4315968" cy="576072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16752" y="1152144"/>
            <a:ext cx="4133087"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0" name="TextBox 9"/>
          <p:cNvSpPr txBox="1"/>
          <p:nvPr/>
        </p:nvSpPr>
        <p:spPr>
          <a:xfrm>
            <a:off x="6035040" y="1499616"/>
            <a:ext cx="4096511" cy="5248656"/>
          </a:xfrm>
          <a:prstGeom prst="rect">
            <a:avLst/>
          </a:prstGeom>
          <a:noFill/>
        </p:spPr>
        <p:txBody>
          <a:bodyPr wrap="square" lIns="0" rIns="0" tIns="0" bIns="0" anchor="t">
            <a:spAutoFit/>
          </a:bodyPr>
          <a:lstStyle/>
          <a:p>
            <a:pPr algn="l">
              <a:lnSpc>
                <a:spcPct val="122000"/>
              </a:lnSpc>
              <a:spcAft>
                <a:spcPts val="200"/>
              </a:spcAft>
            </a:pPr>
            <a:r>
              <a:rPr sz="950" b="1">
                <a:solidFill>
                  <a:srgbClr val="0889C9"/>
                </a:solidFill>
                <a:latin typeface="游ゴシック"/>
                <a:ea typeface="游ゴシック"/>
                <a:cs typeface="游ゴシック"/>
              </a:rPr>
              <a:t>貸倒引当金 </a:t>
            </a:r>
            <a:r>
              <a:rPr sz="950" b="0">
                <a:solidFill>
                  <a:srgbClr val="1A1A1A"/>
                </a:solidFill>
                <a:latin typeface="游ゴシック"/>
                <a:ea typeface="游ゴシック"/>
                <a:cs typeface="游ゴシック"/>
              </a:rPr>
              <a:t>：売掛債権については個別に回収可能性を判断しており、また経常的に貸倒れが発生している事実がないことから、貸倒引当金の計上は不要と判断した（当社は貸倒引当金を計上していない）。</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電話加入権 </a:t>
            </a:r>
            <a:r>
              <a:rPr sz="950" b="0">
                <a:solidFill>
                  <a:srgbClr val="1A1A1A"/>
                </a:solidFill>
                <a:latin typeface="游ゴシック"/>
                <a:ea typeface="游ゴシック"/>
                <a:cs typeface="游ゴシック"/>
              </a:rPr>
              <a:t>：換金価値がないものとして評価し、75千円を全額減額した。本件で認識した唯一の時価修正項目である。</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土地 </a:t>
            </a:r>
            <a:r>
              <a:rPr sz="950" b="0">
                <a:solidFill>
                  <a:srgbClr val="1A1A1A"/>
                </a:solidFill>
                <a:latin typeface="游ゴシック"/>
                <a:ea typeface="游ゴシック"/>
                <a:cs typeface="游ゴシック"/>
              </a:rPr>
              <a:t>：固定資産税課税明細書・登記簿・公図がいずれも未受領のため時価評価は未実施。簿価評価としている（要確認）。</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減価償却資産 </a:t>
            </a:r>
            <a:r>
              <a:rPr sz="950" b="0">
                <a:solidFill>
                  <a:srgbClr val="1A1A1A"/>
                </a:solidFill>
                <a:latin typeface="游ゴシック"/>
                <a:ea typeface="游ゴシック"/>
                <a:cs typeface="游ゴシック"/>
              </a:rPr>
              <a:t>：固定資産減価償却内訳明細書により当期償却額が償却限度額と一致していることを確認した。償却不足額はないため修正は行っていない。</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車両運搬具 </a:t>
            </a:r>
            <a:r>
              <a:rPr sz="950" b="0">
                <a:solidFill>
                  <a:srgbClr val="1A1A1A"/>
                </a:solidFill>
                <a:latin typeface="游ゴシック"/>
                <a:ea typeface="游ゴシック"/>
                <a:cs typeface="游ゴシック"/>
              </a:rPr>
              <a:t>：ローバー車・シトロエン2CVフォルゴネットの2台はいずれも償却済（簿価1円）。クラシックカーとして時価が簿価を上回る可能性があるが、査定書が未受領のため評価していない（要確認）。</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出資金 </a:t>
            </a:r>
            <a:r>
              <a:rPr sz="950" b="0">
                <a:solidFill>
                  <a:srgbClr val="1A1A1A"/>
                </a:solidFill>
                <a:latin typeface="游ゴシック"/>
                <a:ea typeface="游ゴシック"/>
                <a:cs typeface="游ゴシック"/>
              </a:rPr>
              <a:t>：関係会社2社への出資。両社の財務資料が未受領のため純資産法による評価ができず簿価評価とした。非事業用資産としてネットキャッシュに算入している。</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未収入金 </a:t>
            </a:r>
            <a:r>
              <a:rPr sz="950" b="0">
                <a:solidFill>
                  <a:srgbClr val="1A1A1A"/>
                </a:solidFill>
                <a:latin typeface="游ゴシック"/>
                <a:ea typeface="游ゴシック"/>
                <a:cs typeface="游ゴシック"/>
              </a:rPr>
              <a:t>：3期連続で増加しているが、年齢表・補助残高一覧が未受領のため個別評価ができず簿価評価とした。回収可能性はDDにおける重要な確認事項である。</a:t>
            </a:r>
          </a:p>
        </p:txBody>
      </p:sp>
      <p:sp>
        <p:nvSpPr>
          <p:cNvPr id="11" name="TextBox 10"/>
          <p:cNvSpPr txBox="1"/>
          <p:nvPr/>
        </p:nvSpPr>
        <p:spPr>
          <a:xfrm>
            <a:off x="310896" y="6912864"/>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評価基準日：2026年5月31日。修正額は電話加入権△75千円のみであり僅少なため、税効果（実効税率34％）は認識していない。</a:t>
            </a:r>
          </a:p>
        </p:txBody>
      </p:sp>
    </p:spTree>
    <p:extLst>
      <p:ext uri="{BB962C8B-B14F-4D97-AF65-F5344CB8AC3E}">
        <p14:creationId xmlns:p14="http://schemas.microsoft.com/office/powerpoint/2010/main" val="1717633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2C329-BBDE-997E-33BB-A9FD47BC642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012852EF-C89F-A030-08AF-F6FD92C8DC4C}"/>
              </a:ext>
            </a:extLst>
          </p:cNvPr>
          <p:cNvSpPr>
            <a:spLocks noGrp="1"/>
          </p:cNvSpPr>
          <p:nvPr>
            <p:ph type="ctrTitle"/>
          </p:nvPr>
        </p:nvSpPr>
        <p:spPr/>
        <p:txBody>
          <a:bodyPr/>
          <a:lstStyle/>
          <a:p>
            <a:r>
              <a:rPr>
                <a:latin typeface="游ゴシック"/>
                <a:ea typeface="游ゴシック"/>
                <a:cs typeface="游ゴシック"/>
              </a:rPr>
              <a:t>BS補足［負債・純資産］</a:t>
            </a:r>
          </a:p>
        </p:txBody>
      </p:sp>
      <p:sp>
        <p:nvSpPr>
          <p:cNvPr id="6" name="タイトル 1">
            <a:extLst>
              <a:ext uri="{FF2B5EF4-FFF2-40B4-BE49-F238E27FC236}">
                <a16:creationId xmlns:a16="http://schemas.microsoft.com/office/drawing/2014/main" id="{D054D60A-9874-6F6C-68B4-54AD036BE4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7" name="Table 6"/>
          <p:cNvGraphicFramePr>
            <a:graphicFrameLocks noGrp="1"/>
          </p:cNvGraphicFramePr>
          <p:nvPr/>
        </p:nvGraphicFramePr>
        <p:xfrm>
          <a:off x="338328" y="1078992"/>
          <a:ext cx="9902952" cy="4846320"/>
        </p:xfrm>
        <a:graphic>
          <a:graphicData uri="http://schemas.openxmlformats.org/drawingml/2006/table">
            <a:tbl>
              <a:tblPr firstRow="0" bandRow="0">
                <a:tableStyleId>{5940675A-B579-460E-94D1-54222C63F5DA}</a:tableStyleId>
              </a:tblPr>
              <a:tblGrid>
                <a:gridCol w="1554480"/>
                <a:gridCol w="841248"/>
                <a:gridCol w="7507224"/>
              </a:tblGrid>
              <a:tr h="237744">
                <a:tc>
                  <a:txBody>
                    <a:bodyPr wrap="square"/>
                    <a:lstStyle/>
                    <a:p>
                      <a:pPr algn="ctr">
                        <a:spcAft>
                          <a:spcPts val="0"/>
                        </a:spcAft>
                      </a:pPr>
                      <a:r>
                        <a:rPr sz="840"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論点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未払金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550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電子ブレーカーのリース料未払分（＠22千円）。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未払法人税等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適正に計上されているものとして帳簿価額により評価する。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未払消費税等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同上。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長期借入金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全額が代表者 小川宣夫氏（9,518千円）および配偶者 小川喜久子氏（23,226千円）からの借入。金融機関借入・連帯保証はなく、利息の支払もない。無利息であるため時価と簿価は実質的に一致する。本件実行時の取扱い（返済・相殺・債務免除）により株式価値が大きく変動する（P.22参照）。</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未払給与</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常時雇用の従業員が0名であり、賃金規程・給与締日の定めが確認できないため計上していない（要確認）。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賞与引当金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賞与の支給実績・規程が確認できないため計上していない（要確認）。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退職給付引当金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従業員0名、退職金規程・中小企業退職金共済への加入も確認できないため計上していない（要確認）。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役員退職慰労引当金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代表者・配偶者はいずれも無報酬であり、役員退職慰労金規程も未確認のため計上していない。役員退職慰労金を支給する場合、当該金額は株式価値から減算される（要確認）。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資産除去債務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自社所有物件であり原状回復義務は生じない。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8" name="TextBox 7"/>
          <p:cNvSpPr txBox="1"/>
          <p:nvPr/>
        </p:nvSpPr>
        <p:spPr>
          <a:xfrm>
            <a:off x="310896" y="667512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単位：千円。簿外債務（債務保証・係争・未払残業代等）の有無はDDにおいて確認を要する。</a:t>
            </a:r>
          </a:p>
        </p:txBody>
      </p:sp>
    </p:spTree>
    <p:extLst>
      <p:ext uri="{BB962C8B-B14F-4D97-AF65-F5344CB8AC3E}">
        <p14:creationId xmlns:p14="http://schemas.microsoft.com/office/powerpoint/2010/main" val="627659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01069-72DF-A6D5-2DC9-38122B5766A8}"/>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4B44719C-88E4-C2E8-E209-EEC4A9F272D2}"/>
              </a:ext>
            </a:extLst>
          </p:cNvPr>
          <p:cNvSpPr>
            <a:spLocks noGrp="1"/>
          </p:cNvSpPr>
          <p:nvPr>
            <p:ph type="ctrTitle"/>
          </p:nvPr>
        </p:nvSpPr>
        <p:spPr/>
        <p:txBody>
          <a:bodyPr/>
          <a:lstStyle/>
          <a:p>
            <a:r>
              <a:rPr>
                <a:latin typeface="游ゴシック"/>
                <a:ea typeface="游ゴシック"/>
                <a:cs typeface="游ゴシック"/>
              </a:rPr>
              <a:t>修正BS［負債・純資産］</a:t>
            </a:r>
          </a:p>
        </p:txBody>
      </p:sp>
      <p:sp>
        <p:nvSpPr>
          <p:cNvPr id="6" name="タイトル 1">
            <a:extLst>
              <a:ext uri="{FF2B5EF4-FFF2-40B4-BE49-F238E27FC236}">
                <a16:creationId xmlns:a16="http://schemas.microsoft.com/office/drawing/2014/main" id="{EED50456-622D-7517-0703-96034524068C}"/>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7" name="Table 6"/>
          <p:cNvGraphicFramePr>
            <a:graphicFrameLocks noGrp="1"/>
          </p:cNvGraphicFramePr>
          <p:nvPr/>
        </p:nvGraphicFramePr>
        <p:xfrm>
          <a:off x="338328" y="896112"/>
          <a:ext cx="5102352" cy="4443984"/>
        </p:xfrm>
        <a:graphic>
          <a:graphicData uri="http://schemas.openxmlformats.org/drawingml/2006/table">
            <a:tbl>
              <a:tblPr firstRow="0" bandRow="0">
                <a:tableStyleId>{5940675A-B579-460E-94D1-54222C63F5DA}</a:tableStyleId>
              </a:tblPr>
              <a:tblGrid>
                <a:gridCol w="1865376"/>
                <a:gridCol w="1078992"/>
                <a:gridCol w="1078992"/>
                <a:gridCol w="1078992"/>
              </a:tblGrid>
              <a:tr h="201168">
                <a:tc>
                  <a:txBody>
                    <a:bodyPr wrap="square"/>
                    <a:lstStyle/>
                    <a:p>
                      <a:pPr algn="ctr">
                        <a:spcAft>
                          <a:spcPts val="0"/>
                        </a:spcAft>
                      </a:pPr>
                      <a:r>
                        <a:rPr sz="78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1168">
                <a:tc>
                  <a:txBody>
                    <a:bodyPr wrap="square"/>
                    <a:lstStyle/>
                    <a:p>
                      <a:pPr algn="ctr">
                        <a:spcAft>
                          <a:spcPts val="0"/>
                        </a:spcAft>
                      </a:pPr>
                      <a:r>
                        <a:rPr sz="780" b="1">
                          <a:solidFill>
                            <a:srgbClr val="FFFFFF"/>
                          </a:solidFill>
                          <a:latin typeface="游ゴシック"/>
                          <a:ea typeface="游ゴシック"/>
                          <a:cs typeface="游ゴシック"/>
                        </a:rPr>
                        <a:t>負債・純資産の部</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1168">
                <a:tc>
                  <a:txBody>
                    <a:bodyPr wrap="square"/>
                    <a:lstStyle/>
                    <a:p>
                      <a:pPr algn="ctr">
                        <a:spcAft>
                          <a:spcPts val="0"/>
                        </a:spcAft>
                      </a:pPr>
                      <a:r>
                        <a:rPr sz="780"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修正額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修正後</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1">
                          <a:solidFill>
                            <a:srgbClr val="1A1A1A"/>
                          </a:solidFill>
                          <a:latin typeface="游ゴシック"/>
                          <a:ea typeface="游ゴシック"/>
                          <a:cs typeface="游ゴシック"/>
                        </a:rPr>
                        <a:t>【流動負債】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929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929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0">
                          <a:solidFill>
                            <a:srgbClr val="1A1A1A"/>
                          </a:solidFill>
                          <a:latin typeface="游ゴシック"/>
                          <a:ea typeface="游ゴシック"/>
                          <a:cs typeface="游ゴシック"/>
                        </a:rPr>
                        <a:t>未払金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550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550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0">
                          <a:solidFill>
                            <a:srgbClr val="1A1A1A"/>
                          </a:solidFill>
                          <a:latin typeface="游ゴシック"/>
                          <a:ea typeface="游ゴシック"/>
                          <a:cs typeface="游ゴシック"/>
                        </a:rPr>
                        <a:t>未払法人税等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0">
                          <a:solidFill>
                            <a:srgbClr val="1A1A1A"/>
                          </a:solidFill>
                          <a:latin typeface="游ゴシック"/>
                          <a:ea typeface="游ゴシック"/>
                          <a:cs typeface="游ゴシック"/>
                        </a:rPr>
                        <a:t>未払消費税等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1">
                          <a:solidFill>
                            <a:srgbClr val="1A1A1A"/>
                          </a:solidFill>
                          <a:latin typeface="游ゴシック"/>
                          <a:ea typeface="游ゴシック"/>
                          <a:cs typeface="游ゴシック"/>
                        </a:rPr>
                        <a:t>【固定負債】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0">
                          <a:solidFill>
                            <a:srgbClr val="1A1A1A"/>
                          </a:solidFill>
                          <a:latin typeface="游ゴシック"/>
                          <a:ea typeface="游ゴシック"/>
                          <a:cs typeface="游ゴシック"/>
                        </a:rPr>
                        <a:t>長期借入金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1">
                          <a:solidFill>
                            <a:srgbClr val="1A1A1A"/>
                          </a:solidFill>
                          <a:latin typeface="游ゴシック"/>
                          <a:ea typeface="游ゴシック"/>
                          <a:cs typeface="游ゴシック"/>
                        </a:rPr>
                        <a:t>負債合計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33,673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33,673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1">
                          <a:solidFill>
                            <a:srgbClr val="1A1A1A"/>
                          </a:solidFill>
                          <a:latin typeface="游ゴシック"/>
                          <a:ea typeface="游ゴシック"/>
                          <a:cs typeface="游ゴシック"/>
                        </a:rPr>
                        <a:t>【資本金】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0">
                          <a:solidFill>
                            <a:srgbClr val="1A1A1A"/>
                          </a:solidFill>
                          <a:latin typeface="游ゴシック"/>
                          <a:ea typeface="游ゴシック"/>
                          <a:cs typeface="游ゴシック"/>
                        </a:rPr>
                        <a:t>資本金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1">
                          <a:solidFill>
                            <a:srgbClr val="1A1A1A"/>
                          </a:solidFill>
                          <a:latin typeface="游ゴシック"/>
                          <a:ea typeface="游ゴシック"/>
                          <a:cs typeface="游ゴシック"/>
                        </a:rPr>
                        <a:t>【利益剰余金】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13,658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13,658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0">
                          <a:solidFill>
                            <a:srgbClr val="1A1A1A"/>
                          </a:solidFill>
                          <a:latin typeface="游ゴシック"/>
                          <a:ea typeface="游ゴシック"/>
                          <a:cs typeface="游ゴシック"/>
                        </a:rPr>
                        <a:t>繰越利益剰余金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1">
                          <a:solidFill>
                            <a:srgbClr val="1A1A1A"/>
                          </a:solidFill>
                          <a:latin typeface="游ゴシック"/>
                          <a:ea typeface="游ゴシック"/>
                          <a:cs typeface="游ゴシック"/>
                        </a:rPr>
                        <a:t>【評価修正額】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1">
                          <a:solidFill>
                            <a:srgbClr val="1A1A1A"/>
                          </a:solidFill>
                          <a:latin typeface="游ゴシック"/>
                          <a:ea typeface="游ゴシック"/>
                          <a:cs typeface="游ゴシック"/>
                        </a:rPr>
                        <a:t>純資産合計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23,658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23,583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780" b="1">
                          <a:solidFill>
                            <a:srgbClr val="1A1A1A"/>
                          </a:solidFill>
                          <a:latin typeface="游ゴシック"/>
                          <a:ea typeface="游ゴシック"/>
                          <a:cs typeface="游ゴシック"/>
                        </a:rPr>
                        <a:t>負債・純資産合計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57,330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1">
                          <a:solidFill>
                            <a:srgbClr val="1A1A1A"/>
                          </a:solidFill>
                          <a:latin typeface="Arial"/>
                          <a:ea typeface="Arial"/>
                          <a:cs typeface="Arial"/>
                        </a:rPr>
                        <a:t>57,255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8" name="Rectangle 7"/>
          <p:cNvSpPr/>
          <p:nvPr/>
        </p:nvSpPr>
        <p:spPr>
          <a:xfrm>
            <a:off x="5925312" y="1078992"/>
            <a:ext cx="4315968" cy="576072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16752" y="1152144"/>
            <a:ext cx="4133087"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0" name="TextBox 9"/>
          <p:cNvSpPr txBox="1"/>
          <p:nvPr/>
        </p:nvSpPr>
        <p:spPr>
          <a:xfrm>
            <a:off x="6035040" y="1499616"/>
            <a:ext cx="4096511" cy="5248656"/>
          </a:xfrm>
          <a:prstGeom prst="rect">
            <a:avLst/>
          </a:prstGeom>
          <a:noFill/>
        </p:spPr>
        <p:txBody>
          <a:bodyPr wrap="square" lIns="0" rIns="0" tIns="0" bIns="0" anchor="t">
            <a:spAutoFit/>
          </a:bodyPr>
          <a:lstStyle/>
          <a:p>
            <a:pPr algn="l">
              <a:lnSpc>
                <a:spcPct val="122000"/>
              </a:lnSpc>
              <a:spcAft>
                <a:spcPts val="200"/>
              </a:spcAft>
            </a:pPr>
            <a:r>
              <a:rPr sz="950" b="1">
                <a:solidFill>
                  <a:srgbClr val="0889C9"/>
                </a:solidFill>
                <a:latin typeface="游ゴシック"/>
                <a:ea typeface="游ゴシック"/>
                <a:cs typeface="游ゴシック"/>
              </a:rPr>
              <a:t>負債 </a:t>
            </a:r>
            <a:r>
              <a:rPr sz="950" b="0">
                <a:solidFill>
                  <a:srgbClr val="1A1A1A"/>
                </a:solidFill>
                <a:latin typeface="游ゴシック"/>
                <a:ea typeface="游ゴシック"/>
                <a:cs typeface="游ゴシック"/>
              </a:rPr>
              <a:t>：借入金を含め、時価評価を要する項目は存在しなかったため、いずれも帳簿価額により評価している。</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長期借入金 </a:t>
            </a:r>
            <a:r>
              <a:rPr sz="950" b="0">
                <a:solidFill>
                  <a:srgbClr val="1A1A1A"/>
                </a:solidFill>
                <a:latin typeface="游ゴシック"/>
                <a:ea typeface="游ゴシック"/>
                <a:cs typeface="游ゴシック"/>
              </a:rPr>
              <a:t>：全額が代表者・配偶者からの無利息借入である。法形式上は負債であり譲渡後も当社の債務として残存することから、本評価では額面で評価した。実質的には資本に近い性格を持つため、整理される場合を参考ケースとして併記している（P.22）。</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人件費関連の引当 </a:t>
            </a:r>
            <a:r>
              <a:rPr sz="950" b="0">
                <a:solidFill>
                  <a:srgbClr val="1A1A1A"/>
                </a:solidFill>
                <a:latin typeface="游ゴシック"/>
                <a:ea typeface="游ゴシック"/>
                <a:cs typeface="游ゴシック"/>
              </a:rPr>
              <a:t>：未払給与・賞与引当金・退職給付引当金・役員退職慰労引当金はいずれも計上していない。常時雇用の従業員が0名であり、代表者・配偶者が無報酬であることによる。賃金規程・退職金規程・役員退職慰労金規程の有無はDDで確認を要する。</a:t>
            </a:r>
          </a:p>
          <a:p>
            <a:pPr algn="l">
              <a:spcAft>
                <a:spcPts val="200"/>
              </a:spcAft>
            </a:pPr>
          </a:p>
          <a:p>
            <a:pPr algn="l">
              <a:lnSpc>
                <a:spcPct val="122000"/>
              </a:lnSpc>
              <a:spcAft>
                <a:spcPts val="200"/>
              </a:spcAft>
            </a:pPr>
            <a:r>
              <a:rPr sz="950" b="1">
                <a:solidFill>
                  <a:srgbClr val="0889C9"/>
                </a:solidFill>
                <a:latin typeface="游ゴシック"/>
                <a:ea typeface="游ゴシック"/>
                <a:cs typeface="游ゴシック"/>
              </a:rPr>
              <a:t>簿外債務 </a:t>
            </a:r>
            <a:r>
              <a:rPr sz="950" b="0">
                <a:solidFill>
                  <a:srgbClr val="1A1A1A"/>
                </a:solidFill>
                <a:latin typeface="游ゴシック"/>
                <a:ea typeface="游ゴシック"/>
                <a:cs typeface="游ゴシック"/>
              </a:rPr>
              <a:t>：債務保証・係争・未払残業代等の有無は本書作成時点で確認できていない。</a:t>
            </a:r>
          </a:p>
          <a:p>
            <a:pPr algn="l">
              <a:spcAft>
                <a:spcPts val="200"/>
              </a:spcAft>
            </a:pPr>
          </a:p>
          <a:p>
            <a:pPr algn="l">
              <a:lnSpc>
                <a:spcPct val="122000"/>
              </a:lnSpc>
              <a:spcAft>
                <a:spcPts val="200"/>
              </a:spcAft>
            </a:pPr>
            <a:r>
              <a:rPr sz="950" b="1">
                <a:solidFill>
                  <a:srgbClr val="0B3041"/>
                </a:solidFill>
                <a:latin typeface="游ゴシック"/>
                <a:ea typeface="游ゴシック"/>
                <a:cs typeface="游ゴシック"/>
              </a:rPr>
              <a:t>時価純資産 </a:t>
            </a:r>
            <a:r>
              <a:rPr sz="950" b="1">
                <a:solidFill>
                  <a:srgbClr val="1A1A1A"/>
                </a:solidFill>
                <a:latin typeface="游ゴシック"/>
                <a:ea typeface="游ゴシック"/>
                <a:cs typeface="游ゴシック"/>
              </a:rPr>
              <a:t>：簿価純資産23,658千円に対し、修正後の時価純資産は23,583千円となる。</a:t>
            </a:r>
          </a:p>
        </p:txBody>
      </p:sp>
      <p:sp>
        <p:nvSpPr>
          <p:cNvPr id="11" name="TextBox 10"/>
          <p:cNvSpPr txBox="1"/>
          <p:nvPr/>
        </p:nvSpPr>
        <p:spPr>
          <a:xfrm>
            <a:off x="310896" y="6912864"/>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評価基準日：2026年5月31日。修正額が僅少であるため税効果は認識していない。</a:t>
            </a:r>
          </a:p>
        </p:txBody>
      </p:sp>
    </p:spTree>
    <p:extLst>
      <p:ext uri="{BB962C8B-B14F-4D97-AF65-F5344CB8AC3E}">
        <p14:creationId xmlns:p14="http://schemas.microsoft.com/office/powerpoint/2010/main" val="1524445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924A-DBCC-BA2E-3DAE-B087BA11D028}"/>
            </a:ext>
          </a:extLst>
        </p:cNvPr>
        <p:cNvGrpSpPr/>
        <p:nvPr/>
      </p:nvGrpSpPr>
      <p:grpSpPr>
        <a:xfrm>
          <a:off x="0" y="0"/>
          <a:ext cx="0" cy="0"/>
          <a:chOff x="0" y="0"/>
          <a:chExt cx="0" cy="0"/>
        </a:xfrm>
      </p:grpSpPr>
      <p:sp>
        <p:nvSpPr>
          <p:cNvPr id="9" name="タイトル 8">
            <a:extLst>
              <a:ext uri="{FF2B5EF4-FFF2-40B4-BE49-F238E27FC236}">
                <a16:creationId xmlns:a16="http://schemas.microsoft.com/office/drawing/2014/main" id="{3457B52A-EE32-66A1-E9D7-A16C41555BD4}"/>
              </a:ext>
            </a:extLst>
          </p:cNvPr>
          <p:cNvSpPr>
            <a:spLocks noGrp="1"/>
          </p:cNvSpPr>
          <p:nvPr>
            <p:ph type="ctrTitle"/>
          </p:nvPr>
        </p:nvSpPr>
        <p:spPr/>
        <p:txBody>
          <a:bodyPr/>
          <a:lstStyle/>
          <a:p>
            <a:r>
              <a:rPr>
                <a:latin typeface="游ゴシック"/>
                <a:ea typeface="游ゴシック"/>
                <a:cs typeface="游ゴシック"/>
              </a:rPr>
              <a:t>ネットキャッシュの算定</a:t>
            </a:r>
            <a:endParaRPr lang="ja-JP" altLang="en-US" sz="1800" dirty="0">
              <a:latin typeface="游ゴシック" panose="020B0400000000000000" pitchFamily="50" charset="-128"/>
              <a:ea typeface="游ゴシック" panose="020B0400000000000000" pitchFamily="50" charset="-128"/>
            </a:endParaRPr>
          </a:p>
        </p:txBody>
      </p:sp>
      <p:sp>
        <p:nvSpPr>
          <p:cNvPr id="3" name="タイトル 1">
            <a:extLst>
              <a:ext uri="{FF2B5EF4-FFF2-40B4-BE49-F238E27FC236}">
                <a16:creationId xmlns:a16="http://schemas.microsoft.com/office/drawing/2014/main" id="{A669AB92-1457-701A-1752-55CB309BC70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latin typeface="游ゴシック" panose="020B0400000000000000" pitchFamily="50" charset="-128"/>
              <a:ea typeface="游ゴシック" panose="020B0400000000000000" pitchFamily="50" charset="-128"/>
            </a:endParaRPr>
          </a:p>
        </p:txBody>
      </p:sp>
      <p:graphicFrame>
        <p:nvGraphicFramePr>
          <p:cNvPr id="10" name="Table 9"/>
          <p:cNvGraphicFramePr>
            <a:graphicFrameLocks noGrp="1"/>
          </p:cNvGraphicFramePr>
          <p:nvPr/>
        </p:nvGraphicFramePr>
        <p:xfrm>
          <a:off x="338328" y="1005840"/>
          <a:ext cx="9454894" cy="2779776"/>
        </p:xfrm>
        <a:graphic>
          <a:graphicData uri="http://schemas.openxmlformats.org/drawingml/2006/table">
            <a:tbl>
              <a:tblPr firstRow="0" bandRow="0">
                <a:tableStyleId>{5940675A-B579-460E-94D1-54222C63F5DA}</a:tableStyleId>
              </a:tblPr>
              <a:tblGrid>
                <a:gridCol w="2260754"/>
                <a:gridCol w="2260754"/>
                <a:gridCol w="411878"/>
                <a:gridCol w="2260754"/>
                <a:gridCol w="2260754"/>
              </a:tblGrid>
              <a:tr h="237744">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7744">
                <a:tc>
                  <a:txBody>
                    <a:bodyPr wrap="square"/>
                    <a:lstStyle/>
                    <a:p>
                      <a:pPr algn="ctr">
                        <a:spcAft>
                          <a:spcPts val="0"/>
                        </a:spcAft>
                      </a:pPr>
                      <a:r>
                        <a:rPr sz="900" b="1">
                          <a:solidFill>
                            <a:srgbClr val="FFFFFF"/>
                          </a:solidFill>
                          <a:latin typeface="游ゴシック"/>
                          <a:ea typeface="游ゴシック"/>
                          <a:cs typeface="游ゴシック"/>
                        </a:rPr>
                        <a:t>キャッシュライクアイテム</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金額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デットライクアイテム</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金額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00" b="0">
                          <a:solidFill>
                            <a:srgbClr val="1A1A1A"/>
                          </a:solidFill>
                          <a:latin typeface="游ゴシック"/>
                          <a:ea typeface="游ゴシック"/>
                          <a:cs typeface="游ゴシック"/>
                        </a:rPr>
                        <a:t>現金及び預金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1,066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役員借入金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00" b="0">
                          <a:solidFill>
                            <a:srgbClr val="1A1A1A"/>
                          </a:solidFill>
                          <a:latin typeface="游ゴシック"/>
                          <a:ea typeface="游ゴシック"/>
                          <a:cs typeface="游ゴシック"/>
                        </a:rPr>
                        <a:t>出資金（関係会社）</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未払法人税等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00" b="1">
                          <a:solidFill>
                            <a:srgbClr val="1A1A1A"/>
                          </a:solidFill>
                          <a:latin typeface="游ゴシック"/>
                          <a:ea typeface="游ゴシック"/>
                          <a:cs typeface="游ゴシック"/>
                        </a:rPr>
                        <a:t>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2,166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1">
                          <a:solidFill>
                            <a:srgbClr val="1A1A1A"/>
                          </a:solidFill>
                          <a:latin typeface="游ゴシック"/>
                          <a:ea typeface="游ゴシック"/>
                          <a:cs typeface="游ゴシック"/>
                        </a:rPr>
                        <a:t>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32,780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00" b="1">
                          <a:solidFill>
                            <a:srgbClr val="1A1A1A"/>
                          </a:solidFill>
                          <a:latin typeface="游ゴシック"/>
                          <a:ea typeface="游ゴシック"/>
                          <a:cs typeface="游ゴシック"/>
                        </a:rPr>
                        <a:t>ネットデット【主たる前提】</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30,614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1" name="Rectangle 10"/>
          <p:cNvSpPr/>
          <p:nvPr/>
        </p:nvSpPr>
        <p:spPr>
          <a:xfrm>
            <a:off x="448056" y="4206240"/>
            <a:ext cx="9793224" cy="100584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57784" y="4590288"/>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13" name="TextBox 12"/>
          <p:cNvSpPr txBox="1"/>
          <p:nvPr/>
        </p:nvSpPr>
        <p:spPr>
          <a:xfrm>
            <a:off x="1993392" y="4297679"/>
            <a:ext cx="3959352" cy="822960"/>
          </a:xfrm>
          <a:prstGeom prst="rect">
            <a:avLst/>
          </a:prstGeom>
          <a:noFill/>
        </p:spPr>
        <p:txBody>
          <a:bodyPr wrap="square" lIns="0" rIns="0" tIns="0" bIns="0" anchor="ctr">
            <a:spAutoFit/>
          </a:bodyPr>
          <a:lstStyle/>
          <a:p>
            <a:pPr algn="l">
              <a:lnSpc>
                <a:spcPct val="118000"/>
              </a:lnSpc>
              <a:spcAft>
                <a:spcPts val="0"/>
              </a:spcAft>
            </a:pPr>
            <a:r>
              <a:rPr sz="950" b="0">
                <a:solidFill>
                  <a:srgbClr val="1A1A1A"/>
                </a:solidFill>
                <a:latin typeface="游ゴシック"/>
                <a:ea typeface="游ゴシック"/>
                <a:cs typeface="游ゴシック"/>
              </a:rPr>
              <a:t>・キャッシュライクアイテム：現預金のほか、当社の事業運営に供されていない出資金（関係会社2社）を非事業用資産として算入した。未収入金3,323千円は関係先向けの事業債権であり、運転資本としてEBITDA側で捉えるため算入していない。</a:t>
            </a:r>
          </a:p>
        </p:txBody>
      </p:sp>
      <p:sp>
        <p:nvSpPr>
          <p:cNvPr id="14" name="TextBox 13"/>
          <p:cNvSpPr txBox="1"/>
          <p:nvPr/>
        </p:nvSpPr>
        <p:spPr>
          <a:xfrm>
            <a:off x="6062472" y="4297679"/>
            <a:ext cx="3959352" cy="822960"/>
          </a:xfrm>
          <a:prstGeom prst="rect">
            <a:avLst/>
          </a:prstGeom>
          <a:noFill/>
        </p:spPr>
        <p:txBody>
          <a:bodyPr wrap="square" lIns="0" rIns="0" tIns="0" bIns="0" anchor="ctr">
            <a:spAutoFit/>
          </a:bodyPr>
          <a:lstStyle/>
          <a:p>
            <a:pPr algn="l">
              <a:lnSpc>
                <a:spcPct val="118000"/>
              </a:lnSpc>
              <a:spcAft>
                <a:spcPts val="0"/>
              </a:spcAft>
            </a:pPr>
            <a:r>
              <a:rPr sz="950" b="0">
                <a:solidFill>
                  <a:srgbClr val="1A1A1A"/>
                </a:solidFill>
                <a:latin typeface="游ゴシック"/>
                <a:ea typeface="游ゴシック"/>
                <a:cs typeface="游ゴシック"/>
              </a:rPr>
              <a:t>・デットライクアイテム：有利子負債に相当する役員借入金32,744千円および未払法人税等36千円。役員借入金は無利息であるが法形式上は負債であり、譲渡後も当社の債務として残存することから額面で算入した。</a:t>
            </a:r>
          </a:p>
        </p:txBody>
      </p:sp>
      <p:sp>
        <p:nvSpPr>
          <p:cNvPr id="15" name="Rectangle 14"/>
          <p:cNvSpPr/>
          <p:nvPr/>
        </p:nvSpPr>
        <p:spPr>
          <a:xfrm>
            <a:off x="448056" y="5486400"/>
            <a:ext cx="9793224" cy="841248"/>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48056" y="5486400"/>
            <a:ext cx="1435608" cy="8412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48056" y="5788152"/>
            <a:ext cx="1435608" cy="237744"/>
          </a:xfrm>
          <a:prstGeom prst="rect">
            <a:avLst/>
          </a:prstGeom>
          <a:noFill/>
        </p:spPr>
        <p:txBody>
          <a:bodyPr wrap="square" lIns="0" rIns="0" t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18" name="TextBox 17"/>
          <p:cNvSpPr txBox="1"/>
          <p:nvPr/>
        </p:nvSpPr>
        <p:spPr>
          <a:xfrm>
            <a:off x="2048256" y="5577840"/>
            <a:ext cx="8065008" cy="658368"/>
          </a:xfrm>
          <a:prstGeom prst="rect">
            <a:avLst/>
          </a:prstGeom>
          <a:noFill/>
        </p:spPr>
        <p:txBody>
          <a:bodyPr wrap="square" lIns="0" rIns="0" tIns="0" bIns="0" anchor="ctr">
            <a:spAutoFit/>
          </a:bodyPr>
          <a:lstStyle/>
          <a:p>
            <a:pPr algn="l">
              <a:lnSpc>
                <a:spcPct val="122000"/>
              </a:lnSpc>
              <a:spcAft>
                <a:spcPts val="200"/>
              </a:spcAft>
            </a:pPr>
            <a:r>
              <a:rPr sz="1050" b="0">
                <a:solidFill>
                  <a:srgbClr val="1A1A1A"/>
                </a:solidFill>
                <a:latin typeface="游ゴシック"/>
                <a:ea typeface="游ゴシック"/>
                <a:cs typeface="游ゴシック"/>
              </a:rPr>
              <a:t>役員借入金の取扱いは本件の株式価値を最も大きく左右する論点である。債務免除または譲渡対価との相殺により</a:t>
            </a:r>
          </a:p>
          <a:p>
            <a:pPr algn="l">
              <a:lnSpc>
                <a:spcPct val="122000"/>
              </a:lnSpc>
              <a:spcAft>
                <a:spcPts val="200"/>
              </a:spcAft>
            </a:pPr>
            <a:r>
              <a:rPr sz="1050" b="0">
                <a:solidFill>
                  <a:srgbClr val="1A1A1A"/>
                </a:solidFill>
                <a:latin typeface="游ゴシック"/>
                <a:ea typeface="游ゴシック"/>
                <a:cs typeface="游ゴシック"/>
              </a:rPr>
              <a:t>整理される場合、ネットデット30,614千円はネットキャッシュ2,130千円に転じ、マーケットアプローチの</a:t>
            </a:r>
          </a:p>
          <a:p>
            <a:pPr algn="l">
              <a:lnSpc>
                <a:spcPct val="122000"/>
              </a:lnSpc>
              <a:spcAft>
                <a:spcPts val="200"/>
              </a:spcAft>
            </a:pPr>
            <a:r>
              <a:rPr sz="1050" b="0">
                <a:solidFill>
                  <a:srgbClr val="1A1A1A"/>
                </a:solidFill>
                <a:latin typeface="游ゴシック"/>
                <a:ea typeface="游ゴシック"/>
                <a:cs typeface="游ゴシック"/>
              </a:rPr>
              <a:t>試算結果は大きく変わる。詳細はP.22を参照。</a:t>
            </a:r>
          </a:p>
        </p:txBody>
      </p:sp>
      <p:sp>
        <p:nvSpPr>
          <p:cNvPr id="19" name="TextBox 18"/>
          <p:cNvSpPr txBox="1"/>
          <p:nvPr/>
        </p:nvSpPr>
        <p:spPr>
          <a:xfrm>
            <a:off x="310896" y="6528816"/>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単位：千円。評価基準日2026年5月31日の修正後BS残高を参照している。</a:t>
            </a:r>
          </a:p>
        </p:txBody>
      </p:sp>
    </p:spTree>
    <p:extLst>
      <p:ext uri="{BB962C8B-B14F-4D97-AF65-F5344CB8AC3E}">
        <p14:creationId xmlns:p14="http://schemas.microsoft.com/office/powerpoint/2010/main" val="130158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2105-3764-0F9B-6D9E-FDC9164E25C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F54FD88-71A3-9482-A4EB-EB7B53A21670}"/>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solidFill/>
              </a:rPr>
              <a:t>Financial Analysis ／</a:t>
            </a:r>
            <a:br>
              <a:rPr lang="en-US" altLang="ja-JP" dirty="0"/>
            </a:br>
            <a:r>
              <a:rPr lang="ja-JP" altLang="en-US" dirty="0">
                <a:solidFill/>
              </a:rPr>
              <a:t>財務情報の分析（</a:t>
            </a:r>
            <a:r>
              <a:rPr lang="en-US" altLang="ja-JP" dirty="0">
                <a:solidFill/>
              </a:rPr>
              <a:t>P/L</a:t>
            </a:r>
            <a:r>
              <a:rPr lang="ja-JP" altLang="en-US" dirty="0">
                <a:solidFill/>
              </a:rPr>
              <a:t>）</a:t>
            </a:r>
          </a:p>
        </p:txBody>
      </p:sp>
      <p:grpSp>
        <p:nvGrpSpPr>
          <p:cNvPr id="2" name="グループ化 1">
            <a:extLst>
              <a:ext uri="{FF2B5EF4-FFF2-40B4-BE49-F238E27FC236}">
                <a16:creationId xmlns:a16="http://schemas.microsoft.com/office/drawing/2014/main" id="{9BBA03AA-0C3E-769B-7372-5C78F7C906A4}"/>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F0D40862-3FE6-CCAC-56A4-FC8C5BF2AF4C}"/>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43F2BBF9-6AFC-1AC2-87E4-1733C64C416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18230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683D8C01-45AB-F55D-E483-1520171D4D71}"/>
              </a:ext>
            </a:extLst>
          </p:cNvPr>
          <p:cNvSpPr>
            <a:spLocks noGrp="1"/>
          </p:cNvSpPr>
          <p:nvPr>
            <p:ph type="ctrTitle"/>
          </p:nvPr>
        </p:nvSpPr>
        <p:spPr>
          <a:xfrm>
            <a:off x="341313" y="180653"/>
            <a:ext cx="7799917" cy="338554"/>
          </a:xfrm>
        </p:spPr>
        <p:txBody>
          <a:bodyPr/>
          <a:lstStyle/>
          <a:p>
            <a:r>
              <a:rPr>
                <a:latin typeface="游ゴシック"/>
                <a:ea typeface="游ゴシック"/>
                <a:cs typeface="游ゴシック"/>
              </a:rPr>
              <a:t>過去PLの推移</a:t>
            </a:r>
          </a:p>
        </p:txBody>
      </p:sp>
      <p:sp>
        <p:nvSpPr>
          <p:cNvPr id="7" name="タイトル 1">
            <a:extLst>
              <a:ext uri="{FF2B5EF4-FFF2-40B4-BE49-F238E27FC236}">
                <a16:creationId xmlns:a16="http://schemas.microsoft.com/office/drawing/2014/main" id="{7A790640-DDA3-8580-8C0A-46825ED50EDD}"/>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9" name="Table 8"/>
          <p:cNvGraphicFramePr>
            <a:graphicFrameLocks noGrp="1"/>
          </p:cNvGraphicFramePr>
          <p:nvPr/>
        </p:nvGraphicFramePr>
        <p:xfrm>
          <a:off x="338328" y="1005840"/>
          <a:ext cx="6309357" cy="4165077"/>
        </p:xfrm>
        <a:graphic>
          <a:graphicData uri="http://schemas.openxmlformats.org/drawingml/2006/table">
            <a:tbl>
              <a:tblPr firstRow="0" bandRow="0">
                <a:tableStyleId>{5940675A-B579-460E-94D1-54222C63F5DA}</a:tableStyleId>
              </a:tblPr>
              <a:tblGrid>
                <a:gridCol w="1903686"/>
                <a:gridCol w="815865"/>
                <a:gridCol w="652692"/>
                <a:gridCol w="815865"/>
                <a:gridCol w="652692"/>
                <a:gridCol w="815865"/>
                <a:gridCol w="652692"/>
              </a:tblGrid>
              <a:tr h="256032">
                <a:tc>
                  <a:txBody>
                    <a:bodyPr wrap="square"/>
                    <a:lstStyle/>
                    <a:p>
                      <a:pPr algn="ctr">
                        <a:spcAft>
                          <a:spcPts val="0"/>
                        </a:spcAft>
                      </a:pPr>
                      <a:r>
                        <a:rPr sz="840"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0">
                          <a:solidFill>
                            <a:srgbClr val="1A1A1A"/>
                          </a:solidFill>
                          <a:latin typeface="游ゴシック"/>
                          <a:ea typeface="游ゴシック"/>
                          <a:cs typeface="游ゴシック"/>
                        </a:rPr>
                        <a:t>そば売上高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1,928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1,592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6.8%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1,949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8.7%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0">
                          <a:solidFill>
                            <a:srgbClr val="1A1A1A"/>
                          </a:solidFill>
                          <a:latin typeface="游ゴシック"/>
                          <a:ea typeface="游ゴシック"/>
                          <a:cs typeface="游ゴシック"/>
                        </a:rPr>
                        <a:t>小麦等売上高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2,131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8.7%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1,919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2,273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0">
                          <a:solidFill>
                            <a:srgbClr val="1A1A1A"/>
                          </a:solidFill>
                          <a:latin typeface="游ゴシック"/>
                          <a:ea typeface="游ゴシック"/>
                          <a:cs typeface="游ゴシック"/>
                        </a:rPr>
                        <a:t>商品売上高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1,141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4.7%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1,012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538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0">
                          <a:solidFill>
                            <a:srgbClr val="1A1A1A"/>
                          </a:solidFill>
                          <a:latin typeface="游ゴシック"/>
                          <a:ea typeface="游ゴシック"/>
                          <a:cs typeface="游ゴシック"/>
                        </a:rPr>
                        <a:t>飲食店売上高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19,255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78.7%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19,019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80.8%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17,723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78.8%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1">
                          <a:solidFill>
                            <a:srgbClr val="1A1A1A"/>
                          </a:solidFill>
                          <a:latin typeface="游ゴシック"/>
                          <a:ea typeface="游ゴシック"/>
                          <a:cs typeface="游ゴシック"/>
                        </a:rPr>
                        <a:t>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24,455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23,542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22,484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1">
                          <a:solidFill>
                            <a:srgbClr val="1A1A1A"/>
                          </a:solidFill>
                          <a:latin typeface="游ゴシック"/>
                          <a:ea typeface="游ゴシック"/>
                          <a:cs typeface="游ゴシック"/>
                        </a:rPr>
                        <a:t>売上原価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16,403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67.1%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16,047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68.2%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16,428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73.1%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1">
                          <a:solidFill>
                            <a:srgbClr val="1A1A1A"/>
                          </a:solidFill>
                          <a:latin typeface="游ゴシック"/>
                          <a:ea typeface="游ゴシック"/>
                          <a:cs typeface="游ゴシック"/>
                        </a:rPr>
                        <a:t>売上総利益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8,051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32.9%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7,495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31.8%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6,056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26.9%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0">
                          <a:solidFill>
                            <a:srgbClr val="1A1A1A"/>
                          </a:solidFill>
                          <a:latin typeface="游ゴシック"/>
                          <a:ea typeface="游ゴシック"/>
                          <a:cs typeface="游ゴシック"/>
                        </a:rPr>
                        <a:t>販売費及び一般管理費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7,082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29.0%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6,212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6,267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1">
                          <a:solidFill>
                            <a:srgbClr val="1A1A1A"/>
                          </a:solidFill>
                          <a:latin typeface="游ゴシック"/>
                          <a:ea typeface="游ゴシック"/>
                          <a:cs typeface="游ゴシック"/>
                        </a:rPr>
                        <a:t>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970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1,283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△211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△0.9%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0">
                          <a:solidFill>
                            <a:srgbClr val="1A1A1A"/>
                          </a:solidFill>
                          <a:latin typeface="游ゴシック"/>
                          <a:ea typeface="游ゴシック"/>
                          <a:cs typeface="游ゴシック"/>
                        </a:rPr>
                        <a:t>営業外収益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2,492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10.6%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0">
                          <a:solidFill>
                            <a:srgbClr val="1A1A1A"/>
                          </a:solidFill>
                          <a:latin typeface="游ゴシック"/>
                          <a:ea typeface="游ゴシック"/>
                          <a:cs typeface="游ゴシック"/>
                        </a:rPr>
                        <a:t>営業外費用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2,282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9.7%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1">
                          <a:solidFill>
                            <a:srgbClr val="1A1A1A"/>
                          </a:solidFill>
                          <a:latin typeface="游ゴシック"/>
                          <a:ea typeface="游ゴシック"/>
                          <a:cs typeface="游ゴシック"/>
                        </a:rPr>
                        <a:t>経常利益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1,265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5.2%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1,493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6.3%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1">
                          <a:solidFill>
                            <a:srgbClr val="1A1A1A"/>
                          </a:solidFill>
                          <a:latin typeface="游ゴシック"/>
                          <a:ea typeface="游ゴシック"/>
                          <a:cs typeface="游ゴシック"/>
                        </a:rPr>
                        <a:t>税引前当期純利益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1,265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5.2%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1,493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6.3%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0">
                          <a:solidFill>
                            <a:srgbClr val="1A1A1A"/>
                          </a:solidFill>
                          <a:latin typeface="游ゴシック"/>
                          <a:ea typeface="游ゴシック"/>
                          <a:cs typeface="游ゴシック"/>
                        </a:rPr>
                        <a:t>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412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l">
                        <a:spcAft>
                          <a:spcPts val="0"/>
                        </a:spcAft>
                      </a:pPr>
                      <a:r>
                        <a:rPr sz="840" b="1">
                          <a:solidFill>
                            <a:srgbClr val="1A1A1A"/>
                          </a:solidFill>
                          <a:latin typeface="游ゴシック"/>
                          <a:ea typeface="游ゴシック"/>
                          <a:cs typeface="游ゴシック"/>
                        </a:rPr>
                        <a:t>当期純利益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911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1,081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C03A2B"/>
                          </a:solidFill>
                          <a:latin typeface="Arial"/>
                          <a:ea typeface="Arial"/>
                          <a:cs typeface="Arial"/>
                        </a:rPr>
                        <a:t>△0.2%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0" name="Rectangle 9"/>
          <p:cNvSpPr/>
          <p:nvPr/>
        </p:nvSpPr>
        <p:spPr>
          <a:xfrm>
            <a:off x="6876288" y="1005840"/>
            <a:ext cx="3364992" cy="484632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967727" y="1078992"/>
            <a:ext cx="3182112"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2" name="TextBox 11"/>
          <p:cNvSpPr txBox="1"/>
          <p:nvPr/>
        </p:nvSpPr>
        <p:spPr>
          <a:xfrm>
            <a:off x="6986016" y="1426464"/>
            <a:ext cx="3145536" cy="4334256"/>
          </a:xfrm>
          <a:prstGeom prst="rect">
            <a:avLst/>
          </a:prstGeom>
          <a:noFill/>
        </p:spPr>
        <p:txBody>
          <a:bodyPr wrap="square" lIns="0" rIns="0" tIns="0" bIns="0" anchor="t">
            <a:spAutoFit/>
          </a:bodyPr>
          <a:lstStyle/>
          <a:p>
            <a:pPr algn="l">
              <a:lnSpc>
                <a:spcPct val="122000"/>
              </a:lnSpc>
              <a:spcAft>
                <a:spcPts val="200"/>
              </a:spcAft>
            </a:pPr>
            <a:r>
              <a:rPr sz="900" b="1">
                <a:solidFill>
                  <a:srgbClr val="0889C9"/>
                </a:solidFill>
                <a:latin typeface="游ゴシック"/>
                <a:ea typeface="游ゴシック"/>
                <a:cs typeface="游ゴシック"/>
              </a:rPr>
              <a:t>売上高 </a:t>
            </a:r>
            <a:r>
              <a:rPr sz="900" b="0">
                <a:solidFill>
                  <a:srgbClr val="1A1A1A"/>
                </a:solidFill>
                <a:latin typeface="游ゴシック"/>
                <a:ea typeface="游ゴシック"/>
                <a:cs typeface="游ゴシック"/>
              </a:rPr>
              <a:t>：24,455→23,542→22,484千円と毎期減少。店頭日商の低下（86→80→75千円）が主因であり、営業日数は203→200日とほぼ一定。</a:t>
            </a:r>
          </a:p>
          <a:p>
            <a:pPr algn="l">
              <a:spcAft>
                <a:spcPts val="200"/>
              </a:spcAft>
            </a:pPr>
          </a:p>
          <a:p>
            <a:pPr algn="l">
              <a:lnSpc>
                <a:spcPct val="122000"/>
              </a:lnSpc>
              <a:spcAft>
                <a:spcPts val="200"/>
              </a:spcAft>
            </a:pPr>
            <a:r>
              <a:rPr sz="900" b="1">
                <a:solidFill>
                  <a:srgbClr val="0889C9"/>
                </a:solidFill>
                <a:latin typeface="游ゴシック"/>
                <a:ea typeface="游ゴシック"/>
                <a:cs typeface="游ゴシック"/>
              </a:rPr>
              <a:t>売上原価 </a:t>
            </a:r>
            <a:r>
              <a:rPr sz="900" b="0">
                <a:solidFill>
                  <a:srgbClr val="1A1A1A"/>
                </a:solidFill>
                <a:latin typeface="游ゴシック"/>
                <a:ea typeface="游ゴシック"/>
                <a:cs typeface="游ゴシック"/>
              </a:rPr>
              <a:t>：16,403→16,047→16,428千円と横ばい。製造原価の42.3％を減価償却費が占めており、売上に連動しない固定費が大きい。</a:t>
            </a:r>
          </a:p>
          <a:p>
            <a:pPr algn="l">
              <a:spcAft>
                <a:spcPts val="200"/>
              </a:spcAft>
            </a:pPr>
          </a:p>
          <a:p>
            <a:pPr algn="l">
              <a:lnSpc>
                <a:spcPct val="122000"/>
              </a:lnSpc>
              <a:spcAft>
                <a:spcPts val="200"/>
              </a:spcAft>
            </a:pPr>
            <a:r>
              <a:rPr sz="900" b="1">
                <a:solidFill>
                  <a:srgbClr val="0889C9"/>
                </a:solidFill>
                <a:latin typeface="游ゴシック"/>
                <a:ea typeface="游ゴシック"/>
                <a:cs typeface="游ゴシック"/>
              </a:rPr>
              <a:t>販管費 </a:t>
            </a:r>
            <a:r>
              <a:rPr sz="900" b="0">
                <a:solidFill>
                  <a:srgbClr val="1A1A1A"/>
                </a:solidFill>
                <a:latin typeface="游ゴシック"/>
                <a:ea typeface="游ゴシック"/>
                <a:cs typeface="游ゴシック"/>
              </a:rPr>
              <a:t>：7,082→6,212→6,267千円。給料手当・役員報酬の計上はない（労務費は製造原価に計上）。</a:t>
            </a:r>
          </a:p>
          <a:p>
            <a:pPr algn="l">
              <a:spcAft>
                <a:spcPts val="200"/>
              </a:spcAft>
            </a:pPr>
          </a:p>
          <a:p>
            <a:pPr algn="l">
              <a:lnSpc>
                <a:spcPct val="122000"/>
              </a:lnSpc>
              <a:spcAft>
                <a:spcPts val="200"/>
              </a:spcAft>
            </a:pPr>
            <a:r>
              <a:rPr sz="900" b="1">
                <a:solidFill>
                  <a:srgbClr val="0889C9"/>
                </a:solidFill>
                <a:latin typeface="游ゴシック"/>
                <a:ea typeface="游ゴシック"/>
                <a:cs typeface="游ゴシック"/>
              </a:rPr>
              <a:t>営業外損益 </a:t>
            </a:r>
            <a:r>
              <a:rPr sz="900" b="0">
                <a:solidFill>
                  <a:srgbClr val="1A1A1A"/>
                </a:solidFill>
                <a:latin typeface="游ゴシック"/>
                <a:ea typeface="游ゴシック"/>
                <a:cs typeface="游ゴシック"/>
              </a:rPr>
              <a:t>：2025年5月期の雑収入2,490千円には補助金収入を含み、営業外費用の圧縮記帳損2,282千円は当該補助金に係るホームページ改修費用の圧縮記帳。いずれも非経常。</a:t>
            </a:r>
          </a:p>
          <a:p>
            <a:pPr algn="l">
              <a:spcAft>
                <a:spcPts val="200"/>
              </a:spcAft>
            </a:pPr>
          </a:p>
          <a:p>
            <a:pPr algn="l">
              <a:lnSpc>
                <a:spcPct val="122000"/>
              </a:lnSpc>
              <a:spcAft>
                <a:spcPts val="200"/>
              </a:spcAft>
            </a:pPr>
            <a:r>
              <a:rPr sz="900" b="1">
                <a:solidFill>
                  <a:srgbClr val="0889C9"/>
                </a:solidFill>
                <a:latin typeface="游ゴシック"/>
                <a:ea typeface="游ゴシック"/>
                <a:cs typeface="游ゴシック"/>
              </a:rPr>
              <a:t>支払利息 </a:t>
            </a:r>
            <a:r>
              <a:rPr sz="900" b="0">
                <a:solidFill>
                  <a:srgbClr val="1A1A1A"/>
                </a:solidFill>
                <a:latin typeface="游ゴシック"/>
                <a:ea typeface="游ゴシック"/>
                <a:cs typeface="游ゴシック"/>
              </a:rPr>
              <a:t>：長期借入金は全額が無利息の役員借入であり、支払利息の計上はない。正常収益力の算定における控除は不要。</a:t>
            </a:r>
          </a:p>
        </p:txBody>
      </p:sp>
      <p:sp>
        <p:nvSpPr>
          <p:cNvPr id="13" name="TextBox 12"/>
          <p:cNvSpPr txBox="1"/>
          <p:nvPr/>
        </p:nvSpPr>
        <p:spPr>
          <a:xfrm>
            <a:off x="310896" y="603504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単位：千円。構成比は売上高に対する比率。決算書（2024年5月期〜2026年5月期）に基づく。</a:t>
            </a:r>
          </a:p>
        </p:txBody>
      </p:sp>
    </p:spTree>
    <p:extLst>
      <p:ext uri="{BB962C8B-B14F-4D97-AF65-F5344CB8AC3E}">
        <p14:creationId xmlns:p14="http://schemas.microsoft.com/office/powerpoint/2010/main" val="4072389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DC2FECB7-19A2-7C36-9E2F-D39B0FB88B2F}"/>
              </a:ext>
            </a:extLst>
          </p:cNvPr>
          <p:cNvSpPr>
            <a:spLocks noGrp="1"/>
          </p:cNvSpPr>
          <p:nvPr>
            <p:ph type="ctrTitle"/>
          </p:nvPr>
        </p:nvSpPr>
        <p:spPr>
          <a:xfrm>
            <a:off x="341313" y="180653"/>
            <a:ext cx="7799917" cy="338554"/>
          </a:xfrm>
        </p:spPr>
        <p:txBody>
          <a:bodyPr/>
          <a:lstStyle/>
          <a:p>
            <a:r>
              <a:rPr>
                <a:latin typeface="游ゴシック"/>
                <a:ea typeface="游ゴシック"/>
                <a:cs typeface="游ゴシック"/>
              </a:rPr>
              <a:t>評価科目別の検討結果</a:t>
            </a:r>
          </a:p>
        </p:txBody>
      </p:sp>
      <p:sp>
        <p:nvSpPr>
          <p:cNvPr id="11" name="タイトル 1">
            <a:extLst>
              <a:ext uri="{FF2B5EF4-FFF2-40B4-BE49-F238E27FC236}">
                <a16:creationId xmlns:a16="http://schemas.microsoft.com/office/drawing/2014/main" id="{E822E01B-8EBB-0777-FFDE-2ED5BD7F6582}"/>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13" name="Table 12"/>
          <p:cNvGraphicFramePr>
            <a:graphicFrameLocks noGrp="1"/>
          </p:cNvGraphicFramePr>
          <p:nvPr/>
        </p:nvGraphicFramePr>
        <p:xfrm>
          <a:off x="338328" y="1005840"/>
          <a:ext cx="9902952" cy="4357116"/>
        </p:xfrm>
        <a:graphic>
          <a:graphicData uri="http://schemas.openxmlformats.org/drawingml/2006/table">
            <a:tbl>
              <a:tblPr firstRow="0" bandRow="0">
                <a:tableStyleId>{5940675A-B579-460E-94D1-54222C63F5DA}</a:tableStyleId>
              </a:tblPr>
              <a:tblGrid>
                <a:gridCol w="1389888"/>
                <a:gridCol w="822960"/>
                <a:gridCol w="731520"/>
                <a:gridCol w="822960"/>
                <a:gridCol w="6135624"/>
              </a:tblGrid>
              <a:tr h="256032">
                <a:tc>
                  <a:txBody>
                    <a:bodyPr wrap="square"/>
                    <a:lstStyle/>
                    <a:p>
                      <a:pPr algn="ctr">
                        <a:spcAft>
                          <a:spcPts val="0"/>
                        </a:spcAft>
                      </a:pPr>
                      <a:r>
                        <a:rPr sz="819"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帳簿価額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評価差額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評価額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調整事由</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電話加入権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換金価値がないものとして評価する。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現金及び預金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1,066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1,066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勘定科目内訳明細書により残高を確認。帳簿価額により評価する。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棚卸資産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玄そばは1年熟成を要する製法上、「古」まで正常在庫。「古古」312千円の滞留性および「伊勢又預け分」商品329千円の実在性は要確認のため帳簿価額により評価。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未収入金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3,323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3,323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3期連続で増加しているが、年齢表・補助残高一覧が未受領で個別評価ができないため帳簿価額により評価（要確認）。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減価償却資産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45,716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45,716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固定資産減価償却内訳明細書により当期償却額が償却限度額と一致していることを確認。償却不足額はない。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土地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固定資産税課税明細書・登記簿・公図が未受領のため時価評価は未実施（要確認）。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車両運搬具</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クラシックカー2台。査定書が未受領のため帳簿価額により評価（要確認）。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出資金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関係会社2社の財務資料が未受領で純資産法による評価ができないため帳簿価額により評価（要確認）。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商標権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償却済で簿価ゼロ。「慈久庵」「古式けんちんそば」のブランド価値は営業権で捉えるため、ここでは評価しない（二重計上の回避）。</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保険積立金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計上なし。販管費の支払保険料623千円の内訳が未確認であり、解約返戻金のある契約の有無は要確認。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敷金・保証金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自社所有物件であり賃借はないため計上なし。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0">
                          <a:solidFill>
                            <a:srgbClr val="1A1A1A"/>
                          </a:solidFill>
                          <a:latin typeface="游ゴシック"/>
                          <a:ea typeface="游ゴシック"/>
                          <a:cs typeface="游ゴシック"/>
                        </a:rPr>
                        <a:t>有価証券</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上場有価証券の保有なし。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5468">
                <a:tc>
                  <a:txBody>
                    <a:bodyPr wrap="square"/>
                    <a:lstStyle/>
                    <a:p>
                      <a:pPr algn="l">
                        <a:spcAft>
                          <a:spcPts val="0"/>
                        </a:spcAft>
                      </a:pPr>
                      <a:r>
                        <a:rPr sz="819" b="1">
                          <a:solidFill>
                            <a:srgbClr val="1A1A1A"/>
                          </a:solidFill>
                          <a:latin typeface="游ゴシック"/>
                          <a:ea typeface="游ゴシック"/>
                          <a:cs typeface="游ゴシック"/>
                        </a:rPr>
                        <a:t>修正額 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時価純資産＝23,658千円△75千円＝23,583千円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4" name="Rectangle 13"/>
          <p:cNvSpPr/>
          <p:nvPr/>
        </p:nvSpPr>
        <p:spPr>
          <a:xfrm>
            <a:off x="448056" y="5779008"/>
            <a:ext cx="9793224" cy="91440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57784" y="6117336"/>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16" name="TextBox 15"/>
          <p:cNvSpPr txBox="1"/>
          <p:nvPr/>
        </p:nvSpPr>
        <p:spPr>
          <a:xfrm>
            <a:off x="1993392" y="5870448"/>
            <a:ext cx="8138160" cy="731520"/>
          </a:xfrm>
          <a:prstGeom prst="rect">
            <a:avLst/>
          </a:prstGeom>
          <a:noFill/>
        </p:spPr>
        <p:txBody>
          <a:bodyPr wrap="square" lIns="0" rIns="0" tIns="0" bIns="0" anchor="ctr">
            <a:spAutoFit/>
          </a:bodyPr>
          <a:lstStyle/>
          <a:p>
            <a:pPr algn="l">
              <a:lnSpc>
                <a:spcPct val="118000"/>
              </a:lnSpc>
              <a:spcAft>
                <a:spcPts val="200"/>
              </a:spcAft>
            </a:pPr>
            <a:r>
              <a:rPr sz="950" b="0">
                <a:solidFill>
                  <a:srgbClr val="1A1A1A"/>
                </a:solidFill>
                <a:latin typeface="游ゴシック"/>
                <a:ea typeface="游ゴシック"/>
                <a:cs typeface="游ゴシック"/>
              </a:rPr>
              <a:t>本件で認識した時価修正は電話加入権△75千円のみである。評価できなかった科目（土地・車両・出資金・棚卸資産・未収入金）は、裏付資料の受領後に再評価の余地があり、いずれもDDにおける追加調整の対象となりうる。</a:t>
            </a:r>
          </a:p>
          <a:p>
            <a:pPr algn="l">
              <a:lnSpc>
                <a:spcPct val="118000"/>
              </a:lnSpc>
              <a:spcAft>
                <a:spcPts val="200"/>
              </a:spcAft>
            </a:pPr>
            <a:r>
              <a:rPr sz="950" b="0">
                <a:solidFill>
                  <a:srgbClr val="1A1A1A"/>
                </a:solidFill>
                <a:latin typeface="游ゴシック"/>
                <a:ea typeface="游ゴシック"/>
                <a:cs typeface="游ゴシック"/>
              </a:rPr>
              <a:t>販売費及び一般管理費については、役員報酬・給料手当の計上がなく、オーナー個人に帰属する経費も識別されなかったため修正を行っていない。</a:t>
            </a:r>
          </a:p>
        </p:txBody>
      </p:sp>
      <p:sp>
        <p:nvSpPr>
          <p:cNvPr id="17" name="TextBox 16"/>
          <p:cNvSpPr txBox="1"/>
          <p:nvPr/>
        </p:nvSpPr>
        <p:spPr>
          <a:xfrm>
            <a:off x="310896" y="6803136"/>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単位：千円。評価基準日：2026年5月31日。</a:t>
            </a:r>
          </a:p>
        </p:txBody>
      </p:sp>
    </p:spTree>
    <p:extLst>
      <p:ext uri="{BB962C8B-B14F-4D97-AF65-F5344CB8AC3E}">
        <p14:creationId xmlns:p14="http://schemas.microsoft.com/office/powerpoint/2010/main" val="94194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FFA37B4E-7ECB-634B-D8F4-FB784ED00D76}"/>
              </a:ext>
            </a:extLst>
          </p:cNvPr>
          <p:cNvSpPr>
            <a:spLocks noGrp="1"/>
          </p:cNvSpPr>
          <p:nvPr>
            <p:ph type="ctrTitle"/>
          </p:nvPr>
        </p:nvSpPr>
        <p:spPr>
          <a:xfrm>
            <a:off x="341313" y="180653"/>
            <a:ext cx="7799917" cy="338554"/>
          </a:xfrm>
        </p:spPr>
        <p:txBody>
          <a:bodyPr/>
          <a:lstStyle/>
          <a:p>
            <a:r>
              <a:rPr>
                <a:latin typeface="游ゴシック"/>
                <a:ea typeface="游ゴシック"/>
                <a:cs typeface="游ゴシック"/>
              </a:rPr>
              <a:t>修正PLの算定［正常収益力の集計］</a:t>
            </a:r>
          </a:p>
        </p:txBody>
      </p:sp>
      <p:sp>
        <p:nvSpPr>
          <p:cNvPr id="3" name="タイトル 1">
            <a:extLst>
              <a:ext uri="{FF2B5EF4-FFF2-40B4-BE49-F238E27FC236}">
                <a16:creationId xmlns:a16="http://schemas.microsoft.com/office/drawing/2014/main" id="{8B1FDB05-1F10-E45F-94B4-C962168561F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2. Financial Analysis </a:t>
            </a:r>
            <a:endParaRPr lang="ja-JP" altLang="en-US" spc="0" dirty="0"/>
          </a:p>
        </p:txBody>
      </p:sp>
      <p:graphicFrame>
        <p:nvGraphicFramePr>
          <p:cNvPr id="7" name="Table 6"/>
          <p:cNvGraphicFramePr>
            <a:graphicFrameLocks noGrp="1"/>
          </p:cNvGraphicFramePr>
          <p:nvPr/>
        </p:nvGraphicFramePr>
        <p:xfrm>
          <a:off x="338328" y="1005840"/>
          <a:ext cx="9902946" cy="3401568"/>
        </p:xfrm>
        <a:graphic>
          <a:graphicData uri="http://schemas.openxmlformats.org/drawingml/2006/table">
            <a:tbl>
              <a:tblPr firstRow="0" bandRow="0">
                <a:tableStyleId>{5940675A-B579-460E-94D1-54222C63F5DA}</a:tableStyleId>
              </a:tblPr>
              <a:tblGrid>
                <a:gridCol w="1697133"/>
                <a:gridCol w="911757"/>
                <a:gridCol w="911757"/>
                <a:gridCol w="911757"/>
                <a:gridCol w="911757"/>
                <a:gridCol w="911757"/>
                <a:gridCol w="911757"/>
                <a:gridCol w="911757"/>
                <a:gridCol w="911757"/>
                <a:gridCol w="911757"/>
              </a:tblGrid>
              <a:tr h="237744">
                <a:tc>
                  <a:txBody>
                    <a:bodyPr wrap="square"/>
                    <a:lstStyle/>
                    <a:p>
                      <a:pPr algn="ctr">
                        <a:spcAft>
                          <a:spcPts val="0"/>
                        </a:spcAft>
                      </a:pPr>
                      <a:r>
                        <a:rPr sz="819" b="1">
                          <a:solidFill>
                            <a:srgbClr val="FFFFFF"/>
                          </a:solidFill>
                          <a:latin typeface="游ゴシック"/>
                          <a:ea typeface="游ゴシック"/>
                          <a:cs typeface="游ゴシック"/>
                        </a:rPr>
                        <a:t>科目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7744">
                <a:tc>
                  <a:txBody>
                    <a:bodyPr wrap="square"/>
                    <a:lstStyle/>
                    <a:p>
                      <a:pPr algn="ctr">
                        <a:spcAft>
                          <a:spcPts val="0"/>
                        </a:spcAft>
                      </a:pPr>
                      <a:r>
                        <a:rPr sz="819"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帳簿価額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修正額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修正後</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帳簿価額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修正額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修正後</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帳簿価額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修正額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修正後</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819" b="0">
                          <a:solidFill>
                            <a:srgbClr val="1A1A1A"/>
                          </a:solidFill>
                          <a:latin typeface="游ゴシック"/>
                          <a:ea typeface="游ゴシック"/>
                          <a:cs typeface="游ゴシック"/>
                        </a:rPr>
                        <a:t>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24,455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24,455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23,542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23,542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22,484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22,484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819" b="1">
                          <a:solidFill>
                            <a:srgbClr val="1A1A1A"/>
                          </a:solidFill>
                          <a:latin typeface="游ゴシック"/>
                          <a:ea typeface="游ゴシック"/>
                          <a:cs typeface="游ゴシック"/>
                        </a:rPr>
                        <a:t>売上原価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16,403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15,650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16,047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15,293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16,428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15,674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819" b="0">
                          <a:solidFill>
                            <a:srgbClr val="1A1A1A"/>
                          </a:solidFill>
                          <a:latin typeface="游ゴシック"/>
                          <a:ea typeface="游ゴシック"/>
                          <a:cs typeface="游ゴシック"/>
                        </a:rPr>
                        <a:t>　うち当期製品製造原価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16,208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15,454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15,680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14,926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16,579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15,826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819" b="0">
                          <a:solidFill>
                            <a:srgbClr val="1A1A1A"/>
                          </a:solidFill>
                          <a:latin typeface="游ゴシック"/>
                          <a:ea typeface="游ゴシック"/>
                          <a:cs typeface="游ゴシック"/>
                        </a:rPr>
                        <a:t>売上総利益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8,051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8,805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7,495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8,249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6,056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6,810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819" b="1">
                          <a:solidFill>
                            <a:srgbClr val="1A1A1A"/>
                          </a:solidFill>
                          <a:latin typeface="游ゴシック"/>
                          <a:ea typeface="游ゴシック"/>
                          <a:cs typeface="游ゴシック"/>
                        </a:rPr>
                        <a:t>販売費及び一般管理費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7,082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7,082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6,212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6,212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6,267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6,267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819" b="0">
                          <a:solidFill>
                            <a:srgbClr val="1A1A1A"/>
                          </a:solidFill>
                          <a:latin typeface="游ゴシック"/>
                          <a:ea typeface="游ゴシック"/>
                          <a:cs typeface="游ゴシック"/>
                        </a:rPr>
                        <a:t>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970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1,723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1,283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2,037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C03A2B"/>
                          </a:solidFill>
                          <a:latin typeface="Arial"/>
                          <a:ea typeface="Arial"/>
                          <a:cs typeface="Arial"/>
                        </a:rPr>
                        <a:t>△211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543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819" b="1">
                          <a:solidFill>
                            <a:srgbClr val="1A1A1A"/>
                          </a:solidFill>
                          <a:latin typeface="游ゴシック"/>
                          <a:ea typeface="游ゴシック"/>
                          <a:cs typeface="游ゴシック"/>
                        </a:rPr>
                        <a:t>減価償却費（事業供用分）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7,380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6,627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7,292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6,539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7,012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C03A2B"/>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6,259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819" b="1">
                          <a:solidFill>
                            <a:srgbClr val="1A1A1A"/>
                          </a:solidFill>
                          <a:latin typeface="游ゴシック"/>
                          <a:ea typeface="游ゴシック"/>
                          <a:cs typeface="游ゴシック"/>
                        </a:rPr>
                        <a:t>修正後EBITDA</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8,350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8,575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6,801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8" name="Rectangle 7"/>
          <p:cNvSpPr/>
          <p:nvPr/>
        </p:nvSpPr>
        <p:spPr>
          <a:xfrm>
            <a:off x="448056" y="4663440"/>
            <a:ext cx="9793224" cy="1335024"/>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57784" y="5212080"/>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10" name="TextBox 9"/>
          <p:cNvSpPr txBox="1"/>
          <p:nvPr/>
        </p:nvSpPr>
        <p:spPr>
          <a:xfrm>
            <a:off x="1993392" y="4754879"/>
            <a:ext cx="8138160" cy="1152144"/>
          </a:xfrm>
          <a:prstGeom prst="rect">
            <a:avLst/>
          </a:prstGeom>
          <a:noFill/>
        </p:spPr>
        <p:txBody>
          <a:bodyPr wrap="square" lIns="0" rIns="0" tIns="0" bIns="0" anchor="ctr">
            <a:spAutoFit/>
          </a:bodyPr>
          <a:lstStyle/>
          <a:p>
            <a:pPr algn="l">
              <a:lnSpc>
                <a:spcPct val="118000"/>
              </a:lnSpc>
              <a:spcAft>
                <a:spcPts val="200"/>
              </a:spcAft>
            </a:pPr>
            <a:r>
              <a:rPr sz="900" b="0">
                <a:solidFill>
                  <a:srgbClr val="1A1A1A"/>
                </a:solidFill>
                <a:latin typeface="游ゴシック"/>
                <a:ea typeface="游ゴシック"/>
                <a:cs typeface="游ゴシック"/>
              </a:rPr>
              <a:t>塩町館に係る減価償却費：当社の事業に供されていない建物（塩町館関連、期末簿価5,442千円）に係る減価償却費753千円を、各期の製造原価から控除した。内訳は塩町館改造工事564千円＋建興通商132千円＋左官工事48千円＋トイレ水道9千円。</a:t>
            </a:r>
          </a:p>
          <a:p>
            <a:pPr algn="l">
              <a:lnSpc>
                <a:spcPct val="118000"/>
              </a:lnSpc>
              <a:spcAft>
                <a:spcPts val="200"/>
              </a:spcAft>
            </a:pPr>
            <a:r>
              <a:rPr sz="900" b="0">
                <a:solidFill>
                  <a:srgbClr val="1A1A1A"/>
                </a:solidFill>
                <a:latin typeface="游ゴシック"/>
                <a:ea typeface="游ゴシック"/>
                <a:cs typeface="游ゴシック"/>
              </a:rPr>
              <a:t>　本調整は営業利益を押し上げる一方、減価償却費からも同額を除いているため EBITDA ベースでは中立である。この結果、修正後EBITDA（8,350／8,575／6,801千円）は企業概要書P.6の調整後EBITDAと完全に一致する。</a:t>
            </a:r>
          </a:p>
          <a:p>
            <a:pPr algn="l">
              <a:lnSpc>
                <a:spcPct val="118000"/>
              </a:lnSpc>
              <a:spcAft>
                <a:spcPts val="200"/>
              </a:spcAft>
            </a:pPr>
            <a:r>
              <a:rPr sz="900" b="0">
                <a:solidFill>
                  <a:srgbClr val="1A1A1A"/>
                </a:solidFill>
                <a:latin typeface="游ゴシック"/>
                <a:ea typeface="游ゴシック"/>
                <a:cs typeface="游ゴシック"/>
              </a:rPr>
              <a:t>役員報酬：代表者・配偶者はいずれも無報酬であり、M&amp;A時に控除すべき役員報酬は存在しない。新体制で必要となる職人人件費は金額が未確定であるため正常収益力には織り込まず、P.23の感応度分析で提示している。</a:t>
            </a:r>
          </a:p>
        </p:txBody>
      </p:sp>
      <p:sp>
        <p:nvSpPr>
          <p:cNvPr id="11" name="TextBox 10"/>
          <p:cNvSpPr txBox="1"/>
          <p:nvPr/>
        </p:nvSpPr>
        <p:spPr>
          <a:xfrm>
            <a:off x="310896" y="6163056"/>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単位：千円。2024年5月期・2025年5月期の固定資産減価償却内訳明細書は未受領のため、塩町館に係る減価償却費は旧定額法であることから3期同額と仮定している（要確認）。</a:t>
            </a:r>
          </a:p>
          <a:p>
            <a:pPr algn="l">
              <a:lnSpc>
                <a:spcPct val="112000"/>
              </a:lnSpc>
              <a:spcAft>
                <a:spcPts val="100"/>
              </a:spcAft>
            </a:pPr>
            <a:r>
              <a:rPr sz="750" b="0">
                <a:solidFill>
                  <a:srgbClr val="5A6670"/>
                </a:solidFill>
                <a:latin typeface="游ゴシック"/>
                <a:ea typeface="游ゴシック"/>
                <a:cs typeface="游ゴシック"/>
              </a:rPr>
              <a:t>※ その他の調整事項：支払利息は無利息借入のため計上なし。補助金収入・圧縮記帳損等の非経常損益はいずれも営業外に計上されており営業利益に影響しない。</a:t>
            </a:r>
          </a:p>
        </p:txBody>
      </p:sp>
    </p:spTree>
    <p:extLst>
      <p:ext uri="{BB962C8B-B14F-4D97-AF65-F5344CB8AC3E}">
        <p14:creationId xmlns:p14="http://schemas.microsoft.com/office/powerpoint/2010/main" val="1691939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C344F58-829E-63F5-31C6-9FB7EA727573}"/>
              </a:ext>
            </a:extLst>
          </p:cNvPr>
          <p:cNvSpPr>
            <a:spLocks noGrp="1"/>
          </p:cNvSpPr>
          <p:nvPr>
            <p:ph type="title"/>
          </p:nvPr>
        </p:nvSpPr>
        <p:spPr>
          <a:xfrm>
            <a:off x="989013" y="3249063"/>
            <a:ext cx="9221787" cy="1429750"/>
          </a:xfrm>
        </p:spPr>
        <p:txBody>
          <a:bodyPr/>
          <a:lstStyle/>
          <a:p>
            <a:pPr>
              <a:lnSpc>
                <a:spcPct val="120000"/>
              </a:lnSpc>
            </a:pPr>
            <a:r>
              <a:rPr lang="en-US" altLang="ja-JP" dirty="0">
                <a:solidFill/>
              </a:rPr>
              <a:t>Valuation Details </a:t>
            </a:r>
            <a:r>
              <a:rPr lang="ja-JP" altLang="en-US" dirty="0">
                <a:solidFill/>
              </a:rPr>
              <a:t>／</a:t>
            </a:r>
            <a:br>
              <a:rPr lang="en-US" altLang="ja-JP" dirty="0"/>
            </a:br>
            <a:r>
              <a:rPr lang="ja-JP" altLang="en-US" dirty="0">
                <a:solidFill/>
              </a:rPr>
              <a:t>株式価値の試算</a:t>
            </a:r>
          </a:p>
        </p:txBody>
      </p:sp>
      <p:grpSp>
        <p:nvGrpSpPr>
          <p:cNvPr id="6" name="グループ化 5">
            <a:extLst>
              <a:ext uri="{FF2B5EF4-FFF2-40B4-BE49-F238E27FC236}">
                <a16:creationId xmlns:a16="http://schemas.microsoft.com/office/drawing/2014/main" id="{52BB44DF-8448-FFAD-BE30-595A1754DDDF}"/>
              </a:ext>
            </a:extLst>
          </p:cNvPr>
          <p:cNvGrpSpPr/>
          <p:nvPr/>
        </p:nvGrpSpPr>
        <p:grpSpPr>
          <a:xfrm>
            <a:off x="885526" y="2173586"/>
            <a:ext cx="3390141" cy="651396"/>
            <a:chOff x="885526" y="2554586"/>
            <a:chExt cx="3390141" cy="651396"/>
          </a:xfrm>
        </p:grpSpPr>
        <p:sp>
          <p:nvSpPr>
            <p:cNvPr id="9" name="テキスト ボックス 8">
              <a:extLst>
                <a:ext uri="{FF2B5EF4-FFF2-40B4-BE49-F238E27FC236}">
                  <a16:creationId xmlns:a16="http://schemas.microsoft.com/office/drawing/2014/main" id="{F253E30E-0D7C-BFB0-7E67-4C2E49F2BDAA}"/>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3</a:t>
              </a:r>
              <a:endParaRPr lang="ja-JP" altLang="en-US" spc="100" dirty="0">
                <a:solidFill>
                  <a:schemeClr val="accent2">
                    <a:lumMod val="90000"/>
                  </a:schemeClr>
                </a:solidFill>
              </a:endParaRPr>
            </a:p>
          </p:txBody>
        </p:sp>
        <p:cxnSp>
          <p:nvCxnSpPr>
            <p:cNvPr id="10" name="直線コネクタ 9">
              <a:extLst>
                <a:ext uri="{FF2B5EF4-FFF2-40B4-BE49-F238E27FC236}">
                  <a16:creationId xmlns:a16="http://schemas.microsoft.com/office/drawing/2014/main" id="{A375A0D1-57FE-D27E-2B83-8DAF521DF351}"/>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0536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F503-C243-C5C8-C2F0-929E04595FC1}"/>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a:latin typeface="游ゴシック"/>
                <a:ea typeface="游ゴシック"/>
                <a:cs typeface="游ゴシック"/>
              </a:rPr>
              <a:t>年買法（コストアプローチ）による算出</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3. Valuation Details </a:t>
            </a:r>
            <a:endParaRPr lang="ja-JP" altLang="en-US" spc="0" dirty="0"/>
          </a:p>
        </p:txBody>
      </p:sp>
      <p:sp>
        <p:nvSpPr>
          <p:cNvPr id="18" name="Rectangle 17"/>
          <p:cNvSpPr/>
          <p:nvPr/>
        </p:nvSpPr>
        <p:spPr>
          <a:xfrm>
            <a:off x="448056" y="859536"/>
            <a:ext cx="3182112"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時価純資産</a:t>
            </a:r>
          </a:p>
        </p:txBody>
      </p:sp>
      <p:graphicFrame>
        <p:nvGraphicFramePr>
          <p:cNvPr id="19" name="Table 18"/>
          <p:cNvGraphicFramePr>
            <a:graphicFrameLocks noGrp="1"/>
          </p:cNvGraphicFramePr>
          <p:nvPr/>
        </p:nvGraphicFramePr>
        <p:xfrm>
          <a:off x="448056" y="1188720"/>
          <a:ext cx="2843784" cy="1755648"/>
        </p:xfrm>
        <a:graphic>
          <a:graphicData uri="http://schemas.openxmlformats.org/drawingml/2006/table">
            <a:tbl>
              <a:tblPr firstRow="0" bandRow="0">
                <a:tableStyleId>{5940675A-B579-460E-94D1-54222C63F5DA}</a:tableStyleId>
              </a:tblPr>
              <a:tblGrid>
                <a:gridCol w="1421892"/>
                <a:gridCol w="1421892"/>
              </a:tblGrid>
              <a:tr h="219456">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9456">
                <a:tc>
                  <a:txBody>
                    <a:bodyPr wrap="square"/>
                    <a:lstStyle/>
                    <a:p>
                      <a:pPr algn="ctr">
                        <a:spcAft>
                          <a:spcPts val="0"/>
                        </a:spcAft>
                      </a:pPr>
                      <a:r>
                        <a:rPr sz="900" b="1">
                          <a:solidFill>
                            <a:srgbClr val="FFFFFF"/>
                          </a:solidFill>
                          <a:latin typeface="游ゴシック"/>
                          <a:ea typeface="游ゴシック"/>
                          <a:cs typeface="游ゴシック"/>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金額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900" b="0">
                          <a:solidFill>
                            <a:srgbClr val="1A1A1A"/>
                          </a:solidFill>
                          <a:latin typeface="游ゴシック"/>
                          <a:ea typeface="游ゴシック"/>
                          <a:cs typeface="游ゴシック"/>
                        </a:rPr>
                        <a:t>簿価純資産額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900" b="0">
                          <a:solidFill>
                            <a:srgbClr val="1A1A1A"/>
                          </a:solidFill>
                          <a:latin typeface="游ゴシック"/>
                          <a:ea typeface="游ゴシック"/>
                          <a:cs typeface="游ゴシック"/>
                        </a:rPr>
                        <a:t>修正額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900" b="0">
                          <a:solidFill>
                            <a:srgbClr val="1A1A1A"/>
                          </a:solidFill>
                          <a:latin typeface="游ゴシック"/>
                          <a:ea typeface="游ゴシック"/>
                          <a:cs typeface="游ゴシック"/>
                        </a:rPr>
                        <a:t>税効果</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900" b="1">
                          <a:solidFill>
                            <a:srgbClr val="1A1A1A"/>
                          </a:solidFill>
                          <a:latin typeface="游ゴシック"/>
                          <a:ea typeface="游ゴシック"/>
                          <a:cs typeface="游ゴシック"/>
                        </a:rPr>
                        <a:t>時価純資産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23,583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0" name="Rectangle 19"/>
          <p:cNvSpPr/>
          <p:nvPr/>
        </p:nvSpPr>
        <p:spPr>
          <a:xfrm>
            <a:off x="4197096" y="859536"/>
            <a:ext cx="6144768"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基準営業利益</a:t>
            </a:r>
          </a:p>
        </p:txBody>
      </p:sp>
      <p:graphicFrame>
        <p:nvGraphicFramePr>
          <p:cNvPr id="21" name="Table 20"/>
          <p:cNvGraphicFramePr>
            <a:graphicFrameLocks noGrp="1"/>
          </p:cNvGraphicFramePr>
          <p:nvPr/>
        </p:nvGraphicFramePr>
        <p:xfrm>
          <a:off x="4197096" y="1188720"/>
          <a:ext cx="6144767" cy="2176272"/>
        </p:xfrm>
        <a:graphic>
          <a:graphicData uri="http://schemas.openxmlformats.org/drawingml/2006/table">
            <a:tbl>
              <a:tblPr firstRow="0" bandRow="0">
                <a:tableStyleId>{5940675A-B579-460E-94D1-54222C63F5DA}</a:tableStyleId>
              </a:tblPr>
              <a:tblGrid>
                <a:gridCol w="1878074"/>
                <a:gridCol w="1422231"/>
                <a:gridCol w="1422231"/>
                <a:gridCol w="1422231"/>
              </a:tblGrid>
              <a:tr h="219456">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9456">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0">
                          <a:solidFill>
                            <a:srgbClr val="1A1A1A"/>
                          </a:solidFill>
                          <a:latin typeface="游ゴシック"/>
                          <a:ea typeface="游ゴシック"/>
                          <a:cs typeface="游ゴシック"/>
                        </a:rPr>
                        <a:t>簿価営業利益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970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1,283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△211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0">
                          <a:solidFill>
                            <a:srgbClr val="1A1A1A"/>
                          </a:solidFill>
                          <a:latin typeface="游ゴシック"/>
                          <a:ea typeface="游ゴシック"/>
                          <a:cs typeface="游ゴシック"/>
                        </a:rPr>
                        <a:t>修正額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753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1">
                          <a:solidFill>
                            <a:srgbClr val="1A1A1A"/>
                          </a:solidFill>
                          <a:latin typeface="游ゴシック"/>
                          <a:ea typeface="游ゴシック"/>
                          <a:cs typeface="游ゴシック"/>
                        </a:rPr>
                        <a:t>修正後営業利益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1,723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2,037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543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0">
                          <a:solidFill>
                            <a:srgbClr val="1A1A1A"/>
                          </a:solidFill>
                          <a:latin typeface="游ゴシック"/>
                          <a:ea typeface="游ゴシック"/>
                          <a:cs typeface="游ゴシック"/>
                        </a:rPr>
                        <a:t>税考慮額（△34％）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△586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△692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△184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1">
                          <a:solidFill>
                            <a:srgbClr val="1A1A1A"/>
                          </a:solidFill>
                          <a:latin typeface="游ゴシック"/>
                          <a:ea typeface="游ゴシック"/>
                          <a:cs typeface="游ゴシック"/>
                        </a:rPr>
                        <a:t>修正後税考慮後営業利益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1,137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1,344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358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2" name="TextBox 21"/>
          <p:cNvSpPr txBox="1"/>
          <p:nvPr/>
        </p:nvSpPr>
        <p:spPr>
          <a:xfrm>
            <a:off x="6583680" y="3438144"/>
            <a:ext cx="2286000" cy="219456"/>
          </a:xfrm>
          <a:prstGeom prst="rect">
            <a:avLst/>
          </a:prstGeom>
          <a:noFill/>
        </p:spPr>
        <p:txBody>
          <a:bodyPr wrap="square" lIns="0" rIns="0" tIns="0" bIns="0" anchor="t">
            <a:spAutoFit/>
          </a:bodyPr>
          <a:lstStyle/>
          <a:p>
            <a:pPr algn="l">
              <a:spcAft>
                <a:spcPts val="0"/>
              </a:spcAft>
            </a:pPr>
            <a:r>
              <a:rPr sz="1000" b="1">
                <a:solidFill>
                  <a:srgbClr val="0B3041"/>
                </a:solidFill>
                <a:latin typeface="游ゴシック"/>
                <a:ea typeface="游ゴシック"/>
                <a:cs typeface="游ゴシック"/>
              </a:rPr>
              <a:t>基準営業利益</a:t>
            </a:r>
          </a:p>
        </p:txBody>
      </p:sp>
      <p:sp>
        <p:nvSpPr>
          <p:cNvPr id="23" name="Rectangle 22"/>
          <p:cNvSpPr/>
          <p:nvPr/>
        </p:nvSpPr>
        <p:spPr>
          <a:xfrm>
            <a:off x="8869680" y="3401568"/>
            <a:ext cx="1472184" cy="292608"/>
          </a:xfrm>
          <a:prstGeom prst="rect">
            <a:avLst/>
          </a:prstGeom>
          <a:solidFill>
            <a:srgbClr val="E1F3FB"/>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869680" y="3401568"/>
            <a:ext cx="1417320" cy="292608"/>
          </a:xfrm>
          <a:prstGeom prst="rect">
            <a:avLst/>
          </a:prstGeom>
          <a:noFill/>
        </p:spPr>
        <p:txBody>
          <a:bodyPr wrap="square" lIns="0" rIns="0" tIns="0" bIns="0" anchor="ctr">
            <a:spAutoFit/>
          </a:bodyPr>
          <a:lstStyle/>
          <a:p>
            <a:pPr algn="r">
              <a:spcAft>
                <a:spcPts val="0"/>
              </a:spcAft>
            </a:pPr>
            <a:r>
              <a:rPr sz="1100" b="1">
                <a:solidFill>
                  <a:srgbClr val="0B3041"/>
                </a:solidFill>
                <a:latin typeface="Arial"/>
                <a:ea typeface="Arial"/>
                <a:cs typeface="Arial"/>
              </a:rPr>
              <a:t>810</a:t>
            </a:r>
          </a:p>
        </p:txBody>
      </p:sp>
      <p:sp>
        <p:nvSpPr>
          <p:cNvPr id="25" name="TextBox 24"/>
          <p:cNvSpPr txBox="1"/>
          <p:nvPr/>
        </p:nvSpPr>
        <p:spPr>
          <a:xfrm>
            <a:off x="338328" y="3968496"/>
            <a:ext cx="7562088" cy="310896"/>
          </a:xfrm>
          <a:prstGeom prst="rect">
            <a:avLst/>
          </a:prstGeom>
          <a:noFill/>
        </p:spPr>
        <p:txBody>
          <a:bodyPr wrap="square" lIns="0" rIns="0" tIns="0" bIns="0" anchor="t">
            <a:spAutoFit/>
          </a:bodyPr>
          <a:lstStyle/>
          <a:p>
            <a:pPr algn="l">
              <a:spcAft>
                <a:spcPts val="0"/>
              </a:spcAft>
            </a:pPr>
            <a:r>
              <a:rPr sz="1800" b="1">
                <a:solidFill>
                  <a:srgbClr val="0B3041"/>
                </a:solidFill>
                <a:latin typeface="游ゴシック"/>
                <a:ea typeface="游ゴシック"/>
                <a:cs typeface="游ゴシック"/>
              </a:rPr>
              <a:t>想定株式価値</a:t>
            </a:r>
          </a:p>
        </p:txBody>
      </p:sp>
      <p:graphicFrame>
        <p:nvGraphicFramePr>
          <p:cNvPr id="26" name="Table 25"/>
          <p:cNvGraphicFramePr>
            <a:graphicFrameLocks noGrp="1"/>
          </p:cNvGraphicFramePr>
          <p:nvPr/>
        </p:nvGraphicFramePr>
        <p:xfrm>
          <a:off x="448056" y="4352544"/>
          <a:ext cx="6199632" cy="1408176"/>
        </p:xfrm>
        <a:graphic>
          <a:graphicData uri="http://schemas.openxmlformats.org/drawingml/2006/table">
            <a:tbl>
              <a:tblPr firstRow="0" bandRow="0">
                <a:tableStyleId>{5940675A-B579-460E-94D1-54222C63F5DA}</a:tableStyleId>
              </a:tblPr>
              <a:tblGrid>
                <a:gridCol w="1549908"/>
                <a:gridCol w="1549908"/>
                <a:gridCol w="1549908"/>
                <a:gridCol w="1549908"/>
              </a:tblGrid>
              <a:tr h="256032">
                <a:tc>
                  <a:txBody>
                    <a:bodyPr wrap="square"/>
                    <a:lstStyle/>
                    <a:p>
                      <a:pPr algn="ctr">
                        <a:spcAft>
                          <a:spcPts val="0"/>
                        </a:spcAft>
                      </a:pPr>
                      <a:r>
                        <a:rPr sz="950" b="1">
                          <a:solidFill>
                            <a:srgbClr val="FFFFFF"/>
                          </a:solidFill>
                          <a:latin typeface="游ゴシック"/>
                          <a:ea typeface="游ゴシック"/>
                          <a:cs typeface="游ゴシック"/>
                        </a:rPr>
                        <a:t>営業権倍率</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50" b="1">
                          <a:solidFill>
                            <a:srgbClr val="FFFFFF"/>
                          </a:solidFill>
                          <a:latin typeface="Arial"/>
                          <a:ea typeface="Arial"/>
                          <a:cs typeface="Arial"/>
                        </a:rPr>
                        <a:t>x1</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50" b="1">
                          <a:solidFill>
                            <a:srgbClr val="FFFFFF"/>
                          </a:solidFill>
                          <a:latin typeface="Arial"/>
                          <a:ea typeface="Arial"/>
                          <a:cs typeface="Arial"/>
                        </a:rPr>
                        <a:t>x2</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50" b="1">
                          <a:solidFill>
                            <a:srgbClr val="FFFFFF"/>
                          </a:solidFill>
                          <a:latin typeface="Arial"/>
                          <a:ea typeface="Arial"/>
                          <a:cs typeface="Arial"/>
                        </a:rPr>
                        <a:t>x3</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50" b="0">
                          <a:solidFill>
                            <a:srgbClr val="1A1A1A"/>
                          </a:solidFill>
                          <a:latin typeface="游ゴシック"/>
                          <a:ea typeface="游ゴシック"/>
                          <a:cs typeface="游ゴシック"/>
                        </a:rPr>
                        <a:t>時価純資産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1A1A1A"/>
                          </a:solidFill>
                          <a:latin typeface="Arial"/>
                          <a:ea typeface="Arial"/>
                          <a:cs typeface="Arial"/>
                        </a:rPr>
                        <a:t>23,583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5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5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50" b="0">
                          <a:solidFill>
                            <a:srgbClr val="1A1A1A"/>
                          </a:solidFill>
                          <a:latin typeface="游ゴシック"/>
                          <a:ea typeface="游ゴシック"/>
                          <a:cs typeface="游ゴシック"/>
                        </a:rPr>
                        <a:t>営業権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1A1A1A"/>
                          </a:solidFill>
                          <a:latin typeface="Arial"/>
                          <a:ea typeface="Arial"/>
                          <a:cs typeface="Arial"/>
                        </a:rPr>
                        <a:t>810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1A1A1A"/>
                          </a:solidFill>
                          <a:latin typeface="Arial"/>
                          <a:ea typeface="Arial"/>
                          <a:cs typeface="Arial"/>
                        </a:rPr>
                        <a:t>1,620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1A1A1A"/>
                          </a:solidFill>
                          <a:latin typeface="Arial"/>
                          <a:ea typeface="Arial"/>
                          <a:cs typeface="Arial"/>
                        </a:rPr>
                        <a:t>2,429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950" b="1">
                          <a:solidFill>
                            <a:srgbClr val="1A1A1A"/>
                          </a:solidFill>
                          <a:latin typeface="游ゴシック"/>
                          <a:ea typeface="游ゴシック"/>
                          <a:cs typeface="游ゴシック"/>
                        </a:rPr>
                        <a:t>想定株式価値</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1">
                          <a:solidFill>
                            <a:srgbClr val="1A1A1A"/>
                          </a:solidFill>
                          <a:latin typeface="Arial"/>
                          <a:ea typeface="Arial"/>
                          <a:cs typeface="Arial"/>
                        </a:rPr>
                        <a:t>24,392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1">
                          <a:solidFill>
                            <a:srgbClr val="1A1A1A"/>
                          </a:solidFill>
                          <a:latin typeface="Arial"/>
                          <a:ea typeface="Arial"/>
                          <a:cs typeface="Arial"/>
                        </a:rPr>
                        <a:t>25,202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1">
                          <a:solidFill>
                            <a:srgbClr val="1A1A1A"/>
                          </a:solidFill>
                          <a:latin typeface="Arial"/>
                          <a:ea typeface="Arial"/>
                          <a:cs typeface="Arial"/>
                        </a:rPr>
                        <a:t>26,012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7" name="Rectangle 26"/>
          <p:cNvSpPr/>
          <p:nvPr/>
        </p:nvSpPr>
        <p:spPr>
          <a:xfrm>
            <a:off x="6949440" y="4352544"/>
            <a:ext cx="3392424" cy="1408176"/>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949440" y="4352544"/>
            <a:ext cx="932688" cy="140817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949440" y="4937759"/>
            <a:ext cx="932688" cy="237744"/>
          </a:xfrm>
          <a:prstGeom prst="rect">
            <a:avLst/>
          </a:prstGeom>
          <a:noFill/>
        </p:spPr>
        <p:txBody>
          <a:bodyPr wrap="square" lIns="0" rIns="0" t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30" name="TextBox 29"/>
          <p:cNvSpPr txBox="1"/>
          <p:nvPr/>
        </p:nvSpPr>
        <p:spPr>
          <a:xfrm>
            <a:off x="8046719" y="4443983"/>
            <a:ext cx="2167128" cy="1225296"/>
          </a:xfrm>
          <a:prstGeom prst="rect">
            <a:avLst/>
          </a:prstGeom>
          <a:noFill/>
        </p:spPr>
        <p:txBody>
          <a:bodyPr wrap="square" lIns="0" rIns="0" tIns="0" bIns="0" anchor="ctr">
            <a:spAutoFit/>
          </a:bodyPr>
          <a:lstStyle/>
          <a:p>
            <a:pPr algn="l">
              <a:lnSpc>
                <a:spcPct val="122000"/>
              </a:lnSpc>
              <a:spcAft>
                <a:spcPts val="200"/>
              </a:spcAft>
            </a:pPr>
            <a:r>
              <a:rPr sz="1050" b="0">
                <a:solidFill>
                  <a:srgbClr val="1A1A1A"/>
                </a:solidFill>
                <a:latin typeface="游ゴシック"/>
                <a:ea typeface="游ゴシック"/>
                <a:cs typeface="游ゴシック"/>
              </a:rPr>
              <a:t>営業権倍率は買手企業のM&amp;A方針、取り組み意欲、想定シナジー等によっても変動いたします。</a:t>
            </a:r>
          </a:p>
        </p:txBody>
      </p:sp>
      <p:sp>
        <p:nvSpPr>
          <p:cNvPr id="31" name="Rectangle 30"/>
          <p:cNvSpPr/>
          <p:nvPr/>
        </p:nvSpPr>
        <p:spPr>
          <a:xfrm>
            <a:off x="448056" y="6035040"/>
            <a:ext cx="9793224" cy="694944"/>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57784" y="6263640"/>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33" name="TextBox 32"/>
          <p:cNvSpPr txBox="1"/>
          <p:nvPr/>
        </p:nvSpPr>
        <p:spPr>
          <a:xfrm>
            <a:off x="1993392" y="6126479"/>
            <a:ext cx="2602992" cy="512064"/>
          </a:xfrm>
          <a:prstGeom prst="rect">
            <a:avLst/>
          </a:prstGeom>
          <a:noFill/>
        </p:spPr>
        <p:txBody>
          <a:bodyPr wrap="square" lIns="0" rIns="0" tIns="0" bIns="0" anchor="ctr">
            <a:spAutoFit/>
          </a:bodyPr>
          <a:lstStyle/>
          <a:p>
            <a:pPr algn="l">
              <a:lnSpc>
                <a:spcPct val="118000"/>
              </a:lnSpc>
              <a:spcAft>
                <a:spcPts val="0"/>
              </a:spcAft>
            </a:pPr>
            <a:r>
              <a:rPr sz="950" b="0">
                <a:solidFill>
                  <a:srgbClr val="1A1A1A"/>
                </a:solidFill>
                <a:latin typeface="游ゴシック"/>
                <a:ea typeface="游ゴシック"/>
                <a:cs typeface="游ゴシック"/>
              </a:rPr>
              <a:t>・営業権の算出は修正後税考慮後営業利益を基準とし採用</a:t>
            </a:r>
          </a:p>
        </p:txBody>
      </p:sp>
      <p:sp>
        <p:nvSpPr>
          <p:cNvPr id="34" name="TextBox 33"/>
          <p:cNvSpPr txBox="1"/>
          <p:nvPr/>
        </p:nvSpPr>
        <p:spPr>
          <a:xfrm>
            <a:off x="4706112" y="6126479"/>
            <a:ext cx="2602992" cy="512064"/>
          </a:xfrm>
          <a:prstGeom prst="rect">
            <a:avLst/>
          </a:prstGeom>
          <a:noFill/>
        </p:spPr>
        <p:txBody>
          <a:bodyPr wrap="square" lIns="0" rIns="0" tIns="0" bIns="0" anchor="ctr">
            <a:spAutoFit/>
          </a:bodyPr>
          <a:lstStyle/>
          <a:p>
            <a:pPr algn="l">
              <a:lnSpc>
                <a:spcPct val="118000"/>
              </a:lnSpc>
              <a:spcAft>
                <a:spcPts val="0"/>
              </a:spcAft>
            </a:pPr>
            <a:r>
              <a:rPr sz="950" b="0">
                <a:solidFill>
                  <a:srgbClr val="1A1A1A"/>
                </a:solidFill>
                <a:latin typeface="游ゴシック"/>
                <a:ea typeface="游ゴシック"/>
                <a:cs typeface="游ゴシック"/>
              </a:rPr>
              <a:t>・営業利益は過去3期の加重平均（直近期50％・前期30％・前々期20％）を採用</a:t>
            </a:r>
          </a:p>
        </p:txBody>
      </p:sp>
      <p:sp>
        <p:nvSpPr>
          <p:cNvPr id="35" name="TextBox 34"/>
          <p:cNvSpPr txBox="1"/>
          <p:nvPr/>
        </p:nvSpPr>
        <p:spPr>
          <a:xfrm>
            <a:off x="7418832" y="6126479"/>
            <a:ext cx="2602992" cy="512064"/>
          </a:xfrm>
          <a:prstGeom prst="rect">
            <a:avLst/>
          </a:prstGeom>
          <a:noFill/>
        </p:spPr>
        <p:txBody>
          <a:bodyPr wrap="square" lIns="0" rIns="0" tIns="0" bIns="0" anchor="ctr">
            <a:spAutoFit/>
          </a:bodyPr>
          <a:lstStyle/>
          <a:p>
            <a:pPr algn="l">
              <a:lnSpc>
                <a:spcPct val="118000"/>
              </a:lnSpc>
              <a:spcAft>
                <a:spcPts val="0"/>
              </a:spcAft>
            </a:pPr>
            <a:r>
              <a:rPr sz="950" b="0">
                <a:solidFill>
                  <a:srgbClr val="1A1A1A"/>
                </a:solidFill>
                <a:latin typeface="游ゴシック"/>
                <a:ea typeface="游ゴシック"/>
                <a:cs typeface="游ゴシック"/>
              </a:rPr>
              <a:t>・営業権倍率は国内の中小企業M&amp;Aの実例においてボリュームゾーンである1〜3倍を適用</a:t>
            </a:r>
          </a:p>
        </p:txBody>
      </p:sp>
      <p:sp>
        <p:nvSpPr>
          <p:cNvPr id="36" name="TextBox 35"/>
          <p:cNvSpPr txBox="1"/>
          <p:nvPr/>
        </p:nvSpPr>
        <p:spPr>
          <a:xfrm>
            <a:off x="310896" y="685800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単位：千円。時価純資産の修正額は電話加入権△75千円のみであり僅少であるため、税効果（実効税率34％）は認識していない。</a:t>
            </a:r>
          </a:p>
        </p:txBody>
      </p:sp>
    </p:spTree>
    <p:extLst>
      <p:ext uri="{BB962C8B-B14F-4D97-AF65-F5344CB8AC3E}">
        <p14:creationId xmlns:p14="http://schemas.microsoft.com/office/powerpoint/2010/main" val="3814231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68CF-D69D-18FC-3A0E-C232A8D38007}"/>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a:latin typeface="游ゴシック"/>
                <a:ea typeface="游ゴシック"/>
                <a:cs typeface="游ゴシック"/>
              </a:rPr>
              <a:t>EV/EBITDAマルチプル法（マーケットアプローチ）による算出</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3. Valuation Details </a:t>
            </a:r>
            <a:endParaRPr lang="ja-JP" altLang="en-US" spc="0" dirty="0"/>
          </a:p>
        </p:txBody>
      </p:sp>
      <p:sp>
        <p:nvSpPr>
          <p:cNvPr id="18" name="Rectangle 17"/>
          <p:cNvSpPr/>
          <p:nvPr/>
        </p:nvSpPr>
        <p:spPr>
          <a:xfrm>
            <a:off x="448056" y="987552"/>
            <a:ext cx="3182112"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ネットキャッシュ</a:t>
            </a:r>
          </a:p>
        </p:txBody>
      </p:sp>
      <p:graphicFrame>
        <p:nvGraphicFramePr>
          <p:cNvPr id="19" name="Table 18"/>
          <p:cNvGraphicFramePr>
            <a:graphicFrameLocks noGrp="1"/>
          </p:cNvGraphicFramePr>
          <p:nvPr/>
        </p:nvGraphicFramePr>
        <p:xfrm>
          <a:off x="448056" y="1316736"/>
          <a:ext cx="2843784" cy="1481328"/>
        </p:xfrm>
        <a:graphic>
          <a:graphicData uri="http://schemas.openxmlformats.org/drawingml/2006/table">
            <a:tbl>
              <a:tblPr firstRow="0" bandRow="0">
                <a:tableStyleId>{5940675A-B579-460E-94D1-54222C63F5DA}</a:tableStyleId>
              </a:tblPr>
              <a:tblGrid>
                <a:gridCol w="1421892"/>
                <a:gridCol w="1421892"/>
              </a:tblGrid>
              <a:tr h="219456">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9456">
                <a:tc>
                  <a:txBody>
                    <a:bodyPr wrap="square"/>
                    <a:lstStyle/>
                    <a:p>
                      <a:pPr algn="ctr">
                        <a:spcAft>
                          <a:spcPts val="0"/>
                        </a:spcAft>
                      </a:pPr>
                      <a:r>
                        <a:rPr sz="900" b="1">
                          <a:solidFill>
                            <a:srgbClr val="FFFFFF"/>
                          </a:solidFill>
                          <a:latin typeface="游ゴシック"/>
                          <a:ea typeface="游ゴシック"/>
                          <a:cs typeface="游ゴシック"/>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金額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0">
                          <a:solidFill>
                            <a:srgbClr val="1A1A1A"/>
                          </a:solidFill>
                          <a:latin typeface="游ゴシック"/>
                          <a:ea typeface="游ゴシック"/>
                          <a:cs typeface="游ゴシック"/>
                        </a:rPr>
                        <a:t>キャッシュライク</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2,166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0">
                          <a:solidFill>
                            <a:srgbClr val="1A1A1A"/>
                          </a:solidFill>
                          <a:latin typeface="游ゴシック"/>
                          <a:ea typeface="游ゴシック"/>
                          <a:cs typeface="游ゴシック"/>
                        </a:rPr>
                        <a:t>デットライク</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32,780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1">
                          <a:solidFill>
                            <a:srgbClr val="1A1A1A"/>
                          </a:solidFill>
                          <a:latin typeface="游ゴシック"/>
                          <a:ea typeface="游ゴシック"/>
                          <a:cs typeface="游ゴシック"/>
                        </a:rPr>
                        <a:t>ネットキャッシュ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C03A2B"/>
                          </a:solidFill>
                          <a:latin typeface="Arial"/>
                          <a:ea typeface="Arial"/>
                          <a:cs typeface="Arial"/>
                        </a:rPr>
                        <a:t>△30,614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0" name="Rectangle 19"/>
          <p:cNvSpPr/>
          <p:nvPr/>
        </p:nvSpPr>
        <p:spPr>
          <a:xfrm>
            <a:off x="3913632" y="987552"/>
            <a:ext cx="6428232"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基準EBITDA</a:t>
            </a:r>
          </a:p>
        </p:txBody>
      </p:sp>
      <p:graphicFrame>
        <p:nvGraphicFramePr>
          <p:cNvPr id="21" name="Table 20"/>
          <p:cNvGraphicFramePr>
            <a:graphicFrameLocks noGrp="1"/>
          </p:cNvGraphicFramePr>
          <p:nvPr/>
        </p:nvGraphicFramePr>
        <p:xfrm>
          <a:off x="3913632" y="1316736"/>
          <a:ext cx="6428232" cy="1481328"/>
        </p:xfrm>
        <a:graphic>
          <a:graphicData uri="http://schemas.openxmlformats.org/drawingml/2006/table">
            <a:tbl>
              <a:tblPr firstRow="0" bandRow="0">
                <a:tableStyleId>{5940675A-B579-460E-94D1-54222C63F5DA}</a:tableStyleId>
              </a:tblPr>
              <a:tblGrid>
                <a:gridCol w="2011680"/>
                <a:gridCol w="1472184"/>
                <a:gridCol w="1472184"/>
                <a:gridCol w="1472184"/>
              </a:tblGrid>
              <a:tr h="219456">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9456">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0">
                          <a:solidFill>
                            <a:srgbClr val="1A1A1A"/>
                          </a:solidFill>
                          <a:latin typeface="游ゴシック"/>
                          <a:ea typeface="游ゴシック"/>
                          <a:cs typeface="游ゴシック"/>
                        </a:rPr>
                        <a:t>修正後営業利益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1,723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2,037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543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0">
                          <a:solidFill>
                            <a:srgbClr val="1A1A1A"/>
                          </a:solidFill>
                          <a:latin typeface="游ゴシック"/>
                          <a:ea typeface="游ゴシック"/>
                          <a:cs typeface="游ゴシック"/>
                        </a:rPr>
                        <a:t>減価償却費（事業供用分）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6,627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6,538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6,258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00" b="1">
                          <a:solidFill>
                            <a:srgbClr val="1A1A1A"/>
                          </a:solidFill>
                          <a:latin typeface="游ゴシック"/>
                          <a:ea typeface="游ゴシック"/>
                          <a:cs typeface="游ゴシック"/>
                        </a:rPr>
                        <a:t>修正後EBITDA</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8,350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8,575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6,801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2" name="TextBox 21"/>
          <p:cNvSpPr txBox="1"/>
          <p:nvPr/>
        </p:nvSpPr>
        <p:spPr>
          <a:xfrm>
            <a:off x="6400800" y="3163824"/>
            <a:ext cx="2286000" cy="219456"/>
          </a:xfrm>
          <a:prstGeom prst="rect">
            <a:avLst/>
          </a:prstGeom>
          <a:noFill/>
        </p:spPr>
        <p:txBody>
          <a:bodyPr wrap="square" lIns="0" rIns="0" tIns="0" bIns="0" anchor="t">
            <a:spAutoFit/>
          </a:bodyPr>
          <a:lstStyle/>
          <a:p>
            <a:pPr algn="l">
              <a:spcAft>
                <a:spcPts val="0"/>
              </a:spcAft>
            </a:pPr>
            <a:r>
              <a:rPr sz="1000" b="1">
                <a:solidFill>
                  <a:srgbClr val="0B3041"/>
                </a:solidFill>
                <a:latin typeface="游ゴシック"/>
                <a:ea typeface="游ゴシック"/>
                <a:cs typeface="游ゴシック"/>
              </a:rPr>
              <a:t>基準EBITDA</a:t>
            </a:r>
          </a:p>
        </p:txBody>
      </p:sp>
      <p:sp>
        <p:nvSpPr>
          <p:cNvPr id="23" name="Rectangle 22"/>
          <p:cNvSpPr/>
          <p:nvPr/>
        </p:nvSpPr>
        <p:spPr>
          <a:xfrm>
            <a:off x="8869680" y="3127248"/>
            <a:ext cx="1472184" cy="292608"/>
          </a:xfrm>
          <a:prstGeom prst="rect">
            <a:avLst/>
          </a:prstGeom>
          <a:solidFill>
            <a:srgbClr val="E1F3FB"/>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869680" y="3127248"/>
            <a:ext cx="1417320" cy="292608"/>
          </a:xfrm>
          <a:prstGeom prst="rect">
            <a:avLst/>
          </a:prstGeom>
          <a:noFill/>
        </p:spPr>
        <p:txBody>
          <a:bodyPr wrap="square" lIns="0" rIns="0" tIns="0" bIns="0" anchor="ctr">
            <a:spAutoFit/>
          </a:bodyPr>
          <a:lstStyle/>
          <a:p>
            <a:pPr algn="r">
              <a:spcAft>
                <a:spcPts val="0"/>
              </a:spcAft>
            </a:pPr>
            <a:r>
              <a:rPr sz="1100" b="1">
                <a:solidFill>
                  <a:srgbClr val="0B3041"/>
                </a:solidFill>
                <a:latin typeface="Arial"/>
                <a:ea typeface="Arial"/>
                <a:cs typeface="Arial"/>
              </a:rPr>
              <a:t>7,643</a:t>
            </a:r>
          </a:p>
        </p:txBody>
      </p:sp>
      <p:sp>
        <p:nvSpPr>
          <p:cNvPr id="25" name="TextBox 24"/>
          <p:cNvSpPr txBox="1"/>
          <p:nvPr/>
        </p:nvSpPr>
        <p:spPr>
          <a:xfrm>
            <a:off x="338328" y="3712463"/>
            <a:ext cx="7562088" cy="310896"/>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想定株式価値【主たる前提：役員借入金を承継】</a:t>
            </a:r>
          </a:p>
        </p:txBody>
      </p:sp>
      <p:graphicFrame>
        <p:nvGraphicFramePr>
          <p:cNvPr id="26" name="Table 25"/>
          <p:cNvGraphicFramePr>
            <a:graphicFrameLocks noGrp="1"/>
          </p:cNvGraphicFramePr>
          <p:nvPr/>
        </p:nvGraphicFramePr>
        <p:xfrm>
          <a:off x="448056" y="4096512"/>
          <a:ext cx="6199632" cy="1645920"/>
        </p:xfrm>
        <a:graphic>
          <a:graphicData uri="http://schemas.openxmlformats.org/drawingml/2006/table">
            <a:tbl>
              <a:tblPr firstRow="0" bandRow="0">
                <a:tableStyleId>{5940675A-B579-460E-94D1-54222C63F5DA}</a:tableStyleId>
              </a:tblPr>
              <a:tblGrid>
                <a:gridCol w="2194560"/>
                <a:gridCol w="1335024"/>
                <a:gridCol w="1335024"/>
                <a:gridCol w="1335024"/>
              </a:tblGrid>
              <a:tr h="256032">
                <a:tc>
                  <a:txBody>
                    <a:bodyPr wrap="square"/>
                    <a:lstStyle/>
                    <a:p>
                      <a:pPr algn="ctr">
                        <a:spcAft>
                          <a:spcPts val="0"/>
                        </a:spcAft>
                      </a:pPr>
                      <a:r>
                        <a:rPr sz="950" b="1">
                          <a:solidFill>
                            <a:srgbClr val="FFFFFF"/>
                          </a:solidFill>
                          <a:latin typeface="游ゴシック"/>
                          <a:ea typeface="游ゴシック"/>
                          <a:cs typeface="游ゴシック"/>
                        </a:rPr>
                        <a:t>マルチプル倍率</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50" b="1">
                          <a:solidFill>
                            <a:srgbClr val="FFFFFF"/>
                          </a:solidFill>
                          <a:latin typeface="Arial"/>
                          <a:ea typeface="Arial"/>
                          <a:cs typeface="Arial"/>
                        </a:rPr>
                        <a:t>x3</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50" b="1">
                          <a:solidFill>
                            <a:srgbClr val="FFFFFF"/>
                          </a:solidFill>
                          <a:latin typeface="Arial"/>
                          <a:ea typeface="Arial"/>
                          <a:cs typeface="Arial"/>
                        </a:rPr>
                        <a:t>x4</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50" b="1">
                          <a:solidFill>
                            <a:srgbClr val="FFFFFF"/>
                          </a:solidFill>
                          <a:latin typeface="Arial"/>
                          <a:ea typeface="Arial"/>
                          <a:cs typeface="Arial"/>
                        </a:rPr>
                        <a:t>x5</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50" b="0">
                          <a:solidFill>
                            <a:srgbClr val="1A1A1A"/>
                          </a:solidFill>
                          <a:latin typeface="游ゴシック"/>
                          <a:ea typeface="游ゴシック"/>
                          <a:cs typeface="游ゴシック"/>
                        </a:rPr>
                        <a:t>EV（EBITDA×倍率）</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1A1A1A"/>
                          </a:solidFill>
                          <a:latin typeface="Arial"/>
                          <a:ea typeface="Arial"/>
                          <a:cs typeface="Arial"/>
                        </a:rPr>
                        <a:t>22,928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1A1A1A"/>
                          </a:solidFill>
                          <a:latin typeface="Arial"/>
                          <a:ea typeface="Arial"/>
                          <a:cs typeface="Arial"/>
                        </a:rPr>
                        <a:t>30,571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1A1A1A"/>
                          </a:solidFill>
                          <a:latin typeface="Arial"/>
                          <a:ea typeface="Arial"/>
                          <a:cs typeface="Arial"/>
                        </a:rPr>
                        <a:t>38,214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50" b="0">
                          <a:solidFill>
                            <a:srgbClr val="1A1A1A"/>
                          </a:solidFill>
                          <a:latin typeface="游ゴシック"/>
                          <a:ea typeface="游ゴシック"/>
                          <a:cs typeface="游ゴシック"/>
                        </a:rPr>
                        <a:t>非流動性ディスカウント（△30％）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C03A2B"/>
                          </a:solidFill>
                          <a:latin typeface="Arial"/>
                          <a:ea typeface="Arial"/>
                          <a:cs typeface="Arial"/>
                        </a:rPr>
                        <a:t>△6,879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C03A2B"/>
                          </a:solidFill>
                          <a:latin typeface="Arial"/>
                          <a:ea typeface="Arial"/>
                          <a:cs typeface="Arial"/>
                        </a:rPr>
                        <a:t>△9,171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C03A2B"/>
                          </a:solidFill>
                          <a:latin typeface="Arial"/>
                          <a:ea typeface="Arial"/>
                          <a:cs typeface="Arial"/>
                        </a:rPr>
                        <a:t>△11,464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50" b="0">
                          <a:solidFill>
                            <a:srgbClr val="1A1A1A"/>
                          </a:solidFill>
                          <a:latin typeface="游ゴシック"/>
                          <a:ea typeface="游ゴシック"/>
                          <a:cs typeface="游ゴシック"/>
                        </a:rPr>
                        <a:t>ネットキャッシュ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C03A2B"/>
                          </a:solidFill>
                          <a:latin typeface="Arial"/>
                          <a:ea typeface="Arial"/>
                          <a:cs typeface="Arial"/>
                        </a:rPr>
                        <a:t>△30,614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C03A2B"/>
                          </a:solidFill>
                          <a:latin typeface="Arial"/>
                          <a:ea typeface="Arial"/>
                          <a:cs typeface="Arial"/>
                        </a:rPr>
                        <a:t>△30,614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0">
                          <a:solidFill>
                            <a:srgbClr val="C03A2B"/>
                          </a:solidFill>
                          <a:latin typeface="Arial"/>
                          <a:ea typeface="Arial"/>
                          <a:cs typeface="Arial"/>
                        </a:rPr>
                        <a:t>△30,614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47472">
                <a:tc>
                  <a:txBody>
                    <a:bodyPr wrap="square"/>
                    <a:lstStyle/>
                    <a:p>
                      <a:pPr algn="l">
                        <a:spcAft>
                          <a:spcPts val="0"/>
                        </a:spcAft>
                      </a:pPr>
                      <a:r>
                        <a:rPr sz="950" b="1">
                          <a:solidFill>
                            <a:srgbClr val="1A1A1A"/>
                          </a:solidFill>
                          <a:latin typeface="游ゴシック"/>
                          <a:ea typeface="游ゴシック"/>
                          <a:cs typeface="游ゴシック"/>
                        </a:rPr>
                        <a:t>想定株式価値</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1">
                          <a:solidFill>
                            <a:srgbClr val="C03A2B"/>
                          </a:solidFill>
                          <a:latin typeface="Arial"/>
                          <a:ea typeface="Arial"/>
                          <a:cs typeface="Arial"/>
                        </a:rPr>
                        <a:t>△14,564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1">
                          <a:solidFill>
                            <a:srgbClr val="C03A2B"/>
                          </a:solidFill>
                          <a:latin typeface="Arial"/>
                          <a:ea typeface="Arial"/>
                          <a:cs typeface="Arial"/>
                        </a:rPr>
                        <a:t>△9,214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50" b="1">
                          <a:solidFill>
                            <a:srgbClr val="C03A2B"/>
                          </a:solidFill>
                          <a:latin typeface="Arial"/>
                          <a:ea typeface="Arial"/>
                          <a:cs typeface="Arial"/>
                        </a:rPr>
                        <a:t>△3,864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7" name="Rectangle 26"/>
          <p:cNvSpPr/>
          <p:nvPr/>
        </p:nvSpPr>
        <p:spPr>
          <a:xfrm>
            <a:off x="6949440" y="4096512"/>
            <a:ext cx="3392424" cy="1408176"/>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949440" y="4096512"/>
            <a:ext cx="932688" cy="140817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949440" y="4681728"/>
            <a:ext cx="932688" cy="237744"/>
          </a:xfrm>
          <a:prstGeom prst="rect">
            <a:avLst/>
          </a:prstGeom>
          <a:noFill/>
        </p:spPr>
        <p:txBody>
          <a:bodyPr wrap="square" lIns="0" rIns="0" t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30" name="TextBox 29"/>
          <p:cNvSpPr txBox="1"/>
          <p:nvPr/>
        </p:nvSpPr>
        <p:spPr>
          <a:xfrm>
            <a:off x="8046719" y="4187952"/>
            <a:ext cx="2167128" cy="1225296"/>
          </a:xfrm>
          <a:prstGeom prst="rect">
            <a:avLst/>
          </a:prstGeom>
          <a:noFill/>
        </p:spPr>
        <p:txBody>
          <a:bodyPr wrap="square" lIns="0" rIns="0" tIns="0" bIns="0" anchor="ctr">
            <a:spAutoFit/>
          </a:bodyPr>
          <a:lstStyle/>
          <a:p>
            <a:pPr algn="l">
              <a:lnSpc>
                <a:spcPct val="122000"/>
              </a:lnSpc>
              <a:spcAft>
                <a:spcPts val="200"/>
              </a:spcAft>
            </a:pPr>
            <a:r>
              <a:rPr sz="1050" b="0">
                <a:solidFill>
                  <a:srgbClr val="1A1A1A"/>
                </a:solidFill>
                <a:latin typeface="游ゴシック"/>
                <a:ea typeface="游ゴシック"/>
                <a:cs typeface="游ゴシック"/>
              </a:rPr>
              <a:t>EV/EBITDA倍率は、類似上場会社の株価指標および国内中小企業M&amp;Aの実例水準を踏まえ3〜5倍を適用。非流動性ディスカウント30％は、上場会社の株価倍率に市場性が織り込まれているため控除しています。</a:t>
            </a:r>
          </a:p>
        </p:txBody>
      </p:sp>
      <p:sp>
        <p:nvSpPr>
          <p:cNvPr id="31" name="Rectangle 30"/>
          <p:cNvSpPr/>
          <p:nvPr/>
        </p:nvSpPr>
        <p:spPr>
          <a:xfrm>
            <a:off x="448056" y="5852160"/>
            <a:ext cx="9793224" cy="896112"/>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57784" y="6181344"/>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33" name="TextBox 32"/>
          <p:cNvSpPr txBox="1"/>
          <p:nvPr/>
        </p:nvSpPr>
        <p:spPr>
          <a:xfrm>
            <a:off x="1993392" y="5943600"/>
            <a:ext cx="8138160" cy="713232"/>
          </a:xfrm>
          <a:prstGeom prst="rect">
            <a:avLst/>
          </a:prstGeom>
          <a:noFill/>
        </p:spPr>
        <p:txBody>
          <a:bodyPr wrap="square" lIns="0" rIns="0" tIns="0" bIns="0" anchor="ctr">
            <a:spAutoFit/>
          </a:bodyPr>
          <a:lstStyle/>
          <a:p>
            <a:pPr algn="l">
              <a:lnSpc>
                <a:spcPct val="118000"/>
              </a:lnSpc>
              <a:spcAft>
                <a:spcPts val="200"/>
              </a:spcAft>
            </a:pPr>
            <a:r>
              <a:rPr sz="950" b="0">
                <a:solidFill>
                  <a:srgbClr val="1A1A1A"/>
                </a:solidFill>
                <a:latin typeface="游ゴシック"/>
                <a:ea typeface="游ゴシック"/>
                <a:cs typeface="游ゴシック"/>
              </a:rPr>
              <a:t>主たる前提では想定株式価値はマイナスとなる。基準EBITDA7,643千円に対し役員借入金32,744千円が重く、収益力ベースでは株式価値が残らない構造であることを示している。</a:t>
            </a:r>
          </a:p>
          <a:p>
            <a:pPr algn="l">
              <a:lnSpc>
                <a:spcPct val="118000"/>
              </a:lnSpc>
              <a:spcAft>
                <a:spcPts val="200"/>
              </a:spcAft>
            </a:pPr>
            <a:r>
              <a:rPr sz="950" b="0">
                <a:solidFill>
                  <a:srgbClr val="1A1A1A"/>
                </a:solidFill>
                <a:latin typeface="游ゴシック"/>
                <a:ea typeface="游ゴシック"/>
                <a:cs typeface="游ゴシック"/>
              </a:rPr>
              <a:t>当社は1店舗・年商22,484千円であり、類似上場会社（多店舗展開する外食チェーン）とは事業規模・ビジネスモデルが大きく異なるため、倍率は類似会社の実績値ではなく中小企業M&amp;Aの実例水準を用いている。</a:t>
            </a:r>
          </a:p>
        </p:txBody>
      </p:sp>
      <p:sp>
        <p:nvSpPr>
          <p:cNvPr id="34" name="TextBox 33"/>
          <p:cNvSpPr txBox="1"/>
          <p:nvPr/>
        </p:nvSpPr>
        <p:spPr>
          <a:xfrm>
            <a:off x="310896" y="6876288"/>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単位：千円。修正後EBITDA＝修正後営業利益＋減価償却費（事業供用分）。</a:t>
            </a:r>
          </a:p>
        </p:txBody>
      </p:sp>
    </p:spTree>
    <p:extLst>
      <p:ext uri="{BB962C8B-B14F-4D97-AF65-F5344CB8AC3E}">
        <p14:creationId xmlns:p14="http://schemas.microsoft.com/office/powerpoint/2010/main" val="966812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solidFill/>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a:latin typeface="游ゴシック"/>
                <a:ea typeface="游ゴシック"/>
                <a:cs typeface="游ゴシック"/>
              </a:rPr>
              <a:t>［Appendix］評価手法について</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Appendix</a:t>
            </a:r>
            <a:endParaRPr lang="ja-JP" altLang="en-US" spc="0" dirty="0"/>
          </a:p>
        </p:txBody>
      </p:sp>
      <p:sp>
        <p:nvSpPr>
          <p:cNvPr id="18" name="Rectangle 17"/>
          <p:cNvSpPr/>
          <p:nvPr/>
        </p:nvSpPr>
        <p:spPr>
          <a:xfrm>
            <a:off x="338328" y="896112"/>
            <a:ext cx="100126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株式価値算定の3つのアプローチ</a:t>
            </a:r>
          </a:p>
        </p:txBody>
      </p:sp>
      <p:graphicFrame>
        <p:nvGraphicFramePr>
          <p:cNvPr id="19" name="Table 18"/>
          <p:cNvGraphicFramePr>
            <a:graphicFrameLocks noGrp="1"/>
          </p:cNvGraphicFramePr>
          <p:nvPr/>
        </p:nvGraphicFramePr>
        <p:xfrm>
          <a:off x="338328" y="1207008"/>
          <a:ext cx="10012680" cy="4425696"/>
        </p:xfrm>
        <a:graphic>
          <a:graphicData uri="http://schemas.openxmlformats.org/drawingml/2006/table">
            <a:tbl>
              <a:tblPr firstRow="0" bandRow="0">
                <a:tableStyleId>{5940675A-B579-460E-94D1-54222C63F5DA}</a:tableStyleId>
              </a:tblPr>
              <a:tblGrid>
                <a:gridCol w="1078992"/>
                <a:gridCol w="1572768"/>
                <a:gridCol w="2798064"/>
                <a:gridCol w="2487168"/>
                <a:gridCol w="2075688"/>
              </a:tblGrid>
              <a:tr h="256032">
                <a:tc>
                  <a:txBody>
                    <a:bodyPr wrap="square"/>
                    <a:lstStyle/>
                    <a:p>
                      <a:pPr algn="ctr">
                        <a:spcAft>
                          <a:spcPts val="0"/>
                        </a:spcAft>
                      </a:pPr>
                      <a:r>
                        <a:rPr sz="860" b="1">
                          <a:solidFill>
                            <a:srgbClr val="FFFFFF"/>
                          </a:solidFill>
                          <a:latin typeface="游ゴシック"/>
                          <a:ea typeface="游ゴシック"/>
                          <a:cs typeface="游ゴシック"/>
                        </a:rPr>
                        <a:t>アプローチ</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代表的な手法</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考え方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留意点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本件の採否</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389888">
                <a:tc>
                  <a:txBody>
                    <a:bodyPr wrap="square"/>
                    <a:lstStyle/>
                    <a:p>
                      <a:pPr algn="l">
                        <a:spcAft>
                          <a:spcPts val="0"/>
                        </a:spcAft>
                      </a:pPr>
                      <a:r>
                        <a:rPr sz="860" b="0">
                          <a:solidFill>
                            <a:srgbClr val="1A1A1A"/>
                          </a:solidFill>
                          <a:latin typeface="游ゴシック"/>
                          <a:ea typeface="游ゴシック"/>
                          <a:cs typeface="游ゴシック"/>
                        </a:rPr>
                        <a:t>コスト</a:t>
                      </a:r>
                    </a:p>
                    <a:p>
                      <a:pPr algn="l">
                        <a:spcAft>
                          <a:spcPts val="0"/>
                        </a:spcAft>
                      </a:pPr>
                      <a:r>
                        <a:rPr sz="860" b="0">
                          <a:solidFill>
                            <a:srgbClr val="1A1A1A"/>
                          </a:solidFill>
                          <a:latin typeface="游ゴシック"/>
                          <a:ea typeface="游ゴシック"/>
                          <a:cs typeface="游ゴシック"/>
                        </a:rPr>
                        <a:t>アプローチ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時価純資産法</a:t>
                      </a:r>
                    </a:p>
                    <a:p>
                      <a:pPr algn="l">
                        <a:spcAft>
                          <a:spcPts val="0"/>
                        </a:spcAft>
                      </a:pPr>
                      <a:r>
                        <a:rPr sz="860" b="0">
                          <a:solidFill>
                            <a:srgbClr val="1A1A1A"/>
                          </a:solidFill>
                          <a:latin typeface="游ゴシック"/>
                          <a:ea typeface="游ゴシック"/>
                          <a:cs typeface="游ゴシック"/>
                        </a:rPr>
                        <a:t>時価純資産＋営業権法</a:t>
                      </a:r>
                    </a:p>
                    <a:p>
                      <a:pPr algn="l">
                        <a:spcAft>
                          <a:spcPts val="0"/>
                        </a:spcAft>
                      </a:pPr>
                      <a:r>
                        <a:rPr sz="860" b="0">
                          <a:solidFill>
                            <a:srgbClr val="1A1A1A"/>
                          </a:solidFill>
                          <a:latin typeface="游ゴシック"/>
                          <a:ea typeface="游ゴシック"/>
                          <a:cs typeface="游ゴシック"/>
                        </a:rPr>
                        <a:t>（年買法）</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貸借対照表の資産・負債を時価に評価し直した純資産額を基礎に株式価値を算定する。超過収益力がある場合は営業権を加算する。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過去の蓄積を反映する一方、将来の収益力や成長性は営業権の倍率を通じてしか反映されない。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採用</a:t>
                      </a:r>
                    </a:p>
                    <a:p>
                      <a:pPr algn="l">
                        <a:spcAft>
                          <a:spcPts val="0"/>
                        </a:spcAft>
                      </a:pPr>
                      <a:r>
                        <a:rPr sz="860" b="0">
                          <a:solidFill>
                            <a:srgbClr val="1A1A1A"/>
                          </a:solidFill>
                          <a:latin typeface="游ゴシック"/>
                          <a:ea typeface="游ゴシック"/>
                          <a:cs typeface="游ゴシック"/>
                        </a:rPr>
                        <a:t>（主たる手法）</a:t>
                      </a:r>
                    </a:p>
                    <a:p>
                      <a:pPr algn="l">
                        <a:spcAft>
                          <a:spcPts val="0"/>
                        </a:spcAft>
                      </a:pPr>
                      <a:r>
                        <a:rPr sz="860" b="0">
                          <a:solidFill>
                            <a:srgbClr val="1A1A1A"/>
                          </a:solidFill>
                          <a:latin typeface="游ゴシック"/>
                          <a:ea typeface="游ゴシック"/>
                          <a:cs typeface="游ゴシック"/>
                        </a:rPr>
                        <a:t>事業用資産の比重が大きく、資産性が価値の中心であるため適合的。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389888">
                <a:tc>
                  <a:txBody>
                    <a:bodyPr wrap="square"/>
                    <a:lstStyle/>
                    <a:p>
                      <a:pPr algn="l">
                        <a:spcAft>
                          <a:spcPts val="0"/>
                        </a:spcAft>
                      </a:pPr>
                      <a:r>
                        <a:rPr sz="860" b="0">
                          <a:solidFill>
                            <a:srgbClr val="1A1A1A"/>
                          </a:solidFill>
                          <a:latin typeface="游ゴシック"/>
                          <a:ea typeface="游ゴシック"/>
                          <a:cs typeface="游ゴシック"/>
                        </a:rPr>
                        <a:t>マーケット</a:t>
                      </a:r>
                    </a:p>
                    <a:p>
                      <a:pPr algn="l">
                        <a:spcAft>
                          <a:spcPts val="0"/>
                        </a:spcAft>
                      </a:pPr>
                      <a:r>
                        <a:rPr sz="860" b="0">
                          <a:solidFill>
                            <a:srgbClr val="1A1A1A"/>
                          </a:solidFill>
                          <a:latin typeface="游ゴシック"/>
                          <a:ea typeface="游ゴシック"/>
                          <a:cs typeface="游ゴシック"/>
                        </a:rPr>
                        <a:t>アプローチ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類似会社比準法</a:t>
                      </a:r>
                    </a:p>
                    <a:p>
                      <a:pPr algn="l">
                        <a:spcAft>
                          <a:spcPts val="0"/>
                        </a:spcAft>
                      </a:pPr>
                      <a:r>
                        <a:rPr sz="860" b="0">
                          <a:solidFill>
                            <a:srgbClr val="1A1A1A"/>
                          </a:solidFill>
                          <a:latin typeface="游ゴシック"/>
                          <a:ea typeface="游ゴシック"/>
                          <a:cs typeface="游ゴシック"/>
                        </a:rPr>
                        <a:t>（EV/EBITDA倍率等）</a:t>
                      </a:r>
                    </a:p>
                    <a:p>
                      <a:pPr algn="l">
                        <a:spcAft>
                          <a:spcPts val="0"/>
                        </a:spcAft>
                      </a:pPr>
                      <a:r>
                        <a:rPr sz="860" b="0">
                          <a:solidFill>
                            <a:srgbClr val="1A1A1A"/>
                          </a:solidFill>
                          <a:latin typeface="游ゴシック"/>
                          <a:ea typeface="游ゴシック"/>
                          <a:cs typeface="游ゴシック"/>
                        </a:rPr>
                        <a:t>類似取引比準法</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事業内容・規模が類似する上場会社の株価倍率を対象会社の財務数値に乗じて企業価値を算定し、ネットキャッシュを加減して株式価値を求める。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市場の評価を反映できるが、規模・ビジネスモデルの差異と非上場株式の市場性の欠如（非流動性ディスカウント）を調整する必要がある。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採用</a:t>
                      </a:r>
                    </a:p>
                    <a:p>
                      <a:pPr algn="l">
                        <a:spcAft>
                          <a:spcPts val="0"/>
                        </a:spcAft>
                      </a:pPr>
                      <a:r>
                        <a:rPr sz="860" b="0">
                          <a:solidFill>
                            <a:srgbClr val="1A1A1A"/>
                          </a:solidFill>
                          <a:latin typeface="游ゴシック"/>
                          <a:ea typeface="游ゴシック"/>
                          <a:cs typeface="游ゴシック"/>
                        </a:rPr>
                        <a:t>（参考値）</a:t>
                      </a:r>
                    </a:p>
                    <a:p>
                      <a:pPr algn="l">
                        <a:spcAft>
                          <a:spcPts val="0"/>
                        </a:spcAft>
                      </a:pPr>
                      <a:r>
                        <a:rPr sz="860" b="0">
                          <a:solidFill>
                            <a:srgbClr val="1A1A1A"/>
                          </a:solidFill>
                          <a:latin typeface="游ゴシック"/>
                          <a:ea typeface="游ゴシック"/>
                          <a:cs typeface="游ゴシック"/>
                        </a:rPr>
                        <a:t>1店舗・年商22百万円であり類似上場会社との規模差が大きいため参考値として併記。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389888">
                <a:tc>
                  <a:txBody>
                    <a:bodyPr wrap="square"/>
                    <a:lstStyle/>
                    <a:p>
                      <a:pPr algn="l">
                        <a:spcAft>
                          <a:spcPts val="0"/>
                        </a:spcAft>
                      </a:pPr>
                      <a:r>
                        <a:rPr sz="860" b="0">
                          <a:solidFill>
                            <a:srgbClr val="1A1A1A"/>
                          </a:solidFill>
                          <a:latin typeface="游ゴシック"/>
                          <a:ea typeface="游ゴシック"/>
                          <a:cs typeface="游ゴシック"/>
                        </a:rPr>
                        <a:t>インカム</a:t>
                      </a:r>
                    </a:p>
                    <a:p>
                      <a:pPr algn="l">
                        <a:spcAft>
                          <a:spcPts val="0"/>
                        </a:spcAft>
                      </a:pPr>
                      <a:r>
                        <a:rPr sz="860" b="0">
                          <a:solidFill>
                            <a:srgbClr val="1A1A1A"/>
                          </a:solidFill>
                          <a:latin typeface="游ゴシック"/>
                          <a:ea typeface="游ゴシック"/>
                          <a:cs typeface="游ゴシック"/>
                        </a:rPr>
                        <a:t>アプローチ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DCF法</a:t>
                      </a:r>
                    </a:p>
                    <a:p>
                      <a:pPr algn="l">
                        <a:spcAft>
                          <a:spcPts val="0"/>
                        </a:spcAft>
                      </a:pPr>
                      <a:r>
                        <a:rPr sz="860" b="0">
                          <a:solidFill>
                            <a:srgbClr val="1A1A1A"/>
                          </a:solidFill>
                          <a:latin typeface="游ゴシック"/>
                          <a:ea typeface="游ゴシック"/>
                          <a:cs typeface="游ゴシック"/>
                        </a:rPr>
                        <a:t>収益還元法</a:t>
                      </a:r>
                    </a:p>
                    <a:p>
                      <a:pPr algn="l">
                        <a:spcAft>
                          <a:spcPts val="0"/>
                        </a:spcAft>
                      </a:pPr>
                      <a:r>
                        <a:rPr sz="860" b="0">
                          <a:solidFill>
                            <a:srgbClr val="1A1A1A"/>
                          </a:solidFill>
                          <a:latin typeface="游ゴシック"/>
                          <a:ea typeface="游ゴシック"/>
                          <a:cs typeface="游ゴシック"/>
                        </a:rPr>
                        <a:t>配当還元法</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対象会社が将来生み出すキャッシュフローまたは利益を、リスクに見合う割引率で現在価値に割り引いて株式価値を算定する。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事業計画の精度に結果が強く依存する。配当還元法は配当を目的とする少数株主の視点に立つ手法。</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不採用</a:t>
                      </a:r>
                    </a:p>
                    <a:p>
                      <a:pPr algn="l">
                        <a:spcAft>
                          <a:spcPts val="0"/>
                        </a:spcAft>
                      </a:pPr>
                      <a:r>
                        <a:rPr sz="860" b="0">
                          <a:solidFill>
                            <a:srgbClr val="1A1A1A"/>
                          </a:solidFill>
                          <a:latin typeface="游ゴシック"/>
                          <a:ea typeface="游ゴシック"/>
                          <a:cs typeface="游ゴシック"/>
                        </a:rPr>
                        <a:t>事業計画が存在せず算定根拠を欠く。配当還元法は本件取引の性質に適合しない。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0" name="Rectangle 19"/>
          <p:cNvSpPr/>
          <p:nvPr/>
        </p:nvSpPr>
        <p:spPr>
          <a:xfrm>
            <a:off x="338328" y="5760720"/>
            <a:ext cx="10012680" cy="749808"/>
          </a:xfrm>
          <a:prstGeom prst="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38328" y="5760720"/>
            <a:ext cx="1188720" cy="74980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38328" y="6016752"/>
            <a:ext cx="1188720" cy="237744"/>
          </a:xfrm>
          <a:prstGeom prst="rect">
            <a:avLst/>
          </a:prstGeom>
          <a:noFill/>
        </p:spPr>
        <p:txBody>
          <a:bodyPr wrap="square" lIns="0" rIns="0" tIns="0" bIns="0" anchor="t">
            <a:spAutoFit/>
          </a:bodyPr>
          <a:lstStyle/>
          <a:p>
            <a:pPr algn="ctr">
              <a:spcAft>
                <a:spcPts val="0"/>
              </a:spcAft>
            </a:pPr>
            <a:r>
              <a:rPr sz="1400" b="1">
                <a:solidFill>
                  <a:srgbClr val="FFFFFF"/>
                </a:solidFill>
                <a:latin typeface="游ゴシック"/>
                <a:ea typeface="游ゴシック"/>
                <a:cs typeface="游ゴシック"/>
              </a:rPr>
              <a:t>Point</a:t>
            </a:r>
          </a:p>
        </p:txBody>
      </p:sp>
      <p:sp>
        <p:nvSpPr>
          <p:cNvPr id="23" name="TextBox 22"/>
          <p:cNvSpPr txBox="1"/>
          <p:nvPr/>
        </p:nvSpPr>
        <p:spPr>
          <a:xfrm>
            <a:off x="1691639" y="5852159"/>
            <a:ext cx="8531351" cy="566927"/>
          </a:xfrm>
          <a:prstGeom prst="rect">
            <a:avLst/>
          </a:prstGeom>
          <a:noFill/>
        </p:spPr>
        <p:txBody>
          <a:bodyPr wrap="square" lIns="0" rIns="0" tIns="0" bIns="0" anchor="ctr">
            <a:spAutoFit/>
          </a:bodyPr>
          <a:lstStyle/>
          <a:p>
            <a:pPr algn="l">
              <a:lnSpc>
                <a:spcPct val="122000"/>
              </a:lnSpc>
              <a:spcAft>
                <a:spcPts val="200"/>
              </a:spcAft>
            </a:pPr>
            <a:r>
              <a:rPr sz="1050" b="0">
                <a:solidFill>
                  <a:srgbClr val="1A1A1A"/>
                </a:solidFill>
                <a:latin typeface="游ゴシック"/>
                <a:ea typeface="游ゴシック"/>
                <a:cs typeface="游ゴシック"/>
              </a:rPr>
              <a:t>中小企業のM&amp;A実務では、客観性が高く当事者間で検証しやすいコストアプローチ（時価純資産＋営業権法）が広く用いられています。本書でも同手法を主たる手法とし、マーケットアプローチによる試算結果を参考値として併記しています。</a:t>
            </a:r>
          </a:p>
        </p:txBody>
      </p:sp>
      <p:sp>
        <p:nvSpPr>
          <p:cNvPr id="24" name="TextBox 23"/>
          <p:cNvSpPr txBox="1"/>
          <p:nvPr/>
        </p:nvSpPr>
        <p:spPr>
          <a:xfrm>
            <a:off x="310896" y="6656832"/>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上記は一般的な評価手法の整理であり、実際の譲渡価格は売主・買主の協議により決定されます。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a:latin typeface="游ゴシック"/>
                <a:ea typeface="游ゴシック"/>
                <a:cs typeface="游ゴシック"/>
              </a:rPr>
              <a:t>役員借入金の取扱いと株式価値への影響</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3. Valuation Details </a:t>
            </a:r>
            <a:endParaRPr lang="ja-JP" altLang="en-US" spc="0" dirty="0"/>
          </a:p>
        </p:txBody>
      </p:sp>
      <p:sp>
        <p:nvSpPr>
          <p:cNvPr id="18" name="Rectangle 17"/>
          <p:cNvSpPr/>
          <p:nvPr/>
        </p:nvSpPr>
        <p:spPr>
          <a:xfrm>
            <a:off x="448056" y="1408176"/>
            <a:ext cx="484632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【ケース①｜主たる前提】役員借入金を買手が承継する</a:t>
            </a:r>
          </a:p>
        </p:txBody>
      </p:sp>
      <p:graphicFrame>
        <p:nvGraphicFramePr>
          <p:cNvPr id="19" name="Table 18"/>
          <p:cNvGraphicFramePr>
            <a:graphicFrameLocks noGrp="1"/>
          </p:cNvGraphicFramePr>
          <p:nvPr/>
        </p:nvGraphicFramePr>
        <p:xfrm>
          <a:off x="448056" y="1737360"/>
          <a:ext cx="4846318" cy="1901952"/>
        </p:xfrm>
        <a:graphic>
          <a:graphicData uri="http://schemas.openxmlformats.org/drawingml/2006/table">
            <a:tbl>
              <a:tblPr firstRow="0" bandRow="0">
                <a:tableStyleId>{5940675A-B579-460E-94D1-54222C63F5DA}</a:tableStyleId>
              </a:tblPr>
              <a:tblGrid>
                <a:gridCol w="2834639"/>
                <a:gridCol w="2011679"/>
              </a:tblGrid>
              <a:tr h="219456">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9456">
                <a:tc>
                  <a:txBody>
                    <a:bodyPr wrap="square"/>
                    <a:lstStyle/>
                    <a:p>
                      <a:pPr algn="ctr">
                        <a:spcAft>
                          <a:spcPts val="0"/>
                        </a:spcAft>
                      </a:pPr>
                      <a:r>
                        <a:rPr sz="900" b="1">
                          <a:solidFill>
                            <a:srgbClr val="FFFFFF"/>
                          </a:solidFill>
                          <a:latin typeface="游ゴシック"/>
                          <a:ea typeface="游ゴシック"/>
                          <a:cs typeface="游ゴシック"/>
                        </a:rPr>
                        <a:t>項目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金額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900" b="0">
                          <a:solidFill>
                            <a:srgbClr val="1A1A1A"/>
                          </a:solidFill>
                          <a:latin typeface="游ゴシック"/>
                          <a:ea typeface="游ゴシック"/>
                          <a:cs typeface="游ゴシック"/>
                        </a:rPr>
                        <a:t>キャッシュライク</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2,166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900" b="0">
                          <a:solidFill>
                            <a:srgbClr val="1A1A1A"/>
                          </a:solidFill>
                          <a:latin typeface="游ゴシック"/>
                          <a:ea typeface="游ゴシック"/>
                          <a:cs typeface="游ゴシック"/>
                        </a:rPr>
                        <a:t>デットライク（役員借入金を含む）</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32,780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900" b="0">
                          <a:solidFill>
                            <a:srgbClr val="1A1A1A"/>
                          </a:solidFill>
                          <a:latin typeface="游ゴシック"/>
                          <a:ea typeface="游ゴシック"/>
                          <a:cs typeface="游ゴシック"/>
                        </a:rPr>
                        <a:t>ネットデット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30,614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900" b="1">
                          <a:solidFill>
                            <a:srgbClr val="1A1A1A"/>
                          </a:solidFill>
                          <a:latin typeface="游ゴシック"/>
                          <a:ea typeface="游ゴシック"/>
                          <a:cs typeface="游ゴシック"/>
                        </a:rPr>
                        <a:t>想定株式価値（x3〜x5）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1">
                          <a:solidFill>
                            <a:srgbClr val="C03A2B"/>
                          </a:solidFill>
                          <a:latin typeface="游ゴシック"/>
                          <a:ea typeface="游ゴシック"/>
                          <a:cs typeface="游ゴシック"/>
                        </a:rPr>
                        <a:t>△14,564 〜 △3,864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0" name="Rectangle 19"/>
          <p:cNvSpPr/>
          <p:nvPr/>
        </p:nvSpPr>
        <p:spPr>
          <a:xfrm>
            <a:off x="5477256" y="1408176"/>
            <a:ext cx="4864608"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【ケース②｜参考】債務免除または対価と相殺し整理する</a:t>
            </a:r>
          </a:p>
        </p:txBody>
      </p:sp>
      <p:graphicFrame>
        <p:nvGraphicFramePr>
          <p:cNvPr id="21" name="Table 20"/>
          <p:cNvGraphicFramePr>
            <a:graphicFrameLocks noGrp="1"/>
          </p:cNvGraphicFramePr>
          <p:nvPr/>
        </p:nvGraphicFramePr>
        <p:xfrm>
          <a:off x="5477256" y="1737360"/>
          <a:ext cx="4864608" cy="1901952"/>
        </p:xfrm>
        <a:graphic>
          <a:graphicData uri="http://schemas.openxmlformats.org/drawingml/2006/table">
            <a:tbl>
              <a:tblPr firstRow="0" bandRow="0">
                <a:tableStyleId>{5940675A-B579-460E-94D1-54222C63F5DA}</a:tableStyleId>
              </a:tblPr>
              <a:tblGrid>
                <a:gridCol w="2852928"/>
                <a:gridCol w="2011680"/>
              </a:tblGrid>
              <a:tr h="219456">
                <a:tc>
                  <a:txBody>
                    <a:bodyPr wrap="square"/>
                    <a:lstStyle/>
                    <a:p>
                      <a:pPr algn="ctr">
                        <a:spcAft>
                          <a:spcPts val="0"/>
                        </a:spcAft>
                      </a:pPr>
                      <a:r>
                        <a:rPr sz="900" b="1">
                          <a:solidFill>
                            <a:srgbClr val="FFFFFF"/>
                          </a:solidFill>
                          <a:latin typeface="游ゴシック"/>
                          <a:ea typeface="游ゴシック"/>
                          <a:cs typeface="游ゴシック"/>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9456">
                <a:tc>
                  <a:txBody>
                    <a:bodyPr wrap="square"/>
                    <a:lstStyle/>
                    <a:p>
                      <a:pPr algn="ctr">
                        <a:spcAft>
                          <a:spcPts val="0"/>
                        </a:spcAft>
                      </a:pPr>
                      <a:r>
                        <a:rPr sz="900" b="1">
                          <a:solidFill>
                            <a:srgbClr val="FFFFFF"/>
                          </a:solidFill>
                          <a:latin typeface="游ゴシック"/>
                          <a:ea typeface="游ゴシック"/>
                          <a:cs typeface="游ゴシック"/>
                        </a:rPr>
                        <a:t>項目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金額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900" b="0">
                          <a:solidFill>
                            <a:srgbClr val="1A1A1A"/>
                          </a:solidFill>
                          <a:latin typeface="游ゴシック"/>
                          <a:ea typeface="游ゴシック"/>
                          <a:cs typeface="游ゴシック"/>
                        </a:rPr>
                        <a:t>キャッシュライク</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2,166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900" b="0">
                          <a:solidFill>
                            <a:srgbClr val="1A1A1A"/>
                          </a:solidFill>
                          <a:latin typeface="游ゴシック"/>
                          <a:ea typeface="游ゴシック"/>
                          <a:cs typeface="游ゴシック"/>
                        </a:rPr>
                        <a:t>デットライク（未払法人税等のみ）</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900" b="0">
                          <a:solidFill>
                            <a:srgbClr val="1A1A1A"/>
                          </a:solidFill>
                          <a:latin typeface="游ゴシック"/>
                          <a:ea typeface="游ゴシック"/>
                          <a:cs typeface="游ゴシック"/>
                        </a:rPr>
                        <a:t>ネットキャッシュ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2,130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5760">
                <a:tc>
                  <a:txBody>
                    <a:bodyPr wrap="square"/>
                    <a:lstStyle/>
                    <a:p>
                      <a:pPr algn="l">
                        <a:spcAft>
                          <a:spcPts val="0"/>
                        </a:spcAft>
                      </a:pPr>
                      <a:r>
                        <a:rPr sz="900" b="1">
                          <a:solidFill>
                            <a:srgbClr val="1A1A1A"/>
                          </a:solidFill>
                          <a:latin typeface="游ゴシック"/>
                          <a:ea typeface="游ゴシック"/>
                          <a:cs typeface="游ゴシック"/>
                        </a:rPr>
                        <a:t>想定株式価値（x3〜x5）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1">
                          <a:solidFill>
                            <a:srgbClr val="1A1A1A"/>
                          </a:solidFill>
                          <a:latin typeface="游ゴシック"/>
                          <a:ea typeface="游ゴシック"/>
                          <a:cs typeface="游ゴシック"/>
                        </a:rPr>
                        <a:t>18,180 〜 28,880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2" name="Rectangle 21"/>
          <p:cNvSpPr/>
          <p:nvPr/>
        </p:nvSpPr>
        <p:spPr>
          <a:xfrm>
            <a:off x="448056" y="3840480"/>
            <a:ext cx="9893808"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【感応度】新体制で職人1名を雇用する前提を置いた場合</a:t>
            </a:r>
          </a:p>
        </p:txBody>
      </p:sp>
      <p:graphicFrame>
        <p:nvGraphicFramePr>
          <p:cNvPr id="23" name="Table 22"/>
          <p:cNvGraphicFramePr>
            <a:graphicFrameLocks noGrp="1"/>
          </p:cNvGraphicFramePr>
          <p:nvPr/>
        </p:nvGraphicFramePr>
        <p:xfrm>
          <a:off x="448056" y="4169663"/>
          <a:ext cx="9893807" cy="1883664"/>
        </p:xfrm>
        <a:graphic>
          <a:graphicData uri="http://schemas.openxmlformats.org/drawingml/2006/table">
            <a:tbl>
              <a:tblPr firstRow="0" bandRow="0">
                <a:tableStyleId>{5940675A-B579-460E-94D1-54222C63F5DA}</a:tableStyleId>
              </a:tblPr>
              <a:tblGrid>
                <a:gridCol w="2926080"/>
                <a:gridCol w="1627632"/>
                <a:gridCol w="1627632"/>
                <a:gridCol w="1627632"/>
                <a:gridCol w="2084831"/>
              </a:tblGrid>
              <a:tr h="237744">
                <a:tc>
                  <a:txBody>
                    <a:bodyPr wrap="square"/>
                    <a:lstStyle/>
                    <a:p>
                      <a:pPr algn="ctr">
                        <a:spcAft>
                          <a:spcPts val="0"/>
                        </a:spcAft>
                      </a:pPr>
                      <a:r>
                        <a:rPr sz="900" b="1">
                          <a:solidFill>
                            <a:srgbClr val="FFFFFF"/>
                          </a:solidFill>
                          <a:latin typeface="游ゴシック"/>
                          <a:ea typeface="游ゴシック"/>
                          <a:cs typeface="游ゴシック"/>
                        </a:rPr>
                        <a:t>項目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2024年5月期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2025年5月期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2026年5月期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3期加重平均</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900" b="0">
                          <a:solidFill>
                            <a:srgbClr val="1A1A1A"/>
                          </a:solidFill>
                          <a:latin typeface="游ゴシック"/>
                          <a:ea typeface="游ゴシック"/>
                          <a:cs typeface="游ゴシック"/>
                        </a:rPr>
                        <a:t>修正後営業利益（実績ベース）</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1,723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2,037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543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1,227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900" b="0">
                          <a:solidFill>
                            <a:srgbClr val="1A1A1A"/>
                          </a:solidFill>
                          <a:latin typeface="游ゴシック"/>
                          <a:ea typeface="游ゴシック"/>
                          <a:cs typeface="游ゴシック"/>
                        </a:rPr>
                        <a:t>そば職人1名分 想定人件費（仮説）</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△6,900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△6,900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△6,900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△6,900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900" b="0">
                          <a:solidFill>
                            <a:srgbClr val="1A1A1A"/>
                          </a:solidFill>
                          <a:latin typeface="游ゴシック"/>
                          <a:ea typeface="游ゴシック"/>
                          <a:cs typeface="游ゴシック"/>
                        </a:rPr>
                        <a:t>人件費考慮後の営業利益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△5,673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900" b="0">
                          <a:solidFill>
                            <a:srgbClr val="1A1A1A"/>
                          </a:solidFill>
                          <a:latin typeface="游ゴシック"/>
                          <a:ea typeface="游ゴシック"/>
                          <a:cs typeface="游ゴシック"/>
                        </a:rPr>
                        <a:t>営業権（人件費考慮後）</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900" b="1">
                          <a:solidFill>
                            <a:srgbClr val="1A1A1A"/>
                          </a:solidFill>
                          <a:latin typeface="游ゴシック"/>
                          <a:ea typeface="游ゴシック"/>
                          <a:cs typeface="游ゴシック"/>
                        </a:rPr>
                        <a:t>想定株式価値（人件費考慮後）</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0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23,583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4" name="Rectangle 23"/>
          <p:cNvSpPr/>
          <p:nvPr/>
        </p:nvSpPr>
        <p:spPr>
          <a:xfrm>
            <a:off x="448056" y="6053328"/>
            <a:ext cx="9893808" cy="82296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57784" y="6345936"/>
            <a:ext cx="1435608" cy="237744"/>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Comment</a:t>
            </a:r>
          </a:p>
        </p:txBody>
      </p:sp>
      <p:sp>
        <p:nvSpPr>
          <p:cNvPr id="26" name="TextBox 25"/>
          <p:cNvSpPr txBox="1"/>
          <p:nvPr/>
        </p:nvSpPr>
        <p:spPr>
          <a:xfrm>
            <a:off x="1993392" y="6144768"/>
            <a:ext cx="8238744" cy="640080"/>
          </a:xfrm>
          <a:prstGeom prst="rect">
            <a:avLst/>
          </a:prstGeom>
          <a:noFill/>
        </p:spPr>
        <p:txBody>
          <a:bodyPr wrap="square" lIns="0" rIns="0" tIns="0" bIns="0" anchor="ctr">
            <a:spAutoFit/>
          </a:bodyPr>
          <a:lstStyle/>
          <a:p>
            <a:pPr algn="l">
              <a:lnSpc>
                <a:spcPct val="118000"/>
              </a:lnSpc>
              <a:spcAft>
                <a:spcPts val="200"/>
              </a:spcAft>
            </a:pPr>
            <a:r>
              <a:rPr sz="900" b="0">
                <a:solidFill>
                  <a:srgbClr val="1A1A1A"/>
                </a:solidFill>
                <a:latin typeface="游ゴシック"/>
                <a:ea typeface="游ゴシック"/>
                <a:cs typeface="游ゴシック"/>
              </a:rPr>
              <a:t>役員借入金32,744千円は全額が代表者・配偶者からの無利息借入であり、実質的には資本に近い性格を持つ。本評価では法形式に従いケース①を主たる前提としたが、本件実行時の取扱いは売主・買主間の協議事項である。</a:t>
            </a:r>
          </a:p>
          <a:p>
            <a:pPr algn="l">
              <a:lnSpc>
                <a:spcPct val="118000"/>
              </a:lnSpc>
              <a:spcAft>
                <a:spcPts val="200"/>
              </a:spcAft>
            </a:pPr>
            <a:r>
              <a:rPr sz="900" b="0">
                <a:solidFill>
                  <a:srgbClr val="1A1A1A"/>
                </a:solidFill>
                <a:latin typeface="游ゴシック"/>
                <a:ea typeface="游ゴシック"/>
                <a:cs typeface="游ゴシック"/>
              </a:rPr>
              <a:t>代表者・配偶者はいずれも無報酬であるため、新体制では職人の人件費が新たに発生する。年収600万円＋社会保険料概算15％を仮置きすると加重平均営業利益はマイナスとなり営業権は算定されず、想定株式価値は時価純資産23,583千円と同額になる（仮説）。</a:t>
            </a:r>
          </a:p>
        </p:txBody>
      </p:sp>
      <p:sp>
        <p:nvSpPr>
          <p:cNvPr id="27" name="TextBox 26"/>
          <p:cNvSpPr txBox="1"/>
          <p:nvPr/>
        </p:nvSpPr>
        <p:spPr>
          <a:xfrm>
            <a:off x="310896" y="694944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単位：千円。人件費の金額は未確定であり、本頁の試算は弊社の仮説です。実額は要確認。</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a:latin typeface="游ゴシック"/>
                <a:ea typeface="游ゴシック"/>
                <a:cs typeface="游ゴシック"/>
              </a:rPr>
              <a:t>［Appendix］株式価値の考え方</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Appendix</a:t>
            </a:r>
            <a:endParaRPr lang="ja-JP" altLang="en-US" spc="0" dirty="0"/>
          </a:p>
        </p:txBody>
      </p:sp>
      <p:sp>
        <p:nvSpPr>
          <p:cNvPr id="18" name="Rectangle 17"/>
          <p:cNvSpPr/>
          <p:nvPr/>
        </p:nvSpPr>
        <p:spPr>
          <a:xfrm>
            <a:off x="338328" y="896112"/>
            <a:ext cx="100126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事業価値・企業価値・株式価値の関係</a:t>
            </a:r>
          </a:p>
        </p:txBody>
      </p:sp>
      <p:sp>
        <p:nvSpPr>
          <p:cNvPr id="19" name="Rectangle 18"/>
          <p:cNvSpPr/>
          <p:nvPr/>
        </p:nvSpPr>
        <p:spPr>
          <a:xfrm>
            <a:off x="548640" y="1325880"/>
            <a:ext cx="2148840" cy="1335024"/>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48640" y="1325880"/>
            <a:ext cx="50292" cy="133502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94944" y="1417320"/>
            <a:ext cx="1874520"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① 事業価値</a:t>
            </a:r>
          </a:p>
        </p:txBody>
      </p:sp>
      <p:sp>
        <p:nvSpPr>
          <p:cNvPr id="22" name="TextBox 21"/>
          <p:cNvSpPr txBox="1"/>
          <p:nvPr/>
        </p:nvSpPr>
        <p:spPr>
          <a:xfrm>
            <a:off x="694944" y="1691640"/>
            <a:ext cx="1874520" cy="877824"/>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事業そのものが生み出す価値。</a:t>
            </a:r>
          </a:p>
          <a:p>
            <a:pPr algn="l">
              <a:lnSpc>
                <a:spcPct val="118000"/>
              </a:lnSpc>
              <a:spcAft>
                <a:spcPts val="100"/>
              </a:spcAft>
            </a:pPr>
            <a:r>
              <a:rPr sz="830" b="0">
                <a:solidFill>
                  <a:srgbClr val="5A6670"/>
                </a:solidFill>
                <a:latin typeface="游ゴシック"/>
                <a:ea typeface="游ゴシック"/>
                <a:cs typeface="游ゴシック"/>
              </a:rPr>
              <a:t>正常収益力（修正後EBITDA等）に</a:t>
            </a:r>
          </a:p>
          <a:p>
            <a:pPr algn="l">
              <a:lnSpc>
                <a:spcPct val="118000"/>
              </a:lnSpc>
              <a:spcAft>
                <a:spcPts val="100"/>
              </a:spcAft>
            </a:pPr>
            <a:r>
              <a:rPr sz="830" b="0">
                <a:solidFill>
                  <a:srgbClr val="5A6670"/>
                </a:solidFill>
                <a:latin typeface="游ゴシック"/>
                <a:ea typeface="游ゴシック"/>
                <a:cs typeface="游ゴシック"/>
              </a:rPr>
              <a:t>倍率を乗じて算定する。</a:t>
            </a:r>
          </a:p>
        </p:txBody>
      </p:sp>
      <p:sp>
        <p:nvSpPr>
          <p:cNvPr id="23" name="TextBox 22"/>
          <p:cNvSpPr txBox="1"/>
          <p:nvPr/>
        </p:nvSpPr>
        <p:spPr>
          <a:xfrm>
            <a:off x="2761488" y="1847087"/>
            <a:ext cx="365760" cy="292608"/>
          </a:xfrm>
          <a:prstGeom prst="rect">
            <a:avLst/>
          </a:prstGeom>
          <a:noFill/>
        </p:spPr>
        <p:txBody>
          <a:bodyPr wrap="square" lIns="0" rIns="0" tIns="0" bIns="0" anchor="t">
            <a:spAutoFit/>
          </a:bodyPr>
          <a:lstStyle/>
          <a:p>
            <a:pPr algn="ctr">
              <a:spcAft>
                <a:spcPts val="0"/>
              </a:spcAft>
            </a:pPr>
            <a:r>
              <a:rPr sz="1800" b="1">
                <a:solidFill>
                  <a:srgbClr val="0889C9"/>
                </a:solidFill>
                <a:latin typeface="Arial"/>
                <a:ea typeface="Arial"/>
                <a:cs typeface="Arial"/>
              </a:rPr>
              <a:t>＋</a:t>
            </a:r>
          </a:p>
        </p:txBody>
      </p:sp>
      <p:sp>
        <p:nvSpPr>
          <p:cNvPr id="24" name="Rectangle 23"/>
          <p:cNvSpPr/>
          <p:nvPr/>
        </p:nvSpPr>
        <p:spPr>
          <a:xfrm>
            <a:off x="3163824" y="1325880"/>
            <a:ext cx="2148840" cy="1335024"/>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163824" y="1325880"/>
            <a:ext cx="50292" cy="133502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310128" y="1417320"/>
            <a:ext cx="1874520"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② 非事業用資産</a:t>
            </a:r>
          </a:p>
        </p:txBody>
      </p:sp>
      <p:sp>
        <p:nvSpPr>
          <p:cNvPr id="27" name="TextBox 26"/>
          <p:cNvSpPr txBox="1"/>
          <p:nvPr/>
        </p:nvSpPr>
        <p:spPr>
          <a:xfrm>
            <a:off x="3310128" y="1691640"/>
            <a:ext cx="1874520" cy="877824"/>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事業に使用していない資産。</a:t>
            </a:r>
          </a:p>
          <a:p>
            <a:pPr algn="l">
              <a:lnSpc>
                <a:spcPct val="118000"/>
              </a:lnSpc>
              <a:spcAft>
                <a:spcPts val="100"/>
              </a:spcAft>
            </a:pPr>
            <a:r>
              <a:rPr sz="830" b="0">
                <a:solidFill>
                  <a:srgbClr val="5A6670"/>
                </a:solidFill>
                <a:latin typeface="游ゴシック"/>
                <a:ea typeface="游ゴシック"/>
                <a:cs typeface="游ゴシック"/>
              </a:rPr>
              <a:t>遊休不動産・投資有価証券・</a:t>
            </a:r>
          </a:p>
          <a:p>
            <a:pPr algn="l">
              <a:lnSpc>
                <a:spcPct val="118000"/>
              </a:lnSpc>
              <a:spcAft>
                <a:spcPts val="100"/>
              </a:spcAft>
            </a:pPr>
            <a:r>
              <a:rPr sz="830" b="0">
                <a:solidFill>
                  <a:srgbClr val="5A6670"/>
                </a:solidFill>
                <a:latin typeface="游ゴシック"/>
                <a:ea typeface="游ゴシック"/>
                <a:cs typeface="游ゴシック"/>
              </a:rPr>
              <a:t>保険積立金など。</a:t>
            </a:r>
          </a:p>
        </p:txBody>
      </p:sp>
      <p:sp>
        <p:nvSpPr>
          <p:cNvPr id="28" name="TextBox 27"/>
          <p:cNvSpPr txBox="1"/>
          <p:nvPr/>
        </p:nvSpPr>
        <p:spPr>
          <a:xfrm>
            <a:off x="5376672" y="1847087"/>
            <a:ext cx="365760" cy="292608"/>
          </a:xfrm>
          <a:prstGeom prst="rect">
            <a:avLst/>
          </a:prstGeom>
          <a:noFill/>
        </p:spPr>
        <p:txBody>
          <a:bodyPr wrap="square" lIns="0" rIns="0" tIns="0" bIns="0" anchor="t">
            <a:spAutoFit/>
          </a:bodyPr>
          <a:lstStyle/>
          <a:p>
            <a:pPr algn="ctr">
              <a:spcAft>
                <a:spcPts val="0"/>
              </a:spcAft>
            </a:pPr>
            <a:r>
              <a:rPr sz="1800" b="1">
                <a:solidFill>
                  <a:srgbClr val="0889C9"/>
                </a:solidFill>
                <a:latin typeface="Arial"/>
                <a:ea typeface="Arial"/>
                <a:cs typeface="Arial"/>
              </a:rPr>
              <a:t>＝</a:t>
            </a:r>
          </a:p>
        </p:txBody>
      </p:sp>
      <p:sp>
        <p:nvSpPr>
          <p:cNvPr id="29" name="Rectangle 28"/>
          <p:cNvSpPr/>
          <p:nvPr/>
        </p:nvSpPr>
        <p:spPr>
          <a:xfrm>
            <a:off x="5779007" y="1325880"/>
            <a:ext cx="2148840" cy="1335024"/>
          </a:xfrm>
          <a:prstGeom prst="rect">
            <a:avLst/>
          </a:prstGeom>
          <a:solidFill>
            <a:srgbClr val="F7FAFC"/>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5779007" y="1325880"/>
            <a:ext cx="50292" cy="13350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925312" y="1417320"/>
            <a:ext cx="1874520"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③ 企業価値（EV）</a:t>
            </a:r>
          </a:p>
        </p:txBody>
      </p:sp>
      <p:sp>
        <p:nvSpPr>
          <p:cNvPr id="32" name="TextBox 31"/>
          <p:cNvSpPr txBox="1"/>
          <p:nvPr/>
        </p:nvSpPr>
        <p:spPr>
          <a:xfrm>
            <a:off x="5925312" y="1691640"/>
            <a:ext cx="1874520" cy="877824"/>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①＋②。会社全体の価値であり、</a:t>
            </a:r>
          </a:p>
          <a:p>
            <a:pPr algn="l">
              <a:lnSpc>
                <a:spcPct val="118000"/>
              </a:lnSpc>
              <a:spcAft>
                <a:spcPts val="100"/>
              </a:spcAft>
            </a:pPr>
            <a:r>
              <a:rPr sz="830" b="0">
                <a:solidFill>
                  <a:srgbClr val="5A6670"/>
                </a:solidFill>
                <a:latin typeface="游ゴシック"/>
                <a:ea typeface="游ゴシック"/>
                <a:cs typeface="游ゴシック"/>
              </a:rPr>
              <a:t>債権者と株主の双方に</a:t>
            </a:r>
          </a:p>
          <a:p>
            <a:pPr algn="l">
              <a:lnSpc>
                <a:spcPct val="118000"/>
              </a:lnSpc>
              <a:spcAft>
                <a:spcPts val="100"/>
              </a:spcAft>
            </a:pPr>
            <a:r>
              <a:rPr sz="830" b="0">
                <a:solidFill>
                  <a:srgbClr val="5A6670"/>
                </a:solidFill>
                <a:latin typeface="游ゴシック"/>
                <a:ea typeface="游ゴシック"/>
                <a:cs typeface="游ゴシック"/>
              </a:rPr>
              <a:t>帰属する価値。</a:t>
            </a:r>
          </a:p>
        </p:txBody>
      </p:sp>
      <p:sp>
        <p:nvSpPr>
          <p:cNvPr id="33" name="TextBox 32"/>
          <p:cNvSpPr txBox="1"/>
          <p:nvPr/>
        </p:nvSpPr>
        <p:spPr>
          <a:xfrm>
            <a:off x="7991856" y="1847087"/>
            <a:ext cx="365760" cy="292608"/>
          </a:xfrm>
          <a:prstGeom prst="rect">
            <a:avLst/>
          </a:prstGeom>
          <a:noFill/>
        </p:spPr>
        <p:txBody>
          <a:bodyPr wrap="square" lIns="0" rIns="0" tIns="0" bIns="0" anchor="t">
            <a:spAutoFit/>
          </a:bodyPr>
          <a:lstStyle/>
          <a:p>
            <a:pPr algn="ctr">
              <a:spcAft>
                <a:spcPts val="0"/>
              </a:spcAft>
            </a:pPr>
            <a:r>
              <a:rPr sz="1800" b="1">
                <a:solidFill>
                  <a:srgbClr val="0889C9"/>
                </a:solidFill>
                <a:latin typeface="Arial"/>
                <a:ea typeface="Arial"/>
                <a:cs typeface="Arial"/>
              </a:rPr>
              <a:t>－</a:t>
            </a:r>
          </a:p>
        </p:txBody>
      </p:sp>
      <p:sp>
        <p:nvSpPr>
          <p:cNvPr id="34" name="Rectangle 33"/>
          <p:cNvSpPr/>
          <p:nvPr/>
        </p:nvSpPr>
        <p:spPr>
          <a:xfrm>
            <a:off x="8394192" y="1325880"/>
            <a:ext cx="1956816" cy="1335024"/>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394192" y="1325880"/>
            <a:ext cx="50292" cy="133502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540496" y="1417320"/>
            <a:ext cx="1682496"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④ ネットデット</a:t>
            </a:r>
          </a:p>
        </p:txBody>
      </p:sp>
      <p:sp>
        <p:nvSpPr>
          <p:cNvPr id="37" name="TextBox 36"/>
          <p:cNvSpPr txBox="1"/>
          <p:nvPr/>
        </p:nvSpPr>
        <p:spPr>
          <a:xfrm>
            <a:off x="8540496" y="1691640"/>
            <a:ext cx="1682496" cy="877824"/>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有利子負債 － 現預金。</a:t>
            </a:r>
          </a:p>
          <a:p>
            <a:pPr algn="l">
              <a:lnSpc>
                <a:spcPct val="118000"/>
              </a:lnSpc>
              <a:spcAft>
                <a:spcPts val="100"/>
              </a:spcAft>
            </a:pPr>
            <a:r>
              <a:rPr sz="830" b="0">
                <a:solidFill>
                  <a:srgbClr val="5A6670"/>
                </a:solidFill>
                <a:latin typeface="游ゴシック"/>
                <a:ea typeface="游ゴシック"/>
                <a:cs typeface="游ゴシック"/>
              </a:rPr>
              <a:t>マイナス（ネットキャッシュ）の</a:t>
            </a:r>
          </a:p>
          <a:p>
            <a:pPr algn="l">
              <a:lnSpc>
                <a:spcPct val="118000"/>
              </a:lnSpc>
              <a:spcAft>
                <a:spcPts val="100"/>
              </a:spcAft>
            </a:pPr>
            <a:r>
              <a:rPr sz="830" b="0">
                <a:solidFill>
                  <a:srgbClr val="5A6670"/>
                </a:solidFill>
                <a:latin typeface="游ゴシック"/>
                <a:ea typeface="游ゴシック"/>
                <a:cs typeface="游ゴシック"/>
              </a:rPr>
              <a:t>場合は加算する。</a:t>
            </a:r>
          </a:p>
        </p:txBody>
      </p:sp>
      <p:sp>
        <p:nvSpPr>
          <p:cNvPr id="38" name="Rectangle 37"/>
          <p:cNvSpPr/>
          <p:nvPr/>
        </p:nvSpPr>
        <p:spPr>
          <a:xfrm>
            <a:off x="548640" y="2933395"/>
            <a:ext cx="9802368"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3291840" y="3054096"/>
            <a:ext cx="3840480" cy="4206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游ゴシック"/>
                <a:ea typeface="游ゴシック"/>
                <a:cs typeface="游ゴシック"/>
              </a:rPr>
              <a:t>株式価値 ＝ ③ 企業価値 － ④ ネットデット</a:t>
            </a:r>
          </a:p>
        </p:txBody>
      </p:sp>
      <p:sp>
        <p:nvSpPr>
          <p:cNvPr id="40" name="Rectangle 39"/>
          <p:cNvSpPr/>
          <p:nvPr/>
        </p:nvSpPr>
        <p:spPr>
          <a:xfrm>
            <a:off x="338328" y="3730752"/>
            <a:ext cx="10012680" cy="24688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600" b="1">
                <a:solidFill>
                  <a:srgbClr val="FFFFFF"/>
                </a:solidFill>
                <a:latin typeface="游ゴシック"/>
                <a:ea typeface="游ゴシック"/>
                <a:cs typeface="游ゴシック"/>
              </a:rPr>
              <a:t>株式価値を読むうえでの留意点</a:t>
            </a:r>
          </a:p>
        </p:txBody>
      </p:sp>
      <p:graphicFrame>
        <p:nvGraphicFramePr>
          <p:cNvPr id="41" name="Table 40"/>
          <p:cNvGraphicFramePr>
            <a:graphicFrameLocks noGrp="1"/>
          </p:cNvGraphicFramePr>
          <p:nvPr/>
        </p:nvGraphicFramePr>
        <p:xfrm>
          <a:off x="338328" y="4041648"/>
          <a:ext cx="10012680" cy="2523744"/>
        </p:xfrm>
        <a:graphic>
          <a:graphicData uri="http://schemas.openxmlformats.org/drawingml/2006/table">
            <a:tbl>
              <a:tblPr firstRow="0" bandRow="0">
                <a:tableStyleId>{5940675A-B579-460E-94D1-54222C63F5DA}</a:tableStyleId>
              </a:tblPr>
              <a:tblGrid>
                <a:gridCol w="1938528"/>
                <a:gridCol w="8074152"/>
              </a:tblGrid>
              <a:tr h="256032">
                <a:tc>
                  <a:txBody>
                    <a:bodyPr wrap="square"/>
                    <a:lstStyle/>
                    <a:p>
                      <a:pPr algn="ctr">
                        <a:spcAft>
                          <a:spcPts val="0"/>
                        </a:spcAft>
                      </a:pPr>
                      <a:r>
                        <a:rPr sz="919" b="1">
                          <a:solidFill>
                            <a:srgbClr val="FFFFFF"/>
                          </a:solidFill>
                          <a:latin typeface="游ゴシック"/>
                          <a:ea typeface="游ゴシック"/>
                          <a:cs typeface="游ゴシック"/>
                        </a:rPr>
                        <a:t>論点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19" b="1">
                          <a:solidFill>
                            <a:srgbClr val="FFFFFF"/>
                          </a:solidFill>
                          <a:latin typeface="Arial"/>
                          <a:ea typeface="Arial"/>
                          <a:cs typeface="Arial"/>
                        </a:rPr>
                        <a:t>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66928">
                <a:tc>
                  <a:txBody>
                    <a:bodyPr wrap="square"/>
                    <a:lstStyle/>
                    <a:p>
                      <a:pPr algn="l">
                        <a:spcAft>
                          <a:spcPts val="0"/>
                        </a:spcAft>
                      </a:pPr>
                      <a:r>
                        <a:rPr sz="919" b="0">
                          <a:solidFill>
                            <a:srgbClr val="1A1A1A"/>
                          </a:solidFill>
                          <a:latin typeface="游ゴシック"/>
                          <a:ea typeface="游ゴシック"/>
                          <a:cs typeface="游ゴシック"/>
                        </a:rPr>
                        <a:t>譲渡対価との関係</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19" b="0">
                          <a:solidFill>
                            <a:srgbClr val="1A1A1A"/>
                          </a:solidFill>
                          <a:latin typeface="游ゴシック"/>
                          <a:ea typeface="游ゴシック"/>
                          <a:cs typeface="游ゴシック"/>
                        </a:rPr>
                        <a:t>株式価値は譲渡対価の目安であり、実際の価格は売主・買主の交渉により決定される。シナジーを見込む買手が現れた場合、試算結果を上回る価格となることもある。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66928">
                <a:tc>
                  <a:txBody>
                    <a:bodyPr wrap="square"/>
                    <a:lstStyle/>
                    <a:p>
                      <a:pPr algn="l">
                        <a:spcAft>
                          <a:spcPts val="0"/>
                        </a:spcAft>
                      </a:pPr>
                      <a:r>
                        <a:rPr sz="919" b="0">
                          <a:solidFill>
                            <a:srgbClr val="1A1A1A"/>
                          </a:solidFill>
                          <a:latin typeface="游ゴシック"/>
                          <a:ea typeface="游ゴシック"/>
                          <a:cs typeface="游ゴシック"/>
                        </a:rPr>
                        <a:t>役員借入金の取扱い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19" b="0">
                          <a:solidFill>
                            <a:srgbClr val="1A1A1A"/>
                          </a:solidFill>
                          <a:latin typeface="游ゴシック"/>
                          <a:ea typeface="游ゴシック"/>
                          <a:cs typeface="游ゴシック"/>
                        </a:rPr>
                        <a:t>代表者等からの借入金は法形式上は負債であり、株式価値の算定では控除される。一方で実質的に資本に近い性格を持つため、債務免除や譲渡対価との相殺による整理を前提とすると株式価値は大きく変わ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66928">
                <a:tc>
                  <a:txBody>
                    <a:bodyPr wrap="square"/>
                    <a:lstStyle/>
                    <a:p>
                      <a:pPr algn="l">
                        <a:spcAft>
                          <a:spcPts val="0"/>
                        </a:spcAft>
                      </a:pPr>
                      <a:r>
                        <a:rPr sz="919" b="0">
                          <a:solidFill>
                            <a:srgbClr val="1A1A1A"/>
                          </a:solidFill>
                          <a:latin typeface="游ゴシック"/>
                          <a:ea typeface="游ゴシック"/>
                          <a:cs typeface="游ゴシック"/>
                        </a:rPr>
                        <a:t>役員退職慰労金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19" b="0">
                          <a:solidFill>
                            <a:srgbClr val="1A1A1A"/>
                          </a:solidFill>
                          <a:latin typeface="游ゴシック"/>
                          <a:ea typeface="游ゴシック"/>
                          <a:cs typeface="游ゴシック"/>
                        </a:rPr>
                        <a:t>譲渡に際して役員退職慰労金を支給する場合、純資産が減少するため株式価値は減少する。一方で売主にとっては所得税法上有利となる場合があり、譲渡所得との総額で比較検討する必要がある。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66928">
                <a:tc>
                  <a:txBody>
                    <a:bodyPr wrap="square"/>
                    <a:lstStyle/>
                    <a:p>
                      <a:pPr algn="l">
                        <a:spcAft>
                          <a:spcPts val="0"/>
                        </a:spcAft>
                      </a:pPr>
                      <a:r>
                        <a:rPr sz="919" b="0">
                          <a:solidFill>
                            <a:srgbClr val="1A1A1A"/>
                          </a:solidFill>
                          <a:latin typeface="游ゴシック"/>
                          <a:ea typeface="游ゴシック"/>
                          <a:cs typeface="游ゴシック"/>
                        </a:rPr>
                        <a:t>非流動性ディスカウント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919" b="0">
                          <a:solidFill>
                            <a:srgbClr val="1A1A1A"/>
                          </a:solidFill>
                          <a:latin typeface="游ゴシック"/>
                          <a:ea typeface="游ゴシック"/>
                          <a:cs typeface="游ゴシック"/>
                        </a:rPr>
                        <a:t>非上場株式には市場性がないため、上場会社の株価倍率を用いる場合は30％程度のディスカウントを行うのが一般的である。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42" name="TextBox 41"/>
          <p:cNvSpPr txBox="1"/>
          <p:nvPr/>
        </p:nvSpPr>
        <p:spPr>
          <a:xfrm>
            <a:off x="310896" y="6656832"/>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本頁は一般的な考え方の整理であり、本件固有の前提は本編各頁に記載しています。</a:t>
            </a:r>
          </a:p>
        </p:txBody>
      </p:sp>
    </p:spTree>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Override>
</file>

<file path=docProps/app.xml><?xml version="1.0" encoding="utf-8"?>
<Properties xmlns="http://schemas.openxmlformats.org/officeDocument/2006/extended-properties" xmlns:vt="http://schemas.openxmlformats.org/officeDocument/2006/docPropsVTypes">
  <Template>Office Theme</Template>
  <TotalTime>7248</TotalTime>
  <Words>4644</Words>
  <Application>Microsoft Office PowerPoint</Application>
  <PresentationFormat>ユーザー設定</PresentationFormat>
  <Paragraphs>1784</Paragraphs>
  <Slides>22</Slides>
  <Notes>8</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22</vt:i4>
      </vt:variant>
    </vt:vector>
  </HeadingPairs>
  <TitlesOfParts>
    <vt:vector size="28" baseType="lpstr">
      <vt:lpstr>Meiryo UI</vt:lpstr>
      <vt:lpstr>游ゴシック</vt:lpstr>
      <vt:lpstr>游ゴシック Medium</vt:lpstr>
      <vt:lpstr>Arial</vt:lpstr>
      <vt:lpstr>Wingdings</vt:lpstr>
      <vt:lpstr>SL_2026</vt:lpstr>
      <vt:lpstr>Valuation Report</vt:lpstr>
      <vt:lpstr>はじめに</vt:lpstr>
      <vt:lpstr>株価評価にあたっての注意点</vt:lpstr>
      <vt:lpstr>PowerPoint プレゼンテーション</vt:lpstr>
      <vt:lpstr>Valuation Summary ／ 試算結果</vt:lpstr>
      <vt:lpstr>採用するアプローチの選定</vt:lpstr>
      <vt:lpstr>株式価値の試算結果</vt:lpstr>
      <vt:lpstr>Financial Analysis ／ 財務情報の分析（B/S）</vt:lpstr>
      <vt:lpstr>過去BSの推移</vt:lpstr>
      <vt:lpstr>BS補足［資産］</vt:lpstr>
      <vt:lpstr>修正BS［資産］</vt:lpstr>
      <vt:lpstr>BS補足［負債・純資産］</vt:lpstr>
      <vt:lpstr>修正BS［負債・純資産］</vt:lpstr>
      <vt:lpstr>ネットキャッシュの算定</vt:lpstr>
      <vt:lpstr>Financial Analysis ／ 財務情報の分析（P/L）</vt:lpstr>
      <vt:lpstr>過去PLの推移</vt:lpstr>
      <vt:lpstr>販管費及び一般管理費の修正</vt:lpstr>
      <vt:lpstr>修正PLの算定［正常収益力の集計］</vt:lpstr>
      <vt:lpstr>Valuation Details ／ 株式価値の試算</vt:lpstr>
      <vt:lpstr>年買法（コストアプローチ）による算出</vt:lpstr>
      <vt:lpstr>EV/EBITDAマルチプル法（マーケットアプローチ）による算出</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堀 茉莉</dc:creator>
  <cp:lastModifiedBy>田垣内 啓介</cp:lastModifiedBy>
  <cp:revision>127</cp:revision>
  <cp:lastPrinted>2026-07-29T02:36:09Z</cp:lastPrinted>
  <dcterms:created xsi:type="dcterms:W3CDTF">2025-11-26T06:32:54Z</dcterms:created>
  <dcterms:modified xsi:type="dcterms:W3CDTF">2026-07-29T02:39:33Z</dcterms:modified>
</cp:coreProperties>
</file>