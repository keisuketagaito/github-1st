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43"/>
  </p:notesMasterIdLst>
  <p:sldIdLst>
    <p:sldId id="770" r:id="rId2"/>
    <p:sldId id="269" r:id="rId3"/>
    <p:sldId id="693" r:id="rId4"/>
    <p:sldId id="749" r:id="rId5"/>
    <p:sldId id="810" r:id="rId6"/>
    <p:sldId id="809" r:id="rId7"/>
    <p:sldId id="748" r:id="rId8"/>
    <p:sldId id="774" r:id="rId9"/>
    <p:sldId id="775" r:id="rId10"/>
    <p:sldId id="266" r:id="rId11"/>
    <p:sldId id="772" r:id="rId12"/>
    <p:sldId id="811" r:id="rId49"/>
    <p:sldId id="776" r:id="rId13"/>
    <p:sldId id="798" r:id="rId14"/>
    <p:sldId id="796" r:id="rId15"/>
    <p:sldId id="808" r:id="rId16"/>
    <p:sldId id="792" r:id="rId17"/>
    <p:sldId id="807" r:id="rId18"/>
    <p:sldId id="779" r:id="rId19"/>
    <p:sldId id="797" r:id="rId20"/>
    <p:sldId id="802" r:id="rId21"/>
    <p:sldId id="803" r:id="rId22"/>
    <p:sldId id="806" r:id="rId23"/>
    <p:sldId id="771" r:id="rId24"/>
    <p:sldId id="780" r:id="rId25"/>
    <p:sldId id="789" r:id="rId26"/>
    <p:sldId id="790" r:id="rId27"/>
    <p:sldId id="793" r:id="rId28"/>
    <p:sldId id="791" r:id="rId29"/>
    <p:sldId id="795" r:id="rId30"/>
    <p:sldId id="805" r:id="rId31"/>
    <p:sldId id="773" r:id="rId32"/>
    <p:sldId id="784" r:id="rId33"/>
    <p:sldId id="785" r:id="rId34"/>
    <p:sldId id="786" r:id="rId35"/>
    <p:sldId id="787" r:id="rId36"/>
    <p:sldId id="782" r:id="rId37"/>
    <p:sldId id="783" r:id="rId38"/>
    <p:sldId id="794" r:id="rId39"/>
    <p:sldId id="804" r:id="rId40"/>
    <p:sldId id="788" r:id="rId41"/>
    <p:sldId id="277" r:id="rId42"/>
  </p:sldIdLst>
  <p:sldSz cx="10691813" cy="7559675"/>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810"/>
            <p14:sldId id="809"/>
            <p14:sldId id="748"/>
            <p14:sldId id="774"/>
            <p14:sldId id="775"/>
            <p14:sldId id="266"/>
            <p14:sldId id="772"/>
            <p14:sldId id="776"/>
            <p14:sldId id="798"/>
            <p14:sldId id="796"/>
            <p14:sldId id="808"/>
            <p14:sldId id="792"/>
            <p14:sldId id="807"/>
            <p14:sldId id="779"/>
            <p14:sldId id="797"/>
            <p14:sldId id="802"/>
            <p14:sldId id="803"/>
            <p14:sldId id="806"/>
            <p14:sldId id="771"/>
            <p14:sldId id="780"/>
            <p14:sldId id="789"/>
            <p14:sldId id="790"/>
            <p14:sldId id="793"/>
            <p14:sldId id="791"/>
            <p14:sldId id="795"/>
            <p14:sldId id="805"/>
            <p14:sldId id="773"/>
            <p14:sldId id="784"/>
            <p14:sldId id="785"/>
            <p14:sldId id="786"/>
            <p14:sldId id="787"/>
            <p14:sldId id="782"/>
            <p14:sldId id="783"/>
            <p14:sldId id="794"/>
            <p14:sldId id="804"/>
            <p14:sldId id="788"/>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8" userDrawn="1">
          <p15:clr>
            <a:srgbClr val="A4A3A4"/>
          </p15:clr>
        </p15:guide>
        <p15:guide id="2" pos="2140"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66" d="100"/>
          <a:sy n="66" d="100"/>
        </p:scale>
        <p:origin x="888" y="3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customschemas.google.com/relationships/presentationmetadata" Target="meta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 y="3"/>
            <a:ext cx="2944030" cy="497571"/>
          </a:xfrm>
          <a:prstGeom prst="rect">
            <a:avLst/>
          </a:prstGeom>
          <a:noFill/>
          <a:ln>
            <a:noFill/>
          </a:ln>
        </p:spPr>
        <p:txBody>
          <a:bodyPr spcFirstLastPara="1" wrap="square" lIns="88156" tIns="44066" rIns="88156" bIns="44066"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954" y="3"/>
            <a:ext cx="2944029" cy="497571"/>
          </a:xfrm>
          <a:prstGeom prst="rect">
            <a:avLst/>
          </a:prstGeom>
          <a:noFill/>
          <a:ln>
            <a:noFill/>
          </a:ln>
        </p:spPr>
        <p:txBody>
          <a:bodyPr spcFirstLastPara="1" wrap="square" lIns="88156" tIns="44066" rIns="88156" bIns="44066"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3" y="9433832"/>
            <a:ext cx="2944030" cy="497571"/>
          </a:xfrm>
          <a:prstGeom prst="rect">
            <a:avLst/>
          </a:prstGeom>
          <a:noFill/>
          <a:ln>
            <a:noFill/>
          </a:ln>
        </p:spPr>
        <p:txBody>
          <a:bodyPr spcFirstLastPara="1" wrap="square" lIns="88156" tIns="44066" rIns="88156" bIns="44066"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692150" y="860425"/>
            <a:ext cx="3278188" cy="2319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466729" y="3309247"/>
            <a:ext cx="3729663" cy="2706690"/>
          </a:xfrm>
          <a:prstGeom prst="rect">
            <a:avLst/>
          </a:prstGeom>
          <a:noFill/>
          <a:ln>
            <a:noFill/>
          </a:ln>
        </p:spPr>
        <p:txBody>
          <a:bodyPr spcFirstLastPara="1" wrap="square" lIns="60774" tIns="30388" rIns="60774" bIns="30388" anchor="t" anchorCtr="0">
            <a:noAutofit/>
          </a:bodyPr>
          <a:lstStyle/>
          <a:p>
            <a:endParaRPr dirty="0"/>
          </a:p>
        </p:txBody>
      </p:sp>
      <p:sp>
        <p:nvSpPr>
          <p:cNvPr id="257" name="Google Shape;257;p2:notes"/>
          <p:cNvSpPr txBox="1">
            <a:spLocks noGrp="1"/>
          </p:cNvSpPr>
          <p:nvPr>
            <p:ph type="sldNum" idx="12"/>
          </p:nvPr>
        </p:nvSpPr>
        <p:spPr>
          <a:xfrm>
            <a:off x="2640976" y="6531039"/>
            <a:ext cx="2020060" cy="344469"/>
          </a:xfrm>
          <a:prstGeom prst="rect">
            <a:avLst/>
          </a:prstGeom>
          <a:noFill/>
          <a:ln>
            <a:noFill/>
          </a:ln>
        </p:spPr>
        <p:txBody>
          <a:bodyPr spcFirstLastPara="1" wrap="square" lIns="60774" tIns="30388" rIns="60774" bIns="30388"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BD478-7DD2-51CE-DCD8-878E9ABF9F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6D7D63-FF75-2F40-7D2E-7072628FCD2E}"/>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A28DF780-D2AA-71A1-6379-14D27437AB28}"/>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8FBC76A-F249-9D9D-B1C0-42B62FC50D6D}"/>
              </a:ext>
            </a:extLst>
          </p:cNvPr>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2217544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EF025-1F70-4B66-A7C4-AE5DAFBC4D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6E91C0-1114-7605-F5FE-02544BC8E6E6}"/>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4A98BD9C-3D14-D0F9-DD12-CC7A56A0659E}"/>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A7ADC1FE-783A-3938-2921-0E8572B86FBE}"/>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3417472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8975" y="858838"/>
            <a:ext cx="3275013" cy="2317750"/>
          </a:xfrm>
        </p:spPr>
      </p:sp>
      <p:sp>
        <p:nvSpPr>
          <p:cNvPr id="3" name="ノート プレースホルダー 2"/>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p>
            <a:pPr marL="0" indent="0"/>
            <a:endParaRPr/>
          </a:p>
        </p:txBody>
      </p:sp>
      <p:sp>
        <p:nvSpPr>
          <p:cNvPr id="268" name="Google Shape;268;p11:notes"/>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a:pPr algn="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indent="0" defTabSz="629107">
              <a:buClrTx/>
              <a:buSzTx/>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11</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836613" y="790575"/>
            <a:ext cx="3014662" cy="2132013"/>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12</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13</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15</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34</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36</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37</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39</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jpe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eg"/><Relationship Id="rId3" Type="http://schemas.openxmlformats.org/officeDocument/2006/relationships/image" Target="../media/image7.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t>企業概要書  </a:t>
            </a:r>
            <a:r>
              <a:rPr sz="2400"/>
              <a:t>&lt;そば店／北関東&gt;</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solidFill/>
              </a:rPr>
              <a:t>Information</a:t>
            </a:r>
            <a:r>
              <a:rPr lang="ja-JP" altLang="en-US" sz="1800" dirty="0">
                <a:solidFill/>
              </a:rPr>
              <a:t> </a:t>
            </a:r>
            <a:r>
              <a:rPr lang="en-US" altLang="ja-JP" sz="1800" dirty="0">
                <a:solidFill/>
              </a:rPr>
              <a:t>Memorandum</a:t>
            </a:r>
            <a:r>
              <a:rPr lang="zh-TW" altLang="en-US" dirty="0">
                <a:solidFill/>
              </a:rPr>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rPr>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98467795"/>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zh-CN" altLang="en-US" sz="1100" dirty="0">
                          <a:latin typeface="游ゴシック"/>
                          <a:ea typeface="游ゴシック"/>
                          <a:cs typeface="游ゴシック"/>
                        </a:rPr>
                        <a:t>田垣内　啓介</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100" dirty="0">
                          <a:latin typeface="游ゴシック"/>
                          <a:ea typeface="游ゴシック"/>
                          <a:cs typeface="游ゴシック"/>
                        </a:rPr>
                        <a:t>080-4737-4326</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100" dirty="0">
                          <a:latin typeface="游ゴシック"/>
                          <a:ea typeface="游ゴシック"/>
                          <a:cs typeface="游ゴシック"/>
                        </a:rPr>
                        <a:t>tagaito_keisuke@ma-sg.co.jp</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solidFill/>
                <a:ea typeface="+mn-ea"/>
              </a:rPr>
              <a:t>当該企業概要書（以下、「本概要書」といいます）は、株式会社</a:t>
            </a:r>
            <a:r>
              <a:rPr lang="en-US" altLang="ja-JP" dirty="0">
                <a:solidFill/>
                <a:ea typeface="+mn-ea"/>
              </a:rPr>
              <a:t>M&amp;A</a:t>
            </a:r>
            <a:r>
              <a:rPr lang="ja-JP" altLang="en-US" dirty="0">
                <a:solidFill/>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solidFill/>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solidFill/>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solidFill/>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solidFill/>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solidFill/>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solidFill/>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1</a:t>
            </a:r>
            <a:endParaRPr kumimoji="1" lang="ja-JP" altLang="en-US" b="1" dirty="0">
              <a:solidFill>
                <a:schemeClr val="bg1"/>
              </a:solidFill>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2</a:t>
            </a:r>
            <a:endParaRPr kumimoji="1" lang="ja-JP" altLang="en-US" b="1" dirty="0">
              <a:solidFill>
                <a:schemeClr val="bg1"/>
              </a:solidFill>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3</a:t>
            </a:r>
            <a:endParaRPr kumimoji="1" lang="ja-JP" altLang="en-US" b="1" dirty="0">
              <a:solidFill>
                <a:schemeClr val="bg1"/>
              </a:solidFill>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4</a:t>
            </a:r>
            <a:endParaRPr kumimoji="1" lang="ja-JP" altLang="en-US" b="1" dirty="0">
              <a:solidFill>
                <a:schemeClr val="bg1"/>
              </a:solidFill>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5</a:t>
            </a:r>
            <a:endParaRPr kumimoji="1" lang="ja-JP" altLang="en-US" b="1" dirty="0">
              <a:solidFill>
                <a:schemeClr val="bg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E976-2DA2-622B-44E5-B05E9DF1DC31}"/>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802226D5-C9E2-45F7-F4BE-C9402FB504B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cs typeface="游ゴシック"/>
              </a:rPr>
              <a:t>全国的な知名度と高い評価を誇る老舗蕎麦店。原料調達から石臼自家製粉・手打ちまでの一貫体制と独自のブランド力が強み。土地・建物を自社保有し、金融機関借入なし。週</a:t>
            </a:r>
            <a:r>
              <a:rPr lang="en-US" altLang="ja-JP" dirty="0">
                <a:latin typeface="游ゴシック" panose="020B0400000000000000" pitchFamily="50" charset="-128"/>
                <a:ea typeface="游ゴシック" panose="020B0400000000000000" pitchFamily="50" charset="-128"/>
                <a:cs typeface="游ゴシック"/>
              </a:rPr>
              <a:t>4</a:t>
            </a:r>
            <a:r>
              <a:rPr lang="ja-JP" altLang="en-US" dirty="0">
                <a:latin typeface="游ゴシック" panose="020B0400000000000000" pitchFamily="50" charset="-128"/>
                <a:ea typeface="游ゴシック" panose="020B0400000000000000" pitchFamily="50" charset="-128"/>
                <a:cs typeface="游ゴシック"/>
              </a:rPr>
              <a:t>日・昼のみの営業体制で、稼働拡大や商品展開による更なる成長余地を有する。</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5AA1D8AD-2B79-F794-ABC1-92EC6FC1FE7A}"/>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cs typeface="游ゴシック"/>
              </a:rPr>
              <a:t>会社概要</a:t>
            </a:r>
            <a:endParaRPr dirty="0">
              <a:latin typeface="游ゴシック" panose="020B0400000000000000" pitchFamily="50" charset="-128"/>
              <a:ea typeface="游ゴシック" panose="020B0400000000000000" pitchFamily="50" charset="-128"/>
              <a:cs typeface="游ゴシック"/>
            </a:endParaRPr>
          </a:p>
        </p:txBody>
      </p:sp>
      <p:sp>
        <p:nvSpPr>
          <p:cNvPr id="3" name="タイトル 1">
            <a:extLst>
              <a:ext uri="{FF2B5EF4-FFF2-40B4-BE49-F238E27FC236}">
                <a16:creationId xmlns:a16="http://schemas.microsoft.com/office/drawing/2014/main" id="{92CCDE6A-7D6A-7E1A-CA97-3102098731F1}"/>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dirty="0">
                <a:latin typeface="游ゴシック" panose="020B0400000000000000" pitchFamily="50" charset="-128"/>
                <a:ea typeface="游ゴシック" panose="020B0400000000000000" pitchFamily="50" charset="-128"/>
                <a:cs typeface="游ゴシック"/>
              </a:rPr>
              <a:t>　</a:t>
            </a:r>
            <a:r>
              <a:rPr sz="1200" b="1" dirty="0" err="1">
                <a:latin typeface="游ゴシック" panose="020B0400000000000000" pitchFamily="50" charset="-128"/>
                <a:ea typeface="游ゴシック" panose="020B0400000000000000" pitchFamily="50" charset="-128"/>
                <a:cs typeface="游ゴシック"/>
              </a:rPr>
              <a:t>エグゼクティブサマリ</a:t>
            </a:r>
            <a:r>
              <a:rPr sz="1200" b="1" dirty="0">
                <a:latin typeface="游ゴシック" panose="020B0400000000000000" pitchFamily="50" charset="-128"/>
                <a:ea typeface="游ゴシック" panose="020B0400000000000000" pitchFamily="50" charset="-128"/>
                <a:cs typeface="游ゴシック"/>
              </a:rPr>
              <a:t>ー</a:t>
            </a:r>
          </a:p>
        </p:txBody>
      </p:sp>
      <p:sp>
        <p:nvSpPr>
          <p:cNvPr id="6" name="正方形/長方形 5">
            <a:extLst>
              <a:ext uri="{FF2B5EF4-FFF2-40B4-BE49-F238E27FC236}">
                <a16:creationId xmlns:a16="http://schemas.microsoft.com/office/drawing/2014/main" id="{935E3A0B-808D-6F82-1637-7FAA5AE7FE3E}"/>
              </a:ext>
            </a:extLst>
          </p:cNvPr>
          <p:cNvSpPr/>
          <p:nvPr/>
        </p:nvSpPr>
        <p:spPr>
          <a:xfrm>
            <a:off x="311149" y="1723849"/>
            <a:ext cx="6961718"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4" name="表 3">
            <a:extLst>
              <a:ext uri="{FF2B5EF4-FFF2-40B4-BE49-F238E27FC236}">
                <a16:creationId xmlns:a16="http://schemas.microsoft.com/office/drawing/2014/main" id="{27944FE6-D54F-D157-06B9-DFB204DEAD25}"/>
              </a:ext>
            </a:extLst>
          </p:cNvPr>
          <p:cNvGraphicFramePr>
            <a:graphicFrameLocks noGrp="1"/>
          </p:cNvGraphicFramePr>
          <p:nvPr>
            <p:extLst>
              <p:ext uri="{D42A27DB-BD31-4B8C-83A1-F6EECF244321}">
                <p14:modId xmlns:p14="http://schemas.microsoft.com/office/powerpoint/2010/main" val="3332170842"/>
              </p:ext>
            </p:extLst>
          </p:nvPr>
        </p:nvGraphicFramePr>
        <p:xfrm>
          <a:off x="311149" y="2233061"/>
          <a:ext cx="6961717" cy="4761789"/>
        </p:xfrm>
        <a:graphic>
          <a:graphicData uri="http://schemas.openxmlformats.org/drawingml/2006/table">
            <a:tbl>
              <a:tblPr/>
              <a:tblGrid>
                <a:gridCol w="1056048">
                  <a:extLst>
                    <a:ext uri="{9D8B030D-6E8A-4147-A177-3AD203B41FA5}">
                      <a16:colId xmlns:a16="http://schemas.microsoft.com/office/drawing/2014/main" val="1453619780"/>
                    </a:ext>
                  </a:extLst>
                </a:gridCol>
                <a:gridCol w="5905669">
                  <a:extLst>
                    <a:ext uri="{9D8B030D-6E8A-4147-A177-3AD203B41FA5}">
                      <a16:colId xmlns:a16="http://schemas.microsoft.com/office/drawing/2014/main" val="1889136906"/>
                    </a:ext>
                  </a:extLst>
                </a:gridCol>
              </a:tblGrid>
              <a:tr h="220471">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項目</a:t>
                      </a:r>
                    </a:p>
                  </a:txBody>
                  <a:tcPr marL="6152" marR="6152" marT="6152"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6152" marR="6152" marT="61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90474151"/>
                  </a:ext>
                </a:extLst>
              </a:tr>
              <a:tr h="4070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会社名</a:t>
                      </a:r>
                    </a:p>
                  </a:txBody>
                  <a:tcPr marL="110744"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株式会社慈久庵（店舗名：慈久庵）</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HP：https://www.jikyuan.co.jp</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05984416"/>
                  </a:ext>
                </a:extLst>
              </a:tr>
              <a:tr h="347666">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本社所在地</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茨城県常陸太田市天下野町2162番地</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67546725"/>
                  </a:ext>
                </a:extLst>
              </a:tr>
              <a:tr h="819942">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設立/創業</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1990年4月16日設立（第37期）</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※1990年に東京・南阿佐ヶ谷で石臼挽き自家製粉の手打ち蕎麦店「慈久庵」を開業</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2002年に代表者の生まれ故郷である茨城県久慈郡水府村（現・常陸太田市）へ移転し、現店舗で営業</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42607905"/>
                  </a:ext>
                </a:extLst>
              </a:tr>
              <a:tr h="27982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10,000千円</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07426191"/>
                  </a:ext>
                </a:extLst>
              </a:tr>
              <a:tr h="4070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代表者</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小川 宣夫（代表取締役／1947年茨城県生まれ・79歳）</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※粗挽き粉で打つ蕎麦の第一人者。東京・荻窪「本むら庵」で8年修業後に独立</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626468509"/>
                  </a:ext>
                </a:extLst>
              </a:tr>
              <a:tr h="2261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小川 宣夫（130株／65.0％）、小川 喜久子（70株／35.0％）</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547406273"/>
                  </a:ext>
                </a:extLst>
              </a:tr>
              <a:tr h="610535">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事業内容</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そば店「慈久庵」の経営（店内飲食／昼のみ・売り切りじまい）</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蕎麦粉・小麦粉の製粉および卸売（ベーカリー・同業そば店向け）</a:t>
                      </a:r>
                      <a:br>
                        <a:rPr lang="ja-JP" sz="11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乾麺・そばつゆ・本返し・醤（ひしお）・味噌等の製造販売、通信販売、ふるさと納税返礼品</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646472988"/>
                  </a:ext>
                </a:extLst>
              </a:tr>
              <a:tr h="4070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従業員数</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0名（2026年5月31日時点）</a:t>
                      </a:r>
                      <a:br>
                        <a:rPr lang="ja-JP" sz="1100" b="0" i="0" u="none" strike="noStrike">
                          <a:solidFill>
                            <a:srgbClr val="000000"/>
                          </a:solidFill>
                          <a:effectLst/>
                          <a:latin typeface="游ゴシック" panose="020B0400000000000000" pitchFamily="50" charset="-128"/>
                          <a:ea typeface="游ゴシック" panose="020B0400000000000000" pitchFamily="50" charset="-128"/>
                        </a:rPr>
                      </a:br>
                      <a:r>
                        <a:rPr lang="ja-JP" sz="1100" b="0" i="0" u="none" strike="noStrike">
                          <a:solidFill>
                            <a:srgbClr val="000000"/>
                          </a:solidFill>
                          <a:effectLst/>
                          <a:latin typeface="游ゴシック" panose="020B0400000000000000" pitchFamily="50" charset="-128"/>
                          <a:ea typeface="游ゴシック" panose="020B0400000000000000" pitchFamily="50" charset="-128"/>
                        </a:rPr>
                        <a:t>※代表者のみ2名で運営。繁忙時は親族がアルバイト対応。（2026年5月期 雑給 2,201千円）</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45842959"/>
                  </a:ext>
                </a:extLst>
              </a:tr>
              <a:tr h="211991">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許認可等</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飲食店営業許可、菓子製造業</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966166878"/>
                  </a:ext>
                </a:extLst>
              </a:tr>
              <a:tr h="2261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22,484千円（2026年5月期）</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71961978"/>
                  </a:ext>
                </a:extLst>
              </a:tr>
              <a:tr h="36116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6,801千円（2026年5月期）</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348731755"/>
                  </a:ext>
                </a:extLst>
              </a:tr>
              <a:tr h="22612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譲渡理由</a:t>
                      </a:r>
                    </a:p>
                  </a:txBody>
                  <a:tcPr marL="110744" marR="6152" marT="6152"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後継者不在</a:t>
                      </a:r>
                    </a:p>
                  </a:txBody>
                  <a:tcPr marL="6152" marR="6152" marT="615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93727077"/>
                  </a:ext>
                </a:extLst>
              </a:tr>
            </a:tbl>
          </a:graphicData>
        </a:graphic>
      </p:graphicFrame>
      <p:pic>
        <p:nvPicPr>
          <p:cNvPr id="7" name="図 6" descr="慈久庵">
            <a:extLst>
              <a:ext uri="{FF2B5EF4-FFF2-40B4-BE49-F238E27FC236}">
                <a16:creationId xmlns:a16="http://schemas.microsoft.com/office/drawing/2014/main" id="{8CDB22FE-4FAA-C50F-BE88-3E815C519EB9}"/>
              </a:ext>
            </a:extLst>
          </p:cNvPr>
          <p:cNvPicPr>
            <a:picLocks noChangeAspect="1"/>
          </p:cNvPicPr>
          <p:nvPr/>
        </p:nvPicPr>
        <p:blipFill>
          <a:blip r:embed="rId3"/>
          <a:stretch>
            <a:fillRect/>
          </a:stretch>
        </p:blipFill>
        <p:spPr>
          <a:xfrm>
            <a:off x="8381178" y="1539277"/>
            <a:ext cx="926082" cy="1601576"/>
          </a:xfrm>
          <a:prstGeom prst="rect">
            <a:avLst/>
          </a:prstGeom>
        </p:spPr>
      </p:pic>
      <p:pic>
        <p:nvPicPr>
          <p:cNvPr id="9" name="図 8" descr="慈久庵 | 飲食店 | 茨城をたべよう 食と農のポータルサイト">
            <a:extLst>
              <a:ext uri="{FF2B5EF4-FFF2-40B4-BE49-F238E27FC236}">
                <a16:creationId xmlns:a16="http://schemas.microsoft.com/office/drawing/2014/main" id="{124B7AD2-82D1-9F83-C256-977E36150FAF}"/>
              </a:ext>
            </a:extLst>
          </p:cNvPr>
          <p:cNvPicPr>
            <a:picLocks noChangeAspect="1"/>
          </p:cNvPicPr>
          <p:nvPr/>
        </p:nvPicPr>
        <p:blipFill>
          <a:blip r:embed="rId4"/>
          <a:stretch>
            <a:fillRect/>
          </a:stretch>
        </p:blipFill>
        <p:spPr>
          <a:xfrm>
            <a:off x="7383747" y="4935189"/>
            <a:ext cx="3070558" cy="2048910"/>
          </a:xfrm>
          <a:prstGeom prst="rect">
            <a:avLst/>
          </a:prstGeom>
        </p:spPr>
      </p:pic>
      <p:pic>
        <p:nvPicPr>
          <p:cNvPr id="11" name="図 10">
            <a:extLst>
              <a:ext uri="{FF2B5EF4-FFF2-40B4-BE49-F238E27FC236}">
                <a16:creationId xmlns:a16="http://schemas.microsoft.com/office/drawing/2014/main" id="{AB2161DF-BB7A-755A-7BE0-9584EFB34FCC}"/>
              </a:ext>
            </a:extLst>
          </p:cNvPr>
          <p:cNvPicPr>
            <a:picLocks noChangeAspect="1"/>
          </p:cNvPicPr>
          <p:nvPr/>
        </p:nvPicPr>
        <p:blipFill>
          <a:blip r:embed="rId5"/>
          <a:stretch>
            <a:fillRect/>
          </a:stretch>
        </p:blipFill>
        <p:spPr>
          <a:xfrm>
            <a:off x="7877046" y="3224463"/>
            <a:ext cx="2083959" cy="1627116"/>
          </a:xfrm>
          <a:prstGeom prst="rect">
            <a:avLst/>
          </a:prstGeom>
        </p:spPr>
      </p:pic>
    </p:spTree>
    <p:extLst>
      <p:ext uri="{BB962C8B-B14F-4D97-AF65-F5344CB8AC3E}">
        <p14:creationId xmlns:p14="http://schemas.microsoft.com/office/powerpoint/2010/main" val="143382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BE8F-8B0E-1B93-D9D7-A5D7C405A208}"/>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1DB36B7A-C685-4DCC-35AD-F708DD923F2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粗挽き蕎麦や郷土料理を中心とした店頭飲食を主軸に、石臼挽き小麦粉・玄そば等の卸売、乾麺・調味料等の通信販売も行う。独自の製法と地域の食文化を活かしたブランド力を強みに、飲食・卸売・物販・関係先への食材供給を組み合わせた事業基盤を構築。</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2DFAE749-DDBA-801B-EB22-EFF367204DE5}"/>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cs typeface="游ゴシック"/>
              </a:rPr>
              <a:t>事業概要</a:t>
            </a:r>
            <a:endParaRPr dirty="0">
              <a:latin typeface="游ゴシック" panose="020B0400000000000000" pitchFamily="50" charset="-128"/>
              <a:ea typeface="游ゴシック" panose="020B0400000000000000" pitchFamily="50" charset="-128"/>
              <a:cs typeface="游ゴシック"/>
            </a:endParaRPr>
          </a:p>
        </p:txBody>
      </p:sp>
      <p:sp>
        <p:nvSpPr>
          <p:cNvPr id="3" name="タイトル 1">
            <a:extLst>
              <a:ext uri="{FF2B5EF4-FFF2-40B4-BE49-F238E27FC236}">
                <a16:creationId xmlns:a16="http://schemas.microsoft.com/office/drawing/2014/main" id="{3D6A263B-B253-2A70-D6EA-0ACC1FA0CA19}"/>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dirty="0">
                <a:latin typeface="游ゴシック" panose="020B0400000000000000" pitchFamily="50" charset="-128"/>
                <a:ea typeface="游ゴシック" panose="020B0400000000000000" pitchFamily="50" charset="-128"/>
                <a:cs typeface="游ゴシック"/>
              </a:rPr>
              <a:t>　</a:t>
            </a:r>
            <a:r>
              <a:rPr sz="1200" b="1" dirty="0" err="1">
                <a:latin typeface="游ゴシック" panose="020B0400000000000000" pitchFamily="50" charset="-128"/>
                <a:ea typeface="游ゴシック" panose="020B0400000000000000" pitchFamily="50" charset="-128"/>
                <a:cs typeface="游ゴシック"/>
              </a:rPr>
              <a:t>エグゼクティブサマリ</a:t>
            </a:r>
            <a:r>
              <a:rPr sz="1200" b="1" dirty="0">
                <a:latin typeface="游ゴシック" panose="020B0400000000000000" pitchFamily="50" charset="-128"/>
                <a:ea typeface="游ゴシック" panose="020B0400000000000000" pitchFamily="50" charset="-128"/>
                <a:cs typeface="游ゴシック"/>
              </a:rPr>
              <a:t>ー</a:t>
            </a:r>
          </a:p>
        </p:txBody>
      </p:sp>
      <p:pic>
        <p:nvPicPr>
          <p:cNvPr id="4" name="図 3">
            <a:extLst>
              <a:ext uri="{FF2B5EF4-FFF2-40B4-BE49-F238E27FC236}">
                <a16:creationId xmlns:a16="http://schemas.microsoft.com/office/drawing/2014/main" id="{975FEC08-70F9-72A2-1705-51B8C1D5A276}"/>
              </a:ext>
            </a:extLst>
          </p:cNvPr>
          <p:cNvPicPr>
            <a:picLocks noChangeAspect="1"/>
          </p:cNvPicPr>
          <p:nvPr/>
        </p:nvPicPr>
        <p:blipFill>
          <a:blip r:embed="rId3"/>
          <a:stretch>
            <a:fillRect/>
          </a:stretch>
        </p:blipFill>
        <p:spPr>
          <a:xfrm>
            <a:off x="311150" y="1663634"/>
            <a:ext cx="9634889" cy="5422506"/>
          </a:xfrm>
          <a:prstGeom prst="rect">
            <a:avLst/>
          </a:prstGeom>
        </p:spPr>
      </p:pic>
    </p:spTree>
    <p:extLst>
      <p:ext uri="{BB962C8B-B14F-4D97-AF65-F5344CB8AC3E}">
        <p14:creationId xmlns:p14="http://schemas.microsoft.com/office/powerpoint/2010/main" val="3374792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原料調達から石臼自家製粉・手打ち・提供までの一貫体制を構築し、全国的な知名度を誇る蕎麦店「慈久庵」を運営。週4日・昼のみ（1日3時間）の営業で売上22,484千円、純資産23,658千円・金融機関借入なし</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本件のポイント</a:t>
            </a:r>
            <a:endParaRPr dirty="0">
              <a:latin typeface="游ゴシック" panose="020B0400000000000000" pitchFamily="50" charset="-128"/>
              <a:ea typeface="游ゴシック" panose="020B0400000000000000" pitchFamily="50" charset="-128"/>
              <a:cs typeface="游ゴシック"/>
            </a:endParaRPr>
          </a:p>
        </p:txBody>
      </p:sp>
      <p:sp>
        <p:nvSpPr>
          <p:cNvPr id="3" name="タイトル 1">
            <a:extLst>
              <a:ext uri="{FF2B5EF4-FFF2-40B4-BE49-F238E27FC236}">
                <a16:creationId xmlns:a16="http://schemas.microsoft.com/office/drawing/2014/main" id="{4E8F3393-7183-FC0F-BA3A-F6B941CC9011}"/>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a:latin typeface="游ゴシック"/>
                <a:ea typeface="游ゴシック"/>
                <a:cs typeface="游ゴシック"/>
              </a:rPr>
              <a:t>　エグゼクティブサマリー</a:t>
            </a:r>
          </a:p>
        </p:txBody>
      </p:sp>
      <p:sp>
        <p:nvSpPr>
          <p:cNvPr id="15" name="Rectangle 14"/>
          <p:cNvSpPr/>
          <p:nvPr/>
        </p:nvSpPr>
        <p:spPr>
          <a:xfrm>
            <a:off x="310896" y="1426464"/>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10896" y="1426464"/>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61188" y="1426464"/>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3776" y="1508760"/>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全国区のブランド</a:t>
            </a:r>
          </a:p>
        </p:txBody>
      </p:sp>
      <p:sp>
        <p:nvSpPr>
          <p:cNvPr id="19" name="TextBox 18"/>
          <p:cNvSpPr txBox="1"/>
          <p:nvPr/>
        </p:nvSpPr>
        <p:spPr>
          <a:xfrm>
            <a:off x="493776" y="1920240"/>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食べログ「そば 百名店」選出、THE TABELOG AWARD 2022・2023 Bronze、Japan Restaurant Award 2016 茨城県TOP1。鉄道駅から離れた中山間地に立地しながら、県内トップの評価と全国区の認知を得ている。</a:t>
            </a:r>
          </a:p>
        </p:txBody>
      </p:sp>
      <p:sp>
        <p:nvSpPr>
          <p:cNvPr id="20" name="Rectangle 19"/>
          <p:cNvSpPr/>
          <p:nvPr/>
        </p:nvSpPr>
        <p:spPr>
          <a:xfrm>
            <a:off x="3712463" y="1426464"/>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712463" y="1426464"/>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762755" y="1426464"/>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895344" y="1508760"/>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粗挽き蕎麦の第一人者</a:t>
            </a:r>
          </a:p>
        </p:txBody>
      </p:sp>
      <p:sp>
        <p:nvSpPr>
          <p:cNvPr id="24" name="TextBox 23"/>
          <p:cNvSpPr txBox="1"/>
          <p:nvPr/>
        </p:nvSpPr>
        <p:spPr>
          <a:xfrm>
            <a:off x="3895344" y="1920240"/>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代表者は東京・荻窪「本むら庵」で8年修業。焼畑農法を再興して24年、著書も持つ業界内の著名人。打心蕎庵・玉笑など同業の有名店が玄そば・蕎麦粉を仕入れに訪れる水準の評価を得ている。</a:t>
            </a:r>
          </a:p>
        </p:txBody>
      </p:sp>
      <p:sp>
        <p:nvSpPr>
          <p:cNvPr id="25" name="Rectangle 24"/>
          <p:cNvSpPr/>
          <p:nvPr/>
        </p:nvSpPr>
        <p:spPr>
          <a:xfrm>
            <a:off x="7114031" y="1426464"/>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114031" y="1426464"/>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164323" y="1426464"/>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296912" y="1508760"/>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模倣困難な一貫体制</a:t>
            </a:r>
          </a:p>
        </p:txBody>
      </p:sp>
      <p:sp>
        <p:nvSpPr>
          <p:cNvPr id="29" name="TextBox 28"/>
          <p:cNvSpPr txBox="1"/>
          <p:nvPr/>
        </p:nvSpPr>
        <p:spPr>
          <a:xfrm>
            <a:off x="7296912" y="1920240"/>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焼畑栽培 → 一年熟成 → 石臼自家製粉 → 手打ち までを自社で完結。とくに玄そばを一年寝かせる工程は、設備を買っても時間を買えないため新規参入者が最も再現しにくい。</a:t>
            </a:r>
          </a:p>
        </p:txBody>
      </p:sp>
      <p:sp>
        <p:nvSpPr>
          <p:cNvPr id="30" name="Rectangle 29"/>
          <p:cNvSpPr/>
          <p:nvPr/>
        </p:nvSpPr>
        <p:spPr>
          <a:xfrm>
            <a:off x="310896" y="3273552"/>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10896" y="3273552"/>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61188" y="3273552"/>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3776" y="3355848"/>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4本柱の収益構造</a:t>
            </a:r>
          </a:p>
        </p:txBody>
      </p:sp>
      <p:sp>
        <p:nvSpPr>
          <p:cNvPr id="34" name="TextBox 33"/>
          <p:cNvSpPr txBox="1"/>
          <p:nvPr/>
        </p:nvSpPr>
        <p:spPr>
          <a:xfrm>
            <a:off x="493776" y="3767328"/>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店頭飲食15,099千円のほか、製粉・卸売2,273千円、通信販売・物販1,789千円、関係先向け食材供給3,323千円。特定の法人顧客への依存はない。</a:t>
            </a:r>
          </a:p>
        </p:txBody>
      </p:sp>
      <p:sp>
        <p:nvSpPr>
          <p:cNvPr id="35" name="Rectangle 34"/>
          <p:cNvSpPr/>
          <p:nvPr/>
        </p:nvSpPr>
        <p:spPr>
          <a:xfrm>
            <a:off x="3712463" y="3273552"/>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712463" y="3273552"/>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762755" y="3273552"/>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95344" y="3355848"/>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事業用不動産を自社保有</a:t>
            </a:r>
          </a:p>
        </p:txBody>
      </p:sp>
      <p:sp>
        <p:nvSpPr>
          <p:cNvPr id="39" name="TextBox 38"/>
          <p:cNvSpPr txBox="1"/>
          <p:nvPr/>
        </p:nvSpPr>
        <p:spPr>
          <a:xfrm>
            <a:off x="3895344" y="3767328"/>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代表者が設計し私財を投じた板倉造・茅葺きの店舗（取得価額104,599千円）と土地を保有。賃料負担はなく、金融機関借入もない。負債の大半は代表者・配偶者からの無利息借入。</a:t>
            </a:r>
          </a:p>
        </p:txBody>
      </p:sp>
      <p:sp>
        <p:nvSpPr>
          <p:cNvPr id="40" name="Rectangle 39"/>
          <p:cNvSpPr/>
          <p:nvPr/>
        </p:nvSpPr>
        <p:spPr>
          <a:xfrm>
            <a:off x="7114031" y="3273552"/>
            <a:ext cx="3264408" cy="170078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114031" y="3273552"/>
            <a:ext cx="5029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7164323" y="3273552"/>
            <a:ext cx="3214115" cy="3840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296912" y="3355848"/>
            <a:ext cx="2935224" cy="237744"/>
          </a:xfrm>
          <a:prstGeom prst="rect">
            <a:avLst/>
          </a:prstGeom>
          <a:noFill/>
        </p:spPr>
        <p:txBody>
          <a:bodyPr wrap="square" lIns="0" rIns="0" tIns="0" bIns="0" anchor="t">
            <a:spAutoFit/>
          </a:bodyPr>
          <a:lstStyle/>
          <a:p>
            <a:pPr algn="l">
              <a:spcAft>
                <a:spcPts val="0"/>
              </a:spcAft>
            </a:pPr>
            <a:r>
              <a:rPr sz="1150" b="1">
                <a:solidFill>
                  <a:srgbClr val="0B3041"/>
                </a:solidFill>
                <a:latin typeface="游ゴシック"/>
                <a:ea typeface="游ゴシック"/>
                <a:cs typeface="游ゴシック"/>
              </a:rPr>
              <a:t>稼働余地と論点（要確認）</a:t>
            </a:r>
          </a:p>
        </p:txBody>
      </p:sp>
      <p:sp>
        <p:nvSpPr>
          <p:cNvPr id="44" name="TextBox 43"/>
          <p:cNvSpPr txBox="1"/>
          <p:nvPr/>
        </p:nvSpPr>
        <p:spPr>
          <a:xfrm>
            <a:off x="7296912" y="3767328"/>
            <a:ext cx="2935224" cy="1133856"/>
          </a:xfrm>
          <a:prstGeom prst="rect">
            <a:avLst/>
          </a:prstGeom>
          <a:noFill/>
        </p:spPr>
        <p:txBody>
          <a:bodyPr wrap="square" lIns="0" rIns="0" tIns="0" bIns="0" anchor="t">
            <a:spAutoFit/>
          </a:bodyPr>
          <a:lstStyle/>
          <a:p>
            <a:pPr algn="l">
              <a:lnSpc>
                <a:spcPct val="124000"/>
              </a:lnSpc>
              <a:spcAft>
                <a:spcPts val="0"/>
              </a:spcAft>
            </a:pPr>
            <a:r>
              <a:rPr sz="919" b="0">
                <a:solidFill>
                  <a:srgbClr val="1A1A1A"/>
                </a:solidFill>
                <a:latin typeface="游ゴシック"/>
                <a:ea typeface="游ゴシック"/>
                <a:cs typeface="游ゴシック"/>
              </a:rPr>
              <a:t>週4日・昼のみ・売り切りじまいで年間200日稼働。拡大余地の試算は P.20。売上は4期で25.4％減、代表者夫妻は無報酬、店舗建物は未登記。</a:t>
            </a:r>
          </a:p>
        </p:txBody>
      </p:sp>
      <p:pic>
        <p:nvPicPr>
          <p:cNvPr id="45" name="Picture 44" descr="外観_縁側デッキ.jpg"/>
          <p:cNvPicPr>
            <a:picLocks noChangeAspect="1"/>
          </p:cNvPicPr>
          <p:nvPr/>
        </p:nvPicPr>
        <p:blipFill>
          <a:blip r:embed="rId3"/>
          <a:srcRect t="24315" b="24315"/>
          <a:stretch>
            <a:fillRect/>
          </a:stretch>
        </p:blipFill>
        <p:spPr>
          <a:xfrm>
            <a:off x="310896" y="4992624"/>
            <a:ext cx="2420874" cy="932688"/>
          </a:xfrm>
          <a:prstGeom prst="rect">
            <a:avLst/>
          </a:prstGeom>
          <a:ln w="9525">
            <a:solidFill>
              <a:srgbClr val="E3E7E9"/>
            </a:solidFill>
          </a:ln>
        </p:spPr>
      </p:pic>
      <p:sp>
        <p:nvSpPr>
          <p:cNvPr id="46" name="TextBox 45"/>
          <p:cNvSpPr txBox="1"/>
          <p:nvPr/>
        </p:nvSpPr>
        <p:spPr>
          <a:xfrm>
            <a:off x="310896" y="5961888"/>
            <a:ext cx="2420874"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縁側デッキ（店舗外観）</a:t>
            </a:r>
          </a:p>
        </p:txBody>
      </p:sp>
      <p:pic>
        <p:nvPicPr>
          <p:cNvPr id="47" name="Picture 46" descr="客席_座敷01.jpg"/>
          <p:cNvPicPr>
            <a:picLocks noChangeAspect="1"/>
          </p:cNvPicPr>
          <p:nvPr/>
        </p:nvPicPr>
        <p:blipFill>
          <a:blip r:embed="rId4"/>
          <a:srcRect t="24315" b="24315"/>
          <a:stretch>
            <a:fillRect/>
          </a:stretch>
        </p:blipFill>
        <p:spPr>
          <a:xfrm>
            <a:off x="2859786" y="4992624"/>
            <a:ext cx="2420874" cy="932688"/>
          </a:xfrm>
          <a:prstGeom prst="rect">
            <a:avLst/>
          </a:prstGeom>
          <a:ln w="9525">
            <a:solidFill>
              <a:srgbClr val="E3E7E9"/>
            </a:solidFill>
          </a:ln>
        </p:spPr>
      </p:pic>
      <p:sp>
        <p:nvSpPr>
          <p:cNvPr id="48" name="TextBox 47"/>
          <p:cNvSpPr txBox="1"/>
          <p:nvPr/>
        </p:nvSpPr>
        <p:spPr>
          <a:xfrm>
            <a:off x="2859786" y="5961888"/>
            <a:ext cx="2420874"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座敷（囲炉裏のある客席）</a:t>
            </a:r>
          </a:p>
        </p:txBody>
      </p:sp>
      <p:pic>
        <p:nvPicPr>
          <p:cNvPr id="49" name="Picture 48" descr="店内_入口.jpg"/>
          <p:cNvPicPr>
            <a:picLocks noChangeAspect="1"/>
          </p:cNvPicPr>
          <p:nvPr/>
        </p:nvPicPr>
        <p:blipFill>
          <a:blip r:embed="rId5"/>
          <a:srcRect t="24315" b="24315"/>
          <a:stretch>
            <a:fillRect/>
          </a:stretch>
        </p:blipFill>
        <p:spPr>
          <a:xfrm>
            <a:off x="5408676" y="4992624"/>
            <a:ext cx="2420874" cy="932688"/>
          </a:xfrm>
          <a:prstGeom prst="rect">
            <a:avLst/>
          </a:prstGeom>
          <a:ln w="9525">
            <a:solidFill>
              <a:srgbClr val="E3E7E9"/>
            </a:solidFill>
          </a:ln>
        </p:spPr>
      </p:pic>
      <p:sp>
        <p:nvSpPr>
          <p:cNvPr id="50" name="TextBox 49"/>
          <p:cNvSpPr txBox="1"/>
          <p:nvPr/>
        </p:nvSpPr>
        <p:spPr>
          <a:xfrm>
            <a:off x="5408676" y="5961888"/>
            <a:ext cx="2420874"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店舗入口（板倉造の店舗）</a:t>
            </a:r>
          </a:p>
        </p:txBody>
      </p:sp>
      <p:pic>
        <p:nvPicPr>
          <p:cNvPr id="51" name="Picture 50" descr="受賞01.jpg"/>
          <p:cNvPicPr>
            <a:picLocks noChangeAspect="1"/>
          </p:cNvPicPr>
          <p:nvPr/>
        </p:nvPicPr>
        <p:blipFill>
          <a:blip r:embed="rId6"/>
          <a:srcRect t="24315" b="24315"/>
          <a:stretch>
            <a:fillRect/>
          </a:stretch>
        </p:blipFill>
        <p:spPr>
          <a:xfrm>
            <a:off x="7957566" y="4992624"/>
            <a:ext cx="2420874" cy="932688"/>
          </a:xfrm>
          <a:prstGeom prst="rect">
            <a:avLst/>
          </a:prstGeom>
          <a:ln w="9525">
            <a:solidFill>
              <a:srgbClr val="E3E7E9"/>
            </a:solidFill>
          </a:ln>
        </p:spPr>
      </p:pic>
      <p:sp>
        <p:nvSpPr>
          <p:cNvPr id="52" name="TextBox 51"/>
          <p:cNvSpPr txBox="1"/>
          <p:nvPr/>
        </p:nvSpPr>
        <p:spPr>
          <a:xfrm>
            <a:off x="7957566" y="5961888"/>
            <a:ext cx="2420874"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THE TABELOG AWARD 受賞盾</a:t>
            </a:r>
          </a:p>
        </p:txBody>
      </p:sp>
      <p:sp>
        <p:nvSpPr>
          <p:cNvPr id="53" name="Rounded Rectangle 52"/>
          <p:cNvSpPr/>
          <p:nvPr/>
        </p:nvSpPr>
        <p:spPr>
          <a:xfrm>
            <a:off x="310896" y="6291072"/>
            <a:ext cx="10067544" cy="548640"/>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310896" y="6291072"/>
            <a:ext cx="1417320" cy="54864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02336" y="6455664"/>
            <a:ext cx="1271016" cy="219456"/>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56" name="Oval 55"/>
          <p:cNvSpPr/>
          <p:nvPr/>
        </p:nvSpPr>
        <p:spPr>
          <a:xfrm>
            <a:off x="1883664" y="6446520"/>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57" name="TextBox 56"/>
          <p:cNvSpPr txBox="1"/>
          <p:nvPr/>
        </p:nvSpPr>
        <p:spPr>
          <a:xfrm>
            <a:off x="2194560" y="6455664"/>
            <a:ext cx="2429255" cy="274320"/>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価値の中心は収益力ではなく、ブランド・商標・レシピ・再建築困難な店舗</a:t>
            </a:r>
          </a:p>
        </p:txBody>
      </p:sp>
      <p:sp>
        <p:nvSpPr>
          <p:cNvPr id="58" name="Oval 57"/>
          <p:cNvSpPr/>
          <p:nvPr/>
        </p:nvSpPr>
        <p:spPr>
          <a:xfrm>
            <a:off x="4715256" y="6446520"/>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59" name="TextBox 58"/>
          <p:cNvSpPr txBox="1"/>
          <p:nvPr/>
        </p:nvSpPr>
        <p:spPr>
          <a:xfrm>
            <a:off x="5026151" y="6455664"/>
            <a:ext cx="2429255" cy="274320"/>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週4日・昼のみという稼働が最大の伸び代（詳細は P.20）</a:t>
            </a:r>
          </a:p>
        </p:txBody>
      </p:sp>
      <p:sp>
        <p:nvSpPr>
          <p:cNvPr id="60" name="Oval 59"/>
          <p:cNvSpPr/>
          <p:nvPr/>
        </p:nvSpPr>
        <p:spPr>
          <a:xfrm>
            <a:off x="7546847" y="6446520"/>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61" name="TextBox 60"/>
          <p:cNvSpPr txBox="1"/>
          <p:nvPr/>
        </p:nvSpPr>
        <p:spPr>
          <a:xfrm>
            <a:off x="7857743" y="6455664"/>
            <a:ext cx="2429255" cy="274320"/>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金融機関借入なし。負債の大半は代表者・配偶者からの無利息借入</a:t>
            </a:r>
          </a:p>
        </p:txBody>
      </p:sp>
      <p:sp>
        <p:nvSpPr>
          <p:cNvPr id="62" name="TextBox 61"/>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金額は2026年5月期。「強み」「成長性」は弊社の評価であり、将来の業績を保証するものではありません。</a:t>
            </a:r>
          </a:p>
        </p:txBody>
      </p:sp>
    </p:spTree>
    <p:extLst>
      <p:ext uri="{BB962C8B-B14F-4D97-AF65-F5344CB8AC3E}">
        <p14:creationId xmlns:p14="http://schemas.microsoft.com/office/powerpoint/2010/main" val="2819346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財務ハイライト（P/L）</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売上高は4期で25.4％減少し2026/5期は営業赤字。一方で年間7,012千円の減価償却費を戻した調整後EBITDAは6,801千円を確保</a:t>
            </a:r>
            <a:endParaRPr lang="en-US" altLang="ja-JP" dirty="0">
              <a:latin typeface="+mj-ea"/>
            </a:endParaRPr>
          </a:p>
        </p:txBody>
      </p:sp>
      <p:graphicFrame>
        <p:nvGraphicFramePr>
          <p:cNvPr id="17" name="Table 16"/>
          <p:cNvGraphicFramePr>
            <a:graphicFrameLocks noGrp="1"/>
          </p:cNvGraphicFramePr>
          <p:nvPr/>
        </p:nvGraphicFramePr>
        <p:xfrm>
          <a:off x="310896" y="1408176"/>
          <a:ext cx="6044184" cy="2774280"/>
        </p:xfrm>
        <a:graphic>
          <a:graphicData uri="http://schemas.openxmlformats.org/drawingml/2006/table">
            <a:tbl>
              <a:tblPr>
                <a:tableStyleId>{5940675A-B579-460E-94D1-54222C63F5DA}</a:tableStyleId>
              </a:tblPr>
              <a:tblGrid>
                <a:gridCol w="211226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tblGrid>
              <a:tr h="228600">
                <a:tc>
                  <a:txBody>
                    <a:bodyPr/>
                    <a:lstStyle/>
                    <a:p>
                      <a:pPr algn="ctr">
                        <a:spcAft>
                          <a:spcPts val="0"/>
                        </a:spcAft>
                      </a:pPr>
                      <a:r>
                        <a:rPr sz="85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50" b="1">
                          <a:solidFill>
                            <a:srgbClr val="FFFFFF"/>
                          </a:solidFill>
                          <a:latin typeface="Arial"/>
                          <a:ea typeface="Arial"/>
                          <a:cs typeface="Arial"/>
                        </a:rPr>
                        <a:t>2022/5期</a:t>
                      </a:r>
                    </a:p>
                  </a:txBody>
                  <a:tcPr marL="45720" marR="45720" marT="9144" marB="9144" anchor="ctr">
                    <a:solidFill>
                      <a:srgbClr val="0B3041"/>
                    </a:solidFill>
                  </a:tcPr>
                </a:tc>
                <a:tc>
                  <a:txBody>
                    <a:bodyPr/>
                    <a:lstStyle/>
                    <a:p>
                      <a:pPr algn="ctr">
                        <a:spcAft>
                          <a:spcPts val="0"/>
                        </a:spcAft>
                      </a:pPr>
                      <a:r>
                        <a:rPr sz="850" b="1">
                          <a:solidFill>
                            <a:srgbClr val="FFFFFF"/>
                          </a:solidFill>
                          <a:latin typeface="Arial"/>
                          <a:ea typeface="Arial"/>
                          <a:cs typeface="Arial"/>
                        </a:rPr>
                        <a:t>2023/5期</a:t>
                      </a:r>
                    </a:p>
                  </a:txBody>
                  <a:tcPr marL="45720" marR="45720" marT="9144" marB="9144" anchor="ctr">
                    <a:solidFill>
                      <a:srgbClr val="0B3041"/>
                    </a:solidFill>
                  </a:tcPr>
                </a:tc>
                <a:tc>
                  <a:txBody>
                    <a:bodyPr/>
                    <a:lstStyle/>
                    <a:p>
                      <a:pPr algn="ctr">
                        <a:spcAft>
                          <a:spcPts val="0"/>
                        </a:spcAft>
                      </a:pPr>
                      <a:r>
                        <a:rPr sz="85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5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50"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212140">
                <a:tc>
                  <a:txBody>
                    <a:bodyPr/>
                    <a:lstStyle/>
                    <a:p>
                      <a:pPr algn="l">
                        <a:spcAft>
                          <a:spcPts val="0"/>
                        </a:spcAft>
                      </a:pPr>
                      <a:r>
                        <a:rPr sz="850" b="1">
                          <a:solidFill>
                            <a:srgbClr val="1A1A1A"/>
                          </a:solidFill>
                          <a:latin typeface="游ゴシック"/>
                          <a:ea typeface="游ゴシック"/>
                          <a:cs typeface="游ゴシック"/>
                        </a:rPr>
                        <a:t>売上高</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30,121</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28,446</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24,455</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23,542</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22,484</a:t>
                      </a:r>
                    </a:p>
                  </a:txBody>
                  <a:tcPr marL="45720" marR="45720" marT="9144" marB="9144" anchor="ctr">
                    <a:solidFill>
                      <a:srgbClr val="FFFFFF"/>
                    </a:solidFill>
                  </a:tcPr>
                </a:tc>
                <a:extLst>
                  <a:ext uri="{0D108BD9-81ED-4DB2-BD59-A6C34878D82A}">
                    <a16:rowId xmlns:a16="http://schemas.microsoft.com/office/drawing/2014/main" val="10001"/>
                  </a:ext>
                </a:extLst>
              </a:tr>
              <a:tr h="212140">
                <a:tc>
                  <a:txBody>
                    <a:bodyPr/>
                    <a:lstStyle/>
                    <a:p>
                      <a:pPr algn="l">
                        <a:spcAft>
                          <a:spcPts val="0"/>
                        </a:spcAft>
                      </a:pPr>
                      <a:r>
                        <a:rPr sz="850" b="0">
                          <a:solidFill>
                            <a:srgbClr val="1A1A1A"/>
                          </a:solidFill>
                          <a:latin typeface="游ゴシック"/>
                          <a:ea typeface="游ゴシック"/>
                          <a:cs typeface="游ゴシック"/>
                        </a:rPr>
                        <a:t>売上総利益</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13,021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10,365</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8,051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7,495</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6,056</a:t>
                      </a:r>
                    </a:p>
                  </a:txBody>
                  <a:tcPr marL="45720" marR="45720" marT="9144" marB="9144" anchor="ctr">
                    <a:solidFill>
                      <a:srgbClr val="FFFFFF"/>
                    </a:solidFill>
                  </a:tcPr>
                </a:tc>
                <a:extLst>
                  <a:ext uri="{0D108BD9-81ED-4DB2-BD59-A6C34878D82A}">
                    <a16:rowId xmlns:a16="http://schemas.microsoft.com/office/drawing/2014/main" val="10002"/>
                  </a:ext>
                </a:extLst>
              </a:tr>
              <a:tr h="212140">
                <a:tc>
                  <a:txBody>
                    <a:bodyPr/>
                    <a:lstStyle/>
                    <a:p>
                      <a:pPr algn="l">
                        <a:spcAft>
                          <a:spcPts val="0"/>
                        </a:spcAft>
                      </a:pPr>
                      <a:r>
                        <a:rPr sz="850" b="0">
                          <a:solidFill>
                            <a:srgbClr val="1A1A1A"/>
                          </a:solidFill>
                          <a:latin typeface="游ゴシック"/>
                          <a:ea typeface="游ゴシック"/>
                          <a:cs typeface="游ゴシック"/>
                        </a:rPr>
                        <a:t>　売上総利益率</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43.2%</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36.4%</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32.9%</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31.8%</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26.9%</a:t>
                      </a:r>
                    </a:p>
                  </a:txBody>
                  <a:tcPr marL="45720" marR="45720" marT="9144" marB="9144" anchor="ctr">
                    <a:solidFill>
                      <a:srgbClr val="FFFFFF"/>
                    </a:solidFill>
                  </a:tcPr>
                </a:tc>
                <a:extLst>
                  <a:ext uri="{0D108BD9-81ED-4DB2-BD59-A6C34878D82A}">
                    <a16:rowId xmlns:a16="http://schemas.microsoft.com/office/drawing/2014/main" val="10003"/>
                  </a:ext>
                </a:extLst>
              </a:tr>
              <a:tr h="212140">
                <a:tc>
                  <a:txBody>
                    <a:bodyPr/>
                    <a:lstStyle/>
                    <a:p>
                      <a:pPr algn="l">
                        <a:spcAft>
                          <a:spcPts val="0"/>
                        </a:spcAft>
                      </a:pPr>
                      <a:r>
                        <a:rPr sz="85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6,430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7,554</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7,082</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6,212</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6,267</a:t>
                      </a:r>
                    </a:p>
                  </a:txBody>
                  <a:tcPr marL="45720" marR="45720" marT="9144" marB="9144" anchor="ctr">
                    <a:solidFill>
                      <a:srgbClr val="FFFFFF"/>
                    </a:solidFill>
                  </a:tcPr>
                </a:tc>
                <a:extLst>
                  <a:ext uri="{0D108BD9-81ED-4DB2-BD59-A6C34878D82A}">
                    <a16:rowId xmlns:a16="http://schemas.microsoft.com/office/drawing/2014/main" val="10004"/>
                  </a:ext>
                </a:extLst>
              </a:tr>
              <a:tr h="212140">
                <a:tc>
                  <a:txBody>
                    <a:bodyPr/>
                    <a:lstStyle/>
                    <a:p>
                      <a:pPr algn="l">
                        <a:spcAft>
                          <a:spcPts val="0"/>
                        </a:spcAft>
                      </a:pPr>
                      <a:r>
                        <a:rPr sz="850" b="1">
                          <a:solidFill>
                            <a:srgbClr val="1A1A1A"/>
                          </a:solidFill>
                          <a:latin typeface="游ゴシック"/>
                          <a:ea typeface="游ゴシック"/>
                          <a:cs typeface="游ゴシック"/>
                        </a:rPr>
                        <a:t>営業利益</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6,591</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2,810</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970</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1,283</a:t>
                      </a:r>
                    </a:p>
                  </a:txBody>
                  <a:tcPr marL="45720" marR="45720" marT="9144" marB="9144" anchor="ctr">
                    <a:solidFill>
                      <a:srgbClr val="FFFFFF"/>
                    </a:solidFill>
                  </a:tcPr>
                </a:tc>
                <a:tc>
                  <a:txBody>
                    <a:bodyPr/>
                    <a:lstStyle/>
                    <a:p>
                      <a:pPr algn="r">
                        <a:spcAft>
                          <a:spcPts val="0"/>
                        </a:spcAft>
                      </a:pPr>
                      <a:r>
                        <a:rPr sz="850" b="1">
                          <a:solidFill>
                            <a:srgbClr val="C03A2B"/>
                          </a:solidFill>
                          <a:latin typeface="Arial"/>
                          <a:ea typeface="Arial"/>
                          <a:cs typeface="Arial"/>
                        </a:rPr>
                        <a:t>△211</a:t>
                      </a:r>
                    </a:p>
                  </a:txBody>
                  <a:tcPr marL="45720" marR="45720" marT="9144" marB="9144" anchor="ctr">
                    <a:solidFill>
                      <a:srgbClr val="FFFFFF"/>
                    </a:solidFill>
                  </a:tcPr>
                </a:tc>
                <a:extLst>
                  <a:ext uri="{0D108BD9-81ED-4DB2-BD59-A6C34878D82A}">
                    <a16:rowId xmlns:a16="http://schemas.microsoft.com/office/drawing/2014/main" val="10005"/>
                  </a:ext>
                </a:extLst>
              </a:tr>
              <a:tr h="212140">
                <a:tc>
                  <a:txBody>
                    <a:bodyPr/>
                    <a:lstStyle/>
                    <a:p>
                      <a:pPr algn="l">
                        <a:spcAft>
                          <a:spcPts val="0"/>
                        </a:spcAft>
                      </a:pPr>
                      <a:r>
                        <a:rPr sz="850" b="0">
                          <a:solidFill>
                            <a:srgbClr val="1A1A1A"/>
                          </a:solidFill>
                          <a:latin typeface="游ゴシック"/>
                          <a:ea typeface="游ゴシック"/>
                          <a:cs typeface="游ゴシック"/>
                        </a:rPr>
                        <a:t>　営業利益率</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21.9%</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9.9%</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4.0%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5.5%</a:t>
                      </a:r>
                    </a:p>
                  </a:txBody>
                  <a:tcPr marL="45720" marR="45720" marT="9144" marB="9144" anchor="ctr">
                    <a:solidFill>
                      <a:srgbClr val="FFFFFF"/>
                    </a:solidFill>
                  </a:tcPr>
                </a:tc>
                <a:tc>
                  <a:txBody>
                    <a:bodyPr/>
                    <a:lstStyle/>
                    <a:p>
                      <a:pPr algn="r">
                        <a:spcAft>
                          <a:spcPts val="0"/>
                        </a:spcAft>
                      </a:pPr>
                      <a:r>
                        <a:rPr sz="850" b="0">
                          <a:solidFill>
                            <a:srgbClr val="C03A2B"/>
                          </a:solidFill>
                          <a:latin typeface="Arial"/>
                          <a:ea typeface="Arial"/>
                          <a:cs typeface="Arial"/>
                        </a:rPr>
                        <a:t>△0.9%</a:t>
                      </a:r>
                    </a:p>
                  </a:txBody>
                  <a:tcPr marL="45720" marR="45720" marT="9144" marB="9144" anchor="ctr">
                    <a:solidFill>
                      <a:srgbClr val="FFFFFF"/>
                    </a:solidFill>
                  </a:tcPr>
                </a:tc>
                <a:extLst>
                  <a:ext uri="{0D108BD9-81ED-4DB2-BD59-A6C34878D82A}">
                    <a16:rowId xmlns:a16="http://schemas.microsoft.com/office/drawing/2014/main" val="10006"/>
                  </a:ext>
                </a:extLst>
              </a:tr>
              <a:tr h="212140">
                <a:tc>
                  <a:txBody>
                    <a:bodyPr/>
                    <a:lstStyle/>
                    <a:p>
                      <a:pPr algn="l">
                        <a:spcAft>
                          <a:spcPts val="0"/>
                        </a:spcAft>
                      </a:pPr>
                      <a:r>
                        <a:rPr sz="850" b="0">
                          <a:solidFill>
                            <a:srgbClr val="1A1A1A"/>
                          </a:solidFill>
                          <a:latin typeface="游ゴシック"/>
                          <a:ea typeface="游ゴシック"/>
                          <a:cs typeface="游ゴシック"/>
                        </a:rPr>
                        <a:t>経常利益</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6,800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3,079</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1,265</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1,493</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18</a:t>
                      </a:r>
                    </a:p>
                  </a:txBody>
                  <a:tcPr marL="45720" marR="45720" marT="9144" marB="9144" anchor="ctr">
                    <a:solidFill>
                      <a:srgbClr val="FFFFFF"/>
                    </a:solidFill>
                  </a:tcPr>
                </a:tc>
                <a:extLst>
                  <a:ext uri="{0D108BD9-81ED-4DB2-BD59-A6C34878D82A}">
                    <a16:rowId xmlns:a16="http://schemas.microsoft.com/office/drawing/2014/main" val="10007"/>
                  </a:ext>
                </a:extLst>
              </a:tr>
              <a:tr h="212140">
                <a:tc>
                  <a:txBody>
                    <a:bodyPr/>
                    <a:lstStyle/>
                    <a:p>
                      <a:pPr algn="l">
                        <a:spcAft>
                          <a:spcPts val="0"/>
                        </a:spcAft>
                      </a:pPr>
                      <a:r>
                        <a:rPr sz="850" b="0">
                          <a:solidFill>
                            <a:srgbClr val="1A1A1A"/>
                          </a:solidFill>
                          <a:latin typeface="游ゴシック"/>
                          <a:ea typeface="游ゴシック"/>
                          <a:cs typeface="游ゴシック"/>
                        </a:rPr>
                        <a:t>当期純利益</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5,561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2,511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911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1,081</a:t>
                      </a:r>
                    </a:p>
                  </a:txBody>
                  <a:tcPr marL="45720" marR="45720" marT="9144" marB="9144" anchor="ctr">
                    <a:solidFill>
                      <a:srgbClr val="FFFFFF"/>
                    </a:solidFill>
                  </a:tcPr>
                </a:tc>
                <a:tc>
                  <a:txBody>
                    <a:bodyPr/>
                    <a:lstStyle/>
                    <a:p>
                      <a:pPr algn="r">
                        <a:spcAft>
                          <a:spcPts val="0"/>
                        </a:spcAft>
                      </a:pPr>
                      <a:r>
                        <a:rPr sz="850" b="0">
                          <a:solidFill>
                            <a:srgbClr val="C03A2B"/>
                          </a:solidFill>
                          <a:latin typeface="Arial"/>
                          <a:ea typeface="Arial"/>
                          <a:cs typeface="Arial"/>
                        </a:rPr>
                        <a:t>△54</a:t>
                      </a:r>
                    </a:p>
                  </a:txBody>
                  <a:tcPr marL="45720" marR="45720" marT="9144" marB="9144" anchor="ctr">
                    <a:solidFill>
                      <a:srgbClr val="FFFFFF"/>
                    </a:solidFill>
                  </a:tcPr>
                </a:tc>
                <a:extLst>
                  <a:ext uri="{0D108BD9-81ED-4DB2-BD59-A6C34878D82A}">
                    <a16:rowId xmlns:a16="http://schemas.microsoft.com/office/drawing/2014/main" val="10008"/>
                  </a:ext>
                </a:extLst>
              </a:tr>
              <a:tr h="212140">
                <a:tc>
                  <a:txBody>
                    <a:bodyPr/>
                    <a:lstStyle/>
                    <a:p>
                      <a:pPr algn="l">
                        <a:spcAft>
                          <a:spcPts val="0"/>
                        </a:spcAft>
                      </a:pPr>
                      <a:r>
                        <a:rPr sz="850" b="0">
                          <a:solidFill>
                            <a:srgbClr val="1A1A1A"/>
                          </a:solidFill>
                          <a:latin typeface="游ゴシック"/>
                          <a:ea typeface="游ゴシック"/>
                          <a:cs typeface="游ゴシック"/>
                        </a:rPr>
                        <a:t>減価償却費</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7,380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7,292</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7,012</a:t>
                      </a:r>
                    </a:p>
                  </a:txBody>
                  <a:tcPr marL="45720" marR="45720" marT="9144" marB="9144" anchor="ctr">
                    <a:solidFill>
                      <a:srgbClr val="FFFFFF"/>
                    </a:solidFill>
                  </a:tcPr>
                </a:tc>
                <a:extLst>
                  <a:ext uri="{0D108BD9-81ED-4DB2-BD59-A6C34878D82A}">
                    <a16:rowId xmlns:a16="http://schemas.microsoft.com/office/drawing/2014/main" val="10009"/>
                  </a:ext>
                </a:extLst>
              </a:tr>
              <a:tr h="212140">
                <a:tc>
                  <a:txBody>
                    <a:bodyPr/>
                    <a:lstStyle/>
                    <a:p>
                      <a:pPr algn="l">
                        <a:spcAft>
                          <a:spcPts val="0"/>
                        </a:spcAft>
                      </a:pPr>
                      <a:r>
                        <a:rPr sz="850" b="0">
                          <a:solidFill>
                            <a:srgbClr val="1A1A1A"/>
                          </a:solidFill>
                          <a:latin typeface="游ゴシック"/>
                          <a:ea typeface="游ゴシック"/>
                          <a:cs typeface="游ゴシック"/>
                        </a:rPr>
                        <a:t>調整項目 合計</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10"/>
                  </a:ext>
                </a:extLst>
              </a:tr>
              <a:tr h="212140">
                <a:tc>
                  <a:txBody>
                    <a:bodyPr/>
                    <a:lstStyle/>
                    <a:p>
                      <a:pPr algn="l">
                        <a:spcAft>
                          <a:spcPts val="0"/>
                        </a:spcAft>
                      </a:pPr>
                      <a:r>
                        <a:rPr sz="850" b="1">
                          <a:solidFill>
                            <a:srgbClr val="1A1A1A"/>
                          </a:solidFill>
                          <a:latin typeface="游ゴシック"/>
                          <a:ea typeface="游ゴシック"/>
                          <a:cs typeface="游ゴシック"/>
                        </a:rPr>
                        <a:t>調整後EBITDA</a:t>
                      </a:r>
                    </a:p>
                  </a:txBody>
                  <a:tcPr marL="45720" marR="45720" marT="9144" marB="9144" anchor="ctr">
                    <a:solidFill>
                      <a:srgbClr val="FFFFFF"/>
                    </a:solidFill>
                  </a:tcPr>
                </a:tc>
                <a:tc>
                  <a:txBody>
                    <a:bodyPr/>
                    <a:lstStyle/>
                    <a:p>
                      <a:pPr algn="l">
                        <a:spcAft>
                          <a:spcPts val="0"/>
                        </a:spcAft>
                      </a:pPr>
                      <a:r>
                        <a:rPr sz="850"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50"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8,350</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8,575</a:t>
                      </a:r>
                    </a:p>
                  </a:txBody>
                  <a:tcPr marL="45720" marR="45720" marT="9144" marB="9144" anchor="ctr">
                    <a:solidFill>
                      <a:srgbClr val="FFFFFF"/>
                    </a:solidFill>
                  </a:tcPr>
                </a:tc>
                <a:tc>
                  <a:txBody>
                    <a:bodyPr/>
                    <a:lstStyle/>
                    <a:p>
                      <a:pPr algn="r">
                        <a:spcAft>
                          <a:spcPts val="0"/>
                        </a:spcAft>
                      </a:pPr>
                      <a:r>
                        <a:rPr sz="850" b="1">
                          <a:solidFill>
                            <a:srgbClr val="1A1A1A"/>
                          </a:solidFill>
                          <a:latin typeface="Arial"/>
                          <a:ea typeface="Arial"/>
                          <a:cs typeface="Arial"/>
                        </a:rPr>
                        <a:t>6,801</a:t>
                      </a:r>
                    </a:p>
                  </a:txBody>
                  <a:tcPr marL="45720" marR="45720" marT="9144" marB="9144" anchor="ctr">
                    <a:solidFill>
                      <a:srgbClr val="FFFFFF"/>
                    </a:solidFill>
                  </a:tcPr>
                </a:tc>
                <a:extLst>
                  <a:ext uri="{0D108BD9-81ED-4DB2-BD59-A6C34878D82A}">
                    <a16:rowId xmlns:a16="http://schemas.microsoft.com/office/drawing/2014/main" val="10011"/>
                  </a:ext>
                </a:extLst>
              </a:tr>
              <a:tr h="212140">
                <a:tc>
                  <a:txBody>
                    <a:bodyPr/>
                    <a:lstStyle/>
                    <a:p>
                      <a:pPr algn="l">
                        <a:spcAft>
                          <a:spcPts val="0"/>
                        </a:spcAft>
                      </a:pPr>
                      <a:r>
                        <a:rPr sz="850" b="0">
                          <a:solidFill>
                            <a:srgbClr val="1A1A1A"/>
                          </a:solidFill>
                          <a:latin typeface="游ゴシック"/>
                          <a:ea typeface="游ゴシック"/>
                          <a:cs typeface="游ゴシック"/>
                        </a:rPr>
                        <a:t>　EBITDAマージン</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34.1%</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36.4%</a:t>
                      </a:r>
                    </a:p>
                  </a:txBody>
                  <a:tcPr marL="45720" marR="45720" marT="9144" marB="9144" anchor="ctr">
                    <a:solidFill>
                      <a:srgbClr val="FFFFFF"/>
                    </a:solidFill>
                  </a:tcPr>
                </a:tc>
                <a:tc>
                  <a:txBody>
                    <a:bodyPr/>
                    <a:lstStyle/>
                    <a:p>
                      <a:pPr algn="r">
                        <a:spcAft>
                          <a:spcPts val="0"/>
                        </a:spcAft>
                      </a:pPr>
                      <a:r>
                        <a:rPr sz="850" b="0">
                          <a:solidFill>
                            <a:srgbClr val="1A1A1A"/>
                          </a:solidFill>
                          <a:latin typeface="Arial"/>
                          <a:ea typeface="Arial"/>
                          <a:cs typeface="Arial"/>
                        </a:rPr>
                        <a:t>30.2%</a:t>
                      </a:r>
                    </a:p>
                  </a:txBody>
                  <a:tcPr marL="45720" marR="45720" marT="9144" marB="9144" anchor="ctr">
                    <a:solidFill>
                      <a:srgbClr val="FFFFFF"/>
                    </a:solidFill>
                  </a:tcPr>
                </a:tc>
                <a:extLst>
                  <a:ext uri="{0D108BD9-81ED-4DB2-BD59-A6C34878D82A}">
                    <a16:rowId xmlns:a16="http://schemas.microsoft.com/office/drawing/2014/main" val="10012"/>
                  </a:ext>
                </a:extLst>
              </a:tr>
            </a:tbl>
          </a:graphicData>
        </a:graphic>
      </p:graphicFrame>
      <p:sp>
        <p:nvSpPr>
          <p:cNvPr id="18" name="Rectangle 17"/>
          <p:cNvSpPr/>
          <p:nvPr/>
        </p:nvSpPr>
        <p:spPr>
          <a:xfrm>
            <a:off x="310896" y="4645152"/>
            <a:ext cx="6044184" cy="1920240"/>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420624" y="4718304"/>
            <a:ext cx="5824728" cy="201168"/>
          </a:xfrm>
          <a:prstGeom prst="rect">
            <a:avLst/>
          </a:prstGeom>
          <a:noFill/>
        </p:spPr>
        <p:txBody>
          <a:bodyPr wrap="square" lIns="0" tIns="0" rIns="0" bIns="0" anchor="t">
            <a:spAutoFit/>
          </a:bodyPr>
          <a:lstStyle/>
          <a:p>
            <a:pPr algn="l">
              <a:spcAft>
                <a:spcPts val="0"/>
              </a:spcAft>
            </a:pPr>
            <a:r>
              <a:rPr sz="900" b="1">
                <a:solidFill>
                  <a:srgbClr val="0B3041"/>
                </a:solidFill>
                <a:latin typeface="游ゴシック"/>
                <a:ea typeface="游ゴシック"/>
                <a:cs typeface="游ゴシック"/>
              </a:rPr>
              <a:t>売上高の推移（千円）</a:t>
            </a:r>
          </a:p>
        </p:txBody>
      </p:sp>
      <p:sp>
        <p:nvSpPr>
          <p:cNvPr id="20" name="Rectangle 19"/>
          <p:cNvSpPr/>
          <p:nvPr/>
        </p:nvSpPr>
        <p:spPr>
          <a:xfrm>
            <a:off x="621792" y="5084064"/>
            <a:ext cx="663854" cy="117043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548640" y="4901183"/>
            <a:ext cx="840882"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30,121</a:t>
            </a:r>
          </a:p>
        </p:txBody>
      </p:sp>
      <p:sp>
        <p:nvSpPr>
          <p:cNvPr id="22" name="TextBox 21"/>
          <p:cNvSpPr txBox="1"/>
          <p:nvPr/>
        </p:nvSpPr>
        <p:spPr>
          <a:xfrm>
            <a:off x="548640" y="6300216"/>
            <a:ext cx="840882"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22/5期</a:t>
            </a:r>
          </a:p>
        </p:txBody>
      </p:sp>
      <p:sp>
        <p:nvSpPr>
          <p:cNvPr id="23" name="Rectangle 22"/>
          <p:cNvSpPr/>
          <p:nvPr/>
        </p:nvSpPr>
        <p:spPr>
          <a:xfrm>
            <a:off x="1728216" y="5149150"/>
            <a:ext cx="663854" cy="11053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1655064" y="4966270"/>
            <a:ext cx="840882"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28,446</a:t>
            </a:r>
          </a:p>
        </p:txBody>
      </p:sp>
      <p:sp>
        <p:nvSpPr>
          <p:cNvPr id="25" name="TextBox 24"/>
          <p:cNvSpPr txBox="1"/>
          <p:nvPr/>
        </p:nvSpPr>
        <p:spPr>
          <a:xfrm>
            <a:off x="1655064" y="6300216"/>
            <a:ext cx="840882"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23/5期</a:t>
            </a:r>
          </a:p>
        </p:txBody>
      </p:sp>
      <p:sp>
        <p:nvSpPr>
          <p:cNvPr id="26" name="Rectangle 25"/>
          <p:cNvSpPr/>
          <p:nvPr/>
        </p:nvSpPr>
        <p:spPr>
          <a:xfrm>
            <a:off x="2834640" y="5304231"/>
            <a:ext cx="663854" cy="95026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761488" y="5121351"/>
            <a:ext cx="840882"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24,455</a:t>
            </a:r>
          </a:p>
        </p:txBody>
      </p:sp>
      <p:sp>
        <p:nvSpPr>
          <p:cNvPr id="28" name="TextBox 27"/>
          <p:cNvSpPr txBox="1"/>
          <p:nvPr/>
        </p:nvSpPr>
        <p:spPr>
          <a:xfrm>
            <a:off x="2761488" y="6300216"/>
            <a:ext cx="840882"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24/5期</a:t>
            </a:r>
          </a:p>
        </p:txBody>
      </p:sp>
      <p:sp>
        <p:nvSpPr>
          <p:cNvPr id="29" name="Rectangle 28"/>
          <p:cNvSpPr/>
          <p:nvPr/>
        </p:nvSpPr>
        <p:spPr>
          <a:xfrm>
            <a:off x="3941064" y="5339708"/>
            <a:ext cx="663854" cy="91478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3867912" y="5156828"/>
            <a:ext cx="840882"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23,542</a:t>
            </a:r>
          </a:p>
        </p:txBody>
      </p:sp>
      <p:sp>
        <p:nvSpPr>
          <p:cNvPr id="31" name="TextBox 30"/>
          <p:cNvSpPr txBox="1"/>
          <p:nvPr/>
        </p:nvSpPr>
        <p:spPr>
          <a:xfrm>
            <a:off x="3867912" y="6300216"/>
            <a:ext cx="840882"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25/5期</a:t>
            </a:r>
          </a:p>
        </p:txBody>
      </p:sp>
      <p:sp>
        <p:nvSpPr>
          <p:cNvPr id="32" name="Rectangle 31"/>
          <p:cNvSpPr/>
          <p:nvPr/>
        </p:nvSpPr>
        <p:spPr>
          <a:xfrm>
            <a:off x="5047488" y="5380820"/>
            <a:ext cx="663854" cy="87367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4974336" y="5197940"/>
            <a:ext cx="840882"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22,484</a:t>
            </a:r>
          </a:p>
        </p:txBody>
      </p:sp>
      <p:sp>
        <p:nvSpPr>
          <p:cNvPr id="34" name="TextBox 33"/>
          <p:cNvSpPr txBox="1"/>
          <p:nvPr/>
        </p:nvSpPr>
        <p:spPr>
          <a:xfrm>
            <a:off x="4974336" y="6300216"/>
            <a:ext cx="840882"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26/5期</a:t>
            </a:r>
          </a:p>
        </p:txBody>
      </p:sp>
      <p:sp>
        <p:nvSpPr>
          <p:cNvPr id="35" name="Rectangle 34"/>
          <p:cNvSpPr/>
          <p:nvPr/>
        </p:nvSpPr>
        <p:spPr>
          <a:xfrm>
            <a:off x="530352" y="6254496"/>
            <a:ext cx="5641848"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6455664" y="1380744"/>
            <a:ext cx="3922776" cy="310896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547103" y="1453896"/>
            <a:ext cx="3739896"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8" name="TextBox 37"/>
          <p:cNvSpPr txBox="1"/>
          <p:nvPr/>
        </p:nvSpPr>
        <p:spPr>
          <a:xfrm>
            <a:off x="6565392" y="1801368"/>
            <a:ext cx="3703320" cy="2195473"/>
          </a:xfrm>
          <a:prstGeom prst="rect">
            <a:avLst/>
          </a:prstGeom>
          <a:noFill/>
        </p:spPr>
        <p:txBody>
          <a:bodyPr wrap="square" lIns="0" tIns="0" rIns="0" bIns="0" anchor="t">
            <a:spAutoFit/>
          </a:bodyPr>
          <a:lstStyle/>
          <a:p>
            <a:pPr algn="l">
              <a:lnSpc>
                <a:spcPct val="118000"/>
              </a:lnSpc>
              <a:spcAft>
                <a:spcPts val="200"/>
              </a:spcAft>
            </a:pPr>
            <a:r>
              <a:rPr sz="900" b="1" dirty="0">
                <a:solidFill>
                  <a:srgbClr val="0889C9"/>
                </a:solidFill>
                <a:latin typeface="游ゴシック"/>
                <a:ea typeface="游ゴシック"/>
                <a:cs typeface="游ゴシック"/>
              </a:rPr>
              <a:t>≪</a:t>
            </a:r>
            <a:r>
              <a:rPr sz="900" b="1" dirty="0" err="1">
                <a:solidFill>
                  <a:srgbClr val="0889C9"/>
                </a:solidFill>
                <a:latin typeface="游ゴシック"/>
                <a:ea typeface="游ゴシック"/>
                <a:cs typeface="游ゴシック"/>
              </a:rPr>
              <a:t>売上高</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30,121→22,484千円（4期で△25.4%）。営業日数は203→200日とほぼ一定であり、減収は店頭日商の低下（86→75千円）による。</a:t>
            </a:r>
          </a:p>
          <a:p>
            <a:pPr algn="l">
              <a:spcAft>
                <a:spcPts val="200"/>
              </a:spcAft>
            </a:pPr>
            <a:endParaRPr sz="900" b="0" dirty="0">
              <a:solidFill>
                <a:srgbClr val="1A1A1A"/>
              </a:solidFill>
              <a:latin typeface="游ゴシック"/>
              <a:ea typeface="游ゴシック"/>
              <a:cs typeface="游ゴシック"/>
            </a:endParaRPr>
          </a:p>
          <a:p>
            <a:pPr algn="l">
              <a:lnSpc>
                <a:spcPct val="118000"/>
              </a:lnSpc>
              <a:spcAft>
                <a:spcPts val="200"/>
              </a:spcAft>
            </a:pPr>
            <a:r>
              <a:rPr sz="900" b="1" dirty="0">
                <a:solidFill>
                  <a:srgbClr val="0889C9"/>
                </a:solidFill>
                <a:latin typeface="游ゴシック"/>
                <a:ea typeface="游ゴシック"/>
                <a:cs typeface="游ゴシック"/>
              </a:rPr>
              <a:t>≪</a:t>
            </a:r>
            <a:r>
              <a:rPr sz="900" b="1" dirty="0" err="1">
                <a:solidFill>
                  <a:srgbClr val="0889C9"/>
                </a:solidFill>
                <a:latin typeface="游ゴシック"/>
                <a:ea typeface="游ゴシック"/>
                <a:cs typeface="游ゴシック"/>
              </a:rPr>
              <a:t>売上総利益</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粗利率は43.2→26.9％へ低下。製造原価の42.3％を占める減価償却費7,012千円が固定費であり、減収が粗利率低下に直結する。</a:t>
            </a:r>
          </a:p>
          <a:p>
            <a:pPr algn="l">
              <a:spcAft>
                <a:spcPts val="200"/>
              </a:spcAft>
            </a:pPr>
            <a:endParaRPr sz="900" b="0" dirty="0">
              <a:solidFill>
                <a:srgbClr val="1A1A1A"/>
              </a:solidFill>
              <a:latin typeface="游ゴシック"/>
              <a:ea typeface="游ゴシック"/>
              <a:cs typeface="游ゴシック"/>
            </a:endParaRPr>
          </a:p>
          <a:p>
            <a:pPr algn="l">
              <a:lnSpc>
                <a:spcPct val="118000"/>
              </a:lnSpc>
              <a:spcAft>
                <a:spcPts val="200"/>
              </a:spcAft>
            </a:pPr>
            <a:r>
              <a:rPr sz="900" b="1" dirty="0">
                <a:solidFill>
                  <a:srgbClr val="0889C9"/>
                </a:solidFill>
                <a:latin typeface="游ゴシック"/>
                <a:ea typeface="游ゴシック"/>
                <a:cs typeface="游ゴシック"/>
              </a:rPr>
              <a:t>≪</a:t>
            </a:r>
            <a:r>
              <a:rPr sz="900" b="1" dirty="0" err="1">
                <a:solidFill>
                  <a:srgbClr val="0889C9"/>
                </a:solidFill>
                <a:latin typeface="游ゴシック"/>
                <a:ea typeface="游ゴシック"/>
                <a:cs typeface="游ゴシック"/>
              </a:rPr>
              <a:t>営業利益</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2026/5期は△211千円。販管費6,267千円は前期比ほぼ横ばいで、赤字化は粗利の減少による。</a:t>
            </a:r>
          </a:p>
          <a:p>
            <a:pPr algn="l">
              <a:spcAft>
                <a:spcPts val="200"/>
              </a:spcAft>
            </a:pPr>
            <a:endParaRPr sz="900" b="0" dirty="0">
              <a:solidFill>
                <a:srgbClr val="1A1A1A"/>
              </a:solidFill>
              <a:latin typeface="游ゴシック"/>
              <a:ea typeface="游ゴシック"/>
              <a:cs typeface="游ゴシック"/>
            </a:endParaRPr>
          </a:p>
          <a:p>
            <a:pPr algn="l">
              <a:lnSpc>
                <a:spcPct val="118000"/>
              </a:lnSpc>
              <a:spcAft>
                <a:spcPts val="200"/>
              </a:spcAft>
            </a:pPr>
            <a:r>
              <a:rPr sz="900" b="1" dirty="0">
                <a:solidFill>
                  <a:srgbClr val="0889C9"/>
                </a:solidFill>
                <a:latin typeface="游ゴシック"/>
                <a:ea typeface="游ゴシック"/>
                <a:cs typeface="游ゴシック"/>
              </a:rPr>
              <a:t>≪</a:t>
            </a:r>
            <a:r>
              <a:rPr sz="900" b="1" dirty="0" err="1">
                <a:solidFill>
                  <a:srgbClr val="0889C9"/>
                </a:solidFill>
                <a:latin typeface="游ゴシック"/>
                <a:ea typeface="游ゴシック"/>
                <a:cs typeface="游ゴシック"/>
              </a:rPr>
              <a:t>見通し</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減価償却費は旧定額法・旧定率法の資産が中心で今後逓減。営業日数・営業時間の拡大が最も直接的な改善策（P.19）。</a:t>
            </a:r>
          </a:p>
        </p:txBody>
      </p:sp>
      <p:sp>
        <p:nvSpPr>
          <p:cNvPr id="39" name="Rectangle 38"/>
          <p:cNvSpPr/>
          <p:nvPr/>
        </p:nvSpPr>
        <p:spPr>
          <a:xfrm>
            <a:off x="6455664" y="4608576"/>
            <a:ext cx="3922776" cy="197510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6547103" y="4681728"/>
            <a:ext cx="3739896" cy="274320"/>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【調整項目】</a:t>
            </a:r>
          </a:p>
        </p:txBody>
      </p:sp>
      <p:sp>
        <p:nvSpPr>
          <p:cNvPr id="41" name="TextBox 40"/>
          <p:cNvSpPr txBox="1"/>
          <p:nvPr/>
        </p:nvSpPr>
        <p:spPr>
          <a:xfrm>
            <a:off x="6565392" y="5029200"/>
            <a:ext cx="3703320" cy="1301767"/>
          </a:xfrm>
          <a:prstGeom prst="rect">
            <a:avLst/>
          </a:prstGeom>
          <a:noFill/>
        </p:spPr>
        <p:txBody>
          <a:bodyPr wrap="square" lIns="0" tIns="0" rIns="0" bIns="0" anchor="t">
            <a:spAutoFit/>
          </a:bodyPr>
          <a:lstStyle/>
          <a:p>
            <a:pPr algn="l">
              <a:lnSpc>
                <a:spcPct val="118000"/>
              </a:lnSpc>
              <a:spcAft>
                <a:spcPts val="200"/>
              </a:spcAft>
            </a:pPr>
            <a:r>
              <a:rPr sz="900" b="1">
                <a:solidFill>
                  <a:srgbClr val="0889C9"/>
                </a:solidFill>
                <a:latin typeface="游ゴシック"/>
                <a:ea typeface="游ゴシック"/>
                <a:cs typeface="游ゴシック"/>
              </a:rPr>
              <a:t>≪P/L上の調整項目≫ </a:t>
            </a:r>
            <a:r>
              <a:rPr sz="900" b="0">
                <a:solidFill>
                  <a:srgbClr val="1A1A1A"/>
                </a:solidFill>
                <a:latin typeface="游ゴシック"/>
                <a:ea typeface="游ゴシック"/>
                <a:cs typeface="游ゴシック"/>
              </a:rPr>
              <a:t>加減算すべき項目は認められない。代表者・配偶者は無報酬のため加算すべき役員報酬はゼロ。補助金収入・圧縮記帳損等の非経常損益は営業外に計上。</a:t>
            </a:r>
          </a:p>
          <a:p>
            <a:pPr algn="l">
              <a:spcAft>
                <a:spcPts val="200"/>
              </a:spcAft>
            </a:pPr>
            <a:endParaRPr sz="900" b="0">
              <a:solidFill>
                <a:srgbClr val="1A1A1A"/>
              </a:solidFill>
              <a:latin typeface="游ゴシック"/>
              <a:ea typeface="游ゴシック"/>
              <a:cs typeface="游ゴシック"/>
            </a:endParaRPr>
          </a:p>
          <a:p>
            <a:pPr algn="l">
              <a:spcAft>
                <a:spcPts val="200"/>
              </a:spcAft>
            </a:pPr>
            <a:r>
              <a:rPr sz="900" b="1">
                <a:solidFill>
                  <a:srgbClr val="0B3041"/>
                </a:solidFill>
                <a:latin typeface="游ゴシック"/>
                <a:ea typeface="游ゴシック"/>
                <a:cs typeface="游ゴシック"/>
              </a:rPr>
              <a:t>✓ 調整後EBITDA（過去3期平均）7,908千円</a:t>
            </a:r>
          </a:p>
          <a:p>
            <a:pPr algn="l">
              <a:spcAft>
                <a:spcPts val="200"/>
              </a:spcAft>
            </a:pPr>
            <a:r>
              <a:rPr sz="900" b="1">
                <a:solidFill>
                  <a:srgbClr val="0B3041"/>
                </a:solidFill>
                <a:latin typeface="游ゴシック"/>
                <a:ea typeface="游ゴシック"/>
                <a:cs typeface="游ゴシック"/>
              </a:rPr>
              <a:t>✓ 直近2期平均 7,688千円</a:t>
            </a:r>
          </a:p>
          <a:p>
            <a:pPr algn="l">
              <a:spcAft>
                <a:spcPts val="200"/>
              </a:spcAft>
            </a:pPr>
            <a:endParaRPr sz="900" b="1">
              <a:solidFill>
                <a:srgbClr val="0B3041"/>
              </a:solidFill>
              <a:latin typeface="游ゴシック"/>
              <a:ea typeface="游ゴシック"/>
              <a:cs typeface="游ゴシック"/>
            </a:endParaRPr>
          </a:p>
          <a:p>
            <a:pPr algn="l">
              <a:lnSpc>
                <a:spcPct val="116000"/>
              </a:lnSpc>
              <a:spcAft>
                <a:spcPts val="200"/>
              </a:spcAft>
            </a:pPr>
            <a:r>
              <a:rPr sz="800" b="0">
                <a:solidFill>
                  <a:srgbClr val="5A6670"/>
                </a:solidFill>
                <a:latin typeface="游ゴシック"/>
                <a:ea typeface="游ゴシック"/>
                <a:cs typeface="游ゴシック"/>
              </a:rPr>
              <a:t>※ 代表者・配偶者は無報酬。職人人件費と稼働拡大を織り込んだ試算は P.19。</a:t>
            </a:r>
          </a:p>
        </p:txBody>
      </p:sp>
      <p:sp>
        <p:nvSpPr>
          <p:cNvPr id="42" name="TextBox 41"/>
          <p:cNvSpPr txBox="1"/>
          <p:nvPr/>
        </p:nvSpPr>
        <p:spPr>
          <a:xfrm>
            <a:off x="310896" y="663854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2022/5期・2023/5期は決算書からの直接転記。2024/5期以降は案件マスター（PLシート）の数値。調整後EBITDA＝営業利益＋減価償却費。</a:t>
            </a:r>
          </a:p>
          <a:p>
            <a:pPr algn="l">
              <a:lnSpc>
                <a:spcPct val="112000"/>
              </a:lnSpc>
              <a:spcAft>
                <a:spcPts val="100"/>
              </a:spcAft>
            </a:pPr>
            <a:r>
              <a:rPr sz="750" b="0">
                <a:solidFill>
                  <a:srgbClr val="5A6670"/>
                </a:solidFill>
                <a:latin typeface="游ゴシック"/>
                <a:ea typeface="游ゴシック"/>
                <a:cs typeface="游ゴシック"/>
              </a:rPr>
              <a:t>※ 減価償却費は製造原価報告書計上額（2024/5期のみ販管費115千円を含む）。</a:t>
            </a:r>
          </a:p>
        </p:txBody>
      </p:sp>
      <p:sp>
        <p:nvSpPr>
          <p:cNvPr id="3" name="タイトル 1">
            <a:extLst>
              <a:ext uri="{FF2B5EF4-FFF2-40B4-BE49-F238E27FC236}">
                <a16:creationId xmlns:a16="http://schemas.microsoft.com/office/drawing/2014/main" id="{C0057421-2189-2D6C-0EB8-D2B9521C5C93}"/>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dirty="0">
                <a:latin typeface="游ゴシック"/>
                <a:ea typeface="游ゴシック"/>
                <a:cs typeface="游ゴシック"/>
              </a:rPr>
              <a:t>　</a:t>
            </a:r>
            <a:r>
              <a:rPr sz="1200" b="1" dirty="0" err="1">
                <a:latin typeface="游ゴシック"/>
                <a:ea typeface="游ゴシック"/>
                <a:cs typeface="游ゴシック"/>
              </a:rPr>
              <a:t>エグゼクティブサマリ</a:t>
            </a:r>
            <a:r>
              <a:rPr sz="1200" b="1" dirty="0">
                <a:latin typeface="游ゴシック"/>
                <a:ea typeface="游ゴシック"/>
                <a:cs typeface="游ゴシック"/>
              </a:rPr>
              <a:t>ー</a:t>
            </a:r>
          </a:p>
        </p:txBody>
      </p:sp>
    </p:spTree>
    <p:extLst>
      <p:ext uri="{BB962C8B-B14F-4D97-AF65-F5344CB8AC3E}">
        <p14:creationId xmlns:p14="http://schemas.microsoft.com/office/powerpoint/2010/main" val="301658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財務ハイライト（B/S）</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金融機関借入はゼロ。負債33,673千円のうち32,744千円は代表者・配偶者からの無利息借入で、実質的な純資産は厚い</a:t>
            </a:r>
            <a:endParaRPr lang="en-US" altLang="ja-JP" dirty="0"/>
          </a:p>
        </p:txBody>
      </p:sp>
      <p:graphicFrame>
        <p:nvGraphicFramePr>
          <p:cNvPr id="14" name="Table 13"/>
          <p:cNvGraphicFramePr>
            <a:graphicFrameLocks noGrp="1"/>
          </p:cNvGraphicFramePr>
          <p:nvPr/>
        </p:nvGraphicFramePr>
        <p:xfrm>
          <a:off x="338328" y="1380744"/>
          <a:ext cx="5004062" cy="3570732"/>
        </p:xfrm>
        <a:graphic>
          <a:graphicData uri="http://schemas.openxmlformats.org/drawingml/2006/table">
            <a:tbl>
              <a:tblPr>
                <a:tableStyleId>{5940675A-B579-460E-94D1-54222C63F5DA}</a:tableStyleId>
              </a:tblPr>
              <a:tblGrid>
                <a:gridCol w="1641801">
                  <a:extLst>
                    <a:ext uri="{9D8B030D-6E8A-4147-A177-3AD203B41FA5}">
                      <a16:colId xmlns:a16="http://schemas.microsoft.com/office/drawing/2014/main" val="20000"/>
                    </a:ext>
                  </a:extLst>
                </a:gridCol>
                <a:gridCol w="801810">
                  <a:extLst>
                    <a:ext uri="{9D8B030D-6E8A-4147-A177-3AD203B41FA5}">
                      <a16:colId xmlns:a16="http://schemas.microsoft.com/office/drawing/2014/main" val="20001"/>
                    </a:ext>
                  </a:extLst>
                </a:gridCol>
                <a:gridCol w="116840">
                  <a:extLst>
                    <a:ext uri="{9D8B030D-6E8A-4147-A177-3AD203B41FA5}">
                      <a16:colId xmlns:a16="http://schemas.microsoft.com/office/drawing/2014/main" val="20002"/>
                    </a:ext>
                  </a:extLst>
                </a:gridCol>
                <a:gridCol w="1641801">
                  <a:extLst>
                    <a:ext uri="{9D8B030D-6E8A-4147-A177-3AD203B41FA5}">
                      <a16:colId xmlns:a16="http://schemas.microsoft.com/office/drawing/2014/main" val="20003"/>
                    </a:ext>
                  </a:extLst>
                </a:gridCol>
                <a:gridCol w="801810">
                  <a:extLst>
                    <a:ext uri="{9D8B030D-6E8A-4147-A177-3AD203B41FA5}">
                      <a16:colId xmlns:a16="http://schemas.microsoft.com/office/drawing/2014/main" val="20004"/>
                    </a:ext>
                  </a:extLst>
                </a:gridCol>
              </a:tblGrid>
              <a:tr h="228600">
                <a:tc>
                  <a:txBody>
                    <a:bodyPr/>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（単位：千円）</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196596">
                <a:tc>
                  <a:txBody>
                    <a:bodyPr/>
                    <a:lstStyle/>
                    <a:p>
                      <a:pPr algn="l">
                        <a:spcAft>
                          <a:spcPts val="0"/>
                        </a:spcAft>
                      </a:pPr>
                      <a:r>
                        <a:rPr sz="800" b="1">
                          <a:solidFill>
                            <a:srgbClr val="1A1A1A"/>
                          </a:solidFill>
                          <a:latin typeface="游ゴシック"/>
                          <a:ea typeface="游ゴシック"/>
                          <a:cs typeface="游ゴシック"/>
                        </a:rPr>
                        <a:t>【流動資産】</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6,989</a:t>
                      </a:r>
                    </a:p>
                  </a:txBody>
                  <a:tcPr marL="45720" marR="45720" marT="9144" marB="9144" anchor="ctr">
                    <a:solidFill>
                      <a:srgbClr val="FFFFFF"/>
                    </a:solidFill>
                  </a:tcPr>
                </a:tc>
                <a:tc>
                  <a:txBody>
                    <a:bodyPr/>
                    <a:lstStyle/>
                    <a:p>
                      <a:pPr algn="ctr">
                        <a:spcAft>
                          <a:spcPts val="0"/>
                        </a:spcAft>
                      </a:pPr>
                      <a:r>
                        <a:rPr sz="80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1">
                          <a:solidFill>
                            <a:srgbClr val="1A1A1A"/>
                          </a:solidFill>
                          <a:latin typeface="游ゴシック"/>
                          <a:ea typeface="游ゴシック"/>
                          <a:cs typeface="游ゴシック"/>
                        </a:rPr>
                        <a:t>【流動負債】</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929</a:t>
                      </a:r>
                    </a:p>
                  </a:txBody>
                  <a:tcPr marL="45720" marR="45720" marT="9144" marB="9144" anchor="ctr">
                    <a:solidFill>
                      <a:srgbClr val="FFFFFF"/>
                    </a:solidFill>
                  </a:tcPr>
                </a:tc>
                <a:extLst>
                  <a:ext uri="{0D108BD9-81ED-4DB2-BD59-A6C34878D82A}">
                    <a16:rowId xmlns:a16="http://schemas.microsoft.com/office/drawing/2014/main" val="10001"/>
                  </a:ext>
                </a:extLst>
              </a:tr>
              <a:tr h="196596">
                <a:tc>
                  <a:txBody>
                    <a:bodyPr/>
                    <a:lstStyle/>
                    <a:p>
                      <a:pPr algn="l">
                        <a:spcAft>
                          <a:spcPts val="0"/>
                        </a:spcAft>
                      </a:pPr>
                      <a:r>
                        <a:rPr sz="800" b="0">
                          <a:solidFill>
                            <a:srgbClr val="1A1A1A"/>
                          </a:solidFill>
                          <a:latin typeface="游ゴシック"/>
                          <a:ea typeface="游ゴシック"/>
                          <a:cs typeface="游ゴシック"/>
                        </a:rPr>
                        <a:t>　現金及び預金</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1,066</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未払金</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550</a:t>
                      </a:r>
                    </a:p>
                  </a:txBody>
                  <a:tcPr marL="45720" marR="45720" marT="9144" marB="9144" anchor="ctr">
                    <a:solidFill>
                      <a:srgbClr val="FFFFFF"/>
                    </a:solidFill>
                  </a:tcPr>
                </a:tc>
                <a:extLst>
                  <a:ext uri="{0D108BD9-81ED-4DB2-BD59-A6C34878D82A}">
                    <a16:rowId xmlns:a16="http://schemas.microsoft.com/office/drawing/2014/main" val="10002"/>
                  </a:ext>
                </a:extLst>
              </a:tr>
              <a:tr h="196596">
                <a:tc>
                  <a:txBody>
                    <a:bodyPr/>
                    <a:lstStyle/>
                    <a:p>
                      <a:pPr algn="l">
                        <a:spcAft>
                          <a:spcPts val="0"/>
                        </a:spcAft>
                      </a:pPr>
                      <a:r>
                        <a:rPr sz="800" b="0">
                          <a:solidFill>
                            <a:srgbClr val="1A1A1A"/>
                          </a:solidFill>
                          <a:latin typeface="游ゴシック"/>
                          <a:ea typeface="游ゴシック"/>
                          <a:cs typeface="游ゴシック"/>
                        </a:rPr>
                        <a:t>　棚卸資産</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2,354</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未払法人税等</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36</a:t>
                      </a:r>
                    </a:p>
                  </a:txBody>
                  <a:tcPr marL="45720" marR="45720" marT="9144" marB="9144" anchor="ctr">
                    <a:solidFill>
                      <a:srgbClr val="FFFFFF"/>
                    </a:solidFill>
                  </a:tcPr>
                </a:tc>
                <a:extLst>
                  <a:ext uri="{0D108BD9-81ED-4DB2-BD59-A6C34878D82A}">
                    <a16:rowId xmlns:a16="http://schemas.microsoft.com/office/drawing/2014/main" val="10003"/>
                  </a:ext>
                </a:extLst>
              </a:tr>
              <a:tr h="196596">
                <a:tc>
                  <a:txBody>
                    <a:bodyPr/>
                    <a:lstStyle/>
                    <a:p>
                      <a:pPr algn="l">
                        <a:spcAft>
                          <a:spcPts val="0"/>
                        </a:spcAft>
                      </a:pPr>
                      <a:r>
                        <a:rPr sz="800" b="0">
                          <a:solidFill>
                            <a:srgbClr val="1A1A1A"/>
                          </a:solidFill>
                          <a:latin typeface="游ゴシック"/>
                          <a:ea typeface="游ゴシック"/>
                          <a:cs typeface="游ゴシック"/>
                        </a:rPr>
                        <a:t>　前払費用</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77</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未払消費税等</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343</a:t>
                      </a:r>
                    </a:p>
                  </a:txBody>
                  <a:tcPr marL="45720" marR="45720" marT="9144" marB="9144" anchor="ctr">
                    <a:solidFill>
                      <a:srgbClr val="FFFFFF"/>
                    </a:solidFill>
                  </a:tcPr>
                </a:tc>
                <a:extLst>
                  <a:ext uri="{0D108BD9-81ED-4DB2-BD59-A6C34878D82A}">
                    <a16:rowId xmlns:a16="http://schemas.microsoft.com/office/drawing/2014/main" val="10004"/>
                  </a:ext>
                </a:extLst>
              </a:tr>
              <a:tr h="196596">
                <a:tc>
                  <a:txBody>
                    <a:bodyPr/>
                    <a:lstStyle/>
                    <a:p>
                      <a:pPr algn="l">
                        <a:spcAft>
                          <a:spcPts val="0"/>
                        </a:spcAft>
                      </a:pPr>
                      <a:r>
                        <a:rPr sz="800" b="0">
                          <a:solidFill>
                            <a:srgbClr val="1A1A1A"/>
                          </a:solidFill>
                          <a:latin typeface="游ゴシック"/>
                          <a:ea typeface="游ゴシック"/>
                          <a:cs typeface="游ゴシック"/>
                        </a:rPr>
                        <a:t>　未収入金 ※1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3,323</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【固定負債】</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32,744</a:t>
                      </a:r>
                    </a:p>
                  </a:txBody>
                  <a:tcPr marL="45720" marR="45720" marT="9144" marB="9144" anchor="ctr">
                    <a:solidFill>
                      <a:srgbClr val="FFFFFF"/>
                    </a:solidFill>
                  </a:tcPr>
                </a:tc>
                <a:extLst>
                  <a:ext uri="{0D108BD9-81ED-4DB2-BD59-A6C34878D82A}">
                    <a16:rowId xmlns:a16="http://schemas.microsoft.com/office/drawing/2014/main" val="10005"/>
                  </a:ext>
                </a:extLst>
              </a:tr>
              <a:tr h="196596">
                <a:tc>
                  <a:txBody>
                    <a:bodyPr/>
                    <a:lstStyle/>
                    <a:p>
                      <a:pPr algn="l">
                        <a:spcAft>
                          <a:spcPts val="0"/>
                        </a:spcAft>
                      </a:pPr>
                      <a:r>
                        <a:rPr sz="800" b="0">
                          <a:solidFill>
                            <a:srgbClr val="1A1A1A"/>
                          </a:solidFill>
                          <a:latin typeface="游ゴシック"/>
                          <a:ea typeface="游ゴシック"/>
                          <a:cs typeface="游ゴシック"/>
                        </a:rPr>
                        <a:t>　未収還付法人税等</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170</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長期借入金 ※5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32,744</a:t>
                      </a:r>
                    </a:p>
                  </a:txBody>
                  <a:tcPr marL="45720" marR="45720" marT="9144" marB="9144" anchor="ctr">
                    <a:solidFill>
                      <a:srgbClr val="FFFFFF"/>
                    </a:solidFill>
                  </a:tcPr>
                </a:tc>
                <a:extLst>
                  <a:ext uri="{0D108BD9-81ED-4DB2-BD59-A6C34878D82A}">
                    <a16:rowId xmlns:a16="http://schemas.microsoft.com/office/drawing/2014/main" val="10006"/>
                  </a:ext>
                </a:extLst>
              </a:tr>
              <a:tr h="196596">
                <a:tc>
                  <a:txBody>
                    <a:bodyPr/>
                    <a:lstStyle/>
                    <a:p>
                      <a:pPr algn="l">
                        <a:spcAft>
                          <a:spcPts val="0"/>
                        </a:spcAft>
                      </a:pPr>
                      <a:r>
                        <a:rPr sz="800" b="1">
                          <a:solidFill>
                            <a:srgbClr val="1A1A1A"/>
                          </a:solidFill>
                          <a:latin typeface="游ゴシック"/>
                          <a:ea typeface="游ゴシック"/>
                          <a:cs typeface="游ゴシック"/>
                        </a:rPr>
                        <a:t>【固定資産】</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50,341</a:t>
                      </a:r>
                    </a:p>
                  </a:txBody>
                  <a:tcPr marL="45720" marR="45720" marT="9144" marB="9144" anchor="ctr">
                    <a:solidFill>
                      <a:srgbClr val="FFFFFF"/>
                    </a:solidFill>
                  </a:tcPr>
                </a:tc>
                <a:tc>
                  <a:txBody>
                    <a:bodyPr/>
                    <a:lstStyle/>
                    <a:p>
                      <a:pPr algn="ctr">
                        <a:spcAft>
                          <a:spcPts val="0"/>
                        </a:spcAft>
                      </a:pPr>
                      <a:r>
                        <a:rPr sz="80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1">
                          <a:solidFill>
                            <a:srgbClr val="1A1A1A"/>
                          </a:solidFill>
                          <a:latin typeface="游ゴシック"/>
                          <a:ea typeface="游ゴシック"/>
                          <a:cs typeface="游ゴシック"/>
                        </a:rPr>
                        <a:t>負債合計</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33,673</a:t>
                      </a:r>
                    </a:p>
                  </a:txBody>
                  <a:tcPr marL="45720" marR="45720" marT="9144" marB="9144" anchor="ctr">
                    <a:solidFill>
                      <a:srgbClr val="FFFFFF"/>
                    </a:solidFill>
                  </a:tcPr>
                </a:tc>
                <a:extLst>
                  <a:ext uri="{0D108BD9-81ED-4DB2-BD59-A6C34878D82A}">
                    <a16:rowId xmlns:a16="http://schemas.microsoft.com/office/drawing/2014/main" val="10007"/>
                  </a:ext>
                </a:extLst>
              </a:tr>
              <a:tr h="196596">
                <a:tc>
                  <a:txBody>
                    <a:bodyPr/>
                    <a:lstStyle/>
                    <a:p>
                      <a:pPr algn="l">
                        <a:spcAft>
                          <a:spcPts val="0"/>
                        </a:spcAft>
                      </a:pPr>
                      <a:r>
                        <a:rPr sz="800" b="0">
                          <a:solidFill>
                            <a:srgbClr val="1A1A1A"/>
                          </a:solidFill>
                          <a:latin typeface="游ゴシック"/>
                          <a:ea typeface="游ゴシック"/>
                          <a:cs typeface="游ゴシック"/>
                        </a:rPr>
                        <a:t>　建物 ※2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39,249</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資本金</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10,000</a:t>
                      </a:r>
                    </a:p>
                  </a:txBody>
                  <a:tcPr marL="45720" marR="45720" marT="9144" marB="9144" anchor="ctr">
                    <a:solidFill>
                      <a:srgbClr val="FFFFFF"/>
                    </a:solidFill>
                  </a:tcPr>
                </a:tc>
                <a:extLst>
                  <a:ext uri="{0D108BD9-81ED-4DB2-BD59-A6C34878D82A}">
                    <a16:rowId xmlns:a16="http://schemas.microsoft.com/office/drawing/2014/main" val="10008"/>
                  </a:ext>
                </a:extLst>
              </a:tr>
              <a:tr h="196596">
                <a:tc>
                  <a:txBody>
                    <a:bodyPr/>
                    <a:lstStyle/>
                    <a:p>
                      <a:pPr algn="l">
                        <a:spcAft>
                          <a:spcPts val="0"/>
                        </a:spcAft>
                      </a:pPr>
                      <a:r>
                        <a:rPr sz="800" b="0">
                          <a:solidFill>
                            <a:srgbClr val="1A1A1A"/>
                          </a:solidFill>
                          <a:latin typeface="游ゴシック"/>
                          <a:ea typeface="游ゴシック"/>
                          <a:cs typeface="游ゴシック"/>
                        </a:rPr>
                        <a:t>　構築物</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43</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利益剰余金</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13,658</a:t>
                      </a:r>
                    </a:p>
                  </a:txBody>
                  <a:tcPr marL="45720" marR="45720" marT="9144" marB="9144" anchor="ctr">
                    <a:solidFill>
                      <a:srgbClr val="FFFFFF"/>
                    </a:solidFill>
                  </a:tcPr>
                </a:tc>
                <a:extLst>
                  <a:ext uri="{0D108BD9-81ED-4DB2-BD59-A6C34878D82A}">
                    <a16:rowId xmlns:a16="http://schemas.microsoft.com/office/drawing/2014/main" val="10009"/>
                  </a:ext>
                </a:extLst>
              </a:tr>
              <a:tr h="196596">
                <a:tc>
                  <a:txBody>
                    <a:bodyPr/>
                    <a:lstStyle/>
                    <a:p>
                      <a:pPr algn="l">
                        <a:spcAft>
                          <a:spcPts val="0"/>
                        </a:spcAft>
                      </a:pPr>
                      <a:r>
                        <a:rPr sz="800" b="0">
                          <a:solidFill>
                            <a:srgbClr val="1A1A1A"/>
                          </a:solidFill>
                          <a:latin typeface="游ゴシック"/>
                          <a:ea typeface="游ゴシック"/>
                          <a:cs typeface="游ゴシック"/>
                        </a:rPr>
                        <a:t>　機械及び装置</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4,219</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純資産合計</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23,658</a:t>
                      </a:r>
                    </a:p>
                  </a:txBody>
                  <a:tcPr marL="45720" marR="45720" marT="9144" marB="9144" anchor="ctr">
                    <a:solidFill>
                      <a:srgbClr val="FFFFFF"/>
                    </a:solidFill>
                  </a:tcPr>
                </a:tc>
                <a:extLst>
                  <a:ext uri="{0D108BD9-81ED-4DB2-BD59-A6C34878D82A}">
                    <a16:rowId xmlns:a16="http://schemas.microsoft.com/office/drawing/2014/main" val="10010"/>
                  </a:ext>
                </a:extLst>
              </a:tr>
              <a:tr h="196596">
                <a:tc>
                  <a:txBody>
                    <a:bodyPr/>
                    <a:lstStyle/>
                    <a:p>
                      <a:pPr algn="l">
                        <a:spcAft>
                          <a:spcPts val="0"/>
                        </a:spcAft>
                      </a:pPr>
                      <a:r>
                        <a:rPr sz="800" b="0">
                          <a:solidFill>
                            <a:srgbClr val="1A1A1A"/>
                          </a:solidFill>
                          <a:latin typeface="游ゴシック"/>
                          <a:ea typeface="游ゴシック"/>
                          <a:cs typeface="游ゴシック"/>
                        </a:rPr>
                        <a:t>　車両運搬具 ※3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負債・純資産合計</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57,330</a:t>
                      </a:r>
                    </a:p>
                  </a:txBody>
                  <a:tcPr marL="45720" marR="45720" marT="9144" marB="9144" anchor="ctr">
                    <a:solidFill>
                      <a:srgbClr val="FFFFFF"/>
                    </a:solidFill>
                  </a:tcPr>
                </a:tc>
                <a:extLst>
                  <a:ext uri="{0D108BD9-81ED-4DB2-BD59-A6C34878D82A}">
                    <a16:rowId xmlns:a16="http://schemas.microsoft.com/office/drawing/2014/main" val="10011"/>
                  </a:ext>
                </a:extLst>
              </a:tr>
              <a:tr h="196596">
                <a:tc>
                  <a:txBody>
                    <a:bodyPr/>
                    <a:lstStyle/>
                    <a:p>
                      <a:pPr algn="l">
                        <a:spcAft>
                          <a:spcPts val="0"/>
                        </a:spcAft>
                      </a:pPr>
                      <a:r>
                        <a:rPr sz="800" b="0">
                          <a:solidFill>
                            <a:srgbClr val="1A1A1A"/>
                          </a:solidFill>
                          <a:latin typeface="游ゴシック"/>
                          <a:ea typeface="游ゴシック"/>
                          <a:cs typeface="游ゴシック"/>
                        </a:rPr>
                        <a:t>　工具、器具及び備品</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1,677</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2"/>
                  </a:ext>
                </a:extLst>
              </a:tr>
              <a:tr h="196596">
                <a:tc>
                  <a:txBody>
                    <a:bodyPr/>
                    <a:lstStyle/>
                    <a:p>
                      <a:pPr algn="l">
                        <a:spcAft>
                          <a:spcPts val="0"/>
                        </a:spcAft>
                      </a:pPr>
                      <a:r>
                        <a:rPr sz="800" b="0">
                          <a:solidFill>
                            <a:srgbClr val="1A1A1A"/>
                          </a:solidFill>
                          <a:latin typeface="游ゴシック"/>
                          <a:ea typeface="游ゴシック"/>
                          <a:cs typeface="游ゴシック"/>
                        </a:rPr>
                        <a:t>　土地</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3,450</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3"/>
                  </a:ext>
                </a:extLst>
              </a:tr>
              <a:tr h="196596">
                <a:tc>
                  <a:txBody>
                    <a:bodyPr/>
                    <a:lstStyle/>
                    <a:p>
                      <a:pPr algn="l">
                        <a:spcAft>
                          <a:spcPts val="0"/>
                        </a:spcAft>
                      </a:pPr>
                      <a:r>
                        <a:rPr sz="800" b="0">
                          <a:solidFill>
                            <a:srgbClr val="1A1A1A"/>
                          </a:solidFill>
                          <a:latin typeface="游ゴシック"/>
                          <a:ea typeface="游ゴシック"/>
                          <a:cs typeface="游ゴシック"/>
                        </a:rPr>
                        <a:t>　リース資産</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528</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4"/>
                  </a:ext>
                </a:extLst>
              </a:tr>
              <a:tr h="196596">
                <a:tc>
                  <a:txBody>
                    <a:bodyPr/>
                    <a:lstStyle/>
                    <a:p>
                      <a:pPr algn="l">
                        <a:spcAft>
                          <a:spcPts val="0"/>
                        </a:spcAft>
                      </a:pPr>
                      <a:r>
                        <a:rPr sz="800" b="0">
                          <a:solidFill>
                            <a:srgbClr val="1A1A1A"/>
                          </a:solidFill>
                          <a:latin typeface="游ゴシック"/>
                          <a:ea typeface="游ゴシック"/>
                          <a:cs typeface="游ゴシック"/>
                        </a:rPr>
                        <a:t>　電話加入権</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75</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5"/>
                  </a:ext>
                </a:extLst>
              </a:tr>
              <a:tr h="196596">
                <a:tc>
                  <a:txBody>
                    <a:bodyPr/>
                    <a:lstStyle/>
                    <a:p>
                      <a:pPr algn="l">
                        <a:spcAft>
                          <a:spcPts val="0"/>
                        </a:spcAft>
                      </a:pPr>
                      <a:r>
                        <a:rPr sz="800" b="0">
                          <a:solidFill>
                            <a:srgbClr val="1A1A1A"/>
                          </a:solidFill>
                          <a:latin typeface="游ゴシック"/>
                          <a:ea typeface="游ゴシック"/>
                          <a:cs typeface="游ゴシック"/>
                        </a:rPr>
                        <a:t>　出資金 ※4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1,100</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6"/>
                  </a:ext>
                </a:extLst>
              </a:tr>
              <a:tr h="196596">
                <a:tc>
                  <a:txBody>
                    <a:bodyPr/>
                    <a:lstStyle/>
                    <a:p>
                      <a:pPr algn="l">
                        <a:spcAft>
                          <a:spcPts val="0"/>
                        </a:spcAft>
                      </a:pPr>
                      <a:r>
                        <a:rPr sz="800" b="0">
                          <a:solidFill>
                            <a:srgbClr val="1A1A1A"/>
                          </a:solidFill>
                          <a:latin typeface="游ゴシック"/>
                          <a:ea typeface="游ゴシック"/>
                          <a:cs typeface="游ゴシック"/>
                        </a:rPr>
                        <a:t>資産合計</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57,330</a:t>
                      </a:r>
                    </a:p>
                  </a:txBody>
                  <a:tcPr marL="45720" marR="45720" marT="9144" marB="9144" anchor="ctr">
                    <a:solidFill>
                      <a:srgbClr val="FFFFFF"/>
                    </a:solidFill>
                  </a:tcPr>
                </a:tc>
                <a:tc>
                  <a:txBody>
                    <a:bodyPr/>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17"/>
                  </a:ext>
                </a:extLst>
              </a:tr>
            </a:tbl>
          </a:graphicData>
        </a:graphic>
      </p:graphicFrame>
      <p:sp>
        <p:nvSpPr>
          <p:cNvPr id="15" name="Rectangle 14"/>
          <p:cNvSpPr/>
          <p:nvPr/>
        </p:nvSpPr>
        <p:spPr>
          <a:xfrm>
            <a:off x="5559552" y="1380744"/>
            <a:ext cx="4791456" cy="250545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650992" y="1453896"/>
            <a:ext cx="4608576"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5669280" y="1801368"/>
            <a:ext cx="4572000" cy="1351909"/>
          </a:xfrm>
          <a:prstGeom prst="rect">
            <a:avLst/>
          </a:prstGeom>
          <a:noFill/>
        </p:spPr>
        <p:txBody>
          <a:bodyPr wrap="square" lIns="0" tIns="0" rIns="0" bIns="0" anchor="t">
            <a:spAutoFit/>
          </a:bodyPr>
          <a:lstStyle/>
          <a:p>
            <a:pPr algn="l">
              <a:lnSpc>
                <a:spcPct val="118000"/>
              </a:lnSpc>
              <a:spcAft>
                <a:spcPts val="200"/>
              </a:spcAft>
            </a:pPr>
            <a:r>
              <a:rPr sz="900" b="1">
                <a:solidFill>
                  <a:srgbClr val="0889C9"/>
                </a:solidFill>
                <a:latin typeface="游ゴシック"/>
                <a:ea typeface="游ゴシック"/>
                <a:cs typeface="游ゴシック"/>
              </a:rPr>
              <a:t>≪建物 39,249千円≫ </a:t>
            </a:r>
            <a:r>
              <a:rPr sz="900" b="0">
                <a:solidFill>
                  <a:srgbClr val="1A1A1A"/>
                </a:solidFill>
                <a:latin typeface="游ゴシック"/>
                <a:ea typeface="游ゴシック"/>
                <a:cs typeface="游ゴシック"/>
              </a:rPr>
              <a:t>取得価額104,599千円。代表者が設計し私財を投じた板倉造・茅葺きの店舗。うち塩町館関連5,442千円は当社の事業に未供用。店舗建物は未登記。</a:t>
            </a:r>
          </a:p>
          <a:p>
            <a:pPr algn="l">
              <a:spcAft>
                <a:spcPts val="200"/>
              </a:spcAft>
            </a:pPr>
            <a:endParaRPr sz="900" b="0">
              <a:solidFill>
                <a:srgbClr val="1A1A1A"/>
              </a:solidFill>
              <a:latin typeface="游ゴシック"/>
              <a:ea typeface="游ゴシック"/>
              <a:cs typeface="游ゴシック"/>
            </a:endParaRPr>
          </a:p>
          <a:p>
            <a:pPr algn="l">
              <a:lnSpc>
                <a:spcPct val="118000"/>
              </a:lnSpc>
              <a:spcAft>
                <a:spcPts val="200"/>
              </a:spcAft>
            </a:pPr>
            <a:r>
              <a:rPr sz="900" b="1">
                <a:solidFill>
                  <a:srgbClr val="0889C9"/>
                </a:solidFill>
                <a:latin typeface="游ゴシック"/>
                <a:ea typeface="游ゴシック"/>
                <a:cs typeface="游ゴシック"/>
              </a:rPr>
              <a:t>≪長期借入金 32,744千円≫ </a:t>
            </a:r>
            <a:r>
              <a:rPr sz="900" b="0">
                <a:solidFill>
                  <a:srgbClr val="1A1A1A"/>
                </a:solidFill>
                <a:latin typeface="游ゴシック"/>
                <a:ea typeface="游ゴシック"/>
                <a:cs typeface="游ゴシック"/>
              </a:rPr>
              <a:t>全額が代表者（9,518千円）・配偶者（23,226千円）からの借入。金融機関借入・連帯保証はなく利息の支払もない。本件実行時の取扱いは応相談。</a:t>
            </a:r>
          </a:p>
          <a:p>
            <a:pPr algn="l">
              <a:spcAft>
                <a:spcPts val="200"/>
              </a:spcAft>
            </a:pPr>
            <a:endParaRPr sz="900" b="0">
              <a:solidFill>
                <a:srgbClr val="1A1A1A"/>
              </a:solidFill>
              <a:latin typeface="游ゴシック"/>
              <a:ea typeface="游ゴシック"/>
              <a:cs typeface="游ゴシック"/>
            </a:endParaRPr>
          </a:p>
          <a:p>
            <a:pPr algn="l">
              <a:lnSpc>
                <a:spcPct val="118000"/>
              </a:lnSpc>
              <a:spcAft>
                <a:spcPts val="200"/>
              </a:spcAft>
            </a:pPr>
            <a:r>
              <a:rPr sz="900" b="1">
                <a:solidFill>
                  <a:srgbClr val="0889C9"/>
                </a:solidFill>
                <a:latin typeface="游ゴシック"/>
                <a:ea typeface="游ゴシック"/>
                <a:cs typeface="游ゴシック"/>
              </a:rPr>
              <a:t>≪未収入金 3,323千円 ※1≫ </a:t>
            </a:r>
            <a:r>
              <a:rPr sz="900" b="0">
                <a:solidFill>
                  <a:srgbClr val="1A1A1A"/>
                </a:solidFill>
                <a:latin typeface="游ゴシック"/>
                <a:ea typeface="游ゴシック"/>
                <a:cs typeface="游ゴシック"/>
              </a:rPr>
              <a:t>塩町館2,624千円・小びと699千円。2,152→2,737→3,323千円と3期連続で増加しており、回収条件・回収可能性は要確認。</a:t>
            </a:r>
          </a:p>
        </p:txBody>
      </p:sp>
      <p:sp>
        <p:nvSpPr>
          <p:cNvPr id="18" name="Rectangle 17"/>
          <p:cNvSpPr/>
          <p:nvPr/>
        </p:nvSpPr>
        <p:spPr>
          <a:xfrm>
            <a:off x="5559552" y="4005072"/>
            <a:ext cx="4791456" cy="257860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50992" y="4078224"/>
            <a:ext cx="4608576" cy="274320"/>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【時価修正の着眼点】</a:t>
            </a:r>
          </a:p>
        </p:txBody>
      </p:sp>
      <p:sp>
        <p:nvSpPr>
          <p:cNvPr id="20" name="TextBox 19"/>
          <p:cNvSpPr txBox="1"/>
          <p:nvPr/>
        </p:nvSpPr>
        <p:spPr>
          <a:xfrm>
            <a:off x="5669280" y="4425696"/>
            <a:ext cx="4572000" cy="1868588"/>
          </a:xfrm>
          <a:prstGeom prst="rect">
            <a:avLst/>
          </a:prstGeom>
          <a:noFill/>
        </p:spPr>
        <p:txBody>
          <a:bodyPr wrap="square" lIns="0" tIns="0" rIns="0" bIns="0" anchor="t">
            <a:spAutoFit/>
          </a:bodyPr>
          <a:lstStyle/>
          <a:p>
            <a:pPr algn="l">
              <a:lnSpc>
                <a:spcPct val="118000"/>
              </a:lnSpc>
              <a:spcAft>
                <a:spcPts val="200"/>
              </a:spcAft>
            </a:pPr>
            <a:r>
              <a:rPr sz="900" b="1">
                <a:solidFill>
                  <a:srgbClr val="0889C9"/>
                </a:solidFill>
                <a:latin typeface="游ゴシック"/>
                <a:ea typeface="游ゴシック"/>
                <a:cs typeface="游ゴシック"/>
              </a:rPr>
              <a:t>≪土地 3,450千円≫ </a:t>
            </a:r>
            <a:r>
              <a:rPr sz="900" b="0">
                <a:solidFill>
                  <a:srgbClr val="1A1A1A"/>
                </a:solidFill>
                <a:latin typeface="游ゴシック"/>
                <a:ea typeface="游ゴシック"/>
                <a:cs typeface="游ゴシック"/>
              </a:rPr>
              <a:t>簿価は取得原価。路線価・固定資産税評価額による時価評価は未実施（要確認）。</a:t>
            </a:r>
          </a:p>
          <a:p>
            <a:pPr algn="l">
              <a:spcAft>
                <a:spcPts val="200"/>
              </a:spcAft>
            </a:pPr>
            <a:endParaRPr sz="900" b="0">
              <a:solidFill>
                <a:srgbClr val="1A1A1A"/>
              </a:solidFill>
              <a:latin typeface="游ゴシック"/>
              <a:ea typeface="游ゴシック"/>
              <a:cs typeface="游ゴシック"/>
            </a:endParaRPr>
          </a:p>
          <a:p>
            <a:pPr algn="l">
              <a:lnSpc>
                <a:spcPct val="118000"/>
              </a:lnSpc>
              <a:spcAft>
                <a:spcPts val="200"/>
              </a:spcAft>
            </a:pPr>
            <a:r>
              <a:rPr sz="900" b="1">
                <a:solidFill>
                  <a:srgbClr val="0889C9"/>
                </a:solidFill>
                <a:latin typeface="游ゴシック"/>
                <a:ea typeface="游ゴシック"/>
                <a:cs typeface="游ゴシック"/>
              </a:rPr>
              <a:t>≪車両運搬具 2千円 ※3≫ </a:t>
            </a:r>
            <a:r>
              <a:rPr sz="900" b="0">
                <a:solidFill>
                  <a:srgbClr val="1A1A1A"/>
                </a:solidFill>
                <a:latin typeface="游ゴシック"/>
                <a:ea typeface="游ゴシック"/>
                <a:cs typeface="游ゴシック"/>
              </a:rPr>
              <a:t>ローバー車・シトロエン2CVフォルゴネットの2台。いずれも償却済（簿価1円）で、時価評価の余地あり。譲渡対象の要否は要協議。</a:t>
            </a:r>
          </a:p>
          <a:p>
            <a:pPr algn="l">
              <a:spcAft>
                <a:spcPts val="200"/>
              </a:spcAft>
            </a:pPr>
            <a:endParaRPr sz="900" b="0">
              <a:solidFill>
                <a:srgbClr val="1A1A1A"/>
              </a:solidFill>
              <a:latin typeface="游ゴシック"/>
              <a:ea typeface="游ゴシック"/>
              <a:cs typeface="游ゴシック"/>
            </a:endParaRPr>
          </a:p>
          <a:p>
            <a:pPr algn="l">
              <a:lnSpc>
                <a:spcPct val="118000"/>
              </a:lnSpc>
              <a:spcAft>
                <a:spcPts val="200"/>
              </a:spcAft>
            </a:pPr>
            <a:r>
              <a:rPr sz="900" b="1">
                <a:solidFill>
                  <a:srgbClr val="0889C9"/>
                </a:solidFill>
                <a:latin typeface="游ゴシック"/>
                <a:ea typeface="游ゴシック"/>
                <a:cs typeface="游ゴシック"/>
              </a:rPr>
              <a:t>≪出資金 1,100千円 ※4≫ </a:t>
            </a:r>
            <a:r>
              <a:rPr sz="900" b="0">
                <a:solidFill>
                  <a:srgbClr val="1A1A1A"/>
                </a:solidFill>
                <a:latin typeface="游ゴシック"/>
                <a:ea typeface="游ゴシック"/>
                <a:cs typeface="游ゴシック"/>
              </a:rPr>
              <a:t>（株）慈久庵咸亨酒1,000千円、（株）慈久庵伊勢又100千円。いずれも関係会社であり本件での取扱いは要協議。</a:t>
            </a:r>
          </a:p>
          <a:p>
            <a:pPr algn="l">
              <a:spcAft>
                <a:spcPts val="200"/>
              </a:spcAft>
            </a:pPr>
            <a:endParaRPr sz="900" b="0">
              <a:solidFill>
                <a:srgbClr val="1A1A1A"/>
              </a:solidFill>
              <a:latin typeface="游ゴシック"/>
              <a:ea typeface="游ゴシック"/>
              <a:cs typeface="游ゴシック"/>
            </a:endParaRPr>
          </a:p>
          <a:p>
            <a:pPr algn="l">
              <a:lnSpc>
                <a:spcPct val="118000"/>
              </a:lnSpc>
              <a:spcAft>
                <a:spcPts val="200"/>
              </a:spcAft>
            </a:pPr>
            <a:r>
              <a:rPr sz="900" b="1">
                <a:solidFill>
                  <a:srgbClr val="0889C9"/>
                </a:solidFill>
                <a:latin typeface="游ゴシック"/>
                <a:ea typeface="游ゴシック"/>
                <a:cs typeface="游ゴシック"/>
              </a:rPr>
              <a:t>≪簿外の価値≫ </a:t>
            </a:r>
            <a:r>
              <a:rPr sz="900" b="0">
                <a:solidFill>
                  <a:srgbClr val="1A1A1A"/>
                </a:solidFill>
                <a:latin typeface="游ゴシック"/>
                <a:ea typeface="游ゴシック"/>
                <a:cs typeface="游ゴシック"/>
              </a:rPr>
              <a:t>商標権（登録4件）は償却済で簿価ゼロ。「慈久庵」「古式けんちんそば」のブランド価値はB/Sに反映されていない。</a:t>
            </a:r>
          </a:p>
        </p:txBody>
      </p:sp>
      <p:sp>
        <p:nvSpPr>
          <p:cNvPr id="21" name="TextBox 20"/>
          <p:cNvSpPr txBox="1"/>
          <p:nvPr/>
        </p:nvSpPr>
        <p:spPr>
          <a:xfrm>
            <a:off x="310896" y="6675120"/>
            <a:ext cx="9921240" cy="320040"/>
          </a:xfrm>
          <a:prstGeom prst="rect">
            <a:avLst/>
          </a:prstGeom>
          <a:noFill/>
        </p:spPr>
        <p:txBody>
          <a:bodyPr wrap="square" lIns="0" tIns="0" rIns="0" bIns="0" anchor="t">
            <a:spAutoFit/>
          </a:bodyPr>
          <a:lstStyle/>
          <a:p>
            <a:pPr algn="l">
              <a:lnSpc>
                <a:spcPct val="112000"/>
              </a:lnSpc>
              <a:spcAft>
                <a:spcPts val="100"/>
              </a:spcAft>
            </a:pPr>
            <a:r>
              <a:rPr sz="750" b="0" dirty="0">
                <a:solidFill>
                  <a:srgbClr val="5A6670"/>
                </a:solidFill>
                <a:latin typeface="游ゴシック"/>
                <a:ea typeface="游ゴシック"/>
                <a:cs typeface="游ゴシック"/>
              </a:rPr>
              <a:t>※ 2026年5月期（2026年5月31日）の決算書および勘定科目内訳明細書に基づく。時価純資産の算定は未了。千円未満の端数処理により合計が一致しない場合がある。</a:t>
            </a:r>
          </a:p>
        </p:txBody>
      </p:sp>
      <p:sp>
        <p:nvSpPr>
          <p:cNvPr id="3" name="タイトル 1">
            <a:extLst>
              <a:ext uri="{FF2B5EF4-FFF2-40B4-BE49-F238E27FC236}">
                <a16:creationId xmlns:a16="http://schemas.microsoft.com/office/drawing/2014/main" id="{831570BD-EC19-4956-7233-95C316116948}"/>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dirty="0">
                <a:latin typeface="游ゴシック"/>
                <a:ea typeface="游ゴシック"/>
                <a:cs typeface="游ゴシック"/>
              </a:rPr>
              <a:t>　</a:t>
            </a:r>
            <a:r>
              <a:rPr sz="1200" b="1" dirty="0" err="1">
                <a:latin typeface="游ゴシック"/>
                <a:ea typeface="游ゴシック"/>
                <a:cs typeface="游ゴシック"/>
              </a:rPr>
              <a:t>エグゼクティブサマリ</a:t>
            </a:r>
            <a:r>
              <a:rPr sz="1200" b="1" dirty="0">
                <a:latin typeface="游ゴシック"/>
                <a:ea typeface="游ゴシック"/>
                <a:cs typeface="游ゴシック"/>
              </a:rPr>
              <a:t>ー</a:t>
            </a:r>
          </a:p>
        </p:txBody>
      </p:sp>
    </p:spTree>
    <p:extLst>
      <p:ext uri="{BB962C8B-B14F-4D97-AF65-F5344CB8AC3E}">
        <p14:creationId xmlns:p14="http://schemas.microsoft.com/office/powerpoint/2010/main" val="403033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dirty="0">
                <a:latin typeface="游ゴシック"/>
                <a:ea typeface="游ゴシック"/>
                <a:cs typeface="游ゴシック"/>
              </a:rPr>
              <a:t>　</a:t>
            </a:r>
            <a:r>
              <a:rPr sz="1200" b="1" dirty="0" err="1">
                <a:latin typeface="游ゴシック"/>
                <a:ea typeface="游ゴシック"/>
                <a:cs typeface="游ゴシック"/>
              </a:rPr>
              <a:t>エグゼクティブサマリ</a:t>
            </a:r>
            <a:r>
              <a:rPr sz="1200" b="1" dirty="0">
                <a:latin typeface="游ゴシック"/>
                <a:ea typeface="游ゴシック"/>
                <a:cs typeface="游ゴシック"/>
              </a:rPr>
              <a:t>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672824"/>
            <a:ext cx="7074659" cy="362279"/>
          </a:xfrm>
          <a:prstGeom prst="rect">
            <a:avLst/>
          </a:prstGeom>
          <a:noFill/>
        </p:spPr>
        <p:txBody>
          <a:bodyPr wrap="square" lIns="1440000" tIns="0" rIns="0" bIns="0" rtlCol="0" anchor="ctr">
            <a:spAutoFit/>
          </a:bodyPr>
          <a:lstStyle/>
          <a:p>
            <a:pPr>
              <a:lnSpc>
                <a:spcPct val="126000"/>
              </a:lnSpc>
              <a:buNone/>
            </a:pPr>
            <a:r>
              <a:rPr sz="2000" b="1" dirty="0">
                <a:solidFill>
                  <a:schemeClr val="tx1"/>
                </a:solidFill>
                <a:latin typeface="游ゴシック"/>
                <a:ea typeface="游ゴシック"/>
                <a:cs typeface="游ゴシック"/>
              </a:rPr>
              <a:t>株式</a:t>
            </a:r>
            <a:r>
              <a:rPr lang="en-US" sz="2000" b="1" dirty="0">
                <a:solidFill>
                  <a:schemeClr val="tx1"/>
                </a:solidFill>
                <a:latin typeface="游ゴシック"/>
                <a:ea typeface="游ゴシック"/>
                <a:cs typeface="游ゴシック"/>
              </a:rPr>
              <a:t>100%</a:t>
            </a:r>
            <a:r>
              <a:rPr sz="2000" b="1" dirty="0">
                <a:solidFill>
                  <a:schemeClr val="tx1"/>
                </a:solidFill>
                <a:latin typeface="游ゴシック"/>
                <a:ea typeface="游ゴシック"/>
                <a:cs typeface="游ゴシック"/>
              </a:rPr>
              <a:t>譲渡</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4" name="テキスト ボックス 3">
            <a:extLst>
              <a:ext uri="{FF2B5EF4-FFF2-40B4-BE49-F238E27FC236}">
                <a16:creationId xmlns:a16="http://schemas.microsoft.com/office/drawing/2014/main" id="{05883EE7-38E9-AEE9-A4F5-6A668A5AC83D}"/>
              </a:ext>
            </a:extLst>
          </p:cNvPr>
          <p:cNvSpPr txBox="1"/>
          <p:nvPr/>
        </p:nvSpPr>
        <p:spPr>
          <a:xfrm>
            <a:off x="3151380" y="3129117"/>
            <a:ext cx="7074659" cy="362279"/>
          </a:xfrm>
          <a:prstGeom prst="rect">
            <a:avLst/>
          </a:prstGeom>
          <a:noFill/>
        </p:spPr>
        <p:txBody>
          <a:bodyPr wrap="square" lIns="1440000" tIns="0" rIns="0" bIns="0" rtlCol="0" anchor="ctr">
            <a:spAutoFit/>
          </a:bodyPr>
          <a:lstStyle/>
          <a:p>
            <a:pPr>
              <a:lnSpc>
                <a:spcPct val="126000"/>
              </a:lnSpc>
              <a:buNone/>
            </a:pPr>
            <a:r>
              <a:rPr lang="en-US" sz="2000" b="1" dirty="0">
                <a:solidFill>
                  <a:schemeClr val="tx1"/>
                </a:solidFill>
                <a:latin typeface="游ゴシック"/>
                <a:ea typeface="游ゴシック"/>
                <a:cs typeface="游ゴシック"/>
              </a:rPr>
              <a:t>1,650</a:t>
            </a:r>
            <a:r>
              <a:rPr lang="ja-JP" altLang="en-US" sz="2000" b="1" dirty="0">
                <a:solidFill>
                  <a:schemeClr val="tx1"/>
                </a:solidFill>
                <a:latin typeface="游ゴシック"/>
                <a:ea typeface="游ゴシック"/>
                <a:cs typeface="游ゴシック"/>
              </a:rPr>
              <a:t>万円</a:t>
            </a:r>
            <a:endParaRPr sz="2000" b="1" dirty="0">
              <a:solidFill>
                <a:schemeClr val="tx1"/>
              </a:solidFill>
              <a:latin typeface="游ゴシック"/>
              <a:ea typeface="游ゴシック"/>
              <a:cs typeface="游ゴシック"/>
            </a:endParaRPr>
          </a:p>
        </p:txBody>
      </p:sp>
      <p:sp>
        <p:nvSpPr>
          <p:cNvPr id="6" name="テキスト ボックス 5">
            <a:extLst>
              <a:ext uri="{FF2B5EF4-FFF2-40B4-BE49-F238E27FC236}">
                <a16:creationId xmlns:a16="http://schemas.microsoft.com/office/drawing/2014/main" id="{47663746-56B9-5DED-CA97-C6D48B7019A6}"/>
              </a:ext>
            </a:extLst>
          </p:cNvPr>
          <p:cNvSpPr txBox="1"/>
          <p:nvPr/>
        </p:nvSpPr>
        <p:spPr>
          <a:xfrm>
            <a:off x="3151380" y="4186457"/>
            <a:ext cx="7074659" cy="1184940"/>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代表者および配偶者は、事業の引継ぎ完了後に退任予定（引継ぎ期間・方法は別途協議）</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引継ぎに伴う代表者および配偶者への報酬は発生しない</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代表者および配偶者からの借入金（合計</a:t>
            </a:r>
            <a:r>
              <a:rPr lang="en-US" altLang="ja-JP" sz="1200" spc="50" dirty="0"/>
              <a:t>32,744</a:t>
            </a:r>
            <a:r>
              <a:rPr lang="ja-JP" altLang="en-US" sz="1200" spc="50" dirty="0"/>
              <a:t>千円）については、引継ぎ期間中の返済を希望。</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店舗</a:t>
            </a:r>
            <a:r>
              <a:rPr lang="en-US" altLang="ja-JP" sz="1200" spc="50" dirty="0"/>
              <a:t>2</a:t>
            </a:r>
            <a:r>
              <a:rPr lang="ja-JP" altLang="en-US" sz="1200" spc="50" dirty="0"/>
              <a:t>階には現在代表者夫妻が居住しており、譲渡後も居住する意向。</a:t>
            </a:r>
            <a:endParaRPr lang="en-US" altLang="ja-JP" sz="1200" spc="50" dirty="0"/>
          </a:p>
        </p:txBody>
      </p:sp>
      <p:sp>
        <p:nvSpPr>
          <p:cNvPr id="8" name="テキスト ボックス 7">
            <a:extLst>
              <a:ext uri="{FF2B5EF4-FFF2-40B4-BE49-F238E27FC236}">
                <a16:creationId xmlns:a16="http://schemas.microsoft.com/office/drawing/2014/main" id="{E885B0FC-2FFC-B62B-252D-D902DBCB3457}"/>
              </a:ext>
            </a:extLst>
          </p:cNvPr>
          <p:cNvSpPr txBox="1"/>
          <p:nvPr/>
        </p:nvSpPr>
        <p:spPr>
          <a:xfrm>
            <a:off x="3151380" y="5601366"/>
            <a:ext cx="7074659" cy="1226874"/>
          </a:xfrm>
          <a:prstGeom prst="rect">
            <a:avLst/>
          </a:prstGeom>
          <a:noFill/>
        </p:spPr>
        <p:txBody>
          <a:bodyPr wrap="square" lIns="1440000" tIns="0" rIns="0" bIns="0" rtlCol="0" anchor="ctr">
            <a:spAutoFit/>
          </a:bodyPr>
          <a:lstStyle/>
          <a:p>
            <a:pPr>
              <a:lnSpc>
                <a:spcPct val="126000"/>
              </a:lnSpc>
              <a:buNone/>
            </a:pPr>
            <a:r>
              <a:rPr lang="ja-JP" altLang="en-US" sz="2000" b="1" dirty="0">
                <a:solidFill>
                  <a:schemeClr val="tx1"/>
                </a:solidFill>
                <a:latin typeface="游ゴシック"/>
                <a:ea typeface="游ゴシック"/>
                <a:cs typeface="游ゴシック"/>
              </a:rPr>
              <a:t>後継者不在　</a:t>
            </a:r>
            <a:endParaRPr lang="en-US" altLang="ja-JP" sz="2000" b="1" dirty="0">
              <a:solidFill>
                <a:schemeClr val="tx1"/>
              </a:solidFill>
              <a:latin typeface="游ゴシック"/>
              <a:ea typeface="游ゴシック"/>
              <a:cs typeface="游ゴシック"/>
            </a:endParaRPr>
          </a:p>
          <a:p>
            <a:pPr>
              <a:lnSpc>
                <a:spcPct val="126000"/>
              </a:lnSpc>
              <a:buNone/>
            </a:pPr>
            <a:r>
              <a:rPr lang="ja-JP" altLang="en-US" sz="1100" b="1" dirty="0">
                <a:solidFill>
                  <a:schemeClr val="tx1"/>
                </a:solidFill>
                <a:latin typeface="游ゴシック"/>
                <a:ea typeface="游ゴシック"/>
                <a:cs typeface="游ゴシック"/>
              </a:rPr>
              <a:t>＜譲受候補先企業様に重視する事項＞</a:t>
            </a:r>
            <a:endParaRPr lang="en-US" altLang="ja-JP" sz="1100" b="1" dirty="0">
              <a:solidFill>
                <a:schemeClr val="tx1"/>
              </a:solidFill>
              <a:latin typeface="游ゴシック"/>
              <a:ea typeface="游ゴシック"/>
              <a:cs typeface="游ゴシック"/>
            </a:endParaRPr>
          </a:p>
          <a:p>
            <a:pPr>
              <a:lnSpc>
                <a:spcPct val="126000"/>
              </a:lnSpc>
              <a:buNone/>
            </a:pPr>
            <a:r>
              <a:rPr lang="ja-JP" altLang="en-US" sz="1100" b="1" dirty="0">
                <a:solidFill>
                  <a:schemeClr val="tx1"/>
                </a:solidFill>
                <a:latin typeface="游ゴシック"/>
                <a:ea typeface="游ゴシック"/>
                <a:cs typeface="游ゴシック"/>
              </a:rPr>
              <a:t>①既存店舗の歴史・伝統を尊重し、蕎麦店としての営業を継続いただける企業様</a:t>
            </a:r>
            <a:endParaRPr lang="en-US" altLang="ja-JP" sz="1100" b="1" dirty="0">
              <a:solidFill>
                <a:schemeClr val="tx1"/>
              </a:solidFill>
              <a:latin typeface="游ゴシック"/>
              <a:ea typeface="游ゴシック"/>
              <a:cs typeface="游ゴシック"/>
            </a:endParaRPr>
          </a:p>
          <a:p>
            <a:pPr>
              <a:lnSpc>
                <a:spcPct val="126000"/>
              </a:lnSpc>
              <a:buNone/>
            </a:pPr>
            <a:r>
              <a:rPr lang="ja-JP" altLang="en-US" sz="1100" b="1" dirty="0">
                <a:solidFill>
                  <a:schemeClr val="tx1"/>
                </a:solidFill>
                <a:latin typeface="游ゴシック"/>
                <a:ea typeface="游ゴシック"/>
                <a:cs typeface="游ゴシック"/>
              </a:rPr>
              <a:t>②「慈久庵」ブランドの価値を継承し、将来的な全国展開・ブランド認知の拡大を目指していただける企業様</a:t>
            </a:r>
            <a:endParaRPr sz="1100" b="1" dirty="0">
              <a:solidFill>
                <a:schemeClr val="tx1"/>
              </a:solidFill>
              <a:latin typeface="游ゴシック"/>
              <a:ea typeface="游ゴシック"/>
              <a:cs typeface="游ゴシック"/>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cs typeface="游ゴシック"/>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panose="020B0400000000000000" pitchFamily="50" charset="-128"/>
                <a:ea typeface="游ゴシック" panose="020B0400000000000000" pitchFamily="50" charset="-128"/>
                <a:cs typeface="游ゴシック"/>
              </a:rPr>
              <a:t>事業概要</a:t>
            </a: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游ゴシック" panose="020B0400000000000000" pitchFamily="50" charset="-128"/>
                <a:ea typeface="游ゴシック" panose="020B0400000000000000" pitchFamily="50" charset="-128"/>
                <a:cs typeface="游ゴシック"/>
              </a:rPr>
              <a:t>店頭飲食が売上の67％。残りは石臼挽き小麦粉・玄そばの卸売と通信販売で、いずれも慈久庵ブランドを前提とした直接取引</a:t>
            </a:r>
            <a:endParaRPr lang="en-US" altLang="ja-JP" dirty="0">
              <a:latin typeface="游ゴシック" panose="020B0400000000000000" pitchFamily="50" charset="-128"/>
              <a:ea typeface="游ゴシック" panose="020B0400000000000000" pitchFamily="50" charset="-128"/>
            </a:endParaRPr>
          </a:p>
        </p:txBody>
      </p:sp>
      <p:sp>
        <p:nvSpPr>
          <p:cNvPr id="36" name="Rectangle 35"/>
          <p:cNvSpPr/>
          <p:nvPr/>
        </p:nvSpPr>
        <p:spPr>
          <a:xfrm>
            <a:off x="4078224" y="2615184"/>
            <a:ext cx="254203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37" name="TextBox 36"/>
          <p:cNvSpPr txBox="1"/>
          <p:nvPr/>
        </p:nvSpPr>
        <p:spPr>
          <a:xfrm>
            <a:off x="4078224" y="2761488"/>
            <a:ext cx="2542032" cy="200055"/>
          </a:xfrm>
          <a:prstGeom prst="rect">
            <a:avLst/>
          </a:prstGeom>
          <a:noFill/>
        </p:spPr>
        <p:txBody>
          <a:bodyPr wrap="square" lIns="0" tIns="0" rIns="0" bIns="0" anchor="t">
            <a:spAutoFit/>
          </a:bodyPr>
          <a:lstStyle/>
          <a:p>
            <a:pPr algn="ctr">
              <a:spcAft>
                <a:spcPts val="0"/>
              </a:spcAft>
            </a:pPr>
            <a:r>
              <a:rPr sz="1300" b="1">
                <a:solidFill>
                  <a:srgbClr val="FFFFFF"/>
                </a:solidFill>
                <a:latin typeface="游ゴシック" panose="020B0400000000000000" pitchFamily="50" charset="-128"/>
                <a:ea typeface="游ゴシック" panose="020B0400000000000000" pitchFamily="50" charset="-128"/>
                <a:cs typeface="游ゴシック"/>
              </a:rPr>
              <a:t>株式会社慈久庵</a:t>
            </a:r>
          </a:p>
        </p:txBody>
      </p:sp>
      <p:sp>
        <p:nvSpPr>
          <p:cNvPr id="38" name="TextBox 37"/>
          <p:cNvSpPr txBox="1"/>
          <p:nvPr/>
        </p:nvSpPr>
        <p:spPr>
          <a:xfrm>
            <a:off x="4206240" y="3127248"/>
            <a:ext cx="2286000" cy="760849"/>
          </a:xfrm>
          <a:prstGeom prst="rect">
            <a:avLst/>
          </a:prstGeom>
          <a:noFill/>
        </p:spPr>
        <p:txBody>
          <a:bodyPr wrap="square" lIns="0" tIns="0" rIns="0" bIns="0" anchor="t">
            <a:spAutoFit/>
          </a:bodyPr>
          <a:lstStyle/>
          <a:p>
            <a:pPr algn="l">
              <a:lnSpc>
                <a:spcPct val="118000"/>
              </a:lnSpc>
              <a:spcAft>
                <a:spcPts val="300"/>
              </a:spcAft>
            </a:pPr>
            <a:r>
              <a:rPr sz="900" b="0">
                <a:solidFill>
                  <a:srgbClr val="D6E4EA"/>
                </a:solidFill>
                <a:latin typeface="游ゴシック" panose="020B0400000000000000" pitchFamily="50" charset="-128"/>
                <a:ea typeface="游ゴシック" panose="020B0400000000000000" pitchFamily="50" charset="-128"/>
                <a:cs typeface="游ゴシック"/>
              </a:rPr>
              <a:t>◆ そば店「慈久庵」</a:t>
            </a:r>
          </a:p>
          <a:p>
            <a:pPr algn="l">
              <a:lnSpc>
                <a:spcPct val="118000"/>
              </a:lnSpc>
              <a:spcAft>
                <a:spcPts val="300"/>
              </a:spcAft>
            </a:pPr>
            <a:r>
              <a:rPr sz="900" b="0">
                <a:solidFill>
                  <a:srgbClr val="D6E4EA"/>
                </a:solidFill>
                <a:latin typeface="游ゴシック" panose="020B0400000000000000" pitchFamily="50" charset="-128"/>
                <a:ea typeface="游ゴシック" panose="020B0400000000000000" pitchFamily="50" charset="-128"/>
                <a:cs typeface="游ゴシック"/>
              </a:rPr>
              <a:t>◆ 自家製粉（石臼）</a:t>
            </a:r>
          </a:p>
          <a:p>
            <a:pPr algn="l">
              <a:lnSpc>
                <a:spcPct val="118000"/>
              </a:lnSpc>
              <a:spcAft>
                <a:spcPts val="300"/>
              </a:spcAft>
            </a:pPr>
            <a:r>
              <a:rPr sz="900" b="0">
                <a:solidFill>
                  <a:srgbClr val="D6E4EA"/>
                </a:solidFill>
                <a:latin typeface="游ゴシック" panose="020B0400000000000000" pitchFamily="50" charset="-128"/>
                <a:ea typeface="游ゴシック" panose="020B0400000000000000" pitchFamily="50" charset="-128"/>
                <a:cs typeface="游ゴシック"/>
              </a:rPr>
              <a:t>◆ 乾麺・そばつゆ・醤の製造</a:t>
            </a:r>
          </a:p>
          <a:p>
            <a:pPr algn="l">
              <a:lnSpc>
                <a:spcPct val="118000"/>
              </a:lnSpc>
              <a:spcAft>
                <a:spcPts val="300"/>
              </a:spcAft>
            </a:pPr>
            <a:r>
              <a:rPr sz="900" b="0">
                <a:solidFill>
                  <a:srgbClr val="D6E4EA"/>
                </a:solidFill>
                <a:latin typeface="游ゴシック" panose="020B0400000000000000" pitchFamily="50" charset="-128"/>
                <a:ea typeface="游ゴシック" panose="020B0400000000000000" pitchFamily="50" charset="-128"/>
                <a:cs typeface="游ゴシック"/>
              </a:rPr>
              <a:t>◆ そば・小麦の栽培（焼畑）</a:t>
            </a:r>
          </a:p>
        </p:txBody>
      </p:sp>
      <p:sp>
        <p:nvSpPr>
          <p:cNvPr id="39" name="TextBox 38"/>
          <p:cNvSpPr txBox="1"/>
          <p:nvPr/>
        </p:nvSpPr>
        <p:spPr>
          <a:xfrm>
            <a:off x="310896" y="1481328"/>
            <a:ext cx="3291840" cy="184666"/>
          </a:xfrm>
          <a:prstGeom prst="rect">
            <a:avLst/>
          </a:prstGeom>
          <a:noFill/>
        </p:spPr>
        <p:txBody>
          <a:bodyPr wrap="square" lIns="0" tIns="0" rIns="0" bIns="0" anchor="t">
            <a:spAutoFit/>
          </a:bodyPr>
          <a:lstStyle/>
          <a:p>
            <a:pPr algn="l">
              <a:spcAft>
                <a:spcPts val="0"/>
              </a:spcAft>
            </a:pPr>
            <a:r>
              <a:rPr sz="1200" b="1">
                <a:solidFill>
                  <a:srgbClr val="0B3041"/>
                </a:solidFill>
                <a:latin typeface="游ゴシック" panose="020B0400000000000000" pitchFamily="50" charset="-128"/>
                <a:ea typeface="游ゴシック" panose="020B0400000000000000" pitchFamily="50" charset="-128"/>
                <a:cs typeface="游ゴシック"/>
              </a:rPr>
              <a:t>主要仕入先</a:t>
            </a:r>
          </a:p>
        </p:txBody>
      </p:sp>
      <p:sp>
        <p:nvSpPr>
          <p:cNvPr id="40" name="TextBox 39"/>
          <p:cNvSpPr txBox="1"/>
          <p:nvPr/>
        </p:nvSpPr>
        <p:spPr>
          <a:xfrm>
            <a:off x="7095744" y="1481328"/>
            <a:ext cx="3291840" cy="184666"/>
          </a:xfrm>
          <a:prstGeom prst="rect">
            <a:avLst/>
          </a:prstGeom>
          <a:noFill/>
        </p:spPr>
        <p:txBody>
          <a:bodyPr wrap="square" lIns="0" tIns="0" rIns="0" bIns="0" anchor="t">
            <a:spAutoFit/>
          </a:bodyPr>
          <a:lstStyle/>
          <a:p>
            <a:pPr algn="l">
              <a:spcAft>
                <a:spcPts val="0"/>
              </a:spcAft>
            </a:pPr>
            <a:r>
              <a:rPr sz="1200" b="1">
                <a:solidFill>
                  <a:srgbClr val="0B3041"/>
                </a:solidFill>
                <a:latin typeface="游ゴシック" panose="020B0400000000000000" pitchFamily="50" charset="-128"/>
                <a:ea typeface="游ゴシック" panose="020B0400000000000000" pitchFamily="50" charset="-128"/>
                <a:cs typeface="游ゴシック"/>
              </a:rPr>
              <a:t>主要販売先</a:t>
            </a:r>
          </a:p>
        </p:txBody>
      </p:sp>
      <p:sp>
        <p:nvSpPr>
          <p:cNvPr id="41" name="Rectangle 40"/>
          <p:cNvSpPr/>
          <p:nvPr/>
        </p:nvSpPr>
        <p:spPr>
          <a:xfrm>
            <a:off x="310896" y="1773936"/>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42" name="Rectangle 41"/>
          <p:cNvSpPr/>
          <p:nvPr/>
        </p:nvSpPr>
        <p:spPr>
          <a:xfrm>
            <a:off x="310896" y="1773936"/>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43" name="TextBox 42"/>
          <p:cNvSpPr txBox="1"/>
          <p:nvPr/>
        </p:nvSpPr>
        <p:spPr>
          <a:xfrm>
            <a:off x="457200" y="1865376"/>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玄そば（常陸秋そば）</a:t>
            </a:r>
          </a:p>
        </p:txBody>
      </p:sp>
      <p:sp>
        <p:nvSpPr>
          <p:cNvPr id="44" name="TextBox 43"/>
          <p:cNvSpPr txBox="1"/>
          <p:nvPr/>
        </p:nvSpPr>
        <p:spPr>
          <a:xfrm>
            <a:off x="457200" y="2139696"/>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海老根 章 氏 660千円／地元生産者</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自家栽培（焼畑）分を併用</a:t>
            </a:r>
          </a:p>
        </p:txBody>
      </p:sp>
      <p:sp>
        <p:nvSpPr>
          <p:cNvPr id="45" name="Rectangle 44"/>
          <p:cNvSpPr/>
          <p:nvPr/>
        </p:nvSpPr>
        <p:spPr>
          <a:xfrm>
            <a:off x="3602736" y="2220163"/>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46" name="Rectangle 45"/>
          <p:cNvSpPr/>
          <p:nvPr/>
        </p:nvSpPr>
        <p:spPr>
          <a:xfrm>
            <a:off x="310896" y="2798064"/>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47" name="Rectangle 46"/>
          <p:cNvSpPr/>
          <p:nvPr/>
        </p:nvSpPr>
        <p:spPr>
          <a:xfrm>
            <a:off x="310896" y="2798064"/>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48" name="TextBox 47"/>
          <p:cNvSpPr txBox="1"/>
          <p:nvPr/>
        </p:nvSpPr>
        <p:spPr>
          <a:xfrm>
            <a:off x="457200" y="2889504"/>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小麦</a:t>
            </a:r>
          </a:p>
        </p:txBody>
      </p:sp>
      <p:sp>
        <p:nvSpPr>
          <p:cNvPr id="49" name="TextBox 48"/>
          <p:cNvSpPr txBox="1"/>
          <p:nvPr/>
        </p:nvSpPr>
        <p:spPr>
          <a:xfrm>
            <a:off x="457200" y="3163824"/>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ミルキーウェーブ（外岡 清秀）1,155千円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材料仕入高の25.1％を占める最大の仕入先</a:t>
            </a:r>
          </a:p>
        </p:txBody>
      </p:sp>
      <p:sp>
        <p:nvSpPr>
          <p:cNvPr id="50" name="Rectangle 49"/>
          <p:cNvSpPr/>
          <p:nvPr/>
        </p:nvSpPr>
        <p:spPr>
          <a:xfrm>
            <a:off x="3602736" y="3244291"/>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1" name="Rectangle 50"/>
          <p:cNvSpPr/>
          <p:nvPr/>
        </p:nvSpPr>
        <p:spPr>
          <a:xfrm>
            <a:off x="310896" y="3822191"/>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2" name="Rectangle 51"/>
          <p:cNvSpPr/>
          <p:nvPr/>
        </p:nvSpPr>
        <p:spPr>
          <a:xfrm>
            <a:off x="310896" y="3822191"/>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3" name="TextBox 52"/>
          <p:cNvSpPr txBox="1"/>
          <p:nvPr/>
        </p:nvSpPr>
        <p:spPr>
          <a:xfrm>
            <a:off x="457200" y="3913631"/>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食材・調味料</a:t>
            </a:r>
          </a:p>
        </p:txBody>
      </p:sp>
      <p:sp>
        <p:nvSpPr>
          <p:cNvPr id="54" name="TextBox 53"/>
          <p:cNvSpPr txBox="1"/>
          <p:nvPr/>
        </p:nvSpPr>
        <p:spPr>
          <a:xfrm>
            <a:off x="457200" y="4187952"/>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（株）鈴木商店334千円、健興通商477千円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西崎ファーム（鴨肉）、岩魚郷北条屋敷 ほか</a:t>
            </a:r>
          </a:p>
        </p:txBody>
      </p:sp>
      <p:sp>
        <p:nvSpPr>
          <p:cNvPr id="55" name="Rectangle 54"/>
          <p:cNvSpPr/>
          <p:nvPr/>
        </p:nvSpPr>
        <p:spPr>
          <a:xfrm>
            <a:off x="3602736" y="4268419"/>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6" name="Rectangle 55"/>
          <p:cNvSpPr/>
          <p:nvPr/>
        </p:nvSpPr>
        <p:spPr>
          <a:xfrm>
            <a:off x="310896" y="4846320"/>
            <a:ext cx="3291840" cy="78638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7" name="Rectangle 56"/>
          <p:cNvSpPr/>
          <p:nvPr/>
        </p:nvSpPr>
        <p:spPr>
          <a:xfrm>
            <a:off x="310896" y="4846320"/>
            <a:ext cx="50292" cy="78638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58" name="TextBox 57"/>
          <p:cNvSpPr txBox="1"/>
          <p:nvPr/>
        </p:nvSpPr>
        <p:spPr>
          <a:xfrm>
            <a:off x="457200" y="4937759"/>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製粉外注</a:t>
            </a:r>
          </a:p>
        </p:txBody>
      </p:sp>
      <p:sp>
        <p:nvSpPr>
          <p:cNvPr id="59" name="TextBox 58"/>
          <p:cNvSpPr txBox="1"/>
          <p:nvPr/>
        </p:nvSpPr>
        <p:spPr>
          <a:xfrm>
            <a:off x="457200" y="5212080"/>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伊勢又米穀製粉（株）267千円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※関係会社との関係整理は要確認</a:t>
            </a:r>
          </a:p>
        </p:txBody>
      </p:sp>
      <p:sp>
        <p:nvSpPr>
          <p:cNvPr id="60" name="Rectangle 59"/>
          <p:cNvSpPr/>
          <p:nvPr/>
        </p:nvSpPr>
        <p:spPr>
          <a:xfrm>
            <a:off x="3602736" y="5228539"/>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1" name="Rectangle 60"/>
          <p:cNvSpPr/>
          <p:nvPr/>
        </p:nvSpPr>
        <p:spPr>
          <a:xfrm>
            <a:off x="7095744" y="1773936"/>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2" name="Rectangle 61"/>
          <p:cNvSpPr/>
          <p:nvPr/>
        </p:nvSpPr>
        <p:spPr>
          <a:xfrm>
            <a:off x="7095744" y="1773936"/>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3" name="TextBox 62"/>
          <p:cNvSpPr txBox="1"/>
          <p:nvPr/>
        </p:nvSpPr>
        <p:spPr>
          <a:xfrm>
            <a:off x="7242048" y="1865376"/>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① 店頭飲食　15,099千円（67.2％）</a:t>
            </a:r>
          </a:p>
        </p:txBody>
      </p:sp>
      <p:sp>
        <p:nvSpPr>
          <p:cNvPr id="64" name="TextBox 63"/>
          <p:cNvSpPr txBox="1"/>
          <p:nvPr/>
        </p:nvSpPr>
        <p:spPr>
          <a:xfrm>
            <a:off x="7242048" y="2139696"/>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一般消費者／昼のみ・売り切りじまい</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年間営業日200日・日商平均75千円</a:t>
            </a:r>
          </a:p>
        </p:txBody>
      </p:sp>
      <p:sp>
        <p:nvSpPr>
          <p:cNvPr id="65" name="Rectangle 64"/>
          <p:cNvSpPr/>
          <p:nvPr/>
        </p:nvSpPr>
        <p:spPr>
          <a:xfrm>
            <a:off x="6620256" y="2220163"/>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6" name="Rectangle 65"/>
          <p:cNvSpPr/>
          <p:nvPr/>
        </p:nvSpPr>
        <p:spPr>
          <a:xfrm>
            <a:off x="7095744" y="2798064"/>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7" name="Rectangle 66"/>
          <p:cNvSpPr/>
          <p:nvPr/>
        </p:nvSpPr>
        <p:spPr>
          <a:xfrm>
            <a:off x="7095744" y="2798064"/>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68" name="TextBox 67"/>
          <p:cNvSpPr txBox="1"/>
          <p:nvPr/>
        </p:nvSpPr>
        <p:spPr>
          <a:xfrm>
            <a:off x="7242048" y="2889504"/>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② 製粉・卸売　2,273千円（10.1％）</a:t>
            </a:r>
          </a:p>
        </p:txBody>
      </p:sp>
      <p:sp>
        <p:nvSpPr>
          <p:cNvPr id="69" name="TextBox 68"/>
          <p:cNvSpPr txBox="1"/>
          <p:nvPr/>
        </p:nvSpPr>
        <p:spPr>
          <a:xfrm>
            <a:off x="7242048" y="3163824"/>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キビヤベーカリー1,865千円、ルヴァン㈱231千円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（株）シオミ169千円／著名ベーカリー向け</a:t>
            </a:r>
          </a:p>
        </p:txBody>
      </p:sp>
      <p:sp>
        <p:nvSpPr>
          <p:cNvPr id="70" name="Rectangle 69"/>
          <p:cNvSpPr/>
          <p:nvPr/>
        </p:nvSpPr>
        <p:spPr>
          <a:xfrm>
            <a:off x="6620256" y="3244291"/>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1" name="Rectangle 70"/>
          <p:cNvSpPr/>
          <p:nvPr/>
        </p:nvSpPr>
        <p:spPr>
          <a:xfrm>
            <a:off x="7095744" y="3822191"/>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2" name="Rectangle 71"/>
          <p:cNvSpPr/>
          <p:nvPr/>
        </p:nvSpPr>
        <p:spPr>
          <a:xfrm>
            <a:off x="7095744" y="3822191"/>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3" name="TextBox 72"/>
          <p:cNvSpPr txBox="1"/>
          <p:nvPr/>
        </p:nvSpPr>
        <p:spPr>
          <a:xfrm>
            <a:off x="7242048" y="3913631"/>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③ 通信販売・物販　1,789千円（8.0％）</a:t>
            </a:r>
          </a:p>
        </p:txBody>
      </p:sp>
      <p:sp>
        <p:nvSpPr>
          <p:cNvPr id="74" name="TextBox 73"/>
          <p:cNvSpPr txBox="1"/>
          <p:nvPr/>
        </p:nvSpPr>
        <p:spPr>
          <a:xfrm>
            <a:off x="7242048" y="4187952"/>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Ｅコレクトサガワ（代引通販）1,020千円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水府振興公社274千円、アマゾン166千円 ほか</a:t>
            </a:r>
          </a:p>
        </p:txBody>
      </p:sp>
      <p:sp>
        <p:nvSpPr>
          <p:cNvPr id="75" name="Rectangle 74"/>
          <p:cNvSpPr/>
          <p:nvPr/>
        </p:nvSpPr>
        <p:spPr>
          <a:xfrm>
            <a:off x="6620256" y="4268419"/>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6" name="Rectangle 75"/>
          <p:cNvSpPr/>
          <p:nvPr/>
        </p:nvSpPr>
        <p:spPr>
          <a:xfrm>
            <a:off x="7095744" y="4846320"/>
            <a:ext cx="3291840" cy="786384"/>
          </a:xfrm>
          <a:prstGeom prst="rect">
            <a:avLst/>
          </a:prstGeom>
          <a:solidFill>
            <a:srgbClr val="FCF3F2"/>
          </a:solidFill>
          <a:ln w="12700">
            <a:solidFill>
              <a:srgbClr val="C03A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7" name="Rectangle 76"/>
          <p:cNvSpPr/>
          <p:nvPr/>
        </p:nvSpPr>
        <p:spPr>
          <a:xfrm>
            <a:off x="7095744" y="4846320"/>
            <a:ext cx="50292" cy="786384"/>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78" name="TextBox 77"/>
          <p:cNvSpPr txBox="1"/>
          <p:nvPr/>
        </p:nvSpPr>
        <p:spPr>
          <a:xfrm>
            <a:off x="7242048" y="4937759"/>
            <a:ext cx="3017520" cy="146194"/>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panose="020B0400000000000000" pitchFamily="50" charset="-128"/>
                <a:ea typeface="游ゴシック" panose="020B0400000000000000" pitchFamily="50" charset="-128"/>
                <a:cs typeface="游ゴシック"/>
              </a:rPr>
              <a:t>④ 関係先への食材供給　3,323千円</a:t>
            </a:r>
          </a:p>
        </p:txBody>
      </p:sp>
      <p:sp>
        <p:nvSpPr>
          <p:cNvPr id="79" name="TextBox 78"/>
          <p:cNvSpPr txBox="1"/>
          <p:nvPr/>
        </p:nvSpPr>
        <p:spPr>
          <a:xfrm>
            <a:off x="7242048" y="5212080"/>
            <a:ext cx="3017520" cy="306687"/>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塩町館2,624千円、小びと699千円</a:t>
            </a:r>
          </a:p>
          <a:p>
            <a:pPr algn="l">
              <a:lnSpc>
                <a:spcPct val="118000"/>
              </a:lnSpc>
              <a:spcAft>
                <a:spcPts val="100"/>
              </a:spcAft>
            </a:pPr>
            <a:r>
              <a:rPr sz="830" b="0">
                <a:solidFill>
                  <a:srgbClr val="5A6670"/>
                </a:solidFill>
                <a:latin typeface="游ゴシック" panose="020B0400000000000000" pitchFamily="50" charset="-128"/>
                <a:ea typeface="游ゴシック" panose="020B0400000000000000" pitchFamily="50" charset="-128"/>
                <a:cs typeface="游ゴシック"/>
              </a:rPr>
              <a:t>※回収状況は要確認（P.7）</a:t>
            </a:r>
          </a:p>
        </p:txBody>
      </p:sp>
      <p:sp>
        <p:nvSpPr>
          <p:cNvPr id="80" name="Rectangle 79"/>
          <p:cNvSpPr/>
          <p:nvPr/>
        </p:nvSpPr>
        <p:spPr>
          <a:xfrm>
            <a:off x="6620256" y="5228539"/>
            <a:ext cx="475487" cy="21945"/>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81" name="TextBox 80"/>
          <p:cNvSpPr txBox="1"/>
          <p:nvPr/>
        </p:nvSpPr>
        <p:spPr>
          <a:xfrm>
            <a:off x="4078224" y="4590288"/>
            <a:ext cx="2542032" cy="130805"/>
          </a:xfrm>
          <a:prstGeom prst="rect">
            <a:avLst/>
          </a:prstGeom>
          <a:noFill/>
        </p:spPr>
        <p:txBody>
          <a:bodyPr wrap="square" lIns="0" tIns="0" rIns="0" bIns="0" anchor="t">
            <a:spAutoFit/>
          </a:bodyPr>
          <a:lstStyle/>
          <a:p>
            <a:pPr algn="ctr">
              <a:spcAft>
                <a:spcPts val="0"/>
              </a:spcAft>
            </a:pPr>
            <a:r>
              <a:rPr sz="850" b="0">
                <a:solidFill>
                  <a:srgbClr val="5A6670"/>
                </a:solidFill>
                <a:latin typeface="游ゴシック" panose="020B0400000000000000" pitchFamily="50" charset="-128"/>
                <a:ea typeface="游ゴシック" panose="020B0400000000000000" pitchFamily="50" charset="-128"/>
                <a:cs typeface="游ゴシック"/>
              </a:rPr>
              <a:t>玄そば・小麦・食材</a:t>
            </a:r>
          </a:p>
        </p:txBody>
      </p:sp>
      <p:sp>
        <p:nvSpPr>
          <p:cNvPr id="82" name="TextBox 81"/>
          <p:cNvSpPr txBox="1"/>
          <p:nvPr/>
        </p:nvSpPr>
        <p:spPr>
          <a:xfrm>
            <a:off x="4078224" y="2340864"/>
            <a:ext cx="2542032" cy="130805"/>
          </a:xfrm>
          <a:prstGeom prst="rect">
            <a:avLst/>
          </a:prstGeom>
          <a:noFill/>
        </p:spPr>
        <p:txBody>
          <a:bodyPr wrap="square" lIns="0" tIns="0" rIns="0" bIns="0" anchor="t">
            <a:spAutoFit/>
          </a:bodyPr>
          <a:lstStyle/>
          <a:p>
            <a:pPr algn="ctr">
              <a:spcAft>
                <a:spcPts val="0"/>
              </a:spcAft>
            </a:pPr>
            <a:r>
              <a:rPr sz="850" b="0">
                <a:solidFill>
                  <a:srgbClr val="5A6670"/>
                </a:solidFill>
                <a:latin typeface="游ゴシック" panose="020B0400000000000000" pitchFamily="50" charset="-128"/>
                <a:ea typeface="游ゴシック" panose="020B0400000000000000" pitchFamily="50" charset="-128"/>
                <a:cs typeface="游ゴシック"/>
              </a:rPr>
              <a:t>蕎麦・蕎麦粉・小麦粉・商品</a:t>
            </a:r>
          </a:p>
        </p:txBody>
      </p:sp>
      <p:sp>
        <p:nvSpPr>
          <p:cNvPr id="83" name="TextBox 82"/>
          <p:cNvSpPr txBox="1"/>
          <p:nvPr/>
        </p:nvSpPr>
        <p:spPr>
          <a:xfrm>
            <a:off x="310896" y="5852160"/>
            <a:ext cx="9921240" cy="124008"/>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panose="020B0400000000000000" pitchFamily="50" charset="-128"/>
                <a:ea typeface="游ゴシック" panose="020B0400000000000000" pitchFamily="50" charset="-128"/>
                <a:cs typeface="游ゴシック"/>
              </a:rPr>
              <a:t>※ 金額はいずれも2026年5月期。総勘定元帳の相手科目・取引先欄により弊社が集計したものであり、決算書の勘定科目区分とは一致しない。</a:t>
            </a:r>
          </a:p>
        </p:txBody>
      </p:sp>
    </p:spTree>
    <p:extLst>
      <p:ext uri="{BB962C8B-B14F-4D97-AF65-F5344CB8AC3E}">
        <p14:creationId xmlns:p14="http://schemas.microsoft.com/office/powerpoint/2010/main" val="53838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cs typeface="游ゴシック"/>
              </a:rPr>
              <a:t>「慈久庵」というブランドと代表者</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panose="020B0400000000000000" pitchFamily="50" charset="-128"/>
                <a:ea typeface="游ゴシック" panose="020B0400000000000000" pitchFamily="50" charset="-128"/>
                <a:cs typeface="游ゴシック"/>
              </a:rPr>
              <a:t>事業概要</a:t>
            </a:r>
          </a:p>
        </p:txBody>
      </p:sp>
      <p:sp>
        <p:nvSpPr>
          <p:cNvPr id="4" name="Rectangle 3"/>
          <p:cNvSpPr/>
          <p:nvPr/>
        </p:nvSpPr>
        <p:spPr>
          <a:xfrm>
            <a:off x="310896" y="1444752"/>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panose="020B0400000000000000" pitchFamily="50" charset="-128"/>
                <a:ea typeface="游ゴシック" panose="020B0400000000000000" pitchFamily="50" charset="-128"/>
                <a:cs typeface="游ゴシック"/>
              </a:rPr>
              <a:t>代表者 小川 宣夫 氏の歩み</a:t>
            </a:r>
          </a:p>
        </p:txBody>
      </p:sp>
      <p:graphicFrame>
        <p:nvGraphicFramePr>
          <p:cNvPr id="5" name="Table 4"/>
          <p:cNvGraphicFramePr>
            <a:graphicFrameLocks noGrp="1"/>
          </p:cNvGraphicFramePr>
          <p:nvPr/>
        </p:nvGraphicFramePr>
        <p:xfrm>
          <a:off x="310896" y="1801368"/>
          <a:ext cx="4846318" cy="3118104"/>
        </p:xfrm>
        <a:graphic>
          <a:graphicData uri="http://schemas.openxmlformats.org/drawingml/2006/table">
            <a:tbl>
              <a:tblPr>
                <a:tableStyleId>{5940675A-B579-460E-94D1-54222C63F5DA}</a:tableStyleId>
              </a:tblPr>
              <a:tblGrid>
                <a:gridCol w="786383">
                  <a:extLst>
                    <a:ext uri="{9D8B030D-6E8A-4147-A177-3AD203B41FA5}">
                      <a16:colId xmlns:a16="http://schemas.microsoft.com/office/drawing/2014/main" val="20000"/>
                    </a:ext>
                  </a:extLst>
                </a:gridCol>
                <a:gridCol w="4059935">
                  <a:extLst>
                    <a:ext uri="{9D8B030D-6E8A-4147-A177-3AD203B41FA5}">
                      <a16:colId xmlns:a16="http://schemas.microsoft.com/office/drawing/2014/main" val="20001"/>
                    </a:ext>
                  </a:extLst>
                </a:gridCol>
              </a:tblGrid>
              <a:tr h="228600">
                <a:tc>
                  <a:txBody>
                    <a:bodyPr/>
                    <a:lstStyle/>
                    <a:p>
                      <a:pPr algn="ctr">
                        <a:spcAft>
                          <a:spcPts val="0"/>
                        </a:spcAft>
                      </a:pPr>
                      <a:r>
                        <a:rPr sz="840" b="1">
                          <a:solidFill>
                            <a:srgbClr val="FFFFFF"/>
                          </a:solidFill>
                          <a:latin typeface="游ゴシック"/>
                          <a:ea typeface="游ゴシック"/>
                          <a:cs typeface="游ゴシック"/>
                        </a:rPr>
                        <a:t>年</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361188">
                <a:tc>
                  <a:txBody>
                    <a:bodyPr/>
                    <a:lstStyle/>
                    <a:p>
                      <a:pPr algn="ctr">
                        <a:spcAft>
                          <a:spcPts val="0"/>
                        </a:spcAft>
                      </a:pPr>
                      <a:r>
                        <a:rPr sz="840" b="0">
                          <a:solidFill>
                            <a:srgbClr val="1A1A1A"/>
                          </a:solidFill>
                          <a:latin typeface="游ゴシック"/>
                          <a:ea typeface="游ゴシック"/>
                          <a:cs typeface="游ゴシック"/>
                        </a:rPr>
                        <a:t>1947年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茨城県（現・常陸太田市）に生まれる</a:t>
                      </a:r>
                    </a:p>
                  </a:txBody>
                  <a:tcPr marL="45720" marR="45720" marT="9144" marB="9144" anchor="ctr">
                    <a:solidFill>
                      <a:srgbClr val="FFFFFF"/>
                    </a:solidFill>
                  </a:tcPr>
                </a:tc>
                <a:extLst>
                  <a:ext uri="{0D108BD9-81ED-4DB2-BD59-A6C34878D82A}">
                    <a16:rowId xmlns:a16="http://schemas.microsoft.com/office/drawing/2014/main" val="10001"/>
                  </a:ext>
                </a:extLst>
              </a:tr>
              <a:tr h="361188">
                <a:tc>
                  <a:txBody>
                    <a:bodyPr/>
                    <a:lstStyle/>
                    <a:p>
                      <a:pPr algn="ctr">
                        <a:spcAft>
                          <a:spcPts val="0"/>
                        </a:spcAft>
                      </a:pPr>
                      <a:r>
                        <a:rPr sz="840" b="0">
                          <a:solidFill>
                            <a:srgbClr val="1A1A1A"/>
                          </a:solidFill>
                          <a:latin typeface="游ゴシック"/>
                          <a:ea typeface="游ゴシック"/>
                          <a:cs typeface="游ゴシック"/>
                        </a:rPr>
                        <a:t>20代</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東京での会社員生活を経て、信州有数の蕎麦どころである長野県大町市へ移住</a:t>
                      </a:r>
                    </a:p>
                  </a:txBody>
                  <a:tcPr marL="45720" marR="45720" marT="9144" marB="9144" anchor="ctr">
                    <a:solidFill>
                      <a:srgbClr val="FFFFFF"/>
                    </a:solidFill>
                  </a:tcPr>
                </a:tc>
                <a:extLst>
                  <a:ext uri="{0D108BD9-81ED-4DB2-BD59-A6C34878D82A}">
                    <a16:rowId xmlns:a16="http://schemas.microsoft.com/office/drawing/2014/main" val="10002"/>
                  </a:ext>
                </a:extLst>
              </a:tr>
              <a:tr h="361188">
                <a:tc>
                  <a:txBody>
                    <a:bodyPr/>
                    <a:lstStyle/>
                    <a:p>
                      <a:pPr algn="ctr">
                        <a:spcAft>
                          <a:spcPts val="0"/>
                        </a:spcAft>
                      </a:pPr>
                      <a:r>
                        <a:rPr sz="840" b="0">
                          <a:solidFill>
                            <a:srgbClr val="1A1A1A"/>
                          </a:solidFill>
                          <a:latin typeface="游ゴシック"/>
                          <a:ea typeface="游ゴシック"/>
                          <a:cs typeface="游ゴシック"/>
                        </a:rPr>
                        <a:t>1978年頃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31歳で東京・荻窪の名店「本むら庵」に入店。8年間の修業を経て独立</a:t>
                      </a:r>
                    </a:p>
                  </a:txBody>
                  <a:tcPr marL="45720" marR="45720" marT="9144" marB="9144" anchor="ctr">
                    <a:solidFill>
                      <a:srgbClr val="FFFFFF"/>
                    </a:solidFill>
                  </a:tcPr>
                </a:tc>
                <a:extLst>
                  <a:ext uri="{0D108BD9-81ED-4DB2-BD59-A6C34878D82A}">
                    <a16:rowId xmlns:a16="http://schemas.microsoft.com/office/drawing/2014/main" val="10003"/>
                  </a:ext>
                </a:extLst>
              </a:tr>
              <a:tr h="361188">
                <a:tc>
                  <a:txBody>
                    <a:bodyPr/>
                    <a:lstStyle/>
                    <a:p>
                      <a:pPr algn="ctr">
                        <a:spcAft>
                          <a:spcPts val="0"/>
                        </a:spcAft>
                      </a:pPr>
                      <a:r>
                        <a:rPr sz="840" b="0">
                          <a:solidFill>
                            <a:srgbClr val="1A1A1A"/>
                          </a:solidFill>
                          <a:latin typeface="游ゴシック"/>
                          <a:ea typeface="游ゴシック"/>
                          <a:cs typeface="游ゴシック"/>
                        </a:rPr>
                        <a:t>1990年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東京・南阿佐ヶ谷に石臼挽き自家製粉の手打ち蕎麦店「慈久庵」を開業（株式会社慈久庵 設立）</a:t>
                      </a:r>
                    </a:p>
                  </a:txBody>
                  <a:tcPr marL="45720" marR="45720" marT="9144" marB="9144" anchor="ctr">
                    <a:solidFill>
                      <a:srgbClr val="FFFFFF"/>
                    </a:solidFill>
                  </a:tcPr>
                </a:tc>
                <a:extLst>
                  <a:ext uri="{0D108BD9-81ED-4DB2-BD59-A6C34878D82A}">
                    <a16:rowId xmlns:a16="http://schemas.microsoft.com/office/drawing/2014/main" val="10004"/>
                  </a:ext>
                </a:extLst>
              </a:tr>
              <a:tr h="361188">
                <a:tc>
                  <a:txBody>
                    <a:bodyPr/>
                    <a:lstStyle/>
                    <a:p>
                      <a:pPr algn="ctr">
                        <a:spcAft>
                          <a:spcPts val="0"/>
                        </a:spcAft>
                      </a:pPr>
                      <a:r>
                        <a:rPr sz="840" b="0">
                          <a:solidFill>
                            <a:srgbClr val="1A1A1A"/>
                          </a:solidFill>
                          <a:latin typeface="游ゴシック"/>
                          <a:ea typeface="游ゴシック"/>
                          <a:cs typeface="游ゴシック"/>
                        </a:rPr>
                        <a:t>2002年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里山再生への思いから、生まれ故郷の茨城県久慈郡水府村（現・常陸太田市）へ移転</a:t>
                      </a:r>
                    </a:p>
                  </a:txBody>
                  <a:tcPr marL="45720" marR="45720" marT="9144" marB="9144" anchor="ctr">
                    <a:solidFill>
                      <a:srgbClr val="FFFFFF"/>
                    </a:solidFill>
                  </a:tcPr>
                </a:tc>
                <a:extLst>
                  <a:ext uri="{0D108BD9-81ED-4DB2-BD59-A6C34878D82A}">
                    <a16:rowId xmlns:a16="http://schemas.microsoft.com/office/drawing/2014/main" val="10005"/>
                  </a:ext>
                </a:extLst>
              </a:tr>
              <a:tr h="361188">
                <a:tc>
                  <a:txBody>
                    <a:bodyPr/>
                    <a:lstStyle/>
                    <a:p>
                      <a:pPr algn="ctr">
                        <a:spcAft>
                          <a:spcPts val="0"/>
                        </a:spcAft>
                      </a:pPr>
                      <a:r>
                        <a:rPr sz="840" b="0">
                          <a:solidFill>
                            <a:srgbClr val="1A1A1A"/>
                          </a:solidFill>
                          <a:latin typeface="游ゴシック"/>
                          <a:ea typeface="游ゴシック"/>
                          <a:cs typeface="游ゴシック"/>
                        </a:rPr>
                        <a:t>2005年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常陸太田市の旧市街地に手打ち饂飩店「塩町館」を開店</a:t>
                      </a:r>
                    </a:p>
                  </a:txBody>
                  <a:tcPr marL="45720" marR="45720" marT="9144" marB="9144" anchor="ctr">
                    <a:solidFill>
                      <a:srgbClr val="FFFFFF"/>
                    </a:solidFill>
                  </a:tcPr>
                </a:tc>
                <a:extLst>
                  <a:ext uri="{0D108BD9-81ED-4DB2-BD59-A6C34878D82A}">
                    <a16:rowId xmlns:a16="http://schemas.microsoft.com/office/drawing/2014/main" val="10006"/>
                  </a:ext>
                </a:extLst>
              </a:tr>
              <a:tr h="361188">
                <a:tc>
                  <a:txBody>
                    <a:bodyPr/>
                    <a:lstStyle/>
                    <a:p>
                      <a:pPr algn="ctr">
                        <a:spcAft>
                          <a:spcPts val="0"/>
                        </a:spcAft>
                      </a:pPr>
                      <a:r>
                        <a:rPr sz="840" b="0">
                          <a:solidFill>
                            <a:srgbClr val="1A1A1A"/>
                          </a:solidFill>
                          <a:latin typeface="游ゴシック"/>
                          <a:ea typeface="游ゴシック"/>
                          <a:cs typeface="游ゴシック"/>
                        </a:rPr>
                        <a:t>現在</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粗挽き粉で打つ蕎麦の第一人者として知られ、焼き畑蕎麦栽培・小麦や茶の栽培にも取り組む</a:t>
                      </a:r>
                    </a:p>
                  </a:txBody>
                  <a:tcPr marL="45720" marR="45720" marT="9144" marB="9144" anchor="ctr">
                    <a:solidFill>
                      <a:srgbClr val="FFFFFF"/>
                    </a:solidFill>
                  </a:tcPr>
                </a:tc>
                <a:extLst>
                  <a:ext uri="{0D108BD9-81ED-4DB2-BD59-A6C34878D82A}">
                    <a16:rowId xmlns:a16="http://schemas.microsoft.com/office/drawing/2014/main" val="10007"/>
                  </a:ext>
                </a:extLst>
              </a:tr>
              <a:tr h="361188">
                <a:tc>
                  <a:txBody>
                    <a:bodyPr/>
                    <a:lstStyle/>
                    <a:p>
                      <a:pPr algn="ctr">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5376672" y="1444752"/>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panose="020B0400000000000000" pitchFamily="50" charset="-128"/>
                <a:ea typeface="游ゴシック" panose="020B0400000000000000" pitchFamily="50" charset="-128"/>
                <a:cs typeface="游ゴシック"/>
              </a:rPr>
              <a:t>外部からの評価</a:t>
            </a:r>
          </a:p>
        </p:txBody>
      </p:sp>
      <p:graphicFrame>
        <p:nvGraphicFramePr>
          <p:cNvPr id="7" name="Table 6"/>
          <p:cNvGraphicFramePr>
            <a:graphicFrameLocks noGrp="1"/>
          </p:cNvGraphicFramePr>
          <p:nvPr/>
        </p:nvGraphicFramePr>
        <p:xfrm>
          <a:off x="5376672" y="1801368"/>
          <a:ext cx="5001766" cy="1600200"/>
        </p:xfrm>
        <a:graphic>
          <a:graphicData uri="http://schemas.openxmlformats.org/drawingml/2006/table">
            <a:tbl>
              <a:tblPr>
                <a:tableStyleId>{5940675A-B579-460E-94D1-54222C63F5DA}</a:tableStyleId>
              </a:tblPr>
              <a:tblGrid>
                <a:gridCol w="2377439">
                  <a:extLst>
                    <a:ext uri="{9D8B030D-6E8A-4147-A177-3AD203B41FA5}">
                      <a16:colId xmlns:a16="http://schemas.microsoft.com/office/drawing/2014/main" val="20000"/>
                    </a:ext>
                  </a:extLst>
                </a:gridCol>
                <a:gridCol w="2624327">
                  <a:extLst>
                    <a:ext uri="{9D8B030D-6E8A-4147-A177-3AD203B41FA5}">
                      <a16:colId xmlns:a16="http://schemas.microsoft.com/office/drawing/2014/main" val="20001"/>
                    </a:ext>
                  </a:extLst>
                </a:gridCol>
              </a:tblGrid>
              <a:tr h="228600">
                <a:tc>
                  <a:txBody>
                    <a:bodyPr/>
                    <a:lstStyle/>
                    <a:p>
                      <a:pPr algn="ctr">
                        <a:spcAft>
                          <a:spcPts val="0"/>
                        </a:spcAft>
                      </a:pPr>
                      <a:r>
                        <a:rPr sz="840" b="1">
                          <a:solidFill>
                            <a:srgbClr val="FFFFFF"/>
                          </a:solidFill>
                          <a:latin typeface="游ゴシック"/>
                          <a:ea typeface="游ゴシック"/>
                          <a:cs typeface="游ゴシック"/>
                        </a:rPr>
                        <a:t>評価・受賞</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274320">
                <a:tc>
                  <a:txBody>
                    <a:bodyPr/>
                    <a:lstStyle/>
                    <a:p>
                      <a:pPr algn="l">
                        <a:spcAft>
                          <a:spcPts val="0"/>
                        </a:spcAft>
                      </a:pPr>
                      <a:r>
                        <a:rPr sz="840" b="0">
                          <a:solidFill>
                            <a:srgbClr val="1A1A1A"/>
                          </a:solidFill>
                          <a:latin typeface="游ゴシック"/>
                          <a:ea typeface="游ゴシック"/>
                          <a:cs typeface="游ゴシック"/>
                        </a:rPr>
                        <a:t>Japan Restaurant Award 2016</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食べログ　茨城県 TOP 1</a:t>
                      </a:r>
                    </a:p>
                  </a:txBody>
                  <a:tcPr marL="45720" marR="45720" marT="9144" marB="9144" anchor="ctr">
                    <a:solidFill>
                      <a:srgbClr val="FFFFFF"/>
                    </a:solidFill>
                  </a:tcPr>
                </a:tc>
                <a:extLst>
                  <a:ext uri="{0D108BD9-81ED-4DB2-BD59-A6C34878D82A}">
                    <a16:rowId xmlns:a16="http://schemas.microsoft.com/office/drawing/2014/main" val="10001"/>
                  </a:ext>
                </a:extLst>
              </a:tr>
              <a:tr h="274320">
                <a:tc>
                  <a:txBody>
                    <a:bodyPr/>
                    <a:lstStyle/>
                    <a:p>
                      <a:pPr algn="l">
                        <a:spcAft>
                          <a:spcPts val="0"/>
                        </a:spcAft>
                      </a:pPr>
                      <a:r>
                        <a:rPr sz="840" b="0">
                          <a:solidFill>
                            <a:srgbClr val="1A1A1A"/>
                          </a:solidFill>
                          <a:latin typeface="游ゴシック"/>
                          <a:ea typeface="游ゴシック"/>
                          <a:cs typeface="游ゴシック"/>
                        </a:rPr>
                        <a:t>THE TABELOG AWARD 2022</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Bronze</a:t>
                      </a:r>
                    </a:p>
                  </a:txBody>
                  <a:tcPr marL="45720" marR="45720" marT="9144" marB="9144" anchor="ctr">
                    <a:solidFill>
                      <a:srgbClr val="FFFFFF"/>
                    </a:solidFill>
                  </a:tcPr>
                </a:tc>
                <a:extLst>
                  <a:ext uri="{0D108BD9-81ED-4DB2-BD59-A6C34878D82A}">
                    <a16:rowId xmlns:a16="http://schemas.microsoft.com/office/drawing/2014/main" val="10002"/>
                  </a:ext>
                </a:extLst>
              </a:tr>
              <a:tr h="274320">
                <a:tc>
                  <a:txBody>
                    <a:bodyPr/>
                    <a:lstStyle/>
                    <a:p>
                      <a:pPr algn="l">
                        <a:spcAft>
                          <a:spcPts val="0"/>
                        </a:spcAft>
                      </a:pPr>
                      <a:r>
                        <a:rPr sz="840" b="0">
                          <a:solidFill>
                            <a:srgbClr val="1A1A1A"/>
                          </a:solidFill>
                          <a:latin typeface="游ゴシック"/>
                          <a:ea typeface="游ゴシック"/>
                          <a:cs typeface="游ゴシック"/>
                        </a:rPr>
                        <a:t>THE TABELOG AWARD 2023</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Bronze</a:t>
                      </a:r>
                    </a:p>
                  </a:txBody>
                  <a:tcPr marL="45720" marR="45720" marT="9144" marB="9144" anchor="ctr">
                    <a:solidFill>
                      <a:srgbClr val="FFFFFF"/>
                    </a:solidFill>
                  </a:tcPr>
                </a:tc>
                <a:extLst>
                  <a:ext uri="{0D108BD9-81ED-4DB2-BD59-A6C34878D82A}">
                    <a16:rowId xmlns:a16="http://schemas.microsoft.com/office/drawing/2014/main" val="10003"/>
                  </a:ext>
                </a:extLst>
              </a:tr>
              <a:tr h="274320">
                <a:tc>
                  <a:txBody>
                    <a:bodyPr/>
                    <a:lstStyle/>
                    <a:p>
                      <a:pPr algn="l">
                        <a:spcAft>
                          <a:spcPts val="0"/>
                        </a:spcAft>
                      </a:pPr>
                      <a:r>
                        <a:rPr sz="840" b="0">
                          <a:solidFill>
                            <a:srgbClr val="1A1A1A"/>
                          </a:solidFill>
                          <a:latin typeface="游ゴシック"/>
                          <a:ea typeface="游ゴシック"/>
                          <a:cs typeface="游ゴシック"/>
                        </a:rPr>
                        <a:t>食べログ「そば 百名店」</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選出（店内にステッカー掲示）</a:t>
                      </a:r>
                    </a:p>
                  </a:txBody>
                  <a:tcPr marL="45720" marR="45720" marT="9144" marB="9144" anchor="ctr">
                    <a:solidFill>
                      <a:srgbClr val="FFFFFF"/>
                    </a:solidFill>
                  </a:tcPr>
                </a:tc>
                <a:extLst>
                  <a:ext uri="{0D108BD9-81ED-4DB2-BD59-A6C34878D82A}">
                    <a16:rowId xmlns:a16="http://schemas.microsoft.com/office/drawing/2014/main" val="10004"/>
                  </a:ext>
                </a:extLst>
              </a:tr>
              <a:tr h="274320">
                <a:tc>
                  <a:txBody>
                    <a:bodyPr/>
                    <a:lstStyle/>
                    <a:p>
                      <a:pPr algn="l">
                        <a:spcAft>
                          <a:spcPts val="0"/>
                        </a:spcAft>
                      </a:pPr>
                      <a:r>
                        <a:rPr sz="840" b="0">
                          <a:solidFill>
                            <a:srgbClr val="1A1A1A"/>
                          </a:solidFill>
                          <a:latin typeface="游ゴシック"/>
                          <a:ea typeface="游ゴシック"/>
                          <a:cs typeface="游ゴシック"/>
                        </a:rPr>
                        <a:t>Japan Brand Collection 2026</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茨城版に「古式健珍蕎麦 慈久庵」として掲載</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5376672" y="3566160"/>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panose="020B0400000000000000" pitchFamily="50" charset="-128"/>
                <a:ea typeface="游ゴシック" panose="020B0400000000000000" pitchFamily="50" charset="-128"/>
                <a:cs typeface="游ゴシック"/>
              </a:rPr>
              <a:t>ブランドを支える「つくり方」</a:t>
            </a:r>
          </a:p>
        </p:txBody>
      </p:sp>
      <p:sp>
        <p:nvSpPr>
          <p:cNvPr id="9" name="Rectangle 8"/>
          <p:cNvSpPr/>
          <p:nvPr/>
        </p:nvSpPr>
        <p:spPr>
          <a:xfrm>
            <a:off x="5376672" y="3922776"/>
            <a:ext cx="5001768" cy="267004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10" name="TextBox 9"/>
          <p:cNvSpPr txBox="1"/>
          <p:nvPr/>
        </p:nvSpPr>
        <p:spPr>
          <a:xfrm>
            <a:off x="5504688" y="4032504"/>
            <a:ext cx="4745736" cy="2468880"/>
          </a:xfrm>
          <a:prstGeom prst="rect">
            <a:avLst/>
          </a:prstGeom>
          <a:noFill/>
        </p:spPr>
        <p:txBody>
          <a:bodyPr wrap="square" lIns="0" tIns="0" rIns="0" bIns="0" anchor="t">
            <a:spAutoFit/>
          </a:bodyPr>
          <a:lstStyle/>
          <a:p>
            <a:pPr algn="l">
              <a:lnSpc>
                <a:spcPct val="118000"/>
              </a:lnSpc>
              <a:spcAft>
                <a:spcPts val="200"/>
              </a:spcAft>
            </a:pPr>
            <a:r>
              <a:rPr sz="850" b="1">
                <a:solidFill>
                  <a:srgbClr val="0889C9"/>
                </a:solidFill>
                <a:latin typeface="游ゴシック" panose="020B0400000000000000" pitchFamily="50" charset="-128"/>
                <a:ea typeface="游ゴシック" panose="020B0400000000000000" pitchFamily="50" charset="-128"/>
                <a:cs typeface="游ゴシック"/>
              </a:rPr>
              <a:t>原料　</a:t>
            </a:r>
            <a:r>
              <a:rPr sz="850" b="0">
                <a:solidFill>
                  <a:srgbClr val="1A1A1A"/>
                </a:solidFill>
                <a:latin typeface="游ゴシック" panose="020B0400000000000000" pitchFamily="50" charset="-128"/>
                <a:ea typeface="游ゴシック" panose="020B0400000000000000" pitchFamily="50" charset="-128"/>
                <a:cs typeface="游ゴシック"/>
              </a:rPr>
              <a:t>玄そばの最高峰とされる地元産「常陸秋そば」を、農家を応援する意味合いから高値で買い取り。併せて代表者自ら畑に出て栽培にも従事。</a:t>
            </a:r>
          </a:p>
          <a:p>
            <a:pPr algn="l">
              <a:spcAft>
                <a:spcPts val="200"/>
              </a:spcAft>
            </a:pPr>
            <a:endParaRPr sz="85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18000"/>
              </a:lnSpc>
              <a:spcAft>
                <a:spcPts val="200"/>
              </a:spcAft>
            </a:pPr>
            <a:r>
              <a:rPr sz="850" b="1">
                <a:solidFill>
                  <a:srgbClr val="0889C9"/>
                </a:solidFill>
                <a:latin typeface="游ゴシック" panose="020B0400000000000000" pitchFamily="50" charset="-128"/>
                <a:ea typeface="游ゴシック" panose="020B0400000000000000" pitchFamily="50" charset="-128"/>
                <a:cs typeface="游ゴシック"/>
              </a:rPr>
              <a:t>焼畑　</a:t>
            </a:r>
            <a:r>
              <a:rPr sz="850" b="0">
                <a:solidFill>
                  <a:srgbClr val="1A1A1A"/>
                </a:solidFill>
                <a:latin typeface="游ゴシック" panose="020B0400000000000000" pitchFamily="50" charset="-128"/>
                <a:ea typeface="游ゴシック" panose="020B0400000000000000" pitchFamily="50" charset="-128"/>
                <a:cs typeface="游ゴシック"/>
              </a:rPr>
              <a:t>国内でも希少となった焼き畑農法を再興して24年。放棄されていた土地を再生し、茎が太く生命力に満ちたそばを収穫。</a:t>
            </a:r>
          </a:p>
          <a:p>
            <a:pPr algn="l">
              <a:spcAft>
                <a:spcPts val="200"/>
              </a:spcAft>
            </a:pPr>
            <a:endParaRPr sz="85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18000"/>
              </a:lnSpc>
              <a:spcAft>
                <a:spcPts val="200"/>
              </a:spcAft>
            </a:pPr>
            <a:r>
              <a:rPr sz="850" b="1">
                <a:solidFill>
                  <a:srgbClr val="0889C9"/>
                </a:solidFill>
                <a:latin typeface="游ゴシック" panose="020B0400000000000000" pitchFamily="50" charset="-128"/>
                <a:ea typeface="游ゴシック" panose="020B0400000000000000" pitchFamily="50" charset="-128"/>
                <a:cs typeface="游ゴシック"/>
              </a:rPr>
              <a:t>製粉　</a:t>
            </a:r>
            <a:r>
              <a:rPr sz="850" b="0">
                <a:solidFill>
                  <a:srgbClr val="1A1A1A"/>
                </a:solidFill>
                <a:latin typeface="游ゴシック" panose="020B0400000000000000" pitchFamily="50" charset="-128"/>
                <a:ea typeface="游ゴシック" panose="020B0400000000000000" pitchFamily="50" charset="-128"/>
                <a:cs typeface="游ゴシック"/>
              </a:rPr>
              <a:t>集めたそばを一年間寝かせてから石臼で自家製粉。同一品種でも畑により性質が異なるため畑ごとに袋を分け、寝かせた粉と新しい粉をブレンド。基本は九一。</a:t>
            </a:r>
          </a:p>
          <a:p>
            <a:pPr algn="l">
              <a:spcAft>
                <a:spcPts val="200"/>
              </a:spcAft>
            </a:pPr>
            <a:endParaRPr sz="85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18000"/>
              </a:lnSpc>
              <a:spcAft>
                <a:spcPts val="200"/>
              </a:spcAft>
            </a:pPr>
            <a:r>
              <a:rPr sz="850" b="1">
                <a:solidFill>
                  <a:srgbClr val="0889C9"/>
                </a:solidFill>
                <a:latin typeface="游ゴシック" panose="020B0400000000000000" pitchFamily="50" charset="-128"/>
                <a:ea typeface="游ゴシック" panose="020B0400000000000000" pitchFamily="50" charset="-128"/>
                <a:cs typeface="游ゴシック"/>
              </a:rPr>
              <a:t>商品　</a:t>
            </a:r>
            <a:r>
              <a:rPr sz="850" b="0">
                <a:solidFill>
                  <a:srgbClr val="1A1A1A"/>
                </a:solidFill>
                <a:latin typeface="游ゴシック" panose="020B0400000000000000" pitchFamily="50" charset="-128"/>
                <a:ea typeface="游ゴシック" panose="020B0400000000000000" pitchFamily="50" charset="-128"/>
                <a:cs typeface="游ゴシック"/>
              </a:rPr>
              <a:t>「ホシ」と呼ばれる黒い斑点が浮かぶ粗挽き蕎麦が看板。地元の無農薬有機野菜を使った茨城の郷土蕎麦「古式けんちんそば」（1,900円）も提供。</a:t>
            </a:r>
          </a:p>
          <a:p>
            <a:pPr algn="l">
              <a:spcAft>
                <a:spcPts val="200"/>
              </a:spcAft>
            </a:pPr>
            <a:endParaRPr sz="85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18000"/>
              </a:lnSpc>
              <a:spcAft>
                <a:spcPts val="200"/>
              </a:spcAft>
            </a:pPr>
            <a:r>
              <a:rPr sz="850" b="1">
                <a:solidFill>
                  <a:srgbClr val="0889C9"/>
                </a:solidFill>
                <a:latin typeface="游ゴシック" panose="020B0400000000000000" pitchFamily="50" charset="-128"/>
                <a:ea typeface="游ゴシック" panose="020B0400000000000000" pitchFamily="50" charset="-128"/>
                <a:cs typeface="游ゴシック"/>
              </a:rPr>
              <a:t>同業からの評価　</a:t>
            </a:r>
            <a:r>
              <a:rPr sz="850" b="0">
                <a:solidFill>
                  <a:srgbClr val="1A1A1A"/>
                </a:solidFill>
                <a:latin typeface="游ゴシック" panose="020B0400000000000000" pitchFamily="50" charset="-128"/>
                <a:ea typeface="游ゴシック" panose="020B0400000000000000" pitchFamily="50" charset="-128"/>
                <a:cs typeface="游ゴシック"/>
              </a:rPr>
              <a:t>打心蕎庵・玉笑など同業の有名店が玄そば・蕎麦粉を仕入れ。石臼挽き小麦粉はキビヤベーカリー・ルヴァンへ供給。</a:t>
            </a:r>
          </a:p>
          <a:p>
            <a:pPr algn="l">
              <a:spcAft>
                <a:spcPts val="200"/>
              </a:spcAft>
            </a:pPr>
            <a:endParaRPr sz="850" b="0">
              <a:solidFill>
                <a:srgbClr val="1A1A1A"/>
              </a:solidFill>
              <a:latin typeface="游ゴシック" panose="020B0400000000000000" pitchFamily="50" charset="-128"/>
              <a:ea typeface="游ゴシック" panose="020B0400000000000000" pitchFamily="50" charset="-128"/>
              <a:cs typeface="游ゴシック"/>
            </a:endParaRPr>
          </a:p>
        </p:txBody>
      </p:sp>
      <p:sp>
        <p:nvSpPr>
          <p:cNvPr id="11" name="TextBox 10"/>
          <p:cNvSpPr txBox="1"/>
          <p:nvPr/>
        </p:nvSpPr>
        <p:spPr>
          <a:xfrm>
            <a:off x="310896" y="6675120"/>
            <a:ext cx="9921240" cy="266098"/>
          </a:xfrm>
          <a:prstGeom prst="rect">
            <a:avLst/>
          </a:prstGeom>
          <a:noFill/>
        </p:spPr>
        <p:txBody>
          <a:bodyPr wrap="square" lIns="0" tIns="0" rIns="0" bIns="0" anchor="t">
            <a:spAutoFit/>
          </a:bodyPr>
          <a:lstStyle/>
          <a:p>
            <a:pPr algn="l">
              <a:lnSpc>
                <a:spcPct val="112000"/>
              </a:lnSpc>
              <a:spcAft>
                <a:spcPts val="100"/>
              </a:spcAft>
            </a:pPr>
            <a:r>
              <a:rPr sz="750" b="0" dirty="0">
                <a:solidFill>
                  <a:srgbClr val="5A6670"/>
                </a:solidFill>
                <a:latin typeface="游ゴシック" panose="020B0400000000000000" pitchFamily="50" charset="-128"/>
                <a:ea typeface="游ゴシック" panose="020B0400000000000000" pitchFamily="50" charset="-128"/>
                <a:cs typeface="游ゴシック"/>
              </a:rPr>
              <a:t>※ </a:t>
            </a:r>
            <a:r>
              <a:rPr sz="750" b="0" dirty="0" err="1">
                <a:solidFill>
                  <a:srgbClr val="5A6670"/>
                </a:solidFill>
                <a:latin typeface="游ゴシック" panose="020B0400000000000000" pitchFamily="50" charset="-128"/>
                <a:ea typeface="游ゴシック" panose="020B0400000000000000" pitchFamily="50" charset="-128"/>
                <a:cs typeface="游ゴシック"/>
              </a:rPr>
              <a:t>代表者経歴は著書『小川宣夫の蕎麦・饂飩指南』の著者略歴、ブランド・製法に関する記述は</a:t>
            </a:r>
            <a:r>
              <a:rPr sz="750" b="0" dirty="0">
                <a:solidFill>
                  <a:srgbClr val="5A6670"/>
                </a:solidFill>
                <a:latin typeface="游ゴシック" panose="020B0400000000000000" pitchFamily="50" charset="-128"/>
                <a:ea typeface="游ゴシック" panose="020B0400000000000000" pitchFamily="50" charset="-128"/>
                <a:cs typeface="游ゴシック"/>
              </a:rPr>
              <a:t> Japan Brand Collection 2026 </a:t>
            </a:r>
            <a:r>
              <a:rPr sz="750" b="0" dirty="0" err="1">
                <a:solidFill>
                  <a:srgbClr val="5A6670"/>
                </a:solidFill>
                <a:latin typeface="游ゴシック" panose="020B0400000000000000" pitchFamily="50" charset="-128"/>
                <a:ea typeface="游ゴシック" panose="020B0400000000000000" pitchFamily="50" charset="-128"/>
                <a:cs typeface="游ゴシック"/>
              </a:rPr>
              <a:t>茨城版に基づく</a:t>
            </a:r>
            <a:r>
              <a:rPr sz="750" b="0" dirty="0">
                <a:solidFill>
                  <a:srgbClr val="5A6670"/>
                </a:solidFill>
                <a:latin typeface="游ゴシック" panose="020B0400000000000000" pitchFamily="50" charset="-128"/>
                <a:ea typeface="游ゴシック" panose="020B0400000000000000" pitchFamily="50" charset="-128"/>
                <a:cs typeface="游ゴシック"/>
              </a:rPr>
              <a:t>。</a:t>
            </a:r>
          </a:p>
          <a:p>
            <a:pPr algn="l">
              <a:lnSpc>
                <a:spcPct val="112000"/>
              </a:lnSpc>
              <a:spcAft>
                <a:spcPts val="100"/>
              </a:spcAft>
            </a:pPr>
            <a:r>
              <a:rPr sz="750" b="0" dirty="0">
                <a:solidFill>
                  <a:srgbClr val="5A6670"/>
                </a:solidFill>
                <a:latin typeface="游ゴシック" panose="020B0400000000000000" pitchFamily="50" charset="-128"/>
                <a:ea typeface="游ゴシック" panose="020B0400000000000000" pitchFamily="50" charset="-128"/>
                <a:cs typeface="游ゴシック"/>
              </a:rPr>
              <a:t>※ </a:t>
            </a:r>
            <a:r>
              <a:rPr sz="750" b="0" dirty="0" err="1">
                <a:solidFill>
                  <a:srgbClr val="5A6670"/>
                </a:solidFill>
                <a:latin typeface="游ゴシック" panose="020B0400000000000000" pitchFamily="50" charset="-128"/>
                <a:ea typeface="游ゴシック" panose="020B0400000000000000" pitchFamily="50" charset="-128"/>
                <a:cs typeface="游ゴシック"/>
              </a:rPr>
              <a:t>受賞歴は店内に掲示された盾・楯・ステッカーの実査により確認。受賞記録の原本（表彰状等）は要確認</a:t>
            </a:r>
            <a:r>
              <a:rPr sz="750" b="0" dirty="0">
                <a:solidFill>
                  <a:srgbClr val="5A6670"/>
                </a:solidFill>
                <a:latin typeface="游ゴシック" panose="020B0400000000000000" pitchFamily="50" charset="-128"/>
                <a:ea typeface="游ゴシック" panose="020B0400000000000000" pitchFamily="50" charset="-128"/>
                <a:cs typeface="游ゴシック"/>
              </a:rPr>
              <a:t>。</a:t>
            </a:r>
          </a:p>
        </p:txBody>
      </p:sp>
    </p:spTree>
    <p:extLst>
      <p:ext uri="{BB962C8B-B14F-4D97-AF65-F5344CB8AC3E}">
        <p14:creationId xmlns:p14="http://schemas.microsoft.com/office/powerpoint/2010/main" val="2527513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a:latin typeface="游ゴシック"/>
                <a:ea typeface="游ゴシック"/>
                <a:cs typeface="游ゴシック"/>
              </a:rPr>
              <a:t>特徴</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事業概要</a:t>
            </a:r>
          </a:p>
        </p:txBody>
      </p:sp>
      <p:sp>
        <p:nvSpPr>
          <p:cNvPr id="4" name="Rectangle 3"/>
          <p:cNvSpPr/>
          <p:nvPr/>
        </p:nvSpPr>
        <p:spPr>
          <a:xfrm>
            <a:off x="448056" y="1124712"/>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448056" y="1124712"/>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49224" y="1472184"/>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游ゴシック"/>
                <a:ea typeface="游ゴシック"/>
                <a:cs typeface="游ゴシック"/>
              </a:rPr>
              <a:t>特徴</a:t>
            </a:r>
          </a:p>
        </p:txBody>
      </p:sp>
      <p:sp>
        <p:nvSpPr>
          <p:cNvPr id="7" name="TextBox 6"/>
          <p:cNvSpPr txBox="1"/>
          <p:nvPr/>
        </p:nvSpPr>
        <p:spPr>
          <a:xfrm>
            <a:off x="2112264" y="1380744"/>
            <a:ext cx="7918704" cy="310896"/>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模倣困難な垂直統合と全国区のブランド力</a:t>
            </a:r>
          </a:p>
        </p:txBody>
      </p:sp>
      <p:sp>
        <p:nvSpPr>
          <p:cNvPr id="8" name="TextBox 7"/>
          <p:cNvSpPr txBox="1"/>
          <p:nvPr/>
        </p:nvSpPr>
        <p:spPr>
          <a:xfrm>
            <a:off x="2112264" y="1783080"/>
            <a:ext cx="7918704" cy="832104"/>
          </a:xfrm>
          <a:prstGeom prst="rect">
            <a:avLst/>
          </a:prstGeom>
          <a:noFill/>
        </p:spPr>
        <p:txBody>
          <a:bodyPr wrap="square" lIns="0" tIns="0" r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栽培（焼畑）→ 一年熟成 → 石臼自家製粉 → 手打ち までを自社で完結。食べログ百名店・TABELOG AWARD Bronze（2022・2023）に加え、</a:t>
            </a:r>
          </a:p>
          <a:p>
            <a:pPr algn="l">
              <a:lnSpc>
                <a:spcPct val="122000"/>
              </a:lnSpc>
              <a:spcAft>
                <a:spcPts val="0"/>
              </a:spcAft>
            </a:pPr>
            <a:r>
              <a:rPr sz="1050" b="0">
                <a:solidFill>
                  <a:srgbClr val="1A1A1A"/>
                </a:solidFill>
                <a:latin typeface="游ゴシック"/>
                <a:ea typeface="游ゴシック"/>
                <a:cs typeface="游ゴシック"/>
              </a:rPr>
              <a:t>打心蕎庵・玉笑など同業の有名店が玄そば・蕎麦粉を仕入れに訪れる水準の評価を得ている。</a:t>
            </a:r>
          </a:p>
        </p:txBody>
      </p:sp>
      <p:sp>
        <p:nvSpPr>
          <p:cNvPr id="9" name="Rectangle 8"/>
          <p:cNvSpPr/>
          <p:nvPr/>
        </p:nvSpPr>
        <p:spPr>
          <a:xfrm>
            <a:off x="448056" y="3127248"/>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8056" y="3127248"/>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649224" y="3474720"/>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游ゴシック"/>
                <a:ea typeface="游ゴシック"/>
                <a:cs typeface="游ゴシック"/>
              </a:rPr>
              <a:t>強み</a:t>
            </a:r>
          </a:p>
        </p:txBody>
      </p:sp>
      <p:sp>
        <p:nvSpPr>
          <p:cNvPr id="12" name="TextBox 11"/>
          <p:cNvSpPr txBox="1"/>
          <p:nvPr/>
        </p:nvSpPr>
        <p:spPr>
          <a:xfrm>
            <a:off x="2112264" y="3383280"/>
            <a:ext cx="7918704" cy="310896"/>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賃料・金融機関借入の負担がない資産構成</a:t>
            </a:r>
          </a:p>
        </p:txBody>
      </p:sp>
      <p:sp>
        <p:nvSpPr>
          <p:cNvPr id="13" name="TextBox 12"/>
          <p:cNvSpPr txBox="1"/>
          <p:nvPr/>
        </p:nvSpPr>
        <p:spPr>
          <a:xfrm>
            <a:off x="2112264" y="3785615"/>
            <a:ext cx="7918704" cy="832104"/>
          </a:xfrm>
          <a:prstGeom prst="rect">
            <a:avLst/>
          </a:prstGeom>
          <a:noFill/>
        </p:spPr>
        <p:txBody>
          <a:bodyPr wrap="square" lIns="0" tIns="0" r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板倉造・茅葺きの自社建物（取得価額104,599千円）と土地を保有し、賃料負担はゼロ。金融機関借入もなく、負債33,673千円の</a:t>
            </a:r>
          </a:p>
          <a:p>
            <a:pPr algn="l">
              <a:lnSpc>
                <a:spcPct val="122000"/>
              </a:lnSpc>
              <a:spcAft>
                <a:spcPts val="0"/>
              </a:spcAft>
            </a:pPr>
            <a:r>
              <a:rPr sz="1050" b="0">
                <a:solidFill>
                  <a:srgbClr val="1A1A1A"/>
                </a:solidFill>
                <a:latin typeface="游ゴシック"/>
                <a:ea typeface="游ゴシック"/>
                <a:cs typeface="游ゴシック"/>
              </a:rPr>
              <a:t>うち32,744千円は代表者・配偶者からの無利息借入。「慈久庵」「古式けんちんそば」の商標も登録済（4件）。</a:t>
            </a:r>
          </a:p>
        </p:txBody>
      </p:sp>
      <p:sp>
        <p:nvSpPr>
          <p:cNvPr id="14" name="Rectangle 13"/>
          <p:cNvSpPr/>
          <p:nvPr/>
        </p:nvSpPr>
        <p:spPr>
          <a:xfrm>
            <a:off x="448056" y="5129783"/>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448056" y="5129783"/>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49224" y="5477255"/>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游ゴシック"/>
                <a:ea typeface="游ゴシック"/>
                <a:cs typeface="游ゴシック"/>
              </a:rPr>
              <a:t>成長性</a:t>
            </a:r>
          </a:p>
        </p:txBody>
      </p:sp>
      <p:sp>
        <p:nvSpPr>
          <p:cNvPr id="17" name="TextBox 16"/>
          <p:cNvSpPr txBox="1"/>
          <p:nvPr/>
        </p:nvSpPr>
        <p:spPr>
          <a:xfrm>
            <a:off x="2112264" y="5385816"/>
            <a:ext cx="7918704" cy="310896"/>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週4日・昼のみという稼働余地と、商品・多店舗への展開余地</a:t>
            </a:r>
          </a:p>
        </p:txBody>
      </p:sp>
      <p:sp>
        <p:nvSpPr>
          <p:cNvPr id="18" name="TextBox 17"/>
          <p:cNvSpPr txBox="1"/>
          <p:nvPr/>
        </p:nvSpPr>
        <p:spPr>
          <a:xfrm>
            <a:off x="2112264" y="5788151"/>
            <a:ext cx="7918704" cy="832104"/>
          </a:xfrm>
          <a:prstGeom prst="rect">
            <a:avLst/>
          </a:prstGeom>
          <a:noFill/>
        </p:spPr>
        <p:txBody>
          <a:bodyPr wrap="square" lIns="0" tIns="0" r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営業は金・土・日・月の11:30〜14:30のみ（年間200日）。営業日・営業時間の拡大が最も直接的な打ち手となる。</a:t>
            </a:r>
          </a:p>
          <a:p>
            <a:pPr algn="l">
              <a:lnSpc>
                <a:spcPct val="122000"/>
              </a:lnSpc>
              <a:spcAft>
                <a:spcPts val="0"/>
              </a:spcAft>
            </a:pPr>
            <a:r>
              <a:rPr sz="1050" b="0">
                <a:solidFill>
                  <a:srgbClr val="1A1A1A"/>
                </a:solidFill>
                <a:latin typeface="游ゴシック"/>
                <a:ea typeface="游ゴシック"/>
                <a:cs typeface="游ゴシック"/>
              </a:rPr>
              <a:t>通信販売は696→1,020千円と伸長中で、ふるさと納税返礼品にも採用済。過去に弟子へ店舗を承継した実績があり暖簾分けの素地もある。</a:t>
            </a:r>
          </a:p>
        </p:txBody>
      </p:sp>
      <p:sp>
        <p:nvSpPr>
          <p:cNvPr id="19" name="TextBox 18"/>
          <p:cNvSpPr txBox="1"/>
          <p:nvPr/>
        </p:nvSpPr>
        <p:spPr>
          <a:xfrm>
            <a:off x="310896" y="691286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「強み」「成長性」は弊社の評価であり、将来の業績を保証するものではありません。営業日拡大の効果試算は P.19 に記載。</a:t>
            </a:r>
          </a:p>
        </p:txBody>
      </p:sp>
    </p:spTree>
    <p:extLst>
      <p:ext uri="{BB962C8B-B14F-4D97-AF65-F5344CB8AC3E}">
        <p14:creationId xmlns:p14="http://schemas.microsoft.com/office/powerpoint/2010/main" val="272108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そばづくりの工程</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畑から器までの6工程を自社で完結。とりわけ「一年寝かせる」工程は、設備を買っても時間を買えないため、新規参入者が最も再現しにくい</a:t>
            </a:r>
            <a:endParaRPr lang="en-US" altLang="ja-JP" dirty="0"/>
          </a:p>
        </p:txBody>
      </p:sp>
      <p:sp>
        <p:nvSpPr>
          <p:cNvPr id="14" name="Rectangle 13"/>
          <p:cNvSpPr/>
          <p:nvPr/>
        </p:nvSpPr>
        <p:spPr>
          <a:xfrm>
            <a:off x="310896" y="1426464"/>
            <a:ext cx="1517904" cy="1481328"/>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310896" y="1426464"/>
            <a:ext cx="50292" cy="148132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457200"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① 原料調達</a:t>
            </a:r>
          </a:p>
        </p:txBody>
      </p:sp>
      <p:sp>
        <p:nvSpPr>
          <p:cNvPr id="17" name="TextBox 16"/>
          <p:cNvSpPr txBox="1"/>
          <p:nvPr/>
        </p:nvSpPr>
        <p:spPr>
          <a:xfrm>
            <a:off x="457200"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玄そばの最高峰とされる地元産「常陸秋そば」を、農家を応援する意味合いから高値で買い取り。代表者自ら畑にも従事。</a:t>
            </a:r>
          </a:p>
        </p:txBody>
      </p:sp>
      <p:sp>
        <p:nvSpPr>
          <p:cNvPr id="18" name="TextBox 17"/>
          <p:cNvSpPr txBox="1"/>
          <p:nvPr/>
        </p:nvSpPr>
        <p:spPr>
          <a:xfrm>
            <a:off x="1828800" y="2066544"/>
            <a:ext cx="182880" cy="201168"/>
          </a:xfrm>
          <a:prstGeom prst="rect">
            <a:avLst/>
          </a:prstGeom>
          <a:noFill/>
        </p:spPr>
        <p:txBody>
          <a:bodyPr wrap="square" lIns="0" tIns="0" rIns="0" bIns="0" anchor="t">
            <a:spAutoFit/>
          </a:bodyPr>
          <a:lstStyle/>
          <a:p>
            <a:pPr algn="ctr">
              <a:spcAft>
                <a:spcPts val="0"/>
              </a:spcAft>
            </a:pPr>
            <a:r>
              <a:rPr sz="1000" b="1">
                <a:solidFill>
                  <a:srgbClr val="0889C9"/>
                </a:solidFill>
                <a:latin typeface="Arial"/>
                <a:ea typeface="Arial"/>
                <a:cs typeface="Arial"/>
              </a:rPr>
              <a:t>▶</a:t>
            </a:r>
          </a:p>
        </p:txBody>
      </p:sp>
      <p:sp>
        <p:nvSpPr>
          <p:cNvPr id="19" name="Rectangle 18"/>
          <p:cNvSpPr/>
          <p:nvPr/>
        </p:nvSpPr>
        <p:spPr>
          <a:xfrm>
            <a:off x="2011679"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2011679"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2157984"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② 焼畑栽培</a:t>
            </a:r>
          </a:p>
        </p:txBody>
      </p:sp>
      <p:sp>
        <p:nvSpPr>
          <p:cNvPr id="22" name="TextBox 21"/>
          <p:cNvSpPr txBox="1"/>
          <p:nvPr/>
        </p:nvSpPr>
        <p:spPr>
          <a:xfrm>
            <a:off x="2157984"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国内でも希少となった焼き畑農法を再興して24年。放棄されていた土地を再生し、茎が太く生命力に満ちたそばを収穫。</a:t>
            </a:r>
          </a:p>
        </p:txBody>
      </p:sp>
      <p:sp>
        <p:nvSpPr>
          <p:cNvPr id="23" name="TextBox 22"/>
          <p:cNvSpPr txBox="1"/>
          <p:nvPr/>
        </p:nvSpPr>
        <p:spPr>
          <a:xfrm>
            <a:off x="3529583" y="2066544"/>
            <a:ext cx="182880" cy="201168"/>
          </a:xfrm>
          <a:prstGeom prst="rect">
            <a:avLst/>
          </a:prstGeom>
          <a:noFill/>
        </p:spPr>
        <p:txBody>
          <a:bodyPr wrap="square" lIns="0" tIns="0" rIns="0" bIns="0" anchor="t">
            <a:spAutoFit/>
          </a:bodyPr>
          <a:lstStyle/>
          <a:p>
            <a:pPr algn="ctr">
              <a:spcAft>
                <a:spcPts val="0"/>
              </a:spcAft>
            </a:pPr>
            <a:r>
              <a:rPr sz="1000" b="1">
                <a:solidFill>
                  <a:srgbClr val="0889C9"/>
                </a:solidFill>
                <a:latin typeface="Arial"/>
                <a:ea typeface="Arial"/>
                <a:cs typeface="Arial"/>
              </a:rPr>
              <a:t>▶</a:t>
            </a:r>
          </a:p>
        </p:txBody>
      </p:sp>
      <p:sp>
        <p:nvSpPr>
          <p:cNvPr id="24" name="Rectangle 23"/>
          <p:cNvSpPr/>
          <p:nvPr/>
        </p:nvSpPr>
        <p:spPr>
          <a:xfrm>
            <a:off x="3712463"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712463"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3858768"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③ 一年熟成</a:t>
            </a:r>
          </a:p>
        </p:txBody>
      </p:sp>
      <p:sp>
        <p:nvSpPr>
          <p:cNvPr id="27" name="TextBox 26"/>
          <p:cNvSpPr txBox="1"/>
          <p:nvPr/>
        </p:nvSpPr>
        <p:spPr>
          <a:xfrm>
            <a:off x="3858768"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収穫した玄そばを一年間寝かせてから使用。同一品種でも畑により性質が異なるため、畑ごとに袋を分けて管理。</a:t>
            </a:r>
          </a:p>
        </p:txBody>
      </p:sp>
      <p:sp>
        <p:nvSpPr>
          <p:cNvPr id="28" name="TextBox 27"/>
          <p:cNvSpPr txBox="1"/>
          <p:nvPr/>
        </p:nvSpPr>
        <p:spPr>
          <a:xfrm>
            <a:off x="5230368" y="2066544"/>
            <a:ext cx="182880" cy="201168"/>
          </a:xfrm>
          <a:prstGeom prst="rect">
            <a:avLst/>
          </a:prstGeom>
          <a:noFill/>
        </p:spPr>
        <p:txBody>
          <a:bodyPr wrap="square" lIns="0" tIns="0" rIns="0" bIns="0" anchor="t">
            <a:spAutoFit/>
          </a:bodyPr>
          <a:lstStyle/>
          <a:p>
            <a:pPr algn="ctr">
              <a:spcAft>
                <a:spcPts val="0"/>
              </a:spcAft>
            </a:pPr>
            <a:r>
              <a:rPr sz="1000" b="1">
                <a:solidFill>
                  <a:srgbClr val="0889C9"/>
                </a:solidFill>
                <a:latin typeface="Arial"/>
                <a:ea typeface="Arial"/>
                <a:cs typeface="Arial"/>
              </a:rPr>
              <a:t>▶</a:t>
            </a:r>
          </a:p>
        </p:txBody>
      </p:sp>
      <p:sp>
        <p:nvSpPr>
          <p:cNvPr id="29" name="Rectangle 28"/>
          <p:cNvSpPr/>
          <p:nvPr/>
        </p:nvSpPr>
        <p:spPr>
          <a:xfrm>
            <a:off x="5413248"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5413248"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559552"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④ 石臼自家製粉</a:t>
            </a:r>
          </a:p>
        </p:txBody>
      </p:sp>
      <p:sp>
        <p:nvSpPr>
          <p:cNvPr id="32" name="TextBox 31"/>
          <p:cNvSpPr txBox="1"/>
          <p:nvPr/>
        </p:nvSpPr>
        <p:spPr>
          <a:xfrm>
            <a:off x="5559552"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寝かせた粉と新しい粉をブレンドして石臼で自家製粉。製粉機は電動・木製の石臼を併せて保有。</a:t>
            </a:r>
          </a:p>
        </p:txBody>
      </p:sp>
      <p:sp>
        <p:nvSpPr>
          <p:cNvPr id="33" name="TextBox 32"/>
          <p:cNvSpPr txBox="1"/>
          <p:nvPr/>
        </p:nvSpPr>
        <p:spPr>
          <a:xfrm>
            <a:off x="6931152" y="2066544"/>
            <a:ext cx="182880" cy="201168"/>
          </a:xfrm>
          <a:prstGeom prst="rect">
            <a:avLst/>
          </a:prstGeom>
          <a:noFill/>
        </p:spPr>
        <p:txBody>
          <a:bodyPr wrap="square" lIns="0" tIns="0" rIns="0" bIns="0" anchor="t">
            <a:spAutoFit/>
          </a:bodyPr>
          <a:lstStyle/>
          <a:p>
            <a:pPr algn="ctr">
              <a:spcAft>
                <a:spcPts val="0"/>
              </a:spcAft>
            </a:pPr>
            <a:r>
              <a:rPr sz="1000" b="1">
                <a:solidFill>
                  <a:srgbClr val="0889C9"/>
                </a:solidFill>
                <a:latin typeface="Arial"/>
                <a:ea typeface="Arial"/>
                <a:cs typeface="Arial"/>
              </a:rPr>
              <a:t>▶</a:t>
            </a:r>
          </a:p>
        </p:txBody>
      </p:sp>
      <p:sp>
        <p:nvSpPr>
          <p:cNvPr id="34" name="Rectangle 33"/>
          <p:cNvSpPr/>
          <p:nvPr/>
        </p:nvSpPr>
        <p:spPr>
          <a:xfrm>
            <a:off x="7114031"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7114031"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7260336"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⑤ 手打ち</a:t>
            </a:r>
          </a:p>
        </p:txBody>
      </p:sp>
      <p:sp>
        <p:nvSpPr>
          <p:cNvPr id="37" name="TextBox 36"/>
          <p:cNvSpPr txBox="1"/>
          <p:nvPr/>
        </p:nvSpPr>
        <p:spPr>
          <a:xfrm>
            <a:off x="7260336"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基本は九一。「ホシ」と呼ばれる黒い斑点が浮かぶ粗挽き蕎麦が看板。そば打ち台2台を保有。</a:t>
            </a:r>
          </a:p>
        </p:txBody>
      </p:sp>
      <p:sp>
        <p:nvSpPr>
          <p:cNvPr id="38" name="TextBox 37"/>
          <p:cNvSpPr txBox="1"/>
          <p:nvPr/>
        </p:nvSpPr>
        <p:spPr>
          <a:xfrm>
            <a:off x="8631936" y="2066544"/>
            <a:ext cx="182880" cy="201168"/>
          </a:xfrm>
          <a:prstGeom prst="rect">
            <a:avLst/>
          </a:prstGeom>
          <a:noFill/>
        </p:spPr>
        <p:txBody>
          <a:bodyPr wrap="square" lIns="0" tIns="0" rIns="0" bIns="0" anchor="t">
            <a:spAutoFit/>
          </a:bodyPr>
          <a:lstStyle/>
          <a:p>
            <a:pPr algn="ctr">
              <a:spcAft>
                <a:spcPts val="0"/>
              </a:spcAft>
            </a:pPr>
            <a:r>
              <a:rPr sz="1000" b="1">
                <a:solidFill>
                  <a:srgbClr val="0889C9"/>
                </a:solidFill>
                <a:latin typeface="Arial"/>
                <a:ea typeface="Arial"/>
                <a:cs typeface="Arial"/>
              </a:rPr>
              <a:t>▶</a:t>
            </a:r>
          </a:p>
        </p:txBody>
      </p:sp>
      <p:sp>
        <p:nvSpPr>
          <p:cNvPr id="39" name="Rectangle 38"/>
          <p:cNvSpPr/>
          <p:nvPr/>
        </p:nvSpPr>
        <p:spPr>
          <a:xfrm>
            <a:off x="8814815" y="1426464"/>
            <a:ext cx="1517904" cy="1481328"/>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8814815" y="1426464"/>
            <a:ext cx="50292" cy="148132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8961119" y="1517904"/>
            <a:ext cx="1243584"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⑥ 提供・卸</a:t>
            </a:r>
          </a:p>
        </p:txBody>
      </p:sp>
      <p:sp>
        <p:nvSpPr>
          <p:cNvPr id="42" name="TextBox 41"/>
          <p:cNvSpPr txBox="1"/>
          <p:nvPr/>
        </p:nvSpPr>
        <p:spPr>
          <a:xfrm>
            <a:off x="8961119" y="1792224"/>
            <a:ext cx="1243584" cy="1024128"/>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店頭は週4日・昼のみの売り切りじまい。併せて同業の有名店・パン店へ玄そば・粉を供給。</a:t>
            </a:r>
          </a:p>
        </p:txBody>
      </p:sp>
      <p:sp>
        <p:nvSpPr>
          <p:cNvPr id="43" name="Rectangle 42"/>
          <p:cNvSpPr/>
          <p:nvPr/>
        </p:nvSpPr>
        <p:spPr>
          <a:xfrm>
            <a:off x="310896" y="32004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模倣困難性 ― 設備を買っても再現できないもの</a:t>
            </a:r>
          </a:p>
        </p:txBody>
      </p:sp>
      <p:sp>
        <p:nvSpPr>
          <p:cNvPr id="44" name="Rectangle 43"/>
          <p:cNvSpPr/>
          <p:nvPr/>
        </p:nvSpPr>
        <p:spPr>
          <a:xfrm>
            <a:off x="310896"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310896"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475488" y="3767328"/>
            <a:ext cx="2953512" cy="237744"/>
          </a:xfrm>
          <a:prstGeom prst="rect">
            <a:avLst/>
          </a:prstGeom>
          <a:noFill/>
        </p:spPr>
        <p:txBody>
          <a:bodyPr wrap="square" lIns="0" tIns="0" rIns="0" bIns="0" anchor="t">
            <a:spAutoFit/>
          </a:bodyPr>
          <a:lstStyle/>
          <a:p>
            <a:pPr algn="l">
              <a:spcAft>
                <a:spcPts val="0"/>
              </a:spcAft>
            </a:pPr>
            <a:r>
              <a:rPr sz="1200" b="1">
                <a:solidFill>
                  <a:srgbClr val="0B3041"/>
                </a:solidFill>
                <a:latin typeface="游ゴシック"/>
                <a:ea typeface="游ゴシック"/>
                <a:cs typeface="游ゴシック"/>
              </a:rPr>
              <a:t>時間</a:t>
            </a:r>
          </a:p>
        </p:txBody>
      </p:sp>
      <p:sp>
        <p:nvSpPr>
          <p:cNvPr id="47" name="TextBox 46"/>
          <p:cNvSpPr txBox="1"/>
          <p:nvPr/>
        </p:nvSpPr>
        <p:spPr>
          <a:xfrm>
            <a:off x="475488" y="4078224"/>
            <a:ext cx="2953512" cy="1097280"/>
          </a:xfrm>
          <a:prstGeom prst="rect">
            <a:avLst/>
          </a:prstGeom>
          <a:noFill/>
        </p:spPr>
        <p:txBody>
          <a:bodyPr wrap="square" lIns="0" tIns="0" r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そばは一年寝かせてから使うため、仕入れた玄そばはその年には使えない。期末の棚卸資産2,354千円は、そのまま「1年分の時間」を先に負担した在庫であり、新規参入者は開業時にこの1年を買うことができない。</a:t>
            </a:r>
          </a:p>
        </p:txBody>
      </p:sp>
      <p:sp>
        <p:nvSpPr>
          <p:cNvPr id="48" name="Rectangle 47"/>
          <p:cNvSpPr/>
          <p:nvPr/>
        </p:nvSpPr>
        <p:spPr>
          <a:xfrm>
            <a:off x="3712463"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ectangle 48"/>
          <p:cNvSpPr/>
          <p:nvPr/>
        </p:nvSpPr>
        <p:spPr>
          <a:xfrm>
            <a:off x="3712463"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3877055" y="3767328"/>
            <a:ext cx="2953512" cy="237744"/>
          </a:xfrm>
          <a:prstGeom prst="rect">
            <a:avLst/>
          </a:prstGeom>
          <a:noFill/>
        </p:spPr>
        <p:txBody>
          <a:bodyPr wrap="square" lIns="0" tIns="0" rIns="0" bIns="0" anchor="t">
            <a:spAutoFit/>
          </a:bodyPr>
          <a:lstStyle/>
          <a:p>
            <a:pPr algn="l">
              <a:spcAft>
                <a:spcPts val="0"/>
              </a:spcAft>
            </a:pPr>
            <a:r>
              <a:rPr sz="1200" b="1">
                <a:solidFill>
                  <a:srgbClr val="0B3041"/>
                </a:solidFill>
                <a:latin typeface="游ゴシック"/>
                <a:ea typeface="游ゴシック"/>
                <a:cs typeface="游ゴシック"/>
              </a:rPr>
              <a:t>関係</a:t>
            </a:r>
          </a:p>
        </p:txBody>
      </p:sp>
      <p:sp>
        <p:nvSpPr>
          <p:cNvPr id="51" name="TextBox 50"/>
          <p:cNvSpPr txBox="1"/>
          <p:nvPr/>
        </p:nvSpPr>
        <p:spPr>
          <a:xfrm>
            <a:off x="3877055" y="4078224"/>
            <a:ext cx="2953512" cy="1097280"/>
          </a:xfrm>
          <a:prstGeom prst="rect">
            <a:avLst/>
          </a:prstGeom>
          <a:noFill/>
        </p:spPr>
        <p:txBody>
          <a:bodyPr wrap="square" lIns="0" tIns="0" r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常陸秋そばの買付は、価格条件ではなく地元生産者との関係に支えられている。代表者は農家を応援する意味合いから高値で買い取る方針を続けており、原料の安定調達はこの関係性そのものに依存している（承継方法は要確認）。</a:t>
            </a:r>
          </a:p>
        </p:txBody>
      </p:sp>
      <p:sp>
        <p:nvSpPr>
          <p:cNvPr id="52" name="Rectangle 51"/>
          <p:cNvSpPr/>
          <p:nvPr/>
        </p:nvSpPr>
        <p:spPr>
          <a:xfrm>
            <a:off x="7114031"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Rectangle 52"/>
          <p:cNvSpPr/>
          <p:nvPr/>
        </p:nvSpPr>
        <p:spPr>
          <a:xfrm>
            <a:off x="7114031"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7278623" y="3767328"/>
            <a:ext cx="2953512" cy="237744"/>
          </a:xfrm>
          <a:prstGeom prst="rect">
            <a:avLst/>
          </a:prstGeom>
          <a:noFill/>
        </p:spPr>
        <p:txBody>
          <a:bodyPr wrap="square" lIns="0" tIns="0" rIns="0" bIns="0" anchor="t">
            <a:spAutoFit/>
          </a:bodyPr>
          <a:lstStyle/>
          <a:p>
            <a:pPr algn="l">
              <a:spcAft>
                <a:spcPts val="0"/>
              </a:spcAft>
            </a:pPr>
            <a:r>
              <a:rPr sz="1200" b="1">
                <a:solidFill>
                  <a:srgbClr val="0B3041"/>
                </a:solidFill>
                <a:latin typeface="游ゴシック"/>
                <a:ea typeface="游ゴシック"/>
                <a:cs typeface="游ゴシック"/>
              </a:rPr>
              <a:t>評価</a:t>
            </a:r>
          </a:p>
        </p:txBody>
      </p:sp>
      <p:sp>
        <p:nvSpPr>
          <p:cNvPr id="55" name="TextBox 54"/>
          <p:cNvSpPr txBox="1"/>
          <p:nvPr/>
        </p:nvSpPr>
        <p:spPr>
          <a:xfrm>
            <a:off x="7278623" y="4078224"/>
            <a:ext cx="2953512" cy="1097280"/>
          </a:xfrm>
          <a:prstGeom prst="rect">
            <a:avLst/>
          </a:prstGeom>
          <a:noFill/>
        </p:spPr>
        <p:txBody>
          <a:bodyPr wrap="square" lIns="0" tIns="0" r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打心蕎庵・玉笑といった同業の有名店が玄そば・蕎麦粉を仕入れに訪れ、石臼挽き小麦粉はキビヤベーカリー（1,865千円）・ルヴァン（231千円）へ供給。一般消費者だけでなく「つくり手」から選ばれている点が評価の裏付けとなる。</a:t>
            </a:r>
          </a:p>
        </p:txBody>
      </p:sp>
      <p:sp>
        <p:nvSpPr>
          <p:cNvPr id="56" name="Rounded Rectangle 55"/>
          <p:cNvSpPr/>
          <p:nvPr/>
        </p:nvSpPr>
        <p:spPr>
          <a:xfrm>
            <a:off x="310896" y="5486400"/>
            <a:ext cx="10067544" cy="713232"/>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Rounded Rectangle 56"/>
          <p:cNvSpPr/>
          <p:nvPr/>
        </p:nvSpPr>
        <p:spPr>
          <a:xfrm>
            <a:off x="310896" y="5486400"/>
            <a:ext cx="1417320" cy="713232"/>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TextBox 57"/>
          <p:cNvSpPr txBox="1"/>
          <p:nvPr/>
        </p:nvSpPr>
        <p:spPr>
          <a:xfrm>
            <a:off x="402336" y="5733288"/>
            <a:ext cx="1271016" cy="219456"/>
          </a:xfrm>
          <a:prstGeom prst="rect">
            <a:avLst/>
          </a:prstGeom>
          <a:noFill/>
        </p:spPr>
        <p:txBody>
          <a:bodyPr wrap="square" lIns="0" tIns="0" r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59" name="Oval 58"/>
          <p:cNvSpPr/>
          <p:nvPr/>
        </p:nvSpPr>
        <p:spPr>
          <a:xfrm>
            <a:off x="1883664"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60" name="TextBox 59"/>
          <p:cNvSpPr txBox="1"/>
          <p:nvPr/>
        </p:nvSpPr>
        <p:spPr>
          <a:xfrm>
            <a:off x="2194560" y="5650992"/>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一年熟成と畑別管理により、原料在庫がそのまま参入コストになる</a:t>
            </a:r>
          </a:p>
        </p:txBody>
      </p:sp>
      <p:sp>
        <p:nvSpPr>
          <p:cNvPr id="61" name="Oval 60"/>
          <p:cNvSpPr/>
          <p:nvPr/>
        </p:nvSpPr>
        <p:spPr>
          <a:xfrm>
            <a:off x="4715256"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62" name="TextBox 61"/>
          <p:cNvSpPr txBox="1"/>
          <p:nvPr/>
        </p:nvSpPr>
        <p:spPr>
          <a:xfrm>
            <a:off x="5026151" y="5650992"/>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原料調達は価格ではなく地元生産者との関係に依存（承継方法は要確認）</a:t>
            </a:r>
          </a:p>
        </p:txBody>
      </p:sp>
      <p:sp>
        <p:nvSpPr>
          <p:cNvPr id="63" name="Oval 62"/>
          <p:cNvSpPr/>
          <p:nvPr/>
        </p:nvSpPr>
        <p:spPr>
          <a:xfrm>
            <a:off x="7546847"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64" name="TextBox 63"/>
          <p:cNvSpPr txBox="1"/>
          <p:nvPr/>
        </p:nvSpPr>
        <p:spPr>
          <a:xfrm>
            <a:off x="7857743" y="5650992"/>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同業の名店・ベーカリーが仕入先として選ぶ水準の品質評価</a:t>
            </a:r>
          </a:p>
        </p:txBody>
      </p:sp>
      <p:sp>
        <p:nvSpPr>
          <p:cNvPr id="65" name="TextBox 64"/>
          <p:cNvSpPr txBox="1"/>
          <p:nvPr/>
        </p:nvSpPr>
        <p:spPr>
          <a:xfrm>
            <a:off x="310896" y="640080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製法・栽培に関する記述は Japan Brand Collection 2026 茨城版および面談ヒアリングに基づく弊社の整理です。</a:t>
            </a:r>
          </a:p>
          <a:p>
            <a:pPr algn="l">
              <a:lnSpc>
                <a:spcPct val="112000"/>
              </a:lnSpc>
              <a:spcAft>
                <a:spcPts val="100"/>
              </a:spcAft>
            </a:pPr>
            <a:r>
              <a:rPr sz="750" b="0">
                <a:solidFill>
                  <a:srgbClr val="5A6670"/>
                </a:solidFill>
                <a:latin typeface="游ゴシック"/>
                <a:ea typeface="游ゴシック"/>
                <a:cs typeface="游ゴシック"/>
              </a:rPr>
              <a:t>※ 自家栽培の面積・収穫量・農地の権利関係、焼き畑の現況は要確認（P.38）。大規模栽培は中止し、地元産玄そばの適正価格での仕入に方針転換済とのことです。</a:t>
            </a:r>
          </a:p>
        </p:txBody>
      </p:sp>
      <p:sp>
        <p:nvSpPr>
          <p:cNvPr id="3" name="タイトル 1">
            <a:extLst>
              <a:ext uri="{FF2B5EF4-FFF2-40B4-BE49-F238E27FC236}">
                <a16:creationId xmlns:a16="http://schemas.microsoft.com/office/drawing/2014/main" id="{10D8EE1C-9C83-35C9-90DB-50D631A6515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売上区分別売上高</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減収は店頭飲食（4期で△6,157千円）と商品売上（同△2,202千円）が主因。石臼挽き小麦粉の卸売と通信販売はむしろ増加</a:t>
            </a:r>
            <a:endParaRPr lang="en-US" altLang="ja-JP" dirty="0"/>
          </a:p>
        </p:txBody>
      </p:sp>
      <p:graphicFrame>
        <p:nvGraphicFramePr>
          <p:cNvPr id="14" name="Table 13"/>
          <p:cNvGraphicFramePr>
            <a:graphicFrameLocks noGrp="1"/>
          </p:cNvGraphicFramePr>
          <p:nvPr/>
        </p:nvGraphicFramePr>
        <p:xfrm>
          <a:off x="310896" y="1408176"/>
          <a:ext cx="9921236" cy="1627632"/>
        </p:xfrm>
        <a:graphic>
          <a:graphicData uri="http://schemas.openxmlformats.org/drawingml/2006/table">
            <a:tbl>
              <a:tblPr>
                <a:tableStyleId>{5940675A-B579-460E-94D1-54222C63F5DA}</a:tableStyleId>
              </a:tblPr>
              <a:tblGrid>
                <a:gridCol w="2174802">
                  <a:extLst>
                    <a:ext uri="{9D8B030D-6E8A-4147-A177-3AD203B41FA5}">
                      <a16:colId xmlns:a16="http://schemas.microsoft.com/office/drawing/2014/main" val="20000"/>
                    </a:ext>
                  </a:extLst>
                </a:gridCol>
                <a:gridCol w="1325593">
                  <a:extLst>
                    <a:ext uri="{9D8B030D-6E8A-4147-A177-3AD203B41FA5}">
                      <a16:colId xmlns:a16="http://schemas.microsoft.com/office/drawing/2014/main" val="20001"/>
                    </a:ext>
                  </a:extLst>
                </a:gridCol>
                <a:gridCol w="1325593">
                  <a:extLst>
                    <a:ext uri="{9D8B030D-6E8A-4147-A177-3AD203B41FA5}">
                      <a16:colId xmlns:a16="http://schemas.microsoft.com/office/drawing/2014/main" val="20002"/>
                    </a:ext>
                  </a:extLst>
                </a:gridCol>
                <a:gridCol w="1325593">
                  <a:extLst>
                    <a:ext uri="{9D8B030D-6E8A-4147-A177-3AD203B41FA5}">
                      <a16:colId xmlns:a16="http://schemas.microsoft.com/office/drawing/2014/main" val="20003"/>
                    </a:ext>
                  </a:extLst>
                </a:gridCol>
                <a:gridCol w="1325593">
                  <a:extLst>
                    <a:ext uri="{9D8B030D-6E8A-4147-A177-3AD203B41FA5}">
                      <a16:colId xmlns:a16="http://schemas.microsoft.com/office/drawing/2014/main" val="20004"/>
                    </a:ext>
                  </a:extLst>
                </a:gridCol>
                <a:gridCol w="1325593">
                  <a:extLst>
                    <a:ext uri="{9D8B030D-6E8A-4147-A177-3AD203B41FA5}">
                      <a16:colId xmlns:a16="http://schemas.microsoft.com/office/drawing/2014/main" val="20005"/>
                    </a:ext>
                  </a:extLst>
                </a:gridCol>
                <a:gridCol w="1118469">
                  <a:extLst>
                    <a:ext uri="{9D8B030D-6E8A-4147-A177-3AD203B41FA5}">
                      <a16:colId xmlns:a16="http://schemas.microsoft.com/office/drawing/2014/main" val="20006"/>
                    </a:ext>
                  </a:extLst>
                </a:gridCol>
              </a:tblGrid>
              <a:tr h="256032">
                <a:tc>
                  <a:txBody>
                    <a:bodyPr/>
                    <a:lstStyle/>
                    <a:p>
                      <a:pPr algn="ctr">
                        <a:spcAft>
                          <a:spcPts val="0"/>
                        </a:spcAft>
                      </a:pPr>
                      <a:r>
                        <a:rPr sz="90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2022/5期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2023/5期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22年比</a:t>
                      </a:r>
                    </a:p>
                  </a:txBody>
                  <a:tcPr marL="45720" marR="45720" marT="9144" marB="9144" anchor="ctr">
                    <a:solidFill>
                      <a:srgbClr val="0B3041"/>
                    </a:solidFill>
                  </a:tcPr>
                </a:tc>
                <a:extLst>
                  <a:ext uri="{0D108BD9-81ED-4DB2-BD59-A6C34878D82A}">
                    <a16:rowId xmlns:a16="http://schemas.microsoft.com/office/drawing/2014/main" val="10000"/>
                  </a:ext>
                </a:extLst>
              </a:tr>
              <a:tr h="274320">
                <a:tc>
                  <a:txBody>
                    <a:bodyPr/>
                    <a:lstStyle/>
                    <a:p>
                      <a:pPr algn="l">
                        <a:spcAft>
                          <a:spcPts val="0"/>
                        </a:spcAft>
                      </a:pPr>
                      <a:r>
                        <a:rPr sz="900" b="0">
                          <a:solidFill>
                            <a:srgbClr val="1A1A1A"/>
                          </a:solidFill>
                          <a:latin typeface="游ゴシック"/>
                          <a:ea typeface="游ゴシック"/>
                          <a:cs typeface="游ゴシック"/>
                        </a:rPr>
                        <a:t>飲食店売上高</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23,880</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22,083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19,255</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19,019</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17,723</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△25.8%</a:t>
                      </a:r>
                    </a:p>
                  </a:txBody>
                  <a:tcPr marL="45720" marR="45720" marT="9144" marB="9144" anchor="ctr">
                    <a:solidFill>
                      <a:srgbClr val="FFFFFF"/>
                    </a:solidFill>
                  </a:tcPr>
                </a:tc>
                <a:extLst>
                  <a:ext uri="{0D108BD9-81ED-4DB2-BD59-A6C34878D82A}">
                    <a16:rowId xmlns:a16="http://schemas.microsoft.com/office/drawing/2014/main" val="10001"/>
                  </a:ext>
                </a:extLst>
              </a:tr>
              <a:tr h="274320">
                <a:tc>
                  <a:txBody>
                    <a:bodyPr/>
                    <a:lstStyle/>
                    <a:p>
                      <a:pPr algn="l">
                        <a:spcAft>
                          <a:spcPts val="0"/>
                        </a:spcAft>
                      </a:pPr>
                      <a:r>
                        <a:rPr sz="900" b="0">
                          <a:solidFill>
                            <a:srgbClr val="1A1A1A"/>
                          </a:solidFill>
                          <a:latin typeface="游ゴシック"/>
                          <a:ea typeface="游ゴシック"/>
                          <a:cs typeface="游ゴシック"/>
                        </a:rPr>
                        <a:t>小麦等売上高</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2,235</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2,288</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2,131</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1,919</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2,273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1.7%</a:t>
                      </a:r>
                    </a:p>
                  </a:txBody>
                  <a:tcPr marL="45720" marR="45720" marT="9144" marB="9144" anchor="ctr">
                    <a:solidFill>
                      <a:srgbClr val="FFFFFF"/>
                    </a:solidFill>
                  </a:tcPr>
                </a:tc>
                <a:extLst>
                  <a:ext uri="{0D108BD9-81ED-4DB2-BD59-A6C34878D82A}">
                    <a16:rowId xmlns:a16="http://schemas.microsoft.com/office/drawing/2014/main" val="10002"/>
                  </a:ext>
                </a:extLst>
              </a:tr>
              <a:tr h="274320">
                <a:tc>
                  <a:txBody>
                    <a:bodyPr/>
                    <a:lstStyle/>
                    <a:p>
                      <a:pPr algn="l">
                        <a:spcAft>
                          <a:spcPts val="0"/>
                        </a:spcAft>
                      </a:pPr>
                      <a:r>
                        <a:rPr sz="900" b="0">
                          <a:solidFill>
                            <a:srgbClr val="1A1A1A"/>
                          </a:solidFill>
                          <a:latin typeface="游ゴシック"/>
                          <a:ea typeface="游ゴシック"/>
                          <a:cs typeface="游ゴシック"/>
                        </a:rPr>
                        <a:t>そば売上高</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1,266</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1,664</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1,928</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1,592</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1,949</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54.0%</a:t>
                      </a:r>
                    </a:p>
                  </a:txBody>
                  <a:tcPr marL="45720" marR="45720" marT="9144" marB="9144" anchor="ctr">
                    <a:solidFill>
                      <a:srgbClr val="FFFFFF"/>
                    </a:solidFill>
                  </a:tcPr>
                </a:tc>
                <a:extLst>
                  <a:ext uri="{0D108BD9-81ED-4DB2-BD59-A6C34878D82A}">
                    <a16:rowId xmlns:a16="http://schemas.microsoft.com/office/drawing/2014/main" val="10003"/>
                  </a:ext>
                </a:extLst>
              </a:tr>
              <a:tr h="274320">
                <a:tc>
                  <a:txBody>
                    <a:bodyPr/>
                    <a:lstStyle/>
                    <a:p>
                      <a:pPr algn="l">
                        <a:spcAft>
                          <a:spcPts val="0"/>
                        </a:spcAft>
                      </a:pPr>
                      <a:r>
                        <a:rPr sz="900" b="0">
                          <a:solidFill>
                            <a:srgbClr val="1A1A1A"/>
                          </a:solidFill>
                          <a:latin typeface="游ゴシック"/>
                          <a:ea typeface="游ゴシック"/>
                          <a:cs typeface="游ゴシック"/>
                        </a:rPr>
                        <a:t>商品売上高</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2,740</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2,412</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1,141</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1,012</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538</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△80.4%</a:t>
                      </a:r>
                    </a:p>
                  </a:txBody>
                  <a:tcPr marL="45720" marR="45720" marT="9144" marB="9144" anchor="ctr">
                    <a:solidFill>
                      <a:srgbClr val="FFFFFF"/>
                    </a:solidFill>
                  </a:tcPr>
                </a:tc>
                <a:extLst>
                  <a:ext uri="{0D108BD9-81ED-4DB2-BD59-A6C34878D82A}">
                    <a16:rowId xmlns:a16="http://schemas.microsoft.com/office/drawing/2014/main" val="10004"/>
                  </a:ext>
                </a:extLst>
              </a:tr>
              <a:tr h="274320">
                <a:tc>
                  <a:txBody>
                    <a:bodyPr/>
                    <a:lstStyle/>
                    <a:p>
                      <a:pPr algn="l">
                        <a:spcAft>
                          <a:spcPts val="0"/>
                        </a:spcAft>
                      </a:pPr>
                      <a:r>
                        <a:rPr sz="900" b="1">
                          <a:solidFill>
                            <a:srgbClr val="1A1A1A"/>
                          </a:solidFill>
                          <a:latin typeface="游ゴシック"/>
                          <a:ea typeface="游ゴシック"/>
                          <a:cs typeface="游ゴシック"/>
                        </a:rPr>
                        <a:t>売上高 合計</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30,121</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28,446</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24,455</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23,542</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22,484</a:t>
                      </a:r>
                    </a:p>
                  </a:txBody>
                  <a:tcPr marL="45720" marR="45720" marT="9144" marB="9144" anchor="ctr">
                    <a:solidFill>
                      <a:srgbClr val="FFFFFF"/>
                    </a:solidFill>
                  </a:tcPr>
                </a:tc>
                <a:tc>
                  <a:txBody>
                    <a:bodyPr/>
                    <a:lstStyle/>
                    <a:p>
                      <a:pPr algn="r">
                        <a:spcAft>
                          <a:spcPts val="0"/>
                        </a:spcAft>
                      </a:pPr>
                      <a:r>
                        <a:rPr sz="900" b="1">
                          <a:solidFill>
                            <a:srgbClr val="C03A2B"/>
                          </a:solidFill>
                          <a:latin typeface="Arial"/>
                          <a:ea typeface="Arial"/>
                          <a:cs typeface="Arial"/>
                        </a:rPr>
                        <a:t>△25.4%</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310896" y="3255264"/>
            <a:ext cx="5760720" cy="2066543"/>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420624" y="3328416"/>
            <a:ext cx="5541264" cy="201168"/>
          </a:xfrm>
          <a:prstGeom prst="rect">
            <a:avLst/>
          </a:prstGeom>
          <a:noFill/>
        </p:spPr>
        <p:txBody>
          <a:bodyPr wrap="square" lIns="0" tIns="0" rIns="0" bIns="0" anchor="t">
            <a:spAutoFit/>
          </a:bodyPr>
          <a:lstStyle/>
          <a:p>
            <a:pPr algn="l">
              <a:spcAft>
                <a:spcPts val="0"/>
              </a:spcAft>
            </a:pPr>
            <a:r>
              <a:rPr sz="900" b="1">
                <a:solidFill>
                  <a:srgbClr val="0B3041"/>
                </a:solidFill>
                <a:latin typeface="游ゴシック"/>
                <a:ea typeface="游ゴシック"/>
                <a:cs typeface="游ゴシック"/>
              </a:rPr>
              <a:t>売上高の推移（千円）</a:t>
            </a:r>
          </a:p>
        </p:txBody>
      </p:sp>
      <p:sp>
        <p:nvSpPr>
          <p:cNvPr id="17" name="Rectangle 16"/>
          <p:cNvSpPr/>
          <p:nvPr/>
        </p:nvSpPr>
        <p:spPr>
          <a:xfrm>
            <a:off x="621792" y="3694176"/>
            <a:ext cx="629838" cy="13167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548640" y="3511296"/>
            <a:ext cx="797795"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30,121</a:t>
            </a:r>
          </a:p>
        </p:txBody>
      </p:sp>
      <p:sp>
        <p:nvSpPr>
          <p:cNvPr id="19" name="TextBox 18"/>
          <p:cNvSpPr txBox="1"/>
          <p:nvPr/>
        </p:nvSpPr>
        <p:spPr>
          <a:xfrm>
            <a:off x="548640" y="5056632"/>
            <a:ext cx="797795"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22/5期</a:t>
            </a:r>
          </a:p>
        </p:txBody>
      </p:sp>
      <p:sp>
        <p:nvSpPr>
          <p:cNvPr id="20" name="Rectangle 19"/>
          <p:cNvSpPr/>
          <p:nvPr/>
        </p:nvSpPr>
        <p:spPr>
          <a:xfrm>
            <a:off x="1671523" y="3767398"/>
            <a:ext cx="629838" cy="1243513"/>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98371" y="3584518"/>
            <a:ext cx="797795"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28,446</a:t>
            </a:r>
          </a:p>
        </p:txBody>
      </p:sp>
      <p:sp>
        <p:nvSpPr>
          <p:cNvPr id="22" name="TextBox 21"/>
          <p:cNvSpPr txBox="1"/>
          <p:nvPr/>
        </p:nvSpPr>
        <p:spPr>
          <a:xfrm>
            <a:off x="1598371" y="5056632"/>
            <a:ext cx="797795"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23/5期</a:t>
            </a:r>
          </a:p>
        </p:txBody>
      </p:sp>
      <p:sp>
        <p:nvSpPr>
          <p:cNvPr id="23" name="Rectangle 22"/>
          <p:cNvSpPr/>
          <p:nvPr/>
        </p:nvSpPr>
        <p:spPr>
          <a:xfrm>
            <a:off x="2721254" y="3941864"/>
            <a:ext cx="629838" cy="106904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2648102" y="3758984"/>
            <a:ext cx="797795"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24,455</a:t>
            </a:r>
          </a:p>
        </p:txBody>
      </p:sp>
      <p:sp>
        <p:nvSpPr>
          <p:cNvPr id="25" name="TextBox 24"/>
          <p:cNvSpPr txBox="1"/>
          <p:nvPr/>
        </p:nvSpPr>
        <p:spPr>
          <a:xfrm>
            <a:off x="2648102" y="5056632"/>
            <a:ext cx="797795"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24/5期</a:t>
            </a:r>
          </a:p>
        </p:txBody>
      </p:sp>
      <p:sp>
        <p:nvSpPr>
          <p:cNvPr id="26" name="Rectangle 25"/>
          <p:cNvSpPr/>
          <p:nvPr/>
        </p:nvSpPr>
        <p:spPr>
          <a:xfrm>
            <a:off x="3770985" y="3981776"/>
            <a:ext cx="629838" cy="10291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3697833" y="3798896"/>
            <a:ext cx="797795"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23,542</a:t>
            </a:r>
          </a:p>
        </p:txBody>
      </p:sp>
      <p:sp>
        <p:nvSpPr>
          <p:cNvPr id="28" name="TextBox 27"/>
          <p:cNvSpPr txBox="1"/>
          <p:nvPr/>
        </p:nvSpPr>
        <p:spPr>
          <a:xfrm>
            <a:off x="3697833" y="5056632"/>
            <a:ext cx="797795"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25/5期</a:t>
            </a:r>
          </a:p>
        </p:txBody>
      </p:sp>
      <p:sp>
        <p:nvSpPr>
          <p:cNvPr id="29" name="Rectangle 28"/>
          <p:cNvSpPr/>
          <p:nvPr/>
        </p:nvSpPr>
        <p:spPr>
          <a:xfrm>
            <a:off x="4820716" y="4028026"/>
            <a:ext cx="629838" cy="98288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4747564" y="3845146"/>
            <a:ext cx="797795"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22,484</a:t>
            </a:r>
          </a:p>
        </p:txBody>
      </p:sp>
      <p:sp>
        <p:nvSpPr>
          <p:cNvPr id="31" name="TextBox 30"/>
          <p:cNvSpPr txBox="1"/>
          <p:nvPr/>
        </p:nvSpPr>
        <p:spPr>
          <a:xfrm>
            <a:off x="4747564" y="5056632"/>
            <a:ext cx="797795"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26/5期</a:t>
            </a:r>
          </a:p>
        </p:txBody>
      </p:sp>
      <p:sp>
        <p:nvSpPr>
          <p:cNvPr id="32" name="Rectangle 31"/>
          <p:cNvSpPr/>
          <p:nvPr/>
        </p:nvSpPr>
        <p:spPr>
          <a:xfrm>
            <a:off x="530352" y="5010912"/>
            <a:ext cx="5358383"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6272784" y="3255264"/>
            <a:ext cx="4105656" cy="2066543"/>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364224" y="3328416"/>
            <a:ext cx="3922776"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5" name="TextBox 34"/>
          <p:cNvSpPr txBox="1"/>
          <p:nvPr/>
        </p:nvSpPr>
        <p:spPr>
          <a:xfrm>
            <a:off x="6382512" y="3675888"/>
            <a:ext cx="3886200" cy="1554479"/>
          </a:xfrm>
          <a:prstGeom prst="rect">
            <a:avLst/>
          </a:prstGeom>
          <a:noFill/>
        </p:spPr>
        <p:txBody>
          <a:bodyPr wrap="square" lIns="0" tIns="0" r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≪店頭飲食≫ </a:t>
            </a:r>
            <a:r>
              <a:rPr sz="830" b="0">
                <a:solidFill>
                  <a:srgbClr val="1A1A1A"/>
                </a:solidFill>
                <a:latin typeface="游ゴシック"/>
                <a:ea typeface="游ゴシック"/>
                <a:cs typeface="游ゴシック"/>
              </a:rPr>
              <a:t>23,880→17,723千円（△25.8％）。売上減の約8割を占める最大の要因。</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≪小麦等売上≫ </a:t>
            </a:r>
            <a:r>
              <a:rPr sz="830" b="0">
                <a:solidFill>
                  <a:srgbClr val="1A1A1A"/>
                </a:solidFill>
                <a:latin typeface="游ゴシック"/>
                <a:ea typeface="游ゴシック"/>
                <a:cs typeface="游ゴシック"/>
              </a:rPr>
              <a:t>2,235→2,273千円とほぼ横ばい。キビヤベーカリー向けが8割を占め、取引は3期連続で継続。</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≪そば売上≫ </a:t>
            </a:r>
            <a:r>
              <a:rPr sz="830" b="0">
                <a:solidFill>
                  <a:srgbClr val="1A1A1A"/>
                </a:solidFill>
                <a:latin typeface="游ゴシック"/>
                <a:ea typeface="游ゴシック"/>
                <a:cs typeface="游ゴシック"/>
              </a:rPr>
              <a:t>1,266→1,949千円と増加。通信販売（Ｅコレクトサガワ経由）が604→1,020千円と伸長。</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≪商品売上≫ </a:t>
            </a:r>
            <a:r>
              <a:rPr sz="830" b="0">
                <a:solidFill>
                  <a:srgbClr val="1A1A1A"/>
                </a:solidFill>
                <a:latin typeface="游ゴシック"/>
                <a:ea typeface="游ゴシック"/>
                <a:cs typeface="游ゴシック"/>
              </a:rPr>
              <a:t>2,740→538千円。健興通商向けの商品卸（2024/5期474千円）が2026/5期にゼロとなったことが主因で、同社は現在は仕入先（要確認）。</a:t>
            </a:r>
          </a:p>
        </p:txBody>
      </p:sp>
      <p:sp>
        <p:nvSpPr>
          <p:cNvPr id="36" name="TextBox 35"/>
          <p:cNvSpPr txBox="1"/>
          <p:nvPr/>
        </p:nvSpPr>
        <p:spPr>
          <a:xfrm>
            <a:off x="310896" y="548640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2022/5期・2023/5期は決算書からの直接転記、2024/5期以降は案件マスター（PLシート）の数値。</a:t>
            </a:r>
          </a:p>
          <a:p>
            <a:pPr algn="l">
              <a:lnSpc>
                <a:spcPct val="112000"/>
              </a:lnSpc>
              <a:spcAft>
                <a:spcPts val="100"/>
              </a:spcAft>
            </a:pPr>
            <a:r>
              <a:rPr sz="750" b="0">
                <a:solidFill>
                  <a:srgbClr val="5A6670"/>
                </a:solidFill>
                <a:latin typeface="游ゴシック"/>
                <a:ea typeface="游ゴシック"/>
                <a:cs typeface="游ゴシック"/>
              </a:rPr>
              <a:t>※ 飲食店売上高には関係先（塩町館・小びと）への食材供給分を含む。店頭飲食のみの金額は P.16 参照。</a:t>
            </a:r>
          </a:p>
        </p:txBody>
      </p:sp>
      <p:sp>
        <p:nvSpPr>
          <p:cNvPr id="3" name="タイトル 1">
            <a:extLst>
              <a:ext uri="{FF2B5EF4-FFF2-40B4-BE49-F238E27FC236}">
                <a16:creationId xmlns:a16="http://schemas.microsoft.com/office/drawing/2014/main" id="{78D54E9E-F994-D43E-601F-64D7F0CBEB91}"/>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588634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物販・通信販売の商品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店頭飲食以外に、卸・通信販売・ふるさと納税の導線を保有。通信販売は604→1,020千円と伸長する一方、製造場所・許認可・原価は未確認であり、拡販前に整理が必要</a:t>
            </a:r>
            <a:endParaRPr lang="en-US" altLang="ja-JP" dirty="0"/>
          </a:p>
        </p:txBody>
      </p:sp>
      <p:graphicFrame>
        <p:nvGraphicFramePr>
          <p:cNvPr id="14" name="Table 13"/>
          <p:cNvGraphicFramePr>
            <a:graphicFrameLocks noGrp="1"/>
          </p:cNvGraphicFramePr>
          <p:nvPr/>
        </p:nvGraphicFramePr>
        <p:xfrm>
          <a:off x="310896" y="1463040"/>
          <a:ext cx="6382512" cy="3822192"/>
        </p:xfrm>
        <a:graphic>
          <a:graphicData uri="http://schemas.openxmlformats.org/drawingml/2006/table">
            <a:tbl>
              <a:tblPr>
                <a:tableStyleId>{5940675A-B579-460E-94D1-54222C63F5DA}</a:tableStyleId>
              </a:tblPr>
              <a:tblGrid>
                <a:gridCol w="1572768">
                  <a:extLst>
                    <a:ext uri="{9D8B030D-6E8A-4147-A177-3AD203B41FA5}">
                      <a16:colId xmlns:a16="http://schemas.microsoft.com/office/drawing/2014/main" val="20000"/>
                    </a:ext>
                  </a:extLst>
                </a:gridCol>
                <a:gridCol w="1225296">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2596896">
                  <a:extLst>
                    <a:ext uri="{9D8B030D-6E8A-4147-A177-3AD203B41FA5}">
                      <a16:colId xmlns:a16="http://schemas.microsoft.com/office/drawing/2014/main" val="20003"/>
                    </a:ext>
                  </a:extLst>
                </a:gridCol>
              </a:tblGrid>
              <a:tr h="237744">
                <a:tc>
                  <a:txBody>
                    <a:bodyPr/>
                    <a:lstStyle/>
                    <a:p>
                      <a:pPr algn="ctr">
                        <a:spcAft>
                          <a:spcPts val="0"/>
                        </a:spcAft>
                      </a:pPr>
                      <a:r>
                        <a:rPr sz="840" b="1">
                          <a:solidFill>
                            <a:srgbClr val="FFFFFF"/>
                          </a:solidFill>
                          <a:latin typeface="游ゴシック"/>
                          <a:ea typeface="游ゴシック"/>
                          <a:cs typeface="游ゴシック"/>
                        </a:rPr>
                        <a:t>商品</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チャネル</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計上区分</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確認状況</a:t>
                      </a:r>
                    </a:p>
                  </a:txBody>
                  <a:tcPr marL="45720" marR="45720" marT="9144" marB="9144" anchor="ctr">
                    <a:solidFill>
                      <a:srgbClr val="0B3041"/>
                    </a:solidFill>
                  </a:tcPr>
                </a:tc>
                <a:extLst>
                  <a:ext uri="{0D108BD9-81ED-4DB2-BD59-A6C34878D82A}">
                    <a16:rowId xmlns:a16="http://schemas.microsoft.com/office/drawing/2014/main" val="10000"/>
                  </a:ext>
                </a:extLst>
              </a:tr>
              <a:tr h="512064">
                <a:tc>
                  <a:txBody>
                    <a:bodyPr/>
                    <a:lstStyle/>
                    <a:p>
                      <a:pPr algn="l">
                        <a:spcAft>
                          <a:spcPts val="0"/>
                        </a:spcAft>
                      </a:pPr>
                      <a:r>
                        <a:rPr sz="840" b="0">
                          <a:solidFill>
                            <a:srgbClr val="1A1A1A"/>
                          </a:solidFill>
                          <a:latin typeface="游ゴシック"/>
                          <a:ea typeface="游ゴシック"/>
                          <a:cs typeface="游ゴシック"/>
                        </a:rPr>
                        <a:t>玄そば・石臼挽きそば粉</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卸（同業の蕎麦店）</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打心蕎庵・玉笑ほか。取引条件（基本契約書・COC条項）は要確認</a:t>
                      </a:r>
                    </a:p>
                  </a:txBody>
                  <a:tcPr marL="45720" marR="45720" marT="9144" marB="9144" anchor="ctr">
                    <a:solidFill>
                      <a:srgbClr val="FFFFFF"/>
                    </a:solidFill>
                  </a:tcPr>
                </a:tc>
                <a:extLst>
                  <a:ext uri="{0D108BD9-81ED-4DB2-BD59-A6C34878D82A}">
                    <a16:rowId xmlns:a16="http://schemas.microsoft.com/office/drawing/2014/main" val="10001"/>
                  </a:ext>
                </a:extLst>
              </a:tr>
              <a:tr h="512064">
                <a:tc>
                  <a:txBody>
                    <a:bodyPr/>
                    <a:lstStyle/>
                    <a:p>
                      <a:pPr algn="l">
                        <a:spcAft>
                          <a:spcPts val="0"/>
                        </a:spcAft>
                      </a:pPr>
                      <a:r>
                        <a:rPr sz="840" b="0">
                          <a:solidFill>
                            <a:srgbClr val="1A1A1A"/>
                          </a:solidFill>
                          <a:latin typeface="游ゴシック"/>
                          <a:ea typeface="游ゴシック"/>
                          <a:cs typeface="游ゴシック"/>
                        </a:rPr>
                        <a:t>石臼挽き小麦粉</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卸（ベーカリー）</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小麦等売上高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キビヤベーカリー1,865千円・ルヴァン231千円。3期連続で取引継続</a:t>
                      </a:r>
                    </a:p>
                  </a:txBody>
                  <a:tcPr marL="45720" marR="45720" marT="9144" marB="9144" anchor="ctr">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840" b="0">
                          <a:solidFill>
                            <a:srgbClr val="1A1A1A"/>
                          </a:solidFill>
                          <a:latin typeface="游ゴシック"/>
                          <a:ea typeface="游ゴシック"/>
                          <a:cs typeface="游ゴシック"/>
                        </a:rPr>
                        <a:t>乾麺（そば）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通販はＥコレクトサガワ経由1,020千円。製造場所・委託先は要確認</a:t>
                      </a:r>
                    </a:p>
                  </a:txBody>
                  <a:tcPr marL="45720" marR="45720" marT="9144" marB="9144" anchor="ctr">
                    <a:solidFill>
                      <a:srgbClr val="FFFFFF"/>
                    </a:solidFill>
                  </a:tcPr>
                </a:tc>
                <a:extLst>
                  <a:ext uri="{0D108BD9-81ED-4DB2-BD59-A6C34878D82A}">
                    <a16:rowId xmlns:a16="http://schemas.microsoft.com/office/drawing/2014/main" val="10003"/>
                  </a:ext>
                </a:extLst>
              </a:tr>
              <a:tr h="512064">
                <a:tc>
                  <a:txBody>
                    <a:bodyPr/>
                    <a:lstStyle/>
                    <a:p>
                      <a:pPr algn="l">
                        <a:spcAft>
                          <a:spcPts val="0"/>
                        </a:spcAft>
                      </a:pPr>
                      <a:r>
                        <a:rPr sz="840" b="0">
                          <a:solidFill>
                            <a:srgbClr val="1A1A1A"/>
                          </a:solidFill>
                          <a:latin typeface="游ゴシック"/>
                          <a:ea typeface="游ゴシック"/>
                          <a:cs typeface="游ゴシック"/>
                        </a:rPr>
                        <a:t>そばつゆ／本返し</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通信販売／店頭／卸</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製造場所・許認可・原価ともに要確認</a:t>
                      </a:r>
                    </a:p>
                  </a:txBody>
                  <a:tcPr marL="45720" marR="45720" marT="9144" marB="9144" anchor="ctr">
                    <a:solidFill>
                      <a:srgbClr val="FFFFFF"/>
                    </a:solidFill>
                  </a:tcPr>
                </a:tc>
                <a:extLst>
                  <a:ext uri="{0D108BD9-81ED-4DB2-BD59-A6C34878D82A}">
                    <a16:rowId xmlns:a16="http://schemas.microsoft.com/office/drawing/2014/main" val="10004"/>
                  </a:ext>
                </a:extLst>
              </a:tr>
              <a:tr h="512064">
                <a:tc>
                  <a:txBody>
                    <a:bodyPr/>
                    <a:lstStyle/>
                    <a:p>
                      <a:pPr algn="l">
                        <a:spcAft>
                          <a:spcPts val="0"/>
                        </a:spcAft>
                      </a:pPr>
                      <a:r>
                        <a:rPr sz="840" b="0">
                          <a:solidFill>
                            <a:srgbClr val="1A1A1A"/>
                          </a:solidFill>
                          <a:latin typeface="游ゴシック"/>
                          <a:ea typeface="游ゴシック"/>
                          <a:cs typeface="游ゴシック"/>
                        </a:rPr>
                        <a:t>醤（ひしお）</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tcPr>
                </a:tc>
                <a:extLst>
                  <a:ext uri="{0D108BD9-81ED-4DB2-BD59-A6C34878D82A}">
                    <a16:rowId xmlns:a16="http://schemas.microsoft.com/office/drawing/2014/main" val="10005"/>
                  </a:ext>
                </a:extLst>
              </a:tr>
              <a:tr h="512064">
                <a:tc>
                  <a:txBody>
                    <a:bodyPr/>
                    <a:lstStyle/>
                    <a:p>
                      <a:pPr algn="l">
                        <a:spcAft>
                          <a:spcPts val="0"/>
                        </a:spcAft>
                      </a:pPr>
                      <a:r>
                        <a:rPr sz="840" b="0">
                          <a:solidFill>
                            <a:srgbClr val="1A1A1A"/>
                          </a:solidFill>
                          <a:latin typeface="游ゴシック"/>
                          <a:ea typeface="游ゴシック"/>
                          <a:cs typeface="游ゴシック"/>
                        </a:rPr>
                        <a:t>えごま味噌／大麦糀味噌</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tcPr>
                </a:tc>
                <a:extLst>
                  <a:ext uri="{0D108BD9-81ED-4DB2-BD59-A6C34878D82A}">
                    <a16:rowId xmlns:a16="http://schemas.microsoft.com/office/drawing/2014/main" val="10006"/>
                  </a:ext>
                </a:extLst>
              </a:tr>
              <a:tr h="512064">
                <a:tc>
                  <a:txBody>
                    <a:bodyPr/>
                    <a:lstStyle/>
                    <a:p>
                      <a:pPr algn="l">
                        <a:spcAft>
                          <a:spcPts val="0"/>
                        </a:spcAft>
                      </a:pPr>
                      <a:r>
                        <a:rPr sz="840" b="0">
                          <a:solidFill>
                            <a:srgbClr val="1A1A1A"/>
                          </a:solidFill>
                          <a:latin typeface="游ゴシック"/>
                          <a:ea typeface="游ゴシック"/>
                          <a:cs typeface="游ゴシック"/>
                        </a:rPr>
                        <a:t>ふるさと納税返礼品</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常陸太田市</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採用状況・取扱数量・手数料率は要確認。商品売上高との対応関係も整理が必要</a:t>
                      </a:r>
                    </a:p>
                  </a:txBody>
                  <a:tcPr marL="45720" marR="45720" marT="9144" marB="9144" anchor="ctr">
                    <a:solidFill>
                      <a:srgbClr val="FFFFFF"/>
                    </a:solidFill>
                  </a:tcPr>
                </a:tc>
                <a:extLst>
                  <a:ext uri="{0D108BD9-81ED-4DB2-BD59-A6C34878D82A}">
                    <a16:rowId xmlns:a16="http://schemas.microsoft.com/office/drawing/2014/main" val="10007"/>
                  </a:ext>
                </a:extLst>
              </a:tr>
            </a:tbl>
          </a:graphicData>
        </a:graphic>
      </p:graphicFrame>
      <p:sp>
        <p:nvSpPr>
          <p:cNvPr id="15" name="Rectangle 14"/>
          <p:cNvSpPr/>
          <p:nvPr/>
        </p:nvSpPr>
        <p:spPr>
          <a:xfrm>
            <a:off x="6876288" y="1463040"/>
            <a:ext cx="3502152" cy="431596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967727" y="1536192"/>
            <a:ext cx="3319272"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6986016" y="1883664"/>
            <a:ext cx="3282696" cy="3803904"/>
          </a:xfrm>
          <a:prstGeom prst="rect">
            <a:avLst/>
          </a:prstGeom>
          <a:noFill/>
        </p:spPr>
        <p:txBody>
          <a:bodyPr wrap="square" lIns="0" tIns="0" rIns="0" bIns="0" anchor="t">
            <a:spAutoFit/>
          </a:bodyPr>
          <a:lstStyle/>
          <a:p>
            <a:pPr algn="l">
              <a:lnSpc>
                <a:spcPct val="120000"/>
              </a:lnSpc>
              <a:spcAft>
                <a:spcPts val="200"/>
              </a:spcAft>
            </a:pPr>
            <a:r>
              <a:rPr sz="919" b="1">
                <a:solidFill>
                  <a:srgbClr val="0889C9"/>
                </a:solidFill>
                <a:latin typeface="游ゴシック"/>
                <a:ea typeface="游ゴシック"/>
                <a:cs typeface="游ゴシック"/>
              </a:rPr>
              <a:t>≪商品売上高の推移≫ </a:t>
            </a:r>
            <a:r>
              <a:rPr sz="900" b="0">
                <a:solidFill>
                  <a:srgbClr val="1A1A1A"/>
                </a:solidFill>
                <a:latin typeface="游ゴシック"/>
                <a:ea typeface="游ゴシック"/>
                <a:cs typeface="游ゴシック"/>
              </a:rPr>
              <a:t>2,740→538千円（22/5期比△80.4％）。健興通商向けの商品卸が2026/5期にゼロとなったことが主因であり、物販そのものの需要が消えたわけではない（同社は現在は仕入先。要確認）。</a:t>
            </a:r>
          </a:p>
          <a:p>
            <a:pPr algn="l">
              <a:spcAft>
                <a:spcPts val="200"/>
              </a:spcAft>
            </a:pPr>
            <a:endParaRPr sz="900" b="0">
              <a:solidFill>
                <a:srgbClr val="1A1A1A"/>
              </a:solidFill>
              <a:latin typeface="游ゴシック"/>
              <a:ea typeface="游ゴシック"/>
              <a:cs typeface="游ゴシック"/>
            </a:endParaRPr>
          </a:p>
          <a:p>
            <a:pPr algn="l">
              <a:lnSpc>
                <a:spcPct val="120000"/>
              </a:lnSpc>
              <a:spcAft>
                <a:spcPts val="200"/>
              </a:spcAft>
            </a:pPr>
            <a:r>
              <a:rPr sz="919" b="1">
                <a:solidFill>
                  <a:srgbClr val="0889C9"/>
                </a:solidFill>
                <a:latin typeface="游ゴシック"/>
                <a:ea typeface="游ゴシック"/>
                <a:cs typeface="游ゴシック"/>
              </a:rPr>
              <a:t>≪通信販売≫ </a:t>
            </a:r>
            <a:r>
              <a:rPr sz="900" b="0">
                <a:solidFill>
                  <a:srgbClr val="1A1A1A"/>
                </a:solidFill>
                <a:latin typeface="游ゴシック"/>
                <a:ea typeface="游ゴシック"/>
                <a:cs typeface="游ゴシック"/>
              </a:rPr>
              <a:t>604→1,020千円と伸長。受注・発送の担当者、EC（Amazon等）の運用主体が代表者個人か法人かは要確認であり、承継時の体制づくりが論点となる。</a:t>
            </a:r>
          </a:p>
          <a:p>
            <a:pPr algn="l">
              <a:spcAft>
                <a:spcPts val="200"/>
              </a:spcAft>
            </a:pPr>
            <a:endParaRPr sz="900" b="0">
              <a:solidFill>
                <a:srgbClr val="1A1A1A"/>
              </a:solidFill>
              <a:latin typeface="游ゴシック"/>
              <a:ea typeface="游ゴシック"/>
              <a:cs typeface="游ゴシック"/>
            </a:endParaRPr>
          </a:p>
          <a:p>
            <a:pPr algn="l">
              <a:lnSpc>
                <a:spcPct val="120000"/>
              </a:lnSpc>
              <a:spcAft>
                <a:spcPts val="200"/>
              </a:spcAft>
            </a:pPr>
            <a:r>
              <a:rPr sz="919" b="1">
                <a:solidFill>
                  <a:srgbClr val="0889C9"/>
                </a:solidFill>
                <a:latin typeface="游ゴシック"/>
                <a:ea typeface="游ゴシック"/>
                <a:cs typeface="游ゴシック"/>
              </a:rPr>
              <a:t>≪許認可≫ </a:t>
            </a:r>
            <a:r>
              <a:rPr sz="900" b="0">
                <a:solidFill>
                  <a:srgbClr val="1A1A1A"/>
                </a:solidFill>
                <a:latin typeface="游ゴシック"/>
                <a:ea typeface="游ゴシック"/>
                <a:cs typeface="游ゴシック"/>
              </a:rPr>
              <a:t>乾麺・そばつゆ・醤の製造販売には、飲食店営業許可とは別に菓子製造業・そうざい製造業等の許可を要する可能性がある。要否と取得状況は未確認（P.28）。</a:t>
            </a:r>
          </a:p>
          <a:p>
            <a:pPr algn="l">
              <a:spcAft>
                <a:spcPts val="200"/>
              </a:spcAft>
            </a:pPr>
            <a:endParaRPr sz="900" b="0">
              <a:solidFill>
                <a:srgbClr val="1A1A1A"/>
              </a:solidFill>
              <a:latin typeface="游ゴシック"/>
              <a:ea typeface="游ゴシック"/>
              <a:cs typeface="游ゴシック"/>
            </a:endParaRPr>
          </a:p>
          <a:p>
            <a:pPr algn="l">
              <a:lnSpc>
                <a:spcPct val="120000"/>
              </a:lnSpc>
              <a:spcAft>
                <a:spcPts val="200"/>
              </a:spcAft>
            </a:pPr>
            <a:r>
              <a:rPr sz="919" b="1">
                <a:solidFill>
                  <a:srgbClr val="0889C9"/>
                </a:solidFill>
                <a:latin typeface="游ゴシック"/>
                <a:ea typeface="游ゴシック"/>
                <a:cs typeface="游ゴシック"/>
              </a:rPr>
              <a:t>≪預け在庫≫ </a:t>
            </a:r>
            <a:r>
              <a:rPr sz="900" b="0">
                <a:solidFill>
                  <a:srgbClr val="1A1A1A"/>
                </a:solidFill>
                <a:latin typeface="游ゴシック"/>
                <a:ea typeface="游ゴシック"/>
                <a:cs typeface="游ゴシック"/>
              </a:rPr>
              <a:t>棚卸資産2,354千円のうち商品329千円は「伊勢又預け分」。実在性・所有権・評価は要確認。</a:t>
            </a:r>
          </a:p>
          <a:p>
            <a:pPr algn="l">
              <a:spcAft>
                <a:spcPts val="200"/>
              </a:spcAft>
            </a:pPr>
            <a:endParaRPr sz="900" b="0">
              <a:solidFill>
                <a:srgbClr val="1A1A1A"/>
              </a:solidFill>
              <a:latin typeface="游ゴシック"/>
              <a:ea typeface="游ゴシック"/>
              <a:cs typeface="游ゴシック"/>
            </a:endParaRPr>
          </a:p>
          <a:p>
            <a:pPr algn="l">
              <a:lnSpc>
                <a:spcPct val="120000"/>
              </a:lnSpc>
              <a:spcAft>
                <a:spcPts val="200"/>
              </a:spcAft>
            </a:pPr>
            <a:r>
              <a:rPr sz="919" b="1">
                <a:solidFill>
                  <a:srgbClr val="0889C9"/>
                </a:solidFill>
                <a:latin typeface="游ゴシック"/>
                <a:ea typeface="游ゴシック"/>
                <a:cs typeface="游ゴシック"/>
              </a:rPr>
              <a:t>≪買手にとっての意味≫ </a:t>
            </a:r>
            <a:r>
              <a:rPr sz="900" b="0">
                <a:solidFill>
                  <a:srgbClr val="1A1A1A"/>
                </a:solidFill>
                <a:latin typeface="游ゴシック"/>
                <a:ea typeface="游ゴシック"/>
                <a:cs typeface="游ゴシック"/>
              </a:rPr>
              <a:t>店舗が週4日・昼のみである以上、ブランドを面で広げる導線は物販・通販・ふるさと納税に限られる。製造・許認可を整理できれば、店舗の稼働拡大と並ぶ打ち手になる（弊社の評価）。</a:t>
            </a:r>
          </a:p>
        </p:txBody>
      </p:sp>
      <p:sp>
        <p:nvSpPr>
          <p:cNvPr id="18" name="TextBox 17"/>
          <p:cNvSpPr txBox="1"/>
          <p:nvPr/>
        </p:nvSpPr>
        <p:spPr>
          <a:xfrm>
            <a:off x="310896" y="5961888"/>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商品名は受領した画像資料および面談ヒアリングに基づきます。価格・原価・取扱数量は未受領のため記載していません。</a:t>
            </a:r>
          </a:p>
          <a:p>
            <a:pPr algn="l">
              <a:lnSpc>
                <a:spcPct val="112000"/>
              </a:lnSpc>
              <a:spcAft>
                <a:spcPts val="100"/>
              </a:spcAft>
            </a:pPr>
            <a:r>
              <a:rPr sz="750" b="0">
                <a:solidFill>
                  <a:srgbClr val="5A6670"/>
                </a:solidFill>
                <a:latin typeface="游ゴシック"/>
                <a:ea typeface="游ゴシック"/>
                <a:cs typeface="游ゴシック"/>
              </a:rPr>
              <a:t>※ 計上区分は案件マスター（PLシート）の売上区分に対応しています。金額の推移は P.14 をご参照ください。</a:t>
            </a:r>
          </a:p>
        </p:txBody>
      </p:sp>
      <p:sp>
        <p:nvSpPr>
          <p:cNvPr id="3" name="タイトル 1">
            <a:extLst>
              <a:ext uri="{FF2B5EF4-FFF2-40B4-BE49-F238E27FC236}">
                <a16:creationId xmlns:a16="http://schemas.microsoft.com/office/drawing/2014/main" id="{F6D898A8-9902-9AD3-5B2D-BA704B1F812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主要販売先別売上高</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売上の67％は店頭の一般消費者であり特定先への依存はない。卸売最大のキビヤベーカリーでも構成比8.3％</a:t>
            </a:r>
            <a:endParaRPr lang="en-US" altLang="ja-JP" dirty="0"/>
          </a:p>
        </p:txBody>
      </p:sp>
      <p:graphicFrame>
        <p:nvGraphicFramePr>
          <p:cNvPr id="16" name="Table 15"/>
          <p:cNvGraphicFramePr>
            <a:graphicFrameLocks noGrp="1"/>
          </p:cNvGraphicFramePr>
          <p:nvPr/>
        </p:nvGraphicFramePr>
        <p:xfrm>
          <a:off x="310896" y="1408176"/>
          <a:ext cx="9921235" cy="3401556"/>
        </p:xfrm>
        <a:graphic>
          <a:graphicData uri="http://schemas.openxmlformats.org/drawingml/2006/table">
            <a:tbl>
              <a:tblPr>
                <a:tableStyleId>{5940675A-B579-460E-94D1-54222C63F5DA}</a:tableStyleId>
              </a:tblPr>
              <a:tblGrid>
                <a:gridCol w="375094">
                  <a:extLst>
                    <a:ext uri="{9D8B030D-6E8A-4147-A177-3AD203B41FA5}">
                      <a16:colId xmlns:a16="http://schemas.microsoft.com/office/drawing/2014/main" val="20000"/>
                    </a:ext>
                  </a:extLst>
                </a:gridCol>
                <a:gridCol w="2119281">
                  <a:extLst>
                    <a:ext uri="{9D8B030D-6E8A-4147-A177-3AD203B41FA5}">
                      <a16:colId xmlns:a16="http://schemas.microsoft.com/office/drawing/2014/main" val="20001"/>
                    </a:ext>
                  </a:extLst>
                </a:gridCol>
                <a:gridCol w="2081772">
                  <a:extLst>
                    <a:ext uri="{9D8B030D-6E8A-4147-A177-3AD203B41FA5}">
                      <a16:colId xmlns:a16="http://schemas.microsoft.com/office/drawing/2014/main" val="20002"/>
                    </a:ext>
                  </a:extLst>
                </a:gridCol>
                <a:gridCol w="956490">
                  <a:extLst>
                    <a:ext uri="{9D8B030D-6E8A-4147-A177-3AD203B41FA5}">
                      <a16:colId xmlns:a16="http://schemas.microsoft.com/office/drawing/2014/main" val="20003"/>
                    </a:ext>
                  </a:extLst>
                </a:gridCol>
                <a:gridCol w="806452">
                  <a:extLst>
                    <a:ext uri="{9D8B030D-6E8A-4147-A177-3AD203B41FA5}">
                      <a16:colId xmlns:a16="http://schemas.microsoft.com/office/drawing/2014/main" val="20004"/>
                    </a:ext>
                  </a:extLst>
                </a:gridCol>
                <a:gridCol w="656414">
                  <a:extLst>
                    <a:ext uri="{9D8B030D-6E8A-4147-A177-3AD203B41FA5}">
                      <a16:colId xmlns:a16="http://schemas.microsoft.com/office/drawing/2014/main" val="20005"/>
                    </a:ext>
                  </a:extLst>
                </a:gridCol>
                <a:gridCol w="806452">
                  <a:extLst>
                    <a:ext uri="{9D8B030D-6E8A-4147-A177-3AD203B41FA5}">
                      <a16:colId xmlns:a16="http://schemas.microsoft.com/office/drawing/2014/main" val="20006"/>
                    </a:ext>
                  </a:extLst>
                </a:gridCol>
                <a:gridCol w="656414">
                  <a:extLst>
                    <a:ext uri="{9D8B030D-6E8A-4147-A177-3AD203B41FA5}">
                      <a16:colId xmlns:a16="http://schemas.microsoft.com/office/drawing/2014/main" val="20007"/>
                    </a:ext>
                  </a:extLst>
                </a:gridCol>
                <a:gridCol w="806452">
                  <a:extLst>
                    <a:ext uri="{9D8B030D-6E8A-4147-A177-3AD203B41FA5}">
                      <a16:colId xmlns:a16="http://schemas.microsoft.com/office/drawing/2014/main" val="20008"/>
                    </a:ext>
                  </a:extLst>
                </a:gridCol>
                <a:gridCol w="656414">
                  <a:extLst>
                    <a:ext uri="{9D8B030D-6E8A-4147-A177-3AD203B41FA5}">
                      <a16:colId xmlns:a16="http://schemas.microsoft.com/office/drawing/2014/main" val="20009"/>
                    </a:ext>
                  </a:extLst>
                </a:gridCol>
              </a:tblGrid>
              <a:tr h="274320">
                <a:tc>
                  <a:txBody>
                    <a:bodyPr/>
                    <a:lstStyle/>
                    <a:p>
                      <a:pPr algn="ctr">
                        <a:spcAft>
                          <a:spcPts val="0"/>
                        </a:spcAft>
                      </a:pPr>
                      <a:r>
                        <a:rPr sz="81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得意先</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取引内容</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業種等</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extLst>
                  <a:ext uri="{0D108BD9-81ED-4DB2-BD59-A6C34878D82A}">
                    <a16:rowId xmlns:a16="http://schemas.microsoft.com/office/drawing/2014/main" val="10000"/>
                  </a:ext>
                </a:extLst>
              </a:tr>
              <a:tr h="260603">
                <a:tc>
                  <a:txBody>
                    <a:bodyPr/>
                    <a:lstStyle/>
                    <a:p>
                      <a:pPr algn="ctr">
                        <a:spcAft>
                          <a:spcPts val="0"/>
                        </a:spcAft>
                      </a:pPr>
                      <a:r>
                        <a:rPr sz="81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一般消費者（店頭飲食）</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そば店「慈久庵」での店内飲食</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一般消費者</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17,517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71.6%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16,167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68.7%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15,099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67.2%</a:t>
                      </a:r>
                    </a:p>
                  </a:txBody>
                  <a:tcPr marL="45720" marR="45720" marT="9144" marB="9144" anchor="ctr">
                    <a:solidFill>
                      <a:srgbClr val="FFFFFF"/>
                    </a:solidFill>
                  </a:tcPr>
                </a:tc>
                <a:extLst>
                  <a:ext uri="{0D108BD9-81ED-4DB2-BD59-A6C34878D82A}">
                    <a16:rowId xmlns:a16="http://schemas.microsoft.com/office/drawing/2014/main" val="10001"/>
                  </a:ext>
                </a:extLst>
              </a:tr>
              <a:tr h="260603">
                <a:tc>
                  <a:txBody>
                    <a:bodyPr/>
                    <a:lstStyle/>
                    <a:p>
                      <a:pPr algn="ctr">
                        <a:spcAft>
                          <a:spcPts val="0"/>
                        </a:spcAft>
                      </a:pPr>
                      <a:r>
                        <a:rPr sz="81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塩町館</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そば・食材の供給</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1,738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2,852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2,624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11.7%</a:t>
                      </a:r>
                    </a:p>
                  </a:txBody>
                  <a:tcPr marL="45720" marR="45720" marT="9144" marB="9144" anchor="ctr">
                    <a:solidFill>
                      <a:srgbClr val="FFFFFF"/>
                    </a:solidFill>
                  </a:tcPr>
                </a:tc>
                <a:extLst>
                  <a:ext uri="{0D108BD9-81ED-4DB2-BD59-A6C34878D82A}">
                    <a16:rowId xmlns:a16="http://schemas.microsoft.com/office/drawing/2014/main" val="10002"/>
                  </a:ext>
                </a:extLst>
              </a:tr>
              <a:tr h="260603">
                <a:tc>
                  <a:txBody>
                    <a:bodyPr/>
                    <a:lstStyle/>
                    <a:p>
                      <a:pPr algn="ctr">
                        <a:spcAft>
                          <a:spcPts val="0"/>
                        </a:spcAft>
                      </a:pPr>
                      <a:r>
                        <a:rPr sz="81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キビヤベーカリー</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1,778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1,563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1,865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8.3%</a:t>
                      </a:r>
                    </a:p>
                  </a:txBody>
                  <a:tcPr marL="45720" marR="45720" marT="9144" marB="9144" anchor="ctr">
                    <a:solidFill>
                      <a:srgbClr val="FFFFFF"/>
                    </a:solidFill>
                  </a:tcPr>
                </a:tc>
                <a:extLst>
                  <a:ext uri="{0D108BD9-81ED-4DB2-BD59-A6C34878D82A}">
                    <a16:rowId xmlns:a16="http://schemas.microsoft.com/office/drawing/2014/main" val="10003"/>
                  </a:ext>
                </a:extLst>
              </a:tr>
              <a:tr h="260603">
                <a:tc>
                  <a:txBody>
                    <a:bodyPr/>
                    <a:lstStyle/>
                    <a:p>
                      <a:pPr algn="ctr">
                        <a:spcAft>
                          <a:spcPts val="0"/>
                        </a:spcAft>
                      </a:pPr>
                      <a:r>
                        <a:rPr sz="810"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Ｅコレクトサガワ（通信販売）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蕎麦粉・玄そば等の通信販売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通販代引決済</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696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733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1,020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4.5%</a:t>
                      </a:r>
                    </a:p>
                  </a:txBody>
                  <a:tcPr marL="45720" marR="45720" marT="9144" marB="9144" anchor="ctr">
                    <a:solidFill>
                      <a:srgbClr val="FFFFFF"/>
                    </a:solidFill>
                  </a:tcPr>
                </a:tc>
                <a:extLst>
                  <a:ext uri="{0D108BD9-81ED-4DB2-BD59-A6C34878D82A}">
                    <a16:rowId xmlns:a16="http://schemas.microsoft.com/office/drawing/2014/main" val="10004"/>
                  </a:ext>
                </a:extLst>
              </a:tr>
              <a:tr h="260603">
                <a:tc>
                  <a:txBody>
                    <a:bodyPr/>
                    <a:lstStyle/>
                    <a:p>
                      <a:pPr algn="ctr">
                        <a:spcAft>
                          <a:spcPts val="0"/>
                        </a:spcAft>
                      </a:pPr>
                      <a:r>
                        <a:rPr sz="810" b="0">
                          <a:solidFill>
                            <a:srgbClr val="1A1A1A"/>
                          </a:solidFill>
                          <a:latin typeface="Arial"/>
                          <a:ea typeface="Arial"/>
                          <a:cs typeface="Arial"/>
                        </a:rPr>
                        <a:t>5</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小びと 等</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玄そば・材料費</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413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410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699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tcPr>
                </a:tc>
                <a:extLst>
                  <a:ext uri="{0D108BD9-81ED-4DB2-BD59-A6C34878D82A}">
                    <a16:rowId xmlns:a16="http://schemas.microsoft.com/office/drawing/2014/main" val="10005"/>
                  </a:ext>
                </a:extLst>
              </a:tr>
              <a:tr h="260603">
                <a:tc>
                  <a:txBody>
                    <a:bodyPr/>
                    <a:lstStyle/>
                    <a:p>
                      <a:pPr algn="ctr">
                        <a:spcAft>
                          <a:spcPts val="0"/>
                        </a:spcAft>
                      </a:pPr>
                      <a:r>
                        <a:rPr sz="810" b="0">
                          <a:solidFill>
                            <a:srgbClr val="1A1A1A"/>
                          </a:solidFill>
                          <a:latin typeface="Arial"/>
                          <a:ea typeface="Arial"/>
                          <a:cs typeface="Arial"/>
                        </a:rPr>
                        <a:t>6</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水府振興公社</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乾麺・そばつゆ等の商品卸</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道の駅・物産</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274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a:t>
                      </a:r>
                    </a:p>
                  </a:txBody>
                  <a:tcPr marL="45720" marR="45720" marT="9144" marB="9144" anchor="ctr">
                    <a:solidFill>
                      <a:srgbClr val="FFFFFF"/>
                    </a:solidFill>
                  </a:tcPr>
                </a:tc>
                <a:extLst>
                  <a:ext uri="{0D108BD9-81ED-4DB2-BD59-A6C34878D82A}">
                    <a16:rowId xmlns:a16="http://schemas.microsoft.com/office/drawing/2014/main" val="10006"/>
                  </a:ext>
                </a:extLst>
              </a:tr>
              <a:tr h="260603">
                <a:tc>
                  <a:txBody>
                    <a:bodyPr/>
                    <a:lstStyle/>
                    <a:p>
                      <a:pPr algn="ctr">
                        <a:spcAft>
                          <a:spcPts val="0"/>
                        </a:spcAft>
                      </a:pPr>
                      <a:r>
                        <a:rPr sz="810" b="0">
                          <a:solidFill>
                            <a:srgbClr val="1A1A1A"/>
                          </a:solidFill>
                          <a:latin typeface="Arial"/>
                          <a:ea typeface="Arial"/>
                          <a:cs typeface="Arial"/>
                        </a:rPr>
                        <a:t>7</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ルヴァン株式会社</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327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277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231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tcPr>
                </a:tc>
                <a:extLst>
                  <a:ext uri="{0D108BD9-81ED-4DB2-BD59-A6C34878D82A}">
                    <a16:rowId xmlns:a16="http://schemas.microsoft.com/office/drawing/2014/main" val="10007"/>
                  </a:ext>
                </a:extLst>
              </a:tr>
              <a:tr h="260603">
                <a:tc>
                  <a:txBody>
                    <a:bodyPr/>
                    <a:lstStyle/>
                    <a:p>
                      <a:pPr algn="ctr">
                        <a:spcAft>
                          <a:spcPts val="0"/>
                        </a:spcAft>
                      </a:pPr>
                      <a:r>
                        <a:rPr sz="810" b="0">
                          <a:solidFill>
                            <a:srgbClr val="1A1A1A"/>
                          </a:solidFill>
                          <a:latin typeface="Arial"/>
                          <a:ea typeface="Arial"/>
                          <a:cs typeface="Arial"/>
                        </a:rPr>
                        <a:t>8</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玉笑い</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玄そばの卸売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230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tcPr>
                </a:tc>
                <a:extLst>
                  <a:ext uri="{0D108BD9-81ED-4DB2-BD59-A6C34878D82A}">
                    <a16:rowId xmlns:a16="http://schemas.microsoft.com/office/drawing/2014/main" val="10008"/>
                  </a:ext>
                </a:extLst>
              </a:tr>
              <a:tr h="260603">
                <a:tc>
                  <a:txBody>
                    <a:bodyPr/>
                    <a:lstStyle/>
                    <a:p>
                      <a:pPr algn="ctr">
                        <a:spcAft>
                          <a:spcPts val="0"/>
                        </a:spcAft>
                      </a:pPr>
                      <a:r>
                        <a:rPr sz="810" b="0">
                          <a:solidFill>
                            <a:srgbClr val="1A1A1A"/>
                          </a:solidFill>
                          <a:latin typeface="Arial"/>
                          <a:ea typeface="Arial"/>
                          <a:cs typeface="Arial"/>
                        </a:rPr>
                        <a:t>9</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株式会社シオミ</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169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0.8%</a:t>
                      </a:r>
                    </a:p>
                  </a:txBody>
                  <a:tcPr marL="45720" marR="45720" marT="9144" marB="9144" anchor="ctr">
                    <a:solidFill>
                      <a:srgbClr val="FFFFFF"/>
                    </a:solidFill>
                  </a:tcPr>
                </a:tc>
                <a:extLst>
                  <a:ext uri="{0D108BD9-81ED-4DB2-BD59-A6C34878D82A}">
                    <a16:rowId xmlns:a16="http://schemas.microsoft.com/office/drawing/2014/main" val="10009"/>
                  </a:ext>
                </a:extLst>
              </a:tr>
              <a:tr h="260603">
                <a:tc>
                  <a:txBody>
                    <a:bodyPr/>
                    <a:lstStyle/>
                    <a:p>
                      <a:pPr algn="ctr">
                        <a:spcAft>
                          <a:spcPts val="0"/>
                        </a:spcAft>
                      </a:pPr>
                      <a:r>
                        <a:rPr sz="810" b="0">
                          <a:solidFill>
                            <a:srgbClr val="1A1A1A"/>
                          </a:solidFill>
                          <a:latin typeface="Arial"/>
                          <a:ea typeface="Arial"/>
                          <a:cs typeface="Arial"/>
                        </a:rPr>
                        <a:t>10</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アマゾンジャパン</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乾麺・そばつゆ等のEC販売</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ＥＣモール</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249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166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0.7%</a:t>
                      </a:r>
                    </a:p>
                  </a:txBody>
                  <a:tcPr marL="45720" marR="45720" marT="9144" marB="9144" anchor="ctr">
                    <a:solidFill>
                      <a:srgbClr val="FFFFFF"/>
                    </a:solidFill>
                  </a:tcPr>
                </a:tc>
                <a:extLst>
                  <a:ext uri="{0D108BD9-81ED-4DB2-BD59-A6C34878D82A}">
                    <a16:rowId xmlns:a16="http://schemas.microsoft.com/office/drawing/2014/main" val="10010"/>
                  </a:ext>
                </a:extLst>
              </a:tr>
              <a:tr h="260603">
                <a:tc>
                  <a:txBody>
                    <a:bodyPr/>
                    <a:lstStyle/>
                    <a:p>
                      <a:pPr algn="ctr">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その他</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1,612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1,018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0.5%</a:t>
                      </a:r>
                    </a:p>
                  </a:txBody>
                  <a:tcPr marL="45720" marR="45720" marT="9144" marB="9144" anchor="ctr">
                    <a:solidFill>
                      <a:srgbClr val="FFFFFF"/>
                    </a:solidFill>
                  </a:tcPr>
                </a:tc>
                <a:extLst>
                  <a:ext uri="{0D108BD9-81ED-4DB2-BD59-A6C34878D82A}">
                    <a16:rowId xmlns:a16="http://schemas.microsoft.com/office/drawing/2014/main" val="10011"/>
                  </a:ext>
                </a:extLst>
              </a:tr>
              <a:tr h="260603">
                <a:tc>
                  <a:txBody>
                    <a:bodyPr/>
                    <a:lstStyle/>
                    <a:p>
                      <a:pPr algn="ctr">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合計</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24,455</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23,542</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22,484</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extLst>
                  <a:ext uri="{0D108BD9-81ED-4DB2-BD59-A6C34878D82A}">
                    <a16:rowId xmlns:a16="http://schemas.microsoft.com/office/drawing/2014/main" val="10012"/>
                  </a:ext>
                </a:extLst>
              </a:tr>
            </a:tbl>
          </a:graphicData>
        </a:graphic>
      </p:graphicFrame>
      <p:sp>
        <p:nvSpPr>
          <p:cNvPr id="17" name="Rounded Rectangle 16"/>
          <p:cNvSpPr/>
          <p:nvPr/>
        </p:nvSpPr>
        <p:spPr>
          <a:xfrm>
            <a:off x="310896" y="5074920"/>
            <a:ext cx="9921240" cy="877824"/>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310896" y="5074920"/>
            <a:ext cx="1417320" cy="877824"/>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402336" y="5404103"/>
            <a:ext cx="1271016" cy="219456"/>
          </a:xfrm>
          <a:prstGeom prst="rect">
            <a:avLst/>
          </a:prstGeom>
          <a:noFill/>
        </p:spPr>
        <p:txBody>
          <a:bodyPr wrap="square" lIns="0" tIns="0" r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20" name="Oval 19"/>
          <p:cNvSpPr/>
          <p:nvPr/>
        </p:nvSpPr>
        <p:spPr>
          <a:xfrm>
            <a:off x="1883664"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2194560"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店頭の一般消費者が67.2％。</a:t>
            </a:r>
          </a:p>
          <a:p>
            <a:pPr algn="l">
              <a:lnSpc>
                <a:spcPct val="118000"/>
              </a:lnSpc>
              <a:spcAft>
                <a:spcPts val="0"/>
              </a:spcAft>
            </a:pPr>
            <a:r>
              <a:rPr sz="930" b="1">
                <a:solidFill>
                  <a:srgbClr val="202020"/>
                </a:solidFill>
                <a:latin typeface="游ゴシック"/>
                <a:ea typeface="游ゴシック"/>
                <a:cs typeface="游ゴシック"/>
              </a:rPr>
              <a:t>特定の法人顧客への依存はない</a:t>
            </a:r>
          </a:p>
        </p:txBody>
      </p:sp>
      <p:sp>
        <p:nvSpPr>
          <p:cNvPr id="22" name="Oval 21"/>
          <p:cNvSpPr/>
          <p:nvPr/>
        </p:nvSpPr>
        <p:spPr>
          <a:xfrm>
            <a:off x="4666488"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4977384"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通信販売696→1,020千円、キビヤ</a:t>
            </a:r>
          </a:p>
          <a:p>
            <a:pPr algn="l">
              <a:lnSpc>
                <a:spcPct val="118000"/>
              </a:lnSpc>
              <a:spcAft>
                <a:spcPts val="0"/>
              </a:spcAft>
            </a:pPr>
            <a:r>
              <a:rPr sz="930" b="1">
                <a:solidFill>
                  <a:srgbClr val="202020"/>
                </a:solidFill>
                <a:latin typeface="游ゴシック"/>
                <a:ea typeface="游ゴシック"/>
                <a:cs typeface="游ゴシック"/>
              </a:rPr>
              <a:t>ベーカリー1,778→1,865千円と増加</a:t>
            </a:r>
          </a:p>
        </p:txBody>
      </p:sp>
      <p:sp>
        <p:nvSpPr>
          <p:cNvPr id="24" name="Oval 23"/>
          <p:cNvSpPr/>
          <p:nvPr/>
        </p:nvSpPr>
        <p:spPr>
          <a:xfrm>
            <a:off x="7449312"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5" name="TextBox 24"/>
          <p:cNvSpPr txBox="1"/>
          <p:nvPr/>
        </p:nvSpPr>
        <p:spPr>
          <a:xfrm>
            <a:off x="7760208"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塩町館・小びと（計3,323千円）は</a:t>
            </a:r>
          </a:p>
          <a:p>
            <a:pPr algn="l">
              <a:lnSpc>
                <a:spcPct val="118000"/>
              </a:lnSpc>
              <a:spcAft>
                <a:spcPts val="0"/>
              </a:spcAft>
            </a:pPr>
            <a:r>
              <a:rPr sz="930" b="1">
                <a:solidFill>
                  <a:srgbClr val="202020"/>
                </a:solidFill>
                <a:latin typeface="游ゴシック"/>
                <a:ea typeface="游ゴシック"/>
                <a:cs typeface="游ゴシック"/>
              </a:rPr>
              <a:t>関係先向け。未収金の滞留は要確認</a:t>
            </a:r>
          </a:p>
        </p:txBody>
      </p:sp>
      <p:sp>
        <p:nvSpPr>
          <p:cNvPr id="26" name="TextBox 25"/>
          <p:cNvSpPr txBox="1"/>
          <p:nvPr/>
        </p:nvSpPr>
        <p:spPr>
          <a:xfrm>
            <a:off x="310896" y="612648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総勘定元帳の取引先欄を集計したもの。相手先の記載がない仕訳は「その他」に含まれる。</a:t>
            </a:r>
          </a:p>
          <a:p>
            <a:pPr algn="l">
              <a:lnSpc>
                <a:spcPct val="112000"/>
              </a:lnSpc>
              <a:spcAft>
                <a:spcPts val="100"/>
              </a:spcAft>
            </a:pPr>
            <a:r>
              <a:rPr sz="750" b="0">
                <a:solidFill>
                  <a:srgbClr val="5A6670"/>
                </a:solidFill>
                <a:latin typeface="游ゴシック"/>
                <a:ea typeface="游ゴシック"/>
                <a:cs typeface="游ゴシック"/>
              </a:rPr>
              <a:t>※ 「小びと 等」の2024/5期・2025/5期は、元帳上の摘要が「玄そば未収分」等であり取引先の特定が未了（要確認）。</a:t>
            </a:r>
          </a:p>
        </p:txBody>
      </p:sp>
      <p:sp>
        <p:nvSpPr>
          <p:cNvPr id="3" name="タイトル 1">
            <a:extLst>
              <a:ext uri="{FF2B5EF4-FFF2-40B4-BE49-F238E27FC236}">
                <a16:creationId xmlns:a16="http://schemas.microsoft.com/office/drawing/2014/main" id="{D3CAE9F7-A35E-4CDB-2531-9C337B4A7984}"/>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1962968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主要仕入先別取引高</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原料は小麦（ミルキーウェーブ）と玄そば（海老根氏）の2先で約4割。いずれも地元・個人の生産者との直接取引</a:t>
            </a:r>
            <a:endParaRPr lang="en-US" altLang="ja-JP" dirty="0"/>
          </a:p>
        </p:txBody>
      </p:sp>
      <p:graphicFrame>
        <p:nvGraphicFramePr>
          <p:cNvPr id="14" name="Table 13"/>
          <p:cNvGraphicFramePr>
            <a:graphicFrameLocks noGrp="1"/>
          </p:cNvGraphicFramePr>
          <p:nvPr/>
        </p:nvGraphicFramePr>
        <p:xfrm>
          <a:off x="310896" y="1408176"/>
          <a:ext cx="9921235" cy="3401556"/>
        </p:xfrm>
        <a:graphic>
          <a:graphicData uri="http://schemas.openxmlformats.org/drawingml/2006/table">
            <a:tbl>
              <a:tblPr>
                <a:tableStyleId>{5940675A-B579-460E-94D1-54222C63F5DA}</a:tableStyleId>
              </a:tblPr>
              <a:tblGrid>
                <a:gridCol w="375094">
                  <a:extLst>
                    <a:ext uri="{9D8B030D-6E8A-4147-A177-3AD203B41FA5}">
                      <a16:colId xmlns:a16="http://schemas.microsoft.com/office/drawing/2014/main" val="20000"/>
                    </a:ext>
                  </a:extLst>
                </a:gridCol>
                <a:gridCol w="2306828">
                  <a:extLst>
                    <a:ext uri="{9D8B030D-6E8A-4147-A177-3AD203B41FA5}">
                      <a16:colId xmlns:a16="http://schemas.microsoft.com/office/drawing/2014/main" val="20001"/>
                    </a:ext>
                  </a:extLst>
                </a:gridCol>
                <a:gridCol w="1594150">
                  <a:extLst>
                    <a:ext uri="{9D8B030D-6E8A-4147-A177-3AD203B41FA5}">
                      <a16:colId xmlns:a16="http://schemas.microsoft.com/office/drawing/2014/main" val="20002"/>
                    </a:ext>
                  </a:extLst>
                </a:gridCol>
                <a:gridCol w="1256565">
                  <a:extLst>
                    <a:ext uri="{9D8B030D-6E8A-4147-A177-3AD203B41FA5}">
                      <a16:colId xmlns:a16="http://schemas.microsoft.com/office/drawing/2014/main" val="20003"/>
                    </a:ext>
                  </a:extLst>
                </a:gridCol>
                <a:gridCol w="806452">
                  <a:extLst>
                    <a:ext uri="{9D8B030D-6E8A-4147-A177-3AD203B41FA5}">
                      <a16:colId xmlns:a16="http://schemas.microsoft.com/office/drawing/2014/main" val="20004"/>
                    </a:ext>
                  </a:extLst>
                </a:gridCol>
                <a:gridCol w="656414">
                  <a:extLst>
                    <a:ext uri="{9D8B030D-6E8A-4147-A177-3AD203B41FA5}">
                      <a16:colId xmlns:a16="http://schemas.microsoft.com/office/drawing/2014/main" val="20005"/>
                    </a:ext>
                  </a:extLst>
                </a:gridCol>
                <a:gridCol w="806452">
                  <a:extLst>
                    <a:ext uri="{9D8B030D-6E8A-4147-A177-3AD203B41FA5}">
                      <a16:colId xmlns:a16="http://schemas.microsoft.com/office/drawing/2014/main" val="20006"/>
                    </a:ext>
                  </a:extLst>
                </a:gridCol>
                <a:gridCol w="656414">
                  <a:extLst>
                    <a:ext uri="{9D8B030D-6E8A-4147-A177-3AD203B41FA5}">
                      <a16:colId xmlns:a16="http://schemas.microsoft.com/office/drawing/2014/main" val="20007"/>
                    </a:ext>
                  </a:extLst>
                </a:gridCol>
                <a:gridCol w="806452">
                  <a:extLst>
                    <a:ext uri="{9D8B030D-6E8A-4147-A177-3AD203B41FA5}">
                      <a16:colId xmlns:a16="http://schemas.microsoft.com/office/drawing/2014/main" val="20008"/>
                    </a:ext>
                  </a:extLst>
                </a:gridCol>
                <a:gridCol w="656414">
                  <a:extLst>
                    <a:ext uri="{9D8B030D-6E8A-4147-A177-3AD203B41FA5}">
                      <a16:colId xmlns:a16="http://schemas.microsoft.com/office/drawing/2014/main" val="20009"/>
                    </a:ext>
                  </a:extLst>
                </a:gridCol>
              </a:tblGrid>
              <a:tr h="274320">
                <a:tc>
                  <a:txBody>
                    <a:bodyPr/>
                    <a:lstStyle/>
                    <a:p>
                      <a:pPr algn="ctr">
                        <a:spcAft>
                          <a:spcPts val="0"/>
                        </a:spcAft>
                      </a:pPr>
                      <a:r>
                        <a:rPr sz="81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仕入先</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仕入内容</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所在地</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tcPr>
                </a:tc>
                <a:extLst>
                  <a:ext uri="{0D108BD9-81ED-4DB2-BD59-A6C34878D82A}">
                    <a16:rowId xmlns:a16="http://schemas.microsoft.com/office/drawing/2014/main" val="10000"/>
                  </a:ext>
                </a:extLst>
              </a:tr>
              <a:tr h="260603">
                <a:tc>
                  <a:txBody>
                    <a:bodyPr/>
                    <a:lstStyle/>
                    <a:p>
                      <a:pPr algn="ctr">
                        <a:spcAft>
                          <a:spcPts val="0"/>
                        </a:spcAft>
                      </a:pPr>
                      <a:r>
                        <a:rPr sz="81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ミルキーウェーブ（外岡 清秀）</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小麦（原料）</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1,235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24.3%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1,241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28.8%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1,155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25.1%</a:t>
                      </a:r>
                    </a:p>
                  </a:txBody>
                  <a:tcPr marL="45720" marR="45720" marT="9144" marB="9144" anchor="ctr">
                    <a:solidFill>
                      <a:srgbClr val="FFFFFF"/>
                    </a:solidFill>
                  </a:tcPr>
                </a:tc>
                <a:extLst>
                  <a:ext uri="{0D108BD9-81ED-4DB2-BD59-A6C34878D82A}">
                    <a16:rowId xmlns:a16="http://schemas.microsoft.com/office/drawing/2014/main" val="10001"/>
                  </a:ext>
                </a:extLst>
              </a:tr>
              <a:tr h="260603">
                <a:tc>
                  <a:txBody>
                    <a:bodyPr/>
                    <a:lstStyle/>
                    <a:p>
                      <a:pPr algn="ctr">
                        <a:spcAft>
                          <a:spcPts val="0"/>
                        </a:spcAft>
                      </a:pPr>
                      <a:r>
                        <a:rPr sz="81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海老根 章</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玄そば</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茨城県内</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1,300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660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14.4%</a:t>
                      </a:r>
                    </a:p>
                  </a:txBody>
                  <a:tcPr marL="45720" marR="45720" marT="9144" marB="9144" anchor="ctr">
                    <a:solidFill>
                      <a:srgbClr val="FFFFFF"/>
                    </a:solidFill>
                  </a:tcPr>
                </a:tc>
                <a:extLst>
                  <a:ext uri="{0D108BD9-81ED-4DB2-BD59-A6C34878D82A}">
                    <a16:rowId xmlns:a16="http://schemas.microsoft.com/office/drawing/2014/main" val="10002"/>
                  </a:ext>
                </a:extLst>
              </a:tr>
              <a:tr h="260603">
                <a:tc>
                  <a:txBody>
                    <a:bodyPr/>
                    <a:lstStyle/>
                    <a:p>
                      <a:pPr algn="ctr">
                        <a:spcAft>
                          <a:spcPts val="0"/>
                        </a:spcAft>
                      </a:pPr>
                      <a:r>
                        <a:rPr sz="81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健興通商</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酒類・食材</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148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5.9%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477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10.4%</a:t>
                      </a:r>
                    </a:p>
                  </a:txBody>
                  <a:tcPr marL="45720" marR="45720" marT="9144" marB="9144" anchor="ctr">
                    <a:solidFill>
                      <a:srgbClr val="FFFFFF"/>
                    </a:solidFill>
                  </a:tcPr>
                </a:tc>
                <a:extLst>
                  <a:ext uri="{0D108BD9-81ED-4DB2-BD59-A6C34878D82A}">
                    <a16:rowId xmlns:a16="http://schemas.microsoft.com/office/drawing/2014/main" val="10003"/>
                  </a:ext>
                </a:extLst>
              </a:tr>
              <a:tr h="260603">
                <a:tc>
                  <a:txBody>
                    <a:bodyPr/>
                    <a:lstStyle/>
                    <a:p>
                      <a:pPr algn="ctr">
                        <a:spcAft>
                          <a:spcPts val="0"/>
                        </a:spcAft>
                      </a:pPr>
                      <a:r>
                        <a:rPr sz="810"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株式会社鈴木商店</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食材全般</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茨城県内</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191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3.8%</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321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334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7.3%</a:t>
                      </a:r>
                    </a:p>
                  </a:txBody>
                  <a:tcPr marL="45720" marR="45720" marT="9144" marB="9144" anchor="ctr">
                    <a:solidFill>
                      <a:srgbClr val="FFFFFF"/>
                    </a:solidFill>
                  </a:tcPr>
                </a:tc>
                <a:extLst>
                  <a:ext uri="{0D108BD9-81ED-4DB2-BD59-A6C34878D82A}">
                    <a16:rowId xmlns:a16="http://schemas.microsoft.com/office/drawing/2014/main" val="10004"/>
                  </a:ext>
                </a:extLst>
              </a:tr>
              <a:tr h="260603">
                <a:tc>
                  <a:txBody>
                    <a:bodyPr/>
                    <a:lstStyle/>
                    <a:p>
                      <a:pPr algn="ctr">
                        <a:spcAft>
                          <a:spcPts val="0"/>
                        </a:spcAft>
                      </a:pPr>
                      <a:r>
                        <a:rPr sz="810" b="0">
                          <a:solidFill>
                            <a:srgbClr val="1A1A1A"/>
                          </a:solidFill>
                          <a:latin typeface="Arial"/>
                          <a:ea typeface="Arial"/>
                          <a:cs typeface="Arial"/>
                        </a:rPr>
                        <a:t>5</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株式会社西崎ファーム</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鴨肉</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42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3.8%</a:t>
                      </a:r>
                    </a:p>
                  </a:txBody>
                  <a:tcPr marL="45720" marR="45720" marT="9144" marB="9144" anchor="ctr">
                    <a:solidFill>
                      <a:srgbClr val="FFFFFF"/>
                    </a:solidFill>
                  </a:tcPr>
                </a:tc>
                <a:extLst>
                  <a:ext uri="{0D108BD9-81ED-4DB2-BD59-A6C34878D82A}">
                    <a16:rowId xmlns:a16="http://schemas.microsoft.com/office/drawing/2014/main" val="10005"/>
                  </a:ext>
                </a:extLst>
              </a:tr>
              <a:tr h="260603">
                <a:tc>
                  <a:txBody>
                    <a:bodyPr/>
                    <a:lstStyle/>
                    <a:p>
                      <a:pPr algn="ctr">
                        <a:spcAft>
                          <a:spcPts val="0"/>
                        </a:spcAft>
                      </a:pPr>
                      <a:r>
                        <a:rPr sz="810" b="0">
                          <a:solidFill>
                            <a:srgbClr val="1A1A1A"/>
                          </a:solidFill>
                          <a:latin typeface="Arial"/>
                          <a:ea typeface="Arial"/>
                          <a:cs typeface="Arial"/>
                        </a:rPr>
                        <a:t>6</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三輪デグストアトウキョウ</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食材</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東京都</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85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217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5.0%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2.7%</a:t>
                      </a:r>
                    </a:p>
                  </a:txBody>
                  <a:tcPr marL="45720" marR="45720" marT="9144" marB="9144" anchor="ctr">
                    <a:solidFill>
                      <a:srgbClr val="FFFFFF"/>
                    </a:solidFill>
                  </a:tcPr>
                </a:tc>
                <a:extLst>
                  <a:ext uri="{0D108BD9-81ED-4DB2-BD59-A6C34878D82A}">
                    <a16:rowId xmlns:a16="http://schemas.microsoft.com/office/drawing/2014/main" val="10006"/>
                  </a:ext>
                </a:extLst>
              </a:tr>
              <a:tr h="260603">
                <a:tc>
                  <a:txBody>
                    <a:bodyPr/>
                    <a:lstStyle/>
                    <a:p>
                      <a:pPr algn="ctr">
                        <a:spcAft>
                          <a:spcPts val="0"/>
                        </a:spcAft>
                      </a:pPr>
                      <a:r>
                        <a:rPr sz="810" b="0">
                          <a:solidFill>
                            <a:srgbClr val="1A1A1A"/>
                          </a:solidFill>
                          <a:latin typeface="Arial"/>
                          <a:ea typeface="Arial"/>
                          <a:cs typeface="Arial"/>
                        </a:rPr>
                        <a:t>7</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岩魚郷北条屋敷</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岩魚</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135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107</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tcPr>
                </a:tc>
                <a:extLst>
                  <a:ext uri="{0D108BD9-81ED-4DB2-BD59-A6C34878D82A}">
                    <a16:rowId xmlns:a16="http://schemas.microsoft.com/office/drawing/2014/main" val="10007"/>
                  </a:ext>
                </a:extLst>
              </a:tr>
              <a:tr h="260603">
                <a:tc>
                  <a:txBody>
                    <a:bodyPr/>
                    <a:lstStyle/>
                    <a:p>
                      <a:pPr algn="ctr">
                        <a:spcAft>
                          <a:spcPts val="0"/>
                        </a:spcAft>
                      </a:pPr>
                      <a:r>
                        <a:rPr sz="810" b="0">
                          <a:solidFill>
                            <a:srgbClr val="1A1A1A"/>
                          </a:solidFill>
                          <a:latin typeface="Arial"/>
                          <a:ea typeface="Arial"/>
                          <a:cs typeface="Arial"/>
                        </a:rPr>
                        <a:t>8</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多田製粉株式会社</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粉類</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135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tcPr>
                </a:tc>
                <a:extLst>
                  <a:ext uri="{0D108BD9-81ED-4DB2-BD59-A6C34878D82A}">
                    <a16:rowId xmlns:a16="http://schemas.microsoft.com/office/drawing/2014/main" val="10008"/>
                  </a:ext>
                </a:extLst>
              </a:tr>
              <a:tr h="260603">
                <a:tc>
                  <a:txBody>
                    <a:bodyPr/>
                    <a:lstStyle/>
                    <a:p>
                      <a:pPr algn="ctr">
                        <a:spcAft>
                          <a:spcPts val="0"/>
                        </a:spcAft>
                      </a:pPr>
                      <a:r>
                        <a:rPr sz="810" b="0">
                          <a:solidFill>
                            <a:srgbClr val="1A1A1A"/>
                          </a:solidFill>
                          <a:latin typeface="Arial"/>
                          <a:ea typeface="Arial"/>
                          <a:cs typeface="Arial"/>
                        </a:rPr>
                        <a:t>9</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伊勢又米穀製粉株式会社</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打ち粉・製粉外注</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茨城県常陸太田市</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384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7.6%</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109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tcPr>
                </a:tc>
                <a:extLst>
                  <a:ext uri="{0D108BD9-81ED-4DB2-BD59-A6C34878D82A}">
                    <a16:rowId xmlns:a16="http://schemas.microsoft.com/office/drawing/2014/main" val="10009"/>
                  </a:ext>
                </a:extLst>
              </a:tr>
              <a:tr h="260603">
                <a:tc>
                  <a:txBody>
                    <a:bodyPr/>
                    <a:lstStyle/>
                    <a:p>
                      <a:pPr algn="ctr">
                        <a:spcAft>
                          <a:spcPts val="0"/>
                        </a:spcAft>
                      </a:pPr>
                      <a:r>
                        <a:rPr sz="810" b="0">
                          <a:solidFill>
                            <a:srgbClr val="1A1A1A"/>
                          </a:solidFill>
                          <a:latin typeface="Arial"/>
                          <a:ea typeface="Arial"/>
                          <a:cs typeface="Arial"/>
                        </a:rPr>
                        <a:t>10</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岡村製油株式会社</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天ぷら油</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大阪府</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113</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82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92</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2.0%</a:t>
                      </a:r>
                    </a:p>
                  </a:txBody>
                  <a:tcPr marL="45720" marR="45720" marT="9144" marB="9144" anchor="ctr">
                    <a:solidFill>
                      <a:srgbClr val="FFFFFF"/>
                    </a:solidFill>
                  </a:tcPr>
                </a:tc>
                <a:extLst>
                  <a:ext uri="{0D108BD9-81ED-4DB2-BD59-A6C34878D82A}">
                    <a16:rowId xmlns:a16="http://schemas.microsoft.com/office/drawing/2014/main" val="10010"/>
                  </a:ext>
                </a:extLst>
              </a:tr>
              <a:tr h="260603">
                <a:tc>
                  <a:txBody>
                    <a:bodyPr/>
                    <a:lstStyle/>
                    <a:p>
                      <a:pPr algn="ctr">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その他</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1,365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26.9%</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710</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16.5%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1,245</a:t>
                      </a:r>
                    </a:p>
                  </a:txBody>
                  <a:tcPr marL="45720" marR="45720" marT="9144" marB="9144" anchor="ctr">
                    <a:solidFill>
                      <a:srgbClr val="FFFFFF"/>
                    </a:solidFill>
                  </a:tcPr>
                </a:tc>
                <a:tc>
                  <a:txBody>
                    <a:bodyPr/>
                    <a:lstStyle/>
                    <a:p>
                      <a:pPr algn="r">
                        <a:spcAft>
                          <a:spcPts val="0"/>
                        </a:spcAft>
                      </a:pPr>
                      <a:r>
                        <a:rPr sz="810" b="0">
                          <a:solidFill>
                            <a:srgbClr val="1A1A1A"/>
                          </a:solidFill>
                          <a:latin typeface="Arial"/>
                          <a:ea typeface="Arial"/>
                          <a:cs typeface="Arial"/>
                        </a:rPr>
                        <a:t>27.1%</a:t>
                      </a:r>
                    </a:p>
                  </a:txBody>
                  <a:tcPr marL="45720" marR="45720" marT="9144" marB="9144" anchor="ctr">
                    <a:solidFill>
                      <a:srgbClr val="FFFFFF"/>
                    </a:solidFill>
                  </a:tcPr>
                </a:tc>
                <a:extLst>
                  <a:ext uri="{0D108BD9-81ED-4DB2-BD59-A6C34878D82A}">
                    <a16:rowId xmlns:a16="http://schemas.microsoft.com/office/drawing/2014/main" val="10011"/>
                  </a:ext>
                </a:extLst>
              </a:tr>
              <a:tr h="260603">
                <a:tc>
                  <a:txBody>
                    <a:bodyPr/>
                    <a:lstStyle/>
                    <a:p>
                      <a:pPr algn="ctr">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合計（材料仕入高）</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5,079</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4,313</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4,595</a:t>
                      </a:r>
                    </a:p>
                  </a:txBody>
                  <a:tcPr marL="45720" marR="45720" marT="9144" marB="9144" anchor="ctr">
                    <a:solidFill>
                      <a:srgbClr val="FFFFFF"/>
                    </a:solidFill>
                  </a:tcPr>
                </a:tc>
                <a:tc>
                  <a:txBody>
                    <a:bodyPr/>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tcPr>
                </a:tc>
                <a:extLst>
                  <a:ext uri="{0D108BD9-81ED-4DB2-BD59-A6C34878D82A}">
                    <a16:rowId xmlns:a16="http://schemas.microsoft.com/office/drawing/2014/main" val="10012"/>
                  </a:ext>
                </a:extLst>
              </a:tr>
            </a:tbl>
          </a:graphicData>
        </a:graphic>
      </p:graphicFrame>
      <p:sp>
        <p:nvSpPr>
          <p:cNvPr id="15" name="Rounded Rectangle 14"/>
          <p:cNvSpPr/>
          <p:nvPr/>
        </p:nvSpPr>
        <p:spPr>
          <a:xfrm>
            <a:off x="310896" y="5074920"/>
            <a:ext cx="9921240" cy="877824"/>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310896" y="5074920"/>
            <a:ext cx="1417320" cy="877824"/>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402336" y="5404103"/>
            <a:ext cx="1271016" cy="219456"/>
          </a:xfrm>
          <a:prstGeom prst="rect">
            <a:avLst/>
          </a:prstGeom>
          <a:noFill/>
        </p:spPr>
        <p:txBody>
          <a:bodyPr wrap="square" lIns="0" tIns="0" r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18" name="Oval 17"/>
          <p:cNvSpPr/>
          <p:nvPr/>
        </p:nvSpPr>
        <p:spPr>
          <a:xfrm>
            <a:off x="1883664"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19" name="TextBox 18"/>
          <p:cNvSpPr txBox="1"/>
          <p:nvPr/>
        </p:nvSpPr>
        <p:spPr>
          <a:xfrm>
            <a:off x="2194560"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上位2先で39.5％。いずれも個人・</a:t>
            </a:r>
          </a:p>
          <a:p>
            <a:pPr algn="l">
              <a:lnSpc>
                <a:spcPct val="118000"/>
              </a:lnSpc>
              <a:spcAft>
                <a:spcPts val="0"/>
              </a:spcAft>
            </a:pPr>
            <a:r>
              <a:rPr sz="930" b="1">
                <a:solidFill>
                  <a:srgbClr val="202020"/>
                </a:solidFill>
                <a:latin typeface="游ゴシック"/>
                <a:ea typeface="游ゴシック"/>
                <a:cs typeface="游ゴシック"/>
              </a:rPr>
              <a:t>小規模の生産者との直接取引</a:t>
            </a:r>
          </a:p>
        </p:txBody>
      </p:sp>
      <p:sp>
        <p:nvSpPr>
          <p:cNvPr id="20" name="Oval 19"/>
          <p:cNvSpPr/>
          <p:nvPr/>
        </p:nvSpPr>
        <p:spPr>
          <a:xfrm>
            <a:off x="4666488"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4977384"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玄そばの仕入は1,300→660千円と</a:t>
            </a:r>
          </a:p>
          <a:p>
            <a:pPr algn="l">
              <a:lnSpc>
                <a:spcPct val="118000"/>
              </a:lnSpc>
              <a:spcAft>
                <a:spcPts val="0"/>
              </a:spcAft>
            </a:pPr>
            <a:r>
              <a:rPr sz="930" b="1">
                <a:solidFill>
                  <a:srgbClr val="202020"/>
                </a:solidFill>
                <a:latin typeface="游ゴシック"/>
                <a:ea typeface="游ゴシック"/>
                <a:cs typeface="游ゴシック"/>
              </a:rPr>
              <a:t>減少。棚卸資産2,025千円との整理が必要</a:t>
            </a:r>
          </a:p>
        </p:txBody>
      </p:sp>
      <p:sp>
        <p:nvSpPr>
          <p:cNvPr id="22" name="Oval 21"/>
          <p:cNvSpPr/>
          <p:nvPr/>
        </p:nvSpPr>
        <p:spPr>
          <a:xfrm>
            <a:off x="7449312"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7760208" y="5239512"/>
            <a:ext cx="2380487" cy="603503"/>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契約書は未受領。価格決定方法・</a:t>
            </a:r>
          </a:p>
          <a:p>
            <a:pPr algn="l">
              <a:lnSpc>
                <a:spcPct val="118000"/>
              </a:lnSpc>
              <a:spcAft>
                <a:spcPts val="0"/>
              </a:spcAft>
            </a:pPr>
            <a:r>
              <a:rPr sz="930" b="1">
                <a:solidFill>
                  <a:srgbClr val="202020"/>
                </a:solidFill>
                <a:latin typeface="游ゴシック"/>
                <a:ea typeface="游ゴシック"/>
                <a:cs typeface="游ゴシック"/>
              </a:rPr>
              <a:t>供給継続性は要確認</a:t>
            </a:r>
          </a:p>
        </p:txBody>
      </p:sp>
      <p:sp>
        <p:nvSpPr>
          <p:cNvPr id="24" name="TextBox 23"/>
          <p:cNvSpPr txBox="1"/>
          <p:nvPr/>
        </p:nvSpPr>
        <p:spPr>
          <a:xfrm>
            <a:off x="310896" y="612648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製造原価報告書「材料仕入高」の総勘定元帳明細を集計したもの。商品仕入高92千円・外注加工費272千円は含まない。</a:t>
            </a:r>
          </a:p>
          <a:p>
            <a:pPr algn="l">
              <a:lnSpc>
                <a:spcPct val="112000"/>
              </a:lnSpc>
              <a:spcAft>
                <a:spcPts val="100"/>
              </a:spcAft>
            </a:pPr>
            <a:r>
              <a:rPr sz="750" b="0">
                <a:solidFill>
                  <a:srgbClr val="5A6670"/>
                </a:solidFill>
                <a:latin typeface="游ゴシック"/>
                <a:ea typeface="游ゴシック"/>
                <a:cs typeface="游ゴシック"/>
              </a:rPr>
              <a:t>※ 相手先の記載がない仕訳は「その他」に含まれる。</a:t>
            </a:r>
          </a:p>
        </p:txBody>
      </p:sp>
      <p:sp>
        <p:nvSpPr>
          <p:cNvPr id="3" name="タイトル 1">
            <a:extLst>
              <a:ext uri="{FF2B5EF4-FFF2-40B4-BE49-F238E27FC236}">
                <a16:creationId xmlns:a16="http://schemas.microsoft.com/office/drawing/2014/main" id="{EAF8BE55-8BD8-774E-3A84-77803A087DA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2932585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月次売上・営業日の分析</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営業は金・土・日・月の週4日・昼のみ（年間200日）。新そばの11月が日商141千円と突出し、1月の約3倍</a:t>
            </a:r>
            <a:endParaRPr lang="en-US" altLang="ja-JP" dirty="0"/>
          </a:p>
        </p:txBody>
      </p:sp>
      <p:graphicFrame>
        <p:nvGraphicFramePr>
          <p:cNvPr id="14" name="Table 13"/>
          <p:cNvGraphicFramePr>
            <a:graphicFrameLocks noGrp="1"/>
          </p:cNvGraphicFramePr>
          <p:nvPr/>
        </p:nvGraphicFramePr>
        <p:xfrm>
          <a:off x="310896" y="1408176"/>
          <a:ext cx="3529580" cy="2820007"/>
        </p:xfrm>
        <a:graphic>
          <a:graphicData uri="http://schemas.openxmlformats.org/drawingml/2006/table">
            <a:tbl>
              <a:tblPr>
                <a:tableStyleId>{5940675A-B579-460E-94D1-54222C63F5DA}</a:tableStyleId>
              </a:tblPr>
              <a:tblGrid>
                <a:gridCol w="694943">
                  <a:extLst>
                    <a:ext uri="{9D8B030D-6E8A-4147-A177-3AD203B41FA5}">
                      <a16:colId xmlns:a16="http://schemas.microsoft.com/office/drawing/2014/main" val="20000"/>
                    </a:ext>
                  </a:extLst>
                </a:gridCol>
                <a:gridCol w="1207007">
                  <a:extLst>
                    <a:ext uri="{9D8B030D-6E8A-4147-A177-3AD203B41FA5}">
                      <a16:colId xmlns:a16="http://schemas.microsoft.com/office/drawing/2014/main" val="20001"/>
                    </a:ext>
                  </a:extLst>
                </a:gridCol>
                <a:gridCol w="804671">
                  <a:extLst>
                    <a:ext uri="{9D8B030D-6E8A-4147-A177-3AD203B41FA5}">
                      <a16:colId xmlns:a16="http://schemas.microsoft.com/office/drawing/2014/main" val="20002"/>
                    </a:ext>
                  </a:extLst>
                </a:gridCol>
                <a:gridCol w="822959">
                  <a:extLst>
                    <a:ext uri="{9D8B030D-6E8A-4147-A177-3AD203B41FA5}">
                      <a16:colId xmlns:a16="http://schemas.microsoft.com/office/drawing/2014/main" val="20003"/>
                    </a:ext>
                  </a:extLst>
                </a:gridCol>
              </a:tblGrid>
              <a:tr h="228600">
                <a:tc>
                  <a:txBody>
                    <a:bodyPr/>
                    <a:lstStyle/>
                    <a:p>
                      <a:pPr algn="ctr">
                        <a:spcAft>
                          <a:spcPts val="0"/>
                        </a:spcAft>
                      </a:pPr>
                      <a:r>
                        <a:rPr sz="819" b="1">
                          <a:solidFill>
                            <a:srgbClr val="FFFFFF"/>
                          </a:solidFill>
                          <a:latin typeface="游ゴシック"/>
                          <a:ea typeface="游ゴシック"/>
                          <a:cs typeface="游ゴシック"/>
                        </a:rPr>
                        <a:t>月</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店頭売上高</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営業日数</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日商平均</a:t>
                      </a:r>
                    </a:p>
                  </a:txBody>
                  <a:tcPr marL="45720" marR="45720" marT="9144" marB="9144" anchor="ctr">
                    <a:solidFill>
                      <a:srgbClr val="0B3041"/>
                    </a:solidFill>
                  </a:tcPr>
                </a:tc>
                <a:extLst>
                  <a:ext uri="{0D108BD9-81ED-4DB2-BD59-A6C34878D82A}">
                    <a16:rowId xmlns:a16="http://schemas.microsoft.com/office/drawing/2014/main" val="10000"/>
                  </a:ext>
                </a:extLst>
              </a:tr>
              <a:tr h="199339">
                <a:tc>
                  <a:txBody>
                    <a:bodyPr/>
                    <a:lstStyle/>
                    <a:p>
                      <a:pPr algn="l">
                        <a:spcAft>
                          <a:spcPts val="0"/>
                        </a:spcAft>
                      </a:pPr>
                      <a:r>
                        <a:rPr sz="819" b="0">
                          <a:solidFill>
                            <a:srgbClr val="1A1A1A"/>
                          </a:solidFill>
                          <a:latin typeface="游ゴシック"/>
                          <a:ea typeface="游ゴシック"/>
                          <a:cs typeface="游ゴシック"/>
                        </a:rPr>
                        <a:t>6月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975</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57</a:t>
                      </a:r>
                    </a:p>
                  </a:txBody>
                  <a:tcPr marL="45720" marR="45720" marT="9144" marB="9144" anchor="ctr">
                    <a:solidFill>
                      <a:srgbClr val="FFFFFF"/>
                    </a:solidFill>
                  </a:tcPr>
                </a:tc>
                <a:extLst>
                  <a:ext uri="{0D108BD9-81ED-4DB2-BD59-A6C34878D82A}">
                    <a16:rowId xmlns:a16="http://schemas.microsoft.com/office/drawing/2014/main" val="10001"/>
                  </a:ext>
                </a:extLst>
              </a:tr>
              <a:tr h="199339">
                <a:tc>
                  <a:txBody>
                    <a:bodyPr/>
                    <a:lstStyle/>
                    <a:p>
                      <a:pPr algn="l">
                        <a:spcAft>
                          <a:spcPts val="0"/>
                        </a:spcAft>
                      </a:pPr>
                      <a:r>
                        <a:rPr sz="819" b="0">
                          <a:solidFill>
                            <a:srgbClr val="1A1A1A"/>
                          </a:solidFill>
                          <a:latin typeface="游ゴシック"/>
                          <a:ea typeface="游ゴシック"/>
                          <a:cs typeface="游ゴシック"/>
                        </a:rPr>
                        <a:t>7月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1,106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69</a:t>
                      </a:r>
                    </a:p>
                  </a:txBody>
                  <a:tcPr marL="45720" marR="45720" marT="9144" marB="9144" anchor="ctr">
                    <a:solidFill>
                      <a:srgbClr val="FFFFFF"/>
                    </a:solidFill>
                  </a:tcPr>
                </a:tc>
                <a:extLst>
                  <a:ext uri="{0D108BD9-81ED-4DB2-BD59-A6C34878D82A}">
                    <a16:rowId xmlns:a16="http://schemas.microsoft.com/office/drawing/2014/main" val="10002"/>
                  </a:ext>
                </a:extLst>
              </a:tr>
              <a:tr h="199339">
                <a:tc>
                  <a:txBody>
                    <a:bodyPr/>
                    <a:lstStyle/>
                    <a:p>
                      <a:pPr algn="l">
                        <a:spcAft>
                          <a:spcPts val="0"/>
                        </a:spcAft>
                      </a:pPr>
                      <a:r>
                        <a:rPr sz="819" b="0">
                          <a:solidFill>
                            <a:srgbClr val="1A1A1A"/>
                          </a:solidFill>
                          <a:latin typeface="游ゴシック"/>
                          <a:ea typeface="游ゴシック"/>
                          <a:cs typeface="游ゴシック"/>
                        </a:rPr>
                        <a:t>8月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1,622</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19</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85</a:t>
                      </a:r>
                    </a:p>
                  </a:txBody>
                  <a:tcPr marL="45720" marR="45720" marT="9144" marB="9144" anchor="ctr">
                    <a:solidFill>
                      <a:srgbClr val="FFFFFF"/>
                    </a:solidFill>
                  </a:tcPr>
                </a:tc>
                <a:extLst>
                  <a:ext uri="{0D108BD9-81ED-4DB2-BD59-A6C34878D82A}">
                    <a16:rowId xmlns:a16="http://schemas.microsoft.com/office/drawing/2014/main" val="10003"/>
                  </a:ext>
                </a:extLst>
              </a:tr>
              <a:tr h="199339">
                <a:tc>
                  <a:txBody>
                    <a:bodyPr/>
                    <a:lstStyle/>
                    <a:p>
                      <a:pPr algn="l">
                        <a:spcAft>
                          <a:spcPts val="0"/>
                        </a:spcAft>
                      </a:pPr>
                      <a:r>
                        <a:rPr sz="819" b="0">
                          <a:solidFill>
                            <a:srgbClr val="1A1A1A"/>
                          </a:solidFill>
                          <a:latin typeface="游ゴシック"/>
                          <a:ea typeface="游ゴシック"/>
                          <a:cs typeface="游ゴシック"/>
                        </a:rPr>
                        <a:t>9月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1,249</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73</a:t>
                      </a:r>
                    </a:p>
                  </a:txBody>
                  <a:tcPr marL="45720" marR="45720" marT="9144" marB="9144" anchor="ctr">
                    <a:solidFill>
                      <a:srgbClr val="FFFFFF"/>
                    </a:solidFill>
                  </a:tcPr>
                </a:tc>
                <a:extLst>
                  <a:ext uri="{0D108BD9-81ED-4DB2-BD59-A6C34878D82A}">
                    <a16:rowId xmlns:a16="http://schemas.microsoft.com/office/drawing/2014/main" val="10004"/>
                  </a:ext>
                </a:extLst>
              </a:tr>
              <a:tr h="199339">
                <a:tc>
                  <a:txBody>
                    <a:bodyPr/>
                    <a:lstStyle/>
                    <a:p>
                      <a:pPr algn="l">
                        <a:spcAft>
                          <a:spcPts val="0"/>
                        </a:spcAft>
                      </a:pPr>
                      <a:r>
                        <a:rPr sz="819" b="0">
                          <a:solidFill>
                            <a:srgbClr val="1A1A1A"/>
                          </a:solidFill>
                          <a:latin typeface="游ゴシック"/>
                          <a:ea typeface="游ゴシック"/>
                          <a:cs typeface="游ゴシック"/>
                        </a:rPr>
                        <a:t>10月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1,503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88</a:t>
                      </a:r>
                    </a:p>
                  </a:txBody>
                  <a:tcPr marL="45720" marR="45720" marT="9144" marB="9144" anchor="ctr">
                    <a:solidFill>
                      <a:srgbClr val="FFFFFF"/>
                    </a:solidFill>
                  </a:tcPr>
                </a:tc>
                <a:extLst>
                  <a:ext uri="{0D108BD9-81ED-4DB2-BD59-A6C34878D82A}">
                    <a16:rowId xmlns:a16="http://schemas.microsoft.com/office/drawing/2014/main" val="10005"/>
                  </a:ext>
                </a:extLst>
              </a:tr>
              <a:tr h="199339">
                <a:tc>
                  <a:txBody>
                    <a:bodyPr/>
                    <a:lstStyle/>
                    <a:p>
                      <a:pPr algn="l">
                        <a:spcAft>
                          <a:spcPts val="0"/>
                        </a:spcAft>
                      </a:pPr>
                      <a:r>
                        <a:rPr sz="819" b="0">
                          <a:solidFill>
                            <a:srgbClr val="1A1A1A"/>
                          </a:solidFill>
                          <a:latin typeface="游ゴシック"/>
                          <a:ea typeface="游ゴシック"/>
                          <a:cs typeface="游ゴシック"/>
                        </a:rPr>
                        <a:t>11月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2,531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141</a:t>
                      </a:r>
                    </a:p>
                  </a:txBody>
                  <a:tcPr marL="45720" marR="45720" marT="9144" marB="9144" anchor="ctr">
                    <a:solidFill>
                      <a:srgbClr val="FFFFFF"/>
                    </a:solidFill>
                  </a:tcPr>
                </a:tc>
                <a:extLst>
                  <a:ext uri="{0D108BD9-81ED-4DB2-BD59-A6C34878D82A}">
                    <a16:rowId xmlns:a16="http://schemas.microsoft.com/office/drawing/2014/main" val="10006"/>
                  </a:ext>
                </a:extLst>
              </a:tr>
              <a:tr h="199339">
                <a:tc>
                  <a:txBody>
                    <a:bodyPr/>
                    <a:lstStyle/>
                    <a:p>
                      <a:pPr algn="l">
                        <a:spcAft>
                          <a:spcPts val="0"/>
                        </a:spcAft>
                      </a:pPr>
                      <a:r>
                        <a:rPr sz="819" b="0">
                          <a:solidFill>
                            <a:srgbClr val="1A1A1A"/>
                          </a:solidFill>
                          <a:latin typeface="游ゴシック"/>
                          <a:ea typeface="游ゴシック"/>
                          <a:cs typeface="游ゴシック"/>
                        </a:rPr>
                        <a:t>12月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778</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49</a:t>
                      </a:r>
                    </a:p>
                  </a:txBody>
                  <a:tcPr marL="45720" marR="45720" marT="9144" marB="9144" anchor="ctr">
                    <a:solidFill>
                      <a:srgbClr val="FFFFFF"/>
                    </a:solidFill>
                  </a:tcPr>
                </a:tc>
                <a:extLst>
                  <a:ext uri="{0D108BD9-81ED-4DB2-BD59-A6C34878D82A}">
                    <a16:rowId xmlns:a16="http://schemas.microsoft.com/office/drawing/2014/main" val="10007"/>
                  </a:ext>
                </a:extLst>
              </a:tr>
              <a:tr h="199339">
                <a:tc>
                  <a:txBody>
                    <a:bodyPr/>
                    <a:lstStyle/>
                    <a:p>
                      <a:pPr algn="l">
                        <a:spcAft>
                          <a:spcPts val="0"/>
                        </a:spcAft>
                      </a:pPr>
                      <a:r>
                        <a:rPr sz="819" b="0">
                          <a:solidFill>
                            <a:srgbClr val="1A1A1A"/>
                          </a:solidFill>
                          <a:latin typeface="游ゴシック"/>
                          <a:ea typeface="游ゴシック"/>
                          <a:cs typeface="游ゴシック"/>
                        </a:rPr>
                        <a:t>1月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613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47</a:t>
                      </a:r>
                    </a:p>
                  </a:txBody>
                  <a:tcPr marL="45720" marR="45720" marT="9144" marB="9144" anchor="ctr">
                    <a:solidFill>
                      <a:srgbClr val="FFFFFF"/>
                    </a:solidFill>
                  </a:tcPr>
                </a:tc>
                <a:extLst>
                  <a:ext uri="{0D108BD9-81ED-4DB2-BD59-A6C34878D82A}">
                    <a16:rowId xmlns:a16="http://schemas.microsoft.com/office/drawing/2014/main" val="10008"/>
                  </a:ext>
                </a:extLst>
              </a:tr>
              <a:tr h="199339">
                <a:tc>
                  <a:txBody>
                    <a:bodyPr/>
                    <a:lstStyle/>
                    <a:p>
                      <a:pPr algn="l">
                        <a:spcAft>
                          <a:spcPts val="0"/>
                        </a:spcAft>
                      </a:pPr>
                      <a:r>
                        <a:rPr sz="819" b="0">
                          <a:solidFill>
                            <a:srgbClr val="1A1A1A"/>
                          </a:solidFill>
                          <a:latin typeface="游ゴシック"/>
                          <a:ea typeface="游ゴシック"/>
                          <a:cs typeface="游ゴシック"/>
                        </a:rPr>
                        <a:t>2月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925</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58</a:t>
                      </a:r>
                    </a:p>
                  </a:txBody>
                  <a:tcPr marL="45720" marR="45720" marT="9144" marB="9144" anchor="ctr">
                    <a:solidFill>
                      <a:srgbClr val="FFFFFF"/>
                    </a:solidFill>
                  </a:tcPr>
                </a:tc>
                <a:extLst>
                  <a:ext uri="{0D108BD9-81ED-4DB2-BD59-A6C34878D82A}">
                    <a16:rowId xmlns:a16="http://schemas.microsoft.com/office/drawing/2014/main" val="10009"/>
                  </a:ext>
                </a:extLst>
              </a:tr>
              <a:tr h="199339">
                <a:tc>
                  <a:txBody>
                    <a:bodyPr/>
                    <a:lstStyle/>
                    <a:p>
                      <a:pPr algn="l">
                        <a:spcAft>
                          <a:spcPts val="0"/>
                        </a:spcAft>
                      </a:pPr>
                      <a:r>
                        <a:rPr sz="819" b="0">
                          <a:solidFill>
                            <a:srgbClr val="1A1A1A"/>
                          </a:solidFill>
                          <a:latin typeface="游ゴシック"/>
                          <a:ea typeface="游ゴシック"/>
                          <a:cs typeface="游ゴシック"/>
                        </a:rPr>
                        <a:t>3月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1,072</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60</a:t>
                      </a:r>
                    </a:p>
                  </a:txBody>
                  <a:tcPr marL="45720" marR="45720" marT="9144" marB="9144" anchor="ctr">
                    <a:solidFill>
                      <a:srgbClr val="FFFFFF"/>
                    </a:solidFill>
                  </a:tcPr>
                </a:tc>
                <a:extLst>
                  <a:ext uri="{0D108BD9-81ED-4DB2-BD59-A6C34878D82A}">
                    <a16:rowId xmlns:a16="http://schemas.microsoft.com/office/drawing/2014/main" val="10010"/>
                  </a:ext>
                </a:extLst>
              </a:tr>
              <a:tr h="199339">
                <a:tc>
                  <a:txBody>
                    <a:bodyPr/>
                    <a:lstStyle/>
                    <a:p>
                      <a:pPr algn="l">
                        <a:spcAft>
                          <a:spcPts val="0"/>
                        </a:spcAft>
                      </a:pPr>
                      <a:r>
                        <a:rPr sz="819" b="0">
                          <a:solidFill>
                            <a:srgbClr val="1A1A1A"/>
                          </a:solidFill>
                          <a:latin typeface="游ゴシック"/>
                          <a:ea typeface="游ゴシック"/>
                          <a:cs typeface="游ゴシック"/>
                        </a:rPr>
                        <a:t>4月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65</a:t>
                      </a:r>
                    </a:p>
                  </a:txBody>
                  <a:tcPr marL="45720" marR="45720" marT="9144" marB="9144" anchor="ctr">
                    <a:solidFill>
                      <a:srgbClr val="FFFFFF"/>
                    </a:solidFill>
                  </a:tcPr>
                </a:tc>
                <a:extLst>
                  <a:ext uri="{0D108BD9-81ED-4DB2-BD59-A6C34878D82A}">
                    <a16:rowId xmlns:a16="http://schemas.microsoft.com/office/drawing/2014/main" val="10011"/>
                  </a:ext>
                </a:extLst>
              </a:tr>
              <a:tr h="199339">
                <a:tc>
                  <a:txBody>
                    <a:bodyPr/>
                    <a:lstStyle/>
                    <a:p>
                      <a:pPr algn="l">
                        <a:spcAft>
                          <a:spcPts val="0"/>
                        </a:spcAft>
                      </a:pPr>
                      <a:r>
                        <a:rPr sz="819" b="0">
                          <a:solidFill>
                            <a:srgbClr val="1A1A1A"/>
                          </a:solidFill>
                          <a:latin typeface="游ゴシック"/>
                          <a:ea typeface="游ゴシック"/>
                          <a:cs typeface="游ゴシック"/>
                        </a:rPr>
                        <a:t>5月</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1,491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93</a:t>
                      </a:r>
                    </a:p>
                  </a:txBody>
                  <a:tcPr marL="45720" marR="45720" marT="9144" marB="9144" anchor="ctr">
                    <a:solidFill>
                      <a:srgbClr val="FFFFFF"/>
                    </a:solidFill>
                  </a:tcPr>
                </a:tc>
                <a:extLst>
                  <a:ext uri="{0D108BD9-81ED-4DB2-BD59-A6C34878D82A}">
                    <a16:rowId xmlns:a16="http://schemas.microsoft.com/office/drawing/2014/main" val="10012"/>
                  </a:ext>
                </a:extLst>
              </a:tr>
              <a:tr h="199339">
                <a:tc>
                  <a:txBody>
                    <a:bodyPr/>
                    <a:lstStyle/>
                    <a:p>
                      <a:pPr algn="l">
                        <a:spcAft>
                          <a:spcPts val="0"/>
                        </a:spcAft>
                      </a:pPr>
                      <a:r>
                        <a:rPr sz="819" b="1">
                          <a:solidFill>
                            <a:srgbClr val="1A1A1A"/>
                          </a:solidFill>
                          <a:latin typeface="游ゴシック"/>
                          <a:ea typeface="游ゴシック"/>
                          <a:cs typeface="游ゴシック"/>
                        </a:rPr>
                        <a:t>小計</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14,967</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200</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75</a:t>
                      </a:r>
                    </a:p>
                  </a:txBody>
                  <a:tcPr marL="45720" marR="45720" marT="9144" marB="9144" anchor="ctr">
                    <a:solidFill>
                      <a:srgbClr val="FFFFFF"/>
                    </a:solidFill>
                  </a:tcPr>
                </a:tc>
                <a:extLst>
                  <a:ext uri="{0D108BD9-81ED-4DB2-BD59-A6C34878D82A}">
                    <a16:rowId xmlns:a16="http://schemas.microsoft.com/office/drawing/2014/main" val="10013"/>
                  </a:ext>
                </a:extLst>
              </a:tr>
            </a:tbl>
          </a:graphicData>
        </a:graphic>
      </p:graphicFrame>
      <p:sp>
        <p:nvSpPr>
          <p:cNvPr id="15" name="Rectangle 14"/>
          <p:cNvSpPr/>
          <p:nvPr/>
        </p:nvSpPr>
        <p:spPr>
          <a:xfrm>
            <a:off x="4041648" y="1408176"/>
            <a:ext cx="6336792" cy="2798064"/>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4151376" y="1481328"/>
            <a:ext cx="6117336" cy="201168"/>
          </a:xfrm>
          <a:prstGeom prst="rect">
            <a:avLst/>
          </a:prstGeom>
          <a:noFill/>
        </p:spPr>
        <p:txBody>
          <a:bodyPr wrap="square" lIns="0" tIns="0" rIns="0" bIns="0" anchor="t">
            <a:spAutoFit/>
          </a:bodyPr>
          <a:lstStyle/>
          <a:p>
            <a:pPr algn="l">
              <a:spcAft>
                <a:spcPts val="0"/>
              </a:spcAft>
            </a:pPr>
            <a:r>
              <a:rPr sz="900" b="1">
                <a:solidFill>
                  <a:srgbClr val="0B3041"/>
                </a:solidFill>
                <a:latin typeface="游ゴシック"/>
                <a:ea typeface="游ゴシック"/>
                <a:cs typeface="游ゴシック"/>
              </a:rPr>
              <a:t>月次 店頭売上高（千円）</a:t>
            </a:r>
          </a:p>
        </p:txBody>
      </p:sp>
      <p:sp>
        <p:nvSpPr>
          <p:cNvPr id="17" name="Rectangle 16"/>
          <p:cNvSpPr/>
          <p:nvPr/>
        </p:nvSpPr>
        <p:spPr>
          <a:xfrm>
            <a:off x="4352544" y="3106308"/>
            <a:ext cx="291236" cy="7890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4279392" y="2923428"/>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975</a:t>
            </a:r>
          </a:p>
        </p:txBody>
      </p:sp>
      <p:sp>
        <p:nvSpPr>
          <p:cNvPr id="19" name="TextBox 18"/>
          <p:cNvSpPr txBox="1"/>
          <p:nvPr/>
        </p:nvSpPr>
        <p:spPr>
          <a:xfrm>
            <a:off x="4279392"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6月</a:t>
            </a:r>
          </a:p>
        </p:txBody>
      </p:sp>
      <p:sp>
        <p:nvSpPr>
          <p:cNvPr id="20" name="Rectangle 19"/>
          <p:cNvSpPr/>
          <p:nvPr/>
        </p:nvSpPr>
        <p:spPr>
          <a:xfrm>
            <a:off x="4837938" y="3000294"/>
            <a:ext cx="291236" cy="895049"/>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4764786" y="2817414"/>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1,106</a:t>
            </a:r>
          </a:p>
        </p:txBody>
      </p:sp>
      <p:sp>
        <p:nvSpPr>
          <p:cNvPr id="22" name="TextBox 21"/>
          <p:cNvSpPr txBox="1"/>
          <p:nvPr/>
        </p:nvSpPr>
        <p:spPr>
          <a:xfrm>
            <a:off x="4764786"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7月</a:t>
            </a:r>
          </a:p>
        </p:txBody>
      </p:sp>
      <p:sp>
        <p:nvSpPr>
          <p:cNvPr id="23" name="Rectangle 22"/>
          <p:cNvSpPr/>
          <p:nvPr/>
        </p:nvSpPr>
        <p:spPr>
          <a:xfrm>
            <a:off x="5323332" y="2582712"/>
            <a:ext cx="291236" cy="1312631"/>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5250180" y="2399832"/>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1,622</a:t>
            </a:r>
          </a:p>
        </p:txBody>
      </p:sp>
      <p:sp>
        <p:nvSpPr>
          <p:cNvPr id="25" name="TextBox 24"/>
          <p:cNvSpPr txBox="1"/>
          <p:nvPr/>
        </p:nvSpPr>
        <p:spPr>
          <a:xfrm>
            <a:off x="5250180"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8月</a:t>
            </a:r>
          </a:p>
        </p:txBody>
      </p:sp>
      <p:sp>
        <p:nvSpPr>
          <p:cNvPr id="26" name="Rectangle 25"/>
          <p:cNvSpPr/>
          <p:nvPr/>
        </p:nvSpPr>
        <p:spPr>
          <a:xfrm>
            <a:off x="5808725" y="2884568"/>
            <a:ext cx="291236" cy="101077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5735573" y="2701688"/>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1,249</a:t>
            </a:r>
          </a:p>
        </p:txBody>
      </p:sp>
      <p:sp>
        <p:nvSpPr>
          <p:cNvPr id="28" name="TextBox 27"/>
          <p:cNvSpPr txBox="1"/>
          <p:nvPr/>
        </p:nvSpPr>
        <p:spPr>
          <a:xfrm>
            <a:off x="5735573"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9月</a:t>
            </a:r>
          </a:p>
        </p:txBody>
      </p:sp>
      <p:sp>
        <p:nvSpPr>
          <p:cNvPr id="29" name="Rectangle 28"/>
          <p:cNvSpPr/>
          <p:nvPr/>
        </p:nvSpPr>
        <p:spPr>
          <a:xfrm>
            <a:off x="6294120" y="2679014"/>
            <a:ext cx="291236" cy="1216329"/>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220967" y="2496134"/>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1,503</a:t>
            </a:r>
          </a:p>
        </p:txBody>
      </p:sp>
      <p:sp>
        <p:nvSpPr>
          <p:cNvPr id="31" name="TextBox 30"/>
          <p:cNvSpPr txBox="1"/>
          <p:nvPr/>
        </p:nvSpPr>
        <p:spPr>
          <a:xfrm>
            <a:off x="6220967"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10月</a:t>
            </a:r>
          </a:p>
        </p:txBody>
      </p:sp>
      <p:sp>
        <p:nvSpPr>
          <p:cNvPr id="32" name="Rectangle 31"/>
          <p:cNvSpPr/>
          <p:nvPr/>
        </p:nvSpPr>
        <p:spPr>
          <a:xfrm>
            <a:off x="6779514" y="1847088"/>
            <a:ext cx="291236" cy="204825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706362" y="1664208"/>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2,531</a:t>
            </a:r>
          </a:p>
        </p:txBody>
      </p:sp>
      <p:sp>
        <p:nvSpPr>
          <p:cNvPr id="34" name="TextBox 33"/>
          <p:cNvSpPr txBox="1"/>
          <p:nvPr/>
        </p:nvSpPr>
        <p:spPr>
          <a:xfrm>
            <a:off x="6706362"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11月</a:t>
            </a:r>
          </a:p>
        </p:txBody>
      </p:sp>
      <p:sp>
        <p:nvSpPr>
          <p:cNvPr id="35" name="Rectangle 34"/>
          <p:cNvSpPr/>
          <p:nvPr/>
        </p:nvSpPr>
        <p:spPr>
          <a:xfrm>
            <a:off x="7264907" y="3265733"/>
            <a:ext cx="291236" cy="62961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7191755" y="3082853"/>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778</a:t>
            </a:r>
          </a:p>
        </p:txBody>
      </p:sp>
      <p:sp>
        <p:nvSpPr>
          <p:cNvPr id="37" name="TextBox 36"/>
          <p:cNvSpPr txBox="1"/>
          <p:nvPr/>
        </p:nvSpPr>
        <p:spPr>
          <a:xfrm>
            <a:off x="7191755"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12月</a:t>
            </a:r>
          </a:p>
        </p:txBody>
      </p:sp>
      <p:sp>
        <p:nvSpPr>
          <p:cNvPr id="38" name="Rectangle 37"/>
          <p:cNvSpPr/>
          <p:nvPr/>
        </p:nvSpPr>
        <p:spPr>
          <a:xfrm>
            <a:off x="7750301" y="3399263"/>
            <a:ext cx="291236" cy="4960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7677149" y="3216383"/>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613</a:t>
            </a:r>
          </a:p>
        </p:txBody>
      </p:sp>
      <p:sp>
        <p:nvSpPr>
          <p:cNvPr id="40" name="TextBox 39"/>
          <p:cNvSpPr txBox="1"/>
          <p:nvPr/>
        </p:nvSpPr>
        <p:spPr>
          <a:xfrm>
            <a:off x="7677149"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1月</a:t>
            </a:r>
          </a:p>
        </p:txBody>
      </p:sp>
      <p:sp>
        <p:nvSpPr>
          <p:cNvPr id="41" name="Rectangle 40"/>
          <p:cNvSpPr/>
          <p:nvPr/>
        </p:nvSpPr>
        <p:spPr>
          <a:xfrm>
            <a:off x="8235695" y="3146771"/>
            <a:ext cx="291236" cy="74857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8162543" y="2963891"/>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925</a:t>
            </a:r>
          </a:p>
        </p:txBody>
      </p:sp>
      <p:sp>
        <p:nvSpPr>
          <p:cNvPr id="43" name="TextBox 42"/>
          <p:cNvSpPr txBox="1"/>
          <p:nvPr/>
        </p:nvSpPr>
        <p:spPr>
          <a:xfrm>
            <a:off x="8162543"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2月</a:t>
            </a:r>
          </a:p>
        </p:txBody>
      </p:sp>
      <p:sp>
        <p:nvSpPr>
          <p:cNvPr id="44" name="Rectangle 43"/>
          <p:cNvSpPr/>
          <p:nvPr/>
        </p:nvSpPr>
        <p:spPr>
          <a:xfrm>
            <a:off x="8721090" y="3027809"/>
            <a:ext cx="291236" cy="86753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8647938" y="2844929"/>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1,072</a:t>
            </a:r>
          </a:p>
        </p:txBody>
      </p:sp>
      <p:sp>
        <p:nvSpPr>
          <p:cNvPr id="46" name="TextBox 45"/>
          <p:cNvSpPr txBox="1"/>
          <p:nvPr/>
        </p:nvSpPr>
        <p:spPr>
          <a:xfrm>
            <a:off x="8647938"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3月</a:t>
            </a:r>
          </a:p>
        </p:txBody>
      </p:sp>
      <p:sp>
        <p:nvSpPr>
          <p:cNvPr id="47" name="Rectangle 46"/>
          <p:cNvSpPr/>
          <p:nvPr/>
        </p:nvSpPr>
        <p:spPr>
          <a:xfrm>
            <a:off x="9206483" y="3005149"/>
            <a:ext cx="291236" cy="89019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9133331" y="2822269"/>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1,100</a:t>
            </a:r>
          </a:p>
        </p:txBody>
      </p:sp>
      <p:sp>
        <p:nvSpPr>
          <p:cNvPr id="49" name="TextBox 48"/>
          <p:cNvSpPr txBox="1"/>
          <p:nvPr/>
        </p:nvSpPr>
        <p:spPr>
          <a:xfrm>
            <a:off x="9133331"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4月</a:t>
            </a:r>
          </a:p>
        </p:txBody>
      </p:sp>
      <p:sp>
        <p:nvSpPr>
          <p:cNvPr id="50" name="Rectangle 49"/>
          <p:cNvSpPr/>
          <p:nvPr/>
        </p:nvSpPr>
        <p:spPr>
          <a:xfrm>
            <a:off x="9691877" y="2688726"/>
            <a:ext cx="291236" cy="120661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p:cNvSpPr txBox="1"/>
          <p:nvPr/>
        </p:nvSpPr>
        <p:spPr>
          <a:xfrm>
            <a:off x="9618725" y="2505846"/>
            <a:ext cx="368899" cy="164592"/>
          </a:xfrm>
          <a:prstGeom prst="rect">
            <a:avLst/>
          </a:prstGeom>
          <a:noFill/>
        </p:spPr>
        <p:txBody>
          <a:bodyPr wrap="square" lIns="0" tIns="0" rIns="0" bIns="0" anchor="t">
            <a:spAutoFit/>
          </a:bodyPr>
          <a:lstStyle/>
          <a:p>
            <a:pPr algn="ctr">
              <a:spcAft>
                <a:spcPts val="0"/>
              </a:spcAft>
            </a:pPr>
            <a:r>
              <a:rPr sz="680" b="0">
                <a:solidFill>
                  <a:srgbClr val="0B3041"/>
                </a:solidFill>
                <a:latin typeface="Arial"/>
                <a:ea typeface="Arial"/>
                <a:cs typeface="Arial"/>
              </a:rPr>
              <a:t>1,491</a:t>
            </a:r>
          </a:p>
        </p:txBody>
      </p:sp>
      <p:sp>
        <p:nvSpPr>
          <p:cNvPr id="52" name="TextBox 51"/>
          <p:cNvSpPr txBox="1"/>
          <p:nvPr/>
        </p:nvSpPr>
        <p:spPr>
          <a:xfrm>
            <a:off x="9618725" y="3941063"/>
            <a:ext cx="368899" cy="164592"/>
          </a:xfrm>
          <a:prstGeom prst="rect">
            <a:avLst/>
          </a:prstGeom>
          <a:noFill/>
        </p:spPr>
        <p:txBody>
          <a:bodyPr wrap="square" lIns="0" tIns="0" rIns="0" bIns="0" anchor="t">
            <a:spAutoFit/>
          </a:bodyPr>
          <a:lstStyle/>
          <a:p>
            <a:pPr algn="ctr">
              <a:spcAft>
                <a:spcPts val="0"/>
              </a:spcAft>
            </a:pPr>
            <a:r>
              <a:rPr sz="700" b="0">
                <a:solidFill>
                  <a:srgbClr val="5A6670"/>
                </a:solidFill>
                <a:latin typeface="Arial"/>
                <a:ea typeface="Arial"/>
                <a:cs typeface="Arial"/>
              </a:rPr>
              <a:t>5月</a:t>
            </a:r>
          </a:p>
        </p:txBody>
      </p:sp>
      <p:sp>
        <p:nvSpPr>
          <p:cNvPr id="53" name="Rectangle 52"/>
          <p:cNvSpPr/>
          <p:nvPr/>
        </p:nvSpPr>
        <p:spPr>
          <a:xfrm>
            <a:off x="4261104" y="3895344"/>
            <a:ext cx="5934455"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graphicFrame>
        <p:nvGraphicFramePr>
          <p:cNvPr id="54" name="Table 53"/>
          <p:cNvGraphicFramePr>
            <a:graphicFrameLocks noGrp="1"/>
          </p:cNvGraphicFramePr>
          <p:nvPr/>
        </p:nvGraphicFramePr>
        <p:xfrm>
          <a:off x="310896" y="4498848"/>
          <a:ext cx="3529580" cy="1179576"/>
        </p:xfrm>
        <a:graphic>
          <a:graphicData uri="http://schemas.openxmlformats.org/drawingml/2006/table">
            <a:tbl>
              <a:tblPr>
                <a:tableStyleId>{5940675A-B579-460E-94D1-54222C63F5DA}</a:tableStyleId>
              </a:tblPr>
              <a:tblGrid>
                <a:gridCol w="1408175">
                  <a:extLst>
                    <a:ext uri="{9D8B030D-6E8A-4147-A177-3AD203B41FA5}">
                      <a16:colId xmlns:a16="http://schemas.microsoft.com/office/drawing/2014/main" val="20000"/>
                    </a:ext>
                  </a:extLst>
                </a:gridCol>
                <a:gridCol w="704087">
                  <a:extLst>
                    <a:ext uri="{9D8B030D-6E8A-4147-A177-3AD203B41FA5}">
                      <a16:colId xmlns:a16="http://schemas.microsoft.com/office/drawing/2014/main" val="20001"/>
                    </a:ext>
                  </a:extLst>
                </a:gridCol>
                <a:gridCol w="704087">
                  <a:extLst>
                    <a:ext uri="{9D8B030D-6E8A-4147-A177-3AD203B41FA5}">
                      <a16:colId xmlns:a16="http://schemas.microsoft.com/office/drawing/2014/main" val="20002"/>
                    </a:ext>
                  </a:extLst>
                </a:gridCol>
                <a:gridCol w="713231">
                  <a:extLst>
                    <a:ext uri="{9D8B030D-6E8A-4147-A177-3AD203B41FA5}">
                      <a16:colId xmlns:a16="http://schemas.microsoft.com/office/drawing/2014/main" val="20003"/>
                    </a:ext>
                  </a:extLst>
                </a:gridCol>
              </a:tblGrid>
              <a:tr h="228600">
                <a:tc>
                  <a:txBody>
                    <a:bodyPr/>
                    <a:lstStyle/>
                    <a:p>
                      <a:pPr algn="ctr">
                        <a:spcAft>
                          <a:spcPts val="0"/>
                        </a:spcAft>
                      </a:pPr>
                      <a:r>
                        <a:rPr sz="819" b="1">
                          <a:solidFill>
                            <a:srgbClr val="FFFFFF"/>
                          </a:solidFill>
                          <a:latin typeface="游ゴシック"/>
                          <a:ea typeface="游ゴシック"/>
                          <a:cs typeface="游ゴシック"/>
                        </a:rPr>
                        <a:t>区分</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237744">
                <a:tc>
                  <a:txBody>
                    <a:bodyPr/>
                    <a:lstStyle/>
                    <a:p>
                      <a:pPr algn="l">
                        <a:spcAft>
                          <a:spcPts val="0"/>
                        </a:spcAft>
                      </a:pPr>
                      <a:r>
                        <a:rPr sz="819" b="0">
                          <a:solidFill>
                            <a:srgbClr val="1A1A1A"/>
                          </a:solidFill>
                          <a:latin typeface="游ゴシック"/>
                          <a:ea typeface="游ゴシック"/>
                          <a:cs typeface="游ゴシック"/>
                        </a:rPr>
                        <a:t>店頭売上高</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17,517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16,167</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15,099</a:t>
                      </a:r>
                    </a:p>
                  </a:txBody>
                  <a:tcPr marL="45720" marR="45720" marT="9144" marB="9144" anchor="ctr">
                    <a:solidFill>
                      <a:srgbClr val="FFFFFF"/>
                    </a:solidFill>
                  </a:tcPr>
                </a:tc>
                <a:extLst>
                  <a:ext uri="{0D108BD9-81ED-4DB2-BD59-A6C34878D82A}">
                    <a16:rowId xmlns:a16="http://schemas.microsoft.com/office/drawing/2014/main" val="10001"/>
                  </a:ext>
                </a:extLst>
              </a:tr>
              <a:tr h="237744">
                <a:tc>
                  <a:txBody>
                    <a:bodyPr/>
                    <a:lstStyle/>
                    <a:p>
                      <a:pPr algn="l">
                        <a:spcAft>
                          <a:spcPts val="0"/>
                        </a:spcAft>
                      </a:pPr>
                      <a:r>
                        <a:rPr sz="819" b="0">
                          <a:solidFill>
                            <a:srgbClr val="1A1A1A"/>
                          </a:solidFill>
                          <a:latin typeface="游ゴシック"/>
                          <a:ea typeface="游ゴシック"/>
                          <a:cs typeface="游ゴシック"/>
                        </a:rPr>
                        <a:t>関係先向け食材供給</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2,151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3,261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tcPr>
                </a:tc>
                <a:extLst>
                  <a:ext uri="{0D108BD9-81ED-4DB2-BD59-A6C34878D82A}">
                    <a16:rowId xmlns:a16="http://schemas.microsoft.com/office/drawing/2014/main" val="10002"/>
                  </a:ext>
                </a:extLst>
              </a:tr>
              <a:tr h="237744">
                <a:tc>
                  <a:txBody>
                    <a:bodyPr/>
                    <a:lstStyle/>
                    <a:p>
                      <a:pPr algn="l">
                        <a:spcAft>
                          <a:spcPts val="0"/>
                        </a:spcAft>
                      </a:pPr>
                      <a:r>
                        <a:rPr sz="819" b="0">
                          <a:solidFill>
                            <a:srgbClr val="1A1A1A"/>
                          </a:solidFill>
                          <a:latin typeface="游ゴシック"/>
                          <a:ea typeface="游ゴシック"/>
                          <a:cs typeface="游ゴシック"/>
                        </a:rPr>
                        <a:t>営業日数（日）</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203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201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200</a:t>
                      </a:r>
                    </a:p>
                  </a:txBody>
                  <a:tcPr marL="45720" marR="45720" marT="9144" marB="9144" anchor="ctr">
                    <a:solidFill>
                      <a:srgbClr val="FFFFFF"/>
                    </a:solidFill>
                  </a:tcPr>
                </a:tc>
                <a:extLst>
                  <a:ext uri="{0D108BD9-81ED-4DB2-BD59-A6C34878D82A}">
                    <a16:rowId xmlns:a16="http://schemas.microsoft.com/office/drawing/2014/main" val="10003"/>
                  </a:ext>
                </a:extLst>
              </a:tr>
              <a:tr h="237744">
                <a:tc>
                  <a:txBody>
                    <a:bodyPr/>
                    <a:lstStyle/>
                    <a:p>
                      <a:pPr algn="l">
                        <a:spcAft>
                          <a:spcPts val="0"/>
                        </a:spcAft>
                      </a:pPr>
                      <a:r>
                        <a:rPr sz="819" b="1">
                          <a:solidFill>
                            <a:srgbClr val="1A1A1A"/>
                          </a:solidFill>
                          <a:latin typeface="游ゴシック"/>
                          <a:ea typeface="游ゴシック"/>
                          <a:cs typeface="游ゴシック"/>
                        </a:rPr>
                        <a:t>日商平均</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86</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80</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75</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55" name="Rectangle 54"/>
          <p:cNvSpPr/>
          <p:nvPr/>
        </p:nvSpPr>
        <p:spPr>
          <a:xfrm>
            <a:off x="4041648" y="4370832"/>
            <a:ext cx="6336792" cy="2084831"/>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TextBox 55"/>
          <p:cNvSpPr txBox="1"/>
          <p:nvPr/>
        </p:nvSpPr>
        <p:spPr>
          <a:xfrm>
            <a:off x="4133087" y="4443984"/>
            <a:ext cx="6153912"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57" name="TextBox 56"/>
          <p:cNvSpPr txBox="1"/>
          <p:nvPr/>
        </p:nvSpPr>
        <p:spPr>
          <a:xfrm>
            <a:off x="4151376" y="4791456"/>
            <a:ext cx="6117336" cy="1572767"/>
          </a:xfrm>
          <a:prstGeom prst="rect">
            <a:avLst/>
          </a:prstGeom>
          <a:noFill/>
        </p:spPr>
        <p:txBody>
          <a:bodyPr wrap="square" lIns="0" tIns="0" r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≪営業日≫ </a:t>
            </a:r>
            <a:r>
              <a:rPr sz="830" b="0">
                <a:solidFill>
                  <a:srgbClr val="1A1A1A"/>
                </a:solidFill>
                <a:latin typeface="游ゴシック"/>
                <a:ea typeface="游ゴシック"/>
                <a:cs typeface="游ゴシック"/>
              </a:rPr>
              <a:t>定休は火・水・木、営業は金・土・日・月の週4日。11:30〜14:30の昼のみで売り切り次第閉店。実績営業日数は203→201→200日とほぼ一定であり、公表されている定休日とも整合する。</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≪季節性≫ </a:t>
            </a:r>
            <a:r>
              <a:rPr sz="830" b="0">
                <a:solidFill>
                  <a:srgbClr val="1A1A1A"/>
                </a:solidFill>
                <a:latin typeface="游ゴシック"/>
                <a:ea typeface="游ゴシック"/>
                <a:cs typeface="游ゴシック"/>
              </a:rPr>
              <a:t>新そばの時期にあたる11月が2,531千円・日商141千円と突出。1月（613千円・日商47千円）が最も低く、繁閑差は約3倍。</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≪日商の低下≫ </a:t>
            </a:r>
            <a:r>
              <a:rPr sz="830" b="0">
                <a:solidFill>
                  <a:srgbClr val="1A1A1A"/>
                </a:solidFill>
                <a:latin typeface="游ゴシック"/>
                <a:ea typeface="游ゴシック"/>
                <a:cs typeface="游ゴシック"/>
              </a:rPr>
              <a:t>店頭日商平均は86→80→75千円と低下傾向。平均予算約3,000円を前提とすると1日あたり約25名と推計され、客数・客単価のいずれが要因かは要確認。</a:t>
            </a:r>
          </a:p>
        </p:txBody>
      </p:sp>
      <p:sp>
        <p:nvSpPr>
          <p:cNvPr id="58" name="TextBox 57"/>
          <p:cNvSpPr txBox="1"/>
          <p:nvPr/>
        </p:nvSpPr>
        <p:spPr>
          <a:xfrm>
            <a:off x="310896" y="6601968"/>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総勘定元帳「飲食店売上高」のうち普通預金・現金への入金明細（摘要「本店売上（月／日）」）を集計したもの。関係先への食材供給分は含まない。</a:t>
            </a:r>
          </a:p>
          <a:p>
            <a:pPr algn="l">
              <a:lnSpc>
                <a:spcPct val="112000"/>
              </a:lnSpc>
              <a:spcAft>
                <a:spcPts val="100"/>
              </a:spcAft>
            </a:pPr>
            <a:r>
              <a:rPr sz="750" b="0">
                <a:solidFill>
                  <a:srgbClr val="5A6670"/>
                </a:solidFill>
                <a:latin typeface="游ゴシック"/>
                <a:ea typeface="游ゴシック"/>
                <a:cs typeface="游ゴシック"/>
              </a:rPr>
              <a:t>※ 2026/5期の店頭売上高合計には、期末に一括計上された5月分現金売上132千円を含む（月次表には含まれない）。平均予算の出所は Japan Brand Collection 2026 茨城版。</a:t>
            </a:r>
          </a:p>
        </p:txBody>
      </p:sp>
      <p:sp>
        <p:nvSpPr>
          <p:cNvPr id="3" name="タイトル 1">
            <a:extLst>
              <a:ext uri="{FF2B5EF4-FFF2-40B4-BE49-F238E27FC236}">
                <a16:creationId xmlns:a16="http://schemas.microsoft.com/office/drawing/2014/main" id="{B3EDB26A-2151-17E4-5397-13BD7B62E5B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参考｜稼働拡大による売上・利益インパクト（仮説）</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週4日・昼のみ・売り切りじまいという稼働が最大の伸び代。営業日を週6日とし日商を2024年5月期水準へ戻せば、そば職人1名を新たに雇用しても調整後EBITDAは現状を上回る</a:t>
            </a:r>
            <a:endParaRPr lang="en-US" altLang="ja-JP" dirty="0"/>
          </a:p>
        </p:txBody>
      </p:sp>
      <p:sp>
        <p:nvSpPr>
          <p:cNvPr id="14" name="Rectangle 13"/>
          <p:cNvSpPr/>
          <p:nvPr/>
        </p:nvSpPr>
        <p:spPr>
          <a:xfrm>
            <a:off x="310896" y="13716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100" b="1">
                <a:solidFill>
                  <a:srgbClr val="FFFFFF"/>
                </a:solidFill>
                <a:latin typeface="游ゴシック"/>
                <a:ea typeface="游ゴシック"/>
                <a:cs typeface="游ゴシック"/>
              </a:rPr>
              <a:t>① 営業日・日商を変えた場合の売上・利益（いずれも弊社の仮説）</a:t>
            </a:r>
          </a:p>
        </p:txBody>
      </p:sp>
      <p:graphicFrame>
        <p:nvGraphicFramePr>
          <p:cNvPr id="15" name="Table 14"/>
          <p:cNvGraphicFramePr>
            <a:graphicFrameLocks noGrp="1"/>
          </p:cNvGraphicFramePr>
          <p:nvPr/>
        </p:nvGraphicFramePr>
        <p:xfrm>
          <a:off x="310896" y="1728216"/>
          <a:ext cx="10067544" cy="1481328"/>
        </p:xfrm>
        <a:graphic>
          <a:graphicData uri="http://schemas.openxmlformats.org/drawingml/2006/table">
            <a:tbl>
              <a:tblPr>
                <a:tableStyleId>{5940675A-B579-460E-94D1-54222C63F5DA}</a:tableStyleId>
              </a:tblPr>
              <a:tblGrid>
                <a:gridCol w="2706624">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737360">
                  <a:extLst>
                    <a:ext uri="{9D8B030D-6E8A-4147-A177-3AD203B41FA5}">
                      <a16:colId xmlns:a16="http://schemas.microsoft.com/office/drawing/2014/main" val="20006"/>
                    </a:ext>
                  </a:extLst>
                </a:gridCol>
              </a:tblGrid>
              <a:tr h="237744">
                <a:tc>
                  <a:txBody>
                    <a:bodyPr/>
                    <a:lstStyle/>
                    <a:p>
                      <a:pPr algn="ctr">
                        <a:spcAft>
                          <a:spcPts val="0"/>
                        </a:spcAft>
                      </a:pPr>
                      <a:r>
                        <a:rPr sz="860" b="1">
                          <a:solidFill>
                            <a:srgbClr val="FFFFFF"/>
                          </a:solidFill>
                          <a:latin typeface="游ゴシック"/>
                          <a:ea typeface="游ゴシック"/>
                          <a:cs typeface="游ゴシック"/>
                        </a:rPr>
                        <a:t>シナリオ</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営業日数</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日商</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店頭売上高</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売上高 計</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調整後EBITDA</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職人1名雇用後</a:t>
                      </a:r>
                    </a:p>
                  </a:txBody>
                  <a:tcPr marL="45720" marR="45720" marT="9144" marB="9144" anchor="ctr">
                    <a:solidFill>
                      <a:srgbClr val="0B3041"/>
                    </a:solidFill>
                  </a:tcPr>
                </a:tc>
                <a:extLst>
                  <a:ext uri="{0D108BD9-81ED-4DB2-BD59-A6C34878D82A}">
                    <a16:rowId xmlns:a16="http://schemas.microsoft.com/office/drawing/2014/main" val="10000"/>
                  </a:ext>
                </a:extLst>
              </a:tr>
              <a:tr h="310896">
                <a:tc>
                  <a:txBody>
                    <a:bodyPr/>
                    <a:lstStyle/>
                    <a:p>
                      <a:pPr algn="l">
                        <a:spcAft>
                          <a:spcPts val="0"/>
                        </a:spcAft>
                      </a:pPr>
                      <a:r>
                        <a:rPr sz="860" b="0">
                          <a:solidFill>
                            <a:srgbClr val="1A1A1A"/>
                          </a:solidFill>
                          <a:latin typeface="游ゴシック"/>
                          <a:ea typeface="游ゴシック"/>
                          <a:cs typeface="游ゴシック"/>
                        </a:rPr>
                        <a:t>現状（2026年5月期 実績）</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200日</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75千円</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15,099</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22,484</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6,801</a:t>
                      </a:r>
                    </a:p>
                  </a:txBody>
                  <a:tcPr marL="45720" marR="45720" marT="9144" marB="9144" anchor="ctr">
                    <a:solidFill>
                      <a:srgbClr val="FFFFFF"/>
                    </a:solidFill>
                  </a:tcPr>
                </a:tc>
                <a:tc>
                  <a:txBody>
                    <a:bodyPr/>
                    <a:lstStyle/>
                    <a:p>
                      <a:pPr algn="r">
                        <a:spcAft>
                          <a:spcPts val="0"/>
                        </a:spcAft>
                      </a:pPr>
                      <a:r>
                        <a:rPr sz="860" b="0">
                          <a:solidFill>
                            <a:srgbClr val="C03A2B"/>
                          </a:solidFill>
                          <a:latin typeface="Arial"/>
                          <a:ea typeface="Arial"/>
                          <a:cs typeface="Arial"/>
                        </a:rPr>
                        <a:t>△99</a:t>
                      </a:r>
                    </a:p>
                  </a:txBody>
                  <a:tcPr marL="45720" marR="45720" marT="9144" marB="9144" anchor="ctr">
                    <a:solidFill>
                      <a:srgbClr val="FFFFFF"/>
                    </a:solidFill>
                  </a:tcPr>
                </a:tc>
                <a:extLst>
                  <a:ext uri="{0D108BD9-81ED-4DB2-BD59-A6C34878D82A}">
                    <a16:rowId xmlns:a16="http://schemas.microsoft.com/office/drawing/2014/main" val="10001"/>
                  </a:ext>
                </a:extLst>
              </a:tr>
              <a:tr h="310896">
                <a:tc>
                  <a:txBody>
                    <a:bodyPr/>
                    <a:lstStyle/>
                    <a:p>
                      <a:pPr algn="l">
                        <a:spcAft>
                          <a:spcPts val="0"/>
                        </a:spcAft>
                      </a:pPr>
                      <a:r>
                        <a:rPr sz="860" b="0">
                          <a:solidFill>
                            <a:srgbClr val="1A1A1A"/>
                          </a:solidFill>
                          <a:latin typeface="游ゴシック"/>
                          <a:ea typeface="游ゴシック"/>
                          <a:cs typeface="游ゴシック"/>
                        </a:rPr>
                        <a:t>A 週4日 → 週5日（日商は現状維持）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250日</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75千円</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18,874</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26,259</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9,254</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2,354</a:t>
                      </a:r>
                    </a:p>
                  </a:txBody>
                  <a:tcPr marL="45720" marR="45720" marT="9144" marB="9144" anchor="ctr">
                    <a:solidFill>
                      <a:srgbClr val="FFFFFF"/>
                    </a:solidFill>
                  </a:tcPr>
                </a:tc>
                <a:extLst>
                  <a:ext uri="{0D108BD9-81ED-4DB2-BD59-A6C34878D82A}">
                    <a16:rowId xmlns:a16="http://schemas.microsoft.com/office/drawing/2014/main" val="10002"/>
                  </a:ext>
                </a:extLst>
              </a:tr>
              <a:tr h="310896">
                <a:tc>
                  <a:txBody>
                    <a:bodyPr/>
                    <a:lstStyle/>
                    <a:p>
                      <a:pPr algn="l">
                        <a:spcAft>
                          <a:spcPts val="0"/>
                        </a:spcAft>
                      </a:pPr>
                      <a:r>
                        <a:rPr sz="860" b="0">
                          <a:solidFill>
                            <a:srgbClr val="1A1A1A"/>
                          </a:solidFill>
                          <a:latin typeface="游ゴシック"/>
                          <a:ea typeface="游ゴシック"/>
                          <a:cs typeface="游ゴシック"/>
                        </a:rPr>
                        <a:t>B 週5日 ＋ 日商を2024年5月期水準へ回復</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250日</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86千円</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21,572</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28,957</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11,008</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4,108</a:t>
                      </a:r>
                    </a:p>
                  </a:txBody>
                  <a:tcPr marL="45720" marR="45720" marT="9144" marB="9144" anchor="ctr">
                    <a:solidFill>
                      <a:srgbClr val="FFFFFF"/>
                    </a:solidFill>
                  </a:tcPr>
                </a:tc>
                <a:extLst>
                  <a:ext uri="{0D108BD9-81ED-4DB2-BD59-A6C34878D82A}">
                    <a16:rowId xmlns:a16="http://schemas.microsoft.com/office/drawing/2014/main" val="10003"/>
                  </a:ext>
                </a:extLst>
              </a:tr>
              <a:tr h="310896">
                <a:tc>
                  <a:txBody>
                    <a:bodyPr/>
                    <a:lstStyle/>
                    <a:p>
                      <a:pPr algn="l">
                        <a:spcAft>
                          <a:spcPts val="0"/>
                        </a:spcAft>
                      </a:pPr>
                      <a:r>
                        <a:rPr sz="860" b="1">
                          <a:solidFill>
                            <a:srgbClr val="1A1A1A"/>
                          </a:solidFill>
                          <a:latin typeface="游ゴシック"/>
                          <a:ea typeface="游ゴシック"/>
                          <a:cs typeface="游ゴシック"/>
                        </a:rPr>
                        <a:t>C 週6日 ＋ 日商を2024年5月期水準へ回復</a:t>
                      </a:r>
                    </a:p>
                  </a:txBody>
                  <a:tcPr marL="45720" marR="45720" marT="9144" marB="9144" anchor="ctr">
                    <a:solidFill>
                      <a:srgbClr val="FFFFFF"/>
                    </a:solidFill>
                  </a:tcPr>
                </a:tc>
                <a:tc>
                  <a:txBody>
                    <a:bodyPr/>
                    <a:lstStyle/>
                    <a:p>
                      <a:pPr algn="l">
                        <a:spcAft>
                          <a:spcPts val="0"/>
                        </a:spcAft>
                      </a:pPr>
                      <a:r>
                        <a:rPr sz="860" b="1">
                          <a:solidFill>
                            <a:srgbClr val="1A1A1A"/>
                          </a:solidFill>
                          <a:latin typeface="游ゴシック"/>
                          <a:ea typeface="游ゴシック"/>
                          <a:cs typeface="游ゴシック"/>
                        </a:rPr>
                        <a:t>300日</a:t>
                      </a:r>
                    </a:p>
                  </a:txBody>
                  <a:tcPr marL="45720" marR="45720" marT="9144" marB="9144" anchor="ctr">
                    <a:solidFill>
                      <a:srgbClr val="FFFFFF"/>
                    </a:solidFill>
                  </a:tcPr>
                </a:tc>
                <a:tc>
                  <a:txBody>
                    <a:bodyPr/>
                    <a:lstStyle/>
                    <a:p>
                      <a:pPr algn="l">
                        <a:spcAft>
                          <a:spcPts val="0"/>
                        </a:spcAft>
                      </a:pPr>
                      <a:r>
                        <a:rPr sz="860" b="1">
                          <a:solidFill>
                            <a:srgbClr val="1A1A1A"/>
                          </a:solidFill>
                          <a:latin typeface="游ゴシック"/>
                          <a:ea typeface="游ゴシック"/>
                          <a:cs typeface="游ゴシック"/>
                        </a:rPr>
                        <a:t>86千円</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25,887</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33,272</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13,813</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6,913</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310896" y="3273552"/>
            <a:ext cx="10067544" cy="402336"/>
          </a:xfrm>
          <a:prstGeom prst="rect">
            <a:avLst/>
          </a:prstGeom>
          <a:noFill/>
        </p:spPr>
        <p:txBody>
          <a:bodyPr wrap="square" lIns="0" tIns="0" rIns="0" bIns="0" anchor="t">
            <a:spAutoFit/>
          </a:bodyPr>
          <a:lstStyle/>
          <a:p>
            <a:pPr algn="l">
              <a:lnSpc>
                <a:spcPct val="114000"/>
              </a:lnSpc>
              <a:spcAft>
                <a:spcPts val="0"/>
              </a:spcAft>
            </a:pPr>
            <a:r>
              <a:rPr sz="760" b="0">
                <a:solidFill>
                  <a:srgbClr val="5A6670"/>
                </a:solidFill>
                <a:latin typeface="游ゴシック"/>
                <a:ea typeface="游ゴシック"/>
                <a:cs typeface="游ゴシック"/>
              </a:rPr>
              <a:t>※ 店頭飲食のみを「営業日数×日商」で変動させ、卸売・通信販売・関係先向け供給は現状のまま据え置いた単純試算。限界利益率65％＝1－材料費率24.5％－ガス1.5％－水道0.4％－雑給9.8％（2026年5月期の売上高比）を切り下げたもの。</a:t>
            </a:r>
          </a:p>
          <a:p>
            <a:pPr algn="l">
              <a:lnSpc>
                <a:spcPct val="114000"/>
              </a:lnSpc>
              <a:spcAft>
                <a:spcPts val="0"/>
              </a:spcAft>
            </a:pPr>
            <a:r>
              <a:rPr sz="760" b="0">
                <a:solidFill>
                  <a:srgbClr val="5A6670"/>
                </a:solidFill>
                <a:latin typeface="游ゴシック"/>
                <a:ea typeface="游ゴシック"/>
                <a:cs typeface="游ゴシック"/>
              </a:rPr>
              <a:t>※ 日商は総勘定元帳の入金摘要から集計した実績（2026年5月期 75千円／2024年5月期 86千円）。そば職人1名分の想定人件費6,900千円は年収600万円＋社会保険料概算15％の仮置きであり、実額は要確認。</a:t>
            </a:r>
          </a:p>
        </p:txBody>
      </p:sp>
      <p:sp>
        <p:nvSpPr>
          <p:cNvPr id="17" name="Rectangle 16"/>
          <p:cNvSpPr/>
          <p:nvPr/>
        </p:nvSpPr>
        <p:spPr>
          <a:xfrm>
            <a:off x="310896" y="3767328"/>
            <a:ext cx="6382512"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100" b="1">
                <a:solidFill>
                  <a:srgbClr val="FFFFFF"/>
                </a:solidFill>
                <a:latin typeface="游ゴシック"/>
                <a:ea typeface="游ゴシック"/>
                <a:cs typeface="游ゴシック"/>
              </a:rPr>
              <a:t>② シナリオC（週6日＋日商回復）の組み立て</a:t>
            </a:r>
          </a:p>
        </p:txBody>
      </p:sp>
      <p:sp>
        <p:nvSpPr>
          <p:cNvPr id="18" name="Rectangle 17"/>
          <p:cNvSpPr/>
          <p:nvPr/>
        </p:nvSpPr>
        <p:spPr>
          <a:xfrm>
            <a:off x="310896" y="4123944"/>
            <a:ext cx="1499616" cy="122529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402336" y="4270248"/>
            <a:ext cx="1316736" cy="475488"/>
          </a:xfrm>
          <a:prstGeom prst="rect">
            <a:avLst/>
          </a:prstGeom>
          <a:noFill/>
        </p:spPr>
        <p:txBody>
          <a:bodyPr wrap="square" lIns="0" tIns="0" rIns="0" bIns="0" anchor="t">
            <a:spAutoFit/>
          </a:bodyPr>
          <a:lstStyle/>
          <a:p>
            <a:pPr algn="ctr">
              <a:lnSpc>
                <a:spcPct val="114000"/>
              </a:lnSpc>
              <a:spcAft>
                <a:spcPts val="0"/>
              </a:spcAft>
            </a:pPr>
            <a:r>
              <a:rPr sz="860" b="1">
                <a:solidFill>
                  <a:srgbClr val="1A1A1A"/>
                </a:solidFill>
                <a:latin typeface="游ゴシック"/>
                <a:ea typeface="游ゴシック"/>
                <a:cs typeface="游ゴシック"/>
              </a:rPr>
              <a:t>現状の調整後EBITDA</a:t>
            </a:r>
          </a:p>
        </p:txBody>
      </p:sp>
      <p:sp>
        <p:nvSpPr>
          <p:cNvPr id="20" name="TextBox 19"/>
          <p:cNvSpPr txBox="1"/>
          <p:nvPr/>
        </p:nvSpPr>
        <p:spPr>
          <a:xfrm>
            <a:off x="384048" y="4837176"/>
            <a:ext cx="1353312" cy="310896"/>
          </a:xfrm>
          <a:prstGeom prst="rect">
            <a:avLst/>
          </a:prstGeom>
          <a:noFill/>
        </p:spPr>
        <p:txBody>
          <a:bodyPr wrap="square" lIns="0" tIns="0" rIns="0" bIns="0" anchor="t">
            <a:spAutoFit/>
          </a:bodyPr>
          <a:lstStyle/>
          <a:p>
            <a:pPr algn="ctr">
              <a:spcAft>
                <a:spcPts val="0"/>
              </a:spcAft>
            </a:pPr>
            <a:r>
              <a:rPr sz="1300" b="1">
                <a:solidFill>
                  <a:srgbClr val="1A1A1A"/>
                </a:solidFill>
                <a:latin typeface="Arial"/>
                <a:ea typeface="Arial"/>
                <a:cs typeface="Arial"/>
              </a:rPr>
              <a:t>6,801千円</a:t>
            </a:r>
          </a:p>
        </p:txBody>
      </p:sp>
      <p:sp>
        <p:nvSpPr>
          <p:cNvPr id="21" name="Rectangle 20"/>
          <p:cNvSpPr/>
          <p:nvPr/>
        </p:nvSpPr>
        <p:spPr>
          <a:xfrm>
            <a:off x="1938527" y="4123944"/>
            <a:ext cx="1499616" cy="1225296"/>
          </a:xfrm>
          <a:prstGeom prst="rect">
            <a:avLst/>
          </a:prstGeom>
          <a:solidFill>
            <a:srgbClr val="E1F3FB"/>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2029967" y="4270248"/>
            <a:ext cx="1316736" cy="475488"/>
          </a:xfrm>
          <a:prstGeom prst="rect">
            <a:avLst/>
          </a:prstGeom>
          <a:noFill/>
        </p:spPr>
        <p:txBody>
          <a:bodyPr wrap="square" lIns="0" tIns="0" rIns="0" bIns="0" anchor="t">
            <a:spAutoFit/>
          </a:bodyPr>
          <a:lstStyle/>
          <a:p>
            <a:pPr algn="ctr">
              <a:lnSpc>
                <a:spcPct val="114000"/>
              </a:lnSpc>
              <a:spcAft>
                <a:spcPts val="0"/>
              </a:spcAft>
            </a:pPr>
            <a:r>
              <a:rPr sz="860" b="1">
                <a:solidFill>
                  <a:srgbClr val="0B3041"/>
                </a:solidFill>
                <a:latin typeface="游ゴシック"/>
                <a:ea typeface="游ゴシック"/>
                <a:cs typeface="游ゴシック"/>
              </a:rPr>
              <a:t>＋ 稼働拡大による増益</a:t>
            </a:r>
          </a:p>
        </p:txBody>
      </p:sp>
      <p:sp>
        <p:nvSpPr>
          <p:cNvPr id="23" name="TextBox 22"/>
          <p:cNvSpPr txBox="1"/>
          <p:nvPr/>
        </p:nvSpPr>
        <p:spPr>
          <a:xfrm>
            <a:off x="2011679" y="4837176"/>
            <a:ext cx="1353312" cy="310896"/>
          </a:xfrm>
          <a:prstGeom prst="rect">
            <a:avLst/>
          </a:prstGeom>
          <a:noFill/>
        </p:spPr>
        <p:txBody>
          <a:bodyPr wrap="square" lIns="0" tIns="0" rIns="0" bIns="0" anchor="t">
            <a:spAutoFit/>
          </a:bodyPr>
          <a:lstStyle/>
          <a:p>
            <a:pPr algn="ctr">
              <a:spcAft>
                <a:spcPts val="0"/>
              </a:spcAft>
            </a:pPr>
            <a:r>
              <a:rPr sz="1300" b="1">
                <a:solidFill>
                  <a:srgbClr val="0B3041"/>
                </a:solidFill>
                <a:latin typeface="Arial"/>
                <a:ea typeface="Arial"/>
                <a:cs typeface="Arial"/>
              </a:rPr>
              <a:t>＋7,012千円</a:t>
            </a:r>
          </a:p>
        </p:txBody>
      </p:sp>
      <p:sp>
        <p:nvSpPr>
          <p:cNvPr id="24" name="Rectangle 23"/>
          <p:cNvSpPr/>
          <p:nvPr/>
        </p:nvSpPr>
        <p:spPr>
          <a:xfrm>
            <a:off x="3566159" y="4123944"/>
            <a:ext cx="1499616" cy="1225296"/>
          </a:xfrm>
          <a:prstGeom prst="rect">
            <a:avLst/>
          </a:prstGeom>
          <a:solidFill>
            <a:srgbClr val="FFFFFF"/>
          </a:solidFill>
          <a:ln w="12700">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3657599" y="4270248"/>
            <a:ext cx="1316736" cy="475488"/>
          </a:xfrm>
          <a:prstGeom prst="rect">
            <a:avLst/>
          </a:prstGeom>
          <a:noFill/>
        </p:spPr>
        <p:txBody>
          <a:bodyPr wrap="square" lIns="0" tIns="0" rIns="0" bIns="0" anchor="t">
            <a:spAutoFit/>
          </a:bodyPr>
          <a:lstStyle/>
          <a:p>
            <a:pPr algn="ctr">
              <a:lnSpc>
                <a:spcPct val="114000"/>
              </a:lnSpc>
              <a:spcAft>
                <a:spcPts val="0"/>
              </a:spcAft>
            </a:pPr>
            <a:r>
              <a:rPr sz="860" b="1">
                <a:solidFill>
                  <a:srgbClr val="C03A2B"/>
                </a:solidFill>
                <a:latin typeface="游ゴシック"/>
                <a:ea typeface="游ゴシック"/>
                <a:cs typeface="游ゴシック"/>
              </a:rPr>
              <a:t>△ そば職人1名の人件費</a:t>
            </a:r>
          </a:p>
        </p:txBody>
      </p:sp>
      <p:sp>
        <p:nvSpPr>
          <p:cNvPr id="26" name="TextBox 25"/>
          <p:cNvSpPr txBox="1"/>
          <p:nvPr/>
        </p:nvSpPr>
        <p:spPr>
          <a:xfrm>
            <a:off x="3639311" y="4837176"/>
            <a:ext cx="1353312" cy="310896"/>
          </a:xfrm>
          <a:prstGeom prst="rect">
            <a:avLst/>
          </a:prstGeom>
          <a:noFill/>
        </p:spPr>
        <p:txBody>
          <a:bodyPr wrap="square" lIns="0" tIns="0" rIns="0" bIns="0" anchor="t">
            <a:spAutoFit/>
          </a:bodyPr>
          <a:lstStyle/>
          <a:p>
            <a:pPr algn="ctr">
              <a:spcAft>
                <a:spcPts val="0"/>
              </a:spcAft>
            </a:pPr>
            <a:r>
              <a:rPr sz="1300" b="1">
                <a:solidFill>
                  <a:srgbClr val="C03A2B"/>
                </a:solidFill>
                <a:latin typeface="Arial"/>
                <a:ea typeface="Arial"/>
                <a:cs typeface="Arial"/>
              </a:rPr>
              <a:t>△6,900千円</a:t>
            </a:r>
          </a:p>
        </p:txBody>
      </p:sp>
      <p:sp>
        <p:nvSpPr>
          <p:cNvPr id="27" name="Rectangle 26"/>
          <p:cNvSpPr/>
          <p:nvPr/>
        </p:nvSpPr>
        <p:spPr>
          <a:xfrm>
            <a:off x="5193792" y="4123944"/>
            <a:ext cx="1499616" cy="1225296"/>
          </a:xfrm>
          <a:prstGeom prst="rect">
            <a:avLst/>
          </a:prstGeom>
          <a:solidFill>
            <a:srgbClr val="0B3041"/>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5285231" y="4270248"/>
            <a:ext cx="1316736" cy="475488"/>
          </a:xfrm>
          <a:prstGeom prst="rect">
            <a:avLst/>
          </a:prstGeom>
          <a:noFill/>
        </p:spPr>
        <p:txBody>
          <a:bodyPr wrap="square" lIns="0" tIns="0" rIns="0" bIns="0" anchor="t">
            <a:spAutoFit/>
          </a:bodyPr>
          <a:lstStyle/>
          <a:p>
            <a:pPr algn="ctr">
              <a:lnSpc>
                <a:spcPct val="114000"/>
              </a:lnSpc>
              <a:spcAft>
                <a:spcPts val="0"/>
              </a:spcAft>
            </a:pPr>
            <a:r>
              <a:rPr sz="860" b="1">
                <a:solidFill>
                  <a:srgbClr val="FFFFFF"/>
                </a:solidFill>
                <a:latin typeface="游ゴシック"/>
                <a:ea typeface="游ゴシック"/>
                <a:cs typeface="游ゴシック"/>
              </a:rPr>
              <a:t>＝ シナリオC 着地</a:t>
            </a:r>
          </a:p>
        </p:txBody>
      </p:sp>
      <p:sp>
        <p:nvSpPr>
          <p:cNvPr id="29" name="TextBox 28"/>
          <p:cNvSpPr txBox="1"/>
          <p:nvPr/>
        </p:nvSpPr>
        <p:spPr>
          <a:xfrm>
            <a:off x="5266944" y="4837176"/>
            <a:ext cx="1353312" cy="310896"/>
          </a:xfrm>
          <a:prstGeom prst="rect">
            <a:avLst/>
          </a:prstGeom>
          <a:noFill/>
        </p:spPr>
        <p:txBody>
          <a:bodyPr wrap="square" lIns="0" tIns="0" rIns="0" bIns="0" anchor="t">
            <a:spAutoFit/>
          </a:bodyPr>
          <a:lstStyle/>
          <a:p>
            <a:pPr algn="ctr">
              <a:spcAft>
                <a:spcPts val="0"/>
              </a:spcAft>
            </a:pPr>
            <a:r>
              <a:rPr sz="1300" b="1">
                <a:solidFill>
                  <a:srgbClr val="FFFFFF"/>
                </a:solidFill>
                <a:latin typeface="Arial"/>
                <a:ea typeface="Arial"/>
                <a:cs typeface="Arial"/>
              </a:rPr>
              <a:t>6,913千円</a:t>
            </a:r>
          </a:p>
        </p:txBody>
      </p:sp>
      <p:sp>
        <p:nvSpPr>
          <p:cNvPr id="30" name="TextBox 29"/>
          <p:cNvSpPr txBox="1"/>
          <p:nvPr/>
        </p:nvSpPr>
        <p:spPr>
          <a:xfrm>
            <a:off x="310896" y="5504688"/>
            <a:ext cx="6382512" cy="768096"/>
          </a:xfrm>
          <a:prstGeom prst="rect">
            <a:avLst/>
          </a:prstGeom>
          <a:noFill/>
        </p:spPr>
        <p:txBody>
          <a:bodyPr wrap="square" lIns="0" tIns="0" rIns="0" bIns="0" anchor="t">
            <a:spAutoFit/>
          </a:bodyPr>
          <a:lstStyle/>
          <a:p>
            <a:pPr algn="l">
              <a:lnSpc>
                <a:spcPct val="124000"/>
              </a:lnSpc>
              <a:spcAft>
                <a:spcPts val="0"/>
              </a:spcAft>
            </a:pPr>
            <a:r>
              <a:rPr sz="940" b="0">
                <a:solidFill>
                  <a:srgbClr val="1A1A1A"/>
                </a:solidFill>
                <a:latin typeface="游ゴシック"/>
                <a:ea typeface="游ゴシック"/>
                <a:cs typeface="游ゴシック"/>
              </a:rPr>
              <a:t>職人1名を雇用しても、営業日を週6日・日商を2024年5月期水準へ戻せれば調整後EBITDAは6,913千円となり、現状の6,801千円を上回る。言い換えると、本件の損益は「人件費を吸収できないほど薄い」のではなく、「稼働が週4日・昼のみに抑えられていることの結果」と読むのが妥当と考えている（弊社の評価）。</a:t>
            </a:r>
          </a:p>
        </p:txBody>
      </p:sp>
      <p:sp>
        <p:nvSpPr>
          <p:cNvPr id="31" name="Rectangle 30"/>
          <p:cNvSpPr/>
          <p:nvPr/>
        </p:nvSpPr>
        <p:spPr>
          <a:xfrm>
            <a:off x="6876288" y="3767328"/>
            <a:ext cx="3502152" cy="265176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6967727" y="3840480"/>
            <a:ext cx="3319272"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3" name="TextBox 32"/>
          <p:cNvSpPr txBox="1"/>
          <p:nvPr/>
        </p:nvSpPr>
        <p:spPr>
          <a:xfrm>
            <a:off x="6986016" y="4187952"/>
            <a:ext cx="3282696" cy="2139696"/>
          </a:xfrm>
          <a:prstGeom prst="rect">
            <a:avLst/>
          </a:prstGeom>
          <a:noFill/>
        </p:spPr>
        <p:txBody>
          <a:bodyPr wrap="square" lIns="0" tIns="0" rIns="0" bIns="0" anchor="t">
            <a:spAutoFit/>
          </a:bodyPr>
          <a:lstStyle/>
          <a:p>
            <a:pPr algn="l">
              <a:lnSpc>
                <a:spcPct val="118000"/>
              </a:lnSpc>
              <a:spcAft>
                <a:spcPts val="500"/>
              </a:spcAft>
            </a:pPr>
            <a:r>
              <a:rPr sz="880" b="1">
                <a:solidFill>
                  <a:srgbClr val="0889C9"/>
                </a:solidFill>
                <a:latin typeface="游ゴシック"/>
                <a:ea typeface="游ゴシック"/>
                <a:cs typeface="游ゴシック"/>
              </a:rPr>
              <a:t>≪売り切りじまい≫ </a:t>
            </a:r>
            <a:r>
              <a:rPr sz="860" b="0">
                <a:solidFill>
                  <a:srgbClr val="1A1A1A"/>
                </a:solidFill>
                <a:latin typeface="游ゴシック"/>
                <a:ea typeface="游ゴシック"/>
                <a:cs typeface="游ゴシック"/>
              </a:rPr>
              <a:t>用意した分が出たら閉店。供給が需要を規定している可能性があり、食数を増やせば伸びる余地がある（要確認）。</a:t>
            </a:r>
          </a:p>
          <a:p>
            <a:pPr algn="l">
              <a:lnSpc>
                <a:spcPct val="118000"/>
              </a:lnSpc>
              <a:spcAft>
                <a:spcPts val="500"/>
              </a:spcAft>
            </a:pPr>
            <a:r>
              <a:rPr sz="880" b="1">
                <a:solidFill>
                  <a:srgbClr val="0889C9"/>
                </a:solidFill>
                <a:latin typeface="游ゴシック"/>
                <a:ea typeface="游ゴシック"/>
                <a:cs typeface="游ゴシック"/>
              </a:rPr>
              <a:t>≪拡大に必要なもの≫ </a:t>
            </a:r>
            <a:r>
              <a:rPr sz="860" b="0">
                <a:solidFill>
                  <a:srgbClr val="1A1A1A"/>
                </a:solidFill>
                <a:latin typeface="游ゴシック"/>
                <a:ea typeface="游ゴシック"/>
                <a:cs typeface="游ゴシック"/>
              </a:rPr>
              <a:t>①人員の追加、②玄そばの調達量（シナリオCで約1.7倍）、③集客の裏付け。掲載誌には「接客や調理、片付けまでの全てを小川氏一人でこなす」との記載がある。</a:t>
            </a:r>
          </a:p>
          <a:p>
            <a:pPr algn="l">
              <a:lnSpc>
                <a:spcPct val="118000"/>
              </a:lnSpc>
              <a:spcAft>
                <a:spcPts val="500"/>
              </a:spcAft>
            </a:pPr>
            <a:r>
              <a:rPr sz="880" b="1">
                <a:solidFill>
                  <a:srgbClr val="0889C9"/>
                </a:solidFill>
                <a:latin typeface="游ゴシック"/>
                <a:ea typeface="游ゴシック"/>
                <a:cs typeface="游ゴシック"/>
              </a:rPr>
              <a:t>≪集客の下地≫ </a:t>
            </a:r>
            <a:r>
              <a:rPr sz="860" b="0">
                <a:solidFill>
                  <a:srgbClr val="1A1A1A"/>
                </a:solidFill>
                <a:latin typeface="游ゴシック"/>
                <a:ea typeface="游ゴシック"/>
                <a:cs typeface="游ゴシック"/>
              </a:rPr>
              <a:t>竜神大吊橋の近隣という観光動線上に立地。コロナ後の再開時にはキャンプ需要等で来店客が増加した実績がある。</a:t>
            </a:r>
          </a:p>
          <a:p>
            <a:pPr algn="l">
              <a:lnSpc>
                <a:spcPct val="118000"/>
              </a:lnSpc>
              <a:spcAft>
                <a:spcPts val="200"/>
              </a:spcAft>
            </a:pPr>
            <a:r>
              <a:rPr sz="880" b="1">
                <a:solidFill>
                  <a:srgbClr val="0889C9"/>
                </a:solidFill>
                <a:latin typeface="游ゴシック"/>
                <a:ea typeface="游ゴシック"/>
                <a:cs typeface="游ゴシック"/>
              </a:rPr>
              <a:t>≪人件費の読み方≫ </a:t>
            </a:r>
            <a:r>
              <a:rPr sz="860" b="0">
                <a:solidFill>
                  <a:srgbClr val="1A1A1A"/>
                </a:solidFill>
                <a:latin typeface="游ゴシック"/>
                <a:ea typeface="游ゴシック"/>
                <a:cs typeface="游ゴシック"/>
              </a:rPr>
              <a:t>6,900千円は買手が経営に専念する前提の仮置き。買手自身が店に入るなら自らの役員報酬となる。買手タイプ別の整理は次頁。</a:t>
            </a:r>
          </a:p>
        </p:txBody>
      </p:sp>
      <p:sp>
        <p:nvSpPr>
          <p:cNvPr id="34" name="TextBox 33"/>
          <p:cNvSpPr txBox="1"/>
          <p:nvPr/>
        </p:nvSpPr>
        <p:spPr>
          <a:xfrm>
            <a:off x="310896" y="649224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本ページの試算はいずれも弊社の仮説であり、将来の業績を保証するものではありません。前提の妥当性は買手候補様においてご検証ください。</a:t>
            </a:r>
          </a:p>
        </p:txBody>
      </p:sp>
      <p:sp>
        <p:nvSpPr>
          <p:cNvPr id="3" name="タイトル 1">
            <a:extLst>
              <a:ext uri="{FF2B5EF4-FFF2-40B4-BE49-F238E27FC236}">
                <a16:creationId xmlns:a16="http://schemas.microsoft.com/office/drawing/2014/main" id="{9F8709F3-CFA2-1F0A-C3EA-EB65D4AFBE7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買手が承継するもの ― ブランド・商標・レシピ</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事業概要</a:t>
            </a:r>
            <a:endParaRPr sz="1200" b="1" dirty="0">
              <a:solidFill>
                <a:schemeClr val="bg1"/>
              </a:solidFill>
              <a:latin typeface="游ゴシック"/>
              <a:ea typeface="游ゴシック"/>
              <a:cs typeface="游ゴシック"/>
            </a:endParaRP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本件で引き継がれるのは直近の損益ではなく、新設では作れない資産。ブランド・商標・レシピ・再建築困難な店舗・産地との関係が承継対象となる</a:t>
            </a:r>
            <a:endParaRPr lang="en-US" altLang="ja-JP" dirty="0"/>
          </a:p>
        </p:txBody>
      </p:sp>
      <p:graphicFrame>
        <p:nvGraphicFramePr>
          <p:cNvPr id="14" name="Table 13"/>
          <p:cNvGraphicFramePr>
            <a:graphicFrameLocks noGrp="1"/>
          </p:cNvGraphicFramePr>
          <p:nvPr/>
        </p:nvGraphicFramePr>
        <p:xfrm>
          <a:off x="310896" y="1426464"/>
          <a:ext cx="10067543" cy="3054096"/>
        </p:xfrm>
        <a:graphic>
          <a:graphicData uri="http://schemas.openxmlformats.org/drawingml/2006/table">
            <a:tbl>
              <a:tblPr>
                <a:tableStyleId>{5940675A-B579-460E-94D1-54222C63F5DA}</a:tableStyleId>
              </a:tblPr>
              <a:tblGrid>
                <a:gridCol w="1389888">
                  <a:extLst>
                    <a:ext uri="{9D8B030D-6E8A-4147-A177-3AD203B41FA5}">
                      <a16:colId xmlns:a16="http://schemas.microsoft.com/office/drawing/2014/main" val="20000"/>
                    </a:ext>
                  </a:extLst>
                </a:gridCol>
                <a:gridCol w="3310128">
                  <a:extLst>
                    <a:ext uri="{9D8B030D-6E8A-4147-A177-3AD203B41FA5}">
                      <a16:colId xmlns:a16="http://schemas.microsoft.com/office/drawing/2014/main" val="20001"/>
                    </a:ext>
                  </a:extLst>
                </a:gridCol>
                <a:gridCol w="2066543">
                  <a:extLst>
                    <a:ext uri="{9D8B030D-6E8A-4147-A177-3AD203B41FA5}">
                      <a16:colId xmlns:a16="http://schemas.microsoft.com/office/drawing/2014/main" val="20002"/>
                    </a:ext>
                  </a:extLst>
                </a:gridCol>
                <a:gridCol w="3300984">
                  <a:extLst>
                    <a:ext uri="{9D8B030D-6E8A-4147-A177-3AD203B41FA5}">
                      <a16:colId xmlns:a16="http://schemas.microsoft.com/office/drawing/2014/main" val="20003"/>
                    </a:ext>
                  </a:extLst>
                </a:gridCol>
              </a:tblGrid>
              <a:tr h="237744">
                <a:tc>
                  <a:txBody>
                    <a:bodyPr/>
                    <a:lstStyle/>
                    <a:p>
                      <a:pPr algn="ctr">
                        <a:spcAft>
                          <a:spcPts val="0"/>
                        </a:spcAft>
                      </a:pPr>
                      <a:r>
                        <a:rPr sz="819" b="1">
                          <a:solidFill>
                            <a:srgbClr val="FFFFFF"/>
                          </a:solidFill>
                          <a:latin typeface="游ゴシック"/>
                          <a:ea typeface="游ゴシック"/>
                          <a:cs typeface="游ゴシック"/>
                        </a:rPr>
                        <a:t>承継対象</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内容</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承継の方法・可否</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買手にとっての意味</a:t>
                      </a:r>
                    </a:p>
                  </a:txBody>
                  <a:tcPr marL="45720" marR="45720" marT="9144" marB="9144" anchor="ctr">
                    <a:solidFill>
                      <a:srgbClr val="0B3041"/>
                    </a:solidFill>
                  </a:tcPr>
                </a:tc>
                <a:extLst>
                  <a:ext uri="{0D108BD9-81ED-4DB2-BD59-A6C34878D82A}">
                    <a16:rowId xmlns:a16="http://schemas.microsoft.com/office/drawing/2014/main" val="10000"/>
                  </a:ext>
                </a:extLst>
              </a:tr>
              <a:tr h="402336">
                <a:tc>
                  <a:txBody>
                    <a:bodyPr/>
                    <a:lstStyle/>
                    <a:p>
                      <a:pPr algn="l">
                        <a:spcAft>
                          <a:spcPts val="0"/>
                        </a:spcAft>
                      </a:pPr>
                      <a:r>
                        <a:rPr sz="819" b="0">
                          <a:solidFill>
                            <a:srgbClr val="1A1A1A"/>
                          </a:solidFill>
                          <a:latin typeface="游ゴシック"/>
                          <a:ea typeface="游ゴシック"/>
                          <a:cs typeface="游ゴシック"/>
                        </a:rPr>
                        <a:t>ブランド「慈久庵」</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食べログ「そば 百名店」選出、THE TABELOG AWARD 2022・2023 Bronze、Japan Restaurant Award 2016 茨城県TOP1</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法人の株式譲渡により移転</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広告費をかけずに集客できる状態を初日から得られる。新規開業では年単位でも作れない</a:t>
                      </a:r>
                    </a:p>
                  </a:txBody>
                  <a:tcPr marL="45720" marR="45720" marT="9144" marB="9144" anchor="ctr">
                    <a:solidFill>
                      <a:srgbClr val="FFFFFF"/>
                    </a:solidFill>
                  </a:tcPr>
                </a:tc>
                <a:extLst>
                  <a:ext uri="{0D108BD9-81ED-4DB2-BD59-A6C34878D82A}">
                    <a16:rowId xmlns:a16="http://schemas.microsoft.com/office/drawing/2014/main" val="10001"/>
                  </a:ext>
                </a:extLst>
              </a:tr>
              <a:tr h="402336">
                <a:tc>
                  <a:txBody>
                    <a:bodyPr/>
                    <a:lstStyle/>
                    <a:p>
                      <a:pPr algn="l">
                        <a:spcAft>
                          <a:spcPts val="0"/>
                        </a:spcAft>
                      </a:pPr>
                      <a:r>
                        <a:rPr sz="819" b="0">
                          <a:solidFill>
                            <a:srgbClr val="1A1A1A"/>
                          </a:solidFill>
                          <a:latin typeface="游ゴシック"/>
                          <a:ea typeface="游ゴシック"/>
                          <a:cs typeface="游ゴシック"/>
                        </a:rPr>
                        <a:t>商標権4件</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「慈久庵」「古式けんちんそば」「古式健珍蕎麦」等（2011年12月取得）</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法人の株式譲渡により移転。権利範囲は要確認（P.28）</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店名・商品名を他社に使わせない。多店舗展開・物販展開の法的な基盤になる</a:t>
                      </a:r>
                    </a:p>
                  </a:txBody>
                  <a:tcPr marL="45720" marR="45720" marT="9144" marB="9144" anchor="ctr">
                    <a:solidFill>
                      <a:srgbClr val="FFFFFF"/>
                    </a:solidFill>
                  </a:tcPr>
                </a:tc>
                <a:extLst>
                  <a:ext uri="{0D108BD9-81ED-4DB2-BD59-A6C34878D82A}">
                    <a16:rowId xmlns:a16="http://schemas.microsoft.com/office/drawing/2014/main" val="10002"/>
                  </a:ext>
                </a:extLst>
              </a:tr>
              <a:tr h="402336">
                <a:tc>
                  <a:txBody>
                    <a:bodyPr/>
                    <a:lstStyle/>
                    <a:p>
                      <a:pPr algn="l">
                        <a:spcAft>
                          <a:spcPts val="0"/>
                        </a:spcAft>
                      </a:pPr>
                      <a:r>
                        <a:rPr sz="819" b="0">
                          <a:solidFill>
                            <a:srgbClr val="1A1A1A"/>
                          </a:solidFill>
                          <a:latin typeface="游ゴシック"/>
                          <a:ea typeface="游ゴシック"/>
                          <a:cs typeface="游ゴシック"/>
                        </a:rPr>
                        <a:t>レシピ・「かえし」</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誰でも再現できるよう整理済とのこと（面談ヒアリング）。過去に弟子へ別店舗の営業を承継した実績あり</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引継ぎ対象。標準化資料の実物確認が必要</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「代表者がいなければ蕎麦を打てない」状態ではない。職人を採用すれば再現できる</a:t>
                      </a:r>
                    </a:p>
                  </a:txBody>
                  <a:tcPr marL="45720" marR="45720" marT="9144" marB="9144" anchor="ctr">
                    <a:solidFill>
                      <a:srgbClr val="FFFFFF"/>
                    </a:solidFill>
                  </a:tcPr>
                </a:tc>
                <a:extLst>
                  <a:ext uri="{0D108BD9-81ED-4DB2-BD59-A6C34878D82A}">
                    <a16:rowId xmlns:a16="http://schemas.microsoft.com/office/drawing/2014/main" val="10003"/>
                  </a:ext>
                </a:extLst>
              </a:tr>
              <a:tr h="402336">
                <a:tc>
                  <a:txBody>
                    <a:bodyPr/>
                    <a:lstStyle/>
                    <a:p>
                      <a:pPr algn="l">
                        <a:spcAft>
                          <a:spcPts val="0"/>
                        </a:spcAft>
                      </a:pPr>
                      <a:r>
                        <a:rPr sz="819" b="0">
                          <a:solidFill>
                            <a:srgbClr val="1A1A1A"/>
                          </a:solidFill>
                          <a:latin typeface="游ゴシック"/>
                          <a:ea typeface="游ゴシック"/>
                          <a:cs typeface="游ゴシック"/>
                        </a:rPr>
                        <a:t>製法・製造設備</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焼畑→一年熟成→石臼自家製粉→手打ちの一貫体制。電動・木製の石臼製粉機、そば打ち台2台、玄そば定温保管庫</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法人の株式譲渡により移転</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同等の設備一式を新規に揃えるには相応の投資と時間を要する（P.13・P.27）</a:t>
                      </a:r>
                    </a:p>
                  </a:txBody>
                  <a:tcPr marL="45720" marR="45720" marT="9144" marB="9144" anchor="ctr">
                    <a:solidFill>
                      <a:srgbClr val="FFFFFF"/>
                    </a:solidFill>
                  </a:tcPr>
                </a:tc>
                <a:extLst>
                  <a:ext uri="{0D108BD9-81ED-4DB2-BD59-A6C34878D82A}">
                    <a16:rowId xmlns:a16="http://schemas.microsoft.com/office/drawing/2014/main" val="10004"/>
                  </a:ext>
                </a:extLst>
              </a:tr>
              <a:tr h="402336">
                <a:tc>
                  <a:txBody>
                    <a:bodyPr/>
                    <a:lstStyle/>
                    <a:p>
                      <a:pPr algn="l">
                        <a:spcAft>
                          <a:spcPts val="0"/>
                        </a:spcAft>
                      </a:pPr>
                      <a:r>
                        <a:rPr sz="819" b="0">
                          <a:solidFill>
                            <a:srgbClr val="1A1A1A"/>
                          </a:solidFill>
                          <a:latin typeface="游ゴシック"/>
                          <a:ea typeface="游ゴシック"/>
                          <a:cs typeface="游ゴシック"/>
                        </a:rPr>
                        <a:t>店舗（土地・建物）</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代表者が自ら設計した板倉造・茅葺きの店舗（取得価額104,599千円）と土地。賃料負担なし</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法人の株式譲渡により移転。建物は未登記のため表題・保存登記が論点</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同等の建築は事実上困難。囲炉裏・座敷・縁側デッキを含む体験価値が店舗そのものに宿る</a:t>
                      </a:r>
                    </a:p>
                  </a:txBody>
                  <a:tcPr marL="45720" marR="45720" marT="9144" marB="9144" anchor="ctr">
                    <a:solidFill>
                      <a:srgbClr val="FFFFFF"/>
                    </a:solidFill>
                  </a:tcPr>
                </a:tc>
                <a:extLst>
                  <a:ext uri="{0D108BD9-81ED-4DB2-BD59-A6C34878D82A}">
                    <a16:rowId xmlns:a16="http://schemas.microsoft.com/office/drawing/2014/main" val="10005"/>
                  </a:ext>
                </a:extLst>
              </a:tr>
              <a:tr h="402336">
                <a:tc>
                  <a:txBody>
                    <a:bodyPr/>
                    <a:lstStyle/>
                    <a:p>
                      <a:pPr algn="l">
                        <a:spcAft>
                          <a:spcPts val="0"/>
                        </a:spcAft>
                      </a:pPr>
                      <a:r>
                        <a:rPr sz="819" b="0">
                          <a:solidFill>
                            <a:srgbClr val="1A1A1A"/>
                          </a:solidFill>
                          <a:latin typeface="游ゴシック"/>
                          <a:ea typeface="游ゴシック"/>
                          <a:cs typeface="游ゴシック"/>
                        </a:rPr>
                        <a:t>産地・仕入先との関係</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地元産「常陸秋そば」を農家を応援する意味合いから高値で買い取る方針により築かれた生産者との関係</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属人性が残る。引継ぎ方法は要確認</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原料の安定調達の基盤。承継計画の中心論点であり、拡大シナリオの前提にもなる</a:t>
                      </a:r>
                    </a:p>
                  </a:txBody>
                  <a:tcPr marL="45720" marR="45720" marT="9144" marB="9144" anchor="ctr">
                    <a:solidFill>
                      <a:srgbClr val="FFFFFF"/>
                    </a:solidFill>
                  </a:tcPr>
                </a:tc>
                <a:extLst>
                  <a:ext uri="{0D108BD9-81ED-4DB2-BD59-A6C34878D82A}">
                    <a16:rowId xmlns:a16="http://schemas.microsoft.com/office/drawing/2014/main" val="10006"/>
                  </a:ext>
                </a:extLst>
              </a:tr>
              <a:tr h="402336">
                <a:tc>
                  <a:txBody>
                    <a:bodyPr/>
                    <a:lstStyle/>
                    <a:p>
                      <a:pPr algn="l">
                        <a:spcAft>
                          <a:spcPts val="0"/>
                        </a:spcAft>
                      </a:pPr>
                      <a:r>
                        <a:rPr sz="819" b="0">
                          <a:solidFill>
                            <a:srgbClr val="1A1A1A"/>
                          </a:solidFill>
                          <a:latin typeface="游ゴシック"/>
                          <a:ea typeface="游ゴシック"/>
                          <a:cs typeface="游ゴシック"/>
                        </a:rPr>
                        <a:t>卸売・通販の取引先</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打心蕎庵・玉笑（玄そば）、キビヤベーカリー・ルヴァン（石臼挽き小麦粉）、通信販売・ふるさと納税</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法人の株式譲渡により継続。COC条項の有無は要確認</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店舗以外の売上導線を初日から保有。物販は許認可の整理により伸ばせる（P.15）</a:t>
                      </a:r>
                    </a:p>
                  </a:txBody>
                  <a:tcPr marL="45720" marR="45720" marT="9144" marB="9144" anchor="ctr">
                    <a:solidFill>
                      <a:srgbClr val="FFFFFF"/>
                    </a:solidFill>
                  </a:tcPr>
                </a:tc>
                <a:extLst>
                  <a:ext uri="{0D108BD9-81ED-4DB2-BD59-A6C34878D82A}">
                    <a16:rowId xmlns:a16="http://schemas.microsoft.com/office/drawing/2014/main" val="10007"/>
                  </a:ext>
                </a:extLst>
              </a:tr>
            </a:tbl>
          </a:graphicData>
        </a:graphic>
      </p:graphicFrame>
      <p:sp>
        <p:nvSpPr>
          <p:cNvPr id="15" name="Rectangle 14"/>
          <p:cNvSpPr/>
          <p:nvPr/>
        </p:nvSpPr>
        <p:spPr>
          <a:xfrm>
            <a:off x="310896" y="45720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100" b="1">
                <a:solidFill>
                  <a:srgbClr val="FFFFFF"/>
                </a:solidFill>
                <a:latin typeface="游ゴシック"/>
                <a:ea typeface="游ゴシック"/>
                <a:cs typeface="游ゴシック"/>
              </a:rPr>
              <a:t>買手タイプ別｜そば職人の人件費の見え方（弊社の整理）</a:t>
            </a:r>
          </a:p>
        </p:txBody>
      </p:sp>
      <p:sp>
        <p:nvSpPr>
          <p:cNvPr id="16" name="Rectangle 15"/>
          <p:cNvSpPr/>
          <p:nvPr/>
        </p:nvSpPr>
        <p:spPr>
          <a:xfrm>
            <a:off x="310896"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310896"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475488" y="5084064"/>
            <a:ext cx="2953512" cy="219456"/>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A オーナー経営型</a:t>
            </a:r>
          </a:p>
        </p:txBody>
      </p:sp>
      <p:sp>
        <p:nvSpPr>
          <p:cNvPr id="19" name="TextBox 18"/>
          <p:cNvSpPr txBox="1"/>
          <p:nvPr/>
        </p:nvSpPr>
        <p:spPr>
          <a:xfrm>
            <a:off x="475488" y="5340096"/>
            <a:ext cx="2953512" cy="182880"/>
          </a:xfrm>
          <a:prstGeom prst="rect">
            <a:avLst/>
          </a:prstGeom>
          <a:noFill/>
        </p:spPr>
        <p:txBody>
          <a:bodyPr wrap="square" lIns="0" tIns="0" rIns="0" bIns="0" anchor="t">
            <a:spAutoFit/>
          </a:bodyPr>
          <a:lstStyle/>
          <a:p>
            <a:pPr algn="l">
              <a:spcAft>
                <a:spcPts val="0"/>
              </a:spcAft>
            </a:pPr>
            <a:r>
              <a:rPr sz="800" b="0">
                <a:solidFill>
                  <a:srgbClr val="0889C9"/>
                </a:solidFill>
                <a:latin typeface="游ゴシック"/>
                <a:ea typeface="游ゴシック"/>
                <a:cs typeface="游ゴシック"/>
              </a:rPr>
              <a:t>買手ご自身（またはご家族）が店に入る場合</a:t>
            </a:r>
          </a:p>
        </p:txBody>
      </p:sp>
      <p:sp>
        <p:nvSpPr>
          <p:cNvPr id="20" name="TextBox 19"/>
          <p:cNvSpPr txBox="1"/>
          <p:nvPr/>
        </p:nvSpPr>
        <p:spPr>
          <a:xfrm>
            <a:off x="475488" y="5559552"/>
            <a:ext cx="2953512" cy="713232"/>
          </a:xfrm>
          <a:prstGeom prst="rect">
            <a:avLst/>
          </a:prstGeom>
          <a:noFill/>
        </p:spPr>
        <p:txBody>
          <a:bodyPr wrap="square" lIns="0" tIns="0" r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職人人件費は買手自身の役員報酬となる。実績の調整後EBITDA6,801千円がそのまま報酬および投資回収の原資になる。</a:t>
            </a:r>
          </a:p>
        </p:txBody>
      </p:sp>
      <p:sp>
        <p:nvSpPr>
          <p:cNvPr id="21" name="Rectangle 20"/>
          <p:cNvSpPr/>
          <p:nvPr/>
        </p:nvSpPr>
        <p:spPr>
          <a:xfrm>
            <a:off x="3712463"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3712463"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3877055" y="5084064"/>
            <a:ext cx="2953512" cy="219456"/>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B 経営専任型</a:t>
            </a:r>
          </a:p>
        </p:txBody>
      </p:sp>
      <p:sp>
        <p:nvSpPr>
          <p:cNvPr id="24" name="TextBox 23"/>
          <p:cNvSpPr txBox="1"/>
          <p:nvPr/>
        </p:nvSpPr>
        <p:spPr>
          <a:xfrm>
            <a:off x="3877055" y="5340096"/>
            <a:ext cx="2953512" cy="182880"/>
          </a:xfrm>
          <a:prstGeom prst="rect">
            <a:avLst/>
          </a:prstGeom>
          <a:noFill/>
        </p:spPr>
        <p:txBody>
          <a:bodyPr wrap="square" lIns="0" tIns="0" rIns="0" bIns="0" anchor="t">
            <a:spAutoFit/>
          </a:bodyPr>
          <a:lstStyle/>
          <a:p>
            <a:pPr algn="l">
              <a:spcAft>
                <a:spcPts val="0"/>
              </a:spcAft>
            </a:pPr>
            <a:r>
              <a:rPr sz="800" b="0">
                <a:solidFill>
                  <a:srgbClr val="0889C9"/>
                </a:solidFill>
                <a:latin typeface="游ゴシック"/>
                <a:ea typeface="游ゴシック"/>
                <a:cs typeface="游ゴシック"/>
              </a:rPr>
              <a:t>職人を雇用し、買手は経営に専念する場合</a:t>
            </a:r>
          </a:p>
        </p:txBody>
      </p:sp>
      <p:sp>
        <p:nvSpPr>
          <p:cNvPr id="25" name="TextBox 24"/>
          <p:cNvSpPr txBox="1"/>
          <p:nvPr/>
        </p:nvSpPr>
        <p:spPr>
          <a:xfrm>
            <a:off x="3877055" y="5559552"/>
            <a:ext cx="2953512" cy="713232"/>
          </a:xfrm>
          <a:prstGeom prst="rect">
            <a:avLst/>
          </a:prstGeom>
          <a:noFill/>
        </p:spPr>
        <p:txBody>
          <a:bodyPr wrap="square" lIns="0" tIns="0" r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年6,900千円の増分費用が発生する。P.19のシナリオB・Cのとおり、営業日・日商の回復により吸収できる水準にある。</a:t>
            </a:r>
          </a:p>
        </p:txBody>
      </p:sp>
      <p:sp>
        <p:nvSpPr>
          <p:cNvPr id="26" name="Rectangle 25"/>
          <p:cNvSpPr/>
          <p:nvPr/>
        </p:nvSpPr>
        <p:spPr>
          <a:xfrm>
            <a:off x="7114031"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7114031"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7278623" y="5084064"/>
            <a:ext cx="2953512" cy="219456"/>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C 既存事業者による運営吸収型</a:t>
            </a:r>
          </a:p>
        </p:txBody>
      </p:sp>
      <p:sp>
        <p:nvSpPr>
          <p:cNvPr id="29" name="TextBox 28"/>
          <p:cNvSpPr txBox="1"/>
          <p:nvPr/>
        </p:nvSpPr>
        <p:spPr>
          <a:xfrm>
            <a:off x="7278623" y="5340096"/>
            <a:ext cx="2953512" cy="182880"/>
          </a:xfrm>
          <a:prstGeom prst="rect">
            <a:avLst/>
          </a:prstGeom>
          <a:noFill/>
        </p:spPr>
        <p:txBody>
          <a:bodyPr wrap="square" lIns="0" tIns="0" rIns="0" bIns="0" anchor="t">
            <a:spAutoFit/>
          </a:bodyPr>
          <a:lstStyle/>
          <a:p>
            <a:pPr algn="l">
              <a:spcAft>
                <a:spcPts val="0"/>
              </a:spcAft>
            </a:pPr>
            <a:r>
              <a:rPr sz="800" b="0">
                <a:solidFill>
                  <a:srgbClr val="0889C9"/>
                </a:solidFill>
                <a:latin typeface="游ゴシック"/>
                <a:ea typeface="游ゴシック"/>
                <a:cs typeface="游ゴシック"/>
              </a:rPr>
              <a:t>飲食・食品事業者が既存組織へ取り込む場合</a:t>
            </a:r>
          </a:p>
        </p:txBody>
      </p:sp>
      <p:sp>
        <p:nvSpPr>
          <p:cNvPr id="30" name="TextBox 29"/>
          <p:cNvSpPr txBox="1"/>
          <p:nvPr/>
        </p:nvSpPr>
        <p:spPr>
          <a:xfrm>
            <a:off x="7278623" y="5559552"/>
            <a:ext cx="2953512" cy="713232"/>
          </a:xfrm>
          <a:prstGeom prst="rect">
            <a:avLst/>
          </a:prstGeom>
          <a:noFill/>
        </p:spPr>
        <p:txBody>
          <a:bodyPr wrap="square" lIns="0" tIns="0" r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経理・仕入・販売・採用の機能を既存組織と共用でき、増分は現場人員に限られる。商標を使った物販・多店舗への横展開余地も大きい。</a:t>
            </a:r>
          </a:p>
        </p:txBody>
      </p:sp>
      <p:sp>
        <p:nvSpPr>
          <p:cNvPr id="31" name="TextBox 30"/>
          <p:cNvSpPr txBox="1"/>
          <p:nvPr/>
        </p:nvSpPr>
        <p:spPr>
          <a:xfrm>
            <a:off x="310896" y="6419088"/>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承継方法は株式譲渡を前提とした一般的な整理であり、個別の契約・許認可の承継可否はデューデリジェンスにおいてご確認ください。</a:t>
            </a:r>
          </a:p>
          <a:p>
            <a:pPr algn="l">
              <a:lnSpc>
                <a:spcPct val="112000"/>
              </a:lnSpc>
              <a:spcAft>
                <a:spcPts val="100"/>
              </a:spcAft>
            </a:pPr>
            <a:r>
              <a:rPr sz="750" b="0">
                <a:solidFill>
                  <a:srgbClr val="5A6670"/>
                </a:solidFill>
                <a:latin typeface="游ゴシック"/>
                <a:ea typeface="游ゴシック"/>
                <a:cs typeface="游ゴシック"/>
              </a:rPr>
              <a:t>※ 「買手タイプ別の見え方」は弊社の整理であり、実際の必要人員・人件費は買手候補様の体制により異なります。</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運営体制と承継</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常時雇用の従業員は0名。代表者・配偶者の2名で運営し、繁忙時は親族が就労（雑給2,201千円）</a:t>
            </a:r>
            <a:endParaRPr lang="en-US" altLang="ja-JP" dirty="0">
              <a:latin typeface="+mj-ea"/>
            </a:endParaRPr>
          </a:p>
        </p:txBody>
      </p:sp>
      <p:sp>
        <p:nvSpPr>
          <p:cNvPr id="86" name="Rectangle 85"/>
          <p:cNvSpPr/>
          <p:nvPr/>
        </p:nvSpPr>
        <p:spPr>
          <a:xfrm>
            <a:off x="4078224" y="1554480"/>
            <a:ext cx="2542032" cy="7863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7" name="TextBox 86"/>
          <p:cNvSpPr txBox="1"/>
          <p:nvPr/>
        </p:nvSpPr>
        <p:spPr>
          <a:xfrm>
            <a:off x="4078224" y="1682495"/>
            <a:ext cx="2542032" cy="237744"/>
          </a:xfrm>
          <a:prstGeom prst="rect">
            <a:avLst/>
          </a:prstGeom>
          <a:noFill/>
        </p:spPr>
        <p:txBody>
          <a:bodyPr wrap="square" lIns="0" tIns="0" rIns="0" bIns="0" anchor="t">
            <a:spAutoFit/>
          </a:bodyPr>
          <a:lstStyle/>
          <a:p>
            <a:pPr algn="ctr">
              <a:spcAft>
                <a:spcPts val="0"/>
              </a:spcAft>
            </a:pPr>
            <a:r>
              <a:rPr sz="1100" b="1">
                <a:solidFill>
                  <a:srgbClr val="FFFFFF"/>
                </a:solidFill>
                <a:latin typeface="游ゴシック"/>
                <a:ea typeface="游ゴシック"/>
                <a:cs typeface="游ゴシック"/>
              </a:rPr>
              <a:t>代表取締役　小川 宣夫</a:t>
            </a:r>
          </a:p>
        </p:txBody>
      </p:sp>
      <p:sp>
        <p:nvSpPr>
          <p:cNvPr id="88" name="TextBox 87"/>
          <p:cNvSpPr txBox="1"/>
          <p:nvPr/>
        </p:nvSpPr>
        <p:spPr>
          <a:xfrm>
            <a:off x="4078224" y="1956816"/>
            <a:ext cx="2542032" cy="237744"/>
          </a:xfrm>
          <a:prstGeom prst="rect">
            <a:avLst/>
          </a:prstGeom>
          <a:noFill/>
        </p:spPr>
        <p:txBody>
          <a:bodyPr wrap="square" lIns="0" tIns="0" rIns="0" bIns="0" anchor="t">
            <a:spAutoFit/>
          </a:bodyPr>
          <a:lstStyle/>
          <a:p>
            <a:pPr algn="ctr">
              <a:spcAft>
                <a:spcPts val="0"/>
              </a:spcAft>
            </a:pPr>
            <a:r>
              <a:rPr sz="900" b="0">
                <a:solidFill>
                  <a:srgbClr val="C9D6DC"/>
                </a:solidFill>
                <a:latin typeface="游ゴシック"/>
                <a:ea typeface="游ゴシック"/>
                <a:cs typeface="游ゴシック"/>
              </a:rPr>
              <a:t>（79歳・無報酬）</a:t>
            </a:r>
          </a:p>
        </p:txBody>
      </p:sp>
      <p:sp>
        <p:nvSpPr>
          <p:cNvPr id="89" name="Rectangle 88"/>
          <p:cNvSpPr/>
          <p:nvPr/>
        </p:nvSpPr>
        <p:spPr>
          <a:xfrm>
            <a:off x="548640"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 name="TextBox 89"/>
          <p:cNvSpPr txBox="1"/>
          <p:nvPr/>
        </p:nvSpPr>
        <p:spPr>
          <a:xfrm>
            <a:off x="676656" y="2871216"/>
            <a:ext cx="2395728" cy="219456"/>
          </a:xfrm>
          <a:prstGeom prst="rect">
            <a:avLst/>
          </a:prstGeom>
          <a:noFill/>
        </p:spPr>
        <p:txBody>
          <a:bodyPr wrap="square" lIns="0" tIns="0" rIns="0" bIns="0" anchor="t">
            <a:spAutoFit/>
          </a:bodyPr>
          <a:lstStyle/>
          <a:p>
            <a:pPr algn="l">
              <a:spcAft>
                <a:spcPts val="0"/>
              </a:spcAft>
            </a:pPr>
            <a:r>
              <a:rPr sz="1000" b="1">
                <a:solidFill>
                  <a:srgbClr val="0B3041"/>
                </a:solidFill>
                <a:latin typeface="游ゴシック"/>
                <a:ea typeface="游ゴシック"/>
                <a:cs typeface="游ゴシック"/>
              </a:rPr>
              <a:t>そば打ち・製粉</a:t>
            </a:r>
          </a:p>
        </p:txBody>
      </p:sp>
      <p:sp>
        <p:nvSpPr>
          <p:cNvPr id="91" name="TextBox 90"/>
          <p:cNvSpPr txBox="1"/>
          <p:nvPr/>
        </p:nvSpPr>
        <p:spPr>
          <a:xfrm>
            <a:off x="676656" y="3145536"/>
            <a:ext cx="2395728" cy="475488"/>
          </a:xfrm>
          <a:prstGeom prst="rect">
            <a:avLst/>
          </a:prstGeom>
          <a:noFill/>
        </p:spPr>
        <p:txBody>
          <a:bodyPr wrap="square" lIns="0" tIns="0" r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玄そばの仕入・選別／一年熟成／石臼自家製粉／手打ち</a:t>
            </a:r>
          </a:p>
        </p:txBody>
      </p:sp>
      <p:sp>
        <p:nvSpPr>
          <p:cNvPr id="92" name="Rectangle 91"/>
          <p:cNvSpPr/>
          <p:nvPr/>
        </p:nvSpPr>
        <p:spPr>
          <a:xfrm>
            <a:off x="1863547"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 name="Rectangle 92"/>
          <p:cNvSpPr/>
          <p:nvPr/>
        </p:nvSpPr>
        <p:spPr>
          <a:xfrm>
            <a:off x="3401568"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 name="TextBox 93"/>
          <p:cNvSpPr txBox="1"/>
          <p:nvPr/>
        </p:nvSpPr>
        <p:spPr>
          <a:xfrm>
            <a:off x="3529584" y="2871216"/>
            <a:ext cx="2395728" cy="219456"/>
          </a:xfrm>
          <a:prstGeom prst="rect">
            <a:avLst/>
          </a:prstGeom>
          <a:noFill/>
        </p:spPr>
        <p:txBody>
          <a:bodyPr wrap="square" lIns="0" tIns="0" rIns="0" bIns="0" anchor="t">
            <a:spAutoFit/>
          </a:bodyPr>
          <a:lstStyle/>
          <a:p>
            <a:pPr algn="l">
              <a:spcAft>
                <a:spcPts val="0"/>
              </a:spcAft>
            </a:pPr>
            <a:r>
              <a:rPr sz="1000" b="1">
                <a:solidFill>
                  <a:srgbClr val="0B3041"/>
                </a:solidFill>
                <a:latin typeface="游ゴシック"/>
                <a:ea typeface="游ゴシック"/>
                <a:cs typeface="游ゴシック"/>
              </a:rPr>
              <a:t>調理・接客・会計</a:t>
            </a:r>
          </a:p>
        </p:txBody>
      </p:sp>
      <p:sp>
        <p:nvSpPr>
          <p:cNvPr id="95" name="TextBox 94"/>
          <p:cNvSpPr txBox="1"/>
          <p:nvPr/>
        </p:nvSpPr>
        <p:spPr>
          <a:xfrm>
            <a:off x="3529584" y="3145536"/>
            <a:ext cx="2395728" cy="475488"/>
          </a:xfrm>
          <a:prstGeom prst="rect">
            <a:avLst/>
          </a:prstGeom>
          <a:noFill/>
        </p:spPr>
        <p:txBody>
          <a:bodyPr wrap="square" lIns="0" tIns="0" r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天ぷら・けんちん汁の調理／接客／片付け／レジ</a:t>
            </a:r>
          </a:p>
        </p:txBody>
      </p:sp>
      <p:sp>
        <p:nvSpPr>
          <p:cNvPr id="96" name="Rectangle 95"/>
          <p:cNvSpPr/>
          <p:nvPr/>
        </p:nvSpPr>
        <p:spPr>
          <a:xfrm>
            <a:off x="4716475"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 name="Rectangle 96"/>
          <p:cNvSpPr/>
          <p:nvPr/>
        </p:nvSpPr>
        <p:spPr>
          <a:xfrm>
            <a:off x="6254496"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 name="TextBox 97"/>
          <p:cNvSpPr txBox="1"/>
          <p:nvPr/>
        </p:nvSpPr>
        <p:spPr>
          <a:xfrm>
            <a:off x="6382512" y="2871216"/>
            <a:ext cx="2395728" cy="219456"/>
          </a:xfrm>
          <a:prstGeom prst="rect">
            <a:avLst/>
          </a:prstGeom>
          <a:noFill/>
        </p:spPr>
        <p:txBody>
          <a:bodyPr wrap="square" lIns="0" tIns="0" rIns="0" bIns="0" anchor="t">
            <a:spAutoFit/>
          </a:bodyPr>
          <a:lstStyle/>
          <a:p>
            <a:pPr algn="l">
              <a:spcAft>
                <a:spcPts val="0"/>
              </a:spcAft>
            </a:pPr>
            <a:r>
              <a:rPr sz="1000" b="1">
                <a:solidFill>
                  <a:srgbClr val="0B3041"/>
                </a:solidFill>
                <a:latin typeface="游ゴシック"/>
                <a:ea typeface="游ゴシック"/>
                <a:cs typeface="游ゴシック"/>
              </a:rPr>
              <a:t>仕入・卸売・通販</a:t>
            </a:r>
          </a:p>
        </p:txBody>
      </p:sp>
      <p:sp>
        <p:nvSpPr>
          <p:cNvPr id="99" name="TextBox 98"/>
          <p:cNvSpPr txBox="1"/>
          <p:nvPr/>
        </p:nvSpPr>
        <p:spPr>
          <a:xfrm>
            <a:off x="6382512" y="3145536"/>
            <a:ext cx="2395728" cy="475488"/>
          </a:xfrm>
          <a:prstGeom prst="rect">
            <a:avLst/>
          </a:prstGeom>
          <a:noFill/>
        </p:spPr>
        <p:txBody>
          <a:bodyPr wrap="square" lIns="0" tIns="0" r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食材の仕入／卸売先への出荷／通信販売の受注・発送</a:t>
            </a:r>
          </a:p>
        </p:txBody>
      </p:sp>
      <p:sp>
        <p:nvSpPr>
          <p:cNvPr id="100" name="Rectangle 99"/>
          <p:cNvSpPr/>
          <p:nvPr/>
        </p:nvSpPr>
        <p:spPr>
          <a:xfrm>
            <a:off x="7569403"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 name="Rectangle 100"/>
          <p:cNvSpPr/>
          <p:nvPr/>
        </p:nvSpPr>
        <p:spPr>
          <a:xfrm>
            <a:off x="1874519" y="2468880"/>
            <a:ext cx="570585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2" name="Rectangle 101"/>
          <p:cNvSpPr/>
          <p:nvPr/>
        </p:nvSpPr>
        <p:spPr>
          <a:xfrm>
            <a:off x="1863547"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 name="Rectangle 102"/>
          <p:cNvSpPr/>
          <p:nvPr/>
        </p:nvSpPr>
        <p:spPr>
          <a:xfrm>
            <a:off x="4716475"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4" name="Rectangle 103"/>
          <p:cNvSpPr/>
          <p:nvPr/>
        </p:nvSpPr>
        <p:spPr>
          <a:xfrm>
            <a:off x="7569403"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 name="Rectangle 104"/>
          <p:cNvSpPr/>
          <p:nvPr/>
        </p:nvSpPr>
        <p:spPr>
          <a:xfrm>
            <a:off x="5338267" y="2340864"/>
            <a:ext cx="21945" cy="128016"/>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 name="Rectangle 105"/>
          <p:cNvSpPr/>
          <p:nvPr/>
        </p:nvSpPr>
        <p:spPr>
          <a:xfrm>
            <a:off x="1280160" y="4005072"/>
            <a:ext cx="3291840" cy="71323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7" name="TextBox 106"/>
          <p:cNvSpPr txBox="1"/>
          <p:nvPr/>
        </p:nvSpPr>
        <p:spPr>
          <a:xfrm>
            <a:off x="1408176" y="4096511"/>
            <a:ext cx="3035808"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小川 喜久子（取締役・配偶者）</a:t>
            </a:r>
          </a:p>
        </p:txBody>
      </p:sp>
      <p:sp>
        <p:nvSpPr>
          <p:cNvPr id="108" name="TextBox 107"/>
          <p:cNvSpPr txBox="1"/>
          <p:nvPr/>
        </p:nvSpPr>
        <p:spPr>
          <a:xfrm>
            <a:off x="1408176" y="4352544"/>
            <a:ext cx="3035808" cy="274320"/>
          </a:xfrm>
          <a:prstGeom prst="rect">
            <a:avLst/>
          </a:prstGeom>
          <a:noFill/>
        </p:spPr>
        <p:txBody>
          <a:bodyPr wrap="square" lIns="0" tIns="0" rIns="0" bIns="0" anchor="t">
            <a:spAutoFit/>
          </a:bodyPr>
          <a:lstStyle/>
          <a:p>
            <a:pPr algn="l">
              <a:spcAft>
                <a:spcPts val="0"/>
              </a:spcAft>
            </a:pPr>
            <a:r>
              <a:rPr sz="840" b="0">
                <a:solidFill>
                  <a:srgbClr val="5A6670"/>
                </a:solidFill>
                <a:latin typeface="游ゴシック"/>
                <a:ea typeface="游ゴシック"/>
                <a:cs typeface="游ゴシック"/>
              </a:rPr>
              <a:t>接客・経理／無報酬</a:t>
            </a:r>
          </a:p>
        </p:txBody>
      </p:sp>
      <p:sp>
        <p:nvSpPr>
          <p:cNvPr id="109" name="Rectangle 108"/>
          <p:cNvSpPr/>
          <p:nvPr/>
        </p:nvSpPr>
        <p:spPr>
          <a:xfrm>
            <a:off x="5577840" y="4005072"/>
            <a:ext cx="3291840" cy="71323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0" name="TextBox 109"/>
          <p:cNvSpPr txBox="1"/>
          <p:nvPr/>
        </p:nvSpPr>
        <p:spPr>
          <a:xfrm>
            <a:off x="5705855" y="4096511"/>
            <a:ext cx="3035808"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親族（繁忙時）</a:t>
            </a:r>
          </a:p>
        </p:txBody>
      </p:sp>
      <p:sp>
        <p:nvSpPr>
          <p:cNvPr id="111" name="TextBox 110"/>
          <p:cNvSpPr txBox="1"/>
          <p:nvPr/>
        </p:nvSpPr>
        <p:spPr>
          <a:xfrm>
            <a:off x="5705855" y="4352544"/>
            <a:ext cx="3035808" cy="274320"/>
          </a:xfrm>
          <a:prstGeom prst="rect">
            <a:avLst/>
          </a:prstGeom>
          <a:noFill/>
        </p:spPr>
        <p:txBody>
          <a:bodyPr wrap="square" lIns="0" tIns="0" rIns="0" bIns="0" anchor="t">
            <a:spAutoFit/>
          </a:bodyPr>
          <a:lstStyle/>
          <a:p>
            <a:pPr algn="l">
              <a:spcAft>
                <a:spcPts val="0"/>
              </a:spcAft>
            </a:pPr>
            <a:r>
              <a:rPr sz="840" b="0">
                <a:solidFill>
                  <a:srgbClr val="5A6670"/>
                </a:solidFill>
                <a:latin typeface="游ゴシック"/>
                <a:ea typeface="游ゴシック"/>
                <a:cs typeface="游ゴシック"/>
              </a:rPr>
              <a:t>雑給 2,201千円（支払先「小川実他1」）</a:t>
            </a:r>
          </a:p>
        </p:txBody>
      </p:sp>
      <p:sp>
        <p:nvSpPr>
          <p:cNvPr id="112" name="Rectangle 111"/>
          <p:cNvSpPr/>
          <p:nvPr/>
        </p:nvSpPr>
        <p:spPr>
          <a:xfrm>
            <a:off x="310896" y="4937760"/>
            <a:ext cx="992124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100" b="1">
                <a:solidFill>
                  <a:srgbClr val="FFFFFF"/>
                </a:solidFill>
                <a:latin typeface="游ゴシック"/>
                <a:ea typeface="游ゴシック"/>
                <a:cs typeface="游ゴシック"/>
              </a:rPr>
              <a:t>属人性の整理 ― 「事実」と「備え」</a:t>
            </a:r>
          </a:p>
        </p:txBody>
      </p:sp>
      <p:sp>
        <p:nvSpPr>
          <p:cNvPr id="113" name="Rectangle 112"/>
          <p:cNvSpPr/>
          <p:nvPr/>
        </p:nvSpPr>
        <p:spPr>
          <a:xfrm>
            <a:off x="310896" y="5294376"/>
            <a:ext cx="9921240" cy="120700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4" name="TextBox 113"/>
          <p:cNvSpPr txBox="1"/>
          <p:nvPr/>
        </p:nvSpPr>
        <p:spPr>
          <a:xfrm>
            <a:off x="457200" y="5404104"/>
            <a:ext cx="9628632" cy="1005840"/>
          </a:xfrm>
          <a:prstGeom prst="rect">
            <a:avLst/>
          </a:prstGeom>
          <a:noFill/>
        </p:spPr>
        <p:txBody>
          <a:bodyPr wrap="square" lIns="0" tIns="0" rIns="0" bIns="0" anchor="t">
            <a:spAutoFit/>
          </a:bodyPr>
          <a:lstStyle/>
          <a:p>
            <a:pPr algn="l">
              <a:lnSpc>
                <a:spcPct val="120000"/>
              </a:lnSpc>
              <a:spcAft>
                <a:spcPts val="200"/>
              </a:spcAft>
            </a:pPr>
            <a:r>
              <a:rPr sz="900" b="1">
                <a:solidFill>
                  <a:srgbClr val="0889C9"/>
                </a:solidFill>
                <a:latin typeface="游ゴシック"/>
                <a:ea typeface="游ゴシック"/>
                <a:cs typeface="游ゴシック"/>
              </a:rPr>
              <a:t>事実　</a:t>
            </a:r>
            <a:r>
              <a:rPr sz="900" b="0">
                <a:solidFill>
                  <a:srgbClr val="1A1A1A"/>
                </a:solidFill>
                <a:latin typeface="游ゴシック"/>
                <a:ea typeface="游ゴシック"/>
                <a:cs typeface="游ゴシック"/>
              </a:rPr>
              <a:t>掲載誌には「接客や調理、片付けまでの全てを小川氏一人でこなすため、席に着いてからも正直かなりの時間がかかる」と記載されている。昼のみ・売り切りじまい・週4日という営業形態も、この体制を前提としたものと考えられる。</a:t>
            </a:r>
          </a:p>
          <a:p>
            <a:pPr algn="l">
              <a:lnSpc>
                <a:spcPct val="120000"/>
              </a:lnSpc>
              <a:spcAft>
                <a:spcPts val="200"/>
              </a:spcAft>
            </a:pPr>
            <a:r>
              <a:rPr sz="900" b="1">
                <a:solidFill>
                  <a:srgbClr val="0889C9"/>
                </a:solidFill>
                <a:latin typeface="游ゴシック"/>
                <a:ea typeface="游ゴシック"/>
                <a:cs typeface="游ゴシック"/>
              </a:rPr>
              <a:t>備え　</a:t>
            </a:r>
            <a:r>
              <a:rPr sz="900" b="0">
                <a:solidFill>
                  <a:srgbClr val="1A1A1A"/>
                </a:solidFill>
                <a:latin typeface="游ゴシック"/>
                <a:ea typeface="游ゴシック"/>
                <a:cs typeface="游ゴシック"/>
              </a:rPr>
              <a:t>一方で、レシピや「かえし」については誰でも再現できるよう整理済とのことであり（面談ヒアリング）、過去には弟子へ別店舗（塩町館）の営業を承継した実績がある。「代表者がいなければ蕎麦を打てない」という状態ではないと伺っている。</a:t>
            </a:r>
          </a:p>
          <a:p>
            <a:pPr algn="l">
              <a:lnSpc>
                <a:spcPct val="120000"/>
              </a:lnSpc>
              <a:spcAft>
                <a:spcPts val="200"/>
              </a:spcAft>
            </a:pPr>
            <a:r>
              <a:rPr sz="900" b="1">
                <a:solidFill>
                  <a:srgbClr val="0889C9"/>
                </a:solidFill>
                <a:latin typeface="游ゴシック"/>
                <a:ea typeface="游ゴシック"/>
                <a:cs typeface="游ゴシック"/>
              </a:rPr>
              <a:t>次のステップ　</a:t>
            </a:r>
            <a:r>
              <a:rPr sz="900" b="0">
                <a:solidFill>
                  <a:srgbClr val="1A1A1A"/>
                </a:solidFill>
                <a:latin typeface="游ゴシック"/>
                <a:ea typeface="游ゴシック"/>
                <a:cs typeface="游ゴシック"/>
              </a:rPr>
              <a:t>標準化資料（レシピ・かえし・そば打ち手順）の実物確認、引継ぎに要する期間・人数の具体化、焼畑栽培・製粉工程を含めたどの範囲を承継するかの整理が必要。</a:t>
            </a:r>
          </a:p>
        </p:txBody>
      </p:sp>
      <p:sp>
        <p:nvSpPr>
          <p:cNvPr id="115" name="TextBox 114"/>
          <p:cNvSpPr txBox="1"/>
          <p:nvPr/>
        </p:nvSpPr>
        <p:spPr>
          <a:xfrm>
            <a:off x="310896" y="663854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常時雇用の従業員は0名のため「従業員」ページは作成していません。雑給の支払先「小川実他1」の勤務実態・雇用形態・社会保険の適用状況は要確認です。</a:t>
            </a:r>
          </a:p>
        </p:txBody>
      </p:sp>
      <p:sp>
        <p:nvSpPr>
          <p:cNvPr id="3" name="タイトル 1">
            <a:extLst>
              <a:ext uri="{FF2B5EF4-FFF2-40B4-BE49-F238E27FC236}">
                <a16:creationId xmlns:a16="http://schemas.microsoft.com/office/drawing/2014/main" id="{5517464B-A108-F81F-63CE-6F3708D3127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2728612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株主及び役員</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株主・役員ともに代表者夫妻が中心。役員報酬は3期を通じて計上がなく、代表者夫妻は無報酬</a:t>
            </a:r>
            <a:endParaRPr lang="en-US" altLang="ja-JP" dirty="0"/>
          </a:p>
        </p:txBody>
      </p:sp>
      <p:sp>
        <p:nvSpPr>
          <p:cNvPr id="14" name="Rectangle 13"/>
          <p:cNvSpPr/>
          <p:nvPr/>
        </p:nvSpPr>
        <p:spPr>
          <a:xfrm>
            <a:off x="310896" y="1517904"/>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株主</a:t>
            </a:r>
          </a:p>
        </p:txBody>
      </p:sp>
      <p:graphicFrame>
        <p:nvGraphicFramePr>
          <p:cNvPr id="15" name="Table 14"/>
          <p:cNvGraphicFramePr>
            <a:graphicFrameLocks noGrp="1"/>
          </p:cNvGraphicFramePr>
          <p:nvPr/>
        </p:nvGraphicFramePr>
        <p:xfrm>
          <a:off x="310896" y="1874519"/>
          <a:ext cx="10067544" cy="1133856"/>
        </p:xfrm>
        <a:graphic>
          <a:graphicData uri="http://schemas.openxmlformats.org/drawingml/2006/table">
            <a:tbl>
              <a:tblPr>
                <a:tableStyleId>{5940675A-B579-460E-94D1-54222C63F5DA}</a:tableStyleId>
              </a:tblPr>
              <a:tblGrid>
                <a:gridCol w="420624">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4434840">
                  <a:extLst>
                    <a:ext uri="{9D8B030D-6E8A-4147-A177-3AD203B41FA5}">
                      <a16:colId xmlns:a16="http://schemas.microsoft.com/office/drawing/2014/main" val="20005"/>
                    </a:ext>
                  </a:extLst>
                </a:gridCol>
              </a:tblGrid>
              <a:tr h="256032">
                <a:tc>
                  <a:txBody>
                    <a:bodyPr/>
                    <a:lstStyle/>
                    <a:p>
                      <a:pPr algn="ctr">
                        <a:spcAft>
                          <a:spcPts val="0"/>
                        </a:spcAft>
                      </a:pPr>
                      <a:r>
                        <a:rPr sz="86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氏名</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役職</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保有株式数</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保有割合</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備考</a:t>
                      </a:r>
                    </a:p>
                  </a:txBody>
                  <a:tcPr marL="45720" marR="45720" marT="9144" marB="9144" anchor="ctr">
                    <a:solidFill>
                      <a:srgbClr val="0B3041"/>
                    </a:solidFill>
                  </a:tcPr>
                </a:tc>
                <a:extLst>
                  <a:ext uri="{0D108BD9-81ED-4DB2-BD59-A6C34878D82A}">
                    <a16:rowId xmlns:a16="http://schemas.microsoft.com/office/drawing/2014/main" val="10000"/>
                  </a:ext>
                </a:extLst>
              </a:tr>
              <a:tr h="292608">
                <a:tc>
                  <a:txBody>
                    <a:bodyPr/>
                    <a:lstStyle/>
                    <a:p>
                      <a:pPr algn="ctr">
                        <a:spcAft>
                          <a:spcPts val="0"/>
                        </a:spcAft>
                      </a:pPr>
                      <a:r>
                        <a:rPr sz="86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小川　宣夫</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代表取締役</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130</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65.0%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引継ぎ完了後、退任予定</a:t>
                      </a:r>
                    </a:p>
                  </a:txBody>
                  <a:tcPr marL="45720" marR="45720" marT="9144" marB="9144" anchor="ctr">
                    <a:solidFill>
                      <a:srgbClr val="FFFFFF"/>
                    </a:solidFill>
                  </a:tcPr>
                </a:tc>
                <a:extLst>
                  <a:ext uri="{0D108BD9-81ED-4DB2-BD59-A6C34878D82A}">
                    <a16:rowId xmlns:a16="http://schemas.microsoft.com/office/drawing/2014/main" val="10001"/>
                  </a:ext>
                </a:extLst>
              </a:tr>
              <a:tr h="292608">
                <a:tc>
                  <a:txBody>
                    <a:bodyPr/>
                    <a:lstStyle/>
                    <a:p>
                      <a:pPr algn="ctr">
                        <a:spcAft>
                          <a:spcPts val="0"/>
                        </a:spcAft>
                      </a:pPr>
                      <a:r>
                        <a:rPr sz="86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小川　喜久子</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70</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35.0%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クロージング時 退任予定</a:t>
                      </a:r>
                    </a:p>
                  </a:txBody>
                  <a:tcPr marL="45720" marR="45720" marT="9144" marB="9144" anchor="ctr">
                    <a:solidFill>
                      <a:srgbClr val="FFFFFF"/>
                    </a:solidFill>
                  </a:tcPr>
                </a:tc>
                <a:extLst>
                  <a:ext uri="{0D108BD9-81ED-4DB2-BD59-A6C34878D82A}">
                    <a16:rowId xmlns:a16="http://schemas.microsoft.com/office/drawing/2014/main" val="10002"/>
                  </a:ext>
                </a:extLst>
              </a:tr>
              <a:tr h="292608">
                <a:tc>
                  <a:txBody>
                    <a:bodyPr/>
                    <a:lstStyle/>
                    <a:p>
                      <a:pPr algn="ctr">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860" b="1">
                          <a:solidFill>
                            <a:srgbClr val="1A1A1A"/>
                          </a:solidFill>
                          <a:latin typeface="游ゴシック"/>
                          <a:ea typeface="游ゴシック"/>
                          <a:cs typeface="游ゴシック"/>
                        </a:rPr>
                        <a:t>合計</a:t>
                      </a:r>
                    </a:p>
                  </a:txBody>
                  <a:tcPr marL="45720" marR="45720" marT="9144" marB="9144" anchor="ctr">
                    <a:solidFill>
                      <a:srgbClr val="FFFFFF"/>
                    </a:solidFill>
                  </a:tcPr>
                </a:tc>
                <a:tc>
                  <a:txBody>
                    <a:bodyPr/>
                    <a:lstStyle/>
                    <a:p>
                      <a:pPr algn="l">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200</a:t>
                      </a:r>
                    </a:p>
                  </a:txBody>
                  <a:tcPr marL="45720" marR="45720" marT="9144" marB="9144" anchor="ctr">
                    <a:solidFill>
                      <a:srgbClr val="FFFFFF"/>
                    </a:solidFill>
                  </a:tcPr>
                </a:tc>
                <a:tc>
                  <a:txBody>
                    <a:bodyPr/>
                    <a:lstStyle/>
                    <a:p>
                      <a:pPr algn="r">
                        <a:spcAft>
                          <a:spcPts val="0"/>
                        </a:spcAft>
                      </a:pPr>
                      <a:r>
                        <a:rPr sz="860" b="1">
                          <a:solidFill>
                            <a:srgbClr val="1A1A1A"/>
                          </a:solidFill>
                          <a:latin typeface="Arial"/>
                          <a:ea typeface="Arial"/>
                          <a:cs typeface="Arial"/>
                        </a:rPr>
                        <a:t>100.0%</a:t>
                      </a:r>
                    </a:p>
                  </a:txBody>
                  <a:tcPr marL="45720" marR="45720" marT="9144" marB="9144" anchor="ctr">
                    <a:solidFill>
                      <a:srgbClr val="FFFFFF"/>
                    </a:solidFill>
                  </a:tcPr>
                </a:tc>
                <a:tc>
                  <a:txBody>
                    <a:bodyPr/>
                    <a:lstStyle/>
                    <a:p>
                      <a:pPr algn="l">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3"/>
                  </a:ext>
                </a:extLst>
              </a:tr>
            </a:tbl>
          </a:graphicData>
        </a:graphic>
      </p:graphicFrame>
      <p:sp>
        <p:nvSpPr>
          <p:cNvPr id="16" name="Rectangle 15"/>
          <p:cNvSpPr/>
          <p:nvPr/>
        </p:nvSpPr>
        <p:spPr>
          <a:xfrm>
            <a:off x="310896" y="3383280"/>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役員</a:t>
            </a:r>
          </a:p>
        </p:txBody>
      </p:sp>
      <p:graphicFrame>
        <p:nvGraphicFramePr>
          <p:cNvPr id="17" name="Table 16"/>
          <p:cNvGraphicFramePr>
            <a:graphicFrameLocks noGrp="1"/>
          </p:cNvGraphicFramePr>
          <p:nvPr/>
        </p:nvGraphicFramePr>
        <p:xfrm>
          <a:off x="310896" y="3739896"/>
          <a:ext cx="10067544" cy="1591056"/>
        </p:xfrm>
        <a:graphic>
          <a:graphicData uri="http://schemas.openxmlformats.org/drawingml/2006/table">
            <a:tbl>
              <a:tblPr>
                <a:tableStyleId>{5940675A-B579-460E-94D1-54222C63F5DA}</a:tableStyleId>
              </a:tblPr>
              <a:tblGrid>
                <a:gridCol w="420624">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gridCol w="2331720">
                  <a:extLst>
                    <a:ext uri="{9D8B030D-6E8A-4147-A177-3AD203B41FA5}">
                      <a16:colId xmlns:a16="http://schemas.microsoft.com/office/drawing/2014/main" val="20006"/>
                    </a:ext>
                  </a:extLst>
                </a:gridCol>
              </a:tblGrid>
              <a:tr h="347472">
                <a:tc>
                  <a:txBody>
                    <a:bodyPr/>
                    <a:lstStyle/>
                    <a:p>
                      <a:pPr algn="ctr">
                        <a:spcAft>
                          <a:spcPts val="0"/>
                        </a:spcAft>
                      </a:pPr>
                      <a:r>
                        <a:rPr sz="86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氏名</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役職</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代表者との関係</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役員報酬</a:t>
                      </a:r>
                    </a:p>
                    <a:p>
                      <a:pPr algn="ctr">
                        <a:spcAft>
                          <a:spcPts val="0"/>
                        </a:spcAft>
                      </a:pPr>
                      <a:r>
                        <a:rPr sz="86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業務範囲</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備考</a:t>
                      </a:r>
                    </a:p>
                  </a:txBody>
                  <a:tcPr marL="45720" marR="45720" marT="9144" marB="9144" anchor="ctr">
                    <a:solidFill>
                      <a:srgbClr val="0B3041"/>
                    </a:solidFill>
                  </a:tcPr>
                </a:tc>
                <a:extLst>
                  <a:ext uri="{0D108BD9-81ED-4DB2-BD59-A6C34878D82A}">
                    <a16:rowId xmlns:a16="http://schemas.microsoft.com/office/drawing/2014/main" val="10000"/>
                  </a:ext>
                </a:extLst>
              </a:tr>
              <a:tr h="310896">
                <a:tc>
                  <a:txBody>
                    <a:bodyPr/>
                    <a:lstStyle/>
                    <a:p>
                      <a:pPr algn="ctr">
                        <a:spcAft>
                          <a:spcPts val="0"/>
                        </a:spcAft>
                      </a:pPr>
                      <a:r>
                        <a:rPr sz="86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小川　宣夫</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代表取締役</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本人</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そば打ち・製粉・仕入・接客を含む店舗運営全般</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引継ぎ完了後、退任予定</a:t>
                      </a:r>
                    </a:p>
                  </a:txBody>
                  <a:tcPr marL="45720" marR="45720" marT="9144" marB="9144" anchor="ctr">
                    <a:solidFill>
                      <a:srgbClr val="FFFFFF"/>
                    </a:solidFill>
                  </a:tcPr>
                </a:tc>
                <a:extLst>
                  <a:ext uri="{0D108BD9-81ED-4DB2-BD59-A6C34878D82A}">
                    <a16:rowId xmlns:a16="http://schemas.microsoft.com/office/drawing/2014/main" val="10001"/>
                  </a:ext>
                </a:extLst>
              </a:tr>
              <a:tr h="310896">
                <a:tc>
                  <a:txBody>
                    <a:bodyPr/>
                    <a:lstStyle/>
                    <a:p>
                      <a:pPr algn="ctr">
                        <a:spcAft>
                          <a:spcPts val="0"/>
                        </a:spcAft>
                      </a:pPr>
                      <a:r>
                        <a:rPr sz="86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小川　喜久子</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配偶者</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接客・経理</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クロージング時 退任予定</a:t>
                      </a:r>
                    </a:p>
                  </a:txBody>
                  <a:tcPr marL="45720" marR="45720" marT="9144" marB="9144" anchor="ctr">
                    <a:solidFill>
                      <a:srgbClr val="FFFFFF"/>
                    </a:solidFill>
                  </a:tcPr>
                </a:tc>
                <a:extLst>
                  <a:ext uri="{0D108BD9-81ED-4DB2-BD59-A6C34878D82A}">
                    <a16:rowId xmlns:a16="http://schemas.microsoft.com/office/drawing/2014/main" val="10002"/>
                  </a:ext>
                </a:extLst>
              </a:tr>
              <a:tr h="310896">
                <a:tc>
                  <a:txBody>
                    <a:bodyPr/>
                    <a:lstStyle/>
                    <a:p>
                      <a:pPr algn="ctr">
                        <a:spcAft>
                          <a:spcPts val="0"/>
                        </a:spcAft>
                      </a:pPr>
                      <a:r>
                        <a:rPr sz="86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岩間　卓哉</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元従業員（弟子）</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勤務実態なし（要確認）</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塩町館の営業を承継された方。本件後の取扱いは要協議</a:t>
                      </a:r>
                    </a:p>
                  </a:txBody>
                  <a:tcPr marL="45720" marR="45720" marT="9144" marB="9144" anchor="ctr">
                    <a:solidFill>
                      <a:srgbClr val="FFFFFF"/>
                    </a:solidFill>
                  </a:tcPr>
                </a:tc>
                <a:extLst>
                  <a:ext uri="{0D108BD9-81ED-4DB2-BD59-A6C34878D82A}">
                    <a16:rowId xmlns:a16="http://schemas.microsoft.com/office/drawing/2014/main" val="10003"/>
                  </a:ext>
                </a:extLst>
              </a:tr>
              <a:tr h="310896">
                <a:tc>
                  <a:txBody>
                    <a:bodyPr/>
                    <a:lstStyle/>
                    <a:p>
                      <a:pPr algn="ctr">
                        <a:spcAft>
                          <a:spcPts val="0"/>
                        </a:spcAft>
                      </a:pPr>
                      <a:r>
                        <a:rPr sz="860"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小川　実</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監査役</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親族（要確認）</a:t>
                      </a:r>
                    </a:p>
                  </a:txBody>
                  <a:tcPr marL="45720" marR="45720" marT="9144" marB="9144" anchor="ctr">
                    <a:solidFill>
                      <a:srgbClr val="FFFFFF"/>
                    </a:solidFill>
                  </a:tcPr>
                </a:tc>
                <a:tc>
                  <a:txBody>
                    <a:bodyPr/>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会計監査限定（登記簿）</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会計監査に限定（登記簿）</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310896" y="557784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株主構成は法人税申告書 別表二（2026年5月期）、役員構成は法人登記簿（2026年9月15日現在）に基づく。発行済株式総数200株、株券発行会社。</a:t>
            </a:r>
          </a:p>
          <a:p>
            <a:pPr algn="l">
              <a:lnSpc>
                <a:spcPct val="112000"/>
              </a:lnSpc>
              <a:spcAft>
                <a:spcPts val="100"/>
              </a:spcAft>
            </a:pPr>
            <a:r>
              <a:rPr sz="750" b="0">
                <a:solidFill>
                  <a:srgbClr val="5A6670"/>
                </a:solidFill>
                <a:latin typeface="游ゴシック"/>
                <a:ea typeface="游ゴシック"/>
                <a:cs typeface="游ゴシック"/>
              </a:rPr>
              <a:t>※ 株式の譲渡には取締役会の承認を要する（登記簿）。名義株の有無は要確認。役員報酬は2024/5期〜2026/5期の3期を通じて計上がない。</a:t>
            </a:r>
          </a:p>
        </p:txBody>
      </p:sp>
      <p:sp>
        <p:nvSpPr>
          <p:cNvPr id="3" name="タイトル 1">
            <a:extLst>
              <a:ext uri="{FF2B5EF4-FFF2-40B4-BE49-F238E27FC236}">
                <a16:creationId xmlns:a16="http://schemas.microsoft.com/office/drawing/2014/main" id="{6E43C907-4EBB-B1D2-C9C3-230F1EEDAED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1111365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拠点概要（本店）</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代表者が自ら設計し私財を投じて2002年に建築した板倉造・茅葺きの自社店舗。「100〜200年もつ建物」を企図</a:t>
            </a:r>
            <a:endParaRPr lang="en-US" altLang="ja-JP" dirty="0"/>
          </a:p>
        </p:txBody>
      </p:sp>
      <p:sp>
        <p:nvSpPr>
          <p:cNvPr id="14" name="Rectangle 13"/>
          <p:cNvSpPr/>
          <p:nvPr/>
        </p:nvSpPr>
        <p:spPr>
          <a:xfrm>
            <a:off x="310896" y="1517904"/>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本店</a:t>
            </a:r>
          </a:p>
        </p:txBody>
      </p:sp>
      <p:graphicFrame>
        <p:nvGraphicFramePr>
          <p:cNvPr id="15" name="Table 14"/>
          <p:cNvGraphicFramePr>
            <a:graphicFrameLocks noGrp="1"/>
          </p:cNvGraphicFramePr>
          <p:nvPr/>
        </p:nvGraphicFramePr>
        <p:xfrm>
          <a:off x="310896" y="1874519"/>
          <a:ext cx="4846320" cy="4210812"/>
        </p:xfrm>
        <a:graphic>
          <a:graphicData uri="http://schemas.openxmlformats.org/drawingml/2006/table">
            <a:tbl>
              <a:tblPr>
                <a:tableStyleId>{5940675A-B579-460E-94D1-54222C63F5DA}</a:tableStyleId>
              </a:tblPr>
              <a:tblGrid>
                <a:gridCol w="987552">
                  <a:extLst>
                    <a:ext uri="{9D8B030D-6E8A-4147-A177-3AD203B41FA5}">
                      <a16:colId xmlns:a16="http://schemas.microsoft.com/office/drawing/2014/main" val="20000"/>
                    </a:ext>
                  </a:extLst>
                </a:gridCol>
                <a:gridCol w="3858768">
                  <a:extLst>
                    <a:ext uri="{9D8B030D-6E8A-4147-A177-3AD203B41FA5}">
                      <a16:colId xmlns:a16="http://schemas.microsoft.com/office/drawing/2014/main" val="20001"/>
                    </a:ext>
                  </a:extLst>
                </a:gridCol>
              </a:tblGrid>
              <a:tr h="237744">
                <a:tc>
                  <a:txBody>
                    <a:bodyPr/>
                    <a:lstStyle/>
                    <a:p>
                      <a:pPr algn="ctr">
                        <a:spcAft>
                          <a:spcPts val="0"/>
                        </a:spcAft>
                      </a:pPr>
                      <a:r>
                        <a:rPr sz="840" b="1">
                          <a:solidFill>
                            <a:srgbClr val="FFFFFF"/>
                          </a:solidFill>
                          <a:latin typeface="游ゴシック"/>
                          <a:ea typeface="游ゴシック"/>
                          <a:cs typeface="游ゴシック"/>
                        </a:rPr>
                        <a:t>項目</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361188">
                <a:tc>
                  <a:txBody>
                    <a:bodyPr/>
                    <a:lstStyle/>
                    <a:p>
                      <a:pPr algn="l">
                        <a:spcAft>
                          <a:spcPts val="0"/>
                        </a:spcAft>
                      </a:pPr>
                      <a:r>
                        <a:rPr sz="840" b="0">
                          <a:solidFill>
                            <a:srgbClr val="1A1A1A"/>
                          </a:solidFill>
                          <a:latin typeface="游ゴシック"/>
                          <a:ea typeface="游ゴシック"/>
                          <a:cs typeface="游ゴシック"/>
                        </a:rPr>
                        <a:t>所在地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茨城県常陸太田市天下野町2162番地（竜神大吊橋の近隣）</a:t>
                      </a:r>
                    </a:p>
                  </a:txBody>
                  <a:tcPr marL="45720" marR="45720" marT="9144" marB="9144" anchor="ctr">
                    <a:solidFill>
                      <a:srgbClr val="FFFFFF"/>
                    </a:solidFill>
                  </a:tcPr>
                </a:tc>
                <a:extLst>
                  <a:ext uri="{0D108BD9-81ED-4DB2-BD59-A6C34878D82A}">
                    <a16:rowId xmlns:a16="http://schemas.microsoft.com/office/drawing/2014/main" val="10001"/>
                  </a:ext>
                </a:extLst>
              </a:tr>
              <a:tr h="361188">
                <a:tc>
                  <a:txBody>
                    <a:bodyPr/>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木造モルタル造（板倉造・茅葺き屋根）　1階：店舗／2階：代表者住居</a:t>
                      </a:r>
                    </a:p>
                  </a:txBody>
                  <a:tcPr marL="45720" marR="45720" marT="9144" marB="9144" anchor="ctr">
                    <a:solidFill>
                      <a:srgbClr val="FFFFFF"/>
                    </a:solidFill>
                  </a:tcPr>
                </a:tc>
                <a:extLst>
                  <a:ext uri="{0D108BD9-81ED-4DB2-BD59-A6C34878D82A}">
                    <a16:rowId xmlns:a16="http://schemas.microsoft.com/office/drawing/2014/main" val="10002"/>
                  </a:ext>
                </a:extLst>
              </a:tr>
              <a:tr h="361188">
                <a:tc>
                  <a:txBody>
                    <a:bodyPr/>
                    <a:lstStyle/>
                    <a:p>
                      <a:pPr algn="l">
                        <a:spcAft>
                          <a:spcPts val="0"/>
                        </a:spcAft>
                      </a:pPr>
                      <a:r>
                        <a:rPr sz="840" b="0">
                          <a:solidFill>
                            <a:srgbClr val="1A1A1A"/>
                          </a:solidFill>
                          <a:latin typeface="游ゴシック"/>
                          <a:ea typeface="游ゴシック"/>
                          <a:cs typeface="游ゴシック"/>
                        </a:rPr>
                        <a:t>設計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この地方に伝わる曲がり家と欧州の田舎家を合わせた意匠。代表者が自ら設計</a:t>
                      </a:r>
                    </a:p>
                  </a:txBody>
                  <a:tcPr marL="45720" marR="45720" marT="9144" marB="9144" anchor="ctr">
                    <a:solidFill>
                      <a:srgbClr val="FFFFFF"/>
                    </a:solidFill>
                  </a:tcPr>
                </a:tc>
                <a:extLst>
                  <a:ext uri="{0D108BD9-81ED-4DB2-BD59-A6C34878D82A}">
                    <a16:rowId xmlns:a16="http://schemas.microsoft.com/office/drawing/2014/main" val="10003"/>
                  </a:ext>
                </a:extLst>
              </a:tr>
              <a:tr h="361188">
                <a:tc>
                  <a:txBody>
                    <a:bodyPr/>
                    <a:lstStyle/>
                    <a:p>
                      <a:pPr algn="l">
                        <a:spcAft>
                          <a:spcPts val="0"/>
                        </a:spcAft>
                      </a:pPr>
                      <a:r>
                        <a:rPr sz="840" b="0">
                          <a:solidFill>
                            <a:srgbClr val="1A1A1A"/>
                          </a:solidFill>
                          <a:latin typeface="游ゴシック"/>
                          <a:ea typeface="游ゴシック"/>
                          <a:cs typeface="游ゴシック"/>
                        </a:rPr>
                        <a:t>取得時期</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2002年2月（建物本体）</a:t>
                      </a:r>
                    </a:p>
                  </a:txBody>
                  <a:tcPr marL="45720" marR="45720" marT="9144" marB="9144" anchor="ctr">
                    <a:solidFill>
                      <a:srgbClr val="FFFFFF"/>
                    </a:solidFill>
                  </a:tcPr>
                </a:tc>
                <a:extLst>
                  <a:ext uri="{0D108BD9-81ED-4DB2-BD59-A6C34878D82A}">
                    <a16:rowId xmlns:a16="http://schemas.microsoft.com/office/drawing/2014/main" val="10004"/>
                  </a:ext>
                </a:extLst>
              </a:tr>
              <a:tr h="361188">
                <a:tc>
                  <a:txBody>
                    <a:bodyPr/>
                    <a:lstStyle/>
                    <a:p>
                      <a:pPr algn="l">
                        <a:spcAft>
                          <a:spcPts val="0"/>
                        </a:spcAft>
                      </a:pPr>
                      <a:r>
                        <a:rPr sz="840" b="0">
                          <a:solidFill>
                            <a:srgbClr val="1A1A1A"/>
                          </a:solidFill>
                          <a:latin typeface="游ゴシック"/>
                          <a:ea typeface="游ゴシック"/>
                          <a:cs typeface="游ゴシック"/>
                        </a:rPr>
                        <a:t>取得価額</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建物 85,704千円、建物附属設備 32,646千円、構築物 1,584千円 ほか 計104,599千円</a:t>
                      </a:r>
                    </a:p>
                  </a:txBody>
                  <a:tcPr marL="45720" marR="45720" marT="9144" marB="9144" anchor="ctr">
                    <a:solidFill>
                      <a:srgbClr val="FFFFFF"/>
                    </a:solidFill>
                  </a:tcPr>
                </a:tc>
                <a:extLst>
                  <a:ext uri="{0D108BD9-81ED-4DB2-BD59-A6C34878D82A}">
                    <a16:rowId xmlns:a16="http://schemas.microsoft.com/office/drawing/2014/main" val="10005"/>
                  </a:ext>
                </a:extLst>
              </a:tr>
              <a:tr h="361188">
                <a:tc>
                  <a:txBody>
                    <a:bodyPr/>
                    <a:lstStyle/>
                    <a:p>
                      <a:pPr algn="l">
                        <a:spcAft>
                          <a:spcPts val="0"/>
                        </a:spcAft>
                      </a:pPr>
                      <a:r>
                        <a:rPr sz="840" b="0">
                          <a:solidFill>
                            <a:srgbClr val="1A1A1A"/>
                          </a:solidFill>
                          <a:latin typeface="游ゴシック"/>
                          <a:ea typeface="游ゴシック"/>
                          <a:cs typeface="游ゴシック"/>
                        </a:rPr>
                        <a:t>期末簿価</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建物 39,249千円、構築物 43千円（2026年5月期）</a:t>
                      </a:r>
                    </a:p>
                  </a:txBody>
                  <a:tcPr marL="45720" marR="45720" marT="9144" marB="9144" anchor="ctr">
                    <a:solidFill>
                      <a:srgbClr val="FFFFFF"/>
                    </a:solidFill>
                  </a:tcPr>
                </a:tc>
                <a:extLst>
                  <a:ext uri="{0D108BD9-81ED-4DB2-BD59-A6C34878D82A}">
                    <a16:rowId xmlns:a16="http://schemas.microsoft.com/office/drawing/2014/main" val="10006"/>
                  </a:ext>
                </a:extLst>
              </a:tr>
              <a:tr h="361188">
                <a:tc>
                  <a:txBody>
                    <a:bodyPr/>
                    <a:lstStyle/>
                    <a:p>
                      <a:pPr algn="l">
                        <a:spcAft>
                          <a:spcPts val="0"/>
                        </a:spcAft>
                      </a:pPr>
                      <a:r>
                        <a:rPr sz="840" b="0">
                          <a:solidFill>
                            <a:srgbClr val="1A1A1A"/>
                          </a:solidFill>
                          <a:latin typeface="游ゴシック"/>
                          <a:ea typeface="游ゴシック"/>
                          <a:cs typeface="游ゴシック"/>
                        </a:rPr>
                        <a:t>土地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自己所有（簿価3,450千円）。店舗敷地および駐車場</a:t>
                      </a:r>
                    </a:p>
                  </a:txBody>
                  <a:tcPr marL="45720" marR="45720" marT="9144" marB="9144" anchor="ctr">
                    <a:solidFill>
                      <a:srgbClr val="FFFFFF"/>
                    </a:solidFill>
                  </a:tcPr>
                </a:tc>
                <a:extLst>
                  <a:ext uri="{0D108BD9-81ED-4DB2-BD59-A6C34878D82A}">
                    <a16:rowId xmlns:a16="http://schemas.microsoft.com/office/drawing/2014/main" val="10007"/>
                  </a:ext>
                </a:extLst>
              </a:tr>
              <a:tr h="361188">
                <a:tc>
                  <a:txBody>
                    <a:bodyPr/>
                    <a:lstStyle/>
                    <a:p>
                      <a:pPr algn="l">
                        <a:spcAft>
                          <a:spcPts val="0"/>
                        </a:spcAft>
                      </a:pPr>
                      <a:r>
                        <a:rPr sz="840" b="0">
                          <a:solidFill>
                            <a:srgbClr val="1A1A1A"/>
                          </a:solidFill>
                          <a:latin typeface="游ゴシック"/>
                          <a:ea typeface="游ゴシック"/>
                          <a:cs typeface="游ゴシック"/>
                        </a:rPr>
                        <a:t>客席</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土間の待合、板の間、畳敷の座敷（座卓6卓程度）、囲炉裏、縁側デッキ。薪ストーブ2台</a:t>
                      </a:r>
                    </a:p>
                  </a:txBody>
                  <a:tcPr marL="45720" marR="45720" marT="9144" marB="9144" anchor="ctr">
                    <a:solidFill>
                      <a:srgbClr val="FFFFFF"/>
                    </a:solidFill>
                  </a:tcPr>
                </a:tc>
                <a:extLst>
                  <a:ext uri="{0D108BD9-81ED-4DB2-BD59-A6C34878D82A}">
                    <a16:rowId xmlns:a16="http://schemas.microsoft.com/office/drawing/2014/main" val="10008"/>
                  </a:ext>
                </a:extLst>
              </a:tr>
              <a:tr h="361188">
                <a:tc>
                  <a:txBody>
                    <a:bodyPr/>
                    <a:lstStyle/>
                    <a:p>
                      <a:pPr algn="l">
                        <a:spcAft>
                          <a:spcPts val="0"/>
                        </a:spcAft>
                      </a:pPr>
                      <a:r>
                        <a:rPr sz="840" b="0">
                          <a:solidFill>
                            <a:srgbClr val="1A1A1A"/>
                          </a:solidFill>
                          <a:latin typeface="游ゴシック"/>
                          <a:ea typeface="游ゴシック"/>
                          <a:cs typeface="游ゴシック"/>
                        </a:rPr>
                        <a:t>営業</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金・土・日・月　11:30〜14:30（売り切りじまい）　平均予算 約3,000円</a:t>
                      </a:r>
                    </a:p>
                  </a:txBody>
                  <a:tcPr marL="45720" marR="45720" marT="9144" marB="9144" anchor="ctr">
                    <a:solidFill>
                      <a:srgbClr val="FFFFFF"/>
                    </a:solidFill>
                  </a:tcPr>
                </a:tc>
                <a:extLst>
                  <a:ext uri="{0D108BD9-81ED-4DB2-BD59-A6C34878D82A}">
                    <a16:rowId xmlns:a16="http://schemas.microsoft.com/office/drawing/2014/main" val="10009"/>
                  </a:ext>
                </a:extLst>
              </a:tr>
              <a:tr h="361188">
                <a:tc>
                  <a:txBody>
                    <a:bodyPr/>
                    <a:lstStyle/>
                    <a:p>
                      <a:pPr algn="l">
                        <a:spcAft>
                          <a:spcPts val="0"/>
                        </a:spcAft>
                      </a:pPr>
                      <a:r>
                        <a:rPr sz="840" b="0">
                          <a:solidFill>
                            <a:srgbClr val="1A1A1A"/>
                          </a:solidFill>
                          <a:latin typeface="游ゴシック"/>
                          <a:ea typeface="游ゴシック"/>
                          <a:cs typeface="游ゴシック"/>
                        </a:rPr>
                        <a:t>登記</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建物は未登記。表題登記・保存登記の実施可否・費用・所要期間は要確認</a:t>
                      </a:r>
                    </a:p>
                  </a:txBody>
                  <a:tcPr marL="45720" marR="45720" marT="9144" marB="9144" anchor="ctr">
                    <a:solidFill>
                      <a:srgbClr val="FFFFFF"/>
                    </a:solidFill>
                  </a:tcPr>
                </a:tc>
                <a:extLst>
                  <a:ext uri="{0D108BD9-81ED-4DB2-BD59-A6C34878D82A}">
                    <a16:rowId xmlns:a16="http://schemas.microsoft.com/office/drawing/2014/main" val="10010"/>
                  </a:ext>
                </a:extLst>
              </a:tr>
              <a:tr h="361188">
                <a:tc>
                  <a:txBody>
                    <a:bodyPr/>
                    <a:lstStyle/>
                    <a:p>
                      <a:pPr algn="l">
                        <a:spcAft>
                          <a:spcPts val="0"/>
                        </a:spcAft>
                      </a:pPr>
                      <a:r>
                        <a:rPr sz="840" b="0">
                          <a:solidFill>
                            <a:srgbClr val="1A1A1A"/>
                          </a:solidFill>
                          <a:latin typeface="游ゴシック"/>
                          <a:ea typeface="游ゴシック"/>
                          <a:cs typeface="游ゴシック"/>
                        </a:rPr>
                        <a:t>居住</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代表者・配偶者が店舗2階に居住中。明渡しの時期・条件は協議事項</a:t>
                      </a:r>
                    </a:p>
                  </a:txBody>
                  <a:tcPr marL="45720" marR="45720" marT="9144" marB="9144" anchor="ctr">
                    <a:solidFill>
                      <a:srgbClr val="FFFFFF"/>
                    </a:solidFill>
                  </a:tcPr>
                </a:tc>
                <a:extLst>
                  <a:ext uri="{0D108BD9-81ED-4DB2-BD59-A6C34878D82A}">
                    <a16:rowId xmlns:a16="http://schemas.microsoft.com/office/drawing/2014/main" val="10011"/>
                  </a:ext>
                </a:extLst>
              </a:tr>
            </a:tbl>
          </a:graphicData>
        </a:graphic>
      </p:graphicFrame>
      <p:sp>
        <p:nvSpPr>
          <p:cNvPr id="16" name="Rectangle 15"/>
          <p:cNvSpPr/>
          <p:nvPr/>
        </p:nvSpPr>
        <p:spPr>
          <a:xfrm>
            <a:off x="5376672" y="1517904"/>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買手にとっての意味合い</a:t>
            </a:r>
          </a:p>
        </p:txBody>
      </p:sp>
      <p:sp>
        <p:nvSpPr>
          <p:cNvPr id="17" name="Rectangle 16"/>
          <p:cNvSpPr/>
          <p:nvPr/>
        </p:nvSpPr>
        <p:spPr>
          <a:xfrm>
            <a:off x="5376672" y="1874519"/>
            <a:ext cx="5001768" cy="2103120"/>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5504688" y="1984248"/>
            <a:ext cx="4745736" cy="1901952"/>
          </a:xfrm>
          <a:prstGeom prst="rect">
            <a:avLst/>
          </a:prstGeom>
          <a:noFill/>
        </p:spPr>
        <p:txBody>
          <a:bodyPr wrap="square" lIns="0" tIns="0" rIns="0" bIns="0" anchor="t">
            <a:spAutoFit/>
          </a:bodyPr>
          <a:lstStyle/>
          <a:p>
            <a:pPr algn="l">
              <a:lnSpc>
                <a:spcPct val="118000"/>
              </a:lnSpc>
              <a:spcAft>
                <a:spcPts val="200"/>
              </a:spcAft>
            </a:pPr>
            <a:r>
              <a:rPr sz="860" b="1">
                <a:solidFill>
                  <a:srgbClr val="0889C9"/>
                </a:solidFill>
                <a:latin typeface="游ゴシック"/>
                <a:ea typeface="游ゴシック"/>
                <a:cs typeface="游ゴシック"/>
              </a:rPr>
              <a:t>店舗そのものがブランドの一部　</a:t>
            </a:r>
            <a:r>
              <a:rPr sz="860" b="0">
                <a:solidFill>
                  <a:srgbClr val="1A1A1A"/>
                </a:solidFill>
                <a:latin typeface="游ゴシック"/>
                <a:ea typeface="游ゴシック"/>
                <a:cs typeface="游ゴシック"/>
              </a:rPr>
              <a:t>茅葺き・板倉造の建物と里山の景観は「慈久庵」の体験価値を構成する要素であり、同等の店舗を新規に建築することは事実上困難。</a:t>
            </a:r>
          </a:p>
          <a:p>
            <a:pPr algn="l">
              <a:lnSpc>
                <a:spcPct val="118000"/>
              </a:lnSpc>
              <a:spcAft>
                <a:spcPts val="200"/>
              </a:spcAft>
            </a:pPr>
            <a:r>
              <a:rPr sz="860" b="1">
                <a:solidFill>
                  <a:srgbClr val="0889C9"/>
                </a:solidFill>
                <a:latin typeface="游ゴシック"/>
                <a:ea typeface="游ゴシック"/>
                <a:cs typeface="游ゴシック"/>
              </a:rPr>
              <a:t>賃料負担がない　</a:t>
            </a:r>
            <a:r>
              <a:rPr sz="860" b="0">
                <a:solidFill>
                  <a:srgbClr val="1A1A1A"/>
                </a:solidFill>
                <a:latin typeface="游ゴシック"/>
                <a:ea typeface="游ゴシック"/>
                <a:cs typeface="游ゴシック"/>
              </a:rPr>
              <a:t>土地・建物とも自己所有で地代家賃の計上はない。固定費は水道光熱費1,490千円・租税公課1,137千円等が中心。</a:t>
            </a:r>
          </a:p>
          <a:p>
            <a:pPr algn="l">
              <a:lnSpc>
                <a:spcPct val="118000"/>
              </a:lnSpc>
              <a:spcAft>
                <a:spcPts val="200"/>
              </a:spcAft>
            </a:pPr>
            <a:r>
              <a:rPr sz="860" b="1">
                <a:solidFill>
                  <a:srgbClr val="0889C9"/>
                </a:solidFill>
                <a:latin typeface="游ゴシック"/>
                <a:ea typeface="游ゴシック"/>
                <a:cs typeface="游ゴシック"/>
              </a:rPr>
              <a:t>観光動線上の立地　</a:t>
            </a:r>
            <a:r>
              <a:rPr sz="860" b="0">
                <a:solidFill>
                  <a:srgbClr val="1A1A1A"/>
                </a:solidFill>
                <a:latin typeface="游ゴシック"/>
                <a:ea typeface="游ゴシック"/>
                <a:cs typeface="游ゴシック"/>
              </a:rPr>
              <a:t>竜神大吊橋の近隣に位置し、鉄道駅から離れた中山間地でありながら観光客の動線上にある。コロナ後の再開時にはキャンプ需要等により来店客が増加した実績があり（面談ヒアリング）、営業日・製造食数を拡大する際の集客の下地となる（P.19）。</a:t>
            </a:r>
          </a:p>
          <a:p>
            <a:pPr algn="l">
              <a:lnSpc>
                <a:spcPct val="118000"/>
              </a:lnSpc>
              <a:spcAft>
                <a:spcPts val="200"/>
              </a:spcAft>
            </a:pPr>
            <a:r>
              <a:rPr sz="860" b="1">
                <a:solidFill>
                  <a:srgbClr val="0889C9"/>
                </a:solidFill>
                <a:latin typeface="游ゴシック"/>
                <a:ea typeface="游ゴシック"/>
                <a:cs typeface="游ゴシック"/>
              </a:rPr>
              <a:t>一方で　</a:t>
            </a:r>
            <a:r>
              <a:rPr sz="860" b="0">
                <a:solidFill>
                  <a:srgbClr val="1A1A1A"/>
                </a:solidFill>
                <a:latin typeface="游ゴシック"/>
                <a:ea typeface="游ゴシック"/>
                <a:cs typeface="游ゴシック"/>
              </a:rPr>
              <a:t>建物が未登記であること、代表者夫妻が2階に居住していることは、本件実行前に整理が必要な事項。</a:t>
            </a:r>
          </a:p>
        </p:txBody>
      </p:sp>
      <p:sp>
        <p:nvSpPr>
          <p:cNvPr id="19" name="Rectangle 18"/>
          <p:cNvSpPr/>
          <p:nvPr/>
        </p:nvSpPr>
        <p:spPr>
          <a:xfrm>
            <a:off x="5376672" y="4133087"/>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減価償却資産の構成（2026/5期）</a:t>
            </a:r>
          </a:p>
        </p:txBody>
      </p:sp>
      <p:graphicFrame>
        <p:nvGraphicFramePr>
          <p:cNvPr id="20" name="Table 19"/>
          <p:cNvGraphicFramePr>
            <a:graphicFrameLocks noGrp="1"/>
          </p:cNvGraphicFramePr>
          <p:nvPr/>
        </p:nvGraphicFramePr>
        <p:xfrm>
          <a:off x="5376672" y="4489704"/>
          <a:ext cx="5001768" cy="2022651"/>
        </p:xfrm>
        <a:graphic>
          <a:graphicData uri="http://schemas.openxmlformats.org/drawingml/2006/table">
            <a:tbl>
              <a:tblPr>
                <a:tableStyleId>{5940675A-B579-460E-94D1-54222C63F5DA}</a:tableStyleId>
              </a:tblPr>
              <a:tblGrid>
                <a:gridCol w="2441448">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28600">
                <a:tc>
                  <a:txBody>
                    <a:bodyPr/>
                    <a:lstStyle/>
                    <a:p>
                      <a:pPr algn="ctr">
                        <a:spcAft>
                          <a:spcPts val="0"/>
                        </a:spcAft>
                      </a:pPr>
                      <a:r>
                        <a:rPr sz="84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取得価額</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期末簿価</a:t>
                      </a:r>
                    </a:p>
                  </a:txBody>
                  <a:tcPr marL="45720" marR="45720" marT="9144" marB="9144" anchor="ctr">
                    <a:solidFill>
                      <a:srgbClr val="0B3041"/>
                    </a:solidFill>
                  </a:tcPr>
                </a:tc>
                <a:extLst>
                  <a:ext uri="{0D108BD9-81ED-4DB2-BD59-A6C34878D82A}">
                    <a16:rowId xmlns:a16="http://schemas.microsoft.com/office/drawing/2014/main" val="10000"/>
                  </a:ext>
                </a:extLst>
              </a:tr>
              <a:tr h="199339">
                <a:tc>
                  <a:txBody>
                    <a:bodyPr/>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104,599</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33,405</a:t>
                      </a:r>
                    </a:p>
                  </a:txBody>
                  <a:tcPr marL="45720" marR="45720" marT="9144" marB="9144" anchor="ctr">
                    <a:solidFill>
                      <a:srgbClr val="FFFFFF"/>
                    </a:solidFill>
                  </a:tcPr>
                </a:tc>
                <a:extLst>
                  <a:ext uri="{0D108BD9-81ED-4DB2-BD59-A6C34878D82A}">
                    <a16:rowId xmlns:a16="http://schemas.microsoft.com/office/drawing/2014/main" val="10001"/>
                  </a:ext>
                </a:extLst>
              </a:tr>
              <a:tr h="199339">
                <a:tc>
                  <a:txBody>
                    <a:bodyPr/>
                    <a:lstStyle/>
                    <a:p>
                      <a:pPr algn="l">
                        <a:spcAft>
                          <a:spcPts val="0"/>
                        </a:spcAft>
                      </a:pPr>
                      <a:r>
                        <a:rPr sz="84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32,646</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6,373</a:t>
                      </a:r>
                    </a:p>
                  </a:txBody>
                  <a:tcPr marL="45720" marR="45720" marT="9144" marB="9144" anchor="ctr">
                    <a:solidFill>
                      <a:srgbClr val="FFFFFF"/>
                    </a:solidFill>
                  </a:tcPr>
                </a:tc>
                <a:extLst>
                  <a:ext uri="{0D108BD9-81ED-4DB2-BD59-A6C34878D82A}">
                    <a16:rowId xmlns:a16="http://schemas.microsoft.com/office/drawing/2014/main" val="10002"/>
                  </a:ext>
                </a:extLst>
              </a:tr>
              <a:tr h="199339">
                <a:tc>
                  <a:txBody>
                    <a:bodyPr/>
                    <a:lstStyle/>
                    <a:p>
                      <a:pPr algn="l">
                        <a:spcAft>
                          <a:spcPts val="0"/>
                        </a:spcAft>
                      </a:pPr>
                      <a:r>
                        <a:rPr sz="840" b="0">
                          <a:solidFill>
                            <a:srgbClr val="1A1A1A"/>
                          </a:solidFill>
                          <a:latin typeface="游ゴシック"/>
                          <a:ea typeface="游ゴシック"/>
                          <a:cs typeface="游ゴシック"/>
                        </a:rPr>
                        <a:t>構築物</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1,584</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43</a:t>
                      </a:r>
                    </a:p>
                  </a:txBody>
                  <a:tcPr marL="45720" marR="45720" marT="9144" marB="9144" anchor="ctr">
                    <a:solidFill>
                      <a:srgbClr val="FFFFFF"/>
                    </a:solidFill>
                  </a:tcPr>
                </a:tc>
                <a:extLst>
                  <a:ext uri="{0D108BD9-81ED-4DB2-BD59-A6C34878D82A}">
                    <a16:rowId xmlns:a16="http://schemas.microsoft.com/office/drawing/2014/main" val="10003"/>
                  </a:ext>
                </a:extLst>
              </a:tr>
              <a:tr h="199339">
                <a:tc>
                  <a:txBody>
                    <a:bodyPr/>
                    <a:lstStyle/>
                    <a:p>
                      <a:pPr algn="l">
                        <a:spcAft>
                          <a:spcPts val="0"/>
                        </a:spcAft>
                      </a:pPr>
                      <a:r>
                        <a:rPr sz="84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6,256</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4,219</a:t>
                      </a:r>
                    </a:p>
                  </a:txBody>
                  <a:tcPr marL="45720" marR="45720" marT="9144" marB="9144" anchor="ctr">
                    <a:solidFill>
                      <a:srgbClr val="FFFFFF"/>
                    </a:solidFill>
                  </a:tcPr>
                </a:tc>
                <a:extLst>
                  <a:ext uri="{0D108BD9-81ED-4DB2-BD59-A6C34878D82A}">
                    <a16:rowId xmlns:a16="http://schemas.microsoft.com/office/drawing/2014/main" val="10004"/>
                  </a:ext>
                </a:extLst>
              </a:tr>
              <a:tr h="199339">
                <a:tc>
                  <a:txBody>
                    <a:bodyPr/>
                    <a:lstStyle/>
                    <a:p>
                      <a:pPr algn="l">
                        <a:spcAft>
                          <a:spcPts val="0"/>
                        </a:spcAft>
                      </a:pPr>
                      <a:r>
                        <a:rPr sz="840" b="0">
                          <a:solidFill>
                            <a:srgbClr val="1A1A1A"/>
                          </a:solidFill>
                          <a:latin typeface="游ゴシック"/>
                          <a:ea typeface="游ゴシック"/>
                          <a:cs typeface="游ゴシック"/>
                        </a:rPr>
                        <a:t>車両及び運搬具</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7,299</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05"/>
                  </a:ext>
                </a:extLst>
              </a:tr>
              <a:tr h="199339">
                <a:tc>
                  <a:txBody>
                    <a:bodyPr/>
                    <a:lstStyle/>
                    <a:p>
                      <a:pPr algn="l">
                        <a:spcAft>
                          <a:spcPts val="0"/>
                        </a:spcAft>
                      </a:pPr>
                      <a:r>
                        <a:rPr sz="84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23,956</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1,677</a:t>
                      </a:r>
                    </a:p>
                  </a:txBody>
                  <a:tcPr marL="45720" marR="45720" marT="9144" marB="9144" anchor="ctr">
                    <a:solidFill>
                      <a:srgbClr val="FFFFFF"/>
                    </a:solidFill>
                  </a:tcPr>
                </a:tc>
                <a:extLst>
                  <a:ext uri="{0D108BD9-81ED-4DB2-BD59-A6C34878D82A}">
                    <a16:rowId xmlns:a16="http://schemas.microsoft.com/office/drawing/2014/main" val="10006"/>
                  </a:ext>
                </a:extLst>
              </a:tr>
              <a:tr h="199339">
                <a:tc>
                  <a:txBody>
                    <a:bodyPr/>
                    <a:lstStyle/>
                    <a:p>
                      <a:pPr algn="l">
                        <a:spcAft>
                          <a:spcPts val="0"/>
                        </a:spcAft>
                      </a:pPr>
                      <a:r>
                        <a:rPr sz="840" b="0">
                          <a:solidFill>
                            <a:srgbClr val="1A1A1A"/>
                          </a:solidFill>
                          <a:latin typeface="游ゴシック"/>
                          <a:ea typeface="游ゴシック"/>
                          <a:cs typeface="游ゴシック"/>
                        </a:rPr>
                        <a:t>商標権</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703</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07"/>
                  </a:ext>
                </a:extLst>
              </a:tr>
              <a:tr h="199339">
                <a:tc>
                  <a:txBody>
                    <a:bodyPr/>
                    <a:lstStyle/>
                    <a:p>
                      <a:pPr algn="l">
                        <a:spcAft>
                          <a:spcPts val="0"/>
                        </a:spcAft>
                      </a:pPr>
                      <a:r>
                        <a:rPr sz="840" b="0">
                          <a:solidFill>
                            <a:srgbClr val="1A1A1A"/>
                          </a:solidFill>
                          <a:latin typeface="游ゴシック"/>
                          <a:ea typeface="游ゴシック"/>
                          <a:cs typeface="游ゴシック"/>
                        </a:rPr>
                        <a:t>ソフトウェア</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3,667</a:t>
                      </a:r>
                    </a:p>
                  </a:txBody>
                  <a:tcPr marL="45720" marR="45720" marT="9144" marB="9144" anchor="ctr">
                    <a:solidFill>
                      <a:srgbClr val="FFFFFF"/>
                    </a:solidFill>
                  </a:tcPr>
                </a:tc>
                <a:tc>
                  <a:txBody>
                    <a:bodyPr/>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08"/>
                  </a:ext>
                </a:extLst>
              </a:tr>
              <a:tr h="199339">
                <a:tc>
                  <a:txBody>
                    <a:bodyPr/>
                    <a:lstStyle/>
                    <a:p>
                      <a:pPr algn="l">
                        <a:spcAft>
                          <a:spcPts val="0"/>
                        </a:spcAft>
                      </a:pPr>
                      <a:r>
                        <a:rPr sz="840" b="1">
                          <a:solidFill>
                            <a:srgbClr val="1A1A1A"/>
                          </a:solidFill>
                          <a:latin typeface="游ゴシック"/>
                          <a:ea typeface="游ゴシック"/>
                          <a:cs typeface="游ゴシック"/>
                        </a:rPr>
                        <a:t>合計</a:t>
                      </a:r>
                    </a:p>
                  </a:txBody>
                  <a:tcPr marL="45720" marR="45720" marT="9144" marB="9144" anchor="ctr">
                    <a:solidFill>
                      <a:srgbClr val="FFFFFF"/>
                    </a:solidFill>
                  </a:tcPr>
                </a:tc>
                <a:tc>
                  <a:txBody>
                    <a:bodyPr/>
                    <a:lstStyle/>
                    <a:p>
                      <a:pPr algn="r">
                        <a:spcAft>
                          <a:spcPts val="0"/>
                        </a:spcAft>
                      </a:pPr>
                      <a:r>
                        <a:rPr sz="840" b="1">
                          <a:solidFill>
                            <a:srgbClr val="1A1A1A"/>
                          </a:solidFill>
                          <a:latin typeface="Arial"/>
                          <a:ea typeface="Arial"/>
                          <a:cs typeface="Arial"/>
                        </a:rPr>
                        <a:t>180,709</a:t>
                      </a:r>
                    </a:p>
                  </a:txBody>
                  <a:tcPr marL="45720" marR="45720" marT="9144" marB="9144" anchor="ctr">
                    <a:solidFill>
                      <a:srgbClr val="FFFFFF"/>
                    </a:solidFill>
                  </a:tcPr>
                </a:tc>
                <a:tc>
                  <a:txBody>
                    <a:bodyPr/>
                    <a:lstStyle/>
                    <a:p>
                      <a:pPr algn="r">
                        <a:spcAft>
                          <a:spcPts val="0"/>
                        </a:spcAft>
                      </a:pPr>
                      <a:r>
                        <a:rPr sz="840" b="1">
                          <a:solidFill>
                            <a:srgbClr val="1A1A1A"/>
                          </a:solidFill>
                          <a:latin typeface="Arial"/>
                          <a:ea typeface="Arial"/>
                          <a:cs typeface="Arial"/>
                        </a:rPr>
                        <a:t>45,716</a:t>
                      </a:r>
                    </a:p>
                  </a:txBody>
                  <a:tcPr marL="45720" marR="45720" marT="9144" marB="9144" anchor="ctr">
                    <a:solidFill>
                      <a:srgbClr val="FFFFFF"/>
                    </a:solidFill>
                  </a:tcPr>
                </a:tc>
                <a:extLst>
                  <a:ext uri="{0D108BD9-81ED-4DB2-BD59-A6C34878D82A}">
                    <a16:rowId xmlns:a16="http://schemas.microsoft.com/office/drawing/2014/main" val="10009"/>
                  </a:ext>
                </a:extLst>
              </a:tr>
            </a:tbl>
          </a:graphicData>
        </a:graphic>
      </p:graphicFrame>
      <p:sp>
        <p:nvSpPr>
          <p:cNvPr id="21" name="TextBox 20"/>
          <p:cNvSpPr txBox="1"/>
          <p:nvPr/>
        </p:nvSpPr>
        <p:spPr>
          <a:xfrm>
            <a:off x="310896" y="6620256"/>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固定資産減価償却内訳明細書（2026年5月期）に基づく。建物の取得価額には塩町館に係る改造工事16,744千円（期末簿価5,442千円）を含む。</a:t>
            </a:r>
          </a:p>
          <a:p>
            <a:pPr algn="l">
              <a:lnSpc>
                <a:spcPct val="112000"/>
              </a:lnSpc>
              <a:spcAft>
                <a:spcPts val="100"/>
              </a:spcAft>
            </a:pPr>
            <a:r>
              <a:rPr sz="750" b="0">
                <a:solidFill>
                  <a:srgbClr val="5A6670"/>
                </a:solidFill>
                <a:latin typeface="游ゴシック"/>
                <a:ea typeface="游ゴシック"/>
                <a:cs typeface="游ゴシック"/>
              </a:rPr>
              <a:t>※ 土地・建物の面積は公簿・実測とも資料未受領のため記載していない（要確認）。路線価等による時価評価も未実施。</a:t>
            </a:r>
          </a:p>
        </p:txBody>
      </p:sp>
      <p:sp>
        <p:nvSpPr>
          <p:cNvPr id="3" name="タイトル 1">
            <a:extLst>
              <a:ext uri="{FF2B5EF4-FFF2-40B4-BE49-F238E27FC236}">
                <a16:creationId xmlns:a16="http://schemas.microsoft.com/office/drawing/2014/main" id="{FC3D2C3D-95A1-2520-9C7F-DDE95E70BFA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630750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拠点概要（厨房・製造設備）</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ワンオペを前提としつつも、業務用厨房・冷蔵設備・製粉設備は複数店舗分の仕込みに耐える構成</a:t>
            </a:r>
            <a:endParaRPr lang="en-US" altLang="ja-JP" dirty="0"/>
          </a:p>
        </p:txBody>
      </p:sp>
      <p:pic>
        <p:nvPicPr>
          <p:cNvPr id="14" name="Picture 13" descr="厨房01.jpg"/>
          <p:cNvPicPr>
            <a:picLocks noChangeAspect="1"/>
          </p:cNvPicPr>
          <p:nvPr/>
        </p:nvPicPr>
        <p:blipFill>
          <a:blip r:embed="rId3"/>
          <a:stretch>
            <a:fillRect/>
          </a:stretch>
        </p:blipFill>
        <p:spPr>
          <a:xfrm>
            <a:off x="310896" y="1481328"/>
            <a:ext cx="3145536" cy="2359152"/>
          </a:xfrm>
          <a:prstGeom prst="rect">
            <a:avLst/>
          </a:prstGeom>
          <a:ln w="9525">
            <a:solidFill>
              <a:srgbClr val="E3E7E9"/>
            </a:solidFill>
          </a:ln>
        </p:spPr>
      </p:pic>
      <p:sp>
        <p:nvSpPr>
          <p:cNvPr id="15" name="TextBox 14"/>
          <p:cNvSpPr txBox="1"/>
          <p:nvPr/>
        </p:nvSpPr>
        <p:spPr>
          <a:xfrm>
            <a:off x="310896" y="3877056"/>
            <a:ext cx="3145536"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調理場（業務用ガスコンロ・五徳鍋）</a:t>
            </a:r>
          </a:p>
        </p:txBody>
      </p:sp>
      <p:pic>
        <p:nvPicPr>
          <p:cNvPr id="16" name="Picture 15" descr="厨房03.jpg"/>
          <p:cNvPicPr>
            <a:picLocks noChangeAspect="1"/>
          </p:cNvPicPr>
          <p:nvPr/>
        </p:nvPicPr>
        <p:blipFill>
          <a:blip r:embed="rId4"/>
          <a:stretch>
            <a:fillRect/>
          </a:stretch>
        </p:blipFill>
        <p:spPr>
          <a:xfrm>
            <a:off x="3602736" y="1481328"/>
            <a:ext cx="3145536" cy="2359152"/>
          </a:xfrm>
          <a:prstGeom prst="rect">
            <a:avLst/>
          </a:prstGeom>
          <a:ln w="9525">
            <a:solidFill>
              <a:srgbClr val="E3E7E9"/>
            </a:solidFill>
          </a:ln>
        </p:spPr>
      </p:pic>
      <p:sp>
        <p:nvSpPr>
          <p:cNvPr id="17" name="TextBox 16"/>
          <p:cNvSpPr txBox="1"/>
          <p:nvPr/>
        </p:nvSpPr>
        <p:spPr>
          <a:xfrm>
            <a:off x="3602736" y="3877056"/>
            <a:ext cx="3145536"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洗い場・食器洗浄機</a:t>
            </a:r>
          </a:p>
        </p:txBody>
      </p:sp>
      <p:pic>
        <p:nvPicPr>
          <p:cNvPr id="18" name="Picture 17" descr="厨房05.jpg"/>
          <p:cNvPicPr>
            <a:picLocks noChangeAspect="1"/>
          </p:cNvPicPr>
          <p:nvPr/>
        </p:nvPicPr>
        <p:blipFill>
          <a:blip r:embed="rId5"/>
          <a:stretch>
            <a:fillRect/>
          </a:stretch>
        </p:blipFill>
        <p:spPr>
          <a:xfrm>
            <a:off x="6894576" y="1481328"/>
            <a:ext cx="3145536" cy="2359152"/>
          </a:xfrm>
          <a:prstGeom prst="rect">
            <a:avLst/>
          </a:prstGeom>
          <a:ln w="9525">
            <a:solidFill>
              <a:srgbClr val="E3E7E9"/>
            </a:solidFill>
          </a:ln>
        </p:spPr>
      </p:pic>
      <p:sp>
        <p:nvSpPr>
          <p:cNvPr id="19" name="TextBox 18"/>
          <p:cNvSpPr txBox="1"/>
          <p:nvPr/>
        </p:nvSpPr>
        <p:spPr>
          <a:xfrm>
            <a:off x="6894576" y="3877056"/>
            <a:ext cx="3145536"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焼き台・食器棚</a:t>
            </a:r>
          </a:p>
        </p:txBody>
      </p:sp>
      <p:pic>
        <p:nvPicPr>
          <p:cNvPr id="20" name="Picture 19" descr="厨房04.jpg"/>
          <p:cNvPicPr>
            <a:picLocks noChangeAspect="1"/>
          </p:cNvPicPr>
          <p:nvPr/>
        </p:nvPicPr>
        <p:blipFill>
          <a:blip r:embed="rId6"/>
          <a:srcRect t="9302" b="9302"/>
          <a:stretch>
            <a:fillRect/>
          </a:stretch>
        </p:blipFill>
        <p:spPr>
          <a:xfrm>
            <a:off x="310896" y="4133087"/>
            <a:ext cx="3145536" cy="1920240"/>
          </a:xfrm>
          <a:prstGeom prst="rect">
            <a:avLst/>
          </a:prstGeom>
          <a:ln w="9525">
            <a:solidFill>
              <a:srgbClr val="E3E7E9"/>
            </a:solidFill>
          </a:ln>
        </p:spPr>
      </p:pic>
      <p:sp>
        <p:nvSpPr>
          <p:cNvPr id="21" name="TextBox 20"/>
          <p:cNvSpPr txBox="1"/>
          <p:nvPr/>
        </p:nvSpPr>
        <p:spPr>
          <a:xfrm>
            <a:off x="310896" y="6089903"/>
            <a:ext cx="3145536"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釜場（茹で釜・ゆで麺機）</a:t>
            </a:r>
          </a:p>
        </p:txBody>
      </p:sp>
      <p:pic>
        <p:nvPicPr>
          <p:cNvPr id="22" name="Picture 21" descr="厨房02.jpg"/>
          <p:cNvPicPr>
            <a:picLocks noChangeAspect="1"/>
          </p:cNvPicPr>
          <p:nvPr/>
        </p:nvPicPr>
        <p:blipFill>
          <a:blip r:embed="rId7"/>
          <a:srcRect t="9615" b="9615"/>
          <a:stretch>
            <a:fillRect/>
          </a:stretch>
        </p:blipFill>
        <p:spPr>
          <a:xfrm>
            <a:off x="3602736" y="4133087"/>
            <a:ext cx="1783080" cy="1920240"/>
          </a:xfrm>
          <a:prstGeom prst="rect">
            <a:avLst/>
          </a:prstGeom>
          <a:ln w="9525">
            <a:solidFill>
              <a:srgbClr val="E3E7E9"/>
            </a:solidFill>
          </a:ln>
        </p:spPr>
      </p:pic>
      <p:sp>
        <p:nvSpPr>
          <p:cNvPr id="23" name="TextBox 22"/>
          <p:cNvSpPr txBox="1"/>
          <p:nvPr/>
        </p:nvSpPr>
        <p:spPr>
          <a:xfrm>
            <a:off x="3602736" y="6089903"/>
            <a:ext cx="1783080"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業務用冷蔵庫（6ドア＋縦型）</a:t>
            </a:r>
          </a:p>
        </p:txBody>
      </p:sp>
      <p:sp>
        <p:nvSpPr>
          <p:cNvPr id="24" name="Rectangle 23"/>
          <p:cNvSpPr/>
          <p:nvPr/>
        </p:nvSpPr>
        <p:spPr>
          <a:xfrm>
            <a:off x="5577840" y="4133087"/>
            <a:ext cx="480060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100" b="1">
                <a:solidFill>
                  <a:srgbClr val="FFFFFF"/>
                </a:solidFill>
                <a:latin typeface="游ゴシック"/>
                <a:ea typeface="游ゴシック"/>
                <a:cs typeface="游ゴシック"/>
              </a:rPr>
              <a:t>現地実査で確認できた主な設備</a:t>
            </a:r>
          </a:p>
        </p:txBody>
      </p:sp>
      <p:sp>
        <p:nvSpPr>
          <p:cNvPr id="25" name="Rectangle 24"/>
          <p:cNvSpPr/>
          <p:nvPr/>
        </p:nvSpPr>
        <p:spPr>
          <a:xfrm>
            <a:off x="5577840" y="4489704"/>
            <a:ext cx="4800600" cy="1691640"/>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5705856" y="4599432"/>
            <a:ext cx="4544568" cy="1472184"/>
          </a:xfrm>
          <a:prstGeom prst="rect">
            <a:avLst/>
          </a:prstGeom>
          <a:noFill/>
        </p:spPr>
        <p:txBody>
          <a:bodyPr wrap="square" lIns="0" tIns="0" rIns="0" bIns="0" anchor="t">
            <a:spAutoFit/>
          </a:bodyPr>
          <a:lstStyle/>
          <a:p>
            <a:pPr algn="l">
              <a:lnSpc>
                <a:spcPct val="116000"/>
              </a:lnSpc>
              <a:spcAft>
                <a:spcPts val="100"/>
              </a:spcAft>
            </a:pPr>
            <a:r>
              <a:rPr sz="819" b="0">
                <a:solidFill>
                  <a:srgbClr val="1A1A1A"/>
                </a:solidFill>
                <a:latin typeface="游ゴシック"/>
                <a:ea typeface="游ゴシック"/>
                <a:cs typeface="游ゴシック"/>
              </a:rPr>
              <a:t>■ 厨房：業務用ガスコンロ（maruzen）複数、茹で釜・ゆで麺機、焼き台、換気フード、</a:t>
            </a:r>
          </a:p>
          <a:p>
            <a:pPr algn="l">
              <a:lnSpc>
                <a:spcPct val="116000"/>
              </a:lnSpc>
              <a:spcAft>
                <a:spcPts val="100"/>
              </a:spcAft>
            </a:pPr>
            <a:r>
              <a:rPr sz="819" b="0">
                <a:solidFill>
                  <a:srgbClr val="1A1A1A"/>
                </a:solidFill>
                <a:latin typeface="游ゴシック"/>
                <a:ea typeface="游ゴシック"/>
                <a:cs typeface="游ゴシック"/>
              </a:rPr>
              <a:t>　　　　食器洗浄機（SMART A5）、三槽シンク</a:t>
            </a:r>
          </a:p>
          <a:p>
            <a:pPr algn="l">
              <a:lnSpc>
                <a:spcPct val="116000"/>
              </a:lnSpc>
              <a:spcAft>
                <a:spcPts val="100"/>
              </a:spcAft>
            </a:pPr>
            <a:r>
              <a:rPr sz="819" b="0">
                <a:solidFill>
                  <a:srgbClr val="1A1A1A"/>
                </a:solidFill>
                <a:latin typeface="游ゴシック"/>
                <a:ea typeface="游ゴシック"/>
                <a:cs typeface="游ゴシック"/>
              </a:rPr>
              <a:t>■ 冷蔵：業務用冷蔵庫（ホシザキ 6ドア＋縦型）、冷蔵ショーケース、冷蔵ユニット2基</a:t>
            </a:r>
          </a:p>
          <a:p>
            <a:pPr algn="l">
              <a:lnSpc>
                <a:spcPct val="116000"/>
              </a:lnSpc>
              <a:spcAft>
                <a:spcPts val="100"/>
              </a:spcAft>
            </a:pPr>
            <a:r>
              <a:rPr sz="819" b="0">
                <a:solidFill>
                  <a:srgbClr val="1A1A1A"/>
                </a:solidFill>
                <a:latin typeface="游ゴシック"/>
                <a:ea typeface="游ゴシック"/>
                <a:cs typeface="游ゴシック"/>
              </a:rPr>
              <a:t>■ 製粉：電動石臼製粉機、木製石臼製粉機、二連式石臼製粉機、小麦製粉機、大理石作業台</a:t>
            </a:r>
          </a:p>
          <a:p>
            <a:pPr algn="l">
              <a:lnSpc>
                <a:spcPct val="116000"/>
              </a:lnSpc>
              <a:spcAft>
                <a:spcPts val="100"/>
              </a:spcAft>
            </a:pPr>
            <a:r>
              <a:rPr sz="819" b="0">
                <a:solidFill>
                  <a:srgbClr val="1A1A1A"/>
                </a:solidFill>
                <a:latin typeface="游ゴシック"/>
                <a:ea typeface="游ゴシック"/>
                <a:cs typeface="游ゴシック"/>
              </a:rPr>
              <a:t>■ そば打ち場：木製そば打ち台2台、朱塗りこね鉢、そば包丁3丁、こま板、専用シンク</a:t>
            </a:r>
          </a:p>
          <a:p>
            <a:pPr algn="l">
              <a:lnSpc>
                <a:spcPct val="116000"/>
              </a:lnSpc>
              <a:spcAft>
                <a:spcPts val="100"/>
              </a:spcAft>
            </a:pPr>
            <a:r>
              <a:rPr sz="819" b="0">
                <a:solidFill>
                  <a:srgbClr val="1A1A1A"/>
                </a:solidFill>
                <a:latin typeface="游ゴシック"/>
                <a:ea typeface="游ゴシック"/>
                <a:cs typeface="游ゴシック"/>
              </a:rPr>
              <a:t>■ 保管：玄そば定温保管庫（冷却ユニット付・木造断熱仕様）</a:t>
            </a:r>
          </a:p>
          <a:p>
            <a:pPr algn="l">
              <a:lnSpc>
                <a:spcPct val="116000"/>
              </a:lnSpc>
              <a:spcAft>
                <a:spcPts val="100"/>
              </a:spcAft>
            </a:pPr>
            <a:r>
              <a:rPr sz="819" b="0">
                <a:solidFill>
                  <a:srgbClr val="1A1A1A"/>
                </a:solidFill>
                <a:latin typeface="游ゴシック"/>
                <a:ea typeface="游ゴシック"/>
                <a:cs typeface="游ゴシック"/>
              </a:rPr>
              <a:t>■ 客席：座敷（座卓6卓程度）・囲炉裏・縁側デッキ、薪ストーブ2台</a:t>
            </a:r>
          </a:p>
        </p:txBody>
      </p:sp>
      <p:sp>
        <p:nvSpPr>
          <p:cNvPr id="27" name="TextBox 26"/>
          <p:cNvSpPr txBox="1"/>
          <p:nvPr/>
        </p:nvSpPr>
        <p:spPr>
          <a:xfrm>
            <a:off x="310896" y="630936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写真は現地実査時に撮影したもの。設備の稼働状況・更新履歴・保守契約の有無は要確認。</a:t>
            </a:r>
          </a:p>
        </p:txBody>
      </p:sp>
      <p:sp>
        <p:nvSpPr>
          <p:cNvPr id="3" name="タイトル 1">
            <a:extLst>
              <a:ext uri="{FF2B5EF4-FFF2-40B4-BE49-F238E27FC236}">
                <a16:creationId xmlns:a16="http://schemas.microsoft.com/office/drawing/2014/main" id="{99B2E3F5-A49E-B41C-809E-99BB9058CF9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3707275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不動産詳細</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事業用不動産は全て自己所有で賃借はなし。ただし店舗建物は未登記であり、本件実行前に権利関係の整備が必要</a:t>
            </a:r>
            <a:endParaRPr lang="en-US" altLang="ja-JP" dirty="0"/>
          </a:p>
        </p:txBody>
      </p:sp>
      <p:sp>
        <p:nvSpPr>
          <p:cNvPr id="14" name="Rectangle 13"/>
          <p:cNvSpPr/>
          <p:nvPr/>
        </p:nvSpPr>
        <p:spPr>
          <a:xfrm>
            <a:off x="310896" y="1517904"/>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所有</a:t>
            </a:r>
          </a:p>
        </p:txBody>
      </p:sp>
      <p:graphicFrame>
        <p:nvGraphicFramePr>
          <p:cNvPr id="15" name="Table 14"/>
          <p:cNvGraphicFramePr>
            <a:graphicFrameLocks noGrp="1"/>
          </p:cNvGraphicFramePr>
          <p:nvPr/>
        </p:nvGraphicFramePr>
        <p:xfrm>
          <a:off x="310896" y="1874519"/>
          <a:ext cx="10067539" cy="2359152"/>
        </p:xfrm>
        <a:graphic>
          <a:graphicData uri="http://schemas.openxmlformats.org/drawingml/2006/table">
            <a:tbl>
              <a:tblPr>
                <a:tableStyleId>{5940675A-B579-460E-94D1-54222C63F5DA}</a:tableStyleId>
              </a:tblPr>
              <a:tblGrid>
                <a:gridCol w="289945">
                  <a:extLst>
                    <a:ext uri="{9D8B030D-6E8A-4147-A177-3AD203B41FA5}">
                      <a16:colId xmlns:a16="http://schemas.microsoft.com/office/drawing/2014/main" val="20000"/>
                    </a:ext>
                  </a:extLst>
                </a:gridCol>
                <a:gridCol w="1433618">
                  <a:extLst>
                    <a:ext uri="{9D8B030D-6E8A-4147-A177-3AD203B41FA5}">
                      <a16:colId xmlns:a16="http://schemas.microsoft.com/office/drawing/2014/main" val="20001"/>
                    </a:ext>
                  </a:extLst>
                </a:gridCol>
                <a:gridCol w="1079240">
                  <a:extLst>
                    <a:ext uri="{9D8B030D-6E8A-4147-A177-3AD203B41FA5}">
                      <a16:colId xmlns:a16="http://schemas.microsoft.com/office/drawing/2014/main" val="20002"/>
                    </a:ext>
                  </a:extLst>
                </a:gridCol>
                <a:gridCol w="1449726">
                  <a:extLst>
                    <a:ext uri="{9D8B030D-6E8A-4147-A177-3AD203B41FA5}">
                      <a16:colId xmlns:a16="http://schemas.microsoft.com/office/drawing/2014/main" val="20003"/>
                    </a:ext>
                  </a:extLst>
                </a:gridCol>
                <a:gridCol w="499350">
                  <a:extLst>
                    <a:ext uri="{9D8B030D-6E8A-4147-A177-3AD203B41FA5}">
                      <a16:colId xmlns:a16="http://schemas.microsoft.com/office/drawing/2014/main" val="20004"/>
                    </a:ext>
                  </a:extLst>
                </a:gridCol>
                <a:gridCol w="1030916">
                  <a:extLst>
                    <a:ext uri="{9D8B030D-6E8A-4147-A177-3AD203B41FA5}">
                      <a16:colId xmlns:a16="http://schemas.microsoft.com/office/drawing/2014/main" val="20005"/>
                    </a:ext>
                  </a:extLst>
                </a:gridCol>
                <a:gridCol w="628214">
                  <a:extLst>
                    <a:ext uri="{9D8B030D-6E8A-4147-A177-3AD203B41FA5}">
                      <a16:colId xmlns:a16="http://schemas.microsoft.com/office/drawing/2014/main" val="20006"/>
                    </a:ext>
                  </a:extLst>
                </a:gridCol>
                <a:gridCol w="628214">
                  <a:extLst>
                    <a:ext uri="{9D8B030D-6E8A-4147-A177-3AD203B41FA5}">
                      <a16:colId xmlns:a16="http://schemas.microsoft.com/office/drawing/2014/main" val="20007"/>
                    </a:ext>
                  </a:extLst>
                </a:gridCol>
                <a:gridCol w="1095348">
                  <a:extLst>
                    <a:ext uri="{9D8B030D-6E8A-4147-A177-3AD203B41FA5}">
                      <a16:colId xmlns:a16="http://schemas.microsoft.com/office/drawing/2014/main" val="20008"/>
                    </a:ext>
                  </a:extLst>
                </a:gridCol>
                <a:gridCol w="1932968">
                  <a:extLst>
                    <a:ext uri="{9D8B030D-6E8A-4147-A177-3AD203B41FA5}">
                      <a16:colId xmlns:a16="http://schemas.microsoft.com/office/drawing/2014/main" val="20009"/>
                    </a:ext>
                  </a:extLst>
                </a:gridCol>
              </a:tblGrid>
              <a:tr h="256032">
                <a:tc>
                  <a:txBody>
                    <a:bodyPr/>
                    <a:lstStyle/>
                    <a:p>
                      <a:pPr algn="ctr">
                        <a:spcAft>
                          <a:spcPts val="0"/>
                        </a:spcAft>
                      </a:pPr>
                      <a:r>
                        <a:rPr sz="78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所在</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種類</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構造</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面積</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取得年月</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取得価額</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期末簿価</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用途</a:t>
                      </a:r>
                    </a:p>
                  </a:txBody>
                  <a:tcPr marL="45720" marR="45720" marT="9144" marB="9144" anchor="ctr">
                    <a:solidFill>
                      <a:srgbClr val="0B3041"/>
                    </a:solidFill>
                  </a:tcPr>
                </a:tc>
                <a:tc>
                  <a:txBody>
                    <a:bodyPr/>
                    <a:lstStyle/>
                    <a:p>
                      <a:pPr algn="ctr">
                        <a:spcAft>
                          <a:spcPts val="0"/>
                        </a:spcAft>
                      </a:pPr>
                      <a:r>
                        <a:rPr sz="780" b="1">
                          <a:solidFill>
                            <a:srgbClr val="FFFFFF"/>
                          </a:solidFill>
                          <a:latin typeface="Arial"/>
                          <a:ea typeface="Arial"/>
                          <a:cs typeface="Arial"/>
                        </a:rPr>
                        <a:t>備考</a:t>
                      </a:r>
                    </a:p>
                  </a:txBody>
                  <a:tcPr marL="45720" marR="45720" marT="9144" marB="9144" anchor="ctr">
                    <a:solidFill>
                      <a:srgbClr val="0B3041"/>
                    </a:solidFill>
                  </a:tcPr>
                </a:tc>
                <a:extLst>
                  <a:ext uri="{0D108BD9-81ED-4DB2-BD59-A6C34878D82A}">
                    <a16:rowId xmlns:a16="http://schemas.microsoft.com/office/drawing/2014/main" val="10000"/>
                  </a:ext>
                </a:extLst>
              </a:tr>
              <a:tr h="420624">
                <a:tc>
                  <a:txBody>
                    <a:bodyPr/>
                    <a:lstStyle/>
                    <a:p>
                      <a:pPr algn="ctr">
                        <a:spcAft>
                          <a:spcPts val="0"/>
                        </a:spcAft>
                      </a:pPr>
                      <a:r>
                        <a:rPr sz="78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常陸太田市天下野町2162</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土地</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店舗敷地・駐車場</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路線価・固定資産税評価額による時価評価は未実施</a:t>
                      </a:r>
                    </a:p>
                  </a:txBody>
                  <a:tcPr marL="45720" marR="45720" marT="9144" marB="9144" anchor="ctr">
                    <a:solidFill>
                      <a:srgbClr val="FFFFFF"/>
                    </a:solidFill>
                  </a:tcPr>
                </a:tc>
                <a:extLst>
                  <a:ext uri="{0D108BD9-81ED-4DB2-BD59-A6C34878D82A}">
                    <a16:rowId xmlns:a16="http://schemas.microsoft.com/office/drawing/2014/main" val="10001"/>
                  </a:ext>
                </a:extLst>
              </a:tr>
              <a:tr h="420624">
                <a:tc>
                  <a:txBody>
                    <a:bodyPr/>
                    <a:lstStyle/>
                    <a:p>
                      <a:pPr algn="ctr">
                        <a:spcAft>
                          <a:spcPts val="0"/>
                        </a:spcAft>
                      </a:pPr>
                      <a:r>
                        <a:rPr sz="78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建物（店舗兼住居）</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木造モルタル造（板倉造・茅葺き）</a:t>
                      </a:r>
                    </a:p>
                  </a:txBody>
                  <a:tcPr marL="45720" marR="45720" marT="9144" marB="9144" anchor="ctr">
                    <a:solidFill>
                      <a:srgbClr val="FFFFFF"/>
                    </a:solidFill>
                  </a:tcPr>
                </a:tc>
                <a:tc>
                  <a:txBody>
                    <a:bodyPr/>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2002年2月</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85,704</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27,854</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1階 店舗／2階 代表者住居</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代表者が設計。未登記</a:t>
                      </a:r>
                    </a:p>
                  </a:txBody>
                  <a:tcPr marL="45720" marR="45720" marT="9144" marB="9144" anchor="ctr">
                    <a:solidFill>
                      <a:srgbClr val="FFFFFF"/>
                    </a:solidFill>
                  </a:tcPr>
                </a:tc>
                <a:extLst>
                  <a:ext uri="{0D108BD9-81ED-4DB2-BD59-A6C34878D82A}">
                    <a16:rowId xmlns:a16="http://schemas.microsoft.com/office/drawing/2014/main" val="10002"/>
                  </a:ext>
                </a:extLst>
              </a:tr>
              <a:tr h="420624">
                <a:tc>
                  <a:txBody>
                    <a:bodyPr/>
                    <a:lstStyle/>
                    <a:p>
                      <a:pPr algn="ctr">
                        <a:spcAft>
                          <a:spcPts val="0"/>
                        </a:spcAft>
                      </a:pPr>
                      <a:r>
                        <a:rPr sz="78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電気・給排水設備ほか</a:t>
                      </a:r>
                    </a:p>
                  </a:txBody>
                  <a:tcPr marL="45720" marR="45720" marT="9144" marB="9144" anchor="ctr">
                    <a:solidFill>
                      <a:srgbClr val="FFFFFF"/>
                    </a:solidFill>
                  </a:tcPr>
                </a:tc>
                <a:tc>
                  <a:txBody>
                    <a:bodyPr/>
                    <a:lstStyle/>
                    <a:p>
                      <a:pPr algn="ctr">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2002年2月〜2022年6月</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32,646</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6,373</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店舗設備</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自動火災報知設備・冷蔵設備・縁側席工事等</a:t>
                      </a:r>
                    </a:p>
                  </a:txBody>
                  <a:tcPr marL="45720" marR="45720" marT="9144" marB="9144" anchor="ctr">
                    <a:solidFill>
                      <a:srgbClr val="FFFFFF"/>
                    </a:solidFill>
                  </a:tcPr>
                </a:tc>
                <a:extLst>
                  <a:ext uri="{0D108BD9-81ED-4DB2-BD59-A6C34878D82A}">
                    <a16:rowId xmlns:a16="http://schemas.microsoft.com/office/drawing/2014/main" val="10003"/>
                  </a:ext>
                </a:extLst>
              </a:tr>
              <a:tr h="420624">
                <a:tc>
                  <a:txBody>
                    <a:bodyPr/>
                    <a:lstStyle/>
                    <a:p>
                      <a:pPr algn="ctr">
                        <a:spcAft>
                          <a:spcPts val="0"/>
                        </a:spcAft>
                      </a:pPr>
                      <a:r>
                        <a:rPr sz="780"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構築物</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駐車場舗装・看板・ブロック塀</a:t>
                      </a:r>
                    </a:p>
                  </a:txBody>
                  <a:tcPr marL="45720" marR="45720" marT="9144" marB="9144" anchor="ctr">
                    <a:solidFill>
                      <a:srgbClr val="FFFFFF"/>
                    </a:solidFill>
                  </a:tcPr>
                </a:tc>
                <a:tc>
                  <a:txBody>
                    <a:bodyPr/>
                    <a:lstStyle/>
                    <a:p>
                      <a:pPr algn="ctr">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2003年</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1,584</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駐車場・外構</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4"/>
                  </a:ext>
                </a:extLst>
              </a:tr>
              <a:tr h="420624">
                <a:tc>
                  <a:txBody>
                    <a:bodyPr/>
                    <a:lstStyle/>
                    <a:p>
                      <a:pPr algn="ctr">
                        <a:spcAft>
                          <a:spcPts val="0"/>
                        </a:spcAft>
                      </a:pPr>
                      <a:r>
                        <a:rPr sz="780" b="0">
                          <a:solidFill>
                            <a:srgbClr val="1A1A1A"/>
                          </a:solidFill>
                          <a:latin typeface="Arial"/>
                          <a:ea typeface="Arial"/>
                          <a:cs typeface="Arial"/>
                        </a:rPr>
                        <a:t>5</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常陸太田市（塩町館）</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建物（改造工事）</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木造モルタル造</a:t>
                      </a:r>
                    </a:p>
                  </a:txBody>
                  <a:tcPr marL="45720" marR="45720" marT="9144" marB="9144" anchor="ctr">
                    <a:solidFill>
                      <a:srgbClr val="FFFFFF"/>
                    </a:solidFill>
                  </a:tcPr>
                </a:tc>
                <a:tc>
                  <a:txBody>
                    <a:bodyPr/>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2004年12月〜2005年4月</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16,744</a:t>
                      </a:r>
                    </a:p>
                  </a:txBody>
                  <a:tcPr marL="45720" marR="45720" marT="9144" marB="9144" anchor="ctr">
                    <a:solidFill>
                      <a:srgbClr val="FFFFFF"/>
                    </a:solidFill>
                  </a:tcPr>
                </a:tc>
                <a:tc>
                  <a:txBody>
                    <a:bodyPr/>
                    <a:lstStyle/>
                    <a:p>
                      <a:pPr algn="r">
                        <a:spcAft>
                          <a:spcPts val="0"/>
                        </a:spcAft>
                      </a:pPr>
                      <a:r>
                        <a:rPr sz="780" b="0">
                          <a:solidFill>
                            <a:srgbClr val="1A1A1A"/>
                          </a:solidFill>
                          <a:latin typeface="Arial"/>
                          <a:ea typeface="Arial"/>
                          <a:cs typeface="Arial"/>
                        </a:rPr>
                        <a:t>5,442</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当社の事業に未供用</a:t>
                      </a:r>
                    </a:p>
                  </a:txBody>
                  <a:tcPr marL="45720" marR="45720" marT="9144" marB="9144" anchor="ctr">
                    <a:solidFill>
                      <a:srgbClr val="FFFFFF"/>
                    </a:solidFill>
                  </a:tcPr>
                </a:tc>
                <a:tc>
                  <a:txBody>
                    <a:bodyPr/>
                    <a:lstStyle/>
                    <a:p>
                      <a:pPr algn="l">
                        <a:spcAft>
                          <a:spcPts val="0"/>
                        </a:spcAft>
                      </a:pPr>
                      <a:r>
                        <a:rPr sz="780" b="0">
                          <a:solidFill>
                            <a:srgbClr val="1A1A1A"/>
                          </a:solidFill>
                          <a:latin typeface="游ゴシック"/>
                          <a:ea typeface="游ゴシック"/>
                          <a:cs typeface="游ゴシック"/>
                        </a:rPr>
                        <a:t>営業権・什器備品は元従業員へ譲渡済。登記変更は未了</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16" name="Rectangle 15"/>
          <p:cNvSpPr/>
          <p:nvPr/>
        </p:nvSpPr>
        <p:spPr>
          <a:xfrm>
            <a:off x="310896" y="4572000"/>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賃借</a:t>
            </a:r>
          </a:p>
        </p:txBody>
      </p:sp>
      <p:sp>
        <p:nvSpPr>
          <p:cNvPr id="17" name="Rectangle 16"/>
          <p:cNvSpPr/>
          <p:nvPr/>
        </p:nvSpPr>
        <p:spPr>
          <a:xfrm>
            <a:off x="310896" y="4928616"/>
            <a:ext cx="10067544" cy="4754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457200" y="5047488"/>
            <a:ext cx="9774936" cy="256032"/>
          </a:xfrm>
          <a:prstGeom prst="rect">
            <a:avLst/>
          </a:prstGeom>
          <a:noFill/>
        </p:spPr>
        <p:txBody>
          <a:bodyPr wrap="square" lIns="0" tIns="0" rIns="0" bIns="0" anchor="t">
            <a:spAutoFit/>
          </a:bodyPr>
          <a:lstStyle/>
          <a:p>
            <a:pPr algn="l">
              <a:spcAft>
                <a:spcPts val="0"/>
              </a:spcAft>
            </a:pPr>
            <a:r>
              <a:rPr sz="950" b="0">
                <a:solidFill>
                  <a:srgbClr val="1A1A1A"/>
                </a:solidFill>
                <a:latin typeface="游ゴシック"/>
                <a:ea typeface="游ゴシック"/>
                <a:cs typeface="游ゴシック"/>
              </a:rPr>
              <a:t>該当なし（事業用不動産の賃借はありません。地代家賃の計上もありません）</a:t>
            </a:r>
          </a:p>
        </p:txBody>
      </p:sp>
      <p:sp>
        <p:nvSpPr>
          <p:cNvPr id="19" name="Rectangle 18"/>
          <p:cNvSpPr/>
          <p:nvPr/>
        </p:nvSpPr>
        <p:spPr>
          <a:xfrm>
            <a:off x="310896" y="5559552"/>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400" b="1">
                <a:solidFill>
                  <a:srgbClr val="FFFFFF"/>
                </a:solidFill>
                <a:latin typeface="游ゴシック"/>
                <a:ea typeface="游ゴシック"/>
                <a:cs typeface="游ゴシック"/>
              </a:rPr>
              <a:t>担保</a:t>
            </a:r>
          </a:p>
        </p:txBody>
      </p:sp>
      <p:sp>
        <p:nvSpPr>
          <p:cNvPr id="20" name="Rectangle 19"/>
          <p:cNvSpPr/>
          <p:nvPr/>
        </p:nvSpPr>
        <p:spPr>
          <a:xfrm>
            <a:off x="310896" y="5916168"/>
            <a:ext cx="10067544" cy="4754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457200" y="6035040"/>
            <a:ext cx="9774936" cy="256032"/>
          </a:xfrm>
          <a:prstGeom prst="rect">
            <a:avLst/>
          </a:prstGeom>
          <a:noFill/>
        </p:spPr>
        <p:txBody>
          <a:bodyPr wrap="square" lIns="0" tIns="0" rIns="0" bIns="0" anchor="t">
            <a:spAutoFit/>
          </a:bodyPr>
          <a:lstStyle/>
          <a:p>
            <a:pPr algn="l">
              <a:spcAft>
                <a:spcPts val="0"/>
              </a:spcAft>
            </a:pPr>
            <a:r>
              <a:rPr sz="950" b="0">
                <a:solidFill>
                  <a:srgbClr val="1A1A1A"/>
                </a:solidFill>
                <a:latin typeface="游ゴシック"/>
                <a:ea typeface="游ゴシック"/>
                <a:cs typeface="游ゴシック"/>
              </a:rPr>
              <a:t>金融機関借入がないため、担保設定はないものと想定（要確認：登記簿謄本は未受領）</a:t>
            </a:r>
          </a:p>
        </p:txBody>
      </p:sp>
      <p:sp>
        <p:nvSpPr>
          <p:cNvPr id="22" name="TextBox 21"/>
          <p:cNvSpPr txBox="1"/>
          <p:nvPr/>
        </p:nvSpPr>
        <p:spPr>
          <a:xfrm>
            <a:off x="310896" y="658368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単位：千円。期末簿価は2026年5月期。建物は未登記であり、土地・建物の登記簿謄本・公図・測量図はいずれも未受領です（要確認）。</a:t>
            </a:r>
          </a:p>
        </p:txBody>
      </p:sp>
      <p:sp>
        <p:nvSpPr>
          <p:cNvPr id="3" name="タイトル 1">
            <a:extLst>
              <a:ext uri="{FF2B5EF4-FFF2-40B4-BE49-F238E27FC236}">
                <a16:creationId xmlns:a16="http://schemas.microsoft.com/office/drawing/2014/main" id="{73870041-C0CE-99E9-D626-09C32C3DE3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2004129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保有設備一覧</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石臼製粉機2基、そば打ち場、玄そば定温保管庫、業務用厨房を保有。蕎麦の一貫製造に必要な設備は揃っている</a:t>
            </a:r>
            <a:endParaRPr lang="en-US" altLang="ja-JP" dirty="0"/>
          </a:p>
        </p:txBody>
      </p:sp>
      <p:graphicFrame>
        <p:nvGraphicFramePr>
          <p:cNvPr id="14" name="Table 13"/>
          <p:cNvGraphicFramePr>
            <a:graphicFrameLocks noGrp="1"/>
          </p:cNvGraphicFramePr>
          <p:nvPr/>
        </p:nvGraphicFramePr>
        <p:xfrm>
          <a:off x="310896" y="1408176"/>
          <a:ext cx="10067544" cy="4604004"/>
        </p:xfrm>
        <a:graphic>
          <a:graphicData uri="http://schemas.openxmlformats.org/drawingml/2006/table">
            <a:tbl>
              <a:tblPr>
                <a:tableStyleId>{5940675A-B579-460E-94D1-54222C63F5DA}</a:tableStyleId>
              </a:tblPr>
              <a:tblGrid>
                <a:gridCol w="310896">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512064">
                  <a:extLst>
                    <a:ext uri="{9D8B030D-6E8A-4147-A177-3AD203B41FA5}">
                      <a16:colId xmlns:a16="http://schemas.microsoft.com/office/drawing/2014/main" val="20004"/>
                    </a:ext>
                  </a:extLst>
                </a:gridCol>
                <a:gridCol w="713232">
                  <a:extLst>
                    <a:ext uri="{9D8B030D-6E8A-4147-A177-3AD203B41FA5}">
                      <a16:colId xmlns:a16="http://schemas.microsoft.com/office/drawing/2014/main" val="20005"/>
                    </a:ext>
                  </a:extLst>
                </a:gridCol>
                <a:gridCol w="694944">
                  <a:extLst>
                    <a:ext uri="{9D8B030D-6E8A-4147-A177-3AD203B41FA5}">
                      <a16:colId xmlns:a16="http://schemas.microsoft.com/office/drawing/2014/main" val="20006"/>
                    </a:ext>
                  </a:extLst>
                </a:gridCol>
                <a:gridCol w="3593592">
                  <a:extLst>
                    <a:ext uri="{9D8B030D-6E8A-4147-A177-3AD203B41FA5}">
                      <a16:colId xmlns:a16="http://schemas.microsoft.com/office/drawing/2014/main" val="20007"/>
                    </a:ext>
                  </a:extLst>
                </a:gridCol>
              </a:tblGrid>
              <a:tr h="237744">
                <a:tc>
                  <a:txBody>
                    <a:bodyPr/>
                    <a:lstStyle/>
                    <a:p>
                      <a:pPr algn="ctr">
                        <a:spcAft>
                          <a:spcPts val="0"/>
                        </a:spcAft>
                      </a:pPr>
                      <a:r>
                        <a:rPr sz="720"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資産名称</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種類</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取得年月</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数量</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取得価額</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期末簿価</a:t>
                      </a:r>
                    </a:p>
                  </a:txBody>
                  <a:tcPr marL="45720" marR="45720" marT="9144" marB="9144" anchor="ctr">
                    <a:solidFill>
                      <a:srgbClr val="0B3041"/>
                    </a:solidFill>
                  </a:tcPr>
                </a:tc>
                <a:tc>
                  <a:txBody>
                    <a:bodyPr/>
                    <a:lstStyle/>
                    <a:p>
                      <a:pPr algn="ctr">
                        <a:spcAft>
                          <a:spcPts val="0"/>
                        </a:spcAft>
                      </a:pPr>
                      <a:r>
                        <a:rPr sz="720" b="1">
                          <a:solidFill>
                            <a:srgbClr val="FFFFFF"/>
                          </a:solidFill>
                          <a:latin typeface="Arial"/>
                          <a:ea typeface="Arial"/>
                          <a:cs typeface="Arial"/>
                        </a:rPr>
                        <a:t>備考</a:t>
                      </a:r>
                    </a:p>
                  </a:txBody>
                  <a:tcPr marL="45720" marR="45720" marT="9144" marB="9144" anchor="ctr">
                    <a:solidFill>
                      <a:srgbClr val="0B3041"/>
                    </a:solidFill>
                  </a:tcPr>
                </a:tc>
                <a:extLst>
                  <a:ext uri="{0D108BD9-81ED-4DB2-BD59-A6C34878D82A}">
                    <a16:rowId xmlns:a16="http://schemas.microsoft.com/office/drawing/2014/main" val="10000"/>
                  </a:ext>
                </a:extLst>
              </a:tr>
              <a:tr h="214884">
                <a:tc>
                  <a:txBody>
                    <a:bodyPr/>
                    <a:lstStyle/>
                    <a:p>
                      <a:pPr algn="ctr">
                        <a:spcAft>
                          <a:spcPts val="0"/>
                        </a:spcAft>
                      </a:pPr>
                      <a:r>
                        <a:rPr sz="720"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ＳＵＳ製小型キルン（醤粉製造器）</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2026年8月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1基</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3,456</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3,456</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2026年5月期に取得。醤（ひしお）製造用</a:t>
                      </a:r>
                    </a:p>
                  </a:txBody>
                  <a:tcPr marL="45720" marR="45720" marT="9144" marB="9144" anchor="ctr">
                    <a:solidFill>
                      <a:srgbClr val="FFFFFF"/>
                    </a:solidFill>
                  </a:tcPr>
                </a:tc>
                <a:extLst>
                  <a:ext uri="{0D108BD9-81ED-4DB2-BD59-A6C34878D82A}">
                    <a16:rowId xmlns:a16="http://schemas.microsoft.com/office/drawing/2014/main" val="10001"/>
                  </a:ext>
                </a:extLst>
              </a:tr>
              <a:tr h="214884">
                <a:tc>
                  <a:txBody>
                    <a:bodyPr/>
                    <a:lstStyle/>
                    <a:p>
                      <a:pPr algn="ctr">
                        <a:spcAft>
                          <a:spcPts val="0"/>
                        </a:spcAft>
                      </a:pPr>
                      <a:r>
                        <a:rPr sz="720"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二連式石臼製粉機</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2024年10月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1,100</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763</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自家製粉の中核設備</a:t>
                      </a:r>
                    </a:p>
                  </a:txBody>
                  <a:tcPr marL="45720" marR="45720" marT="9144" marB="9144" anchor="ctr">
                    <a:solidFill>
                      <a:srgbClr val="FFFFFF"/>
                    </a:solidFill>
                  </a:tcPr>
                </a:tc>
                <a:extLst>
                  <a:ext uri="{0D108BD9-81ED-4DB2-BD59-A6C34878D82A}">
                    <a16:rowId xmlns:a16="http://schemas.microsoft.com/office/drawing/2014/main" val="10002"/>
                  </a:ext>
                </a:extLst>
              </a:tr>
              <a:tr h="214884">
                <a:tc>
                  <a:txBody>
                    <a:bodyPr/>
                    <a:lstStyle/>
                    <a:p>
                      <a:pPr algn="ctr">
                        <a:spcAft>
                          <a:spcPts val="0"/>
                        </a:spcAft>
                      </a:pPr>
                      <a:r>
                        <a:rPr sz="72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小麦製粉機</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2007年9月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1,200</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償却済</a:t>
                      </a:r>
                    </a:p>
                  </a:txBody>
                  <a:tcPr marL="45720" marR="45720" marT="9144" marB="9144" anchor="ctr">
                    <a:solidFill>
                      <a:srgbClr val="FFFFFF"/>
                    </a:solidFill>
                  </a:tcPr>
                </a:tc>
                <a:extLst>
                  <a:ext uri="{0D108BD9-81ED-4DB2-BD59-A6C34878D82A}">
                    <a16:rowId xmlns:a16="http://schemas.microsoft.com/office/drawing/2014/main" val="10003"/>
                  </a:ext>
                </a:extLst>
              </a:tr>
              <a:tr h="214884">
                <a:tc>
                  <a:txBody>
                    <a:bodyPr/>
                    <a:lstStyle/>
                    <a:p>
                      <a:pPr algn="ctr">
                        <a:spcAft>
                          <a:spcPts val="0"/>
                        </a:spcAft>
                      </a:pPr>
                      <a:r>
                        <a:rPr sz="720"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麺機ロール製造設備</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2007年5月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500</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償却済</a:t>
                      </a:r>
                    </a:p>
                  </a:txBody>
                  <a:tcPr marL="45720" marR="45720" marT="9144" marB="9144" anchor="ctr">
                    <a:solidFill>
                      <a:srgbClr val="FFFFFF"/>
                    </a:solidFill>
                  </a:tcPr>
                </a:tc>
                <a:extLst>
                  <a:ext uri="{0D108BD9-81ED-4DB2-BD59-A6C34878D82A}">
                    <a16:rowId xmlns:a16="http://schemas.microsoft.com/office/drawing/2014/main" val="10004"/>
                  </a:ext>
                </a:extLst>
              </a:tr>
              <a:tr h="214884">
                <a:tc>
                  <a:txBody>
                    <a:bodyPr/>
                    <a:lstStyle/>
                    <a:p>
                      <a:pPr algn="ctr">
                        <a:spcAft>
                          <a:spcPts val="0"/>
                        </a:spcAft>
                      </a:pPr>
                      <a:r>
                        <a:rPr sz="720" b="0">
                          <a:solidFill>
                            <a:srgbClr val="1A1A1A"/>
                          </a:solidFill>
                          <a:latin typeface="Arial"/>
                          <a:ea typeface="Arial"/>
                          <a:cs typeface="Arial"/>
                        </a:rPr>
                        <a:t>5</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ペレット薪ストーブ ＨＰＳ-110Ｓ型</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2024年12月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988</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549</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5"/>
                  </a:ext>
                </a:extLst>
              </a:tr>
              <a:tr h="214884">
                <a:tc>
                  <a:txBody>
                    <a:bodyPr/>
                    <a:lstStyle/>
                    <a:p>
                      <a:pPr algn="ctr">
                        <a:spcAft>
                          <a:spcPts val="0"/>
                        </a:spcAft>
                      </a:pPr>
                      <a:r>
                        <a:rPr sz="720" b="0">
                          <a:solidFill>
                            <a:srgbClr val="1A1A1A"/>
                          </a:solidFill>
                          <a:latin typeface="Arial"/>
                          <a:ea typeface="Arial"/>
                          <a:cs typeface="Arial"/>
                        </a:rPr>
                        <a:t>6</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ペレットストーブ（設置工事含む）</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2022年6月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1組</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968</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191</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6"/>
                  </a:ext>
                </a:extLst>
              </a:tr>
              <a:tr h="214884">
                <a:tc>
                  <a:txBody>
                    <a:bodyPr/>
                    <a:lstStyle/>
                    <a:p>
                      <a:pPr algn="ctr">
                        <a:spcAft>
                          <a:spcPts val="0"/>
                        </a:spcAft>
                      </a:pPr>
                      <a:r>
                        <a:rPr sz="720" b="0">
                          <a:solidFill>
                            <a:srgbClr val="1A1A1A"/>
                          </a:solidFill>
                          <a:latin typeface="Arial"/>
                          <a:ea typeface="Arial"/>
                          <a:cs typeface="Arial"/>
                        </a:rPr>
                        <a:t>7</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自動火災報知設備（無線式）</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2021年5月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1式</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2,420</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882</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7"/>
                  </a:ext>
                </a:extLst>
              </a:tr>
              <a:tr h="214884">
                <a:tc>
                  <a:txBody>
                    <a:bodyPr/>
                    <a:lstStyle/>
                    <a:p>
                      <a:pPr algn="ctr">
                        <a:spcAft>
                          <a:spcPts val="0"/>
                        </a:spcAft>
                      </a:pPr>
                      <a:r>
                        <a:rPr sz="720" b="0">
                          <a:solidFill>
                            <a:srgbClr val="1A1A1A"/>
                          </a:solidFill>
                          <a:latin typeface="Arial"/>
                          <a:ea typeface="Arial"/>
                          <a:cs typeface="Arial"/>
                        </a:rPr>
                        <a:t>8</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縁側席工事</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2020年11月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1式</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1,400</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618</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コロナ禍の客席拡張</a:t>
                      </a:r>
                    </a:p>
                  </a:txBody>
                  <a:tcPr marL="45720" marR="45720" marT="9144" marB="9144" anchor="ctr">
                    <a:solidFill>
                      <a:srgbClr val="FFFFFF"/>
                    </a:solidFill>
                  </a:tcPr>
                </a:tc>
                <a:extLst>
                  <a:ext uri="{0D108BD9-81ED-4DB2-BD59-A6C34878D82A}">
                    <a16:rowId xmlns:a16="http://schemas.microsoft.com/office/drawing/2014/main" val="10008"/>
                  </a:ext>
                </a:extLst>
              </a:tr>
              <a:tr h="214884">
                <a:tc>
                  <a:txBody>
                    <a:bodyPr/>
                    <a:lstStyle/>
                    <a:p>
                      <a:pPr algn="ctr">
                        <a:spcAft>
                          <a:spcPts val="0"/>
                        </a:spcAft>
                      </a:pPr>
                      <a:r>
                        <a:rPr sz="720" b="0">
                          <a:solidFill>
                            <a:srgbClr val="1A1A1A"/>
                          </a:solidFill>
                          <a:latin typeface="Arial"/>
                          <a:ea typeface="Arial"/>
                          <a:cs typeface="Arial"/>
                        </a:rPr>
                        <a:t>9</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業務用冷蔵設備（コンデンシングユニット等）</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2018年9月〜2021年4月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3台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1,676</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626</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9"/>
                  </a:ext>
                </a:extLst>
              </a:tr>
              <a:tr h="214884">
                <a:tc>
                  <a:txBody>
                    <a:bodyPr/>
                    <a:lstStyle/>
                    <a:p>
                      <a:pPr algn="ctr">
                        <a:spcAft>
                          <a:spcPts val="0"/>
                        </a:spcAft>
                      </a:pPr>
                      <a:r>
                        <a:rPr sz="720" b="0">
                          <a:solidFill>
                            <a:srgbClr val="1A1A1A"/>
                          </a:solidFill>
                          <a:latin typeface="Arial"/>
                          <a:ea typeface="Arial"/>
                          <a:cs typeface="Arial"/>
                        </a:rPr>
                        <a:t>10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暖房設備一式・玄そば脱皮機・磨き機・石抜き機ほか</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2002年2月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一式</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15,084</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892</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開業時に導入。多くは償却済</a:t>
                      </a:r>
                    </a:p>
                  </a:txBody>
                  <a:tcPr marL="45720" marR="45720" marT="9144" marB="9144" anchor="ctr">
                    <a:solidFill>
                      <a:srgbClr val="FFFFFF"/>
                    </a:solidFill>
                  </a:tcPr>
                </a:tc>
                <a:extLst>
                  <a:ext uri="{0D108BD9-81ED-4DB2-BD59-A6C34878D82A}">
                    <a16:rowId xmlns:a16="http://schemas.microsoft.com/office/drawing/2014/main" val="10010"/>
                  </a:ext>
                </a:extLst>
              </a:tr>
              <a:tr h="214884">
                <a:tc>
                  <a:txBody>
                    <a:bodyPr/>
                    <a:lstStyle/>
                    <a:p>
                      <a:pPr algn="ctr">
                        <a:spcAft>
                          <a:spcPts val="0"/>
                        </a:spcAft>
                      </a:pPr>
                      <a:r>
                        <a:rPr sz="720" b="0">
                          <a:solidFill>
                            <a:srgbClr val="1A1A1A"/>
                          </a:solidFill>
                          <a:latin typeface="Arial"/>
                          <a:ea typeface="Arial"/>
                          <a:cs typeface="Arial"/>
                        </a:rPr>
                        <a:t>11</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テーブル61個・イス22脚・クッション94個ほか</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2002年2月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2,495</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償却済。客席什器</a:t>
                      </a:r>
                    </a:p>
                  </a:txBody>
                  <a:tcPr marL="45720" marR="45720" marT="9144" marB="9144" anchor="ctr">
                    <a:solidFill>
                      <a:srgbClr val="FFFFFF"/>
                    </a:solidFill>
                  </a:tcPr>
                </a:tc>
                <a:extLst>
                  <a:ext uri="{0D108BD9-81ED-4DB2-BD59-A6C34878D82A}">
                    <a16:rowId xmlns:a16="http://schemas.microsoft.com/office/drawing/2014/main" val="10011"/>
                  </a:ext>
                </a:extLst>
              </a:tr>
              <a:tr h="214884">
                <a:tc>
                  <a:txBody>
                    <a:bodyPr/>
                    <a:lstStyle/>
                    <a:p>
                      <a:pPr algn="ctr">
                        <a:spcAft>
                          <a:spcPts val="0"/>
                        </a:spcAft>
                      </a:pPr>
                      <a:r>
                        <a:rPr sz="720" b="0">
                          <a:solidFill>
                            <a:srgbClr val="1A1A1A"/>
                          </a:solidFill>
                          <a:latin typeface="Arial"/>
                          <a:ea typeface="Arial"/>
                          <a:cs typeface="Arial"/>
                        </a:rPr>
                        <a:t>12</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ローバー車</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車両運搬具</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2000年1月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3,802</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償却済。事業供用の実態・時価は要確認</a:t>
                      </a:r>
                    </a:p>
                  </a:txBody>
                  <a:tcPr marL="45720" marR="45720" marT="9144" marB="9144" anchor="ctr">
                    <a:solidFill>
                      <a:srgbClr val="FFFFFF"/>
                    </a:solidFill>
                  </a:tcPr>
                </a:tc>
                <a:extLst>
                  <a:ext uri="{0D108BD9-81ED-4DB2-BD59-A6C34878D82A}">
                    <a16:rowId xmlns:a16="http://schemas.microsoft.com/office/drawing/2014/main" val="10012"/>
                  </a:ext>
                </a:extLst>
              </a:tr>
              <a:tr h="214884">
                <a:tc>
                  <a:txBody>
                    <a:bodyPr/>
                    <a:lstStyle/>
                    <a:p>
                      <a:pPr algn="ctr">
                        <a:spcAft>
                          <a:spcPts val="0"/>
                        </a:spcAft>
                      </a:pPr>
                      <a:r>
                        <a:rPr sz="720" b="0">
                          <a:solidFill>
                            <a:srgbClr val="1A1A1A"/>
                          </a:solidFill>
                          <a:latin typeface="Arial"/>
                          <a:ea typeface="Arial"/>
                          <a:cs typeface="Arial"/>
                        </a:rPr>
                        <a:t>13</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シトロエン2ＣＶフォルゴネット</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車両運搬具</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2018年9月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3,497</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償却済。クラシックカーであり時価評価余地あり（要確認）</a:t>
                      </a:r>
                    </a:p>
                  </a:txBody>
                  <a:tcPr marL="45720" marR="45720" marT="9144" marB="9144" anchor="ctr">
                    <a:solidFill>
                      <a:srgbClr val="FFFFFF"/>
                    </a:solidFill>
                  </a:tcPr>
                </a:tc>
                <a:extLst>
                  <a:ext uri="{0D108BD9-81ED-4DB2-BD59-A6C34878D82A}">
                    <a16:rowId xmlns:a16="http://schemas.microsoft.com/office/drawing/2014/main" val="10013"/>
                  </a:ext>
                </a:extLst>
              </a:tr>
              <a:tr h="214884">
                <a:tc>
                  <a:txBody>
                    <a:bodyPr/>
                    <a:lstStyle/>
                    <a:p>
                      <a:pPr algn="ctr">
                        <a:spcAft>
                          <a:spcPts val="0"/>
                        </a:spcAft>
                      </a:pPr>
                      <a:r>
                        <a:rPr sz="720" b="0">
                          <a:solidFill>
                            <a:srgbClr val="1A1A1A"/>
                          </a:solidFill>
                          <a:latin typeface="Arial"/>
                          <a:ea typeface="Arial"/>
                          <a:cs typeface="Arial"/>
                        </a:rPr>
                        <a:t>14</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そば打ち台（木製・大型）</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2台</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現地実査。こね鉢（朱塗り）・そば包丁3丁・こま板・のし棒掛け・専用シンクを併</a:t>
                      </a:r>
                    </a:p>
                  </a:txBody>
                  <a:tcPr marL="45720" marR="45720" marT="9144" marB="9144" anchor="ctr">
                    <a:solidFill>
                      <a:srgbClr val="FFFFFF"/>
                    </a:solidFill>
                  </a:tcPr>
                </a:tc>
                <a:extLst>
                  <a:ext uri="{0D108BD9-81ED-4DB2-BD59-A6C34878D82A}">
                    <a16:rowId xmlns:a16="http://schemas.microsoft.com/office/drawing/2014/main" val="10014"/>
                  </a:ext>
                </a:extLst>
              </a:tr>
              <a:tr h="214884">
                <a:tc>
                  <a:txBody>
                    <a:bodyPr/>
                    <a:lstStyle/>
                    <a:p>
                      <a:pPr algn="ctr">
                        <a:spcAft>
                          <a:spcPts val="0"/>
                        </a:spcAft>
                      </a:pPr>
                      <a:r>
                        <a:rPr sz="720" b="0">
                          <a:solidFill>
                            <a:srgbClr val="1A1A1A"/>
                          </a:solidFill>
                          <a:latin typeface="Arial"/>
                          <a:ea typeface="Arial"/>
                          <a:cs typeface="Arial"/>
                        </a:rPr>
                        <a:t>15</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電動石臼製粉機（金属フレーム）</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現地実査。台帳の「小麦製粉機」等との対応関係は要確認</a:t>
                      </a:r>
                    </a:p>
                  </a:txBody>
                  <a:tcPr marL="45720" marR="45720" marT="9144" marB="9144" anchor="ctr">
                    <a:solidFill>
                      <a:srgbClr val="FFFFFF"/>
                    </a:solidFill>
                  </a:tcPr>
                </a:tc>
                <a:extLst>
                  <a:ext uri="{0D108BD9-81ED-4DB2-BD59-A6C34878D82A}">
                    <a16:rowId xmlns:a16="http://schemas.microsoft.com/office/drawing/2014/main" val="10015"/>
                  </a:ext>
                </a:extLst>
              </a:tr>
              <a:tr h="214884">
                <a:tc>
                  <a:txBody>
                    <a:bodyPr/>
                    <a:lstStyle/>
                    <a:p>
                      <a:pPr algn="ctr">
                        <a:spcAft>
                          <a:spcPts val="0"/>
                        </a:spcAft>
                      </a:pPr>
                      <a:r>
                        <a:rPr sz="720" b="0">
                          <a:solidFill>
                            <a:srgbClr val="1A1A1A"/>
                          </a:solidFill>
                          <a:latin typeface="Arial"/>
                          <a:ea typeface="Arial"/>
                          <a:cs typeface="Arial"/>
                        </a:rPr>
                        <a:t>16</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木製石臼製粉機</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現地実査。木枠造作の自家仕様機。台帳との対応関係は要確認</a:t>
                      </a:r>
                    </a:p>
                  </a:txBody>
                  <a:tcPr marL="45720" marR="45720" marT="9144" marB="9144" anchor="ctr">
                    <a:solidFill>
                      <a:srgbClr val="FFFFFF"/>
                    </a:solidFill>
                  </a:tcPr>
                </a:tc>
                <a:extLst>
                  <a:ext uri="{0D108BD9-81ED-4DB2-BD59-A6C34878D82A}">
                    <a16:rowId xmlns:a16="http://schemas.microsoft.com/office/drawing/2014/main" val="10016"/>
                  </a:ext>
                </a:extLst>
              </a:tr>
              <a:tr h="214884">
                <a:tc>
                  <a:txBody>
                    <a:bodyPr/>
                    <a:lstStyle/>
                    <a:p>
                      <a:pPr algn="ctr">
                        <a:spcAft>
                          <a:spcPts val="0"/>
                        </a:spcAft>
                      </a:pPr>
                      <a:r>
                        <a:rPr sz="720" b="0">
                          <a:solidFill>
                            <a:srgbClr val="1A1A1A"/>
                          </a:solidFill>
                          <a:latin typeface="Arial"/>
                          <a:ea typeface="Arial"/>
                          <a:cs typeface="Arial"/>
                        </a:rPr>
                        <a:t>17</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石板（大理石）作業台・ふるい・粉箱</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一式</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a:t>
                      </a:r>
                    </a:p>
                  </a:txBody>
                  <a:tcPr marL="45720" marR="45720" marT="9144" marB="9144" anchor="ctr">
                    <a:solidFill>
                      <a:srgbClr val="FFFFFF"/>
                    </a:solidFill>
                  </a:tcPr>
                </a:tc>
                <a:extLst>
                  <a:ext uri="{0D108BD9-81ED-4DB2-BD59-A6C34878D82A}">
                    <a16:rowId xmlns:a16="http://schemas.microsoft.com/office/drawing/2014/main" val="10017"/>
                  </a:ext>
                </a:extLst>
              </a:tr>
              <a:tr h="214884">
                <a:tc>
                  <a:txBody>
                    <a:bodyPr/>
                    <a:lstStyle/>
                    <a:p>
                      <a:pPr algn="ctr">
                        <a:spcAft>
                          <a:spcPts val="0"/>
                        </a:spcAft>
                      </a:pPr>
                      <a:r>
                        <a:rPr sz="720" b="0">
                          <a:solidFill>
                            <a:srgbClr val="1A1A1A"/>
                          </a:solidFill>
                          <a:latin typeface="Arial"/>
                          <a:ea typeface="Arial"/>
                          <a:cs typeface="Arial"/>
                        </a:rPr>
                        <a:t>18</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玄そば定温保管庫（冷却ユニット付）</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1室</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現地実査。木造・断熱仕様。茨城県産玄そば／常陸秋そばを袋単位で保管</a:t>
                      </a:r>
                    </a:p>
                  </a:txBody>
                  <a:tcPr marL="45720" marR="45720" marT="9144" marB="9144" anchor="ctr">
                    <a:solidFill>
                      <a:srgbClr val="FFFFFF"/>
                    </a:solidFill>
                  </a:tcPr>
                </a:tc>
                <a:extLst>
                  <a:ext uri="{0D108BD9-81ED-4DB2-BD59-A6C34878D82A}">
                    <a16:rowId xmlns:a16="http://schemas.microsoft.com/office/drawing/2014/main" val="10018"/>
                  </a:ext>
                </a:extLst>
              </a:tr>
              <a:tr h="214884">
                <a:tc>
                  <a:txBody>
                    <a:bodyPr/>
                    <a:lstStyle/>
                    <a:p>
                      <a:pPr algn="ctr">
                        <a:spcAft>
                          <a:spcPts val="0"/>
                        </a:spcAft>
                      </a:pPr>
                      <a:r>
                        <a:rPr sz="720" b="0">
                          <a:solidFill>
                            <a:srgbClr val="1A1A1A"/>
                          </a:solidFill>
                          <a:latin typeface="Arial"/>
                          <a:ea typeface="Arial"/>
                          <a:cs typeface="Arial"/>
                        </a:rPr>
                        <a:t>19</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薪ストーブ（鋳物）</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2022年6月・2024年12月</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2台</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1,956</a:t>
                      </a:r>
                    </a:p>
                  </a:txBody>
                  <a:tcPr marL="45720" marR="45720" marT="9144" marB="9144" anchor="ctr">
                    <a:solidFill>
                      <a:srgbClr val="FFFFFF"/>
                    </a:solidFill>
                  </a:tcPr>
                </a:tc>
                <a:tc>
                  <a:txBody>
                    <a:bodyPr/>
                    <a:lstStyle/>
                    <a:p>
                      <a:pPr algn="r">
                        <a:spcAft>
                          <a:spcPts val="0"/>
                        </a:spcAft>
                      </a:pPr>
                      <a:r>
                        <a:rPr sz="720" b="0">
                          <a:solidFill>
                            <a:srgbClr val="1A1A1A"/>
                          </a:solidFill>
                          <a:latin typeface="Arial"/>
                          <a:ea typeface="Arial"/>
                          <a:cs typeface="Arial"/>
                        </a:rPr>
                        <a:t>741</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台帳の「ペレットストーブ」「ペレット薪ストーブHPS-110S型」に対応</a:t>
                      </a:r>
                    </a:p>
                  </a:txBody>
                  <a:tcPr marL="45720" marR="45720" marT="9144" marB="9144" anchor="ctr">
                    <a:solidFill>
                      <a:srgbClr val="FFFFFF"/>
                    </a:solidFill>
                  </a:tcPr>
                </a:tc>
                <a:extLst>
                  <a:ext uri="{0D108BD9-81ED-4DB2-BD59-A6C34878D82A}">
                    <a16:rowId xmlns:a16="http://schemas.microsoft.com/office/drawing/2014/main" val="10019"/>
                  </a:ext>
                </a:extLst>
              </a:tr>
              <a:tr h="214884">
                <a:tc>
                  <a:txBody>
                    <a:bodyPr/>
                    <a:lstStyle/>
                    <a:p>
                      <a:pPr algn="ctr">
                        <a:spcAft>
                          <a:spcPts val="0"/>
                        </a:spcAft>
                      </a:pPr>
                      <a:r>
                        <a:rPr sz="720" b="0">
                          <a:solidFill>
                            <a:srgbClr val="1A1A1A"/>
                          </a:solidFill>
                          <a:latin typeface="Arial"/>
                          <a:ea typeface="Arial"/>
                          <a:cs typeface="Arial"/>
                        </a:rPr>
                        <a:t>20</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座敷座卓・座布団・囲炉裏</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ctr">
                        <a:spcAft>
                          <a:spcPts val="0"/>
                        </a:spcAft>
                      </a:pPr>
                      <a:r>
                        <a:rPr sz="720" b="0">
                          <a:solidFill>
                            <a:srgbClr val="1A1A1A"/>
                          </a:solidFill>
                          <a:latin typeface="游ゴシック"/>
                          <a:ea typeface="游ゴシック"/>
                          <a:cs typeface="游ゴシック"/>
                        </a:rPr>
                        <a:t>座卓6卓程度</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720" b="0">
                          <a:solidFill>
                            <a:srgbClr val="1A1A1A"/>
                          </a:solidFill>
                          <a:latin typeface="游ゴシック"/>
                          <a:ea typeface="游ゴシック"/>
                          <a:cs typeface="游ゴシック"/>
                        </a:rPr>
                        <a:t>現地実査。畳敷の座敷に囲炉裏を設置</a:t>
                      </a:r>
                    </a:p>
                  </a:txBody>
                  <a:tcPr marL="45720" marR="45720" marT="9144" marB="9144" anchor="ctr">
                    <a:solidFill>
                      <a:srgbClr val="FFFFFF"/>
                    </a:solidFill>
                  </a:tcPr>
                </a:tc>
                <a:extLst>
                  <a:ext uri="{0D108BD9-81ED-4DB2-BD59-A6C34878D82A}">
                    <a16:rowId xmlns:a16="http://schemas.microsoft.com/office/drawing/2014/main" val="10020"/>
                  </a:ext>
                </a:extLst>
              </a:tr>
            </a:tbl>
          </a:graphicData>
        </a:graphic>
      </p:graphicFrame>
      <p:sp>
        <p:nvSpPr>
          <p:cNvPr id="15" name="TextBox 14"/>
          <p:cNvSpPr txBox="1"/>
          <p:nvPr/>
        </p:nvSpPr>
        <p:spPr>
          <a:xfrm>
            <a:off x="310896" y="627278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単位：千円。No.1〜15は2026年5月期 固定資産減価償却内訳明細書からの抜粋、No.16〜22は現地実査により把握した資産です。</a:t>
            </a:r>
          </a:p>
          <a:p>
            <a:pPr algn="l">
              <a:lnSpc>
                <a:spcPct val="112000"/>
              </a:lnSpc>
              <a:spcAft>
                <a:spcPts val="100"/>
              </a:spcAft>
            </a:pPr>
            <a:r>
              <a:rPr sz="750" b="0">
                <a:solidFill>
                  <a:srgbClr val="5A6670"/>
                </a:solidFill>
                <a:latin typeface="游ゴシック"/>
                <a:ea typeface="游ゴシック"/>
                <a:cs typeface="游ゴシック"/>
              </a:rPr>
              <a:t>※ 後者は固定資産台帳との対応関係が未整理であり、取得年月・取得価額は要確認です。固定資産全体の取得価額合計は180,709千円、期末簿価合計は45,716千円です。</a:t>
            </a:r>
          </a:p>
        </p:txBody>
      </p:sp>
      <p:sp>
        <p:nvSpPr>
          <p:cNvPr id="3" name="タイトル 1">
            <a:extLst>
              <a:ext uri="{FF2B5EF4-FFF2-40B4-BE49-F238E27FC236}">
                <a16:creationId xmlns:a16="http://schemas.microsoft.com/office/drawing/2014/main" id="{BC27D0B4-D9A3-A9F2-64AE-3C7FC8BDA3B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915540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知的財産・許認可</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組織、拠点、設備等</a:t>
            </a:r>
            <a:endParaRPr sz="1200" b="1" dirty="0">
              <a:solidFill>
                <a:schemeClr val="bg1"/>
              </a:solidFill>
              <a:latin typeface="游ゴシック"/>
              <a:ea typeface="游ゴシック"/>
              <a:cs typeface="游ゴシック"/>
            </a:endParaRP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「慈久庵」「古式けんちんそば」等の商標を4件保有。ブランド価値の法的な裏付けであり、登録原簿の取得と権利範囲の確認が本件の優先確認事項</a:t>
            </a:r>
            <a:endParaRPr lang="en-US" altLang="ja-JP" dirty="0"/>
          </a:p>
        </p:txBody>
      </p:sp>
      <p:graphicFrame>
        <p:nvGraphicFramePr>
          <p:cNvPr id="14" name="Table 13"/>
          <p:cNvGraphicFramePr>
            <a:graphicFrameLocks noGrp="1"/>
          </p:cNvGraphicFramePr>
          <p:nvPr/>
        </p:nvGraphicFramePr>
        <p:xfrm>
          <a:off x="310896" y="1463040"/>
          <a:ext cx="10067544" cy="4078224"/>
        </p:xfrm>
        <a:graphic>
          <a:graphicData uri="http://schemas.openxmlformats.org/drawingml/2006/table">
            <a:tbl>
              <a:tblPr>
                <a:tableStyleId>{5940675A-B579-460E-94D1-54222C63F5DA}</a:tableStyleId>
              </a:tblPr>
              <a:tblGrid>
                <a:gridCol w="1115568">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566928">
                  <a:extLst>
                    <a:ext uri="{9D8B030D-6E8A-4147-A177-3AD203B41FA5}">
                      <a16:colId xmlns:a16="http://schemas.microsoft.com/office/drawing/2014/main" val="20003"/>
                    </a:ext>
                  </a:extLst>
                </a:gridCol>
                <a:gridCol w="4581144">
                  <a:extLst>
                    <a:ext uri="{9D8B030D-6E8A-4147-A177-3AD203B41FA5}">
                      <a16:colId xmlns:a16="http://schemas.microsoft.com/office/drawing/2014/main" val="20004"/>
                    </a:ext>
                  </a:extLst>
                </a:gridCol>
              </a:tblGrid>
              <a:tr h="237744">
                <a:tc>
                  <a:txBody>
                    <a:bodyPr/>
                    <a:lstStyle/>
                    <a:p>
                      <a:pPr algn="ctr">
                        <a:spcAft>
                          <a:spcPts val="0"/>
                        </a:spcAft>
                      </a:pPr>
                      <a:r>
                        <a:rPr sz="840" b="1">
                          <a:solidFill>
                            <a:srgbClr val="FFFFFF"/>
                          </a:solidFill>
                          <a:latin typeface="游ゴシック"/>
                          <a:ea typeface="游ゴシック"/>
                          <a:cs typeface="游ゴシック"/>
                        </a:rPr>
                        <a:t>区分</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取得・時期</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簿価</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確認状況</a:t>
                      </a:r>
                    </a:p>
                  </a:txBody>
                  <a:tcPr marL="45720" marR="45720" marT="9144" marB="9144" anchor="ctr">
                    <a:solidFill>
                      <a:srgbClr val="0B3041"/>
                    </a:solidFill>
                  </a:tcPr>
                </a:tc>
                <a:extLst>
                  <a:ext uri="{0D108BD9-81ED-4DB2-BD59-A6C34878D82A}">
                    <a16:rowId xmlns:a16="http://schemas.microsoft.com/office/drawing/2014/main" val="10000"/>
                  </a:ext>
                </a:extLst>
              </a:tr>
              <a:tr h="548640">
                <a:tc>
                  <a:txBody>
                    <a:bodyPr/>
                    <a:lstStyle/>
                    <a:p>
                      <a:pPr algn="l">
                        <a:spcAft>
                          <a:spcPts val="0"/>
                        </a:spcAft>
                      </a:pPr>
                      <a:r>
                        <a:rPr sz="840" b="0">
                          <a:solidFill>
                            <a:srgbClr val="1A1A1A"/>
                          </a:solidFill>
                          <a:latin typeface="游ゴシック"/>
                          <a:ea typeface="游ゴシック"/>
                          <a:cs typeface="游ゴシック"/>
                        </a:rPr>
                        <a:t>商標権</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商標登録4件。「慈久庵」「古式けんちんそば」「古式健珍蕎麦」等</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2011年12月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0円</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登録番号・区分・指定商品役務・存続期間は未確認。登録原簿の取得が必要</a:t>
                      </a:r>
                    </a:p>
                  </a:txBody>
                  <a:tcPr marL="45720" marR="45720" marT="9144" marB="9144" anchor="ctr">
                    <a:solidFill>
                      <a:srgbClr val="FFFFFF"/>
                    </a:solidFill>
                  </a:tcPr>
                </a:tc>
                <a:extLst>
                  <a:ext uri="{0D108BD9-81ED-4DB2-BD59-A6C34878D82A}">
                    <a16:rowId xmlns:a16="http://schemas.microsoft.com/office/drawing/2014/main" val="10001"/>
                  </a:ext>
                </a:extLst>
              </a:tr>
              <a:tr h="548640">
                <a:tc>
                  <a:txBody>
                    <a:bodyPr/>
                    <a:lstStyle/>
                    <a:p>
                      <a:pPr algn="l">
                        <a:spcAft>
                          <a:spcPts val="0"/>
                        </a:spcAft>
                      </a:pPr>
                      <a:r>
                        <a:rPr sz="840" b="0">
                          <a:solidFill>
                            <a:srgbClr val="1A1A1A"/>
                          </a:solidFill>
                          <a:latin typeface="游ゴシック"/>
                          <a:ea typeface="游ゴシック"/>
                          <a:cs typeface="游ゴシック"/>
                        </a:rPr>
                        <a:t>商標の維持</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松田国際特許事務所へ年間60千円を支払（販管費・支払手数料）</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継続</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支払内容の内訳（更新料・管理料の別）は要確認</a:t>
                      </a:r>
                    </a:p>
                  </a:txBody>
                  <a:tcPr marL="45720" marR="45720" marT="9144" marB="9144" anchor="ctr">
                    <a:solidFill>
                      <a:srgbClr val="FFFFFF"/>
                    </a:solidFill>
                  </a:tcPr>
                </a:tc>
                <a:extLst>
                  <a:ext uri="{0D108BD9-81ED-4DB2-BD59-A6C34878D82A}">
                    <a16:rowId xmlns:a16="http://schemas.microsoft.com/office/drawing/2014/main" val="10002"/>
                  </a:ext>
                </a:extLst>
              </a:tr>
              <a:tr h="548640">
                <a:tc>
                  <a:txBody>
                    <a:bodyPr/>
                    <a:lstStyle/>
                    <a:p>
                      <a:pPr algn="l">
                        <a:spcAft>
                          <a:spcPts val="0"/>
                        </a:spcAft>
                      </a:pPr>
                      <a:r>
                        <a:rPr sz="840" b="0">
                          <a:solidFill>
                            <a:srgbClr val="1A1A1A"/>
                          </a:solidFill>
                          <a:latin typeface="游ゴシック"/>
                          <a:ea typeface="游ゴシック"/>
                          <a:cs typeface="游ゴシック"/>
                        </a:rPr>
                        <a:t>商標の展開</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「古式けんちんそば」の商標展開を約7年前に開始（面談ヒアリング）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2019年頃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登録状況・使用許諾の有無は要確認</a:t>
                      </a:r>
                    </a:p>
                  </a:txBody>
                  <a:tcPr marL="45720" marR="45720" marT="9144" marB="9144" anchor="ctr">
                    <a:solidFill>
                      <a:srgbClr val="FFFFFF"/>
                    </a:solidFill>
                  </a:tcPr>
                </a:tc>
                <a:extLst>
                  <a:ext uri="{0D108BD9-81ED-4DB2-BD59-A6C34878D82A}">
                    <a16:rowId xmlns:a16="http://schemas.microsoft.com/office/drawing/2014/main" val="10003"/>
                  </a:ext>
                </a:extLst>
              </a:tr>
              <a:tr h="548640">
                <a:tc>
                  <a:txBody>
                    <a:bodyPr/>
                    <a:lstStyle/>
                    <a:p>
                      <a:pPr algn="l">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代表者著『小川宣夫の蕎麦・饂飩指南 ― 粗挽き蕎麦と石臼挽き饂飩』</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出版社・発行年・印税の帰属（法人／個人）は要確認</a:t>
                      </a:r>
                    </a:p>
                  </a:txBody>
                  <a:tcPr marL="45720" marR="45720" marT="9144" marB="9144" anchor="ctr">
                    <a:solidFill>
                      <a:srgbClr val="FFFFFF"/>
                    </a:solidFill>
                  </a:tcPr>
                </a:tc>
                <a:extLst>
                  <a:ext uri="{0D108BD9-81ED-4DB2-BD59-A6C34878D82A}">
                    <a16:rowId xmlns:a16="http://schemas.microsoft.com/office/drawing/2014/main" val="10004"/>
                  </a:ext>
                </a:extLst>
              </a:tr>
              <a:tr h="548640">
                <a:tc>
                  <a:txBody>
                    <a:bodyPr/>
                    <a:lstStyle/>
                    <a:p>
                      <a:pPr algn="l">
                        <a:spcAft>
                          <a:spcPts val="0"/>
                        </a:spcAft>
                      </a:pPr>
                      <a:r>
                        <a:rPr sz="840" b="0">
                          <a:solidFill>
                            <a:srgbClr val="1A1A1A"/>
                          </a:solidFill>
                          <a:latin typeface="游ゴシック"/>
                          <a:ea typeface="游ゴシック"/>
                          <a:cs typeface="游ゴシック"/>
                        </a:rPr>
                        <a:t>飲食店営業許可</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常陸太田市（所管保健所）</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許可証の写しが未受領。承継手続・所要期間の確認が必要</a:t>
                      </a:r>
                    </a:p>
                  </a:txBody>
                  <a:tcPr marL="45720" marR="45720" marT="9144" marB="9144" anchor="ctr">
                    <a:solidFill>
                      <a:srgbClr val="FFFFFF"/>
                    </a:solidFill>
                  </a:tcPr>
                </a:tc>
                <a:extLst>
                  <a:ext uri="{0D108BD9-81ED-4DB2-BD59-A6C34878D82A}">
                    <a16:rowId xmlns:a16="http://schemas.microsoft.com/office/drawing/2014/main" val="10005"/>
                  </a:ext>
                </a:extLst>
              </a:tr>
              <a:tr h="548640">
                <a:tc>
                  <a:txBody>
                    <a:bodyPr/>
                    <a:lstStyle/>
                    <a:p>
                      <a:pPr algn="l">
                        <a:spcAft>
                          <a:spcPts val="0"/>
                        </a:spcAft>
                      </a:pPr>
                      <a:r>
                        <a:rPr sz="840" b="0">
                          <a:solidFill>
                            <a:srgbClr val="1A1A1A"/>
                          </a:solidFill>
                          <a:latin typeface="游ゴシック"/>
                          <a:ea typeface="游ゴシック"/>
                          <a:cs typeface="游ゴシック"/>
                        </a:rPr>
                        <a:t>食品製造の許可</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菓子製造業・そうざい製造業等（乾麺・そばつゆ・醤の製造販売に関連）</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要否・取得状況ともに未確認。物販の拡販可否を左右する</a:t>
                      </a:r>
                    </a:p>
                  </a:txBody>
                  <a:tcPr marL="45720" marR="45720" marT="9144" marB="9144" anchor="ctr">
                    <a:solidFill>
                      <a:srgbClr val="FFFFFF"/>
                    </a:solidFill>
                  </a:tcPr>
                </a:tc>
                <a:extLst>
                  <a:ext uri="{0D108BD9-81ED-4DB2-BD59-A6C34878D82A}">
                    <a16:rowId xmlns:a16="http://schemas.microsoft.com/office/drawing/2014/main" val="10006"/>
                  </a:ext>
                </a:extLst>
              </a:tr>
              <a:tr h="548640">
                <a:tc>
                  <a:txBody>
                    <a:bodyPr/>
                    <a:lstStyle/>
                    <a:p>
                      <a:pPr algn="l">
                        <a:spcAft>
                          <a:spcPts val="0"/>
                        </a:spcAft>
                      </a:pPr>
                      <a:r>
                        <a:rPr sz="840" b="0">
                          <a:solidFill>
                            <a:srgbClr val="1A1A1A"/>
                          </a:solidFill>
                          <a:latin typeface="游ゴシック"/>
                          <a:ea typeface="游ゴシック"/>
                          <a:cs typeface="游ゴシック"/>
                        </a:rPr>
                        <a:t>農地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焼き畑によるそば栽培に使用</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権利関係（所有／賃借）および本件譲渡対象の要否は要確認</a:t>
                      </a:r>
                    </a:p>
                  </a:txBody>
                  <a:tcPr marL="45720" marR="45720" marT="9144" marB="9144" anchor="ctr">
                    <a:solidFill>
                      <a:srgbClr val="FFFFFF"/>
                    </a:solidFill>
                  </a:tcPr>
                </a:tc>
                <a:extLst>
                  <a:ext uri="{0D108BD9-81ED-4DB2-BD59-A6C34878D82A}">
                    <a16:rowId xmlns:a16="http://schemas.microsoft.com/office/drawing/2014/main" val="10007"/>
                  </a:ext>
                </a:extLst>
              </a:tr>
            </a:tbl>
          </a:graphicData>
        </a:graphic>
      </p:graphicFrame>
      <p:sp>
        <p:nvSpPr>
          <p:cNvPr id="15" name="Rounded Rectangle 14"/>
          <p:cNvSpPr/>
          <p:nvPr/>
        </p:nvSpPr>
        <p:spPr>
          <a:xfrm>
            <a:off x="310896" y="5596128"/>
            <a:ext cx="10067544" cy="713232"/>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310896" y="5596128"/>
            <a:ext cx="1417320" cy="713232"/>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402336" y="5843016"/>
            <a:ext cx="1271016" cy="219456"/>
          </a:xfrm>
          <a:prstGeom prst="rect">
            <a:avLst/>
          </a:prstGeom>
          <a:noFill/>
        </p:spPr>
        <p:txBody>
          <a:bodyPr wrap="square" lIns="0" tIns="0" r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18" name="Oval 17"/>
          <p:cNvSpPr/>
          <p:nvPr/>
        </p:nvSpPr>
        <p:spPr>
          <a:xfrm>
            <a:off x="1883664"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19" name="TextBox 18"/>
          <p:cNvSpPr txBox="1"/>
          <p:nvPr/>
        </p:nvSpPr>
        <p:spPr>
          <a:xfrm>
            <a:off x="2194560" y="5760720"/>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商標はブランドの法的裏付け。買手の関心は「古式けんちんそば」の権利範囲に集中する</a:t>
            </a:r>
          </a:p>
        </p:txBody>
      </p:sp>
      <p:sp>
        <p:nvSpPr>
          <p:cNvPr id="20" name="Oval 19"/>
          <p:cNvSpPr/>
          <p:nvPr/>
        </p:nvSpPr>
        <p:spPr>
          <a:xfrm>
            <a:off x="4715256"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5026151" y="5760720"/>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営業許可の承継手続と所要期間は、クロージング日程を左右するため早期に確定させたい</a:t>
            </a:r>
          </a:p>
        </p:txBody>
      </p:sp>
      <p:sp>
        <p:nvSpPr>
          <p:cNvPr id="22" name="Oval 21"/>
          <p:cNvSpPr/>
          <p:nvPr/>
        </p:nvSpPr>
        <p:spPr>
          <a:xfrm>
            <a:off x="7546847"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7857743" y="5760720"/>
            <a:ext cx="2429255" cy="438912"/>
          </a:xfrm>
          <a:prstGeom prst="rect">
            <a:avLst/>
          </a:prstGeom>
          <a:noFill/>
        </p:spPr>
        <p:txBody>
          <a:bodyPr wrap="square" lIns="0" tIns="0" r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物販を伸ばす前提として、食品製造の許可の要否整理が必要</a:t>
            </a:r>
          </a:p>
        </p:txBody>
      </p:sp>
      <p:sp>
        <p:nvSpPr>
          <p:cNvPr id="24" name="TextBox 23"/>
          <p:cNvSpPr txBox="1"/>
          <p:nvPr/>
        </p:nvSpPr>
        <p:spPr>
          <a:xfrm>
            <a:off x="310896" y="6473952"/>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商標の件数・取得時期は法人登記簿および固定資産の状況、特許事務所への支払は総勘定元帳（支払手数料）に基づきます。</a:t>
            </a:r>
          </a:p>
          <a:p>
            <a:pPr algn="l">
              <a:lnSpc>
                <a:spcPct val="112000"/>
              </a:lnSpc>
              <a:spcAft>
                <a:spcPts val="100"/>
              </a:spcAft>
            </a:pPr>
            <a:r>
              <a:rPr sz="750" b="0">
                <a:solidFill>
                  <a:srgbClr val="5A6670"/>
                </a:solidFill>
                <a:latin typeface="游ゴシック"/>
                <a:ea typeface="游ゴシック"/>
                <a:cs typeface="游ゴシック"/>
              </a:rPr>
              <a:t>※ 本頁の「要確認」は案件マスター「その他」シートの No.7・No.15 に対応しています。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貸借対照表</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総資産は減価償却の進行により毎期減少。役員借入を3期で12,451千円返済し、純資産は23,658千円を維持</a:t>
            </a:r>
            <a:endParaRPr lang="en-US" altLang="ja-JP" dirty="0"/>
          </a:p>
        </p:txBody>
      </p:sp>
      <p:graphicFrame>
        <p:nvGraphicFramePr>
          <p:cNvPr id="14" name="Table 13"/>
          <p:cNvGraphicFramePr>
            <a:graphicFrameLocks noGrp="1"/>
          </p:cNvGraphicFramePr>
          <p:nvPr/>
        </p:nvGraphicFramePr>
        <p:xfrm>
          <a:off x="310896" y="1408176"/>
          <a:ext cx="4846316" cy="4165092"/>
        </p:xfrm>
        <a:graphic>
          <a:graphicData uri="http://schemas.openxmlformats.org/drawingml/2006/table">
            <a:tbl>
              <a:tblPr>
                <a:tableStyleId>{5940675A-B579-460E-94D1-54222C63F5DA}</a:tableStyleId>
              </a:tblPr>
              <a:tblGrid>
                <a:gridCol w="1993391">
                  <a:extLst>
                    <a:ext uri="{9D8B030D-6E8A-4147-A177-3AD203B41FA5}">
                      <a16:colId xmlns:a16="http://schemas.microsoft.com/office/drawing/2014/main" val="20000"/>
                    </a:ext>
                  </a:extLst>
                </a:gridCol>
                <a:gridCol w="950975">
                  <a:extLst>
                    <a:ext uri="{9D8B030D-6E8A-4147-A177-3AD203B41FA5}">
                      <a16:colId xmlns:a16="http://schemas.microsoft.com/office/drawing/2014/main" val="20001"/>
                    </a:ext>
                  </a:extLst>
                </a:gridCol>
                <a:gridCol w="950975">
                  <a:extLst>
                    <a:ext uri="{9D8B030D-6E8A-4147-A177-3AD203B41FA5}">
                      <a16:colId xmlns:a16="http://schemas.microsoft.com/office/drawing/2014/main" val="20002"/>
                    </a:ext>
                  </a:extLst>
                </a:gridCol>
                <a:gridCol w="950975">
                  <a:extLst>
                    <a:ext uri="{9D8B030D-6E8A-4147-A177-3AD203B41FA5}">
                      <a16:colId xmlns:a16="http://schemas.microsoft.com/office/drawing/2014/main" val="20003"/>
                    </a:ext>
                  </a:extLst>
                </a:gridCol>
              </a:tblGrid>
              <a:tr h="228600">
                <a:tc>
                  <a:txBody>
                    <a:bodyPr/>
                    <a:lstStyle/>
                    <a:p>
                      <a:pPr algn="ctr">
                        <a:spcAft>
                          <a:spcPts val="0"/>
                        </a:spcAft>
                      </a:pPr>
                      <a:r>
                        <a:rPr sz="79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187452">
                <a:tc>
                  <a:txBody>
                    <a:bodyPr/>
                    <a:lstStyle/>
                    <a:p>
                      <a:pPr algn="l">
                        <a:spcAft>
                          <a:spcPts val="0"/>
                        </a:spcAft>
                      </a:pPr>
                      <a:r>
                        <a:rPr sz="790" b="1">
                          <a:solidFill>
                            <a:srgbClr val="1A1A1A"/>
                          </a:solidFill>
                          <a:latin typeface="游ゴシック"/>
                          <a:ea typeface="游ゴシック"/>
                          <a:cs typeface="游ゴシック"/>
                        </a:rPr>
                        <a:t>【流動資産】</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7,856</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6,901</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6,989</a:t>
                      </a:r>
                    </a:p>
                  </a:txBody>
                  <a:tcPr marL="45720" marR="45720" marT="9144" marB="9144" anchor="ctr">
                    <a:solidFill>
                      <a:srgbClr val="FFFFFF"/>
                    </a:solidFill>
                  </a:tcPr>
                </a:tc>
                <a:extLst>
                  <a:ext uri="{0D108BD9-81ED-4DB2-BD59-A6C34878D82A}">
                    <a16:rowId xmlns:a16="http://schemas.microsoft.com/office/drawing/2014/main" val="10001"/>
                  </a:ext>
                </a:extLst>
              </a:tr>
              <a:tr h="187452">
                <a:tc>
                  <a:txBody>
                    <a:bodyPr/>
                    <a:lstStyle/>
                    <a:p>
                      <a:pPr algn="l">
                        <a:spcAft>
                          <a:spcPts val="0"/>
                        </a:spcAft>
                      </a:pPr>
                      <a:r>
                        <a:rPr sz="790" b="0">
                          <a:solidFill>
                            <a:srgbClr val="1A1A1A"/>
                          </a:solidFill>
                          <a:latin typeface="游ゴシック"/>
                          <a:ea typeface="游ゴシック"/>
                          <a:cs typeface="游ゴシック"/>
                        </a:rPr>
                        <a:t>　現金及び預金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2,107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1,064</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1,066</a:t>
                      </a:r>
                    </a:p>
                  </a:txBody>
                  <a:tcPr marL="45720" marR="45720" marT="9144" marB="9144" anchor="ctr">
                    <a:solidFill>
                      <a:srgbClr val="FFFFFF"/>
                    </a:solidFill>
                  </a:tcPr>
                </a:tc>
                <a:extLst>
                  <a:ext uri="{0D108BD9-81ED-4DB2-BD59-A6C34878D82A}">
                    <a16:rowId xmlns:a16="http://schemas.microsoft.com/office/drawing/2014/main" val="10002"/>
                  </a:ext>
                </a:extLst>
              </a:tr>
              <a:tr h="187452">
                <a:tc>
                  <a:txBody>
                    <a:bodyPr/>
                    <a:lstStyle/>
                    <a:p>
                      <a:pPr algn="l">
                        <a:spcAft>
                          <a:spcPts val="0"/>
                        </a:spcAft>
                      </a:pPr>
                      <a:r>
                        <a:rPr sz="790" b="0">
                          <a:solidFill>
                            <a:srgbClr val="1A1A1A"/>
                          </a:solidFill>
                          <a:latin typeface="游ゴシック"/>
                          <a:ea typeface="游ゴシック"/>
                          <a:cs typeface="游ゴシック"/>
                        </a:rPr>
                        <a:t>　棚卸資産</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3,518</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3,024</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2,354</a:t>
                      </a:r>
                    </a:p>
                  </a:txBody>
                  <a:tcPr marL="45720" marR="45720" marT="9144" marB="9144" anchor="ctr">
                    <a:solidFill>
                      <a:srgbClr val="FFFFFF"/>
                    </a:solidFill>
                  </a:tcPr>
                </a:tc>
                <a:extLst>
                  <a:ext uri="{0D108BD9-81ED-4DB2-BD59-A6C34878D82A}">
                    <a16:rowId xmlns:a16="http://schemas.microsoft.com/office/drawing/2014/main" val="10003"/>
                  </a:ext>
                </a:extLst>
              </a:tr>
              <a:tr h="187452">
                <a:tc>
                  <a:txBody>
                    <a:bodyPr/>
                    <a:lstStyle/>
                    <a:p>
                      <a:pPr algn="l">
                        <a:spcAft>
                          <a:spcPts val="0"/>
                        </a:spcAft>
                      </a:pPr>
                      <a:r>
                        <a:rPr sz="790" b="0">
                          <a:solidFill>
                            <a:srgbClr val="1A1A1A"/>
                          </a:solidFill>
                          <a:latin typeface="游ゴシック"/>
                          <a:ea typeface="游ゴシック"/>
                          <a:cs typeface="游ゴシック"/>
                        </a:rPr>
                        <a:t>　前払費用</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tcPr>
                </a:tc>
                <a:extLst>
                  <a:ext uri="{0D108BD9-81ED-4DB2-BD59-A6C34878D82A}">
                    <a16:rowId xmlns:a16="http://schemas.microsoft.com/office/drawing/2014/main" val="10004"/>
                  </a:ext>
                </a:extLst>
              </a:tr>
              <a:tr h="187452">
                <a:tc>
                  <a:txBody>
                    <a:bodyPr/>
                    <a:lstStyle/>
                    <a:p>
                      <a:pPr algn="l">
                        <a:spcAft>
                          <a:spcPts val="0"/>
                        </a:spcAft>
                      </a:pPr>
                      <a:r>
                        <a:rPr sz="790" b="0">
                          <a:solidFill>
                            <a:srgbClr val="1A1A1A"/>
                          </a:solidFill>
                          <a:latin typeface="游ゴシック"/>
                          <a:ea typeface="游ゴシック"/>
                          <a:cs typeface="游ゴシック"/>
                        </a:rPr>
                        <a:t>　未収入金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2,152</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2,737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3,323</a:t>
                      </a:r>
                    </a:p>
                  </a:txBody>
                  <a:tcPr marL="45720" marR="45720" marT="9144" marB="9144" anchor="ctr">
                    <a:solidFill>
                      <a:srgbClr val="FFFFFF"/>
                    </a:solidFill>
                  </a:tcPr>
                </a:tc>
                <a:extLst>
                  <a:ext uri="{0D108BD9-81ED-4DB2-BD59-A6C34878D82A}">
                    <a16:rowId xmlns:a16="http://schemas.microsoft.com/office/drawing/2014/main" val="10005"/>
                  </a:ext>
                </a:extLst>
              </a:tr>
              <a:tr h="187452">
                <a:tc>
                  <a:txBody>
                    <a:bodyPr/>
                    <a:lstStyle/>
                    <a:p>
                      <a:pPr algn="l">
                        <a:spcAft>
                          <a:spcPts val="0"/>
                        </a:spcAft>
                      </a:pPr>
                      <a:r>
                        <a:rPr sz="790" b="0">
                          <a:solidFill>
                            <a:srgbClr val="1A1A1A"/>
                          </a:solidFill>
                          <a:latin typeface="游ゴシック"/>
                          <a:ea typeface="游ゴシック"/>
                          <a:cs typeface="游ゴシック"/>
                        </a:rPr>
                        <a:t>　未収還付法人税等</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170</a:t>
                      </a:r>
                    </a:p>
                  </a:txBody>
                  <a:tcPr marL="45720" marR="45720" marT="9144" marB="9144" anchor="ctr">
                    <a:solidFill>
                      <a:srgbClr val="FFFFFF"/>
                    </a:solidFill>
                  </a:tcPr>
                </a:tc>
                <a:extLst>
                  <a:ext uri="{0D108BD9-81ED-4DB2-BD59-A6C34878D82A}">
                    <a16:rowId xmlns:a16="http://schemas.microsoft.com/office/drawing/2014/main" val="10006"/>
                  </a:ext>
                </a:extLst>
              </a:tr>
              <a:tr h="187452">
                <a:tc>
                  <a:txBody>
                    <a:bodyPr/>
                    <a:lstStyle/>
                    <a:p>
                      <a:pPr algn="l">
                        <a:spcAft>
                          <a:spcPts val="0"/>
                        </a:spcAft>
                      </a:pPr>
                      <a:r>
                        <a:rPr sz="790" b="1">
                          <a:solidFill>
                            <a:srgbClr val="1A1A1A"/>
                          </a:solidFill>
                          <a:latin typeface="游ゴシック"/>
                          <a:ea typeface="游ゴシック"/>
                          <a:cs typeface="游ゴシック"/>
                        </a:rPr>
                        <a:t>【固定資産】</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61,457</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57,353</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50,341</a:t>
                      </a:r>
                    </a:p>
                  </a:txBody>
                  <a:tcPr marL="45720" marR="45720" marT="9144" marB="9144" anchor="ctr">
                    <a:solidFill>
                      <a:srgbClr val="FFFFFF"/>
                    </a:solidFill>
                  </a:tcPr>
                </a:tc>
                <a:extLst>
                  <a:ext uri="{0D108BD9-81ED-4DB2-BD59-A6C34878D82A}">
                    <a16:rowId xmlns:a16="http://schemas.microsoft.com/office/drawing/2014/main" val="10007"/>
                  </a:ext>
                </a:extLst>
              </a:tr>
              <a:tr h="187452">
                <a:tc>
                  <a:txBody>
                    <a:bodyPr/>
                    <a:lstStyle/>
                    <a:p>
                      <a:pPr algn="l">
                        <a:spcAft>
                          <a:spcPts val="0"/>
                        </a:spcAft>
                      </a:pPr>
                      <a:r>
                        <a:rPr sz="790" b="1">
                          <a:solidFill>
                            <a:srgbClr val="1A1A1A"/>
                          </a:solidFill>
                          <a:latin typeface="游ゴシック"/>
                          <a:ea typeface="游ゴシック"/>
                          <a:cs typeface="游ゴシック"/>
                        </a:rPr>
                        <a:t>［有形固定資産］</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61,382</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56,178</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49,166</a:t>
                      </a:r>
                    </a:p>
                  </a:txBody>
                  <a:tcPr marL="45720" marR="45720" marT="9144" marB="9144" anchor="ctr">
                    <a:solidFill>
                      <a:srgbClr val="FFFFFF"/>
                    </a:solidFill>
                  </a:tcPr>
                </a:tc>
                <a:extLst>
                  <a:ext uri="{0D108BD9-81ED-4DB2-BD59-A6C34878D82A}">
                    <a16:rowId xmlns:a16="http://schemas.microsoft.com/office/drawing/2014/main" val="10008"/>
                  </a:ext>
                </a:extLst>
              </a:tr>
              <a:tr h="187452">
                <a:tc>
                  <a:txBody>
                    <a:bodyPr/>
                    <a:lstStyle/>
                    <a:p>
                      <a:pPr algn="l">
                        <a:spcAft>
                          <a:spcPts val="0"/>
                        </a:spcAft>
                      </a:pPr>
                      <a:r>
                        <a:rPr sz="790" b="0">
                          <a:solidFill>
                            <a:srgbClr val="1A1A1A"/>
                          </a:solidFill>
                          <a:latin typeface="游ゴシック"/>
                          <a:ea typeface="游ゴシック"/>
                          <a:cs typeface="游ゴシック"/>
                        </a:rPr>
                        <a:t>　建物</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51,246</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45,201</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39,249</a:t>
                      </a:r>
                    </a:p>
                  </a:txBody>
                  <a:tcPr marL="45720" marR="45720" marT="9144" marB="9144" anchor="ctr">
                    <a:solidFill>
                      <a:srgbClr val="FFFFFF"/>
                    </a:solidFill>
                  </a:tcPr>
                </a:tc>
                <a:extLst>
                  <a:ext uri="{0D108BD9-81ED-4DB2-BD59-A6C34878D82A}">
                    <a16:rowId xmlns:a16="http://schemas.microsoft.com/office/drawing/2014/main" val="10009"/>
                  </a:ext>
                </a:extLst>
              </a:tr>
              <a:tr h="187452">
                <a:tc>
                  <a:txBody>
                    <a:bodyPr/>
                    <a:lstStyle/>
                    <a:p>
                      <a:pPr algn="l">
                        <a:spcAft>
                          <a:spcPts val="0"/>
                        </a:spcAft>
                      </a:pPr>
                      <a:r>
                        <a:rPr sz="790" b="0">
                          <a:solidFill>
                            <a:srgbClr val="1A1A1A"/>
                          </a:solidFill>
                          <a:latin typeface="游ゴシック"/>
                          <a:ea typeface="游ゴシック"/>
                          <a:cs typeface="游ゴシック"/>
                        </a:rPr>
                        <a:t>　構築物</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59</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43</a:t>
                      </a:r>
                    </a:p>
                  </a:txBody>
                  <a:tcPr marL="45720" marR="45720" marT="9144" marB="9144" anchor="ctr">
                    <a:solidFill>
                      <a:srgbClr val="FFFFFF"/>
                    </a:solidFill>
                  </a:tcPr>
                </a:tc>
                <a:extLst>
                  <a:ext uri="{0D108BD9-81ED-4DB2-BD59-A6C34878D82A}">
                    <a16:rowId xmlns:a16="http://schemas.microsoft.com/office/drawing/2014/main" val="10010"/>
                  </a:ext>
                </a:extLst>
              </a:tr>
              <a:tr h="187452">
                <a:tc>
                  <a:txBody>
                    <a:bodyPr/>
                    <a:lstStyle/>
                    <a:p>
                      <a:pPr algn="l">
                        <a:spcAft>
                          <a:spcPts val="0"/>
                        </a:spcAft>
                      </a:pPr>
                      <a:r>
                        <a:rPr sz="790" b="0">
                          <a:solidFill>
                            <a:srgbClr val="1A1A1A"/>
                          </a:solidFill>
                          <a:latin typeface="游ゴシック"/>
                          <a:ea typeface="游ゴシック"/>
                          <a:cs typeface="游ゴシック"/>
                        </a:rPr>
                        <a:t>　機械及び装置</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3,456</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4,409</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4,219</a:t>
                      </a:r>
                    </a:p>
                  </a:txBody>
                  <a:tcPr marL="45720" marR="45720" marT="9144" marB="9144" anchor="ctr">
                    <a:solidFill>
                      <a:srgbClr val="FFFFFF"/>
                    </a:solidFill>
                  </a:tcPr>
                </a:tc>
                <a:extLst>
                  <a:ext uri="{0D108BD9-81ED-4DB2-BD59-A6C34878D82A}">
                    <a16:rowId xmlns:a16="http://schemas.microsoft.com/office/drawing/2014/main" val="10011"/>
                  </a:ext>
                </a:extLst>
              </a:tr>
              <a:tr h="187452">
                <a:tc>
                  <a:txBody>
                    <a:bodyPr/>
                    <a:lstStyle/>
                    <a:p>
                      <a:pPr algn="l">
                        <a:spcAft>
                          <a:spcPts val="0"/>
                        </a:spcAft>
                      </a:pPr>
                      <a:r>
                        <a:rPr sz="790" b="0">
                          <a:solidFill>
                            <a:srgbClr val="1A1A1A"/>
                          </a:solidFill>
                          <a:latin typeface="游ゴシック"/>
                          <a:ea typeface="游ゴシック"/>
                          <a:cs typeface="游ゴシック"/>
                        </a:rPr>
                        <a:t>　車両運搬具</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258</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12"/>
                  </a:ext>
                </a:extLst>
              </a:tr>
              <a:tr h="187452">
                <a:tc>
                  <a:txBody>
                    <a:bodyPr/>
                    <a:lstStyle/>
                    <a:p>
                      <a:pPr algn="l">
                        <a:spcAft>
                          <a:spcPts val="0"/>
                        </a:spcAft>
                      </a:pPr>
                      <a:r>
                        <a:rPr sz="790" b="0">
                          <a:solidFill>
                            <a:srgbClr val="1A1A1A"/>
                          </a:solidFill>
                          <a:latin typeface="游ゴシック"/>
                          <a:ea typeface="游ゴシック"/>
                          <a:cs typeface="游ゴシック"/>
                        </a:rPr>
                        <a:t>　工具、器具及び備品</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1,838</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2,266</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1,677</a:t>
                      </a:r>
                    </a:p>
                  </a:txBody>
                  <a:tcPr marL="45720" marR="45720" marT="9144" marB="9144" anchor="ctr">
                    <a:solidFill>
                      <a:srgbClr val="FFFFFF"/>
                    </a:solidFill>
                  </a:tcPr>
                </a:tc>
                <a:extLst>
                  <a:ext uri="{0D108BD9-81ED-4DB2-BD59-A6C34878D82A}">
                    <a16:rowId xmlns:a16="http://schemas.microsoft.com/office/drawing/2014/main" val="10013"/>
                  </a:ext>
                </a:extLst>
              </a:tr>
              <a:tr h="187452">
                <a:tc>
                  <a:txBody>
                    <a:bodyPr/>
                    <a:lstStyle/>
                    <a:p>
                      <a:pPr algn="l">
                        <a:spcAft>
                          <a:spcPts val="0"/>
                        </a:spcAft>
                      </a:pPr>
                      <a:r>
                        <a:rPr sz="790" b="0">
                          <a:solidFill>
                            <a:srgbClr val="1A1A1A"/>
                          </a:solidFill>
                          <a:latin typeface="游ゴシック"/>
                          <a:ea typeface="游ゴシック"/>
                          <a:cs typeface="游ゴシック"/>
                        </a:rPr>
                        <a:t>　土地</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tcPr>
                </a:tc>
                <a:extLst>
                  <a:ext uri="{0D108BD9-81ED-4DB2-BD59-A6C34878D82A}">
                    <a16:rowId xmlns:a16="http://schemas.microsoft.com/office/drawing/2014/main" val="10014"/>
                  </a:ext>
                </a:extLst>
              </a:tr>
              <a:tr h="187452">
                <a:tc>
                  <a:txBody>
                    <a:bodyPr/>
                    <a:lstStyle/>
                    <a:p>
                      <a:pPr algn="l">
                        <a:spcAft>
                          <a:spcPts val="0"/>
                        </a:spcAft>
                      </a:pPr>
                      <a:r>
                        <a:rPr sz="790" b="0">
                          <a:solidFill>
                            <a:srgbClr val="1A1A1A"/>
                          </a:solidFill>
                          <a:latin typeface="游ゴシック"/>
                          <a:ea typeface="游ゴシック"/>
                          <a:cs typeface="游ゴシック"/>
                        </a:rPr>
                        <a:t>　リース資産</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1,056</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792</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528</a:t>
                      </a:r>
                    </a:p>
                  </a:txBody>
                  <a:tcPr marL="45720" marR="45720" marT="9144" marB="9144" anchor="ctr">
                    <a:solidFill>
                      <a:srgbClr val="FFFFFF"/>
                    </a:solidFill>
                  </a:tcPr>
                </a:tc>
                <a:extLst>
                  <a:ext uri="{0D108BD9-81ED-4DB2-BD59-A6C34878D82A}">
                    <a16:rowId xmlns:a16="http://schemas.microsoft.com/office/drawing/2014/main" val="10015"/>
                  </a:ext>
                </a:extLst>
              </a:tr>
              <a:tr h="187452">
                <a:tc>
                  <a:txBody>
                    <a:bodyPr/>
                    <a:lstStyle/>
                    <a:p>
                      <a:pPr algn="l">
                        <a:spcAft>
                          <a:spcPts val="0"/>
                        </a:spcAft>
                      </a:pPr>
                      <a:r>
                        <a:rPr sz="790" b="1">
                          <a:solidFill>
                            <a:srgbClr val="1A1A1A"/>
                          </a:solidFill>
                          <a:latin typeface="游ゴシック"/>
                          <a:ea typeface="游ゴシック"/>
                          <a:cs typeface="游ゴシック"/>
                        </a:rPr>
                        <a:t>［無形固定資産］</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tcPr>
                </a:tc>
                <a:extLst>
                  <a:ext uri="{0D108BD9-81ED-4DB2-BD59-A6C34878D82A}">
                    <a16:rowId xmlns:a16="http://schemas.microsoft.com/office/drawing/2014/main" val="10016"/>
                  </a:ext>
                </a:extLst>
              </a:tr>
              <a:tr h="187452">
                <a:tc>
                  <a:txBody>
                    <a:bodyPr/>
                    <a:lstStyle/>
                    <a:p>
                      <a:pPr algn="l">
                        <a:spcAft>
                          <a:spcPts val="0"/>
                        </a:spcAft>
                      </a:pPr>
                      <a:r>
                        <a:rPr sz="790" b="0">
                          <a:solidFill>
                            <a:srgbClr val="1A1A1A"/>
                          </a:solidFill>
                          <a:latin typeface="游ゴシック"/>
                          <a:ea typeface="游ゴシック"/>
                          <a:cs typeface="游ゴシック"/>
                        </a:rPr>
                        <a:t>　ソフトウェア</a:t>
                      </a:r>
                    </a:p>
                  </a:txBody>
                  <a:tcPr marL="45720" marR="45720" marT="9144" marB="9144" anchor="ctr">
                    <a:solidFill>
                      <a:srgbClr val="FFFFFF"/>
                    </a:solidFill>
                  </a:tcPr>
                </a:tc>
                <a:tc>
                  <a:txBody>
                    <a:bodyPr/>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17"/>
                  </a:ext>
                </a:extLst>
              </a:tr>
              <a:tr h="187452">
                <a:tc>
                  <a:txBody>
                    <a:bodyPr/>
                    <a:lstStyle/>
                    <a:p>
                      <a:pPr algn="l">
                        <a:spcAft>
                          <a:spcPts val="0"/>
                        </a:spcAft>
                      </a:pPr>
                      <a:r>
                        <a:rPr sz="790" b="0">
                          <a:solidFill>
                            <a:srgbClr val="1A1A1A"/>
                          </a:solidFill>
                          <a:latin typeface="游ゴシック"/>
                          <a:ea typeface="游ゴシック"/>
                          <a:cs typeface="游ゴシック"/>
                        </a:rPr>
                        <a:t>　電話加入権</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tcPr>
                </a:tc>
                <a:extLst>
                  <a:ext uri="{0D108BD9-81ED-4DB2-BD59-A6C34878D82A}">
                    <a16:rowId xmlns:a16="http://schemas.microsoft.com/office/drawing/2014/main" val="10018"/>
                  </a:ext>
                </a:extLst>
              </a:tr>
              <a:tr h="187452">
                <a:tc>
                  <a:txBody>
                    <a:bodyPr/>
                    <a:lstStyle/>
                    <a:p>
                      <a:pPr algn="l">
                        <a:spcAft>
                          <a:spcPts val="0"/>
                        </a:spcAft>
                      </a:pPr>
                      <a:r>
                        <a:rPr sz="790" b="1">
                          <a:solidFill>
                            <a:srgbClr val="1A1A1A"/>
                          </a:solidFill>
                          <a:latin typeface="游ゴシック"/>
                          <a:ea typeface="游ゴシック"/>
                          <a:cs typeface="游ゴシック"/>
                        </a:rPr>
                        <a:t>［投資その他の資産］</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1,100</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1,100</a:t>
                      </a:r>
                    </a:p>
                  </a:txBody>
                  <a:tcPr marL="45720" marR="45720" marT="9144" marB="9144" anchor="ctr">
                    <a:solidFill>
                      <a:srgbClr val="FFFFFF"/>
                    </a:solidFill>
                  </a:tcPr>
                </a:tc>
                <a:extLst>
                  <a:ext uri="{0D108BD9-81ED-4DB2-BD59-A6C34878D82A}">
                    <a16:rowId xmlns:a16="http://schemas.microsoft.com/office/drawing/2014/main" val="10019"/>
                  </a:ext>
                </a:extLst>
              </a:tr>
              <a:tr h="187452">
                <a:tc>
                  <a:txBody>
                    <a:bodyPr/>
                    <a:lstStyle/>
                    <a:p>
                      <a:pPr algn="l">
                        <a:spcAft>
                          <a:spcPts val="0"/>
                        </a:spcAft>
                      </a:pPr>
                      <a:r>
                        <a:rPr sz="790" b="0">
                          <a:solidFill>
                            <a:srgbClr val="1A1A1A"/>
                          </a:solidFill>
                          <a:latin typeface="游ゴシック"/>
                          <a:ea typeface="游ゴシック"/>
                          <a:cs typeface="游ゴシック"/>
                        </a:rPr>
                        <a:t>　出資金</a:t>
                      </a:r>
                    </a:p>
                  </a:txBody>
                  <a:tcPr marL="45720" marR="45720" marT="9144" marB="9144" anchor="ctr">
                    <a:solidFill>
                      <a:srgbClr val="FFFFFF"/>
                    </a:solidFill>
                  </a:tcPr>
                </a:tc>
                <a:tc>
                  <a:txBody>
                    <a:bodyPr/>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1,100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1,100</a:t>
                      </a:r>
                    </a:p>
                  </a:txBody>
                  <a:tcPr marL="45720" marR="45720" marT="9144" marB="9144" anchor="ctr">
                    <a:solidFill>
                      <a:srgbClr val="FFFFFF"/>
                    </a:solidFill>
                  </a:tcPr>
                </a:tc>
                <a:extLst>
                  <a:ext uri="{0D108BD9-81ED-4DB2-BD59-A6C34878D82A}">
                    <a16:rowId xmlns:a16="http://schemas.microsoft.com/office/drawing/2014/main" val="10020"/>
                  </a:ext>
                </a:extLst>
              </a:tr>
              <a:tr h="187452">
                <a:tc>
                  <a:txBody>
                    <a:bodyPr/>
                    <a:lstStyle/>
                    <a:p>
                      <a:pPr algn="l">
                        <a:spcAft>
                          <a:spcPts val="0"/>
                        </a:spcAft>
                      </a:pPr>
                      <a:r>
                        <a:rPr sz="790" b="1">
                          <a:solidFill>
                            <a:srgbClr val="1A1A1A"/>
                          </a:solidFill>
                          <a:latin typeface="游ゴシック"/>
                          <a:ea typeface="游ゴシック"/>
                          <a:cs typeface="游ゴシック"/>
                        </a:rPr>
                        <a:t>資産合計</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69,313</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64,254</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57,330</a:t>
                      </a:r>
                    </a:p>
                  </a:txBody>
                  <a:tcPr marL="45720" marR="45720" marT="9144" marB="9144" anchor="ctr">
                    <a:solidFill>
                      <a:srgbClr val="FFFFFF"/>
                    </a:solidFill>
                  </a:tcPr>
                </a:tc>
                <a:extLst>
                  <a:ext uri="{0D108BD9-81ED-4DB2-BD59-A6C34878D82A}">
                    <a16:rowId xmlns:a16="http://schemas.microsoft.com/office/drawing/2014/main" val="10021"/>
                  </a:ext>
                </a:extLst>
              </a:tr>
            </a:tbl>
          </a:graphicData>
        </a:graphic>
      </p:graphicFrame>
      <p:graphicFrame>
        <p:nvGraphicFramePr>
          <p:cNvPr id="15" name="Table 14"/>
          <p:cNvGraphicFramePr>
            <a:graphicFrameLocks noGrp="1"/>
          </p:cNvGraphicFramePr>
          <p:nvPr/>
        </p:nvGraphicFramePr>
        <p:xfrm>
          <a:off x="5376672" y="1408176"/>
          <a:ext cx="5001764" cy="2665476"/>
        </p:xfrm>
        <a:graphic>
          <a:graphicData uri="http://schemas.openxmlformats.org/drawingml/2006/table">
            <a:tbl>
              <a:tblPr>
                <a:tableStyleId>{5940675A-B579-460E-94D1-54222C63F5DA}</a:tableStyleId>
              </a:tblPr>
              <a:tblGrid>
                <a:gridCol w="2148839">
                  <a:extLst>
                    <a:ext uri="{9D8B030D-6E8A-4147-A177-3AD203B41FA5}">
                      <a16:colId xmlns:a16="http://schemas.microsoft.com/office/drawing/2014/main" val="20000"/>
                    </a:ext>
                  </a:extLst>
                </a:gridCol>
                <a:gridCol w="950975">
                  <a:extLst>
                    <a:ext uri="{9D8B030D-6E8A-4147-A177-3AD203B41FA5}">
                      <a16:colId xmlns:a16="http://schemas.microsoft.com/office/drawing/2014/main" val="20001"/>
                    </a:ext>
                  </a:extLst>
                </a:gridCol>
                <a:gridCol w="950975">
                  <a:extLst>
                    <a:ext uri="{9D8B030D-6E8A-4147-A177-3AD203B41FA5}">
                      <a16:colId xmlns:a16="http://schemas.microsoft.com/office/drawing/2014/main" val="20002"/>
                    </a:ext>
                  </a:extLst>
                </a:gridCol>
                <a:gridCol w="950975">
                  <a:extLst>
                    <a:ext uri="{9D8B030D-6E8A-4147-A177-3AD203B41FA5}">
                      <a16:colId xmlns:a16="http://schemas.microsoft.com/office/drawing/2014/main" val="20003"/>
                    </a:ext>
                  </a:extLst>
                </a:gridCol>
              </a:tblGrid>
              <a:tr h="228600">
                <a:tc>
                  <a:txBody>
                    <a:bodyPr/>
                    <a:lstStyle/>
                    <a:p>
                      <a:pPr algn="ctr">
                        <a:spcAft>
                          <a:spcPts val="0"/>
                        </a:spcAft>
                      </a:pPr>
                      <a:r>
                        <a:rPr sz="79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790"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187452">
                <a:tc>
                  <a:txBody>
                    <a:bodyPr/>
                    <a:lstStyle/>
                    <a:p>
                      <a:pPr algn="l">
                        <a:spcAft>
                          <a:spcPts val="0"/>
                        </a:spcAft>
                      </a:pPr>
                      <a:r>
                        <a:rPr sz="790" b="1">
                          <a:solidFill>
                            <a:srgbClr val="1A1A1A"/>
                          </a:solidFill>
                          <a:latin typeface="游ゴシック"/>
                          <a:ea typeface="游ゴシック"/>
                          <a:cs typeface="游ゴシック"/>
                        </a:rPr>
                        <a:t>【流動負債】</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1,487</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1,546</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929</a:t>
                      </a:r>
                    </a:p>
                  </a:txBody>
                  <a:tcPr marL="45720" marR="45720" marT="9144" marB="9144" anchor="ctr">
                    <a:solidFill>
                      <a:srgbClr val="FFFFFF"/>
                    </a:solidFill>
                  </a:tcPr>
                </a:tc>
                <a:extLst>
                  <a:ext uri="{0D108BD9-81ED-4DB2-BD59-A6C34878D82A}">
                    <a16:rowId xmlns:a16="http://schemas.microsoft.com/office/drawing/2014/main" val="10001"/>
                  </a:ext>
                </a:extLst>
              </a:tr>
              <a:tr h="187452">
                <a:tc>
                  <a:txBody>
                    <a:bodyPr/>
                    <a:lstStyle/>
                    <a:p>
                      <a:pPr algn="l">
                        <a:spcAft>
                          <a:spcPts val="0"/>
                        </a:spcAft>
                      </a:pPr>
                      <a:r>
                        <a:rPr sz="790" b="0">
                          <a:solidFill>
                            <a:srgbClr val="1A1A1A"/>
                          </a:solidFill>
                          <a:latin typeface="游ゴシック"/>
                          <a:ea typeface="游ゴシック"/>
                          <a:cs typeface="游ゴシック"/>
                        </a:rPr>
                        <a:t>　未払金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1,078</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814</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550</a:t>
                      </a:r>
                    </a:p>
                  </a:txBody>
                  <a:tcPr marL="45720" marR="45720" marT="9144" marB="9144" anchor="ctr">
                    <a:solidFill>
                      <a:srgbClr val="FFFFFF"/>
                    </a:solidFill>
                  </a:tcPr>
                </a:tc>
                <a:extLst>
                  <a:ext uri="{0D108BD9-81ED-4DB2-BD59-A6C34878D82A}">
                    <a16:rowId xmlns:a16="http://schemas.microsoft.com/office/drawing/2014/main" val="10002"/>
                  </a:ext>
                </a:extLst>
              </a:tr>
              <a:tr h="187452">
                <a:tc>
                  <a:txBody>
                    <a:bodyPr/>
                    <a:lstStyle/>
                    <a:p>
                      <a:pPr algn="l">
                        <a:spcAft>
                          <a:spcPts val="0"/>
                        </a:spcAft>
                      </a:pPr>
                      <a:r>
                        <a:rPr sz="790" b="0">
                          <a:solidFill>
                            <a:srgbClr val="1A1A1A"/>
                          </a:solidFill>
                          <a:latin typeface="游ゴシック"/>
                          <a:ea typeface="游ゴシック"/>
                          <a:cs typeface="游ゴシック"/>
                        </a:rPr>
                        <a:t>　未払法人税等</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73</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412</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36</a:t>
                      </a:r>
                    </a:p>
                  </a:txBody>
                  <a:tcPr marL="45720" marR="45720" marT="9144" marB="9144" anchor="ctr">
                    <a:solidFill>
                      <a:srgbClr val="FFFFFF"/>
                    </a:solidFill>
                  </a:tcPr>
                </a:tc>
                <a:extLst>
                  <a:ext uri="{0D108BD9-81ED-4DB2-BD59-A6C34878D82A}">
                    <a16:rowId xmlns:a16="http://schemas.microsoft.com/office/drawing/2014/main" val="10003"/>
                  </a:ext>
                </a:extLst>
              </a:tr>
              <a:tr h="187452">
                <a:tc>
                  <a:txBody>
                    <a:bodyPr/>
                    <a:lstStyle/>
                    <a:p>
                      <a:pPr algn="l">
                        <a:spcAft>
                          <a:spcPts val="0"/>
                        </a:spcAft>
                      </a:pPr>
                      <a:r>
                        <a:rPr sz="790" b="0">
                          <a:solidFill>
                            <a:srgbClr val="1A1A1A"/>
                          </a:solidFill>
                          <a:latin typeface="游ゴシック"/>
                          <a:ea typeface="游ゴシック"/>
                          <a:cs typeface="游ゴシック"/>
                        </a:rPr>
                        <a:t>　未払消費税等</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336</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320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343</a:t>
                      </a:r>
                    </a:p>
                  </a:txBody>
                  <a:tcPr marL="45720" marR="45720" marT="9144" marB="9144" anchor="ctr">
                    <a:solidFill>
                      <a:srgbClr val="FFFFFF"/>
                    </a:solidFill>
                  </a:tcPr>
                </a:tc>
                <a:extLst>
                  <a:ext uri="{0D108BD9-81ED-4DB2-BD59-A6C34878D82A}">
                    <a16:rowId xmlns:a16="http://schemas.microsoft.com/office/drawing/2014/main" val="10004"/>
                  </a:ext>
                </a:extLst>
              </a:tr>
              <a:tr h="187452">
                <a:tc>
                  <a:txBody>
                    <a:bodyPr/>
                    <a:lstStyle/>
                    <a:p>
                      <a:pPr algn="l">
                        <a:spcAft>
                          <a:spcPts val="0"/>
                        </a:spcAft>
                      </a:pPr>
                      <a:r>
                        <a:rPr sz="790" b="1">
                          <a:solidFill>
                            <a:srgbClr val="1A1A1A"/>
                          </a:solidFill>
                          <a:latin typeface="游ゴシック"/>
                          <a:ea typeface="游ゴシック"/>
                          <a:cs typeface="游ゴシック"/>
                        </a:rPr>
                        <a:t>【固定負債】</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45,195</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38,997</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32,744</a:t>
                      </a:r>
                    </a:p>
                  </a:txBody>
                  <a:tcPr marL="45720" marR="45720" marT="9144" marB="9144" anchor="ctr">
                    <a:solidFill>
                      <a:srgbClr val="FFFFFF"/>
                    </a:solidFill>
                  </a:tcPr>
                </a:tc>
                <a:extLst>
                  <a:ext uri="{0D108BD9-81ED-4DB2-BD59-A6C34878D82A}">
                    <a16:rowId xmlns:a16="http://schemas.microsoft.com/office/drawing/2014/main" val="10005"/>
                  </a:ext>
                </a:extLst>
              </a:tr>
              <a:tr h="187452">
                <a:tc>
                  <a:txBody>
                    <a:bodyPr/>
                    <a:lstStyle/>
                    <a:p>
                      <a:pPr algn="l">
                        <a:spcAft>
                          <a:spcPts val="0"/>
                        </a:spcAft>
                      </a:pPr>
                      <a:r>
                        <a:rPr sz="790" b="0">
                          <a:solidFill>
                            <a:srgbClr val="1A1A1A"/>
                          </a:solidFill>
                          <a:latin typeface="游ゴシック"/>
                          <a:ea typeface="游ゴシック"/>
                          <a:cs typeface="游ゴシック"/>
                        </a:rPr>
                        <a:t>　長期借入金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45,195</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38,997</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32,744</a:t>
                      </a:r>
                    </a:p>
                  </a:txBody>
                  <a:tcPr marL="45720" marR="45720" marT="9144" marB="9144" anchor="ctr">
                    <a:solidFill>
                      <a:srgbClr val="FFFFFF"/>
                    </a:solidFill>
                  </a:tcPr>
                </a:tc>
                <a:extLst>
                  <a:ext uri="{0D108BD9-81ED-4DB2-BD59-A6C34878D82A}">
                    <a16:rowId xmlns:a16="http://schemas.microsoft.com/office/drawing/2014/main" val="10006"/>
                  </a:ext>
                </a:extLst>
              </a:tr>
              <a:tr h="187452">
                <a:tc>
                  <a:txBody>
                    <a:bodyPr/>
                    <a:lstStyle/>
                    <a:p>
                      <a:pPr algn="l">
                        <a:spcAft>
                          <a:spcPts val="0"/>
                        </a:spcAft>
                      </a:pPr>
                      <a:r>
                        <a:rPr sz="790" b="1">
                          <a:solidFill>
                            <a:srgbClr val="1A1A1A"/>
                          </a:solidFill>
                          <a:latin typeface="游ゴシック"/>
                          <a:ea typeface="游ゴシック"/>
                          <a:cs typeface="游ゴシック"/>
                        </a:rPr>
                        <a:t>負債合計</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46,682</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40,542</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33,673</a:t>
                      </a:r>
                    </a:p>
                  </a:txBody>
                  <a:tcPr marL="45720" marR="45720" marT="9144" marB="9144" anchor="ctr">
                    <a:solidFill>
                      <a:srgbClr val="FFFFFF"/>
                    </a:solidFill>
                  </a:tcPr>
                </a:tc>
                <a:extLst>
                  <a:ext uri="{0D108BD9-81ED-4DB2-BD59-A6C34878D82A}">
                    <a16:rowId xmlns:a16="http://schemas.microsoft.com/office/drawing/2014/main" val="10007"/>
                  </a:ext>
                </a:extLst>
              </a:tr>
              <a:tr h="187452">
                <a:tc>
                  <a:txBody>
                    <a:bodyPr/>
                    <a:lstStyle/>
                    <a:p>
                      <a:pPr algn="l">
                        <a:spcAft>
                          <a:spcPts val="0"/>
                        </a:spcAft>
                      </a:pPr>
                      <a:r>
                        <a:rPr sz="790" b="1">
                          <a:solidFill>
                            <a:srgbClr val="1A1A1A"/>
                          </a:solidFill>
                          <a:latin typeface="游ゴシック"/>
                          <a:ea typeface="游ゴシック"/>
                          <a:cs typeface="游ゴシック"/>
                        </a:rPr>
                        <a:t>【資本金】</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tcPr>
                </a:tc>
                <a:extLst>
                  <a:ext uri="{0D108BD9-81ED-4DB2-BD59-A6C34878D82A}">
                    <a16:rowId xmlns:a16="http://schemas.microsoft.com/office/drawing/2014/main" val="10008"/>
                  </a:ext>
                </a:extLst>
              </a:tr>
              <a:tr h="187452">
                <a:tc>
                  <a:txBody>
                    <a:bodyPr/>
                    <a:lstStyle/>
                    <a:p>
                      <a:pPr algn="l">
                        <a:spcAft>
                          <a:spcPts val="0"/>
                        </a:spcAft>
                      </a:pPr>
                      <a:r>
                        <a:rPr sz="790" b="0">
                          <a:solidFill>
                            <a:srgbClr val="1A1A1A"/>
                          </a:solidFill>
                          <a:latin typeface="游ゴシック"/>
                          <a:ea typeface="游ゴシック"/>
                          <a:cs typeface="游ゴシック"/>
                        </a:rPr>
                        <a:t>　資本金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tcPr>
                </a:tc>
                <a:extLst>
                  <a:ext uri="{0D108BD9-81ED-4DB2-BD59-A6C34878D82A}">
                    <a16:rowId xmlns:a16="http://schemas.microsoft.com/office/drawing/2014/main" val="10009"/>
                  </a:ext>
                </a:extLst>
              </a:tr>
              <a:tr h="187452">
                <a:tc>
                  <a:txBody>
                    <a:bodyPr/>
                    <a:lstStyle/>
                    <a:p>
                      <a:pPr algn="l">
                        <a:spcAft>
                          <a:spcPts val="0"/>
                        </a:spcAft>
                      </a:pPr>
                      <a:r>
                        <a:rPr sz="790" b="1">
                          <a:solidFill>
                            <a:srgbClr val="1A1A1A"/>
                          </a:solidFill>
                          <a:latin typeface="游ゴシック"/>
                          <a:ea typeface="游ゴシック"/>
                          <a:cs typeface="游ゴシック"/>
                        </a:rPr>
                        <a:t>【利益剰余金】</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12,631</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13,712</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13,658</a:t>
                      </a:r>
                    </a:p>
                  </a:txBody>
                  <a:tcPr marL="45720" marR="45720" marT="9144" marB="9144" anchor="ctr">
                    <a:solidFill>
                      <a:srgbClr val="FFFFFF"/>
                    </a:solidFill>
                  </a:tcPr>
                </a:tc>
                <a:extLst>
                  <a:ext uri="{0D108BD9-81ED-4DB2-BD59-A6C34878D82A}">
                    <a16:rowId xmlns:a16="http://schemas.microsoft.com/office/drawing/2014/main" val="10010"/>
                  </a:ext>
                </a:extLst>
              </a:tr>
              <a:tr h="187452">
                <a:tc>
                  <a:txBody>
                    <a:bodyPr/>
                    <a:lstStyle/>
                    <a:p>
                      <a:pPr algn="l">
                        <a:spcAft>
                          <a:spcPts val="0"/>
                        </a:spcAft>
                      </a:pPr>
                      <a:r>
                        <a:rPr sz="790" b="0">
                          <a:solidFill>
                            <a:srgbClr val="1A1A1A"/>
                          </a:solidFill>
                          <a:latin typeface="游ゴシック"/>
                          <a:ea typeface="游ゴシック"/>
                          <a:cs typeface="游ゴシック"/>
                        </a:rPr>
                        <a:t>　繰越利益剰余金</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12,631</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13,712</a:t>
                      </a:r>
                    </a:p>
                  </a:txBody>
                  <a:tcPr marL="45720" marR="45720" marT="9144" marB="9144" anchor="ctr">
                    <a:solidFill>
                      <a:srgbClr val="FFFFFF"/>
                    </a:solidFill>
                  </a:tcPr>
                </a:tc>
                <a:tc>
                  <a:txBody>
                    <a:bodyPr/>
                    <a:lstStyle/>
                    <a:p>
                      <a:pPr algn="r">
                        <a:spcAft>
                          <a:spcPts val="0"/>
                        </a:spcAft>
                      </a:pPr>
                      <a:r>
                        <a:rPr sz="790" b="0">
                          <a:solidFill>
                            <a:srgbClr val="1A1A1A"/>
                          </a:solidFill>
                          <a:latin typeface="Arial"/>
                          <a:ea typeface="Arial"/>
                          <a:cs typeface="Arial"/>
                        </a:rPr>
                        <a:t>13,658</a:t>
                      </a:r>
                    </a:p>
                  </a:txBody>
                  <a:tcPr marL="45720" marR="45720" marT="9144" marB="9144" anchor="ctr">
                    <a:solidFill>
                      <a:srgbClr val="FFFFFF"/>
                    </a:solidFill>
                  </a:tcPr>
                </a:tc>
                <a:extLst>
                  <a:ext uri="{0D108BD9-81ED-4DB2-BD59-A6C34878D82A}">
                    <a16:rowId xmlns:a16="http://schemas.microsoft.com/office/drawing/2014/main" val="10011"/>
                  </a:ext>
                </a:extLst>
              </a:tr>
              <a:tr h="187452">
                <a:tc>
                  <a:txBody>
                    <a:bodyPr/>
                    <a:lstStyle/>
                    <a:p>
                      <a:pPr algn="l">
                        <a:spcAft>
                          <a:spcPts val="0"/>
                        </a:spcAft>
                      </a:pPr>
                      <a:r>
                        <a:rPr sz="790" b="1">
                          <a:solidFill>
                            <a:srgbClr val="1A1A1A"/>
                          </a:solidFill>
                          <a:latin typeface="游ゴシック"/>
                          <a:ea typeface="游ゴシック"/>
                          <a:cs typeface="游ゴシック"/>
                        </a:rPr>
                        <a:t>純資産合計</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22,631</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23,712</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23,658</a:t>
                      </a:r>
                    </a:p>
                  </a:txBody>
                  <a:tcPr marL="45720" marR="45720" marT="9144" marB="9144" anchor="ctr">
                    <a:solidFill>
                      <a:srgbClr val="FFFFFF"/>
                    </a:solidFill>
                  </a:tcPr>
                </a:tc>
                <a:extLst>
                  <a:ext uri="{0D108BD9-81ED-4DB2-BD59-A6C34878D82A}">
                    <a16:rowId xmlns:a16="http://schemas.microsoft.com/office/drawing/2014/main" val="10012"/>
                  </a:ext>
                </a:extLst>
              </a:tr>
              <a:tr h="187452">
                <a:tc>
                  <a:txBody>
                    <a:bodyPr/>
                    <a:lstStyle/>
                    <a:p>
                      <a:pPr algn="l">
                        <a:spcAft>
                          <a:spcPts val="0"/>
                        </a:spcAft>
                      </a:pPr>
                      <a:r>
                        <a:rPr sz="790" b="1">
                          <a:solidFill>
                            <a:srgbClr val="1A1A1A"/>
                          </a:solidFill>
                          <a:latin typeface="游ゴシック"/>
                          <a:ea typeface="游ゴシック"/>
                          <a:cs typeface="游ゴシック"/>
                        </a:rPr>
                        <a:t>負債・純資産合計</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69,313</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64,254</a:t>
                      </a:r>
                    </a:p>
                  </a:txBody>
                  <a:tcPr marL="45720" marR="45720" marT="9144" marB="9144" anchor="ctr">
                    <a:solidFill>
                      <a:srgbClr val="FFFFFF"/>
                    </a:solidFill>
                  </a:tcPr>
                </a:tc>
                <a:tc>
                  <a:txBody>
                    <a:bodyPr/>
                    <a:lstStyle/>
                    <a:p>
                      <a:pPr algn="r">
                        <a:spcAft>
                          <a:spcPts val="0"/>
                        </a:spcAft>
                      </a:pPr>
                      <a:r>
                        <a:rPr sz="790" b="1">
                          <a:solidFill>
                            <a:srgbClr val="1A1A1A"/>
                          </a:solidFill>
                          <a:latin typeface="Arial"/>
                          <a:ea typeface="Arial"/>
                          <a:cs typeface="Arial"/>
                        </a:rPr>
                        <a:t>57,330</a:t>
                      </a:r>
                    </a:p>
                  </a:txBody>
                  <a:tcPr marL="45720" marR="45720" marT="9144" marB="9144" anchor="ctr">
                    <a:solidFill>
                      <a:srgbClr val="FFFFFF"/>
                    </a:solidFill>
                  </a:tcPr>
                </a:tc>
                <a:extLst>
                  <a:ext uri="{0D108BD9-81ED-4DB2-BD59-A6C34878D82A}">
                    <a16:rowId xmlns:a16="http://schemas.microsoft.com/office/drawing/2014/main" val="10013"/>
                  </a:ext>
                </a:extLst>
              </a:tr>
            </a:tbl>
          </a:graphicData>
        </a:graphic>
      </p:graphicFrame>
      <p:sp>
        <p:nvSpPr>
          <p:cNvPr id="16" name="Rectangle 15"/>
          <p:cNvSpPr/>
          <p:nvPr/>
        </p:nvSpPr>
        <p:spPr>
          <a:xfrm>
            <a:off x="5376672" y="4315968"/>
            <a:ext cx="5001768" cy="226771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5468112" y="4389120"/>
            <a:ext cx="4818888"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8" name="TextBox 17"/>
          <p:cNvSpPr txBox="1"/>
          <p:nvPr/>
        </p:nvSpPr>
        <p:spPr>
          <a:xfrm>
            <a:off x="5486400" y="4736592"/>
            <a:ext cx="4782312" cy="1755648"/>
          </a:xfrm>
          <a:prstGeom prst="rect">
            <a:avLst/>
          </a:prstGeom>
          <a:noFill/>
        </p:spPr>
        <p:txBody>
          <a:bodyPr wrap="square" lIns="0" tIns="0" rIns="0" bIns="0" anchor="t">
            <a:spAutoFit/>
          </a:bodyPr>
          <a:lstStyle/>
          <a:p>
            <a:pPr algn="l">
              <a:lnSpc>
                <a:spcPct val="114000"/>
              </a:lnSpc>
              <a:spcAft>
                <a:spcPts val="200"/>
              </a:spcAft>
            </a:pPr>
            <a:r>
              <a:rPr sz="800" b="1">
                <a:solidFill>
                  <a:srgbClr val="0889C9"/>
                </a:solidFill>
                <a:latin typeface="游ゴシック"/>
                <a:ea typeface="游ゴシック"/>
                <a:cs typeface="游ゴシック"/>
              </a:rPr>
              <a:t>≪総資産≫ </a:t>
            </a:r>
            <a:r>
              <a:rPr sz="800" b="0">
                <a:solidFill>
                  <a:srgbClr val="1A1A1A"/>
                </a:solidFill>
                <a:latin typeface="游ゴシック"/>
                <a:ea typeface="游ゴシック"/>
                <a:cs typeface="游ゴシック"/>
              </a:rPr>
              <a:t>69,313→64,254→57,330千円。減価償却の進行により毎期減少し、建物は51,246→39,249千円（3期で△11,997千円）。</a:t>
            </a:r>
          </a:p>
          <a:p>
            <a:pPr algn="l">
              <a:spcAft>
                <a:spcPts val="200"/>
              </a:spcAft>
            </a:pPr>
            <a:endParaRPr sz="800" b="0">
              <a:solidFill>
                <a:srgbClr val="1A1A1A"/>
              </a:solidFill>
              <a:latin typeface="游ゴシック"/>
              <a:ea typeface="游ゴシック"/>
              <a:cs typeface="游ゴシック"/>
            </a:endParaRPr>
          </a:p>
          <a:p>
            <a:pPr algn="l">
              <a:lnSpc>
                <a:spcPct val="114000"/>
              </a:lnSpc>
              <a:spcAft>
                <a:spcPts val="200"/>
              </a:spcAft>
            </a:pPr>
            <a:r>
              <a:rPr sz="800" b="1">
                <a:solidFill>
                  <a:srgbClr val="0889C9"/>
                </a:solidFill>
                <a:latin typeface="游ゴシック"/>
                <a:ea typeface="游ゴシック"/>
                <a:cs typeface="游ゴシック"/>
              </a:rPr>
              <a:t>≪長期借入金≫ </a:t>
            </a:r>
            <a:r>
              <a:rPr sz="800" b="0">
                <a:solidFill>
                  <a:srgbClr val="1A1A1A"/>
                </a:solidFill>
                <a:latin typeface="游ゴシック"/>
                <a:ea typeface="游ゴシック"/>
                <a:cs typeface="游ゴシック"/>
              </a:rPr>
              <a:t>45,195→38,997→32,744千円と3期で12,451千円を返済。全額が代表者・配偶者からの無利息借入で、金融機関借入・連帯保証はない。</a:t>
            </a:r>
          </a:p>
          <a:p>
            <a:pPr algn="l">
              <a:spcAft>
                <a:spcPts val="200"/>
              </a:spcAft>
            </a:pPr>
            <a:endParaRPr sz="800" b="0">
              <a:solidFill>
                <a:srgbClr val="1A1A1A"/>
              </a:solidFill>
              <a:latin typeface="游ゴシック"/>
              <a:ea typeface="游ゴシック"/>
              <a:cs typeface="游ゴシック"/>
            </a:endParaRPr>
          </a:p>
          <a:p>
            <a:pPr algn="l">
              <a:lnSpc>
                <a:spcPct val="114000"/>
              </a:lnSpc>
              <a:spcAft>
                <a:spcPts val="200"/>
              </a:spcAft>
            </a:pPr>
            <a:r>
              <a:rPr sz="800" b="1">
                <a:solidFill>
                  <a:srgbClr val="0889C9"/>
                </a:solidFill>
                <a:latin typeface="游ゴシック"/>
                <a:ea typeface="游ゴシック"/>
                <a:cs typeface="游ゴシック"/>
              </a:rPr>
              <a:t>≪未収入金≫ </a:t>
            </a:r>
            <a:r>
              <a:rPr sz="800" b="0">
                <a:solidFill>
                  <a:srgbClr val="1A1A1A"/>
                </a:solidFill>
                <a:latin typeface="游ゴシック"/>
                <a:ea typeface="游ゴシック"/>
                <a:cs typeface="游ゴシック"/>
              </a:rPr>
              <a:t>2,152→2,737→3,323千円と3期連続で増加。関係先向けの債権であり回収条件・回収可能性は要確認。</a:t>
            </a:r>
          </a:p>
          <a:p>
            <a:pPr algn="l">
              <a:spcAft>
                <a:spcPts val="200"/>
              </a:spcAft>
            </a:pPr>
            <a:endParaRPr sz="800" b="0">
              <a:solidFill>
                <a:srgbClr val="1A1A1A"/>
              </a:solidFill>
              <a:latin typeface="游ゴシック"/>
              <a:ea typeface="游ゴシック"/>
              <a:cs typeface="游ゴシック"/>
            </a:endParaRPr>
          </a:p>
          <a:p>
            <a:pPr algn="l">
              <a:lnSpc>
                <a:spcPct val="114000"/>
              </a:lnSpc>
              <a:spcAft>
                <a:spcPts val="200"/>
              </a:spcAft>
            </a:pPr>
            <a:r>
              <a:rPr sz="800" b="1">
                <a:solidFill>
                  <a:srgbClr val="0889C9"/>
                </a:solidFill>
                <a:latin typeface="游ゴシック"/>
                <a:ea typeface="游ゴシック"/>
                <a:cs typeface="游ゴシック"/>
              </a:rPr>
              <a:t>≪純資産≫ </a:t>
            </a:r>
            <a:r>
              <a:rPr sz="800" b="0">
                <a:solidFill>
                  <a:srgbClr val="1A1A1A"/>
                </a:solidFill>
                <a:latin typeface="游ゴシック"/>
                <a:ea typeface="游ゴシック"/>
                <a:cs typeface="游ゴシック"/>
              </a:rPr>
              <a:t>22,631→23,712→23,658千円とほぼ横ばい。2026/5期は当期純損失△54千円により微減。</a:t>
            </a:r>
          </a:p>
        </p:txBody>
      </p:sp>
      <p:sp>
        <p:nvSpPr>
          <p:cNvPr id="19" name="TextBox 18"/>
          <p:cNvSpPr txBox="1"/>
          <p:nvPr/>
        </p:nvSpPr>
        <p:spPr>
          <a:xfrm>
            <a:off x="310896" y="667512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決算書（2024年5月期〜2026年5月期）に基づく。千円未満の端数処理により合計が一致しない場合がある。</a:t>
            </a:r>
          </a:p>
          <a:p>
            <a:pPr algn="l">
              <a:lnSpc>
                <a:spcPct val="112000"/>
              </a:lnSpc>
              <a:spcAft>
                <a:spcPts val="100"/>
              </a:spcAft>
            </a:pPr>
            <a:r>
              <a:rPr sz="750" b="0">
                <a:solidFill>
                  <a:srgbClr val="5A6670"/>
                </a:solidFill>
                <a:latin typeface="游ゴシック"/>
                <a:ea typeface="游ゴシック"/>
                <a:cs typeface="游ゴシック"/>
              </a:rPr>
              <a:t>※ 時価修正の着眼点：①土地3,450千円の時価評価、②車両2台（簿価1円のクラシックカー）の時価、③出資金1,100千円（関係会社）の評価、④未収入金の回収可能性、⑤商標権（簿価ゼロ）のブランド価値。いずれも未検証であり、時価純資産の算定は未了です。</a:t>
            </a:r>
          </a:p>
        </p:txBody>
      </p:sp>
      <p:sp>
        <p:nvSpPr>
          <p:cNvPr id="3" name="タイトル 1">
            <a:extLst>
              <a:ext uri="{FF2B5EF4-FFF2-40B4-BE49-F238E27FC236}">
                <a16:creationId xmlns:a16="http://schemas.microsoft.com/office/drawing/2014/main" id="{96481420-B74F-A0D3-E6D9-EA5D1A5B6F8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財務情報詳細</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2877881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損益計算書</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売上高・粗利ともに減少。販管費6,267千円は3期横ばいであり、営業損益の悪化は粗利の減少による</a:t>
            </a:r>
            <a:endParaRPr lang="en-US" altLang="ja-JP" dirty="0"/>
          </a:p>
        </p:txBody>
      </p:sp>
      <p:graphicFrame>
        <p:nvGraphicFramePr>
          <p:cNvPr id="14" name="Table 13"/>
          <p:cNvGraphicFramePr>
            <a:graphicFrameLocks noGrp="1"/>
          </p:cNvGraphicFramePr>
          <p:nvPr/>
        </p:nvGraphicFramePr>
        <p:xfrm>
          <a:off x="310896" y="1408176"/>
          <a:ext cx="6583677" cy="4904824"/>
        </p:xfrm>
        <a:graphic>
          <a:graphicData uri="http://schemas.openxmlformats.org/drawingml/2006/table">
            <a:tbl>
              <a:tblPr>
                <a:tableStyleId>{5940675A-B579-460E-94D1-54222C63F5DA}</a:tableStyleId>
              </a:tblPr>
              <a:tblGrid>
                <a:gridCol w="2113707">
                  <a:extLst>
                    <a:ext uri="{9D8B030D-6E8A-4147-A177-3AD203B41FA5}">
                      <a16:colId xmlns:a16="http://schemas.microsoft.com/office/drawing/2014/main" val="20000"/>
                    </a:ext>
                  </a:extLst>
                </a:gridCol>
                <a:gridCol w="866273">
                  <a:extLst>
                    <a:ext uri="{9D8B030D-6E8A-4147-A177-3AD203B41FA5}">
                      <a16:colId xmlns:a16="http://schemas.microsoft.com/office/drawing/2014/main" val="20001"/>
                    </a:ext>
                  </a:extLst>
                </a:gridCol>
                <a:gridCol w="623717">
                  <a:extLst>
                    <a:ext uri="{9D8B030D-6E8A-4147-A177-3AD203B41FA5}">
                      <a16:colId xmlns:a16="http://schemas.microsoft.com/office/drawing/2014/main" val="20002"/>
                    </a:ext>
                  </a:extLst>
                </a:gridCol>
                <a:gridCol w="866273">
                  <a:extLst>
                    <a:ext uri="{9D8B030D-6E8A-4147-A177-3AD203B41FA5}">
                      <a16:colId xmlns:a16="http://schemas.microsoft.com/office/drawing/2014/main" val="20003"/>
                    </a:ext>
                  </a:extLst>
                </a:gridCol>
                <a:gridCol w="623717">
                  <a:extLst>
                    <a:ext uri="{9D8B030D-6E8A-4147-A177-3AD203B41FA5}">
                      <a16:colId xmlns:a16="http://schemas.microsoft.com/office/drawing/2014/main" val="20004"/>
                    </a:ext>
                  </a:extLst>
                </a:gridCol>
                <a:gridCol w="866273">
                  <a:extLst>
                    <a:ext uri="{9D8B030D-6E8A-4147-A177-3AD203B41FA5}">
                      <a16:colId xmlns:a16="http://schemas.microsoft.com/office/drawing/2014/main" val="20005"/>
                    </a:ext>
                  </a:extLst>
                </a:gridCol>
                <a:gridCol w="623717">
                  <a:extLst>
                    <a:ext uri="{9D8B030D-6E8A-4147-A177-3AD203B41FA5}">
                      <a16:colId xmlns:a16="http://schemas.microsoft.com/office/drawing/2014/main" val="20006"/>
                    </a:ext>
                  </a:extLst>
                </a:gridCol>
              </a:tblGrid>
              <a:tr h="237744">
                <a:tc>
                  <a:txBody>
                    <a:bodyPr/>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extLst>
                  <a:ext uri="{0D108BD9-81ED-4DB2-BD59-A6C34878D82A}">
                    <a16:rowId xmlns:a16="http://schemas.microsoft.com/office/drawing/2014/main" val="10000"/>
                  </a:ext>
                </a:extLst>
              </a:tr>
              <a:tr h="212140">
                <a:tc>
                  <a:txBody>
                    <a:bodyPr/>
                    <a:lstStyle/>
                    <a:p>
                      <a:pPr algn="l">
                        <a:spcAft>
                          <a:spcPts val="0"/>
                        </a:spcAft>
                      </a:pPr>
                      <a:r>
                        <a:rPr sz="800" b="0">
                          <a:solidFill>
                            <a:srgbClr val="1A1A1A"/>
                          </a:solidFill>
                          <a:latin typeface="游ゴシック"/>
                          <a:ea typeface="游ゴシック"/>
                          <a:cs typeface="游ゴシック"/>
                        </a:rPr>
                        <a:t>そば売上高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1,928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1,592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1,949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8.7%</a:t>
                      </a:r>
                    </a:p>
                  </a:txBody>
                  <a:tcPr marL="45720" marR="45720" marT="9144" marB="9144" anchor="ctr">
                    <a:solidFill>
                      <a:srgbClr val="FFFFFF"/>
                    </a:solidFill>
                  </a:tcPr>
                </a:tc>
                <a:extLst>
                  <a:ext uri="{0D108BD9-81ED-4DB2-BD59-A6C34878D82A}">
                    <a16:rowId xmlns:a16="http://schemas.microsoft.com/office/drawing/2014/main" val="10001"/>
                  </a:ext>
                </a:extLst>
              </a:tr>
              <a:tr h="212140">
                <a:tc>
                  <a:txBody>
                    <a:bodyPr/>
                    <a:lstStyle/>
                    <a:p>
                      <a:pPr algn="l">
                        <a:spcAft>
                          <a:spcPts val="0"/>
                        </a:spcAft>
                      </a:pPr>
                      <a:r>
                        <a:rPr sz="800" b="0">
                          <a:solidFill>
                            <a:srgbClr val="1A1A1A"/>
                          </a:solidFill>
                          <a:latin typeface="游ゴシック"/>
                          <a:ea typeface="游ゴシック"/>
                          <a:cs typeface="游ゴシック"/>
                        </a:rPr>
                        <a:t>小麦等売上高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2,131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1,919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2,273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10.1%</a:t>
                      </a:r>
                    </a:p>
                  </a:txBody>
                  <a:tcPr marL="45720" marR="45720" marT="9144" marB="9144" anchor="ctr">
                    <a:solidFill>
                      <a:srgbClr val="FFFFFF"/>
                    </a:solidFill>
                  </a:tcPr>
                </a:tc>
                <a:extLst>
                  <a:ext uri="{0D108BD9-81ED-4DB2-BD59-A6C34878D82A}">
                    <a16:rowId xmlns:a16="http://schemas.microsoft.com/office/drawing/2014/main" val="10002"/>
                  </a:ext>
                </a:extLst>
              </a:tr>
              <a:tr h="212140">
                <a:tc>
                  <a:txBody>
                    <a:bodyPr/>
                    <a:lstStyle/>
                    <a:p>
                      <a:pPr algn="l">
                        <a:spcAft>
                          <a:spcPts val="0"/>
                        </a:spcAft>
                      </a:pPr>
                      <a:r>
                        <a:rPr sz="800" b="0">
                          <a:solidFill>
                            <a:srgbClr val="1A1A1A"/>
                          </a:solidFill>
                          <a:latin typeface="游ゴシック"/>
                          <a:ea typeface="游ゴシック"/>
                          <a:cs typeface="游ゴシック"/>
                        </a:rPr>
                        <a:t>商品売上高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1,141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538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2.4%</a:t>
                      </a:r>
                    </a:p>
                  </a:txBody>
                  <a:tcPr marL="45720" marR="45720" marT="9144" marB="9144" anchor="ctr">
                    <a:solidFill>
                      <a:srgbClr val="FFFFFF"/>
                    </a:solidFill>
                  </a:tcPr>
                </a:tc>
                <a:extLst>
                  <a:ext uri="{0D108BD9-81ED-4DB2-BD59-A6C34878D82A}">
                    <a16:rowId xmlns:a16="http://schemas.microsoft.com/office/drawing/2014/main" val="10003"/>
                  </a:ext>
                </a:extLst>
              </a:tr>
              <a:tr h="212140">
                <a:tc>
                  <a:txBody>
                    <a:bodyPr/>
                    <a:lstStyle/>
                    <a:p>
                      <a:pPr algn="l">
                        <a:spcAft>
                          <a:spcPts val="0"/>
                        </a:spcAft>
                      </a:pPr>
                      <a:r>
                        <a:rPr sz="800" b="0">
                          <a:solidFill>
                            <a:srgbClr val="1A1A1A"/>
                          </a:solidFill>
                          <a:latin typeface="游ゴシック"/>
                          <a:ea typeface="游ゴシック"/>
                          <a:cs typeface="游ゴシック"/>
                        </a:rPr>
                        <a:t>飲食店売上高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19,255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78.7%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19,019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80.8%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17,723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78.8%</a:t>
                      </a:r>
                    </a:p>
                  </a:txBody>
                  <a:tcPr marL="45720" marR="45720" marT="9144" marB="9144" anchor="ctr">
                    <a:solidFill>
                      <a:srgbClr val="FFFFFF"/>
                    </a:solidFill>
                  </a:tcPr>
                </a:tc>
                <a:extLst>
                  <a:ext uri="{0D108BD9-81ED-4DB2-BD59-A6C34878D82A}">
                    <a16:rowId xmlns:a16="http://schemas.microsoft.com/office/drawing/2014/main" val="10004"/>
                  </a:ext>
                </a:extLst>
              </a:tr>
              <a:tr h="212140">
                <a:tc>
                  <a:txBody>
                    <a:bodyPr/>
                    <a:lstStyle/>
                    <a:p>
                      <a:pPr algn="l">
                        <a:spcAft>
                          <a:spcPts val="0"/>
                        </a:spcAft>
                      </a:pPr>
                      <a:r>
                        <a:rPr sz="800" b="1">
                          <a:solidFill>
                            <a:srgbClr val="1A1A1A"/>
                          </a:solidFill>
                          <a:latin typeface="游ゴシック"/>
                          <a:ea typeface="游ゴシック"/>
                          <a:cs typeface="游ゴシック"/>
                        </a:rPr>
                        <a:t>売上高</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24,455</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23,542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22,484</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tcPr>
                </a:tc>
                <a:extLst>
                  <a:ext uri="{0D108BD9-81ED-4DB2-BD59-A6C34878D82A}">
                    <a16:rowId xmlns:a16="http://schemas.microsoft.com/office/drawing/2014/main" val="10005"/>
                  </a:ext>
                </a:extLst>
              </a:tr>
              <a:tr h="212140">
                <a:tc>
                  <a:txBody>
                    <a:bodyPr/>
                    <a:lstStyle/>
                    <a:p>
                      <a:pPr algn="l">
                        <a:spcAft>
                          <a:spcPts val="0"/>
                        </a:spcAft>
                      </a:pPr>
                      <a:r>
                        <a:rPr sz="800" b="0">
                          <a:solidFill>
                            <a:srgbClr val="1A1A1A"/>
                          </a:solidFill>
                          <a:latin typeface="游ゴシック"/>
                          <a:ea typeface="游ゴシック"/>
                          <a:cs typeface="游ゴシック"/>
                        </a:rPr>
                        <a:t>期首棚卸高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281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0.4%</a:t>
                      </a:r>
                    </a:p>
                  </a:txBody>
                  <a:tcPr marL="45720" marR="45720" marT="9144" marB="9144" anchor="ctr">
                    <a:solidFill>
                      <a:srgbClr val="FFFFFF"/>
                    </a:solidFill>
                  </a:tcPr>
                </a:tc>
                <a:extLst>
                  <a:ext uri="{0D108BD9-81ED-4DB2-BD59-A6C34878D82A}">
                    <a16:rowId xmlns:a16="http://schemas.microsoft.com/office/drawing/2014/main" val="10006"/>
                  </a:ext>
                </a:extLst>
              </a:tr>
              <a:tr h="212140">
                <a:tc>
                  <a:txBody>
                    <a:bodyPr/>
                    <a:lstStyle/>
                    <a:p>
                      <a:pPr algn="l">
                        <a:spcAft>
                          <a:spcPts val="0"/>
                        </a:spcAft>
                      </a:pPr>
                      <a:r>
                        <a:rPr sz="800" b="0">
                          <a:solidFill>
                            <a:srgbClr val="1A1A1A"/>
                          </a:solidFill>
                          <a:latin typeface="游ゴシック"/>
                          <a:ea typeface="游ゴシック"/>
                          <a:cs typeface="游ゴシック"/>
                        </a:rPr>
                        <a:t>商品仕入高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154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0.4%</a:t>
                      </a:r>
                    </a:p>
                  </a:txBody>
                  <a:tcPr marL="45720" marR="45720" marT="9144" marB="9144" anchor="ctr">
                    <a:solidFill>
                      <a:srgbClr val="FFFFFF"/>
                    </a:solidFill>
                  </a:tcPr>
                </a:tc>
                <a:extLst>
                  <a:ext uri="{0D108BD9-81ED-4DB2-BD59-A6C34878D82A}">
                    <a16:rowId xmlns:a16="http://schemas.microsoft.com/office/drawing/2014/main" val="10007"/>
                  </a:ext>
                </a:extLst>
              </a:tr>
              <a:tr h="212140">
                <a:tc>
                  <a:txBody>
                    <a:bodyPr/>
                    <a:lstStyle/>
                    <a:p>
                      <a:pPr algn="l">
                        <a:spcAft>
                          <a:spcPts val="0"/>
                        </a:spcAft>
                      </a:pPr>
                      <a:r>
                        <a:rPr sz="800" b="0">
                          <a:solidFill>
                            <a:srgbClr val="1A1A1A"/>
                          </a:solidFill>
                          <a:latin typeface="游ゴシック"/>
                          <a:ea typeface="游ゴシック"/>
                          <a:cs typeface="游ゴシック"/>
                        </a:rPr>
                        <a:t>当期製品製造原価</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16,208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66.3%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15,680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66.6%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16,579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73.7%</a:t>
                      </a:r>
                    </a:p>
                  </a:txBody>
                  <a:tcPr marL="45720" marR="45720" marT="9144" marB="9144" anchor="ctr">
                    <a:solidFill>
                      <a:srgbClr val="FFFFFF"/>
                    </a:solidFill>
                  </a:tcPr>
                </a:tc>
                <a:extLst>
                  <a:ext uri="{0D108BD9-81ED-4DB2-BD59-A6C34878D82A}">
                    <a16:rowId xmlns:a16="http://schemas.microsoft.com/office/drawing/2014/main" val="10008"/>
                  </a:ext>
                </a:extLst>
              </a:tr>
              <a:tr h="212140">
                <a:tc>
                  <a:txBody>
                    <a:bodyPr/>
                    <a:lstStyle/>
                    <a:p>
                      <a:pPr algn="l">
                        <a:spcAft>
                          <a:spcPts val="0"/>
                        </a:spcAft>
                      </a:pPr>
                      <a:r>
                        <a:rPr sz="800" b="0">
                          <a:solidFill>
                            <a:srgbClr val="1A1A1A"/>
                          </a:solidFill>
                          <a:latin typeface="游ゴシック"/>
                          <a:ea typeface="游ゴシック"/>
                          <a:cs typeface="游ゴシック"/>
                        </a:rPr>
                        <a:t>期末棚卸高</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△281</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△1.1%</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△86</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△0.4%</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△329</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△1.5%</a:t>
                      </a:r>
                    </a:p>
                  </a:txBody>
                  <a:tcPr marL="45720" marR="45720" marT="9144" marB="9144" anchor="ctr">
                    <a:solidFill>
                      <a:srgbClr val="FFFFFF"/>
                    </a:solidFill>
                  </a:tcPr>
                </a:tc>
                <a:extLst>
                  <a:ext uri="{0D108BD9-81ED-4DB2-BD59-A6C34878D82A}">
                    <a16:rowId xmlns:a16="http://schemas.microsoft.com/office/drawing/2014/main" val="10009"/>
                  </a:ext>
                </a:extLst>
              </a:tr>
              <a:tr h="212140">
                <a:tc>
                  <a:txBody>
                    <a:bodyPr/>
                    <a:lstStyle/>
                    <a:p>
                      <a:pPr algn="l">
                        <a:spcAft>
                          <a:spcPts val="0"/>
                        </a:spcAft>
                      </a:pPr>
                      <a:r>
                        <a:rPr sz="800" b="1">
                          <a:solidFill>
                            <a:srgbClr val="1A1A1A"/>
                          </a:solidFill>
                          <a:latin typeface="游ゴシック"/>
                          <a:ea typeface="游ゴシック"/>
                          <a:cs typeface="游ゴシック"/>
                        </a:rPr>
                        <a:t>売上原価</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16,403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67.1%</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16,047</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68.2%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16,428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73.1%</a:t>
                      </a:r>
                    </a:p>
                  </a:txBody>
                  <a:tcPr marL="45720" marR="45720" marT="9144" marB="9144" anchor="ctr">
                    <a:solidFill>
                      <a:srgbClr val="FFFFFF"/>
                    </a:solidFill>
                  </a:tcPr>
                </a:tc>
                <a:extLst>
                  <a:ext uri="{0D108BD9-81ED-4DB2-BD59-A6C34878D82A}">
                    <a16:rowId xmlns:a16="http://schemas.microsoft.com/office/drawing/2014/main" val="10010"/>
                  </a:ext>
                </a:extLst>
              </a:tr>
              <a:tr h="212140">
                <a:tc>
                  <a:txBody>
                    <a:bodyPr/>
                    <a:lstStyle/>
                    <a:p>
                      <a:pPr algn="l">
                        <a:spcAft>
                          <a:spcPts val="0"/>
                        </a:spcAft>
                      </a:pPr>
                      <a:r>
                        <a:rPr sz="800" b="1">
                          <a:solidFill>
                            <a:srgbClr val="1A1A1A"/>
                          </a:solidFill>
                          <a:latin typeface="游ゴシック"/>
                          <a:ea typeface="游ゴシック"/>
                          <a:cs typeface="游ゴシック"/>
                        </a:rPr>
                        <a:t>売上総利益</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8,051</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32.9%</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7,495</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31.8%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6,056</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26.9%</a:t>
                      </a:r>
                    </a:p>
                  </a:txBody>
                  <a:tcPr marL="45720" marR="45720" marT="9144" marB="9144" anchor="ctr">
                    <a:solidFill>
                      <a:srgbClr val="FFFFFF"/>
                    </a:solidFill>
                  </a:tcPr>
                </a:tc>
                <a:extLst>
                  <a:ext uri="{0D108BD9-81ED-4DB2-BD59-A6C34878D82A}">
                    <a16:rowId xmlns:a16="http://schemas.microsoft.com/office/drawing/2014/main" val="10011"/>
                  </a:ext>
                </a:extLst>
              </a:tr>
              <a:tr h="212140">
                <a:tc>
                  <a:txBody>
                    <a:bodyPr/>
                    <a:lstStyle/>
                    <a:p>
                      <a:pPr algn="l">
                        <a:spcAft>
                          <a:spcPts val="0"/>
                        </a:spcAft>
                      </a:pPr>
                      <a:r>
                        <a:rPr sz="80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7,082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6,212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26.4%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6,267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27.9%</a:t>
                      </a:r>
                    </a:p>
                  </a:txBody>
                  <a:tcPr marL="45720" marR="45720" marT="9144" marB="9144" anchor="ctr">
                    <a:solidFill>
                      <a:srgbClr val="FFFFFF"/>
                    </a:solidFill>
                  </a:tcPr>
                </a:tc>
                <a:extLst>
                  <a:ext uri="{0D108BD9-81ED-4DB2-BD59-A6C34878D82A}">
                    <a16:rowId xmlns:a16="http://schemas.microsoft.com/office/drawing/2014/main" val="10012"/>
                  </a:ext>
                </a:extLst>
              </a:tr>
              <a:tr h="212140">
                <a:tc>
                  <a:txBody>
                    <a:bodyPr/>
                    <a:lstStyle/>
                    <a:p>
                      <a:pPr algn="l">
                        <a:spcAft>
                          <a:spcPts val="0"/>
                        </a:spcAft>
                      </a:pPr>
                      <a:r>
                        <a:rPr sz="800" b="1">
                          <a:solidFill>
                            <a:srgbClr val="1A1A1A"/>
                          </a:solidFill>
                          <a:latin typeface="游ゴシック"/>
                          <a:ea typeface="游ゴシック"/>
                          <a:cs typeface="游ゴシック"/>
                        </a:rPr>
                        <a:t>営業利益</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970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4.0%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1,283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5.5%</a:t>
                      </a:r>
                    </a:p>
                  </a:txBody>
                  <a:tcPr marL="45720" marR="45720" marT="9144" marB="9144" anchor="ctr">
                    <a:solidFill>
                      <a:srgbClr val="FFFFFF"/>
                    </a:solidFill>
                  </a:tcPr>
                </a:tc>
                <a:tc>
                  <a:txBody>
                    <a:bodyPr/>
                    <a:lstStyle/>
                    <a:p>
                      <a:pPr algn="r">
                        <a:spcAft>
                          <a:spcPts val="0"/>
                        </a:spcAft>
                      </a:pPr>
                      <a:r>
                        <a:rPr sz="800" b="1">
                          <a:solidFill>
                            <a:srgbClr val="C03A2B"/>
                          </a:solidFill>
                          <a:latin typeface="Arial"/>
                          <a:ea typeface="Arial"/>
                          <a:cs typeface="Arial"/>
                        </a:rPr>
                        <a:t>△211</a:t>
                      </a:r>
                    </a:p>
                  </a:txBody>
                  <a:tcPr marL="45720" marR="45720" marT="9144" marB="9144" anchor="ctr">
                    <a:solidFill>
                      <a:srgbClr val="FFFFFF"/>
                    </a:solidFill>
                  </a:tcPr>
                </a:tc>
                <a:tc>
                  <a:txBody>
                    <a:bodyPr/>
                    <a:lstStyle/>
                    <a:p>
                      <a:pPr algn="r">
                        <a:spcAft>
                          <a:spcPts val="0"/>
                        </a:spcAft>
                      </a:pPr>
                      <a:r>
                        <a:rPr sz="800" b="1">
                          <a:solidFill>
                            <a:srgbClr val="C03A2B"/>
                          </a:solidFill>
                          <a:latin typeface="Arial"/>
                          <a:ea typeface="Arial"/>
                          <a:cs typeface="Arial"/>
                        </a:rPr>
                        <a:t>△0.9%</a:t>
                      </a:r>
                    </a:p>
                  </a:txBody>
                  <a:tcPr marL="45720" marR="45720" marT="9144" marB="9144" anchor="ctr">
                    <a:solidFill>
                      <a:srgbClr val="FFFFFF"/>
                    </a:solidFill>
                  </a:tcPr>
                </a:tc>
                <a:extLst>
                  <a:ext uri="{0D108BD9-81ED-4DB2-BD59-A6C34878D82A}">
                    <a16:rowId xmlns:a16="http://schemas.microsoft.com/office/drawing/2014/main" val="10013"/>
                  </a:ext>
                </a:extLst>
              </a:tr>
              <a:tr h="212140">
                <a:tc>
                  <a:txBody>
                    <a:bodyPr/>
                    <a:lstStyle/>
                    <a:p>
                      <a:pPr algn="l">
                        <a:spcAft>
                          <a:spcPts val="0"/>
                        </a:spcAft>
                      </a:pPr>
                      <a:r>
                        <a:rPr sz="800" b="0">
                          <a:solidFill>
                            <a:srgbClr val="1A1A1A"/>
                          </a:solidFill>
                          <a:latin typeface="游ゴシック"/>
                          <a:ea typeface="游ゴシック"/>
                          <a:cs typeface="游ゴシック"/>
                        </a:rPr>
                        <a:t>営業外収益</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2,492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tcPr>
                </a:tc>
                <a:extLst>
                  <a:ext uri="{0D108BD9-81ED-4DB2-BD59-A6C34878D82A}">
                    <a16:rowId xmlns:a16="http://schemas.microsoft.com/office/drawing/2014/main" val="10014"/>
                  </a:ext>
                </a:extLst>
              </a:tr>
              <a:tr h="212140">
                <a:tc>
                  <a:txBody>
                    <a:bodyPr/>
                    <a:lstStyle/>
                    <a:p>
                      <a:pPr algn="l">
                        <a:spcAft>
                          <a:spcPts val="0"/>
                        </a:spcAft>
                      </a:pPr>
                      <a:r>
                        <a:rPr sz="800" b="0">
                          <a:solidFill>
                            <a:srgbClr val="1A1A1A"/>
                          </a:solidFill>
                          <a:latin typeface="游ゴシック"/>
                          <a:ea typeface="游ゴシック"/>
                          <a:cs typeface="游ゴシック"/>
                        </a:rPr>
                        <a:t>　受取利息</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extLst>
                  <a:ext uri="{0D108BD9-81ED-4DB2-BD59-A6C34878D82A}">
                    <a16:rowId xmlns:a16="http://schemas.microsoft.com/office/drawing/2014/main" val="10015"/>
                  </a:ext>
                </a:extLst>
              </a:tr>
              <a:tr h="212140">
                <a:tc>
                  <a:txBody>
                    <a:bodyPr/>
                    <a:lstStyle/>
                    <a:p>
                      <a:pPr algn="l">
                        <a:spcAft>
                          <a:spcPts val="0"/>
                        </a:spcAft>
                      </a:pPr>
                      <a:r>
                        <a:rPr sz="800" b="0">
                          <a:solidFill>
                            <a:srgbClr val="1A1A1A"/>
                          </a:solidFill>
                          <a:latin typeface="游ゴシック"/>
                          <a:ea typeface="游ゴシック"/>
                          <a:cs typeface="游ゴシック"/>
                        </a:rPr>
                        <a:t>　雑収入</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2,490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tcPr>
                </a:tc>
                <a:extLst>
                  <a:ext uri="{0D108BD9-81ED-4DB2-BD59-A6C34878D82A}">
                    <a16:rowId xmlns:a16="http://schemas.microsoft.com/office/drawing/2014/main" val="10016"/>
                  </a:ext>
                </a:extLst>
              </a:tr>
              <a:tr h="212140">
                <a:tc>
                  <a:txBody>
                    <a:bodyPr/>
                    <a:lstStyle/>
                    <a:p>
                      <a:pPr algn="l">
                        <a:spcAft>
                          <a:spcPts val="0"/>
                        </a:spcAft>
                      </a:pPr>
                      <a:r>
                        <a:rPr sz="800" b="0">
                          <a:solidFill>
                            <a:srgbClr val="1A1A1A"/>
                          </a:solidFill>
                          <a:latin typeface="游ゴシック"/>
                          <a:ea typeface="游ゴシック"/>
                          <a:cs typeface="游ゴシック"/>
                        </a:rPr>
                        <a:t>営業外費用</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2,282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extLst>
                  <a:ext uri="{0D108BD9-81ED-4DB2-BD59-A6C34878D82A}">
                    <a16:rowId xmlns:a16="http://schemas.microsoft.com/office/drawing/2014/main" val="10017"/>
                  </a:ext>
                </a:extLst>
              </a:tr>
              <a:tr h="212140">
                <a:tc>
                  <a:txBody>
                    <a:bodyPr/>
                    <a:lstStyle/>
                    <a:p>
                      <a:pPr algn="l">
                        <a:spcAft>
                          <a:spcPts val="0"/>
                        </a:spcAft>
                      </a:pPr>
                      <a:r>
                        <a:rPr sz="800" b="0">
                          <a:solidFill>
                            <a:srgbClr val="1A1A1A"/>
                          </a:solidFill>
                          <a:latin typeface="游ゴシック"/>
                          <a:ea typeface="游ゴシック"/>
                          <a:cs typeface="游ゴシック"/>
                        </a:rPr>
                        <a:t>　圧縮記帳損</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2,282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extLst>
                  <a:ext uri="{0D108BD9-81ED-4DB2-BD59-A6C34878D82A}">
                    <a16:rowId xmlns:a16="http://schemas.microsoft.com/office/drawing/2014/main" val="10018"/>
                  </a:ext>
                </a:extLst>
              </a:tr>
              <a:tr h="212140">
                <a:tc>
                  <a:txBody>
                    <a:bodyPr/>
                    <a:lstStyle/>
                    <a:p>
                      <a:pPr algn="l">
                        <a:spcAft>
                          <a:spcPts val="0"/>
                        </a:spcAft>
                      </a:pPr>
                      <a:r>
                        <a:rPr sz="800" b="1">
                          <a:solidFill>
                            <a:srgbClr val="1A1A1A"/>
                          </a:solidFill>
                          <a:latin typeface="游ゴシック"/>
                          <a:ea typeface="游ゴシック"/>
                          <a:cs typeface="游ゴシック"/>
                        </a:rPr>
                        <a:t>経常利益</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1,265</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1,493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0.1%</a:t>
                      </a:r>
                    </a:p>
                  </a:txBody>
                  <a:tcPr marL="45720" marR="45720" marT="9144" marB="9144" anchor="ctr">
                    <a:solidFill>
                      <a:srgbClr val="FFFFFF"/>
                    </a:solidFill>
                  </a:tcPr>
                </a:tc>
                <a:extLst>
                  <a:ext uri="{0D108BD9-81ED-4DB2-BD59-A6C34878D82A}">
                    <a16:rowId xmlns:a16="http://schemas.microsoft.com/office/drawing/2014/main" val="10019"/>
                  </a:ext>
                </a:extLst>
              </a:tr>
              <a:tr h="212140">
                <a:tc>
                  <a:txBody>
                    <a:bodyPr/>
                    <a:lstStyle/>
                    <a:p>
                      <a:pPr algn="l">
                        <a:spcAft>
                          <a:spcPts val="0"/>
                        </a:spcAft>
                      </a:pPr>
                      <a:r>
                        <a:rPr sz="800" b="1">
                          <a:solidFill>
                            <a:srgbClr val="1A1A1A"/>
                          </a:solidFill>
                          <a:latin typeface="游ゴシック"/>
                          <a:ea typeface="游ゴシック"/>
                          <a:cs typeface="游ゴシック"/>
                        </a:rPr>
                        <a:t>税引前当期純利益</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1,265</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1,493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0.1%</a:t>
                      </a:r>
                    </a:p>
                  </a:txBody>
                  <a:tcPr marL="45720" marR="45720" marT="9144" marB="9144" anchor="ctr">
                    <a:solidFill>
                      <a:srgbClr val="FFFFFF"/>
                    </a:solidFill>
                  </a:tcPr>
                </a:tc>
                <a:extLst>
                  <a:ext uri="{0D108BD9-81ED-4DB2-BD59-A6C34878D82A}">
                    <a16:rowId xmlns:a16="http://schemas.microsoft.com/office/drawing/2014/main" val="10020"/>
                  </a:ext>
                </a:extLst>
              </a:tr>
              <a:tr h="212140">
                <a:tc>
                  <a:txBody>
                    <a:bodyPr/>
                    <a:lstStyle/>
                    <a:p>
                      <a:pPr algn="l">
                        <a:spcAft>
                          <a:spcPts val="0"/>
                        </a:spcAft>
                      </a:pPr>
                      <a:r>
                        <a:rPr sz="800" b="0">
                          <a:solidFill>
                            <a:srgbClr val="1A1A1A"/>
                          </a:solidFill>
                          <a:latin typeface="游ゴシック"/>
                          <a:ea typeface="游ゴシック"/>
                          <a:cs typeface="游ゴシック"/>
                        </a:rPr>
                        <a:t>法人税等</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354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0.3%</a:t>
                      </a:r>
                    </a:p>
                  </a:txBody>
                  <a:tcPr marL="45720" marR="45720" marT="9144" marB="9144" anchor="ctr">
                    <a:solidFill>
                      <a:srgbClr val="FFFFFF"/>
                    </a:solidFill>
                  </a:tcPr>
                </a:tc>
                <a:extLst>
                  <a:ext uri="{0D108BD9-81ED-4DB2-BD59-A6C34878D82A}">
                    <a16:rowId xmlns:a16="http://schemas.microsoft.com/office/drawing/2014/main" val="10021"/>
                  </a:ext>
                </a:extLst>
              </a:tr>
              <a:tr h="212140">
                <a:tc>
                  <a:txBody>
                    <a:bodyPr/>
                    <a:lstStyle/>
                    <a:p>
                      <a:pPr algn="l">
                        <a:spcAft>
                          <a:spcPts val="0"/>
                        </a:spcAft>
                      </a:pPr>
                      <a:r>
                        <a:rPr sz="800" b="1">
                          <a:solidFill>
                            <a:srgbClr val="1A1A1A"/>
                          </a:solidFill>
                          <a:latin typeface="游ゴシック"/>
                          <a:ea typeface="游ゴシック"/>
                          <a:cs typeface="游ゴシック"/>
                        </a:rPr>
                        <a:t>当期純利益</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911</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3.7%</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1,081</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4.6%</a:t>
                      </a:r>
                    </a:p>
                  </a:txBody>
                  <a:tcPr marL="45720" marR="45720" marT="9144" marB="9144" anchor="ctr">
                    <a:solidFill>
                      <a:srgbClr val="FFFFFF"/>
                    </a:solidFill>
                  </a:tcPr>
                </a:tc>
                <a:tc>
                  <a:txBody>
                    <a:bodyPr/>
                    <a:lstStyle/>
                    <a:p>
                      <a:pPr algn="r">
                        <a:spcAft>
                          <a:spcPts val="0"/>
                        </a:spcAft>
                      </a:pPr>
                      <a:r>
                        <a:rPr sz="800" b="1">
                          <a:solidFill>
                            <a:srgbClr val="C03A2B"/>
                          </a:solidFill>
                          <a:latin typeface="Arial"/>
                          <a:ea typeface="Arial"/>
                          <a:cs typeface="Arial"/>
                        </a:rPr>
                        <a:t>△54</a:t>
                      </a:r>
                    </a:p>
                  </a:txBody>
                  <a:tcPr marL="45720" marR="45720" marT="9144" marB="9144" anchor="ctr">
                    <a:solidFill>
                      <a:srgbClr val="FFFFFF"/>
                    </a:solidFill>
                  </a:tcPr>
                </a:tc>
                <a:tc>
                  <a:txBody>
                    <a:bodyPr/>
                    <a:lstStyle/>
                    <a:p>
                      <a:pPr algn="r">
                        <a:spcAft>
                          <a:spcPts val="0"/>
                        </a:spcAft>
                      </a:pPr>
                      <a:r>
                        <a:rPr sz="800" b="1">
                          <a:solidFill>
                            <a:srgbClr val="C03A2B"/>
                          </a:solidFill>
                          <a:latin typeface="Arial"/>
                          <a:ea typeface="Arial"/>
                          <a:cs typeface="Arial"/>
                        </a:rPr>
                        <a:t>△0.2%</a:t>
                      </a:r>
                    </a:p>
                  </a:txBody>
                  <a:tcPr marL="45720" marR="45720" marT="9144" marB="9144" anchor="ctr">
                    <a:solidFill>
                      <a:srgbClr val="FFFFFF"/>
                    </a:solidFill>
                  </a:tcPr>
                </a:tc>
                <a:extLst>
                  <a:ext uri="{0D108BD9-81ED-4DB2-BD59-A6C34878D82A}">
                    <a16:rowId xmlns:a16="http://schemas.microsoft.com/office/drawing/2014/main" val="10022"/>
                  </a:ext>
                </a:extLst>
              </a:tr>
            </a:tbl>
          </a:graphicData>
        </a:graphic>
      </p:graphicFrame>
      <p:sp>
        <p:nvSpPr>
          <p:cNvPr id="15" name="Rectangle 14"/>
          <p:cNvSpPr/>
          <p:nvPr/>
        </p:nvSpPr>
        <p:spPr>
          <a:xfrm>
            <a:off x="7114032" y="1408176"/>
            <a:ext cx="326440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205472" y="1481328"/>
            <a:ext cx="308152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7223760" y="1828800"/>
            <a:ext cx="3044952" cy="4535423"/>
          </a:xfrm>
          <a:prstGeom prst="rect">
            <a:avLst/>
          </a:prstGeom>
          <a:noFill/>
        </p:spPr>
        <p:txBody>
          <a:bodyPr wrap="square" lIns="0" tIns="0" r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≪売上高≫ </a:t>
            </a:r>
            <a:r>
              <a:rPr sz="830" b="0">
                <a:solidFill>
                  <a:srgbClr val="1A1A1A"/>
                </a:solidFill>
                <a:latin typeface="游ゴシック"/>
                <a:ea typeface="游ゴシック"/>
                <a:cs typeface="游ゴシック"/>
              </a:rPr>
              <a:t>24,455→23,542→22,484千円と毎期減少。4区分のうち飲食店売上高の減少が最大。</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≪売上原価≫ </a:t>
            </a:r>
            <a:r>
              <a:rPr sz="830" b="0">
                <a:solidFill>
                  <a:srgbClr val="1A1A1A"/>
                </a:solidFill>
                <a:latin typeface="游ゴシック"/>
                <a:ea typeface="游ゴシック"/>
                <a:cs typeface="游ゴシック"/>
              </a:rPr>
              <a:t>16,403→16,047→16,428千円と横ばい。製造原価の42.3％が減価償却費であり、売上に連動しない固定費が大きい。</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≪販管費≫ </a:t>
            </a:r>
            <a:r>
              <a:rPr sz="830" b="0">
                <a:solidFill>
                  <a:srgbClr val="1A1A1A"/>
                </a:solidFill>
                <a:latin typeface="游ゴシック"/>
                <a:ea typeface="游ゴシック"/>
                <a:cs typeface="游ゴシック"/>
              </a:rPr>
              <a:t>7,082→6,212→6,267千円。給料手当・役員報酬の計上はない（労務費は製造原価）。</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≪営業外損益≫ </a:t>
            </a:r>
            <a:r>
              <a:rPr sz="830" b="0">
                <a:solidFill>
                  <a:srgbClr val="1A1A1A"/>
                </a:solidFill>
                <a:latin typeface="游ゴシック"/>
                <a:ea typeface="游ゴシック"/>
                <a:cs typeface="游ゴシック"/>
              </a:rPr>
              <a:t>2025/5期の雑収入2,490千円には補助金収入を含み、営業外費用の圧縮記帳損2,282千円は当該補助金に係るホームページ改修費用の圧縮記帳。いずれも非経常。</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≪当期純利益≫ </a:t>
            </a:r>
            <a:r>
              <a:rPr sz="830" b="0">
                <a:solidFill>
                  <a:srgbClr val="1A1A1A"/>
                </a:solidFill>
                <a:latin typeface="游ゴシック"/>
                <a:ea typeface="游ゴシック"/>
                <a:cs typeface="游ゴシック"/>
              </a:rPr>
              <a:t>911→1,081→△54千円。2026/5期は法人税等72千円の計上により最終赤字。</a:t>
            </a:r>
          </a:p>
        </p:txBody>
      </p:sp>
      <p:sp>
        <p:nvSpPr>
          <p:cNvPr id="18" name="TextBox 17"/>
          <p:cNvSpPr txBox="1"/>
          <p:nvPr/>
        </p:nvSpPr>
        <p:spPr>
          <a:xfrm>
            <a:off x="310896" y="663854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決算書（2024年5月期〜2026年5月期）に基づく。構成比は売上高に対する比率。</a:t>
            </a:r>
          </a:p>
        </p:txBody>
      </p:sp>
      <p:sp>
        <p:nvSpPr>
          <p:cNvPr id="3" name="タイトル 1">
            <a:extLst>
              <a:ext uri="{FF2B5EF4-FFF2-40B4-BE49-F238E27FC236}">
                <a16:creationId xmlns:a16="http://schemas.microsoft.com/office/drawing/2014/main" id="{14C64FDC-0E22-DA43-B30A-F78A3EC1FBF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財務情報詳細</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3740942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製造原価報告書</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製造原価16,579千円のうち減価償却費が7,012千円（42.3％）を占め、売上に連動しない固定費性の高い原価構造</a:t>
            </a:r>
            <a:endParaRPr lang="en-US" altLang="ja-JP" dirty="0"/>
          </a:p>
        </p:txBody>
      </p:sp>
      <p:graphicFrame>
        <p:nvGraphicFramePr>
          <p:cNvPr id="14" name="Table 13"/>
          <p:cNvGraphicFramePr>
            <a:graphicFrameLocks noGrp="1"/>
          </p:cNvGraphicFramePr>
          <p:nvPr/>
        </p:nvGraphicFramePr>
        <p:xfrm>
          <a:off x="310896" y="1408176"/>
          <a:ext cx="4846316" cy="4615887"/>
        </p:xfrm>
        <a:graphic>
          <a:graphicData uri="http://schemas.openxmlformats.org/drawingml/2006/table">
            <a:tbl>
              <a:tblPr>
                <a:tableStyleId>{5940675A-B579-460E-94D1-54222C63F5DA}</a:tableStyleId>
              </a:tblPr>
              <a:tblGrid>
                <a:gridCol w="1993391">
                  <a:extLst>
                    <a:ext uri="{9D8B030D-6E8A-4147-A177-3AD203B41FA5}">
                      <a16:colId xmlns:a16="http://schemas.microsoft.com/office/drawing/2014/main" val="20000"/>
                    </a:ext>
                  </a:extLst>
                </a:gridCol>
                <a:gridCol w="950975">
                  <a:extLst>
                    <a:ext uri="{9D8B030D-6E8A-4147-A177-3AD203B41FA5}">
                      <a16:colId xmlns:a16="http://schemas.microsoft.com/office/drawing/2014/main" val="20001"/>
                    </a:ext>
                  </a:extLst>
                </a:gridCol>
                <a:gridCol w="950975">
                  <a:extLst>
                    <a:ext uri="{9D8B030D-6E8A-4147-A177-3AD203B41FA5}">
                      <a16:colId xmlns:a16="http://schemas.microsoft.com/office/drawing/2014/main" val="20002"/>
                    </a:ext>
                  </a:extLst>
                </a:gridCol>
                <a:gridCol w="950975">
                  <a:extLst>
                    <a:ext uri="{9D8B030D-6E8A-4147-A177-3AD203B41FA5}">
                      <a16:colId xmlns:a16="http://schemas.microsoft.com/office/drawing/2014/main" val="20003"/>
                    </a:ext>
                  </a:extLst>
                </a:gridCol>
              </a:tblGrid>
              <a:tr h="237744">
                <a:tc>
                  <a:txBody>
                    <a:bodyPr/>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tcPr>
                </a:tc>
                <a:extLst>
                  <a:ext uri="{0D108BD9-81ED-4DB2-BD59-A6C34878D82A}">
                    <a16:rowId xmlns:a16="http://schemas.microsoft.com/office/drawing/2014/main" val="10000"/>
                  </a:ext>
                </a:extLst>
              </a:tr>
              <a:tr h="208483">
                <a:tc>
                  <a:txBody>
                    <a:bodyPr/>
                    <a:lstStyle/>
                    <a:p>
                      <a:pPr algn="l">
                        <a:spcAft>
                          <a:spcPts val="0"/>
                        </a:spcAft>
                      </a:pPr>
                      <a:r>
                        <a:rPr sz="800" b="0">
                          <a:solidFill>
                            <a:srgbClr val="1A1A1A"/>
                          </a:solidFill>
                          <a:latin typeface="游ゴシック"/>
                          <a:ea typeface="游ゴシック"/>
                          <a:cs typeface="游ゴシック"/>
                        </a:rPr>
                        <a:t>期首材料棚卸高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3,288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3,237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2,938</a:t>
                      </a:r>
                    </a:p>
                  </a:txBody>
                  <a:tcPr marL="45720" marR="45720" marT="9144" marB="9144" anchor="ctr">
                    <a:solidFill>
                      <a:srgbClr val="FFFFFF"/>
                    </a:solidFill>
                  </a:tcPr>
                </a:tc>
                <a:extLst>
                  <a:ext uri="{0D108BD9-81ED-4DB2-BD59-A6C34878D82A}">
                    <a16:rowId xmlns:a16="http://schemas.microsoft.com/office/drawing/2014/main" val="10001"/>
                  </a:ext>
                </a:extLst>
              </a:tr>
              <a:tr h="208483">
                <a:tc>
                  <a:txBody>
                    <a:bodyPr/>
                    <a:lstStyle/>
                    <a:p>
                      <a:pPr algn="l">
                        <a:spcAft>
                          <a:spcPts val="0"/>
                        </a:spcAft>
                      </a:pPr>
                      <a:r>
                        <a:rPr sz="800" b="0">
                          <a:solidFill>
                            <a:srgbClr val="1A1A1A"/>
                          </a:solidFill>
                          <a:latin typeface="游ゴシック"/>
                          <a:ea typeface="游ゴシック"/>
                          <a:cs typeface="游ゴシック"/>
                        </a:rPr>
                        <a:t>材料仕入高</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5,079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4,313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4,595</a:t>
                      </a:r>
                    </a:p>
                  </a:txBody>
                  <a:tcPr marL="45720" marR="45720" marT="9144" marB="9144" anchor="ctr">
                    <a:solidFill>
                      <a:srgbClr val="FFFFFF"/>
                    </a:solidFill>
                  </a:tcPr>
                </a:tc>
                <a:extLst>
                  <a:ext uri="{0D108BD9-81ED-4DB2-BD59-A6C34878D82A}">
                    <a16:rowId xmlns:a16="http://schemas.microsoft.com/office/drawing/2014/main" val="10002"/>
                  </a:ext>
                </a:extLst>
              </a:tr>
              <a:tr h="208483">
                <a:tc>
                  <a:txBody>
                    <a:bodyPr/>
                    <a:lstStyle/>
                    <a:p>
                      <a:pPr algn="l">
                        <a:spcAft>
                          <a:spcPts val="0"/>
                        </a:spcAft>
                      </a:pPr>
                      <a:r>
                        <a:rPr sz="800" b="0">
                          <a:solidFill>
                            <a:srgbClr val="1A1A1A"/>
                          </a:solidFill>
                          <a:latin typeface="游ゴシック"/>
                          <a:ea typeface="游ゴシック"/>
                          <a:cs typeface="游ゴシック"/>
                        </a:rPr>
                        <a:t>小計</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8,367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7,550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7,533</a:t>
                      </a:r>
                    </a:p>
                  </a:txBody>
                  <a:tcPr marL="45720" marR="45720" marT="9144" marB="9144" anchor="ctr">
                    <a:solidFill>
                      <a:srgbClr val="FFFFFF"/>
                    </a:solidFill>
                  </a:tcPr>
                </a:tc>
                <a:extLst>
                  <a:ext uri="{0D108BD9-81ED-4DB2-BD59-A6C34878D82A}">
                    <a16:rowId xmlns:a16="http://schemas.microsoft.com/office/drawing/2014/main" val="10003"/>
                  </a:ext>
                </a:extLst>
              </a:tr>
              <a:tr h="208483">
                <a:tc>
                  <a:txBody>
                    <a:bodyPr/>
                    <a:lstStyle/>
                    <a:p>
                      <a:pPr algn="l">
                        <a:spcAft>
                          <a:spcPts val="0"/>
                        </a:spcAft>
                      </a:pPr>
                      <a:r>
                        <a:rPr sz="800" b="0">
                          <a:solidFill>
                            <a:srgbClr val="1A1A1A"/>
                          </a:solidFill>
                          <a:latin typeface="游ゴシック"/>
                          <a:ea typeface="游ゴシック"/>
                          <a:cs typeface="游ゴシック"/>
                        </a:rPr>
                        <a:t>期末材料棚卸高</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△3,237</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△2,938</a:t>
                      </a:r>
                    </a:p>
                  </a:txBody>
                  <a:tcPr marL="45720" marR="45720" marT="9144" marB="9144" anchor="ctr">
                    <a:solidFill>
                      <a:srgbClr val="FFFFFF"/>
                    </a:solidFill>
                  </a:tcPr>
                </a:tc>
                <a:tc>
                  <a:txBody>
                    <a:bodyPr/>
                    <a:lstStyle/>
                    <a:p>
                      <a:pPr algn="r">
                        <a:spcAft>
                          <a:spcPts val="0"/>
                        </a:spcAft>
                      </a:pPr>
                      <a:r>
                        <a:rPr sz="800" b="0">
                          <a:solidFill>
                            <a:srgbClr val="C03A2B"/>
                          </a:solidFill>
                          <a:latin typeface="Arial"/>
                          <a:ea typeface="Arial"/>
                          <a:cs typeface="Arial"/>
                        </a:rPr>
                        <a:t>△2,025</a:t>
                      </a:r>
                    </a:p>
                  </a:txBody>
                  <a:tcPr marL="45720" marR="45720" marT="9144" marB="9144" anchor="ctr">
                    <a:solidFill>
                      <a:srgbClr val="FFFFFF"/>
                    </a:solidFill>
                  </a:tcPr>
                </a:tc>
                <a:extLst>
                  <a:ext uri="{0D108BD9-81ED-4DB2-BD59-A6C34878D82A}">
                    <a16:rowId xmlns:a16="http://schemas.microsoft.com/office/drawing/2014/main" val="10004"/>
                  </a:ext>
                </a:extLst>
              </a:tr>
              <a:tr h="208483">
                <a:tc>
                  <a:txBody>
                    <a:bodyPr/>
                    <a:lstStyle/>
                    <a:p>
                      <a:pPr algn="l">
                        <a:spcAft>
                          <a:spcPts val="0"/>
                        </a:spcAft>
                      </a:pPr>
                      <a:r>
                        <a:rPr sz="800" b="1">
                          <a:solidFill>
                            <a:srgbClr val="1A1A1A"/>
                          </a:solidFill>
                          <a:latin typeface="游ゴシック"/>
                          <a:ea typeface="游ゴシック"/>
                          <a:cs typeface="游ゴシック"/>
                        </a:rPr>
                        <a:t>材料費</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5,130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4,612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5,508</a:t>
                      </a:r>
                    </a:p>
                  </a:txBody>
                  <a:tcPr marL="45720" marR="45720" marT="9144" marB="9144" anchor="ctr">
                    <a:solidFill>
                      <a:srgbClr val="FFFFFF"/>
                    </a:solidFill>
                  </a:tcPr>
                </a:tc>
                <a:extLst>
                  <a:ext uri="{0D108BD9-81ED-4DB2-BD59-A6C34878D82A}">
                    <a16:rowId xmlns:a16="http://schemas.microsoft.com/office/drawing/2014/main" val="10005"/>
                  </a:ext>
                </a:extLst>
              </a:tr>
              <a:tr h="208483">
                <a:tc>
                  <a:txBody>
                    <a:bodyPr/>
                    <a:lstStyle/>
                    <a:p>
                      <a:pPr algn="l">
                        <a:spcAft>
                          <a:spcPts val="0"/>
                        </a:spcAft>
                      </a:pPr>
                      <a:r>
                        <a:rPr sz="800" b="0">
                          <a:solidFill>
                            <a:srgbClr val="1A1A1A"/>
                          </a:solidFill>
                          <a:latin typeface="游ゴシック"/>
                          <a:ea typeface="游ゴシック"/>
                          <a:cs typeface="游ゴシック"/>
                        </a:rPr>
                        <a:t>雑給</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1,989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2,188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2,201</a:t>
                      </a:r>
                    </a:p>
                  </a:txBody>
                  <a:tcPr marL="45720" marR="45720" marT="9144" marB="9144" anchor="ctr">
                    <a:solidFill>
                      <a:srgbClr val="FFFFFF"/>
                    </a:solidFill>
                  </a:tcPr>
                </a:tc>
                <a:extLst>
                  <a:ext uri="{0D108BD9-81ED-4DB2-BD59-A6C34878D82A}">
                    <a16:rowId xmlns:a16="http://schemas.microsoft.com/office/drawing/2014/main" val="10006"/>
                  </a:ext>
                </a:extLst>
              </a:tr>
              <a:tr h="208483">
                <a:tc>
                  <a:txBody>
                    <a:bodyPr/>
                    <a:lstStyle/>
                    <a:p>
                      <a:pPr algn="l">
                        <a:spcAft>
                          <a:spcPts val="0"/>
                        </a:spcAft>
                      </a:pPr>
                      <a:r>
                        <a:rPr sz="800" b="0">
                          <a:solidFill>
                            <a:srgbClr val="1A1A1A"/>
                          </a:solidFill>
                          <a:latin typeface="游ゴシック"/>
                          <a:ea typeface="游ゴシック"/>
                          <a:cs typeface="游ゴシック"/>
                        </a:rPr>
                        <a:t>厚生費</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tcPr>
                </a:tc>
                <a:extLst>
                  <a:ext uri="{0D108BD9-81ED-4DB2-BD59-A6C34878D82A}">
                    <a16:rowId xmlns:a16="http://schemas.microsoft.com/office/drawing/2014/main" val="10007"/>
                  </a:ext>
                </a:extLst>
              </a:tr>
              <a:tr h="208483">
                <a:tc>
                  <a:txBody>
                    <a:bodyPr/>
                    <a:lstStyle/>
                    <a:p>
                      <a:pPr algn="l">
                        <a:spcAft>
                          <a:spcPts val="0"/>
                        </a:spcAft>
                      </a:pPr>
                      <a:r>
                        <a:rPr sz="800" b="1">
                          <a:solidFill>
                            <a:srgbClr val="1A1A1A"/>
                          </a:solidFill>
                          <a:latin typeface="游ゴシック"/>
                          <a:ea typeface="游ゴシック"/>
                          <a:cs typeface="游ゴシック"/>
                        </a:rPr>
                        <a:t>労務費</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1,989</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2,199</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2,221</a:t>
                      </a:r>
                    </a:p>
                  </a:txBody>
                  <a:tcPr marL="45720" marR="45720" marT="9144" marB="9144" anchor="ctr">
                    <a:solidFill>
                      <a:srgbClr val="FFFFFF"/>
                    </a:solidFill>
                  </a:tcPr>
                </a:tc>
                <a:extLst>
                  <a:ext uri="{0D108BD9-81ED-4DB2-BD59-A6C34878D82A}">
                    <a16:rowId xmlns:a16="http://schemas.microsoft.com/office/drawing/2014/main" val="10008"/>
                  </a:ext>
                </a:extLst>
              </a:tr>
              <a:tr h="208483">
                <a:tc>
                  <a:txBody>
                    <a:bodyPr/>
                    <a:lstStyle/>
                    <a:p>
                      <a:pPr algn="l">
                        <a:spcAft>
                          <a:spcPts val="0"/>
                        </a:spcAft>
                      </a:pPr>
                      <a:r>
                        <a:rPr sz="800" b="0">
                          <a:solidFill>
                            <a:srgbClr val="1A1A1A"/>
                          </a:solidFill>
                          <a:latin typeface="游ゴシック"/>
                          <a:ea typeface="游ゴシック"/>
                          <a:cs typeface="游ゴシック"/>
                        </a:rPr>
                        <a:t>外注加工費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394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272</a:t>
                      </a:r>
                    </a:p>
                  </a:txBody>
                  <a:tcPr marL="45720" marR="45720" marT="9144" marB="9144" anchor="ctr">
                    <a:solidFill>
                      <a:srgbClr val="FFFFFF"/>
                    </a:solidFill>
                  </a:tcPr>
                </a:tc>
                <a:extLst>
                  <a:ext uri="{0D108BD9-81ED-4DB2-BD59-A6C34878D82A}">
                    <a16:rowId xmlns:a16="http://schemas.microsoft.com/office/drawing/2014/main" val="10009"/>
                  </a:ext>
                </a:extLst>
              </a:tr>
              <a:tr h="208483">
                <a:tc>
                  <a:txBody>
                    <a:bodyPr/>
                    <a:lstStyle/>
                    <a:p>
                      <a:pPr algn="l">
                        <a:spcAft>
                          <a:spcPts val="0"/>
                        </a:spcAft>
                      </a:pPr>
                      <a:r>
                        <a:rPr sz="800" b="1">
                          <a:solidFill>
                            <a:srgbClr val="1A1A1A"/>
                          </a:solidFill>
                          <a:latin typeface="游ゴシック"/>
                          <a:ea typeface="游ゴシック"/>
                          <a:cs typeface="游ゴシック"/>
                        </a:rPr>
                        <a:t>外注費 計</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394</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272</a:t>
                      </a:r>
                    </a:p>
                  </a:txBody>
                  <a:tcPr marL="45720" marR="45720" marT="9144" marB="9144" anchor="ctr">
                    <a:solidFill>
                      <a:srgbClr val="FFFFFF"/>
                    </a:solidFill>
                  </a:tcPr>
                </a:tc>
                <a:extLst>
                  <a:ext uri="{0D108BD9-81ED-4DB2-BD59-A6C34878D82A}">
                    <a16:rowId xmlns:a16="http://schemas.microsoft.com/office/drawing/2014/main" val="10010"/>
                  </a:ext>
                </a:extLst>
              </a:tr>
              <a:tr h="208483">
                <a:tc>
                  <a:txBody>
                    <a:bodyPr/>
                    <a:lstStyle/>
                    <a:p>
                      <a:pPr algn="l">
                        <a:spcAft>
                          <a:spcPts val="0"/>
                        </a:spcAft>
                      </a:pPr>
                      <a:r>
                        <a:rPr sz="800" b="0">
                          <a:solidFill>
                            <a:srgbClr val="1A1A1A"/>
                          </a:solidFill>
                          <a:latin typeface="游ゴシック"/>
                          <a:ea typeface="游ゴシック"/>
                          <a:cs typeface="游ゴシック"/>
                        </a:rPr>
                        <a:t>育苗・耕作費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39</a:t>
                      </a:r>
                    </a:p>
                  </a:txBody>
                  <a:tcPr marL="45720" marR="45720" marT="9144" marB="9144" anchor="ctr">
                    <a:solidFill>
                      <a:srgbClr val="FFFFFF"/>
                    </a:solidFill>
                  </a:tcPr>
                </a:tc>
                <a:extLst>
                  <a:ext uri="{0D108BD9-81ED-4DB2-BD59-A6C34878D82A}">
                    <a16:rowId xmlns:a16="http://schemas.microsoft.com/office/drawing/2014/main" val="10011"/>
                  </a:ext>
                </a:extLst>
              </a:tr>
              <a:tr h="208483">
                <a:tc>
                  <a:txBody>
                    <a:bodyPr/>
                    <a:lstStyle/>
                    <a:p>
                      <a:pPr algn="l">
                        <a:spcAft>
                          <a:spcPts val="0"/>
                        </a:spcAft>
                      </a:pPr>
                      <a:r>
                        <a:rPr sz="800" b="0">
                          <a:solidFill>
                            <a:srgbClr val="1A1A1A"/>
                          </a:solidFill>
                          <a:latin typeface="游ゴシック"/>
                          <a:ea typeface="游ゴシック"/>
                          <a:cs typeface="游ゴシック"/>
                        </a:rPr>
                        <a:t>ガス代</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364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350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342</a:t>
                      </a:r>
                    </a:p>
                  </a:txBody>
                  <a:tcPr marL="45720" marR="45720" marT="9144" marB="9144" anchor="ctr">
                    <a:solidFill>
                      <a:srgbClr val="FFFFFF"/>
                    </a:solidFill>
                  </a:tcPr>
                </a:tc>
                <a:extLst>
                  <a:ext uri="{0D108BD9-81ED-4DB2-BD59-A6C34878D82A}">
                    <a16:rowId xmlns:a16="http://schemas.microsoft.com/office/drawing/2014/main" val="10012"/>
                  </a:ext>
                </a:extLst>
              </a:tr>
              <a:tr h="208483">
                <a:tc>
                  <a:txBody>
                    <a:bodyPr/>
                    <a:lstStyle/>
                    <a:p>
                      <a:pPr algn="l">
                        <a:spcAft>
                          <a:spcPts val="0"/>
                        </a:spcAft>
                      </a:pPr>
                      <a:r>
                        <a:rPr sz="800" b="0">
                          <a:solidFill>
                            <a:srgbClr val="1A1A1A"/>
                          </a:solidFill>
                          <a:latin typeface="游ゴシック"/>
                          <a:ea typeface="游ゴシック"/>
                          <a:cs typeface="游ゴシック"/>
                        </a:rPr>
                        <a:t>水道料</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tcPr>
                </a:tc>
                <a:extLst>
                  <a:ext uri="{0D108BD9-81ED-4DB2-BD59-A6C34878D82A}">
                    <a16:rowId xmlns:a16="http://schemas.microsoft.com/office/drawing/2014/main" val="10013"/>
                  </a:ext>
                </a:extLst>
              </a:tr>
              <a:tr h="208483">
                <a:tc>
                  <a:txBody>
                    <a:bodyPr/>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7,265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7,292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7,012</a:t>
                      </a:r>
                    </a:p>
                  </a:txBody>
                  <a:tcPr marL="45720" marR="45720" marT="9144" marB="9144" anchor="ctr">
                    <a:solidFill>
                      <a:srgbClr val="FFFFFF"/>
                    </a:solidFill>
                  </a:tcPr>
                </a:tc>
                <a:extLst>
                  <a:ext uri="{0D108BD9-81ED-4DB2-BD59-A6C34878D82A}">
                    <a16:rowId xmlns:a16="http://schemas.microsoft.com/office/drawing/2014/main" val="10014"/>
                  </a:ext>
                </a:extLst>
              </a:tr>
              <a:tr h="208483">
                <a:tc>
                  <a:txBody>
                    <a:bodyPr/>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367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564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591</a:t>
                      </a:r>
                    </a:p>
                  </a:txBody>
                  <a:tcPr marL="45720" marR="45720" marT="9144" marB="9144" anchor="ctr">
                    <a:solidFill>
                      <a:srgbClr val="FFFFFF"/>
                    </a:solidFill>
                  </a:tcPr>
                </a:tc>
                <a:extLst>
                  <a:ext uri="{0D108BD9-81ED-4DB2-BD59-A6C34878D82A}">
                    <a16:rowId xmlns:a16="http://schemas.microsoft.com/office/drawing/2014/main" val="10015"/>
                  </a:ext>
                </a:extLst>
              </a:tr>
              <a:tr h="208483">
                <a:tc>
                  <a:txBody>
                    <a:bodyPr/>
                    <a:lstStyle/>
                    <a:p>
                      <a:pPr algn="l">
                        <a:spcAft>
                          <a:spcPts val="0"/>
                        </a:spcAft>
                      </a:pPr>
                      <a:r>
                        <a:rPr sz="800" b="0">
                          <a:solidFill>
                            <a:srgbClr val="1A1A1A"/>
                          </a:solidFill>
                          <a:latin typeface="游ゴシック"/>
                          <a:ea typeface="游ゴシック"/>
                          <a:cs typeface="游ゴシック"/>
                        </a:rPr>
                        <a:t>消耗品費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201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267</a:t>
                      </a:r>
                    </a:p>
                  </a:txBody>
                  <a:tcPr marL="45720" marR="45720" marT="9144" marB="9144" anchor="ctr">
                    <a:solidFill>
                      <a:srgbClr val="FFFFFF"/>
                    </a:solidFill>
                  </a:tcPr>
                </a:tc>
                <a:extLst>
                  <a:ext uri="{0D108BD9-81ED-4DB2-BD59-A6C34878D82A}">
                    <a16:rowId xmlns:a16="http://schemas.microsoft.com/office/drawing/2014/main" val="10016"/>
                  </a:ext>
                </a:extLst>
              </a:tr>
              <a:tr h="208483">
                <a:tc>
                  <a:txBody>
                    <a:bodyPr/>
                    <a:lstStyle/>
                    <a:p>
                      <a:pPr algn="l">
                        <a:spcAft>
                          <a:spcPts val="0"/>
                        </a:spcAft>
                      </a:pPr>
                      <a:r>
                        <a:rPr sz="800" b="0">
                          <a:solidFill>
                            <a:srgbClr val="1A1A1A"/>
                          </a:solidFill>
                          <a:latin typeface="游ゴシック"/>
                          <a:ea typeface="游ゴシック"/>
                          <a:cs typeface="游ゴシック"/>
                        </a:rPr>
                        <a:t>旅費</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8</a:t>
                      </a:r>
                    </a:p>
                  </a:txBody>
                  <a:tcPr marL="45720" marR="45720" marT="9144" marB="9144" anchor="ctr">
                    <a:solidFill>
                      <a:srgbClr val="FFFFFF"/>
                    </a:solidFill>
                  </a:tcPr>
                </a:tc>
                <a:extLst>
                  <a:ext uri="{0D108BD9-81ED-4DB2-BD59-A6C34878D82A}">
                    <a16:rowId xmlns:a16="http://schemas.microsoft.com/office/drawing/2014/main" val="10017"/>
                  </a:ext>
                </a:extLst>
              </a:tr>
              <a:tr h="208483">
                <a:tc>
                  <a:txBody>
                    <a:bodyPr/>
                    <a:lstStyle/>
                    <a:p>
                      <a:pPr algn="l">
                        <a:spcAft>
                          <a:spcPts val="0"/>
                        </a:spcAft>
                      </a:pPr>
                      <a:r>
                        <a:rPr sz="800" b="0">
                          <a:solidFill>
                            <a:srgbClr val="1A1A1A"/>
                          </a:solidFill>
                          <a:latin typeface="游ゴシック"/>
                          <a:ea typeface="游ゴシック"/>
                          <a:cs typeface="游ゴシック"/>
                        </a:rPr>
                        <a:t>衛生管理費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287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286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224</a:t>
                      </a:r>
                    </a:p>
                  </a:txBody>
                  <a:tcPr marL="45720" marR="45720" marT="9144" marB="9144" anchor="ctr">
                    <a:solidFill>
                      <a:srgbClr val="FFFFFF"/>
                    </a:solidFill>
                  </a:tcPr>
                </a:tc>
                <a:extLst>
                  <a:ext uri="{0D108BD9-81ED-4DB2-BD59-A6C34878D82A}">
                    <a16:rowId xmlns:a16="http://schemas.microsoft.com/office/drawing/2014/main" val="10018"/>
                  </a:ext>
                </a:extLst>
              </a:tr>
              <a:tr h="208483">
                <a:tc>
                  <a:txBody>
                    <a:bodyPr/>
                    <a:lstStyle/>
                    <a:p>
                      <a:pPr algn="l">
                        <a:spcAft>
                          <a:spcPts val="0"/>
                        </a:spcAft>
                      </a:pPr>
                      <a:r>
                        <a:rPr sz="800" b="1">
                          <a:solidFill>
                            <a:srgbClr val="1A1A1A"/>
                          </a:solidFill>
                          <a:latin typeface="游ゴシック"/>
                          <a:ea typeface="游ゴシック"/>
                          <a:cs typeface="游ゴシック"/>
                        </a:rPr>
                        <a:t>経費</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8,695</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8,863</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8,578</a:t>
                      </a:r>
                    </a:p>
                  </a:txBody>
                  <a:tcPr marL="45720" marR="45720" marT="9144" marB="9144" anchor="ctr">
                    <a:solidFill>
                      <a:srgbClr val="FFFFFF"/>
                    </a:solidFill>
                  </a:tcPr>
                </a:tc>
                <a:extLst>
                  <a:ext uri="{0D108BD9-81ED-4DB2-BD59-A6C34878D82A}">
                    <a16:rowId xmlns:a16="http://schemas.microsoft.com/office/drawing/2014/main" val="10019"/>
                  </a:ext>
                </a:extLst>
              </a:tr>
              <a:tr h="208483">
                <a:tc>
                  <a:txBody>
                    <a:bodyPr/>
                    <a:lstStyle/>
                    <a:p>
                      <a:pPr algn="l">
                        <a:spcAft>
                          <a:spcPts val="0"/>
                        </a:spcAft>
                      </a:pPr>
                      <a:r>
                        <a:rPr sz="800" b="1">
                          <a:solidFill>
                            <a:srgbClr val="1A1A1A"/>
                          </a:solidFill>
                          <a:latin typeface="游ゴシック"/>
                          <a:ea typeface="游ゴシック"/>
                          <a:cs typeface="游ゴシック"/>
                        </a:rPr>
                        <a:t>当期総製造費用</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tcPr>
                </a:tc>
                <a:extLst>
                  <a:ext uri="{0D108BD9-81ED-4DB2-BD59-A6C34878D82A}">
                    <a16:rowId xmlns:a16="http://schemas.microsoft.com/office/drawing/2014/main" val="10020"/>
                  </a:ext>
                </a:extLst>
              </a:tr>
              <a:tr h="208483">
                <a:tc>
                  <a:txBody>
                    <a:bodyPr/>
                    <a:lstStyle/>
                    <a:p>
                      <a:pPr algn="l">
                        <a:spcAft>
                          <a:spcPts val="0"/>
                        </a:spcAft>
                      </a:pPr>
                      <a:r>
                        <a:rPr sz="800" b="1">
                          <a:solidFill>
                            <a:srgbClr val="1A1A1A"/>
                          </a:solidFill>
                          <a:latin typeface="游ゴシック"/>
                          <a:ea typeface="游ゴシック"/>
                          <a:cs typeface="游ゴシック"/>
                        </a:rPr>
                        <a:t>当期製品製造原価</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tcPr>
                </a:tc>
                <a:extLst>
                  <a:ext uri="{0D108BD9-81ED-4DB2-BD59-A6C34878D82A}">
                    <a16:rowId xmlns:a16="http://schemas.microsoft.com/office/drawing/2014/main" val="10021"/>
                  </a:ext>
                </a:extLst>
              </a:tr>
            </a:tbl>
          </a:graphicData>
        </a:graphic>
      </p:graphicFrame>
      <p:sp>
        <p:nvSpPr>
          <p:cNvPr id="15" name="Rectangle 14"/>
          <p:cNvSpPr/>
          <p:nvPr/>
        </p:nvSpPr>
        <p:spPr>
          <a:xfrm>
            <a:off x="5376672" y="1408176"/>
            <a:ext cx="500176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468112" y="1481328"/>
            <a:ext cx="4818888"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5486400" y="1828800"/>
            <a:ext cx="4782312" cy="4535423"/>
          </a:xfrm>
          <a:prstGeom prst="rect">
            <a:avLst/>
          </a:prstGeom>
          <a:noFill/>
        </p:spPr>
        <p:txBody>
          <a:bodyPr wrap="square" lIns="0" tIns="0" rIns="0" bIns="0" anchor="t">
            <a:spAutoFit/>
          </a:bodyPr>
          <a:lstStyle/>
          <a:p>
            <a:pPr algn="l">
              <a:lnSpc>
                <a:spcPct val="122000"/>
              </a:lnSpc>
              <a:spcAft>
                <a:spcPts val="200"/>
              </a:spcAft>
            </a:pPr>
            <a:r>
              <a:rPr sz="900" b="1">
                <a:solidFill>
                  <a:srgbClr val="0889C9"/>
                </a:solidFill>
                <a:latin typeface="游ゴシック"/>
                <a:ea typeface="游ゴシック"/>
                <a:cs typeface="游ゴシック"/>
              </a:rPr>
              <a:t>≪減価償却費 7,012千円≫ </a:t>
            </a:r>
            <a:r>
              <a:rPr sz="900" b="0">
                <a:solidFill>
                  <a:srgbClr val="1A1A1A"/>
                </a:solidFill>
                <a:latin typeface="游ゴシック"/>
                <a:ea typeface="游ゴシック"/>
                <a:cs typeface="游ゴシック"/>
              </a:rPr>
              <a:t>7,265→7,292→7,012千円。製造原価の42.3％を占める。2002年取得の建物・建物附属設備（旧定額法・旧定率法）が中心であり、今後は逓減する見込み。</a:t>
            </a:r>
          </a:p>
          <a:p>
            <a:pPr algn="l">
              <a:spcAft>
                <a:spcPts val="200"/>
              </a:spcAft>
            </a:pPr>
            <a:endParaRPr sz="900" b="0">
              <a:solidFill>
                <a:srgbClr val="1A1A1A"/>
              </a:solidFill>
              <a:latin typeface="游ゴシック"/>
              <a:ea typeface="游ゴシック"/>
              <a:cs typeface="游ゴシック"/>
            </a:endParaRPr>
          </a:p>
          <a:p>
            <a:pPr algn="l">
              <a:lnSpc>
                <a:spcPct val="122000"/>
              </a:lnSpc>
              <a:spcAft>
                <a:spcPts val="200"/>
              </a:spcAft>
            </a:pPr>
            <a:r>
              <a:rPr sz="900" b="1">
                <a:solidFill>
                  <a:srgbClr val="0889C9"/>
                </a:solidFill>
                <a:latin typeface="游ゴシック"/>
                <a:ea typeface="游ゴシック"/>
                <a:cs typeface="游ゴシック"/>
              </a:rPr>
              <a:t>≪材料費 5,508千円≫ </a:t>
            </a:r>
            <a:r>
              <a:rPr sz="900" b="0">
                <a:solidFill>
                  <a:srgbClr val="1A1A1A"/>
                </a:solidFill>
                <a:latin typeface="游ゴシック"/>
                <a:ea typeface="游ゴシック"/>
                <a:cs typeface="游ゴシック"/>
              </a:rPr>
              <a:t>5,130→4,612→5,508千円。玄そば・小麦のほか、鴨肉・岩魚・山菜等の季節食材を含む。期末材料棚卸高は3,237→2,938→2,025千円と減少しており、玄そばの在庫水準の低下が見られる。</a:t>
            </a:r>
          </a:p>
          <a:p>
            <a:pPr algn="l">
              <a:spcAft>
                <a:spcPts val="200"/>
              </a:spcAft>
            </a:pPr>
            <a:endParaRPr sz="900" b="0">
              <a:solidFill>
                <a:srgbClr val="1A1A1A"/>
              </a:solidFill>
              <a:latin typeface="游ゴシック"/>
              <a:ea typeface="游ゴシック"/>
              <a:cs typeface="游ゴシック"/>
            </a:endParaRPr>
          </a:p>
          <a:p>
            <a:pPr algn="l">
              <a:lnSpc>
                <a:spcPct val="122000"/>
              </a:lnSpc>
              <a:spcAft>
                <a:spcPts val="200"/>
              </a:spcAft>
            </a:pPr>
            <a:r>
              <a:rPr sz="900" b="1">
                <a:solidFill>
                  <a:srgbClr val="0889C9"/>
                </a:solidFill>
                <a:latin typeface="游ゴシック"/>
                <a:ea typeface="游ゴシック"/>
                <a:cs typeface="游ゴシック"/>
              </a:rPr>
              <a:t>≪労務費 2,221千円≫ </a:t>
            </a:r>
            <a:r>
              <a:rPr sz="900" b="0">
                <a:solidFill>
                  <a:srgbClr val="1A1A1A"/>
                </a:solidFill>
                <a:latin typeface="游ゴシック"/>
                <a:ea typeface="游ゴシック"/>
                <a:cs typeface="游ゴシック"/>
              </a:rPr>
              <a:t>雑給1,989→2,199→2,221千円。親族への「手伝い料」が中心で支払先は「小川実他1」。代表者・配偶者はいずれも無報酬であり、本報告書にも計上されていない。</a:t>
            </a:r>
          </a:p>
          <a:p>
            <a:pPr algn="l">
              <a:spcAft>
                <a:spcPts val="200"/>
              </a:spcAft>
            </a:pPr>
            <a:endParaRPr sz="900" b="0">
              <a:solidFill>
                <a:srgbClr val="1A1A1A"/>
              </a:solidFill>
              <a:latin typeface="游ゴシック"/>
              <a:ea typeface="游ゴシック"/>
              <a:cs typeface="游ゴシック"/>
            </a:endParaRPr>
          </a:p>
          <a:p>
            <a:pPr algn="l">
              <a:lnSpc>
                <a:spcPct val="122000"/>
              </a:lnSpc>
              <a:spcAft>
                <a:spcPts val="200"/>
              </a:spcAft>
            </a:pPr>
            <a:r>
              <a:rPr sz="900" b="1">
                <a:solidFill>
                  <a:srgbClr val="0889C9"/>
                </a:solidFill>
                <a:latin typeface="游ゴシック"/>
                <a:ea typeface="游ゴシック"/>
                <a:cs typeface="游ゴシック"/>
              </a:rPr>
              <a:t>≪外注加工費 272千円≫ </a:t>
            </a:r>
            <a:r>
              <a:rPr sz="900" b="0">
                <a:solidFill>
                  <a:srgbClr val="1A1A1A"/>
                </a:solidFill>
                <a:latin typeface="游ゴシック"/>
                <a:ea typeface="游ゴシック"/>
                <a:cs typeface="游ゴシック"/>
              </a:rPr>
              <a:t>394→6→272千円。2026/5期は伊勢又米穀製粉（株）への製粉外注267千円が中心。</a:t>
            </a:r>
          </a:p>
          <a:p>
            <a:pPr algn="l">
              <a:spcAft>
                <a:spcPts val="200"/>
              </a:spcAft>
            </a:pPr>
            <a:endParaRPr sz="900" b="0">
              <a:solidFill>
                <a:srgbClr val="1A1A1A"/>
              </a:solidFill>
              <a:latin typeface="游ゴシック"/>
              <a:ea typeface="游ゴシック"/>
              <a:cs typeface="游ゴシック"/>
            </a:endParaRPr>
          </a:p>
          <a:p>
            <a:pPr algn="l">
              <a:lnSpc>
                <a:spcPct val="122000"/>
              </a:lnSpc>
              <a:spcAft>
                <a:spcPts val="200"/>
              </a:spcAft>
            </a:pPr>
            <a:r>
              <a:rPr sz="900" b="1">
                <a:solidFill>
                  <a:srgbClr val="0889C9"/>
                </a:solidFill>
                <a:latin typeface="游ゴシック"/>
                <a:ea typeface="游ゴシック"/>
                <a:cs typeface="游ゴシック"/>
              </a:rPr>
              <a:t>≪育苗・耕作費 39千円≫ </a:t>
            </a:r>
            <a:r>
              <a:rPr sz="900" b="0">
                <a:solidFill>
                  <a:srgbClr val="1A1A1A"/>
                </a:solidFill>
                <a:latin typeface="游ゴシック"/>
                <a:ea typeface="游ゴシック"/>
                <a:cs typeface="游ゴシック"/>
              </a:rPr>
              <a:t>自家栽培（焼畑を含む）に係る費用。大規模生産は中止し、現在は地元産の玄そばを適正価格で仕入れる方針と伺っている（面談ヒアリング）。</a:t>
            </a:r>
          </a:p>
        </p:txBody>
      </p:sp>
      <p:sp>
        <p:nvSpPr>
          <p:cNvPr id="18" name="TextBox 17"/>
          <p:cNvSpPr txBox="1"/>
          <p:nvPr/>
        </p:nvSpPr>
        <p:spPr>
          <a:xfrm>
            <a:off x="310896" y="663854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決算書（2024年5月期〜2026年5月期）に基づく。当期製品製造原価は損益計算書の同科目と一致する。</a:t>
            </a:r>
          </a:p>
        </p:txBody>
      </p:sp>
      <p:sp>
        <p:nvSpPr>
          <p:cNvPr id="3" name="タイトル 1">
            <a:extLst>
              <a:ext uri="{FF2B5EF4-FFF2-40B4-BE49-F238E27FC236}">
                <a16:creationId xmlns:a16="http://schemas.microsoft.com/office/drawing/2014/main" id="{D5B89AAD-1335-1C3F-146C-5C8012E1E04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err="1">
                <a:solidFill>
                  <a:schemeClr val="bg1"/>
                </a:solidFill>
                <a:latin typeface="游ゴシック"/>
                <a:ea typeface="游ゴシック"/>
                <a:cs typeface="游ゴシック"/>
              </a:rPr>
              <a:t>財務情報詳細</a:t>
            </a:r>
            <a:endParaRPr sz="1200" b="1" dirty="0">
              <a:solidFill>
                <a:schemeClr val="bg1"/>
              </a:solidFill>
              <a:latin typeface="游ゴシック"/>
              <a:ea typeface="游ゴシック"/>
              <a:cs typeface="游ゴシック"/>
            </a:endParaRPr>
          </a:p>
        </p:txBody>
      </p:sp>
    </p:spTree>
    <p:extLst>
      <p:ext uri="{BB962C8B-B14F-4D97-AF65-F5344CB8AC3E}">
        <p14:creationId xmlns:p14="http://schemas.microsoft.com/office/powerpoint/2010/main" val="296809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solidFill>
                  <a:schemeClr val="bg1"/>
                </a:solidFill>
                <a:latin typeface="游ゴシック"/>
                <a:ea typeface="游ゴシック"/>
                <a:cs typeface="游ゴシック"/>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販管費6,267千円は3期を通じてほぼ横ばい。水道光熱費・租税公課・管理諸費の3科目で59％を占める</a:t>
            </a:r>
            <a:endParaRPr lang="en-US" altLang="ja-JP" dirty="0"/>
          </a:p>
        </p:txBody>
      </p:sp>
      <p:graphicFrame>
        <p:nvGraphicFramePr>
          <p:cNvPr id="14" name="Table 13"/>
          <p:cNvGraphicFramePr>
            <a:graphicFrameLocks noGrp="1"/>
          </p:cNvGraphicFramePr>
          <p:nvPr/>
        </p:nvGraphicFramePr>
        <p:xfrm>
          <a:off x="310896" y="1408176"/>
          <a:ext cx="6583677" cy="3836816"/>
        </p:xfrm>
        <a:graphic>
          <a:graphicData uri="http://schemas.openxmlformats.org/drawingml/2006/table">
            <a:tbl>
              <a:tblPr>
                <a:tableStyleId>{5940675A-B579-460E-94D1-54222C63F5DA}</a:tableStyleId>
              </a:tblPr>
              <a:tblGrid>
                <a:gridCol w="2113707">
                  <a:extLst>
                    <a:ext uri="{9D8B030D-6E8A-4147-A177-3AD203B41FA5}">
                      <a16:colId xmlns:a16="http://schemas.microsoft.com/office/drawing/2014/main" val="20000"/>
                    </a:ext>
                  </a:extLst>
                </a:gridCol>
                <a:gridCol w="866273">
                  <a:extLst>
                    <a:ext uri="{9D8B030D-6E8A-4147-A177-3AD203B41FA5}">
                      <a16:colId xmlns:a16="http://schemas.microsoft.com/office/drawing/2014/main" val="20001"/>
                    </a:ext>
                  </a:extLst>
                </a:gridCol>
                <a:gridCol w="623717">
                  <a:extLst>
                    <a:ext uri="{9D8B030D-6E8A-4147-A177-3AD203B41FA5}">
                      <a16:colId xmlns:a16="http://schemas.microsoft.com/office/drawing/2014/main" val="20002"/>
                    </a:ext>
                  </a:extLst>
                </a:gridCol>
                <a:gridCol w="866273">
                  <a:extLst>
                    <a:ext uri="{9D8B030D-6E8A-4147-A177-3AD203B41FA5}">
                      <a16:colId xmlns:a16="http://schemas.microsoft.com/office/drawing/2014/main" val="20003"/>
                    </a:ext>
                  </a:extLst>
                </a:gridCol>
                <a:gridCol w="623717">
                  <a:extLst>
                    <a:ext uri="{9D8B030D-6E8A-4147-A177-3AD203B41FA5}">
                      <a16:colId xmlns:a16="http://schemas.microsoft.com/office/drawing/2014/main" val="20004"/>
                    </a:ext>
                  </a:extLst>
                </a:gridCol>
                <a:gridCol w="866273">
                  <a:extLst>
                    <a:ext uri="{9D8B030D-6E8A-4147-A177-3AD203B41FA5}">
                      <a16:colId xmlns:a16="http://schemas.microsoft.com/office/drawing/2014/main" val="20005"/>
                    </a:ext>
                  </a:extLst>
                </a:gridCol>
                <a:gridCol w="623717">
                  <a:extLst>
                    <a:ext uri="{9D8B030D-6E8A-4147-A177-3AD203B41FA5}">
                      <a16:colId xmlns:a16="http://schemas.microsoft.com/office/drawing/2014/main" val="20006"/>
                    </a:ext>
                  </a:extLst>
                </a:gridCol>
              </a:tblGrid>
              <a:tr h="237744">
                <a:tc>
                  <a:txBody>
                    <a:bodyPr/>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tcPr>
                </a:tc>
                <a:tc>
                  <a:txBody>
                    <a:bodyPr/>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tcPr>
                </a:tc>
                <a:extLst>
                  <a:ext uri="{0D108BD9-81ED-4DB2-BD59-A6C34878D82A}">
                    <a16:rowId xmlns:a16="http://schemas.microsoft.com/office/drawing/2014/main" val="10000"/>
                  </a:ext>
                </a:extLst>
              </a:tr>
              <a:tr h="224942">
                <a:tc>
                  <a:txBody>
                    <a:bodyPr/>
                    <a:lstStyle/>
                    <a:p>
                      <a:pPr algn="l">
                        <a:spcAft>
                          <a:spcPts val="0"/>
                        </a:spcAft>
                      </a:pPr>
                      <a:r>
                        <a:rPr sz="800" b="0">
                          <a:solidFill>
                            <a:srgbClr val="1A1A1A"/>
                          </a:solidFill>
                          <a:latin typeface="游ゴシック"/>
                          <a:ea typeface="游ゴシック"/>
                          <a:cs typeface="游ゴシック"/>
                        </a:rPr>
                        <a:t>広告宣伝費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1,025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674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729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3.2%</a:t>
                      </a:r>
                    </a:p>
                  </a:txBody>
                  <a:tcPr marL="45720" marR="45720" marT="9144" marB="9144" anchor="ctr">
                    <a:solidFill>
                      <a:srgbClr val="FFFFFF"/>
                    </a:solidFill>
                  </a:tcPr>
                </a:tc>
                <a:extLst>
                  <a:ext uri="{0D108BD9-81ED-4DB2-BD59-A6C34878D82A}">
                    <a16:rowId xmlns:a16="http://schemas.microsoft.com/office/drawing/2014/main" val="10001"/>
                  </a:ext>
                </a:extLst>
              </a:tr>
              <a:tr h="224942">
                <a:tc>
                  <a:txBody>
                    <a:bodyPr/>
                    <a:lstStyle/>
                    <a:p>
                      <a:pPr algn="l">
                        <a:spcAft>
                          <a:spcPts val="0"/>
                        </a:spcAft>
                      </a:pPr>
                      <a:r>
                        <a:rPr sz="800" b="0">
                          <a:solidFill>
                            <a:srgbClr val="1A1A1A"/>
                          </a:solidFill>
                          <a:latin typeface="游ゴシック"/>
                          <a:ea typeface="游ゴシック"/>
                          <a:cs typeface="游ゴシック"/>
                        </a:rPr>
                        <a:t>容器包装費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224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tcPr>
                </a:tc>
                <a:extLst>
                  <a:ext uri="{0D108BD9-81ED-4DB2-BD59-A6C34878D82A}">
                    <a16:rowId xmlns:a16="http://schemas.microsoft.com/office/drawing/2014/main" val="10002"/>
                  </a:ext>
                </a:extLst>
              </a:tr>
              <a:tr h="224942">
                <a:tc>
                  <a:txBody>
                    <a:bodyPr/>
                    <a:lstStyle/>
                    <a:p>
                      <a:pPr algn="l">
                        <a:spcAft>
                          <a:spcPts val="0"/>
                        </a:spcAft>
                      </a:pPr>
                      <a:r>
                        <a:rPr sz="800" b="0">
                          <a:solidFill>
                            <a:srgbClr val="1A1A1A"/>
                          </a:solidFill>
                          <a:latin typeface="游ゴシック"/>
                          <a:ea typeface="游ゴシック"/>
                          <a:cs typeface="游ゴシック"/>
                        </a:rPr>
                        <a:t>発送配達費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461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478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465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tcPr>
                </a:tc>
                <a:extLst>
                  <a:ext uri="{0D108BD9-81ED-4DB2-BD59-A6C34878D82A}">
                    <a16:rowId xmlns:a16="http://schemas.microsoft.com/office/drawing/2014/main" val="10003"/>
                  </a:ext>
                </a:extLst>
              </a:tr>
              <a:tr h="224942">
                <a:tc>
                  <a:txBody>
                    <a:bodyPr/>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150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tcPr>
                </a:tc>
                <a:extLst>
                  <a:ext uri="{0D108BD9-81ED-4DB2-BD59-A6C34878D82A}">
                    <a16:rowId xmlns:a16="http://schemas.microsoft.com/office/drawing/2014/main" val="10004"/>
                  </a:ext>
                </a:extLst>
              </a:tr>
              <a:tr h="224942">
                <a:tc>
                  <a:txBody>
                    <a:bodyPr/>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0.5%</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extLst>
                  <a:ext uri="{0D108BD9-81ED-4DB2-BD59-A6C34878D82A}">
                    <a16:rowId xmlns:a16="http://schemas.microsoft.com/office/drawing/2014/main" val="10005"/>
                  </a:ext>
                </a:extLst>
              </a:tr>
              <a:tr h="224942">
                <a:tc>
                  <a:txBody>
                    <a:bodyPr/>
                    <a:lstStyle/>
                    <a:p>
                      <a:pPr algn="l">
                        <a:spcAft>
                          <a:spcPts val="0"/>
                        </a:spcAft>
                      </a:pPr>
                      <a:r>
                        <a:rPr sz="800" b="0">
                          <a:solidFill>
                            <a:srgbClr val="1A1A1A"/>
                          </a:solidFill>
                          <a:latin typeface="游ゴシック"/>
                          <a:ea typeface="游ゴシック"/>
                          <a:cs typeface="游ゴシック"/>
                        </a:rPr>
                        <a:t>事務用消耗品費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tcPr>
                </a:tc>
                <a:extLst>
                  <a:ext uri="{0D108BD9-81ED-4DB2-BD59-A6C34878D82A}">
                    <a16:rowId xmlns:a16="http://schemas.microsoft.com/office/drawing/2014/main" val="10006"/>
                  </a:ext>
                </a:extLst>
              </a:tr>
              <a:tr h="224942">
                <a:tc>
                  <a:txBody>
                    <a:bodyPr/>
                    <a:lstStyle/>
                    <a:p>
                      <a:pPr algn="l">
                        <a:spcAft>
                          <a:spcPts val="0"/>
                        </a:spcAft>
                      </a:pPr>
                      <a:r>
                        <a:rPr sz="800" b="0">
                          <a:solidFill>
                            <a:srgbClr val="1A1A1A"/>
                          </a:solidFill>
                          <a:latin typeface="游ゴシック"/>
                          <a:ea typeface="游ゴシック"/>
                          <a:cs typeface="游ゴシック"/>
                        </a:rPr>
                        <a:t>交通費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174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158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tcPr>
                </a:tc>
                <a:extLst>
                  <a:ext uri="{0D108BD9-81ED-4DB2-BD59-A6C34878D82A}">
                    <a16:rowId xmlns:a16="http://schemas.microsoft.com/office/drawing/2014/main" val="10007"/>
                  </a:ext>
                </a:extLst>
              </a:tr>
              <a:tr h="224942">
                <a:tc>
                  <a:txBody>
                    <a:bodyPr/>
                    <a:lstStyle/>
                    <a:p>
                      <a:pPr algn="l">
                        <a:spcAft>
                          <a:spcPts val="0"/>
                        </a:spcAft>
                      </a:pPr>
                      <a:r>
                        <a:rPr sz="800" b="0">
                          <a:solidFill>
                            <a:srgbClr val="1A1A1A"/>
                          </a:solidFill>
                          <a:latin typeface="游ゴシック"/>
                          <a:ea typeface="游ゴシック"/>
                          <a:cs typeface="游ゴシック"/>
                        </a:rPr>
                        <a:t>水道光熱費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1,345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1,498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1,490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6.6%</a:t>
                      </a:r>
                    </a:p>
                  </a:txBody>
                  <a:tcPr marL="45720" marR="45720" marT="9144" marB="9144" anchor="ctr">
                    <a:solidFill>
                      <a:srgbClr val="FFFFFF"/>
                    </a:solidFill>
                  </a:tcPr>
                </a:tc>
                <a:extLst>
                  <a:ext uri="{0D108BD9-81ED-4DB2-BD59-A6C34878D82A}">
                    <a16:rowId xmlns:a16="http://schemas.microsoft.com/office/drawing/2014/main" val="10008"/>
                  </a:ext>
                </a:extLst>
              </a:tr>
              <a:tr h="224942">
                <a:tc>
                  <a:txBody>
                    <a:bodyPr/>
                    <a:lstStyle/>
                    <a:p>
                      <a:pPr algn="l">
                        <a:spcAft>
                          <a:spcPts val="0"/>
                        </a:spcAft>
                      </a:pPr>
                      <a:r>
                        <a:rPr sz="800" b="0">
                          <a:solidFill>
                            <a:srgbClr val="1A1A1A"/>
                          </a:solidFill>
                          <a:latin typeface="游ゴシック"/>
                          <a:ea typeface="游ゴシック"/>
                          <a:cs typeface="游ゴシック"/>
                        </a:rPr>
                        <a:t>租税公課</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1,181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1,095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1,137</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5.1%</a:t>
                      </a:r>
                    </a:p>
                  </a:txBody>
                  <a:tcPr marL="45720" marR="45720" marT="9144" marB="9144" anchor="ctr">
                    <a:solidFill>
                      <a:srgbClr val="FFFFFF"/>
                    </a:solidFill>
                  </a:tcPr>
                </a:tc>
                <a:extLst>
                  <a:ext uri="{0D108BD9-81ED-4DB2-BD59-A6C34878D82A}">
                    <a16:rowId xmlns:a16="http://schemas.microsoft.com/office/drawing/2014/main" val="10009"/>
                  </a:ext>
                </a:extLst>
              </a:tr>
              <a:tr h="224942">
                <a:tc>
                  <a:txBody>
                    <a:bodyPr/>
                    <a:lstStyle/>
                    <a:p>
                      <a:pPr algn="l">
                        <a:spcAft>
                          <a:spcPts val="0"/>
                        </a:spcAft>
                      </a:pPr>
                      <a:r>
                        <a:rPr sz="800" b="0">
                          <a:solidFill>
                            <a:srgbClr val="1A1A1A"/>
                          </a:solidFill>
                          <a:latin typeface="游ゴシック"/>
                          <a:ea typeface="游ゴシック"/>
                          <a:cs typeface="游ゴシック"/>
                        </a:rPr>
                        <a:t>接待交際費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tcPr>
                </a:tc>
                <a:extLst>
                  <a:ext uri="{0D108BD9-81ED-4DB2-BD59-A6C34878D82A}">
                    <a16:rowId xmlns:a16="http://schemas.microsoft.com/office/drawing/2014/main" val="10010"/>
                  </a:ext>
                </a:extLst>
              </a:tr>
              <a:tr h="224942">
                <a:tc>
                  <a:txBody>
                    <a:bodyPr/>
                    <a:lstStyle/>
                    <a:p>
                      <a:pPr algn="l">
                        <a:spcAft>
                          <a:spcPts val="0"/>
                        </a:spcAft>
                      </a:pPr>
                      <a:r>
                        <a:rPr sz="800" b="0">
                          <a:solidFill>
                            <a:srgbClr val="1A1A1A"/>
                          </a:solidFill>
                          <a:latin typeface="游ゴシック"/>
                          <a:ea typeface="游ゴシック"/>
                          <a:cs typeface="游ゴシック"/>
                        </a:rPr>
                        <a:t>保険料</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524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620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623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2.8%</a:t>
                      </a:r>
                    </a:p>
                  </a:txBody>
                  <a:tcPr marL="45720" marR="45720" marT="9144" marB="9144" anchor="ctr">
                    <a:solidFill>
                      <a:srgbClr val="FFFFFF"/>
                    </a:solidFill>
                  </a:tcPr>
                </a:tc>
                <a:extLst>
                  <a:ext uri="{0D108BD9-81ED-4DB2-BD59-A6C34878D82A}">
                    <a16:rowId xmlns:a16="http://schemas.microsoft.com/office/drawing/2014/main" val="10011"/>
                  </a:ext>
                </a:extLst>
              </a:tr>
              <a:tr h="224942">
                <a:tc>
                  <a:txBody>
                    <a:bodyPr/>
                    <a:lstStyle/>
                    <a:p>
                      <a:pPr algn="l">
                        <a:spcAft>
                          <a:spcPts val="0"/>
                        </a:spcAft>
                      </a:pPr>
                      <a:r>
                        <a:rPr sz="800" b="0">
                          <a:solidFill>
                            <a:srgbClr val="1A1A1A"/>
                          </a:solidFill>
                          <a:latin typeface="游ゴシック"/>
                          <a:ea typeface="游ゴシック"/>
                          <a:cs typeface="游ゴシック"/>
                        </a:rPr>
                        <a:t>備品消耗品費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502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62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0.3%</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tcPr>
                </a:tc>
                <a:extLst>
                  <a:ext uri="{0D108BD9-81ED-4DB2-BD59-A6C34878D82A}">
                    <a16:rowId xmlns:a16="http://schemas.microsoft.com/office/drawing/2014/main" val="10012"/>
                  </a:ext>
                </a:extLst>
              </a:tr>
              <a:tr h="224942">
                <a:tc>
                  <a:txBody>
                    <a:bodyPr/>
                    <a:lstStyle/>
                    <a:p>
                      <a:pPr algn="l">
                        <a:spcAft>
                          <a:spcPts val="0"/>
                        </a:spcAft>
                      </a:pPr>
                      <a:r>
                        <a:rPr sz="800" b="0">
                          <a:solidFill>
                            <a:srgbClr val="1A1A1A"/>
                          </a:solidFill>
                          <a:latin typeface="游ゴシック"/>
                          <a:ea typeface="游ゴシック"/>
                          <a:cs typeface="游ゴシック"/>
                        </a:rPr>
                        <a:t>管理諸費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1,082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1,184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5.0%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1,044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4.6%</a:t>
                      </a:r>
                    </a:p>
                  </a:txBody>
                  <a:tcPr marL="45720" marR="45720" marT="9144" marB="9144" anchor="ctr">
                    <a:solidFill>
                      <a:srgbClr val="FFFFFF"/>
                    </a:solidFill>
                  </a:tcPr>
                </a:tc>
                <a:extLst>
                  <a:ext uri="{0D108BD9-81ED-4DB2-BD59-A6C34878D82A}">
                    <a16:rowId xmlns:a16="http://schemas.microsoft.com/office/drawing/2014/main" val="10013"/>
                  </a:ext>
                </a:extLst>
              </a:tr>
              <a:tr h="224942">
                <a:tc>
                  <a:txBody>
                    <a:bodyPr/>
                    <a:lstStyle/>
                    <a:p>
                      <a:pPr algn="l">
                        <a:spcAft>
                          <a:spcPts val="0"/>
                        </a:spcAft>
                      </a:pPr>
                      <a:r>
                        <a:rPr sz="800" b="0">
                          <a:solidFill>
                            <a:srgbClr val="1A1A1A"/>
                          </a:solidFill>
                          <a:latin typeface="游ゴシック"/>
                          <a:ea typeface="游ゴシック"/>
                          <a:cs typeface="游ゴシック"/>
                        </a:rPr>
                        <a:t>警備料</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tcPr>
                </a:tc>
                <a:extLst>
                  <a:ext uri="{0D108BD9-81ED-4DB2-BD59-A6C34878D82A}">
                    <a16:rowId xmlns:a16="http://schemas.microsoft.com/office/drawing/2014/main" val="10014"/>
                  </a:ext>
                </a:extLst>
              </a:tr>
              <a:tr h="224942">
                <a:tc>
                  <a:txBody>
                    <a:bodyPr/>
                    <a:lstStyle/>
                    <a:p>
                      <a:pPr algn="l">
                        <a:spcAft>
                          <a:spcPts val="0"/>
                        </a:spcAft>
                      </a:pPr>
                      <a:r>
                        <a:rPr sz="800" b="0">
                          <a:solidFill>
                            <a:srgbClr val="1A1A1A"/>
                          </a:solidFill>
                          <a:latin typeface="游ゴシック"/>
                          <a:ea typeface="游ゴシック"/>
                          <a:cs typeface="游ゴシック"/>
                        </a:rPr>
                        <a:t>雑費</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236</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194</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0.8%</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202</a:t>
                      </a:r>
                    </a:p>
                  </a:txBody>
                  <a:tcPr marL="45720" marR="45720" marT="9144" marB="9144" anchor="ctr">
                    <a:solidFill>
                      <a:srgbClr val="FFFFFF"/>
                    </a:solidFill>
                  </a:tcPr>
                </a:tc>
                <a:tc>
                  <a:txBody>
                    <a:bodyPr/>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tcPr>
                </a:tc>
                <a:extLst>
                  <a:ext uri="{0D108BD9-81ED-4DB2-BD59-A6C34878D82A}">
                    <a16:rowId xmlns:a16="http://schemas.microsoft.com/office/drawing/2014/main" val="10015"/>
                  </a:ext>
                </a:extLst>
              </a:tr>
              <a:tr h="224942">
                <a:tc>
                  <a:txBody>
                    <a:bodyPr/>
                    <a:lstStyle/>
                    <a:p>
                      <a:pPr algn="l">
                        <a:spcAft>
                          <a:spcPts val="0"/>
                        </a:spcAft>
                      </a:pPr>
                      <a:r>
                        <a:rPr sz="800" b="1">
                          <a:solidFill>
                            <a:srgbClr val="1A1A1A"/>
                          </a:solidFill>
                          <a:latin typeface="游ゴシック"/>
                          <a:ea typeface="游ゴシック"/>
                          <a:cs typeface="游ゴシック"/>
                        </a:rPr>
                        <a:t>販売費及び一般管理費 合計</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7,082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29.0%</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6,212</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26.4%</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6,267</a:t>
                      </a:r>
                    </a:p>
                  </a:txBody>
                  <a:tcPr marL="45720" marR="45720" marT="9144" marB="9144" anchor="ctr">
                    <a:solidFill>
                      <a:srgbClr val="FFFFFF"/>
                    </a:solidFill>
                  </a:tcPr>
                </a:tc>
                <a:tc>
                  <a:txBody>
                    <a:bodyPr/>
                    <a:lstStyle/>
                    <a:p>
                      <a:pPr algn="r">
                        <a:spcAft>
                          <a:spcPts val="0"/>
                        </a:spcAft>
                      </a:pPr>
                      <a:r>
                        <a:rPr sz="800" b="1">
                          <a:solidFill>
                            <a:srgbClr val="1A1A1A"/>
                          </a:solidFill>
                          <a:latin typeface="Arial"/>
                          <a:ea typeface="Arial"/>
                          <a:cs typeface="Arial"/>
                        </a:rPr>
                        <a:t>27.9%</a:t>
                      </a:r>
                    </a:p>
                  </a:txBody>
                  <a:tcPr marL="45720" marR="45720" marT="9144" marB="9144" anchor="ctr">
                    <a:solidFill>
                      <a:srgbClr val="FFFFFF"/>
                    </a:solidFill>
                  </a:tcPr>
                </a:tc>
                <a:extLst>
                  <a:ext uri="{0D108BD9-81ED-4DB2-BD59-A6C34878D82A}">
                    <a16:rowId xmlns:a16="http://schemas.microsoft.com/office/drawing/2014/main" val="10016"/>
                  </a:ext>
                </a:extLst>
              </a:tr>
            </a:tbl>
          </a:graphicData>
        </a:graphic>
      </p:graphicFrame>
      <p:sp>
        <p:nvSpPr>
          <p:cNvPr id="15" name="Rectangle 14"/>
          <p:cNvSpPr/>
          <p:nvPr/>
        </p:nvSpPr>
        <p:spPr>
          <a:xfrm>
            <a:off x="7114032" y="1408176"/>
            <a:ext cx="326440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205472" y="1481328"/>
            <a:ext cx="308152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7223760" y="1828800"/>
            <a:ext cx="3044952" cy="4535423"/>
          </a:xfrm>
          <a:prstGeom prst="rect">
            <a:avLst/>
          </a:prstGeom>
          <a:noFill/>
        </p:spPr>
        <p:txBody>
          <a:bodyPr wrap="square" lIns="0" tIns="0" r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≪水道光熱費 1,490千円≫ </a:t>
            </a:r>
            <a:r>
              <a:rPr sz="830" b="0">
                <a:solidFill>
                  <a:srgbClr val="1A1A1A"/>
                </a:solidFill>
                <a:latin typeface="游ゴシック"/>
                <a:ea typeface="游ゴシック"/>
                <a:cs typeface="游ゴシック"/>
              </a:rPr>
              <a:t>販管費の23.8％。茅葺き・板倉造の建物と薪ストーブ併用の空調に起因すると推察。</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≪租税公課 1,137千円≫ </a:t>
            </a:r>
            <a:r>
              <a:rPr sz="830" b="0">
                <a:solidFill>
                  <a:srgbClr val="1A1A1A"/>
                </a:solidFill>
                <a:latin typeface="游ゴシック"/>
                <a:ea typeface="游ゴシック"/>
                <a:cs typeface="游ゴシック"/>
              </a:rPr>
              <a:t>固定資産税が中心と推察。内訳は要確認。</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≪管理諸費 1,044千円≫ </a:t>
            </a:r>
            <a:r>
              <a:rPr sz="830" b="0">
                <a:solidFill>
                  <a:srgbClr val="1A1A1A"/>
                </a:solidFill>
                <a:latin typeface="游ゴシック"/>
                <a:ea typeface="游ゴシック"/>
                <a:cs typeface="游ゴシック"/>
              </a:rPr>
              <a:t>税理士報酬594千円、Mマート（B2B受発注）248千円、銀行振込手数料83千円、特許事務所61千円等。</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≪広告宣伝費 729千円≫ </a:t>
            </a:r>
            <a:r>
              <a:rPr sz="830" b="0">
                <a:solidFill>
                  <a:srgbClr val="1A1A1A"/>
                </a:solidFill>
                <a:latin typeface="游ゴシック"/>
                <a:ea typeface="游ゴシック"/>
                <a:cs typeface="游ゴシック"/>
              </a:rPr>
              <a:t>ライフガード330千円、SMBC 198千円、サイバーメディア198千円。内容は要確認。</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≪発送配達費 465千円≫ </a:t>
            </a:r>
            <a:r>
              <a:rPr sz="830" b="0">
                <a:solidFill>
                  <a:srgbClr val="1A1A1A"/>
                </a:solidFill>
                <a:latin typeface="游ゴシック"/>
                <a:ea typeface="游ゴシック"/>
                <a:cs typeface="游ゴシック"/>
              </a:rPr>
              <a:t>通信販売・卸売に係る送料。通販の伸長に対応している。</a:t>
            </a:r>
          </a:p>
          <a:p>
            <a:pPr algn="l">
              <a:spcAft>
                <a:spcPts val="200"/>
              </a:spcAft>
            </a:pPr>
            <a:endParaRPr sz="830" b="0">
              <a:solidFill>
                <a:srgbClr val="1A1A1A"/>
              </a:solidFill>
              <a:latin typeface="游ゴシック"/>
              <a:ea typeface="游ゴシック"/>
              <a:cs typeface="游ゴシック"/>
            </a:endParaRPr>
          </a:p>
          <a:p>
            <a:pPr algn="l">
              <a:lnSpc>
                <a:spcPct val="118000"/>
              </a:lnSpc>
              <a:spcAft>
                <a:spcPts val="200"/>
              </a:spcAft>
            </a:pPr>
            <a:r>
              <a:rPr sz="830" b="1">
                <a:solidFill>
                  <a:srgbClr val="0889C9"/>
                </a:solidFill>
                <a:latin typeface="游ゴシック"/>
                <a:ea typeface="游ゴシック"/>
                <a:cs typeface="游ゴシック"/>
              </a:rPr>
              <a:t>≪人件費≫ </a:t>
            </a:r>
            <a:r>
              <a:rPr sz="830" b="0">
                <a:solidFill>
                  <a:srgbClr val="1A1A1A"/>
                </a:solidFill>
                <a:latin typeface="游ゴシック"/>
                <a:ea typeface="游ゴシック"/>
                <a:cs typeface="游ゴシック"/>
              </a:rPr>
              <a:t>販管費には給料手当・役員報酬の計上がない。労務費（雑給2,201千円）は製造原価に計上。</a:t>
            </a:r>
          </a:p>
        </p:txBody>
      </p:sp>
      <p:sp>
        <p:nvSpPr>
          <p:cNvPr id="18" name="TextBox 17"/>
          <p:cNvSpPr txBox="1"/>
          <p:nvPr/>
        </p:nvSpPr>
        <p:spPr>
          <a:xfrm>
            <a:off x="310896" y="6638544"/>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決算書（2024年5月期〜2026年5月期）に基づく。構成比は売上高に対する比率。科目の内訳は総勘定元帳（2026年5月期）の取引先欄を集計したもの。</a:t>
            </a:r>
          </a:p>
        </p:txBody>
      </p:sp>
    </p:spTree>
    <p:extLst>
      <p:ext uri="{BB962C8B-B14F-4D97-AF65-F5344CB8AC3E}">
        <p14:creationId xmlns:p14="http://schemas.microsoft.com/office/powerpoint/2010/main" val="1909380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a:solidFill>
                  <a:schemeClr val="bg1"/>
                </a:solidFill>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東京・南阿佐ヶ谷での創業から36年。2002年の故郷への移転以降、焼畑栽培と里山再生に取り組む</a:t>
            </a:r>
            <a:endParaRPr lang="en-US" altLang="ja-JP" dirty="0"/>
          </a:p>
        </p:txBody>
      </p:sp>
      <p:graphicFrame>
        <p:nvGraphicFramePr>
          <p:cNvPr id="14" name="Table 13"/>
          <p:cNvGraphicFramePr>
            <a:graphicFrameLocks noGrp="1"/>
          </p:cNvGraphicFramePr>
          <p:nvPr/>
        </p:nvGraphicFramePr>
        <p:xfrm>
          <a:off x="310896" y="1408176"/>
          <a:ext cx="10067544" cy="4838998"/>
        </p:xfrm>
        <a:graphic>
          <a:graphicData uri="http://schemas.openxmlformats.org/drawingml/2006/table">
            <a:tbl>
              <a:tblPr>
                <a:tableStyleId>{5940675A-B579-460E-94D1-54222C63F5DA}</a:tableStyleId>
              </a:tblPr>
              <a:tblGrid>
                <a:gridCol w="1170432">
                  <a:extLst>
                    <a:ext uri="{9D8B030D-6E8A-4147-A177-3AD203B41FA5}">
                      <a16:colId xmlns:a16="http://schemas.microsoft.com/office/drawing/2014/main" val="20000"/>
                    </a:ext>
                  </a:extLst>
                </a:gridCol>
                <a:gridCol w="8897112">
                  <a:extLst>
                    <a:ext uri="{9D8B030D-6E8A-4147-A177-3AD203B41FA5}">
                      <a16:colId xmlns:a16="http://schemas.microsoft.com/office/drawing/2014/main" val="20001"/>
                    </a:ext>
                  </a:extLst>
                </a:gridCol>
              </a:tblGrid>
              <a:tr h="237744">
                <a:tc>
                  <a:txBody>
                    <a:bodyPr/>
                    <a:lstStyle/>
                    <a:p>
                      <a:pPr algn="ctr">
                        <a:spcAft>
                          <a:spcPts val="0"/>
                        </a:spcAft>
                      </a:pPr>
                      <a:r>
                        <a:rPr sz="840" b="1">
                          <a:solidFill>
                            <a:srgbClr val="FFFFFF"/>
                          </a:solidFill>
                          <a:latin typeface="游ゴシック"/>
                          <a:ea typeface="游ゴシック"/>
                          <a:cs typeface="游ゴシック"/>
                        </a:rPr>
                        <a:t>年</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270662">
                <a:tc>
                  <a:txBody>
                    <a:bodyPr/>
                    <a:lstStyle/>
                    <a:p>
                      <a:pPr algn="ctr">
                        <a:spcAft>
                          <a:spcPts val="0"/>
                        </a:spcAft>
                      </a:pPr>
                      <a:r>
                        <a:rPr sz="840" b="0">
                          <a:solidFill>
                            <a:srgbClr val="1A1A1A"/>
                          </a:solidFill>
                          <a:latin typeface="游ゴシック"/>
                          <a:ea typeface="游ゴシック"/>
                          <a:cs typeface="游ゴシック"/>
                        </a:rPr>
                        <a:t>1947年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代表者 小川 宣夫 氏、茨城県（現・常陸太田市）に生まれる</a:t>
                      </a:r>
                    </a:p>
                  </a:txBody>
                  <a:tcPr marL="45720" marR="45720" marT="9144" marB="9144" anchor="ctr">
                    <a:solidFill>
                      <a:srgbClr val="FFFFFF"/>
                    </a:solidFill>
                  </a:tcPr>
                </a:tc>
                <a:extLst>
                  <a:ext uri="{0D108BD9-81ED-4DB2-BD59-A6C34878D82A}">
                    <a16:rowId xmlns:a16="http://schemas.microsoft.com/office/drawing/2014/main" val="10001"/>
                  </a:ext>
                </a:extLst>
              </a:tr>
              <a:tr h="270662">
                <a:tc>
                  <a:txBody>
                    <a:bodyPr/>
                    <a:lstStyle/>
                    <a:p>
                      <a:pPr algn="ctr">
                        <a:spcAft>
                          <a:spcPts val="0"/>
                        </a:spcAft>
                      </a:pPr>
                      <a:r>
                        <a:rPr sz="840" b="0">
                          <a:solidFill>
                            <a:srgbClr val="1A1A1A"/>
                          </a:solidFill>
                          <a:latin typeface="游ゴシック"/>
                          <a:ea typeface="游ゴシック"/>
                          <a:cs typeface="游ゴシック"/>
                        </a:rPr>
                        <a:t>1970年代</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東京での会社員生活を経て、長野県大町市へ移住。蕎麦打ちに関心を持つ</a:t>
                      </a:r>
                    </a:p>
                  </a:txBody>
                  <a:tcPr marL="45720" marR="45720" marT="9144" marB="9144" anchor="ctr">
                    <a:solidFill>
                      <a:srgbClr val="FFFFFF"/>
                    </a:solidFill>
                  </a:tcPr>
                </a:tc>
                <a:extLst>
                  <a:ext uri="{0D108BD9-81ED-4DB2-BD59-A6C34878D82A}">
                    <a16:rowId xmlns:a16="http://schemas.microsoft.com/office/drawing/2014/main" val="10002"/>
                  </a:ext>
                </a:extLst>
              </a:tr>
              <a:tr h="270662">
                <a:tc>
                  <a:txBody>
                    <a:bodyPr/>
                    <a:lstStyle/>
                    <a:p>
                      <a:pPr algn="ctr">
                        <a:spcAft>
                          <a:spcPts val="0"/>
                        </a:spcAft>
                      </a:pPr>
                      <a:r>
                        <a:rPr sz="840" b="0">
                          <a:solidFill>
                            <a:srgbClr val="1A1A1A"/>
                          </a:solidFill>
                          <a:latin typeface="游ゴシック"/>
                          <a:ea typeface="游ゴシック"/>
                          <a:cs typeface="游ゴシック"/>
                        </a:rPr>
                        <a:t>1978年頃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31歳で東京・荻窪の名店「本むら庵」に入店</a:t>
                      </a:r>
                    </a:p>
                  </a:txBody>
                  <a:tcPr marL="45720" marR="45720" marT="9144" marB="9144" anchor="ctr">
                    <a:solidFill>
                      <a:srgbClr val="FFFFFF"/>
                    </a:solidFill>
                  </a:tcPr>
                </a:tc>
                <a:extLst>
                  <a:ext uri="{0D108BD9-81ED-4DB2-BD59-A6C34878D82A}">
                    <a16:rowId xmlns:a16="http://schemas.microsoft.com/office/drawing/2014/main" val="10003"/>
                  </a:ext>
                </a:extLst>
              </a:tr>
              <a:tr h="270662">
                <a:tc>
                  <a:txBody>
                    <a:bodyPr/>
                    <a:lstStyle/>
                    <a:p>
                      <a:pPr algn="ctr">
                        <a:spcAft>
                          <a:spcPts val="0"/>
                        </a:spcAft>
                      </a:pPr>
                      <a:r>
                        <a:rPr sz="840" b="0">
                          <a:solidFill>
                            <a:srgbClr val="1A1A1A"/>
                          </a:solidFill>
                          <a:latin typeface="游ゴシック"/>
                          <a:ea typeface="游ゴシック"/>
                          <a:cs typeface="游ゴシック"/>
                        </a:rPr>
                        <a:t>1986年頃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8年間の修業を経て独立</a:t>
                      </a:r>
                    </a:p>
                  </a:txBody>
                  <a:tcPr marL="45720" marR="45720" marT="9144" marB="9144" anchor="ctr">
                    <a:solidFill>
                      <a:srgbClr val="FFFFFF"/>
                    </a:solidFill>
                  </a:tcPr>
                </a:tc>
                <a:extLst>
                  <a:ext uri="{0D108BD9-81ED-4DB2-BD59-A6C34878D82A}">
                    <a16:rowId xmlns:a16="http://schemas.microsoft.com/office/drawing/2014/main" val="10004"/>
                  </a:ext>
                </a:extLst>
              </a:tr>
              <a:tr h="270662">
                <a:tc>
                  <a:txBody>
                    <a:bodyPr/>
                    <a:lstStyle/>
                    <a:p>
                      <a:pPr algn="ctr">
                        <a:spcAft>
                          <a:spcPts val="0"/>
                        </a:spcAft>
                      </a:pPr>
                      <a:r>
                        <a:rPr sz="840" b="0">
                          <a:solidFill>
                            <a:srgbClr val="1A1A1A"/>
                          </a:solidFill>
                          <a:latin typeface="游ゴシック"/>
                          <a:ea typeface="游ゴシック"/>
                          <a:cs typeface="游ゴシック"/>
                        </a:rPr>
                        <a:t>1990年4月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株式会社慈久庵 設立。東京・南阿佐ヶ谷に石臼挽き自家製粉の手打ち蕎麦店「慈久庵」を開業</a:t>
                      </a:r>
                    </a:p>
                  </a:txBody>
                  <a:tcPr marL="45720" marR="45720" marT="9144" marB="9144" anchor="ctr">
                    <a:solidFill>
                      <a:srgbClr val="FFFFFF"/>
                    </a:solidFill>
                  </a:tcPr>
                </a:tc>
                <a:extLst>
                  <a:ext uri="{0D108BD9-81ED-4DB2-BD59-A6C34878D82A}">
                    <a16:rowId xmlns:a16="http://schemas.microsoft.com/office/drawing/2014/main" val="10005"/>
                  </a:ext>
                </a:extLst>
              </a:tr>
              <a:tr h="270662">
                <a:tc>
                  <a:txBody>
                    <a:bodyPr/>
                    <a:lstStyle/>
                    <a:p>
                      <a:pPr algn="ctr">
                        <a:spcAft>
                          <a:spcPts val="0"/>
                        </a:spcAft>
                      </a:pPr>
                      <a:r>
                        <a:rPr sz="840" b="0">
                          <a:solidFill>
                            <a:srgbClr val="1A1A1A"/>
                          </a:solidFill>
                          <a:latin typeface="游ゴシック"/>
                          <a:ea typeface="游ゴシック"/>
                          <a:cs typeface="游ゴシック"/>
                        </a:rPr>
                        <a:t>2002年2月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茨城県久慈郡水府村（現・常陸太田市天下野町）に店舗兼住居を建築し移転。板倉造・茅葺きの現店舗で営業を開始</a:t>
                      </a:r>
                    </a:p>
                  </a:txBody>
                  <a:tcPr marL="45720" marR="45720" marT="9144" marB="9144" anchor="ctr">
                    <a:solidFill>
                      <a:srgbClr val="FFFFFF"/>
                    </a:solidFill>
                  </a:tcPr>
                </a:tc>
                <a:extLst>
                  <a:ext uri="{0D108BD9-81ED-4DB2-BD59-A6C34878D82A}">
                    <a16:rowId xmlns:a16="http://schemas.microsoft.com/office/drawing/2014/main" val="10006"/>
                  </a:ext>
                </a:extLst>
              </a:tr>
              <a:tr h="270662">
                <a:tc>
                  <a:txBody>
                    <a:bodyPr/>
                    <a:lstStyle/>
                    <a:p>
                      <a:pPr algn="ctr">
                        <a:spcAft>
                          <a:spcPts val="0"/>
                        </a:spcAft>
                      </a:pPr>
                      <a:r>
                        <a:rPr sz="840" b="0">
                          <a:solidFill>
                            <a:srgbClr val="1A1A1A"/>
                          </a:solidFill>
                          <a:latin typeface="游ゴシック"/>
                          <a:ea typeface="游ゴシック"/>
                          <a:cs typeface="游ゴシック"/>
                        </a:rPr>
                        <a:t>2004年12月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市町村合併に伴い本店所在地の表示が「常陸太田市天下野町2162番地」に変更</a:t>
                      </a:r>
                    </a:p>
                  </a:txBody>
                  <a:tcPr marL="45720" marR="45720" marT="9144" marB="9144" anchor="ctr">
                    <a:solidFill>
                      <a:srgbClr val="FFFFFF"/>
                    </a:solidFill>
                  </a:tcPr>
                </a:tc>
                <a:extLst>
                  <a:ext uri="{0D108BD9-81ED-4DB2-BD59-A6C34878D82A}">
                    <a16:rowId xmlns:a16="http://schemas.microsoft.com/office/drawing/2014/main" val="10007"/>
                  </a:ext>
                </a:extLst>
              </a:tr>
              <a:tr h="270662">
                <a:tc>
                  <a:txBody>
                    <a:bodyPr/>
                    <a:lstStyle/>
                    <a:p>
                      <a:pPr algn="ctr">
                        <a:spcAft>
                          <a:spcPts val="0"/>
                        </a:spcAft>
                      </a:pPr>
                      <a:r>
                        <a:rPr sz="840" b="0">
                          <a:solidFill>
                            <a:srgbClr val="1A1A1A"/>
                          </a:solidFill>
                          <a:latin typeface="游ゴシック"/>
                          <a:ea typeface="游ゴシック"/>
                          <a:cs typeface="游ゴシック"/>
                        </a:rPr>
                        <a:t>2005年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常陸太田市の旧市街地に石臼挽き自家製粉の手打ち饂飩店「塩町館」を開店</a:t>
                      </a:r>
                    </a:p>
                  </a:txBody>
                  <a:tcPr marL="45720" marR="45720" marT="9144" marB="9144" anchor="ctr">
                    <a:solidFill>
                      <a:srgbClr val="FFFFFF"/>
                    </a:solidFill>
                  </a:tcPr>
                </a:tc>
                <a:extLst>
                  <a:ext uri="{0D108BD9-81ED-4DB2-BD59-A6C34878D82A}">
                    <a16:rowId xmlns:a16="http://schemas.microsoft.com/office/drawing/2014/main" val="10008"/>
                  </a:ext>
                </a:extLst>
              </a:tr>
              <a:tr h="270662">
                <a:tc>
                  <a:txBody>
                    <a:bodyPr/>
                    <a:lstStyle/>
                    <a:p>
                      <a:pPr algn="ctr">
                        <a:spcAft>
                          <a:spcPts val="0"/>
                        </a:spcAft>
                      </a:pPr>
                      <a:r>
                        <a:rPr sz="840" b="0">
                          <a:solidFill>
                            <a:srgbClr val="1A1A1A"/>
                          </a:solidFill>
                          <a:latin typeface="游ゴシック"/>
                          <a:ea typeface="游ゴシック"/>
                          <a:cs typeface="游ゴシック"/>
                        </a:rPr>
                        <a:t>2011年12月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商標を登録（4件）</a:t>
                      </a:r>
                    </a:p>
                  </a:txBody>
                  <a:tcPr marL="45720" marR="45720" marT="9144" marB="9144" anchor="ctr">
                    <a:solidFill>
                      <a:srgbClr val="FFFFFF"/>
                    </a:solidFill>
                  </a:tcPr>
                </a:tc>
                <a:extLst>
                  <a:ext uri="{0D108BD9-81ED-4DB2-BD59-A6C34878D82A}">
                    <a16:rowId xmlns:a16="http://schemas.microsoft.com/office/drawing/2014/main" val="10009"/>
                  </a:ext>
                </a:extLst>
              </a:tr>
              <a:tr h="270662">
                <a:tc>
                  <a:txBody>
                    <a:bodyPr/>
                    <a:lstStyle/>
                    <a:p>
                      <a:pPr algn="ctr">
                        <a:spcAft>
                          <a:spcPts val="0"/>
                        </a:spcAft>
                      </a:pPr>
                      <a:r>
                        <a:rPr sz="840" b="0">
                          <a:solidFill>
                            <a:srgbClr val="1A1A1A"/>
                          </a:solidFill>
                          <a:latin typeface="游ゴシック"/>
                          <a:ea typeface="游ゴシック"/>
                          <a:cs typeface="游ゴシック"/>
                        </a:rPr>
                        <a:t>2014年4月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定款の事業目的を変更（農園の経営、農業、農産物の生産・栽培・販売等を追加）</a:t>
                      </a:r>
                    </a:p>
                  </a:txBody>
                  <a:tcPr marL="45720" marR="45720" marT="9144" marB="9144" anchor="ctr">
                    <a:solidFill>
                      <a:srgbClr val="FFFFFF"/>
                    </a:solidFill>
                  </a:tcPr>
                </a:tc>
                <a:extLst>
                  <a:ext uri="{0D108BD9-81ED-4DB2-BD59-A6C34878D82A}">
                    <a16:rowId xmlns:a16="http://schemas.microsoft.com/office/drawing/2014/main" val="10010"/>
                  </a:ext>
                </a:extLst>
              </a:tr>
              <a:tr h="270662">
                <a:tc>
                  <a:txBody>
                    <a:bodyPr/>
                    <a:lstStyle/>
                    <a:p>
                      <a:pPr algn="ctr">
                        <a:spcAft>
                          <a:spcPts val="0"/>
                        </a:spcAft>
                      </a:pPr>
                      <a:r>
                        <a:rPr sz="840" b="0">
                          <a:solidFill>
                            <a:srgbClr val="1A1A1A"/>
                          </a:solidFill>
                          <a:latin typeface="游ゴシック"/>
                          <a:ea typeface="游ゴシック"/>
                          <a:cs typeface="游ゴシック"/>
                        </a:rPr>
                        <a:t>2016年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食べログ Japan Restaurant Award 2016「茨城県 TOP1」に選出</a:t>
                      </a:r>
                    </a:p>
                  </a:txBody>
                  <a:tcPr marL="45720" marR="45720" marT="9144" marB="9144" anchor="ctr">
                    <a:solidFill>
                      <a:srgbClr val="FFFFFF"/>
                    </a:solidFill>
                  </a:tcPr>
                </a:tc>
                <a:extLst>
                  <a:ext uri="{0D108BD9-81ED-4DB2-BD59-A6C34878D82A}">
                    <a16:rowId xmlns:a16="http://schemas.microsoft.com/office/drawing/2014/main" val="10011"/>
                  </a:ext>
                </a:extLst>
              </a:tr>
              <a:tr h="270662">
                <a:tc>
                  <a:txBody>
                    <a:bodyPr/>
                    <a:lstStyle/>
                    <a:p>
                      <a:pPr algn="ctr">
                        <a:spcAft>
                          <a:spcPts val="0"/>
                        </a:spcAft>
                      </a:pPr>
                      <a:r>
                        <a:rPr sz="840" b="0">
                          <a:solidFill>
                            <a:srgbClr val="1A1A1A"/>
                          </a:solidFill>
                          <a:latin typeface="游ゴシック"/>
                          <a:ea typeface="游ゴシック"/>
                          <a:cs typeface="游ゴシック"/>
                        </a:rPr>
                        <a:t>2018年頃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食べログ「そば 百名店」に選出</a:t>
                      </a:r>
                    </a:p>
                  </a:txBody>
                  <a:tcPr marL="45720" marR="45720" marT="9144" marB="9144" anchor="ctr">
                    <a:solidFill>
                      <a:srgbClr val="FFFFFF"/>
                    </a:solidFill>
                  </a:tcPr>
                </a:tc>
                <a:extLst>
                  <a:ext uri="{0D108BD9-81ED-4DB2-BD59-A6C34878D82A}">
                    <a16:rowId xmlns:a16="http://schemas.microsoft.com/office/drawing/2014/main" val="10012"/>
                  </a:ext>
                </a:extLst>
              </a:tr>
              <a:tr h="270662">
                <a:tc>
                  <a:txBody>
                    <a:bodyPr/>
                    <a:lstStyle/>
                    <a:p>
                      <a:pPr algn="ctr">
                        <a:spcAft>
                          <a:spcPts val="0"/>
                        </a:spcAft>
                      </a:pPr>
                      <a:r>
                        <a:rPr sz="840" b="0">
                          <a:solidFill>
                            <a:srgbClr val="1A1A1A"/>
                          </a:solidFill>
                          <a:latin typeface="游ゴシック"/>
                          <a:ea typeface="游ゴシック"/>
                          <a:cs typeface="游ゴシック"/>
                        </a:rPr>
                        <a:t>2019年頃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「古式けんちんそば」の商標展開を開始（約7年前／面談ヒアリング）</a:t>
                      </a:r>
                    </a:p>
                  </a:txBody>
                  <a:tcPr marL="45720" marR="45720" marT="9144" marB="9144" anchor="ctr">
                    <a:solidFill>
                      <a:srgbClr val="FFFFFF"/>
                    </a:solidFill>
                  </a:tcPr>
                </a:tc>
                <a:extLst>
                  <a:ext uri="{0D108BD9-81ED-4DB2-BD59-A6C34878D82A}">
                    <a16:rowId xmlns:a16="http://schemas.microsoft.com/office/drawing/2014/main" val="10013"/>
                  </a:ext>
                </a:extLst>
              </a:tr>
              <a:tr h="270662">
                <a:tc>
                  <a:txBody>
                    <a:bodyPr/>
                    <a:lstStyle/>
                    <a:p>
                      <a:pPr algn="ctr">
                        <a:spcAft>
                          <a:spcPts val="0"/>
                        </a:spcAft>
                      </a:pPr>
                      <a:r>
                        <a:rPr sz="840" b="0">
                          <a:solidFill>
                            <a:srgbClr val="1A1A1A"/>
                          </a:solidFill>
                          <a:latin typeface="游ゴシック"/>
                          <a:ea typeface="游ゴシック"/>
                          <a:cs typeface="游ゴシック"/>
                        </a:rPr>
                        <a:t>2020〜2021年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コロナ禍および代表者の入院により約5か月休業。再開後はキャンプ需要等により来店客が増加</a:t>
                      </a:r>
                    </a:p>
                  </a:txBody>
                  <a:tcPr marL="45720" marR="45720" marT="9144" marB="9144" anchor="ctr">
                    <a:solidFill>
                      <a:srgbClr val="FFFFFF"/>
                    </a:solidFill>
                  </a:tcPr>
                </a:tc>
                <a:extLst>
                  <a:ext uri="{0D108BD9-81ED-4DB2-BD59-A6C34878D82A}">
                    <a16:rowId xmlns:a16="http://schemas.microsoft.com/office/drawing/2014/main" val="10014"/>
                  </a:ext>
                </a:extLst>
              </a:tr>
              <a:tr h="270662">
                <a:tc>
                  <a:txBody>
                    <a:bodyPr/>
                    <a:lstStyle/>
                    <a:p>
                      <a:pPr algn="ctr">
                        <a:spcAft>
                          <a:spcPts val="0"/>
                        </a:spcAft>
                      </a:pPr>
                      <a:r>
                        <a:rPr sz="840" b="0">
                          <a:solidFill>
                            <a:srgbClr val="1A1A1A"/>
                          </a:solidFill>
                          <a:latin typeface="游ゴシック"/>
                          <a:ea typeface="游ゴシック"/>
                          <a:cs typeface="游ゴシック"/>
                        </a:rPr>
                        <a:t>2022年・2023年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THE TABELOG AWARD Bronze を2年連続で受賞</a:t>
                      </a:r>
                    </a:p>
                  </a:txBody>
                  <a:tcPr marL="45720" marR="45720" marT="9144" marB="9144" anchor="ctr">
                    <a:solidFill>
                      <a:srgbClr val="FFFFFF"/>
                    </a:solidFill>
                  </a:tcPr>
                </a:tc>
                <a:extLst>
                  <a:ext uri="{0D108BD9-81ED-4DB2-BD59-A6C34878D82A}">
                    <a16:rowId xmlns:a16="http://schemas.microsoft.com/office/drawing/2014/main" val="10015"/>
                  </a:ext>
                </a:extLst>
              </a:tr>
              <a:tr h="270662">
                <a:tc>
                  <a:txBody>
                    <a:bodyPr/>
                    <a:lstStyle/>
                    <a:p>
                      <a:pPr algn="ctr">
                        <a:spcAft>
                          <a:spcPts val="0"/>
                        </a:spcAft>
                      </a:pPr>
                      <a:r>
                        <a:rPr sz="840" b="0">
                          <a:solidFill>
                            <a:srgbClr val="1A1A1A"/>
                          </a:solidFill>
                          <a:latin typeface="游ゴシック"/>
                          <a:ea typeface="游ゴシック"/>
                          <a:cs typeface="游ゴシック"/>
                        </a:rPr>
                        <a:t>近年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塩町館の営業権・什器備品を元従業員へ譲渡（建物は当社に残存）。そばの大規模栽培は中止し、地元産玄そばの適正価格での仕入に方針転換</a:t>
                      </a:r>
                    </a:p>
                  </a:txBody>
                  <a:tcPr marL="45720" marR="45720" marT="9144" marB="9144" anchor="ctr">
                    <a:solidFill>
                      <a:srgbClr val="FFFFFF"/>
                    </a:solidFill>
                  </a:tcPr>
                </a:tc>
                <a:extLst>
                  <a:ext uri="{0D108BD9-81ED-4DB2-BD59-A6C34878D82A}">
                    <a16:rowId xmlns:a16="http://schemas.microsoft.com/office/drawing/2014/main" val="10016"/>
                  </a:ext>
                </a:extLst>
              </a:tr>
              <a:tr h="270662">
                <a:tc>
                  <a:txBody>
                    <a:bodyPr/>
                    <a:lstStyle/>
                    <a:p>
                      <a:pPr algn="ctr">
                        <a:spcAft>
                          <a:spcPts val="0"/>
                        </a:spcAft>
                      </a:pPr>
                      <a:r>
                        <a:rPr sz="840" b="0">
                          <a:solidFill>
                            <a:srgbClr val="1A1A1A"/>
                          </a:solidFill>
                          <a:latin typeface="游ゴシック"/>
                          <a:ea typeface="游ゴシック"/>
                          <a:cs typeface="游ゴシック"/>
                        </a:rPr>
                        <a:t>2026年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Japan Brand Collection 2026 茨城版に掲載</a:t>
                      </a:r>
                    </a:p>
                  </a:txBody>
                  <a:tcPr marL="45720" marR="45720" marT="9144" marB="9144" anchor="ctr">
                    <a:solidFill>
                      <a:srgbClr val="FFFFFF"/>
                    </a:solidFill>
                  </a:tcPr>
                </a:tc>
                <a:extLst>
                  <a:ext uri="{0D108BD9-81ED-4DB2-BD59-A6C34878D82A}">
                    <a16:rowId xmlns:a16="http://schemas.microsoft.com/office/drawing/2014/main" val="10017"/>
                  </a:ext>
                </a:extLst>
              </a:tr>
            </a:tbl>
          </a:graphicData>
        </a:graphic>
      </p:graphicFrame>
      <p:sp>
        <p:nvSpPr>
          <p:cNvPr id="15" name="TextBox 14"/>
          <p:cNvSpPr txBox="1"/>
          <p:nvPr/>
        </p:nvSpPr>
        <p:spPr>
          <a:xfrm>
            <a:off x="310896" y="658368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設立年月日・本店移転・事業目的の変更は法人登記簿、代表者経歴は著書の著者略歴、受賞歴は店内掲示物の実査、その他は面談ヒアリングに基づく。</a:t>
            </a:r>
          </a:p>
          <a:p>
            <a:pPr algn="l">
              <a:lnSpc>
                <a:spcPct val="112000"/>
              </a:lnSpc>
              <a:spcAft>
                <a:spcPts val="100"/>
              </a:spcAft>
            </a:pPr>
            <a:r>
              <a:rPr sz="750" b="0">
                <a:solidFill>
                  <a:srgbClr val="5A6670"/>
                </a:solidFill>
                <a:latin typeface="游ゴシック"/>
                <a:ea typeface="游ゴシック"/>
                <a:cs typeface="游ゴシック"/>
              </a:rPr>
              <a:t>※ 「1978年頃」「1986年頃」「2019年頃」等は、著者略歴の記載（31歳で入店、8年修業）および面談時の発言から弊社が推定したもの（推定）。</a:t>
            </a:r>
          </a:p>
        </p:txBody>
      </p:sp>
    </p:spTree>
    <p:extLst>
      <p:ext uri="{BB962C8B-B14F-4D97-AF65-F5344CB8AC3E}">
        <p14:creationId xmlns:p14="http://schemas.microsoft.com/office/powerpoint/2010/main" val="391401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a:solidFill>
                  <a:schemeClr val="bg1"/>
                </a:solidFill>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粗挽き蕎麦の第一人者。里山再生という目的のために東京の人気店を畳み、生まれ故郷へ移った経緯を持つ</a:t>
            </a:r>
            <a:endParaRPr lang="en-US" altLang="ja-JP" dirty="0"/>
          </a:p>
        </p:txBody>
      </p:sp>
      <p:sp>
        <p:nvSpPr>
          <p:cNvPr id="14" name="Rectangle 13"/>
          <p:cNvSpPr/>
          <p:nvPr/>
        </p:nvSpPr>
        <p:spPr>
          <a:xfrm>
            <a:off x="310896" y="1481328"/>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小川 宣夫 氏（代表取締役）</a:t>
            </a:r>
          </a:p>
        </p:txBody>
      </p:sp>
      <p:graphicFrame>
        <p:nvGraphicFramePr>
          <p:cNvPr id="15" name="Table 14"/>
          <p:cNvGraphicFramePr>
            <a:graphicFrameLocks noGrp="1"/>
          </p:cNvGraphicFramePr>
          <p:nvPr/>
        </p:nvGraphicFramePr>
        <p:xfrm>
          <a:off x="310896" y="1837943"/>
          <a:ext cx="4846320" cy="2834640"/>
        </p:xfrm>
        <a:graphic>
          <a:graphicData uri="http://schemas.openxmlformats.org/drawingml/2006/table">
            <a:tbl>
              <a:tblPr>
                <a:tableStyleId>{5940675A-B579-460E-94D1-54222C63F5DA}</a:tableStyleId>
              </a:tblPr>
              <a:tblGrid>
                <a:gridCol w="11887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237744">
                <a:tc>
                  <a:txBody>
                    <a:bodyPr/>
                    <a:lstStyle/>
                    <a:p>
                      <a:pPr algn="ctr">
                        <a:spcAft>
                          <a:spcPts val="0"/>
                        </a:spcAft>
                      </a:pPr>
                      <a:r>
                        <a:rPr sz="840" b="1">
                          <a:solidFill>
                            <a:srgbClr val="FFFFFF"/>
                          </a:solidFill>
                          <a:latin typeface="游ゴシック"/>
                          <a:ea typeface="游ゴシック"/>
                          <a:cs typeface="游ゴシック"/>
                        </a:rPr>
                        <a:t>項目</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324612">
                <a:tc>
                  <a:txBody>
                    <a:bodyPr/>
                    <a:lstStyle/>
                    <a:p>
                      <a:pPr algn="l">
                        <a:spcAft>
                          <a:spcPts val="0"/>
                        </a:spcAft>
                      </a:pPr>
                      <a:r>
                        <a:rPr sz="840" b="0">
                          <a:solidFill>
                            <a:srgbClr val="1A1A1A"/>
                          </a:solidFill>
                          <a:latin typeface="游ゴシック"/>
                          <a:ea typeface="游ゴシック"/>
                          <a:cs typeface="游ゴシック"/>
                        </a:rPr>
                        <a:t>生年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1947年（79歳）</a:t>
                      </a:r>
                    </a:p>
                  </a:txBody>
                  <a:tcPr marL="45720" marR="45720" marT="9144" marB="9144" anchor="ctr">
                    <a:solidFill>
                      <a:srgbClr val="FFFFFF"/>
                    </a:solidFill>
                  </a:tcPr>
                </a:tc>
                <a:extLst>
                  <a:ext uri="{0D108BD9-81ED-4DB2-BD59-A6C34878D82A}">
                    <a16:rowId xmlns:a16="http://schemas.microsoft.com/office/drawing/2014/main" val="10001"/>
                  </a:ext>
                </a:extLst>
              </a:tr>
              <a:tr h="324612">
                <a:tc>
                  <a:txBody>
                    <a:bodyPr/>
                    <a:lstStyle/>
                    <a:p>
                      <a:pPr algn="l">
                        <a:spcAft>
                          <a:spcPts val="0"/>
                        </a:spcAft>
                      </a:pPr>
                      <a:r>
                        <a:rPr sz="840" b="0">
                          <a:solidFill>
                            <a:srgbClr val="1A1A1A"/>
                          </a:solidFill>
                          <a:latin typeface="游ゴシック"/>
                          <a:ea typeface="游ゴシック"/>
                          <a:cs typeface="游ゴシック"/>
                        </a:rPr>
                        <a:t>出身</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茨城県（現・常陸太田市）</a:t>
                      </a:r>
                    </a:p>
                  </a:txBody>
                  <a:tcPr marL="45720" marR="45720" marT="9144" marB="9144" anchor="ctr">
                    <a:solidFill>
                      <a:srgbClr val="FFFFFF"/>
                    </a:solidFill>
                  </a:tcPr>
                </a:tc>
                <a:extLst>
                  <a:ext uri="{0D108BD9-81ED-4DB2-BD59-A6C34878D82A}">
                    <a16:rowId xmlns:a16="http://schemas.microsoft.com/office/drawing/2014/main" val="10002"/>
                  </a:ext>
                </a:extLst>
              </a:tr>
              <a:tr h="324612">
                <a:tc>
                  <a:txBody>
                    <a:bodyPr/>
                    <a:lstStyle/>
                    <a:p>
                      <a:pPr algn="l">
                        <a:spcAft>
                          <a:spcPts val="0"/>
                        </a:spcAft>
                      </a:pPr>
                      <a:r>
                        <a:rPr sz="840" b="0">
                          <a:solidFill>
                            <a:srgbClr val="1A1A1A"/>
                          </a:solidFill>
                          <a:latin typeface="游ゴシック"/>
                          <a:ea typeface="游ゴシック"/>
                          <a:cs typeface="游ゴシック"/>
                        </a:rPr>
                        <a:t>修業先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東京・荻窪「本むら庵」（8年間）</a:t>
                      </a:r>
                    </a:p>
                  </a:txBody>
                  <a:tcPr marL="45720" marR="45720" marT="9144" marB="9144" anchor="ctr">
                    <a:solidFill>
                      <a:srgbClr val="FFFFFF"/>
                    </a:solidFill>
                  </a:tcPr>
                </a:tc>
                <a:extLst>
                  <a:ext uri="{0D108BD9-81ED-4DB2-BD59-A6C34878D82A}">
                    <a16:rowId xmlns:a16="http://schemas.microsoft.com/office/drawing/2014/main" val="10003"/>
                  </a:ext>
                </a:extLst>
              </a:tr>
              <a:tr h="324612">
                <a:tc>
                  <a:txBody>
                    <a:bodyPr/>
                    <a:lstStyle/>
                    <a:p>
                      <a:pPr algn="l">
                        <a:spcAft>
                          <a:spcPts val="0"/>
                        </a:spcAft>
                      </a:pPr>
                      <a:r>
                        <a:rPr sz="840" b="0">
                          <a:solidFill>
                            <a:srgbClr val="1A1A1A"/>
                          </a:solidFill>
                          <a:latin typeface="游ゴシック"/>
                          <a:ea typeface="游ゴシック"/>
                          <a:cs typeface="游ゴシック"/>
                        </a:rPr>
                        <a:t>専門</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粗挽き粉で打つ蕎麦の第一人者。在来農法・焼き畑蕎麦栽培、小麦・茶の栽培</a:t>
                      </a:r>
                    </a:p>
                  </a:txBody>
                  <a:tcPr marL="45720" marR="45720" marT="9144" marB="9144" anchor="ctr">
                    <a:solidFill>
                      <a:srgbClr val="FFFFFF"/>
                    </a:solidFill>
                  </a:tcPr>
                </a:tc>
                <a:extLst>
                  <a:ext uri="{0D108BD9-81ED-4DB2-BD59-A6C34878D82A}">
                    <a16:rowId xmlns:a16="http://schemas.microsoft.com/office/drawing/2014/main" val="10004"/>
                  </a:ext>
                </a:extLst>
              </a:tr>
              <a:tr h="324612">
                <a:tc>
                  <a:txBody>
                    <a:bodyPr/>
                    <a:lstStyle/>
                    <a:p>
                      <a:pPr algn="l">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tcPr>
                </a:tc>
                <a:extLst>
                  <a:ext uri="{0D108BD9-81ED-4DB2-BD59-A6C34878D82A}">
                    <a16:rowId xmlns:a16="http://schemas.microsoft.com/office/drawing/2014/main" val="10005"/>
                  </a:ext>
                </a:extLst>
              </a:tr>
              <a:tr h="324612">
                <a:tc>
                  <a:txBody>
                    <a:bodyPr/>
                    <a:lstStyle/>
                    <a:p>
                      <a:pPr algn="l">
                        <a:spcAft>
                          <a:spcPts val="0"/>
                        </a:spcAft>
                      </a:pPr>
                      <a:r>
                        <a:rPr sz="840" b="0">
                          <a:solidFill>
                            <a:srgbClr val="1A1A1A"/>
                          </a:solidFill>
                          <a:latin typeface="游ゴシック"/>
                          <a:ea typeface="游ゴシック"/>
                          <a:cs typeface="游ゴシック"/>
                        </a:rPr>
                        <a:t>保有株式</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130株（65.0％）</a:t>
                      </a:r>
                    </a:p>
                  </a:txBody>
                  <a:tcPr marL="45720" marR="45720" marT="9144" marB="9144" anchor="ctr">
                    <a:solidFill>
                      <a:srgbClr val="FFFFFF"/>
                    </a:solidFill>
                  </a:tcPr>
                </a:tc>
                <a:extLst>
                  <a:ext uri="{0D108BD9-81ED-4DB2-BD59-A6C34878D82A}">
                    <a16:rowId xmlns:a16="http://schemas.microsoft.com/office/drawing/2014/main" val="10006"/>
                  </a:ext>
                </a:extLst>
              </a:tr>
              <a:tr h="324612">
                <a:tc>
                  <a:txBody>
                    <a:bodyPr/>
                    <a:lstStyle/>
                    <a:p>
                      <a:pPr algn="l">
                        <a:spcAft>
                          <a:spcPts val="0"/>
                        </a:spcAft>
                      </a:pPr>
                      <a:r>
                        <a:rPr sz="840" b="0">
                          <a:solidFill>
                            <a:srgbClr val="1A1A1A"/>
                          </a:solidFill>
                          <a:latin typeface="游ゴシック"/>
                          <a:ea typeface="游ゴシック"/>
                          <a:cs typeface="游ゴシック"/>
                        </a:rPr>
                        <a:t>役員報酬</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計上なし（無報酬）</a:t>
                      </a:r>
                    </a:p>
                  </a:txBody>
                  <a:tcPr marL="45720" marR="45720" marT="9144" marB="9144" anchor="ctr">
                    <a:solidFill>
                      <a:srgbClr val="FFFFFF"/>
                    </a:solidFill>
                  </a:tcPr>
                </a:tc>
                <a:extLst>
                  <a:ext uri="{0D108BD9-81ED-4DB2-BD59-A6C34878D82A}">
                    <a16:rowId xmlns:a16="http://schemas.microsoft.com/office/drawing/2014/main" val="10007"/>
                  </a:ext>
                </a:extLst>
              </a:tr>
              <a:tr h="324612">
                <a:tc>
                  <a:txBody>
                    <a:bodyPr/>
                    <a:lstStyle/>
                    <a:p>
                      <a:pPr algn="l">
                        <a:spcAft>
                          <a:spcPts val="0"/>
                        </a:spcAft>
                      </a:pPr>
                      <a:r>
                        <a:rPr sz="840" b="0">
                          <a:solidFill>
                            <a:srgbClr val="1A1A1A"/>
                          </a:solidFill>
                          <a:latin typeface="游ゴシック"/>
                          <a:ea typeface="游ゴシック"/>
                          <a:cs typeface="游ゴシック"/>
                        </a:rPr>
                        <a:t>本件後の関与</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引継ぎ完了後に退任予定（引継ぎ期間・方式は応相談）</a:t>
                      </a:r>
                    </a:p>
                  </a:txBody>
                  <a:tcPr marL="45720" marR="45720" marT="9144" marB="9144" anchor="ctr">
                    <a:solidFill>
                      <a:srgbClr val="FFFFFF"/>
                    </a:solidFill>
                  </a:tcPr>
                </a:tc>
                <a:extLst>
                  <a:ext uri="{0D108BD9-81ED-4DB2-BD59-A6C34878D82A}">
                    <a16:rowId xmlns:a16="http://schemas.microsoft.com/office/drawing/2014/main" val="10008"/>
                  </a:ext>
                </a:extLst>
              </a:tr>
            </a:tbl>
          </a:graphicData>
        </a:graphic>
      </p:graphicFrame>
      <p:sp>
        <p:nvSpPr>
          <p:cNvPr id="16" name="Rectangle 15"/>
          <p:cNvSpPr/>
          <p:nvPr/>
        </p:nvSpPr>
        <p:spPr>
          <a:xfrm>
            <a:off x="5376672" y="1481328"/>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経営姿勢・買手選定にあたってのご意向</a:t>
            </a:r>
          </a:p>
        </p:txBody>
      </p:sp>
      <p:sp>
        <p:nvSpPr>
          <p:cNvPr id="17" name="Rectangle 16"/>
          <p:cNvSpPr/>
          <p:nvPr/>
        </p:nvSpPr>
        <p:spPr>
          <a:xfrm>
            <a:off x="5376672" y="1837943"/>
            <a:ext cx="5001768" cy="303580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5504688" y="1947672"/>
            <a:ext cx="4745736" cy="2816352"/>
          </a:xfrm>
          <a:prstGeom prst="rect">
            <a:avLst/>
          </a:prstGeom>
          <a:noFill/>
        </p:spPr>
        <p:txBody>
          <a:bodyPr wrap="square" lIns="0" tIns="0" rIns="0" bIns="0" anchor="t">
            <a:spAutoFit/>
          </a:bodyPr>
          <a:lstStyle/>
          <a:p>
            <a:pPr algn="l">
              <a:lnSpc>
                <a:spcPct val="120000"/>
              </a:lnSpc>
              <a:spcAft>
                <a:spcPts val="200"/>
              </a:spcAft>
            </a:pPr>
            <a:r>
              <a:rPr sz="880" b="1">
                <a:solidFill>
                  <a:srgbClr val="0889C9"/>
                </a:solidFill>
                <a:latin typeface="游ゴシック"/>
                <a:ea typeface="游ゴシック"/>
                <a:cs typeface="游ゴシック"/>
              </a:rPr>
              <a:t>里山再生という動機　</a:t>
            </a:r>
            <a:r>
              <a:rPr sz="880" b="0">
                <a:solidFill>
                  <a:srgbClr val="1A1A1A"/>
                </a:solidFill>
                <a:latin typeface="游ゴシック"/>
                <a:ea typeface="游ゴシック"/>
                <a:cs typeface="游ゴシック"/>
              </a:rPr>
              <a:t>「もっとおいしい蕎麦を」という追求と、放棄されていた地元の里山を再生したいという思いから、2002年に東京で評価を得ていた店を畳み、生まれ故郷へ移転。国内でも希少となった焼き畑農法を再興して24年になる。</a:t>
            </a:r>
          </a:p>
          <a:p>
            <a:pPr algn="l">
              <a:lnSpc>
                <a:spcPct val="120000"/>
              </a:lnSpc>
              <a:spcAft>
                <a:spcPts val="200"/>
              </a:spcAft>
            </a:pPr>
            <a:r>
              <a:rPr sz="880" b="1">
                <a:solidFill>
                  <a:srgbClr val="0889C9"/>
                </a:solidFill>
                <a:latin typeface="游ゴシック"/>
                <a:ea typeface="游ゴシック"/>
                <a:cs typeface="游ゴシック"/>
              </a:rPr>
              <a:t>地域との関係　</a:t>
            </a:r>
            <a:r>
              <a:rPr sz="880" b="0">
                <a:solidFill>
                  <a:srgbClr val="1A1A1A"/>
                </a:solidFill>
                <a:latin typeface="游ゴシック"/>
                <a:ea typeface="游ゴシック"/>
                <a:cs typeface="游ゴシック"/>
              </a:rPr>
              <a:t>玄そばは、農家を応援する意味合いから地元産の常陸秋そばを高値で買い取る方針。地域の生産者との関係性そのものが、原料調達の基盤になっている。</a:t>
            </a:r>
          </a:p>
          <a:p>
            <a:pPr algn="l">
              <a:lnSpc>
                <a:spcPct val="120000"/>
              </a:lnSpc>
              <a:spcAft>
                <a:spcPts val="200"/>
              </a:spcAft>
            </a:pPr>
            <a:r>
              <a:rPr sz="880" b="1">
                <a:solidFill>
                  <a:srgbClr val="0889C9"/>
                </a:solidFill>
                <a:latin typeface="游ゴシック"/>
                <a:ea typeface="游ゴシック"/>
                <a:cs typeface="游ゴシック"/>
              </a:rPr>
              <a:t>買手選定のご意向　</a:t>
            </a:r>
            <a:r>
              <a:rPr sz="880" b="0">
                <a:solidFill>
                  <a:srgbClr val="1A1A1A"/>
                </a:solidFill>
                <a:latin typeface="游ゴシック"/>
                <a:ea typeface="游ゴシック"/>
                <a:cs typeface="游ゴシック"/>
              </a:rPr>
              <a:t>譲渡価額よりも、①「慈久庵」の店舗を守り蕎麦屋として事業を継続してくれること、②将来的に店舗を広げていけること、の2点を重視されている。「慈久庵」のブランドと郷土料理（古式けんちんそば）の両方を活かしてほしいとのご意向。</a:t>
            </a:r>
          </a:p>
          <a:p>
            <a:pPr algn="l">
              <a:lnSpc>
                <a:spcPct val="120000"/>
              </a:lnSpc>
              <a:spcAft>
                <a:spcPts val="200"/>
              </a:spcAft>
            </a:pPr>
            <a:r>
              <a:rPr sz="880" b="1">
                <a:solidFill>
                  <a:srgbClr val="0889C9"/>
                </a:solidFill>
                <a:latin typeface="游ゴシック"/>
                <a:ea typeface="游ゴシック"/>
                <a:cs typeface="游ゴシック"/>
              </a:rPr>
              <a:t>引継ぎについて　</a:t>
            </a:r>
            <a:r>
              <a:rPr sz="880" b="0">
                <a:solidFill>
                  <a:srgbClr val="1A1A1A"/>
                </a:solidFill>
                <a:latin typeface="游ゴシック"/>
                <a:ea typeface="游ゴシック"/>
                <a:cs typeface="游ゴシック"/>
              </a:rPr>
              <a:t>レシピや「かえし」は誰でも再現できるよう整理済とのこと。過去には弟子へ別店舗（塩町館）の営業を承継した実績がある。</a:t>
            </a:r>
          </a:p>
        </p:txBody>
      </p:sp>
      <p:sp>
        <p:nvSpPr>
          <p:cNvPr id="19" name="TextBox 18"/>
          <p:cNvSpPr txBox="1"/>
          <p:nvPr/>
        </p:nvSpPr>
        <p:spPr>
          <a:xfrm>
            <a:off x="310896" y="512064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経歴は著書『小川宣夫の蕎麦・饂飩指南』の著者略歴および Japan Brand Collection 2026 茨城版、ご意向は面談ヒアリングに基づく。</a:t>
            </a:r>
          </a:p>
        </p:txBody>
      </p:sp>
    </p:spTree>
    <p:extLst>
      <p:ext uri="{BB962C8B-B14F-4D97-AF65-F5344CB8AC3E}">
        <p14:creationId xmlns:p14="http://schemas.microsoft.com/office/powerpoint/2010/main" val="3170289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panose="020B0400000000000000" pitchFamily="50" charset="-128"/>
                <a:ea typeface="游ゴシック" panose="020B0400000000000000" pitchFamily="50" charset="-128"/>
                <a:cs typeface="游ゴシック"/>
              </a:rPr>
              <a:t>外部評価・メディア掲載</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a:solidFill>
                  <a:schemeClr val="bg1"/>
                </a:solidFill>
                <a:latin typeface="游ゴシック" panose="020B0400000000000000" pitchFamily="50" charset="-128"/>
                <a:ea typeface="游ゴシック" panose="020B0400000000000000" pitchFamily="50" charset="-128"/>
                <a:cs typeface="游ゴシック"/>
              </a:rPr>
              <a:t>Appendix</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panose="020B0400000000000000" pitchFamily="50" charset="-128"/>
                <a:ea typeface="游ゴシック" panose="020B0400000000000000" pitchFamily="50" charset="-128"/>
                <a:cs typeface="游ゴシック"/>
              </a:rPr>
              <a:t>食べログアワードBronzeを2年連続で受賞し、そば百名店にも選出。加えて同業の名店が原料を仕入れに訪れており、一般の評価サイトの順位以上の意味を持つ</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nvGraphicFramePr>
        <p:xfrm>
          <a:off x="310896" y="1463040"/>
          <a:ext cx="6382512" cy="2212848"/>
        </p:xfrm>
        <a:graphic>
          <a:graphicData uri="http://schemas.openxmlformats.org/drawingml/2006/table">
            <a:tbl>
              <a:tblPr>
                <a:tableStyleId>{5940675A-B579-460E-94D1-54222C63F5DA}</a:tableStyleId>
              </a:tblPr>
              <a:tblGrid>
                <a:gridCol w="987552">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tblGrid>
              <a:tr h="237744">
                <a:tc>
                  <a:txBody>
                    <a:bodyPr/>
                    <a:lstStyle/>
                    <a:p>
                      <a:pPr algn="ctr">
                        <a:spcAft>
                          <a:spcPts val="0"/>
                        </a:spcAft>
                      </a:pPr>
                      <a:r>
                        <a:rPr sz="840" b="1">
                          <a:solidFill>
                            <a:srgbClr val="FFFFFF"/>
                          </a:solidFill>
                          <a:latin typeface="游ゴシック"/>
                          <a:ea typeface="游ゴシック"/>
                          <a:cs typeface="游ゴシック"/>
                        </a:rPr>
                        <a:t>区分</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名称・媒体</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時期</a:t>
                      </a:r>
                    </a:p>
                  </a:txBody>
                  <a:tcPr marL="45720" marR="45720" marT="9144" marB="9144" anchor="ctr">
                    <a:solidFill>
                      <a:srgbClr val="0B3041"/>
                    </a:solidFill>
                  </a:tcPr>
                </a:tc>
                <a:tc>
                  <a:txBody>
                    <a:bodyPr/>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329184">
                <a:tc>
                  <a:txBody>
                    <a:bodyPr/>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Japan Restaurant Award（食べログ）</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2016年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茨城県 TOP 1 に選出</a:t>
                      </a:r>
                    </a:p>
                  </a:txBody>
                  <a:tcPr marL="45720" marR="45720" marT="9144" marB="9144" anchor="ctr">
                    <a:solidFill>
                      <a:srgbClr val="FFFFFF"/>
                    </a:solidFill>
                  </a:tcPr>
                </a:tc>
                <a:extLst>
                  <a:ext uri="{0D108BD9-81ED-4DB2-BD59-A6C34878D82A}">
                    <a16:rowId xmlns:a16="http://schemas.microsoft.com/office/drawing/2014/main" val="10001"/>
                  </a:ext>
                </a:extLst>
              </a:tr>
              <a:tr h="329184">
                <a:tc>
                  <a:txBody>
                    <a:bodyPr/>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THE TABELOG AWARD</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2022年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Bronze 受賞</a:t>
                      </a:r>
                    </a:p>
                  </a:txBody>
                  <a:tcPr marL="45720" marR="45720" marT="9144" marB="9144" anchor="ctr">
                    <a:solidFill>
                      <a:srgbClr val="FFFFFF"/>
                    </a:solidFill>
                  </a:tcPr>
                </a:tc>
                <a:extLst>
                  <a:ext uri="{0D108BD9-81ED-4DB2-BD59-A6C34878D82A}">
                    <a16:rowId xmlns:a16="http://schemas.microsoft.com/office/drawing/2014/main" val="10002"/>
                  </a:ext>
                </a:extLst>
              </a:tr>
              <a:tr h="329184">
                <a:tc>
                  <a:txBody>
                    <a:bodyPr/>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THE TABELOG AWARD</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2023年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Bronze 受賞（2年連続）</a:t>
                      </a:r>
                    </a:p>
                  </a:txBody>
                  <a:tcPr marL="45720" marR="45720" marT="9144" marB="9144" anchor="ctr">
                    <a:solidFill>
                      <a:srgbClr val="FFFFFF"/>
                    </a:solidFill>
                  </a:tcPr>
                </a:tc>
                <a:extLst>
                  <a:ext uri="{0D108BD9-81ED-4DB2-BD59-A6C34878D82A}">
                    <a16:rowId xmlns:a16="http://schemas.microsoft.com/office/drawing/2014/main" val="10003"/>
                  </a:ext>
                </a:extLst>
              </a:tr>
              <a:tr h="329184">
                <a:tc>
                  <a:txBody>
                    <a:bodyPr/>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食べログ「そば 百名店」</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2018年頃</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選出。店内にステッカーを掲示</a:t>
                      </a:r>
                    </a:p>
                  </a:txBody>
                  <a:tcPr marL="45720" marR="45720" marT="9144" marB="9144" anchor="ctr">
                    <a:solidFill>
                      <a:srgbClr val="FFFFFF"/>
                    </a:solidFill>
                  </a:tcPr>
                </a:tc>
                <a:extLst>
                  <a:ext uri="{0D108BD9-81ED-4DB2-BD59-A6C34878D82A}">
                    <a16:rowId xmlns:a16="http://schemas.microsoft.com/office/drawing/2014/main" val="10004"/>
                  </a:ext>
                </a:extLst>
              </a:tr>
              <a:tr h="329184">
                <a:tc>
                  <a:txBody>
                    <a:bodyPr/>
                    <a:lstStyle/>
                    <a:p>
                      <a:pPr algn="l">
                        <a:spcAft>
                          <a:spcPts val="0"/>
                        </a:spcAft>
                      </a:pPr>
                      <a:r>
                        <a:rPr sz="840" b="0">
                          <a:solidFill>
                            <a:srgbClr val="1A1A1A"/>
                          </a:solidFill>
                          <a:latin typeface="游ゴシック"/>
                          <a:ea typeface="游ゴシック"/>
                          <a:cs typeface="游ゴシック"/>
                        </a:rPr>
                        <a:t>媒体掲載</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Japan Brand Collection 2026 茨城版</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2026年</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「古式健珍蕎麦 慈久庵」として掲載</a:t>
                      </a:r>
                    </a:p>
                  </a:txBody>
                  <a:tcPr marL="45720" marR="45720" marT="9144" marB="9144" anchor="ctr">
                    <a:solidFill>
                      <a:srgbClr val="FFFFFF"/>
                    </a:solidFill>
                  </a:tcPr>
                </a:tc>
                <a:extLst>
                  <a:ext uri="{0D108BD9-81ED-4DB2-BD59-A6C34878D82A}">
                    <a16:rowId xmlns:a16="http://schemas.microsoft.com/office/drawing/2014/main" val="10005"/>
                  </a:ext>
                </a:extLst>
              </a:tr>
              <a:tr h="329184">
                <a:tc>
                  <a:txBody>
                    <a:bodyPr/>
                    <a:lstStyle/>
                    <a:p>
                      <a:pPr algn="l">
                        <a:spcAft>
                          <a:spcPts val="0"/>
                        </a:spcAft>
                      </a:pPr>
                      <a:r>
                        <a:rPr sz="840" b="0">
                          <a:solidFill>
                            <a:srgbClr val="1A1A1A"/>
                          </a:solidFill>
                          <a:latin typeface="游ゴシック"/>
                          <a:ea typeface="游ゴシック"/>
                          <a:cs typeface="游ゴシック"/>
                        </a:rPr>
                        <a:t>書籍</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40" b="0">
                          <a:solidFill>
                            <a:srgbClr val="1A1A1A"/>
                          </a:solidFill>
                          <a:latin typeface="游ゴシック"/>
                          <a:ea typeface="游ゴシック"/>
                          <a:cs typeface="游ゴシック"/>
                        </a:rPr>
                        <a:t>代表者による著作</a:t>
                      </a:r>
                    </a:p>
                  </a:txBody>
                  <a:tcPr marL="45720" marR="45720" marT="9144" marB="9144" anchor="ctr">
                    <a:solidFill>
                      <a:srgbClr val="FFFFFF"/>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310896" y="3895344"/>
            <a:ext cx="6382512"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panose="020B0400000000000000" pitchFamily="50" charset="-128"/>
                <a:ea typeface="游ゴシック" panose="020B0400000000000000" pitchFamily="50" charset="-128"/>
                <a:cs typeface="游ゴシック"/>
              </a:rPr>
              <a:t>同業・つくり手からの評価</a:t>
            </a:r>
          </a:p>
        </p:txBody>
      </p:sp>
      <p:sp>
        <p:nvSpPr>
          <p:cNvPr id="16" name="TextBox 15"/>
          <p:cNvSpPr txBox="1"/>
          <p:nvPr/>
        </p:nvSpPr>
        <p:spPr>
          <a:xfrm>
            <a:off x="365760" y="4315968"/>
            <a:ext cx="6272784" cy="915892"/>
          </a:xfrm>
          <a:prstGeom prst="rect">
            <a:avLst/>
          </a:prstGeom>
          <a:noFill/>
        </p:spPr>
        <p:txBody>
          <a:bodyPr wrap="square" lIns="0" tIns="0" rIns="0" bIns="0" anchor="t">
            <a:spAutoFit/>
          </a:bodyPr>
          <a:lstStyle/>
          <a:p>
            <a:pPr algn="l">
              <a:lnSpc>
                <a:spcPct val="122000"/>
              </a:lnSpc>
              <a:spcAft>
                <a:spcPts val="200"/>
              </a:spcAft>
            </a:pPr>
            <a:r>
              <a:rPr sz="940" b="1">
                <a:solidFill>
                  <a:srgbClr val="0889C9"/>
                </a:solidFill>
                <a:latin typeface="游ゴシック" panose="020B0400000000000000" pitchFamily="50" charset="-128"/>
                <a:ea typeface="游ゴシック" panose="020B0400000000000000" pitchFamily="50" charset="-128"/>
                <a:cs typeface="游ゴシック"/>
              </a:rPr>
              <a:t>玄そば・蕎麦粉の供給先　</a:t>
            </a:r>
            <a:r>
              <a:rPr sz="919" b="0">
                <a:solidFill>
                  <a:srgbClr val="1A1A1A"/>
                </a:solidFill>
                <a:latin typeface="游ゴシック" panose="020B0400000000000000" pitchFamily="50" charset="-128"/>
                <a:ea typeface="游ゴシック" panose="020B0400000000000000" pitchFamily="50" charset="-128"/>
                <a:cs typeface="游ゴシック"/>
              </a:rPr>
              <a:t>打心蕎庵・玉笑など、同業の有名店が玄そば・蕎麦粉を仕入れている。</a:t>
            </a:r>
          </a:p>
          <a:p>
            <a:pPr algn="l">
              <a:lnSpc>
                <a:spcPct val="122000"/>
              </a:lnSpc>
              <a:spcAft>
                <a:spcPts val="200"/>
              </a:spcAft>
            </a:pPr>
            <a:r>
              <a:rPr sz="940" b="1">
                <a:solidFill>
                  <a:srgbClr val="0889C9"/>
                </a:solidFill>
                <a:latin typeface="游ゴシック" panose="020B0400000000000000" pitchFamily="50" charset="-128"/>
                <a:ea typeface="游ゴシック" panose="020B0400000000000000" pitchFamily="50" charset="-128"/>
                <a:cs typeface="游ゴシック"/>
              </a:rPr>
              <a:t>石臼挽き小麦粉の供給先　</a:t>
            </a:r>
            <a:r>
              <a:rPr sz="919" b="0">
                <a:solidFill>
                  <a:srgbClr val="1A1A1A"/>
                </a:solidFill>
                <a:latin typeface="游ゴシック" panose="020B0400000000000000" pitchFamily="50" charset="-128"/>
                <a:ea typeface="游ゴシック" panose="020B0400000000000000" pitchFamily="50" charset="-128"/>
                <a:cs typeface="游ゴシック"/>
              </a:rPr>
              <a:t>キビヤベーカリー（1,865千円）、ルヴァン（231千円）。いずれも3期連続で取引が継続している。</a:t>
            </a:r>
          </a:p>
          <a:p>
            <a:pPr algn="l">
              <a:lnSpc>
                <a:spcPct val="122000"/>
              </a:lnSpc>
              <a:spcAft>
                <a:spcPts val="200"/>
              </a:spcAft>
            </a:pPr>
            <a:r>
              <a:rPr sz="940" b="1">
                <a:solidFill>
                  <a:srgbClr val="0889C9"/>
                </a:solidFill>
                <a:latin typeface="游ゴシック" panose="020B0400000000000000" pitchFamily="50" charset="-128"/>
                <a:ea typeface="游ゴシック" panose="020B0400000000000000" pitchFamily="50" charset="-128"/>
                <a:cs typeface="游ゴシック"/>
              </a:rPr>
              <a:t>意味合い　</a:t>
            </a:r>
            <a:r>
              <a:rPr sz="919" b="0">
                <a:solidFill>
                  <a:srgbClr val="1A1A1A"/>
                </a:solidFill>
                <a:latin typeface="游ゴシック" panose="020B0400000000000000" pitchFamily="50" charset="-128"/>
                <a:ea typeface="游ゴシック" panose="020B0400000000000000" pitchFamily="50" charset="-128"/>
                <a:cs typeface="游ゴシック"/>
              </a:rPr>
              <a:t>消費者の評価だけでなく、原料の目利きができる「つくり手」から選ばれている点が、ブランドの持続性を裏付けている（弊社の評価）。</a:t>
            </a:r>
          </a:p>
        </p:txBody>
      </p:sp>
      <p:sp>
        <p:nvSpPr>
          <p:cNvPr id="17" name="Rectangle 16"/>
          <p:cNvSpPr/>
          <p:nvPr/>
        </p:nvSpPr>
        <p:spPr>
          <a:xfrm>
            <a:off x="6876288" y="1463040"/>
            <a:ext cx="3502152" cy="424281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游ゴシック" panose="020B0400000000000000" pitchFamily="50" charset="-128"/>
              <a:ea typeface="游ゴシック" panose="020B0400000000000000" pitchFamily="50" charset="-128"/>
            </a:endParaRPr>
          </a:p>
        </p:txBody>
      </p:sp>
      <p:sp>
        <p:nvSpPr>
          <p:cNvPr id="18" name="TextBox 17"/>
          <p:cNvSpPr txBox="1"/>
          <p:nvPr/>
        </p:nvSpPr>
        <p:spPr>
          <a:xfrm>
            <a:off x="6967727" y="1536192"/>
            <a:ext cx="3319272" cy="246221"/>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panose="020B0400000000000000" pitchFamily="50" charset="-128"/>
                <a:ea typeface="游ゴシック" panose="020B0400000000000000" pitchFamily="50" charset="-128"/>
                <a:cs typeface="游ゴシック"/>
              </a:rPr>
              <a:t>Comment</a:t>
            </a:r>
          </a:p>
        </p:txBody>
      </p:sp>
      <p:sp>
        <p:nvSpPr>
          <p:cNvPr id="19" name="TextBox 18"/>
          <p:cNvSpPr txBox="1"/>
          <p:nvPr/>
        </p:nvSpPr>
        <p:spPr>
          <a:xfrm>
            <a:off x="6986016" y="1883664"/>
            <a:ext cx="3282696" cy="3067443"/>
          </a:xfrm>
          <a:prstGeom prst="rect">
            <a:avLst/>
          </a:prstGeom>
          <a:noFill/>
        </p:spPr>
        <p:txBody>
          <a:bodyPr wrap="square" lIns="0" tIns="0" rIns="0" bIns="0" anchor="t">
            <a:spAutoFit/>
          </a:bodyPr>
          <a:lstStyle/>
          <a:p>
            <a:pPr algn="l">
              <a:lnSpc>
                <a:spcPct val="120000"/>
              </a:lnSpc>
              <a:spcAft>
                <a:spcPts val="200"/>
              </a:spcAft>
            </a:pPr>
            <a:r>
              <a:rPr sz="919" b="1">
                <a:solidFill>
                  <a:srgbClr val="0889C9"/>
                </a:solidFill>
                <a:latin typeface="游ゴシック" panose="020B0400000000000000" pitchFamily="50" charset="-128"/>
                <a:ea typeface="游ゴシック" panose="020B0400000000000000" pitchFamily="50" charset="-128"/>
                <a:cs typeface="游ゴシック"/>
              </a:rPr>
              <a:t>≪知名度の位置づけ≫ </a:t>
            </a:r>
            <a:r>
              <a:rPr sz="900" b="0">
                <a:solidFill>
                  <a:srgbClr val="1A1A1A"/>
                </a:solidFill>
                <a:latin typeface="游ゴシック" panose="020B0400000000000000" pitchFamily="50" charset="-128"/>
                <a:ea typeface="游ゴシック" panose="020B0400000000000000" pitchFamily="50" charset="-128"/>
                <a:cs typeface="游ゴシック"/>
              </a:rPr>
              <a:t>常陸太田市天下野町という、鉄道駅から離れた中山間地に立地しながら、県内トップの評価と全国区の認知を得ている。立地の不利を上回る集客力は、ブランドそのものに起因していると考えられる。</a:t>
            </a:r>
          </a:p>
          <a:p>
            <a:pPr algn="l">
              <a:spcAft>
                <a:spcPts val="200"/>
              </a:spcAft>
            </a:pPr>
            <a:endParaRPr sz="90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20000"/>
              </a:lnSpc>
              <a:spcAft>
                <a:spcPts val="200"/>
              </a:spcAft>
            </a:pPr>
            <a:r>
              <a:rPr sz="919" b="1">
                <a:solidFill>
                  <a:srgbClr val="0889C9"/>
                </a:solidFill>
                <a:latin typeface="游ゴシック" panose="020B0400000000000000" pitchFamily="50" charset="-128"/>
                <a:ea typeface="游ゴシック" panose="020B0400000000000000" pitchFamily="50" charset="-128"/>
                <a:cs typeface="游ゴシック"/>
              </a:rPr>
              <a:t>≪承継後の継続性≫ </a:t>
            </a:r>
            <a:r>
              <a:rPr sz="900" b="0">
                <a:solidFill>
                  <a:srgbClr val="1A1A1A"/>
                </a:solidFill>
                <a:latin typeface="游ゴシック" panose="020B0400000000000000" pitchFamily="50" charset="-128"/>
                <a:ea typeface="游ゴシック" panose="020B0400000000000000" pitchFamily="50" charset="-128"/>
                <a:cs typeface="游ゴシック"/>
              </a:rPr>
              <a:t>受賞・選出は店舗と製法に対する評価であり、代表者個人への評価と不可分な部分がある。承継後も評価を維持できるかは、製法の引継ぎの完成度に依存する（P.22・P.36）。</a:t>
            </a:r>
          </a:p>
          <a:p>
            <a:pPr algn="l">
              <a:spcAft>
                <a:spcPts val="200"/>
              </a:spcAft>
            </a:pPr>
            <a:endParaRPr sz="90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20000"/>
              </a:lnSpc>
              <a:spcAft>
                <a:spcPts val="200"/>
              </a:spcAft>
            </a:pPr>
            <a:r>
              <a:rPr sz="919" b="1">
                <a:solidFill>
                  <a:srgbClr val="0889C9"/>
                </a:solidFill>
                <a:latin typeface="游ゴシック" panose="020B0400000000000000" pitchFamily="50" charset="-128"/>
                <a:ea typeface="游ゴシック" panose="020B0400000000000000" pitchFamily="50" charset="-128"/>
                <a:cs typeface="游ゴシック"/>
              </a:rPr>
              <a:t>≪掲載物の取扱い≫ </a:t>
            </a:r>
            <a:r>
              <a:rPr sz="900" b="0">
                <a:solidFill>
                  <a:srgbClr val="1A1A1A"/>
                </a:solidFill>
                <a:latin typeface="游ゴシック" panose="020B0400000000000000" pitchFamily="50" charset="-128"/>
                <a:ea typeface="游ゴシック" panose="020B0400000000000000" pitchFamily="50" charset="-128"/>
                <a:cs typeface="游ゴシック"/>
              </a:rPr>
              <a:t>掲載誌の誌面および書籍の写真を本書に転載する場合は、発行元の許諾が必要となる。受賞盾・ステッカー等の店内掲示物を弊社が撮影した写真であれば、この制約を受けずに掲載できる。</a:t>
            </a:r>
          </a:p>
          <a:p>
            <a:pPr algn="l">
              <a:spcAft>
                <a:spcPts val="200"/>
              </a:spcAft>
            </a:pPr>
            <a:endParaRPr sz="900" b="0">
              <a:solidFill>
                <a:srgbClr val="1A1A1A"/>
              </a:solidFill>
              <a:latin typeface="游ゴシック" panose="020B0400000000000000" pitchFamily="50" charset="-128"/>
              <a:ea typeface="游ゴシック" panose="020B0400000000000000" pitchFamily="50" charset="-128"/>
              <a:cs typeface="游ゴシック"/>
            </a:endParaRPr>
          </a:p>
          <a:p>
            <a:pPr algn="l">
              <a:lnSpc>
                <a:spcPct val="120000"/>
              </a:lnSpc>
              <a:spcAft>
                <a:spcPts val="200"/>
              </a:spcAft>
            </a:pPr>
            <a:r>
              <a:rPr sz="919" b="1">
                <a:solidFill>
                  <a:srgbClr val="0889C9"/>
                </a:solidFill>
                <a:latin typeface="游ゴシック" panose="020B0400000000000000" pitchFamily="50" charset="-128"/>
                <a:ea typeface="游ゴシック" panose="020B0400000000000000" pitchFamily="50" charset="-128"/>
                <a:cs typeface="游ゴシック"/>
              </a:rPr>
              <a:t>≪裏付け資料≫ </a:t>
            </a:r>
            <a:r>
              <a:rPr sz="900" b="0">
                <a:solidFill>
                  <a:srgbClr val="1A1A1A"/>
                </a:solidFill>
                <a:latin typeface="游ゴシック" panose="020B0400000000000000" pitchFamily="50" charset="-128"/>
                <a:ea typeface="游ゴシック" panose="020B0400000000000000" pitchFamily="50" charset="-128"/>
                <a:cs typeface="游ゴシック"/>
              </a:rPr>
              <a:t>受賞歴は店内に掲示された盾・楯・ステッカーの実査により確認。表彰状等の原本および掲載誌の現物は要確認。</a:t>
            </a:r>
          </a:p>
        </p:txBody>
      </p:sp>
      <p:sp>
        <p:nvSpPr>
          <p:cNvPr id="20" name="TextBox 19"/>
          <p:cNvSpPr txBox="1"/>
          <p:nvPr/>
        </p:nvSpPr>
        <p:spPr>
          <a:xfrm>
            <a:off x="310896" y="5757385"/>
            <a:ext cx="9921240" cy="124008"/>
          </a:xfrm>
          <a:prstGeom prst="rect">
            <a:avLst/>
          </a:prstGeom>
          <a:noFill/>
        </p:spPr>
        <p:txBody>
          <a:bodyPr wrap="square" lIns="0" tIns="0" rIns="0" bIns="0" anchor="t">
            <a:spAutoFit/>
          </a:bodyPr>
          <a:lstStyle/>
          <a:p>
            <a:pPr algn="l">
              <a:lnSpc>
                <a:spcPct val="112000"/>
              </a:lnSpc>
              <a:spcAft>
                <a:spcPts val="100"/>
              </a:spcAft>
            </a:pPr>
            <a:r>
              <a:rPr sz="750" b="0" dirty="0">
                <a:solidFill>
                  <a:schemeClr val="tx1"/>
                </a:solidFill>
                <a:latin typeface="游ゴシック" panose="020B0400000000000000" pitchFamily="50" charset="-128"/>
                <a:ea typeface="游ゴシック" panose="020B0400000000000000" pitchFamily="50" charset="-128"/>
                <a:cs typeface="游ゴシック"/>
              </a:rPr>
              <a:t>※ </a:t>
            </a:r>
            <a:r>
              <a:rPr sz="750" b="0" dirty="0" err="1">
                <a:solidFill>
                  <a:schemeClr val="tx1"/>
                </a:solidFill>
                <a:latin typeface="游ゴシック" panose="020B0400000000000000" pitchFamily="50" charset="-128"/>
                <a:ea typeface="游ゴシック" panose="020B0400000000000000" pitchFamily="50" charset="-128"/>
                <a:cs typeface="游ゴシック"/>
              </a:rPr>
              <a:t>受賞・選出は店内掲示物の実査、媒体掲載は</a:t>
            </a:r>
            <a:r>
              <a:rPr sz="750" b="0" dirty="0">
                <a:solidFill>
                  <a:schemeClr val="tx1"/>
                </a:solidFill>
                <a:latin typeface="游ゴシック" panose="020B0400000000000000" pitchFamily="50" charset="-128"/>
                <a:ea typeface="游ゴシック" panose="020B0400000000000000" pitchFamily="50" charset="-128"/>
                <a:cs typeface="游ゴシック"/>
              </a:rPr>
              <a:t> Japan Brand Collection 2026 </a:t>
            </a:r>
            <a:r>
              <a:rPr sz="750" b="0" dirty="0" err="1">
                <a:solidFill>
                  <a:schemeClr val="tx1"/>
                </a:solidFill>
                <a:latin typeface="游ゴシック" panose="020B0400000000000000" pitchFamily="50" charset="-128"/>
                <a:ea typeface="游ゴシック" panose="020B0400000000000000" pitchFamily="50" charset="-128"/>
                <a:cs typeface="游ゴシック"/>
              </a:rPr>
              <a:t>茨城版、供給先金額は総勘定元帳の取引先別集計に基づきます</a:t>
            </a:r>
            <a:r>
              <a:rPr sz="750" b="0" dirty="0">
                <a:solidFill>
                  <a:schemeClr val="tx1"/>
                </a:solidFill>
                <a:latin typeface="游ゴシック" panose="020B0400000000000000" pitchFamily="50" charset="-128"/>
                <a:ea typeface="游ゴシック" panose="020B0400000000000000" pitchFamily="50" charset="-128"/>
                <a:cs typeface="游ゴシック"/>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要確認事項・ネクストステップ</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dirty="0">
                <a:solidFill>
                  <a:schemeClr val="bg1"/>
                </a:solidFill>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本概要書の作成時点で裏付資料の受領が完了していない事項。トップ面談前の確定を想定</a:t>
            </a:r>
            <a:endParaRPr lang="en-US" altLang="ja-JP" dirty="0"/>
          </a:p>
        </p:txBody>
      </p:sp>
      <p:graphicFrame>
        <p:nvGraphicFramePr>
          <p:cNvPr id="14" name="Table 13"/>
          <p:cNvGraphicFramePr>
            <a:graphicFrameLocks noGrp="1"/>
          </p:cNvGraphicFramePr>
          <p:nvPr/>
        </p:nvGraphicFramePr>
        <p:xfrm>
          <a:off x="310896" y="1408176"/>
          <a:ext cx="10067544" cy="4683550"/>
        </p:xfrm>
        <a:graphic>
          <a:graphicData uri="http://schemas.openxmlformats.org/drawingml/2006/table">
            <a:tbl>
              <a:tblPr>
                <a:tableStyleId>{5940675A-B579-460E-94D1-54222C63F5DA}</a:tableStyleId>
              </a:tblPr>
              <a:tblGrid>
                <a:gridCol w="365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7781544">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37744">
                <a:tc>
                  <a:txBody>
                    <a:bodyPr/>
                    <a:lstStyle/>
                    <a:p>
                      <a:pPr algn="ctr">
                        <a:spcAft>
                          <a:spcPts val="0"/>
                        </a:spcAft>
                      </a:pPr>
                      <a:r>
                        <a:rPr sz="819" b="1">
                          <a:solidFill>
                            <a:srgbClr val="FFFFFF"/>
                          </a:solidFill>
                          <a:latin typeface="游ゴシック"/>
                          <a:ea typeface="游ゴシック"/>
                          <a:cs typeface="游ゴシック"/>
                        </a:rPr>
                        <a:t>No.</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分野</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確認事項</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優先度</a:t>
                      </a:r>
                    </a:p>
                  </a:txBody>
                  <a:tcPr marL="45720" marR="45720" marT="9144" marB="9144" anchor="ctr">
                    <a:solidFill>
                      <a:srgbClr val="0B3041"/>
                    </a:solidFill>
                  </a:tcPr>
                </a:tc>
                <a:extLst>
                  <a:ext uri="{0D108BD9-81ED-4DB2-BD59-A6C34878D82A}">
                    <a16:rowId xmlns:a16="http://schemas.microsoft.com/office/drawing/2014/main" val="10000"/>
                  </a:ext>
                </a:extLst>
              </a:tr>
              <a:tr h="261518">
                <a:tc>
                  <a:txBody>
                    <a:bodyPr/>
                    <a:lstStyle/>
                    <a:p>
                      <a:pPr algn="ctr">
                        <a:spcAft>
                          <a:spcPts val="0"/>
                        </a:spcAft>
                      </a:pPr>
                      <a:r>
                        <a:rPr sz="819" b="0">
                          <a:solidFill>
                            <a:srgbClr val="1A1A1A"/>
                          </a:solidFill>
                          <a:latin typeface="Arial"/>
                          <a:ea typeface="Arial"/>
                          <a:cs typeface="Arial"/>
                        </a:rPr>
                        <a:t>1</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不動産・権利</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店舗建物が未登記。表題登記・保存登記の実施可否、費用、所要期間。土地の登記簿・公図・測量図の取得</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1"/>
                  </a:ext>
                </a:extLst>
              </a:tr>
              <a:tr h="261518">
                <a:tc>
                  <a:txBody>
                    <a:bodyPr/>
                    <a:lstStyle/>
                    <a:p>
                      <a:pPr algn="ctr">
                        <a:spcAft>
                          <a:spcPts val="0"/>
                        </a:spcAft>
                      </a:pPr>
                      <a:r>
                        <a:rPr sz="819" b="0">
                          <a:solidFill>
                            <a:srgbClr val="1A1A1A"/>
                          </a:solidFill>
                          <a:latin typeface="Arial"/>
                          <a:ea typeface="Arial"/>
                          <a:cs typeface="Arial"/>
                        </a:rPr>
                        <a:t>2</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不動産・権利</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代表者・配偶者が店舗2階に居住中。明渡しの時期・条件（現状は年180千円の家賃収入を雑収入に計上）</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2"/>
                  </a:ext>
                </a:extLst>
              </a:tr>
              <a:tr h="261518">
                <a:tc>
                  <a:txBody>
                    <a:bodyPr/>
                    <a:lstStyle/>
                    <a:p>
                      <a:pPr algn="ctr">
                        <a:spcAft>
                          <a:spcPts val="0"/>
                        </a:spcAft>
                      </a:pPr>
                      <a:r>
                        <a:rPr sz="819" b="0">
                          <a:solidFill>
                            <a:srgbClr val="1A1A1A"/>
                          </a:solidFill>
                          <a:latin typeface="Arial"/>
                          <a:ea typeface="Arial"/>
                          <a:cs typeface="Arial"/>
                        </a:rPr>
                        <a:t>3</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譲渡対象</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塩町館（建物簿価5,442千円）の取扱い。営業権・什器備品は元従業員へ譲渡済だが建物登記は未変更</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3"/>
                  </a:ext>
                </a:extLst>
              </a:tr>
              <a:tr h="261518">
                <a:tc>
                  <a:txBody>
                    <a:bodyPr/>
                    <a:lstStyle/>
                    <a:p>
                      <a:pPr algn="ctr">
                        <a:spcAft>
                          <a:spcPts val="0"/>
                        </a:spcAft>
                      </a:pPr>
                      <a:r>
                        <a:rPr sz="819" b="0">
                          <a:solidFill>
                            <a:srgbClr val="1A1A1A"/>
                          </a:solidFill>
                          <a:latin typeface="Arial"/>
                          <a:ea typeface="Arial"/>
                          <a:cs typeface="Arial"/>
                        </a:rPr>
                        <a:t>4</a:t>
                      </a:r>
                    </a:p>
                  </a:txBody>
                  <a:tcPr marL="45720" marR="45720" marT="9144" marB="9144" anchor="ctr">
                    <a:solidFill>
                      <a:srgbClr val="FFFFFF"/>
                    </a:solidFill>
                  </a:tcPr>
                </a:tc>
                <a:tc>
                  <a:txBody>
                    <a:bodyPr/>
                    <a:lstStyle/>
                    <a:p>
                      <a:pPr algn="l">
                        <a:spcAft>
                          <a:spcPts val="0"/>
                        </a:spcAft>
                      </a:pPr>
                      <a:r>
                        <a:rPr sz="819" b="0" dirty="0" err="1">
                          <a:solidFill>
                            <a:srgbClr val="1A1A1A"/>
                          </a:solidFill>
                          <a:latin typeface="游ゴシック"/>
                          <a:ea typeface="游ゴシック"/>
                          <a:cs typeface="游ゴシック"/>
                        </a:rPr>
                        <a:t>関係会社</a:t>
                      </a:r>
                      <a:endParaRPr sz="819" b="0" dirty="0">
                        <a:solidFill>
                          <a:srgbClr val="1A1A1A"/>
                        </a:solidFill>
                        <a:latin typeface="游ゴシック"/>
                        <a:ea typeface="游ゴシック"/>
                        <a:cs typeface="游ゴシック"/>
                      </a:endParaRP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（株）慈久庵咸亨酒・（株）慈久庵伊勢又の事業内容・株主構成・当社との取引関係および本件での取扱い</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4"/>
                  </a:ext>
                </a:extLst>
              </a:tr>
              <a:tr h="261518">
                <a:tc>
                  <a:txBody>
                    <a:bodyPr/>
                    <a:lstStyle/>
                    <a:p>
                      <a:pPr algn="ctr">
                        <a:spcAft>
                          <a:spcPts val="0"/>
                        </a:spcAft>
                      </a:pPr>
                      <a:r>
                        <a:rPr sz="819" b="0">
                          <a:solidFill>
                            <a:srgbClr val="1A1A1A"/>
                          </a:solidFill>
                          <a:latin typeface="Arial"/>
                          <a:ea typeface="Arial"/>
                          <a:cs typeface="Arial"/>
                        </a:rPr>
                        <a:t>5</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債権回収</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未収入金3,323千円（塩町館・小びと）が3期連続で増加。回収条件・回収可能性・取引継続の是非</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5"/>
                  </a:ext>
                </a:extLst>
              </a:tr>
              <a:tr h="261518">
                <a:tc>
                  <a:txBody>
                    <a:bodyPr/>
                    <a:lstStyle/>
                    <a:p>
                      <a:pPr algn="ctr">
                        <a:spcAft>
                          <a:spcPts val="0"/>
                        </a:spcAft>
                      </a:pPr>
                      <a:r>
                        <a:rPr sz="819" b="0">
                          <a:solidFill>
                            <a:srgbClr val="1A1A1A"/>
                          </a:solidFill>
                          <a:latin typeface="Arial"/>
                          <a:ea typeface="Arial"/>
                          <a:cs typeface="Arial"/>
                        </a:rPr>
                        <a:t>6</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借入金</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代表者・配偶者からの借入32,744千円の本件実行時の取扱い。金銭消費貸借契約書の有無</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6"/>
                  </a:ext>
                </a:extLst>
              </a:tr>
              <a:tr h="261518">
                <a:tc>
                  <a:txBody>
                    <a:bodyPr/>
                    <a:lstStyle/>
                    <a:p>
                      <a:pPr algn="ctr">
                        <a:spcAft>
                          <a:spcPts val="0"/>
                        </a:spcAft>
                      </a:pPr>
                      <a:r>
                        <a:rPr sz="819" b="0">
                          <a:solidFill>
                            <a:srgbClr val="1A1A1A"/>
                          </a:solidFill>
                          <a:latin typeface="Arial"/>
                          <a:ea typeface="Arial"/>
                          <a:cs typeface="Arial"/>
                        </a:rPr>
                        <a:t>7</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知的財産</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商標登録4件の登録番号・区分・指定商品役務・存続期間。「古式けんちんそば」の登録状況</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7"/>
                  </a:ext>
                </a:extLst>
              </a:tr>
              <a:tr h="261518">
                <a:tc>
                  <a:txBody>
                    <a:bodyPr/>
                    <a:lstStyle/>
                    <a:p>
                      <a:pPr algn="ctr">
                        <a:spcAft>
                          <a:spcPts val="0"/>
                        </a:spcAft>
                      </a:pPr>
                      <a:r>
                        <a:rPr sz="819" b="0">
                          <a:solidFill>
                            <a:srgbClr val="1A1A1A"/>
                          </a:solidFill>
                          <a:latin typeface="Arial"/>
                          <a:ea typeface="Arial"/>
                          <a:cs typeface="Arial"/>
                        </a:rPr>
                        <a:t>8</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人員・属人性</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レシピ・「かえし」等の標準化資料の実物確認。引継ぎに要する期間・人数・方式</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8"/>
                  </a:ext>
                </a:extLst>
              </a:tr>
              <a:tr h="261518">
                <a:tc>
                  <a:txBody>
                    <a:bodyPr/>
                    <a:lstStyle/>
                    <a:p>
                      <a:pPr algn="ctr">
                        <a:spcAft>
                          <a:spcPts val="0"/>
                        </a:spcAft>
                      </a:pPr>
                      <a:r>
                        <a:rPr sz="819" b="0">
                          <a:solidFill>
                            <a:srgbClr val="1A1A1A"/>
                          </a:solidFill>
                          <a:latin typeface="Arial"/>
                          <a:ea typeface="Arial"/>
                          <a:cs typeface="Arial"/>
                        </a:rPr>
                        <a:t>9</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営業体制</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営業日・営業時間を拡大する際の制約要因（人員・原料・体力・地域事情）と拡大余地の定量化</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09"/>
                  </a:ext>
                </a:extLst>
              </a:tr>
              <a:tr h="261518">
                <a:tc>
                  <a:txBody>
                    <a:bodyPr/>
                    <a:lstStyle/>
                    <a:p>
                      <a:pPr algn="ctr">
                        <a:spcAft>
                          <a:spcPts val="0"/>
                        </a:spcAft>
                      </a:pPr>
                      <a:r>
                        <a:rPr sz="819" b="0">
                          <a:solidFill>
                            <a:srgbClr val="1A1A1A"/>
                          </a:solidFill>
                          <a:latin typeface="Arial"/>
                          <a:ea typeface="Arial"/>
                          <a:cs typeface="Arial"/>
                        </a:rPr>
                        <a:t>10</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売上</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店頭日商が86→80→75千円と低下。客数・客単価のいずれが要因か。価格改定・休業の影響</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10"/>
                  </a:ext>
                </a:extLst>
              </a:tr>
              <a:tr h="261518">
                <a:tc>
                  <a:txBody>
                    <a:bodyPr/>
                    <a:lstStyle/>
                    <a:p>
                      <a:pPr algn="ctr">
                        <a:spcAft>
                          <a:spcPts val="0"/>
                        </a:spcAft>
                      </a:pPr>
                      <a:r>
                        <a:rPr sz="819" b="0">
                          <a:solidFill>
                            <a:srgbClr val="1A1A1A"/>
                          </a:solidFill>
                          <a:latin typeface="Arial"/>
                          <a:ea typeface="Arial"/>
                          <a:cs typeface="Arial"/>
                        </a:rPr>
                        <a:t>11</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許認可</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飲食店営業許可証の写し。乾麺・そばつゆ・醤・味噌の製造販売に係る許可の要否</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tcPr>
                </a:tc>
                <a:extLst>
                  <a:ext uri="{0D108BD9-81ED-4DB2-BD59-A6C34878D82A}">
                    <a16:rowId xmlns:a16="http://schemas.microsoft.com/office/drawing/2014/main" val="10011"/>
                  </a:ext>
                </a:extLst>
              </a:tr>
              <a:tr h="261518">
                <a:tc>
                  <a:txBody>
                    <a:bodyPr/>
                    <a:lstStyle/>
                    <a:p>
                      <a:pPr algn="ctr">
                        <a:spcAft>
                          <a:spcPts val="0"/>
                        </a:spcAft>
                      </a:pPr>
                      <a:r>
                        <a:rPr sz="819" b="0">
                          <a:solidFill>
                            <a:srgbClr val="1A1A1A"/>
                          </a:solidFill>
                          <a:latin typeface="Arial"/>
                          <a:ea typeface="Arial"/>
                          <a:cs typeface="Arial"/>
                        </a:rPr>
                        <a:t>12</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原価</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玄そばの仕入先・数量・単価。自家栽培（焼畑）の現況と農地の権利関係</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2"/>
                  </a:ext>
                </a:extLst>
              </a:tr>
              <a:tr h="261518">
                <a:tc>
                  <a:txBody>
                    <a:bodyPr/>
                    <a:lstStyle/>
                    <a:p>
                      <a:pPr algn="ctr">
                        <a:spcAft>
                          <a:spcPts val="0"/>
                        </a:spcAft>
                      </a:pPr>
                      <a:r>
                        <a:rPr sz="819" b="0">
                          <a:solidFill>
                            <a:srgbClr val="1A1A1A"/>
                          </a:solidFill>
                          <a:latin typeface="Arial"/>
                          <a:ea typeface="Arial"/>
                          <a:cs typeface="Arial"/>
                        </a:rPr>
                        <a:t>13</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設備</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クラシックカー2台（簿価1円）の事業供用実態と時価。本件譲渡対象に含めるか</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3"/>
                  </a:ext>
                </a:extLst>
              </a:tr>
              <a:tr h="261518">
                <a:tc>
                  <a:txBody>
                    <a:bodyPr/>
                    <a:lstStyle/>
                    <a:p>
                      <a:pPr algn="ctr">
                        <a:spcAft>
                          <a:spcPts val="0"/>
                        </a:spcAft>
                      </a:pPr>
                      <a:r>
                        <a:rPr sz="819" b="0">
                          <a:solidFill>
                            <a:srgbClr val="1A1A1A"/>
                          </a:solidFill>
                          <a:latin typeface="Arial"/>
                          <a:ea typeface="Arial"/>
                          <a:cs typeface="Arial"/>
                        </a:rPr>
                        <a:t>14</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財務</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支払保険料623千円の内訳。役員保険・解約返戻金のある契約の有無。退職金規程の有無</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4"/>
                  </a:ext>
                </a:extLst>
              </a:tr>
              <a:tr h="261518">
                <a:tc>
                  <a:txBody>
                    <a:bodyPr/>
                    <a:lstStyle/>
                    <a:p>
                      <a:pPr algn="ctr">
                        <a:spcAft>
                          <a:spcPts val="0"/>
                        </a:spcAft>
                      </a:pPr>
                      <a:r>
                        <a:rPr sz="819" b="0">
                          <a:solidFill>
                            <a:srgbClr val="1A1A1A"/>
                          </a:solidFill>
                          <a:latin typeface="Arial"/>
                          <a:ea typeface="Arial"/>
                          <a:cs typeface="Arial"/>
                        </a:rPr>
                        <a:t>15</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財務</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勘定科目内訳明細書は2026年5月期のみ受領済。2024年・2025年5月期分の受領</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5"/>
                  </a:ext>
                </a:extLst>
              </a:tr>
              <a:tr h="261518">
                <a:tc>
                  <a:txBody>
                    <a:bodyPr/>
                    <a:lstStyle/>
                    <a:p>
                      <a:pPr algn="ctr">
                        <a:spcAft>
                          <a:spcPts val="0"/>
                        </a:spcAft>
                      </a:pPr>
                      <a:r>
                        <a:rPr sz="819" b="0">
                          <a:solidFill>
                            <a:srgbClr val="1A1A1A"/>
                          </a:solidFill>
                          <a:latin typeface="Arial"/>
                          <a:ea typeface="Arial"/>
                          <a:cs typeface="Arial"/>
                        </a:rPr>
                        <a:t>16</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労務</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雑給2,201千円の支払先「小川実他1」の勤務実態・雇用形態・社会保険の適用状況</a:t>
                      </a:r>
                    </a:p>
                  </a:txBody>
                  <a:tcPr marL="45720" marR="45720" marT="9144" marB="9144" anchor="ctr">
                    <a:solidFill>
                      <a:srgbClr val="FFFFFF"/>
                    </a:solidFill>
                  </a:tcPr>
                </a:tc>
                <a:tc>
                  <a:txBody>
                    <a:bodyPr/>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6"/>
                  </a:ext>
                </a:extLst>
              </a:tr>
              <a:tr h="261518">
                <a:tc>
                  <a:txBody>
                    <a:bodyPr/>
                    <a:lstStyle/>
                    <a:p>
                      <a:pPr algn="ctr">
                        <a:spcAft>
                          <a:spcPts val="0"/>
                        </a:spcAft>
                      </a:pPr>
                      <a:r>
                        <a:rPr sz="819" b="0">
                          <a:solidFill>
                            <a:srgbClr val="1A1A1A"/>
                          </a:solidFill>
                          <a:latin typeface="Arial"/>
                          <a:ea typeface="Arial"/>
                          <a:cs typeface="Arial"/>
                        </a:rPr>
                        <a:t>17</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通販・物販</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ふるさと納税返礼品の採用状況・取扱数量・手数料率。物販商品の製造場所・許認可・原価</a:t>
                      </a:r>
                    </a:p>
                  </a:txBody>
                  <a:tcPr marL="45720" marR="45720" marT="9144" marB="9144" anchor="ctr">
                    <a:solidFill>
                      <a:srgbClr val="FFFFFF"/>
                    </a:solidFill>
                  </a:tcPr>
                </a:tc>
                <a:tc>
                  <a:txBody>
                    <a:bodyPr/>
                    <a:lstStyle/>
                    <a:p>
                      <a:pPr algn="ctr">
                        <a:spcAft>
                          <a:spcPts val="0"/>
                        </a:spcAft>
                      </a:pPr>
                      <a:r>
                        <a:rPr sz="819" b="0" dirty="0">
                          <a:solidFill>
                            <a:srgbClr val="1A1A1A"/>
                          </a:solidFill>
                          <a:latin typeface="游ゴシック"/>
                          <a:ea typeface="游ゴシック"/>
                          <a:cs typeface="游ゴシック"/>
                        </a:rPr>
                        <a:t>中</a:t>
                      </a:r>
                    </a:p>
                  </a:txBody>
                  <a:tcPr marL="45720" marR="45720" marT="9144" marB="9144" anchor="ctr">
                    <a:solidFill>
                      <a:srgbClr val="FFFFFF"/>
                    </a:solidFill>
                  </a:tcPr>
                </a:tc>
                <a:extLst>
                  <a:ext uri="{0D108BD9-81ED-4DB2-BD59-A6C34878D82A}">
                    <a16:rowId xmlns:a16="http://schemas.microsoft.com/office/drawing/2014/main" val="10017"/>
                  </a:ext>
                </a:extLst>
              </a:tr>
            </a:tbl>
          </a:graphicData>
        </a:graphic>
      </p:graphicFrame>
      <p:sp>
        <p:nvSpPr>
          <p:cNvPr id="15" name="TextBox 14"/>
          <p:cNvSpPr txBox="1"/>
          <p:nvPr/>
        </p:nvSpPr>
        <p:spPr>
          <a:xfrm>
            <a:off x="310896" y="6711696"/>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【高】はトップ面談前に確定させたい事項、【中】は基本合意までに確認したい事項です。本一覧は案件マスター「その他」シートに集約しています。</a:t>
            </a:r>
          </a:p>
        </p:txBody>
      </p:sp>
    </p:spTree>
    <p:extLst>
      <p:ext uri="{BB962C8B-B14F-4D97-AF65-F5344CB8AC3E}">
        <p14:creationId xmlns:p14="http://schemas.microsoft.com/office/powerpoint/2010/main" val="805688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a:latin typeface="游ゴシック"/>
                <a:ea typeface="游ゴシック"/>
                <a:cs typeface="游ゴシック"/>
              </a:rPr>
              <a:t>店舗概要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事業概要</a:t>
            </a: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週4日・昼のみ（11:30〜14:30）の売り切りじまい。平均予算3,000円から逆算すると1日あたり約25名であり、掲載誌には「開店前から長蛇の列」との記載がある</a:t>
            </a:r>
            <a:endParaRPr lang="en-US" altLang="ja-JP" dirty="0">
              <a:latin typeface="游ゴシック" panose="020B0400000000000000" pitchFamily="50" charset="-128"/>
              <a:ea typeface="游ゴシック" panose="020B0400000000000000" pitchFamily="50" charset="-128"/>
            </a:endParaRPr>
          </a:p>
        </p:txBody>
      </p:sp>
      <p:sp>
        <p:nvSpPr>
          <p:cNvPr id="36" name="Rectangle 35"/>
          <p:cNvSpPr/>
          <p:nvPr/>
        </p:nvSpPr>
        <p:spPr>
          <a:xfrm>
            <a:off x="310896" y="1371600"/>
            <a:ext cx="6382512"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店舗概要</a:t>
            </a:r>
          </a:p>
        </p:txBody>
      </p:sp>
      <p:graphicFrame>
        <p:nvGraphicFramePr>
          <p:cNvPr id="37" name="Table 36"/>
          <p:cNvGraphicFramePr>
            <a:graphicFrameLocks noGrp="1"/>
          </p:cNvGraphicFramePr>
          <p:nvPr/>
        </p:nvGraphicFramePr>
        <p:xfrm>
          <a:off x="310896" y="1682496"/>
          <a:ext cx="6382512" cy="2912364"/>
        </p:xfrm>
        <a:graphic>
          <a:graphicData uri="http://schemas.openxmlformats.org/drawingml/2006/table">
            <a:tbl>
              <a:tblPr firstRow="0" bandRow="0">
                <a:tableStyleId>{5940675A-B579-460E-94D1-54222C63F5DA}</a:tableStyleId>
              </a:tblPr>
              <a:tblGrid>
                <a:gridCol w="1298448"/>
                <a:gridCol w="5084064"/>
              </a:tblGrid>
              <a:tr h="237744">
                <a:tc>
                  <a:txBody>
                    <a:bodyPr wrap="square"/>
                    <a:lstStyle/>
                    <a:p>
                      <a:pPr algn="ctr">
                        <a:spcAft>
                          <a:spcPts val="0"/>
                        </a:spcAft>
                      </a:pPr>
                      <a:r>
                        <a:rPr sz="84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店舗名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慈久庵（じきゅうあん）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所在地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茨城県常陸太田市天下野町2162（竜神大吊橋の近隣）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電話／HP</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0294-70-6290 ／ https://www.jikyuan.co.jp/</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営業日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週4日（金・土・日・月）　定休：火・水・木（祝日は営業し翌日休み）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営業時間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11:30〜14:30（昼のみ・売り切りじまい）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年間営業日数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200日（2026年5月期）　※総勘定元帳の入金摘要より集計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平均予算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約3,000円（公表情報）</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1日あたり客数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約25名（店頭売上15,099千円 ÷ 200日 ÷ 3,000円＝弊社の推計）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7180">
                <a:tc>
                  <a:txBody>
                    <a:bodyPr wrap="square"/>
                    <a:lstStyle/>
                    <a:p>
                      <a:pPr algn="l">
                        <a:spcAft>
                          <a:spcPts val="0"/>
                        </a:spcAft>
                      </a:pPr>
                      <a:r>
                        <a:rPr sz="840" b="0">
                          <a:solidFill>
                            <a:srgbClr val="1A1A1A"/>
                          </a:solidFill>
                          <a:latin typeface="游ゴシック"/>
                          <a:ea typeface="游ゴシック"/>
                          <a:cs typeface="游ゴシック"/>
                        </a:rPr>
                        <a:t>客席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土間の待合／板の間／座敷（座卓6卓程度・囲炉裏）／縁側デッキ　※実席数は要確認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38" name="Rectangle 37"/>
          <p:cNvSpPr/>
          <p:nvPr/>
        </p:nvSpPr>
        <p:spPr>
          <a:xfrm>
            <a:off x="310896" y="4718304"/>
            <a:ext cx="6382512"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主要メニュー・物販商品</a:t>
            </a:r>
          </a:p>
        </p:txBody>
      </p:sp>
      <p:graphicFrame>
        <p:nvGraphicFramePr>
          <p:cNvPr id="39" name="Table 38"/>
          <p:cNvGraphicFramePr>
            <a:graphicFrameLocks noGrp="1"/>
          </p:cNvGraphicFramePr>
          <p:nvPr/>
        </p:nvGraphicFramePr>
        <p:xfrm>
          <a:off x="310896" y="5029200"/>
          <a:ext cx="6382512" cy="1609344"/>
        </p:xfrm>
        <a:graphic>
          <a:graphicData uri="http://schemas.openxmlformats.org/drawingml/2006/table">
            <a:tbl>
              <a:tblPr firstRow="0" bandRow="0">
                <a:tableStyleId>{5940675A-B579-460E-94D1-54222C63F5DA}</a:tableStyleId>
              </a:tblPr>
              <a:tblGrid>
                <a:gridCol w="1005840"/>
                <a:gridCol w="4096512"/>
                <a:gridCol w="1280160"/>
              </a:tblGrid>
              <a:tr h="237744">
                <a:tc>
                  <a:txBody>
                    <a:bodyPr wrap="square"/>
                    <a:lstStyle/>
                    <a:p>
                      <a:pPr algn="ctr">
                        <a:spcAft>
                          <a:spcPts val="0"/>
                        </a:spcAft>
                      </a:pPr>
                      <a:r>
                        <a:rPr sz="819" b="1">
                          <a:solidFill>
                            <a:srgbClr val="FFFFFF"/>
                          </a:solidFill>
                          <a:latin typeface="游ゴシック"/>
                          <a:ea typeface="游ゴシック"/>
                          <a:cs typeface="游ゴシック"/>
                        </a:rPr>
                        <a:t>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商品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価格</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19" b="0">
                          <a:solidFill>
                            <a:srgbClr val="1A1A1A"/>
                          </a:solidFill>
                          <a:latin typeface="游ゴシック"/>
                          <a:ea typeface="游ゴシック"/>
                          <a:cs typeface="游ゴシック"/>
                        </a:rPr>
                        <a:t>店頭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古式けんちんそば（地元の無農薬有機野菜を使った茨城の郷土蕎麦）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1,900円（税込）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19" b="0">
                          <a:solidFill>
                            <a:srgbClr val="1A1A1A"/>
                          </a:solidFill>
                          <a:latin typeface="游ゴシック"/>
                          <a:ea typeface="游ゴシック"/>
                          <a:cs typeface="游ゴシック"/>
                        </a:rPr>
                        <a:t>店頭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粗挽きそば（「ホシ」が浮かぶ看板商品）、天ぷら ほか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19" b="0">
                          <a:solidFill>
                            <a:srgbClr val="1A1A1A"/>
                          </a:solidFill>
                          <a:latin typeface="游ゴシック"/>
                          <a:ea typeface="游ゴシック"/>
                          <a:cs typeface="游ゴシック"/>
                        </a:rPr>
                        <a:t>物販・通販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乾麺、そばつゆ・本返し、醤、えごま味噌、大麦糀味噌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19" b="0">
                          <a:solidFill>
                            <a:srgbClr val="1A1A1A"/>
                          </a:solidFill>
                          <a:latin typeface="游ゴシック"/>
                          <a:ea typeface="游ゴシック"/>
                          <a:cs typeface="游ゴシック"/>
                        </a:rPr>
                        <a:t>ふるさと納税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「慈久庵 粗挽蕎麦」「同 本返しセット」「同 もり汁セット」（常陸太田市）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19" b="0">
                          <a:solidFill>
                            <a:srgbClr val="1A1A1A"/>
                          </a:solidFill>
                          <a:latin typeface="游ゴシック"/>
                          <a:ea typeface="游ゴシック"/>
                          <a:cs typeface="游ゴシック"/>
                        </a:rPr>
                        <a:t>卸売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玄そば・石臼挽きそば粉（同業店）、石臼挽き小麦粉（ベーカリー）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40" name="Rectangle 39"/>
          <p:cNvSpPr/>
          <p:nvPr/>
        </p:nvSpPr>
        <p:spPr>
          <a:xfrm>
            <a:off x="6876288" y="1371600"/>
            <a:ext cx="3502152"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外部評価</a:t>
            </a:r>
          </a:p>
        </p:txBody>
      </p:sp>
      <p:graphicFrame>
        <p:nvGraphicFramePr>
          <p:cNvPr id="41" name="Table 40"/>
          <p:cNvGraphicFramePr>
            <a:graphicFrameLocks noGrp="1"/>
          </p:cNvGraphicFramePr>
          <p:nvPr/>
        </p:nvGraphicFramePr>
        <p:xfrm>
          <a:off x="6876288" y="1682496"/>
          <a:ext cx="3502152" cy="2157984"/>
        </p:xfrm>
        <a:graphic>
          <a:graphicData uri="http://schemas.openxmlformats.org/drawingml/2006/table">
            <a:tbl>
              <a:tblPr firstRow="0" bandRow="0">
                <a:tableStyleId>{5940675A-B579-460E-94D1-54222C63F5DA}</a:tableStyleId>
              </a:tblPr>
              <a:tblGrid>
                <a:gridCol w="1901952"/>
                <a:gridCol w="658368"/>
                <a:gridCol w="941832"/>
              </a:tblGrid>
              <a:tr h="237744">
                <a:tc>
                  <a:txBody>
                    <a:bodyPr wrap="square"/>
                    <a:lstStyle/>
                    <a:p>
                      <a:pPr algn="ctr">
                        <a:spcAft>
                          <a:spcPts val="0"/>
                        </a:spcAft>
                      </a:pPr>
                      <a:r>
                        <a:rPr sz="800" b="1">
                          <a:solidFill>
                            <a:srgbClr val="FFFFFF"/>
                          </a:solidFill>
                          <a:latin typeface="游ゴシック"/>
                          <a:ea typeface="游ゴシック"/>
                          <a:cs typeface="游ゴシック"/>
                        </a:rPr>
                        <a:t>名称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時期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Japan Restaurant Award（食べログ）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2016年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茨城県 TOP 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THE TABELOG AWARD</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2022年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Bronze</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THE TABELOG AWARD</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2023年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Bronze（2年連続）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食べログ「そば 百名店」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2018年頃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Japan Brand Collection 2026 茨城版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2026年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掲載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42" name="Rectangle 41"/>
          <p:cNvSpPr/>
          <p:nvPr/>
        </p:nvSpPr>
        <p:spPr>
          <a:xfrm>
            <a:off x="6876288" y="3968496"/>
            <a:ext cx="3502152"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代表者の著作</a:t>
            </a:r>
          </a:p>
        </p:txBody>
      </p:sp>
      <p:sp>
        <p:nvSpPr>
          <p:cNvPr id="43" name="TextBox 42"/>
          <p:cNvSpPr txBox="1"/>
          <p:nvPr/>
        </p:nvSpPr>
        <p:spPr>
          <a:xfrm>
            <a:off x="6931152" y="4352544"/>
            <a:ext cx="3392424" cy="1133856"/>
          </a:xfrm>
          <a:prstGeom prst="rect">
            <a:avLst/>
          </a:prstGeom>
          <a:noFill/>
        </p:spPr>
        <p:txBody>
          <a:bodyPr wrap="square" lIns="0" rIns="0" tIns="0" bIns="0" anchor="t">
            <a:spAutoFit/>
          </a:bodyPr>
          <a:lstStyle/>
          <a:p>
            <a:pPr algn="l">
              <a:lnSpc>
                <a:spcPct val="120000"/>
              </a:lnSpc>
              <a:spcAft>
                <a:spcPts val="200"/>
              </a:spcAft>
            </a:pPr>
            <a:r>
              <a:rPr sz="900" b="1">
                <a:solidFill>
                  <a:srgbClr val="0B3041"/>
                </a:solidFill>
                <a:latin typeface="游ゴシック"/>
                <a:ea typeface="游ゴシック"/>
                <a:cs typeface="游ゴシック"/>
              </a:rPr>
              <a:t>『小川宣夫の蕎麦・饂飩指南 ― 粗挽き蕎麦と石臼挽き饂飩』</a:t>
            </a:r>
            <a:r>
              <a:rPr sz="860" b="0">
                <a:solidFill>
                  <a:srgbClr val="1A1A1A"/>
                </a:solidFill>
                <a:latin typeface="游ゴシック"/>
                <a:ea typeface="游ゴシック"/>
                <a:cs typeface="游ゴシック"/>
              </a:rPr>
              <a:t>「江戸以来の蕎麦文化を踏まえた、のど越しも味わえる粗挽き蕎麦。石臼で粗挽きにした地粉で打つ昔ながらの饂飩。」（帯より）</a:t>
            </a:r>
          </a:p>
          <a:p>
            <a:pPr algn="l">
              <a:spcAft>
                <a:spcPts val="200"/>
              </a:spcAft>
            </a:pPr>
            <a:r>
              <a:rPr sz="860" b="0">
                <a:solidFill>
                  <a:srgbClr val="5A6670"/>
                </a:solidFill>
                <a:latin typeface="游ゴシック"/>
                <a:ea typeface="游ゴシック"/>
                <a:cs typeface="游ゴシック"/>
              </a:rPr>
              <a:t>著作権・印税の帰属（法人／個人）は要確認。</a:t>
            </a:r>
          </a:p>
        </p:txBody>
      </p:sp>
      <p:sp>
        <p:nvSpPr>
          <p:cNvPr id="44" name="Rectangle 43"/>
          <p:cNvSpPr/>
          <p:nvPr/>
        </p:nvSpPr>
        <p:spPr>
          <a:xfrm>
            <a:off x="6876288" y="5541264"/>
            <a:ext cx="3502152" cy="122529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67727" y="5614416"/>
            <a:ext cx="3319272" cy="274320"/>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Comment</a:t>
            </a:r>
          </a:p>
        </p:txBody>
      </p:sp>
      <p:sp>
        <p:nvSpPr>
          <p:cNvPr id="46" name="TextBox 45"/>
          <p:cNvSpPr txBox="1"/>
          <p:nvPr/>
        </p:nvSpPr>
        <p:spPr>
          <a:xfrm>
            <a:off x="6986016" y="5961888"/>
            <a:ext cx="3282696" cy="713232"/>
          </a:xfrm>
          <a:prstGeom prst="rect">
            <a:avLst/>
          </a:prstGeom>
          <a:noFill/>
        </p:spPr>
        <p:txBody>
          <a:bodyPr wrap="square" lIns="0" rIns="0" tIns="0" bIns="0" anchor="t">
            <a:spAutoFit/>
          </a:bodyPr>
          <a:lstStyle/>
          <a:p>
            <a:pPr algn="l">
              <a:lnSpc>
                <a:spcPct val="116000"/>
              </a:lnSpc>
              <a:spcAft>
                <a:spcPts val="200"/>
              </a:spcAft>
            </a:pPr>
            <a:r>
              <a:rPr sz="880" b="1">
                <a:solidFill>
                  <a:srgbClr val="0889C9"/>
                </a:solidFill>
                <a:latin typeface="游ゴシック"/>
                <a:ea typeface="游ゴシック"/>
                <a:cs typeface="游ゴシック"/>
              </a:rPr>
              <a:t>≪行列と待ち時間≫ </a:t>
            </a:r>
            <a:r>
              <a:rPr sz="840" b="0">
                <a:solidFill>
                  <a:srgbClr val="1A1A1A"/>
                </a:solidFill>
                <a:latin typeface="游ゴシック"/>
                <a:ea typeface="游ゴシック"/>
                <a:cs typeface="游ゴシック"/>
              </a:rPr>
              <a:t>掲載誌には「開店前から長蛇の列。接客や調理、片付けまでの全てを小川氏一人でこなすため、席に着いてからかなりの時間がかかる」との記載がある。待ち時間と機会損失は要確認。</a:t>
            </a:r>
          </a:p>
        </p:txBody>
      </p:sp>
      <p:sp>
        <p:nvSpPr>
          <p:cNvPr id="47" name="TextBox 46"/>
          <p:cNvSpPr txBox="1"/>
          <p:nvPr/>
        </p:nvSpPr>
        <p:spPr>
          <a:xfrm>
            <a:off x="310896" y="674827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電話番号・営業時間・定休日・平均予算・価格は Japan Brand Collection 2026 茨城版（2026年）の掲載情報に基づきます。</a:t>
            </a:r>
          </a:p>
          <a:p>
            <a:pPr algn="l">
              <a:lnSpc>
                <a:spcPct val="112000"/>
              </a:lnSpc>
              <a:spcAft>
                <a:spcPts val="100"/>
              </a:spcAft>
            </a:pPr>
            <a:r>
              <a:rPr sz="750" b="0">
                <a:solidFill>
                  <a:srgbClr val="5A6670"/>
                </a:solidFill>
                <a:latin typeface="游ゴシック"/>
                <a:ea typeface="游ゴシック"/>
                <a:cs typeface="游ゴシック"/>
              </a:rPr>
              <a:t>※ 年間営業日数・店頭売上は総勘定元帳（2026年5月期）の集計値。1日あたり客数は弊社の推計です。</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8712</TotalTime>
  <Words>8156</Words>
  <Application>Microsoft Office PowerPoint</Application>
  <PresentationFormat>ユーザー設定</PresentationFormat>
  <Paragraphs>2321</Paragraphs>
  <Slides>41</Slides>
  <Notes>28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41</vt:i4>
      </vt:variant>
    </vt:vector>
  </HeadingPairs>
  <TitlesOfParts>
    <vt:vector size="45" baseType="lpstr">
      <vt:lpstr>游ゴシック</vt:lpstr>
      <vt:lpstr>游ゴシック Medium</vt:lpstr>
      <vt:lpstr>Arial</vt:lpstr>
      <vt:lpstr>SL_2026</vt:lpstr>
      <vt:lpstr>企業概要書  &lt;そば店／北関東&gt;</vt:lpstr>
      <vt:lpstr>はじめに</vt:lpstr>
      <vt:lpstr>PowerPoint プレゼンテーション</vt:lpstr>
      <vt:lpstr>エグゼクティブサマリー</vt:lpstr>
      <vt:lpstr>会社概要</vt:lpstr>
      <vt:lpstr>事業概要</vt:lpstr>
      <vt:lpstr>本件のポイント</vt:lpstr>
      <vt:lpstr>財務ハイライト（P/L）</vt:lpstr>
      <vt:lpstr>財務ハイライト（B/S）</vt:lpstr>
      <vt:lpstr>譲渡希望条件</vt:lpstr>
      <vt:lpstr>事業概要</vt:lpstr>
      <vt:lpstr>商流</vt:lpstr>
      <vt:lpstr>「慈久庵」というブランドと代表者</vt:lpstr>
      <vt:lpstr>特徴</vt:lpstr>
      <vt:lpstr>そばづくりの工程</vt:lpstr>
      <vt:lpstr>売上区分別売上高</vt:lpstr>
      <vt:lpstr>物販・通信販売の商品</vt:lpstr>
      <vt:lpstr>主要販売先別売上高</vt:lpstr>
      <vt:lpstr>主要仕入先別取引高</vt:lpstr>
      <vt:lpstr>月次売上・営業日の分析</vt:lpstr>
      <vt:lpstr>参考｜稼働拡大による売上・利益インパクト（仮説）</vt:lpstr>
      <vt:lpstr>買手が承継するもの ― ブランド・商標・レシピ</vt:lpstr>
      <vt:lpstr>組織、拠点、設備等</vt:lpstr>
      <vt:lpstr>運営体制と承継</vt:lpstr>
      <vt:lpstr>株主及び役員</vt:lpstr>
      <vt:lpstr>拠点概要（本店）</vt:lpstr>
      <vt:lpstr>拠点概要（厨房・製造設備）</vt:lpstr>
      <vt:lpstr>不動産詳細</vt:lpstr>
      <vt:lpstr>保有設備一覧</vt:lpstr>
      <vt:lpstr>知的財産・許認可</vt:lpstr>
      <vt:lpstr>財務情報詳細</vt:lpstr>
      <vt:lpstr>貸借対照表</vt:lpstr>
      <vt:lpstr>損益計算書</vt:lpstr>
      <vt:lpstr>製造原価報告書</vt:lpstr>
      <vt:lpstr>販売費及び一般管理費</vt:lpstr>
      <vt:lpstr>Appendix</vt:lpstr>
      <vt:lpstr>沿革</vt:lpstr>
      <vt:lpstr>代表者経歴</vt:lpstr>
      <vt:lpstr>外部評価・メディア掲載</vt:lpstr>
      <vt:lpstr>要確認事項・ネクストステップ</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180</cp:revision>
  <cp:lastPrinted>2026-10-21T04:39:38Z</cp:lastPrinted>
  <dcterms:created xsi:type="dcterms:W3CDTF">2022-11-09T11:25:01Z</dcterms:created>
  <dcterms:modified xsi:type="dcterms:W3CDTF">2026-10-21T22:32:19Z</dcterms:modified>
</cp:coreProperties>
</file>