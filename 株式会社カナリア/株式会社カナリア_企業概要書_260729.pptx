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6.svg" ContentType="image/svg+xml"/>
  <Override PartName="/ppt/media/image7.svg" ContentType="image/svg+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trictFirstAndLastChars="0" saveSubsetFonts="1" autoCompressPictures="0">
  <p:sldMasterIdLst>
    <p:sldMasterId id="2147483653" r:id="rId1"/>
  </p:sldMasterIdLst>
  <p:notesMasterIdLst>
    <p:notesMasterId r:id="rId37"/>
  </p:notesMasterIdLst>
  <p:sldIdLst>
    <p:sldId id="770" r:id="rId2"/>
    <p:sldId id="269" r:id="rId3"/>
    <p:sldId id="693" r:id="rId4"/>
    <p:sldId id="749" r:id="rId5"/>
    <p:sldId id="748" r:id="rId6"/>
    <p:sldId id="803" r:id="rId7"/>
    <p:sldId id="804" r:id="rId8"/>
    <p:sldId id="774" r:id="rId9"/>
    <p:sldId id="775" r:id="rId10"/>
    <p:sldId id="805" r:id="rId11"/>
    <p:sldId id="266" r:id="rId12"/>
    <p:sldId id="772" r:id="rId13"/>
    <p:sldId id="776" r:id="rId14"/>
    <p:sldId id="802" r:id="rId15"/>
    <p:sldId id="806" r:id="rId47"/>
    <p:sldId id="807" r:id="rId48"/>
    <p:sldId id="808" r:id="rId49"/>
    <p:sldId id="798" r:id="rId16"/>
    <p:sldId id="809" r:id="rId50"/>
    <p:sldId id="810" r:id="rId51"/>
    <p:sldId id="796" r:id="rId17"/>
    <p:sldId id="792" r:id="rId18"/>
    <p:sldId id="779" r:id="rId19"/>
    <p:sldId id="797" r:id="rId20"/>
    <p:sldId id="771" r:id="rId21"/>
    <p:sldId id="780" r:id="rId22"/>
    <p:sldId id="789" r:id="rId23"/>
    <p:sldId id="781" r:id="rId24"/>
    <p:sldId id="790" r:id="rId25"/>
    <p:sldId id="795" r:id="rId26"/>
    <p:sldId id="773" r:id="rId27"/>
    <p:sldId id="784" r:id="rId28"/>
    <p:sldId id="785" r:id="rId29"/>
    <p:sldId id="786" r:id="rId30"/>
    <p:sldId id="787" r:id="rId31"/>
    <p:sldId id="782" r:id="rId32"/>
    <p:sldId id="783" r:id="rId33"/>
    <p:sldId id="794" r:id="rId34"/>
    <p:sldId id="801" r:id="rId35"/>
    <p:sldId id="277" r:id="rId36"/>
  </p:sldIdLst>
  <p:sldSz cx="10691813" cy="7559675"/>
  <p:notesSz cx="9939338" cy="1436846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既定のセクション" id="{F15EE332-85E8-464E-BD9B-6722D42356EC}">
          <p14:sldIdLst>
            <p14:sldId id="770"/>
            <p14:sldId id="269"/>
            <p14:sldId id="693"/>
            <p14:sldId id="749"/>
            <p14:sldId id="748"/>
            <p14:sldId id="803"/>
            <p14:sldId id="804"/>
            <p14:sldId id="774"/>
            <p14:sldId id="775"/>
            <p14:sldId id="805"/>
            <p14:sldId id="266"/>
            <p14:sldId id="772"/>
            <p14:sldId id="776"/>
            <p14:sldId id="802"/>
            <p14:sldId id="798"/>
            <p14:sldId id="796"/>
            <p14:sldId id="792"/>
            <p14:sldId id="779"/>
            <p14:sldId id="797"/>
            <p14:sldId id="771"/>
            <p14:sldId id="780"/>
            <p14:sldId id="789"/>
            <p14:sldId id="781"/>
            <p14:sldId id="790"/>
            <p14:sldId id="795"/>
            <p14:sldId id="773"/>
            <p14:sldId id="784"/>
            <p14:sldId id="785"/>
            <p14:sldId id="786"/>
            <p14:sldId id="787"/>
            <p14:sldId id="782"/>
            <p14:sldId id="783"/>
            <p14:sldId id="794"/>
            <p14:sldId id="801"/>
            <p14:sldId id="277"/>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4526" userDrawn="1">
          <p15:clr>
            <a:srgbClr val="A4A3A4"/>
          </p15:clr>
        </p15:guide>
        <p15:guide id="2" pos="3131" userDrawn="1">
          <p15:clr>
            <a:srgbClr val="A4A3A4"/>
          </p15:clr>
        </p15:guide>
      </p15:notes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2" roundtripDataSignature="AMtx7miHo5eoGHrZPWeT5AyeZZ6LkEE/Y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1F3FB"/>
    <a:srgbClr val="0889C9"/>
    <a:srgbClr val="006AB1"/>
    <a:srgbClr val="0B3041"/>
    <a:srgbClr val="54CCB3"/>
    <a:srgbClr val="E1F2FB"/>
    <a:srgbClr val="E3E7E9"/>
    <a:srgbClr val="727F8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E9FEF8D-0F9E-4D7E-9A0F-5DDE6A6739AB}">
  <a:tblStyle styleId="{2E9FEF8D-0F9E-4D7E-9A0F-5DDE6A6739AB}" styleName="Table_0">
    <a:wholeTbl>
      <a:tcTxStyle b="off" i="off">
        <a:font>
          <a:latin typeface="游ゴシック"/>
          <a:ea typeface="游ゴシック"/>
          <a:cs typeface="游ゴシック"/>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a:tcStyle>
        <a:tcBdr/>
        <a:fill>
          <a:solidFill>
            <a:srgbClr val="D0DEEF"/>
          </a:solidFill>
        </a:fill>
      </a:tcStyle>
    </a:band1H>
    <a:band2H>
      <a:tcTxStyle/>
      <a:tcStyle>
        <a:tcBdr/>
      </a:tcStyle>
    </a:band2H>
    <a:band1V>
      <a:tcTxStyle/>
      <a:tcStyle>
        <a:tcBdr/>
        <a:fill>
          <a:solidFill>
            <a:srgbClr val="D0DEEF"/>
          </a:solidFill>
        </a:fill>
      </a:tcStyle>
    </a:band1V>
    <a:band2V>
      <a:tcTxStyle/>
      <a:tcStyle>
        <a:tcBdr/>
      </a:tcStyle>
    </a:band2V>
    <a:lastCol>
      <a:tcTxStyle b="on" i="off">
        <a:font>
          <a:latin typeface="游ゴシック"/>
          <a:ea typeface="游ゴシック"/>
          <a:cs typeface="游ゴシック"/>
        </a:font>
        <a:schemeClr val="lt1"/>
      </a:tcTxStyle>
      <a:tcStyle>
        <a:tcBdr/>
        <a:fill>
          <a:solidFill>
            <a:schemeClr val="accent5"/>
          </a:solidFill>
        </a:fill>
      </a:tcStyle>
    </a:lastCol>
    <a:firstCol>
      <a:tcTxStyle b="on" i="off">
        <a:font>
          <a:latin typeface="游ゴシック"/>
          <a:ea typeface="游ゴシック"/>
          <a:cs typeface="游ゴシック"/>
        </a:font>
        <a:schemeClr val="lt1"/>
      </a:tcTxStyle>
      <a:tcStyle>
        <a:tcBdr/>
        <a:fill>
          <a:solidFill>
            <a:schemeClr val="accent5"/>
          </a:solidFill>
        </a:fill>
      </a:tcStyle>
    </a:firstCol>
    <a:lastRow>
      <a:tcTxStyle b="on" i="off">
        <a:font>
          <a:latin typeface="游ゴシック"/>
          <a:ea typeface="游ゴシック"/>
          <a:cs typeface="游ゴシック"/>
        </a:font>
        <a:schemeClr val="lt1"/>
      </a:tcTxStyle>
      <a:tcStyle>
        <a:tcBdr>
          <a:top>
            <a:ln w="38100" cap="flat" cmpd="sng">
              <a:solidFill>
                <a:schemeClr val="lt1"/>
              </a:solidFill>
              <a:prstDash val="solid"/>
              <a:round/>
              <a:headEnd type="none" w="sm" len="sm"/>
              <a:tailEnd type="none" w="sm" len="sm"/>
            </a:ln>
          </a:top>
        </a:tcBdr>
        <a:fill>
          <a:solidFill>
            <a:schemeClr val="accent5"/>
          </a:solidFill>
        </a:fill>
      </a:tcStyle>
    </a:lastRow>
    <a:seCell>
      <a:tcTxStyle/>
      <a:tcStyle>
        <a:tcBdr/>
      </a:tcStyle>
    </a:seCell>
    <a:swCell>
      <a:tcTxStyle/>
      <a:tcStyle>
        <a:tcBdr/>
      </a:tcStyle>
    </a:swCell>
    <a:firstRow>
      <a:tcTxStyle b="on" i="off">
        <a:font>
          <a:latin typeface="游ゴシック"/>
          <a:ea typeface="游ゴシック"/>
          <a:cs typeface="游ゴシック"/>
        </a:font>
        <a:schemeClr val="lt1"/>
      </a:tcTxStyle>
      <a:tcStyle>
        <a:tcBdr>
          <a:bottom>
            <a:ln w="38100" cap="flat" cmpd="sng">
              <a:solidFill>
                <a:schemeClr val="lt1"/>
              </a:solidFill>
              <a:prstDash val="solid"/>
              <a:round/>
              <a:headEnd type="none" w="sm" len="sm"/>
              <a:tailEnd type="none" w="sm" len="sm"/>
            </a:ln>
          </a:bottom>
        </a:tcBdr>
        <a:fill>
          <a:solidFill>
            <a:schemeClr val="accent5"/>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660"/>
  </p:normalViewPr>
  <p:slideViewPr>
    <p:cSldViewPr snapToGrid="0">
      <p:cViewPr varScale="1">
        <p:scale>
          <a:sx n="64" d="100"/>
          <a:sy n="64" d="100"/>
        </p:scale>
        <p:origin x="236" y="52"/>
      </p:cViewPr>
      <p:guideLst/>
    </p:cSldViewPr>
  </p:slid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100" d="100"/>
          <a:sy n="100" d="100"/>
        </p:scale>
        <p:origin x="0" y="0"/>
      </p:cViewPr>
      <p:guideLst>
        <p:guide orient="horz" pos="4526"/>
        <p:guide pos="3131"/>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8.xml"/><Relationship Id="rId17" Type="http://schemas.openxmlformats.org/officeDocument/2006/relationships/slide" Target="slides/slide21.xml"/><Relationship Id="rId18" Type="http://schemas.openxmlformats.org/officeDocument/2006/relationships/slide" Target="slides/slide22.xml"/><Relationship Id="rId19" Type="http://schemas.openxmlformats.org/officeDocument/2006/relationships/slide" Target="slides/slide23.xml"/><Relationship Id="rId20" Type="http://schemas.openxmlformats.org/officeDocument/2006/relationships/slide" Target="slides/slide24.xml"/><Relationship Id="rId21" Type="http://schemas.openxmlformats.org/officeDocument/2006/relationships/slide" Target="slides/slide25.xml"/><Relationship Id="rId22" Type="http://schemas.openxmlformats.org/officeDocument/2006/relationships/slide" Target="slides/slide26.xml"/><Relationship Id="rId23" Type="http://schemas.openxmlformats.org/officeDocument/2006/relationships/slide" Target="slides/slide27.xml"/><Relationship Id="rId24" Type="http://schemas.openxmlformats.org/officeDocument/2006/relationships/slide" Target="slides/slide28.xml"/><Relationship Id="rId25" Type="http://schemas.openxmlformats.org/officeDocument/2006/relationships/slide" Target="slides/slide29.xml"/><Relationship Id="rId26" Type="http://schemas.openxmlformats.org/officeDocument/2006/relationships/slide" Target="slides/slide30.xml"/><Relationship Id="rId27" Type="http://schemas.openxmlformats.org/officeDocument/2006/relationships/slide" Target="slides/slide31.xml"/><Relationship Id="rId28" Type="http://schemas.openxmlformats.org/officeDocument/2006/relationships/slide" Target="slides/slide32.xml"/><Relationship Id="rId29" Type="http://schemas.openxmlformats.org/officeDocument/2006/relationships/slide" Target="slides/slide33.xml"/><Relationship Id="rId30" Type="http://schemas.openxmlformats.org/officeDocument/2006/relationships/slide" Target="slides/slide34.xml"/><Relationship Id="rId31" Type="http://schemas.openxmlformats.org/officeDocument/2006/relationships/slide" Target="slides/slide35.xml"/><Relationship Id="rId32" Type="http://schemas.openxmlformats.org/officeDocument/2006/relationships/slide" Target="slides/slide36.xml"/><Relationship Id="rId33" Type="http://schemas.openxmlformats.org/officeDocument/2006/relationships/slide" Target="slides/slide37.xml"/><Relationship Id="rId34" Type="http://schemas.openxmlformats.org/officeDocument/2006/relationships/slide" Target="slides/slide38.xml"/><Relationship Id="rId35" Type="http://schemas.openxmlformats.org/officeDocument/2006/relationships/slide" Target="slides/slide39.xml"/><Relationship Id="rId36" Type="http://schemas.openxmlformats.org/officeDocument/2006/relationships/slide" Target="slides/slide40.xml"/><Relationship Id="rId37" Type="http://schemas.openxmlformats.org/officeDocument/2006/relationships/notesMaster" Target="notesMasters/notesMaster1.xml"/><Relationship Id="rId42" Type="http://customschemas.google.com/relationships/presentationmetadata" Target="metadata"/><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 Id="rId47" Type="http://schemas.openxmlformats.org/officeDocument/2006/relationships/slide" Target="slides/slide15.xml"/><Relationship Id="rId48" Type="http://schemas.openxmlformats.org/officeDocument/2006/relationships/slide" Target="slides/slide16.xml"/><Relationship Id="rId49" Type="http://schemas.openxmlformats.org/officeDocument/2006/relationships/slide" Target="slides/slide17.xml"/><Relationship Id="rId50" Type="http://schemas.openxmlformats.org/officeDocument/2006/relationships/slide" Target="slides/slide19.xml"/><Relationship Id="rId51"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5" y="4"/>
            <a:ext cx="4306676" cy="719872"/>
          </a:xfrm>
          <a:prstGeom prst="rect">
            <a:avLst/>
          </a:prstGeom>
          <a:noFill/>
          <a:ln>
            <a:noFill/>
          </a:ln>
        </p:spPr>
        <p:txBody>
          <a:bodyPr spcFirstLastPara="1" wrap="square" lIns="128134" tIns="64050" rIns="128134" bIns="64050" anchor="t" anchorCtr="0">
            <a:noAutofit/>
          </a:bodyPr>
          <a:lstStyle>
            <a:lvl1pPr marR="0" lvl="0" algn="l" rtl="0">
              <a:spcBef>
                <a:spcPts val="0"/>
              </a:spcBef>
              <a:spcAft>
                <a:spcPts val="0"/>
              </a:spcAft>
              <a:buSzPts val="1400"/>
              <a:buNone/>
              <a:defRPr sz="17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25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25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25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25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25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25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25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25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5630444" y="4"/>
            <a:ext cx="4306675" cy="719872"/>
          </a:xfrm>
          <a:prstGeom prst="rect">
            <a:avLst/>
          </a:prstGeom>
          <a:noFill/>
          <a:ln>
            <a:noFill/>
          </a:ln>
        </p:spPr>
        <p:txBody>
          <a:bodyPr spcFirstLastPara="1" wrap="square" lIns="128134" tIns="64050" rIns="128134" bIns="64050" anchor="t" anchorCtr="0">
            <a:noAutofit/>
          </a:bodyPr>
          <a:lstStyle>
            <a:lvl1pPr marR="0" lvl="0" algn="r" rtl="0">
              <a:spcBef>
                <a:spcPts val="0"/>
              </a:spcBef>
              <a:spcAft>
                <a:spcPts val="0"/>
              </a:spcAft>
              <a:buSzPts val="1400"/>
              <a:buNone/>
              <a:defRPr sz="17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25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25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25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25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25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25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25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25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543050" y="1797050"/>
            <a:ext cx="6856413" cy="4849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995044" y="6915677"/>
            <a:ext cx="7951470" cy="5656454"/>
          </a:xfrm>
          <a:prstGeom prst="rect">
            <a:avLst/>
          </a:prstGeom>
          <a:noFill/>
          <a:ln>
            <a:noFill/>
          </a:ln>
        </p:spPr>
        <p:txBody>
          <a:bodyPr spcFirstLastPara="1" wrap="square" lIns="128134" tIns="64050" rIns="128134" bIns="6405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5" y="13648596"/>
            <a:ext cx="4306676" cy="719872"/>
          </a:xfrm>
          <a:prstGeom prst="rect">
            <a:avLst/>
          </a:prstGeom>
          <a:noFill/>
          <a:ln>
            <a:noFill/>
          </a:ln>
        </p:spPr>
        <p:txBody>
          <a:bodyPr spcFirstLastPara="1" wrap="square" lIns="128134" tIns="64050" rIns="128134" bIns="64050" anchor="b" anchorCtr="0">
            <a:noAutofit/>
          </a:bodyPr>
          <a:lstStyle>
            <a:lvl1pPr marR="0" lvl="0" algn="l" rtl="0">
              <a:spcBef>
                <a:spcPts val="0"/>
              </a:spcBef>
              <a:spcAft>
                <a:spcPts val="0"/>
              </a:spcAft>
              <a:buSzPts val="1400"/>
              <a:buNone/>
              <a:defRPr sz="17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25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25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25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25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25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25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25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25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5630444" y="13648596"/>
            <a:ext cx="4306675" cy="719872"/>
          </a:xfrm>
          <a:prstGeom prst="rect">
            <a:avLst/>
          </a:prstGeom>
          <a:noFill/>
          <a:ln>
            <a:noFill/>
          </a:ln>
        </p:spPr>
        <p:txBody>
          <a:bodyPr spcFirstLastPara="1" wrap="square" lIns="128134" tIns="64050" rIns="128134" bIns="64050" anchor="b" anchorCtr="0">
            <a:noAutofit/>
          </a:bodyPr>
          <a:lstStyle/>
          <a:p>
            <a:pPr algn="r"/>
            <a:fld id="{00000000-1234-1234-1234-123412341234}" type="slidenum">
              <a:rPr lang="en-US" altLang="ja-JP" sz="1700" smtClean="0">
                <a:solidFill>
                  <a:schemeClr val="dk1"/>
                </a:solidFill>
              </a:rPr>
              <a:pPr algn="r"/>
              <a:t>‹#›</a:t>
            </a:fld>
            <a:endParaRPr lang="en-US" sz="1700">
              <a:solidFill>
                <a:schemeClr val="dk1"/>
              </a:solidFil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72A68-D8F2-B22E-7BFA-83527B74627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8067325-FBD2-0A2C-AAB1-F7B579EB568F}"/>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7CC41CC2-90D7-5CB1-F482-54299D366ABB}"/>
              </a:ext>
            </a:extLst>
          </p:cNvPr>
          <p:cNvSpPr>
            <a:spLocks noGrp="1"/>
          </p:cNvSpPr>
          <p:nvPr>
            <p:ph type="body" idx="1"/>
          </p:nvPr>
        </p:nvSpPr>
        <p:spPr/>
        <p:txBody>
          <a:bodyPr/>
          <a:lstStyle/>
          <a:p>
            <a:endParaRPr lang="ja-JP" altLang="en-US" dirty="0"/>
          </a:p>
        </p:txBody>
      </p:sp>
      <p:sp>
        <p:nvSpPr>
          <p:cNvPr id="4" name="スライド番号プレースホルダー 3">
            <a:extLst>
              <a:ext uri="{FF2B5EF4-FFF2-40B4-BE49-F238E27FC236}">
                <a16:creationId xmlns:a16="http://schemas.microsoft.com/office/drawing/2014/main" id="{6D654142-6A85-EA5B-5409-B0B81E07C5DC}"/>
              </a:ext>
            </a:extLst>
          </p:cNvPr>
          <p:cNvSpPr>
            <a:spLocks noGrp="1"/>
          </p:cNvSpPr>
          <p:nvPr>
            <p:ph type="sldNum" sz="quarter" idx="5"/>
          </p:nvPr>
        </p:nvSpPr>
        <p:spPr/>
        <p:txBody>
          <a:bodyPr/>
          <a:lstStyle/>
          <a:p>
            <a:fld id="{30FF3BCC-1A43-4D25-8467-E40EF431E2F1}" type="slidenum">
              <a:rPr kumimoji="1" lang="ja-JP" altLang="en-US" smtClean="0"/>
              <a:t>0</a:t>
            </a:fld>
            <a:endParaRPr kumimoji="1" lang="ja-JP" altLang="en-US"/>
          </a:p>
        </p:txBody>
      </p:sp>
    </p:spTree>
    <p:extLst>
      <p:ext uri="{BB962C8B-B14F-4D97-AF65-F5344CB8AC3E}">
        <p14:creationId xmlns:p14="http://schemas.microsoft.com/office/powerpoint/2010/main" val="23596415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247775" y="1143000"/>
            <a:ext cx="4362450" cy="3086100"/>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1</a:t>
            </a:fld>
            <a:endParaRPr kumimoji="1" lang="ja-JP" altLang="en-US"/>
          </a:p>
        </p:txBody>
      </p:sp>
    </p:spTree>
    <p:extLst>
      <p:ext uri="{BB962C8B-B14F-4D97-AF65-F5344CB8AC3E}">
        <p14:creationId xmlns:p14="http://schemas.microsoft.com/office/powerpoint/2010/main" val="36371673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2:notes"/>
          <p:cNvSpPr>
            <a:spLocks noGrp="1" noRot="1" noChangeAspect="1"/>
          </p:cNvSpPr>
          <p:nvPr>
            <p:ph type="sldImg" idx="2"/>
          </p:nvPr>
        </p:nvSpPr>
        <p:spPr>
          <a:xfrm>
            <a:off x="1038225" y="1244600"/>
            <a:ext cx="4745038"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6" name="Google Shape;256;p2:notes"/>
          <p:cNvSpPr txBox="1">
            <a:spLocks noGrp="1"/>
          </p:cNvSpPr>
          <p:nvPr>
            <p:ph type="body" idx="1"/>
          </p:nvPr>
        </p:nvSpPr>
        <p:spPr>
          <a:xfrm>
            <a:off x="682755" y="4787722"/>
            <a:ext cx="5455939" cy="3915961"/>
          </a:xfrm>
          <a:prstGeom prst="rect">
            <a:avLst/>
          </a:prstGeom>
          <a:noFill/>
          <a:ln>
            <a:noFill/>
          </a:ln>
        </p:spPr>
        <p:txBody>
          <a:bodyPr spcFirstLastPara="1" wrap="square" lIns="88335" tIns="44169" rIns="88335" bIns="44169" anchor="t" anchorCtr="0">
            <a:noAutofit/>
          </a:bodyPr>
          <a:lstStyle/>
          <a:p>
            <a:endParaRPr dirty="0"/>
          </a:p>
        </p:txBody>
      </p:sp>
      <p:sp>
        <p:nvSpPr>
          <p:cNvPr id="257" name="Google Shape;257;p2:notes"/>
          <p:cNvSpPr txBox="1">
            <a:spLocks noGrp="1"/>
          </p:cNvSpPr>
          <p:nvPr>
            <p:ph type="sldNum" idx="12"/>
          </p:nvPr>
        </p:nvSpPr>
        <p:spPr>
          <a:xfrm>
            <a:off x="3863353" y="9448918"/>
            <a:ext cx="2955046" cy="498368"/>
          </a:xfrm>
          <a:prstGeom prst="rect">
            <a:avLst/>
          </a:prstGeom>
          <a:noFill/>
          <a:ln>
            <a:noFill/>
          </a:ln>
        </p:spPr>
        <p:txBody>
          <a:bodyPr spcFirstLastPara="1" wrap="square" lIns="88335" tIns="44169" rIns="88335" bIns="44169" anchor="b" anchorCtr="0">
            <a:noAutofit/>
          </a:bodyPr>
          <a:lstStyle/>
          <a:p>
            <a:pPr algn="r"/>
            <a:fld id="{00000000-1234-1234-1234-123412341234}" type="slidenum">
              <a:rPr lang="en-US" altLang="ja-JP"/>
              <a:pPr algn="r"/>
              <a:t>2</a:t>
            </a:fld>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033463" y="1243013"/>
            <a:ext cx="4740275" cy="3352800"/>
          </a:xfrm>
        </p:spPr>
      </p:sp>
      <p:sp>
        <p:nvSpPr>
          <p:cNvPr id="3" name="ノート プレースホルダー 2"/>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p:cNvSpPr>
            <a:spLocks noGrp="1"/>
          </p:cNvSpPr>
          <p:nvPr>
            <p:ph type="sldNum" sz="quarter" idx="5"/>
          </p:nvPr>
        </p:nvSpPr>
        <p:spPr/>
        <p:txBody>
          <a:bodyPr/>
          <a:lstStyle/>
          <a:p>
            <a:fld id="{30FF3BCC-1A43-4D25-8467-E40EF431E2F1}" type="slidenum">
              <a:rPr kumimoji="1" lang="ja-JP" altLang="en-US" smtClean="0"/>
              <a:t>4</a:t>
            </a:fld>
            <a:endParaRPr kumimoji="1" lang="ja-JP" altLang="en-US"/>
          </a:p>
        </p:txBody>
      </p:sp>
    </p:spTree>
    <p:extLst>
      <p:ext uri="{BB962C8B-B14F-4D97-AF65-F5344CB8AC3E}">
        <p14:creationId xmlns:p14="http://schemas.microsoft.com/office/powerpoint/2010/main" val="38172004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8B73A3-25D3-7371-5972-0FE96496EB6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D45CF1F-9BCB-D0B4-4390-64535AE45E7D}"/>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09A2751B-1C8E-6451-BDFA-22B504FE9300}"/>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D5E7D034-1D0C-CF0A-AD26-677225467F6E}"/>
              </a:ext>
            </a:extLst>
          </p:cNvPr>
          <p:cNvSpPr>
            <a:spLocks noGrp="1"/>
          </p:cNvSpPr>
          <p:nvPr>
            <p:ph type="sldNum" sz="quarter" idx="5"/>
          </p:nvPr>
        </p:nvSpPr>
        <p:spPr/>
        <p:txBody>
          <a:bodyPr/>
          <a:lstStyle/>
          <a:p>
            <a:fld id="{30FF3BCC-1A43-4D25-8467-E40EF431E2F1}" type="slidenum">
              <a:rPr kumimoji="1" lang="ja-JP" altLang="en-US" smtClean="0"/>
              <a:t>5</a:t>
            </a:fld>
            <a:endParaRPr kumimoji="1" lang="ja-JP" altLang="en-US"/>
          </a:p>
        </p:txBody>
      </p:sp>
    </p:spTree>
    <p:extLst>
      <p:ext uri="{BB962C8B-B14F-4D97-AF65-F5344CB8AC3E}">
        <p14:creationId xmlns:p14="http://schemas.microsoft.com/office/powerpoint/2010/main" val="29139358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B38D8D-9C4E-9FE3-760F-4DEA2D38B43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4B2072A-CCA9-3C9F-5A74-F322FE5C3CA1}"/>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7096D312-F21B-25BC-A3E0-7196A2610FEB}"/>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4209BC3E-17CD-D15E-77BF-F0204FBA30D2}"/>
              </a:ext>
            </a:extLst>
          </p:cNvPr>
          <p:cNvSpPr>
            <a:spLocks noGrp="1"/>
          </p:cNvSpPr>
          <p:nvPr>
            <p:ph type="sldNum" sz="quarter" idx="5"/>
          </p:nvPr>
        </p:nvSpPr>
        <p:spPr/>
        <p:txBody>
          <a:bodyPr/>
          <a:lstStyle/>
          <a:p>
            <a:fld id="{30FF3BCC-1A43-4D25-8467-E40EF431E2F1}" type="slidenum">
              <a:rPr kumimoji="1" lang="ja-JP" altLang="en-US" smtClean="0"/>
              <a:t>6</a:t>
            </a:fld>
            <a:endParaRPr kumimoji="1" lang="ja-JP" altLang="en-US"/>
          </a:p>
        </p:txBody>
      </p:sp>
    </p:spTree>
    <p:extLst>
      <p:ext uri="{BB962C8B-B14F-4D97-AF65-F5344CB8AC3E}">
        <p14:creationId xmlns:p14="http://schemas.microsoft.com/office/powerpoint/2010/main" val="12246721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D25C8-440A-2828-878D-418A0792F61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F7C3FEA-F9FD-B7DB-149F-6EC1DBA88260}"/>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3A5BB81D-E86C-9959-31EE-7B30A06B6D52}"/>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80211B70-4BC5-9F81-584A-69CFC82BF433}"/>
              </a:ext>
            </a:extLst>
          </p:cNvPr>
          <p:cNvSpPr>
            <a:spLocks noGrp="1"/>
          </p:cNvSpPr>
          <p:nvPr>
            <p:ph type="sldNum" sz="quarter" idx="5"/>
          </p:nvPr>
        </p:nvSpPr>
        <p:spPr/>
        <p:txBody>
          <a:bodyPr/>
          <a:lstStyle/>
          <a:p>
            <a:fld id="{30FF3BCC-1A43-4D25-8467-E40EF431E2F1}" type="slidenum">
              <a:rPr kumimoji="1" lang="ja-JP" altLang="en-US" smtClean="0"/>
              <a:t>7</a:t>
            </a:fld>
            <a:endParaRPr kumimoji="1" lang="ja-JP" altLang="en-US"/>
          </a:p>
        </p:txBody>
      </p:sp>
    </p:spTree>
    <p:extLst>
      <p:ext uri="{BB962C8B-B14F-4D97-AF65-F5344CB8AC3E}">
        <p14:creationId xmlns:p14="http://schemas.microsoft.com/office/powerpoint/2010/main" val="7747491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ED554-B8EF-4A9F-7D23-DA7BEB53934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71CEDC1-16A4-E7E3-6D33-36595C1E076B}"/>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07542380-129E-8965-7EF1-2B0D19ED3CF4}"/>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C20D6D73-0F3C-EDF6-E562-BBF922D0AE83}"/>
              </a:ext>
            </a:extLst>
          </p:cNvPr>
          <p:cNvSpPr>
            <a:spLocks noGrp="1"/>
          </p:cNvSpPr>
          <p:nvPr>
            <p:ph type="sldNum" sz="quarter" idx="5"/>
          </p:nvPr>
        </p:nvSpPr>
        <p:spPr/>
        <p:txBody>
          <a:bodyPr/>
          <a:lstStyle/>
          <a:p>
            <a:fld id="{30FF3BCC-1A43-4D25-8467-E40EF431E2F1}" type="slidenum">
              <a:rPr kumimoji="1" lang="ja-JP" altLang="en-US" smtClean="0"/>
              <a:t>8</a:t>
            </a:fld>
            <a:endParaRPr kumimoji="1" lang="ja-JP" altLang="en-US"/>
          </a:p>
        </p:txBody>
      </p:sp>
    </p:spTree>
    <p:extLst>
      <p:ext uri="{BB962C8B-B14F-4D97-AF65-F5344CB8AC3E}">
        <p14:creationId xmlns:p14="http://schemas.microsoft.com/office/powerpoint/2010/main" val="1899608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3500F3-3BF3-8C4E-D64F-73483289151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3236788-BA30-06AD-4E36-72DE92B91890}"/>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1F470095-B47F-9145-BB9A-02858E63CB29}"/>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689B5091-3243-F60E-F919-B4097E12B986}"/>
              </a:ext>
            </a:extLst>
          </p:cNvPr>
          <p:cNvSpPr>
            <a:spLocks noGrp="1"/>
          </p:cNvSpPr>
          <p:nvPr>
            <p:ph type="sldNum" sz="quarter" idx="5"/>
          </p:nvPr>
        </p:nvSpPr>
        <p:spPr/>
        <p:txBody>
          <a:bodyPr/>
          <a:lstStyle/>
          <a:p>
            <a:fld id="{30FF3BCC-1A43-4D25-8467-E40EF431E2F1}" type="slidenum">
              <a:rPr kumimoji="1" lang="ja-JP" altLang="en-US" smtClean="0"/>
              <a:t>9</a:t>
            </a:fld>
            <a:endParaRPr kumimoji="1" lang="ja-JP" altLang="en-US"/>
          </a:p>
        </p:txBody>
      </p:sp>
    </p:spTree>
    <p:extLst>
      <p:ext uri="{BB962C8B-B14F-4D97-AF65-F5344CB8AC3E}">
        <p14:creationId xmlns:p14="http://schemas.microsoft.com/office/powerpoint/2010/main" val="33984713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11:notes"/>
          <p:cNvSpPr>
            <a:spLocks noGrp="1" noRot="1" noChangeAspect="1"/>
          </p:cNvSpPr>
          <p:nvPr>
            <p:ph type="sldImg" idx="2"/>
          </p:nvPr>
        </p:nvSpPr>
        <p:spPr>
          <a:xfrm>
            <a:off x="1543050" y="1797050"/>
            <a:ext cx="6856413" cy="4849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7" name="Google Shape;267;p11:notes"/>
          <p:cNvSpPr txBox="1">
            <a:spLocks noGrp="1"/>
          </p:cNvSpPr>
          <p:nvPr>
            <p:ph type="body" idx="1"/>
          </p:nvPr>
        </p:nvSpPr>
        <p:spPr>
          <a:xfrm>
            <a:off x="995044" y="6915677"/>
            <a:ext cx="7951470" cy="5656454"/>
          </a:xfrm>
          <a:prstGeom prst="rect">
            <a:avLst/>
          </a:prstGeom>
          <a:noFill/>
          <a:ln>
            <a:noFill/>
          </a:ln>
        </p:spPr>
        <p:txBody>
          <a:bodyPr spcFirstLastPara="1" wrap="square" lIns="128134" tIns="64050" rIns="128134" bIns="64050" anchor="t" anchorCtr="0">
            <a:noAutofit/>
          </a:bodyPr>
          <a:lstStyle/>
          <a:p>
            <a:pPr marL="0" indent="0"/>
            <a:endParaRPr/>
          </a:p>
        </p:txBody>
      </p:sp>
      <p:sp>
        <p:nvSpPr>
          <p:cNvPr id="268" name="Google Shape;268;p11:notes"/>
          <p:cNvSpPr txBox="1">
            <a:spLocks noGrp="1"/>
          </p:cNvSpPr>
          <p:nvPr>
            <p:ph type="sldNum" idx="12"/>
          </p:nvPr>
        </p:nvSpPr>
        <p:spPr>
          <a:xfrm>
            <a:off x="5630444" y="13648596"/>
            <a:ext cx="4306675" cy="719872"/>
          </a:xfrm>
          <a:prstGeom prst="rect">
            <a:avLst/>
          </a:prstGeom>
          <a:noFill/>
          <a:ln>
            <a:noFill/>
          </a:ln>
        </p:spPr>
        <p:txBody>
          <a:bodyPr spcFirstLastPara="1" wrap="square" lIns="128134" tIns="64050" rIns="128134" bIns="64050" anchor="b" anchorCtr="0">
            <a:noAutofit/>
          </a:bodyPr>
          <a:lstStyle/>
          <a:p>
            <a:pPr algn="r"/>
            <a:fld id="{00000000-1234-1234-1234-123412341234}" type="slidenum">
              <a:rPr lang="en-US" altLang="ja-JP"/>
              <a:pPr algn="r"/>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9255F2-72AB-FF31-01FE-A6493B0F509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381C757-4FDD-ACE7-CF68-5819651248C1}"/>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C5EE625D-8D2D-C468-280D-551D9E317BF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0DF0B3B1-489B-7B8F-FCE9-8191D341F15C}"/>
              </a:ext>
            </a:extLst>
          </p:cNvPr>
          <p:cNvSpPr>
            <a:spLocks noGrp="1"/>
          </p:cNvSpPr>
          <p:nvPr>
            <p:ph type="sldNum" sz="quarter" idx="5"/>
          </p:nvPr>
        </p:nvSpPr>
        <p:spPr/>
        <p:txBody>
          <a:bodyPr/>
          <a:lstStyle/>
          <a:p>
            <a:fld id="{CAF5A409-FE33-4202-B69D-8515A6FDCE7E}" type="slidenum">
              <a:rPr kumimoji="1" lang="ja-JP" altLang="en-US" smtClean="0"/>
              <a:t>12</a:t>
            </a:fld>
            <a:endParaRPr kumimoji="1" lang="ja-JP" altLang="en-US"/>
          </a:p>
        </p:txBody>
      </p:sp>
    </p:spTree>
    <p:extLst>
      <p:ext uri="{BB962C8B-B14F-4D97-AF65-F5344CB8AC3E}">
        <p14:creationId xmlns:p14="http://schemas.microsoft.com/office/powerpoint/2010/main" val="1806618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F2053-256C-05EB-FF6B-3E836DA88FD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EBE281C-3A22-F726-BA35-A4756E55EBE3}"/>
              </a:ext>
            </a:extLst>
          </p:cNvPr>
          <p:cNvSpPr>
            <a:spLocks noGrp="1" noRot="1" noChangeAspect="1"/>
          </p:cNvSpPr>
          <p:nvPr>
            <p:ph type="sldImg"/>
          </p:nvPr>
        </p:nvSpPr>
        <p:spPr>
          <a:xfrm>
            <a:off x="1247775" y="1143000"/>
            <a:ext cx="4362450" cy="3086100"/>
          </a:xfrm>
        </p:spPr>
      </p:sp>
      <p:sp>
        <p:nvSpPr>
          <p:cNvPr id="3" name="ノート プレースホルダー 2">
            <a:extLst>
              <a:ext uri="{FF2B5EF4-FFF2-40B4-BE49-F238E27FC236}">
                <a16:creationId xmlns:a16="http://schemas.microsoft.com/office/drawing/2014/main" id="{DB7B9342-8F57-66B0-B807-2488575A5459}"/>
              </a:ext>
            </a:extLst>
          </p:cNvPr>
          <p:cNvSpPr>
            <a:spLocks noGrp="1"/>
          </p:cNvSpPr>
          <p:nvPr>
            <p:ph type="body" idx="1"/>
          </p:nvPr>
        </p:nvSpPr>
        <p:spPr/>
        <p:txBody>
          <a:bodyPr/>
          <a:lstStyle/>
          <a:p>
            <a:endParaRPr lang="ja-JP" altLang="en-US" dirty="0"/>
          </a:p>
        </p:txBody>
      </p:sp>
      <p:sp>
        <p:nvSpPr>
          <p:cNvPr id="4" name="スライド番号プレースホルダー 3">
            <a:extLst>
              <a:ext uri="{FF2B5EF4-FFF2-40B4-BE49-F238E27FC236}">
                <a16:creationId xmlns:a16="http://schemas.microsoft.com/office/drawing/2014/main" id="{00245A20-27B3-F697-2291-87BE1C3A1772}"/>
              </a:ext>
            </a:extLst>
          </p:cNvPr>
          <p:cNvSpPr>
            <a:spLocks noGrp="1"/>
          </p:cNvSpPr>
          <p:nvPr>
            <p:ph type="sldNum" sz="quarter" idx="5"/>
          </p:nvPr>
        </p:nvSpPr>
        <p:spPr/>
        <p:txBody>
          <a:bodyPr/>
          <a:lstStyle/>
          <a:p>
            <a:fld id="{CCD08276-B047-45AB-869B-6FEE4FD0AA7E}" type="slidenum">
              <a:rPr kumimoji="1" lang="ja-JP" altLang="en-US" smtClean="0"/>
              <a:t>14</a:t>
            </a:fld>
            <a:endParaRPr kumimoji="1" lang="ja-JP" altLang="en-US"/>
          </a:p>
        </p:txBody>
      </p:sp>
    </p:spTree>
    <p:extLst>
      <p:ext uri="{BB962C8B-B14F-4D97-AF65-F5344CB8AC3E}">
        <p14:creationId xmlns:p14="http://schemas.microsoft.com/office/powerpoint/2010/main" val="41460065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247775" y="1143000"/>
            <a:ext cx="4362450" cy="3086100"/>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15</a:t>
            </a:fld>
            <a:endParaRPr kumimoji="1" lang="ja-JP" altLang="en-US"/>
          </a:p>
        </p:txBody>
      </p:sp>
    </p:spTree>
    <p:extLst>
      <p:ext uri="{BB962C8B-B14F-4D97-AF65-F5344CB8AC3E}">
        <p14:creationId xmlns:p14="http://schemas.microsoft.com/office/powerpoint/2010/main" val="37467525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8C040D-60A3-F058-65D5-629296F9C77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DF3EA90-DD81-CBB9-EF73-27816BB83DE7}"/>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B54EE8A0-BFED-396D-4CAA-82A6D5708D43}"/>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91534188-0443-756D-A5E2-5F3AA4D2F28B}"/>
              </a:ext>
            </a:extLst>
          </p:cNvPr>
          <p:cNvSpPr>
            <a:spLocks noGrp="1"/>
          </p:cNvSpPr>
          <p:nvPr>
            <p:ph type="sldNum" sz="quarter" idx="5"/>
          </p:nvPr>
        </p:nvSpPr>
        <p:spPr/>
        <p:txBody>
          <a:bodyPr/>
          <a:lstStyle/>
          <a:p>
            <a:fld id="{30FF3BCC-1A43-4D25-8467-E40EF431E2F1}" type="slidenum">
              <a:rPr kumimoji="1" lang="ja-JP" altLang="en-US" smtClean="0"/>
              <a:t>16</a:t>
            </a:fld>
            <a:endParaRPr kumimoji="1" lang="ja-JP" altLang="en-US"/>
          </a:p>
        </p:txBody>
      </p:sp>
    </p:spTree>
    <p:extLst>
      <p:ext uri="{BB962C8B-B14F-4D97-AF65-F5344CB8AC3E}">
        <p14:creationId xmlns:p14="http://schemas.microsoft.com/office/powerpoint/2010/main" val="19973134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9CA458-621A-F6CD-BCBF-9D132A609BE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C5834A7-AD91-AB56-B63B-5F4E423CE6AE}"/>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642B7059-7F90-A560-40B9-33E684841ABF}"/>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291A80AB-D339-06B2-3E95-24ED9AB082F7}"/>
              </a:ext>
            </a:extLst>
          </p:cNvPr>
          <p:cNvSpPr>
            <a:spLocks noGrp="1"/>
          </p:cNvSpPr>
          <p:nvPr>
            <p:ph type="sldNum" sz="quarter" idx="5"/>
          </p:nvPr>
        </p:nvSpPr>
        <p:spPr/>
        <p:txBody>
          <a:bodyPr/>
          <a:lstStyle/>
          <a:p>
            <a:fld id="{30FF3BCC-1A43-4D25-8467-E40EF431E2F1}" type="slidenum">
              <a:rPr kumimoji="1" lang="ja-JP" altLang="en-US" smtClean="0"/>
              <a:t>17</a:t>
            </a:fld>
            <a:endParaRPr kumimoji="1" lang="ja-JP" altLang="en-US"/>
          </a:p>
        </p:txBody>
      </p:sp>
    </p:spTree>
    <p:extLst>
      <p:ext uri="{BB962C8B-B14F-4D97-AF65-F5344CB8AC3E}">
        <p14:creationId xmlns:p14="http://schemas.microsoft.com/office/powerpoint/2010/main" val="16268806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A592E-568B-2BA5-2B19-12B81CE778D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7A7352E-A782-2B96-F549-A44B4533D5CB}"/>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EF54036B-FC89-BE57-BD1D-9528CDD969D8}"/>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71950A32-E8C7-5909-50B6-CF7BE228A3D0}"/>
              </a:ext>
            </a:extLst>
          </p:cNvPr>
          <p:cNvSpPr>
            <a:spLocks noGrp="1"/>
          </p:cNvSpPr>
          <p:nvPr>
            <p:ph type="sldNum" sz="quarter" idx="5"/>
          </p:nvPr>
        </p:nvSpPr>
        <p:spPr/>
        <p:txBody>
          <a:bodyPr/>
          <a:lstStyle/>
          <a:p>
            <a:fld id="{30FF3BCC-1A43-4D25-8467-E40EF431E2F1}" type="slidenum">
              <a:rPr kumimoji="1" lang="ja-JP" altLang="en-US" smtClean="0"/>
              <a:t>18</a:t>
            </a:fld>
            <a:endParaRPr kumimoji="1" lang="ja-JP" altLang="en-US"/>
          </a:p>
        </p:txBody>
      </p:sp>
    </p:spTree>
    <p:extLst>
      <p:ext uri="{BB962C8B-B14F-4D97-AF65-F5344CB8AC3E}">
        <p14:creationId xmlns:p14="http://schemas.microsoft.com/office/powerpoint/2010/main" val="161784118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60B1B-8967-EB16-F654-95E71A21670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6F3223C-6CB5-B48E-4B27-2931302D029A}"/>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933B0F29-3AAB-5E14-B4D9-A017F82CA42C}"/>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6E8F4B38-0355-E574-CF5F-76C145B0E13C}"/>
              </a:ext>
            </a:extLst>
          </p:cNvPr>
          <p:cNvSpPr>
            <a:spLocks noGrp="1"/>
          </p:cNvSpPr>
          <p:nvPr>
            <p:ph type="sldNum" sz="quarter" idx="5"/>
          </p:nvPr>
        </p:nvSpPr>
        <p:spPr/>
        <p:txBody>
          <a:bodyPr/>
          <a:lstStyle/>
          <a:p>
            <a:fld id="{30FF3BCC-1A43-4D25-8467-E40EF431E2F1}" type="slidenum">
              <a:rPr kumimoji="1" lang="ja-JP" altLang="en-US" smtClean="0"/>
              <a:t>20</a:t>
            </a:fld>
            <a:endParaRPr kumimoji="1" lang="ja-JP" altLang="en-US"/>
          </a:p>
        </p:txBody>
      </p:sp>
    </p:spTree>
    <p:extLst>
      <p:ext uri="{BB962C8B-B14F-4D97-AF65-F5344CB8AC3E}">
        <p14:creationId xmlns:p14="http://schemas.microsoft.com/office/powerpoint/2010/main" val="40946642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AFA8DC-3B5A-8CE0-C236-C6578FA6AB0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576820E-69EC-DFBB-76F4-BBF2BC15D6DB}"/>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5041A58E-CABA-7A79-2BAA-194DDE6D0652}"/>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A0865AC2-C5B9-11C1-D7AC-9B470F32EF53}"/>
              </a:ext>
            </a:extLst>
          </p:cNvPr>
          <p:cNvSpPr>
            <a:spLocks noGrp="1"/>
          </p:cNvSpPr>
          <p:nvPr>
            <p:ph type="sldNum" sz="quarter" idx="5"/>
          </p:nvPr>
        </p:nvSpPr>
        <p:spPr/>
        <p:txBody>
          <a:bodyPr/>
          <a:lstStyle/>
          <a:p>
            <a:fld id="{30FF3BCC-1A43-4D25-8467-E40EF431E2F1}" type="slidenum">
              <a:rPr kumimoji="1" lang="ja-JP" altLang="en-US" smtClean="0"/>
              <a:t>21</a:t>
            </a:fld>
            <a:endParaRPr kumimoji="1" lang="ja-JP" altLang="en-US"/>
          </a:p>
        </p:txBody>
      </p:sp>
    </p:spTree>
    <p:extLst>
      <p:ext uri="{BB962C8B-B14F-4D97-AF65-F5344CB8AC3E}">
        <p14:creationId xmlns:p14="http://schemas.microsoft.com/office/powerpoint/2010/main" val="202644553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22E725-D7D8-17E1-4745-D0791B9111B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36A1D65-57DD-D413-2249-F85A5B421025}"/>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50982E84-E980-EAEA-3AF3-155A001191DF}"/>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635F2FC0-9ABA-38FB-BDED-E00320A10C78}"/>
              </a:ext>
            </a:extLst>
          </p:cNvPr>
          <p:cNvSpPr>
            <a:spLocks noGrp="1"/>
          </p:cNvSpPr>
          <p:nvPr>
            <p:ph type="sldNum" sz="quarter" idx="5"/>
          </p:nvPr>
        </p:nvSpPr>
        <p:spPr/>
        <p:txBody>
          <a:bodyPr/>
          <a:lstStyle/>
          <a:p>
            <a:fld id="{30FF3BCC-1A43-4D25-8467-E40EF431E2F1}" type="slidenum">
              <a:rPr kumimoji="1" lang="ja-JP" altLang="en-US" smtClean="0"/>
              <a:t>22</a:t>
            </a:fld>
            <a:endParaRPr kumimoji="1" lang="ja-JP" altLang="en-US"/>
          </a:p>
        </p:txBody>
      </p:sp>
    </p:spTree>
    <p:extLst>
      <p:ext uri="{BB962C8B-B14F-4D97-AF65-F5344CB8AC3E}">
        <p14:creationId xmlns:p14="http://schemas.microsoft.com/office/powerpoint/2010/main" val="17411098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C7B85-83C3-9DDE-4335-158CC42969A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57E6BA9-F36D-604F-3499-7C87D66ABC57}"/>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445EFA15-1CDA-B8D1-0BAC-253999A0B140}"/>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6F28CD9B-652E-87FA-D240-FE835F6686E1}"/>
              </a:ext>
            </a:extLst>
          </p:cNvPr>
          <p:cNvSpPr>
            <a:spLocks noGrp="1"/>
          </p:cNvSpPr>
          <p:nvPr>
            <p:ph type="sldNum" sz="quarter" idx="5"/>
          </p:nvPr>
        </p:nvSpPr>
        <p:spPr/>
        <p:txBody>
          <a:bodyPr/>
          <a:lstStyle/>
          <a:p>
            <a:fld id="{30FF3BCC-1A43-4D25-8467-E40EF431E2F1}" type="slidenum">
              <a:rPr kumimoji="1" lang="ja-JP" altLang="en-US" smtClean="0"/>
              <a:t>23</a:t>
            </a:fld>
            <a:endParaRPr kumimoji="1" lang="ja-JP" altLang="en-US"/>
          </a:p>
        </p:txBody>
      </p:sp>
    </p:spTree>
    <p:extLst>
      <p:ext uri="{BB962C8B-B14F-4D97-AF65-F5344CB8AC3E}">
        <p14:creationId xmlns:p14="http://schemas.microsoft.com/office/powerpoint/2010/main" val="5849257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93F79-295E-F06B-7AB6-52A5A3EA393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26F7EE7-AB24-EA55-7ACE-47505BF35BAF}"/>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7BDE5B4E-F52E-8016-E763-B450F1D89C74}"/>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86271926-BBCD-B1D8-D398-CE016D9998E8}"/>
              </a:ext>
            </a:extLst>
          </p:cNvPr>
          <p:cNvSpPr>
            <a:spLocks noGrp="1"/>
          </p:cNvSpPr>
          <p:nvPr>
            <p:ph type="sldNum" sz="quarter" idx="5"/>
          </p:nvPr>
        </p:nvSpPr>
        <p:spPr/>
        <p:txBody>
          <a:bodyPr/>
          <a:lstStyle/>
          <a:p>
            <a:fld id="{30FF3BCC-1A43-4D25-8467-E40EF431E2F1}" type="slidenum">
              <a:rPr kumimoji="1" lang="ja-JP" altLang="en-US" smtClean="0"/>
              <a:t>24</a:t>
            </a:fld>
            <a:endParaRPr kumimoji="1" lang="ja-JP" altLang="en-US"/>
          </a:p>
        </p:txBody>
      </p:sp>
    </p:spTree>
    <p:extLst>
      <p:ext uri="{BB962C8B-B14F-4D97-AF65-F5344CB8AC3E}">
        <p14:creationId xmlns:p14="http://schemas.microsoft.com/office/powerpoint/2010/main" val="331735442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58BDAB-B0BC-D005-A2A7-951EBC89B4C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52DC877-776A-449C-A43E-AEB3CE94D630}"/>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9030C70C-7CA3-B8C1-0D62-4A544C5F87B2}"/>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96B92F43-F674-D334-F90F-5304787C5E7D}"/>
              </a:ext>
            </a:extLst>
          </p:cNvPr>
          <p:cNvSpPr>
            <a:spLocks noGrp="1"/>
          </p:cNvSpPr>
          <p:nvPr>
            <p:ph type="sldNum" sz="quarter" idx="5"/>
          </p:nvPr>
        </p:nvSpPr>
        <p:spPr/>
        <p:txBody>
          <a:bodyPr/>
          <a:lstStyle/>
          <a:p>
            <a:fld id="{30FF3BCC-1A43-4D25-8467-E40EF431E2F1}" type="slidenum">
              <a:rPr kumimoji="1" lang="ja-JP" altLang="en-US" smtClean="0"/>
              <a:t>26</a:t>
            </a:fld>
            <a:endParaRPr kumimoji="1" lang="ja-JP" altLang="en-US"/>
          </a:p>
        </p:txBody>
      </p:sp>
    </p:spTree>
    <p:extLst>
      <p:ext uri="{BB962C8B-B14F-4D97-AF65-F5344CB8AC3E}">
        <p14:creationId xmlns:p14="http://schemas.microsoft.com/office/powerpoint/2010/main" val="20659891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9A4A82-F556-35B1-B856-FE508044492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EC3BDB4-265E-5E67-CFEA-208DBEE091A4}"/>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5BF07348-0B3E-EDA2-CC24-8961BB8EE4D3}"/>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0395BC13-068C-8F1D-24E2-48104E91BC41}"/>
              </a:ext>
            </a:extLst>
          </p:cNvPr>
          <p:cNvSpPr>
            <a:spLocks noGrp="1"/>
          </p:cNvSpPr>
          <p:nvPr>
            <p:ph type="sldNum" sz="quarter" idx="5"/>
          </p:nvPr>
        </p:nvSpPr>
        <p:spPr/>
        <p:txBody>
          <a:bodyPr/>
          <a:lstStyle/>
          <a:p>
            <a:fld id="{30FF3BCC-1A43-4D25-8467-E40EF431E2F1}" type="slidenum">
              <a:rPr kumimoji="1" lang="ja-JP" altLang="en-US" smtClean="0"/>
              <a:t>27</a:t>
            </a:fld>
            <a:endParaRPr kumimoji="1" lang="ja-JP" altLang="en-US"/>
          </a:p>
        </p:txBody>
      </p:sp>
    </p:spTree>
    <p:extLst>
      <p:ext uri="{BB962C8B-B14F-4D97-AF65-F5344CB8AC3E}">
        <p14:creationId xmlns:p14="http://schemas.microsoft.com/office/powerpoint/2010/main" val="2945788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1B632E-8F33-5004-67F5-94EAE2F17F1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A5829DE-8CC9-F6D1-1CB3-0AAF08ECBE22}"/>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FA43D23F-F62E-70B9-7C4E-3904758C33DE}"/>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88AE4E59-2CAF-E95C-7A4D-AA069DEF9C97}"/>
              </a:ext>
            </a:extLst>
          </p:cNvPr>
          <p:cNvSpPr>
            <a:spLocks noGrp="1"/>
          </p:cNvSpPr>
          <p:nvPr>
            <p:ph type="sldNum" sz="quarter" idx="5"/>
          </p:nvPr>
        </p:nvSpPr>
        <p:spPr/>
        <p:txBody>
          <a:bodyPr/>
          <a:lstStyle/>
          <a:p>
            <a:fld id="{30FF3BCC-1A43-4D25-8467-E40EF431E2F1}" type="slidenum">
              <a:rPr kumimoji="1" lang="ja-JP" altLang="en-US" smtClean="0"/>
              <a:t>28</a:t>
            </a:fld>
            <a:endParaRPr kumimoji="1" lang="ja-JP" altLang="en-US"/>
          </a:p>
        </p:txBody>
      </p:sp>
    </p:spTree>
    <p:extLst>
      <p:ext uri="{BB962C8B-B14F-4D97-AF65-F5344CB8AC3E}">
        <p14:creationId xmlns:p14="http://schemas.microsoft.com/office/powerpoint/2010/main" val="217691810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D6D02-57FD-62EB-BC56-6E300F505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138501E-F5AF-0224-79A6-DBE6F9F7E093}"/>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F0C518C7-436D-8B71-5734-02D19443C6BA}"/>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64216A50-996C-4CF3-5119-58EFABB781F5}"/>
              </a:ext>
            </a:extLst>
          </p:cNvPr>
          <p:cNvSpPr>
            <a:spLocks noGrp="1"/>
          </p:cNvSpPr>
          <p:nvPr>
            <p:ph type="sldNum" sz="quarter" idx="5"/>
          </p:nvPr>
        </p:nvSpPr>
        <p:spPr/>
        <p:txBody>
          <a:bodyPr/>
          <a:lstStyle/>
          <a:p>
            <a:fld id="{30FF3BCC-1A43-4D25-8467-E40EF431E2F1}" type="slidenum">
              <a:rPr kumimoji="1" lang="ja-JP" altLang="en-US" smtClean="0"/>
              <a:t>29</a:t>
            </a:fld>
            <a:endParaRPr kumimoji="1" lang="ja-JP" altLang="en-US"/>
          </a:p>
        </p:txBody>
      </p:sp>
    </p:spTree>
    <p:extLst>
      <p:ext uri="{BB962C8B-B14F-4D97-AF65-F5344CB8AC3E}">
        <p14:creationId xmlns:p14="http://schemas.microsoft.com/office/powerpoint/2010/main" val="289853074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FF017-472F-0872-A57B-F89F02E4AE7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D7AC265-7FBA-5DC7-99A1-03FC2F6AC04A}"/>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47597C32-1DAD-46CB-92D2-4B18BA8A3020}"/>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E3D7D21C-CA67-AD27-2D15-37084604B145}"/>
              </a:ext>
            </a:extLst>
          </p:cNvPr>
          <p:cNvSpPr>
            <a:spLocks noGrp="1"/>
          </p:cNvSpPr>
          <p:nvPr>
            <p:ph type="sldNum" sz="quarter" idx="5"/>
          </p:nvPr>
        </p:nvSpPr>
        <p:spPr/>
        <p:txBody>
          <a:bodyPr/>
          <a:lstStyle/>
          <a:p>
            <a:fld id="{30FF3BCC-1A43-4D25-8467-E40EF431E2F1}" type="slidenum">
              <a:rPr kumimoji="1" lang="ja-JP" altLang="en-US" smtClean="0"/>
              <a:t>31</a:t>
            </a:fld>
            <a:endParaRPr kumimoji="1" lang="ja-JP" altLang="en-US"/>
          </a:p>
        </p:txBody>
      </p:sp>
    </p:spTree>
    <p:extLst>
      <p:ext uri="{BB962C8B-B14F-4D97-AF65-F5344CB8AC3E}">
        <p14:creationId xmlns:p14="http://schemas.microsoft.com/office/powerpoint/2010/main" val="8899097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F6276C-84CC-C215-DACE-F6ADF0BA4C5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5F6E4CA-435F-061C-18DC-1F4E9AF81BF2}"/>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360C6E64-2E0B-5929-5BC0-D5FAC2E44A22}"/>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DB9BCA0D-59ED-2244-A45B-B24BCA184C3C}"/>
              </a:ext>
            </a:extLst>
          </p:cNvPr>
          <p:cNvSpPr>
            <a:spLocks noGrp="1"/>
          </p:cNvSpPr>
          <p:nvPr>
            <p:ph type="sldNum" sz="quarter" idx="5"/>
          </p:nvPr>
        </p:nvSpPr>
        <p:spPr/>
        <p:txBody>
          <a:bodyPr/>
          <a:lstStyle/>
          <a:p>
            <a:fld id="{30FF3BCC-1A43-4D25-8467-E40EF431E2F1}" type="slidenum">
              <a:rPr kumimoji="1" lang="ja-JP" altLang="en-US" smtClean="0"/>
              <a:t>32</a:t>
            </a:fld>
            <a:endParaRPr kumimoji="1" lang="ja-JP" altLang="en-US"/>
          </a:p>
        </p:txBody>
      </p:sp>
    </p:spTree>
    <p:extLst>
      <p:ext uri="{BB962C8B-B14F-4D97-AF65-F5344CB8AC3E}">
        <p14:creationId xmlns:p14="http://schemas.microsoft.com/office/powerpoint/2010/main" val="6535653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033463" y="1243013"/>
            <a:ext cx="4740275" cy="3352800"/>
          </a:xfrm>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ja-JP" altLang="en-US" dirty="0"/>
          </a:p>
        </p:txBody>
      </p:sp>
      <p:sp>
        <p:nvSpPr>
          <p:cNvPr id="4" name="スライド番号プレースホルダー 3"/>
          <p:cNvSpPr>
            <a:spLocks noGrp="1"/>
          </p:cNvSpPr>
          <p:nvPr>
            <p:ph type="sldNum" sz="quarter" idx="5"/>
          </p:nvPr>
        </p:nvSpPr>
        <p:spPr/>
        <p:txBody>
          <a:bodyPr/>
          <a:lstStyle/>
          <a:p>
            <a:fld id="{CAF5A409-FE33-4202-B69D-8515A6FDCE7E}" type="slidenum">
              <a:rPr kumimoji="1" lang="ja-JP" altLang="en-US" smtClean="0"/>
              <a:t>33</a:t>
            </a:fld>
            <a:endParaRPr kumimoji="1" lang="ja-JP" altLang="en-US"/>
          </a:p>
        </p:txBody>
      </p:sp>
    </p:spTree>
    <p:extLst>
      <p:ext uri="{BB962C8B-B14F-4D97-AF65-F5344CB8AC3E}">
        <p14:creationId xmlns:p14="http://schemas.microsoft.com/office/powerpoint/2010/main" val="39096212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6.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9974122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表紙">
    <p:spTree>
      <p:nvGrpSpPr>
        <p:cNvPr id="1" name=""/>
        <p:cNvGrpSpPr/>
        <p:nvPr/>
      </p:nvGrpSpPr>
      <p:grpSpPr>
        <a:xfrm>
          <a:off x="0" y="0"/>
          <a:ext cx="0" cy="0"/>
          <a:chOff x="0" y="0"/>
          <a:chExt cx="0" cy="0"/>
        </a:xfrm>
      </p:grpSpPr>
      <p:pic>
        <p:nvPicPr>
          <p:cNvPr id="3" name="図 2" descr="絵と文字の加工写真&#10;&#10;AI 生成コンテンツは誤りを含む可能性があります。">
            <a:extLst>
              <a:ext uri="{FF2B5EF4-FFF2-40B4-BE49-F238E27FC236}">
                <a16:creationId xmlns:a16="http://schemas.microsoft.com/office/drawing/2014/main" id="{995F6558-5E48-7ACD-5E2F-54EE4A6825B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6" name="タイトル 1">
            <a:extLst>
              <a:ext uri="{FF2B5EF4-FFF2-40B4-BE49-F238E27FC236}">
                <a16:creationId xmlns:a16="http://schemas.microsoft.com/office/drawing/2014/main" id="{7D824756-0531-3BBA-09FB-CC8ACB55A36C}"/>
              </a:ext>
            </a:extLst>
          </p:cNvPr>
          <p:cNvSpPr>
            <a:spLocks noGrp="1"/>
          </p:cNvSpPr>
          <p:nvPr>
            <p:ph type="title"/>
          </p:nvPr>
        </p:nvSpPr>
        <p:spPr>
          <a:xfrm>
            <a:off x="885526" y="3467606"/>
            <a:ext cx="9221787" cy="738664"/>
          </a:xfrm>
          <a:prstGeom prst="rect">
            <a:avLst/>
          </a:prstGeom>
          <a:noFill/>
        </p:spPr>
        <p:txBody>
          <a:bodyPr wrap="square" lIns="0" tIns="0" rIns="0" bIns="0" rtlCol="0" anchor="ctr">
            <a:spAutoFit/>
          </a:bodyPr>
          <a:lstStyle>
            <a:lvl1pPr>
              <a:lnSpc>
                <a:spcPct val="100000"/>
              </a:lnSpc>
              <a:defRPr lang="ja-JP" altLang="en-US" sz="4800" b="1" spc="200">
                <a:latin typeface="+mj-lt"/>
                <a:cs typeface="+mn-cs"/>
              </a:defRPr>
            </a:lvl1pPr>
          </a:lstStyle>
          <a:p>
            <a:pPr marL="0" lvl="0" defTabSz="503972"/>
            <a:r>
              <a:rPr kumimoji="1" lang="ja-JP" altLang="en-US" dirty="0"/>
              <a:t>マスター タイトルの書式設定</a:t>
            </a:r>
          </a:p>
        </p:txBody>
      </p:sp>
      <p:pic>
        <p:nvPicPr>
          <p:cNvPr id="4" name="図 3" descr="図形&#10;&#10;中程度の精度で自動的に生成された説明">
            <a:extLst>
              <a:ext uri="{FF2B5EF4-FFF2-40B4-BE49-F238E27FC236}">
                <a16:creationId xmlns:a16="http://schemas.microsoft.com/office/drawing/2014/main" id="{DF75B97B-7722-5333-1DF6-425BD31B0F0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597898" y="641817"/>
            <a:ext cx="2996516" cy="594316"/>
          </a:xfrm>
          <a:prstGeom prst="rect">
            <a:avLst/>
          </a:prstGeom>
        </p:spPr>
      </p:pic>
      <p:sp>
        <p:nvSpPr>
          <p:cNvPr id="5" name="正方形/長方形 4">
            <a:extLst>
              <a:ext uri="{FF2B5EF4-FFF2-40B4-BE49-F238E27FC236}">
                <a16:creationId xmlns:a16="http://schemas.microsoft.com/office/drawing/2014/main" id="{E7F2AB3F-4E5C-EEA1-723A-7D941C02D057}"/>
              </a:ext>
            </a:extLst>
          </p:cNvPr>
          <p:cNvSpPr/>
          <p:nvPr userDrawn="1"/>
        </p:nvSpPr>
        <p:spPr>
          <a:xfrm>
            <a:off x="-1" y="-1"/>
            <a:ext cx="108000" cy="7560000"/>
          </a:xfrm>
          <a:prstGeom prst="rect">
            <a:avLst/>
          </a:prstGeom>
          <a:gradFill>
            <a:gsLst>
              <a:gs pos="100000">
                <a:schemeClr val="accent4"/>
              </a:gs>
              <a:gs pos="17000">
                <a:schemeClr val="tx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Tree>
    <p:extLst>
      <p:ext uri="{BB962C8B-B14F-4D97-AF65-F5344CB8AC3E}">
        <p14:creationId xmlns:p14="http://schemas.microsoft.com/office/powerpoint/2010/main" val="10359687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次">
    <p:spTree>
      <p:nvGrpSpPr>
        <p:cNvPr id="1" name=""/>
        <p:cNvGrpSpPr/>
        <p:nvPr/>
      </p:nvGrpSpPr>
      <p:grpSpPr>
        <a:xfrm>
          <a:off x="0" y="0"/>
          <a:ext cx="0" cy="0"/>
          <a:chOff x="0" y="0"/>
          <a:chExt cx="0" cy="0"/>
        </a:xfrm>
      </p:grpSpPr>
      <p:pic>
        <p:nvPicPr>
          <p:cNvPr id="2" name="図 1" descr="背景パターン&#10;&#10;AI 生成コンテンツは誤りを含む可能性があります。">
            <a:extLst>
              <a:ext uri="{FF2B5EF4-FFF2-40B4-BE49-F238E27FC236}">
                <a16:creationId xmlns:a16="http://schemas.microsoft.com/office/drawing/2014/main" id="{8E967D6D-5B52-5B07-CA48-6817A5CEB27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grpSp>
        <p:nvGrpSpPr>
          <p:cNvPr id="7" name="グループ化 6">
            <a:extLst>
              <a:ext uri="{FF2B5EF4-FFF2-40B4-BE49-F238E27FC236}">
                <a16:creationId xmlns:a16="http://schemas.microsoft.com/office/drawing/2014/main" id="{01D98B25-17B2-272C-53AC-A26D9745042C}"/>
              </a:ext>
            </a:extLst>
          </p:cNvPr>
          <p:cNvGrpSpPr/>
          <p:nvPr userDrawn="1"/>
        </p:nvGrpSpPr>
        <p:grpSpPr>
          <a:xfrm>
            <a:off x="887069" y="3420377"/>
            <a:ext cx="3420000" cy="602349"/>
            <a:chOff x="887069" y="3420377"/>
            <a:chExt cx="3420000" cy="602349"/>
          </a:xfrm>
        </p:grpSpPr>
        <p:sp>
          <p:nvSpPr>
            <p:cNvPr id="9" name="テキスト ボックス 8">
              <a:extLst>
                <a:ext uri="{FF2B5EF4-FFF2-40B4-BE49-F238E27FC236}">
                  <a16:creationId xmlns:a16="http://schemas.microsoft.com/office/drawing/2014/main" id="{C5012DD8-6B05-046F-3AF1-CACA060CA370}"/>
                </a:ext>
              </a:extLst>
            </p:cNvPr>
            <p:cNvSpPr txBox="1"/>
            <p:nvPr/>
          </p:nvSpPr>
          <p:spPr>
            <a:xfrm>
              <a:off x="977069" y="3420377"/>
              <a:ext cx="3240000" cy="492443"/>
            </a:xfrm>
            <a:prstGeom prst="rect">
              <a:avLst/>
            </a:prstGeom>
            <a:noFill/>
          </p:spPr>
          <p:txBody>
            <a:bodyPr wrap="square" lIns="0" tIns="0" rIns="0" bIns="0" anchor="t">
              <a:spAutoFit/>
            </a:bodyPr>
            <a:lstStyle/>
            <a:p>
              <a:pPr algn="ctr"/>
              <a:r>
                <a:rPr lang="ja-JP" altLang="en-US" sz="3200" b="1" dirty="0">
                  <a:latin typeface="+mj-lt"/>
                </a:rPr>
                <a:t>目次</a:t>
              </a:r>
            </a:p>
          </p:txBody>
        </p:sp>
        <p:cxnSp>
          <p:nvCxnSpPr>
            <p:cNvPr id="10" name="直線コネクタ 9">
              <a:extLst>
                <a:ext uri="{FF2B5EF4-FFF2-40B4-BE49-F238E27FC236}">
                  <a16:creationId xmlns:a16="http://schemas.microsoft.com/office/drawing/2014/main" id="{268C069C-EAF1-B7E8-021B-4DF925E86141}"/>
                </a:ext>
              </a:extLst>
            </p:cNvPr>
            <p:cNvCxnSpPr>
              <a:cxnSpLocks/>
            </p:cNvCxnSpPr>
            <p:nvPr/>
          </p:nvCxnSpPr>
          <p:spPr>
            <a:xfrm>
              <a:off x="887069" y="4022726"/>
              <a:ext cx="34200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grpSp>
      <p:pic>
        <p:nvPicPr>
          <p:cNvPr id="4" name="図 3" descr="図形&#10;&#10;中程度の精度で自動的に生成された説明">
            <a:extLst>
              <a:ext uri="{FF2B5EF4-FFF2-40B4-BE49-F238E27FC236}">
                <a16:creationId xmlns:a16="http://schemas.microsoft.com/office/drawing/2014/main" id="{DF75B97B-7722-5333-1DF6-425BD31B0F0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597898" y="641818"/>
            <a:ext cx="1627200" cy="322732"/>
          </a:xfrm>
          <a:prstGeom prst="rect">
            <a:avLst/>
          </a:prstGeom>
        </p:spPr>
      </p:pic>
      <p:sp>
        <p:nvSpPr>
          <p:cNvPr id="12" name="テキスト ボックス 11">
            <a:extLst>
              <a:ext uri="{FF2B5EF4-FFF2-40B4-BE49-F238E27FC236}">
                <a16:creationId xmlns:a16="http://schemas.microsoft.com/office/drawing/2014/main" id="{1A1C1562-A331-DA82-9B95-1B4F0DA08BD0}"/>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accent1"/>
                </a:solidFill>
                <a:latin typeface="+mj-lt"/>
              </a:rPr>
              <a:pPr algn="r"/>
              <a:t>‹#›</a:t>
            </a:fld>
            <a:endParaRPr kumimoji="1" lang="ja-JP" altLang="en-US" sz="992" dirty="0">
              <a:solidFill>
                <a:schemeClr val="accent1"/>
              </a:solidFill>
              <a:latin typeface="+mj-lt"/>
            </a:endParaRPr>
          </a:p>
        </p:txBody>
      </p:sp>
      <p:sp>
        <p:nvSpPr>
          <p:cNvPr id="13" name="Google Shape;14;p31">
            <a:extLst>
              <a:ext uri="{FF2B5EF4-FFF2-40B4-BE49-F238E27FC236}">
                <a16:creationId xmlns:a16="http://schemas.microsoft.com/office/drawing/2014/main" id="{0CB49C29-F967-F011-F3F8-2ED176CC202F}"/>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accent1"/>
                </a:solidFill>
                <a:latin typeface="Arial"/>
                <a:ea typeface="Arial"/>
                <a:cs typeface="Arial"/>
                <a:sym typeface="Arial"/>
              </a:rPr>
              <a:t>Copyright© M＆A Succession Group Inc. All Right Reserved</a:t>
            </a:r>
            <a:endParaRPr sz="700" b="0" i="0" u="none" strike="noStrike" cap="none" dirty="0">
              <a:solidFill>
                <a:schemeClr val="accent1"/>
              </a:solidFill>
              <a:latin typeface="Arial"/>
              <a:ea typeface="Arial"/>
              <a:cs typeface="Arial"/>
              <a:sym typeface="Arial"/>
            </a:endParaRPr>
          </a:p>
        </p:txBody>
      </p:sp>
      <p:sp>
        <p:nvSpPr>
          <p:cNvPr id="3" name="正方形/長方形 2">
            <a:extLst>
              <a:ext uri="{FF2B5EF4-FFF2-40B4-BE49-F238E27FC236}">
                <a16:creationId xmlns:a16="http://schemas.microsoft.com/office/drawing/2014/main" id="{7493C03D-EF3C-73CD-DCFB-960D33F81124}"/>
              </a:ext>
            </a:extLst>
          </p:cNvPr>
          <p:cNvSpPr/>
          <p:nvPr userDrawn="1"/>
        </p:nvSpPr>
        <p:spPr>
          <a:xfrm>
            <a:off x="6933143" y="7209190"/>
            <a:ext cx="640572" cy="144000"/>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accent1"/>
                </a:solidFill>
              </a:rPr>
              <a:t>Confidential</a:t>
            </a:r>
          </a:p>
        </p:txBody>
      </p:sp>
    </p:spTree>
    <p:extLst>
      <p:ext uri="{BB962C8B-B14F-4D97-AF65-F5344CB8AC3E}">
        <p14:creationId xmlns:p14="http://schemas.microsoft.com/office/powerpoint/2010/main" val="28014450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中扉">
    <p:spTree>
      <p:nvGrpSpPr>
        <p:cNvPr id="1" name=""/>
        <p:cNvGrpSpPr/>
        <p:nvPr/>
      </p:nvGrpSpPr>
      <p:grpSpPr>
        <a:xfrm>
          <a:off x="0" y="0"/>
          <a:ext cx="0" cy="0"/>
          <a:chOff x="0" y="0"/>
          <a:chExt cx="0" cy="0"/>
        </a:xfrm>
      </p:grpSpPr>
      <p:pic>
        <p:nvPicPr>
          <p:cNvPr id="3" name="図 2" descr="背景パターン&#10;&#10;AI 生成コンテンツは誤りを含む可能性があります。">
            <a:extLst>
              <a:ext uri="{FF2B5EF4-FFF2-40B4-BE49-F238E27FC236}">
                <a16:creationId xmlns:a16="http://schemas.microsoft.com/office/drawing/2014/main" id="{FDE449C2-8B65-9409-394F-45A167C6AEA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5" name="タイトル 1">
            <a:extLst>
              <a:ext uri="{FF2B5EF4-FFF2-40B4-BE49-F238E27FC236}">
                <a16:creationId xmlns:a16="http://schemas.microsoft.com/office/drawing/2014/main" id="{07D600CD-5CAD-A0C8-1E3D-CD1EA5B04422}"/>
              </a:ext>
            </a:extLst>
          </p:cNvPr>
          <p:cNvSpPr>
            <a:spLocks noGrp="1"/>
          </p:cNvSpPr>
          <p:nvPr>
            <p:ph type="title"/>
          </p:nvPr>
        </p:nvSpPr>
        <p:spPr>
          <a:xfrm>
            <a:off x="989013" y="3656161"/>
            <a:ext cx="9221787" cy="615553"/>
          </a:xfrm>
          <a:prstGeom prst="rect">
            <a:avLst/>
          </a:prstGeom>
          <a:noFill/>
        </p:spPr>
        <p:txBody>
          <a:bodyPr wrap="square" lIns="0" tIns="0" rIns="0" bIns="0" rtlCol="0" anchor="ctr">
            <a:spAutoFit/>
          </a:bodyPr>
          <a:lstStyle>
            <a:lvl1pPr>
              <a:lnSpc>
                <a:spcPct val="100000"/>
              </a:lnSpc>
              <a:defRPr lang="ja-JP" altLang="en-US" sz="4000" b="1" spc="200" dirty="0">
                <a:solidFill>
                  <a:schemeClr val="bg1"/>
                </a:solidFill>
                <a:latin typeface="+mj-lt"/>
                <a:cs typeface="+mn-cs"/>
              </a:defRPr>
            </a:lvl1pPr>
          </a:lstStyle>
          <a:p>
            <a:pPr marL="0" lvl="0" defTabSz="503972"/>
            <a:r>
              <a:rPr kumimoji="1" lang="ja-JP" altLang="en-US" dirty="0"/>
              <a:t>マスター タイトルの書式設定</a:t>
            </a:r>
          </a:p>
        </p:txBody>
      </p:sp>
      <p:pic>
        <p:nvPicPr>
          <p:cNvPr id="4" name="グラフィックス 3">
            <a:extLst>
              <a:ext uri="{FF2B5EF4-FFF2-40B4-BE49-F238E27FC236}">
                <a16:creationId xmlns:a16="http://schemas.microsoft.com/office/drawing/2014/main" id="{8D4E6481-3D38-43CE-56D4-0766A151BDB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97898" y="641818"/>
            <a:ext cx="1627200" cy="320105"/>
          </a:xfrm>
          <a:prstGeom prst="rect">
            <a:avLst/>
          </a:prstGeom>
        </p:spPr>
      </p:pic>
      <p:sp>
        <p:nvSpPr>
          <p:cNvPr id="7" name="テキスト ボックス 6">
            <a:extLst>
              <a:ext uri="{FF2B5EF4-FFF2-40B4-BE49-F238E27FC236}">
                <a16:creationId xmlns:a16="http://schemas.microsoft.com/office/drawing/2014/main" id="{06F9BFF4-1363-8167-1FD9-7F8105B557A4}"/>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bg1"/>
                </a:solidFill>
                <a:latin typeface="+mj-lt"/>
              </a:rPr>
              <a:pPr algn="r"/>
              <a:t>‹#›</a:t>
            </a:fld>
            <a:endParaRPr kumimoji="1" lang="ja-JP" altLang="en-US" sz="992" dirty="0">
              <a:solidFill>
                <a:schemeClr val="bg1"/>
              </a:solidFill>
              <a:latin typeface="+mj-lt"/>
            </a:endParaRPr>
          </a:p>
        </p:txBody>
      </p:sp>
      <p:sp>
        <p:nvSpPr>
          <p:cNvPr id="8" name="Google Shape;14;p31">
            <a:extLst>
              <a:ext uri="{FF2B5EF4-FFF2-40B4-BE49-F238E27FC236}">
                <a16:creationId xmlns:a16="http://schemas.microsoft.com/office/drawing/2014/main" id="{4768A1B1-9FB9-F183-2D3A-178D813DD52B}"/>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bg1"/>
                </a:solidFill>
                <a:latin typeface="Arial"/>
                <a:ea typeface="Arial"/>
                <a:cs typeface="Arial"/>
                <a:sym typeface="Arial"/>
              </a:rPr>
              <a:t>Copyright© M＆A Succession Group Inc. All Right Reserved</a:t>
            </a:r>
            <a:endParaRPr sz="700" b="0" i="0" u="none" strike="noStrike" cap="none" dirty="0">
              <a:solidFill>
                <a:schemeClr val="bg1"/>
              </a:solidFill>
              <a:latin typeface="Arial"/>
              <a:ea typeface="Arial"/>
              <a:cs typeface="Arial"/>
              <a:sym typeface="Arial"/>
            </a:endParaRPr>
          </a:p>
        </p:txBody>
      </p:sp>
      <p:sp>
        <p:nvSpPr>
          <p:cNvPr id="2" name="正方形/長方形 1">
            <a:extLst>
              <a:ext uri="{FF2B5EF4-FFF2-40B4-BE49-F238E27FC236}">
                <a16:creationId xmlns:a16="http://schemas.microsoft.com/office/drawing/2014/main" id="{00B19FBA-B74F-4E88-0389-543A882445EE}"/>
              </a:ext>
            </a:extLst>
          </p:cNvPr>
          <p:cNvSpPr/>
          <p:nvPr userDrawn="1"/>
        </p:nvSpPr>
        <p:spPr>
          <a:xfrm>
            <a:off x="6933143" y="7209190"/>
            <a:ext cx="640572" cy="144000"/>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bg1"/>
                </a:solidFill>
              </a:rPr>
              <a:t>Confidential</a:t>
            </a:r>
          </a:p>
        </p:txBody>
      </p:sp>
    </p:spTree>
    <p:extLst>
      <p:ext uri="{BB962C8B-B14F-4D97-AF65-F5344CB8AC3E}">
        <p14:creationId xmlns:p14="http://schemas.microsoft.com/office/powerpoint/2010/main" val="18809509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本編1">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BA577B03-0430-76D0-A4E3-BD118824A3F8}"/>
              </a:ext>
            </a:extLst>
          </p:cNvPr>
          <p:cNvSpPr/>
          <p:nvPr userDrawn="1"/>
        </p:nvSpPr>
        <p:spPr>
          <a:xfrm>
            <a:off x="-1" y="0"/>
            <a:ext cx="10691814" cy="666000"/>
          </a:xfrm>
          <a:prstGeom prst="rect">
            <a:avLst/>
          </a:prstGeom>
          <a:gradFill>
            <a:gsLst>
              <a:gs pos="88000">
                <a:srgbClr val="006AB1"/>
              </a:gs>
              <a:gs pos="5000">
                <a:schemeClr val="tx2"/>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dirty="0"/>
          </a:p>
        </p:txBody>
      </p:sp>
      <p:sp>
        <p:nvSpPr>
          <p:cNvPr id="31" name="フリーフォーム: 図形 30">
            <a:extLst>
              <a:ext uri="{FF2B5EF4-FFF2-40B4-BE49-F238E27FC236}">
                <a16:creationId xmlns:a16="http://schemas.microsoft.com/office/drawing/2014/main" id="{D9CC89AC-0069-75DF-7665-F8D290946A33}"/>
              </a:ext>
            </a:extLst>
          </p:cNvPr>
          <p:cNvSpPr/>
          <p:nvPr userDrawn="1"/>
        </p:nvSpPr>
        <p:spPr>
          <a:xfrm>
            <a:off x="6714554" y="0"/>
            <a:ext cx="1701594" cy="666001"/>
          </a:xfrm>
          <a:custGeom>
            <a:avLst/>
            <a:gdLst>
              <a:gd name="csX0" fmla="*/ 0 w 1701594"/>
              <a:gd name="csY0" fmla="*/ 0 h 666001"/>
              <a:gd name="csX1" fmla="*/ 1089255 w 1701594"/>
              <a:gd name="csY1" fmla="*/ 0 h 666001"/>
              <a:gd name="csX2" fmla="*/ 1382486 w 1701594"/>
              <a:gd name="csY2" fmla="*/ 0 h 666001"/>
              <a:gd name="csX3" fmla="*/ 1382486 w 1701594"/>
              <a:gd name="csY3" fmla="*/ 183 h 666001"/>
              <a:gd name="csX4" fmla="*/ 1701594 w 1701594"/>
              <a:gd name="csY4" fmla="*/ 381 h 666001"/>
              <a:gd name="csX5" fmla="*/ 1565532 w 1701594"/>
              <a:gd name="csY5" fmla="*/ 333001 h 666001"/>
              <a:gd name="csX6" fmla="*/ 1701594 w 1701594"/>
              <a:gd name="csY6" fmla="*/ 666001 h 666001"/>
              <a:gd name="csX7" fmla="*/ 1382486 w 1701594"/>
              <a:gd name="csY7" fmla="*/ 665803 h 666001"/>
              <a:gd name="csX8" fmla="*/ 1382486 w 1701594"/>
              <a:gd name="csY8" fmla="*/ 666000 h 666001"/>
              <a:gd name="csX9" fmla="*/ 0 w 1701594"/>
              <a:gd name="csY9" fmla="*/ 666000 h 6660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01594" h="666001">
                <a:moveTo>
                  <a:pt x="0" y="0"/>
                </a:moveTo>
                <a:lnTo>
                  <a:pt x="1089255" y="0"/>
                </a:lnTo>
                <a:lnTo>
                  <a:pt x="1382486" y="0"/>
                </a:lnTo>
                <a:lnTo>
                  <a:pt x="1382486" y="183"/>
                </a:lnTo>
                <a:lnTo>
                  <a:pt x="1701594" y="381"/>
                </a:lnTo>
                <a:lnTo>
                  <a:pt x="1565532" y="333001"/>
                </a:lnTo>
                <a:lnTo>
                  <a:pt x="1701594" y="666001"/>
                </a:lnTo>
                <a:lnTo>
                  <a:pt x="1382486" y="665803"/>
                </a:lnTo>
                <a:lnTo>
                  <a:pt x="1382486" y="666000"/>
                </a:lnTo>
                <a:lnTo>
                  <a:pt x="0" y="666000"/>
                </a:lnTo>
                <a:close/>
              </a:path>
            </a:pathLst>
          </a:custGeom>
          <a:gradFill>
            <a:gsLst>
              <a:gs pos="96000">
                <a:schemeClr val="accent4"/>
              </a:gs>
              <a:gs pos="46000">
                <a:schemeClr val="tx2">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263" dirty="0"/>
          </a:p>
        </p:txBody>
      </p:sp>
      <p:sp>
        <p:nvSpPr>
          <p:cNvPr id="3" name="字幕 2">
            <a:extLst>
              <a:ext uri="{FF2B5EF4-FFF2-40B4-BE49-F238E27FC236}">
                <a16:creationId xmlns:a16="http://schemas.microsoft.com/office/drawing/2014/main" id="{E4C44029-31FF-A9F7-06AC-0A055C09D50F}"/>
              </a:ext>
            </a:extLst>
          </p:cNvPr>
          <p:cNvSpPr>
            <a:spLocks noGrp="1"/>
          </p:cNvSpPr>
          <p:nvPr>
            <p:ph type="subTitle" idx="1"/>
          </p:nvPr>
        </p:nvSpPr>
        <p:spPr>
          <a:xfrm>
            <a:off x="460675" y="830046"/>
            <a:ext cx="9781875" cy="241861"/>
          </a:xfrm>
          <a:prstGeom prst="rect">
            <a:avLst/>
          </a:prstGeom>
        </p:spPr>
        <p:txBody>
          <a:bodyPr wrap="square" lIns="0" tIns="0" rIns="0" bIns="0">
            <a:spAutoFit/>
          </a:bodyPr>
          <a:lstStyle>
            <a:lvl1pPr marL="0" indent="0" algn="l">
              <a:lnSpc>
                <a:spcPct val="120000"/>
              </a:lnSpc>
              <a:spcBef>
                <a:spcPts val="0"/>
              </a:spcBef>
              <a:buNone/>
              <a:defRPr sz="1400" b="1" spc="55" baseline="0">
                <a:latin typeface="+mj-ea"/>
                <a:ea typeface="+mj-ea"/>
              </a:defRPr>
            </a:lvl1pPr>
            <a:lvl2pPr marL="503972" indent="0" algn="ctr">
              <a:buNone/>
              <a:defRPr sz="2205"/>
            </a:lvl2pPr>
            <a:lvl3pPr marL="1007943" indent="0" algn="ctr">
              <a:buNone/>
              <a:defRPr sz="1984"/>
            </a:lvl3pPr>
            <a:lvl4pPr marL="1511915" indent="0" algn="ctr">
              <a:buNone/>
              <a:defRPr sz="1764"/>
            </a:lvl4pPr>
            <a:lvl5pPr marL="2015886" indent="0" algn="ctr">
              <a:buNone/>
              <a:defRPr sz="1764"/>
            </a:lvl5pPr>
            <a:lvl6pPr marL="2519858" indent="0" algn="ctr">
              <a:buNone/>
              <a:defRPr sz="1764"/>
            </a:lvl6pPr>
            <a:lvl7pPr marL="3023829" indent="0" algn="ctr">
              <a:buNone/>
              <a:defRPr sz="1764"/>
            </a:lvl7pPr>
            <a:lvl8pPr marL="3527801" indent="0" algn="ctr">
              <a:buNone/>
              <a:defRPr sz="1764"/>
            </a:lvl8pPr>
            <a:lvl9pPr marL="4031772" indent="0" algn="ctr">
              <a:buNone/>
              <a:defRPr sz="1764"/>
            </a:lvl9pPr>
          </a:lstStyle>
          <a:p>
            <a:r>
              <a:rPr kumimoji="1" lang="ja-JP" altLang="en-US" dirty="0"/>
              <a:t>マスター サブタイトルの書式設定</a:t>
            </a:r>
          </a:p>
        </p:txBody>
      </p:sp>
      <p:sp>
        <p:nvSpPr>
          <p:cNvPr id="6" name="テキスト ボックス 5">
            <a:extLst>
              <a:ext uri="{FF2B5EF4-FFF2-40B4-BE49-F238E27FC236}">
                <a16:creationId xmlns:a16="http://schemas.microsoft.com/office/drawing/2014/main" id="{C06A0380-DE0F-1825-615F-4DBC89C8C6DB}"/>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accent1"/>
                </a:solidFill>
                <a:latin typeface="+mj-lt"/>
              </a:rPr>
              <a:pPr algn="r"/>
              <a:t>‹#›</a:t>
            </a:fld>
            <a:endParaRPr kumimoji="1" lang="ja-JP" altLang="en-US" sz="992" dirty="0">
              <a:solidFill>
                <a:schemeClr val="accent1"/>
              </a:solidFill>
              <a:latin typeface="+mj-lt"/>
            </a:endParaRPr>
          </a:p>
        </p:txBody>
      </p:sp>
      <p:pic>
        <p:nvPicPr>
          <p:cNvPr id="8" name="グラフィックス 7">
            <a:extLst>
              <a:ext uri="{FF2B5EF4-FFF2-40B4-BE49-F238E27FC236}">
                <a16:creationId xmlns:a16="http://schemas.microsoft.com/office/drawing/2014/main" id="{15124CEF-AA7F-DF16-7A5C-692E9AB7616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04801" y="7086114"/>
            <a:ext cx="1625600" cy="322220"/>
          </a:xfrm>
          <a:prstGeom prst="rect">
            <a:avLst/>
          </a:prstGeom>
        </p:spPr>
      </p:pic>
      <p:grpSp>
        <p:nvGrpSpPr>
          <p:cNvPr id="26" name="グループ化 25">
            <a:extLst>
              <a:ext uri="{FF2B5EF4-FFF2-40B4-BE49-F238E27FC236}">
                <a16:creationId xmlns:a16="http://schemas.microsoft.com/office/drawing/2014/main" id="{2864EB89-7DDA-1F5E-BB78-27D39C8659FC}"/>
              </a:ext>
            </a:extLst>
          </p:cNvPr>
          <p:cNvGrpSpPr/>
          <p:nvPr userDrawn="1"/>
        </p:nvGrpSpPr>
        <p:grpSpPr>
          <a:xfrm>
            <a:off x="-1" y="0"/>
            <a:ext cx="252001" cy="666000"/>
            <a:chOff x="-1" y="0"/>
            <a:chExt cx="252001" cy="666000"/>
          </a:xfrm>
        </p:grpSpPr>
        <p:cxnSp>
          <p:nvCxnSpPr>
            <p:cNvPr id="19" name="直線コネクタ 18">
              <a:extLst>
                <a:ext uri="{FF2B5EF4-FFF2-40B4-BE49-F238E27FC236}">
                  <a16:creationId xmlns:a16="http://schemas.microsoft.com/office/drawing/2014/main" id="{05B82C66-0A6E-C82F-B38C-D4495200FAA8}"/>
                </a:ext>
              </a:extLst>
            </p:cNvPr>
            <p:cNvCxnSpPr>
              <a:cxnSpLocks/>
            </p:cNvCxnSpPr>
            <p:nvPr userDrawn="1"/>
          </p:nvCxnSpPr>
          <p:spPr>
            <a:xfrm>
              <a:off x="0" y="333000"/>
              <a:ext cx="252000"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
          <p:nvSpPr>
            <p:cNvPr id="11" name="正方形/長方形 10">
              <a:extLst>
                <a:ext uri="{FF2B5EF4-FFF2-40B4-BE49-F238E27FC236}">
                  <a16:creationId xmlns:a16="http://schemas.microsoft.com/office/drawing/2014/main" id="{A6BFD29D-964D-B44D-88A5-439ACA448282}"/>
                </a:ext>
              </a:extLst>
            </p:cNvPr>
            <p:cNvSpPr/>
            <p:nvPr userDrawn="1"/>
          </p:nvSpPr>
          <p:spPr>
            <a:xfrm>
              <a:off x="-1" y="0"/>
              <a:ext cx="108000" cy="666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cxnSp>
          <p:nvCxnSpPr>
            <p:cNvPr id="18" name="直線コネクタ 17">
              <a:extLst>
                <a:ext uri="{FF2B5EF4-FFF2-40B4-BE49-F238E27FC236}">
                  <a16:creationId xmlns:a16="http://schemas.microsoft.com/office/drawing/2014/main" id="{B87BA5C7-32E9-C506-2110-1D5AFE77B082}"/>
                </a:ext>
              </a:extLst>
            </p:cNvPr>
            <p:cNvCxnSpPr>
              <a:cxnSpLocks/>
            </p:cNvCxnSpPr>
            <p:nvPr userDrawn="1"/>
          </p:nvCxnSpPr>
          <p:spPr>
            <a:xfrm>
              <a:off x="-1" y="333000"/>
              <a:ext cx="108000" cy="0"/>
            </a:xfrm>
            <a:prstGeom prst="line">
              <a:avLst/>
            </a:prstGeom>
            <a:ln>
              <a:solidFill>
                <a:schemeClr val="tx2"/>
              </a:solidFill>
            </a:ln>
          </p:spPr>
          <p:style>
            <a:lnRef idx="2">
              <a:schemeClr val="accent1"/>
            </a:lnRef>
            <a:fillRef idx="0">
              <a:schemeClr val="accent1"/>
            </a:fillRef>
            <a:effectRef idx="1">
              <a:schemeClr val="accent1"/>
            </a:effectRef>
            <a:fontRef idx="minor">
              <a:schemeClr val="tx1"/>
            </a:fontRef>
          </p:style>
        </p:cxnSp>
      </p:grpSp>
      <p:sp>
        <p:nvSpPr>
          <p:cNvPr id="2" name="タイトル 1">
            <a:extLst>
              <a:ext uri="{FF2B5EF4-FFF2-40B4-BE49-F238E27FC236}">
                <a16:creationId xmlns:a16="http://schemas.microsoft.com/office/drawing/2014/main" id="{1DA08165-590D-BD55-05E9-10B2D6F8DD63}"/>
              </a:ext>
            </a:extLst>
          </p:cNvPr>
          <p:cNvSpPr>
            <a:spLocks noGrp="1"/>
          </p:cNvSpPr>
          <p:nvPr userDrawn="1">
            <p:ph type="ctrTitle"/>
          </p:nvPr>
        </p:nvSpPr>
        <p:spPr>
          <a:xfrm>
            <a:off x="341313" y="180296"/>
            <a:ext cx="7799917" cy="339267"/>
          </a:xfrm>
          <a:prstGeom prst="rect">
            <a:avLst/>
          </a:prstGeom>
        </p:spPr>
        <p:txBody>
          <a:bodyPr wrap="square" lIns="0" tIns="0" rIns="0" bIns="0" anchor="ctr">
            <a:spAutoFit/>
          </a:bodyPr>
          <a:lstStyle>
            <a:lvl1pPr algn="l">
              <a:lnSpc>
                <a:spcPct val="100000"/>
              </a:lnSpc>
              <a:defRPr sz="2200" b="1" spc="77" baseline="0">
                <a:solidFill>
                  <a:schemeClr val="bg1"/>
                </a:solidFill>
                <a:latin typeface="+mj-lt"/>
              </a:defRPr>
            </a:lvl1pPr>
          </a:lstStyle>
          <a:p>
            <a:r>
              <a:rPr kumimoji="1" lang="ja-JP" altLang="en-US" dirty="0"/>
              <a:t>マスター タイトルの書式設定</a:t>
            </a:r>
          </a:p>
        </p:txBody>
      </p:sp>
      <p:sp>
        <p:nvSpPr>
          <p:cNvPr id="30" name="フリーフォーム: 図形 29">
            <a:extLst>
              <a:ext uri="{FF2B5EF4-FFF2-40B4-BE49-F238E27FC236}">
                <a16:creationId xmlns:a16="http://schemas.microsoft.com/office/drawing/2014/main" id="{0AA6A414-726D-CCFA-2EF2-5B8503BE0A88}"/>
              </a:ext>
            </a:extLst>
          </p:cNvPr>
          <p:cNvSpPr/>
          <p:nvPr userDrawn="1"/>
        </p:nvSpPr>
        <p:spPr>
          <a:xfrm>
            <a:off x="6386286" y="0"/>
            <a:ext cx="1701594" cy="666001"/>
          </a:xfrm>
          <a:custGeom>
            <a:avLst/>
            <a:gdLst>
              <a:gd name="csX0" fmla="*/ 0 w 1701594"/>
              <a:gd name="csY0" fmla="*/ 0 h 666001"/>
              <a:gd name="csX1" fmla="*/ 1089255 w 1701594"/>
              <a:gd name="csY1" fmla="*/ 0 h 666001"/>
              <a:gd name="csX2" fmla="*/ 1382486 w 1701594"/>
              <a:gd name="csY2" fmla="*/ 0 h 666001"/>
              <a:gd name="csX3" fmla="*/ 1382486 w 1701594"/>
              <a:gd name="csY3" fmla="*/ 183 h 666001"/>
              <a:gd name="csX4" fmla="*/ 1701594 w 1701594"/>
              <a:gd name="csY4" fmla="*/ 381 h 666001"/>
              <a:gd name="csX5" fmla="*/ 1565532 w 1701594"/>
              <a:gd name="csY5" fmla="*/ 333001 h 666001"/>
              <a:gd name="csX6" fmla="*/ 1701594 w 1701594"/>
              <a:gd name="csY6" fmla="*/ 666001 h 666001"/>
              <a:gd name="csX7" fmla="*/ 1382486 w 1701594"/>
              <a:gd name="csY7" fmla="*/ 665803 h 666001"/>
              <a:gd name="csX8" fmla="*/ 1382486 w 1701594"/>
              <a:gd name="csY8" fmla="*/ 666000 h 666001"/>
              <a:gd name="csX9" fmla="*/ 0 w 1701594"/>
              <a:gd name="csY9" fmla="*/ 666000 h 6660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01594" h="666001">
                <a:moveTo>
                  <a:pt x="0" y="0"/>
                </a:moveTo>
                <a:lnTo>
                  <a:pt x="1089255" y="0"/>
                </a:lnTo>
                <a:lnTo>
                  <a:pt x="1382486" y="0"/>
                </a:lnTo>
                <a:lnTo>
                  <a:pt x="1382486" y="183"/>
                </a:lnTo>
                <a:lnTo>
                  <a:pt x="1701594" y="381"/>
                </a:lnTo>
                <a:lnTo>
                  <a:pt x="1565532" y="333001"/>
                </a:lnTo>
                <a:lnTo>
                  <a:pt x="1701594" y="666001"/>
                </a:lnTo>
                <a:lnTo>
                  <a:pt x="1382486" y="665803"/>
                </a:lnTo>
                <a:lnTo>
                  <a:pt x="1382486" y="666000"/>
                </a:lnTo>
                <a:lnTo>
                  <a:pt x="0" y="666000"/>
                </a:lnTo>
                <a:close/>
              </a:path>
            </a:pathLst>
          </a:custGeom>
          <a:gradFill>
            <a:gsLst>
              <a:gs pos="100000">
                <a:schemeClr val="accent4"/>
              </a:gs>
              <a:gs pos="8000">
                <a:srgbClr val="0167AB">
                  <a:alpha val="0"/>
                </a:srgb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263"/>
          </a:p>
        </p:txBody>
      </p:sp>
      <p:sp>
        <p:nvSpPr>
          <p:cNvPr id="33" name="Google Shape;14;p31">
            <a:extLst>
              <a:ext uri="{FF2B5EF4-FFF2-40B4-BE49-F238E27FC236}">
                <a16:creationId xmlns:a16="http://schemas.microsoft.com/office/drawing/2014/main" id="{273032A6-EBE9-0147-F9C2-495CA12FDE28}"/>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accent1"/>
                </a:solidFill>
                <a:latin typeface="Arial"/>
                <a:ea typeface="Arial"/>
                <a:cs typeface="Arial"/>
                <a:sym typeface="Arial"/>
              </a:rPr>
              <a:t>Copyright© M＆A Succession Group Inc. All Right Reserved</a:t>
            </a:r>
            <a:endParaRPr sz="700" b="0" i="0" u="none" strike="noStrike" cap="none" dirty="0">
              <a:solidFill>
                <a:schemeClr val="accent1"/>
              </a:solidFill>
              <a:latin typeface="Arial"/>
              <a:ea typeface="Arial"/>
              <a:cs typeface="Arial"/>
              <a:sym typeface="Arial"/>
            </a:endParaRPr>
          </a:p>
        </p:txBody>
      </p:sp>
      <p:sp>
        <p:nvSpPr>
          <p:cNvPr id="5" name="正方形/長方形 4">
            <a:extLst>
              <a:ext uri="{FF2B5EF4-FFF2-40B4-BE49-F238E27FC236}">
                <a16:creationId xmlns:a16="http://schemas.microsoft.com/office/drawing/2014/main" id="{283DDC2C-ECEE-530D-9F1C-6564A5A2BAB9}"/>
              </a:ext>
            </a:extLst>
          </p:cNvPr>
          <p:cNvSpPr/>
          <p:nvPr userDrawn="1"/>
        </p:nvSpPr>
        <p:spPr>
          <a:xfrm>
            <a:off x="6933143" y="7209190"/>
            <a:ext cx="640572" cy="144000"/>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accent1"/>
                </a:solidFill>
              </a:rPr>
              <a:t>Confidential</a:t>
            </a:r>
          </a:p>
        </p:txBody>
      </p:sp>
    </p:spTree>
    <p:extLst>
      <p:ext uri="{BB962C8B-B14F-4D97-AF65-F5344CB8AC3E}">
        <p14:creationId xmlns:p14="http://schemas.microsoft.com/office/powerpoint/2010/main" val="2627557559"/>
      </p:ext>
    </p:extLst>
  </p:cSld>
  <p:clrMapOvr>
    <a:masterClrMapping/>
  </p:clrMapOvr>
  <p:extLst>
    <p:ext uri="{DCECCB84-F9BA-43D5-87BE-67443E8EF086}">
      <p15:sldGuideLst xmlns:p15="http://schemas.microsoft.com/office/powerpoint/2012/main">
        <p15:guide id="2" orient="horz" pos="4309">
          <p15:clr>
            <a:srgbClr val="FBAE40"/>
          </p15:clr>
        </p15:guide>
        <p15:guide id="3" pos="215">
          <p15:clr>
            <a:srgbClr val="A4A3A4"/>
          </p15:clr>
        </p15:guide>
        <p15:guide id="4" pos="6520">
          <p15:clr>
            <a:srgbClr val="A4A3A4"/>
          </p15:clr>
        </p15:guide>
        <p15:guide id="5" pos="283">
          <p15:clr>
            <a:srgbClr val="FBAE40"/>
          </p15:clr>
        </p15:guide>
        <p15:guide id="6" pos="645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表紙">
    <p:spTree>
      <p:nvGrpSpPr>
        <p:cNvPr id="1" name=""/>
        <p:cNvGrpSpPr/>
        <p:nvPr/>
      </p:nvGrpSpPr>
      <p:grpSpPr>
        <a:xfrm>
          <a:off x="0" y="0"/>
          <a:ext cx="0" cy="0"/>
          <a:chOff x="0" y="0"/>
          <a:chExt cx="0" cy="0"/>
        </a:xfrm>
      </p:grpSpPr>
      <p:pic>
        <p:nvPicPr>
          <p:cNvPr id="3" name="図 2" descr="絵と文字の加工写真&#10;&#10;AI 生成コンテンツは誤りを含む可能性があります。">
            <a:extLst>
              <a:ext uri="{FF2B5EF4-FFF2-40B4-BE49-F238E27FC236}">
                <a16:creationId xmlns:a16="http://schemas.microsoft.com/office/drawing/2014/main" id="{995F6558-5E48-7ACD-5E2F-54EE4A6825B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6" name="タイトル 1">
            <a:extLst>
              <a:ext uri="{FF2B5EF4-FFF2-40B4-BE49-F238E27FC236}">
                <a16:creationId xmlns:a16="http://schemas.microsoft.com/office/drawing/2014/main" id="{7D824756-0531-3BBA-09FB-CC8ACB55A36C}"/>
              </a:ext>
            </a:extLst>
          </p:cNvPr>
          <p:cNvSpPr>
            <a:spLocks noGrp="1"/>
          </p:cNvSpPr>
          <p:nvPr>
            <p:ph type="title"/>
          </p:nvPr>
        </p:nvSpPr>
        <p:spPr>
          <a:xfrm>
            <a:off x="885526" y="3467606"/>
            <a:ext cx="9221787" cy="738664"/>
          </a:xfrm>
          <a:prstGeom prst="rect">
            <a:avLst/>
          </a:prstGeom>
          <a:noFill/>
        </p:spPr>
        <p:txBody>
          <a:bodyPr wrap="square" lIns="0" tIns="0" rIns="0" bIns="0" rtlCol="0" anchor="ctr">
            <a:spAutoFit/>
          </a:bodyPr>
          <a:lstStyle>
            <a:lvl1pPr>
              <a:lnSpc>
                <a:spcPct val="100000"/>
              </a:lnSpc>
              <a:defRPr lang="ja-JP" altLang="en-US" sz="4800" b="1" spc="200">
                <a:latin typeface="+mj-lt"/>
                <a:cs typeface="+mn-cs"/>
              </a:defRPr>
            </a:lvl1pPr>
          </a:lstStyle>
          <a:p>
            <a:pPr marL="0" lvl="0" defTabSz="503972"/>
            <a:r>
              <a:rPr kumimoji="1" lang="ja-JP" altLang="en-US" dirty="0"/>
              <a:t>マスター タイトルの書式設定</a:t>
            </a:r>
          </a:p>
        </p:txBody>
      </p:sp>
      <p:pic>
        <p:nvPicPr>
          <p:cNvPr id="4" name="図 3" descr="図形&#10;&#10;中程度の精度で自動的に生成された説明">
            <a:extLst>
              <a:ext uri="{FF2B5EF4-FFF2-40B4-BE49-F238E27FC236}">
                <a16:creationId xmlns:a16="http://schemas.microsoft.com/office/drawing/2014/main" id="{DF75B97B-7722-5333-1DF6-425BD31B0F0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597898" y="641817"/>
            <a:ext cx="2996516" cy="594316"/>
          </a:xfrm>
          <a:prstGeom prst="rect">
            <a:avLst/>
          </a:prstGeom>
        </p:spPr>
      </p:pic>
      <p:sp>
        <p:nvSpPr>
          <p:cNvPr id="5" name="正方形/長方形 4">
            <a:extLst>
              <a:ext uri="{FF2B5EF4-FFF2-40B4-BE49-F238E27FC236}">
                <a16:creationId xmlns:a16="http://schemas.microsoft.com/office/drawing/2014/main" id="{E7F2AB3F-4E5C-EEA1-723A-7D941C02D057}"/>
              </a:ext>
            </a:extLst>
          </p:cNvPr>
          <p:cNvSpPr/>
          <p:nvPr userDrawn="1"/>
        </p:nvSpPr>
        <p:spPr>
          <a:xfrm>
            <a:off x="-1" y="-1"/>
            <a:ext cx="108000" cy="7560000"/>
          </a:xfrm>
          <a:prstGeom prst="rect">
            <a:avLst/>
          </a:prstGeom>
          <a:gradFill>
            <a:gsLst>
              <a:gs pos="100000">
                <a:schemeClr val="accent4"/>
              </a:gs>
              <a:gs pos="17000">
                <a:schemeClr val="tx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Tree>
    <p:extLst>
      <p:ext uri="{BB962C8B-B14F-4D97-AF65-F5344CB8AC3E}">
        <p14:creationId xmlns:p14="http://schemas.microsoft.com/office/powerpoint/2010/main" val="21111899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58542152"/>
      </p:ext>
    </p:extLst>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Lst>
  <p:txStyles>
    <p:titleStyle>
      <a:lvl1pPr algn="l" defTabSz="1007943" rtl="0" eaLnBrk="1" latinLnBrk="0" hangingPunct="1">
        <a:lnSpc>
          <a:spcPct val="90000"/>
        </a:lnSpc>
        <a:spcBef>
          <a:spcPct val="0"/>
        </a:spcBef>
        <a:buNone/>
        <a:defRPr kumimoji="1" sz="4850" kern="1200">
          <a:solidFill>
            <a:schemeClr val="tx1"/>
          </a:solidFill>
          <a:latin typeface="+mj-lt"/>
          <a:ea typeface="+mj-ea"/>
          <a:cs typeface="+mj-cs"/>
        </a:defRPr>
      </a:lvl1pPr>
    </p:titleStyle>
    <p:bodyStyle>
      <a:lvl1pPr marL="251986" indent="-251986" algn="l" defTabSz="1007943" rtl="0" eaLnBrk="1" latinLnBrk="0" hangingPunct="1">
        <a:lnSpc>
          <a:spcPct val="90000"/>
        </a:lnSpc>
        <a:spcBef>
          <a:spcPts val="1102"/>
        </a:spcBef>
        <a:buFont typeface="Arial" panose="020B0604020202020204" pitchFamily="34" charset="0"/>
        <a:buChar char="•"/>
        <a:defRPr kumimoji="1" sz="3086" kern="1200">
          <a:solidFill>
            <a:schemeClr val="tx1"/>
          </a:solidFill>
          <a:latin typeface="+mn-lt"/>
          <a:ea typeface="+mn-ea"/>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kumimoji="1"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kumimoji="1"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9pPr>
    </p:bodyStyle>
    <p:otherStyle>
      <a:defPPr>
        <a:defRPr lang="ja-JP"/>
      </a:defPPr>
      <a:lvl1pPr marL="0" algn="l" defTabSz="1007943" rtl="0" eaLnBrk="1" latinLnBrk="0" hangingPunct="1">
        <a:defRPr kumimoji="1" sz="1984" kern="1200">
          <a:solidFill>
            <a:schemeClr val="tx1"/>
          </a:solidFill>
          <a:latin typeface="+mn-lt"/>
          <a:ea typeface="+mn-ea"/>
          <a:cs typeface="+mn-cs"/>
        </a:defRPr>
      </a:lvl1pPr>
      <a:lvl2pPr marL="503972" algn="l" defTabSz="1007943" rtl="0" eaLnBrk="1" latinLnBrk="0" hangingPunct="1">
        <a:defRPr kumimoji="1" sz="1984" kern="1200">
          <a:solidFill>
            <a:schemeClr val="tx1"/>
          </a:solidFill>
          <a:latin typeface="+mn-lt"/>
          <a:ea typeface="+mn-ea"/>
          <a:cs typeface="+mn-cs"/>
        </a:defRPr>
      </a:lvl2pPr>
      <a:lvl3pPr marL="1007943" algn="l" defTabSz="1007943" rtl="0" eaLnBrk="1" latinLnBrk="0" hangingPunct="1">
        <a:defRPr kumimoji="1" sz="1984" kern="1200">
          <a:solidFill>
            <a:schemeClr val="tx1"/>
          </a:solidFill>
          <a:latin typeface="+mn-lt"/>
          <a:ea typeface="+mn-ea"/>
          <a:cs typeface="+mn-cs"/>
        </a:defRPr>
      </a:lvl3pPr>
      <a:lvl4pPr marL="1511915" algn="l" defTabSz="1007943" rtl="0" eaLnBrk="1" latinLnBrk="0" hangingPunct="1">
        <a:defRPr kumimoji="1" sz="1984" kern="1200">
          <a:solidFill>
            <a:schemeClr val="tx1"/>
          </a:solidFill>
          <a:latin typeface="+mn-lt"/>
          <a:ea typeface="+mn-ea"/>
          <a:cs typeface="+mn-cs"/>
        </a:defRPr>
      </a:lvl4pPr>
      <a:lvl5pPr marL="2015886" algn="l" defTabSz="1007943" rtl="0" eaLnBrk="1" latinLnBrk="0" hangingPunct="1">
        <a:defRPr kumimoji="1" sz="1984" kern="1200">
          <a:solidFill>
            <a:schemeClr val="tx1"/>
          </a:solidFill>
          <a:latin typeface="+mn-lt"/>
          <a:ea typeface="+mn-ea"/>
          <a:cs typeface="+mn-cs"/>
        </a:defRPr>
      </a:lvl5pPr>
      <a:lvl6pPr marL="2519858" algn="l" defTabSz="1007943" rtl="0" eaLnBrk="1" latinLnBrk="0" hangingPunct="1">
        <a:defRPr kumimoji="1" sz="1984" kern="1200">
          <a:solidFill>
            <a:schemeClr val="tx1"/>
          </a:solidFill>
          <a:latin typeface="+mn-lt"/>
          <a:ea typeface="+mn-ea"/>
          <a:cs typeface="+mn-cs"/>
        </a:defRPr>
      </a:lvl6pPr>
      <a:lvl7pPr marL="3023829" algn="l" defTabSz="1007943" rtl="0" eaLnBrk="1" latinLnBrk="0" hangingPunct="1">
        <a:defRPr kumimoji="1" sz="1984" kern="1200">
          <a:solidFill>
            <a:schemeClr val="tx1"/>
          </a:solidFill>
          <a:latin typeface="+mn-lt"/>
          <a:ea typeface="+mn-ea"/>
          <a:cs typeface="+mn-cs"/>
        </a:defRPr>
      </a:lvl7pPr>
      <a:lvl8pPr marL="3527801" algn="l" defTabSz="1007943" rtl="0" eaLnBrk="1" latinLnBrk="0" hangingPunct="1">
        <a:defRPr kumimoji="1" sz="1984" kern="1200">
          <a:solidFill>
            <a:schemeClr val="tx1"/>
          </a:solidFill>
          <a:latin typeface="+mn-lt"/>
          <a:ea typeface="+mn-ea"/>
          <a:cs typeface="+mn-cs"/>
        </a:defRPr>
      </a:lvl8pPr>
      <a:lvl9pPr marL="4031772" algn="l" defTabSz="1007943" rtl="0" eaLnBrk="1" latinLnBrk="0" hangingPunct="1">
        <a:defRPr kumimoji="1" sz="1984"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8.jpg"/><Relationship Id="rId4" Type="http://schemas.openxmlformats.org/officeDocument/2006/relationships/image" Target="../media/image9.jpeg"/><Relationship Id="rId5" Type="http://schemas.openxmlformats.org/officeDocument/2006/relationships/image" Target="../media/image10.png"/><Relationship Id="rId6" Type="http://schemas.openxmlformats.org/officeDocument/2006/relationships/image" Target="../media/image11.jpeg"/><Relationship Id="rId7" Type="http://schemas.openxmlformats.org/officeDocument/2006/relationships/image" Target="../media/image12.jpeg"/><Relationship Id="rId8" Type="http://schemas.openxmlformats.org/officeDocument/2006/relationships/image" Target="../media/image13.png"/><Relationship Id="rId9"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5.jpg"/><Relationship Id="rId3" Type="http://schemas.openxmlformats.org/officeDocument/2006/relationships/image" Target="../media/image16.jpg"/><Relationship Id="rId4" Type="http://schemas.openxmlformats.org/officeDocument/2006/relationships/image" Target="../media/image11.jpeg"/><Relationship Id="rId5" Type="http://schemas.openxmlformats.org/officeDocument/2006/relationships/image" Target="../media/image17.jpg"/><Relationship Id="rId6" Type="http://schemas.openxmlformats.org/officeDocument/2006/relationships/image" Target="../media/image18.jpg"/><Relationship Id="rId7" Type="http://schemas.openxmlformats.org/officeDocument/2006/relationships/image" Target="../media/image19.jpg"/><Relationship Id="rId8" Type="http://schemas.openxmlformats.org/officeDocument/2006/relationships/image" Target="../media/image20.jpg"/><Relationship Id="rId9" Type="http://schemas.openxmlformats.org/officeDocument/2006/relationships/image" Target="../media/image21.jpg"/><Relationship Id="rId10" Type="http://schemas.openxmlformats.org/officeDocument/2006/relationships/image" Target="../media/image22.jpg"/><Relationship Id="rId11" Type="http://schemas.openxmlformats.org/officeDocument/2006/relationships/image" Target="../media/image23.jpg"/><Relationship Id="rId12" Type="http://schemas.openxmlformats.org/officeDocument/2006/relationships/image" Target="../media/image24.jpg"/><Relationship Id="rId13" Type="http://schemas.openxmlformats.org/officeDocument/2006/relationships/image" Target="../media/image25.jpg"/><Relationship Id="rId14" Type="http://schemas.openxmlformats.org/officeDocument/2006/relationships/image" Target="../media/image26.jpg"/><Relationship Id="rId15" Type="http://schemas.openxmlformats.org/officeDocument/2006/relationships/image" Target="../media/image27.jpg"/><Relationship Id="rId16" Type="http://schemas.openxmlformats.org/officeDocument/2006/relationships/image" Target="../media/image28.jpg"/><Relationship Id="rId17" Type="http://schemas.openxmlformats.org/officeDocument/2006/relationships/image" Target="../media/image29.jpg"/><Relationship Id="rId18" Type="http://schemas.openxmlformats.org/officeDocument/2006/relationships/image" Target="../media/image30.jpg"/><Relationship Id="rId19" Type="http://schemas.openxmlformats.org/officeDocument/2006/relationships/image" Target="../media/image31.jpg"/><Relationship Id="rId20" Type="http://schemas.openxmlformats.org/officeDocument/2006/relationships/image" Target="../media/image12.jpeg"/><Relationship Id="rId21" Type="http://schemas.openxmlformats.org/officeDocument/2006/relationships/image" Target="../media/image3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5.jpg"/><Relationship Id="rId3" Type="http://schemas.openxmlformats.org/officeDocument/2006/relationships/image" Target="../media/image16.jpg"/><Relationship Id="rId4" Type="http://schemas.openxmlformats.org/officeDocument/2006/relationships/image" Target="../media/image11.jpeg"/><Relationship Id="rId5" Type="http://schemas.openxmlformats.org/officeDocument/2006/relationships/image" Target="../media/image17.jpg"/><Relationship Id="rId6" Type="http://schemas.openxmlformats.org/officeDocument/2006/relationships/image" Target="../media/image18.jpg"/><Relationship Id="rId7" Type="http://schemas.openxmlformats.org/officeDocument/2006/relationships/image" Target="../media/image19.jpg"/><Relationship Id="rId8" Type="http://schemas.openxmlformats.org/officeDocument/2006/relationships/image" Target="../media/image20.jpg"/><Relationship Id="rId9" Type="http://schemas.openxmlformats.org/officeDocument/2006/relationships/image" Target="../media/image21.jpg"/><Relationship Id="rId10" Type="http://schemas.openxmlformats.org/officeDocument/2006/relationships/image" Target="../media/image22.jpg"/><Relationship Id="rId11" Type="http://schemas.openxmlformats.org/officeDocument/2006/relationships/image" Target="../media/image23.jpg"/><Relationship Id="rId12" Type="http://schemas.openxmlformats.org/officeDocument/2006/relationships/image" Target="../media/image24.jpg"/><Relationship Id="rId13" Type="http://schemas.openxmlformats.org/officeDocument/2006/relationships/image" Target="../media/image25.jpg"/><Relationship Id="rId14" Type="http://schemas.openxmlformats.org/officeDocument/2006/relationships/image" Target="../media/image26.jpg"/><Relationship Id="rId15" Type="http://schemas.openxmlformats.org/officeDocument/2006/relationships/image" Target="../media/image27.jpg"/><Relationship Id="rId16" Type="http://schemas.openxmlformats.org/officeDocument/2006/relationships/image" Target="../media/image28.jpg"/><Relationship Id="rId17" Type="http://schemas.openxmlformats.org/officeDocument/2006/relationships/image" Target="../media/image29.jpg"/><Relationship Id="rId18" Type="http://schemas.openxmlformats.org/officeDocument/2006/relationships/image" Target="../media/image30.jpg"/><Relationship Id="rId19" Type="http://schemas.openxmlformats.org/officeDocument/2006/relationships/image" Target="../media/image31.jpg"/><Relationship Id="rId20" Type="http://schemas.openxmlformats.org/officeDocument/2006/relationships/image" Target="../media/image12.jpeg"/><Relationship Id="rId21" Type="http://schemas.openxmlformats.org/officeDocument/2006/relationships/image" Target="../media/image32.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5.jpg"/><Relationship Id="rId3" Type="http://schemas.openxmlformats.org/officeDocument/2006/relationships/image" Target="../media/image16.jpg"/><Relationship Id="rId4" Type="http://schemas.openxmlformats.org/officeDocument/2006/relationships/image" Target="../media/image11.jpeg"/><Relationship Id="rId5" Type="http://schemas.openxmlformats.org/officeDocument/2006/relationships/image" Target="../media/image17.jpg"/><Relationship Id="rId6" Type="http://schemas.openxmlformats.org/officeDocument/2006/relationships/image" Target="../media/image18.jpg"/><Relationship Id="rId7" Type="http://schemas.openxmlformats.org/officeDocument/2006/relationships/image" Target="../media/image19.jpg"/><Relationship Id="rId8" Type="http://schemas.openxmlformats.org/officeDocument/2006/relationships/image" Target="../media/image20.jpg"/><Relationship Id="rId9" Type="http://schemas.openxmlformats.org/officeDocument/2006/relationships/image" Target="../media/image21.jpg"/><Relationship Id="rId10" Type="http://schemas.openxmlformats.org/officeDocument/2006/relationships/image" Target="../media/image22.jpg"/><Relationship Id="rId11" Type="http://schemas.openxmlformats.org/officeDocument/2006/relationships/image" Target="../media/image23.jpg"/><Relationship Id="rId12" Type="http://schemas.openxmlformats.org/officeDocument/2006/relationships/image" Target="../media/image24.jpg"/><Relationship Id="rId13" Type="http://schemas.openxmlformats.org/officeDocument/2006/relationships/image" Target="../media/image25.jpg"/><Relationship Id="rId14" Type="http://schemas.openxmlformats.org/officeDocument/2006/relationships/image" Target="../media/image26.jpg"/><Relationship Id="rId15" Type="http://schemas.openxmlformats.org/officeDocument/2006/relationships/image" Target="../media/image27.jpg"/><Relationship Id="rId16" Type="http://schemas.openxmlformats.org/officeDocument/2006/relationships/image" Target="../media/image28.jpg"/><Relationship Id="rId17" Type="http://schemas.openxmlformats.org/officeDocument/2006/relationships/image" Target="../media/image29.jpg"/><Relationship Id="rId18" Type="http://schemas.openxmlformats.org/officeDocument/2006/relationships/image" Target="../media/image30.jpg"/><Relationship Id="rId19" Type="http://schemas.openxmlformats.org/officeDocument/2006/relationships/image" Target="../media/image31.jpg"/><Relationship Id="rId20" Type="http://schemas.openxmlformats.org/officeDocument/2006/relationships/image" Target="../media/image12.jpeg"/><Relationship Id="rId21" Type="http://schemas.openxmlformats.org/officeDocument/2006/relationships/image" Target="../media/image32.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5.jpg"/><Relationship Id="rId3" Type="http://schemas.openxmlformats.org/officeDocument/2006/relationships/image" Target="../media/image16.jpg"/><Relationship Id="rId4" Type="http://schemas.openxmlformats.org/officeDocument/2006/relationships/image" Target="../media/image11.jpeg"/><Relationship Id="rId5" Type="http://schemas.openxmlformats.org/officeDocument/2006/relationships/image" Target="../media/image17.jpg"/><Relationship Id="rId6" Type="http://schemas.openxmlformats.org/officeDocument/2006/relationships/image" Target="../media/image18.jpg"/><Relationship Id="rId7" Type="http://schemas.openxmlformats.org/officeDocument/2006/relationships/image" Target="../media/image19.jpg"/><Relationship Id="rId8" Type="http://schemas.openxmlformats.org/officeDocument/2006/relationships/image" Target="../media/image20.jpg"/><Relationship Id="rId9" Type="http://schemas.openxmlformats.org/officeDocument/2006/relationships/image" Target="../media/image21.jpg"/><Relationship Id="rId10" Type="http://schemas.openxmlformats.org/officeDocument/2006/relationships/image" Target="../media/image22.jpg"/><Relationship Id="rId11" Type="http://schemas.openxmlformats.org/officeDocument/2006/relationships/image" Target="../media/image23.jpg"/><Relationship Id="rId12" Type="http://schemas.openxmlformats.org/officeDocument/2006/relationships/image" Target="../media/image24.jpg"/><Relationship Id="rId13" Type="http://schemas.openxmlformats.org/officeDocument/2006/relationships/image" Target="../media/image25.jpg"/><Relationship Id="rId14" Type="http://schemas.openxmlformats.org/officeDocument/2006/relationships/image" Target="../media/image26.jpg"/><Relationship Id="rId15" Type="http://schemas.openxmlformats.org/officeDocument/2006/relationships/image" Target="../media/image27.jpg"/><Relationship Id="rId16" Type="http://schemas.openxmlformats.org/officeDocument/2006/relationships/image" Target="../media/image28.jpg"/><Relationship Id="rId17" Type="http://schemas.openxmlformats.org/officeDocument/2006/relationships/image" Target="../media/image29.jpg"/><Relationship Id="rId18" Type="http://schemas.openxmlformats.org/officeDocument/2006/relationships/image" Target="../media/image30.jpg"/><Relationship Id="rId19" Type="http://schemas.openxmlformats.org/officeDocument/2006/relationships/image" Target="../media/image31.jpg"/><Relationship Id="rId20" Type="http://schemas.openxmlformats.org/officeDocument/2006/relationships/image" Target="../media/image12.jpeg"/><Relationship Id="rId21" Type="http://schemas.openxmlformats.org/officeDocument/2006/relationships/image" Target="../media/image32.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33.jpg"/><Relationship Id="rId4" Type="http://schemas.openxmlformats.org/officeDocument/2006/relationships/image" Target="../media/image34.jpg"/><Relationship Id="rId5" Type="http://schemas.openxmlformats.org/officeDocument/2006/relationships/image" Target="../media/image35.jpg"/><Relationship Id="rId6" Type="http://schemas.openxmlformats.org/officeDocument/2006/relationships/image" Target="../media/image36.jpg"/><Relationship Id="rId7" Type="http://schemas.openxmlformats.org/officeDocument/2006/relationships/image" Target="../media/image37.jpg"/><Relationship Id="rId8" Type="http://schemas.openxmlformats.org/officeDocument/2006/relationships/image" Target="../media/image38.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5.jpg"/><Relationship Id="rId3" Type="http://schemas.openxmlformats.org/officeDocument/2006/relationships/image" Target="../media/image16.jpg"/><Relationship Id="rId4" Type="http://schemas.openxmlformats.org/officeDocument/2006/relationships/image" Target="../media/image11.jpeg"/><Relationship Id="rId5" Type="http://schemas.openxmlformats.org/officeDocument/2006/relationships/image" Target="../media/image17.jpg"/><Relationship Id="rId6" Type="http://schemas.openxmlformats.org/officeDocument/2006/relationships/image" Target="../media/image18.jpg"/><Relationship Id="rId7" Type="http://schemas.openxmlformats.org/officeDocument/2006/relationships/image" Target="../media/image19.jpg"/><Relationship Id="rId8" Type="http://schemas.openxmlformats.org/officeDocument/2006/relationships/image" Target="../media/image20.jpg"/><Relationship Id="rId9" Type="http://schemas.openxmlformats.org/officeDocument/2006/relationships/image" Target="../media/image21.jpg"/><Relationship Id="rId10" Type="http://schemas.openxmlformats.org/officeDocument/2006/relationships/image" Target="../media/image22.jpg"/><Relationship Id="rId11" Type="http://schemas.openxmlformats.org/officeDocument/2006/relationships/image" Target="../media/image23.jpg"/><Relationship Id="rId12" Type="http://schemas.openxmlformats.org/officeDocument/2006/relationships/image" Target="../media/image24.jpg"/><Relationship Id="rId13" Type="http://schemas.openxmlformats.org/officeDocument/2006/relationships/image" Target="../media/image25.jpg"/><Relationship Id="rId14" Type="http://schemas.openxmlformats.org/officeDocument/2006/relationships/image" Target="../media/image26.jpg"/><Relationship Id="rId15" Type="http://schemas.openxmlformats.org/officeDocument/2006/relationships/image" Target="../media/image27.jpg"/><Relationship Id="rId16" Type="http://schemas.openxmlformats.org/officeDocument/2006/relationships/image" Target="../media/image28.jpg"/><Relationship Id="rId17" Type="http://schemas.openxmlformats.org/officeDocument/2006/relationships/image" Target="../media/image29.jpg"/><Relationship Id="rId18" Type="http://schemas.openxmlformats.org/officeDocument/2006/relationships/image" Target="../media/image30.jpg"/><Relationship Id="rId19" Type="http://schemas.openxmlformats.org/officeDocument/2006/relationships/image" Target="../media/image31.jpg"/><Relationship Id="rId20" Type="http://schemas.openxmlformats.org/officeDocument/2006/relationships/image" Target="../media/image12.jpeg"/><Relationship Id="rId21" Type="http://schemas.openxmlformats.org/officeDocument/2006/relationships/image" Target="../media/image32.jpg"/><Relationship Id="rId22" Type="http://schemas.openxmlformats.org/officeDocument/2006/relationships/image" Target="../media/image33.jpg"/><Relationship Id="rId23" Type="http://schemas.openxmlformats.org/officeDocument/2006/relationships/image" Target="../media/image34.jpg"/><Relationship Id="rId24" Type="http://schemas.openxmlformats.org/officeDocument/2006/relationships/image" Target="../media/image35.jpg"/><Relationship Id="rId25" Type="http://schemas.openxmlformats.org/officeDocument/2006/relationships/image" Target="../media/image36.jpg"/><Relationship Id="rId26" Type="http://schemas.openxmlformats.org/officeDocument/2006/relationships/image" Target="../media/image37.jpg"/><Relationship Id="rId27" Type="http://schemas.openxmlformats.org/officeDocument/2006/relationships/image" Target="../media/image38.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5.jpg"/><Relationship Id="rId3" Type="http://schemas.openxmlformats.org/officeDocument/2006/relationships/image" Target="../media/image16.jpg"/><Relationship Id="rId4" Type="http://schemas.openxmlformats.org/officeDocument/2006/relationships/image" Target="../media/image11.jpeg"/><Relationship Id="rId5" Type="http://schemas.openxmlformats.org/officeDocument/2006/relationships/image" Target="../media/image17.jpg"/><Relationship Id="rId6" Type="http://schemas.openxmlformats.org/officeDocument/2006/relationships/image" Target="../media/image18.jpg"/><Relationship Id="rId7" Type="http://schemas.openxmlformats.org/officeDocument/2006/relationships/image" Target="../media/image19.jpg"/><Relationship Id="rId8" Type="http://schemas.openxmlformats.org/officeDocument/2006/relationships/image" Target="../media/image20.jpg"/><Relationship Id="rId9" Type="http://schemas.openxmlformats.org/officeDocument/2006/relationships/image" Target="../media/image21.jpg"/><Relationship Id="rId10" Type="http://schemas.openxmlformats.org/officeDocument/2006/relationships/image" Target="../media/image22.jpg"/><Relationship Id="rId11" Type="http://schemas.openxmlformats.org/officeDocument/2006/relationships/image" Target="../media/image23.jpg"/><Relationship Id="rId12" Type="http://schemas.openxmlformats.org/officeDocument/2006/relationships/image" Target="../media/image24.jpg"/><Relationship Id="rId13" Type="http://schemas.openxmlformats.org/officeDocument/2006/relationships/image" Target="../media/image25.jpg"/><Relationship Id="rId14" Type="http://schemas.openxmlformats.org/officeDocument/2006/relationships/image" Target="../media/image26.jpg"/><Relationship Id="rId15" Type="http://schemas.openxmlformats.org/officeDocument/2006/relationships/image" Target="../media/image27.jpg"/><Relationship Id="rId16" Type="http://schemas.openxmlformats.org/officeDocument/2006/relationships/image" Target="../media/image28.jpg"/><Relationship Id="rId17" Type="http://schemas.openxmlformats.org/officeDocument/2006/relationships/image" Target="../media/image29.jpg"/><Relationship Id="rId18" Type="http://schemas.openxmlformats.org/officeDocument/2006/relationships/image" Target="../media/image30.jpg"/><Relationship Id="rId19" Type="http://schemas.openxmlformats.org/officeDocument/2006/relationships/image" Target="../media/image31.jpg"/><Relationship Id="rId20" Type="http://schemas.openxmlformats.org/officeDocument/2006/relationships/image" Target="../media/image12.jpeg"/><Relationship Id="rId21" Type="http://schemas.openxmlformats.org/officeDocument/2006/relationships/image" Target="../media/image32.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 Id="rId3" Type="http://schemas.openxmlformats.org/officeDocument/2006/relationships/image" Target="../media/image39.png"/><Relationship Id="rId4" Type="http://schemas.openxmlformats.org/officeDocument/2006/relationships/image" Target="../media/image40.png"/><Relationship Id="rId5" Type="http://schemas.microsoft.com/office/2007/relationships/hdphoto" Target="../media/hdphoto1.wdp"/></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1.jpeg"/><Relationship Id="rId3" Type="http://schemas.openxmlformats.org/officeDocument/2006/relationships/image" Target="../media/image7.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E6EF2-E355-DFA0-0FDA-00C6AAD69C4F}"/>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F0EAAA34-63BD-2868-6F6F-9550B61A0EE2}"/>
              </a:ext>
            </a:extLst>
          </p:cNvPr>
          <p:cNvSpPr>
            <a:spLocks noGrp="1"/>
          </p:cNvSpPr>
          <p:nvPr>
            <p:ph type="title"/>
          </p:nvPr>
        </p:nvSpPr>
        <p:spPr/>
        <p:txBody>
          <a:bodyPr wrap="square"/>
          <a:lstStyle/>
          <a:p>
            <a:r>
              <a:rPr>
                <a:latin typeface="游ゴシック"/>
                <a:ea typeface="游ゴシック"/>
              </a:rPr>
              <a:t>企業概要書　</a:t>
            </a:r>
            <a:r>
              <a:rPr sz="1600">
                <a:latin typeface="游ゴシック"/>
                <a:ea typeface="游ゴシック"/>
              </a:rPr>
              <a:t>＜キャラクターグッズ企画・製造販売／東京都＞</a:t>
            </a:r>
          </a:p>
        </p:txBody>
      </p:sp>
      <p:cxnSp>
        <p:nvCxnSpPr>
          <p:cNvPr id="11" name="直線コネクタ 10">
            <a:extLst>
              <a:ext uri="{FF2B5EF4-FFF2-40B4-BE49-F238E27FC236}">
                <a16:creationId xmlns:a16="http://schemas.microsoft.com/office/drawing/2014/main" id="{B552F00F-DAC8-72B9-D861-43E1B7EF96E4}"/>
              </a:ext>
            </a:extLst>
          </p:cNvPr>
          <p:cNvCxnSpPr>
            <a:cxnSpLocks/>
          </p:cNvCxnSpPr>
          <p:nvPr/>
        </p:nvCxnSpPr>
        <p:spPr>
          <a:xfrm>
            <a:off x="885526" y="4272782"/>
            <a:ext cx="6767299"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6" name="タイトル 2">
            <a:extLst>
              <a:ext uri="{FF2B5EF4-FFF2-40B4-BE49-F238E27FC236}">
                <a16:creationId xmlns:a16="http://schemas.microsoft.com/office/drawing/2014/main" id="{483B0F4A-40C8-4F5B-4490-660AE728BBA5}"/>
              </a:ext>
            </a:extLst>
          </p:cNvPr>
          <p:cNvSpPr txBox="1">
            <a:spLocks/>
          </p:cNvSpPr>
          <p:nvPr/>
        </p:nvSpPr>
        <p:spPr>
          <a:xfrm>
            <a:off x="941798" y="4043874"/>
            <a:ext cx="9221787" cy="738664"/>
          </a:xfrm>
          <a:prstGeom prst="rect">
            <a:avLst/>
          </a:prstGeom>
          <a:noFill/>
        </p:spPr>
        <p:txBody>
          <a:bodyPr wrap="square" lIns="0" tIns="0" rIns="0" bIns="0" rtlCol="0" anchor="ctr">
            <a:spAutoFit/>
          </a:bodyPr>
          <a:lstStyle>
            <a:lvl1pPr algn="l" defTabSz="1007943" rtl="0" eaLnBrk="1" latinLnBrk="0" hangingPunct="1">
              <a:lnSpc>
                <a:spcPct val="100000"/>
              </a:lnSpc>
              <a:spcBef>
                <a:spcPct val="0"/>
              </a:spcBef>
              <a:buNone/>
              <a:defRPr kumimoji="1" lang="ja-JP" altLang="en-US" sz="4800" b="1" kern="1200" spc="200">
                <a:solidFill>
                  <a:schemeClr val="tx1"/>
                </a:solidFill>
                <a:latin typeface="+mj-lt"/>
                <a:ea typeface="+mj-ea"/>
                <a:cs typeface="+mn-cs"/>
              </a:defRPr>
            </a:lvl1pPr>
          </a:lstStyle>
          <a:p>
            <a:pPr>
              <a:buClrTx/>
              <a:buFontTx/>
            </a:pPr>
            <a:r>
              <a:rPr lang="en-US" altLang="ja-JP" sz="1800" dirty="0"/>
              <a:t>Information</a:t>
            </a:r>
            <a:r>
              <a:rPr lang="ja-JP" altLang="en-US" sz="1800" dirty="0"/>
              <a:t> </a:t>
            </a:r>
            <a:r>
              <a:rPr lang="en-US" altLang="ja-JP" sz="1800" dirty="0"/>
              <a:t>Memorandum</a:t>
            </a:r>
            <a:r>
              <a:rPr lang="zh-TW" altLang="en-US" dirty="0"/>
              <a:t>　</a:t>
            </a:r>
          </a:p>
        </p:txBody>
      </p:sp>
    </p:spTree>
    <p:extLst>
      <p:ext uri="{BB962C8B-B14F-4D97-AF65-F5344CB8AC3E}">
        <p14:creationId xmlns:p14="http://schemas.microsoft.com/office/powerpoint/2010/main" val="4336838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87;p2">
            <a:extLst>
              <a:ext uri="{FF2B5EF4-FFF2-40B4-BE49-F238E27FC236}">
                <a16:creationId xmlns:a16="http://schemas.microsoft.com/office/drawing/2014/main" id="{A92DF3A4-79D3-09CF-A0AF-2A2E9BAD2537}"/>
              </a:ext>
            </a:extLst>
          </p:cNvPr>
          <p:cNvSpPr txBox="1"/>
          <p:nvPr/>
        </p:nvSpPr>
        <p:spPr>
          <a:xfrm>
            <a:off x="449263" y="5738246"/>
            <a:ext cx="3372853"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defPPr>
              <a:defRPr lang="en-US"/>
            </a:defPPr>
            <a:lvl1pPr marL="180000" indent="-180000">
              <a:buClr>
                <a:schemeClr val="tx2"/>
              </a:buClr>
              <a:buSzPct val="100000"/>
              <a:buFont typeface="游ゴシック" panose="020B0400000000000000" pitchFamily="50" charset="-128"/>
              <a:buChar char="▌"/>
              <a:defRPr sz="1600" b="1" spc="50">
                <a:solidFill>
                  <a:schemeClr val="tx1"/>
                </a:solidFill>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ja-JP" altLang="en-US" dirty="0"/>
              <a:t>本件のご照会先</a:t>
            </a:r>
          </a:p>
        </p:txBody>
      </p:sp>
      <p:graphicFrame>
        <p:nvGraphicFramePr>
          <p:cNvPr id="3" name="Google Shape;188;p2">
            <a:extLst>
              <a:ext uri="{FF2B5EF4-FFF2-40B4-BE49-F238E27FC236}">
                <a16:creationId xmlns:a16="http://schemas.microsoft.com/office/drawing/2014/main" id="{6A5E1FF5-E790-97CE-E190-6844BCDD57F5}"/>
              </a:ext>
            </a:extLst>
          </p:cNvPr>
          <p:cNvGraphicFramePr/>
          <p:nvPr>
            <p:extLst>
              <p:ext uri="{D42A27DB-BD31-4B8C-83A1-F6EECF244321}">
                <p14:modId xmlns:p14="http://schemas.microsoft.com/office/powerpoint/2010/main" val="4018010421"/>
              </p:ext>
            </p:extLst>
          </p:nvPr>
        </p:nvGraphicFramePr>
        <p:xfrm>
          <a:off x="449264" y="6120538"/>
          <a:ext cx="9793287" cy="720000"/>
        </p:xfrm>
        <a:graphic>
          <a:graphicData uri="http://schemas.openxmlformats.org/drawingml/2006/table">
            <a:tbl>
              <a:tblPr firstRow="1" bandRow="1">
                <a:noFill/>
              </a:tblPr>
              <a:tblGrid>
                <a:gridCol w="2448322">
                  <a:extLst>
                    <a:ext uri="{9D8B030D-6E8A-4147-A177-3AD203B41FA5}">
                      <a16:colId xmlns:a16="http://schemas.microsoft.com/office/drawing/2014/main" val="20000"/>
                    </a:ext>
                  </a:extLst>
                </a:gridCol>
                <a:gridCol w="2448321">
                  <a:extLst>
                    <a:ext uri="{9D8B030D-6E8A-4147-A177-3AD203B41FA5}">
                      <a16:colId xmlns:a16="http://schemas.microsoft.com/office/drawing/2014/main" val="20001"/>
                    </a:ext>
                  </a:extLst>
                </a:gridCol>
                <a:gridCol w="2448322">
                  <a:extLst>
                    <a:ext uri="{9D8B030D-6E8A-4147-A177-3AD203B41FA5}">
                      <a16:colId xmlns:a16="http://schemas.microsoft.com/office/drawing/2014/main" val="20002"/>
                    </a:ext>
                  </a:extLst>
                </a:gridCol>
                <a:gridCol w="2448322">
                  <a:extLst>
                    <a:ext uri="{9D8B030D-6E8A-4147-A177-3AD203B41FA5}">
                      <a16:colId xmlns:a16="http://schemas.microsoft.com/office/drawing/2014/main" val="20003"/>
                    </a:ext>
                  </a:extLst>
                </a:gridCol>
              </a:tblGrid>
              <a:tr h="360000">
                <a:tc>
                  <a:txBody>
                    <a:bodyPr/>
                    <a:lstStyle/>
                    <a:p>
                      <a:pPr marL="0" marR="0" lvl="0" indent="0" algn="ctr" rtl="0">
                        <a:spcBef>
                          <a:spcPts val="0"/>
                        </a:spcBef>
                        <a:spcAft>
                          <a:spcPts val="0"/>
                        </a:spcAft>
                        <a:buNone/>
                      </a:pPr>
                      <a:r>
                        <a:rPr lang="ja-JP" sz="1200" b="1" u="none" strike="noStrike" cap="none" spc="30" baseline="0" dirty="0">
                          <a:latin typeface="+mj-lt"/>
                          <a:ea typeface="+mj-ea"/>
                        </a:rPr>
                        <a:t>弊社名</a:t>
                      </a:r>
                      <a:endParaRPr sz="1200" b="1" spc="30" baseline="0" dirty="0">
                        <a:latin typeface="+mj-lt"/>
                        <a:ea typeface="+mj-ea"/>
                      </a:endParaRPr>
                    </a:p>
                  </a:txBody>
                  <a:tcPr marL="0" marR="0" marT="0" marB="0" anchor="ctr">
                    <a:lnL w="12700" cap="flat" cmpd="sng">
                      <a:noFill/>
                      <a:prstDash val="solid"/>
                      <a:round/>
                      <a:headEnd type="none" w="sm" len="sm"/>
                      <a:tailEnd type="none" w="sm" len="sm"/>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担当者名</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電話番号</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E-mailアドレス</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12700"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000"/>
                  </a:ext>
                </a:extLst>
              </a:tr>
              <a:tr h="360000">
                <a:tc>
                  <a:txBody>
                    <a:bodyPr/>
                    <a:lstStyle/>
                    <a:p>
                      <a:pPr marL="0" marR="0" lvl="0" indent="0" algn="ctr" rtl="0">
                        <a:spcBef>
                          <a:spcPts val="0"/>
                        </a:spcBef>
                        <a:spcAft>
                          <a:spcPts val="0"/>
                        </a:spcAft>
                        <a:buNone/>
                      </a:pPr>
                      <a:r>
                        <a:rPr lang="ja-JP" altLang="en-US" sz="1200" b="1" u="none" strike="noStrike" cap="none" spc="30" baseline="0" dirty="0">
                          <a:latin typeface="+mj-ea"/>
                          <a:ea typeface="+mj-ea"/>
                        </a:rPr>
                        <a:t>株式会社</a:t>
                      </a:r>
                      <a:r>
                        <a:rPr lang="en-US" altLang="ja-JP" sz="1200" b="1" u="none" strike="noStrike" cap="none" spc="30" baseline="0" dirty="0">
                          <a:latin typeface="+mj-ea"/>
                          <a:ea typeface="+mj-ea"/>
                        </a:rPr>
                        <a:t>M&amp;A</a:t>
                      </a:r>
                      <a:r>
                        <a:rPr lang="ja-JP" altLang="en-US" sz="1200" b="1" u="none" strike="noStrike" cap="none" spc="30" baseline="0" dirty="0">
                          <a:latin typeface="+mj-ea"/>
                          <a:ea typeface="+mj-ea"/>
                        </a:rPr>
                        <a:t>承継機構</a:t>
                      </a:r>
                      <a:endParaRPr sz="1200" b="1" u="none" strike="noStrike" cap="none" spc="30" baseline="0" dirty="0">
                        <a:latin typeface="+mj-ea"/>
                        <a:ea typeface="+mj-ea"/>
                      </a:endParaRPr>
                    </a:p>
                  </a:txBody>
                  <a:tcPr marL="91450" marR="91450" marT="45725" marB="45725" anchor="ctr">
                    <a:lnL w="12700" cap="flat" cmpd="sng">
                      <a:noFill/>
                      <a:prstDash val="solid"/>
                      <a:round/>
                      <a:headEnd type="none" w="sm" len="sm"/>
                      <a:tailEnd type="none" w="sm" len="sm"/>
                    </a:lnL>
                    <a:lnR w="6350" cap="flat" cmpd="sng" algn="ctr">
                      <a:solidFill>
                        <a:schemeClr val="accent1"/>
                      </a:solidFill>
                      <a:prstDash val="solid"/>
                      <a:round/>
                      <a:headEnd type="none" w="med" len="med"/>
                      <a:tailEnd type="none" w="med" len="med"/>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ja-JP" altLang="en-US" sz="1200" b="1" u="none" strike="noStrike" cap="none" spc="30" baseline="0" dirty="0">
                          <a:latin typeface="+mj-ea"/>
                          <a:ea typeface="+mj-ea"/>
                        </a:rPr>
                        <a:t>田垣内 啓介　　</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en-US" sz="1200" b="1" u="none" strike="noStrike" cap="none" spc="30" baseline="0" dirty="0">
                          <a:latin typeface="+mj-ea"/>
                          <a:ea typeface="+mj-ea"/>
                        </a:rPr>
                        <a:t>080-4737-4326</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en-US" altLang="ja-JP" sz="1200" b="1" u="none" strike="noStrike" cap="none" spc="30" baseline="0" dirty="0">
                          <a:latin typeface="+mj-ea"/>
                          <a:ea typeface="+mj-ea"/>
                        </a:rPr>
                        <a:t>tagaito_keisuke@ma-sg.co.jp</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12700" cap="flat" cmpd="sng">
                      <a:noFill/>
                      <a:prstDash val="solid"/>
                      <a:round/>
                      <a:headEnd type="none" w="sm" len="sm"/>
                      <a:tailEnd type="none" w="sm" len="sm"/>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1"/>
                  </a:ext>
                </a:extLst>
              </a:tr>
            </a:tbl>
          </a:graphicData>
        </a:graphic>
      </p:graphicFrame>
      <p:sp>
        <p:nvSpPr>
          <p:cNvPr id="9" name="タイトル 8">
            <a:extLst>
              <a:ext uri="{FF2B5EF4-FFF2-40B4-BE49-F238E27FC236}">
                <a16:creationId xmlns:a16="http://schemas.microsoft.com/office/drawing/2014/main" id="{02B70F11-C06B-AE35-D3C3-0142145E5C0A}"/>
              </a:ext>
            </a:extLst>
          </p:cNvPr>
          <p:cNvSpPr>
            <a:spLocks noGrp="1"/>
          </p:cNvSpPr>
          <p:nvPr>
            <p:ph type="ctrTitle"/>
          </p:nvPr>
        </p:nvSpPr>
        <p:spPr/>
        <p:txBody>
          <a:bodyPr>
            <a:normAutofit/>
          </a:bodyPr>
          <a:lstStyle/>
          <a:p>
            <a:r>
              <a:rPr lang="ja-JP" altLang="en-US" dirty="0"/>
              <a:t>はじめに</a:t>
            </a:r>
          </a:p>
        </p:txBody>
      </p:sp>
      <p:sp>
        <p:nvSpPr>
          <p:cNvPr id="15" name="正方形/長方形 14">
            <a:extLst>
              <a:ext uri="{FF2B5EF4-FFF2-40B4-BE49-F238E27FC236}">
                <a16:creationId xmlns:a16="http://schemas.microsoft.com/office/drawing/2014/main" id="{51A174C3-B2B8-45E2-E11E-021C915BC89C}"/>
              </a:ext>
            </a:extLst>
          </p:cNvPr>
          <p:cNvSpPr/>
          <p:nvPr/>
        </p:nvSpPr>
        <p:spPr>
          <a:xfrm>
            <a:off x="449263" y="863600"/>
            <a:ext cx="845645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重要なご留意事項</a:t>
            </a:r>
          </a:p>
        </p:txBody>
      </p:sp>
      <p:sp>
        <p:nvSpPr>
          <p:cNvPr id="23" name="テキスト ボックス 22">
            <a:extLst>
              <a:ext uri="{FF2B5EF4-FFF2-40B4-BE49-F238E27FC236}">
                <a16:creationId xmlns:a16="http://schemas.microsoft.com/office/drawing/2014/main" id="{B50E1823-5D75-9C7E-3748-4C2C1C220A43}"/>
              </a:ext>
            </a:extLst>
          </p:cNvPr>
          <p:cNvSpPr txBox="1"/>
          <p:nvPr/>
        </p:nvSpPr>
        <p:spPr>
          <a:xfrm>
            <a:off x="449263" y="1234930"/>
            <a:ext cx="9793287" cy="4012958"/>
          </a:xfrm>
          <a:prstGeom prst="rect">
            <a:avLst/>
          </a:prstGeom>
          <a:noFill/>
        </p:spPr>
        <p:txBody>
          <a:bodyPr wrap="square" lIns="0" tIns="0" rIns="0" bIns="0" rtlCol="0">
            <a:spAutoFit/>
          </a:bodyPr>
          <a:lstStyle>
            <a:defPPr marR="0" lvl="0" algn="l" rtl="0">
              <a:lnSpc>
                <a:spcPct val="100000"/>
              </a:lnSpc>
              <a:spcBef>
                <a:spcPts val="0"/>
              </a:spcBef>
              <a:spcAft>
                <a:spcPts val="0"/>
              </a:spcAft>
            </a:defPPr>
            <a:lvl1pPr marL="180000" indent="-180000">
              <a:lnSpc>
                <a:spcPct val="120000"/>
              </a:lnSpc>
              <a:spcAft>
                <a:spcPts val="1200"/>
              </a:spcAft>
              <a:buClr>
                <a:schemeClr val="tx2"/>
              </a:buClr>
              <a:buSzPct val="80000"/>
              <a:buFont typeface="Wingdings" panose="05000000000000000000" pitchFamily="2" charset="2"/>
              <a:buChar char="n"/>
              <a:defRPr kumimoji="1" sz="1200" spc="50">
                <a:latin typeface="+mn-ea"/>
              </a:defRPr>
            </a:lvl1pPr>
          </a:lstStyle>
          <a:p>
            <a:pPr>
              <a:spcAft>
                <a:spcPts val="1800"/>
              </a:spcAft>
            </a:pPr>
            <a:r>
              <a:rPr lang="ja-JP" altLang="en-US" dirty="0">
                <a:ea typeface="+mn-ea"/>
              </a:rPr>
              <a:t>当該企業概要書（以下、「本概要書」といいます）は、株式会社</a:t>
            </a:r>
            <a:r>
              <a:rPr lang="en-US" altLang="ja-JP" dirty="0">
                <a:ea typeface="+mn-ea"/>
              </a:rPr>
              <a:t>M&amp;A</a:t>
            </a:r>
            <a:r>
              <a:rPr lang="ja-JP" altLang="en-US" dirty="0">
                <a:ea typeface="+mn-ea"/>
              </a:rPr>
              <a:t>承継機構（以下「弊社」といいます）が、対象会社の発行済株式の取得もしくは事業その他資産の譲受（以下「本取引」といいます）に関する仲介者として、対象会社から提供された情報に基づき、対象会社に関する情報を貴社に提供するために作成したものです。</a:t>
            </a:r>
          </a:p>
          <a:p>
            <a:pPr>
              <a:spcAft>
                <a:spcPts val="1800"/>
              </a:spcAft>
            </a:pPr>
            <a:r>
              <a:rPr lang="ja-JP" altLang="en-US" dirty="0">
                <a:ea typeface="+mn-ea"/>
              </a:rPr>
              <a:t>本概要書の存在及び記載されている情報並びに本概要書に関する全ての連絡・協議は貴社と弊社間で締結している秘密保持契約書（以下「秘密保持契約書」といいます）に定めのある秘密情報に該当致します。</a:t>
            </a:r>
          </a:p>
          <a:p>
            <a:pPr>
              <a:spcAft>
                <a:spcPts val="1800"/>
              </a:spcAft>
            </a:pPr>
            <a:r>
              <a:rPr lang="ja-JP" altLang="en-US" dirty="0">
                <a:ea typeface="+mn-ea"/>
              </a:rPr>
              <a:t>本概要書は、貴社が本取引を行うことを検討するための情報を提供することのみを目的として作成されておりますが、貴社が必要と考える全ての情報を網羅しているとは限りません。また、対象会社並びに弊社取締役、執行役員、監査役及び従業員（以下総称して「情報提供者」といいます）は、本概要書に記載されているいかなる情報及び意見に関しても、明示、黙示にかかわらず、その正確性及び完全性について表明または保証するものではありません。</a:t>
            </a:r>
          </a:p>
          <a:p>
            <a:pPr>
              <a:spcAft>
                <a:spcPts val="1800"/>
              </a:spcAft>
            </a:pPr>
            <a:r>
              <a:rPr lang="ja-JP" altLang="en-US" dirty="0">
                <a:ea typeface="+mn-ea"/>
              </a:rPr>
              <a:t>本概要書は必ずしも対象会社の現況をあらわしているものではなく、本概要書に記載されている日付または本概要書に記載されている情報の日付から、対象会社の状態が変化していないことを表明するものではありません。</a:t>
            </a:r>
          </a:p>
          <a:p>
            <a:pPr>
              <a:spcAft>
                <a:spcPts val="1800"/>
              </a:spcAft>
            </a:pPr>
            <a:r>
              <a:rPr lang="ja-JP" altLang="en-US" dirty="0">
                <a:ea typeface="+mn-ea"/>
              </a:rPr>
              <a:t>いかなる場合でも、本取引に関して、対象会社の役職員（元役職員を含む）及び取引先に対して、貴社及び貴社のアドバイザー等本取引に関与する者が直接、間接を問わずコンタクトをとることを禁止させていただくと共に、全てのご連絡は必ず弊社を介していただきますようお願い申し上げます。</a:t>
            </a:r>
          </a:p>
        </p:txBody>
      </p:sp>
    </p:spTree>
    <p:extLst>
      <p:ext uri="{BB962C8B-B14F-4D97-AF65-F5344CB8AC3E}">
        <p14:creationId xmlns:p14="http://schemas.microsoft.com/office/powerpoint/2010/main" val="24619439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2"/>
          <p:cNvSpPr txBox="1"/>
          <p:nvPr/>
        </p:nvSpPr>
        <p:spPr>
          <a:xfrm>
            <a:off x="6191813" y="2339371"/>
            <a:ext cx="4500000" cy="3570208"/>
          </a:xfrm>
          <a:prstGeom prst="rect">
            <a:avLst/>
          </a:prstGeom>
          <a:noFill/>
          <a:ln>
            <a:noFill/>
          </a:ln>
        </p:spPr>
        <p:txBody>
          <a:bodyPr spcFirstLastPara="1" wrap="square" lIns="0" tIns="0" rIns="0" bIns="0" anchor="t" anchorCtr="0">
            <a:spAutoFit/>
          </a:bodyPr>
          <a:lstStyle/>
          <a:p>
            <a:pPr>
              <a:lnSpc>
                <a:spcPct val="110000"/>
              </a:lnSpc>
              <a:spcAft>
                <a:spcPts val="2400"/>
              </a:spcAft>
              <a:buClr>
                <a:schemeClr val="dk1"/>
              </a:buClr>
              <a:buSzPts val="1400"/>
            </a:pPr>
            <a:r>
              <a:rPr lang="ja-JP" altLang="en-US" sz="2400" b="1" spc="70" dirty="0">
                <a:latin typeface="+mj-lt"/>
                <a:ea typeface="+mj-ea"/>
              </a:rPr>
              <a:t>エグゼクティブサマリー</a:t>
            </a:r>
            <a:endParaRPr lang="en-US" altLang="ja-JP" sz="2400" b="1" spc="70" dirty="0">
              <a:latin typeface="+mj-lt"/>
              <a:ea typeface="+mj-ea"/>
            </a:endParaRPr>
          </a:p>
          <a:p>
            <a:pPr>
              <a:lnSpc>
                <a:spcPct val="110000"/>
              </a:lnSpc>
              <a:spcAft>
                <a:spcPts val="2400"/>
              </a:spcAft>
              <a:buClr>
                <a:schemeClr val="dk1"/>
              </a:buClr>
              <a:buSzPts val="1400"/>
            </a:pPr>
            <a:r>
              <a:rPr lang="ja-JP" altLang="en-US" sz="2400" b="1" spc="70" dirty="0">
                <a:latin typeface="+mj-lt"/>
                <a:ea typeface="+mj-ea"/>
              </a:rPr>
              <a:t>事業概要</a:t>
            </a:r>
            <a:endParaRPr lang="en-US" altLang="ja-JP" sz="2400" b="1" spc="70" dirty="0">
              <a:latin typeface="+mj-lt"/>
              <a:ea typeface="+mj-ea"/>
            </a:endParaRPr>
          </a:p>
          <a:p>
            <a:pPr>
              <a:lnSpc>
                <a:spcPct val="110000"/>
              </a:lnSpc>
              <a:spcAft>
                <a:spcPts val="2400"/>
              </a:spcAft>
              <a:buClr>
                <a:schemeClr val="dk1"/>
              </a:buClr>
              <a:buSzPts val="1400"/>
            </a:pPr>
            <a:r>
              <a:rPr lang="ja-JP" altLang="en-US" sz="2400" b="1" spc="70" dirty="0">
                <a:latin typeface="+mj-lt"/>
                <a:ea typeface="+mj-ea"/>
              </a:rPr>
              <a:t>組織、拠点、設備等</a:t>
            </a:r>
            <a:endParaRPr lang="en-US" altLang="ja-JP" sz="2400" b="1" spc="70" dirty="0">
              <a:latin typeface="+mj-lt"/>
              <a:ea typeface="+mj-ea"/>
            </a:endParaRPr>
          </a:p>
          <a:p>
            <a:pPr>
              <a:lnSpc>
                <a:spcPct val="110000"/>
              </a:lnSpc>
              <a:spcAft>
                <a:spcPts val="2400"/>
              </a:spcAft>
              <a:buClr>
                <a:schemeClr val="dk1"/>
              </a:buClr>
              <a:buSzPts val="1400"/>
            </a:pPr>
            <a:r>
              <a:rPr lang="ja-JP" altLang="en-US" sz="2400" b="1" spc="70" dirty="0">
                <a:latin typeface="+mj-lt"/>
                <a:ea typeface="+mj-ea"/>
              </a:rPr>
              <a:t>財務情報</a:t>
            </a:r>
            <a:endParaRPr lang="en-US" altLang="ja-JP" sz="2400" b="1" spc="70" dirty="0">
              <a:latin typeface="+mj-lt"/>
              <a:ea typeface="+mj-ea"/>
            </a:endParaRPr>
          </a:p>
          <a:p>
            <a:pPr>
              <a:lnSpc>
                <a:spcPct val="110000"/>
              </a:lnSpc>
              <a:spcAft>
                <a:spcPts val="2400"/>
              </a:spcAft>
              <a:buClr>
                <a:schemeClr val="dk1"/>
              </a:buClr>
              <a:buSzPts val="1400"/>
            </a:pPr>
            <a:r>
              <a:rPr lang="en-US" altLang="ja-JP" sz="2400" b="1" spc="70" dirty="0">
                <a:latin typeface="+mj-lt"/>
                <a:ea typeface="+mj-ea"/>
              </a:rPr>
              <a:t>Appendix</a:t>
            </a:r>
          </a:p>
        </p:txBody>
      </p:sp>
      <p:sp>
        <p:nvSpPr>
          <p:cNvPr id="6" name="正方形/長方形 5">
            <a:extLst>
              <a:ext uri="{FF2B5EF4-FFF2-40B4-BE49-F238E27FC236}">
                <a16:creationId xmlns:a16="http://schemas.microsoft.com/office/drawing/2014/main" id="{7237316E-451C-1CCC-A702-B2048F3BE5F0}"/>
              </a:ext>
            </a:extLst>
          </p:cNvPr>
          <p:cNvSpPr/>
          <p:nvPr/>
        </p:nvSpPr>
        <p:spPr>
          <a:xfrm>
            <a:off x="5624542" y="2353556"/>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1</a:t>
            </a:r>
            <a:endParaRPr kumimoji="1" lang="ja-JP" altLang="en-US" b="1" dirty="0">
              <a:latin typeface="+mj-lt"/>
            </a:endParaRPr>
          </a:p>
        </p:txBody>
      </p:sp>
      <p:sp>
        <p:nvSpPr>
          <p:cNvPr id="9" name="正方形/長方形 8">
            <a:extLst>
              <a:ext uri="{FF2B5EF4-FFF2-40B4-BE49-F238E27FC236}">
                <a16:creationId xmlns:a16="http://schemas.microsoft.com/office/drawing/2014/main" id="{DDB8E843-D87E-F66B-3884-439FB909A0A7}"/>
              </a:ext>
            </a:extLst>
          </p:cNvPr>
          <p:cNvSpPr/>
          <p:nvPr/>
        </p:nvSpPr>
        <p:spPr>
          <a:xfrm>
            <a:off x="5624542" y="3060631"/>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2</a:t>
            </a:r>
            <a:endParaRPr kumimoji="1" lang="ja-JP" altLang="en-US" b="1" dirty="0">
              <a:latin typeface="+mj-lt"/>
            </a:endParaRPr>
          </a:p>
        </p:txBody>
      </p:sp>
      <p:sp>
        <p:nvSpPr>
          <p:cNvPr id="10" name="正方形/長方形 9">
            <a:extLst>
              <a:ext uri="{FF2B5EF4-FFF2-40B4-BE49-F238E27FC236}">
                <a16:creationId xmlns:a16="http://schemas.microsoft.com/office/drawing/2014/main" id="{FF90FB9F-20F8-D38F-B8AF-4A631E224A11}"/>
              </a:ext>
            </a:extLst>
          </p:cNvPr>
          <p:cNvSpPr/>
          <p:nvPr/>
        </p:nvSpPr>
        <p:spPr>
          <a:xfrm>
            <a:off x="5624542" y="3767706"/>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3</a:t>
            </a:r>
            <a:endParaRPr kumimoji="1" lang="ja-JP" altLang="en-US" b="1" dirty="0">
              <a:latin typeface="+mj-lt"/>
            </a:endParaRPr>
          </a:p>
        </p:txBody>
      </p:sp>
      <p:sp>
        <p:nvSpPr>
          <p:cNvPr id="11" name="正方形/長方形 10">
            <a:extLst>
              <a:ext uri="{FF2B5EF4-FFF2-40B4-BE49-F238E27FC236}">
                <a16:creationId xmlns:a16="http://schemas.microsoft.com/office/drawing/2014/main" id="{A76F0F70-F53A-8481-50DF-B7EEDD0BEE06}"/>
              </a:ext>
            </a:extLst>
          </p:cNvPr>
          <p:cNvSpPr/>
          <p:nvPr/>
        </p:nvSpPr>
        <p:spPr>
          <a:xfrm>
            <a:off x="5624542" y="4474781"/>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4</a:t>
            </a:r>
            <a:endParaRPr kumimoji="1" lang="ja-JP" altLang="en-US" b="1" dirty="0">
              <a:latin typeface="+mj-lt"/>
            </a:endParaRPr>
          </a:p>
        </p:txBody>
      </p:sp>
      <p:sp>
        <p:nvSpPr>
          <p:cNvPr id="3" name="正方形/長方形 2">
            <a:extLst>
              <a:ext uri="{FF2B5EF4-FFF2-40B4-BE49-F238E27FC236}">
                <a16:creationId xmlns:a16="http://schemas.microsoft.com/office/drawing/2014/main" id="{DE430CD6-B78A-5CFE-3B87-B7F6C2A9CBEA}"/>
              </a:ext>
            </a:extLst>
          </p:cNvPr>
          <p:cNvSpPr/>
          <p:nvPr/>
        </p:nvSpPr>
        <p:spPr>
          <a:xfrm>
            <a:off x="5624542" y="5181856"/>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5</a:t>
            </a:r>
            <a:endParaRPr kumimoji="1" lang="ja-JP" altLang="en-US" b="1" dirty="0">
              <a:latin typeface="+mj-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EAEF2-738C-97B3-4696-F3BB344E559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D6C9D74-25B9-202B-100C-14E88F8A35B4}"/>
              </a:ext>
            </a:extLst>
          </p:cNvPr>
          <p:cNvSpPr>
            <a:spLocks noGrp="1"/>
          </p:cNvSpPr>
          <p:nvPr>
            <p:ph type="title"/>
          </p:nvPr>
        </p:nvSpPr>
        <p:spPr>
          <a:xfrm>
            <a:off x="989013" y="3656161"/>
            <a:ext cx="9221787" cy="615553"/>
          </a:xfrm>
        </p:spPr>
        <p:txBody>
          <a:bodyPr/>
          <a:lstStyle/>
          <a:p>
            <a:r>
              <a:rPr lang="ja-JP" altLang="en-US" dirty="0"/>
              <a:t>エグゼクティブサマリー</a:t>
            </a:r>
            <a:endParaRPr lang="en-US" altLang="ja-JP" dirty="0"/>
          </a:p>
        </p:txBody>
      </p:sp>
      <p:pic>
        <p:nvPicPr>
          <p:cNvPr id="7" name="図 6">
            <a:extLst>
              <a:ext uri="{FF2B5EF4-FFF2-40B4-BE49-F238E27FC236}">
                <a16:creationId xmlns:a16="http://schemas.microsoft.com/office/drawing/2014/main" id="{C8D5CA77-B77E-EE25-04B7-23BDB60E0B2A}"/>
              </a:ext>
            </a:extLst>
          </p:cNvPr>
          <p:cNvPicPr>
            <a:picLocks noChangeAspect="1"/>
          </p:cNvPicPr>
          <p:nvPr/>
        </p:nvPicPr>
        <p:blipFill>
          <a:blip/>
          <a:stretch>
            <a:fillRect/>
          </a:stretch>
        </p:blipFill>
        <p:spPr>
          <a:xfrm>
            <a:off x="7776467" y="3981785"/>
            <a:ext cx="21" cy="20"/>
          </a:xfrm>
          <a:prstGeom prst="rect">
            <a:avLst/>
          </a:prstGeom>
        </p:spPr>
      </p:pic>
      <p:pic>
        <p:nvPicPr>
          <p:cNvPr id="9" name="図 8">
            <a:extLst>
              <a:ext uri="{FF2B5EF4-FFF2-40B4-BE49-F238E27FC236}">
                <a16:creationId xmlns:a16="http://schemas.microsoft.com/office/drawing/2014/main" id="{5841CF96-EF85-6F41-A092-6ED9083D3E7C}"/>
              </a:ext>
            </a:extLst>
          </p:cNvPr>
          <p:cNvPicPr>
            <a:picLocks noChangeAspect="1"/>
          </p:cNvPicPr>
          <p:nvPr/>
        </p:nvPicPr>
        <p:blipFill>
          <a:blip/>
          <a:stretch>
            <a:fillRect/>
          </a:stretch>
        </p:blipFill>
        <p:spPr>
          <a:xfrm>
            <a:off x="7776467" y="3981785"/>
            <a:ext cx="21" cy="20"/>
          </a:xfrm>
          <a:prstGeom prst="rect">
            <a:avLst/>
          </a:prstGeom>
        </p:spPr>
      </p:pic>
    </p:spTree>
    <p:extLst>
      <p:ext uri="{BB962C8B-B14F-4D97-AF65-F5344CB8AC3E}">
        <p14:creationId xmlns:p14="http://schemas.microsoft.com/office/powerpoint/2010/main" val="5404063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字幕 13">
            <a:extLst>
              <a:ext uri="{FF2B5EF4-FFF2-40B4-BE49-F238E27FC236}">
                <a16:creationId xmlns:a16="http://schemas.microsoft.com/office/drawing/2014/main" id="{79A14348-475C-CD64-9408-407529B44C13}"/>
              </a:ext>
            </a:extLst>
          </p:cNvPr>
          <p:cNvSpPr>
            <a:spLocks noGrp="1"/>
          </p:cNvSpPr>
          <p:nvPr>
            <p:ph type="subTitle" idx="1"/>
          </p:nvPr>
        </p:nvSpPr>
        <p:spPr>
          <a:xfrm>
            <a:off x="460675" y="830046"/>
            <a:ext cx="9781875" cy="241861"/>
          </a:xfrm>
        </p:spPr>
        <p:txBody>
          <a:bodyPr>
            <a:noAutofit/>
          </a:bodyPr>
          <a:lstStyle/>
          <a:p>
            <a:r>
              <a:rPr dirty="0">
                <a:latin typeface="+mj-ea"/>
                <a:ea typeface="+mj-ea"/>
              </a:rPr>
              <a:t>アニメ・ゲームIPを活用したキャラクターグッズの企画・製造・販売を手掛け、少数精鋭（従業員7名＋役員3名）で売上高422百万円・営業利益58百万円（令和8年1月期）を創出。大手IPホルダーとの継続取引と海外製造ネットワーク、手厚い財務基盤を強みとする成長企業です。</a:t>
            </a:r>
            <a:endParaRPr lang="en-US" altLang="ja-JP" dirty="0"/>
          </a:p>
        </p:txBody>
      </p:sp>
      <p:sp>
        <p:nvSpPr>
          <p:cNvPr id="13" name="タイトル 12">
            <a:extLst>
              <a:ext uri="{FF2B5EF4-FFF2-40B4-BE49-F238E27FC236}">
                <a16:creationId xmlns:a16="http://schemas.microsoft.com/office/drawing/2014/main" id="{85E2D3B1-D668-47BF-7D76-2F8709456651}"/>
              </a:ext>
            </a:extLst>
          </p:cNvPr>
          <p:cNvSpPr>
            <a:spLocks noGrp="1"/>
          </p:cNvSpPr>
          <p:nvPr>
            <p:ph type="ctrTitle"/>
          </p:nvPr>
        </p:nvSpPr>
        <p:spPr>
          <a:xfrm>
            <a:off x="311150" y="180296"/>
            <a:ext cx="7799917" cy="339267"/>
          </a:xfrm>
        </p:spPr>
        <p:txBody>
          <a:bodyPr>
            <a:normAutofit/>
          </a:bodyPr>
          <a:lstStyle/>
          <a:p>
            <a:r>
              <a:rPr lang="ja-JP" altLang="en-US" dirty="0"/>
              <a:t>基本情報</a:t>
            </a:r>
          </a:p>
        </p:txBody>
      </p:sp>
      <p:sp>
        <p:nvSpPr>
          <p:cNvPr id="5" name="タイトル 1">
            <a:extLst>
              <a:ext uri="{FF2B5EF4-FFF2-40B4-BE49-F238E27FC236}">
                <a16:creationId xmlns:a16="http://schemas.microsoft.com/office/drawing/2014/main" id="{4F103961-B26C-39D9-FB80-02B45E98D11A}"/>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エグゼクティブサマリー</a:t>
            </a:r>
          </a:p>
        </p:txBody>
      </p:sp>
      <p:sp>
        <p:nvSpPr>
          <p:cNvPr id="2" name="正方形/長方形 1">
            <a:extLst>
              <a:ext uri="{FF2B5EF4-FFF2-40B4-BE49-F238E27FC236}">
                <a16:creationId xmlns:a16="http://schemas.microsoft.com/office/drawing/2014/main" id="{A0EF9F9A-5414-64EC-48C3-D1A342DF89A8}"/>
              </a:ext>
            </a:extLst>
          </p:cNvPr>
          <p:cNvSpPr/>
          <p:nvPr/>
        </p:nvSpPr>
        <p:spPr>
          <a:xfrm>
            <a:off x="311150" y="1517736"/>
            <a:ext cx="5857066"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ja-JP" altLang="en-US" sz="1400" b="1" spc="70" dirty="0">
                <a:solidFill>
                  <a:schemeClr val="bg1"/>
                </a:solidFill>
                <a:latin typeface="+mj-ea"/>
                <a:ea typeface="+mj-ea"/>
              </a:rPr>
              <a:t>会社概要</a:t>
            </a:r>
          </a:p>
        </p:txBody>
      </p:sp>
      <p:pic>
        <p:nvPicPr>
          <p:cNvPr id="16" name="Picture 15" descr="logo.jpg"/>
          <p:cNvPicPr>
            <a:picLocks noChangeAspect="1"/>
          </p:cNvPicPr>
          <p:nvPr/>
        </p:nvPicPr>
        <p:blipFill>
          <a:blip r:embed="rId3"/>
          <a:stretch>
            <a:fillRect/>
          </a:stretch>
        </p:blipFill>
        <p:spPr>
          <a:xfrm>
            <a:off x="7238425" y="1554514"/>
            <a:ext cx="2367361" cy="773723"/>
          </a:xfrm>
          <a:prstGeom prst="rect">
            <a:avLst/>
          </a:prstGeom>
        </p:spPr>
      </p:pic>
      <p:grpSp>
        <p:nvGrpSpPr>
          <p:cNvPr id="9" name="グループ化 8">
            <a:extLst>
              <a:ext uri="{FF2B5EF4-FFF2-40B4-BE49-F238E27FC236}">
                <a16:creationId xmlns:a16="http://schemas.microsoft.com/office/drawing/2014/main" id="{3A90AC2E-A5FF-27E0-31A7-4F0408AC821A}"/>
              </a:ext>
            </a:extLst>
          </p:cNvPr>
          <p:cNvGrpSpPr/>
          <p:nvPr/>
        </p:nvGrpSpPr>
        <p:grpSpPr>
          <a:xfrm>
            <a:off x="6827256" y="2394640"/>
            <a:ext cx="3327396" cy="3386787"/>
            <a:chOff x="6827256" y="2434640"/>
            <a:chExt cx="3327396" cy="3386787"/>
          </a:xfrm>
        </p:grpSpPr>
        <p:pic>
          <p:nvPicPr>
            <p:cNvPr id="8" name="図 7">
              <a:extLst>
                <a:ext uri="{FF2B5EF4-FFF2-40B4-BE49-F238E27FC236}">
                  <a16:creationId xmlns:a16="http://schemas.microsoft.com/office/drawing/2014/main" id="{80D4516B-BDDA-7158-EB7E-3FD3262147C6}"/>
                </a:ext>
              </a:extLst>
            </p:cNvPr>
            <p:cNvPicPr>
              <a:picLocks noChangeAspect="1"/>
            </p:cNvPicPr>
            <p:nvPr/>
          </p:nvPicPr>
          <p:blipFill>
            <a:blip r:embed="rId4"/>
            <a:srcRect l="1878" r="1747" b="26990"/>
            <a:stretch>
              <a:fillRect/>
            </a:stretch>
          </p:blipFill>
          <p:spPr>
            <a:xfrm>
              <a:off x="6889751" y="4120905"/>
              <a:ext cx="3206750" cy="1700522"/>
            </a:xfrm>
            <a:prstGeom prst="rect">
              <a:avLst/>
            </a:prstGeom>
          </p:spPr>
        </p:pic>
        <p:pic>
          <p:nvPicPr>
            <p:cNvPr id="7" name="図 6">
              <a:extLst>
                <a:ext uri="{FF2B5EF4-FFF2-40B4-BE49-F238E27FC236}">
                  <a16:creationId xmlns:a16="http://schemas.microsoft.com/office/drawing/2014/main" id="{09C32633-C656-A90C-AA39-E6BD19B6A2A2}"/>
                </a:ext>
              </a:extLst>
            </p:cNvPr>
            <p:cNvPicPr>
              <a:picLocks noChangeAspect="1"/>
            </p:cNvPicPr>
            <p:nvPr/>
          </p:nvPicPr>
          <p:blipFill>
            <a:blip r:embed="rId5"/>
            <a:srcRect b="26785"/>
            <a:stretch>
              <a:fillRect/>
            </a:stretch>
          </p:blipFill>
          <p:spPr>
            <a:xfrm>
              <a:off x="6827256" y="2434640"/>
              <a:ext cx="3327396" cy="1705315"/>
            </a:xfrm>
            <a:prstGeom prst="rect">
              <a:avLst/>
            </a:prstGeom>
          </p:spPr>
        </p:pic>
      </p:grpSp>
      <p:pic>
        <p:nvPicPr>
          <p:cNvPr id="10" name="図 9">
            <a:extLst>
              <a:ext uri="{FF2B5EF4-FFF2-40B4-BE49-F238E27FC236}">
                <a16:creationId xmlns:a16="http://schemas.microsoft.com/office/drawing/2014/main" id="{11AF6992-A651-37D4-9C0E-191EE7C7CFF4}"/>
              </a:ext>
            </a:extLst>
          </p:cNvPr>
          <p:cNvPicPr>
            <a:picLocks noChangeAspect="1"/>
          </p:cNvPicPr>
          <p:nvPr/>
        </p:nvPicPr>
        <p:blipFill>
          <a:blip r:embed="rId6"/>
          <a:stretch>
            <a:fillRect/>
          </a:stretch>
        </p:blipFill>
        <p:spPr>
          <a:xfrm>
            <a:off x="207896" y="6298331"/>
            <a:ext cx="2439051" cy="636274"/>
          </a:xfrm>
          <a:prstGeom prst="rect">
            <a:avLst/>
          </a:prstGeom>
        </p:spPr>
      </p:pic>
      <p:pic>
        <p:nvPicPr>
          <p:cNvPr id="11" name="図 10">
            <a:extLst>
              <a:ext uri="{FF2B5EF4-FFF2-40B4-BE49-F238E27FC236}">
                <a16:creationId xmlns:a16="http://schemas.microsoft.com/office/drawing/2014/main" id="{F8CEDE78-5381-DA50-3CB9-557034E2B98A}"/>
              </a:ext>
            </a:extLst>
          </p:cNvPr>
          <p:cNvPicPr>
            <a:picLocks noChangeAspect="1"/>
          </p:cNvPicPr>
          <p:nvPr/>
        </p:nvPicPr>
        <p:blipFill>
          <a:blip r:embed="rId7"/>
          <a:stretch>
            <a:fillRect/>
          </a:stretch>
        </p:blipFill>
        <p:spPr>
          <a:xfrm>
            <a:off x="2646947" y="6298331"/>
            <a:ext cx="2439051" cy="636274"/>
          </a:xfrm>
          <a:prstGeom prst="rect">
            <a:avLst/>
          </a:prstGeom>
        </p:spPr>
      </p:pic>
      <p:pic>
        <p:nvPicPr>
          <p:cNvPr id="22" name="図 21">
            <a:extLst>
              <a:ext uri="{FF2B5EF4-FFF2-40B4-BE49-F238E27FC236}">
                <a16:creationId xmlns:a16="http://schemas.microsoft.com/office/drawing/2014/main" id="{BB431C8C-6D6B-3084-AADF-E1DAB318B414}"/>
              </a:ext>
            </a:extLst>
          </p:cNvPr>
          <p:cNvPicPr>
            <a:picLocks noChangeAspect="1"/>
          </p:cNvPicPr>
          <p:nvPr/>
        </p:nvPicPr>
        <p:blipFill>
          <a:blip r:embed="rId8"/>
          <a:stretch>
            <a:fillRect/>
          </a:stretch>
        </p:blipFill>
        <p:spPr>
          <a:xfrm>
            <a:off x="5085998" y="6298331"/>
            <a:ext cx="2439051" cy="636274"/>
          </a:xfrm>
          <a:prstGeom prst="rect">
            <a:avLst/>
          </a:prstGeom>
        </p:spPr>
      </p:pic>
      <p:pic>
        <p:nvPicPr>
          <p:cNvPr id="25" name="図 24">
            <a:extLst>
              <a:ext uri="{FF2B5EF4-FFF2-40B4-BE49-F238E27FC236}">
                <a16:creationId xmlns:a16="http://schemas.microsoft.com/office/drawing/2014/main" id="{196A768A-D7CB-7ACF-C82F-977F548180F9}"/>
              </a:ext>
            </a:extLst>
          </p:cNvPr>
          <p:cNvPicPr>
            <a:picLocks noChangeAspect="1"/>
          </p:cNvPicPr>
          <p:nvPr/>
        </p:nvPicPr>
        <p:blipFill>
          <a:blip r:embed="rId9"/>
          <a:stretch>
            <a:fillRect/>
          </a:stretch>
        </p:blipFill>
        <p:spPr>
          <a:xfrm>
            <a:off x="7526978" y="6298332"/>
            <a:ext cx="2439046" cy="636273"/>
          </a:xfrm>
          <a:prstGeom prst="rect">
            <a:avLst/>
          </a:prstGeom>
        </p:spPr>
      </p:pic>
    </p:spTree>
    <p:extLst>
      <p:ext uri="{BB962C8B-B14F-4D97-AF65-F5344CB8AC3E}">
        <p14:creationId xmlns:p14="http://schemas.microsoft.com/office/powerpoint/2010/main" val="28193464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E3E013-DA19-05AE-2A8B-D3E19D801712}"/>
            </a:ext>
          </a:extLst>
        </p:cNvPr>
        <p:cNvGrpSpPr/>
        <p:nvPr/>
      </p:nvGrpSpPr>
      <p:grpSpPr>
        <a:xfrm>
          <a:off x="0" y="0"/>
          <a:ext cx="0" cy="0"/>
          <a:chOff x="0" y="0"/>
          <a:chExt cx="0" cy="0"/>
        </a:xfrm>
      </p:grpSpPr>
      <p:sp>
        <p:nvSpPr>
          <p:cNvPr id="14" name="字幕 13">
            <a:extLst>
              <a:ext uri="{FF2B5EF4-FFF2-40B4-BE49-F238E27FC236}">
                <a16:creationId xmlns:a16="http://schemas.microsoft.com/office/drawing/2014/main" id="{73AF8301-244E-8F3D-915C-79AA63456A77}"/>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panose="020B0400000000000000" pitchFamily="50" charset="-128"/>
                <a:ea typeface="游ゴシック" panose="020B0400000000000000" pitchFamily="50" charset="-128"/>
              </a:rPr>
              <a:t>会社分割により非事業用資産を新設会社へ切り出したうえで、カナリア社の全株式を譲受企業へ譲渡するスキームを想定。</a:t>
            </a:r>
            <a:endParaRPr lang="en-US" altLang="ja-JP" dirty="0">
              <a:latin typeface="游ゴシック" panose="020B0400000000000000" pitchFamily="50" charset="-128"/>
              <a:ea typeface="游ゴシック" panose="020B0400000000000000" pitchFamily="50" charset="-128"/>
            </a:endParaRPr>
          </a:p>
        </p:txBody>
      </p:sp>
      <p:sp>
        <p:nvSpPr>
          <p:cNvPr id="13" name="タイトル 12">
            <a:extLst>
              <a:ext uri="{FF2B5EF4-FFF2-40B4-BE49-F238E27FC236}">
                <a16:creationId xmlns:a16="http://schemas.microsoft.com/office/drawing/2014/main" id="{9449775C-18C9-088B-4174-677426BE1C74}"/>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rPr>
              <a:t>本件想定スキーム</a:t>
            </a:r>
          </a:p>
        </p:txBody>
      </p:sp>
      <p:sp>
        <p:nvSpPr>
          <p:cNvPr id="5" name="タイトル 1">
            <a:extLst>
              <a:ext uri="{FF2B5EF4-FFF2-40B4-BE49-F238E27FC236}">
                <a16:creationId xmlns:a16="http://schemas.microsoft.com/office/drawing/2014/main" id="{DD14129A-6F85-F899-867E-82C80FFF9BD0}"/>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latin typeface="游ゴシック" panose="020B0400000000000000" pitchFamily="50" charset="-128"/>
                <a:ea typeface="游ゴシック" panose="020B0400000000000000" pitchFamily="50" charset="-128"/>
              </a:rPr>
              <a:t>エグゼクティブサマリー</a:t>
            </a:r>
          </a:p>
        </p:txBody>
      </p:sp>
      <p:sp>
        <p:nvSpPr>
          <p:cNvPr id="3" name="Oval 207">
            <a:extLst>
              <a:ext uri="{FF2B5EF4-FFF2-40B4-BE49-F238E27FC236}">
                <a16:creationId xmlns:a16="http://schemas.microsoft.com/office/drawing/2014/main" id="{F272F767-2718-21F7-E6F4-1A3790AB36F3}"/>
              </a:ext>
            </a:extLst>
          </p:cNvPr>
          <p:cNvSpPr/>
          <p:nvPr/>
        </p:nvSpPr>
        <p:spPr>
          <a:xfrm>
            <a:off x="1539081" y="1606456"/>
            <a:ext cx="1737360" cy="530352"/>
          </a:xfrm>
          <a:prstGeom prst="ellipse">
            <a:avLst/>
          </a:prstGeom>
          <a:solidFill>
            <a:srgbClr val="BDD7EE"/>
          </a:solidFill>
          <a:ln w="12700">
            <a:solidFill>
              <a:srgbClr val="2E5496"/>
            </a:solid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200" b="1" dirty="0" err="1">
                <a:solidFill>
                  <a:srgbClr val="203864"/>
                </a:solidFill>
                <a:latin typeface="游ゴシック" panose="020B0400000000000000" pitchFamily="50" charset="-128"/>
                <a:ea typeface="游ゴシック" panose="020B0400000000000000" pitchFamily="50" charset="-128"/>
              </a:rPr>
              <a:t>野口</a:t>
            </a:r>
            <a:r>
              <a:rPr lang="ja-JP" altLang="en-US" sz="1200" b="1" dirty="0">
                <a:solidFill>
                  <a:srgbClr val="203864"/>
                </a:solidFill>
                <a:latin typeface="游ゴシック" panose="020B0400000000000000" pitchFamily="50" charset="-128"/>
                <a:ea typeface="游ゴシック" panose="020B0400000000000000" pitchFamily="50" charset="-128"/>
              </a:rPr>
              <a:t>社長</a:t>
            </a:r>
            <a:endParaRPr lang="en-US" altLang="ja-JP" sz="1200" b="1" dirty="0">
              <a:solidFill>
                <a:srgbClr val="203864"/>
              </a:solidFill>
              <a:latin typeface="游ゴシック" panose="020B0400000000000000" pitchFamily="50" charset="-128"/>
              <a:ea typeface="游ゴシック" panose="020B0400000000000000" pitchFamily="50" charset="-128"/>
            </a:endParaRPr>
          </a:p>
        </p:txBody>
      </p:sp>
      <p:cxnSp>
        <p:nvCxnSpPr>
          <p:cNvPr id="4" name="Connector 208">
            <a:extLst>
              <a:ext uri="{FF2B5EF4-FFF2-40B4-BE49-F238E27FC236}">
                <a16:creationId xmlns:a16="http://schemas.microsoft.com/office/drawing/2014/main" id="{79C30249-358F-A395-8B5E-FC77ADA0F272}"/>
              </a:ext>
            </a:extLst>
          </p:cNvPr>
          <p:cNvCxnSpPr/>
          <p:nvPr/>
        </p:nvCxnSpPr>
        <p:spPr>
          <a:xfrm>
            <a:off x="2407761" y="2136808"/>
            <a:ext cx="0" cy="566928"/>
          </a:xfrm>
          <a:prstGeom prst="line">
            <a:avLst/>
          </a:prstGeom>
          <a:ln w="12700">
            <a:solidFill>
              <a:srgbClr val="595959"/>
            </a:solidFill>
          </a:ln>
        </p:spPr>
        <p:style>
          <a:lnRef idx="2">
            <a:schemeClr val="accent1"/>
          </a:lnRef>
          <a:fillRef idx="0">
            <a:schemeClr val="accent1"/>
          </a:fillRef>
          <a:effectRef idx="1">
            <a:schemeClr val="accent1"/>
          </a:effectRef>
          <a:fontRef idx="minor">
            <a:schemeClr val="tx1"/>
          </a:fontRef>
        </p:style>
      </p:cxnSp>
      <p:sp>
        <p:nvSpPr>
          <p:cNvPr id="6" name="TextBox 209">
            <a:extLst>
              <a:ext uri="{FF2B5EF4-FFF2-40B4-BE49-F238E27FC236}">
                <a16:creationId xmlns:a16="http://schemas.microsoft.com/office/drawing/2014/main" id="{AC7FE63F-C5A3-4857-2AC9-78B478C7F6F9}"/>
              </a:ext>
            </a:extLst>
          </p:cNvPr>
          <p:cNvSpPr txBox="1"/>
          <p:nvPr/>
        </p:nvSpPr>
        <p:spPr>
          <a:xfrm>
            <a:off x="2614659" y="2301400"/>
            <a:ext cx="628698" cy="253916"/>
          </a:xfrm>
          <a:prstGeom prst="rect">
            <a:avLst/>
          </a:prstGeom>
          <a:noFill/>
        </p:spPr>
        <p:txBody>
          <a:bodyPr wrap="none">
            <a:spAutoFit/>
          </a:bodyPr>
          <a:lstStyle/>
          <a:p>
            <a:pPr algn="ctr"/>
            <a:r>
              <a:rPr sz="1050" dirty="0">
                <a:solidFill>
                  <a:schemeClr val="tx1"/>
                </a:solidFill>
                <a:latin typeface="游ゴシック" panose="020B0400000000000000" pitchFamily="50" charset="-128"/>
                <a:ea typeface="游ゴシック" panose="020B0400000000000000" pitchFamily="50" charset="-128"/>
              </a:rPr>
              <a:t>100.0%</a:t>
            </a:r>
          </a:p>
        </p:txBody>
      </p:sp>
      <p:sp>
        <p:nvSpPr>
          <p:cNvPr id="12" name="Rectangle 210">
            <a:extLst>
              <a:ext uri="{FF2B5EF4-FFF2-40B4-BE49-F238E27FC236}">
                <a16:creationId xmlns:a16="http://schemas.microsoft.com/office/drawing/2014/main" id="{ADC62F02-260B-543D-6AD8-11231D87DD98}"/>
              </a:ext>
            </a:extLst>
          </p:cNvPr>
          <p:cNvSpPr/>
          <p:nvPr/>
        </p:nvSpPr>
        <p:spPr>
          <a:xfrm>
            <a:off x="1081881" y="2703736"/>
            <a:ext cx="2651760" cy="2505456"/>
          </a:xfrm>
          <a:prstGeom prst="rect">
            <a:avLst/>
          </a:prstGeom>
          <a:noFill/>
          <a:ln w="12700">
            <a:solidFill>
              <a:srgbClr val="2E549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800">
              <a:latin typeface="游ゴシック" panose="020B0400000000000000" pitchFamily="50" charset="-128"/>
              <a:ea typeface="游ゴシック" panose="020B0400000000000000" pitchFamily="50" charset="-128"/>
            </a:endParaRPr>
          </a:p>
        </p:txBody>
      </p:sp>
      <p:sp>
        <p:nvSpPr>
          <p:cNvPr id="15" name="TextBox 211">
            <a:extLst>
              <a:ext uri="{FF2B5EF4-FFF2-40B4-BE49-F238E27FC236}">
                <a16:creationId xmlns:a16="http://schemas.microsoft.com/office/drawing/2014/main" id="{EB37A077-2023-6B36-9199-111ABB85C1F5}"/>
              </a:ext>
            </a:extLst>
          </p:cNvPr>
          <p:cNvSpPr txBox="1"/>
          <p:nvPr/>
        </p:nvSpPr>
        <p:spPr>
          <a:xfrm>
            <a:off x="1597283" y="2758600"/>
            <a:ext cx="1620957" cy="307777"/>
          </a:xfrm>
          <a:prstGeom prst="rect">
            <a:avLst/>
          </a:prstGeom>
          <a:noFill/>
        </p:spPr>
        <p:txBody>
          <a:bodyPr wrap="none">
            <a:spAutoFit/>
          </a:bodyPr>
          <a:lstStyle/>
          <a:p>
            <a:pPr algn="ctr"/>
            <a:r>
              <a:rPr sz="1400" b="1" u="sng">
                <a:solidFill>
                  <a:srgbClr val="203864"/>
                </a:solidFill>
                <a:latin typeface="游ゴシック" panose="020B0400000000000000" pitchFamily="50" charset="-128"/>
                <a:ea typeface="游ゴシック" panose="020B0400000000000000" pitchFamily="50" charset="-128"/>
              </a:rPr>
              <a:t>株式会社カナリア</a:t>
            </a:r>
          </a:p>
        </p:txBody>
      </p:sp>
      <p:sp>
        <p:nvSpPr>
          <p:cNvPr id="17" name="Rectangle 212">
            <a:extLst>
              <a:ext uri="{FF2B5EF4-FFF2-40B4-BE49-F238E27FC236}">
                <a16:creationId xmlns:a16="http://schemas.microsoft.com/office/drawing/2014/main" id="{36F4CA31-7A1A-49BA-7063-A873F9BF1917}"/>
              </a:ext>
            </a:extLst>
          </p:cNvPr>
          <p:cNvSpPr/>
          <p:nvPr/>
        </p:nvSpPr>
        <p:spPr>
          <a:xfrm>
            <a:off x="1246473" y="3069496"/>
            <a:ext cx="2322576" cy="566928"/>
          </a:xfrm>
          <a:prstGeom prst="rect">
            <a:avLst/>
          </a:prstGeom>
          <a:solidFill>
            <a:srgbClr val="203864"/>
          </a:solidFill>
          <a:ln>
            <a:solidFill>
              <a:srgbClr val="203864"/>
            </a:solidFill>
          </a:ln>
          <a:effectLst/>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r>
              <a:rPr sz="1050" b="1">
                <a:solidFill>
                  <a:srgbClr val="FFFFFF"/>
                </a:solidFill>
                <a:latin typeface="游ゴシック" panose="020B0400000000000000" pitchFamily="50" charset="-128"/>
                <a:ea typeface="游ゴシック" panose="020B0400000000000000" pitchFamily="50" charset="-128"/>
              </a:rPr>
              <a:t>キャラクターグッズ企画・製造販売</a:t>
            </a:r>
          </a:p>
          <a:p>
            <a:pPr algn="ctr"/>
            <a:r>
              <a:rPr sz="1050" b="1">
                <a:solidFill>
                  <a:srgbClr val="FFFFFF"/>
                </a:solidFill>
                <a:latin typeface="游ゴシック" panose="020B0400000000000000" pitchFamily="50" charset="-128"/>
                <a:ea typeface="游ゴシック" panose="020B0400000000000000" pitchFamily="50" charset="-128"/>
              </a:rPr>
              <a:t>（ライセンス／版権商品）</a:t>
            </a:r>
          </a:p>
        </p:txBody>
      </p:sp>
      <p:sp>
        <p:nvSpPr>
          <p:cNvPr id="18" name="Rectangle 213">
            <a:extLst>
              <a:ext uri="{FF2B5EF4-FFF2-40B4-BE49-F238E27FC236}">
                <a16:creationId xmlns:a16="http://schemas.microsoft.com/office/drawing/2014/main" id="{0F8F4BBE-D95B-1456-3F47-B57E092A9EAB}"/>
              </a:ext>
            </a:extLst>
          </p:cNvPr>
          <p:cNvSpPr/>
          <p:nvPr/>
        </p:nvSpPr>
        <p:spPr>
          <a:xfrm>
            <a:off x="1246473" y="3764440"/>
            <a:ext cx="2322576" cy="566928"/>
          </a:xfrm>
          <a:prstGeom prst="rect">
            <a:avLst/>
          </a:prstGeom>
          <a:solidFill>
            <a:srgbClr val="203864"/>
          </a:solidFill>
          <a:ln>
            <a:solidFill>
              <a:srgbClr val="203864"/>
            </a:solidFill>
          </a:ln>
          <a:effectLst/>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r>
              <a:rPr sz="1050" b="1">
                <a:solidFill>
                  <a:srgbClr val="FFFFFF"/>
                </a:solidFill>
                <a:latin typeface="游ゴシック" panose="020B0400000000000000" pitchFamily="50" charset="-128"/>
                <a:ea typeface="游ゴシック" panose="020B0400000000000000" pitchFamily="50" charset="-128"/>
              </a:rPr>
              <a:t>OEM受託事業</a:t>
            </a:r>
          </a:p>
        </p:txBody>
      </p:sp>
      <p:sp>
        <p:nvSpPr>
          <p:cNvPr id="19" name="Rectangle 214">
            <a:extLst>
              <a:ext uri="{FF2B5EF4-FFF2-40B4-BE49-F238E27FC236}">
                <a16:creationId xmlns:a16="http://schemas.microsoft.com/office/drawing/2014/main" id="{B170BB95-C8B8-9628-1A61-1D0C6B8C81E4}"/>
              </a:ext>
            </a:extLst>
          </p:cNvPr>
          <p:cNvSpPr/>
          <p:nvPr/>
        </p:nvSpPr>
        <p:spPr>
          <a:xfrm>
            <a:off x="1246473" y="4459384"/>
            <a:ext cx="2322576" cy="566928"/>
          </a:xfrm>
          <a:prstGeom prst="rect">
            <a:avLst/>
          </a:prstGeom>
          <a:solidFill>
            <a:srgbClr val="203864"/>
          </a:solidFill>
          <a:ln>
            <a:solidFill>
              <a:srgbClr val="203864"/>
            </a:solidFill>
          </a:ln>
          <a:effectLst/>
        </p:spPr>
        <p:style>
          <a:lnRef idx="1">
            <a:schemeClr val="accent1"/>
          </a:lnRef>
          <a:fillRef idx="3">
            <a:schemeClr val="accent1"/>
          </a:fillRef>
          <a:effectRef idx="2">
            <a:schemeClr val="accent1"/>
          </a:effectRef>
          <a:fontRef idx="minor">
            <a:schemeClr val="lt1"/>
          </a:fontRef>
        </p:style>
        <p:txBody>
          <a:bodyPr wrap="none" tIns="0" bIns="0" rtlCol="0" anchor="ctr"/>
          <a:lstStyle/>
          <a:p>
            <a:pPr algn="ctr"/>
            <a:r>
              <a:rPr sz="1050" b="1" dirty="0" err="1">
                <a:solidFill>
                  <a:srgbClr val="FFFFFF"/>
                </a:solidFill>
                <a:latin typeface="游ゴシック" panose="020B0400000000000000" pitchFamily="50" charset="-128"/>
                <a:ea typeface="游ゴシック" panose="020B0400000000000000" pitchFamily="50" charset="-128"/>
              </a:rPr>
              <a:t>非事業用資産の保有</a:t>
            </a:r>
            <a:endParaRPr sz="1050" b="1" dirty="0">
              <a:solidFill>
                <a:srgbClr val="FFFFFF"/>
              </a:solidFill>
              <a:latin typeface="游ゴシック" panose="020B0400000000000000" pitchFamily="50" charset="-128"/>
              <a:ea typeface="游ゴシック" panose="020B0400000000000000" pitchFamily="50" charset="-128"/>
            </a:endParaRPr>
          </a:p>
          <a:p>
            <a:pPr algn="ctr"/>
            <a:r>
              <a:rPr sz="1050" b="1" dirty="0">
                <a:solidFill>
                  <a:srgbClr val="FFFFFF"/>
                </a:solidFill>
                <a:latin typeface="游ゴシック" panose="020B0400000000000000" pitchFamily="50" charset="-128"/>
                <a:ea typeface="游ゴシック" panose="020B0400000000000000" pitchFamily="50" charset="-128"/>
              </a:rPr>
              <a:t>（</a:t>
            </a:r>
            <a:r>
              <a:rPr sz="1050" b="1" dirty="0" err="1">
                <a:solidFill>
                  <a:srgbClr val="FFFFFF"/>
                </a:solidFill>
                <a:latin typeface="游ゴシック" panose="020B0400000000000000" pitchFamily="50" charset="-128"/>
                <a:ea typeface="游ゴシック" panose="020B0400000000000000" pitchFamily="50" charset="-128"/>
              </a:rPr>
              <a:t>投資有価証券・保険積立金・車両</a:t>
            </a:r>
            <a:r>
              <a:rPr sz="1050" b="1" dirty="0">
                <a:solidFill>
                  <a:srgbClr val="FFFFFF"/>
                </a:solidFill>
                <a:latin typeface="游ゴシック" panose="020B0400000000000000" pitchFamily="50" charset="-128"/>
                <a:ea typeface="游ゴシック" panose="020B0400000000000000" pitchFamily="50" charset="-128"/>
              </a:rPr>
              <a:t>）</a:t>
            </a:r>
          </a:p>
        </p:txBody>
      </p:sp>
      <p:sp>
        <p:nvSpPr>
          <p:cNvPr id="20" name="Right Arrow 215">
            <a:extLst>
              <a:ext uri="{FF2B5EF4-FFF2-40B4-BE49-F238E27FC236}">
                <a16:creationId xmlns:a16="http://schemas.microsoft.com/office/drawing/2014/main" id="{31F0E46E-60BB-B0A0-F2E3-C0B4B196EF12}"/>
              </a:ext>
            </a:extLst>
          </p:cNvPr>
          <p:cNvSpPr/>
          <p:nvPr/>
        </p:nvSpPr>
        <p:spPr>
          <a:xfrm>
            <a:off x="4277708" y="3401132"/>
            <a:ext cx="731520" cy="1005840"/>
          </a:xfrm>
          <a:prstGeom prst="rightArrow">
            <a:avLst/>
          </a:prstGeom>
          <a:solidFill>
            <a:srgbClr val="D9E2F3"/>
          </a:solidFill>
          <a:ln>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800">
              <a:latin typeface="游ゴシック" panose="020B0400000000000000" pitchFamily="50" charset="-128"/>
              <a:ea typeface="游ゴシック" panose="020B0400000000000000" pitchFamily="50" charset="-128"/>
            </a:endParaRPr>
          </a:p>
        </p:txBody>
      </p:sp>
      <p:sp>
        <p:nvSpPr>
          <p:cNvPr id="21" name="Oval 216">
            <a:extLst>
              <a:ext uri="{FF2B5EF4-FFF2-40B4-BE49-F238E27FC236}">
                <a16:creationId xmlns:a16="http://schemas.microsoft.com/office/drawing/2014/main" id="{9C868526-F349-7287-B11A-7E3540DFBC29}"/>
              </a:ext>
            </a:extLst>
          </p:cNvPr>
          <p:cNvSpPr/>
          <p:nvPr/>
        </p:nvSpPr>
        <p:spPr>
          <a:xfrm>
            <a:off x="6742016" y="1515016"/>
            <a:ext cx="1737360" cy="530352"/>
          </a:xfrm>
          <a:prstGeom prst="ellipse">
            <a:avLst/>
          </a:prstGeom>
          <a:solidFill>
            <a:srgbClr val="BDD7EE"/>
          </a:solidFill>
          <a:ln w="12700">
            <a:solidFill>
              <a:srgbClr val="2E5496"/>
            </a:solid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200" b="1" dirty="0" err="1">
                <a:solidFill>
                  <a:srgbClr val="203864"/>
                </a:solidFill>
                <a:latin typeface="游ゴシック" panose="020B0400000000000000" pitchFamily="50" charset="-128"/>
                <a:ea typeface="游ゴシック" panose="020B0400000000000000" pitchFamily="50" charset="-128"/>
              </a:rPr>
              <a:t>譲受企業</a:t>
            </a:r>
            <a:r>
              <a:rPr lang="ja-JP" altLang="en-US" sz="1200" b="1" dirty="0">
                <a:solidFill>
                  <a:srgbClr val="203864"/>
                </a:solidFill>
                <a:latin typeface="游ゴシック" panose="020B0400000000000000" pitchFamily="50" charset="-128"/>
                <a:ea typeface="游ゴシック" panose="020B0400000000000000" pitchFamily="50" charset="-128"/>
              </a:rPr>
              <a:t>様</a:t>
            </a:r>
            <a:endParaRPr sz="1200" b="1" dirty="0">
              <a:solidFill>
                <a:srgbClr val="203864"/>
              </a:solidFill>
              <a:latin typeface="游ゴシック" panose="020B0400000000000000" pitchFamily="50" charset="-128"/>
              <a:ea typeface="游ゴシック" panose="020B0400000000000000" pitchFamily="50" charset="-128"/>
            </a:endParaRPr>
          </a:p>
        </p:txBody>
      </p:sp>
      <p:cxnSp>
        <p:nvCxnSpPr>
          <p:cNvPr id="23" name="Connector 217">
            <a:extLst>
              <a:ext uri="{FF2B5EF4-FFF2-40B4-BE49-F238E27FC236}">
                <a16:creationId xmlns:a16="http://schemas.microsoft.com/office/drawing/2014/main" id="{B31F2772-D857-8E6E-42CF-C8D4084DE151}"/>
              </a:ext>
            </a:extLst>
          </p:cNvPr>
          <p:cNvCxnSpPr/>
          <p:nvPr/>
        </p:nvCxnSpPr>
        <p:spPr>
          <a:xfrm>
            <a:off x="7610696" y="2045368"/>
            <a:ext cx="0" cy="384048"/>
          </a:xfrm>
          <a:prstGeom prst="line">
            <a:avLst/>
          </a:prstGeom>
          <a:ln w="12700">
            <a:solidFill>
              <a:srgbClr val="595959"/>
            </a:solidFill>
          </a:ln>
        </p:spPr>
        <p:style>
          <a:lnRef idx="2">
            <a:schemeClr val="accent1"/>
          </a:lnRef>
          <a:fillRef idx="0">
            <a:schemeClr val="accent1"/>
          </a:fillRef>
          <a:effectRef idx="1">
            <a:schemeClr val="accent1"/>
          </a:effectRef>
          <a:fontRef idx="minor">
            <a:schemeClr val="tx1"/>
          </a:fontRef>
        </p:style>
      </p:cxnSp>
      <p:sp>
        <p:nvSpPr>
          <p:cNvPr id="24" name="TextBox 218">
            <a:extLst>
              <a:ext uri="{FF2B5EF4-FFF2-40B4-BE49-F238E27FC236}">
                <a16:creationId xmlns:a16="http://schemas.microsoft.com/office/drawing/2014/main" id="{9D0D7E35-0F11-1EAE-EE09-3087FA45879F}"/>
              </a:ext>
            </a:extLst>
          </p:cNvPr>
          <p:cNvSpPr txBox="1"/>
          <p:nvPr/>
        </p:nvSpPr>
        <p:spPr>
          <a:xfrm>
            <a:off x="7872420" y="2118520"/>
            <a:ext cx="628698" cy="253916"/>
          </a:xfrm>
          <a:prstGeom prst="rect">
            <a:avLst/>
          </a:prstGeom>
          <a:noFill/>
        </p:spPr>
        <p:txBody>
          <a:bodyPr wrap="none">
            <a:spAutoFit/>
          </a:bodyPr>
          <a:lstStyle/>
          <a:p>
            <a:pPr algn="ctr"/>
            <a:r>
              <a:rPr sz="1050">
                <a:solidFill>
                  <a:srgbClr val="595959"/>
                </a:solidFill>
                <a:latin typeface="游ゴシック" panose="020B0400000000000000" pitchFamily="50" charset="-128"/>
                <a:ea typeface="游ゴシック" panose="020B0400000000000000" pitchFamily="50" charset="-128"/>
              </a:rPr>
              <a:t>100.0%</a:t>
            </a:r>
          </a:p>
        </p:txBody>
      </p:sp>
      <p:sp>
        <p:nvSpPr>
          <p:cNvPr id="26" name="Rectangle 219">
            <a:extLst>
              <a:ext uri="{FF2B5EF4-FFF2-40B4-BE49-F238E27FC236}">
                <a16:creationId xmlns:a16="http://schemas.microsoft.com/office/drawing/2014/main" id="{67051159-10E3-ACD5-B081-EB7055BC1FE1}"/>
              </a:ext>
            </a:extLst>
          </p:cNvPr>
          <p:cNvSpPr/>
          <p:nvPr/>
        </p:nvSpPr>
        <p:spPr>
          <a:xfrm>
            <a:off x="5553296" y="2429416"/>
            <a:ext cx="4114800" cy="1572768"/>
          </a:xfrm>
          <a:prstGeom prst="rect">
            <a:avLst/>
          </a:prstGeom>
          <a:noFill/>
          <a:ln w="127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800">
              <a:latin typeface="游ゴシック" panose="020B0400000000000000" pitchFamily="50" charset="-128"/>
              <a:ea typeface="游ゴシック" panose="020B0400000000000000" pitchFamily="50" charset="-128"/>
            </a:endParaRPr>
          </a:p>
        </p:txBody>
      </p:sp>
      <p:sp>
        <p:nvSpPr>
          <p:cNvPr id="27" name="TextBox 220">
            <a:extLst>
              <a:ext uri="{FF2B5EF4-FFF2-40B4-BE49-F238E27FC236}">
                <a16:creationId xmlns:a16="http://schemas.microsoft.com/office/drawing/2014/main" id="{9AD26F55-75F3-13E6-65E2-2B35912E170D}"/>
              </a:ext>
            </a:extLst>
          </p:cNvPr>
          <p:cNvSpPr txBox="1"/>
          <p:nvPr/>
        </p:nvSpPr>
        <p:spPr>
          <a:xfrm>
            <a:off x="6800218" y="2484280"/>
            <a:ext cx="1620957" cy="307777"/>
          </a:xfrm>
          <a:prstGeom prst="rect">
            <a:avLst/>
          </a:prstGeom>
          <a:noFill/>
        </p:spPr>
        <p:txBody>
          <a:bodyPr wrap="none">
            <a:spAutoFit/>
          </a:bodyPr>
          <a:lstStyle/>
          <a:p>
            <a:pPr algn="ctr"/>
            <a:r>
              <a:rPr sz="1400" b="1" u="sng">
                <a:solidFill>
                  <a:srgbClr val="203864"/>
                </a:solidFill>
                <a:latin typeface="游ゴシック" panose="020B0400000000000000" pitchFamily="50" charset="-128"/>
                <a:ea typeface="游ゴシック" panose="020B0400000000000000" pitchFamily="50" charset="-128"/>
              </a:rPr>
              <a:t>株式会社カナリア</a:t>
            </a:r>
          </a:p>
        </p:txBody>
      </p:sp>
      <p:sp>
        <p:nvSpPr>
          <p:cNvPr id="28" name="Rectangle 221">
            <a:extLst>
              <a:ext uri="{FF2B5EF4-FFF2-40B4-BE49-F238E27FC236}">
                <a16:creationId xmlns:a16="http://schemas.microsoft.com/office/drawing/2014/main" id="{BA8449E7-E4E1-48EC-35CC-A63577C09DBB}"/>
              </a:ext>
            </a:extLst>
          </p:cNvPr>
          <p:cNvSpPr/>
          <p:nvPr/>
        </p:nvSpPr>
        <p:spPr>
          <a:xfrm>
            <a:off x="5717888" y="2795176"/>
            <a:ext cx="3785615" cy="384048"/>
          </a:xfrm>
          <a:prstGeom prst="rect">
            <a:avLst/>
          </a:prstGeom>
          <a:solidFill>
            <a:srgbClr val="203864"/>
          </a:solidFill>
          <a:ln>
            <a:solidFill>
              <a:srgbClr val="203864"/>
            </a:solidFill>
          </a:ln>
          <a:effectLst/>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r>
              <a:rPr sz="1050" b="1">
                <a:solidFill>
                  <a:srgbClr val="FFFFFF"/>
                </a:solidFill>
                <a:latin typeface="游ゴシック" panose="020B0400000000000000" pitchFamily="50" charset="-128"/>
                <a:ea typeface="游ゴシック" panose="020B0400000000000000" pitchFamily="50" charset="-128"/>
              </a:rPr>
              <a:t>キャラクターグッズ企画・製造販売（ライセンス）</a:t>
            </a:r>
          </a:p>
        </p:txBody>
      </p:sp>
      <p:sp>
        <p:nvSpPr>
          <p:cNvPr id="29" name="Rectangle 222">
            <a:extLst>
              <a:ext uri="{FF2B5EF4-FFF2-40B4-BE49-F238E27FC236}">
                <a16:creationId xmlns:a16="http://schemas.microsoft.com/office/drawing/2014/main" id="{B9FDA1B3-210F-E991-2832-C95EDA245858}"/>
              </a:ext>
            </a:extLst>
          </p:cNvPr>
          <p:cNvSpPr/>
          <p:nvPr/>
        </p:nvSpPr>
        <p:spPr>
          <a:xfrm>
            <a:off x="5717888" y="3288952"/>
            <a:ext cx="3785615" cy="384048"/>
          </a:xfrm>
          <a:prstGeom prst="rect">
            <a:avLst/>
          </a:prstGeom>
          <a:solidFill>
            <a:srgbClr val="203864"/>
          </a:solidFill>
          <a:ln>
            <a:solidFill>
              <a:srgbClr val="203864"/>
            </a:solidFill>
          </a:ln>
          <a:effectLst/>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r>
              <a:rPr sz="1050" b="1">
                <a:solidFill>
                  <a:srgbClr val="FFFFFF"/>
                </a:solidFill>
                <a:latin typeface="游ゴシック" panose="020B0400000000000000" pitchFamily="50" charset="-128"/>
                <a:ea typeface="游ゴシック" panose="020B0400000000000000" pitchFamily="50" charset="-128"/>
              </a:rPr>
              <a:t>OEM受託事業</a:t>
            </a:r>
          </a:p>
        </p:txBody>
      </p:sp>
      <p:cxnSp>
        <p:nvCxnSpPr>
          <p:cNvPr id="30" name="Connector 223">
            <a:extLst>
              <a:ext uri="{FF2B5EF4-FFF2-40B4-BE49-F238E27FC236}">
                <a16:creationId xmlns:a16="http://schemas.microsoft.com/office/drawing/2014/main" id="{EBC8B16D-FFC0-639C-C729-B3ECDC0D88B1}"/>
              </a:ext>
            </a:extLst>
          </p:cNvPr>
          <p:cNvCxnSpPr/>
          <p:nvPr/>
        </p:nvCxnSpPr>
        <p:spPr>
          <a:xfrm>
            <a:off x="5278976" y="4258216"/>
            <a:ext cx="4572000" cy="0"/>
          </a:xfrm>
          <a:prstGeom prst="line">
            <a:avLst/>
          </a:prstGeom>
          <a:ln w="15875">
            <a:solidFill>
              <a:srgbClr val="203864"/>
            </a:solidFill>
          </a:ln>
        </p:spPr>
        <p:style>
          <a:lnRef idx="2">
            <a:schemeClr val="accent1"/>
          </a:lnRef>
          <a:fillRef idx="0">
            <a:schemeClr val="accent1"/>
          </a:fillRef>
          <a:effectRef idx="1">
            <a:schemeClr val="accent1"/>
          </a:effectRef>
          <a:fontRef idx="minor">
            <a:schemeClr val="tx1"/>
          </a:fontRef>
        </p:style>
      </p:cxnSp>
      <p:sp>
        <p:nvSpPr>
          <p:cNvPr id="31" name="Oval 224">
            <a:extLst>
              <a:ext uri="{FF2B5EF4-FFF2-40B4-BE49-F238E27FC236}">
                <a16:creationId xmlns:a16="http://schemas.microsoft.com/office/drawing/2014/main" id="{0C0C52B3-12D1-A809-3E74-590EFB48F891}"/>
              </a:ext>
            </a:extLst>
          </p:cNvPr>
          <p:cNvSpPr/>
          <p:nvPr/>
        </p:nvSpPr>
        <p:spPr>
          <a:xfrm>
            <a:off x="6742016" y="4532536"/>
            <a:ext cx="1737360" cy="530352"/>
          </a:xfrm>
          <a:prstGeom prst="ellipse">
            <a:avLst/>
          </a:prstGeom>
          <a:solidFill>
            <a:srgbClr val="BDD7EE"/>
          </a:solidFill>
          <a:ln w="12700">
            <a:solidFill>
              <a:srgbClr val="2E5496"/>
            </a:solid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200" b="1" dirty="0" err="1">
                <a:solidFill>
                  <a:srgbClr val="203864"/>
                </a:solidFill>
                <a:latin typeface="游ゴシック" panose="020B0400000000000000" pitchFamily="50" charset="-128"/>
                <a:ea typeface="游ゴシック" panose="020B0400000000000000" pitchFamily="50" charset="-128"/>
              </a:rPr>
              <a:t>野口</a:t>
            </a:r>
            <a:r>
              <a:rPr lang="ja-JP" altLang="en-US" sz="1200" b="1" dirty="0">
                <a:solidFill>
                  <a:srgbClr val="203864"/>
                </a:solidFill>
                <a:latin typeface="游ゴシック" panose="020B0400000000000000" pitchFamily="50" charset="-128"/>
                <a:ea typeface="游ゴシック" panose="020B0400000000000000" pitchFamily="50" charset="-128"/>
              </a:rPr>
              <a:t>社長</a:t>
            </a:r>
            <a:endParaRPr sz="1200" b="1" dirty="0">
              <a:solidFill>
                <a:srgbClr val="203864"/>
              </a:solidFill>
              <a:latin typeface="游ゴシック" panose="020B0400000000000000" pitchFamily="50" charset="-128"/>
              <a:ea typeface="游ゴシック" panose="020B0400000000000000" pitchFamily="50" charset="-128"/>
            </a:endParaRPr>
          </a:p>
        </p:txBody>
      </p:sp>
      <p:cxnSp>
        <p:nvCxnSpPr>
          <p:cNvPr id="32" name="Connector 225">
            <a:extLst>
              <a:ext uri="{FF2B5EF4-FFF2-40B4-BE49-F238E27FC236}">
                <a16:creationId xmlns:a16="http://schemas.microsoft.com/office/drawing/2014/main" id="{35D0AEF3-95BD-099B-1326-0CD306882327}"/>
              </a:ext>
            </a:extLst>
          </p:cNvPr>
          <p:cNvCxnSpPr/>
          <p:nvPr/>
        </p:nvCxnSpPr>
        <p:spPr>
          <a:xfrm>
            <a:off x="7610696" y="5062888"/>
            <a:ext cx="0" cy="384048"/>
          </a:xfrm>
          <a:prstGeom prst="line">
            <a:avLst/>
          </a:prstGeom>
          <a:ln w="12700">
            <a:solidFill>
              <a:srgbClr val="595959"/>
            </a:solidFill>
          </a:ln>
        </p:spPr>
        <p:style>
          <a:lnRef idx="2">
            <a:schemeClr val="accent1"/>
          </a:lnRef>
          <a:fillRef idx="0">
            <a:schemeClr val="accent1"/>
          </a:fillRef>
          <a:effectRef idx="1">
            <a:schemeClr val="accent1"/>
          </a:effectRef>
          <a:fontRef idx="minor">
            <a:schemeClr val="tx1"/>
          </a:fontRef>
        </p:style>
      </p:cxnSp>
      <p:sp>
        <p:nvSpPr>
          <p:cNvPr id="33" name="TextBox 226">
            <a:extLst>
              <a:ext uri="{FF2B5EF4-FFF2-40B4-BE49-F238E27FC236}">
                <a16:creationId xmlns:a16="http://schemas.microsoft.com/office/drawing/2014/main" id="{7855AAF9-5643-288F-49D3-C92AC4781A0B}"/>
              </a:ext>
            </a:extLst>
          </p:cNvPr>
          <p:cNvSpPr txBox="1"/>
          <p:nvPr/>
        </p:nvSpPr>
        <p:spPr>
          <a:xfrm>
            <a:off x="7872420" y="5136040"/>
            <a:ext cx="628698" cy="253916"/>
          </a:xfrm>
          <a:prstGeom prst="rect">
            <a:avLst/>
          </a:prstGeom>
          <a:noFill/>
        </p:spPr>
        <p:txBody>
          <a:bodyPr wrap="none">
            <a:spAutoFit/>
          </a:bodyPr>
          <a:lstStyle/>
          <a:p>
            <a:pPr algn="ctr"/>
            <a:r>
              <a:rPr sz="1050">
                <a:solidFill>
                  <a:srgbClr val="595959"/>
                </a:solidFill>
                <a:latin typeface="游ゴシック" panose="020B0400000000000000" pitchFamily="50" charset="-128"/>
                <a:ea typeface="游ゴシック" panose="020B0400000000000000" pitchFamily="50" charset="-128"/>
              </a:rPr>
              <a:t>100.0%</a:t>
            </a:r>
          </a:p>
        </p:txBody>
      </p:sp>
      <p:sp>
        <p:nvSpPr>
          <p:cNvPr id="34" name="Rectangle 227">
            <a:extLst>
              <a:ext uri="{FF2B5EF4-FFF2-40B4-BE49-F238E27FC236}">
                <a16:creationId xmlns:a16="http://schemas.microsoft.com/office/drawing/2014/main" id="{63C94D1E-16D0-F816-5FA0-9A16E42C48A4}"/>
              </a:ext>
            </a:extLst>
          </p:cNvPr>
          <p:cNvSpPr/>
          <p:nvPr/>
        </p:nvSpPr>
        <p:spPr>
          <a:xfrm>
            <a:off x="5553296" y="5446936"/>
            <a:ext cx="4114800" cy="1188720"/>
          </a:xfrm>
          <a:prstGeom prst="rect">
            <a:avLst/>
          </a:prstGeom>
          <a:noFill/>
          <a:ln w="12700">
            <a:solidFill>
              <a:srgbClr val="2E549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800">
              <a:latin typeface="游ゴシック" panose="020B0400000000000000" pitchFamily="50" charset="-128"/>
              <a:ea typeface="游ゴシック" panose="020B0400000000000000" pitchFamily="50" charset="-128"/>
            </a:endParaRPr>
          </a:p>
        </p:txBody>
      </p:sp>
      <p:sp>
        <p:nvSpPr>
          <p:cNvPr id="35" name="TextBox 228">
            <a:extLst>
              <a:ext uri="{FF2B5EF4-FFF2-40B4-BE49-F238E27FC236}">
                <a16:creationId xmlns:a16="http://schemas.microsoft.com/office/drawing/2014/main" id="{1B0A2BD3-4A71-487E-6285-91A67B30A439}"/>
              </a:ext>
            </a:extLst>
          </p:cNvPr>
          <p:cNvSpPr txBox="1"/>
          <p:nvPr/>
        </p:nvSpPr>
        <p:spPr>
          <a:xfrm>
            <a:off x="6171841" y="5501800"/>
            <a:ext cx="2877711" cy="307777"/>
          </a:xfrm>
          <a:prstGeom prst="rect">
            <a:avLst/>
          </a:prstGeom>
          <a:noFill/>
        </p:spPr>
        <p:txBody>
          <a:bodyPr wrap="none">
            <a:spAutoFit/>
          </a:bodyPr>
          <a:lstStyle/>
          <a:p>
            <a:pPr algn="ctr"/>
            <a:r>
              <a:rPr sz="1400" b="1" u="sng">
                <a:solidFill>
                  <a:srgbClr val="203864"/>
                </a:solidFill>
                <a:latin typeface="游ゴシック" panose="020B0400000000000000" pitchFamily="50" charset="-128"/>
                <a:ea typeface="游ゴシック" panose="020B0400000000000000" pitchFamily="50" charset="-128"/>
              </a:rPr>
              <a:t>新設会社（会社分割により新設）</a:t>
            </a:r>
          </a:p>
        </p:txBody>
      </p:sp>
      <p:sp>
        <p:nvSpPr>
          <p:cNvPr id="36" name="Rectangle 229">
            <a:extLst>
              <a:ext uri="{FF2B5EF4-FFF2-40B4-BE49-F238E27FC236}">
                <a16:creationId xmlns:a16="http://schemas.microsoft.com/office/drawing/2014/main" id="{FB316913-06E4-F642-94DB-EB41E3442339}"/>
              </a:ext>
            </a:extLst>
          </p:cNvPr>
          <p:cNvSpPr/>
          <p:nvPr/>
        </p:nvSpPr>
        <p:spPr>
          <a:xfrm>
            <a:off x="5717888" y="5812696"/>
            <a:ext cx="3785615" cy="566928"/>
          </a:xfrm>
          <a:prstGeom prst="rect">
            <a:avLst/>
          </a:prstGeom>
          <a:solidFill>
            <a:srgbClr val="203864"/>
          </a:solidFill>
          <a:ln>
            <a:solidFill>
              <a:srgbClr val="203864"/>
            </a:solidFill>
          </a:ln>
          <a:effectLst/>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r>
              <a:rPr sz="1050" b="1" dirty="0" err="1">
                <a:solidFill>
                  <a:srgbClr val="FFFFFF"/>
                </a:solidFill>
                <a:latin typeface="游ゴシック" panose="020B0400000000000000" pitchFamily="50" charset="-128"/>
                <a:ea typeface="游ゴシック" panose="020B0400000000000000" pitchFamily="50" charset="-128"/>
              </a:rPr>
              <a:t>非事業用資産の保有</a:t>
            </a:r>
            <a:endParaRPr sz="1050" b="1" dirty="0">
              <a:solidFill>
                <a:srgbClr val="FFFFFF"/>
              </a:solidFill>
              <a:latin typeface="游ゴシック" panose="020B0400000000000000" pitchFamily="50" charset="-128"/>
              <a:ea typeface="游ゴシック" panose="020B0400000000000000" pitchFamily="50" charset="-128"/>
            </a:endParaRPr>
          </a:p>
          <a:p>
            <a:pPr algn="ctr"/>
            <a:r>
              <a:rPr sz="1050" b="1" dirty="0">
                <a:solidFill>
                  <a:srgbClr val="FFFFFF"/>
                </a:solidFill>
                <a:latin typeface="游ゴシック" panose="020B0400000000000000" pitchFamily="50" charset="-128"/>
                <a:ea typeface="游ゴシック" panose="020B0400000000000000" pitchFamily="50" charset="-128"/>
              </a:rPr>
              <a:t>（</a:t>
            </a:r>
            <a:r>
              <a:rPr sz="1050" b="1" dirty="0" err="1">
                <a:solidFill>
                  <a:srgbClr val="FFFFFF"/>
                </a:solidFill>
                <a:latin typeface="游ゴシック" panose="020B0400000000000000" pitchFamily="50" charset="-128"/>
                <a:ea typeface="游ゴシック" panose="020B0400000000000000" pitchFamily="50" charset="-128"/>
              </a:rPr>
              <a:t>投資有価証券・保険積立金</a:t>
            </a:r>
            <a:r>
              <a:rPr sz="1050" b="1" dirty="0">
                <a:solidFill>
                  <a:srgbClr val="FFFFFF"/>
                </a:solidFill>
                <a:latin typeface="游ゴシック" panose="020B0400000000000000" pitchFamily="50" charset="-128"/>
                <a:ea typeface="游ゴシック" panose="020B0400000000000000" pitchFamily="50" charset="-128"/>
              </a:rPr>
              <a:t>・</a:t>
            </a:r>
            <a:r>
              <a:rPr lang="ja-JP" altLang="en-US" sz="1050" b="1" dirty="0">
                <a:solidFill>
                  <a:srgbClr val="FFFFFF"/>
                </a:solidFill>
                <a:latin typeface="游ゴシック" panose="020B0400000000000000" pitchFamily="50" charset="-128"/>
                <a:ea typeface="游ゴシック" panose="020B0400000000000000" pitchFamily="50" charset="-128"/>
              </a:rPr>
              <a:t>私用</a:t>
            </a:r>
            <a:r>
              <a:rPr sz="1050" b="1" dirty="0" err="1">
                <a:solidFill>
                  <a:srgbClr val="FFFFFF"/>
                </a:solidFill>
                <a:latin typeface="游ゴシック" panose="020B0400000000000000" pitchFamily="50" charset="-128"/>
                <a:ea typeface="游ゴシック" panose="020B0400000000000000" pitchFamily="50" charset="-128"/>
              </a:rPr>
              <a:t>車両</a:t>
            </a:r>
            <a:r>
              <a:rPr lang="ja-JP" altLang="en-US" sz="1050" b="1" dirty="0">
                <a:solidFill>
                  <a:srgbClr val="FFFFFF"/>
                </a:solidFill>
                <a:latin typeface="游ゴシック" panose="020B0400000000000000" pitchFamily="50" charset="-128"/>
                <a:ea typeface="游ゴシック" panose="020B0400000000000000" pitchFamily="50" charset="-128"/>
              </a:rPr>
              <a:t>等</a:t>
            </a:r>
            <a:r>
              <a:rPr sz="1050" b="1" dirty="0">
                <a:solidFill>
                  <a:srgbClr val="FFFFFF"/>
                </a:solidFill>
                <a:latin typeface="游ゴシック" panose="020B0400000000000000" pitchFamily="50" charset="-128"/>
                <a:ea typeface="游ゴシック" panose="020B0400000000000000" pitchFamily="50" charset="-128"/>
              </a:rPr>
              <a:t>）</a:t>
            </a:r>
          </a:p>
        </p:txBody>
      </p:sp>
      <p:sp>
        <p:nvSpPr>
          <p:cNvPr id="37" name="TextBox 230">
            <a:extLst>
              <a:ext uri="{FF2B5EF4-FFF2-40B4-BE49-F238E27FC236}">
                <a16:creationId xmlns:a16="http://schemas.microsoft.com/office/drawing/2014/main" id="{1335DCF4-AC98-33FF-C316-DB0EE62687A5}"/>
              </a:ext>
            </a:extLst>
          </p:cNvPr>
          <p:cNvSpPr txBox="1"/>
          <p:nvPr/>
        </p:nvSpPr>
        <p:spPr>
          <a:xfrm>
            <a:off x="311150" y="6736198"/>
            <a:ext cx="8631936" cy="246221"/>
          </a:xfrm>
          <a:prstGeom prst="rect">
            <a:avLst/>
          </a:prstGeom>
          <a:noFill/>
        </p:spPr>
        <p:txBody>
          <a:bodyPr wrap="square">
            <a:spAutoFit/>
          </a:bodyPr>
          <a:lstStyle/>
          <a:p>
            <a:r>
              <a:rPr sz="1000" dirty="0">
                <a:solidFill>
                  <a:schemeClr val="tx1"/>
                </a:solidFill>
                <a:latin typeface="游ゴシック" panose="020B0400000000000000" pitchFamily="50" charset="-128"/>
                <a:ea typeface="游ゴシック" panose="020B0400000000000000" pitchFamily="50" charset="-128"/>
              </a:rPr>
              <a:t>※ </a:t>
            </a:r>
            <a:r>
              <a:rPr sz="1000" dirty="0" err="1">
                <a:solidFill>
                  <a:schemeClr val="tx1"/>
                </a:solidFill>
                <a:latin typeface="游ゴシック" panose="020B0400000000000000" pitchFamily="50" charset="-128"/>
                <a:ea typeface="游ゴシック" panose="020B0400000000000000" pitchFamily="50" charset="-128"/>
              </a:rPr>
              <a:t>分割の形態（分割型／分社型）及び分割対象資産の範囲は</a:t>
            </a:r>
            <a:r>
              <a:rPr sz="1000" dirty="0">
                <a:solidFill>
                  <a:schemeClr val="tx1"/>
                </a:solidFill>
                <a:latin typeface="游ゴシック" panose="020B0400000000000000" pitchFamily="50" charset="-128"/>
                <a:ea typeface="游ゴシック" panose="020B0400000000000000" pitchFamily="50" charset="-128"/>
              </a:rPr>
              <a:t>、</a:t>
            </a:r>
            <a:r>
              <a:rPr lang="ja-JP" altLang="en-US" sz="1000" dirty="0">
                <a:solidFill>
                  <a:schemeClr val="tx1"/>
                </a:solidFill>
                <a:latin typeface="游ゴシック" panose="020B0400000000000000" pitchFamily="50" charset="-128"/>
                <a:ea typeface="游ゴシック" panose="020B0400000000000000" pitchFamily="50" charset="-128"/>
              </a:rPr>
              <a:t>野口社長</a:t>
            </a:r>
            <a:r>
              <a:rPr sz="1000" dirty="0" err="1">
                <a:solidFill>
                  <a:schemeClr val="tx1"/>
                </a:solidFill>
                <a:latin typeface="游ゴシック" panose="020B0400000000000000" pitchFamily="50" charset="-128"/>
                <a:ea typeface="游ゴシック" panose="020B0400000000000000" pitchFamily="50" charset="-128"/>
              </a:rPr>
              <a:t>のご意向及び税務上の適格要件を踏まえ、今後の協議事項となります</a:t>
            </a:r>
            <a:r>
              <a:rPr sz="1000" dirty="0">
                <a:solidFill>
                  <a:schemeClr val="tx1"/>
                </a:solidFill>
                <a:latin typeface="游ゴシック" panose="020B0400000000000000" pitchFamily="50" charset="-128"/>
                <a:ea typeface="游ゴシック" panose="020B0400000000000000" pitchFamily="50" charset="-128"/>
              </a:rPr>
              <a:t>。</a:t>
            </a:r>
          </a:p>
        </p:txBody>
      </p:sp>
    </p:spTree>
    <p:extLst>
      <p:ext uri="{BB962C8B-B14F-4D97-AF65-F5344CB8AC3E}">
        <p14:creationId xmlns:p14="http://schemas.microsoft.com/office/powerpoint/2010/main" val="38277987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21E677-ACC7-5852-DFD3-C85050A87990}"/>
            </a:ext>
          </a:extLst>
        </p:cNvPr>
        <p:cNvGrpSpPr/>
        <p:nvPr/>
      </p:nvGrpSpPr>
      <p:grpSpPr>
        <a:xfrm>
          <a:off x="0" y="0"/>
          <a:ext cx="0" cy="0"/>
          <a:chOff x="0" y="0"/>
          <a:chExt cx="0" cy="0"/>
        </a:xfrm>
      </p:grpSpPr>
      <p:sp>
        <p:nvSpPr>
          <p:cNvPr id="14" name="字幕 13">
            <a:extLst>
              <a:ext uri="{FF2B5EF4-FFF2-40B4-BE49-F238E27FC236}">
                <a16:creationId xmlns:a16="http://schemas.microsoft.com/office/drawing/2014/main" id="{658A40E1-14F8-2C7C-DAC2-9B87C8B27DAA}"/>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panose="020B0400000000000000" pitchFamily="50" charset="-128"/>
                <a:ea typeface="游ゴシック" panose="020B0400000000000000" pitchFamily="50" charset="-128"/>
              </a:rPr>
              <a:t>令和</a:t>
            </a:r>
            <a:r>
              <a:rPr lang="en-US" altLang="ja-JP" dirty="0">
                <a:latin typeface="游ゴシック" panose="020B0400000000000000" pitchFamily="50" charset="-128"/>
                <a:ea typeface="游ゴシック" panose="020B0400000000000000" pitchFamily="50" charset="-128"/>
              </a:rPr>
              <a:t>8</a:t>
            </a:r>
            <a:r>
              <a:rPr lang="ja-JP" altLang="en-US" dirty="0">
                <a:latin typeface="游ゴシック" panose="020B0400000000000000" pitchFamily="50" charset="-128"/>
                <a:ea typeface="游ゴシック" panose="020B0400000000000000" pitchFamily="50" charset="-128"/>
              </a:rPr>
              <a:t>年</a:t>
            </a:r>
            <a:r>
              <a:rPr lang="en-US" altLang="ja-JP" dirty="0">
                <a:latin typeface="游ゴシック" panose="020B0400000000000000" pitchFamily="50" charset="-128"/>
                <a:ea typeface="游ゴシック" panose="020B0400000000000000" pitchFamily="50" charset="-128"/>
              </a:rPr>
              <a:t>1</a:t>
            </a:r>
            <a:r>
              <a:rPr lang="ja-JP" altLang="en-US" dirty="0">
                <a:latin typeface="游ゴシック" panose="020B0400000000000000" pitchFamily="50" charset="-128"/>
                <a:ea typeface="游ゴシック" panose="020B0400000000000000" pitchFamily="50" charset="-128"/>
              </a:rPr>
              <a:t>月期末（</a:t>
            </a:r>
            <a:r>
              <a:rPr lang="en-US" altLang="ja-JP" dirty="0">
                <a:latin typeface="游ゴシック" panose="020B0400000000000000" pitchFamily="50" charset="-128"/>
                <a:ea typeface="游ゴシック" panose="020B0400000000000000" pitchFamily="50" charset="-128"/>
              </a:rPr>
              <a:t>2026</a:t>
            </a:r>
            <a:r>
              <a:rPr lang="ja-JP" altLang="en-US" dirty="0">
                <a:latin typeface="游ゴシック" panose="020B0400000000000000" pitchFamily="50" charset="-128"/>
                <a:ea typeface="游ゴシック" panose="020B0400000000000000" pitchFamily="50" charset="-128"/>
              </a:rPr>
              <a:t>年</a:t>
            </a:r>
            <a:r>
              <a:rPr lang="en-US" altLang="ja-JP" dirty="0">
                <a:latin typeface="游ゴシック" panose="020B0400000000000000" pitchFamily="50" charset="-128"/>
                <a:ea typeface="游ゴシック" panose="020B0400000000000000" pitchFamily="50" charset="-128"/>
              </a:rPr>
              <a:t>1</a:t>
            </a:r>
            <a:r>
              <a:rPr lang="ja-JP" altLang="en-US" dirty="0">
                <a:latin typeface="游ゴシック" panose="020B0400000000000000" pitchFamily="50" charset="-128"/>
                <a:ea typeface="游ゴシック" panose="020B0400000000000000" pitchFamily="50" charset="-128"/>
              </a:rPr>
              <a:t>月</a:t>
            </a:r>
            <a:r>
              <a:rPr lang="en-US" altLang="ja-JP" dirty="0">
                <a:latin typeface="游ゴシック" panose="020B0400000000000000" pitchFamily="50" charset="-128"/>
                <a:ea typeface="游ゴシック" panose="020B0400000000000000" pitchFamily="50" charset="-128"/>
              </a:rPr>
              <a:t>31</a:t>
            </a:r>
            <a:r>
              <a:rPr lang="ja-JP" altLang="en-US" dirty="0">
                <a:latin typeface="游ゴシック" panose="020B0400000000000000" pitchFamily="50" charset="-128"/>
                <a:ea typeface="游ゴシック" panose="020B0400000000000000" pitchFamily="50" charset="-128"/>
              </a:rPr>
              <a:t>日）</a:t>
            </a:r>
            <a:r>
              <a:rPr lang="en-US" altLang="ja-JP" dirty="0">
                <a:latin typeface="游ゴシック" panose="020B0400000000000000" pitchFamily="50" charset="-128"/>
                <a:ea typeface="游ゴシック" panose="020B0400000000000000" pitchFamily="50" charset="-128"/>
              </a:rPr>
              <a:t>BS</a:t>
            </a:r>
            <a:r>
              <a:rPr lang="ja-JP" altLang="en-US" dirty="0">
                <a:latin typeface="游ゴシック" panose="020B0400000000000000" pitchFamily="50" charset="-128"/>
                <a:ea typeface="游ゴシック" panose="020B0400000000000000" pitchFamily="50" charset="-128"/>
              </a:rPr>
              <a:t>をベースに、新設分割により非事業用資産（投資有価証券・保険積立金・車両運搬具）を新設会社へ承継予定。対象会社には事業用資産及び負債を残置し、現預金も全額残置する前提。</a:t>
            </a:r>
            <a:endParaRPr lang="en-US" altLang="ja-JP" dirty="0">
              <a:latin typeface="游ゴシック" panose="020B0400000000000000" pitchFamily="50" charset="-128"/>
              <a:ea typeface="游ゴシック" panose="020B0400000000000000" pitchFamily="50" charset="-128"/>
            </a:endParaRPr>
          </a:p>
        </p:txBody>
      </p:sp>
      <p:sp>
        <p:nvSpPr>
          <p:cNvPr id="13" name="タイトル 12">
            <a:extLst>
              <a:ext uri="{FF2B5EF4-FFF2-40B4-BE49-F238E27FC236}">
                <a16:creationId xmlns:a16="http://schemas.microsoft.com/office/drawing/2014/main" id="{0DBE834C-A4F7-8C19-37D2-F083D9834E6F}"/>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rPr>
              <a:t>会社分割スキームの前提整理</a:t>
            </a:r>
          </a:p>
        </p:txBody>
      </p:sp>
      <p:sp>
        <p:nvSpPr>
          <p:cNvPr id="5" name="タイトル 1">
            <a:extLst>
              <a:ext uri="{FF2B5EF4-FFF2-40B4-BE49-F238E27FC236}">
                <a16:creationId xmlns:a16="http://schemas.microsoft.com/office/drawing/2014/main" id="{D84B8FE4-D437-F5A7-4998-C113D7DF03AB}"/>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latin typeface="游ゴシック" panose="020B0400000000000000" pitchFamily="50" charset="-128"/>
                <a:ea typeface="游ゴシック" panose="020B0400000000000000" pitchFamily="50" charset="-128"/>
              </a:rPr>
              <a:t>エグゼクティブサマリー</a:t>
            </a:r>
          </a:p>
        </p:txBody>
      </p:sp>
      <p:sp>
        <p:nvSpPr>
          <p:cNvPr id="3" name="Rectangle 207">
            <a:extLst>
              <a:ext uri="{FF2B5EF4-FFF2-40B4-BE49-F238E27FC236}">
                <a16:creationId xmlns:a16="http://schemas.microsoft.com/office/drawing/2014/main" id="{B9932332-23A0-6BA1-1448-7C4C634E4D4A}"/>
              </a:ext>
            </a:extLst>
          </p:cNvPr>
          <p:cNvSpPr/>
          <p:nvPr/>
        </p:nvSpPr>
        <p:spPr>
          <a:xfrm>
            <a:off x="767615" y="2261808"/>
            <a:ext cx="3000052" cy="4023360"/>
          </a:xfrm>
          <a:prstGeom prst="rect">
            <a:avLst/>
          </a:prstGeom>
          <a:solidFill>
            <a:srgbClr val="FFFFFF"/>
          </a:solidFill>
          <a:ln w="15875">
            <a:solidFill>
              <a:srgbClr val="203864"/>
            </a:solidFill>
          </a:ln>
          <a:effectLst/>
        </p:spPr>
        <p:style>
          <a:lnRef idx="1">
            <a:schemeClr val="accent1"/>
          </a:lnRef>
          <a:fillRef idx="3">
            <a:schemeClr val="accent1"/>
          </a:fillRef>
          <a:effectRef idx="2">
            <a:schemeClr val="accent1"/>
          </a:effectRef>
          <a:fontRef idx="minor">
            <a:schemeClr val="lt1"/>
          </a:fontRef>
        </p:style>
        <p:txBody>
          <a:bodyPr wrap="square" lIns="54000" tIns="27000" rIns="54000" bIns="27000" rtlCol="0" anchor="t"/>
          <a:lstStyle/>
          <a:p>
            <a:pPr algn="l"/>
            <a:endParaRPr sz="2000">
              <a:latin typeface="游ゴシック" panose="020B0400000000000000" pitchFamily="50" charset="-128"/>
              <a:ea typeface="游ゴシック" panose="020B0400000000000000" pitchFamily="50" charset="-128"/>
            </a:endParaRPr>
          </a:p>
        </p:txBody>
      </p:sp>
      <p:sp>
        <p:nvSpPr>
          <p:cNvPr id="6" name="Rectangle 208">
            <a:extLst>
              <a:ext uri="{FF2B5EF4-FFF2-40B4-BE49-F238E27FC236}">
                <a16:creationId xmlns:a16="http://schemas.microsoft.com/office/drawing/2014/main" id="{C7DDC0C1-7D16-165F-340A-691FF678B402}"/>
              </a:ext>
            </a:extLst>
          </p:cNvPr>
          <p:cNvSpPr/>
          <p:nvPr/>
        </p:nvSpPr>
        <p:spPr>
          <a:xfrm>
            <a:off x="767615" y="2261808"/>
            <a:ext cx="3000052" cy="384048"/>
          </a:xfrm>
          <a:prstGeom prst="rect">
            <a:avLst/>
          </a:prstGeom>
          <a:solidFill>
            <a:srgbClr val="203864"/>
          </a:solid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wrap="square" lIns="54000" tIns="27000" rIns="54000" bIns="27000" rtlCol="0" anchor="ctr"/>
          <a:lstStyle/>
          <a:p>
            <a:pPr algn="ctr"/>
            <a:r>
              <a:rPr lang="ja-JP" sz="1200" b="1" dirty="0">
                <a:solidFill>
                  <a:srgbClr val="FFFFFF"/>
                </a:solidFill>
                <a:latin typeface="游ゴシック" panose="020B0400000000000000" pitchFamily="50" charset="-128"/>
                <a:ea typeface="游ゴシック" panose="020B0400000000000000" pitchFamily="50" charset="-128"/>
              </a:rPr>
              <a:t>現状｜株式会社カナリア</a:t>
            </a:r>
          </a:p>
        </p:txBody>
      </p:sp>
      <p:sp>
        <p:nvSpPr>
          <p:cNvPr id="8" name="TextBox 209">
            <a:extLst>
              <a:ext uri="{FF2B5EF4-FFF2-40B4-BE49-F238E27FC236}">
                <a16:creationId xmlns:a16="http://schemas.microsoft.com/office/drawing/2014/main" id="{E07D3592-713E-F2A7-2C81-D4F52F1970EF}"/>
              </a:ext>
            </a:extLst>
          </p:cNvPr>
          <p:cNvSpPr txBox="1"/>
          <p:nvPr/>
        </p:nvSpPr>
        <p:spPr>
          <a:xfrm>
            <a:off x="804191" y="2791628"/>
            <a:ext cx="2963476" cy="1916576"/>
          </a:xfrm>
          <a:prstGeom prst="rect">
            <a:avLst/>
          </a:prstGeom>
          <a:noFill/>
        </p:spPr>
        <p:txBody>
          <a:bodyPr wrap="square" lIns="54000" tIns="27000" rIns="54000" bIns="27000" anchor="t">
            <a:spAutoFit/>
          </a:bodyPr>
          <a:lstStyle/>
          <a:p>
            <a:pPr algn="l"/>
            <a:r>
              <a:rPr lang="ja-JP" sz="1100" b="0" dirty="0">
                <a:solidFill>
                  <a:srgbClr val="000000"/>
                </a:solidFill>
                <a:latin typeface="游ゴシック" panose="020B0400000000000000" pitchFamily="50" charset="-128"/>
                <a:ea typeface="游ゴシック" panose="020B0400000000000000" pitchFamily="50" charset="-128"/>
              </a:rPr>
              <a:t>① キャラクターグッズ企画・製造販売事業</a:t>
            </a:r>
          </a:p>
          <a:p>
            <a:pPr algn="l"/>
            <a:r>
              <a:rPr lang="ja-JP" sz="1100" b="0" dirty="0">
                <a:solidFill>
                  <a:srgbClr val="000000"/>
                </a:solidFill>
                <a:latin typeface="游ゴシック" panose="020B0400000000000000" pitchFamily="50" charset="-128"/>
                <a:ea typeface="游ゴシック" panose="020B0400000000000000" pitchFamily="50" charset="-128"/>
              </a:rPr>
              <a:t>　（ライセンス／版権商品）</a:t>
            </a:r>
          </a:p>
          <a:p>
            <a:pPr algn="l"/>
            <a:r>
              <a:rPr lang="ja-JP" sz="1100" b="0" dirty="0">
                <a:solidFill>
                  <a:srgbClr val="000000"/>
                </a:solidFill>
                <a:latin typeface="游ゴシック" panose="020B0400000000000000" pitchFamily="50" charset="-128"/>
                <a:ea typeface="游ゴシック" panose="020B0400000000000000" pitchFamily="50" charset="-128"/>
              </a:rPr>
              <a:t>② OEM受託事業</a:t>
            </a:r>
          </a:p>
          <a:p>
            <a:pPr algn="l"/>
            <a:r>
              <a:rPr lang="ja-JP" sz="1100" b="0" dirty="0">
                <a:solidFill>
                  <a:srgbClr val="000000"/>
                </a:solidFill>
                <a:latin typeface="游ゴシック" panose="020B0400000000000000" pitchFamily="50" charset="-128"/>
                <a:ea typeface="游ゴシック" panose="020B0400000000000000" pitchFamily="50" charset="-128"/>
              </a:rPr>
              <a:t>③ 非事業用資産の保有</a:t>
            </a:r>
          </a:p>
          <a:p>
            <a:pPr algn="l"/>
            <a:r>
              <a:rPr lang="ja-JP" sz="1100" b="0" dirty="0">
                <a:solidFill>
                  <a:srgbClr val="000000"/>
                </a:solidFill>
                <a:latin typeface="游ゴシック" panose="020B0400000000000000" pitchFamily="50" charset="-128"/>
                <a:ea typeface="游ゴシック" panose="020B0400000000000000" pitchFamily="50" charset="-128"/>
              </a:rPr>
              <a:t>─────────────</a:t>
            </a:r>
          </a:p>
          <a:p>
            <a:pPr algn="l"/>
            <a:r>
              <a:rPr lang="ja-JP" sz="1100" b="0" dirty="0">
                <a:solidFill>
                  <a:srgbClr val="000000"/>
                </a:solidFill>
                <a:latin typeface="游ゴシック" panose="020B0400000000000000" pitchFamily="50" charset="-128"/>
                <a:ea typeface="游ゴシック" panose="020B0400000000000000" pitchFamily="50" charset="-128"/>
              </a:rPr>
              <a:t>現預金 193,226千円</a:t>
            </a:r>
          </a:p>
          <a:p>
            <a:pPr algn="l"/>
            <a:r>
              <a:rPr lang="ja-JP" sz="1100" b="0" dirty="0">
                <a:solidFill>
                  <a:srgbClr val="000000"/>
                </a:solidFill>
                <a:latin typeface="游ゴシック" panose="020B0400000000000000" pitchFamily="50" charset="-128"/>
                <a:ea typeface="游ゴシック" panose="020B0400000000000000" pitchFamily="50" charset="-128"/>
              </a:rPr>
              <a:t>投資有価証券 275,896千円</a:t>
            </a:r>
          </a:p>
          <a:p>
            <a:pPr algn="l"/>
            <a:r>
              <a:rPr lang="ja-JP" sz="1100" b="0" dirty="0">
                <a:solidFill>
                  <a:srgbClr val="000000"/>
                </a:solidFill>
                <a:latin typeface="游ゴシック" panose="020B0400000000000000" pitchFamily="50" charset="-128"/>
                <a:ea typeface="游ゴシック" panose="020B0400000000000000" pitchFamily="50" charset="-128"/>
              </a:rPr>
              <a:t>保険積立金 43,327千円</a:t>
            </a:r>
          </a:p>
          <a:p>
            <a:pPr algn="l"/>
            <a:r>
              <a:rPr lang="ja-JP" sz="1100" b="0" dirty="0">
                <a:solidFill>
                  <a:srgbClr val="000000"/>
                </a:solidFill>
                <a:latin typeface="游ゴシック" panose="020B0400000000000000" pitchFamily="50" charset="-128"/>
                <a:ea typeface="游ゴシック" panose="020B0400000000000000" pitchFamily="50" charset="-128"/>
              </a:rPr>
              <a:t>車両運搬具 265千円</a:t>
            </a:r>
          </a:p>
          <a:p>
            <a:pPr algn="l"/>
            <a:r>
              <a:rPr lang="ja-JP" sz="1100" b="0" dirty="0">
                <a:solidFill>
                  <a:srgbClr val="000000"/>
                </a:solidFill>
                <a:latin typeface="游ゴシック" panose="020B0400000000000000" pitchFamily="50" charset="-128"/>
                <a:ea typeface="游ゴシック" panose="020B0400000000000000" pitchFamily="50" charset="-128"/>
              </a:rPr>
              <a:t>借入金 187,808千円</a:t>
            </a:r>
          </a:p>
          <a:p>
            <a:pPr algn="l"/>
            <a:r>
              <a:rPr lang="ja-JP" sz="1100" b="0" dirty="0">
                <a:solidFill>
                  <a:srgbClr val="000000"/>
                </a:solidFill>
                <a:latin typeface="游ゴシック" panose="020B0400000000000000" pitchFamily="50" charset="-128"/>
                <a:ea typeface="游ゴシック" panose="020B0400000000000000" pitchFamily="50" charset="-128"/>
              </a:rPr>
              <a:t>その他資産・負債</a:t>
            </a:r>
          </a:p>
        </p:txBody>
      </p:sp>
      <p:sp>
        <p:nvSpPr>
          <p:cNvPr id="10" name="Right Arrow 210">
            <a:extLst>
              <a:ext uri="{FF2B5EF4-FFF2-40B4-BE49-F238E27FC236}">
                <a16:creationId xmlns:a16="http://schemas.microsoft.com/office/drawing/2014/main" id="{3E9F9558-9466-E6AE-1984-E4CDEB282F5D}"/>
              </a:ext>
            </a:extLst>
          </p:cNvPr>
          <p:cNvSpPr/>
          <p:nvPr/>
        </p:nvSpPr>
        <p:spPr>
          <a:xfrm>
            <a:off x="4211108" y="3907728"/>
            <a:ext cx="868680" cy="685800"/>
          </a:xfrm>
          <a:prstGeom prst="rightArrow">
            <a:avLst/>
          </a:prstGeom>
          <a:solidFill>
            <a:srgbClr val="D9E2F3"/>
          </a:solid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wrap="square" lIns="54000" tIns="27000" rIns="54000" bIns="27000" rtlCol="0" anchor="ctr"/>
          <a:lstStyle/>
          <a:p>
            <a:pPr algn="ctr"/>
            <a:r>
              <a:rPr lang="ja-JP" sz="1100" b="1" dirty="0">
                <a:solidFill>
                  <a:srgbClr val="203864"/>
                </a:solidFill>
                <a:latin typeface="游ゴシック" panose="020B0400000000000000" pitchFamily="50" charset="-128"/>
                <a:ea typeface="游ゴシック" panose="020B0400000000000000" pitchFamily="50" charset="-128"/>
              </a:rPr>
              <a:t>新設分割</a:t>
            </a:r>
          </a:p>
        </p:txBody>
      </p:sp>
      <p:sp>
        <p:nvSpPr>
          <p:cNvPr id="12" name="Rectangle 211">
            <a:extLst>
              <a:ext uri="{FF2B5EF4-FFF2-40B4-BE49-F238E27FC236}">
                <a16:creationId xmlns:a16="http://schemas.microsoft.com/office/drawing/2014/main" id="{F60AC12B-9A92-48AC-4FD2-98D312386351}"/>
              </a:ext>
            </a:extLst>
          </p:cNvPr>
          <p:cNvSpPr/>
          <p:nvPr/>
        </p:nvSpPr>
        <p:spPr>
          <a:xfrm>
            <a:off x="5407348" y="2261808"/>
            <a:ext cx="4663440" cy="2103120"/>
          </a:xfrm>
          <a:prstGeom prst="rect">
            <a:avLst/>
          </a:prstGeom>
          <a:solidFill>
            <a:srgbClr val="D9E2F3"/>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wrap="square" lIns="54000" tIns="27000" rIns="54000" bIns="27000" rtlCol="0" anchor="t"/>
          <a:lstStyle/>
          <a:p>
            <a:pPr algn="l"/>
            <a:endParaRPr sz="2000">
              <a:latin typeface="游ゴシック" panose="020B0400000000000000" pitchFamily="50" charset="-128"/>
              <a:ea typeface="游ゴシック" panose="020B0400000000000000" pitchFamily="50" charset="-128"/>
            </a:endParaRPr>
          </a:p>
        </p:txBody>
      </p:sp>
      <p:sp>
        <p:nvSpPr>
          <p:cNvPr id="16" name="Rectangle 212">
            <a:extLst>
              <a:ext uri="{FF2B5EF4-FFF2-40B4-BE49-F238E27FC236}">
                <a16:creationId xmlns:a16="http://schemas.microsoft.com/office/drawing/2014/main" id="{2C18D348-17BD-EC93-FE52-E23DA5B733B5}"/>
              </a:ext>
            </a:extLst>
          </p:cNvPr>
          <p:cNvSpPr/>
          <p:nvPr/>
        </p:nvSpPr>
        <p:spPr>
          <a:xfrm>
            <a:off x="5407348" y="2261808"/>
            <a:ext cx="4663440" cy="384048"/>
          </a:xfrm>
          <a:prstGeom prst="rect">
            <a:avLst/>
          </a:prstGeom>
          <a:solidFill>
            <a:srgbClr val="203864"/>
          </a:solid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wrap="square" lIns="54000" tIns="27000" rIns="54000" bIns="27000" rtlCol="0" anchor="ctr"/>
          <a:lstStyle/>
          <a:p>
            <a:pPr algn="ctr"/>
            <a:r>
              <a:rPr lang="ja-JP" sz="1200" b="1" dirty="0">
                <a:solidFill>
                  <a:srgbClr val="FFFFFF"/>
                </a:solidFill>
                <a:latin typeface="游ゴシック" panose="020B0400000000000000" pitchFamily="50" charset="-128"/>
                <a:ea typeface="游ゴシック" panose="020B0400000000000000" pitchFamily="50" charset="-128"/>
              </a:rPr>
              <a:t>対象会社（株式会社カナリア）｜株式100%譲渡</a:t>
            </a:r>
          </a:p>
        </p:txBody>
      </p:sp>
      <p:sp>
        <p:nvSpPr>
          <p:cNvPr id="18" name="TextBox 213">
            <a:extLst>
              <a:ext uri="{FF2B5EF4-FFF2-40B4-BE49-F238E27FC236}">
                <a16:creationId xmlns:a16="http://schemas.microsoft.com/office/drawing/2014/main" id="{416B79B9-CD3C-F06E-6489-E3A1BB1DFB46}"/>
              </a:ext>
            </a:extLst>
          </p:cNvPr>
          <p:cNvSpPr txBox="1"/>
          <p:nvPr/>
        </p:nvSpPr>
        <p:spPr>
          <a:xfrm>
            <a:off x="5544508" y="2719008"/>
            <a:ext cx="4434840" cy="900913"/>
          </a:xfrm>
          <a:prstGeom prst="rect">
            <a:avLst/>
          </a:prstGeom>
          <a:noFill/>
        </p:spPr>
        <p:txBody>
          <a:bodyPr wrap="square" lIns="54000" tIns="27000" rIns="54000" bIns="27000" anchor="t">
            <a:spAutoFit/>
          </a:bodyPr>
          <a:lstStyle/>
          <a:p>
            <a:pPr algn="l"/>
            <a:r>
              <a:rPr lang="ja-JP" sz="1100" b="0" dirty="0">
                <a:solidFill>
                  <a:srgbClr val="000000"/>
                </a:solidFill>
                <a:latin typeface="游ゴシック" panose="020B0400000000000000" pitchFamily="50" charset="-128"/>
                <a:ea typeface="游ゴシック" panose="020B0400000000000000" pitchFamily="50" charset="-128"/>
              </a:rPr>
              <a:t>・キャラクターグッズ企画・製造販売／OEM受託事業</a:t>
            </a:r>
          </a:p>
          <a:p>
            <a:pPr algn="l"/>
            <a:r>
              <a:rPr lang="ja-JP" sz="1100" b="0" dirty="0">
                <a:solidFill>
                  <a:srgbClr val="000000"/>
                </a:solidFill>
                <a:latin typeface="游ゴシック" panose="020B0400000000000000" pitchFamily="50" charset="-128"/>
                <a:ea typeface="游ゴシック" panose="020B0400000000000000" pitchFamily="50" charset="-128"/>
              </a:rPr>
              <a:t>　（従業員・取引先契約・事業用資産）</a:t>
            </a:r>
          </a:p>
          <a:p>
            <a:pPr algn="l"/>
            <a:r>
              <a:rPr lang="ja-JP" sz="1100" b="0" dirty="0">
                <a:solidFill>
                  <a:srgbClr val="000000"/>
                </a:solidFill>
                <a:latin typeface="游ゴシック" panose="020B0400000000000000" pitchFamily="50" charset="-128"/>
                <a:ea typeface="游ゴシック" panose="020B0400000000000000" pitchFamily="50" charset="-128"/>
              </a:rPr>
              <a:t>・現預金 193,226千円（全額残置）</a:t>
            </a:r>
          </a:p>
          <a:p>
            <a:pPr algn="l"/>
            <a:r>
              <a:rPr lang="ja-JP" sz="1100" b="0" dirty="0">
                <a:solidFill>
                  <a:srgbClr val="000000"/>
                </a:solidFill>
                <a:latin typeface="游ゴシック" panose="020B0400000000000000" pitchFamily="50" charset="-128"/>
                <a:ea typeface="游ゴシック" panose="020B0400000000000000" pitchFamily="50" charset="-128"/>
              </a:rPr>
              <a:t>・借入金 187,808千円ほか負債を残置</a:t>
            </a:r>
          </a:p>
          <a:p>
            <a:pPr algn="l"/>
            <a:r>
              <a:rPr lang="ja-JP" sz="1100" b="0" dirty="0">
                <a:solidFill>
                  <a:srgbClr val="000000"/>
                </a:solidFill>
                <a:latin typeface="游ゴシック" panose="020B0400000000000000" pitchFamily="50" charset="-128"/>
                <a:ea typeface="游ゴシック" panose="020B0400000000000000" pitchFamily="50" charset="-128"/>
              </a:rPr>
              <a:t>　→ ネットキャッシュ ＋5,418千円</a:t>
            </a:r>
          </a:p>
        </p:txBody>
      </p:sp>
      <p:sp>
        <p:nvSpPr>
          <p:cNvPr id="20" name="Rectangle 214">
            <a:extLst>
              <a:ext uri="{FF2B5EF4-FFF2-40B4-BE49-F238E27FC236}">
                <a16:creationId xmlns:a16="http://schemas.microsoft.com/office/drawing/2014/main" id="{521B143B-046A-BD2F-0F98-F75618EAC405}"/>
              </a:ext>
            </a:extLst>
          </p:cNvPr>
          <p:cNvSpPr/>
          <p:nvPr/>
        </p:nvSpPr>
        <p:spPr>
          <a:xfrm>
            <a:off x="5407348" y="4593528"/>
            <a:ext cx="4663440" cy="1691640"/>
          </a:xfrm>
          <a:prstGeom prst="rect">
            <a:avLst/>
          </a:prstGeom>
          <a:solidFill>
            <a:srgbClr val="F2F2F2"/>
          </a:solidFill>
          <a:ln w="15875">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54000" tIns="27000" rIns="54000" bIns="27000" rtlCol="0" anchor="t"/>
          <a:lstStyle/>
          <a:p>
            <a:pPr algn="l"/>
            <a:endParaRPr sz="2000">
              <a:latin typeface="游ゴシック" panose="020B0400000000000000" pitchFamily="50" charset="-128"/>
              <a:ea typeface="游ゴシック" panose="020B0400000000000000" pitchFamily="50" charset="-128"/>
            </a:endParaRPr>
          </a:p>
        </p:txBody>
      </p:sp>
      <p:sp>
        <p:nvSpPr>
          <p:cNvPr id="22" name="Rectangle 215">
            <a:extLst>
              <a:ext uri="{FF2B5EF4-FFF2-40B4-BE49-F238E27FC236}">
                <a16:creationId xmlns:a16="http://schemas.microsoft.com/office/drawing/2014/main" id="{70115902-F548-75B0-25C1-B7F1BD8F3D35}"/>
              </a:ext>
            </a:extLst>
          </p:cNvPr>
          <p:cNvSpPr/>
          <p:nvPr/>
        </p:nvSpPr>
        <p:spPr>
          <a:xfrm>
            <a:off x="5407348" y="4593528"/>
            <a:ext cx="4663440" cy="384048"/>
          </a:xfrm>
          <a:prstGeom prst="rect">
            <a:avLst/>
          </a:prstGeom>
          <a:solidFill>
            <a:srgbClr val="595959"/>
          </a:solidFill>
          <a:ln w="12700">
            <a:solidFill>
              <a:srgbClr val="595959"/>
            </a:solidFill>
          </a:ln>
          <a:effectLst/>
        </p:spPr>
        <p:style>
          <a:lnRef idx="1">
            <a:schemeClr val="accent1"/>
          </a:lnRef>
          <a:fillRef idx="3">
            <a:schemeClr val="accent1"/>
          </a:fillRef>
          <a:effectRef idx="2">
            <a:schemeClr val="accent1"/>
          </a:effectRef>
          <a:fontRef idx="minor">
            <a:schemeClr val="lt1"/>
          </a:fontRef>
        </p:style>
        <p:txBody>
          <a:bodyPr wrap="square" lIns="54000" tIns="27000" rIns="54000" bIns="27000" rtlCol="0" anchor="ctr"/>
          <a:lstStyle/>
          <a:p>
            <a:pPr algn="ctr"/>
            <a:r>
              <a:rPr lang="ja-JP" sz="1200" b="1" dirty="0">
                <a:solidFill>
                  <a:srgbClr val="FFFFFF"/>
                </a:solidFill>
                <a:latin typeface="游ゴシック" panose="020B0400000000000000" pitchFamily="50" charset="-128"/>
                <a:ea typeface="游ゴシック" panose="020B0400000000000000" pitchFamily="50" charset="-128"/>
              </a:rPr>
              <a:t>新設会社（売主</a:t>
            </a:r>
            <a:r>
              <a:rPr lang="ja-JP" altLang="en-US" sz="1200" b="1" dirty="0">
                <a:solidFill>
                  <a:srgbClr val="FFFFFF"/>
                </a:solidFill>
                <a:latin typeface="游ゴシック" panose="020B0400000000000000" pitchFamily="50" charset="-128"/>
                <a:ea typeface="游ゴシック" panose="020B0400000000000000" pitchFamily="50" charset="-128"/>
              </a:rPr>
              <a:t>様</a:t>
            </a:r>
            <a:r>
              <a:rPr lang="ja-JP" sz="1200" b="1" dirty="0">
                <a:solidFill>
                  <a:srgbClr val="FFFFFF"/>
                </a:solidFill>
                <a:latin typeface="游ゴシック" panose="020B0400000000000000" pitchFamily="50" charset="-128"/>
                <a:ea typeface="游ゴシック" panose="020B0400000000000000" pitchFamily="50" charset="-128"/>
              </a:rPr>
              <a:t>側に残置）</a:t>
            </a:r>
          </a:p>
        </p:txBody>
      </p:sp>
      <p:sp>
        <p:nvSpPr>
          <p:cNvPr id="24" name="TextBox 216">
            <a:extLst>
              <a:ext uri="{FF2B5EF4-FFF2-40B4-BE49-F238E27FC236}">
                <a16:creationId xmlns:a16="http://schemas.microsoft.com/office/drawing/2014/main" id="{037C70A6-3F1B-AF3B-755A-AE003B1D8967}"/>
              </a:ext>
            </a:extLst>
          </p:cNvPr>
          <p:cNvSpPr txBox="1"/>
          <p:nvPr/>
        </p:nvSpPr>
        <p:spPr>
          <a:xfrm>
            <a:off x="5544508" y="5050728"/>
            <a:ext cx="4434840" cy="900913"/>
          </a:xfrm>
          <a:prstGeom prst="rect">
            <a:avLst/>
          </a:prstGeom>
          <a:noFill/>
        </p:spPr>
        <p:txBody>
          <a:bodyPr wrap="square" lIns="54000" tIns="27000" rIns="54000" bIns="27000" anchor="t">
            <a:spAutoFit/>
          </a:bodyPr>
          <a:lstStyle/>
          <a:p>
            <a:pPr algn="l"/>
            <a:r>
              <a:rPr lang="ja-JP" sz="1100" b="0" dirty="0">
                <a:solidFill>
                  <a:srgbClr val="000000"/>
                </a:solidFill>
                <a:latin typeface="游ゴシック" panose="020B0400000000000000" pitchFamily="50" charset="-128"/>
                <a:ea typeface="游ゴシック" panose="020B0400000000000000" pitchFamily="50" charset="-128"/>
              </a:rPr>
              <a:t>・非事業用資産の保有</a:t>
            </a:r>
          </a:p>
          <a:p>
            <a:pPr algn="l"/>
            <a:r>
              <a:rPr lang="ja-JP" sz="1100" b="0" dirty="0">
                <a:solidFill>
                  <a:srgbClr val="000000"/>
                </a:solidFill>
                <a:latin typeface="游ゴシック" panose="020B0400000000000000" pitchFamily="50" charset="-128"/>
                <a:ea typeface="游ゴシック" panose="020B0400000000000000" pitchFamily="50" charset="-128"/>
              </a:rPr>
              <a:t>・投資有価証券 275,896千円</a:t>
            </a:r>
          </a:p>
          <a:p>
            <a:pPr algn="l"/>
            <a:r>
              <a:rPr lang="ja-JP" sz="1100" b="0" dirty="0">
                <a:solidFill>
                  <a:srgbClr val="000000"/>
                </a:solidFill>
                <a:latin typeface="游ゴシック" panose="020B0400000000000000" pitchFamily="50" charset="-128"/>
                <a:ea typeface="游ゴシック" panose="020B0400000000000000" pitchFamily="50" charset="-128"/>
              </a:rPr>
              <a:t>・保険積立金 43,327千円</a:t>
            </a:r>
          </a:p>
          <a:p>
            <a:pPr algn="l"/>
            <a:r>
              <a:rPr lang="ja-JP" sz="1100" b="0" dirty="0">
                <a:solidFill>
                  <a:srgbClr val="000000"/>
                </a:solidFill>
                <a:latin typeface="游ゴシック" panose="020B0400000000000000" pitchFamily="50" charset="-128"/>
                <a:ea typeface="游ゴシック" panose="020B0400000000000000" pitchFamily="50" charset="-128"/>
              </a:rPr>
              <a:t>・車両運搬具 265千円</a:t>
            </a:r>
          </a:p>
          <a:p>
            <a:pPr algn="l"/>
            <a:r>
              <a:rPr lang="ja-JP" sz="1100" b="0" dirty="0">
                <a:solidFill>
                  <a:srgbClr val="000000"/>
                </a:solidFill>
                <a:latin typeface="游ゴシック" panose="020B0400000000000000" pitchFamily="50" charset="-128"/>
                <a:ea typeface="游ゴシック" panose="020B0400000000000000" pitchFamily="50" charset="-128"/>
              </a:rPr>
              <a:t>・負債 なし</a:t>
            </a:r>
          </a:p>
        </p:txBody>
      </p:sp>
      <p:sp>
        <p:nvSpPr>
          <p:cNvPr id="27" name="正方形/長方形 26">
            <a:extLst>
              <a:ext uri="{FF2B5EF4-FFF2-40B4-BE49-F238E27FC236}">
                <a16:creationId xmlns:a16="http://schemas.microsoft.com/office/drawing/2014/main" id="{CEE7C8B2-6441-24FF-6E43-A2AF2E300DF6}"/>
              </a:ext>
            </a:extLst>
          </p:cNvPr>
          <p:cNvSpPr/>
          <p:nvPr/>
        </p:nvSpPr>
        <p:spPr>
          <a:xfrm>
            <a:off x="5265018" y="2060463"/>
            <a:ext cx="4928135" cy="2450945"/>
          </a:xfrm>
          <a:prstGeom prst="rect">
            <a:avLst/>
          </a:prstGeom>
          <a:noFill/>
          <a:l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TextBox 209">
            <a:extLst>
              <a:ext uri="{FF2B5EF4-FFF2-40B4-BE49-F238E27FC236}">
                <a16:creationId xmlns:a16="http://schemas.microsoft.com/office/drawing/2014/main" id="{AF8AD273-F1D9-0A30-EF91-2A9BDD792ABA}"/>
              </a:ext>
            </a:extLst>
          </p:cNvPr>
          <p:cNvSpPr txBox="1"/>
          <p:nvPr/>
        </p:nvSpPr>
        <p:spPr>
          <a:xfrm>
            <a:off x="5265018" y="1749432"/>
            <a:ext cx="2963476" cy="269971"/>
          </a:xfrm>
          <a:prstGeom prst="rect">
            <a:avLst/>
          </a:prstGeom>
          <a:noFill/>
        </p:spPr>
        <p:txBody>
          <a:bodyPr wrap="square" lIns="54000" tIns="27000" rIns="54000" bIns="27000" anchor="t">
            <a:spAutoFit/>
          </a:bodyPr>
          <a:lstStyle/>
          <a:p>
            <a:pPr algn="l"/>
            <a:r>
              <a:rPr lang="ja-JP" altLang="en-US" sz="1400" b="1" u="sng" dirty="0">
                <a:solidFill>
                  <a:srgbClr val="C00000"/>
                </a:solidFill>
                <a:latin typeface="游ゴシック" panose="020B0400000000000000" pitchFamily="50" charset="-128"/>
                <a:ea typeface="游ゴシック" panose="020B0400000000000000" pitchFamily="50" charset="-128"/>
              </a:rPr>
              <a:t>本件譲渡対象</a:t>
            </a:r>
            <a:endParaRPr lang="ja-JP" sz="1400" b="1" u="sng" dirty="0">
              <a:solidFill>
                <a:srgbClr val="C00000"/>
              </a:solidFill>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27416130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8EF9F-B9BD-9E7E-BA2C-5A4B51173A7F}"/>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7780A147-C248-92F8-8F3F-25BD76E0BC3B}"/>
              </a:ext>
            </a:extLst>
          </p:cNvPr>
          <p:cNvSpPr>
            <a:spLocks noGrp="1"/>
          </p:cNvSpPr>
          <p:nvPr>
            <p:ph type="ctrTitle"/>
          </p:nvPr>
        </p:nvSpPr>
        <p:spPr>
          <a:xfrm>
            <a:off x="311150" y="180296"/>
            <a:ext cx="7799917" cy="339267"/>
          </a:xfrm>
        </p:spPr>
        <p:txBody>
          <a:bodyPr>
            <a:normAutofit/>
          </a:bodyPr>
          <a:lstStyle/>
          <a:p>
            <a:r>
              <a:rPr lang="ja-JP" altLang="en-US" dirty="0"/>
              <a:t>財務ハイライト（</a:t>
            </a:r>
            <a:r>
              <a:rPr lang="en-US" altLang="ja-JP" dirty="0"/>
              <a:t>P/L</a:t>
            </a:r>
            <a:r>
              <a:rPr lang="ja-JP" altLang="en-US" dirty="0"/>
              <a:t>）</a:t>
            </a:r>
          </a:p>
        </p:txBody>
      </p:sp>
      <p:sp>
        <p:nvSpPr>
          <p:cNvPr id="5" name="タイトル 1">
            <a:extLst>
              <a:ext uri="{FF2B5EF4-FFF2-40B4-BE49-F238E27FC236}">
                <a16:creationId xmlns:a16="http://schemas.microsoft.com/office/drawing/2014/main" id="{BE8912DE-7392-DA52-DCED-61F45ED11AC6}"/>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エグゼクティブサマリー</a:t>
            </a:r>
          </a:p>
        </p:txBody>
      </p:sp>
      <p:sp>
        <p:nvSpPr>
          <p:cNvPr id="16" name="字幕 13">
            <a:extLst>
              <a:ext uri="{FF2B5EF4-FFF2-40B4-BE49-F238E27FC236}">
                <a16:creationId xmlns:a16="http://schemas.microsoft.com/office/drawing/2014/main" id="{7A1881B5-EF3F-935A-CE45-EAB497D19AED}"/>
              </a:ext>
            </a:extLst>
          </p:cNvPr>
          <p:cNvSpPr>
            <a:spLocks noGrp="1"/>
          </p:cNvSpPr>
          <p:nvPr>
            <p:ph type="subTitle" idx="1"/>
          </p:nvPr>
        </p:nvSpPr>
        <p:spPr>
          <a:xfrm>
            <a:off x="460675" y="830046"/>
            <a:ext cx="9781875" cy="241861"/>
          </a:xfrm>
        </p:spPr>
        <p:txBody>
          <a:bodyPr>
            <a:noAutofit/>
          </a:bodyPr>
          <a:lstStyle/>
          <a:p>
            <a:r>
              <a:rPr>
                <a:latin typeface="+mj-ea"/>
                <a:ea typeface="+mj-ea"/>
              </a:rPr>
              <a:t>令和7年1月期に売上・利益が大きく伸長し、令和8年1月期も売上高422百万円・営業利益58百万円と高水準を維持。営業利益率13.9%、償却負担も小さく安定した収益力を確保しています。</a:t>
            </a:r>
            <a:endParaRPr lang="en-US" altLang="ja-JP" dirty="0">
              <a:latin typeface="+mj-ea"/>
            </a:endParaRPr>
          </a:p>
        </p:txBody>
      </p:sp>
      <p:sp>
        <p:nvSpPr>
          <p:cNvPr id="2" name="正方形/長方形 1">
            <a:extLst>
              <a:ext uri="{FF2B5EF4-FFF2-40B4-BE49-F238E27FC236}">
                <a16:creationId xmlns:a16="http://schemas.microsoft.com/office/drawing/2014/main" id="{22D7A017-71F2-4035-677D-AF49C1C280D6}"/>
              </a:ext>
            </a:extLst>
          </p:cNvPr>
          <p:cNvSpPr/>
          <p:nvPr/>
        </p:nvSpPr>
        <p:spPr>
          <a:xfrm>
            <a:off x="6455664" y="4604592"/>
            <a:ext cx="3924999" cy="2539157"/>
          </a:xfrm>
          <a:prstGeom prst="rect">
            <a:avLst/>
          </a:prstGeom>
          <a:solidFill>
            <a:schemeClr val="accent2"/>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nSpc>
                <a:spcPct val="150000"/>
              </a:lnSpc>
            </a:pPr>
            <a:endParaRPr kumimoji="1" lang="en-US" altLang="ja-JP" sz="1200" b="1" dirty="0">
              <a:solidFill>
                <a:schemeClr val="tx1"/>
              </a:solidFill>
              <a:latin typeface="+mn-ea"/>
            </a:endParaRPr>
          </a:p>
        </p:txBody>
      </p:sp>
      <p:sp>
        <p:nvSpPr>
          <p:cNvPr id="8" name="正方形/長方形 7">
            <a:extLst>
              <a:ext uri="{FF2B5EF4-FFF2-40B4-BE49-F238E27FC236}">
                <a16:creationId xmlns:a16="http://schemas.microsoft.com/office/drawing/2014/main" id="{CBD334A9-999C-ACD4-9DD2-EF961CBA0926}"/>
              </a:ext>
            </a:extLst>
          </p:cNvPr>
          <p:cNvSpPr/>
          <p:nvPr/>
        </p:nvSpPr>
        <p:spPr>
          <a:xfrm>
            <a:off x="6455664" y="1382390"/>
            <a:ext cx="3924999" cy="3106739"/>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sp>
        <p:nvSpPr>
          <p:cNvPr id="9" name="テキスト ボックス 8">
            <a:extLst>
              <a:ext uri="{FF2B5EF4-FFF2-40B4-BE49-F238E27FC236}">
                <a16:creationId xmlns:a16="http://schemas.microsoft.com/office/drawing/2014/main" id="{E5084622-1D6B-783F-80DE-6D9A498C7C12}"/>
              </a:ext>
            </a:extLst>
          </p:cNvPr>
          <p:cNvSpPr txBox="1"/>
          <p:nvPr/>
        </p:nvSpPr>
        <p:spPr>
          <a:xfrm>
            <a:off x="6455664" y="1949972"/>
            <a:ext cx="3912257" cy="2539157"/>
          </a:xfrm>
          <a:prstGeom prst="rect">
            <a:avLst/>
          </a:prstGeom>
          <a:noFill/>
        </p:spPr>
        <p:txBody>
          <a:bodyPr wrap="square" lIns="288000" tIns="0" rIns="252000" bIns="0" rtlCol="0">
            <a:spAutoFit/>
          </a:bodyPr>
          <a:lstStyle/>
          <a:p>
            <a:r>
              <a:rPr sz="1050">
                <a:latin typeface="+mn-ea"/>
                <a:ea typeface="+mn-ea"/>
              </a:rPr>
              <a:t>≪売上≫</a:t>
            </a:r>
            <a:endParaRPr kumimoji="1" lang="en-US" altLang="ja-JP" sz="1100" dirty="0">
              <a:solidFill>
                <a:schemeClr val="tx1"/>
              </a:solidFill>
              <a:latin typeface="+mn-ea"/>
              <a:ea typeface="+mn-ea"/>
            </a:endParaRPr>
          </a:p>
          <a:p>
            <a:r>
              <a:rPr sz="1050">
                <a:latin typeface="+mn-ea"/>
                <a:ea typeface="+mn-ea"/>
              </a:rPr>
              <a:t>・令和7年1月期に大型IP案件で443百万円へ拡大、令和8年1月期は422百万円と高水準を維持</a:t>
            </a:r>
          </a:p>
          <a:p>
            <a:endParaRPr sz="1050">
              <a:latin typeface="+mn-ea"/>
              <a:ea typeface="+mn-ea"/>
            </a:endParaRPr>
          </a:p>
          <a:p>
            <a:r>
              <a:rPr sz="1050">
                <a:latin typeface="+mn-ea"/>
                <a:ea typeface="+mn-ea"/>
              </a:rPr>
              <a:t>≪売上総利益≫</a:t>
            </a:r>
          </a:p>
          <a:p>
            <a:r>
              <a:rPr sz="1050">
                <a:latin typeface="+mn-ea"/>
                <a:ea typeface="+mn-ea"/>
              </a:rPr>
              <a:t>・粗利率は概ね33〜40%。製造委託中心の身軽なコスト構造</a:t>
            </a:r>
          </a:p>
          <a:p>
            <a:endParaRPr sz="1050">
              <a:latin typeface="+mn-ea"/>
              <a:ea typeface="+mn-ea"/>
            </a:endParaRPr>
          </a:p>
          <a:p>
            <a:r>
              <a:rPr sz="1050">
                <a:latin typeface="+mn-ea"/>
                <a:ea typeface="+mn-ea"/>
              </a:rPr>
              <a:t>≪営業利益≫</a:t>
            </a:r>
          </a:p>
          <a:p>
            <a:r>
              <a:rPr sz="1050">
                <a:latin typeface="+mn-ea"/>
                <a:ea typeface="+mn-ea"/>
              </a:rPr>
              <a:t>・令和8年1月期は58百万円（利益率13.9%）。少数精鋭による高い一人当たり収益性</a:t>
            </a:r>
          </a:p>
          <a:p>
            <a:endParaRPr sz="1050">
              <a:latin typeface="+mn-ea"/>
              <a:ea typeface="+mn-ea"/>
            </a:endParaRPr>
          </a:p>
          <a:p>
            <a:r>
              <a:rPr sz="1050">
                <a:latin typeface="+mn-ea"/>
                <a:ea typeface="+mn-ea"/>
              </a:rPr>
              <a:t>≪ご参考≫</a:t>
            </a:r>
          </a:p>
          <a:p>
            <a:r>
              <a:rPr sz="1050">
                <a:latin typeface="+mn-ea"/>
                <a:ea typeface="+mn-ea"/>
              </a:rPr>
              <a:t>・進行期(令和9年1月期)は5ヶ月実績のみ受領。通期見通しはヒアリング予定</a:t>
            </a:r>
          </a:p>
        </p:txBody>
      </p:sp>
      <p:sp>
        <p:nvSpPr>
          <p:cNvPr id="10" name="テキスト ボックス 9">
            <a:extLst>
              <a:ext uri="{FF2B5EF4-FFF2-40B4-BE49-F238E27FC236}">
                <a16:creationId xmlns:a16="http://schemas.microsoft.com/office/drawing/2014/main" id="{9CE926BB-0658-93C0-4CB2-D9073D01110E}"/>
              </a:ext>
            </a:extLst>
          </p:cNvPr>
          <p:cNvSpPr txBox="1"/>
          <p:nvPr/>
        </p:nvSpPr>
        <p:spPr>
          <a:xfrm>
            <a:off x="6468406" y="5029312"/>
            <a:ext cx="3912257" cy="1862048"/>
          </a:xfrm>
          <a:prstGeom prst="rect">
            <a:avLst/>
          </a:prstGeom>
          <a:noFill/>
        </p:spPr>
        <p:txBody>
          <a:bodyPr wrap="square" lIns="288000" tIns="0" rIns="252000" bIns="0" rtlCol="0">
            <a:spAutoFit/>
          </a:bodyPr>
          <a:lstStyle/>
          <a:p>
            <a:r>
              <a:rPr sz="1050">
                <a:latin typeface="+mn-ea"/>
                <a:ea typeface="+mn-ea"/>
              </a:rPr>
              <a:t>【EBITDA・正常収益力】</a:t>
            </a:r>
          </a:p>
          <a:p>
            <a:r>
              <a:rPr sz="1050">
                <a:latin typeface="+mn-ea"/>
                <a:ea typeface="+mn-ea"/>
              </a:rPr>
              <a:t>・減価償却費は1,183千円と小さく、営業利益≒キャッシュ創出力</a:t>
            </a:r>
          </a:p>
          <a:p>
            <a:r>
              <a:rPr sz="1050">
                <a:latin typeface="+mn-ea"/>
                <a:ea typeface="+mn-ea"/>
              </a:rPr>
              <a:t>・役員賞与20,000千円等の正常化余地は評価書にて精査予定</a:t>
            </a:r>
          </a:p>
          <a:p>
            <a:r>
              <a:rPr sz="1050">
                <a:latin typeface="+mn-ea"/>
                <a:ea typeface="+mn-ea"/>
              </a:rPr>
              <a:t>・調整後EBITDAは正常化調整を反映のうえ別途確定</a:t>
            </a:r>
          </a:p>
        </p:txBody>
      </p:sp>
      <p:graphicFrame>
        <p:nvGraphicFramePr>
          <p:cNvPr id="17" name="Table 16"/>
          <p:cNvGraphicFramePr>
            <a:graphicFrameLocks noGrp="1"/>
          </p:cNvGraphicFramePr>
          <p:nvPr/>
        </p:nvGraphicFramePr>
        <p:xfrm>
          <a:off x="309600" y="1655999"/>
          <a:ext cx="6040800" cy="3312000"/>
        </p:xfrm>
        <a:graphic>
          <a:graphicData uri="http://schemas.openxmlformats.org/drawingml/2006/table">
            <a:tbl>
              <a:tblPr>
                <a:tableStyleId>{5C22544A-7EE6-4342-B048-85BDC9FD1C3A}</a:tableStyleId>
              </a:tblPr>
              <a:tblGrid>
                <a:gridCol w="2224800">
                  <a:extLst>
                    <a:ext uri="{9D8B030D-6E8A-4147-A177-3AD203B41FA5}">
                      <a16:colId xmlns:a16="http://schemas.microsoft.com/office/drawing/2014/main" val="20000"/>
                    </a:ext>
                  </a:extLst>
                </a:gridCol>
                <a:gridCol w="1270800">
                  <a:extLst>
                    <a:ext uri="{9D8B030D-6E8A-4147-A177-3AD203B41FA5}">
                      <a16:colId xmlns:a16="http://schemas.microsoft.com/office/drawing/2014/main" val="20001"/>
                    </a:ext>
                  </a:extLst>
                </a:gridCol>
                <a:gridCol w="1270800">
                  <a:extLst>
                    <a:ext uri="{9D8B030D-6E8A-4147-A177-3AD203B41FA5}">
                      <a16:colId xmlns:a16="http://schemas.microsoft.com/office/drawing/2014/main" val="20002"/>
                    </a:ext>
                  </a:extLst>
                </a:gridCol>
                <a:gridCol w="1274400">
                  <a:extLst>
                    <a:ext uri="{9D8B030D-6E8A-4147-A177-3AD203B41FA5}">
                      <a16:colId xmlns:a16="http://schemas.microsoft.com/office/drawing/2014/main" val="20003"/>
                    </a:ext>
                  </a:extLst>
                </a:gridCol>
              </a:tblGrid>
              <a:tr h="368000">
                <a:tc>
                  <a:txBody>
                    <a:bodyPr/>
                    <a:lstStyle/>
                    <a:p>
                      <a:pPr algn="ctr"/>
                      <a:r>
                        <a:rPr sz="1000" b="1">
                          <a:solidFill>
                            <a:srgbClr val="FFFFFF"/>
                          </a:solidFill>
                          <a:latin typeface="游ゴシック"/>
                          <a:ea typeface="游ゴシック"/>
                        </a:rPr>
                        <a:t>決算期</a:t>
                      </a:r>
                    </a:p>
                  </a:txBody>
                  <a:tcPr marL="36000" marR="36000" marT="7200" marB="7200" anchor="ctr">
                    <a:solidFill>
                      <a:srgbClr val="0B3041"/>
                    </a:solidFill>
                  </a:tcPr>
                </a:tc>
                <a:tc>
                  <a:txBody>
                    <a:bodyPr/>
                    <a:lstStyle/>
                    <a:p>
                      <a:pPr algn="ctr"/>
                      <a:r>
                        <a:rPr sz="1000" b="1">
                          <a:solidFill>
                            <a:srgbClr val="FFFFFF"/>
                          </a:solidFill>
                          <a:latin typeface="游ゴシック"/>
                          <a:ea typeface="游ゴシック"/>
                        </a:rPr>
                        <a:t>令和6年
1月期</a:t>
                      </a:r>
                    </a:p>
                  </a:txBody>
                  <a:tcPr marL="36000" marR="36000" marT="7200" marB="7200" anchor="ctr">
                    <a:solidFill>
                      <a:srgbClr val="0B3041"/>
                    </a:solidFill>
                  </a:tcPr>
                </a:tc>
                <a:tc>
                  <a:txBody>
                    <a:bodyPr/>
                    <a:lstStyle/>
                    <a:p>
                      <a:pPr algn="ctr"/>
                      <a:r>
                        <a:rPr sz="1000" b="1">
                          <a:solidFill>
                            <a:srgbClr val="FFFFFF"/>
                          </a:solidFill>
                          <a:latin typeface="游ゴシック"/>
                          <a:ea typeface="游ゴシック"/>
                        </a:rPr>
                        <a:t>令和7年
1月期</a:t>
                      </a:r>
                    </a:p>
                  </a:txBody>
                  <a:tcPr marL="36000" marR="36000" marT="7200" marB="7200" anchor="ctr">
                    <a:solidFill>
                      <a:srgbClr val="0B3041"/>
                    </a:solidFill>
                  </a:tcPr>
                </a:tc>
                <a:tc>
                  <a:txBody>
                    <a:bodyPr/>
                    <a:lstStyle/>
                    <a:p>
                      <a:pPr algn="ctr"/>
                      <a:r>
                        <a:rPr sz="1000" b="1">
                          <a:solidFill>
                            <a:srgbClr val="FFFFFF"/>
                          </a:solidFill>
                          <a:latin typeface="游ゴシック"/>
                          <a:ea typeface="游ゴシック"/>
                        </a:rPr>
                        <a:t>令和8年
1月期</a:t>
                      </a:r>
                    </a:p>
                  </a:txBody>
                  <a:tcPr marL="36000" marR="36000" marT="7200" marB="7200" anchor="ctr">
                    <a:solidFill>
                      <a:srgbClr val="0B3041"/>
                    </a:solidFill>
                  </a:tcPr>
                </a:tc>
                <a:extLst>
                  <a:ext uri="{0D108BD9-81ED-4DB2-BD59-A6C34878D82A}">
                    <a16:rowId xmlns:a16="http://schemas.microsoft.com/office/drawing/2014/main" val="10000"/>
                  </a:ext>
                </a:extLst>
              </a:tr>
              <a:tr h="368000">
                <a:tc>
                  <a:txBody>
                    <a:bodyPr/>
                    <a:lstStyle/>
                    <a:p>
                      <a:pPr algn="l"/>
                      <a:r>
                        <a:rPr sz="1000" b="0">
                          <a:solidFill>
                            <a:srgbClr val="0B3041"/>
                          </a:solidFill>
                          <a:latin typeface="游ゴシック"/>
                          <a:ea typeface="游ゴシック"/>
                        </a:rPr>
                        <a:t>売上高</a:t>
                      </a:r>
                    </a:p>
                  </a:txBody>
                  <a:tcPr marL="36000" marR="36000" marT="7200" marB="7200" anchor="ctr">
                    <a:solidFill>
                      <a:srgbClr val="FFFFFF"/>
                    </a:solidFill>
                  </a:tcPr>
                </a:tc>
                <a:tc>
                  <a:txBody>
                    <a:bodyPr/>
                    <a:lstStyle/>
                    <a:p>
                      <a:pPr algn="r"/>
                      <a:r>
                        <a:rPr sz="1000" b="0">
                          <a:solidFill>
                            <a:srgbClr val="0B3041"/>
                          </a:solidFill>
                          <a:latin typeface="游ゴシック"/>
                          <a:ea typeface="游ゴシック"/>
                        </a:rPr>
                        <a:t>316,755</a:t>
                      </a:r>
                    </a:p>
                  </a:txBody>
                  <a:tcPr marL="36000" marR="36000" marT="7200" marB="7200" anchor="ctr">
                    <a:solidFill>
                      <a:srgbClr val="FFFFFF"/>
                    </a:solidFill>
                  </a:tcPr>
                </a:tc>
                <a:tc>
                  <a:txBody>
                    <a:bodyPr/>
                    <a:lstStyle/>
                    <a:p>
                      <a:pPr algn="r"/>
                      <a:r>
                        <a:rPr sz="1000" b="0">
                          <a:solidFill>
                            <a:srgbClr val="0B3041"/>
                          </a:solidFill>
                          <a:latin typeface="游ゴシック"/>
                          <a:ea typeface="游ゴシック"/>
                        </a:rPr>
                        <a:t>443,868</a:t>
                      </a:r>
                    </a:p>
                  </a:txBody>
                  <a:tcPr marL="36000" marR="36000" marT="7200" marB="7200" anchor="ctr">
                    <a:solidFill>
                      <a:srgbClr val="FFFFFF"/>
                    </a:solidFill>
                  </a:tcPr>
                </a:tc>
                <a:tc>
                  <a:txBody>
                    <a:bodyPr/>
                    <a:lstStyle/>
                    <a:p>
                      <a:pPr algn="r"/>
                      <a:r>
                        <a:rPr sz="1000" b="0">
                          <a:solidFill>
                            <a:srgbClr val="0B3041"/>
                          </a:solidFill>
                          <a:latin typeface="游ゴシック"/>
                          <a:ea typeface="游ゴシック"/>
                        </a:rPr>
                        <a:t>422,475</a:t>
                      </a:r>
                    </a:p>
                  </a:txBody>
                  <a:tcPr marL="36000" marR="36000" marT="7200" marB="7200" anchor="ctr">
                    <a:solidFill>
                      <a:srgbClr val="FFFFFF"/>
                    </a:solidFill>
                  </a:tcPr>
                </a:tc>
                <a:extLst>
                  <a:ext uri="{0D108BD9-81ED-4DB2-BD59-A6C34878D82A}">
                    <a16:rowId xmlns:a16="http://schemas.microsoft.com/office/drawing/2014/main" val="10001"/>
                  </a:ext>
                </a:extLst>
              </a:tr>
              <a:tr h="368000">
                <a:tc>
                  <a:txBody>
                    <a:bodyPr/>
                    <a:lstStyle/>
                    <a:p>
                      <a:pPr algn="l"/>
                      <a:r>
                        <a:rPr sz="1000" b="0">
                          <a:solidFill>
                            <a:srgbClr val="0B3041"/>
                          </a:solidFill>
                          <a:latin typeface="游ゴシック"/>
                          <a:ea typeface="游ゴシック"/>
                        </a:rPr>
                        <a:t>売上総利益</a:t>
                      </a:r>
                    </a:p>
                  </a:txBody>
                  <a:tcPr marL="36000" marR="36000" marT="7200" marB="7200" anchor="ctr">
                    <a:solidFill>
                      <a:srgbClr val="F4F7F9"/>
                    </a:solidFill>
                  </a:tcPr>
                </a:tc>
                <a:tc>
                  <a:txBody>
                    <a:bodyPr/>
                    <a:lstStyle/>
                    <a:p>
                      <a:pPr algn="r"/>
                      <a:r>
                        <a:rPr sz="1000" b="0">
                          <a:solidFill>
                            <a:srgbClr val="0B3041"/>
                          </a:solidFill>
                          <a:latin typeface="游ゴシック"/>
                          <a:ea typeface="游ゴシック"/>
                        </a:rPr>
                        <a:t>103,555</a:t>
                      </a:r>
                    </a:p>
                  </a:txBody>
                  <a:tcPr marL="36000" marR="36000" marT="7200" marB="7200" anchor="ctr">
                    <a:solidFill>
                      <a:srgbClr val="F4F7F9"/>
                    </a:solidFill>
                  </a:tcPr>
                </a:tc>
                <a:tc>
                  <a:txBody>
                    <a:bodyPr/>
                    <a:lstStyle/>
                    <a:p>
                      <a:pPr algn="r"/>
                      <a:r>
                        <a:rPr sz="1000" b="0">
                          <a:solidFill>
                            <a:srgbClr val="0B3041"/>
                          </a:solidFill>
                          <a:latin typeface="游ゴシック"/>
                          <a:ea typeface="游ゴシック"/>
                        </a:rPr>
                        <a:t>178,926</a:t>
                      </a:r>
                    </a:p>
                  </a:txBody>
                  <a:tcPr marL="36000" marR="36000" marT="7200" marB="7200" anchor="ctr">
                    <a:solidFill>
                      <a:srgbClr val="F4F7F9"/>
                    </a:solidFill>
                  </a:tcPr>
                </a:tc>
                <a:tc>
                  <a:txBody>
                    <a:bodyPr/>
                    <a:lstStyle/>
                    <a:p>
                      <a:pPr algn="r"/>
                      <a:r>
                        <a:rPr sz="1000" b="0">
                          <a:solidFill>
                            <a:srgbClr val="0B3041"/>
                          </a:solidFill>
                          <a:latin typeface="游ゴシック"/>
                          <a:ea typeface="游ゴシック"/>
                        </a:rPr>
                        <a:t>150,803</a:t>
                      </a:r>
                    </a:p>
                  </a:txBody>
                  <a:tcPr marL="36000" marR="36000" marT="7200" marB="7200" anchor="ctr">
                    <a:solidFill>
                      <a:srgbClr val="F4F7F9"/>
                    </a:solidFill>
                  </a:tcPr>
                </a:tc>
                <a:extLst>
                  <a:ext uri="{0D108BD9-81ED-4DB2-BD59-A6C34878D82A}">
                    <a16:rowId xmlns:a16="http://schemas.microsoft.com/office/drawing/2014/main" val="10002"/>
                  </a:ext>
                </a:extLst>
              </a:tr>
              <a:tr h="368000">
                <a:tc>
                  <a:txBody>
                    <a:bodyPr/>
                    <a:lstStyle/>
                    <a:p>
                      <a:pPr algn="l"/>
                      <a:r>
                        <a:rPr sz="1000" b="0">
                          <a:solidFill>
                            <a:srgbClr val="0B3041"/>
                          </a:solidFill>
                          <a:latin typeface="游ゴシック"/>
                          <a:ea typeface="游ゴシック"/>
                        </a:rPr>
                        <a:t>　売上総利益率</a:t>
                      </a:r>
                    </a:p>
                  </a:txBody>
                  <a:tcPr marL="36000" marR="36000" marT="7200" marB="7200" anchor="ctr">
                    <a:solidFill>
                      <a:srgbClr val="FFFFFF"/>
                    </a:solidFill>
                  </a:tcPr>
                </a:tc>
                <a:tc>
                  <a:txBody>
                    <a:bodyPr/>
                    <a:lstStyle/>
                    <a:p>
                      <a:pPr algn="r"/>
                      <a:r>
                        <a:rPr sz="1000" b="0">
                          <a:solidFill>
                            <a:srgbClr val="0B3041"/>
                          </a:solidFill>
                          <a:latin typeface="游ゴシック"/>
                          <a:ea typeface="游ゴシック"/>
                        </a:rPr>
                        <a:t>32.7%</a:t>
                      </a:r>
                    </a:p>
                  </a:txBody>
                  <a:tcPr marL="36000" marR="36000" marT="7200" marB="7200" anchor="ctr">
                    <a:solidFill>
                      <a:srgbClr val="FFFFFF"/>
                    </a:solidFill>
                  </a:tcPr>
                </a:tc>
                <a:tc>
                  <a:txBody>
                    <a:bodyPr/>
                    <a:lstStyle/>
                    <a:p>
                      <a:pPr algn="r"/>
                      <a:r>
                        <a:rPr sz="1000" b="0">
                          <a:solidFill>
                            <a:srgbClr val="0B3041"/>
                          </a:solidFill>
                          <a:latin typeface="游ゴシック"/>
                          <a:ea typeface="游ゴシック"/>
                        </a:rPr>
                        <a:t>40.3%</a:t>
                      </a:r>
                    </a:p>
                  </a:txBody>
                  <a:tcPr marL="36000" marR="36000" marT="7200" marB="7200" anchor="ctr">
                    <a:solidFill>
                      <a:srgbClr val="FFFFFF"/>
                    </a:solidFill>
                  </a:tcPr>
                </a:tc>
                <a:tc>
                  <a:txBody>
                    <a:bodyPr/>
                    <a:lstStyle/>
                    <a:p>
                      <a:pPr algn="r"/>
                      <a:r>
                        <a:rPr sz="1000" b="0">
                          <a:solidFill>
                            <a:srgbClr val="0B3041"/>
                          </a:solidFill>
                          <a:latin typeface="游ゴシック"/>
                          <a:ea typeface="游ゴシック"/>
                        </a:rPr>
                        <a:t>35.7%</a:t>
                      </a:r>
                    </a:p>
                  </a:txBody>
                  <a:tcPr marL="36000" marR="36000" marT="7200" marB="7200" anchor="ctr">
                    <a:solidFill>
                      <a:srgbClr val="FFFFFF"/>
                    </a:solidFill>
                  </a:tcPr>
                </a:tc>
                <a:extLst>
                  <a:ext uri="{0D108BD9-81ED-4DB2-BD59-A6C34878D82A}">
                    <a16:rowId xmlns:a16="http://schemas.microsoft.com/office/drawing/2014/main" val="10003"/>
                  </a:ext>
                </a:extLst>
              </a:tr>
              <a:tr h="368000">
                <a:tc>
                  <a:txBody>
                    <a:bodyPr/>
                    <a:lstStyle/>
                    <a:p>
                      <a:pPr algn="l"/>
                      <a:r>
                        <a:rPr sz="1000" b="1">
                          <a:solidFill>
                            <a:srgbClr val="0B3041"/>
                          </a:solidFill>
                          <a:latin typeface="游ゴシック"/>
                          <a:ea typeface="游ゴシック"/>
                        </a:rPr>
                        <a:t>営業利益</a:t>
                      </a:r>
                    </a:p>
                  </a:txBody>
                  <a:tcPr marL="36000" marR="36000" marT="7200" marB="7200" anchor="ctr">
                    <a:solidFill>
                      <a:srgbClr val="E3E7E9"/>
                    </a:solidFill>
                  </a:tcPr>
                </a:tc>
                <a:tc>
                  <a:txBody>
                    <a:bodyPr/>
                    <a:lstStyle/>
                    <a:p>
                      <a:pPr algn="r"/>
                      <a:r>
                        <a:rPr sz="1000" b="1">
                          <a:solidFill>
                            <a:srgbClr val="0B3041"/>
                          </a:solidFill>
                          <a:latin typeface="游ゴシック"/>
                          <a:ea typeface="游ゴシック"/>
                        </a:rPr>
                        <a:t>6,159</a:t>
                      </a:r>
                    </a:p>
                  </a:txBody>
                  <a:tcPr marL="36000" marR="36000" marT="7200" marB="7200" anchor="ctr">
                    <a:solidFill>
                      <a:srgbClr val="E3E7E9"/>
                    </a:solidFill>
                  </a:tcPr>
                </a:tc>
                <a:tc>
                  <a:txBody>
                    <a:bodyPr/>
                    <a:lstStyle/>
                    <a:p>
                      <a:pPr algn="r"/>
                      <a:r>
                        <a:rPr sz="1000" b="1">
                          <a:solidFill>
                            <a:srgbClr val="0B3041"/>
                          </a:solidFill>
                          <a:latin typeface="游ゴシック"/>
                          <a:ea typeface="游ゴシック"/>
                        </a:rPr>
                        <a:t>78,191</a:t>
                      </a:r>
                    </a:p>
                  </a:txBody>
                  <a:tcPr marL="36000" marR="36000" marT="7200" marB="7200" anchor="ctr">
                    <a:solidFill>
                      <a:srgbClr val="E3E7E9"/>
                    </a:solidFill>
                  </a:tcPr>
                </a:tc>
                <a:tc>
                  <a:txBody>
                    <a:bodyPr/>
                    <a:lstStyle/>
                    <a:p>
                      <a:pPr algn="r"/>
                      <a:r>
                        <a:rPr sz="1000" b="1">
                          <a:solidFill>
                            <a:srgbClr val="0B3041"/>
                          </a:solidFill>
                          <a:latin typeface="游ゴシック"/>
                          <a:ea typeface="游ゴシック"/>
                        </a:rPr>
                        <a:t>58,514</a:t>
                      </a:r>
                    </a:p>
                  </a:txBody>
                  <a:tcPr marL="36000" marR="36000" marT="7200" marB="7200" anchor="ctr">
                    <a:solidFill>
                      <a:srgbClr val="E3E7E9"/>
                    </a:solidFill>
                  </a:tcPr>
                </a:tc>
                <a:extLst>
                  <a:ext uri="{0D108BD9-81ED-4DB2-BD59-A6C34878D82A}">
                    <a16:rowId xmlns:a16="http://schemas.microsoft.com/office/drawing/2014/main" val="10004"/>
                  </a:ext>
                </a:extLst>
              </a:tr>
              <a:tr h="368000">
                <a:tc>
                  <a:txBody>
                    <a:bodyPr/>
                    <a:lstStyle/>
                    <a:p>
                      <a:pPr algn="l"/>
                      <a:r>
                        <a:rPr sz="1000" b="0">
                          <a:solidFill>
                            <a:srgbClr val="0B3041"/>
                          </a:solidFill>
                          <a:latin typeface="游ゴシック"/>
                          <a:ea typeface="游ゴシック"/>
                        </a:rPr>
                        <a:t>　営業利益率</a:t>
                      </a:r>
                    </a:p>
                  </a:txBody>
                  <a:tcPr marL="36000" marR="36000" marT="7200" marB="7200" anchor="ctr">
                    <a:solidFill>
                      <a:srgbClr val="FFFFFF"/>
                    </a:solidFill>
                  </a:tcPr>
                </a:tc>
                <a:tc>
                  <a:txBody>
                    <a:bodyPr/>
                    <a:lstStyle/>
                    <a:p>
                      <a:pPr algn="r"/>
                      <a:r>
                        <a:rPr sz="1000" b="0">
                          <a:solidFill>
                            <a:srgbClr val="0B3041"/>
                          </a:solidFill>
                          <a:latin typeface="游ゴシック"/>
                          <a:ea typeface="游ゴシック"/>
                        </a:rPr>
                        <a:t>1.9%</a:t>
                      </a:r>
                    </a:p>
                  </a:txBody>
                  <a:tcPr marL="36000" marR="36000" marT="7200" marB="7200" anchor="ctr">
                    <a:solidFill>
                      <a:srgbClr val="FFFFFF"/>
                    </a:solidFill>
                  </a:tcPr>
                </a:tc>
                <a:tc>
                  <a:txBody>
                    <a:bodyPr/>
                    <a:lstStyle/>
                    <a:p>
                      <a:pPr algn="r"/>
                      <a:r>
                        <a:rPr sz="1000" b="0">
                          <a:solidFill>
                            <a:srgbClr val="0B3041"/>
                          </a:solidFill>
                          <a:latin typeface="游ゴシック"/>
                          <a:ea typeface="游ゴシック"/>
                        </a:rPr>
                        <a:t>17.6%</a:t>
                      </a:r>
                    </a:p>
                  </a:txBody>
                  <a:tcPr marL="36000" marR="36000" marT="7200" marB="7200" anchor="ctr">
                    <a:solidFill>
                      <a:srgbClr val="FFFFFF"/>
                    </a:solidFill>
                  </a:tcPr>
                </a:tc>
                <a:tc>
                  <a:txBody>
                    <a:bodyPr/>
                    <a:lstStyle/>
                    <a:p>
                      <a:pPr algn="r"/>
                      <a:r>
                        <a:rPr sz="1000" b="0">
                          <a:solidFill>
                            <a:srgbClr val="0B3041"/>
                          </a:solidFill>
                          <a:latin typeface="游ゴシック"/>
                          <a:ea typeface="游ゴシック"/>
                        </a:rPr>
                        <a:t>13.9%</a:t>
                      </a:r>
                    </a:p>
                  </a:txBody>
                  <a:tcPr marL="36000" marR="36000" marT="7200" marB="7200" anchor="ctr">
                    <a:solidFill>
                      <a:srgbClr val="FFFFFF"/>
                    </a:solidFill>
                  </a:tcPr>
                </a:tc>
                <a:extLst>
                  <a:ext uri="{0D108BD9-81ED-4DB2-BD59-A6C34878D82A}">
                    <a16:rowId xmlns:a16="http://schemas.microsoft.com/office/drawing/2014/main" val="10005"/>
                  </a:ext>
                </a:extLst>
              </a:tr>
              <a:tr h="368000">
                <a:tc>
                  <a:txBody>
                    <a:bodyPr/>
                    <a:lstStyle/>
                    <a:p>
                      <a:pPr algn="l"/>
                      <a:r>
                        <a:rPr sz="1000" b="0">
                          <a:solidFill>
                            <a:srgbClr val="0B3041"/>
                          </a:solidFill>
                          <a:latin typeface="游ゴシック"/>
                          <a:ea typeface="游ゴシック"/>
                        </a:rPr>
                        <a:t>経常利益</a:t>
                      </a:r>
                    </a:p>
                  </a:txBody>
                  <a:tcPr marL="36000" marR="36000" marT="7200" marB="7200" anchor="ctr">
                    <a:solidFill>
                      <a:srgbClr val="F4F7F9"/>
                    </a:solidFill>
                  </a:tcPr>
                </a:tc>
                <a:tc>
                  <a:txBody>
                    <a:bodyPr/>
                    <a:lstStyle/>
                    <a:p>
                      <a:pPr algn="r"/>
                      <a:r>
                        <a:rPr sz="1000" b="0">
                          <a:solidFill>
                            <a:srgbClr val="0B3041"/>
                          </a:solidFill>
                          <a:latin typeface="游ゴシック"/>
                          <a:ea typeface="游ゴシック"/>
                        </a:rPr>
                        <a:t>6,666</a:t>
                      </a:r>
                    </a:p>
                  </a:txBody>
                  <a:tcPr marL="36000" marR="36000" marT="7200" marB="7200" anchor="ctr">
                    <a:solidFill>
                      <a:srgbClr val="F4F7F9"/>
                    </a:solidFill>
                  </a:tcPr>
                </a:tc>
                <a:tc>
                  <a:txBody>
                    <a:bodyPr/>
                    <a:lstStyle/>
                    <a:p>
                      <a:pPr algn="r"/>
                      <a:r>
                        <a:rPr sz="1000" b="0">
                          <a:solidFill>
                            <a:srgbClr val="0B3041"/>
                          </a:solidFill>
                          <a:latin typeface="游ゴシック"/>
                          <a:ea typeface="游ゴシック"/>
                        </a:rPr>
                        <a:t>89,929</a:t>
                      </a:r>
                    </a:p>
                  </a:txBody>
                  <a:tcPr marL="36000" marR="36000" marT="7200" marB="7200" anchor="ctr">
                    <a:solidFill>
                      <a:srgbClr val="F4F7F9"/>
                    </a:solidFill>
                  </a:tcPr>
                </a:tc>
                <a:tc>
                  <a:txBody>
                    <a:bodyPr/>
                    <a:lstStyle/>
                    <a:p>
                      <a:pPr algn="r"/>
                      <a:r>
                        <a:rPr sz="1000" b="0">
                          <a:solidFill>
                            <a:srgbClr val="0B3041"/>
                          </a:solidFill>
                          <a:latin typeface="游ゴシック"/>
                          <a:ea typeface="游ゴシック"/>
                        </a:rPr>
                        <a:t>64,943</a:t>
                      </a:r>
                    </a:p>
                  </a:txBody>
                  <a:tcPr marL="36000" marR="36000" marT="7200" marB="7200" anchor="ctr">
                    <a:solidFill>
                      <a:srgbClr val="F4F7F9"/>
                    </a:solidFill>
                  </a:tcPr>
                </a:tc>
                <a:extLst>
                  <a:ext uri="{0D108BD9-81ED-4DB2-BD59-A6C34878D82A}">
                    <a16:rowId xmlns:a16="http://schemas.microsoft.com/office/drawing/2014/main" val="10006"/>
                  </a:ext>
                </a:extLst>
              </a:tr>
              <a:tr h="368000">
                <a:tc>
                  <a:txBody>
                    <a:bodyPr/>
                    <a:lstStyle/>
                    <a:p>
                      <a:pPr algn="l"/>
                      <a:r>
                        <a:rPr sz="1000" b="0">
                          <a:solidFill>
                            <a:srgbClr val="0B3041"/>
                          </a:solidFill>
                          <a:latin typeface="游ゴシック"/>
                          <a:ea typeface="游ゴシック"/>
                        </a:rPr>
                        <a:t>税引後当期純利益</a:t>
                      </a:r>
                    </a:p>
                  </a:txBody>
                  <a:tcPr marL="36000" marR="36000" marT="7200" marB="7200" anchor="ctr">
                    <a:solidFill>
                      <a:srgbClr val="FFFFFF"/>
                    </a:solidFill>
                  </a:tcPr>
                </a:tc>
                <a:tc>
                  <a:txBody>
                    <a:bodyPr/>
                    <a:lstStyle/>
                    <a:p>
                      <a:pPr algn="r"/>
                      <a:r>
                        <a:rPr sz="1000" b="0">
                          <a:solidFill>
                            <a:srgbClr val="0B3041"/>
                          </a:solidFill>
                          <a:latin typeface="游ゴシック"/>
                          <a:ea typeface="游ゴシック"/>
                        </a:rPr>
                        <a:t>△5,170</a:t>
                      </a:r>
                    </a:p>
                  </a:txBody>
                  <a:tcPr marL="36000" marR="36000" marT="7200" marB="7200" anchor="ctr">
                    <a:solidFill>
                      <a:srgbClr val="FFFFFF"/>
                    </a:solidFill>
                  </a:tcPr>
                </a:tc>
                <a:tc>
                  <a:txBody>
                    <a:bodyPr/>
                    <a:lstStyle/>
                    <a:p>
                      <a:pPr algn="r"/>
                      <a:r>
                        <a:rPr sz="1000" b="0">
                          <a:solidFill>
                            <a:srgbClr val="0B3041"/>
                          </a:solidFill>
                          <a:latin typeface="游ゴシック"/>
                          <a:ea typeface="游ゴシック"/>
                        </a:rPr>
                        <a:t>40,558</a:t>
                      </a:r>
                    </a:p>
                  </a:txBody>
                  <a:tcPr marL="36000" marR="36000" marT="7200" marB="7200" anchor="ctr">
                    <a:solidFill>
                      <a:srgbClr val="FFFFFF"/>
                    </a:solidFill>
                  </a:tcPr>
                </a:tc>
                <a:tc>
                  <a:txBody>
                    <a:bodyPr/>
                    <a:lstStyle/>
                    <a:p>
                      <a:pPr algn="r"/>
                      <a:r>
                        <a:rPr sz="1000" b="0">
                          <a:solidFill>
                            <a:srgbClr val="0B3041"/>
                          </a:solidFill>
                          <a:latin typeface="游ゴシック"/>
                          <a:ea typeface="游ゴシック"/>
                        </a:rPr>
                        <a:t>37,630</a:t>
                      </a:r>
                    </a:p>
                  </a:txBody>
                  <a:tcPr marL="36000" marR="36000" marT="7200" marB="7200" anchor="ctr">
                    <a:solidFill>
                      <a:srgbClr val="FFFFFF"/>
                    </a:solidFill>
                  </a:tcPr>
                </a:tc>
                <a:extLst>
                  <a:ext uri="{0D108BD9-81ED-4DB2-BD59-A6C34878D82A}">
                    <a16:rowId xmlns:a16="http://schemas.microsoft.com/office/drawing/2014/main" val="10007"/>
                  </a:ext>
                </a:extLst>
              </a:tr>
              <a:tr h="368000">
                <a:tc>
                  <a:txBody>
                    <a:bodyPr/>
                    <a:lstStyle/>
                    <a:p>
                      <a:pPr algn="l"/>
                      <a:r>
                        <a:rPr sz="1000" b="0">
                          <a:solidFill>
                            <a:srgbClr val="0B3041"/>
                          </a:solidFill>
                          <a:latin typeface="游ゴシック"/>
                          <a:ea typeface="游ゴシック"/>
                        </a:rPr>
                        <a:t>（参考）減価償却費</a:t>
                      </a:r>
                    </a:p>
                  </a:txBody>
                  <a:tcPr marL="36000" marR="36000" marT="7200" marB="7200" anchor="ctr">
                    <a:solidFill>
                      <a:srgbClr val="F4F7F9"/>
                    </a:solidFill>
                  </a:tcPr>
                </a:tc>
                <a:tc>
                  <a:txBody>
                    <a:bodyPr/>
                    <a:lstStyle/>
                    <a:p>
                      <a:pPr algn="r"/>
                      <a:r>
                        <a:rPr sz="1000" b="0">
                          <a:solidFill>
                            <a:srgbClr val="0B3041"/>
                          </a:solidFill>
                          <a:latin typeface="游ゴシック"/>
                          <a:ea typeface="游ゴシック"/>
                        </a:rPr>
                        <a:t>881</a:t>
                      </a:r>
                    </a:p>
                  </a:txBody>
                  <a:tcPr marL="36000" marR="36000" marT="7200" marB="7200" anchor="ctr">
                    <a:solidFill>
                      <a:srgbClr val="F4F7F9"/>
                    </a:solidFill>
                  </a:tcPr>
                </a:tc>
                <a:tc>
                  <a:txBody>
                    <a:bodyPr/>
                    <a:lstStyle/>
                    <a:p>
                      <a:pPr algn="r"/>
                      <a:r>
                        <a:rPr sz="1000" b="0">
                          <a:solidFill>
                            <a:srgbClr val="0B3041"/>
                          </a:solidFill>
                          <a:latin typeface="游ゴシック"/>
                          <a:ea typeface="游ゴシック"/>
                        </a:rPr>
                        <a:t>645</a:t>
                      </a:r>
                    </a:p>
                  </a:txBody>
                  <a:tcPr marL="36000" marR="36000" marT="7200" marB="7200" anchor="ctr">
                    <a:solidFill>
                      <a:srgbClr val="F4F7F9"/>
                    </a:solidFill>
                  </a:tcPr>
                </a:tc>
                <a:tc>
                  <a:txBody>
                    <a:bodyPr/>
                    <a:lstStyle/>
                    <a:p>
                      <a:pPr algn="r"/>
                      <a:r>
                        <a:rPr sz="1000" b="0">
                          <a:solidFill>
                            <a:srgbClr val="0B3041"/>
                          </a:solidFill>
                          <a:latin typeface="游ゴシック"/>
                          <a:ea typeface="游ゴシック"/>
                        </a:rPr>
                        <a:t>1,183</a:t>
                      </a:r>
                    </a:p>
                  </a:txBody>
                  <a:tcPr marL="36000" marR="36000" marT="7200" marB="7200" anchor="ctr">
                    <a:solidFill>
                      <a:srgbClr val="F4F7F9"/>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0165897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225D46-8BE9-D21F-8F78-292CE6E9B929}"/>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2AA39DD4-3E77-6023-715D-76F64D8C46A7}"/>
              </a:ext>
            </a:extLst>
          </p:cNvPr>
          <p:cNvSpPr>
            <a:spLocks noGrp="1"/>
          </p:cNvSpPr>
          <p:nvPr>
            <p:ph type="ctrTitle"/>
          </p:nvPr>
        </p:nvSpPr>
        <p:spPr>
          <a:xfrm>
            <a:off x="311150" y="180296"/>
            <a:ext cx="7799917" cy="339267"/>
          </a:xfrm>
        </p:spPr>
        <p:txBody>
          <a:bodyPr>
            <a:normAutofit/>
          </a:bodyPr>
          <a:lstStyle/>
          <a:p>
            <a:r>
              <a:rPr lang="ja-JP" altLang="en-US" dirty="0"/>
              <a:t>財務ハイライト（</a:t>
            </a:r>
            <a:r>
              <a:rPr lang="en-US" altLang="ja-JP" dirty="0"/>
              <a:t>B/S</a:t>
            </a:r>
            <a:r>
              <a:rPr lang="ja-JP" altLang="en-US" dirty="0"/>
              <a:t>）</a:t>
            </a:r>
          </a:p>
        </p:txBody>
      </p:sp>
      <p:sp>
        <p:nvSpPr>
          <p:cNvPr id="5" name="タイトル 1">
            <a:extLst>
              <a:ext uri="{FF2B5EF4-FFF2-40B4-BE49-F238E27FC236}">
                <a16:creationId xmlns:a16="http://schemas.microsoft.com/office/drawing/2014/main" id="{393BEF8A-36B7-CC08-2D29-C971912378C9}"/>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エグゼクティブサマリー</a:t>
            </a:r>
          </a:p>
        </p:txBody>
      </p:sp>
      <p:sp>
        <p:nvSpPr>
          <p:cNvPr id="6" name="正方形/長方形 5">
            <a:extLst>
              <a:ext uri="{FF2B5EF4-FFF2-40B4-BE49-F238E27FC236}">
                <a16:creationId xmlns:a16="http://schemas.microsoft.com/office/drawing/2014/main" id="{63937474-FD16-D668-CAE8-2B82EF0CD424}"/>
              </a:ext>
            </a:extLst>
          </p:cNvPr>
          <p:cNvSpPr/>
          <p:nvPr/>
        </p:nvSpPr>
        <p:spPr>
          <a:xfrm>
            <a:off x="5559668" y="4003252"/>
            <a:ext cx="4790832" cy="3140498"/>
          </a:xfrm>
          <a:prstGeom prst="rect">
            <a:avLst/>
          </a:prstGeom>
          <a:solidFill>
            <a:schemeClr val="accent2"/>
          </a:solidFill>
          <a:ln w="285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71450" indent="-171450">
              <a:lnSpc>
                <a:spcPct val="150000"/>
              </a:lnSpc>
              <a:buFont typeface="Wingdings" panose="05000000000000000000" pitchFamily="2" charset="2"/>
              <a:buChar char="ü"/>
            </a:pPr>
            <a:endParaRPr kumimoji="1" lang="en-US" altLang="ja-JP" sz="1200" b="1" dirty="0">
              <a:solidFill>
                <a:schemeClr val="tx1"/>
              </a:solidFill>
              <a:latin typeface="+mn-ea"/>
            </a:endParaRPr>
          </a:p>
        </p:txBody>
      </p:sp>
      <p:sp>
        <p:nvSpPr>
          <p:cNvPr id="11" name="字幕 13">
            <a:extLst>
              <a:ext uri="{FF2B5EF4-FFF2-40B4-BE49-F238E27FC236}">
                <a16:creationId xmlns:a16="http://schemas.microsoft.com/office/drawing/2014/main" id="{4BDEA35E-AAC5-A70B-357F-0FB600B4A83F}"/>
              </a:ext>
            </a:extLst>
          </p:cNvPr>
          <p:cNvSpPr>
            <a:spLocks noGrp="1"/>
          </p:cNvSpPr>
          <p:nvPr>
            <p:ph type="subTitle" idx="1"/>
          </p:nvPr>
        </p:nvSpPr>
        <p:spPr>
          <a:xfrm>
            <a:off x="460675" y="830046"/>
            <a:ext cx="9781875" cy="241861"/>
          </a:xfrm>
        </p:spPr>
        <p:txBody>
          <a:bodyPr>
            <a:noAutofit/>
          </a:bodyPr>
          <a:lstStyle/>
          <a:p>
            <a:r>
              <a:rPr>
                <a:latin typeface="+mj-ea"/>
                <a:ea typeface="+mj-ea"/>
              </a:rPr>
              <a:t>自己資本比率60.6%・現預金193百万円と極めて健全な財務基盤。有利子負債を現預金でほぼ相殺できるネットキャッシュ状態にあり、加えて投資有価証券276百万円等の非事業性資産を潤沢に保有します。</a:t>
            </a:r>
            <a:endParaRPr lang="en-US" altLang="ja-JP" dirty="0"/>
          </a:p>
        </p:txBody>
      </p:sp>
      <p:sp>
        <p:nvSpPr>
          <p:cNvPr id="2" name="正方形/長方形 1">
            <a:extLst>
              <a:ext uri="{FF2B5EF4-FFF2-40B4-BE49-F238E27FC236}">
                <a16:creationId xmlns:a16="http://schemas.microsoft.com/office/drawing/2014/main" id="{612EABB3-CE7D-61AA-49A7-0C5A39CB2F7F}"/>
              </a:ext>
            </a:extLst>
          </p:cNvPr>
          <p:cNvSpPr/>
          <p:nvPr/>
        </p:nvSpPr>
        <p:spPr>
          <a:xfrm>
            <a:off x="5559668" y="1382390"/>
            <a:ext cx="4790832" cy="2501060"/>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sp>
        <p:nvSpPr>
          <p:cNvPr id="7" name="テキスト ボックス 6">
            <a:extLst>
              <a:ext uri="{FF2B5EF4-FFF2-40B4-BE49-F238E27FC236}">
                <a16:creationId xmlns:a16="http://schemas.microsoft.com/office/drawing/2014/main" id="{07A18A00-4497-FBE7-D232-D583ED28CEE8}"/>
              </a:ext>
            </a:extLst>
          </p:cNvPr>
          <p:cNvSpPr txBox="1"/>
          <p:nvPr/>
        </p:nvSpPr>
        <p:spPr>
          <a:xfrm>
            <a:off x="5557024" y="1949972"/>
            <a:ext cx="4793476" cy="1523494"/>
          </a:xfrm>
          <a:prstGeom prst="rect">
            <a:avLst/>
          </a:prstGeom>
          <a:noFill/>
        </p:spPr>
        <p:txBody>
          <a:bodyPr wrap="square" lIns="288000" tIns="0" rIns="252000" bIns="0" rtlCol="0">
            <a:spAutoFit/>
          </a:bodyPr>
          <a:lstStyle/>
          <a:p>
            <a:r>
              <a:rPr sz="1050">
                <a:latin typeface="+mn-ea"/>
                <a:ea typeface="+mn-ea"/>
              </a:rPr>
              <a:t>≪現預金≫</a:t>
            </a:r>
            <a:endParaRPr kumimoji="1" lang="en-US" altLang="ja-JP" sz="1100" dirty="0">
              <a:solidFill>
                <a:schemeClr val="tx1"/>
              </a:solidFill>
              <a:latin typeface="+mn-ea"/>
              <a:ea typeface="+mn-ea"/>
            </a:endParaRPr>
          </a:p>
          <a:p>
            <a:r>
              <a:rPr sz="1050">
                <a:latin typeface="+mn-ea"/>
                <a:ea typeface="+mn-ea"/>
              </a:rPr>
              <a:t>・193百万円を保有し、有利子負債計188百万円を上回る</a:t>
            </a:r>
          </a:p>
          <a:p>
            <a:endParaRPr sz="1050">
              <a:latin typeface="+mn-ea"/>
              <a:ea typeface="+mn-ea"/>
            </a:endParaRPr>
          </a:p>
          <a:p>
            <a:r>
              <a:rPr sz="1050">
                <a:latin typeface="+mn-ea"/>
                <a:ea typeface="+mn-ea"/>
              </a:rPr>
              <a:t>≪投資有価証券≫</a:t>
            </a:r>
          </a:p>
          <a:p>
            <a:r>
              <a:rPr sz="1050">
                <a:latin typeface="+mn-ea"/>
                <a:ea typeface="+mn-ea"/>
              </a:rPr>
              <a:t>・276百万円（総資産の約50%）。非事業性資産の可能性が高く、株式価値評価上の重要論点</a:t>
            </a:r>
          </a:p>
          <a:p>
            <a:endParaRPr sz="1050">
              <a:latin typeface="+mn-ea"/>
              <a:ea typeface="+mn-ea"/>
            </a:endParaRPr>
          </a:p>
          <a:p>
            <a:r>
              <a:rPr sz="1050">
                <a:latin typeface="+mn-ea"/>
                <a:ea typeface="+mn-ea"/>
              </a:rPr>
              <a:t>≪保険積立金≫</a:t>
            </a:r>
          </a:p>
          <a:p>
            <a:r>
              <a:rPr sz="1050">
                <a:latin typeface="+mn-ea"/>
                <a:ea typeface="+mn-ea"/>
              </a:rPr>
              <a:t>・43百万円を計上</a:t>
            </a:r>
          </a:p>
        </p:txBody>
      </p:sp>
      <p:sp>
        <p:nvSpPr>
          <p:cNvPr id="8" name="テキスト ボックス 7">
            <a:extLst>
              <a:ext uri="{FF2B5EF4-FFF2-40B4-BE49-F238E27FC236}">
                <a16:creationId xmlns:a16="http://schemas.microsoft.com/office/drawing/2014/main" id="{632197B6-9950-6937-E8F9-2140ACC03ACD}"/>
              </a:ext>
            </a:extLst>
          </p:cNvPr>
          <p:cNvSpPr txBox="1"/>
          <p:nvPr/>
        </p:nvSpPr>
        <p:spPr>
          <a:xfrm>
            <a:off x="5557024" y="4108448"/>
            <a:ext cx="4793476" cy="2937920"/>
          </a:xfrm>
          <a:prstGeom prst="rect">
            <a:avLst/>
          </a:prstGeom>
          <a:noFill/>
        </p:spPr>
        <p:txBody>
          <a:bodyPr wrap="square" lIns="288000" tIns="0" rIns="252000" bIns="0" rtlCol="0">
            <a:spAutoFit/>
          </a:bodyPr>
          <a:lstStyle/>
          <a:p>
            <a:pPr>
              <a:lnSpc>
                <a:spcPct val="150000"/>
              </a:lnSpc>
            </a:pPr>
            <a:r>
              <a:rPr sz="1050">
                <a:latin typeface="+mn-ea"/>
                <a:ea typeface="+mn-ea"/>
              </a:rPr>
              <a:t>【財務ハイライト（令和8年1月期）】</a:t>
            </a:r>
          </a:p>
          <a:p>
            <a:r>
              <a:rPr sz="1050">
                <a:latin typeface="+mn-ea"/>
                <a:ea typeface="+mn-ea"/>
              </a:rPr>
              <a:t>・自己資本比率　60.6%</a:t>
            </a:r>
          </a:p>
          <a:p>
            <a:r>
              <a:rPr sz="1050">
                <a:latin typeface="+mn-ea"/>
                <a:ea typeface="+mn-ea"/>
              </a:rPr>
              <a:t>・純資産　　　　333,536千円</a:t>
            </a:r>
          </a:p>
          <a:p>
            <a:r>
              <a:rPr sz="1050">
                <a:latin typeface="+mn-ea"/>
                <a:ea typeface="+mn-ea"/>
              </a:rPr>
              <a:t>・有利子負債　　187,808千円</a:t>
            </a:r>
          </a:p>
          <a:p>
            <a:r>
              <a:rPr sz="1050">
                <a:latin typeface="+mn-ea"/>
                <a:ea typeface="+mn-ea"/>
              </a:rPr>
              <a:t>・ネットキャッシュ　＋5,418千円</a:t>
            </a:r>
          </a:p>
          <a:p>
            <a:r>
              <a:rPr sz="1050">
                <a:latin typeface="+mn-ea"/>
                <a:ea typeface="+mn-ea"/>
              </a:rPr>
              <a:t>　（現預金−有利子負債）</a:t>
            </a:r>
          </a:p>
          <a:p>
            <a:endParaRPr sz="1050">
              <a:latin typeface="+mn-ea"/>
              <a:ea typeface="+mn-ea"/>
            </a:endParaRPr>
          </a:p>
          <a:p>
            <a:r>
              <a:rPr sz="1050">
                <a:latin typeface="+mn-ea"/>
                <a:ea typeface="+mn-ea"/>
              </a:rPr>
              <a:t>※投資有価証券・保険積立金等の非事業性</a:t>
            </a:r>
          </a:p>
          <a:p>
            <a:r>
              <a:rPr sz="1050">
                <a:latin typeface="+mn-ea"/>
                <a:ea typeface="+mn-ea"/>
              </a:rPr>
              <a:t>　資産の取扱いは要精査</a:t>
            </a:r>
          </a:p>
        </p:txBody>
      </p:sp>
      <p:graphicFrame>
        <p:nvGraphicFramePr>
          <p:cNvPr id="14" name="Table 13"/>
          <p:cNvGraphicFramePr>
            <a:graphicFrameLocks noGrp="1"/>
          </p:cNvGraphicFramePr>
          <p:nvPr/>
        </p:nvGraphicFramePr>
        <p:xfrm>
          <a:off x="338400" y="1655999"/>
          <a:ext cx="4860000" cy="5003999"/>
        </p:xfrm>
        <a:graphic>
          <a:graphicData uri="http://schemas.openxmlformats.org/drawingml/2006/table">
            <a:tbl>
              <a:tblPr>
                <a:tableStyleId>{5C22544A-7EE6-4342-B048-85BDC9FD1C3A}</a:tableStyleId>
              </a:tblPr>
              <a:tblGrid>
                <a:gridCol w="1332000">
                  <a:extLst>
                    <a:ext uri="{9D8B030D-6E8A-4147-A177-3AD203B41FA5}">
                      <a16:colId xmlns:a16="http://schemas.microsoft.com/office/drawing/2014/main" val="20000"/>
                    </a:ext>
                  </a:extLst>
                </a:gridCol>
                <a:gridCol w="1098000">
                  <a:extLst>
                    <a:ext uri="{9D8B030D-6E8A-4147-A177-3AD203B41FA5}">
                      <a16:colId xmlns:a16="http://schemas.microsoft.com/office/drawing/2014/main" val="20001"/>
                    </a:ext>
                  </a:extLst>
                </a:gridCol>
                <a:gridCol w="1332000">
                  <a:extLst>
                    <a:ext uri="{9D8B030D-6E8A-4147-A177-3AD203B41FA5}">
                      <a16:colId xmlns:a16="http://schemas.microsoft.com/office/drawing/2014/main" val="20002"/>
                    </a:ext>
                  </a:extLst>
                </a:gridCol>
                <a:gridCol w="1098000">
                  <a:extLst>
                    <a:ext uri="{9D8B030D-6E8A-4147-A177-3AD203B41FA5}">
                      <a16:colId xmlns:a16="http://schemas.microsoft.com/office/drawing/2014/main" val="20003"/>
                    </a:ext>
                  </a:extLst>
                </a:gridCol>
              </a:tblGrid>
              <a:tr h="384923">
                <a:tc>
                  <a:txBody>
                    <a:bodyPr/>
                    <a:lstStyle/>
                    <a:p>
                      <a:pPr algn="ctr"/>
                      <a:r>
                        <a:rPr sz="900" b="1">
                          <a:solidFill>
                            <a:srgbClr val="FFFFFF"/>
                          </a:solidFill>
                          <a:latin typeface="游ゴシック"/>
                          <a:ea typeface="游ゴシック"/>
                        </a:rPr>
                        <a:t>科目</a:t>
                      </a:r>
                    </a:p>
                  </a:txBody>
                  <a:tcPr marL="36000" marR="36000" marT="7200" marB="7200" anchor="ctr">
                    <a:solidFill>
                      <a:srgbClr val="0B3041"/>
                    </a:solidFill>
                  </a:tcPr>
                </a:tc>
                <a:tc>
                  <a:txBody>
                    <a:bodyPr/>
                    <a:lstStyle/>
                    <a:p>
                      <a:pPr algn="ctr"/>
                      <a:r>
                        <a:rPr sz="900" b="1">
                          <a:solidFill>
                            <a:srgbClr val="FFFFFF"/>
                          </a:solidFill>
                          <a:latin typeface="游ゴシック"/>
                          <a:ea typeface="游ゴシック"/>
                        </a:rPr>
                        <a:t>金額</a:t>
                      </a:r>
                    </a:p>
                  </a:txBody>
                  <a:tcPr marL="36000" marR="36000" marT="7200" marB="7200" anchor="ctr">
                    <a:solidFill>
                      <a:srgbClr val="0B3041"/>
                    </a:solidFill>
                  </a:tcPr>
                </a:tc>
                <a:tc>
                  <a:txBody>
                    <a:bodyPr/>
                    <a:lstStyle/>
                    <a:p>
                      <a:pPr algn="ctr"/>
                      <a:r>
                        <a:rPr sz="900" b="1">
                          <a:solidFill>
                            <a:srgbClr val="FFFFFF"/>
                          </a:solidFill>
                          <a:latin typeface="游ゴシック"/>
                          <a:ea typeface="游ゴシック"/>
                        </a:rPr>
                        <a:t>科目</a:t>
                      </a:r>
                    </a:p>
                  </a:txBody>
                  <a:tcPr marL="36000" marR="36000" marT="7200" marB="7200" anchor="ctr">
                    <a:solidFill>
                      <a:srgbClr val="0B3041"/>
                    </a:solidFill>
                  </a:tcPr>
                </a:tc>
                <a:tc>
                  <a:txBody>
                    <a:bodyPr/>
                    <a:lstStyle/>
                    <a:p>
                      <a:pPr algn="ctr"/>
                      <a:r>
                        <a:rPr sz="900" b="1">
                          <a:solidFill>
                            <a:srgbClr val="FFFFFF"/>
                          </a:solidFill>
                          <a:latin typeface="游ゴシック"/>
                          <a:ea typeface="游ゴシック"/>
                        </a:rPr>
                        <a:t>金額</a:t>
                      </a:r>
                    </a:p>
                  </a:txBody>
                  <a:tcPr marL="36000" marR="36000" marT="7200" marB="7200" anchor="ctr">
                    <a:solidFill>
                      <a:srgbClr val="0B3041"/>
                    </a:solidFill>
                  </a:tcPr>
                </a:tc>
                <a:extLst>
                  <a:ext uri="{0D108BD9-81ED-4DB2-BD59-A6C34878D82A}">
                    <a16:rowId xmlns:a16="http://schemas.microsoft.com/office/drawing/2014/main" val="10000"/>
                  </a:ext>
                </a:extLst>
              </a:tr>
              <a:tr h="384923">
                <a:tc>
                  <a:txBody>
                    <a:bodyPr/>
                    <a:lstStyle/>
                    <a:p>
                      <a:pPr algn="l"/>
                      <a:r>
                        <a:rPr sz="900" b="0">
                          <a:solidFill>
                            <a:srgbClr val="0B3041"/>
                          </a:solidFill>
                          <a:latin typeface="游ゴシック"/>
                          <a:ea typeface="游ゴシック"/>
                        </a:rPr>
                        <a:t>【資産の部】</a:t>
                      </a:r>
                    </a:p>
                  </a:txBody>
                  <a:tcPr marL="36000" marR="36000" marT="7200" marB="7200" anchor="ctr">
                    <a:solidFill>
                      <a:srgbClr val="E3E7E9"/>
                    </a:solidFill>
                  </a:tcPr>
                </a:tc>
                <a:tc>
                  <a:txBody>
                    <a:bodyPr/>
                    <a:lstStyle/>
                    <a:p>
                      <a:pPr algn="r"/>
                      <a:endParaRPr/>
                    </a:p>
                  </a:txBody>
                  <a:tcPr marL="36000" marR="36000" marT="7200" marB="7200" anchor="ctr">
                    <a:solidFill>
                      <a:srgbClr val="E3E7E9"/>
                    </a:solidFill>
                  </a:tcPr>
                </a:tc>
                <a:tc>
                  <a:txBody>
                    <a:bodyPr/>
                    <a:lstStyle/>
                    <a:p>
                      <a:pPr algn="l"/>
                      <a:r>
                        <a:rPr sz="900" b="0">
                          <a:solidFill>
                            <a:srgbClr val="0B3041"/>
                          </a:solidFill>
                          <a:latin typeface="游ゴシック"/>
                          <a:ea typeface="游ゴシック"/>
                        </a:rPr>
                        <a:t>【負債の部】</a:t>
                      </a:r>
                    </a:p>
                  </a:txBody>
                  <a:tcPr marL="36000" marR="36000" marT="7200" marB="7200" anchor="ctr">
                    <a:solidFill>
                      <a:srgbClr val="E3E7E9"/>
                    </a:solidFill>
                  </a:tcPr>
                </a:tc>
                <a:tc>
                  <a:txBody>
                    <a:bodyPr/>
                    <a:lstStyle/>
                    <a:p>
                      <a:pPr algn="r"/>
                      <a:endParaRPr/>
                    </a:p>
                  </a:txBody>
                  <a:tcPr marL="36000" marR="36000" marT="7200" marB="7200" anchor="ctr">
                    <a:solidFill>
                      <a:srgbClr val="E3E7E9"/>
                    </a:solidFill>
                  </a:tcPr>
                </a:tc>
                <a:extLst>
                  <a:ext uri="{0D108BD9-81ED-4DB2-BD59-A6C34878D82A}">
                    <a16:rowId xmlns:a16="http://schemas.microsoft.com/office/drawing/2014/main" val="10001"/>
                  </a:ext>
                </a:extLst>
              </a:tr>
              <a:tr h="384923">
                <a:tc>
                  <a:txBody>
                    <a:bodyPr/>
                    <a:lstStyle/>
                    <a:p>
                      <a:pPr algn="l"/>
                      <a:r>
                        <a:rPr sz="900" b="0">
                          <a:solidFill>
                            <a:srgbClr val="0B3041"/>
                          </a:solidFill>
                          <a:latin typeface="游ゴシック"/>
                          <a:ea typeface="游ゴシック"/>
                        </a:rPr>
                        <a:t>現預金</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193,226</a:t>
                      </a:r>
                    </a:p>
                  </a:txBody>
                  <a:tcPr marL="36000" marR="36000" marT="7200" marB="7200" anchor="ctr">
                    <a:solidFill>
                      <a:srgbClr val="F4F7F9"/>
                    </a:solidFill>
                  </a:tcPr>
                </a:tc>
                <a:tc>
                  <a:txBody>
                    <a:bodyPr/>
                    <a:lstStyle/>
                    <a:p>
                      <a:pPr algn="l"/>
                      <a:r>
                        <a:rPr sz="900" b="0">
                          <a:solidFill>
                            <a:srgbClr val="0B3041"/>
                          </a:solidFill>
                          <a:latin typeface="游ゴシック"/>
                          <a:ea typeface="游ゴシック"/>
                        </a:rPr>
                        <a:t>買掛金</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9,645</a:t>
                      </a:r>
                    </a:p>
                  </a:txBody>
                  <a:tcPr marL="36000" marR="36000" marT="7200" marB="7200" anchor="ctr">
                    <a:solidFill>
                      <a:srgbClr val="F4F7F9"/>
                    </a:solidFill>
                  </a:tcPr>
                </a:tc>
                <a:extLst>
                  <a:ext uri="{0D108BD9-81ED-4DB2-BD59-A6C34878D82A}">
                    <a16:rowId xmlns:a16="http://schemas.microsoft.com/office/drawing/2014/main" val="10002"/>
                  </a:ext>
                </a:extLst>
              </a:tr>
              <a:tr h="384923">
                <a:tc>
                  <a:txBody>
                    <a:bodyPr/>
                    <a:lstStyle/>
                    <a:p>
                      <a:pPr algn="l"/>
                      <a:r>
                        <a:rPr sz="900" b="0">
                          <a:solidFill>
                            <a:srgbClr val="0B3041"/>
                          </a:solidFill>
                          <a:latin typeface="游ゴシック"/>
                          <a:ea typeface="游ゴシック"/>
                        </a:rPr>
                        <a:t>売掛債権(純額)</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19,952</a:t>
                      </a:r>
                    </a:p>
                  </a:txBody>
                  <a:tcPr marL="36000" marR="36000" marT="7200" marB="7200" anchor="ctr">
                    <a:solidFill>
                      <a:srgbClr val="FFFFFF"/>
                    </a:solidFill>
                  </a:tcPr>
                </a:tc>
                <a:tc>
                  <a:txBody>
                    <a:bodyPr/>
                    <a:lstStyle/>
                    <a:p>
                      <a:pPr algn="l"/>
                      <a:r>
                        <a:rPr sz="900" b="0">
                          <a:solidFill>
                            <a:srgbClr val="0B3041"/>
                          </a:solidFill>
                          <a:latin typeface="游ゴシック"/>
                          <a:ea typeface="游ゴシック"/>
                        </a:rPr>
                        <a:t>短期借入金</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41,828</a:t>
                      </a:r>
                    </a:p>
                  </a:txBody>
                  <a:tcPr marL="36000" marR="36000" marT="7200" marB="7200" anchor="ctr">
                    <a:solidFill>
                      <a:srgbClr val="FFFFFF"/>
                    </a:solidFill>
                  </a:tcPr>
                </a:tc>
                <a:extLst>
                  <a:ext uri="{0D108BD9-81ED-4DB2-BD59-A6C34878D82A}">
                    <a16:rowId xmlns:a16="http://schemas.microsoft.com/office/drawing/2014/main" val="10003"/>
                  </a:ext>
                </a:extLst>
              </a:tr>
              <a:tr h="384923">
                <a:tc>
                  <a:txBody>
                    <a:bodyPr/>
                    <a:lstStyle/>
                    <a:p>
                      <a:pPr algn="l"/>
                      <a:r>
                        <a:rPr sz="900" b="0">
                          <a:solidFill>
                            <a:srgbClr val="0B3041"/>
                          </a:solidFill>
                          <a:latin typeface="游ゴシック"/>
                          <a:ea typeface="游ゴシック"/>
                        </a:rPr>
                        <a:t>棚卸資産</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229</a:t>
                      </a:r>
                    </a:p>
                  </a:txBody>
                  <a:tcPr marL="36000" marR="36000" marT="7200" marB="7200" anchor="ctr">
                    <a:solidFill>
                      <a:srgbClr val="F4F7F9"/>
                    </a:solidFill>
                  </a:tcPr>
                </a:tc>
                <a:tc>
                  <a:txBody>
                    <a:bodyPr/>
                    <a:lstStyle/>
                    <a:p>
                      <a:pPr algn="l"/>
                      <a:r>
                        <a:rPr sz="900" b="0">
                          <a:solidFill>
                            <a:srgbClr val="0B3041"/>
                          </a:solidFill>
                          <a:latin typeface="游ゴシック"/>
                          <a:ea typeface="游ゴシック"/>
                        </a:rPr>
                        <a:t>未払金・未払税等</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18,894</a:t>
                      </a:r>
                    </a:p>
                  </a:txBody>
                  <a:tcPr marL="36000" marR="36000" marT="7200" marB="7200" anchor="ctr">
                    <a:solidFill>
                      <a:srgbClr val="F4F7F9"/>
                    </a:solidFill>
                  </a:tcPr>
                </a:tc>
                <a:extLst>
                  <a:ext uri="{0D108BD9-81ED-4DB2-BD59-A6C34878D82A}">
                    <a16:rowId xmlns:a16="http://schemas.microsoft.com/office/drawing/2014/main" val="10004"/>
                  </a:ext>
                </a:extLst>
              </a:tr>
              <a:tr h="384923">
                <a:tc>
                  <a:txBody>
                    <a:bodyPr/>
                    <a:lstStyle/>
                    <a:p>
                      <a:pPr algn="l"/>
                      <a:r>
                        <a:rPr sz="900" b="0">
                          <a:solidFill>
                            <a:srgbClr val="0B3041"/>
                          </a:solidFill>
                          <a:latin typeface="游ゴシック"/>
                          <a:ea typeface="游ゴシック"/>
                        </a:rPr>
                        <a:t>前渡金・前払費用</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12,696</a:t>
                      </a:r>
                    </a:p>
                  </a:txBody>
                  <a:tcPr marL="36000" marR="36000" marT="7200" marB="7200" anchor="ctr">
                    <a:solidFill>
                      <a:srgbClr val="FFFFFF"/>
                    </a:solidFill>
                  </a:tcPr>
                </a:tc>
                <a:tc>
                  <a:txBody>
                    <a:bodyPr/>
                    <a:lstStyle/>
                    <a:p>
                      <a:pPr algn="l"/>
                      <a:r>
                        <a:rPr sz="900" b="0">
                          <a:solidFill>
                            <a:srgbClr val="0B3041"/>
                          </a:solidFill>
                          <a:latin typeface="游ゴシック"/>
                          <a:ea typeface="游ゴシック"/>
                        </a:rPr>
                        <a:t>預り金・その他</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125</a:t>
                      </a:r>
                    </a:p>
                  </a:txBody>
                  <a:tcPr marL="36000" marR="36000" marT="7200" marB="7200" anchor="ctr">
                    <a:solidFill>
                      <a:srgbClr val="FFFFFF"/>
                    </a:solidFill>
                  </a:tcPr>
                </a:tc>
                <a:extLst>
                  <a:ext uri="{0D108BD9-81ED-4DB2-BD59-A6C34878D82A}">
                    <a16:rowId xmlns:a16="http://schemas.microsoft.com/office/drawing/2014/main" val="10005"/>
                  </a:ext>
                </a:extLst>
              </a:tr>
              <a:tr h="384923">
                <a:tc>
                  <a:txBody>
                    <a:bodyPr/>
                    <a:lstStyle/>
                    <a:p>
                      <a:pPr algn="l"/>
                      <a:r>
                        <a:rPr sz="900" b="0">
                          <a:solidFill>
                            <a:srgbClr val="0B3041"/>
                          </a:solidFill>
                          <a:latin typeface="游ゴシック"/>
                          <a:ea typeface="游ゴシック"/>
                        </a:rPr>
                        <a:t>未収入金</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41</a:t>
                      </a:r>
                    </a:p>
                  </a:txBody>
                  <a:tcPr marL="36000" marR="36000" marT="7200" marB="7200" anchor="ctr">
                    <a:solidFill>
                      <a:srgbClr val="F4F7F9"/>
                    </a:solidFill>
                  </a:tcPr>
                </a:tc>
                <a:tc>
                  <a:txBody>
                    <a:bodyPr/>
                    <a:lstStyle/>
                    <a:p>
                      <a:pPr algn="l"/>
                      <a:r>
                        <a:rPr sz="900" b="0">
                          <a:solidFill>
                            <a:srgbClr val="0B3041"/>
                          </a:solidFill>
                          <a:latin typeface="游ゴシック"/>
                          <a:ea typeface="游ゴシック"/>
                        </a:rPr>
                        <a:t>長期借入金</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145,980</a:t>
                      </a:r>
                    </a:p>
                  </a:txBody>
                  <a:tcPr marL="36000" marR="36000" marT="7200" marB="7200" anchor="ctr">
                    <a:solidFill>
                      <a:srgbClr val="F4F7F9"/>
                    </a:solidFill>
                  </a:tcPr>
                </a:tc>
                <a:extLst>
                  <a:ext uri="{0D108BD9-81ED-4DB2-BD59-A6C34878D82A}">
                    <a16:rowId xmlns:a16="http://schemas.microsoft.com/office/drawing/2014/main" val="10006"/>
                  </a:ext>
                </a:extLst>
              </a:tr>
              <a:tr h="384923">
                <a:tc>
                  <a:txBody>
                    <a:bodyPr/>
                    <a:lstStyle/>
                    <a:p>
                      <a:pPr algn="l"/>
                      <a:r>
                        <a:rPr sz="900" b="0">
                          <a:solidFill>
                            <a:srgbClr val="0B3041"/>
                          </a:solidFill>
                          <a:latin typeface="游ゴシック"/>
                          <a:ea typeface="游ゴシック"/>
                        </a:rPr>
                        <a:t>有形固定資産</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1,057</a:t>
                      </a:r>
                    </a:p>
                  </a:txBody>
                  <a:tcPr marL="36000" marR="36000" marT="7200" marB="7200" anchor="ctr">
                    <a:solidFill>
                      <a:srgbClr val="FFFFFF"/>
                    </a:solidFill>
                  </a:tcPr>
                </a:tc>
                <a:tc>
                  <a:txBody>
                    <a:bodyPr/>
                    <a:lstStyle/>
                    <a:p>
                      <a:pPr algn="l"/>
                      <a:r>
                        <a:rPr sz="900" b="0">
                          <a:solidFill>
                            <a:srgbClr val="0B3041"/>
                          </a:solidFill>
                          <a:latin typeface="游ゴシック"/>
                          <a:ea typeface="游ゴシック"/>
                        </a:rPr>
                        <a:t>負債合計</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216,472</a:t>
                      </a:r>
                    </a:p>
                  </a:txBody>
                  <a:tcPr marL="36000" marR="36000" marT="7200" marB="7200" anchor="ctr">
                    <a:solidFill>
                      <a:srgbClr val="FFFFFF"/>
                    </a:solidFill>
                  </a:tcPr>
                </a:tc>
                <a:extLst>
                  <a:ext uri="{0D108BD9-81ED-4DB2-BD59-A6C34878D82A}">
                    <a16:rowId xmlns:a16="http://schemas.microsoft.com/office/drawing/2014/main" val="10007"/>
                  </a:ext>
                </a:extLst>
              </a:tr>
              <a:tr h="384923">
                <a:tc>
                  <a:txBody>
                    <a:bodyPr/>
                    <a:lstStyle/>
                    <a:p>
                      <a:pPr algn="l"/>
                      <a:r>
                        <a:rPr sz="900" b="0">
                          <a:solidFill>
                            <a:srgbClr val="0B3041"/>
                          </a:solidFill>
                          <a:latin typeface="游ゴシック"/>
                          <a:ea typeface="游ゴシック"/>
                        </a:rPr>
                        <a:t>ソフトウェア</a:t>
                      </a:r>
                    </a:p>
                  </a:txBody>
                  <a:tcPr marL="36000" marR="36000" marT="7200" marB="7200" anchor="ctr">
                    <a:solidFill>
                      <a:srgbClr val="E3E7E9"/>
                    </a:solidFill>
                  </a:tcPr>
                </a:tc>
                <a:tc>
                  <a:txBody>
                    <a:bodyPr/>
                    <a:lstStyle/>
                    <a:p>
                      <a:pPr algn="r"/>
                      <a:r>
                        <a:rPr sz="900" b="0">
                          <a:solidFill>
                            <a:srgbClr val="0B3041"/>
                          </a:solidFill>
                          <a:latin typeface="游ゴシック"/>
                          <a:ea typeface="游ゴシック"/>
                        </a:rPr>
                        <a:t>2,112</a:t>
                      </a:r>
                    </a:p>
                  </a:txBody>
                  <a:tcPr marL="36000" marR="36000" marT="7200" marB="7200" anchor="ctr">
                    <a:solidFill>
                      <a:srgbClr val="E3E7E9"/>
                    </a:solidFill>
                  </a:tcPr>
                </a:tc>
                <a:tc>
                  <a:txBody>
                    <a:bodyPr/>
                    <a:lstStyle/>
                    <a:p>
                      <a:pPr algn="l"/>
                      <a:r>
                        <a:rPr sz="900" b="0">
                          <a:solidFill>
                            <a:srgbClr val="0B3041"/>
                          </a:solidFill>
                          <a:latin typeface="游ゴシック"/>
                          <a:ea typeface="游ゴシック"/>
                        </a:rPr>
                        <a:t>【純資産の部】</a:t>
                      </a:r>
                    </a:p>
                  </a:txBody>
                  <a:tcPr marL="36000" marR="36000" marT="7200" marB="7200" anchor="ctr">
                    <a:solidFill>
                      <a:srgbClr val="E3E7E9"/>
                    </a:solidFill>
                  </a:tcPr>
                </a:tc>
                <a:tc>
                  <a:txBody>
                    <a:bodyPr/>
                    <a:lstStyle/>
                    <a:p>
                      <a:pPr algn="r"/>
                      <a:endParaRPr/>
                    </a:p>
                  </a:txBody>
                  <a:tcPr marL="36000" marR="36000" marT="7200" marB="7200" anchor="ctr">
                    <a:solidFill>
                      <a:srgbClr val="E3E7E9"/>
                    </a:solidFill>
                  </a:tcPr>
                </a:tc>
                <a:extLst>
                  <a:ext uri="{0D108BD9-81ED-4DB2-BD59-A6C34878D82A}">
                    <a16:rowId xmlns:a16="http://schemas.microsoft.com/office/drawing/2014/main" val="10008"/>
                  </a:ext>
                </a:extLst>
              </a:tr>
              <a:tr h="384923">
                <a:tc>
                  <a:txBody>
                    <a:bodyPr/>
                    <a:lstStyle/>
                    <a:p>
                      <a:pPr algn="l"/>
                      <a:r>
                        <a:rPr sz="900" b="0">
                          <a:solidFill>
                            <a:srgbClr val="0B3041"/>
                          </a:solidFill>
                          <a:latin typeface="游ゴシック"/>
                          <a:ea typeface="游ゴシック"/>
                        </a:rPr>
                        <a:t>投資有価証券</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275,896</a:t>
                      </a:r>
                    </a:p>
                  </a:txBody>
                  <a:tcPr marL="36000" marR="36000" marT="7200" marB="7200" anchor="ctr">
                    <a:solidFill>
                      <a:srgbClr val="FFFFFF"/>
                    </a:solidFill>
                  </a:tcPr>
                </a:tc>
                <a:tc>
                  <a:txBody>
                    <a:bodyPr/>
                    <a:lstStyle/>
                    <a:p>
                      <a:pPr algn="l"/>
                      <a:r>
                        <a:rPr sz="900" b="0">
                          <a:solidFill>
                            <a:srgbClr val="0B3041"/>
                          </a:solidFill>
                          <a:latin typeface="游ゴシック"/>
                          <a:ea typeface="游ゴシック"/>
                        </a:rPr>
                        <a:t>資本金</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10,000</a:t>
                      </a:r>
                    </a:p>
                  </a:txBody>
                  <a:tcPr marL="36000" marR="36000" marT="7200" marB="7200" anchor="ctr">
                    <a:solidFill>
                      <a:srgbClr val="FFFFFF"/>
                    </a:solidFill>
                  </a:tcPr>
                </a:tc>
                <a:extLst>
                  <a:ext uri="{0D108BD9-81ED-4DB2-BD59-A6C34878D82A}">
                    <a16:rowId xmlns:a16="http://schemas.microsoft.com/office/drawing/2014/main" val="10009"/>
                  </a:ext>
                </a:extLst>
              </a:tr>
              <a:tr h="384923">
                <a:tc>
                  <a:txBody>
                    <a:bodyPr/>
                    <a:lstStyle/>
                    <a:p>
                      <a:pPr algn="l"/>
                      <a:r>
                        <a:rPr sz="900" b="0">
                          <a:solidFill>
                            <a:srgbClr val="0B3041"/>
                          </a:solidFill>
                          <a:latin typeface="游ゴシック"/>
                          <a:ea typeface="游ゴシック"/>
                        </a:rPr>
                        <a:t>保険積立金</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43,327</a:t>
                      </a:r>
                    </a:p>
                  </a:txBody>
                  <a:tcPr marL="36000" marR="36000" marT="7200" marB="7200" anchor="ctr">
                    <a:solidFill>
                      <a:srgbClr val="F4F7F9"/>
                    </a:solidFill>
                  </a:tcPr>
                </a:tc>
                <a:tc>
                  <a:txBody>
                    <a:bodyPr/>
                    <a:lstStyle/>
                    <a:p>
                      <a:pPr algn="l"/>
                      <a:r>
                        <a:rPr sz="900" b="0">
                          <a:solidFill>
                            <a:srgbClr val="0B3041"/>
                          </a:solidFill>
                          <a:latin typeface="游ゴシック"/>
                          <a:ea typeface="游ゴシック"/>
                        </a:rPr>
                        <a:t>利益剰余金</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323,536</a:t>
                      </a:r>
                    </a:p>
                  </a:txBody>
                  <a:tcPr marL="36000" marR="36000" marT="7200" marB="7200" anchor="ctr">
                    <a:solidFill>
                      <a:srgbClr val="F4F7F9"/>
                    </a:solidFill>
                  </a:tcPr>
                </a:tc>
                <a:extLst>
                  <a:ext uri="{0D108BD9-81ED-4DB2-BD59-A6C34878D82A}">
                    <a16:rowId xmlns:a16="http://schemas.microsoft.com/office/drawing/2014/main" val="10010"/>
                  </a:ext>
                </a:extLst>
              </a:tr>
              <a:tr h="384923">
                <a:tc>
                  <a:txBody>
                    <a:bodyPr/>
                    <a:lstStyle/>
                    <a:p>
                      <a:pPr algn="l"/>
                      <a:r>
                        <a:rPr sz="900" b="0">
                          <a:solidFill>
                            <a:srgbClr val="0B3041"/>
                          </a:solidFill>
                          <a:latin typeface="游ゴシック"/>
                          <a:ea typeface="游ゴシック"/>
                        </a:rPr>
                        <a:t>その他資産</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1,472</a:t>
                      </a:r>
                    </a:p>
                  </a:txBody>
                  <a:tcPr marL="36000" marR="36000" marT="7200" marB="7200" anchor="ctr">
                    <a:solidFill>
                      <a:srgbClr val="FFFFFF"/>
                    </a:solidFill>
                  </a:tcPr>
                </a:tc>
                <a:tc>
                  <a:txBody>
                    <a:bodyPr/>
                    <a:lstStyle/>
                    <a:p>
                      <a:pPr algn="l"/>
                      <a:r>
                        <a:rPr sz="900" b="0">
                          <a:solidFill>
                            <a:srgbClr val="0B3041"/>
                          </a:solidFill>
                          <a:latin typeface="游ゴシック"/>
                          <a:ea typeface="游ゴシック"/>
                        </a:rPr>
                        <a:t>純資産合計</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333,536</a:t>
                      </a:r>
                    </a:p>
                  </a:txBody>
                  <a:tcPr marL="36000" marR="36000" marT="7200" marB="7200" anchor="ctr">
                    <a:solidFill>
                      <a:srgbClr val="FFFFFF"/>
                    </a:solidFill>
                  </a:tcPr>
                </a:tc>
                <a:extLst>
                  <a:ext uri="{0D108BD9-81ED-4DB2-BD59-A6C34878D82A}">
                    <a16:rowId xmlns:a16="http://schemas.microsoft.com/office/drawing/2014/main" val="10011"/>
                  </a:ext>
                </a:extLst>
              </a:tr>
              <a:tr h="384923">
                <a:tc>
                  <a:txBody>
                    <a:bodyPr/>
                    <a:lstStyle/>
                    <a:p>
                      <a:pPr algn="l"/>
                      <a:r>
                        <a:rPr sz="900" b="1">
                          <a:solidFill>
                            <a:srgbClr val="0B3041"/>
                          </a:solidFill>
                          <a:latin typeface="游ゴシック"/>
                          <a:ea typeface="游ゴシック"/>
                        </a:rPr>
                        <a:t>資産合計</a:t>
                      </a:r>
                    </a:p>
                  </a:txBody>
                  <a:tcPr marL="36000" marR="36000" marT="7200" marB="7200" anchor="ctr">
                    <a:solidFill>
                      <a:srgbClr val="E3E7E9"/>
                    </a:solidFill>
                  </a:tcPr>
                </a:tc>
                <a:tc>
                  <a:txBody>
                    <a:bodyPr/>
                    <a:lstStyle/>
                    <a:p>
                      <a:pPr algn="r"/>
                      <a:r>
                        <a:rPr sz="900" b="1">
                          <a:solidFill>
                            <a:srgbClr val="0B3041"/>
                          </a:solidFill>
                          <a:latin typeface="游ゴシック"/>
                          <a:ea typeface="游ゴシック"/>
                        </a:rPr>
                        <a:t>550,008</a:t>
                      </a:r>
                    </a:p>
                  </a:txBody>
                  <a:tcPr marL="36000" marR="36000" marT="7200" marB="7200" anchor="ctr">
                    <a:solidFill>
                      <a:srgbClr val="E3E7E9"/>
                    </a:solidFill>
                  </a:tcPr>
                </a:tc>
                <a:tc>
                  <a:txBody>
                    <a:bodyPr/>
                    <a:lstStyle/>
                    <a:p>
                      <a:pPr algn="l"/>
                      <a:r>
                        <a:rPr sz="900" b="1">
                          <a:solidFill>
                            <a:srgbClr val="0B3041"/>
                          </a:solidFill>
                          <a:latin typeface="游ゴシック"/>
                          <a:ea typeface="游ゴシック"/>
                        </a:rPr>
                        <a:t>負債・純資産合計</a:t>
                      </a:r>
                    </a:p>
                  </a:txBody>
                  <a:tcPr marL="36000" marR="36000" marT="7200" marB="7200" anchor="ctr">
                    <a:solidFill>
                      <a:srgbClr val="E3E7E9"/>
                    </a:solidFill>
                  </a:tcPr>
                </a:tc>
                <a:tc>
                  <a:txBody>
                    <a:bodyPr/>
                    <a:lstStyle/>
                    <a:p>
                      <a:pPr algn="r"/>
                      <a:r>
                        <a:rPr sz="900" b="1">
                          <a:solidFill>
                            <a:srgbClr val="0B3041"/>
                          </a:solidFill>
                          <a:latin typeface="游ゴシック"/>
                          <a:ea typeface="游ゴシック"/>
                        </a:rPr>
                        <a:t>550,008</a:t>
                      </a:r>
                    </a:p>
                  </a:txBody>
                  <a:tcPr marL="36000" marR="36000" marT="7200" marB="7200" anchor="ctr">
                    <a:solidFill>
                      <a:srgbClr val="E3E7E9"/>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40303346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8B16AC-440E-B017-4071-3411A281587D}"/>
            </a:ext>
          </a:extLst>
        </p:cNvPr>
        <p:cNvGrpSpPr/>
        <p:nvPr/>
      </p:nvGrpSpPr>
      <p:grpSpPr>
        <a:xfrm>
          <a:off x="0" y="0"/>
          <a:ext cx="0" cy="0"/>
          <a:chOff x="0" y="0"/>
          <a:chExt cx="0" cy="0"/>
        </a:xfrm>
      </p:grpSpPr>
      <p:sp>
        <p:nvSpPr>
          <p:cNvPr id="14" name="字幕 13">
            <a:extLst>
              <a:ext uri="{FF2B5EF4-FFF2-40B4-BE49-F238E27FC236}">
                <a16:creationId xmlns:a16="http://schemas.microsoft.com/office/drawing/2014/main" id="{C675A269-60D3-5D57-5AB4-CFD1F7D46A87}"/>
              </a:ext>
            </a:extLst>
          </p:cNvPr>
          <p:cNvSpPr>
            <a:spLocks noGrp="1"/>
          </p:cNvSpPr>
          <p:nvPr>
            <p:ph type="subTitle" idx="1"/>
          </p:nvPr>
        </p:nvSpPr>
        <p:spPr>
          <a:xfrm>
            <a:off x="460675" y="830045"/>
            <a:ext cx="9781875" cy="859607"/>
          </a:xfrm>
        </p:spPr>
        <p:txBody>
          <a:bodyPr>
            <a:noAutofit/>
          </a:bodyPr>
          <a:lstStyle/>
          <a:p>
            <a:pPr marL="285750" indent="-285750">
              <a:buFont typeface="Wingdings" panose="05000000000000000000" pitchFamily="2" charset="2"/>
              <a:buChar char="Ø"/>
            </a:pPr>
            <a:r>
              <a:rPr lang="ja-JP" altLang="en-US" sz="1200" dirty="0">
                <a:latin typeface="游ゴシック" panose="020B0400000000000000" pitchFamily="50" charset="-128"/>
                <a:ea typeface="游ゴシック" panose="020B0400000000000000" pitchFamily="50" charset="-128"/>
              </a:rPr>
              <a:t>投資有価証券（</a:t>
            </a:r>
            <a:r>
              <a:rPr lang="en-US" altLang="ja-JP" sz="1200" dirty="0">
                <a:latin typeface="游ゴシック" panose="020B0400000000000000" pitchFamily="50" charset="-128"/>
                <a:ea typeface="游ゴシック" panose="020B0400000000000000" pitchFamily="50" charset="-128"/>
              </a:rPr>
              <a:t>275,896</a:t>
            </a:r>
            <a:r>
              <a:rPr lang="ja-JP" altLang="en-US" sz="1200" dirty="0">
                <a:latin typeface="游ゴシック" panose="020B0400000000000000" pitchFamily="50" charset="-128"/>
                <a:ea typeface="游ゴシック" panose="020B0400000000000000" pitchFamily="50" charset="-128"/>
              </a:rPr>
              <a:t>千円）・保険積立金（</a:t>
            </a:r>
            <a:r>
              <a:rPr lang="en-US" altLang="ja-JP" sz="1200" dirty="0">
                <a:latin typeface="游ゴシック" panose="020B0400000000000000" pitchFamily="50" charset="-128"/>
                <a:ea typeface="游ゴシック" panose="020B0400000000000000" pitchFamily="50" charset="-128"/>
              </a:rPr>
              <a:t>43,327</a:t>
            </a:r>
            <a:r>
              <a:rPr lang="ja-JP" altLang="en-US" sz="1200" dirty="0">
                <a:latin typeface="游ゴシック" panose="020B0400000000000000" pitchFamily="50" charset="-128"/>
                <a:ea typeface="游ゴシック" panose="020B0400000000000000" pitchFamily="50" charset="-128"/>
              </a:rPr>
              <a:t>千円）・車両運搬具（</a:t>
            </a:r>
            <a:r>
              <a:rPr lang="en-US" altLang="ja-JP" sz="1200" dirty="0">
                <a:latin typeface="游ゴシック" panose="020B0400000000000000" pitchFamily="50" charset="-128"/>
                <a:ea typeface="游ゴシック" panose="020B0400000000000000" pitchFamily="50" charset="-128"/>
              </a:rPr>
              <a:t>265</a:t>
            </a:r>
            <a:r>
              <a:rPr lang="ja-JP" altLang="en-US" sz="1200" dirty="0">
                <a:latin typeface="游ゴシック" panose="020B0400000000000000" pitchFamily="50" charset="-128"/>
                <a:ea typeface="游ゴシック" panose="020B0400000000000000" pitchFamily="50" charset="-128"/>
              </a:rPr>
              <a:t>千円）の計</a:t>
            </a:r>
            <a:r>
              <a:rPr lang="en-US" altLang="ja-JP" sz="1200" dirty="0">
                <a:latin typeface="游ゴシック" panose="020B0400000000000000" pitchFamily="50" charset="-128"/>
                <a:ea typeface="游ゴシック" panose="020B0400000000000000" pitchFamily="50" charset="-128"/>
              </a:rPr>
              <a:t>319,488</a:t>
            </a:r>
            <a:r>
              <a:rPr lang="ja-JP" altLang="en-US" sz="1200" dirty="0">
                <a:latin typeface="游ゴシック" panose="020B0400000000000000" pitchFamily="50" charset="-128"/>
                <a:ea typeface="游ゴシック" panose="020B0400000000000000" pitchFamily="50" charset="-128"/>
              </a:rPr>
              <a:t>千円は全て新設会社へ承継</a:t>
            </a:r>
            <a:endParaRPr lang="en-US" altLang="ja-JP" sz="1200" dirty="0">
              <a:latin typeface="游ゴシック" panose="020B0400000000000000" pitchFamily="50" charset="-128"/>
              <a:ea typeface="游ゴシック" panose="020B0400000000000000" pitchFamily="50" charset="-128"/>
            </a:endParaRPr>
          </a:p>
          <a:p>
            <a:pPr marL="285750" indent="-285750">
              <a:buFont typeface="Wingdings" panose="05000000000000000000" pitchFamily="2" charset="2"/>
              <a:buChar char="Ø"/>
            </a:pPr>
            <a:r>
              <a:rPr lang="ja-JP" altLang="en-US" sz="1200" dirty="0">
                <a:latin typeface="游ゴシック" panose="020B0400000000000000" pitchFamily="50" charset="-128"/>
                <a:ea typeface="游ゴシック" panose="020B0400000000000000" pitchFamily="50" charset="-128"/>
              </a:rPr>
              <a:t>現預金・借入金はいずれも対象会社に残置（ネットキャッシュ ＋</a:t>
            </a:r>
            <a:r>
              <a:rPr lang="en-US" altLang="ja-JP" sz="1200" dirty="0">
                <a:latin typeface="游ゴシック" panose="020B0400000000000000" pitchFamily="50" charset="-128"/>
                <a:ea typeface="游ゴシック" panose="020B0400000000000000" pitchFamily="50" charset="-128"/>
              </a:rPr>
              <a:t>5,418</a:t>
            </a:r>
            <a:r>
              <a:rPr lang="ja-JP" altLang="en-US" sz="1200" dirty="0">
                <a:latin typeface="游ゴシック" panose="020B0400000000000000" pitchFamily="50" charset="-128"/>
                <a:ea typeface="游ゴシック" panose="020B0400000000000000" pitchFamily="50" charset="-128"/>
              </a:rPr>
              <a:t>千円）</a:t>
            </a:r>
          </a:p>
          <a:p>
            <a:pPr marL="285750" indent="-285750">
              <a:buFont typeface="Wingdings" panose="05000000000000000000" pitchFamily="2" charset="2"/>
              <a:buChar char="Ø"/>
            </a:pPr>
            <a:r>
              <a:rPr lang="ja-JP" altLang="en-US" sz="1200" dirty="0">
                <a:latin typeface="游ゴシック" panose="020B0400000000000000" pitchFamily="50" charset="-128"/>
                <a:ea typeface="游ゴシック" panose="020B0400000000000000" pitchFamily="50" charset="-128"/>
              </a:rPr>
              <a:t>事業用資産及び負債は全て対象会社に残置。分割後の純資産は約</a:t>
            </a:r>
            <a:r>
              <a:rPr lang="en-US" altLang="ja-JP" sz="1200" dirty="0">
                <a:latin typeface="游ゴシック" panose="020B0400000000000000" pitchFamily="50" charset="-128"/>
                <a:ea typeface="游ゴシック" panose="020B0400000000000000" pitchFamily="50" charset="-128"/>
              </a:rPr>
              <a:t>14,048</a:t>
            </a:r>
            <a:r>
              <a:rPr lang="ja-JP" altLang="en-US" sz="1200" dirty="0">
                <a:latin typeface="游ゴシック" panose="020B0400000000000000" pitchFamily="50" charset="-128"/>
                <a:ea typeface="游ゴシック" panose="020B0400000000000000" pitchFamily="50" charset="-128"/>
              </a:rPr>
              <a:t>千円となる見込み</a:t>
            </a:r>
          </a:p>
        </p:txBody>
      </p:sp>
      <p:sp>
        <p:nvSpPr>
          <p:cNvPr id="13" name="タイトル 12">
            <a:extLst>
              <a:ext uri="{FF2B5EF4-FFF2-40B4-BE49-F238E27FC236}">
                <a16:creationId xmlns:a16="http://schemas.microsoft.com/office/drawing/2014/main" id="{91235D0E-DCF9-89E0-7086-91E76DE11539}"/>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rPr>
              <a:t>分割後</a:t>
            </a:r>
            <a:r>
              <a:rPr lang="en-US" altLang="ja-JP" dirty="0">
                <a:latin typeface="游ゴシック" panose="020B0400000000000000" pitchFamily="50" charset="-128"/>
                <a:ea typeface="游ゴシック" panose="020B0400000000000000" pitchFamily="50" charset="-128"/>
              </a:rPr>
              <a:t>BS</a:t>
            </a:r>
            <a:r>
              <a:rPr lang="ja-JP" altLang="en-US" dirty="0">
                <a:latin typeface="游ゴシック" panose="020B0400000000000000" pitchFamily="50" charset="-128"/>
                <a:ea typeface="游ゴシック" panose="020B0400000000000000" pitchFamily="50" charset="-128"/>
              </a:rPr>
              <a:t>イメージ</a:t>
            </a:r>
          </a:p>
        </p:txBody>
      </p:sp>
      <p:sp>
        <p:nvSpPr>
          <p:cNvPr id="5" name="タイトル 1">
            <a:extLst>
              <a:ext uri="{FF2B5EF4-FFF2-40B4-BE49-F238E27FC236}">
                <a16:creationId xmlns:a16="http://schemas.microsoft.com/office/drawing/2014/main" id="{C8150125-5149-CFCD-E8BF-616BF951B328}"/>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latin typeface="游ゴシック" panose="020B0400000000000000" pitchFamily="50" charset="-128"/>
                <a:ea typeface="游ゴシック" panose="020B0400000000000000" pitchFamily="50" charset="-128"/>
              </a:rPr>
              <a:t>エグゼクティブサマリー</a:t>
            </a:r>
          </a:p>
        </p:txBody>
      </p:sp>
      <p:sp>
        <p:nvSpPr>
          <p:cNvPr id="4" name="TextBox 209">
            <a:extLst>
              <a:ext uri="{FF2B5EF4-FFF2-40B4-BE49-F238E27FC236}">
                <a16:creationId xmlns:a16="http://schemas.microsoft.com/office/drawing/2014/main" id="{B0DE02D1-27C2-C1AC-B852-9117F2B6B264}"/>
              </a:ext>
            </a:extLst>
          </p:cNvPr>
          <p:cNvSpPr txBox="1"/>
          <p:nvPr/>
        </p:nvSpPr>
        <p:spPr>
          <a:xfrm>
            <a:off x="242146" y="6221799"/>
            <a:ext cx="8631936" cy="230832"/>
          </a:xfrm>
          <a:prstGeom prst="rect">
            <a:avLst/>
          </a:prstGeom>
          <a:noFill/>
        </p:spPr>
        <p:txBody>
          <a:bodyPr wrap="square">
            <a:spAutoFit/>
          </a:bodyPr>
          <a:lstStyle/>
          <a:p>
            <a:r>
              <a:rPr sz="900" dirty="0">
                <a:latin typeface="游ゴシック" panose="020B0400000000000000" pitchFamily="50" charset="-128"/>
                <a:ea typeface="游ゴシック" panose="020B0400000000000000" pitchFamily="50" charset="-128"/>
              </a:rPr>
              <a:t>※ 令和8年1月期末（2026年1月31日）BSベース</a:t>
            </a:r>
            <a:r>
              <a:rPr lang="ja-JP" altLang="en-US" sz="900" dirty="0">
                <a:latin typeface="游ゴシック" panose="020B0400000000000000" pitchFamily="50" charset="-128"/>
                <a:ea typeface="游ゴシック" panose="020B0400000000000000" pitchFamily="50" charset="-128"/>
              </a:rPr>
              <a:t>を基に算出</a:t>
            </a:r>
            <a:r>
              <a:rPr sz="900" dirty="0">
                <a:latin typeface="游ゴシック" panose="020B0400000000000000" pitchFamily="50" charset="-128"/>
                <a:ea typeface="游ゴシック" panose="020B0400000000000000" pitchFamily="50" charset="-128"/>
              </a:rPr>
              <a:t>。</a:t>
            </a:r>
          </a:p>
        </p:txBody>
      </p:sp>
      <p:graphicFrame>
        <p:nvGraphicFramePr>
          <p:cNvPr id="9" name="Table 207">
            <a:extLst>
              <a:ext uri="{FF2B5EF4-FFF2-40B4-BE49-F238E27FC236}">
                <a16:creationId xmlns:a16="http://schemas.microsoft.com/office/drawing/2014/main" id="{239FB17A-A2DC-EB9F-B937-41D1BCAE9055}"/>
              </a:ext>
            </a:extLst>
          </p:cNvPr>
          <p:cNvGraphicFramePr>
            <a:graphicFrameLocks noGrp="1"/>
          </p:cNvGraphicFramePr>
          <p:nvPr>
            <p:extLst>
              <p:ext uri="{D42A27DB-BD31-4B8C-83A1-F6EECF244321}">
                <p14:modId xmlns:p14="http://schemas.microsoft.com/office/powerpoint/2010/main" val="593675234"/>
              </p:ext>
            </p:extLst>
          </p:nvPr>
        </p:nvGraphicFramePr>
        <p:xfrm>
          <a:off x="365759" y="1828800"/>
          <a:ext cx="2953173" cy="3474720"/>
        </p:xfrm>
        <a:graphic>
          <a:graphicData uri="http://schemas.openxmlformats.org/drawingml/2006/table">
            <a:tbl>
              <a:tblPr>
                <a:tableStyleId>{5C22544A-7EE6-4342-B048-85BDC9FD1C3A}</a:tableStyleId>
              </a:tblPr>
              <a:tblGrid>
                <a:gridCol w="1979036">
                  <a:extLst>
                    <a:ext uri="{9D8B030D-6E8A-4147-A177-3AD203B41FA5}">
                      <a16:colId xmlns:a16="http://schemas.microsoft.com/office/drawing/2014/main" val="20000"/>
                    </a:ext>
                  </a:extLst>
                </a:gridCol>
                <a:gridCol w="974137">
                  <a:extLst>
                    <a:ext uri="{9D8B030D-6E8A-4147-A177-3AD203B41FA5}">
                      <a16:colId xmlns:a16="http://schemas.microsoft.com/office/drawing/2014/main" val="20001"/>
                    </a:ext>
                  </a:extLst>
                </a:gridCol>
              </a:tblGrid>
              <a:tr h="274320">
                <a:tc gridSpan="2">
                  <a:txBody>
                    <a:bodyPr/>
                    <a:lstStyle/>
                    <a:p>
                      <a:pPr algn="ctr"/>
                      <a:r>
                        <a:rPr lang="ja-JP" sz="1050" b="1">
                          <a:solidFill>
                            <a:srgbClr val="FFFFFF"/>
                          </a:solidFill>
                          <a:latin typeface="游ゴシック" panose="020B0400000000000000" pitchFamily="50" charset="-128"/>
                          <a:ea typeface="游ゴシック" panose="020B0400000000000000" pitchFamily="50" charset="-128"/>
                        </a:rPr>
                        <a:t>分割前｜カナリア社（令和8年1月期末実績）</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203864"/>
                    </a:solidFill>
                  </a:tcPr>
                </a:tc>
                <a:tc hMerge="1">
                  <a:txBody>
                    <a:bodyPr/>
                    <a:lstStyle/>
                    <a:p>
                      <a:pPr algn="ctr"/>
                      <a:endParaRP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203864"/>
                    </a:solidFill>
                  </a:tcPr>
                </a:tc>
                <a:extLst>
                  <a:ext uri="{0D108BD9-81ED-4DB2-BD59-A6C34878D82A}">
                    <a16:rowId xmlns:a16="http://schemas.microsoft.com/office/drawing/2014/main" val="10000"/>
                  </a:ext>
                </a:extLst>
              </a:tr>
              <a:tr h="274320">
                <a:tc>
                  <a:txBody>
                    <a:bodyPr/>
                    <a:lstStyle/>
                    <a:p>
                      <a:pPr algn="l"/>
                      <a:r>
                        <a:rPr lang="ja-JP" sz="1000" b="1">
                          <a:solidFill>
                            <a:srgbClr val="000000"/>
                          </a:solidFill>
                          <a:latin typeface="游ゴシック" panose="020B0400000000000000" pitchFamily="50" charset="-128"/>
                          <a:ea typeface="游ゴシック" panose="020B0400000000000000" pitchFamily="50" charset="-128"/>
                        </a:rPr>
                        <a:t>資産の部</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8EDF7"/>
                    </a:solidFill>
                  </a:tcPr>
                </a:tc>
                <a:tc>
                  <a:txBody>
                    <a:bodyPr/>
                    <a:lstStyle/>
                    <a:p>
                      <a:pPr algn="r"/>
                      <a:endParaRPr sz="2400">
                        <a:latin typeface="游ゴシック" panose="020B0400000000000000" pitchFamily="50" charset="-128"/>
                        <a:ea typeface="游ゴシック" panose="020B0400000000000000" pitchFamily="50" charset="-128"/>
                      </a:endParaRP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8EDF7"/>
                    </a:solidFill>
                  </a:tcPr>
                </a:tc>
                <a:extLst>
                  <a:ext uri="{0D108BD9-81ED-4DB2-BD59-A6C34878D82A}">
                    <a16:rowId xmlns:a16="http://schemas.microsoft.com/office/drawing/2014/main" val="10001"/>
                  </a:ext>
                </a:extLst>
              </a:tr>
              <a:tr h="274320">
                <a:tc>
                  <a:txBody>
                    <a:bodyPr/>
                    <a:lstStyle/>
                    <a:p>
                      <a:pPr algn="l"/>
                      <a:r>
                        <a:rPr lang="ja-JP" sz="1050" b="0" dirty="0">
                          <a:solidFill>
                            <a:srgbClr val="000000"/>
                          </a:solidFill>
                          <a:latin typeface="游ゴシック" panose="020B0400000000000000" pitchFamily="50" charset="-128"/>
                          <a:ea typeface="游ゴシック" panose="020B0400000000000000" pitchFamily="50" charset="-128"/>
                        </a:rPr>
                        <a:t>現金及び預金</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1050" b="0">
                          <a:solidFill>
                            <a:srgbClr val="000000"/>
                          </a:solidFill>
                          <a:latin typeface="游ゴシック" panose="020B0400000000000000" pitchFamily="50" charset="-128"/>
                          <a:ea typeface="游ゴシック" panose="020B0400000000000000" pitchFamily="50" charset="-128"/>
                        </a:rPr>
                        <a:t>193,226</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2"/>
                  </a:ext>
                </a:extLst>
              </a:tr>
              <a:tr h="274320">
                <a:tc>
                  <a:txBody>
                    <a:bodyPr/>
                    <a:lstStyle/>
                    <a:p>
                      <a:pPr algn="l"/>
                      <a:r>
                        <a:rPr lang="ja-JP" sz="1050" b="0">
                          <a:solidFill>
                            <a:srgbClr val="000000"/>
                          </a:solidFill>
                          <a:latin typeface="游ゴシック" panose="020B0400000000000000" pitchFamily="50" charset="-128"/>
                          <a:ea typeface="游ゴシック" panose="020B0400000000000000" pitchFamily="50" charset="-128"/>
                        </a:rPr>
                        <a:t>その他流動資産</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1050" b="0">
                          <a:solidFill>
                            <a:srgbClr val="000000"/>
                          </a:solidFill>
                          <a:latin typeface="游ゴシック" panose="020B0400000000000000" pitchFamily="50" charset="-128"/>
                          <a:ea typeface="游ゴシック" panose="020B0400000000000000" pitchFamily="50" charset="-128"/>
                        </a:rPr>
                        <a:t>32,918</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3"/>
                  </a:ext>
                </a:extLst>
              </a:tr>
              <a:tr h="274320">
                <a:tc>
                  <a:txBody>
                    <a:bodyPr/>
                    <a:lstStyle/>
                    <a:p>
                      <a:pPr algn="l"/>
                      <a:r>
                        <a:rPr lang="ja-JP" sz="1050" b="0">
                          <a:solidFill>
                            <a:srgbClr val="000000"/>
                          </a:solidFill>
                          <a:latin typeface="游ゴシック" panose="020B0400000000000000" pitchFamily="50" charset="-128"/>
                          <a:ea typeface="游ゴシック" panose="020B0400000000000000" pitchFamily="50" charset="-128"/>
                        </a:rPr>
                        <a:t>有形固定資産</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1050" b="0">
                          <a:solidFill>
                            <a:srgbClr val="000000"/>
                          </a:solidFill>
                          <a:latin typeface="游ゴシック" panose="020B0400000000000000" pitchFamily="50" charset="-128"/>
                          <a:ea typeface="游ゴシック" panose="020B0400000000000000" pitchFamily="50" charset="-128"/>
                        </a:rPr>
                        <a:t>1,057</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4"/>
                  </a:ext>
                </a:extLst>
              </a:tr>
              <a:tr h="274320">
                <a:tc>
                  <a:txBody>
                    <a:bodyPr/>
                    <a:lstStyle/>
                    <a:p>
                      <a:pPr algn="l"/>
                      <a:r>
                        <a:rPr lang="ja-JP" sz="1050" b="0">
                          <a:solidFill>
                            <a:srgbClr val="000000"/>
                          </a:solidFill>
                          <a:latin typeface="游ゴシック" panose="020B0400000000000000" pitchFamily="50" charset="-128"/>
                          <a:ea typeface="游ゴシック" panose="020B0400000000000000" pitchFamily="50" charset="-128"/>
                        </a:rPr>
                        <a:t>無形固定資産・投資等</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1050" b="0">
                          <a:solidFill>
                            <a:srgbClr val="000000"/>
                          </a:solidFill>
                          <a:latin typeface="游ゴシック" panose="020B0400000000000000" pitchFamily="50" charset="-128"/>
                          <a:ea typeface="游ゴシック" panose="020B0400000000000000" pitchFamily="50" charset="-128"/>
                        </a:rPr>
                        <a:t>322,806</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5"/>
                  </a:ext>
                </a:extLst>
              </a:tr>
              <a:tr h="274320">
                <a:tc>
                  <a:txBody>
                    <a:bodyPr/>
                    <a:lstStyle/>
                    <a:p>
                      <a:pPr algn="l"/>
                      <a:r>
                        <a:rPr lang="ja-JP" sz="1050" b="1">
                          <a:solidFill>
                            <a:srgbClr val="000000"/>
                          </a:solidFill>
                          <a:latin typeface="游ゴシック" panose="020B0400000000000000" pitchFamily="50" charset="-128"/>
                          <a:ea typeface="游ゴシック" panose="020B0400000000000000" pitchFamily="50" charset="-128"/>
                        </a:rPr>
                        <a:t>資産合計</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CF1F9"/>
                    </a:solidFill>
                  </a:tcPr>
                </a:tc>
                <a:tc>
                  <a:txBody>
                    <a:bodyPr/>
                    <a:lstStyle/>
                    <a:p>
                      <a:pPr algn="r"/>
                      <a:r>
                        <a:rPr lang="ja-JP" sz="1050" b="1">
                          <a:solidFill>
                            <a:srgbClr val="000000"/>
                          </a:solidFill>
                          <a:latin typeface="游ゴシック" panose="020B0400000000000000" pitchFamily="50" charset="-128"/>
                          <a:ea typeface="游ゴシック" panose="020B0400000000000000" pitchFamily="50" charset="-128"/>
                        </a:rPr>
                        <a:t>550,008</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CF1F9"/>
                    </a:solidFill>
                  </a:tcPr>
                </a:tc>
                <a:extLst>
                  <a:ext uri="{0D108BD9-81ED-4DB2-BD59-A6C34878D82A}">
                    <a16:rowId xmlns:a16="http://schemas.microsoft.com/office/drawing/2014/main" val="10006"/>
                  </a:ext>
                </a:extLst>
              </a:tr>
              <a:tr h="274320">
                <a:tc>
                  <a:txBody>
                    <a:bodyPr/>
                    <a:lstStyle/>
                    <a:p>
                      <a:pPr algn="l"/>
                      <a:r>
                        <a:rPr lang="ja-JP" sz="1000" b="1">
                          <a:solidFill>
                            <a:srgbClr val="000000"/>
                          </a:solidFill>
                          <a:latin typeface="游ゴシック" panose="020B0400000000000000" pitchFamily="50" charset="-128"/>
                          <a:ea typeface="游ゴシック" panose="020B0400000000000000" pitchFamily="50" charset="-128"/>
                        </a:rPr>
                        <a:t>負債・純資産の部</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8EDF7"/>
                    </a:solidFill>
                  </a:tcPr>
                </a:tc>
                <a:tc>
                  <a:txBody>
                    <a:bodyPr/>
                    <a:lstStyle/>
                    <a:p>
                      <a:pPr algn="r"/>
                      <a:endParaRPr sz="2400">
                        <a:latin typeface="游ゴシック" panose="020B0400000000000000" pitchFamily="50" charset="-128"/>
                        <a:ea typeface="游ゴシック" panose="020B0400000000000000" pitchFamily="50" charset="-128"/>
                      </a:endParaRP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8EDF7"/>
                    </a:solidFill>
                  </a:tcPr>
                </a:tc>
                <a:extLst>
                  <a:ext uri="{0D108BD9-81ED-4DB2-BD59-A6C34878D82A}">
                    <a16:rowId xmlns:a16="http://schemas.microsoft.com/office/drawing/2014/main" val="10007"/>
                  </a:ext>
                </a:extLst>
              </a:tr>
              <a:tr h="274320">
                <a:tc>
                  <a:txBody>
                    <a:bodyPr/>
                    <a:lstStyle/>
                    <a:p>
                      <a:pPr algn="l"/>
                      <a:r>
                        <a:rPr lang="ja-JP" sz="1050" b="0">
                          <a:solidFill>
                            <a:srgbClr val="000000"/>
                          </a:solidFill>
                          <a:latin typeface="游ゴシック" panose="020B0400000000000000" pitchFamily="50" charset="-128"/>
                          <a:ea typeface="游ゴシック" panose="020B0400000000000000" pitchFamily="50" charset="-128"/>
                        </a:rPr>
                        <a:t>借入金</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1050" b="0">
                          <a:solidFill>
                            <a:srgbClr val="000000"/>
                          </a:solidFill>
                          <a:latin typeface="游ゴシック" panose="020B0400000000000000" pitchFamily="50" charset="-128"/>
                          <a:ea typeface="游ゴシック" panose="020B0400000000000000" pitchFamily="50" charset="-128"/>
                        </a:rPr>
                        <a:t>187,808</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8"/>
                  </a:ext>
                </a:extLst>
              </a:tr>
              <a:tr h="274320">
                <a:tc>
                  <a:txBody>
                    <a:bodyPr/>
                    <a:lstStyle/>
                    <a:p>
                      <a:pPr algn="l"/>
                      <a:r>
                        <a:rPr lang="ja-JP" sz="1050" b="0">
                          <a:solidFill>
                            <a:srgbClr val="000000"/>
                          </a:solidFill>
                          <a:latin typeface="游ゴシック" panose="020B0400000000000000" pitchFamily="50" charset="-128"/>
                          <a:ea typeface="游ゴシック" panose="020B0400000000000000" pitchFamily="50" charset="-128"/>
                        </a:rPr>
                        <a:t>その他負債</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1050" b="0">
                          <a:solidFill>
                            <a:srgbClr val="000000"/>
                          </a:solidFill>
                          <a:latin typeface="游ゴシック" panose="020B0400000000000000" pitchFamily="50" charset="-128"/>
                          <a:ea typeface="游ゴシック" panose="020B0400000000000000" pitchFamily="50" charset="-128"/>
                        </a:rPr>
                        <a:t>28,664</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9"/>
                  </a:ext>
                </a:extLst>
              </a:tr>
              <a:tr h="274320">
                <a:tc>
                  <a:txBody>
                    <a:bodyPr/>
                    <a:lstStyle/>
                    <a:p>
                      <a:pPr algn="l"/>
                      <a:r>
                        <a:rPr lang="ja-JP" sz="1050" b="0">
                          <a:solidFill>
                            <a:srgbClr val="000000"/>
                          </a:solidFill>
                          <a:latin typeface="游ゴシック" panose="020B0400000000000000" pitchFamily="50" charset="-128"/>
                          <a:ea typeface="游ゴシック" panose="020B0400000000000000" pitchFamily="50" charset="-128"/>
                        </a:rPr>
                        <a:t>純資産</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1050" b="0">
                          <a:solidFill>
                            <a:srgbClr val="000000"/>
                          </a:solidFill>
                          <a:latin typeface="游ゴシック" panose="020B0400000000000000" pitchFamily="50" charset="-128"/>
                          <a:ea typeface="游ゴシック" panose="020B0400000000000000" pitchFamily="50" charset="-128"/>
                        </a:rPr>
                        <a:t>333,536</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10"/>
                  </a:ext>
                </a:extLst>
              </a:tr>
              <a:tr h="274320">
                <a:tc>
                  <a:txBody>
                    <a:bodyPr/>
                    <a:lstStyle/>
                    <a:p>
                      <a:pPr algn="l"/>
                      <a:r>
                        <a:rPr lang="ja-JP" sz="1050" b="1">
                          <a:solidFill>
                            <a:srgbClr val="000000"/>
                          </a:solidFill>
                          <a:latin typeface="游ゴシック" panose="020B0400000000000000" pitchFamily="50" charset="-128"/>
                          <a:ea typeface="游ゴシック" panose="020B0400000000000000" pitchFamily="50" charset="-128"/>
                        </a:rPr>
                        <a:t>負債・純資産合計</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CF1F9"/>
                    </a:solidFill>
                  </a:tcPr>
                </a:tc>
                <a:tc>
                  <a:txBody>
                    <a:bodyPr/>
                    <a:lstStyle/>
                    <a:p>
                      <a:pPr algn="r"/>
                      <a:r>
                        <a:rPr lang="ja-JP" sz="1050" b="1" dirty="0">
                          <a:solidFill>
                            <a:srgbClr val="000000"/>
                          </a:solidFill>
                          <a:latin typeface="游ゴシック" panose="020B0400000000000000" pitchFamily="50" charset="-128"/>
                          <a:ea typeface="游ゴシック" panose="020B0400000000000000" pitchFamily="50" charset="-128"/>
                        </a:rPr>
                        <a:t>550,008</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CF1F9"/>
                    </a:solidFill>
                  </a:tcPr>
                </a:tc>
                <a:extLst>
                  <a:ext uri="{0D108BD9-81ED-4DB2-BD59-A6C34878D82A}">
                    <a16:rowId xmlns:a16="http://schemas.microsoft.com/office/drawing/2014/main" val="10011"/>
                  </a:ext>
                </a:extLst>
              </a:tr>
            </a:tbl>
          </a:graphicData>
        </a:graphic>
      </p:graphicFrame>
      <p:graphicFrame>
        <p:nvGraphicFramePr>
          <p:cNvPr id="15" name="Table 208">
            <a:extLst>
              <a:ext uri="{FF2B5EF4-FFF2-40B4-BE49-F238E27FC236}">
                <a16:creationId xmlns:a16="http://schemas.microsoft.com/office/drawing/2014/main" id="{34035B83-AA55-6CF7-0671-626C0101C1E3}"/>
              </a:ext>
            </a:extLst>
          </p:cNvPr>
          <p:cNvGraphicFramePr>
            <a:graphicFrameLocks noGrp="1"/>
          </p:cNvGraphicFramePr>
          <p:nvPr>
            <p:extLst>
              <p:ext uri="{D42A27DB-BD31-4B8C-83A1-F6EECF244321}">
                <p14:modId xmlns:p14="http://schemas.microsoft.com/office/powerpoint/2010/main" val="4067947744"/>
              </p:ext>
            </p:extLst>
          </p:nvPr>
        </p:nvGraphicFramePr>
        <p:xfrm>
          <a:off x="4444323" y="1828800"/>
          <a:ext cx="2953173" cy="3474720"/>
        </p:xfrm>
        <a:graphic>
          <a:graphicData uri="http://schemas.openxmlformats.org/drawingml/2006/table">
            <a:tbl>
              <a:tblPr>
                <a:tableStyleId>{5C22544A-7EE6-4342-B048-85BDC9FD1C3A}</a:tableStyleId>
              </a:tblPr>
              <a:tblGrid>
                <a:gridCol w="1979036">
                  <a:extLst>
                    <a:ext uri="{9D8B030D-6E8A-4147-A177-3AD203B41FA5}">
                      <a16:colId xmlns:a16="http://schemas.microsoft.com/office/drawing/2014/main" val="20000"/>
                    </a:ext>
                  </a:extLst>
                </a:gridCol>
                <a:gridCol w="974137">
                  <a:extLst>
                    <a:ext uri="{9D8B030D-6E8A-4147-A177-3AD203B41FA5}">
                      <a16:colId xmlns:a16="http://schemas.microsoft.com/office/drawing/2014/main" val="20001"/>
                    </a:ext>
                  </a:extLst>
                </a:gridCol>
              </a:tblGrid>
              <a:tr h="274320">
                <a:tc gridSpan="2">
                  <a:txBody>
                    <a:bodyPr/>
                    <a:lstStyle/>
                    <a:p>
                      <a:pPr algn="ctr"/>
                      <a:r>
                        <a:rPr lang="ja-JP" sz="1050" b="1" dirty="0">
                          <a:solidFill>
                            <a:srgbClr val="FFFFFF"/>
                          </a:solidFill>
                          <a:latin typeface="游ゴシック" panose="020B0400000000000000" pitchFamily="50" charset="-128"/>
                          <a:ea typeface="游ゴシック" panose="020B0400000000000000" pitchFamily="50" charset="-128"/>
                        </a:rPr>
                        <a:t>対象会社（譲渡対象）</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203864"/>
                    </a:solidFill>
                  </a:tcPr>
                </a:tc>
                <a:tc hMerge="1">
                  <a:txBody>
                    <a:bodyPr/>
                    <a:lstStyle/>
                    <a:p>
                      <a:pPr algn="ctr"/>
                      <a:endParaRP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203864"/>
                    </a:solidFill>
                  </a:tcPr>
                </a:tc>
                <a:extLst>
                  <a:ext uri="{0D108BD9-81ED-4DB2-BD59-A6C34878D82A}">
                    <a16:rowId xmlns:a16="http://schemas.microsoft.com/office/drawing/2014/main" val="10000"/>
                  </a:ext>
                </a:extLst>
              </a:tr>
              <a:tr h="274320">
                <a:tc>
                  <a:txBody>
                    <a:bodyPr/>
                    <a:lstStyle/>
                    <a:p>
                      <a:pPr algn="l"/>
                      <a:r>
                        <a:rPr lang="ja-JP" sz="1000" b="1">
                          <a:solidFill>
                            <a:srgbClr val="000000"/>
                          </a:solidFill>
                          <a:latin typeface="游ゴシック" panose="020B0400000000000000" pitchFamily="50" charset="-128"/>
                          <a:ea typeface="游ゴシック" panose="020B0400000000000000" pitchFamily="50" charset="-128"/>
                        </a:rPr>
                        <a:t>資産の部</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8EDF7"/>
                    </a:solidFill>
                  </a:tcPr>
                </a:tc>
                <a:tc>
                  <a:txBody>
                    <a:bodyPr/>
                    <a:lstStyle/>
                    <a:p>
                      <a:pPr algn="r"/>
                      <a:endParaRPr sz="2400">
                        <a:latin typeface="游ゴシック" panose="020B0400000000000000" pitchFamily="50" charset="-128"/>
                        <a:ea typeface="游ゴシック" panose="020B0400000000000000" pitchFamily="50" charset="-128"/>
                      </a:endParaRP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8EDF7"/>
                    </a:solidFill>
                  </a:tcPr>
                </a:tc>
                <a:extLst>
                  <a:ext uri="{0D108BD9-81ED-4DB2-BD59-A6C34878D82A}">
                    <a16:rowId xmlns:a16="http://schemas.microsoft.com/office/drawing/2014/main" val="10001"/>
                  </a:ext>
                </a:extLst>
              </a:tr>
              <a:tr h="274320">
                <a:tc>
                  <a:txBody>
                    <a:bodyPr/>
                    <a:lstStyle/>
                    <a:p>
                      <a:pPr algn="l"/>
                      <a:r>
                        <a:rPr lang="ja-JP" sz="1050" b="0">
                          <a:solidFill>
                            <a:srgbClr val="000000"/>
                          </a:solidFill>
                          <a:latin typeface="游ゴシック" panose="020B0400000000000000" pitchFamily="50" charset="-128"/>
                          <a:ea typeface="游ゴシック" panose="020B0400000000000000" pitchFamily="50" charset="-128"/>
                        </a:rPr>
                        <a:t>現金及び預金</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1050" b="0">
                          <a:solidFill>
                            <a:srgbClr val="000000"/>
                          </a:solidFill>
                          <a:latin typeface="游ゴシック" panose="020B0400000000000000" pitchFamily="50" charset="-128"/>
                          <a:ea typeface="游ゴシック" panose="020B0400000000000000" pitchFamily="50" charset="-128"/>
                        </a:rPr>
                        <a:t>193,226</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2"/>
                  </a:ext>
                </a:extLst>
              </a:tr>
              <a:tr h="274320">
                <a:tc>
                  <a:txBody>
                    <a:bodyPr/>
                    <a:lstStyle/>
                    <a:p>
                      <a:pPr algn="l"/>
                      <a:r>
                        <a:rPr lang="ja-JP" sz="1050" b="0">
                          <a:solidFill>
                            <a:srgbClr val="000000"/>
                          </a:solidFill>
                          <a:latin typeface="游ゴシック" panose="020B0400000000000000" pitchFamily="50" charset="-128"/>
                          <a:ea typeface="游ゴシック" panose="020B0400000000000000" pitchFamily="50" charset="-128"/>
                        </a:rPr>
                        <a:t>その他流動資産</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en-US" altLang="ja-JP" sz="1050" b="0" dirty="0">
                          <a:solidFill>
                            <a:srgbClr val="000000"/>
                          </a:solidFill>
                          <a:latin typeface="游ゴシック" panose="020B0400000000000000" pitchFamily="50" charset="-128"/>
                          <a:ea typeface="游ゴシック" panose="020B0400000000000000" pitchFamily="50" charset="-128"/>
                        </a:rPr>
                        <a:t>32,918</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3"/>
                  </a:ext>
                </a:extLst>
              </a:tr>
              <a:tr h="274320">
                <a:tc>
                  <a:txBody>
                    <a:bodyPr/>
                    <a:lstStyle/>
                    <a:p>
                      <a:pPr algn="l"/>
                      <a:r>
                        <a:rPr lang="ja-JP" sz="1050" b="0">
                          <a:solidFill>
                            <a:srgbClr val="000000"/>
                          </a:solidFill>
                          <a:latin typeface="游ゴシック" panose="020B0400000000000000" pitchFamily="50" charset="-128"/>
                          <a:ea typeface="游ゴシック" panose="020B0400000000000000" pitchFamily="50" charset="-128"/>
                        </a:rPr>
                        <a:t>有形固定資産</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1050" b="0">
                          <a:solidFill>
                            <a:srgbClr val="000000"/>
                          </a:solidFill>
                          <a:latin typeface="游ゴシック" panose="020B0400000000000000" pitchFamily="50" charset="-128"/>
                          <a:ea typeface="游ゴシック" panose="020B0400000000000000" pitchFamily="50" charset="-128"/>
                        </a:rPr>
                        <a:t>792</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4"/>
                  </a:ext>
                </a:extLst>
              </a:tr>
              <a:tr h="274320">
                <a:tc>
                  <a:txBody>
                    <a:bodyPr/>
                    <a:lstStyle/>
                    <a:p>
                      <a:pPr algn="l"/>
                      <a:r>
                        <a:rPr lang="ja-JP" sz="1050" b="0">
                          <a:solidFill>
                            <a:srgbClr val="000000"/>
                          </a:solidFill>
                          <a:latin typeface="游ゴシック" panose="020B0400000000000000" pitchFamily="50" charset="-128"/>
                          <a:ea typeface="游ゴシック" panose="020B0400000000000000" pitchFamily="50" charset="-128"/>
                        </a:rPr>
                        <a:t>無形固定資産・投資等</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1050" b="0">
                          <a:solidFill>
                            <a:srgbClr val="000000"/>
                          </a:solidFill>
                          <a:latin typeface="游ゴシック" panose="020B0400000000000000" pitchFamily="50" charset="-128"/>
                          <a:ea typeface="游ゴシック" panose="020B0400000000000000" pitchFamily="50" charset="-128"/>
                        </a:rPr>
                        <a:t>3,583</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5"/>
                  </a:ext>
                </a:extLst>
              </a:tr>
              <a:tr h="274320">
                <a:tc>
                  <a:txBody>
                    <a:bodyPr/>
                    <a:lstStyle/>
                    <a:p>
                      <a:pPr algn="l"/>
                      <a:r>
                        <a:rPr lang="ja-JP" sz="1050" b="1">
                          <a:solidFill>
                            <a:srgbClr val="000000"/>
                          </a:solidFill>
                          <a:latin typeface="游ゴシック" panose="020B0400000000000000" pitchFamily="50" charset="-128"/>
                          <a:ea typeface="游ゴシック" panose="020B0400000000000000" pitchFamily="50" charset="-128"/>
                        </a:rPr>
                        <a:t>資産合計</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CF1F9"/>
                    </a:solidFill>
                  </a:tcPr>
                </a:tc>
                <a:tc>
                  <a:txBody>
                    <a:bodyPr/>
                    <a:lstStyle/>
                    <a:p>
                      <a:pPr algn="r"/>
                      <a:r>
                        <a:rPr lang="en-US" altLang="ja-JP" sz="1050" b="1" dirty="0">
                          <a:solidFill>
                            <a:srgbClr val="000000"/>
                          </a:solidFill>
                          <a:latin typeface="游ゴシック" panose="020B0400000000000000" pitchFamily="50" charset="-128"/>
                          <a:ea typeface="游ゴシック" panose="020B0400000000000000" pitchFamily="50" charset="-128"/>
                        </a:rPr>
                        <a:t>230,520</a:t>
                      </a:r>
                      <a:endParaRPr lang="ja-JP" sz="1050" b="1" dirty="0">
                        <a:solidFill>
                          <a:srgbClr val="000000"/>
                        </a:solidFill>
                        <a:latin typeface="游ゴシック" panose="020B0400000000000000" pitchFamily="50" charset="-128"/>
                        <a:ea typeface="游ゴシック" panose="020B0400000000000000" pitchFamily="50" charset="-128"/>
                      </a:endParaRP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CF1F9"/>
                    </a:solidFill>
                  </a:tcPr>
                </a:tc>
                <a:extLst>
                  <a:ext uri="{0D108BD9-81ED-4DB2-BD59-A6C34878D82A}">
                    <a16:rowId xmlns:a16="http://schemas.microsoft.com/office/drawing/2014/main" val="10006"/>
                  </a:ext>
                </a:extLst>
              </a:tr>
              <a:tr h="274320">
                <a:tc>
                  <a:txBody>
                    <a:bodyPr/>
                    <a:lstStyle/>
                    <a:p>
                      <a:pPr algn="l"/>
                      <a:r>
                        <a:rPr lang="ja-JP" sz="1000" b="1">
                          <a:solidFill>
                            <a:srgbClr val="000000"/>
                          </a:solidFill>
                          <a:latin typeface="游ゴシック" panose="020B0400000000000000" pitchFamily="50" charset="-128"/>
                          <a:ea typeface="游ゴシック" panose="020B0400000000000000" pitchFamily="50" charset="-128"/>
                        </a:rPr>
                        <a:t>負債・純資産の部</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8EDF7"/>
                    </a:solidFill>
                  </a:tcPr>
                </a:tc>
                <a:tc>
                  <a:txBody>
                    <a:bodyPr/>
                    <a:lstStyle/>
                    <a:p>
                      <a:pPr algn="r"/>
                      <a:endParaRPr sz="2400">
                        <a:latin typeface="游ゴシック" panose="020B0400000000000000" pitchFamily="50" charset="-128"/>
                        <a:ea typeface="游ゴシック" panose="020B0400000000000000" pitchFamily="50" charset="-128"/>
                      </a:endParaRP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8EDF7"/>
                    </a:solidFill>
                  </a:tcPr>
                </a:tc>
                <a:extLst>
                  <a:ext uri="{0D108BD9-81ED-4DB2-BD59-A6C34878D82A}">
                    <a16:rowId xmlns:a16="http://schemas.microsoft.com/office/drawing/2014/main" val="10007"/>
                  </a:ext>
                </a:extLst>
              </a:tr>
              <a:tr h="274320">
                <a:tc>
                  <a:txBody>
                    <a:bodyPr/>
                    <a:lstStyle/>
                    <a:p>
                      <a:pPr algn="l"/>
                      <a:r>
                        <a:rPr lang="ja-JP" sz="1050" b="0">
                          <a:solidFill>
                            <a:srgbClr val="000000"/>
                          </a:solidFill>
                          <a:latin typeface="游ゴシック" panose="020B0400000000000000" pitchFamily="50" charset="-128"/>
                          <a:ea typeface="游ゴシック" panose="020B0400000000000000" pitchFamily="50" charset="-128"/>
                        </a:rPr>
                        <a:t>借入金</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1050" b="0" dirty="0">
                          <a:solidFill>
                            <a:srgbClr val="000000"/>
                          </a:solidFill>
                          <a:latin typeface="游ゴシック" panose="020B0400000000000000" pitchFamily="50" charset="-128"/>
                          <a:ea typeface="游ゴシック" panose="020B0400000000000000" pitchFamily="50" charset="-128"/>
                        </a:rPr>
                        <a:t>187,808</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8"/>
                  </a:ext>
                </a:extLst>
              </a:tr>
              <a:tr h="274320">
                <a:tc>
                  <a:txBody>
                    <a:bodyPr/>
                    <a:lstStyle/>
                    <a:p>
                      <a:pPr algn="l"/>
                      <a:r>
                        <a:rPr lang="ja-JP" sz="1050" b="0">
                          <a:solidFill>
                            <a:srgbClr val="000000"/>
                          </a:solidFill>
                          <a:latin typeface="游ゴシック" panose="020B0400000000000000" pitchFamily="50" charset="-128"/>
                          <a:ea typeface="游ゴシック" panose="020B0400000000000000" pitchFamily="50" charset="-128"/>
                        </a:rPr>
                        <a:t>その他負債</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1050" b="0" dirty="0">
                          <a:solidFill>
                            <a:srgbClr val="000000"/>
                          </a:solidFill>
                          <a:latin typeface="游ゴシック" panose="020B0400000000000000" pitchFamily="50" charset="-128"/>
                          <a:ea typeface="游ゴシック" panose="020B0400000000000000" pitchFamily="50" charset="-128"/>
                        </a:rPr>
                        <a:t>28,664</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9"/>
                  </a:ext>
                </a:extLst>
              </a:tr>
              <a:tr h="274320">
                <a:tc>
                  <a:txBody>
                    <a:bodyPr/>
                    <a:lstStyle/>
                    <a:p>
                      <a:pPr algn="l"/>
                      <a:r>
                        <a:rPr lang="ja-JP" sz="1050" b="0">
                          <a:solidFill>
                            <a:srgbClr val="000000"/>
                          </a:solidFill>
                          <a:latin typeface="游ゴシック" panose="020B0400000000000000" pitchFamily="50" charset="-128"/>
                          <a:ea typeface="游ゴシック" panose="020B0400000000000000" pitchFamily="50" charset="-128"/>
                        </a:rPr>
                        <a:t>純資産</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en-US" altLang="ja-JP" sz="1050" b="0" dirty="0">
                          <a:solidFill>
                            <a:srgbClr val="000000"/>
                          </a:solidFill>
                          <a:latin typeface="游ゴシック" panose="020B0400000000000000" pitchFamily="50" charset="-128"/>
                          <a:ea typeface="游ゴシック" panose="020B0400000000000000" pitchFamily="50" charset="-128"/>
                        </a:rPr>
                        <a:t>14,048</a:t>
                      </a:r>
                      <a:endParaRPr lang="ja-JP" sz="1050" b="0" dirty="0">
                        <a:solidFill>
                          <a:srgbClr val="000000"/>
                        </a:solidFill>
                        <a:latin typeface="游ゴシック" panose="020B0400000000000000" pitchFamily="50" charset="-128"/>
                        <a:ea typeface="游ゴシック" panose="020B0400000000000000" pitchFamily="50" charset="-128"/>
                      </a:endParaRP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10"/>
                  </a:ext>
                </a:extLst>
              </a:tr>
              <a:tr h="274320">
                <a:tc>
                  <a:txBody>
                    <a:bodyPr/>
                    <a:lstStyle/>
                    <a:p>
                      <a:pPr algn="l"/>
                      <a:r>
                        <a:rPr lang="ja-JP" sz="1050" b="1">
                          <a:solidFill>
                            <a:srgbClr val="000000"/>
                          </a:solidFill>
                          <a:latin typeface="游ゴシック" panose="020B0400000000000000" pitchFamily="50" charset="-128"/>
                          <a:ea typeface="游ゴシック" panose="020B0400000000000000" pitchFamily="50" charset="-128"/>
                        </a:rPr>
                        <a:t>負債・純資産合計</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CF1F9"/>
                    </a:solidFill>
                  </a:tcPr>
                </a:tc>
                <a:tc>
                  <a:txBody>
                    <a:bodyPr/>
                    <a:lstStyle/>
                    <a:p>
                      <a:pPr algn="r"/>
                      <a:r>
                        <a:rPr lang="en-US" altLang="ja-JP" sz="1050" b="1" dirty="0">
                          <a:solidFill>
                            <a:srgbClr val="000000"/>
                          </a:solidFill>
                          <a:latin typeface="游ゴシック" panose="020B0400000000000000" pitchFamily="50" charset="-128"/>
                          <a:ea typeface="游ゴシック" panose="020B0400000000000000" pitchFamily="50" charset="-128"/>
                        </a:rPr>
                        <a:t>230,520</a:t>
                      </a:r>
                      <a:endParaRPr lang="ja-JP" sz="1050" b="1" dirty="0">
                        <a:solidFill>
                          <a:srgbClr val="000000"/>
                        </a:solidFill>
                        <a:latin typeface="游ゴシック" panose="020B0400000000000000" pitchFamily="50" charset="-128"/>
                        <a:ea typeface="游ゴシック" panose="020B0400000000000000" pitchFamily="50" charset="-128"/>
                      </a:endParaRP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CF1F9"/>
                    </a:solidFill>
                  </a:tcPr>
                </a:tc>
                <a:extLst>
                  <a:ext uri="{0D108BD9-81ED-4DB2-BD59-A6C34878D82A}">
                    <a16:rowId xmlns:a16="http://schemas.microsoft.com/office/drawing/2014/main" val="10011"/>
                  </a:ext>
                </a:extLst>
              </a:tr>
            </a:tbl>
          </a:graphicData>
        </a:graphic>
      </p:graphicFrame>
      <p:graphicFrame>
        <p:nvGraphicFramePr>
          <p:cNvPr id="19" name="Table 209">
            <a:extLst>
              <a:ext uri="{FF2B5EF4-FFF2-40B4-BE49-F238E27FC236}">
                <a16:creationId xmlns:a16="http://schemas.microsoft.com/office/drawing/2014/main" id="{D6BC88BD-B794-798F-0027-9D3A6642FE93}"/>
              </a:ext>
            </a:extLst>
          </p:cNvPr>
          <p:cNvGraphicFramePr>
            <a:graphicFrameLocks noGrp="1"/>
          </p:cNvGraphicFramePr>
          <p:nvPr>
            <p:extLst>
              <p:ext uri="{D42A27DB-BD31-4B8C-83A1-F6EECF244321}">
                <p14:modId xmlns:p14="http://schemas.microsoft.com/office/powerpoint/2010/main" val="4197089186"/>
              </p:ext>
            </p:extLst>
          </p:nvPr>
        </p:nvGraphicFramePr>
        <p:xfrm>
          <a:off x="7397496" y="1828800"/>
          <a:ext cx="2953173" cy="3474720"/>
        </p:xfrm>
        <a:graphic>
          <a:graphicData uri="http://schemas.openxmlformats.org/drawingml/2006/table">
            <a:tbl>
              <a:tblPr>
                <a:tableStyleId>{5C22544A-7EE6-4342-B048-85BDC9FD1C3A}</a:tableStyleId>
              </a:tblPr>
              <a:tblGrid>
                <a:gridCol w="1979036">
                  <a:extLst>
                    <a:ext uri="{9D8B030D-6E8A-4147-A177-3AD203B41FA5}">
                      <a16:colId xmlns:a16="http://schemas.microsoft.com/office/drawing/2014/main" val="20000"/>
                    </a:ext>
                  </a:extLst>
                </a:gridCol>
                <a:gridCol w="974137">
                  <a:extLst>
                    <a:ext uri="{9D8B030D-6E8A-4147-A177-3AD203B41FA5}">
                      <a16:colId xmlns:a16="http://schemas.microsoft.com/office/drawing/2014/main" val="20001"/>
                    </a:ext>
                  </a:extLst>
                </a:gridCol>
              </a:tblGrid>
              <a:tr h="274320">
                <a:tc gridSpan="2">
                  <a:txBody>
                    <a:bodyPr/>
                    <a:lstStyle/>
                    <a:p>
                      <a:pPr algn="ctr"/>
                      <a:r>
                        <a:rPr lang="ja-JP" sz="1050" b="1" dirty="0">
                          <a:solidFill>
                            <a:srgbClr val="FFFFFF"/>
                          </a:solidFill>
                          <a:latin typeface="游ゴシック" panose="020B0400000000000000" pitchFamily="50" charset="-128"/>
                          <a:ea typeface="游ゴシック" panose="020B0400000000000000" pitchFamily="50" charset="-128"/>
                        </a:rPr>
                        <a:t>新設会社（売主側に残置）</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595959"/>
                    </a:solidFill>
                  </a:tcPr>
                </a:tc>
                <a:tc hMerge="1">
                  <a:txBody>
                    <a:bodyPr/>
                    <a:lstStyle/>
                    <a:p>
                      <a:pPr algn="ctr"/>
                      <a:endParaRP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595959"/>
                    </a:solidFill>
                  </a:tcPr>
                </a:tc>
                <a:extLst>
                  <a:ext uri="{0D108BD9-81ED-4DB2-BD59-A6C34878D82A}">
                    <a16:rowId xmlns:a16="http://schemas.microsoft.com/office/drawing/2014/main" val="10000"/>
                  </a:ext>
                </a:extLst>
              </a:tr>
              <a:tr h="274320">
                <a:tc>
                  <a:txBody>
                    <a:bodyPr/>
                    <a:lstStyle/>
                    <a:p>
                      <a:pPr algn="l"/>
                      <a:r>
                        <a:rPr lang="ja-JP" sz="1000" b="1">
                          <a:solidFill>
                            <a:srgbClr val="000000"/>
                          </a:solidFill>
                          <a:latin typeface="游ゴシック" panose="020B0400000000000000" pitchFamily="50" charset="-128"/>
                          <a:ea typeface="游ゴシック" panose="020B0400000000000000" pitchFamily="50" charset="-128"/>
                        </a:rPr>
                        <a:t>資産の部</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8EDF7"/>
                    </a:solidFill>
                  </a:tcPr>
                </a:tc>
                <a:tc>
                  <a:txBody>
                    <a:bodyPr/>
                    <a:lstStyle/>
                    <a:p>
                      <a:pPr algn="r"/>
                      <a:endParaRPr sz="2400">
                        <a:latin typeface="游ゴシック" panose="020B0400000000000000" pitchFamily="50" charset="-128"/>
                        <a:ea typeface="游ゴシック" panose="020B0400000000000000" pitchFamily="50" charset="-128"/>
                      </a:endParaRP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8EDF7"/>
                    </a:solidFill>
                  </a:tcPr>
                </a:tc>
                <a:extLst>
                  <a:ext uri="{0D108BD9-81ED-4DB2-BD59-A6C34878D82A}">
                    <a16:rowId xmlns:a16="http://schemas.microsoft.com/office/drawing/2014/main" val="10001"/>
                  </a:ext>
                </a:extLst>
              </a:tr>
              <a:tr h="274320">
                <a:tc>
                  <a:txBody>
                    <a:bodyPr/>
                    <a:lstStyle/>
                    <a:p>
                      <a:pPr algn="l"/>
                      <a:r>
                        <a:rPr lang="ja-JP" sz="1050" b="0">
                          <a:solidFill>
                            <a:srgbClr val="000000"/>
                          </a:solidFill>
                          <a:latin typeface="游ゴシック" panose="020B0400000000000000" pitchFamily="50" charset="-128"/>
                          <a:ea typeface="游ゴシック" panose="020B0400000000000000" pitchFamily="50" charset="-128"/>
                        </a:rPr>
                        <a:t>現金及び預金</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1050" b="0">
                          <a:solidFill>
                            <a:srgbClr val="000000"/>
                          </a:solidFill>
                          <a:latin typeface="游ゴシック" panose="020B0400000000000000" pitchFamily="50" charset="-128"/>
                          <a:ea typeface="游ゴシック" panose="020B0400000000000000" pitchFamily="50" charset="-128"/>
                        </a:rPr>
                        <a:t>－</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2"/>
                  </a:ext>
                </a:extLst>
              </a:tr>
              <a:tr h="274320">
                <a:tc>
                  <a:txBody>
                    <a:bodyPr/>
                    <a:lstStyle/>
                    <a:p>
                      <a:pPr algn="l"/>
                      <a:r>
                        <a:rPr lang="ja-JP" altLang="en-US" sz="1050" b="0" dirty="0">
                          <a:solidFill>
                            <a:srgbClr val="000000"/>
                          </a:solidFill>
                          <a:latin typeface="游ゴシック" panose="020B0400000000000000" pitchFamily="50" charset="-128"/>
                          <a:ea typeface="游ゴシック" panose="020B0400000000000000" pitchFamily="50" charset="-128"/>
                        </a:rPr>
                        <a:t>その他流動資産</a:t>
                      </a:r>
                      <a:endParaRPr lang="ja-JP" sz="1050" b="0" dirty="0">
                        <a:solidFill>
                          <a:srgbClr val="000000"/>
                        </a:solidFill>
                        <a:latin typeface="游ゴシック" panose="020B0400000000000000" pitchFamily="50" charset="-128"/>
                        <a:ea typeface="游ゴシック" panose="020B0400000000000000" pitchFamily="50" charset="-128"/>
                      </a:endParaRP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en-US" altLang="ja-JP" sz="1050" b="0" dirty="0">
                          <a:solidFill>
                            <a:srgbClr val="000000"/>
                          </a:solidFill>
                          <a:latin typeface="游ゴシック" panose="020B0400000000000000" pitchFamily="50" charset="-128"/>
                          <a:ea typeface="游ゴシック" panose="020B0400000000000000" pitchFamily="50" charset="-128"/>
                        </a:rPr>
                        <a:t>－</a:t>
                      </a:r>
                      <a:endParaRPr lang="ja-JP" sz="1050" b="0" dirty="0">
                        <a:solidFill>
                          <a:srgbClr val="000000"/>
                        </a:solidFill>
                        <a:latin typeface="游ゴシック" panose="020B0400000000000000" pitchFamily="50" charset="-128"/>
                        <a:ea typeface="游ゴシック" panose="020B0400000000000000" pitchFamily="50" charset="-128"/>
                      </a:endParaRP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3"/>
                  </a:ext>
                </a:extLst>
              </a:tr>
              <a:tr h="274320">
                <a:tc>
                  <a:txBody>
                    <a:bodyPr/>
                    <a:lstStyle/>
                    <a:p>
                      <a:pPr algn="l"/>
                      <a:r>
                        <a:rPr lang="ja-JP" sz="1050" b="0" dirty="0">
                          <a:solidFill>
                            <a:srgbClr val="000000"/>
                          </a:solidFill>
                          <a:latin typeface="游ゴシック" panose="020B0400000000000000" pitchFamily="50" charset="-128"/>
                          <a:ea typeface="游ゴシック" panose="020B0400000000000000" pitchFamily="50" charset="-128"/>
                        </a:rPr>
                        <a:t>有形固定資産</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1050" b="0">
                          <a:solidFill>
                            <a:srgbClr val="000000"/>
                          </a:solidFill>
                          <a:latin typeface="游ゴシック" panose="020B0400000000000000" pitchFamily="50" charset="-128"/>
                          <a:ea typeface="游ゴシック" panose="020B0400000000000000" pitchFamily="50" charset="-128"/>
                        </a:rPr>
                        <a:t>265</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4"/>
                  </a:ext>
                </a:extLst>
              </a:tr>
              <a:tr h="274320">
                <a:tc>
                  <a:txBody>
                    <a:bodyPr/>
                    <a:lstStyle/>
                    <a:p>
                      <a:pPr algn="l"/>
                      <a:r>
                        <a:rPr lang="ja-JP" sz="1050" b="0">
                          <a:solidFill>
                            <a:srgbClr val="000000"/>
                          </a:solidFill>
                          <a:latin typeface="游ゴシック" panose="020B0400000000000000" pitchFamily="50" charset="-128"/>
                          <a:ea typeface="游ゴシック" panose="020B0400000000000000" pitchFamily="50" charset="-128"/>
                        </a:rPr>
                        <a:t>無形固定資産・投資等</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1050" b="0">
                          <a:solidFill>
                            <a:srgbClr val="000000"/>
                          </a:solidFill>
                          <a:latin typeface="游ゴシック" panose="020B0400000000000000" pitchFamily="50" charset="-128"/>
                          <a:ea typeface="游ゴシック" panose="020B0400000000000000" pitchFamily="50" charset="-128"/>
                        </a:rPr>
                        <a:t>319,223</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5"/>
                  </a:ext>
                </a:extLst>
              </a:tr>
              <a:tr h="274320">
                <a:tc>
                  <a:txBody>
                    <a:bodyPr/>
                    <a:lstStyle/>
                    <a:p>
                      <a:pPr algn="l"/>
                      <a:r>
                        <a:rPr lang="ja-JP" sz="1050" b="1">
                          <a:solidFill>
                            <a:srgbClr val="000000"/>
                          </a:solidFill>
                          <a:latin typeface="游ゴシック" panose="020B0400000000000000" pitchFamily="50" charset="-128"/>
                          <a:ea typeface="游ゴシック" panose="020B0400000000000000" pitchFamily="50" charset="-128"/>
                        </a:rPr>
                        <a:t>資産合計</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CF1F9"/>
                    </a:solidFill>
                  </a:tcPr>
                </a:tc>
                <a:tc>
                  <a:txBody>
                    <a:bodyPr/>
                    <a:lstStyle/>
                    <a:p>
                      <a:pPr algn="r"/>
                      <a:r>
                        <a:rPr lang="en-US" altLang="ja-JP" sz="1050" b="1" dirty="0">
                          <a:solidFill>
                            <a:srgbClr val="000000"/>
                          </a:solidFill>
                          <a:latin typeface="游ゴシック" panose="020B0400000000000000" pitchFamily="50" charset="-128"/>
                          <a:ea typeface="游ゴシック" panose="020B0400000000000000" pitchFamily="50" charset="-128"/>
                        </a:rPr>
                        <a:t>319,488</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CF1F9"/>
                    </a:solidFill>
                  </a:tcPr>
                </a:tc>
                <a:extLst>
                  <a:ext uri="{0D108BD9-81ED-4DB2-BD59-A6C34878D82A}">
                    <a16:rowId xmlns:a16="http://schemas.microsoft.com/office/drawing/2014/main" val="10006"/>
                  </a:ext>
                </a:extLst>
              </a:tr>
              <a:tr h="274320">
                <a:tc>
                  <a:txBody>
                    <a:bodyPr/>
                    <a:lstStyle/>
                    <a:p>
                      <a:pPr algn="l"/>
                      <a:r>
                        <a:rPr lang="ja-JP" sz="1000" b="1">
                          <a:solidFill>
                            <a:srgbClr val="000000"/>
                          </a:solidFill>
                          <a:latin typeface="游ゴシック" panose="020B0400000000000000" pitchFamily="50" charset="-128"/>
                          <a:ea typeface="游ゴシック" panose="020B0400000000000000" pitchFamily="50" charset="-128"/>
                        </a:rPr>
                        <a:t>負債・純資産の部</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8EDF7"/>
                    </a:solidFill>
                  </a:tcPr>
                </a:tc>
                <a:tc>
                  <a:txBody>
                    <a:bodyPr/>
                    <a:lstStyle/>
                    <a:p>
                      <a:pPr algn="r"/>
                      <a:endParaRPr sz="2400" dirty="0">
                        <a:latin typeface="游ゴシック" panose="020B0400000000000000" pitchFamily="50" charset="-128"/>
                        <a:ea typeface="游ゴシック" panose="020B0400000000000000" pitchFamily="50" charset="-128"/>
                      </a:endParaRP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8EDF7"/>
                    </a:solidFill>
                  </a:tcPr>
                </a:tc>
                <a:extLst>
                  <a:ext uri="{0D108BD9-81ED-4DB2-BD59-A6C34878D82A}">
                    <a16:rowId xmlns:a16="http://schemas.microsoft.com/office/drawing/2014/main" val="10007"/>
                  </a:ext>
                </a:extLst>
              </a:tr>
              <a:tr h="274320">
                <a:tc>
                  <a:txBody>
                    <a:bodyPr/>
                    <a:lstStyle/>
                    <a:p>
                      <a:pPr algn="l"/>
                      <a:r>
                        <a:rPr lang="ja-JP" sz="1050" b="0">
                          <a:solidFill>
                            <a:srgbClr val="000000"/>
                          </a:solidFill>
                          <a:latin typeface="游ゴシック" panose="020B0400000000000000" pitchFamily="50" charset="-128"/>
                          <a:ea typeface="游ゴシック" panose="020B0400000000000000" pitchFamily="50" charset="-128"/>
                        </a:rPr>
                        <a:t>借入金</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1050" b="0" dirty="0">
                          <a:solidFill>
                            <a:srgbClr val="000000"/>
                          </a:solidFill>
                          <a:latin typeface="游ゴシック" panose="020B0400000000000000" pitchFamily="50" charset="-128"/>
                          <a:ea typeface="游ゴシック" panose="020B0400000000000000" pitchFamily="50" charset="-128"/>
                        </a:rPr>
                        <a:t>－</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8"/>
                  </a:ext>
                </a:extLst>
              </a:tr>
              <a:tr h="274320">
                <a:tc>
                  <a:txBody>
                    <a:bodyPr/>
                    <a:lstStyle/>
                    <a:p>
                      <a:pPr algn="l"/>
                      <a:r>
                        <a:rPr lang="ja-JP" sz="1050" b="0">
                          <a:solidFill>
                            <a:srgbClr val="000000"/>
                          </a:solidFill>
                          <a:latin typeface="游ゴシック" panose="020B0400000000000000" pitchFamily="50" charset="-128"/>
                          <a:ea typeface="游ゴシック" panose="020B0400000000000000" pitchFamily="50" charset="-128"/>
                        </a:rPr>
                        <a:t>その他負債</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1050" b="0" dirty="0">
                          <a:solidFill>
                            <a:srgbClr val="000000"/>
                          </a:solidFill>
                          <a:latin typeface="游ゴシック" panose="020B0400000000000000" pitchFamily="50" charset="-128"/>
                          <a:ea typeface="游ゴシック" panose="020B0400000000000000" pitchFamily="50" charset="-128"/>
                        </a:rPr>
                        <a:t>－</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9"/>
                  </a:ext>
                </a:extLst>
              </a:tr>
              <a:tr h="274320">
                <a:tc>
                  <a:txBody>
                    <a:bodyPr/>
                    <a:lstStyle/>
                    <a:p>
                      <a:pPr algn="l"/>
                      <a:r>
                        <a:rPr lang="ja-JP" sz="1050" b="0">
                          <a:solidFill>
                            <a:srgbClr val="000000"/>
                          </a:solidFill>
                          <a:latin typeface="游ゴシック" panose="020B0400000000000000" pitchFamily="50" charset="-128"/>
                          <a:ea typeface="游ゴシック" panose="020B0400000000000000" pitchFamily="50" charset="-128"/>
                        </a:rPr>
                        <a:t>純資産</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en-US" altLang="ja-JP" sz="1050" b="0" dirty="0">
                          <a:solidFill>
                            <a:srgbClr val="000000"/>
                          </a:solidFill>
                          <a:latin typeface="游ゴシック" panose="020B0400000000000000" pitchFamily="50" charset="-128"/>
                          <a:ea typeface="游ゴシック" panose="020B0400000000000000" pitchFamily="50" charset="-128"/>
                        </a:rPr>
                        <a:t>319,488</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10"/>
                  </a:ext>
                </a:extLst>
              </a:tr>
              <a:tr h="274320">
                <a:tc>
                  <a:txBody>
                    <a:bodyPr/>
                    <a:lstStyle/>
                    <a:p>
                      <a:pPr algn="l"/>
                      <a:r>
                        <a:rPr lang="ja-JP" sz="1050" b="1">
                          <a:solidFill>
                            <a:srgbClr val="000000"/>
                          </a:solidFill>
                          <a:latin typeface="游ゴシック" panose="020B0400000000000000" pitchFamily="50" charset="-128"/>
                          <a:ea typeface="游ゴシック" panose="020B0400000000000000" pitchFamily="50" charset="-128"/>
                        </a:rPr>
                        <a:t>負債・純資産合計</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CF1F9"/>
                    </a:solidFill>
                  </a:tcPr>
                </a:tc>
                <a:tc>
                  <a:txBody>
                    <a:bodyPr/>
                    <a:lstStyle/>
                    <a:p>
                      <a:pPr algn="r"/>
                      <a:r>
                        <a:rPr lang="en-US" altLang="ja-JP" sz="1050" b="1" dirty="0">
                          <a:solidFill>
                            <a:srgbClr val="000000"/>
                          </a:solidFill>
                          <a:latin typeface="游ゴシック" panose="020B0400000000000000" pitchFamily="50" charset="-128"/>
                          <a:ea typeface="游ゴシック" panose="020B0400000000000000" pitchFamily="50" charset="-128"/>
                        </a:rPr>
                        <a:t>319,488</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CF1F9"/>
                    </a:solidFill>
                  </a:tcPr>
                </a:tc>
                <a:extLst>
                  <a:ext uri="{0D108BD9-81ED-4DB2-BD59-A6C34878D82A}">
                    <a16:rowId xmlns:a16="http://schemas.microsoft.com/office/drawing/2014/main" val="10011"/>
                  </a:ext>
                </a:extLst>
              </a:tr>
            </a:tbl>
          </a:graphicData>
        </a:graphic>
      </p:graphicFrame>
      <p:sp>
        <p:nvSpPr>
          <p:cNvPr id="23" name="Right Arrow 210">
            <a:extLst>
              <a:ext uri="{FF2B5EF4-FFF2-40B4-BE49-F238E27FC236}">
                <a16:creationId xmlns:a16="http://schemas.microsoft.com/office/drawing/2014/main" id="{798169CE-5182-BEB5-CF43-F186E6BF2A49}"/>
              </a:ext>
            </a:extLst>
          </p:cNvPr>
          <p:cNvSpPr/>
          <p:nvPr/>
        </p:nvSpPr>
        <p:spPr>
          <a:xfrm>
            <a:off x="3758014" y="3274187"/>
            <a:ext cx="384048" cy="457200"/>
          </a:xfrm>
          <a:prstGeom prst="rightArrow">
            <a:avLst/>
          </a:prstGeom>
          <a:solidFill>
            <a:srgbClr val="D9E2F3"/>
          </a:solid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游ゴシック" panose="020B0400000000000000" pitchFamily="50" charset="-128"/>
              <a:ea typeface="游ゴシック" panose="020B0400000000000000" pitchFamily="50" charset="-128"/>
            </a:endParaRPr>
          </a:p>
        </p:txBody>
      </p:sp>
      <p:sp>
        <p:nvSpPr>
          <p:cNvPr id="26" name="Rectangle 212">
            <a:extLst>
              <a:ext uri="{FF2B5EF4-FFF2-40B4-BE49-F238E27FC236}">
                <a16:creationId xmlns:a16="http://schemas.microsoft.com/office/drawing/2014/main" id="{CB06F32E-7DE4-A633-4509-67EF0BE2F78D}"/>
              </a:ext>
            </a:extLst>
          </p:cNvPr>
          <p:cNvSpPr/>
          <p:nvPr/>
        </p:nvSpPr>
        <p:spPr>
          <a:xfrm>
            <a:off x="4444322" y="5538851"/>
            <a:ext cx="2953173" cy="384048"/>
          </a:xfrm>
          <a:prstGeom prst="rect">
            <a:avLst/>
          </a:prstGeom>
          <a:solidFill>
            <a:srgbClr val="ECF1F9"/>
          </a:solid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wrap="square" lIns="54000" tIns="27000" rIns="54000" bIns="27000" rtlCol="0" anchor="ctr"/>
          <a:lstStyle/>
          <a:p>
            <a:pPr algn="ctr"/>
            <a:r>
              <a:rPr lang="ja-JP" sz="1000" b="1">
                <a:solidFill>
                  <a:srgbClr val="203864"/>
                </a:solidFill>
                <a:latin typeface="游ゴシック" panose="020B0400000000000000" pitchFamily="50" charset="-128"/>
                <a:ea typeface="游ゴシック" panose="020B0400000000000000" pitchFamily="50" charset="-128"/>
              </a:rPr>
              <a:t>現預金 193,226 － 借入金 187,808
＝ ネットキャッシュ ＋5,418</a:t>
            </a:r>
          </a:p>
        </p:txBody>
      </p:sp>
    </p:spTree>
    <p:extLst>
      <p:ext uri="{BB962C8B-B14F-4D97-AF65-F5344CB8AC3E}">
        <p14:creationId xmlns:p14="http://schemas.microsoft.com/office/powerpoint/2010/main" val="26825634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7" name="タイトル 6">
            <a:extLst>
              <a:ext uri="{FF2B5EF4-FFF2-40B4-BE49-F238E27FC236}">
                <a16:creationId xmlns:a16="http://schemas.microsoft.com/office/drawing/2014/main" id="{5297D612-8E56-9402-459F-FE068C2C5D1A}"/>
              </a:ext>
            </a:extLst>
          </p:cNvPr>
          <p:cNvSpPr>
            <a:spLocks noGrp="1"/>
          </p:cNvSpPr>
          <p:nvPr>
            <p:ph type="ctrTitle"/>
          </p:nvPr>
        </p:nvSpPr>
        <p:spPr>
          <a:xfrm>
            <a:off x="341313" y="180296"/>
            <a:ext cx="7799917" cy="339267"/>
          </a:xfrm>
        </p:spPr>
        <p:txBody>
          <a:bodyPr/>
          <a:lstStyle/>
          <a:p>
            <a:r>
              <a:rPr lang="zh-CN" altLang="en-US" dirty="0"/>
              <a:t>譲渡希望条件</a:t>
            </a:r>
          </a:p>
        </p:txBody>
      </p:sp>
      <p:sp>
        <p:nvSpPr>
          <p:cNvPr id="9" name="タイトル 1">
            <a:extLst>
              <a:ext uri="{FF2B5EF4-FFF2-40B4-BE49-F238E27FC236}">
                <a16:creationId xmlns:a16="http://schemas.microsoft.com/office/drawing/2014/main" id="{203C135E-3923-6D8E-447A-FF4DC0536B9B}"/>
              </a:ext>
            </a:extLst>
          </p:cNvPr>
          <p:cNvSpPr txBox="1">
            <a:spLocks/>
          </p:cNvSpPr>
          <p:nvPr/>
        </p:nvSpPr>
        <p:spPr>
          <a:xfrm>
            <a:off x="8366333" y="252154"/>
            <a:ext cx="1984167" cy="184666"/>
          </a:xfrm>
          <a:prstGeom prst="rect">
            <a:avLst/>
          </a:prstGeom>
        </p:spPr>
        <p:txBody>
          <a:bodyPr vert="horz" lIns="0" tIns="0" rIns="0" bIns="0" rtlCol="0" anchor="ctr">
            <a:spAutoFit/>
          </a:bodyPr>
          <a:lstStyle>
            <a:defPPr marR="0" lvl="0" algn="l" rtl="0">
              <a:lnSpc>
                <a:spcPct val="100000"/>
              </a:lnSpc>
              <a:spcBef>
                <a:spcPts val="0"/>
              </a:spcBef>
              <a:spcAft>
                <a:spcPts val="0"/>
              </a:spcAft>
              <a:defRPr/>
            </a:defPPr>
            <a:lvl1pPr algn="r" defTabSz="914400" eaLnBrk="1" latinLnBrk="0" hangingPunct="1">
              <a:spcBef>
                <a:spcPct val="0"/>
              </a:spcBef>
              <a:buClr>
                <a:schemeClr val="bg1"/>
              </a:buClr>
              <a:buNone/>
              <a:defRPr kumimoji="1" sz="1200" b="1" kern="1200" spc="55">
                <a:solidFill>
                  <a:schemeClr val="bg1"/>
                </a:solidFill>
                <a:latin typeface="+mj-lt"/>
                <a:ea typeface="+mj-ea"/>
                <a:cs typeface="+mj-cs"/>
              </a:defRPr>
            </a:lvl1pPr>
          </a:lstStyle>
          <a:p>
            <a:r>
              <a:rPr lang="ja-JP" altLang="en-US" spc="0" dirty="0"/>
              <a:t>　エグゼクティブサマリー</a:t>
            </a:r>
          </a:p>
        </p:txBody>
      </p:sp>
      <p:sp>
        <p:nvSpPr>
          <p:cNvPr id="18" name="正方形/長方形 17">
            <a:extLst>
              <a:ext uri="{FF2B5EF4-FFF2-40B4-BE49-F238E27FC236}">
                <a16:creationId xmlns:a16="http://schemas.microsoft.com/office/drawing/2014/main" id="{77AE94F8-D910-3328-173F-F4A99716CFE7}"/>
              </a:ext>
            </a:extLst>
          </p:cNvPr>
          <p:cNvSpPr/>
          <p:nvPr/>
        </p:nvSpPr>
        <p:spPr>
          <a:xfrm>
            <a:off x="449262" y="1225957"/>
            <a:ext cx="9793287" cy="125601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22" name="直線コネクタ 21">
            <a:extLst>
              <a:ext uri="{FF2B5EF4-FFF2-40B4-BE49-F238E27FC236}">
                <a16:creationId xmlns:a16="http://schemas.microsoft.com/office/drawing/2014/main" id="{1928CBFA-2EBE-A608-C5BF-40E5AFFAF1AD}"/>
              </a:ext>
            </a:extLst>
          </p:cNvPr>
          <p:cNvCxnSpPr>
            <a:cxnSpLocks/>
          </p:cNvCxnSpPr>
          <p:nvPr/>
        </p:nvCxnSpPr>
        <p:spPr>
          <a:xfrm>
            <a:off x="3133558" y="1349963"/>
            <a:ext cx="0" cy="1008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19" name="テキスト ボックス 18">
            <a:extLst>
              <a:ext uri="{FF2B5EF4-FFF2-40B4-BE49-F238E27FC236}">
                <a16:creationId xmlns:a16="http://schemas.microsoft.com/office/drawing/2014/main" id="{FFFB131C-8535-2A88-A3C8-FF60589D2A11}"/>
              </a:ext>
            </a:extLst>
          </p:cNvPr>
          <p:cNvSpPr txBox="1"/>
          <p:nvPr/>
        </p:nvSpPr>
        <p:spPr>
          <a:xfrm>
            <a:off x="3151380" y="1550047"/>
            <a:ext cx="7074659" cy="646331"/>
          </a:xfrm>
          <a:prstGeom prst="rect">
            <a:avLst/>
          </a:prstGeom>
          <a:noFill/>
        </p:spPr>
        <p:txBody>
          <a:bodyPr wrap="square" lIns="1440000" tIns="0" rIns="0" bIns="0" rtlCol="0" anchor="ctr">
            <a:spAutoFit/>
          </a:bodyPr>
          <a:lstStyle/>
          <a:p>
            <a:r>
              <a:rPr lang="ja-JP" altLang="en-US" sz="1400" b="1" dirty="0">
                <a:latin typeface="+mj-ea"/>
                <a:ea typeface="+mj-ea"/>
              </a:rPr>
              <a:t>会社分割により非事業用資産を切り出したうえでの</a:t>
            </a:r>
            <a:r>
              <a:rPr sz="1400" b="1" dirty="0">
                <a:latin typeface="+mj-ea"/>
                <a:ea typeface="+mj-ea"/>
              </a:rPr>
              <a:t>株式100％譲渡</a:t>
            </a:r>
            <a:endParaRPr lang="en-US" sz="1400" b="1" dirty="0">
              <a:latin typeface="+mj-ea"/>
              <a:ea typeface="+mj-ea"/>
            </a:endParaRPr>
          </a:p>
          <a:p>
            <a:r>
              <a:rPr lang="en-US" altLang="ja-JP" sz="1400" b="1" dirty="0">
                <a:latin typeface="+mj-ea"/>
                <a:ea typeface="+mj-ea"/>
              </a:rPr>
              <a:t>※</a:t>
            </a:r>
            <a:r>
              <a:rPr lang="ja-JP" altLang="en-US" sz="1400" b="1" dirty="0">
                <a:latin typeface="+mj-ea"/>
                <a:ea typeface="+mj-ea"/>
              </a:rPr>
              <a:t>分割対象：投資有価証券・保険積立金・車両運搬具等</a:t>
            </a:r>
            <a:endParaRPr lang="en-US" altLang="ja-JP" sz="1400" b="1" dirty="0">
              <a:latin typeface="+mj-ea"/>
              <a:ea typeface="+mj-ea"/>
            </a:endParaRPr>
          </a:p>
          <a:p>
            <a:r>
              <a:rPr lang="ja-JP" altLang="en-US" sz="1400" b="1" dirty="0">
                <a:latin typeface="+mj-ea"/>
                <a:ea typeface="+mj-ea"/>
              </a:rPr>
              <a:t>　</a:t>
            </a:r>
            <a:r>
              <a:rPr lang="en-US" altLang="ja-JP" sz="1400" b="1" dirty="0">
                <a:latin typeface="+mj-ea"/>
                <a:ea typeface="+mj-ea"/>
              </a:rPr>
              <a:t>SPA</a:t>
            </a:r>
            <a:r>
              <a:rPr lang="ja-JP" altLang="en-US" sz="1400" b="1" dirty="0">
                <a:latin typeface="+mj-ea"/>
                <a:ea typeface="+mj-ea"/>
              </a:rPr>
              <a:t>締結後、分割手続に</a:t>
            </a:r>
            <a:r>
              <a:rPr lang="en-US" altLang="ja-JP" sz="1400" b="1" dirty="0">
                <a:latin typeface="+mj-ea"/>
                <a:ea typeface="+mj-ea"/>
              </a:rPr>
              <a:t>1〜1.5</a:t>
            </a:r>
            <a:r>
              <a:rPr lang="ja-JP" altLang="en-US" sz="1400" b="1" dirty="0">
                <a:latin typeface="+mj-ea"/>
                <a:ea typeface="+mj-ea"/>
              </a:rPr>
              <a:t>ヶ月程度を要する可能性あり。</a:t>
            </a:r>
            <a:endParaRPr sz="1400" b="1" dirty="0">
              <a:latin typeface="+mj-ea"/>
              <a:ea typeface="+mj-ea"/>
            </a:endParaRPr>
          </a:p>
        </p:txBody>
      </p:sp>
      <p:sp>
        <p:nvSpPr>
          <p:cNvPr id="23" name="正方形/長方形 22">
            <a:extLst>
              <a:ext uri="{FF2B5EF4-FFF2-40B4-BE49-F238E27FC236}">
                <a16:creationId xmlns:a16="http://schemas.microsoft.com/office/drawing/2014/main" id="{A4BC3D1B-6519-3EC6-F8C8-D12E5886EBA8}"/>
              </a:ext>
            </a:extLst>
          </p:cNvPr>
          <p:cNvSpPr/>
          <p:nvPr/>
        </p:nvSpPr>
        <p:spPr>
          <a:xfrm>
            <a:off x="908477" y="1467627"/>
            <a:ext cx="1780804"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b="1" spc="70" dirty="0">
                <a:solidFill>
                  <a:schemeClr val="bg1"/>
                </a:solidFill>
                <a:latin typeface="+mj-ea"/>
                <a:ea typeface="+mj-ea"/>
              </a:rPr>
              <a:t>条件</a:t>
            </a:r>
            <a:r>
              <a:rPr lang="en-US" altLang="ja-JP" b="1" spc="70" dirty="0">
                <a:solidFill>
                  <a:schemeClr val="bg1"/>
                </a:solidFill>
                <a:latin typeface="+mj-ea"/>
                <a:ea typeface="+mj-ea"/>
              </a:rPr>
              <a:t>1</a:t>
            </a:r>
          </a:p>
        </p:txBody>
      </p:sp>
      <p:sp>
        <p:nvSpPr>
          <p:cNvPr id="46" name="正方形/長方形 45">
            <a:extLst>
              <a:ext uri="{FF2B5EF4-FFF2-40B4-BE49-F238E27FC236}">
                <a16:creationId xmlns:a16="http://schemas.microsoft.com/office/drawing/2014/main" id="{538DA60A-A0C2-2AC4-6AFA-6E9A0A840E2F}"/>
              </a:ext>
            </a:extLst>
          </p:cNvPr>
          <p:cNvSpPr/>
          <p:nvPr/>
        </p:nvSpPr>
        <p:spPr>
          <a:xfrm>
            <a:off x="908477" y="1905968"/>
            <a:ext cx="1780804" cy="36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sz="1800" b="1" spc="70" dirty="0">
                <a:solidFill>
                  <a:schemeClr val="tx2"/>
                </a:solidFill>
                <a:latin typeface="+mj-ea"/>
                <a:ea typeface="+mj-ea"/>
              </a:rPr>
              <a:t>スキーム</a:t>
            </a:r>
            <a:endParaRPr lang="en-US" altLang="ja-JP" sz="1800" b="1" spc="70" dirty="0">
              <a:solidFill>
                <a:schemeClr val="tx2"/>
              </a:solidFill>
              <a:latin typeface="+mj-ea"/>
              <a:ea typeface="+mj-ea"/>
            </a:endParaRPr>
          </a:p>
        </p:txBody>
      </p:sp>
      <p:sp>
        <p:nvSpPr>
          <p:cNvPr id="47" name="二等辺三角形 46">
            <a:extLst>
              <a:ext uri="{FF2B5EF4-FFF2-40B4-BE49-F238E27FC236}">
                <a16:creationId xmlns:a16="http://schemas.microsoft.com/office/drawing/2014/main" id="{E30A0C32-ED58-E579-307E-2A50184F7621}"/>
              </a:ext>
            </a:extLst>
          </p:cNvPr>
          <p:cNvSpPr/>
          <p:nvPr/>
        </p:nvSpPr>
        <p:spPr>
          <a:xfrm rot="5400000">
            <a:off x="3953282" y="1731194"/>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54" name="正方形/長方形 53">
            <a:extLst>
              <a:ext uri="{FF2B5EF4-FFF2-40B4-BE49-F238E27FC236}">
                <a16:creationId xmlns:a16="http://schemas.microsoft.com/office/drawing/2014/main" id="{CF75FB02-E0C4-B24A-D8DD-19550648E691}"/>
              </a:ext>
            </a:extLst>
          </p:cNvPr>
          <p:cNvSpPr/>
          <p:nvPr/>
        </p:nvSpPr>
        <p:spPr>
          <a:xfrm>
            <a:off x="449262" y="2678813"/>
            <a:ext cx="9793287" cy="125601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55" name="直線コネクタ 54">
            <a:extLst>
              <a:ext uri="{FF2B5EF4-FFF2-40B4-BE49-F238E27FC236}">
                <a16:creationId xmlns:a16="http://schemas.microsoft.com/office/drawing/2014/main" id="{031A2A35-DDED-EC21-CA05-09DA68DA2C0D}"/>
              </a:ext>
            </a:extLst>
          </p:cNvPr>
          <p:cNvCxnSpPr>
            <a:cxnSpLocks/>
          </p:cNvCxnSpPr>
          <p:nvPr/>
        </p:nvCxnSpPr>
        <p:spPr>
          <a:xfrm>
            <a:off x="3133558" y="2802819"/>
            <a:ext cx="0" cy="1008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56" name="テキスト ボックス 55">
            <a:extLst>
              <a:ext uri="{FF2B5EF4-FFF2-40B4-BE49-F238E27FC236}">
                <a16:creationId xmlns:a16="http://schemas.microsoft.com/office/drawing/2014/main" id="{4F61C06A-72C7-F15D-8706-7F1E6F179BF5}"/>
              </a:ext>
            </a:extLst>
          </p:cNvPr>
          <p:cNvSpPr txBox="1"/>
          <p:nvPr/>
        </p:nvSpPr>
        <p:spPr>
          <a:xfrm>
            <a:off x="3151380" y="3156792"/>
            <a:ext cx="7074659" cy="338554"/>
          </a:xfrm>
          <a:prstGeom prst="rect">
            <a:avLst/>
          </a:prstGeom>
          <a:noFill/>
        </p:spPr>
        <p:txBody>
          <a:bodyPr wrap="square" lIns="1440000" tIns="0" rIns="0" bIns="0" rtlCol="0" anchor="ctr">
            <a:spAutoFit/>
          </a:bodyPr>
          <a:lstStyle>
            <a:defPPr marR="0" lvl="0" algn="l" rtl="0">
              <a:lnSpc>
                <a:spcPct val="100000"/>
              </a:lnSpc>
              <a:spcBef>
                <a:spcPts val="0"/>
              </a:spcBef>
              <a:spcAft>
                <a:spcPts val="0"/>
              </a:spcAft>
            </a:defPPr>
            <a:lvl1pPr algn="ctr">
              <a:defRPr sz="2200" b="1">
                <a:solidFill>
                  <a:schemeClr val="dk1"/>
                </a:solidFill>
                <a:latin typeface="+mj-ea"/>
                <a:ea typeface="+mj-ea"/>
              </a:defRPr>
            </a:lvl1pPr>
          </a:lstStyle>
          <a:p>
            <a:pPr algn="l"/>
            <a:r>
              <a:rPr lang="ja-JP" altLang="en-US" dirty="0">
                <a:latin typeface="游ゴシック"/>
                <a:ea typeface="游ゴシック"/>
              </a:rPr>
              <a:t>応相談</a:t>
            </a:r>
            <a:endParaRPr dirty="0">
              <a:latin typeface="游ゴシック"/>
              <a:ea typeface="游ゴシック"/>
            </a:endParaRPr>
          </a:p>
        </p:txBody>
      </p:sp>
      <p:sp>
        <p:nvSpPr>
          <p:cNvPr id="59" name="正方形/長方形 58">
            <a:extLst>
              <a:ext uri="{FF2B5EF4-FFF2-40B4-BE49-F238E27FC236}">
                <a16:creationId xmlns:a16="http://schemas.microsoft.com/office/drawing/2014/main" id="{CFFDBAD3-865C-CB13-2F89-BB6495428292}"/>
              </a:ext>
            </a:extLst>
          </p:cNvPr>
          <p:cNvSpPr/>
          <p:nvPr/>
        </p:nvSpPr>
        <p:spPr>
          <a:xfrm>
            <a:off x="908477" y="2920483"/>
            <a:ext cx="1780804"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b="1" spc="70" dirty="0">
                <a:solidFill>
                  <a:schemeClr val="bg1"/>
                </a:solidFill>
                <a:latin typeface="+mj-ea"/>
                <a:ea typeface="+mj-ea"/>
              </a:rPr>
              <a:t>条件</a:t>
            </a:r>
            <a:r>
              <a:rPr lang="en-US" altLang="ja-JP" b="1" spc="70" dirty="0">
                <a:solidFill>
                  <a:schemeClr val="bg1"/>
                </a:solidFill>
                <a:latin typeface="+mj-ea"/>
                <a:ea typeface="+mj-ea"/>
              </a:rPr>
              <a:t>2</a:t>
            </a:r>
          </a:p>
        </p:txBody>
      </p:sp>
      <p:sp>
        <p:nvSpPr>
          <p:cNvPr id="60" name="正方形/長方形 59">
            <a:extLst>
              <a:ext uri="{FF2B5EF4-FFF2-40B4-BE49-F238E27FC236}">
                <a16:creationId xmlns:a16="http://schemas.microsoft.com/office/drawing/2014/main" id="{C0C6D277-3738-13CF-070E-BA308BBE1973}"/>
              </a:ext>
            </a:extLst>
          </p:cNvPr>
          <p:cNvSpPr/>
          <p:nvPr/>
        </p:nvSpPr>
        <p:spPr>
          <a:xfrm>
            <a:off x="908477" y="3358824"/>
            <a:ext cx="1780804" cy="36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sz="1800" b="1" spc="70" dirty="0">
                <a:solidFill>
                  <a:schemeClr val="tx2"/>
                </a:solidFill>
                <a:latin typeface="+mj-ea"/>
                <a:ea typeface="+mj-ea"/>
              </a:rPr>
              <a:t>希望価格</a:t>
            </a:r>
          </a:p>
        </p:txBody>
      </p:sp>
      <p:sp>
        <p:nvSpPr>
          <p:cNvPr id="58" name="二等辺三角形 57">
            <a:extLst>
              <a:ext uri="{FF2B5EF4-FFF2-40B4-BE49-F238E27FC236}">
                <a16:creationId xmlns:a16="http://schemas.microsoft.com/office/drawing/2014/main" id="{C23C8717-6A45-2543-9780-94DF43068F77}"/>
              </a:ext>
            </a:extLst>
          </p:cNvPr>
          <p:cNvSpPr/>
          <p:nvPr/>
        </p:nvSpPr>
        <p:spPr>
          <a:xfrm rot="5400000">
            <a:off x="3953282" y="3184050"/>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62" name="正方形/長方形 61">
            <a:extLst>
              <a:ext uri="{FF2B5EF4-FFF2-40B4-BE49-F238E27FC236}">
                <a16:creationId xmlns:a16="http://schemas.microsoft.com/office/drawing/2014/main" id="{7140BAFD-DDE9-DDDD-13AE-F82ADD82CD40}"/>
              </a:ext>
            </a:extLst>
          </p:cNvPr>
          <p:cNvSpPr/>
          <p:nvPr/>
        </p:nvSpPr>
        <p:spPr>
          <a:xfrm>
            <a:off x="449262" y="4131669"/>
            <a:ext cx="9793287" cy="125601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63" name="直線コネクタ 62">
            <a:extLst>
              <a:ext uri="{FF2B5EF4-FFF2-40B4-BE49-F238E27FC236}">
                <a16:creationId xmlns:a16="http://schemas.microsoft.com/office/drawing/2014/main" id="{364A6865-94EE-F5C9-85ED-D69680FD951A}"/>
              </a:ext>
            </a:extLst>
          </p:cNvPr>
          <p:cNvCxnSpPr>
            <a:cxnSpLocks/>
          </p:cNvCxnSpPr>
          <p:nvPr/>
        </p:nvCxnSpPr>
        <p:spPr>
          <a:xfrm>
            <a:off x="3133558" y="4255675"/>
            <a:ext cx="0" cy="1008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256" name="テキスト ボックス 255">
            <a:extLst>
              <a:ext uri="{FF2B5EF4-FFF2-40B4-BE49-F238E27FC236}">
                <a16:creationId xmlns:a16="http://schemas.microsoft.com/office/drawing/2014/main" id="{B6D90125-A2A7-8289-0B44-6FD810A06C6F}"/>
              </a:ext>
            </a:extLst>
          </p:cNvPr>
          <p:cNvSpPr txBox="1"/>
          <p:nvPr/>
        </p:nvSpPr>
        <p:spPr>
          <a:xfrm>
            <a:off x="3151380" y="4248012"/>
            <a:ext cx="7074659" cy="1061829"/>
          </a:xfrm>
          <a:prstGeom prst="rect">
            <a:avLst/>
          </a:prstGeom>
          <a:noFill/>
        </p:spPr>
        <p:txBody>
          <a:bodyPr wrap="square" lIns="1368000" tIns="0" rIns="0" bIns="0" rtlCol="0" anchor="ctr">
            <a:spAutoFit/>
          </a:bodyPr>
          <a:lstStyle>
            <a:defPPr marR="0" lvl="0" algn="l" rtl="0">
              <a:lnSpc>
                <a:spcPct val="100000"/>
              </a:lnSpc>
              <a:spcBef>
                <a:spcPts val="0"/>
              </a:spcBef>
              <a:spcAft>
                <a:spcPts val="0"/>
              </a:spcAft>
            </a:defPPr>
            <a:lvl1pPr algn="ctr">
              <a:defRPr sz="2200" b="1">
                <a:solidFill>
                  <a:schemeClr val="dk1"/>
                </a:solidFill>
                <a:latin typeface="+mj-ea"/>
                <a:ea typeface="+mj-ea"/>
              </a:defRPr>
            </a:lvl1pPr>
          </a:lstStyle>
          <a:p>
            <a:pPr marL="324000" indent="-324000" algn="l">
              <a:spcAft>
                <a:spcPts val="200"/>
              </a:spcAft>
              <a:buClr>
                <a:schemeClr val="tx2"/>
              </a:buClr>
              <a:buFont typeface="游ゴシック" panose="020B0400000000000000" pitchFamily="50" charset="-128"/>
              <a:buChar char="▪"/>
            </a:pPr>
            <a:r>
              <a:rPr sz="1600" dirty="0" err="1">
                <a:latin typeface="游ゴシック"/>
                <a:ea typeface="游ゴシック"/>
              </a:rPr>
              <a:t>従業員の</a:t>
            </a:r>
            <a:r>
              <a:rPr lang="ja-JP" altLang="en-US" sz="1600" dirty="0">
                <a:latin typeface="游ゴシック"/>
                <a:ea typeface="游ゴシック"/>
              </a:rPr>
              <a:t>継続雇用</a:t>
            </a:r>
            <a:endParaRPr lang="en-US" altLang="ja-JP" sz="1600" dirty="0">
              <a:latin typeface="游ゴシック"/>
              <a:ea typeface="游ゴシック"/>
            </a:endParaRPr>
          </a:p>
          <a:p>
            <a:pPr marL="324000" indent="-324000" algn="l">
              <a:spcAft>
                <a:spcPts val="200"/>
              </a:spcAft>
              <a:buClr>
                <a:schemeClr val="tx2"/>
              </a:buClr>
              <a:buFont typeface="游ゴシック" panose="020B0400000000000000" pitchFamily="50" charset="-128"/>
              <a:buChar char="▪"/>
            </a:pPr>
            <a:r>
              <a:rPr lang="ja-JP" altLang="en-US" sz="1600" dirty="0">
                <a:latin typeface="游ゴシック"/>
                <a:ea typeface="游ゴシック"/>
              </a:rPr>
              <a:t>野口社長は譲渡後</a:t>
            </a:r>
            <a:r>
              <a:rPr lang="en-US" altLang="ja-JP" sz="1600" dirty="0">
                <a:latin typeface="游ゴシック"/>
                <a:ea typeface="游ゴシック"/>
              </a:rPr>
              <a:t>7</a:t>
            </a:r>
            <a:r>
              <a:rPr lang="ja-JP" altLang="en-US" sz="1600" dirty="0">
                <a:latin typeface="游ゴシック"/>
                <a:ea typeface="游ゴシック"/>
              </a:rPr>
              <a:t>年程度（</a:t>
            </a:r>
            <a:r>
              <a:rPr lang="en-US" altLang="ja-JP" sz="1600" dirty="0">
                <a:latin typeface="游ゴシック"/>
                <a:ea typeface="游ゴシック"/>
              </a:rPr>
              <a:t>55</a:t>
            </a:r>
            <a:r>
              <a:rPr lang="ja-JP" altLang="en-US" sz="1600" dirty="0">
                <a:latin typeface="游ゴシック"/>
                <a:ea typeface="游ゴシック"/>
              </a:rPr>
              <a:t>歳まで）の継続勤務可能</a:t>
            </a:r>
            <a:endParaRPr lang="en-US" altLang="ja-JP" sz="1600" dirty="0">
              <a:latin typeface="游ゴシック"/>
              <a:ea typeface="游ゴシック"/>
            </a:endParaRPr>
          </a:p>
          <a:p>
            <a:pPr marL="324000" indent="-324000" algn="l">
              <a:spcAft>
                <a:spcPts val="200"/>
              </a:spcAft>
              <a:buClr>
                <a:schemeClr val="tx2"/>
              </a:buClr>
              <a:buFont typeface="游ゴシック" panose="020B0400000000000000" pitchFamily="50" charset="-128"/>
              <a:buChar char="▪"/>
            </a:pPr>
            <a:r>
              <a:rPr lang="ja-JP" altLang="en-US" sz="1600" dirty="0">
                <a:latin typeface="游ゴシック"/>
                <a:ea typeface="游ゴシック"/>
              </a:rPr>
              <a:t>その他役員陣は退任予定</a:t>
            </a:r>
            <a:endParaRPr lang="en-US" sz="1600" dirty="0">
              <a:latin typeface="游ゴシック"/>
              <a:ea typeface="游ゴシック"/>
            </a:endParaRPr>
          </a:p>
          <a:p>
            <a:pPr marL="324000" indent="-324000" algn="l">
              <a:spcAft>
                <a:spcPts val="200"/>
              </a:spcAft>
              <a:buClr>
                <a:schemeClr val="tx2"/>
              </a:buClr>
              <a:buFont typeface="游ゴシック" panose="020B0400000000000000" pitchFamily="50" charset="-128"/>
              <a:buChar char="▪"/>
            </a:pPr>
            <a:r>
              <a:rPr sz="1600" dirty="0" err="1">
                <a:latin typeface="游ゴシック"/>
                <a:ea typeface="游ゴシック"/>
              </a:rPr>
              <a:t>連帯保証解除</a:t>
            </a:r>
            <a:endParaRPr lang="en-US" sz="1600" dirty="0">
              <a:latin typeface="游ゴシック"/>
              <a:ea typeface="游ゴシック"/>
            </a:endParaRPr>
          </a:p>
        </p:txBody>
      </p:sp>
      <p:sp>
        <p:nvSpPr>
          <p:cNvPr id="259" name="正方形/長方形 258">
            <a:extLst>
              <a:ext uri="{FF2B5EF4-FFF2-40B4-BE49-F238E27FC236}">
                <a16:creationId xmlns:a16="http://schemas.microsoft.com/office/drawing/2014/main" id="{11BED845-77D7-96E2-7088-05671252A4BC}"/>
              </a:ext>
            </a:extLst>
          </p:cNvPr>
          <p:cNvSpPr/>
          <p:nvPr/>
        </p:nvSpPr>
        <p:spPr>
          <a:xfrm>
            <a:off x="908477" y="4373339"/>
            <a:ext cx="1780804"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b="1" spc="70" dirty="0">
                <a:solidFill>
                  <a:schemeClr val="bg1"/>
                </a:solidFill>
                <a:latin typeface="+mj-ea"/>
                <a:ea typeface="+mj-ea"/>
              </a:rPr>
              <a:t>条件</a:t>
            </a:r>
            <a:r>
              <a:rPr lang="en-US" altLang="ja-JP" b="1" spc="70" dirty="0">
                <a:solidFill>
                  <a:schemeClr val="bg1"/>
                </a:solidFill>
                <a:latin typeface="+mj-ea"/>
                <a:ea typeface="+mj-ea"/>
              </a:rPr>
              <a:t>3</a:t>
            </a:r>
          </a:p>
        </p:txBody>
      </p:sp>
      <p:sp>
        <p:nvSpPr>
          <p:cNvPr id="260" name="正方形/長方形 259">
            <a:extLst>
              <a:ext uri="{FF2B5EF4-FFF2-40B4-BE49-F238E27FC236}">
                <a16:creationId xmlns:a16="http://schemas.microsoft.com/office/drawing/2014/main" id="{6B9DA270-CEE2-C021-D23B-6674C7B58B8F}"/>
              </a:ext>
            </a:extLst>
          </p:cNvPr>
          <p:cNvSpPr/>
          <p:nvPr/>
        </p:nvSpPr>
        <p:spPr>
          <a:xfrm>
            <a:off x="908477" y="4811680"/>
            <a:ext cx="1780804" cy="36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sz="1800" b="1" spc="70" dirty="0">
                <a:solidFill>
                  <a:schemeClr val="tx2"/>
                </a:solidFill>
                <a:latin typeface="+mj-ea"/>
                <a:ea typeface="+mj-ea"/>
              </a:rPr>
              <a:t>付帯条件</a:t>
            </a:r>
          </a:p>
        </p:txBody>
      </p:sp>
      <p:sp>
        <p:nvSpPr>
          <p:cNvPr id="258" name="二等辺三角形 257">
            <a:extLst>
              <a:ext uri="{FF2B5EF4-FFF2-40B4-BE49-F238E27FC236}">
                <a16:creationId xmlns:a16="http://schemas.microsoft.com/office/drawing/2014/main" id="{ED431A8E-E118-9737-A89C-BA75554554F2}"/>
              </a:ext>
            </a:extLst>
          </p:cNvPr>
          <p:cNvSpPr/>
          <p:nvPr/>
        </p:nvSpPr>
        <p:spPr>
          <a:xfrm rot="5400000">
            <a:off x="3953282" y="4636906"/>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262" name="正方形/長方形 261">
            <a:extLst>
              <a:ext uri="{FF2B5EF4-FFF2-40B4-BE49-F238E27FC236}">
                <a16:creationId xmlns:a16="http://schemas.microsoft.com/office/drawing/2014/main" id="{0DA87416-6EB3-2B9D-5D99-EBF7AD989A1A}"/>
              </a:ext>
            </a:extLst>
          </p:cNvPr>
          <p:cNvSpPr/>
          <p:nvPr/>
        </p:nvSpPr>
        <p:spPr>
          <a:xfrm>
            <a:off x="449262" y="5584525"/>
            <a:ext cx="9793287" cy="125601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263" name="直線コネクタ 262">
            <a:extLst>
              <a:ext uri="{FF2B5EF4-FFF2-40B4-BE49-F238E27FC236}">
                <a16:creationId xmlns:a16="http://schemas.microsoft.com/office/drawing/2014/main" id="{348C7A7D-E8C0-8FBA-0152-B09944A67B14}"/>
              </a:ext>
            </a:extLst>
          </p:cNvPr>
          <p:cNvCxnSpPr>
            <a:cxnSpLocks/>
          </p:cNvCxnSpPr>
          <p:nvPr/>
        </p:nvCxnSpPr>
        <p:spPr>
          <a:xfrm>
            <a:off x="3133558" y="5708531"/>
            <a:ext cx="0" cy="1008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264" name="テキスト ボックス 263">
            <a:extLst>
              <a:ext uri="{FF2B5EF4-FFF2-40B4-BE49-F238E27FC236}">
                <a16:creationId xmlns:a16="http://schemas.microsoft.com/office/drawing/2014/main" id="{37AEE9E9-0B13-7FD4-A3CA-A47C7839F11C}"/>
              </a:ext>
            </a:extLst>
          </p:cNvPr>
          <p:cNvSpPr txBox="1"/>
          <p:nvPr/>
        </p:nvSpPr>
        <p:spPr>
          <a:xfrm>
            <a:off x="3151380" y="6062504"/>
            <a:ext cx="7074659" cy="338554"/>
          </a:xfrm>
          <a:prstGeom prst="rect">
            <a:avLst/>
          </a:prstGeom>
          <a:noFill/>
        </p:spPr>
        <p:txBody>
          <a:bodyPr wrap="square" lIns="1440000" tIns="0" rIns="0" bIns="0" rtlCol="0" anchor="ctr">
            <a:spAutoFit/>
          </a:bodyPr>
          <a:lstStyle>
            <a:defPPr marR="0" lvl="0" algn="l" rtl="0">
              <a:lnSpc>
                <a:spcPct val="100000"/>
              </a:lnSpc>
              <a:spcBef>
                <a:spcPts val="0"/>
              </a:spcBef>
              <a:spcAft>
                <a:spcPts val="0"/>
              </a:spcAft>
            </a:defPPr>
            <a:lvl1pPr>
              <a:defRPr sz="2200" b="1">
                <a:solidFill>
                  <a:schemeClr val="dk1"/>
                </a:solidFill>
                <a:latin typeface="+mj-ea"/>
                <a:ea typeface="+mj-ea"/>
              </a:defRPr>
            </a:lvl1pPr>
          </a:lstStyle>
          <a:p>
            <a:r>
              <a:rPr lang="ja-JP" altLang="en-US" dirty="0">
                <a:latin typeface="游ゴシック"/>
                <a:ea typeface="游ゴシック"/>
              </a:rPr>
              <a:t>後継者不在、更なる事業の発展</a:t>
            </a:r>
            <a:endParaRPr dirty="0">
              <a:latin typeface="游ゴシック"/>
              <a:ea typeface="游ゴシック"/>
            </a:endParaRPr>
          </a:p>
        </p:txBody>
      </p:sp>
      <p:sp>
        <p:nvSpPr>
          <p:cNvPr id="267" name="正方形/長方形 266">
            <a:extLst>
              <a:ext uri="{FF2B5EF4-FFF2-40B4-BE49-F238E27FC236}">
                <a16:creationId xmlns:a16="http://schemas.microsoft.com/office/drawing/2014/main" id="{5C906CE1-F422-F0CF-35F9-FA21CDF60987}"/>
              </a:ext>
            </a:extLst>
          </p:cNvPr>
          <p:cNvSpPr/>
          <p:nvPr/>
        </p:nvSpPr>
        <p:spPr>
          <a:xfrm>
            <a:off x="908477" y="5826195"/>
            <a:ext cx="1780804"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b="1" spc="70" dirty="0">
                <a:solidFill>
                  <a:schemeClr val="bg1"/>
                </a:solidFill>
                <a:latin typeface="+mj-ea"/>
                <a:ea typeface="+mj-ea"/>
              </a:rPr>
              <a:t>その他</a:t>
            </a:r>
            <a:endParaRPr lang="en-US" altLang="ja-JP" b="1" spc="70" dirty="0">
              <a:solidFill>
                <a:schemeClr val="bg1"/>
              </a:solidFill>
              <a:latin typeface="+mj-ea"/>
              <a:ea typeface="+mj-ea"/>
            </a:endParaRPr>
          </a:p>
        </p:txBody>
      </p:sp>
      <p:sp>
        <p:nvSpPr>
          <p:cNvPr id="268" name="正方形/長方形 267">
            <a:extLst>
              <a:ext uri="{FF2B5EF4-FFF2-40B4-BE49-F238E27FC236}">
                <a16:creationId xmlns:a16="http://schemas.microsoft.com/office/drawing/2014/main" id="{46529E79-2433-FBD9-6238-E748A585579E}"/>
              </a:ext>
            </a:extLst>
          </p:cNvPr>
          <p:cNvSpPr/>
          <p:nvPr/>
        </p:nvSpPr>
        <p:spPr>
          <a:xfrm>
            <a:off x="908477" y="6264536"/>
            <a:ext cx="1780804" cy="36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sz="1800" b="1" spc="70" dirty="0">
                <a:solidFill>
                  <a:schemeClr val="tx2"/>
                </a:solidFill>
                <a:latin typeface="+mj-ea"/>
                <a:ea typeface="+mj-ea"/>
              </a:rPr>
              <a:t>譲渡理由</a:t>
            </a:r>
          </a:p>
        </p:txBody>
      </p:sp>
      <p:sp>
        <p:nvSpPr>
          <p:cNvPr id="266" name="二等辺三角形 265">
            <a:extLst>
              <a:ext uri="{FF2B5EF4-FFF2-40B4-BE49-F238E27FC236}">
                <a16:creationId xmlns:a16="http://schemas.microsoft.com/office/drawing/2014/main" id="{94757AC3-62D5-3E6F-15D0-8CC989986978}"/>
              </a:ext>
            </a:extLst>
          </p:cNvPr>
          <p:cNvSpPr/>
          <p:nvPr/>
        </p:nvSpPr>
        <p:spPr>
          <a:xfrm rot="5400000">
            <a:off x="3953282" y="6089762"/>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EAEF2-738C-97B3-4696-F3BB344E559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D6C9D74-25B9-202B-100C-14E88F8A35B4}"/>
              </a:ext>
            </a:extLst>
          </p:cNvPr>
          <p:cNvSpPr>
            <a:spLocks noGrp="1"/>
          </p:cNvSpPr>
          <p:nvPr>
            <p:ph type="title"/>
          </p:nvPr>
        </p:nvSpPr>
        <p:spPr>
          <a:xfrm>
            <a:off x="989013" y="3656161"/>
            <a:ext cx="9221787" cy="615553"/>
          </a:xfrm>
        </p:spPr>
        <p:txBody>
          <a:bodyPr/>
          <a:lstStyle/>
          <a:p>
            <a:r>
              <a:rPr lang="ja-JP" altLang="en-US" dirty="0"/>
              <a:t>事業概要</a:t>
            </a:r>
            <a:endParaRPr lang="en-US" altLang="ja-JP" dirty="0"/>
          </a:p>
        </p:txBody>
      </p:sp>
      <p:pic>
        <p:nvPicPr>
          <p:cNvPr id="7" name="図 6">
            <a:extLst>
              <a:ext uri="{FF2B5EF4-FFF2-40B4-BE49-F238E27FC236}">
                <a16:creationId xmlns:a16="http://schemas.microsoft.com/office/drawing/2014/main" id="{C8D5CA77-B77E-EE25-04B7-23BDB60E0B2A}"/>
              </a:ext>
            </a:extLst>
          </p:cNvPr>
          <p:cNvPicPr>
            <a:picLocks noChangeAspect="1"/>
          </p:cNvPicPr>
          <p:nvPr/>
        </p:nvPicPr>
        <p:blipFill>
          <a:blip/>
          <a:stretch>
            <a:fillRect/>
          </a:stretch>
        </p:blipFill>
        <p:spPr>
          <a:xfrm>
            <a:off x="7776467" y="3981785"/>
            <a:ext cx="21" cy="20"/>
          </a:xfrm>
          <a:prstGeom prst="rect">
            <a:avLst/>
          </a:prstGeom>
        </p:spPr>
      </p:pic>
      <p:pic>
        <p:nvPicPr>
          <p:cNvPr id="9" name="図 8">
            <a:extLst>
              <a:ext uri="{FF2B5EF4-FFF2-40B4-BE49-F238E27FC236}">
                <a16:creationId xmlns:a16="http://schemas.microsoft.com/office/drawing/2014/main" id="{5841CF96-EF85-6F41-A092-6ED9083D3E7C}"/>
              </a:ext>
            </a:extLst>
          </p:cNvPr>
          <p:cNvPicPr>
            <a:picLocks noChangeAspect="1"/>
          </p:cNvPicPr>
          <p:nvPr/>
        </p:nvPicPr>
        <p:blipFill>
          <a:blip/>
          <a:stretch>
            <a:fillRect/>
          </a:stretch>
        </p:blipFill>
        <p:spPr>
          <a:xfrm>
            <a:off x="7776467" y="3981785"/>
            <a:ext cx="21" cy="20"/>
          </a:xfrm>
          <a:prstGeom prst="rect">
            <a:avLst/>
          </a:prstGeom>
        </p:spPr>
      </p:pic>
    </p:spTree>
    <p:extLst>
      <p:ext uri="{BB962C8B-B14F-4D97-AF65-F5344CB8AC3E}">
        <p14:creationId xmlns:p14="http://schemas.microsoft.com/office/powerpoint/2010/main" val="40851993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DDAF01-C12B-9043-B114-455CAA33D0F7}"/>
            </a:ext>
          </a:extLst>
        </p:cNvPr>
        <p:cNvGrpSpPr/>
        <p:nvPr/>
      </p:nvGrpSpPr>
      <p:grpSpPr>
        <a:xfrm>
          <a:off x="0" y="0"/>
          <a:ext cx="0" cy="0"/>
          <a:chOff x="0" y="0"/>
          <a:chExt cx="0" cy="0"/>
        </a:xfrm>
      </p:grpSpPr>
      <p:sp>
        <p:nvSpPr>
          <p:cNvPr id="5" name="正方形/長方形 4">
            <a:extLst>
              <a:ext uri="{FF2B5EF4-FFF2-40B4-BE49-F238E27FC236}">
                <a16:creationId xmlns:a16="http://schemas.microsoft.com/office/drawing/2014/main" id="{E743677C-E154-B684-80CF-3F2817127171}"/>
              </a:ext>
            </a:extLst>
          </p:cNvPr>
          <p:cNvSpPr/>
          <p:nvPr/>
        </p:nvSpPr>
        <p:spPr>
          <a:xfrm>
            <a:off x="449262" y="1481694"/>
            <a:ext cx="2160000" cy="5472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tIns="180000" rtlCol="0" anchor="t"/>
          <a:lstStyle/>
          <a:p>
            <a:pPr algn="ctr"/>
            <a:r>
              <a:rPr kumimoji="1" lang="ja-JP" altLang="en-US" sz="1800" b="1" spc="100" dirty="0">
                <a:solidFill>
                  <a:schemeClr val="tx1"/>
                </a:solidFill>
                <a:latin typeface="+mj-ea"/>
                <a:ea typeface="+mj-ea"/>
              </a:rPr>
              <a:t>主要仕入先</a:t>
            </a:r>
          </a:p>
        </p:txBody>
      </p:sp>
      <p:sp>
        <p:nvSpPr>
          <p:cNvPr id="17" name="正方形/長方形 16">
            <a:extLst>
              <a:ext uri="{FF2B5EF4-FFF2-40B4-BE49-F238E27FC236}">
                <a16:creationId xmlns:a16="http://schemas.microsoft.com/office/drawing/2014/main" id="{6FD21BE9-2FB9-6DA0-CBB4-78D9B31143EA}"/>
              </a:ext>
            </a:extLst>
          </p:cNvPr>
          <p:cNvSpPr/>
          <p:nvPr/>
        </p:nvSpPr>
        <p:spPr>
          <a:xfrm>
            <a:off x="8082550" y="1463675"/>
            <a:ext cx="2160000" cy="5472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tIns="180000" rtlCol="0" anchor="t"/>
          <a:lstStyle/>
          <a:p>
            <a:pPr algn="ctr"/>
            <a:r>
              <a:rPr kumimoji="1" lang="ja-JP" altLang="en-US" sz="1800" b="1" spc="100">
                <a:solidFill>
                  <a:schemeClr val="tx1"/>
                </a:solidFill>
                <a:latin typeface="+mj-ea"/>
                <a:ea typeface="+mj-ea"/>
              </a:rPr>
              <a:t>主要販売先</a:t>
            </a:r>
          </a:p>
        </p:txBody>
      </p:sp>
      <p:sp>
        <p:nvSpPr>
          <p:cNvPr id="21" name="正方形/長方形 20">
            <a:extLst>
              <a:ext uri="{FF2B5EF4-FFF2-40B4-BE49-F238E27FC236}">
                <a16:creationId xmlns:a16="http://schemas.microsoft.com/office/drawing/2014/main" id="{95D20CE9-562D-5FB0-80DD-F3BD3CE1D49C}"/>
              </a:ext>
            </a:extLst>
          </p:cNvPr>
          <p:cNvSpPr/>
          <p:nvPr/>
        </p:nvSpPr>
        <p:spPr>
          <a:xfrm>
            <a:off x="2933906" y="1487165"/>
            <a:ext cx="4824000" cy="401648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tIns="180000" rtlCol="0" anchor="t"/>
          <a:lstStyle/>
          <a:p>
            <a:pPr algn="ctr"/>
            <a:r>
              <a:rPr kumimoji="1" lang="ja-JP" altLang="en-US" sz="1800" b="1" spc="100" dirty="0">
                <a:solidFill>
                  <a:schemeClr val="tx2"/>
                </a:solidFill>
                <a:latin typeface="+mj-ea"/>
                <a:ea typeface="+mj-ea"/>
              </a:rPr>
              <a:t>対象会社</a:t>
            </a:r>
          </a:p>
        </p:txBody>
      </p:sp>
      <p:cxnSp>
        <p:nvCxnSpPr>
          <p:cNvPr id="24" name="直線コネクタ 23">
            <a:extLst>
              <a:ext uri="{FF2B5EF4-FFF2-40B4-BE49-F238E27FC236}">
                <a16:creationId xmlns:a16="http://schemas.microsoft.com/office/drawing/2014/main" id="{F5D312B4-FD5F-5D39-501F-FA5FF893E938}"/>
              </a:ext>
            </a:extLst>
          </p:cNvPr>
          <p:cNvCxnSpPr>
            <a:cxnSpLocks/>
          </p:cNvCxnSpPr>
          <p:nvPr/>
        </p:nvCxnSpPr>
        <p:spPr>
          <a:xfrm>
            <a:off x="2933907" y="1467042"/>
            <a:ext cx="4824000"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8" name="正方形/長方形 7">
            <a:extLst>
              <a:ext uri="{FF2B5EF4-FFF2-40B4-BE49-F238E27FC236}">
                <a16:creationId xmlns:a16="http://schemas.microsoft.com/office/drawing/2014/main" id="{46E42F7C-FE44-EBE8-0D30-C704D342DE1D}"/>
              </a:ext>
            </a:extLst>
          </p:cNvPr>
          <p:cNvSpPr/>
          <p:nvPr/>
        </p:nvSpPr>
        <p:spPr>
          <a:xfrm>
            <a:off x="449263" y="3638552"/>
            <a:ext cx="2160000" cy="1296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288000" tIns="0" rIns="0" bIns="0" rtlCol="0" anchor="t">
            <a:noAutofit/>
          </a:bodyPr>
          <a:lstStyle/>
          <a:p>
            <a:pPr marL="180000" indent="-180000">
              <a:lnSpc>
                <a:spcPct val="120000"/>
              </a:lnSpc>
              <a:spcAft>
                <a:spcPts val="500"/>
              </a:spcAft>
              <a:buClr>
                <a:schemeClr val="tx2"/>
              </a:buClr>
              <a:buFont typeface="游ゴシック" panose="020B0400000000000000" pitchFamily="50" charset="-128"/>
              <a:buChar char="▪"/>
            </a:pPr>
            <a:r>
              <a:rPr sz="1100" b="1">
                <a:latin typeface="+mj-ea"/>
                <a:ea typeface="+mj-ea"/>
              </a:rPr>
              <a:t>貿易商社</a:t>
            </a:r>
            <a:endParaRPr kumimoji="1" lang="en-US" altLang="ja-JP" sz="1200" b="1" spc="50" dirty="0">
              <a:solidFill>
                <a:schemeClr val="tx1"/>
              </a:solidFill>
              <a:latin typeface="+mj-ea"/>
              <a:ea typeface="+mj-ea"/>
            </a:endParaRPr>
          </a:p>
          <a:p>
            <a:r>
              <a:rPr sz="1100" b="1">
                <a:latin typeface="+mj-ea"/>
                <a:ea typeface="+mj-ea"/>
              </a:rPr>
              <a:t>（中国製グッズ製造委託）</a:t>
            </a:r>
          </a:p>
          <a:p>
            <a:r>
              <a:rPr sz="1100" b="1">
                <a:latin typeface="+mj-ea"/>
                <a:ea typeface="+mj-ea"/>
              </a:rPr>
              <a:t>各種メーカー</a:t>
            </a:r>
          </a:p>
          <a:p>
            <a:r>
              <a:rPr sz="1100" b="1">
                <a:latin typeface="+mj-ea"/>
                <a:ea typeface="+mj-ea"/>
              </a:rPr>
              <a:t>（アクリル・缶バッジ・紙・成形品）</a:t>
            </a:r>
          </a:p>
          <a:p>
            <a:r>
              <a:rPr sz="1100" b="1">
                <a:latin typeface="+mj-ea"/>
                <a:ea typeface="+mj-ea"/>
              </a:rPr>
              <a:t>ロイヤリティー支払先（版元）</a:t>
            </a:r>
          </a:p>
        </p:txBody>
      </p:sp>
      <p:sp>
        <p:nvSpPr>
          <p:cNvPr id="13" name="正方形/長方形 12">
            <a:extLst>
              <a:ext uri="{FF2B5EF4-FFF2-40B4-BE49-F238E27FC236}">
                <a16:creationId xmlns:a16="http://schemas.microsoft.com/office/drawing/2014/main" id="{5CEF68BA-14D9-A2BB-9103-0A8466BCAE95}"/>
              </a:ext>
            </a:extLst>
          </p:cNvPr>
          <p:cNvSpPr/>
          <p:nvPr/>
        </p:nvSpPr>
        <p:spPr>
          <a:xfrm>
            <a:off x="8082550" y="3638552"/>
            <a:ext cx="2160000" cy="1296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288000" tIns="0" rIns="0" bIns="0" rtlCol="0" anchor="t">
            <a:noAutofit/>
          </a:bodyPr>
          <a:lstStyle/>
          <a:p>
            <a:pPr marL="180000" indent="-180000">
              <a:lnSpc>
                <a:spcPct val="120000"/>
              </a:lnSpc>
              <a:spcAft>
                <a:spcPts val="500"/>
              </a:spcAft>
              <a:buClr>
                <a:schemeClr val="tx2"/>
              </a:buClr>
              <a:buFont typeface="游ゴシック" panose="020B0400000000000000" pitchFamily="50" charset="-128"/>
              <a:buChar char="▪"/>
            </a:pPr>
            <a:r>
              <a:rPr sz="1100" b="1">
                <a:latin typeface="+mj-ea"/>
                <a:ea typeface="+mj-ea"/>
              </a:rPr>
              <a:t>㈱セガ</a:t>
            </a:r>
            <a:endParaRPr kumimoji="1" lang="en-US" altLang="ja-JP" sz="1200" b="1" spc="50" dirty="0">
              <a:solidFill>
                <a:schemeClr val="tx1"/>
              </a:solidFill>
              <a:latin typeface="+mj-ea"/>
            </a:endParaRPr>
          </a:p>
          <a:p>
            <a:r>
              <a:rPr sz="1100" b="1">
                <a:latin typeface="+mj-ea"/>
                <a:ea typeface="+mj-ea"/>
              </a:rPr>
              <a:t>㈱KADOKAWA Game Linkage</a:t>
            </a:r>
          </a:p>
          <a:p>
            <a:r>
              <a:rPr sz="1100" b="1">
                <a:latin typeface="+mj-ea"/>
                <a:ea typeface="+mj-ea"/>
              </a:rPr>
              <a:t>㈱ムービック</a:t>
            </a:r>
          </a:p>
          <a:p>
            <a:r>
              <a:rPr sz="1100" b="1">
                <a:latin typeface="+mj-ea"/>
                <a:ea typeface="+mj-ea"/>
              </a:rPr>
              <a:t>㈱スモールプラネット 他</a:t>
            </a:r>
          </a:p>
        </p:txBody>
      </p:sp>
      <p:sp>
        <p:nvSpPr>
          <p:cNvPr id="4" name="タイトル 3">
            <a:extLst>
              <a:ext uri="{FF2B5EF4-FFF2-40B4-BE49-F238E27FC236}">
                <a16:creationId xmlns:a16="http://schemas.microsoft.com/office/drawing/2014/main" id="{E91DD8E0-55E1-1614-7417-2E76D253FEAD}"/>
              </a:ext>
            </a:extLst>
          </p:cNvPr>
          <p:cNvSpPr>
            <a:spLocks noGrp="1"/>
          </p:cNvSpPr>
          <p:nvPr>
            <p:ph type="ctrTitle"/>
          </p:nvPr>
        </p:nvSpPr>
        <p:spPr/>
        <p:txBody>
          <a:bodyPr/>
          <a:lstStyle/>
          <a:p>
            <a:r>
              <a:rPr lang="ja-JP" altLang="en-US" dirty="0"/>
              <a:t>事業内容</a:t>
            </a:r>
          </a:p>
        </p:txBody>
      </p:sp>
      <p:sp>
        <p:nvSpPr>
          <p:cNvPr id="20" name="タイトル 1">
            <a:extLst>
              <a:ext uri="{FF2B5EF4-FFF2-40B4-BE49-F238E27FC236}">
                <a16:creationId xmlns:a16="http://schemas.microsoft.com/office/drawing/2014/main" id="{96C927CB-5A9B-C47E-368A-3579B2595C1E}"/>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dirty="0"/>
              <a:t>事業概要</a:t>
            </a:r>
          </a:p>
        </p:txBody>
      </p:sp>
      <p:cxnSp>
        <p:nvCxnSpPr>
          <p:cNvPr id="16" name="直線コネクタ 15">
            <a:extLst>
              <a:ext uri="{FF2B5EF4-FFF2-40B4-BE49-F238E27FC236}">
                <a16:creationId xmlns:a16="http://schemas.microsoft.com/office/drawing/2014/main" id="{FD5050F0-3C11-BC61-1EAA-56B714331E84}"/>
              </a:ext>
            </a:extLst>
          </p:cNvPr>
          <p:cNvCxnSpPr>
            <a:cxnSpLocks/>
          </p:cNvCxnSpPr>
          <p:nvPr/>
        </p:nvCxnSpPr>
        <p:spPr>
          <a:xfrm>
            <a:off x="449263" y="1467042"/>
            <a:ext cx="2160000"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9" name="直線コネクタ 18">
            <a:extLst>
              <a:ext uri="{FF2B5EF4-FFF2-40B4-BE49-F238E27FC236}">
                <a16:creationId xmlns:a16="http://schemas.microsoft.com/office/drawing/2014/main" id="{4E6E5648-22F1-DE1E-6020-D47989377CA9}"/>
              </a:ext>
            </a:extLst>
          </p:cNvPr>
          <p:cNvCxnSpPr>
            <a:cxnSpLocks/>
          </p:cNvCxnSpPr>
          <p:nvPr/>
        </p:nvCxnSpPr>
        <p:spPr>
          <a:xfrm>
            <a:off x="8082550" y="1467042"/>
            <a:ext cx="2160000"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46" name="正方形/長方形 45">
            <a:extLst>
              <a:ext uri="{FF2B5EF4-FFF2-40B4-BE49-F238E27FC236}">
                <a16:creationId xmlns:a16="http://schemas.microsoft.com/office/drawing/2014/main" id="{807BE902-CAE0-C2CD-4984-B11E293BA38A}"/>
              </a:ext>
            </a:extLst>
          </p:cNvPr>
          <p:cNvSpPr>
            <a:spLocks/>
          </p:cNvSpPr>
          <p:nvPr/>
        </p:nvSpPr>
        <p:spPr>
          <a:xfrm>
            <a:off x="3185906" y="3321256"/>
            <a:ext cx="4320000" cy="864000"/>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08000" rIns="0" bIns="0" rtlCol="0" anchor="t">
            <a:noAutofit/>
          </a:bodyPr>
          <a:lstStyle/>
          <a:p>
            <a:r>
              <a:rPr sz="1400" b="1">
                <a:latin typeface="游ゴシック"/>
                <a:ea typeface="游ゴシック"/>
              </a:rPr>
              <a:t>企画・開発</a:t>
            </a:r>
          </a:p>
        </p:txBody>
      </p:sp>
      <p:sp>
        <p:nvSpPr>
          <p:cNvPr id="49" name="正方形/長方形 48">
            <a:extLst>
              <a:ext uri="{FF2B5EF4-FFF2-40B4-BE49-F238E27FC236}">
                <a16:creationId xmlns:a16="http://schemas.microsoft.com/office/drawing/2014/main" id="{5003CAF4-56DA-63E6-9B55-231DF32CB689}"/>
              </a:ext>
            </a:extLst>
          </p:cNvPr>
          <p:cNvSpPr/>
          <p:nvPr/>
        </p:nvSpPr>
        <p:spPr>
          <a:xfrm>
            <a:off x="3362901" y="3687076"/>
            <a:ext cx="1944000" cy="43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marL="180000" indent="-180000">
              <a:lnSpc>
                <a:spcPct val="120000"/>
              </a:lnSpc>
              <a:buClr>
                <a:schemeClr val="accent4"/>
              </a:buClr>
              <a:buFont typeface="游ゴシック" panose="020B0400000000000000" pitchFamily="50" charset="-128"/>
              <a:buChar char="▪"/>
            </a:pPr>
            <a:r>
              <a:rPr sz="1100">
                <a:latin typeface="游ゴシック"/>
                <a:ea typeface="游ゴシック"/>
              </a:rPr>
              <a:t>IP版元と</a:t>
            </a:r>
            <a:endParaRPr kumimoji="1" lang="en-US" altLang="ja-JP" sz="1100" dirty="0">
              <a:solidFill>
                <a:schemeClr val="tx1"/>
              </a:solidFill>
            </a:endParaRPr>
          </a:p>
          <a:p>
            <a:r>
              <a:rPr sz="1100">
                <a:latin typeface="游ゴシック"/>
                <a:ea typeface="游ゴシック"/>
              </a:rPr>
              <a:t>商品化企画</a:t>
            </a:r>
          </a:p>
        </p:txBody>
      </p:sp>
      <p:sp>
        <p:nvSpPr>
          <p:cNvPr id="50" name="正方形/長方形 49">
            <a:extLst>
              <a:ext uri="{FF2B5EF4-FFF2-40B4-BE49-F238E27FC236}">
                <a16:creationId xmlns:a16="http://schemas.microsoft.com/office/drawing/2014/main" id="{E5DD003F-2AD9-A9D3-1FD8-654750A0A7AD}"/>
              </a:ext>
            </a:extLst>
          </p:cNvPr>
          <p:cNvSpPr/>
          <p:nvPr/>
        </p:nvSpPr>
        <p:spPr>
          <a:xfrm>
            <a:off x="5391351" y="3687076"/>
            <a:ext cx="1944000" cy="43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marL="180000" indent="-180000">
              <a:lnSpc>
                <a:spcPct val="120000"/>
              </a:lnSpc>
              <a:buClr>
                <a:schemeClr val="accent4"/>
              </a:buClr>
              <a:buFont typeface="游ゴシック" panose="020B0400000000000000" pitchFamily="50" charset="-128"/>
              <a:buChar char="▪"/>
            </a:pPr>
            <a:r>
              <a:rPr sz="1100">
                <a:latin typeface="游ゴシック"/>
                <a:ea typeface="游ゴシック"/>
              </a:rPr>
              <a:t>オリジナル</a:t>
            </a:r>
            <a:endParaRPr kumimoji="1" lang="en-US" altLang="ja-JP" sz="1100" dirty="0">
              <a:solidFill>
                <a:schemeClr val="tx1"/>
              </a:solidFill>
            </a:endParaRPr>
          </a:p>
          <a:p>
            <a:r>
              <a:rPr sz="1100">
                <a:latin typeface="游ゴシック"/>
                <a:ea typeface="游ゴシック"/>
              </a:rPr>
              <a:t>くじ商品開発</a:t>
            </a:r>
          </a:p>
        </p:txBody>
      </p:sp>
      <p:sp>
        <p:nvSpPr>
          <p:cNvPr id="39" name="正方形/長方形 38">
            <a:extLst>
              <a:ext uri="{FF2B5EF4-FFF2-40B4-BE49-F238E27FC236}">
                <a16:creationId xmlns:a16="http://schemas.microsoft.com/office/drawing/2014/main" id="{B655DFB4-3E4B-DFE0-1927-1F0AF192973F}"/>
              </a:ext>
            </a:extLst>
          </p:cNvPr>
          <p:cNvSpPr>
            <a:spLocks/>
          </p:cNvSpPr>
          <p:nvPr/>
        </p:nvSpPr>
        <p:spPr>
          <a:xfrm>
            <a:off x="3185906" y="2095628"/>
            <a:ext cx="4320000" cy="1126755"/>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08000" rIns="0" bIns="0" rtlCol="0" anchor="t">
            <a:noAutofit/>
          </a:bodyPr>
          <a:lstStyle/>
          <a:p>
            <a:r>
              <a:rPr sz="1400" b="1">
                <a:latin typeface="游ゴシック"/>
                <a:ea typeface="游ゴシック"/>
              </a:rPr>
              <a:t>製造委託</a:t>
            </a:r>
          </a:p>
        </p:txBody>
      </p:sp>
      <p:sp>
        <p:nvSpPr>
          <p:cNvPr id="51" name="正方形/長方形 50">
            <a:extLst>
              <a:ext uri="{FF2B5EF4-FFF2-40B4-BE49-F238E27FC236}">
                <a16:creationId xmlns:a16="http://schemas.microsoft.com/office/drawing/2014/main" id="{E6C0282B-CCAA-5FBD-D527-4720B8D3CD68}"/>
              </a:ext>
            </a:extLst>
          </p:cNvPr>
          <p:cNvSpPr/>
          <p:nvPr/>
        </p:nvSpPr>
        <p:spPr>
          <a:xfrm>
            <a:off x="3362901" y="2466383"/>
            <a:ext cx="1944000" cy="756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marL="180000" indent="-180000">
              <a:lnSpc>
                <a:spcPct val="120000"/>
              </a:lnSpc>
              <a:buClr>
                <a:schemeClr val="accent4"/>
              </a:buClr>
              <a:buFont typeface="游ゴシック" panose="020B0400000000000000" pitchFamily="50" charset="-128"/>
              <a:buChar char="▪"/>
            </a:pPr>
            <a:r>
              <a:rPr sz="1100">
                <a:latin typeface="游ゴシック"/>
                <a:ea typeface="游ゴシック"/>
              </a:rPr>
              <a:t>海外(中国等)</a:t>
            </a:r>
          </a:p>
          <a:p>
            <a:r>
              <a:rPr sz="1100">
                <a:latin typeface="游ゴシック"/>
                <a:ea typeface="游ゴシック"/>
              </a:rPr>
              <a:t>メーカーへ委託</a:t>
            </a:r>
          </a:p>
        </p:txBody>
      </p:sp>
      <p:sp>
        <p:nvSpPr>
          <p:cNvPr id="52" name="正方形/長方形 51">
            <a:extLst>
              <a:ext uri="{FF2B5EF4-FFF2-40B4-BE49-F238E27FC236}">
                <a16:creationId xmlns:a16="http://schemas.microsoft.com/office/drawing/2014/main" id="{88997CF3-6104-5500-60EB-0DDACA45AE6F}"/>
              </a:ext>
            </a:extLst>
          </p:cNvPr>
          <p:cNvSpPr/>
          <p:nvPr/>
        </p:nvSpPr>
        <p:spPr>
          <a:xfrm>
            <a:off x="5391351" y="2466383"/>
            <a:ext cx="1944000" cy="756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marL="180000" indent="-180000">
              <a:lnSpc>
                <a:spcPct val="120000"/>
              </a:lnSpc>
              <a:buClr>
                <a:schemeClr val="accent4"/>
              </a:buClr>
              <a:buFont typeface="游ゴシック" panose="020B0400000000000000" pitchFamily="50" charset="-128"/>
              <a:buChar char="▪"/>
            </a:pPr>
            <a:r>
              <a:rPr sz="1100">
                <a:latin typeface="游ゴシック"/>
                <a:ea typeface="游ゴシック"/>
              </a:rPr>
              <a:t>国内</a:t>
            </a:r>
          </a:p>
          <a:p>
            <a:r>
              <a:rPr sz="1100">
                <a:latin typeface="游ゴシック"/>
                <a:ea typeface="游ゴシック"/>
              </a:rPr>
              <a:t>専門メーカー</a:t>
            </a:r>
          </a:p>
        </p:txBody>
      </p:sp>
      <p:sp>
        <p:nvSpPr>
          <p:cNvPr id="47" name="正方形/長方形 46">
            <a:extLst>
              <a:ext uri="{FF2B5EF4-FFF2-40B4-BE49-F238E27FC236}">
                <a16:creationId xmlns:a16="http://schemas.microsoft.com/office/drawing/2014/main" id="{A3FF10E9-0F90-E0AE-DF08-37E610F0395E}"/>
              </a:ext>
            </a:extLst>
          </p:cNvPr>
          <p:cNvSpPr>
            <a:spLocks/>
          </p:cNvSpPr>
          <p:nvPr/>
        </p:nvSpPr>
        <p:spPr>
          <a:xfrm>
            <a:off x="3185906" y="4369959"/>
            <a:ext cx="4320000" cy="891123"/>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08000" rIns="0" bIns="0" rtlCol="0" anchor="t">
            <a:noAutofit/>
          </a:bodyPr>
          <a:lstStyle/>
          <a:p>
            <a:r>
              <a:rPr sz="1400" b="1">
                <a:latin typeface="游ゴシック"/>
                <a:ea typeface="游ゴシック"/>
              </a:rPr>
              <a:t>販売</a:t>
            </a:r>
          </a:p>
        </p:txBody>
      </p:sp>
      <p:sp>
        <p:nvSpPr>
          <p:cNvPr id="55" name="正方形/長方形 54">
            <a:extLst>
              <a:ext uri="{FF2B5EF4-FFF2-40B4-BE49-F238E27FC236}">
                <a16:creationId xmlns:a16="http://schemas.microsoft.com/office/drawing/2014/main" id="{D2B70813-B617-004E-DE79-557C34BE9081}"/>
              </a:ext>
            </a:extLst>
          </p:cNvPr>
          <p:cNvSpPr/>
          <p:nvPr/>
        </p:nvSpPr>
        <p:spPr>
          <a:xfrm>
            <a:off x="3362901" y="4757082"/>
            <a:ext cx="1944000" cy="50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marL="180000" indent="-180000">
              <a:lnSpc>
                <a:spcPct val="120000"/>
              </a:lnSpc>
              <a:buClr>
                <a:schemeClr val="accent4"/>
              </a:buClr>
              <a:buFont typeface="游ゴシック" panose="020B0400000000000000" pitchFamily="50" charset="-128"/>
              <a:buChar char="▪"/>
            </a:pPr>
            <a:r>
              <a:rPr sz="1100">
                <a:latin typeface="游ゴシック"/>
                <a:ea typeface="游ゴシック"/>
              </a:rPr>
              <a:t>版元・卸・EC</a:t>
            </a:r>
            <a:endParaRPr kumimoji="1" lang="en-US" altLang="ja-JP" sz="1100" dirty="0">
              <a:solidFill>
                <a:schemeClr val="tx1"/>
              </a:solidFill>
            </a:endParaRPr>
          </a:p>
          <a:p>
            <a:r>
              <a:rPr sz="1100">
                <a:latin typeface="游ゴシック"/>
                <a:ea typeface="游ゴシック"/>
              </a:rPr>
              <a:t>へB2B販売</a:t>
            </a:r>
          </a:p>
        </p:txBody>
      </p:sp>
      <p:sp>
        <p:nvSpPr>
          <p:cNvPr id="56" name="正方形/長方形 55">
            <a:extLst>
              <a:ext uri="{FF2B5EF4-FFF2-40B4-BE49-F238E27FC236}">
                <a16:creationId xmlns:a16="http://schemas.microsoft.com/office/drawing/2014/main" id="{139CC8E2-2131-C209-701F-F234CABA26CF}"/>
              </a:ext>
            </a:extLst>
          </p:cNvPr>
          <p:cNvSpPr/>
          <p:nvPr/>
        </p:nvSpPr>
        <p:spPr>
          <a:xfrm>
            <a:off x="5391351" y="4757082"/>
            <a:ext cx="1944000" cy="50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marL="180000" indent="-180000">
              <a:lnSpc>
                <a:spcPct val="120000"/>
              </a:lnSpc>
              <a:buClr>
                <a:schemeClr val="accent4"/>
              </a:buClr>
              <a:buFont typeface="游ゴシック" panose="020B0400000000000000" pitchFamily="50" charset="-128"/>
              <a:buChar char="▪"/>
            </a:pPr>
            <a:r>
              <a:rPr sz="1100">
                <a:latin typeface="游ゴシック"/>
                <a:ea typeface="游ゴシック"/>
              </a:rPr>
              <a:t>くじ・グッズ</a:t>
            </a:r>
            <a:endParaRPr kumimoji="1" lang="en-US" altLang="ja-JP" sz="1100" dirty="0">
              <a:solidFill>
                <a:schemeClr val="tx1"/>
              </a:solidFill>
            </a:endParaRPr>
          </a:p>
          <a:p>
            <a:r>
              <a:rPr sz="1100">
                <a:latin typeface="游ゴシック"/>
                <a:ea typeface="游ゴシック"/>
              </a:rPr>
              <a:t>の企画販売</a:t>
            </a:r>
          </a:p>
        </p:txBody>
      </p:sp>
      <p:sp>
        <p:nvSpPr>
          <p:cNvPr id="3" name="二等辺三角形 2">
            <a:extLst>
              <a:ext uri="{FF2B5EF4-FFF2-40B4-BE49-F238E27FC236}">
                <a16:creationId xmlns:a16="http://schemas.microsoft.com/office/drawing/2014/main" id="{B557BBBE-1218-1342-7E2D-CD72F7B39D2F}"/>
              </a:ext>
            </a:extLst>
          </p:cNvPr>
          <p:cNvSpPr/>
          <p:nvPr/>
        </p:nvSpPr>
        <p:spPr>
          <a:xfrm rot="5400000">
            <a:off x="7612581" y="4076906"/>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9" name="二等辺三角形 8">
            <a:extLst>
              <a:ext uri="{FF2B5EF4-FFF2-40B4-BE49-F238E27FC236}">
                <a16:creationId xmlns:a16="http://schemas.microsoft.com/office/drawing/2014/main" id="{91745C76-6270-D9EC-0862-A4072EDFED90}"/>
              </a:ext>
            </a:extLst>
          </p:cNvPr>
          <p:cNvSpPr/>
          <p:nvPr/>
        </p:nvSpPr>
        <p:spPr>
          <a:xfrm rot="5400000">
            <a:off x="2470990" y="4076906"/>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12" name="正方形/長方形 11">
            <a:extLst>
              <a:ext uri="{FF2B5EF4-FFF2-40B4-BE49-F238E27FC236}">
                <a16:creationId xmlns:a16="http://schemas.microsoft.com/office/drawing/2014/main" id="{29C58FFC-1A01-A8F0-166D-D51C0B6A2C66}"/>
              </a:ext>
            </a:extLst>
          </p:cNvPr>
          <p:cNvSpPr/>
          <p:nvPr/>
        </p:nvSpPr>
        <p:spPr>
          <a:xfrm>
            <a:off x="2933906" y="5890769"/>
            <a:ext cx="4824000" cy="103282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tIns="180000" rtlCol="0" anchor="t"/>
          <a:lstStyle/>
          <a:p>
            <a:pPr algn="ctr"/>
            <a:r>
              <a:rPr kumimoji="1" lang="ja-JP" altLang="en-US" sz="1800" b="1" spc="100" dirty="0">
                <a:solidFill>
                  <a:schemeClr val="tx1"/>
                </a:solidFill>
                <a:latin typeface="+mj-ea"/>
                <a:ea typeface="+mj-ea"/>
              </a:rPr>
              <a:t>主要外注先</a:t>
            </a:r>
          </a:p>
        </p:txBody>
      </p:sp>
      <p:cxnSp>
        <p:nvCxnSpPr>
          <p:cNvPr id="14" name="直線コネクタ 13">
            <a:extLst>
              <a:ext uri="{FF2B5EF4-FFF2-40B4-BE49-F238E27FC236}">
                <a16:creationId xmlns:a16="http://schemas.microsoft.com/office/drawing/2014/main" id="{0FD3DDF0-DCBD-CE14-F158-968514C4BE62}"/>
              </a:ext>
            </a:extLst>
          </p:cNvPr>
          <p:cNvCxnSpPr>
            <a:cxnSpLocks/>
          </p:cNvCxnSpPr>
          <p:nvPr/>
        </p:nvCxnSpPr>
        <p:spPr>
          <a:xfrm>
            <a:off x="2933906" y="5890769"/>
            <a:ext cx="4862558"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22" name="二等辺三角形 21">
            <a:extLst>
              <a:ext uri="{FF2B5EF4-FFF2-40B4-BE49-F238E27FC236}">
                <a16:creationId xmlns:a16="http://schemas.microsoft.com/office/drawing/2014/main" id="{E5D47B62-2C55-3FE5-A074-85C434EA220E}"/>
              </a:ext>
            </a:extLst>
          </p:cNvPr>
          <p:cNvSpPr/>
          <p:nvPr/>
        </p:nvSpPr>
        <p:spPr>
          <a:xfrm>
            <a:off x="5039253" y="5569697"/>
            <a:ext cx="613305" cy="148933"/>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25" name="正方形/長方形 24">
            <a:extLst>
              <a:ext uri="{FF2B5EF4-FFF2-40B4-BE49-F238E27FC236}">
                <a16:creationId xmlns:a16="http://schemas.microsoft.com/office/drawing/2014/main" id="{54EC9FE9-AADB-81BC-6DCA-F5354A701162}"/>
              </a:ext>
            </a:extLst>
          </p:cNvPr>
          <p:cNvSpPr/>
          <p:nvPr/>
        </p:nvSpPr>
        <p:spPr>
          <a:xfrm>
            <a:off x="3146901" y="6351122"/>
            <a:ext cx="1892352" cy="53696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288000" tIns="0" rIns="0" bIns="0" rtlCol="0" anchor="t">
            <a:noAutofit/>
          </a:bodyPr>
          <a:lstStyle/>
          <a:p>
            <a:pPr marL="180000" indent="-180000">
              <a:lnSpc>
                <a:spcPct val="120000"/>
              </a:lnSpc>
              <a:spcAft>
                <a:spcPts val="500"/>
              </a:spcAft>
              <a:buClr>
                <a:schemeClr val="tx2"/>
              </a:buClr>
              <a:buFont typeface="游ゴシック" panose="020B0400000000000000" pitchFamily="50" charset="-128"/>
              <a:buChar char="▪"/>
            </a:pPr>
            <a:r>
              <a:rPr sz="1000" b="1">
                <a:latin typeface="+mj-ea"/>
                <a:ea typeface="+mj-ea"/>
              </a:rPr>
              <a:t>海外メーカー</a:t>
            </a:r>
            <a:endParaRPr kumimoji="1" lang="en-US" altLang="ja-JP" sz="1200" b="1" spc="50" dirty="0">
              <a:solidFill>
                <a:schemeClr val="tx1"/>
              </a:solidFill>
              <a:latin typeface="+mj-ea"/>
            </a:endParaRPr>
          </a:p>
          <a:p>
            <a:r>
              <a:rPr sz="1000" b="1">
                <a:latin typeface="+mj-ea"/>
                <a:ea typeface="+mj-ea"/>
              </a:rPr>
              <a:t>（中国等）</a:t>
            </a:r>
          </a:p>
        </p:txBody>
      </p:sp>
      <p:sp>
        <p:nvSpPr>
          <p:cNvPr id="26" name="正方形/長方形 25">
            <a:extLst>
              <a:ext uri="{FF2B5EF4-FFF2-40B4-BE49-F238E27FC236}">
                <a16:creationId xmlns:a16="http://schemas.microsoft.com/office/drawing/2014/main" id="{9C061C40-9401-AAF5-F431-12A37BDB4C30}"/>
              </a:ext>
            </a:extLst>
          </p:cNvPr>
          <p:cNvSpPr/>
          <p:nvPr/>
        </p:nvSpPr>
        <p:spPr>
          <a:xfrm>
            <a:off x="5306901" y="6348318"/>
            <a:ext cx="1892352" cy="53696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288000" tIns="0" rIns="0" bIns="0" rtlCol="0" anchor="t">
            <a:noAutofit/>
          </a:bodyPr>
          <a:lstStyle/>
          <a:p>
            <a:pPr marL="180000" indent="-180000">
              <a:lnSpc>
                <a:spcPct val="120000"/>
              </a:lnSpc>
              <a:spcAft>
                <a:spcPts val="500"/>
              </a:spcAft>
              <a:buClr>
                <a:schemeClr val="tx2"/>
              </a:buClr>
              <a:buFont typeface="游ゴシック" panose="020B0400000000000000" pitchFamily="50" charset="-128"/>
              <a:buChar char="▪"/>
            </a:pPr>
            <a:r>
              <a:rPr sz="1000" b="1">
                <a:latin typeface="+mj-ea"/>
                <a:ea typeface="+mj-ea"/>
              </a:rPr>
              <a:t>国内専門メーカー</a:t>
            </a:r>
            <a:endParaRPr kumimoji="1" lang="en-US" altLang="ja-JP" sz="1200" b="1" spc="50" dirty="0">
              <a:solidFill>
                <a:schemeClr val="tx1"/>
              </a:solidFill>
              <a:latin typeface="+mj-ea"/>
            </a:endParaRPr>
          </a:p>
          <a:p>
            <a:r>
              <a:rPr sz="1000" b="1">
                <a:latin typeface="+mj-ea"/>
                <a:ea typeface="+mj-ea"/>
              </a:rPr>
              <a:t>（アクリル・缶バッジ等）</a:t>
            </a:r>
          </a:p>
        </p:txBody>
      </p:sp>
      <p:sp>
        <p:nvSpPr>
          <p:cNvPr id="31" name="二等辺三角形 30">
            <a:extLst>
              <a:ext uri="{FF2B5EF4-FFF2-40B4-BE49-F238E27FC236}">
                <a16:creationId xmlns:a16="http://schemas.microsoft.com/office/drawing/2014/main" id="{64633052-A79E-B34E-462F-300E6FAF9F36}"/>
              </a:ext>
            </a:extLst>
          </p:cNvPr>
          <p:cNvSpPr/>
          <p:nvPr/>
        </p:nvSpPr>
        <p:spPr>
          <a:xfrm rot="10800000">
            <a:off x="5039252" y="5720533"/>
            <a:ext cx="613305" cy="148933"/>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35" name="字幕 13">
            <a:extLst>
              <a:ext uri="{FF2B5EF4-FFF2-40B4-BE49-F238E27FC236}">
                <a16:creationId xmlns:a16="http://schemas.microsoft.com/office/drawing/2014/main" id="{999986B5-FEED-86D6-9A2B-D6BEF4A1BD44}"/>
              </a:ext>
            </a:extLst>
          </p:cNvPr>
          <p:cNvSpPr>
            <a:spLocks noGrp="1"/>
          </p:cNvSpPr>
          <p:nvPr>
            <p:ph type="subTitle" idx="1"/>
          </p:nvPr>
        </p:nvSpPr>
        <p:spPr>
          <a:xfrm>
            <a:off x="460675" y="830046"/>
            <a:ext cx="9781875" cy="241861"/>
          </a:xfrm>
        </p:spPr>
        <p:txBody>
          <a:bodyPr>
            <a:noAutofit/>
          </a:bodyPr>
          <a:lstStyle/>
          <a:p>
            <a:r>
              <a:rPr>
                <a:latin typeface="+mj-ea"/>
                <a:ea typeface="+mj-ea"/>
              </a:rPr>
              <a:t>版権元(IPホルダー)との商品化企画から、海外・国内メーカーへの製造委託、版元・卸・ECへの販売までを一気通貫で手掛けるファブレス型のB2Bモデルです。</a:t>
            </a:r>
            <a:endParaRPr lang="en-US" altLang="ja-JP" dirty="0"/>
          </a:p>
        </p:txBody>
      </p:sp>
      <p:sp>
        <p:nvSpPr>
          <p:cNvPr id="6" name="正方形/長方形 5">
            <a:extLst>
              <a:ext uri="{FF2B5EF4-FFF2-40B4-BE49-F238E27FC236}">
                <a16:creationId xmlns:a16="http://schemas.microsoft.com/office/drawing/2014/main" id="{2E3AA283-9336-C146-98F8-CED6546280BC}"/>
              </a:ext>
            </a:extLst>
          </p:cNvPr>
          <p:cNvSpPr/>
          <p:nvPr/>
        </p:nvSpPr>
        <p:spPr>
          <a:xfrm>
            <a:off x="10440088" y="3096874"/>
            <a:ext cx="4737100" cy="3320415"/>
          </a:xfrm>
          <a:prstGeom prst="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sz="1300" dirty="0" err="1">
                <a:latin typeface="游ゴシック"/>
                <a:ea typeface="游ゴシック"/>
              </a:rPr>
              <a:t>当社は自社工場を保有しないファブレス体制です</a:t>
            </a:r>
            <a:r>
              <a:rPr sz="1300" dirty="0">
                <a:latin typeface="游ゴシック"/>
                <a:ea typeface="游ゴシック"/>
              </a:rPr>
              <a:t>。</a:t>
            </a:r>
          </a:p>
          <a:p>
            <a:pPr algn="l"/>
            <a:endParaRPr sz="1300" dirty="0">
              <a:latin typeface="游ゴシック"/>
              <a:ea typeface="游ゴシック"/>
            </a:endParaRPr>
          </a:p>
          <a:p>
            <a:pPr algn="l"/>
            <a:r>
              <a:rPr sz="1300" dirty="0" err="1">
                <a:latin typeface="游ゴシック"/>
                <a:ea typeface="游ゴシック"/>
              </a:rPr>
              <a:t>製造は中国等の海外メーカー及び国内専門メーカーへ委託し、本社（東京・上野）に企画・営業・管理機能を集約しています</a:t>
            </a:r>
            <a:r>
              <a:rPr sz="1300" dirty="0">
                <a:latin typeface="游ゴシック"/>
                <a:ea typeface="游ゴシック"/>
              </a:rPr>
              <a:t>。</a:t>
            </a:r>
          </a:p>
          <a:p>
            <a:pPr algn="l"/>
            <a:endParaRPr sz="1300" dirty="0">
              <a:latin typeface="游ゴシック"/>
              <a:ea typeface="游ゴシック"/>
            </a:endParaRPr>
          </a:p>
          <a:p>
            <a:pPr algn="l"/>
            <a:r>
              <a:rPr sz="1300" dirty="0" err="1">
                <a:latin typeface="游ゴシック"/>
                <a:ea typeface="游ゴシック"/>
              </a:rPr>
              <a:t>設備・在庫の負担が小さく、身軽で機動的な事業運営が可能な構造です</a:t>
            </a:r>
            <a:r>
              <a:rPr sz="1300" dirty="0">
                <a:latin typeface="游ゴシック"/>
                <a:ea typeface="游ゴシック"/>
              </a:rPr>
              <a:t>。</a:t>
            </a:r>
          </a:p>
        </p:txBody>
      </p:sp>
    </p:spTree>
    <p:extLst>
      <p:ext uri="{BB962C8B-B14F-4D97-AF65-F5344CB8AC3E}">
        <p14:creationId xmlns:p14="http://schemas.microsoft.com/office/powerpoint/2010/main" val="5383831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C98E073B-FCE4-F6FA-66A7-29E757285F77}"/>
              </a:ext>
            </a:extLst>
          </p:cNvPr>
          <p:cNvSpPr>
            <a:spLocks noGrp="1"/>
          </p:cNvSpPr>
          <p:nvPr>
            <p:ph type="ctrTitle"/>
          </p:nvPr>
        </p:nvSpPr>
        <p:spPr/>
        <p:txBody>
          <a:bodyPr/>
          <a:lstStyle/>
          <a:p>
            <a:r>
              <a:rPr>
                <a:latin typeface="游ゴシック" panose="020B0400000000000000" pitchFamily="50" charset="-128"/>
                <a:ea typeface="游ゴシック" panose="020B0400000000000000" pitchFamily="50" charset="-128"/>
              </a:rPr>
              <a:t>主な制作実績（取扱IP）</a:t>
            </a:r>
          </a:p>
        </p:txBody>
      </p:sp>
      <p:sp>
        <p:nvSpPr>
          <p:cNvPr id="2" name="タイトル 1">
            <a:extLst>
              <a:ext uri="{FF2B5EF4-FFF2-40B4-BE49-F238E27FC236}">
                <a16:creationId xmlns:a16="http://schemas.microsoft.com/office/drawing/2014/main" id="{1F33762E-23F4-8C5B-C467-2E3E3671C9B0}"/>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spc="0" dirty="0">
                <a:latin typeface="游ゴシック" panose="020B0400000000000000" pitchFamily="50" charset="-128"/>
                <a:ea typeface="游ゴシック" panose="020B0400000000000000" pitchFamily="50" charset="-128"/>
              </a:rPr>
              <a:t>事業概要</a:t>
            </a:r>
          </a:p>
        </p:txBody>
      </p:sp>
      <p:sp>
        <p:nvSpPr>
          <p:cNvPr id="4" name="TextBox 3"/>
          <p:cNvSpPr txBox="1"/>
          <p:nvPr/>
        </p:nvSpPr>
        <p:spPr>
          <a:xfrm>
            <a:off x="460675" y="820000"/>
            <a:ext cx="9781875" cy="461665"/>
          </a:xfrm>
          <a:prstGeom prst="rect">
            <a:avLst/>
          </a:prstGeom>
          <a:noFill/>
        </p:spPr>
        <p:txBody>
          <a:bodyPr wrap="square">
            <a:spAutoFit/>
          </a:bodyPr>
          <a:lstStyle/>
          <a:p>
            <a:r>
              <a:rPr sz="1200">
                <a:latin typeface="游ゴシック" panose="020B0400000000000000" pitchFamily="50" charset="-128"/>
                <a:ea typeface="游ゴシック" panose="020B0400000000000000" pitchFamily="50" charset="-128"/>
              </a:rPr>
              <a:t>アニメ・ゲームの人気IPを中心に、これまで多数の作品でキャラクターグッズの企画・製造を手掛けてきました（下記は公開されている制作実績の一部）。</a:t>
            </a:r>
          </a:p>
        </p:txBody>
      </p:sp>
      <p:pic>
        <p:nvPicPr>
          <p:cNvPr id="5" name="Picture 4" descr="banner_sao.jpg"/>
          <p:cNvPicPr>
            <a:picLocks noChangeAspect="1"/>
          </p:cNvPicPr>
          <p:nvPr/>
        </p:nvPicPr>
        <p:blipFill>
          <a:blip r:embed="rId2"/>
          <a:stretch>
            <a:fillRect/>
          </a:stretch>
        </p:blipFill>
        <p:spPr>
          <a:xfrm>
            <a:off x="311150" y="1580000"/>
            <a:ext cx="2427500" cy="633260"/>
          </a:xfrm>
          <a:prstGeom prst="rect">
            <a:avLst/>
          </a:prstGeom>
        </p:spPr>
      </p:pic>
      <p:pic>
        <p:nvPicPr>
          <p:cNvPr id="6" name="Picture 5" descr="banner_ghoul.jpg"/>
          <p:cNvPicPr>
            <a:picLocks noChangeAspect="1"/>
          </p:cNvPicPr>
          <p:nvPr/>
        </p:nvPicPr>
        <p:blipFill>
          <a:blip r:embed="rId3"/>
          <a:stretch>
            <a:fillRect/>
          </a:stretch>
        </p:blipFill>
        <p:spPr>
          <a:xfrm>
            <a:off x="2858650" y="1580000"/>
            <a:ext cx="2427500" cy="633260"/>
          </a:xfrm>
          <a:prstGeom prst="rect">
            <a:avLst/>
          </a:prstGeom>
        </p:spPr>
      </p:pic>
      <p:pic>
        <p:nvPicPr>
          <p:cNvPr id="7" name="Picture 6" descr="banner_haikyu.jpg"/>
          <p:cNvPicPr>
            <a:picLocks noChangeAspect="1"/>
          </p:cNvPicPr>
          <p:nvPr/>
        </p:nvPicPr>
        <p:blipFill>
          <a:blip r:embed="rId4"/>
          <a:stretch>
            <a:fillRect/>
          </a:stretch>
        </p:blipFill>
        <p:spPr>
          <a:xfrm>
            <a:off x="5406150" y="1580000"/>
            <a:ext cx="2427500" cy="633260"/>
          </a:xfrm>
          <a:prstGeom prst="rect">
            <a:avLst/>
          </a:prstGeom>
        </p:spPr>
      </p:pic>
      <p:pic>
        <p:nvPicPr>
          <p:cNvPr id="8" name="Picture 7" descr="banner_psychopass.jpg"/>
          <p:cNvPicPr>
            <a:picLocks noChangeAspect="1"/>
          </p:cNvPicPr>
          <p:nvPr/>
        </p:nvPicPr>
        <p:blipFill>
          <a:blip r:embed="rId5"/>
          <a:stretch>
            <a:fillRect/>
          </a:stretch>
        </p:blipFill>
        <p:spPr>
          <a:xfrm>
            <a:off x="7953650" y="1580000"/>
            <a:ext cx="2427500" cy="633260"/>
          </a:xfrm>
          <a:prstGeom prst="rect">
            <a:avLst/>
          </a:prstGeom>
        </p:spPr>
      </p:pic>
      <p:pic>
        <p:nvPicPr>
          <p:cNvPr id="9" name="Picture 8" descr="banner_ansatsu.jpg"/>
          <p:cNvPicPr>
            <a:picLocks noChangeAspect="1"/>
          </p:cNvPicPr>
          <p:nvPr/>
        </p:nvPicPr>
        <p:blipFill>
          <a:blip r:embed="rId6"/>
          <a:stretch>
            <a:fillRect/>
          </a:stretch>
        </p:blipFill>
        <p:spPr>
          <a:xfrm>
            <a:off x="311150" y="2363260"/>
            <a:ext cx="2427500" cy="633260"/>
          </a:xfrm>
          <a:prstGeom prst="rect">
            <a:avLst/>
          </a:prstGeom>
        </p:spPr>
      </p:pic>
      <p:pic>
        <p:nvPicPr>
          <p:cNvPr id="10" name="Picture 9" descr="banner_kimiuso.jpg"/>
          <p:cNvPicPr>
            <a:picLocks noChangeAspect="1"/>
          </p:cNvPicPr>
          <p:nvPr/>
        </p:nvPicPr>
        <p:blipFill>
          <a:blip r:embed="rId7"/>
          <a:stretch>
            <a:fillRect/>
          </a:stretch>
        </p:blipFill>
        <p:spPr>
          <a:xfrm>
            <a:off x="2858650" y="2363260"/>
            <a:ext cx="2427500" cy="633260"/>
          </a:xfrm>
          <a:prstGeom prst="rect">
            <a:avLst/>
          </a:prstGeom>
        </p:spPr>
      </p:pic>
      <p:pic>
        <p:nvPicPr>
          <p:cNvPr id="11" name="Picture 10" descr="banner_ngnl.jpg"/>
          <p:cNvPicPr>
            <a:picLocks noChangeAspect="1"/>
          </p:cNvPicPr>
          <p:nvPr/>
        </p:nvPicPr>
        <p:blipFill>
          <a:blip r:embed="rId8"/>
          <a:stretch>
            <a:fillRect/>
          </a:stretch>
        </p:blipFill>
        <p:spPr>
          <a:xfrm>
            <a:off x="5406150" y="2363260"/>
            <a:ext cx="2427500" cy="633260"/>
          </a:xfrm>
          <a:prstGeom prst="rect">
            <a:avLst/>
          </a:prstGeom>
        </p:spPr>
      </p:pic>
      <p:pic>
        <p:nvPicPr>
          <p:cNvPr id="12" name="Picture 11" descr="banner_nozaki.jpg"/>
          <p:cNvPicPr>
            <a:picLocks noChangeAspect="1"/>
          </p:cNvPicPr>
          <p:nvPr/>
        </p:nvPicPr>
        <p:blipFill>
          <a:blip r:embed="rId9"/>
          <a:stretch>
            <a:fillRect/>
          </a:stretch>
        </p:blipFill>
        <p:spPr>
          <a:xfrm>
            <a:off x="7953650" y="2363260"/>
            <a:ext cx="2427500" cy="633260"/>
          </a:xfrm>
          <a:prstGeom prst="rect">
            <a:avLst/>
          </a:prstGeom>
        </p:spPr>
      </p:pic>
      <p:pic>
        <p:nvPicPr>
          <p:cNvPr id="13" name="Picture 12" descr="banner_aceofdiamond.jpg"/>
          <p:cNvPicPr>
            <a:picLocks noChangeAspect="1"/>
          </p:cNvPicPr>
          <p:nvPr/>
        </p:nvPicPr>
        <p:blipFill>
          <a:blip r:embed="rId10"/>
          <a:stretch>
            <a:fillRect/>
          </a:stretch>
        </p:blipFill>
        <p:spPr>
          <a:xfrm>
            <a:off x="311150" y="3146520"/>
            <a:ext cx="2427500" cy="633260"/>
          </a:xfrm>
          <a:prstGeom prst="rect">
            <a:avLst/>
          </a:prstGeom>
        </p:spPr>
      </p:pic>
      <p:pic>
        <p:nvPicPr>
          <p:cNvPr id="14" name="Picture 13" descr="banner_kamihaji.jpg"/>
          <p:cNvPicPr>
            <a:picLocks noChangeAspect="1"/>
          </p:cNvPicPr>
          <p:nvPr/>
        </p:nvPicPr>
        <p:blipFill>
          <a:blip r:embed="rId11"/>
          <a:stretch>
            <a:fillRect/>
          </a:stretch>
        </p:blipFill>
        <p:spPr>
          <a:xfrm>
            <a:off x="2858650" y="3146520"/>
            <a:ext cx="2427500" cy="633260"/>
          </a:xfrm>
          <a:prstGeom prst="rect">
            <a:avLst/>
          </a:prstGeom>
        </p:spPr>
      </p:pic>
      <p:pic>
        <p:nvPicPr>
          <p:cNvPr id="15" name="Picture 14" descr="banner_arpeggio.jpg"/>
          <p:cNvPicPr>
            <a:picLocks noChangeAspect="1"/>
          </p:cNvPicPr>
          <p:nvPr/>
        </p:nvPicPr>
        <p:blipFill>
          <a:blip r:embed="rId12"/>
          <a:stretch>
            <a:fillRect/>
          </a:stretch>
        </p:blipFill>
        <p:spPr>
          <a:xfrm>
            <a:off x="5406150" y="3146520"/>
            <a:ext cx="2427500" cy="633260"/>
          </a:xfrm>
          <a:prstGeom prst="rect">
            <a:avLst/>
          </a:prstGeom>
        </p:spPr>
      </p:pic>
      <p:pic>
        <p:nvPicPr>
          <p:cNvPr id="16" name="Picture 15" descr="banner_personaq.jpg"/>
          <p:cNvPicPr>
            <a:picLocks noChangeAspect="1"/>
          </p:cNvPicPr>
          <p:nvPr/>
        </p:nvPicPr>
        <p:blipFill>
          <a:blip r:embed="rId13"/>
          <a:stretch>
            <a:fillRect/>
          </a:stretch>
        </p:blipFill>
        <p:spPr>
          <a:xfrm>
            <a:off x="7953650" y="3146520"/>
            <a:ext cx="2427500" cy="633260"/>
          </a:xfrm>
          <a:prstGeom prst="rect">
            <a:avLst/>
          </a:prstGeom>
        </p:spPr>
      </p:pic>
      <p:pic>
        <p:nvPicPr>
          <p:cNvPr id="17" name="Picture 16" descr="banner_dlmb.jpg"/>
          <p:cNvPicPr>
            <a:picLocks noChangeAspect="1"/>
          </p:cNvPicPr>
          <p:nvPr/>
        </p:nvPicPr>
        <p:blipFill>
          <a:blip r:embed="rId14"/>
          <a:stretch>
            <a:fillRect/>
          </a:stretch>
        </p:blipFill>
        <p:spPr>
          <a:xfrm>
            <a:off x="311150" y="3929780"/>
            <a:ext cx="2427500" cy="633260"/>
          </a:xfrm>
          <a:prstGeom prst="rect">
            <a:avLst/>
          </a:prstGeom>
        </p:spPr>
      </p:pic>
      <p:pic>
        <p:nvPicPr>
          <p:cNvPr id="18" name="Picture 17" descr="banner_ookami.jpg"/>
          <p:cNvPicPr>
            <a:picLocks noChangeAspect="1"/>
          </p:cNvPicPr>
          <p:nvPr/>
        </p:nvPicPr>
        <p:blipFill>
          <a:blip r:embed="rId15"/>
          <a:stretch>
            <a:fillRect/>
          </a:stretch>
        </p:blipFill>
        <p:spPr>
          <a:xfrm>
            <a:off x="2858650" y="3929780"/>
            <a:ext cx="2427500" cy="633260"/>
          </a:xfrm>
          <a:prstGeom prst="rect">
            <a:avLst/>
          </a:prstGeom>
        </p:spPr>
      </p:pic>
      <p:pic>
        <p:nvPicPr>
          <p:cNvPr id="19" name="Picture 18" descr="banner_wtg.jpg"/>
          <p:cNvPicPr>
            <a:picLocks noChangeAspect="1"/>
          </p:cNvPicPr>
          <p:nvPr/>
        </p:nvPicPr>
        <p:blipFill>
          <a:blip r:embed="rId16"/>
          <a:stretch>
            <a:fillRect/>
          </a:stretch>
        </p:blipFill>
        <p:spPr>
          <a:xfrm>
            <a:off x="5406150" y="3929780"/>
            <a:ext cx="2427500" cy="633260"/>
          </a:xfrm>
          <a:prstGeom prst="rect">
            <a:avLst/>
          </a:prstGeom>
        </p:spPr>
      </p:pic>
      <p:pic>
        <p:nvPicPr>
          <p:cNvPr id="20" name="Picture 19" descr="banner_sbr.jpg"/>
          <p:cNvPicPr>
            <a:picLocks noChangeAspect="1"/>
          </p:cNvPicPr>
          <p:nvPr/>
        </p:nvPicPr>
        <p:blipFill>
          <a:blip r:embed="rId17"/>
          <a:stretch>
            <a:fillRect/>
          </a:stretch>
        </p:blipFill>
        <p:spPr>
          <a:xfrm>
            <a:off x="7953650" y="3929780"/>
            <a:ext cx="2427500" cy="633260"/>
          </a:xfrm>
          <a:prstGeom prst="rect">
            <a:avLst/>
          </a:prstGeom>
        </p:spPr>
      </p:pic>
      <p:pic>
        <p:nvPicPr>
          <p:cNvPr id="21" name="Picture 20" descr="banner_akame.jpg"/>
          <p:cNvPicPr>
            <a:picLocks noChangeAspect="1"/>
          </p:cNvPicPr>
          <p:nvPr/>
        </p:nvPicPr>
        <p:blipFill>
          <a:blip r:embed="rId18"/>
          <a:stretch>
            <a:fillRect/>
          </a:stretch>
        </p:blipFill>
        <p:spPr>
          <a:xfrm>
            <a:off x="311150" y="4713040"/>
            <a:ext cx="2427500" cy="633260"/>
          </a:xfrm>
          <a:prstGeom prst="rect">
            <a:avLst/>
          </a:prstGeom>
        </p:spPr>
      </p:pic>
      <p:pic>
        <p:nvPicPr>
          <p:cNvPr id="22" name="Picture 21" descr="banner_kokkuri.jpg"/>
          <p:cNvPicPr>
            <a:picLocks noChangeAspect="1"/>
          </p:cNvPicPr>
          <p:nvPr/>
        </p:nvPicPr>
        <p:blipFill>
          <a:blip r:embed="rId19"/>
          <a:stretch>
            <a:fillRect/>
          </a:stretch>
        </p:blipFill>
        <p:spPr>
          <a:xfrm>
            <a:off x="2858650" y="4713040"/>
            <a:ext cx="2427500" cy="633260"/>
          </a:xfrm>
          <a:prstGeom prst="rect">
            <a:avLst/>
          </a:prstGeom>
        </p:spPr>
      </p:pic>
      <p:pic>
        <p:nvPicPr>
          <p:cNvPr id="23" name="Picture 22" descr="banner_majikai.jpg"/>
          <p:cNvPicPr>
            <a:picLocks noChangeAspect="1"/>
          </p:cNvPicPr>
          <p:nvPr/>
        </p:nvPicPr>
        <p:blipFill>
          <a:blip r:embed="rId20"/>
          <a:stretch>
            <a:fillRect/>
          </a:stretch>
        </p:blipFill>
        <p:spPr>
          <a:xfrm>
            <a:off x="5406150" y="4713040"/>
            <a:ext cx="2427500" cy="633260"/>
          </a:xfrm>
          <a:prstGeom prst="rect">
            <a:avLst/>
          </a:prstGeom>
        </p:spPr>
      </p:pic>
      <p:pic>
        <p:nvPicPr>
          <p:cNvPr id="24" name="Picture 23" descr="banner_utena.jpg"/>
          <p:cNvPicPr>
            <a:picLocks noChangeAspect="1"/>
          </p:cNvPicPr>
          <p:nvPr/>
        </p:nvPicPr>
        <p:blipFill>
          <a:blip r:embed="rId21"/>
          <a:stretch>
            <a:fillRect/>
          </a:stretch>
        </p:blipFill>
        <p:spPr>
          <a:xfrm>
            <a:off x="7953650" y="4713040"/>
            <a:ext cx="2427500" cy="633260"/>
          </a:xfrm>
          <a:prstGeom prst="rect">
            <a:avLst/>
          </a:prstGeom>
        </p:spPr>
      </p:pic>
      <p:sp>
        <p:nvSpPr>
          <p:cNvPr id="25" name="TextBox 24"/>
          <p:cNvSpPr txBox="1"/>
          <p:nvPr/>
        </p:nvSpPr>
        <p:spPr>
          <a:xfrm>
            <a:off x="311150" y="5516300"/>
            <a:ext cx="10000000" cy="238527"/>
          </a:xfrm>
          <a:prstGeom prst="rect">
            <a:avLst/>
          </a:prstGeom>
          <a:noFill/>
        </p:spPr>
        <p:txBody>
          <a:bodyPr wrap="square">
            <a:spAutoFit/>
          </a:bodyPr>
          <a:lstStyle/>
          <a:p>
            <a:r>
              <a:rPr sz="950">
                <a:solidFill>
                  <a:srgbClr val="595959"/>
                </a:solidFill>
                <a:latin typeface="游ゴシック" panose="020B0400000000000000" pitchFamily="50" charset="-128"/>
                <a:ea typeface="游ゴシック" panose="020B0400000000000000" pitchFamily="50" charset="-128"/>
              </a:rPr>
              <a:t>※ 当社ウェブサイト等で公開されている制作実績の一部を掲載。各作品の著作権・商標権は各権利者に帰属します。</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C98E073B-FCE4-F6FA-66A7-29E757285F77}"/>
              </a:ext>
            </a:extLst>
          </p:cNvPr>
          <p:cNvSpPr>
            <a:spLocks noGrp="1"/>
          </p:cNvSpPr>
          <p:nvPr>
            <p:ph type="ctrTitle"/>
          </p:nvPr>
        </p:nvSpPr>
        <p:spPr/>
        <p:txBody>
          <a:bodyPr/>
          <a:lstStyle/>
          <a:p>
            <a:r>
              <a:rPr>
                <a:latin typeface="游ゴシック" panose="020B0400000000000000" pitchFamily="50" charset="-128"/>
                <a:ea typeface="游ゴシック" panose="020B0400000000000000" pitchFamily="50" charset="-128"/>
              </a:rPr>
              <a:t>制作実績 詳細①［大手出版社原作IP］</a:t>
            </a:r>
          </a:p>
        </p:txBody>
      </p:sp>
      <p:sp>
        <p:nvSpPr>
          <p:cNvPr id="2" name="タイトル 1">
            <a:extLst>
              <a:ext uri="{FF2B5EF4-FFF2-40B4-BE49-F238E27FC236}">
                <a16:creationId xmlns:a16="http://schemas.microsoft.com/office/drawing/2014/main" id="{1F33762E-23F4-8C5B-C467-2E3E3671C9B0}"/>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spc="0" dirty="0">
                <a:latin typeface="游ゴシック" panose="020B0400000000000000" pitchFamily="50" charset="-128"/>
                <a:ea typeface="游ゴシック" panose="020B0400000000000000" pitchFamily="50" charset="-128"/>
              </a:rPr>
              <a:t>事業概要</a:t>
            </a:r>
          </a:p>
        </p:txBody>
      </p:sp>
      <p:sp>
        <p:nvSpPr>
          <p:cNvPr id="4" name="TextBox 3"/>
          <p:cNvSpPr txBox="1"/>
          <p:nvPr/>
        </p:nvSpPr>
        <p:spPr>
          <a:xfrm>
            <a:off x="460675" y="820000"/>
            <a:ext cx="9781875" cy="461665"/>
          </a:xfrm>
          <a:prstGeom prst="rect">
            <a:avLst/>
          </a:prstGeom>
          <a:noFill/>
        </p:spPr>
        <p:txBody>
          <a:bodyPr wrap="square">
            <a:spAutoFit/>
          </a:bodyPr>
          <a:lstStyle/>
          <a:p>
            <a:r>
              <a:rPr sz="1200">
                <a:latin typeface="游ゴシック" panose="020B0400000000000000" pitchFamily="50" charset="-128"/>
                <a:ea typeface="游ゴシック" panose="020B0400000000000000" pitchFamily="50" charset="-128"/>
              </a:rPr>
              <a:t>集英社・講談社・小学館・白泉社等の大手出版社が権利を有する人気IPについて、テレビアニメ・劇場版の展開に合わせたキャラクターグッズの企画・製造を手掛けています。</a:t>
            </a:r>
          </a:p>
        </p:txBody>
      </p:sp>
      <p:pic>
        <p:nvPicPr>
          <p:cNvPr id="6" name="Picture 5" descr="banner_ghoul.jpg"/>
          <p:cNvPicPr>
            <a:picLocks noChangeAspect="1"/>
          </p:cNvPicPr>
          <p:nvPr/>
        </p:nvPicPr>
        <p:blipFill>
          <a:blip r:embed="rId3"/>
          <a:stretch>
            <a:fillRect/>
          </a:stretch>
        </p:blipFill>
        <p:spPr>
          <a:xfrm>
            <a:off x="384048" y="1527048"/>
            <a:ext cx="2048256" cy="530352"/>
          </a:xfrm>
          <a:prstGeom prst="rect">
            <a:avLst/>
          </a:prstGeom>
        </p:spPr>
      </p:pic>
      <p:pic>
        <p:nvPicPr>
          <p:cNvPr id="7" name="Picture 6" descr="banner_haikyu.jpg"/>
          <p:cNvPicPr>
            <a:picLocks noChangeAspect="1"/>
          </p:cNvPicPr>
          <p:nvPr/>
        </p:nvPicPr>
        <p:blipFill>
          <a:blip r:embed="rId4"/>
          <a:stretch>
            <a:fillRect/>
          </a:stretch>
        </p:blipFill>
        <p:spPr>
          <a:xfrm>
            <a:off x="384048" y="2487168"/>
            <a:ext cx="2048256" cy="530352"/>
          </a:xfrm>
          <a:prstGeom prst="rect">
            <a:avLst/>
          </a:prstGeom>
        </p:spPr>
      </p:pic>
      <p:pic>
        <p:nvPicPr>
          <p:cNvPr id="9" name="Picture 8" descr="banner_ansatsu.jpg"/>
          <p:cNvPicPr>
            <a:picLocks noChangeAspect="1"/>
          </p:cNvPicPr>
          <p:nvPr/>
        </p:nvPicPr>
        <p:blipFill>
          <a:blip r:embed="rId6"/>
          <a:stretch>
            <a:fillRect/>
          </a:stretch>
        </p:blipFill>
        <p:spPr>
          <a:xfrm>
            <a:off x="384048" y="3447288"/>
            <a:ext cx="2048256" cy="530352"/>
          </a:xfrm>
          <a:prstGeom prst="rect">
            <a:avLst/>
          </a:prstGeom>
        </p:spPr>
      </p:pic>
      <p:pic>
        <p:nvPicPr>
          <p:cNvPr id="10" name="Picture 9" descr="banner_kimiuso.jpg"/>
          <p:cNvPicPr>
            <a:picLocks noChangeAspect="1"/>
          </p:cNvPicPr>
          <p:nvPr/>
        </p:nvPicPr>
        <p:blipFill>
          <a:blip r:embed="rId7"/>
          <a:stretch>
            <a:fillRect/>
          </a:stretch>
        </p:blipFill>
        <p:spPr>
          <a:xfrm>
            <a:off x="5522976" y="2487168"/>
            <a:ext cx="2048256" cy="530352"/>
          </a:xfrm>
          <a:prstGeom prst="rect">
            <a:avLst/>
          </a:prstGeom>
        </p:spPr>
      </p:pic>
      <p:pic>
        <p:nvPicPr>
          <p:cNvPr id="13" name="Picture 12" descr="banner_aceofdiamond.jpg"/>
          <p:cNvPicPr>
            <a:picLocks noChangeAspect="1"/>
          </p:cNvPicPr>
          <p:nvPr/>
        </p:nvPicPr>
        <p:blipFill>
          <a:blip r:embed="rId10"/>
          <a:stretch>
            <a:fillRect/>
          </a:stretch>
        </p:blipFill>
        <p:spPr>
          <a:xfrm>
            <a:off x="5522976" y="1527048"/>
            <a:ext cx="2048256" cy="530352"/>
          </a:xfrm>
          <a:prstGeom prst="rect">
            <a:avLst/>
          </a:prstGeom>
        </p:spPr>
      </p:pic>
      <p:pic>
        <p:nvPicPr>
          <p:cNvPr id="14" name="Picture 13" descr="banner_kamihaji.jpg"/>
          <p:cNvPicPr>
            <a:picLocks noChangeAspect="1"/>
          </p:cNvPicPr>
          <p:nvPr/>
        </p:nvPicPr>
        <p:blipFill>
          <a:blip r:embed="rId11"/>
          <a:stretch>
            <a:fillRect/>
          </a:stretch>
        </p:blipFill>
        <p:spPr>
          <a:xfrm>
            <a:off x="5522976" y="5367528"/>
            <a:ext cx="2048256" cy="530352"/>
          </a:xfrm>
          <a:prstGeom prst="rect">
            <a:avLst/>
          </a:prstGeom>
        </p:spPr>
      </p:pic>
      <p:pic>
        <p:nvPicPr>
          <p:cNvPr id="18" name="Picture 17" descr="banner_ookami.jpg"/>
          <p:cNvPicPr>
            <a:picLocks noChangeAspect="1"/>
          </p:cNvPicPr>
          <p:nvPr/>
        </p:nvPicPr>
        <p:blipFill>
          <a:blip r:embed="rId15"/>
          <a:stretch>
            <a:fillRect/>
          </a:stretch>
        </p:blipFill>
        <p:spPr>
          <a:xfrm>
            <a:off x="384048" y="5367528"/>
            <a:ext cx="2048256" cy="530352"/>
          </a:xfrm>
          <a:prstGeom prst="rect">
            <a:avLst/>
          </a:prstGeom>
        </p:spPr>
      </p:pic>
      <p:pic>
        <p:nvPicPr>
          <p:cNvPr id="19" name="Picture 18" descr="banner_wtg.jpg"/>
          <p:cNvPicPr>
            <a:picLocks noChangeAspect="1"/>
          </p:cNvPicPr>
          <p:nvPr/>
        </p:nvPicPr>
        <p:blipFill>
          <a:blip r:embed="rId16"/>
          <a:stretch>
            <a:fillRect/>
          </a:stretch>
        </p:blipFill>
        <p:spPr>
          <a:xfrm>
            <a:off x="384048" y="4407408"/>
            <a:ext cx="2048256" cy="530352"/>
          </a:xfrm>
          <a:prstGeom prst="rect">
            <a:avLst/>
          </a:prstGeom>
        </p:spPr>
      </p:pic>
      <p:pic>
        <p:nvPicPr>
          <p:cNvPr id="23" name="Picture 22" descr="banner_majikai.jpg"/>
          <p:cNvPicPr>
            <a:picLocks noChangeAspect="1"/>
          </p:cNvPicPr>
          <p:nvPr/>
        </p:nvPicPr>
        <p:blipFill>
          <a:blip r:embed="rId20"/>
          <a:stretch>
            <a:fillRect/>
          </a:stretch>
        </p:blipFill>
        <p:spPr>
          <a:xfrm>
            <a:off x="5522976" y="3447288"/>
            <a:ext cx="2048256" cy="530352"/>
          </a:xfrm>
          <a:prstGeom prst="rect">
            <a:avLst/>
          </a:prstGeom>
        </p:spPr>
      </p:pic>
      <p:pic>
        <p:nvPicPr>
          <p:cNvPr id="24" name="Picture 23" descr="banner_utena.jpg"/>
          <p:cNvPicPr>
            <a:picLocks noChangeAspect="1"/>
          </p:cNvPicPr>
          <p:nvPr/>
        </p:nvPicPr>
        <p:blipFill>
          <a:blip r:embed="rId21"/>
          <a:stretch>
            <a:fillRect/>
          </a:stretch>
        </p:blipFill>
        <p:spPr>
          <a:xfrm>
            <a:off x="5522976" y="4407408"/>
            <a:ext cx="2048256" cy="530352"/>
          </a:xfrm>
          <a:prstGeom prst="rect">
            <a:avLst/>
          </a:prstGeom>
        </p:spPr>
      </p:pic>
      <p:sp>
        <p:nvSpPr>
          <p:cNvPr id="25" name="TextBox 24"/>
          <p:cNvSpPr txBox="1"/>
          <p:nvPr/>
        </p:nvSpPr>
        <p:spPr>
          <a:xfrm>
            <a:off x="311150" y="6291072"/>
            <a:ext cx="10000000" cy="238527"/>
          </a:xfrm>
          <a:prstGeom prst="rect">
            <a:avLst/>
          </a:prstGeom>
          <a:noFill/>
        </p:spPr>
        <p:txBody>
          <a:bodyPr wrap="square">
            <a:spAutoFit/>
          </a:bodyPr>
          <a:lstStyle/>
          <a:p>
            <a:r>
              <a:rPr sz="950">
                <a:solidFill>
                  <a:srgbClr val="595959"/>
                </a:solidFill>
                <a:latin typeface="游ゴシック" panose="020B0400000000000000" pitchFamily="50" charset="-128"/>
                <a:ea typeface="游ゴシック" panose="020B0400000000000000" pitchFamily="50" charset="-128"/>
              </a:rPr>
              <a:t>※ 当社ウェブサイト等で公開されている制作実績の一部を掲載。各作品の著作権・商標権は各権利者に帰属します。</a:t>
            </a:r>
          </a:p>
          <a:p>
            <a:r>
              <a:rPr sz="950">
                <a:solidFill>
                  <a:srgbClr val="595959"/>
                </a:solidFill>
                <a:latin typeface="游ゴシック" panose="020B0400000000000000" pitchFamily="50" charset="-128"/>
                <a:ea typeface="游ゴシック" panose="020B0400000000000000" pitchFamily="50" charset="-128"/>
              </a:rPr>
              <a:t>※ 各作品における具体的な商品構成・受注時期・受注規模は、データルームにて開示予定です。</a:t>
            </a:r>
          </a:p>
        </p:txBody>
      </p:sp>
      <p:sp>
        <p:nvSpPr>
          <p:cNvPr id="26" name="TextBox 25"/>
          <p:cNvSpPr txBox="1"/>
          <p:nvPr/>
        </p:nvSpPr>
        <p:spPr>
          <a:xfrm>
            <a:off x="2560320" y="1453896"/>
            <a:ext cx="2834640" cy="274320"/>
          </a:xfrm>
          <a:prstGeom prst="rect">
            <a:avLst/>
          </a:prstGeom>
          <a:noFill/>
        </p:spPr>
        <p:txBody>
          <a:bodyPr wrap="square" lIns="0" rIns="0" tIns="0" bIns="0">
            <a:spAutoFit/>
          </a:bodyPr>
          <a:lstStyle/>
          <a:p>
            <a:pPr algn="l"/>
            <a:r>
              <a:rPr sz="1050" b="1">
                <a:solidFill>
                  <a:srgbClr val="0B3041"/>
                </a:solidFill>
                <a:latin typeface="游ゴシック"/>
              </a:rPr>
              <a:t>東京喰種 トーキョーグール</a:t>
            </a:r>
          </a:p>
        </p:txBody>
      </p:sp>
      <p:sp>
        <p:nvSpPr>
          <p:cNvPr id="27" name="TextBox 26"/>
          <p:cNvSpPr txBox="1"/>
          <p:nvPr/>
        </p:nvSpPr>
        <p:spPr>
          <a:xfrm>
            <a:off x="2560320" y="1737360"/>
            <a:ext cx="2834640" cy="219456"/>
          </a:xfrm>
          <a:prstGeom prst="rect">
            <a:avLst/>
          </a:prstGeom>
          <a:noFill/>
        </p:spPr>
        <p:txBody>
          <a:bodyPr wrap="square" lIns="0" rIns="0" tIns="0" bIns="0">
            <a:spAutoFit/>
          </a:bodyPr>
          <a:lstStyle/>
          <a:p>
            <a:pPr algn="l"/>
            <a:r>
              <a:rPr sz="900" b="0">
                <a:solidFill>
                  <a:srgbClr val="0889C9"/>
                </a:solidFill>
                <a:latin typeface="游ゴシック"/>
              </a:rPr>
              <a:t>青年マンガ原作（集英社）</a:t>
            </a:r>
          </a:p>
        </p:txBody>
      </p:sp>
      <p:sp>
        <p:nvSpPr>
          <p:cNvPr id="28" name="TextBox 27"/>
          <p:cNvSpPr txBox="1"/>
          <p:nvPr/>
        </p:nvSpPr>
        <p:spPr>
          <a:xfrm>
            <a:off x="2560320" y="1947672"/>
            <a:ext cx="2834640" cy="274320"/>
          </a:xfrm>
          <a:prstGeom prst="rect">
            <a:avLst/>
          </a:prstGeom>
          <a:noFill/>
        </p:spPr>
        <p:txBody>
          <a:bodyPr wrap="square" lIns="0" rIns="0" tIns="0" bIns="0">
            <a:spAutoFit/>
          </a:bodyPr>
          <a:lstStyle/>
          <a:p>
            <a:pPr algn="l"/>
            <a:r>
              <a:rPr sz="600" b="0">
                <a:solidFill>
                  <a:srgbClr val="8C8C8C"/>
                </a:solidFill>
                <a:latin typeface="游ゴシック"/>
              </a:rPr>
              <a:t>©石田スイ／集英社・東京喰種製作委員会</a:t>
            </a:r>
          </a:p>
        </p:txBody>
      </p:sp>
      <p:sp>
        <p:nvSpPr>
          <p:cNvPr id="29" name="TextBox 28"/>
          <p:cNvSpPr txBox="1"/>
          <p:nvPr/>
        </p:nvSpPr>
        <p:spPr>
          <a:xfrm>
            <a:off x="2560320" y="2414015"/>
            <a:ext cx="2834640" cy="274320"/>
          </a:xfrm>
          <a:prstGeom prst="rect">
            <a:avLst/>
          </a:prstGeom>
          <a:noFill/>
        </p:spPr>
        <p:txBody>
          <a:bodyPr wrap="square" lIns="0" rIns="0" tIns="0" bIns="0">
            <a:spAutoFit/>
          </a:bodyPr>
          <a:lstStyle/>
          <a:p>
            <a:pPr algn="l"/>
            <a:r>
              <a:rPr sz="1050" b="1">
                <a:solidFill>
                  <a:srgbClr val="0B3041"/>
                </a:solidFill>
                <a:latin typeface="游ゴシック"/>
              </a:rPr>
              <a:t>ハイキュー!! TO THE TOP</a:t>
            </a:r>
          </a:p>
        </p:txBody>
      </p:sp>
      <p:sp>
        <p:nvSpPr>
          <p:cNvPr id="30" name="TextBox 29"/>
          <p:cNvSpPr txBox="1"/>
          <p:nvPr/>
        </p:nvSpPr>
        <p:spPr>
          <a:xfrm>
            <a:off x="2560320" y="2697479"/>
            <a:ext cx="2834640" cy="219456"/>
          </a:xfrm>
          <a:prstGeom prst="rect">
            <a:avLst/>
          </a:prstGeom>
          <a:noFill/>
        </p:spPr>
        <p:txBody>
          <a:bodyPr wrap="square" lIns="0" rIns="0" tIns="0" bIns="0">
            <a:spAutoFit/>
          </a:bodyPr>
          <a:lstStyle/>
          <a:p>
            <a:pPr algn="l"/>
            <a:r>
              <a:rPr sz="900" b="0">
                <a:solidFill>
                  <a:srgbClr val="0889C9"/>
                </a:solidFill>
                <a:latin typeface="游ゴシック"/>
              </a:rPr>
              <a:t>少年マンガ原作（集英社）</a:t>
            </a:r>
          </a:p>
        </p:txBody>
      </p:sp>
      <p:sp>
        <p:nvSpPr>
          <p:cNvPr id="31" name="TextBox 30"/>
          <p:cNvSpPr txBox="1"/>
          <p:nvPr/>
        </p:nvSpPr>
        <p:spPr>
          <a:xfrm>
            <a:off x="2560320" y="2907791"/>
            <a:ext cx="2834640" cy="274320"/>
          </a:xfrm>
          <a:prstGeom prst="rect">
            <a:avLst/>
          </a:prstGeom>
          <a:noFill/>
        </p:spPr>
        <p:txBody>
          <a:bodyPr wrap="square" lIns="0" rIns="0" tIns="0" bIns="0">
            <a:spAutoFit/>
          </a:bodyPr>
          <a:lstStyle/>
          <a:p>
            <a:pPr algn="l"/>
            <a:r>
              <a:rPr sz="600" b="0">
                <a:solidFill>
                  <a:srgbClr val="8C8C8C"/>
                </a:solidFill>
                <a:latin typeface="游ゴシック"/>
              </a:rPr>
              <a:t>©古舘春一／集英社・「ハイキュー!!」製作委員会・MBS</a:t>
            </a:r>
          </a:p>
        </p:txBody>
      </p:sp>
      <p:sp>
        <p:nvSpPr>
          <p:cNvPr id="32" name="TextBox 31"/>
          <p:cNvSpPr txBox="1"/>
          <p:nvPr/>
        </p:nvSpPr>
        <p:spPr>
          <a:xfrm>
            <a:off x="2560320" y="3374136"/>
            <a:ext cx="2834640" cy="274320"/>
          </a:xfrm>
          <a:prstGeom prst="rect">
            <a:avLst/>
          </a:prstGeom>
          <a:noFill/>
        </p:spPr>
        <p:txBody>
          <a:bodyPr wrap="square" lIns="0" rIns="0" tIns="0" bIns="0">
            <a:spAutoFit/>
          </a:bodyPr>
          <a:lstStyle/>
          <a:p>
            <a:pPr algn="l"/>
            <a:r>
              <a:rPr sz="1050" b="1">
                <a:solidFill>
                  <a:srgbClr val="0B3041"/>
                </a:solidFill>
                <a:latin typeface="游ゴシック"/>
              </a:rPr>
              <a:t>暗殺教室</a:t>
            </a:r>
          </a:p>
        </p:txBody>
      </p:sp>
      <p:sp>
        <p:nvSpPr>
          <p:cNvPr id="33" name="TextBox 32"/>
          <p:cNvSpPr txBox="1"/>
          <p:nvPr/>
        </p:nvSpPr>
        <p:spPr>
          <a:xfrm>
            <a:off x="2560320" y="3657600"/>
            <a:ext cx="2834640" cy="219456"/>
          </a:xfrm>
          <a:prstGeom prst="rect">
            <a:avLst/>
          </a:prstGeom>
          <a:noFill/>
        </p:spPr>
        <p:txBody>
          <a:bodyPr wrap="square" lIns="0" rIns="0" tIns="0" bIns="0">
            <a:spAutoFit/>
          </a:bodyPr>
          <a:lstStyle/>
          <a:p>
            <a:pPr algn="l"/>
            <a:r>
              <a:rPr sz="900" b="0">
                <a:solidFill>
                  <a:srgbClr val="0889C9"/>
                </a:solidFill>
                <a:latin typeface="游ゴシック"/>
              </a:rPr>
              <a:t>少年マンガ原作（集英社）</a:t>
            </a:r>
          </a:p>
        </p:txBody>
      </p:sp>
      <p:sp>
        <p:nvSpPr>
          <p:cNvPr id="34" name="TextBox 33"/>
          <p:cNvSpPr txBox="1"/>
          <p:nvPr/>
        </p:nvSpPr>
        <p:spPr>
          <a:xfrm>
            <a:off x="2560320" y="3867912"/>
            <a:ext cx="2834640" cy="274320"/>
          </a:xfrm>
          <a:prstGeom prst="rect">
            <a:avLst/>
          </a:prstGeom>
          <a:noFill/>
        </p:spPr>
        <p:txBody>
          <a:bodyPr wrap="square" lIns="0" rIns="0" tIns="0" bIns="0">
            <a:spAutoFit/>
          </a:bodyPr>
          <a:lstStyle/>
          <a:p>
            <a:pPr algn="l"/>
            <a:r>
              <a:rPr sz="600" b="0">
                <a:solidFill>
                  <a:srgbClr val="8C8C8C"/>
                </a:solidFill>
                <a:latin typeface="游ゴシック"/>
              </a:rPr>
              <a:t>©松井優征／集英社・アニメ「暗殺教室」製作委員会</a:t>
            </a:r>
          </a:p>
        </p:txBody>
      </p:sp>
      <p:sp>
        <p:nvSpPr>
          <p:cNvPr id="35" name="TextBox 34"/>
          <p:cNvSpPr txBox="1"/>
          <p:nvPr/>
        </p:nvSpPr>
        <p:spPr>
          <a:xfrm>
            <a:off x="2560320" y="4334256"/>
            <a:ext cx="2834640" cy="274320"/>
          </a:xfrm>
          <a:prstGeom prst="rect">
            <a:avLst/>
          </a:prstGeom>
          <a:noFill/>
        </p:spPr>
        <p:txBody>
          <a:bodyPr wrap="square" lIns="0" rIns="0" tIns="0" bIns="0">
            <a:spAutoFit/>
          </a:bodyPr>
          <a:lstStyle/>
          <a:p>
            <a:pPr algn="l"/>
            <a:r>
              <a:rPr sz="1050" b="1">
                <a:solidFill>
                  <a:srgbClr val="0B3041"/>
                </a:solidFill>
                <a:latin typeface="游ゴシック"/>
              </a:rPr>
              <a:t>ワールドトリガー</a:t>
            </a:r>
          </a:p>
        </p:txBody>
      </p:sp>
      <p:sp>
        <p:nvSpPr>
          <p:cNvPr id="36" name="TextBox 35"/>
          <p:cNvSpPr txBox="1"/>
          <p:nvPr/>
        </p:nvSpPr>
        <p:spPr>
          <a:xfrm>
            <a:off x="2560320" y="4617720"/>
            <a:ext cx="2834640" cy="219456"/>
          </a:xfrm>
          <a:prstGeom prst="rect">
            <a:avLst/>
          </a:prstGeom>
          <a:noFill/>
        </p:spPr>
        <p:txBody>
          <a:bodyPr wrap="square" lIns="0" rIns="0" tIns="0" bIns="0">
            <a:spAutoFit/>
          </a:bodyPr>
          <a:lstStyle/>
          <a:p>
            <a:pPr algn="l"/>
            <a:r>
              <a:rPr sz="900" b="0">
                <a:solidFill>
                  <a:srgbClr val="0889C9"/>
                </a:solidFill>
                <a:latin typeface="游ゴシック"/>
              </a:rPr>
              <a:t>少年マンガ原作（集英社）</a:t>
            </a:r>
          </a:p>
        </p:txBody>
      </p:sp>
      <p:sp>
        <p:nvSpPr>
          <p:cNvPr id="37" name="TextBox 36"/>
          <p:cNvSpPr txBox="1"/>
          <p:nvPr/>
        </p:nvSpPr>
        <p:spPr>
          <a:xfrm>
            <a:off x="2560320" y="4828032"/>
            <a:ext cx="2834640" cy="274320"/>
          </a:xfrm>
          <a:prstGeom prst="rect">
            <a:avLst/>
          </a:prstGeom>
          <a:noFill/>
        </p:spPr>
        <p:txBody>
          <a:bodyPr wrap="square" lIns="0" rIns="0" tIns="0" bIns="0">
            <a:spAutoFit/>
          </a:bodyPr>
          <a:lstStyle/>
          <a:p>
            <a:pPr algn="l"/>
            <a:r>
              <a:rPr sz="600" b="0">
                <a:solidFill>
                  <a:srgbClr val="8C8C8C"/>
                </a:solidFill>
                <a:latin typeface="游ゴシック"/>
              </a:rPr>
              <a:t>©葦原大介／集英社・テレビ朝日・東映アニメーション</a:t>
            </a:r>
          </a:p>
        </p:txBody>
      </p:sp>
      <p:sp>
        <p:nvSpPr>
          <p:cNvPr id="38" name="TextBox 37"/>
          <p:cNvSpPr txBox="1"/>
          <p:nvPr/>
        </p:nvSpPr>
        <p:spPr>
          <a:xfrm>
            <a:off x="2560320" y="5294376"/>
            <a:ext cx="2834640" cy="274320"/>
          </a:xfrm>
          <a:prstGeom prst="rect">
            <a:avLst/>
          </a:prstGeom>
          <a:noFill/>
        </p:spPr>
        <p:txBody>
          <a:bodyPr wrap="square" lIns="0" rIns="0" tIns="0" bIns="0">
            <a:spAutoFit/>
          </a:bodyPr>
          <a:lstStyle/>
          <a:p>
            <a:pPr algn="l"/>
            <a:r>
              <a:rPr sz="1050" b="1">
                <a:solidFill>
                  <a:srgbClr val="0B3041"/>
                </a:solidFill>
                <a:latin typeface="游ゴシック"/>
              </a:rPr>
              <a:t>オオカミ少女と黒王子</a:t>
            </a:r>
          </a:p>
        </p:txBody>
      </p:sp>
      <p:sp>
        <p:nvSpPr>
          <p:cNvPr id="39" name="TextBox 38"/>
          <p:cNvSpPr txBox="1"/>
          <p:nvPr/>
        </p:nvSpPr>
        <p:spPr>
          <a:xfrm>
            <a:off x="2560320" y="5577840"/>
            <a:ext cx="2834640" cy="219456"/>
          </a:xfrm>
          <a:prstGeom prst="rect">
            <a:avLst/>
          </a:prstGeom>
          <a:noFill/>
        </p:spPr>
        <p:txBody>
          <a:bodyPr wrap="square" lIns="0" rIns="0" tIns="0" bIns="0">
            <a:spAutoFit/>
          </a:bodyPr>
          <a:lstStyle/>
          <a:p>
            <a:pPr algn="l"/>
            <a:r>
              <a:rPr sz="900" b="0">
                <a:solidFill>
                  <a:srgbClr val="0889C9"/>
                </a:solidFill>
                <a:latin typeface="游ゴシック"/>
              </a:rPr>
              <a:t>少女マンガ原作（集英社）</a:t>
            </a:r>
          </a:p>
        </p:txBody>
      </p:sp>
      <p:sp>
        <p:nvSpPr>
          <p:cNvPr id="40" name="TextBox 39"/>
          <p:cNvSpPr txBox="1"/>
          <p:nvPr/>
        </p:nvSpPr>
        <p:spPr>
          <a:xfrm>
            <a:off x="2560320" y="5788152"/>
            <a:ext cx="2834640" cy="274320"/>
          </a:xfrm>
          <a:prstGeom prst="rect">
            <a:avLst/>
          </a:prstGeom>
          <a:noFill/>
        </p:spPr>
        <p:txBody>
          <a:bodyPr wrap="square" lIns="0" rIns="0" tIns="0" bIns="0">
            <a:spAutoFit/>
          </a:bodyPr>
          <a:lstStyle/>
          <a:p>
            <a:pPr algn="l"/>
            <a:r>
              <a:rPr sz="600" b="0">
                <a:solidFill>
                  <a:srgbClr val="8C8C8C"/>
                </a:solidFill>
                <a:latin typeface="游ゴシック"/>
              </a:rPr>
              <a:t>©AH／S・VSYYDR</a:t>
            </a:r>
          </a:p>
        </p:txBody>
      </p:sp>
      <p:sp>
        <p:nvSpPr>
          <p:cNvPr id="41" name="TextBox 40"/>
          <p:cNvSpPr txBox="1"/>
          <p:nvPr/>
        </p:nvSpPr>
        <p:spPr>
          <a:xfrm>
            <a:off x="7699248" y="1453896"/>
            <a:ext cx="2834640" cy="274320"/>
          </a:xfrm>
          <a:prstGeom prst="rect">
            <a:avLst/>
          </a:prstGeom>
          <a:noFill/>
        </p:spPr>
        <p:txBody>
          <a:bodyPr wrap="square" lIns="0" rIns="0" tIns="0" bIns="0">
            <a:spAutoFit/>
          </a:bodyPr>
          <a:lstStyle/>
          <a:p>
            <a:pPr algn="l"/>
            <a:r>
              <a:rPr sz="1050" b="1">
                <a:solidFill>
                  <a:srgbClr val="0B3041"/>
                </a:solidFill>
                <a:latin typeface="游ゴシック"/>
              </a:rPr>
              <a:t>ダイヤのA</a:t>
            </a:r>
          </a:p>
        </p:txBody>
      </p:sp>
      <p:sp>
        <p:nvSpPr>
          <p:cNvPr id="42" name="TextBox 41"/>
          <p:cNvSpPr txBox="1"/>
          <p:nvPr/>
        </p:nvSpPr>
        <p:spPr>
          <a:xfrm>
            <a:off x="7699248" y="1737360"/>
            <a:ext cx="2834640" cy="219456"/>
          </a:xfrm>
          <a:prstGeom prst="rect">
            <a:avLst/>
          </a:prstGeom>
          <a:noFill/>
        </p:spPr>
        <p:txBody>
          <a:bodyPr wrap="square" lIns="0" rIns="0" tIns="0" bIns="0">
            <a:spAutoFit/>
          </a:bodyPr>
          <a:lstStyle/>
          <a:p>
            <a:pPr algn="l"/>
            <a:r>
              <a:rPr sz="900" b="0">
                <a:solidFill>
                  <a:srgbClr val="0889C9"/>
                </a:solidFill>
                <a:latin typeface="游ゴシック"/>
              </a:rPr>
              <a:t>少年マンガ原作（講談社）</a:t>
            </a:r>
          </a:p>
        </p:txBody>
      </p:sp>
      <p:sp>
        <p:nvSpPr>
          <p:cNvPr id="43" name="TextBox 42"/>
          <p:cNvSpPr txBox="1"/>
          <p:nvPr/>
        </p:nvSpPr>
        <p:spPr>
          <a:xfrm>
            <a:off x="7699248" y="1947672"/>
            <a:ext cx="2834640" cy="274320"/>
          </a:xfrm>
          <a:prstGeom prst="rect">
            <a:avLst/>
          </a:prstGeom>
          <a:noFill/>
        </p:spPr>
        <p:txBody>
          <a:bodyPr wrap="square" lIns="0" rIns="0" tIns="0" bIns="0">
            <a:spAutoFit/>
          </a:bodyPr>
          <a:lstStyle/>
          <a:p>
            <a:pPr algn="l"/>
            <a:r>
              <a:rPr sz="600" b="0">
                <a:solidFill>
                  <a:srgbClr val="8C8C8C"/>
                </a:solidFill>
                <a:latin typeface="游ゴシック"/>
              </a:rPr>
              <a:t>©寺嶋裕二・講談社／「ダイヤのA」製作委員会・テレビ東京</a:t>
            </a:r>
          </a:p>
        </p:txBody>
      </p:sp>
      <p:sp>
        <p:nvSpPr>
          <p:cNvPr id="44" name="TextBox 43"/>
          <p:cNvSpPr txBox="1"/>
          <p:nvPr/>
        </p:nvSpPr>
        <p:spPr>
          <a:xfrm>
            <a:off x="7699248" y="2414015"/>
            <a:ext cx="2834640" cy="274320"/>
          </a:xfrm>
          <a:prstGeom prst="rect">
            <a:avLst/>
          </a:prstGeom>
          <a:noFill/>
        </p:spPr>
        <p:txBody>
          <a:bodyPr wrap="square" lIns="0" rIns="0" tIns="0" bIns="0">
            <a:spAutoFit/>
          </a:bodyPr>
          <a:lstStyle/>
          <a:p>
            <a:pPr algn="l"/>
            <a:r>
              <a:rPr sz="1050" b="1">
                <a:solidFill>
                  <a:srgbClr val="0B3041"/>
                </a:solidFill>
                <a:latin typeface="游ゴシック"/>
              </a:rPr>
              <a:t>四月は君の嘘</a:t>
            </a:r>
          </a:p>
        </p:txBody>
      </p:sp>
      <p:sp>
        <p:nvSpPr>
          <p:cNvPr id="45" name="TextBox 44"/>
          <p:cNvSpPr txBox="1"/>
          <p:nvPr/>
        </p:nvSpPr>
        <p:spPr>
          <a:xfrm>
            <a:off x="7699248" y="2697479"/>
            <a:ext cx="2834640" cy="219456"/>
          </a:xfrm>
          <a:prstGeom prst="rect">
            <a:avLst/>
          </a:prstGeom>
          <a:noFill/>
        </p:spPr>
        <p:txBody>
          <a:bodyPr wrap="square" lIns="0" rIns="0" tIns="0" bIns="0">
            <a:spAutoFit/>
          </a:bodyPr>
          <a:lstStyle/>
          <a:p>
            <a:pPr algn="l"/>
            <a:r>
              <a:rPr sz="900" b="0">
                <a:solidFill>
                  <a:srgbClr val="0889C9"/>
                </a:solidFill>
                <a:latin typeface="游ゴシック"/>
              </a:rPr>
              <a:t>少年マンガ原作（講談社）</a:t>
            </a:r>
          </a:p>
        </p:txBody>
      </p:sp>
      <p:sp>
        <p:nvSpPr>
          <p:cNvPr id="46" name="TextBox 45"/>
          <p:cNvSpPr txBox="1"/>
          <p:nvPr/>
        </p:nvSpPr>
        <p:spPr>
          <a:xfrm>
            <a:off x="7699248" y="2907791"/>
            <a:ext cx="2834640" cy="274320"/>
          </a:xfrm>
          <a:prstGeom prst="rect">
            <a:avLst/>
          </a:prstGeom>
          <a:noFill/>
        </p:spPr>
        <p:txBody>
          <a:bodyPr wrap="square" lIns="0" rIns="0" tIns="0" bIns="0">
            <a:spAutoFit/>
          </a:bodyPr>
          <a:lstStyle/>
          <a:p>
            <a:pPr algn="l"/>
            <a:r>
              <a:rPr sz="600" b="0">
                <a:solidFill>
                  <a:srgbClr val="8C8C8C"/>
                </a:solidFill>
                <a:latin typeface="游ゴシック"/>
              </a:rPr>
              <a:t>©A・K／S</a:t>
            </a:r>
          </a:p>
        </p:txBody>
      </p:sp>
      <p:sp>
        <p:nvSpPr>
          <p:cNvPr id="47" name="TextBox 46"/>
          <p:cNvSpPr txBox="1"/>
          <p:nvPr/>
        </p:nvSpPr>
        <p:spPr>
          <a:xfrm>
            <a:off x="7699248" y="3374136"/>
            <a:ext cx="2834640" cy="274320"/>
          </a:xfrm>
          <a:prstGeom prst="rect">
            <a:avLst/>
          </a:prstGeom>
          <a:noFill/>
        </p:spPr>
        <p:txBody>
          <a:bodyPr wrap="square" lIns="0" rIns="0" tIns="0" bIns="0">
            <a:spAutoFit/>
          </a:bodyPr>
          <a:lstStyle/>
          <a:p>
            <a:pPr algn="l"/>
            <a:r>
              <a:rPr sz="1050" b="1">
                <a:solidFill>
                  <a:srgbClr val="0B3041"/>
                </a:solidFill>
                <a:latin typeface="游ゴシック"/>
              </a:rPr>
              <a:t>まじっく快斗</a:t>
            </a:r>
          </a:p>
        </p:txBody>
      </p:sp>
      <p:sp>
        <p:nvSpPr>
          <p:cNvPr id="48" name="TextBox 47"/>
          <p:cNvSpPr txBox="1"/>
          <p:nvPr/>
        </p:nvSpPr>
        <p:spPr>
          <a:xfrm>
            <a:off x="7699248" y="3657600"/>
            <a:ext cx="2834640" cy="219456"/>
          </a:xfrm>
          <a:prstGeom prst="rect">
            <a:avLst/>
          </a:prstGeom>
          <a:noFill/>
        </p:spPr>
        <p:txBody>
          <a:bodyPr wrap="square" lIns="0" rIns="0" tIns="0" bIns="0">
            <a:spAutoFit/>
          </a:bodyPr>
          <a:lstStyle/>
          <a:p>
            <a:pPr algn="l"/>
            <a:r>
              <a:rPr sz="900" b="0">
                <a:solidFill>
                  <a:srgbClr val="0889C9"/>
                </a:solidFill>
                <a:latin typeface="游ゴシック"/>
              </a:rPr>
              <a:t>少年マンガ原作（小学館）</a:t>
            </a:r>
          </a:p>
        </p:txBody>
      </p:sp>
      <p:sp>
        <p:nvSpPr>
          <p:cNvPr id="49" name="TextBox 48"/>
          <p:cNvSpPr txBox="1"/>
          <p:nvPr/>
        </p:nvSpPr>
        <p:spPr>
          <a:xfrm>
            <a:off x="7699248" y="3867912"/>
            <a:ext cx="2834640" cy="274320"/>
          </a:xfrm>
          <a:prstGeom prst="rect">
            <a:avLst/>
          </a:prstGeom>
          <a:noFill/>
        </p:spPr>
        <p:txBody>
          <a:bodyPr wrap="square" lIns="0" rIns="0" tIns="0" bIns="0">
            <a:spAutoFit/>
          </a:bodyPr>
          <a:lstStyle/>
          <a:p>
            <a:pPr algn="l"/>
            <a:r>
              <a:rPr sz="600" b="0">
                <a:solidFill>
                  <a:srgbClr val="8C8C8C"/>
                </a:solidFill>
                <a:latin typeface="游ゴシック"/>
              </a:rPr>
              <a:t>©青山剛昌／小学館・読売テレビ・A-1 Pictures 2014</a:t>
            </a:r>
          </a:p>
        </p:txBody>
      </p:sp>
      <p:sp>
        <p:nvSpPr>
          <p:cNvPr id="50" name="TextBox 49"/>
          <p:cNvSpPr txBox="1"/>
          <p:nvPr/>
        </p:nvSpPr>
        <p:spPr>
          <a:xfrm>
            <a:off x="7699248" y="4334256"/>
            <a:ext cx="2834640" cy="274320"/>
          </a:xfrm>
          <a:prstGeom prst="rect">
            <a:avLst/>
          </a:prstGeom>
          <a:noFill/>
        </p:spPr>
        <p:txBody>
          <a:bodyPr wrap="square" lIns="0" rIns="0" tIns="0" bIns="0">
            <a:spAutoFit/>
          </a:bodyPr>
          <a:lstStyle/>
          <a:p>
            <a:pPr algn="l"/>
            <a:r>
              <a:rPr sz="1050" b="1">
                <a:solidFill>
                  <a:srgbClr val="0B3041"/>
                </a:solidFill>
                <a:latin typeface="游ゴシック"/>
              </a:rPr>
              <a:t>少女革命ウテナ</a:t>
            </a:r>
          </a:p>
        </p:txBody>
      </p:sp>
      <p:sp>
        <p:nvSpPr>
          <p:cNvPr id="51" name="TextBox 50"/>
          <p:cNvSpPr txBox="1"/>
          <p:nvPr/>
        </p:nvSpPr>
        <p:spPr>
          <a:xfrm>
            <a:off x="7699248" y="4617720"/>
            <a:ext cx="2834640" cy="219456"/>
          </a:xfrm>
          <a:prstGeom prst="rect">
            <a:avLst/>
          </a:prstGeom>
          <a:noFill/>
        </p:spPr>
        <p:txBody>
          <a:bodyPr wrap="square" lIns="0" rIns="0" tIns="0" bIns="0">
            <a:spAutoFit/>
          </a:bodyPr>
          <a:lstStyle/>
          <a:p>
            <a:pPr algn="l"/>
            <a:r>
              <a:rPr sz="900" b="0">
                <a:solidFill>
                  <a:srgbClr val="0889C9"/>
                </a:solidFill>
                <a:latin typeface="游ゴシック"/>
              </a:rPr>
              <a:t>オリジナルアニメ／少女マンガ原作</a:t>
            </a:r>
          </a:p>
        </p:txBody>
      </p:sp>
      <p:sp>
        <p:nvSpPr>
          <p:cNvPr id="52" name="TextBox 51"/>
          <p:cNvSpPr txBox="1"/>
          <p:nvPr/>
        </p:nvSpPr>
        <p:spPr>
          <a:xfrm>
            <a:off x="7699248" y="4828032"/>
            <a:ext cx="2834640" cy="274320"/>
          </a:xfrm>
          <a:prstGeom prst="rect">
            <a:avLst/>
          </a:prstGeom>
          <a:noFill/>
        </p:spPr>
        <p:txBody>
          <a:bodyPr wrap="square" lIns="0" rIns="0" tIns="0" bIns="0">
            <a:spAutoFit/>
          </a:bodyPr>
          <a:lstStyle/>
          <a:p>
            <a:pPr algn="l"/>
            <a:r>
              <a:rPr sz="600" b="0">
                <a:solidFill>
                  <a:srgbClr val="8C8C8C"/>
                </a:solidFill>
                <a:latin typeface="游ゴシック"/>
              </a:rPr>
              <a:t>©1997 ビーパパス・さいとうちほ／小学館・少革委員会・テレビ東京</a:t>
            </a:r>
          </a:p>
        </p:txBody>
      </p:sp>
      <p:sp>
        <p:nvSpPr>
          <p:cNvPr id="53" name="TextBox 52"/>
          <p:cNvSpPr txBox="1"/>
          <p:nvPr/>
        </p:nvSpPr>
        <p:spPr>
          <a:xfrm>
            <a:off x="7699248" y="5294376"/>
            <a:ext cx="2834640" cy="274320"/>
          </a:xfrm>
          <a:prstGeom prst="rect">
            <a:avLst/>
          </a:prstGeom>
          <a:noFill/>
        </p:spPr>
        <p:txBody>
          <a:bodyPr wrap="square" lIns="0" rIns="0" tIns="0" bIns="0">
            <a:spAutoFit/>
          </a:bodyPr>
          <a:lstStyle/>
          <a:p>
            <a:pPr algn="l"/>
            <a:r>
              <a:rPr sz="1050" b="1">
                <a:solidFill>
                  <a:srgbClr val="0B3041"/>
                </a:solidFill>
                <a:latin typeface="游ゴシック"/>
              </a:rPr>
              <a:t>神様はじめました</a:t>
            </a:r>
          </a:p>
        </p:txBody>
      </p:sp>
      <p:sp>
        <p:nvSpPr>
          <p:cNvPr id="54" name="TextBox 53"/>
          <p:cNvSpPr txBox="1"/>
          <p:nvPr/>
        </p:nvSpPr>
        <p:spPr>
          <a:xfrm>
            <a:off x="7699248" y="5577840"/>
            <a:ext cx="2834640" cy="219456"/>
          </a:xfrm>
          <a:prstGeom prst="rect">
            <a:avLst/>
          </a:prstGeom>
          <a:noFill/>
        </p:spPr>
        <p:txBody>
          <a:bodyPr wrap="square" lIns="0" rIns="0" tIns="0" bIns="0">
            <a:spAutoFit/>
          </a:bodyPr>
          <a:lstStyle/>
          <a:p>
            <a:pPr algn="l"/>
            <a:r>
              <a:rPr sz="900" b="0">
                <a:solidFill>
                  <a:srgbClr val="0889C9"/>
                </a:solidFill>
                <a:latin typeface="游ゴシック"/>
              </a:rPr>
              <a:t>少女マンガ原作</a:t>
            </a:r>
          </a:p>
        </p:txBody>
      </p:sp>
      <p:sp>
        <p:nvSpPr>
          <p:cNvPr id="55" name="TextBox 54"/>
          <p:cNvSpPr txBox="1"/>
          <p:nvPr/>
        </p:nvSpPr>
        <p:spPr>
          <a:xfrm>
            <a:off x="7699248" y="5788152"/>
            <a:ext cx="2834640" cy="274320"/>
          </a:xfrm>
          <a:prstGeom prst="rect">
            <a:avLst/>
          </a:prstGeom>
          <a:noFill/>
        </p:spPr>
        <p:txBody>
          <a:bodyPr wrap="square" lIns="0" rIns="0" tIns="0" bIns="0">
            <a:spAutoFit/>
          </a:bodyPr>
          <a:lstStyle/>
          <a:p>
            <a:pPr algn="l"/>
            <a:r>
              <a:rPr sz="600" b="0">
                <a:solidFill>
                  <a:srgbClr val="8C8C8C"/>
                </a:solidFill>
                <a:latin typeface="游ゴシック"/>
              </a:rPr>
              <a:t>©JS／H-K2015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C98E073B-FCE4-F6FA-66A7-29E757285F77}"/>
              </a:ext>
            </a:extLst>
          </p:cNvPr>
          <p:cNvSpPr>
            <a:spLocks noGrp="1"/>
          </p:cNvSpPr>
          <p:nvPr>
            <p:ph type="ctrTitle"/>
          </p:nvPr>
        </p:nvSpPr>
        <p:spPr/>
        <p:txBody>
          <a:bodyPr/>
          <a:lstStyle/>
          <a:p>
            <a:r>
              <a:rPr>
                <a:latin typeface="游ゴシック" panose="020B0400000000000000" pitchFamily="50" charset="-128"/>
                <a:ea typeface="游ゴシック" panose="020B0400000000000000" pitchFamily="50" charset="-128"/>
              </a:rPr>
              <a:t>制作実績 詳細②［ライトノベル・ゲーム原作IP 等］</a:t>
            </a:r>
          </a:p>
        </p:txBody>
      </p:sp>
      <p:sp>
        <p:nvSpPr>
          <p:cNvPr id="2" name="タイトル 1">
            <a:extLst>
              <a:ext uri="{FF2B5EF4-FFF2-40B4-BE49-F238E27FC236}">
                <a16:creationId xmlns:a16="http://schemas.microsoft.com/office/drawing/2014/main" id="{1F33762E-23F4-8C5B-C467-2E3E3671C9B0}"/>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spc="0" dirty="0">
                <a:latin typeface="游ゴシック" panose="020B0400000000000000" pitchFamily="50" charset="-128"/>
                <a:ea typeface="游ゴシック" panose="020B0400000000000000" pitchFamily="50" charset="-128"/>
              </a:rPr>
              <a:t>事業概要</a:t>
            </a:r>
          </a:p>
        </p:txBody>
      </p:sp>
      <p:sp>
        <p:nvSpPr>
          <p:cNvPr id="4" name="TextBox 3"/>
          <p:cNvSpPr txBox="1"/>
          <p:nvPr/>
        </p:nvSpPr>
        <p:spPr>
          <a:xfrm>
            <a:off x="460675" y="820000"/>
            <a:ext cx="9781875" cy="461665"/>
          </a:xfrm>
          <a:prstGeom prst="rect">
            <a:avLst/>
          </a:prstGeom>
          <a:noFill/>
        </p:spPr>
        <p:txBody>
          <a:bodyPr wrap="square">
            <a:spAutoFit/>
          </a:bodyPr>
          <a:lstStyle/>
          <a:p>
            <a:r>
              <a:rPr sz="1200">
                <a:latin typeface="游ゴシック" panose="020B0400000000000000" pitchFamily="50" charset="-128"/>
                <a:ea typeface="游ゴシック" panose="020B0400000000000000" pitchFamily="50" charset="-128"/>
              </a:rPr>
              <a:t>ライトノベル・ゲーム・オリジナルアニメを原作とするIPについても幅広く商品化実績を有し、出版社系IPに偏らない多様な権利元との取引基盤を構築しています。</a:t>
            </a:r>
          </a:p>
        </p:txBody>
      </p:sp>
      <p:pic>
        <p:nvPicPr>
          <p:cNvPr id="5" name="Picture 4" descr="banner_sao.jpg"/>
          <p:cNvPicPr>
            <a:picLocks noChangeAspect="1"/>
          </p:cNvPicPr>
          <p:nvPr/>
        </p:nvPicPr>
        <p:blipFill>
          <a:blip r:embed="rId2"/>
          <a:stretch>
            <a:fillRect/>
          </a:stretch>
        </p:blipFill>
        <p:spPr>
          <a:xfrm>
            <a:off x="384048" y="5367528"/>
            <a:ext cx="2048256" cy="530352"/>
          </a:xfrm>
          <a:prstGeom prst="rect">
            <a:avLst/>
          </a:prstGeom>
        </p:spPr>
      </p:pic>
      <p:pic>
        <p:nvPicPr>
          <p:cNvPr id="8" name="Picture 7" descr="banner_psychopass.jpg"/>
          <p:cNvPicPr>
            <a:picLocks noChangeAspect="1"/>
          </p:cNvPicPr>
          <p:nvPr/>
        </p:nvPicPr>
        <p:blipFill>
          <a:blip r:embed="rId5"/>
          <a:stretch>
            <a:fillRect/>
          </a:stretch>
        </p:blipFill>
        <p:spPr>
          <a:xfrm>
            <a:off x="5522976" y="5367528"/>
            <a:ext cx="2048256" cy="530352"/>
          </a:xfrm>
          <a:prstGeom prst="rect">
            <a:avLst/>
          </a:prstGeom>
        </p:spPr>
      </p:pic>
      <p:pic>
        <p:nvPicPr>
          <p:cNvPr id="11" name="Picture 10" descr="banner_ngnl.jpg"/>
          <p:cNvPicPr>
            <a:picLocks noChangeAspect="1"/>
          </p:cNvPicPr>
          <p:nvPr/>
        </p:nvPicPr>
        <p:blipFill>
          <a:blip r:embed="rId8"/>
          <a:stretch>
            <a:fillRect/>
          </a:stretch>
        </p:blipFill>
        <p:spPr>
          <a:xfrm>
            <a:off x="5522976" y="1527048"/>
            <a:ext cx="2048256" cy="530352"/>
          </a:xfrm>
          <a:prstGeom prst="rect">
            <a:avLst/>
          </a:prstGeom>
        </p:spPr>
      </p:pic>
      <p:pic>
        <p:nvPicPr>
          <p:cNvPr id="12" name="Picture 11" descr="banner_nozaki.jpg"/>
          <p:cNvPicPr>
            <a:picLocks noChangeAspect="1"/>
          </p:cNvPicPr>
          <p:nvPr/>
        </p:nvPicPr>
        <p:blipFill>
          <a:blip r:embed="rId9"/>
          <a:stretch>
            <a:fillRect/>
          </a:stretch>
        </p:blipFill>
        <p:spPr>
          <a:xfrm>
            <a:off x="384048" y="1527048"/>
            <a:ext cx="2048256" cy="530352"/>
          </a:xfrm>
          <a:prstGeom prst="rect">
            <a:avLst/>
          </a:prstGeom>
        </p:spPr>
      </p:pic>
      <p:pic>
        <p:nvPicPr>
          <p:cNvPr id="15" name="Picture 14" descr="banner_arpeggio.jpg"/>
          <p:cNvPicPr>
            <a:picLocks noChangeAspect="1"/>
          </p:cNvPicPr>
          <p:nvPr/>
        </p:nvPicPr>
        <p:blipFill>
          <a:blip r:embed="rId12"/>
          <a:stretch>
            <a:fillRect/>
          </a:stretch>
        </p:blipFill>
        <p:spPr>
          <a:xfrm>
            <a:off x="384048" y="4407408"/>
            <a:ext cx="2048256" cy="530352"/>
          </a:xfrm>
          <a:prstGeom prst="rect">
            <a:avLst/>
          </a:prstGeom>
        </p:spPr>
      </p:pic>
      <p:pic>
        <p:nvPicPr>
          <p:cNvPr id="16" name="Picture 15" descr="banner_personaq.jpg"/>
          <p:cNvPicPr>
            <a:picLocks noChangeAspect="1"/>
          </p:cNvPicPr>
          <p:nvPr/>
        </p:nvPicPr>
        <p:blipFill>
          <a:blip r:embed="rId13"/>
          <a:stretch>
            <a:fillRect/>
          </a:stretch>
        </p:blipFill>
        <p:spPr>
          <a:xfrm>
            <a:off x="5522976" y="2487168"/>
            <a:ext cx="2048256" cy="530352"/>
          </a:xfrm>
          <a:prstGeom prst="rect">
            <a:avLst/>
          </a:prstGeom>
        </p:spPr>
      </p:pic>
      <p:pic>
        <p:nvPicPr>
          <p:cNvPr id="17" name="Picture 16" descr="banner_dlmb.jpg"/>
          <p:cNvPicPr>
            <a:picLocks noChangeAspect="1"/>
          </p:cNvPicPr>
          <p:nvPr/>
        </p:nvPicPr>
        <p:blipFill>
          <a:blip r:embed="rId14"/>
          <a:stretch>
            <a:fillRect/>
          </a:stretch>
        </p:blipFill>
        <p:spPr>
          <a:xfrm>
            <a:off x="5522976" y="3447288"/>
            <a:ext cx="2048256" cy="530352"/>
          </a:xfrm>
          <a:prstGeom prst="rect">
            <a:avLst/>
          </a:prstGeom>
        </p:spPr>
      </p:pic>
      <p:pic>
        <p:nvPicPr>
          <p:cNvPr id="20" name="Picture 19" descr="banner_sbr.jpg"/>
          <p:cNvPicPr>
            <a:picLocks noChangeAspect="1"/>
          </p:cNvPicPr>
          <p:nvPr/>
        </p:nvPicPr>
        <p:blipFill>
          <a:blip r:embed="rId17"/>
          <a:stretch>
            <a:fillRect/>
          </a:stretch>
        </p:blipFill>
        <p:spPr>
          <a:xfrm>
            <a:off x="5522976" y="4407408"/>
            <a:ext cx="2048256" cy="530352"/>
          </a:xfrm>
          <a:prstGeom prst="rect">
            <a:avLst/>
          </a:prstGeom>
        </p:spPr>
      </p:pic>
      <p:pic>
        <p:nvPicPr>
          <p:cNvPr id="21" name="Picture 20" descr="banner_akame.jpg"/>
          <p:cNvPicPr>
            <a:picLocks noChangeAspect="1"/>
          </p:cNvPicPr>
          <p:nvPr/>
        </p:nvPicPr>
        <p:blipFill>
          <a:blip r:embed="rId18"/>
          <a:stretch>
            <a:fillRect/>
          </a:stretch>
        </p:blipFill>
        <p:spPr>
          <a:xfrm>
            <a:off x="384048" y="2487168"/>
            <a:ext cx="2048256" cy="530352"/>
          </a:xfrm>
          <a:prstGeom prst="rect">
            <a:avLst/>
          </a:prstGeom>
        </p:spPr>
      </p:pic>
      <p:pic>
        <p:nvPicPr>
          <p:cNvPr id="22" name="Picture 21" descr="banner_kokkuri.jpg"/>
          <p:cNvPicPr>
            <a:picLocks noChangeAspect="1"/>
          </p:cNvPicPr>
          <p:nvPr/>
        </p:nvPicPr>
        <p:blipFill>
          <a:blip r:embed="rId19"/>
          <a:stretch>
            <a:fillRect/>
          </a:stretch>
        </p:blipFill>
        <p:spPr>
          <a:xfrm>
            <a:off x="384048" y="3447288"/>
            <a:ext cx="2048256" cy="530352"/>
          </a:xfrm>
          <a:prstGeom prst="rect">
            <a:avLst/>
          </a:prstGeom>
        </p:spPr>
      </p:pic>
      <p:sp>
        <p:nvSpPr>
          <p:cNvPr id="25" name="TextBox 24"/>
          <p:cNvSpPr txBox="1"/>
          <p:nvPr/>
        </p:nvSpPr>
        <p:spPr>
          <a:xfrm>
            <a:off x="311150" y="6291072"/>
            <a:ext cx="10000000" cy="238527"/>
          </a:xfrm>
          <a:prstGeom prst="rect">
            <a:avLst/>
          </a:prstGeom>
          <a:noFill/>
        </p:spPr>
        <p:txBody>
          <a:bodyPr wrap="square">
            <a:spAutoFit/>
          </a:bodyPr>
          <a:lstStyle/>
          <a:p>
            <a:r>
              <a:rPr sz="950">
                <a:solidFill>
                  <a:srgbClr val="595959"/>
                </a:solidFill>
                <a:latin typeface="游ゴシック" panose="020B0400000000000000" pitchFamily="50" charset="-128"/>
                <a:ea typeface="游ゴシック" panose="020B0400000000000000" pitchFamily="50" charset="-128"/>
              </a:rPr>
              <a:t>※ 当社ウェブサイト等で公開されている制作実績の一部を掲載。各作品の著作権・商標権は各権利者に帰属します。</a:t>
            </a:r>
          </a:p>
          <a:p>
            <a:r>
              <a:rPr sz="950">
                <a:solidFill>
                  <a:srgbClr val="595959"/>
                </a:solidFill>
                <a:latin typeface="游ゴシック" panose="020B0400000000000000" pitchFamily="50" charset="-128"/>
                <a:ea typeface="游ゴシック" panose="020B0400000000000000" pitchFamily="50" charset="-128"/>
              </a:rPr>
              <a:t>※ 各作品における具体的な商品構成・受注時期・受注規模は、データルームにて開示予定です。</a:t>
            </a:r>
          </a:p>
        </p:txBody>
      </p:sp>
      <p:sp>
        <p:nvSpPr>
          <p:cNvPr id="26" name="TextBox 25"/>
          <p:cNvSpPr txBox="1"/>
          <p:nvPr/>
        </p:nvSpPr>
        <p:spPr>
          <a:xfrm>
            <a:off x="2560320" y="1453896"/>
            <a:ext cx="2834640" cy="274320"/>
          </a:xfrm>
          <a:prstGeom prst="rect">
            <a:avLst/>
          </a:prstGeom>
          <a:noFill/>
        </p:spPr>
        <p:txBody>
          <a:bodyPr wrap="square" lIns="0" rIns="0" tIns="0" bIns="0">
            <a:spAutoFit/>
          </a:bodyPr>
          <a:lstStyle/>
          <a:p>
            <a:pPr algn="l"/>
            <a:r>
              <a:rPr sz="1050" b="1">
                <a:solidFill>
                  <a:srgbClr val="0B3041"/>
                </a:solidFill>
                <a:latin typeface="游ゴシック"/>
              </a:rPr>
              <a:t>月刊少女野崎くん</a:t>
            </a:r>
          </a:p>
        </p:txBody>
      </p:sp>
      <p:sp>
        <p:nvSpPr>
          <p:cNvPr id="27" name="TextBox 26"/>
          <p:cNvSpPr txBox="1"/>
          <p:nvPr/>
        </p:nvSpPr>
        <p:spPr>
          <a:xfrm>
            <a:off x="2560320" y="1737360"/>
            <a:ext cx="2834640" cy="219456"/>
          </a:xfrm>
          <a:prstGeom prst="rect">
            <a:avLst/>
          </a:prstGeom>
          <a:noFill/>
        </p:spPr>
        <p:txBody>
          <a:bodyPr wrap="square" lIns="0" rIns="0" tIns="0" bIns="0">
            <a:spAutoFit/>
          </a:bodyPr>
          <a:lstStyle/>
          <a:p>
            <a:pPr algn="l"/>
            <a:r>
              <a:rPr sz="900" b="0">
                <a:solidFill>
                  <a:srgbClr val="0889C9"/>
                </a:solidFill>
                <a:latin typeface="游ゴシック"/>
              </a:rPr>
              <a:t>マンガ原作（スクウェア・エニックス）</a:t>
            </a:r>
          </a:p>
        </p:txBody>
      </p:sp>
      <p:sp>
        <p:nvSpPr>
          <p:cNvPr id="28" name="TextBox 27"/>
          <p:cNvSpPr txBox="1"/>
          <p:nvPr/>
        </p:nvSpPr>
        <p:spPr>
          <a:xfrm>
            <a:off x="2560320" y="1947672"/>
            <a:ext cx="2834640" cy="274320"/>
          </a:xfrm>
          <a:prstGeom prst="rect">
            <a:avLst/>
          </a:prstGeom>
          <a:noFill/>
        </p:spPr>
        <p:txBody>
          <a:bodyPr wrap="square" lIns="0" rIns="0" tIns="0" bIns="0">
            <a:spAutoFit/>
          </a:bodyPr>
          <a:lstStyle/>
          <a:p>
            <a:pPr algn="l"/>
            <a:r>
              <a:rPr sz="600" b="0">
                <a:solidFill>
                  <a:srgbClr val="8C8C8C"/>
                </a:solidFill>
                <a:latin typeface="游ゴシック"/>
              </a:rPr>
              <a:t>©椿いづみ／スクウェアエニックス・「月刊少女野崎くん」製作委員会</a:t>
            </a:r>
          </a:p>
        </p:txBody>
      </p:sp>
      <p:sp>
        <p:nvSpPr>
          <p:cNvPr id="29" name="TextBox 28"/>
          <p:cNvSpPr txBox="1"/>
          <p:nvPr/>
        </p:nvSpPr>
        <p:spPr>
          <a:xfrm>
            <a:off x="2560320" y="2414015"/>
            <a:ext cx="2834640" cy="274320"/>
          </a:xfrm>
          <a:prstGeom prst="rect">
            <a:avLst/>
          </a:prstGeom>
          <a:noFill/>
        </p:spPr>
        <p:txBody>
          <a:bodyPr wrap="square" lIns="0" rIns="0" tIns="0" bIns="0">
            <a:spAutoFit/>
          </a:bodyPr>
          <a:lstStyle/>
          <a:p>
            <a:pPr algn="l"/>
            <a:r>
              <a:rPr sz="1050" b="1">
                <a:solidFill>
                  <a:srgbClr val="0B3041"/>
                </a:solidFill>
                <a:latin typeface="游ゴシック"/>
              </a:rPr>
              <a:t>アカメが斬る!</a:t>
            </a:r>
          </a:p>
        </p:txBody>
      </p:sp>
      <p:sp>
        <p:nvSpPr>
          <p:cNvPr id="30" name="TextBox 29"/>
          <p:cNvSpPr txBox="1"/>
          <p:nvPr/>
        </p:nvSpPr>
        <p:spPr>
          <a:xfrm>
            <a:off x="2560320" y="2697479"/>
            <a:ext cx="2834640" cy="219456"/>
          </a:xfrm>
          <a:prstGeom prst="rect">
            <a:avLst/>
          </a:prstGeom>
          <a:noFill/>
        </p:spPr>
        <p:txBody>
          <a:bodyPr wrap="square" lIns="0" rIns="0" tIns="0" bIns="0">
            <a:spAutoFit/>
          </a:bodyPr>
          <a:lstStyle/>
          <a:p>
            <a:pPr algn="l"/>
            <a:r>
              <a:rPr sz="900" b="0">
                <a:solidFill>
                  <a:srgbClr val="0889C9"/>
                </a:solidFill>
                <a:latin typeface="游ゴシック"/>
              </a:rPr>
              <a:t>少年マンガ原作（スクウェア・エニックス）</a:t>
            </a:r>
          </a:p>
        </p:txBody>
      </p:sp>
      <p:sp>
        <p:nvSpPr>
          <p:cNvPr id="31" name="TextBox 30"/>
          <p:cNvSpPr txBox="1"/>
          <p:nvPr/>
        </p:nvSpPr>
        <p:spPr>
          <a:xfrm>
            <a:off x="2560320" y="2907791"/>
            <a:ext cx="2834640" cy="274320"/>
          </a:xfrm>
          <a:prstGeom prst="rect">
            <a:avLst/>
          </a:prstGeom>
          <a:noFill/>
        </p:spPr>
        <p:txBody>
          <a:bodyPr wrap="square" lIns="0" rIns="0" tIns="0" bIns="0">
            <a:spAutoFit/>
          </a:bodyPr>
          <a:lstStyle/>
          <a:p>
            <a:pPr algn="l"/>
            <a:r>
              <a:rPr sz="600" b="0">
                <a:solidFill>
                  <a:srgbClr val="8C8C8C"/>
                </a:solidFill>
                <a:latin typeface="游ゴシック"/>
              </a:rPr>
              <a:t>©タカヒロ・田代哲也／スクウェアエニックス・「アカメが斬る！」製作委員会</a:t>
            </a:r>
          </a:p>
        </p:txBody>
      </p:sp>
      <p:sp>
        <p:nvSpPr>
          <p:cNvPr id="32" name="TextBox 31"/>
          <p:cNvSpPr txBox="1"/>
          <p:nvPr/>
        </p:nvSpPr>
        <p:spPr>
          <a:xfrm>
            <a:off x="2560320" y="3374136"/>
            <a:ext cx="2834640" cy="274320"/>
          </a:xfrm>
          <a:prstGeom prst="rect">
            <a:avLst/>
          </a:prstGeom>
          <a:noFill/>
        </p:spPr>
        <p:txBody>
          <a:bodyPr wrap="square" lIns="0" rIns="0" tIns="0" bIns="0">
            <a:spAutoFit/>
          </a:bodyPr>
          <a:lstStyle/>
          <a:p>
            <a:pPr algn="l"/>
            <a:r>
              <a:rPr sz="1050" b="1">
                <a:solidFill>
                  <a:srgbClr val="0B3041"/>
                </a:solidFill>
                <a:latin typeface="游ゴシック"/>
              </a:rPr>
              <a:t>繰繰れ！コックリさん</a:t>
            </a:r>
          </a:p>
        </p:txBody>
      </p:sp>
      <p:sp>
        <p:nvSpPr>
          <p:cNvPr id="33" name="TextBox 32"/>
          <p:cNvSpPr txBox="1"/>
          <p:nvPr/>
        </p:nvSpPr>
        <p:spPr>
          <a:xfrm>
            <a:off x="2560320" y="3657600"/>
            <a:ext cx="2834640" cy="219456"/>
          </a:xfrm>
          <a:prstGeom prst="rect">
            <a:avLst/>
          </a:prstGeom>
          <a:noFill/>
        </p:spPr>
        <p:txBody>
          <a:bodyPr wrap="square" lIns="0" rIns="0" tIns="0" bIns="0">
            <a:spAutoFit/>
          </a:bodyPr>
          <a:lstStyle/>
          <a:p>
            <a:pPr algn="l"/>
            <a:r>
              <a:rPr sz="900" b="0">
                <a:solidFill>
                  <a:srgbClr val="0889C9"/>
                </a:solidFill>
                <a:latin typeface="游ゴシック"/>
              </a:rPr>
              <a:t>マンガ原作（スクウェア・エニックス）</a:t>
            </a:r>
          </a:p>
        </p:txBody>
      </p:sp>
      <p:sp>
        <p:nvSpPr>
          <p:cNvPr id="34" name="TextBox 33"/>
          <p:cNvSpPr txBox="1"/>
          <p:nvPr/>
        </p:nvSpPr>
        <p:spPr>
          <a:xfrm>
            <a:off x="2560320" y="3867912"/>
            <a:ext cx="2834640" cy="274320"/>
          </a:xfrm>
          <a:prstGeom prst="rect">
            <a:avLst/>
          </a:prstGeom>
          <a:noFill/>
        </p:spPr>
        <p:txBody>
          <a:bodyPr wrap="square" lIns="0" rIns="0" tIns="0" bIns="0">
            <a:spAutoFit/>
          </a:bodyPr>
          <a:lstStyle/>
          <a:p>
            <a:pPr algn="l"/>
            <a:r>
              <a:rPr sz="600" b="0">
                <a:solidFill>
                  <a:srgbClr val="8C8C8C"/>
                </a:solidFill>
                <a:latin typeface="游ゴシック"/>
              </a:rPr>
              <a:t>©遠藤ミドリ／スクウェアエニックス・「繰繰れ！コックリさん」製作委員会</a:t>
            </a:r>
          </a:p>
        </p:txBody>
      </p:sp>
      <p:sp>
        <p:nvSpPr>
          <p:cNvPr id="35" name="TextBox 34"/>
          <p:cNvSpPr txBox="1"/>
          <p:nvPr/>
        </p:nvSpPr>
        <p:spPr>
          <a:xfrm>
            <a:off x="2560320" y="4334256"/>
            <a:ext cx="2834640" cy="274320"/>
          </a:xfrm>
          <a:prstGeom prst="rect">
            <a:avLst/>
          </a:prstGeom>
          <a:noFill/>
        </p:spPr>
        <p:txBody>
          <a:bodyPr wrap="square" lIns="0" rIns="0" tIns="0" bIns="0">
            <a:spAutoFit/>
          </a:bodyPr>
          <a:lstStyle/>
          <a:p>
            <a:pPr algn="l"/>
            <a:r>
              <a:rPr sz="1050" b="1">
                <a:solidFill>
                  <a:srgbClr val="0B3041"/>
                </a:solidFill>
                <a:latin typeface="游ゴシック"/>
              </a:rPr>
              <a:t>蒼き鋼のアルペジオ -ARS NOVA-</a:t>
            </a:r>
          </a:p>
        </p:txBody>
      </p:sp>
      <p:sp>
        <p:nvSpPr>
          <p:cNvPr id="36" name="TextBox 35"/>
          <p:cNvSpPr txBox="1"/>
          <p:nvPr/>
        </p:nvSpPr>
        <p:spPr>
          <a:xfrm>
            <a:off x="2560320" y="4617720"/>
            <a:ext cx="2834640" cy="219456"/>
          </a:xfrm>
          <a:prstGeom prst="rect">
            <a:avLst/>
          </a:prstGeom>
          <a:noFill/>
        </p:spPr>
        <p:txBody>
          <a:bodyPr wrap="square" lIns="0" rIns="0" tIns="0" bIns="0">
            <a:spAutoFit/>
          </a:bodyPr>
          <a:lstStyle/>
          <a:p>
            <a:pPr algn="l"/>
            <a:r>
              <a:rPr sz="900" b="0">
                <a:solidFill>
                  <a:srgbClr val="0889C9"/>
                </a:solidFill>
                <a:latin typeface="游ゴシック"/>
              </a:rPr>
              <a:t>青年マンガ原作（少年画報社）</a:t>
            </a:r>
          </a:p>
        </p:txBody>
      </p:sp>
      <p:sp>
        <p:nvSpPr>
          <p:cNvPr id="37" name="TextBox 36"/>
          <p:cNvSpPr txBox="1"/>
          <p:nvPr/>
        </p:nvSpPr>
        <p:spPr>
          <a:xfrm>
            <a:off x="2560320" y="4828032"/>
            <a:ext cx="2834640" cy="274320"/>
          </a:xfrm>
          <a:prstGeom prst="rect">
            <a:avLst/>
          </a:prstGeom>
          <a:noFill/>
        </p:spPr>
        <p:txBody>
          <a:bodyPr wrap="square" lIns="0" rIns="0" tIns="0" bIns="0">
            <a:spAutoFit/>
          </a:bodyPr>
          <a:lstStyle/>
          <a:p>
            <a:pPr algn="l"/>
            <a:r>
              <a:rPr sz="600" b="0">
                <a:solidFill>
                  <a:srgbClr val="8C8C8C"/>
                </a:solidFill>
                <a:latin typeface="游ゴシック"/>
              </a:rPr>
              <a:t>©Ark Performance／少年画報社・アルペジオパートナーズ</a:t>
            </a:r>
          </a:p>
        </p:txBody>
      </p:sp>
      <p:sp>
        <p:nvSpPr>
          <p:cNvPr id="38" name="TextBox 37"/>
          <p:cNvSpPr txBox="1"/>
          <p:nvPr/>
        </p:nvSpPr>
        <p:spPr>
          <a:xfrm>
            <a:off x="2560320" y="5294376"/>
            <a:ext cx="2834640" cy="274320"/>
          </a:xfrm>
          <a:prstGeom prst="rect">
            <a:avLst/>
          </a:prstGeom>
          <a:noFill/>
        </p:spPr>
        <p:txBody>
          <a:bodyPr wrap="square" lIns="0" rIns="0" tIns="0" bIns="0">
            <a:spAutoFit/>
          </a:bodyPr>
          <a:lstStyle/>
          <a:p>
            <a:pPr algn="l"/>
            <a:r>
              <a:rPr sz="1050" b="1">
                <a:solidFill>
                  <a:srgbClr val="0B3041"/>
                </a:solidFill>
                <a:latin typeface="游ゴシック"/>
              </a:rPr>
              <a:t>ソードアート・オンライン</a:t>
            </a:r>
          </a:p>
        </p:txBody>
      </p:sp>
      <p:sp>
        <p:nvSpPr>
          <p:cNvPr id="39" name="TextBox 38"/>
          <p:cNvSpPr txBox="1"/>
          <p:nvPr/>
        </p:nvSpPr>
        <p:spPr>
          <a:xfrm>
            <a:off x="2560320" y="5577840"/>
            <a:ext cx="2834640" cy="219456"/>
          </a:xfrm>
          <a:prstGeom prst="rect">
            <a:avLst/>
          </a:prstGeom>
          <a:noFill/>
        </p:spPr>
        <p:txBody>
          <a:bodyPr wrap="square" lIns="0" rIns="0" tIns="0" bIns="0">
            <a:spAutoFit/>
          </a:bodyPr>
          <a:lstStyle/>
          <a:p>
            <a:pPr algn="l"/>
            <a:r>
              <a:rPr sz="900" b="0">
                <a:solidFill>
                  <a:srgbClr val="0889C9"/>
                </a:solidFill>
                <a:latin typeface="游ゴシック"/>
              </a:rPr>
              <a:t>ライトノベル原作</a:t>
            </a:r>
          </a:p>
        </p:txBody>
      </p:sp>
      <p:sp>
        <p:nvSpPr>
          <p:cNvPr id="40" name="TextBox 39"/>
          <p:cNvSpPr txBox="1"/>
          <p:nvPr/>
        </p:nvSpPr>
        <p:spPr>
          <a:xfrm>
            <a:off x="2560320" y="5788152"/>
            <a:ext cx="2834640" cy="274320"/>
          </a:xfrm>
          <a:prstGeom prst="rect">
            <a:avLst/>
          </a:prstGeom>
          <a:noFill/>
        </p:spPr>
        <p:txBody>
          <a:bodyPr wrap="square" lIns="0" rIns="0" tIns="0" bIns="0">
            <a:spAutoFit/>
          </a:bodyPr>
          <a:lstStyle/>
          <a:p>
            <a:pPr algn="l"/>
            <a:r>
              <a:rPr sz="600" b="0">
                <a:solidFill>
                  <a:srgbClr val="8C8C8C"/>
                </a:solidFill>
                <a:latin typeface="游ゴシック"/>
              </a:rPr>
              <a:t>©川原 礫／アスキー・メディアワークス／SAO Project</a:t>
            </a:r>
          </a:p>
        </p:txBody>
      </p:sp>
      <p:sp>
        <p:nvSpPr>
          <p:cNvPr id="41" name="TextBox 40"/>
          <p:cNvSpPr txBox="1"/>
          <p:nvPr/>
        </p:nvSpPr>
        <p:spPr>
          <a:xfrm>
            <a:off x="7699248" y="1453896"/>
            <a:ext cx="2834640" cy="274320"/>
          </a:xfrm>
          <a:prstGeom prst="rect">
            <a:avLst/>
          </a:prstGeom>
          <a:noFill/>
        </p:spPr>
        <p:txBody>
          <a:bodyPr wrap="square" lIns="0" rIns="0" tIns="0" bIns="0">
            <a:spAutoFit/>
          </a:bodyPr>
          <a:lstStyle/>
          <a:p>
            <a:pPr algn="l"/>
            <a:r>
              <a:rPr sz="1050" b="1">
                <a:solidFill>
                  <a:srgbClr val="0B3041"/>
                </a:solidFill>
                <a:latin typeface="游ゴシック"/>
              </a:rPr>
              <a:t>ノーゲーム・ノーライフ</a:t>
            </a:r>
          </a:p>
        </p:txBody>
      </p:sp>
      <p:sp>
        <p:nvSpPr>
          <p:cNvPr id="42" name="TextBox 41"/>
          <p:cNvSpPr txBox="1"/>
          <p:nvPr/>
        </p:nvSpPr>
        <p:spPr>
          <a:xfrm>
            <a:off x="7699248" y="1737360"/>
            <a:ext cx="2834640" cy="219456"/>
          </a:xfrm>
          <a:prstGeom prst="rect">
            <a:avLst/>
          </a:prstGeom>
          <a:noFill/>
        </p:spPr>
        <p:txBody>
          <a:bodyPr wrap="square" lIns="0" rIns="0" tIns="0" bIns="0">
            <a:spAutoFit/>
          </a:bodyPr>
          <a:lstStyle/>
          <a:p>
            <a:pPr algn="l"/>
            <a:r>
              <a:rPr sz="900" b="0">
                <a:solidFill>
                  <a:srgbClr val="0889C9"/>
                </a:solidFill>
                <a:latin typeface="游ゴシック"/>
              </a:rPr>
              <a:t>ライトノベル原作</a:t>
            </a:r>
          </a:p>
        </p:txBody>
      </p:sp>
      <p:sp>
        <p:nvSpPr>
          <p:cNvPr id="43" name="TextBox 42"/>
          <p:cNvSpPr txBox="1"/>
          <p:nvPr/>
        </p:nvSpPr>
        <p:spPr>
          <a:xfrm>
            <a:off x="7699248" y="1947672"/>
            <a:ext cx="2834640" cy="274320"/>
          </a:xfrm>
          <a:prstGeom prst="rect">
            <a:avLst/>
          </a:prstGeom>
          <a:noFill/>
        </p:spPr>
        <p:txBody>
          <a:bodyPr wrap="square" lIns="0" rIns="0" tIns="0" bIns="0">
            <a:spAutoFit/>
          </a:bodyPr>
          <a:lstStyle/>
          <a:p>
            <a:pPr algn="l"/>
            <a:r>
              <a:rPr sz="600" b="0">
                <a:solidFill>
                  <a:srgbClr val="8C8C8C"/>
                </a:solidFill>
                <a:latin typeface="游ゴシック"/>
              </a:rPr>
              <a:t>©2014 YK,KM／NGNLP</a:t>
            </a:r>
          </a:p>
        </p:txBody>
      </p:sp>
      <p:sp>
        <p:nvSpPr>
          <p:cNvPr id="44" name="TextBox 43"/>
          <p:cNvSpPr txBox="1"/>
          <p:nvPr/>
        </p:nvSpPr>
        <p:spPr>
          <a:xfrm>
            <a:off x="7699248" y="2414015"/>
            <a:ext cx="2834640" cy="274320"/>
          </a:xfrm>
          <a:prstGeom prst="rect">
            <a:avLst/>
          </a:prstGeom>
          <a:noFill/>
        </p:spPr>
        <p:txBody>
          <a:bodyPr wrap="square" lIns="0" rIns="0" tIns="0" bIns="0">
            <a:spAutoFit/>
          </a:bodyPr>
          <a:lstStyle/>
          <a:p>
            <a:pPr algn="l"/>
            <a:r>
              <a:rPr sz="1050" b="1">
                <a:solidFill>
                  <a:srgbClr val="0B3041"/>
                </a:solidFill>
                <a:latin typeface="游ゴシック"/>
              </a:rPr>
              <a:t>PERSONA Q</a:t>
            </a:r>
          </a:p>
        </p:txBody>
      </p:sp>
      <p:sp>
        <p:nvSpPr>
          <p:cNvPr id="45" name="TextBox 44"/>
          <p:cNvSpPr txBox="1"/>
          <p:nvPr/>
        </p:nvSpPr>
        <p:spPr>
          <a:xfrm>
            <a:off x="7699248" y="2697479"/>
            <a:ext cx="2834640" cy="219456"/>
          </a:xfrm>
          <a:prstGeom prst="rect">
            <a:avLst/>
          </a:prstGeom>
          <a:noFill/>
        </p:spPr>
        <p:txBody>
          <a:bodyPr wrap="square" lIns="0" rIns="0" tIns="0" bIns="0">
            <a:spAutoFit/>
          </a:bodyPr>
          <a:lstStyle/>
          <a:p>
            <a:pPr algn="l"/>
            <a:r>
              <a:rPr sz="900" b="0">
                <a:solidFill>
                  <a:srgbClr val="0889C9"/>
                </a:solidFill>
                <a:latin typeface="游ゴシック"/>
              </a:rPr>
              <a:t>ゲーム原作</a:t>
            </a:r>
          </a:p>
        </p:txBody>
      </p:sp>
      <p:sp>
        <p:nvSpPr>
          <p:cNvPr id="46" name="TextBox 45"/>
          <p:cNvSpPr txBox="1"/>
          <p:nvPr/>
        </p:nvSpPr>
        <p:spPr>
          <a:xfrm>
            <a:off x="7699248" y="2907791"/>
            <a:ext cx="2834640" cy="274320"/>
          </a:xfrm>
          <a:prstGeom prst="rect">
            <a:avLst/>
          </a:prstGeom>
          <a:noFill/>
        </p:spPr>
        <p:txBody>
          <a:bodyPr wrap="square" lIns="0" rIns="0" tIns="0" bIns="0">
            <a:spAutoFit/>
          </a:bodyPr>
          <a:lstStyle/>
          <a:p>
            <a:pPr algn="l"/>
            <a:r>
              <a:rPr sz="600" b="0">
                <a:solidFill>
                  <a:srgbClr val="8C8C8C"/>
                </a:solidFill>
                <a:latin typeface="游ゴシック"/>
              </a:rPr>
              <a:t>©ATLUS ©SEGA All rights reserved.</a:t>
            </a:r>
          </a:p>
        </p:txBody>
      </p:sp>
      <p:sp>
        <p:nvSpPr>
          <p:cNvPr id="47" name="TextBox 46"/>
          <p:cNvSpPr txBox="1"/>
          <p:nvPr/>
        </p:nvSpPr>
        <p:spPr>
          <a:xfrm>
            <a:off x="7699248" y="3374136"/>
            <a:ext cx="2834640" cy="274320"/>
          </a:xfrm>
          <a:prstGeom prst="rect">
            <a:avLst/>
          </a:prstGeom>
          <a:noFill/>
        </p:spPr>
        <p:txBody>
          <a:bodyPr wrap="square" lIns="0" rIns="0" tIns="0" bIns="0">
            <a:spAutoFit/>
          </a:bodyPr>
          <a:lstStyle/>
          <a:p>
            <a:pPr algn="l"/>
            <a:r>
              <a:rPr sz="1050" b="1">
                <a:solidFill>
                  <a:srgbClr val="0B3041"/>
                </a:solidFill>
                <a:latin typeface="游ゴシック"/>
              </a:rPr>
              <a:t>DIABOLIK LOVERS MORE,BLOOD</a:t>
            </a:r>
          </a:p>
        </p:txBody>
      </p:sp>
      <p:sp>
        <p:nvSpPr>
          <p:cNvPr id="48" name="TextBox 47"/>
          <p:cNvSpPr txBox="1"/>
          <p:nvPr/>
        </p:nvSpPr>
        <p:spPr>
          <a:xfrm>
            <a:off x="7699248" y="3657600"/>
            <a:ext cx="2834640" cy="219456"/>
          </a:xfrm>
          <a:prstGeom prst="rect">
            <a:avLst/>
          </a:prstGeom>
          <a:noFill/>
        </p:spPr>
        <p:txBody>
          <a:bodyPr wrap="square" lIns="0" rIns="0" tIns="0" bIns="0">
            <a:spAutoFit/>
          </a:bodyPr>
          <a:lstStyle/>
          <a:p>
            <a:pPr algn="l"/>
            <a:r>
              <a:rPr sz="900" b="0">
                <a:solidFill>
                  <a:srgbClr val="0889C9"/>
                </a:solidFill>
                <a:latin typeface="游ゴシック"/>
              </a:rPr>
              <a:t>ゲーム原作（乙女ゲーム）</a:t>
            </a:r>
          </a:p>
        </p:txBody>
      </p:sp>
      <p:sp>
        <p:nvSpPr>
          <p:cNvPr id="49" name="TextBox 48"/>
          <p:cNvSpPr txBox="1"/>
          <p:nvPr/>
        </p:nvSpPr>
        <p:spPr>
          <a:xfrm>
            <a:off x="7699248" y="3867912"/>
            <a:ext cx="2834640" cy="274320"/>
          </a:xfrm>
          <a:prstGeom prst="rect">
            <a:avLst/>
          </a:prstGeom>
          <a:noFill/>
        </p:spPr>
        <p:txBody>
          <a:bodyPr wrap="square" lIns="0" rIns="0" tIns="0" bIns="0">
            <a:spAutoFit/>
          </a:bodyPr>
          <a:lstStyle/>
          <a:p>
            <a:pPr algn="l"/>
            <a:r>
              <a:rPr sz="600" b="0">
                <a:solidFill>
                  <a:srgbClr val="8C8C8C"/>
                </a:solidFill>
                <a:latin typeface="游ゴシック"/>
              </a:rPr>
              <a:t>©Rejet／IF</a:t>
            </a:r>
          </a:p>
        </p:txBody>
      </p:sp>
      <p:sp>
        <p:nvSpPr>
          <p:cNvPr id="50" name="TextBox 49"/>
          <p:cNvSpPr txBox="1"/>
          <p:nvPr/>
        </p:nvSpPr>
        <p:spPr>
          <a:xfrm>
            <a:off x="7699248" y="4334256"/>
            <a:ext cx="2834640" cy="274320"/>
          </a:xfrm>
          <a:prstGeom prst="rect">
            <a:avLst/>
          </a:prstGeom>
          <a:noFill/>
        </p:spPr>
        <p:txBody>
          <a:bodyPr wrap="square" lIns="0" rIns="0" tIns="0" bIns="0">
            <a:spAutoFit/>
          </a:bodyPr>
          <a:lstStyle/>
          <a:p>
            <a:pPr algn="l"/>
            <a:r>
              <a:rPr sz="1050" b="1">
                <a:solidFill>
                  <a:srgbClr val="0B3041"/>
                </a:solidFill>
                <a:latin typeface="游ゴシック"/>
              </a:rPr>
              <a:t>SHOW BY ROCK!!</a:t>
            </a:r>
          </a:p>
        </p:txBody>
      </p:sp>
      <p:sp>
        <p:nvSpPr>
          <p:cNvPr id="51" name="TextBox 50"/>
          <p:cNvSpPr txBox="1"/>
          <p:nvPr/>
        </p:nvSpPr>
        <p:spPr>
          <a:xfrm>
            <a:off x="7699248" y="4617720"/>
            <a:ext cx="2834640" cy="219456"/>
          </a:xfrm>
          <a:prstGeom prst="rect">
            <a:avLst/>
          </a:prstGeom>
          <a:noFill/>
        </p:spPr>
        <p:txBody>
          <a:bodyPr wrap="square" lIns="0" rIns="0" tIns="0" bIns="0">
            <a:spAutoFit/>
          </a:bodyPr>
          <a:lstStyle/>
          <a:p>
            <a:pPr algn="l"/>
            <a:r>
              <a:rPr sz="900" b="0">
                <a:solidFill>
                  <a:srgbClr val="0889C9"/>
                </a:solidFill>
                <a:latin typeface="游ゴシック"/>
              </a:rPr>
              <a:t>ゲーム原作（サンリオ）</a:t>
            </a:r>
          </a:p>
        </p:txBody>
      </p:sp>
      <p:sp>
        <p:nvSpPr>
          <p:cNvPr id="52" name="TextBox 51"/>
          <p:cNvSpPr txBox="1"/>
          <p:nvPr/>
        </p:nvSpPr>
        <p:spPr>
          <a:xfrm>
            <a:off x="7699248" y="4828032"/>
            <a:ext cx="2834640" cy="274320"/>
          </a:xfrm>
          <a:prstGeom prst="rect">
            <a:avLst/>
          </a:prstGeom>
          <a:noFill/>
        </p:spPr>
        <p:txBody>
          <a:bodyPr wrap="square" lIns="0" rIns="0" tIns="0" bIns="0">
            <a:spAutoFit/>
          </a:bodyPr>
          <a:lstStyle/>
          <a:p>
            <a:pPr algn="l"/>
            <a:r>
              <a:rPr sz="600" b="0">
                <a:solidFill>
                  <a:srgbClr val="8C8C8C"/>
                </a:solidFill>
                <a:latin typeface="游ゴシック"/>
              </a:rPr>
              <a:t>©'12,'15 SANRIO Ⓛ SP</a:t>
            </a:r>
          </a:p>
        </p:txBody>
      </p:sp>
      <p:sp>
        <p:nvSpPr>
          <p:cNvPr id="53" name="TextBox 52"/>
          <p:cNvSpPr txBox="1"/>
          <p:nvPr/>
        </p:nvSpPr>
        <p:spPr>
          <a:xfrm>
            <a:off x="7699248" y="5294376"/>
            <a:ext cx="2834640" cy="274320"/>
          </a:xfrm>
          <a:prstGeom prst="rect">
            <a:avLst/>
          </a:prstGeom>
          <a:noFill/>
        </p:spPr>
        <p:txBody>
          <a:bodyPr wrap="square" lIns="0" rIns="0" tIns="0" bIns="0">
            <a:spAutoFit/>
          </a:bodyPr>
          <a:lstStyle/>
          <a:p>
            <a:pPr algn="l"/>
            <a:r>
              <a:rPr sz="1050" b="1">
                <a:solidFill>
                  <a:srgbClr val="0B3041"/>
                </a:solidFill>
                <a:latin typeface="游ゴシック"/>
              </a:rPr>
              <a:t>PSYCHO-PASS サイコパス</a:t>
            </a:r>
          </a:p>
        </p:txBody>
      </p:sp>
      <p:sp>
        <p:nvSpPr>
          <p:cNvPr id="54" name="TextBox 53"/>
          <p:cNvSpPr txBox="1"/>
          <p:nvPr/>
        </p:nvSpPr>
        <p:spPr>
          <a:xfrm>
            <a:off x="7699248" y="5577840"/>
            <a:ext cx="2834640" cy="219456"/>
          </a:xfrm>
          <a:prstGeom prst="rect">
            <a:avLst/>
          </a:prstGeom>
          <a:noFill/>
        </p:spPr>
        <p:txBody>
          <a:bodyPr wrap="square" lIns="0" rIns="0" tIns="0" bIns="0">
            <a:spAutoFit/>
          </a:bodyPr>
          <a:lstStyle/>
          <a:p>
            <a:pPr algn="l"/>
            <a:r>
              <a:rPr sz="900" b="0">
                <a:solidFill>
                  <a:srgbClr val="0889C9"/>
                </a:solidFill>
                <a:latin typeface="游ゴシック"/>
              </a:rPr>
              <a:t>オリジナルアニメ</a:t>
            </a:r>
          </a:p>
        </p:txBody>
      </p:sp>
      <p:sp>
        <p:nvSpPr>
          <p:cNvPr id="55" name="TextBox 54"/>
          <p:cNvSpPr txBox="1"/>
          <p:nvPr/>
        </p:nvSpPr>
        <p:spPr>
          <a:xfrm>
            <a:off x="7699248" y="5788152"/>
            <a:ext cx="2834640" cy="274320"/>
          </a:xfrm>
          <a:prstGeom prst="rect">
            <a:avLst/>
          </a:prstGeom>
          <a:noFill/>
        </p:spPr>
        <p:txBody>
          <a:bodyPr wrap="square" lIns="0" rIns="0" tIns="0" bIns="0">
            <a:spAutoFit/>
          </a:bodyPr>
          <a:lstStyle/>
          <a:p>
            <a:pPr algn="l"/>
            <a:r>
              <a:rPr sz="600" b="0">
                <a:solidFill>
                  <a:srgbClr val="8C8C8C"/>
                </a:solidFill>
                <a:latin typeface="游ゴシック"/>
              </a:rPr>
              <a:t>©PSYCHO-PASS Committee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C98E073B-FCE4-F6FA-66A7-29E757285F77}"/>
              </a:ext>
            </a:extLst>
          </p:cNvPr>
          <p:cNvSpPr>
            <a:spLocks noGrp="1"/>
          </p:cNvSpPr>
          <p:nvPr>
            <p:ph type="ctrTitle"/>
          </p:nvPr>
        </p:nvSpPr>
        <p:spPr/>
        <p:txBody>
          <a:bodyPr/>
          <a:lstStyle/>
          <a:p>
            <a:r>
              <a:rPr>
                <a:latin typeface="游ゴシック" panose="020B0400000000000000" pitchFamily="50" charset="-128"/>
                <a:ea typeface="游ゴシック" panose="020B0400000000000000" pitchFamily="50" charset="-128"/>
              </a:rPr>
              <a:t>制作実績 詳細③［自社オリジナル商材］</a:t>
            </a:r>
          </a:p>
        </p:txBody>
      </p:sp>
      <p:sp>
        <p:nvSpPr>
          <p:cNvPr id="2" name="タイトル 1">
            <a:extLst>
              <a:ext uri="{FF2B5EF4-FFF2-40B4-BE49-F238E27FC236}">
                <a16:creationId xmlns:a16="http://schemas.microsoft.com/office/drawing/2014/main" id="{1F33762E-23F4-8C5B-C467-2E3E3671C9B0}"/>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spc="0" dirty="0">
                <a:latin typeface="游ゴシック" panose="020B0400000000000000" pitchFamily="50" charset="-128"/>
                <a:ea typeface="游ゴシック" panose="020B0400000000000000" pitchFamily="50" charset="-128"/>
              </a:rPr>
              <a:t>事業概要</a:t>
            </a:r>
          </a:p>
        </p:txBody>
      </p:sp>
      <p:sp>
        <p:nvSpPr>
          <p:cNvPr id="4" name="TextBox 3"/>
          <p:cNvSpPr txBox="1"/>
          <p:nvPr/>
        </p:nvSpPr>
        <p:spPr>
          <a:xfrm>
            <a:off x="460675" y="820000"/>
            <a:ext cx="9781875" cy="461665"/>
          </a:xfrm>
          <a:prstGeom prst="rect">
            <a:avLst/>
          </a:prstGeom>
          <a:noFill/>
        </p:spPr>
        <p:txBody>
          <a:bodyPr wrap="square">
            <a:spAutoFit/>
          </a:bodyPr>
          <a:lstStyle/>
          <a:p>
            <a:r>
              <a:rPr sz="1200">
                <a:latin typeface="游ゴシック" panose="020B0400000000000000" pitchFamily="50" charset="-128"/>
                <a:ea typeface="游ゴシック" panose="020B0400000000000000" pitchFamily="50" charset="-128"/>
              </a:rPr>
              <a:t>版権受託（OEM）に加え、自社で版権を取得して企画から製造・卸販売までを主導するオリジナルくじ商材を展開しています。受注型のOEM事業を補完し、収益機会の多様化に寄与しています。</a:t>
            </a:r>
          </a:p>
        </p:txBody>
      </p:sp>
      <p:sp>
        <p:nvSpPr>
          <p:cNvPr id="25" name="TextBox 24"/>
          <p:cNvSpPr txBox="1"/>
          <p:nvPr/>
        </p:nvSpPr>
        <p:spPr>
          <a:xfrm>
            <a:off x="311150" y="6446520"/>
            <a:ext cx="10000000" cy="238527"/>
          </a:xfrm>
          <a:prstGeom prst="rect">
            <a:avLst/>
          </a:prstGeom>
          <a:noFill/>
        </p:spPr>
        <p:txBody>
          <a:bodyPr wrap="square">
            <a:spAutoFit/>
          </a:bodyPr>
          <a:lstStyle/>
          <a:p>
            <a:r>
              <a:rPr sz="950">
                <a:solidFill>
                  <a:srgbClr val="595959"/>
                </a:solidFill>
                <a:latin typeface="游ゴシック" panose="020B0400000000000000" pitchFamily="50" charset="-128"/>
                <a:ea typeface="游ゴシック" panose="020B0400000000000000" pitchFamily="50" charset="-128"/>
              </a:rPr>
              <a:t>※ 展開作品は当社ウェブサイト及び公式X（@canaria_tokyo）に掲載の情報に基づく一部抜粋です。</a:t>
            </a:r>
          </a:p>
          <a:p>
            <a:r>
              <a:rPr sz="950">
                <a:solidFill>
                  <a:srgbClr val="595959"/>
                </a:solidFill>
                <a:latin typeface="游ゴシック" panose="020B0400000000000000" pitchFamily="50" charset="-128"/>
                <a:ea typeface="游ゴシック" panose="020B0400000000000000" pitchFamily="50" charset="-128"/>
              </a:rPr>
              <a:t>※ 商材別の売上構成比・展開時期・収益性はデータルームにて開示予定です。各作品の著作権・商標権は各権利者に帰属します。</a:t>
            </a:r>
          </a:p>
        </p:txBody>
      </p:sp>
      <p:sp>
        <p:nvSpPr>
          <p:cNvPr id="26" name="Rectangle 25"/>
          <p:cNvSpPr/>
          <p:nvPr/>
        </p:nvSpPr>
        <p:spPr>
          <a:xfrm>
            <a:off x="384048" y="1517904"/>
            <a:ext cx="4864608" cy="3246120"/>
          </a:xfrm>
          <a:prstGeom prst="rect">
            <a:avLst/>
          </a:prstGeom>
          <a:solidFill>
            <a:srgbClr val="FFFFFF"/>
          </a:solidFill>
          <a:ln w="9525">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384048" y="1517904"/>
            <a:ext cx="4864608" cy="420624"/>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384048" y="1609344"/>
            <a:ext cx="4864608" cy="274320"/>
          </a:xfrm>
          <a:prstGeom prst="rect">
            <a:avLst/>
          </a:prstGeom>
          <a:noFill/>
        </p:spPr>
        <p:txBody>
          <a:bodyPr wrap="square" lIns="0" rIns="0" tIns="0" bIns="0">
            <a:spAutoFit/>
          </a:bodyPr>
          <a:lstStyle/>
          <a:p>
            <a:pPr algn="ctr"/>
            <a:r>
              <a:rPr sz="1300" b="1">
                <a:solidFill>
                  <a:srgbClr val="FFFFFF"/>
                </a:solidFill>
                <a:latin typeface="游ゴシック"/>
              </a:rPr>
              <a:t>「スターくじ」</a:t>
            </a:r>
          </a:p>
        </p:txBody>
      </p:sp>
      <p:sp>
        <p:nvSpPr>
          <p:cNvPr id="29" name="TextBox 28"/>
          <p:cNvSpPr txBox="1"/>
          <p:nvPr/>
        </p:nvSpPr>
        <p:spPr>
          <a:xfrm>
            <a:off x="621792" y="2103120"/>
            <a:ext cx="4389120" cy="822960"/>
          </a:xfrm>
          <a:prstGeom prst="rect">
            <a:avLst/>
          </a:prstGeom>
          <a:noFill/>
        </p:spPr>
        <p:txBody>
          <a:bodyPr wrap="square" lIns="0" rIns="0" tIns="0" bIns="0">
            <a:spAutoFit/>
          </a:bodyPr>
          <a:lstStyle/>
          <a:p>
            <a:pPr algn="l">
              <a:spcAft>
                <a:spcPts val="300"/>
              </a:spcAft>
            </a:pPr>
            <a:r>
              <a:rPr sz="1050" b="0">
                <a:solidFill>
                  <a:srgbClr val="0B3041"/>
                </a:solidFill>
                <a:latin typeface="游ゴシック"/>
              </a:rPr>
              <a:t>自社企画のくじ商材ブランド。人気IPの版権を取得し、</a:t>
            </a:r>
          </a:p>
          <a:p>
            <a:pPr algn="l">
              <a:spcAft>
                <a:spcPts val="300"/>
              </a:spcAft>
            </a:pPr>
            <a:r>
              <a:rPr sz="1050" b="0">
                <a:solidFill>
                  <a:srgbClr val="0B3041"/>
                </a:solidFill>
                <a:latin typeface="游ゴシック"/>
              </a:rPr>
              <a:t>景品ラインナップの企画・デザインから製造委託・</a:t>
            </a:r>
          </a:p>
          <a:p>
            <a:pPr algn="l">
              <a:spcAft>
                <a:spcPts val="300"/>
              </a:spcAft>
            </a:pPr>
            <a:r>
              <a:rPr sz="1050" b="0">
                <a:solidFill>
                  <a:srgbClr val="0B3041"/>
                </a:solidFill>
                <a:latin typeface="游ゴシック"/>
              </a:rPr>
              <a:t>卸販売までを自社主導で実施。</a:t>
            </a:r>
          </a:p>
        </p:txBody>
      </p:sp>
      <p:sp>
        <p:nvSpPr>
          <p:cNvPr id="30" name="TextBox 29"/>
          <p:cNvSpPr txBox="1"/>
          <p:nvPr/>
        </p:nvSpPr>
        <p:spPr>
          <a:xfrm>
            <a:off x="621792" y="3063240"/>
            <a:ext cx="4389120" cy="237744"/>
          </a:xfrm>
          <a:prstGeom prst="rect">
            <a:avLst/>
          </a:prstGeom>
          <a:noFill/>
        </p:spPr>
        <p:txBody>
          <a:bodyPr wrap="square" lIns="0" rIns="0" tIns="0" bIns="0">
            <a:spAutoFit/>
          </a:bodyPr>
          <a:lstStyle/>
          <a:p>
            <a:pPr algn="l"/>
            <a:r>
              <a:rPr sz="1000" b="1">
                <a:solidFill>
                  <a:srgbClr val="0889C9"/>
                </a:solidFill>
                <a:latin typeface="游ゴシック"/>
              </a:rPr>
              <a:t>主な展開作品</a:t>
            </a:r>
          </a:p>
        </p:txBody>
      </p:sp>
      <p:sp>
        <p:nvSpPr>
          <p:cNvPr id="31" name="Rectangle 30"/>
          <p:cNvSpPr/>
          <p:nvPr/>
        </p:nvSpPr>
        <p:spPr>
          <a:xfrm>
            <a:off x="621792" y="3346704"/>
            <a:ext cx="4389120" cy="1234440"/>
          </a:xfrm>
          <a:prstGeom prst="rect">
            <a:avLst/>
          </a:prstGeom>
          <a:solidFill>
            <a:srgbClr val="E3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04672" y="3493008"/>
            <a:ext cx="4023360" cy="960120"/>
          </a:xfrm>
          <a:prstGeom prst="rect">
            <a:avLst/>
          </a:prstGeom>
          <a:noFill/>
        </p:spPr>
        <p:txBody>
          <a:bodyPr wrap="square" lIns="0" rIns="0" tIns="0" bIns="0">
            <a:spAutoFit/>
          </a:bodyPr>
          <a:lstStyle/>
          <a:p>
            <a:pPr algn="l">
              <a:spcAft>
                <a:spcPts val="400"/>
              </a:spcAft>
            </a:pPr>
            <a:r>
              <a:rPr sz="1050" b="0">
                <a:solidFill>
                  <a:srgbClr val="0B3041"/>
                </a:solidFill>
                <a:latin typeface="游ゴシック"/>
              </a:rPr>
              <a:t>・俺だけレベルアップな件</a:t>
            </a:r>
          </a:p>
          <a:p>
            <a:pPr algn="l">
              <a:spcAft>
                <a:spcPts val="400"/>
              </a:spcAft>
            </a:pPr>
            <a:r>
              <a:rPr sz="1050" b="0">
                <a:solidFill>
                  <a:srgbClr val="0B3041"/>
                </a:solidFill>
                <a:latin typeface="游ゴシック"/>
              </a:rPr>
              <a:t>・2.5次元の誘惑</a:t>
            </a:r>
          </a:p>
          <a:p>
            <a:pPr algn="l">
              <a:spcAft>
                <a:spcPts val="400"/>
              </a:spcAft>
            </a:pPr>
            <a:r>
              <a:rPr sz="1050" b="0">
                <a:solidFill>
                  <a:srgbClr val="0B3041"/>
                </a:solidFill>
                <a:latin typeface="游ゴシック"/>
              </a:rPr>
              <a:t>・東京リベンジャーズ　ほか</a:t>
            </a:r>
          </a:p>
        </p:txBody>
      </p:sp>
      <p:sp>
        <p:nvSpPr>
          <p:cNvPr id="33" name="Rectangle 32"/>
          <p:cNvSpPr/>
          <p:nvPr/>
        </p:nvSpPr>
        <p:spPr>
          <a:xfrm>
            <a:off x="5440680" y="1517904"/>
            <a:ext cx="4864608" cy="3246120"/>
          </a:xfrm>
          <a:prstGeom prst="rect">
            <a:avLst/>
          </a:prstGeom>
          <a:solidFill>
            <a:srgbClr val="FFFFFF"/>
          </a:solidFill>
          <a:ln w="9525">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5440680" y="1517904"/>
            <a:ext cx="4864608" cy="420624"/>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5440680" y="1609344"/>
            <a:ext cx="4864608" cy="274320"/>
          </a:xfrm>
          <a:prstGeom prst="rect">
            <a:avLst/>
          </a:prstGeom>
          <a:noFill/>
        </p:spPr>
        <p:txBody>
          <a:bodyPr wrap="square" lIns="0" rIns="0" tIns="0" bIns="0">
            <a:spAutoFit/>
          </a:bodyPr>
          <a:lstStyle/>
          <a:p>
            <a:pPr algn="ctr"/>
            <a:r>
              <a:rPr sz="1300" b="1">
                <a:solidFill>
                  <a:srgbClr val="FFFFFF"/>
                </a:solidFill>
                <a:latin typeface="游ゴシック"/>
              </a:rPr>
              <a:t>「あたりツキ！」</a:t>
            </a:r>
          </a:p>
        </p:txBody>
      </p:sp>
      <p:sp>
        <p:nvSpPr>
          <p:cNvPr id="36" name="TextBox 35"/>
          <p:cNvSpPr txBox="1"/>
          <p:nvPr/>
        </p:nvSpPr>
        <p:spPr>
          <a:xfrm>
            <a:off x="5678424" y="2103120"/>
            <a:ext cx="4389120" cy="822960"/>
          </a:xfrm>
          <a:prstGeom prst="rect">
            <a:avLst/>
          </a:prstGeom>
          <a:noFill/>
        </p:spPr>
        <p:txBody>
          <a:bodyPr wrap="square" lIns="0" rIns="0" tIns="0" bIns="0">
            <a:spAutoFit/>
          </a:bodyPr>
          <a:lstStyle/>
          <a:p>
            <a:pPr algn="l">
              <a:spcAft>
                <a:spcPts val="300"/>
              </a:spcAft>
            </a:pPr>
            <a:r>
              <a:rPr sz="1050" b="0">
                <a:solidFill>
                  <a:srgbClr val="0B3041"/>
                </a:solidFill>
                <a:latin typeface="游ゴシック"/>
              </a:rPr>
              <a:t>缶バッジを中心とした自社ブランドのくじ商材。</a:t>
            </a:r>
          </a:p>
          <a:p>
            <a:pPr algn="l">
              <a:spcAft>
                <a:spcPts val="300"/>
              </a:spcAft>
            </a:pPr>
            <a:r>
              <a:rPr sz="1050" b="0">
                <a:solidFill>
                  <a:srgbClr val="0B3041"/>
                </a:solidFill>
                <a:latin typeface="游ゴシック"/>
              </a:rPr>
              <a:t>当たり付きの仕様により売場での訴求力を高め、</a:t>
            </a:r>
          </a:p>
          <a:p>
            <a:pPr algn="l">
              <a:spcAft>
                <a:spcPts val="300"/>
              </a:spcAft>
            </a:pPr>
            <a:r>
              <a:rPr sz="1050" b="0">
                <a:solidFill>
                  <a:srgbClr val="0B3041"/>
                </a:solidFill>
                <a:latin typeface="游ゴシック"/>
              </a:rPr>
              <a:t>幅広いIPで継続的に展開。</a:t>
            </a:r>
          </a:p>
        </p:txBody>
      </p:sp>
      <p:sp>
        <p:nvSpPr>
          <p:cNvPr id="37" name="TextBox 36"/>
          <p:cNvSpPr txBox="1"/>
          <p:nvPr/>
        </p:nvSpPr>
        <p:spPr>
          <a:xfrm>
            <a:off x="5678424" y="3063240"/>
            <a:ext cx="4389120" cy="237744"/>
          </a:xfrm>
          <a:prstGeom prst="rect">
            <a:avLst/>
          </a:prstGeom>
          <a:noFill/>
        </p:spPr>
        <p:txBody>
          <a:bodyPr wrap="square" lIns="0" rIns="0" tIns="0" bIns="0">
            <a:spAutoFit/>
          </a:bodyPr>
          <a:lstStyle/>
          <a:p>
            <a:pPr algn="l"/>
            <a:r>
              <a:rPr sz="1000" b="1">
                <a:solidFill>
                  <a:srgbClr val="0889C9"/>
                </a:solidFill>
                <a:latin typeface="游ゴシック"/>
              </a:rPr>
              <a:t>主な展開作品</a:t>
            </a:r>
          </a:p>
        </p:txBody>
      </p:sp>
      <p:sp>
        <p:nvSpPr>
          <p:cNvPr id="38" name="Rectangle 37"/>
          <p:cNvSpPr/>
          <p:nvPr/>
        </p:nvSpPr>
        <p:spPr>
          <a:xfrm>
            <a:off x="5678424" y="3346704"/>
            <a:ext cx="4389120" cy="1234440"/>
          </a:xfrm>
          <a:prstGeom prst="rect">
            <a:avLst/>
          </a:prstGeom>
          <a:solidFill>
            <a:srgbClr val="E3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5861304" y="3493008"/>
            <a:ext cx="4023360" cy="960120"/>
          </a:xfrm>
          <a:prstGeom prst="rect">
            <a:avLst/>
          </a:prstGeom>
          <a:noFill/>
        </p:spPr>
        <p:txBody>
          <a:bodyPr wrap="square" lIns="0" rIns="0" tIns="0" bIns="0">
            <a:spAutoFit/>
          </a:bodyPr>
          <a:lstStyle/>
          <a:p>
            <a:pPr algn="l">
              <a:spcAft>
                <a:spcPts val="400"/>
              </a:spcAft>
            </a:pPr>
            <a:r>
              <a:rPr sz="1050" b="0">
                <a:solidFill>
                  <a:srgbClr val="0B3041"/>
                </a:solidFill>
                <a:latin typeface="游ゴシック"/>
              </a:rPr>
              <a:t>・五等分の花嫁</a:t>
            </a:r>
          </a:p>
          <a:p>
            <a:pPr algn="l">
              <a:spcAft>
                <a:spcPts val="400"/>
              </a:spcAft>
            </a:pPr>
            <a:r>
              <a:rPr sz="1050" b="0">
                <a:solidFill>
                  <a:srgbClr val="0B3041"/>
                </a:solidFill>
                <a:latin typeface="游ゴシック"/>
              </a:rPr>
              <a:t>・モブサイコ100</a:t>
            </a:r>
          </a:p>
          <a:p>
            <a:pPr algn="l">
              <a:spcAft>
                <a:spcPts val="400"/>
              </a:spcAft>
            </a:pPr>
            <a:r>
              <a:rPr sz="1050" b="0">
                <a:solidFill>
                  <a:srgbClr val="0B3041"/>
                </a:solidFill>
                <a:latin typeface="游ゴシック"/>
              </a:rPr>
              <a:t>・ぽんのみち／テンプレ　ほか</a:t>
            </a:r>
          </a:p>
        </p:txBody>
      </p:sp>
      <p:sp>
        <p:nvSpPr>
          <p:cNvPr id="40" name="Rectangle 39"/>
          <p:cNvSpPr/>
          <p:nvPr/>
        </p:nvSpPr>
        <p:spPr>
          <a:xfrm>
            <a:off x="384048" y="5047488"/>
            <a:ext cx="9921240" cy="1298448"/>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384048" y="5047488"/>
            <a:ext cx="1417320" cy="129844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384048" y="5541264"/>
            <a:ext cx="1417320" cy="274320"/>
          </a:xfrm>
          <a:prstGeom prst="rect">
            <a:avLst/>
          </a:prstGeom>
          <a:noFill/>
        </p:spPr>
        <p:txBody>
          <a:bodyPr wrap="square" lIns="0" rIns="0" tIns="0" bIns="0">
            <a:spAutoFit/>
          </a:bodyPr>
          <a:lstStyle/>
          <a:p>
            <a:pPr algn="ctr"/>
            <a:r>
              <a:rPr sz="1100" b="1">
                <a:solidFill>
                  <a:srgbClr val="FFFFFF"/>
                </a:solidFill>
                <a:latin typeface="游ゴシック"/>
              </a:rPr>
              <a:t>事業上の</a:t>
            </a:r>
          </a:p>
        </p:txBody>
      </p:sp>
      <p:sp>
        <p:nvSpPr>
          <p:cNvPr id="43" name="TextBox 42"/>
          <p:cNvSpPr txBox="1"/>
          <p:nvPr/>
        </p:nvSpPr>
        <p:spPr>
          <a:xfrm>
            <a:off x="384048" y="5779008"/>
            <a:ext cx="1417320" cy="274320"/>
          </a:xfrm>
          <a:prstGeom prst="rect">
            <a:avLst/>
          </a:prstGeom>
          <a:noFill/>
        </p:spPr>
        <p:txBody>
          <a:bodyPr wrap="square" lIns="0" rIns="0" tIns="0" bIns="0">
            <a:spAutoFit/>
          </a:bodyPr>
          <a:lstStyle/>
          <a:p>
            <a:pPr algn="ctr"/>
            <a:r>
              <a:rPr sz="1100" b="1">
                <a:solidFill>
                  <a:srgbClr val="FFFFFF"/>
                </a:solidFill>
                <a:latin typeface="游ゴシック"/>
              </a:rPr>
              <a:t>位置づけ</a:t>
            </a:r>
          </a:p>
        </p:txBody>
      </p:sp>
      <p:sp>
        <p:nvSpPr>
          <p:cNvPr id="44" name="TextBox 43"/>
          <p:cNvSpPr txBox="1"/>
          <p:nvPr/>
        </p:nvSpPr>
        <p:spPr>
          <a:xfrm>
            <a:off x="2011680" y="5285232"/>
            <a:ext cx="8092440" cy="914400"/>
          </a:xfrm>
          <a:prstGeom prst="rect">
            <a:avLst/>
          </a:prstGeom>
          <a:noFill/>
        </p:spPr>
        <p:txBody>
          <a:bodyPr wrap="square" lIns="0" rIns="0" tIns="0" bIns="0">
            <a:spAutoFit/>
          </a:bodyPr>
          <a:lstStyle/>
          <a:p>
            <a:pPr algn="l">
              <a:spcAft>
                <a:spcPts val="300"/>
              </a:spcAft>
            </a:pPr>
            <a:r>
              <a:rPr sz="1050" b="0">
                <a:solidFill>
                  <a:srgbClr val="0B3041"/>
                </a:solidFill>
                <a:latin typeface="游ゴシック"/>
              </a:rPr>
              <a:t>版権受託（OEM）が権利元・取次からの受注に基づく受注型であるのに対し、自社オリジナル商材は当社が企画を主導する企画型のビジネスです。</a:t>
            </a:r>
          </a:p>
          <a:p>
            <a:pPr algn="l">
              <a:spcAft>
                <a:spcPts val="300"/>
              </a:spcAft>
            </a:pPr>
            <a:r>
              <a:rPr sz="1050" b="0">
                <a:solidFill>
                  <a:srgbClr val="0B3041"/>
                </a:solidFill>
                <a:latin typeface="游ゴシック"/>
              </a:rPr>
              <a:t>IPの選定・商品仕様・投入時期を自社で決定できるため、ライセンス案件の作品ごとの需要変動を補完し、収益基盤の安定に寄与しています。</a:t>
            </a:r>
          </a:p>
          <a:p>
            <a:pPr algn="l">
              <a:spcAft>
                <a:spcPts val="300"/>
              </a:spcAft>
            </a:pPr>
            <a:r>
              <a:rPr sz="1050" b="0">
                <a:solidFill>
                  <a:srgbClr val="0B3041"/>
                </a:solidFill>
                <a:latin typeface="游ゴシック"/>
              </a:rPr>
              <a:t>また、くじ商材は問屋経由での買取販売を基本としており、在庫リスクを抑えた運営を行っています。</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20B1C5-D3FA-B80D-FCF0-3C49EF8E798D}"/>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C98E073B-FCE4-F6FA-66A7-29E757285F77}"/>
              </a:ext>
            </a:extLst>
          </p:cNvPr>
          <p:cNvSpPr>
            <a:spLocks noGrp="1"/>
          </p:cNvSpPr>
          <p:nvPr>
            <p:ph type="ctrTitle"/>
          </p:nvPr>
        </p:nvSpPr>
        <p:spPr/>
        <p:txBody>
          <a:bodyPr/>
          <a:lstStyle/>
          <a:p>
            <a:r>
              <a:rPr>
                <a:latin typeface="游ゴシック"/>
                <a:ea typeface="游ゴシック"/>
              </a:rPr>
              <a:t>サービス・商品概要</a:t>
            </a:r>
          </a:p>
        </p:txBody>
      </p:sp>
      <p:sp>
        <p:nvSpPr>
          <p:cNvPr id="2" name="タイトル 1">
            <a:extLst>
              <a:ext uri="{FF2B5EF4-FFF2-40B4-BE49-F238E27FC236}">
                <a16:creationId xmlns:a16="http://schemas.microsoft.com/office/drawing/2014/main" id="{1F33762E-23F4-8C5B-C467-2E3E3671C9B0}"/>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spc="0" dirty="0"/>
              <a:t>事業概要</a:t>
            </a:r>
          </a:p>
        </p:txBody>
      </p:sp>
      <p:sp>
        <p:nvSpPr>
          <p:cNvPr id="5" name="正方形/長方形 4">
            <a:extLst>
              <a:ext uri="{FF2B5EF4-FFF2-40B4-BE49-F238E27FC236}">
                <a16:creationId xmlns:a16="http://schemas.microsoft.com/office/drawing/2014/main" id="{E043E0C5-169B-2439-2B33-8AC6FEC5CBAE}"/>
              </a:ext>
            </a:extLst>
          </p:cNvPr>
          <p:cNvSpPr/>
          <p:nvPr/>
        </p:nvSpPr>
        <p:spPr>
          <a:xfrm>
            <a:off x="311150" y="1560000"/>
            <a:ext cx="5050000" cy="520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sz="1100">
                <a:solidFill>
                  <a:srgbClr val="0B3041"/>
                </a:solidFill>
                <a:latin typeface="游ゴシック"/>
                <a:ea typeface="游ゴシック"/>
              </a:rPr>
              <a:t>■ 主力サービス</a:t>
            </a:r>
            <a:endParaRPr kumimoji="1" lang="en-US" altLang="ja-JP" dirty="0">
              <a:solidFill>
                <a:srgbClr val="FF0000"/>
              </a:solidFill>
            </a:endParaRPr>
          </a:p>
          <a:p>
            <a:pPr algn="l"/>
            <a:r>
              <a:rPr sz="1100">
                <a:solidFill>
                  <a:srgbClr val="0B3041"/>
                </a:solidFill>
                <a:latin typeface="游ゴシック"/>
                <a:ea typeface="游ゴシック"/>
              </a:rPr>
              <a:t>・アニメ／ゲームIPを活用したキャラクターグッズ（アクリルスタンド、缶バッジ、アパレル雑貨等）の企画・製造・販売</a:t>
            </a:r>
          </a:p>
          <a:p>
            <a:pPr algn="l"/>
            <a:r>
              <a:rPr sz="1100">
                <a:solidFill>
                  <a:srgbClr val="0B3041"/>
                </a:solidFill>
                <a:latin typeface="游ゴシック"/>
                <a:ea typeface="游ゴシック"/>
              </a:rPr>
              <a:t>・大手IPホルダーとの商品化契約に基づく受注制作（版権使用）</a:t>
            </a:r>
          </a:p>
          <a:p>
            <a:pPr algn="l"/>
            <a:endParaRPr sz="1100">
              <a:solidFill>
                <a:srgbClr val="0B3041"/>
              </a:solidFill>
              <a:latin typeface="游ゴシック"/>
              <a:ea typeface="游ゴシック"/>
            </a:endParaRPr>
          </a:p>
          <a:p>
            <a:pPr algn="l"/>
            <a:r>
              <a:rPr sz="1100">
                <a:solidFill>
                  <a:srgbClr val="0B3041"/>
                </a:solidFill>
                <a:latin typeface="游ゴシック"/>
                <a:ea typeface="游ゴシック"/>
              </a:rPr>
              <a:t>■ 自社オリジナル商品</a:t>
            </a:r>
          </a:p>
          <a:p>
            <a:pPr algn="l"/>
            <a:r>
              <a:rPr sz="1100">
                <a:solidFill>
                  <a:srgbClr val="0B3041"/>
                </a:solidFill>
                <a:latin typeface="游ゴシック"/>
                <a:ea typeface="游ゴシック"/>
              </a:rPr>
              <a:t>・くじ商品「スターくじ」「あたりツキ！」シリーズを自社ブランドで展開</a:t>
            </a:r>
          </a:p>
          <a:p>
            <a:pPr algn="l"/>
            <a:endParaRPr sz="1100">
              <a:solidFill>
                <a:srgbClr val="0B3041"/>
              </a:solidFill>
              <a:latin typeface="游ゴシック"/>
              <a:ea typeface="游ゴシック"/>
            </a:endParaRPr>
          </a:p>
          <a:p>
            <a:pPr algn="l"/>
            <a:r>
              <a:rPr sz="1100">
                <a:solidFill>
                  <a:srgbClr val="0B3041"/>
                </a:solidFill>
                <a:latin typeface="游ゴシック"/>
                <a:ea typeface="游ゴシック"/>
              </a:rPr>
              <a:t>■ 供給体制（ファブレス）</a:t>
            </a:r>
          </a:p>
          <a:p>
            <a:pPr algn="l"/>
            <a:r>
              <a:rPr sz="1100">
                <a:solidFill>
                  <a:srgbClr val="0B3041"/>
                </a:solidFill>
                <a:latin typeface="游ゴシック"/>
                <a:ea typeface="游ゴシック"/>
              </a:rPr>
              <a:t>・企画／デザインは自社、製造は中国等海外メーカーおよび国内専門メーカーへ委託</a:t>
            </a:r>
          </a:p>
          <a:p>
            <a:pPr algn="l"/>
            <a:r>
              <a:rPr sz="1100">
                <a:solidFill>
                  <a:srgbClr val="0B3041"/>
                </a:solidFill>
                <a:latin typeface="游ゴシック"/>
                <a:ea typeface="游ゴシック"/>
              </a:rPr>
              <a:t>・アクリル・缶バッジ・紙・成形品・ぬいぐるみ等、商材に応じた複数の製造パートナーを確保</a:t>
            </a:r>
          </a:p>
          <a:p>
            <a:pPr algn="l"/>
            <a:endParaRPr sz="1100">
              <a:solidFill>
                <a:srgbClr val="0B3041"/>
              </a:solidFill>
              <a:latin typeface="游ゴシック"/>
              <a:ea typeface="游ゴシック"/>
            </a:endParaRPr>
          </a:p>
        </p:txBody>
      </p:sp>
      <p:sp>
        <p:nvSpPr>
          <p:cNvPr id="6" name="TextBox 5"/>
          <p:cNvSpPr txBox="1"/>
          <p:nvPr/>
        </p:nvSpPr>
        <p:spPr>
          <a:xfrm>
            <a:off x="5600000" y="1300000"/>
            <a:ext cx="4880000" cy="260000"/>
          </a:xfrm>
          <a:prstGeom prst="rect">
            <a:avLst/>
          </a:prstGeom>
          <a:noFill/>
        </p:spPr>
        <p:txBody>
          <a:bodyPr wrap="none">
            <a:spAutoFit/>
          </a:bodyPr>
          <a:lstStyle/>
          <a:p>
            <a:r>
              <a:rPr sz="1200" b="1">
                <a:solidFill>
                  <a:srgbClr val="0B3041"/>
                </a:solidFill>
                <a:latin typeface="游ゴシック"/>
              </a:rPr>
              <a:t>主な取扱商品（OEM）</a:t>
            </a:r>
          </a:p>
        </p:txBody>
      </p:sp>
      <p:pic>
        <p:nvPicPr>
          <p:cNvPr id="7" name="Picture 6" descr="OEM_1.jpg"/>
          <p:cNvPicPr>
            <a:picLocks noChangeAspect="1"/>
          </p:cNvPicPr>
          <p:nvPr/>
        </p:nvPicPr>
        <p:blipFill>
          <a:blip r:embed="rId3"/>
          <a:stretch>
            <a:fillRect/>
          </a:stretch>
        </p:blipFill>
        <p:spPr>
          <a:xfrm>
            <a:off x="5611429" y="1620000"/>
            <a:ext cx="2357142" cy="1650000"/>
          </a:xfrm>
          <a:prstGeom prst="rect">
            <a:avLst/>
          </a:prstGeom>
        </p:spPr>
      </p:pic>
      <p:pic>
        <p:nvPicPr>
          <p:cNvPr id="8" name="Picture 7" descr="OEM_2.jpg"/>
          <p:cNvPicPr>
            <a:picLocks noChangeAspect="1"/>
          </p:cNvPicPr>
          <p:nvPr/>
        </p:nvPicPr>
        <p:blipFill>
          <a:blip r:embed="rId4"/>
          <a:stretch>
            <a:fillRect/>
          </a:stretch>
        </p:blipFill>
        <p:spPr>
          <a:xfrm>
            <a:off x="8111429" y="1620000"/>
            <a:ext cx="2357142" cy="1650000"/>
          </a:xfrm>
          <a:prstGeom prst="rect">
            <a:avLst/>
          </a:prstGeom>
        </p:spPr>
      </p:pic>
      <p:pic>
        <p:nvPicPr>
          <p:cNvPr id="9" name="Picture 8" descr="OEM_3.jpg"/>
          <p:cNvPicPr>
            <a:picLocks noChangeAspect="1"/>
          </p:cNvPicPr>
          <p:nvPr/>
        </p:nvPicPr>
        <p:blipFill>
          <a:blip r:embed="rId5"/>
          <a:stretch>
            <a:fillRect/>
          </a:stretch>
        </p:blipFill>
        <p:spPr>
          <a:xfrm>
            <a:off x="5611429" y="3360000"/>
            <a:ext cx="2357142" cy="1650000"/>
          </a:xfrm>
          <a:prstGeom prst="rect">
            <a:avLst/>
          </a:prstGeom>
        </p:spPr>
      </p:pic>
      <p:pic>
        <p:nvPicPr>
          <p:cNvPr id="10" name="Picture 9" descr="OEM_5.jpg"/>
          <p:cNvPicPr>
            <a:picLocks noChangeAspect="1"/>
          </p:cNvPicPr>
          <p:nvPr/>
        </p:nvPicPr>
        <p:blipFill>
          <a:blip r:embed="rId6"/>
          <a:stretch>
            <a:fillRect/>
          </a:stretch>
        </p:blipFill>
        <p:spPr>
          <a:xfrm>
            <a:off x="8465000" y="3360000"/>
            <a:ext cx="1650000" cy="1650000"/>
          </a:xfrm>
          <a:prstGeom prst="rect">
            <a:avLst/>
          </a:prstGeom>
        </p:spPr>
      </p:pic>
      <p:pic>
        <p:nvPicPr>
          <p:cNvPr id="11" name="Picture 10" descr="OEM_7.jpg"/>
          <p:cNvPicPr>
            <a:picLocks noChangeAspect="1"/>
          </p:cNvPicPr>
          <p:nvPr/>
        </p:nvPicPr>
        <p:blipFill>
          <a:blip r:embed="rId7"/>
          <a:stretch>
            <a:fillRect/>
          </a:stretch>
        </p:blipFill>
        <p:spPr>
          <a:xfrm>
            <a:off x="5965000" y="5100000"/>
            <a:ext cx="1650000" cy="1650000"/>
          </a:xfrm>
          <a:prstGeom prst="rect">
            <a:avLst/>
          </a:prstGeom>
        </p:spPr>
      </p:pic>
      <p:pic>
        <p:nvPicPr>
          <p:cNvPr id="12" name="Picture 11" descr="OEM_9.jpg"/>
          <p:cNvPicPr>
            <a:picLocks noChangeAspect="1"/>
          </p:cNvPicPr>
          <p:nvPr/>
        </p:nvPicPr>
        <p:blipFill>
          <a:blip r:embed="rId8"/>
          <a:stretch>
            <a:fillRect/>
          </a:stretch>
        </p:blipFill>
        <p:spPr>
          <a:xfrm>
            <a:off x="8465000" y="5100000"/>
            <a:ext cx="1650000" cy="1650000"/>
          </a:xfrm>
          <a:prstGeom prst="rect">
            <a:avLst/>
          </a:prstGeom>
        </p:spPr>
      </p:pic>
    </p:spTree>
    <p:extLst>
      <p:ext uri="{BB962C8B-B14F-4D97-AF65-F5344CB8AC3E}">
        <p14:creationId xmlns:p14="http://schemas.microsoft.com/office/powerpoint/2010/main" val="25275136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C98E073B-FCE4-F6FA-66A7-29E757285F77}"/>
              </a:ext>
            </a:extLst>
          </p:cNvPr>
          <p:cNvSpPr>
            <a:spLocks noGrp="1"/>
          </p:cNvSpPr>
          <p:nvPr>
            <p:ph type="ctrTitle"/>
          </p:nvPr>
        </p:nvSpPr>
        <p:spPr/>
        <p:txBody>
          <a:bodyPr/>
          <a:lstStyle/>
          <a:p>
            <a:r>
              <a:rPr>
                <a:latin typeface="游ゴシック" panose="020B0400000000000000" pitchFamily="50" charset="-128"/>
                <a:ea typeface="游ゴシック" panose="020B0400000000000000" pitchFamily="50" charset="-128"/>
              </a:rPr>
              <a:t>OEM製品ラインナップ</a:t>
            </a:r>
          </a:p>
        </p:txBody>
      </p:sp>
      <p:sp>
        <p:nvSpPr>
          <p:cNvPr id="2" name="タイトル 1">
            <a:extLst>
              <a:ext uri="{FF2B5EF4-FFF2-40B4-BE49-F238E27FC236}">
                <a16:creationId xmlns:a16="http://schemas.microsoft.com/office/drawing/2014/main" id="{1F33762E-23F4-8C5B-C467-2E3E3671C9B0}"/>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spc="0" dirty="0">
                <a:latin typeface="游ゴシック" panose="020B0400000000000000" pitchFamily="50" charset="-128"/>
                <a:ea typeface="游ゴシック" panose="020B0400000000000000" pitchFamily="50" charset="-128"/>
              </a:rPr>
              <a:t>事業概要</a:t>
            </a:r>
          </a:p>
        </p:txBody>
      </p:sp>
      <p:sp>
        <p:nvSpPr>
          <p:cNvPr id="4" name="TextBox 3"/>
          <p:cNvSpPr txBox="1"/>
          <p:nvPr/>
        </p:nvSpPr>
        <p:spPr>
          <a:xfrm>
            <a:off x="460675" y="820000"/>
            <a:ext cx="9781875" cy="461665"/>
          </a:xfrm>
          <a:prstGeom prst="rect">
            <a:avLst/>
          </a:prstGeom>
          <a:noFill/>
        </p:spPr>
        <p:txBody>
          <a:bodyPr wrap="square">
            <a:spAutoFit/>
          </a:bodyPr>
          <a:lstStyle/>
          <a:p>
            <a:r>
              <a:rPr sz="1200">
                <a:latin typeface="游ゴシック" panose="020B0400000000000000" pitchFamily="50" charset="-128"/>
                <a:ea typeface="游ゴシック" panose="020B0400000000000000" pitchFamily="50" charset="-128"/>
              </a:rPr>
              <a:t>アパレル雑貨から缶バッジ・アクリル・紙・成形品まで、商材に応じて国内外の複数の製造パートナーを使い分けることで、幅広いカテゴリーのOEM製品に対応しています。</a:t>
            </a:r>
          </a:p>
        </p:txBody>
      </p:sp>
      <p:sp>
        <p:nvSpPr>
          <p:cNvPr id="25" name="TextBox 24"/>
          <p:cNvSpPr txBox="1"/>
          <p:nvPr/>
        </p:nvSpPr>
        <p:spPr>
          <a:xfrm>
            <a:off x="311150" y="6492240"/>
            <a:ext cx="10000000" cy="238527"/>
          </a:xfrm>
          <a:prstGeom prst="rect">
            <a:avLst/>
          </a:prstGeom>
          <a:noFill/>
        </p:spPr>
        <p:txBody>
          <a:bodyPr wrap="square">
            <a:spAutoFit/>
          </a:bodyPr>
          <a:lstStyle/>
          <a:p>
            <a:r>
              <a:rPr sz="950">
                <a:solidFill>
                  <a:srgbClr val="595959"/>
                </a:solidFill>
                <a:latin typeface="游ゴシック" panose="020B0400000000000000" pitchFamily="50" charset="-128"/>
                <a:ea typeface="游ゴシック" panose="020B0400000000000000" pitchFamily="50" charset="-128"/>
              </a:rPr>
              <a:t>※ 上記は当社ウェブサイトに掲載の主な取扱カテゴリー。この他、アクリルスタンド・紙製品・成形品・ぬいぐるみ等にも対応しています。</a:t>
            </a:r>
          </a:p>
          <a:p>
            <a:r>
              <a:rPr sz="950">
                <a:solidFill>
                  <a:srgbClr val="595959"/>
                </a:solidFill>
                <a:latin typeface="游ゴシック" panose="020B0400000000000000" pitchFamily="50" charset="-128"/>
                <a:ea typeface="游ゴシック" panose="020B0400000000000000" pitchFamily="50" charset="-128"/>
              </a:rPr>
              <a:t>※ カテゴリー別の売上構成比・ロット・単価水準はデータルームにて開示予定です。</a:t>
            </a:r>
          </a:p>
        </p:txBody>
      </p:sp>
      <p:pic>
        <p:nvPicPr>
          <p:cNvPr id="26" name="Picture 25" descr="image.jpg"/>
          <p:cNvPicPr>
            <a:picLocks noChangeAspect="1"/>
          </p:cNvPicPr>
          <p:nvPr/>
        </p:nvPicPr>
        <p:blipFill>
          <a:blip r:embed="rId22"/>
          <a:stretch>
            <a:fillRect/>
          </a:stretch>
        </p:blipFill>
        <p:spPr>
          <a:xfrm>
            <a:off x="979714" y="1463040"/>
            <a:ext cx="2246811" cy="1572768"/>
          </a:xfrm>
          <a:prstGeom prst="rect">
            <a:avLst/>
          </a:prstGeom>
        </p:spPr>
      </p:pic>
      <p:pic>
        <p:nvPicPr>
          <p:cNvPr id="27" name="Picture 26" descr="image.jpg"/>
          <p:cNvPicPr>
            <a:picLocks noChangeAspect="1"/>
          </p:cNvPicPr>
          <p:nvPr/>
        </p:nvPicPr>
        <p:blipFill>
          <a:blip r:embed="rId23"/>
          <a:stretch>
            <a:fillRect/>
          </a:stretch>
        </p:blipFill>
        <p:spPr>
          <a:xfrm>
            <a:off x="4225834" y="1463040"/>
            <a:ext cx="2246811" cy="1572768"/>
          </a:xfrm>
          <a:prstGeom prst="rect">
            <a:avLst/>
          </a:prstGeom>
        </p:spPr>
      </p:pic>
      <p:pic>
        <p:nvPicPr>
          <p:cNvPr id="28" name="Picture 27" descr="image.jpg"/>
          <p:cNvPicPr>
            <a:picLocks noChangeAspect="1"/>
          </p:cNvPicPr>
          <p:nvPr/>
        </p:nvPicPr>
        <p:blipFill>
          <a:blip r:embed="rId24"/>
          <a:stretch>
            <a:fillRect/>
          </a:stretch>
        </p:blipFill>
        <p:spPr>
          <a:xfrm>
            <a:off x="7471954" y="1463040"/>
            <a:ext cx="2246811" cy="1572768"/>
          </a:xfrm>
          <a:prstGeom prst="rect">
            <a:avLst/>
          </a:prstGeom>
        </p:spPr>
      </p:pic>
      <p:pic>
        <p:nvPicPr>
          <p:cNvPr id="29" name="Picture 28" descr="image.jpg"/>
          <p:cNvPicPr>
            <a:picLocks noChangeAspect="1"/>
          </p:cNvPicPr>
          <p:nvPr/>
        </p:nvPicPr>
        <p:blipFill>
          <a:blip r:embed="rId25"/>
          <a:stretch>
            <a:fillRect/>
          </a:stretch>
        </p:blipFill>
        <p:spPr>
          <a:xfrm>
            <a:off x="1316736" y="3118104"/>
            <a:ext cx="1572768" cy="1572768"/>
          </a:xfrm>
          <a:prstGeom prst="rect">
            <a:avLst/>
          </a:prstGeom>
        </p:spPr>
      </p:pic>
      <p:pic>
        <p:nvPicPr>
          <p:cNvPr id="30" name="Picture 29" descr="image.jpg"/>
          <p:cNvPicPr>
            <a:picLocks noChangeAspect="1"/>
          </p:cNvPicPr>
          <p:nvPr/>
        </p:nvPicPr>
        <p:blipFill>
          <a:blip r:embed="rId26"/>
          <a:stretch>
            <a:fillRect/>
          </a:stretch>
        </p:blipFill>
        <p:spPr>
          <a:xfrm>
            <a:off x="4562855" y="3118104"/>
            <a:ext cx="1572768" cy="1572768"/>
          </a:xfrm>
          <a:prstGeom prst="rect">
            <a:avLst/>
          </a:prstGeom>
        </p:spPr>
      </p:pic>
      <p:pic>
        <p:nvPicPr>
          <p:cNvPr id="31" name="Picture 30" descr="image.jpg"/>
          <p:cNvPicPr>
            <a:picLocks noChangeAspect="1"/>
          </p:cNvPicPr>
          <p:nvPr/>
        </p:nvPicPr>
        <p:blipFill>
          <a:blip r:embed="rId27"/>
          <a:stretch>
            <a:fillRect/>
          </a:stretch>
        </p:blipFill>
        <p:spPr>
          <a:xfrm>
            <a:off x="7808976" y="3118104"/>
            <a:ext cx="1572768" cy="1572768"/>
          </a:xfrm>
          <a:prstGeom prst="rect">
            <a:avLst/>
          </a:prstGeom>
        </p:spPr>
      </p:pic>
      <p:sp>
        <p:nvSpPr>
          <p:cNvPr id="32" name="Rectangle 31"/>
          <p:cNvSpPr/>
          <p:nvPr/>
        </p:nvSpPr>
        <p:spPr>
          <a:xfrm>
            <a:off x="960119" y="4864608"/>
            <a:ext cx="2286000" cy="1572768"/>
          </a:xfrm>
          <a:prstGeom prst="rect">
            <a:avLst/>
          </a:prstGeom>
          <a:solidFill>
            <a:srgbClr val="FFFFFF"/>
          </a:solidFill>
          <a:ln w="9525">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960119" y="5961888"/>
            <a:ext cx="2286000" cy="475488"/>
          </a:xfrm>
          <a:prstGeom prst="rect">
            <a:avLst/>
          </a:prstGeom>
          <a:solidFill>
            <a:srgbClr val="FFD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60119" y="6080760"/>
            <a:ext cx="2286000" cy="256032"/>
          </a:xfrm>
          <a:prstGeom prst="rect">
            <a:avLst/>
          </a:prstGeom>
          <a:noFill/>
        </p:spPr>
        <p:txBody>
          <a:bodyPr wrap="square" lIns="0" rIns="0" tIns="0" bIns="0">
            <a:spAutoFit/>
          </a:bodyPr>
          <a:lstStyle/>
          <a:p>
            <a:pPr algn="ctr"/>
            <a:r>
              <a:rPr sz="1200" b="1">
                <a:solidFill>
                  <a:srgbClr val="0B3041"/>
                </a:solidFill>
                <a:latin typeface="游ゴシック"/>
              </a:rPr>
              <a:t>スマホケース</a:t>
            </a:r>
          </a:p>
        </p:txBody>
      </p:sp>
      <p:sp>
        <p:nvSpPr>
          <p:cNvPr id="35" name="TextBox 34"/>
          <p:cNvSpPr txBox="1"/>
          <p:nvPr/>
        </p:nvSpPr>
        <p:spPr>
          <a:xfrm>
            <a:off x="960119" y="5303520"/>
            <a:ext cx="2286000" cy="237744"/>
          </a:xfrm>
          <a:prstGeom prst="rect">
            <a:avLst/>
          </a:prstGeom>
          <a:noFill/>
        </p:spPr>
        <p:txBody>
          <a:bodyPr wrap="square" lIns="0" rIns="0" tIns="0" bIns="0">
            <a:spAutoFit/>
          </a:bodyPr>
          <a:lstStyle/>
          <a:p>
            <a:pPr algn="ctr"/>
            <a:r>
              <a:rPr sz="900" b="0">
                <a:solidFill>
                  <a:srgbClr val="8C8C8C"/>
                </a:solidFill>
                <a:latin typeface="游ゴシック"/>
              </a:rPr>
              <a:t>（写真準備中）</a:t>
            </a:r>
          </a:p>
        </p:txBody>
      </p:sp>
      <p:sp>
        <p:nvSpPr>
          <p:cNvPr id="36" name="Rectangle 35"/>
          <p:cNvSpPr/>
          <p:nvPr/>
        </p:nvSpPr>
        <p:spPr>
          <a:xfrm>
            <a:off x="4206240" y="4864608"/>
            <a:ext cx="2286000" cy="1572768"/>
          </a:xfrm>
          <a:prstGeom prst="rect">
            <a:avLst/>
          </a:prstGeom>
          <a:solidFill>
            <a:srgbClr val="FFFFFF"/>
          </a:solidFill>
          <a:ln w="9525">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206240" y="5961888"/>
            <a:ext cx="2286000" cy="475488"/>
          </a:xfrm>
          <a:prstGeom prst="rect">
            <a:avLst/>
          </a:prstGeom>
          <a:solidFill>
            <a:srgbClr val="FFD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4206240" y="6080760"/>
            <a:ext cx="2286000" cy="256032"/>
          </a:xfrm>
          <a:prstGeom prst="rect">
            <a:avLst/>
          </a:prstGeom>
          <a:noFill/>
        </p:spPr>
        <p:txBody>
          <a:bodyPr wrap="square" lIns="0" rIns="0" tIns="0" bIns="0">
            <a:spAutoFit/>
          </a:bodyPr>
          <a:lstStyle/>
          <a:p>
            <a:pPr algn="ctr"/>
            <a:r>
              <a:rPr sz="1200" b="1">
                <a:solidFill>
                  <a:srgbClr val="0B3041"/>
                </a:solidFill>
                <a:latin typeface="游ゴシック"/>
              </a:rPr>
              <a:t>ラバー小物</a:t>
            </a:r>
          </a:p>
        </p:txBody>
      </p:sp>
      <p:sp>
        <p:nvSpPr>
          <p:cNvPr id="39" name="TextBox 38"/>
          <p:cNvSpPr txBox="1"/>
          <p:nvPr/>
        </p:nvSpPr>
        <p:spPr>
          <a:xfrm>
            <a:off x="4206240" y="5303520"/>
            <a:ext cx="2286000" cy="237744"/>
          </a:xfrm>
          <a:prstGeom prst="rect">
            <a:avLst/>
          </a:prstGeom>
          <a:noFill/>
        </p:spPr>
        <p:txBody>
          <a:bodyPr wrap="square" lIns="0" rIns="0" tIns="0" bIns="0">
            <a:spAutoFit/>
          </a:bodyPr>
          <a:lstStyle/>
          <a:p>
            <a:pPr algn="ctr"/>
            <a:r>
              <a:rPr sz="900" b="0">
                <a:solidFill>
                  <a:srgbClr val="8C8C8C"/>
                </a:solidFill>
                <a:latin typeface="游ゴシック"/>
              </a:rPr>
              <a:t>（写真準備中）</a:t>
            </a:r>
          </a:p>
        </p:txBody>
      </p:sp>
      <p:sp>
        <p:nvSpPr>
          <p:cNvPr id="40" name="Rectangle 39"/>
          <p:cNvSpPr/>
          <p:nvPr/>
        </p:nvSpPr>
        <p:spPr>
          <a:xfrm>
            <a:off x="7452360" y="4864608"/>
            <a:ext cx="2286000" cy="1572768"/>
          </a:xfrm>
          <a:prstGeom prst="rect">
            <a:avLst/>
          </a:prstGeom>
          <a:solidFill>
            <a:srgbClr val="FFFFFF"/>
          </a:solidFill>
          <a:ln w="9525">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7452360" y="5961888"/>
            <a:ext cx="2286000" cy="475488"/>
          </a:xfrm>
          <a:prstGeom prst="rect">
            <a:avLst/>
          </a:prstGeom>
          <a:solidFill>
            <a:srgbClr val="FFD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7452360" y="6080760"/>
            <a:ext cx="2286000" cy="256032"/>
          </a:xfrm>
          <a:prstGeom prst="rect">
            <a:avLst/>
          </a:prstGeom>
          <a:noFill/>
        </p:spPr>
        <p:txBody>
          <a:bodyPr wrap="square" lIns="0" rIns="0" tIns="0" bIns="0">
            <a:spAutoFit/>
          </a:bodyPr>
          <a:lstStyle/>
          <a:p>
            <a:pPr algn="ctr"/>
            <a:r>
              <a:rPr sz="1200" b="1">
                <a:solidFill>
                  <a:srgbClr val="0B3041"/>
                </a:solidFill>
                <a:latin typeface="游ゴシック"/>
              </a:rPr>
              <a:t>ポーチ</a:t>
            </a:r>
          </a:p>
        </p:txBody>
      </p:sp>
      <p:sp>
        <p:nvSpPr>
          <p:cNvPr id="43" name="TextBox 42"/>
          <p:cNvSpPr txBox="1"/>
          <p:nvPr/>
        </p:nvSpPr>
        <p:spPr>
          <a:xfrm>
            <a:off x="7452360" y="5303520"/>
            <a:ext cx="2286000" cy="237744"/>
          </a:xfrm>
          <a:prstGeom prst="rect">
            <a:avLst/>
          </a:prstGeom>
          <a:noFill/>
        </p:spPr>
        <p:txBody>
          <a:bodyPr wrap="square" lIns="0" rIns="0" tIns="0" bIns="0">
            <a:spAutoFit/>
          </a:bodyPr>
          <a:lstStyle/>
          <a:p>
            <a:pPr algn="ctr"/>
            <a:r>
              <a:rPr sz="900" b="0">
                <a:solidFill>
                  <a:srgbClr val="8C8C8C"/>
                </a:solidFill>
                <a:latin typeface="游ゴシック"/>
              </a:rPr>
              <a:t>（写真準備中）</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C98E073B-FCE4-F6FA-66A7-29E757285F77}"/>
              </a:ext>
            </a:extLst>
          </p:cNvPr>
          <p:cNvSpPr>
            <a:spLocks noGrp="1"/>
          </p:cNvSpPr>
          <p:nvPr>
            <p:ph type="ctrTitle"/>
          </p:nvPr>
        </p:nvSpPr>
        <p:spPr/>
        <p:txBody>
          <a:bodyPr/>
          <a:lstStyle/>
          <a:p>
            <a:r>
              <a:rPr>
                <a:latin typeface="游ゴシック" panose="020B0400000000000000" pitchFamily="50" charset="-128"/>
                <a:ea typeface="游ゴシック" panose="020B0400000000000000" pitchFamily="50" charset="-128"/>
              </a:rPr>
              <a:t>制作の流れ</a:t>
            </a:r>
          </a:p>
        </p:txBody>
      </p:sp>
      <p:sp>
        <p:nvSpPr>
          <p:cNvPr id="2" name="タイトル 1">
            <a:extLst>
              <a:ext uri="{FF2B5EF4-FFF2-40B4-BE49-F238E27FC236}">
                <a16:creationId xmlns:a16="http://schemas.microsoft.com/office/drawing/2014/main" id="{1F33762E-23F4-8C5B-C467-2E3E3671C9B0}"/>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spc="0" dirty="0">
                <a:latin typeface="游ゴシック" panose="020B0400000000000000" pitchFamily="50" charset="-128"/>
                <a:ea typeface="游ゴシック" panose="020B0400000000000000" pitchFamily="50" charset="-128"/>
              </a:rPr>
              <a:t>事業概要</a:t>
            </a:r>
          </a:p>
        </p:txBody>
      </p:sp>
      <p:sp>
        <p:nvSpPr>
          <p:cNvPr id="4" name="TextBox 3"/>
          <p:cNvSpPr txBox="1"/>
          <p:nvPr/>
        </p:nvSpPr>
        <p:spPr>
          <a:xfrm>
            <a:off x="460675" y="820000"/>
            <a:ext cx="9781875" cy="461665"/>
          </a:xfrm>
          <a:prstGeom prst="rect">
            <a:avLst/>
          </a:prstGeom>
          <a:noFill/>
        </p:spPr>
        <p:txBody>
          <a:bodyPr wrap="square">
            <a:spAutoFit/>
          </a:bodyPr>
          <a:lstStyle/>
          <a:p>
            <a:r>
              <a:rPr sz="1200">
                <a:latin typeface="游ゴシック" panose="020B0400000000000000" pitchFamily="50" charset="-128"/>
                <a:ea typeface="游ゴシック" panose="020B0400000000000000" pitchFamily="50" charset="-128"/>
              </a:rPr>
              <a:t>お問い合わせから納品まで、企画・デザインは自社で行い、製造は国内外の複数パートナーへ委託。版元様の監修対応からサンプル確認・量産・検品まで一貫して対応します。</a:t>
            </a:r>
          </a:p>
        </p:txBody>
      </p:sp>
      <p:sp>
        <p:nvSpPr>
          <p:cNvPr id="25" name="TextBox 24"/>
          <p:cNvSpPr txBox="1"/>
          <p:nvPr/>
        </p:nvSpPr>
        <p:spPr>
          <a:xfrm>
            <a:off x="311150" y="6144768"/>
            <a:ext cx="10000000" cy="238527"/>
          </a:xfrm>
          <a:prstGeom prst="rect">
            <a:avLst/>
          </a:prstGeom>
          <a:noFill/>
        </p:spPr>
        <p:txBody>
          <a:bodyPr wrap="square">
            <a:spAutoFit/>
          </a:bodyPr>
          <a:lstStyle/>
          <a:p>
            <a:r>
              <a:rPr sz="950">
                <a:solidFill>
                  <a:srgbClr val="595959"/>
                </a:solidFill>
                <a:latin typeface="游ゴシック" panose="020B0400000000000000" pitchFamily="50" charset="-128"/>
                <a:ea typeface="游ゴシック" panose="020B0400000000000000" pitchFamily="50" charset="-128"/>
              </a:rPr>
              <a:t>※ 当社ウェブサイト掲載の「制作の流れ」に基づき作成。各ステップの標準リードタイム・最低ロット等はヒアリングのうえ補記予定です。</a:t>
            </a:r>
          </a:p>
        </p:txBody>
      </p:sp>
      <p:sp>
        <p:nvSpPr>
          <p:cNvPr id="26" name="Rectangle 25"/>
          <p:cNvSpPr/>
          <p:nvPr/>
        </p:nvSpPr>
        <p:spPr>
          <a:xfrm>
            <a:off x="384048" y="1481328"/>
            <a:ext cx="2331720" cy="2084831"/>
          </a:xfrm>
          <a:prstGeom prst="rect">
            <a:avLst/>
          </a:prstGeom>
          <a:solidFill>
            <a:srgbClr val="FFFFFF"/>
          </a:solidFill>
          <a:ln w="9525">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384048" y="1481328"/>
            <a:ext cx="2331720" cy="65836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384048" y="1554480"/>
            <a:ext cx="2331720" cy="219456"/>
          </a:xfrm>
          <a:prstGeom prst="rect">
            <a:avLst/>
          </a:prstGeom>
          <a:noFill/>
        </p:spPr>
        <p:txBody>
          <a:bodyPr wrap="square" lIns="0" rIns="0" tIns="0" bIns="0">
            <a:spAutoFit/>
          </a:bodyPr>
          <a:lstStyle/>
          <a:p>
            <a:pPr algn="ctr"/>
            <a:r>
              <a:rPr sz="950" b="1">
                <a:solidFill>
                  <a:srgbClr val="7FC4E8"/>
                </a:solidFill>
                <a:latin typeface="游ゴシック"/>
              </a:rPr>
              <a:t>STEP 1</a:t>
            </a:r>
          </a:p>
        </p:txBody>
      </p:sp>
      <p:sp>
        <p:nvSpPr>
          <p:cNvPr id="29" name="TextBox 28"/>
          <p:cNvSpPr txBox="1"/>
          <p:nvPr/>
        </p:nvSpPr>
        <p:spPr>
          <a:xfrm>
            <a:off x="384048" y="1792224"/>
            <a:ext cx="2331720" cy="274320"/>
          </a:xfrm>
          <a:prstGeom prst="rect">
            <a:avLst/>
          </a:prstGeom>
          <a:noFill/>
        </p:spPr>
        <p:txBody>
          <a:bodyPr wrap="square" lIns="0" rIns="0" tIns="0" bIns="0">
            <a:spAutoFit/>
          </a:bodyPr>
          <a:lstStyle/>
          <a:p>
            <a:pPr algn="ctr"/>
            <a:r>
              <a:rPr sz="1200" b="1">
                <a:solidFill>
                  <a:srgbClr val="FFFFFF"/>
                </a:solidFill>
                <a:latin typeface="游ゴシック"/>
              </a:rPr>
              <a:t>お問い合わせ</a:t>
            </a:r>
          </a:p>
        </p:txBody>
      </p:sp>
      <p:sp>
        <p:nvSpPr>
          <p:cNvPr id="30" name="TextBox 29"/>
          <p:cNvSpPr txBox="1"/>
          <p:nvPr/>
        </p:nvSpPr>
        <p:spPr>
          <a:xfrm>
            <a:off x="548640" y="2322576"/>
            <a:ext cx="2002536" cy="1097280"/>
          </a:xfrm>
          <a:prstGeom prst="rect">
            <a:avLst/>
          </a:prstGeom>
          <a:noFill/>
        </p:spPr>
        <p:txBody>
          <a:bodyPr wrap="square" lIns="0" rIns="0" tIns="0" bIns="0">
            <a:spAutoFit/>
          </a:bodyPr>
          <a:lstStyle/>
          <a:p>
            <a:pPr algn="l">
              <a:spcAft>
                <a:spcPts val="200"/>
              </a:spcAft>
            </a:pPr>
            <a:r>
              <a:rPr sz="950" b="0">
                <a:solidFill>
                  <a:srgbClr val="0B3041"/>
                </a:solidFill>
                <a:latin typeface="游ゴシック"/>
              </a:rPr>
              <a:t>お電話・メール等でご要望をお伺い</a:t>
            </a:r>
          </a:p>
          <a:p>
            <a:pPr algn="l">
              <a:spcAft>
                <a:spcPts val="200"/>
              </a:spcAft>
            </a:pPr>
            <a:r>
              <a:rPr sz="950" b="0">
                <a:solidFill>
                  <a:srgbClr val="0B3041"/>
                </a:solidFill>
                <a:latin typeface="游ゴシック"/>
              </a:rPr>
              <a:t>します。IP・商材・数量・納期など、</a:t>
            </a:r>
          </a:p>
          <a:p>
            <a:pPr algn="l">
              <a:spcAft>
                <a:spcPts val="200"/>
              </a:spcAft>
            </a:pPr>
            <a:r>
              <a:rPr sz="950" b="0">
                <a:solidFill>
                  <a:srgbClr val="0B3041"/>
                </a:solidFill>
                <a:latin typeface="游ゴシック"/>
              </a:rPr>
              <a:t>企画段階からご相談いただけます。</a:t>
            </a:r>
          </a:p>
        </p:txBody>
      </p:sp>
      <p:sp>
        <p:nvSpPr>
          <p:cNvPr id="31" name="Right Arrow 30"/>
          <p:cNvSpPr/>
          <p:nvPr/>
        </p:nvSpPr>
        <p:spPr>
          <a:xfrm>
            <a:off x="2734056" y="2350008"/>
            <a:ext cx="164592" cy="347472"/>
          </a:xfrm>
          <a:prstGeom prst="rightArrow">
            <a:avLst/>
          </a:prstGeom>
          <a:solidFill>
            <a:srgbClr val="E1F3FB"/>
          </a:solidFill>
          <a:ln w="9525">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2916936" y="1481328"/>
            <a:ext cx="2331720" cy="2084831"/>
          </a:xfrm>
          <a:prstGeom prst="rect">
            <a:avLst/>
          </a:prstGeom>
          <a:solidFill>
            <a:srgbClr val="FFFFFF"/>
          </a:solidFill>
          <a:ln w="9525">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2916936" y="1481328"/>
            <a:ext cx="2331720" cy="65836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2916936" y="1554480"/>
            <a:ext cx="2331720" cy="219456"/>
          </a:xfrm>
          <a:prstGeom prst="rect">
            <a:avLst/>
          </a:prstGeom>
          <a:noFill/>
        </p:spPr>
        <p:txBody>
          <a:bodyPr wrap="square" lIns="0" rIns="0" tIns="0" bIns="0">
            <a:spAutoFit/>
          </a:bodyPr>
          <a:lstStyle/>
          <a:p>
            <a:pPr algn="ctr"/>
            <a:r>
              <a:rPr sz="950" b="1">
                <a:solidFill>
                  <a:srgbClr val="7FC4E8"/>
                </a:solidFill>
                <a:latin typeface="游ゴシック"/>
              </a:rPr>
              <a:t>STEP 2</a:t>
            </a:r>
          </a:p>
        </p:txBody>
      </p:sp>
      <p:sp>
        <p:nvSpPr>
          <p:cNvPr id="35" name="TextBox 34"/>
          <p:cNvSpPr txBox="1"/>
          <p:nvPr/>
        </p:nvSpPr>
        <p:spPr>
          <a:xfrm>
            <a:off x="2916936" y="1792224"/>
            <a:ext cx="2331720" cy="274320"/>
          </a:xfrm>
          <a:prstGeom prst="rect">
            <a:avLst/>
          </a:prstGeom>
          <a:noFill/>
        </p:spPr>
        <p:txBody>
          <a:bodyPr wrap="square" lIns="0" rIns="0" tIns="0" bIns="0">
            <a:spAutoFit/>
          </a:bodyPr>
          <a:lstStyle/>
          <a:p>
            <a:pPr algn="ctr"/>
            <a:r>
              <a:rPr sz="1200" b="1">
                <a:solidFill>
                  <a:srgbClr val="FFFFFF"/>
                </a:solidFill>
                <a:latin typeface="游ゴシック"/>
              </a:rPr>
              <a:t>ご提案</a:t>
            </a:r>
          </a:p>
        </p:txBody>
      </p:sp>
      <p:sp>
        <p:nvSpPr>
          <p:cNvPr id="36" name="TextBox 35"/>
          <p:cNvSpPr txBox="1"/>
          <p:nvPr/>
        </p:nvSpPr>
        <p:spPr>
          <a:xfrm>
            <a:off x="3081528" y="2322576"/>
            <a:ext cx="2002536" cy="1097280"/>
          </a:xfrm>
          <a:prstGeom prst="rect">
            <a:avLst/>
          </a:prstGeom>
          <a:noFill/>
        </p:spPr>
        <p:txBody>
          <a:bodyPr wrap="square" lIns="0" rIns="0" tIns="0" bIns="0">
            <a:spAutoFit/>
          </a:bodyPr>
          <a:lstStyle/>
          <a:p>
            <a:pPr algn="l">
              <a:spcAft>
                <a:spcPts val="200"/>
              </a:spcAft>
            </a:pPr>
            <a:r>
              <a:rPr sz="950" b="0">
                <a:solidFill>
                  <a:srgbClr val="0B3041"/>
                </a:solidFill>
                <a:latin typeface="游ゴシック"/>
              </a:rPr>
              <a:t>ご希望・ご予算・ロットに合わせ、</a:t>
            </a:r>
          </a:p>
          <a:p>
            <a:pPr algn="l">
              <a:spcAft>
                <a:spcPts val="200"/>
              </a:spcAft>
            </a:pPr>
            <a:r>
              <a:rPr sz="950" b="0">
                <a:solidFill>
                  <a:srgbClr val="0B3041"/>
                </a:solidFill>
                <a:latin typeface="游ゴシック"/>
              </a:rPr>
              <a:t>専門スタッフが最適な商材と仕様を</a:t>
            </a:r>
          </a:p>
          <a:p>
            <a:pPr algn="l">
              <a:spcAft>
                <a:spcPts val="200"/>
              </a:spcAft>
            </a:pPr>
            <a:r>
              <a:rPr sz="950" b="0">
                <a:solidFill>
                  <a:srgbClr val="0B3041"/>
                </a:solidFill>
                <a:latin typeface="游ゴシック"/>
              </a:rPr>
              <a:t>ご提案します。</a:t>
            </a:r>
          </a:p>
        </p:txBody>
      </p:sp>
      <p:sp>
        <p:nvSpPr>
          <p:cNvPr id="37" name="Right Arrow 36"/>
          <p:cNvSpPr/>
          <p:nvPr/>
        </p:nvSpPr>
        <p:spPr>
          <a:xfrm>
            <a:off x="5266944" y="2350008"/>
            <a:ext cx="164592" cy="347472"/>
          </a:xfrm>
          <a:prstGeom prst="rightArrow">
            <a:avLst/>
          </a:prstGeom>
          <a:solidFill>
            <a:srgbClr val="E1F3FB"/>
          </a:solidFill>
          <a:ln w="9525">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5449824" y="1481328"/>
            <a:ext cx="2331720" cy="2084831"/>
          </a:xfrm>
          <a:prstGeom prst="rect">
            <a:avLst/>
          </a:prstGeom>
          <a:solidFill>
            <a:srgbClr val="FFFFFF"/>
          </a:solidFill>
          <a:ln w="9525">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5449824" y="1481328"/>
            <a:ext cx="2331720" cy="65836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5449824" y="1554480"/>
            <a:ext cx="2331720" cy="219456"/>
          </a:xfrm>
          <a:prstGeom prst="rect">
            <a:avLst/>
          </a:prstGeom>
          <a:noFill/>
        </p:spPr>
        <p:txBody>
          <a:bodyPr wrap="square" lIns="0" rIns="0" tIns="0" bIns="0">
            <a:spAutoFit/>
          </a:bodyPr>
          <a:lstStyle/>
          <a:p>
            <a:pPr algn="ctr"/>
            <a:r>
              <a:rPr sz="950" b="1">
                <a:solidFill>
                  <a:srgbClr val="7FC4E8"/>
                </a:solidFill>
                <a:latin typeface="游ゴシック"/>
              </a:rPr>
              <a:t>STEP 3</a:t>
            </a:r>
          </a:p>
        </p:txBody>
      </p:sp>
      <p:sp>
        <p:nvSpPr>
          <p:cNvPr id="41" name="TextBox 40"/>
          <p:cNvSpPr txBox="1"/>
          <p:nvPr/>
        </p:nvSpPr>
        <p:spPr>
          <a:xfrm>
            <a:off x="5449824" y="1792224"/>
            <a:ext cx="2331720" cy="274320"/>
          </a:xfrm>
          <a:prstGeom prst="rect">
            <a:avLst/>
          </a:prstGeom>
          <a:noFill/>
        </p:spPr>
        <p:txBody>
          <a:bodyPr wrap="square" lIns="0" rIns="0" tIns="0" bIns="0">
            <a:spAutoFit/>
          </a:bodyPr>
          <a:lstStyle/>
          <a:p>
            <a:pPr algn="ctr"/>
            <a:r>
              <a:rPr sz="1200" b="1">
                <a:solidFill>
                  <a:srgbClr val="FFFFFF"/>
                </a:solidFill>
                <a:latin typeface="游ゴシック"/>
              </a:rPr>
              <a:t>お見積り</a:t>
            </a:r>
          </a:p>
        </p:txBody>
      </p:sp>
      <p:sp>
        <p:nvSpPr>
          <p:cNvPr id="42" name="TextBox 41"/>
          <p:cNvSpPr txBox="1"/>
          <p:nvPr/>
        </p:nvSpPr>
        <p:spPr>
          <a:xfrm>
            <a:off x="5614416" y="2322576"/>
            <a:ext cx="2002536" cy="1097280"/>
          </a:xfrm>
          <a:prstGeom prst="rect">
            <a:avLst/>
          </a:prstGeom>
          <a:noFill/>
        </p:spPr>
        <p:txBody>
          <a:bodyPr wrap="square" lIns="0" rIns="0" tIns="0" bIns="0">
            <a:spAutoFit/>
          </a:bodyPr>
          <a:lstStyle/>
          <a:p>
            <a:pPr algn="l">
              <a:spcAft>
                <a:spcPts val="200"/>
              </a:spcAft>
            </a:pPr>
            <a:r>
              <a:rPr sz="950" b="0">
                <a:solidFill>
                  <a:srgbClr val="0B3041"/>
                </a:solidFill>
                <a:latin typeface="游ゴシック"/>
              </a:rPr>
              <a:t>ご提案内容・仕様・数量に基づき、</a:t>
            </a:r>
          </a:p>
          <a:p>
            <a:pPr algn="l">
              <a:spcAft>
                <a:spcPts val="200"/>
              </a:spcAft>
            </a:pPr>
            <a:r>
              <a:rPr sz="950" b="0">
                <a:solidFill>
                  <a:srgbClr val="0B3041"/>
                </a:solidFill>
                <a:latin typeface="游ゴシック"/>
              </a:rPr>
              <a:t>お見積りを提出します。</a:t>
            </a:r>
          </a:p>
        </p:txBody>
      </p:sp>
      <p:sp>
        <p:nvSpPr>
          <p:cNvPr id="43" name="Right Arrow 42"/>
          <p:cNvSpPr/>
          <p:nvPr/>
        </p:nvSpPr>
        <p:spPr>
          <a:xfrm>
            <a:off x="7799831" y="2350008"/>
            <a:ext cx="164592" cy="347472"/>
          </a:xfrm>
          <a:prstGeom prst="rightArrow">
            <a:avLst/>
          </a:prstGeom>
          <a:solidFill>
            <a:srgbClr val="E1F3FB"/>
          </a:solidFill>
          <a:ln w="9525">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7982712" y="1481328"/>
            <a:ext cx="2331720" cy="2084831"/>
          </a:xfrm>
          <a:prstGeom prst="rect">
            <a:avLst/>
          </a:prstGeom>
          <a:solidFill>
            <a:srgbClr val="FFFFFF"/>
          </a:solidFill>
          <a:ln w="9525">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ectangle 44"/>
          <p:cNvSpPr/>
          <p:nvPr/>
        </p:nvSpPr>
        <p:spPr>
          <a:xfrm>
            <a:off x="7982712" y="1481328"/>
            <a:ext cx="2331720" cy="65836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7982712" y="1554480"/>
            <a:ext cx="2331720" cy="219456"/>
          </a:xfrm>
          <a:prstGeom prst="rect">
            <a:avLst/>
          </a:prstGeom>
          <a:noFill/>
        </p:spPr>
        <p:txBody>
          <a:bodyPr wrap="square" lIns="0" rIns="0" tIns="0" bIns="0">
            <a:spAutoFit/>
          </a:bodyPr>
          <a:lstStyle/>
          <a:p>
            <a:pPr algn="ctr"/>
            <a:r>
              <a:rPr sz="950" b="1">
                <a:solidFill>
                  <a:srgbClr val="7FC4E8"/>
                </a:solidFill>
                <a:latin typeface="游ゴシック"/>
              </a:rPr>
              <a:t>STEP 4</a:t>
            </a:r>
          </a:p>
        </p:txBody>
      </p:sp>
      <p:sp>
        <p:nvSpPr>
          <p:cNvPr id="47" name="TextBox 46"/>
          <p:cNvSpPr txBox="1"/>
          <p:nvPr/>
        </p:nvSpPr>
        <p:spPr>
          <a:xfrm>
            <a:off x="7982712" y="1792224"/>
            <a:ext cx="2331720" cy="274320"/>
          </a:xfrm>
          <a:prstGeom prst="rect">
            <a:avLst/>
          </a:prstGeom>
          <a:noFill/>
        </p:spPr>
        <p:txBody>
          <a:bodyPr wrap="square" lIns="0" rIns="0" tIns="0" bIns="0">
            <a:spAutoFit/>
          </a:bodyPr>
          <a:lstStyle/>
          <a:p>
            <a:pPr algn="ctr"/>
            <a:r>
              <a:rPr sz="1200" b="1">
                <a:solidFill>
                  <a:srgbClr val="FFFFFF"/>
                </a:solidFill>
                <a:latin typeface="游ゴシック"/>
              </a:rPr>
              <a:t>ご発注</a:t>
            </a:r>
          </a:p>
        </p:txBody>
      </p:sp>
      <p:sp>
        <p:nvSpPr>
          <p:cNvPr id="48" name="TextBox 47"/>
          <p:cNvSpPr txBox="1"/>
          <p:nvPr/>
        </p:nvSpPr>
        <p:spPr>
          <a:xfrm>
            <a:off x="8147304" y="2322576"/>
            <a:ext cx="2002536" cy="1097280"/>
          </a:xfrm>
          <a:prstGeom prst="rect">
            <a:avLst/>
          </a:prstGeom>
          <a:noFill/>
        </p:spPr>
        <p:txBody>
          <a:bodyPr wrap="square" lIns="0" rIns="0" tIns="0" bIns="0">
            <a:spAutoFit/>
          </a:bodyPr>
          <a:lstStyle/>
          <a:p>
            <a:pPr algn="l">
              <a:spcAft>
                <a:spcPts val="200"/>
              </a:spcAft>
            </a:pPr>
            <a:r>
              <a:rPr sz="950" b="0">
                <a:solidFill>
                  <a:srgbClr val="0B3041"/>
                </a:solidFill>
                <a:latin typeface="游ゴシック"/>
              </a:rPr>
              <a:t>仕様・価格・納期をご確認のうえ、</a:t>
            </a:r>
          </a:p>
          <a:p>
            <a:pPr algn="l">
              <a:spcAft>
                <a:spcPts val="200"/>
              </a:spcAft>
            </a:pPr>
            <a:r>
              <a:rPr sz="950" b="0">
                <a:solidFill>
                  <a:srgbClr val="0B3041"/>
                </a:solidFill>
                <a:latin typeface="游ゴシック"/>
              </a:rPr>
              <a:t>正式にご発注いただきます。</a:t>
            </a:r>
          </a:p>
        </p:txBody>
      </p:sp>
      <p:sp>
        <p:nvSpPr>
          <p:cNvPr id="49" name="Rectangle 48"/>
          <p:cNvSpPr/>
          <p:nvPr/>
        </p:nvSpPr>
        <p:spPr>
          <a:xfrm>
            <a:off x="384048" y="3858768"/>
            <a:ext cx="2331720" cy="2084831"/>
          </a:xfrm>
          <a:prstGeom prst="rect">
            <a:avLst/>
          </a:prstGeom>
          <a:solidFill>
            <a:srgbClr val="FFFFFF"/>
          </a:solidFill>
          <a:ln w="9525">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Rectangle 49"/>
          <p:cNvSpPr/>
          <p:nvPr/>
        </p:nvSpPr>
        <p:spPr>
          <a:xfrm>
            <a:off x="384048" y="3858768"/>
            <a:ext cx="2331720" cy="65836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384048" y="3931920"/>
            <a:ext cx="2331720" cy="219456"/>
          </a:xfrm>
          <a:prstGeom prst="rect">
            <a:avLst/>
          </a:prstGeom>
          <a:noFill/>
        </p:spPr>
        <p:txBody>
          <a:bodyPr wrap="square" lIns="0" rIns="0" tIns="0" bIns="0">
            <a:spAutoFit/>
          </a:bodyPr>
          <a:lstStyle/>
          <a:p>
            <a:pPr algn="ctr"/>
            <a:r>
              <a:rPr sz="950" b="1">
                <a:solidFill>
                  <a:srgbClr val="7FC4E8"/>
                </a:solidFill>
                <a:latin typeface="游ゴシック"/>
              </a:rPr>
              <a:t>STEP 5</a:t>
            </a:r>
          </a:p>
        </p:txBody>
      </p:sp>
      <p:sp>
        <p:nvSpPr>
          <p:cNvPr id="52" name="TextBox 51"/>
          <p:cNvSpPr txBox="1"/>
          <p:nvPr/>
        </p:nvSpPr>
        <p:spPr>
          <a:xfrm>
            <a:off x="384048" y="4169663"/>
            <a:ext cx="2331720" cy="274320"/>
          </a:xfrm>
          <a:prstGeom prst="rect">
            <a:avLst/>
          </a:prstGeom>
          <a:noFill/>
        </p:spPr>
        <p:txBody>
          <a:bodyPr wrap="square" lIns="0" rIns="0" tIns="0" bIns="0">
            <a:spAutoFit/>
          </a:bodyPr>
          <a:lstStyle/>
          <a:p>
            <a:pPr algn="ctr"/>
            <a:r>
              <a:rPr sz="1200" b="1">
                <a:solidFill>
                  <a:srgbClr val="FFFFFF"/>
                </a:solidFill>
                <a:latin typeface="游ゴシック"/>
              </a:rPr>
              <a:t>デザイン確認</a:t>
            </a:r>
          </a:p>
        </p:txBody>
      </p:sp>
      <p:sp>
        <p:nvSpPr>
          <p:cNvPr id="53" name="TextBox 52"/>
          <p:cNvSpPr txBox="1"/>
          <p:nvPr/>
        </p:nvSpPr>
        <p:spPr>
          <a:xfrm>
            <a:off x="548640" y="4700016"/>
            <a:ext cx="2002536" cy="1097280"/>
          </a:xfrm>
          <a:prstGeom prst="rect">
            <a:avLst/>
          </a:prstGeom>
          <a:noFill/>
        </p:spPr>
        <p:txBody>
          <a:bodyPr wrap="square" lIns="0" rIns="0" tIns="0" bIns="0">
            <a:spAutoFit/>
          </a:bodyPr>
          <a:lstStyle/>
          <a:p>
            <a:pPr algn="l">
              <a:spcAft>
                <a:spcPts val="200"/>
              </a:spcAft>
            </a:pPr>
            <a:r>
              <a:rPr sz="950" b="0">
                <a:solidFill>
                  <a:srgbClr val="0B3041"/>
                </a:solidFill>
                <a:latin typeface="游ゴシック"/>
              </a:rPr>
              <a:t>デザインデータを作成し、版元様・</a:t>
            </a:r>
          </a:p>
          <a:p>
            <a:pPr algn="l">
              <a:spcAft>
                <a:spcPts val="200"/>
              </a:spcAft>
            </a:pPr>
            <a:r>
              <a:rPr sz="950" b="0">
                <a:solidFill>
                  <a:srgbClr val="0B3041"/>
                </a:solidFill>
                <a:latin typeface="游ゴシック"/>
              </a:rPr>
              <a:t>お客様による校正・監修を経て</a:t>
            </a:r>
          </a:p>
          <a:p>
            <a:pPr algn="l">
              <a:spcAft>
                <a:spcPts val="200"/>
              </a:spcAft>
            </a:pPr>
            <a:r>
              <a:rPr sz="950" b="0">
                <a:solidFill>
                  <a:srgbClr val="0B3041"/>
                </a:solidFill>
                <a:latin typeface="游ゴシック"/>
              </a:rPr>
              <a:t>デザインを確定します。</a:t>
            </a:r>
          </a:p>
        </p:txBody>
      </p:sp>
      <p:sp>
        <p:nvSpPr>
          <p:cNvPr id="54" name="Right Arrow 53"/>
          <p:cNvSpPr/>
          <p:nvPr/>
        </p:nvSpPr>
        <p:spPr>
          <a:xfrm>
            <a:off x="2734056" y="4727448"/>
            <a:ext cx="164592" cy="347472"/>
          </a:xfrm>
          <a:prstGeom prst="rightArrow">
            <a:avLst/>
          </a:prstGeom>
          <a:solidFill>
            <a:srgbClr val="E1F3FB"/>
          </a:solidFill>
          <a:ln w="9525">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Rectangle 54"/>
          <p:cNvSpPr/>
          <p:nvPr/>
        </p:nvSpPr>
        <p:spPr>
          <a:xfrm>
            <a:off x="2916936" y="3858768"/>
            <a:ext cx="2331720" cy="2084831"/>
          </a:xfrm>
          <a:prstGeom prst="rect">
            <a:avLst/>
          </a:prstGeom>
          <a:solidFill>
            <a:srgbClr val="FFFFFF"/>
          </a:solidFill>
          <a:ln w="9525">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Rectangle 55"/>
          <p:cNvSpPr/>
          <p:nvPr/>
        </p:nvSpPr>
        <p:spPr>
          <a:xfrm>
            <a:off x="2916936" y="3858768"/>
            <a:ext cx="2331720" cy="65836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2916936" y="3931920"/>
            <a:ext cx="2331720" cy="219456"/>
          </a:xfrm>
          <a:prstGeom prst="rect">
            <a:avLst/>
          </a:prstGeom>
          <a:noFill/>
        </p:spPr>
        <p:txBody>
          <a:bodyPr wrap="square" lIns="0" rIns="0" tIns="0" bIns="0">
            <a:spAutoFit/>
          </a:bodyPr>
          <a:lstStyle/>
          <a:p>
            <a:pPr algn="ctr"/>
            <a:r>
              <a:rPr sz="950" b="1">
                <a:solidFill>
                  <a:srgbClr val="7FC4E8"/>
                </a:solidFill>
                <a:latin typeface="游ゴシック"/>
              </a:rPr>
              <a:t>STEP 6</a:t>
            </a:r>
          </a:p>
        </p:txBody>
      </p:sp>
      <p:sp>
        <p:nvSpPr>
          <p:cNvPr id="58" name="TextBox 57"/>
          <p:cNvSpPr txBox="1"/>
          <p:nvPr/>
        </p:nvSpPr>
        <p:spPr>
          <a:xfrm>
            <a:off x="2916936" y="4169663"/>
            <a:ext cx="2331720" cy="274320"/>
          </a:xfrm>
          <a:prstGeom prst="rect">
            <a:avLst/>
          </a:prstGeom>
          <a:noFill/>
        </p:spPr>
        <p:txBody>
          <a:bodyPr wrap="square" lIns="0" rIns="0" tIns="0" bIns="0">
            <a:spAutoFit/>
          </a:bodyPr>
          <a:lstStyle/>
          <a:p>
            <a:pPr algn="ctr"/>
            <a:r>
              <a:rPr sz="1200" b="1">
                <a:solidFill>
                  <a:srgbClr val="FFFFFF"/>
                </a:solidFill>
                <a:latin typeface="游ゴシック"/>
              </a:rPr>
              <a:t>サンプル確認</a:t>
            </a:r>
          </a:p>
        </p:txBody>
      </p:sp>
      <p:sp>
        <p:nvSpPr>
          <p:cNvPr id="59" name="TextBox 58"/>
          <p:cNvSpPr txBox="1"/>
          <p:nvPr/>
        </p:nvSpPr>
        <p:spPr>
          <a:xfrm>
            <a:off x="3081528" y="4700016"/>
            <a:ext cx="2002536" cy="1097280"/>
          </a:xfrm>
          <a:prstGeom prst="rect">
            <a:avLst/>
          </a:prstGeom>
          <a:noFill/>
        </p:spPr>
        <p:txBody>
          <a:bodyPr wrap="square" lIns="0" rIns="0" tIns="0" bIns="0">
            <a:spAutoFit/>
          </a:bodyPr>
          <a:lstStyle/>
          <a:p>
            <a:pPr algn="l">
              <a:spcAft>
                <a:spcPts val="200"/>
              </a:spcAft>
            </a:pPr>
            <a:r>
              <a:rPr sz="950" b="0">
                <a:solidFill>
                  <a:srgbClr val="0B3041"/>
                </a:solidFill>
                <a:latin typeface="游ゴシック"/>
              </a:rPr>
              <a:t>量産前にサンプルを製作し、色味・</a:t>
            </a:r>
          </a:p>
          <a:p>
            <a:pPr algn="l">
              <a:spcAft>
                <a:spcPts val="200"/>
              </a:spcAft>
            </a:pPr>
            <a:r>
              <a:rPr sz="950" b="0">
                <a:solidFill>
                  <a:srgbClr val="0B3041"/>
                </a:solidFill>
                <a:latin typeface="游ゴシック"/>
              </a:rPr>
              <a:t>素材・仕上がりをご確認いただき</a:t>
            </a:r>
          </a:p>
          <a:p>
            <a:pPr algn="l">
              <a:spcAft>
                <a:spcPts val="200"/>
              </a:spcAft>
            </a:pPr>
            <a:r>
              <a:rPr sz="950" b="0">
                <a:solidFill>
                  <a:srgbClr val="0B3041"/>
                </a:solidFill>
                <a:latin typeface="游ゴシック"/>
              </a:rPr>
              <a:t>ます。</a:t>
            </a:r>
          </a:p>
        </p:txBody>
      </p:sp>
      <p:sp>
        <p:nvSpPr>
          <p:cNvPr id="60" name="Right Arrow 59"/>
          <p:cNvSpPr/>
          <p:nvPr/>
        </p:nvSpPr>
        <p:spPr>
          <a:xfrm>
            <a:off x="5266944" y="4727448"/>
            <a:ext cx="164592" cy="347472"/>
          </a:xfrm>
          <a:prstGeom prst="rightArrow">
            <a:avLst/>
          </a:prstGeom>
          <a:solidFill>
            <a:srgbClr val="E1F3FB"/>
          </a:solidFill>
          <a:ln w="9525">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Rectangle 60"/>
          <p:cNvSpPr/>
          <p:nvPr/>
        </p:nvSpPr>
        <p:spPr>
          <a:xfrm>
            <a:off x="5449824" y="3858768"/>
            <a:ext cx="2331720" cy="2084831"/>
          </a:xfrm>
          <a:prstGeom prst="rect">
            <a:avLst/>
          </a:prstGeom>
          <a:solidFill>
            <a:srgbClr val="FFFFFF"/>
          </a:solidFill>
          <a:ln w="9525">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Rectangle 61"/>
          <p:cNvSpPr/>
          <p:nvPr/>
        </p:nvSpPr>
        <p:spPr>
          <a:xfrm>
            <a:off x="5449824" y="3858768"/>
            <a:ext cx="2331720" cy="65836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TextBox 62"/>
          <p:cNvSpPr txBox="1"/>
          <p:nvPr/>
        </p:nvSpPr>
        <p:spPr>
          <a:xfrm>
            <a:off x="5449824" y="3931920"/>
            <a:ext cx="2331720" cy="219456"/>
          </a:xfrm>
          <a:prstGeom prst="rect">
            <a:avLst/>
          </a:prstGeom>
          <a:noFill/>
        </p:spPr>
        <p:txBody>
          <a:bodyPr wrap="square" lIns="0" rIns="0" tIns="0" bIns="0">
            <a:spAutoFit/>
          </a:bodyPr>
          <a:lstStyle/>
          <a:p>
            <a:pPr algn="ctr"/>
            <a:r>
              <a:rPr sz="950" b="1">
                <a:solidFill>
                  <a:srgbClr val="7FC4E8"/>
                </a:solidFill>
                <a:latin typeface="游ゴシック"/>
              </a:rPr>
              <a:t>STEP 7</a:t>
            </a:r>
          </a:p>
        </p:txBody>
      </p:sp>
      <p:sp>
        <p:nvSpPr>
          <p:cNvPr id="64" name="TextBox 63"/>
          <p:cNvSpPr txBox="1"/>
          <p:nvPr/>
        </p:nvSpPr>
        <p:spPr>
          <a:xfrm>
            <a:off x="5449824" y="4169663"/>
            <a:ext cx="2331720" cy="274320"/>
          </a:xfrm>
          <a:prstGeom prst="rect">
            <a:avLst/>
          </a:prstGeom>
          <a:noFill/>
        </p:spPr>
        <p:txBody>
          <a:bodyPr wrap="square" lIns="0" rIns="0" tIns="0" bIns="0">
            <a:spAutoFit/>
          </a:bodyPr>
          <a:lstStyle/>
          <a:p>
            <a:pPr algn="ctr"/>
            <a:r>
              <a:rPr sz="1200" b="1">
                <a:solidFill>
                  <a:srgbClr val="FFFFFF"/>
                </a:solidFill>
                <a:latin typeface="游ゴシック"/>
              </a:rPr>
              <a:t>本生産・納品</a:t>
            </a:r>
          </a:p>
        </p:txBody>
      </p:sp>
      <p:sp>
        <p:nvSpPr>
          <p:cNvPr id="65" name="TextBox 64"/>
          <p:cNvSpPr txBox="1"/>
          <p:nvPr/>
        </p:nvSpPr>
        <p:spPr>
          <a:xfrm>
            <a:off x="5614416" y="4700016"/>
            <a:ext cx="2002536" cy="1097280"/>
          </a:xfrm>
          <a:prstGeom prst="rect">
            <a:avLst/>
          </a:prstGeom>
          <a:noFill/>
        </p:spPr>
        <p:txBody>
          <a:bodyPr wrap="square" lIns="0" rIns="0" tIns="0" bIns="0">
            <a:spAutoFit/>
          </a:bodyPr>
          <a:lstStyle/>
          <a:p>
            <a:pPr algn="l">
              <a:spcAft>
                <a:spcPts val="200"/>
              </a:spcAft>
            </a:pPr>
            <a:r>
              <a:rPr sz="950" b="0">
                <a:solidFill>
                  <a:srgbClr val="0B3041"/>
                </a:solidFill>
                <a:latin typeface="游ゴシック"/>
              </a:rPr>
              <a:t>海外（中国等）・国内の製造パート</a:t>
            </a:r>
          </a:p>
          <a:p>
            <a:pPr algn="l">
              <a:spcAft>
                <a:spcPts val="200"/>
              </a:spcAft>
            </a:pPr>
            <a:r>
              <a:rPr sz="950" b="0">
                <a:solidFill>
                  <a:srgbClr val="0B3041"/>
                </a:solidFill>
                <a:latin typeface="游ゴシック"/>
              </a:rPr>
              <a:t>ナーへ委託して量産し、検品のうえ</a:t>
            </a:r>
          </a:p>
          <a:p>
            <a:pPr algn="l">
              <a:spcAft>
                <a:spcPts val="200"/>
              </a:spcAft>
            </a:pPr>
            <a:r>
              <a:rPr sz="950" b="0">
                <a:solidFill>
                  <a:srgbClr val="0B3041"/>
                </a:solidFill>
                <a:latin typeface="游ゴシック"/>
              </a:rPr>
              <a:t>納品します。</a:t>
            </a:r>
          </a:p>
        </p:txBody>
      </p:sp>
      <p:sp>
        <p:nvSpPr>
          <p:cNvPr id="66" name="Rectangle 65"/>
          <p:cNvSpPr/>
          <p:nvPr/>
        </p:nvSpPr>
        <p:spPr>
          <a:xfrm>
            <a:off x="7982712" y="3858768"/>
            <a:ext cx="2331720" cy="2084831"/>
          </a:xfrm>
          <a:prstGeom prst="rect">
            <a:avLst/>
          </a:prstGeom>
          <a:solidFill>
            <a:srgbClr val="E1F3FB"/>
          </a:solidFill>
          <a:ln w="9525">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Rectangle 66"/>
          <p:cNvSpPr/>
          <p:nvPr/>
        </p:nvSpPr>
        <p:spPr>
          <a:xfrm>
            <a:off x="7982712" y="3858768"/>
            <a:ext cx="2331720" cy="658368"/>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Box 67"/>
          <p:cNvSpPr txBox="1"/>
          <p:nvPr/>
        </p:nvSpPr>
        <p:spPr>
          <a:xfrm>
            <a:off x="7982712" y="4059936"/>
            <a:ext cx="2331720" cy="274320"/>
          </a:xfrm>
          <a:prstGeom prst="rect">
            <a:avLst/>
          </a:prstGeom>
          <a:noFill/>
        </p:spPr>
        <p:txBody>
          <a:bodyPr wrap="square" lIns="0" rIns="0" tIns="0" bIns="0">
            <a:spAutoFit/>
          </a:bodyPr>
          <a:lstStyle/>
          <a:p>
            <a:pPr algn="ctr"/>
            <a:r>
              <a:rPr sz="1300" b="1">
                <a:solidFill>
                  <a:srgbClr val="FFFFFF"/>
                </a:solidFill>
                <a:latin typeface="游ゴシック"/>
              </a:rPr>
              <a:t>Point</a:t>
            </a:r>
          </a:p>
        </p:txBody>
      </p:sp>
      <p:sp>
        <p:nvSpPr>
          <p:cNvPr id="69" name="TextBox 68"/>
          <p:cNvSpPr txBox="1"/>
          <p:nvPr/>
        </p:nvSpPr>
        <p:spPr>
          <a:xfrm>
            <a:off x="8147304" y="4663440"/>
            <a:ext cx="2002536" cy="1188720"/>
          </a:xfrm>
          <a:prstGeom prst="rect">
            <a:avLst/>
          </a:prstGeom>
          <a:noFill/>
        </p:spPr>
        <p:txBody>
          <a:bodyPr wrap="square" lIns="0" rIns="0" tIns="0" bIns="0">
            <a:spAutoFit/>
          </a:bodyPr>
          <a:lstStyle/>
          <a:p>
            <a:pPr algn="l">
              <a:spcAft>
                <a:spcPts val="100"/>
              </a:spcAft>
            </a:pPr>
            <a:r>
              <a:rPr sz="950" b="0">
                <a:solidFill>
                  <a:srgbClr val="0B3041"/>
                </a:solidFill>
                <a:latin typeface="游ゴシック"/>
              </a:rPr>
              <a:t>企画・デザインは自社、製造は</a:t>
            </a:r>
          </a:p>
          <a:p>
            <a:pPr algn="l">
              <a:spcAft>
                <a:spcPts val="100"/>
              </a:spcAft>
            </a:pPr>
            <a:r>
              <a:rPr sz="950" b="0">
                <a:solidFill>
                  <a:srgbClr val="0B3041"/>
                </a:solidFill>
                <a:latin typeface="游ゴシック"/>
              </a:rPr>
              <a:t>外部委託のファブレス体制。</a:t>
            </a:r>
          </a:p>
          <a:p>
            <a:pPr algn="l">
              <a:spcAft>
                <a:spcPts val="100"/>
              </a:spcAft>
            </a:pPr>
            <a:r>
              <a:rPr sz="950" b="0">
                <a:solidFill>
                  <a:srgbClr val="0B3041"/>
                </a:solidFill>
                <a:latin typeface="游ゴシック"/>
              </a:rPr>
              <a:t>大ロットは主に中国、小ロット・</a:t>
            </a:r>
          </a:p>
          <a:p>
            <a:pPr algn="l">
              <a:spcAft>
                <a:spcPts val="100"/>
              </a:spcAft>
            </a:pPr>
            <a:r>
              <a:rPr sz="950" b="0">
                <a:solidFill>
                  <a:srgbClr val="0B3041"/>
                </a:solidFill>
                <a:latin typeface="游ゴシック"/>
              </a:rPr>
              <a:t>特殊加工は国内専門メーカーを</a:t>
            </a:r>
          </a:p>
          <a:p>
            <a:pPr algn="l">
              <a:spcAft>
                <a:spcPts val="100"/>
              </a:spcAft>
            </a:pPr>
            <a:r>
              <a:rPr sz="950" b="0">
                <a:solidFill>
                  <a:srgbClr val="0B3041"/>
                </a:solidFill>
                <a:latin typeface="游ゴシック"/>
              </a:rPr>
              <a:t>活用し、商材・数量に応じた</a:t>
            </a:r>
          </a:p>
          <a:p>
            <a:pPr algn="l">
              <a:spcAft>
                <a:spcPts val="100"/>
              </a:spcAft>
            </a:pPr>
            <a:r>
              <a:rPr sz="950" b="0">
                <a:solidFill>
                  <a:srgbClr val="0B3041"/>
                </a:solidFill>
                <a:latin typeface="游ゴシック"/>
              </a:rPr>
              <a:t>生産体制を構築しています。</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正方形/長方形 15">
            <a:extLst>
              <a:ext uri="{FF2B5EF4-FFF2-40B4-BE49-F238E27FC236}">
                <a16:creationId xmlns:a16="http://schemas.microsoft.com/office/drawing/2014/main" id="{C40E5E72-4BCD-E861-A1A2-154E947EEC6C}"/>
              </a:ext>
            </a:extLst>
          </p:cNvPr>
          <p:cNvSpPr/>
          <p:nvPr/>
        </p:nvSpPr>
        <p:spPr>
          <a:xfrm>
            <a:off x="449262" y="1127688"/>
            <a:ext cx="9793287" cy="165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sp>
        <p:nvSpPr>
          <p:cNvPr id="14" name="テキスト ボックス 13">
            <a:extLst>
              <a:ext uri="{FF2B5EF4-FFF2-40B4-BE49-F238E27FC236}">
                <a16:creationId xmlns:a16="http://schemas.microsoft.com/office/drawing/2014/main" id="{E4EAC5C5-4B19-168C-44C3-D63B9FCB0292}"/>
              </a:ext>
            </a:extLst>
          </p:cNvPr>
          <p:cNvSpPr txBox="1"/>
          <p:nvPr/>
        </p:nvSpPr>
        <p:spPr>
          <a:xfrm>
            <a:off x="2114550" y="1554265"/>
            <a:ext cx="7768831" cy="802848"/>
          </a:xfrm>
          <a:prstGeom prst="rect">
            <a:avLst/>
          </a:prstGeom>
          <a:noFill/>
        </p:spPr>
        <p:txBody>
          <a:bodyPr wrap="square" lIns="0" tIns="0" rIns="0" bIns="0" rtlCol="0" anchor="ctr">
            <a:spAutoFit/>
          </a:bodyPr>
          <a:lstStyle/>
          <a:p>
            <a:pPr algn="l">
              <a:lnSpc>
                <a:spcPct val="120000"/>
              </a:lnSpc>
              <a:spcAft>
                <a:spcPts val="600"/>
              </a:spcAft>
            </a:pPr>
            <a:r>
              <a:rPr sz="1100" b="1">
                <a:latin typeface="+mj-ea"/>
                <a:ea typeface="+mj-ea"/>
              </a:rPr>
              <a:t>大手IPホルダーとの継続取引</a:t>
            </a:r>
            <a:endParaRPr lang="en-US" altLang="ja-JP" sz="1600" b="1" spc="30" dirty="0">
              <a:solidFill>
                <a:schemeClr val="tx2"/>
              </a:solidFill>
              <a:latin typeface="+mj-ea"/>
              <a:ea typeface="+mj-ea"/>
            </a:endParaRPr>
          </a:p>
          <a:p>
            <a:pPr algn="l"/>
            <a:r>
              <a:rPr sz="1100" b="1">
                <a:latin typeface="+mj-ea"/>
                <a:ea typeface="+mj-ea"/>
              </a:rPr>
              <a:t>㈱セガ・㈱KADOKAWA Game Linkage・㈱ムービック等、アニメ・ゲームの大手版元と複数期にわたる継続的な商品化取引を有し、安定した受注基盤を構築。</a:t>
            </a:r>
          </a:p>
        </p:txBody>
      </p:sp>
      <p:sp>
        <p:nvSpPr>
          <p:cNvPr id="3" name="タイトル 2">
            <a:extLst>
              <a:ext uri="{FF2B5EF4-FFF2-40B4-BE49-F238E27FC236}">
                <a16:creationId xmlns:a16="http://schemas.microsoft.com/office/drawing/2014/main" id="{3DD08FDB-DE43-2BEC-7657-AFC65253B448}"/>
              </a:ext>
            </a:extLst>
          </p:cNvPr>
          <p:cNvSpPr>
            <a:spLocks noGrp="1"/>
          </p:cNvSpPr>
          <p:nvPr>
            <p:ph type="ctrTitle"/>
          </p:nvPr>
        </p:nvSpPr>
        <p:spPr/>
        <p:txBody>
          <a:bodyPr/>
          <a:lstStyle/>
          <a:p>
            <a:r>
              <a:rPr lang="ja-JP" altLang="en-US" dirty="0"/>
              <a:t>特徴、強み、成長性等</a:t>
            </a:r>
          </a:p>
        </p:txBody>
      </p:sp>
      <p:sp>
        <p:nvSpPr>
          <p:cNvPr id="2" name="タイトル 1">
            <a:extLst>
              <a:ext uri="{FF2B5EF4-FFF2-40B4-BE49-F238E27FC236}">
                <a16:creationId xmlns:a16="http://schemas.microsoft.com/office/drawing/2014/main" id="{0A4FF749-E8A2-9754-A990-0C08664F52BF}"/>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spc="0" dirty="0"/>
              <a:t>事業概要</a:t>
            </a:r>
          </a:p>
        </p:txBody>
      </p:sp>
      <p:cxnSp>
        <p:nvCxnSpPr>
          <p:cNvPr id="4" name="直線コネクタ 3">
            <a:extLst>
              <a:ext uri="{FF2B5EF4-FFF2-40B4-BE49-F238E27FC236}">
                <a16:creationId xmlns:a16="http://schemas.microsoft.com/office/drawing/2014/main" id="{15777771-F922-A7C4-D3CB-74B58B03FF57}"/>
              </a:ext>
            </a:extLst>
          </p:cNvPr>
          <p:cNvCxnSpPr>
            <a:cxnSpLocks/>
          </p:cNvCxnSpPr>
          <p:nvPr/>
        </p:nvCxnSpPr>
        <p:spPr>
          <a:xfrm>
            <a:off x="449263" y="1123117"/>
            <a:ext cx="0" cy="1656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12" name="正方形/長方形 11">
            <a:extLst>
              <a:ext uri="{FF2B5EF4-FFF2-40B4-BE49-F238E27FC236}">
                <a16:creationId xmlns:a16="http://schemas.microsoft.com/office/drawing/2014/main" id="{4D234CEC-3A04-0F25-446A-5400388CA526}"/>
              </a:ext>
            </a:extLst>
          </p:cNvPr>
          <p:cNvSpPr/>
          <p:nvPr/>
        </p:nvSpPr>
        <p:spPr>
          <a:xfrm>
            <a:off x="647115" y="1469688"/>
            <a:ext cx="1191210" cy="97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lnSpc>
                <a:spcPct val="120000"/>
              </a:lnSpc>
              <a:buClr>
                <a:schemeClr val="tx2"/>
              </a:buClr>
              <a:buSzPct val="80000"/>
            </a:pPr>
            <a:r>
              <a:rPr lang="ja-JP" altLang="en-US" b="1" spc="70" dirty="0">
                <a:solidFill>
                  <a:schemeClr val="bg1"/>
                </a:solidFill>
                <a:latin typeface="+mj-ea"/>
                <a:ea typeface="+mj-ea"/>
              </a:rPr>
              <a:t>特徴</a:t>
            </a:r>
            <a:endParaRPr lang="en-US" altLang="ja-JP" b="1" spc="70" dirty="0">
              <a:solidFill>
                <a:schemeClr val="bg1"/>
              </a:solidFill>
              <a:latin typeface="+mj-ea"/>
              <a:ea typeface="+mj-ea"/>
            </a:endParaRPr>
          </a:p>
        </p:txBody>
      </p:sp>
      <p:sp>
        <p:nvSpPr>
          <p:cNvPr id="18" name="正方形/長方形 17">
            <a:extLst>
              <a:ext uri="{FF2B5EF4-FFF2-40B4-BE49-F238E27FC236}">
                <a16:creationId xmlns:a16="http://schemas.microsoft.com/office/drawing/2014/main" id="{0C864657-FFF0-FA13-5524-DC1F4F22D1C8}"/>
              </a:ext>
            </a:extLst>
          </p:cNvPr>
          <p:cNvSpPr/>
          <p:nvPr/>
        </p:nvSpPr>
        <p:spPr>
          <a:xfrm>
            <a:off x="449262" y="3124558"/>
            <a:ext cx="9793287" cy="165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sp>
        <p:nvSpPr>
          <p:cNvPr id="20" name="テキスト ボックス 19">
            <a:extLst>
              <a:ext uri="{FF2B5EF4-FFF2-40B4-BE49-F238E27FC236}">
                <a16:creationId xmlns:a16="http://schemas.microsoft.com/office/drawing/2014/main" id="{48644844-8906-9AF0-5D0D-98648174194F}"/>
              </a:ext>
            </a:extLst>
          </p:cNvPr>
          <p:cNvSpPr txBox="1"/>
          <p:nvPr/>
        </p:nvSpPr>
        <p:spPr>
          <a:xfrm>
            <a:off x="2114550" y="3551135"/>
            <a:ext cx="7768831" cy="802848"/>
          </a:xfrm>
          <a:prstGeom prst="rect">
            <a:avLst/>
          </a:prstGeom>
          <a:noFill/>
        </p:spPr>
        <p:txBody>
          <a:bodyPr wrap="square" lIns="0" tIns="0" rIns="0" bIns="0" rtlCol="0" anchor="ctr">
            <a:spAutoFit/>
          </a:bodyPr>
          <a:lstStyle/>
          <a:p>
            <a:pPr algn="l">
              <a:lnSpc>
                <a:spcPct val="120000"/>
              </a:lnSpc>
              <a:spcAft>
                <a:spcPts val="600"/>
              </a:spcAft>
            </a:pPr>
            <a:r>
              <a:rPr sz="1100" b="1">
                <a:latin typeface="+mj-ea"/>
                <a:ea typeface="+mj-ea"/>
              </a:rPr>
              <a:t>企画力と海外製造ネットワークの両立</a:t>
            </a:r>
            <a:endParaRPr lang="en-US" altLang="ja-JP" sz="1600" b="1" spc="30" dirty="0">
              <a:solidFill>
                <a:schemeClr val="tx2"/>
              </a:solidFill>
              <a:latin typeface="+mj-ea"/>
              <a:ea typeface="+mj-ea"/>
            </a:endParaRPr>
          </a:p>
          <a:p>
            <a:pPr algn="l"/>
            <a:r>
              <a:rPr sz="1100" b="1">
                <a:latin typeface="+mj-ea"/>
                <a:ea typeface="+mj-ea"/>
              </a:rPr>
              <a:t>自社で企画・デザインを行いつつ、中国等の海外メーカーと国内専門メーカーを使い分けるファブレス体制により、少数精鋭で高い生産性（従業員7名で売上422百万円）を実現。自社オリジナルくじ商品による独自の商品開発力も有する。</a:t>
            </a:r>
          </a:p>
        </p:txBody>
      </p:sp>
      <p:cxnSp>
        <p:nvCxnSpPr>
          <p:cNvPr id="21" name="直線コネクタ 20">
            <a:extLst>
              <a:ext uri="{FF2B5EF4-FFF2-40B4-BE49-F238E27FC236}">
                <a16:creationId xmlns:a16="http://schemas.microsoft.com/office/drawing/2014/main" id="{3CCDB214-2D0E-0EEE-88F8-7201AB775BEA}"/>
              </a:ext>
            </a:extLst>
          </p:cNvPr>
          <p:cNvCxnSpPr>
            <a:cxnSpLocks/>
          </p:cNvCxnSpPr>
          <p:nvPr/>
        </p:nvCxnSpPr>
        <p:spPr>
          <a:xfrm>
            <a:off x="449263" y="3119987"/>
            <a:ext cx="0" cy="1656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27" name="正方形/長方形 26">
            <a:extLst>
              <a:ext uri="{FF2B5EF4-FFF2-40B4-BE49-F238E27FC236}">
                <a16:creationId xmlns:a16="http://schemas.microsoft.com/office/drawing/2014/main" id="{8C7E43AC-FD21-D8FF-812C-F486F11E9CD0}"/>
              </a:ext>
            </a:extLst>
          </p:cNvPr>
          <p:cNvSpPr/>
          <p:nvPr/>
        </p:nvSpPr>
        <p:spPr>
          <a:xfrm>
            <a:off x="647115" y="3466558"/>
            <a:ext cx="1191210" cy="97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lnSpc>
                <a:spcPct val="120000"/>
              </a:lnSpc>
              <a:buClr>
                <a:schemeClr val="tx2"/>
              </a:buClr>
              <a:buSzPct val="80000"/>
            </a:pPr>
            <a:r>
              <a:rPr lang="ja-JP" altLang="en-US" b="1" spc="70" dirty="0">
                <a:solidFill>
                  <a:schemeClr val="bg1"/>
                </a:solidFill>
                <a:latin typeface="+mj-ea"/>
                <a:ea typeface="+mj-ea"/>
              </a:rPr>
              <a:t>強み</a:t>
            </a:r>
            <a:endParaRPr lang="en-US" altLang="ja-JP" b="1" spc="70" dirty="0">
              <a:solidFill>
                <a:schemeClr val="bg1"/>
              </a:solidFill>
              <a:latin typeface="+mj-ea"/>
              <a:ea typeface="+mj-ea"/>
            </a:endParaRPr>
          </a:p>
        </p:txBody>
      </p:sp>
      <p:sp>
        <p:nvSpPr>
          <p:cNvPr id="28" name="正方形/長方形 27">
            <a:extLst>
              <a:ext uri="{FF2B5EF4-FFF2-40B4-BE49-F238E27FC236}">
                <a16:creationId xmlns:a16="http://schemas.microsoft.com/office/drawing/2014/main" id="{0BB6E073-4046-E1C0-AB4F-403D39FF250A}"/>
              </a:ext>
            </a:extLst>
          </p:cNvPr>
          <p:cNvSpPr/>
          <p:nvPr/>
        </p:nvSpPr>
        <p:spPr>
          <a:xfrm>
            <a:off x="449262" y="5112286"/>
            <a:ext cx="9793287" cy="165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sp>
        <p:nvSpPr>
          <p:cNvPr id="29" name="テキスト ボックス 28">
            <a:extLst>
              <a:ext uri="{FF2B5EF4-FFF2-40B4-BE49-F238E27FC236}">
                <a16:creationId xmlns:a16="http://schemas.microsoft.com/office/drawing/2014/main" id="{91275261-EC0D-E601-4242-EE2F20F981A2}"/>
              </a:ext>
            </a:extLst>
          </p:cNvPr>
          <p:cNvSpPr txBox="1"/>
          <p:nvPr/>
        </p:nvSpPr>
        <p:spPr>
          <a:xfrm>
            <a:off x="2114550" y="5538863"/>
            <a:ext cx="7768831" cy="802848"/>
          </a:xfrm>
          <a:prstGeom prst="rect">
            <a:avLst/>
          </a:prstGeom>
          <a:noFill/>
        </p:spPr>
        <p:txBody>
          <a:bodyPr wrap="square" lIns="0" tIns="0" rIns="0" bIns="0" rtlCol="0" anchor="ctr">
            <a:spAutoFit/>
          </a:bodyPr>
          <a:lstStyle/>
          <a:p>
            <a:pPr algn="l">
              <a:lnSpc>
                <a:spcPct val="120000"/>
              </a:lnSpc>
              <a:spcAft>
                <a:spcPts val="600"/>
              </a:spcAft>
            </a:pPr>
            <a:r>
              <a:rPr sz="1100" b="1">
                <a:latin typeface="+mj-ea"/>
                <a:ea typeface="+mj-ea"/>
              </a:rPr>
              <a:t>IP市場の拡大と顧客・商材の拡張余地</a:t>
            </a:r>
            <a:endParaRPr lang="en-US" altLang="ja-JP" sz="1600" b="1" spc="30" dirty="0">
              <a:solidFill>
                <a:schemeClr val="tx2"/>
              </a:solidFill>
              <a:latin typeface="+mj-ea"/>
              <a:ea typeface="+mj-ea"/>
            </a:endParaRPr>
          </a:p>
          <a:p>
            <a:pPr algn="l"/>
            <a:r>
              <a:rPr sz="1100" b="1">
                <a:latin typeface="+mj-ea"/>
                <a:ea typeface="+mj-ea"/>
              </a:rPr>
              <a:t>アニメ・ゲームIP市場は国内外で拡大基調。特定顧客への集中度は、裏を返せば顧客基盤の多様化・新規IP開拓による成長余地。潤沢な自己資本を成長投資へ振り向ける余力も大きい。</a:t>
            </a:r>
          </a:p>
        </p:txBody>
      </p:sp>
      <p:cxnSp>
        <p:nvCxnSpPr>
          <p:cNvPr id="30" name="直線コネクタ 29">
            <a:extLst>
              <a:ext uri="{FF2B5EF4-FFF2-40B4-BE49-F238E27FC236}">
                <a16:creationId xmlns:a16="http://schemas.microsoft.com/office/drawing/2014/main" id="{9E59F759-029D-ACD7-2E8B-82D0E894FB13}"/>
              </a:ext>
            </a:extLst>
          </p:cNvPr>
          <p:cNvCxnSpPr>
            <a:cxnSpLocks/>
          </p:cNvCxnSpPr>
          <p:nvPr/>
        </p:nvCxnSpPr>
        <p:spPr>
          <a:xfrm>
            <a:off x="449263" y="5107715"/>
            <a:ext cx="0" cy="1656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31" name="正方形/長方形 30">
            <a:extLst>
              <a:ext uri="{FF2B5EF4-FFF2-40B4-BE49-F238E27FC236}">
                <a16:creationId xmlns:a16="http://schemas.microsoft.com/office/drawing/2014/main" id="{9F97658D-62E2-B46F-7C6B-A887412B79A8}"/>
              </a:ext>
            </a:extLst>
          </p:cNvPr>
          <p:cNvSpPr/>
          <p:nvPr/>
        </p:nvSpPr>
        <p:spPr>
          <a:xfrm>
            <a:off x="647115" y="5454286"/>
            <a:ext cx="1191210" cy="97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lnSpc>
                <a:spcPct val="120000"/>
              </a:lnSpc>
              <a:buClr>
                <a:schemeClr val="tx2"/>
              </a:buClr>
              <a:buSzPct val="80000"/>
            </a:pPr>
            <a:r>
              <a:rPr lang="ja-JP" altLang="en-US" b="1" spc="70" dirty="0">
                <a:solidFill>
                  <a:schemeClr val="bg1"/>
                </a:solidFill>
                <a:latin typeface="+mj-ea"/>
                <a:ea typeface="+mj-ea"/>
              </a:rPr>
              <a:t>成長性</a:t>
            </a:r>
            <a:endParaRPr lang="en-US" altLang="ja-JP" b="1" spc="70" dirty="0">
              <a:solidFill>
                <a:schemeClr val="bg1"/>
              </a:solidFill>
              <a:latin typeface="+mj-ea"/>
              <a:ea typeface="+mj-ea"/>
            </a:endParaRPr>
          </a:p>
        </p:txBody>
      </p:sp>
    </p:spTree>
    <p:extLst>
      <p:ext uri="{BB962C8B-B14F-4D97-AF65-F5344CB8AC3E}">
        <p14:creationId xmlns:p14="http://schemas.microsoft.com/office/powerpoint/2010/main" val="27210844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6F8F80-D630-2549-01F8-FD24A4744414}"/>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F701402F-4CEB-57E0-97C2-822B3C0B999E}"/>
              </a:ext>
            </a:extLst>
          </p:cNvPr>
          <p:cNvSpPr>
            <a:spLocks noGrp="1"/>
          </p:cNvSpPr>
          <p:nvPr>
            <p:ph type="ctrTitle"/>
          </p:nvPr>
        </p:nvSpPr>
        <p:spPr>
          <a:xfrm>
            <a:off x="311150" y="180296"/>
            <a:ext cx="7799917" cy="339267"/>
          </a:xfrm>
        </p:spPr>
        <p:txBody>
          <a:bodyPr>
            <a:normAutofit/>
          </a:bodyPr>
          <a:lstStyle/>
          <a:p>
            <a:r>
              <a:rPr>
                <a:latin typeface="游ゴシック"/>
                <a:ea typeface="游ゴシック"/>
              </a:rPr>
              <a:t>主要販売先別 売上高推移</a:t>
            </a:r>
          </a:p>
        </p:txBody>
      </p:sp>
      <p:sp>
        <p:nvSpPr>
          <p:cNvPr id="5" name="タイトル 1">
            <a:extLst>
              <a:ext uri="{FF2B5EF4-FFF2-40B4-BE49-F238E27FC236}">
                <a16:creationId xmlns:a16="http://schemas.microsoft.com/office/drawing/2014/main" id="{AC4464AF-219D-E466-F3BC-96AEFEDBCFD7}"/>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事業概要</a:t>
            </a:r>
          </a:p>
        </p:txBody>
      </p:sp>
      <p:sp>
        <p:nvSpPr>
          <p:cNvPr id="11" name="字幕 13">
            <a:extLst>
              <a:ext uri="{FF2B5EF4-FFF2-40B4-BE49-F238E27FC236}">
                <a16:creationId xmlns:a16="http://schemas.microsoft.com/office/drawing/2014/main" id="{9BD509DC-88D9-BD2F-8F86-54221089006B}"/>
              </a:ext>
            </a:extLst>
          </p:cNvPr>
          <p:cNvSpPr>
            <a:spLocks noGrp="1"/>
          </p:cNvSpPr>
          <p:nvPr>
            <p:ph type="subTitle" idx="1"/>
          </p:nvPr>
        </p:nvSpPr>
        <p:spPr>
          <a:xfrm>
            <a:off x="460675" y="830046"/>
            <a:ext cx="9781875" cy="241861"/>
          </a:xfrm>
        </p:spPr>
        <p:txBody>
          <a:bodyPr>
            <a:noAutofit/>
          </a:bodyPr>
          <a:lstStyle/>
          <a:p>
            <a:r>
              <a:rPr>
                <a:latin typeface="游ゴシック"/>
                <a:ea typeface="游ゴシック"/>
              </a:rPr>
              <a:t>上位顧客は大手IPホルダーが中心。令和8年1月期は最上位のセガ社が約48%を占める一方、上位10社の顔ぶれは各期で入れ替わり、幅広いIP案件への対応力を有します。</a:t>
            </a:r>
            <a:endParaRPr lang="en-US" altLang="ja-JP" dirty="0"/>
          </a:p>
        </p:txBody>
      </p:sp>
      <p:graphicFrame>
        <p:nvGraphicFramePr>
          <p:cNvPr id="14" name="Table 13"/>
          <p:cNvGraphicFramePr>
            <a:graphicFrameLocks noGrp="1"/>
          </p:cNvGraphicFramePr>
          <p:nvPr/>
        </p:nvGraphicFramePr>
        <p:xfrm>
          <a:off x="309600" y="1655999"/>
          <a:ext cx="9640799" cy="4211987"/>
        </p:xfrm>
        <a:graphic>
          <a:graphicData uri="http://schemas.openxmlformats.org/drawingml/2006/table">
            <a:tbl>
              <a:tblPr>
                <a:tableStyleId>{5C22544A-7EE6-4342-B048-85BDC9FD1C3A}</a:tableStyleId>
              </a:tblPr>
              <a:tblGrid>
                <a:gridCol w="2160000">
                  <a:extLst>
                    <a:ext uri="{9D8B030D-6E8A-4147-A177-3AD203B41FA5}">
                      <a16:colId xmlns:a16="http://schemas.microsoft.com/office/drawing/2014/main" val="20000"/>
                    </a:ext>
                  </a:extLst>
                </a:gridCol>
                <a:gridCol w="2800800">
                  <a:extLst>
                    <a:ext uri="{9D8B030D-6E8A-4147-A177-3AD203B41FA5}">
                      <a16:colId xmlns:a16="http://schemas.microsoft.com/office/drawing/2014/main" val="20001"/>
                    </a:ext>
                  </a:extLst>
                </a:gridCol>
                <a:gridCol w="1224000">
                  <a:extLst>
                    <a:ext uri="{9D8B030D-6E8A-4147-A177-3AD203B41FA5}">
                      <a16:colId xmlns:a16="http://schemas.microsoft.com/office/drawing/2014/main" val="20002"/>
                    </a:ext>
                  </a:extLst>
                </a:gridCol>
                <a:gridCol w="1224000">
                  <a:extLst>
                    <a:ext uri="{9D8B030D-6E8A-4147-A177-3AD203B41FA5}">
                      <a16:colId xmlns:a16="http://schemas.microsoft.com/office/drawing/2014/main" val="20003"/>
                    </a:ext>
                  </a:extLst>
                </a:gridCol>
                <a:gridCol w="1224000">
                  <a:extLst>
                    <a:ext uri="{9D8B030D-6E8A-4147-A177-3AD203B41FA5}">
                      <a16:colId xmlns:a16="http://schemas.microsoft.com/office/drawing/2014/main" val="20004"/>
                    </a:ext>
                  </a:extLst>
                </a:gridCol>
                <a:gridCol w="1007999">
                  <a:extLst>
                    <a:ext uri="{9D8B030D-6E8A-4147-A177-3AD203B41FA5}">
                      <a16:colId xmlns:a16="http://schemas.microsoft.com/office/drawing/2014/main" val="20005"/>
                    </a:ext>
                  </a:extLst>
                </a:gridCol>
              </a:tblGrid>
              <a:tr h="323999">
                <a:tc>
                  <a:txBody>
                    <a:bodyPr/>
                    <a:lstStyle/>
                    <a:p>
                      <a:pPr algn="ctr"/>
                      <a:r>
                        <a:rPr sz="900" b="1">
                          <a:solidFill>
                            <a:srgbClr val="FFFFFF"/>
                          </a:solidFill>
                          <a:latin typeface="游ゴシック"/>
                          <a:ea typeface="游ゴシック"/>
                        </a:rPr>
                        <a:t>得意先</a:t>
                      </a:r>
                    </a:p>
                  </a:txBody>
                  <a:tcPr marL="36000" marR="36000" marT="7200" marB="7200" anchor="ctr">
                    <a:solidFill>
                      <a:srgbClr val="0B3041"/>
                    </a:solidFill>
                  </a:tcPr>
                </a:tc>
                <a:tc>
                  <a:txBody>
                    <a:bodyPr/>
                    <a:lstStyle/>
                    <a:p>
                      <a:pPr algn="ctr"/>
                      <a:r>
                        <a:rPr sz="900" b="1">
                          <a:solidFill>
                            <a:srgbClr val="FFFFFF"/>
                          </a:solidFill>
                          <a:latin typeface="游ゴシック"/>
                          <a:ea typeface="游ゴシック"/>
                        </a:rPr>
                        <a:t>取引内容</a:t>
                      </a:r>
                    </a:p>
                  </a:txBody>
                  <a:tcPr marL="36000" marR="36000" marT="7200" marB="7200" anchor="ctr">
                    <a:solidFill>
                      <a:srgbClr val="0B3041"/>
                    </a:solidFill>
                  </a:tcPr>
                </a:tc>
                <a:tc>
                  <a:txBody>
                    <a:bodyPr/>
                    <a:lstStyle/>
                    <a:p>
                      <a:pPr algn="ctr"/>
                      <a:r>
                        <a:rPr sz="900" b="1">
                          <a:solidFill>
                            <a:srgbClr val="FFFFFF"/>
                          </a:solidFill>
                          <a:latin typeface="游ゴシック"/>
                          <a:ea typeface="游ゴシック"/>
                        </a:rPr>
                        <a:t>令6/1期</a:t>
                      </a:r>
                    </a:p>
                  </a:txBody>
                  <a:tcPr marL="36000" marR="36000" marT="7200" marB="7200" anchor="ctr">
                    <a:solidFill>
                      <a:srgbClr val="0B3041"/>
                    </a:solidFill>
                  </a:tcPr>
                </a:tc>
                <a:tc>
                  <a:txBody>
                    <a:bodyPr/>
                    <a:lstStyle/>
                    <a:p>
                      <a:pPr algn="ctr"/>
                      <a:r>
                        <a:rPr sz="900" b="1">
                          <a:solidFill>
                            <a:srgbClr val="FFFFFF"/>
                          </a:solidFill>
                          <a:latin typeface="游ゴシック"/>
                          <a:ea typeface="游ゴシック"/>
                        </a:rPr>
                        <a:t>令7/1期</a:t>
                      </a:r>
                    </a:p>
                  </a:txBody>
                  <a:tcPr marL="36000" marR="36000" marT="7200" marB="7200" anchor="ctr">
                    <a:solidFill>
                      <a:srgbClr val="0B3041"/>
                    </a:solidFill>
                  </a:tcPr>
                </a:tc>
                <a:tc>
                  <a:txBody>
                    <a:bodyPr/>
                    <a:lstStyle/>
                    <a:p>
                      <a:pPr algn="ctr"/>
                      <a:r>
                        <a:rPr sz="900" b="1">
                          <a:solidFill>
                            <a:srgbClr val="FFFFFF"/>
                          </a:solidFill>
                          <a:latin typeface="游ゴシック"/>
                          <a:ea typeface="游ゴシック"/>
                        </a:rPr>
                        <a:t>令8/1期</a:t>
                      </a:r>
                    </a:p>
                  </a:txBody>
                  <a:tcPr marL="36000" marR="36000" marT="7200" marB="7200" anchor="ctr">
                    <a:solidFill>
                      <a:srgbClr val="0B3041"/>
                    </a:solidFill>
                  </a:tcPr>
                </a:tc>
                <a:tc>
                  <a:txBody>
                    <a:bodyPr/>
                    <a:lstStyle/>
                    <a:p>
                      <a:pPr algn="ctr"/>
                      <a:r>
                        <a:rPr sz="900" b="1">
                          <a:solidFill>
                            <a:srgbClr val="FFFFFF"/>
                          </a:solidFill>
                          <a:latin typeface="游ゴシック"/>
                          <a:ea typeface="游ゴシック"/>
                        </a:rPr>
                        <a:t>構成比
(令8)</a:t>
                      </a:r>
                    </a:p>
                  </a:txBody>
                  <a:tcPr marL="36000" marR="36000" marT="7200" marB="7200" anchor="ctr">
                    <a:solidFill>
                      <a:srgbClr val="0B3041"/>
                    </a:solidFill>
                  </a:tcPr>
                </a:tc>
                <a:extLst>
                  <a:ext uri="{0D108BD9-81ED-4DB2-BD59-A6C34878D82A}">
                    <a16:rowId xmlns:a16="http://schemas.microsoft.com/office/drawing/2014/main" val="10000"/>
                  </a:ext>
                </a:extLst>
              </a:tr>
              <a:tr h="323999">
                <a:tc>
                  <a:txBody>
                    <a:bodyPr/>
                    <a:lstStyle/>
                    <a:p>
                      <a:pPr algn="l"/>
                      <a:r>
                        <a:rPr sz="900" b="0">
                          <a:solidFill>
                            <a:srgbClr val="0B3041"/>
                          </a:solidFill>
                          <a:latin typeface="游ゴシック"/>
                          <a:ea typeface="游ゴシック"/>
                        </a:rPr>
                        <a:t>㈱セガ</a:t>
                      </a:r>
                    </a:p>
                  </a:txBody>
                  <a:tcPr marL="36000" marR="36000" marT="7200" marB="7200" anchor="ctr">
                    <a:solidFill>
                      <a:srgbClr val="FFFFFF"/>
                    </a:solidFill>
                  </a:tcPr>
                </a:tc>
                <a:tc>
                  <a:txBody>
                    <a:bodyPr/>
                    <a:lstStyle/>
                    <a:p>
                      <a:pPr algn="l"/>
                      <a:r>
                        <a:rPr sz="900" b="0">
                          <a:solidFill>
                            <a:srgbClr val="0B3041"/>
                          </a:solidFill>
                          <a:latin typeface="游ゴシック"/>
                          <a:ea typeface="游ゴシック"/>
                        </a:rPr>
                        <a:t>キャラクターグッズ商品化(版権)</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33,802</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109,941</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202,069</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47.8%</a:t>
                      </a:r>
                    </a:p>
                  </a:txBody>
                  <a:tcPr marL="36000" marR="36000" marT="7200" marB="7200" anchor="ctr">
                    <a:solidFill>
                      <a:srgbClr val="FFFFFF"/>
                    </a:solidFill>
                  </a:tcPr>
                </a:tc>
                <a:extLst>
                  <a:ext uri="{0D108BD9-81ED-4DB2-BD59-A6C34878D82A}">
                    <a16:rowId xmlns:a16="http://schemas.microsoft.com/office/drawing/2014/main" val="10001"/>
                  </a:ext>
                </a:extLst>
              </a:tr>
              <a:tr h="323999">
                <a:tc>
                  <a:txBody>
                    <a:bodyPr/>
                    <a:lstStyle/>
                    <a:p>
                      <a:pPr algn="l"/>
                      <a:r>
                        <a:rPr sz="900" b="0">
                          <a:solidFill>
                            <a:srgbClr val="0B3041"/>
                          </a:solidFill>
                          <a:latin typeface="游ゴシック"/>
                          <a:ea typeface="游ゴシック"/>
                        </a:rPr>
                        <a:t>㈱KADOKAWA Game Linkage</a:t>
                      </a:r>
                    </a:p>
                  </a:txBody>
                  <a:tcPr marL="36000" marR="36000" marT="7200" marB="7200" anchor="ctr">
                    <a:solidFill>
                      <a:srgbClr val="F4F7F9"/>
                    </a:solidFill>
                  </a:tcPr>
                </a:tc>
                <a:tc>
                  <a:txBody>
                    <a:bodyPr/>
                    <a:lstStyle/>
                    <a:p>
                      <a:pPr algn="l"/>
                      <a:r>
                        <a:rPr sz="900" b="0">
                          <a:solidFill>
                            <a:srgbClr val="0B3041"/>
                          </a:solidFill>
                          <a:latin typeface="游ゴシック"/>
                          <a:ea typeface="游ゴシック"/>
                        </a:rPr>
                        <a:t>キャラクターグッズ商品化(版権)</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84,037</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69,227</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60,264</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14.3%</a:t>
                      </a:r>
                    </a:p>
                  </a:txBody>
                  <a:tcPr marL="36000" marR="36000" marT="7200" marB="7200" anchor="ctr">
                    <a:solidFill>
                      <a:srgbClr val="F4F7F9"/>
                    </a:solidFill>
                  </a:tcPr>
                </a:tc>
                <a:extLst>
                  <a:ext uri="{0D108BD9-81ED-4DB2-BD59-A6C34878D82A}">
                    <a16:rowId xmlns:a16="http://schemas.microsoft.com/office/drawing/2014/main" val="10002"/>
                  </a:ext>
                </a:extLst>
              </a:tr>
              <a:tr h="323999">
                <a:tc>
                  <a:txBody>
                    <a:bodyPr/>
                    <a:lstStyle/>
                    <a:p>
                      <a:pPr algn="l"/>
                      <a:r>
                        <a:rPr sz="900" b="0">
                          <a:solidFill>
                            <a:srgbClr val="0B3041"/>
                          </a:solidFill>
                          <a:latin typeface="游ゴシック"/>
                          <a:ea typeface="游ゴシック"/>
                        </a:rPr>
                        <a:t>㈱ムービック</a:t>
                      </a:r>
                    </a:p>
                  </a:txBody>
                  <a:tcPr marL="36000" marR="36000" marT="7200" marB="7200" anchor="ctr">
                    <a:solidFill>
                      <a:srgbClr val="FFFFFF"/>
                    </a:solidFill>
                  </a:tcPr>
                </a:tc>
                <a:tc>
                  <a:txBody>
                    <a:bodyPr/>
                    <a:lstStyle/>
                    <a:p>
                      <a:pPr algn="l"/>
                      <a:r>
                        <a:rPr sz="900" b="0">
                          <a:solidFill>
                            <a:srgbClr val="0B3041"/>
                          </a:solidFill>
                          <a:latin typeface="游ゴシック"/>
                          <a:ea typeface="游ゴシック"/>
                        </a:rPr>
                        <a:t>キャラクターグッズ商品化(版権)</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28,015</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36,033</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43,808</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10.4%</a:t>
                      </a:r>
                    </a:p>
                  </a:txBody>
                  <a:tcPr marL="36000" marR="36000" marT="7200" marB="7200" anchor="ctr">
                    <a:solidFill>
                      <a:srgbClr val="FFFFFF"/>
                    </a:solidFill>
                  </a:tcPr>
                </a:tc>
                <a:extLst>
                  <a:ext uri="{0D108BD9-81ED-4DB2-BD59-A6C34878D82A}">
                    <a16:rowId xmlns:a16="http://schemas.microsoft.com/office/drawing/2014/main" val="10003"/>
                  </a:ext>
                </a:extLst>
              </a:tr>
              <a:tr h="323999">
                <a:tc>
                  <a:txBody>
                    <a:bodyPr/>
                    <a:lstStyle/>
                    <a:p>
                      <a:pPr algn="l"/>
                      <a:r>
                        <a:rPr sz="900" b="0">
                          <a:solidFill>
                            <a:srgbClr val="0B3041"/>
                          </a:solidFill>
                          <a:latin typeface="游ゴシック"/>
                          <a:ea typeface="游ゴシック"/>
                        </a:rPr>
                        <a:t>㈱スモールプラネット</a:t>
                      </a:r>
                    </a:p>
                  </a:txBody>
                  <a:tcPr marL="36000" marR="36000" marT="7200" marB="7200" anchor="ctr">
                    <a:solidFill>
                      <a:srgbClr val="F4F7F9"/>
                    </a:solidFill>
                  </a:tcPr>
                </a:tc>
                <a:tc>
                  <a:txBody>
                    <a:bodyPr/>
                    <a:lstStyle/>
                    <a:p>
                      <a:pPr algn="l"/>
                      <a:r>
                        <a:rPr sz="900" b="0">
                          <a:solidFill>
                            <a:srgbClr val="0B3041"/>
                          </a:solidFill>
                          <a:latin typeface="游ゴシック"/>
                          <a:ea typeface="游ゴシック"/>
                        </a:rPr>
                        <a:t>キャラクターグッズ商品化(版権)</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42,546</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10.1%</a:t>
                      </a:r>
                    </a:p>
                  </a:txBody>
                  <a:tcPr marL="36000" marR="36000" marT="7200" marB="7200" anchor="ctr">
                    <a:solidFill>
                      <a:srgbClr val="F4F7F9"/>
                    </a:solidFill>
                  </a:tcPr>
                </a:tc>
                <a:extLst>
                  <a:ext uri="{0D108BD9-81ED-4DB2-BD59-A6C34878D82A}">
                    <a16:rowId xmlns:a16="http://schemas.microsoft.com/office/drawing/2014/main" val="10004"/>
                  </a:ext>
                </a:extLst>
              </a:tr>
              <a:tr h="323999">
                <a:tc>
                  <a:txBody>
                    <a:bodyPr/>
                    <a:lstStyle/>
                    <a:p>
                      <a:pPr algn="l"/>
                      <a:r>
                        <a:rPr sz="900" b="0">
                          <a:solidFill>
                            <a:srgbClr val="0B3041"/>
                          </a:solidFill>
                          <a:latin typeface="游ゴシック"/>
                          <a:ea typeface="游ゴシック"/>
                        </a:rPr>
                        <a:t>杭州迷萌文化創意</a:t>
                      </a:r>
                    </a:p>
                  </a:txBody>
                  <a:tcPr marL="36000" marR="36000" marT="7200" marB="7200" anchor="ctr">
                    <a:solidFill>
                      <a:srgbClr val="FFFFFF"/>
                    </a:solidFill>
                  </a:tcPr>
                </a:tc>
                <a:tc>
                  <a:txBody>
                    <a:bodyPr/>
                    <a:lstStyle/>
                    <a:p>
                      <a:pPr algn="l"/>
                      <a:r>
                        <a:rPr sz="900" b="0">
                          <a:solidFill>
                            <a:srgbClr val="0B3041"/>
                          </a:solidFill>
                          <a:latin typeface="游ゴシック"/>
                          <a:ea typeface="游ゴシック"/>
                        </a:rPr>
                        <a:t>海外製造委託パートナー</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15,180</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69,086</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33,677</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8.0%</a:t>
                      </a:r>
                    </a:p>
                  </a:txBody>
                  <a:tcPr marL="36000" marR="36000" marT="7200" marB="7200" anchor="ctr">
                    <a:solidFill>
                      <a:srgbClr val="FFFFFF"/>
                    </a:solidFill>
                  </a:tcPr>
                </a:tc>
                <a:extLst>
                  <a:ext uri="{0D108BD9-81ED-4DB2-BD59-A6C34878D82A}">
                    <a16:rowId xmlns:a16="http://schemas.microsoft.com/office/drawing/2014/main" val="10005"/>
                  </a:ext>
                </a:extLst>
              </a:tr>
              <a:tr h="323999">
                <a:tc>
                  <a:txBody>
                    <a:bodyPr/>
                    <a:lstStyle/>
                    <a:p>
                      <a:pPr algn="l"/>
                      <a:r>
                        <a:rPr sz="900" b="0">
                          <a:solidFill>
                            <a:srgbClr val="0B3041"/>
                          </a:solidFill>
                          <a:latin typeface="游ゴシック"/>
                          <a:ea typeface="游ゴシック"/>
                        </a:rPr>
                        <a:t>㈱ソル・インターナショナル</a:t>
                      </a:r>
                    </a:p>
                  </a:txBody>
                  <a:tcPr marL="36000" marR="36000" marT="7200" marB="7200" anchor="ctr">
                    <a:solidFill>
                      <a:srgbClr val="F4F7F9"/>
                    </a:solidFill>
                  </a:tcPr>
                </a:tc>
                <a:tc>
                  <a:txBody>
                    <a:bodyPr/>
                    <a:lstStyle/>
                    <a:p>
                      <a:pPr algn="l"/>
                      <a:r>
                        <a:rPr sz="900" b="0">
                          <a:solidFill>
                            <a:srgbClr val="0B3041"/>
                          </a:solidFill>
                          <a:latin typeface="游ゴシック"/>
                          <a:ea typeface="游ゴシック"/>
                        </a:rPr>
                        <a:t>キャラクターグッズ商品化(版権)</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34,096</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24,322</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19,082</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4.5%</a:t>
                      </a:r>
                    </a:p>
                  </a:txBody>
                  <a:tcPr marL="36000" marR="36000" marT="7200" marB="7200" anchor="ctr">
                    <a:solidFill>
                      <a:srgbClr val="F4F7F9"/>
                    </a:solidFill>
                  </a:tcPr>
                </a:tc>
                <a:extLst>
                  <a:ext uri="{0D108BD9-81ED-4DB2-BD59-A6C34878D82A}">
                    <a16:rowId xmlns:a16="http://schemas.microsoft.com/office/drawing/2014/main" val="10006"/>
                  </a:ext>
                </a:extLst>
              </a:tr>
              <a:tr h="323999">
                <a:tc>
                  <a:txBody>
                    <a:bodyPr/>
                    <a:lstStyle/>
                    <a:p>
                      <a:pPr algn="l"/>
                      <a:r>
                        <a:rPr sz="900" b="0">
                          <a:solidFill>
                            <a:srgbClr val="0B3041"/>
                          </a:solidFill>
                          <a:latin typeface="游ゴシック"/>
                          <a:ea typeface="游ゴシック"/>
                        </a:rPr>
                        <a:t>㈱ケンメディア</a:t>
                      </a:r>
                    </a:p>
                  </a:txBody>
                  <a:tcPr marL="36000" marR="36000" marT="7200" marB="7200" anchor="ctr">
                    <a:solidFill>
                      <a:srgbClr val="FFFFFF"/>
                    </a:solidFill>
                  </a:tcPr>
                </a:tc>
                <a:tc>
                  <a:txBody>
                    <a:bodyPr/>
                    <a:lstStyle/>
                    <a:p>
                      <a:pPr algn="l"/>
                      <a:r>
                        <a:rPr sz="900" b="0">
                          <a:solidFill>
                            <a:srgbClr val="0B3041"/>
                          </a:solidFill>
                          <a:latin typeface="游ゴシック"/>
                          <a:ea typeface="游ゴシック"/>
                        </a:rPr>
                        <a:t>キャラクターグッズ商品化(版権)</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54,354</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16,120</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12,359</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2.9%</a:t>
                      </a:r>
                    </a:p>
                  </a:txBody>
                  <a:tcPr marL="36000" marR="36000" marT="7200" marB="7200" anchor="ctr">
                    <a:solidFill>
                      <a:srgbClr val="FFFFFF"/>
                    </a:solidFill>
                  </a:tcPr>
                </a:tc>
                <a:extLst>
                  <a:ext uri="{0D108BD9-81ED-4DB2-BD59-A6C34878D82A}">
                    <a16:rowId xmlns:a16="http://schemas.microsoft.com/office/drawing/2014/main" val="10007"/>
                  </a:ext>
                </a:extLst>
              </a:tr>
              <a:tr h="323999">
                <a:tc>
                  <a:txBody>
                    <a:bodyPr/>
                    <a:lstStyle/>
                    <a:p>
                      <a:pPr algn="l"/>
                      <a:r>
                        <a:rPr sz="900" b="0">
                          <a:solidFill>
                            <a:srgbClr val="0B3041"/>
                          </a:solidFill>
                          <a:latin typeface="游ゴシック"/>
                          <a:ea typeface="游ゴシック"/>
                        </a:rPr>
                        <a:t>㈱KADOKAWA</a:t>
                      </a:r>
                    </a:p>
                  </a:txBody>
                  <a:tcPr marL="36000" marR="36000" marT="7200" marB="7200" anchor="ctr">
                    <a:solidFill>
                      <a:srgbClr val="F4F7F9"/>
                    </a:solidFill>
                  </a:tcPr>
                </a:tc>
                <a:tc>
                  <a:txBody>
                    <a:bodyPr/>
                    <a:lstStyle/>
                    <a:p>
                      <a:pPr algn="l"/>
                      <a:r>
                        <a:rPr sz="900" b="0">
                          <a:solidFill>
                            <a:srgbClr val="0B3041"/>
                          </a:solidFill>
                          <a:latin typeface="游ゴシック"/>
                          <a:ea typeface="游ゴシック"/>
                        </a:rPr>
                        <a:t>キャラクターグッズ商品化(版権)</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3,878</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2,050</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0.5%</a:t>
                      </a:r>
                    </a:p>
                  </a:txBody>
                  <a:tcPr marL="36000" marR="36000" marT="7200" marB="7200" anchor="ctr">
                    <a:solidFill>
                      <a:srgbClr val="F4F7F9"/>
                    </a:solidFill>
                  </a:tcPr>
                </a:tc>
                <a:extLst>
                  <a:ext uri="{0D108BD9-81ED-4DB2-BD59-A6C34878D82A}">
                    <a16:rowId xmlns:a16="http://schemas.microsoft.com/office/drawing/2014/main" val="10008"/>
                  </a:ext>
                </a:extLst>
              </a:tr>
              <a:tr h="323999">
                <a:tc>
                  <a:txBody>
                    <a:bodyPr/>
                    <a:lstStyle/>
                    <a:p>
                      <a:pPr algn="l"/>
                      <a:r>
                        <a:rPr sz="900" b="0">
                          <a:solidFill>
                            <a:srgbClr val="0B3041"/>
                          </a:solidFill>
                          <a:latin typeface="游ゴシック"/>
                          <a:ea typeface="游ゴシック"/>
                        </a:rPr>
                        <a:t>㈱PHP JAPAN</a:t>
                      </a:r>
                    </a:p>
                  </a:txBody>
                  <a:tcPr marL="36000" marR="36000" marT="7200" marB="7200" anchor="ctr">
                    <a:solidFill>
                      <a:srgbClr val="FFFFFF"/>
                    </a:solidFill>
                  </a:tcPr>
                </a:tc>
                <a:tc>
                  <a:txBody>
                    <a:bodyPr/>
                    <a:lstStyle/>
                    <a:p>
                      <a:pPr algn="l"/>
                      <a:r>
                        <a:rPr sz="900" b="0">
                          <a:solidFill>
                            <a:srgbClr val="0B3041"/>
                          </a:solidFill>
                          <a:latin typeface="游ゴシック"/>
                          <a:ea typeface="游ゴシック"/>
                        </a:rPr>
                        <a:t>キャラクターグッズ商品化(版権)</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10,179</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1,636</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0.4%</a:t>
                      </a:r>
                    </a:p>
                  </a:txBody>
                  <a:tcPr marL="36000" marR="36000" marT="7200" marB="7200" anchor="ctr">
                    <a:solidFill>
                      <a:srgbClr val="FFFFFF"/>
                    </a:solidFill>
                  </a:tcPr>
                </a:tc>
                <a:extLst>
                  <a:ext uri="{0D108BD9-81ED-4DB2-BD59-A6C34878D82A}">
                    <a16:rowId xmlns:a16="http://schemas.microsoft.com/office/drawing/2014/main" val="10009"/>
                  </a:ext>
                </a:extLst>
              </a:tr>
              <a:tr h="323999">
                <a:tc>
                  <a:txBody>
                    <a:bodyPr/>
                    <a:lstStyle/>
                    <a:p>
                      <a:pPr algn="l"/>
                      <a:r>
                        <a:rPr sz="900" b="0">
                          <a:solidFill>
                            <a:srgbClr val="0B3041"/>
                          </a:solidFill>
                          <a:latin typeface="游ゴシック"/>
                          <a:ea typeface="游ゴシック"/>
                        </a:rPr>
                        <a:t>花禾㈱</a:t>
                      </a:r>
                    </a:p>
                  </a:txBody>
                  <a:tcPr marL="36000" marR="36000" marT="7200" marB="7200" anchor="ctr">
                    <a:solidFill>
                      <a:srgbClr val="F4F7F9"/>
                    </a:solidFill>
                  </a:tcPr>
                </a:tc>
                <a:tc>
                  <a:txBody>
                    <a:bodyPr/>
                    <a:lstStyle/>
                    <a:p>
                      <a:pPr algn="l"/>
                      <a:r>
                        <a:rPr sz="900" b="0">
                          <a:solidFill>
                            <a:srgbClr val="0B3041"/>
                          </a:solidFill>
                          <a:latin typeface="游ゴシック"/>
                          <a:ea typeface="游ゴシック"/>
                        </a:rPr>
                        <a:t>キャラクターグッズ商品化(版権)</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1,525</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0.4%</a:t>
                      </a:r>
                    </a:p>
                  </a:txBody>
                  <a:tcPr marL="36000" marR="36000" marT="7200" marB="7200" anchor="ctr">
                    <a:solidFill>
                      <a:srgbClr val="F4F7F9"/>
                    </a:solidFill>
                  </a:tcPr>
                </a:tc>
                <a:extLst>
                  <a:ext uri="{0D108BD9-81ED-4DB2-BD59-A6C34878D82A}">
                    <a16:rowId xmlns:a16="http://schemas.microsoft.com/office/drawing/2014/main" val="10010"/>
                  </a:ext>
                </a:extLst>
              </a:tr>
              <a:tr h="323999">
                <a:tc>
                  <a:txBody>
                    <a:bodyPr/>
                    <a:lstStyle/>
                    <a:p>
                      <a:pPr algn="l"/>
                      <a:r>
                        <a:rPr sz="900" b="0">
                          <a:solidFill>
                            <a:srgbClr val="0B3041"/>
                          </a:solidFill>
                          <a:latin typeface="游ゴシック"/>
                          <a:ea typeface="游ゴシック"/>
                        </a:rPr>
                        <a:t>その他(上位10社以外)</a:t>
                      </a:r>
                    </a:p>
                  </a:txBody>
                  <a:tcPr marL="36000" marR="36000" marT="7200" marB="7200" anchor="ctr">
                    <a:solidFill>
                      <a:srgbClr val="FFFFFF"/>
                    </a:solidFill>
                  </a:tcPr>
                </a:tc>
                <a:tc>
                  <a:txBody>
                    <a:bodyPr/>
                    <a:lstStyle/>
                    <a:p>
                      <a:pPr algn="l"/>
                      <a:endParaRP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63,394</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108,960</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3,458</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0.8%</a:t>
                      </a:r>
                    </a:p>
                  </a:txBody>
                  <a:tcPr marL="36000" marR="36000" marT="7200" marB="7200" anchor="ctr">
                    <a:solidFill>
                      <a:srgbClr val="FFFFFF"/>
                    </a:solidFill>
                  </a:tcPr>
                </a:tc>
                <a:extLst>
                  <a:ext uri="{0D108BD9-81ED-4DB2-BD59-A6C34878D82A}">
                    <a16:rowId xmlns:a16="http://schemas.microsoft.com/office/drawing/2014/main" val="10011"/>
                  </a:ext>
                </a:extLst>
              </a:tr>
              <a:tr h="323999">
                <a:tc>
                  <a:txBody>
                    <a:bodyPr/>
                    <a:lstStyle/>
                    <a:p>
                      <a:pPr algn="l"/>
                      <a:r>
                        <a:rPr sz="900" b="1">
                          <a:solidFill>
                            <a:srgbClr val="0B3041"/>
                          </a:solidFill>
                          <a:latin typeface="游ゴシック"/>
                          <a:ea typeface="游ゴシック"/>
                        </a:rPr>
                        <a:t>合計</a:t>
                      </a:r>
                    </a:p>
                  </a:txBody>
                  <a:tcPr marL="36000" marR="36000" marT="7200" marB="7200" anchor="ctr">
                    <a:solidFill>
                      <a:srgbClr val="E3E7E9"/>
                    </a:solidFill>
                  </a:tcPr>
                </a:tc>
                <a:tc>
                  <a:txBody>
                    <a:bodyPr/>
                    <a:lstStyle/>
                    <a:p>
                      <a:pPr algn="l"/>
                      <a:endParaRPr/>
                    </a:p>
                  </a:txBody>
                  <a:tcPr marL="36000" marR="36000" marT="7200" marB="7200" anchor="ctr">
                    <a:solidFill>
                      <a:srgbClr val="E3E7E9"/>
                    </a:solidFill>
                  </a:tcPr>
                </a:tc>
                <a:tc>
                  <a:txBody>
                    <a:bodyPr/>
                    <a:lstStyle/>
                    <a:p>
                      <a:pPr algn="r"/>
                      <a:r>
                        <a:rPr sz="900" b="1">
                          <a:solidFill>
                            <a:srgbClr val="0B3041"/>
                          </a:solidFill>
                          <a:latin typeface="游ゴシック"/>
                          <a:ea typeface="游ゴシック"/>
                        </a:rPr>
                        <a:t>316,755</a:t>
                      </a:r>
                    </a:p>
                  </a:txBody>
                  <a:tcPr marL="36000" marR="36000" marT="7200" marB="7200" anchor="ctr">
                    <a:solidFill>
                      <a:srgbClr val="E3E7E9"/>
                    </a:solidFill>
                  </a:tcPr>
                </a:tc>
                <a:tc>
                  <a:txBody>
                    <a:bodyPr/>
                    <a:lstStyle/>
                    <a:p>
                      <a:pPr algn="r"/>
                      <a:r>
                        <a:rPr sz="900" b="1">
                          <a:solidFill>
                            <a:srgbClr val="0B3041"/>
                          </a:solidFill>
                          <a:latin typeface="游ゴシック"/>
                          <a:ea typeface="游ゴシック"/>
                        </a:rPr>
                        <a:t>443,868</a:t>
                      </a:r>
                    </a:p>
                  </a:txBody>
                  <a:tcPr marL="36000" marR="36000" marT="7200" marB="7200" anchor="ctr">
                    <a:solidFill>
                      <a:srgbClr val="E3E7E9"/>
                    </a:solidFill>
                  </a:tcPr>
                </a:tc>
                <a:tc>
                  <a:txBody>
                    <a:bodyPr/>
                    <a:lstStyle/>
                    <a:p>
                      <a:pPr algn="r"/>
                      <a:r>
                        <a:rPr sz="900" b="1">
                          <a:solidFill>
                            <a:srgbClr val="0B3041"/>
                          </a:solidFill>
                          <a:latin typeface="游ゴシック"/>
                          <a:ea typeface="游ゴシック"/>
                        </a:rPr>
                        <a:t>422,475</a:t>
                      </a:r>
                    </a:p>
                  </a:txBody>
                  <a:tcPr marL="36000" marR="36000" marT="7200" marB="7200" anchor="ctr">
                    <a:solidFill>
                      <a:srgbClr val="E3E7E9"/>
                    </a:solidFill>
                  </a:tcPr>
                </a:tc>
                <a:tc>
                  <a:txBody>
                    <a:bodyPr/>
                    <a:lstStyle/>
                    <a:p>
                      <a:pPr algn="r"/>
                      <a:r>
                        <a:rPr sz="900" b="1">
                          <a:solidFill>
                            <a:srgbClr val="0B3041"/>
                          </a:solidFill>
                          <a:latin typeface="游ゴシック"/>
                          <a:ea typeface="游ゴシック"/>
                        </a:rPr>
                        <a:t>100.0%</a:t>
                      </a:r>
                    </a:p>
                  </a:txBody>
                  <a:tcPr marL="36000" marR="36000" marT="7200" marB="7200" anchor="ctr">
                    <a:solidFill>
                      <a:srgbClr val="E3E7E9"/>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5886346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0B8376-2868-4693-0731-367BA549897E}"/>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C27F0F89-0B1D-9CEC-826A-DEB17C9DB0B7}"/>
              </a:ext>
            </a:extLst>
          </p:cNvPr>
          <p:cNvSpPr>
            <a:spLocks noGrp="1"/>
          </p:cNvSpPr>
          <p:nvPr>
            <p:ph type="ctrTitle"/>
          </p:nvPr>
        </p:nvSpPr>
        <p:spPr>
          <a:xfrm>
            <a:off x="311150" y="180296"/>
            <a:ext cx="7799917" cy="339267"/>
          </a:xfrm>
        </p:spPr>
        <p:txBody>
          <a:bodyPr>
            <a:normAutofit/>
          </a:bodyPr>
          <a:lstStyle/>
          <a:p>
            <a:r>
              <a:rPr lang="ja-JP" altLang="en-US" dirty="0"/>
              <a:t>仕入先別取引高</a:t>
            </a:r>
          </a:p>
        </p:txBody>
      </p:sp>
      <p:sp>
        <p:nvSpPr>
          <p:cNvPr id="5" name="タイトル 1">
            <a:extLst>
              <a:ext uri="{FF2B5EF4-FFF2-40B4-BE49-F238E27FC236}">
                <a16:creationId xmlns:a16="http://schemas.microsoft.com/office/drawing/2014/main" id="{2223494B-5776-7256-BAFB-772D4CDC079C}"/>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事業概要</a:t>
            </a:r>
          </a:p>
        </p:txBody>
      </p:sp>
      <p:sp>
        <p:nvSpPr>
          <p:cNvPr id="15" name="字幕 13">
            <a:extLst>
              <a:ext uri="{FF2B5EF4-FFF2-40B4-BE49-F238E27FC236}">
                <a16:creationId xmlns:a16="http://schemas.microsoft.com/office/drawing/2014/main" id="{1F008ACD-B486-E0BB-8334-06D21A697D08}"/>
              </a:ext>
            </a:extLst>
          </p:cNvPr>
          <p:cNvSpPr>
            <a:spLocks noGrp="1"/>
          </p:cNvSpPr>
          <p:nvPr>
            <p:ph type="subTitle" idx="1"/>
          </p:nvPr>
        </p:nvSpPr>
        <p:spPr>
          <a:xfrm>
            <a:off x="460675" y="830046"/>
            <a:ext cx="9781875" cy="241861"/>
          </a:xfrm>
        </p:spPr>
        <p:txBody>
          <a:bodyPr>
            <a:noAutofit/>
          </a:bodyPr>
          <a:lstStyle/>
          <a:p>
            <a:r>
              <a:rPr>
                <a:latin typeface="游ゴシック"/>
                <a:ea typeface="游ゴシック"/>
              </a:rPr>
              <a:t>製造は中国等海外の貿易商社・メーカーへの委託が中心。アクリル・缶バッジ・紙・成形品等、商材ごとに国内外の複数パートナーを確保し、特定先への依存を避けた調達体制です。</a:t>
            </a:r>
            <a:endParaRPr lang="en-US" altLang="ja-JP" dirty="0"/>
          </a:p>
        </p:txBody>
      </p:sp>
      <p:graphicFrame>
        <p:nvGraphicFramePr>
          <p:cNvPr id="16" name="Table 15"/>
          <p:cNvGraphicFramePr>
            <a:graphicFrameLocks noGrp="1"/>
          </p:cNvGraphicFramePr>
          <p:nvPr/>
        </p:nvGraphicFramePr>
        <p:xfrm>
          <a:off x="309600" y="1655999"/>
          <a:ext cx="9554400" cy="4211987"/>
        </p:xfrm>
        <a:graphic>
          <a:graphicData uri="http://schemas.openxmlformats.org/drawingml/2006/table">
            <a:tbl>
              <a:tblPr>
                <a:tableStyleId>{5C22544A-7EE6-4342-B048-85BDC9FD1C3A}</a:tableStyleId>
              </a:tblPr>
              <a:tblGrid>
                <a:gridCol w="4802400">
                  <a:extLst>
                    <a:ext uri="{9D8B030D-6E8A-4147-A177-3AD203B41FA5}">
                      <a16:colId xmlns:a16="http://schemas.microsoft.com/office/drawing/2014/main" val="20000"/>
                    </a:ext>
                  </a:extLst>
                </a:gridCol>
                <a:gridCol w="1224000">
                  <a:extLst>
                    <a:ext uri="{9D8B030D-6E8A-4147-A177-3AD203B41FA5}">
                      <a16:colId xmlns:a16="http://schemas.microsoft.com/office/drawing/2014/main" val="20001"/>
                    </a:ext>
                  </a:extLst>
                </a:gridCol>
                <a:gridCol w="1224000">
                  <a:extLst>
                    <a:ext uri="{9D8B030D-6E8A-4147-A177-3AD203B41FA5}">
                      <a16:colId xmlns:a16="http://schemas.microsoft.com/office/drawing/2014/main" val="20002"/>
                    </a:ext>
                  </a:extLst>
                </a:gridCol>
                <a:gridCol w="1224000">
                  <a:extLst>
                    <a:ext uri="{9D8B030D-6E8A-4147-A177-3AD203B41FA5}">
                      <a16:colId xmlns:a16="http://schemas.microsoft.com/office/drawing/2014/main" val="20003"/>
                    </a:ext>
                  </a:extLst>
                </a:gridCol>
                <a:gridCol w="1080000">
                  <a:extLst>
                    <a:ext uri="{9D8B030D-6E8A-4147-A177-3AD203B41FA5}">
                      <a16:colId xmlns:a16="http://schemas.microsoft.com/office/drawing/2014/main" val="20004"/>
                    </a:ext>
                  </a:extLst>
                </a:gridCol>
              </a:tblGrid>
              <a:tr h="323999">
                <a:tc>
                  <a:txBody>
                    <a:bodyPr/>
                    <a:lstStyle/>
                    <a:p>
                      <a:pPr algn="ctr"/>
                      <a:r>
                        <a:rPr sz="900" b="1">
                          <a:solidFill>
                            <a:srgbClr val="FFFFFF"/>
                          </a:solidFill>
                          <a:latin typeface="游ゴシック"/>
                          <a:ea typeface="游ゴシック"/>
                        </a:rPr>
                        <a:t>仕入先（相手先名は非開示・内容ベース）</a:t>
                      </a:r>
                    </a:p>
                  </a:txBody>
                  <a:tcPr marL="36000" marR="36000" marT="7200" marB="7200" anchor="ctr">
                    <a:solidFill>
                      <a:srgbClr val="0B3041"/>
                    </a:solidFill>
                  </a:tcPr>
                </a:tc>
                <a:tc>
                  <a:txBody>
                    <a:bodyPr/>
                    <a:lstStyle/>
                    <a:p>
                      <a:pPr algn="ctr"/>
                      <a:r>
                        <a:rPr sz="900" b="1">
                          <a:solidFill>
                            <a:srgbClr val="FFFFFF"/>
                          </a:solidFill>
                          <a:latin typeface="游ゴシック"/>
                          <a:ea typeface="游ゴシック"/>
                        </a:rPr>
                        <a:t>令6/1期</a:t>
                      </a:r>
                    </a:p>
                  </a:txBody>
                  <a:tcPr marL="36000" marR="36000" marT="7200" marB="7200" anchor="ctr">
                    <a:solidFill>
                      <a:srgbClr val="0B3041"/>
                    </a:solidFill>
                  </a:tcPr>
                </a:tc>
                <a:tc>
                  <a:txBody>
                    <a:bodyPr/>
                    <a:lstStyle/>
                    <a:p>
                      <a:pPr algn="ctr"/>
                      <a:r>
                        <a:rPr sz="900" b="1">
                          <a:solidFill>
                            <a:srgbClr val="FFFFFF"/>
                          </a:solidFill>
                          <a:latin typeface="游ゴシック"/>
                          <a:ea typeface="游ゴシック"/>
                        </a:rPr>
                        <a:t>令7/1期</a:t>
                      </a:r>
                    </a:p>
                  </a:txBody>
                  <a:tcPr marL="36000" marR="36000" marT="7200" marB="7200" anchor="ctr">
                    <a:solidFill>
                      <a:srgbClr val="0B3041"/>
                    </a:solidFill>
                  </a:tcPr>
                </a:tc>
                <a:tc>
                  <a:txBody>
                    <a:bodyPr/>
                    <a:lstStyle/>
                    <a:p>
                      <a:pPr algn="ctr"/>
                      <a:r>
                        <a:rPr sz="900" b="1">
                          <a:solidFill>
                            <a:srgbClr val="FFFFFF"/>
                          </a:solidFill>
                          <a:latin typeface="游ゴシック"/>
                          <a:ea typeface="游ゴシック"/>
                        </a:rPr>
                        <a:t>令8/1期</a:t>
                      </a:r>
                    </a:p>
                  </a:txBody>
                  <a:tcPr marL="36000" marR="36000" marT="7200" marB="7200" anchor="ctr">
                    <a:solidFill>
                      <a:srgbClr val="0B3041"/>
                    </a:solidFill>
                  </a:tcPr>
                </a:tc>
                <a:tc>
                  <a:txBody>
                    <a:bodyPr/>
                    <a:lstStyle/>
                    <a:p>
                      <a:pPr algn="ctr"/>
                      <a:r>
                        <a:rPr sz="900" b="1">
                          <a:solidFill>
                            <a:srgbClr val="FFFFFF"/>
                          </a:solidFill>
                          <a:latin typeface="游ゴシック"/>
                          <a:ea typeface="游ゴシック"/>
                        </a:rPr>
                        <a:t>構成比
(令8)</a:t>
                      </a:r>
                    </a:p>
                  </a:txBody>
                  <a:tcPr marL="36000" marR="36000" marT="7200" marB="7200" anchor="ctr">
                    <a:solidFill>
                      <a:srgbClr val="0B3041"/>
                    </a:solidFill>
                  </a:tcPr>
                </a:tc>
                <a:extLst>
                  <a:ext uri="{0D108BD9-81ED-4DB2-BD59-A6C34878D82A}">
                    <a16:rowId xmlns:a16="http://schemas.microsoft.com/office/drawing/2014/main" val="10000"/>
                  </a:ext>
                </a:extLst>
              </a:tr>
              <a:tr h="323999">
                <a:tc>
                  <a:txBody>
                    <a:bodyPr/>
                    <a:lstStyle/>
                    <a:p>
                      <a:pPr algn="l"/>
                      <a:r>
                        <a:rPr sz="900" b="0">
                          <a:solidFill>
                            <a:srgbClr val="0B3041"/>
                          </a:solidFill>
                          <a:latin typeface="游ゴシック"/>
                          <a:ea typeface="游ゴシック"/>
                        </a:rPr>
                        <a:t>1. 貿易商社（主に中国製グッズ製造依頼）</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96,295</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172,076</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122,909</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41.1%</a:t>
                      </a:r>
                    </a:p>
                  </a:txBody>
                  <a:tcPr marL="36000" marR="36000" marT="7200" marB="7200" anchor="ctr">
                    <a:solidFill>
                      <a:srgbClr val="FFFFFF"/>
                    </a:solidFill>
                  </a:tcPr>
                </a:tc>
                <a:extLst>
                  <a:ext uri="{0D108BD9-81ED-4DB2-BD59-A6C34878D82A}">
                    <a16:rowId xmlns:a16="http://schemas.microsoft.com/office/drawing/2014/main" val="10001"/>
                  </a:ext>
                </a:extLst>
              </a:tr>
              <a:tr h="323999">
                <a:tc>
                  <a:txBody>
                    <a:bodyPr/>
                    <a:lstStyle/>
                    <a:p>
                      <a:pPr algn="l"/>
                      <a:r>
                        <a:rPr sz="900" b="0">
                          <a:solidFill>
                            <a:srgbClr val="0B3041"/>
                          </a:solidFill>
                          <a:latin typeface="游ゴシック"/>
                          <a:ea typeface="游ゴシック"/>
                        </a:rPr>
                        <a:t>2. アパレル商品の日本メーカー</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33,756</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11.3%</a:t>
                      </a:r>
                    </a:p>
                  </a:txBody>
                  <a:tcPr marL="36000" marR="36000" marT="7200" marB="7200" anchor="ctr">
                    <a:solidFill>
                      <a:srgbClr val="F4F7F9"/>
                    </a:solidFill>
                  </a:tcPr>
                </a:tc>
                <a:extLst>
                  <a:ext uri="{0D108BD9-81ED-4DB2-BD59-A6C34878D82A}">
                    <a16:rowId xmlns:a16="http://schemas.microsoft.com/office/drawing/2014/main" val="10002"/>
                  </a:ext>
                </a:extLst>
              </a:tr>
              <a:tr h="323999">
                <a:tc>
                  <a:txBody>
                    <a:bodyPr/>
                    <a:lstStyle/>
                    <a:p>
                      <a:pPr algn="l"/>
                      <a:r>
                        <a:rPr sz="900" b="0">
                          <a:solidFill>
                            <a:srgbClr val="0B3041"/>
                          </a:solidFill>
                          <a:latin typeface="游ゴシック"/>
                          <a:ea typeface="游ゴシック"/>
                        </a:rPr>
                        <a:t>3. アパレル商品の貿易商社</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30,943</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10.4%</a:t>
                      </a:r>
                    </a:p>
                  </a:txBody>
                  <a:tcPr marL="36000" marR="36000" marT="7200" marB="7200" anchor="ctr">
                    <a:solidFill>
                      <a:srgbClr val="FFFFFF"/>
                    </a:solidFill>
                  </a:tcPr>
                </a:tc>
                <a:extLst>
                  <a:ext uri="{0D108BD9-81ED-4DB2-BD59-A6C34878D82A}">
                    <a16:rowId xmlns:a16="http://schemas.microsoft.com/office/drawing/2014/main" val="10003"/>
                  </a:ext>
                </a:extLst>
              </a:tr>
              <a:tr h="323999">
                <a:tc>
                  <a:txBody>
                    <a:bodyPr/>
                    <a:lstStyle/>
                    <a:p>
                      <a:pPr algn="l"/>
                      <a:r>
                        <a:rPr sz="900" b="0">
                          <a:solidFill>
                            <a:srgbClr val="0B3041"/>
                          </a:solidFill>
                          <a:latin typeface="游ゴシック"/>
                          <a:ea typeface="游ゴシック"/>
                        </a:rPr>
                        <a:t>4. アクリルの日本メーカー</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40,487</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24,488</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27,083</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9.1%</a:t>
                      </a:r>
                    </a:p>
                  </a:txBody>
                  <a:tcPr marL="36000" marR="36000" marT="7200" marB="7200" anchor="ctr">
                    <a:solidFill>
                      <a:srgbClr val="F4F7F9"/>
                    </a:solidFill>
                  </a:tcPr>
                </a:tc>
                <a:extLst>
                  <a:ext uri="{0D108BD9-81ED-4DB2-BD59-A6C34878D82A}">
                    <a16:rowId xmlns:a16="http://schemas.microsoft.com/office/drawing/2014/main" val="10004"/>
                  </a:ext>
                </a:extLst>
              </a:tr>
              <a:tr h="323999">
                <a:tc>
                  <a:txBody>
                    <a:bodyPr/>
                    <a:lstStyle/>
                    <a:p>
                      <a:pPr algn="l"/>
                      <a:r>
                        <a:rPr sz="900" b="0">
                          <a:solidFill>
                            <a:srgbClr val="0B3041"/>
                          </a:solidFill>
                          <a:latin typeface="游ゴシック"/>
                          <a:ea typeface="游ゴシック"/>
                        </a:rPr>
                        <a:t>5. アクリル・缶バッジ・紙類の日本メーカー</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11,237</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19,690</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24,774</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8.3%</a:t>
                      </a:r>
                    </a:p>
                  </a:txBody>
                  <a:tcPr marL="36000" marR="36000" marT="7200" marB="7200" anchor="ctr">
                    <a:solidFill>
                      <a:srgbClr val="FFFFFF"/>
                    </a:solidFill>
                  </a:tcPr>
                </a:tc>
                <a:extLst>
                  <a:ext uri="{0D108BD9-81ED-4DB2-BD59-A6C34878D82A}">
                    <a16:rowId xmlns:a16="http://schemas.microsoft.com/office/drawing/2014/main" val="10005"/>
                  </a:ext>
                </a:extLst>
              </a:tr>
              <a:tr h="323999">
                <a:tc>
                  <a:txBody>
                    <a:bodyPr/>
                    <a:lstStyle/>
                    <a:p>
                      <a:pPr algn="l"/>
                      <a:r>
                        <a:rPr sz="900" b="0">
                          <a:solidFill>
                            <a:srgbClr val="0B3041"/>
                          </a:solidFill>
                          <a:latin typeface="游ゴシック"/>
                          <a:ea typeface="游ゴシック"/>
                        </a:rPr>
                        <a:t>6. 成形品・ぬいぐるみの中国メーカー</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17,563</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10,980</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3.7%</a:t>
                      </a:r>
                    </a:p>
                  </a:txBody>
                  <a:tcPr marL="36000" marR="36000" marT="7200" marB="7200" anchor="ctr">
                    <a:solidFill>
                      <a:srgbClr val="F4F7F9"/>
                    </a:solidFill>
                  </a:tcPr>
                </a:tc>
                <a:extLst>
                  <a:ext uri="{0D108BD9-81ED-4DB2-BD59-A6C34878D82A}">
                    <a16:rowId xmlns:a16="http://schemas.microsoft.com/office/drawing/2014/main" val="10006"/>
                  </a:ext>
                </a:extLst>
              </a:tr>
              <a:tr h="323999">
                <a:tc>
                  <a:txBody>
                    <a:bodyPr/>
                    <a:lstStyle/>
                    <a:p>
                      <a:pPr algn="l"/>
                      <a:r>
                        <a:rPr sz="900" b="0">
                          <a:solidFill>
                            <a:srgbClr val="0B3041"/>
                          </a:solidFill>
                          <a:latin typeface="游ゴシック"/>
                          <a:ea typeface="游ゴシック"/>
                        </a:rPr>
                        <a:t>7. 缶バッジ特殊加工の日本メーカー</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7,583</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2.5%</a:t>
                      </a:r>
                    </a:p>
                  </a:txBody>
                  <a:tcPr marL="36000" marR="36000" marT="7200" marB="7200" anchor="ctr">
                    <a:solidFill>
                      <a:srgbClr val="FFFFFF"/>
                    </a:solidFill>
                  </a:tcPr>
                </a:tc>
                <a:extLst>
                  <a:ext uri="{0D108BD9-81ED-4DB2-BD59-A6C34878D82A}">
                    <a16:rowId xmlns:a16="http://schemas.microsoft.com/office/drawing/2014/main" val="10007"/>
                  </a:ext>
                </a:extLst>
              </a:tr>
              <a:tr h="323999">
                <a:tc>
                  <a:txBody>
                    <a:bodyPr/>
                    <a:lstStyle/>
                    <a:p>
                      <a:pPr algn="l"/>
                      <a:r>
                        <a:rPr sz="900" b="0">
                          <a:solidFill>
                            <a:srgbClr val="0B3041"/>
                          </a:solidFill>
                          <a:latin typeface="游ゴシック"/>
                          <a:ea typeface="游ゴシック"/>
                        </a:rPr>
                        <a:t>8. デジタル機能付きグッズの日本メーカー</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5,271</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1.8%</a:t>
                      </a:r>
                    </a:p>
                  </a:txBody>
                  <a:tcPr marL="36000" marR="36000" marT="7200" marB="7200" anchor="ctr">
                    <a:solidFill>
                      <a:srgbClr val="F4F7F9"/>
                    </a:solidFill>
                  </a:tcPr>
                </a:tc>
                <a:extLst>
                  <a:ext uri="{0D108BD9-81ED-4DB2-BD59-A6C34878D82A}">
                    <a16:rowId xmlns:a16="http://schemas.microsoft.com/office/drawing/2014/main" val="10008"/>
                  </a:ext>
                </a:extLst>
              </a:tr>
              <a:tr h="323999">
                <a:tc>
                  <a:txBody>
                    <a:bodyPr/>
                    <a:lstStyle/>
                    <a:p>
                      <a:pPr algn="l"/>
                      <a:r>
                        <a:rPr sz="900" b="0">
                          <a:solidFill>
                            <a:srgbClr val="0B3041"/>
                          </a:solidFill>
                          <a:latin typeface="游ゴシック"/>
                          <a:ea typeface="游ゴシック"/>
                        </a:rPr>
                        <a:t>9. 紙類の日本商社</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679</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2,690</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5,225</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1.7%</a:t>
                      </a:r>
                    </a:p>
                  </a:txBody>
                  <a:tcPr marL="36000" marR="36000" marT="7200" marB="7200" anchor="ctr">
                    <a:solidFill>
                      <a:srgbClr val="FFFFFF"/>
                    </a:solidFill>
                  </a:tcPr>
                </a:tc>
                <a:extLst>
                  <a:ext uri="{0D108BD9-81ED-4DB2-BD59-A6C34878D82A}">
                    <a16:rowId xmlns:a16="http://schemas.microsoft.com/office/drawing/2014/main" val="10009"/>
                  </a:ext>
                </a:extLst>
              </a:tr>
              <a:tr h="323999">
                <a:tc>
                  <a:txBody>
                    <a:bodyPr/>
                    <a:lstStyle/>
                    <a:p>
                      <a:pPr algn="l"/>
                      <a:r>
                        <a:rPr sz="900" b="0">
                          <a:solidFill>
                            <a:srgbClr val="0B3041"/>
                          </a:solidFill>
                          <a:latin typeface="游ゴシック"/>
                          <a:ea typeface="游ゴシック"/>
                        </a:rPr>
                        <a:t>10. ロイヤリティー支払先</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14,348</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23,586</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4,907</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1.6%</a:t>
                      </a:r>
                    </a:p>
                  </a:txBody>
                  <a:tcPr marL="36000" marR="36000" marT="7200" marB="7200" anchor="ctr">
                    <a:solidFill>
                      <a:srgbClr val="F4F7F9"/>
                    </a:solidFill>
                  </a:tcPr>
                </a:tc>
                <a:extLst>
                  <a:ext uri="{0D108BD9-81ED-4DB2-BD59-A6C34878D82A}">
                    <a16:rowId xmlns:a16="http://schemas.microsoft.com/office/drawing/2014/main" val="10010"/>
                  </a:ext>
                </a:extLst>
              </a:tr>
              <a:tr h="323999">
                <a:tc>
                  <a:txBody>
                    <a:bodyPr/>
                    <a:lstStyle/>
                    <a:p>
                      <a:pPr algn="l"/>
                      <a:r>
                        <a:rPr sz="900" b="0">
                          <a:solidFill>
                            <a:srgbClr val="0B3041"/>
                          </a:solidFill>
                          <a:latin typeface="游ゴシック"/>
                          <a:ea typeface="游ゴシック"/>
                        </a:rPr>
                        <a:t>その他(上位10項目以外)</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42,258</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55,421</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25,273</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8.5%</a:t>
                      </a:r>
                    </a:p>
                  </a:txBody>
                  <a:tcPr marL="36000" marR="36000" marT="7200" marB="7200" anchor="ctr">
                    <a:solidFill>
                      <a:srgbClr val="FFFFFF"/>
                    </a:solidFill>
                  </a:tcPr>
                </a:tc>
                <a:extLst>
                  <a:ext uri="{0D108BD9-81ED-4DB2-BD59-A6C34878D82A}">
                    <a16:rowId xmlns:a16="http://schemas.microsoft.com/office/drawing/2014/main" val="10011"/>
                  </a:ext>
                </a:extLst>
              </a:tr>
              <a:tr h="323999">
                <a:tc>
                  <a:txBody>
                    <a:bodyPr/>
                    <a:lstStyle/>
                    <a:p>
                      <a:pPr algn="l"/>
                      <a:r>
                        <a:rPr sz="900" b="1">
                          <a:solidFill>
                            <a:srgbClr val="0B3041"/>
                          </a:solidFill>
                          <a:latin typeface="游ゴシック"/>
                          <a:ea typeface="游ゴシック"/>
                        </a:rPr>
                        <a:t>合計</a:t>
                      </a:r>
                    </a:p>
                  </a:txBody>
                  <a:tcPr marL="36000" marR="36000" marT="7200" marB="7200" anchor="ctr">
                    <a:solidFill>
                      <a:srgbClr val="E3E7E9"/>
                    </a:solidFill>
                  </a:tcPr>
                </a:tc>
                <a:tc>
                  <a:txBody>
                    <a:bodyPr/>
                    <a:lstStyle/>
                    <a:p>
                      <a:pPr algn="r"/>
                      <a:r>
                        <a:rPr sz="900" b="1">
                          <a:solidFill>
                            <a:srgbClr val="0B3041"/>
                          </a:solidFill>
                          <a:latin typeface="游ゴシック"/>
                          <a:ea typeface="游ゴシック"/>
                        </a:rPr>
                        <a:t>205,303</a:t>
                      </a:r>
                    </a:p>
                  </a:txBody>
                  <a:tcPr marL="36000" marR="36000" marT="7200" marB="7200" anchor="ctr">
                    <a:solidFill>
                      <a:srgbClr val="E3E7E9"/>
                    </a:solidFill>
                  </a:tcPr>
                </a:tc>
                <a:tc>
                  <a:txBody>
                    <a:bodyPr/>
                    <a:lstStyle/>
                    <a:p>
                      <a:pPr algn="r"/>
                      <a:r>
                        <a:rPr sz="900" b="1">
                          <a:solidFill>
                            <a:srgbClr val="0B3041"/>
                          </a:solidFill>
                          <a:latin typeface="游ゴシック"/>
                          <a:ea typeface="游ゴシック"/>
                        </a:rPr>
                        <a:t>315,513</a:t>
                      </a:r>
                    </a:p>
                  </a:txBody>
                  <a:tcPr marL="36000" marR="36000" marT="7200" marB="7200" anchor="ctr">
                    <a:solidFill>
                      <a:srgbClr val="E3E7E9"/>
                    </a:solidFill>
                  </a:tcPr>
                </a:tc>
                <a:tc>
                  <a:txBody>
                    <a:bodyPr/>
                    <a:lstStyle/>
                    <a:p>
                      <a:pPr algn="r"/>
                      <a:r>
                        <a:rPr sz="900" b="1">
                          <a:solidFill>
                            <a:srgbClr val="0B3041"/>
                          </a:solidFill>
                          <a:latin typeface="游ゴシック"/>
                          <a:ea typeface="游ゴシック"/>
                        </a:rPr>
                        <a:t>298,703</a:t>
                      </a:r>
                    </a:p>
                  </a:txBody>
                  <a:tcPr marL="36000" marR="36000" marT="7200" marB="7200" anchor="ctr">
                    <a:solidFill>
                      <a:srgbClr val="E3E7E9"/>
                    </a:solidFill>
                  </a:tcPr>
                </a:tc>
                <a:tc>
                  <a:txBody>
                    <a:bodyPr/>
                    <a:lstStyle/>
                    <a:p>
                      <a:pPr algn="r"/>
                      <a:r>
                        <a:rPr sz="900" b="1">
                          <a:solidFill>
                            <a:srgbClr val="0B3041"/>
                          </a:solidFill>
                          <a:latin typeface="游ゴシック"/>
                          <a:ea typeface="游ゴシック"/>
                        </a:rPr>
                        <a:t>100.0%</a:t>
                      </a:r>
                    </a:p>
                  </a:txBody>
                  <a:tcPr marL="36000" marR="36000" marT="7200" marB="7200" anchor="ctr">
                    <a:solidFill>
                      <a:srgbClr val="E3E7E9"/>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19629684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E7C0C1-FCD4-88FA-EA3C-20168900DCC8}"/>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AE20CDE1-7008-F0D4-81FD-53AE154BF5EA}"/>
              </a:ext>
            </a:extLst>
          </p:cNvPr>
          <p:cNvSpPr>
            <a:spLocks noGrp="1"/>
          </p:cNvSpPr>
          <p:nvPr>
            <p:ph type="ctrTitle"/>
          </p:nvPr>
        </p:nvSpPr>
        <p:spPr>
          <a:xfrm>
            <a:off x="311150" y="180296"/>
            <a:ext cx="7799917" cy="339267"/>
          </a:xfrm>
        </p:spPr>
        <p:txBody>
          <a:bodyPr>
            <a:normAutofit/>
          </a:bodyPr>
          <a:lstStyle/>
          <a:p>
            <a:r>
              <a:rPr>
                <a:latin typeface="游ゴシック"/>
                <a:ea typeface="游ゴシック"/>
              </a:rPr>
              <a:t>製造委託・外部委託関連費用</a:t>
            </a:r>
          </a:p>
        </p:txBody>
      </p:sp>
      <p:sp>
        <p:nvSpPr>
          <p:cNvPr id="5" name="タイトル 1">
            <a:extLst>
              <a:ext uri="{FF2B5EF4-FFF2-40B4-BE49-F238E27FC236}">
                <a16:creationId xmlns:a16="http://schemas.microsoft.com/office/drawing/2014/main" id="{6790A563-0096-2902-0624-D66AB2A099BD}"/>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事業概要</a:t>
            </a:r>
          </a:p>
        </p:txBody>
      </p:sp>
      <p:sp>
        <p:nvSpPr>
          <p:cNvPr id="7" name="字幕 13">
            <a:extLst>
              <a:ext uri="{FF2B5EF4-FFF2-40B4-BE49-F238E27FC236}">
                <a16:creationId xmlns:a16="http://schemas.microsoft.com/office/drawing/2014/main" id="{C28AC2D5-7B01-C5B2-1062-1CE28DB5BD3C}"/>
              </a:ext>
            </a:extLst>
          </p:cNvPr>
          <p:cNvSpPr>
            <a:spLocks noGrp="1"/>
          </p:cNvSpPr>
          <p:nvPr>
            <p:ph type="subTitle" idx="1"/>
          </p:nvPr>
        </p:nvSpPr>
        <p:spPr>
          <a:xfrm>
            <a:off x="460675" y="830046"/>
            <a:ext cx="9781875" cy="241861"/>
          </a:xfrm>
        </p:spPr>
        <p:txBody>
          <a:bodyPr>
            <a:noAutofit/>
          </a:bodyPr>
          <a:lstStyle/>
          <a:p>
            <a:r>
              <a:rPr>
                <a:latin typeface="+mj-ea"/>
                <a:ea typeface="+mj-ea"/>
              </a:rPr>
              <a:t>自社で在庫・設備を大きく持たないファブレス型のため、原価の大半は外部への製造委託費・仕入で構成されます。外注先の個社別内訳は仕入先と一体で管理されており、詳細はデータルームにて開示予定です。</a:t>
            </a:r>
            <a:endParaRPr lang="en-US" altLang="ja-JP" dirty="0"/>
          </a:p>
        </p:txBody>
      </p:sp>
      <p:graphicFrame>
        <p:nvGraphicFramePr>
          <p:cNvPr id="14" name="Table 13"/>
          <p:cNvGraphicFramePr>
            <a:graphicFrameLocks noGrp="1"/>
          </p:cNvGraphicFramePr>
          <p:nvPr/>
        </p:nvGraphicFramePr>
        <p:xfrm>
          <a:off x="309600" y="1655999"/>
          <a:ext cx="6120000" cy="2170626"/>
        </p:xfrm>
        <a:graphic>
          <a:graphicData uri="http://schemas.openxmlformats.org/drawingml/2006/table">
            <a:tbl>
              <a:tblPr>
                <a:tableStyleId>{5C22544A-7EE6-4342-B048-85BDC9FD1C3A}</a:tableStyleId>
              </a:tblPr>
              <a:tblGrid>
                <a:gridCol w="2808000">
                  <a:extLst>
                    <a:ext uri="{9D8B030D-6E8A-4147-A177-3AD203B41FA5}">
                      <a16:colId xmlns:a16="http://schemas.microsoft.com/office/drawing/2014/main" val="20000"/>
                    </a:ext>
                  </a:extLst>
                </a:gridCol>
                <a:gridCol w="1105200">
                  <a:extLst>
                    <a:ext uri="{9D8B030D-6E8A-4147-A177-3AD203B41FA5}">
                      <a16:colId xmlns:a16="http://schemas.microsoft.com/office/drawing/2014/main" val="20001"/>
                    </a:ext>
                  </a:extLst>
                </a:gridCol>
                <a:gridCol w="1105200">
                  <a:extLst>
                    <a:ext uri="{9D8B030D-6E8A-4147-A177-3AD203B41FA5}">
                      <a16:colId xmlns:a16="http://schemas.microsoft.com/office/drawing/2014/main" val="20002"/>
                    </a:ext>
                  </a:extLst>
                </a:gridCol>
                <a:gridCol w="1101600">
                  <a:extLst>
                    <a:ext uri="{9D8B030D-6E8A-4147-A177-3AD203B41FA5}">
                      <a16:colId xmlns:a16="http://schemas.microsoft.com/office/drawing/2014/main" val="20003"/>
                    </a:ext>
                  </a:extLst>
                </a:gridCol>
              </a:tblGrid>
              <a:tr h="308571">
                <a:tc>
                  <a:txBody>
                    <a:bodyPr/>
                    <a:lstStyle/>
                    <a:p>
                      <a:pPr algn="ctr"/>
                      <a:r>
                        <a:rPr sz="1000" b="1">
                          <a:solidFill>
                            <a:srgbClr val="FFFFFF"/>
                          </a:solidFill>
                          <a:latin typeface="游ゴシック"/>
                          <a:ea typeface="游ゴシック"/>
                        </a:rPr>
                        <a:t>科目</a:t>
                      </a:r>
                    </a:p>
                  </a:txBody>
                  <a:tcPr marL="36000" marR="36000" marT="7200" marB="7200" anchor="ctr">
                    <a:solidFill>
                      <a:srgbClr val="0B3041"/>
                    </a:solidFill>
                  </a:tcPr>
                </a:tc>
                <a:tc>
                  <a:txBody>
                    <a:bodyPr/>
                    <a:lstStyle/>
                    <a:p>
                      <a:pPr algn="ctr"/>
                      <a:r>
                        <a:rPr sz="1000" b="1">
                          <a:solidFill>
                            <a:srgbClr val="FFFFFF"/>
                          </a:solidFill>
                          <a:latin typeface="游ゴシック"/>
                          <a:ea typeface="游ゴシック"/>
                        </a:rPr>
                        <a:t>令和6年
1月期</a:t>
                      </a:r>
                    </a:p>
                  </a:txBody>
                  <a:tcPr marL="36000" marR="36000" marT="7200" marB="7200" anchor="ctr">
                    <a:solidFill>
                      <a:srgbClr val="0B3041"/>
                    </a:solidFill>
                  </a:tcPr>
                </a:tc>
                <a:tc>
                  <a:txBody>
                    <a:bodyPr/>
                    <a:lstStyle/>
                    <a:p>
                      <a:pPr algn="ctr"/>
                      <a:r>
                        <a:rPr sz="1000" b="1">
                          <a:solidFill>
                            <a:srgbClr val="FFFFFF"/>
                          </a:solidFill>
                          <a:latin typeface="游ゴシック"/>
                          <a:ea typeface="游ゴシック"/>
                        </a:rPr>
                        <a:t>令和7年
1月期</a:t>
                      </a:r>
                    </a:p>
                  </a:txBody>
                  <a:tcPr marL="36000" marR="36000" marT="7200" marB="7200" anchor="ctr">
                    <a:solidFill>
                      <a:srgbClr val="0B3041"/>
                    </a:solidFill>
                  </a:tcPr>
                </a:tc>
                <a:tc>
                  <a:txBody>
                    <a:bodyPr/>
                    <a:lstStyle/>
                    <a:p>
                      <a:pPr algn="ctr"/>
                      <a:r>
                        <a:rPr sz="1000" b="1">
                          <a:solidFill>
                            <a:srgbClr val="FFFFFF"/>
                          </a:solidFill>
                          <a:latin typeface="游ゴシック"/>
                          <a:ea typeface="游ゴシック"/>
                        </a:rPr>
                        <a:t>令和8年
1月期</a:t>
                      </a:r>
                    </a:p>
                  </a:txBody>
                  <a:tcPr marL="36000" marR="36000" marT="7200" marB="7200" anchor="ctr">
                    <a:solidFill>
                      <a:srgbClr val="0B3041"/>
                    </a:solidFill>
                  </a:tcPr>
                </a:tc>
                <a:extLst>
                  <a:ext uri="{0D108BD9-81ED-4DB2-BD59-A6C34878D82A}">
                    <a16:rowId xmlns:a16="http://schemas.microsoft.com/office/drawing/2014/main" val="10000"/>
                  </a:ext>
                </a:extLst>
              </a:tr>
              <a:tr h="308571">
                <a:tc>
                  <a:txBody>
                    <a:bodyPr/>
                    <a:lstStyle/>
                    <a:p>
                      <a:pPr algn="l"/>
                      <a:r>
                        <a:rPr sz="1000" b="0">
                          <a:solidFill>
                            <a:srgbClr val="0B3041"/>
                          </a:solidFill>
                          <a:latin typeface="游ゴシック"/>
                          <a:ea typeface="游ゴシック"/>
                        </a:rPr>
                        <a:t>当期商品仕入高（製造委託分）</a:t>
                      </a:r>
                    </a:p>
                  </a:txBody>
                  <a:tcPr marL="36000" marR="36000" marT="7200" marB="7200" anchor="ctr">
                    <a:solidFill>
                      <a:srgbClr val="FFFFFF"/>
                    </a:solidFill>
                  </a:tcPr>
                </a:tc>
                <a:tc>
                  <a:txBody>
                    <a:bodyPr/>
                    <a:lstStyle/>
                    <a:p>
                      <a:pPr algn="r"/>
                      <a:r>
                        <a:rPr sz="1000" b="0">
                          <a:solidFill>
                            <a:srgbClr val="0B3041"/>
                          </a:solidFill>
                          <a:latin typeface="游ゴシック"/>
                          <a:ea typeface="游ゴシック"/>
                        </a:rPr>
                        <a:t>172,657</a:t>
                      </a:r>
                    </a:p>
                  </a:txBody>
                  <a:tcPr marL="36000" marR="36000" marT="7200" marB="7200" anchor="ctr">
                    <a:solidFill>
                      <a:srgbClr val="FFFFFF"/>
                    </a:solidFill>
                  </a:tcPr>
                </a:tc>
                <a:tc>
                  <a:txBody>
                    <a:bodyPr/>
                    <a:lstStyle/>
                    <a:p>
                      <a:pPr algn="r"/>
                      <a:r>
                        <a:rPr sz="1000" b="0">
                          <a:solidFill>
                            <a:srgbClr val="0B3041"/>
                          </a:solidFill>
                          <a:latin typeface="游ゴシック"/>
                          <a:ea typeface="游ゴシック"/>
                        </a:rPr>
                        <a:t>237,258</a:t>
                      </a:r>
                    </a:p>
                  </a:txBody>
                  <a:tcPr marL="36000" marR="36000" marT="7200" marB="7200" anchor="ctr">
                    <a:solidFill>
                      <a:srgbClr val="FFFFFF"/>
                    </a:solidFill>
                  </a:tcPr>
                </a:tc>
                <a:tc>
                  <a:txBody>
                    <a:bodyPr/>
                    <a:lstStyle/>
                    <a:p>
                      <a:pPr algn="r"/>
                      <a:r>
                        <a:rPr sz="1000" b="0">
                          <a:solidFill>
                            <a:srgbClr val="0B3041"/>
                          </a:solidFill>
                          <a:latin typeface="游ゴシック"/>
                          <a:ea typeface="游ゴシック"/>
                        </a:rPr>
                        <a:t>225,575</a:t>
                      </a:r>
                    </a:p>
                  </a:txBody>
                  <a:tcPr marL="36000" marR="36000" marT="7200" marB="7200" anchor="ctr">
                    <a:solidFill>
                      <a:srgbClr val="FFFFFF"/>
                    </a:solidFill>
                  </a:tcPr>
                </a:tc>
                <a:extLst>
                  <a:ext uri="{0D108BD9-81ED-4DB2-BD59-A6C34878D82A}">
                    <a16:rowId xmlns:a16="http://schemas.microsoft.com/office/drawing/2014/main" val="10001"/>
                  </a:ext>
                </a:extLst>
              </a:tr>
              <a:tr h="308571">
                <a:tc>
                  <a:txBody>
                    <a:bodyPr/>
                    <a:lstStyle/>
                    <a:p>
                      <a:pPr algn="l"/>
                      <a:r>
                        <a:rPr sz="1000" b="0">
                          <a:solidFill>
                            <a:srgbClr val="0B3041"/>
                          </a:solidFill>
                          <a:latin typeface="游ゴシック"/>
                          <a:ea typeface="游ゴシック"/>
                        </a:rPr>
                        <a:t>（製）支払手数料</a:t>
                      </a:r>
                    </a:p>
                  </a:txBody>
                  <a:tcPr marL="36000" marR="36000" marT="7200" marB="7200" anchor="ctr">
                    <a:solidFill>
                      <a:srgbClr val="F4F7F9"/>
                    </a:solidFill>
                  </a:tcPr>
                </a:tc>
                <a:tc>
                  <a:txBody>
                    <a:bodyPr/>
                    <a:lstStyle/>
                    <a:p>
                      <a:pPr algn="r"/>
                      <a:r>
                        <a:rPr sz="1000" b="0">
                          <a:solidFill>
                            <a:srgbClr val="0B3041"/>
                          </a:solidFill>
                          <a:latin typeface="游ゴシック"/>
                          <a:ea typeface="游ゴシック"/>
                        </a:rPr>
                        <a:t>26,574</a:t>
                      </a:r>
                    </a:p>
                  </a:txBody>
                  <a:tcPr marL="36000" marR="36000" marT="7200" marB="7200" anchor="ctr">
                    <a:solidFill>
                      <a:srgbClr val="F4F7F9"/>
                    </a:solidFill>
                  </a:tcPr>
                </a:tc>
                <a:tc>
                  <a:txBody>
                    <a:bodyPr/>
                    <a:lstStyle/>
                    <a:p>
                      <a:pPr algn="r"/>
                      <a:r>
                        <a:rPr sz="1000" b="0">
                          <a:solidFill>
                            <a:srgbClr val="0B3041"/>
                          </a:solidFill>
                          <a:latin typeface="游ゴシック"/>
                          <a:ea typeface="游ゴシック"/>
                        </a:rPr>
                        <a:t>50,723</a:t>
                      </a:r>
                    </a:p>
                  </a:txBody>
                  <a:tcPr marL="36000" marR="36000" marT="7200" marB="7200" anchor="ctr">
                    <a:solidFill>
                      <a:srgbClr val="F4F7F9"/>
                    </a:solidFill>
                  </a:tcPr>
                </a:tc>
                <a:tc>
                  <a:txBody>
                    <a:bodyPr/>
                    <a:lstStyle/>
                    <a:p>
                      <a:pPr algn="r"/>
                      <a:r>
                        <a:rPr sz="1000" b="0">
                          <a:solidFill>
                            <a:srgbClr val="0B3041"/>
                          </a:solidFill>
                          <a:latin typeface="游ゴシック"/>
                          <a:ea typeface="游ゴシック"/>
                        </a:rPr>
                        <a:t>21,094</a:t>
                      </a:r>
                    </a:p>
                  </a:txBody>
                  <a:tcPr marL="36000" marR="36000" marT="7200" marB="7200" anchor="ctr">
                    <a:solidFill>
                      <a:srgbClr val="F4F7F9"/>
                    </a:solidFill>
                  </a:tcPr>
                </a:tc>
                <a:extLst>
                  <a:ext uri="{0D108BD9-81ED-4DB2-BD59-A6C34878D82A}">
                    <a16:rowId xmlns:a16="http://schemas.microsoft.com/office/drawing/2014/main" val="10002"/>
                  </a:ext>
                </a:extLst>
              </a:tr>
              <a:tr h="308571">
                <a:tc>
                  <a:txBody>
                    <a:bodyPr/>
                    <a:lstStyle/>
                    <a:p>
                      <a:pPr algn="l"/>
                      <a:r>
                        <a:rPr sz="1000" b="0">
                          <a:solidFill>
                            <a:srgbClr val="0B3041"/>
                          </a:solidFill>
                          <a:latin typeface="游ゴシック"/>
                          <a:ea typeface="游ゴシック"/>
                        </a:rPr>
                        <a:t>（製）外注費</a:t>
                      </a:r>
                    </a:p>
                  </a:txBody>
                  <a:tcPr marL="36000" marR="36000" marT="7200" marB="7200" anchor="ctr">
                    <a:solidFill>
                      <a:srgbClr val="FFFFFF"/>
                    </a:solidFill>
                  </a:tcPr>
                </a:tc>
                <a:tc>
                  <a:txBody>
                    <a:bodyPr/>
                    <a:lstStyle/>
                    <a:p>
                      <a:pPr algn="r"/>
                      <a:r>
                        <a:rPr sz="1000" b="0">
                          <a:solidFill>
                            <a:srgbClr val="0B3041"/>
                          </a:solidFill>
                          <a:latin typeface="游ゴシック"/>
                          <a:ea typeface="游ゴシック"/>
                        </a:rPr>
                        <a:t>8,299</a:t>
                      </a:r>
                    </a:p>
                  </a:txBody>
                  <a:tcPr marL="36000" marR="36000" marT="7200" marB="7200" anchor="ctr">
                    <a:solidFill>
                      <a:srgbClr val="FFFFFF"/>
                    </a:solidFill>
                  </a:tcPr>
                </a:tc>
                <a:tc>
                  <a:txBody>
                    <a:bodyPr/>
                    <a:lstStyle/>
                    <a:p>
                      <a:pPr algn="r"/>
                      <a:r>
                        <a:rPr sz="1000" b="0">
                          <a:solidFill>
                            <a:srgbClr val="0B3041"/>
                          </a:solidFill>
                          <a:latin typeface="游ゴシック"/>
                          <a:ea typeface="游ゴシック"/>
                        </a:rPr>
                        <a:t>9,972</a:t>
                      </a:r>
                    </a:p>
                  </a:txBody>
                  <a:tcPr marL="36000" marR="36000" marT="7200" marB="7200" anchor="ctr">
                    <a:solidFill>
                      <a:srgbClr val="FFFFFF"/>
                    </a:solidFill>
                  </a:tcPr>
                </a:tc>
                <a:tc>
                  <a:txBody>
                    <a:bodyPr/>
                    <a:lstStyle/>
                    <a:p>
                      <a:pPr algn="r"/>
                      <a:r>
                        <a:rPr sz="1000" b="0">
                          <a:solidFill>
                            <a:srgbClr val="0B3041"/>
                          </a:solidFill>
                          <a:latin typeface="游ゴシック"/>
                          <a:ea typeface="游ゴシック"/>
                        </a:rPr>
                        <a:t>5,262</a:t>
                      </a:r>
                    </a:p>
                  </a:txBody>
                  <a:tcPr marL="36000" marR="36000" marT="7200" marB="7200" anchor="ctr">
                    <a:solidFill>
                      <a:srgbClr val="FFFFFF"/>
                    </a:solidFill>
                  </a:tcPr>
                </a:tc>
                <a:extLst>
                  <a:ext uri="{0D108BD9-81ED-4DB2-BD59-A6C34878D82A}">
                    <a16:rowId xmlns:a16="http://schemas.microsoft.com/office/drawing/2014/main" val="10003"/>
                  </a:ext>
                </a:extLst>
              </a:tr>
              <a:tr h="308571">
                <a:tc>
                  <a:txBody>
                    <a:bodyPr/>
                    <a:lstStyle/>
                    <a:p>
                      <a:pPr algn="l"/>
                      <a:r>
                        <a:rPr sz="1000" b="0">
                          <a:solidFill>
                            <a:srgbClr val="0B3041"/>
                          </a:solidFill>
                          <a:latin typeface="游ゴシック"/>
                          <a:ea typeface="游ゴシック"/>
                        </a:rPr>
                        <a:t>試作費</a:t>
                      </a:r>
                    </a:p>
                  </a:txBody>
                  <a:tcPr marL="36000" marR="36000" marT="7200" marB="7200" anchor="ctr">
                    <a:solidFill>
                      <a:srgbClr val="F4F7F9"/>
                    </a:solidFill>
                  </a:tcPr>
                </a:tc>
                <a:tc>
                  <a:txBody>
                    <a:bodyPr/>
                    <a:lstStyle/>
                    <a:p>
                      <a:pPr algn="r"/>
                      <a:r>
                        <a:rPr sz="1000" b="0">
                          <a:solidFill>
                            <a:srgbClr val="0B3041"/>
                          </a:solidFill>
                          <a:latin typeface="游ゴシック"/>
                          <a:ea typeface="游ゴシック"/>
                        </a:rPr>
                        <a:t>4,488</a:t>
                      </a:r>
                    </a:p>
                  </a:txBody>
                  <a:tcPr marL="36000" marR="36000" marT="7200" marB="7200" anchor="ctr">
                    <a:solidFill>
                      <a:srgbClr val="F4F7F9"/>
                    </a:solidFill>
                  </a:tcPr>
                </a:tc>
                <a:tc>
                  <a:txBody>
                    <a:bodyPr/>
                    <a:lstStyle/>
                    <a:p>
                      <a:pPr algn="r"/>
                      <a:r>
                        <a:rPr sz="1000" b="0">
                          <a:solidFill>
                            <a:srgbClr val="0B3041"/>
                          </a:solidFill>
                          <a:latin typeface="游ゴシック"/>
                          <a:ea typeface="游ゴシック"/>
                        </a:rPr>
                        <a:t>13,797</a:t>
                      </a:r>
                    </a:p>
                  </a:txBody>
                  <a:tcPr marL="36000" marR="36000" marT="7200" marB="7200" anchor="ctr">
                    <a:solidFill>
                      <a:srgbClr val="F4F7F9"/>
                    </a:solidFill>
                  </a:tcPr>
                </a:tc>
                <a:tc>
                  <a:txBody>
                    <a:bodyPr/>
                    <a:lstStyle/>
                    <a:p>
                      <a:pPr algn="r"/>
                      <a:r>
                        <a:rPr sz="1000" b="0">
                          <a:solidFill>
                            <a:srgbClr val="0B3041"/>
                          </a:solidFill>
                          <a:latin typeface="游ゴシック"/>
                          <a:ea typeface="游ゴシック"/>
                        </a:rPr>
                        <a:t>3,637</a:t>
                      </a:r>
                    </a:p>
                  </a:txBody>
                  <a:tcPr marL="36000" marR="36000" marT="7200" marB="7200" anchor="ctr">
                    <a:solidFill>
                      <a:srgbClr val="F4F7F9"/>
                    </a:solidFill>
                  </a:tcPr>
                </a:tc>
                <a:extLst>
                  <a:ext uri="{0D108BD9-81ED-4DB2-BD59-A6C34878D82A}">
                    <a16:rowId xmlns:a16="http://schemas.microsoft.com/office/drawing/2014/main" val="10004"/>
                  </a:ext>
                </a:extLst>
              </a:tr>
              <a:tr h="308571">
                <a:tc>
                  <a:txBody>
                    <a:bodyPr/>
                    <a:lstStyle/>
                    <a:p>
                      <a:pPr algn="l"/>
                      <a:r>
                        <a:rPr sz="1000" b="0">
                          <a:solidFill>
                            <a:srgbClr val="0B3041"/>
                          </a:solidFill>
                          <a:latin typeface="游ゴシック"/>
                          <a:ea typeface="游ゴシック"/>
                        </a:rPr>
                        <a:t>（製）サンプル費</a:t>
                      </a:r>
                    </a:p>
                  </a:txBody>
                  <a:tcPr marL="36000" marR="36000" marT="7200" marB="7200" anchor="ctr">
                    <a:solidFill>
                      <a:srgbClr val="FFFFFF"/>
                    </a:solidFill>
                  </a:tcPr>
                </a:tc>
                <a:tc>
                  <a:txBody>
                    <a:bodyPr/>
                    <a:lstStyle/>
                    <a:p>
                      <a:pPr algn="r"/>
                      <a:r>
                        <a:rPr sz="1000" b="0">
                          <a:solidFill>
                            <a:srgbClr val="0B3041"/>
                          </a:solidFill>
                          <a:latin typeface="游ゴシック"/>
                          <a:ea typeface="游ゴシック"/>
                        </a:rPr>
                        <a:t>6,307</a:t>
                      </a:r>
                    </a:p>
                  </a:txBody>
                  <a:tcPr marL="36000" marR="36000" marT="7200" marB="7200" anchor="ctr">
                    <a:solidFill>
                      <a:srgbClr val="FFFFFF"/>
                    </a:solidFill>
                  </a:tcPr>
                </a:tc>
                <a:tc>
                  <a:txBody>
                    <a:bodyPr/>
                    <a:lstStyle/>
                    <a:p>
                      <a:pPr algn="r"/>
                      <a:r>
                        <a:rPr sz="1000" b="0">
                          <a:solidFill>
                            <a:srgbClr val="0B3041"/>
                          </a:solidFill>
                          <a:latin typeface="游ゴシック"/>
                          <a:ea typeface="游ゴシック"/>
                        </a:rPr>
                        <a:t>2,328</a:t>
                      </a:r>
                    </a:p>
                  </a:txBody>
                  <a:tcPr marL="36000" marR="36000" marT="7200" marB="7200" anchor="ctr">
                    <a:solidFill>
                      <a:srgbClr val="FFFFFF"/>
                    </a:solidFill>
                  </a:tcPr>
                </a:tc>
                <a:tc>
                  <a:txBody>
                    <a:bodyPr/>
                    <a:lstStyle/>
                    <a:p>
                      <a:pPr algn="r"/>
                      <a:r>
                        <a:rPr sz="1000" b="0">
                          <a:solidFill>
                            <a:srgbClr val="0B3041"/>
                          </a:solidFill>
                          <a:latin typeface="游ゴシック"/>
                          <a:ea typeface="游ゴシック"/>
                        </a:rPr>
                        <a:t>2,831</a:t>
                      </a:r>
                    </a:p>
                  </a:txBody>
                  <a:tcPr marL="36000" marR="36000" marT="7200" marB="7200" anchor="ctr">
                    <a:solidFill>
                      <a:srgbClr val="FFFFFF"/>
                    </a:solidFill>
                  </a:tcPr>
                </a:tc>
                <a:extLst>
                  <a:ext uri="{0D108BD9-81ED-4DB2-BD59-A6C34878D82A}">
                    <a16:rowId xmlns:a16="http://schemas.microsoft.com/office/drawing/2014/main" val="10005"/>
                  </a:ext>
                </a:extLst>
              </a:tr>
              <a:tr h="308571">
                <a:tc>
                  <a:txBody>
                    <a:bodyPr/>
                    <a:lstStyle/>
                    <a:p>
                      <a:pPr algn="l"/>
                      <a:r>
                        <a:rPr sz="1000" b="1">
                          <a:solidFill>
                            <a:srgbClr val="0B3041"/>
                          </a:solidFill>
                          <a:latin typeface="游ゴシック"/>
                          <a:ea typeface="游ゴシック"/>
                        </a:rPr>
                        <a:t>合計</a:t>
                      </a:r>
                    </a:p>
                  </a:txBody>
                  <a:tcPr marL="36000" marR="36000" marT="7200" marB="7200" anchor="ctr">
                    <a:solidFill>
                      <a:srgbClr val="E3E7E9"/>
                    </a:solidFill>
                  </a:tcPr>
                </a:tc>
                <a:tc>
                  <a:txBody>
                    <a:bodyPr/>
                    <a:lstStyle/>
                    <a:p>
                      <a:pPr algn="r"/>
                      <a:r>
                        <a:rPr sz="1000" b="1">
                          <a:solidFill>
                            <a:srgbClr val="0B3041"/>
                          </a:solidFill>
                          <a:latin typeface="游ゴシック"/>
                          <a:ea typeface="游ゴシック"/>
                        </a:rPr>
                        <a:t>218,325</a:t>
                      </a:r>
                    </a:p>
                  </a:txBody>
                  <a:tcPr marL="36000" marR="36000" marT="7200" marB="7200" anchor="ctr">
                    <a:solidFill>
                      <a:srgbClr val="E3E7E9"/>
                    </a:solidFill>
                  </a:tcPr>
                </a:tc>
                <a:tc>
                  <a:txBody>
                    <a:bodyPr/>
                    <a:lstStyle/>
                    <a:p>
                      <a:pPr algn="r"/>
                      <a:r>
                        <a:rPr sz="1000" b="1">
                          <a:solidFill>
                            <a:srgbClr val="0B3041"/>
                          </a:solidFill>
                          <a:latin typeface="游ゴシック"/>
                          <a:ea typeface="游ゴシック"/>
                        </a:rPr>
                        <a:t>314,078</a:t>
                      </a:r>
                    </a:p>
                  </a:txBody>
                  <a:tcPr marL="36000" marR="36000" marT="7200" marB="7200" anchor="ctr">
                    <a:solidFill>
                      <a:srgbClr val="E3E7E9"/>
                    </a:solidFill>
                  </a:tcPr>
                </a:tc>
                <a:tc>
                  <a:txBody>
                    <a:bodyPr/>
                    <a:lstStyle/>
                    <a:p>
                      <a:pPr algn="r"/>
                      <a:r>
                        <a:rPr sz="1000" b="1">
                          <a:solidFill>
                            <a:srgbClr val="0B3041"/>
                          </a:solidFill>
                          <a:latin typeface="游ゴシック"/>
                          <a:ea typeface="游ゴシック"/>
                        </a:rPr>
                        <a:t>258,400</a:t>
                      </a:r>
                    </a:p>
                  </a:txBody>
                  <a:tcPr marL="36000" marR="36000" marT="7200" marB="7200" anchor="ctr">
                    <a:solidFill>
                      <a:srgbClr val="E3E7E9"/>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9325859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EAEF2-738C-97B3-4696-F3BB344E559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D6C9D74-25B9-202B-100C-14E88F8A35B4}"/>
              </a:ext>
            </a:extLst>
          </p:cNvPr>
          <p:cNvSpPr>
            <a:spLocks noGrp="1"/>
          </p:cNvSpPr>
          <p:nvPr>
            <p:ph type="title"/>
          </p:nvPr>
        </p:nvSpPr>
        <p:spPr>
          <a:xfrm>
            <a:off x="989013" y="3656161"/>
            <a:ext cx="9221787" cy="615553"/>
          </a:xfrm>
        </p:spPr>
        <p:txBody>
          <a:bodyPr/>
          <a:lstStyle/>
          <a:p>
            <a:r>
              <a:rPr lang="ja-JP" altLang="en-US" dirty="0"/>
              <a:t>組織、拠点、設備等</a:t>
            </a:r>
            <a:endParaRPr lang="en-US" altLang="ja-JP" dirty="0"/>
          </a:p>
        </p:txBody>
      </p:sp>
      <p:pic>
        <p:nvPicPr>
          <p:cNvPr id="7" name="図 6">
            <a:extLst>
              <a:ext uri="{FF2B5EF4-FFF2-40B4-BE49-F238E27FC236}">
                <a16:creationId xmlns:a16="http://schemas.microsoft.com/office/drawing/2014/main" id="{C8D5CA77-B77E-EE25-04B7-23BDB60E0B2A}"/>
              </a:ext>
            </a:extLst>
          </p:cNvPr>
          <p:cNvPicPr>
            <a:picLocks noChangeAspect="1"/>
          </p:cNvPicPr>
          <p:nvPr/>
        </p:nvPicPr>
        <p:blipFill>
          <a:blip/>
          <a:stretch>
            <a:fillRect/>
          </a:stretch>
        </p:blipFill>
        <p:spPr>
          <a:xfrm>
            <a:off x="7776467" y="3981785"/>
            <a:ext cx="21" cy="20"/>
          </a:xfrm>
          <a:prstGeom prst="rect">
            <a:avLst/>
          </a:prstGeom>
        </p:spPr>
      </p:pic>
      <p:pic>
        <p:nvPicPr>
          <p:cNvPr id="9" name="図 8">
            <a:extLst>
              <a:ext uri="{FF2B5EF4-FFF2-40B4-BE49-F238E27FC236}">
                <a16:creationId xmlns:a16="http://schemas.microsoft.com/office/drawing/2014/main" id="{5841CF96-EF85-6F41-A092-6ED9083D3E7C}"/>
              </a:ext>
            </a:extLst>
          </p:cNvPr>
          <p:cNvPicPr>
            <a:picLocks noChangeAspect="1"/>
          </p:cNvPicPr>
          <p:nvPr/>
        </p:nvPicPr>
        <p:blipFill>
          <a:blip/>
          <a:stretch>
            <a:fillRect/>
          </a:stretch>
        </p:blipFill>
        <p:spPr>
          <a:xfrm>
            <a:off x="7776467" y="3981785"/>
            <a:ext cx="21" cy="20"/>
          </a:xfrm>
          <a:prstGeom prst="rect">
            <a:avLst/>
          </a:prstGeom>
        </p:spPr>
      </p:pic>
    </p:spTree>
    <p:extLst>
      <p:ext uri="{BB962C8B-B14F-4D97-AF65-F5344CB8AC3E}">
        <p14:creationId xmlns:p14="http://schemas.microsoft.com/office/powerpoint/2010/main" val="1797825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BDBCD3-5A3B-2BD8-C28A-632388175E8D}"/>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59B21744-4533-BD30-603B-B8A7A98290C9}"/>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rPr>
              <a:t>組織図</a:t>
            </a:r>
          </a:p>
        </p:txBody>
      </p:sp>
      <p:sp>
        <p:nvSpPr>
          <p:cNvPr id="5" name="タイトル 1">
            <a:extLst>
              <a:ext uri="{FF2B5EF4-FFF2-40B4-BE49-F238E27FC236}">
                <a16:creationId xmlns:a16="http://schemas.microsoft.com/office/drawing/2014/main" id="{804C58BE-3C7F-3F33-BB99-084C0822899F}"/>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latin typeface="游ゴシック" panose="020B0400000000000000" pitchFamily="50" charset="-128"/>
                <a:ea typeface="游ゴシック" panose="020B0400000000000000" pitchFamily="50" charset="-128"/>
              </a:rPr>
              <a:t>組織、拠点、設備等</a:t>
            </a:r>
          </a:p>
        </p:txBody>
      </p:sp>
      <p:sp>
        <p:nvSpPr>
          <p:cNvPr id="85" name="字幕 13">
            <a:extLst>
              <a:ext uri="{FF2B5EF4-FFF2-40B4-BE49-F238E27FC236}">
                <a16:creationId xmlns:a16="http://schemas.microsoft.com/office/drawing/2014/main" id="{AE763FA6-9689-E705-5BEC-31A36E71F8CB}"/>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panose="020B0400000000000000" pitchFamily="50" charset="-128"/>
                <a:ea typeface="游ゴシック" panose="020B0400000000000000" pitchFamily="50" charset="-128"/>
              </a:rPr>
              <a:t>野口代表のもと</a:t>
            </a:r>
            <a:r>
              <a:rPr dirty="0">
                <a:latin typeface="游ゴシック" panose="020B0400000000000000" pitchFamily="50" charset="-128"/>
                <a:ea typeface="游ゴシック" panose="020B0400000000000000" pitchFamily="50" charset="-128"/>
              </a:rPr>
              <a:t>、制作部5名・営業部2名の少数精鋭体制。制作部長を中核に長期勤続者が実務を支えてい</a:t>
            </a:r>
            <a:r>
              <a:rPr lang="ja-JP" altLang="en-US" dirty="0">
                <a:latin typeface="游ゴシック" panose="020B0400000000000000" pitchFamily="50" charset="-128"/>
                <a:ea typeface="游ゴシック" panose="020B0400000000000000" pitchFamily="50" charset="-128"/>
              </a:rPr>
              <a:t>る</a:t>
            </a:r>
            <a:r>
              <a:rPr dirty="0">
                <a:latin typeface="游ゴシック" panose="020B0400000000000000" pitchFamily="50" charset="-128"/>
                <a:ea typeface="游ゴシック" panose="020B0400000000000000" pitchFamily="50" charset="-128"/>
              </a:rPr>
              <a:t>。</a:t>
            </a:r>
            <a:endParaRPr lang="en-US" dirty="0">
              <a:latin typeface="游ゴシック" panose="020B0400000000000000" pitchFamily="50" charset="-128"/>
              <a:ea typeface="游ゴシック" panose="020B0400000000000000" pitchFamily="50" charset="-128"/>
            </a:endParaRPr>
          </a:p>
          <a:p>
            <a:r>
              <a:rPr lang="ja-JP" altLang="en-US" dirty="0">
                <a:latin typeface="游ゴシック" panose="020B0400000000000000" pitchFamily="50" charset="-128"/>
                <a:ea typeface="游ゴシック" panose="020B0400000000000000" pitchFamily="50" charset="-128"/>
              </a:rPr>
              <a:t>両部門とも自社企画（</a:t>
            </a:r>
            <a:r>
              <a:rPr lang="en-US" altLang="ja-JP" dirty="0">
                <a:latin typeface="游ゴシック" panose="020B0400000000000000" pitchFamily="50" charset="-128"/>
                <a:ea typeface="游ゴシック" panose="020B0400000000000000" pitchFamily="50" charset="-128"/>
              </a:rPr>
              <a:t>MD</a:t>
            </a:r>
            <a:r>
              <a:rPr lang="ja-JP" altLang="en-US" dirty="0">
                <a:latin typeface="游ゴシック" panose="020B0400000000000000" pitchFamily="50" charset="-128"/>
                <a:ea typeface="游ゴシック" panose="020B0400000000000000" pitchFamily="50" charset="-128"/>
              </a:rPr>
              <a:t>商品）と</a:t>
            </a:r>
            <a:r>
              <a:rPr lang="en-US" altLang="ja-JP" dirty="0">
                <a:latin typeface="游ゴシック" panose="020B0400000000000000" pitchFamily="50" charset="-128"/>
                <a:ea typeface="游ゴシック" panose="020B0400000000000000" pitchFamily="50" charset="-128"/>
              </a:rPr>
              <a:t>OEM</a:t>
            </a:r>
            <a:r>
              <a:rPr lang="ja-JP" altLang="en-US" dirty="0">
                <a:latin typeface="游ゴシック" panose="020B0400000000000000" pitchFamily="50" charset="-128"/>
                <a:ea typeface="游ゴシック" panose="020B0400000000000000" pitchFamily="50" charset="-128"/>
              </a:rPr>
              <a:t>受託の</a:t>
            </a:r>
            <a:r>
              <a:rPr lang="en-US" altLang="ja-JP" dirty="0">
                <a:latin typeface="游ゴシック" panose="020B0400000000000000" pitchFamily="50" charset="-128"/>
                <a:ea typeface="游ゴシック" panose="020B0400000000000000" pitchFamily="50" charset="-128"/>
              </a:rPr>
              <a:t>2</a:t>
            </a:r>
            <a:r>
              <a:rPr lang="ja-JP" altLang="en-US" dirty="0">
                <a:latin typeface="游ゴシック" panose="020B0400000000000000" pitchFamily="50" charset="-128"/>
                <a:ea typeface="游ゴシック" panose="020B0400000000000000" pitchFamily="50" charset="-128"/>
              </a:rPr>
              <a:t>ラインで運営を行う。</a:t>
            </a:r>
            <a:endParaRPr lang="en-US" altLang="ja-JP" dirty="0">
              <a:latin typeface="游ゴシック" panose="020B0400000000000000" pitchFamily="50" charset="-128"/>
              <a:ea typeface="游ゴシック" panose="020B0400000000000000" pitchFamily="50" charset="-128"/>
            </a:endParaRPr>
          </a:p>
        </p:txBody>
      </p:sp>
      <p:sp>
        <p:nvSpPr>
          <p:cNvPr id="87" name="Rounded Rectangle 86"/>
          <p:cNvSpPr/>
          <p:nvPr/>
        </p:nvSpPr>
        <p:spPr>
          <a:xfrm>
            <a:off x="4446000" y="2694824"/>
            <a:ext cx="1800000" cy="503999"/>
          </a:xfrm>
          <a:prstGeom prst="roundRect">
            <a:avLst/>
          </a:prstGeom>
          <a:solidFill>
            <a:srgbClr val="006AB1"/>
          </a:solidFill>
          <a:ln w="15875">
            <a:no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lstStyle/>
          <a:p>
            <a:pPr algn="ctr"/>
            <a:r>
              <a:rPr sz="1200" b="1" dirty="0" err="1">
                <a:solidFill>
                  <a:srgbClr val="FFFFFF"/>
                </a:solidFill>
                <a:latin typeface="游ゴシック" panose="020B0400000000000000" pitchFamily="50" charset="-128"/>
                <a:ea typeface="游ゴシック" panose="020B0400000000000000" pitchFamily="50" charset="-128"/>
              </a:rPr>
              <a:t>代表取締役</a:t>
            </a:r>
            <a:endParaRPr sz="1200" b="1" dirty="0">
              <a:solidFill>
                <a:srgbClr val="FFFFFF"/>
              </a:solidFill>
              <a:latin typeface="游ゴシック" panose="020B0400000000000000" pitchFamily="50" charset="-128"/>
              <a:ea typeface="游ゴシック" panose="020B0400000000000000" pitchFamily="50" charset="-128"/>
            </a:endParaRPr>
          </a:p>
          <a:p>
            <a:pPr algn="ctr"/>
            <a:r>
              <a:rPr sz="1200" b="1" dirty="0" err="1">
                <a:solidFill>
                  <a:srgbClr val="FFFFFF"/>
                </a:solidFill>
                <a:latin typeface="游ゴシック" panose="020B0400000000000000" pitchFamily="50" charset="-128"/>
                <a:ea typeface="游ゴシック" panose="020B0400000000000000" pitchFamily="50" charset="-128"/>
              </a:rPr>
              <a:t>野口</a:t>
            </a:r>
            <a:r>
              <a:rPr sz="1200" b="1" dirty="0">
                <a:solidFill>
                  <a:srgbClr val="FFFFFF"/>
                </a:solidFill>
                <a:latin typeface="游ゴシック" panose="020B0400000000000000" pitchFamily="50" charset="-128"/>
                <a:ea typeface="游ゴシック" panose="020B0400000000000000" pitchFamily="50" charset="-128"/>
              </a:rPr>
              <a:t> 紘</a:t>
            </a:r>
          </a:p>
        </p:txBody>
      </p:sp>
      <p:cxnSp>
        <p:nvCxnSpPr>
          <p:cNvPr id="90" name="Connector 89"/>
          <p:cNvCxnSpPr/>
          <p:nvPr/>
        </p:nvCxnSpPr>
        <p:spPr>
          <a:xfrm>
            <a:off x="5346000" y="2154825"/>
            <a:ext cx="0" cy="539999"/>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cxnSp>
        <p:nvCxnSpPr>
          <p:cNvPr id="2" name="org205">
            <a:extLst>
              <a:ext uri="{FF2B5EF4-FFF2-40B4-BE49-F238E27FC236}">
                <a16:creationId xmlns:a16="http://schemas.microsoft.com/office/drawing/2014/main" id="{D95D78A3-2908-8F7A-FB4B-5970D3761CBE}"/>
              </a:ext>
            </a:extLst>
          </p:cNvPr>
          <p:cNvCxnSpPr/>
          <p:nvPr/>
        </p:nvCxnSpPr>
        <p:spPr>
          <a:xfrm>
            <a:off x="3380125" y="3572182"/>
            <a:ext cx="4023359" cy="0"/>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cxnSp>
        <p:nvCxnSpPr>
          <p:cNvPr id="3" name="org206">
            <a:extLst>
              <a:ext uri="{FF2B5EF4-FFF2-40B4-BE49-F238E27FC236}">
                <a16:creationId xmlns:a16="http://schemas.microsoft.com/office/drawing/2014/main" id="{B46255EA-48DD-7D39-CADE-28383977B8D8}"/>
              </a:ext>
            </a:extLst>
          </p:cNvPr>
          <p:cNvCxnSpPr/>
          <p:nvPr/>
        </p:nvCxnSpPr>
        <p:spPr>
          <a:xfrm>
            <a:off x="3380125" y="3572182"/>
            <a:ext cx="0" cy="274320"/>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cxnSp>
        <p:nvCxnSpPr>
          <p:cNvPr id="4" name="org207">
            <a:extLst>
              <a:ext uri="{FF2B5EF4-FFF2-40B4-BE49-F238E27FC236}">
                <a16:creationId xmlns:a16="http://schemas.microsoft.com/office/drawing/2014/main" id="{48F4A080-C498-F463-9767-A0B456EE831C}"/>
              </a:ext>
            </a:extLst>
          </p:cNvPr>
          <p:cNvCxnSpPr/>
          <p:nvPr/>
        </p:nvCxnSpPr>
        <p:spPr>
          <a:xfrm>
            <a:off x="7403485" y="3572182"/>
            <a:ext cx="0" cy="274320"/>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sp>
        <p:nvSpPr>
          <p:cNvPr id="6" name="org208">
            <a:extLst>
              <a:ext uri="{FF2B5EF4-FFF2-40B4-BE49-F238E27FC236}">
                <a16:creationId xmlns:a16="http://schemas.microsoft.com/office/drawing/2014/main" id="{B0FC6158-B217-A773-BB45-9C7E481A4393}"/>
              </a:ext>
            </a:extLst>
          </p:cNvPr>
          <p:cNvSpPr/>
          <p:nvPr/>
        </p:nvSpPr>
        <p:spPr>
          <a:xfrm>
            <a:off x="2099965" y="3846502"/>
            <a:ext cx="2560320" cy="566928"/>
          </a:xfrm>
          <a:prstGeom prst="roundRect">
            <a:avLst/>
          </a:prstGeom>
          <a:solidFill>
            <a:srgbClr val="FFFFFF"/>
          </a:solidFill>
          <a:ln w="15875">
            <a:solidFill>
              <a:srgbClr val="0B3041"/>
            </a:solid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lstStyle/>
          <a:p>
            <a:pPr algn="ctr"/>
            <a:r>
              <a:rPr sz="1100" b="1" dirty="0" err="1">
                <a:solidFill>
                  <a:srgbClr val="0B3041"/>
                </a:solidFill>
                <a:latin typeface="游ゴシック" panose="020B0400000000000000" pitchFamily="50" charset="-128"/>
                <a:ea typeface="游ゴシック" panose="020B0400000000000000" pitchFamily="50" charset="-128"/>
              </a:rPr>
              <a:t>営業部</a:t>
            </a:r>
            <a:endParaRPr sz="1100" b="1" dirty="0">
              <a:solidFill>
                <a:srgbClr val="0B3041"/>
              </a:solidFill>
              <a:latin typeface="游ゴシック" panose="020B0400000000000000" pitchFamily="50" charset="-128"/>
              <a:ea typeface="游ゴシック" panose="020B0400000000000000" pitchFamily="50" charset="-128"/>
            </a:endParaRPr>
          </a:p>
          <a:p>
            <a:pPr algn="ctr"/>
            <a:r>
              <a:rPr sz="1100" b="1" dirty="0">
                <a:solidFill>
                  <a:srgbClr val="0B3041"/>
                </a:solidFill>
                <a:latin typeface="游ゴシック" panose="020B0400000000000000" pitchFamily="50" charset="-128"/>
                <a:ea typeface="游ゴシック" panose="020B0400000000000000" pitchFamily="50" charset="-128"/>
              </a:rPr>
              <a:t>（</a:t>
            </a:r>
            <a:r>
              <a:rPr sz="1100" b="1" dirty="0" err="1">
                <a:solidFill>
                  <a:srgbClr val="0B3041"/>
                </a:solidFill>
                <a:latin typeface="游ゴシック" panose="020B0400000000000000" pitchFamily="50" charset="-128"/>
                <a:ea typeface="游ゴシック" panose="020B0400000000000000" pitchFamily="50" charset="-128"/>
              </a:rPr>
              <a:t>営業全般・商品企画</a:t>
            </a:r>
            <a:r>
              <a:rPr sz="1100" b="1" dirty="0">
                <a:solidFill>
                  <a:srgbClr val="0B3041"/>
                </a:solidFill>
                <a:latin typeface="游ゴシック" panose="020B0400000000000000" pitchFamily="50" charset="-128"/>
                <a:ea typeface="游ゴシック" panose="020B0400000000000000" pitchFamily="50" charset="-128"/>
              </a:rPr>
              <a:t>）</a:t>
            </a:r>
          </a:p>
        </p:txBody>
      </p:sp>
      <p:sp>
        <p:nvSpPr>
          <p:cNvPr id="7" name="org209">
            <a:extLst>
              <a:ext uri="{FF2B5EF4-FFF2-40B4-BE49-F238E27FC236}">
                <a16:creationId xmlns:a16="http://schemas.microsoft.com/office/drawing/2014/main" id="{7B1D8BEE-D1C3-531B-EE39-F7A1709A77D9}"/>
              </a:ext>
            </a:extLst>
          </p:cNvPr>
          <p:cNvSpPr/>
          <p:nvPr/>
        </p:nvSpPr>
        <p:spPr>
          <a:xfrm>
            <a:off x="6123324" y="3846502"/>
            <a:ext cx="2560320" cy="566928"/>
          </a:xfrm>
          <a:prstGeom prst="roundRect">
            <a:avLst/>
          </a:prstGeom>
          <a:solidFill>
            <a:srgbClr val="FFFFFF"/>
          </a:solidFill>
          <a:ln w="15875">
            <a:solidFill>
              <a:srgbClr val="0B3041"/>
            </a:solid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lstStyle/>
          <a:p>
            <a:pPr algn="ctr"/>
            <a:r>
              <a:rPr sz="1100" b="1">
                <a:solidFill>
                  <a:srgbClr val="0B3041"/>
                </a:solidFill>
                <a:latin typeface="游ゴシック" panose="020B0400000000000000" pitchFamily="50" charset="-128"/>
                <a:ea typeface="游ゴシック" panose="020B0400000000000000" pitchFamily="50" charset="-128"/>
              </a:rPr>
              <a:t>制作部</a:t>
            </a:r>
          </a:p>
          <a:p>
            <a:pPr algn="ctr"/>
            <a:r>
              <a:rPr sz="1100" b="1">
                <a:solidFill>
                  <a:srgbClr val="0B3041"/>
                </a:solidFill>
                <a:latin typeface="游ゴシック" panose="020B0400000000000000" pitchFamily="50" charset="-128"/>
                <a:ea typeface="游ゴシック" panose="020B0400000000000000" pitchFamily="50" charset="-128"/>
              </a:rPr>
              <a:t>（デザイン・生産管理）</a:t>
            </a:r>
          </a:p>
        </p:txBody>
      </p:sp>
      <p:cxnSp>
        <p:nvCxnSpPr>
          <p:cNvPr id="8" name="org210">
            <a:extLst>
              <a:ext uri="{FF2B5EF4-FFF2-40B4-BE49-F238E27FC236}">
                <a16:creationId xmlns:a16="http://schemas.microsoft.com/office/drawing/2014/main" id="{E64DC6DD-C348-7DE8-479D-2A137E6D7789}"/>
              </a:ext>
            </a:extLst>
          </p:cNvPr>
          <p:cNvCxnSpPr/>
          <p:nvPr/>
        </p:nvCxnSpPr>
        <p:spPr>
          <a:xfrm>
            <a:off x="7403485" y="4413429"/>
            <a:ext cx="0" cy="256032"/>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sp>
        <p:nvSpPr>
          <p:cNvPr id="9" name="org211">
            <a:extLst>
              <a:ext uri="{FF2B5EF4-FFF2-40B4-BE49-F238E27FC236}">
                <a16:creationId xmlns:a16="http://schemas.microsoft.com/office/drawing/2014/main" id="{7498B1E8-C8A8-557B-2C8F-FF1B900C5A8A}"/>
              </a:ext>
            </a:extLst>
          </p:cNvPr>
          <p:cNvSpPr/>
          <p:nvPr/>
        </p:nvSpPr>
        <p:spPr>
          <a:xfrm>
            <a:off x="6534805" y="4594177"/>
            <a:ext cx="1737360" cy="384048"/>
          </a:xfrm>
          <a:prstGeom prst="roundRect">
            <a:avLst/>
          </a:prstGeom>
          <a:solidFill>
            <a:srgbClr val="FFFFFF"/>
          </a:solidFill>
          <a:ln w="15875">
            <a:solidFill>
              <a:srgbClr val="0B3041"/>
            </a:solid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lstStyle/>
          <a:p>
            <a:pPr algn="ctr"/>
            <a:r>
              <a:rPr sz="1000" b="1">
                <a:solidFill>
                  <a:srgbClr val="0B3041"/>
                </a:solidFill>
                <a:latin typeface="游ゴシック" panose="020B0400000000000000" pitchFamily="50" charset="-128"/>
                <a:ea typeface="游ゴシック" panose="020B0400000000000000" pitchFamily="50" charset="-128"/>
              </a:rPr>
              <a:t>部長（No.1）　統括</a:t>
            </a:r>
          </a:p>
        </p:txBody>
      </p:sp>
      <p:cxnSp>
        <p:nvCxnSpPr>
          <p:cNvPr id="10" name="org212">
            <a:extLst>
              <a:ext uri="{FF2B5EF4-FFF2-40B4-BE49-F238E27FC236}">
                <a16:creationId xmlns:a16="http://schemas.microsoft.com/office/drawing/2014/main" id="{18CBA30A-C866-52BC-97B4-0BEA57A730C9}"/>
              </a:ext>
            </a:extLst>
          </p:cNvPr>
          <p:cNvCxnSpPr>
            <a:cxnSpLocks/>
            <a:stCxn id="9" idx="2"/>
          </p:cNvCxnSpPr>
          <p:nvPr/>
        </p:nvCxnSpPr>
        <p:spPr>
          <a:xfrm>
            <a:off x="7403485" y="4978225"/>
            <a:ext cx="0" cy="185013"/>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cxnSp>
        <p:nvCxnSpPr>
          <p:cNvPr id="11" name="org213">
            <a:extLst>
              <a:ext uri="{FF2B5EF4-FFF2-40B4-BE49-F238E27FC236}">
                <a16:creationId xmlns:a16="http://schemas.microsoft.com/office/drawing/2014/main" id="{2636B26B-06FB-4100-09D8-BCD5CD7BA02C}"/>
              </a:ext>
            </a:extLst>
          </p:cNvPr>
          <p:cNvCxnSpPr/>
          <p:nvPr/>
        </p:nvCxnSpPr>
        <p:spPr>
          <a:xfrm>
            <a:off x="3380125" y="4413429"/>
            <a:ext cx="0" cy="749808"/>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cxnSp>
        <p:nvCxnSpPr>
          <p:cNvPr id="12" name="org214">
            <a:extLst>
              <a:ext uri="{FF2B5EF4-FFF2-40B4-BE49-F238E27FC236}">
                <a16:creationId xmlns:a16="http://schemas.microsoft.com/office/drawing/2014/main" id="{6D18DFBA-7196-EE06-9B72-38E187B9EF21}"/>
              </a:ext>
            </a:extLst>
          </p:cNvPr>
          <p:cNvCxnSpPr/>
          <p:nvPr/>
        </p:nvCxnSpPr>
        <p:spPr>
          <a:xfrm>
            <a:off x="2694325" y="5163238"/>
            <a:ext cx="1371600" cy="0"/>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cxnSp>
        <p:nvCxnSpPr>
          <p:cNvPr id="14" name="org215">
            <a:extLst>
              <a:ext uri="{FF2B5EF4-FFF2-40B4-BE49-F238E27FC236}">
                <a16:creationId xmlns:a16="http://schemas.microsoft.com/office/drawing/2014/main" id="{3BAFD523-6064-FBFC-DF38-FADC987D9019}"/>
              </a:ext>
            </a:extLst>
          </p:cNvPr>
          <p:cNvCxnSpPr/>
          <p:nvPr/>
        </p:nvCxnSpPr>
        <p:spPr>
          <a:xfrm>
            <a:off x="2694325" y="5163238"/>
            <a:ext cx="0" cy="219456"/>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cxnSp>
        <p:nvCxnSpPr>
          <p:cNvPr id="15" name="org216">
            <a:extLst>
              <a:ext uri="{FF2B5EF4-FFF2-40B4-BE49-F238E27FC236}">
                <a16:creationId xmlns:a16="http://schemas.microsoft.com/office/drawing/2014/main" id="{D76D5D5C-0E1E-CC7A-7CAE-79FC50DB06F1}"/>
              </a:ext>
            </a:extLst>
          </p:cNvPr>
          <p:cNvCxnSpPr/>
          <p:nvPr/>
        </p:nvCxnSpPr>
        <p:spPr>
          <a:xfrm>
            <a:off x="4065925" y="5163238"/>
            <a:ext cx="0" cy="219456"/>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cxnSp>
        <p:nvCxnSpPr>
          <p:cNvPr id="16" name="org217">
            <a:extLst>
              <a:ext uri="{FF2B5EF4-FFF2-40B4-BE49-F238E27FC236}">
                <a16:creationId xmlns:a16="http://schemas.microsoft.com/office/drawing/2014/main" id="{41A99AEE-6B79-4517-00CB-36247AB807D5}"/>
              </a:ext>
            </a:extLst>
          </p:cNvPr>
          <p:cNvCxnSpPr>
            <a:cxnSpLocks/>
          </p:cNvCxnSpPr>
          <p:nvPr/>
        </p:nvCxnSpPr>
        <p:spPr>
          <a:xfrm>
            <a:off x="6717685" y="5163238"/>
            <a:ext cx="1371600" cy="0"/>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cxnSp>
        <p:nvCxnSpPr>
          <p:cNvPr id="17" name="org218">
            <a:extLst>
              <a:ext uri="{FF2B5EF4-FFF2-40B4-BE49-F238E27FC236}">
                <a16:creationId xmlns:a16="http://schemas.microsoft.com/office/drawing/2014/main" id="{D977F424-CEFC-C936-DBBB-913EF6EA9848}"/>
              </a:ext>
            </a:extLst>
          </p:cNvPr>
          <p:cNvCxnSpPr/>
          <p:nvPr/>
        </p:nvCxnSpPr>
        <p:spPr>
          <a:xfrm>
            <a:off x="6717685" y="5163238"/>
            <a:ext cx="0" cy="219456"/>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cxnSp>
        <p:nvCxnSpPr>
          <p:cNvPr id="18" name="org219">
            <a:extLst>
              <a:ext uri="{FF2B5EF4-FFF2-40B4-BE49-F238E27FC236}">
                <a16:creationId xmlns:a16="http://schemas.microsoft.com/office/drawing/2014/main" id="{A336839C-5C65-7135-6FD5-D8861EA3C33E}"/>
              </a:ext>
            </a:extLst>
          </p:cNvPr>
          <p:cNvCxnSpPr/>
          <p:nvPr/>
        </p:nvCxnSpPr>
        <p:spPr>
          <a:xfrm>
            <a:off x="8089285" y="5163238"/>
            <a:ext cx="0" cy="219456"/>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sp>
        <p:nvSpPr>
          <p:cNvPr id="19" name="org220">
            <a:extLst>
              <a:ext uri="{FF2B5EF4-FFF2-40B4-BE49-F238E27FC236}">
                <a16:creationId xmlns:a16="http://schemas.microsoft.com/office/drawing/2014/main" id="{82ED0615-841B-580B-47B8-B22261CAE8B0}"/>
              </a:ext>
            </a:extLst>
          </p:cNvPr>
          <p:cNvSpPr/>
          <p:nvPr/>
        </p:nvSpPr>
        <p:spPr>
          <a:xfrm>
            <a:off x="2099965" y="5382694"/>
            <a:ext cx="1188720" cy="347472"/>
          </a:xfrm>
          <a:prstGeom prst="roundRect">
            <a:avLst/>
          </a:prstGeom>
          <a:solidFill>
            <a:srgbClr val="FFFFFF"/>
          </a:solidFill>
          <a:ln w="15875">
            <a:solidFill>
              <a:srgbClr val="0B3041"/>
            </a:solid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lstStyle/>
          <a:p>
            <a:pPr algn="ctr"/>
            <a:r>
              <a:rPr sz="1000" b="1">
                <a:solidFill>
                  <a:srgbClr val="0B3041"/>
                </a:solidFill>
                <a:latin typeface="游ゴシック" panose="020B0400000000000000" pitchFamily="50" charset="-128"/>
                <a:ea typeface="游ゴシック" panose="020B0400000000000000" pitchFamily="50" charset="-128"/>
              </a:rPr>
              <a:t>MD商品</a:t>
            </a:r>
          </a:p>
        </p:txBody>
      </p:sp>
      <p:sp>
        <p:nvSpPr>
          <p:cNvPr id="21" name="org222">
            <a:extLst>
              <a:ext uri="{FF2B5EF4-FFF2-40B4-BE49-F238E27FC236}">
                <a16:creationId xmlns:a16="http://schemas.microsoft.com/office/drawing/2014/main" id="{6FF2F340-CB59-724F-23E4-BAAA4AF06982}"/>
              </a:ext>
            </a:extLst>
          </p:cNvPr>
          <p:cNvSpPr/>
          <p:nvPr/>
        </p:nvSpPr>
        <p:spPr>
          <a:xfrm>
            <a:off x="3471565" y="5382694"/>
            <a:ext cx="1188720" cy="347472"/>
          </a:xfrm>
          <a:prstGeom prst="roundRect">
            <a:avLst/>
          </a:prstGeom>
          <a:solidFill>
            <a:srgbClr val="FFFFFF"/>
          </a:solidFill>
          <a:ln w="15875">
            <a:solidFill>
              <a:srgbClr val="0B3041"/>
            </a:solid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lstStyle/>
          <a:p>
            <a:pPr algn="ctr"/>
            <a:r>
              <a:rPr sz="1000" b="1">
                <a:solidFill>
                  <a:srgbClr val="0B3041"/>
                </a:solidFill>
                <a:latin typeface="游ゴシック" panose="020B0400000000000000" pitchFamily="50" charset="-128"/>
                <a:ea typeface="游ゴシック" panose="020B0400000000000000" pitchFamily="50" charset="-128"/>
              </a:rPr>
              <a:t>OEM</a:t>
            </a:r>
          </a:p>
        </p:txBody>
      </p:sp>
      <p:sp>
        <p:nvSpPr>
          <p:cNvPr id="23" name="org224">
            <a:extLst>
              <a:ext uri="{FF2B5EF4-FFF2-40B4-BE49-F238E27FC236}">
                <a16:creationId xmlns:a16="http://schemas.microsoft.com/office/drawing/2014/main" id="{DE96D27B-5554-59C8-781D-DD0A8BCDA8B0}"/>
              </a:ext>
            </a:extLst>
          </p:cNvPr>
          <p:cNvSpPr/>
          <p:nvPr/>
        </p:nvSpPr>
        <p:spPr>
          <a:xfrm>
            <a:off x="6123324" y="5382694"/>
            <a:ext cx="1188720" cy="347472"/>
          </a:xfrm>
          <a:prstGeom prst="roundRect">
            <a:avLst/>
          </a:prstGeom>
          <a:solidFill>
            <a:srgbClr val="FFFFFF"/>
          </a:solidFill>
          <a:ln w="15875">
            <a:solidFill>
              <a:srgbClr val="0B3041"/>
            </a:solid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lstStyle/>
          <a:p>
            <a:pPr algn="ctr"/>
            <a:r>
              <a:rPr sz="1000" b="1">
                <a:solidFill>
                  <a:srgbClr val="0B3041"/>
                </a:solidFill>
                <a:latin typeface="游ゴシック" panose="020B0400000000000000" pitchFamily="50" charset="-128"/>
                <a:ea typeface="游ゴシック" panose="020B0400000000000000" pitchFamily="50" charset="-128"/>
              </a:rPr>
              <a:t>MD商品</a:t>
            </a:r>
          </a:p>
        </p:txBody>
      </p:sp>
      <p:sp>
        <p:nvSpPr>
          <p:cNvPr id="25" name="org226">
            <a:extLst>
              <a:ext uri="{FF2B5EF4-FFF2-40B4-BE49-F238E27FC236}">
                <a16:creationId xmlns:a16="http://schemas.microsoft.com/office/drawing/2014/main" id="{3951E91F-87E1-5043-8B5E-D9F1AFE47CFE}"/>
              </a:ext>
            </a:extLst>
          </p:cNvPr>
          <p:cNvSpPr/>
          <p:nvPr/>
        </p:nvSpPr>
        <p:spPr>
          <a:xfrm>
            <a:off x="7494925" y="5382694"/>
            <a:ext cx="1188720" cy="347472"/>
          </a:xfrm>
          <a:prstGeom prst="roundRect">
            <a:avLst/>
          </a:prstGeom>
          <a:solidFill>
            <a:srgbClr val="FFFFFF"/>
          </a:solidFill>
          <a:ln w="15875">
            <a:solidFill>
              <a:srgbClr val="0B3041"/>
            </a:solid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lstStyle/>
          <a:p>
            <a:pPr algn="ctr"/>
            <a:r>
              <a:rPr sz="1000" b="1">
                <a:solidFill>
                  <a:srgbClr val="0B3041"/>
                </a:solidFill>
                <a:latin typeface="游ゴシック" panose="020B0400000000000000" pitchFamily="50" charset="-128"/>
                <a:ea typeface="游ゴシック" panose="020B0400000000000000" pitchFamily="50" charset="-128"/>
              </a:rPr>
              <a:t>OEM</a:t>
            </a:r>
          </a:p>
        </p:txBody>
      </p:sp>
      <p:sp>
        <p:nvSpPr>
          <p:cNvPr id="28" name="字幕 13">
            <a:extLst>
              <a:ext uri="{FF2B5EF4-FFF2-40B4-BE49-F238E27FC236}">
                <a16:creationId xmlns:a16="http://schemas.microsoft.com/office/drawing/2014/main" id="{28B70AD6-2B6E-D19A-FE7F-69DDA1D938C3}"/>
              </a:ext>
            </a:extLst>
          </p:cNvPr>
          <p:cNvSpPr txBox="1">
            <a:spLocks/>
          </p:cNvSpPr>
          <p:nvPr/>
        </p:nvSpPr>
        <p:spPr>
          <a:xfrm>
            <a:off x="399965" y="1640171"/>
            <a:ext cx="1382036" cy="2139665"/>
          </a:xfrm>
          <a:prstGeom prst="rect">
            <a:avLst/>
          </a:prstGeom>
          <a:solidFill>
            <a:schemeClr val="bg2"/>
          </a:solidFill>
        </p:spPr>
        <p:txBody>
          <a:bodyPr wrap="square" lIns="0" tIns="0" rIns="0" bIns="0">
            <a:noAutofit/>
          </a:bodyPr>
          <a:lstStyle>
            <a:lvl1pPr marL="0" indent="0" algn="l" defTabSz="1007943" rtl="0" eaLnBrk="1" latinLnBrk="0" hangingPunct="1">
              <a:lnSpc>
                <a:spcPct val="120000"/>
              </a:lnSpc>
              <a:spcBef>
                <a:spcPts val="0"/>
              </a:spcBef>
              <a:buFont typeface="Arial" panose="020B0604020202020204" pitchFamily="34" charset="0"/>
              <a:buNone/>
              <a:defRPr kumimoji="1" sz="1400" b="1" kern="1200" spc="55" baseline="0">
                <a:solidFill>
                  <a:schemeClr val="tx1"/>
                </a:solidFill>
                <a:latin typeface="+mj-ea"/>
                <a:ea typeface="+mj-ea"/>
                <a:cs typeface="+mn-cs"/>
              </a:defRPr>
            </a:lvl1pPr>
            <a:lvl2pPr marL="503972" indent="0" algn="ctr" defTabSz="1007943" rtl="0" eaLnBrk="1" latinLnBrk="0" hangingPunct="1">
              <a:lnSpc>
                <a:spcPct val="90000"/>
              </a:lnSpc>
              <a:spcBef>
                <a:spcPts val="551"/>
              </a:spcBef>
              <a:buFont typeface="Arial" panose="020B0604020202020204" pitchFamily="34" charset="0"/>
              <a:buNone/>
              <a:defRPr kumimoji="1" sz="2205" kern="1200">
                <a:solidFill>
                  <a:schemeClr val="tx1"/>
                </a:solidFill>
                <a:latin typeface="+mn-lt"/>
                <a:ea typeface="+mn-ea"/>
                <a:cs typeface="+mn-cs"/>
              </a:defRPr>
            </a:lvl2pPr>
            <a:lvl3pPr marL="1007943" indent="0" algn="ctr" defTabSz="1007943" rtl="0" eaLnBrk="1" latinLnBrk="0" hangingPunct="1">
              <a:lnSpc>
                <a:spcPct val="90000"/>
              </a:lnSpc>
              <a:spcBef>
                <a:spcPts val="551"/>
              </a:spcBef>
              <a:buFont typeface="Arial" panose="020B0604020202020204" pitchFamily="34" charset="0"/>
              <a:buNone/>
              <a:defRPr kumimoji="1" sz="1984" kern="1200">
                <a:solidFill>
                  <a:schemeClr val="tx1"/>
                </a:solidFill>
                <a:latin typeface="+mn-lt"/>
                <a:ea typeface="+mn-ea"/>
                <a:cs typeface="+mn-cs"/>
              </a:defRPr>
            </a:lvl3pPr>
            <a:lvl4pPr marL="1511915"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4pPr>
            <a:lvl5pPr marL="2015886"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5pPr>
            <a:lvl6pPr marL="2519858"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6pPr>
            <a:lvl7pPr marL="3023829"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7pPr>
            <a:lvl8pPr marL="3527801"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8pPr>
            <a:lvl9pPr marL="4031772"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9pPr>
          </a:lstStyle>
          <a:p>
            <a:pPr algn="l">
              <a:buClrTx/>
            </a:pPr>
            <a:r>
              <a:rPr sz="1000" b="0" dirty="0">
                <a:latin typeface="游ゴシック" panose="020B0400000000000000" pitchFamily="50" charset="-128"/>
                <a:ea typeface="游ゴシック" panose="020B0400000000000000" pitchFamily="50" charset="-128"/>
              </a:rPr>
              <a:t>【</a:t>
            </a:r>
            <a:r>
              <a:rPr sz="1000" b="0" dirty="0" err="1">
                <a:latin typeface="游ゴシック" panose="020B0400000000000000" pitchFamily="50" charset="-128"/>
                <a:ea typeface="游ゴシック" panose="020B0400000000000000" pitchFamily="50" charset="-128"/>
              </a:rPr>
              <a:t>人員構成</a:t>
            </a:r>
            <a:r>
              <a:rPr sz="1000" b="0" dirty="0">
                <a:latin typeface="游ゴシック" panose="020B0400000000000000" pitchFamily="50" charset="-128"/>
                <a:ea typeface="游ゴシック" panose="020B0400000000000000" pitchFamily="50" charset="-128"/>
              </a:rPr>
              <a:t>】</a:t>
            </a:r>
          </a:p>
          <a:p>
            <a:pPr algn="l">
              <a:buClrTx/>
            </a:pPr>
            <a:r>
              <a:rPr sz="1000" b="0" dirty="0">
                <a:latin typeface="游ゴシック" panose="020B0400000000000000" pitchFamily="50" charset="-128"/>
                <a:ea typeface="游ゴシック" panose="020B0400000000000000" pitchFamily="50" charset="-128"/>
              </a:rPr>
              <a:t>　取締役：3名</a:t>
            </a:r>
          </a:p>
          <a:p>
            <a:pPr algn="l">
              <a:buClrTx/>
            </a:pPr>
            <a:r>
              <a:rPr sz="1000" b="0" dirty="0">
                <a:latin typeface="游ゴシック" panose="020B0400000000000000" pitchFamily="50" charset="-128"/>
                <a:ea typeface="游ゴシック" panose="020B0400000000000000" pitchFamily="50" charset="-128"/>
              </a:rPr>
              <a:t>　正社員：7名</a:t>
            </a:r>
          </a:p>
          <a:p>
            <a:pPr algn="l">
              <a:buClrTx/>
            </a:pPr>
            <a:r>
              <a:rPr sz="1000" b="0" dirty="0">
                <a:latin typeface="游ゴシック" panose="020B0400000000000000" pitchFamily="50" charset="-128"/>
                <a:ea typeface="游ゴシック" panose="020B0400000000000000" pitchFamily="50" charset="-128"/>
              </a:rPr>
              <a:t>　</a:t>
            </a:r>
            <a:r>
              <a:rPr sz="1000" b="0" dirty="0" err="1">
                <a:latin typeface="游ゴシック" panose="020B0400000000000000" pitchFamily="50" charset="-128"/>
                <a:ea typeface="游ゴシック" panose="020B0400000000000000" pitchFamily="50" charset="-128"/>
              </a:rPr>
              <a:t>合計</a:t>
            </a:r>
            <a:r>
              <a:rPr sz="1000" b="0" dirty="0">
                <a:latin typeface="游ゴシック" panose="020B0400000000000000" pitchFamily="50" charset="-128"/>
                <a:ea typeface="游ゴシック" panose="020B0400000000000000" pitchFamily="50" charset="-128"/>
              </a:rPr>
              <a:t>　：10名</a:t>
            </a:r>
          </a:p>
          <a:p>
            <a:pPr algn="l">
              <a:buClrTx/>
            </a:pPr>
            <a:r>
              <a:rPr sz="1000" b="0" dirty="0">
                <a:latin typeface="游ゴシック" panose="020B0400000000000000" pitchFamily="50" charset="-128"/>
                <a:ea typeface="游ゴシック" panose="020B0400000000000000" pitchFamily="50" charset="-128"/>
              </a:rPr>
              <a:t>　　制作部：5名</a:t>
            </a:r>
          </a:p>
          <a:p>
            <a:pPr algn="l">
              <a:buClrTx/>
            </a:pPr>
            <a:r>
              <a:rPr sz="1000" b="0" dirty="0">
                <a:latin typeface="游ゴシック" panose="020B0400000000000000" pitchFamily="50" charset="-128"/>
                <a:ea typeface="游ゴシック" panose="020B0400000000000000" pitchFamily="50" charset="-128"/>
              </a:rPr>
              <a:t>　　営業部：2名</a:t>
            </a:r>
          </a:p>
          <a:p>
            <a:pPr algn="l">
              <a:buClrTx/>
            </a:pPr>
            <a:endParaRPr sz="1000" b="0" dirty="0">
              <a:latin typeface="游ゴシック" panose="020B0400000000000000" pitchFamily="50" charset="-128"/>
              <a:ea typeface="游ゴシック" panose="020B0400000000000000" pitchFamily="50" charset="-128"/>
            </a:endParaRPr>
          </a:p>
          <a:p>
            <a:pPr algn="l">
              <a:buClrTx/>
            </a:pPr>
            <a:r>
              <a:rPr sz="1000" b="0" dirty="0">
                <a:latin typeface="游ゴシック" panose="020B0400000000000000" pitchFamily="50" charset="-128"/>
                <a:ea typeface="游ゴシック" panose="020B0400000000000000" pitchFamily="50" charset="-128"/>
              </a:rPr>
              <a:t>【</a:t>
            </a:r>
            <a:r>
              <a:rPr sz="1000" b="0" dirty="0" err="1">
                <a:latin typeface="游ゴシック" panose="020B0400000000000000" pitchFamily="50" charset="-128"/>
                <a:ea typeface="游ゴシック" panose="020B0400000000000000" pitchFamily="50" charset="-128"/>
              </a:rPr>
              <a:t>機能別</a:t>
            </a:r>
            <a:r>
              <a:rPr sz="1000" b="0" dirty="0">
                <a:latin typeface="游ゴシック" panose="020B0400000000000000" pitchFamily="50" charset="-128"/>
                <a:ea typeface="游ゴシック" panose="020B0400000000000000" pitchFamily="50" charset="-128"/>
              </a:rPr>
              <a:t>】</a:t>
            </a:r>
          </a:p>
          <a:p>
            <a:pPr algn="l">
              <a:buClrTx/>
            </a:pPr>
            <a:r>
              <a:rPr sz="1000" b="0" dirty="0">
                <a:latin typeface="游ゴシック" panose="020B0400000000000000" pitchFamily="50" charset="-128"/>
                <a:ea typeface="游ゴシック" panose="020B0400000000000000" pitchFamily="50" charset="-128"/>
              </a:rPr>
              <a:t>　MD商品：5名</a:t>
            </a:r>
          </a:p>
          <a:p>
            <a:pPr algn="l">
              <a:buClrTx/>
            </a:pPr>
            <a:r>
              <a:rPr sz="1000" b="0" dirty="0">
                <a:latin typeface="游ゴシック" panose="020B0400000000000000" pitchFamily="50" charset="-128"/>
                <a:ea typeface="游ゴシック" panose="020B0400000000000000" pitchFamily="50" charset="-128"/>
              </a:rPr>
              <a:t>　</a:t>
            </a:r>
            <a:r>
              <a:rPr lang="en-US" altLang="ja-JP" sz="1000" b="0" dirty="0">
                <a:latin typeface="游ゴシック" panose="020B0400000000000000" pitchFamily="50" charset="-128"/>
                <a:ea typeface="游ゴシック" panose="020B0400000000000000" pitchFamily="50" charset="-128"/>
              </a:rPr>
              <a:t>OEM</a:t>
            </a:r>
            <a:r>
              <a:rPr sz="1000" b="0" dirty="0">
                <a:latin typeface="游ゴシック" panose="020B0400000000000000" pitchFamily="50" charset="-128"/>
                <a:ea typeface="游ゴシック" panose="020B0400000000000000" pitchFamily="50" charset="-128"/>
              </a:rPr>
              <a:t>　　：3名</a:t>
            </a:r>
          </a:p>
          <a:p>
            <a:pPr algn="l">
              <a:buClrTx/>
            </a:pPr>
            <a:r>
              <a:rPr sz="1000" b="0" dirty="0">
                <a:latin typeface="游ゴシック" panose="020B0400000000000000" pitchFamily="50" charset="-128"/>
                <a:ea typeface="游ゴシック" panose="020B0400000000000000" pitchFamily="50" charset="-128"/>
              </a:rPr>
              <a:t>　※</a:t>
            </a:r>
            <a:r>
              <a:rPr sz="1000" b="0" dirty="0" err="1">
                <a:latin typeface="游ゴシック" panose="020B0400000000000000" pitchFamily="50" charset="-128"/>
                <a:ea typeface="游ゴシック" panose="020B0400000000000000" pitchFamily="50" charset="-128"/>
              </a:rPr>
              <a:t>兼務を含む</a:t>
            </a:r>
            <a:endParaRPr sz="1000" b="0" dirty="0">
              <a:latin typeface="游ゴシック" panose="020B0400000000000000" pitchFamily="50" charset="-128"/>
              <a:ea typeface="游ゴシック" panose="020B0400000000000000" pitchFamily="50" charset="-128"/>
            </a:endParaRPr>
          </a:p>
        </p:txBody>
      </p:sp>
      <p:cxnSp>
        <p:nvCxnSpPr>
          <p:cNvPr id="29" name="org221">
            <a:extLst>
              <a:ext uri="{FF2B5EF4-FFF2-40B4-BE49-F238E27FC236}">
                <a16:creationId xmlns:a16="http://schemas.microsoft.com/office/drawing/2014/main" id="{C0A553E4-AB1C-F0DC-2769-75B9DDA302A0}"/>
              </a:ext>
            </a:extLst>
          </p:cNvPr>
          <p:cNvCxnSpPr/>
          <p:nvPr/>
        </p:nvCxnSpPr>
        <p:spPr>
          <a:xfrm>
            <a:off x="2717185" y="5727879"/>
            <a:ext cx="0" cy="128016"/>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cxnSp>
        <p:nvCxnSpPr>
          <p:cNvPr id="30" name="org223">
            <a:extLst>
              <a:ext uri="{FF2B5EF4-FFF2-40B4-BE49-F238E27FC236}">
                <a16:creationId xmlns:a16="http://schemas.microsoft.com/office/drawing/2014/main" id="{DEC8000E-13EF-AB42-5505-B31A7FEFED80}"/>
              </a:ext>
            </a:extLst>
          </p:cNvPr>
          <p:cNvCxnSpPr/>
          <p:nvPr/>
        </p:nvCxnSpPr>
        <p:spPr>
          <a:xfrm>
            <a:off x="4088785" y="5727879"/>
            <a:ext cx="0" cy="128016"/>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cxnSp>
        <p:nvCxnSpPr>
          <p:cNvPr id="31" name="org225">
            <a:extLst>
              <a:ext uri="{FF2B5EF4-FFF2-40B4-BE49-F238E27FC236}">
                <a16:creationId xmlns:a16="http://schemas.microsoft.com/office/drawing/2014/main" id="{12345532-DCF1-7E46-EAE6-C156E1DF686C}"/>
              </a:ext>
            </a:extLst>
          </p:cNvPr>
          <p:cNvCxnSpPr/>
          <p:nvPr/>
        </p:nvCxnSpPr>
        <p:spPr>
          <a:xfrm>
            <a:off x="6740545" y="5727879"/>
            <a:ext cx="0" cy="128016"/>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cxnSp>
        <p:nvCxnSpPr>
          <p:cNvPr id="32" name="org227">
            <a:extLst>
              <a:ext uri="{FF2B5EF4-FFF2-40B4-BE49-F238E27FC236}">
                <a16:creationId xmlns:a16="http://schemas.microsoft.com/office/drawing/2014/main" id="{35503653-0142-52B4-3E6A-2E7D9B8F2C8D}"/>
              </a:ext>
            </a:extLst>
          </p:cNvPr>
          <p:cNvCxnSpPr/>
          <p:nvPr/>
        </p:nvCxnSpPr>
        <p:spPr>
          <a:xfrm>
            <a:off x="8112145" y="5727879"/>
            <a:ext cx="0" cy="128016"/>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sp>
        <p:nvSpPr>
          <p:cNvPr id="33" name="org228">
            <a:extLst>
              <a:ext uri="{FF2B5EF4-FFF2-40B4-BE49-F238E27FC236}">
                <a16:creationId xmlns:a16="http://schemas.microsoft.com/office/drawing/2014/main" id="{00469090-39F8-8CEE-32D2-1DEC5E451A83}"/>
              </a:ext>
            </a:extLst>
          </p:cNvPr>
          <p:cNvSpPr txBox="1">
            <a:spLocks/>
          </p:cNvSpPr>
          <p:nvPr/>
        </p:nvSpPr>
        <p:spPr>
          <a:xfrm>
            <a:off x="2099965" y="5855895"/>
            <a:ext cx="1234440" cy="553212"/>
          </a:xfrm>
          <a:prstGeom prst="rect">
            <a:avLst/>
          </a:prstGeom>
          <a:solidFill>
            <a:schemeClr val="bg2"/>
          </a:solidFill>
        </p:spPr>
        <p:txBody>
          <a:bodyPr wrap="square" lIns="0" tIns="0" rIns="0" bIns="0">
            <a:noAutofit/>
          </a:bodyPr>
          <a:lstStyle>
            <a:lvl1pPr marL="0" indent="0" algn="l" defTabSz="1007943" rtl="0" eaLnBrk="1" latinLnBrk="0" hangingPunct="1">
              <a:lnSpc>
                <a:spcPct val="120000"/>
              </a:lnSpc>
              <a:spcBef>
                <a:spcPts val="0"/>
              </a:spcBef>
              <a:buFont typeface="Arial" panose="020B0604020202020204" pitchFamily="34" charset="0"/>
              <a:buNone/>
              <a:defRPr kumimoji="1" sz="1400" b="1" kern="1200" spc="55" baseline="0">
                <a:solidFill>
                  <a:schemeClr val="tx1"/>
                </a:solidFill>
                <a:latin typeface="+mj-ea"/>
                <a:ea typeface="+mj-ea"/>
                <a:cs typeface="+mn-cs"/>
              </a:defRPr>
            </a:lvl1pPr>
            <a:lvl2pPr marL="503972" indent="0" algn="ctr" defTabSz="1007943" rtl="0" eaLnBrk="1" latinLnBrk="0" hangingPunct="1">
              <a:lnSpc>
                <a:spcPct val="90000"/>
              </a:lnSpc>
              <a:spcBef>
                <a:spcPts val="551"/>
              </a:spcBef>
              <a:buFont typeface="Arial" panose="020B0604020202020204" pitchFamily="34" charset="0"/>
              <a:buNone/>
              <a:defRPr kumimoji="1" sz="2205" kern="1200">
                <a:solidFill>
                  <a:schemeClr val="tx1"/>
                </a:solidFill>
                <a:latin typeface="+mn-lt"/>
                <a:ea typeface="+mn-ea"/>
                <a:cs typeface="+mn-cs"/>
              </a:defRPr>
            </a:lvl2pPr>
            <a:lvl3pPr marL="1007943" indent="0" algn="ctr" defTabSz="1007943" rtl="0" eaLnBrk="1" latinLnBrk="0" hangingPunct="1">
              <a:lnSpc>
                <a:spcPct val="90000"/>
              </a:lnSpc>
              <a:spcBef>
                <a:spcPts val="551"/>
              </a:spcBef>
              <a:buFont typeface="Arial" panose="020B0604020202020204" pitchFamily="34" charset="0"/>
              <a:buNone/>
              <a:defRPr kumimoji="1" sz="1984" kern="1200">
                <a:solidFill>
                  <a:schemeClr val="tx1"/>
                </a:solidFill>
                <a:latin typeface="+mn-lt"/>
                <a:ea typeface="+mn-ea"/>
                <a:cs typeface="+mn-cs"/>
              </a:defRPr>
            </a:lvl3pPr>
            <a:lvl4pPr marL="1511915"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4pPr>
            <a:lvl5pPr marL="2015886"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5pPr>
            <a:lvl6pPr marL="2519858"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6pPr>
            <a:lvl7pPr marL="3023829"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7pPr>
            <a:lvl8pPr marL="3527801"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8pPr>
            <a:lvl9pPr marL="4031772"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9pPr>
          </a:lstStyle>
          <a:p>
            <a:pPr algn="ctr"/>
            <a:r>
              <a:rPr lang="ja-JP" sz="900" b="0">
                <a:solidFill>
                  <a:srgbClr val="0B3041"/>
                </a:solidFill>
                <a:latin typeface="游ゴシック" panose="020B0400000000000000" pitchFamily="50" charset="-128"/>
                <a:ea typeface="游ゴシック" panose="020B0400000000000000" pitchFamily="50" charset="-128"/>
              </a:rPr>
              <a:t>No.6　営業部</a:t>
            </a:r>
          </a:p>
          <a:p>
            <a:pPr algn="ctr"/>
            <a:r>
              <a:rPr lang="ja-JP" sz="900" b="0">
                <a:solidFill>
                  <a:srgbClr val="0B3041"/>
                </a:solidFill>
                <a:latin typeface="游ゴシック" panose="020B0400000000000000" pitchFamily="50" charset="-128"/>
                <a:ea typeface="游ゴシック" panose="020B0400000000000000" pitchFamily="50" charset="-128"/>
              </a:rPr>
              <a:t>No.7　営業部</a:t>
            </a:r>
          </a:p>
        </p:txBody>
      </p:sp>
      <p:sp>
        <p:nvSpPr>
          <p:cNvPr id="34" name="org229">
            <a:extLst>
              <a:ext uri="{FF2B5EF4-FFF2-40B4-BE49-F238E27FC236}">
                <a16:creationId xmlns:a16="http://schemas.microsoft.com/office/drawing/2014/main" id="{3FC43F05-1B1B-A514-02EC-6E23EFD7491D}"/>
              </a:ext>
            </a:extLst>
          </p:cNvPr>
          <p:cNvSpPr txBox="1">
            <a:spLocks/>
          </p:cNvSpPr>
          <p:nvPr/>
        </p:nvSpPr>
        <p:spPr>
          <a:xfrm>
            <a:off x="3471565" y="5855895"/>
            <a:ext cx="1234440" cy="553212"/>
          </a:xfrm>
          <a:prstGeom prst="rect">
            <a:avLst/>
          </a:prstGeom>
          <a:solidFill>
            <a:schemeClr val="bg2"/>
          </a:solidFill>
        </p:spPr>
        <p:txBody>
          <a:bodyPr wrap="square" lIns="0" tIns="0" rIns="0" bIns="0">
            <a:noAutofit/>
          </a:bodyPr>
          <a:lstStyle>
            <a:lvl1pPr marL="0" indent="0" algn="l" defTabSz="1007943" rtl="0" eaLnBrk="1" latinLnBrk="0" hangingPunct="1">
              <a:lnSpc>
                <a:spcPct val="120000"/>
              </a:lnSpc>
              <a:spcBef>
                <a:spcPts val="0"/>
              </a:spcBef>
              <a:buFont typeface="Arial" panose="020B0604020202020204" pitchFamily="34" charset="0"/>
              <a:buNone/>
              <a:defRPr kumimoji="1" sz="1400" b="1" kern="1200" spc="55" baseline="0">
                <a:solidFill>
                  <a:schemeClr val="tx1"/>
                </a:solidFill>
                <a:latin typeface="+mj-ea"/>
                <a:ea typeface="+mj-ea"/>
                <a:cs typeface="+mn-cs"/>
              </a:defRPr>
            </a:lvl1pPr>
            <a:lvl2pPr marL="503972" indent="0" algn="ctr" defTabSz="1007943" rtl="0" eaLnBrk="1" latinLnBrk="0" hangingPunct="1">
              <a:lnSpc>
                <a:spcPct val="90000"/>
              </a:lnSpc>
              <a:spcBef>
                <a:spcPts val="551"/>
              </a:spcBef>
              <a:buFont typeface="Arial" panose="020B0604020202020204" pitchFamily="34" charset="0"/>
              <a:buNone/>
              <a:defRPr kumimoji="1" sz="2205" kern="1200">
                <a:solidFill>
                  <a:schemeClr val="tx1"/>
                </a:solidFill>
                <a:latin typeface="+mn-lt"/>
                <a:ea typeface="+mn-ea"/>
                <a:cs typeface="+mn-cs"/>
              </a:defRPr>
            </a:lvl2pPr>
            <a:lvl3pPr marL="1007943" indent="0" algn="ctr" defTabSz="1007943" rtl="0" eaLnBrk="1" latinLnBrk="0" hangingPunct="1">
              <a:lnSpc>
                <a:spcPct val="90000"/>
              </a:lnSpc>
              <a:spcBef>
                <a:spcPts val="551"/>
              </a:spcBef>
              <a:buFont typeface="Arial" panose="020B0604020202020204" pitchFamily="34" charset="0"/>
              <a:buNone/>
              <a:defRPr kumimoji="1" sz="1984" kern="1200">
                <a:solidFill>
                  <a:schemeClr val="tx1"/>
                </a:solidFill>
                <a:latin typeface="+mn-lt"/>
                <a:ea typeface="+mn-ea"/>
                <a:cs typeface="+mn-cs"/>
              </a:defRPr>
            </a:lvl3pPr>
            <a:lvl4pPr marL="1511915"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4pPr>
            <a:lvl5pPr marL="2015886"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5pPr>
            <a:lvl6pPr marL="2519858"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6pPr>
            <a:lvl7pPr marL="3023829"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7pPr>
            <a:lvl8pPr marL="3527801"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8pPr>
            <a:lvl9pPr marL="4031772"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9pPr>
          </a:lstStyle>
          <a:p>
            <a:pPr algn="ctr"/>
            <a:r>
              <a:rPr lang="ja-JP" altLang="en-US" sz="900" b="0" dirty="0">
                <a:solidFill>
                  <a:srgbClr val="0B3041"/>
                </a:solidFill>
                <a:latin typeface="游ゴシック" panose="020B0400000000000000" pitchFamily="50" charset="-128"/>
                <a:ea typeface="游ゴシック" panose="020B0400000000000000" pitchFamily="50" charset="-128"/>
              </a:rPr>
              <a:t>野口</a:t>
            </a:r>
            <a:r>
              <a:rPr lang="ja-JP" sz="900" b="0" dirty="0">
                <a:solidFill>
                  <a:srgbClr val="0B3041"/>
                </a:solidFill>
                <a:latin typeface="游ゴシック" panose="020B0400000000000000" pitchFamily="50" charset="-128"/>
                <a:ea typeface="游ゴシック" panose="020B0400000000000000" pitchFamily="50" charset="-128"/>
              </a:rPr>
              <a:t>代表（兼務）</a:t>
            </a:r>
          </a:p>
        </p:txBody>
      </p:sp>
      <p:sp>
        <p:nvSpPr>
          <p:cNvPr id="35" name="org230">
            <a:extLst>
              <a:ext uri="{FF2B5EF4-FFF2-40B4-BE49-F238E27FC236}">
                <a16:creationId xmlns:a16="http://schemas.microsoft.com/office/drawing/2014/main" id="{80C1FB35-D1D5-DBC5-9A27-1F8349690F5A}"/>
              </a:ext>
            </a:extLst>
          </p:cNvPr>
          <p:cNvSpPr txBox="1">
            <a:spLocks/>
          </p:cNvSpPr>
          <p:nvPr/>
        </p:nvSpPr>
        <p:spPr>
          <a:xfrm>
            <a:off x="6123325" y="5855895"/>
            <a:ext cx="1234440" cy="553212"/>
          </a:xfrm>
          <a:prstGeom prst="rect">
            <a:avLst/>
          </a:prstGeom>
          <a:solidFill>
            <a:schemeClr val="bg2"/>
          </a:solidFill>
        </p:spPr>
        <p:txBody>
          <a:bodyPr wrap="square" lIns="0" tIns="0" rIns="0" bIns="0">
            <a:noAutofit/>
          </a:bodyPr>
          <a:lstStyle>
            <a:lvl1pPr marL="0" indent="0" algn="l" defTabSz="1007943" rtl="0" eaLnBrk="1" latinLnBrk="0" hangingPunct="1">
              <a:lnSpc>
                <a:spcPct val="120000"/>
              </a:lnSpc>
              <a:spcBef>
                <a:spcPts val="0"/>
              </a:spcBef>
              <a:buFont typeface="Arial" panose="020B0604020202020204" pitchFamily="34" charset="0"/>
              <a:buNone/>
              <a:defRPr kumimoji="1" sz="1400" b="1" kern="1200" spc="55" baseline="0">
                <a:solidFill>
                  <a:schemeClr val="tx1"/>
                </a:solidFill>
                <a:latin typeface="+mj-ea"/>
                <a:ea typeface="+mj-ea"/>
                <a:cs typeface="+mn-cs"/>
              </a:defRPr>
            </a:lvl1pPr>
            <a:lvl2pPr marL="503972" indent="0" algn="ctr" defTabSz="1007943" rtl="0" eaLnBrk="1" latinLnBrk="0" hangingPunct="1">
              <a:lnSpc>
                <a:spcPct val="90000"/>
              </a:lnSpc>
              <a:spcBef>
                <a:spcPts val="551"/>
              </a:spcBef>
              <a:buFont typeface="Arial" panose="020B0604020202020204" pitchFamily="34" charset="0"/>
              <a:buNone/>
              <a:defRPr kumimoji="1" sz="2205" kern="1200">
                <a:solidFill>
                  <a:schemeClr val="tx1"/>
                </a:solidFill>
                <a:latin typeface="+mn-lt"/>
                <a:ea typeface="+mn-ea"/>
                <a:cs typeface="+mn-cs"/>
              </a:defRPr>
            </a:lvl2pPr>
            <a:lvl3pPr marL="1007943" indent="0" algn="ctr" defTabSz="1007943" rtl="0" eaLnBrk="1" latinLnBrk="0" hangingPunct="1">
              <a:lnSpc>
                <a:spcPct val="90000"/>
              </a:lnSpc>
              <a:spcBef>
                <a:spcPts val="551"/>
              </a:spcBef>
              <a:buFont typeface="Arial" panose="020B0604020202020204" pitchFamily="34" charset="0"/>
              <a:buNone/>
              <a:defRPr kumimoji="1" sz="1984" kern="1200">
                <a:solidFill>
                  <a:schemeClr val="tx1"/>
                </a:solidFill>
                <a:latin typeface="+mn-lt"/>
                <a:ea typeface="+mn-ea"/>
                <a:cs typeface="+mn-cs"/>
              </a:defRPr>
            </a:lvl3pPr>
            <a:lvl4pPr marL="1511915"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4pPr>
            <a:lvl5pPr marL="2015886"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5pPr>
            <a:lvl6pPr marL="2519858"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6pPr>
            <a:lvl7pPr marL="3023829"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7pPr>
            <a:lvl8pPr marL="3527801"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8pPr>
            <a:lvl9pPr marL="4031772"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9pPr>
          </a:lstStyle>
          <a:p>
            <a:pPr algn="ctr"/>
            <a:r>
              <a:rPr lang="ja-JP" sz="900" b="0">
                <a:solidFill>
                  <a:srgbClr val="0B3041"/>
                </a:solidFill>
                <a:latin typeface="游ゴシック" panose="020B0400000000000000" pitchFamily="50" charset="-128"/>
                <a:ea typeface="游ゴシック" panose="020B0400000000000000" pitchFamily="50" charset="-128"/>
              </a:rPr>
              <a:t>No.2　課長</a:t>
            </a:r>
          </a:p>
          <a:p>
            <a:pPr algn="ctr"/>
            <a:r>
              <a:rPr lang="ja-JP" sz="900" b="0">
                <a:solidFill>
                  <a:srgbClr val="0B3041"/>
                </a:solidFill>
                <a:latin typeface="游ゴシック" panose="020B0400000000000000" pitchFamily="50" charset="-128"/>
                <a:ea typeface="游ゴシック" panose="020B0400000000000000" pitchFamily="50" charset="-128"/>
              </a:rPr>
              <a:t>No.4　一般</a:t>
            </a:r>
          </a:p>
          <a:p>
            <a:pPr algn="ctr"/>
            <a:r>
              <a:rPr lang="ja-JP" sz="900" b="0">
                <a:solidFill>
                  <a:srgbClr val="0B3041"/>
                </a:solidFill>
                <a:latin typeface="游ゴシック" panose="020B0400000000000000" pitchFamily="50" charset="-128"/>
                <a:ea typeface="游ゴシック" panose="020B0400000000000000" pitchFamily="50" charset="-128"/>
              </a:rPr>
              <a:t>No.5　一般</a:t>
            </a:r>
          </a:p>
        </p:txBody>
      </p:sp>
      <p:sp>
        <p:nvSpPr>
          <p:cNvPr id="36" name="org231">
            <a:extLst>
              <a:ext uri="{FF2B5EF4-FFF2-40B4-BE49-F238E27FC236}">
                <a16:creationId xmlns:a16="http://schemas.microsoft.com/office/drawing/2014/main" id="{F5FB32E6-D627-B779-D058-20C90BEC5024}"/>
              </a:ext>
            </a:extLst>
          </p:cNvPr>
          <p:cNvSpPr txBox="1">
            <a:spLocks/>
          </p:cNvSpPr>
          <p:nvPr/>
        </p:nvSpPr>
        <p:spPr>
          <a:xfrm>
            <a:off x="7494924" y="5855895"/>
            <a:ext cx="1234440" cy="553212"/>
          </a:xfrm>
          <a:prstGeom prst="rect">
            <a:avLst/>
          </a:prstGeom>
          <a:solidFill>
            <a:schemeClr val="bg2"/>
          </a:solidFill>
        </p:spPr>
        <p:txBody>
          <a:bodyPr wrap="square" lIns="0" tIns="0" rIns="0" bIns="0">
            <a:noAutofit/>
          </a:bodyPr>
          <a:lstStyle>
            <a:lvl1pPr marL="0" indent="0" algn="l" defTabSz="1007943" rtl="0" eaLnBrk="1" latinLnBrk="0" hangingPunct="1">
              <a:lnSpc>
                <a:spcPct val="120000"/>
              </a:lnSpc>
              <a:spcBef>
                <a:spcPts val="0"/>
              </a:spcBef>
              <a:buFont typeface="Arial" panose="020B0604020202020204" pitchFamily="34" charset="0"/>
              <a:buNone/>
              <a:defRPr kumimoji="1" sz="1400" b="1" kern="1200" spc="55" baseline="0">
                <a:solidFill>
                  <a:schemeClr val="tx1"/>
                </a:solidFill>
                <a:latin typeface="+mj-ea"/>
                <a:ea typeface="+mj-ea"/>
                <a:cs typeface="+mn-cs"/>
              </a:defRPr>
            </a:lvl1pPr>
            <a:lvl2pPr marL="503972" indent="0" algn="ctr" defTabSz="1007943" rtl="0" eaLnBrk="1" latinLnBrk="0" hangingPunct="1">
              <a:lnSpc>
                <a:spcPct val="90000"/>
              </a:lnSpc>
              <a:spcBef>
                <a:spcPts val="551"/>
              </a:spcBef>
              <a:buFont typeface="Arial" panose="020B0604020202020204" pitchFamily="34" charset="0"/>
              <a:buNone/>
              <a:defRPr kumimoji="1" sz="2205" kern="1200">
                <a:solidFill>
                  <a:schemeClr val="tx1"/>
                </a:solidFill>
                <a:latin typeface="+mn-lt"/>
                <a:ea typeface="+mn-ea"/>
                <a:cs typeface="+mn-cs"/>
              </a:defRPr>
            </a:lvl2pPr>
            <a:lvl3pPr marL="1007943" indent="0" algn="ctr" defTabSz="1007943" rtl="0" eaLnBrk="1" latinLnBrk="0" hangingPunct="1">
              <a:lnSpc>
                <a:spcPct val="90000"/>
              </a:lnSpc>
              <a:spcBef>
                <a:spcPts val="551"/>
              </a:spcBef>
              <a:buFont typeface="Arial" panose="020B0604020202020204" pitchFamily="34" charset="0"/>
              <a:buNone/>
              <a:defRPr kumimoji="1" sz="1984" kern="1200">
                <a:solidFill>
                  <a:schemeClr val="tx1"/>
                </a:solidFill>
                <a:latin typeface="+mn-lt"/>
                <a:ea typeface="+mn-ea"/>
                <a:cs typeface="+mn-cs"/>
              </a:defRPr>
            </a:lvl3pPr>
            <a:lvl4pPr marL="1511915"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4pPr>
            <a:lvl5pPr marL="2015886"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5pPr>
            <a:lvl6pPr marL="2519858"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6pPr>
            <a:lvl7pPr marL="3023829"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7pPr>
            <a:lvl8pPr marL="3527801"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8pPr>
            <a:lvl9pPr marL="4031772"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9pPr>
          </a:lstStyle>
          <a:p>
            <a:pPr algn="ctr"/>
            <a:r>
              <a:rPr lang="ja-JP" sz="900" b="0" dirty="0">
                <a:solidFill>
                  <a:srgbClr val="0B3041"/>
                </a:solidFill>
                <a:latin typeface="游ゴシック" panose="020B0400000000000000" pitchFamily="50" charset="-128"/>
                <a:ea typeface="游ゴシック" panose="020B0400000000000000" pitchFamily="50" charset="-128"/>
              </a:rPr>
              <a:t>No.1　部長（兼務）</a:t>
            </a:r>
          </a:p>
          <a:p>
            <a:pPr algn="ctr"/>
            <a:r>
              <a:rPr lang="ja-JP" sz="900" b="0" dirty="0">
                <a:solidFill>
                  <a:srgbClr val="0B3041"/>
                </a:solidFill>
                <a:latin typeface="游ゴシック" panose="020B0400000000000000" pitchFamily="50" charset="-128"/>
                <a:ea typeface="游ゴシック" panose="020B0400000000000000" pitchFamily="50" charset="-128"/>
              </a:rPr>
              <a:t>No.3　主任</a:t>
            </a:r>
          </a:p>
        </p:txBody>
      </p:sp>
      <p:sp>
        <p:nvSpPr>
          <p:cNvPr id="38" name="TextBox 231">
            <a:extLst>
              <a:ext uri="{FF2B5EF4-FFF2-40B4-BE49-F238E27FC236}">
                <a16:creationId xmlns:a16="http://schemas.microsoft.com/office/drawing/2014/main" id="{3BB57083-DB00-4A98-1194-2E6DEC9F81C5}"/>
              </a:ext>
            </a:extLst>
          </p:cNvPr>
          <p:cNvSpPr txBox="1"/>
          <p:nvPr/>
        </p:nvSpPr>
        <p:spPr>
          <a:xfrm>
            <a:off x="402336" y="6537960"/>
            <a:ext cx="9875520" cy="369332"/>
          </a:xfrm>
          <a:prstGeom prst="rect">
            <a:avLst/>
          </a:prstGeom>
          <a:noFill/>
        </p:spPr>
        <p:txBody>
          <a:bodyPr wrap="square">
            <a:spAutoFit/>
          </a:bodyPr>
          <a:lstStyle/>
          <a:p>
            <a:r>
              <a:rPr sz="900" dirty="0">
                <a:solidFill>
                  <a:srgbClr val="404040"/>
                </a:solidFill>
                <a:latin typeface="游ゴシック" panose="020B0400000000000000" pitchFamily="50" charset="-128"/>
                <a:ea typeface="游ゴシック" panose="020B0400000000000000" pitchFamily="50" charset="-128"/>
              </a:rPr>
              <a:t>※ </a:t>
            </a:r>
            <a:r>
              <a:rPr sz="900" dirty="0" err="1">
                <a:solidFill>
                  <a:srgbClr val="404040"/>
                </a:solidFill>
                <a:latin typeface="游ゴシック" panose="020B0400000000000000" pitchFamily="50" charset="-128"/>
                <a:ea typeface="游ゴシック" panose="020B0400000000000000" pitchFamily="50" charset="-128"/>
              </a:rPr>
              <a:t>図中のNo.は「従業員」ページの従業員No.と対応</a:t>
            </a:r>
            <a:r>
              <a:rPr sz="900" dirty="0">
                <a:solidFill>
                  <a:srgbClr val="404040"/>
                </a:solidFill>
                <a:latin typeface="游ゴシック" panose="020B0400000000000000" pitchFamily="50" charset="-128"/>
                <a:ea typeface="游ゴシック" panose="020B0400000000000000" pitchFamily="50" charset="-128"/>
              </a:rPr>
              <a:t>。</a:t>
            </a:r>
            <a:endParaRPr lang="en-US" sz="900" dirty="0">
              <a:solidFill>
                <a:srgbClr val="404040"/>
              </a:solidFill>
              <a:latin typeface="游ゴシック" panose="020B0400000000000000" pitchFamily="50" charset="-128"/>
              <a:ea typeface="游ゴシック" panose="020B0400000000000000" pitchFamily="50" charset="-128"/>
            </a:endParaRPr>
          </a:p>
          <a:p>
            <a:r>
              <a:rPr lang="en-US" altLang="ja-JP" sz="900" dirty="0">
                <a:solidFill>
                  <a:srgbClr val="404040"/>
                </a:solidFill>
                <a:latin typeface="游ゴシック" panose="020B0400000000000000" pitchFamily="50" charset="-128"/>
                <a:ea typeface="游ゴシック" panose="020B0400000000000000" pitchFamily="50" charset="-128"/>
              </a:rPr>
              <a:t>※</a:t>
            </a:r>
            <a:r>
              <a:rPr lang="ja-JP" altLang="en-US" sz="900" dirty="0">
                <a:solidFill>
                  <a:srgbClr val="404040"/>
                </a:solidFill>
                <a:latin typeface="游ゴシック" panose="020B0400000000000000" pitchFamily="50" charset="-128"/>
                <a:ea typeface="游ゴシック" panose="020B0400000000000000" pitchFamily="50" charset="-128"/>
              </a:rPr>
              <a:t>野口</a:t>
            </a:r>
            <a:r>
              <a:rPr sz="900" dirty="0">
                <a:solidFill>
                  <a:srgbClr val="404040"/>
                </a:solidFill>
                <a:latin typeface="游ゴシック" panose="020B0400000000000000" pitchFamily="50" charset="-128"/>
                <a:ea typeface="游ゴシック" panose="020B0400000000000000" pitchFamily="50" charset="-128"/>
              </a:rPr>
              <a:t>代表は営業部のOEMラインを、制作部部長（No.1）は制作部のOEMラインを兼務で統括。</a:t>
            </a:r>
          </a:p>
        </p:txBody>
      </p:sp>
      <p:cxnSp>
        <p:nvCxnSpPr>
          <p:cNvPr id="39" name="Connector 89">
            <a:extLst>
              <a:ext uri="{FF2B5EF4-FFF2-40B4-BE49-F238E27FC236}">
                <a16:creationId xmlns:a16="http://schemas.microsoft.com/office/drawing/2014/main" id="{68471DE1-F70A-0FE4-7645-30CC54519599}"/>
              </a:ext>
            </a:extLst>
          </p:cNvPr>
          <p:cNvCxnSpPr>
            <a:cxnSpLocks/>
            <a:stCxn id="87" idx="2"/>
          </p:cNvCxnSpPr>
          <p:nvPr/>
        </p:nvCxnSpPr>
        <p:spPr>
          <a:xfrm>
            <a:off x="5346000" y="3198823"/>
            <a:ext cx="0" cy="373359"/>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sp>
        <p:nvSpPr>
          <p:cNvPr id="86" name="Rounded Rectangle 85"/>
          <p:cNvSpPr/>
          <p:nvPr/>
        </p:nvSpPr>
        <p:spPr>
          <a:xfrm>
            <a:off x="3564000" y="1872480"/>
            <a:ext cx="3564000" cy="540000"/>
          </a:xfrm>
          <a:prstGeom prst="roundRect">
            <a:avLst/>
          </a:prstGeom>
          <a:solidFill>
            <a:srgbClr val="0B3041"/>
          </a:solidFill>
          <a:ln w="15875">
            <a:no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lstStyle/>
          <a:p>
            <a:pPr algn="ctr"/>
            <a:r>
              <a:rPr sz="1100" b="1" dirty="0" err="1">
                <a:solidFill>
                  <a:srgbClr val="FFFFFF"/>
                </a:solidFill>
                <a:latin typeface="游ゴシック" panose="020B0400000000000000" pitchFamily="50" charset="-128"/>
                <a:ea typeface="游ゴシック" panose="020B0400000000000000" pitchFamily="50" charset="-128"/>
              </a:rPr>
              <a:t>取締役会</a:t>
            </a:r>
            <a:endParaRPr sz="1100" b="1" dirty="0">
              <a:solidFill>
                <a:srgbClr val="FFFFFF"/>
              </a:solidFill>
              <a:latin typeface="游ゴシック" panose="020B0400000000000000" pitchFamily="50" charset="-128"/>
              <a:ea typeface="游ゴシック" panose="020B0400000000000000" pitchFamily="50" charset="-128"/>
            </a:endParaRPr>
          </a:p>
          <a:p>
            <a:pPr algn="ctr"/>
            <a:r>
              <a:rPr sz="1100" b="1" dirty="0" err="1">
                <a:solidFill>
                  <a:srgbClr val="FFFFFF"/>
                </a:solidFill>
                <a:latin typeface="游ゴシック" panose="020B0400000000000000" pitchFamily="50" charset="-128"/>
                <a:ea typeface="游ゴシック" panose="020B0400000000000000" pitchFamily="50" charset="-128"/>
              </a:rPr>
              <a:t>野口</a:t>
            </a:r>
            <a:r>
              <a:rPr sz="1100" b="1" dirty="0">
                <a:solidFill>
                  <a:srgbClr val="FFFFFF"/>
                </a:solidFill>
                <a:latin typeface="游ゴシック" panose="020B0400000000000000" pitchFamily="50" charset="-128"/>
                <a:ea typeface="游ゴシック" panose="020B0400000000000000" pitchFamily="50" charset="-128"/>
              </a:rPr>
              <a:t> </a:t>
            </a:r>
            <a:r>
              <a:rPr sz="1100" b="1" dirty="0" err="1">
                <a:solidFill>
                  <a:srgbClr val="FFFFFF"/>
                </a:solidFill>
                <a:latin typeface="游ゴシック" panose="020B0400000000000000" pitchFamily="50" charset="-128"/>
                <a:ea typeface="游ゴシック" panose="020B0400000000000000" pitchFamily="50" charset="-128"/>
              </a:rPr>
              <a:t>紘・野口</a:t>
            </a:r>
            <a:r>
              <a:rPr sz="1100" b="1" dirty="0">
                <a:solidFill>
                  <a:srgbClr val="FFFFFF"/>
                </a:solidFill>
                <a:latin typeface="游ゴシック" panose="020B0400000000000000" pitchFamily="50" charset="-128"/>
                <a:ea typeface="游ゴシック" panose="020B0400000000000000" pitchFamily="50" charset="-128"/>
              </a:rPr>
              <a:t> </a:t>
            </a:r>
            <a:r>
              <a:rPr sz="1100" b="1" dirty="0" err="1">
                <a:solidFill>
                  <a:srgbClr val="FFFFFF"/>
                </a:solidFill>
                <a:latin typeface="游ゴシック" panose="020B0400000000000000" pitchFamily="50" charset="-128"/>
                <a:ea typeface="游ゴシック" panose="020B0400000000000000" pitchFamily="50" charset="-128"/>
              </a:rPr>
              <a:t>文枝・野口</a:t>
            </a:r>
            <a:r>
              <a:rPr sz="1100" b="1" dirty="0">
                <a:solidFill>
                  <a:srgbClr val="FFFFFF"/>
                </a:solidFill>
                <a:latin typeface="游ゴシック" panose="020B0400000000000000" pitchFamily="50" charset="-128"/>
                <a:ea typeface="游ゴシック" panose="020B0400000000000000" pitchFamily="50" charset="-128"/>
              </a:rPr>
              <a:t> </a:t>
            </a:r>
            <a:r>
              <a:rPr sz="1100" b="1" dirty="0" err="1">
                <a:solidFill>
                  <a:srgbClr val="FFFFFF"/>
                </a:solidFill>
                <a:latin typeface="游ゴシック" panose="020B0400000000000000" pitchFamily="50" charset="-128"/>
                <a:ea typeface="游ゴシック" panose="020B0400000000000000" pitchFamily="50" charset="-128"/>
              </a:rPr>
              <a:t>聰江</a:t>
            </a:r>
            <a:endParaRPr sz="1100" b="1" dirty="0">
              <a:solidFill>
                <a:srgbClr val="FFFFFF"/>
              </a:solidFill>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27286124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0B11F1-1D51-B82A-B921-6A785A325690}"/>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0FAD2F8E-0153-3144-7799-F8299088775F}"/>
              </a:ext>
            </a:extLst>
          </p:cNvPr>
          <p:cNvSpPr>
            <a:spLocks noGrp="1"/>
          </p:cNvSpPr>
          <p:nvPr>
            <p:ph type="ctrTitle"/>
          </p:nvPr>
        </p:nvSpPr>
        <p:spPr>
          <a:xfrm>
            <a:off x="311150" y="180296"/>
            <a:ext cx="7799917" cy="339267"/>
          </a:xfrm>
        </p:spPr>
        <p:txBody>
          <a:bodyPr>
            <a:normAutofit/>
          </a:bodyPr>
          <a:lstStyle/>
          <a:p>
            <a:r>
              <a:rPr lang="ja-JP" altLang="en-US" dirty="0"/>
              <a:t>株主及び役員</a:t>
            </a:r>
          </a:p>
        </p:txBody>
      </p:sp>
      <p:sp>
        <p:nvSpPr>
          <p:cNvPr id="2" name="正方形/長方形 1">
            <a:extLst>
              <a:ext uri="{FF2B5EF4-FFF2-40B4-BE49-F238E27FC236}">
                <a16:creationId xmlns:a16="http://schemas.microsoft.com/office/drawing/2014/main" id="{F474A0FB-C4FD-5021-0996-014C9ADB8336}"/>
              </a:ext>
            </a:extLst>
          </p:cNvPr>
          <p:cNvSpPr/>
          <p:nvPr/>
        </p:nvSpPr>
        <p:spPr>
          <a:xfrm>
            <a:off x="311151" y="1517736"/>
            <a:ext cx="1479550"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ja-JP" altLang="en-US" sz="1400" b="1" spc="70" dirty="0">
                <a:solidFill>
                  <a:schemeClr val="bg1"/>
                </a:solidFill>
                <a:latin typeface="+mj-ea"/>
                <a:ea typeface="+mj-ea"/>
              </a:rPr>
              <a:t>株主</a:t>
            </a:r>
          </a:p>
        </p:txBody>
      </p:sp>
      <p:sp>
        <p:nvSpPr>
          <p:cNvPr id="3" name="正方形/長方形 2">
            <a:extLst>
              <a:ext uri="{FF2B5EF4-FFF2-40B4-BE49-F238E27FC236}">
                <a16:creationId xmlns:a16="http://schemas.microsoft.com/office/drawing/2014/main" id="{75AD8D3D-AB28-DAEE-3CFD-D5FBA0A0A9F7}"/>
              </a:ext>
            </a:extLst>
          </p:cNvPr>
          <p:cNvSpPr/>
          <p:nvPr/>
        </p:nvSpPr>
        <p:spPr>
          <a:xfrm>
            <a:off x="311151" y="3889461"/>
            <a:ext cx="1479550"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ja-JP" altLang="en-US" sz="1400" b="1" spc="70" dirty="0">
                <a:solidFill>
                  <a:schemeClr val="bg1"/>
                </a:solidFill>
                <a:latin typeface="+mj-ea"/>
                <a:ea typeface="+mj-ea"/>
              </a:rPr>
              <a:t>役員</a:t>
            </a:r>
          </a:p>
        </p:txBody>
      </p:sp>
      <p:sp>
        <p:nvSpPr>
          <p:cNvPr id="4" name="タイトル 1">
            <a:extLst>
              <a:ext uri="{FF2B5EF4-FFF2-40B4-BE49-F238E27FC236}">
                <a16:creationId xmlns:a16="http://schemas.microsoft.com/office/drawing/2014/main" id="{7A477B2A-8CB0-33C5-E13F-6A9007ED2C1F}"/>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組織、拠点、設備等</a:t>
            </a:r>
          </a:p>
        </p:txBody>
      </p:sp>
      <p:graphicFrame>
        <p:nvGraphicFramePr>
          <p:cNvPr id="6" name="表 5">
            <a:extLst>
              <a:ext uri="{FF2B5EF4-FFF2-40B4-BE49-F238E27FC236}">
                <a16:creationId xmlns:a16="http://schemas.microsoft.com/office/drawing/2014/main" id="{27BEA7FD-F7F1-D67D-8081-914B33CC4E33}"/>
              </a:ext>
            </a:extLst>
          </p:cNvPr>
          <p:cNvGraphicFramePr>
            <a:graphicFrameLocks noGrp="1"/>
          </p:cNvGraphicFramePr>
          <p:nvPr>
            <p:extLst>
              <p:ext uri="{D42A27DB-BD31-4B8C-83A1-F6EECF244321}">
                <p14:modId xmlns:p14="http://schemas.microsoft.com/office/powerpoint/2010/main" val="1827053858"/>
              </p:ext>
            </p:extLst>
          </p:nvPr>
        </p:nvGraphicFramePr>
        <p:xfrm>
          <a:off x="309600" y="2014246"/>
          <a:ext cx="9221787" cy="1080086"/>
        </p:xfrm>
        <a:graphic>
          <a:graphicData uri="http://schemas.openxmlformats.org/drawingml/2006/table">
            <a:tbl>
              <a:tblPr/>
              <a:tblGrid>
                <a:gridCol w="310073">
                  <a:extLst>
                    <a:ext uri="{9D8B030D-6E8A-4147-A177-3AD203B41FA5}">
                      <a16:colId xmlns:a16="http://schemas.microsoft.com/office/drawing/2014/main" val="1231620155"/>
                    </a:ext>
                  </a:extLst>
                </a:gridCol>
                <a:gridCol w="1504426">
                  <a:extLst>
                    <a:ext uri="{9D8B030D-6E8A-4147-A177-3AD203B41FA5}">
                      <a16:colId xmlns:a16="http://schemas.microsoft.com/office/drawing/2014/main" val="3603085638"/>
                    </a:ext>
                  </a:extLst>
                </a:gridCol>
                <a:gridCol w="1309195">
                  <a:extLst>
                    <a:ext uri="{9D8B030D-6E8A-4147-A177-3AD203B41FA5}">
                      <a16:colId xmlns:a16="http://schemas.microsoft.com/office/drawing/2014/main" val="2964660539"/>
                    </a:ext>
                  </a:extLst>
                </a:gridCol>
                <a:gridCol w="1309195">
                  <a:extLst>
                    <a:ext uri="{9D8B030D-6E8A-4147-A177-3AD203B41FA5}">
                      <a16:colId xmlns:a16="http://schemas.microsoft.com/office/drawing/2014/main" val="3597779375"/>
                    </a:ext>
                  </a:extLst>
                </a:gridCol>
                <a:gridCol w="1309195">
                  <a:extLst>
                    <a:ext uri="{9D8B030D-6E8A-4147-A177-3AD203B41FA5}">
                      <a16:colId xmlns:a16="http://schemas.microsoft.com/office/drawing/2014/main" val="1085375889"/>
                    </a:ext>
                  </a:extLst>
                </a:gridCol>
                <a:gridCol w="1309195">
                  <a:extLst>
                    <a:ext uri="{9D8B030D-6E8A-4147-A177-3AD203B41FA5}">
                      <a16:colId xmlns:a16="http://schemas.microsoft.com/office/drawing/2014/main" val="2943413453"/>
                    </a:ext>
                  </a:extLst>
                </a:gridCol>
                <a:gridCol w="2170508">
                  <a:extLst>
                    <a:ext uri="{9D8B030D-6E8A-4147-A177-3AD203B41FA5}">
                      <a16:colId xmlns:a16="http://schemas.microsoft.com/office/drawing/2014/main" val="4223632143"/>
                    </a:ext>
                  </a:extLst>
                </a:gridCol>
              </a:tblGrid>
              <a:tr h="215328">
                <a:tc>
                  <a:txBody>
                    <a:bodyPr/>
                    <a:lstStyle/>
                    <a:p>
                      <a:pPr algn="l"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l" fontAlgn="ctr">
                        <a:buNone/>
                      </a:pP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l"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ct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(単位：千円)</a:t>
                      </a:r>
                    </a:p>
                  </a:txBody>
                  <a:tcPr marL="0" marR="0" marT="0" marB="0" anchor="ctr">
                    <a:lnL>
                      <a:noFill/>
                    </a:lnL>
                    <a:lnR>
                      <a:noFill/>
                    </a:lnR>
                    <a:lnT>
                      <a:noFill/>
                    </a:lnT>
                    <a:lnB>
                      <a:noFill/>
                    </a:lnB>
                    <a:noFill/>
                  </a:tcPr>
                </a:tc>
                <a:tc>
                  <a:txBody>
                    <a:bodyPr/>
                    <a:lstStyle/>
                    <a:p>
                      <a:pPr algn="l" fontAlgn="ctr">
                        <a:buNone/>
                      </a:pP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l"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l"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extLst>
                  <a:ext uri="{0D108BD9-81ED-4DB2-BD59-A6C34878D82A}">
                    <a16:rowId xmlns:a16="http://schemas.microsoft.com/office/drawing/2014/main" val="3034888445"/>
                  </a:ext>
                </a:extLst>
              </a:tr>
              <a:tr h="330744">
                <a:tc>
                  <a:txBody>
                    <a:bodyPr/>
                    <a:lstStyle/>
                    <a:p>
                      <a:pPr algn="ctr" fontAlgn="ctr">
                        <a:buNone/>
                      </a:pPr>
                      <a:r>
                        <a:rPr lang="ja-JP" sz="1050" b="1" i="0" u="none" strike="noStrike">
                          <a:solidFill>
                            <a:srgbClr val="FFFFFF"/>
                          </a:solidFill>
                          <a:effectLst/>
                          <a:latin typeface="游ゴシック" panose="020B0400000000000000" pitchFamily="50" charset="-128"/>
                          <a:ea typeface="游ゴシック" panose="020B0400000000000000" pitchFamily="50" charset="-128"/>
                        </a:rPr>
                        <a:t>№</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1050" b="1" i="0" u="none" strike="noStrike">
                          <a:solidFill>
                            <a:srgbClr val="FFFFFF"/>
                          </a:solidFill>
                          <a:effectLst/>
                          <a:latin typeface="游ゴシック" panose="020B0400000000000000" pitchFamily="50" charset="-128"/>
                          <a:ea typeface="游ゴシック" panose="020B0400000000000000" pitchFamily="50" charset="-128"/>
                        </a:rPr>
                        <a:t>氏名</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1050" b="1" i="0" u="none" strike="noStrike">
                          <a:solidFill>
                            <a:srgbClr val="FFFFFF"/>
                          </a:solidFill>
                          <a:effectLst/>
                          <a:latin typeface="游ゴシック" panose="020B0400000000000000" pitchFamily="50" charset="-128"/>
                          <a:ea typeface="游ゴシック" panose="020B0400000000000000" pitchFamily="50" charset="-128"/>
                        </a:rPr>
                        <a:t>役職</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1050" b="1" i="0" u="none" strike="noStrike" dirty="0">
                          <a:solidFill>
                            <a:srgbClr val="FFFFFF"/>
                          </a:solidFill>
                          <a:effectLst/>
                          <a:latin typeface="游ゴシック" panose="020B0400000000000000" pitchFamily="50" charset="-128"/>
                          <a:ea typeface="游ゴシック" panose="020B0400000000000000" pitchFamily="50" charset="-128"/>
                        </a:rPr>
                        <a:t>役員報酬</a:t>
                      </a:r>
                      <a:br>
                        <a:rPr lang="ja-JP" sz="1050" b="1" i="0" u="none" strike="noStrike" dirty="0">
                          <a:solidFill>
                            <a:srgbClr val="FFFFFF"/>
                          </a:solidFill>
                          <a:effectLst/>
                          <a:latin typeface="游ゴシック" panose="020B0400000000000000" pitchFamily="50" charset="-128"/>
                          <a:ea typeface="游ゴシック" panose="020B0400000000000000" pitchFamily="50" charset="-128"/>
                        </a:rPr>
                      </a:br>
                      <a:r>
                        <a:rPr lang="ja-JP" sz="1050" b="1" i="0" u="none" strike="noStrike" dirty="0">
                          <a:solidFill>
                            <a:srgbClr val="FFFFFF"/>
                          </a:solidFill>
                          <a:effectLst/>
                          <a:latin typeface="游ゴシック" panose="020B0400000000000000" pitchFamily="50" charset="-128"/>
                          <a:ea typeface="游ゴシック" panose="020B0400000000000000" pitchFamily="50" charset="-128"/>
                        </a:rPr>
                        <a:t>（2026年1月期）</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1050" b="1" i="0" u="none" strike="noStrike">
                          <a:solidFill>
                            <a:srgbClr val="FFFFFF"/>
                          </a:solidFill>
                          <a:effectLst/>
                          <a:latin typeface="游ゴシック" panose="020B0400000000000000" pitchFamily="50" charset="-128"/>
                          <a:ea typeface="游ゴシック" panose="020B0400000000000000" pitchFamily="50" charset="-128"/>
                        </a:rPr>
                        <a:t>保有株式数</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1050" b="1" i="0" u="none" strike="noStrike">
                          <a:solidFill>
                            <a:srgbClr val="FFFFFF"/>
                          </a:solidFill>
                          <a:effectLst/>
                          <a:latin typeface="游ゴシック" panose="020B0400000000000000" pitchFamily="50" charset="-128"/>
                          <a:ea typeface="游ゴシック" panose="020B0400000000000000" pitchFamily="50" charset="-128"/>
                        </a:rPr>
                        <a:t>保有割合</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1050" b="1" i="0" u="none" strike="noStrike">
                          <a:solidFill>
                            <a:srgbClr val="FFFFFF"/>
                          </a:solidFill>
                          <a:effectLst/>
                          <a:latin typeface="游ゴシック" panose="020B0400000000000000" pitchFamily="50" charset="-128"/>
                          <a:ea typeface="游ゴシック" panose="020B0400000000000000" pitchFamily="50" charset="-128"/>
                        </a:rPr>
                        <a:t>備考</a:t>
                      </a:r>
                    </a:p>
                  </a:txBody>
                  <a:tcPr marL="0" marR="0" marT="0" marB="0" anchor="ctr">
                    <a:lnL w="6350" cap="flat" cmpd="sng" algn="ctr">
                      <a:solidFill>
                        <a:srgbClr val="FFFFFF"/>
                      </a:solidFill>
                      <a:prstDash val="solid"/>
                      <a:round/>
                      <a:headEnd type="none" w="med" len="med"/>
                      <a:tailEnd type="none" w="med" len="med"/>
                    </a:lnL>
                    <a:lnR>
                      <a:noFill/>
                    </a:lnR>
                    <a:lnT>
                      <a:noFill/>
                    </a:lnT>
                    <a:lnB w="6350" cap="flat" cmpd="sng" algn="ctr">
                      <a:solidFill>
                        <a:srgbClr val="FFFFFF"/>
                      </a:solidFill>
                      <a:prstDash val="solid"/>
                      <a:round/>
                      <a:headEnd type="none" w="med" len="med"/>
                      <a:tailEnd type="none" w="med" len="med"/>
                    </a:lnB>
                    <a:solidFill>
                      <a:srgbClr val="0B3041"/>
                    </a:solidFill>
                  </a:tcPr>
                </a:tc>
                <a:extLst>
                  <a:ext uri="{0D108BD9-81ED-4DB2-BD59-A6C34878D82A}">
                    <a16:rowId xmlns:a16="http://schemas.microsoft.com/office/drawing/2014/main" val="3080100781"/>
                  </a:ext>
                </a:extLst>
              </a:tr>
              <a:tr h="267007">
                <a:tc>
                  <a:txBody>
                    <a:bodyPr/>
                    <a:lstStyle/>
                    <a:p>
                      <a:pPr algn="ctr"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1</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野口　紘</a:t>
                      </a:r>
                    </a:p>
                  </a:txBody>
                  <a:tcPr marL="103358"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代表取締役</a:t>
                      </a:r>
                    </a:p>
                  </a:txBody>
                  <a:tcPr marL="103358"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21,104</a:t>
                      </a:r>
                    </a:p>
                  </a:txBody>
                  <a:tcPr marL="0" marR="103358"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1,000</a:t>
                      </a:r>
                    </a:p>
                  </a:txBody>
                  <a:tcPr marL="0" marR="103358"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100.0%</a:t>
                      </a:r>
                    </a:p>
                  </a:txBody>
                  <a:tcPr marL="0" marR="103358"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継続勤務予定</a:t>
                      </a:r>
                    </a:p>
                  </a:txBody>
                  <a:tcPr marL="103358"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2434731493"/>
                  </a:ext>
                </a:extLst>
              </a:tr>
              <a:tr h="267007">
                <a:tc>
                  <a:txBody>
                    <a:bodyPr/>
                    <a:lstStyle/>
                    <a:p>
                      <a:pPr algn="ctr" fontAlgn="ctr">
                        <a:buNone/>
                      </a:pPr>
                      <a:r>
                        <a:rPr lang="ja-JP" sz="1050" b="1"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gridSpan="2">
                  <a:txBody>
                    <a:bodyPr/>
                    <a:lstStyle/>
                    <a:p>
                      <a:pPr algn="ctr" fontAlgn="ctr">
                        <a:buNone/>
                      </a:pPr>
                      <a:r>
                        <a:rPr lang="ja-JP" sz="1050" b="1" i="0" u="none" strike="noStrike">
                          <a:solidFill>
                            <a:srgbClr val="000000"/>
                          </a:solidFill>
                          <a:effectLst/>
                          <a:latin typeface="游ゴシック" panose="020B0400000000000000" pitchFamily="50" charset="-128"/>
                          <a:ea typeface="游ゴシック" panose="020B0400000000000000" pitchFamily="50" charset="-128"/>
                        </a:rPr>
                        <a:t>合計</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hMerge="1">
                  <a:txBody>
                    <a:bodyPr/>
                    <a:lstStyle/>
                    <a:p>
                      <a:endParaRPr kumimoji="1" lang="ja-JP" altLang="en-US"/>
                    </a:p>
                  </a:txBody>
                  <a:tcPr/>
                </a:tc>
                <a:tc>
                  <a:txBody>
                    <a:bodyPr/>
                    <a:lstStyle/>
                    <a:p>
                      <a:pPr algn="r" fontAlgn="ctr">
                        <a:buNone/>
                      </a:pPr>
                      <a:r>
                        <a:rPr lang="ja-JP" sz="1050" b="1" i="0" u="none" strike="noStrike">
                          <a:solidFill>
                            <a:srgbClr val="000000"/>
                          </a:solidFill>
                          <a:effectLst/>
                          <a:latin typeface="游ゴシック" panose="020B0400000000000000" pitchFamily="50" charset="-128"/>
                          <a:ea typeface="游ゴシック" panose="020B0400000000000000" pitchFamily="50" charset="-128"/>
                        </a:rPr>
                        <a:t>21,104</a:t>
                      </a:r>
                    </a:p>
                  </a:txBody>
                  <a:tcPr marL="0" marR="103358"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50" b="1" i="0" u="none" strike="noStrike" dirty="0">
                          <a:solidFill>
                            <a:srgbClr val="000000"/>
                          </a:solidFill>
                          <a:effectLst/>
                          <a:latin typeface="游ゴシック" panose="020B0400000000000000" pitchFamily="50" charset="-128"/>
                          <a:ea typeface="游ゴシック" panose="020B0400000000000000" pitchFamily="50" charset="-128"/>
                        </a:rPr>
                        <a:t>1,000</a:t>
                      </a:r>
                    </a:p>
                  </a:txBody>
                  <a:tcPr marL="0" marR="103358"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50" b="1" i="0" u="none" strike="noStrike">
                          <a:solidFill>
                            <a:srgbClr val="000000"/>
                          </a:solidFill>
                          <a:effectLst/>
                          <a:latin typeface="游ゴシック" panose="020B0400000000000000" pitchFamily="50" charset="-128"/>
                          <a:ea typeface="游ゴシック" panose="020B0400000000000000" pitchFamily="50" charset="-128"/>
                        </a:rPr>
                        <a:t>100.0%</a:t>
                      </a:r>
                    </a:p>
                  </a:txBody>
                  <a:tcPr marL="0" marR="103358"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l" fontAlgn="ctr">
                        <a:buNone/>
                      </a:pPr>
                      <a:r>
                        <a:rPr lang="ja-JP" sz="1050" b="1"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103358" marR="0" marT="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801818725"/>
                  </a:ext>
                </a:extLst>
              </a:tr>
            </a:tbl>
          </a:graphicData>
        </a:graphic>
      </p:graphicFrame>
      <p:graphicFrame>
        <p:nvGraphicFramePr>
          <p:cNvPr id="11" name="表 10">
            <a:extLst>
              <a:ext uri="{FF2B5EF4-FFF2-40B4-BE49-F238E27FC236}">
                <a16:creationId xmlns:a16="http://schemas.microsoft.com/office/drawing/2014/main" id="{C774F621-66A7-D4D8-70A0-75374870E714}"/>
              </a:ext>
            </a:extLst>
          </p:cNvPr>
          <p:cNvGraphicFramePr>
            <a:graphicFrameLocks noGrp="1"/>
          </p:cNvGraphicFramePr>
          <p:nvPr>
            <p:extLst>
              <p:ext uri="{D42A27DB-BD31-4B8C-83A1-F6EECF244321}">
                <p14:modId xmlns:p14="http://schemas.microsoft.com/office/powerpoint/2010/main" val="1622553404"/>
              </p:ext>
            </p:extLst>
          </p:nvPr>
        </p:nvGraphicFramePr>
        <p:xfrm>
          <a:off x="309600" y="4336376"/>
          <a:ext cx="9221786" cy="1636800"/>
        </p:xfrm>
        <a:graphic>
          <a:graphicData uri="http://schemas.openxmlformats.org/drawingml/2006/table">
            <a:tbl>
              <a:tblPr/>
              <a:tblGrid>
                <a:gridCol w="271821">
                  <a:extLst>
                    <a:ext uri="{9D8B030D-6E8A-4147-A177-3AD203B41FA5}">
                      <a16:colId xmlns:a16="http://schemas.microsoft.com/office/drawing/2014/main" val="3015707936"/>
                    </a:ext>
                  </a:extLst>
                </a:gridCol>
                <a:gridCol w="1318836">
                  <a:extLst>
                    <a:ext uri="{9D8B030D-6E8A-4147-A177-3AD203B41FA5}">
                      <a16:colId xmlns:a16="http://schemas.microsoft.com/office/drawing/2014/main" val="962166649"/>
                    </a:ext>
                  </a:extLst>
                </a:gridCol>
                <a:gridCol w="996678">
                  <a:extLst>
                    <a:ext uri="{9D8B030D-6E8A-4147-A177-3AD203B41FA5}">
                      <a16:colId xmlns:a16="http://schemas.microsoft.com/office/drawing/2014/main" val="880098159"/>
                    </a:ext>
                  </a:extLst>
                </a:gridCol>
                <a:gridCol w="996678">
                  <a:extLst>
                    <a:ext uri="{9D8B030D-6E8A-4147-A177-3AD203B41FA5}">
                      <a16:colId xmlns:a16="http://schemas.microsoft.com/office/drawing/2014/main" val="2598205532"/>
                    </a:ext>
                  </a:extLst>
                </a:gridCol>
                <a:gridCol w="1187959">
                  <a:extLst>
                    <a:ext uri="{9D8B030D-6E8A-4147-A177-3AD203B41FA5}">
                      <a16:colId xmlns:a16="http://schemas.microsoft.com/office/drawing/2014/main" val="11787128"/>
                    </a:ext>
                  </a:extLst>
                </a:gridCol>
                <a:gridCol w="2224907">
                  <a:extLst>
                    <a:ext uri="{9D8B030D-6E8A-4147-A177-3AD203B41FA5}">
                      <a16:colId xmlns:a16="http://schemas.microsoft.com/office/drawing/2014/main" val="3714463055"/>
                    </a:ext>
                  </a:extLst>
                </a:gridCol>
                <a:gridCol w="2224907">
                  <a:extLst>
                    <a:ext uri="{9D8B030D-6E8A-4147-A177-3AD203B41FA5}">
                      <a16:colId xmlns:a16="http://schemas.microsoft.com/office/drawing/2014/main" val="951557896"/>
                    </a:ext>
                  </a:extLst>
                </a:gridCol>
              </a:tblGrid>
              <a:tr h="266400">
                <a:tc>
                  <a:txBody>
                    <a:bodyPr/>
                    <a:lstStyle/>
                    <a:p>
                      <a:pPr algn="l"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l" fontAlgn="ctr">
                        <a:buNone/>
                      </a:pP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l"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l"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ct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(単位：千円)</a:t>
                      </a:r>
                    </a:p>
                  </a:txBody>
                  <a:tcPr marL="0" marR="0" marT="0" marB="0" anchor="ctr">
                    <a:lnL>
                      <a:noFill/>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l"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extLst>
                  <a:ext uri="{0D108BD9-81ED-4DB2-BD59-A6C34878D82A}">
                    <a16:rowId xmlns:a16="http://schemas.microsoft.com/office/drawing/2014/main" val="338692558"/>
                  </a:ext>
                </a:extLst>
              </a:tr>
              <a:tr h="266400">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1000" b="1" i="0" u="none" strike="noStrike" dirty="0">
                          <a:solidFill>
                            <a:srgbClr val="FFFFFF"/>
                          </a:solidFill>
                          <a:effectLst/>
                          <a:latin typeface="游ゴシック" panose="020B0400000000000000" pitchFamily="50" charset="-128"/>
                          <a:ea typeface="游ゴシック" panose="020B0400000000000000" pitchFamily="50" charset="-128"/>
                        </a:rPr>
                        <a:t>氏名</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1000" b="1" i="0" u="none" strike="noStrike" dirty="0">
                          <a:solidFill>
                            <a:srgbClr val="FFFFFF"/>
                          </a:solidFill>
                          <a:effectLst/>
                          <a:latin typeface="游ゴシック" panose="020B0400000000000000" pitchFamily="50" charset="-128"/>
                          <a:ea typeface="游ゴシック" panose="020B0400000000000000" pitchFamily="50" charset="-128"/>
                        </a:rPr>
                        <a:t>役職</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代表者との関係</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1000" b="1" i="0" u="none" strike="noStrike" dirty="0">
                          <a:solidFill>
                            <a:srgbClr val="FFFFFF"/>
                          </a:solidFill>
                          <a:effectLst/>
                          <a:latin typeface="游ゴシック" panose="020B0400000000000000" pitchFamily="50" charset="-128"/>
                          <a:ea typeface="游ゴシック" panose="020B0400000000000000" pitchFamily="50" charset="-128"/>
                        </a:rPr>
                        <a:t>役員報酬</a:t>
                      </a:r>
                      <a:br>
                        <a:rPr lang="ja-JP" sz="1000" b="1" i="0" u="none" strike="noStrike" dirty="0">
                          <a:solidFill>
                            <a:srgbClr val="FFFFFF"/>
                          </a:solidFill>
                          <a:effectLst/>
                          <a:latin typeface="游ゴシック" panose="020B0400000000000000" pitchFamily="50" charset="-128"/>
                          <a:ea typeface="游ゴシック" panose="020B0400000000000000" pitchFamily="50" charset="-128"/>
                        </a:rPr>
                      </a:br>
                      <a:r>
                        <a:rPr lang="ja-JP" sz="1000" b="1" i="0" u="none" strike="noStrike" dirty="0">
                          <a:solidFill>
                            <a:srgbClr val="FFFFFF"/>
                          </a:solidFill>
                          <a:effectLst/>
                          <a:latin typeface="游ゴシック" panose="020B0400000000000000" pitchFamily="50" charset="-128"/>
                          <a:ea typeface="游ゴシック" panose="020B0400000000000000" pitchFamily="50" charset="-128"/>
                        </a:rPr>
                        <a:t>（2026年1月期）</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業務範囲</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備考</a:t>
                      </a:r>
                    </a:p>
                  </a:txBody>
                  <a:tcPr marL="0" marR="0" marT="0" marB="0" anchor="ctr">
                    <a:lnL w="6350" cap="flat" cmpd="sng" algn="ctr">
                      <a:solidFill>
                        <a:srgbClr val="FFFFFF"/>
                      </a:solidFill>
                      <a:prstDash val="solid"/>
                      <a:round/>
                      <a:headEnd type="none" w="med" len="med"/>
                      <a:tailEnd type="none" w="med" len="med"/>
                    </a:lnL>
                    <a:lnR>
                      <a:noFill/>
                    </a:lnR>
                    <a:lnT>
                      <a:noFill/>
                    </a:lnT>
                    <a:lnB w="6350" cap="flat" cmpd="sng" algn="ctr">
                      <a:solidFill>
                        <a:srgbClr val="FFFFFF"/>
                      </a:solidFill>
                      <a:prstDash val="solid"/>
                      <a:round/>
                      <a:headEnd type="none" w="med" len="med"/>
                      <a:tailEnd type="none" w="med" len="med"/>
                    </a:lnB>
                    <a:solidFill>
                      <a:srgbClr val="0B3041"/>
                    </a:solidFill>
                  </a:tcPr>
                </a:tc>
                <a:extLst>
                  <a:ext uri="{0D108BD9-81ED-4DB2-BD59-A6C34878D82A}">
                    <a16:rowId xmlns:a16="http://schemas.microsoft.com/office/drawing/2014/main" val="622370145"/>
                  </a:ext>
                </a:extLst>
              </a:tr>
              <a:tr h="266400">
                <a:tc>
                  <a:txBody>
                    <a:bodyPr/>
                    <a:lstStyle/>
                    <a:p>
                      <a:pPr algn="ct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1</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野口 紘</a:t>
                      </a:r>
                    </a:p>
                  </a:txBody>
                  <a:tcPr marL="90607"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代表取締役</a:t>
                      </a:r>
                    </a:p>
                  </a:txBody>
                  <a:tcPr marL="90607"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本人</a:t>
                      </a:r>
                    </a:p>
                  </a:txBody>
                  <a:tcPr marL="90607"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21,104</a:t>
                      </a:r>
                    </a:p>
                  </a:txBody>
                  <a:tcPr marL="0" marR="9060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経営管理、OEM事業の管掌</a:t>
                      </a:r>
                    </a:p>
                  </a:txBody>
                  <a:tcPr marL="90607"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90607"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2485013159"/>
                  </a:ext>
                </a:extLst>
              </a:tr>
              <a:tr h="266400">
                <a:tc>
                  <a:txBody>
                    <a:bodyPr/>
                    <a:lstStyle/>
                    <a:p>
                      <a:pPr algn="ct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2</a:t>
                      </a:r>
                    </a:p>
                  </a:txBody>
                  <a:tcPr marL="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E3E7E9"/>
                    </a:solidFill>
                  </a:tcPr>
                </a:tc>
                <a:tc>
                  <a:txBody>
                    <a:bodyPr/>
                    <a:lstStyle/>
                    <a:p>
                      <a:pPr algn="l" fontAlgn="ctr">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野口 文枝</a:t>
                      </a:r>
                    </a:p>
                  </a:txBody>
                  <a:tcPr marL="90607"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取締役</a:t>
                      </a:r>
                    </a:p>
                  </a:txBody>
                  <a:tcPr marL="90607"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配偶者</a:t>
                      </a:r>
                    </a:p>
                  </a:txBody>
                  <a:tcPr marL="90607"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1,788</a:t>
                      </a:r>
                    </a:p>
                  </a:txBody>
                  <a:tcPr marL="0" marR="9060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1000" b="0" i="0" u="none" strike="noStrike" dirty="0">
                          <a:solidFill>
                            <a:srgbClr val="000000"/>
                          </a:solidFill>
                          <a:effectLst/>
                          <a:highlight>
                            <a:srgbClr val="FFFF00"/>
                          </a:highlight>
                          <a:latin typeface="游ゴシック" panose="020B0400000000000000" pitchFamily="50" charset="-128"/>
                          <a:ea typeface="游ゴシック" panose="020B0400000000000000" pitchFamily="50" charset="-128"/>
                        </a:rPr>
                        <a:t>業務関与無し</a:t>
                      </a:r>
                    </a:p>
                  </a:txBody>
                  <a:tcPr marL="90607"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altLang="en-US" sz="1000" b="0" i="0" u="none" strike="noStrike" dirty="0">
                          <a:solidFill>
                            <a:srgbClr val="000000"/>
                          </a:solidFill>
                          <a:effectLst/>
                          <a:highlight>
                            <a:srgbClr val="FFFF00"/>
                          </a:highlight>
                          <a:latin typeface="游ゴシック" panose="020B0400000000000000" pitchFamily="50" charset="-128"/>
                          <a:ea typeface="游ゴシック" panose="020B0400000000000000" pitchFamily="50" charset="-128"/>
                        </a:rPr>
                        <a:t>本件譲渡後、退任予定</a:t>
                      </a:r>
                      <a:endParaRPr lang="ja-JP" sz="1000" b="0" i="0" u="none" strike="noStrike" dirty="0">
                        <a:solidFill>
                          <a:srgbClr val="000000"/>
                        </a:solidFill>
                        <a:effectLst/>
                        <a:highlight>
                          <a:srgbClr val="FFFF00"/>
                        </a:highlight>
                        <a:latin typeface="游ゴシック" panose="020B0400000000000000" pitchFamily="50" charset="-128"/>
                        <a:ea typeface="游ゴシック" panose="020B0400000000000000" pitchFamily="50" charset="-128"/>
                      </a:endParaRPr>
                    </a:p>
                  </a:txBody>
                  <a:tcPr marL="90607" marR="0" marT="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4105796791"/>
                  </a:ext>
                </a:extLst>
              </a:tr>
              <a:tr h="266400">
                <a:tc>
                  <a:txBody>
                    <a:bodyPr/>
                    <a:lstStyle/>
                    <a:p>
                      <a:pPr algn="ct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3</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野口 聰江</a:t>
                      </a:r>
                    </a:p>
                  </a:txBody>
                  <a:tcPr marL="90607"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取締役</a:t>
                      </a:r>
                    </a:p>
                  </a:txBody>
                  <a:tcPr marL="90607"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母</a:t>
                      </a:r>
                    </a:p>
                  </a:txBody>
                  <a:tcPr marL="90607"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1,800</a:t>
                      </a:r>
                    </a:p>
                  </a:txBody>
                  <a:tcPr marL="0" marR="9060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1000" b="0" i="0" u="none" strike="noStrike" dirty="0">
                          <a:solidFill>
                            <a:srgbClr val="000000"/>
                          </a:solidFill>
                          <a:effectLst/>
                          <a:highlight>
                            <a:srgbClr val="FFFF00"/>
                          </a:highlight>
                          <a:latin typeface="游ゴシック" panose="020B0400000000000000" pitchFamily="50" charset="-128"/>
                          <a:ea typeface="游ゴシック" panose="020B0400000000000000" pitchFamily="50" charset="-128"/>
                        </a:rPr>
                        <a:t>業務関与無し</a:t>
                      </a:r>
                    </a:p>
                  </a:txBody>
                  <a:tcPr marL="90607"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altLang="en-US" sz="1000" b="0" i="0" u="none" strike="noStrike" dirty="0">
                          <a:solidFill>
                            <a:srgbClr val="000000"/>
                          </a:solidFill>
                          <a:effectLst/>
                          <a:highlight>
                            <a:srgbClr val="FFFF00"/>
                          </a:highlight>
                          <a:latin typeface="游ゴシック" panose="020B0400000000000000" pitchFamily="50" charset="-128"/>
                          <a:ea typeface="游ゴシック" panose="020B0400000000000000" pitchFamily="50" charset="-128"/>
                        </a:rPr>
                        <a:t>本件譲渡後、退任予定</a:t>
                      </a:r>
                      <a:endParaRPr lang="ja-JP" altLang="ja-JP" sz="1000" b="0" i="0" u="none" strike="noStrike" dirty="0">
                        <a:solidFill>
                          <a:srgbClr val="000000"/>
                        </a:solidFill>
                        <a:effectLst/>
                        <a:highlight>
                          <a:srgbClr val="FFFF00"/>
                        </a:highlight>
                        <a:latin typeface="游ゴシック" panose="020B0400000000000000" pitchFamily="50" charset="-128"/>
                        <a:ea typeface="游ゴシック" panose="020B0400000000000000" pitchFamily="50" charset="-128"/>
                      </a:endParaRPr>
                    </a:p>
                  </a:txBody>
                  <a:tcPr marL="90607" marR="0" marT="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3234792508"/>
                  </a:ext>
                </a:extLst>
              </a:tr>
              <a:tr h="266400">
                <a:tc>
                  <a:txBody>
                    <a:bodyPr/>
                    <a:lstStyle/>
                    <a:p>
                      <a:pPr algn="ctr"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gridSpan="3">
                  <a:txBody>
                    <a:bodyPr/>
                    <a:lstStyle/>
                    <a:p>
                      <a:pPr algn="ctr" fontAlgn="ctr">
                        <a:buNone/>
                      </a:pPr>
                      <a:r>
                        <a:rPr lang="ja-JP" sz="1000" b="1" i="0" u="none" strike="noStrike" dirty="0">
                          <a:solidFill>
                            <a:srgbClr val="000000"/>
                          </a:solidFill>
                          <a:effectLst/>
                          <a:latin typeface="游ゴシック" panose="020B0400000000000000" pitchFamily="50" charset="-128"/>
                          <a:ea typeface="游ゴシック" panose="020B0400000000000000" pitchFamily="50" charset="-128"/>
                        </a:rPr>
                        <a:t>合計</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hMerge="1">
                  <a:txBody>
                    <a:bodyPr/>
                    <a:lstStyle/>
                    <a:p>
                      <a:endParaRPr kumimoji="1" lang="ja-JP" altLang="en-US"/>
                    </a:p>
                  </a:txBody>
                  <a:tcPr/>
                </a:tc>
                <a:tc hMerge="1">
                  <a:txBody>
                    <a:bodyPr/>
                    <a:lstStyle/>
                    <a:p>
                      <a:endParaRPr kumimoji="1" lang="ja-JP" altLang="en-US"/>
                    </a:p>
                  </a:txBody>
                  <a:tcPr/>
                </a:tc>
                <a:tc>
                  <a:txBody>
                    <a:bodyPr/>
                    <a:lstStyle/>
                    <a:p>
                      <a:pPr algn="r"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24,692</a:t>
                      </a:r>
                    </a:p>
                  </a:txBody>
                  <a:tcPr marL="0" marR="9060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l"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　</a:t>
                      </a:r>
                    </a:p>
                  </a:txBody>
                  <a:tcPr marL="90607"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l" fontAlgn="ctr">
                        <a:buNone/>
                      </a:pPr>
                      <a:r>
                        <a:rPr lang="ja-JP" sz="1000" b="1"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90607" marR="0" marT="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847948141"/>
                  </a:ext>
                </a:extLst>
              </a:tr>
            </a:tbl>
          </a:graphicData>
        </a:graphic>
      </p:graphicFrame>
    </p:spTree>
    <p:extLst>
      <p:ext uri="{BB962C8B-B14F-4D97-AF65-F5344CB8AC3E}">
        <p14:creationId xmlns:p14="http://schemas.microsoft.com/office/powerpoint/2010/main" val="11113659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5D0D1-0787-475E-2A3A-4107DB8EC8C6}"/>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87057045-99B0-78F1-349A-A7BFEFFF27C9}"/>
              </a:ext>
            </a:extLst>
          </p:cNvPr>
          <p:cNvSpPr>
            <a:spLocks noGrp="1"/>
          </p:cNvSpPr>
          <p:nvPr>
            <p:ph type="ctrTitle"/>
          </p:nvPr>
        </p:nvSpPr>
        <p:spPr>
          <a:xfrm>
            <a:off x="311150" y="180296"/>
            <a:ext cx="7799917" cy="339267"/>
          </a:xfrm>
        </p:spPr>
        <p:txBody>
          <a:bodyPr>
            <a:normAutofit/>
          </a:bodyPr>
          <a:lstStyle/>
          <a:p>
            <a:r>
              <a:rPr lang="ja-JP" altLang="en-US" dirty="0"/>
              <a:t>従業員</a:t>
            </a:r>
          </a:p>
        </p:txBody>
      </p:sp>
      <p:sp>
        <p:nvSpPr>
          <p:cNvPr id="2" name="タイトル 1">
            <a:extLst>
              <a:ext uri="{FF2B5EF4-FFF2-40B4-BE49-F238E27FC236}">
                <a16:creationId xmlns:a16="http://schemas.microsoft.com/office/drawing/2014/main" id="{221C2F7A-197F-87B3-7293-77B559F8B532}"/>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組織、拠点、設備等</a:t>
            </a:r>
          </a:p>
        </p:txBody>
      </p:sp>
      <p:sp>
        <p:nvSpPr>
          <p:cNvPr id="6" name="字幕 13">
            <a:extLst>
              <a:ext uri="{FF2B5EF4-FFF2-40B4-BE49-F238E27FC236}">
                <a16:creationId xmlns:a16="http://schemas.microsoft.com/office/drawing/2014/main" id="{9F39F7D2-779F-1749-1B8E-9FCB51D635CB}"/>
              </a:ext>
            </a:extLst>
          </p:cNvPr>
          <p:cNvSpPr>
            <a:spLocks noGrp="1"/>
          </p:cNvSpPr>
          <p:nvPr>
            <p:ph type="subTitle" idx="1"/>
          </p:nvPr>
        </p:nvSpPr>
        <p:spPr>
          <a:xfrm>
            <a:off x="460675" y="830046"/>
            <a:ext cx="9781875" cy="241861"/>
          </a:xfrm>
        </p:spPr>
        <p:txBody>
          <a:bodyPr>
            <a:noAutofit/>
          </a:bodyPr>
          <a:lstStyle/>
          <a:p>
            <a:r>
              <a:rPr dirty="0">
                <a:latin typeface="+mj-ea"/>
                <a:ea typeface="+mj-ea"/>
              </a:rPr>
              <a:t>制作部5名・営業部2名の少数精鋭体制。制作部長（勤続11年）を中心に長期勤続者が中核を担い、近年は若手の新規採用も進めて</a:t>
            </a:r>
            <a:r>
              <a:rPr lang="ja-JP" altLang="en-US" dirty="0">
                <a:latin typeface="+mj-ea"/>
                <a:ea typeface="+mj-ea"/>
              </a:rPr>
              <a:t>いる。</a:t>
            </a:r>
            <a:endParaRPr lang="en-US" altLang="ja-JP" dirty="0"/>
          </a:p>
        </p:txBody>
      </p:sp>
      <p:graphicFrame>
        <p:nvGraphicFramePr>
          <p:cNvPr id="4" name="表 3">
            <a:extLst>
              <a:ext uri="{FF2B5EF4-FFF2-40B4-BE49-F238E27FC236}">
                <a16:creationId xmlns:a16="http://schemas.microsoft.com/office/drawing/2014/main" id="{A3446C2D-F1A2-3698-3DCF-6A9316325960}"/>
              </a:ext>
            </a:extLst>
          </p:cNvPr>
          <p:cNvGraphicFramePr>
            <a:graphicFrameLocks noGrp="1"/>
          </p:cNvGraphicFramePr>
          <p:nvPr>
            <p:extLst>
              <p:ext uri="{D42A27DB-BD31-4B8C-83A1-F6EECF244321}">
                <p14:modId xmlns:p14="http://schemas.microsoft.com/office/powerpoint/2010/main" val="639752634"/>
              </p:ext>
            </p:extLst>
          </p:nvPr>
        </p:nvGraphicFramePr>
        <p:xfrm>
          <a:off x="341313" y="1636744"/>
          <a:ext cx="10009188" cy="2582828"/>
        </p:xfrm>
        <a:graphic>
          <a:graphicData uri="http://schemas.openxmlformats.org/drawingml/2006/table">
            <a:tbl>
              <a:tblPr/>
              <a:tblGrid>
                <a:gridCol w="390391">
                  <a:extLst>
                    <a:ext uri="{9D8B030D-6E8A-4147-A177-3AD203B41FA5}">
                      <a16:colId xmlns:a16="http://schemas.microsoft.com/office/drawing/2014/main" val="1206717126"/>
                    </a:ext>
                  </a:extLst>
                </a:gridCol>
                <a:gridCol w="878379">
                  <a:extLst>
                    <a:ext uri="{9D8B030D-6E8A-4147-A177-3AD203B41FA5}">
                      <a16:colId xmlns:a16="http://schemas.microsoft.com/office/drawing/2014/main" val="4262196314"/>
                    </a:ext>
                  </a:extLst>
                </a:gridCol>
                <a:gridCol w="433768">
                  <a:extLst>
                    <a:ext uri="{9D8B030D-6E8A-4147-A177-3AD203B41FA5}">
                      <a16:colId xmlns:a16="http://schemas.microsoft.com/office/drawing/2014/main" val="1260299505"/>
                    </a:ext>
                  </a:extLst>
                </a:gridCol>
                <a:gridCol w="943445">
                  <a:extLst>
                    <a:ext uri="{9D8B030D-6E8A-4147-A177-3AD203B41FA5}">
                      <a16:colId xmlns:a16="http://schemas.microsoft.com/office/drawing/2014/main" val="2792782332"/>
                    </a:ext>
                  </a:extLst>
                </a:gridCol>
                <a:gridCol w="943445">
                  <a:extLst>
                    <a:ext uri="{9D8B030D-6E8A-4147-A177-3AD203B41FA5}">
                      <a16:colId xmlns:a16="http://schemas.microsoft.com/office/drawing/2014/main" val="995664781"/>
                    </a:ext>
                  </a:extLst>
                </a:gridCol>
                <a:gridCol w="878379">
                  <a:extLst>
                    <a:ext uri="{9D8B030D-6E8A-4147-A177-3AD203B41FA5}">
                      <a16:colId xmlns:a16="http://schemas.microsoft.com/office/drawing/2014/main" val="2662627376"/>
                    </a:ext>
                  </a:extLst>
                </a:gridCol>
                <a:gridCol w="878379">
                  <a:extLst>
                    <a:ext uri="{9D8B030D-6E8A-4147-A177-3AD203B41FA5}">
                      <a16:colId xmlns:a16="http://schemas.microsoft.com/office/drawing/2014/main" val="3473996590"/>
                    </a:ext>
                  </a:extLst>
                </a:gridCol>
                <a:gridCol w="1051887">
                  <a:extLst>
                    <a:ext uri="{9D8B030D-6E8A-4147-A177-3AD203B41FA5}">
                      <a16:colId xmlns:a16="http://schemas.microsoft.com/office/drawing/2014/main" val="2850092057"/>
                    </a:ext>
                  </a:extLst>
                </a:gridCol>
                <a:gridCol w="3611115">
                  <a:extLst>
                    <a:ext uri="{9D8B030D-6E8A-4147-A177-3AD203B41FA5}">
                      <a16:colId xmlns:a16="http://schemas.microsoft.com/office/drawing/2014/main" val="1209954162"/>
                    </a:ext>
                  </a:extLst>
                </a:gridCol>
              </a:tblGrid>
              <a:tr h="216741">
                <a:tc>
                  <a:txBody>
                    <a:bodyPr/>
                    <a:lstStyle/>
                    <a:p>
                      <a:pPr algn="ctr" fontAlgn="ctr">
                        <a:buNone/>
                      </a:pPr>
                      <a:endParaRPr lang="ja-JP" sz="105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l" fontAlgn="ctr">
                        <a:buNone/>
                      </a:pPr>
                      <a:endParaRPr lang="ja-JP" sz="1050" b="1"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l" fontAlgn="ctr">
                        <a:buNone/>
                      </a:pPr>
                      <a:endParaRPr lang="ja-JP" sz="1050" b="1"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r" fontAlgn="ctr">
                        <a:buNone/>
                      </a:pPr>
                      <a:endParaRPr lang="ja-JP" sz="1050" b="1"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r" fontAlgn="ctr">
                        <a:buNone/>
                      </a:pPr>
                      <a:endParaRPr lang="ja-JP" sz="105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l" fontAlgn="ctr">
                        <a:buNone/>
                      </a:pPr>
                      <a:endParaRPr lang="ja-JP" sz="105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l" fontAlgn="ctr">
                        <a:buNone/>
                      </a:pPr>
                      <a:endParaRPr lang="ja-JP" sz="105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r" fontAlgn="b">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（単位：円）</a:t>
                      </a:r>
                    </a:p>
                  </a:txBody>
                  <a:tcPr marL="0" marR="0" marT="0" marB="0" anchor="b">
                    <a:lnL>
                      <a:noFill/>
                    </a:lnL>
                    <a:lnR>
                      <a:noFill/>
                    </a:lnR>
                    <a:lnT>
                      <a:noFill/>
                    </a:lnT>
                    <a:lnB>
                      <a:noFill/>
                    </a:lnB>
                    <a:noFill/>
                  </a:tcPr>
                </a:tc>
                <a:tc>
                  <a:txBody>
                    <a:bodyPr/>
                    <a:lstStyle/>
                    <a:p>
                      <a:pPr algn="l" fontAlgn="b">
                        <a:buNone/>
                      </a:pPr>
                      <a:endParaRPr lang="ja-JP" sz="105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b">
                    <a:lnL>
                      <a:noFill/>
                    </a:lnL>
                    <a:lnR>
                      <a:noFill/>
                    </a:lnR>
                    <a:lnT>
                      <a:noFill/>
                    </a:lnT>
                    <a:lnB>
                      <a:noFill/>
                    </a:lnB>
                    <a:noFill/>
                  </a:tcPr>
                </a:tc>
                <a:extLst>
                  <a:ext uri="{0D108BD9-81ED-4DB2-BD59-A6C34878D82A}">
                    <a16:rowId xmlns:a16="http://schemas.microsoft.com/office/drawing/2014/main" val="1594632206"/>
                  </a:ext>
                </a:extLst>
              </a:tr>
              <a:tr h="469605">
                <a:tc>
                  <a:txBody>
                    <a:bodyPr/>
                    <a:lstStyle/>
                    <a:p>
                      <a:pPr algn="ctr" fontAlgn="ctr">
                        <a:buNone/>
                      </a:pPr>
                      <a:r>
                        <a:rPr lang="ja-JP" sz="1050" b="1" i="0" u="none" strike="noStrike">
                          <a:solidFill>
                            <a:srgbClr val="FFFFFF"/>
                          </a:solidFill>
                          <a:effectLst/>
                          <a:latin typeface="游ゴシック" panose="020B0400000000000000" pitchFamily="50" charset="-128"/>
                          <a:ea typeface="游ゴシック" panose="020B0400000000000000" pitchFamily="50" charset="-128"/>
                        </a:rPr>
                        <a:t>№</a:t>
                      </a:r>
                    </a:p>
                  </a:txBody>
                  <a:tcPr marL="0" marR="0" marT="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050" b="1" i="0" u="none" strike="noStrike">
                          <a:solidFill>
                            <a:srgbClr val="FFFFFF"/>
                          </a:solidFill>
                          <a:effectLst/>
                          <a:latin typeface="游ゴシック" panose="020B0400000000000000" pitchFamily="50" charset="-128"/>
                          <a:ea typeface="游ゴシック" panose="020B0400000000000000" pitchFamily="50" charset="-128"/>
                        </a:rPr>
                        <a:t>雇用形態</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050" b="1" i="0" u="none" strike="noStrike">
                          <a:solidFill>
                            <a:srgbClr val="FFFFFF"/>
                          </a:solidFill>
                          <a:effectLst/>
                          <a:latin typeface="游ゴシック" panose="020B0400000000000000" pitchFamily="50" charset="-128"/>
                          <a:ea typeface="游ゴシック" panose="020B0400000000000000" pitchFamily="50" charset="-128"/>
                        </a:rPr>
                        <a:t>性別</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050" b="1" i="0" u="none" strike="noStrike">
                          <a:solidFill>
                            <a:srgbClr val="FFFFFF"/>
                          </a:solidFill>
                          <a:effectLst/>
                          <a:latin typeface="游ゴシック" panose="020B0400000000000000" pitchFamily="50" charset="-128"/>
                          <a:ea typeface="游ゴシック" panose="020B0400000000000000" pitchFamily="50" charset="-128"/>
                        </a:rPr>
                        <a:t>年齢</a:t>
                      </a:r>
                      <a:br>
                        <a:rPr lang="ja-JP" sz="1050" b="1" i="0" u="none" strike="noStrike">
                          <a:solidFill>
                            <a:srgbClr val="FFFFFF"/>
                          </a:solidFill>
                          <a:effectLst/>
                          <a:latin typeface="游ゴシック" panose="020B0400000000000000" pitchFamily="50" charset="-128"/>
                          <a:ea typeface="游ゴシック" panose="020B0400000000000000" pitchFamily="50" charset="-128"/>
                        </a:rPr>
                      </a:br>
                      <a:r>
                        <a:rPr lang="ja-JP" sz="1050" b="1" i="0" u="none" strike="noStrike">
                          <a:solidFill>
                            <a:srgbClr val="FFFFFF"/>
                          </a:solidFill>
                          <a:effectLst/>
                          <a:latin typeface="游ゴシック" panose="020B0400000000000000" pitchFamily="50" charset="-128"/>
                          <a:ea typeface="游ゴシック" panose="020B0400000000000000" pitchFamily="50" charset="-128"/>
                        </a:rPr>
                        <a:t>（歳）</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050" b="1" i="0" u="none" strike="noStrike">
                          <a:solidFill>
                            <a:srgbClr val="FFFFFF"/>
                          </a:solidFill>
                          <a:effectLst/>
                          <a:latin typeface="游ゴシック" panose="020B0400000000000000" pitchFamily="50" charset="-128"/>
                          <a:ea typeface="游ゴシック" panose="020B0400000000000000" pitchFamily="50" charset="-128"/>
                        </a:rPr>
                        <a:t>勤続年数</a:t>
                      </a:r>
                      <a:br>
                        <a:rPr lang="ja-JP" sz="1050" b="1" i="0" u="none" strike="noStrike">
                          <a:solidFill>
                            <a:srgbClr val="FFFFFF"/>
                          </a:solidFill>
                          <a:effectLst/>
                          <a:latin typeface="游ゴシック" panose="020B0400000000000000" pitchFamily="50" charset="-128"/>
                          <a:ea typeface="游ゴシック" panose="020B0400000000000000" pitchFamily="50" charset="-128"/>
                        </a:rPr>
                      </a:br>
                      <a:r>
                        <a:rPr lang="ja-JP" sz="1050" b="1" i="0" u="none" strike="noStrike">
                          <a:solidFill>
                            <a:srgbClr val="FFFFFF"/>
                          </a:solidFill>
                          <a:effectLst/>
                          <a:latin typeface="游ゴシック" panose="020B0400000000000000" pitchFamily="50" charset="-128"/>
                          <a:ea typeface="游ゴシック" panose="020B0400000000000000" pitchFamily="50" charset="-128"/>
                        </a:rPr>
                        <a:t>（年）</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050" b="1" i="0" u="none" strike="noStrike">
                          <a:solidFill>
                            <a:srgbClr val="FFFFFF"/>
                          </a:solidFill>
                          <a:effectLst/>
                          <a:latin typeface="游ゴシック" panose="020B0400000000000000" pitchFamily="50" charset="-128"/>
                          <a:ea typeface="游ゴシック" panose="020B0400000000000000" pitchFamily="50" charset="-128"/>
                        </a:rPr>
                        <a:t>部署</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050" b="1" i="0" u="none" strike="noStrike">
                          <a:solidFill>
                            <a:srgbClr val="FFFFFF"/>
                          </a:solidFill>
                          <a:effectLst/>
                          <a:latin typeface="游ゴシック" panose="020B0400000000000000" pitchFamily="50" charset="-128"/>
                          <a:ea typeface="游ゴシック" panose="020B0400000000000000" pitchFamily="50" charset="-128"/>
                        </a:rPr>
                        <a:t>役職</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050" b="1" i="0" u="none" strike="noStrike">
                          <a:solidFill>
                            <a:srgbClr val="FFFFFF"/>
                          </a:solidFill>
                          <a:effectLst/>
                          <a:latin typeface="游ゴシック" panose="020B0400000000000000" pitchFamily="50" charset="-128"/>
                          <a:ea typeface="游ゴシック" panose="020B0400000000000000" pitchFamily="50" charset="-128"/>
                        </a:rPr>
                        <a:t>2026年5月分</a:t>
                      </a:r>
                      <a:br>
                        <a:rPr lang="ja-JP" sz="1050" b="1" i="0" u="none" strike="noStrike">
                          <a:solidFill>
                            <a:srgbClr val="FFFFFF"/>
                          </a:solidFill>
                          <a:effectLst/>
                          <a:latin typeface="游ゴシック" panose="020B0400000000000000" pitchFamily="50" charset="-128"/>
                          <a:ea typeface="游ゴシック" panose="020B0400000000000000" pitchFamily="50" charset="-128"/>
                        </a:rPr>
                      </a:br>
                      <a:r>
                        <a:rPr lang="ja-JP" sz="1050" b="1" i="0" u="none" strike="noStrike">
                          <a:solidFill>
                            <a:srgbClr val="FFFFFF"/>
                          </a:solidFill>
                          <a:effectLst/>
                          <a:latin typeface="游ゴシック" panose="020B0400000000000000" pitchFamily="50" charset="-128"/>
                          <a:ea typeface="游ゴシック" panose="020B0400000000000000" pitchFamily="50" charset="-128"/>
                        </a:rPr>
                        <a:t>総支給</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050" b="1" i="0" u="none" strike="noStrike">
                          <a:solidFill>
                            <a:srgbClr val="FFFFFF"/>
                          </a:solidFill>
                          <a:effectLst/>
                          <a:latin typeface="游ゴシック" panose="020B0400000000000000" pitchFamily="50" charset="-128"/>
                          <a:ea typeface="游ゴシック" panose="020B0400000000000000" pitchFamily="50" charset="-128"/>
                        </a:rPr>
                        <a:t>備考</a:t>
                      </a:r>
                    </a:p>
                  </a:txBody>
                  <a:tcPr marL="0" marR="0" marT="0" marB="0" anchor="ctr">
                    <a:lnL w="12700" cap="flat" cmpd="sng" algn="ctr">
                      <a:solidFill>
                        <a:srgbClr val="FFFFFF"/>
                      </a:solidFill>
                      <a:prstDash val="solid"/>
                      <a:round/>
                      <a:headEnd type="none" w="med" len="med"/>
                      <a:tailEnd type="none" w="med" len="med"/>
                    </a:lnL>
                    <a:lnR>
                      <a:noFill/>
                    </a:lnR>
                    <a:lnT>
                      <a:noFill/>
                    </a:lnT>
                    <a:lnB w="6350" cap="flat" cmpd="sng" algn="ctr">
                      <a:solidFill>
                        <a:srgbClr val="A6A6A6"/>
                      </a:solidFill>
                      <a:prstDash val="solid"/>
                      <a:round/>
                      <a:headEnd type="none" w="med" len="med"/>
                      <a:tailEnd type="none" w="med" len="med"/>
                    </a:lnB>
                    <a:solidFill>
                      <a:srgbClr val="0B3041"/>
                    </a:solidFill>
                  </a:tcPr>
                </a:tc>
                <a:extLst>
                  <a:ext uri="{0D108BD9-81ED-4DB2-BD59-A6C34878D82A}">
                    <a16:rowId xmlns:a16="http://schemas.microsoft.com/office/drawing/2014/main" val="3113520319"/>
                  </a:ext>
                </a:extLst>
              </a:tr>
              <a:tr h="270926">
                <a:tc>
                  <a:txBody>
                    <a:bodyPr/>
                    <a:lstStyle/>
                    <a:p>
                      <a:pPr algn="ctr"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1</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3E7E9"/>
                    </a:solidFill>
                  </a:tcPr>
                </a:tc>
                <a:tc>
                  <a:txBody>
                    <a:bodyPr/>
                    <a:lstStyle/>
                    <a:p>
                      <a:pPr algn="l"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正社員</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男</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r"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42 </a:t>
                      </a:r>
                    </a:p>
                  </a:txBody>
                  <a:tcPr marL="0" marR="8992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r"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12 </a:t>
                      </a:r>
                    </a:p>
                  </a:txBody>
                  <a:tcPr marL="0" marR="8992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制作部</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部長</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r"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464,600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80763092"/>
                  </a:ext>
                </a:extLst>
              </a:tr>
              <a:tr h="270926">
                <a:tc>
                  <a:txBody>
                    <a:bodyPr/>
                    <a:lstStyle/>
                    <a:p>
                      <a:pPr algn="ctr"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2</a:t>
                      </a:r>
                    </a:p>
                  </a:txBody>
                  <a:tcPr marL="0" marR="0" marT="0" marB="0" anchor="ctr">
                    <a:lnL>
                      <a:noFill/>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3E7E9"/>
                    </a:solidFill>
                  </a:tcPr>
                </a:tc>
                <a:tc>
                  <a:txBody>
                    <a:bodyPr/>
                    <a:lstStyle/>
                    <a:p>
                      <a:pPr algn="l"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正社員</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女</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r"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41 </a:t>
                      </a:r>
                    </a:p>
                  </a:txBody>
                  <a:tcPr marL="0" marR="8992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r"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10 </a:t>
                      </a:r>
                    </a:p>
                  </a:txBody>
                  <a:tcPr marL="0" marR="8992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制作部</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課長</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r"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413,400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89920" marR="0" marT="0" marB="0" anchor="ctr">
                    <a:lnL w="6350" cap="flat" cmpd="sng" algn="ctr">
                      <a:solidFill>
                        <a:srgbClr val="FFFFFF"/>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416599785"/>
                  </a:ext>
                </a:extLst>
              </a:tr>
              <a:tr h="270926">
                <a:tc>
                  <a:txBody>
                    <a:bodyPr/>
                    <a:lstStyle/>
                    <a:p>
                      <a:pPr algn="ctr"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3</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3E7E9"/>
                    </a:solidFill>
                  </a:tcPr>
                </a:tc>
                <a:tc>
                  <a:txBody>
                    <a:bodyPr/>
                    <a:lstStyle/>
                    <a:p>
                      <a:pPr algn="l"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正社員</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女</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r"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31 </a:t>
                      </a:r>
                    </a:p>
                  </a:txBody>
                  <a:tcPr marL="0" marR="8992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r"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9 </a:t>
                      </a:r>
                    </a:p>
                  </a:txBody>
                  <a:tcPr marL="0" marR="8992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制作部</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r"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229,500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2026年5月より</a:t>
                      </a:r>
                      <a:r>
                        <a:rPr lang="ja-JP" altLang="en-US" sz="900" b="0" i="0" u="none" strike="noStrike" dirty="0">
                          <a:solidFill>
                            <a:srgbClr val="000000"/>
                          </a:solidFill>
                          <a:effectLst/>
                          <a:latin typeface="游ゴシック" panose="020B0400000000000000" pitchFamily="50" charset="-128"/>
                          <a:ea typeface="游ゴシック" panose="020B0400000000000000" pitchFamily="50" charset="-128"/>
                        </a:rPr>
                        <a:t>育児休暇より</a:t>
                      </a: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復帰。</a:t>
                      </a:r>
                    </a:p>
                  </a:txBody>
                  <a:tcPr marL="89920" marR="0" marT="0" marB="0" anchor="ctr">
                    <a:lnL w="6350" cap="flat" cmpd="sng" algn="ctr">
                      <a:solidFill>
                        <a:srgbClr val="FFFFFF"/>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507880660"/>
                  </a:ext>
                </a:extLst>
              </a:tr>
              <a:tr h="270926">
                <a:tc>
                  <a:txBody>
                    <a:bodyPr/>
                    <a:lstStyle/>
                    <a:p>
                      <a:pPr algn="ctr"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4</a:t>
                      </a:r>
                    </a:p>
                  </a:txBody>
                  <a:tcPr marL="0" marR="0" marT="0" marB="0" anchor="ctr">
                    <a:lnL>
                      <a:noFill/>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3E7E9"/>
                    </a:solidFill>
                  </a:tcPr>
                </a:tc>
                <a:tc>
                  <a:txBody>
                    <a:bodyPr/>
                    <a:lstStyle/>
                    <a:p>
                      <a:pPr algn="l"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正社員</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女</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r"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27 </a:t>
                      </a:r>
                    </a:p>
                  </a:txBody>
                  <a:tcPr marL="0" marR="8992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r"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4 </a:t>
                      </a:r>
                    </a:p>
                  </a:txBody>
                  <a:tcPr marL="0" marR="8992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制作部</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主任</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r"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347,800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89920" marR="0" marT="0" marB="0" anchor="ctr">
                    <a:lnL w="6350" cap="flat" cmpd="sng" algn="ctr">
                      <a:solidFill>
                        <a:srgbClr val="FFFFFF"/>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19912482"/>
                  </a:ext>
                </a:extLst>
              </a:tr>
              <a:tr h="270926">
                <a:tc>
                  <a:txBody>
                    <a:bodyPr/>
                    <a:lstStyle/>
                    <a:p>
                      <a:pPr algn="ctr"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5</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3E7E9"/>
                    </a:solidFill>
                  </a:tcPr>
                </a:tc>
                <a:tc>
                  <a:txBody>
                    <a:bodyPr/>
                    <a:lstStyle/>
                    <a:p>
                      <a:pPr algn="l"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正社員</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女</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r"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21 </a:t>
                      </a:r>
                    </a:p>
                  </a:txBody>
                  <a:tcPr marL="0" marR="8992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r"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1 </a:t>
                      </a:r>
                    </a:p>
                  </a:txBody>
                  <a:tcPr marL="0" marR="8992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制作部</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r"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262,480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89920" marR="0" marT="0" marB="0" anchor="ctr">
                    <a:lnL w="6350" cap="flat" cmpd="sng" algn="ctr">
                      <a:solidFill>
                        <a:srgbClr val="FFFFFF"/>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736771807"/>
                  </a:ext>
                </a:extLst>
              </a:tr>
              <a:tr h="270926">
                <a:tc>
                  <a:txBody>
                    <a:bodyPr/>
                    <a:lstStyle/>
                    <a:p>
                      <a:pPr algn="ctr"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6</a:t>
                      </a:r>
                    </a:p>
                  </a:txBody>
                  <a:tcPr marL="0" marR="0" marT="0" marB="0" anchor="ctr">
                    <a:lnL>
                      <a:noFill/>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3E7E9"/>
                    </a:solidFill>
                  </a:tcPr>
                </a:tc>
                <a:tc>
                  <a:txBody>
                    <a:bodyPr/>
                    <a:lstStyle/>
                    <a:p>
                      <a:pPr algn="l"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正社員</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女</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r"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25 </a:t>
                      </a:r>
                    </a:p>
                  </a:txBody>
                  <a:tcPr marL="0" marR="8992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r"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1 </a:t>
                      </a:r>
                    </a:p>
                  </a:txBody>
                  <a:tcPr marL="0" marR="8992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営業部</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r"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275,600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89920" marR="0" marT="0" marB="0" anchor="ctr">
                    <a:lnL w="6350" cap="flat" cmpd="sng" algn="ctr">
                      <a:solidFill>
                        <a:srgbClr val="FFFFFF"/>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441030577"/>
                  </a:ext>
                </a:extLst>
              </a:tr>
              <a:tr h="270926">
                <a:tc>
                  <a:txBody>
                    <a:bodyPr/>
                    <a:lstStyle/>
                    <a:p>
                      <a:pPr algn="ctr"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7</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3E7E9"/>
                    </a:solidFill>
                  </a:tcPr>
                </a:tc>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正社員</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女</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r"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27 </a:t>
                      </a:r>
                    </a:p>
                  </a:txBody>
                  <a:tcPr marL="0" marR="8992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r"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0 </a:t>
                      </a:r>
                    </a:p>
                  </a:txBody>
                  <a:tcPr marL="0" marR="8992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営業部</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　</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r"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315,000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2026年4月入社。</a:t>
                      </a:r>
                    </a:p>
                  </a:txBody>
                  <a:tcPr marL="89920" marR="0" marT="0" marB="0" anchor="ctr">
                    <a:lnL w="6350" cap="flat" cmpd="sng" algn="ctr">
                      <a:solidFill>
                        <a:srgbClr val="FFFFFF"/>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563081120"/>
                  </a:ext>
                </a:extLst>
              </a:tr>
            </a:tbl>
          </a:graphicData>
        </a:graphic>
      </p:graphicFrame>
      <p:sp>
        <p:nvSpPr>
          <p:cNvPr id="7" name="TextBox 231">
            <a:extLst>
              <a:ext uri="{FF2B5EF4-FFF2-40B4-BE49-F238E27FC236}">
                <a16:creationId xmlns:a16="http://schemas.microsoft.com/office/drawing/2014/main" id="{820CB89E-A0BE-C26D-E5D3-6D3781A6CE45}"/>
              </a:ext>
            </a:extLst>
          </p:cNvPr>
          <p:cNvSpPr txBox="1"/>
          <p:nvPr/>
        </p:nvSpPr>
        <p:spPr>
          <a:xfrm>
            <a:off x="311150" y="4415077"/>
            <a:ext cx="9875520" cy="230832"/>
          </a:xfrm>
          <a:prstGeom prst="rect">
            <a:avLst/>
          </a:prstGeom>
          <a:noFill/>
        </p:spPr>
        <p:txBody>
          <a:bodyPr wrap="square">
            <a:spAutoFit/>
          </a:bodyPr>
          <a:lstStyle/>
          <a:p>
            <a:r>
              <a:rPr lang="en-US" altLang="ja-JP" sz="900" dirty="0">
                <a:solidFill>
                  <a:srgbClr val="404040"/>
                </a:solidFill>
                <a:latin typeface="游ゴシック" panose="020B0400000000000000" pitchFamily="50" charset="-128"/>
                <a:ea typeface="游ゴシック" panose="020B0400000000000000" pitchFamily="50" charset="-128"/>
              </a:rPr>
              <a:t>※</a:t>
            </a:r>
            <a:r>
              <a:rPr lang="ja-JP" altLang="en-US" sz="900" dirty="0">
                <a:solidFill>
                  <a:srgbClr val="404040"/>
                </a:solidFill>
                <a:latin typeface="游ゴシック" panose="020B0400000000000000" pitchFamily="50" charset="-128"/>
                <a:ea typeface="游ゴシック" panose="020B0400000000000000" pitchFamily="50" charset="-128"/>
              </a:rPr>
              <a:t>氏名はイニシャル管理のため非表示。</a:t>
            </a:r>
            <a:endParaRPr sz="900" dirty="0">
              <a:solidFill>
                <a:srgbClr val="404040"/>
              </a:solidFill>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4530259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C3BC0-753C-033E-F6BF-1E996308297A}"/>
            </a:ext>
          </a:extLst>
        </p:cNvPr>
        <p:cNvGrpSpPr/>
        <p:nvPr/>
      </p:nvGrpSpPr>
      <p:grpSpPr>
        <a:xfrm>
          <a:off x="0" y="0"/>
          <a:ext cx="0" cy="0"/>
          <a:chOff x="0" y="0"/>
          <a:chExt cx="0" cy="0"/>
        </a:xfrm>
      </p:grpSpPr>
      <p:pic>
        <p:nvPicPr>
          <p:cNvPr id="20" name="図 19">
            <a:extLst>
              <a:ext uri="{FF2B5EF4-FFF2-40B4-BE49-F238E27FC236}">
                <a16:creationId xmlns:a16="http://schemas.microsoft.com/office/drawing/2014/main" id="{593B25A5-3F1D-7AA5-EFC8-3CEB096E4ACC}"/>
              </a:ext>
            </a:extLst>
          </p:cNvPr>
          <p:cNvPicPr>
            <a:picLocks noChangeAspect="1"/>
          </p:cNvPicPr>
          <p:nvPr/>
        </p:nvPicPr>
        <p:blipFill>
          <a:blip r:embed="rId3"/>
          <a:stretch>
            <a:fillRect/>
          </a:stretch>
        </p:blipFill>
        <p:spPr>
          <a:xfrm>
            <a:off x="309599" y="3251766"/>
            <a:ext cx="5856621" cy="3588772"/>
          </a:xfrm>
          <a:prstGeom prst="rect">
            <a:avLst/>
          </a:prstGeom>
        </p:spPr>
      </p:pic>
      <p:sp>
        <p:nvSpPr>
          <p:cNvPr id="13" name="タイトル 12">
            <a:extLst>
              <a:ext uri="{FF2B5EF4-FFF2-40B4-BE49-F238E27FC236}">
                <a16:creationId xmlns:a16="http://schemas.microsoft.com/office/drawing/2014/main" id="{33F37850-AD52-3D13-0C74-E00196D01FCC}"/>
              </a:ext>
            </a:extLst>
          </p:cNvPr>
          <p:cNvSpPr>
            <a:spLocks noGrp="1"/>
          </p:cNvSpPr>
          <p:nvPr>
            <p:ph type="ctrTitle"/>
          </p:nvPr>
        </p:nvSpPr>
        <p:spPr>
          <a:xfrm>
            <a:off x="311150" y="180296"/>
            <a:ext cx="7799917" cy="339267"/>
          </a:xfrm>
        </p:spPr>
        <p:txBody>
          <a:bodyPr>
            <a:normAutofit/>
          </a:bodyPr>
          <a:lstStyle/>
          <a:p>
            <a:r>
              <a:rPr lang="ja-JP" altLang="en-US" dirty="0"/>
              <a:t>拠点概要（本社）</a:t>
            </a:r>
          </a:p>
        </p:txBody>
      </p:sp>
      <p:sp>
        <p:nvSpPr>
          <p:cNvPr id="2" name="正方形/長方形 1">
            <a:extLst>
              <a:ext uri="{FF2B5EF4-FFF2-40B4-BE49-F238E27FC236}">
                <a16:creationId xmlns:a16="http://schemas.microsoft.com/office/drawing/2014/main" id="{C00DE4F3-8549-4974-DCEF-6F7481D67517}"/>
              </a:ext>
            </a:extLst>
          </p:cNvPr>
          <p:cNvSpPr/>
          <p:nvPr/>
        </p:nvSpPr>
        <p:spPr>
          <a:xfrm>
            <a:off x="311151" y="1400848"/>
            <a:ext cx="1479550"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ja-JP" altLang="en-US" sz="1400" b="1" spc="70" dirty="0">
                <a:solidFill>
                  <a:schemeClr val="bg1"/>
                </a:solidFill>
                <a:latin typeface="+mj-ea"/>
                <a:ea typeface="+mj-ea"/>
              </a:rPr>
              <a:t>本社</a:t>
            </a:r>
          </a:p>
        </p:txBody>
      </p:sp>
      <p:sp>
        <p:nvSpPr>
          <p:cNvPr id="6" name="タイトル 1">
            <a:extLst>
              <a:ext uri="{FF2B5EF4-FFF2-40B4-BE49-F238E27FC236}">
                <a16:creationId xmlns:a16="http://schemas.microsoft.com/office/drawing/2014/main" id="{C94241A7-8BCE-A268-9079-8C5AF9CFCFBF}"/>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組織、拠点、設備等</a:t>
            </a:r>
          </a:p>
        </p:txBody>
      </p:sp>
      <p:sp>
        <p:nvSpPr>
          <p:cNvPr id="9" name="字幕 13">
            <a:extLst>
              <a:ext uri="{FF2B5EF4-FFF2-40B4-BE49-F238E27FC236}">
                <a16:creationId xmlns:a16="http://schemas.microsoft.com/office/drawing/2014/main" id="{B8D00A9D-DB7C-195B-A6F7-0DBDF4FF7287}"/>
              </a:ext>
            </a:extLst>
          </p:cNvPr>
          <p:cNvSpPr>
            <a:spLocks noGrp="1"/>
          </p:cNvSpPr>
          <p:nvPr>
            <p:ph type="subTitle" idx="1"/>
          </p:nvPr>
        </p:nvSpPr>
        <p:spPr>
          <a:xfrm>
            <a:off x="460675" y="830046"/>
            <a:ext cx="9781875" cy="241861"/>
          </a:xfrm>
        </p:spPr>
        <p:txBody>
          <a:bodyPr>
            <a:noAutofit/>
          </a:bodyPr>
          <a:lstStyle/>
          <a:p>
            <a:r>
              <a:rPr dirty="0">
                <a:latin typeface="+mj-ea"/>
                <a:ea typeface="+mj-ea"/>
              </a:rPr>
              <a:t>本社は東京・上野の好立地（サスガビル4階）に所在する1拠点。企画・営業・管理の各機能を集約してい</a:t>
            </a:r>
            <a:r>
              <a:rPr lang="ja-JP" altLang="en-US" dirty="0">
                <a:latin typeface="+mj-ea"/>
                <a:ea typeface="+mj-ea"/>
              </a:rPr>
              <a:t>る</a:t>
            </a:r>
            <a:r>
              <a:rPr dirty="0">
                <a:latin typeface="+mj-ea"/>
                <a:ea typeface="+mj-ea"/>
              </a:rPr>
              <a:t>。</a:t>
            </a:r>
            <a:endParaRPr lang="en-US" altLang="ja-JP" dirty="0"/>
          </a:p>
        </p:txBody>
      </p:sp>
      <p:graphicFrame>
        <p:nvGraphicFramePr>
          <p:cNvPr id="4" name="表 3">
            <a:extLst>
              <a:ext uri="{FF2B5EF4-FFF2-40B4-BE49-F238E27FC236}">
                <a16:creationId xmlns:a16="http://schemas.microsoft.com/office/drawing/2014/main" id="{325AF47A-6BC9-B6C2-5B98-1956D7B06A39}"/>
              </a:ext>
            </a:extLst>
          </p:cNvPr>
          <p:cNvGraphicFramePr>
            <a:graphicFrameLocks noGrp="1"/>
          </p:cNvGraphicFramePr>
          <p:nvPr>
            <p:extLst>
              <p:ext uri="{D42A27DB-BD31-4B8C-83A1-F6EECF244321}">
                <p14:modId xmlns:p14="http://schemas.microsoft.com/office/powerpoint/2010/main" val="805259124"/>
              </p:ext>
            </p:extLst>
          </p:nvPr>
        </p:nvGraphicFramePr>
        <p:xfrm>
          <a:off x="309600" y="1972901"/>
          <a:ext cx="9221786" cy="786120"/>
        </p:xfrm>
        <a:graphic>
          <a:graphicData uri="http://schemas.openxmlformats.org/drawingml/2006/table">
            <a:tbl>
              <a:tblPr/>
              <a:tblGrid>
                <a:gridCol w="2469222">
                  <a:extLst>
                    <a:ext uri="{9D8B030D-6E8A-4147-A177-3AD203B41FA5}">
                      <a16:colId xmlns:a16="http://schemas.microsoft.com/office/drawing/2014/main" val="2062176054"/>
                    </a:ext>
                  </a:extLst>
                </a:gridCol>
                <a:gridCol w="977610">
                  <a:extLst>
                    <a:ext uri="{9D8B030D-6E8A-4147-A177-3AD203B41FA5}">
                      <a16:colId xmlns:a16="http://schemas.microsoft.com/office/drawing/2014/main" val="1643339880"/>
                    </a:ext>
                  </a:extLst>
                </a:gridCol>
                <a:gridCol w="806276">
                  <a:extLst>
                    <a:ext uri="{9D8B030D-6E8A-4147-A177-3AD203B41FA5}">
                      <a16:colId xmlns:a16="http://schemas.microsoft.com/office/drawing/2014/main" val="2265824260"/>
                    </a:ext>
                  </a:extLst>
                </a:gridCol>
                <a:gridCol w="806276">
                  <a:extLst>
                    <a:ext uri="{9D8B030D-6E8A-4147-A177-3AD203B41FA5}">
                      <a16:colId xmlns:a16="http://schemas.microsoft.com/office/drawing/2014/main" val="1420906063"/>
                    </a:ext>
                  </a:extLst>
                </a:gridCol>
                <a:gridCol w="806276">
                  <a:extLst>
                    <a:ext uri="{9D8B030D-6E8A-4147-A177-3AD203B41FA5}">
                      <a16:colId xmlns:a16="http://schemas.microsoft.com/office/drawing/2014/main" val="2817479663"/>
                    </a:ext>
                  </a:extLst>
                </a:gridCol>
                <a:gridCol w="3356126">
                  <a:extLst>
                    <a:ext uri="{9D8B030D-6E8A-4147-A177-3AD203B41FA5}">
                      <a16:colId xmlns:a16="http://schemas.microsoft.com/office/drawing/2014/main" val="1610221471"/>
                    </a:ext>
                  </a:extLst>
                </a:gridCol>
              </a:tblGrid>
              <a:tr h="393060">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所在地</a:t>
                      </a:r>
                    </a:p>
                  </a:txBody>
                  <a:tcPr marL="0" marR="0" marT="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契約形態</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延床面積</a:t>
                      </a:r>
                      <a:br>
                        <a:rPr lang="ja-JP" sz="1000" b="1" i="0" u="none" strike="noStrike">
                          <a:solidFill>
                            <a:srgbClr val="FFFFFF"/>
                          </a:solidFill>
                          <a:effectLst/>
                          <a:latin typeface="游ゴシック" panose="020B0400000000000000" pitchFamily="50" charset="-128"/>
                          <a:ea typeface="游ゴシック" panose="020B0400000000000000" pitchFamily="50" charset="-128"/>
                        </a:rPr>
                      </a:br>
                      <a:r>
                        <a:rPr lang="ja-JP" sz="1000" b="1" i="0" u="none" strike="noStrike">
                          <a:solidFill>
                            <a:srgbClr val="FFFFFF"/>
                          </a:solidFill>
                          <a:effectLst/>
                          <a:latin typeface="游ゴシック" panose="020B0400000000000000" pitchFamily="50" charset="-128"/>
                          <a:ea typeface="游ゴシック" panose="020B0400000000000000" pitchFamily="50" charset="-128"/>
                        </a:rPr>
                        <a:t>(㎡)</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月間賃料</a:t>
                      </a:r>
                      <a:br>
                        <a:rPr lang="ja-JP" sz="1000" b="1" i="0" u="none" strike="noStrike">
                          <a:solidFill>
                            <a:srgbClr val="FFFFFF"/>
                          </a:solidFill>
                          <a:effectLst/>
                          <a:latin typeface="游ゴシック" panose="020B0400000000000000" pitchFamily="50" charset="-128"/>
                          <a:ea typeface="游ゴシック" panose="020B0400000000000000" pitchFamily="50" charset="-128"/>
                        </a:rPr>
                      </a:br>
                      <a:r>
                        <a:rPr lang="ja-JP" sz="1000" b="1" i="0" u="none" strike="noStrike">
                          <a:solidFill>
                            <a:srgbClr val="FFFFFF"/>
                          </a:solidFill>
                          <a:effectLst/>
                          <a:latin typeface="游ゴシック" panose="020B0400000000000000" pitchFamily="50" charset="-128"/>
                          <a:ea typeface="游ゴシック" panose="020B0400000000000000" pitchFamily="50" charset="-128"/>
                        </a:rPr>
                        <a:t>(千円)</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敷金</a:t>
                      </a:r>
                      <a:br>
                        <a:rPr lang="ja-JP" sz="1000" b="1" i="0" u="none" strike="noStrike">
                          <a:solidFill>
                            <a:srgbClr val="FFFFFF"/>
                          </a:solidFill>
                          <a:effectLst/>
                          <a:latin typeface="游ゴシック" panose="020B0400000000000000" pitchFamily="50" charset="-128"/>
                          <a:ea typeface="游ゴシック" panose="020B0400000000000000" pitchFamily="50" charset="-128"/>
                        </a:rPr>
                      </a:br>
                      <a:r>
                        <a:rPr lang="ja-JP" sz="1000" b="1" i="0" u="none" strike="noStrike">
                          <a:solidFill>
                            <a:srgbClr val="FFFFFF"/>
                          </a:solidFill>
                          <a:effectLst/>
                          <a:latin typeface="游ゴシック" panose="020B0400000000000000" pitchFamily="50" charset="-128"/>
                          <a:ea typeface="游ゴシック" panose="020B0400000000000000" pitchFamily="50" charset="-128"/>
                        </a:rPr>
                        <a:t>(千円)</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アクセス</a:t>
                      </a:r>
                    </a:p>
                  </a:txBody>
                  <a:tcPr marL="0" marR="0" marT="0" marB="0" anchor="ctr">
                    <a:lnL w="12700" cap="flat" cmpd="sng" algn="ctr">
                      <a:solidFill>
                        <a:srgbClr val="FFFFFF"/>
                      </a:solidFill>
                      <a:prstDash val="solid"/>
                      <a:round/>
                      <a:headEnd type="none" w="med" len="med"/>
                      <a:tailEnd type="none" w="med" len="med"/>
                    </a:lnL>
                    <a:lnR>
                      <a:noFill/>
                    </a:lnR>
                    <a:lnT>
                      <a:noFill/>
                    </a:lnT>
                    <a:lnB w="6350" cap="flat" cmpd="sng" algn="ctr">
                      <a:solidFill>
                        <a:srgbClr val="A6A6A6"/>
                      </a:solidFill>
                      <a:prstDash val="solid"/>
                      <a:round/>
                      <a:headEnd type="none" w="med" len="med"/>
                      <a:tailEnd type="none" w="med" len="med"/>
                    </a:lnB>
                    <a:solidFill>
                      <a:srgbClr val="0B3041"/>
                    </a:solidFill>
                  </a:tcPr>
                </a:tc>
                <a:extLst>
                  <a:ext uri="{0D108BD9-81ED-4DB2-BD59-A6C34878D82A}">
                    <a16:rowId xmlns:a16="http://schemas.microsoft.com/office/drawing/2014/main" val="870587111"/>
                  </a:ext>
                </a:extLst>
              </a:tr>
              <a:tr h="393060">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東京都台東区東上野一丁目20番5号 </a:t>
                      </a:r>
                      <a:br>
                        <a:rPr lang="ja-JP" sz="1000" b="0" i="0" u="none" strike="noStrike">
                          <a:solidFill>
                            <a:srgbClr val="000000"/>
                          </a:solidFill>
                          <a:effectLst/>
                          <a:latin typeface="游ゴシック" panose="020B0400000000000000" pitchFamily="50" charset="-128"/>
                          <a:ea typeface="游ゴシック" panose="020B0400000000000000" pitchFamily="50" charset="-128"/>
                        </a:rPr>
                      </a:br>
                      <a:r>
                        <a:rPr lang="ja-JP" sz="1000" b="0" i="0" u="none" strike="noStrike">
                          <a:solidFill>
                            <a:srgbClr val="000000"/>
                          </a:solidFill>
                          <a:effectLst/>
                          <a:latin typeface="游ゴシック" panose="020B0400000000000000" pitchFamily="50" charset="-128"/>
                          <a:ea typeface="游ゴシック" panose="020B0400000000000000" pitchFamily="50" charset="-128"/>
                        </a:rPr>
                        <a:t>サスガビル4階</a:t>
                      </a:r>
                    </a:p>
                  </a:txBody>
                  <a:tcPr marL="90706"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ct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賃借</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115.7</a:t>
                      </a:r>
                    </a:p>
                  </a:txBody>
                  <a:tcPr marL="0" marR="9070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436</a:t>
                      </a:r>
                    </a:p>
                  </a:txBody>
                  <a:tcPr marL="0" marR="9070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1,264</a:t>
                      </a:r>
                    </a:p>
                  </a:txBody>
                  <a:tcPr marL="0" marR="9070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仲御徒町駅徒歩4分、上野御徒町駅徒歩6分、</a:t>
                      </a:r>
                      <a:br>
                        <a:rPr lang="ja-JP" sz="1000" b="0" i="0" u="none" strike="noStrike" dirty="0">
                          <a:solidFill>
                            <a:srgbClr val="000000"/>
                          </a:solidFill>
                          <a:effectLst/>
                          <a:latin typeface="游ゴシック" panose="020B0400000000000000" pitchFamily="50" charset="-128"/>
                          <a:ea typeface="游ゴシック" panose="020B0400000000000000" pitchFamily="50" charset="-128"/>
                        </a:rPr>
                      </a:b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御徒町駅徒歩6分</a:t>
                      </a:r>
                    </a:p>
                  </a:txBody>
                  <a:tcPr marL="90706"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2447140917"/>
                  </a:ext>
                </a:extLst>
              </a:tr>
            </a:tbl>
          </a:graphicData>
        </a:graphic>
      </p:graphicFrame>
      <p:sp>
        <p:nvSpPr>
          <p:cNvPr id="17" name="正方形/長方形 16">
            <a:extLst>
              <a:ext uri="{FF2B5EF4-FFF2-40B4-BE49-F238E27FC236}">
                <a16:creationId xmlns:a16="http://schemas.microsoft.com/office/drawing/2014/main" id="{3F2D807C-4EFA-57B4-2B5D-60A6604F1DE6}"/>
              </a:ext>
            </a:extLst>
          </p:cNvPr>
          <p:cNvSpPr/>
          <p:nvPr/>
        </p:nvSpPr>
        <p:spPr>
          <a:xfrm>
            <a:off x="1329743" y="3251766"/>
            <a:ext cx="776287" cy="291272"/>
          </a:xfrm>
          <a:prstGeom prst="rect">
            <a:avLst/>
          </a:prstGeom>
          <a:noFill/>
          <a:l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二等辺三角形 10">
            <a:extLst>
              <a:ext uri="{FF2B5EF4-FFF2-40B4-BE49-F238E27FC236}">
                <a16:creationId xmlns:a16="http://schemas.microsoft.com/office/drawing/2014/main" id="{1702ED47-A490-B2A1-B472-68ACB72C6CC7}"/>
              </a:ext>
            </a:extLst>
          </p:cNvPr>
          <p:cNvSpPr/>
          <p:nvPr/>
        </p:nvSpPr>
        <p:spPr>
          <a:xfrm rot="15699000">
            <a:off x="5256614" y="3383598"/>
            <a:ext cx="556559" cy="3219446"/>
          </a:xfrm>
          <a:prstGeom prst="triangle">
            <a:avLst/>
          </a:prstGeom>
          <a:solidFill>
            <a:srgbClr val="0889C9">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a:extLst>
              <a:ext uri="{FF2B5EF4-FFF2-40B4-BE49-F238E27FC236}">
                <a16:creationId xmlns:a16="http://schemas.microsoft.com/office/drawing/2014/main" id="{EE686759-FC8F-A046-94D4-2BCFB5551308}"/>
              </a:ext>
            </a:extLst>
          </p:cNvPr>
          <p:cNvSpPr/>
          <p:nvPr/>
        </p:nvSpPr>
        <p:spPr>
          <a:xfrm>
            <a:off x="309599" y="5755430"/>
            <a:ext cx="710247" cy="240558"/>
          </a:xfrm>
          <a:prstGeom prst="rect">
            <a:avLst/>
          </a:prstGeom>
          <a:noFill/>
          <a:l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正方形/長方形 21">
            <a:extLst>
              <a:ext uri="{FF2B5EF4-FFF2-40B4-BE49-F238E27FC236}">
                <a16:creationId xmlns:a16="http://schemas.microsoft.com/office/drawing/2014/main" id="{38DD0D24-AEEE-86C6-DF4C-BF55FAD553C4}"/>
              </a:ext>
            </a:extLst>
          </p:cNvPr>
          <p:cNvSpPr/>
          <p:nvPr/>
        </p:nvSpPr>
        <p:spPr>
          <a:xfrm>
            <a:off x="1041400" y="5688756"/>
            <a:ext cx="710247" cy="240558"/>
          </a:xfrm>
          <a:prstGeom prst="rect">
            <a:avLst/>
          </a:prstGeom>
          <a:noFill/>
          <a:l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E6CDE1CD-5B97-1266-F6A0-0C3145215981}"/>
              </a:ext>
            </a:extLst>
          </p:cNvPr>
          <p:cNvSpPr/>
          <p:nvPr/>
        </p:nvSpPr>
        <p:spPr>
          <a:xfrm>
            <a:off x="1435577" y="5995988"/>
            <a:ext cx="710247" cy="240558"/>
          </a:xfrm>
          <a:prstGeom prst="rect">
            <a:avLst/>
          </a:prstGeom>
          <a:noFill/>
          <a:l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正方形/長方形 23">
            <a:extLst>
              <a:ext uri="{FF2B5EF4-FFF2-40B4-BE49-F238E27FC236}">
                <a16:creationId xmlns:a16="http://schemas.microsoft.com/office/drawing/2014/main" id="{ABCB77D2-054B-D106-CB52-841C38ABD294}"/>
              </a:ext>
            </a:extLst>
          </p:cNvPr>
          <p:cNvSpPr/>
          <p:nvPr/>
        </p:nvSpPr>
        <p:spPr>
          <a:xfrm>
            <a:off x="2145824" y="6599980"/>
            <a:ext cx="710247" cy="240558"/>
          </a:xfrm>
          <a:prstGeom prst="rect">
            <a:avLst/>
          </a:prstGeom>
          <a:noFill/>
          <a:l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正方形/長方形 26">
            <a:extLst>
              <a:ext uri="{FF2B5EF4-FFF2-40B4-BE49-F238E27FC236}">
                <a16:creationId xmlns:a16="http://schemas.microsoft.com/office/drawing/2014/main" id="{2389F0C9-8E02-C569-4684-FD95FDAD4415}"/>
              </a:ext>
            </a:extLst>
          </p:cNvPr>
          <p:cNvSpPr/>
          <p:nvPr/>
        </p:nvSpPr>
        <p:spPr>
          <a:xfrm>
            <a:off x="5172149" y="6359422"/>
            <a:ext cx="862891" cy="240558"/>
          </a:xfrm>
          <a:prstGeom prst="rect">
            <a:avLst/>
          </a:prstGeom>
          <a:noFill/>
          <a:l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30" name="図 29">
            <a:extLst>
              <a:ext uri="{FF2B5EF4-FFF2-40B4-BE49-F238E27FC236}">
                <a16:creationId xmlns:a16="http://schemas.microsoft.com/office/drawing/2014/main" id="{B9B8E9C5-6193-0A82-A3DB-B3742211E46B}"/>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20000"/>
                    </a14:imgEffect>
                  </a14:imgLayer>
                </a14:imgProps>
              </a:ext>
            </a:extLst>
          </a:blip>
          <a:stretch>
            <a:fillRect/>
          </a:stretch>
        </p:blipFill>
        <p:spPr>
          <a:xfrm>
            <a:off x="6861856" y="2869174"/>
            <a:ext cx="2978523" cy="3971364"/>
          </a:xfrm>
          <a:prstGeom prst="rect">
            <a:avLst/>
          </a:prstGeom>
        </p:spPr>
      </p:pic>
    </p:spTree>
    <p:extLst>
      <p:ext uri="{BB962C8B-B14F-4D97-AF65-F5344CB8AC3E}">
        <p14:creationId xmlns:p14="http://schemas.microsoft.com/office/powerpoint/2010/main" val="6307501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483CB5-D66B-9D1A-A660-C02FFA666B7D}"/>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B1EDBB24-67BB-E96E-B74B-D3EB5F75EDA4}"/>
              </a:ext>
            </a:extLst>
          </p:cNvPr>
          <p:cNvSpPr>
            <a:spLocks noGrp="1"/>
          </p:cNvSpPr>
          <p:nvPr>
            <p:ph type="ctrTitle"/>
          </p:nvPr>
        </p:nvSpPr>
        <p:spPr>
          <a:xfrm>
            <a:off x="311150" y="180296"/>
            <a:ext cx="7799917" cy="339267"/>
          </a:xfrm>
        </p:spPr>
        <p:txBody>
          <a:bodyPr>
            <a:normAutofit/>
          </a:bodyPr>
          <a:lstStyle/>
          <a:p>
            <a:r>
              <a:rPr lang="ja-JP" altLang="en-US" dirty="0"/>
              <a:t>保有設備一覧</a:t>
            </a:r>
          </a:p>
        </p:txBody>
      </p:sp>
      <p:sp>
        <p:nvSpPr>
          <p:cNvPr id="4" name="タイトル 1">
            <a:extLst>
              <a:ext uri="{FF2B5EF4-FFF2-40B4-BE49-F238E27FC236}">
                <a16:creationId xmlns:a16="http://schemas.microsoft.com/office/drawing/2014/main" id="{9A038C7C-FDC6-3DA9-FB86-371BEF2D480D}"/>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組織、拠点、設備等</a:t>
            </a:r>
          </a:p>
        </p:txBody>
      </p:sp>
      <p:sp>
        <p:nvSpPr>
          <p:cNvPr id="7" name="字幕 13">
            <a:extLst>
              <a:ext uri="{FF2B5EF4-FFF2-40B4-BE49-F238E27FC236}">
                <a16:creationId xmlns:a16="http://schemas.microsoft.com/office/drawing/2014/main" id="{AF62B1A2-0C69-2A17-FF69-1256D98EBEC7}"/>
              </a:ext>
            </a:extLst>
          </p:cNvPr>
          <p:cNvSpPr>
            <a:spLocks noGrp="1"/>
          </p:cNvSpPr>
          <p:nvPr>
            <p:ph type="subTitle" idx="1"/>
          </p:nvPr>
        </p:nvSpPr>
        <p:spPr>
          <a:xfrm>
            <a:off x="460675" y="830046"/>
            <a:ext cx="9781875" cy="241861"/>
          </a:xfrm>
        </p:spPr>
        <p:txBody>
          <a:bodyPr>
            <a:noAutofit/>
          </a:bodyPr>
          <a:lstStyle/>
          <a:p>
            <a:r>
              <a:rPr dirty="0" err="1">
                <a:latin typeface="+mj-ea"/>
                <a:ea typeface="+mj-ea"/>
              </a:rPr>
              <a:t>自社工場を持たないファブレス体制のため、保有設備は少額。有形固定資産は建物附属設備・車両運搬具・工具器具備品の合計</a:t>
            </a:r>
            <a:r>
              <a:rPr lang="ja-JP" altLang="en-US" dirty="0">
                <a:latin typeface="+mj-ea"/>
                <a:ea typeface="+mj-ea"/>
              </a:rPr>
              <a:t>は</a:t>
            </a:r>
            <a:r>
              <a:rPr dirty="0">
                <a:latin typeface="+mj-ea"/>
                <a:ea typeface="+mj-ea"/>
              </a:rPr>
              <a:t>1,057千円。</a:t>
            </a:r>
            <a:endParaRPr lang="en-US" altLang="ja-JP" dirty="0"/>
          </a:p>
        </p:txBody>
      </p:sp>
      <p:sp>
        <p:nvSpPr>
          <p:cNvPr id="15" name="TextBox 14"/>
          <p:cNvSpPr txBox="1"/>
          <p:nvPr/>
        </p:nvSpPr>
        <p:spPr>
          <a:xfrm>
            <a:off x="309600" y="3640771"/>
            <a:ext cx="7200000" cy="246221"/>
          </a:xfrm>
          <a:prstGeom prst="rect">
            <a:avLst/>
          </a:prstGeom>
          <a:noFill/>
        </p:spPr>
        <p:txBody>
          <a:bodyPr wrap="square">
            <a:spAutoFit/>
          </a:bodyPr>
          <a:lstStyle/>
          <a:p>
            <a:pPr algn="l"/>
            <a:r>
              <a:rPr sz="1000" dirty="0">
                <a:solidFill>
                  <a:sysClr val="windowText" lastClr="000000"/>
                </a:solidFill>
                <a:latin typeface="游ゴシック"/>
                <a:ea typeface="游ゴシック"/>
              </a:rPr>
              <a:t>※ </a:t>
            </a:r>
            <a:r>
              <a:rPr sz="1000" dirty="0" err="1">
                <a:solidFill>
                  <a:sysClr val="windowText" lastClr="000000"/>
                </a:solidFill>
                <a:latin typeface="游ゴシック"/>
                <a:ea typeface="游ゴシック"/>
              </a:rPr>
              <a:t>自社工場を持たないファブレス体制のため、保有設備は少額</a:t>
            </a:r>
            <a:r>
              <a:rPr sz="1000" dirty="0">
                <a:solidFill>
                  <a:sysClr val="windowText" lastClr="000000"/>
                </a:solidFill>
                <a:latin typeface="游ゴシック"/>
                <a:ea typeface="游ゴシック"/>
              </a:rPr>
              <a:t>。</a:t>
            </a:r>
          </a:p>
        </p:txBody>
      </p:sp>
      <p:graphicFrame>
        <p:nvGraphicFramePr>
          <p:cNvPr id="3" name="表 2">
            <a:extLst>
              <a:ext uri="{FF2B5EF4-FFF2-40B4-BE49-F238E27FC236}">
                <a16:creationId xmlns:a16="http://schemas.microsoft.com/office/drawing/2014/main" id="{D02CC98D-1094-A3D7-7383-CA4109A049E4}"/>
              </a:ext>
            </a:extLst>
          </p:cNvPr>
          <p:cNvGraphicFramePr>
            <a:graphicFrameLocks noGrp="1"/>
          </p:cNvGraphicFramePr>
          <p:nvPr>
            <p:extLst>
              <p:ext uri="{D42A27DB-BD31-4B8C-83A1-F6EECF244321}">
                <p14:modId xmlns:p14="http://schemas.microsoft.com/office/powerpoint/2010/main" val="1979920877"/>
              </p:ext>
            </p:extLst>
          </p:nvPr>
        </p:nvGraphicFramePr>
        <p:xfrm>
          <a:off x="309600" y="1938603"/>
          <a:ext cx="10040901" cy="1494585"/>
        </p:xfrm>
        <a:graphic>
          <a:graphicData uri="http://schemas.openxmlformats.org/drawingml/2006/table">
            <a:tbl>
              <a:tblPr/>
              <a:tblGrid>
                <a:gridCol w="270462">
                  <a:extLst>
                    <a:ext uri="{9D8B030D-6E8A-4147-A177-3AD203B41FA5}">
                      <a16:colId xmlns:a16="http://schemas.microsoft.com/office/drawing/2014/main" val="2664730658"/>
                    </a:ext>
                  </a:extLst>
                </a:gridCol>
                <a:gridCol w="1153488">
                  <a:extLst>
                    <a:ext uri="{9D8B030D-6E8A-4147-A177-3AD203B41FA5}">
                      <a16:colId xmlns:a16="http://schemas.microsoft.com/office/drawing/2014/main" val="1702608175"/>
                    </a:ext>
                  </a:extLst>
                </a:gridCol>
                <a:gridCol w="1971675">
                  <a:extLst>
                    <a:ext uri="{9D8B030D-6E8A-4147-A177-3AD203B41FA5}">
                      <a16:colId xmlns:a16="http://schemas.microsoft.com/office/drawing/2014/main" val="3190167237"/>
                    </a:ext>
                  </a:extLst>
                </a:gridCol>
                <a:gridCol w="739775">
                  <a:extLst>
                    <a:ext uri="{9D8B030D-6E8A-4147-A177-3AD203B41FA5}">
                      <a16:colId xmlns:a16="http://schemas.microsoft.com/office/drawing/2014/main" val="887249952"/>
                    </a:ext>
                  </a:extLst>
                </a:gridCol>
                <a:gridCol w="739775">
                  <a:extLst>
                    <a:ext uri="{9D8B030D-6E8A-4147-A177-3AD203B41FA5}">
                      <a16:colId xmlns:a16="http://schemas.microsoft.com/office/drawing/2014/main" val="475512481"/>
                    </a:ext>
                  </a:extLst>
                </a:gridCol>
                <a:gridCol w="739775">
                  <a:extLst>
                    <a:ext uri="{9D8B030D-6E8A-4147-A177-3AD203B41FA5}">
                      <a16:colId xmlns:a16="http://schemas.microsoft.com/office/drawing/2014/main" val="4001681305"/>
                    </a:ext>
                  </a:extLst>
                </a:gridCol>
                <a:gridCol w="739775">
                  <a:extLst>
                    <a:ext uri="{9D8B030D-6E8A-4147-A177-3AD203B41FA5}">
                      <a16:colId xmlns:a16="http://schemas.microsoft.com/office/drawing/2014/main" val="2316733740"/>
                    </a:ext>
                  </a:extLst>
                </a:gridCol>
                <a:gridCol w="739775">
                  <a:extLst>
                    <a:ext uri="{9D8B030D-6E8A-4147-A177-3AD203B41FA5}">
                      <a16:colId xmlns:a16="http://schemas.microsoft.com/office/drawing/2014/main" val="1943368122"/>
                    </a:ext>
                  </a:extLst>
                </a:gridCol>
                <a:gridCol w="739775">
                  <a:extLst>
                    <a:ext uri="{9D8B030D-6E8A-4147-A177-3AD203B41FA5}">
                      <a16:colId xmlns:a16="http://schemas.microsoft.com/office/drawing/2014/main" val="985670860"/>
                    </a:ext>
                  </a:extLst>
                </a:gridCol>
                <a:gridCol w="2206626">
                  <a:extLst>
                    <a:ext uri="{9D8B030D-6E8A-4147-A177-3AD203B41FA5}">
                      <a16:colId xmlns:a16="http://schemas.microsoft.com/office/drawing/2014/main" val="1905704674"/>
                    </a:ext>
                  </a:extLst>
                </a:gridCol>
              </a:tblGrid>
              <a:tr h="188637">
                <a:tc>
                  <a:txBody>
                    <a:bodyPr/>
                    <a:lstStyle/>
                    <a:p>
                      <a:pPr algn="ctr" fontAlgn="ctr">
                        <a:buNone/>
                      </a:pPr>
                      <a:r>
                        <a:rPr lang="ja-JP" sz="900" b="0" i="0" u="none" strike="noStrike">
                          <a:solidFill>
                            <a:srgbClr val="FFFFFF"/>
                          </a:solidFill>
                          <a:effectLst/>
                          <a:latin typeface="游ゴシック" panose="020B0400000000000000" pitchFamily="50" charset="-128"/>
                          <a:ea typeface="游ゴシック" panose="020B0400000000000000" pitchFamily="50" charset="-128"/>
                        </a:rPr>
                        <a:t>№</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科目</a:t>
                      </a:r>
                    </a:p>
                  </a:txBody>
                  <a:tcPr marL="0" marR="0" marT="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資産名</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償却方法</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取得年</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取得月</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耐用年数</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取得原価</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期末帳簿価額</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備考</a:t>
                      </a:r>
                    </a:p>
                  </a:txBody>
                  <a:tcPr marL="0" marR="0" marT="0" marB="0" anchor="ctr">
                    <a:lnL w="12700" cap="flat" cmpd="sng" algn="ctr">
                      <a:solidFill>
                        <a:srgbClr val="FFFFFF"/>
                      </a:solidFill>
                      <a:prstDash val="solid"/>
                      <a:round/>
                      <a:headEnd type="none" w="med" len="med"/>
                      <a:tailEnd type="none" w="med" len="med"/>
                    </a:lnL>
                    <a:lnR>
                      <a:noFill/>
                    </a:lnR>
                    <a:lnT>
                      <a:noFill/>
                    </a:lnT>
                    <a:lnB w="6350" cap="flat" cmpd="sng" algn="ctr">
                      <a:solidFill>
                        <a:srgbClr val="A6A6A6"/>
                      </a:solidFill>
                      <a:prstDash val="solid"/>
                      <a:round/>
                      <a:headEnd type="none" w="med" len="med"/>
                      <a:tailEnd type="none" w="med" len="med"/>
                    </a:lnB>
                    <a:solidFill>
                      <a:srgbClr val="0B3041"/>
                    </a:solidFill>
                  </a:tcPr>
                </a:tc>
                <a:extLst>
                  <a:ext uri="{0D108BD9-81ED-4DB2-BD59-A6C34878D82A}">
                    <a16:rowId xmlns:a16="http://schemas.microsoft.com/office/drawing/2014/main" val="4005627689"/>
                  </a:ext>
                </a:extLst>
              </a:tr>
              <a:tr h="217658">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建物附属設備</a:t>
                      </a:r>
                    </a:p>
                  </a:txBody>
                  <a:tcPr marL="6986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パーテション一式</a:t>
                      </a:r>
                    </a:p>
                  </a:txBody>
                  <a:tcPr marL="6986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ct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定額法</a:t>
                      </a:r>
                    </a:p>
                  </a:txBody>
                  <a:tcPr marL="6986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2022年</a:t>
                      </a:r>
                    </a:p>
                  </a:txBody>
                  <a:tcPr marL="0" marR="6986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1</a:t>
                      </a:r>
                    </a:p>
                  </a:txBody>
                  <a:tcPr marL="0" marR="6986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15</a:t>
                      </a:r>
                    </a:p>
                  </a:txBody>
                  <a:tcPr marL="0" marR="6986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965</a:t>
                      </a:r>
                    </a:p>
                  </a:txBody>
                  <a:tcPr marL="0" marR="6986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701</a:t>
                      </a:r>
                    </a:p>
                  </a:txBody>
                  <a:tcPr marL="0" marR="6986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6986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2407384312"/>
                  </a:ext>
                </a:extLst>
              </a:tr>
              <a:tr h="217658">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a:t>
                      </a:r>
                    </a:p>
                  </a:txBody>
                  <a:tcPr marL="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E3E7E9"/>
                    </a:solid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車両運搬具</a:t>
                      </a:r>
                    </a:p>
                  </a:txBody>
                  <a:tcPr marL="6986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レクサス RXHV</a:t>
                      </a:r>
                    </a:p>
                  </a:txBody>
                  <a:tcPr marL="6986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定率法</a:t>
                      </a:r>
                    </a:p>
                  </a:txBody>
                  <a:tcPr marL="6986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2019年</a:t>
                      </a:r>
                    </a:p>
                  </a:txBody>
                  <a:tcPr marL="0" marR="6986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10</a:t>
                      </a:r>
                    </a:p>
                  </a:txBody>
                  <a:tcPr marL="0" marR="6986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a:t>
                      </a:r>
                    </a:p>
                  </a:txBody>
                  <a:tcPr marL="0" marR="6986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5,364</a:t>
                      </a:r>
                    </a:p>
                  </a:txBody>
                  <a:tcPr marL="0" marR="6986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0</a:t>
                      </a:r>
                    </a:p>
                  </a:txBody>
                  <a:tcPr marL="0" marR="6986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要確認。（私用車の可能性あり）</a:t>
                      </a:r>
                    </a:p>
                  </a:txBody>
                  <a:tcPr marL="69862" marR="0" marT="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4101804438"/>
                  </a:ext>
                </a:extLst>
              </a:tr>
              <a:tr h="217658">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3</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車両運搬具</a:t>
                      </a:r>
                    </a:p>
                  </a:txBody>
                  <a:tcPr marL="6986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FREED HYBRID FF</a:t>
                      </a:r>
                    </a:p>
                  </a:txBody>
                  <a:tcPr marL="6986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ct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定率法</a:t>
                      </a:r>
                    </a:p>
                  </a:txBody>
                  <a:tcPr marL="6986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2021年</a:t>
                      </a:r>
                    </a:p>
                  </a:txBody>
                  <a:tcPr marL="0" marR="6986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1</a:t>
                      </a:r>
                    </a:p>
                  </a:txBody>
                  <a:tcPr marL="0" marR="6986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6</a:t>
                      </a:r>
                    </a:p>
                  </a:txBody>
                  <a:tcPr marL="0" marR="6986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2,765</a:t>
                      </a:r>
                    </a:p>
                  </a:txBody>
                  <a:tcPr marL="0" marR="6986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265</a:t>
                      </a:r>
                    </a:p>
                  </a:txBody>
                  <a:tcPr marL="0" marR="6986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要確認。（私用車の可能性あり）</a:t>
                      </a:r>
                    </a:p>
                  </a:txBody>
                  <a:tcPr marL="69862" marR="0" marT="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3659830956"/>
                  </a:ext>
                </a:extLst>
              </a:tr>
              <a:tr h="217658">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4</a:t>
                      </a:r>
                    </a:p>
                  </a:txBody>
                  <a:tcPr marL="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E3E7E9"/>
                    </a:solid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工具器具備品</a:t>
                      </a:r>
                    </a:p>
                  </a:txBody>
                  <a:tcPr marL="6986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サーバー Alrit5</a:t>
                      </a:r>
                    </a:p>
                  </a:txBody>
                  <a:tcPr marL="6986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定率法</a:t>
                      </a:r>
                    </a:p>
                  </a:txBody>
                  <a:tcPr marL="6986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2022年</a:t>
                      </a:r>
                    </a:p>
                  </a:txBody>
                  <a:tcPr marL="0" marR="6986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a:t>
                      </a:r>
                    </a:p>
                  </a:txBody>
                  <a:tcPr marL="0" marR="6986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5</a:t>
                      </a:r>
                    </a:p>
                  </a:txBody>
                  <a:tcPr marL="0" marR="6986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872</a:t>
                      </a:r>
                    </a:p>
                  </a:txBody>
                  <a:tcPr marL="0" marR="6986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91</a:t>
                      </a:r>
                    </a:p>
                  </a:txBody>
                  <a:tcPr marL="0" marR="6986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69862" marR="0" marT="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133187727"/>
                  </a:ext>
                </a:extLst>
              </a:tr>
              <a:tr h="217658">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5</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ソフトウェア</a:t>
                      </a:r>
                    </a:p>
                  </a:txBody>
                  <a:tcPr marL="6986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CAUL RX販売仕入在庫システム</a:t>
                      </a:r>
                    </a:p>
                  </a:txBody>
                  <a:tcPr marL="6986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定額法</a:t>
                      </a:r>
                    </a:p>
                  </a:txBody>
                  <a:tcPr marL="6986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2024年</a:t>
                      </a:r>
                    </a:p>
                  </a:txBody>
                  <a:tcPr marL="0" marR="6986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10</a:t>
                      </a:r>
                    </a:p>
                  </a:txBody>
                  <a:tcPr marL="0" marR="6986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5</a:t>
                      </a:r>
                    </a:p>
                  </a:txBody>
                  <a:tcPr marL="0" marR="6986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2,737</a:t>
                      </a:r>
                    </a:p>
                  </a:txBody>
                  <a:tcPr marL="0" marR="6986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2,007</a:t>
                      </a:r>
                    </a:p>
                  </a:txBody>
                  <a:tcPr marL="0" marR="6986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69862" marR="0" marT="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2043808689"/>
                  </a:ext>
                </a:extLst>
              </a:tr>
              <a:tr h="217658">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6</a:t>
                      </a:r>
                    </a:p>
                  </a:txBody>
                  <a:tcPr marL="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ソフトウェア</a:t>
                      </a:r>
                    </a:p>
                  </a:txBody>
                  <a:tcPr marL="6986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弥生会計24プロフェッショナル</a:t>
                      </a:r>
                    </a:p>
                  </a:txBody>
                  <a:tcPr marL="6986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ct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定額法</a:t>
                      </a:r>
                    </a:p>
                  </a:txBody>
                  <a:tcPr marL="6986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2024年</a:t>
                      </a:r>
                    </a:p>
                  </a:txBody>
                  <a:tcPr marL="0" marR="6986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10</a:t>
                      </a:r>
                    </a:p>
                  </a:txBody>
                  <a:tcPr marL="0" marR="6986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5</a:t>
                      </a:r>
                    </a:p>
                  </a:txBody>
                  <a:tcPr marL="0" marR="6986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143</a:t>
                      </a:r>
                    </a:p>
                  </a:txBody>
                  <a:tcPr marL="0" marR="6986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105</a:t>
                      </a:r>
                    </a:p>
                  </a:txBody>
                  <a:tcPr marL="0" marR="6986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69862" marR="0" marT="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3939620264"/>
                  </a:ext>
                </a:extLst>
              </a:tr>
            </a:tbl>
          </a:graphicData>
        </a:graphic>
      </p:graphicFrame>
      <p:sp>
        <p:nvSpPr>
          <p:cNvPr id="5" name="TextBox 14">
            <a:extLst>
              <a:ext uri="{FF2B5EF4-FFF2-40B4-BE49-F238E27FC236}">
                <a16:creationId xmlns:a16="http://schemas.microsoft.com/office/drawing/2014/main" id="{6133161D-3B52-88A0-BA62-FC46CFD13F20}"/>
              </a:ext>
            </a:extLst>
          </p:cNvPr>
          <p:cNvSpPr txBox="1"/>
          <p:nvPr/>
        </p:nvSpPr>
        <p:spPr>
          <a:xfrm>
            <a:off x="6519900" y="1731020"/>
            <a:ext cx="1662075" cy="215444"/>
          </a:xfrm>
          <a:prstGeom prst="rect">
            <a:avLst/>
          </a:prstGeom>
          <a:noFill/>
        </p:spPr>
        <p:txBody>
          <a:bodyPr wrap="square">
            <a:spAutoFit/>
          </a:bodyPr>
          <a:lstStyle/>
          <a:p>
            <a:pPr algn="r"/>
            <a:r>
              <a:rPr lang="ja-JP" altLang="en-US" sz="800" dirty="0">
                <a:solidFill>
                  <a:sysClr val="windowText" lastClr="000000"/>
                </a:solidFill>
                <a:latin typeface="游ゴシック"/>
                <a:ea typeface="游ゴシック"/>
              </a:rPr>
              <a:t>（単位：千円）</a:t>
            </a:r>
            <a:endParaRPr sz="800" dirty="0">
              <a:solidFill>
                <a:sysClr val="windowText" lastClr="000000"/>
              </a:solidFill>
              <a:latin typeface="游ゴシック"/>
              <a:ea typeface="游ゴシック"/>
            </a:endParaRPr>
          </a:p>
        </p:txBody>
      </p:sp>
    </p:spTree>
    <p:extLst>
      <p:ext uri="{BB962C8B-B14F-4D97-AF65-F5344CB8AC3E}">
        <p14:creationId xmlns:p14="http://schemas.microsoft.com/office/powerpoint/2010/main" val="9155409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17F8BB-F852-9D0D-47DC-B75AAADC3F2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2D80B5D-88ED-D63E-E6F8-E5830356F6CE}"/>
              </a:ext>
            </a:extLst>
          </p:cNvPr>
          <p:cNvSpPr>
            <a:spLocks noGrp="1"/>
          </p:cNvSpPr>
          <p:nvPr>
            <p:ph type="title"/>
          </p:nvPr>
        </p:nvSpPr>
        <p:spPr>
          <a:xfrm>
            <a:off x="989013" y="3656161"/>
            <a:ext cx="9221787" cy="615553"/>
          </a:xfrm>
        </p:spPr>
        <p:txBody>
          <a:bodyPr/>
          <a:lstStyle/>
          <a:p>
            <a:r>
              <a:rPr lang="ja-JP" altLang="en-US" dirty="0"/>
              <a:t>財務情報詳細</a:t>
            </a:r>
            <a:endParaRPr lang="en-US" altLang="ja-JP" dirty="0"/>
          </a:p>
        </p:txBody>
      </p:sp>
      <p:pic>
        <p:nvPicPr>
          <p:cNvPr id="7" name="図 6">
            <a:extLst>
              <a:ext uri="{FF2B5EF4-FFF2-40B4-BE49-F238E27FC236}">
                <a16:creationId xmlns:a16="http://schemas.microsoft.com/office/drawing/2014/main" id="{8C09C92A-09D2-050E-A69D-9DE4E20EEFE4}"/>
              </a:ext>
            </a:extLst>
          </p:cNvPr>
          <p:cNvPicPr>
            <a:picLocks noChangeAspect="1"/>
          </p:cNvPicPr>
          <p:nvPr/>
        </p:nvPicPr>
        <p:blipFill>
          <a:blip/>
          <a:stretch>
            <a:fillRect/>
          </a:stretch>
        </p:blipFill>
        <p:spPr>
          <a:xfrm>
            <a:off x="7776467" y="3981785"/>
            <a:ext cx="21" cy="20"/>
          </a:xfrm>
          <a:prstGeom prst="rect">
            <a:avLst/>
          </a:prstGeom>
        </p:spPr>
      </p:pic>
      <p:pic>
        <p:nvPicPr>
          <p:cNvPr id="9" name="図 8">
            <a:extLst>
              <a:ext uri="{FF2B5EF4-FFF2-40B4-BE49-F238E27FC236}">
                <a16:creationId xmlns:a16="http://schemas.microsoft.com/office/drawing/2014/main" id="{A963349D-952A-7D05-26B2-AC270183F230}"/>
              </a:ext>
            </a:extLst>
          </p:cNvPr>
          <p:cNvPicPr>
            <a:picLocks noChangeAspect="1"/>
          </p:cNvPicPr>
          <p:nvPr/>
        </p:nvPicPr>
        <p:blipFill>
          <a:blip/>
          <a:stretch>
            <a:fillRect/>
          </a:stretch>
        </p:blipFill>
        <p:spPr>
          <a:xfrm>
            <a:off x="7776467" y="3981785"/>
            <a:ext cx="21" cy="20"/>
          </a:xfrm>
          <a:prstGeom prst="rect">
            <a:avLst/>
          </a:prstGeom>
        </p:spPr>
      </p:pic>
    </p:spTree>
    <p:extLst>
      <p:ext uri="{BB962C8B-B14F-4D97-AF65-F5344CB8AC3E}">
        <p14:creationId xmlns:p14="http://schemas.microsoft.com/office/powerpoint/2010/main" val="15844496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B347B-E74F-2AA1-D695-C8F2C57E0D27}"/>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8AB158FB-2AD5-0994-A1DD-08907F35E57B}"/>
              </a:ext>
            </a:extLst>
          </p:cNvPr>
          <p:cNvSpPr>
            <a:spLocks noGrp="1"/>
          </p:cNvSpPr>
          <p:nvPr>
            <p:ph type="ctrTitle"/>
          </p:nvPr>
        </p:nvSpPr>
        <p:spPr>
          <a:xfrm>
            <a:off x="311150" y="180296"/>
            <a:ext cx="7799917" cy="339267"/>
          </a:xfrm>
        </p:spPr>
        <p:txBody>
          <a:bodyPr>
            <a:normAutofit/>
          </a:bodyPr>
          <a:lstStyle/>
          <a:p>
            <a:r>
              <a:rPr lang="ja-JP" altLang="en-US" dirty="0"/>
              <a:t>貸借対照表</a:t>
            </a:r>
          </a:p>
        </p:txBody>
      </p:sp>
      <p:sp>
        <p:nvSpPr>
          <p:cNvPr id="5" name="タイトル 1">
            <a:extLst>
              <a:ext uri="{FF2B5EF4-FFF2-40B4-BE49-F238E27FC236}">
                <a16:creationId xmlns:a16="http://schemas.microsoft.com/office/drawing/2014/main" id="{CB37C797-A02B-4ADD-85CA-EEB0AC88114E}"/>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財務情報詳細</a:t>
            </a:r>
          </a:p>
        </p:txBody>
      </p:sp>
      <p:sp>
        <p:nvSpPr>
          <p:cNvPr id="4" name="字幕 13">
            <a:extLst>
              <a:ext uri="{FF2B5EF4-FFF2-40B4-BE49-F238E27FC236}">
                <a16:creationId xmlns:a16="http://schemas.microsoft.com/office/drawing/2014/main" id="{9FB86E35-A8A4-6E80-826F-9FF288E82A13}"/>
              </a:ext>
            </a:extLst>
          </p:cNvPr>
          <p:cNvSpPr>
            <a:spLocks noGrp="1"/>
          </p:cNvSpPr>
          <p:nvPr>
            <p:ph type="subTitle" idx="1"/>
          </p:nvPr>
        </p:nvSpPr>
        <p:spPr>
          <a:xfrm>
            <a:off x="460675" y="830046"/>
            <a:ext cx="9781875" cy="241861"/>
          </a:xfrm>
        </p:spPr>
        <p:txBody>
          <a:bodyPr>
            <a:noAutofit/>
          </a:bodyPr>
          <a:lstStyle/>
          <a:p>
            <a:r>
              <a:rPr dirty="0">
                <a:latin typeface="+mj-ea"/>
                <a:ea typeface="+mj-ea"/>
              </a:rPr>
              <a:t>3期を通じて自己資本を着実に積み上げ、</a:t>
            </a:r>
            <a:r>
              <a:rPr lang="en-US" dirty="0">
                <a:latin typeface="+mj-ea"/>
                <a:ea typeface="+mj-ea"/>
              </a:rPr>
              <a:t>2026</a:t>
            </a:r>
            <a:r>
              <a:rPr dirty="0">
                <a:latin typeface="+mj-ea"/>
                <a:ea typeface="+mj-ea"/>
              </a:rPr>
              <a:t>年1月期の純資産は</a:t>
            </a:r>
            <a:r>
              <a:rPr lang="en-US" altLang="ja-JP" dirty="0"/>
              <a:t>333,536</a:t>
            </a:r>
            <a:r>
              <a:rPr lang="ja-JP" altLang="en-US" dirty="0"/>
              <a:t>千円</a:t>
            </a:r>
            <a:r>
              <a:rPr dirty="0">
                <a:latin typeface="+mj-ea"/>
                <a:ea typeface="+mj-ea"/>
              </a:rPr>
              <a:t>、自己資本比率60.6%。</a:t>
            </a:r>
            <a:r>
              <a:rPr dirty="0" err="1">
                <a:latin typeface="+mj-ea"/>
                <a:ea typeface="+mj-ea"/>
              </a:rPr>
              <a:t>現預金・投資有価証券等の金融資産を潤沢に保有</a:t>
            </a:r>
            <a:r>
              <a:rPr dirty="0">
                <a:latin typeface="+mj-ea"/>
                <a:ea typeface="+mj-ea"/>
              </a:rPr>
              <a:t>。</a:t>
            </a:r>
            <a:endParaRPr lang="en-US" altLang="ja-JP" dirty="0"/>
          </a:p>
        </p:txBody>
      </p:sp>
      <p:graphicFrame>
        <p:nvGraphicFramePr>
          <p:cNvPr id="3" name="表 2">
            <a:extLst>
              <a:ext uri="{FF2B5EF4-FFF2-40B4-BE49-F238E27FC236}">
                <a16:creationId xmlns:a16="http://schemas.microsoft.com/office/drawing/2014/main" id="{ED3FFCF2-01D6-D5D2-B115-DDDAF997F296}"/>
              </a:ext>
            </a:extLst>
          </p:cNvPr>
          <p:cNvGraphicFramePr>
            <a:graphicFrameLocks noGrp="1"/>
          </p:cNvGraphicFramePr>
          <p:nvPr>
            <p:extLst>
              <p:ext uri="{D42A27DB-BD31-4B8C-83A1-F6EECF244321}">
                <p14:modId xmlns:p14="http://schemas.microsoft.com/office/powerpoint/2010/main" val="3353666852"/>
              </p:ext>
            </p:extLst>
          </p:nvPr>
        </p:nvGraphicFramePr>
        <p:xfrm>
          <a:off x="341313" y="1465130"/>
          <a:ext cx="5003801" cy="5502875"/>
        </p:xfrm>
        <a:graphic>
          <a:graphicData uri="http://schemas.openxmlformats.org/drawingml/2006/table">
            <a:tbl>
              <a:tblPr/>
              <a:tblGrid>
                <a:gridCol w="1730183">
                  <a:extLst>
                    <a:ext uri="{9D8B030D-6E8A-4147-A177-3AD203B41FA5}">
                      <a16:colId xmlns:a16="http://schemas.microsoft.com/office/drawing/2014/main" val="822254377"/>
                    </a:ext>
                  </a:extLst>
                </a:gridCol>
                <a:gridCol w="1091206">
                  <a:extLst>
                    <a:ext uri="{9D8B030D-6E8A-4147-A177-3AD203B41FA5}">
                      <a16:colId xmlns:a16="http://schemas.microsoft.com/office/drawing/2014/main" val="3061090460"/>
                    </a:ext>
                  </a:extLst>
                </a:gridCol>
                <a:gridCol w="1091206">
                  <a:extLst>
                    <a:ext uri="{9D8B030D-6E8A-4147-A177-3AD203B41FA5}">
                      <a16:colId xmlns:a16="http://schemas.microsoft.com/office/drawing/2014/main" val="2032412681"/>
                    </a:ext>
                  </a:extLst>
                </a:gridCol>
                <a:gridCol w="1091206">
                  <a:extLst>
                    <a:ext uri="{9D8B030D-6E8A-4147-A177-3AD203B41FA5}">
                      <a16:colId xmlns:a16="http://schemas.microsoft.com/office/drawing/2014/main" val="1235492032"/>
                    </a:ext>
                  </a:extLst>
                </a:gridCol>
              </a:tblGrid>
              <a:tr h="182436">
                <a:tc gridSpan="4">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資産の部</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extLst>
                  <a:ext uri="{0D108BD9-81ED-4DB2-BD59-A6C34878D82A}">
                    <a16:rowId xmlns:a16="http://schemas.microsoft.com/office/drawing/2014/main" val="945198501"/>
                  </a:ext>
                </a:extLst>
              </a:tr>
              <a:tr h="259235">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科目</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2024</a:t>
                      </a: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年1月期</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2025</a:t>
                      </a: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年1月期</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2026</a:t>
                      </a: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年1月期</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extLst>
                  <a:ext uri="{0D108BD9-81ED-4DB2-BD59-A6C34878D82A}">
                    <a16:rowId xmlns:a16="http://schemas.microsoft.com/office/drawing/2014/main" val="1002658859"/>
                  </a:ext>
                </a:extLst>
              </a:tr>
              <a:tr h="187452">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【流動資産】</a:t>
                      </a:r>
                    </a:p>
                  </a:txBody>
                  <a:tcPr marL="47961"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353,922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309,100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226,144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517171900"/>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現金及び預金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260,204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241,196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193,226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売掛金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80,309</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dirty="0">
                          <a:solidFill>
                            <a:srgbClr val="000000"/>
                          </a:solidFill>
                          <a:effectLst/>
                          <a:latin typeface="Arial" panose="020B0604020202020204" pitchFamily="34" charset="0"/>
                          <a:ea typeface="游ゴシック Medium" panose="020B0500000000000000" pitchFamily="50" charset="-128"/>
                        </a:rPr>
                        <a:t>24,606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20,153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1998482848"/>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貸倒引当金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△803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△246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△201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2854017975"/>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商品</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1,377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23,574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205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908200699"/>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証紙</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49</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9,771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1873541936"/>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前渡金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5,809</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4,572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12,055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2330036377"/>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立替金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79</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811275615"/>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前払費用</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621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806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640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1699504235"/>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未収入金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3,228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4,742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1271752858"/>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仮払税</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3,127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1336291713"/>
                  </a:ext>
                </a:extLst>
              </a:tr>
              <a:tr h="187452">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【固定資産】</a:t>
                      </a:r>
                    </a:p>
                  </a:txBody>
                  <a:tcPr marL="47961"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140,739</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228,973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323,863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967207914"/>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［有形固定資産］</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1,932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1,479</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1,057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4275347410"/>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建物附属設備</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830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766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701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2031654729"/>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車両運搬具</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798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531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265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3931677643"/>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工具器具備品</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304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182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2298557955"/>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［無形固定資産］</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2,688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2,112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492726401"/>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ソフトウェア</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2,688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2,112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2459718857"/>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［投資その他資産］</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138,808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224,806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320,694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359450168"/>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投資有価証券</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112,672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188,090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dirty="0">
                          <a:solidFill>
                            <a:srgbClr val="000000"/>
                          </a:solidFill>
                          <a:effectLst/>
                          <a:latin typeface="Arial" panose="020B0604020202020204" pitchFamily="34" charset="0"/>
                          <a:ea typeface="游ゴシック Medium" panose="020B0500000000000000" pitchFamily="50" charset="-128"/>
                        </a:rPr>
                        <a:t>275,896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4196887844"/>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出資金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47910125"/>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敷金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2805101661"/>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差入保証金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1,264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1,264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1,264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2251728011"/>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預託金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2086771708"/>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保険積立金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24,767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35,347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43,327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3337677392"/>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長期前払費用</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182630149"/>
                  </a:ext>
                </a:extLst>
              </a:tr>
              <a:tr h="187452">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資産合計</a:t>
                      </a:r>
                    </a:p>
                  </a:txBody>
                  <a:tcPr marL="47961"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494,662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dirty="0">
                          <a:solidFill>
                            <a:srgbClr val="000000"/>
                          </a:solidFill>
                          <a:effectLst/>
                          <a:latin typeface="Arial" panose="020B0604020202020204" pitchFamily="34" charset="0"/>
                          <a:ea typeface="游ゴシック Medium" panose="020B0500000000000000" pitchFamily="50" charset="-128"/>
                        </a:rPr>
                        <a:t>538,073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dirty="0">
                          <a:solidFill>
                            <a:srgbClr val="000000"/>
                          </a:solidFill>
                          <a:effectLst/>
                          <a:latin typeface="Arial" panose="020B0604020202020204" pitchFamily="34" charset="0"/>
                          <a:ea typeface="游ゴシック Medium" panose="020B0500000000000000" pitchFamily="50" charset="-128"/>
                        </a:rPr>
                        <a:t>550,008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418816421"/>
                  </a:ext>
                </a:extLst>
              </a:tr>
            </a:tbl>
          </a:graphicData>
        </a:graphic>
      </p:graphicFrame>
      <p:graphicFrame>
        <p:nvGraphicFramePr>
          <p:cNvPr id="9" name="表 8">
            <a:extLst>
              <a:ext uri="{FF2B5EF4-FFF2-40B4-BE49-F238E27FC236}">
                <a16:creationId xmlns:a16="http://schemas.microsoft.com/office/drawing/2014/main" id="{B8B8034E-CCA0-199B-5D45-A95747C20662}"/>
              </a:ext>
            </a:extLst>
          </p:cNvPr>
          <p:cNvGraphicFramePr>
            <a:graphicFrameLocks noGrp="1"/>
          </p:cNvGraphicFramePr>
          <p:nvPr>
            <p:extLst>
              <p:ext uri="{D42A27DB-BD31-4B8C-83A1-F6EECF244321}">
                <p14:modId xmlns:p14="http://schemas.microsoft.com/office/powerpoint/2010/main" val="125833566"/>
              </p:ext>
            </p:extLst>
          </p:nvPr>
        </p:nvGraphicFramePr>
        <p:xfrm>
          <a:off x="5345114" y="1465133"/>
          <a:ext cx="5005387" cy="2463588"/>
        </p:xfrm>
        <a:graphic>
          <a:graphicData uri="http://schemas.openxmlformats.org/drawingml/2006/table">
            <a:tbl>
              <a:tblPr/>
              <a:tblGrid>
                <a:gridCol w="1730731">
                  <a:extLst>
                    <a:ext uri="{9D8B030D-6E8A-4147-A177-3AD203B41FA5}">
                      <a16:colId xmlns:a16="http://schemas.microsoft.com/office/drawing/2014/main" val="140435893"/>
                    </a:ext>
                  </a:extLst>
                </a:gridCol>
                <a:gridCol w="1091552">
                  <a:extLst>
                    <a:ext uri="{9D8B030D-6E8A-4147-A177-3AD203B41FA5}">
                      <a16:colId xmlns:a16="http://schemas.microsoft.com/office/drawing/2014/main" val="1469753659"/>
                    </a:ext>
                  </a:extLst>
                </a:gridCol>
                <a:gridCol w="1091552">
                  <a:extLst>
                    <a:ext uri="{9D8B030D-6E8A-4147-A177-3AD203B41FA5}">
                      <a16:colId xmlns:a16="http://schemas.microsoft.com/office/drawing/2014/main" val="80575429"/>
                    </a:ext>
                  </a:extLst>
                </a:gridCol>
                <a:gridCol w="1091552">
                  <a:extLst>
                    <a:ext uri="{9D8B030D-6E8A-4147-A177-3AD203B41FA5}">
                      <a16:colId xmlns:a16="http://schemas.microsoft.com/office/drawing/2014/main" val="2683263371"/>
                    </a:ext>
                  </a:extLst>
                </a:gridCol>
              </a:tblGrid>
              <a:tr h="182052">
                <a:tc gridSpan="4">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負債の部</a:t>
                      </a:r>
                    </a:p>
                  </a:txBody>
                  <a:tcPr marL="6350" marR="6350" marT="635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extLst>
                  <a:ext uri="{0D108BD9-81ED-4DB2-BD59-A6C34878D82A}">
                    <a16:rowId xmlns:a16="http://schemas.microsoft.com/office/drawing/2014/main" val="3333780944"/>
                  </a:ext>
                </a:extLst>
              </a:tr>
              <a:tr h="269856">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科目</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2024</a:t>
                      </a: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年1月期</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2025</a:t>
                      </a: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年1月期</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2026</a:t>
                      </a: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年1月期</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extLst>
                  <a:ext uri="{0D108BD9-81ED-4DB2-BD59-A6C34878D82A}">
                    <a16:rowId xmlns:a16="http://schemas.microsoft.com/office/drawing/2014/main" val="3028628170"/>
                  </a:ext>
                </a:extLst>
              </a:tr>
              <a:tr h="182880">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【流動負債】</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47,624</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106,163</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70,492</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495575895"/>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買掛金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42,759</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51,251</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9,645</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71247136"/>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未払金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3,912</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5,447</a:t>
                      </a:r>
                    </a:p>
                  </a:txBody>
                  <a:tcPr marL="6350" marR="114300" marT="6350" marB="0" anchor="ctr">
                    <a:lnL>
                      <a:noFill/>
                    </a:lnL>
                    <a:lnR>
                      <a:noFill/>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3,947</a:t>
                      </a:r>
                    </a:p>
                  </a:txBody>
                  <a:tcPr marL="6350" marR="114300" marT="6350" marB="0" anchor="ctr">
                    <a:lnL>
                      <a:noFill/>
                    </a:lnL>
                    <a:lnR>
                      <a:noFill/>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1335660813"/>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未払法人税等</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35</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19,455</a:t>
                      </a:r>
                    </a:p>
                  </a:txBody>
                  <a:tcPr marL="6350" marR="114300" marT="6350" marB="0" anchor="ctr">
                    <a:lnL>
                      <a:noFill/>
                    </a:lnL>
                    <a:lnR>
                      <a:noFill/>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2,930</a:t>
                      </a:r>
                    </a:p>
                  </a:txBody>
                  <a:tcPr marL="6350" marR="114300" marT="6350" marB="0" anchor="ctr">
                    <a:lnL>
                      <a:noFill/>
                    </a:lnL>
                    <a:lnR>
                      <a:noFill/>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2172560937"/>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未払消費税等</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a:noFill/>
                    </a:lnL>
                    <a:lnR>
                      <a:noFill/>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12,018</a:t>
                      </a:r>
                    </a:p>
                  </a:txBody>
                  <a:tcPr marL="6350" marR="114300" marT="6350" marB="0" anchor="ctr">
                    <a:lnL>
                      <a:noFill/>
                    </a:lnL>
                    <a:lnR>
                      <a:noFill/>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4040364828"/>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預り金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918</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154</a:t>
                      </a:r>
                    </a:p>
                  </a:txBody>
                  <a:tcPr marL="6350" marR="114300" marT="6350" marB="0" anchor="ctr">
                    <a:lnL>
                      <a:noFill/>
                    </a:lnL>
                    <a:lnR>
                      <a:noFill/>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125</a:t>
                      </a:r>
                    </a:p>
                  </a:txBody>
                  <a:tcPr marL="6350" marR="114300" marT="6350" marB="0" anchor="ctr">
                    <a:lnL>
                      <a:noFill/>
                    </a:lnL>
                    <a:lnR>
                      <a:noFill/>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3571563023"/>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仮受金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228</a:t>
                      </a:r>
                    </a:p>
                  </a:txBody>
                  <a:tcPr marL="6350" marR="114300" marT="6350" marB="0" anchor="ctr">
                    <a:lnL>
                      <a:noFill/>
                    </a:lnL>
                    <a:lnR>
                      <a:noFill/>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a:noFill/>
                    </a:lnL>
                    <a:lnR>
                      <a:noFill/>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705501223"/>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一年以内返済長期借入金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29,628</a:t>
                      </a:r>
                    </a:p>
                  </a:txBody>
                  <a:tcPr marL="6350" marR="114300" marT="6350" marB="0" anchor="ctr">
                    <a:lnL>
                      <a:noFill/>
                    </a:lnL>
                    <a:lnR>
                      <a:noFill/>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41,828</a:t>
                      </a:r>
                    </a:p>
                  </a:txBody>
                  <a:tcPr marL="6350" marR="114300" marT="6350" marB="0" anchor="ctr">
                    <a:lnL>
                      <a:noFill/>
                    </a:lnL>
                    <a:lnR>
                      <a:noFill/>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2054729595"/>
                  </a:ext>
                </a:extLst>
              </a:tr>
              <a:tr h="182880">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【固定負債】</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191,690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136,004</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145,980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771867648"/>
                  </a:ext>
                </a:extLst>
              </a:tr>
              <a:tr h="182880">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長期借入金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191,690</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136,004</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145,980</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535161222"/>
                  </a:ext>
                </a:extLst>
              </a:tr>
              <a:tr h="182880">
                <a:tc>
                  <a:txBody>
                    <a:bodyPr/>
                    <a:lstStyle/>
                    <a:p>
                      <a:pPr algn="l" fontAlgn="ctr">
                        <a:buNone/>
                      </a:pPr>
                      <a:r>
                        <a:rPr lang="ja-JP" sz="900" b="1" i="0" u="none" strike="noStrike" dirty="0">
                          <a:solidFill>
                            <a:srgbClr val="000000"/>
                          </a:solidFill>
                          <a:effectLst/>
                          <a:latin typeface="游ゴシック" panose="020B0400000000000000" pitchFamily="50" charset="-128"/>
                          <a:ea typeface="游ゴシック" panose="020B0400000000000000" pitchFamily="50" charset="-128"/>
                        </a:rPr>
                        <a:t>負債合計</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239,314</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242,167</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dirty="0">
                          <a:solidFill>
                            <a:srgbClr val="000000"/>
                          </a:solidFill>
                          <a:effectLst/>
                          <a:latin typeface="Arial" panose="020B0604020202020204" pitchFamily="34" charset="0"/>
                          <a:ea typeface="游ゴシック Medium" panose="020B0500000000000000" pitchFamily="50" charset="-128"/>
                        </a:rPr>
                        <a:t>216,472</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226826700"/>
                  </a:ext>
                </a:extLst>
              </a:tr>
            </a:tbl>
          </a:graphicData>
        </a:graphic>
      </p:graphicFrame>
      <p:graphicFrame>
        <p:nvGraphicFramePr>
          <p:cNvPr id="11" name="表 10">
            <a:extLst>
              <a:ext uri="{FF2B5EF4-FFF2-40B4-BE49-F238E27FC236}">
                <a16:creationId xmlns:a16="http://schemas.microsoft.com/office/drawing/2014/main" id="{B4F2EDCB-2EC3-7053-7613-82493D7F511B}"/>
              </a:ext>
            </a:extLst>
          </p:cNvPr>
          <p:cNvGraphicFramePr>
            <a:graphicFrameLocks noGrp="1"/>
          </p:cNvGraphicFramePr>
          <p:nvPr>
            <p:extLst>
              <p:ext uri="{D42A27DB-BD31-4B8C-83A1-F6EECF244321}">
                <p14:modId xmlns:p14="http://schemas.microsoft.com/office/powerpoint/2010/main" val="2827332643"/>
              </p:ext>
            </p:extLst>
          </p:nvPr>
        </p:nvGraphicFramePr>
        <p:xfrm>
          <a:off x="5345113" y="5349405"/>
          <a:ext cx="5005387" cy="1618600"/>
        </p:xfrm>
        <a:graphic>
          <a:graphicData uri="http://schemas.openxmlformats.org/drawingml/2006/table">
            <a:tbl>
              <a:tblPr/>
              <a:tblGrid>
                <a:gridCol w="1730731">
                  <a:extLst>
                    <a:ext uri="{9D8B030D-6E8A-4147-A177-3AD203B41FA5}">
                      <a16:colId xmlns:a16="http://schemas.microsoft.com/office/drawing/2014/main" val="4058629608"/>
                    </a:ext>
                  </a:extLst>
                </a:gridCol>
                <a:gridCol w="1091552">
                  <a:extLst>
                    <a:ext uri="{9D8B030D-6E8A-4147-A177-3AD203B41FA5}">
                      <a16:colId xmlns:a16="http://schemas.microsoft.com/office/drawing/2014/main" val="2673297223"/>
                    </a:ext>
                  </a:extLst>
                </a:gridCol>
                <a:gridCol w="1091552">
                  <a:extLst>
                    <a:ext uri="{9D8B030D-6E8A-4147-A177-3AD203B41FA5}">
                      <a16:colId xmlns:a16="http://schemas.microsoft.com/office/drawing/2014/main" val="756661618"/>
                    </a:ext>
                  </a:extLst>
                </a:gridCol>
                <a:gridCol w="1091552">
                  <a:extLst>
                    <a:ext uri="{9D8B030D-6E8A-4147-A177-3AD203B41FA5}">
                      <a16:colId xmlns:a16="http://schemas.microsoft.com/office/drawing/2014/main" val="2152851366"/>
                    </a:ext>
                  </a:extLst>
                </a:gridCol>
              </a:tblGrid>
              <a:tr h="155560">
                <a:tc gridSpan="4">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純資産の部</a:t>
                      </a:r>
                    </a:p>
                  </a:txBody>
                  <a:tcPr marL="6350" marR="6350" marT="635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hMerge="1">
                  <a:txBody>
                    <a:bodyPr/>
                    <a:lstStyle/>
                    <a:p>
                      <a:endParaRPr/>
                    </a:p>
                  </a:txBody>
                  <a:tcPr marL="6350" marR="6350" marT="635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hMerge="1">
                  <a:txBody>
                    <a:bodyPr/>
                    <a:lstStyle/>
                    <a:p>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hMerge="1">
                  <a:txBody>
                    <a:bodyPr/>
                    <a:lstStyle/>
                    <a:p>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extLst>
                  <a:ext uri="{0D108BD9-81ED-4DB2-BD59-A6C34878D82A}">
                    <a16:rowId xmlns:a16="http://schemas.microsoft.com/office/drawing/2014/main" val="916277575"/>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【資本金】</a:t>
                      </a:r>
                    </a:p>
                  </a:txBody>
                  <a:tcPr marL="114300" marR="6350" marT="6350" marB="0" anchor="ctr">
                    <a:lnL w="6350" cap="flat" cmpd="sng" algn="ctr">
                      <a:solidFill>
                        <a:srgbClr val="FFFFFF"/>
                      </a:solidFill>
                      <a:prstDash val="solid"/>
                      <a:round/>
                      <a:headEnd type="none" w="med" len="med"/>
                      <a:tailEnd type="none" w="med" len="med"/>
                    </a:lnL>
                    <a:lnR>
                      <a:noFill/>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10,000</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077243336"/>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資本金</a:t>
                      </a:r>
                    </a:p>
                  </a:txBody>
                  <a:tcPr marL="114300" marR="635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10,000</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257197366"/>
                  </a:ext>
                </a:extLst>
              </a:tr>
              <a:tr h="182880">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【資本剰余金】</a:t>
                      </a:r>
                    </a:p>
                  </a:txBody>
                  <a:tcPr marL="114300" marR="635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436613783"/>
                  </a:ext>
                </a:extLst>
              </a:tr>
              <a:tr h="182880">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【利益剰余金】</a:t>
                      </a:r>
                    </a:p>
                  </a:txBody>
                  <a:tcPr marL="114300" marR="635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245,348</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285,906</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323,536</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892858161"/>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繰越利益剰余金</a:t>
                      </a:r>
                    </a:p>
                  </a:txBody>
                  <a:tcPr marL="114300" marR="635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245,348</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285,906</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323,536</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32715751"/>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【自己株式】</a:t>
                      </a:r>
                    </a:p>
                  </a:txBody>
                  <a:tcPr marL="114300" marR="635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498219748"/>
                  </a:ext>
                </a:extLst>
              </a:tr>
              <a:tr h="182880">
                <a:tc>
                  <a:txBody>
                    <a:bodyPr/>
                    <a:lstStyle/>
                    <a:p>
                      <a:pPr algn="l"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純資産合計</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r" fontAlgn="ctr">
                        <a:buNone/>
                      </a:pPr>
                      <a:r>
                        <a:rPr lang="ja-JP" sz="900" b="1" i="0" u="none" strike="noStrike">
                          <a:solidFill>
                            <a:srgbClr val="FFFFFF"/>
                          </a:solidFill>
                          <a:effectLst/>
                          <a:latin typeface="Arial" panose="020B0604020202020204" pitchFamily="34" charset="0"/>
                          <a:ea typeface="游ゴシック Medium" panose="020B0500000000000000" pitchFamily="50" charset="-128"/>
                        </a:rPr>
                        <a:t>255,348</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r" fontAlgn="ctr">
                        <a:buNone/>
                      </a:pPr>
                      <a:r>
                        <a:rPr lang="ja-JP" sz="900" b="1" i="0" u="none" strike="noStrike">
                          <a:solidFill>
                            <a:srgbClr val="FFFFFF"/>
                          </a:solidFill>
                          <a:effectLst/>
                          <a:latin typeface="Arial" panose="020B0604020202020204" pitchFamily="34" charset="0"/>
                          <a:ea typeface="游ゴシック Medium" panose="020B0500000000000000" pitchFamily="50" charset="-128"/>
                        </a:rPr>
                        <a:t>295,906</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r" fontAlgn="ctr">
                        <a:buNone/>
                      </a:pPr>
                      <a:r>
                        <a:rPr lang="ja-JP" sz="900" b="1" i="0" u="none" strike="noStrike">
                          <a:solidFill>
                            <a:srgbClr val="FFFFFF"/>
                          </a:solidFill>
                          <a:effectLst/>
                          <a:latin typeface="Arial" panose="020B0604020202020204" pitchFamily="34" charset="0"/>
                          <a:ea typeface="游ゴシック Medium" panose="020B0500000000000000" pitchFamily="50" charset="-128"/>
                        </a:rPr>
                        <a:t>333,536</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extLst>
                  <a:ext uri="{0D108BD9-81ED-4DB2-BD59-A6C34878D82A}">
                    <a16:rowId xmlns:a16="http://schemas.microsoft.com/office/drawing/2014/main" val="79988555"/>
                  </a:ext>
                </a:extLst>
              </a:tr>
              <a:tr h="182880">
                <a:tc>
                  <a:txBody>
                    <a:bodyPr/>
                    <a:lstStyle/>
                    <a:p>
                      <a:pPr algn="l"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負債・純資産合計</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r" fontAlgn="ctr">
                        <a:buNone/>
                      </a:pPr>
                      <a:r>
                        <a:rPr lang="ja-JP" sz="900" b="1" i="0" u="none" strike="noStrike">
                          <a:solidFill>
                            <a:srgbClr val="FFFFFF"/>
                          </a:solidFill>
                          <a:effectLst/>
                          <a:latin typeface="Arial" panose="020B0604020202020204" pitchFamily="34" charset="0"/>
                          <a:ea typeface="游ゴシック Medium" panose="020B0500000000000000" pitchFamily="50" charset="-128"/>
                        </a:rPr>
                        <a:t>494,662</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r" fontAlgn="ctr">
                        <a:buNone/>
                      </a:pPr>
                      <a:r>
                        <a:rPr lang="ja-JP" sz="900" b="1" i="0" u="none" strike="noStrike">
                          <a:solidFill>
                            <a:srgbClr val="FFFFFF"/>
                          </a:solidFill>
                          <a:effectLst/>
                          <a:latin typeface="Arial" panose="020B0604020202020204" pitchFamily="34" charset="0"/>
                          <a:ea typeface="游ゴシック Medium" panose="020B0500000000000000" pitchFamily="50" charset="-128"/>
                        </a:rPr>
                        <a:t>538,073</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r" fontAlgn="ctr">
                        <a:buNone/>
                      </a:pPr>
                      <a:r>
                        <a:rPr lang="ja-JP" sz="900" b="1" i="0" u="none" strike="noStrike" dirty="0">
                          <a:solidFill>
                            <a:srgbClr val="FFFFFF"/>
                          </a:solidFill>
                          <a:effectLst/>
                          <a:latin typeface="Arial" panose="020B0604020202020204" pitchFamily="34" charset="0"/>
                          <a:ea typeface="游ゴシック Medium" panose="020B0500000000000000" pitchFamily="50" charset="-128"/>
                        </a:rPr>
                        <a:t>550,008</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extLst>
                  <a:ext uri="{0D108BD9-81ED-4DB2-BD59-A6C34878D82A}">
                    <a16:rowId xmlns:a16="http://schemas.microsoft.com/office/drawing/2014/main" val="4189178875"/>
                  </a:ext>
                </a:extLst>
              </a:tr>
            </a:tbl>
          </a:graphicData>
        </a:graphic>
      </p:graphicFrame>
    </p:spTree>
    <p:extLst>
      <p:ext uri="{BB962C8B-B14F-4D97-AF65-F5344CB8AC3E}">
        <p14:creationId xmlns:p14="http://schemas.microsoft.com/office/powerpoint/2010/main" val="28778819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D83D88-B54F-0820-A617-759035C5FFCE}"/>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2C2D39CC-0147-8513-46F0-368EBE22D97C}"/>
              </a:ext>
            </a:extLst>
          </p:cNvPr>
          <p:cNvSpPr>
            <a:spLocks noGrp="1"/>
          </p:cNvSpPr>
          <p:nvPr>
            <p:ph type="ctrTitle"/>
          </p:nvPr>
        </p:nvSpPr>
        <p:spPr>
          <a:xfrm>
            <a:off x="311150" y="180296"/>
            <a:ext cx="7799917" cy="339267"/>
          </a:xfrm>
        </p:spPr>
        <p:txBody>
          <a:bodyPr>
            <a:normAutofit/>
          </a:bodyPr>
          <a:lstStyle/>
          <a:p>
            <a:r>
              <a:rPr lang="ja-JP" altLang="en-US" dirty="0"/>
              <a:t>損益計算書</a:t>
            </a:r>
          </a:p>
        </p:txBody>
      </p:sp>
      <p:sp>
        <p:nvSpPr>
          <p:cNvPr id="5" name="タイトル 1">
            <a:extLst>
              <a:ext uri="{FF2B5EF4-FFF2-40B4-BE49-F238E27FC236}">
                <a16:creationId xmlns:a16="http://schemas.microsoft.com/office/drawing/2014/main" id="{B1382B80-EF7F-718A-0685-302C41A8531B}"/>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財務情報詳細</a:t>
            </a:r>
          </a:p>
        </p:txBody>
      </p:sp>
      <p:sp>
        <p:nvSpPr>
          <p:cNvPr id="4" name="字幕 13">
            <a:extLst>
              <a:ext uri="{FF2B5EF4-FFF2-40B4-BE49-F238E27FC236}">
                <a16:creationId xmlns:a16="http://schemas.microsoft.com/office/drawing/2014/main" id="{C391002A-F61E-39B7-D75D-796D17928C17}"/>
              </a:ext>
            </a:extLst>
          </p:cNvPr>
          <p:cNvSpPr>
            <a:spLocks noGrp="1"/>
          </p:cNvSpPr>
          <p:nvPr>
            <p:ph type="subTitle" idx="1"/>
          </p:nvPr>
        </p:nvSpPr>
        <p:spPr>
          <a:xfrm>
            <a:off x="460675" y="830046"/>
            <a:ext cx="9781875" cy="241861"/>
          </a:xfrm>
        </p:spPr>
        <p:txBody>
          <a:bodyPr>
            <a:noAutofit/>
          </a:bodyPr>
          <a:lstStyle/>
          <a:p>
            <a:r>
              <a:rPr lang="en-US" dirty="0"/>
              <a:t>2025</a:t>
            </a:r>
            <a:r>
              <a:rPr dirty="0">
                <a:latin typeface="+mj-ea"/>
                <a:ea typeface="+mj-ea"/>
              </a:rPr>
              <a:t>年1月期に売上・利益が大きく伸長。</a:t>
            </a:r>
            <a:r>
              <a:rPr lang="en-US" dirty="0">
                <a:latin typeface="+mj-ea"/>
                <a:ea typeface="+mj-ea"/>
              </a:rPr>
              <a:t>2026</a:t>
            </a:r>
            <a:r>
              <a:rPr dirty="0">
                <a:latin typeface="+mj-ea"/>
                <a:ea typeface="+mj-ea"/>
              </a:rPr>
              <a:t>年1月期は売上422</a:t>
            </a:r>
            <a:r>
              <a:rPr lang="en-US" dirty="0"/>
              <a:t>,475</a:t>
            </a:r>
            <a:r>
              <a:rPr lang="ja-JP" altLang="en-US" dirty="0"/>
              <a:t>千</a:t>
            </a:r>
            <a:r>
              <a:rPr dirty="0">
                <a:latin typeface="+mj-ea"/>
                <a:ea typeface="+mj-ea"/>
              </a:rPr>
              <a:t>円・営業利益58</a:t>
            </a:r>
            <a:r>
              <a:rPr lang="en-US" altLang="ja-JP" dirty="0">
                <a:latin typeface="+mj-ea"/>
                <a:ea typeface="+mj-ea"/>
              </a:rPr>
              <a:t>,514</a:t>
            </a:r>
            <a:r>
              <a:rPr lang="ja-JP" altLang="en-US" dirty="0">
                <a:latin typeface="+mj-ea"/>
                <a:ea typeface="+mj-ea"/>
              </a:rPr>
              <a:t>千</a:t>
            </a:r>
            <a:r>
              <a:rPr dirty="0">
                <a:latin typeface="+mj-ea"/>
                <a:ea typeface="+mj-ea"/>
              </a:rPr>
              <a:t>円と高水準を維持し、営業利益率13.9%を確保してい</a:t>
            </a:r>
            <a:r>
              <a:rPr lang="ja-JP" altLang="en-US" dirty="0"/>
              <a:t>る</a:t>
            </a:r>
            <a:r>
              <a:rPr dirty="0">
                <a:latin typeface="+mj-ea"/>
                <a:ea typeface="+mj-ea"/>
              </a:rPr>
              <a:t>。</a:t>
            </a:r>
            <a:endParaRPr lang="en-US" altLang="ja-JP" dirty="0"/>
          </a:p>
        </p:txBody>
      </p:sp>
      <p:graphicFrame>
        <p:nvGraphicFramePr>
          <p:cNvPr id="7" name="表 6">
            <a:extLst>
              <a:ext uri="{FF2B5EF4-FFF2-40B4-BE49-F238E27FC236}">
                <a16:creationId xmlns:a16="http://schemas.microsoft.com/office/drawing/2014/main" id="{84459E27-86F9-B5C8-0AE6-0F47C5BC98E8}"/>
              </a:ext>
            </a:extLst>
          </p:cNvPr>
          <p:cNvGraphicFramePr>
            <a:graphicFrameLocks noGrp="1"/>
          </p:cNvGraphicFramePr>
          <p:nvPr>
            <p:extLst>
              <p:ext uri="{D42A27DB-BD31-4B8C-83A1-F6EECF244321}">
                <p14:modId xmlns:p14="http://schemas.microsoft.com/office/powerpoint/2010/main" val="2931623783"/>
              </p:ext>
            </p:extLst>
          </p:nvPr>
        </p:nvGraphicFramePr>
        <p:xfrm>
          <a:off x="341312" y="1238667"/>
          <a:ext cx="9901240" cy="5712739"/>
        </p:xfrm>
        <a:graphic>
          <a:graphicData uri="http://schemas.openxmlformats.org/drawingml/2006/table">
            <a:tbl>
              <a:tblPr/>
              <a:tblGrid>
                <a:gridCol w="2159926">
                  <a:extLst>
                    <a:ext uri="{9D8B030D-6E8A-4147-A177-3AD203B41FA5}">
                      <a16:colId xmlns:a16="http://schemas.microsoft.com/office/drawing/2014/main" val="1203225717"/>
                    </a:ext>
                  </a:extLst>
                </a:gridCol>
                <a:gridCol w="1290219">
                  <a:extLst>
                    <a:ext uri="{9D8B030D-6E8A-4147-A177-3AD203B41FA5}">
                      <a16:colId xmlns:a16="http://schemas.microsoft.com/office/drawing/2014/main" val="757072105"/>
                    </a:ext>
                  </a:extLst>
                </a:gridCol>
                <a:gridCol w="1290219">
                  <a:extLst>
                    <a:ext uri="{9D8B030D-6E8A-4147-A177-3AD203B41FA5}">
                      <a16:colId xmlns:a16="http://schemas.microsoft.com/office/drawing/2014/main" val="2934432485"/>
                    </a:ext>
                  </a:extLst>
                </a:gridCol>
                <a:gridCol w="1290219">
                  <a:extLst>
                    <a:ext uri="{9D8B030D-6E8A-4147-A177-3AD203B41FA5}">
                      <a16:colId xmlns:a16="http://schemas.microsoft.com/office/drawing/2014/main" val="3085477051"/>
                    </a:ext>
                  </a:extLst>
                </a:gridCol>
                <a:gridCol w="1290219">
                  <a:extLst>
                    <a:ext uri="{9D8B030D-6E8A-4147-A177-3AD203B41FA5}">
                      <a16:colId xmlns:a16="http://schemas.microsoft.com/office/drawing/2014/main" val="1904258578"/>
                    </a:ext>
                  </a:extLst>
                </a:gridCol>
                <a:gridCol w="1290219">
                  <a:extLst>
                    <a:ext uri="{9D8B030D-6E8A-4147-A177-3AD203B41FA5}">
                      <a16:colId xmlns:a16="http://schemas.microsoft.com/office/drawing/2014/main" val="367188390"/>
                    </a:ext>
                  </a:extLst>
                </a:gridCol>
                <a:gridCol w="1290219">
                  <a:extLst>
                    <a:ext uri="{9D8B030D-6E8A-4147-A177-3AD203B41FA5}">
                      <a16:colId xmlns:a16="http://schemas.microsoft.com/office/drawing/2014/main" val="1573539663"/>
                    </a:ext>
                  </a:extLst>
                </a:gridCol>
              </a:tblGrid>
              <a:tr h="151241">
                <a:tc>
                  <a:txBody>
                    <a:bodyPr/>
                    <a:lstStyle/>
                    <a:p>
                      <a:pPr algn="l" fontAlgn="ctr">
                        <a:buNone/>
                      </a:pPr>
                      <a:endParaRPr lang="ja-JP" sz="9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3439" marR="3439" marT="3439"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900" b="0" i="0" u="none" strike="noStrike">
                          <a:solidFill>
                            <a:srgbClr val="000000"/>
                          </a:solidFill>
                          <a:effectLst/>
                          <a:latin typeface="游ゴシック Medium" panose="020B0500000000000000" pitchFamily="50" charset="-128"/>
                          <a:ea typeface="游ゴシック Medium" panose="020B0500000000000000" pitchFamily="50" charset="-128"/>
                        </a:rPr>
                        <a:t>　</a:t>
                      </a:r>
                    </a:p>
                  </a:txBody>
                  <a:tcPr marL="3439" marR="3439" marT="3439"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l" fontAlgn="ctr">
                        <a:buNone/>
                      </a:pPr>
                      <a:r>
                        <a:rPr lang="ja-JP" sz="900" b="0" i="0" u="none" strike="noStrike">
                          <a:solidFill>
                            <a:srgbClr val="000000"/>
                          </a:solidFill>
                          <a:effectLst/>
                          <a:latin typeface="游ゴシック Medium" panose="020B0500000000000000" pitchFamily="50" charset="-128"/>
                          <a:ea typeface="游ゴシック Medium" panose="020B0500000000000000" pitchFamily="50" charset="-128"/>
                        </a:rPr>
                        <a:t>　</a:t>
                      </a:r>
                    </a:p>
                  </a:txBody>
                  <a:tcPr marL="3439" marR="3439" marT="3439"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endParaRPr lang="ja-JP" sz="9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3439" marR="3439" marT="3439"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l" fontAlgn="ctr">
                        <a:buNone/>
                      </a:pPr>
                      <a:endParaRPr lang="ja-JP" sz="9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3439" marR="3439" marT="3439"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900" b="0" i="0" u="none" strike="noStrike">
                          <a:solidFill>
                            <a:srgbClr val="000000"/>
                          </a:solidFill>
                          <a:effectLst/>
                          <a:latin typeface="游ゴシック Medium" panose="020B0500000000000000" pitchFamily="50" charset="-128"/>
                          <a:ea typeface="游ゴシック Medium" panose="020B0500000000000000" pitchFamily="50" charset="-128"/>
                        </a:rPr>
                        <a:t>　</a:t>
                      </a:r>
                    </a:p>
                  </a:txBody>
                  <a:tcPr marL="3439" marR="3439" marT="3439"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3439" marR="3439" marT="3439" marB="0" anchor="ctr">
                    <a:lnL>
                      <a:noFill/>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553608451"/>
                  </a:ext>
                </a:extLst>
              </a:tr>
              <a:tr h="246187">
                <a:tc rowSpan="2">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科目</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gridSpan="2">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2024</a:t>
                      </a: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年1月期</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r>
                        <a:rPr dirty="0"/>
                        <a:t>　</a:t>
                      </a:r>
                    </a:p>
                  </a:txBody>
                  <a:tcPr marL="3439" marR="3439" marT="3439"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gridSpan="2">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2025</a:t>
                      </a: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年1月期</a:t>
                      </a:r>
                      <a:endParaRPr lang="ja-JP" altLang="en-US" sz="900" b="1"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r>
                        <a:rPr dirty="0"/>
                        <a:t>　</a:t>
                      </a:r>
                    </a:p>
                  </a:txBody>
                  <a:tcPr marL="3439" marR="3439" marT="3439"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gridSpan="2">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2026</a:t>
                      </a: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年1月期</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r>
                        <a:rPr dirty="0"/>
                        <a:t>　</a:t>
                      </a:r>
                    </a:p>
                  </a:txBody>
                  <a:tcPr marL="3439" marR="3439" marT="3439"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extLst>
                  <a:ext uri="{0D108BD9-81ED-4DB2-BD59-A6C34878D82A}">
                    <a16:rowId xmlns:a16="http://schemas.microsoft.com/office/drawing/2014/main" val="316968241"/>
                  </a:ext>
                </a:extLst>
              </a:tr>
              <a:tr h="168047">
                <a:tc vMerge="1">
                  <a:txBody>
                    <a:bodyPr/>
                    <a:lstStyle/>
                    <a:p>
                      <a:r>
                        <a:rPr kumimoji="1" lang="ja-JP" altLang="en-US"/>
                        <a:t>　</a:t>
                      </a:r>
                    </a:p>
                  </a:txBody>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売上高比</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売上高比</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売上高比</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extLst>
                  <a:ext uri="{0D108BD9-81ED-4DB2-BD59-A6C34878D82A}">
                    <a16:rowId xmlns:a16="http://schemas.microsoft.com/office/drawing/2014/main" val="2121160983"/>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売上高（国内）</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301,576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95.2%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285,379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64.3%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387,747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91.8%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814690740"/>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輸出売上</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15,180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158,489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35.7%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34,727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431289524"/>
                  </a:ext>
                </a:extLst>
              </a:tr>
              <a:tr h="160852">
                <a:tc>
                  <a:txBody>
                    <a:bodyPr/>
                    <a:lstStyle/>
                    <a:p>
                      <a:pPr algn="l" fontAlgn="ctr">
                        <a:buNone/>
                      </a:pPr>
                      <a:r>
                        <a:rPr lang="ja-JP" sz="900" b="1" i="0" u="none" strike="noStrike" dirty="0">
                          <a:solidFill>
                            <a:srgbClr val="000000"/>
                          </a:solidFill>
                          <a:effectLst/>
                          <a:latin typeface="游ゴシック" panose="020B0400000000000000" pitchFamily="50" charset="-128"/>
                          <a:ea typeface="游ゴシック" panose="020B0400000000000000" pitchFamily="50" charset="-128"/>
                        </a:rPr>
                        <a:t>売上高</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dirty="0">
                          <a:solidFill>
                            <a:srgbClr val="000000"/>
                          </a:solidFill>
                          <a:effectLst/>
                          <a:latin typeface="Arial" panose="020B0604020202020204" pitchFamily="34" charset="0"/>
                          <a:ea typeface="游ゴシック Medium" panose="020B0500000000000000" pitchFamily="50" charset="-128"/>
                        </a:rPr>
                        <a:t>316,755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dirty="0">
                          <a:solidFill>
                            <a:srgbClr val="000000"/>
                          </a:solidFill>
                          <a:effectLst/>
                          <a:latin typeface="Arial" panose="020B0604020202020204" pitchFamily="34" charset="0"/>
                          <a:ea typeface="游ゴシック Medium" panose="020B0500000000000000" pitchFamily="50" charset="-128"/>
                        </a:rPr>
                        <a:t>100.0%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dirty="0">
                          <a:solidFill>
                            <a:srgbClr val="000000"/>
                          </a:solidFill>
                          <a:effectLst/>
                          <a:latin typeface="Arial" panose="020B0604020202020204" pitchFamily="34" charset="0"/>
                          <a:ea typeface="游ゴシック Medium" panose="020B0500000000000000" pitchFamily="50" charset="-128"/>
                        </a:rPr>
                        <a:t>443,868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100.0%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422,475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100.0%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049622854"/>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期首商品棚卸高</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3,024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1,426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33,345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4121026102"/>
                  </a:ext>
                </a:extLst>
              </a:tr>
              <a:tr h="160852">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当期商品仕入高</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172,657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54.5%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237,258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53.5%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225,575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53.4%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05583829"/>
                  </a:ext>
                </a:extLst>
              </a:tr>
              <a:tr h="160852">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（製）支払手数料</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26,574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50,723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11.4%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21,094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838932440"/>
                  </a:ext>
                </a:extLst>
              </a:tr>
              <a:tr h="160852">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（製）サンプル</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6,307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2,328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2,831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949499245"/>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試作費</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4,488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13,797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3,637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616033917"/>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（製）外注費</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8,299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9,972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5,262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751758681"/>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他勘定振替高</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△6,723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△17,217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△19,845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721201094"/>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期末商品棚卸高</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△1,426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△33,345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△229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841596438"/>
                  </a:ext>
                </a:extLst>
              </a:tr>
              <a:tr h="160852">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売上原価</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213,200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67.3%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264,942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59.7%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271,671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64.3%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091739396"/>
                  </a:ext>
                </a:extLst>
              </a:tr>
              <a:tr h="160852">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売上総利益</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103,555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32.7%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178,926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40.3%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150,803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35.7%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926200396"/>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販売費及び一般管理費</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97,396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30.7%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100,736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22.7%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92,289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1355580326"/>
                  </a:ext>
                </a:extLst>
              </a:tr>
              <a:tr h="160852">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営業利益</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6,159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78,191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17.6%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58,514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13.9%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319325547"/>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営業外収益</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1,358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13,984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8,626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1293032276"/>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受取利息</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1,035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326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074053508"/>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受取配当金</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712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7,152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7,556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566817873"/>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雑収入・その他</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545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5,797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744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58721562"/>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営業外費用</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852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2,246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2,197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155431224"/>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支払利息</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852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1,717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2,197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142542641"/>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雑損失</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530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526795218"/>
                  </a:ext>
                </a:extLst>
              </a:tr>
              <a:tr h="160852">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経常利益</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6,666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89,929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20.3%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64,943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15.4%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645524820"/>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特別利益</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21,984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12,486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74419346"/>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投資有価証券売却益</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21,984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12,486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857173791"/>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特別損失</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11,676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50,658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11.4%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25,991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528708623"/>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投資有価証券売却損等</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27,861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566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4107013741"/>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棚卸資産廃棄損</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6,723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17,217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19,845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242871066"/>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特別保険料</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4,953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5,580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5,580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192630026"/>
                  </a:ext>
                </a:extLst>
              </a:tr>
              <a:tr h="160852">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税引前当期純利益</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△5,011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61,255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13.8%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51,439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12.2%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870411247"/>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法人税等</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160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20,697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13,809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480381586"/>
                  </a:ext>
                </a:extLst>
              </a:tr>
              <a:tr h="160852">
                <a:tc>
                  <a:txBody>
                    <a:bodyPr/>
                    <a:lstStyle/>
                    <a:p>
                      <a:pPr algn="l" fontAlgn="ctr">
                        <a:buNone/>
                      </a:pPr>
                      <a:r>
                        <a:rPr lang="ja-JP" sz="900" b="1" i="0" u="none" strike="noStrike" dirty="0">
                          <a:solidFill>
                            <a:srgbClr val="000000"/>
                          </a:solidFill>
                          <a:effectLst/>
                          <a:latin typeface="游ゴシック" panose="020B0400000000000000" pitchFamily="50" charset="-128"/>
                          <a:ea typeface="游ゴシック" panose="020B0400000000000000" pitchFamily="50" charset="-128"/>
                        </a:rPr>
                        <a:t>税引後当期純利益</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△5,170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dirty="0">
                          <a:solidFill>
                            <a:srgbClr val="000000"/>
                          </a:solidFill>
                          <a:effectLst/>
                          <a:latin typeface="Arial" panose="020B0604020202020204" pitchFamily="34" charset="0"/>
                          <a:ea typeface="游ゴシック Medium" panose="020B0500000000000000" pitchFamily="50" charset="-128"/>
                        </a:rPr>
                        <a:t>-1.6%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40,558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dirty="0">
                          <a:solidFill>
                            <a:srgbClr val="000000"/>
                          </a:solidFill>
                          <a:effectLst/>
                          <a:latin typeface="Arial" panose="020B0604020202020204" pitchFamily="34" charset="0"/>
                          <a:ea typeface="游ゴシック Medium" panose="020B0500000000000000" pitchFamily="50" charset="-128"/>
                        </a:rPr>
                        <a:t>9.1%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37,630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dirty="0">
                          <a:solidFill>
                            <a:srgbClr val="000000"/>
                          </a:solidFill>
                          <a:effectLst/>
                          <a:latin typeface="Arial" panose="020B0604020202020204" pitchFamily="34" charset="0"/>
                          <a:ea typeface="游ゴシック Medium" panose="020B0500000000000000" pitchFamily="50" charset="-128"/>
                        </a:rPr>
                        <a:t>8.9%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950439309"/>
                  </a:ext>
                </a:extLst>
              </a:tr>
            </a:tbl>
          </a:graphicData>
        </a:graphic>
      </p:graphicFrame>
    </p:spTree>
    <p:extLst>
      <p:ext uri="{BB962C8B-B14F-4D97-AF65-F5344CB8AC3E}">
        <p14:creationId xmlns:p14="http://schemas.microsoft.com/office/powerpoint/2010/main" val="37409429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0F011-9D10-1689-48C1-6E79216CA945}"/>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4A828581-8161-ED21-30AA-A4EFF4112CCB}"/>
              </a:ext>
            </a:extLst>
          </p:cNvPr>
          <p:cNvSpPr>
            <a:spLocks noGrp="1"/>
          </p:cNvSpPr>
          <p:nvPr>
            <p:ph type="ctrTitle"/>
          </p:nvPr>
        </p:nvSpPr>
        <p:spPr>
          <a:xfrm>
            <a:off x="311150" y="180296"/>
            <a:ext cx="7799917" cy="339267"/>
          </a:xfrm>
        </p:spPr>
        <p:txBody>
          <a:bodyPr>
            <a:normAutofit/>
          </a:bodyPr>
          <a:lstStyle/>
          <a:p>
            <a:r>
              <a:rPr>
                <a:latin typeface="游ゴシック"/>
                <a:ea typeface="游ゴシック"/>
              </a:rPr>
              <a:t>売上原価の内訳（製造委託中心）</a:t>
            </a:r>
          </a:p>
        </p:txBody>
      </p:sp>
      <p:sp>
        <p:nvSpPr>
          <p:cNvPr id="5" name="タイトル 1">
            <a:extLst>
              <a:ext uri="{FF2B5EF4-FFF2-40B4-BE49-F238E27FC236}">
                <a16:creationId xmlns:a16="http://schemas.microsoft.com/office/drawing/2014/main" id="{7A0FBE86-5EA8-D086-19D3-6B5D523DBCD3}"/>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財務情報詳細</a:t>
            </a:r>
          </a:p>
        </p:txBody>
      </p:sp>
      <p:sp>
        <p:nvSpPr>
          <p:cNvPr id="4" name="字幕 13">
            <a:extLst>
              <a:ext uri="{FF2B5EF4-FFF2-40B4-BE49-F238E27FC236}">
                <a16:creationId xmlns:a16="http://schemas.microsoft.com/office/drawing/2014/main" id="{C3D523D1-0942-99BF-C039-E07124B2F5C1}"/>
              </a:ext>
            </a:extLst>
          </p:cNvPr>
          <p:cNvSpPr>
            <a:spLocks noGrp="1"/>
          </p:cNvSpPr>
          <p:nvPr>
            <p:ph type="subTitle" idx="1"/>
          </p:nvPr>
        </p:nvSpPr>
        <p:spPr>
          <a:xfrm>
            <a:off x="460675" y="830046"/>
            <a:ext cx="9781875" cy="241861"/>
          </a:xfrm>
        </p:spPr>
        <p:txBody>
          <a:bodyPr>
            <a:noAutofit/>
          </a:bodyPr>
          <a:lstStyle/>
          <a:p>
            <a:r>
              <a:rPr dirty="0" err="1">
                <a:latin typeface="+mj-ea"/>
                <a:ea typeface="+mj-ea"/>
              </a:rPr>
              <a:t>自社工場を持たないため、売上原価の大半は当期商品仕入高（製造委託分）で構成。製造委託に付随する支払手数料・外注費・試作費等を含</a:t>
            </a:r>
            <a:r>
              <a:rPr lang="ja-JP" altLang="en-US" dirty="0">
                <a:latin typeface="+mj-ea"/>
                <a:ea typeface="+mj-ea"/>
              </a:rPr>
              <a:t>む</a:t>
            </a:r>
            <a:r>
              <a:rPr dirty="0">
                <a:latin typeface="+mj-ea"/>
                <a:ea typeface="+mj-ea"/>
              </a:rPr>
              <a:t>。</a:t>
            </a:r>
            <a:endParaRPr lang="en-US" altLang="ja-JP" dirty="0"/>
          </a:p>
        </p:txBody>
      </p:sp>
      <p:sp>
        <p:nvSpPr>
          <p:cNvPr id="2" name="正方形/長方形 1">
            <a:extLst>
              <a:ext uri="{FF2B5EF4-FFF2-40B4-BE49-F238E27FC236}">
                <a16:creationId xmlns:a16="http://schemas.microsoft.com/office/drawing/2014/main" id="{68D9DB63-AAB5-8F65-07B0-DC85DFEFA751}"/>
              </a:ext>
            </a:extLst>
          </p:cNvPr>
          <p:cNvSpPr/>
          <p:nvPr/>
        </p:nvSpPr>
        <p:spPr>
          <a:xfrm>
            <a:off x="6455664" y="1382390"/>
            <a:ext cx="3924999" cy="5596336"/>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sp>
        <p:nvSpPr>
          <p:cNvPr id="3" name="テキスト ボックス 2">
            <a:extLst>
              <a:ext uri="{FF2B5EF4-FFF2-40B4-BE49-F238E27FC236}">
                <a16:creationId xmlns:a16="http://schemas.microsoft.com/office/drawing/2014/main" id="{C2442726-9DB0-0F77-E8A6-82C5705E3C25}"/>
              </a:ext>
            </a:extLst>
          </p:cNvPr>
          <p:cNvSpPr txBox="1"/>
          <p:nvPr/>
        </p:nvSpPr>
        <p:spPr>
          <a:xfrm>
            <a:off x="6455664" y="2017477"/>
            <a:ext cx="3894836" cy="1015663"/>
          </a:xfrm>
          <a:prstGeom prst="rect">
            <a:avLst/>
          </a:prstGeom>
          <a:noFill/>
        </p:spPr>
        <p:txBody>
          <a:bodyPr wrap="square" lIns="288000" tIns="0" rIns="252000" bIns="0" rtlCol="0">
            <a:spAutoFit/>
          </a:bodyPr>
          <a:lstStyle/>
          <a:p>
            <a:r>
              <a:rPr sz="1050" dirty="0">
                <a:latin typeface="+mn-ea"/>
                <a:ea typeface="+mn-ea"/>
              </a:rPr>
              <a:t>・</a:t>
            </a:r>
            <a:r>
              <a:rPr sz="1050" dirty="0" err="1">
                <a:latin typeface="+mn-ea"/>
                <a:ea typeface="+mn-ea"/>
              </a:rPr>
              <a:t>製造委託中心のため、材料費・労務費等の</a:t>
            </a:r>
            <a:endParaRPr kumimoji="1" lang="en-US" altLang="ja-JP" sz="1100" dirty="0">
              <a:solidFill>
                <a:schemeClr val="tx1"/>
              </a:solidFill>
              <a:latin typeface="+mn-ea"/>
              <a:ea typeface="+mn-ea"/>
            </a:endParaRPr>
          </a:p>
          <a:p>
            <a:r>
              <a:rPr sz="1050" dirty="0">
                <a:latin typeface="+mn-ea"/>
                <a:ea typeface="+mn-ea"/>
              </a:rPr>
              <a:t>　</a:t>
            </a:r>
            <a:r>
              <a:rPr sz="1050" dirty="0" err="1">
                <a:latin typeface="+mn-ea"/>
                <a:ea typeface="+mn-ea"/>
              </a:rPr>
              <a:t>製造原価科目は発生せず、仕入・製造委託</a:t>
            </a:r>
            <a:endParaRPr sz="1050" dirty="0">
              <a:latin typeface="+mn-ea"/>
              <a:ea typeface="+mn-ea"/>
            </a:endParaRPr>
          </a:p>
          <a:p>
            <a:r>
              <a:rPr sz="1050" dirty="0">
                <a:latin typeface="+mn-ea"/>
                <a:ea typeface="+mn-ea"/>
              </a:rPr>
              <a:t>　</a:t>
            </a:r>
            <a:r>
              <a:rPr sz="1050" dirty="0" err="1">
                <a:latin typeface="+mn-ea"/>
                <a:ea typeface="+mn-ea"/>
              </a:rPr>
              <a:t>関連費用で構成</a:t>
            </a:r>
            <a:endParaRPr sz="1050" dirty="0">
              <a:latin typeface="+mn-ea"/>
              <a:ea typeface="+mn-ea"/>
            </a:endParaRPr>
          </a:p>
          <a:p>
            <a:endParaRPr sz="1050" dirty="0">
              <a:latin typeface="+mn-ea"/>
              <a:ea typeface="+mn-ea"/>
            </a:endParaRPr>
          </a:p>
          <a:p>
            <a:r>
              <a:rPr sz="1050" dirty="0">
                <a:latin typeface="+mn-ea"/>
                <a:ea typeface="+mn-ea"/>
              </a:rPr>
              <a:t>・</a:t>
            </a:r>
            <a:r>
              <a:rPr sz="1050" dirty="0" err="1">
                <a:latin typeface="+mn-ea"/>
                <a:ea typeface="+mn-ea"/>
              </a:rPr>
              <a:t>棚卸資産の増減（他勘定振替・廃棄損）が</a:t>
            </a:r>
            <a:endParaRPr sz="1050" dirty="0">
              <a:latin typeface="+mn-ea"/>
              <a:ea typeface="+mn-ea"/>
            </a:endParaRPr>
          </a:p>
          <a:p>
            <a:r>
              <a:rPr sz="1050" dirty="0">
                <a:latin typeface="+mn-ea"/>
                <a:ea typeface="+mn-ea"/>
              </a:rPr>
              <a:t>　</a:t>
            </a:r>
            <a:r>
              <a:rPr sz="1050" dirty="0" err="1">
                <a:latin typeface="+mn-ea"/>
                <a:ea typeface="+mn-ea"/>
              </a:rPr>
              <a:t>期により変動</a:t>
            </a:r>
            <a:endParaRPr sz="1050" dirty="0">
              <a:latin typeface="+mn-ea"/>
              <a:ea typeface="+mn-ea"/>
            </a:endParaRPr>
          </a:p>
        </p:txBody>
      </p:sp>
      <p:graphicFrame>
        <p:nvGraphicFramePr>
          <p:cNvPr id="14" name="Table 13"/>
          <p:cNvGraphicFramePr>
            <a:graphicFrameLocks noGrp="1"/>
          </p:cNvGraphicFramePr>
          <p:nvPr>
            <p:extLst>
              <p:ext uri="{D42A27DB-BD31-4B8C-83A1-F6EECF244321}">
                <p14:modId xmlns:p14="http://schemas.microsoft.com/office/powerpoint/2010/main" val="297527671"/>
              </p:ext>
            </p:extLst>
          </p:nvPr>
        </p:nvGraphicFramePr>
        <p:xfrm>
          <a:off x="309600" y="1655999"/>
          <a:ext cx="5976000" cy="3419999"/>
        </p:xfrm>
        <a:graphic>
          <a:graphicData uri="http://schemas.openxmlformats.org/drawingml/2006/table">
            <a:tbl>
              <a:tblPr>
                <a:tableStyleId>{5C22544A-7EE6-4342-B048-85BDC9FD1C3A}</a:tableStyleId>
              </a:tblPr>
              <a:tblGrid>
                <a:gridCol w="2304000">
                  <a:extLst>
                    <a:ext uri="{9D8B030D-6E8A-4147-A177-3AD203B41FA5}">
                      <a16:colId xmlns:a16="http://schemas.microsoft.com/office/drawing/2014/main" val="20000"/>
                    </a:ext>
                  </a:extLst>
                </a:gridCol>
                <a:gridCol w="1224000">
                  <a:extLst>
                    <a:ext uri="{9D8B030D-6E8A-4147-A177-3AD203B41FA5}">
                      <a16:colId xmlns:a16="http://schemas.microsoft.com/office/drawing/2014/main" val="20001"/>
                    </a:ext>
                  </a:extLst>
                </a:gridCol>
                <a:gridCol w="1224000">
                  <a:extLst>
                    <a:ext uri="{9D8B030D-6E8A-4147-A177-3AD203B41FA5}">
                      <a16:colId xmlns:a16="http://schemas.microsoft.com/office/drawing/2014/main" val="20002"/>
                    </a:ext>
                  </a:extLst>
                </a:gridCol>
                <a:gridCol w="1224000">
                  <a:extLst>
                    <a:ext uri="{9D8B030D-6E8A-4147-A177-3AD203B41FA5}">
                      <a16:colId xmlns:a16="http://schemas.microsoft.com/office/drawing/2014/main" val="20003"/>
                    </a:ext>
                  </a:extLst>
                </a:gridCol>
              </a:tblGrid>
              <a:tr h="310909">
                <a:tc>
                  <a:txBody>
                    <a:bodyPr/>
                    <a:lstStyle/>
                    <a:p>
                      <a:pPr algn="ctr"/>
                      <a:r>
                        <a:rPr sz="900" b="1">
                          <a:solidFill>
                            <a:srgbClr val="FFFFFF"/>
                          </a:solidFill>
                          <a:latin typeface="游ゴシック" panose="020B0400000000000000" pitchFamily="50" charset="-128"/>
                          <a:ea typeface="游ゴシック" panose="020B0400000000000000" pitchFamily="50" charset="-128"/>
                        </a:rPr>
                        <a:t>科目</a:t>
                      </a:r>
                    </a:p>
                  </a:txBody>
                  <a:tcPr marL="36000" marR="36000" marT="7200" marB="7200" anchor="ctr">
                    <a:solidFill>
                      <a:srgbClr val="0B3041"/>
                    </a:solidFill>
                  </a:tcPr>
                </a:tc>
                <a:tc>
                  <a:txBody>
                    <a:bodyPr/>
                    <a:lstStyle/>
                    <a:p>
                      <a:pPr algn="ctr"/>
                      <a:r>
                        <a:rPr lang="en-US" sz="900" b="1" dirty="0">
                          <a:solidFill>
                            <a:srgbClr val="FFFFFF"/>
                          </a:solidFill>
                          <a:latin typeface="游ゴシック" panose="020B0400000000000000" pitchFamily="50" charset="-128"/>
                          <a:ea typeface="游ゴシック" panose="020B0400000000000000" pitchFamily="50" charset="-128"/>
                        </a:rPr>
                        <a:t>2024</a:t>
                      </a:r>
                      <a:r>
                        <a:rPr sz="900" b="1" dirty="0">
                          <a:solidFill>
                            <a:srgbClr val="FFFFFF"/>
                          </a:solidFill>
                          <a:latin typeface="游ゴシック" panose="020B0400000000000000" pitchFamily="50" charset="-128"/>
                          <a:ea typeface="游ゴシック" panose="020B0400000000000000" pitchFamily="50" charset="-128"/>
                        </a:rPr>
                        <a:t>年1月期</a:t>
                      </a:r>
                    </a:p>
                  </a:txBody>
                  <a:tcPr marL="36000" marR="36000" marT="7200" marB="7200" anchor="ctr">
                    <a:solidFill>
                      <a:srgbClr val="0B3041"/>
                    </a:solidFill>
                  </a:tcPr>
                </a:tc>
                <a:tc>
                  <a:txBody>
                    <a:bodyPr/>
                    <a:lstStyle/>
                    <a:p>
                      <a:pPr algn="ctr"/>
                      <a:r>
                        <a:rPr lang="en-US" sz="900" b="1" dirty="0">
                          <a:solidFill>
                            <a:srgbClr val="FFFFFF"/>
                          </a:solidFill>
                          <a:latin typeface="游ゴシック" panose="020B0400000000000000" pitchFamily="50" charset="-128"/>
                          <a:ea typeface="游ゴシック" panose="020B0400000000000000" pitchFamily="50" charset="-128"/>
                        </a:rPr>
                        <a:t>2025</a:t>
                      </a:r>
                      <a:r>
                        <a:rPr lang="ja-JP" altLang="en-US" sz="900" b="1" dirty="0">
                          <a:solidFill>
                            <a:srgbClr val="FFFFFF"/>
                          </a:solidFill>
                          <a:latin typeface="游ゴシック" panose="020B0400000000000000" pitchFamily="50" charset="-128"/>
                          <a:ea typeface="游ゴシック" panose="020B0400000000000000" pitchFamily="50" charset="-128"/>
                        </a:rPr>
                        <a:t>年</a:t>
                      </a:r>
                      <a:r>
                        <a:rPr sz="900" b="1" dirty="0">
                          <a:solidFill>
                            <a:srgbClr val="FFFFFF"/>
                          </a:solidFill>
                          <a:latin typeface="游ゴシック" panose="020B0400000000000000" pitchFamily="50" charset="-128"/>
                          <a:ea typeface="游ゴシック" panose="020B0400000000000000" pitchFamily="50" charset="-128"/>
                        </a:rPr>
                        <a:t>1月期</a:t>
                      </a:r>
                    </a:p>
                  </a:txBody>
                  <a:tcPr marL="36000" marR="36000" marT="7200" marB="7200" anchor="ctr">
                    <a:solidFill>
                      <a:srgbClr val="0B3041"/>
                    </a:solidFill>
                  </a:tcPr>
                </a:tc>
                <a:tc>
                  <a:txBody>
                    <a:bodyPr/>
                    <a:lstStyle/>
                    <a:p>
                      <a:pPr algn="ctr"/>
                      <a:r>
                        <a:rPr lang="en-US" sz="900" b="1" dirty="0">
                          <a:solidFill>
                            <a:srgbClr val="FFFFFF"/>
                          </a:solidFill>
                          <a:latin typeface="游ゴシック" panose="020B0400000000000000" pitchFamily="50" charset="-128"/>
                          <a:ea typeface="游ゴシック" panose="020B0400000000000000" pitchFamily="50" charset="-128"/>
                        </a:rPr>
                        <a:t>2026</a:t>
                      </a:r>
                      <a:r>
                        <a:rPr sz="900" b="1" dirty="0">
                          <a:solidFill>
                            <a:srgbClr val="FFFFFF"/>
                          </a:solidFill>
                          <a:latin typeface="游ゴシック" panose="020B0400000000000000" pitchFamily="50" charset="-128"/>
                          <a:ea typeface="游ゴシック" panose="020B0400000000000000" pitchFamily="50" charset="-128"/>
                        </a:rPr>
                        <a:t>年1月期</a:t>
                      </a:r>
                    </a:p>
                  </a:txBody>
                  <a:tcPr marL="36000" marR="36000" marT="7200" marB="7200" anchor="ctr">
                    <a:solidFill>
                      <a:srgbClr val="0B3041"/>
                    </a:solidFill>
                  </a:tcPr>
                </a:tc>
                <a:extLst>
                  <a:ext uri="{0D108BD9-81ED-4DB2-BD59-A6C34878D82A}">
                    <a16:rowId xmlns:a16="http://schemas.microsoft.com/office/drawing/2014/main" val="10000"/>
                  </a:ext>
                </a:extLst>
              </a:tr>
              <a:tr h="310909">
                <a:tc>
                  <a:txBody>
                    <a:bodyPr/>
                    <a:lstStyle/>
                    <a:p>
                      <a:pPr algn="l"/>
                      <a:r>
                        <a:rPr sz="900" b="0" dirty="0" err="1">
                          <a:solidFill>
                            <a:sysClr val="windowText" lastClr="000000"/>
                          </a:solidFill>
                          <a:latin typeface="游ゴシック" panose="020B0400000000000000" pitchFamily="50" charset="-128"/>
                          <a:ea typeface="游ゴシック" panose="020B0400000000000000" pitchFamily="50" charset="-128"/>
                        </a:rPr>
                        <a:t>期首商品棚卸高</a:t>
                      </a:r>
                      <a:endParaRPr sz="900" b="0" dirty="0">
                        <a:solidFill>
                          <a:sysClr val="windowText" lastClr="000000"/>
                        </a:solidFill>
                        <a:latin typeface="游ゴシック" panose="020B0400000000000000" pitchFamily="50" charset="-128"/>
                        <a:ea typeface="游ゴシック" panose="020B0400000000000000" pitchFamily="50" charset="-128"/>
                      </a:endParaRPr>
                    </a:p>
                  </a:txBody>
                  <a:tcPr marL="36000" marR="36000" marT="7200" marB="7200" anchor="ctr">
                    <a:solidFill>
                      <a:srgbClr val="FFFFFF"/>
                    </a:solidFill>
                  </a:tcPr>
                </a:tc>
                <a:tc>
                  <a:txBody>
                    <a:bodyPr/>
                    <a:lstStyle/>
                    <a:p>
                      <a:pPr algn="r"/>
                      <a:r>
                        <a:rPr sz="900" b="0">
                          <a:solidFill>
                            <a:sysClr val="windowText" lastClr="000000"/>
                          </a:solidFill>
                          <a:latin typeface="游ゴシック" panose="020B0400000000000000" pitchFamily="50" charset="-128"/>
                          <a:ea typeface="游ゴシック" panose="020B0400000000000000" pitchFamily="50" charset="-128"/>
                        </a:rPr>
                        <a:t>3,024</a:t>
                      </a:r>
                    </a:p>
                  </a:txBody>
                  <a:tcPr marL="36000" marR="36000" marT="7200" marB="7200" anchor="ctr">
                    <a:solidFill>
                      <a:srgbClr val="FFFFFF"/>
                    </a:solidFill>
                  </a:tcPr>
                </a:tc>
                <a:tc>
                  <a:txBody>
                    <a:bodyPr/>
                    <a:lstStyle/>
                    <a:p>
                      <a:pPr algn="r"/>
                      <a:r>
                        <a:rPr sz="900" b="0">
                          <a:solidFill>
                            <a:sysClr val="windowText" lastClr="000000"/>
                          </a:solidFill>
                          <a:latin typeface="游ゴシック" panose="020B0400000000000000" pitchFamily="50" charset="-128"/>
                          <a:ea typeface="游ゴシック" panose="020B0400000000000000" pitchFamily="50" charset="-128"/>
                        </a:rPr>
                        <a:t>1,426</a:t>
                      </a:r>
                    </a:p>
                  </a:txBody>
                  <a:tcPr marL="36000" marR="36000" marT="7200" marB="7200" anchor="ctr">
                    <a:solidFill>
                      <a:srgbClr val="FFFFFF"/>
                    </a:solidFill>
                  </a:tcPr>
                </a:tc>
                <a:tc>
                  <a:txBody>
                    <a:bodyPr/>
                    <a:lstStyle/>
                    <a:p>
                      <a:pPr algn="r"/>
                      <a:r>
                        <a:rPr sz="900" b="0">
                          <a:solidFill>
                            <a:sysClr val="windowText" lastClr="000000"/>
                          </a:solidFill>
                          <a:latin typeface="游ゴシック" panose="020B0400000000000000" pitchFamily="50" charset="-128"/>
                          <a:ea typeface="游ゴシック" panose="020B0400000000000000" pitchFamily="50" charset="-128"/>
                        </a:rPr>
                        <a:t>33,345</a:t>
                      </a:r>
                    </a:p>
                  </a:txBody>
                  <a:tcPr marL="36000" marR="36000" marT="7200" marB="7200" anchor="ctr">
                    <a:solidFill>
                      <a:srgbClr val="FFFFFF"/>
                    </a:solidFill>
                  </a:tcPr>
                </a:tc>
                <a:extLst>
                  <a:ext uri="{0D108BD9-81ED-4DB2-BD59-A6C34878D82A}">
                    <a16:rowId xmlns:a16="http://schemas.microsoft.com/office/drawing/2014/main" val="10001"/>
                  </a:ext>
                </a:extLst>
              </a:tr>
              <a:tr h="310909">
                <a:tc>
                  <a:txBody>
                    <a:bodyPr/>
                    <a:lstStyle/>
                    <a:p>
                      <a:pPr algn="l"/>
                      <a:r>
                        <a:rPr sz="900" b="0" dirty="0" err="1">
                          <a:solidFill>
                            <a:sysClr val="windowText" lastClr="000000"/>
                          </a:solidFill>
                          <a:latin typeface="游ゴシック" panose="020B0400000000000000" pitchFamily="50" charset="-128"/>
                          <a:ea typeface="游ゴシック" panose="020B0400000000000000" pitchFamily="50" charset="-128"/>
                        </a:rPr>
                        <a:t>当期商品仕入高</a:t>
                      </a:r>
                      <a:endParaRPr sz="900" b="0" dirty="0">
                        <a:solidFill>
                          <a:sysClr val="windowText" lastClr="000000"/>
                        </a:solidFill>
                        <a:latin typeface="游ゴシック" panose="020B0400000000000000" pitchFamily="50" charset="-128"/>
                        <a:ea typeface="游ゴシック" panose="020B0400000000000000" pitchFamily="50" charset="-128"/>
                      </a:endParaRPr>
                    </a:p>
                  </a:txBody>
                  <a:tcPr marL="36000" marR="36000" marT="7200" marB="7200" anchor="ctr">
                    <a:noFill/>
                  </a:tcPr>
                </a:tc>
                <a:tc>
                  <a:txBody>
                    <a:bodyPr/>
                    <a:lstStyle/>
                    <a:p>
                      <a:pPr algn="r"/>
                      <a:r>
                        <a:rPr sz="900" b="0" dirty="0">
                          <a:solidFill>
                            <a:sysClr val="windowText" lastClr="000000"/>
                          </a:solidFill>
                          <a:latin typeface="游ゴシック" panose="020B0400000000000000" pitchFamily="50" charset="-128"/>
                          <a:ea typeface="游ゴシック" panose="020B0400000000000000" pitchFamily="50" charset="-128"/>
                        </a:rPr>
                        <a:t>172,657</a:t>
                      </a:r>
                    </a:p>
                  </a:txBody>
                  <a:tcPr marL="36000" marR="36000" marT="7200" marB="7200" anchor="ctr">
                    <a:noFill/>
                  </a:tcPr>
                </a:tc>
                <a:tc>
                  <a:txBody>
                    <a:bodyPr/>
                    <a:lstStyle/>
                    <a:p>
                      <a:pPr algn="r"/>
                      <a:r>
                        <a:rPr sz="900" b="0" dirty="0">
                          <a:solidFill>
                            <a:sysClr val="windowText" lastClr="000000"/>
                          </a:solidFill>
                          <a:latin typeface="游ゴシック" panose="020B0400000000000000" pitchFamily="50" charset="-128"/>
                          <a:ea typeface="游ゴシック" panose="020B0400000000000000" pitchFamily="50" charset="-128"/>
                        </a:rPr>
                        <a:t>237,258</a:t>
                      </a:r>
                    </a:p>
                  </a:txBody>
                  <a:tcPr marL="36000" marR="36000" marT="7200" marB="7200" anchor="ctr">
                    <a:noFill/>
                  </a:tcPr>
                </a:tc>
                <a:tc>
                  <a:txBody>
                    <a:bodyPr/>
                    <a:lstStyle/>
                    <a:p>
                      <a:pPr algn="r"/>
                      <a:r>
                        <a:rPr sz="900" b="0" dirty="0">
                          <a:solidFill>
                            <a:sysClr val="windowText" lastClr="000000"/>
                          </a:solidFill>
                          <a:latin typeface="游ゴシック" panose="020B0400000000000000" pitchFamily="50" charset="-128"/>
                          <a:ea typeface="游ゴシック" panose="020B0400000000000000" pitchFamily="50" charset="-128"/>
                        </a:rPr>
                        <a:t>225,575</a:t>
                      </a:r>
                    </a:p>
                  </a:txBody>
                  <a:tcPr marL="36000" marR="36000" marT="7200" marB="7200" anchor="ctr">
                    <a:noFill/>
                  </a:tcPr>
                </a:tc>
                <a:extLst>
                  <a:ext uri="{0D108BD9-81ED-4DB2-BD59-A6C34878D82A}">
                    <a16:rowId xmlns:a16="http://schemas.microsoft.com/office/drawing/2014/main" val="10002"/>
                  </a:ext>
                </a:extLst>
              </a:tr>
              <a:tr h="310909">
                <a:tc>
                  <a:txBody>
                    <a:bodyPr/>
                    <a:lstStyle/>
                    <a:p>
                      <a:pPr algn="l"/>
                      <a:r>
                        <a:rPr sz="900" b="0" dirty="0">
                          <a:solidFill>
                            <a:sysClr val="windowText" lastClr="000000"/>
                          </a:solidFill>
                          <a:latin typeface="游ゴシック" panose="020B0400000000000000" pitchFamily="50" charset="-128"/>
                          <a:ea typeface="游ゴシック" panose="020B0400000000000000" pitchFamily="50" charset="-128"/>
                        </a:rPr>
                        <a:t>（</a:t>
                      </a:r>
                      <a:r>
                        <a:rPr sz="900" b="0" dirty="0" err="1">
                          <a:solidFill>
                            <a:sysClr val="windowText" lastClr="000000"/>
                          </a:solidFill>
                          <a:latin typeface="游ゴシック" panose="020B0400000000000000" pitchFamily="50" charset="-128"/>
                          <a:ea typeface="游ゴシック" panose="020B0400000000000000" pitchFamily="50" charset="-128"/>
                        </a:rPr>
                        <a:t>製）支払手数料</a:t>
                      </a:r>
                      <a:endParaRPr sz="900" b="0" dirty="0">
                        <a:solidFill>
                          <a:sysClr val="windowText" lastClr="000000"/>
                        </a:solidFill>
                        <a:latin typeface="游ゴシック" panose="020B0400000000000000" pitchFamily="50" charset="-128"/>
                        <a:ea typeface="游ゴシック" panose="020B0400000000000000" pitchFamily="50" charset="-128"/>
                      </a:endParaRPr>
                    </a:p>
                  </a:txBody>
                  <a:tcPr marL="36000" marR="36000" marT="7200" marB="7200" anchor="ctr">
                    <a:noFill/>
                  </a:tcPr>
                </a:tc>
                <a:tc>
                  <a:txBody>
                    <a:bodyPr/>
                    <a:lstStyle/>
                    <a:p>
                      <a:pPr algn="r"/>
                      <a:r>
                        <a:rPr sz="900" b="0">
                          <a:solidFill>
                            <a:sysClr val="windowText" lastClr="000000"/>
                          </a:solidFill>
                          <a:latin typeface="游ゴシック" panose="020B0400000000000000" pitchFamily="50" charset="-128"/>
                          <a:ea typeface="游ゴシック" panose="020B0400000000000000" pitchFamily="50" charset="-128"/>
                        </a:rPr>
                        <a:t>26,574</a:t>
                      </a:r>
                    </a:p>
                  </a:txBody>
                  <a:tcPr marL="36000" marR="36000" marT="7200" marB="7200" anchor="ctr">
                    <a:noFill/>
                  </a:tcPr>
                </a:tc>
                <a:tc>
                  <a:txBody>
                    <a:bodyPr/>
                    <a:lstStyle/>
                    <a:p>
                      <a:pPr algn="r"/>
                      <a:r>
                        <a:rPr sz="900" b="0" dirty="0">
                          <a:solidFill>
                            <a:sysClr val="windowText" lastClr="000000"/>
                          </a:solidFill>
                          <a:latin typeface="游ゴシック" panose="020B0400000000000000" pitchFamily="50" charset="-128"/>
                          <a:ea typeface="游ゴシック" panose="020B0400000000000000" pitchFamily="50" charset="-128"/>
                        </a:rPr>
                        <a:t>50,723</a:t>
                      </a:r>
                    </a:p>
                  </a:txBody>
                  <a:tcPr marL="36000" marR="36000" marT="7200" marB="7200" anchor="ctr">
                    <a:noFill/>
                  </a:tcPr>
                </a:tc>
                <a:tc>
                  <a:txBody>
                    <a:bodyPr/>
                    <a:lstStyle/>
                    <a:p>
                      <a:pPr algn="r"/>
                      <a:r>
                        <a:rPr sz="900" b="0">
                          <a:solidFill>
                            <a:sysClr val="windowText" lastClr="000000"/>
                          </a:solidFill>
                          <a:latin typeface="游ゴシック" panose="020B0400000000000000" pitchFamily="50" charset="-128"/>
                          <a:ea typeface="游ゴシック" panose="020B0400000000000000" pitchFamily="50" charset="-128"/>
                        </a:rPr>
                        <a:t>21,094</a:t>
                      </a:r>
                    </a:p>
                  </a:txBody>
                  <a:tcPr marL="36000" marR="36000" marT="7200" marB="7200" anchor="ctr">
                    <a:noFill/>
                  </a:tcPr>
                </a:tc>
                <a:extLst>
                  <a:ext uri="{0D108BD9-81ED-4DB2-BD59-A6C34878D82A}">
                    <a16:rowId xmlns:a16="http://schemas.microsoft.com/office/drawing/2014/main" val="10003"/>
                  </a:ext>
                </a:extLst>
              </a:tr>
              <a:tr h="310909">
                <a:tc>
                  <a:txBody>
                    <a:bodyPr/>
                    <a:lstStyle/>
                    <a:p>
                      <a:pPr algn="l"/>
                      <a:r>
                        <a:rPr sz="900" b="0" dirty="0">
                          <a:solidFill>
                            <a:sysClr val="windowText" lastClr="000000"/>
                          </a:solidFill>
                          <a:latin typeface="游ゴシック" panose="020B0400000000000000" pitchFamily="50" charset="-128"/>
                          <a:ea typeface="游ゴシック" panose="020B0400000000000000" pitchFamily="50" charset="-128"/>
                        </a:rPr>
                        <a:t>（</a:t>
                      </a:r>
                      <a:r>
                        <a:rPr sz="900" b="0" dirty="0" err="1">
                          <a:solidFill>
                            <a:sysClr val="windowText" lastClr="000000"/>
                          </a:solidFill>
                          <a:latin typeface="游ゴシック" panose="020B0400000000000000" pitchFamily="50" charset="-128"/>
                          <a:ea typeface="游ゴシック" panose="020B0400000000000000" pitchFamily="50" charset="-128"/>
                        </a:rPr>
                        <a:t>製）サンプル費</a:t>
                      </a:r>
                      <a:endParaRPr sz="900" b="0" dirty="0">
                        <a:solidFill>
                          <a:sysClr val="windowText" lastClr="000000"/>
                        </a:solidFill>
                        <a:latin typeface="游ゴシック" panose="020B0400000000000000" pitchFamily="50" charset="-128"/>
                        <a:ea typeface="游ゴシック" panose="020B0400000000000000" pitchFamily="50" charset="-128"/>
                      </a:endParaRPr>
                    </a:p>
                  </a:txBody>
                  <a:tcPr marL="36000" marR="36000" marT="7200" marB="7200" anchor="ctr">
                    <a:noFill/>
                  </a:tcPr>
                </a:tc>
                <a:tc>
                  <a:txBody>
                    <a:bodyPr/>
                    <a:lstStyle/>
                    <a:p>
                      <a:pPr algn="r"/>
                      <a:r>
                        <a:rPr sz="900" b="0" dirty="0">
                          <a:solidFill>
                            <a:sysClr val="windowText" lastClr="000000"/>
                          </a:solidFill>
                          <a:latin typeface="游ゴシック" panose="020B0400000000000000" pitchFamily="50" charset="-128"/>
                          <a:ea typeface="游ゴシック" panose="020B0400000000000000" pitchFamily="50" charset="-128"/>
                        </a:rPr>
                        <a:t>6,307</a:t>
                      </a:r>
                    </a:p>
                  </a:txBody>
                  <a:tcPr marL="36000" marR="36000" marT="7200" marB="7200" anchor="ctr">
                    <a:noFill/>
                  </a:tcPr>
                </a:tc>
                <a:tc>
                  <a:txBody>
                    <a:bodyPr/>
                    <a:lstStyle/>
                    <a:p>
                      <a:pPr algn="r"/>
                      <a:r>
                        <a:rPr sz="900" b="0" dirty="0">
                          <a:solidFill>
                            <a:sysClr val="windowText" lastClr="000000"/>
                          </a:solidFill>
                          <a:latin typeface="游ゴシック" panose="020B0400000000000000" pitchFamily="50" charset="-128"/>
                          <a:ea typeface="游ゴシック" panose="020B0400000000000000" pitchFamily="50" charset="-128"/>
                        </a:rPr>
                        <a:t>2,328</a:t>
                      </a:r>
                    </a:p>
                  </a:txBody>
                  <a:tcPr marL="36000" marR="36000" marT="7200" marB="7200" anchor="ctr">
                    <a:noFill/>
                  </a:tcPr>
                </a:tc>
                <a:tc>
                  <a:txBody>
                    <a:bodyPr/>
                    <a:lstStyle/>
                    <a:p>
                      <a:pPr algn="r"/>
                      <a:r>
                        <a:rPr sz="900" b="0" dirty="0">
                          <a:solidFill>
                            <a:sysClr val="windowText" lastClr="000000"/>
                          </a:solidFill>
                          <a:latin typeface="游ゴシック" panose="020B0400000000000000" pitchFamily="50" charset="-128"/>
                          <a:ea typeface="游ゴシック" panose="020B0400000000000000" pitchFamily="50" charset="-128"/>
                        </a:rPr>
                        <a:t>2,831</a:t>
                      </a:r>
                    </a:p>
                  </a:txBody>
                  <a:tcPr marL="36000" marR="36000" marT="7200" marB="7200" anchor="ctr">
                    <a:noFill/>
                  </a:tcPr>
                </a:tc>
                <a:extLst>
                  <a:ext uri="{0D108BD9-81ED-4DB2-BD59-A6C34878D82A}">
                    <a16:rowId xmlns:a16="http://schemas.microsoft.com/office/drawing/2014/main" val="10004"/>
                  </a:ext>
                </a:extLst>
              </a:tr>
              <a:tr h="310909">
                <a:tc>
                  <a:txBody>
                    <a:bodyPr/>
                    <a:lstStyle/>
                    <a:p>
                      <a:pPr algn="l"/>
                      <a:r>
                        <a:rPr sz="900" b="0" dirty="0" err="1">
                          <a:solidFill>
                            <a:sysClr val="windowText" lastClr="000000"/>
                          </a:solidFill>
                          <a:latin typeface="游ゴシック" panose="020B0400000000000000" pitchFamily="50" charset="-128"/>
                          <a:ea typeface="游ゴシック" panose="020B0400000000000000" pitchFamily="50" charset="-128"/>
                        </a:rPr>
                        <a:t>試作費</a:t>
                      </a:r>
                      <a:endParaRPr sz="900" b="0" dirty="0">
                        <a:solidFill>
                          <a:sysClr val="windowText" lastClr="000000"/>
                        </a:solidFill>
                        <a:latin typeface="游ゴシック" panose="020B0400000000000000" pitchFamily="50" charset="-128"/>
                        <a:ea typeface="游ゴシック" panose="020B0400000000000000" pitchFamily="50" charset="-128"/>
                      </a:endParaRPr>
                    </a:p>
                  </a:txBody>
                  <a:tcPr marL="36000" marR="36000" marT="7200" marB="7200" anchor="ctr">
                    <a:noFill/>
                  </a:tcPr>
                </a:tc>
                <a:tc>
                  <a:txBody>
                    <a:bodyPr/>
                    <a:lstStyle/>
                    <a:p>
                      <a:pPr algn="r"/>
                      <a:r>
                        <a:rPr sz="900" b="0">
                          <a:solidFill>
                            <a:sysClr val="windowText" lastClr="000000"/>
                          </a:solidFill>
                          <a:latin typeface="游ゴシック" panose="020B0400000000000000" pitchFamily="50" charset="-128"/>
                          <a:ea typeface="游ゴシック" panose="020B0400000000000000" pitchFamily="50" charset="-128"/>
                        </a:rPr>
                        <a:t>4,488</a:t>
                      </a:r>
                    </a:p>
                  </a:txBody>
                  <a:tcPr marL="36000" marR="36000" marT="7200" marB="7200" anchor="ctr">
                    <a:noFill/>
                  </a:tcPr>
                </a:tc>
                <a:tc>
                  <a:txBody>
                    <a:bodyPr/>
                    <a:lstStyle/>
                    <a:p>
                      <a:pPr algn="r"/>
                      <a:r>
                        <a:rPr sz="900" b="0">
                          <a:solidFill>
                            <a:sysClr val="windowText" lastClr="000000"/>
                          </a:solidFill>
                          <a:latin typeface="游ゴシック" panose="020B0400000000000000" pitchFamily="50" charset="-128"/>
                          <a:ea typeface="游ゴシック" panose="020B0400000000000000" pitchFamily="50" charset="-128"/>
                        </a:rPr>
                        <a:t>13,797</a:t>
                      </a:r>
                    </a:p>
                  </a:txBody>
                  <a:tcPr marL="36000" marR="36000" marT="7200" marB="7200" anchor="ctr">
                    <a:noFill/>
                  </a:tcPr>
                </a:tc>
                <a:tc>
                  <a:txBody>
                    <a:bodyPr/>
                    <a:lstStyle/>
                    <a:p>
                      <a:pPr algn="r"/>
                      <a:r>
                        <a:rPr sz="900" b="0">
                          <a:solidFill>
                            <a:sysClr val="windowText" lastClr="000000"/>
                          </a:solidFill>
                          <a:latin typeface="游ゴシック" panose="020B0400000000000000" pitchFamily="50" charset="-128"/>
                          <a:ea typeface="游ゴシック" panose="020B0400000000000000" pitchFamily="50" charset="-128"/>
                        </a:rPr>
                        <a:t>3,637</a:t>
                      </a:r>
                    </a:p>
                  </a:txBody>
                  <a:tcPr marL="36000" marR="36000" marT="7200" marB="7200" anchor="ctr">
                    <a:noFill/>
                  </a:tcPr>
                </a:tc>
                <a:extLst>
                  <a:ext uri="{0D108BD9-81ED-4DB2-BD59-A6C34878D82A}">
                    <a16:rowId xmlns:a16="http://schemas.microsoft.com/office/drawing/2014/main" val="10005"/>
                  </a:ext>
                </a:extLst>
              </a:tr>
              <a:tr h="310909">
                <a:tc>
                  <a:txBody>
                    <a:bodyPr/>
                    <a:lstStyle/>
                    <a:p>
                      <a:pPr algn="l"/>
                      <a:r>
                        <a:rPr sz="900" b="0" dirty="0">
                          <a:solidFill>
                            <a:sysClr val="windowText" lastClr="000000"/>
                          </a:solidFill>
                          <a:latin typeface="游ゴシック" panose="020B0400000000000000" pitchFamily="50" charset="-128"/>
                          <a:ea typeface="游ゴシック" panose="020B0400000000000000" pitchFamily="50" charset="-128"/>
                        </a:rPr>
                        <a:t>（</a:t>
                      </a:r>
                      <a:r>
                        <a:rPr sz="900" b="0" dirty="0" err="1">
                          <a:solidFill>
                            <a:sysClr val="windowText" lastClr="000000"/>
                          </a:solidFill>
                          <a:latin typeface="游ゴシック" panose="020B0400000000000000" pitchFamily="50" charset="-128"/>
                          <a:ea typeface="游ゴシック" panose="020B0400000000000000" pitchFamily="50" charset="-128"/>
                        </a:rPr>
                        <a:t>製）外注費</a:t>
                      </a:r>
                      <a:endParaRPr sz="900" b="0" dirty="0">
                        <a:solidFill>
                          <a:sysClr val="windowText" lastClr="000000"/>
                        </a:solidFill>
                        <a:latin typeface="游ゴシック" panose="020B0400000000000000" pitchFamily="50" charset="-128"/>
                        <a:ea typeface="游ゴシック" panose="020B0400000000000000" pitchFamily="50" charset="-128"/>
                      </a:endParaRPr>
                    </a:p>
                  </a:txBody>
                  <a:tcPr marL="36000" marR="36000" marT="7200" marB="7200" anchor="ctr">
                    <a:noFill/>
                  </a:tcPr>
                </a:tc>
                <a:tc>
                  <a:txBody>
                    <a:bodyPr/>
                    <a:lstStyle/>
                    <a:p>
                      <a:pPr algn="r"/>
                      <a:r>
                        <a:rPr sz="900" b="0">
                          <a:solidFill>
                            <a:sysClr val="windowText" lastClr="000000"/>
                          </a:solidFill>
                          <a:latin typeface="游ゴシック" panose="020B0400000000000000" pitchFamily="50" charset="-128"/>
                          <a:ea typeface="游ゴシック" panose="020B0400000000000000" pitchFamily="50" charset="-128"/>
                        </a:rPr>
                        <a:t>8,299</a:t>
                      </a:r>
                    </a:p>
                  </a:txBody>
                  <a:tcPr marL="36000" marR="36000" marT="7200" marB="7200" anchor="ctr">
                    <a:noFill/>
                  </a:tcPr>
                </a:tc>
                <a:tc>
                  <a:txBody>
                    <a:bodyPr/>
                    <a:lstStyle/>
                    <a:p>
                      <a:pPr algn="r"/>
                      <a:r>
                        <a:rPr sz="900" b="0">
                          <a:solidFill>
                            <a:sysClr val="windowText" lastClr="000000"/>
                          </a:solidFill>
                          <a:latin typeface="游ゴシック" panose="020B0400000000000000" pitchFamily="50" charset="-128"/>
                          <a:ea typeface="游ゴシック" panose="020B0400000000000000" pitchFamily="50" charset="-128"/>
                        </a:rPr>
                        <a:t>9,972</a:t>
                      </a:r>
                    </a:p>
                  </a:txBody>
                  <a:tcPr marL="36000" marR="36000" marT="7200" marB="7200" anchor="ctr">
                    <a:noFill/>
                  </a:tcPr>
                </a:tc>
                <a:tc>
                  <a:txBody>
                    <a:bodyPr/>
                    <a:lstStyle/>
                    <a:p>
                      <a:pPr algn="r"/>
                      <a:r>
                        <a:rPr sz="900" b="0">
                          <a:solidFill>
                            <a:sysClr val="windowText" lastClr="000000"/>
                          </a:solidFill>
                          <a:latin typeface="游ゴシック" panose="020B0400000000000000" pitchFamily="50" charset="-128"/>
                          <a:ea typeface="游ゴシック" panose="020B0400000000000000" pitchFamily="50" charset="-128"/>
                        </a:rPr>
                        <a:t>5,262</a:t>
                      </a:r>
                    </a:p>
                  </a:txBody>
                  <a:tcPr marL="36000" marR="36000" marT="7200" marB="7200" anchor="ctr">
                    <a:noFill/>
                  </a:tcPr>
                </a:tc>
                <a:extLst>
                  <a:ext uri="{0D108BD9-81ED-4DB2-BD59-A6C34878D82A}">
                    <a16:rowId xmlns:a16="http://schemas.microsoft.com/office/drawing/2014/main" val="10006"/>
                  </a:ext>
                </a:extLst>
              </a:tr>
              <a:tr h="310909">
                <a:tc>
                  <a:txBody>
                    <a:bodyPr/>
                    <a:lstStyle/>
                    <a:p>
                      <a:pPr algn="l"/>
                      <a:r>
                        <a:rPr sz="900" b="0">
                          <a:solidFill>
                            <a:sysClr val="windowText" lastClr="000000"/>
                          </a:solidFill>
                          <a:latin typeface="游ゴシック" panose="020B0400000000000000" pitchFamily="50" charset="-128"/>
                          <a:ea typeface="游ゴシック" panose="020B0400000000000000" pitchFamily="50" charset="-128"/>
                        </a:rPr>
                        <a:t>仕入値引高</a:t>
                      </a:r>
                    </a:p>
                  </a:txBody>
                  <a:tcPr marL="36000" marR="36000" marT="7200" marB="7200" anchor="ctr">
                    <a:noFill/>
                  </a:tcPr>
                </a:tc>
                <a:tc>
                  <a:txBody>
                    <a:bodyPr/>
                    <a:lstStyle/>
                    <a:p>
                      <a:pPr algn="r"/>
                      <a:r>
                        <a:rPr sz="900" b="0" dirty="0">
                          <a:solidFill>
                            <a:sysClr val="windowText" lastClr="000000"/>
                          </a:solidFill>
                          <a:latin typeface="游ゴシック" panose="020B0400000000000000" pitchFamily="50" charset="-128"/>
                          <a:ea typeface="游ゴシック" panose="020B0400000000000000" pitchFamily="50" charset="-128"/>
                        </a:rPr>
                        <a:t>0</a:t>
                      </a:r>
                    </a:p>
                  </a:txBody>
                  <a:tcPr marL="36000" marR="36000" marT="7200" marB="7200" anchor="ctr">
                    <a:noFill/>
                  </a:tcPr>
                </a:tc>
                <a:tc>
                  <a:txBody>
                    <a:bodyPr/>
                    <a:lstStyle/>
                    <a:p>
                      <a:pPr algn="r"/>
                      <a:r>
                        <a:rPr sz="900" b="0" dirty="0">
                          <a:solidFill>
                            <a:sysClr val="windowText" lastClr="000000"/>
                          </a:solidFill>
                          <a:latin typeface="游ゴシック" panose="020B0400000000000000" pitchFamily="50" charset="-128"/>
                          <a:ea typeface="游ゴシック" panose="020B0400000000000000" pitchFamily="50" charset="-128"/>
                        </a:rPr>
                        <a:t>0</a:t>
                      </a:r>
                    </a:p>
                  </a:txBody>
                  <a:tcPr marL="36000" marR="36000" marT="7200" marB="7200" anchor="ctr">
                    <a:noFill/>
                  </a:tcPr>
                </a:tc>
                <a:tc>
                  <a:txBody>
                    <a:bodyPr/>
                    <a:lstStyle/>
                    <a:p>
                      <a:pPr algn="r"/>
                      <a:r>
                        <a:rPr sz="900" b="0">
                          <a:solidFill>
                            <a:sysClr val="windowText" lastClr="000000"/>
                          </a:solidFill>
                          <a:latin typeface="游ゴシック" panose="020B0400000000000000" pitchFamily="50" charset="-128"/>
                          <a:ea typeface="游ゴシック" panose="020B0400000000000000" pitchFamily="50" charset="-128"/>
                        </a:rPr>
                        <a:t>0</a:t>
                      </a:r>
                    </a:p>
                  </a:txBody>
                  <a:tcPr marL="36000" marR="36000" marT="7200" marB="7200" anchor="ctr">
                    <a:noFill/>
                  </a:tcPr>
                </a:tc>
                <a:extLst>
                  <a:ext uri="{0D108BD9-81ED-4DB2-BD59-A6C34878D82A}">
                    <a16:rowId xmlns:a16="http://schemas.microsoft.com/office/drawing/2014/main" val="10007"/>
                  </a:ext>
                </a:extLst>
              </a:tr>
              <a:tr h="310909">
                <a:tc>
                  <a:txBody>
                    <a:bodyPr/>
                    <a:lstStyle/>
                    <a:p>
                      <a:pPr algn="l"/>
                      <a:r>
                        <a:rPr sz="900" b="0">
                          <a:solidFill>
                            <a:sysClr val="windowText" lastClr="000000"/>
                          </a:solidFill>
                          <a:latin typeface="游ゴシック" panose="020B0400000000000000" pitchFamily="50" charset="-128"/>
                          <a:ea typeface="游ゴシック" panose="020B0400000000000000" pitchFamily="50" charset="-128"/>
                        </a:rPr>
                        <a:t>他勘定振替高</a:t>
                      </a:r>
                    </a:p>
                  </a:txBody>
                  <a:tcPr marL="36000" marR="36000" marT="7200" marB="7200" anchor="ctr">
                    <a:noFill/>
                  </a:tcPr>
                </a:tc>
                <a:tc>
                  <a:txBody>
                    <a:bodyPr/>
                    <a:lstStyle/>
                    <a:p>
                      <a:pPr algn="r"/>
                      <a:r>
                        <a:rPr sz="900" b="0">
                          <a:solidFill>
                            <a:sysClr val="windowText" lastClr="000000"/>
                          </a:solidFill>
                          <a:latin typeface="游ゴシック" panose="020B0400000000000000" pitchFamily="50" charset="-128"/>
                          <a:ea typeface="游ゴシック" panose="020B0400000000000000" pitchFamily="50" charset="-128"/>
                        </a:rPr>
                        <a:t>△6,723</a:t>
                      </a:r>
                    </a:p>
                  </a:txBody>
                  <a:tcPr marL="36000" marR="36000" marT="7200" marB="7200" anchor="ctr">
                    <a:noFill/>
                  </a:tcPr>
                </a:tc>
                <a:tc>
                  <a:txBody>
                    <a:bodyPr/>
                    <a:lstStyle/>
                    <a:p>
                      <a:pPr algn="r"/>
                      <a:r>
                        <a:rPr sz="900" b="0" dirty="0">
                          <a:solidFill>
                            <a:sysClr val="windowText" lastClr="000000"/>
                          </a:solidFill>
                          <a:latin typeface="游ゴシック" panose="020B0400000000000000" pitchFamily="50" charset="-128"/>
                          <a:ea typeface="游ゴシック" panose="020B0400000000000000" pitchFamily="50" charset="-128"/>
                        </a:rPr>
                        <a:t>△17,217</a:t>
                      </a:r>
                    </a:p>
                  </a:txBody>
                  <a:tcPr marL="36000" marR="36000" marT="7200" marB="7200" anchor="ctr">
                    <a:noFill/>
                  </a:tcPr>
                </a:tc>
                <a:tc>
                  <a:txBody>
                    <a:bodyPr/>
                    <a:lstStyle/>
                    <a:p>
                      <a:pPr algn="r"/>
                      <a:r>
                        <a:rPr sz="900" b="0" dirty="0">
                          <a:solidFill>
                            <a:sysClr val="windowText" lastClr="000000"/>
                          </a:solidFill>
                          <a:latin typeface="游ゴシック" panose="020B0400000000000000" pitchFamily="50" charset="-128"/>
                          <a:ea typeface="游ゴシック" panose="020B0400000000000000" pitchFamily="50" charset="-128"/>
                        </a:rPr>
                        <a:t>△19,845</a:t>
                      </a:r>
                    </a:p>
                  </a:txBody>
                  <a:tcPr marL="36000" marR="36000" marT="7200" marB="7200" anchor="ctr">
                    <a:noFill/>
                  </a:tcPr>
                </a:tc>
                <a:extLst>
                  <a:ext uri="{0D108BD9-81ED-4DB2-BD59-A6C34878D82A}">
                    <a16:rowId xmlns:a16="http://schemas.microsoft.com/office/drawing/2014/main" val="10008"/>
                  </a:ext>
                </a:extLst>
              </a:tr>
              <a:tr h="310909">
                <a:tc>
                  <a:txBody>
                    <a:bodyPr/>
                    <a:lstStyle/>
                    <a:p>
                      <a:pPr algn="l"/>
                      <a:r>
                        <a:rPr sz="900" b="0">
                          <a:solidFill>
                            <a:sysClr val="windowText" lastClr="000000"/>
                          </a:solidFill>
                          <a:latin typeface="游ゴシック" panose="020B0400000000000000" pitchFamily="50" charset="-128"/>
                          <a:ea typeface="游ゴシック" panose="020B0400000000000000" pitchFamily="50" charset="-128"/>
                        </a:rPr>
                        <a:t>期末商品棚卸高</a:t>
                      </a:r>
                    </a:p>
                  </a:txBody>
                  <a:tcPr marL="36000" marR="36000" marT="7200" marB="7200" anchor="ctr">
                    <a:solidFill>
                      <a:srgbClr val="FFFFFF"/>
                    </a:solidFill>
                  </a:tcPr>
                </a:tc>
                <a:tc>
                  <a:txBody>
                    <a:bodyPr/>
                    <a:lstStyle/>
                    <a:p>
                      <a:pPr algn="r"/>
                      <a:r>
                        <a:rPr sz="900" b="0">
                          <a:solidFill>
                            <a:sysClr val="windowText" lastClr="000000"/>
                          </a:solidFill>
                          <a:latin typeface="游ゴシック" panose="020B0400000000000000" pitchFamily="50" charset="-128"/>
                          <a:ea typeface="游ゴシック" panose="020B0400000000000000" pitchFamily="50" charset="-128"/>
                        </a:rPr>
                        <a:t>△1,426</a:t>
                      </a:r>
                    </a:p>
                  </a:txBody>
                  <a:tcPr marL="36000" marR="36000" marT="7200" marB="7200" anchor="ctr">
                    <a:solidFill>
                      <a:srgbClr val="FFFFFF"/>
                    </a:solidFill>
                  </a:tcPr>
                </a:tc>
                <a:tc>
                  <a:txBody>
                    <a:bodyPr/>
                    <a:lstStyle/>
                    <a:p>
                      <a:pPr algn="r"/>
                      <a:r>
                        <a:rPr sz="900" b="0">
                          <a:solidFill>
                            <a:sysClr val="windowText" lastClr="000000"/>
                          </a:solidFill>
                          <a:latin typeface="游ゴシック" panose="020B0400000000000000" pitchFamily="50" charset="-128"/>
                          <a:ea typeface="游ゴシック" panose="020B0400000000000000" pitchFamily="50" charset="-128"/>
                        </a:rPr>
                        <a:t>△33,345</a:t>
                      </a:r>
                    </a:p>
                  </a:txBody>
                  <a:tcPr marL="36000" marR="36000" marT="7200" marB="7200" anchor="ctr">
                    <a:solidFill>
                      <a:srgbClr val="FFFFFF"/>
                    </a:solidFill>
                  </a:tcPr>
                </a:tc>
                <a:tc>
                  <a:txBody>
                    <a:bodyPr/>
                    <a:lstStyle/>
                    <a:p>
                      <a:pPr algn="r"/>
                      <a:r>
                        <a:rPr sz="900" b="0" dirty="0">
                          <a:solidFill>
                            <a:sysClr val="windowText" lastClr="000000"/>
                          </a:solidFill>
                          <a:latin typeface="游ゴシック" panose="020B0400000000000000" pitchFamily="50" charset="-128"/>
                          <a:ea typeface="游ゴシック" panose="020B0400000000000000" pitchFamily="50" charset="-128"/>
                        </a:rPr>
                        <a:t>△229</a:t>
                      </a:r>
                    </a:p>
                  </a:txBody>
                  <a:tcPr marL="36000" marR="36000" marT="7200" marB="7200" anchor="ctr">
                    <a:solidFill>
                      <a:srgbClr val="FFFFFF"/>
                    </a:solidFill>
                  </a:tcPr>
                </a:tc>
                <a:extLst>
                  <a:ext uri="{0D108BD9-81ED-4DB2-BD59-A6C34878D82A}">
                    <a16:rowId xmlns:a16="http://schemas.microsoft.com/office/drawing/2014/main" val="10009"/>
                  </a:ext>
                </a:extLst>
              </a:tr>
              <a:tr h="310909">
                <a:tc>
                  <a:txBody>
                    <a:bodyPr/>
                    <a:lstStyle/>
                    <a:p>
                      <a:pPr algn="l"/>
                      <a:r>
                        <a:rPr sz="900" b="1">
                          <a:solidFill>
                            <a:sysClr val="windowText" lastClr="000000"/>
                          </a:solidFill>
                          <a:latin typeface="游ゴシック" panose="020B0400000000000000" pitchFamily="50" charset="-128"/>
                          <a:ea typeface="游ゴシック" panose="020B0400000000000000" pitchFamily="50" charset="-128"/>
                        </a:rPr>
                        <a:t>売上原価</a:t>
                      </a:r>
                    </a:p>
                  </a:txBody>
                  <a:tcPr marL="36000" marR="36000" marT="7200" marB="7200" anchor="ctr">
                    <a:solidFill>
                      <a:srgbClr val="E3E7E9"/>
                    </a:solidFill>
                  </a:tcPr>
                </a:tc>
                <a:tc>
                  <a:txBody>
                    <a:bodyPr/>
                    <a:lstStyle/>
                    <a:p>
                      <a:pPr algn="r"/>
                      <a:r>
                        <a:rPr sz="900" b="1">
                          <a:solidFill>
                            <a:sysClr val="windowText" lastClr="000000"/>
                          </a:solidFill>
                          <a:latin typeface="游ゴシック" panose="020B0400000000000000" pitchFamily="50" charset="-128"/>
                          <a:ea typeface="游ゴシック" panose="020B0400000000000000" pitchFamily="50" charset="-128"/>
                        </a:rPr>
                        <a:t>213,200</a:t>
                      </a:r>
                    </a:p>
                  </a:txBody>
                  <a:tcPr marL="36000" marR="36000" marT="7200" marB="7200" anchor="ctr">
                    <a:solidFill>
                      <a:srgbClr val="E3E7E9"/>
                    </a:solidFill>
                  </a:tcPr>
                </a:tc>
                <a:tc>
                  <a:txBody>
                    <a:bodyPr/>
                    <a:lstStyle/>
                    <a:p>
                      <a:pPr algn="r"/>
                      <a:r>
                        <a:rPr sz="900" b="1">
                          <a:solidFill>
                            <a:sysClr val="windowText" lastClr="000000"/>
                          </a:solidFill>
                          <a:latin typeface="游ゴシック" panose="020B0400000000000000" pitchFamily="50" charset="-128"/>
                          <a:ea typeface="游ゴシック" panose="020B0400000000000000" pitchFamily="50" charset="-128"/>
                        </a:rPr>
                        <a:t>264,942</a:t>
                      </a:r>
                    </a:p>
                  </a:txBody>
                  <a:tcPr marL="36000" marR="36000" marT="7200" marB="7200" anchor="ctr">
                    <a:solidFill>
                      <a:srgbClr val="E3E7E9"/>
                    </a:solidFill>
                  </a:tcPr>
                </a:tc>
                <a:tc>
                  <a:txBody>
                    <a:bodyPr/>
                    <a:lstStyle/>
                    <a:p>
                      <a:pPr algn="r"/>
                      <a:r>
                        <a:rPr sz="900" b="1" dirty="0">
                          <a:solidFill>
                            <a:sysClr val="windowText" lastClr="000000"/>
                          </a:solidFill>
                          <a:latin typeface="游ゴシック" panose="020B0400000000000000" pitchFamily="50" charset="-128"/>
                          <a:ea typeface="游ゴシック" panose="020B0400000000000000" pitchFamily="50" charset="-128"/>
                        </a:rPr>
                        <a:t>271,671</a:t>
                      </a:r>
                    </a:p>
                  </a:txBody>
                  <a:tcPr marL="36000" marR="36000" marT="7200" marB="7200" anchor="ctr">
                    <a:solidFill>
                      <a:srgbClr val="E3E7E9"/>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2968094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411451-02A5-56C7-8AF6-DBDAA7CFCC10}"/>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F326988B-EA79-EED8-C9CB-DD122747A00F}"/>
              </a:ext>
            </a:extLst>
          </p:cNvPr>
          <p:cNvSpPr>
            <a:spLocks noGrp="1"/>
          </p:cNvSpPr>
          <p:nvPr>
            <p:ph type="ctrTitle"/>
          </p:nvPr>
        </p:nvSpPr>
        <p:spPr>
          <a:xfrm>
            <a:off x="311150" y="180296"/>
            <a:ext cx="7799917" cy="339267"/>
          </a:xfrm>
        </p:spPr>
        <p:txBody>
          <a:bodyPr>
            <a:normAutofit/>
          </a:bodyPr>
          <a:lstStyle/>
          <a:p>
            <a:r>
              <a:rPr lang="ja-JP" altLang="en-US" dirty="0"/>
              <a:t>販売費及び一般管理費</a:t>
            </a:r>
          </a:p>
        </p:txBody>
      </p:sp>
      <p:sp>
        <p:nvSpPr>
          <p:cNvPr id="5" name="タイトル 1">
            <a:extLst>
              <a:ext uri="{FF2B5EF4-FFF2-40B4-BE49-F238E27FC236}">
                <a16:creationId xmlns:a16="http://schemas.microsoft.com/office/drawing/2014/main" id="{7691939A-6180-3920-2B7D-F305819429CD}"/>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財務情報詳細</a:t>
            </a:r>
          </a:p>
        </p:txBody>
      </p:sp>
      <p:sp>
        <p:nvSpPr>
          <p:cNvPr id="4" name="字幕 13">
            <a:extLst>
              <a:ext uri="{FF2B5EF4-FFF2-40B4-BE49-F238E27FC236}">
                <a16:creationId xmlns:a16="http://schemas.microsoft.com/office/drawing/2014/main" id="{7F8A1EE0-ADF4-993B-FF72-FBEC016B826B}"/>
              </a:ext>
            </a:extLst>
          </p:cNvPr>
          <p:cNvSpPr>
            <a:spLocks noGrp="1"/>
          </p:cNvSpPr>
          <p:nvPr>
            <p:ph type="subTitle" idx="1"/>
          </p:nvPr>
        </p:nvSpPr>
        <p:spPr>
          <a:xfrm>
            <a:off x="460675" y="830046"/>
            <a:ext cx="9781875" cy="241861"/>
          </a:xfrm>
        </p:spPr>
        <p:txBody>
          <a:bodyPr>
            <a:noAutofit/>
          </a:bodyPr>
          <a:lstStyle/>
          <a:p>
            <a:r>
              <a:rPr dirty="0" err="1">
                <a:latin typeface="+mj-ea"/>
                <a:ea typeface="+mj-ea"/>
              </a:rPr>
              <a:t>販管費の中心は人件費</a:t>
            </a:r>
            <a:r>
              <a:rPr lang="ja-JP" altLang="en-US" dirty="0">
                <a:latin typeface="+mj-ea"/>
                <a:ea typeface="+mj-ea"/>
              </a:rPr>
              <a:t>（役員報酬・給料・賞与・法定福利等）</a:t>
            </a:r>
            <a:r>
              <a:rPr dirty="0">
                <a:latin typeface="+mj-ea"/>
                <a:ea typeface="+mj-ea"/>
              </a:rPr>
              <a:t>。少数精鋭体制により総額を抑制しつつ、</a:t>
            </a:r>
            <a:r>
              <a:rPr lang="en-US" dirty="0">
                <a:latin typeface="+mj-ea"/>
                <a:ea typeface="+mj-ea"/>
              </a:rPr>
              <a:t>2026</a:t>
            </a:r>
            <a:r>
              <a:rPr dirty="0">
                <a:latin typeface="+mj-ea"/>
                <a:ea typeface="+mj-ea"/>
              </a:rPr>
              <a:t>年1月期は</a:t>
            </a:r>
            <a:r>
              <a:rPr lang="en-US" dirty="0">
                <a:latin typeface="+mj-ea"/>
                <a:ea typeface="+mj-ea"/>
              </a:rPr>
              <a:t>92,289</a:t>
            </a:r>
            <a:r>
              <a:rPr lang="ja-JP" altLang="en-US" dirty="0">
                <a:latin typeface="+mj-ea"/>
                <a:ea typeface="+mj-ea"/>
              </a:rPr>
              <a:t>千円</a:t>
            </a:r>
            <a:r>
              <a:rPr dirty="0" err="1">
                <a:latin typeface="+mj-ea"/>
                <a:ea typeface="+mj-ea"/>
              </a:rPr>
              <a:t>で推移</a:t>
            </a:r>
            <a:r>
              <a:rPr dirty="0">
                <a:latin typeface="+mj-ea"/>
                <a:ea typeface="+mj-ea"/>
              </a:rPr>
              <a:t>。</a:t>
            </a:r>
            <a:endParaRPr lang="en-US" altLang="ja-JP" dirty="0"/>
          </a:p>
        </p:txBody>
      </p:sp>
      <p:sp>
        <p:nvSpPr>
          <p:cNvPr id="3" name="テキスト ボックス 2">
            <a:extLst>
              <a:ext uri="{FF2B5EF4-FFF2-40B4-BE49-F238E27FC236}">
                <a16:creationId xmlns:a16="http://schemas.microsoft.com/office/drawing/2014/main" id="{6BA87817-38E4-3F47-34EB-C9702B87B984}"/>
              </a:ext>
            </a:extLst>
          </p:cNvPr>
          <p:cNvSpPr txBox="1"/>
          <p:nvPr/>
        </p:nvSpPr>
        <p:spPr>
          <a:xfrm>
            <a:off x="10903839" y="874558"/>
            <a:ext cx="3894836" cy="1015663"/>
          </a:xfrm>
          <a:prstGeom prst="rect">
            <a:avLst/>
          </a:prstGeom>
          <a:noFill/>
        </p:spPr>
        <p:txBody>
          <a:bodyPr wrap="square" lIns="288000" tIns="0" rIns="252000" bIns="0" rtlCol="0">
            <a:spAutoFit/>
          </a:bodyPr>
          <a:lstStyle/>
          <a:p>
            <a:r>
              <a:rPr sz="1050" dirty="0">
                <a:latin typeface="+mn-ea"/>
                <a:ea typeface="+mn-ea"/>
              </a:rPr>
              <a:t>・</a:t>
            </a:r>
            <a:r>
              <a:rPr sz="1050" dirty="0" err="1">
                <a:latin typeface="+mn-ea"/>
                <a:ea typeface="+mn-ea"/>
              </a:rPr>
              <a:t>人件費（役員報酬・給料・賞与・法定福利</a:t>
            </a:r>
            <a:endParaRPr kumimoji="1" lang="en-US" altLang="ja-JP" sz="1100" dirty="0">
              <a:solidFill>
                <a:schemeClr val="tx1"/>
              </a:solidFill>
              <a:latin typeface="+mn-ea"/>
              <a:ea typeface="+mn-ea"/>
            </a:endParaRPr>
          </a:p>
          <a:p>
            <a:r>
              <a:rPr sz="1050" dirty="0">
                <a:latin typeface="+mn-ea"/>
                <a:ea typeface="+mn-ea"/>
              </a:rPr>
              <a:t>　</a:t>
            </a:r>
            <a:r>
              <a:rPr sz="1050" dirty="0" err="1">
                <a:latin typeface="+mn-ea"/>
                <a:ea typeface="+mn-ea"/>
              </a:rPr>
              <a:t>等）が最大費目。少数精鋭で人件費を抑制</a:t>
            </a:r>
            <a:endParaRPr sz="1050" dirty="0">
              <a:latin typeface="+mn-ea"/>
              <a:ea typeface="+mn-ea"/>
            </a:endParaRPr>
          </a:p>
          <a:p>
            <a:endParaRPr sz="1050" dirty="0">
              <a:latin typeface="+mn-ea"/>
              <a:ea typeface="+mn-ea"/>
            </a:endParaRPr>
          </a:p>
          <a:p>
            <a:r>
              <a:rPr sz="1050" dirty="0">
                <a:latin typeface="+mn-ea"/>
                <a:ea typeface="+mn-ea"/>
              </a:rPr>
              <a:t>・荷造運賃、地代家賃（年約5,500千円）等が</a:t>
            </a:r>
          </a:p>
          <a:p>
            <a:r>
              <a:rPr sz="1050" dirty="0">
                <a:latin typeface="+mn-ea"/>
                <a:ea typeface="+mn-ea"/>
              </a:rPr>
              <a:t>　</a:t>
            </a:r>
            <a:r>
              <a:rPr sz="1050" dirty="0" err="1">
                <a:latin typeface="+mn-ea"/>
                <a:ea typeface="+mn-ea"/>
              </a:rPr>
              <a:t>主な固定費</a:t>
            </a:r>
            <a:endParaRPr sz="1050" dirty="0">
              <a:latin typeface="+mn-ea"/>
              <a:ea typeface="+mn-ea"/>
            </a:endParaRPr>
          </a:p>
          <a:p>
            <a:endParaRPr sz="1050" dirty="0">
              <a:latin typeface="+mn-ea"/>
              <a:ea typeface="+mn-ea"/>
            </a:endParaRPr>
          </a:p>
          <a:p>
            <a:r>
              <a:rPr sz="1050" dirty="0">
                <a:latin typeface="+mn-ea"/>
                <a:ea typeface="+mn-ea"/>
              </a:rPr>
              <a:t>・役員賞与20,000千円等は正常収益力算定上</a:t>
            </a:r>
          </a:p>
          <a:p>
            <a:r>
              <a:rPr sz="1050" dirty="0">
                <a:latin typeface="+mn-ea"/>
                <a:ea typeface="+mn-ea"/>
              </a:rPr>
              <a:t>　</a:t>
            </a:r>
            <a:r>
              <a:rPr sz="1050" dirty="0" err="1">
                <a:latin typeface="+mn-ea"/>
                <a:ea typeface="+mn-ea"/>
              </a:rPr>
              <a:t>の調整候補</a:t>
            </a:r>
            <a:endParaRPr sz="1050" dirty="0">
              <a:latin typeface="+mn-ea"/>
              <a:ea typeface="+mn-ea"/>
            </a:endParaRPr>
          </a:p>
        </p:txBody>
      </p:sp>
      <p:graphicFrame>
        <p:nvGraphicFramePr>
          <p:cNvPr id="7" name="表 6">
            <a:extLst>
              <a:ext uri="{FF2B5EF4-FFF2-40B4-BE49-F238E27FC236}">
                <a16:creationId xmlns:a16="http://schemas.microsoft.com/office/drawing/2014/main" id="{F2C6E108-AB48-0E21-9228-52AD13179871}"/>
              </a:ext>
            </a:extLst>
          </p:cNvPr>
          <p:cNvGraphicFramePr>
            <a:graphicFrameLocks noGrp="1"/>
          </p:cNvGraphicFramePr>
          <p:nvPr>
            <p:extLst>
              <p:ext uri="{D42A27DB-BD31-4B8C-83A1-F6EECF244321}">
                <p14:modId xmlns:p14="http://schemas.microsoft.com/office/powerpoint/2010/main" val="3083789522"/>
              </p:ext>
            </p:extLst>
          </p:nvPr>
        </p:nvGraphicFramePr>
        <p:xfrm>
          <a:off x="341313" y="1381912"/>
          <a:ext cx="8311077" cy="5459228"/>
        </p:xfrm>
        <a:graphic>
          <a:graphicData uri="http://schemas.openxmlformats.org/drawingml/2006/table">
            <a:tbl>
              <a:tblPr/>
              <a:tblGrid>
                <a:gridCol w="1972119">
                  <a:extLst>
                    <a:ext uri="{9D8B030D-6E8A-4147-A177-3AD203B41FA5}">
                      <a16:colId xmlns:a16="http://schemas.microsoft.com/office/drawing/2014/main" val="1715146085"/>
                    </a:ext>
                  </a:extLst>
                </a:gridCol>
                <a:gridCol w="1056493">
                  <a:extLst>
                    <a:ext uri="{9D8B030D-6E8A-4147-A177-3AD203B41FA5}">
                      <a16:colId xmlns:a16="http://schemas.microsoft.com/office/drawing/2014/main" val="2220347708"/>
                    </a:ext>
                  </a:extLst>
                </a:gridCol>
                <a:gridCol w="1056493">
                  <a:extLst>
                    <a:ext uri="{9D8B030D-6E8A-4147-A177-3AD203B41FA5}">
                      <a16:colId xmlns:a16="http://schemas.microsoft.com/office/drawing/2014/main" val="1870627800"/>
                    </a:ext>
                  </a:extLst>
                </a:gridCol>
                <a:gridCol w="1056493">
                  <a:extLst>
                    <a:ext uri="{9D8B030D-6E8A-4147-A177-3AD203B41FA5}">
                      <a16:colId xmlns:a16="http://schemas.microsoft.com/office/drawing/2014/main" val="2613027751"/>
                    </a:ext>
                  </a:extLst>
                </a:gridCol>
                <a:gridCol w="1056493">
                  <a:extLst>
                    <a:ext uri="{9D8B030D-6E8A-4147-A177-3AD203B41FA5}">
                      <a16:colId xmlns:a16="http://schemas.microsoft.com/office/drawing/2014/main" val="2737650701"/>
                    </a:ext>
                  </a:extLst>
                </a:gridCol>
                <a:gridCol w="1056493">
                  <a:extLst>
                    <a:ext uri="{9D8B030D-6E8A-4147-A177-3AD203B41FA5}">
                      <a16:colId xmlns:a16="http://schemas.microsoft.com/office/drawing/2014/main" val="442705657"/>
                    </a:ext>
                  </a:extLst>
                </a:gridCol>
                <a:gridCol w="1056493">
                  <a:extLst>
                    <a:ext uri="{9D8B030D-6E8A-4147-A177-3AD203B41FA5}">
                      <a16:colId xmlns:a16="http://schemas.microsoft.com/office/drawing/2014/main" val="3326341676"/>
                    </a:ext>
                  </a:extLst>
                </a:gridCol>
              </a:tblGrid>
              <a:tr h="131596">
                <a:tc>
                  <a:txBody>
                    <a:bodyPr/>
                    <a:lstStyle/>
                    <a:p>
                      <a:pPr algn="l" fontAlgn="ctr">
                        <a:buNone/>
                      </a:pPr>
                      <a:endParaRPr lang="ja-JP"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l" fontAlgn="b">
                        <a:buNone/>
                      </a:pPr>
                      <a:endParaRPr lang="ja-JP"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b">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l" fontAlgn="b">
                        <a:buNone/>
                      </a:pPr>
                      <a:endParaRPr lang="ja-JP"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b">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(単位：千円)</a:t>
                      </a:r>
                    </a:p>
                  </a:txBody>
                  <a:tcPr marL="0" marR="0" marT="0" marB="0" anchor="ctr">
                    <a:lnL>
                      <a:noFill/>
                    </a:lnL>
                    <a:lnR>
                      <a:noFill/>
                    </a:lnR>
                    <a:lnT>
                      <a:noFill/>
                    </a:lnT>
                    <a:lnB>
                      <a:noFill/>
                    </a:lnB>
                    <a:noFill/>
                  </a:tcPr>
                </a:tc>
                <a:extLst>
                  <a:ext uri="{0D108BD9-81ED-4DB2-BD59-A6C34878D82A}">
                    <a16:rowId xmlns:a16="http://schemas.microsoft.com/office/drawing/2014/main" val="1339897859"/>
                  </a:ext>
                </a:extLst>
              </a:tr>
              <a:tr h="136860">
                <a:tc rowSpan="2">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科目</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0B3041"/>
                    </a:solidFill>
                  </a:tcPr>
                </a:tc>
                <a:tc gridSpan="2">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a:t>
                      </a: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24年1月期</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kumimoji="1" lang="ja-JP" altLang="en-US"/>
                    </a:p>
                  </a:txBody>
                  <a:tcPr/>
                </a:tc>
                <a:tc gridSpan="2">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a:t>
                      </a: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25年1月期</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kumimoji="1" lang="ja-JP" altLang="en-US"/>
                    </a:p>
                  </a:txBody>
                  <a:tcPr/>
                </a:tc>
                <a:tc gridSpan="2">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a:t>
                      </a: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26年1月期</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kumimoji="1" lang="ja-JP" altLang="en-US"/>
                    </a:p>
                  </a:txBody>
                  <a:tcPr/>
                </a:tc>
                <a:extLst>
                  <a:ext uri="{0D108BD9-81ED-4DB2-BD59-A6C34878D82A}">
                    <a16:rowId xmlns:a16="http://schemas.microsoft.com/office/drawing/2014/main" val="3229329223"/>
                  </a:ext>
                </a:extLst>
              </a:tr>
              <a:tr h="136860">
                <a:tc vMerge="1">
                  <a:txBody>
                    <a:bodyPr/>
                    <a:lstStyle/>
                    <a:p>
                      <a:endParaRPr kumimoji="1" lang="ja-JP" altLang="en-US"/>
                    </a:p>
                  </a:txBody>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売上高比</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売上高比</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売上高比</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extLst>
                  <a:ext uri="{0D108BD9-81ED-4DB2-BD59-A6C34878D82A}">
                    <a16:rowId xmlns:a16="http://schemas.microsoft.com/office/drawing/2014/main" val="3944124900"/>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役員報酬</a:t>
                      </a:r>
                    </a:p>
                  </a:txBody>
                  <a:tcPr marL="110993" marR="0" marT="0" marB="0" anchor="ctr">
                    <a:lnL w="6350" cap="flat" cmpd="sng" algn="ctr">
                      <a:solidFill>
                        <a:srgbClr val="FFFFFF"/>
                      </a:solidFill>
                      <a:prstDash val="solid"/>
                      <a:round/>
                      <a:headEnd type="none" w="med" len="med"/>
                      <a:tailEnd type="none" w="med" len="med"/>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1,104</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0.3%</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1,104</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4,094</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4242895648"/>
                  </a:ext>
                </a:extLst>
              </a:tr>
              <a:tr h="157916">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役員賞与</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18,000</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5.7%</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20,000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4.5%</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20,000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4.7%</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703147187"/>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給料手当</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33,649</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10.6%</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29,811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6.7%</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27,939</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6.6%</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285516720"/>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雑給</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2,539</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0.8%</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6,545</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1.5%</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299</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819073524"/>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賞与</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4,065</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1.3%</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6,079</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1.4%</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87300881"/>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法定福利費</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6,407</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6,395</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1.4%</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6,367</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1.5%</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815025958"/>
                  </a:ext>
                </a:extLst>
              </a:tr>
              <a:tr h="157916">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福利厚生費</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1,932</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0.6%</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422</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706</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345312703"/>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採用教育費</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280</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1,480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0.3%</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921622069"/>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荷造運賃</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9,236</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2.9%</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13,487</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3.0%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7,105</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1.7%</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945737455"/>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広告宣伝費</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152</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143</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841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18158390"/>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接待交際費</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1,440</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0.5%</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1,738</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0.4%</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2,336</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0.6%</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292841796"/>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会議費</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212</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215</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284</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919936008"/>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旅費交通費</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646</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2,130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0.5%</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1,019</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64093421"/>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通信費</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1,416</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0.4%</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1,506</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0.3%</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1,507</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0.4%</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581510106"/>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販売促進費</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65</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948667689"/>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事務用消耗品費</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1,146</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0.4%</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1,701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0.4%</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1,195</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0.3%</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143914488"/>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修繕費</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45</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190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733017899"/>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水道光熱費</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394</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403</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413</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172540564"/>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諸会費</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57</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36</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48</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461679308"/>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支払手数料</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3,168</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3,674</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0.8%</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1,179</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0.3%</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700103300"/>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車両費</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650</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479</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717</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195589764"/>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地代家賃</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5,430</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1.7%</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5,430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1.2%</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5,501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1.3%</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623005787"/>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リース料</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131</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161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148</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847150665"/>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保険料</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710</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1,090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735</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280006478"/>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租税公課</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235</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175</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269</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485997798"/>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支払報酬料</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755</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755</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762</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595690978"/>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寄付金</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50</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50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304048465"/>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研究開発費</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175</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575</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170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142085347"/>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減価償却費</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881</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0.3%</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645</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1,183</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0.3%</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28462511"/>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貸倒引当金繰入額</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803</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0.3%</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246</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201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663933748"/>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通勤</a:t>
                      </a:r>
                    </a:p>
                  </a:txBody>
                  <a:tcPr marL="110993" marR="0" marT="0" marB="0" anchor="ctr">
                    <a:lnL>
                      <a:noFill/>
                    </a:lnL>
                    <a:lnR>
                      <a:noFill/>
                    </a:lnR>
                    <a:lnT>
                      <a:noFill/>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1,623</a:t>
                      </a:r>
                    </a:p>
                  </a:txBody>
                  <a:tcPr marL="0" marR="55497" marT="0"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0.5%</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1,143</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0.3%</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24478678"/>
                  </a:ext>
                </a:extLst>
              </a:tr>
              <a:tr h="157916">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販売費および一般管理費合計</a:t>
                      </a:r>
                    </a:p>
                  </a:txBody>
                  <a:tcPr marL="0"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97,396</a:t>
                      </a:r>
                    </a:p>
                  </a:txBody>
                  <a:tcPr marL="0" marR="55497"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30.7%</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100,736</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22.7%</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dirty="0">
                          <a:solidFill>
                            <a:srgbClr val="000000"/>
                          </a:solidFill>
                          <a:effectLst/>
                          <a:latin typeface="游ゴシック" panose="020B0400000000000000" pitchFamily="50" charset="-128"/>
                          <a:ea typeface="游ゴシック" panose="020B0400000000000000" pitchFamily="50" charset="-128"/>
                        </a:rPr>
                        <a:t>92,289</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21.8%</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186393275"/>
                  </a:ext>
                </a:extLst>
              </a:tr>
            </a:tbl>
          </a:graphicData>
        </a:graphic>
      </p:graphicFrame>
    </p:spTree>
    <p:extLst>
      <p:ext uri="{BB962C8B-B14F-4D97-AF65-F5344CB8AC3E}">
        <p14:creationId xmlns:p14="http://schemas.microsoft.com/office/powerpoint/2010/main" val="19093800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6E9481-F171-6C11-CA74-858754CED30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1067C0B-FDBB-DAD1-C4BF-FB866758BEC6}"/>
              </a:ext>
            </a:extLst>
          </p:cNvPr>
          <p:cNvSpPr>
            <a:spLocks noGrp="1"/>
          </p:cNvSpPr>
          <p:nvPr>
            <p:ph type="title"/>
          </p:nvPr>
        </p:nvSpPr>
        <p:spPr>
          <a:xfrm>
            <a:off x="989013" y="3656161"/>
            <a:ext cx="9221787" cy="615553"/>
          </a:xfrm>
        </p:spPr>
        <p:txBody>
          <a:bodyPr/>
          <a:lstStyle/>
          <a:p>
            <a:r>
              <a:rPr lang="en-US" altLang="ja-JP" dirty="0"/>
              <a:t>Appendix</a:t>
            </a:r>
          </a:p>
        </p:txBody>
      </p:sp>
      <p:pic>
        <p:nvPicPr>
          <p:cNvPr id="7" name="図 6">
            <a:extLst>
              <a:ext uri="{FF2B5EF4-FFF2-40B4-BE49-F238E27FC236}">
                <a16:creationId xmlns:a16="http://schemas.microsoft.com/office/drawing/2014/main" id="{BE44F769-AF87-1EF8-CEAB-4A2DEB29EB7A}"/>
              </a:ext>
            </a:extLst>
          </p:cNvPr>
          <p:cNvPicPr>
            <a:picLocks noChangeAspect="1"/>
          </p:cNvPicPr>
          <p:nvPr/>
        </p:nvPicPr>
        <p:blipFill>
          <a:blip/>
          <a:stretch>
            <a:fillRect/>
          </a:stretch>
        </p:blipFill>
        <p:spPr>
          <a:xfrm>
            <a:off x="7776467" y="3981785"/>
            <a:ext cx="21" cy="20"/>
          </a:xfrm>
          <a:prstGeom prst="rect">
            <a:avLst/>
          </a:prstGeom>
        </p:spPr>
      </p:pic>
      <p:pic>
        <p:nvPicPr>
          <p:cNvPr id="9" name="図 8">
            <a:extLst>
              <a:ext uri="{FF2B5EF4-FFF2-40B4-BE49-F238E27FC236}">
                <a16:creationId xmlns:a16="http://schemas.microsoft.com/office/drawing/2014/main" id="{41B259AF-F3E6-3AB0-F8AA-FC2C3824ADE5}"/>
              </a:ext>
            </a:extLst>
          </p:cNvPr>
          <p:cNvPicPr>
            <a:picLocks noChangeAspect="1"/>
          </p:cNvPicPr>
          <p:nvPr/>
        </p:nvPicPr>
        <p:blipFill>
          <a:blip/>
          <a:stretch>
            <a:fillRect/>
          </a:stretch>
        </p:blipFill>
        <p:spPr>
          <a:xfrm>
            <a:off x="7776467" y="3981785"/>
            <a:ext cx="21" cy="20"/>
          </a:xfrm>
          <a:prstGeom prst="rect">
            <a:avLst/>
          </a:prstGeom>
        </p:spPr>
      </p:pic>
    </p:spTree>
    <p:extLst>
      <p:ext uri="{BB962C8B-B14F-4D97-AF65-F5344CB8AC3E}">
        <p14:creationId xmlns:p14="http://schemas.microsoft.com/office/powerpoint/2010/main" val="341302377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2E3EC-2048-079E-7643-70D2CF76772A}"/>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02E27983-8C8F-AAE9-9CF2-1036574B4BDE}"/>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rPr>
              <a:t>沿革</a:t>
            </a:r>
          </a:p>
        </p:txBody>
      </p:sp>
      <p:sp>
        <p:nvSpPr>
          <p:cNvPr id="5" name="タイトル 1">
            <a:extLst>
              <a:ext uri="{FF2B5EF4-FFF2-40B4-BE49-F238E27FC236}">
                <a16:creationId xmlns:a16="http://schemas.microsoft.com/office/drawing/2014/main" id="{7C6D20B5-6E7B-D773-483A-3D3213A63C3D}"/>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en-US" altLang="ja-JP" sz="1200" b="1" spc="55" dirty="0">
                <a:solidFill>
                  <a:schemeClr val="bg1"/>
                </a:solidFill>
                <a:latin typeface="游ゴシック" panose="020B0400000000000000" pitchFamily="50" charset="-128"/>
                <a:ea typeface="游ゴシック" panose="020B0400000000000000" pitchFamily="50" charset="-128"/>
              </a:rPr>
              <a:t>Appendix</a:t>
            </a:r>
            <a:endParaRPr lang="ja-JP" altLang="en-US" sz="1200" b="1" spc="55" dirty="0">
              <a:solidFill>
                <a:schemeClr val="bg1"/>
              </a:solidFill>
              <a:latin typeface="游ゴシック" panose="020B0400000000000000" pitchFamily="50" charset="-128"/>
              <a:ea typeface="游ゴシック" panose="020B0400000000000000" pitchFamily="50" charset="-128"/>
            </a:endParaRPr>
          </a:p>
        </p:txBody>
      </p:sp>
      <p:sp>
        <p:nvSpPr>
          <p:cNvPr id="4" name="字幕 13">
            <a:extLst>
              <a:ext uri="{FF2B5EF4-FFF2-40B4-BE49-F238E27FC236}">
                <a16:creationId xmlns:a16="http://schemas.microsoft.com/office/drawing/2014/main" id="{16508C02-2E69-432A-5CCB-7583CED20D5E}"/>
              </a:ext>
            </a:extLst>
          </p:cNvPr>
          <p:cNvSpPr>
            <a:spLocks noGrp="1"/>
          </p:cNvSpPr>
          <p:nvPr>
            <p:ph type="subTitle" idx="1"/>
          </p:nvPr>
        </p:nvSpPr>
        <p:spPr>
          <a:xfrm>
            <a:off x="460675" y="830046"/>
            <a:ext cx="9781875" cy="241861"/>
          </a:xfrm>
        </p:spPr>
        <p:txBody>
          <a:bodyPr>
            <a:noAutofit/>
          </a:bodyPr>
          <a:lstStyle/>
          <a:p>
            <a:r>
              <a:rPr dirty="0">
                <a:latin typeface="游ゴシック" panose="020B0400000000000000" pitchFamily="50" charset="-128"/>
                <a:ea typeface="游ゴシック" panose="020B0400000000000000" pitchFamily="50" charset="-128"/>
              </a:rPr>
              <a:t>2014年の設立以来、大手IPホルダーとの取引拡大と海外製造ネットワークの構築により事業を成長。</a:t>
            </a:r>
            <a:endParaRPr lang="en-US" altLang="ja-JP" dirty="0">
              <a:latin typeface="游ゴシック" panose="020B0400000000000000" pitchFamily="50" charset="-128"/>
              <a:ea typeface="游ゴシック" panose="020B0400000000000000" pitchFamily="50" charset="-128"/>
            </a:endParaRPr>
          </a:p>
        </p:txBody>
      </p:sp>
      <p:graphicFrame>
        <p:nvGraphicFramePr>
          <p:cNvPr id="14" name="Table 13"/>
          <p:cNvGraphicFramePr>
            <a:graphicFrameLocks noGrp="1"/>
          </p:cNvGraphicFramePr>
          <p:nvPr>
            <p:extLst>
              <p:ext uri="{D42A27DB-BD31-4B8C-83A1-F6EECF244321}">
                <p14:modId xmlns:p14="http://schemas.microsoft.com/office/powerpoint/2010/main" val="3654739537"/>
              </p:ext>
            </p:extLst>
          </p:nvPr>
        </p:nvGraphicFramePr>
        <p:xfrm>
          <a:off x="309600" y="1800000"/>
          <a:ext cx="10080000" cy="1620000"/>
        </p:xfrm>
        <a:graphic>
          <a:graphicData uri="http://schemas.openxmlformats.org/drawingml/2006/table">
            <a:tbl>
              <a:tblPr>
                <a:tableStyleId>{5C22544A-7EE6-4342-B048-85BDC9FD1C3A}</a:tableStyleId>
              </a:tblPr>
              <a:tblGrid>
                <a:gridCol w="1440000">
                  <a:extLst>
                    <a:ext uri="{9D8B030D-6E8A-4147-A177-3AD203B41FA5}">
                      <a16:colId xmlns:a16="http://schemas.microsoft.com/office/drawing/2014/main" val="20000"/>
                    </a:ext>
                  </a:extLst>
                </a:gridCol>
                <a:gridCol w="8640000">
                  <a:extLst>
                    <a:ext uri="{9D8B030D-6E8A-4147-A177-3AD203B41FA5}">
                      <a16:colId xmlns:a16="http://schemas.microsoft.com/office/drawing/2014/main" val="20001"/>
                    </a:ext>
                  </a:extLst>
                </a:gridCol>
              </a:tblGrid>
              <a:tr h="324000">
                <a:tc>
                  <a:txBody>
                    <a:bodyPr/>
                    <a:lstStyle/>
                    <a:p>
                      <a:pPr algn="ctr"/>
                      <a:r>
                        <a:rPr sz="1100" b="1">
                          <a:solidFill>
                            <a:srgbClr val="FFFFFF"/>
                          </a:solidFill>
                          <a:latin typeface="游ゴシック"/>
                          <a:ea typeface="游ゴシック"/>
                        </a:rPr>
                        <a:t>年月</a:t>
                      </a:r>
                    </a:p>
                  </a:txBody>
                  <a:tcPr marL="36000" marR="36000" marT="7200" marB="7200" anchor="ctr">
                    <a:solidFill>
                      <a:srgbClr val="0B3041"/>
                    </a:solidFill>
                  </a:tcPr>
                </a:tc>
                <a:tc>
                  <a:txBody>
                    <a:bodyPr/>
                    <a:lstStyle/>
                    <a:p>
                      <a:pPr algn="ctr"/>
                      <a:r>
                        <a:rPr sz="1100" b="1">
                          <a:solidFill>
                            <a:srgbClr val="FFFFFF"/>
                          </a:solidFill>
                          <a:latin typeface="游ゴシック"/>
                          <a:ea typeface="游ゴシック"/>
                        </a:rPr>
                        <a:t>内容</a:t>
                      </a:r>
                    </a:p>
                  </a:txBody>
                  <a:tcPr marL="36000" marR="36000" marT="7200" marB="7200" anchor="ctr">
                    <a:solidFill>
                      <a:srgbClr val="0B3041"/>
                    </a:solidFill>
                  </a:tcPr>
                </a:tc>
                <a:extLst>
                  <a:ext uri="{0D108BD9-81ED-4DB2-BD59-A6C34878D82A}">
                    <a16:rowId xmlns:a16="http://schemas.microsoft.com/office/drawing/2014/main" val="10000"/>
                  </a:ext>
                </a:extLst>
              </a:tr>
              <a:tr h="324000">
                <a:tc>
                  <a:txBody>
                    <a:bodyPr/>
                    <a:lstStyle/>
                    <a:p>
                      <a:pPr algn="l"/>
                      <a:r>
                        <a:rPr sz="1100" b="0" dirty="0">
                          <a:solidFill>
                            <a:sysClr val="windowText" lastClr="000000"/>
                          </a:solidFill>
                          <a:latin typeface="游ゴシック"/>
                          <a:ea typeface="游ゴシック"/>
                        </a:rPr>
                        <a:t>2014年2月</a:t>
                      </a:r>
                    </a:p>
                  </a:txBody>
                  <a:tcPr marL="36000" marR="36000" marT="7200" marB="7200" anchor="ctr">
                    <a:solidFill>
                      <a:srgbClr val="FFFFFF"/>
                    </a:solidFill>
                  </a:tcPr>
                </a:tc>
                <a:tc>
                  <a:txBody>
                    <a:bodyPr/>
                    <a:lstStyle/>
                    <a:p>
                      <a:pPr algn="l"/>
                      <a:r>
                        <a:rPr sz="1100" b="0">
                          <a:solidFill>
                            <a:sysClr val="windowText" lastClr="000000"/>
                          </a:solidFill>
                          <a:latin typeface="游ゴシック"/>
                          <a:ea typeface="游ゴシック"/>
                        </a:rPr>
                        <a:t>株式会社カナリア設立（東京都台東区）。アニメ・ゲームIPを活用したキャラクターグッズの企画・製造・販売を開始</a:t>
                      </a:r>
                    </a:p>
                  </a:txBody>
                  <a:tcPr marL="36000" marR="36000" marT="7200" marB="7200" anchor="ctr">
                    <a:solidFill>
                      <a:srgbClr val="FFFFFF"/>
                    </a:solidFill>
                  </a:tcPr>
                </a:tc>
                <a:extLst>
                  <a:ext uri="{0D108BD9-81ED-4DB2-BD59-A6C34878D82A}">
                    <a16:rowId xmlns:a16="http://schemas.microsoft.com/office/drawing/2014/main" val="10001"/>
                  </a:ext>
                </a:extLst>
              </a:tr>
              <a:tr h="324000">
                <a:tc>
                  <a:txBody>
                    <a:bodyPr/>
                    <a:lstStyle/>
                    <a:p>
                      <a:pPr algn="l"/>
                      <a:r>
                        <a:rPr sz="1100" b="0" dirty="0" err="1">
                          <a:solidFill>
                            <a:sysClr val="windowText" lastClr="000000"/>
                          </a:solidFill>
                          <a:latin typeface="游ゴシック"/>
                          <a:ea typeface="游ゴシック"/>
                        </a:rPr>
                        <a:t>設立以降</a:t>
                      </a:r>
                      <a:endParaRPr sz="1100" b="0" dirty="0">
                        <a:solidFill>
                          <a:sysClr val="windowText" lastClr="000000"/>
                        </a:solidFill>
                        <a:latin typeface="游ゴシック"/>
                        <a:ea typeface="游ゴシック"/>
                      </a:endParaRPr>
                    </a:p>
                  </a:txBody>
                  <a:tcPr marL="36000" marR="36000" marT="7200" marB="7200" anchor="ctr">
                    <a:solidFill>
                      <a:srgbClr val="F4F7F9"/>
                    </a:solidFill>
                  </a:tcPr>
                </a:tc>
                <a:tc>
                  <a:txBody>
                    <a:bodyPr/>
                    <a:lstStyle/>
                    <a:p>
                      <a:pPr algn="l"/>
                      <a:r>
                        <a:rPr sz="1100" b="0" dirty="0" err="1">
                          <a:solidFill>
                            <a:sysClr val="windowText" lastClr="000000"/>
                          </a:solidFill>
                          <a:latin typeface="游ゴシック"/>
                          <a:ea typeface="游ゴシック"/>
                        </a:rPr>
                        <a:t>大手IPホルダーとの商品化取引を拡大、中国等の海外製造委託ネットワークを構築</a:t>
                      </a:r>
                      <a:endParaRPr sz="1100" b="0" dirty="0">
                        <a:solidFill>
                          <a:sysClr val="windowText" lastClr="000000"/>
                        </a:solidFill>
                        <a:latin typeface="游ゴシック"/>
                        <a:ea typeface="游ゴシック"/>
                      </a:endParaRPr>
                    </a:p>
                  </a:txBody>
                  <a:tcPr marL="36000" marR="36000" marT="7200" marB="7200" anchor="ctr">
                    <a:solidFill>
                      <a:srgbClr val="F4F7F9"/>
                    </a:solidFill>
                  </a:tcPr>
                </a:tc>
                <a:extLst>
                  <a:ext uri="{0D108BD9-81ED-4DB2-BD59-A6C34878D82A}">
                    <a16:rowId xmlns:a16="http://schemas.microsoft.com/office/drawing/2014/main" val="10002"/>
                  </a:ext>
                </a:extLst>
              </a:tr>
              <a:tr h="324000">
                <a:tc>
                  <a:txBody>
                    <a:bodyPr/>
                    <a:lstStyle/>
                    <a:p>
                      <a:pPr algn="l"/>
                      <a:r>
                        <a:rPr sz="1100" b="0" dirty="0" err="1">
                          <a:solidFill>
                            <a:sysClr val="windowText" lastClr="000000"/>
                          </a:solidFill>
                          <a:latin typeface="游ゴシック"/>
                          <a:ea typeface="游ゴシック"/>
                        </a:rPr>
                        <a:t>設立以降</a:t>
                      </a:r>
                      <a:endParaRPr sz="1100" b="0" dirty="0">
                        <a:solidFill>
                          <a:sysClr val="windowText" lastClr="000000"/>
                        </a:solidFill>
                        <a:latin typeface="游ゴシック"/>
                        <a:ea typeface="游ゴシック"/>
                      </a:endParaRPr>
                    </a:p>
                  </a:txBody>
                  <a:tcPr marL="36000" marR="36000" marT="7200" marB="7200" anchor="ctr">
                    <a:solidFill>
                      <a:srgbClr val="FFFFFF"/>
                    </a:solidFill>
                  </a:tcPr>
                </a:tc>
                <a:tc>
                  <a:txBody>
                    <a:bodyPr/>
                    <a:lstStyle/>
                    <a:p>
                      <a:pPr algn="l"/>
                      <a:r>
                        <a:rPr sz="1100" b="0" dirty="0" err="1">
                          <a:solidFill>
                            <a:sysClr val="windowText" lastClr="000000"/>
                          </a:solidFill>
                          <a:latin typeface="游ゴシック"/>
                          <a:ea typeface="游ゴシック"/>
                        </a:rPr>
                        <a:t>自社オリジナルくじ商品「スターくじ</a:t>
                      </a:r>
                      <a:r>
                        <a:rPr sz="1100" b="0" dirty="0">
                          <a:solidFill>
                            <a:sysClr val="windowText" lastClr="000000"/>
                          </a:solidFill>
                          <a:latin typeface="游ゴシック"/>
                          <a:ea typeface="游ゴシック"/>
                        </a:rPr>
                        <a:t>」「</a:t>
                      </a:r>
                      <a:r>
                        <a:rPr sz="1100" b="0" dirty="0" err="1">
                          <a:solidFill>
                            <a:sysClr val="windowText" lastClr="000000"/>
                          </a:solidFill>
                          <a:latin typeface="游ゴシック"/>
                          <a:ea typeface="游ゴシック"/>
                        </a:rPr>
                        <a:t>あたりツキ</a:t>
                      </a:r>
                      <a:r>
                        <a:rPr sz="1100" b="0" dirty="0">
                          <a:solidFill>
                            <a:sysClr val="windowText" lastClr="000000"/>
                          </a:solidFill>
                          <a:latin typeface="游ゴシック"/>
                          <a:ea typeface="游ゴシック"/>
                        </a:rPr>
                        <a:t>！」</a:t>
                      </a:r>
                      <a:r>
                        <a:rPr sz="1100" b="0" dirty="0" err="1">
                          <a:solidFill>
                            <a:sysClr val="windowText" lastClr="000000"/>
                          </a:solidFill>
                          <a:latin typeface="游ゴシック"/>
                          <a:ea typeface="游ゴシック"/>
                        </a:rPr>
                        <a:t>シリーズを展開</a:t>
                      </a:r>
                      <a:endParaRPr sz="1100" b="0" dirty="0">
                        <a:solidFill>
                          <a:sysClr val="windowText" lastClr="000000"/>
                        </a:solidFill>
                        <a:latin typeface="游ゴシック"/>
                        <a:ea typeface="游ゴシック"/>
                      </a:endParaRPr>
                    </a:p>
                  </a:txBody>
                  <a:tcPr marL="36000" marR="36000" marT="7200" marB="7200" anchor="ctr">
                    <a:solidFill>
                      <a:srgbClr val="FFFFFF"/>
                    </a:solidFill>
                  </a:tcPr>
                </a:tc>
                <a:extLst>
                  <a:ext uri="{0D108BD9-81ED-4DB2-BD59-A6C34878D82A}">
                    <a16:rowId xmlns:a16="http://schemas.microsoft.com/office/drawing/2014/main" val="10003"/>
                  </a:ext>
                </a:extLst>
              </a:tr>
              <a:tr h="324000">
                <a:tc>
                  <a:txBody>
                    <a:bodyPr/>
                    <a:lstStyle/>
                    <a:p>
                      <a:pPr algn="l"/>
                      <a:r>
                        <a:rPr sz="1100" b="0">
                          <a:solidFill>
                            <a:sysClr val="windowText" lastClr="000000"/>
                          </a:solidFill>
                          <a:latin typeface="游ゴシック"/>
                          <a:ea typeface="游ゴシック"/>
                        </a:rPr>
                        <a:t>2025年4月</a:t>
                      </a:r>
                    </a:p>
                  </a:txBody>
                  <a:tcPr marL="36000" marR="36000" marT="7200" marB="7200" anchor="ctr">
                    <a:solidFill>
                      <a:srgbClr val="F4F7F9"/>
                    </a:solidFill>
                  </a:tcPr>
                </a:tc>
                <a:tc>
                  <a:txBody>
                    <a:bodyPr/>
                    <a:lstStyle/>
                    <a:p>
                      <a:pPr algn="l"/>
                      <a:r>
                        <a:rPr sz="1100" b="0" dirty="0" err="1">
                          <a:solidFill>
                            <a:sysClr val="windowText" lastClr="000000"/>
                          </a:solidFill>
                          <a:latin typeface="游ゴシック"/>
                          <a:ea typeface="游ゴシック"/>
                        </a:rPr>
                        <a:t>取締役</a:t>
                      </a:r>
                      <a:r>
                        <a:rPr sz="1100" b="0" dirty="0">
                          <a:solidFill>
                            <a:sysClr val="windowText" lastClr="000000"/>
                          </a:solidFill>
                          <a:latin typeface="游ゴシック"/>
                          <a:ea typeface="游ゴシック"/>
                        </a:rPr>
                        <a:t> </a:t>
                      </a:r>
                      <a:r>
                        <a:rPr sz="1100" b="0" dirty="0" err="1">
                          <a:solidFill>
                            <a:sysClr val="windowText" lastClr="000000"/>
                          </a:solidFill>
                          <a:latin typeface="游ゴシック"/>
                          <a:ea typeface="游ゴシック"/>
                        </a:rPr>
                        <a:t>野口</a:t>
                      </a:r>
                      <a:r>
                        <a:rPr sz="1100" b="0" dirty="0">
                          <a:solidFill>
                            <a:sysClr val="windowText" lastClr="000000"/>
                          </a:solidFill>
                          <a:latin typeface="游ゴシック"/>
                          <a:ea typeface="游ゴシック"/>
                        </a:rPr>
                        <a:t> </a:t>
                      </a:r>
                      <a:r>
                        <a:rPr sz="1100" b="0" dirty="0" err="1">
                          <a:solidFill>
                            <a:sysClr val="windowText" lastClr="000000"/>
                          </a:solidFill>
                          <a:latin typeface="游ゴシック"/>
                          <a:ea typeface="游ゴシック"/>
                        </a:rPr>
                        <a:t>文枝・野口</a:t>
                      </a:r>
                      <a:r>
                        <a:rPr sz="1100" b="0" dirty="0">
                          <a:solidFill>
                            <a:sysClr val="windowText" lastClr="000000"/>
                          </a:solidFill>
                          <a:latin typeface="游ゴシック"/>
                          <a:ea typeface="游ゴシック"/>
                        </a:rPr>
                        <a:t> </a:t>
                      </a:r>
                      <a:r>
                        <a:rPr sz="1100" b="0" dirty="0" err="1">
                          <a:solidFill>
                            <a:sysClr val="windowText" lastClr="000000"/>
                          </a:solidFill>
                          <a:latin typeface="游ゴシック"/>
                          <a:ea typeface="游ゴシック"/>
                        </a:rPr>
                        <a:t>聰江が就任（現経営体制</a:t>
                      </a:r>
                      <a:r>
                        <a:rPr sz="1100" b="0" dirty="0">
                          <a:solidFill>
                            <a:sysClr val="windowText" lastClr="000000"/>
                          </a:solidFill>
                          <a:latin typeface="游ゴシック"/>
                          <a:ea typeface="游ゴシック"/>
                        </a:rPr>
                        <a:t>）</a:t>
                      </a:r>
                    </a:p>
                  </a:txBody>
                  <a:tcPr marL="36000" marR="36000" marT="7200" marB="7200" anchor="ctr">
                    <a:solidFill>
                      <a:srgbClr val="F4F7F9"/>
                    </a:solidFill>
                  </a:tcPr>
                </a:tc>
                <a:extLst>
                  <a:ext uri="{0D108BD9-81ED-4DB2-BD59-A6C34878D82A}">
                    <a16:rowId xmlns:a16="http://schemas.microsoft.com/office/drawing/2014/main" val="10004"/>
                  </a:ext>
                </a:extLst>
              </a:tr>
            </a:tbl>
          </a:graphicData>
        </a:graphic>
      </p:graphicFrame>
      <p:sp>
        <p:nvSpPr>
          <p:cNvPr id="15" name="TextBox 14"/>
          <p:cNvSpPr txBox="1"/>
          <p:nvPr/>
        </p:nvSpPr>
        <p:spPr>
          <a:xfrm>
            <a:off x="309600" y="3600000"/>
            <a:ext cx="4456669" cy="261610"/>
          </a:xfrm>
          <a:prstGeom prst="rect">
            <a:avLst/>
          </a:prstGeom>
          <a:noFill/>
        </p:spPr>
        <p:txBody>
          <a:bodyPr wrap="none">
            <a:spAutoFit/>
          </a:bodyPr>
          <a:lstStyle/>
          <a:p>
            <a:r>
              <a:rPr sz="1100" dirty="0">
                <a:solidFill>
                  <a:sysClr val="windowText" lastClr="000000"/>
                </a:solidFill>
                <a:latin typeface="游ゴシック" panose="020B0400000000000000" pitchFamily="50" charset="-128"/>
                <a:ea typeface="游ゴシック" panose="020B0400000000000000" pitchFamily="50" charset="-128"/>
              </a:rPr>
              <a:t>※ </a:t>
            </a:r>
            <a:r>
              <a:rPr sz="1100" dirty="0" err="1">
                <a:solidFill>
                  <a:sysClr val="windowText" lastClr="000000"/>
                </a:solidFill>
                <a:latin typeface="游ゴシック" panose="020B0400000000000000" pitchFamily="50" charset="-128"/>
                <a:ea typeface="游ゴシック" panose="020B0400000000000000" pitchFamily="50" charset="-128"/>
              </a:rPr>
              <a:t>詳細な沿革はオーナ</a:t>
            </a:r>
            <a:r>
              <a:rPr sz="1100" dirty="0">
                <a:solidFill>
                  <a:sysClr val="windowText" lastClr="000000"/>
                </a:solidFill>
                <a:latin typeface="游ゴシック" panose="020B0400000000000000" pitchFamily="50" charset="-128"/>
                <a:ea typeface="游ゴシック" panose="020B0400000000000000" pitchFamily="50" charset="-128"/>
              </a:rPr>
              <a:t>ー</a:t>
            </a:r>
            <a:r>
              <a:rPr lang="ja-JP" altLang="en-US" sz="1100" dirty="0">
                <a:solidFill>
                  <a:sysClr val="windowText" lastClr="000000"/>
                </a:solidFill>
                <a:latin typeface="游ゴシック" panose="020B0400000000000000" pitchFamily="50" charset="-128"/>
                <a:ea typeface="游ゴシック" panose="020B0400000000000000" pitchFamily="50" charset="-128"/>
              </a:rPr>
              <a:t>様への</a:t>
            </a:r>
            <a:r>
              <a:rPr sz="1100" dirty="0" err="1">
                <a:solidFill>
                  <a:sysClr val="windowText" lastClr="000000"/>
                </a:solidFill>
                <a:latin typeface="游ゴシック" panose="020B0400000000000000" pitchFamily="50" charset="-128"/>
                <a:ea typeface="游ゴシック" panose="020B0400000000000000" pitchFamily="50" charset="-128"/>
              </a:rPr>
              <a:t>ヒアリング</a:t>
            </a:r>
            <a:r>
              <a:rPr lang="ja-JP" altLang="en-US" sz="1100" dirty="0">
                <a:solidFill>
                  <a:sysClr val="windowText" lastClr="000000"/>
                </a:solidFill>
                <a:latin typeface="游ゴシック" panose="020B0400000000000000" pitchFamily="50" charset="-128"/>
                <a:ea typeface="游ゴシック" panose="020B0400000000000000" pitchFamily="50" charset="-128"/>
              </a:rPr>
              <a:t>を行い、</a:t>
            </a:r>
            <a:r>
              <a:rPr sz="1100" dirty="0" err="1">
                <a:solidFill>
                  <a:sysClr val="windowText" lastClr="000000"/>
                </a:solidFill>
                <a:latin typeface="游ゴシック" panose="020B0400000000000000" pitchFamily="50" charset="-128"/>
                <a:ea typeface="游ゴシック" panose="020B0400000000000000" pitchFamily="50" charset="-128"/>
              </a:rPr>
              <a:t>補完予定です</a:t>
            </a:r>
            <a:r>
              <a:rPr sz="1100" dirty="0">
                <a:solidFill>
                  <a:sysClr val="windowText" lastClr="000000"/>
                </a:solidFill>
                <a:latin typeface="游ゴシック" panose="020B0400000000000000" pitchFamily="50" charset="-128"/>
                <a:ea typeface="游ゴシック" panose="020B0400000000000000" pitchFamily="50" charset="-128"/>
              </a:rPr>
              <a:t>。</a:t>
            </a:r>
          </a:p>
        </p:txBody>
      </p:sp>
    </p:spTree>
    <p:extLst>
      <p:ext uri="{BB962C8B-B14F-4D97-AF65-F5344CB8AC3E}">
        <p14:creationId xmlns:p14="http://schemas.microsoft.com/office/powerpoint/2010/main" val="3914015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9C83CD-8F2B-A456-D63E-667BDA8864FE}"/>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6ECAC2D0-8CC0-B4C9-19B7-FFEA448BA129}"/>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rPr>
              <a:t>代表者経歴</a:t>
            </a:r>
          </a:p>
        </p:txBody>
      </p:sp>
      <p:sp>
        <p:nvSpPr>
          <p:cNvPr id="5" name="タイトル 1">
            <a:extLst>
              <a:ext uri="{FF2B5EF4-FFF2-40B4-BE49-F238E27FC236}">
                <a16:creationId xmlns:a16="http://schemas.microsoft.com/office/drawing/2014/main" id="{B2954D03-DD0B-9909-BBC6-EB4264689F16}"/>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en-US" altLang="ja-JP" sz="1200" b="1" spc="55" dirty="0">
                <a:solidFill>
                  <a:schemeClr val="bg1"/>
                </a:solidFill>
                <a:latin typeface="游ゴシック" panose="020B0400000000000000" pitchFamily="50" charset="-128"/>
                <a:ea typeface="游ゴシック" panose="020B0400000000000000" pitchFamily="50" charset="-128"/>
              </a:rPr>
              <a:t>Appendix</a:t>
            </a:r>
            <a:endParaRPr lang="ja-JP" altLang="en-US" sz="1200" b="1" spc="55" dirty="0">
              <a:solidFill>
                <a:schemeClr val="bg1"/>
              </a:solidFill>
              <a:latin typeface="游ゴシック" panose="020B0400000000000000" pitchFamily="50" charset="-128"/>
              <a:ea typeface="游ゴシック" panose="020B0400000000000000" pitchFamily="50" charset="-128"/>
            </a:endParaRPr>
          </a:p>
        </p:txBody>
      </p:sp>
      <p:sp>
        <p:nvSpPr>
          <p:cNvPr id="4" name="字幕 13">
            <a:extLst>
              <a:ext uri="{FF2B5EF4-FFF2-40B4-BE49-F238E27FC236}">
                <a16:creationId xmlns:a16="http://schemas.microsoft.com/office/drawing/2014/main" id="{44A78BE3-8FEA-62DF-2E04-90B59A7097B8}"/>
              </a:ext>
            </a:extLst>
          </p:cNvPr>
          <p:cNvSpPr>
            <a:spLocks noGrp="1"/>
          </p:cNvSpPr>
          <p:nvPr>
            <p:ph type="subTitle" idx="1"/>
          </p:nvPr>
        </p:nvSpPr>
        <p:spPr>
          <a:xfrm>
            <a:off x="460675" y="830046"/>
            <a:ext cx="9781875" cy="241861"/>
          </a:xfrm>
        </p:spPr>
        <p:txBody>
          <a:bodyPr>
            <a:noAutofit/>
          </a:bodyPr>
          <a:lstStyle/>
          <a:p>
            <a:r>
              <a:rPr dirty="0" err="1">
                <a:latin typeface="游ゴシック" panose="020B0400000000000000" pitchFamily="50" charset="-128"/>
                <a:ea typeface="游ゴシック" panose="020B0400000000000000" pitchFamily="50" charset="-128"/>
              </a:rPr>
              <a:t>創業者である代表取締役</a:t>
            </a:r>
            <a:r>
              <a:rPr dirty="0">
                <a:latin typeface="游ゴシック" panose="020B0400000000000000" pitchFamily="50" charset="-128"/>
                <a:ea typeface="游ゴシック" panose="020B0400000000000000" pitchFamily="50" charset="-128"/>
              </a:rPr>
              <a:t> </a:t>
            </a:r>
            <a:r>
              <a:rPr dirty="0" err="1">
                <a:latin typeface="游ゴシック" panose="020B0400000000000000" pitchFamily="50" charset="-128"/>
                <a:ea typeface="游ゴシック" panose="020B0400000000000000" pitchFamily="50" charset="-128"/>
              </a:rPr>
              <a:t>野口</a:t>
            </a:r>
            <a:r>
              <a:rPr dirty="0">
                <a:latin typeface="游ゴシック" panose="020B0400000000000000" pitchFamily="50" charset="-128"/>
                <a:ea typeface="游ゴシック" panose="020B0400000000000000" pitchFamily="50" charset="-128"/>
              </a:rPr>
              <a:t> </a:t>
            </a:r>
            <a:r>
              <a:rPr dirty="0" err="1">
                <a:latin typeface="游ゴシック" panose="020B0400000000000000" pitchFamily="50" charset="-128"/>
                <a:ea typeface="游ゴシック" panose="020B0400000000000000" pitchFamily="50" charset="-128"/>
              </a:rPr>
              <a:t>紘氏が、設立以来一貫して経営を主導</a:t>
            </a:r>
            <a:r>
              <a:rPr dirty="0">
                <a:latin typeface="游ゴシック" panose="020B0400000000000000" pitchFamily="50" charset="-128"/>
                <a:ea typeface="游ゴシック" panose="020B0400000000000000" pitchFamily="50" charset="-128"/>
              </a:rPr>
              <a:t>。</a:t>
            </a:r>
            <a:endParaRPr lang="en-US" altLang="ja-JP" dirty="0">
              <a:latin typeface="游ゴシック" panose="020B0400000000000000" pitchFamily="50" charset="-128"/>
              <a:ea typeface="游ゴシック" panose="020B0400000000000000" pitchFamily="50" charset="-128"/>
            </a:endParaRPr>
          </a:p>
        </p:txBody>
      </p:sp>
      <p:sp>
        <p:nvSpPr>
          <p:cNvPr id="14" name="TextBox 13"/>
          <p:cNvSpPr txBox="1"/>
          <p:nvPr/>
        </p:nvSpPr>
        <p:spPr>
          <a:xfrm>
            <a:off x="309600" y="4346413"/>
            <a:ext cx="9720000" cy="1292662"/>
          </a:xfrm>
          <a:prstGeom prst="rect">
            <a:avLst/>
          </a:prstGeom>
          <a:noFill/>
        </p:spPr>
        <p:txBody>
          <a:bodyPr wrap="square">
            <a:spAutoFit/>
          </a:bodyPr>
          <a:lstStyle/>
          <a:p>
            <a:pPr algn="l"/>
            <a:r>
              <a:rPr lang="ja-JP" altLang="en-US" sz="1300" dirty="0">
                <a:solidFill>
                  <a:sysClr val="windowText" lastClr="000000"/>
                </a:solidFill>
                <a:latin typeface="游ゴシック" panose="020B0400000000000000" pitchFamily="50" charset="-128"/>
                <a:ea typeface="游ゴシック" panose="020B0400000000000000" pitchFamily="50" charset="-128"/>
              </a:rPr>
              <a:t>＜経歴＞</a:t>
            </a:r>
            <a:endParaRPr sz="1300" dirty="0">
              <a:solidFill>
                <a:sysClr val="windowText" lastClr="000000"/>
              </a:solidFill>
              <a:latin typeface="游ゴシック" panose="020B0400000000000000" pitchFamily="50" charset="-128"/>
              <a:ea typeface="游ゴシック" panose="020B0400000000000000" pitchFamily="50" charset="-128"/>
            </a:endParaRPr>
          </a:p>
          <a:p>
            <a:pPr algn="l"/>
            <a:r>
              <a:rPr sz="1300" dirty="0">
                <a:solidFill>
                  <a:sysClr val="windowText" lastClr="000000"/>
                </a:solidFill>
                <a:latin typeface="游ゴシック" panose="020B0400000000000000" pitchFamily="50" charset="-128"/>
                <a:ea typeface="游ゴシック" panose="020B0400000000000000" pitchFamily="50" charset="-128"/>
              </a:rPr>
              <a:t>・2014年2月に株式会社カナリアを設立し、代表取締役として経営を主導。</a:t>
            </a:r>
          </a:p>
          <a:p>
            <a:pPr algn="l"/>
            <a:r>
              <a:rPr sz="1300" dirty="0">
                <a:solidFill>
                  <a:sysClr val="windowText" lastClr="000000"/>
                </a:solidFill>
                <a:latin typeface="游ゴシック" panose="020B0400000000000000" pitchFamily="50" charset="-128"/>
                <a:ea typeface="游ゴシック" panose="020B0400000000000000" pitchFamily="50" charset="-128"/>
              </a:rPr>
              <a:t>・</a:t>
            </a:r>
            <a:r>
              <a:rPr sz="1300" dirty="0" err="1">
                <a:solidFill>
                  <a:sysClr val="windowText" lastClr="000000"/>
                </a:solidFill>
                <a:latin typeface="游ゴシック" panose="020B0400000000000000" pitchFamily="50" charset="-128"/>
                <a:ea typeface="游ゴシック" panose="020B0400000000000000" pitchFamily="50" charset="-128"/>
              </a:rPr>
              <a:t>アニメ・ゲームIP業界における企画・製造・販売の知見を有し、大手IPホルダーとの取引関係を構築</a:t>
            </a:r>
            <a:r>
              <a:rPr sz="1300" dirty="0">
                <a:solidFill>
                  <a:sysClr val="windowText" lastClr="000000"/>
                </a:solidFill>
                <a:latin typeface="游ゴシック" panose="020B0400000000000000" pitchFamily="50" charset="-128"/>
                <a:ea typeface="游ゴシック" panose="020B0400000000000000" pitchFamily="50" charset="-128"/>
              </a:rPr>
              <a:t>。</a:t>
            </a:r>
          </a:p>
          <a:p>
            <a:pPr algn="l"/>
            <a:r>
              <a:rPr sz="1300" dirty="0">
                <a:solidFill>
                  <a:sysClr val="windowText" lastClr="000000"/>
                </a:solidFill>
                <a:latin typeface="游ゴシック" panose="020B0400000000000000" pitchFamily="50" charset="-128"/>
                <a:ea typeface="游ゴシック" panose="020B0400000000000000" pitchFamily="50" charset="-128"/>
              </a:rPr>
              <a:t>・</a:t>
            </a:r>
            <a:r>
              <a:rPr sz="1300" dirty="0" err="1">
                <a:solidFill>
                  <a:sysClr val="windowText" lastClr="000000"/>
                </a:solidFill>
                <a:latin typeface="游ゴシック" panose="020B0400000000000000" pitchFamily="50" charset="-128"/>
                <a:ea typeface="游ゴシック" panose="020B0400000000000000" pitchFamily="50" charset="-128"/>
              </a:rPr>
              <a:t>国内外の製造委託・販売ネットワークを整備し、少数精鋭かつ高収益な事業体制を確立</a:t>
            </a:r>
            <a:r>
              <a:rPr sz="1300" dirty="0">
                <a:solidFill>
                  <a:sysClr val="windowText" lastClr="000000"/>
                </a:solidFill>
                <a:latin typeface="游ゴシック" panose="020B0400000000000000" pitchFamily="50" charset="-128"/>
                <a:ea typeface="游ゴシック" panose="020B0400000000000000" pitchFamily="50" charset="-128"/>
              </a:rPr>
              <a:t>。</a:t>
            </a:r>
          </a:p>
          <a:p>
            <a:pPr algn="l"/>
            <a:endParaRPr sz="1300" dirty="0">
              <a:solidFill>
                <a:sysClr val="windowText" lastClr="000000"/>
              </a:solidFill>
              <a:latin typeface="游ゴシック" panose="020B0400000000000000" pitchFamily="50" charset="-128"/>
              <a:ea typeface="游ゴシック" panose="020B0400000000000000" pitchFamily="50" charset="-128"/>
            </a:endParaRPr>
          </a:p>
          <a:p>
            <a:pPr algn="l"/>
            <a:r>
              <a:rPr sz="1300" dirty="0">
                <a:solidFill>
                  <a:sysClr val="windowText" lastClr="000000"/>
                </a:solidFill>
                <a:latin typeface="游ゴシック" panose="020B0400000000000000" pitchFamily="50" charset="-128"/>
                <a:ea typeface="游ゴシック" panose="020B0400000000000000" pitchFamily="50" charset="-128"/>
              </a:rPr>
              <a:t>※ </a:t>
            </a:r>
            <a:r>
              <a:rPr sz="1300" dirty="0" err="1">
                <a:solidFill>
                  <a:sysClr val="windowText" lastClr="000000"/>
                </a:solidFill>
                <a:latin typeface="游ゴシック" panose="020B0400000000000000" pitchFamily="50" charset="-128"/>
                <a:ea typeface="游ゴシック" panose="020B0400000000000000" pitchFamily="50" charset="-128"/>
              </a:rPr>
              <a:t>詳細な経歴（前職・実績等）はオーナ</a:t>
            </a:r>
            <a:r>
              <a:rPr sz="1300" dirty="0">
                <a:solidFill>
                  <a:sysClr val="windowText" lastClr="000000"/>
                </a:solidFill>
                <a:latin typeface="游ゴシック" panose="020B0400000000000000" pitchFamily="50" charset="-128"/>
                <a:ea typeface="游ゴシック" panose="020B0400000000000000" pitchFamily="50" charset="-128"/>
              </a:rPr>
              <a:t>ー</a:t>
            </a:r>
            <a:r>
              <a:rPr lang="ja-JP" altLang="en-US" sz="1300" dirty="0">
                <a:solidFill>
                  <a:sysClr val="windowText" lastClr="000000"/>
                </a:solidFill>
                <a:latin typeface="游ゴシック" panose="020B0400000000000000" pitchFamily="50" charset="-128"/>
                <a:ea typeface="游ゴシック" panose="020B0400000000000000" pitchFamily="50" charset="-128"/>
              </a:rPr>
              <a:t>様への</a:t>
            </a:r>
            <a:r>
              <a:rPr sz="1300" dirty="0" err="1">
                <a:solidFill>
                  <a:sysClr val="windowText" lastClr="000000"/>
                </a:solidFill>
                <a:latin typeface="游ゴシック" panose="020B0400000000000000" pitchFamily="50" charset="-128"/>
                <a:ea typeface="游ゴシック" panose="020B0400000000000000" pitchFamily="50" charset="-128"/>
              </a:rPr>
              <a:t>ヒアリング</a:t>
            </a:r>
            <a:r>
              <a:rPr lang="ja-JP" altLang="en-US" sz="1300" dirty="0">
                <a:solidFill>
                  <a:sysClr val="windowText" lastClr="000000"/>
                </a:solidFill>
                <a:latin typeface="游ゴシック" panose="020B0400000000000000" pitchFamily="50" charset="-128"/>
                <a:ea typeface="游ゴシック" panose="020B0400000000000000" pitchFamily="50" charset="-128"/>
              </a:rPr>
              <a:t>を行い、</a:t>
            </a:r>
            <a:r>
              <a:rPr sz="1300" dirty="0" err="1">
                <a:solidFill>
                  <a:sysClr val="windowText" lastClr="000000"/>
                </a:solidFill>
                <a:latin typeface="游ゴシック" panose="020B0400000000000000" pitchFamily="50" charset="-128"/>
                <a:ea typeface="游ゴシック" panose="020B0400000000000000" pitchFamily="50" charset="-128"/>
              </a:rPr>
              <a:t>補完予定です</a:t>
            </a:r>
            <a:r>
              <a:rPr sz="1300" dirty="0">
                <a:solidFill>
                  <a:sysClr val="windowText" lastClr="000000"/>
                </a:solidFill>
                <a:latin typeface="游ゴシック" panose="020B0400000000000000" pitchFamily="50" charset="-128"/>
                <a:ea typeface="游ゴシック" panose="020B0400000000000000" pitchFamily="50" charset="-128"/>
              </a:rPr>
              <a:t>。</a:t>
            </a:r>
          </a:p>
        </p:txBody>
      </p:sp>
      <p:graphicFrame>
        <p:nvGraphicFramePr>
          <p:cNvPr id="15" name="Table 14"/>
          <p:cNvGraphicFramePr>
            <a:graphicFrameLocks noGrp="1"/>
          </p:cNvGraphicFramePr>
          <p:nvPr>
            <p:extLst>
              <p:ext uri="{D42A27DB-BD31-4B8C-83A1-F6EECF244321}">
                <p14:modId xmlns:p14="http://schemas.microsoft.com/office/powerpoint/2010/main" val="1044269184"/>
              </p:ext>
            </p:extLst>
          </p:nvPr>
        </p:nvGraphicFramePr>
        <p:xfrm>
          <a:off x="309600" y="1800000"/>
          <a:ext cx="9720000" cy="1944000"/>
        </p:xfrm>
        <a:graphic>
          <a:graphicData uri="http://schemas.openxmlformats.org/drawingml/2006/table">
            <a:tbl>
              <a:tblPr firstRow="1" bandRow="1">
                <a:tableStyleId>{5C22544A-7EE6-4342-B048-85BDC9FD1C3A}</a:tableStyleId>
              </a:tblPr>
              <a:tblGrid>
                <a:gridCol w="1440000">
                  <a:extLst>
                    <a:ext uri="{9D8B030D-6E8A-4147-A177-3AD203B41FA5}">
                      <a16:colId xmlns:a16="http://schemas.microsoft.com/office/drawing/2014/main" val="20000"/>
                    </a:ext>
                  </a:extLst>
                </a:gridCol>
                <a:gridCol w="8280000">
                  <a:extLst>
                    <a:ext uri="{9D8B030D-6E8A-4147-A177-3AD203B41FA5}">
                      <a16:colId xmlns:a16="http://schemas.microsoft.com/office/drawing/2014/main" val="20001"/>
                    </a:ext>
                  </a:extLst>
                </a:gridCol>
              </a:tblGrid>
              <a:tr h="324000">
                <a:tc>
                  <a:txBody>
                    <a:bodyPr/>
                    <a:lstStyle/>
                    <a:p>
                      <a:r>
                        <a:rPr sz="1100" b="1" dirty="0" err="1">
                          <a:solidFill>
                            <a:srgbClr val="FFFFFF"/>
                          </a:solidFill>
                          <a:latin typeface="游ゴシック" panose="020B0400000000000000" pitchFamily="50" charset="-128"/>
                          <a:ea typeface="游ゴシック" panose="020B0400000000000000" pitchFamily="50" charset="-128"/>
                        </a:rPr>
                        <a:t>項目</a:t>
                      </a:r>
                      <a:endParaRPr sz="1100" b="1" dirty="0">
                        <a:solidFill>
                          <a:srgbClr val="FFFFFF"/>
                        </a:solidFill>
                        <a:latin typeface="游ゴシック" panose="020B0400000000000000" pitchFamily="50" charset="-128"/>
                        <a:ea typeface="游ゴシック" panose="020B0400000000000000" pitchFamily="50" charset="-128"/>
                      </a:endParaRPr>
                    </a:p>
                  </a:txBody>
                  <a:tcPr anchor="ctr">
                    <a:solidFill>
                      <a:srgbClr val="0B3041"/>
                    </a:solidFill>
                  </a:tcPr>
                </a:tc>
                <a:tc>
                  <a:txBody>
                    <a:bodyPr/>
                    <a:lstStyle/>
                    <a:p>
                      <a:r>
                        <a:rPr sz="1100" b="1">
                          <a:solidFill>
                            <a:srgbClr val="FFFFFF"/>
                          </a:solidFill>
                          <a:latin typeface="游ゴシック" panose="020B0400000000000000" pitchFamily="50" charset="-128"/>
                          <a:ea typeface="游ゴシック" panose="020B0400000000000000" pitchFamily="50" charset="-128"/>
                        </a:rPr>
                        <a:t>内容</a:t>
                      </a:r>
                    </a:p>
                  </a:txBody>
                  <a:tcPr anchor="ctr">
                    <a:solidFill>
                      <a:srgbClr val="0B3041"/>
                    </a:solidFill>
                  </a:tcPr>
                </a:tc>
                <a:extLst>
                  <a:ext uri="{0D108BD9-81ED-4DB2-BD59-A6C34878D82A}">
                    <a16:rowId xmlns:a16="http://schemas.microsoft.com/office/drawing/2014/main" val="10000"/>
                  </a:ext>
                </a:extLst>
              </a:tr>
              <a:tr h="324000">
                <a:tc>
                  <a:txBody>
                    <a:bodyPr/>
                    <a:lstStyle/>
                    <a:p>
                      <a:r>
                        <a:rPr sz="1100" b="1" dirty="0" err="1">
                          <a:solidFill>
                            <a:sysClr val="windowText" lastClr="000000"/>
                          </a:solidFill>
                          <a:latin typeface="游ゴシック" panose="020B0400000000000000" pitchFamily="50" charset="-128"/>
                          <a:ea typeface="游ゴシック" panose="020B0400000000000000" pitchFamily="50" charset="-128"/>
                        </a:rPr>
                        <a:t>氏名</a:t>
                      </a:r>
                      <a:endParaRPr sz="1100" b="1" dirty="0">
                        <a:solidFill>
                          <a:sysClr val="windowText" lastClr="000000"/>
                        </a:solidFill>
                        <a:latin typeface="游ゴシック" panose="020B0400000000000000" pitchFamily="50" charset="-128"/>
                        <a:ea typeface="游ゴシック" panose="020B0400000000000000" pitchFamily="50" charset="-128"/>
                      </a:endParaRPr>
                    </a:p>
                  </a:txBody>
                  <a:tcPr anchor="ctr">
                    <a:solidFill>
                      <a:schemeClr val="accent2"/>
                    </a:solidFill>
                  </a:tcPr>
                </a:tc>
                <a:tc>
                  <a:txBody>
                    <a:bodyPr/>
                    <a:lstStyle/>
                    <a:p>
                      <a:r>
                        <a:rPr sz="1100" b="0" dirty="0" err="1">
                          <a:solidFill>
                            <a:sysClr val="windowText" lastClr="000000"/>
                          </a:solidFill>
                          <a:latin typeface="游ゴシック" panose="020B0400000000000000" pitchFamily="50" charset="-128"/>
                          <a:ea typeface="游ゴシック" panose="020B0400000000000000" pitchFamily="50" charset="-128"/>
                        </a:rPr>
                        <a:t>野口</a:t>
                      </a:r>
                      <a:r>
                        <a:rPr sz="1100" b="0" dirty="0">
                          <a:solidFill>
                            <a:sysClr val="windowText" lastClr="000000"/>
                          </a:solidFill>
                          <a:latin typeface="游ゴシック" panose="020B0400000000000000" pitchFamily="50" charset="-128"/>
                          <a:ea typeface="游ゴシック" panose="020B0400000000000000" pitchFamily="50" charset="-128"/>
                        </a:rPr>
                        <a:t> 紘</a:t>
                      </a:r>
                    </a:p>
                  </a:txBody>
                  <a:tcPr anchor="ctr">
                    <a:solidFill>
                      <a:schemeClr val="accent2"/>
                    </a:solidFill>
                  </a:tcPr>
                </a:tc>
                <a:extLst>
                  <a:ext uri="{0D108BD9-81ED-4DB2-BD59-A6C34878D82A}">
                    <a16:rowId xmlns:a16="http://schemas.microsoft.com/office/drawing/2014/main" val="10001"/>
                  </a:ext>
                </a:extLst>
              </a:tr>
              <a:tr h="324000">
                <a:tc>
                  <a:txBody>
                    <a:bodyPr/>
                    <a:lstStyle/>
                    <a:p>
                      <a:r>
                        <a:rPr sz="1100" b="1" dirty="0" err="1">
                          <a:solidFill>
                            <a:sysClr val="windowText" lastClr="000000"/>
                          </a:solidFill>
                          <a:latin typeface="游ゴシック" panose="020B0400000000000000" pitchFamily="50" charset="-128"/>
                          <a:ea typeface="游ゴシック" panose="020B0400000000000000" pitchFamily="50" charset="-128"/>
                        </a:rPr>
                        <a:t>役職</a:t>
                      </a:r>
                      <a:endParaRPr sz="1100" b="1" dirty="0">
                        <a:solidFill>
                          <a:sysClr val="windowText" lastClr="000000"/>
                        </a:solidFill>
                        <a:latin typeface="游ゴシック" panose="020B0400000000000000" pitchFamily="50" charset="-128"/>
                        <a:ea typeface="游ゴシック" panose="020B0400000000000000" pitchFamily="50" charset="-128"/>
                      </a:endParaRPr>
                    </a:p>
                  </a:txBody>
                  <a:tcPr anchor="ctr">
                    <a:solidFill>
                      <a:srgbClr val="FFFFFF"/>
                    </a:solidFill>
                  </a:tcPr>
                </a:tc>
                <a:tc>
                  <a:txBody>
                    <a:bodyPr/>
                    <a:lstStyle/>
                    <a:p>
                      <a:r>
                        <a:rPr sz="1100" b="0" dirty="0" err="1">
                          <a:solidFill>
                            <a:sysClr val="windowText" lastClr="000000"/>
                          </a:solidFill>
                          <a:latin typeface="游ゴシック" panose="020B0400000000000000" pitchFamily="50" charset="-128"/>
                          <a:ea typeface="游ゴシック" panose="020B0400000000000000" pitchFamily="50" charset="-128"/>
                        </a:rPr>
                        <a:t>代表取締役（設立時より</a:t>
                      </a:r>
                      <a:r>
                        <a:rPr sz="1100" b="0" dirty="0">
                          <a:solidFill>
                            <a:sysClr val="windowText" lastClr="000000"/>
                          </a:solidFill>
                          <a:latin typeface="游ゴシック" panose="020B0400000000000000" pitchFamily="50" charset="-128"/>
                          <a:ea typeface="游ゴシック" panose="020B0400000000000000" pitchFamily="50" charset="-128"/>
                        </a:rPr>
                        <a:t>）</a:t>
                      </a:r>
                    </a:p>
                  </a:txBody>
                  <a:tcPr anchor="ctr">
                    <a:solidFill>
                      <a:srgbClr val="FFFFFF"/>
                    </a:solidFill>
                  </a:tcPr>
                </a:tc>
                <a:extLst>
                  <a:ext uri="{0D108BD9-81ED-4DB2-BD59-A6C34878D82A}">
                    <a16:rowId xmlns:a16="http://schemas.microsoft.com/office/drawing/2014/main" val="10002"/>
                  </a:ext>
                </a:extLst>
              </a:tr>
              <a:tr h="324000">
                <a:tc>
                  <a:txBody>
                    <a:bodyPr/>
                    <a:lstStyle/>
                    <a:p>
                      <a:r>
                        <a:rPr sz="1100" b="1" dirty="0" err="1">
                          <a:solidFill>
                            <a:sysClr val="windowText" lastClr="000000"/>
                          </a:solidFill>
                          <a:latin typeface="游ゴシック" panose="020B0400000000000000" pitchFamily="50" charset="-128"/>
                          <a:ea typeface="游ゴシック" panose="020B0400000000000000" pitchFamily="50" charset="-128"/>
                        </a:rPr>
                        <a:t>設立</a:t>
                      </a:r>
                      <a:endParaRPr sz="1100" b="1" dirty="0">
                        <a:solidFill>
                          <a:sysClr val="windowText" lastClr="000000"/>
                        </a:solidFill>
                        <a:latin typeface="游ゴシック" panose="020B0400000000000000" pitchFamily="50" charset="-128"/>
                        <a:ea typeface="游ゴシック" panose="020B0400000000000000" pitchFamily="50" charset="-128"/>
                      </a:endParaRPr>
                    </a:p>
                  </a:txBody>
                  <a:tcPr anchor="ctr">
                    <a:solidFill>
                      <a:schemeClr val="accent2"/>
                    </a:solidFill>
                  </a:tcPr>
                </a:tc>
                <a:tc>
                  <a:txBody>
                    <a:bodyPr/>
                    <a:lstStyle/>
                    <a:p>
                      <a:r>
                        <a:rPr sz="1100" b="0" dirty="0">
                          <a:solidFill>
                            <a:sysClr val="windowText" lastClr="000000"/>
                          </a:solidFill>
                          <a:latin typeface="游ゴシック" panose="020B0400000000000000" pitchFamily="50" charset="-128"/>
                          <a:ea typeface="游ゴシック" panose="020B0400000000000000" pitchFamily="50" charset="-128"/>
                        </a:rPr>
                        <a:t>2014年2月</a:t>
                      </a:r>
                    </a:p>
                  </a:txBody>
                  <a:tcPr anchor="ctr">
                    <a:solidFill>
                      <a:schemeClr val="accent2"/>
                    </a:solidFill>
                  </a:tcPr>
                </a:tc>
                <a:extLst>
                  <a:ext uri="{0D108BD9-81ED-4DB2-BD59-A6C34878D82A}">
                    <a16:rowId xmlns:a16="http://schemas.microsoft.com/office/drawing/2014/main" val="10003"/>
                  </a:ext>
                </a:extLst>
              </a:tr>
              <a:tr h="324000">
                <a:tc>
                  <a:txBody>
                    <a:bodyPr/>
                    <a:lstStyle/>
                    <a:p>
                      <a:r>
                        <a:rPr lang="ja-JP" altLang="en-US" sz="1100" b="1" dirty="0">
                          <a:solidFill>
                            <a:sysClr val="windowText" lastClr="000000"/>
                          </a:solidFill>
                          <a:latin typeface="游ゴシック" panose="020B0400000000000000" pitchFamily="50" charset="-128"/>
                          <a:ea typeface="游ゴシック" panose="020B0400000000000000" pitchFamily="50" charset="-128"/>
                        </a:rPr>
                        <a:t>学歴</a:t>
                      </a:r>
                      <a:endParaRPr sz="1100" b="1" dirty="0">
                        <a:solidFill>
                          <a:sysClr val="windowText" lastClr="000000"/>
                        </a:solidFill>
                        <a:latin typeface="游ゴシック" panose="020B0400000000000000" pitchFamily="50" charset="-128"/>
                        <a:ea typeface="游ゴシック" panose="020B0400000000000000" pitchFamily="50" charset="-128"/>
                      </a:endParaRPr>
                    </a:p>
                  </a:txBody>
                  <a:tcPr anchor="ctr">
                    <a:solidFill>
                      <a:srgbClr val="FFFFFF"/>
                    </a:solidFill>
                  </a:tcPr>
                </a:tc>
                <a:tc>
                  <a:txBody>
                    <a:bodyPr/>
                    <a:lstStyle/>
                    <a:p>
                      <a:r>
                        <a:rPr lang="ja-JP" altLang="en-US" sz="1100" b="0" dirty="0">
                          <a:solidFill>
                            <a:sysClr val="windowText" lastClr="000000"/>
                          </a:solidFill>
                          <a:highlight>
                            <a:srgbClr val="FFFF00"/>
                          </a:highlight>
                          <a:latin typeface="游ゴシック" panose="020B0400000000000000" pitchFamily="50" charset="-128"/>
                          <a:ea typeface="游ゴシック" panose="020B0400000000000000" pitchFamily="50" charset="-128"/>
                        </a:rPr>
                        <a:t>ヒアリング予定</a:t>
                      </a:r>
                      <a:endParaRPr sz="1100" b="0" dirty="0">
                        <a:solidFill>
                          <a:sysClr val="windowText" lastClr="000000"/>
                        </a:solidFill>
                        <a:highlight>
                          <a:srgbClr val="FFFF00"/>
                        </a:highlight>
                        <a:latin typeface="游ゴシック" panose="020B0400000000000000" pitchFamily="50" charset="-128"/>
                        <a:ea typeface="游ゴシック" panose="020B0400000000000000" pitchFamily="50" charset="-128"/>
                      </a:endParaRPr>
                    </a:p>
                  </a:txBody>
                  <a:tcPr anchor="ctr">
                    <a:solidFill>
                      <a:srgbClr val="FFFFFF"/>
                    </a:solidFill>
                  </a:tcPr>
                </a:tc>
                <a:extLst>
                  <a:ext uri="{0D108BD9-81ED-4DB2-BD59-A6C34878D82A}">
                    <a16:rowId xmlns:a16="http://schemas.microsoft.com/office/drawing/2014/main" val="1893055014"/>
                  </a:ext>
                </a:extLst>
              </a:tr>
              <a:tr h="324000">
                <a:tc>
                  <a:txBody>
                    <a:bodyPr/>
                    <a:lstStyle/>
                    <a:p>
                      <a:r>
                        <a:rPr lang="ja-JP" altLang="en-US" sz="1100" b="1" dirty="0">
                          <a:solidFill>
                            <a:sysClr val="windowText" lastClr="000000"/>
                          </a:solidFill>
                          <a:latin typeface="游ゴシック" panose="020B0400000000000000" pitchFamily="50" charset="-128"/>
                          <a:ea typeface="游ゴシック" panose="020B0400000000000000" pitchFamily="50" charset="-128"/>
                        </a:rPr>
                        <a:t>主な職歴</a:t>
                      </a:r>
                      <a:endParaRPr sz="1100" b="1" dirty="0">
                        <a:solidFill>
                          <a:sysClr val="windowText" lastClr="000000"/>
                        </a:solidFill>
                        <a:latin typeface="游ゴシック" panose="020B0400000000000000" pitchFamily="50" charset="-128"/>
                        <a:ea typeface="游ゴシック" panose="020B0400000000000000" pitchFamily="50" charset="-128"/>
                      </a:endParaRPr>
                    </a:p>
                  </a:txBody>
                  <a:tcPr anchor="ctr">
                    <a:solidFill>
                      <a:schemeClr val="accent2"/>
                    </a:solidFill>
                  </a:tcPr>
                </a:tc>
                <a:tc>
                  <a:txBody>
                    <a:bodyPr/>
                    <a:lstStyle/>
                    <a:p>
                      <a:r>
                        <a:rPr lang="ja-JP" altLang="en-US" sz="1100" b="0" dirty="0">
                          <a:solidFill>
                            <a:sysClr val="windowText" lastClr="000000"/>
                          </a:solidFill>
                          <a:highlight>
                            <a:srgbClr val="FFFF00"/>
                          </a:highlight>
                          <a:latin typeface="游ゴシック" panose="020B0400000000000000" pitchFamily="50" charset="-128"/>
                          <a:ea typeface="游ゴシック" panose="020B0400000000000000" pitchFamily="50" charset="-128"/>
                        </a:rPr>
                        <a:t>ヒアリング予定</a:t>
                      </a:r>
                      <a:endParaRPr sz="1100" b="0" dirty="0">
                        <a:solidFill>
                          <a:sysClr val="windowText" lastClr="000000"/>
                        </a:solidFill>
                        <a:highlight>
                          <a:srgbClr val="FFFF00"/>
                        </a:highlight>
                        <a:latin typeface="游ゴシック" panose="020B0400000000000000" pitchFamily="50" charset="-128"/>
                        <a:ea typeface="游ゴシック" panose="020B0400000000000000" pitchFamily="50" charset="-128"/>
                      </a:endParaRPr>
                    </a:p>
                  </a:txBody>
                  <a:tcPr anchor="ctr">
                    <a:solidFill>
                      <a:schemeClr val="accent2"/>
                    </a:solidFill>
                  </a:tcPr>
                </a:tc>
                <a:extLst>
                  <a:ext uri="{0D108BD9-81ED-4DB2-BD59-A6C34878D82A}">
                    <a16:rowId xmlns:a16="http://schemas.microsoft.com/office/drawing/2014/main" val="3035925159"/>
                  </a:ext>
                </a:extLst>
              </a:tr>
            </a:tbl>
          </a:graphicData>
        </a:graphic>
      </p:graphicFrame>
    </p:spTree>
    <p:extLst>
      <p:ext uri="{BB962C8B-B14F-4D97-AF65-F5344CB8AC3E}">
        <p14:creationId xmlns:p14="http://schemas.microsoft.com/office/powerpoint/2010/main" val="317028956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正方形/長方形 12">
            <a:extLst>
              <a:ext uri="{FF2B5EF4-FFF2-40B4-BE49-F238E27FC236}">
                <a16:creationId xmlns:a16="http://schemas.microsoft.com/office/drawing/2014/main" id="{89F2FC56-6ADD-9704-B514-62FD74DE3ED5}"/>
              </a:ext>
            </a:extLst>
          </p:cNvPr>
          <p:cNvSpPr/>
          <p:nvPr/>
        </p:nvSpPr>
        <p:spPr>
          <a:xfrm>
            <a:off x="449263" y="1362266"/>
            <a:ext cx="3816000" cy="3663837"/>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360000" rIns="180000" bIns="0" rtlCol="0" anchor="t"/>
          <a:lstStyle/>
          <a:p>
            <a:pPr algn="ctr">
              <a:buClr>
                <a:schemeClr val="tx2"/>
              </a:buClr>
              <a:buSzPct val="80000"/>
            </a:pPr>
            <a:endParaRPr kumimoji="1" lang="zh-TW" altLang="en-US" sz="2000" b="1" spc="110" dirty="0">
              <a:solidFill>
                <a:schemeClr val="tx2"/>
              </a:solidFill>
              <a:latin typeface="+mj-ea"/>
              <a:ea typeface="+mj-ea"/>
            </a:endParaRPr>
          </a:p>
        </p:txBody>
      </p:sp>
      <p:sp>
        <p:nvSpPr>
          <p:cNvPr id="34" name="正方形/長方形 33">
            <a:extLst>
              <a:ext uri="{FF2B5EF4-FFF2-40B4-BE49-F238E27FC236}">
                <a16:creationId xmlns:a16="http://schemas.microsoft.com/office/drawing/2014/main" id="{F2057333-40C8-2D4A-60A4-202E9B7B444C}"/>
              </a:ext>
            </a:extLst>
          </p:cNvPr>
          <p:cNvSpPr/>
          <p:nvPr/>
        </p:nvSpPr>
        <p:spPr>
          <a:xfrm>
            <a:off x="4522064" y="1362266"/>
            <a:ext cx="5724000" cy="572432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0" rtlCol="0" anchor="t"/>
          <a:lstStyle/>
          <a:p>
            <a:pPr algn="ctr">
              <a:buClr>
                <a:schemeClr val="tx2"/>
              </a:buClr>
              <a:buSzPct val="80000"/>
            </a:pPr>
            <a:r>
              <a:rPr kumimoji="1" lang="ja-JP" altLang="en-US" sz="1800" b="1" spc="110" dirty="0">
                <a:solidFill>
                  <a:schemeClr val="tx1"/>
                </a:solidFill>
                <a:latin typeface="+mj-ea"/>
                <a:ea typeface="+mj-ea"/>
              </a:rPr>
              <a:t>成功報酬</a:t>
            </a:r>
            <a:r>
              <a:rPr kumimoji="1" lang="en-US" altLang="ja-JP" sz="1800" spc="110" baseline="30000" dirty="0">
                <a:solidFill>
                  <a:schemeClr val="tx1"/>
                </a:solidFill>
                <a:latin typeface="+mj-ea"/>
                <a:ea typeface="+mj-ea"/>
              </a:rPr>
              <a:t>※2</a:t>
            </a:r>
            <a:r>
              <a:rPr kumimoji="1" lang="ja-JP" altLang="en-US" sz="1800" b="1" spc="110" dirty="0">
                <a:solidFill>
                  <a:schemeClr val="tx1"/>
                </a:solidFill>
                <a:latin typeface="+mj-ea"/>
                <a:ea typeface="+mj-ea"/>
              </a:rPr>
              <a:t>の算定方法</a:t>
            </a:r>
          </a:p>
        </p:txBody>
      </p:sp>
      <p:sp>
        <p:nvSpPr>
          <p:cNvPr id="6" name="字幕 5">
            <a:extLst>
              <a:ext uri="{FF2B5EF4-FFF2-40B4-BE49-F238E27FC236}">
                <a16:creationId xmlns:a16="http://schemas.microsoft.com/office/drawing/2014/main" id="{8B635CAA-C777-BCBD-D6CB-D6FE9099ED6B}"/>
              </a:ext>
            </a:extLst>
          </p:cNvPr>
          <p:cNvSpPr>
            <a:spLocks noGrp="1"/>
          </p:cNvSpPr>
          <p:nvPr>
            <p:ph type="subTitle" idx="1"/>
          </p:nvPr>
        </p:nvSpPr>
        <p:spPr>
          <a:xfrm>
            <a:off x="460675" y="830046"/>
            <a:ext cx="9781875" cy="241861"/>
          </a:xfrm>
        </p:spPr>
        <p:txBody>
          <a:bodyPr/>
          <a:lstStyle/>
          <a:p>
            <a:r>
              <a:rPr lang="ja-JP" altLang="en-US" dirty="0"/>
              <a:t>時価総資産</a:t>
            </a:r>
            <a:r>
              <a:rPr lang="en-US" altLang="ja-JP" dirty="0"/>
              <a:t>(</a:t>
            </a:r>
            <a:r>
              <a:rPr lang="ja-JP" altLang="en-US" dirty="0"/>
              <a:t>営業権含む</a:t>
            </a:r>
            <a:r>
              <a:rPr lang="en-US" altLang="ja-JP" dirty="0"/>
              <a:t>)</a:t>
            </a:r>
            <a:r>
              <a:rPr lang="ja-JP" altLang="en-US" dirty="0"/>
              <a:t>を基準とした報酬体系であり、独占交渉権獲得の段階まで費用は発生しません</a:t>
            </a:r>
            <a:endParaRPr lang="en-US" altLang="ja-JP" dirty="0"/>
          </a:p>
        </p:txBody>
      </p:sp>
      <p:sp>
        <p:nvSpPr>
          <p:cNvPr id="2" name="タイトル 1">
            <a:extLst>
              <a:ext uri="{FF2B5EF4-FFF2-40B4-BE49-F238E27FC236}">
                <a16:creationId xmlns:a16="http://schemas.microsoft.com/office/drawing/2014/main" id="{D080ECA5-1EC6-E0DA-1045-7623DC8B0517}"/>
              </a:ext>
            </a:extLst>
          </p:cNvPr>
          <p:cNvSpPr>
            <a:spLocks noGrp="1"/>
          </p:cNvSpPr>
          <p:nvPr>
            <p:ph type="ctrTitle"/>
          </p:nvPr>
        </p:nvSpPr>
        <p:spPr/>
        <p:txBody>
          <a:bodyPr/>
          <a:lstStyle/>
          <a:p>
            <a:r>
              <a:rPr lang="ja-JP" altLang="en-US" dirty="0"/>
              <a:t>報酬体系</a:t>
            </a:r>
          </a:p>
        </p:txBody>
      </p:sp>
      <p:sp>
        <p:nvSpPr>
          <p:cNvPr id="7" name="タイトル 1">
            <a:extLst>
              <a:ext uri="{FF2B5EF4-FFF2-40B4-BE49-F238E27FC236}">
                <a16:creationId xmlns:a16="http://schemas.microsoft.com/office/drawing/2014/main" id="{0DF55F9A-C4D7-02A8-F804-D2CAF9784F10}"/>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dirty="0"/>
              <a:t>　</a:t>
            </a:r>
            <a:r>
              <a:rPr lang="en-US" altLang="ja-JP" dirty="0"/>
              <a:t>Appendix</a:t>
            </a:r>
            <a:endParaRPr lang="ja-JP" altLang="en-US" dirty="0"/>
          </a:p>
        </p:txBody>
      </p:sp>
      <p:cxnSp>
        <p:nvCxnSpPr>
          <p:cNvPr id="15" name="直線コネクタ 14">
            <a:extLst>
              <a:ext uri="{FF2B5EF4-FFF2-40B4-BE49-F238E27FC236}">
                <a16:creationId xmlns:a16="http://schemas.microsoft.com/office/drawing/2014/main" id="{CB8BC532-89AB-609B-2D65-2652067D6567}"/>
              </a:ext>
            </a:extLst>
          </p:cNvPr>
          <p:cNvCxnSpPr>
            <a:cxnSpLocks/>
          </p:cNvCxnSpPr>
          <p:nvPr/>
        </p:nvCxnSpPr>
        <p:spPr>
          <a:xfrm>
            <a:off x="449263" y="1362267"/>
            <a:ext cx="3816000"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18" name="正方形/長方形 17">
            <a:extLst>
              <a:ext uri="{FF2B5EF4-FFF2-40B4-BE49-F238E27FC236}">
                <a16:creationId xmlns:a16="http://schemas.microsoft.com/office/drawing/2014/main" id="{6E720941-89DA-5B24-F4D1-711BB1F814EF}"/>
              </a:ext>
            </a:extLst>
          </p:cNvPr>
          <p:cNvSpPr>
            <a:spLocks/>
          </p:cNvSpPr>
          <p:nvPr/>
        </p:nvSpPr>
        <p:spPr>
          <a:xfrm>
            <a:off x="768087" y="2452713"/>
            <a:ext cx="2412000" cy="612000"/>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288000" tIns="0" rIns="144000" bIns="0" rtlCol="0" anchor="ctr"/>
          <a:lstStyle/>
          <a:p>
            <a:pPr marL="180000" indent="-180000">
              <a:lnSpc>
                <a:spcPct val="120000"/>
              </a:lnSpc>
              <a:spcAft>
                <a:spcPts val="600"/>
              </a:spcAft>
              <a:buClr>
                <a:schemeClr val="tx2"/>
              </a:buClr>
              <a:buSzPct val="100000"/>
              <a:buFont typeface="游ゴシック" panose="020B0400000000000000" pitchFamily="50" charset="-128"/>
              <a:buChar char="▪"/>
            </a:pPr>
            <a:r>
              <a:rPr kumimoji="1" lang="zh-TW" altLang="en-US" sz="1600" b="1" spc="110" dirty="0">
                <a:solidFill>
                  <a:schemeClr val="tx2"/>
                </a:solidFill>
                <a:latin typeface="+mj-ea"/>
                <a:ea typeface="+mj-ea"/>
              </a:rPr>
              <a:t>着手金</a:t>
            </a:r>
            <a:endParaRPr kumimoji="1" lang="zh-TW" altLang="en-US" sz="1600" spc="110" baseline="30000" dirty="0">
              <a:solidFill>
                <a:schemeClr val="tx2"/>
              </a:solidFill>
              <a:latin typeface="+mj-ea"/>
              <a:ea typeface="+mj-ea"/>
            </a:endParaRPr>
          </a:p>
        </p:txBody>
      </p:sp>
      <p:sp>
        <p:nvSpPr>
          <p:cNvPr id="20" name="正方形/長方形 19">
            <a:extLst>
              <a:ext uri="{FF2B5EF4-FFF2-40B4-BE49-F238E27FC236}">
                <a16:creationId xmlns:a16="http://schemas.microsoft.com/office/drawing/2014/main" id="{C770662D-0186-159D-6B20-6AADFFE9CBBA}"/>
              </a:ext>
            </a:extLst>
          </p:cNvPr>
          <p:cNvSpPr>
            <a:spLocks/>
          </p:cNvSpPr>
          <p:nvPr/>
        </p:nvSpPr>
        <p:spPr>
          <a:xfrm>
            <a:off x="768087" y="3965025"/>
            <a:ext cx="2412000" cy="612000"/>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288000" tIns="0" rIns="144000" bIns="0" rtlCol="0" anchor="ctr"/>
          <a:lstStyle/>
          <a:p>
            <a:pPr marL="180000" indent="-180000">
              <a:lnSpc>
                <a:spcPct val="120000"/>
              </a:lnSpc>
              <a:spcAft>
                <a:spcPts val="600"/>
              </a:spcAft>
              <a:buClr>
                <a:schemeClr val="tx2"/>
              </a:buClr>
              <a:buSzPct val="100000"/>
              <a:buFont typeface="游ゴシック" panose="020B0400000000000000" pitchFamily="50" charset="-128"/>
              <a:buChar char="▪"/>
            </a:pPr>
            <a:r>
              <a:rPr kumimoji="1" lang="ja-JP" altLang="en-US" sz="1600" b="1" spc="110" dirty="0">
                <a:solidFill>
                  <a:schemeClr val="tx2"/>
                </a:solidFill>
                <a:latin typeface="+mj-ea"/>
                <a:ea typeface="+mj-ea"/>
              </a:rPr>
              <a:t>リテイナーフィー</a:t>
            </a:r>
            <a:endParaRPr kumimoji="1" lang="zh-TW" altLang="en-US" sz="1600" spc="110" baseline="30000" dirty="0">
              <a:solidFill>
                <a:schemeClr val="tx2"/>
              </a:solidFill>
              <a:latin typeface="+mj-ea"/>
              <a:ea typeface="+mj-ea"/>
            </a:endParaRPr>
          </a:p>
        </p:txBody>
      </p:sp>
      <p:sp>
        <p:nvSpPr>
          <p:cNvPr id="21" name="正方形/長方形 20">
            <a:extLst>
              <a:ext uri="{FF2B5EF4-FFF2-40B4-BE49-F238E27FC236}">
                <a16:creationId xmlns:a16="http://schemas.microsoft.com/office/drawing/2014/main" id="{E00098F5-AD27-787B-FFFF-9D575BB76654}"/>
              </a:ext>
            </a:extLst>
          </p:cNvPr>
          <p:cNvSpPr>
            <a:spLocks/>
          </p:cNvSpPr>
          <p:nvPr/>
        </p:nvSpPr>
        <p:spPr>
          <a:xfrm>
            <a:off x="768087" y="3208869"/>
            <a:ext cx="2412000" cy="612000"/>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288000" tIns="0" rIns="144000" bIns="0" rtlCol="0" anchor="ctr"/>
          <a:lstStyle/>
          <a:p>
            <a:pPr marL="180000" indent="-180000">
              <a:lnSpc>
                <a:spcPct val="120000"/>
              </a:lnSpc>
              <a:spcAft>
                <a:spcPts val="600"/>
              </a:spcAft>
              <a:buClr>
                <a:schemeClr val="tx2"/>
              </a:buClr>
              <a:buSzPct val="100000"/>
              <a:buFont typeface="游ゴシック" panose="020B0400000000000000" pitchFamily="50" charset="-128"/>
              <a:buChar char="▪"/>
            </a:pPr>
            <a:r>
              <a:rPr kumimoji="1" lang="ja-JP" altLang="en-US" sz="1600" b="1" spc="110" dirty="0">
                <a:solidFill>
                  <a:schemeClr val="tx2"/>
                </a:solidFill>
                <a:latin typeface="+mj-ea"/>
                <a:ea typeface="+mj-ea"/>
              </a:rPr>
              <a:t>情報提供料</a:t>
            </a:r>
            <a:endParaRPr kumimoji="1" lang="zh-TW" altLang="en-US" sz="1600" b="1" spc="110" dirty="0">
              <a:solidFill>
                <a:schemeClr val="tx2"/>
              </a:solidFill>
              <a:latin typeface="+mj-ea"/>
              <a:ea typeface="+mj-ea"/>
            </a:endParaRPr>
          </a:p>
        </p:txBody>
      </p:sp>
      <p:sp>
        <p:nvSpPr>
          <p:cNvPr id="24" name="テキスト ボックス 23">
            <a:extLst>
              <a:ext uri="{FF2B5EF4-FFF2-40B4-BE49-F238E27FC236}">
                <a16:creationId xmlns:a16="http://schemas.microsoft.com/office/drawing/2014/main" id="{732BB496-90B0-3CEC-6685-2DABCCD36309}"/>
              </a:ext>
            </a:extLst>
          </p:cNvPr>
          <p:cNvSpPr txBox="1"/>
          <p:nvPr/>
        </p:nvSpPr>
        <p:spPr>
          <a:xfrm>
            <a:off x="3604575" y="3422948"/>
            <a:ext cx="428323" cy="278731"/>
          </a:xfrm>
          <a:prstGeom prst="rect">
            <a:avLst/>
          </a:prstGeom>
          <a:noFill/>
        </p:spPr>
        <p:txBody>
          <a:bodyPr wrap="none" lIns="0" tIns="0" rIns="0" bIns="0" rtlCol="0">
            <a:spAutoFit/>
          </a:bodyPr>
          <a:lstStyle/>
          <a:p>
            <a:pPr algn="ctr">
              <a:lnSpc>
                <a:spcPct val="120000"/>
              </a:lnSpc>
              <a:buClr>
                <a:schemeClr val="tx2"/>
              </a:buClr>
              <a:buSzPct val="80000"/>
            </a:pPr>
            <a:r>
              <a:rPr lang="ja-JP" altLang="en-US" sz="1600" b="1" spc="70" dirty="0">
                <a:latin typeface="+mj-ea"/>
                <a:ea typeface="+mj-ea"/>
              </a:rPr>
              <a:t>無料</a:t>
            </a:r>
          </a:p>
        </p:txBody>
      </p:sp>
      <p:sp>
        <p:nvSpPr>
          <p:cNvPr id="30" name="右大かっこ 29">
            <a:extLst>
              <a:ext uri="{FF2B5EF4-FFF2-40B4-BE49-F238E27FC236}">
                <a16:creationId xmlns:a16="http://schemas.microsoft.com/office/drawing/2014/main" id="{3B1D8EBE-EC59-B246-AF6C-841872564D9C}"/>
              </a:ext>
            </a:extLst>
          </p:cNvPr>
          <p:cNvSpPr/>
          <p:nvPr/>
        </p:nvSpPr>
        <p:spPr>
          <a:xfrm>
            <a:off x="3324087" y="2479728"/>
            <a:ext cx="174824" cy="2097297"/>
          </a:xfrm>
          <a:prstGeom prst="rightBracket">
            <a:avLst>
              <a:gd name="adj" fmla="val 0"/>
            </a:avLst>
          </a:prstGeom>
          <a:ln w="12700">
            <a:solidFill>
              <a:schemeClr val="tx2"/>
            </a:solidFill>
            <a:prstDash val="sysDot"/>
          </a:ln>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a:p>
        </p:txBody>
      </p:sp>
      <p:sp>
        <p:nvSpPr>
          <p:cNvPr id="36" name="正方形/長方形 35">
            <a:extLst>
              <a:ext uri="{FF2B5EF4-FFF2-40B4-BE49-F238E27FC236}">
                <a16:creationId xmlns:a16="http://schemas.microsoft.com/office/drawing/2014/main" id="{9AE04EFA-8A89-729B-C209-CDC92D8F408B}"/>
              </a:ext>
            </a:extLst>
          </p:cNvPr>
          <p:cNvSpPr/>
          <p:nvPr/>
        </p:nvSpPr>
        <p:spPr>
          <a:xfrm>
            <a:off x="4766690" y="6067960"/>
            <a:ext cx="4411464" cy="9425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spAutoFit/>
          </a:bodyPr>
          <a:lstStyle/>
          <a:p>
            <a:pPr>
              <a:lnSpc>
                <a:spcPct val="110000"/>
              </a:lnSpc>
            </a:pPr>
            <a:r>
              <a:rPr lang="en-US" altLang="ja-JP" sz="800" dirty="0">
                <a:solidFill>
                  <a:schemeClr val="tx1"/>
                </a:solidFill>
                <a:latin typeface="+mn-ea"/>
              </a:rPr>
              <a:t>※2</a:t>
            </a:r>
            <a:r>
              <a:rPr lang="ja-JP" altLang="en-US" sz="800" dirty="0">
                <a:solidFill>
                  <a:schemeClr val="tx1"/>
                </a:solidFill>
                <a:latin typeface="+mn-ea"/>
              </a:rPr>
              <a:t>　以下の項目については上記報酬には含まれておりません。</a:t>
            </a:r>
          </a:p>
          <a:p>
            <a:pPr>
              <a:lnSpc>
                <a:spcPct val="110000"/>
              </a:lnSpc>
            </a:pPr>
            <a:r>
              <a:rPr lang="ja-JP" altLang="en-US" sz="800" dirty="0">
                <a:solidFill>
                  <a:schemeClr val="tx1"/>
                </a:solidFill>
                <a:latin typeface="+mn-ea"/>
              </a:rPr>
              <a:t>　　・買収監査、特殊な市場調査や技術評価、経営計画作成のための費用</a:t>
            </a:r>
          </a:p>
          <a:p>
            <a:pPr>
              <a:lnSpc>
                <a:spcPct val="110000"/>
              </a:lnSpc>
            </a:pPr>
            <a:r>
              <a:rPr lang="ja-JP" altLang="en-US" sz="800" dirty="0">
                <a:solidFill>
                  <a:schemeClr val="tx1"/>
                </a:solidFill>
                <a:latin typeface="+mn-ea"/>
              </a:rPr>
              <a:t>　　・登記費用および公認会計士、税理士、弁護士、不動産鑑定士等の専門家費用の実費</a:t>
            </a:r>
          </a:p>
          <a:p>
            <a:pPr>
              <a:lnSpc>
                <a:spcPct val="110000"/>
              </a:lnSpc>
            </a:pPr>
            <a:r>
              <a:rPr lang="ja-JP" altLang="en-US" sz="800" dirty="0">
                <a:solidFill>
                  <a:schemeClr val="tx1"/>
                </a:solidFill>
                <a:latin typeface="+mn-ea"/>
              </a:rPr>
              <a:t>　　・譲渡企業の海外事業所等訪問時の通訳費、当社および貴社関係者の交通費、宿泊費、日当</a:t>
            </a:r>
            <a:endParaRPr lang="en-US" altLang="ja-JP" sz="800" dirty="0">
              <a:solidFill>
                <a:schemeClr val="tx1"/>
              </a:solidFill>
              <a:latin typeface="+mn-ea"/>
            </a:endParaRPr>
          </a:p>
          <a:p>
            <a:pPr>
              <a:lnSpc>
                <a:spcPct val="110000"/>
              </a:lnSpc>
            </a:pPr>
            <a:r>
              <a:rPr lang="ja-JP" altLang="en-US" sz="800" dirty="0">
                <a:solidFill>
                  <a:schemeClr val="tx1"/>
                </a:solidFill>
                <a:latin typeface="+mn-ea"/>
              </a:rPr>
              <a:t>　　以下の場合、上記の各種報酬について別途ご相談いたします。</a:t>
            </a:r>
          </a:p>
          <a:p>
            <a:pPr>
              <a:lnSpc>
                <a:spcPct val="110000"/>
              </a:lnSpc>
            </a:pPr>
            <a:r>
              <a:rPr lang="ja-JP" altLang="en-US" sz="800" dirty="0">
                <a:solidFill>
                  <a:schemeClr val="tx1"/>
                </a:solidFill>
                <a:latin typeface="+mn-ea"/>
              </a:rPr>
              <a:t>　　・譲渡企業が関係会社を保有する場合や事業所を複数持つ場合</a:t>
            </a:r>
          </a:p>
          <a:p>
            <a:pPr>
              <a:lnSpc>
                <a:spcPct val="110000"/>
              </a:lnSpc>
            </a:pPr>
            <a:r>
              <a:rPr lang="ja-JP" altLang="en-US" sz="800" dirty="0">
                <a:solidFill>
                  <a:schemeClr val="tx1"/>
                </a:solidFill>
                <a:latin typeface="+mn-ea"/>
              </a:rPr>
              <a:t>　　・譲渡企業が海外に関係会社・事業所・工場を保有する場合</a:t>
            </a:r>
          </a:p>
        </p:txBody>
      </p:sp>
      <p:sp>
        <p:nvSpPr>
          <p:cNvPr id="37" name="正方形/長方形 36">
            <a:extLst>
              <a:ext uri="{FF2B5EF4-FFF2-40B4-BE49-F238E27FC236}">
                <a16:creationId xmlns:a16="http://schemas.microsoft.com/office/drawing/2014/main" id="{F22E4C30-8FC3-B869-53BD-9D8860037344}"/>
              </a:ext>
            </a:extLst>
          </p:cNvPr>
          <p:cNvSpPr/>
          <p:nvPr/>
        </p:nvSpPr>
        <p:spPr>
          <a:xfrm>
            <a:off x="683263" y="1669542"/>
            <a:ext cx="3348000" cy="468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zh-TW" altLang="en-US" sz="1800" b="1" spc="70" dirty="0">
                <a:solidFill>
                  <a:schemeClr val="bg1"/>
                </a:solidFill>
                <a:latin typeface="+mj-ea"/>
                <a:ea typeface="+mj-ea"/>
              </a:rPr>
              <a:t>料金体系｜成功報酬型</a:t>
            </a:r>
          </a:p>
        </p:txBody>
      </p:sp>
      <p:sp>
        <p:nvSpPr>
          <p:cNvPr id="38" name="正方形/長方形 37">
            <a:extLst>
              <a:ext uri="{FF2B5EF4-FFF2-40B4-BE49-F238E27FC236}">
                <a16:creationId xmlns:a16="http://schemas.microsoft.com/office/drawing/2014/main" id="{A662A524-58DF-E539-7CF9-2CCAAD4E7CAF}"/>
              </a:ext>
            </a:extLst>
          </p:cNvPr>
          <p:cNvSpPr>
            <a:spLocks/>
          </p:cNvSpPr>
          <p:nvPr/>
        </p:nvSpPr>
        <p:spPr>
          <a:xfrm>
            <a:off x="4752550" y="1974789"/>
            <a:ext cx="5256000" cy="3051315"/>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08000" rIns="0" bIns="0" rtlCol="0" anchor="t">
            <a:noAutofit/>
          </a:bodyPr>
          <a:lstStyle/>
          <a:p>
            <a:r>
              <a:rPr kumimoji="1" lang="en-US" altLang="ja-JP" sz="1543" b="1">
                <a:solidFill>
                  <a:schemeClr val="tx2"/>
                </a:solidFill>
                <a:ea typeface="+mj-ea"/>
              </a:rPr>
              <a:t>1. M</a:t>
            </a:r>
            <a:r>
              <a:rPr kumimoji="1" lang="ja-JP" altLang="en-US" sz="1543" b="1">
                <a:solidFill>
                  <a:schemeClr val="tx2"/>
                </a:solidFill>
                <a:ea typeface="+mj-ea"/>
              </a:rPr>
              <a:t>＆</a:t>
            </a:r>
            <a:r>
              <a:rPr kumimoji="1" lang="en-US" altLang="ja-JP" sz="1543" b="1">
                <a:solidFill>
                  <a:schemeClr val="tx2"/>
                </a:solidFill>
                <a:ea typeface="+mj-ea"/>
              </a:rPr>
              <a:t>A</a:t>
            </a:r>
            <a:r>
              <a:rPr kumimoji="1" lang="ja-JP" altLang="en-US" sz="1543" b="1">
                <a:solidFill>
                  <a:schemeClr val="tx2"/>
                </a:solidFill>
                <a:ea typeface="+mj-ea"/>
              </a:rPr>
              <a:t>（株式・事業譲渡）の場合</a:t>
            </a:r>
            <a:endParaRPr kumimoji="1" lang="ja-JP" altLang="en-US" sz="1543" b="1" dirty="0">
              <a:solidFill>
                <a:schemeClr val="tx2"/>
              </a:solidFill>
              <a:ea typeface="+mj-ea"/>
            </a:endParaRPr>
          </a:p>
        </p:txBody>
      </p:sp>
      <p:sp>
        <p:nvSpPr>
          <p:cNvPr id="39" name="正方形/長方形 38">
            <a:extLst>
              <a:ext uri="{FF2B5EF4-FFF2-40B4-BE49-F238E27FC236}">
                <a16:creationId xmlns:a16="http://schemas.microsoft.com/office/drawing/2014/main" id="{3005CCDB-36FD-4152-9A26-F18CB327D833}"/>
              </a:ext>
            </a:extLst>
          </p:cNvPr>
          <p:cNvSpPr>
            <a:spLocks/>
          </p:cNvSpPr>
          <p:nvPr/>
        </p:nvSpPr>
        <p:spPr>
          <a:xfrm>
            <a:off x="4752550" y="5145149"/>
            <a:ext cx="5256000" cy="855016"/>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08000" rIns="0" bIns="0" rtlCol="0" anchor="t">
            <a:noAutofit/>
          </a:bodyPr>
          <a:lstStyle/>
          <a:p>
            <a:r>
              <a:rPr kumimoji="1" lang="en-US" altLang="ja-JP" sz="1543" b="1" dirty="0">
                <a:solidFill>
                  <a:schemeClr val="tx2"/>
                </a:solidFill>
                <a:ea typeface="+mj-ea"/>
              </a:rPr>
              <a:t>2. </a:t>
            </a:r>
            <a:r>
              <a:rPr kumimoji="1" lang="ja-JP" altLang="en-US" sz="1543" b="1" dirty="0">
                <a:solidFill>
                  <a:schemeClr val="tx2"/>
                </a:solidFill>
                <a:ea typeface="+mj-ea"/>
              </a:rPr>
              <a:t>合併・会社分割・業務提携などの場合</a:t>
            </a:r>
          </a:p>
        </p:txBody>
      </p:sp>
      <p:sp>
        <p:nvSpPr>
          <p:cNvPr id="43" name="正方形/長方形 42">
            <a:extLst>
              <a:ext uri="{FF2B5EF4-FFF2-40B4-BE49-F238E27FC236}">
                <a16:creationId xmlns:a16="http://schemas.microsoft.com/office/drawing/2014/main" id="{45F9569B-84C3-F6AA-8270-6F2A0C5A48FE}"/>
              </a:ext>
            </a:extLst>
          </p:cNvPr>
          <p:cNvSpPr/>
          <p:nvPr/>
        </p:nvSpPr>
        <p:spPr>
          <a:xfrm>
            <a:off x="4968550" y="5594330"/>
            <a:ext cx="4824000" cy="286791"/>
          </a:xfrm>
          <a:prstGeom prst="rect">
            <a:avLst/>
          </a:prstGeom>
          <a:solidFill>
            <a:schemeClr val="bg1"/>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r>
              <a:rPr kumimoji="1" lang="ja-JP" altLang="en-US" sz="1600" b="1" spc="30" dirty="0">
                <a:solidFill>
                  <a:schemeClr val="tx1"/>
                </a:solidFill>
                <a:latin typeface="+mj-ea"/>
                <a:ea typeface="+mj-ea"/>
              </a:rPr>
              <a:t>形態、規模に応じてお見積り</a:t>
            </a:r>
          </a:p>
        </p:txBody>
      </p:sp>
      <p:sp>
        <p:nvSpPr>
          <p:cNvPr id="44" name="テキスト ボックス 43">
            <a:extLst>
              <a:ext uri="{FF2B5EF4-FFF2-40B4-BE49-F238E27FC236}">
                <a16:creationId xmlns:a16="http://schemas.microsoft.com/office/drawing/2014/main" id="{1E78D870-E1BA-6FCD-62FA-37BB1F2E0B3D}"/>
              </a:ext>
            </a:extLst>
          </p:cNvPr>
          <p:cNvSpPr txBox="1"/>
          <p:nvPr/>
        </p:nvSpPr>
        <p:spPr>
          <a:xfrm>
            <a:off x="4968550" y="4554047"/>
            <a:ext cx="3546805" cy="191399"/>
          </a:xfrm>
          <a:prstGeom prst="rect">
            <a:avLst/>
          </a:prstGeom>
          <a:noFill/>
        </p:spPr>
        <p:txBody>
          <a:bodyPr wrap="none" lIns="0" tIns="0" rIns="0" bIns="0" rtlCol="0">
            <a:spAutoFit/>
          </a:bodyPr>
          <a:lstStyle/>
          <a:p>
            <a:pPr>
              <a:lnSpc>
                <a:spcPct val="120000"/>
              </a:lnSpc>
              <a:buClr>
                <a:schemeClr val="tx2"/>
              </a:buClr>
              <a:buSzPct val="80000"/>
            </a:pPr>
            <a:r>
              <a:rPr lang="ja-JP" altLang="en-US" sz="1100" spc="70" dirty="0">
                <a:latin typeface="+mn-ea"/>
              </a:rPr>
              <a:t>成功報酬の最低額は</a:t>
            </a:r>
            <a:r>
              <a:rPr lang="en-US" altLang="ja-JP" sz="1100" spc="70" dirty="0">
                <a:latin typeface="+mn-ea"/>
              </a:rPr>
              <a:t>1,500</a:t>
            </a:r>
            <a:r>
              <a:rPr lang="ja-JP" altLang="en-US" sz="1100" spc="70" dirty="0">
                <a:latin typeface="+mn-ea"/>
              </a:rPr>
              <a:t>万円を設定しております。</a:t>
            </a:r>
          </a:p>
        </p:txBody>
      </p:sp>
      <p:graphicFrame>
        <p:nvGraphicFramePr>
          <p:cNvPr id="45" name="表 44">
            <a:extLst>
              <a:ext uri="{FF2B5EF4-FFF2-40B4-BE49-F238E27FC236}">
                <a16:creationId xmlns:a16="http://schemas.microsoft.com/office/drawing/2014/main" id="{43BEAE47-9189-F306-0E9E-F73105167DC7}"/>
              </a:ext>
            </a:extLst>
          </p:cNvPr>
          <p:cNvGraphicFramePr>
            <a:graphicFrameLocks noGrp="1"/>
          </p:cNvGraphicFramePr>
          <p:nvPr/>
        </p:nvGraphicFramePr>
        <p:xfrm>
          <a:off x="4968550" y="2395845"/>
          <a:ext cx="4824000" cy="2448000"/>
        </p:xfrm>
        <a:graphic>
          <a:graphicData uri="http://schemas.openxmlformats.org/drawingml/2006/table">
            <a:tbl>
              <a:tblPr firstRow="1" bandRow="1">
                <a:tableStyleId>{F2DE63D5-997A-4646-A377-4702673A728D}</a:tableStyleId>
              </a:tblPr>
              <a:tblGrid>
                <a:gridCol w="2952000">
                  <a:extLst>
                    <a:ext uri="{9D8B030D-6E8A-4147-A177-3AD203B41FA5}">
                      <a16:colId xmlns:a16="http://schemas.microsoft.com/office/drawing/2014/main" val="4012313631"/>
                    </a:ext>
                  </a:extLst>
                </a:gridCol>
                <a:gridCol w="1872000">
                  <a:extLst>
                    <a:ext uri="{9D8B030D-6E8A-4147-A177-3AD203B41FA5}">
                      <a16:colId xmlns:a16="http://schemas.microsoft.com/office/drawing/2014/main" val="1332805218"/>
                    </a:ext>
                  </a:extLst>
                </a:gridCol>
              </a:tblGrid>
              <a:tr h="396000">
                <a:tc>
                  <a:txBody>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1" lang="ja-JP" altLang="en-US" sz="1100" b="1" i="0" u="none" strike="noStrike" kern="1200" cap="none" spc="50" normalizeH="0" baseline="0" noProof="0" dirty="0">
                          <a:ln>
                            <a:noFill/>
                          </a:ln>
                          <a:solidFill>
                            <a:schemeClr val="bg1"/>
                          </a:solidFill>
                          <a:effectLst/>
                          <a:uLnTx/>
                          <a:uFillTx/>
                          <a:latin typeface="+mj-ea"/>
                          <a:ea typeface="+mj-ea"/>
                        </a:rPr>
                        <a:t>譲渡企業の時価総資産額</a:t>
                      </a:r>
                      <a:endParaRPr kumimoji="1" lang="en-US" altLang="ja-JP" sz="1100" b="1" i="0" u="none" strike="noStrike" kern="1200" cap="none" spc="50" normalizeH="0" baseline="0" noProof="0" dirty="0">
                        <a:ln>
                          <a:noFill/>
                        </a:ln>
                        <a:solidFill>
                          <a:schemeClr val="bg1"/>
                        </a:solidFill>
                        <a:effectLst/>
                        <a:uLnTx/>
                        <a:uFillTx/>
                        <a:latin typeface="+mj-ea"/>
                        <a:ea typeface="+mj-ea"/>
                      </a:endParaRPr>
                    </a:p>
                    <a:p>
                      <a:pPr marL="0" marR="0" lvl="0" indent="0" algn="ctr" defTabSz="914400" rtl="0" eaLnBrk="1" fontAlgn="auto" latinLnBrk="0" hangingPunct="1">
                        <a:lnSpc>
                          <a:spcPct val="110000"/>
                        </a:lnSpc>
                        <a:spcBef>
                          <a:spcPts val="0"/>
                        </a:spcBef>
                        <a:spcAft>
                          <a:spcPts val="0"/>
                        </a:spcAft>
                        <a:buClrTx/>
                        <a:buSzTx/>
                        <a:buFontTx/>
                        <a:buNone/>
                        <a:tabLst/>
                        <a:defRPr/>
                      </a:pPr>
                      <a:r>
                        <a:rPr kumimoji="1" lang="ja-JP" altLang="en-US" sz="800" b="1" i="0" u="none" strike="noStrike" kern="1200" cap="none" spc="50" normalizeH="0" baseline="0" noProof="0" dirty="0">
                          <a:ln>
                            <a:noFill/>
                          </a:ln>
                          <a:solidFill>
                            <a:schemeClr val="bg1"/>
                          </a:solidFill>
                          <a:effectLst/>
                          <a:uLnTx/>
                          <a:uFillTx/>
                          <a:latin typeface="+mj-ea"/>
                          <a:ea typeface="+mj-ea"/>
                        </a:rPr>
                        <a:t>（営業権を含む）</a:t>
                      </a:r>
                    </a:p>
                  </a:txBody>
                  <a:tcPr marL="0" marR="0" marT="0" marB="0" anchor="ctr" anchorCtr="1">
                    <a:lnL w="3175"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nSpc>
                          <a:spcPct val="110000"/>
                        </a:lnSpc>
                      </a:pPr>
                      <a:r>
                        <a:rPr kumimoji="1" lang="ja-JP" altLang="en-US" sz="1100" b="1" spc="50" baseline="0" dirty="0">
                          <a:latin typeface="+mj-ea"/>
                          <a:ea typeface="+mj-ea"/>
                        </a:rPr>
                        <a:t>手数料率</a:t>
                      </a:r>
                    </a:p>
                  </a:txBody>
                  <a:tcPr marL="0" marR="0" marT="0" marB="0" anchor="ctr" anchorCtr="1">
                    <a:lnL w="12700"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3552892255"/>
                  </a:ext>
                </a:extLst>
              </a:tr>
              <a:tr h="342000">
                <a:tc>
                  <a:txBody>
                    <a:bodyPr/>
                    <a:lstStyle/>
                    <a:p>
                      <a:pPr algn="l">
                        <a:lnSpc>
                          <a:spcPct val="110000"/>
                        </a:lnSpc>
                      </a:pPr>
                      <a:r>
                        <a:rPr kumimoji="1" lang="en-US" altLang="ja-JP" sz="1200" b="1" spc="50" baseline="0" dirty="0">
                          <a:latin typeface="+mj-lt"/>
                          <a:ea typeface="+mj-ea"/>
                        </a:rPr>
                        <a:t>2</a:t>
                      </a:r>
                      <a:r>
                        <a:rPr kumimoji="1" lang="ja-JP" altLang="en-US" sz="1200" b="1" spc="50" baseline="0" dirty="0">
                          <a:latin typeface="+mj-lt"/>
                          <a:ea typeface="+mj-ea"/>
                        </a:rPr>
                        <a:t>億円以下の部分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accent2">
                          <a:lumMod val="10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800" b="1" spc="50" baseline="0" dirty="0">
                          <a:solidFill>
                            <a:schemeClr val="tx1"/>
                          </a:solidFill>
                          <a:latin typeface="+mn-lt"/>
                          <a:ea typeface="+mn-ea"/>
                        </a:rPr>
                        <a:t>2,000</a:t>
                      </a:r>
                      <a:r>
                        <a:rPr kumimoji="1" lang="ja-JP" altLang="en-US" sz="1100" b="1" spc="50" baseline="0" dirty="0">
                          <a:solidFill>
                            <a:schemeClr val="tx1"/>
                          </a:solidFill>
                          <a:latin typeface="+mn-lt"/>
                          <a:ea typeface="+mn-ea"/>
                        </a:rPr>
                        <a:t>万円</a:t>
                      </a:r>
                      <a:endParaRPr kumimoji="1" lang="ja-JP" altLang="en-US" sz="1100" b="0" spc="50" baseline="0" dirty="0">
                        <a:solidFill>
                          <a:schemeClr val="tx1"/>
                        </a:solidFill>
                        <a:latin typeface="+mn-lt"/>
                        <a:ea typeface="+mn-ea"/>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accent2">
                          <a:lumMod val="1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21334838"/>
                  </a:ext>
                </a:extLst>
              </a:tr>
              <a:tr h="342000">
                <a:tc>
                  <a:txBody>
                    <a:bodyPr/>
                    <a:lstStyle/>
                    <a:p>
                      <a:pPr marL="0" marR="0" lvl="0" indent="0" algn="l" defTabSz="1007943" rtl="0" eaLnBrk="1" fontAlgn="auto" latinLnBrk="0" hangingPunct="1">
                        <a:lnSpc>
                          <a:spcPct val="110000"/>
                        </a:lnSpc>
                        <a:spcBef>
                          <a:spcPts val="0"/>
                        </a:spcBef>
                        <a:spcAft>
                          <a:spcPts val="0"/>
                        </a:spcAft>
                        <a:buClrTx/>
                        <a:buSzTx/>
                        <a:buFontTx/>
                        <a:buNone/>
                        <a:tabLst/>
                        <a:defRPr/>
                      </a:pPr>
                      <a:r>
                        <a:rPr kumimoji="1" lang="en-US" altLang="ja-JP" sz="1200" b="1" kern="1200" spc="50" baseline="0" dirty="0">
                          <a:solidFill>
                            <a:schemeClr val="tx1"/>
                          </a:solidFill>
                          <a:latin typeface="+mn-lt"/>
                          <a:ea typeface="+mn-ea"/>
                          <a:cs typeface="+mn-cs"/>
                        </a:rPr>
                        <a:t>2</a:t>
                      </a:r>
                      <a:r>
                        <a:rPr kumimoji="1" lang="ja-JP" altLang="en-US" sz="1200" b="1" kern="1200" spc="50" baseline="0" dirty="0">
                          <a:solidFill>
                            <a:schemeClr val="tx1"/>
                          </a:solidFill>
                          <a:latin typeface="+mn-lt"/>
                          <a:ea typeface="+mn-ea"/>
                          <a:cs typeface="+mn-cs"/>
                        </a:rPr>
                        <a:t>億円超　</a:t>
                      </a:r>
                      <a:r>
                        <a:rPr kumimoji="1" lang="en-US" altLang="ja-JP" sz="1200" b="1" kern="1200" spc="50" baseline="0" dirty="0">
                          <a:solidFill>
                            <a:schemeClr val="tx1"/>
                          </a:solidFill>
                          <a:latin typeface="+mn-lt"/>
                          <a:ea typeface="+mn-ea"/>
                          <a:cs typeface="+mn-cs"/>
                        </a:rPr>
                        <a:t>5</a:t>
                      </a:r>
                      <a:r>
                        <a:rPr kumimoji="1" lang="ja-JP" altLang="en-US" sz="1200" b="1" kern="1200" spc="50" baseline="0" dirty="0">
                          <a:solidFill>
                            <a:schemeClr val="tx1"/>
                          </a:solidFill>
                          <a:latin typeface="+mn-lt"/>
                          <a:ea typeface="+mn-ea"/>
                          <a:cs typeface="+mn-cs"/>
                        </a:rPr>
                        <a:t>億円以下の部分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accent2">
                          <a:lumMod val="10000"/>
                        </a:schemeClr>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nSpc>
                          <a:spcPct val="110000"/>
                        </a:lnSpc>
                      </a:pPr>
                      <a:r>
                        <a:rPr kumimoji="1" lang="en-US" altLang="ja-JP" sz="1800" b="1" spc="50" baseline="0" dirty="0">
                          <a:solidFill>
                            <a:schemeClr val="tx1"/>
                          </a:solidFill>
                          <a:latin typeface="+mn-lt"/>
                          <a:ea typeface="+mn-ea"/>
                        </a:rPr>
                        <a:t>5</a:t>
                      </a:r>
                      <a:r>
                        <a:rPr kumimoji="1" lang="ja-JP" altLang="en-US" sz="1100" b="0" spc="50" baseline="0" dirty="0">
                          <a:solidFill>
                            <a:schemeClr val="tx1"/>
                          </a:solidFill>
                          <a:latin typeface="+mn-lt"/>
                          <a:ea typeface="+mn-ea"/>
                        </a:rPr>
                        <a: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accent2">
                          <a:lumMod val="10000"/>
                        </a:schemeClr>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0064655"/>
                  </a:ext>
                </a:extLst>
              </a:tr>
              <a:tr h="342000">
                <a:tc>
                  <a:txBody>
                    <a:bodyPr/>
                    <a:lstStyle/>
                    <a:p>
                      <a:pPr algn="l">
                        <a:lnSpc>
                          <a:spcPct val="110000"/>
                        </a:lnSpc>
                      </a:pPr>
                      <a:r>
                        <a:rPr kumimoji="1" lang="en-US" altLang="ja-JP" sz="1200" b="1" spc="50" baseline="0" dirty="0">
                          <a:latin typeface="+mj-lt"/>
                          <a:ea typeface="+mj-ea"/>
                        </a:rPr>
                        <a:t>5</a:t>
                      </a:r>
                      <a:r>
                        <a:rPr kumimoji="1" lang="ja-JP" altLang="en-US" sz="1200" b="1" spc="50" baseline="0" dirty="0">
                          <a:latin typeface="+mj-lt"/>
                          <a:ea typeface="+mj-ea"/>
                        </a:rPr>
                        <a:t>億円超　</a:t>
                      </a:r>
                      <a:r>
                        <a:rPr kumimoji="1" lang="en-US" altLang="ja-JP" sz="1200" b="1" spc="50" baseline="0" dirty="0">
                          <a:latin typeface="+mj-lt"/>
                          <a:ea typeface="+mj-ea"/>
                        </a:rPr>
                        <a:t>10</a:t>
                      </a:r>
                      <a:r>
                        <a:rPr kumimoji="1" lang="ja-JP" altLang="en-US" sz="1200" b="1" spc="50" baseline="0" dirty="0">
                          <a:latin typeface="+mj-lt"/>
                          <a:ea typeface="+mj-ea"/>
                        </a:rPr>
                        <a:t>億円以下の部分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800" b="1" spc="50" baseline="0" dirty="0">
                          <a:solidFill>
                            <a:schemeClr val="tx1"/>
                          </a:solidFill>
                          <a:latin typeface="+mn-lt"/>
                          <a:ea typeface="+mn-ea"/>
                        </a:rPr>
                        <a:t>4</a:t>
                      </a:r>
                      <a:r>
                        <a:rPr kumimoji="1" lang="ja-JP" altLang="en-US" sz="1100" b="0" spc="50" baseline="0" dirty="0">
                          <a:solidFill>
                            <a:schemeClr val="tx1"/>
                          </a:solidFill>
                          <a:latin typeface="+mn-lt"/>
                          <a:ea typeface="+mn-ea"/>
                        </a:rPr>
                        <a: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45221436"/>
                  </a:ext>
                </a:extLst>
              </a:tr>
              <a:tr h="342000">
                <a:tc>
                  <a:txBody>
                    <a:bodyPr/>
                    <a:lstStyle/>
                    <a:p>
                      <a:pPr algn="l">
                        <a:lnSpc>
                          <a:spcPct val="110000"/>
                        </a:lnSpc>
                      </a:pPr>
                      <a:r>
                        <a:rPr kumimoji="1" lang="en-US" altLang="ja-JP" sz="1200" b="1" spc="50" baseline="0" dirty="0">
                          <a:latin typeface="+mj-lt"/>
                          <a:ea typeface="+mj-ea"/>
                        </a:rPr>
                        <a:t>10</a:t>
                      </a:r>
                      <a:r>
                        <a:rPr kumimoji="1" lang="ja-JP" altLang="en-US" sz="1200" b="1" spc="50" baseline="0" dirty="0">
                          <a:latin typeface="+mj-lt"/>
                          <a:ea typeface="+mj-ea"/>
                        </a:rPr>
                        <a:t>億円超　</a:t>
                      </a:r>
                      <a:r>
                        <a:rPr kumimoji="1" lang="en-US" altLang="ja-JP" sz="1200" b="1" spc="50" baseline="0" dirty="0">
                          <a:latin typeface="+mj-lt"/>
                          <a:ea typeface="+mj-ea"/>
                        </a:rPr>
                        <a:t>50</a:t>
                      </a:r>
                      <a:r>
                        <a:rPr kumimoji="1" lang="ja-JP" altLang="en-US" sz="1200" b="1" spc="50" baseline="0" dirty="0">
                          <a:latin typeface="+mj-lt"/>
                          <a:ea typeface="+mj-ea"/>
                        </a:rPr>
                        <a:t>億円以下の部分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800" b="1" spc="50" baseline="0" dirty="0">
                          <a:solidFill>
                            <a:schemeClr val="tx1"/>
                          </a:solidFill>
                          <a:latin typeface="+mn-lt"/>
                          <a:ea typeface="+mn-ea"/>
                        </a:rPr>
                        <a:t>3</a:t>
                      </a:r>
                      <a:r>
                        <a:rPr kumimoji="1" lang="ja-JP" altLang="en-US" sz="1100" b="0" spc="50" baseline="0" dirty="0">
                          <a:solidFill>
                            <a:schemeClr val="tx1"/>
                          </a:solidFill>
                          <a:latin typeface="+mn-lt"/>
                          <a:ea typeface="+mn-ea"/>
                        </a:rPr>
                        <a: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54929017"/>
                  </a:ext>
                </a:extLst>
              </a:tr>
              <a:tr h="342000">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200" b="1" spc="50" baseline="0" dirty="0">
                          <a:latin typeface="+mj-lt"/>
                          <a:ea typeface="+mj-ea"/>
                        </a:rPr>
                        <a:t>50</a:t>
                      </a:r>
                      <a:r>
                        <a:rPr kumimoji="1" lang="ja-JP" altLang="en-US" sz="1200" b="1" spc="50" baseline="0" dirty="0">
                          <a:latin typeface="+mj-lt"/>
                          <a:ea typeface="+mj-ea"/>
                        </a:rPr>
                        <a:t>億円超　</a:t>
                      </a:r>
                      <a:r>
                        <a:rPr kumimoji="1" lang="en-US" altLang="ja-JP" sz="1200" b="1" spc="50" baseline="0" dirty="0">
                          <a:latin typeface="+mj-lt"/>
                          <a:ea typeface="+mj-ea"/>
                        </a:rPr>
                        <a:t>100</a:t>
                      </a:r>
                      <a:r>
                        <a:rPr kumimoji="1" lang="ja-JP" altLang="en-US" sz="1200" b="1" spc="50" baseline="0" dirty="0">
                          <a:latin typeface="+mj-lt"/>
                          <a:ea typeface="+mj-ea"/>
                        </a:rPr>
                        <a:t>億円以下の部分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800" b="1" spc="50" baseline="0" dirty="0">
                          <a:solidFill>
                            <a:schemeClr val="tx1"/>
                          </a:solidFill>
                          <a:latin typeface="+mn-lt"/>
                          <a:ea typeface="+mn-ea"/>
                        </a:rPr>
                        <a:t>2</a:t>
                      </a:r>
                      <a:r>
                        <a:rPr kumimoji="1" lang="ja-JP" altLang="en-US" sz="1100" b="0" spc="50" baseline="0" dirty="0">
                          <a:solidFill>
                            <a:schemeClr val="tx1"/>
                          </a:solidFill>
                          <a:latin typeface="+mn-lt"/>
                          <a:ea typeface="+mn-ea"/>
                        </a:rPr>
                        <a: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96813135"/>
                  </a:ext>
                </a:extLst>
              </a:tr>
              <a:tr h="342000">
                <a:tc>
                  <a:txBody>
                    <a:bodyPr/>
                    <a:lstStyle/>
                    <a:p>
                      <a:pPr algn="l">
                        <a:lnSpc>
                          <a:spcPct val="110000"/>
                        </a:lnSpc>
                      </a:pPr>
                      <a:r>
                        <a:rPr kumimoji="1" lang="en-US" altLang="ja-JP" sz="1200" b="1" spc="50" baseline="0" dirty="0">
                          <a:latin typeface="+mj-lt"/>
                          <a:ea typeface="+mj-ea"/>
                        </a:rPr>
                        <a:t>100</a:t>
                      </a:r>
                      <a:r>
                        <a:rPr kumimoji="1" lang="ja-JP" altLang="en-US" sz="1200" b="1" spc="50" baseline="0" dirty="0">
                          <a:latin typeface="+mj-lt"/>
                          <a:ea typeface="+mj-ea"/>
                        </a:rPr>
                        <a:t>億円超の部分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800" b="1" spc="50" baseline="0" dirty="0">
                          <a:solidFill>
                            <a:schemeClr val="tx1"/>
                          </a:solidFill>
                          <a:latin typeface="+mn-lt"/>
                          <a:ea typeface="+mn-ea"/>
                        </a:rPr>
                        <a:t>1</a:t>
                      </a:r>
                      <a:r>
                        <a:rPr kumimoji="1" lang="ja-JP" altLang="en-US" sz="1100" b="0" spc="50" baseline="0" dirty="0">
                          <a:solidFill>
                            <a:schemeClr val="tx1"/>
                          </a:solidFill>
                          <a:latin typeface="+mn-lt"/>
                          <a:ea typeface="+mn-ea"/>
                        </a:rPr>
                        <a: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50759054"/>
                  </a:ext>
                </a:extLst>
              </a:tr>
            </a:tbl>
          </a:graphicData>
        </a:graphic>
      </p:graphicFrame>
      <p:sp>
        <p:nvSpPr>
          <p:cNvPr id="3" name="テキスト ボックス 2">
            <a:extLst>
              <a:ext uri="{FF2B5EF4-FFF2-40B4-BE49-F238E27FC236}">
                <a16:creationId xmlns:a16="http://schemas.microsoft.com/office/drawing/2014/main" id="{08F1693B-FFF1-ED80-7351-7BBDED97C92F}"/>
              </a:ext>
            </a:extLst>
          </p:cNvPr>
          <p:cNvSpPr txBox="1"/>
          <p:nvPr/>
        </p:nvSpPr>
        <p:spPr>
          <a:xfrm>
            <a:off x="8985126" y="2145278"/>
            <a:ext cx="788036" cy="209545"/>
          </a:xfrm>
          <a:prstGeom prst="rect">
            <a:avLst/>
          </a:prstGeom>
          <a:noFill/>
        </p:spPr>
        <p:txBody>
          <a:bodyPr wrap="none" lIns="0" tIns="0" rIns="0" bIns="0" rtlCol="0">
            <a:spAutoFit/>
          </a:bodyPr>
          <a:lstStyle/>
          <a:p>
            <a:pPr algn="ctr">
              <a:lnSpc>
                <a:spcPct val="120000"/>
              </a:lnSpc>
              <a:buClr>
                <a:schemeClr val="tx2"/>
              </a:buClr>
              <a:buSzPct val="80000"/>
            </a:pPr>
            <a:r>
              <a:rPr lang="en-US" altLang="ja-JP" sz="1200" spc="70" dirty="0">
                <a:latin typeface="+mj-ea"/>
                <a:ea typeface="+mj-ea"/>
              </a:rPr>
              <a:t>(</a:t>
            </a:r>
            <a:r>
              <a:rPr lang="ja-JP" altLang="en-US" sz="1200" spc="70" dirty="0">
                <a:latin typeface="+mj-ea"/>
                <a:ea typeface="+mj-ea"/>
              </a:rPr>
              <a:t>消費税別</a:t>
            </a:r>
            <a:r>
              <a:rPr lang="en-US" altLang="ja-JP" sz="1200" spc="70" dirty="0">
                <a:latin typeface="+mj-ea"/>
                <a:ea typeface="+mj-ea"/>
              </a:rPr>
              <a:t>)</a:t>
            </a:r>
            <a:endParaRPr lang="ja-JP" altLang="en-US" sz="1200" spc="70" dirty="0">
              <a:latin typeface="+mj-ea"/>
              <a:ea typeface="+mj-ea"/>
            </a:endParaRPr>
          </a:p>
        </p:txBody>
      </p:sp>
      <p:sp>
        <p:nvSpPr>
          <p:cNvPr id="4" name="正方形/長方形 3">
            <a:extLst>
              <a:ext uri="{FF2B5EF4-FFF2-40B4-BE49-F238E27FC236}">
                <a16:creationId xmlns:a16="http://schemas.microsoft.com/office/drawing/2014/main" id="{021EBBB3-E8D6-A883-4081-72409664F3A2}"/>
              </a:ext>
            </a:extLst>
          </p:cNvPr>
          <p:cNvSpPr/>
          <p:nvPr/>
        </p:nvSpPr>
        <p:spPr>
          <a:xfrm>
            <a:off x="449264" y="5224403"/>
            <a:ext cx="3816000" cy="186218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0" rtlCol="0" anchor="t"/>
          <a:lstStyle/>
          <a:p>
            <a:pPr algn="ctr">
              <a:buClr>
                <a:schemeClr val="tx2"/>
              </a:buClr>
              <a:buSzPct val="80000"/>
            </a:pPr>
            <a:r>
              <a:rPr kumimoji="1" lang="ja-JP" altLang="en-US" sz="1800" b="1" spc="110" dirty="0">
                <a:solidFill>
                  <a:schemeClr val="tx1"/>
                </a:solidFill>
                <a:latin typeface="+mj-ea"/>
                <a:ea typeface="+mj-ea"/>
              </a:rPr>
              <a:t>中間報酬</a:t>
            </a:r>
            <a:r>
              <a:rPr kumimoji="1" lang="en-US" altLang="ja-JP" sz="1800" spc="110" baseline="30000" dirty="0">
                <a:solidFill>
                  <a:schemeClr val="tx1"/>
                </a:solidFill>
                <a:latin typeface="+mj-ea"/>
                <a:ea typeface="+mj-ea"/>
              </a:rPr>
              <a:t>※1</a:t>
            </a:r>
            <a:r>
              <a:rPr kumimoji="1" lang="ja-JP" altLang="en-US" sz="1800" b="1" spc="110" dirty="0">
                <a:solidFill>
                  <a:schemeClr val="tx1"/>
                </a:solidFill>
                <a:latin typeface="+mj-ea"/>
                <a:ea typeface="+mj-ea"/>
              </a:rPr>
              <a:t>の算定方法</a:t>
            </a:r>
          </a:p>
        </p:txBody>
      </p:sp>
      <p:sp>
        <p:nvSpPr>
          <p:cNvPr id="5" name="正方形/長方形 4">
            <a:extLst>
              <a:ext uri="{FF2B5EF4-FFF2-40B4-BE49-F238E27FC236}">
                <a16:creationId xmlns:a16="http://schemas.microsoft.com/office/drawing/2014/main" id="{0A844F69-2E35-9611-A4E1-15256E6FA8E2}"/>
              </a:ext>
            </a:extLst>
          </p:cNvPr>
          <p:cNvSpPr/>
          <p:nvPr/>
        </p:nvSpPr>
        <p:spPr>
          <a:xfrm>
            <a:off x="615951" y="5812442"/>
            <a:ext cx="3482623" cy="916330"/>
          </a:xfrm>
          <a:prstGeom prst="rect">
            <a:avLst/>
          </a:prstGeom>
          <a:solidFill>
            <a:schemeClr val="bg1"/>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r>
              <a:rPr kumimoji="1" lang="ja-JP" altLang="en-US" sz="1600" b="1" spc="30" dirty="0">
                <a:solidFill>
                  <a:schemeClr val="tx1"/>
                </a:solidFill>
                <a:latin typeface="+mj-ea"/>
                <a:ea typeface="+mj-ea"/>
              </a:rPr>
              <a:t>成功報酬の</a:t>
            </a:r>
            <a:r>
              <a:rPr kumimoji="1" lang="en-US" altLang="ja-JP" sz="1600" b="1" spc="30" dirty="0">
                <a:solidFill>
                  <a:schemeClr val="tx1"/>
                </a:solidFill>
                <a:latin typeface="+mj-ea"/>
                <a:ea typeface="+mj-ea"/>
              </a:rPr>
              <a:t>10</a:t>
            </a:r>
            <a:r>
              <a:rPr kumimoji="1" lang="ja-JP" altLang="en-US" sz="1600" b="1" spc="30" dirty="0">
                <a:solidFill>
                  <a:schemeClr val="tx1"/>
                </a:solidFill>
                <a:latin typeface="+mj-ea"/>
                <a:ea typeface="+mj-ea"/>
              </a:rPr>
              <a:t>％</a:t>
            </a:r>
            <a:endParaRPr kumimoji="1" lang="en-US" altLang="ja-JP" sz="1600" b="1" spc="30" dirty="0">
              <a:solidFill>
                <a:schemeClr val="tx1"/>
              </a:solidFill>
              <a:latin typeface="+mj-ea"/>
              <a:ea typeface="+mj-ea"/>
            </a:endParaRPr>
          </a:p>
          <a:p>
            <a:pPr algn="ctr">
              <a:lnSpc>
                <a:spcPct val="120000"/>
              </a:lnSpc>
            </a:pPr>
            <a:r>
              <a:rPr kumimoji="1" lang="ja-JP" altLang="en-US" sz="1200" b="1" spc="30" dirty="0">
                <a:solidFill>
                  <a:schemeClr val="tx1"/>
                </a:solidFill>
                <a:latin typeface="+mj-ea"/>
                <a:ea typeface="+mj-ea"/>
              </a:rPr>
              <a:t>（但し最低額は</a:t>
            </a:r>
            <a:r>
              <a:rPr kumimoji="1" lang="en-US" altLang="ja-JP" sz="1200" b="1" spc="30" dirty="0">
                <a:solidFill>
                  <a:schemeClr val="tx1"/>
                </a:solidFill>
                <a:latin typeface="+mj-ea"/>
                <a:ea typeface="+mj-ea"/>
              </a:rPr>
              <a:t>300</a:t>
            </a:r>
            <a:r>
              <a:rPr kumimoji="1" lang="ja-JP" altLang="en-US" sz="1200" b="1" spc="30" dirty="0">
                <a:solidFill>
                  <a:schemeClr val="tx1"/>
                </a:solidFill>
                <a:latin typeface="+mj-ea"/>
                <a:ea typeface="+mj-ea"/>
              </a:rPr>
              <a:t>万円とします）</a:t>
            </a:r>
          </a:p>
        </p:txBody>
      </p:sp>
      <p:sp>
        <p:nvSpPr>
          <p:cNvPr id="8" name="正方形/長方形 7">
            <a:extLst>
              <a:ext uri="{FF2B5EF4-FFF2-40B4-BE49-F238E27FC236}">
                <a16:creationId xmlns:a16="http://schemas.microsoft.com/office/drawing/2014/main" id="{6EED8059-D8E2-0DAF-A350-928100484E14}"/>
              </a:ext>
            </a:extLst>
          </p:cNvPr>
          <p:cNvSpPr/>
          <p:nvPr/>
        </p:nvSpPr>
        <p:spPr>
          <a:xfrm>
            <a:off x="615951" y="6812925"/>
            <a:ext cx="3135474" cy="1299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spAutoFit/>
          </a:bodyPr>
          <a:lstStyle/>
          <a:p>
            <a:pPr>
              <a:lnSpc>
                <a:spcPct val="110000"/>
              </a:lnSpc>
            </a:pPr>
            <a:r>
              <a:rPr lang="en-US" altLang="ja-JP" sz="800" dirty="0">
                <a:solidFill>
                  <a:schemeClr val="tx1"/>
                </a:solidFill>
                <a:latin typeface="+mn-ea"/>
              </a:rPr>
              <a:t>※1</a:t>
            </a:r>
            <a:r>
              <a:rPr lang="ja-JP" altLang="en-US" sz="800" dirty="0">
                <a:solidFill>
                  <a:schemeClr val="tx1"/>
                </a:solidFill>
                <a:latin typeface="+mn-ea"/>
              </a:rPr>
              <a:t>　中間報酬は成約した場合、成功報酬に含め、充当いたします。</a:t>
            </a:r>
          </a:p>
        </p:txBody>
      </p:sp>
    </p:spTree>
    <p:extLst>
      <p:ext uri="{BB962C8B-B14F-4D97-AF65-F5344CB8AC3E}">
        <p14:creationId xmlns:p14="http://schemas.microsoft.com/office/powerpoint/2010/main" val="25774995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図 16" descr="背景パターン&#10;&#10;AI 生成コンテンツは誤りを含む可能性があります。">
            <a:extLst>
              <a:ext uri="{FF2B5EF4-FFF2-40B4-BE49-F238E27FC236}">
                <a16:creationId xmlns:a16="http://schemas.microsoft.com/office/drawing/2014/main" id="{38E11F1F-6089-6877-97F2-46DAB0493C33}"/>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8" name="テキスト ボックス 7">
            <a:extLst>
              <a:ext uri="{FF2B5EF4-FFF2-40B4-BE49-F238E27FC236}">
                <a16:creationId xmlns:a16="http://schemas.microsoft.com/office/drawing/2014/main" id="{9DC24A9B-5E33-B3B6-B79B-2D6D5E5AF179}"/>
              </a:ext>
            </a:extLst>
          </p:cNvPr>
          <p:cNvSpPr txBox="1"/>
          <p:nvPr/>
        </p:nvSpPr>
        <p:spPr>
          <a:xfrm>
            <a:off x="2626785" y="4635223"/>
            <a:ext cx="5604098" cy="276999"/>
          </a:xfrm>
          <a:prstGeom prst="rect">
            <a:avLst/>
          </a:prstGeom>
          <a:noFill/>
        </p:spPr>
        <p:txBody>
          <a:bodyPr wrap="none" lIns="0" tIns="0" rIns="0" bIns="0" rtlCol="0">
            <a:spAutoFit/>
          </a:bodyPr>
          <a:lstStyle/>
          <a:p>
            <a:pPr algn="ctr"/>
            <a:r>
              <a:rPr lang="ja-JP" altLang="en-US" b="1" spc="100" dirty="0">
                <a:latin typeface="+mj-ea"/>
                <a:ea typeface="+mj-ea"/>
              </a:rPr>
              <a:t>企業価値の最大化を通じて、経済に正しい循環を。</a:t>
            </a:r>
          </a:p>
        </p:txBody>
      </p:sp>
      <p:pic>
        <p:nvPicPr>
          <p:cNvPr id="4" name="グラフィックス 3">
            <a:extLst>
              <a:ext uri="{FF2B5EF4-FFF2-40B4-BE49-F238E27FC236}">
                <a16:creationId xmlns:a16="http://schemas.microsoft.com/office/drawing/2014/main" id="{549C4F39-0611-3D63-A333-95F8642EF8D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8588" y="3080873"/>
            <a:ext cx="5502236" cy="1090632"/>
          </a:xfrm>
          <a:prstGeom prst="rect">
            <a:avLst/>
          </a:prstGeom>
        </p:spPr>
      </p:pic>
    </p:spTree>
    <p:extLst>
      <p:ext uri="{BB962C8B-B14F-4D97-AF65-F5344CB8AC3E}">
        <p14:creationId xmlns:p14="http://schemas.microsoft.com/office/powerpoint/2010/main" val="3135229745"/>
      </p:ext>
    </p:extLst>
  </p:cSld>
  <p:clrMapOvr>
    <a:masterClrMapping/>
  </p:clrMapOvr>
</p:sld>
</file>

<file path=ppt/theme/theme1.xml><?xml version="1.0" encoding="utf-8"?>
<a:theme xmlns:a="http://schemas.openxmlformats.org/drawingml/2006/main" name="SL_2026">
  <a:themeElements>
    <a:clrScheme name="M&amp;A">
      <a:dk1>
        <a:srgbClr val="000000"/>
      </a:dk1>
      <a:lt1>
        <a:srgbClr val="FFFFFF"/>
      </a:lt1>
      <a:dk2>
        <a:srgbClr val="0B3041"/>
      </a:dk2>
      <a:lt2>
        <a:srgbClr val="E3E7E9"/>
      </a:lt2>
      <a:accent1>
        <a:srgbClr val="727F88"/>
      </a:accent1>
      <a:accent2>
        <a:srgbClr val="E1F3FB"/>
      </a:accent2>
      <a:accent3>
        <a:srgbClr val="54CCB3"/>
      </a:accent3>
      <a:accent4>
        <a:srgbClr val="0889C9"/>
      </a:accent4>
      <a:accent5>
        <a:srgbClr val="FFFFFF"/>
      </a:accent5>
      <a:accent6>
        <a:srgbClr val="FFFFFF"/>
      </a:accent6>
      <a:hlink>
        <a:srgbClr val="FFFFFF"/>
      </a:hlink>
      <a:folHlink>
        <a:srgbClr val="FFFFFF"/>
      </a:folHlink>
    </a:clrScheme>
    <a:fontScheme name="游ゴシック&amp;Arial">
      <a:majorFont>
        <a:latin typeface="Arial"/>
        <a:ea typeface="游ゴシック"/>
        <a:cs typeface=""/>
      </a:majorFont>
      <a:minorFont>
        <a:latin typeface="Arial"/>
        <a:ea typeface="游ゴシック Medium"/>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7899</TotalTime>
  <Words>4485</Words>
  <Application>Microsoft Office PowerPoint</Application>
  <PresentationFormat>ユーザー設定</PresentationFormat>
  <Paragraphs>1658</Paragraphs>
  <Slides>35</Slides>
  <Notes>28</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35</vt:i4>
      </vt:variant>
    </vt:vector>
  </HeadingPairs>
  <TitlesOfParts>
    <vt:vector size="40" baseType="lpstr">
      <vt:lpstr>游ゴシック</vt:lpstr>
      <vt:lpstr>游ゴシック Medium</vt:lpstr>
      <vt:lpstr>Arial</vt:lpstr>
      <vt:lpstr>Wingdings</vt:lpstr>
      <vt:lpstr>SL_2026</vt:lpstr>
      <vt:lpstr>企業概要書　＜キャラクターグッズ企画・製造販売／東京都＞</vt:lpstr>
      <vt:lpstr>はじめに</vt:lpstr>
      <vt:lpstr>PowerPoint プレゼンテーション</vt:lpstr>
      <vt:lpstr>エグゼクティブサマリー</vt:lpstr>
      <vt:lpstr>基本情報</vt:lpstr>
      <vt:lpstr>本件想定スキーム</vt:lpstr>
      <vt:lpstr>会社分割スキームの前提整理</vt:lpstr>
      <vt:lpstr>財務ハイライト（P/L）</vt:lpstr>
      <vt:lpstr>財務ハイライト（B/S）</vt:lpstr>
      <vt:lpstr>分割後BSイメージ</vt:lpstr>
      <vt:lpstr>譲渡希望条件</vt:lpstr>
      <vt:lpstr>事業概要</vt:lpstr>
      <vt:lpstr>事業内容</vt:lpstr>
      <vt:lpstr>主な制作実績（取扱IP）</vt:lpstr>
      <vt:lpstr>サービス・商品概要</vt:lpstr>
      <vt:lpstr>特徴、強み、成長性等</vt:lpstr>
      <vt:lpstr>主要販売先別 売上高推移</vt:lpstr>
      <vt:lpstr>仕入先別取引高</vt:lpstr>
      <vt:lpstr>製造委託・外部委託関連費用</vt:lpstr>
      <vt:lpstr>組織、拠点、設備等</vt:lpstr>
      <vt:lpstr>組織図</vt:lpstr>
      <vt:lpstr>株主及び役員</vt:lpstr>
      <vt:lpstr>従業員</vt:lpstr>
      <vt:lpstr>拠点概要（本社）</vt:lpstr>
      <vt:lpstr>保有設備一覧</vt:lpstr>
      <vt:lpstr>財務情報詳細</vt:lpstr>
      <vt:lpstr>貸借対照表</vt:lpstr>
      <vt:lpstr>損益計算書</vt:lpstr>
      <vt:lpstr>売上原価の内訳（製造委託中心）</vt:lpstr>
      <vt:lpstr>販売費及び一般管理費</vt:lpstr>
      <vt:lpstr>Appendix</vt:lpstr>
      <vt:lpstr>沿革</vt:lpstr>
      <vt:lpstr>代表者経歴</vt:lpstr>
      <vt:lpstr>報酬体系</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宮本 健</dc:creator>
  <cp:lastModifiedBy>田垣内 啓介</cp:lastModifiedBy>
  <cp:revision>181</cp:revision>
  <cp:lastPrinted>2025-10-23T01:12:16Z</cp:lastPrinted>
  <dcterms:created xsi:type="dcterms:W3CDTF">2022-11-09T11:25:01Z</dcterms:created>
  <dcterms:modified xsi:type="dcterms:W3CDTF">2026-07-28T14:33:34Z</dcterms:modified>
</cp:coreProperties>
</file>