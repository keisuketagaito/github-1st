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4"/>
  </p:notesMasterIdLst>
  <p:sldIdLst>
    <p:sldId id="770" r:id="rId2"/>
    <p:sldId id="269" r:id="rId3"/>
    <p:sldId id="693" r:id="rId4"/>
    <p:sldId id="749" r:id="rId5"/>
    <p:sldId id="748" r:id="rId6"/>
    <p:sldId id="774" r:id="rId7"/>
    <p:sldId id="775" r:id="rId8"/>
    <p:sldId id="266" r:id="rId9"/>
    <p:sldId id="772" r:id="rId10"/>
    <p:sldId id="776" r:id="rId11"/>
    <p:sldId id="798" r:id="rId12"/>
    <p:sldId id="802" r:id="rId13"/>
    <p:sldId id="796" r:id="rId14"/>
    <p:sldId id="803" r:id="rId47"/>
    <p:sldId id="792" r:id="rId15"/>
    <p:sldId id="779" r:id="rId16"/>
    <p:sldId id="797" r:id="rId17"/>
    <p:sldId id="771" r:id="rId18"/>
    <p:sldId id="780" r:id="rId19"/>
    <p:sldId id="789" r:id="rId20"/>
    <p:sldId id="781" r:id="rId21"/>
    <p:sldId id="790" r:id="rId22"/>
    <p:sldId id="795" r:id="rId23"/>
    <p:sldId id="773" r:id="rId24"/>
    <p:sldId id="784" r:id="rId25"/>
    <p:sldId id="785" r:id="rId26"/>
    <p:sldId id="786" r:id="rId27"/>
    <p:sldId id="787" r:id="rId28"/>
    <p:sldId id="782" r:id="rId29"/>
    <p:sldId id="783" r:id="rId30"/>
    <p:sldId id="794" r:id="rId31"/>
    <p:sldId id="801" r:id="rId32"/>
    <p:sldId id="277" r:id="rId33"/>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802"/>
            <p14:sldId id="796"/>
            <p14:sldId id="792"/>
            <p14:sldId id="779"/>
            <p14:sldId id="797"/>
            <p14:sldId id="771"/>
            <p14:sldId id="780"/>
            <p14:sldId id="789"/>
            <p14:sldId id="781"/>
            <p14:sldId id="790"/>
            <p14:sldId id="795"/>
            <p14:sldId id="773"/>
            <p14:sldId id="784"/>
            <p14:sldId id="785"/>
            <p14:sldId id="786"/>
            <p14:sldId id="787"/>
            <p14:sldId id="782"/>
            <p14:sldId id="783"/>
            <p14:sldId id="794"/>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3FB"/>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66" d="100"/>
          <a:sy n="66" d="100"/>
        </p:scale>
        <p:origin x="888" y="3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12</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15</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28</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30</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21.jpg"/><Relationship Id="rId9" Type="http://schemas.openxmlformats.org/officeDocument/2006/relationships/image" Target="../media/image22.jpg"/><Relationship Id="rId10" Type="http://schemas.openxmlformats.org/officeDocument/2006/relationships/image" Target="../media/image23.jpg"/><Relationship Id="rId11" Type="http://schemas.openxmlformats.org/officeDocument/2006/relationships/image" Target="../media/image24.jpg"/><Relationship Id="rId12" Type="http://schemas.openxmlformats.org/officeDocument/2006/relationships/image" Target="../media/image25.jpg"/><Relationship Id="rId13" Type="http://schemas.openxmlformats.org/officeDocument/2006/relationships/image" Target="../media/image26.jpg"/><Relationship Id="rId14" Type="http://schemas.openxmlformats.org/officeDocument/2006/relationships/image" Target="../media/image27.jpg"/><Relationship Id="rId15" Type="http://schemas.openxmlformats.org/officeDocument/2006/relationships/image" Target="../media/image28.jpg"/><Relationship Id="rId16" Type="http://schemas.openxmlformats.org/officeDocument/2006/relationships/image" Target="../media/image29.jpg"/><Relationship Id="rId17" Type="http://schemas.openxmlformats.org/officeDocument/2006/relationships/image" Target="../media/image30.jpg"/><Relationship Id="rId18" Type="http://schemas.openxmlformats.org/officeDocument/2006/relationships/image" Target="../media/image31.jpg"/><Relationship Id="rId19" Type="http://schemas.openxmlformats.org/officeDocument/2006/relationships/image" Target="../media/image32.jpg"/><Relationship Id="rId20" Type="http://schemas.openxmlformats.org/officeDocument/2006/relationships/image" Target="../media/image33.jpg"/><Relationship Id="rId21"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6.png"/><Relationship Id="rId5"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wrap="square"/>
          <a:lstStyle/>
          <a:p>
            <a:r>
              <a:rPr>
                <a:latin typeface="游ゴシック"/>
                <a:ea typeface="游ゴシック"/>
              </a:rPr>
              <a:t>企業概要書　</a:t>
            </a:r>
            <a:r>
              <a:rPr sz="1600">
                <a:latin typeface="游ゴシック"/>
                <a:ea typeface="游ゴシック"/>
              </a:rPr>
              <a:t>＜キャラクターグッズ企画・製造販売／東京都＞</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18010421"/>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a:latin typeface="+mj-ea"/>
                <a:ea typeface="+mj-ea"/>
              </a:rPr>
              <a:t>アニメ・ゲームIPを活用したキャラクターグッズの企画・製造・販売を手掛け、少数精鋭（従業員7名＋役員3名）で売上高422百万円・営業利益58百万円（令和8年1月期）を創出。大手IPホルダーとの継続取引と国内外の製造ネットワークを強みとする高収益企業です。</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517736"/>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Table 14"/>
          <p:cNvGraphicFramePr>
            <a:graphicFrameLocks noGrp="1"/>
          </p:cNvGraphicFramePr>
          <p:nvPr/>
        </p:nvGraphicFramePr>
        <p:xfrm>
          <a:off x="309600" y="1764000"/>
          <a:ext cx="5857200" cy="4283997"/>
        </p:xfrm>
        <a:graphic>
          <a:graphicData uri="http://schemas.openxmlformats.org/drawingml/2006/table">
            <a:tbl>
              <a:tblPr>
                <a:tableStyleId>{5C22544A-7EE6-4342-B048-85BDC9FD1C3A}</a:tableStyleId>
              </a:tblPr>
              <a:tblGrid>
                <a:gridCol w="1296000">
                  <a:extLst>
                    <a:ext uri="{9D8B030D-6E8A-4147-A177-3AD203B41FA5}">
                      <a16:colId xmlns:a16="http://schemas.microsoft.com/office/drawing/2014/main" val="20000"/>
                    </a:ext>
                  </a:extLst>
                </a:gridCol>
                <a:gridCol w="4561200">
                  <a:extLst>
                    <a:ext uri="{9D8B030D-6E8A-4147-A177-3AD203B41FA5}">
                      <a16:colId xmlns:a16="http://schemas.microsoft.com/office/drawing/2014/main" val="20001"/>
                    </a:ext>
                  </a:extLst>
                </a:gridCol>
              </a:tblGrid>
              <a:tr h="251999">
                <a:tc>
                  <a:txBody>
                    <a:bodyPr/>
                    <a:lstStyle/>
                    <a:p>
                      <a:pPr algn="ctr"/>
                      <a:r>
                        <a:rPr sz="900" b="1">
                          <a:solidFill>
                            <a:srgbClr val="FFFFFF"/>
                          </a:solidFill>
                          <a:latin typeface="游ゴシック"/>
                          <a:ea typeface="游ゴシック"/>
                        </a:rPr>
                        <a:t>項目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270000">
                <a:tc>
                  <a:txBody>
                    <a:bodyPr/>
                    <a:lstStyle/>
                    <a:p>
                      <a:pPr algn="l"/>
                      <a:r>
                        <a:rPr sz="900" b="0">
                          <a:solidFill>
                            <a:srgbClr val="0B3041"/>
                          </a:solidFill>
                          <a:latin typeface="游ゴシック"/>
                          <a:ea typeface="游ゴシック"/>
                        </a:rPr>
                        <a:t>会社名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株式会社カナリア</a:t>
                      </a:r>
                    </a:p>
                  </a:txBody>
                  <a:tcPr marL="36000" marR="36000" marT="7200" marB="7200" anchor="ctr">
                    <a:solidFill>
                      <a:srgbClr val="FFFFFF"/>
                    </a:solidFill>
                  </a:tcPr>
                </a:tc>
                <a:extLst>
                  <a:ext uri="{0D108BD9-81ED-4DB2-BD59-A6C34878D82A}">
                    <a16:rowId xmlns:a16="http://schemas.microsoft.com/office/drawing/2014/main" val="10001"/>
                  </a:ext>
                </a:extLst>
              </a:tr>
              <a:tr h="270000">
                <a:tc>
                  <a:txBody>
                    <a:bodyPr/>
                    <a:lstStyle/>
                    <a:p>
                      <a:pPr algn="l"/>
                      <a:r>
                        <a:rPr sz="900" b="0">
                          <a:solidFill>
                            <a:srgbClr val="0B3041"/>
                          </a:solidFill>
                          <a:latin typeface="游ゴシック"/>
                          <a:ea typeface="游ゴシック"/>
                        </a:rPr>
                        <a:t>設立</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2014年2月12日（決算期基準の試算で第12期）</a:t>
                      </a: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900" b="0">
                          <a:solidFill>
                            <a:srgbClr val="0B3041"/>
                          </a:solidFill>
                          <a:latin typeface="游ゴシック"/>
                          <a:ea typeface="游ゴシック"/>
                        </a:rPr>
                        <a:t>本社所在地</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東京都台東区東上野一丁目20番5号 サスガビル4階</a:t>
                      </a:r>
                    </a:p>
                  </a:txBody>
                  <a:tcPr marL="36000" marR="36000" marT="7200" marB="7200" anchor="ctr">
                    <a:solidFill>
                      <a:srgbClr val="FFFFFF"/>
                    </a:solidFill>
                  </a:tcPr>
                </a:tc>
                <a:extLst>
                  <a:ext uri="{0D108BD9-81ED-4DB2-BD59-A6C34878D82A}">
                    <a16:rowId xmlns:a16="http://schemas.microsoft.com/office/drawing/2014/main" val="10003"/>
                  </a:ext>
                </a:extLst>
              </a:tr>
              <a:tr h="270000">
                <a:tc>
                  <a:txBody>
                    <a:bodyPr/>
                    <a:lstStyle/>
                    <a:p>
                      <a:pPr algn="l"/>
                      <a:r>
                        <a:rPr sz="900" b="0">
                          <a:solidFill>
                            <a:srgbClr val="0B3041"/>
                          </a:solidFill>
                          <a:latin typeface="游ゴシック"/>
                          <a:ea typeface="游ゴシック"/>
                        </a:rPr>
                        <a:t>資本金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10,000千円（発行済株式総数1,000株）</a:t>
                      </a:r>
                    </a:p>
                  </a:txBody>
                  <a:tcPr marL="36000" marR="36000" marT="7200" marB="7200" anchor="ctr">
                    <a:solidFill>
                      <a:srgbClr val="F4F7F9"/>
                    </a:solidFill>
                  </a:tcPr>
                </a:tc>
                <a:extLst>
                  <a:ext uri="{0D108BD9-81ED-4DB2-BD59-A6C34878D82A}">
                    <a16:rowId xmlns:a16="http://schemas.microsoft.com/office/drawing/2014/main" val="10004"/>
                  </a:ext>
                </a:extLst>
              </a:tr>
              <a:tr h="270000">
                <a:tc>
                  <a:txBody>
                    <a:bodyPr/>
                    <a:lstStyle/>
                    <a:p>
                      <a:pPr algn="l"/>
                      <a:r>
                        <a:rPr sz="900" b="0">
                          <a:solidFill>
                            <a:srgbClr val="0B3041"/>
                          </a:solidFill>
                          <a:latin typeface="游ゴシック"/>
                          <a:ea typeface="游ゴシック"/>
                        </a:rPr>
                        <a:t>代表者</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代表取締役 野口 紘</a:t>
                      </a:r>
                    </a:p>
                  </a:txBody>
                  <a:tcPr marL="36000" marR="36000" marT="7200" marB="7200" anchor="ctr">
                    <a:solidFill>
                      <a:srgbClr val="FFFFFF"/>
                    </a:solidFill>
                  </a:tcPr>
                </a:tc>
                <a:extLst>
                  <a:ext uri="{0D108BD9-81ED-4DB2-BD59-A6C34878D82A}">
                    <a16:rowId xmlns:a16="http://schemas.microsoft.com/office/drawing/2014/main" val="10005"/>
                  </a:ext>
                </a:extLst>
              </a:tr>
              <a:tr h="324000">
                <a:tc>
                  <a:txBody>
                    <a:bodyPr/>
                    <a:lstStyle/>
                    <a:p>
                      <a:pPr algn="l"/>
                      <a:r>
                        <a:rPr sz="900" b="0">
                          <a:solidFill>
                            <a:srgbClr val="0B3041"/>
                          </a:solidFill>
                          <a:latin typeface="游ゴシック"/>
                          <a:ea typeface="游ゴシック"/>
                        </a:rPr>
                        <a:t>従業員数</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7名（制作部5名・営業部2名）＋役員3名 ※2026年1月末</a:t>
                      </a:r>
                    </a:p>
                  </a:txBody>
                  <a:tcPr marL="36000" marR="36000" marT="7200" marB="7200" anchor="ctr">
                    <a:solidFill>
                      <a:srgbClr val="F4F7F9"/>
                    </a:solidFill>
                  </a:tcPr>
                </a:tc>
                <a:extLst>
                  <a:ext uri="{0D108BD9-81ED-4DB2-BD59-A6C34878D82A}">
                    <a16:rowId xmlns:a16="http://schemas.microsoft.com/office/drawing/2014/main" val="10006"/>
                  </a:ext>
                </a:extLst>
              </a:tr>
              <a:tr h="936000">
                <a:tc>
                  <a:txBody>
                    <a:bodyPr/>
                    <a:lstStyle/>
                    <a:p>
                      <a:pPr algn="l"/>
                      <a:r>
                        <a:rPr sz="900" b="0">
                          <a:solidFill>
                            <a:srgbClr val="0B3041"/>
                          </a:solidFill>
                          <a:latin typeface="游ゴシック"/>
                          <a:ea typeface="游ゴシック"/>
                        </a:rPr>
                        <a:t>事業内容</a:t>
                      </a:r>
                    </a:p>
                  </a:txBody>
                  <a:tcPr marL="36000" marR="36000" marT="7200" marB="7200" anchor="ctr">
                    <a:solidFill>
                      <a:srgbClr val="FFFFFF"/>
                    </a:solidFill>
                  </a:tcPr>
                </a:tc>
                <a:tc>
                  <a:txBody>
                    <a:bodyPr/>
                    <a:lstStyle/>
                    <a:p>
                      <a:r>
                        <a:rPr sz="1050">
                          <a:latin typeface="游ゴシック"/>
                        </a:rPr>
                        <a:t>アニメ・ゲームIPを活用したキャラクターグッズの企画・製造・販売、及びOEM受託。自社オリジナルくじ「スターくじ」「あたりツキ！」を展開。制作実績多数(SAO・東京喰種・ハイキュー!! 等)。製造は中国等海外委託が中心のファブレス型B2Bモデル。</a:t>
                      </a:r>
                    </a:p>
                  </a:txBody>
                  <a:tcPr marL="36000" marR="36000" marT="7200" marB="7200" anchor="ctr">
                    <a:solidFill>
                      <a:srgbClr val="FFFFFF"/>
                    </a:solidFill>
                  </a:tcPr>
                </a:tc>
                <a:extLst>
                  <a:ext uri="{0D108BD9-81ED-4DB2-BD59-A6C34878D82A}">
                    <a16:rowId xmlns:a16="http://schemas.microsoft.com/office/drawing/2014/main" val="10007"/>
                  </a:ext>
                </a:extLst>
              </a:tr>
              <a:tr h="216000">
                <a:tc>
                  <a:txBody>
                    <a:bodyPr/>
                    <a:lstStyle/>
                    <a:p>
                      <a:pPr algn="l"/>
                      <a:r>
                        <a:rPr sz="900" b="0">
                          <a:solidFill>
                            <a:srgbClr val="0B3041"/>
                          </a:solidFill>
                          <a:latin typeface="游ゴシック"/>
                          <a:ea typeface="游ゴシック"/>
                        </a:rPr>
                        <a:t>拠点</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本社1拠点</a:t>
                      </a:r>
                    </a:p>
                  </a:txBody>
                  <a:tcPr marL="36000" marR="36000" marT="7200" marB="7200" anchor="ctr">
                    <a:solidFill>
                      <a:srgbClr val="F4F7F9"/>
                    </a:solidFill>
                  </a:tcPr>
                </a:tc>
                <a:extLst>
                  <a:ext uri="{0D108BD9-81ED-4DB2-BD59-A6C34878D82A}">
                    <a16:rowId xmlns:a16="http://schemas.microsoft.com/office/drawing/2014/main" val="10008"/>
                  </a:ext>
                </a:extLst>
              </a:tr>
              <a:tr h="251999">
                <a:tc>
                  <a:txBody>
                    <a:bodyPr/>
                    <a:lstStyle/>
                    <a:p>
                      <a:pPr algn="l"/>
                      <a:r>
                        <a:rPr sz="900" b="0">
                          <a:solidFill>
                            <a:srgbClr val="0B3041"/>
                          </a:solidFill>
                          <a:latin typeface="游ゴシック"/>
                          <a:ea typeface="游ゴシック"/>
                        </a:rPr>
                        <a:t>売上高</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422,475千円（令和8年1月期）</a:t>
                      </a:r>
                    </a:p>
                  </a:txBody>
                  <a:tcPr marL="36000" marR="36000" marT="7200" marB="7200" anchor="ctr">
                    <a:solidFill>
                      <a:srgbClr val="FFFFFF"/>
                    </a:solidFill>
                  </a:tcPr>
                </a:tc>
                <a:extLst>
                  <a:ext uri="{0D108BD9-81ED-4DB2-BD59-A6C34878D82A}">
                    <a16:rowId xmlns:a16="http://schemas.microsoft.com/office/drawing/2014/main" val="10009"/>
                  </a:ext>
                </a:extLst>
              </a:tr>
              <a:tr h="251999">
                <a:tc>
                  <a:txBody>
                    <a:bodyPr/>
                    <a:lstStyle/>
                    <a:p>
                      <a:pPr algn="l"/>
                      <a:r>
                        <a:rPr sz="900" b="0">
                          <a:solidFill>
                            <a:srgbClr val="0B3041"/>
                          </a:solidFill>
                          <a:latin typeface="游ゴシック"/>
                          <a:ea typeface="游ゴシック"/>
                        </a:rPr>
                        <a:t>営業利益</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58,514千円（同期・営業利益率13.9%）</a:t>
                      </a:r>
                    </a:p>
                  </a:txBody>
                  <a:tcPr marL="36000" marR="36000" marT="7200" marB="7200" anchor="ctr">
                    <a:solidFill>
                      <a:srgbClr val="F4F7F9"/>
                    </a:solidFill>
                  </a:tcPr>
                </a:tc>
                <a:extLst>
                  <a:ext uri="{0D108BD9-81ED-4DB2-BD59-A6C34878D82A}">
                    <a16:rowId xmlns:a16="http://schemas.microsoft.com/office/drawing/2014/main" val="10010"/>
                  </a:ext>
                </a:extLst>
              </a:tr>
              <a:tr h="324000">
                <a:tc>
                  <a:txBody>
                    <a:bodyPr/>
                    <a:lstStyle/>
                    <a:p>
                      <a:pPr algn="l"/>
                      <a:r>
                        <a:rPr sz="900" b="0">
                          <a:solidFill>
                            <a:srgbClr val="0B3041"/>
                          </a:solidFill>
                          <a:latin typeface="游ゴシック"/>
                          <a:ea typeface="游ゴシック"/>
                        </a:rPr>
                        <a:t>主要取引先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㈱セガ、㈱KADOKAWA Game Linkage、㈱ムービック 等</a:t>
                      </a:r>
                    </a:p>
                  </a:txBody>
                  <a:tcPr marL="36000" marR="36000" marT="7200" marB="7200" anchor="ctr">
                    <a:solidFill>
                      <a:srgbClr val="FFFFFF"/>
                    </a:solidFill>
                  </a:tcPr>
                </a:tc>
                <a:extLst>
                  <a:ext uri="{0D108BD9-81ED-4DB2-BD59-A6C34878D82A}">
                    <a16:rowId xmlns:a16="http://schemas.microsoft.com/office/drawing/2014/main" val="10011"/>
                  </a:ext>
                </a:extLst>
              </a:tr>
              <a:tr h="324000">
                <a:tc>
                  <a:txBody>
                    <a:bodyPr/>
                    <a:lstStyle/>
                    <a:p>
                      <a:r>
                        <a:rPr sz="1050">
                          <a:latin typeface="游ゴシック"/>
                        </a:rPr>
                        <a:t>取引銀行</a:t>
                      </a:r>
                    </a:p>
                  </a:txBody>
                  <a:tcPr marL="36000" marR="36000" marT="7200" marB="7200" anchor="ctr">
                    <a:solidFill>
                      <a:srgbClr val="FFFFFF"/>
                    </a:solidFill>
                  </a:tcPr>
                </a:tc>
                <a:tc>
                  <a:txBody>
                    <a:bodyPr/>
                    <a:lstStyle/>
                    <a:p>
                      <a:r>
                        <a:rPr sz="1050">
                          <a:latin typeface="游ゴシック"/>
                        </a:rPr>
                        <a:t>朝日信用金庫、みずほ銀行</a:t>
                      </a:r>
                    </a:p>
                  </a:txBody>
                  <a:tcPr marL="36000" marR="36000" marT="7200" marB="7200" anchor="ctr">
                    <a:solidFill>
                      <a:srgbClr val="FFFFFF"/>
                    </a:solidFill>
                  </a:tcPr>
                </a:tc>
                <a:extLst>
                  <a:ext uri="{0D108BD9-81ED-4DB2-BD59-A6C34878D82A}">
                    <a16:rowId xmlns:a16="http://schemas.microsoft.com/office/drawing/2014/main" val="10012"/>
                  </a:ext>
                </a:extLst>
              </a:tr>
              <a:tr h="324000">
                <a:tc>
                  <a:txBody>
                    <a:bodyPr/>
                    <a:lstStyle/>
                    <a:p>
                      <a:r>
                        <a:rPr sz="1050">
                          <a:latin typeface="游ゴシック"/>
                        </a:rPr>
                        <a:t>譲渡スキーム</a:t>
                      </a:r>
                    </a:p>
                  </a:txBody>
                  <a:tcPr marL="36000" marR="36000" marT="7200" marB="7200" anchor="ctr">
                    <a:solidFill>
                      <a:srgbClr val="FFFFFF"/>
                    </a:solidFill>
                  </a:tcPr>
                </a:tc>
                <a:tc>
                  <a:txBody>
                    <a:bodyPr/>
                    <a:lstStyle/>
                    <a:p>
                      <a:r>
                        <a:rPr sz="1050">
                          <a:latin typeface="游ゴシック"/>
                        </a:rPr>
                        <a:t>会社分割により非事業用資産（投資有価証券・保険積立金・車両等）を切り出したうえで、株式100％譲渡</a:t>
                      </a:r>
                    </a:p>
                  </a:txBody>
                  <a:tcPr marL="36000" marR="36000" marT="7200" marB="7200" anchor="ctr">
                    <a:solidFill>
                      <a:srgbClr val="FFFFFF"/>
                    </a:solidFill>
                  </a:tcPr>
                </a:tc>
                <a:extLst>
                  <a:ext uri="{0D108BD9-81ED-4DB2-BD59-A6C34878D82A}">
                    <a16:rowId xmlns:a16="http://schemas.microsoft.com/office/drawing/2014/main" val="10012"/>
                  </a:ext>
                </a:extLst>
              </a:tr>
            </a:tbl>
          </a:graphicData>
        </a:graphic>
      </p:graphicFrame>
      <p:pic>
        <p:nvPicPr>
          <p:cNvPr id="16" name="Picture 15" descr="logo.jpg"/>
          <p:cNvPicPr>
            <a:picLocks noChangeAspect="1"/>
          </p:cNvPicPr>
          <p:nvPr/>
        </p:nvPicPr>
        <p:blipFill>
          <a:blip r:embed="rId3"/>
          <a:stretch>
            <a:fillRect/>
          </a:stretch>
        </p:blipFill>
        <p:spPr>
          <a:xfrm>
            <a:off x="7238425" y="1554514"/>
            <a:ext cx="2367361" cy="773723"/>
          </a:xfrm>
          <a:prstGeom prst="rect">
            <a:avLst/>
          </a:prstGeom>
        </p:spPr>
      </p:pic>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a:latin typeface="+mj-ea"/>
                <a:ea typeface="+mj-ea"/>
              </a:rPr>
              <a:t>令和7年1月期に売上・利益が大きく伸長し、令和8年1月期も売上高422百万円・営業利益58百万円と高水準を維持。営業利益率13.9%、償却負担も小さく安定した収益力を確保しています。</a:t>
            </a:r>
            <a:endParaRPr lang="en-US" altLang="ja-JP" dirty="0">
              <a:latin typeface="+mj-ea"/>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604592"/>
            <a:ext cx="3924999" cy="2539157"/>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382390"/>
            <a:ext cx="3924999" cy="310673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49972"/>
            <a:ext cx="3912257" cy="2539157"/>
          </a:xfrm>
          <a:prstGeom prst="rect">
            <a:avLst/>
          </a:prstGeom>
          <a:noFill/>
        </p:spPr>
        <p:txBody>
          <a:bodyPr wrap="square" lIns="288000" tIns="0" rIns="252000" bIns="0" rtlCol="0">
            <a:spAutoFit/>
          </a:bodyPr>
          <a:lstStyle/>
          <a:p>
            <a:r>
              <a:rPr sz="1050">
                <a:latin typeface="+mn-ea"/>
                <a:ea typeface="+mn-ea"/>
              </a:rPr>
              <a:t>≪売上≫</a:t>
            </a:r>
            <a:endParaRPr kumimoji="1" lang="en-US" altLang="ja-JP" sz="1100" dirty="0">
              <a:solidFill>
                <a:schemeClr val="tx1"/>
              </a:solidFill>
              <a:latin typeface="+mn-ea"/>
              <a:ea typeface="+mn-ea"/>
            </a:endParaRPr>
          </a:p>
          <a:p>
            <a:r>
              <a:rPr sz="1050">
                <a:latin typeface="+mn-ea"/>
                <a:ea typeface="+mn-ea"/>
              </a:rPr>
              <a:t>・令和7年1月期に大型IP案件で443百万円へ拡大、令和8年1月期は422百万円と高水準を維持</a:t>
            </a:r>
          </a:p>
          <a:p>
            <a:endParaRPr sz="1050">
              <a:latin typeface="+mn-ea"/>
              <a:ea typeface="+mn-ea"/>
            </a:endParaRPr>
          </a:p>
          <a:p>
            <a:r>
              <a:rPr sz="1050">
                <a:latin typeface="+mn-ea"/>
                <a:ea typeface="+mn-ea"/>
              </a:rPr>
              <a:t>≪売上総利益≫</a:t>
            </a:r>
          </a:p>
          <a:p>
            <a:r>
              <a:rPr sz="1050">
                <a:latin typeface="+mn-ea"/>
                <a:ea typeface="+mn-ea"/>
              </a:rPr>
              <a:t>・粗利率は概ね33〜40%。製造委託中心の身軽なコスト構造</a:t>
            </a:r>
          </a:p>
          <a:p>
            <a:endParaRPr sz="1050">
              <a:latin typeface="+mn-ea"/>
              <a:ea typeface="+mn-ea"/>
            </a:endParaRPr>
          </a:p>
          <a:p>
            <a:r>
              <a:rPr sz="1050">
                <a:latin typeface="+mn-ea"/>
                <a:ea typeface="+mn-ea"/>
              </a:rPr>
              <a:t>≪営業利益≫</a:t>
            </a:r>
          </a:p>
          <a:p>
            <a:r>
              <a:rPr sz="1050">
                <a:latin typeface="+mn-ea"/>
                <a:ea typeface="+mn-ea"/>
              </a:rPr>
              <a:t>・令和8年1月期は58百万円（利益率13.9%）。少数精鋭による高い一人当たり収益性</a:t>
            </a:r>
          </a:p>
          <a:p>
            <a:endParaRPr sz="1050">
              <a:latin typeface="+mn-ea"/>
              <a:ea typeface="+mn-ea"/>
            </a:endParaRPr>
          </a:p>
          <a:p>
            <a:r>
              <a:rPr sz="1050">
                <a:latin typeface="+mn-ea"/>
                <a:ea typeface="+mn-ea"/>
              </a:rPr>
              <a:t>≪ご参考≫</a:t>
            </a:r>
          </a:p>
          <a:p>
            <a:r>
              <a:rPr sz="1050">
                <a:latin typeface="+mn-ea"/>
                <a:ea typeface="+mn-ea"/>
              </a:rPr>
              <a:t>・進行期(令和9年1月期)は5ヶ月実績のみ受領。通期見通しはヒアリング予定</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5029312"/>
            <a:ext cx="3912257" cy="1862048"/>
          </a:xfrm>
          <a:prstGeom prst="rect">
            <a:avLst/>
          </a:prstGeom>
          <a:noFill/>
        </p:spPr>
        <p:txBody>
          <a:bodyPr wrap="square" lIns="288000" tIns="0" rIns="252000" bIns="0" rtlCol="0">
            <a:spAutoFit/>
          </a:bodyPr>
          <a:lstStyle/>
          <a:p>
            <a:r>
              <a:rPr sz="1050">
                <a:latin typeface="+mn-ea"/>
                <a:ea typeface="+mn-ea"/>
              </a:rPr>
              <a:t>【EBITDA・正常収益力】</a:t>
            </a:r>
          </a:p>
          <a:p>
            <a:r>
              <a:rPr sz="1050">
                <a:latin typeface="+mn-ea"/>
                <a:ea typeface="+mn-ea"/>
              </a:rPr>
              <a:t>・減価償却費は1,183千円と小さく、営業利益≒キャッシュ創出力</a:t>
            </a:r>
          </a:p>
          <a:p>
            <a:r>
              <a:rPr sz="1050">
                <a:latin typeface="+mn-ea"/>
                <a:ea typeface="+mn-ea"/>
              </a:rPr>
              <a:t>・役員賞与20,000千円等の正常化余地は評価書にて精査予定</a:t>
            </a:r>
          </a:p>
          <a:p>
            <a:r>
              <a:rPr sz="1050">
                <a:latin typeface="+mn-ea"/>
                <a:ea typeface="+mn-ea"/>
              </a:rPr>
              <a:t>・調整後EBITDAは正常化調整を反映のうえ別途確定</a:t>
            </a:r>
          </a:p>
        </p:txBody>
      </p:sp>
      <p:graphicFrame>
        <p:nvGraphicFramePr>
          <p:cNvPr id="17" name="Table 16"/>
          <p:cNvGraphicFramePr>
            <a:graphicFrameLocks noGrp="1"/>
          </p:cNvGraphicFramePr>
          <p:nvPr/>
        </p:nvGraphicFramePr>
        <p:xfrm>
          <a:off x="309600" y="1655999"/>
          <a:ext cx="6040800" cy="3312000"/>
        </p:xfrm>
        <a:graphic>
          <a:graphicData uri="http://schemas.openxmlformats.org/drawingml/2006/table">
            <a:tbl>
              <a:tblPr>
                <a:tableStyleId>{5C22544A-7EE6-4342-B048-85BDC9FD1C3A}</a:tableStyleId>
              </a:tblPr>
              <a:tblGrid>
                <a:gridCol w="2224800">
                  <a:extLst>
                    <a:ext uri="{9D8B030D-6E8A-4147-A177-3AD203B41FA5}">
                      <a16:colId xmlns:a16="http://schemas.microsoft.com/office/drawing/2014/main" val="20000"/>
                    </a:ext>
                  </a:extLst>
                </a:gridCol>
                <a:gridCol w="1270800">
                  <a:extLst>
                    <a:ext uri="{9D8B030D-6E8A-4147-A177-3AD203B41FA5}">
                      <a16:colId xmlns:a16="http://schemas.microsoft.com/office/drawing/2014/main" val="20001"/>
                    </a:ext>
                  </a:extLst>
                </a:gridCol>
                <a:gridCol w="1270800">
                  <a:extLst>
                    <a:ext uri="{9D8B030D-6E8A-4147-A177-3AD203B41FA5}">
                      <a16:colId xmlns:a16="http://schemas.microsoft.com/office/drawing/2014/main" val="20002"/>
                    </a:ext>
                  </a:extLst>
                </a:gridCol>
                <a:gridCol w="1274400">
                  <a:extLst>
                    <a:ext uri="{9D8B030D-6E8A-4147-A177-3AD203B41FA5}">
                      <a16:colId xmlns:a16="http://schemas.microsoft.com/office/drawing/2014/main" val="20003"/>
                    </a:ext>
                  </a:extLst>
                </a:gridCol>
              </a:tblGrid>
              <a:tr h="368000">
                <a:tc>
                  <a:txBody>
                    <a:bodyPr/>
                    <a:lstStyle/>
                    <a:p>
                      <a:pPr algn="ctr"/>
                      <a:r>
                        <a:rPr sz="1000" b="1">
                          <a:solidFill>
                            <a:srgbClr val="FFFFFF"/>
                          </a:solidFill>
                          <a:latin typeface="游ゴシック"/>
                          <a:ea typeface="游ゴシック"/>
                        </a:rPr>
                        <a:t>決算期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68000">
                <a:tc>
                  <a:txBody>
                    <a:bodyPr/>
                    <a:lstStyle/>
                    <a:p>
                      <a:pPr algn="l"/>
                      <a:r>
                        <a:rPr sz="1000" b="0">
                          <a:solidFill>
                            <a:srgbClr val="0B3041"/>
                          </a:solidFill>
                          <a:latin typeface="游ゴシック"/>
                          <a:ea typeface="游ゴシック"/>
                        </a:rPr>
                        <a:t>売上高</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316,755</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443,868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422,475</a:t>
                      </a:r>
                    </a:p>
                  </a:txBody>
                  <a:tcPr marL="36000" marR="36000" marT="7200" marB="7200" anchor="ctr">
                    <a:solidFill>
                      <a:srgbClr val="FFFFFF"/>
                    </a:solidFill>
                  </a:tcPr>
                </a:tc>
                <a:extLst>
                  <a:ext uri="{0D108BD9-81ED-4DB2-BD59-A6C34878D82A}">
                    <a16:rowId xmlns:a16="http://schemas.microsoft.com/office/drawing/2014/main" val="10001"/>
                  </a:ext>
                </a:extLst>
              </a:tr>
              <a:tr h="368000">
                <a:tc>
                  <a:txBody>
                    <a:bodyPr/>
                    <a:lstStyle/>
                    <a:p>
                      <a:pPr algn="l"/>
                      <a:r>
                        <a:rPr sz="1000" b="0">
                          <a:solidFill>
                            <a:srgbClr val="0B3041"/>
                          </a:solidFill>
                          <a:latin typeface="游ゴシック"/>
                          <a:ea typeface="游ゴシック"/>
                        </a:rPr>
                        <a:t>売上総利益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103,555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178,926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150,803</a:t>
                      </a:r>
                    </a:p>
                  </a:txBody>
                  <a:tcPr marL="36000" marR="36000" marT="7200" marB="7200" anchor="ctr">
                    <a:solidFill>
                      <a:srgbClr val="F4F7F9"/>
                    </a:solidFill>
                  </a:tcPr>
                </a:tc>
                <a:extLst>
                  <a:ext uri="{0D108BD9-81ED-4DB2-BD59-A6C34878D82A}">
                    <a16:rowId xmlns:a16="http://schemas.microsoft.com/office/drawing/2014/main" val="10002"/>
                  </a:ext>
                </a:extLst>
              </a:tr>
              <a:tr h="368000">
                <a:tc>
                  <a:txBody>
                    <a:bodyPr/>
                    <a:lstStyle/>
                    <a:p>
                      <a:pPr algn="l"/>
                      <a:r>
                        <a:rPr sz="1000" b="0">
                          <a:solidFill>
                            <a:srgbClr val="0B3041"/>
                          </a:solidFill>
                          <a:latin typeface="游ゴシック"/>
                          <a:ea typeface="游ゴシック"/>
                        </a:rPr>
                        <a:t>　売上総利益率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32.7%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40.3%</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35.7%</a:t>
                      </a:r>
                    </a:p>
                  </a:txBody>
                  <a:tcPr marL="36000" marR="36000" marT="7200" marB="7200" anchor="ctr">
                    <a:solidFill>
                      <a:srgbClr val="FFFFFF"/>
                    </a:solidFill>
                  </a:tcPr>
                </a:tc>
                <a:extLst>
                  <a:ext uri="{0D108BD9-81ED-4DB2-BD59-A6C34878D82A}">
                    <a16:rowId xmlns:a16="http://schemas.microsoft.com/office/drawing/2014/main" val="10003"/>
                  </a:ext>
                </a:extLst>
              </a:tr>
              <a:tr h="368000">
                <a:tc>
                  <a:txBody>
                    <a:bodyPr/>
                    <a:lstStyle/>
                    <a:p>
                      <a:pPr algn="l"/>
                      <a:r>
                        <a:rPr sz="1000" b="1">
                          <a:solidFill>
                            <a:srgbClr val="0B3041"/>
                          </a:solidFill>
                          <a:latin typeface="游ゴシック"/>
                          <a:ea typeface="游ゴシック"/>
                        </a:rPr>
                        <a:t>営業利益</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6,159</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78,191</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58,514</a:t>
                      </a:r>
                    </a:p>
                  </a:txBody>
                  <a:tcPr marL="36000" marR="36000" marT="7200" marB="7200" anchor="ctr">
                    <a:solidFill>
                      <a:srgbClr val="E3E7E9"/>
                    </a:solidFill>
                  </a:tcPr>
                </a:tc>
                <a:extLst>
                  <a:ext uri="{0D108BD9-81ED-4DB2-BD59-A6C34878D82A}">
                    <a16:rowId xmlns:a16="http://schemas.microsoft.com/office/drawing/2014/main" val="10004"/>
                  </a:ext>
                </a:extLst>
              </a:tr>
              <a:tr h="368000">
                <a:tc>
                  <a:txBody>
                    <a:bodyPr/>
                    <a:lstStyle/>
                    <a:p>
                      <a:pPr algn="l"/>
                      <a:r>
                        <a:rPr sz="1000" b="0">
                          <a:solidFill>
                            <a:srgbClr val="0B3041"/>
                          </a:solidFill>
                          <a:latin typeface="游ゴシック"/>
                          <a:ea typeface="游ゴシック"/>
                        </a:rPr>
                        <a:t>　営業利益率</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17.6%</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13.9%</a:t>
                      </a:r>
                    </a:p>
                  </a:txBody>
                  <a:tcPr marL="36000" marR="36000" marT="7200" marB="7200" anchor="ctr">
                    <a:solidFill>
                      <a:srgbClr val="FFFFFF"/>
                    </a:solidFill>
                  </a:tcPr>
                </a:tc>
                <a:extLst>
                  <a:ext uri="{0D108BD9-81ED-4DB2-BD59-A6C34878D82A}">
                    <a16:rowId xmlns:a16="http://schemas.microsoft.com/office/drawing/2014/main" val="10005"/>
                  </a:ext>
                </a:extLst>
              </a:tr>
              <a:tr h="368000">
                <a:tc>
                  <a:txBody>
                    <a:bodyPr/>
                    <a:lstStyle/>
                    <a:p>
                      <a:pPr algn="l"/>
                      <a:r>
                        <a:rPr sz="1000" b="0">
                          <a:solidFill>
                            <a:srgbClr val="0B3041"/>
                          </a:solidFill>
                          <a:latin typeface="游ゴシック"/>
                          <a:ea typeface="游ゴシック"/>
                        </a:rPr>
                        <a:t>経常利益</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6,666</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89,929</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64,943</a:t>
                      </a:r>
                    </a:p>
                  </a:txBody>
                  <a:tcPr marL="36000" marR="36000" marT="7200" marB="7200" anchor="ctr">
                    <a:solidFill>
                      <a:srgbClr val="F4F7F9"/>
                    </a:solidFill>
                  </a:tcPr>
                </a:tc>
                <a:extLst>
                  <a:ext uri="{0D108BD9-81ED-4DB2-BD59-A6C34878D82A}">
                    <a16:rowId xmlns:a16="http://schemas.microsoft.com/office/drawing/2014/main" val="10006"/>
                  </a:ext>
                </a:extLst>
              </a:tr>
              <a:tr h="368000">
                <a:tc>
                  <a:txBody>
                    <a:bodyPr/>
                    <a:lstStyle/>
                    <a:p>
                      <a:pPr algn="l"/>
                      <a:r>
                        <a:rPr sz="1000" b="0">
                          <a:solidFill>
                            <a:srgbClr val="0B3041"/>
                          </a:solidFill>
                          <a:latin typeface="游ゴシック"/>
                          <a:ea typeface="游ゴシック"/>
                        </a:rPr>
                        <a:t>税引後当期純利益</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△5,170</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40,558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37,630</a:t>
                      </a:r>
                    </a:p>
                  </a:txBody>
                  <a:tcPr marL="36000" marR="36000" marT="7200" marB="7200" anchor="ctr">
                    <a:solidFill>
                      <a:srgbClr val="FFFFFF"/>
                    </a:solidFill>
                  </a:tcPr>
                </a:tc>
                <a:extLst>
                  <a:ext uri="{0D108BD9-81ED-4DB2-BD59-A6C34878D82A}">
                    <a16:rowId xmlns:a16="http://schemas.microsoft.com/office/drawing/2014/main" val="10007"/>
                  </a:ext>
                </a:extLst>
              </a:tr>
              <a:tr h="368000">
                <a:tc>
                  <a:txBody>
                    <a:bodyPr/>
                    <a:lstStyle/>
                    <a:p>
                      <a:pPr algn="l"/>
                      <a:r>
                        <a:rPr sz="1000" b="0">
                          <a:solidFill>
                            <a:srgbClr val="0B3041"/>
                          </a:solidFill>
                          <a:latin typeface="游ゴシック"/>
                          <a:ea typeface="游ゴシック"/>
                        </a:rPr>
                        <a:t>（参考）減価償却費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881</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645</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1,183</a:t>
                      </a:r>
                    </a:p>
                  </a:txBody>
                  <a:tcPr marL="36000" marR="36000" marT="7200" marB="7200" anchor="ctr">
                    <a:solidFill>
                      <a:srgbClr val="F4F7F9"/>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003252"/>
            <a:ext cx="4790832" cy="3140498"/>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a:latin typeface="+mj-ea"/>
                <a:ea typeface="+mj-ea"/>
              </a:rPr>
              <a:t>自己資本比率60.6%・現預金193百万円と健全な財務基盤。なお投資有価証券276百万円・保険積立金43百万円等の非事業用資産は、会社分割により承継対象外となる前提です。</a:t>
            </a:r>
            <a:endParaRPr lang="en-US" altLang="ja-JP" dirty="0"/>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382390"/>
            <a:ext cx="4790832" cy="250106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1949972"/>
            <a:ext cx="4793476" cy="1523494"/>
          </a:xfrm>
          <a:prstGeom prst="rect">
            <a:avLst/>
          </a:prstGeom>
          <a:noFill/>
        </p:spPr>
        <p:txBody>
          <a:bodyPr wrap="square" lIns="288000" tIns="0" rIns="252000" bIns="0" rtlCol="0">
            <a:spAutoFit/>
          </a:bodyPr>
          <a:lstStyle/>
          <a:p>
            <a:r>
              <a:rPr sz="1050">
                <a:latin typeface="+mn-ea"/>
                <a:ea typeface="+mn-ea"/>
              </a:rPr>
              <a:t>≪現預金≫</a:t>
            </a:r>
            <a:endParaRPr kumimoji="1" lang="en-US" altLang="ja-JP" sz="1100" dirty="0">
              <a:solidFill>
                <a:schemeClr val="tx1"/>
              </a:solidFill>
              <a:latin typeface="+mn-ea"/>
              <a:ea typeface="+mn-ea"/>
            </a:endParaRPr>
          </a:p>
          <a:p>
            <a:r>
              <a:rPr sz="1050">
                <a:latin typeface="+mn-ea"/>
                <a:ea typeface="+mn-ea"/>
              </a:rPr>
              <a:t>・193百万円を保有し、有利子負債計188百万円を上回る</a:t>
            </a:r>
            <a:endParaRPr kumimoji="1" lang="en-US" altLang="ja-JP" sz="1100" dirty="0">
              <a:solidFill>
                <a:schemeClr val="tx1"/>
              </a:solidFill>
              <a:latin typeface="+mn-ea"/>
              <a:ea typeface="+mn-ea"/>
            </a:endParaRPr>
          </a:p>
          <a:p>
            <a:r>
              <a:rPr sz="1050">
                <a:latin typeface="+mn-ea"/>
                <a:ea typeface="+mn-ea"/>
              </a:rPr>
              <a:t/>
            </a:r>
            <a:endParaRPr kumimoji="1" lang="en-US" altLang="ja-JP" sz="1100" dirty="0">
              <a:solidFill>
                <a:schemeClr val="tx1"/>
              </a:solidFill>
              <a:latin typeface="+mn-ea"/>
              <a:ea typeface="+mn-ea"/>
            </a:endParaRPr>
          </a:p>
          <a:p>
            <a:r>
              <a:rPr sz="1050">
                <a:latin typeface="+mn-ea"/>
                <a:ea typeface="+mn-ea"/>
              </a:rPr>
              <a:t>≪投資有価証券・保険積立金≫</a:t>
            </a:r>
            <a:endParaRPr kumimoji="1" lang="en-US" altLang="ja-JP" sz="1100" dirty="0">
              <a:solidFill>
                <a:schemeClr val="tx1"/>
              </a:solidFill>
              <a:latin typeface="+mn-ea"/>
              <a:ea typeface="+mn-ea"/>
            </a:endParaRPr>
          </a:p>
          <a:p>
            <a:r>
              <a:rPr sz="1050">
                <a:latin typeface="+mn-ea"/>
                <a:ea typeface="+mn-ea"/>
              </a:rPr>
              <a:t>・計319百万円（総資産の約58%）。いずれも会社分割により承継対象外</a:t>
            </a:r>
            <a:endParaRPr kumimoji="1" lang="en-US" altLang="ja-JP" sz="1100" dirty="0">
              <a:solidFill>
                <a:schemeClr val="tx1"/>
              </a:solidFill>
              <a:latin typeface="+mn-ea"/>
              <a:ea typeface="+mn-ea"/>
            </a:endParaRPr>
          </a:p>
          <a:p>
            <a:r>
              <a:rPr sz="1050">
                <a:latin typeface="+mn-ea"/>
                <a:ea typeface="+mn-ea"/>
              </a:rPr>
              <a:t/>
            </a:r>
            <a:endParaRPr kumimoji="1" lang="en-US" altLang="ja-JP" sz="1100" dirty="0">
              <a:solidFill>
                <a:schemeClr val="tx1"/>
              </a:solidFill>
              <a:latin typeface="+mn-ea"/>
              <a:ea typeface="+mn-ea"/>
            </a:endParaRPr>
          </a:p>
          <a:p>
            <a:r>
              <a:rPr sz="1050">
                <a:latin typeface="+mn-ea"/>
                <a:ea typeface="+mn-ea"/>
              </a:rPr>
              <a:t>≪会社分割≫</a:t>
            </a:r>
            <a:endParaRPr kumimoji="1" lang="en-US" altLang="ja-JP" sz="1100" dirty="0">
              <a:solidFill>
                <a:schemeClr val="tx1"/>
              </a:solidFill>
              <a:latin typeface="+mn-ea"/>
              <a:ea typeface="+mn-ea"/>
            </a:endParaRPr>
          </a:p>
          <a:p>
            <a:r>
              <a:rPr sz="1050">
                <a:latin typeface="+mn-ea"/>
                <a:ea typeface="+mn-ea"/>
              </a:rPr>
              <a:t>・分割対象は投資有価証券・保険積立金・車両運搬具の計319,488千円</a:t>
            </a:r>
            <a:endParaRPr kumimoji="1" lang="en-US" altLang="ja-JP" sz="1100" dirty="0">
              <a:solidFill>
                <a:schemeClr val="tx1"/>
              </a:solidFill>
              <a:latin typeface="+mn-ea"/>
              <a:ea typeface="+mn-ea"/>
            </a:endParaRP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4108448"/>
            <a:ext cx="4793476" cy="2937920"/>
          </a:xfrm>
          <a:prstGeom prst="rect">
            <a:avLst/>
          </a:prstGeom>
          <a:noFill/>
        </p:spPr>
        <p:txBody>
          <a:bodyPr wrap="square" lIns="288000" tIns="0" rIns="252000" bIns="0" rtlCol="0">
            <a:spAutoFit/>
          </a:bodyPr>
          <a:lstStyle/>
          <a:p>
            <a:pPr>
              <a:lnSpc>
                <a:spcPct val="150000"/>
              </a:lnSpc>
            </a:pPr>
            <a:r>
              <a:rPr sz="1050">
                <a:latin typeface="+mn-ea"/>
                <a:ea typeface="+mn-ea"/>
              </a:rPr>
              <a:t>【財務ハイライト（令和8年1月期）】</a:t>
            </a:r>
          </a:p>
          <a:p>
            <a:pPr>
              <a:lnSpc>
                <a:spcPct val="150000"/>
              </a:lnSpc>
            </a:pPr>
            <a:r>
              <a:rPr sz="1050">
                <a:latin typeface="+mn-ea"/>
                <a:ea typeface="+mn-ea"/>
              </a:rPr>
              <a:t>・自己資本比率　60.6%</a:t>
            </a:r>
          </a:p>
          <a:p>
            <a:pPr>
              <a:lnSpc>
                <a:spcPct val="150000"/>
              </a:lnSpc>
            </a:pPr>
            <a:r>
              <a:rPr sz="1050">
                <a:latin typeface="+mn-ea"/>
                <a:ea typeface="+mn-ea"/>
              </a:rPr>
              <a:t>・純資産　　　　333,536千円</a:t>
            </a:r>
          </a:p>
          <a:p>
            <a:pPr>
              <a:lnSpc>
                <a:spcPct val="150000"/>
              </a:lnSpc>
            </a:pPr>
            <a:r>
              <a:rPr sz="1050">
                <a:latin typeface="+mn-ea"/>
                <a:ea typeface="+mn-ea"/>
              </a:rPr>
              <a:t>・有利子負債　　187,808千円</a:t>
            </a:r>
          </a:p>
          <a:p>
            <a:pPr>
              <a:lnSpc>
                <a:spcPct val="150000"/>
              </a:lnSpc>
            </a:pPr>
            <a:r>
              <a:rPr sz="1050">
                <a:latin typeface="+mn-ea"/>
                <a:ea typeface="+mn-ea"/>
              </a:rPr>
              <a:t>・ネットキャッシュ　＋5,418千円</a:t>
            </a:r>
          </a:p>
          <a:p>
            <a:pPr>
              <a:lnSpc>
                <a:spcPct val="150000"/>
              </a:lnSpc>
            </a:pPr>
            <a:r>
              <a:rPr sz="1050">
                <a:latin typeface="+mn-ea"/>
                <a:ea typeface="+mn-ea"/>
              </a:rPr>
              <a:t>　（現預金−有利子負債）</a:t>
            </a:r>
          </a:p>
          <a:p>
            <a:pPr>
              <a:lnSpc>
                <a:spcPct val="150000"/>
              </a:lnSpc>
            </a:pPr>
            <a:r>
              <a:rPr sz="1050">
                <a:latin typeface="+mn-ea"/>
                <a:ea typeface="+mn-ea"/>
              </a:rPr>
              <a:t/>
            </a:r>
          </a:p>
          <a:p>
            <a:pPr>
              <a:lnSpc>
                <a:spcPct val="150000"/>
              </a:lnSpc>
            </a:pPr>
            <a:r>
              <a:rPr sz="1050">
                <a:latin typeface="+mn-ea"/>
                <a:ea typeface="+mn-ea"/>
              </a:rPr>
              <a:t>【会社分割後（見込み・簿価ベース）】</a:t>
            </a:r>
          </a:p>
          <a:p>
            <a:pPr>
              <a:lnSpc>
                <a:spcPct val="150000"/>
              </a:lnSpc>
            </a:pPr>
            <a:r>
              <a:rPr sz="1050">
                <a:latin typeface="+mn-ea"/>
                <a:ea typeface="+mn-ea"/>
              </a:rPr>
              <a:t>・分割対象資産　319,488千円</a:t>
            </a:r>
          </a:p>
          <a:p>
            <a:pPr>
              <a:lnSpc>
                <a:spcPct val="150000"/>
              </a:lnSpc>
            </a:pPr>
            <a:r>
              <a:rPr sz="1050">
                <a:latin typeface="+mn-ea"/>
                <a:ea typeface="+mn-ea"/>
              </a:rPr>
              <a:t>・分割後純資産　約14,048千円</a:t>
            </a:r>
          </a:p>
          <a:p>
            <a:pPr>
              <a:lnSpc>
                <a:spcPct val="150000"/>
              </a:lnSpc>
            </a:pPr>
            <a:r>
              <a:rPr sz="1050">
                <a:latin typeface="+mn-ea"/>
                <a:ea typeface="+mn-ea"/>
              </a:rPr>
              <a:t/>
            </a:r>
          </a:p>
          <a:p>
            <a:pPr>
              <a:lnSpc>
                <a:spcPct val="150000"/>
              </a:lnSpc>
            </a:pPr>
            <a:r>
              <a:rPr sz="1050">
                <a:latin typeface="+mn-ea"/>
                <a:ea typeface="+mn-ea"/>
              </a:rPr>
              <a:t>※ ※印の科目は会社分割による承継対象です</a:t>
            </a:r>
          </a:p>
        </p:txBody>
      </p:sp>
      <p:graphicFrame>
        <p:nvGraphicFramePr>
          <p:cNvPr id="14" name="Table 13"/>
          <p:cNvGraphicFramePr>
            <a:graphicFrameLocks noGrp="1"/>
          </p:cNvGraphicFramePr>
          <p:nvPr/>
        </p:nvGraphicFramePr>
        <p:xfrm>
          <a:off x="338400" y="1655999"/>
          <a:ext cx="4860000" cy="5003999"/>
        </p:xfrm>
        <a:graphic>
          <a:graphicData uri="http://schemas.openxmlformats.org/drawingml/2006/table">
            <a:tbl>
              <a:tblPr>
                <a:tableStyleId>{5C22544A-7EE6-4342-B048-85BDC9FD1C3A}</a:tableStyleId>
              </a:tblPr>
              <a:tblGrid>
                <a:gridCol w="1332000">
                  <a:extLst>
                    <a:ext uri="{9D8B030D-6E8A-4147-A177-3AD203B41FA5}">
                      <a16:colId xmlns:a16="http://schemas.microsoft.com/office/drawing/2014/main" val="20000"/>
                    </a:ext>
                  </a:extLst>
                </a:gridCol>
                <a:gridCol w="1098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tblGrid>
              <a:tr h="384923">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金額</a:t>
                      </a:r>
                    </a:p>
                  </a:txBody>
                  <a:tcPr marL="36000" marR="36000" marT="7200" marB="7200" anchor="ctr">
                    <a:solidFill>
                      <a:srgbClr val="0B3041"/>
                    </a:solidFill>
                  </a:tcPr>
                </a:tc>
                <a:extLst>
                  <a:ext uri="{0D108BD9-81ED-4DB2-BD59-A6C34878D82A}">
                    <a16:rowId xmlns:a16="http://schemas.microsoft.com/office/drawing/2014/main" val="10000"/>
                  </a:ext>
                </a:extLst>
              </a:tr>
              <a:tr h="384923">
                <a:tc>
                  <a:txBody>
                    <a:bodyPr/>
                    <a:lstStyle/>
                    <a:p>
                      <a:pPr algn="l"/>
                      <a:r>
                        <a:rPr sz="900" b="0">
                          <a:solidFill>
                            <a:srgbClr val="0B3041"/>
                          </a:solidFill>
                          <a:latin typeface="游ゴシック"/>
                          <a:ea typeface="游ゴシック"/>
                        </a:rPr>
                        <a:t>【資産の部】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【負債の部】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1"/>
                  </a:ext>
                </a:extLst>
              </a:tr>
              <a:tr h="384923">
                <a:tc>
                  <a:txBody>
                    <a:bodyPr/>
                    <a:lstStyle/>
                    <a:p>
                      <a:pPr algn="l"/>
                      <a:r>
                        <a:rPr sz="900" b="0">
                          <a:solidFill>
                            <a:srgbClr val="0B3041"/>
                          </a:solidFill>
                          <a:latin typeface="游ゴシック"/>
                          <a:ea typeface="游ゴシック"/>
                        </a:rPr>
                        <a:t>現預金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193,226</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買掛金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9,645</a:t>
                      </a:r>
                    </a:p>
                  </a:txBody>
                  <a:tcPr marL="36000" marR="36000" marT="7200" marB="7200" anchor="ctr">
                    <a:solidFill>
                      <a:srgbClr val="F4F7F9"/>
                    </a:solidFill>
                  </a:tcPr>
                </a:tc>
                <a:extLst>
                  <a:ext uri="{0D108BD9-81ED-4DB2-BD59-A6C34878D82A}">
                    <a16:rowId xmlns:a16="http://schemas.microsoft.com/office/drawing/2014/main" val="10002"/>
                  </a:ext>
                </a:extLst>
              </a:tr>
              <a:tr h="384923">
                <a:tc>
                  <a:txBody>
                    <a:bodyPr/>
                    <a:lstStyle/>
                    <a:p>
                      <a:pPr algn="l"/>
                      <a:r>
                        <a:rPr sz="900" b="0">
                          <a:solidFill>
                            <a:srgbClr val="0B3041"/>
                          </a:solidFill>
                          <a:latin typeface="游ゴシック"/>
                          <a:ea typeface="游ゴシック"/>
                        </a:rPr>
                        <a:t>売掛債権(純額)</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19,952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1年内返済長期借入金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41,828</a:t>
                      </a:r>
                    </a:p>
                  </a:txBody>
                  <a:tcPr marL="36000" marR="36000" marT="7200" marB="7200" anchor="ctr">
                    <a:solidFill>
                      <a:srgbClr val="FFFFFF"/>
                    </a:solidFill>
                  </a:tcPr>
                </a:tc>
                <a:extLst>
                  <a:ext uri="{0D108BD9-81ED-4DB2-BD59-A6C34878D82A}">
                    <a16:rowId xmlns:a16="http://schemas.microsoft.com/office/drawing/2014/main" val="10003"/>
                  </a:ext>
                </a:extLst>
              </a:tr>
              <a:tr h="384923">
                <a:tc>
                  <a:txBody>
                    <a:bodyPr/>
                    <a:lstStyle/>
                    <a:p>
                      <a:pPr algn="l"/>
                      <a:r>
                        <a:rPr sz="900" b="0">
                          <a:solidFill>
                            <a:srgbClr val="0B3041"/>
                          </a:solidFill>
                          <a:latin typeface="游ゴシック"/>
                          <a:ea typeface="游ゴシック"/>
                        </a:rPr>
                        <a:t>棚卸資産</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229</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未払金・未払税等</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18,894</a:t>
                      </a:r>
                    </a:p>
                  </a:txBody>
                  <a:tcPr marL="36000" marR="36000" marT="7200" marB="7200" anchor="ctr">
                    <a:solidFill>
                      <a:srgbClr val="F4F7F9"/>
                    </a:solidFill>
                  </a:tcPr>
                </a:tc>
                <a:extLst>
                  <a:ext uri="{0D108BD9-81ED-4DB2-BD59-A6C34878D82A}">
                    <a16:rowId xmlns:a16="http://schemas.microsoft.com/office/drawing/2014/main" val="10004"/>
                  </a:ext>
                </a:extLst>
              </a:tr>
              <a:tr h="384923">
                <a:tc>
                  <a:txBody>
                    <a:bodyPr/>
                    <a:lstStyle/>
                    <a:p>
                      <a:pPr algn="l"/>
                      <a:r>
                        <a:rPr sz="900" b="0">
                          <a:solidFill>
                            <a:srgbClr val="0B3041"/>
                          </a:solidFill>
                          <a:latin typeface="游ゴシック"/>
                          <a:ea typeface="游ゴシック"/>
                        </a:rPr>
                        <a:t>前渡金・前払費用</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12,696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預り金・その他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125</a:t>
                      </a:r>
                    </a:p>
                  </a:txBody>
                  <a:tcPr marL="36000" marR="36000" marT="7200" marB="7200" anchor="ctr">
                    <a:solidFill>
                      <a:srgbClr val="FFFFFF"/>
                    </a:solidFill>
                  </a:tcPr>
                </a:tc>
                <a:extLst>
                  <a:ext uri="{0D108BD9-81ED-4DB2-BD59-A6C34878D82A}">
                    <a16:rowId xmlns:a16="http://schemas.microsoft.com/office/drawing/2014/main" val="10005"/>
                  </a:ext>
                </a:extLst>
              </a:tr>
              <a:tr h="384923">
                <a:tc>
                  <a:txBody>
                    <a:bodyPr/>
                    <a:lstStyle/>
                    <a:p>
                      <a:pPr algn="l"/>
                      <a:r>
                        <a:rPr sz="900" b="0">
                          <a:solidFill>
                            <a:srgbClr val="0B3041"/>
                          </a:solidFill>
                          <a:latin typeface="游ゴシック"/>
                          <a:ea typeface="游ゴシック"/>
                        </a:rPr>
                        <a:t>未収入金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41</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長期借入金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145,980</a:t>
                      </a:r>
                    </a:p>
                  </a:txBody>
                  <a:tcPr marL="36000" marR="36000" marT="7200" marB="7200" anchor="ctr">
                    <a:solidFill>
                      <a:srgbClr val="F4F7F9"/>
                    </a:solidFill>
                  </a:tcPr>
                </a:tc>
                <a:extLst>
                  <a:ext uri="{0D108BD9-81ED-4DB2-BD59-A6C34878D82A}">
                    <a16:rowId xmlns:a16="http://schemas.microsoft.com/office/drawing/2014/main" val="10006"/>
                  </a:ext>
                </a:extLst>
              </a:tr>
              <a:tr h="384923">
                <a:tc>
                  <a:txBody>
                    <a:bodyPr/>
                    <a:lstStyle/>
                    <a:p>
                      <a:pPr algn="l"/>
                      <a:r>
                        <a:rPr sz="900" b="0">
                          <a:solidFill>
                            <a:srgbClr val="0B3041"/>
                          </a:solidFill>
                          <a:latin typeface="游ゴシック"/>
                          <a:ea typeface="游ゴシック"/>
                        </a:rPr>
                        <a:t>有形固定資産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1,057</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負債合計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216,472</a:t>
                      </a:r>
                    </a:p>
                  </a:txBody>
                  <a:tcPr marL="36000" marR="36000" marT="7200" marB="7200" anchor="ctr">
                    <a:solidFill>
                      <a:srgbClr val="FFFFFF"/>
                    </a:solidFill>
                  </a:tcPr>
                </a:tc>
                <a:extLst>
                  <a:ext uri="{0D108BD9-81ED-4DB2-BD59-A6C34878D82A}">
                    <a16:rowId xmlns:a16="http://schemas.microsoft.com/office/drawing/2014/main" val="10007"/>
                  </a:ext>
                </a:extLst>
              </a:tr>
              <a:tr h="384923">
                <a:tc>
                  <a:txBody>
                    <a:bodyPr/>
                    <a:lstStyle/>
                    <a:p>
                      <a:pPr algn="l"/>
                      <a:r>
                        <a:rPr sz="900" b="0">
                          <a:solidFill>
                            <a:srgbClr val="0B3041"/>
                          </a:solidFill>
                          <a:latin typeface="游ゴシック"/>
                          <a:ea typeface="游ゴシック"/>
                        </a:rPr>
                        <a:t>ソフトウェア</a:t>
                      </a:r>
                    </a:p>
                  </a:txBody>
                  <a:tcPr marL="36000" marR="36000" marT="7200" marB="7200" anchor="ctr">
                    <a:solidFill>
                      <a:srgbClr val="E3E7E9"/>
                    </a:solidFill>
                  </a:tcPr>
                </a:tc>
                <a:tc>
                  <a:txBody>
                    <a:bodyPr/>
                    <a:lstStyle/>
                    <a:p>
                      <a:pPr algn="r"/>
                      <a:r>
                        <a:rPr sz="900" b="0">
                          <a:solidFill>
                            <a:srgbClr val="0B3041"/>
                          </a:solidFill>
                          <a:latin typeface="游ゴシック"/>
                          <a:ea typeface="游ゴシック"/>
                        </a:rPr>
                        <a:t>2,112</a:t>
                      </a:r>
                    </a:p>
                  </a:txBody>
                  <a:tcPr marL="36000" marR="36000" marT="7200" marB="7200" anchor="ctr">
                    <a:solidFill>
                      <a:srgbClr val="E3E7E9"/>
                    </a:solidFill>
                  </a:tcPr>
                </a:tc>
                <a:tc>
                  <a:txBody>
                    <a:bodyPr/>
                    <a:lstStyle/>
                    <a:p>
                      <a:pPr algn="l"/>
                      <a:r>
                        <a:rPr sz="900" b="0">
                          <a:solidFill>
                            <a:srgbClr val="0B3041"/>
                          </a:solidFill>
                          <a:latin typeface="游ゴシック"/>
                          <a:ea typeface="游ゴシック"/>
                        </a:rPr>
                        <a:t>【純資産の部】</a:t>
                      </a:r>
                    </a:p>
                  </a:txBody>
                  <a:tcPr marL="36000" marR="36000" marT="7200" marB="7200" anchor="ctr">
                    <a:solidFill>
                      <a:srgbClr val="E3E7E9"/>
                    </a:solidFill>
                  </a:tcPr>
                </a:tc>
                <a:tc>
                  <a:txBody>
                    <a:bodyPr/>
                    <a:lstStyle/>
                    <a:p>
                      <a:pPr algn="r"/>
                      <a:endParaRPr/>
                    </a:p>
                  </a:txBody>
                  <a:tcPr marL="36000" marR="36000" marT="7200" marB="7200" anchor="ctr">
                    <a:solidFill>
                      <a:srgbClr val="E3E7E9"/>
                    </a:solidFill>
                  </a:tcPr>
                </a:tc>
                <a:extLst>
                  <a:ext uri="{0D108BD9-81ED-4DB2-BD59-A6C34878D82A}">
                    <a16:rowId xmlns:a16="http://schemas.microsoft.com/office/drawing/2014/main" val="10008"/>
                  </a:ext>
                </a:extLst>
              </a:tr>
              <a:tr h="384923">
                <a:tc>
                  <a:txBody>
                    <a:bodyPr/>
                    <a:lstStyle/>
                    <a:p>
                      <a:pPr algn="l"/>
                      <a:r>
                        <a:rPr sz="900" b="0">
                          <a:solidFill>
                            <a:srgbClr val="0B3041"/>
                          </a:solidFill>
                          <a:latin typeface="游ゴシック"/>
                          <a:ea typeface="游ゴシック"/>
                        </a:rPr>
                        <a:t>投資有価証券 ※</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275,896</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資本金</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10,000</a:t>
                      </a:r>
                    </a:p>
                  </a:txBody>
                  <a:tcPr marL="36000" marR="36000" marT="7200" marB="7200" anchor="ctr">
                    <a:solidFill>
                      <a:srgbClr val="FFFFFF"/>
                    </a:solidFill>
                  </a:tcPr>
                </a:tc>
                <a:extLst>
                  <a:ext uri="{0D108BD9-81ED-4DB2-BD59-A6C34878D82A}">
                    <a16:rowId xmlns:a16="http://schemas.microsoft.com/office/drawing/2014/main" val="10009"/>
                  </a:ext>
                </a:extLst>
              </a:tr>
              <a:tr h="384923">
                <a:tc>
                  <a:txBody>
                    <a:bodyPr/>
                    <a:lstStyle/>
                    <a:p>
                      <a:pPr algn="l"/>
                      <a:r>
                        <a:rPr sz="900" b="0">
                          <a:solidFill>
                            <a:srgbClr val="0B3041"/>
                          </a:solidFill>
                          <a:latin typeface="游ゴシック"/>
                          <a:ea typeface="游ゴシック"/>
                        </a:rPr>
                        <a:t>保険積立金 ※</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43,327</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利益剰余金</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323,536</a:t>
                      </a:r>
                    </a:p>
                  </a:txBody>
                  <a:tcPr marL="36000" marR="36000" marT="7200" marB="7200" anchor="ctr">
                    <a:solidFill>
                      <a:srgbClr val="F4F7F9"/>
                    </a:solidFill>
                  </a:tcPr>
                </a:tc>
                <a:extLst>
                  <a:ext uri="{0D108BD9-81ED-4DB2-BD59-A6C34878D82A}">
                    <a16:rowId xmlns:a16="http://schemas.microsoft.com/office/drawing/2014/main" val="10010"/>
                  </a:ext>
                </a:extLst>
              </a:tr>
              <a:tr h="384923">
                <a:tc>
                  <a:txBody>
                    <a:bodyPr/>
                    <a:lstStyle/>
                    <a:p>
                      <a:pPr algn="l"/>
                      <a:r>
                        <a:rPr sz="900" b="0">
                          <a:solidFill>
                            <a:srgbClr val="0B3041"/>
                          </a:solidFill>
                          <a:latin typeface="游ゴシック"/>
                          <a:ea typeface="游ゴシック"/>
                        </a:rPr>
                        <a:t>その他資産</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1,472</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純資産合計</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333,536</a:t>
                      </a:r>
                    </a:p>
                  </a:txBody>
                  <a:tcPr marL="36000" marR="36000" marT="7200" marB="7200" anchor="ctr">
                    <a:solidFill>
                      <a:srgbClr val="FFFFFF"/>
                    </a:solidFill>
                  </a:tcPr>
                </a:tc>
                <a:extLst>
                  <a:ext uri="{0D108BD9-81ED-4DB2-BD59-A6C34878D82A}">
                    <a16:rowId xmlns:a16="http://schemas.microsoft.com/office/drawing/2014/main" val="10011"/>
                  </a:ext>
                </a:extLst>
              </a:tr>
              <a:tr h="384923">
                <a:tc>
                  <a:txBody>
                    <a:bodyPr/>
                    <a:lstStyle/>
                    <a:p>
                      <a:pPr algn="l"/>
                      <a:r>
                        <a:rPr sz="900" b="1">
                          <a:solidFill>
                            <a:srgbClr val="0B3041"/>
                          </a:solidFill>
                          <a:latin typeface="游ゴシック"/>
                          <a:ea typeface="游ゴシック"/>
                        </a:rPr>
                        <a:t>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tc>
                  <a:txBody>
                    <a:bodyPr/>
                    <a:lstStyle/>
                    <a:p>
                      <a:pPr algn="l"/>
                      <a:r>
                        <a:rPr sz="900" b="1">
                          <a:solidFill>
                            <a:srgbClr val="0B3041"/>
                          </a:solidFill>
                          <a:latin typeface="游ゴシック"/>
                          <a:ea typeface="游ゴシック"/>
                        </a:rPr>
                        <a:t>負債・純資産合計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550,008</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536192"/>
            <a:ext cx="7074659" cy="658368"/>
          </a:xfrm>
          <a:prstGeom prst="rect">
            <a:avLst/>
          </a:prstGeom>
          <a:noFill/>
        </p:spPr>
        <p:txBody>
          <a:bodyPr wrap="square" lIns="1440000" tIns="0" rIns="0" bIns="0" rtlCol="0" anchor="ctr">
            <a:spAutoFit/>
          </a:bodyPr>
          <a:lstStyle/>
          <a:p>
            <a:pPr marL="0" indent="0">
              <a:buNone/>
            </a:pPr>
            <a:r>
              <a:rPr sz="1200" b="1">
                <a:latin typeface="+mj-ea"/>
                <a:ea typeface="+mj-ea"/>
              </a:rPr>
              <a:t>会社分割により非事業用資産を切り出したうえで、株式100％譲渡</a:t>
            </a:r>
          </a:p>
          <a:p>
            <a:pPr marL="0" indent="0">
              <a:buNone/>
            </a:pPr>
            <a:r>
              <a:rPr sz="1200" b="1">
                <a:latin typeface="+mj-ea"/>
                <a:ea typeface="+mj-ea"/>
              </a:rPr>
              <a:t>※分割対象：投資有価証券・保険積立金・車両運搬具等。SPA締結後、分割手続に1〜1.5ヶ月程度を要する見込み</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099816"/>
            <a:ext cx="7074659" cy="438912"/>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marL="0" indent="0">
              <a:buNone/>
            </a:pPr>
            <a:r>
              <a:rPr sz="1200">
                <a:latin typeface="游ゴシック"/>
                <a:ea typeface="游ゴシック"/>
              </a:rPr>
              <a:t>別途個別にご提示（協議中）</a:t>
            </a:r>
          </a:p>
          <a:p>
            <a:pPr algn="l" marL="0" indent="0">
              <a:buNone/>
            </a:pPr>
            <a:r>
              <a:rPr sz="1200">
                <a:latin typeface="游ゴシック"/>
                <a:ea typeface="游ゴシック"/>
              </a:rPr>
              <a:t>※価格条件のみならず、譲渡先の「銘柄」・事業上の親和性を重視される意向</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553712"/>
            <a:ext cx="7074659" cy="43891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0" indent="0" algn="l">
              <a:spcAft>
                <a:spcPts val="200"/>
              </a:spcAft>
              <a:buClr>
                <a:schemeClr val="tx2"/>
              </a:buClr>
              <a:buFont typeface="游ゴシック" panose="020B0400000000000000" pitchFamily="50" charset="-128"/>
              <a:buNone/>
            </a:pPr>
            <a:r>
              <a:rPr sz="1200">
                <a:latin typeface="游ゴシック"/>
                <a:ea typeface="游ゴシック"/>
              </a:rPr>
              <a:t>従業員の雇用継続／代表者の連帯保証解除</a:t>
            </a:r>
            <a:endParaRPr lang="en-US" altLang="ja-JP" spc="50" dirty="0"/>
          </a:p>
          <a:p>
            <a:pPr marL="0" indent="0" algn="l">
              <a:spcAft>
                <a:spcPts val="200"/>
              </a:spcAft>
              <a:buClr>
                <a:schemeClr val="tx2"/>
              </a:buClr>
              <a:buFont typeface="游ゴシック" panose="020B0400000000000000" pitchFamily="50" charset="-128"/>
              <a:buNone/>
            </a:pPr>
            <a:r>
              <a:rPr sz="1200">
                <a:latin typeface="游ゴシック"/>
                <a:ea typeface="游ゴシック"/>
              </a:rPr>
              <a:t>代表者は譲渡後7年程度（55歳頃まで）の継続関与に前向き</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07608"/>
            <a:ext cx="7074659" cy="438912"/>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pPr marL="0" indent="0">
              <a:buNone/>
            </a:pPr>
            <a:r>
              <a:rPr sz="1200">
                <a:latin typeface="游ゴシック"/>
                <a:ea typeface="游ゴシック"/>
              </a:rPr>
              <a:t>代表者は現在48歳。55歳頃の引退を見据えた事業承継</a:t>
            </a:r>
          </a:p>
          <a:p>
            <a:pPr marL="0" indent="0">
              <a:buNone/>
            </a:pPr>
            <a:r>
              <a:rPr sz="1200">
                <a:latin typeface="游ゴシック"/>
                <a:ea typeface="游ゴシック"/>
              </a:rPr>
              <a:t>※譲渡後も一定期間は継続関与し、事業の安定・成長を支援する意向</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449263"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貿易商社</a:t>
            </a:r>
            <a:endParaRPr kumimoji="1" lang="en-US" altLang="ja-JP" sz="1200" b="1" spc="50" dirty="0">
              <a:solidFill>
                <a:schemeClr val="tx1"/>
              </a:solidFill>
              <a:latin typeface="+mj-ea"/>
              <a:ea typeface="+mj-ea"/>
            </a:endParaRPr>
          </a:p>
          <a:p>
            <a:r>
              <a:rPr sz="1100" b="1">
                <a:latin typeface="+mj-ea"/>
                <a:ea typeface="+mj-ea"/>
              </a:rPr>
              <a:t>（中国製グッズ製造委託）</a:t>
            </a:r>
          </a:p>
          <a:p>
            <a:r>
              <a:rPr sz="1100" b="1">
                <a:latin typeface="+mj-ea"/>
                <a:ea typeface="+mj-ea"/>
              </a:rPr>
              <a:t>各種メーカー</a:t>
            </a:r>
          </a:p>
          <a:p>
            <a:r>
              <a:rPr sz="1100" b="1">
                <a:latin typeface="+mj-ea"/>
                <a:ea typeface="+mj-ea"/>
              </a:rPr>
              <a:t>（アクリル・缶バッジ・紙・成形品）</a:t>
            </a:r>
          </a:p>
          <a:p>
            <a:r>
              <a:rPr sz="1100" b="1">
                <a:latin typeface="+mj-ea"/>
                <a:ea typeface="+mj-ea"/>
              </a:rPr>
              <a:t>ロイヤリティー支払先（版元）</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082550"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100" b="1">
                <a:latin typeface="+mj-ea"/>
                <a:ea typeface="+mj-ea"/>
              </a:rPr>
              <a:t>㈱セガ</a:t>
            </a:r>
            <a:endParaRPr kumimoji="1" lang="en-US" altLang="ja-JP" sz="1200" b="1" spc="50" dirty="0">
              <a:solidFill>
                <a:schemeClr val="tx1"/>
              </a:solidFill>
              <a:latin typeface="+mj-ea"/>
            </a:endParaRPr>
          </a:p>
          <a:p>
            <a:r>
              <a:rPr sz="1100" b="1">
                <a:latin typeface="+mj-ea"/>
                <a:ea typeface="+mj-ea"/>
              </a:rPr>
              <a:t>㈱KADOKAWA Game Linkage</a:t>
            </a:r>
          </a:p>
          <a:p>
            <a:r>
              <a:rPr sz="1100" b="1">
                <a:latin typeface="+mj-ea"/>
                <a:ea typeface="+mj-ea"/>
              </a:rPr>
              <a:t>㈱ムービック</a:t>
            </a:r>
          </a:p>
          <a:p>
            <a:r>
              <a:rPr sz="1100" b="1">
                <a:latin typeface="+mj-ea"/>
                <a:ea typeface="+mj-ea"/>
              </a:rPr>
              <a:t>㈱スモールプラネット 他</a:t>
            </a: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85906" y="3321256"/>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企画・開発</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6290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IP版元と</a:t>
            </a:r>
            <a:endParaRPr kumimoji="1" lang="en-US" altLang="ja-JP" sz="1100" dirty="0">
              <a:solidFill>
                <a:schemeClr val="tx1"/>
              </a:solidFill>
            </a:endParaRPr>
          </a:p>
          <a:p>
            <a:r>
              <a:rPr sz="1100">
                <a:latin typeface="游ゴシック"/>
                <a:ea typeface="游ゴシック"/>
              </a:rPr>
              <a:t>商品化企画</a:t>
            </a: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9135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オリジナル</a:t>
            </a:r>
            <a:endParaRPr kumimoji="1" lang="en-US" altLang="ja-JP" sz="1100" dirty="0">
              <a:solidFill>
                <a:schemeClr val="tx1"/>
              </a:solidFill>
            </a:endParaRPr>
          </a:p>
          <a:p>
            <a:r>
              <a:rPr sz="1100">
                <a:latin typeface="游ゴシック"/>
                <a:ea typeface="游ゴシック"/>
              </a:rPr>
              <a:t>くじ商品開発</a:t>
            </a:r>
          </a:p>
        </p:txBody>
      </p:sp>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製造委託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海外(中国等)</a:t>
            </a:r>
          </a:p>
          <a:p>
            <a:r>
              <a:rPr sz="1100">
                <a:latin typeface="游ゴシック"/>
                <a:ea typeface="游ゴシック"/>
              </a:rPr>
              <a:t>メーカーへ委託</a:t>
            </a: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国内</a:t>
            </a:r>
          </a:p>
          <a:p>
            <a:r>
              <a:rPr sz="1100">
                <a:latin typeface="游ゴシック"/>
                <a:ea typeface="游ゴシック"/>
              </a:rPr>
              <a:t>専門メーカー</a:t>
            </a:r>
          </a:p>
        </p:txBody>
      </p:sp>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4369959"/>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sz="1400" b="1">
                <a:latin typeface="游ゴシック"/>
                <a:ea typeface="游ゴシック"/>
              </a:rPr>
              <a:t>販売</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版元・卸・EC</a:t>
            </a:r>
            <a:endParaRPr kumimoji="1" lang="en-US" altLang="ja-JP" sz="1100" dirty="0">
              <a:solidFill>
                <a:schemeClr val="tx1"/>
              </a:solidFill>
            </a:endParaRPr>
          </a:p>
          <a:p>
            <a:r>
              <a:rPr sz="1100">
                <a:latin typeface="游ゴシック"/>
                <a:ea typeface="游ゴシック"/>
              </a:rPr>
              <a:t>へB2B販売</a:t>
            </a: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sz="1100">
                <a:latin typeface="游ゴシック"/>
                <a:ea typeface="游ゴシック"/>
              </a:rPr>
              <a:t>くじ・グッズ</a:t>
            </a:r>
            <a:endParaRPr kumimoji="1" lang="en-US" altLang="ja-JP" sz="1100" dirty="0">
              <a:solidFill>
                <a:schemeClr val="tx1"/>
              </a:solidFill>
            </a:endParaRPr>
          </a:p>
          <a:p>
            <a:r>
              <a:rPr sz="1100">
                <a:latin typeface="游ゴシック"/>
                <a:ea typeface="游ゴシック"/>
              </a:rPr>
              <a:t>の企画販売</a:t>
            </a:r>
          </a:p>
        </p:txBody>
      </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46901" y="6351122"/>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海外メーカー</a:t>
            </a:r>
            <a:endParaRPr kumimoji="1" lang="en-US" altLang="ja-JP" sz="1200" b="1" spc="50" dirty="0">
              <a:solidFill>
                <a:schemeClr val="tx1"/>
              </a:solidFill>
              <a:latin typeface="+mj-ea"/>
            </a:endParaRPr>
          </a:p>
          <a:p>
            <a:r>
              <a:rPr sz="1000" b="1">
                <a:latin typeface="+mj-ea"/>
                <a:ea typeface="+mj-ea"/>
              </a:rPr>
              <a:t>（中国等）</a:t>
            </a:r>
          </a:p>
        </p:txBody>
      </p:sp>
      <p:sp>
        <p:nvSpPr>
          <p:cNvPr id="26" name="正方形/長方形 25">
            <a:extLst>
              <a:ext uri="{FF2B5EF4-FFF2-40B4-BE49-F238E27FC236}">
                <a16:creationId xmlns:a16="http://schemas.microsoft.com/office/drawing/2014/main" id="{9C061C40-9401-AAF5-F431-12A37BDB4C30}"/>
              </a:ext>
            </a:extLst>
          </p:cNvPr>
          <p:cNvSpPr/>
          <p:nvPr/>
        </p:nvSpPr>
        <p:spPr>
          <a:xfrm>
            <a:off x="5306901" y="6348318"/>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sz="1000" b="1">
                <a:latin typeface="+mj-ea"/>
                <a:ea typeface="+mj-ea"/>
              </a:rPr>
              <a:t>国内専門メーカー</a:t>
            </a:r>
            <a:endParaRPr kumimoji="1" lang="en-US" altLang="ja-JP" sz="1200" b="1" spc="50" dirty="0">
              <a:solidFill>
                <a:schemeClr val="tx1"/>
              </a:solidFill>
              <a:latin typeface="+mj-ea"/>
            </a:endParaRPr>
          </a:p>
          <a:p>
            <a:r>
              <a:rPr sz="1000" b="1">
                <a:latin typeface="+mj-ea"/>
                <a:ea typeface="+mj-ea"/>
              </a:rPr>
              <a:t>（アクリル・缶バッジ等）</a:t>
            </a: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mj-ea"/>
                <a:ea typeface="+mj-ea"/>
              </a:rPr>
              <a:t>版権元(IPホルダー)との商品化企画から、海外・国内メーカーへの製造委託、版元・卸・ECへの販売までを一気通貫で手掛けるファブレス型のB2Bモデルです。</a:t>
            </a:r>
            <a:endParaRPr lang="en-US" altLang="ja-JP" dirty="0"/>
          </a:p>
        </p:txBody>
      </p:sp>
      <p:sp>
        <p:nvSpPr>
          <p:cNvPr id="6" name="正方形/長方形 5">
            <a:extLst>
              <a:ext uri="{FF2B5EF4-FFF2-40B4-BE49-F238E27FC236}">
                <a16:creationId xmlns:a16="http://schemas.microsoft.com/office/drawing/2014/main" id="{2E3AA283-9336-C146-98F8-CED6546280BC}"/>
              </a:ext>
            </a:extLst>
          </p:cNvPr>
          <p:cNvSpPr/>
          <p:nvPr/>
        </p:nvSpPr>
        <p:spPr>
          <a:xfrm>
            <a:off x="10440088" y="3096874"/>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300" dirty="0" err="1">
                <a:latin typeface="游ゴシック"/>
                <a:ea typeface="游ゴシック"/>
              </a:rPr>
              <a:t>当社は自社工場を保有しないファブレス体制です</a:t>
            </a:r>
            <a:r>
              <a:rPr sz="1300" dirty="0">
                <a:latin typeface="游ゴシック"/>
                <a:ea typeface="游ゴシック"/>
              </a:rPr>
              <a:t>。</a:t>
            </a:r>
          </a:p>
          <a:p>
            <a:pPr algn="l"/>
            <a:endParaRPr sz="1300" dirty="0">
              <a:latin typeface="游ゴシック"/>
              <a:ea typeface="游ゴシック"/>
            </a:endParaRPr>
          </a:p>
          <a:p>
            <a:pPr algn="l"/>
            <a:r>
              <a:rPr sz="1300" dirty="0" err="1">
                <a:latin typeface="游ゴシック"/>
                <a:ea typeface="游ゴシック"/>
              </a:rPr>
              <a:t>製造は中国等の海外メーカー及び国内専門メーカーへ委託し、本社（東京・上野）に企画・営業・管理機能を集約しています</a:t>
            </a:r>
            <a:r>
              <a:rPr sz="1300" dirty="0">
                <a:latin typeface="游ゴシック"/>
                <a:ea typeface="游ゴシック"/>
              </a:rPr>
              <a:t>。</a:t>
            </a:r>
          </a:p>
          <a:p>
            <a:pPr algn="l"/>
            <a:endParaRPr sz="1300" dirty="0">
              <a:latin typeface="游ゴシック"/>
              <a:ea typeface="游ゴシック"/>
            </a:endParaRPr>
          </a:p>
          <a:p>
            <a:pPr algn="l"/>
            <a:r>
              <a:rPr sz="1300" dirty="0" err="1">
                <a:latin typeface="游ゴシック"/>
                <a:ea typeface="游ゴシック"/>
              </a:rPr>
              <a:t>設備・在庫の負担が小さく、身軽で機動的な事業運営が可能な構造です</a:t>
            </a:r>
            <a:r>
              <a:rPr sz="1300" dirty="0">
                <a:latin typeface="游ゴシック"/>
                <a:ea typeface="游ゴシック"/>
              </a:rPr>
              <a:t>。</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a:ea typeface="游ゴシック"/>
              </a:rPr>
              <a:t>サービス・商品概要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5" name="正方形/長方形 4">
            <a:extLst>
              <a:ext uri="{FF2B5EF4-FFF2-40B4-BE49-F238E27FC236}">
                <a16:creationId xmlns:a16="http://schemas.microsoft.com/office/drawing/2014/main" id="{E043E0C5-169B-2439-2B33-8AC6FEC5CBAE}"/>
              </a:ext>
            </a:extLst>
          </p:cNvPr>
          <p:cNvSpPr/>
          <p:nvPr/>
        </p:nvSpPr>
        <p:spPr>
          <a:xfrm>
            <a:off x="311150" y="1560000"/>
            <a:ext cx="5050000" cy="520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sz="1100">
                <a:solidFill>
                  <a:srgbClr val="0B3041"/>
                </a:solidFill>
                <a:latin typeface="游ゴシック"/>
                <a:ea typeface="游ゴシック"/>
              </a:rPr>
              <a:t>■ 主力サービス</a:t>
            </a:r>
            <a:endParaRPr kumimoji="1" lang="en-US" altLang="ja-JP" dirty="0">
              <a:solidFill>
                <a:srgbClr val="FF0000"/>
              </a:solidFill>
            </a:endParaRPr>
          </a:p>
          <a:p>
            <a:pPr algn="l"/>
            <a:r>
              <a:rPr sz="1100">
                <a:solidFill>
                  <a:srgbClr val="0B3041"/>
                </a:solidFill>
                <a:latin typeface="游ゴシック"/>
                <a:ea typeface="游ゴシック"/>
              </a:rPr>
              <a:t>・アニメ／ゲームIPを活用したキャラクターグッズ（アクリルスタンド、缶バッジ、アパレル雑貨等）の企画・製造・販売</a:t>
            </a:r>
            <a:endParaRPr kumimoji="1" lang="en-US" altLang="ja-JP" dirty="0">
              <a:solidFill>
                <a:srgbClr val="FF0000"/>
              </a:solidFill>
            </a:endParaRPr>
          </a:p>
          <a:p>
            <a:pPr algn="l"/>
            <a:r>
              <a:rPr sz="1100">
                <a:solidFill>
                  <a:srgbClr val="0B3041"/>
                </a:solidFill>
                <a:latin typeface="游ゴシック"/>
                <a:ea typeface="游ゴシック"/>
              </a:rPr>
              <a:t>・大手IPホルダーとの商品化契約に基づく受注制作（版権使用）</a:t>
            </a:r>
            <a:endParaRPr kumimoji="1" lang="en-US" altLang="ja-JP" dirty="0">
              <a:solidFill>
                <a:srgbClr val="FF0000"/>
              </a:solidFill>
            </a:endParaRPr>
          </a:p>
          <a:p>
            <a:pPr algn="l"/>
            <a:r>
              <a:rPr sz="1100">
                <a:solidFill>
                  <a:srgbClr val="0B3041"/>
                </a:solidFill>
                <a:latin typeface="游ゴシック"/>
                <a:ea typeface="游ゴシック"/>
              </a:rPr>
              <a:t/>
            </a:r>
            <a:endParaRPr kumimoji="1" lang="en-US" altLang="ja-JP" dirty="0">
              <a:solidFill>
                <a:srgbClr val="FF0000"/>
              </a:solidFill>
            </a:endParaRPr>
          </a:p>
          <a:p>
            <a:pPr algn="l"/>
            <a:r>
              <a:rPr sz="1100">
                <a:solidFill>
                  <a:srgbClr val="0B3041"/>
                </a:solidFill>
                <a:latin typeface="游ゴシック"/>
                <a:ea typeface="游ゴシック"/>
              </a:rPr>
              <a:t>■ 自社オリジナル商品</a:t>
            </a:r>
            <a:endParaRPr kumimoji="1" lang="en-US" altLang="ja-JP" dirty="0">
              <a:solidFill>
                <a:srgbClr val="FF0000"/>
              </a:solidFill>
            </a:endParaRPr>
          </a:p>
          <a:p>
            <a:pPr algn="l"/>
            <a:r>
              <a:rPr sz="1100">
                <a:solidFill>
                  <a:srgbClr val="0B3041"/>
                </a:solidFill>
                <a:latin typeface="游ゴシック"/>
                <a:ea typeface="游ゴシック"/>
              </a:rPr>
              <a:t>・くじ商品「スターくじ」「あたりツキ！」シリーズを自社ブランドで展開</a:t>
            </a:r>
            <a:endParaRPr kumimoji="1" lang="en-US" altLang="ja-JP" dirty="0">
              <a:solidFill>
                <a:srgbClr val="FF0000"/>
              </a:solidFill>
            </a:endParaRPr>
          </a:p>
          <a:p>
            <a:pPr algn="l"/>
            <a:r>
              <a:rPr sz="1100">
                <a:solidFill>
                  <a:srgbClr val="0B3041"/>
                </a:solidFill>
                <a:latin typeface="游ゴシック"/>
                <a:ea typeface="游ゴシック"/>
              </a:rPr>
              <a:t/>
            </a:r>
            <a:endParaRPr kumimoji="1" lang="en-US" altLang="ja-JP" dirty="0">
              <a:solidFill>
                <a:srgbClr val="FF0000"/>
              </a:solidFill>
            </a:endParaRPr>
          </a:p>
          <a:p>
            <a:pPr algn="l"/>
            <a:r>
              <a:rPr sz="1100">
                <a:solidFill>
                  <a:srgbClr val="0B3041"/>
                </a:solidFill>
                <a:latin typeface="游ゴシック"/>
                <a:ea typeface="游ゴシック"/>
              </a:rPr>
              <a:t>■ 収益モデル</a:t>
            </a:r>
            <a:endParaRPr kumimoji="1" lang="en-US" altLang="ja-JP" dirty="0">
              <a:solidFill>
                <a:srgbClr val="FF0000"/>
              </a:solidFill>
            </a:endParaRPr>
          </a:p>
          <a:p>
            <a:pPr algn="l"/>
            <a:r>
              <a:rPr sz="1100">
                <a:solidFill>
                  <a:srgbClr val="0B3041"/>
                </a:solidFill>
                <a:latin typeface="游ゴシック"/>
                <a:ea typeface="游ゴシック"/>
              </a:rPr>
              <a:t>・受注額はロイヤリティベースで、料率は概ね20%程度</a:t>
            </a:r>
            <a:endParaRPr kumimoji="1" lang="en-US" altLang="ja-JP" dirty="0">
              <a:solidFill>
                <a:srgbClr val="FF0000"/>
              </a:solidFill>
            </a:endParaRPr>
          </a:p>
          <a:p>
            <a:pPr algn="l"/>
            <a:r>
              <a:rPr sz="1100">
                <a:solidFill>
                  <a:srgbClr val="0B3041"/>
                </a:solidFill>
                <a:latin typeface="游ゴシック"/>
                <a:ea typeface="游ゴシック"/>
              </a:rPr>
              <a:t>・ライセンス案件（版権商品）とOEM受託案件の2区分で構成。構成比は年により変動し、</a:t>
            </a:r>
            <a:endParaRPr kumimoji="1" lang="en-US" altLang="ja-JP" dirty="0">
              <a:solidFill>
                <a:srgbClr val="FF0000"/>
              </a:solidFill>
            </a:endParaRPr>
          </a:p>
          <a:p>
            <a:pPr algn="l"/>
            <a:r>
              <a:rPr sz="1100">
                <a:solidFill>
                  <a:srgbClr val="0B3041"/>
                </a:solidFill>
                <a:latin typeface="游ゴシック"/>
                <a:ea typeface="游ゴシック"/>
              </a:rPr>
              <a:t>　アニメIPの作品ごとの需要の波をOEM案件が補完する構造</a:t>
            </a:r>
            <a:endParaRPr kumimoji="1" lang="en-US" altLang="ja-JP" dirty="0">
              <a:solidFill>
                <a:srgbClr val="FF0000"/>
              </a:solidFill>
            </a:endParaRPr>
          </a:p>
          <a:p>
            <a:pPr algn="l"/>
            <a:r>
              <a:rPr sz="1100">
                <a:solidFill>
                  <a:srgbClr val="0B3041"/>
                </a:solidFill>
                <a:latin typeface="游ゴシック"/>
                <a:ea typeface="游ゴシック"/>
              </a:rPr>
              <a:t/>
            </a:r>
            <a:endParaRPr kumimoji="1" lang="en-US" altLang="ja-JP" dirty="0">
              <a:solidFill>
                <a:srgbClr val="FF0000"/>
              </a:solidFill>
            </a:endParaRPr>
          </a:p>
          <a:p>
            <a:pPr algn="l"/>
            <a:r>
              <a:rPr sz="1100">
                <a:solidFill>
                  <a:srgbClr val="0B3041"/>
                </a:solidFill>
                <a:latin typeface="游ゴシック"/>
                <a:ea typeface="游ゴシック"/>
              </a:rPr>
              <a:t>■ 供給体制（ファブレス）</a:t>
            </a:r>
            <a:endParaRPr kumimoji="1" lang="en-US" altLang="ja-JP" dirty="0">
              <a:solidFill>
                <a:srgbClr val="FF0000"/>
              </a:solidFill>
            </a:endParaRPr>
          </a:p>
          <a:p>
            <a:pPr algn="l"/>
            <a:r>
              <a:rPr sz="1100">
                <a:solidFill>
                  <a:srgbClr val="0B3041"/>
                </a:solidFill>
                <a:latin typeface="游ゴシック"/>
                <a:ea typeface="游ゴシック"/>
              </a:rPr>
              <a:t>・企画／デザインは自社、製造は中国等海外メーカーおよび国内専門メーカーへ委託</a:t>
            </a:r>
            <a:endParaRPr kumimoji="1" lang="en-US" altLang="ja-JP" dirty="0">
              <a:solidFill>
                <a:srgbClr val="FF0000"/>
              </a:solidFill>
            </a:endParaRPr>
          </a:p>
          <a:p>
            <a:pPr algn="l"/>
            <a:r>
              <a:rPr sz="1100">
                <a:solidFill>
                  <a:srgbClr val="0B3041"/>
                </a:solidFill>
                <a:latin typeface="游ゴシック"/>
                <a:ea typeface="游ゴシック"/>
              </a:rPr>
              <a:t>・大ロット案件は主に中国、小ロット・特殊加工は国内専門メーカーを活用</a:t>
            </a:r>
            <a:endParaRPr kumimoji="1" lang="en-US" altLang="ja-JP" dirty="0">
              <a:solidFill>
                <a:srgbClr val="FF0000"/>
              </a:solidFill>
            </a:endParaRPr>
          </a:p>
          <a:p>
            <a:pPr algn="l"/>
            <a:r>
              <a:rPr sz="1100">
                <a:solidFill>
                  <a:srgbClr val="0B3041"/>
                </a:solidFill>
                <a:latin typeface="游ゴシック"/>
                <a:ea typeface="游ゴシック"/>
              </a:rPr>
              <a:t>・アクリル・缶バッジ・紙・成形品・ぬいぐるみ等、商材に応じた複数の製造パートナーを確保</a:t>
            </a:r>
            <a:endParaRPr kumimoji="1" lang="en-US" altLang="ja-JP" dirty="0">
              <a:solidFill>
                <a:srgbClr val="FF0000"/>
              </a:solidFill>
            </a:endParaRPr>
          </a:p>
          <a:p>
            <a:pPr algn="l"/>
            <a:r>
              <a:rPr sz="1100">
                <a:solidFill>
                  <a:srgbClr val="0B3041"/>
                </a:solidFill>
                <a:latin typeface="游ゴシック"/>
                <a:ea typeface="游ゴシック"/>
              </a:rPr>
              <a:t/>
            </a:r>
            <a:endParaRPr kumimoji="1" lang="en-US" altLang="ja-JP" dirty="0">
              <a:solidFill>
                <a:srgbClr val="FF0000"/>
              </a:solidFill>
            </a:endParaRPr>
          </a:p>
          <a:p>
            <a:pPr algn="l"/>
            <a:r>
              <a:rPr sz="1100">
                <a:solidFill>
                  <a:srgbClr val="0B3041"/>
                </a:solidFill>
                <a:latin typeface="游ゴシック"/>
                <a:ea typeface="游ゴシック"/>
              </a:rPr>
              <a:t>■ 在庫・取引条件</a:t>
            </a:r>
            <a:endParaRPr kumimoji="1" lang="en-US" altLang="ja-JP" dirty="0">
              <a:solidFill>
                <a:srgbClr val="FF0000"/>
              </a:solidFill>
            </a:endParaRPr>
          </a:p>
          <a:p>
            <a:pPr algn="l"/>
            <a:r>
              <a:rPr sz="1100">
                <a:solidFill>
                  <a:srgbClr val="0B3041"/>
                </a:solidFill>
                <a:latin typeface="游ゴシック"/>
                <a:ea typeface="游ゴシック"/>
              </a:rPr>
              <a:t>・原則として買取100%（問屋等へ販売）で、在庫を大きく抱えない運営方針</a:t>
            </a:r>
            <a:endParaRPr kumimoji="1" lang="en-US" altLang="ja-JP" dirty="0">
              <a:solidFill>
                <a:srgbClr val="FF0000"/>
              </a:solidFill>
            </a:endParaRPr>
          </a:p>
        </p:txBody>
      </p:sp>
      <p:sp>
        <p:nvSpPr>
          <p:cNvPr id="6" name="TextBox 5"/>
          <p:cNvSpPr txBox="1"/>
          <p:nvPr/>
        </p:nvSpPr>
        <p:spPr>
          <a:xfrm>
            <a:off x="5600000" y="1300000"/>
            <a:ext cx="4880000" cy="260000"/>
          </a:xfrm>
          <a:prstGeom prst="rect">
            <a:avLst/>
          </a:prstGeom>
          <a:noFill/>
        </p:spPr>
        <p:txBody>
          <a:bodyPr wrap="none">
            <a:spAutoFit/>
          </a:bodyPr>
          <a:lstStyle/>
          <a:p>
            <a:r>
              <a:rPr sz="1200" b="1">
                <a:solidFill>
                  <a:srgbClr val="0B3041"/>
                </a:solidFill>
                <a:latin typeface="游ゴシック"/>
              </a:rPr>
              <a:t>主な取扱商品（OEM）</a:t>
            </a:r>
          </a:p>
        </p:txBody>
      </p:sp>
      <p:pic>
        <p:nvPicPr>
          <p:cNvPr id="7" name="Picture 6" descr="OEM_1.jpg"/>
          <p:cNvPicPr>
            <a:picLocks noChangeAspect="1"/>
          </p:cNvPicPr>
          <p:nvPr/>
        </p:nvPicPr>
        <p:blipFill>
          <a:blip r:embed="rId3"/>
          <a:stretch>
            <a:fillRect/>
          </a:stretch>
        </p:blipFill>
        <p:spPr>
          <a:xfrm>
            <a:off x="5611429" y="1620000"/>
            <a:ext cx="2357142" cy="1650000"/>
          </a:xfrm>
          <a:prstGeom prst="rect">
            <a:avLst/>
          </a:prstGeom>
        </p:spPr>
      </p:pic>
      <p:pic>
        <p:nvPicPr>
          <p:cNvPr id="8" name="Picture 7" descr="OEM_2.jpg"/>
          <p:cNvPicPr>
            <a:picLocks noChangeAspect="1"/>
          </p:cNvPicPr>
          <p:nvPr/>
        </p:nvPicPr>
        <p:blipFill>
          <a:blip r:embed="rId4"/>
          <a:stretch>
            <a:fillRect/>
          </a:stretch>
        </p:blipFill>
        <p:spPr>
          <a:xfrm>
            <a:off x="8111429" y="1620000"/>
            <a:ext cx="2357142" cy="1650000"/>
          </a:xfrm>
          <a:prstGeom prst="rect">
            <a:avLst/>
          </a:prstGeom>
        </p:spPr>
      </p:pic>
      <p:pic>
        <p:nvPicPr>
          <p:cNvPr id="9" name="Picture 8" descr="OEM_3.jpg"/>
          <p:cNvPicPr>
            <a:picLocks noChangeAspect="1"/>
          </p:cNvPicPr>
          <p:nvPr/>
        </p:nvPicPr>
        <p:blipFill>
          <a:blip r:embed="rId5"/>
          <a:stretch>
            <a:fillRect/>
          </a:stretch>
        </p:blipFill>
        <p:spPr>
          <a:xfrm>
            <a:off x="5611429" y="3360000"/>
            <a:ext cx="2357142" cy="1650000"/>
          </a:xfrm>
          <a:prstGeom prst="rect">
            <a:avLst/>
          </a:prstGeom>
        </p:spPr>
      </p:pic>
      <p:pic>
        <p:nvPicPr>
          <p:cNvPr id="10" name="Picture 9" descr="OEM_5.jpg"/>
          <p:cNvPicPr>
            <a:picLocks noChangeAspect="1"/>
          </p:cNvPicPr>
          <p:nvPr/>
        </p:nvPicPr>
        <p:blipFill>
          <a:blip r:embed="rId6"/>
          <a:stretch>
            <a:fillRect/>
          </a:stretch>
        </p:blipFill>
        <p:spPr>
          <a:xfrm>
            <a:off x="8465000" y="3360000"/>
            <a:ext cx="1650000" cy="1650000"/>
          </a:xfrm>
          <a:prstGeom prst="rect">
            <a:avLst/>
          </a:prstGeom>
        </p:spPr>
      </p:pic>
      <p:pic>
        <p:nvPicPr>
          <p:cNvPr id="11" name="Picture 10" descr="OEM_7.jpg"/>
          <p:cNvPicPr>
            <a:picLocks noChangeAspect="1"/>
          </p:cNvPicPr>
          <p:nvPr/>
        </p:nvPicPr>
        <p:blipFill>
          <a:blip r:embed="rId7"/>
          <a:stretch>
            <a:fillRect/>
          </a:stretch>
        </p:blipFill>
        <p:spPr>
          <a:xfrm>
            <a:off x="5965000" y="5100000"/>
            <a:ext cx="1650000" cy="1650000"/>
          </a:xfrm>
          <a:prstGeom prst="rect">
            <a:avLst/>
          </a:prstGeom>
        </p:spPr>
      </p:pic>
      <p:pic>
        <p:nvPicPr>
          <p:cNvPr id="12" name="Picture 11" descr="OEM_9.jpg"/>
          <p:cNvPicPr>
            <a:picLocks noChangeAspect="1"/>
          </p:cNvPicPr>
          <p:nvPr/>
        </p:nvPicPr>
        <p:blipFill>
          <a:blip r:embed="rId8"/>
          <a:stretch>
            <a:fillRect/>
          </a:stretch>
        </p:blipFill>
        <p:spPr>
          <a:xfrm>
            <a:off x="8465000" y="5100000"/>
            <a:ext cx="1650000" cy="1650000"/>
          </a:xfrm>
          <a:prstGeom prst="rect">
            <a:avLst/>
          </a:prstGeom>
        </p:spPr>
      </p:pic>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panose="020B0400000000000000" pitchFamily="50" charset="-128"/>
                <a:ea typeface="游ゴシック" panose="020B0400000000000000" pitchFamily="50" charset="-128"/>
              </a:rPr>
              <a:t>主な制作実績（取扱IP）</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latin typeface="游ゴシック" panose="020B0400000000000000" pitchFamily="50" charset="-128"/>
                <a:ea typeface="游ゴシック" panose="020B0400000000000000" pitchFamily="50" charset="-128"/>
              </a:rPr>
              <a:t>事業概要</a:t>
            </a:r>
          </a:p>
        </p:txBody>
      </p:sp>
      <p:sp>
        <p:nvSpPr>
          <p:cNvPr id="4" name="TextBox 3"/>
          <p:cNvSpPr txBox="1"/>
          <p:nvPr/>
        </p:nvSpPr>
        <p:spPr>
          <a:xfrm>
            <a:off x="460675" y="820000"/>
            <a:ext cx="9781875" cy="461665"/>
          </a:xfrm>
          <a:prstGeom prst="rect">
            <a:avLst/>
          </a:prstGeom>
          <a:noFill/>
        </p:spPr>
        <p:txBody>
          <a:bodyPr wrap="square">
            <a:spAutoFit/>
          </a:bodyPr>
          <a:lstStyle/>
          <a:p>
            <a:r>
              <a:rPr sz="1200">
                <a:latin typeface="游ゴシック" panose="020B0400000000000000" pitchFamily="50" charset="-128"/>
                <a:ea typeface="游ゴシック" panose="020B0400000000000000" pitchFamily="50" charset="-128"/>
              </a:rPr>
              <a:t>アニメ・ゲームの人気IPを中心に、これまで多数の作品でキャラクターグッズの企画・製造を手掛けてきました（下記は公開されている制作実績の一部）。</a:t>
            </a:r>
          </a:p>
        </p:txBody>
      </p:sp>
      <p:pic>
        <p:nvPicPr>
          <p:cNvPr id="5" name="Picture 4" descr="banner_sao.jpg"/>
          <p:cNvPicPr>
            <a:picLocks noChangeAspect="1"/>
          </p:cNvPicPr>
          <p:nvPr/>
        </p:nvPicPr>
        <p:blipFill>
          <a:blip r:embed="rId2"/>
          <a:stretch>
            <a:fillRect/>
          </a:stretch>
        </p:blipFill>
        <p:spPr>
          <a:xfrm>
            <a:off x="311150" y="1580000"/>
            <a:ext cx="2427500" cy="633260"/>
          </a:xfrm>
          <a:prstGeom prst="rect">
            <a:avLst/>
          </a:prstGeom>
        </p:spPr>
      </p:pic>
      <p:pic>
        <p:nvPicPr>
          <p:cNvPr id="6" name="Picture 5" descr="banner_ghoul.jpg"/>
          <p:cNvPicPr>
            <a:picLocks noChangeAspect="1"/>
          </p:cNvPicPr>
          <p:nvPr/>
        </p:nvPicPr>
        <p:blipFill>
          <a:blip r:embed="rId3"/>
          <a:stretch>
            <a:fillRect/>
          </a:stretch>
        </p:blipFill>
        <p:spPr>
          <a:xfrm>
            <a:off x="2858650" y="1580000"/>
            <a:ext cx="2427500" cy="633260"/>
          </a:xfrm>
          <a:prstGeom prst="rect">
            <a:avLst/>
          </a:prstGeom>
        </p:spPr>
      </p:pic>
      <p:pic>
        <p:nvPicPr>
          <p:cNvPr id="7" name="Picture 6" descr="banner_haikyu.jpg"/>
          <p:cNvPicPr>
            <a:picLocks noChangeAspect="1"/>
          </p:cNvPicPr>
          <p:nvPr/>
        </p:nvPicPr>
        <p:blipFill>
          <a:blip r:embed="rId4"/>
          <a:stretch>
            <a:fillRect/>
          </a:stretch>
        </p:blipFill>
        <p:spPr>
          <a:xfrm>
            <a:off x="5406150" y="1580000"/>
            <a:ext cx="2427500" cy="633260"/>
          </a:xfrm>
          <a:prstGeom prst="rect">
            <a:avLst/>
          </a:prstGeom>
        </p:spPr>
      </p:pic>
      <p:pic>
        <p:nvPicPr>
          <p:cNvPr id="8" name="Picture 7" descr="banner_psychopass.jpg"/>
          <p:cNvPicPr>
            <a:picLocks noChangeAspect="1"/>
          </p:cNvPicPr>
          <p:nvPr/>
        </p:nvPicPr>
        <p:blipFill>
          <a:blip r:embed="rId5"/>
          <a:stretch>
            <a:fillRect/>
          </a:stretch>
        </p:blipFill>
        <p:spPr>
          <a:xfrm>
            <a:off x="7953650" y="1580000"/>
            <a:ext cx="2427500" cy="633260"/>
          </a:xfrm>
          <a:prstGeom prst="rect">
            <a:avLst/>
          </a:prstGeom>
        </p:spPr>
      </p:pic>
      <p:pic>
        <p:nvPicPr>
          <p:cNvPr id="9" name="Picture 8" descr="banner_ansatsu.jpg"/>
          <p:cNvPicPr>
            <a:picLocks noChangeAspect="1"/>
          </p:cNvPicPr>
          <p:nvPr/>
        </p:nvPicPr>
        <p:blipFill>
          <a:blip r:embed="rId6"/>
          <a:stretch>
            <a:fillRect/>
          </a:stretch>
        </p:blipFill>
        <p:spPr>
          <a:xfrm>
            <a:off x="311150" y="2363260"/>
            <a:ext cx="2427500" cy="633260"/>
          </a:xfrm>
          <a:prstGeom prst="rect">
            <a:avLst/>
          </a:prstGeom>
        </p:spPr>
      </p:pic>
      <p:pic>
        <p:nvPicPr>
          <p:cNvPr id="10" name="Picture 9" descr="banner_kimiuso.jpg"/>
          <p:cNvPicPr>
            <a:picLocks noChangeAspect="1"/>
          </p:cNvPicPr>
          <p:nvPr/>
        </p:nvPicPr>
        <p:blipFill>
          <a:blip r:embed="rId7"/>
          <a:stretch>
            <a:fillRect/>
          </a:stretch>
        </p:blipFill>
        <p:spPr>
          <a:xfrm>
            <a:off x="2858650" y="2363260"/>
            <a:ext cx="2427500" cy="633260"/>
          </a:xfrm>
          <a:prstGeom prst="rect">
            <a:avLst/>
          </a:prstGeom>
        </p:spPr>
      </p:pic>
      <p:pic>
        <p:nvPicPr>
          <p:cNvPr id="11" name="Picture 10" descr="banner_ngnl.jpg"/>
          <p:cNvPicPr>
            <a:picLocks noChangeAspect="1"/>
          </p:cNvPicPr>
          <p:nvPr/>
        </p:nvPicPr>
        <p:blipFill>
          <a:blip r:embed="rId8"/>
          <a:stretch>
            <a:fillRect/>
          </a:stretch>
        </p:blipFill>
        <p:spPr>
          <a:xfrm>
            <a:off x="5406150" y="2363260"/>
            <a:ext cx="2427500" cy="633260"/>
          </a:xfrm>
          <a:prstGeom prst="rect">
            <a:avLst/>
          </a:prstGeom>
        </p:spPr>
      </p:pic>
      <p:pic>
        <p:nvPicPr>
          <p:cNvPr id="12" name="Picture 11" descr="banner_nozaki.jpg"/>
          <p:cNvPicPr>
            <a:picLocks noChangeAspect="1"/>
          </p:cNvPicPr>
          <p:nvPr/>
        </p:nvPicPr>
        <p:blipFill>
          <a:blip r:embed="rId9"/>
          <a:stretch>
            <a:fillRect/>
          </a:stretch>
        </p:blipFill>
        <p:spPr>
          <a:xfrm>
            <a:off x="7953650" y="2363260"/>
            <a:ext cx="2427500" cy="633260"/>
          </a:xfrm>
          <a:prstGeom prst="rect">
            <a:avLst/>
          </a:prstGeom>
        </p:spPr>
      </p:pic>
      <p:pic>
        <p:nvPicPr>
          <p:cNvPr id="13" name="Picture 12" descr="banner_aceofdiamond.jpg"/>
          <p:cNvPicPr>
            <a:picLocks noChangeAspect="1"/>
          </p:cNvPicPr>
          <p:nvPr/>
        </p:nvPicPr>
        <p:blipFill>
          <a:blip r:embed="rId10"/>
          <a:stretch>
            <a:fillRect/>
          </a:stretch>
        </p:blipFill>
        <p:spPr>
          <a:xfrm>
            <a:off x="311150" y="3146520"/>
            <a:ext cx="2427500" cy="633260"/>
          </a:xfrm>
          <a:prstGeom prst="rect">
            <a:avLst/>
          </a:prstGeom>
        </p:spPr>
      </p:pic>
      <p:pic>
        <p:nvPicPr>
          <p:cNvPr id="14" name="Picture 13" descr="banner_kamihaji.jpg"/>
          <p:cNvPicPr>
            <a:picLocks noChangeAspect="1"/>
          </p:cNvPicPr>
          <p:nvPr/>
        </p:nvPicPr>
        <p:blipFill>
          <a:blip r:embed="rId11"/>
          <a:stretch>
            <a:fillRect/>
          </a:stretch>
        </p:blipFill>
        <p:spPr>
          <a:xfrm>
            <a:off x="2858650" y="3146520"/>
            <a:ext cx="2427500" cy="633260"/>
          </a:xfrm>
          <a:prstGeom prst="rect">
            <a:avLst/>
          </a:prstGeom>
        </p:spPr>
      </p:pic>
      <p:pic>
        <p:nvPicPr>
          <p:cNvPr id="15" name="Picture 14" descr="banner_arpeggio.jpg"/>
          <p:cNvPicPr>
            <a:picLocks noChangeAspect="1"/>
          </p:cNvPicPr>
          <p:nvPr/>
        </p:nvPicPr>
        <p:blipFill>
          <a:blip r:embed="rId12"/>
          <a:stretch>
            <a:fillRect/>
          </a:stretch>
        </p:blipFill>
        <p:spPr>
          <a:xfrm>
            <a:off x="5406150" y="3146520"/>
            <a:ext cx="2427500" cy="633260"/>
          </a:xfrm>
          <a:prstGeom prst="rect">
            <a:avLst/>
          </a:prstGeom>
        </p:spPr>
      </p:pic>
      <p:pic>
        <p:nvPicPr>
          <p:cNvPr id="16" name="Picture 15" descr="banner_personaq.jpg"/>
          <p:cNvPicPr>
            <a:picLocks noChangeAspect="1"/>
          </p:cNvPicPr>
          <p:nvPr/>
        </p:nvPicPr>
        <p:blipFill>
          <a:blip r:embed="rId13"/>
          <a:stretch>
            <a:fillRect/>
          </a:stretch>
        </p:blipFill>
        <p:spPr>
          <a:xfrm>
            <a:off x="7953650" y="3146520"/>
            <a:ext cx="2427500" cy="633260"/>
          </a:xfrm>
          <a:prstGeom prst="rect">
            <a:avLst/>
          </a:prstGeom>
        </p:spPr>
      </p:pic>
      <p:pic>
        <p:nvPicPr>
          <p:cNvPr id="17" name="Picture 16" descr="banner_dlmb.jpg"/>
          <p:cNvPicPr>
            <a:picLocks noChangeAspect="1"/>
          </p:cNvPicPr>
          <p:nvPr/>
        </p:nvPicPr>
        <p:blipFill>
          <a:blip r:embed="rId14"/>
          <a:stretch>
            <a:fillRect/>
          </a:stretch>
        </p:blipFill>
        <p:spPr>
          <a:xfrm>
            <a:off x="311150" y="3929780"/>
            <a:ext cx="2427500" cy="633260"/>
          </a:xfrm>
          <a:prstGeom prst="rect">
            <a:avLst/>
          </a:prstGeom>
        </p:spPr>
      </p:pic>
      <p:pic>
        <p:nvPicPr>
          <p:cNvPr id="18" name="Picture 17" descr="banner_ookami.jpg"/>
          <p:cNvPicPr>
            <a:picLocks noChangeAspect="1"/>
          </p:cNvPicPr>
          <p:nvPr/>
        </p:nvPicPr>
        <p:blipFill>
          <a:blip r:embed="rId15"/>
          <a:stretch>
            <a:fillRect/>
          </a:stretch>
        </p:blipFill>
        <p:spPr>
          <a:xfrm>
            <a:off x="2858650" y="3929780"/>
            <a:ext cx="2427500" cy="633260"/>
          </a:xfrm>
          <a:prstGeom prst="rect">
            <a:avLst/>
          </a:prstGeom>
        </p:spPr>
      </p:pic>
      <p:pic>
        <p:nvPicPr>
          <p:cNvPr id="19" name="Picture 18" descr="banner_wtg.jpg"/>
          <p:cNvPicPr>
            <a:picLocks noChangeAspect="1"/>
          </p:cNvPicPr>
          <p:nvPr/>
        </p:nvPicPr>
        <p:blipFill>
          <a:blip r:embed="rId16"/>
          <a:stretch>
            <a:fillRect/>
          </a:stretch>
        </p:blipFill>
        <p:spPr>
          <a:xfrm>
            <a:off x="5406150" y="3929780"/>
            <a:ext cx="2427500" cy="633260"/>
          </a:xfrm>
          <a:prstGeom prst="rect">
            <a:avLst/>
          </a:prstGeom>
        </p:spPr>
      </p:pic>
      <p:pic>
        <p:nvPicPr>
          <p:cNvPr id="20" name="Picture 19" descr="banner_sbr.jpg"/>
          <p:cNvPicPr>
            <a:picLocks noChangeAspect="1"/>
          </p:cNvPicPr>
          <p:nvPr/>
        </p:nvPicPr>
        <p:blipFill>
          <a:blip r:embed="rId17"/>
          <a:stretch>
            <a:fillRect/>
          </a:stretch>
        </p:blipFill>
        <p:spPr>
          <a:xfrm>
            <a:off x="7953650" y="3929780"/>
            <a:ext cx="2427500" cy="633260"/>
          </a:xfrm>
          <a:prstGeom prst="rect">
            <a:avLst/>
          </a:prstGeom>
        </p:spPr>
      </p:pic>
      <p:pic>
        <p:nvPicPr>
          <p:cNvPr id="21" name="Picture 20" descr="banner_akame.jpg"/>
          <p:cNvPicPr>
            <a:picLocks noChangeAspect="1"/>
          </p:cNvPicPr>
          <p:nvPr/>
        </p:nvPicPr>
        <p:blipFill>
          <a:blip r:embed="rId18"/>
          <a:stretch>
            <a:fillRect/>
          </a:stretch>
        </p:blipFill>
        <p:spPr>
          <a:xfrm>
            <a:off x="311150" y="4713040"/>
            <a:ext cx="2427500" cy="633260"/>
          </a:xfrm>
          <a:prstGeom prst="rect">
            <a:avLst/>
          </a:prstGeom>
        </p:spPr>
      </p:pic>
      <p:pic>
        <p:nvPicPr>
          <p:cNvPr id="22" name="Picture 21" descr="banner_kokkuri.jpg"/>
          <p:cNvPicPr>
            <a:picLocks noChangeAspect="1"/>
          </p:cNvPicPr>
          <p:nvPr/>
        </p:nvPicPr>
        <p:blipFill>
          <a:blip r:embed="rId19"/>
          <a:stretch>
            <a:fillRect/>
          </a:stretch>
        </p:blipFill>
        <p:spPr>
          <a:xfrm>
            <a:off x="2858650" y="4713040"/>
            <a:ext cx="2427500" cy="633260"/>
          </a:xfrm>
          <a:prstGeom prst="rect">
            <a:avLst/>
          </a:prstGeom>
        </p:spPr>
      </p:pic>
      <p:pic>
        <p:nvPicPr>
          <p:cNvPr id="23" name="Picture 22" descr="banner_majikai.jpg"/>
          <p:cNvPicPr>
            <a:picLocks noChangeAspect="1"/>
          </p:cNvPicPr>
          <p:nvPr/>
        </p:nvPicPr>
        <p:blipFill>
          <a:blip r:embed="rId20"/>
          <a:stretch>
            <a:fillRect/>
          </a:stretch>
        </p:blipFill>
        <p:spPr>
          <a:xfrm>
            <a:off x="5406150" y="4713040"/>
            <a:ext cx="2427500" cy="633260"/>
          </a:xfrm>
          <a:prstGeom prst="rect">
            <a:avLst/>
          </a:prstGeom>
        </p:spPr>
      </p:pic>
      <p:pic>
        <p:nvPicPr>
          <p:cNvPr id="24" name="Picture 23" descr="banner_utena.jpg"/>
          <p:cNvPicPr>
            <a:picLocks noChangeAspect="1"/>
          </p:cNvPicPr>
          <p:nvPr/>
        </p:nvPicPr>
        <p:blipFill>
          <a:blip r:embed="rId21"/>
          <a:stretch>
            <a:fillRect/>
          </a:stretch>
        </p:blipFill>
        <p:spPr>
          <a:xfrm>
            <a:off x="7953650" y="4713040"/>
            <a:ext cx="2427500" cy="633260"/>
          </a:xfrm>
          <a:prstGeom prst="rect">
            <a:avLst/>
          </a:prstGeom>
        </p:spPr>
      </p:pic>
      <p:sp>
        <p:nvSpPr>
          <p:cNvPr id="25" name="TextBox 24"/>
          <p:cNvSpPr txBox="1"/>
          <p:nvPr/>
        </p:nvSpPr>
        <p:spPr>
          <a:xfrm>
            <a:off x="311150" y="5516300"/>
            <a:ext cx="10000000" cy="238527"/>
          </a:xfrm>
          <a:prstGeom prst="rect">
            <a:avLst/>
          </a:prstGeom>
          <a:noFill/>
        </p:spPr>
        <p:txBody>
          <a:bodyPr wrap="square">
            <a:spAutoFit/>
          </a:bodyPr>
          <a:lstStyle/>
          <a:p>
            <a:r>
              <a:rPr sz="950">
                <a:solidFill>
                  <a:srgbClr val="595959"/>
                </a:solidFill>
                <a:latin typeface="游ゴシック" panose="020B0400000000000000" pitchFamily="50" charset="-128"/>
                <a:ea typeface="游ゴシック" panose="020B0400000000000000" pitchFamily="50" charset="-128"/>
              </a:rPr>
              <a:t>※ 当社ウェブサイト等で公開されている制作実績の一部を掲載。各作品の著作権・商標権は各権利者に帰属します。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大手IPホルダーとの継続取引とOEM併営による安定性</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㈱セガ・㈱KADOKAWA Game Linkage・㈱ムービック等、アニメ・ゲームの大手版元と複数期にわたる継続的な商品化取引を有する。ライセンス案件は作品ごとに需要の波があるものの、OEM受託案件を併営することで全体の収益安定を確保。</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企画力と国内外の製造ネットワークの使い分け</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企画・デザインは自社で行い、大ロット案件は中国を中心とする海外メーカー、小ロット・特殊加工は国内専門メーカーへ委託。原則買取100%で在庫を抱えない運営方針とあわせ、少数精鋭で高い生産性（従業員7名で売上422百万円）を実現。</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IP市場の拡大と顧客・商材・販路の拡張余地</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アニメ・ゲームIP市場は国内外で拡大基調。身軽なコスト構造を背景に、パートナーとの連携による顧客基盤の多様化・新規IP開拓・EC等の販路拡張余地は大きい。</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コンテンツホルダー／IPホルダーとの連携</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保有IPの商品化窓口として当社の企画・製造機能を活用いただく形。IP調達力の強化により、ライセンス案件の受注機会拡大と作品ごとの需要変動の平準化が期待されます。</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買手企業に期待する役割・想定シナジー</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観点1</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流通・小売／EC事業者との連携</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当社が企画・製造する商品の販路拡張。現状は版元・卸へのB2B販売が中心であり、小売・EC等の出口をお持ちの企業との連携により、販売チャネルの多様化余地があります。</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観点2</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gn="l">
              <a:lnSpc>
                <a:spcPct val="120000"/>
              </a:lnSpc>
              <a:spcAft>
                <a:spcPts val="600"/>
              </a:spcAft>
            </a:pPr>
            <a:r>
              <a:rPr sz="1100" b="1">
                <a:latin typeface="+mj-ea"/>
                <a:ea typeface="+mj-ea"/>
              </a:rPr>
              <a:t>グッズ製造／OEM関連事業者との連携</a:t>
            </a:r>
            <a:endParaRPr lang="en-US" altLang="ja-JP" sz="1600" b="1" spc="30" dirty="0">
              <a:solidFill>
                <a:schemeClr val="tx2"/>
              </a:solidFill>
              <a:latin typeface="+mj-ea"/>
              <a:ea typeface="+mj-ea"/>
            </a:endParaRPr>
          </a:p>
          <a:p>
            <a:pPr algn="l">
              <a:lnSpc>
                <a:spcPct val="120000"/>
              </a:lnSpc>
              <a:spcAft>
                <a:spcPts val="600"/>
              </a:spcAft>
            </a:pPr>
            <a:r>
              <a:rPr sz="1100" b="1">
                <a:latin typeface="+mj-ea"/>
                <a:ea typeface="+mj-ea"/>
              </a:rPr>
              <a:t>製造・調達機能の相互補完。当社の国内外の製造委託ネットワークと企画・デザイン機能、貴社の生産・調達基盤を組み合わせることで、コスト競争力と対応商材の拡大が見込まれます。</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観点3</a:t>
            </a:r>
            <a:endParaRPr lang="en-US" altLang="ja-JP" b="1" spc="70" dirty="0">
              <a:solidFill>
                <a:schemeClr val="bg1"/>
              </a:solidFill>
              <a:latin typeface="+mj-ea"/>
              <a:ea typeface="+mj-ea"/>
            </a:endParaRPr>
          </a:p>
        </p:txBody>
      </p:sp>
      <p:sp>
        <p:nvSpPr>
          <p:cNvPr id="32" name="TextBox 31"/>
          <p:cNvSpPr txBox="1"/>
          <p:nvPr/>
        </p:nvSpPr>
        <p:spPr>
          <a:xfrm>
            <a:off x="457200" y="832104"/>
            <a:ext cx="9784080" cy="274320"/>
          </a:xfrm>
          <a:prstGeom prst="rect">
            <a:avLst/>
          </a:prstGeom>
          <a:noFill/>
        </p:spPr>
        <p:txBody>
          <a:bodyPr wrap="square">
            <a:spAutoFit/>
          </a:bodyPr>
          <a:lstStyle/>
          <a:p>
            <a:r>
              <a:rPr sz="1100">
                <a:latin typeface="游ゴシック"/>
              </a:rPr>
              <a:t>オーナーは価格条件のみならず、譲渡先の「銘柄」と事業上の噛み合いを重視されています。下記の観点からのご提案を歓迎いたします。</a:t>
            </a:r>
          </a:p>
        </p:txBody>
      </p:sp>
    </p:spTree>
    <p:extLst>
      <p:ext uri="{BB962C8B-B14F-4D97-AF65-F5344CB8AC3E}">
        <p14:creationId xmlns:p14="http://schemas.microsoft.com/office/powerpoint/2010/main" val="272108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主要販売先別 売上高推移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上位顧客は大手IPホルダーが中心。令和8年1月期は最上位のセガ社が約48%を占める一方、上位10社の顔ぶれは各期で入れ替わります。これはライセンス案件が作品ごとの需要変動を受けるためであり、OEM受託案件の併営により全体の収益安定を図っています。</a:t>
            </a:r>
            <a:endParaRPr lang="en-US" altLang="ja-JP" dirty="0"/>
          </a:p>
        </p:txBody>
      </p:sp>
      <p:graphicFrame>
        <p:nvGraphicFramePr>
          <p:cNvPr id="14" name="Table 13"/>
          <p:cNvGraphicFramePr>
            <a:graphicFrameLocks noGrp="1"/>
          </p:cNvGraphicFramePr>
          <p:nvPr/>
        </p:nvGraphicFramePr>
        <p:xfrm>
          <a:off x="309600" y="1655999"/>
          <a:ext cx="9640799" cy="4211987"/>
        </p:xfrm>
        <a:graphic>
          <a:graphicData uri="http://schemas.openxmlformats.org/drawingml/2006/table">
            <a:tbl>
              <a:tblPr>
                <a:tableStyleId>{5C22544A-7EE6-4342-B048-85BDC9FD1C3A}</a:tableStyleId>
              </a:tblPr>
              <a:tblGrid>
                <a:gridCol w="2160000">
                  <a:extLst>
                    <a:ext uri="{9D8B030D-6E8A-4147-A177-3AD203B41FA5}">
                      <a16:colId xmlns:a16="http://schemas.microsoft.com/office/drawing/2014/main" val="20000"/>
                    </a:ext>
                  </a:extLst>
                </a:gridCol>
                <a:gridCol w="28008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007999">
                  <a:extLst>
                    <a:ext uri="{9D8B030D-6E8A-4147-A177-3AD203B41FA5}">
                      <a16:colId xmlns:a16="http://schemas.microsoft.com/office/drawing/2014/main" val="20005"/>
                    </a:ext>
                  </a:extLst>
                </a:gridCol>
              </a:tblGrid>
              <a:tr h="323999">
                <a:tc>
                  <a:txBody>
                    <a:bodyPr/>
                    <a:lstStyle/>
                    <a:p>
                      <a:pPr algn="ctr"/>
                      <a:r>
                        <a:rPr sz="900" b="1">
                          <a:solidFill>
                            <a:srgbClr val="FFFFFF"/>
                          </a:solidFill>
                          <a:latin typeface="游ゴシック"/>
                          <a:ea typeface="游ゴシック"/>
                        </a:rPr>
                        <a:t>得意先</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取引内容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㈱セガ</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33,802</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109,941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202,069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47.8%</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㈱KADOKAWA Game Linkage</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84,037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69,227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60,264</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㈱ムービック</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28,015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36,033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43,808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㈱スモールプラネット</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42,546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杭州迷萌文化創意</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海外製造委託パートナー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15,180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69,086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33,677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8.0%</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㈱ソル・インターナショナル</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34,096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24,322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19,082</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4.5%</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㈱ケンメディア</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54,354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16,120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12,359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2.9%</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㈱KADOKAWA</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3,878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2,050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0.5%</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㈱PHP JAPAN</a:t>
                      </a:r>
                    </a:p>
                  </a:txBody>
                  <a:tcPr marL="36000" marR="36000" marT="7200" marB="7200" anchor="ctr">
                    <a:solidFill>
                      <a:srgbClr val="FFFFFF"/>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10,179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1,636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花禾㈱</a:t>
                      </a:r>
                    </a:p>
                  </a:txBody>
                  <a:tcPr marL="36000" marR="36000" marT="7200" marB="7200" anchor="ctr">
                    <a:solidFill>
                      <a:srgbClr val="F4F7F9"/>
                    </a:solidFill>
                  </a:tcPr>
                </a:tc>
                <a:tc>
                  <a:txBody>
                    <a:bodyPr/>
                    <a:lstStyle/>
                    <a:p>
                      <a:pPr algn="l"/>
                      <a:r>
                        <a:rPr sz="900" b="0">
                          <a:solidFill>
                            <a:srgbClr val="0B3041"/>
                          </a:solidFill>
                          <a:latin typeface="游ゴシック"/>
                          <a:ea typeface="游ゴシック"/>
                        </a:rPr>
                        <a:t>キャラクターグッズ商品化(版権)</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1,525</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0.4%</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その他(上位10社以外)</a:t>
                      </a:r>
                    </a:p>
                  </a:txBody>
                  <a:tcPr marL="36000" marR="36000" marT="7200" marB="7200" anchor="ctr">
                    <a:solidFill>
                      <a:srgbClr val="FFFFFF"/>
                    </a:solidFill>
                  </a:tcPr>
                </a:tc>
                <a:tc>
                  <a:txBody>
                    <a:bodyPr/>
                    <a:lstStyle/>
                    <a:p>
                      <a:pPr algn="l"/>
                      <a:endParaRP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63,394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108,960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3,458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0.8%</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l"/>
                      <a:endParaRP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316,755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443,868</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422,475</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8863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rPr>
              <a:t>製造は中国等海外の貿易商社・メーカーへの委託が中心。大ロット案件は主に中国で製造し、小ロット・特殊加工は国内専門メーカーを活用するなど、商材・ロットに応じて国内外の複数パートナーを使い分け、特定先への依存を避けた調達体制です。</a:t>
            </a:r>
            <a:endParaRPr lang="en-US" altLang="ja-JP" dirty="0"/>
          </a:p>
        </p:txBody>
      </p:sp>
      <p:graphicFrame>
        <p:nvGraphicFramePr>
          <p:cNvPr id="16" name="Table 15"/>
          <p:cNvGraphicFramePr>
            <a:graphicFrameLocks noGrp="1"/>
          </p:cNvGraphicFramePr>
          <p:nvPr/>
        </p:nvGraphicFramePr>
        <p:xfrm>
          <a:off x="309600" y="1655999"/>
          <a:ext cx="9554400" cy="4211987"/>
        </p:xfrm>
        <a:graphic>
          <a:graphicData uri="http://schemas.openxmlformats.org/drawingml/2006/table">
            <a:tbl>
              <a:tblPr>
                <a:tableStyleId>{5C22544A-7EE6-4342-B048-85BDC9FD1C3A}</a:tableStyleId>
              </a:tblPr>
              <a:tblGrid>
                <a:gridCol w="48024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323999">
                <a:tc>
                  <a:txBody>
                    <a:bodyPr/>
                    <a:lstStyle/>
                    <a:p>
                      <a:pPr algn="ctr"/>
                      <a:r>
                        <a:rPr sz="900" b="1">
                          <a:solidFill>
                            <a:srgbClr val="FFFFFF"/>
                          </a:solidFill>
                          <a:latin typeface="游ゴシック"/>
                          <a:ea typeface="游ゴシック"/>
                        </a:rPr>
                        <a:t>仕入先（相手先名は非開示・内容ベース）</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令6/1期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令7/1期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令8/1期</a:t>
                      </a:r>
                    </a:p>
                  </a:txBody>
                  <a:tcPr marL="36000" marR="36000" marT="7200" marB="7200" anchor="ctr">
                    <a:solidFill>
                      <a:srgbClr val="0B3041"/>
                    </a:solidFill>
                  </a:tcPr>
                </a:tc>
                <a:tc>
                  <a:txBody>
                    <a:bodyPr/>
                    <a:lstStyle/>
                    <a:p>
                      <a:pPr algn="ctr"/>
                      <a:r>
                        <a:rPr sz="900" b="1">
                          <a:solidFill>
                            <a:srgbClr val="FFFFFF"/>
                          </a:solidFill>
                          <a:latin typeface="游ゴシック"/>
                          <a:ea typeface="游ゴシック"/>
                        </a:rPr>
                        <a:t>構成比
(令8)</a:t>
                      </a:r>
                    </a:p>
                  </a:txBody>
                  <a:tcPr marL="36000" marR="36000" marT="7200" marB="7200" anchor="ctr">
                    <a:solidFill>
                      <a:srgbClr val="0B3041"/>
                    </a:solidFill>
                  </a:tcPr>
                </a:tc>
                <a:extLst>
                  <a:ext uri="{0D108BD9-81ED-4DB2-BD59-A6C34878D82A}">
                    <a16:rowId xmlns:a16="http://schemas.microsoft.com/office/drawing/2014/main" val="10000"/>
                  </a:ext>
                </a:extLst>
              </a:tr>
              <a:tr h="323999">
                <a:tc>
                  <a:txBody>
                    <a:bodyPr/>
                    <a:lstStyle/>
                    <a:p>
                      <a:pPr algn="l"/>
                      <a:r>
                        <a:rPr sz="900" b="0">
                          <a:solidFill>
                            <a:srgbClr val="0B3041"/>
                          </a:solidFill>
                          <a:latin typeface="游ゴシック"/>
                          <a:ea typeface="游ゴシック"/>
                        </a:rPr>
                        <a:t>1. 貿易商社（主に中国製グッズ製造依頼）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96,295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172,076</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122,909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41.1%</a:t>
                      </a:r>
                    </a:p>
                  </a:txBody>
                  <a:tcPr marL="36000" marR="36000" marT="7200" marB="7200" anchor="ctr">
                    <a:solidFill>
                      <a:srgbClr val="FFFFFF"/>
                    </a:solidFill>
                  </a:tcPr>
                </a:tc>
                <a:extLst>
                  <a:ext uri="{0D108BD9-81ED-4DB2-BD59-A6C34878D82A}">
                    <a16:rowId xmlns:a16="http://schemas.microsoft.com/office/drawing/2014/main" val="10001"/>
                  </a:ext>
                </a:extLst>
              </a:tr>
              <a:tr h="323999">
                <a:tc>
                  <a:txBody>
                    <a:bodyPr/>
                    <a:lstStyle/>
                    <a:p>
                      <a:pPr algn="l"/>
                      <a:r>
                        <a:rPr sz="900" b="0">
                          <a:solidFill>
                            <a:srgbClr val="0B3041"/>
                          </a:solidFill>
                          <a:latin typeface="游ゴシック"/>
                          <a:ea typeface="游ゴシック"/>
                        </a:rPr>
                        <a:t>2. アパレル商品の日本メーカー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33,756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11.3%</a:t>
                      </a:r>
                    </a:p>
                  </a:txBody>
                  <a:tcPr marL="36000" marR="36000" marT="7200" marB="7200" anchor="ctr">
                    <a:solidFill>
                      <a:srgbClr val="F4F7F9"/>
                    </a:solidFill>
                  </a:tcPr>
                </a:tc>
                <a:extLst>
                  <a:ext uri="{0D108BD9-81ED-4DB2-BD59-A6C34878D82A}">
                    <a16:rowId xmlns:a16="http://schemas.microsoft.com/office/drawing/2014/main" val="10002"/>
                  </a:ext>
                </a:extLst>
              </a:tr>
              <a:tr h="323999">
                <a:tc>
                  <a:txBody>
                    <a:bodyPr/>
                    <a:lstStyle/>
                    <a:p>
                      <a:pPr algn="l"/>
                      <a:r>
                        <a:rPr sz="900" b="0">
                          <a:solidFill>
                            <a:srgbClr val="0B3041"/>
                          </a:solidFill>
                          <a:latin typeface="游ゴシック"/>
                          <a:ea typeface="游ゴシック"/>
                        </a:rPr>
                        <a:t>3. アパレル商品の貿易商社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30,943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10.4%</a:t>
                      </a:r>
                    </a:p>
                  </a:txBody>
                  <a:tcPr marL="36000" marR="36000" marT="7200" marB="7200" anchor="ctr">
                    <a:solidFill>
                      <a:srgbClr val="FFFFFF"/>
                    </a:solidFill>
                  </a:tcPr>
                </a:tc>
                <a:extLst>
                  <a:ext uri="{0D108BD9-81ED-4DB2-BD59-A6C34878D82A}">
                    <a16:rowId xmlns:a16="http://schemas.microsoft.com/office/drawing/2014/main" val="10003"/>
                  </a:ext>
                </a:extLst>
              </a:tr>
              <a:tr h="323999">
                <a:tc>
                  <a:txBody>
                    <a:bodyPr/>
                    <a:lstStyle/>
                    <a:p>
                      <a:pPr algn="l"/>
                      <a:r>
                        <a:rPr sz="900" b="0">
                          <a:solidFill>
                            <a:srgbClr val="0B3041"/>
                          </a:solidFill>
                          <a:latin typeface="游ゴシック"/>
                          <a:ea typeface="游ゴシック"/>
                        </a:rPr>
                        <a:t>4. アクリルの日本メーカー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40,487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24,488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27,083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9.1%</a:t>
                      </a:r>
                    </a:p>
                  </a:txBody>
                  <a:tcPr marL="36000" marR="36000" marT="7200" marB="7200" anchor="ctr">
                    <a:solidFill>
                      <a:srgbClr val="F4F7F9"/>
                    </a:solidFill>
                  </a:tcPr>
                </a:tc>
                <a:extLst>
                  <a:ext uri="{0D108BD9-81ED-4DB2-BD59-A6C34878D82A}">
                    <a16:rowId xmlns:a16="http://schemas.microsoft.com/office/drawing/2014/main" val="10004"/>
                  </a:ext>
                </a:extLst>
              </a:tr>
              <a:tr h="323999">
                <a:tc>
                  <a:txBody>
                    <a:bodyPr/>
                    <a:lstStyle/>
                    <a:p>
                      <a:pPr algn="l"/>
                      <a:r>
                        <a:rPr sz="900" b="0">
                          <a:solidFill>
                            <a:srgbClr val="0B3041"/>
                          </a:solidFill>
                          <a:latin typeface="游ゴシック"/>
                          <a:ea typeface="游ゴシック"/>
                        </a:rPr>
                        <a:t>5. アクリル・缶バッジ・紙類の日本メーカー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11,237</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19,690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24,774</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8.3%</a:t>
                      </a:r>
                    </a:p>
                  </a:txBody>
                  <a:tcPr marL="36000" marR="36000" marT="7200" marB="7200" anchor="ctr">
                    <a:solidFill>
                      <a:srgbClr val="FFFFFF"/>
                    </a:solidFill>
                  </a:tcPr>
                </a:tc>
                <a:extLst>
                  <a:ext uri="{0D108BD9-81ED-4DB2-BD59-A6C34878D82A}">
                    <a16:rowId xmlns:a16="http://schemas.microsoft.com/office/drawing/2014/main" val="10005"/>
                  </a:ext>
                </a:extLst>
              </a:tr>
              <a:tr h="323999">
                <a:tc>
                  <a:txBody>
                    <a:bodyPr/>
                    <a:lstStyle/>
                    <a:p>
                      <a:pPr algn="l"/>
                      <a:r>
                        <a:rPr sz="900" b="0">
                          <a:solidFill>
                            <a:srgbClr val="0B3041"/>
                          </a:solidFill>
                          <a:latin typeface="游ゴシック"/>
                          <a:ea typeface="游ゴシック"/>
                        </a:rPr>
                        <a:t>6. 成形品・ぬいぐるみの中国メーカー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17,563</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10,980</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3.7%</a:t>
                      </a:r>
                    </a:p>
                  </a:txBody>
                  <a:tcPr marL="36000" marR="36000" marT="7200" marB="7200" anchor="ctr">
                    <a:solidFill>
                      <a:srgbClr val="F4F7F9"/>
                    </a:solidFill>
                  </a:tcPr>
                </a:tc>
                <a:extLst>
                  <a:ext uri="{0D108BD9-81ED-4DB2-BD59-A6C34878D82A}">
                    <a16:rowId xmlns:a16="http://schemas.microsoft.com/office/drawing/2014/main" val="10006"/>
                  </a:ext>
                </a:extLst>
              </a:tr>
              <a:tr h="323999">
                <a:tc>
                  <a:txBody>
                    <a:bodyPr/>
                    <a:lstStyle/>
                    <a:p>
                      <a:pPr algn="l"/>
                      <a:r>
                        <a:rPr sz="900" b="0">
                          <a:solidFill>
                            <a:srgbClr val="0B3041"/>
                          </a:solidFill>
                          <a:latin typeface="游ゴシック"/>
                          <a:ea typeface="游ゴシック"/>
                        </a:rPr>
                        <a:t>7. 缶バッジ特殊加工の日本メーカー</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7,583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a:t>
                      </a:r>
                    </a:p>
                  </a:txBody>
                  <a:tcPr marL="36000" marR="36000" marT="7200" marB="7200" anchor="ctr">
                    <a:solidFill>
                      <a:srgbClr val="FFFFFF"/>
                    </a:solidFill>
                  </a:tcPr>
                </a:tc>
                <a:extLst>
                  <a:ext uri="{0D108BD9-81ED-4DB2-BD59-A6C34878D82A}">
                    <a16:rowId xmlns:a16="http://schemas.microsoft.com/office/drawing/2014/main" val="10007"/>
                  </a:ext>
                </a:extLst>
              </a:tr>
              <a:tr h="323999">
                <a:tc>
                  <a:txBody>
                    <a:bodyPr/>
                    <a:lstStyle/>
                    <a:p>
                      <a:pPr algn="l"/>
                      <a:r>
                        <a:rPr sz="900" b="0">
                          <a:solidFill>
                            <a:srgbClr val="0B3041"/>
                          </a:solidFill>
                          <a:latin typeface="游ゴシック"/>
                          <a:ea typeface="游ゴシック"/>
                        </a:rPr>
                        <a:t>8. デジタル機能付きグッズの日本メーカー</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5,271</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1.8%</a:t>
                      </a:r>
                    </a:p>
                  </a:txBody>
                  <a:tcPr marL="36000" marR="36000" marT="7200" marB="7200" anchor="ctr">
                    <a:solidFill>
                      <a:srgbClr val="F4F7F9"/>
                    </a:solidFill>
                  </a:tcPr>
                </a:tc>
                <a:extLst>
                  <a:ext uri="{0D108BD9-81ED-4DB2-BD59-A6C34878D82A}">
                    <a16:rowId xmlns:a16="http://schemas.microsoft.com/office/drawing/2014/main" val="10008"/>
                  </a:ext>
                </a:extLst>
              </a:tr>
              <a:tr h="323999">
                <a:tc>
                  <a:txBody>
                    <a:bodyPr/>
                    <a:lstStyle/>
                    <a:p>
                      <a:pPr algn="l"/>
                      <a:r>
                        <a:rPr sz="900" b="0">
                          <a:solidFill>
                            <a:srgbClr val="0B3041"/>
                          </a:solidFill>
                          <a:latin typeface="游ゴシック"/>
                          <a:ea typeface="游ゴシック"/>
                        </a:rPr>
                        <a:t>9. 紙類の日本商社</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679</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2,690</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5,225</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1.7%</a:t>
                      </a:r>
                    </a:p>
                  </a:txBody>
                  <a:tcPr marL="36000" marR="36000" marT="7200" marB="7200" anchor="ctr">
                    <a:solidFill>
                      <a:srgbClr val="FFFFFF"/>
                    </a:solidFill>
                  </a:tcPr>
                </a:tc>
                <a:extLst>
                  <a:ext uri="{0D108BD9-81ED-4DB2-BD59-A6C34878D82A}">
                    <a16:rowId xmlns:a16="http://schemas.microsoft.com/office/drawing/2014/main" val="10009"/>
                  </a:ext>
                </a:extLst>
              </a:tr>
              <a:tr h="323999">
                <a:tc>
                  <a:txBody>
                    <a:bodyPr/>
                    <a:lstStyle/>
                    <a:p>
                      <a:pPr algn="l"/>
                      <a:r>
                        <a:rPr sz="900" b="0">
                          <a:solidFill>
                            <a:srgbClr val="0B3041"/>
                          </a:solidFill>
                          <a:latin typeface="游ゴシック"/>
                          <a:ea typeface="游ゴシック"/>
                        </a:rPr>
                        <a:t>10. ロイヤリティー支払先</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14,348</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23,586</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4,907</a:t>
                      </a:r>
                    </a:p>
                  </a:txBody>
                  <a:tcPr marL="36000" marR="36000" marT="7200" marB="7200" anchor="ctr">
                    <a:solidFill>
                      <a:srgbClr val="F4F7F9"/>
                    </a:solidFill>
                  </a:tcPr>
                </a:tc>
                <a:tc>
                  <a:txBody>
                    <a:bodyPr/>
                    <a:lstStyle/>
                    <a:p>
                      <a:pPr algn="r"/>
                      <a:r>
                        <a:rPr sz="900" b="0">
                          <a:solidFill>
                            <a:srgbClr val="0B3041"/>
                          </a:solidFill>
                          <a:latin typeface="游ゴシック"/>
                          <a:ea typeface="游ゴシック"/>
                        </a:rPr>
                        <a:t>1.6%</a:t>
                      </a:r>
                    </a:p>
                  </a:txBody>
                  <a:tcPr marL="36000" marR="36000" marT="7200" marB="7200" anchor="ctr">
                    <a:solidFill>
                      <a:srgbClr val="F4F7F9"/>
                    </a:solidFill>
                  </a:tcPr>
                </a:tc>
                <a:extLst>
                  <a:ext uri="{0D108BD9-81ED-4DB2-BD59-A6C34878D82A}">
                    <a16:rowId xmlns:a16="http://schemas.microsoft.com/office/drawing/2014/main" val="10010"/>
                  </a:ext>
                </a:extLst>
              </a:tr>
              <a:tr h="323999">
                <a:tc>
                  <a:txBody>
                    <a:bodyPr/>
                    <a:lstStyle/>
                    <a:p>
                      <a:pPr algn="l"/>
                      <a:r>
                        <a:rPr sz="900" b="0">
                          <a:solidFill>
                            <a:srgbClr val="0B3041"/>
                          </a:solidFill>
                          <a:latin typeface="游ゴシック"/>
                          <a:ea typeface="游ゴシック"/>
                        </a:rPr>
                        <a:t>その他(上位10項目以外)</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42,258</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55,421</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25,273</a:t>
                      </a:r>
                    </a:p>
                  </a:txBody>
                  <a:tcPr marL="36000" marR="36000" marT="7200" marB="7200" anchor="ctr">
                    <a:solidFill>
                      <a:srgbClr val="FFFFFF"/>
                    </a:solidFill>
                  </a:tcPr>
                </a:tc>
                <a:tc>
                  <a:txBody>
                    <a:bodyPr/>
                    <a:lstStyle/>
                    <a:p>
                      <a:pPr algn="r"/>
                      <a:r>
                        <a:rPr sz="900" b="0">
                          <a:solidFill>
                            <a:srgbClr val="0B3041"/>
                          </a:solidFill>
                          <a:latin typeface="游ゴシック"/>
                          <a:ea typeface="游ゴシック"/>
                        </a:rPr>
                        <a:t>8.5%</a:t>
                      </a:r>
                    </a:p>
                  </a:txBody>
                  <a:tcPr marL="36000" marR="36000" marT="7200" marB="7200" anchor="ctr">
                    <a:solidFill>
                      <a:srgbClr val="FFFFFF"/>
                    </a:solidFill>
                  </a:tcPr>
                </a:tc>
                <a:extLst>
                  <a:ext uri="{0D108BD9-81ED-4DB2-BD59-A6C34878D82A}">
                    <a16:rowId xmlns:a16="http://schemas.microsoft.com/office/drawing/2014/main" val="10011"/>
                  </a:ext>
                </a:extLst>
              </a:tr>
              <a:tr h="323999">
                <a:tc>
                  <a:txBody>
                    <a:bodyPr/>
                    <a:lstStyle/>
                    <a:p>
                      <a:pPr algn="l"/>
                      <a:r>
                        <a:rPr sz="9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205,303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315,513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298,703</a:t>
                      </a:r>
                    </a:p>
                  </a:txBody>
                  <a:tcPr marL="36000" marR="36000" marT="7200" marB="7200" anchor="ctr">
                    <a:solidFill>
                      <a:srgbClr val="E3E7E9"/>
                    </a:solidFill>
                  </a:tcPr>
                </a:tc>
                <a:tc>
                  <a:txBody>
                    <a:bodyPr/>
                    <a:lstStyle/>
                    <a:p>
                      <a:pPr algn="r"/>
                      <a:r>
                        <a:rPr sz="900" b="1">
                          <a:solidFill>
                            <a:srgbClr val="0B3041"/>
                          </a:solidFill>
                          <a:latin typeface="游ゴシック"/>
                          <a:ea typeface="游ゴシック"/>
                        </a:rPr>
                        <a:t>100.0%</a:t>
                      </a:r>
                    </a:p>
                  </a:txBody>
                  <a:tcPr marL="36000" marR="36000" marT="7200" marB="7200" anchor="ctr">
                    <a:solidFill>
                      <a:srgbClr val="E3E7E9"/>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62968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製造委託・外部委託関連費用</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mj-ea"/>
                <a:ea typeface="+mj-ea"/>
              </a:rPr>
              <a:t>自社で在庫・設備を大きく持たないファブレス型のため、原価の大半は外部への製造委託費・仕入で構成されます。大ロット案件は主に中国、小ロット・特殊加工は国内専門メーカーへ委託しています。</a:t>
            </a:r>
            <a:endParaRPr lang="en-US" altLang="ja-JP" dirty="0"/>
          </a:p>
        </p:txBody>
      </p:sp>
      <p:graphicFrame>
        <p:nvGraphicFramePr>
          <p:cNvPr id="14" name="Table 13"/>
          <p:cNvGraphicFramePr>
            <a:graphicFrameLocks noGrp="1"/>
          </p:cNvGraphicFramePr>
          <p:nvPr/>
        </p:nvGraphicFramePr>
        <p:xfrm>
          <a:off x="309600" y="1655999"/>
          <a:ext cx="6120000" cy="2170626"/>
        </p:xfrm>
        <a:graphic>
          <a:graphicData uri="http://schemas.openxmlformats.org/drawingml/2006/table">
            <a:tbl>
              <a:tblPr>
                <a:tableStyleId>{5C22544A-7EE6-4342-B048-85BDC9FD1C3A}</a:tableStyleId>
              </a:tblPr>
              <a:tblGrid>
                <a:gridCol w="2808000">
                  <a:extLst>
                    <a:ext uri="{9D8B030D-6E8A-4147-A177-3AD203B41FA5}">
                      <a16:colId xmlns:a16="http://schemas.microsoft.com/office/drawing/2014/main" val="20000"/>
                    </a:ext>
                  </a:extLst>
                </a:gridCol>
                <a:gridCol w="1105200">
                  <a:extLst>
                    <a:ext uri="{9D8B030D-6E8A-4147-A177-3AD203B41FA5}">
                      <a16:colId xmlns:a16="http://schemas.microsoft.com/office/drawing/2014/main" val="20001"/>
                    </a:ext>
                  </a:extLst>
                </a:gridCol>
                <a:gridCol w="1105200">
                  <a:extLst>
                    <a:ext uri="{9D8B030D-6E8A-4147-A177-3AD203B41FA5}">
                      <a16:colId xmlns:a16="http://schemas.microsoft.com/office/drawing/2014/main" val="20002"/>
                    </a:ext>
                  </a:extLst>
                </a:gridCol>
                <a:gridCol w="1101600">
                  <a:extLst>
                    <a:ext uri="{9D8B030D-6E8A-4147-A177-3AD203B41FA5}">
                      <a16:colId xmlns:a16="http://schemas.microsoft.com/office/drawing/2014/main" val="20003"/>
                    </a:ext>
                  </a:extLst>
                </a:gridCol>
              </a:tblGrid>
              <a:tr h="308571">
                <a:tc>
                  <a:txBody>
                    <a:bodyPr/>
                    <a:lstStyle/>
                    <a:p>
                      <a:pPr algn="ctr"/>
                      <a:r>
                        <a:rPr sz="10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令和6年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令和7年
1月期</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令和8年
1月期</a:t>
                      </a:r>
                    </a:p>
                  </a:txBody>
                  <a:tcPr marL="36000" marR="36000" marT="7200" marB="7200" anchor="ctr">
                    <a:solidFill>
                      <a:srgbClr val="0B3041"/>
                    </a:solidFill>
                  </a:tcPr>
                </a:tc>
                <a:extLst>
                  <a:ext uri="{0D108BD9-81ED-4DB2-BD59-A6C34878D82A}">
                    <a16:rowId xmlns:a16="http://schemas.microsoft.com/office/drawing/2014/main" val="10000"/>
                  </a:ext>
                </a:extLst>
              </a:tr>
              <a:tr h="308571">
                <a:tc>
                  <a:txBody>
                    <a:bodyPr/>
                    <a:lstStyle/>
                    <a:p>
                      <a:pPr algn="l"/>
                      <a:r>
                        <a:rPr sz="1000" b="0">
                          <a:solidFill>
                            <a:srgbClr val="0B3041"/>
                          </a:solidFill>
                          <a:latin typeface="游ゴシック"/>
                          <a:ea typeface="游ゴシック"/>
                        </a:rPr>
                        <a:t>当期商品仕入高（製造委託分）</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172,657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237,258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225,575</a:t>
                      </a:r>
                    </a:p>
                  </a:txBody>
                  <a:tcPr marL="36000" marR="36000" marT="7200" marB="7200" anchor="ctr">
                    <a:solidFill>
                      <a:srgbClr val="FFFFFF"/>
                    </a:solidFill>
                  </a:tcPr>
                </a:tc>
                <a:extLst>
                  <a:ext uri="{0D108BD9-81ED-4DB2-BD59-A6C34878D82A}">
                    <a16:rowId xmlns:a16="http://schemas.microsoft.com/office/drawing/2014/main" val="10001"/>
                  </a:ext>
                </a:extLst>
              </a:tr>
              <a:tr h="308571">
                <a:tc>
                  <a:txBody>
                    <a:bodyPr/>
                    <a:lstStyle/>
                    <a:p>
                      <a:pPr algn="l"/>
                      <a:r>
                        <a:rPr sz="1000" b="0">
                          <a:solidFill>
                            <a:srgbClr val="0B3041"/>
                          </a:solidFill>
                          <a:latin typeface="游ゴシック"/>
                          <a:ea typeface="游ゴシック"/>
                        </a:rPr>
                        <a:t>（製）支払手数料</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26,574</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50,723</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21,094</a:t>
                      </a:r>
                    </a:p>
                  </a:txBody>
                  <a:tcPr marL="36000" marR="36000" marT="7200" marB="7200" anchor="ctr">
                    <a:solidFill>
                      <a:srgbClr val="F4F7F9"/>
                    </a:solidFill>
                  </a:tcPr>
                </a:tc>
                <a:extLst>
                  <a:ext uri="{0D108BD9-81ED-4DB2-BD59-A6C34878D82A}">
                    <a16:rowId xmlns:a16="http://schemas.microsoft.com/office/drawing/2014/main" val="10002"/>
                  </a:ext>
                </a:extLst>
              </a:tr>
              <a:tr h="308571">
                <a:tc>
                  <a:txBody>
                    <a:bodyPr/>
                    <a:lstStyle/>
                    <a:p>
                      <a:pPr algn="l"/>
                      <a:r>
                        <a:rPr sz="1000" b="0">
                          <a:solidFill>
                            <a:srgbClr val="0B3041"/>
                          </a:solidFill>
                          <a:latin typeface="游ゴシック"/>
                          <a:ea typeface="游ゴシック"/>
                        </a:rPr>
                        <a:t>（製）外注費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8,299</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9,972</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5,262</a:t>
                      </a:r>
                    </a:p>
                  </a:txBody>
                  <a:tcPr marL="36000" marR="36000" marT="7200" marB="7200" anchor="ctr">
                    <a:solidFill>
                      <a:srgbClr val="FFFFFF"/>
                    </a:solidFill>
                  </a:tcPr>
                </a:tc>
                <a:extLst>
                  <a:ext uri="{0D108BD9-81ED-4DB2-BD59-A6C34878D82A}">
                    <a16:rowId xmlns:a16="http://schemas.microsoft.com/office/drawing/2014/main" val="10003"/>
                  </a:ext>
                </a:extLst>
              </a:tr>
              <a:tr h="308571">
                <a:tc>
                  <a:txBody>
                    <a:bodyPr/>
                    <a:lstStyle/>
                    <a:p>
                      <a:pPr algn="l"/>
                      <a:r>
                        <a:rPr sz="1000" b="0">
                          <a:solidFill>
                            <a:srgbClr val="0B3041"/>
                          </a:solidFill>
                          <a:latin typeface="游ゴシック"/>
                          <a:ea typeface="游ゴシック"/>
                        </a:rPr>
                        <a:t>試作費</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4,488</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13,797</a:t>
                      </a:r>
                    </a:p>
                  </a:txBody>
                  <a:tcPr marL="36000" marR="36000" marT="7200" marB="7200" anchor="ctr">
                    <a:solidFill>
                      <a:srgbClr val="F4F7F9"/>
                    </a:solidFill>
                  </a:tcPr>
                </a:tc>
                <a:tc>
                  <a:txBody>
                    <a:bodyPr/>
                    <a:lstStyle/>
                    <a:p>
                      <a:pPr algn="r"/>
                      <a:r>
                        <a:rPr sz="1000" b="0">
                          <a:solidFill>
                            <a:srgbClr val="0B3041"/>
                          </a:solidFill>
                          <a:latin typeface="游ゴシック"/>
                          <a:ea typeface="游ゴシック"/>
                        </a:rPr>
                        <a:t>3,637</a:t>
                      </a:r>
                    </a:p>
                  </a:txBody>
                  <a:tcPr marL="36000" marR="36000" marT="7200" marB="7200" anchor="ctr">
                    <a:solidFill>
                      <a:srgbClr val="F4F7F9"/>
                    </a:solidFill>
                  </a:tcPr>
                </a:tc>
                <a:extLst>
                  <a:ext uri="{0D108BD9-81ED-4DB2-BD59-A6C34878D82A}">
                    <a16:rowId xmlns:a16="http://schemas.microsoft.com/office/drawing/2014/main" val="10004"/>
                  </a:ext>
                </a:extLst>
              </a:tr>
              <a:tr h="308571">
                <a:tc>
                  <a:txBody>
                    <a:bodyPr/>
                    <a:lstStyle/>
                    <a:p>
                      <a:pPr algn="l"/>
                      <a:r>
                        <a:rPr sz="1000" b="0">
                          <a:solidFill>
                            <a:srgbClr val="0B3041"/>
                          </a:solidFill>
                          <a:latin typeface="游ゴシック"/>
                          <a:ea typeface="游ゴシック"/>
                        </a:rPr>
                        <a:t>（製）サンプル費</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6,307</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2,328</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2,831</a:t>
                      </a:r>
                    </a:p>
                  </a:txBody>
                  <a:tcPr marL="36000" marR="36000" marT="7200" marB="7200" anchor="ctr">
                    <a:solidFill>
                      <a:srgbClr val="FFFFFF"/>
                    </a:solidFill>
                  </a:tcPr>
                </a:tc>
                <a:extLst>
                  <a:ext uri="{0D108BD9-81ED-4DB2-BD59-A6C34878D82A}">
                    <a16:rowId xmlns:a16="http://schemas.microsoft.com/office/drawing/2014/main" val="10005"/>
                  </a:ext>
                </a:extLst>
              </a:tr>
              <a:tr h="308571">
                <a:tc>
                  <a:txBody>
                    <a:bodyPr/>
                    <a:lstStyle/>
                    <a:p>
                      <a:pPr algn="l"/>
                      <a:r>
                        <a:rPr sz="1000" b="1">
                          <a:solidFill>
                            <a:srgbClr val="0B3041"/>
                          </a:solidFill>
                          <a:latin typeface="游ゴシック"/>
                          <a:ea typeface="游ゴシック"/>
                        </a:rPr>
                        <a:t>合計</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218,325</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314,078</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258,400</a:t>
                      </a:r>
                    </a:p>
                  </a:txBody>
                  <a:tcPr marL="36000" marR="36000" marT="7200" marB="7200" anchor="ctr">
                    <a:solidFill>
                      <a:srgbClr val="E3E7E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32585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野口代表のもと</a:t>
            </a:r>
            <a:r>
              <a:rPr dirty="0">
                <a:latin typeface="游ゴシック" panose="020B0400000000000000" pitchFamily="50" charset="-128"/>
                <a:ea typeface="游ゴシック" panose="020B0400000000000000" pitchFamily="50" charset="-128"/>
              </a:rPr>
              <a:t>、制作部5名・営業部2名の少数精鋭体制。制作部長を中核に長期勤続者が実務を支えてい</a:t>
            </a:r>
            <a:r>
              <a:rPr lang="ja-JP" altLang="en-US" dirty="0">
                <a:latin typeface="游ゴシック" panose="020B0400000000000000" pitchFamily="50" charset="-128"/>
                <a:ea typeface="游ゴシック" panose="020B0400000000000000" pitchFamily="50" charset="-128"/>
              </a:rPr>
              <a:t>る</a:t>
            </a:r>
            <a:r>
              <a:rPr dirty="0">
                <a:latin typeface="游ゴシック" panose="020B0400000000000000" pitchFamily="50" charset="-128"/>
                <a:ea typeface="游ゴシック" panose="020B0400000000000000" pitchFamily="50" charset="-128"/>
              </a:rPr>
              <a:t>。</a:t>
            </a:r>
            <a:endParaRPr 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両部門とも自社企画（</a:t>
            </a:r>
            <a:r>
              <a:rPr lang="en-US" altLang="ja-JP" dirty="0">
                <a:latin typeface="游ゴシック" panose="020B0400000000000000" pitchFamily="50" charset="-128"/>
                <a:ea typeface="游ゴシック" panose="020B0400000000000000" pitchFamily="50" charset="-128"/>
              </a:rPr>
              <a:t>MD</a:t>
            </a:r>
            <a:r>
              <a:rPr lang="ja-JP" altLang="en-US" dirty="0">
                <a:latin typeface="游ゴシック" panose="020B0400000000000000" pitchFamily="50" charset="-128"/>
                <a:ea typeface="游ゴシック" panose="020B0400000000000000" pitchFamily="50" charset="-128"/>
              </a:rPr>
              <a:t>商品）と</a:t>
            </a:r>
            <a:r>
              <a:rPr lang="en-US" altLang="ja-JP" dirty="0">
                <a:latin typeface="游ゴシック" panose="020B0400000000000000" pitchFamily="50" charset="-128"/>
                <a:ea typeface="游ゴシック" panose="020B0400000000000000" pitchFamily="50" charset="-128"/>
              </a:rPr>
              <a:t>OEM</a:t>
            </a:r>
            <a:r>
              <a:rPr lang="ja-JP" altLang="en-US" dirty="0">
                <a:latin typeface="游ゴシック" panose="020B0400000000000000" pitchFamily="50" charset="-128"/>
                <a:ea typeface="游ゴシック" panose="020B0400000000000000" pitchFamily="50" charset="-128"/>
              </a:rPr>
              <a:t>受託の</a:t>
            </a:r>
            <a:r>
              <a:rPr lang="en-US" altLang="ja-JP" dirty="0">
                <a:latin typeface="游ゴシック" panose="020B0400000000000000" pitchFamily="50" charset="-128"/>
                <a:ea typeface="游ゴシック" panose="020B0400000000000000" pitchFamily="50" charset="-128"/>
              </a:rPr>
              <a:t>2</a:t>
            </a:r>
            <a:r>
              <a:rPr lang="ja-JP" altLang="en-US" dirty="0">
                <a:latin typeface="游ゴシック" panose="020B0400000000000000" pitchFamily="50" charset="-128"/>
                <a:ea typeface="游ゴシック" panose="020B0400000000000000" pitchFamily="50" charset="-128"/>
              </a:rPr>
              <a:t>ラインで運営を行う。</a:t>
            </a:r>
            <a:endParaRPr lang="en-US" altLang="ja-JP" dirty="0">
              <a:latin typeface="游ゴシック" panose="020B0400000000000000" pitchFamily="50" charset="-128"/>
              <a:ea typeface="游ゴシック" panose="020B0400000000000000" pitchFamily="50" charset="-128"/>
            </a:endParaRPr>
          </a:p>
        </p:txBody>
      </p:sp>
      <p:sp>
        <p:nvSpPr>
          <p:cNvPr id="87" name="Rounded Rectangle 86"/>
          <p:cNvSpPr/>
          <p:nvPr/>
        </p:nvSpPr>
        <p:spPr>
          <a:xfrm>
            <a:off x="4446000" y="2694824"/>
            <a:ext cx="1800000" cy="503999"/>
          </a:xfrm>
          <a:prstGeom prst="roundRect">
            <a:avLst/>
          </a:prstGeom>
          <a:solidFill>
            <a:srgbClr val="006AB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200" b="1" dirty="0" err="1">
                <a:solidFill>
                  <a:srgbClr val="FFFFFF"/>
                </a:solidFill>
                <a:latin typeface="游ゴシック" panose="020B0400000000000000" pitchFamily="50" charset="-128"/>
                <a:ea typeface="游ゴシック" panose="020B0400000000000000" pitchFamily="50" charset="-128"/>
              </a:rPr>
              <a:t>代表取締役</a:t>
            </a:r>
            <a:endParaRPr sz="1200" b="1" dirty="0">
              <a:solidFill>
                <a:srgbClr val="FFFFFF"/>
              </a:solidFill>
              <a:latin typeface="游ゴシック" panose="020B0400000000000000" pitchFamily="50" charset="-128"/>
              <a:ea typeface="游ゴシック" panose="020B0400000000000000" pitchFamily="50" charset="-128"/>
            </a:endParaRPr>
          </a:p>
          <a:p>
            <a:pPr algn="ctr"/>
            <a:r>
              <a:rPr sz="1200" b="1" dirty="0" err="1">
                <a:solidFill>
                  <a:srgbClr val="FFFFFF"/>
                </a:solidFill>
                <a:latin typeface="游ゴシック" panose="020B0400000000000000" pitchFamily="50" charset="-128"/>
                <a:ea typeface="游ゴシック" panose="020B0400000000000000" pitchFamily="50" charset="-128"/>
              </a:rPr>
              <a:t>野口</a:t>
            </a:r>
            <a:r>
              <a:rPr sz="1200" b="1" dirty="0">
                <a:solidFill>
                  <a:srgbClr val="FFFFFF"/>
                </a:solidFill>
                <a:latin typeface="游ゴシック" panose="020B0400000000000000" pitchFamily="50" charset="-128"/>
                <a:ea typeface="游ゴシック" panose="020B0400000000000000" pitchFamily="50" charset="-128"/>
              </a:rPr>
              <a:t> 紘</a:t>
            </a:r>
          </a:p>
        </p:txBody>
      </p:sp>
      <p:cxnSp>
        <p:nvCxnSpPr>
          <p:cNvPr id="90" name="Connector 89"/>
          <p:cNvCxnSpPr/>
          <p:nvPr/>
        </p:nvCxnSpPr>
        <p:spPr>
          <a:xfrm>
            <a:off x="5346000" y="2154825"/>
            <a:ext cx="0" cy="53999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2" name="org205">
            <a:extLst>
              <a:ext uri="{FF2B5EF4-FFF2-40B4-BE49-F238E27FC236}">
                <a16:creationId xmlns:a16="http://schemas.microsoft.com/office/drawing/2014/main" id="{D95D78A3-2908-8F7A-FB4B-5970D3761CBE}"/>
              </a:ext>
            </a:extLst>
          </p:cNvPr>
          <p:cNvCxnSpPr/>
          <p:nvPr/>
        </p:nvCxnSpPr>
        <p:spPr>
          <a:xfrm>
            <a:off x="3380125" y="3572182"/>
            <a:ext cx="4023359"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 name="org206">
            <a:extLst>
              <a:ext uri="{FF2B5EF4-FFF2-40B4-BE49-F238E27FC236}">
                <a16:creationId xmlns:a16="http://schemas.microsoft.com/office/drawing/2014/main" id="{B46255EA-48DD-7D39-CADE-28383977B8D8}"/>
              </a:ext>
            </a:extLst>
          </p:cNvPr>
          <p:cNvCxnSpPr/>
          <p:nvPr/>
        </p:nvCxnSpPr>
        <p:spPr>
          <a:xfrm>
            <a:off x="338012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 name="org207">
            <a:extLst>
              <a:ext uri="{FF2B5EF4-FFF2-40B4-BE49-F238E27FC236}">
                <a16:creationId xmlns:a16="http://schemas.microsoft.com/office/drawing/2014/main" id="{48F4A080-C498-F463-9767-A0B456EE831C}"/>
              </a:ext>
            </a:extLst>
          </p:cNvPr>
          <p:cNvCxnSpPr/>
          <p:nvPr/>
        </p:nvCxnSpPr>
        <p:spPr>
          <a:xfrm>
            <a:off x="7403485" y="3572182"/>
            <a:ext cx="0" cy="27432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6" name="org208">
            <a:extLst>
              <a:ext uri="{FF2B5EF4-FFF2-40B4-BE49-F238E27FC236}">
                <a16:creationId xmlns:a16="http://schemas.microsoft.com/office/drawing/2014/main" id="{B0FC6158-B217-A773-BB45-9C7E481A4393}"/>
              </a:ext>
            </a:extLst>
          </p:cNvPr>
          <p:cNvSpPr/>
          <p:nvPr/>
        </p:nvSpPr>
        <p:spPr>
          <a:xfrm>
            <a:off x="2099965"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0B3041"/>
                </a:solidFill>
                <a:latin typeface="游ゴシック" panose="020B0400000000000000" pitchFamily="50" charset="-128"/>
                <a:ea typeface="游ゴシック" panose="020B0400000000000000" pitchFamily="50" charset="-128"/>
              </a:rPr>
              <a:t>営業部</a:t>
            </a:r>
            <a:endParaRPr sz="1100" b="1" dirty="0">
              <a:solidFill>
                <a:srgbClr val="0B3041"/>
              </a:solidFill>
              <a:latin typeface="游ゴシック" panose="020B0400000000000000" pitchFamily="50" charset="-128"/>
              <a:ea typeface="游ゴシック" panose="020B0400000000000000" pitchFamily="50" charset="-128"/>
            </a:endParaRPr>
          </a:p>
          <a:p>
            <a:pPr algn="ctr"/>
            <a:r>
              <a:rPr sz="1100" b="1" dirty="0">
                <a:solidFill>
                  <a:srgbClr val="0B3041"/>
                </a:solidFill>
                <a:latin typeface="游ゴシック" panose="020B0400000000000000" pitchFamily="50" charset="-128"/>
                <a:ea typeface="游ゴシック" panose="020B0400000000000000" pitchFamily="50" charset="-128"/>
              </a:rPr>
              <a:t>（</a:t>
            </a:r>
            <a:r>
              <a:rPr sz="1100" b="1" dirty="0" err="1">
                <a:solidFill>
                  <a:srgbClr val="0B3041"/>
                </a:solidFill>
                <a:latin typeface="游ゴシック" panose="020B0400000000000000" pitchFamily="50" charset="-128"/>
                <a:ea typeface="游ゴシック" panose="020B0400000000000000" pitchFamily="50" charset="-128"/>
              </a:rPr>
              <a:t>営業全般・商品企画</a:t>
            </a:r>
            <a:r>
              <a:rPr sz="1100" b="1" dirty="0">
                <a:solidFill>
                  <a:srgbClr val="0B3041"/>
                </a:solidFill>
                <a:latin typeface="游ゴシック" panose="020B0400000000000000" pitchFamily="50" charset="-128"/>
                <a:ea typeface="游ゴシック" panose="020B0400000000000000" pitchFamily="50" charset="-128"/>
              </a:rPr>
              <a:t>）</a:t>
            </a:r>
          </a:p>
        </p:txBody>
      </p:sp>
      <p:sp>
        <p:nvSpPr>
          <p:cNvPr id="7" name="org209">
            <a:extLst>
              <a:ext uri="{FF2B5EF4-FFF2-40B4-BE49-F238E27FC236}">
                <a16:creationId xmlns:a16="http://schemas.microsoft.com/office/drawing/2014/main" id="{7B1D8BEE-D1C3-531B-EE39-F7A1709A77D9}"/>
              </a:ext>
            </a:extLst>
          </p:cNvPr>
          <p:cNvSpPr/>
          <p:nvPr/>
        </p:nvSpPr>
        <p:spPr>
          <a:xfrm>
            <a:off x="6123324" y="3846502"/>
            <a:ext cx="2560320" cy="56692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a:solidFill>
                  <a:srgbClr val="0B3041"/>
                </a:solidFill>
                <a:latin typeface="游ゴシック" panose="020B0400000000000000" pitchFamily="50" charset="-128"/>
                <a:ea typeface="游ゴシック" panose="020B0400000000000000" pitchFamily="50" charset="-128"/>
              </a:rPr>
              <a:t>制作部</a:t>
            </a:r>
          </a:p>
          <a:p>
            <a:pPr algn="ctr"/>
            <a:r>
              <a:rPr sz="1100" b="1">
                <a:solidFill>
                  <a:srgbClr val="0B3041"/>
                </a:solidFill>
                <a:latin typeface="游ゴシック" panose="020B0400000000000000" pitchFamily="50" charset="-128"/>
                <a:ea typeface="游ゴシック" panose="020B0400000000000000" pitchFamily="50" charset="-128"/>
              </a:rPr>
              <a:t>（デザイン・生産管理）</a:t>
            </a:r>
          </a:p>
        </p:txBody>
      </p:sp>
      <p:cxnSp>
        <p:nvCxnSpPr>
          <p:cNvPr id="8" name="org210">
            <a:extLst>
              <a:ext uri="{FF2B5EF4-FFF2-40B4-BE49-F238E27FC236}">
                <a16:creationId xmlns:a16="http://schemas.microsoft.com/office/drawing/2014/main" id="{E64DC6DD-C348-7DE8-479D-2A137E6D7789}"/>
              </a:ext>
            </a:extLst>
          </p:cNvPr>
          <p:cNvCxnSpPr/>
          <p:nvPr/>
        </p:nvCxnSpPr>
        <p:spPr>
          <a:xfrm>
            <a:off x="7403485" y="4413429"/>
            <a:ext cx="0" cy="256032"/>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9" name="org211">
            <a:extLst>
              <a:ext uri="{FF2B5EF4-FFF2-40B4-BE49-F238E27FC236}">
                <a16:creationId xmlns:a16="http://schemas.microsoft.com/office/drawing/2014/main" id="{7498B1E8-C8A8-557B-2C8F-FF1B900C5A8A}"/>
              </a:ext>
            </a:extLst>
          </p:cNvPr>
          <p:cNvSpPr/>
          <p:nvPr/>
        </p:nvSpPr>
        <p:spPr>
          <a:xfrm>
            <a:off x="6534805" y="4594177"/>
            <a:ext cx="1737360" cy="384048"/>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部長（No.1）　統括</a:t>
            </a:r>
          </a:p>
        </p:txBody>
      </p:sp>
      <p:cxnSp>
        <p:nvCxnSpPr>
          <p:cNvPr id="10" name="org212">
            <a:extLst>
              <a:ext uri="{FF2B5EF4-FFF2-40B4-BE49-F238E27FC236}">
                <a16:creationId xmlns:a16="http://schemas.microsoft.com/office/drawing/2014/main" id="{18CBA30A-C866-52BC-97B4-0BEA57A730C9}"/>
              </a:ext>
            </a:extLst>
          </p:cNvPr>
          <p:cNvCxnSpPr>
            <a:cxnSpLocks/>
            <a:stCxn id="9" idx="2"/>
          </p:cNvCxnSpPr>
          <p:nvPr/>
        </p:nvCxnSpPr>
        <p:spPr>
          <a:xfrm>
            <a:off x="7403485" y="4978225"/>
            <a:ext cx="0" cy="185013"/>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1" name="org213">
            <a:extLst>
              <a:ext uri="{FF2B5EF4-FFF2-40B4-BE49-F238E27FC236}">
                <a16:creationId xmlns:a16="http://schemas.microsoft.com/office/drawing/2014/main" id="{2636B26B-06FB-4100-09D8-BCD5CD7BA02C}"/>
              </a:ext>
            </a:extLst>
          </p:cNvPr>
          <p:cNvCxnSpPr/>
          <p:nvPr/>
        </p:nvCxnSpPr>
        <p:spPr>
          <a:xfrm>
            <a:off x="3380125" y="4413429"/>
            <a:ext cx="0" cy="749808"/>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2" name="org214">
            <a:extLst>
              <a:ext uri="{FF2B5EF4-FFF2-40B4-BE49-F238E27FC236}">
                <a16:creationId xmlns:a16="http://schemas.microsoft.com/office/drawing/2014/main" id="{6D18DFBA-7196-EE06-9B72-38E187B9EF21}"/>
              </a:ext>
            </a:extLst>
          </p:cNvPr>
          <p:cNvCxnSpPr/>
          <p:nvPr/>
        </p:nvCxnSpPr>
        <p:spPr>
          <a:xfrm>
            <a:off x="269432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4" name="org215">
            <a:extLst>
              <a:ext uri="{FF2B5EF4-FFF2-40B4-BE49-F238E27FC236}">
                <a16:creationId xmlns:a16="http://schemas.microsoft.com/office/drawing/2014/main" id="{3BAFD523-6064-FBFC-DF38-FADC987D9019}"/>
              </a:ext>
            </a:extLst>
          </p:cNvPr>
          <p:cNvCxnSpPr/>
          <p:nvPr/>
        </p:nvCxnSpPr>
        <p:spPr>
          <a:xfrm>
            <a:off x="26943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5" name="org216">
            <a:extLst>
              <a:ext uri="{FF2B5EF4-FFF2-40B4-BE49-F238E27FC236}">
                <a16:creationId xmlns:a16="http://schemas.microsoft.com/office/drawing/2014/main" id="{D76D5D5C-0E1E-CC7A-7CAE-79FC50DB06F1}"/>
              </a:ext>
            </a:extLst>
          </p:cNvPr>
          <p:cNvCxnSpPr/>
          <p:nvPr/>
        </p:nvCxnSpPr>
        <p:spPr>
          <a:xfrm>
            <a:off x="406592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6" name="org217">
            <a:extLst>
              <a:ext uri="{FF2B5EF4-FFF2-40B4-BE49-F238E27FC236}">
                <a16:creationId xmlns:a16="http://schemas.microsoft.com/office/drawing/2014/main" id="{41A99AEE-6B79-4517-00CB-36247AB807D5}"/>
              </a:ext>
            </a:extLst>
          </p:cNvPr>
          <p:cNvCxnSpPr>
            <a:cxnSpLocks/>
          </p:cNvCxnSpPr>
          <p:nvPr/>
        </p:nvCxnSpPr>
        <p:spPr>
          <a:xfrm>
            <a:off x="6717685" y="5163238"/>
            <a:ext cx="1371600"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7" name="org218">
            <a:extLst>
              <a:ext uri="{FF2B5EF4-FFF2-40B4-BE49-F238E27FC236}">
                <a16:creationId xmlns:a16="http://schemas.microsoft.com/office/drawing/2014/main" id="{D977F424-CEFC-C936-DBBB-913EF6EA9848}"/>
              </a:ext>
            </a:extLst>
          </p:cNvPr>
          <p:cNvCxnSpPr/>
          <p:nvPr/>
        </p:nvCxnSpPr>
        <p:spPr>
          <a:xfrm>
            <a:off x="67176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18" name="org219">
            <a:extLst>
              <a:ext uri="{FF2B5EF4-FFF2-40B4-BE49-F238E27FC236}">
                <a16:creationId xmlns:a16="http://schemas.microsoft.com/office/drawing/2014/main" id="{A336839C-5C65-7135-6FD5-D8861EA3C33E}"/>
              </a:ext>
            </a:extLst>
          </p:cNvPr>
          <p:cNvCxnSpPr/>
          <p:nvPr/>
        </p:nvCxnSpPr>
        <p:spPr>
          <a:xfrm>
            <a:off x="8089285" y="5163238"/>
            <a:ext cx="0" cy="21945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19" name="org220">
            <a:extLst>
              <a:ext uri="{FF2B5EF4-FFF2-40B4-BE49-F238E27FC236}">
                <a16:creationId xmlns:a16="http://schemas.microsoft.com/office/drawing/2014/main" id="{82ED0615-841B-580B-47B8-B22261CAE8B0}"/>
              </a:ext>
            </a:extLst>
          </p:cNvPr>
          <p:cNvSpPr/>
          <p:nvPr/>
        </p:nvSpPr>
        <p:spPr>
          <a:xfrm>
            <a:off x="20999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1" name="org222">
            <a:extLst>
              <a:ext uri="{FF2B5EF4-FFF2-40B4-BE49-F238E27FC236}">
                <a16:creationId xmlns:a16="http://schemas.microsoft.com/office/drawing/2014/main" id="{6FF2F340-CB59-724F-23E4-BAAA4AF06982}"/>
              </a:ext>
            </a:extLst>
          </p:cNvPr>
          <p:cNvSpPr/>
          <p:nvPr/>
        </p:nvSpPr>
        <p:spPr>
          <a:xfrm>
            <a:off x="347156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3" name="org224">
            <a:extLst>
              <a:ext uri="{FF2B5EF4-FFF2-40B4-BE49-F238E27FC236}">
                <a16:creationId xmlns:a16="http://schemas.microsoft.com/office/drawing/2014/main" id="{DE96D27B-5554-59C8-781D-DD0A8BCDA8B0}"/>
              </a:ext>
            </a:extLst>
          </p:cNvPr>
          <p:cNvSpPr/>
          <p:nvPr/>
        </p:nvSpPr>
        <p:spPr>
          <a:xfrm>
            <a:off x="6123324"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MD商品</a:t>
            </a:r>
          </a:p>
        </p:txBody>
      </p:sp>
      <p:sp>
        <p:nvSpPr>
          <p:cNvPr id="25" name="org226">
            <a:extLst>
              <a:ext uri="{FF2B5EF4-FFF2-40B4-BE49-F238E27FC236}">
                <a16:creationId xmlns:a16="http://schemas.microsoft.com/office/drawing/2014/main" id="{3951E91F-87E1-5043-8B5E-D9F1AFE47CFE}"/>
              </a:ext>
            </a:extLst>
          </p:cNvPr>
          <p:cNvSpPr/>
          <p:nvPr/>
        </p:nvSpPr>
        <p:spPr>
          <a:xfrm>
            <a:off x="7494925" y="5382694"/>
            <a:ext cx="1188720" cy="347472"/>
          </a:xfrm>
          <a:prstGeom prst="roundRect">
            <a:avLst/>
          </a:prstGeom>
          <a:solidFill>
            <a:srgbClr val="FFFFFF"/>
          </a:solidFill>
          <a:ln w="15875">
            <a:solidFill>
              <a:srgbClr val="0B3041"/>
            </a:solid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000" b="1">
                <a:solidFill>
                  <a:srgbClr val="0B3041"/>
                </a:solidFill>
                <a:latin typeface="游ゴシック" panose="020B0400000000000000" pitchFamily="50" charset="-128"/>
                <a:ea typeface="游ゴシック" panose="020B0400000000000000" pitchFamily="50" charset="-128"/>
              </a:rPr>
              <a:t>OEM</a:t>
            </a:r>
          </a:p>
        </p:txBody>
      </p:sp>
      <p:sp>
        <p:nvSpPr>
          <p:cNvPr id="28" name="字幕 13">
            <a:extLst>
              <a:ext uri="{FF2B5EF4-FFF2-40B4-BE49-F238E27FC236}">
                <a16:creationId xmlns:a16="http://schemas.microsoft.com/office/drawing/2014/main" id="{28B70AD6-2B6E-D19A-FE7F-69DDA1D938C3}"/>
              </a:ext>
            </a:extLst>
          </p:cNvPr>
          <p:cNvSpPr txBox="1">
            <a:spLocks/>
          </p:cNvSpPr>
          <p:nvPr/>
        </p:nvSpPr>
        <p:spPr>
          <a:xfrm>
            <a:off x="399965" y="1640171"/>
            <a:ext cx="1382036" cy="2139665"/>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人員構成</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取締役：3名</a:t>
            </a:r>
          </a:p>
          <a:p>
            <a:pPr algn="l">
              <a:buClrTx/>
            </a:pPr>
            <a:r>
              <a:rPr sz="1000" b="0" dirty="0">
                <a:latin typeface="游ゴシック" panose="020B0400000000000000" pitchFamily="50" charset="-128"/>
                <a:ea typeface="游ゴシック" panose="020B0400000000000000" pitchFamily="50" charset="-128"/>
              </a:rPr>
              <a:t>　正社員：7名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合計</a:t>
            </a:r>
            <a:r>
              <a:rPr sz="1000" b="0" dirty="0">
                <a:latin typeface="游ゴシック" panose="020B0400000000000000" pitchFamily="50" charset="-128"/>
                <a:ea typeface="游ゴシック" panose="020B0400000000000000" pitchFamily="50" charset="-128"/>
              </a:rPr>
              <a:t>　：10名</a:t>
            </a:r>
          </a:p>
          <a:p>
            <a:pPr algn="l">
              <a:buClrTx/>
            </a:pPr>
            <a:r>
              <a:rPr sz="1000" b="0" dirty="0">
                <a:latin typeface="游ゴシック" panose="020B0400000000000000" pitchFamily="50" charset="-128"/>
                <a:ea typeface="游ゴシック" panose="020B0400000000000000" pitchFamily="50" charset="-128"/>
              </a:rPr>
              <a:t>　　制作部：5名</a:t>
            </a:r>
          </a:p>
          <a:p>
            <a:pPr algn="l">
              <a:buClrTx/>
            </a:pPr>
            <a:r>
              <a:rPr sz="1000" b="0" dirty="0">
                <a:latin typeface="游ゴシック" panose="020B0400000000000000" pitchFamily="50" charset="-128"/>
                <a:ea typeface="游ゴシック" panose="020B0400000000000000" pitchFamily="50" charset="-128"/>
              </a:rPr>
              <a:t>　　営業部：2名</a:t>
            </a:r>
          </a:p>
          <a:p>
            <a:pPr algn="l">
              <a:buClrTx/>
            </a:pPr>
            <a:endParaRPr sz="1000" b="0" dirty="0">
              <a:latin typeface="游ゴシック" panose="020B0400000000000000" pitchFamily="50" charset="-128"/>
              <a:ea typeface="游ゴシック" panose="020B0400000000000000" pitchFamily="50" charset="-128"/>
            </a:endParaRPr>
          </a:p>
          <a:p>
            <a:pPr algn="l">
              <a:buClrTx/>
            </a:pPr>
            <a:r>
              <a:rPr sz="1000" b="0" dirty="0">
                <a:latin typeface="游ゴシック" panose="020B0400000000000000" pitchFamily="50" charset="-128"/>
                <a:ea typeface="游ゴシック" panose="020B0400000000000000" pitchFamily="50" charset="-128"/>
              </a:rPr>
              <a:t>【</a:t>
            </a:r>
            <a:r>
              <a:rPr sz="1000" b="0" dirty="0" err="1">
                <a:latin typeface="游ゴシック" panose="020B0400000000000000" pitchFamily="50" charset="-128"/>
                <a:ea typeface="游ゴシック" panose="020B0400000000000000" pitchFamily="50" charset="-128"/>
              </a:rPr>
              <a:t>機能別</a:t>
            </a:r>
            <a:r>
              <a:rPr sz="1000" b="0" dirty="0">
                <a:latin typeface="游ゴシック" panose="020B0400000000000000" pitchFamily="50" charset="-128"/>
                <a:ea typeface="游ゴシック" panose="020B0400000000000000" pitchFamily="50" charset="-128"/>
              </a:rPr>
              <a:t>】</a:t>
            </a:r>
          </a:p>
          <a:p>
            <a:pPr algn="l">
              <a:buClrTx/>
            </a:pPr>
            <a:r>
              <a:rPr sz="1000" b="0" dirty="0">
                <a:latin typeface="游ゴシック" panose="020B0400000000000000" pitchFamily="50" charset="-128"/>
                <a:ea typeface="游ゴシック" panose="020B0400000000000000" pitchFamily="50" charset="-128"/>
              </a:rPr>
              <a:t>　MD商品：5名</a:t>
            </a:r>
          </a:p>
          <a:p>
            <a:pPr algn="l">
              <a:buClrTx/>
            </a:pPr>
            <a:r>
              <a:rPr sz="1000" b="0" dirty="0">
                <a:latin typeface="游ゴシック" panose="020B0400000000000000" pitchFamily="50" charset="-128"/>
                <a:ea typeface="游ゴシック" panose="020B0400000000000000" pitchFamily="50" charset="-128"/>
              </a:rPr>
              <a:t>　</a:t>
            </a:r>
            <a:r>
              <a:rPr lang="en-US" altLang="ja-JP" sz="1000" b="0" dirty="0">
                <a:latin typeface="游ゴシック" panose="020B0400000000000000" pitchFamily="50" charset="-128"/>
                <a:ea typeface="游ゴシック" panose="020B0400000000000000" pitchFamily="50" charset="-128"/>
              </a:rPr>
              <a:t>OEM</a:t>
            </a:r>
            <a:r>
              <a:rPr sz="1000" b="0" dirty="0">
                <a:latin typeface="游ゴシック" panose="020B0400000000000000" pitchFamily="50" charset="-128"/>
                <a:ea typeface="游ゴシック" panose="020B0400000000000000" pitchFamily="50" charset="-128"/>
              </a:rPr>
              <a:t>　　：3名</a:t>
            </a:r>
          </a:p>
          <a:p>
            <a:pPr algn="l">
              <a:buClrTx/>
            </a:pPr>
            <a:r>
              <a:rPr sz="1000" b="0" dirty="0">
                <a:latin typeface="游ゴシック" panose="020B0400000000000000" pitchFamily="50" charset="-128"/>
                <a:ea typeface="游ゴシック" panose="020B0400000000000000" pitchFamily="50" charset="-128"/>
              </a:rPr>
              <a:t>　※</a:t>
            </a:r>
            <a:r>
              <a:rPr sz="1000" b="0" dirty="0" err="1">
                <a:latin typeface="游ゴシック" panose="020B0400000000000000" pitchFamily="50" charset="-128"/>
                <a:ea typeface="游ゴシック" panose="020B0400000000000000" pitchFamily="50" charset="-128"/>
              </a:rPr>
              <a:t>兼務を含む</a:t>
            </a:r>
            <a:endParaRPr sz="1000" b="0" dirty="0">
              <a:latin typeface="游ゴシック" panose="020B0400000000000000" pitchFamily="50" charset="-128"/>
              <a:ea typeface="游ゴシック" panose="020B0400000000000000" pitchFamily="50" charset="-128"/>
            </a:endParaRPr>
          </a:p>
        </p:txBody>
      </p:sp>
      <p:cxnSp>
        <p:nvCxnSpPr>
          <p:cNvPr id="29" name="org221">
            <a:extLst>
              <a:ext uri="{FF2B5EF4-FFF2-40B4-BE49-F238E27FC236}">
                <a16:creationId xmlns:a16="http://schemas.microsoft.com/office/drawing/2014/main" id="{C0A553E4-AB1C-F0DC-2769-75B9DDA302A0}"/>
              </a:ext>
            </a:extLst>
          </p:cNvPr>
          <p:cNvCxnSpPr/>
          <p:nvPr/>
        </p:nvCxnSpPr>
        <p:spPr>
          <a:xfrm>
            <a:off x="27171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0" name="org223">
            <a:extLst>
              <a:ext uri="{FF2B5EF4-FFF2-40B4-BE49-F238E27FC236}">
                <a16:creationId xmlns:a16="http://schemas.microsoft.com/office/drawing/2014/main" id="{DEC8000E-13EF-AB42-5505-B31A7FEFED80}"/>
              </a:ext>
            </a:extLst>
          </p:cNvPr>
          <p:cNvCxnSpPr/>
          <p:nvPr/>
        </p:nvCxnSpPr>
        <p:spPr>
          <a:xfrm>
            <a:off x="408878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1" name="org225">
            <a:extLst>
              <a:ext uri="{FF2B5EF4-FFF2-40B4-BE49-F238E27FC236}">
                <a16:creationId xmlns:a16="http://schemas.microsoft.com/office/drawing/2014/main" id="{12345532-DCF1-7E46-EAE6-C156E1DF686C}"/>
              </a:ext>
            </a:extLst>
          </p:cNvPr>
          <p:cNvCxnSpPr/>
          <p:nvPr/>
        </p:nvCxnSpPr>
        <p:spPr>
          <a:xfrm>
            <a:off x="67405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2" name="org227">
            <a:extLst>
              <a:ext uri="{FF2B5EF4-FFF2-40B4-BE49-F238E27FC236}">
                <a16:creationId xmlns:a16="http://schemas.microsoft.com/office/drawing/2014/main" id="{35503653-0142-52B4-3E6A-2E7D9B8F2C8D}"/>
              </a:ext>
            </a:extLst>
          </p:cNvPr>
          <p:cNvCxnSpPr/>
          <p:nvPr/>
        </p:nvCxnSpPr>
        <p:spPr>
          <a:xfrm>
            <a:off x="8112145" y="5727879"/>
            <a:ext cx="0" cy="128016"/>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33" name="org228">
            <a:extLst>
              <a:ext uri="{FF2B5EF4-FFF2-40B4-BE49-F238E27FC236}">
                <a16:creationId xmlns:a16="http://schemas.microsoft.com/office/drawing/2014/main" id="{00469090-39F8-8CEE-32D2-1DEC5E451A83}"/>
              </a:ext>
            </a:extLst>
          </p:cNvPr>
          <p:cNvSpPr txBox="1">
            <a:spLocks/>
          </p:cNvSpPr>
          <p:nvPr/>
        </p:nvSpPr>
        <p:spPr>
          <a:xfrm>
            <a:off x="20999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No.6　営業部</a:t>
            </a:r>
          </a:p>
          <a:p>
            <a:pPr algn="ctr"/>
            <a:r>
              <a:rPr lang="ja-JP" sz="900" b="0">
                <a:solidFill>
                  <a:srgbClr val="0B3041"/>
                </a:solidFill>
                <a:latin typeface="游ゴシック" panose="020B0400000000000000" pitchFamily="50" charset="-128"/>
                <a:ea typeface="游ゴシック" panose="020B0400000000000000" pitchFamily="50" charset="-128"/>
              </a:rPr>
              <a:t>No.7　営業部</a:t>
            </a:r>
          </a:p>
        </p:txBody>
      </p:sp>
      <p:sp>
        <p:nvSpPr>
          <p:cNvPr id="34" name="org229">
            <a:extLst>
              <a:ext uri="{FF2B5EF4-FFF2-40B4-BE49-F238E27FC236}">
                <a16:creationId xmlns:a16="http://schemas.microsoft.com/office/drawing/2014/main" id="{3FC43F05-1B1B-A514-02EC-6E23EFD7491D}"/>
              </a:ext>
            </a:extLst>
          </p:cNvPr>
          <p:cNvSpPr txBox="1">
            <a:spLocks/>
          </p:cNvSpPr>
          <p:nvPr/>
        </p:nvSpPr>
        <p:spPr>
          <a:xfrm>
            <a:off x="347156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altLang="en-US" sz="900" b="0" dirty="0">
                <a:solidFill>
                  <a:srgbClr val="0B3041"/>
                </a:solidFill>
                <a:latin typeface="游ゴシック" panose="020B0400000000000000" pitchFamily="50" charset="-128"/>
                <a:ea typeface="游ゴシック" panose="020B0400000000000000" pitchFamily="50" charset="-128"/>
              </a:rPr>
              <a:t>野口</a:t>
            </a:r>
            <a:r>
              <a:rPr lang="ja-JP" sz="900" b="0" dirty="0">
                <a:solidFill>
                  <a:srgbClr val="0B3041"/>
                </a:solidFill>
                <a:latin typeface="游ゴシック" panose="020B0400000000000000" pitchFamily="50" charset="-128"/>
                <a:ea typeface="游ゴシック" panose="020B0400000000000000" pitchFamily="50" charset="-128"/>
              </a:rPr>
              <a:t>代表（兼務）</a:t>
            </a:r>
          </a:p>
        </p:txBody>
      </p:sp>
      <p:sp>
        <p:nvSpPr>
          <p:cNvPr id="35" name="org230">
            <a:extLst>
              <a:ext uri="{FF2B5EF4-FFF2-40B4-BE49-F238E27FC236}">
                <a16:creationId xmlns:a16="http://schemas.microsoft.com/office/drawing/2014/main" id="{80C1FB35-D1D5-DBC5-9A27-1F8349690F5A}"/>
              </a:ext>
            </a:extLst>
          </p:cNvPr>
          <p:cNvSpPr txBox="1">
            <a:spLocks/>
          </p:cNvSpPr>
          <p:nvPr/>
        </p:nvSpPr>
        <p:spPr>
          <a:xfrm>
            <a:off x="6123325"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a:solidFill>
                  <a:srgbClr val="0B3041"/>
                </a:solidFill>
                <a:latin typeface="游ゴシック" panose="020B0400000000000000" pitchFamily="50" charset="-128"/>
                <a:ea typeface="游ゴシック" panose="020B0400000000000000" pitchFamily="50" charset="-128"/>
              </a:rPr>
              <a:t>No.2　課長</a:t>
            </a:r>
          </a:p>
          <a:p>
            <a:pPr algn="ctr"/>
            <a:r>
              <a:rPr lang="ja-JP" sz="900" b="0">
                <a:solidFill>
                  <a:srgbClr val="0B3041"/>
                </a:solidFill>
                <a:latin typeface="游ゴシック" panose="020B0400000000000000" pitchFamily="50" charset="-128"/>
                <a:ea typeface="游ゴシック" panose="020B0400000000000000" pitchFamily="50" charset="-128"/>
              </a:rPr>
              <a:t>No.4　一般</a:t>
            </a:r>
          </a:p>
          <a:p>
            <a:pPr algn="ctr"/>
            <a:r>
              <a:rPr lang="ja-JP" sz="900" b="0">
                <a:solidFill>
                  <a:srgbClr val="0B3041"/>
                </a:solidFill>
                <a:latin typeface="游ゴシック" panose="020B0400000000000000" pitchFamily="50" charset="-128"/>
                <a:ea typeface="游ゴシック" panose="020B0400000000000000" pitchFamily="50" charset="-128"/>
              </a:rPr>
              <a:t>No.5　一般</a:t>
            </a:r>
          </a:p>
        </p:txBody>
      </p:sp>
      <p:sp>
        <p:nvSpPr>
          <p:cNvPr id="36" name="org231">
            <a:extLst>
              <a:ext uri="{FF2B5EF4-FFF2-40B4-BE49-F238E27FC236}">
                <a16:creationId xmlns:a16="http://schemas.microsoft.com/office/drawing/2014/main" id="{F5FB32E6-D627-B779-D058-20C90BEC5024}"/>
              </a:ext>
            </a:extLst>
          </p:cNvPr>
          <p:cNvSpPr txBox="1">
            <a:spLocks/>
          </p:cNvSpPr>
          <p:nvPr/>
        </p:nvSpPr>
        <p:spPr>
          <a:xfrm>
            <a:off x="7494924" y="5855895"/>
            <a:ext cx="1234440" cy="553212"/>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lgn="ctr"/>
            <a:r>
              <a:rPr lang="ja-JP" sz="900" b="0" dirty="0">
                <a:solidFill>
                  <a:srgbClr val="0B3041"/>
                </a:solidFill>
                <a:latin typeface="游ゴシック" panose="020B0400000000000000" pitchFamily="50" charset="-128"/>
                <a:ea typeface="游ゴシック" panose="020B0400000000000000" pitchFamily="50" charset="-128"/>
              </a:rPr>
              <a:t>No.1　部長（兼務）</a:t>
            </a:r>
          </a:p>
          <a:p>
            <a:pPr algn="ctr"/>
            <a:r>
              <a:rPr lang="ja-JP" sz="900" b="0" dirty="0">
                <a:solidFill>
                  <a:srgbClr val="0B3041"/>
                </a:solidFill>
                <a:latin typeface="游ゴシック" panose="020B0400000000000000" pitchFamily="50" charset="-128"/>
                <a:ea typeface="游ゴシック" panose="020B0400000000000000" pitchFamily="50" charset="-128"/>
              </a:rPr>
              <a:t>No.3　主任</a:t>
            </a:r>
          </a:p>
        </p:txBody>
      </p:sp>
      <p:sp>
        <p:nvSpPr>
          <p:cNvPr id="38" name="TextBox 231">
            <a:extLst>
              <a:ext uri="{FF2B5EF4-FFF2-40B4-BE49-F238E27FC236}">
                <a16:creationId xmlns:a16="http://schemas.microsoft.com/office/drawing/2014/main" id="{3BB57083-DB00-4A98-1194-2E6DEC9F81C5}"/>
              </a:ext>
            </a:extLst>
          </p:cNvPr>
          <p:cNvSpPr txBox="1"/>
          <p:nvPr/>
        </p:nvSpPr>
        <p:spPr>
          <a:xfrm>
            <a:off x="402336" y="6537960"/>
            <a:ext cx="9875520" cy="369332"/>
          </a:xfrm>
          <a:prstGeom prst="rect">
            <a:avLst/>
          </a:prstGeom>
          <a:noFill/>
        </p:spPr>
        <p:txBody>
          <a:bodyPr wrap="square">
            <a:spAutoFit/>
          </a:bodyPr>
          <a:lstStyle/>
          <a:p>
            <a:r>
              <a:rPr sz="900" dirty="0">
                <a:solidFill>
                  <a:srgbClr val="404040"/>
                </a:solidFill>
                <a:latin typeface="游ゴシック" panose="020B0400000000000000" pitchFamily="50" charset="-128"/>
                <a:ea typeface="游ゴシック" panose="020B0400000000000000" pitchFamily="50" charset="-128"/>
              </a:rPr>
              <a:t>※ 図中のNo.は「従業員」ページの従業員No.と対応。</a:t>
            </a:r>
            <a:endParaRPr lang="en-US" sz="900" dirty="0">
              <a:solidFill>
                <a:srgbClr val="404040"/>
              </a:solidFill>
              <a:latin typeface="游ゴシック" panose="020B0400000000000000" pitchFamily="50" charset="-128"/>
              <a:ea typeface="游ゴシック" panose="020B0400000000000000" pitchFamily="50" charset="-128"/>
            </a:endParaRPr>
          </a:p>
          <a:p>
            <a:r>
              <a:rPr sz="900" dirty="0">
                <a:solidFill>
                  <a:srgbClr val="404040"/>
                </a:solidFill>
                <a:latin typeface="游ゴシック" panose="020B0400000000000000" pitchFamily="50" charset="-128"/>
                <a:ea typeface="游ゴシック" panose="020B0400000000000000" pitchFamily="50" charset="-128"/>
              </a:rPr>
              <a:t>※ 野口代表は営業部のOEMラインを、制作部部長（No.1）は制作部のOEMラインを兼務で統括。</a:t>
            </a:r>
            <a:endParaRPr lang="en-US" sz="900" dirty="0">
              <a:solidFill>
                <a:srgbClr val="404040"/>
              </a:solidFill>
              <a:latin typeface="游ゴシック" panose="020B0400000000000000" pitchFamily="50" charset="-128"/>
              <a:ea typeface="游ゴシック" panose="020B0400000000000000" pitchFamily="50" charset="-128"/>
            </a:endParaRPr>
          </a:p>
          <a:p>
            <a:r>
              <a:rPr sz="900" dirty="0">
                <a:solidFill>
                  <a:srgbClr val="404040"/>
                </a:solidFill>
                <a:latin typeface="游ゴシック" panose="020B0400000000000000" pitchFamily="50" charset="-128"/>
                <a:ea typeface="游ゴシック" panose="020B0400000000000000" pitchFamily="50" charset="-128"/>
              </a:rPr>
              <a:t>※ OEM案件は野口代表が窓口として見積作成・スケジュール調整を担当。譲渡後も7年程度（55歳頃まで）の継続関与を想定しており、引継ぎ期間は十分に確保可能です。</a:t>
            </a:r>
            <a:endParaRPr lang="en-US" sz="900" dirty="0">
              <a:solidFill>
                <a:srgbClr val="404040"/>
              </a:solidFill>
              <a:latin typeface="游ゴシック" panose="020B0400000000000000" pitchFamily="50" charset="-128"/>
              <a:ea typeface="游ゴシック" panose="020B0400000000000000" pitchFamily="50" charset="-128"/>
            </a:endParaRPr>
          </a:p>
        </p:txBody>
      </p:sp>
      <p:cxnSp>
        <p:nvCxnSpPr>
          <p:cNvPr id="39" name="Connector 89">
            <a:extLst>
              <a:ext uri="{FF2B5EF4-FFF2-40B4-BE49-F238E27FC236}">
                <a16:creationId xmlns:a16="http://schemas.microsoft.com/office/drawing/2014/main" id="{68471DE1-F70A-0FE4-7645-30CC54519599}"/>
              </a:ext>
            </a:extLst>
          </p:cNvPr>
          <p:cNvCxnSpPr>
            <a:cxnSpLocks/>
            <a:stCxn id="87" idx="2"/>
          </p:cNvCxnSpPr>
          <p:nvPr/>
        </p:nvCxnSpPr>
        <p:spPr>
          <a:xfrm>
            <a:off x="5346000" y="3198823"/>
            <a:ext cx="0" cy="373359"/>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3564000" y="1872480"/>
            <a:ext cx="3564000" cy="540000"/>
          </a:xfrm>
          <a:prstGeom prst="roundRect">
            <a:avLst/>
          </a:prstGeom>
          <a:solidFill>
            <a:srgbClr val="0B3041"/>
          </a:solidFill>
          <a:ln w="15875">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r>
              <a:rPr sz="1100" b="1" dirty="0" err="1">
                <a:solidFill>
                  <a:srgbClr val="FFFFFF"/>
                </a:solidFill>
                <a:latin typeface="游ゴシック" panose="020B0400000000000000" pitchFamily="50" charset="-128"/>
                <a:ea typeface="游ゴシック" panose="020B0400000000000000" pitchFamily="50" charset="-128"/>
              </a:rPr>
              <a:t>取締役会</a:t>
            </a:r>
            <a:endParaRPr sz="1100" b="1" dirty="0">
              <a:solidFill>
                <a:srgbClr val="FFFFFF"/>
              </a:solidFill>
              <a:latin typeface="游ゴシック" panose="020B0400000000000000" pitchFamily="50" charset="-128"/>
              <a:ea typeface="游ゴシック" panose="020B0400000000000000" pitchFamily="50" charset="-128"/>
            </a:endParaRPr>
          </a:p>
          <a:p>
            <a:pPr algn="ctr"/>
            <a:r>
              <a:rPr sz="1100" b="1" dirty="0" err="1">
                <a:solidFill>
                  <a:srgbClr val="FFFFFF"/>
                </a:solidFill>
                <a:latin typeface="游ゴシック" panose="020B0400000000000000" pitchFamily="50" charset="-128"/>
                <a:ea typeface="游ゴシック" panose="020B0400000000000000" pitchFamily="50" charset="-128"/>
              </a:rPr>
              <a:t>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紘・野口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文枝・野口</a:t>
            </a:r>
            <a:r>
              <a:rPr sz="1100" b="1" dirty="0">
                <a:solidFill>
                  <a:srgbClr val="FFFFFF"/>
                </a:solidFill>
                <a:latin typeface="游ゴシック" panose="020B0400000000000000" pitchFamily="50" charset="-128"/>
                <a:ea typeface="游ゴシック" panose="020B0400000000000000" pitchFamily="50" charset="-128"/>
              </a:rPr>
              <a:t> </a:t>
            </a:r>
            <a:r>
              <a:rPr sz="1100" b="1" dirty="0" err="1">
                <a:solidFill>
                  <a:srgbClr val="FFFFFF"/>
                </a:solidFill>
                <a:latin typeface="游ゴシック" panose="020B0400000000000000" pitchFamily="50" charset="-128"/>
                <a:ea typeface="游ゴシック" panose="020B0400000000000000" pitchFamily="50" charset="-128"/>
              </a:rPr>
              <a:t>聰江</a:t>
            </a:r>
            <a:endParaRPr sz="1100" b="1" dirty="0">
              <a:solidFill>
                <a:srgbClr val="FFFFFF"/>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28612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graphicFrame>
        <p:nvGraphicFramePr>
          <p:cNvPr id="6" name="表 5">
            <a:extLst>
              <a:ext uri="{FF2B5EF4-FFF2-40B4-BE49-F238E27FC236}">
                <a16:creationId xmlns:a16="http://schemas.microsoft.com/office/drawing/2014/main" id="{27BEA7FD-F7F1-D67D-8081-914B33CC4E33}"/>
              </a:ext>
            </a:extLst>
          </p:cNvPr>
          <p:cNvGraphicFramePr>
            <a:graphicFrameLocks noGrp="1"/>
          </p:cNvGraphicFramePr>
          <p:nvPr>
            <p:extLst>
              <p:ext uri="{D42A27DB-BD31-4B8C-83A1-F6EECF244321}">
                <p14:modId xmlns:p14="http://schemas.microsoft.com/office/powerpoint/2010/main" val="1827053858"/>
              </p:ext>
            </p:extLst>
          </p:nvPr>
        </p:nvGraphicFramePr>
        <p:xfrm>
          <a:off x="309600" y="2014246"/>
          <a:ext cx="9221787" cy="1080086"/>
        </p:xfrm>
        <a:graphic>
          <a:graphicData uri="http://schemas.openxmlformats.org/drawingml/2006/table">
            <a:tbl>
              <a:tblPr/>
              <a:tblGrid>
                <a:gridCol w="310073">
                  <a:extLst>
                    <a:ext uri="{9D8B030D-6E8A-4147-A177-3AD203B41FA5}">
                      <a16:colId xmlns:a16="http://schemas.microsoft.com/office/drawing/2014/main" val="1231620155"/>
                    </a:ext>
                  </a:extLst>
                </a:gridCol>
                <a:gridCol w="1504426">
                  <a:extLst>
                    <a:ext uri="{9D8B030D-6E8A-4147-A177-3AD203B41FA5}">
                      <a16:colId xmlns:a16="http://schemas.microsoft.com/office/drawing/2014/main" val="3603085638"/>
                    </a:ext>
                  </a:extLst>
                </a:gridCol>
                <a:gridCol w="1309195">
                  <a:extLst>
                    <a:ext uri="{9D8B030D-6E8A-4147-A177-3AD203B41FA5}">
                      <a16:colId xmlns:a16="http://schemas.microsoft.com/office/drawing/2014/main" val="2964660539"/>
                    </a:ext>
                  </a:extLst>
                </a:gridCol>
                <a:gridCol w="1309195">
                  <a:extLst>
                    <a:ext uri="{9D8B030D-6E8A-4147-A177-3AD203B41FA5}">
                      <a16:colId xmlns:a16="http://schemas.microsoft.com/office/drawing/2014/main" val="3597779375"/>
                    </a:ext>
                  </a:extLst>
                </a:gridCol>
                <a:gridCol w="1309195">
                  <a:extLst>
                    <a:ext uri="{9D8B030D-6E8A-4147-A177-3AD203B41FA5}">
                      <a16:colId xmlns:a16="http://schemas.microsoft.com/office/drawing/2014/main" val="1085375889"/>
                    </a:ext>
                  </a:extLst>
                </a:gridCol>
                <a:gridCol w="1309195">
                  <a:extLst>
                    <a:ext uri="{9D8B030D-6E8A-4147-A177-3AD203B41FA5}">
                      <a16:colId xmlns:a16="http://schemas.microsoft.com/office/drawing/2014/main" val="2943413453"/>
                    </a:ext>
                  </a:extLst>
                </a:gridCol>
                <a:gridCol w="2170508">
                  <a:extLst>
                    <a:ext uri="{9D8B030D-6E8A-4147-A177-3AD203B41FA5}">
                      <a16:colId xmlns:a16="http://schemas.microsoft.com/office/drawing/2014/main" val="4223632143"/>
                    </a:ext>
                  </a:extLst>
                </a:gridCol>
              </a:tblGrid>
              <a:tr h="215328">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034888445"/>
                  </a:ext>
                </a:extLst>
              </a:tr>
              <a:tr h="330744">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5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保有株式数</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保有割合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080100781"/>
                  </a:ext>
                </a:extLst>
              </a:tr>
              <a:tr h="267007">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野口　紘</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継続勤務予定</a:t>
                      </a:r>
                    </a:p>
                  </a:txBody>
                  <a:tcPr marL="103358"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34731493"/>
                  </a:ext>
                </a:extLst>
              </a:tr>
              <a:tr h="267007">
                <a:tc>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2">
                  <a:txBody>
                    <a:bodyPr/>
                    <a:lstStyle/>
                    <a:p>
                      <a:pPr algn="ct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21,104</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100.0%</a:t>
                      </a:r>
                    </a:p>
                  </a:txBody>
                  <a:tcPr marL="0" marR="103358"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103358"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01818725"/>
                  </a:ext>
                </a:extLst>
              </a:tr>
            </a:tbl>
          </a:graphicData>
        </a:graphic>
      </p:graphicFrame>
      <p:graphicFrame>
        <p:nvGraphicFramePr>
          <p:cNvPr id="11" name="表 10">
            <a:extLst>
              <a:ext uri="{FF2B5EF4-FFF2-40B4-BE49-F238E27FC236}">
                <a16:creationId xmlns:a16="http://schemas.microsoft.com/office/drawing/2014/main" id="{C774F621-66A7-D4D8-70A0-75374870E714}"/>
              </a:ext>
            </a:extLst>
          </p:cNvPr>
          <p:cNvGraphicFramePr>
            <a:graphicFrameLocks noGrp="1"/>
          </p:cNvGraphicFramePr>
          <p:nvPr>
            <p:extLst>
              <p:ext uri="{D42A27DB-BD31-4B8C-83A1-F6EECF244321}">
                <p14:modId xmlns:p14="http://schemas.microsoft.com/office/powerpoint/2010/main" val="1622553404"/>
              </p:ext>
            </p:extLst>
          </p:nvPr>
        </p:nvGraphicFramePr>
        <p:xfrm>
          <a:off x="309600" y="4336376"/>
          <a:ext cx="9221786" cy="1636800"/>
        </p:xfrm>
        <a:graphic>
          <a:graphicData uri="http://schemas.openxmlformats.org/drawingml/2006/table">
            <a:tbl>
              <a:tblPr/>
              <a:tblGrid>
                <a:gridCol w="271821">
                  <a:extLst>
                    <a:ext uri="{9D8B030D-6E8A-4147-A177-3AD203B41FA5}">
                      <a16:colId xmlns:a16="http://schemas.microsoft.com/office/drawing/2014/main" val="3015707936"/>
                    </a:ext>
                  </a:extLst>
                </a:gridCol>
                <a:gridCol w="1318836">
                  <a:extLst>
                    <a:ext uri="{9D8B030D-6E8A-4147-A177-3AD203B41FA5}">
                      <a16:colId xmlns:a16="http://schemas.microsoft.com/office/drawing/2014/main" val="962166649"/>
                    </a:ext>
                  </a:extLst>
                </a:gridCol>
                <a:gridCol w="996678">
                  <a:extLst>
                    <a:ext uri="{9D8B030D-6E8A-4147-A177-3AD203B41FA5}">
                      <a16:colId xmlns:a16="http://schemas.microsoft.com/office/drawing/2014/main" val="880098159"/>
                    </a:ext>
                  </a:extLst>
                </a:gridCol>
                <a:gridCol w="996678">
                  <a:extLst>
                    <a:ext uri="{9D8B030D-6E8A-4147-A177-3AD203B41FA5}">
                      <a16:colId xmlns:a16="http://schemas.microsoft.com/office/drawing/2014/main" val="2598205532"/>
                    </a:ext>
                  </a:extLst>
                </a:gridCol>
                <a:gridCol w="1187959">
                  <a:extLst>
                    <a:ext uri="{9D8B030D-6E8A-4147-A177-3AD203B41FA5}">
                      <a16:colId xmlns:a16="http://schemas.microsoft.com/office/drawing/2014/main" val="11787128"/>
                    </a:ext>
                  </a:extLst>
                </a:gridCol>
                <a:gridCol w="2224907">
                  <a:extLst>
                    <a:ext uri="{9D8B030D-6E8A-4147-A177-3AD203B41FA5}">
                      <a16:colId xmlns:a16="http://schemas.microsoft.com/office/drawing/2014/main" val="3714463055"/>
                    </a:ext>
                  </a:extLst>
                </a:gridCol>
                <a:gridCol w="2224907">
                  <a:extLst>
                    <a:ext uri="{9D8B030D-6E8A-4147-A177-3AD203B41FA5}">
                      <a16:colId xmlns:a16="http://schemas.microsoft.com/office/drawing/2014/main" val="951557896"/>
                    </a:ext>
                  </a:extLst>
                </a:gridCol>
              </a:tblGrid>
              <a:tr h="266400">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extLst>
                  <a:ext uri="{0D108BD9-81ED-4DB2-BD59-A6C34878D82A}">
                    <a16:rowId xmlns:a16="http://schemas.microsoft.com/office/drawing/2014/main" val="338692558"/>
                  </a:ext>
                </a:extLst>
              </a:tr>
              <a:tr h="26640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役員報酬</a:t>
                      </a:r>
                      <a:br>
                        <a:rPr lang="ja-JP" sz="1000" b="1" i="0" u="none" strike="noStrike" dirty="0">
                          <a:solidFill>
                            <a:srgbClr val="FFFFFF"/>
                          </a:solidFill>
                          <a:effectLst/>
                          <a:latin typeface="游ゴシック" panose="020B0400000000000000" pitchFamily="50" charset="-128"/>
                          <a:ea typeface="游ゴシック" panose="020B0400000000000000" pitchFamily="50" charset="-128"/>
                        </a:rPr>
                      </a:b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（2026年1月期）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業務範囲</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622370145"/>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紘</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本人</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21,104</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経営管理、OEM事業の管掌</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5013159"/>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E3E7E9"/>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野口 文枝</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配偶者</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1,788</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05796791"/>
                  </a:ext>
                </a:extLst>
              </a:tr>
              <a:tr h="266400">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野口 聰江</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取締役</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母</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1,800</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業務関与無し</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altLang="en-US"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本件譲渡後、退任予定</a:t>
                      </a:r>
                      <a:endParaRPr lang="ja-JP" altLang="ja-JP" sz="10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endParaRP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234792508"/>
                  </a:ext>
                </a:extLst>
              </a:tr>
              <a:tr h="266400">
                <a:tc>
                  <a:txBody>
                    <a:bodyPr/>
                    <a:lstStyle/>
                    <a:p>
                      <a:pPr algn="ct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gridSpan="3">
                  <a:txBody>
                    <a:bodyPr/>
                    <a:lstStyle/>
                    <a:p>
                      <a:pPr algn="ctr"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24,692</a:t>
                      </a:r>
                    </a:p>
                  </a:txBody>
                  <a:tcPr marL="0" marR="9060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90607"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47948141"/>
                  </a:ext>
                </a:extLst>
              </a:tr>
            </a:tbl>
          </a:graphicData>
        </a:graphic>
      </p:graphicFrame>
    </p:spTree>
    <p:extLst>
      <p:ext uri="{BB962C8B-B14F-4D97-AF65-F5344CB8AC3E}">
        <p14:creationId xmlns:p14="http://schemas.microsoft.com/office/powerpoint/2010/main" val="1111365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dirty="0">
                <a:latin typeface="+mj-ea"/>
                <a:ea typeface="+mj-ea"/>
              </a:rPr>
              <a:t>制作部5名・営業部2名の少数精鋭体制。制作部長（勤続11年）を中心に長期勤続者が中核を担い、近年は若手の新規採用も進めて</a:t>
            </a:r>
            <a:r>
              <a:rPr lang="ja-JP" altLang="en-US" dirty="0">
                <a:latin typeface="+mj-ea"/>
                <a:ea typeface="+mj-ea"/>
              </a:rPr>
              <a:t>いる</a:t>
            </a:r>
            <a:endParaRPr lang="en-US" altLang="ja-JP" dirty="0"/>
          </a:p>
        </p:txBody>
      </p:sp>
      <p:graphicFrame>
        <p:nvGraphicFramePr>
          <p:cNvPr id="4" name="表 3">
            <a:extLst>
              <a:ext uri="{FF2B5EF4-FFF2-40B4-BE49-F238E27FC236}">
                <a16:creationId xmlns:a16="http://schemas.microsoft.com/office/drawing/2014/main" id="{A3446C2D-F1A2-3698-3DCF-6A9316325960}"/>
              </a:ext>
            </a:extLst>
          </p:cNvPr>
          <p:cNvGraphicFramePr>
            <a:graphicFrameLocks noGrp="1"/>
          </p:cNvGraphicFramePr>
          <p:nvPr>
            <p:extLst>
              <p:ext uri="{D42A27DB-BD31-4B8C-83A1-F6EECF244321}">
                <p14:modId xmlns:p14="http://schemas.microsoft.com/office/powerpoint/2010/main" val="639752634"/>
              </p:ext>
            </p:extLst>
          </p:nvPr>
        </p:nvGraphicFramePr>
        <p:xfrm>
          <a:off x="341313" y="1636744"/>
          <a:ext cx="10009188" cy="2582828"/>
        </p:xfrm>
        <a:graphic>
          <a:graphicData uri="http://schemas.openxmlformats.org/drawingml/2006/table">
            <a:tbl>
              <a:tblPr/>
              <a:tblGrid>
                <a:gridCol w="390391">
                  <a:extLst>
                    <a:ext uri="{9D8B030D-6E8A-4147-A177-3AD203B41FA5}">
                      <a16:colId xmlns:a16="http://schemas.microsoft.com/office/drawing/2014/main" val="1206717126"/>
                    </a:ext>
                  </a:extLst>
                </a:gridCol>
                <a:gridCol w="878379">
                  <a:extLst>
                    <a:ext uri="{9D8B030D-6E8A-4147-A177-3AD203B41FA5}">
                      <a16:colId xmlns:a16="http://schemas.microsoft.com/office/drawing/2014/main" val="4262196314"/>
                    </a:ext>
                  </a:extLst>
                </a:gridCol>
                <a:gridCol w="433768">
                  <a:extLst>
                    <a:ext uri="{9D8B030D-6E8A-4147-A177-3AD203B41FA5}">
                      <a16:colId xmlns:a16="http://schemas.microsoft.com/office/drawing/2014/main" val="1260299505"/>
                    </a:ext>
                  </a:extLst>
                </a:gridCol>
                <a:gridCol w="943445">
                  <a:extLst>
                    <a:ext uri="{9D8B030D-6E8A-4147-A177-3AD203B41FA5}">
                      <a16:colId xmlns:a16="http://schemas.microsoft.com/office/drawing/2014/main" val="2792782332"/>
                    </a:ext>
                  </a:extLst>
                </a:gridCol>
                <a:gridCol w="943445">
                  <a:extLst>
                    <a:ext uri="{9D8B030D-6E8A-4147-A177-3AD203B41FA5}">
                      <a16:colId xmlns:a16="http://schemas.microsoft.com/office/drawing/2014/main" val="995664781"/>
                    </a:ext>
                  </a:extLst>
                </a:gridCol>
                <a:gridCol w="878379">
                  <a:extLst>
                    <a:ext uri="{9D8B030D-6E8A-4147-A177-3AD203B41FA5}">
                      <a16:colId xmlns:a16="http://schemas.microsoft.com/office/drawing/2014/main" val="2662627376"/>
                    </a:ext>
                  </a:extLst>
                </a:gridCol>
                <a:gridCol w="878379">
                  <a:extLst>
                    <a:ext uri="{9D8B030D-6E8A-4147-A177-3AD203B41FA5}">
                      <a16:colId xmlns:a16="http://schemas.microsoft.com/office/drawing/2014/main" val="3473996590"/>
                    </a:ext>
                  </a:extLst>
                </a:gridCol>
                <a:gridCol w="1051887">
                  <a:extLst>
                    <a:ext uri="{9D8B030D-6E8A-4147-A177-3AD203B41FA5}">
                      <a16:colId xmlns:a16="http://schemas.microsoft.com/office/drawing/2014/main" val="2850092057"/>
                    </a:ext>
                  </a:extLst>
                </a:gridCol>
                <a:gridCol w="3611115">
                  <a:extLst>
                    <a:ext uri="{9D8B030D-6E8A-4147-A177-3AD203B41FA5}">
                      <a16:colId xmlns:a16="http://schemas.microsoft.com/office/drawing/2014/main" val="1209954162"/>
                    </a:ext>
                  </a:extLst>
                </a:gridCol>
              </a:tblGrid>
              <a:tr h="216741">
                <a:tc>
                  <a:txBody>
                    <a:bodyPr/>
                    <a:lstStyle/>
                    <a:p>
                      <a:pPr algn="ct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1"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b">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（単位：円）</a:t>
                      </a:r>
                    </a:p>
                  </a:txBody>
                  <a:tcPr marL="0" marR="0" marT="0" marB="0" anchor="b">
                    <a:lnL>
                      <a:noFill/>
                    </a:lnL>
                    <a:lnR>
                      <a:noFill/>
                    </a:lnR>
                    <a:lnT>
                      <a:noFill/>
                    </a:lnT>
                    <a:lnB>
                      <a:noFill/>
                    </a:lnB>
                    <a:noFill/>
                  </a:tcPr>
                </a:tc>
                <a:tc>
                  <a:txBody>
                    <a:bodyPr/>
                    <a:lstStyle/>
                    <a:p>
                      <a:pPr algn="l" fontAlgn="b">
                        <a:buNone/>
                      </a:pPr>
                      <a:endParaRPr lang="ja-JP" sz="105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1594632206"/>
                  </a:ext>
                </a:extLst>
              </a:tr>
              <a:tr h="469605">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雇用形態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性別</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年齢</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（歳）</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勤続年数</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（年）</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部署</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2026年5月分</a:t>
                      </a:r>
                      <a:br>
                        <a:rPr lang="ja-JP" sz="1050" b="1" i="0" u="none" strike="noStrike">
                          <a:solidFill>
                            <a:srgbClr val="FFFFFF"/>
                          </a:solidFill>
                          <a:effectLst/>
                          <a:latin typeface="游ゴシック" panose="020B0400000000000000" pitchFamily="50" charset="-128"/>
                          <a:ea typeface="游ゴシック" panose="020B0400000000000000" pitchFamily="50" charset="-128"/>
                        </a:rPr>
                      </a:br>
                      <a:r>
                        <a:rPr lang="ja-JP" sz="1050" b="1" i="0" u="none" strike="noStrike">
                          <a:solidFill>
                            <a:srgbClr val="FFFFFF"/>
                          </a:solidFill>
                          <a:effectLst/>
                          <a:latin typeface="游ゴシック" panose="020B0400000000000000" pitchFamily="50" charset="-128"/>
                          <a:ea typeface="游ゴシック" panose="020B0400000000000000" pitchFamily="50" charset="-128"/>
                        </a:rPr>
                        <a:t>総支給</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1" i="0" u="none" strike="noStrike">
                          <a:solidFill>
                            <a:srgbClr val="FFFFFF"/>
                          </a:solidFill>
                          <a:effectLst/>
                          <a:latin typeface="游ゴシック" panose="020B0400000000000000" pitchFamily="50" charset="-128"/>
                          <a:ea typeface="游ゴシック" panose="020B0400000000000000" pitchFamily="50" charset="-128"/>
                        </a:rPr>
                        <a:t>備考</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13520319"/>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42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12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部長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464,600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76309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41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10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課長</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413,400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599785"/>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9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229,500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2026年5月より</a:t>
                      </a:r>
                      <a:r>
                        <a:rPr lang="ja-JP" altLang="en-US" sz="900" b="0" i="0" u="none" strike="noStrike" dirty="0">
                          <a:solidFill>
                            <a:srgbClr val="000000"/>
                          </a:solidFill>
                          <a:effectLst/>
                          <a:latin typeface="游ゴシック" panose="020B0400000000000000" pitchFamily="50" charset="-128"/>
                          <a:ea typeface="游ゴシック" panose="020B0400000000000000" pitchFamily="50" charset="-128"/>
                        </a:rPr>
                        <a:t>育児休暇より</a:t>
                      </a: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復帰。</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7880660"/>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4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主任</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347,800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912482"/>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制作部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262,480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36771807"/>
                  </a:ext>
                </a:extLst>
              </a:tr>
              <a:tr h="270926">
                <a:tc>
                  <a:txBody>
                    <a:bodyPr/>
                    <a:lstStyle/>
                    <a:p>
                      <a:pPr algn="ct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25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1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275,600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41030577"/>
                  </a:ext>
                </a:extLst>
              </a:tr>
              <a:tr h="270926">
                <a:tc>
                  <a:txBody>
                    <a:bodyPr/>
                    <a:lstStyle/>
                    <a:p>
                      <a:pPr algn="ct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正社員</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女</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27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0 </a:t>
                      </a:r>
                    </a:p>
                  </a:txBody>
                  <a:tcPr marL="0" marR="8992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営業部</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992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315,000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2026年4月入社。</a:t>
                      </a:r>
                    </a:p>
                  </a:txBody>
                  <a:tcPr marL="89920" marR="0" marT="0" marB="0" anchor="ctr">
                    <a:lnL w="6350" cap="flat" cmpd="sng" algn="ctr">
                      <a:solidFill>
                        <a:srgbClr val="FFFFFF"/>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63081120"/>
                  </a:ext>
                </a:extLst>
              </a:tr>
            </a:tbl>
          </a:graphicData>
        </a:graphic>
      </p:graphicFrame>
      <p:sp>
        <p:nvSpPr>
          <p:cNvPr id="7" name="TextBox 231">
            <a:extLst>
              <a:ext uri="{FF2B5EF4-FFF2-40B4-BE49-F238E27FC236}">
                <a16:creationId xmlns:a16="http://schemas.microsoft.com/office/drawing/2014/main" id="{820CB89E-A0BE-C26D-E5D3-6D3781A6CE45}"/>
              </a:ext>
            </a:extLst>
          </p:cNvPr>
          <p:cNvSpPr txBox="1"/>
          <p:nvPr/>
        </p:nvSpPr>
        <p:spPr>
          <a:xfrm>
            <a:off x="311150" y="4415077"/>
            <a:ext cx="9875520" cy="215444"/>
          </a:xfrm>
          <a:prstGeom prst="rect">
            <a:avLst/>
          </a:prstGeom>
          <a:noFill/>
        </p:spPr>
        <p:txBody>
          <a:bodyPr wrap="square">
            <a:spAutoFit/>
          </a:bodyPr>
          <a:lstStyle/>
          <a:p>
            <a:r>
              <a:rPr lang="en-US" altLang="ja-JP" sz="800" dirty="0">
                <a:solidFill>
                  <a:srgbClr val="404040"/>
                </a:solidFill>
                <a:latin typeface="游ゴシック" panose="020B0400000000000000" pitchFamily="50" charset="-128"/>
                <a:ea typeface="游ゴシック" panose="020B0400000000000000" pitchFamily="50" charset="-128"/>
              </a:rPr>
              <a:t>※</a:t>
            </a:r>
            <a:r>
              <a:rPr lang="ja-JP" altLang="en-US" sz="800" dirty="0">
                <a:solidFill>
                  <a:srgbClr val="404040"/>
                </a:solidFill>
                <a:latin typeface="游ゴシック" panose="020B0400000000000000" pitchFamily="50" charset="-128"/>
                <a:ea typeface="游ゴシック" panose="020B0400000000000000" pitchFamily="50" charset="-128"/>
              </a:rPr>
              <a:t>氏名はイニシャル管理のため非表示。</a:t>
            </a:r>
            <a:endParaRPr sz="800" dirty="0">
              <a:solidFill>
                <a:srgbClr val="40404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53025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pic>
        <p:nvPicPr>
          <p:cNvPr id="20" name="図 19">
            <a:extLst>
              <a:ext uri="{FF2B5EF4-FFF2-40B4-BE49-F238E27FC236}">
                <a16:creationId xmlns:a16="http://schemas.microsoft.com/office/drawing/2014/main" id="{593B25A5-3F1D-7AA5-EFC8-3CEB096E4ACC}"/>
              </a:ext>
            </a:extLst>
          </p:cNvPr>
          <p:cNvPicPr>
            <a:picLocks noChangeAspect="1"/>
          </p:cNvPicPr>
          <p:nvPr/>
        </p:nvPicPr>
        <p:blipFill>
          <a:blip r:embed="rId3"/>
          <a:stretch>
            <a:fillRect/>
          </a:stretch>
        </p:blipFill>
        <p:spPr>
          <a:xfrm>
            <a:off x="309599" y="3251766"/>
            <a:ext cx="5856621" cy="3588772"/>
          </a:xfrm>
          <a:prstGeom prst="rect">
            <a:avLst/>
          </a:prstGeom>
        </p:spPr>
      </p:pic>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40084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dirty="0">
                <a:latin typeface="+mj-ea"/>
                <a:ea typeface="+mj-ea"/>
              </a:rPr>
              <a:t>本社は東京・上野の好立地（サスガビル4階）に所在する1拠点。企画・営業・管理の各機能を集約してい</a:t>
            </a:r>
            <a:r>
              <a:rPr lang="ja-JP" altLang="en-US" dirty="0">
                <a:latin typeface="+mj-ea"/>
                <a:ea typeface="+mj-ea"/>
              </a:rPr>
              <a:t>る</a:t>
            </a:r>
            <a:r>
              <a:rPr dirty="0">
                <a:latin typeface="+mj-ea"/>
                <a:ea typeface="+mj-ea"/>
              </a:rPr>
              <a:t>。</a:t>
            </a:r>
            <a:endParaRPr lang="en-US" altLang="ja-JP" dirty="0"/>
          </a:p>
        </p:txBody>
      </p:sp>
      <p:graphicFrame>
        <p:nvGraphicFramePr>
          <p:cNvPr id="4" name="表 3">
            <a:extLst>
              <a:ext uri="{FF2B5EF4-FFF2-40B4-BE49-F238E27FC236}">
                <a16:creationId xmlns:a16="http://schemas.microsoft.com/office/drawing/2014/main" id="{325AF47A-6BC9-B6C2-5B98-1956D7B06A39}"/>
              </a:ext>
            </a:extLst>
          </p:cNvPr>
          <p:cNvGraphicFramePr>
            <a:graphicFrameLocks noGrp="1"/>
          </p:cNvGraphicFramePr>
          <p:nvPr>
            <p:extLst>
              <p:ext uri="{D42A27DB-BD31-4B8C-83A1-F6EECF244321}">
                <p14:modId xmlns:p14="http://schemas.microsoft.com/office/powerpoint/2010/main" val="805259124"/>
              </p:ext>
            </p:extLst>
          </p:nvPr>
        </p:nvGraphicFramePr>
        <p:xfrm>
          <a:off x="309600" y="1972901"/>
          <a:ext cx="9221786" cy="786120"/>
        </p:xfrm>
        <a:graphic>
          <a:graphicData uri="http://schemas.openxmlformats.org/drawingml/2006/table">
            <a:tbl>
              <a:tblPr/>
              <a:tblGrid>
                <a:gridCol w="2469222">
                  <a:extLst>
                    <a:ext uri="{9D8B030D-6E8A-4147-A177-3AD203B41FA5}">
                      <a16:colId xmlns:a16="http://schemas.microsoft.com/office/drawing/2014/main" val="2062176054"/>
                    </a:ext>
                  </a:extLst>
                </a:gridCol>
                <a:gridCol w="977610">
                  <a:extLst>
                    <a:ext uri="{9D8B030D-6E8A-4147-A177-3AD203B41FA5}">
                      <a16:colId xmlns:a16="http://schemas.microsoft.com/office/drawing/2014/main" val="1643339880"/>
                    </a:ext>
                  </a:extLst>
                </a:gridCol>
                <a:gridCol w="806276">
                  <a:extLst>
                    <a:ext uri="{9D8B030D-6E8A-4147-A177-3AD203B41FA5}">
                      <a16:colId xmlns:a16="http://schemas.microsoft.com/office/drawing/2014/main" val="2265824260"/>
                    </a:ext>
                  </a:extLst>
                </a:gridCol>
                <a:gridCol w="806276">
                  <a:extLst>
                    <a:ext uri="{9D8B030D-6E8A-4147-A177-3AD203B41FA5}">
                      <a16:colId xmlns:a16="http://schemas.microsoft.com/office/drawing/2014/main" val="1420906063"/>
                    </a:ext>
                  </a:extLst>
                </a:gridCol>
                <a:gridCol w="806276">
                  <a:extLst>
                    <a:ext uri="{9D8B030D-6E8A-4147-A177-3AD203B41FA5}">
                      <a16:colId xmlns:a16="http://schemas.microsoft.com/office/drawing/2014/main" val="2817479663"/>
                    </a:ext>
                  </a:extLst>
                </a:gridCol>
                <a:gridCol w="3356126">
                  <a:extLst>
                    <a:ext uri="{9D8B030D-6E8A-4147-A177-3AD203B41FA5}">
                      <a16:colId xmlns:a16="http://schemas.microsoft.com/office/drawing/2014/main" val="1610221471"/>
                    </a:ext>
                  </a:extLst>
                </a:gridCol>
              </a:tblGrid>
              <a:tr h="393060">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月間賃料</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a:t>
                      </a:r>
                      <a:br>
                        <a:rPr lang="ja-JP" sz="1000" b="1" i="0" u="none" strike="noStrike">
                          <a:solidFill>
                            <a:srgbClr val="FFFFFF"/>
                          </a:solidFill>
                          <a:effectLst/>
                          <a:latin typeface="游ゴシック" panose="020B0400000000000000" pitchFamily="50" charset="-128"/>
                          <a:ea typeface="游ゴシック" panose="020B0400000000000000" pitchFamily="50" charset="-128"/>
                        </a:rPr>
                      </a:br>
                      <a:r>
                        <a:rPr lang="ja-JP" sz="1000" b="1" i="0" u="none" strike="noStrike">
                          <a:solidFill>
                            <a:srgbClr val="FFFFFF"/>
                          </a:solidFill>
                          <a:effectLst/>
                          <a:latin typeface="游ゴシック" panose="020B0400000000000000" pitchFamily="50" charset="-128"/>
                          <a:ea typeface="游ゴシック" panose="020B0400000000000000" pitchFamily="50" charset="-128"/>
                        </a:rPr>
                        <a:t>(千円)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アクセス</a:t>
                      </a: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70587111"/>
                  </a:ext>
                </a:extLst>
              </a:tr>
              <a:tr h="39306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東京都台東区東上野一丁目20番5号 </a:t>
                      </a:r>
                      <a:br>
                        <a:rPr lang="ja-JP" sz="1000" b="0" i="0" u="none" strike="noStrike">
                          <a:solidFill>
                            <a:srgbClr val="000000"/>
                          </a:solidFill>
                          <a:effectLst/>
                          <a:latin typeface="游ゴシック" panose="020B0400000000000000" pitchFamily="50" charset="-128"/>
                          <a:ea typeface="游ゴシック" panose="020B0400000000000000" pitchFamily="50" charset="-128"/>
                        </a:rPr>
                      </a:br>
                      <a:r>
                        <a:rPr lang="ja-JP" sz="1000" b="0" i="0" u="none" strike="noStrike">
                          <a:solidFill>
                            <a:srgbClr val="000000"/>
                          </a:solidFill>
                          <a:effectLst/>
                          <a:latin typeface="游ゴシック" panose="020B0400000000000000" pitchFamily="50" charset="-128"/>
                          <a:ea typeface="游ゴシック" panose="020B0400000000000000" pitchFamily="50" charset="-128"/>
                        </a:rPr>
                        <a:t>サスガビル4階</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115.7</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436</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1,264</a:t>
                      </a:r>
                    </a:p>
                  </a:txBody>
                  <a:tcPr marL="0" marR="9070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仲御徒町駅徒歩4分、上野御徒町駅徒歩6分、</a:t>
                      </a:r>
                      <a:br>
                        <a:rPr lang="ja-JP"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御徒町駅徒歩6分</a:t>
                      </a:r>
                    </a:p>
                  </a:txBody>
                  <a:tcPr marL="9070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47140917"/>
                  </a:ext>
                </a:extLst>
              </a:tr>
            </a:tbl>
          </a:graphicData>
        </a:graphic>
      </p:graphicFrame>
      <p:sp>
        <p:nvSpPr>
          <p:cNvPr id="17" name="正方形/長方形 16">
            <a:extLst>
              <a:ext uri="{FF2B5EF4-FFF2-40B4-BE49-F238E27FC236}">
                <a16:creationId xmlns:a16="http://schemas.microsoft.com/office/drawing/2014/main" id="{3F2D807C-4EFA-57B4-2B5D-60A6604F1DE6}"/>
              </a:ext>
            </a:extLst>
          </p:cNvPr>
          <p:cNvSpPr/>
          <p:nvPr/>
        </p:nvSpPr>
        <p:spPr>
          <a:xfrm>
            <a:off x="1329743" y="3251766"/>
            <a:ext cx="776287" cy="291272"/>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二等辺三角形 10">
            <a:extLst>
              <a:ext uri="{FF2B5EF4-FFF2-40B4-BE49-F238E27FC236}">
                <a16:creationId xmlns:a16="http://schemas.microsoft.com/office/drawing/2014/main" id="{1702ED47-A490-B2A1-B472-68ACB72C6CC7}"/>
              </a:ext>
            </a:extLst>
          </p:cNvPr>
          <p:cNvSpPr/>
          <p:nvPr/>
        </p:nvSpPr>
        <p:spPr>
          <a:xfrm rot="15699000">
            <a:off x="5256614" y="3383598"/>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E686759-FC8F-A046-94D4-2BCFB5551308}"/>
              </a:ext>
            </a:extLst>
          </p:cNvPr>
          <p:cNvSpPr/>
          <p:nvPr/>
        </p:nvSpPr>
        <p:spPr>
          <a:xfrm>
            <a:off x="309599" y="575543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38DD0D24-AEEE-86C6-DF4C-BF55FAD553C4}"/>
              </a:ext>
            </a:extLst>
          </p:cNvPr>
          <p:cNvSpPr/>
          <p:nvPr/>
        </p:nvSpPr>
        <p:spPr>
          <a:xfrm>
            <a:off x="1041400" y="5688756"/>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6CDE1CD-5B97-1266-F6A0-0C3145215981}"/>
              </a:ext>
            </a:extLst>
          </p:cNvPr>
          <p:cNvSpPr/>
          <p:nvPr/>
        </p:nvSpPr>
        <p:spPr>
          <a:xfrm>
            <a:off x="1435577" y="5995988"/>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ABCB77D2-054B-D106-CB52-841C38ABD294}"/>
              </a:ext>
            </a:extLst>
          </p:cNvPr>
          <p:cNvSpPr/>
          <p:nvPr/>
        </p:nvSpPr>
        <p:spPr>
          <a:xfrm>
            <a:off x="2145824" y="6599980"/>
            <a:ext cx="710247"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389F0C9-8E02-C569-4684-FD95FDAD4415}"/>
              </a:ext>
            </a:extLst>
          </p:cNvPr>
          <p:cNvSpPr/>
          <p:nvPr/>
        </p:nvSpPr>
        <p:spPr>
          <a:xfrm>
            <a:off x="5172149" y="6359422"/>
            <a:ext cx="862891" cy="240558"/>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B9B8E9C5-6193-0A82-A3DB-B3742211E46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861856" y="2869174"/>
            <a:ext cx="2978523" cy="3971364"/>
          </a:xfrm>
          <a:prstGeom prst="rect">
            <a:avLst/>
          </a:prstGeom>
        </p:spPr>
      </p:pic>
    </p:spTree>
    <p:extLst>
      <p:ext uri="{BB962C8B-B14F-4D97-AF65-F5344CB8AC3E}">
        <p14:creationId xmlns:p14="http://schemas.microsoft.com/office/powerpoint/2010/main" val="630750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a:latin typeface="+mj-ea"/>
                <a:ea typeface="+mj-ea"/>
              </a:rPr>
              <a:t>自社工場を持たないファブレス体制のため、保有設備は少額。有形固定資産は建物附属設備・車両運搬具・工具器具備品の合計約1,057千円です。</a:t>
            </a:r>
            <a:endParaRPr lang="en-US" altLang="ja-JP" dirty="0"/>
          </a:p>
        </p:txBody>
      </p:sp>
      <p:graphicFrame>
        <p:nvGraphicFramePr>
          <p:cNvPr id="14" name="Table 13"/>
          <p:cNvGraphicFramePr>
            <a:graphicFrameLocks noGrp="1"/>
          </p:cNvGraphicFramePr>
          <p:nvPr/>
        </p:nvGraphicFramePr>
        <p:xfrm>
          <a:off x="309600" y="1620000"/>
          <a:ext cx="5400000" cy="1404000"/>
        </p:xfrm>
        <a:graphic>
          <a:graphicData uri="http://schemas.openxmlformats.org/drawingml/2006/table">
            <a:tbl>
              <a:tblPr>
                <a:tableStyleId>{5C22544A-7EE6-4342-B048-85BDC9FD1C3A}</a:tableStyleId>
              </a:tblPr>
              <a:tblGrid>
                <a:gridCol w="288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tblGrid>
              <a:tr h="234000">
                <a:tc>
                  <a:txBody>
                    <a:bodyPr/>
                    <a:lstStyle/>
                    <a:p>
                      <a:pPr algn="ctr"/>
                      <a:r>
                        <a:rPr sz="1000" b="1">
                          <a:solidFill>
                            <a:srgbClr val="FFFFFF"/>
                          </a:solidFill>
                          <a:latin typeface="游ゴシック"/>
                          <a:ea typeface="游ゴシック"/>
                        </a:rPr>
                        <a:t>科目</a:t>
                      </a:r>
                    </a:p>
                  </a:txBody>
                  <a:tcPr marL="36000" marR="36000" marT="7200" marB="7200" anchor="ctr">
                    <a:solidFill>
                      <a:srgbClr val="0B3041"/>
                    </a:solidFill>
                  </a:tcPr>
                </a:tc>
                <a:tc>
                  <a:txBody>
                    <a:bodyPr/>
                    <a:lstStyle/>
                    <a:p>
                      <a:pPr algn="ctr"/>
                      <a:r>
                        <a:rPr sz="1000" b="1">
                          <a:solidFill>
                            <a:srgbClr val="FFFFFF"/>
                          </a:solidFill>
                          <a:latin typeface="游ゴシック"/>
                          <a:ea typeface="游ゴシック"/>
                        </a:rPr>
                        <a:t>期末簿価(令和8年1月期)</a:t>
                      </a:r>
                    </a:p>
                  </a:txBody>
                  <a:tcPr marL="36000" marR="36000" marT="7200" marB="7200" anchor="ctr">
                    <a:solidFill>
                      <a:srgbClr val="0B3041"/>
                    </a:solidFill>
                  </a:tcPr>
                </a:tc>
                <a:extLst>
                  <a:ext uri="{0D108BD9-81ED-4DB2-BD59-A6C34878D82A}">
                    <a16:rowId xmlns:a16="http://schemas.microsoft.com/office/drawing/2014/main" val="10000"/>
                  </a:ext>
                </a:extLst>
              </a:tr>
              <a:tr h="234000">
                <a:tc>
                  <a:txBody>
                    <a:bodyPr/>
                    <a:lstStyle/>
                    <a:p>
                      <a:pPr algn="l"/>
                      <a:r>
                        <a:rPr sz="1000" b="0">
                          <a:solidFill>
                            <a:srgbClr val="0B3041"/>
                          </a:solidFill>
                          <a:latin typeface="游ゴシック"/>
                          <a:ea typeface="游ゴシック"/>
                        </a:rPr>
                        <a:t>建物附属設備</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701千円</a:t>
                      </a:r>
                    </a:p>
                  </a:txBody>
                  <a:tcPr marL="36000" marR="36000" marT="7200" marB="7200" anchor="ctr">
                    <a:solidFill>
                      <a:srgbClr val="FFFFFF"/>
                    </a:solidFill>
                  </a:tcPr>
                </a:tc>
                <a:extLst>
                  <a:ext uri="{0D108BD9-81ED-4DB2-BD59-A6C34878D82A}">
                    <a16:rowId xmlns:a16="http://schemas.microsoft.com/office/drawing/2014/main" val="10001"/>
                  </a:ext>
                </a:extLst>
              </a:tr>
              <a:tr h="234000">
                <a:tc>
                  <a:txBody>
                    <a:bodyPr/>
                    <a:lstStyle/>
                    <a:p>
                      <a:pPr algn="l"/>
                      <a:r>
                        <a:rPr sz="1000" b="0">
                          <a:solidFill>
                            <a:srgbClr val="0B3041"/>
                          </a:solidFill>
                          <a:latin typeface="游ゴシック"/>
                          <a:ea typeface="游ゴシック"/>
                        </a:rPr>
                        <a:t>車両運搬具 ※</a:t>
                      </a:r>
                    </a:p>
                  </a:txBody>
                  <a:tcPr marL="36000" marR="36000" marT="7200" marB="7200" anchor="ctr">
                    <a:solidFill>
                      <a:srgbClr val="F4F7F9"/>
                    </a:solidFill>
                  </a:tcPr>
                </a:tc>
                <a:tc>
                  <a:txBody>
                    <a:bodyPr/>
                    <a:lstStyle/>
                    <a:p>
                      <a:pPr algn="r"/>
                      <a:r>
                        <a:rPr sz="1000" b="0" dirty="0">
                          <a:solidFill>
                            <a:srgbClr val="0B3041"/>
                          </a:solidFill>
                          <a:latin typeface="游ゴシック"/>
                          <a:ea typeface="游ゴシック"/>
                        </a:rPr>
                        <a:t>265千円</a:t>
                      </a:r>
                    </a:p>
                  </a:txBody>
                  <a:tcPr marL="36000" marR="36000" marT="7200" marB="7200" anchor="ctr">
                    <a:solidFill>
                      <a:srgbClr val="F4F7F9"/>
                    </a:solidFill>
                  </a:tcPr>
                </a:tc>
                <a:extLst>
                  <a:ext uri="{0D108BD9-81ED-4DB2-BD59-A6C34878D82A}">
                    <a16:rowId xmlns:a16="http://schemas.microsoft.com/office/drawing/2014/main" val="10002"/>
                  </a:ext>
                </a:extLst>
              </a:tr>
              <a:tr h="234000">
                <a:tc>
                  <a:txBody>
                    <a:bodyPr/>
                    <a:lstStyle/>
                    <a:p>
                      <a:pPr algn="l"/>
                      <a:r>
                        <a:rPr sz="1000" b="0">
                          <a:solidFill>
                            <a:srgbClr val="0B3041"/>
                          </a:solidFill>
                          <a:latin typeface="游ゴシック"/>
                          <a:ea typeface="游ゴシック"/>
                        </a:rPr>
                        <a:t>工具器具備品</a:t>
                      </a:r>
                    </a:p>
                  </a:txBody>
                  <a:tcPr marL="36000" marR="36000" marT="7200" marB="7200" anchor="ctr">
                    <a:solidFill>
                      <a:srgbClr val="FFFFFF"/>
                    </a:solidFill>
                  </a:tcPr>
                </a:tc>
                <a:tc>
                  <a:txBody>
                    <a:bodyPr/>
                    <a:lstStyle/>
                    <a:p>
                      <a:pPr algn="r"/>
                      <a:r>
                        <a:rPr sz="1000" b="0">
                          <a:solidFill>
                            <a:srgbClr val="0B3041"/>
                          </a:solidFill>
                          <a:latin typeface="游ゴシック"/>
                          <a:ea typeface="游ゴシック"/>
                        </a:rPr>
                        <a:t>91千円</a:t>
                      </a:r>
                    </a:p>
                  </a:txBody>
                  <a:tcPr marL="36000" marR="36000" marT="7200" marB="7200" anchor="ctr">
                    <a:solidFill>
                      <a:srgbClr val="FFFFFF"/>
                    </a:solidFill>
                  </a:tcPr>
                </a:tc>
                <a:extLst>
                  <a:ext uri="{0D108BD9-81ED-4DB2-BD59-A6C34878D82A}">
                    <a16:rowId xmlns:a16="http://schemas.microsoft.com/office/drawing/2014/main" val="10003"/>
                  </a:ext>
                </a:extLst>
              </a:tr>
              <a:tr h="234000">
                <a:tc>
                  <a:txBody>
                    <a:bodyPr/>
                    <a:lstStyle/>
                    <a:p>
                      <a:pPr algn="l"/>
                      <a:r>
                        <a:rPr sz="1000" b="1">
                          <a:solidFill>
                            <a:srgbClr val="0B3041"/>
                          </a:solidFill>
                          <a:latin typeface="游ゴシック"/>
                          <a:ea typeface="游ゴシック"/>
                        </a:rPr>
                        <a:t>有形固定資産 合計</a:t>
                      </a:r>
                    </a:p>
                  </a:txBody>
                  <a:tcPr marL="36000" marR="36000" marT="7200" marB="7200" anchor="ctr">
                    <a:solidFill>
                      <a:srgbClr val="E3E7E9"/>
                    </a:solidFill>
                  </a:tcPr>
                </a:tc>
                <a:tc>
                  <a:txBody>
                    <a:bodyPr/>
                    <a:lstStyle/>
                    <a:p>
                      <a:pPr algn="r"/>
                      <a:r>
                        <a:rPr sz="1000" b="1">
                          <a:solidFill>
                            <a:srgbClr val="0B3041"/>
                          </a:solidFill>
                          <a:latin typeface="游ゴシック"/>
                          <a:ea typeface="游ゴシック"/>
                        </a:rPr>
                        <a:t>1,057千円</a:t>
                      </a:r>
                    </a:p>
                  </a:txBody>
                  <a:tcPr marL="36000" marR="36000" marT="7200" marB="7200" anchor="ctr">
                    <a:solidFill>
                      <a:srgbClr val="E3E7E9"/>
                    </a:solidFill>
                  </a:tcPr>
                </a:tc>
                <a:extLst>
                  <a:ext uri="{0D108BD9-81ED-4DB2-BD59-A6C34878D82A}">
                    <a16:rowId xmlns:a16="http://schemas.microsoft.com/office/drawing/2014/main" val="10004"/>
                  </a:ext>
                </a:extLst>
              </a:tr>
              <a:tr h="234000">
                <a:tc>
                  <a:txBody>
                    <a:bodyPr/>
                    <a:lstStyle/>
                    <a:p>
                      <a:pPr algn="l"/>
                      <a:r>
                        <a:rPr sz="1000" b="0">
                          <a:solidFill>
                            <a:srgbClr val="0B3041"/>
                          </a:solidFill>
                          <a:latin typeface="游ゴシック"/>
                          <a:ea typeface="游ゴシック"/>
                        </a:rPr>
                        <a:t>（無形）ソフトウェア</a:t>
                      </a:r>
                    </a:p>
                  </a:txBody>
                  <a:tcPr marL="36000" marR="36000" marT="7200" marB="7200" anchor="ctr">
                    <a:solidFill>
                      <a:srgbClr val="FFFFFF"/>
                    </a:solidFill>
                  </a:tcPr>
                </a:tc>
                <a:tc>
                  <a:txBody>
                    <a:bodyPr/>
                    <a:lstStyle/>
                    <a:p>
                      <a:pPr algn="r"/>
                      <a:r>
                        <a:rPr sz="1000" b="0" dirty="0">
                          <a:solidFill>
                            <a:srgbClr val="0B3041"/>
                          </a:solidFill>
                          <a:latin typeface="游ゴシック"/>
                          <a:ea typeface="游ゴシック"/>
                        </a:rPr>
                        <a:t>2,112千円</a:t>
                      </a:r>
                    </a:p>
                  </a:txBody>
                  <a:tcPr marL="36000" marR="36000" marT="7200" marB="7200" anchor="ctr">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309600" y="3240000"/>
            <a:ext cx="7200000" cy="900000"/>
          </a:xfrm>
          <a:prstGeom prst="rect">
            <a:avLst/>
          </a:prstGeom>
          <a:noFill/>
        </p:spPr>
        <p:txBody>
          <a:bodyPr wrap="square">
            <a:spAutoFit/>
          </a:bodyPr>
          <a:lstStyle/>
          <a:p>
            <a:pPr algn="l"/>
            <a:r>
              <a:rPr sz="1100" dirty="0">
                <a:solidFill>
                  <a:srgbClr val="595959"/>
                </a:solidFill>
                <a:latin typeface="游ゴシック"/>
                <a:ea typeface="游ゴシック"/>
              </a:rPr>
              <a:t>※ 車両運搬具265千円は会社分割による承継対象（本取引の譲渡対象外）です。</a:t>
            </a:r>
          </a:p>
          <a:p>
            <a:pPr algn="l"/>
            <a:r>
              <a:rPr sz="1100" dirty="0">
                <a:solidFill>
                  <a:srgbClr val="595959"/>
                </a:solidFill>
                <a:latin typeface="游ゴシック"/>
                <a:ea typeface="游ゴシック"/>
              </a:rPr>
              <a:t>※ 個別資産の名称・取得年月・耐用年数等は、減価償却台帳（原本）確認中のため未記載です。</a:t>
            </a:r>
          </a:p>
          <a:p>
            <a:pPr algn="l"/>
            <a:r>
              <a:rPr sz="1100" dirty="0">
                <a:solidFill>
                  <a:srgbClr val="595959"/>
                </a:solidFill>
                <a:latin typeface="游ゴシック"/>
                <a:ea typeface="游ゴシック"/>
              </a:rPr>
              <a:t>※ 自社工場を持たないファブレス体制のため、保有設備は少額です。</a:t>
            </a: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dirty="0">
                <a:latin typeface="+mj-ea"/>
                <a:ea typeface="+mj-ea"/>
              </a:rPr>
              <a:t>3期を通じて自己資本を着実に積み上げ、</a:t>
            </a:r>
            <a:r>
              <a:rPr lang="en-US" dirty="0">
                <a:latin typeface="+mj-ea"/>
                <a:ea typeface="+mj-ea"/>
              </a:rPr>
              <a:t>2026</a:t>
            </a:r>
            <a:r>
              <a:rPr dirty="0">
                <a:latin typeface="+mj-ea"/>
                <a:ea typeface="+mj-ea"/>
              </a:rPr>
              <a:t>年1月期の純資産は</a:t>
            </a:r>
            <a:r>
              <a:rPr lang="ja-JP" altLang="en-US" dirty="0"/>
              <a:t>約</a:t>
            </a:r>
            <a:r>
              <a:rPr lang="en-US" altLang="ja-JP" dirty="0"/>
              <a:t>333,536</a:t>
            </a:r>
            <a:r>
              <a:rPr lang="ja-JP" altLang="en-US" dirty="0"/>
              <a:t>千円</a:t>
            </a:r>
            <a:r>
              <a:rPr dirty="0">
                <a:latin typeface="+mj-ea"/>
                <a:ea typeface="+mj-ea"/>
              </a:rPr>
              <a:t>、自己資本比率60.6%。</a:t>
            </a:r>
            <a:r>
              <a:rPr dirty="0" err="1">
                <a:latin typeface="+mj-ea"/>
                <a:ea typeface="+mj-ea"/>
              </a:rPr>
              <a:t>現預金・投資有価証券等の金融資産を潤沢に保有</a:t>
            </a:r>
            <a:r>
              <a:rPr dirty="0">
                <a:latin typeface="+mj-ea"/>
                <a:ea typeface="+mj-ea"/>
              </a:rPr>
              <a:t>。</a:t>
            </a:r>
            <a:endParaRPr lang="en-US" altLang="ja-JP" dirty="0"/>
          </a:p>
        </p:txBody>
      </p:sp>
      <p:graphicFrame>
        <p:nvGraphicFramePr>
          <p:cNvPr id="3" name="表 2">
            <a:extLst>
              <a:ext uri="{FF2B5EF4-FFF2-40B4-BE49-F238E27FC236}">
                <a16:creationId xmlns:a16="http://schemas.microsoft.com/office/drawing/2014/main" id="{ED3FFCF2-01D6-D5D2-B115-DDDAF997F296}"/>
              </a:ext>
            </a:extLst>
          </p:cNvPr>
          <p:cNvGraphicFramePr>
            <a:graphicFrameLocks noGrp="1"/>
          </p:cNvGraphicFramePr>
          <p:nvPr>
            <p:extLst>
              <p:ext uri="{D42A27DB-BD31-4B8C-83A1-F6EECF244321}">
                <p14:modId xmlns:p14="http://schemas.microsoft.com/office/powerpoint/2010/main" val="3353666852"/>
              </p:ext>
            </p:extLst>
          </p:nvPr>
        </p:nvGraphicFramePr>
        <p:xfrm>
          <a:off x="341313" y="1465130"/>
          <a:ext cx="5003801" cy="5502875"/>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353,922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309,100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226,144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260,204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24,606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23,574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140,739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228,973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323,863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138,808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224,806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320,694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112,672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188,090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275,896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24,767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43,327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494,662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538,073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550,008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9" name="表 8">
            <a:extLst>
              <a:ext uri="{FF2B5EF4-FFF2-40B4-BE49-F238E27FC236}">
                <a16:creationId xmlns:a16="http://schemas.microsoft.com/office/drawing/2014/main" id="{B8B8034E-CCA0-199B-5D45-A95747C20662}"/>
              </a:ext>
            </a:extLst>
          </p:cNvPr>
          <p:cNvGraphicFramePr>
            <a:graphicFrameLocks noGrp="1"/>
          </p:cNvGraphicFramePr>
          <p:nvPr>
            <p:extLst>
              <p:ext uri="{D42A27DB-BD31-4B8C-83A1-F6EECF244321}">
                <p14:modId xmlns:p14="http://schemas.microsoft.com/office/powerpoint/2010/main" val="125833566"/>
              </p:ext>
            </p:extLst>
          </p:nvPr>
        </p:nvGraphicFramePr>
        <p:xfrm>
          <a:off x="5345114" y="1465133"/>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106,163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70,492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42,759</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51,251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9,645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5,447</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3,947</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19,455</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12,018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154</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41,828</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191,690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136,004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145,980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239,314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242,167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216,472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11" name="表 10">
            <a:extLst>
              <a:ext uri="{FF2B5EF4-FFF2-40B4-BE49-F238E27FC236}">
                <a16:creationId xmlns:a16="http://schemas.microsoft.com/office/drawing/2014/main" id="{B4F2EDCB-2EC3-7053-7613-82493D7F511B}"/>
              </a:ext>
            </a:extLst>
          </p:cNvPr>
          <p:cNvGraphicFramePr>
            <a:graphicFrameLocks noGrp="1"/>
          </p:cNvGraphicFramePr>
          <p:nvPr>
            <p:extLst>
              <p:ext uri="{D42A27DB-BD31-4B8C-83A1-F6EECF244321}">
                <p14:modId xmlns:p14="http://schemas.microsoft.com/office/powerpoint/2010/main" val="2827332643"/>
              </p:ext>
            </p:extLst>
          </p:nvPr>
        </p:nvGraphicFramePr>
        <p:xfrm>
          <a:off x="5345113" y="5349405"/>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245,348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255,348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295,906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333,536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494,662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538,073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550,008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en-US" dirty="0"/>
              <a:t>2025</a:t>
            </a:r>
            <a:r>
              <a:rPr dirty="0">
                <a:latin typeface="+mj-ea"/>
                <a:ea typeface="+mj-ea"/>
              </a:rPr>
              <a:t>年1月期に売上・利益が大きく伸長。</a:t>
            </a:r>
            <a:r>
              <a:rPr lang="en-US" dirty="0">
                <a:latin typeface="+mj-ea"/>
                <a:ea typeface="+mj-ea"/>
              </a:rPr>
              <a:t>2026</a:t>
            </a:r>
            <a:r>
              <a:rPr dirty="0">
                <a:latin typeface="+mj-ea"/>
                <a:ea typeface="+mj-ea"/>
              </a:rPr>
              <a:t>年1月期は売上422百万円・営業利益58百万円と高水準を維持し、営業利益率13.9%を確保してい</a:t>
            </a:r>
            <a:r>
              <a:rPr lang="ja-JP" altLang="en-US" dirty="0"/>
              <a:t>る</a:t>
            </a:r>
            <a:r>
              <a:rPr dirty="0">
                <a:latin typeface="+mj-ea"/>
                <a:ea typeface="+mj-ea"/>
              </a:rPr>
              <a:t>。</a:t>
            </a:r>
            <a:endParaRPr lang="en-US" altLang="ja-JP" dirty="0"/>
          </a:p>
        </p:txBody>
      </p:sp>
      <p:graphicFrame>
        <p:nvGraphicFramePr>
          <p:cNvPr id="7" name="表 6">
            <a:extLst>
              <a:ext uri="{FF2B5EF4-FFF2-40B4-BE49-F238E27FC236}">
                <a16:creationId xmlns:a16="http://schemas.microsoft.com/office/drawing/2014/main" id="{84459E27-86F9-B5C8-0AE6-0F47C5BC98E8}"/>
              </a:ext>
            </a:extLst>
          </p:cNvPr>
          <p:cNvGraphicFramePr>
            <a:graphicFrameLocks noGrp="1"/>
          </p:cNvGraphicFramePr>
          <p:nvPr>
            <p:extLst>
              <p:ext uri="{D42A27DB-BD31-4B8C-83A1-F6EECF244321}">
                <p14:modId xmlns:p14="http://schemas.microsoft.com/office/powerpoint/2010/main" val="2931623783"/>
              </p:ext>
            </p:extLst>
          </p:nvPr>
        </p:nvGraphicFramePr>
        <p:xfrm>
          <a:off x="341312" y="1238667"/>
          <a:ext cx="9901240" cy="5712739"/>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1241">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46187">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68047">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301,576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285,379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15,180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158,489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316,755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443,868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422,475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172,657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237,258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225,575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08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213,200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264,942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271,671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103,555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178,926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150,803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97,396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100,736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92,289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78,191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58,514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89,929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64,943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27,861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08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61,255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51,439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08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0852">
                <a:tc>
                  <a:txBody>
                    <a:bodyPr/>
                    <a:lstStyle/>
                    <a:p>
                      <a:pPr algn="l"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△5,170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40,558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rPr>
              <a:t>売上原価の内訳（製造委託中心）</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dirty="0" err="1">
                <a:latin typeface="+mj-ea"/>
                <a:ea typeface="+mj-ea"/>
              </a:rPr>
              <a:t>自社工場を持たないため、売上原価の大半は当期商品仕入高（製造委託分）で構成。製造委託に付随する支払手数料・外注費・試作費等を含</a:t>
            </a:r>
            <a:r>
              <a:rPr lang="ja-JP" altLang="en-US" dirty="0">
                <a:latin typeface="+mj-ea"/>
                <a:ea typeface="+mj-ea"/>
              </a:rPr>
              <a:t>む</a:t>
            </a:r>
            <a:r>
              <a:rPr dirty="0">
                <a:latin typeface="+mj-ea"/>
                <a:ea typeface="+mj-ea"/>
              </a:rPr>
              <a:t>。</a:t>
            </a:r>
            <a:endParaRPr lang="en-US" altLang="ja-JP" dirty="0"/>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2017477"/>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製造委託中心のため、材料費・労務費等の</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製造原価科目は発生せず、仕入・製造委託</a:t>
            </a:r>
            <a:endParaRPr sz="1050" dirty="0">
              <a:latin typeface="+mn-ea"/>
              <a:ea typeface="+mn-ea"/>
            </a:endParaRPr>
          </a:p>
          <a:p>
            <a:r>
              <a:rPr sz="1050" dirty="0">
                <a:latin typeface="+mn-ea"/>
                <a:ea typeface="+mn-ea"/>
              </a:rPr>
              <a:t>　</a:t>
            </a:r>
            <a:r>
              <a:rPr sz="1050" dirty="0" err="1">
                <a:latin typeface="+mn-ea"/>
                <a:ea typeface="+mn-ea"/>
              </a:rPr>
              <a:t>関連費用で構成</a:t>
            </a:r>
            <a:endParaRPr sz="1050" dirty="0">
              <a:latin typeface="+mn-ea"/>
              <a:ea typeface="+mn-ea"/>
            </a:endParaRPr>
          </a:p>
          <a:p>
            <a:endParaRPr sz="1050" dirty="0">
              <a:latin typeface="+mn-ea"/>
              <a:ea typeface="+mn-ea"/>
            </a:endParaRPr>
          </a:p>
          <a:p>
            <a:r>
              <a:rPr sz="1050" dirty="0">
                <a:latin typeface="+mn-ea"/>
                <a:ea typeface="+mn-ea"/>
              </a:rPr>
              <a:t>・</a:t>
            </a:r>
            <a:r>
              <a:rPr sz="1050" dirty="0" err="1">
                <a:latin typeface="+mn-ea"/>
                <a:ea typeface="+mn-ea"/>
              </a:rPr>
              <a:t>棚卸資産の増減（他勘定振替・廃棄損）が</a:t>
            </a:r>
            <a:endParaRPr sz="1050" dirty="0">
              <a:latin typeface="+mn-ea"/>
              <a:ea typeface="+mn-ea"/>
            </a:endParaRPr>
          </a:p>
          <a:p>
            <a:r>
              <a:rPr sz="1050" dirty="0">
                <a:latin typeface="+mn-ea"/>
                <a:ea typeface="+mn-ea"/>
              </a:rPr>
              <a:t>　</a:t>
            </a:r>
            <a:r>
              <a:rPr sz="1050" dirty="0" err="1">
                <a:latin typeface="+mn-ea"/>
                <a:ea typeface="+mn-ea"/>
              </a:rPr>
              <a:t>期により変動</a:t>
            </a:r>
            <a:endParaRPr sz="1050" dirty="0">
              <a:latin typeface="+mn-ea"/>
              <a:ea typeface="+mn-ea"/>
            </a:endParaRPr>
          </a:p>
        </p:txBody>
      </p:sp>
      <p:graphicFrame>
        <p:nvGraphicFramePr>
          <p:cNvPr id="14" name="Table 13"/>
          <p:cNvGraphicFramePr>
            <a:graphicFrameLocks noGrp="1"/>
          </p:cNvGraphicFramePr>
          <p:nvPr>
            <p:extLst>
              <p:ext uri="{D42A27DB-BD31-4B8C-83A1-F6EECF244321}">
                <p14:modId xmlns:p14="http://schemas.microsoft.com/office/powerpoint/2010/main" val="297527671"/>
              </p:ext>
            </p:extLst>
          </p:nvPr>
        </p:nvGraphicFramePr>
        <p:xfrm>
          <a:off x="309600" y="1655999"/>
          <a:ext cx="5976000" cy="3419999"/>
        </p:xfrm>
        <a:graphic>
          <a:graphicData uri="http://schemas.openxmlformats.org/drawingml/2006/table">
            <a:tbl>
              <a:tblPr>
                <a:tableStyleId>{5C22544A-7EE6-4342-B048-85BDC9FD1C3A}</a:tableStyleId>
              </a:tblPr>
              <a:tblGrid>
                <a:gridCol w="2304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tblGrid>
              <a:tr h="310909">
                <a:tc>
                  <a:txBody>
                    <a:bodyPr/>
                    <a:lstStyle/>
                    <a:p>
                      <a:pPr algn="ctr"/>
                      <a:r>
                        <a:rPr sz="900" b="1">
                          <a:solidFill>
                            <a:srgbClr val="FFFFFF"/>
                          </a:solidFill>
                          <a:latin typeface="游ゴシック" panose="020B0400000000000000" pitchFamily="50" charset="-128"/>
                          <a:ea typeface="游ゴシック" panose="020B0400000000000000" pitchFamily="50" charset="-128"/>
                        </a:rPr>
                        <a:t>科目</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2024</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2025</a:t>
                      </a:r>
                      <a:r>
                        <a:rPr lang="ja-JP" altLang="en-US" sz="900" b="1" dirty="0">
                          <a:solidFill>
                            <a:srgbClr val="FFFFFF"/>
                          </a:solidFill>
                          <a:latin typeface="游ゴシック" panose="020B0400000000000000" pitchFamily="50" charset="-128"/>
                          <a:ea typeface="游ゴシック" panose="020B0400000000000000" pitchFamily="50" charset="-128"/>
                        </a:rPr>
                        <a:t>年</a:t>
                      </a:r>
                      <a:r>
                        <a:rPr sz="900" b="1" dirty="0">
                          <a:solidFill>
                            <a:srgbClr val="FFFFFF"/>
                          </a:solidFill>
                          <a:latin typeface="游ゴシック" panose="020B0400000000000000" pitchFamily="50" charset="-128"/>
                          <a:ea typeface="游ゴシック" panose="020B0400000000000000" pitchFamily="50" charset="-128"/>
                        </a:rPr>
                        <a:t>1月期</a:t>
                      </a:r>
                    </a:p>
                  </a:txBody>
                  <a:tcPr marL="36000" marR="36000" marT="7200" marB="7200" anchor="ctr">
                    <a:solidFill>
                      <a:srgbClr val="0B3041"/>
                    </a:solidFill>
                  </a:tcPr>
                </a:tc>
                <a:tc>
                  <a:txBody>
                    <a:bodyPr/>
                    <a:lstStyle/>
                    <a:p>
                      <a:pPr algn="ctr"/>
                      <a:r>
                        <a:rPr lang="en-US" sz="900" b="1" dirty="0">
                          <a:solidFill>
                            <a:srgbClr val="FFFFFF"/>
                          </a:solidFill>
                          <a:latin typeface="游ゴシック" panose="020B0400000000000000" pitchFamily="50" charset="-128"/>
                          <a:ea typeface="游ゴシック" panose="020B0400000000000000" pitchFamily="50" charset="-128"/>
                        </a:rPr>
                        <a:t>2026</a:t>
                      </a:r>
                      <a:r>
                        <a:rPr sz="900" b="1" dirty="0">
                          <a:solidFill>
                            <a:srgbClr val="FFFFFF"/>
                          </a:solidFill>
                          <a:latin typeface="游ゴシック" panose="020B0400000000000000" pitchFamily="50" charset="-128"/>
                          <a:ea typeface="游ゴシック" panose="020B0400000000000000" pitchFamily="50" charset="-128"/>
                        </a:rPr>
                        <a:t>年1月期</a:t>
                      </a:r>
                    </a:p>
                  </a:txBody>
                  <a:tcPr marL="36000" marR="36000" marT="7200" marB="7200" anchor="ctr">
                    <a:solidFill>
                      <a:srgbClr val="0B3041"/>
                    </a:solidFill>
                  </a:tcPr>
                </a:tc>
                <a:extLst>
                  <a:ext uri="{0D108BD9-81ED-4DB2-BD59-A6C34878D82A}">
                    <a16:rowId xmlns:a16="http://schemas.microsoft.com/office/drawing/2014/main" val="10000"/>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期首商品棚卸高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3,024</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extLst>
                  <a:ext uri="{0D108BD9-81ED-4DB2-BD59-A6C34878D82A}">
                    <a16:rowId xmlns:a16="http://schemas.microsoft.com/office/drawing/2014/main" val="10001"/>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当期商品仕入高</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172,657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237,258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225,575</a:t>
                      </a:r>
                    </a:p>
                  </a:txBody>
                  <a:tcPr marL="36000" marR="36000" marT="7200" marB="7200" anchor="ctr">
                    <a:noFill/>
                  </a:tcPr>
                </a:tc>
                <a:extLst>
                  <a:ext uri="{0D108BD9-81ED-4DB2-BD59-A6C34878D82A}">
                    <a16:rowId xmlns:a16="http://schemas.microsoft.com/office/drawing/2014/main" val="10002"/>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製）支払手数料</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26,574</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50,723</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21,094</a:t>
                      </a:r>
                    </a:p>
                  </a:txBody>
                  <a:tcPr marL="36000" marR="36000" marT="7200" marB="7200" anchor="ctr">
                    <a:noFill/>
                  </a:tcPr>
                </a:tc>
                <a:extLst>
                  <a:ext uri="{0D108BD9-81ED-4DB2-BD59-A6C34878D82A}">
                    <a16:rowId xmlns:a16="http://schemas.microsoft.com/office/drawing/2014/main" val="10003"/>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製）サンプル費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6,307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2,328</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2,831</a:t>
                      </a:r>
                    </a:p>
                  </a:txBody>
                  <a:tcPr marL="36000" marR="36000" marT="7200" marB="7200" anchor="ctr">
                    <a:noFill/>
                  </a:tcPr>
                </a:tc>
                <a:extLst>
                  <a:ext uri="{0D108BD9-81ED-4DB2-BD59-A6C34878D82A}">
                    <a16:rowId xmlns:a16="http://schemas.microsoft.com/office/drawing/2014/main" val="10004"/>
                  </a:ext>
                </a:extLst>
              </a:tr>
              <a:tr h="310909">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試作費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4,488</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13,797</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3,637</a:t>
                      </a:r>
                    </a:p>
                  </a:txBody>
                  <a:tcPr marL="36000" marR="36000" marT="7200" marB="7200" anchor="ctr">
                    <a:noFill/>
                  </a:tcPr>
                </a:tc>
                <a:extLst>
                  <a:ext uri="{0D108BD9-81ED-4DB2-BD59-A6C34878D82A}">
                    <a16:rowId xmlns:a16="http://schemas.microsoft.com/office/drawing/2014/main" val="10005"/>
                  </a:ext>
                </a:extLst>
              </a:tr>
              <a:tr h="310909">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a:t>
                      </a:r>
                      <a:r>
                        <a:rPr sz="900" b="0" dirty="0" err="1">
                          <a:solidFill>
                            <a:sysClr val="windowText" lastClr="000000"/>
                          </a:solidFill>
                          <a:latin typeface="游ゴシック" panose="020B0400000000000000" pitchFamily="50" charset="-128"/>
                          <a:ea typeface="游ゴシック" panose="020B0400000000000000" pitchFamily="50" charset="-128"/>
                        </a:rPr>
                        <a:t>製）外注費</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8,299</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9,972</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5,262</a:t>
                      </a:r>
                    </a:p>
                  </a:txBody>
                  <a:tcPr marL="36000" marR="36000" marT="7200" marB="7200" anchor="ctr">
                    <a:noFill/>
                  </a:tcPr>
                </a:tc>
                <a:extLst>
                  <a:ext uri="{0D108BD9-81ED-4DB2-BD59-A6C34878D82A}">
                    <a16:rowId xmlns:a16="http://schemas.microsoft.com/office/drawing/2014/main" val="10006"/>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仕入値引高</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0</a:t>
                      </a:r>
                    </a:p>
                  </a:txBody>
                  <a:tcPr marL="36000" marR="36000" marT="7200" marB="7200" anchor="ctr">
                    <a:noFill/>
                  </a:tcPr>
                </a:tc>
                <a:extLst>
                  <a:ext uri="{0D108BD9-81ED-4DB2-BD59-A6C34878D82A}">
                    <a16:rowId xmlns:a16="http://schemas.microsoft.com/office/drawing/2014/main" val="10007"/>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他勘定振替高</a:t>
                      </a:r>
                    </a:p>
                  </a:txBody>
                  <a:tcPr marL="36000" marR="36000" marT="7200" marB="7200" anchor="ctr">
                    <a:no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△6,723</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△17,217</a:t>
                      </a:r>
                    </a:p>
                  </a:txBody>
                  <a:tcPr marL="36000" marR="36000" marT="7200" marB="7200" anchor="ctr">
                    <a:no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△19,845</a:t>
                      </a:r>
                    </a:p>
                  </a:txBody>
                  <a:tcPr marL="36000" marR="36000" marT="7200" marB="7200" anchor="ctr">
                    <a:noFill/>
                  </a:tcPr>
                </a:tc>
                <a:extLst>
                  <a:ext uri="{0D108BD9-81ED-4DB2-BD59-A6C34878D82A}">
                    <a16:rowId xmlns:a16="http://schemas.microsoft.com/office/drawing/2014/main" val="10008"/>
                  </a:ext>
                </a:extLst>
              </a:tr>
              <a:tr h="310909">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期末商品棚卸高</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△1,426</a:t>
                      </a:r>
                    </a:p>
                  </a:txBody>
                  <a:tcPr marL="36000" marR="36000" marT="7200" marB="7200" anchor="ctr">
                    <a:solidFill>
                      <a:srgbClr val="FFFFFF"/>
                    </a:solidFill>
                  </a:tcPr>
                </a:tc>
                <a:tc>
                  <a:txBody>
                    <a:bodyPr/>
                    <a:lstStyle/>
                    <a:p>
                      <a:pPr algn="r"/>
                      <a:r>
                        <a:rPr sz="900" b="0">
                          <a:solidFill>
                            <a:sysClr val="windowText" lastClr="000000"/>
                          </a:solidFill>
                          <a:latin typeface="游ゴシック" panose="020B0400000000000000" pitchFamily="50" charset="-128"/>
                          <a:ea typeface="游ゴシック" panose="020B0400000000000000" pitchFamily="50" charset="-128"/>
                        </a:rPr>
                        <a:t>△33,345</a:t>
                      </a:r>
                    </a:p>
                  </a:txBody>
                  <a:tcPr marL="36000" marR="36000" marT="7200" marB="7200" anchor="ctr">
                    <a:solidFill>
                      <a:srgbClr val="FFFFFF"/>
                    </a:solidFill>
                  </a:tcPr>
                </a:tc>
                <a:tc>
                  <a:txBody>
                    <a:bodyPr/>
                    <a:lstStyle/>
                    <a:p>
                      <a:pPr algn="r"/>
                      <a:r>
                        <a:rPr sz="900" b="0" dirty="0">
                          <a:solidFill>
                            <a:sysClr val="windowText" lastClr="000000"/>
                          </a:solidFill>
                          <a:latin typeface="游ゴシック" panose="020B0400000000000000" pitchFamily="50" charset="-128"/>
                          <a:ea typeface="游ゴシック" panose="020B0400000000000000" pitchFamily="50" charset="-128"/>
                        </a:rPr>
                        <a:t>△229</a:t>
                      </a:r>
                    </a:p>
                  </a:txBody>
                  <a:tcPr marL="36000" marR="36000" marT="7200" marB="7200" anchor="ctr">
                    <a:solidFill>
                      <a:srgbClr val="FFFFFF"/>
                    </a:solidFill>
                  </a:tcPr>
                </a:tc>
                <a:extLst>
                  <a:ext uri="{0D108BD9-81ED-4DB2-BD59-A6C34878D82A}">
                    <a16:rowId xmlns:a16="http://schemas.microsoft.com/office/drawing/2014/main" val="10009"/>
                  </a:ext>
                </a:extLst>
              </a:tr>
              <a:tr h="310909">
                <a:tc>
                  <a:txBody>
                    <a:bodyPr/>
                    <a:lstStyle/>
                    <a:p>
                      <a:pPr algn="l"/>
                      <a:r>
                        <a:rPr sz="900" b="1">
                          <a:solidFill>
                            <a:sysClr val="windowText" lastClr="000000"/>
                          </a:solidFill>
                          <a:latin typeface="游ゴシック" panose="020B0400000000000000" pitchFamily="50" charset="-128"/>
                          <a:ea typeface="游ゴシック" panose="020B0400000000000000" pitchFamily="50" charset="-128"/>
                        </a:rPr>
                        <a:t>売上原価</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213,200</a:t>
                      </a:r>
                    </a:p>
                  </a:txBody>
                  <a:tcPr marL="36000" marR="36000" marT="7200" marB="7200" anchor="ctr">
                    <a:solidFill>
                      <a:srgbClr val="E3E7E9"/>
                    </a:solidFill>
                  </a:tcPr>
                </a:tc>
                <a:tc>
                  <a:txBody>
                    <a:bodyPr/>
                    <a:lstStyle/>
                    <a:p>
                      <a:pPr algn="r"/>
                      <a:r>
                        <a:rPr sz="900" b="1">
                          <a:solidFill>
                            <a:sysClr val="windowText" lastClr="000000"/>
                          </a:solidFill>
                          <a:latin typeface="游ゴシック" panose="020B0400000000000000" pitchFamily="50" charset="-128"/>
                          <a:ea typeface="游ゴシック" panose="020B0400000000000000" pitchFamily="50" charset="-128"/>
                        </a:rPr>
                        <a:t>264,942</a:t>
                      </a:r>
                    </a:p>
                  </a:txBody>
                  <a:tcPr marL="36000" marR="36000" marT="7200" marB="7200" anchor="ctr">
                    <a:solidFill>
                      <a:srgbClr val="E3E7E9"/>
                    </a:solidFill>
                  </a:tcPr>
                </a:tc>
                <a:tc>
                  <a:txBody>
                    <a:bodyPr/>
                    <a:lstStyle/>
                    <a:p>
                      <a:pPr algn="r"/>
                      <a:r>
                        <a:rPr sz="900" b="1" dirty="0">
                          <a:solidFill>
                            <a:sysClr val="windowText" lastClr="000000"/>
                          </a:solidFill>
                          <a:latin typeface="游ゴシック" panose="020B0400000000000000" pitchFamily="50" charset="-128"/>
                          <a:ea typeface="游ゴシック" panose="020B0400000000000000" pitchFamily="50" charset="-128"/>
                        </a:rPr>
                        <a:t>271,671</a:t>
                      </a:r>
                    </a:p>
                  </a:txBody>
                  <a:tcPr marL="36000" marR="36000" marT="7200" marB="7200" anchor="ctr">
                    <a:solidFill>
                      <a:srgbClr val="E3E7E9"/>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6809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dirty="0" err="1">
                <a:latin typeface="+mj-ea"/>
                <a:ea typeface="+mj-ea"/>
              </a:rPr>
              <a:t>販管費の中心は人件費</a:t>
            </a:r>
            <a:r>
              <a:rPr lang="ja-JP" altLang="en-US" dirty="0">
                <a:latin typeface="+mj-ea"/>
                <a:ea typeface="+mj-ea"/>
              </a:rPr>
              <a:t>（役員報酬・給料・賞与・法定福利等）</a:t>
            </a:r>
            <a:r>
              <a:rPr dirty="0">
                <a:latin typeface="+mj-ea"/>
                <a:ea typeface="+mj-ea"/>
              </a:rPr>
              <a:t>。少数精鋭体制により総額を抑制しつつ、</a:t>
            </a:r>
            <a:r>
              <a:rPr lang="en-US" dirty="0">
                <a:latin typeface="+mj-ea"/>
                <a:ea typeface="+mj-ea"/>
              </a:rPr>
              <a:t>2026</a:t>
            </a:r>
            <a:r>
              <a:rPr dirty="0">
                <a:latin typeface="+mj-ea"/>
                <a:ea typeface="+mj-ea"/>
              </a:rPr>
              <a:t>年1月期は</a:t>
            </a:r>
            <a:r>
              <a:rPr lang="en-US" dirty="0">
                <a:latin typeface="+mj-ea"/>
                <a:ea typeface="+mj-ea"/>
              </a:rPr>
              <a:t>92,289</a:t>
            </a:r>
            <a:r>
              <a:rPr lang="ja-JP" altLang="en-US" dirty="0">
                <a:latin typeface="+mj-ea"/>
                <a:ea typeface="+mj-ea"/>
              </a:rPr>
              <a:t>千円</a:t>
            </a:r>
            <a:r>
              <a:rPr dirty="0" err="1">
                <a:latin typeface="+mj-ea"/>
                <a:ea typeface="+mj-ea"/>
              </a:rPr>
              <a:t>で推移</a:t>
            </a:r>
            <a:r>
              <a:rPr dirty="0">
                <a:latin typeface="+mj-ea"/>
                <a:ea typeface="+mj-ea"/>
              </a:rPr>
              <a:t>。</a:t>
            </a:r>
            <a:endParaRPr lang="en-US" altLang="ja-JP" dirty="0"/>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10903839" y="874558"/>
            <a:ext cx="3894836" cy="1015663"/>
          </a:xfrm>
          <a:prstGeom prst="rect">
            <a:avLst/>
          </a:prstGeom>
          <a:noFill/>
        </p:spPr>
        <p:txBody>
          <a:bodyPr wrap="square" lIns="288000" tIns="0" rIns="252000" bIns="0" rtlCol="0">
            <a:spAutoFit/>
          </a:bodyPr>
          <a:lstStyle/>
          <a:p>
            <a:r>
              <a:rPr sz="1050" dirty="0">
                <a:latin typeface="+mn-ea"/>
                <a:ea typeface="+mn-ea"/>
              </a:rPr>
              <a:t>・</a:t>
            </a:r>
            <a:r>
              <a:rPr sz="1050" dirty="0" err="1">
                <a:latin typeface="+mn-ea"/>
                <a:ea typeface="+mn-ea"/>
              </a:rPr>
              <a:t>人件費（役員報酬・給料・賞与・法定福利</a:t>
            </a:r>
            <a:endParaRPr kumimoji="1" lang="en-US" altLang="ja-JP" sz="1100" dirty="0">
              <a:solidFill>
                <a:schemeClr val="tx1"/>
              </a:solidFill>
              <a:latin typeface="+mn-ea"/>
              <a:ea typeface="+mn-ea"/>
            </a:endParaRPr>
          </a:p>
          <a:p>
            <a:r>
              <a:rPr sz="1050" dirty="0">
                <a:latin typeface="+mn-ea"/>
                <a:ea typeface="+mn-ea"/>
              </a:rPr>
              <a:t>　</a:t>
            </a:r>
            <a:r>
              <a:rPr sz="1050" dirty="0" err="1">
                <a:latin typeface="+mn-ea"/>
                <a:ea typeface="+mn-ea"/>
              </a:rPr>
              <a:t>等）が最大費目。少数精鋭で人件費を抑制</a:t>
            </a:r>
            <a:endParaRPr sz="1050" dirty="0">
              <a:latin typeface="+mn-ea"/>
              <a:ea typeface="+mn-ea"/>
            </a:endParaRPr>
          </a:p>
          <a:p>
            <a:endParaRPr sz="1050" dirty="0">
              <a:latin typeface="+mn-ea"/>
              <a:ea typeface="+mn-ea"/>
            </a:endParaRPr>
          </a:p>
          <a:p>
            <a:r>
              <a:rPr sz="1050" dirty="0">
                <a:latin typeface="+mn-ea"/>
                <a:ea typeface="+mn-ea"/>
              </a:rPr>
              <a:t>・荷造運賃、地代家賃（年約5,500千円）等が</a:t>
            </a:r>
          </a:p>
          <a:p>
            <a:r>
              <a:rPr sz="1050" dirty="0">
                <a:latin typeface="+mn-ea"/>
                <a:ea typeface="+mn-ea"/>
              </a:rPr>
              <a:t>　</a:t>
            </a:r>
            <a:r>
              <a:rPr sz="1050" dirty="0" err="1">
                <a:latin typeface="+mn-ea"/>
                <a:ea typeface="+mn-ea"/>
              </a:rPr>
              <a:t>主な固定費</a:t>
            </a:r>
            <a:endParaRPr sz="1050" dirty="0">
              <a:latin typeface="+mn-ea"/>
              <a:ea typeface="+mn-ea"/>
            </a:endParaRPr>
          </a:p>
          <a:p>
            <a:endParaRPr sz="1050" dirty="0">
              <a:latin typeface="+mn-ea"/>
              <a:ea typeface="+mn-ea"/>
            </a:endParaRPr>
          </a:p>
          <a:p>
            <a:r>
              <a:rPr sz="1050" dirty="0">
                <a:latin typeface="+mn-ea"/>
                <a:ea typeface="+mn-ea"/>
              </a:rPr>
              <a:t>・役員賞与20,000千円等は正常収益力算定上</a:t>
            </a:r>
          </a:p>
          <a:p>
            <a:r>
              <a:rPr sz="1050" dirty="0">
                <a:latin typeface="+mn-ea"/>
                <a:ea typeface="+mn-ea"/>
              </a:rPr>
              <a:t>　</a:t>
            </a:r>
            <a:r>
              <a:rPr sz="1050" dirty="0" err="1">
                <a:latin typeface="+mn-ea"/>
                <a:ea typeface="+mn-ea"/>
              </a:rPr>
              <a:t>の調整候補</a:t>
            </a:r>
            <a:endParaRPr sz="1050" dirty="0">
              <a:latin typeface="+mn-ea"/>
              <a:ea typeface="+mn-ea"/>
            </a:endParaRPr>
          </a:p>
        </p:txBody>
      </p:sp>
      <p:graphicFrame>
        <p:nvGraphicFramePr>
          <p:cNvPr id="7" name="表 6">
            <a:extLst>
              <a:ext uri="{FF2B5EF4-FFF2-40B4-BE49-F238E27FC236}">
                <a16:creationId xmlns:a16="http://schemas.microsoft.com/office/drawing/2014/main" id="{F2C6E108-AB48-0E21-9228-52AD13179871}"/>
              </a:ext>
            </a:extLst>
          </p:cNvPr>
          <p:cNvGraphicFramePr>
            <a:graphicFrameLocks noGrp="1"/>
          </p:cNvGraphicFramePr>
          <p:nvPr>
            <p:extLst>
              <p:ext uri="{D42A27DB-BD31-4B8C-83A1-F6EECF244321}">
                <p14:modId xmlns:p14="http://schemas.microsoft.com/office/powerpoint/2010/main" val="3083789522"/>
              </p:ext>
            </p:extLst>
          </p:nvPr>
        </p:nvGraphicFramePr>
        <p:xfrm>
          <a:off x="341313" y="1381912"/>
          <a:ext cx="8311077" cy="5459228"/>
        </p:xfrm>
        <a:graphic>
          <a:graphicData uri="http://schemas.openxmlformats.org/drawingml/2006/table">
            <a:tbl>
              <a:tblPr/>
              <a:tblGrid>
                <a:gridCol w="1972119">
                  <a:extLst>
                    <a:ext uri="{9D8B030D-6E8A-4147-A177-3AD203B41FA5}">
                      <a16:colId xmlns:a16="http://schemas.microsoft.com/office/drawing/2014/main" val="1715146085"/>
                    </a:ext>
                  </a:extLst>
                </a:gridCol>
                <a:gridCol w="1056493">
                  <a:extLst>
                    <a:ext uri="{9D8B030D-6E8A-4147-A177-3AD203B41FA5}">
                      <a16:colId xmlns:a16="http://schemas.microsoft.com/office/drawing/2014/main" val="2220347708"/>
                    </a:ext>
                  </a:extLst>
                </a:gridCol>
                <a:gridCol w="1056493">
                  <a:extLst>
                    <a:ext uri="{9D8B030D-6E8A-4147-A177-3AD203B41FA5}">
                      <a16:colId xmlns:a16="http://schemas.microsoft.com/office/drawing/2014/main" val="1870627800"/>
                    </a:ext>
                  </a:extLst>
                </a:gridCol>
                <a:gridCol w="1056493">
                  <a:extLst>
                    <a:ext uri="{9D8B030D-6E8A-4147-A177-3AD203B41FA5}">
                      <a16:colId xmlns:a16="http://schemas.microsoft.com/office/drawing/2014/main" val="2613027751"/>
                    </a:ext>
                  </a:extLst>
                </a:gridCol>
                <a:gridCol w="1056493">
                  <a:extLst>
                    <a:ext uri="{9D8B030D-6E8A-4147-A177-3AD203B41FA5}">
                      <a16:colId xmlns:a16="http://schemas.microsoft.com/office/drawing/2014/main" val="2737650701"/>
                    </a:ext>
                  </a:extLst>
                </a:gridCol>
                <a:gridCol w="1056493">
                  <a:extLst>
                    <a:ext uri="{9D8B030D-6E8A-4147-A177-3AD203B41FA5}">
                      <a16:colId xmlns:a16="http://schemas.microsoft.com/office/drawing/2014/main" val="442705657"/>
                    </a:ext>
                  </a:extLst>
                </a:gridCol>
                <a:gridCol w="1056493">
                  <a:extLst>
                    <a:ext uri="{9D8B030D-6E8A-4147-A177-3AD203B41FA5}">
                      <a16:colId xmlns:a16="http://schemas.microsoft.com/office/drawing/2014/main" val="3326341676"/>
                    </a:ext>
                  </a:extLst>
                </a:gridCol>
              </a:tblGrid>
              <a:tr h="13159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39897859"/>
                  </a:ext>
                </a:extLst>
              </a:tr>
              <a:tr h="1368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extLst>
                  <a:ext uri="{0D108BD9-81ED-4DB2-BD59-A6C34878D82A}">
                    <a16:rowId xmlns:a16="http://schemas.microsoft.com/office/drawing/2014/main" val="3229329223"/>
                  </a:ext>
                </a:extLst>
              </a:tr>
              <a:tr h="136860">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9441249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993" marR="0" marT="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4,094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4289564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役員賞与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18,000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31471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33,649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29,811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27,939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551672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2,539</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907352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6,079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730088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6,407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6,367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5025958"/>
                  </a:ext>
                </a:extLst>
              </a:tr>
              <a:tr h="157916">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福利厚生費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1,932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422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45312703"/>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2162206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9,236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13,487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573745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841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815839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1,440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1,738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9284179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212</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9199360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409342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1,416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81510106"/>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4866768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1,146</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1,195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391448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33017899"/>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394</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725405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6167930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3,168</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3,674</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00103300"/>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479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95589764"/>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5,430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2300578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471506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710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1,090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735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00064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269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8599779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762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569097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304048465"/>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42085347"/>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881</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645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8462511"/>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993" marR="0" marT="0"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803</a:t>
                      </a:r>
                    </a:p>
                  </a:txBody>
                  <a:tcPr marL="0" marR="55497"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201</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663933748"/>
                  </a:ext>
                </a:extLst>
              </a:tr>
              <a:tr h="15791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993" marR="0" marT="0" marB="0" anchor="ctr">
                    <a:lnL>
                      <a:noFill/>
                    </a:lnL>
                    <a:lnR>
                      <a:noFill/>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1,623</a:t>
                      </a:r>
                    </a:p>
                  </a:txBody>
                  <a:tcPr marL="0" marR="55497"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0.0%</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1,143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78678"/>
                  </a:ext>
                </a:extLst>
              </a:tr>
              <a:tr h="15791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97,396</a:t>
                      </a:r>
                    </a:p>
                  </a:txBody>
                  <a:tcPr marL="0" marR="55497"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30.7%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100,736</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22.7%</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92,289</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21.8%</a:t>
                      </a:r>
                    </a:p>
                  </a:txBody>
                  <a:tcPr marL="0" marR="55497"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186393275"/>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dirty="0">
                <a:latin typeface="游ゴシック" panose="020B0400000000000000" pitchFamily="50" charset="-128"/>
                <a:ea typeface="游ゴシック" panose="020B0400000000000000" pitchFamily="50" charset="-128"/>
              </a:rPr>
              <a:t>2014年の設立以来、大手IPホルダーとの取引拡大と海外製造ネットワークの構築により事業を成長。</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654739537"/>
              </p:ext>
            </p:extLst>
          </p:nvPr>
        </p:nvGraphicFramePr>
        <p:xfrm>
          <a:off x="309600" y="1800000"/>
          <a:ext cx="10080000" cy="1620000"/>
        </p:xfrm>
        <a:graphic>
          <a:graphicData uri="http://schemas.openxmlformats.org/drawingml/2006/table">
            <a:tbl>
              <a:tblPr>
                <a:tableStyleId>{5C22544A-7EE6-4342-B048-85BDC9FD1C3A}</a:tableStyleId>
              </a:tblPr>
              <a:tblGrid>
                <a:gridCol w="1440000">
                  <a:extLst>
                    <a:ext uri="{9D8B030D-6E8A-4147-A177-3AD203B41FA5}">
                      <a16:colId xmlns:a16="http://schemas.microsoft.com/office/drawing/2014/main" val="20000"/>
                    </a:ext>
                  </a:extLst>
                </a:gridCol>
                <a:gridCol w="8640000">
                  <a:extLst>
                    <a:ext uri="{9D8B030D-6E8A-4147-A177-3AD203B41FA5}">
                      <a16:colId xmlns:a16="http://schemas.microsoft.com/office/drawing/2014/main" val="20001"/>
                    </a:ext>
                  </a:extLst>
                </a:gridCol>
              </a:tblGrid>
              <a:tr h="324000">
                <a:tc>
                  <a:txBody>
                    <a:bodyPr/>
                    <a:lstStyle/>
                    <a:p>
                      <a:pPr algn="ctr"/>
                      <a:r>
                        <a:rPr sz="1100" b="1">
                          <a:solidFill>
                            <a:srgbClr val="FFFFFF"/>
                          </a:solidFill>
                          <a:latin typeface="游ゴシック"/>
                          <a:ea typeface="游ゴシック"/>
                        </a:rPr>
                        <a:t>年月</a:t>
                      </a:r>
                    </a:p>
                  </a:txBody>
                  <a:tcPr marL="36000" marR="36000" marT="7200" marB="7200" anchor="ctr">
                    <a:solidFill>
                      <a:srgbClr val="0B3041"/>
                    </a:solidFill>
                  </a:tcPr>
                </a:tc>
                <a:tc>
                  <a:txBody>
                    <a:bodyPr/>
                    <a:lstStyle/>
                    <a:p>
                      <a:pPr algn="ctr"/>
                      <a:r>
                        <a:rPr sz="1100" b="1">
                          <a:solidFill>
                            <a:srgbClr val="FFFFFF"/>
                          </a:solidFill>
                          <a:latin typeface="游ゴシック"/>
                          <a:ea typeface="游ゴシック"/>
                        </a:rPr>
                        <a:t>内容</a:t>
                      </a:r>
                    </a:p>
                  </a:txBody>
                  <a:tcPr marL="36000" marR="36000" marT="7200" marB="7200" anchor="ctr">
                    <a:solidFill>
                      <a:srgbClr val="0B3041"/>
                    </a:solidFill>
                  </a:tcPr>
                </a:tc>
                <a:extLst>
                  <a:ext uri="{0D108BD9-81ED-4DB2-BD59-A6C34878D82A}">
                    <a16:rowId xmlns:a16="http://schemas.microsoft.com/office/drawing/2014/main" val="10000"/>
                  </a:ext>
                </a:extLst>
              </a:tr>
              <a:tr h="324000">
                <a:tc>
                  <a:txBody>
                    <a:bodyPr/>
                    <a:lstStyle/>
                    <a:p>
                      <a:pPr algn="l"/>
                      <a:r>
                        <a:rPr sz="1100" b="0" dirty="0">
                          <a:solidFill>
                            <a:sysClr val="windowText" lastClr="000000"/>
                          </a:solidFill>
                          <a:latin typeface="游ゴシック"/>
                          <a:ea typeface="游ゴシック"/>
                        </a:rPr>
                        <a:t>2014年2月</a:t>
                      </a:r>
                    </a:p>
                  </a:txBody>
                  <a:tcPr marL="36000" marR="36000" marT="7200" marB="7200" anchor="ctr">
                    <a:solidFill>
                      <a:srgbClr val="FFFFFF"/>
                    </a:solidFill>
                  </a:tcPr>
                </a:tc>
                <a:tc>
                  <a:txBody>
                    <a:bodyPr/>
                    <a:lstStyle/>
                    <a:p>
                      <a:pPr algn="l"/>
                      <a:r>
                        <a:rPr sz="1100" b="0">
                          <a:solidFill>
                            <a:sysClr val="windowText" lastClr="000000"/>
                          </a:solidFill>
                          <a:latin typeface="游ゴシック"/>
                          <a:ea typeface="游ゴシック"/>
                        </a:rPr>
                        <a:t>株式会社カナリア設立（東京都台東区）。同業出身の代表 野口 紘氏が5名程度のメンバーで独立し、アニメ・ゲームIPを活用したキャラクターグッズの企画・製造・販売を開始</a:t>
                      </a:r>
                    </a:p>
                  </a:txBody>
                  <a:tcPr marL="36000" marR="360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大手IPホルダーとの商品化取引を拡大、中国等の海外製造委託ネットワークを構築</a:t>
                      </a:r>
                      <a:endParaRPr sz="1100" b="0" dirty="0">
                        <a:solidFill>
                          <a:sysClr val="windowText" lastClr="000000"/>
                        </a:solidFill>
                        <a:latin typeface="游ゴシック"/>
                        <a:ea typeface="游ゴシック"/>
                      </a:endParaRPr>
                    </a:p>
                  </a:txBody>
                  <a:tcPr marL="36000" marR="36000" marT="7200" marB="7200" anchor="ctr">
                    <a:solidFill>
                      <a:srgbClr val="F4F7F9"/>
                    </a:solidFill>
                  </a:tcPr>
                </a:tc>
                <a:extLst>
                  <a:ext uri="{0D108BD9-81ED-4DB2-BD59-A6C34878D82A}">
                    <a16:rowId xmlns:a16="http://schemas.microsoft.com/office/drawing/2014/main" val="10002"/>
                  </a:ext>
                </a:extLst>
              </a:tr>
              <a:tr h="324000">
                <a:tc>
                  <a:txBody>
                    <a:bodyPr/>
                    <a:lstStyle/>
                    <a:p>
                      <a:pPr algn="l"/>
                      <a:r>
                        <a:rPr sz="1100" b="0" dirty="0" err="1">
                          <a:solidFill>
                            <a:sysClr val="windowText" lastClr="000000"/>
                          </a:solidFill>
                          <a:latin typeface="游ゴシック"/>
                          <a:ea typeface="游ゴシック"/>
                        </a:rPr>
                        <a:t>設立以降</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tc>
                  <a:txBody>
                    <a:bodyPr/>
                    <a:lstStyle/>
                    <a:p>
                      <a:pPr algn="l"/>
                      <a:r>
                        <a:rPr sz="1100" b="0" dirty="0" err="1">
                          <a:solidFill>
                            <a:sysClr val="windowText" lastClr="000000"/>
                          </a:solidFill>
                          <a:latin typeface="游ゴシック"/>
                          <a:ea typeface="游ゴシック"/>
                        </a:rPr>
                        <a:t>自社オリジナルくじ商品「スターくじ</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あたりツキ</a:t>
                      </a:r>
                      <a:r>
                        <a:rPr sz="1100" b="0" dirty="0">
                          <a:solidFill>
                            <a:sysClr val="windowText" lastClr="000000"/>
                          </a:solidFill>
                          <a:latin typeface="游ゴシック"/>
                          <a:ea typeface="游ゴシック"/>
                        </a:rPr>
                        <a:t>！」</a:t>
                      </a:r>
                      <a:r>
                        <a:rPr sz="1100" b="0" dirty="0" err="1">
                          <a:solidFill>
                            <a:sysClr val="windowText" lastClr="000000"/>
                          </a:solidFill>
                          <a:latin typeface="游ゴシック"/>
                          <a:ea typeface="游ゴシック"/>
                        </a:rPr>
                        <a:t>シリーズを展開</a:t>
                      </a:r>
                      <a:endParaRPr sz="1100" b="0" dirty="0">
                        <a:solidFill>
                          <a:sysClr val="windowText" lastClr="000000"/>
                        </a:solidFill>
                        <a:latin typeface="游ゴシック"/>
                        <a:ea typeface="游ゴシック"/>
                      </a:endParaRPr>
                    </a:p>
                  </a:txBody>
                  <a:tcPr marL="36000" marR="360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sz="1100" b="0">
                          <a:solidFill>
                            <a:sysClr val="windowText" lastClr="000000"/>
                          </a:solidFill>
                          <a:latin typeface="游ゴシック"/>
                          <a:ea typeface="游ゴシック"/>
                        </a:rPr>
                        <a:t>2025年4月</a:t>
                      </a: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取締役</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文枝・野口</a:t>
                      </a:r>
                      <a:r>
                        <a:rPr sz="1100" b="0" dirty="0">
                          <a:solidFill>
                            <a:sysClr val="windowText" lastClr="000000"/>
                          </a:solidFill>
                          <a:latin typeface="游ゴシック"/>
                          <a:ea typeface="游ゴシック"/>
                        </a:rPr>
                        <a:t> </a:t>
                      </a:r>
                      <a:r>
                        <a:rPr sz="1100" b="0" dirty="0" err="1">
                          <a:solidFill>
                            <a:sysClr val="windowText" lastClr="000000"/>
                          </a:solidFill>
                          <a:latin typeface="游ゴシック"/>
                          <a:ea typeface="游ゴシック"/>
                        </a:rPr>
                        <a:t>聰江が就任（現経営体制</a:t>
                      </a:r>
                      <a:r>
                        <a:rPr sz="1100" b="0" dirty="0">
                          <a:solidFill>
                            <a:sysClr val="windowText" lastClr="000000"/>
                          </a:solidFill>
                          <a:latin typeface="游ゴシック"/>
                          <a:ea typeface="游ゴシック"/>
                        </a:rPr>
                        <a:t>）</a:t>
                      </a:r>
                    </a:p>
                  </a:txBody>
                  <a:tcPr marL="36000" marR="36000" marT="7200" marB="7200" anchor="ctr">
                    <a:solidFill>
                      <a:srgbClr val="F4F7F9"/>
                    </a:solidFill>
                  </a:tcPr>
                </a:tc>
                <a:extLst>
                  <a:ext uri="{0D108BD9-81ED-4DB2-BD59-A6C34878D82A}">
                    <a16:rowId xmlns:a16="http://schemas.microsoft.com/office/drawing/2014/main" val="10004"/>
                  </a:ext>
                </a:extLst>
              </a:tr>
              <a:tr h="324000">
                <a:tc>
                  <a:txBody>
                    <a:bodyPr/>
                    <a:lstStyle/>
                    <a:p>
                      <a:pPr algn="l"/>
                      <a:r>
                        <a:rPr sz="1100" b="0">
                          <a:solidFill>
                            <a:sysClr val="windowText" lastClr="000000"/>
                          </a:solidFill>
                          <a:latin typeface="游ゴシック"/>
                          <a:ea typeface="游ゴシック"/>
                        </a:rPr>
                        <a:t>現在</a:t>
                      </a:r>
                    </a:p>
                  </a:txBody>
                  <a:tcPr marL="36000" marR="36000" marT="7200" marB="7200" anchor="ctr">
                    <a:solidFill>
                      <a:srgbClr val="F4F7F9"/>
                    </a:solidFill>
                  </a:tcPr>
                </a:tc>
                <a:tc>
                  <a:txBody>
                    <a:bodyPr/>
                    <a:lstStyle/>
                    <a:p>
                      <a:pPr algn="l"/>
                      <a:r>
                        <a:rPr sz="1100" b="0" dirty="0" err="1">
                          <a:solidFill>
                            <a:sysClr val="windowText" lastClr="000000"/>
                          </a:solidFill>
                          <a:latin typeface="游ゴシック"/>
                          <a:ea typeface="游ゴシック"/>
                        </a:rPr>
                        <a:t>創業メンバーのうち1名（デザイナー）が制作部門の中核として在籍</a:t>
                      </a:r>
                    </a:p>
                  </a:txBody>
                  <a:tcPr marL="36000" marR="36000" marT="7200" marB="7200" anchor="ctr">
                    <a:solidFill>
                      <a:srgbClr val="F4F7F9"/>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09600" y="4005072"/>
            <a:ext cx="4456669" cy="261610"/>
          </a:xfrm>
          <a:prstGeom prst="rect">
            <a:avLst/>
          </a:prstGeom>
          <a:noFill/>
        </p:spPr>
        <p:txBody>
          <a:bodyPr wrap="none">
            <a:spAutoFit/>
          </a:bodyPr>
          <a:lstStyle/>
          <a:p>
            <a:r>
              <a:rPr sz="1100" dirty="0">
                <a:solidFill>
                  <a:sysClr val="windowText" lastClr="000000"/>
                </a:solidFill>
                <a:latin typeface="游ゴシック" panose="020B0400000000000000" pitchFamily="50" charset="-128"/>
                <a:ea typeface="游ゴシック" panose="020B0400000000000000" pitchFamily="50" charset="-128"/>
              </a:rPr>
              <a:t>※ </a:t>
            </a:r>
            <a:r>
              <a:rPr sz="1100" dirty="0" err="1">
                <a:solidFill>
                  <a:sysClr val="windowText" lastClr="000000"/>
                </a:solidFill>
                <a:latin typeface="游ゴシック" panose="020B0400000000000000" pitchFamily="50" charset="-128"/>
                <a:ea typeface="游ゴシック" panose="020B0400000000000000" pitchFamily="50" charset="-128"/>
              </a:rPr>
              <a:t>詳細な沿革はオーナ</a:t>
            </a:r>
            <a:r>
              <a:rPr sz="1100" dirty="0">
                <a:solidFill>
                  <a:sysClr val="windowText" lastClr="000000"/>
                </a:solidFill>
                <a:latin typeface="游ゴシック" panose="020B0400000000000000" pitchFamily="50" charset="-128"/>
                <a:ea typeface="游ゴシック" panose="020B0400000000000000" pitchFamily="50" charset="-128"/>
              </a:rPr>
              <a:t>ー</a:t>
            </a:r>
            <a:r>
              <a:rPr lang="ja-JP" altLang="en-US" sz="1100" dirty="0">
                <a:solidFill>
                  <a:sysClr val="windowText" lastClr="000000"/>
                </a:solidFill>
                <a:latin typeface="游ゴシック" panose="020B0400000000000000" pitchFamily="50" charset="-128"/>
                <a:ea typeface="游ゴシック" panose="020B0400000000000000" pitchFamily="50" charset="-128"/>
              </a:rPr>
              <a:t>様への</a:t>
            </a:r>
            <a:r>
              <a:rPr sz="1100" dirty="0" err="1">
                <a:solidFill>
                  <a:sysClr val="windowText" lastClr="000000"/>
                </a:solidFill>
                <a:latin typeface="游ゴシック" panose="020B0400000000000000" pitchFamily="50" charset="-128"/>
                <a:ea typeface="游ゴシック" panose="020B0400000000000000" pitchFamily="50" charset="-128"/>
              </a:rPr>
              <a:t>ヒアリング</a:t>
            </a:r>
            <a:r>
              <a:rPr lang="ja-JP" altLang="en-US" sz="1100" dirty="0">
                <a:solidFill>
                  <a:sysClr val="windowText" lastClr="000000"/>
                </a:solidFill>
                <a:latin typeface="游ゴシック" panose="020B0400000000000000" pitchFamily="50" charset="-128"/>
                <a:ea typeface="游ゴシック" panose="020B0400000000000000" pitchFamily="50" charset="-128"/>
              </a:rPr>
              <a:t>を行い、</a:t>
            </a:r>
            <a:r>
              <a:rPr sz="1100" dirty="0" err="1">
                <a:solidFill>
                  <a:sysClr val="windowText" lastClr="000000"/>
                </a:solidFill>
                <a:latin typeface="游ゴシック" panose="020B0400000000000000" pitchFamily="50" charset="-128"/>
                <a:ea typeface="游ゴシック" panose="020B0400000000000000" pitchFamily="50" charset="-128"/>
              </a:rPr>
              <a:t>補完予定です</a:t>
            </a:r>
            <a:r>
              <a:rPr sz="1100" dirty="0">
                <a:solidFill>
                  <a:sysClr val="windowText" lastClr="000000"/>
                </a:solidFill>
                <a:latin typeface="游ゴシック" panose="020B0400000000000000" pitchFamily="50" charset="-128"/>
                <a:ea typeface="游ゴシック" panose="020B0400000000000000" pitchFamily="50" charset="-128"/>
              </a:rPr>
              <a:t>。</a:t>
            </a:r>
          </a:p>
        </p:txBody>
      </p:sp>
    </p:spTree>
    <p:extLst>
      <p:ext uri="{BB962C8B-B14F-4D97-AF65-F5344CB8AC3E}">
        <p14:creationId xmlns:p14="http://schemas.microsoft.com/office/powerpoint/2010/main" val="391401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dirty="0" err="1">
                <a:latin typeface="游ゴシック" panose="020B0400000000000000" pitchFamily="50" charset="-128"/>
                <a:ea typeface="游ゴシック" panose="020B0400000000000000" pitchFamily="50" charset="-128"/>
              </a:rPr>
              <a:t>創業者である代表取締役</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野口</a:t>
            </a:r>
            <a:r>
              <a:rPr dirty="0">
                <a:latin typeface="游ゴシック" panose="020B0400000000000000" pitchFamily="50" charset="-128"/>
                <a:ea typeface="游ゴシック" panose="020B0400000000000000" pitchFamily="50" charset="-128"/>
              </a:rPr>
              <a:t> </a:t>
            </a:r>
            <a:r>
              <a:rPr dirty="0" err="1">
                <a:latin typeface="游ゴシック" panose="020B0400000000000000" pitchFamily="50" charset="-128"/>
                <a:ea typeface="游ゴシック" panose="020B0400000000000000" pitchFamily="50" charset="-128"/>
              </a:rPr>
              <a:t>紘氏が、設立以来一貫して経営を主導</a:t>
            </a:r>
            <a:r>
              <a:rPr dirty="0">
                <a:latin typeface="游ゴシック" panose="020B0400000000000000" pitchFamily="50" charset="-128"/>
                <a:ea typeface="游ゴシック" panose="020B0400000000000000" pitchFamily="50" charset="-128"/>
              </a:rPr>
              <a:t>。</a:t>
            </a:r>
            <a:endParaRPr lang="en-US" altLang="ja-JP" dirty="0">
              <a:latin typeface="游ゴシック" panose="020B0400000000000000" pitchFamily="50" charset="-128"/>
              <a:ea typeface="游ゴシック" panose="020B0400000000000000" pitchFamily="50" charset="-128"/>
            </a:endParaRPr>
          </a:p>
        </p:txBody>
      </p:sp>
      <p:sp>
        <p:nvSpPr>
          <p:cNvPr id="14" name="TextBox 13"/>
          <p:cNvSpPr txBox="1"/>
          <p:nvPr/>
        </p:nvSpPr>
        <p:spPr>
          <a:xfrm>
            <a:off x="309600" y="4346413"/>
            <a:ext cx="9720000" cy="1292662"/>
          </a:xfrm>
          <a:prstGeom prst="rect">
            <a:avLst/>
          </a:prstGeom>
          <a:noFill/>
        </p:spPr>
        <p:txBody>
          <a:bodyPr wrap="square">
            <a:spAutoFit/>
          </a:bodyPr>
          <a:lstStyle/>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＜経歴＞</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・キャラクターグッズ業界の同業に従事した後、2014年2月に5名程度のメンバーで独立し株式会社カナリアを設立。以降、代表取締役として経営を主導。</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・アニメ・ゲームIP業界における企画・製造・販売の知見を有し、大手IPホルダーとの取引関係を構築。</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・国内外の製造委託・販売ネットワークを整備し、少数精鋭かつ高収益な事業体制を確立。</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・OEM案件については自ら窓口を担い、見積作成・スケジュール調整を統括。</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
            </a:r>
            <a:endParaRPr sz="1300" dirty="0">
              <a:solidFill>
                <a:sysClr val="windowText" lastClr="000000"/>
              </a:solidFill>
              <a:latin typeface="游ゴシック" panose="020B0400000000000000" pitchFamily="50" charset="-128"/>
              <a:ea typeface="游ゴシック" panose="020B0400000000000000" pitchFamily="50" charset="-128"/>
            </a:endParaRPr>
          </a:p>
          <a:p>
            <a:pPr algn="l"/>
            <a:r>
              <a:rPr lang="ja-JP" altLang="en-US" sz="1300" dirty="0">
                <a:solidFill>
                  <a:sysClr val="windowText" lastClr="000000"/>
                </a:solidFill>
                <a:latin typeface="游ゴシック" panose="020B0400000000000000" pitchFamily="50" charset="-128"/>
                <a:ea typeface="游ゴシック" panose="020B0400000000000000" pitchFamily="50" charset="-128"/>
              </a:rPr>
              <a:t>※ 詳細な経歴（学歴・前職の具体的実績等）はオーナー様へのヒアリングを行い、補完予定です。</a:t>
            </a:r>
            <a:endParaRPr sz="1300" dirty="0">
              <a:solidFill>
                <a:sysClr val="windowText" lastClr="000000"/>
              </a:solidFill>
              <a:latin typeface="游ゴシック" panose="020B0400000000000000" pitchFamily="50" charset="-128"/>
              <a:ea typeface="游ゴシック" panose="020B0400000000000000" pitchFamily="50" charset="-128"/>
            </a:endParaRPr>
          </a:p>
        </p:txBody>
      </p:sp>
      <p:graphicFrame>
        <p:nvGraphicFramePr>
          <p:cNvPr id="15" name="Table 14"/>
          <p:cNvGraphicFramePr>
            <a:graphicFrameLocks noGrp="1"/>
          </p:cNvGraphicFramePr>
          <p:nvPr>
            <p:extLst>
              <p:ext uri="{D42A27DB-BD31-4B8C-83A1-F6EECF244321}">
                <p14:modId xmlns:p14="http://schemas.microsoft.com/office/powerpoint/2010/main" val="1044269184"/>
              </p:ext>
            </p:extLst>
          </p:nvPr>
        </p:nvGraphicFramePr>
        <p:xfrm>
          <a:off x="309600" y="1800000"/>
          <a:ext cx="9720000" cy="19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8280000">
                  <a:extLst>
                    <a:ext uri="{9D8B030D-6E8A-4147-A177-3AD203B41FA5}">
                      <a16:colId xmlns:a16="http://schemas.microsoft.com/office/drawing/2014/main" val="20001"/>
                    </a:ext>
                  </a:extLst>
                </a:gridCol>
              </a:tblGrid>
              <a:tr h="324000">
                <a:tc>
                  <a:txBody>
                    <a:bodyPr/>
                    <a:lstStyle/>
                    <a:p>
                      <a:r>
                        <a:rPr sz="1100" b="1" dirty="0" err="1">
                          <a:solidFill>
                            <a:srgbClr val="FFFFFF"/>
                          </a:solidFill>
                          <a:latin typeface="游ゴシック" panose="020B0400000000000000" pitchFamily="50" charset="-128"/>
                          <a:ea typeface="游ゴシック" panose="020B0400000000000000" pitchFamily="50" charset="-128"/>
                        </a:rPr>
                        <a:t>項目</a:t>
                      </a:r>
                      <a:endParaRPr sz="1100" b="1" dirty="0">
                        <a:solidFill>
                          <a:srgbClr val="FFFFFF"/>
                        </a:solidFill>
                        <a:latin typeface="游ゴシック" panose="020B0400000000000000" pitchFamily="50" charset="-128"/>
                        <a:ea typeface="游ゴシック" panose="020B0400000000000000" pitchFamily="50" charset="-128"/>
                      </a:endParaRPr>
                    </a:p>
                  </a:txBody>
                  <a:tcPr anchor="ctr">
                    <a:solidFill>
                      <a:srgbClr val="0B3041"/>
                    </a:solidFill>
                  </a:tcPr>
                </a:tc>
                <a:tc>
                  <a:txBody>
                    <a:bodyPr/>
                    <a:lstStyle/>
                    <a:p>
                      <a:r>
                        <a:rPr sz="1100" b="1">
                          <a:solidFill>
                            <a:srgbClr val="FFFFFF"/>
                          </a:solidFill>
                          <a:latin typeface="游ゴシック" panose="020B0400000000000000" pitchFamily="50" charset="-128"/>
                          <a:ea typeface="游ゴシック" panose="020B0400000000000000" pitchFamily="50" charset="-128"/>
                        </a:rPr>
                        <a:t>内容</a:t>
                      </a:r>
                    </a:p>
                  </a:txBody>
                  <a:tcPr anchor="ctr">
                    <a:solidFill>
                      <a:srgbClr val="0B3041"/>
                    </a:solidFill>
                  </a:tcPr>
                </a:tc>
                <a:extLst>
                  <a:ext uri="{0D108BD9-81ED-4DB2-BD59-A6C34878D82A}">
                    <a16:rowId xmlns:a16="http://schemas.microsoft.com/office/drawing/2014/main" val="10000"/>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氏名</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野口</a:t>
                      </a:r>
                      <a:r>
                        <a:rPr sz="1100" b="0" dirty="0">
                          <a:solidFill>
                            <a:sysClr val="windowText" lastClr="000000"/>
                          </a:solidFill>
                          <a:latin typeface="游ゴシック" panose="020B0400000000000000" pitchFamily="50" charset="-128"/>
                          <a:ea typeface="游ゴシック" panose="020B0400000000000000" pitchFamily="50" charset="-128"/>
                        </a:rPr>
                        <a:t> 紘</a:t>
                      </a:r>
                    </a:p>
                  </a:txBody>
                  <a:tcPr anchor="ctr">
                    <a:solidFill>
                      <a:schemeClr val="accent2"/>
                    </a:solidFill>
                  </a:tcPr>
                </a:tc>
                <a:extLst>
                  <a:ext uri="{0D108BD9-81ED-4DB2-BD59-A6C34878D82A}">
                    <a16:rowId xmlns:a16="http://schemas.microsoft.com/office/drawing/2014/main" val="10001"/>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役職</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sz="1100" b="0" dirty="0" err="1">
                          <a:solidFill>
                            <a:sysClr val="windowText" lastClr="000000"/>
                          </a:solidFill>
                          <a:latin typeface="游ゴシック" panose="020B0400000000000000" pitchFamily="50" charset="-128"/>
                          <a:ea typeface="游ゴシック" panose="020B0400000000000000" pitchFamily="50" charset="-128"/>
                        </a:rPr>
                        <a:t>代表取締役（設立時より</a:t>
                      </a:r>
                      <a:r>
                        <a:rPr sz="1100" b="0" dirty="0">
                          <a:solidFill>
                            <a:sysClr val="windowText" lastClr="000000"/>
                          </a:solidFill>
                          <a:latin typeface="游ゴシック" panose="020B0400000000000000" pitchFamily="50" charset="-128"/>
                          <a:ea typeface="游ゴシック" panose="020B0400000000000000" pitchFamily="50" charset="-128"/>
                        </a:rPr>
                        <a:t>）</a:t>
                      </a:r>
                    </a:p>
                  </a:txBody>
                  <a:tcPr anchor="ctr">
                    <a:solidFill>
                      <a:srgbClr val="FFFFFF"/>
                    </a:solidFill>
                  </a:tcPr>
                </a:tc>
                <a:extLst>
                  <a:ext uri="{0D108BD9-81ED-4DB2-BD59-A6C34878D82A}">
                    <a16:rowId xmlns:a16="http://schemas.microsoft.com/office/drawing/2014/main" val="10002"/>
                  </a:ext>
                </a:extLst>
              </a:tr>
              <a:tr h="324000">
                <a:tc>
                  <a:txBody>
                    <a:bodyPr/>
                    <a:lstStyle/>
                    <a:p>
                      <a:r>
                        <a:rPr sz="1100" b="1" dirty="0" err="1">
                          <a:solidFill>
                            <a:sysClr val="windowText" lastClr="000000"/>
                          </a:solidFill>
                          <a:latin typeface="游ゴシック" panose="020B0400000000000000" pitchFamily="50" charset="-128"/>
                          <a:ea typeface="游ゴシック" panose="020B0400000000000000" pitchFamily="50" charset="-128"/>
                        </a:rPr>
                        <a:t>設立</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sz="1100" b="0" dirty="0">
                          <a:solidFill>
                            <a:sysClr val="windowText" lastClr="000000"/>
                          </a:solidFill>
                          <a:latin typeface="游ゴシック" panose="020B0400000000000000" pitchFamily="50" charset="-128"/>
                          <a:ea typeface="游ゴシック" panose="020B0400000000000000" pitchFamily="50" charset="-128"/>
                        </a:rPr>
                        <a:t>2014年2月</a:t>
                      </a:r>
                    </a:p>
                  </a:txBody>
                  <a:tcPr anchor="ctr">
                    <a:solidFill>
                      <a:schemeClr val="accent2"/>
                    </a:solidFill>
                  </a:tcPr>
                </a:tc>
                <a:extLst>
                  <a:ext uri="{0D108BD9-81ED-4DB2-BD59-A6C34878D82A}">
                    <a16:rowId xmlns:a16="http://schemas.microsoft.com/office/drawing/2014/main" val="10003"/>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学歴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rgbClr val="FFFFFF"/>
                    </a:solidFill>
                  </a:tcPr>
                </a:tc>
                <a:tc>
                  <a:txBody>
                    <a:bodyPr/>
                    <a:lstStyle/>
                    <a:p>
                      <a:r>
                        <a:rPr lang="ja-JP" altLang="en-US"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rPr>
                        <a:t>ヒアリング予定</a:t>
                      </a:r>
                      <a:endParaRPr sz="1100" b="0" dirty="0">
                        <a:solidFill>
                          <a:sysClr val="windowText" lastClr="000000"/>
                        </a:solidFill>
                        <a:highlight>
                          <a:srgbClr val="FFFF00"/>
                        </a:highlight>
                        <a:latin typeface="游ゴシック" panose="020B0400000000000000" pitchFamily="50" charset="-128"/>
                        <a:ea typeface="游ゴシック" panose="020B0400000000000000" pitchFamily="50" charset="-128"/>
                      </a:endParaRPr>
                    </a:p>
                  </a:txBody>
                  <a:tcPr anchor="ctr">
                    <a:solidFill>
                      <a:srgbClr val="FFFFFF"/>
                    </a:solidFill>
                  </a:tcPr>
                </a:tc>
                <a:extLst>
                  <a:ext uri="{0D108BD9-81ED-4DB2-BD59-A6C34878D82A}">
                    <a16:rowId xmlns:a16="http://schemas.microsoft.com/office/drawing/2014/main" val="1893055014"/>
                  </a:ext>
                </a:extLst>
              </a:tr>
              <a:tr h="324000">
                <a:tc>
                  <a:txBody>
                    <a:bodyPr/>
                    <a:lstStyle/>
                    <a:p>
                      <a:r>
                        <a:rPr lang="ja-JP" altLang="en-US" sz="1100" b="1" dirty="0">
                          <a:solidFill>
                            <a:sysClr val="windowText" lastClr="000000"/>
                          </a:solidFill>
                          <a:latin typeface="游ゴシック" panose="020B0400000000000000" pitchFamily="50" charset="-128"/>
                          <a:ea typeface="游ゴシック" panose="020B0400000000000000" pitchFamily="50" charset="-128"/>
                        </a:rPr>
                        <a:t>主な職歴</a:t>
                      </a:r>
                      <a:endParaRPr sz="1100" b="1"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tc>
                  <a:txBody>
                    <a:bodyPr/>
                    <a:lstStyle/>
                    <a:p>
                      <a:r>
                        <a:rPr lang="ja-JP" altLang="en-US" sz="1100" b="0" dirty="0">
                          <a:solidFill>
                            <a:sysClr val="windowText" lastClr="000000"/>
                          </a:solidFill>
                          <a:latin typeface="游ゴシック" panose="020B0400000000000000" pitchFamily="50" charset="-128"/>
                          <a:ea typeface="游ゴシック" panose="020B0400000000000000" pitchFamily="50" charset="-128"/>
                        </a:rPr>
                        <a:t>同業（キャラクターグッズ関連）に従事後、2014年2月に独立し当社を設立</a:t>
                      </a:r>
                      <a:endParaRPr sz="1100" b="0" dirty="0">
                        <a:solidFill>
                          <a:sysClr val="windowText" lastClr="000000"/>
                        </a:solidFill>
                        <a:latin typeface="游ゴシック" panose="020B0400000000000000" pitchFamily="50" charset="-128"/>
                        <a:ea typeface="游ゴシック" panose="020B0400000000000000" pitchFamily="50" charset="-128"/>
                      </a:endParaRPr>
                    </a:p>
                  </a:txBody>
                  <a:tcPr anchor="ctr">
                    <a:solidFill>
                      <a:schemeClr val="accent2"/>
                    </a:solidFill>
                  </a:tcPr>
                </a:tc>
                <a:extLst>
                  <a:ext uri="{0D108BD9-81ED-4DB2-BD59-A6C34878D82A}">
                    <a16:rowId xmlns:a16="http://schemas.microsoft.com/office/drawing/2014/main" val="3035925159"/>
                  </a:ext>
                </a:extLst>
              </a:tr>
            </a:tbl>
          </a:graphicData>
        </a:graphic>
      </p:graphicFrame>
    </p:spTree>
    <p:extLst>
      <p:ext uri="{BB962C8B-B14F-4D97-AF65-F5344CB8AC3E}">
        <p14:creationId xmlns:p14="http://schemas.microsoft.com/office/powerpoint/2010/main" val="3170289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7828</TotalTime>
  <Words>3906</Words>
  <Application>Microsoft Office PowerPoint</Application>
  <PresentationFormat>ユーザー設定</PresentationFormat>
  <Paragraphs>1498</Paragraphs>
  <Slides>32</Slides>
  <Notes>25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32</vt:i4>
      </vt:variant>
    </vt:vector>
  </HeadingPairs>
  <TitlesOfParts>
    <vt:vector size="37" baseType="lpstr">
      <vt:lpstr>游ゴシック</vt:lpstr>
      <vt:lpstr>游ゴシック Medium</vt:lpstr>
      <vt:lpstr>Arial</vt:lpstr>
      <vt:lpstr>Wingdings</vt:lpstr>
      <vt:lpstr>SL_2026</vt:lpstr>
      <vt:lpstr>企業概要書　＜キャラクターグッズ企画・製造販売／東京都＞</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サービス・商品概要</vt:lpstr>
      <vt:lpstr>主な制作実績（取扱IP）</vt:lpstr>
      <vt:lpstr>特徴、強み、成長性等</vt:lpstr>
      <vt:lpstr>主要販売先別 売上高推移</vt:lpstr>
      <vt:lpstr>仕入先別取引高</vt:lpstr>
      <vt:lpstr>製造委託・外部委託関連費用</vt:lpstr>
      <vt:lpstr>組織、拠点、設備等</vt:lpstr>
      <vt:lpstr>組織図</vt:lpstr>
      <vt:lpstr>株主及び役員</vt:lpstr>
      <vt:lpstr>従業員</vt:lpstr>
      <vt:lpstr>拠点概要（本社）</vt:lpstr>
      <vt:lpstr>保有設備一覧</vt:lpstr>
      <vt:lpstr>財務情報詳細</vt:lpstr>
      <vt:lpstr>貸借対照表</vt:lpstr>
      <vt:lpstr>損益計算書</vt:lpstr>
      <vt:lpstr>売上原価の内訳（製造委託中心）</vt:lpstr>
      <vt:lpstr>販売費及び一般管理費</vt:lpstr>
      <vt:lpstr>Appendix</vt:lpstr>
      <vt:lpstr>沿革</vt:lpstr>
      <vt:lpstr>代表者経歴</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178</cp:revision>
  <cp:lastPrinted>2025-10-23T01:12:16Z</cp:lastPrinted>
  <dcterms:created xsi:type="dcterms:W3CDTF">2022-11-09T11:25:01Z</dcterms:created>
  <dcterms:modified xsi:type="dcterms:W3CDTF">2026-07-28T13:22:36Z</dcterms:modified>
</cp:coreProperties>
</file>