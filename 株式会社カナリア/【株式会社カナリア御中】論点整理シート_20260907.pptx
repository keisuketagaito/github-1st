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12"/>
  </p:notesMasterIdLst>
  <p:sldIdLst>
    <p:sldId id="267" r:id="rId2"/>
    <p:sldId id="257" r:id="rId3"/>
    <p:sldId id="258" r:id="rId4"/>
    <p:sldId id="270" r:id="rId7"/>
    <p:sldId id="271" r:id="rId8"/>
    <p:sldId id="259" r:id="rId9"/>
    <p:sldId id="261" r:id="rId10"/>
    <p:sldId id="273" r:id="rId24"/>
    <p:sldId id="272" r:id="rId23"/>
    <p:sldId id="266" r:id="rId11"/>
  </p:sldIdLst>
  <p:sldSz cx="9144000" cy="6858000" type="screen4x3"/>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A4A3A4"/>
          </p15:clr>
        </p15:guide>
        <p15:guide id="2" pos="544">
          <p15:clr>
            <a:srgbClr val="A4A3A4"/>
          </p15:clr>
        </p15:guide>
        <p15:guide id="3" pos="4830">
          <p15:clr>
            <a:srgbClr val="A4A3A4"/>
          </p15:clr>
        </p15:guide>
        <p15:guide id="4" orient="horz" pos="3634">
          <p15:clr>
            <a:srgbClr val="A4A3A4"/>
          </p15:clr>
        </p15:guide>
        <p15:guide id="5" pos="4014">
          <p15:clr>
            <a:srgbClr val="A4A3A4"/>
          </p15:clr>
        </p15:guide>
        <p15:guide id="6" pos="1882">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iAUO8oj/B8Y2YCkMKoHUmkZ4y+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7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6B9113-0DA6-4419-ABC6-697280B0F4CE}">
  <a:tblStyle styleId="{FA6B9113-0DA6-4419-ABC6-697280B0F4C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8" y="-280"/>
      </p:cViewPr>
      <p:guideLst>
        <p:guide orient="horz"/>
        <p:guide pos="544"/>
        <p:guide pos="4830"/>
        <p:guide orient="horz" pos="3634"/>
        <p:guide pos="4014"/>
        <p:guide pos="188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notesMaster" Target="notesMasters/notesMaster1.xml"/><Relationship Id="rId18" Type="http://customschemas.google.com/relationships/presentationmetadata" Target="meta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9.xml"/><Relationship Id="rId2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2944072" cy="496491"/>
          </a:xfrm>
          <a:prstGeom prst="rect">
            <a:avLst/>
          </a:prstGeom>
          <a:noFill/>
          <a:ln>
            <a:noFill/>
          </a:ln>
        </p:spPr>
        <p:txBody>
          <a:bodyPr spcFirstLastPara="1" wrap="square" lIns="91281" tIns="45641" rIns="91281" bIns="45641"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844" y="0"/>
            <a:ext cx="2944072" cy="496491"/>
          </a:xfrm>
          <a:prstGeom prst="rect">
            <a:avLst/>
          </a:prstGeom>
          <a:noFill/>
          <a:ln>
            <a:noFill/>
          </a:ln>
        </p:spPr>
        <p:txBody>
          <a:bodyPr spcFirstLastPara="1" wrap="square" lIns="91281" tIns="45641" rIns="91281" bIns="45641"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433324"/>
            <a:ext cx="2944072" cy="496490"/>
          </a:xfrm>
          <a:prstGeom prst="rect">
            <a:avLst/>
          </a:prstGeom>
          <a:noFill/>
          <a:ln>
            <a:noFill/>
          </a:ln>
        </p:spPr>
        <p:txBody>
          <a:bodyPr spcFirstLastPara="1" wrap="square" lIns="91281" tIns="45641" rIns="91281" bIns="45641"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sz="1200" smtClean="0">
                <a:solidFill>
                  <a:schemeClr val="dk1"/>
                </a:solidFill>
              </a:rPr>
              <a:pPr algn="r"/>
              <a:t>‹#›</a:t>
            </a:fld>
            <a:endParaRPr lang="en-US" sz="12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notes"/>
          <p:cNvSpPr txBox="1">
            <a:spLocks noGrp="1"/>
          </p:cNvSpPr>
          <p:nvPr>
            <p:ph type="body" idx="1"/>
          </p:nvPr>
        </p:nvSpPr>
        <p:spPr>
          <a:xfrm>
            <a:off x="679768" y="4717455"/>
            <a:ext cx="5434966" cy="4468416"/>
          </a:xfrm>
          <a:prstGeom prst="rect">
            <a:avLst/>
          </a:prstGeom>
        </p:spPr>
        <p:txBody>
          <a:bodyPr spcFirstLastPara="1" wrap="square" lIns="91281" tIns="45641" rIns="91281" bIns="45641" anchor="t" anchorCtr="0">
            <a:noAutofit/>
          </a:bodyPr>
          <a:lstStyle/>
          <a:p>
            <a:pPr marL="0" indent="0"/>
            <a:endParaRPr/>
          </a:p>
        </p:txBody>
      </p:sp>
      <p:sp>
        <p:nvSpPr>
          <p:cNvPr id="194" name="Google Shape;194;p2: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3: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02" name="Google Shape;202;p3: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2</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B2F41690-D6A0-65BD-15FF-C385F37FEB5A}"/>
            </a:ext>
          </a:extLst>
        </p:cNvPr>
        <p:cNvGrpSpPr/>
        <p:nvPr/>
      </p:nvGrpSpPr>
      <p:grpSpPr>
        <a:xfrm>
          <a:off x="0" y="0"/>
          <a:ext cx="0" cy="0"/>
          <a:chOff x="0" y="0"/>
          <a:chExt cx="0" cy="0"/>
        </a:xfrm>
      </p:grpSpPr>
      <p:sp>
        <p:nvSpPr>
          <p:cNvPr id="200" name="Google Shape;200;p3:notes">
            <a:extLst>
              <a:ext uri="{FF2B5EF4-FFF2-40B4-BE49-F238E27FC236}">
                <a16:creationId xmlns:a16="http://schemas.microsoft.com/office/drawing/2014/main" id="{B8D33891-959D-819A-AA03-E3D13D3CC229}"/>
              </a:ext>
            </a:extLst>
          </p:cNvPr>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a:extLst>
              <a:ext uri="{FF2B5EF4-FFF2-40B4-BE49-F238E27FC236}">
                <a16:creationId xmlns:a16="http://schemas.microsoft.com/office/drawing/2014/main" id="{B1D4F4EF-7358-288E-E7B0-E460169833D8}"/>
              </a:ext>
            </a:extLst>
          </p:cNvPr>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02" name="Google Shape;202;p3:notes">
            <a:extLst>
              <a:ext uri="{FF2B5EF4-FFF2-40B4-BE49-F238E27FC236}">
                <a16:creationId xmlns:a16="http://schemas.microsoft.com/office/drawing/2014/main" id="{62F2E315-2F52-4109-EFFF-D27625E50661}"/>
              </a:ext>
            </a:extLst>
          </p:cNvPr>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5</a:t>
            </a:fld>
            <a:endParaRPr/>
          </a:p>
        </p:txBody>
      </p:sp>
    </p:spTree>
    <p:extLst>
      <p:ext uri="{BB962C8B-B14F-4D97-AF65-F5344CB8AC3E}">
        <p14:creationId xmlns:p14="http://schemas.microsoft.com/office/powerpoint/2010/main" val="2602134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EBAF5E89-3BFC-A5DB-7B0E-009C3733E999}"/>
            </a:ext>
          </a:extLst>
        </p:cNvPr>
        <p:cNvGrpSpPr/>
        <p:nvPr/>
      </p:nvGrpSpPr>
      <p:grpSpPr>
        <a:xfrm>
          <a:off x="0" y="0"/>
          <a:ext cx="0" cy="0"/>
          <a:chOff x="0" y="0"/>
          <a:chExt cx="0" cy="0"/>
        </a:xfrm>
      </p:grpSpPr>
      <p:sp>
        <p:nvSpPr>
          <p:cNvPr id="200" name="Google Shape;200;p3:notes">
            <a:extLst>
              <a:ext uri="{FF2B5EF4-FFF2-40B4-BE49-F238E27FC236}">
                <a16:creationId xmlns:a16="http://schemas.microsoft.com/office/drawing/2014/main" id="{0916B331-ECF9-6131-294B-26851A4288C1}"/>
              </a:ext>
            </a:extLst>
          </p:cNvPr>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a:extLst>
              <a:ext uri="{FF2B5EF4-FFF2-40B4-BE49-F238E27FC236}">
                <a16:creationId xmlns:a16="http://schemas.microsoft.com/office/drawing/2014/main" id="{C12094A0-AD5D-1815-3706-214D1EA914C3}"/>
              </a:ext>
            </a:extLst>
          </p:cNvPr>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dirty="0"/>
          </a:p>
        </p:txBody>
      </p:sp>
      <p:sp>
        <p:nvSpPr>
          <p:cNvPr id="202" name="Google Shape;202;p3:notes">
            <a:extLst>
              <a:ext uri="{FF2B5EF4-FFF2-40B4-BE49-F238E27FC236}">
                <a16:creationId xmlns:a16="http://schemas.microsoft.com/office/drawing/2014/main" id="{826AF828-DEA4-C177-0C53-009758A744C0}"/>
              </a:ext>
            </a:extLst>
          </p:cNvPr>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6</a:t>
            </a:fld>
            <a:endParaRPr/>
          </a:p>
        </p:txBody>
      </p:sp>
    </p:spTree>
    <p:extLst>
      <p:ext uri="{BB962C8B-B14F-4D97-AF65-F5344CB8AC3E}">
        <p14:creationId xmlns:p14="http://schemas.microsoft.com/office/powerpoint/2010/main" val="1800720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4: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1" name="Google Shape;211;p4: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a:p>
            <a:pPr marL="0" indent="0"/>
            <a:endParaRPr/>
          </a:p>
          <a:p>
            <a:pPr marL="0" indent="0"/>
            <a:endParaRPr/>
          </a:p>
        </p:txBody>
      </p:sp>
      <p:sp>
        <p:nvSpPr>
          <p:cNvPr id="212" name="Google Shape;212;p4: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6: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1" name="Google Shape;231;p6: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r>
              <a:rPr lang="ja-JP" altLang="en-US" sz="800"/>
              <a:t>３の下に</a:t>
            </a:r>
            <a:endParaRPr sz="800"/>
          </a:p>
          <a:p>
            <a:pPr marL="0" indent="0">
              <a:spcBef>
                <a:spcPts val="240"/>
              </a:spcBef>
            </a:pPr>
            <a:r>
              <a:rPr lang="ja-JP" altLang="en-US" sz="800"/>
              <a:t>現在の株主になった経緯とそのエビデンスの有無を書いてもらうのはどうか？</a:t>
            </a:r>
            <a:endParaRPr sz="800"/>
          </a:p>
          <a:p>
            <a:pPr marL="0" indent="0">
              <a:spcBef>
                <a:spcPts val="240"/>
              </a:spcBef>
            </a:pPr>
            <a:r>
              <a:rPr lang="ja-JP" altLang="en-US" sz="800"/>
              <a:t>５　個人から買い取る不動産について三友調査をいれていないことが多いため、ちゃんと把握できていないこともリスクではある（入れるかは検討）</a:t>
            </a:r>
            <a:endParaRPr/>
          </a:p>
        </p:txBody>
      </p:sp>
      <p:sp>
        <p:nvSpPr>
          <p:cNvPr id="232" name="Google Shape;232;p6: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1: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6" name="Google Shape;286;p11: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87" name="Google Shape;287;p11: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628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A8C01E1-DC73-47CA-8AB3-0AF12820F4D0}" type="datetime1">
              <a:rPr kumimoji="1" lang="ja-JP" altLang="en-US" smtClean="0"/>
              <a:pPr/>
              <a:t>2026/7/30</a:t>
            </a:fld>
            <a:endParaRPr kumimoji="1" lang="ja-JP"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kumimoji="1" lang="ja-JP"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532FAFD-9931-440E-831C-5FB57402A186}" type="slidenum">
              <a:rPr kumimoji="1" lang="ja-JP" altLang="en-US" smtClean="0"/>
              <a:pPr/>
              <a:t>‹#›</a:t>
            </a:fld>
            <a:endParaRPr kumimoji="1" lang="ja-JP" altLang="en-US"/>
          </a:p>
        </p:txBody>
      </p:sp>
      <p:sp>
        <p:nvSpPr>
          <p:cNvPr id="7" name="正方形/長方形 6">
            <a:extLst>
              <a:ext uri="{FF2B5EF4-FFF2-40B4-BE49-F238E27FC236}">
                <a16:creationId xmlns:a16="http://schemas.microsoft.com/office/drawing/2014/main" id="{53A5FD5A-0BDD-4A81-9722-D58D9DC7A6CB}"/>
              </a:ext>
            </a:extLst>
          </p:cNvPr>
          <p:cNvSpPr/>
          <p:nvPr userDrawn="1"/>
        </p:nvSpPr>
        <p:spPr bwMode="gray">
          <a:xfrm>
            <a:off x="-908" y="6095965"/>
            <a:ext cx="9149670" cy="77041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pic>
        <p:nvPicPr>
          <p:cNvPr id="8" name="図 7">
            <a:extLst>
              <a:ext uri="{FF2B5EF4-FFF2-40B4-BE49-F238E27FC236}">
                <a16:creationId xmlns:a16="http://schemas.microsoft.com/office/drawing/2014/main" id="{BE0725ED-E3D5-40AF-86AE-6DF05682A332}"/>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bwMode="gray">
          <a:xfrm>
            <a:off x="-1587" y="-2704"/>
            <a:ext cx="9144000" cy="6096000"/>
          </a:xfrm>
          <a:prstGeom prst="rect">
            <a:avLst/>
          </a:prstGeom>
        </p:spPr>
      </p:pic>
      <p:sp>
        <p:nvSpPr>
          <p:cNvPr id="9" name="フリーフォーム 14">
            <a:extLst>
              <a:ext uri="{FF2B5EF4-FFF2-40B4-BE49-F238E27FC236}">
                <a16:creationId xmlns:a16="http://schemas.microsoft.com/office/drawing/2014/main" id="{777E065D-7ABE-4B71-94D8-7961F25F23F3}"/>
              </a:ext>
            </a:extLst>
          </p:cNvPr>
          <p:cNvSpPr/>
          <p:nvPr userDrawn="1"/>
        </p:nvSpPr>
        <p:spPr bwMode="gray">
          <a:xfrm>
            <a:off x="-3" y="3288845"/>
            <a:ext cx="9149444" cy="3566886"/>
          </a:xfrm>
          <a:custGeom>
            <a:avLst/>
            <a:gdLst>
              <a:gd name="connsiteX0" fmla="*/ 0 w 9144000"/>
              <a:gd name="connsiteY0" fmla="*/ 0 h 5167086"/>
              <a:gd name="connsiteX1" fmla="*/ 9144000 w 9144000"/>
              <a:gd name="connsiteY1" fmla="*/ 3454400 h 5167086"/>
              <a:gd name="connsiteX2" fmla="*/ 9144000 w 9144000"/>
              <a:gd name="connsiteY2" fmla="*/ 5167086 h 5167086"/>
              <a:gd name="connsiteX3" fmla="*/ 14514 w 9144000"/>
              <a:gd name="connsiteY3" fmla="*/ 5167086 h 5167086"/>
              <a:gd name="connsiteX4" fmla="*/ 0 w 9144000"/>
              <a:gd name="connsiteY4" fmla="*/ 0 h 5167086"/>
              <a:gd name="connsiteX0" fmla="*/ 4550241 w 9129486"/>
              <a:gd name="connsiteY0" fmla="*/ 0 h 3439886"/>
              <a:gd name="connsiteX1" fmla="*/ 9129486 w 9129486"/>
              <a:gd name="connsiteY1" fmla="*/ 1727200 h 3439886"/>
              <a:gd name="connsiteX2" fmla="*/ 9129486 w 9129486"/>
              <a:gd name="connsiteY2" fmla="*/ 3439886 h 3439886"/>
              <a:gd name="connsiteX3" fmla="*/ 0 w 9129486"/>
              <a:gd name="connsiteY3" fmla="*/ 3439886 h 3439886"/>
              <a:gd name="connsiteX4" fmla="*/ 4550241 w 9129486"/>
              <a:gd name="connsiteY4" fmla="*/ 0 h 3439886"/>
              <a:gd name="connsiteX0" fmla="*/ 4550241 w 9129486"/>
              <a:gd name="connsiteY0" fmla="*/ 0 h 3439886"/>
              <a:gd name="connsiteX1" fmla="*/ 9129486 w 9129486"/>
              <a:gd name="connsiteY1" fmla="*/ 1727200 h 3439886"/>
              <a:gd name="connsiteX2" fmla="*/ 9129486 w 9129486"/>
              <a:gd name="connsiteY2" fmla="*/ 3439886 h 3439886"/>
              <a:gd name="connsiteX3" fmla="*/ 0 w 9129486"/>
              <a:gd name="connsiteY3" fmla="*/ 3439886 h 3439886"/>
              <a:gd name="connsiteX4" fmla="*/ 1394763 w 9129486"/>
              <a:gd name="connsiteY4" fmla="*/ 2416629 h 3439886"/>
              <a:gd name="connsiteX5" fmla="*/ 4550241 w 9129486"/>
              <a:gd name="connsiteY5" fmla="*/ 0 h 3439886"/>
              <a:gd name="connsiteX0" fmla="*/ 4550264 w 9129509"/>
              <a:gd name="connsiteY0" fmla="*/ 0 h 3439886"/>
              <a:gd name="connsiteX1" fmla="*/ 9129509 w 9129509"/>
              <a:gd name="connsiteY1" fmla="*/ 1727200 h 3439886"/>
              <a:gd name="connsiteX2" fmla="*/ 9129509 w 9129509"/>
              <a:gd name="connsiteY2" fmla="*/ 3439886 h 3439886"/>
              <a:gd name="connsiteX3" fmla="*/ 23 w 9129509"/>
              <a:gd name="connsiteY3" fmla="*/ 3439886 h 3439886"/>
              <a:gd name="connsiteX4" fmla="*/ 0 w 9129509"/>
              <a:gd name="connsiteY4" fmla="*/ 2073729 h 3439886"/>
              <a:gd name="connsiteX5" fmla="*/ 4550264 w 9129509"/>
              <a:gd name="connsiteY5" fmla="*/ 0 h 3439886"/>
              <a:gd name="connsiteX0" fmla="*/ 4195228 w 9129509"/>
              <a:gd name="connsiteY0" fmla="*/ 0 h 3566886"/>
              <a:gd name="connsiteX1" fmla="*/ 9129509 w 9129509"/>
              <a:gd name="connsiteY1" fmla="*/ 1854200 h 3566886"/>
              <a:gd name="connsiteX2" fmla="*/ 9129509 w 9129509"/>
              <a:gd name="connsiteY2" fmla="*/ 3566886 h 3566886"/>
              <a:gd name="connsiteX3" fmla="*/ 23 w 9129509"/>
              <a:gd name="connsiteY3" fmla="*/ 3566886 h 3566886"/>
              <a:gd name="connsiteX4" fmla="*/ 0 w 9129509"/>
              <a:gd name="connsiteY4" fmla="*/ 2200729 h 3566886"/>
              <a:gd name="connsiteX5" fmla="*/ 4195228 w 9129509"/>
              <a:gd name="connsiteY5" fmla="*/ 0 h 3566886"/>
              <a:gd name="connsiteX0" fmla="*/ 4207908 w 9142189"/>
              <a:gd name="connsiteY0" fmla="*/ 0 h 3566886"/>
              <a:gd name="connsiteX1" fmla="*/ 9142189 w 9142189"/>
              <a:gd name="connsiteY1" fmla="*/ 1854200 h 3566886"/>
              <a:gd name="connsiteX2" fmla="*/ 9142189 w 9142189"/>
              <a:gd name="connsiteY2" fmla="*/ 3566886 h 3566886"/>
              <a:gd name="connsiteX3" fmla="*/ 12703 w 9142189"/>
              <a:gd name="connsiteY3" fmla="*/ 3566886 h 3566886"/>
              <a:gd name="connsiteX4" fmla="*/ 0 w 9142189"/>
              <a:gd name="connsiteY4" fmla="*/ 2784929 h 3566886"/>
              <a:gd name="connsiteX5" fmla="*/ 4207908 w 9142189"/>
              <a:gd name="connsiteY5" fmla="*/ 0 h 3566886"/>
              <a:gd name="connsiteX0" fmla="*/ 4207908 w 9142189"/>
              <a:gd name="connsiteY0" fmla="*/ 0 h 3566886"/>
              <a:gd name="connsiteX1" fmla="*/ 9142189 w 9142189"/>
              <a:gd name="connsiteY1" fmla="*/ 1854200 h 3566886"/>
              <a:gd name="connsiteX2" fmla="*/ 9142189 w 9142189"/>
              <a:gd name="connsiteY2" fmla="*/ 3566886 h 3566886"/>
              <a:gd name="connsiteX3" fmla="*/ 6363 w 9142189"/>
              <a:gd name="connsiteY3" fmla="*/ 3563711 h 3566886"/>
              <a:gd name="connsiteX4" fmla="*/ 0 w 9142189"/>
              <a:gd name="connsiteY4" fmla="*/ 2784929 h 3566886"/>
              <a:gd name="connsiteX5" fmla="*/ 4207908 w 9142189"/>
              <a:gd name="connsiteY5" fmla="*/ 0 h 3566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2189" h="3566886">
                <a:moveTo>
                  <a:pt x="4207908" y="0"/>
                </a:moveTo>
                <a:lnTo>
                  <a:pt x="9142189" y="1854200"/>
                </a:lnTo>
                <a:lnTo>
                  <a:pt x="9142189" y="3566886"/>
                </a:lnTo>
                <a:lnTo>
                  <a:pt x="6363" y="3563711"/>
                </a:lnTo>
                <a:cubicBezTo>
                  <a:pt x="6355" y="3108325"/>
                  <a:pt x="8" y="3240315"/>
                  <a:pt x="0" y="2784929"/>
                </a:cubicBezTo>
                <a:lnTo>
                  <a:pt x="4207908" y="0"/>
                </a:lnTo>
                <a:close/>
              </a:path>
            </a:pathLst>
          </a:cu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lang="ja-JP" altLang="en-US" sz="950" dirty="0">
              <a:solidFill>
                <a:srgbClr val="404E0A"/>
              </a:solidFill>
              <a:latin typeface="Arial" panose="020B0604020202020204" pitchFamily="34" charset="0"/>
              <a:ea typeface="Meiryo UI"/>
              <a:cs typeface="Arial" panose="020B0604020202020204" pitchFamily="34" charset="0"/>
            </a:endParaRPr>
          </a:p>
        </p:txBody>
      </p:sp>
      <p:sp>
        <p:nvSpPr>
          <p:cNvPr id="10" name="フリーフォーム 15">
            <a:extLst>
              <a:ext uri="{FF2B5EF4-FFF2-40B4-BE49-F238E27FC236}">
                <a16:creationId xmlns:a16="http://schemas.microsoft.com/office/drawing/2014/main" id="{926D8226-CCF4-4B52-89D3-BA412321F7D6}"/>
              </a:ext>
            </a:extLst>
          </p:cNvPr>
          <p:cNvSpPr/>
          <p:nvPr userDrawn="1"/>
        </p:nvSpPr>
        <p:spPr bwMode="gray">
          <a:xfrm>
            <a:off x="-9693" y="1696954"/>
            <a:ext cx="4206240" cy="4388367"/>
          </a:xfrm>
          <a:custGeom>
            <a:avLst/>
            <a:gdLst>
              <a:gd name="connsiteX0" fmla="*/ 4572000 w 4572000"/>
              <a:gd name="connsiteY0" fmla="*/ 1741715 h 5138058"/>
              <a:gd name="connsiteX1" fmla="*/ 0 w 4572000"/>
              <a:gd name="connsiteY1" fmla="*/ 5138058 h 5138058"/>
              <a:gd name="connsiteX2" fmla="*/ 0 w 4572000"/>
              <a:gd name="connsiteY2" fmla="*/ 0 h 5138058"/>
              <a:gd name="connsiteX3" fmla="*/ 4572000 w 4572000"/>
              <a:gd name="connsiteY3" fmla="*/ 1741715 h 5138058"/>
              <a:gd name="connsiteX0" fmla="*/ 4572000 w 4572000"/>
              <a:gd name="connsiteY0" fmla="*/ 1741715 h 5161504"/>
              <a:gd name="connsiteX1" fmla="*/ 0 w 4572000"/>
              <a:gd name="connsiteY1" fmla="*/ 5161504 h 5161504"/>
              <a:gd name="connsiteX2" fmla="*/ 0 w 4572000"/>
              <a:gd name="connsiteY2" fmla="*/ 0 h 5161504"/>
              <a:gd name="connsiteX3" fmla="*/ 4572000 w 4572000"/>
              <a:gd name="connsiteY3" fmla="*/ 1741715 h 5161504"/>
              <a:gd name="connsiteX0" fmla="*/ 4572000 w 4572000"/>
              <a:gd name="connsiteY0" fmla="*/ 1741715 h 5173227"/>
              <a:gd name="connsiteX1" fmla="*/ 0 w 4572000"/>
              <a:gd name="connsiteY1" fmla="*/ 5173227 h 5173227"/>
              <a:gd name="connsiteX2" fmla="*/ 0 w 4572000"/>
              <a:gd name="connsiteY2" fmla="*/ 0 h 5173227"/>
              <a:gd name="connsiteX3" fmla="*/ 4572000 w 4572000"/>
              <a:gd name="connsiteY3" fmla="*/ 1741715 h 5173227"/>
              <a:gd name="connsiteX0" fmla="*/ 4572000 w 4572000"/>
              <a:gd name="connsiteY0" fmla="*/ 1741715 h 3801627"/>
              <a:gd name="connsiteX1" fmla="*/ 0 w 4572000"/>
              <a:gd name="connsiteY1" fmla="*/ 3801627 h 3801627"/>
              <a:gd name="connsiteX2" fmla="*/ 0 w 4572000"/>
              <a:gd name="connsiteY2" fmla="*/ 0 h 3801627"/>
              <a:gd name="connsiteX3" fmla="*/ 4572000 w 4572000"/>
              <a:gd name="connsiteY3" fmla="*/ 1741715 h 3801627"/>
              <a:gd name="connsiteX0" fmla="*/ 4191000 w 4191000"/>
              <a:gd name="connsiteY0" fmla="*/ 1589315 h 3801627"/>
              <a:gd name="connsiteX1" fmla="*/ 0 w 4191000"/>
              <a:gd name="connsiteY1" fmla="*/ 3801627 h 3801627"/>
              <a:gd name="connsiteX2" fmla="*/ 0 w 4191000"/>
              <a:gd name="connsiteY2" fmla="*/ 0 h 3801627"/>
              <a:gd name="connsiteX3" fmla="*/ 4191000 w 4191000"/>
              <a:gd name="connsiteY3" fmla="*/ 1589315 h 3801627"/>
              <a:gd name="connsiteX0" fmla="*/ 4191000 w 4191000"/>
              <a:gd name="connsiteY0" fmla="*/ 1589315 h 4373127"/>
              <a:gd name="connsiteX1" fmla="*/ 0 w 4191000"/>
              <a:gd name="connsiteY1" fmla="*/ 4373127 h 4373127"/>
              <a:gd name="connsiteX2" fmla="*/ 0 w 4191000"/>
              <a:gd name="connsiteY2" fmla="*/ 0 h 4373127"/>
              <a:gd name="connsiteX3" fmla="*/ 4191000 w 4191000"/>
              <a:gd name="connsiteY3" fmla="*/ 1589315 h 4373127"/>
              <a:gd name="connsiteX0" fmla="*/ 4206240 w 4206240"/>
              <a:gd name="connsiteY0" fmla="*/ 1596935 h 4373127"/>
              <a:gd name="connsiteX1" fmla="*/ 0 w 4206240"/>
              <a:gd name="connsiteY1" fmla="*/ 4373127 h 4373127"/>
              <a:gd name="connsiteX2" fmla="*/ 0 w 4206240"/>
              <a:gd name="connsiteY2" fmla="*/ 0 h 4373127"/>
              <a:gd name="connsiteX3" fmla="*/ 4206240 w 4206240"/>
              <a:gd name="connsiteY3" fmla="*/ 1596935 h 4373127"/>
              <a:gd name="connsiteX0" fmla="*/ 4206240 w 4206240"/>
              <a:gd name="connsiteY0" fmla="*/ 1596935 h 4388367"/>
              <a:gd name="connsiteX1" fmla="*/ 0 w 4206240"/>
              <a:gd name="connsiteY1" fmla="*/ 4388367 h 4388367"/>
              <a:gd name="connsiteX2" fmla="*/ 0 w 4206240"/>
              <a:gd name="connsiteY2" fmla="*/ 0 h 4388367"/>
              <a:gd name="connsiteX3" fmla="*/ 4206240 w 4206240"/>
              <a:gd name="connsiteY3" fmla="*/ 1596935 h 4388367"/>
            </a:gdLst>
            <a:ahLst/>
            <a:cxnLst>
              <a:cxn ang="0">
                <a:pos x="connsiteX0" y="connsiteY0"/>
              </a:cxn>
              <a:cxn ang="0">
                <a:pos x="connsiteX1" y="connsiteY1"/>
              </a:cxn>
              <a:cxn ang="0">
                <a:pos x="connsiteX2" y="connsiteY2"/>
              </a:cxn>
              <a:cxn ang="0">
                <a:pos x="connsiteX3" y="connsiteY3"/>
              </a:cxn>
            </a:cxnLst>
            <a:rect l="l" t="t" r="r" b="b"/>
            <a:pathLst>
              <a:path w="4206240" h="4388367">
                <a:moveTo>
                  <a:pt x="4206240" y="1596935"/>
                </a:moveTo>
                <a:lnTo>
                  <a:pt x="0" y="4388367"/>
                </a:lnTo>
                <a:lnTo>
                  <a:pt x="0" y="0"/>
                </a:lnTo>
                <a:lnTo>
                  <a:pt x="4206240" y="1596935"/>
                </a:lnTo>
                <a:close/>
              </a:path>
            </a:pathLst>
          </a:custGeom>
          <a:solidFill>
            <a:schemeClr val="accent1">
              <a:lumMod val="60000"/>
              <a:lumOff val="4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sp>
        <p:nvSpPr>
          <p:cNvPr id="11" name="フリーフォーム 16">
            <a:extLst>
              <a:ext uri="{FF2B5EF4-FFF2-40B4-BE49-F238E27FC236}">
                <a16:creationId xmlns:a16="http://schemas.microsoft.com/office/drawing/2014/main" id="{11B64292-33AE-44EA-BA23-685311A8C144}"/>
              </a:ext>
            </a:extLst>
          </p:cNvPr>
          <p:cNvSpPr/>
          <p:nvPr userDrawn="1"/>
        </p:nvSpPr>
        <p:spPr bwMode="gray">
          <a:xfrm>
            <a:off x="12698" y="-5518"/>
            <a:ext cx="9110863" cy="3307645"/>
          </a:xfrm>
          <a:custGeom>
            <a:avLst/>
            <a:gdLst>
              <a:gd name="connsiteX0" fmla="*/ 0 w 9173029"/>
              <a:gd name="connsiteY0" fmla="*/ 1712686 h 3439886"/>
              <a:gd name="connsiteX1" fmla="*/ 2235200 w 9173029"/>
              <a:gd name="connsiteY1" fmla="*/ 29029 h 3439886"/>
              <a:gd name="connsiteX2" fmla="*/ 9173029 w 9173029"/>
              <a:gd name="connsiteY2" fmla="*/ 0 h 3439886"/>
              <a:gd name="connsiteX3" fmla="*/ 4601029 w 9173029"/>
              <a:gd name="connsiteY3" fmla="*/ 3439886 h 3439886"/>
              <a:gd name="connsiteX4" fmla="*/ 0 w 9173029"/>
              <a:gd name="connsiteY4" fmla="*/ 1712686 h 3439886"/>
              <a:gd name="connsiteX0" fmla="*/ 0 w 9173029"/>
              <a:gd name="connsiteY0" fmla="*/ 1712686 h 3468914"/>
              <a:gd name="connsiteX1" fmla="*/ 2235200 w 9173029"/>
              <a:gd name="connsiteY1" fmla="*/ 29029 h 3468914"/>
              <a:gd name="connsiteX2" fmla="*/ 9173029 w 9173029"/>
              <a:gd name="connsiteY2" fmla="*/ 0 h 3468914"/>
              <a:gd name="connsiteX3" fmla="*/ 4528458 w 9173029"/>
              <a:gd name="connsiteY3" fmla="*/ 3468914 h 3468914"/>
              <a:gd name="connsiteX4" fmla="*/ 0 w 9173029"/>
              <a:gd name="connsiteY4" fmla="*/ 1712686 h 3468914"/>
              <a:gd name="connsiteX0" fmla="*/ 0 w 9173029"/>
              <a:gd name="connsiteY0" fmla="*/ 1741714 h 3468914"/>
              <a:gd name="connsiteX1" fmla="*/ 2235200 w 9173029"/>
              <a:gd name="connsiteY1" fmla="*/ 29029 h 3468914"/>
              <a:gd name="connsiteX2" fmla="*/ 9173029 w 9173029"/>
              <a:gd name="connsiteY2" fmla="*/ 0 h 3468914"/>
              <a:gd name="connsiteX3" fmla="*/ 4528458 w 9173029"/>
              <a:gd name="connsiteY3" fmla="*/ 3468914 h 3468914"/>
              <a:gd name="connsiteX4" fmla="*/ 0 w 9173029"/>
              <a:gd name="connsiteY4" fmla="*/ 1741714 h 3468914"/>
              <a:gd name="connsiteX0" fmla="*/ 0 w 9173029"/>
              <a:gd name="connsiteY0" fmla="*/ 1741714 h 3468914"/>
              <a:gd name="connsiteX1" fmla="*/ 2235200 w 9173029"/>
              <a:gd name="connsiteY1" fmla="*/ 29029 h 3468914"/>
              <a:gd name="connsiteX2" fmla="*/ 9173029 w 9173029"/>
              <a:gd name="connsiteY2" fmla="*/ 0 h 3468914"/>
              <a:gd name="connsiteX3" fmla="*/ 7762304 w 9173029"/>
              <a:gd name="connsiteY3" fmla="*/ 1017946 h 3468914"/>
              <a:gd name="connsiteX4" fmla="*/ 4528458 w 9173029"/>
              <a:gd name="connsiteY4" fmla="*/ 3468914 h 3468914"/>
              <a:gd name="connsiteX5" fmla="*/ 0 w 9173029"/>
              <a:gd name="connsiteY5" fmla="*/ 1741714 h 3468914"/>
              <a:gd name="connsiteX0" fmla="*/ 0 w 9173029"/>
              <a:gd name="connsiteY0" fmla="*/ 1741714 h 3468914"/>
              <a:gd name="connsiteX1" fmla="*/ 2235200 w 9173029"/>
              <a:gd name="connsiteY1" fmla="*/ 29029 h 3468914"/>
              <a:gd name="connsiteX2" fmla="*/ 9173029 w 9173029"/>
              <a:gd name="connsiteY2" fmla="*/ 0 h 3468914"/>
              <a:gd name="connsiteX3" fmla="*/ 9108504 w 9173029"/>
              <a:gd name="connsiteY3" fmla="*/ 1386246 h 3468914"/>
              <a:gd name="connsiteX4" fmla="*/ 4528458 w 9173029"/>
              <a:gd name="connsiteY4" fmla="*/ 3468914 h 3468914"/>
              <a:gd name="connsiteX5" fmla="*/ 0 w 9173029"/>
              <a:gd name="connsiteY5" fmla="*/ 1741714 h 3468914"/>
              <a:gd name="connsiteX0" fmla="*/ 0 w 9147629"/>
              <a:gd name="connsiteY0" fmla="*/ 1716314 h 3443514"/>
              <a:gd name="connsiteX1" fmla="*/ 2235200 w 9147629"/>
              <a:gd name="connsiteY1" fmla="*/ 3629 h 3443514"/>
              <a:gd name="connsiteX2" fmla="*/ 9147629 w 9147629"/>
              <a:gd name="connsiteY2" fmla="*/ 0 h 3443514"/>
              <a:gd name="connsiteX3" fmla="*/ 9108504 w 9147629"/>
              <a:gd name="connsiteY3" fmla="*/ 1360846 h 3443514"/>
              <a:gd name="connsiteX4" fmla="*/ 4528458 w 9147629"/>
              <a:gd name="connsiteY4" fmla="*/ 3443514 h 3443514"/>
              <a:gd name="connsiteX5" fmla="*/ 0 w 9147629"/>
              <a:gd name="connsiteY5" fmla="*/ 1716314 h 3443514"/>
              <a:gd name="connsiteX0" fmla="*/ 0 w 9147629"/>
              <a:gd name="connsiteY0" fmla="*/ 1716314 h 3443514"/>
              <a:gd name="connsiteX1" fmla="*/ 2235200 w 9147629"/>
              <a:gd name="connsiteY1" fmla="*/ 3629 h 3443514"/>
              <a:gd name="connsiteX2" fmla="*/ 9147629 w 9147629"/>
              <a:gd name="connsiteY2" fmla="*/ 0 h 3443514"/>
              <a:gd name="connsiteX3" fmla="*/ 9133904 w 9147629"/>
              <a:gd name="connsiteY3" fmla="*/ 1360846 h 3443514"/>
              <a:gd name="connsiteX4" fmla="*/ 4528458 w 9147629"/>
              <a:gd name="connsiteY4" fmla="*/ 3443514 h 3443514"/>
              <a:gd name="connsiteX5" fmla="*/ 0 w 9147629"/>
              <a:gd name="connsiteY5" fmla="*/ 1716314 h 3443514"/>
              <a:gd name="connsiteX0" fmla="*/ 0 w 9134929"/>
              <a:gd name="connsiteY0" fmla="*/ 1716314 h 3443514"/>
              <a:gd name="connsiteX1" fmla="*/ 2235200 w 9134929"/>
              <a:gd name="connsiteY1" fmla="*/ 3629 h 3443514"/>
              <a:gd name="connsiteX2" fmla="*/ 9134929 w 9134929"/>
              <a:gd name="connsiteY2" fmla="*/ 0 h 3443514"/>
              <a:gd name="connsiteX3" fmla="*/ 9133904 w 9134929"/>
              <a:gd name="connsiteY3" fmla="*/ 1360846 h 3443514"/>
              <a:gd name="connsiteX4" fmla="*/ 4528458 w 9134929"/>
              <a:gd name="connsiteY4" fmla="*/ 3443514 h 3443514"/>
              <a:gd name="connsiteX5" fmla="*/ 0 w 9134929"/>
              <a:gd name="connsiteY5" fmla="*/ 1716314 h 3443514"/>
              <a:gd name="connsiteX0" fmla="*/ 0 w 9134929"/>
              <a:gd name="connsiteY0" fmla="*/ 1716314 h 3443514"/>
              <a:gd name="connsiteX1" fmla="*/ 3771900 w 9134929"/>
              <a:gd name="connsiteY1" fmla="*/ 16329 h 3443514"/>
              <a:gd name="connsiteX2" fmla="*/ 9134929 w 9134929"/>
              <a:gd name="connsiteY2" fmla="*/ 0 h 3443514"/>
              <a:gd name="connsiteX3" fmla="*/ 9133904 w 9134929"/>
              <a:gd name="connsiteY3" fmla="*/ 1360846 h 3443514"/>
              <a:gd name="connsiteX4" fmla="*/ 4528458 w 9134929"/>
              <a:gd name="connsiteY4" fmla="*/ 3443514 h 3443514"/>
              <a:gd name="connsiteX5" fmla="*/ 0 w 9134929"/>
              <a:gd name="connsiteY5" fmla="*/ 1716314 h 3443514"/>
              <a:gd name="connsiteX0" fmla="*/ 0 w 9134929"/>
              <a:gd name="connsiteY0" fmla="*/ 1716314 h 1716314"/>
              <a:gd name="connsiteX1" fmla="*/ 3771900 w 9134929"/>
              <a:gd name="connsiteY1" fmla="*/ 16329 h 1716314"/>
              <a:gd name="connsiteX2" fmla="*/ 9134929 w 9134929"/>
              <a:gd name="connsiteY2" fmla="*/ 0 h 1716314"/>
              <a:gd name="connsiteX3" fmla="*/ 9133904 w 9134929"/>
              <a:gd name="connsiteY3" fmla="*/ 1360846 h 1716314"/>
              <a:gd name="connsiteX4" fmla="*/ 0 w 9134929"/>
              <a:gd name="connsiteY4" fmla="*/ 1716314 h 1716314"/>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25385 h 3325717"/>
              <a:gd name="connsiteX1" fmla="*/ 2590800 w 9134929"/>
              <a:gd name="connsiteY1" fmla="*/ 0 h 3325717"/>
              <a:gd name="connsiteX2" fmla="*/ 9134929 w 9134929"/>
              <a:gd name="connsiteY2" fmla="*/ 9071 h 3325717"/>
              <a:gd name="connsiteX3" fmla="*/ 4193604 w 9134929"/>
              <a:gd name="connsiteY3" fmla="*/ 3325717 h 3325717"/>
              <a:gd name="connsiteX4" fmla="*/ 0 w 9134929"/>
              <a:gd name="connsiteY4" fmla="*/ 1725385 h 3325717"/>
              <a:gd name="connsiteX0" fmla="*/ 0 w 9147629"/>
              <a:gd name="connsiteY0" fmla="*/ 1712685 h 3325717"/>
              <a:gd name="connsiteX1" fmla="*/ 2603500 w 9147629"/>
              <a:gd name="connsiteY1" fmla="*/ 0 h 3325717"/>
              <a:gd name="connsiteX2" fmla="*/ 9147629 w 9147629"/>
              <a:gd name="connsiteY2" fmla="*/ 9071 h 3325717"/>
              <a:gd name="connsiteX3" fmla="*/ 4206304 w 9147629"/>
              <a:gd name="connsiteY3" fmla="*/ 3325717 h 3325717"/>
              <a:gd name="connsiteX4" fmla="*/ 0 w 9147629"/>
              <a:gd name="connsiteY4" fmla="*/ 1712685 h 3325717"/>
              <a:gd name="connsiteX0" fmla="*/ 0 w 9155249"/>
              <a:gd name="connsiteY0" fmla="*/ 1720305 h 3325717"/>
              <a:gd name="connsiteX1" fmla="*/ 2611120 w 9155249"/>
              <a:gd name="connsiteY1" fmla="*/ 0 h 3325717"/>
              <a:gd name="connsiteX2" fmla="*/ 9155249 w 9155249"/>
              <a:gd name="connsiteY2" fmla="*/ 9071 h 3325717"/>
              <a:gd name="connsiteX3" fmla="*/ 4213924 w 9155249"/>
              <a:gd name="connsiteY3" fmla="*/ 3325717 h 3325717"/>
              <a:gd name="connsiteX4" fmla="*/ 0 w 9155249"/>
              <a:gd name="connsiteY4" fmla="*/ 1720305 h 3325717"/>
              <a:gd name="connsiteX0" fmla="*/ 0 w 9170489"/>
              <a:gd name="connsiteY0" fmla="*/ 1720305 h 3325717"/>
              <a:gd name="connsiteX1" fmla="*/ 2626360 w 9170489"/>
              <a:gd name="connsiteY1" fmla="*/ 0 h 3325717"/>
              <a:gd name="connsiteX2" fmla="*/ 9170489 w 9170489"/>
              <a:gd name="connsiteY2" fmla="*/ 9071 h 3325717"/>
              <a:gd name="connsiteX3" fmla="*/ 4229164 w 9170489"/>
              <a:gd name="connsiteY3" fmla="*/ 3325717 h 3325717"/>
              <a:gd name="connsiteX4" fmla="*/ 0 w 9170489"/>
              <a:gd name="connsiteY4" fmla="*/ 1720305 h 3325717"/>
              <a:gd name="connsiteX0" fmla="*/ 0 w 9141914"/>
              <a:gd name="connsiteY0" fmla="*/ 1720305 h 3325717"/>
              <a:gd name="connsiteX1" fmla="*/ 2626360 w 9141914"/>
              <a:gd name="connsiteY1" fmla="*/ 0 h 3325717"/>
              <a:gd name="connsiteX2" fmla="*/ 9141914 w 9141914"/>
              <a:gd name="connsiteY2" fmla="*/ 9071 h 3325717"/>
              <a:gd name="connsiteX3" fmla="*/ 4229164 w 9141914"/>
              <a:gd name="connsiteY3" fmla="*/ 3325717 h 3325717"/>
              <a:gd name="connsiteX4" fmla="*/ 0 w 9141914"/>
              <a:gd name="connsiteY4" fmla="*/ 1720305 h 3325717"/>
              <a:gd name="connsiteX0" fmla="*/ 0 w 9141914"/>
              <a:gd name="connsiteY0" fmla="*/ 1730284 h 3335696"/>
              <a:gd name="connsiteX1" fmla="*/ 2626360 w 9141914"/>
              <a:gd name="connsiteY1" fmla="*/ 9979 h 3335696"/>
              <a:gd name="connsiteX2" fmla="*/ 9141914 w 9141914"/>
              <a:gd name="connsiteY2" fmla="*/ 0 h 3335696"/>
              <a:gd name="connsiteX3" fmla="*/ 4229164 w 9141914"/>
              <a:gd name="connsiteY3" fmla="*/ 3335696 h 3335696"/>
              <a:gd name="connsiteX4" fmla="*/ 0 w 9141914"/>
              <a:gd name="connsiteY4" fmla="*/ 1730284 h 3335696"/>
              <a:gd name="connsiteX0" fmla="*/ 0 w 9141914"/>
              <a:gd name="connsiteY0" fmla="*/ 1730284 h 3335696"/>
              <a:gd name="connsiteX1" fmla="*/ 2626361 w 9141914"/>
              <a:gd name="connsiteY1" fmla="*/ 3570 h 3335696"/>
              <a:gd name="connsiteX2" fmla="*/ 9141914 w 9141914"/>
              <a:gd name="connsiteY2" fmla="*/ 0 h 3335696"/>
              <a:gd name="connsiteX3" fmla="*/ 4229164 w 9141914"/>
              <a:gd name="connsiteY3" fmla="*/ 3335696 h 3335696"/>
              <a:gd name="connsiteX4" fmla="*/ 0 w 9141914"/>
              <a:gd name="connsiteY4" fmla="*/ 1730284 h 3335696"/>
              <a:gd name="connsiteX0" fmla="*/ 0 w 9141914"/>
              <a:gd name="connsiteY0" fmla="*/ 1733123 h 3338535"/>
              <a:gd name="connsiteX1" fmla="*/ 2626362 w 9141914"/>
              <a:gd name="connsiteY1" fmla="*/ 0 h 3338535"/>
              <a:gd name="connsiteX2" fmla="*/ 9141914 w 9141914"/>
              <a:gd name="connsiteY2" fmla="*/ 2839 h 3338535"/>
              <a:gd name="connsiteX3" fmla="*/ 4229164 w 9141914"/>
              <a:gd name="connsiteY3" fmla="*/ 3338535 h 3338535"/>
              <a:gd name="connsiteX4" fmla="*/ 0 w 9141914"/>
              <a:gd name="connsiteY4" fmla="*/ 1733123 h 3338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1914" h="3338535">
                <a:moveTo>
                  <a:pt x="0" y="1733123"/>
                </a:moveTo>
                <a:lnTo>
                  <a:pt x="2626362" y="0"/>
                </a:lnTo>
                <a:lnTo>
                  <a:pt x="9141914" y="2839"/>
                </a:lnTo>
                <a:cubicBezTo>
                  <a:pt x="8176372" y="672354"/>
                  <a:pt x="4902606" y="2872220"/>
                  <a:pt x="4229164" y="3338535"/>
                </a:cubicBezTo>
                <a:lnTo>
                  <a:pt x="0" y="1733123"/>
                </a:lnTo>
                <a:close/>
              </a:path>
            </a:pathLst>
          </a:custGeom>
          <a:solidFill>
            <a:schemeClr val="accent5">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pic>
        <p:nvPicPr>
          <p:cNvPr id="16" name="図 15">
            <a:extLst>
              <a:ext uri="{FF2B5EF4-FFF2-40B4-BE49-F238E27FC236}">
                <a16:creationId xmlns:a16="http://schemas.microsoft.com/office/drawing/2014/main" id="{685FB373-B5FA-79B7-0E96-E4888A83273D}"/>
              </a:ext>
            </a:extLst>
          </p:cNvPr>
          <p:cNvPicPr>
            <a:picLocks noChangeAspect="1"/>
          </p:cNvPicPr>
          <p:nvPr userDrawn="1"/>
        </p:nvPicPr>
        <p:blipFill>
          <a:blip r:embed="rId4"/>
          <a:stretch>
            <a:fillRect/>
          </a:stretch>
        </p:blipFill>
        <p:spPr>
          <a:xfrm>
            <a:off x="6010455" y="6169428"/>
            <a:ext cx="2807022" cy="552048"/>
          </a:xfrm>
          <a:prstGeom prst="rect">
            <a:avLst/>
          </a:prstGeom>
        </p:spPr>
      </p:pic>
    </p:spTree>
    <p:extLst>
      <p:ext uri="{BB962C8B-B14F-4D97-AF65-F5344CB8AC3E}">
        <p14:creationId xmlns:p14="http://schemas.microsoft.com/office/powerpoint/2010/main" val="3417613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2_ユーザー設定レイアウト">
  <p:cSld name="2_ユーザー設定レイアウト">
    <p:spTree>
      <p:nvGrpSpPr>
        <p:cNvPr id="1" name="Shape 20"/>
        <p:cNvGrpSpPr/>
        <p:nvPr/>
      </p:nvGrpSpPr>
      <p:grpSpPr>
        <a:xfrm>
          <a:off x="0" y="0"/>
          <a:ext cx="0" cy="0"/>
          <a:chOff x="0" y="0"/>
          <a:chExt cx="0" cy="0"/>
        </a:xfrm>
      </p:grpSpPr>
      <p:pic>
        <p:nvPicPr>
          <p:cNvPr id="21" name="Google Shape;21;p14"/>
          <p:cNvPicPr preferRelativeResize="0"/>
          <p:nvPr/>
        </p:nvPicPr>
        <p:blipFill rotWithShape="1">
          <a:blip r:embed="rId2">
            <a:alphaModFix/>
          </a:blip>
          <a:srcRect/>
          <a:stretch/>
        </p:blipFill>
        <p:spPr>
          <a:xfrm>
            <a:off x="-2046" y="2276475"/>
            <a:ext cx="1008000" cy="4581525"/>
          </a:xfrm>
          <a:prstGeom prst="rect">
            <a:avLst/>
          </a:prstGeom>
          <a:noFill/>
          <a:ln>
            <a:noFill/>
          </a:ln>
        </p:spPr>
      </p:pic>
      <p:sp>
        <p:nvSpPr>
          <p:cNvPr id="22" name="Google Shape;22;p14"/>
          <p:cNvSpPr/>
          <p:nvPr/>
        </p:nvSpPr>
        <p:spPr>
          <a:xfrm>
            <a:off x="999116" y="-11151"/>
            <a:ext cx="1008000" cy="6863082"/>
          </a:xfrm>
          <a:prstGeom prst="rect">
            <a:avLst/>
          </a:prstGeom>
          <a:solidFill>
            <a:schemeClr val="accent5">
              <a:lumMod val="75000"/>
            </a:scheme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b="0" i="0" u="none" strike="noStrike" cap="none">
              <a:solidFill>
                <a:srgbClr val="404E0A"/>
              </a:solidFill>
              <a:latin typeface="Arial"/>
              <a:ea typeface="Arial"/>
              <a:cs typeface="Arial"/>
              <a:sym typeface="Arial"/>
            </a:endParaRPr>
          </a:p>
        </p:txBody>
      </p:sp>
      <p:sp>
        <p:nvSpPr>
          <p:cNvPr id="23" name="Google Shape;23;p14"/>
          <p:cNvSpPr/>
          <p:nvPr/>
        </p:nvSpPr>
        <p:spPr>
          <a:xfrm>
            <a:off x="-2046" y="0"/>
            <a:ext cx="1008112" cy="6858000"/>
          </a:xfrm>
          <a:prstGeom prst="rect">
            <a:avLst/>
          </a:prstGeom>
          <a:gradFill>
            <a:gsLst>
              <a:gs pos="0">
                <a:srgbClr val="D8D8D8"/>
              </a:gs>
              <a:gs pos="46000">
                <a:srgbClr val="FFFFFF">
                  <a:alpha val="40000"/>
                </a:srgbClr>
              </a:gs>
              <a:gs pos="100000">
                <a:srgbClr val="FFFFFF">
                  <a:alpha val="40000"/>
                </a:srgbClr>
              </a:gs>
            </a:gsLst>
            <a:lin ang="5400000" scaled="0"/>
          </a:gra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b="0" i="0" u="none" strike="noStrike" cap="none">
              <a:solidFill>
                <a:srgbClr val="404E0A"/>
              </a:solidFill>
              <a:latin typeface="Arial"/>
              <a:ea typeface="Arial"/>
              <a:cs typeface="Arial"/>
              <a:sym typeface="Arial"/>
            </a:endParaRPr>
          </a:p>
        </p:txBody>
      </p:sp>
      <p:sp>
        <p:nvSpPr>
          <p:cNvPr id="24" name="Google Shape;24;p14"/>
          <p:cNvSpPr/>
          <p:nvPr/>
        </p:nvSpPr>
        <p:spPr>
          <a:xfrm>
            <a:off x="1283924" y="2105561"/>
            <a:ext cx="2379177" cy="1323439"/>
          </a:xfrm>
          <a:prstGeom prst="rect">
            <a:avLst/>
          </a:prstGeom>
          <a:noFill/>
          <a:ln>
            <a:noFill/>
          </a:ln>
        </p:spPr>
        <p:txBody>
          <a:bodyPr spcFirstLastPara="1" wrap="square" lIns="91425" tIns="45700" rIns="91425" bIns="45700" anchor="b" anchorCtr="0">
            <a:spAutoFit/>
          </a:bodyPr>
          <a:lstStyle/>
          <a:p>
            <a:pPr marL="0" marR="0" lvl="0" indent="0" algn="l" rtl="0">
              <a:spcBef>
                <a:spcPts val="0"/>
              </a:spcBef>
              <a:spcAft>
                <a:spcPts val="0"/>
              </a:spcAft>
              <a:buNone/>
            </a:pPr>
            <a:r>
              <a:rPr lang="ja-JP" sz="8000" b="1" i="0" u="none" strike="noStrike" cap="none">
                <a:solidFill>
                  <a:schemeClr val="lt1"/>
                </a:solidFill>
                <a:latin typeface="Arial"/>
                <a:ea typeface="Arial"/>
                <a:cs typeface="Arial"/>
                <a:sym typeface="Arial"/>
              </a:rPr>
              <a:t>S</a:t>
            </a:r>
            <a:r>
              <a:rPr lang="ja-JP" sz="4000" b="1" i="0" u="none" strike="noStrike" cap="none">
                <a:solidFill>
                  <a:srgbClr val="7F7F7F"/>
                </a:solidFill>
                <a:latin typeface="Arial"/>
                <a:ea typeface="Arial"/>
                <a:cs typeface="Arial"/>
                <a:sym typeface="Arial"/>
              </a:rPr>
              <a:t>ection</a:t>
            </a:r>
            <a:endParaRPr sz="8000" b="1" i="0" u="none" strike="noStrike" cap="none">
              <a:solidFill>
                <a:srgbClr val="7F7F7F"/>
              </a:solidFill>
              <a:latin typeface="Arial"/>
              <a:ea typeface="Arial"/>
              <a:cs typeface="Arial"/>
              <a:sym typeface="Arial"/>
            </a:endParaRPr>
          </a:p>
        </p:txBody>
      </p:sp>
      <p:cxnSp>
        <p:nvCxnSpPr>
          <p:cNvPr id="25" name="Google Shape;25;p14"/>
          <p:cNvCxnSpPr/>
          <p:nvPr/>
        </p:nvCxnSpPr>
        <p:spPr>
          <a:xfrm>
            <a:off x="2007005" y="3155538"/>
            <a:ext cx="7136995" cy="0"/>
          </a:xfrm>
          <a:prstGeom prst="straightConnector1">
            <a:avLst/>
          </a:prstGeom>
          <a:noFill/>
          <a:ln w="12700" cap="flat" cmpd="sng">
            <a:solidFill>
              <a:srgbClr val="7F7F7F"/>
            </a:solidFill>
            <a:prstDash val="solid"/>
            <a:round/>
            <a:headEnd type="none" w="sm" len="sm"/>
            <a:tailEnd type="none" w="sm" len="sm"/>
          </a:ln>
        </p:spPr>
      </p:cxnSp>
      <p:sp>
        <p:nvSpPr>
          <p:cNvPr id="26" name="Google Shape;26;p14"/>
          <p:cNvSpPr txBox="1"/>
          <p:nvPr/>
        </p:nvSpPr>
        <p:spPr>
          <a:xfrm>
            <a:off x="2123728" y="3162548"/>
            <a:ext cx="6696744" cy="5883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300" b="0" i="0" u="none" strike="noStrike" cap="none">
              <a:solidFill>
                <a:srgbClr val="5C5C5C"/>
              </a:solidFill>
              <a:latin typeface="Arial"/>
              <a:ea typeface="Arial"/>
              <a:cs typeface="Arial"/>
              <a:sym typeface="Arial"/>
            </a:endParaRPr>
          </a:p>
        </p:txBody>
      </p:sp>
      <p:sp>
        <p:nvSpPr>
          <p:cNvPr id="27" name="Google Shape;27;p14"/>
          <p:cNvSpPr txBox="1">
            <a:spLocks noGrp="1"/>
          </p:cNvSpPr>
          <p:nvPr>
            <p:ph type="subTitle" idx="1"/>
          </p:nvPr>
        </p:nvSpPr>
        <p:spPr>
          <a:xfrm>
            <a:off x="2007005" y="3163812"/>
            <a:ext cx="6813467" cy="841252"/>
          </a:xfrm>
          <a:prstGeom prst="rect">
            <a:avLst/>
          </a:prstGeom>
          <a:noFill/>
          <a:ln>
            <a:noFill/>
          </a:ln>
        </p:spPr>
        <p:txBody>
          <a:bodyPr spcFirstLastPara="1" wrap="square" lIns="91425" tIns="45700" rIns="91425" bIns="45700" anchor="t" anchorCtr="0">
            <a:noAutofit/>
          </a:bodyPr>
          <a:lstStyle>
            <a:lvl1pPr marR="0" lvl="0" algn="r" rtl="0">
              <a:lnSpc>
                <a:spcPct val="120000"/>
              </a:lnSpc>
              <a:spcBef>
                <a:spcPts val="460"/>
              </a:spcBef>
              <a:spcAft>
                <a:spcPts val="0"/>
              </a:spcAft>
              <a:buClr>
                <a:schemeClr val="dk2"/>
              </a:buClr>
              <a:buSzPts val="1725"/>
              <a:buFont typeface="Noto Sans Symbols"/>
              <a:buNone/>
              <a:defRPr sz="2300" b="0" i="0" u="none" strike="noStrike" cap="none">
                <a:solidFill>
                  <a:schemeClr val="dk1"/>
                </a:solidFill>
                <a:latin typeface="Arial"/>
                <a:ea typeface="Arial"/>
                <a:cs typeface="Arial"/>
                <a:sym typeface="Arial"/>
              </a:defRPr>
            </a:lvl1pPr>
            <a:lvl2pPr marR="0" lvl="1" algn="ctr" rtl="0">
              <a:lnSpc>
                <a:spcPct val="120000"/>
              </a:lnSpc>
              <a:spcBef>
                <a:spcPts val="460"/>
              </a:spcBef>
              <a:spcAft>
                <a:spcPts val="0"/>
              </a:spcAft>
              <a:buClr>
                <a:schemeClr val="dk2"/>
              </a:buClr>
              <a:buSzPts val="986"/>
              <a:buFont typeface="Arial"/>
              <a:buNone/>
              <a:defRPr sz="1315" b="0" i="0" u="none" strike="noStrike" cap="none">
                <a:solidFill>
                  <a:srgbClr val="8A8A8A"/>
                </a:solidFill>
                <a:latin typeface="Arial"/>
                <a:ea typeface="Arial"/>
                <a:cs typeface="Arial"/>
                <a:sym typeface="Arial"/>
              </a:defRPr>
            </a:lvl2pPr>
            <a:lvl3pPr marR="0" lvl="2" algn="ctr" rtl="0">
              <a:lnSpc>
                <a:spcPct val="120000"/>
              </a:lnSpc>
              <a:spcBef>
                <a:spcPts val="263"/>
              </a:spcBef>
              <a:spcAft>
                <a:spcPts val="0"/>
              </a:spcAft>
              <a:buClr>
                <a:schemeClr val="dk2"/>
              </a:buClr>
              <a:buSzPts val="564"/>
              <a:buFont typeface="Noto Sans Symbols"/>
              <a:buNone/>
              <a:defRPr sz="1128" b="0" i="0" u="none" strike="noStrike" cap="none">
                <a:solidFill>
                  <a:srgbClr val="8A8A8A"/>
                </a:solidFill>
                <a:latin typeface="Arial"/>
                <a:ea typeface="Arial"/>
                <a:cs typeface="Arial"/>
                <a:sym typeface="Arial"/>
              </a:defRPr>
            </a:lvl3pPr>
            <a:lvl4pPr marR="0" lvl="3"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4pPr>
            <a:lvl5pPr marR="0" lvl="4"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5pPr>
            <a:lvl6pPr marR="0" lvl="5"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6pPr>
            <a:lvl7pPr marR="0" lvl="6"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7pPr>
            <a:lvl8pPr marR="0" lvl="7"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8pPr>
            <a:lvl9pPr marR="0" lvl="8"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8_タイトルとコンテンツ">
  <p:cSld name="8_タイトルとコンテンツ">
    <p:spTree>
      <p:nvGrpSpPr>
        <p:cNvPr id="1" name="Shape 28"/>
        <p:cNvGrpSpPr/>
        <p:nvPr/>
      </p:nvGrpSpPr>
      <p:grpSpPr>
        <a:xfrm>
          <a:off x="0" y="0"/>
          <a:ext cx="0" cy="0"/>
          <a:chOff x="0" y="0"/>
          <a:chExt cx="0" cy="0"/>
        </a:xfrm>
      </p:grpSpPr>
      <p:sp>
        <p:nvSpPr>
          <p:cNvPr id="29" name="Google Shape;29;p15"/>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30" name="Google Shape;30;p15"/>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31" name="Google Shape;31;p15"/>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p:nvPr/>
        </p:nvSpPr>
        <p:spPr>
          <a:xfrm>
            <a:off x="0" y="116632"/>
            <a:ext cx="251520" cy="180000"/>
          </a:xfrm>
          <a:prstGeom prst="parallelogram">
            <a:avLst>
              <a:gd name="adj" fmla="val 0"/>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33" name="Google Shape;33;p15"/>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34" name="Google Shape;34;p15"/>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i="0" u="none" strike="noStrike" cap="none">
                <a:solidFill>
                  <a:srgbClr val="F14040"/>
                </a:solidFill>
                <a:latin typeface="Arial"/>
                <a:ea typeface="Arial"/>
                <a:cs typeface="Arial"/>
                <a:sym typeface="Arial"/>
              </a:rPr>
              <a:t>秘・貴社限り</a:t>
            </a:r>
            <a:endParaRPr sz="1300" b="1" i="0" u="none" strike="noStrike" cap="none">
              <a:solidFill>
                <a:srgbClr val="F1404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3_ユーザー設定レイアウト">
  <p:cSld name="3_ユーザー設定レイアウト">
    <p:spTree>
      <p:nvGrpSpPr>
        <p:cNvPr id="1" name="Shape 35"/>
        <p:cNvGrpSpPr/>
        <p:nvPr/>
      </p:nvGrpSpPr>
      <p:grpSpPr>
        <a:xfrm>
          <a:off x="0" y="0"/>
          <a:ext cx="0" cy="0"/>
          <a:chOff x="0" y="0"/>
          <a:chExt cx="0" cy="0"/>
        </a:xfrm>
      </p:grpSpPr>
      <p:pic>
        <p:nvPicPr>
          <p:cNvPr id="2" name="図 1">
            <a:extLst>
              <a:ext uri="{FF2B5EF4-FFF2-40B4-BE49-F238E27FC236}">
                <a16:creationId xmlns:a16="http://schemas.microsoft.com/office/drawing/2014/main" id="{605BB4BF-543F-A367-8E13-697CF7E15331}"/>
              </a:ext>
            </a:extLst>
          </p:cNvPr>
          <p:cNvPicPr>
            <a:picLocks noChangeAspect="1"/>
          </p:cNvPicPr>
          <p:nvPr userDrawn="1"/>
        </p:nvPicPr>
        <p:blipFill>
          <a:blip r:embed="rId2"/>
          <a:stretch>
            <a:fillRect/>
          </a:stretch>
        </p:blipFill>
        <p:spPr>
          <a:xfrm>
            <a:off x="1282431" y="2795061"/>
            <a:ext cx="6446837" cy="126787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タイトルとコンテンツ">
  <p:cSld name="2_タイトルとコンテンツ">
    <p:spTree>
      <p:nvGrpSpPr>
        <p:cNvPr id="1" name="Shape 37"/>
        <p:cNvGrpSpPr/>
        <p:nvPr/>
      </p:nvGrpSpPr>
      <p:grpSpPr>
        <a:xfrm>
          <a:off x="0" y="0"/>
          <a:ext cx="0" cy="0"/>
          <a:chOff x="0" y="0"/>
          <a:chExt cx="0" cy="0"/>
        </a:xfrm>
      </p:grpSpPr>
      <p:sp>
        <p:nvSpPr>
          <p:cNvPr id="38" name="Google Shape;38;p17"/>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39" name="Google Shape;39;p17"/>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0" name="Google Shape;40;p17"/>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タイトルとコンテンツ">
  <p:cSld name="4_タイトルとコンテンツ">
    <p:spTree>
      <p:nvGrpSpPr>
        <p:cNvPr id="1" name="Shape 41"/>
        <p:cNvGrpSpPr/>
        <p:nvPr/>
      </p:nvGrpSpPr>
      <p:grpSpPr>
        <a:xfrm>
          <a:off x="0" y="0"/>
          <a:ext cx="0" cy="0"/>
          <a:chOff x="0" y="0"/>
          <a:chExt cx="0" cy="0"/>
        </a:xfrm>
      </p:grpSpPr>
      <p:sp>
        <p:nvSpPr>
          <p:cNvPr id="42" name="Google Shape;42;p18"/>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43" name="Google Shape;43;p18"/>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4" name="Google Shape;44;p18"/>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8"/>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46"/>
        <p:cNvGrpSpPr/>
        <p:nvPr/>
      </p:nvGrpSpPr>
      <p:grpSpPr>
        <a:xfrm>
          <a:off x="0" y="0"/>
          <a:ext cx="0" cy="0"/>
          <a:chOff x="0" y="0"/>
          <a:chExt cx="0" cy="0"/>
        </a:xfrm>
      </p:grpSpPr>
      <p:sp>
        <p:nvSpPr>
          <p:cNvPr id="47" name="Google Shape;47;p19"/>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48" name="Google Shape;48;p19"/>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9" name="Google Shape;49;p19"/>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9"/>
          <p:cNvSpPr/>
          <p:nvPr/>
        </p:nvSpPr>
        <p:spPr>
          <a:xfrm>
            <a:off x="0" y="116632"/>
            <a:ext cx="251520" cy="180000"/>
          </a:xfrm>
          <a:prstGeom prst="parallelogram">
            <a:avLst>
              <a:gd name="adj" fmla="val 0"/>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51" name="Google Shape;51;p19"/>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cxnSp>
        <p:nvCxnSpPr>
          <p:cNvPr id="52" name="Google Shape;52;p19"/>
          <p:cNvCxnSpPr/>
          <p:nvPr/>
        </p:nvCxnSpPr>
        <p:spPr>
          <a:xfrm>
            <a:off x="367281" y="1124744"/>
            <a:ext cx="8424613" cy="0"/>
          </a:xfrm>
          <a:prstGeom prst="straightConnector1">
            <a:avLst/>
          </a:prstGeom>
          <a:noFill/>
          <a:ln w="12700" cap="flat" cmpd="sng">
            <a:solidFill>
              <a:srgbClr val="5A5A5A"/>
            </a:solidFill>
            <a:prstDash val="solid"/>
            <a:round/>
            <a:headEnd type="none" w="sm" len="sm"/>
            <a:tailEnd type="none" w="sm" len="sm"/>
          </a:ln>
        </p:spPr>
      </p:cxnSp>
      <p:grpSp>
        <p:nvGrpSpPr>
          <p:cNvPr id="53" name="Google Shape;53;p19"/>
          <p:cNvGrpSpPr/>
          <p:nvPr/>
        </p:nvGrpSpPr>
        <p:grpSpPr>
          <a:xfrm>
            <a:off x="467544" y="764600"/>
            <a:ext cx="577253" cy="284455"/>
            <a:chOff x="467544" y="764600"/>
            <a:chExt cx="577253" cy="284455"/>
          </a:xfrm>
        </p:grpSpPr>
        <p:sp>
          <p:nvSpPr>
            <p:cNvPr id="54" name="Google Shape;54;p19"/>
            <p:cNvSpPr txBox="1"/>
            <p:nvPr/>
          </p:nvSpPr>
          <p:spPr>
            <a:xfrm>
              <a:off x="467544" y="764600"/>
              <a:ext cx="576064" cy="284455"/>
            </a:xfrm>
            <a:prstGeom prst="rect">
              <a:avLst/>
            </a:prstGeom>
            <a:noFill/>
            <a:ln w="127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20000"/>
                </a:buClr>
                <a:buSzPts val="1400"/>
                <a:buFont typeface="Trebuchet MS"/>
                <a:buNone/>
              </a:pPr>
              <a:r>
                <a:rPr lang="ja-JP" sz="1400" b="1" i="0" u="none" strike="noStrike" cap="none">
                  <a:solidFill>
                    <a:srgbClr val="A20000"/>
                  </a:solidFill>
                  <a:latin typeface="Trebuchet MS"/>
                  <a:ea typeface="Trebuchet MS"/>
                  <a:cs typeface="Trebuchet MS"/>
                  <a:sym typeface="Trebuchet MS"/>
                </a:rPr>
                <a:t>POINT</a:t>
              </a:r>
              <a:endParaRPr sz="1400" b="1" i="0" u="none" strike="noStrike" cap="none">
                <a:solidFill>
                  <a:srgbClr val="252525"/>
                </a:solidFill>
                <a:latin typeface="Arial"/>
                <a:ea typeface="Arial"/>
                <a:cs typeface="Arial"/>
                <a:sym typeface="Arial"/>
              </a:endParaRPr>
            </a:p>
          </p:txBody>
        </p:sp>
        <p:cxnSp>
          <p:nvCxnSpPr>
            <p:cNvPr id="55" name="Google Shape;55;p19"/>
            <p:cNvCxnSpPr/>
            <p:nvPr/>
          </p:nvCxnSpPr>
          <p:spPr>
            <a:xfrm>
              <a:off x="1043608" y="816196"/>
              <a:ext cx="1189" cy="174404"/>
            </a:xfrm>
            <a:prstGeom prst="straightConnector1">
              <a:avLst/>
            </a:prstGeom>
            <a:noFill/>
            <a:ln w="12700" cap="flat" cmpd="sng">
              <a:solidFill>
                <a:schemeClr val="accent6"/>
              </a:solidFill>
              <a:prstDash val="solid"/>
              <a:round/>
              <a:headEnd type="none" w="sm" len="sm"/>
              <a:tailEnd type="none" w="sm" len="sm"/>
            </a:ln>
          </p:spPr>
        </p:cxnSp>
      </p:grpSp>
      <p:sp>
        <p:nvSpPr>
          <p:cNvPr id="56" name="Google Shape;56;p19"/>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1_タイトル スライド">
  <p:cSld name="1_タイトル スライド">
    <p:spTree>
      <p:nvGrpSpPr>
        <p:cNvPr id="1" name="Shape 57"/>
        <p:cNvGrpSpPr/>
        <p:nvPr/>
      </p:nvGrpSpPr>
      <p:grpSpPr>
        <a:xfrm>
          <a:off x="0" y="0"/>
          <a:ext cx="0" cy="0"/>
          <a:chOff x="0" y="0"/>
          <a:chExt cx="0" cy="0"/>
        </a:xfrm>
      </p:grpSpPr>
      <p:sp>
        <p:nvSpPr>
          <p:cNvPr id="58" name="Google Shape;58;p20"/>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2_タイトル スライド">
  <p:cSld name="2_タイトル スライド">
    <p:spTree>
      <p:nvGrpSpPr>
        <p:cNvPr id="1" name="Shape 5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タイトルとコンテンツ">
  <p:cSld name="3_タイトルとコンテンツ">
    <p:bg>
      <p:bgPr>
        <a:solidFill>
          <a:schemeClr val="lt1"/>
        </a:solidFill>
        <a:effectLst/>
      </p:bgPr>
    </p:bg>
    <p:spTree>
      <p:nvGrpSpPr>
        <p:cNvPr id="1" name="Shape 60"/>
        <p:cNvGrpSpPr/>
        <p:nvPr/>
      </p:nvGrpSpPr>
      <p:grpSpPr>
        <a:xfrm>
          <a:off x="0" y="0"/>
          <a:ext cx="0" cy="0"/>
          <a:chOff x="0" y="0"/>
          <a:chExt cx="0" cy="0"/>
        </a:xfrm>
      </p:grpSpPr>
      <p:grpSp>
        <p:nvGrpSpPr>
          <p:cNvPr id="61" name="Google Shape;61;p22"/>
          <p:cNvGrpSpPr/>
          <p:nvPr/>
        </p:nvGrpSpPr>
        <p:grpSpPr>
          <a:xfrm>
            <a:off x="395536" y="836710"/>
            <a:ext cx="8352929" cy="5688633"/>
            <a:chOff x="395536" y="836710"/>
            <a:chExt cx="8352929" cy="5688633"/>
          </a:xfrm>
        </p:grpSpPr>
        <p:cxnSp>
          <p:nvCxnSpPr>
            <p:cNvPr id="62" name="Google Shape;62;p22"/>
            <p:cNvCxnSpPr/>
            <p:nvPr/>
          </p:nvCxnSpPr>
          <p:spPr>
            <a:xfrm>
              <a:off x="47160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3" name="Google Shape;63;p22"/>
            <p:cNvCxnSpPr/>
            <p:nvPr/>
          </p:nvCxnSpPr>
          <p:spPr>
            <a:xfrm>
              <a:off x="48600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4" name="Google Shape;64;p22"/>
            <p:cNvCxnSpPr/>
            <p:nvPr/>
          </p:nvCxnSpPr>
          <p:spPr>
            <a:xfrm>
              <a:off x="50040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5" name="Google Shape;65;p22"/>
            <p:cNvCxnSpPr/>
            <p:nvPr/>
          </p:nvCxnSpPr>
          <p:spPr>
            <a:xfrm>
              <a:off x="514806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6" name="Google Shape;66;p22"/>
            <p:cNvCxnSpPr/>
            <p:nvPr/>
          </p:nvCxnSpPr>
          <p:spPr>
            <a:xfrm>
              <a:off x="529208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7" name="Google Shape;67;p22"/>
            <p:cNvCxnSpPr/>
            <p:nvPr/>
          </p:nvCxnSpPr>
          <p:spPr>
            <a:xfrm>
              <a:off x="543609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8" name="Google Shape;68;p22"/>
            <p:cNvCxnSpPr/>
            <p:nvPr/>
          </p:nvCxnSpPr>
          <p:spPr>
            <a:xfrm>
              <a:off x="558011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9" name="Google Shape;69;p22"/>
            <p:cNvCxnSpPr/>
            <p:nvPr/>
          </p:nvCxnSpPr>
          <p:spPr>
            <a:xfrm>
              <a:off x="572412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0" name="Google Shape;70;p22"/>
            <p:cNvCxnSpPr/>
            <p:nvPr/>
          </p:nvCxnSpPr>
          <p:spPr>
            <a:xfrm>
              <a:off x="586814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1" name="Google Shape;71;p22"/>
            <p:cNvCxnSpPr/>
            <p:nvPr/>
          </p:nvCxnSpPr>
          <p:spPr>
            <a:xfrm>
              <a:off x="601216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2" name="Google Shape;72;p22"/>
            <p:cNvCxnSpPr/>
            <p:nvPr/>
          </p:nvCxnSpPr>
          <p:spPr>
            <a:xfrm>
              <a:off x="615617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3" name="Google Shape;73;p22"/>
            <p:cNvCxnSpPr/>
            <p:nvPr/>
          </p:nvCxnSpPr>
          <p:spPr>
            <a:xfrm>
              <a:off x="630019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4" name="Google Shape;74;p22"/>
            <p:cNvCxnSpPr/>
            <p:nvPr/>
          </p:nvCxnSpPr>
          <p:spPr>
            <a:xfrm>
              <a:off x="644420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5" name="Google Shape;75;p22"/>
            <p:cNvCxnSpPr/>
            <p:nvPr/>
          </p:nvCxnSpPr>
          <p:spPr>
            <a:xfrm>
              <a:off x="658822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6" name="Google Shape;76;p22"/>
            <p:cNvCxnSpPr/>
            <p:nvPr/>
          </p:nvCxnSpPr>
          <p:spPr>
            <a:xfrm>
              <a:off x="673224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7" name="Google Shape;77;p22"/>
            <p:cNvCxnSpPr/>
            <p:nvPr/>
          </p:nvCxnSpPr>
          <p:spPr>
            <a:xfrm>
              <a:off x="687625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8" name="Google Shape;78;p22"/>
            <p:cNvCxnSpPr/>
            <p:nvPr/>
          </p:nvCxnSpPr>
          <p:spPr>
            <a:xfrm>
              <a:off x="702027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9" name="Google Shape;79;p22"/>
            <p:cNvCxnSpPr/>
            <p:nvPr/>
          </p:nvCxnSpPr>
          <p:spPr>
            <a:xfrm>
              <a:off x="716428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0" name="Google Shape;80;p22"/>
            <p:cNvCxnSpPr/>
            <p:nvPr/>
          </p:nvCxnSpPr>
          <p:spPr>
            <a:xfrm>
              <a:off x="730830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1" name="Google Shape;81;p22"/>
            <p:cNvCxnSpPr/>
            <p:nvPr/>
          </p:nvCxnSpPr>
          <p:spPr>
            <a:xfrm>
              <a:off x="745232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2" name="Google Shape;82;p22"/>
            <p:cNvCxnSpPr/>
            <p:nvPr/>
          </p:nvCxnSpPr>
          <p:spPr>
            <a:xfrm>
              <a:off x="759633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3" name="Google Shape;83;p22"/>
            <p:cNvCxnSpPr/>
            <p:nvPr/>
          </p:nvCxnSpPr>
          <p:spPr>
            <a:xfrm>
              <a:off x="77403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4" name="Google Shape;84;p22"/>
            <p:cNvCxnSpPr/>
            <p:nvPr/>
          </p:nvCxnSpPr>
          <p:spPr>
            <a:xfrm>
              <a:off x="78843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5" name="Google Shape;85;p22"/>
            <p:cNvCxnSpPr/>
            <p:nvPr/>
          </p:nvCxnSpPr>
          <p:spPr>
            <a:xfrm>
              <a:off x="80283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6" name="Google Shape;86;p22"/>
            <p:cNvCxnSpPr/>
            <p:nvPr/>
          </p:nvCxnSpPr>
          <p:spPr>
            <a:xfrm>
              <a:off x="817240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7" name="Google Shape;87;p22"/>
            <p:cNvCxnSpPr/>
            <p:nvPr/>
          </p:nvCxnSpPr>
          <p:spPr>
            <a:xfrm>
              <a:off x="83164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8" name="Google Shape;88;p22"/>
            <p:cNvCxnSpPr/>
            <p:nvPr/>
          </p:nvCxnSpPr>
          <p:spPr>
            <a:xfrm>
              <a:off x="86044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9" name="Google Shape;89;p22"/>
            <p:cNvCxnSpPr/>
            <p:nvPr/>
          </p:nvCxnSpPr>
          <p:spPr>
            <a:xfrm>
              <a:off x="84604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0" name="Google Shape;90;p22"/>
            <p:cNvCxnSpPr/>
            <p:nvPr/>
          </p:nvCxnSpPr>
          <p:spPr>
            <a:xfrm>
              <a:off x="5395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1" name="Google Shape;91;p22"/>
            <p:cNvCxnSpPr/>
            <p:nvPr/>
          </p:nvCxnSpPr>
          <p:spPr>
            <a:xfrm>
              <a:off x="6835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2" name="Google Shape;92;p22"/>
            <p:cNvCxnSpPr/>
            <p:nvPr/>
          </p:nvCxnSpPr>
          <p:spPr>
            <a:xfrm>
              <a:off x="8275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3" name="Google Shape;93;p22"/>
            <p:cNvCxnSpPr/>
            <p:nvPr/>
          </p:nvCxnSpPr>
          <p:spPr>
            <a:xfrm>
              <a:off x="97160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4" name="Google Shape;94;p22"/>
            <p:cNvCxnSpPr/>
            <p:nvPr/>
          </p:nvCxnSpPr>
          <p:spPr>
            <a:xfrm>
              <a:off x="11156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5" name="Google Shape;95;p22"/>
            <p:cNvCxnSpPr/>
            <p:nvPr/>
          </p:nvCxnSpPr>
          <p:spPr>
            <a:xfrm>
              <a:off x="12596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6" name="Google Shape;96;p22"/>
            <p:cNvCxnSpPr/>
            <p:nvPr/>
          </p:nvCxnSpPr>
          <p:spPr>
            <a:xfrm>
              <a:off x="14036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7" name="Google Shape;97;p22"/>
            <p:cNvCxnSpPr/>
            <p:nvPr/>
          </p:nvCxnSpPr>
          <p:spPr>
            <a:xfrm>
              <a:off x="154766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8" name="Google Shape;98;p22"/>
            <p:cNvCxnSpPr/>
            <p:nvPr/>
          </p:nvCxnSpPr>
          <p:spPr>
            <a:xfrm>
              <a:off x="169168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9" name="Google Shape;99;p22"/>
            <p:cNvCxnSpPr/>
            <p:nvPr/>
          </p:nvCxnSpPr>
          <p:spPr>
            <a:xfrm>
              <a:off x="183569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0" name="Google Shape;100;p22"/>
            <p:cNvCxnSpPr/>
            <p:nvPr/>
          </p:nvCxnSpPr>
          <p:spPr>
            <a:xfrm>
              <a:off x="197971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1" name="Google Shape;101;p22"/>
            <p:cNvCxnSpPr/>
            <p:nvPr/>
          </p:nvCxnSpPr>
          <p:spPr>
            <a:xfrm>
              <a:off x="212372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2" name="Google Shape;102;p22"/>
            <p:cNvCxnSpPr/>
            <p:nvPr/>
          </p:nvCxnSpPr>
          <p:spPr>
            <a:xfrm>
              <a:off x="226774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3" name="Google Shape;103;p22"/>
            <p:cNvCxnSpPr/>
            <p:nvPr/>
          </p:nvCxnSpPr>
          <p:spPr>
            <a:xfrm>
              <a:off x="241176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4" name="Google Shape;104;p22"/>
            <p:cNvCxnSpPr/>
            <p:nvPr/>
          </p:nvCxnSpPr>
          <p:spPr>
            <a:xfrm>
              <a:off x="255577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5" name="Google Shape;105;p22"/>
            <p:cNvCxnSpPr/>
            <p:nvPr/>
          </p:nvCxnSpPr>
          <p:spPr>
            <a:xfrm>
              <a:off x="269979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6" name="Google Shape;106;p22"/>
            <p:cNvCxnSpPr/>
            <p:nvPr/>
          </p:nvCxnSpPr>
          <p:spPr>
            <a:xfrm>
              <a:off x="284380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7" name="Google Shape;107;p22"/>
            <p:cNvCxnSpPr/>
            <p:nvPr/>
          </p:nvCxnSpPr>
          <p:spPr>
            <a:xfrm>
              <a:off x="298782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8" name="Google Shape;108;p22"/>
            <p:cNvCxnSpPr/>
            <p:nvPr/>
          </p:nvCxnSpPr>
          <p:spPr>
            <a:xfrm>
              <a:off x="313184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9" name="Google Shape;109;p22"/>
            <p:cNvCxnSpPr/>
            <p:nvPr/>
          </p:nvCxnSpPr>
          <p:spPr>
            <a:xfrm>
              <a:off x="327585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0" name="Google Shape;110;p22"/>
            <p:cNvCxnSpPr/>
            <p:nvPr/>
          </p:nvCxnSpPr>
          <p:spPr>
            <a:xfrm>
              <a:off x="341987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1" name="Google Shape;111;p22"/>
            <p:cNvCxnSpPr/>
            <p:nvPr/>
          </p:nvCxnSpPr>
          <p:spPr>
            <a:xfrm>
              <a:off x="356388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2" name="Google Shape;112;p22"/>
            <p:cNvCxnSpPr/>
            <p:nvPr/>
          </p:nvCxnSpPr>
          <p:spPr>
            <a:xfrm>
              <a:off x="370790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3" name="Google Shape;113;p22"/>
            <p:cNvCxnSpPr/>
            <p:nvPr/>
          </p:nvCxnSpPr>
          <p:spPr>
            <a:xfrm>
              <a:off x="385192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4" name="Google Shape;114;p22"/>
            <p:cNvCxnSpPr/>
            <p:nvPr/>
          </p:nvCxnSpPr>
          <p:spPr>
            <a:xfrm>
              <a:off x="399593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5" name="Google Shape;115;p22"/>
            <p:cNvCxnSpPr/>
            <p:nvPr/>
          </p:nvCxnSpPr>
          <p:spPr>
            <a:xfrm>
              <a:off x="42839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6" name="Google Shape;116;p22"/>
            <p:cNvCxnSpPr/>
            <p:nvPr/>
          </p:nvCxnSpPr>
          <p:spPr>
            <a:xfrm>
              <a:off x="41399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7" name="Google Shape;117;p22"/>
            <p:cNvCxnSpPr/>
            <p:nvPr/>
          </p:nvCxnSpPr>
          <p:spPr>
            <a:xfrm>
              <a:off x="44279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8" name="Google Shape;118;p22"/>
            <p:cNvCxnSpPr/>
            <p:nvPr/>
          </p:nvCxnSpPr>
          <p:spPr>
            <a:xfrm rot="10800000">
              <a:off x="396464" y="3501008"/>
              <a:ext cx="8352000" cy="0"/>
            </a:xfrm>
            <a:prstGeom prst="straightConnector1">
              <a:avLst/>
            </a:prstGeom>
            <a:noFill/>
            <a:ln w="9525" cap="flat" cmpd="sng">
              <a:solidFill>
                <a:srgbClr val="D8D8D8"/>
              </a:solidFill>
              <a:prstDash val="solid"/>
              <a:round/>
              <a:headEnd type="none" w="sm" len="sm"/>
              <a:tailEnd type="none" w="sm" len="sm"/>
            </a:ln>
          </p:spPr>
        </p:cxnSp>
        <p:cxnSp>
          <p:nvCxnSpPr>
            <p:cNvPr id="119" name="Google Shape;119;p22"/>
            <p:cNvCxnSpPr/>
            <p:nvPr/>
          </p:nvCxnSpPr>
          <p:spPr>
            <a:xfrm rot="10800000">
              <a:off x="396464" y="3356992"/>
              <a:ext cx="8352000" cy="0"/>
            </a:xfrm>
            <a:prstGeom prst="straightConnector1">
              <a:avLst/>
            </a:prstGeom>
            <a:noFill/>
            <a:ln w="9525" cap="flat" cmpd="sng">
              <a:solidFill>
                <a:srgbClr val="D8D8D8"/>
              </a:solidFill>
              <a:prstDash val="solid"/>
              <a:round/>
              <a:headEnd type="none" w="sm" len="sm"/>
              <a:tailEnd type="none" w="sm" len="sm"/>
            </a:ln>
          </p:spPr>
        </p:cxnSp>
        <p:cxnSp>
          <p:nvCxnSpPr>
            <p:cNvPr id="120" name="Google Shape;120;p22"/>
            <p:cNvCxnSpPr/>
            <p:nvPr/>
          </p:nvCxnSpPr>
          <p:spPr>
            <a:xfrm rot="10800000">
              <a:off x="396464" y="3212976"/>
              <a:ext cx="8352000" cy="0"/>
            </a:xfrm>
            <a:prstGeom prst="straightConnector1">
              <a:avLst/>
            </a:prstGeom>
            <a:noFill/>
            <a:ln w="9525" cap="flat" cmpd="sng">
              <a:solidFill>
                <a:srgbClr val="D8D8D8"/>
              </a:solidFill>
              <a:prstDash val="solid"/>
              <a:round/>
              <a:headEnd type="none" w="sm" len="sm"/>
              <a:tailEnd type="none" w="sm" len="sm"/>
            </a:ln>
          </p:spPr>
        </p:cxnSp>
        <p:cxnSp>
          <p:nvCxnSpPr>
            <p:cNvPr id="121" name="Google Shape;121;p22"/>
            <p:cNvCxnSpPr/>
            <p:nvPr/>
          </p:nvCxnSpPr>
          <p:spPr>
            <a:xfrm rot="10800000">
              <a:off x="396464" y="3068960"/>
              <a:ext cx="8352000" cy="0"/>
            </a:xfrm>
            <a:prstGeom prst="straightConnector1">
              <a:avLst/>
            </a:prstGeom>
            <a:noFill/>
            <a:ln w="9525" cap="flat" cmpd="sng">
              <a:solidFill>
                <a:srgbClr val="D8D8D8"/>
              </a:solidFill>
              <a:prstDash val="solid"/>
              <a:round/>
              <a:headEnd type="none" w="sm" len="sm"/>
              <a:tailEnd type="none" w="sm" len="sm"/>
            </a:ln>
          </p:spPr>
        </p:cxnSp>
        <p:cxnSp>
          <p:nvCxnSpPr>
            <p:cNvPr id="122" name="Google Shape;122;p22"/>
            <p:cNvCxnSpPr/>
            <p:nvPr/>
          </p:nvCxnSpPr>
          <p:spPr>
            <a:xfrm rot="10800000">
              <a:off x="396464" y="2924944"/>
              <a:ext cx="8352000" cy="0"/>
            </a:xfrm>
            <a:prstGeom prst="straightConnector1">
              <a:avLst/>
            </a:prstGeom>
            <a:noFill/>
            <a:ln w="9525" cap="flat" cmpd="sng">
              <a:solidFill>
                <a:srgbClr val="D8D8D8"/>
              </a:solidFill>
              <a:prstDash val="solid"/>
              <a:round/>
              <a:headEnd type="none" w="sm" len="sm"/>
              <a:tailEnd type="none" w="sm" len="sm"/>
            </a:ln>
          </p:spPr>
        </p:cxnSp>
        <p:cxnSp>
          <p:nvCxnSpPr>
            <p:cNvPr id="123" name="Google Shape;123;p22"/>
            <p:cNvCxnSpPr/>
            <p:nvPr/>
          </p:nvCxnSpPr>
          <p:spPr>
            <a:xfrm rot="10800000">
              <a:off x="396464" y="2780928"/>
              <a:ext cx="8352000" cy="0"/>
            </a:xfrm>
            <a:prstGeom prst="straightConnector1">
              <a:avLst/>
            </a:prstGeom>
            <a:noFill/>
            <a:ln w="9525" cap="flat" cmpd="sng">
              <a:solidFill>
                <a:srgbClr val="D8D8D8"/>
              </a:solidFill>
              <a:prstDash val="solid"/>
              <a:round/>
              <a:headEnd type="none" w="sm" len="sm"/>
              <a:tailEnd type="none" w="sm" len="sm"/>
            </a:ln>
          </p:spPr>
        </p:cxnSp>
        <p:cxnSp>
          <p:nvCxnSpPr>
            <p:cNvPr id="124" name="Google Shape;124;p22"/>
            <p:cNvCxnSpPr/>
            <p:nvPr/>
          </p:nvCxnSpPr>
          <p:spPr>
            <a:xfrm rot="10800000">
              <a:off x="396464" y="2636912"/>
              <a:ext cx="8352000" cy="0"/>
            </a:xfrm>
            <a:prstGeom prst="straightConnector1">
              <a:avLst/>
            </a:prstGeom>
            <a:noFill/>
            <a:ln w="9525" cap="flat" cmpd="sng">
              <a:solidFill>
                <a:srgbClr val="D8D8D8"/>
              </a:solidFill>
              <a:prstDash val="solid"/>
              <a:round/>
              <a:headEnd type="none" w="sm" len="sm"/>
              <a:tailEnd type="none" w="sm" len="sm"/>
            </a:ln>
          </p:spPr>
        </p:cxnSp>
        <p:cxnSp>
          <p:nvCxnSpPr>
            <p:cNvPr id="125" name="Google Shape;125;p22"/>
            <p:cNvCxnSpPr/>
            <p:nvPr/>
          </p:nvCxnSpPr>
          <p:spPr>
            <a:xfrm rot="10800000">
              <a:off x="396464" y="2492896"/>
              <a:ext cx="8352000" cy="0"/>
            </a:xfrm>
            <a:prstGeom prst="straightConnector1">
              <a:avLst/>
            </a:prstGeom>
            <a:noFill/>
            <a:ln w="9525" cap="flat" cmpd="sng">
              <a:solidFill>
                <a:srgbClr val="D8D8D8"/>
              </a:solidFill>
              <a:prstDash val="solid"/>
              <a:round/>
              <a:headEnd type="none" w="sm" len="sm"/>
              <a:tailEnd type="none" w="sm" len="sm"/>
            </a:ln>
          </p:spPr>
        </p:cxnSp>
        <p:cxnSp>
          <p:nvCxnSpPr>
            <p:cNvPr id="126" name="Google Shape;126;p22"/>
            <p:cNvCxnSpPr/>
            <p:nvPr/>
          </p:nvCxnSpPr>
          <p:spPr>
            <a:xfrm rot="10800000">
              <a:off x="396464" y="2348880"/>
              <a:ext cx="8352000" cy="0"/>
            </a:xfrm>
            <a:prstGeom prst="straightConnector1">
              <a:avLst/>
            </a:prstGeom>
            <a:noFill/>
            <a:ln w="9525" cap="flat" cmpd="sng">
              <a:solidFill>
                <a:srgbClr val="D8D8D8"/>
              </a:solidFill>
              <a:prstDash val="solid"/>
              <a:round/>
              <a:headEnd type="none" w="sm" len="sm"/>
              <a:tailEnd type="none" w="sm" len="sm"/>
            </a:ln>
          </p:spPr>
        </p:cxnSp>
        <p:cxnSp>
          <p:nvCxnSpPr>
            <p:cNvPr id="127" name="Google Shape;127;p22"/>
            <p:cNvCxnSpPr/>
            <p:nvPr/>
          </p:nvCxnSpPr>
          <p:spPr>
            <a:xfrm rot="10800000">
              <a:off x="396464" y="2204864"/>
              <a:ext cx="8352000" cy="0"/>
            </a:xfrm>
            <a:prstGeom prst="straightConnector1">
              <a:avLst/>
            </a:prstGeom>
            <a:noFill/>
            <a:ln w="9525" cap="flat" cmpd="sng">
              <a:solidFill>
                <a:srgbClr val="D8D8D8"/>
              </a:solidFill>
              <a:prstDash val="solid"/>
              <a:round/>
              <a:headEnd type="none" w="sm" len="sm"/>
              <a:tailEnd type="none" w="sm" len="sm"/>
            </a:ln>
          </p:spPr>
        </p:cxnSp>
        <p:cxnSp>
          <p:nvCxnSpPr>
            <p:cNvPr id="128" name="Google Shape;128;p22"/>
            <p:cNvCxnSpPr/>
            <p:nvPr/>
          </p:nvCxnSpPr>
          <p:spPr>
            <a:xfrm rot="10800000">
              <a:off x="396464" y="2060848"/>
              <a:ext cx="8352000" cy="0"/>
            </a:xfrm>
            <a:prstGeom prst="straightConnector1">
              <a:avLst/>
            </a:prstGeom>
            <a:noFill/>
            <a:ln w="9525" cap="flat" cmpd="sng">
              <a:solidFill>
                <a:srgbClr val="D8D8D8"/>
              </a:solidFill>
              <a:prstDash val="solid"/>
              <a:round/>
              <a:headEnd type="none" w="sm" len="sm"/>
              <a:tailEnd type="none" w="sm" len="sm"/>
            </a:ln>
          </p:spPr>
        </p:cxnSp>
        <p:cxnSp>
          <p:nvCxnSpPr>
            <p:cNvPr id="129" name="Google Shape;129;p22"/>
            <p:cNvCxnSpPr/>
            <p:nvPr/>
          </p:nvCxnSpPr>
          <p:spPr>
            <a:xfrm rot="10800000">
              <a:off x="396464" y="1916832"/>
              <a:ext cx="8352000" cy="0"/>
            </a:xfrm>
            <a:prstGeom prst="straightConnector1">
              <a:avLst/>
            </a:prstGeom>
            <a:noFill/>
            <a:ln w="9525" cap="flat" cmpd="sng">
              <a:solidFill>
                <a:srgbClr val="D8D8D8"/>
              </a:solidFill>
              <a:prstDash val="solid"/>
              <a:round/>
              <a:headEnd type="none" w="sm" len="sm"/>
              <a:tailEnd type="none" w="sm" len="sm"/>
            </a:ln>
          </p:spPr>
        </p:cxnSp>
        <p:cxnSp>
          <p:nvCxnSpPr>
            <p:cNvPr id="130" name="Google Shape;130;p22"/>
            <p:cNvCxnSpPr/>
            <p:nvPr/>
          </p:nvCxnSpPr>
          <p:spPr>
            <a:xfrm rot="10800000">
              <a:off x="396464" y="1772816"/>
              <a:ext cx="8352000" cy="0"/>
            </a:xfrm>
            <a:prstGeom prst="straightConnector1">
              <a:avLst/>
            </a:prstGeom>
            <a:noFill/>
            <a:ln w="9525" cap="flat" cmpd="sng">
              <a:solidFill>
                <a:srgbClr val="D8D8D8"/>
              </a:solidFill>
              <a:prstDash val="solid"/>
              <a:round/>
              <a:headEnd type="none" w="sm" len="sm"/>
              <a:tailEnd type="none" w="sm" len="sm"/>
            </a:ln>
          </p:spPr>
        </p:cxnSp>
        <p:cxnSp>
          <p:nvCxnSpPr>
            <p:cNvPr id="131" name="Google Shape;131;p22"/>
            <p:cNvCxnSpPr/>
            <p:nvPr/>
          </p:nvCxnSpPr>
          <p:spPr>
            <a:xfrm rot="10800000">
              <a:off x="396464" y="1628800"/>
              <a:ext cx="8352000" cy="0"/>
            </a:xfrm>
            <a:prstGeom prst="straightConnector1">
              <a:avLst/>
            </a:prstGeom>
            <a:noFill/>
            <a:ln w="9525" cap="flat" cmpd="sng">
              <a:solidFill>
                <a:srgbClr val="D8D8D8"/>
              </a:solidFill>
              <a:prstDash val="solid"/>
              <a:round/>
              <a:headEnd type="none" w="sm" len="sm"/>
              <a:tailEnd type="none" w="sm" len="sm"/>
            </a:ln>
          </p:spPr>
        </p:cxnSp>
        <p:cxnSp>
          <p:nvCxnSpPr>
            <p:cNvPr id="132" name="Google Shape;132;p22"/>
            <p:cNvCxnSpPr/>
            <p:nvPr/>
          </p:nvCxnSpPr>
          <p:spPr>
            <a:xfrm rot="10800000">
              <a:off x="396464" y="1484784"/>
              <a:ext cx="8352000" cy="0"/>
            </a:xfrm>
            <a:prstGeom prst="straightConnector1">
              <a:avLst/>
            </a:prstGeom>
            <a:noFill/>
            <a:ln w="9525" cap="flat" cmpd="sng">
              <a:solidFill>
                <a:srgbClr val="D8D8D8"/>
              </a:solidFill>
              <a:prstDash val="solid"/>
              <a:round/>
              <a:headEnd type="none" w="sm" len="sm"/>
              <a:tailEnd type="none" w="sm" len="sm"/>
            </a:ln>
          </p:spPr>
        </p:cxnSp>
        <p:cxnSp>
          <p:nvCxnSpPr>
            <p:cNvPr id="133" name="Google Shape;133;p22"/>
            <p:cNvCxnSpPr/>
            <p:nvPr/>
          </p:nvCxnSpPr>
          <p:spPr>
            <a:xfrm rot="10800000">
              <a:off x="396464" y="1340768"/>
              <a:ext cx="8352000" cy="0"/>
            </a:xfrm>
            <a:prstGeom prst="straightConnector1">
              <a:avLst/>
            </a:prstGeom>
            <a:noFill/>
            <a:ln w="9525" cap="flat" cmpd="sng">
              <a:solidFill>
                <a:srgbClr val="D8D8D8"/>
              </a:solidFill>
              <a:prstDash val="solid"/>
              <a:round/>
              <a:headEnd type="none" w="sm" len="sm"/>
              <a:tailEnd type="none" w="sm" len="sm"/>
            </a:ln>
          </p:spPr>
        </p:cxnSp>
        <p:cxnSp>
          <p:nvCxnSpPr>
            <p:cNvPr id="134" name="Google Shape;134;p22"/>
            <p:cNvCxnSpPr/>
            <p:nvPr/>
          </p:nvCxnSpPr>
          <p:spPr>
            <a:xfrm rot="10800000">
              <a:off x="396464" y="1196752"/>
              <a:ext cx="8352000" cy="0"/>
            </a:xfrm>
            <a:prstGeom prst="straightConnector1">
              <a:avLst/>
            </a:prstGeom>
            <a:noFill/>
            <a:ln w="9525" cap="flat" cmpd="sng">
              <a:solidFill>
                <a:srgbClr val="D8D8D8"/>
              </a:solidFill>
              <a:prstDash val="solid"/>
              <a:round/>
              <a:headEnd type="none" w="sm" len="sm"/>
              <a:tailEnd type="none" w="sm" len="sm"/>
            </a:ln>
          </p:spPr>
        </p:cxnSp>
        <p:cxnSp>
          <p:nvCxnSpPr>
            <p:cNvPr id="135" name="Google Shape;135;p22"/>
            <p:cNvCxnSpPr/>
            <p:nvPr/>
          </p:nvCxnSpPr>
          <p:spPr>
            <a:xfrm rot="10800000">
              <a:off x="396464" y="1052736"/>
              <a:ext cx="8352000" cy="0"/>
            </a:xfrm>
            <a:prstGeom prst="straightConnector1">
              <a:avLst/>
            </a:prstGeom>
            <a:noFill/>
            <a:ln w="9525" cap="flat" cmpd="sng">
              <a:solidFill>
                <a:srgbClr val="D8D8D8"/>
              </a:solidFill>
              <a:prstDash val="solid"/>
              <a:round/>
              <a:headEnd type="none" w="sm" len="sm"/>
              <a:tailEnd type="none" w="sm" len="sm"/>
            </a:ln>
          </p:spPr>
        </p:cxnSp>
        <p:cxnSp>
          <p:nvCxnSpPr>
            <p:cNvPr id="136" name="Google Shape;136;p22"/>
            <p:cNvCxnSpPr/>
            <p:nvPr/>
          </p:nvCxnSpPr>
          <p:spPr>
            <a:xfrm rot="10800000">
              <a:off x="395536" y="3789040"/>
              <a:ext cx="8351992" cy="0"/>
            </a:xfrm>
            <a:prstGeom prst="straightConnector1">
              <a:avLst/>
            </a:prstGeom>
            <a:noFill/>
            <a:ln w="9525" cap="flat" cmpd="sng">
              <a:solidFill>
                <a:srgbClr val="D8D8D8"/>
              </a:solidFill>
              <a:prstDash val="solid"/>
              <a:round/>
              <a:headEnd type="none" w="sm" len="sm"/>
              <a:tailEnd type="none" w="sm" len="sm"/>
            </a:ln>
          </p:spPr>
        </p:cxnSp>
        <p:cxnSp>
          <p:nvCxnSpPr>
            <p:cNvPr id="137" name="Google Shape;137;p22"/>
            <p:cNvCxnSpPr/>
            <p:nvPr/>
          </p:nvCxnSpPr>
          <p:spPr>
            <a:xfrm rot="10800000">
              <a:off x="395536" y="4221088"/>
              <a:ext cx="8351992" cy="0"/>
            </a:xfrm>
            <a:prstGeom prst="straightConnector1">
              <a:avLst/>
            </a:prstGeom>
            <a:noFill/>
            <a:ln w="9525" cap="flat" cmpd="sng">
              <a:solidFill>
                <a:srgbClr val="D8D8D8"/>
              </a:solidFill>
              <a:prstDash val="solid"/>
              <a:round/>
              <a:headEnd type="none" w="sm" len="sm"/>
              <a:tailEnd type="none" w="sm" len="sm"/>
            </a:ln>
          </p:spPr>
        </p:cxnSp>
        <p:cxnSp>
          <p:nvCxnSpPr>
            <p:cNvPr id="138" name="Google Shape;138;p22"/>
            <p:cNvCxnSpPr/>
            <p:nvPr/>
          </p:nvCxnSpPr>
          <p:spPr>
            <a:xfrm rot="10800000">
              <a:off x="395536" y="4077072"/>
              <a:ext cx="8351992" cy="0"/>
            </a:xfrm>
            <a:prstGeom prst="straightConnector1">
              <a:avLst/>
            </a:prstGeom>
            <a:noFill/>
            <a:ln w="9525" cap="flat" cmpd="sng">
              <a:solidFill>
                <a:srgbClr val="D8D8D8"/>
              </a:solidFill>
              <a:prstDash val="solid"/>
              <a:round/>
              <a:headEnd type="none" w="sm" len="sm"/>
              <a:tailEnd type="none" w="sm" len="sm"/>
            </a:ln>
          </p:spPr>
        </p:cxnSp>
        <p:cxnSp>
          <p:nvCxnSpPr>
            <p:cNvPr id="139" name="Google Shape;139;p22"/>
            <p:cNvCxnSpPr/>
            <p:nvPr/>
          </p:nvCxnSpPr>
          <p:spPr>
            <a:xfrm rot="10800000">
              <a:off x="395536" y="393305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0" name="Google Shape;140;p22"/>
            <p:cNvCxnSpPr/>
            <p:nvPr/>
          </p:nvCxnSpPr>
          <p:spPr>
            <a:xfrm rot="10800000">
              <a:off x="395536" y="465313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1" name="Google Shape;141;p22"/>
            <p:cNvCxnSpPr/>
            <p:nvPr/>
          </p:nvCxnSpPr>
          <p:spPr>
            <a:xfrm rot="10800000">
              <a:off x="395536" y="4509120"/>
              <a:ext cx="8351992" cy="0"/>
            </a:xfrm>
            <a:prstGeom prst="straightConnector1">
              <a:avLst/>
            </a:prstGeom>
            <a:noFill/>
            <a:ln w="9525" cap="flat" cmpd="sng">
              <a:solidFill>
                <a:srgbClr val="D8D8D8"/>
              </a:solidFill>
              <a:prstDash val="solid"/>
              <a:round/>
              <a:headEnd type="none" w="sm" len="sm"/>
              <a:tailEnd type="none" w="sm" len="sm"/>
            </a:ln>
          </p:spPr>
        </p:cxnSp>
        <p:cxnSp>
          <p:nvCxnSpPr>
            <p:cNvPr id="142" name="Google Shape;142;p22"/>
            <p:cNvCxnSpPr/>
            <p:nvPr/>
          </p:nvCxnSpPr>
          <p:spPr>
            <a:xfrm rot="10800000">
              <a:off x="395536" y="4365104"/>
              <a:ext cx="8351992" cy="0"/>
            </a:xfrm>
            <a:prstGeom prst="straightConnector1">
              <a:avLst/>
            </a:prstGeom>
            <a:noFill/>
            <a:ln w="9525" cap="flat" cmpd="sng">
              <a:solidFill>
                <a:srgbClr val="D8D8D8"/>
              </a:solidFill>
              <a:prstDash val="solid"/>
              <a:round/>
              <a:headEnd type="none" w="sm" len="sm"/>
              <a:tailEnd type="none" w="sm" len="sm"/>
            </a:ln>
          </p:spPr>
        </p:cxnSp>
        <p:cxnSp>
          <p:nvCxnSpPr>
            <p:cNvPr id="143" name="Google Shape;143;p22"/>
            <p:cNvCxnSpPr/>
            <p:nvPr/>
          </p:nvCxnSpPr>
          <p:spPr>
            <a:xfrm rot="10800000">
              <a:off x="395536" y="5085184"/>
              <a:ext cx="8351992" cy="0"/>
            </a:xfrm>
            <a:prstGeom prst="straightConnector1">
              <a:avLst/>
            </a:prstGeom>
            <a:noFill/>
            <a:ln w="9525" cap="flat" cmpd="sng">
              <a:solidFill>
                <a:srgbClr val="D8D8D8"/>
              </a:solidFill>
              <a:prstDash val="solid"/>
              <a:round/>
              <a:headEnd type="none" w="sm" len="sm"/>
              <a:tailEnd type="none" w="sm" len="sm"/>
            </a:ln>
          </p:spPr>
        </p:cxnSp>
        <p:cxnSp>
          <p:nvCxnSpPr>
            <p:cNvPr id="144" name="Google Shape;144;p22"/>
            <p:cNvCxnSpPr/>
            <p:nvPr/>
          </p:nvCxnSpPr>
          <p:spPr>
            <a:xfrm rot="10800000">
              <a:off x="395536" y="4941168"/>
              <a:ext cx="8351992" cy="0"/>
            </a:xfrm>
            <a:prstGeom prst="straightConnector1">
              <a:avLst/>
            </a:prstGeom>
            <a:noFill/>
            <a:ln w="9525" cap="flat" cmpd="sng">
              <a:solidFill>
                <a:srgbClr val="D8D8D8"/>
              </a:solidFill>
              <a:prstDash val="solid"/>
              <a:round/>
              <a:headEnd type="none" w="sm" len="sm"/>
              <a:tailEnd type="none" w="sm" len="sm"/>
            </a:ln>
          </p:spPr>
        </p:cxnSp>
        <p:cxnSp>
          <p:nvCxnSpPr>
            <p:cNvPr id="145" name="Google Shape;145;p22"/>
            <p:cNvCxnSpPr/>
            <p:nvPr/>
          </p:nvCxnSpPr>
          <p:spPr>
            <a:xfrm rot="10800000">
              <a:off x="395536" y="4797152"/>
              <a:ext cx="8351992" cy="0"/>
            </a:xfrm>
            <a:prstGeom prst="straightConnector1">
              <a:avLst/>
            </a:prstGeom>
            <a:noFill/>
            <a:ln w="9525" cap="flat" cmpd="sng">
              <a:solidFill>
                <a:srgbClr val="D8D8D8"/>
              </a:solidFill>
              <a:prstDash val="solid"/>
              <a:round/>
              <a:headEnd type="none" w="sm" len="sm"/>
              <a:tailEnd type="none" w="sm" len="sm"/>
            </a:ln>
          </p:spPr>
        </p:cxnSp>
        <p:cxnSp>
          <p:nvCxnSpPr>
            <p:cNvPr id="146" name="Google Shape;146;p22"/>
            <p:cNvCxnSpPr/>
            <p:nvPr/>
          </p:nvCxnSpPr>
          <p:spPr>
            <a:xfrm rot="10800000">
              <a:off x="395536" y="5517232"/>
              <a:ext cx="8351992" cy="0"/>
            </a:xfrm>
            <a:prstGeom prst="straightConnector1">
              <a:avLst/>
            </a:prstGeom>
            <a:noFill/>
            <a:ln w="9525" cap="flat" cmpd="sng">
              <a:solidFill>
                <a:srgbClr val="D8D8D8"/>
              </a:solidFill>
              <a:prstDash val="solid"/>
              <a:round/>
              <a:headEnd type="none" w="sm" len="sm"/>
              <a:tailEnd type="none" w="sm" len="sm"/>
            </a:ln>
          </p:spPr>
        </p:cxnSp>
        <p:cxnSp>
          <p:nvCxnSpPr>
            <p:cNvPr id="147" name="Google Shape;147;p22"/>
            <p:cNvCxnSpPr/>
            <p:nvPr/>
          </p:nvCxnSpPr>
          <p:spPr>
            <a:xfrm rot="10800000">
              <a:off x="395536" y="537321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8" name="Google Shape;148;p22"/>
            <p:cNvCxnSpPr/>
            <p:nvPr/>
          </p:nvCxnSpPr>
          <p:spPr>
            <a:xfrm rot="10800000">
              <a:off x="395536" y="5229200"/>
              <a:ext cx="8351992" cy="0"/>
            </a:xfrm>
            <a:prstGeom prst="straightConnector1">
              <a:avLst/>
            </a:prstGeom>
            <a:noFill/>
            <a:ln w="9525" cap="flat" cmpd="sng">
              <a:solidFill>
                <a:srgbClr val="D8D8D8"/>
              </a:solidFill>
              <a:prstDash val="solid"/>
              <a:round/>
              <a:headEnd type="none" w="sm" len="sm"/>
              <a:tailEnd type="none" w="sm" len="sm"/>
            </a:ln>
          </p:spPr>
        </p:cxnSp>
        <p:cxnSp>
          <p:nvCxnSpPr>
            <p:cNvPr id="149" name="Google Shape;149;p22"/>
            <p:cNvCxnSpPr/>
            <p:nvPr/>
          </p:nvCxnSpPr>
          <p:spPr>
            <a:xfrm rot="10800000">
              <a:off x="395536" y="5949280"/>
              <a:ext cx="8351992" cy="0"/>
            </a:xfrm>
            <a:prstGeom prst="straightConnector1">
              <a:avLst/>
            </a:prstGeom>
            <a:noFill/>
            <a:ln w="9525" cap="flat" cmpd="sng">
              <a:solidFill>
                <a:srgbClr val="D8D8D8"/>
              </a:solidFill>
              <a:prstDash val="solid"/>
              <a:round/>
              <a:headEnd type="none" w="sm" len="sm"/>
              <a:tailEnd type="none" w="sm" len="sm"/>
            </a:ln>
          </p:spPr>
        </p:cxnSp>
        <p:cxnSp>
          <p:nvCxnSpPr>
            <p:cNvPr id="150" name="Google Shape;150;p22"/>
            <p:cNvCxnSpPr/>
            <p:nvPr/>
          </p:nvCxnSpPr>
          <p:spPr>
            <a:xfrm rot="10800000">
              <a:off x="395536" y="5805264"/>
              <a:ext cx="8351992" cy="0"/>
            </a:xfrm>
            <a:prstGeom prst="straightConnector1">
              <a:avLst/>
            </a:prstGeom>
            <a:noFill/>
            <a:ln w="9525" cap="flat" cmpd="sng">
              <a:solidFill>
                <a:srgbClr val="D8D8D8"/>
              </a:solidFill>
              <a:prstDash val="solid"/>
              <a:round/>
              <a:headEnd type="none" w="sm" len="sm"/>
              <a:tailEnd type="none" w="sm" len="sm"/>
            </a:ln>
          </p:spPr>
        </p:cxnSp>
        <p:cxnSp>
          <p:nvCxnSpPr>
            <p:cNvPr id="151" name="Google Shape;151;p22"/>
            <p:cNvCxnSpPr/>
            <p:nvPr/>
          </p:nvCxnSpPr>
          <p:spPr>
            <a:xfrm rot="10800000">
              <a:off x="395536" y="5661248"/>
              <a:ext cx="8351992" cy="0"/>
            </a:xfrm>
            <a:prstGeom prst="straightConnector1">
              <a:avLst/>
            </a:prstGeom>
            <a:noFill/>
            <a:ln w="9525" cap="flat" cmpd="sng">
              <a:solidFill>
                <a:srgbClr val="D8D8D8"/>
              </a:solidFill>
              <a:prstDash val="solid"/>
              <a:round/>
              <a:headEnd type="none" w="sm" len="sm"/>
              <a:tailEnd type="none" w="sm" len="sm"/>
            </a:ln>
          </p:spPr>
        </p:cxnSp>
        <p:cxnSp>
          <p:nvCxnSpPr>
            <p:cNvPr id="152" name="Google Shape;152;p22"/>
            <p:cNvCxnSpPr/>
            <p:nvPr/>
          </p:nvCxnSpPr>
          <p:spPr>
            <a:xfrm rot="10800000">
              <a:off x="395536" y="6381328"/>
              <a:ext cx="8351992" cy="0"/>
            </a:xfrm>
            <a:prstGeom prst="straightConnector1">
              <a:avLst/>
            </a:prstGeom>
            <a:noFill/>
            <a:ln w="9525" cap="flat" cmpd="sng">
              <a:solidFill>
                <a:srgbClr val="D8D8D8"/>
              </a:solidFill>
              <a:prstDash val="solid"/>
              <a:round/>
              <a:headEnd type="none" w="sm" len="sm"/>
              <a:tailEnd type="none" w="sm" len="sm"/>
            </a:ln>
          </p:spPr>
        </p:cxnSp>
        <p:cxnSp>
          <p:nvCxnSpPr>
            <p:cNvPr id="153" name="Google Shape;153;p22"/>
            <p:cNvCxnSpPr/>
            <p:nvPr/>
          </p:nvCxnSpPr>
          <p:spPr>
            <a:xfrm rot="10800000">
              <a:off x="395536" y="6237312"/>
              <a:ext cx="8351992" cy="0"/>
            </a:xfrm>
            <a:prstGeom prst="straightConnector1">
              <a:avLst/>
            </a:prstGeom>
            <a:noFill/>
            <a:ln w="9525" cap="flat" cmpd="sng">
              <a:solidFill>
                <a:srgbClr val="D8D8D8"/>
              </a:solidFill>
              <a:prstDash val="solid"/>
              <a:round/>
              <a:headEnd type="none" w="sm" len="sm"/>
              <a:tailEnd type="none" w="sm" len="sm"/>
            </a:ln>
          </p:spPr>
        </p:cxnSp>
        <p:cxnSp>
          <p:nvCxnSpPr>
            <p:cNvPr id="154" name="Google Shape;154;p22"/>
            <p:cNvCxnSpPr/>
            <p:nvPr/>
          </p:nvCxnSpPr>
          <p:spPr>
            <a:xfrm rot="10800000">
              <a:off x="395536" y="6093296"/>
              <a:ext cx="8351992" cy="0"/>
            </a:xfrm>
            <a:prstGeom prst="straightConnector1">
              <a:avLst/>
            </a:prstGeom>
            <a:noFill/>
            <a:ln w="9525" cap="flat" cmpd="sng">
              <a:solidFill>
                <a:srgbClr val="D8D8D8"/>
              </a:solidFill>
              <a:prstDash val="solid"/>
              <a:round/>
              <a:headEnd type="none" w="sm" len="sm"/>
              <a:tailEnd type="none" w="sm" len="sm"/>
            </a:ln>
          </p:spPr>
        </p:cxnSp>
        <p:cxnSp>
          <p:nvCxnSpPr>
            <p:cNvPr id="155" name="Google Shape;155;p22"/>
            <p:cNvCxnSpPr/>
            <p:nvPr/>
          </p:nvCxnSpPr>
          <p:spPr>
            <a:xfrm rot="10800000">
              <a:off x="396464" y="908720"/>
              <a:ext cx="8352000" cy="0"/>
            </a:xfrm>
            <a:prstGeom prst="straightConnector1">
              <a:avLst/>
            </a:prstGeom>
            <a:noFill/>
            <a:ln w="9525" cap="flat" cmpd="sng">
              <a:solidFill>
                <a:srgbClr val="D8D8D8"/>
              </a:solidFill>
              <a:prstDash val="solid"/>
              <a:round/>
              <a:headEnd type="none" w="sm" len="sm"/>
              <a:tailEnd type="none" w="sm" len="sm"/>
            </a:ln>
          </p:spPr>
        </p:cxnSp>
        <p:sp>
          <p:nvSpPr>
            <p:cNvPr id="156" name="Google Shape;156;p22"/>
            <p:cNvSpPr/>
            <p:nvPr/>
          </p:nvSpPr>
          <p:spPr>
            <a:xfrm>
              <a:off x="395536" y="836710"/>
              <a:ext cx="8352929" cy="5688633"/>
            </a:xfrm>
            <a:prstGeom prst="rect">
              <a:avLst/>
            </a:prstGeom>
            <a:noFill/>
            <a:ln w="12700" cap="flat" cmpd="sng">
              <a:solidFill>
                <a:srgbClr val="D8D8D8"/>
              </a:solidFill>
              <a:prstDash val="solid"/>
              <a:round/>
              <a:headEnd type="none" w="sm" len="sm"/>
              <a:tailEnd type="none" w="sm" len="sm"/>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cxnSp>
          <p:nvCxnSpPr>
            <p:cNvPr id="157" name="Google Shape;157;p22"/>
            <p:cNvCxnSpPr>
              <a:stCxn id="156" idx="0"/>
              <a:endCxn id="156" idx="2"/>
            </p:cNvCxnSpPr>
            <p:nvPr/>
          </p:nvCxnSpPr>
          <p:spPr>
            <a:xfrm>
              <a:off x="4572001" y="836710"/>
              <a:ext cx="0" cy="5688600"/>
            </a:xfrm>
            <a:prstGeom prst="straightConnector1">
              <a:avLst/>
            </a:prstGeom>
            <a:noFill/>
            <a:ln w="12700" cap="flat" cmpd="sng">
              <a:solidFill>
                <a:srgbClr val="D8D8D8"/>
              </a:solidFill>
              <a:prstDash val="solid"/>
              <a:round/>
              <a:headEnd type="none" w="sm" len="sm"/>
              <a:tailEnd type="none" w="sm" len="sm"/>
            </a:ln>
          </p:spPr>
        </p:cxnSp>
        <p:cxnSp>
          <p:nvCxnSpPr>
            <p:cNvPr id="158" name="Google Shape;158;p22"/>
            <p:cNvCxnSpPr/>
            <p:nvPr/>
          </p:nvCxnSpPr>
          <p:spPr>
            <a:xfrm rot="10800000">
              <a:off x="396464" y="3645344"/>
              <a:ext cx="8352000" cy="0"/>
            </a:xfrm>
            <a:prstGeom prst="straightConnector1">
              <a:avLst/>
            </a:prstGeom>
            <a:noFill/>
            <a:ln w="12700" cap="flat" cmpd="sng">
              <a:solidFill>
                <a:srgbClr val="D8D8D8"/>
              </a:solidFill>
              <a:prstDash val="solid"/>
              <a:round/>
              <a:headEnd type="none" w="sm" len="sm"/>
              <a:tailEnd type="none" w="sm" len="sm"/>
            </a:ln>
          </p:spPr>
        </p:cxnSp>
      </p:grpSp>
      <p:sp>
        <p:nvSpPr>
          <p:cNvPr id="159" name="Google Shape;159;p22"/>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33_タイトルとコンテンツ">
  <p:cSld name="33_タイトルとコンテンツ">
    <p:spTree>
      <p:nvGrpSpPr>
        <p:cNvPr id="1" name="Shape 169"/>
        <p:cNvGrpSpPr/>
        <p:nvPr/>
      </p:nvGrpSpPr>
      <p:grpSpPr>
        <a:xfrm>
          <a:off x="0" y="0"/>
          <a:ext cx="0" cy="0"/>
          <a:chOff x="0" y="0"/>
          <a:chExt cx="0" cy="0"/>
        </a:xfrm>
      </p:grpSpPr>
      <p:pic>
        <p:nvPicPr>
          <p:cNvPr id="170" name="Google Shape;170;p24"/>
          <p:cNvPicPr preferRelativeResize="0"/>
          <p:nvPr/>
        </p:nvPicPr>
        <p:blipFill rotWithShape="1">
          <a:blip r:embed="rId2">
            <a:alphaModFix/>
          </a:blip>
          <a:srcRect/>
          <a:stretch/>
        </p:blipFill>
        <p:spPr>
          <a:xfrm>
            <a:off x="-1587" y="-2704"/>
            <a:ext cx="9144000" cy="6096000"/>
          </a:xfrm>
          <a:prstGeom prst="rect">
            <a:avLst/>
          </a:prstGeom>
          <a:noFill/>
          <a:ln>
            <a:noFill/>
          </a:ln>
        </p:spPr>
      </p:pic>
      <p:sp>
        <p:nvSpPr>
          <p:cNvPr id="171" name="Google Shape;171;p24"/>
          <p:cNvSpPr/>
          <p:nvPr/>
        </p:nvSpPr>
        <p:spPr>
          <a:xfrm>
            <a:off x="-4749" y="3293608"/>
            <a:ext cx="9147839" cy="3570058"/>
          </a:xfrm>
          <a:custGeom>
            <a:avLst/>
            <a:gdLst/>
            <a:ahLst/>
            <a:cxnLst/>
            <a:rect l="l" t="t" r="r" b="b"/>
            <a:pathLst>
              <a:path w="9147839" h="3570058" extrusionOk="0">
                <a:moveTo>
                  <a:pt x="4209642" y="0"/>
                </a:moveTo>
                <a:lnTo>
                  <a:pt x="9147839" y="1854200"/>
                </a:lnTo>
                <a:lnTo>
                  <a:pt x="9147839" y="3566886"/>
                </a:lnTo>
                <a:lnTo>
                  <a:pt x="0" y="3570058"/>
                </a:lnTo>
                <a:lnTo>
                  <a:pt x="0" y="2794989"/>
                </a:lnTo>
                <a:lnTo>
                  <a:pt x="4209642" y="0"/>
                </a:lnTo>
                <a:close/>
              </a:path>
            </a:pathLst>
          </a:custGeom>
          <a:gradFill>
            <a:gsLst>
              <a:gs pos="0">
                <a:srgbClr val="176E65">
                  <a:alpha val="90196"/>
                </a:srgbClr>
              </a:gs>
              <a:gs pos="51000">
                <a:srgbClr val="176E65">
                  <a:alpha val="90196"/>
                </a:srgbClr>
              </a:gs>
              <a:gs pos="79000">
                <a:srgbClr val="006057"/>
              </a:gs>
              <a:gs pos="93000">
                <a:srgbClr val="005C55"/>
              </a:gs>
              <a:gs pos="100000">
                <a:srgbClr val="005C55"/>
              </a:gs>
            </a:gsLst>
            <a:lin ang="5400000" scaled="0"/>
          </a:gradFill>
          <a:ln>
            <a:noFill/>
          </a:ln>
        </p:spPr>
        <p:txBody>
          <a:bodyPr spcFirstLastPara="1" wrap="square" lIns="72000" tIns="36000" rIns="72000" bIns="36000" anchor="ctr" anchorCtr="0">
            <a:noAutofit/>
          </a:bodyPr>
          <a:lstStyle/>
          <a:p>
            <a:pPr marL="0" marR="0" lvl="0" indent="0" algn="ctr" rtl="0">
              <a:spcBef>
                <a:spcPts val="0"/>
              </a:spcBef>
              <a:spcAft>
                <a:spcPts val="0"/>
              </a:spcAft>
              <a:buNone/>
            </a:pPr>
            <a:endParaRPr sz="1200">
              <a:solidFill>
                <a:schemeClr val="dk1"/>
              </a:solidFill>
              <a:latin typeface="Arial"/>
              <a:ea typeface="Arial"/>
              <a:cs typeface="Arial"/>
              <a:sym typeface="Arial"/>
            </a:endParaRPr>
          </a:p>
        </p:txBody>
      </p:sp>
      <p:sp>
        <p:nvSpPr>
          <p:cNvPr id="172" name="Google Shape;172;p24"/>
          <p:cNvSpPr/>
          <p:nvPr/>
        </p:nvSpPr>
        <p:spPr>
          <a:xfrm>
            <a:off x="0" y="1698171"/>
            <a:ext cx="4206240" cy="4388367"/>
          </a:xfrm>
          <a:custGeom>
            <a:avLst/>
            <a:gdLst/>
            <a:ahLst/>
            <a:cxnLst/>
            <a:rect l="l" t="t" r="r" b="b"/>
            <a:pathLst>
              <a:path w="4206240" h="4388367" extrusionOk="0">
                <a:moveTo>
                  <a:pt x="4206240" y="1596935"/>
                </a:moveTo>
                <a:lnTo>
                  <a:pt x="0" y="4388367"/>
                </a:lnTo>
                <a:lnTo>
                  <a:pt x="0" y="0"/>
                </a:lnTo>
                <a:lnTo>
                  <a:pt x="4206240" y="1596935"/>
                </a:lnTo>
                <a:close/>
              </a:path>
            </a:pathLst>
          </a:custGeom>
          <a:solidFill>
            <a:srgbClr val="66A09A">
              <a:alpha val="90196"/>
            </a:srgb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sp>
        <p:nvSpPr>
          <p:cNvPr id="173" name="Google Shape;173;p24"/>
          <p:cNvSpPr/>
          <p:nvPr/>
        </p:nvSpPr>
        <p:spPr>
          <a:xfrm>
            <a:off x="12698" y="-5518"/>
            <a:ext cx="9110863" cy="3307645"/>
          </a:xfrm>
          <a:custGeom>
            <a:avLst/>
            <a:gdLst/>
            <a:ahLst/>
            <a:cxnLst/>
            <a:rect l="l" t="t" r="r" b="b"/>
            <a:pathLst>
              <a:path w="9141914" h="3338535" extrusionOk="0">
                <a:moveTo>
                  <a:pt x="0" y="1733123"/>
                </a:moveTo>
                <a:lnTo>
                  <a:pt x="2626362" y="0"/>
                </a:lnTo>
                <a:lnTo>
                  <a:pt x="9141914" y="2839"/>
                </a:lnTo>
                <a:cubicBezTo>
                  <a:pt x="8176372" y="672354"/>
                  <a:pt x="4902606" y="2872220"/>
                  <a:pt x="4229164" y="3338535"/>
                </a:cubicBezTo>
                <a:lnTo>
                  <a:pt x="0" y="1733123"/>
                </a:lnTo>
                <a:close/>
              </a:path>
            </a:pathLst>
          </a:custGeom>
          <a:solidFill>
            <a:schemeClr val="lt1">
              <a:alpha val="40000"/>
            </a:scheme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12"/>
          <p:cNvCxnSpPr/>
          <p:nvPr/>
        </p:nvCxnSpPr>
        <p:spPr>
          <a:xfrm>
            <a:off x="360464" y="669925"/>
            <a:ext cx="8424000" cy="0"/>
          </a:xfrm>
          <a:prstGeom prst="straightConnector1">
            <a:avLst/>
          </a:prstGeom>
          <a:noFill/>
          <a:ln w="12700" cap="flat" cmpd="sng">
            <a:solidFill>
              <a:srgbClr val="5A5A5A"/>
            </a:solidFill>
            <a:prstDash val="solid"/>
            <a:round/>
            <a:headEnd type="none" w="sm" len="sm"/>
            <a:tailEnd type="none" w="sm" len="sm"/>
          </a:ln>
        </p:spPr>
      </p:cxnSp>
      <p:sp>
        <p:nvSpPr>
          <p:cNvPr id="12" name="Google Shape;12;p12"/>
          <p:cNvSpPr/>
          <p:nvPr/>
        </p:nvSpPr>
        <p:spPr>
          <a:xfrm>
            <a:off x="8820472" y="6597352"/>
            <a:ext cx="287992" cy="21600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5A5A5A"/>
              </a:buClr>
              <a:buSzPts val="900"/>
              <a:buFont typeface="Trebuchet MS"/>
              <a:buNone/>
            </a:pPr>
            <a:fld id="{00000000-1234-1234-1234-123412341234}" type="slidenum">
              <a:rPr lang="ja-JP" sz="900" b="0" i="0" u="none" strike="noStrike" cap="none">
                <a:solidFill>
                  <a:srgbClr val="5A5A5A"/>
                </a:solidFill>
                <a:latin typeface="Trebuchet MS"/>
                <a:ea typeface="Trebuchet MS"/>
                <a:cs typeface="Trebuchet MS"/>
                <a:sym typeface="Trebuchet MS"/>
              </a:rPr>
              <a:t>‹#›</a:t>
            </a:fld>
            <a:endParaRPr sz="900" b="0" i="0" u="none" strike="noStrike" cap="none">
              <a:solidFill>
                <a:srgbClr val="5A5A5A"/>
              </a:solidFill>
              <a:latin typeface="Trebuchet MS"/>
              <a:ea typeface="Trebuchet MS"/>
              <a:cs typeface="Trebuchet MS"/>
              <a:sym typeface="Trebuchet MS"/>
            </a:endParaRPr>
          </a:p>
        </p:txBody>
      </p:sp>
      <p:cxnSp>
        <p:nvCxnSpPr>
          <p:cNvPr id="13" name="Google Shape;13;p12"/>
          <p:cNvCxnSpPr/>
          <p:nvPr/>
        </p:nvCxnSpPr>
        <p:spPr>
          <a:xfrm>
            <a:off x="8820472" y="6655074"/>
            <a:ext cx="0" cy="108000"/>
          </a:xfrm>
          <a:prstGeom prst="straightConnector1">
            <a:avLst/>
          </a:prstGeom>
          <a:noFill/>
          <a:ln w="25400" cap="flat" cmpd="sng">
            <a:solidFill>
              <a:schemeClr val="lt2"/>
            </a:solidFill>
            <a:prstDash val="solid"/>
            <a:round/>
            <a:headEnd type="none" w="sm" len="sm"/>
            <a:tailEnd type="none" w="sm" len="sm"/>
          </a:ln>
        </p:spPr>
      </p:cxnSp>
      <p:sp>
        <p:nvSpPr>
          <p:cNvPr id="14" name="Google Shape;14;p12"/>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1" i="0" u="none" strike="noStrike" cap="none">
                <a:solidFill>
                  <a:srgbClr val="5C5C5C"/>
                </a:solidFill>
                <a:latin typeface="Arial"/>
                <a:ea typeface="Arial"/>
                <a:cs typeface="Arial"/>
                <a:sym typeface="Arial"/>
              </a:defRPr>
            </a:lvl1pPr>
            <a:lvl2pPr marR="0" lvl="1" algn="l" rtl="0">
              <a:spcBef>
                <a:spcPts val="0"/>
              </a:spcBef>
              <a:spcAft>
                <a:spcPts val="0"/>
              </a:spcAft>
              <a:buSzPts val="1400"/>
              <a:buNone/>
              <a:defRPr sz="1880" b="0" i="0" u="none" strike="noStrike" cap="none">
                <a:solidFill>
                  <a:srgbClr val="191919"/>
                </a:solidFill>
                <a:latin typeface="Arial"/>
                <a:ea typeface="Arial"/>
                <a:cs typeface="Arial"/>
                <a:sym typeface="Arial"/>
              </a:defRPr>
            </a:lvl2pPr>
            <a:lvl3pPr marR="0" lvl="2" algn="l" rtl="0">
              <a:spcBef>
                <a:spcPts val="0"/>
              </a:spcBef>
              <a:spcAft>
                <a:spcPts val="0"/>
              </a:spcAft>
              <a:buSzPts val="1400"/>
              <a:buNone/>
              <a:defRPr sz="1880" b="0" i="0" u="none" strike="noStrike" cap="none">
                <a:solidFill>
                  <a:srgbClr val="191919"/>
                </a:solidFill>
                <a:latin typeface="Arial"/>
                <a:ea typeface="Arial"/>
                <a:cs typeface="Arial"/>
                <a:sym typeface="Arial"/>
              </a:defRPr>
            </a:lvl3pPr>
            <a:lvl4pPr marR="0" lvl="3" algn="l" rtl="0">
              <a:spcBef>
                <a:spcPts val="0"/>
              </a:spcBef>
              <a:spcAft>
                <a:spcPts val="0"/>
              </a:spcAft>
              <a:buSzPts val="1400"/>
              <a:buNone/>
              <a:defRPr sz="1880" b="0" i="0" u="none" strike="noStrike" cap="none">
                <a:solidFill>
                  <a:srgbClr val="191919"/>
                </a:solidFill>
                <a:latin typeface="Arial"/>
                <a:ea typeface="Arial"/>
                <a:cs typeface="Arial"/>
                <a:sym typeface="Arial"/>
              </a:defRPr>
            </a:lvl4pPr>
            <a:lvl5pPr marR="0" lvl="4" algn="l" rtl="0">
              <a:spcBef>
                <a:spcPts val="0"/>
              </a:spcBef>
              <a:spcAft>
                <a:spcPts val="0"/>
              </a:spcAft>
              <a:buSzPts val="1400"/>
              <a:buNone/>
              <a:defRPr sz="1880" b="0" i="0" u="none" strike="noStrike" cap="none">
                <a:solidFill>
                  <a:srgbClr val="191919"/>
                </a:solidFill>
                <a:latin typeface="Arial"/>
                <a:ea typeface="Arial"/>
                <a:cs typeface="Arial"/>
                <a:sym typeface="Arial"/>
              </a:defRPr>
            </a:lvl5pPr>
            <a:lvl6pPr marR="0" lvl="5"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6pPr>
            <a:lvl7pPr marR="0" lvl="6"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7pPr>
            <a:lvl8pPr marR="0" lvl="7"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8pPr>
            <a:lvl9pPr marR="0" lvl="8"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296">
          <p15:clr>
            <a:srgbClr val="F26B43"/>
          </p15:clr>
        </p15:guide>
        <p15:guide id="2" pos="2880">
          <p15:clr>
            <a:srgbClr val="F26B43"/>
          </p15:clr>
        </p15:guide>
        <p15:guide id="3" pos="249">
          <p15:clr>
            <a:srgbClr val="F26B43"/>
          </p15:clr>
        </p15:guide>
        <p15:guide id="4" pos="5511">
          <p15:clr>
            <a:srgbClr val="F26B43"/>
          </p15:clr>
        </p15:guide>
        <p15:guide id="5" orient="horz" pos="527">
          <p15:clr>
            <a:srgbClr val="F26B43"/>
          </p15:clr>
        </p15:guide>
        <p15:guide id="6" orient="horz" pos="411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0;p1">
            <a:extLst>
              <a:ext uri="{FF2B5EF4-FFF2-40B4-BE49-F238E27FC236}">
                <a16:creationId xmlns:a16="http://schemas.microsoft.com/office/drawing/2014/main" id="{31BC779B-1A2F-3FAA-3491-C2DFDB9541FD}"/>
              </a:ext>
            </a:extLst>
          </p:cNvPr>
          <p:cNvSpPr txBox="1"/>
          <p:nvPr/>
        </p:nvSpPr>
        <p:spPr>
          <a:xfrm>
            <a:off x="361950" y="3717032"/>
            <a:ext cx="8314506" cy="998780"/>
          </a:xfrm>
          <a:prstGeom prst="rect">
            <a:avLst/>
          </a:prstGeom>
          <a:noFill/>
          <a:ln>
            <a:noFill/>
          </a:ln>
        </p:spPr>
        <p:txBody>
          <a:bodyPr spcFirstLastPara="1" wrap="square" lIns="91425" tIns="45700" rIns="0" bIns="45700" anchor="b" anchorCtr="0">
            <a:noAutofit/>
          </a:bodyPr>
          <a:lstStyle/>
          <a:p>
            <a:pPr marL="0" marR="0" lvl="0" indent="0" algn="l" rtl="0">
              <a:spcBef>
                <a:spcPts val="0"/>
              </a:spcBef>
              <a:spcAft>
                <a:spcPts val="0"/>
              </a:spcAft>
              <a:buNone/>
            </a:pPr>
            <a:r>
              <a:rPr lang="ja-JP" sz="3200" b="1" i="0" u="none" strike="noStrike" cap="none">
                <a:solidFill>
                  <a:schemeClr val="lt1"/>
                </a:solidFill>
                <a:latin typeface="Meiryo UI" panose="020B0604030504040204" pitchFamily="50" charset="-128"/>
                <a:ea typeface="Meiryo UI" panose="020B0604030504040204" pitchFamily="50" charset="-128"/>
                <a:sym typeface="Arial"/>
              </a:rPr>
              <a:t>今後のスケジュールと論点整理</a:t>
            </a:r>
            <a:endParaRPr sz="3200" b="1" i="0" u="none" strike="noStrike" cap="none">
              <a:solidFill>
                <a:schemeClr val="lt1"/>
              </a:solidFill>
              <a:latin typeface="Meiryo UI" panose="020B0604030504040204" pitchFamily="50" charset="-128"/>
              <a:ea typeface="Meiryo UI" panose="020B0604030504040204" pitchFamily="50" charset="-128"/>
              <a:sym typeface="Arial"/>
            </a:endParaRPr>
          </a:p>
        </p:txBody>
      </p:sp>
      <p:sp>
        <p:nvSpPr>
          <p:cNvPr id="5" name="Google Shape;181;p1">
            <a:extLst>
              <a:ext uri="{FF2B5EF4-FFF2-40B4-BE49-F238E27FC236}">
                <a16:creationId xmlns:a16="http://schemas.microsoft.com/office/drawing/2014/main" id="{96ACA2D1-2F49-09BE-FE99-3346A4F37EE8}"/>
              </a:ext>
            </a:extLst>
          </p:cNvPr>
          <p:cNvSpPr txBox="1"/>
          <p:nvPr/>
        </p:nvSpPr>
        <p:spPr>
          <a:xfrm>
            <a:off x="361949" y="5517232"/>
            <a:ext cx="3816000" cy="540000"/>
          </a:xfrm>
          <a:prstGeom prst="rect">
            <a:avLst/>
          </a:prstGeom>
          <a:noFill/>
          <a:ln>
            <a:noFill/>
          </a:ln>
        </p:spPr>
        <p:txBody>
          <a:bodyPr spcFirstLastPara="1" wrap="square" lIns="99050" tIns="49525" rIns="99050" bIns="49525" anchor="ctr" anchorCtr="0">
            <a:noAutofit/>
          </a:bodyPr>
          <a:lstStyle/>
          <a:p>
            <a:pPr marL="0" marR="0" lvl="0" indent="0" algn="l" rtl="0">
              <a:lnSpc>
                <a:spcPct val="100000"/>
              </a:lnSpc>
              <a:spcBef>
                <a:spcPts val="0"/>
              </a:spcBef>
              <a:spcAft>
                <a:spcPts val="0"/>
              </a:spcAft>
              <a:buClr>
                <a:srgbClr val="FFFFFF"/>
              </a:buClr>
              <a:buSzPts val="1400"/>
              <a:buFont typeface="Arial"/>
              <a:buNone/>
            </a:pPr>
            <a:r>
              <a:rPr lang="ja-JP" altLang="en-US" b="1" dirty="0">
                <a:solidFill>
                  <a:srgbClr val="FFFFFF"/>
                </a:solidFill>
                <a:latin typeface="Meiryo UI" panose="020B0604030504040204" pitchFamily="50" charset="-128"/>
                <a:ea typeface="Meiryo UI" panose="020B0604030504040204" pitchFamily="50" charset="-128"/>
              </a:rPr>
              <a:t>企業情報部</a:t>
            </a:r>
            <a:endParaRPr sz="1400" b="1" i="0" u="none" strike="noStrike" cap="none" dirty="0">
              <a:solidFill>
                <a:srgbClr val="FFFFFF"/>
              </a:solidFill>
              <a:latin typeface="Meiryo UI" panose="020B0604030504040204" pitchFamily="50" charset="-128"/>
              <a:ea typeface="Meiryo UI" panose="020B0604030504040204" pitchFamily="50" charset="-128"/>
              <a:sym typeface="Arial"/>
            </a:endParaRPr>
          </a:p>
          <a:p>
            <a:pPr marL="0" marR="0" lvl="0" indent="0" algn="l" rtl="0">
              <a:lnSpc>
                <a:spcPct val="100000"/>
              </a:lnSpc>
              <a:spcBef>
                <a:spcPts val="0"/>
              </a:spcBef>
              <a:spcAft>
                <a:spcPts val="0"/>
              </a:spcAft>
              <a:buClr>
                <a:srgbClr val="FFFFFF"/>
              </a:buClr>
              <a:buSzPts val="1400"/>
              <a:buFont typeface="Arial"/>
              <a:buNone/>
            </a:pPr>
            <a:r>
              <a:rPr lang="ja-JP" altLang="en-US" sz="1400" b="1" i="0" u="none" strike="noStrike" cap="none" dirty="0">
                <a:solidFill>
                  <a:srgbClr val="FFFFFF"/>
                </a:solidFill>
                <a:latin typeface="Meiryo UI" panose="020B0604030504040204" pitchFamily="50" charset="-128"/>
                <a:ea typeface="Meiryo UI" panose="020B0604030504040204" pitchFamily="50" charset="-128"/>
                <a:sym typeface="Arial"/>
              </a:rPr>
              <a:t>田垣内 啓介</a:t>
            </a:r>
            <a:endParaRPr sz="1400" b="1" i="0" u="none" strike="noStrike" cap="none" dirty="0">
              <a:solidFill>
                <a:srgbClr val="FFFFFF"/>
              </a:solidFill>
              <a:latin typeface="Meiryo UI" panose="020B0604030504040204" pitchFamily="50" charset="-128"/>
              <a:ea typeface="Meiryo UI" panose="020B0604030504040204" pitchFamily="50" charset="-128"/>
              <a:sym typeface="Arial"/>
            </a:endParaRPr>
          </a:p>
        </p:txBody>
      </p:sp>
      <p:sp>
        <p:nvSpPr>
          <p:cNvPr id="6" name="Google Shape;182;p1">
            <a:extLst>
              <a:ext uri="{FF2B5EF4-FFF2-40B4-BE49-F238E27FC236}">
                <a16:creationId xmlns:a16="http://schemas.microsoft.com/office/drawing/2014/main" id="{792F0345-6D09-C84A-AD32-06D94B9E9287}"/>
              </a:ext>
            </a:extLst>
          </p:cNvPr>
          <p:cNvSpPr txBox="1"/>
          <p:nvPr/>
        </p:nvSpPr>
        <p:spPr>
          <a:xfrm>
            <a:off x="288368" y="3341451"/>
            <a:ext cx="396316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buClr>
                <a:srgbClr val="FFFFFF"/>
              </a:buClr>
              <a:buSzPts val="1800"/>
              <a:buFont typeface="Arial"/>
              <a:buNone/>
            </a:pPr>
            <a:r>
              <a:rPr lang="ja-JP" sz="2400" b="1" i="0" u="none" strike="noStrike" cap="none" dirty="0">
                <a:solidFill>
                  <a:srgbClr val="FFFFFF"/>
                </a:solidFill>
                <a:latin typeface="Meiryo UI" panose="020B0604030504040204" pitchFamily="50" charset="-128"/>
                <a:ea typeface="Meiryo UI" panose="020B0604030504040204" pitchFamily="50" charset="-128"/>
                <a:sym typeface="Arial"/>
              </a:rPr>
              <a:t>株式会社カナリア　御中</a:t>
            </a:r>
          </a:p>
        </p:txBody>
      </p:sp>
      <p:sp>
        <p:nvSpPr>
          <p:cNvPr id="7" name="Google Shape;183;p1">
            <a:extLst>
              <a:ext uri="{FF2B5EF4-FFF2-40B4-BE49-F238E27FC236}">
                <a16:creationId xmlns:a16="http://schemas.microsoft.com/office/drawing/2014/main" id="{6F3F9F3A-D75E-8ACA-12F1-136DD1993DD7}"/>
              </a:ext>
            </a:extLst>
          </p:cNvPr>
          <p:cNvSpPr txBox="1"/>
          <p:nvPr/>
        </p:nvSpPr>
        <p:spPr>
          <a:xfrm>
            <a:off x="361950" y="5157192"/>
            <a:ext cx="2122488" cy="360000"/>
          </a:xfrm>
          <a:prstGeom prst="rect">
            <a:avLst/>
          </a:prstGeom>
          <a:noFill/>
          <a:ln>
            <a:noFill/>
          </a:ln>
        </p:spPr>
        <p:txBody>
          <a:bodyPr spcFirstLastPara="1" wrap="square" lIns="99050" tIns="49525" rIns="99050" bIns="49525" anchor="ctr" anchorCtr="0">
            <a:noAutofit/>
          </a:bodyPr>
          <a:lstStyle/>
          <a:p>
            <a:pPr marL="0" marR="0" lvl="0" indent="0" algn="l" rtl="0">
              <a:lnSpc>
                <a:spcPct val="80000"/>
              </a:lnSpc>
              <a:buClr>
                <a:schemeClr val="lt1"/>
              </a:buClr>
              <a:buSzPts val="1200"/>
              <a:buFont typeface="Arial"/>
              <a:buNone/>
            </a:pPr>
            <a:r>
              <a:rPr lang="ja-JP" sz="1200" b="1" i="0" u="none" strike="noStrike" cap="none" dirty="0">
                <a:solidFill>
                  <a:schemeClr val="lt1"/>
                </a:solidFill>
                <a:latin typeface="Meiryo UI" panose="020B0604030504040204" pitchFamily="50" charset="-128"/>
                <a:ea typeface="Meiryo UI" panose="020B0604030504040204" pitchFamily="50" charset="-128"/>
                <a:sym typeface="Arial"/>
              </a:rPr>
              <a:t>2026年9月7日</a:t>
            </a:r>
          </a:p>
        </p:txBody>
      </p:sp>
      <p:sp>
        <p:nvSpPr>
          <p:cNvPr id="8" name="Google Shape;184;p1">
            <a:extLst>
              <a:ext uri="{FF2B5EF4-FFF2-40B4-BE49-F238E27FC236}">
                <a16:creationId xmlns:a16="http://schemas.microsoft.com/office/drawing/2014/main" id="{63C143C5-4722-1CCD-58AE-58D820F723AA}"/>
              </a:ext>
            </a:extLst>
          </p:cNvPr>
          <p:cNvSpPr/>
          <p:nvPr/>
        </p:nvSpPr>
        <p:spPr>
          <a:xfrm>
            <a:off x="7492789" y="155485"/>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i="0" u="none" strike="noStrike" cap="none">
                <a:solidFill>
                  <a:srgbClr val="F14040"/>
                </a:solidFill>
                <a:latin typeface="Meiryo UI" panose="020B0604030504040204" pitchFamily="50" charset="-128"/>
                <a:ea typeface="Meiryo UI" panose="020B0604030504040204" pitchFamily="50" charset="-128"/>
                <a:sym typeface="Arial"/>
              </a:rPr>
              <a:t>秘・貴社限り</a:t>
            </a:r>
            <a:endParaRPr sz="1300" b="1" i="0" u="none" strike="noStrike" cap="none">
              <a:solidFill>
                <a:srgbClr val="F14040"/>
              </a:solidFill>
              <a:latin typeface="Meiryo UI" panose="020B0604030504040204" pitchFamily="50" charset="-128"/>
              <a:ea typeface="Meiryo UI" panose="020B0604030504040204" pitchFamily="50" charset="-128"/>
              <a:sym typeface="Arial"/>
            </a:endParaRPr>
          </a:p>
        </p:txBody>
      </p:sp>
    </p:spTree>
    <p:extLst>
      <p:ext uri="{BB962C8B-B14F-4D97-AF65-F5344CB8AC3E}">
        <p14:creationId xmlns:p14="http://schemas.microsoft.com/office/powerpoint/2010/main" val="676783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
          <p:cNvSpPr txBox="1">
            <a:spLocks noGrp="1"/>
          </p:cNvSpPr>
          <p:nvPr>
            <p:ph type="subTitle" idx="1"/>
          </p:nvPr>
        </p:nvSpPr>
        <p:spPr>
          <a:xfrm>
            <a:off x="2007005" y="3163812"/>
            <a:ext cx="6813467" cy="841252"/>
          </a:xfrm>
          <a:prstGeom prst="rect">
            <a:avLst/>
          </a:prstGeom>
          <a:noFill/>
          <a:ln>
            <a:noFill/>
          </a:ln>
        </p:spPr>
        <p:txBody>
          <a:bodyPr spcFirstLastPara="1" wrap="square" lIns="91425" tIns="45700" rIns="91425" bIns="45700" anchor="t" anchorCtr="0">
            <a:noAutofit/>
          </a:bodyPr>
          <a:lstStyle/>
          <a:p>
            <a:pPr marL="0" lvl="0" indent="0" algn="r" rtl="0">
              <a:lnSpc>
                <a:spcPct val="120000"/>
              </a:lnSpc>
              <a:spcBef>
                <a:spcPts val="0"/>
              </a:spcBef>
              <a:spcAft>
                <a:spcPts val="0"/>
              </a:spcAft>
              <a:buSzPts val="1725"/>
              <a:buNone/>
            </a:pPr>
            <a:r>
              <a:rPr lang="ja-JP" dirty="0">
                <a:latin typeface="Meiryo UI" panose="020B0604030504040204" pitchFamily="50" charset="-128"/>
                <a:ea typeface="Meiryo UI" panose="020B0604030504040204" pitchFamily="50" charset="-128"/>
              </a:rPr>
              <a:t>各種条件について</a:t>
            </a:r>
            <a:endParaRPr dirty="0">
              <a:latin typeface="Meiryo UI" panose="020B0604030504040204" pitchFamily="50" charset="-128"/>
              <a:ea typeface="Meiryo UI" panose="020B0604030504040204" pitchFamily="50" charset="-128"/>
            </a:endParaRPr>
          </a:p>
        </p:txBody>
      </p:sp>
      <p:cxnSp>
        <p:nvCxnSpPr>
          <p:cNvPr id="197" name="Google Shape;197;p2"/>
          <p:cNvCxnSpPr/>
          <p:nvPr/>
        </p:nvCxnSpPr>
        <p:spPr>
          <a:xfrm>
            <a:off x="2018267" y="3155538"/>
            <a:ext cx="7125733" cy="0"/>
          </a:xfrm>
          <a:prstGeom prst="straightConnector1">
            <a:avLst/>
          </a:prstGeom>
          <a:noFill/>
          <a:ln w="12700" cap="flat" cmpd="sng">
            <a:solidFill>
              <a:srgbClr val="7F7F7F"/>
            </a:solidFill>
            <a:prstDash val="solid"/>
            <a:round/>
            <a:headEnd type="none" w="sm" len="sm"/>
            <a:tailEnd type="none" w="sm" len="sm"/>
          </a:ln>
        </p:spPr>
      </p:cxnSp>
      <p:sp>
        <p:nvSpPr>
          <p:cNvPr id="198" name="Google Shape;198;p2"/>
          <p:cNvSpPr/>
          <p:nvPr/>
        </p:nvSpPr>
        <p:spPr>
          <a:xfrm>
            <a:off x="3491880" y="2105561"/>
            <a:ext cx="1728192" cy="1323439"/>
          </a:xfrm>
          <a:prstGeom prst="rect">
            <a:avLst/>
          </a:prstGeom>
          <a:noFill/>
          <a:ln>
            <a:noFill/>
          </a:ln>
        </p:spPr>
        <p:txBody>
          <a:bodyPr spcFirstLastPara="1" wrap="square" lIns="91425" tIns="45700" rIns="91425" bIns="45700" anchor="b" anchorCtr="0">
            <a:spAutoFit/>
          </a:bodyPr>
          <a:lstStyle/>
          <a:p>
            <a:pPr marL="0" marR="0" lvl="0" indent="0" algn="l" rtl="0">
              <a:spcBef>
                <a:spcPts val="0"/>
              </a:spcBef>
              <a:spcAft>
                <a:spcPts val="0"/>
              </a:spcAft>
              <a:buNone/>
            </a:pPr>
            <a:r>
              <a:rPr lang="ja-JP" sz="8000" b="1" i="0" u="none" strike="noStrike" cap="none" dirty="0">
                <a:solidFill>
                  <a:schemeClr val="accent5">
                    <a:lumMod val="75000"/>
                  </a:schemeClr>
                </a:solidFill>
                <a:latin typeface="Meiryo UI" panose="020B0604030504040204" pitchFamily="50" charset="-128"/>
                <a:ea typeface="Meiryo UI" panose="020B0604030504040204" pitchFamily="50" charset="-128"/>
                <a:sym typeface="Arial"/>
              </a:rPr>
              <a:t>1</a:t>
            </a:r>
            <a:endParaRPr sz="8000" b="1" i="0" u="none" strike="noStrike" cap="none" dirty="0">
              <a:solidFill>
                <a:schemeClr val="accent5">
                  <a:lumMod val="75000"/>
                </a:schemeClr>
              </a:solidFill>
              <a:latin typeface="Meiryo UI" panose="020B0604030504040204" pitchFamily="50" charset="-128"/>
              <a:ea typeface="Meiryo UI" panose="020B0604030504040204" pitchFamily="50" charset="-128"/>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ltLang="en-US" b="1" dirty="0">
                <a:solidFill>
                  <a:srgbClr val="5A5A5A"/>
                </a:solidFill>
                <a:latin typeface="Meiryo UI" panose="020B0604030504040204" pitchFamily="50" charset="-128"/>
                <a:ea typeface="Meiryo UI" panose="020B0604030504040204" pitchFamily="50" charset="-128"/>
                <a:sym typeface="Arial"/>
              </a:rPr>
              <a:t>確認</a:t>
            </a:r>
            <a:r>
              <a:rPr lang="ja-JP" b="1" dirty="0">
                <a:solidFill>
                  <a:srgbClr val="5A5A5A"/>
                </a:solidFill>
                <a:latin typeface="Meiryo UI" panose="020B0604030504040204" pitchFamily="50" charset="-128"/>
                <a:ea typeface="Meiryo UI" panose="020B0604030504040204" pitchFamily="50" charset="-128"/>
                <a:sym typeface="Arial"/>
              </a:rPr>
              <a:t>事項</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a:solidFill>
                  <a:srgbClr val="5A5A5A"/>
                </a:solidFill>
                <a:latin typeface="Meiryo UI" panose="020B0604030504040204" pitchFamily="50" charset="-128"/>
                <a:ea typeface="Meiryo UI" panose="020B0604030504040204" pitchFamily="50" charset="-128"/>
                <a:sym typeface="Arial"/>
              </a:rPr>
              <a:t>各種条件について</a:t>
            </a:r>
            <a:endParaRPr>
              <a:latin typeface="Meiryo UI" panose="020B0604030504040204" pitchFamily="50" charset="-128"/>
              <a:ea typeface="Meiryo UI" panose="020B0604030504040204" pitchFamily="50" charset="-128"/>
            </a:endParaRPr>
          </a:p>
        </p:txBody>
      </p:sp>
      <p:sp>
        <p:nvSpPr>
          <p:cNvPr id="206"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207" name="Google Shape;207;p3"/>
          <p:cNvGraphicFramePr/>
          <p:nvPr>
            <p:extLst>
              <p:ext uri="{D42A27DB-BD31-4B8C-83A1-F6EECF244321}">
                <p14:modId xmlns:p14="http://schemas.microsoft.com/office/powerpoint/2010/main" val="2721619109"/>
              </p:ext>
            </p:extLst>
          </p:nvPr>
        </p:nvGraphicFramePr>
        <p:xfrm>
          <a:off x="398462" y="839788"/>
          <a:ext cx="8352650" cy="565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70000">
                <a:tc>
                  <a:txBody>
                    <a:bodyPr/>
                    <a:lstStyle/>
                    <a:p>
                      <a:pPr marL="0" marR="0" lvl="0" indent="0" algn="ctr" rtl="0">
                        <a:buNone/>
                      </a:pPr>
                      <a:r>
                        <a:rPr lang="ja-JP" sz="1400" b="1" u="none" strike="noStrike" cap="none" dirty="0">
                          <a:solidFill>
                            <a:schemeClr val="lt1"/>
                          </a:solidFill>
                          <a:latin typeface="Meiryo UI" panose="020B0604030504040204" pitchFamily="50" charset="-128"/>
                          <a:ea typeface="Meiryo UI" panose="020B0604030504040204" pitchFamily="50" charset="-128"/>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u="none" strike="noStrike" cap="none" dirty="0">
                          <a:solidFill>
                            <a:schemeClr val="lt1"/>
                          </a:solidFill>
                          <a:latin typeface="Meiryo UI" panose="020B0604030504040204" pitchFamily="50" charset="-128"/>
                          <a:ea typeface="Meiryo UI" panose="020B0604030504040204" pitchFamily="50" charset="-128"/>
                        </a:rPr>
                        <a:t>項目</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u="none" strike="noStrike" cap="none" dirty="0">
                          <a:solidFill>
                            <a:schemeClr val="lt1"/>
                          </a:solidFill>
                          <a:latin typeface="Meiryo UI" panose="020B0604030504040204" pitchFamily="50" charset="-128"/>
                          <a:ea typeface="Meiryo UI" panose="020B0604030504040204" pitchFamily="50" charset="-128"/>
                        </a:rPr>
                        <a:t>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altLang="en-US" sz="1400" b="1" u="none" strike="noStrike" cap="none" dirty="0">
                          <a:solidFill>
                            <a:schemeClr val="lt1"/>
                          </a:solidFill>
                          <a:latin typeface="Meiryo UI" panose="020B0604030504040204" pitchFamily="50" charset="-128"/>
                          <a:ea typeface="Meiryo UI" panose="020B0604030504040204" pitchFamily="50" charset="-128"/>
                        </a:rPr>
                        <a:t>確認状況</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880000">
                <a:tc>
                  <a:txBody>
                    <a:bodyPr/>
                    <a:lstStyle/>
                    <a:p>
                      <a:pPr marL="0" marR="0" lvl="0" indent="0" algn="ctr" rtl="0">
                        <a:buNone/>
                      </a:pPr>
                      <a:r>
                        <a:rPr lang="ja-JP" sz="1500" b="0" u="none" strike="noStrike" cap="none" dirty="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sz="1300" u="none" strike="noStrike" cap="none" dirty="0" b="0">
                          <a:solidFill>
                            <a:schemeClr val="dk1"/>
                          </a:solidFill>
                          <a:latin typeface="Meiryo UI" panose="020B0604030504040204" pitchFamily="50" charset="-128"/>
                          <a:ea typeface="Meiryo UI" panose="020B0604030504040204" pitchFamily="50" charset="-128"/>
                        </a:rPr>
                        <a:t>譲渡スキーム</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ja-JP" altLang="en-US" sz="1050" u="none" strike="noStrike" cap="none" dirty="0" b="0">
                          <a:solidFill>
                            <a:schemeClr val="dk1"/>
                          </a:solidFill>
                          <a:latin typeface="Meiryo UI" panose="020B0604030504040204" pitchFamily="50" charset="-128"/>
                          <a:ea typeface="Meiryo UI" panose="020B0604030504040204" pitchFamily="50" charset="-128"/>
                        </a:rPr>
                        <a:t>新設分割により非事業用資産を新設会社へ切り出したうえで、株式会社カナリアの株式100%を譲渡。</a:t>
                      </a:r>
                    </a:p>
                    <a:p>
                      <a:pPr marL="0" marR="0" lvl="0" indent="0" algn="l" rtl="0">
                        <a:buClr>
                          <a:srgbClr val="66A09A"/>
                        </a:buClr>
                        <a:buSzPts val="1120"/>
                        <a:buFont typeface="Arial"/>
                        <a:buNone/>
                      </a:pPr>
                      <a:r>
                        <a:rPr lang="ja-JP" altLang="en-US" sz="1050" u="none" strike="noStrike" cap="none" dirty="0" b="0">
                          <a:solidFill>
                            <a:schemeClr val="dk1"/>
                          </a:solidFill>
                          <a:latin typeface="Meiryo UI" panose="020B0604030504040204" pitchFamily="50" charset="-128"/>
                          <a:ea typeface="Meiryo UI" panose="020B0604030504040204" pitchFamily="50" charset="-128"/>
                        </a:rPr>
                        <a:t>※分割対象・分割後BSイメージは後掲ページをご参照ください。</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ja-JP" sz="15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880000">
                <a:tc>
                  <a:txBody>
                    <a:bodyPr/>
                    <a:lstStyle/>
                    <a:p>
                      <a:pPr marL="0" marR="0" lvl="0" indent="0" algn="ctr" rtl="0">
                        <a:buNone/>
                      </a:pPr>
                      <a:r>
                        <a:rPr lang="ja-JP" sz="1500" b="0" u="none" strike="noStrike" cap="none"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300" u="none" strike="noStrike" cap="none" dirty="0" b="0">
                          <a:solidFill>
                            <a:schemeClr val="dk1"/>
                          </a:solidFill>
                          <a:latin typeface="Meiryo UI" panose="020B0604030504040204" pitchFamily="50" charset="-128"/>
                          <a:ea typeface="Meiryo UI" panose="020B0604030504040204" pitchFamily="50" charset="-128"/>
                        </a:rPr>
                        <a:t>譲渡対象事業</a:t>
                      </a:r>
                    </a:p>
                    <a:p>
                      <a:pPr marL="0" marR="0" lvl="0" indent="0" algn="ctr" rtl="0">
                        <a:buNone/>
                      </a:pPr>
                      <a:r>
                        <a:rPr lang="ja-JP" altLang="en-US" sz="1300" u="none" strike="noStrike" cap="none" dirty="0" b="0">
                          <a:solidFill>
                            <a:schemeClr val="dk1"/>
                          </a:solidFill>
                          <a:latin typeface="Meiryo UI" panose="020B0604030504040204" pitchFamily="50" charset="-128"/>
                          <a:ea typeface="Meiryo UI" panose="020B0604030504040204" pitchFamily="50" charset="-128"/>
                        </a:rPr>
                        <a:t>(対象会社に残置)</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en-US" altLang="ja-JP" sz="1050" u="none" strike="noStrike" cap="none" dirty="0" b="0">
                          <a:solidFill>
                            <a:schemeClr val="dk1"/>
                          </a:solidFill>
                          <a:latin typeface="Meiryo UI" panose="020B0604030504040204" pitchFamily="50" charset="-128"/>
                          <a:ea typeface="Meiryo UI" panose="020B0604030504040204" pitchFamily="50" charset="-128"/>
                        </a:rPr>
                        <a:t>①キャラクターグッズ企画・製造販売事業（ライセンス／版権商品）</a:t>
                      </a:r>
                    </a:p>
                    <a:p>
                      <a:pPr marL="0" marR="0" lvl="0" indent="0" algn="l" rtl="0">
                        <a:buClr>
                          <a:srgbClr val="66A09A"/>
                        </a:buClr>
                        <a:buSzPts val="1120"/>
                        <a:buFont typeface="Arial"/>
                        <a:buNone/>
                      </a:pPr>
                      <a:r>
                        <a:rPr lang="en-US" altLang="ja-JP" sz="1050" u="none" strike="noStrike" cap="none" dirty="0" b="0">
                          <a:solidFill>
                            <a:schemeClr val="dk1"/>
                          </a:solidFill>
                          <a:latin typeface="Meiryo UI" panose="020B0604030504040204" pitchFamily="50" charset="-128"/>
                          <a:ea typeface="Meiryo UI" panose="020B0604030504040204" pitchFamily="50" charset="-128"/>
                        </a:rPr>
                        <a:t>②OEM受託事業</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en-US" sz="15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確認済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chemeClr val="tx2">
                        <a:lumMod val="90000"/>
                      </a:schemeClr>
                    </a:solidFill>
                  </a:tcPr>
                </a:tc>
                <a:extLst>
                  <a:ext uri="{0D108BD9-81ED-4DB2-BD59-A6C34878D82A}">
                    <a16:rowId xmlns:a16="http://schemas.microsoft.com/office/drawing/2014/main" val="10002"/>
                  </a:ext>
                </a:extLst>
              </a:tr>
              <a:tr h="880000">
                <a:tc>
                  <a:txBody>
                    <a:bodyPr/>
                    <a:lstStyle/>
                    <a:p>
                      <a:pPr marL="0" marR="0" lvl="0" indent="0" algn="ctr" rtl="0">
                        <a:buNone/>
                      </a:pPr>
                      <a:r>
                        <a:rPr lang="ja-JP" sz="1500" b="0" u="none" strike="noStrike" cap="none"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300" u="none" strike="noStrike" cap="none" dirty="0" b="0">
                          <a:solidFill>
                            <a:schemeClr val="dk1"/>
                          </a:solidFill>
                          <a:latin typeface="Meiryo UI" panose="020B0604030504040204" pitchFamily="50" charset="-128"/>
                          <a:ea typeface="Meiryo UI" panose="020B0604030504040204" pitchFamily="50" charset="-128"/>
                        </a:rPr>
                        <a:t>分割対象資産</a:t>
                      </a:r>
                    </a:p>
                    <a:p>
                      <a:pPr marL="0" marR="0" lvl="0" indent="0" algn="ctr" rtl="0">
                        <a:buNone/>
                      </a:pPr>
                      <a:r>
                        <a:rPr lang="ja-JP" altLang="en-US" sz="1300" u="none" strike="noStrike" cap="none" dirty="0" b="0">
                          <a:solidFill>
                            <a:schemeClr val="dk1"/>
                          </a:solidFill>
                          <a:latin typeface="Meiryo UI" panose="020B0604030504040204" pitchFamily="50" charset="-128"/>
                          <a:ea typeface="Meiryo UI" panose="020B0604030504040204" pitchFamily="50" charset="-128"/>
                        </a:rPr>
                        <a:t>(新設会社へ承継)</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ja-JP" altLang="en-US" sz="1050" u="none" strike="noStrike" cap="none" dirty="0" b="0">
                          <a:solidFill>
                            <a:schemeClr val="dk1"/>
                          </a:solidFill>
                          <a:latin typeface="Meiryo UI" panose="020B0604030504040204" pitchFamily="50" charset="-128"/>
                          <a:ea typeface="Meiryo UI" panose="020B0604030504040204" pitchFamily="50" charset="-128"/>
                        </a:rPr>
                        <a:t>投資有価証券275,896千円・保険積立金43,327千円・前渡金（ホテル会員権）6,570千円・車両運搬具265千円（計326,058千円）</a:t>
                      </a:r>
                    </a:p>
                    <a:p>
                      <a:pPr marL="0" marR="0" lvl="0" indent="0" algn="l" rtl="0">
                        <a:buClr>
                          <a:srgbClr val="66A09A"/>
                        </a:buClr>
                        <a:buSzPts val="1120"/>
                        <a:buFont typeface="Arial"/>
                        <a:buNone/>
                      </a:pPr>
                      <a:r>
                        <a:rPr lang="ja-JP" altLang="en-US" sz="1050" u="none" strike="noStrike" cap="none" dirty="0" b="0">
                          <a:solidFill>
                            <a:schemeClr val="dk1"/>
                          </a:solidFill>
                          <a:latin typeface="Meiryo UI" panose="020B0604030504040204" pitchFamily="50" charset="-128"/>
                          <a:ea typeface="Meiryo UI" panose="020B0604030504040204" pitchFamily="50" charset="-128"/>
                        </a:rPr>
                        <a:t>※現預金・借入金は全額を対象会社に残置。</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en-US" sz="15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chemeClr val="tx2">
                        <a:lumMod val="90000"/>
                      </a:schemeClr>
                    </a:solidFill>
                  </a:tcPr>
                </a:tc>
                <a:extLst>
                  <a:ext uri="{0D108BD9-81ED-4DB2-BD59-A6C34878D82A}">
                    <a16:rowId xmlns:a16="http://schemas.microsoft.com/office/drawing/2014/main" val="10003"/>
                  </a:ext>
                </a:extLst>
              </a:tr>
              <a:tr h="880000">
                <a:tc>
                  <a:txBody>
                    <a:bodyPr/>
                    <a:lstStyle/>
                    <a:p>
                      <a:pPr marL="0" marR="0" lvl="0" indent="0" algn="ctr" rtl="0">
                        <a:buNone/>
                      </a:pPr>
                      <a:r>
                        <a:rPr lang="ja-JP" sz="1500" b="0" u="none" strike="noStrike" cap="none"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300" u="none" strike="noStrike" cap="none" dirty="0" b="0">
                          <a:solidFill>
                            <a:schemeClr val="dk1"/>
                          </a:solidFill>
                          <a:latin typeface="Meiryo UI" panose="020B0604030504040204" pitchFamily="50" charset="-128"/>
                          <a:ea typeface="Meiryo UI" panose="020B0604030504040204" pitchFamily="50" charset="-128"/>
                        </a:rPr>
                        <a:t>金額面の条件</a:t>
                      </a:r>
                    </a:p>
                    <a:p>
                      <a:pPr marL="0" marR="0" lvl="0" indent="0" algn="ctr" rtl="0">
                        <a:buNone/>
                      </a:pPr>
                      <a:r>
                        <a:rPr lang="ja-JP" altLang="en-US" sz="1300" u="none" strike="noStrike" cap="none" dirty="0" b="0">
                          <a:solidFill>
                            <a:schemeClr val="dk1"/>
                          </a:solidFill>
                          <a:latin typeface="Meiryo UI" panose="020B0604030504040204" pitchFamily="50" charset="-128"/>
                          <a:ea typeface="Meiryo UI" panose="020B0604030504040204" pitchFamily="50" charset="-128"/>
                        </a:rPr>
                        <a:t>(譲渡対価)</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・譲渡希望価格：2億円</a:t>
                      </a:r>
                    </a:p>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※2026年1月期 売上高422,475千円・調整後EBITDA45,877千円</a:t>
                      </a:r>
                    </a:p>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※会社分割後（非事業用資産の控除後）ベースの価額かを要確認。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ja-JP" sz="15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880000">
                <a:tc>
                  <a:txBody>
                    <a:bodyPr/>
                    <a:lstStyle/>
                    <a:p>
                      <a:pPr marL="0" marR="0" lvl="0" indent="0" algn="ctr" rtl="0">
                        <a:buNone/>
                      </a:pPr>
                      <a:r>
                        <a:rPr lang="en-US" sz="1500" b="0" u="none" strike="noStrike" cap="none"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sz="1300" u="none" strike="noStrike" cap="none" dirty="0" b="0">
                          <a:solidFill>
                            <a:schemeClr val="dk1"/>
                          </a:solidFill>
                          <a:latin typeface="Meiryo UI" panose="020B0604030504040204" pitchFamily="50" charset="-128"/>
                          <a:ea typeface="Meiryo UI" panose="020B0604030504040204" pitchFamily="50" charset="-128"/>
                        </a:rPr>
                        <a:t>野口社長の</a:t>
                      </a:r>
                    </a:p>
                    <a:p>
                      <a:pPr marL="0" marR="0" lvl="0" indent="0" algn="ctr" rtl="0">
                        <a:buNone/>
                      </a:pPr>
                      <a:r>
                        <a:rPr lang="ja-JP" sz="1300" u="none" strike="noStrike" cap="none" dirty="0" b="0">
                          <a:solidFill>
                            <a:schemeClr val="dk1"/>
                          </a:solidFill>
                          <a:latin typeface="Meiryo UI" panose="020B0604030504040204" pitchFamily="50" charset="-128"/>
                          <a:ea typeface="Meiryo UI" panose="020B0604030504040204" pitchFamily="50" charset="-128"/>
                        </a:rPr>
                        <a:t>継続勤務条件</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ja-JP" sz="1050" b="0" u="none" strike="noStrike" cap="none" dirty="0">
                          <a:solidFill>
                            <a:schemeClr val="dk1"/>
                          </a:solidFill>
                          <a:latin typeface="Meiryo UI" panose="020B0604030504040204" pitchFamily="50" charset="-128"/>
                          <a:ea typeface="Meiryo UI" panose="020B0604030504040204" pitchFamily="50" charset="-128"/>
                        </a:rPr>
                        <a:t>・期間：譲渡後7年程度（55歳まで／現在48歳）</a:t>
                      </a:r>
                    </a:p>
                    <a:p>
                      <a:pPr marL="0" marR="0" lvl="0" indent="0" algn="l" rtl="0">
                        <a:buClr>
                          <a:srgbClr val="66A09A"/>
                        </a:buClr>
                        <a:buSzPts val="1120"/>
                        <a:buFont typeface="Arial"/>
                        <a:buNone/>
                      </a:pPr>
                      <a:r>
                        <a:rPr lang="ja-JP" sz="1050" b="0" u="none" strike="noStrike" cap="none" dirty="0">
                          <a:solidFill>
                            <a:schemeClr val="dk1"/>
                          </a:solidFill>
                          <a:latin typeface="Meiryo UI" panose="020B0604030504040204" pitchFamily="50" charset="-128"/>
                          <a:ea typeface="Meiryo UI" panose="020B0604030504040204" pitchFamily="50" charset="-128"/>
                        </a:rPr>
                        <a:t>・役員報酬：1,200万円以上（2026年1月期実績21,104千円）</a:t>
                      </a:r>
                    </a:p>
                    <a:p>
                      <a:pPr marL="0" marR="0" lvl="0" indent="0" algn="l" rtl="0">
                        <a:buClr>
                          <a:srgbClr val="66A09A"/>
                        </a:buClr>
                        <a:buSzPts val="1120"/>
                        <a:buFont typeface="Arial"/>
                        <a:buNone/>
                      </a:pPr>
                      <a:r>
                        <a:rPr lang="ja-JP" sz="1050" b="0" u="none" strike="noStrike" cap="none" dirty="0">
                          <a:solidFill>
                            <a:schemeClr val="dk1"/>
                          </a:solidFill>
                          <a:latin typeface="Meiryo UI" panose="020B0604030504040204" pitchFamily="50" charset="-128"/>
                          <a:ea typeface="Meiryo UI" panose="020B0604030504040204" pitchFamily="50" charset="-128"/>
                        </a:rPr>
                        <a:t>・業績連動インセンティブの設計をご希望</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en-US" sz="15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chemeClr val="tx2">
                        <a:lumMod val="90000"/>
                      </a:schemeClr>
                    </a:solidFill>
                  </a:tcPr>
                </a:tc>
                <a:extLst>
                  <a:ext uri="{0D108BD9-81ED-4DB2-BD59-A6C34878D82A}">
                    <a16:rowId xmlns:a16="http://schemas.microsoft.com/office/drawing/2014/main" val="10007"/>
                  </a:ext>
                </a:extLst>
              </a:tr>
              <a:tr h="88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従業員の雇用</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chemeClr val="dk1"/>
                        </a:buClr>
                        <a:buSzPts val="1400"/>
                        <a:buFont typeface="Arial"/>
                        <a:buNone/>
                      </a:pPr>
                      <a:r>
                        <a:rPr lang="ja-JP" altLang="en-US" sz="1050" dirty="0" b="0">
                          <a:solidFill>
                            <a:schemeClr val="dk1"/>
                          </a:solidFill>
                          <a:latin typeface="Meiryo UI" panose="020B0604030504040204" pitchFamily="50" charset="-128"/>
                          <a:ea typeface="Meiryo UI" panose="020B0604030504040204" pitchFamily="50" charset="-128"/>
                          <a:cs typeface="Arial"/>
                          <a:sym typeface="Arial"/>
                        </a:rPr>
                        <a:t>正社員7名。株式譲渡のため雇用契約は包括承継され、転籍手続は不要。</a:t>
                      </a:r>
                    </a:p>
                    <a:p>
                      <a:pPr marL="0" marR="0" lvl="0" indent="0" algn="l" rtl="0">
                        <a:lnSpc>
                          <a:spcPct val="100000"/>
                        </a:lnSpc>
                        <a:buClr>
                          <a:schemeClr val="dk1"/>
                        </a:buClr>
                        <a:buSzPts val="1400"/>
                        <a:buFont typeface="Arial"/>
                        <a:buNone/>
                      </a:pPr>
                      <a:r>
                        <a:rPr lang="ja-JP" altLang="en-US" sz="1050" dirty="0" b="0">
                          <a:solidFill>
                            <a:schemeClr val="dk1"/>
                          </a:solidFill>
                          <a:latin typeface="Meiryo UI" panose="020B0604030504040204" pitchFamily="50" charset="-128"/>
                          <a:ea typeface="Meiryo UI" panose="020B0604030504040204" pitchFamily="50" charset="-128"/>
                          <a:cs typeface="Arial"/>
                          <a:sym typeface="Arial"/>
                        </a:rPr>
                        <a:t>※雇用条件を維持しての継続雇用が譲渡の付帯条件。</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en-US" sz="15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確認済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chemeClr val="tx2">
                        <a:lumMod val="90000"/>
                      </a:schemeClr>
                    </a:solidFill>
                  </a:tcPr>
                </a:tc>
                <a:extLst>
                  <a:ext uri="{0D108BD9-81ED-4DB2-BD59-A6C34878D82A}">
                    <a16:rowId xmlns:a16="http://schemas.microsoft.com/office/drawing/2014/main" val="10008"/>
                  </a:ext>
                </a:extLst>
              </a:tr>
            </a:tbl>
          </a:graphicData>
        </a:graphic>
      </p:graphicFrame>
      <p:sp>
        <p:nvSpPr>
          <p:cNvPr id="208" name="Google Shape;208;p3"/>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【記載時の留意事項】</a:t>
            </a:r>
            <a:endParaRPr dirty="0"/>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１．譲渡スキームについて、株式譲渡の際は株券発行の有無（謄本確認）、株券発行の場合、印刷しているか（インタビュー）を確認し、株券不発行会社（株券廃止手続）にするかも確認。</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　</a:t>
            </a:r>
            <a:r>
              <a:rPr lang="ja-JP" sz="1200" b="0" i="0" u="none" strike="noStrike" cap="none" dirty="0">
                <a:solidFill>
                  <a:srgbClr val="FF0000"/>
                </a:solidFill>
                <a:latin typeface="Arial"/>
                <a:ea typeface="Arial"/>
                <a:cs typeface="Arial"/>
                <a:sym typeface="Arial"/>
              </a:rPr>
              <a:t>会社分割や事業譲渡の場合、譲渡対象やスケジュール感</a:t>
            </a:r>
            <a:r>
              <a:rPr lang="ja-JP" sz="1200" b="0" i="0" u="none" strike="noStrike" cap="none" dirty="0">
                <a:solidFill>
                  <a:schemeClr val="dk1"/>
                </a:solidFill>
                <a:latin typeface="Arial"/>
                <a:ea typeface="Arial"/>
                <a:cs typeface="Arial"/>
                <a:sym typeface="Arial"/>
              </a:rPr>
              <a:t>を固めること。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２．譲渡比率が一部譲渡の際は、譲渡しない株主が論点にならないか等を確認ください。</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３．金額面の条件について、希望株価をここでは記載するが、</a:t>
            </a:r>
            <a:r>
              <a:rPr lang="ja-JP" sz="1200" b="0" i="0" u="none" strike="noStrike" cap="none" dirty="0">
                <a:solidFill>
                  <a:srgbClr val="FF0000"/>
                </a:solidFill>
                <a:latin typeface="Arial"/>
                <a:ea typeface="Arial"/>
                <a:cs typeface="Arial"/>
                <a:sym typeface="Arial"/>
              </a:rPr>
              <a:t>最低応諾価格は把握しておくこと。希望株価はいつの時点の決算かを把握し、今期決算をどこまで織り込むか</a:t>
            </a:r>
            <a:r>
              <a:rPr lang="ja-JP" sz="1200" b="0" i="0" u="none" strike="noStrike" cap="none" dirty="0">
                <a:solidFill>
                  <a:schemeClr val="dk1"/>
                </a:solidFill>
                <a:latin typeface="Arial"/>
                <a:ea typeface="Arial"/>
                <a:cs typeface="Arial"/>
                <a:sym typeface="Arial"/>
              </a:rPr>
              <a:t>も留意すること。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４．役員退職金について、一般的に、</a:t>
            </a:r>
            <a:r>
              <a:rPr lang="ja-JP" sz="1200" b="0" i="0" u="none" strike="noStrike" cap="none" dirty="0">
                <a:solidFill>
                  <a:srgbClr val="FF0000"/>
                </a:solidFill>
                <a:latin typeface="Arial"/>
                <a:ea typeface="Arial"/>
                <a:cs typeface="Arial"/>
                <a:sym typeface="Arial"/>
              </a:rPr>
              <a:t>売り手は手取最大化、買い手は損金限度額まで支給したいニーズがあり、両者のニーズが合致しないので、気を付ける。</a:t>
            </a:r>
            <a:r>
              <a:rPr lang="ja-JP" sz="1200" b="0" i="0" u="none" strike="noStrike" cap="none" dirty="0">
                <a:solidFill>
                  <a:schemeClr val="dk1"/>
                </a:solidFill>
                <a:latin typeface="Arial"/>
                <a:ea typeface="Arial"/>
                <a:cs typeface="Arial"/>
                <a:sym typeface="Arial"/>
              </a:rPr>
              <a:t>また、対象企業で原資があるかどうか、エスクロー実施するかどうかも確認する。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５． ６．役員借入金（対象会社がオーナーから借りている借入金）/貸付金（対象会社からオーナーへ貸付している貸付金）は金額が大きく変動することもあり、常に更新する。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７．社長の引継ぎ条件については、条件は当然として、</a:t>
            </a:r>
            <a:r>
              <a:rPr lang="ja-JP" sz="1200" b="0" i="0" u="none" strike="noStrike" cap="none" dirty="0">
                <a:solidFill>
                  <a:srgbClr val="FF0000"/>
                </a:solidFill>
                <a:latin typeface="Arial"/>
                <a:ea typeface="Arial"/>
                <a:cs typeface="Arial"/>
                <a:sym typeface="Arial"/>
              </a:rPr>
              <a:t>社長の業務（経営判断・営業・経理等）を把握し、人材を派遣する必要があるのか？社内からの昇格を行うのか？</a:t>
            </a:r>
            <a:r>
              <a:rPr lang="ja-JP" sz="1200" b="0" i="0" u="none" strike="noStrike" cap="none" dirty="0">
                <a:solidFill>
                  <a:schemeClr val="dk1"/>
                </a:solidFill>
                <a:latin typeface="Arial"/>
                <a:ea typeface="Arial"/>
                <a:cs typeface="Arial"/>
                <a:sym typeface="Arial"/>
              </a:rPr>
              <a:t>なども確認する。</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E060CC70-4C07-22C4-4441-531594981EE0}"/>
            </a:ext>
          </a:extLst>
        </p:cNvPr>
        <p:cNvGrpSpPr/>
        <p:nvPr/>
      </p:nvGrpSpPr>
      <p:grpSpPr>
        <a:xfrm>
          <a:off x="0" y="0"/>
          <a:ext cx="0" cy="0"/>
          <a:chOff x="0" y="0"/>
          <a:chExt cx="0" cy="0"/>
        </a:xfrm>
      </p:grpSpPr>
      <p:sp>
        <p:nvSpPr>
          <p:cNvPr id="204" name="Google Shape;204;p3">
            <a:extLst>
              <a:ext uri="{FF2B5EF4-FFF2-40B4-BE49-F238E27FC236}">
                <a16:creationId xmlns:a16="http://schemas.microsoft.com/office/drawing/2014/main" id="{4EC6EFC1-ACE6-BC29-270A-1AE778498429}"/>
              </a:ext>
            </a:extLst>
          </p:cNvPr>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lvl="0"/>
            <a:r>
              <a:rPr lang="ja-JP" altLang="en-US" dirty="0">
                <a:solidFill>
                  <a:srgbClr val="5A5A5A"/>
                </a:solidFill>
                <a:latin typeface="Meiryo UI" panose="020B0604030504040204" pitchFamily="50" charset="-128"/>
                <a:ea typeface="Meiryo UI" panose="020B0604030504040204" pitchFamily="50" charset="-128"/>
              </a:rPr>
              <a:t>会社分割スキームの前提整理</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a:extLst>
              <a:ext uri="{FF2B5EF4-FFF2-40B4-BE49-F238E27FC236}">
                <a16:creationId xmlns:a16="http://schemas.microsoft.com/office/drawing/2014/main" id="{B83F51F1-B261-0626-851A-31131A041479}"/>
              </a:ext>
            </a:extLst>
          </p:cNvPr>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a:solidFill>
                  <a:srgbClr val="5A5A5A"/>
                </a:solidFill>
                <a:latin typeface="Meiryo UI" panose="020B0604030504040204" pitchFamily="50" charset="-128"/>
                <a:ea typeface="Meiryo UI" panose="020B0604030504040204" pitchFamily="50" charset="-128"/>
                <a:sym typeface="Arial"/>
              </a:rPr>
              <a:t>各種条件について</a:t>
            </a:r>
            <a:endParaRPr>
              <a:latin typeface="Meiryo UI" panose="020B0604030504040204" pitchFamily="50" charset="-128"/>
              <a:ea typeface="Meiryo UI" panose="020B0604030504040204" pitchFamily="50" charset="-128"/>
            </a:endParaRPr>
          </a:p>
        </p:txBody>
      </p:sp>
      <p:sp>
        <p:nvSpPr>
          <p:cNvPr id="206" name="Google Shape;206;p3">
            <a:extLst>
              <a:ext uri="{FF2B5EF4-FFF2-40B4-BE49-F238E27FC236}">
                <a16:creationId xmlns:a16="http://schemas.microsoft.com/office/drawing/2014/main" id="{05AD748F-3EFD-92FD-98FA-7D2ACBDDA092}"/>
              </a:ext>
            </a:extLst>
          </p:cNvPr>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sp>
        <p:nvSpPr>
          <p:cNvPr id="208" name="Google Shape;208;p3">
            <a:extLst>
              <a:ext uri="{FF2B5EF4-FFF2-40B4-BE49-F238E27FC236}">
                <a16:creationId xmlns:a16="http://schemas.microsoft.com/office/drawing/2014/main" id="{FEFA887B-BAB0-4A91-060D-6EB5B38CA70D}"/>
              </a:ext>
            </a:extLst>
          </p:cNvPr>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【記載時の留意事項】</a:t>
            </a:r>
            <a:endParaRPr dirty="0"/>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１．譲渡スキームについて、株式譲渡の際は株券発行の有無（謄本確認）、株券発行の場合、印刷しているか（インタビュー）を確認し、株券不発行会社（株券廃止手続）にするかも確認。</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　</a:t>
            </a:r>
            <a:r>
              <a:rPr lang="ja-JP" sz="1200" b="0" i="0" u="none" strike="noStrike" cap="none" dirty="0">
                <a:solidFill>
                  <a:srgbClr val="FF0000"/>
                </a:solidFill>
                <a:latin typeface="Arial"/>
                <a:ea typeface="Arial"/>
                <a:cs typeface="Arial"/>
                <a:sym typeface="Arial"/>
              </a:rPr>
              <a:t>会社分割や事業譲渡の場合、譲渡対象やスケジュール感</a:t>
            </a:r>
            <a:r>
              <a:rPr lang="ja-JP" sz="1200" b="0" i="0" u="none" strike="noStrike" cap="none" dirty="0">
                <a:solidFill>
                  <a:schemeClr val="dk1"/>
                </a:solidFill>
                <a:latin typeface="Arial"/>
                <a:ea typeface="Arial"/>
                <a:cs typeface="Arial"/>
                <a:sym typeface="Arial"/>
              </a:rPr>
              <a:t>を固めること。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２．譲渡比率が一部譲渡の際は、譲渡しない株主が論点にならないか等を確認ください。</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３．金額面の条件について、希望株価をここでは記載するが、</a:t>
            </a:r>
            <a:r>
              <a:rPr lang="ja-JP" sz="1200" b="0" i="0" u="none" strike="noStrike" cap="none" dirty="0">
                <a:solidFill>
                  <a:srgbClr val="FF0000"/>
                </a:solidFill>
                <a:latin typeface="Arial"/>
                <a:ea typeface="Arial"/>
                <a:cs typeface="Arial"/>
                <a:sym typeface="Arial"/>
              </a:rPr>
              <a:t>最低応諾価格は把握しておくこと。希望株価はいつの時点の決算かを把握し、今期決算をどこまで織り込むか</a:t>
            </a:r>
            <a:r>
              <a:rPr lang="ja-JP" sz="1200" b="0" i="0" u="none" strike="noStrike" cap="none" dirty="0">
                <a:solidFill>
                  <a:schemeClr val="dk1"/>
                </a:solidFill>
                <a:latin typeface="Arial"/>
                <a:ea typeface="Arial"/>
                <a:cs typeface="Arial"/>
                <a:sym typeface="Arial"/>
              </a:rPr>
              <a:t>も留意すること。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４．役員退職金について、一般的に、</a:t>
            </a:r>
            <a:r>
              <a:rPr lang="ja-JP" sz="1200" b="0" i="0" u="none" strike="noStrike" cap="none" dirty="0">
                <a:solidFill>
                  <a:srgbClr val="FF0000"/>
                </a:solidFill>
                <a:latin typeface="Arial"/>
                <a:ea typeface="Arial"/>
                <a:cs typeface="Arial"/>
                <a:sym typeface="Arial"/>
              </a:rPr>
              <a:t>売り手は手取最大化、買い手は損金限度額まで支給したいニーズがあり、両者のニーズが合致しないので、気を付ける。</a:t>
            </a:r>
            <a:r>
              <a:rPr lang="ja-JP" sz="1200" b="0" i="0" u="none" strike="noStrike" cap="none" dirty="0">
                <a:solidFill>
                  <a:schemeClr val="dk1"/>
                </a:solidFill>
                <a:latin typeface="Arial"/>
                <a:ea typeface="Arial"/>
                <a:cs typeface="Arial"/>
                <a:sym typeface="Arial"/>
              </a:rPr>
              <a:t>また、対象企業で原資があるかどうか、エスクロー実施するかどうかも確認する。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５． ６．役員借入金（対象会社がオーナーから借りている借入金）/貸付金（対象会社からオーナーへ貸付している貸付金）は金額が大きく変動することもあり、常に更新する。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７．社長の引継ぎ条件については、条件は当然として、</a:t>
            </a:r>
            <a:r>
              <a:rPr lang="ja-JP" sz="1200" b="0" i="0" u="none" strike="noStrike" cap="none" dirty="0">
                <a:solidFill>
                  <a:srgbClr val="FF0000"/>
                </a:solidFill>
                <a:latin typeface="Arial"/>
                <a:ea typeface="Arial"/>
                <a:cs typeface="Arial"/>
                <a:sym typeface="Arial"/>
              </a:rPr>
              <a:t>社長の業務（経営判断・営業・経理等）を把握し、人材を派遣する必要があるのか？社内からの昇格を行うのか？</a:t>
            </a:r>
            <a:r>
              <a:rPr lang="ja-JP" sz="1200" b="0" i="0" u="none" strike="noStrike" cap="none" dirty="0">
                <a:solidFill>
                  <a:schemeClr val="dk1"/>
                </a:solidFill>
                <a:latin typeface="Arial"/>
                <a:ea typeface="Arial"/>
                <a:cs typeface="Arial"/>
                <a:sym typeface="Arial"/>
              </a:rPr>
              <a:t>なども確認する。</a:t>
            </a:r>
            <a:endParaRPr dirty="0"/>
          </a:p>
        </p:txBody>
      </p:sp>
      <p:sp>
        <p:nvSpPr>
          <p:cNvPr id="5" name="TextBox 209">
            <a:extLst>
              <a:ext uri="{FF2B5EF4-FFF2-40B4-BE49-F238E27FC236}">
                <a16:creationId xmlns:a16="http://schemas.microsoft.com/office/drawing/2014/main" id="{503165E7-17CD-D25F-9777-A78472EC3C28}"/>
              </a:ext>
            </a:extLst>
          </p:cNvPr>
          <p:cNvSpPr txBox="1"/>
          <p:nvPr/>
        </p:nvSpPr>
        <p:spPr>
          <a:xfrm>
            <a:off x="265176" y="836613"/>
            <a:ext cx="8631936" cy="461665"/>
          </a:xfrm>
          <a:prstGeom prst="rect">
            <a:avLst/>
          </a:prstGeom>
          <a:noFill/>
        </p:spPr>
        <p:txBody>
          <a:bodyPr wrap="square">
            <a:spAutoFit/>
          </a:bodyPr>
          <a:lstStyle/>
          <a:p>
            <a:r>
              <a:rPr lang="en-US" altLang="ja-JP" sz="1200" dirty="0">
                <a:latin typeface="Meiryo UI"/>
                <a:ea typeface="Meiryo UI"/>
              </a:rPr>
              <a:t>2026年1月期末のBSをベースに、新設分割により非事業用資産（投資有価証券・保険積立金・車両運搬具等）を新設会社へ承継。対象会社には事業用資産・負債および現預金を全額残置する前提。</a:t>
            </a:r>
          </a:p>
        </p:txBody>
      </p:sp>
      <p:sp>
        <p:nvSpPr>
          <p:cNvPr id="7" name="Rectangle 207">
            <a:extLst>
              <a:ext uri="{FF2B5EF4-FFF2-40B4-BE49-F238E27FC236}">
                <a16:creationId xmlns:a16="http://schemas.microsoft.com/office/drawing/2014/main" id="{1F6C2968-23D0-08B8-2589-19533BC71975}"/>
              </a:ext>
            </a:extLst>
          </p:cNvPr>
          <p:cNvSpPr/>
          <p:nvPr/>
        </p:nvSpPr>
        <p:spPr>
          <a:xfrm>
            <a:off x="411480" y="1600200"/>
            <a:ext cx="2514600" cy="4023360"/>
          </a:xfrm>
          <a:prstGeom prst="rect">
            <a:avLst/>
          </a:prstGeom>
          <a:solidFill>
            <a:srgbClr val="FFFFFF"/>
          </a:solid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9" name="Rectangle 208">
            <a:extLst>
              <a:ext uri="{FF2B5EF4-FFF2-40B4-BE49-F238E27FC236}">
                <a16:creationId xmlns:a16="http://schemas.microsoft.com/office/drawing/2014/main" id="{B8626540-0E1B-740C-73DC-712E1D18583A}"/>
              </a:ext>
            </a:extLst>
          </p:cNvPr>
          <p:cNvSpPr/>
          <p:nvPr/>
        </p:nvSpPr>
        <p:spPr>
          <a:xfrm>
            <a:off x="411480" y="1600200"/>
            <a:ext cx="251460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050" b="1">
                <a:solidFill>
                  <a:srgbClr val="FFFFFF"/>
                </a:solidFill>
                <a:latin typeface="Meiryo UI"/>
                <a:ea typeface="Meiryo UI"/>
              </a:rPr>
              <a:t>現状｜株式会社カナリア</a:t>
            </a:r>
          </a:p>
        </p:txBody>
      </p:sp>
      <p:sp>
        <p:nvSpPr>
          <p:cNvPr id="11" name="TextBox 209">
            <a:extLst>
              <a:ext uri="{FF2B5EF4-FFF2-40B4-BE49-F238E27FC236}">
                <a16:creationId xmlns:a16="http://schemas.microsoft.com/office/drawing/2014/main" id="{ED42AF1F-F165-3A14-72B4-935E943E23E1}"/>
              </a:ext>
            </a:extLst>
          </p:cNvPr>
          <p:cNvSpPr txBox="1"/>
          <p:nvPr/>
        </p:nvSpPr>
        <p:spPr>
          <a:xfrm>
            <a:off x="530352" y="2103120"/>
            <a:ext cx="2331720" cy="3383280"/>
          </a:xfrm>
          <a:prstGeom prst="rect">
            <a:avLst/>
          </a:prstGeom>
          <a:noFill/>
        </p:spPr>
        <p:txBody>
          <a:bodyPr wrap="square" lIns="54000" tIns="27000" rIns="54000" bIns="27000" anchor="t">
            <a:spAutoFit/>
          </a:bodyPr>
          <a:lstStyle/>
          <a:p>
            <a:pPr algn="l"/>
            <a:r>
              <a:rPr lang="ja-JP" sz="950" b="0">
                <a:solidFill>
                  <a:srgbClr val="000000"/>
                </a:solidFill>
                <a:latin typeface="Meiryo UI"/>
                <a:ea typeface="Meiryo UI"/>
              </a:rPr>
              <a:t>① キャラクターグッズ企画・製造販売事業</a:t>
            </a:r>
          </a:p>
          <a:p>
            <a:pPr algn="l"/>
            <a:r>
              <a:rPr lang="ja-JP" sz="950" b="0">
                <a:solidFill>
                  <a:srgbClr val="000000"/>
                </a:solidFill>
                <a:latin typeface="Meiryo UI"/>
                <a:ea typeface="Meiryo UI"/>
              </a:rPr>
              <a:t>② OEM受託事業</a:t>
            </a:r>
          </a:p>
          <a:p>
            <a:pPr algn="l"/>
            <a:r>
              <a:rPr lang="ja-JP" sz="950" b="0">
                <a:solidFill>
                  <a:srgbClr val="000000"/>
                </a:solidFill>
                <a:latin typeface="Meiryo UI"/>
                <a:ea typeface="Meiryo UI"/>
              </a:rPr>
              <a:t>③ 非事業用資産の保有</a:t>
            </a:r>
          </a:p>
          <a:p>
            <a:pPr algn="l"/>
            <a:r>
              <a:rPr lang="ja-JP" sz="950" b="0">
                <a:solidFill>
                  <a:srgbClr val="000000"/>
                </a:solidFill>
                <a:latin typeface="Meiryo UI"/>
                <a:ea typeface="Meiryo UI"/>
              </a:rPr>
              <a:t>─────────────</a:t>
            </a:r>
          </a:p>
          <a:p>
            <a:pPr algn="l"/>
            <a:r>
              <a:rPr lang="ja-JP" sz="950" b="0">
                <a:solidFill>
                  <a:srgbClr val="000000"/>
                </a:solidFill>
                <a:latin typeface="Meiryo UI"/>
                <a:ea typeface="Meiryo UI"/>
              </a:rPr>
              <a:t>現預金 193,226千円</a:t>
            </a:r>
          </a:p>
          <a:p>
            <a:pPr algn="l"/>
            <a:r>
              <a:rPr lang="ja-JP" sz="950" b="0">
                <a:solidFill>
                  <a:srgbClr val="000000"/>
                </a:solidFill>
                <a:latin typeface="Meiryo UI"/>
                <a:ea typeface="Meiryo UI"/>
              </a:rPr>
              <a:t>投資有価証券 275,896千円</a:t>
            </a:r>
          </a:p>
          <a:p>
            <a:pPr algn="l"/>
            <a:r>
              <a:rPr lang="ja-JP" sz="950" b="0">
                <a:solidFill>
                  <a:srgbClr val="000000"/>
                </a:solidFill>
                <a:latin typeface="Meiryo UI"/>
                <a:ea typeface="Meiryo UI"/>
              </a:rPr>
              <a:t>保険積立金 43,327千円</a:t>
            </a:r>
          </a:p>
          <a:p>
            <a:pPr algn="l"/>
            <a:r>
              <a:rPr lang="ja-JP" sz="950" b="0">
                <a:solidFill>
                  <a:srgbClr val="000000"/>
                </a:solidFill>
                <a:latin typeface="Meiryo UI"/>
                <a:ea typeface="Meiryo UI"/>
              </a:rPr>
              <a:t>借入金 187,808千円</a:t>
            </a:r>
          </a:p>
          <a:p>
            <a:pPr algn="l"/>
            <a:r>
              <a:rPr lang="ja-JP" sz="950" b="0">
                <a:solidFill>
                  <a:srgbClr val="000000"/>
                </a:solidFill>
                <a:latin typeface="Meiryo UI"/>
                <a:ea typeface="Meiryo UI"/>
              </a:rPr>
              <a:t>その他資産・負債</a:t>
            </a:r>
          </a:p>
        </p:txBody>
      </p:sp>
      <p:sp>
        <p:nvSpPr>
          <p:cNvPr id="13" name="Right Arrow 210">
            <a:extLst>
              <a:ext uri="{FF2B5EF4-FFF2-40B4-BE49-F238E27FC236}">
                <a16:creationId xmlns:a16="http://schemas.microsoft.com/office/drawing/2014/main" id="{FF15E4F8-9F53-A15C-B68E-64E159215B7A}"/>
              </a:ext>
            </a:extLst>
          </p:cNvPr>
          <p:cNvSpPr/>
          <p:nvPr/>
        </p:nvSpPr>
        <p:spPr>
          <a:xfrm>
            <a:off x="3063240" y="3246120"/>
            <a:ext cx="868680" cy="6858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850" b="1">
                <a:solidFill>
                  <a:srgbClr val="203864"/>
                </a:solidFill>
                <a:latin typeface="Meiryo UI"/>
                <a:ea typeface="Meiryo UI"/>
              </a:rPr>
              <a:t>新設分割</a:t>
            </a:r>
          </a:p>
        </p:txBody>
      </p:sp>
      <p:sp>
        <p:nvSpPr>
          <p:cNvPr id="15" name="Rectangle 211">
            <a:extLst>
              <a:ext uri="{FF2B5EF4-FFF2-40B4-BE49-F238E27FC236}">
                <a16:creationId xmlns:a16="http://schemas.microsoft.com/office/drawing/2014/main" id="{D2DE299A-D820-1D49-CFD7-B1582CCFE55F}"/>
              </a:ext>
            </a:extLst>
          </p:cNvPr>
          <p:cNvSpPr/>
          <p:nvPr/>
        </p:nvSpPr>
        <p:spPr>
          <a:xfrm>
            <a:off x="4069080" y="1600200"/>
            <a:ext cx="4663440" cy="210312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17" name="Rectangle 212">
            <a:extLst>
              <a:ext uri="{FF2B5EF4-FFF2-40B4-BE49-F238E27FC236}">
                <a16:creationId xmlns:a16="http://schemas.microsoft.com/office/drawing/2014/main" id="{868696E2-E177-7722-970A-D79625123DD8}"/>
              </a:ext>
            </a:extLst>
          </p:cNvPr>
          <p:cNvSpPr/>
          <p:nvPr/>
        </p:nvSpPr>
        <p:spPr>
          <a:xfrm>
            <a:off x="4069080" y="1600200"/>
            <a:ext cx="466344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altLang="en-US" sz="1000" b="1" dirty="0">
                <a:solidFill>
                  <a:srgbClr val="FFFFFF"/>
                </a:solidFill>
                <a:latin typeface="Meiryo UI"/>
                <a:ea typeface="Meiryo UI"/>
              </a:rPr>
              <a:t>対象会社（株式会社カナリア）｜株式100%譲渡</a:t>
            </a:r>
          </a:p>
        </p:txBody>
      </p:sp>
      <p:sp>
        <p:nvSpPr>
          <p:cNvPr id="19" name="TextBox 213">
            <a:extLst>
              <a:ext uri="{FF2B5EF4-FFF2-40B4-BE49-F238E27FC236}">
                <a16:creationId xmlns:a16="http://schemas.microsoft.com/office/drawing/2014/main" id="{1B19AD1E-6226-1E23-5D70-96453057B1ED}"/>
              </a:ext>
            </a:extLst>
          </p:cNvPr>
          <p:cNvSpPr txBox="1"/>
          <p:nvPr/>
        </p:nvSpPr>
        <p:spPr>
          <a:xfrm>
            <a:off x="4206240" y="2057400"/>
            <a:ext cx="4434840" cy="1600200"/>
          </a:xfrm>
          <a:prstGeom prst="rect">
            <a:avLst/>
          </a:prstGeom>
          <a:noFill/>
        </p:spPr>
        <p:txBody>
          <a:bodyPr wrap="square" lIns="54000" tIns="27000" rIns="54000" bIns="27000" anchor="t">
            <a:spAutoFit/>
          </a:bodyPr>
          <a:lstStyle/>
          <a:p>
            <a:pPr algn="l"/>
            <a:r>
              <a:rPr lang="ja-JP" sz="950" b="0" dirty="0">
                <a:solidFill>
                  <a:srgbClr val="000000"/>
                </a:solidFill>
                <a:latin typeface="Meiryo UI"/>
                <a:ea typeface="Meiryo UI"/>
              </a:rPr>
              <a:t>・キャラクターグッズ企画・製造販売／OEM受託事業</a:t>
            </a:r>
          </a:p>
          <a:p>
            <a:pPr algn="l"/>
            <a:r>
              <a:rPr lang="ja-JP" sz="950" b="0" dirty="0">
                <a:solidFill>
                  <a:srgbClr val="000000"/>
                </a:solidFill>
                <a:latin typeface="Meiryo UI"/>
                <a:ea typeface="Meiryo UI"/>
              </a:rPr>
              <a:t>　（従業員・取引先契約・事業用資産）</a:t>
            </a:r>
          </a:p>
          <a:p>
            <a:pPr algn="l"/>
            <a:r>
              <a:rPr lang="ja-JP" sz="950" b="0" dirty="0">
                <a:solidFill>
                  <a:srgbClr val="000000"/>
                </a:solidFill>
                <a:latin typeface="Meiryo UI"/>
                <a:ea typeface="Meiryo UI"/>
              </a:rPr>
              <a:t>・現預金 193,226千円（全額残置）</a:t>
            </a:r>
          </a:p>
          <a:p>
            <a:pPr algn="l"/>
            <a:r>
              <a:rPr lang="ja-JP" sz="950" b="0" dirty="0">
                <a:solidFill>
                  <a:srgbClr val="000000"/>
                </a:solidFill>
                <a:latin typeface="Meiryo UI"/>
                <a:ea typeface="Meiryo UI"/>
              </a:rPr>
              <a:t>・借入金 187,808千円ほか負債を残置</a:t>
            </a:r>
          </a:p>
          <a:p>
            <a:pPr algn="l"/>
            <a:r>
              <a:rPr lang="ja-JP" sz="950" b="0" dirty="0">
                <a:solidFill>
                  <a:srgbClr val="000000"/>
                </a:solidFill>
                <a:latin typeface="Meiryo UI"/>
                <a:ea typeface="Meiryo UI"/>
              </a:rPr>
              <a:t>　→ ネットキャッシュ ＋5,418千円</a:t>
            </a:r>
          </a:p>
        </p:txBody>
      </p:sp>
      <p:sp>
        <p:nvSpPr>
          <p:cNvPr id="21" name="Rectangle 214">
            <a:extLst>
              <a:ext uri="{FF2B5EF4-FFF2-40B4-BE49-F238E27FC236}">
                <a16:creationId xmlns:a16="http://schemas.microsoft.com/office/drawing/2014/main" id="{8ADC3D96-F652-5BE4-9817-ACF34CFC7F59}"/>
              </a:ext>
            </a:extLst>
          </p:cNvPr>
          <p:cNvSpPr/>
          <p:nvPr/>
        </p:nvSpPr>
        <p:spPr>
          <a:xfrm>
            <a:off x="4069080" y="3931920"/>
            <a:ext cx="4663440" cy="1691640"/>
          </a:xfrm>
          <a:prstGeom prst="rect">
            <a:avLst/>
          </a:prstGeom>
          <a:solidFill>
            <a:srgbClr val="F2F2F2"/>
          </a:solidFill>
          <a:ln w="15875">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23" name="Rectangle 215">
            <a:extLst>
              <a:ext uri="{FF2B5EF4-FFF2-40B4-BE49-F238E27FC236}">
                <a16:creationId xmlns:a16="http://schemas.microsoft.com/office/drawing/2014/main" id="{347B4512-0D20-8027-127B-9DD80C63F810}"/>
              </a:ext>
            </a:extLst>
          </p:cNvPr>
          <p:cNvSpPr/>
          <p:nvPr/>
        </p:nvSpPr>
        <p:spPr>
          <a:xfrm>
            <a:off x="4069080" y="3931920"/>
            <a:ext cx="4663440" cy="384048"/>
          </a:xfrm>
          <a:prstGeom prst="rect">
            <a:avLst/>
          </a:prstGeom>
          <a:solidFill>
            <a:srgbClr val="595959"/>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altLang="ja-JP" sz="1000" b="1" dirty="0">
                <a:solidFill>
                  <a:srgbClr val="FFFFFF"/>
                </a:solidFill>
                <a:latin typeface="Meiryo UI"/>
                <a:ea typeface="Meiryo UI"/>
              </a:rPr>
              <a:t>新設会社（会社分割により新設）｜売主様側に残置</a:t>
            </a:r>
          </a:p>
        </p:txBody>
      </p:sp>
      <p:sp>
        <p:nvSpPr>
          <p:cNvPr id="25" name="TextBox 216">
            <a:extLst>
              <a:ext uri="{FF2B5EF4-FFF2-40B4-BE49-F238E27FC236}">
                <a16:creationId xmlns:a16="http://schemas.microsoft.com/office/drawing/2014/main" id="{078E71D1-0F70-6A36-3B9C-95BA2FFDC8DF}"/>
              </a:ext>
            </a:extLst>
          </p:cNvPr>
          <p:cNvSpPr txBox="1"/>
          <p:nvPr/>
        </p:nvSpPr>
        <p:spPr>
          <a:xfrm>
            <a:off x="4206240" y="4389120"/>
            <a:ext cx="4434840" cy="785497"/>
          </a:xfrm>
          <a:prstGeom prst="rect">
            <a:avLst/>
          </a:prstGeom>
          <a:noFill/>
        </p:spPr>
        <p:txBody>
          <a:bodyPr wrap="square" lIns="54000" tIns="27000" rIns="54000" bIns="27000" anchor="t">
            <a:spAutoFit/>
          </a:bodyPr>
          <a:lstStyle/>
          <a:p>
            <a:pPr algn="l"/>
            <a:r>
              <a:rPr lang="ja-JP" sz="950" b="0" dirty="0">
                <a:solidFill>
                  <a:srgbClr val="000000"/>
                </a:solidFill>
                <a:latin typeface="Meiryo UI"/>
                <a:ea typeface="Meiryo UI"/>
              </a:rPr>
              <a:t>・投資有価証券 275,896千円</a:t>
            </a:r>
          </a:p>
          <a:p>
            <a:pPr algn="l"/>
            <a:r>
              <a:rPr lang="ja-JP" sz="950" b="0" dirty="0">
                <a:solidFill>
                  <a:srgbClr val="000000"/>
                </a:solidFill>
                <a:latin typeface="Meiryo UI"/>
                <a:ea typeface="Meiryo UI"/>
              </a:rPr>
              <a:t>・保険積立金 43,327千円</a:t>
            </a:r>
          </a:p>
          <a:p>
            <a:pPr algn="l"/>
            <a:r>
              <a:rPr lang="ja-JP" sz="950" b="0" dirty="0">
                <a:solidFill>
                  <a:srgbClr val="000000"/>
                </a:solidFill>
                <a:latin typeface="Meiryo UI"/>
                <a:ea typeface="Meiryo UI"/>
              </a:rPr>
              <a:t>・前渡金（ホテル会員権）6,570千円</a:t>
            </a:r>
          </a:p>
          <a:p>
            <a:pPr algn="l"/>
            <a:r>
              <a:rPr lang="ja-JP" sz="950" b="0" dirty="0">
                <a:solidFill>
                  <a:srgbClr val="000000"/>
                </a:solidFill>
                <a:latin typeface="Meiryo UI"/>
                <a:ea typeface="Meiryo UI"/>
              </a:rPr>
              <a:t>・車両運搬具 265千円</a:t>
            </a:r>
          </a:p>
          <a:p>
            <a:pPr algn="l"/>
            <a:r>
              <a:rPr lang="ja-JP" sz="950" b="0" dirty="0">
                <a:solidFill>
                  <a:srgbClr val="000000"/>
                </a:solidFill>
                <a:latin typeface="Meiryo UI"/>
                <a:ea typeface="Meiryo UI"/>
              </a:rPr>
              <a:t>・負債 なし</a:t>
            </a:r>
          </a:p>
        </p:txBody>
      </p:sp>
      <p:sp>
        <p:nvSpPr>
          <p:cNvPr id="27" name="TextBox 209">
            <a:extLst>
              <a:ext uri="{FF2B5EF4-FFF2-40B4-BE49-F238E27FC236}">
                <a16:creationId xmlns:a16="http://schemas.microsoft.com/office/drawing/2014/main" id="{20A63D63-6BE0-49DB-AA2E-DCAC11E850C9}"/>
              </a:ext>
            </a:extLst>
          </p:cNvPr>
          <p:cNvSpPr txBox="1"/>
          <p:nvPr/>
        </p:nvSpPr>
        <p:spPr>
          <a:xfrm>
            <a:off x="265176" y="5897880"/>
            <a:ext cx="8631936" cy="323165"/>
          </a:xfrm>
          <a:prstGeom prst="rect">
            <a:avLst/>
          </a:prstGeom>
          <a:noFill/>
        </p:spPr>
        <p:txBody>
          <a:bodyPr wrap="square">
            <a:spAutoFit/>
          </a:bodyPr>
          <a:lstStyle/>
          <a:p>
            <a:r>
              <a:rPr sz="750" dirty="0">
                <a:latin typeface="Meiryo UI"/>
                <a:ea typeface="Meiryo UI"/>
              </a:rPr>
              <a:t>※分割の形態（分割型／分社型）及び分割対象資産の範囲は、野口社長のご意向及び税務上の適格要件を踏まえ、今後の協議事項となります。</a:t>
            </a:r>
          </a:p>
          <a:p>
            <a:r>
              <a:rPr sz="750" dirty="0">
                <a:latin typeface="Meiryo UI"/>
                <a:ea typeface="Meiryo UI"/>
              </a:rPr>
              <a:t>※分割に伴う許認可・契約・労務等の手続、分割期日・株式譲渡実行日のスケジュールは別途整理します。</a:t>
            </a:r>
          </a:p>
        </p:txBody>
      </p:sp>
    </p:spTree>
    <p:extLst>
      <p:ext uri="{BB962C8B-B14F-4D97-AF65-F5344CB8AC3E}">
        <p14:creationId xmlns:p14="http://schemas.microsoft.com/office/powerpoint/2010/main" val="502855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95BC019A-7F9F-28DC-1F66-8C7798117E1F}"/>
            </a:ext>
          </a:extLst>
        </p:cNvPr>
        <p:cNvGrpSpPr/>
        <p:nvPr/>
      </p:nvGrpSpPr>
      <p:grpSpPr>
        <a:xfrm>
          <a:off x="0" y="0"/>
          <a:ext cx="0" cy="0"/>
          <a:chOff x="0" y="0"/>
          <a:chExt cx="0" cy="0"/>
        </a:xfrm>
      </p:grpSpPr>
      <p:sp>
        <p:nvSpPr>
          <p:cNvPr id="204" name="Google Shape;204;p3">
            <a:extLst>
              <a:ext uri="{FF2B5EF4-FFF2-40B4-BE49-F238E27FC236}">
                <a16:creationId xmlns:a16="http://schemas.microsoft.com/office/drawing/2014/main" id="{2D1ED253-F40D-FF0C-6733-FB293BC49945}"/>
              </a:ext>
            </a:extLst>
          </p:cNvPr>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lvl="0"/>
            <a:r>
              <a:rPr lang="ja-JP" altLang="en-US" dirty="0">
                <a:solidFill>
                  <a:srgbClr val="5A5A5A"/>
                </a:solidFill>
                <a:latin typeface="Meiryo UI" panose="020B0604030504040204" pitchFamily="50" charset="-128"/>
                <a:ea typeface="Meiryo UI" panose="020B0604030504040204" pitchFamily="50" charset="-128"/>
              </a:rPr>
              <a:t>分割後B/Sイメージ（2026年1月期末BSベース）</a:t>
            </a:r>
          </a:p>
        </p:txBody>
      </p:sp>
      <p:sp>
        <p:nvSpPr>
          <p:cNvPr id="205" name="Google Shape;205;p3">
            <a:extLst>
              <a:ext uri="{FF2B5EF4-FFF2-40B4-BE49-F238E27FC236}">
                <a16:creationId xmlns:a16="http://schemas.microsoft.com/office/drawing/2014/main" id="{E50847C0-091C-291B-273F-333A519640AC}"/>
              </a:ext>
            </a:extLst>
          </p:cNvPr>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a:solidFill>
                  <a:srgbClr val="5A5A5A"/>
                </a:solidFill>
                <a:latin typeface="Meiryo UI" panose="020B0604030504040204" pitchFamily="50" charset="-128"/>
                <a:ea typeface="Meiryo UI" panose="020B0604030504040204" pitchFamily="50" charset="-128"/>
                <a:sym typeface="Arial"/>
              </a:rPr>
              <a:t>各種条件について</a:t>
            </a:r>
            <a:endParaRPr>
              <a:latin typeface="Meiryo UI" panose="020B0604030504040204" pitchFamily="50" charset="-128"/>
              <a:ea typeface="Meiryo UI" panose="020B0604030504040204" pitchFamily="50" charset="-128"/>
            </a:endParaRPr>
          </a:p>
        </p:txBody>
      </p:sp>
      <p:sp>
        <p:nvSpPr>
          <p:cNvPr id="206" name="Google Shape;206;p3">
            <a:extLst>
              <a:ext uri="{FF2B5EF4-FFF2-40B4-BE49-F238E27FC236}">
                <a16:creationId xmlns:a16="http://schemas.microsoft.com/office/drawing/2014/main" id="{B227A796-C9B0-4950-E952-065264CBF78E}"/>
              </a:ext>
            </a:extLst>
          </p:cNvPr>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sp>
        <p:nvSpPr>
          <p:cNvPr id="208" name="Google Shape;208;p3">
            <a:extLst>
              <a:ext uri="{FF2B5EF4-FFF2-40B4-BE49-F238E27FC236}">
                <a16:creationId xmlns:a16="http://schemas.microsoft.com/office/drawing/2014/main" id="{A7E1A7B2-DD1F-D7B7-9B14-CD1190DF38BE}"/>
              </a:ext>
            </a:extLst>
          </p:cNvPr>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【記載時の留意事項】</a:t>
            </a:r>
            <a:endParaRPr dirty="0"/>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１．譲渡スキームについて、株式譲渡の際は株券発行の有無（謄本確認）、株券発行の場合、印刷しているか（インタビュー）を確認し、株券不発行会社（株券廃止手続）にするかも確認。</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　</a:t>
            </a:r>
            <a:r>
              <a:rPr lang="ja-JP" sz="1200" b="0" i="0" u="none" strike="noStrike" cap="none" dirty="0">
                <a:solidFill>
                  <a:srgbClr val="FF0000"/>
                </a:solidFill>
                <a:latin typeface="Arial"/>
                <a:ea typeface="Arial"/>
                <a:cs typeface="Arial"/>
                <a:sym typeface="Arial"/>
              </a:rPr>
              <a:t>会社分割や事業譲渡の場合、譲渡対象やスケジュール感</a:t>
            </a:r>
            <a:r>
              <a:rPr lang="ja-JP" sz="1200" b="0" i="0" u="none" strike="noStrike" cap="none" dirty="0">
                <a:solidFill>
                  <a:schemeClr val="dk1"/>
                </a:solidFill>
                <a:latin typeface="Arial"/>
                <a:ea typeface="Arial"/>
                <a:cs typeface="Arial"/>
                <a:sym typeface="Arial"/>
              </a:rPr>
              <a:t>を固めること。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２．譲渡比率が一部譲渡の際は、譲渡しない株主が論点にならないか等を確認ください。</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３．金額面の条件について、希望株価をここでは記載するが、</a:t>
            </a:r>
            <a:r>
              <a:rPr lang="ja-JP" sz="1200" b="0" i="0" u="none" strike="noStrike" cap="none" dirty="0">
                <a:solidFill>
                  <a:srgbClr val="FF0000"/>
                </a:solidFill>
                <a:latin typeface="Arial"/>
                <a:ea typeface="Arial"/>
                <a:cs typeface="Arial"/>
                <a:sym typeface="Arial"/>
              </a:rPr>
              <a:t>最低応諾価格は把握しておくこと。希望株価はいつの時点の決算かを把握し、今期決算をどこまで織り込むか</a:t>
            </a:r>
            <a:r>
              <a:rPr lang="ja-JP" sz="1200" b="0" i="0" u="none" strike="noStrike" cap="none" dirty="0">
                <a:solidFill>
                  <a:schemeClr val="dk1"/>
                </a:solidFill>
                <a:latin typeface="Arial"/>
                <a:ea typeface="Arial"/>
                <a:cs typeface="Arial"/>
                <a:sym typeface="Arial"/>
              </a:rPr>
              <a:t>も留意すること。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４．役員退職金について、一般的に、</a:t>
            </a:r>
            <a:r>
              <a:rPr lang="ja-JP" sz="1200" b="0" i="0" u="none" strike="noStrike" cap="none" dirty="0">
                <a:solidFill>
                  <a:srgbClr val="FF0000"/>
                </a:solidFill>
                <a:latin typeface="Arial"/>
                <a:ea typeface="Arial"/>
                <a:cs typeface="Arial"/>
                <a:sym typeface="Arial"/>
              </a:rPr>
              <a:t>売り手は手取最大化、買い手は損金限度額まで支給したいニーズがあり、両者のニーズが合致しないので、気を付ける。</a:t>
            </a:r>
            <a:r>
              <a:rPr lang="ja-JP" sz="1200" b="0" i="0" u="none" strike="noStrike" cap="none" dirty="0">
                <a:solidFill>
                  <a:schemeClr val="dk1"/>
                </a:solidFill>
                <a:latin typeface="Arial"/>
                <a:ea typeface="Arial"/>
                <a:cs typeface="Arial"/>
                <a:sym typeface="Arial"/>
              </a:rPr>
              <a:t>また、対象企業で原資があるかどうか、エスクロー実施するかどうかも確認する。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５． ６．役員借入金（対象会社がオーナーから借りている借入金）/貸付金（対象会社からオーナーへ貸付している貸付金）は金額が大きく変動することもあり、常に更新する。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７．社長の引継ぎ条件については、条件は当然として、</a:t>
            </a:r>
            <a:r>
              <a:rPr lang="ja-JP" sz="1200" b="0" i="0" u="none" strike="noStrike" cap="none" dirty="0">
                <a:solidFill>
                  <a:srgbClr val="FF0000"/>
                </a:solidFill>
                <a:latin typeface="Arial"/>
                <a:ea typeface="Arial"/>
                <a:cs typeface="Arial"/>
                <a:sym typeface="Arial"/>
              </a:rPr>
              <a:t>社長の業務（経営判断・営業・経理等）を把握し、人材を派遣する必要があるのか？社内からの昇格を行うのか？</a:t>
            </a:r>
            <a:r>
              <a:rPr lang="ja-JP" sz="1200" b="0" i="0" u="none" strike="noStrike" cap="none" dirty="0">
                <a:solidFill>
                  <a:schemeClr val="dk1"/>
                </a:solidFill>
                <a:latin typeface="Arial"/>
                <a:ea typeface="Arial"/>
                <a:cs typeface="Arial"/>
                <a:sym typeface="Arial"/>
              </a:rPr>
              <a:t>なども確認する。</a:t>
            </a:r>
            <a:endParaRPr dirty="0"/>
          </a:p>
        </p:txBody>
      </p:sp>
      <p:sp>
        <p:nvSpPr>
          <p:cNvPr id="5" name="TextBox 209">
            <a:extLst>
              <a:ext uri="{FF2B5EF4-FFF2-40B4-BE49-F238E27FC236}">
                <a16:creationId xmlns:a16="http://schemas.microsoft.com/office/drawing/2014/main" id="{6213C1B4-1DB8-B498-3A28-5942E4D4003E}"/>
              </a:ext>
            </a:extLst>
          </p:cNvPr>
          <p:cNvSpPr txBox="1"/>
          <p:nvPr/>
        </p:nvSpPr>
        <p:spPr>
          <a:xfrm>
            <a:off x="265176" y="836613"/>
            <a:ext cx="8631936" cy="646331"/>
          </a:xfrm>
          <a:prstGeom prst="rect">
            <a:avLst/>
          </a:prstGeom>
          <a:noFill/>
        </p:spPr>
        <p:txBody>
          <a:bodyPr wrap="square">
            <a:spAutoFit/>
          </a:bodyPr>
          <a:lstStyle/>
          <a:p>
            <a:r>
              <a:rPr lang="ja-JP" altLang="en-US" sz="1200" dirty="0">
                <a:latin typeface="Meiryo UI"/>
                <a:ea typeface="Meiryo UI"/>
              </a:rPr>
              <a:t>▪ 投資有価証券・保険積立金・前渡金（ホテル会員権）・車両運搬具の計326,058千円は全て新設会社へ承継</a:t>
            </a:r>
          </a:p>
          <a:p>
            <a:r>
              <a:rPr lang="ja-JP" altLang="en-US" sz="1200" dirty="0">
                <a:latin typeface="Meiryo UI"/>
                <a:ea typeface="Meiryo UI"/>
              </a:rPr>
              <a:t>▪ 現預金・借入金はいずれも対象会社に残置（ネットキャッシュ ＋5,418千円）</a:t>
            </a:r>
          </a:p>
          <a:p>
            <a:r>
              <a:rPr lang="ja-JP" altLang="en-US" sz="1200" dirty="0">
                <a:latin typeface="Meiryo UI"/>
                <a:ea typeface="Meiryo UI"/>
              </a:rPr>
              <a:t>▪ 分割後の対象会社の純資産は7,477千円となる見込み</a:t>
            </a:r>
          </a:p>
        </p:txBody>
      </p:sp>
      <p:sp>
        <p:nvSpPr>
          <p:cNvPr id="27" name="TextBox 209">
            <a:extLst>
              <a:ext uri="{FF2B5EF4-FFF2-40B4-BE49-F238E27FC236}">
                <a16:creationId xmlns:a16="http://schemas.microsoft.com/office/drawing/2014/main" id="{E8D35E91-51BA-570D-CC34-14FB5A0E533C}"/>
              </a:ext>
            </a:extLst>
          </p:cNvPr>
          <p:cNvSpPr txBox="1"/>
          <p:nvPr/>
        </p:nvSpPr>
        <p:spPr>
          <a:xfrm>
            <a:off x="265176" y="5897880"/>
            <a:ext cx="8631936" cy="438582"/>
          </a:xfrm>
          <a:prstGeom prst="rect">
            <a:avLst/>
          </a:prstGeom>
          <a:noFill/>
        </p:spPr>
        <p:txBody>
          <a:bodyPr wrap="square">
            <a:spAutoFit/>
          </a:bodyPr>
          <a:lstStyle/>
          <a:p>
            <a:r>
              <a:rPr sz="750" dirty="0">
                <a:latin typeface="Meiryo UI"/>
                <a:ea typeface="Meiryo UI"/>
              </a:rPr>
              <a:t>※2026年1月期末のB/Sを基に算出しており、千円未満の端数処理により合計が一致しない場合があります。</a:t>
            </a:r>
          </a:p>
          <a:p>
            <a:r>
              <a:rPr sz="750" dirty="0">
                <a:latin typeface="Meiryo UI"/>
                <a:ea typeface="Meiryo UI"/>
              </a:rPr>
              <a:t>※車両運搬具（期末簿価265千円）は私用車の可能性がある旨を聴取しており、新設会社への承継を前提としています。</a:t>
            </a:r>
          </a:p>
          <a:p>
            <a:r>
              <a:rPr sz="750" dirty="0">
                <a:latin typeface="Meiryo UI"/>
                <a:ea typeface="Meiryo UI"/>
              </a:rPr>
              <a:t>※分割対象資産の範囲は今後の協議により変動する可能性がございます。</a:t>
            </a:r>
          </a:p>
        </p:txBody>
      </p:sp>
      <p:graphicFrame>
        <p:nvGraphicFramePr>
          <p:cNvPr id="3" name="Table 207">
            <a:extLst>
              <a:ext uri="{FF2B5EF4-FFF2-40B4-BE49-F238E27FC236}">
                <a16:creationId xmlns:a16="http://schemas.microsoft.com/office/drawing/2014/main" id="{58956B21-0138-AFE7-9E0E-9DDFA2F7643F}"/>
              </a:ext>
            </a:extLst>
          </p:cNvPr>
          <p:cNvGraphicFramePr>
            <a:graphicFrameLocks noGrp="1"/>
          </p:cNvGraphicFramePr>
          <p:nvPr/>
        </p:nvGraphicFramePr>
        <p:xfrm>
          <a:off x="365760" y="1828800"/>
          <a:ext cx="2633472" cy="3291840"/>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74320">
                <a:tc gridSpan="2">
                  <a:txBody>
                    <a:bodyPr/>
                    <a:lstStyle/>
                    <a:p>
                      <a:pPr algn="ctr"/>
                      <a:r>
                        <a:rPr lang="ja-JP" sz="900" b="1">
                          <a:solidFill>
                            <a:srgbClr val="FFFFFF"/>
                          </a:solidFill>
                          <a:latin typeface="Meiryo UI"/>
                          <a:ea typeface="Meiryo UI"/>
                        </a:rPr>
                        <a:t>分割前｜カナリア社（2026年1月期末）</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r>
                        <a:rPr lang="ja-JP" sz="900" b="0">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850" b="1">
                          <a:solidFill>
                            <a:srgbClr val="000000"/>
                          </a:solidFill>
                          <a:latin typeface="Meiryo UI"/>
                          <a:ea typeface="Meiryo UI"/>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0">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900" b="0">
                          <a:solidFill>
                            <a:srgbClr val="000000"/>
                          </a:solidFill>
                          <a:latin typeface="Meiryo UI"/>
                          <a:ea typeface="Meiryo UI"/>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900" b="0">
                          <a:solidFill>
                            <a:srgbClr val="000000"/>
                          </a:solidFill>
                          <a:latin typeface="Meiryo UI"/>
                          <a:ea typeface="Meiryo UI"/>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32,918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900" b="0">
                          <a:solidFill>
                            <a:srgbClr val="000000"/>
                          </a:solidFill>
                          <a:latin typeface="Meiryo UI"/>
                          <a:ea typeface="Meiryo UI"/>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1,057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900" b="0">
                          <a:solidFill>
                            <a:srgbClr val="000000"/>
                          </a:solidFill>
                          <a:latin typeface="Meiryo UI"/>
                          <a:ea typeface="Meiryo UI"/>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322,806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900" b="1">
                          <a:solidFill>
                            <a:srgbClr val="000000"/>
                          </a:solidFill>
                          <a:latin typeface="Meiryo UI"/>
                          <a:ea typeface="Meiryo UI"/>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900" b="1">
                          <a:solidFill>
                            <a:srgbClr val="000000"/>
                          </a:solidFill>
                          <a:latin typeface="Meiryo UI"/>
                          <a:ea typeface="Meiryo UI"/>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850" b="1">
                          <a:solidFill>
                            <a:srgbClr val="000000"/>
                          </a:solidFill>
                          <a:latin typeface="Meiryo UI"/>
                          <a:ea typeface="Meiryo UI"/>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0">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900" b="0">
                          <a:solidFill>
                            <a:srgbClr val="000000"/>
                          </a:solidFill>
                          <a:latin typeface="Meiryo UI"/>
                          <a:ea typeface="Meiryo UI"/>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900" b="0">
                          <a:solidFill>
                            <a:srgbClr val="000000"/>
                          </a:solidFill>
                          <a:latin typeface="Meiryo UI"/>
                          <a:ea typeface="Meiryo UI"/>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900" b="0">
                          <a:solidFill>
                            <a:srgbClr val="000000"/>
                          </a:solidFill>
                          <a:latin typeface="Meiryo UI"/>
                          <a:ea typeface="Meiryo UI"/>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333,536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900" b="1">
                          <a:solidFill>
                            <a:srgbClr val="000000"/>
                          </a:solidFill>
                          <a:latin typeface="Meiryo UI"/>
                          <a:ea typeface="Meiryo UI"/>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900" b="1">
                          <a:solidFill>
                            <a:srgbClr val="000000"/>
                          </a:solidFill>
                          <a:latin typeface="Meiryo UI"/>
                          <a:ea typeface="Meiryo UI"/>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6" name="Table 208">
            <a:extLst>
              <a:ext uri="{FF2B5EF4-FFF2-40B4-BE49-F238E27FC236}">
                <a16:creationId xmlns:a16="http://schemas.microsoft.com/office/drawing/2014/main" id="{1AB5F810-F6F6-D59C-6B8E-40DC1141319D}"/>
              </a:ext>
            </a:extLst>
          </p:cNvPr>
          <p:cNvGraphicFramePr>
            <a:graphicFrameLocks noGrp="1"/>
          </p:cNvGraphicFramePr>
          <p:nvPr>
            <p:extLst>
              <p:ext uri="{D42A27DB-BD31-4B8C-83A1-F6EECF244321}">
                <p14:modId xmlns:p14="http://schemas.microsoft.com/office/powerpoint/2010/main" val="3080918089"/>
              </p:ext>
            </p:extLst>
          </p:nvPr>
        </p:nvGraphicFramePr>
        <p:xfrm>
          <a:off x="3456432" y="1828800"/>
          <a:ext cx="2633472" cy="3291840"/>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74320">
                <a:tc gridSpan="2">
                  <a:txBody>
                    <a:bodyPr/>
                    <a:lstStyle/>
                    <a:p>
                      <a:pPr algn="ctr"/>
                      <a:r>
                        <a:rPr lang="ja-JP" altLang="en-US" sz="900" b="1" dirty="0">
                          <a:solidFill>
                            <a:srgbClr val="FFFFFF"/>
                          </a:solidFill>
                          <a:latin typeface="Meiryo UI"/>
                          <a:ea typeface="Meiryo UI"/>
                        </a:rPr>
                        <a:t>対象会社（株式会社カナリア）｜譲渡対象</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r>
                        <a:rPr lang="ja-JP" sz="900" b="0">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850" b="1">
                          <a:solidFill>
                            <a:srgbClr val="000000"/>
                          </a:solidFill>
                          <a:latin typeface="Meiryo UI"/>
                          <a:ea typeface="Meiryo UI"/>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0">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900" b="0">
                          <a:solidFill>
                            <a:srgbClr val="000000"/>
                          </a:solidFill>
                          <a:latin typeface="Meiryo UI"/>
                          <a:ea typeface="Meiryo UI"/>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900" b="0">
                          <a:solidFill>
                            <a:srgbClr val="000000"/>
                          </a:solidFill>
                          <a:latin typeface="Meiryo UI"/>
                          <a:ea typeface="Meiryo UI"/>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900" b="0" dirty="0">
                          <a:solidFill>
                            <a:srgbClr val="000000"/>
                          </a:solidFill>
                          <a:latin typeface="Meiryo UI"/>
                          <a:ea typeface="Meiryo UI"/>
                        </a:rPr>
                        <a:t>26,348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900" b="0">
                          <a:solidFill>
                            <a:srgbClr val="000000"/>
                          </a:solidFill>
                          <a:latin typeface="Meiryo UI"/>
                          <a:ea typeface="Meiryo UI"/>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792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900" b="0">
                          <a:solidFill>
                            <a:srgbClr val="000000"/>
                          </a:solidFill>
                          <a:latin typeface="Meiryo UI"/>
                          <a:ea typeface="Meiryo UI"/>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3,583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900" b="1">
                          <a:solidFill>
                            <a:srgbClr val="000000"/>
                          </a:solidFill>
                          <a:latin typeface="Meiryo UI"/>
                          <a:ea typeface="Meiryo UI"/>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900" b="1" dirty="0">
                          <a:solidFill>
                            <a:srgbClr val="000000"/>
                          </a:solidFill>
                          <a:latin typeface="Meiryo UI"/>
                          <a:ea typeface="Meiryo UI"/>
                        </a:rPr>
                        <a:t>223,949</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850" b="1">
                          <a:solidFill>
                            <a:srgbClr val="000000"/>
                          </a:solidFill>
                          <a:latin typeface="Meiryo UI"/>
                          <a:ea typeface="Meiryo UI"/>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0">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900" b="0">
                          <a:solidFill>
                            <a:srgbClr val="000000"/>
                          </a:solidFill>
                          <a:latin typeface="Meiryo UI"/>
                          <a:ea typeface="Meiryo UI"/>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dirty="0">
                          <a:solidFill>
                            <a:srgbClr val="000000"/>
                          </a:solidFill>
                          <a:latin typeface="Meiryo UI"/>
                          <a:ea typeface="Meiryo UI"/>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900" b="0">
                          <a:solidFill>
                            <a:srgbClr val="000000"/>
                          </a:solidFill>
                          <a:latin typeface="Meiryo UI"/>
                          <a:ea typeface="Meiryo UI"/>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dirty="0">
                          <a:solidFill>
                            <a:srgbClr val="000000"/>
                          </a:solidFill>
                          <a:latin typeface="Meiryo UI"/>
                          <a:ea typeface="Meiryo UI"/>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900" b="0">
                          <a:solidFill>
                            <a:srgbClr val="000000"/>
                          </a:solidFill>
                          <a:latin typeface="Meiryo UI"/>
                          <a:ea typeface="Meiryo UI"/>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900" b="0" dirty="0">
                          <a:solidFill>
                            <a:srgbClr val="000000"/>
                          </a:solidFill>
                          <a:latin typeface="Meiryo UI"/>
                          <a:ea typeface="Meiryo UI"/>
                        </a:rPr>
                        <a:t>7,477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900" b="1">
                          <a:solidFill>
                            <a:srgbClr val="000000"/>
                          </a:solidFill>
                          <a:latin typeface="Meiryo UI"/>
                          <a:ea typeface="Meiryo UI"/>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900" b="1" dirty="0">
                          <a:solidFill>
                            <a:srgbClr val="000000"/>
                          </a:solidFill>
                          <a:latin typeface="Meiryo UI"/>
                          <a:ea typeface="Meiryo UI"/>
                        </a:rPr>
                        <a:t>223,949</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10" name="Table 209">
            <a:extLst>
              <a:ext uri="{FF2B5EF4-FFF2-40B4-BE49-F238E27FC236}">
                <a16:creationId xmlns:a16="http://schemas.microsoft.com/office/drawing/2014/main" id="{CC585B31-3F47-6688-0A1C-DF236F70517D}"/>
              </a:ext>
            </a:extLst>
          </p:cNvPr>
          <p:cNvGraphicFramePr>
            <a:graphicFrameLocks noGrp="1"/>
          </p:cNvGraphicFramePr>
          <p:nvPr>
            <p:extLst>
              <p:ext uri="{D42A27DB-BD31-4B8C-83A1-F6EECF244321}">
                <p14:modId xmlns:p14="http://schemas.microsoft.com/office/powerpoint/2010/main" val="3653447"/>
              </p:ext>
            </p:extLst>
          </p:nvPr>
        </p:nvGraphicFramePr>
        <p:xfrm>
          <a:off x="6272784" y="1828800"/>
          <a:ext cx="2633472" cy="3291840"/>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74320">
                <a:tc gridSpan="2">
                  <a:txBody>
                    <a:bodyPr/>
                    <a:lstStyle/>
                    <a:p>
                      <a:pPr algn="ctr"/>
                      <a:r>
                        <a:rPr lang="ja-JP" altLang="en-US" sz="900" b="1" dirty="0">
                          <a:solidFill>
                            <a:srgbClr val="FFFFFF"/>
                          </a:solidFill>
                          <a:latin typeface="Meiryo UI"/>
                          <a:ea typeface="Meiryo UI"/>
                        </a:rPr>
                        <a:t>新設会社（売主様側に残置）</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tc hMerge="1">
                  <a:txBody>
                    <a:bodyPr/>
                    <a:lstStyle/>
                    <a:p>
                      <a:pPr algn="ctr"/>
                      <a:r>
                        <a:rPr lang="ja-JP" sz="900" b="0">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extLst>
                  <a:ext uri="{0D108BD9-81ED-4DB2-BD59-A6C34878D82A}">
                    <a16:rowId xmlns:a16="http://schemas.microsoft.com/office/drawing/2014/main" val="10000"/>
                  </a:ext>
                </a:extLst>
              </a:tr>
              <a:tr h="274320">
                <a:tc>
                  <a:txBody>
                    <a:bodyPr/>
                    <a:lstStyle/>
                    <a:p>
                      <a:pPr algn="l"/>
                      <a:r>
                        <a:rPr lang="ja-JP" sz="850" b="1">
                          <a:solidFill>
                            <a:srgbClr val="000000"/>
                          </a:solidFill>
                          <a:latin typeface="Meiryo UI"/>
                          <a:ea typeface="Meiryo UI"/>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0">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900" b="0">
                          <a:solidFill>
                            <a:srgbClr val="000000"/>
                          </a:solidFill>
                          <a:latin typeface="Meiryo UI"/>
                          <a:ea typeface="Meiryo UI"/>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altLang="en-US" sz="900" b="0" dirty="0">
                          <a:solidFill>
                            <a:srgbClr val="000000"/>
                          </a:solidFill>
                          <a:latin typeface="Meiryo UI"/>
                          <a:ea typeface="Meiryo UI"/>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900" b="0" dirty="0">
                          <a:solidFill>
                            <a:srgbClr val="000000"/>
                          </a:solidFill>
                          <a:latin typeface="Meiryo UI"/>
                          <a:ea typeface="Meiryo UI"/>
                        </a:rPr>
                        <a:t>6,570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900" b="0" dirty="0">
                          <a:solidFill>
                            <a:srgbClr val="000000"/>
                          </a:solidFill>
                          <a:latin typeface="Meiryo UI"/>
                          <a:ea typeface="Meiryo UI"/>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265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900" b="0">
                          <a:solidFill>
                            <a:srgbClr val="000000"/>
                          </a:solidFill>
                          <a:latin typeface="Meiryo UI"/>
                          <a:ea typeface="Meiryo UI"/>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319,223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900" b="1">
                          <a:solidFill>
                            <a:srgbClr val="000000"/>
                          </a:solidFill>
                          <a:latin typeface="Meiryo UI"/>
                          <a:ea typeface="Meiryo UI"/>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900" b="1" dirty="0">
                          <a:solidFill>
                            <a:srgbClr val="000000"/>
                          </a:solidFill>
                          <a:latin typeface="Meiryo UI"/>
                          <a:ea typeface="Meiryo UI"/>
                        </a:rPr>
                        <a:t>326,058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850" b="1">
                          <a:solidFill>
                            <a:srgbClr val="000000"/>
                          </a:solidFill>
                          <a:latin typeface="Meiryo UI"/>
                          <a:ea typeface="Meiryo UI"/>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0">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900" b="0">
                          <a:solidFill>
                            <a:srgbClr val="000000"/>
                          </a:solidFill>
                          <a:latin typeface="Meiryo UI"/>
                          <a:ea typeface="Meiryo UI"/>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dirty="0">
                          <a:solidFill>
                            <a:srgbClr val="000000"/>
                          </a:solidFill>
                          <a:latin typeface="Meiryo UI"/>
                          <a:ea typeface="Meiryo UI"/>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900" b="0">
                          <a:solidFill>
                            <a:srgbClr val="000000"/>
                          </a:solidFill>
                          <a:latin typeface="Meiryo UI"/>
                          <a:ea typeface="Meiryo UI"/>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dirty="0">
                          <a:solidFill>
                            <a:srgbClr val="000000"/>
                          </a:solidFill>
                          <a:latin typeface="Meiryo UI"/>
                          <a:ea typeface="Meiryo UI"/>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900" b="0">
                          <a:solidFill>
                            <a:srgbClr val="000000"/>
                          </a:solidFill>
                          <a:latin typeface="Meiryo UI"/>
                          <a:ea typeface="Meiryo UI"/>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900" b="0" dirty="0">
                          <a:solidFill>
                            <a:srgbClr val="000000"/>
                          </a:solidFill>
                          <a:latin typeface="Meiryo UI"/>
                          <a:ea typeface="Meiryo UI"/>
                        </a:rPr>
                        <a:t>326,058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900" b="1">
                          <a:solidFill>
                            <a:srgbClr val="000000"/>
                          </a:solidFill>
                          <a:latin typeface="Meiryo UI"/>
                          <a:ea typeface="Meiryo UI"/>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900" b="1" dirty="0">
                          <a:solidFill>
                            <a:srgbClr val="000000"/>
                          </a:solidFill>
                          <a:latin typeface="Meiryo UI"/>
                          <a:ea typeface="Meiryo UI"/>
                        </a:rPr>
                        <a:t>326,058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sp>
        <p:nvSpPr>
          <p:cNvPr id="14" name="Right Arrow 210">
            <a:extLst>
              <a:ext uri="{FF2B5EF4-FFF2-40B4-BE49-F238E27FC236}">
                <a16:creationId xmlns:a16="http://schemas.microsoft.com/office/drawing/2014/main" id="{34C1A436-C5B1-2637-2D34-9990695F7889}"/>
              </a:ext>
            </a:extLst>
          </p:cNvPr>
          <p:cNvSpPr/>
          <p:nvPr/>
        </p:nvSpPr>
        <p:spPr>
          <a:xfrm>
            <a:off x="3035808" y="3246120"/>
            <a:ext cx="384048" cy="4572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212">
            <a:extLst>
              <a:ext uri="{FF2B5EF4-FFF2-40B4-BE49-F238E27FC236}">
                <a16:creationId xmlns:a16="http://schemas.microsoft.com/office/drawing/2014/main" id="{6FDB3BEE-EE19-94ED-14FC-4C51828F5E54}"/>
              </a:ext>
            </a:extLst>
          </p:cNvPr>
          <p:cNvSpPr/>
          <p:nvPr/>
        </p:nvSpPr>
        <p:spPr>
          <a:xfrm>
            <a:off x="3456432" y="5230368"/>
            <a:ext cx="2633472" cy="384048"/>
          </a:xfrm>
          <a:prstGeom prst="rect">
            <a:avLst/>
          </a:prstGeom>
          <a:solidFill>
            <a:srgbClr val="ECF1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850" b="1">
                <a:solidFill>
                  <a:srgbClr val="203864"/>
                </a:solidFill>
                <a:latin typeface="Meiryo UI"/>
                <a:ea typeface="Meiryo UI"/>
              </a:rPr>
              <a:t>現預金 193,226 － 借入金 187,808</a:t>
            </a:r>
          </a:p>
          <a:p>
            <a:pPr algn="ctr"/>
            <a:r>
              <a:rPr lang="ja-JP" sz="850" b="1">
                <a:solidFill>
                  <a:srgbClr val="203864"/>
                </a:solidFill>
                <a:latin typeface="Meiryo UI"/>
                <a:ea typeface="Meiryo UI"/>
              </a:rPr>
              <a:t>＝ ネットキャッシュ ＋5,418</a:t>
            </a:r>
          </a:p>
        </p:txBody>
      </p:sp>
      <p:sp>
        <p:nvSpPr>
          <p:cNvPr id="22" name="テキスト ボックス 21">
            <a:extLst>
              <a:ext uri="{FF2B5EF4-FFF2-40B4-BE49-F238E27FC236}">
                <a16:creationId xmlns:a16="http://schemas.microsoft.com/office/drawing/2014/main" id="{55399AA7-9FE0-C458-58D3-47B63EB7E9C6}"/>
              </a:ext>
            </a:extLst>
          </p:cNvPr>
          <p:cNvSpPr txBox="1"/>
          <p:nvPr/>
        </p:nvSpPr>
        <p:spPr>
          <a:xfrm>
            <a:off x="7996619" y="1525316"/>
            <a:ext cx="1036086" cy="230832"/>
          </a:xfrm>
          <a:prstGeom prst="rect">
            <a:avLst/>
          </a:prstGeom>
          <a:noFill/>
        </p:spPr>
        <p:txBody>
          <a:bodyPr wrap="square" rtlCol="0">
            <a:spAutoFit/>
          </a:bodyPr>
          <a:lstStyle/>
          <a:p>
            <a:r>
              <a:rPr kumimoji="1" lang="ja-JP" altLang="en-US" sz="900" dirty="0">
                <a:latin typeface="Meiryo UI" panose="020B0604030504040204" pitchFamily="50" charset="-128"/>
                <a:ea typeface="Meiryo UI" panose="020B0604030504040204" pitchFamily="50" charset="-128"/>
              </a:rPr>
              <a:t>（単位：千円）</a:t>
            </a:r>
          </a:p>
        </p:txBody>
      </p:sp>
    </p:spTree>
    <p:extLst>
      <p:ext uri="{BB962C8B-B14F-4D97-AF65-F5344CB8AC3E}">
        <p14:creationId xmlns:p14="http://schemas.microsoft.com/office/powerpoint/2010/main" val="2848686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ltLang="en-US" dirty="0">
                <a:solidFill>
                  <a:srgbClr val="5A5A5A"/>
                </a:solidFill>
                <a:latin typeface="Meiryo UI" panose="020B0604030504040204" pitchFamily="50" charset="-128"/>
                <a:ea typeface="Meiryo UI" panose="020B0604030504040204" pitchFamily="50" charset="-128"/>
              </a:rPr>
              <a:t>確認事項・要対応事項</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15"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216"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217" name="Google Shape;217;p4"/>
          <p:cNvGraphicFramePr/>
          <p:nvPr>
            <p:extLst>
              <p:ext uri="{D42A27DB-BD31-4B8C-83A1-F6EECF244321}">
                <p14:modId xmlns:p14="http://schemas.microsoft.com/office/powerpoint/2010/main" val="1165932223"/>
              </p:ext>
            </p:extLst>
          </p:nvPr>
        </p:nvGraphicFramePr>
        <p:xfrm>
          <a:off x="398462" y="838712"/>
          <a:ext cx="8352650" cy="5414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項目</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協議状況</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722000">
                <a:tc>
                  <a:txBody>
                    <a:bodyPr/>
                    <a:lstStyle/>
                    <a:p>
                      <a:pPr marL="0" marR="0" lvl="0" indent="0" algn="ctr" rtl="0">
                        <a:buNone/>
                      </a:pPr>
                      <a:r>
                        <a:rPr lang="en-US" b="0" dirty="0" sz="150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300" dirty="0" b="0">
                          <a:solidFill>
                            <a:schemeClr val="dk1"/>
                          </a:solidFill>
                          <a:latin typeface="Meiryo UI" panose="020B0604030504040204" pitchFamily="50" charset="-128"/>
                          <a:ea typeface="Meiryo UI" panose="020B0604030504040204" pitchFamily="50" charset="-128"/>
                        </a:rPr>
                        <a:t>継続勤務の詳細条件</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100" b="0" dirty="0">
                          <a:solidFill>
                            <a:schemeClr val="dk1"/>
                          </a:solidFill>
                          <a:latin typeface="Meiryo UI" panose="020B0604030504040204" pitchFamily="50" charset="-128"/>
                          <a:ea typeface="Meiryo UI" panose="020B0604030504040204" pitchFamily="50" charset="-128"/>
                        </a:rPr>
                        <a:t>役職（代表取締役／取締役）・権限範囲・中途退任時の取扱いを協議。</a:t>
                      </a:r>
                    </a:p>
                    <a:p>
                      <a:pPr marL="0" marR="0" lvl="0" indent="0" algn="l" rtl="0">
                        <a:lnSpc>
                          <a:spcPct val="100000"/>
                        </a:lnSpc>
                        <a:buClr>
                          <a:srgbClr val="66A09A"/>
                        </a:buClr>
                        <a:buSzPts val="1120"/>
                        <a:buFont typeface="Arial"/>
                        <a:buNone/>
                      </a:pPr>
                      <a:r>
                        <a:rPr lang="ja-JP" altLang="en-US" sz="1100" b="0" dirty="0">
                          <a:solidFill>
                            <a:schemeClr val="dk1"/>
                          </a:solidFill>
                          <a:latin typeface="Meiryo UI" panose="020B0604030504040204" pitchFamily="50" charset="-128"/>
                          <a:ea typeface="Meiryo UI" panose="020B0604030504040204" pitchFamily="50" charset="-128"/>
                        </a:rPr>
                        <a:t>→ 買手の通常想定を大きく超えるため、早期に受入可否を確認。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altLang="en-US"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722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300" dirty="0" b="0">
                          <a:solidFill>
                            <a:schemeClr val="dk1"/>
                          </a:solidFill>
                          <a:latin typeface="Meiryo UI" panose="020B0604030504040204" pitchFamily="50" charset="-128"/>
                          <a:ea typeface="Meiryo UI" panose="020B0604030504040204" pitchFamily="50" charset="-128"/>
                        </a:rPr>
                        <a:t>業績インセンティブ</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100" b="0" dirty="0">
                          <a:solidFill>
                            <a:schemeClr val="dk1"/>
                          </a:solidFill>
                          <a:latin typeface="Meiryo UI" panose="020B0604030504040204" pitchFamily="50" charset="-128"/>
                          <a:ea typeface="Meiryo UI" panose="020B0604030504040204" pitchFamily="50" charset="-128"/>
                        </a:rPr>
                        <a:t>業績連動賞与・ストックオプション・アーンアウト等の設計方法を協議。</a:t>
                      </a:r>
                    </a:p>
                    <a:p>
                      <a:pPr marL="0" marR="0" lvl="0" indent="0" algn="l" rtl="0">
                        <a:lnSpc>
                          <a:spcPct val="100000"/>
                        </a:lnSpc>
                        <a:buClr>
                          <a:srgbClr val="66A09A"/>
                        </a:buClr>
                        <a:buSzPts val="1120"/>
                        <a:buFont typeface="Arial"/>
                        <a:buNone/>
                      </a:pPr>
                      <a:r>
                        <a:rPr lang="ja-JP" altLang="en-US" sz="1100" b="0" dirty="0">
                          <a:solidFill>
                            <a:schemeClr val="dk1"/>
                          </a:solidFill>
                          <a:latin typeface="Meiryo UI" panose="020B0604030504040204" pitchFamily="50" charset="-128"/>
                          <a:ea typeface="Meiryo UI" panose="020B0604030504040204" pitchFamily="50" charset="-128"/>
                        </a:rPr>
                        <a:t>→ KPI・算定期間・上限額・譲渡対価との関係を確認。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r h="722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dirty="0" sz="1300" b="0">
                          <a:latin typeface="Meiryo UI" panose="020B0604030504040204" pitchFamily="50" charset="-128"/>
                          <a:ea typeface="Meiryo UI" panose="020B0604030504040204" pitchFamily="50" charset="-128"/>
                        </a:rPr>
                        <a:t>役員退職慰労金</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en-US" altLang="ja-JP" sz="1100" b="0" dirty="0">
                          <a:solidFill>
                            <a:schemeClr val="dk1"/>
                          </a:solidFill>
                          <a:latin typeface="Meiryo UI" panose="020B0604030504040204" pitchFamily="50" charset="-128"/>
                          <a:ea typeface="Meiryo UI" panose="020B0604030504040204" pitchFamily="50" charset="-128"/>
                          <a:cs typeface="Arial"/>
                          <a:sym typeface="Arial"/>
                        </a:rPr>
                        <a:t>野口社長分は継続勤務のため、譲渡時支給か退任時支給かを整理。</a:t>
                      </a:r>
                    </a:p>
                    <a:p>
                      <a:pPr marL="139700" marR="0" lvl="0" indent="-139700" algn="l" rtl="0">
                        <a:lnSpc>
                          <a:spcPct val="100000"/>
                        </a:lnSpc>
                        <a:buClr>
                          <a:srgbClr val="66A09A"/>
                        </a:buClr>
                        <a:buSzPts val="1120"/>
                        <a:buFont typeface="Noto Sans Symbols"/>
                        <a:buNone/>
                      </a:pPr>
                      <a:r>
                        <a:rPr lang="en-US" altLang="ja-JP" sz="1100" b="0" dirty="0">
                          <a:solidFill>
                            <a:schemeClr val="dk1"/>
                          </a:solidFill>
                          <a:latin typeface="Meiryo UI" panose="020B0604030504040204" pitchFamily="50" charset="-128"/>
                          <a:ea typeface="Meiryo UI" panose="020B0604030504040204" pitchFamily="50" charset="-128"/>
                          <a:cs typeface="Arial"/>
                          <a:sym typeface="Arial"/>
                        </a:rPr>
                        <a:t>退任予定の取締役2名（野口文枝氏・野口聰江氏）分の支給有無を確認。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722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版権元との契約</a:t>
                      </a:r>
                    </a:p>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（COC条項）</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rPr>
                        <a:t>講談社・アニプレックス・KADOKAWA等の版権元との商品化許諾契約。</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rPr>
                        <a:t>→ COC条項の有無・事前承諾の要否を確認。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722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本社事務所の</a:t>
                      </a:r>
                    </a:p>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利用継続</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本社賃貸借契約（台東区東上野・月額賃料436千円・敷金1,264千円）。</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 COC条項・更新条件を確認。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r h="722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en-US" altLang="ja-JP" sz="1300" dirty="0" b="0">
                          <a:solidFill>
                            <a:schemeClr val="dk1"/>
                          </a:solidFill>
                          <a:latin typeface="Meiryo UI" panose="020B0604030504040204" pitchFamily="50" charset="-128"/>
                          <a:ea typeface="Meiryo UI" panose="020B0604030504040204" pitchFamily="50" charset="-128"/>
                        </a:rPr>
                        <a:t>連帯保証・担保の解除</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rPr>
                        <a:t>有利子負債187,808千円に係る個人保証・担保提供の有無を確認のうえ、</a:t>
                      </a:r>
                    </a:p>
                    <a:p>
                      <a:pPr marL="88900" marR="0" lvl="0" indent="-889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rPr>
                        <a:t>譲渡実行までに解除。</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要対応</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6"/>
                  </a:ext>
                </a:extLst>
              </a:tr>
              <a:tr h="722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7</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M&amp;A後の</a:t>
                      </a:r>
                    </a:p>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引継期間・体制</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rPr>
                        <a:t>野口社長が担うOEM事業の窓口業務の引継範囲・期間を協議。</a:t>
                      </a:r>
                    </a:p>
                    <a:p>
                      <a:pPr marL="88900" marR="0" lvl="0" indent="-889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rPr>
                        <a:t>→ 譲受企業からの役員派遣の要否・時期を確認。</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srgbClr val="252525"/>
                        </a:buClr>
                        <a:buSzPts val="1600"/>
                        <a:buFont typeface="Arial"/>
                        <a:buNone/>
                        <a:tabLst/>
                        <a:defRPr/>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259882126"/>
                  </a:ext>
                </a:extLst>
              </a:tr>
            </a:tbl>
          </a:graphicData>
        </a:graphic>
      </p:graphicFrame>
      <p:sp>
        <p:nvSpPr>
          <p:cNvPr id="218" name="Google Shape;218;p4"/>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８．社用車の引き取りについては、ディーラーからの見積もり等時価で評価し、買取か退職金で現物支給する。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９．社用車と同様に、時価で評価し、買取か退職金で現物支給する。 </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１０．不動産の取り扱いについて、不動産売買をするのか賃貸をするのか確認する。</a:t>
            </a:r>
            <a:r>
              <a:rPr lang="ja-JP" sz="1200" b="0" i="0" u="none" strike="noStrike" cap="none">
                <a:solidFill>
                  <a:srgbClr val="FF0000"/>
                </a:solidFill>
                <a:latin typeface="Arial"/>
                <a:ea typeface="Arial"/>
                <a:cs typeface="Arial"/>
                <a:sym typeface="Arial"/>
              </a:rPr>
              <a:t>オーナーが対象会社に賃貸している場合、賃料を安く設定していることが多く、M&amp;Aのタイミングで賃料を戻すこともあり、留意が必要。</a:t>
            </a:r>
            <a:r>
              <a:rPr lang="ja-JP" sz="1200" b="0" i="0" u="none" strike="noStrike" cap="none">
                <a:solidFill>
                  <a:schemeClr val="dk1"/>
                </a:solidFill>
                <a:latin typeface="Arial"/>
                <a:ea typeface="Arial"/>
                <a:cs typeface="Arial"/>
                <a:sym typeface="Arial"/>
              </a:rPr>
              <a:t>対象会社で所有している遊休地を買い取る（退職金として現物支給）ケースなども想定する。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１１．取締役・キーマンの継続勤務については、</a:t>
            </a:r>
            <a:r>
              <a:rPr lang="ja-JP" sz="1200" b="0" i="0" u="none" strike="noStrike" cap="none">
                <a:solidFill>
                  <a:srgbClr val="FF0000"/>
                </a:solidFill>
                <a:latin typeface="Arial"/>
                <a:ea typeface="Arial"/>
                <a:cs typeface="Arial"/>
                <a:sym typeface="Arial"/>
              </a:rPr>
              <a:t>本件M&amp;Aが開示が否かや非開示の場合、どのタイミングで開示をするかも確認</a:t>
            </a:r>
            <a:r>
              <a:rPr lang="ja-JP" sz="1200" b="0" i="0" u="none" strike="noStrike" cap="none">
                <a:solidFill>
                  <a:schemeClr val="dk1"/>
                </a:solidFill>
                <a:latin typeface="Arial"/>
                <a:ea typeface="Arial"/>
                <a:cs typeface="Arial"/>
                <a:sym typeface="Arial"/>
              </a:rPr>
              <a:t>する。また、</a:t>
            </a:r>
            <a:r>
              <a:rPr lang="ja-JP" sz="1200" b="0" i="0" u="none" strike="noStrike" cap="none">
                <a:solidFill>
                  <a:srgbClr val="FF0000"/>
                </a:solidFill>
                <a:latin typeface="Arial"/>
                <a:ea typeface="Arial"/>
                <a:cs typeface="Arial"/>
                <a:sym typeface="Arial"/>
              </a:rPr>
              <a:t>業務内容をしっかりと認識し、</a:t>
            </a:r>
            <a:r>
              <a:rPr lang="ja-JP" sz="1200" b="0" i="0" u="none" strike="noStrike" cap="none">
                <a:solidFill>
                  <a:schemeClr val="dk1"/>
                </a:solidFill>
                <a:latin typeface="Arial"/>
                <a:ea typeface="Arial"/>
                <a:cs typeface="Arial"/>
                <a:sym typeface="Arial"/>
              </a:rPr>
              <a:t>退職リスクも確認する。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１２．従業員の継続雇用は基本条件とはなる。一般的には1年間か当面の間（実質は1年）。</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１３．オーナー社長が差し入れする連帯保証の解除と個人資産の担保解除は必須条件。</a:t>
            </a:r>
            <a:r>
              <a:rPr lang="ja-JP" sz="1200" b="0" i="0" u="none" strike="noStrike" cap="none">
                <a:solidFill>
                  <a:srgbClr val="FF0000"/>
                </a:solidFill>
                <a:latin typeface="Arial"/>
                <a:ea typeface="Arial"/>
                <a:cs typeface="Arial"/>
                <a:sym typeface="Arial"/>
              </a:rPr>
              <a:t>個人資産の担保提供は必ず謄本等で確認</a:t>
            </a:r>
            <a:r>
              <a:rPr lang="ja-JP" sz="1200" b="0" i="0" u="none" strike="noStrike" cap="none">
                <a:solidFill>
                  <a:schemeClr val="dk1"/>
                </a:solidFill>
                <a:latin typeface="Arial"/>
                <a:ea typeface="Arial"/>
                <a:cs typeface="Arial"/>
                <a:sym typeface="Arial"/>
              </a:rPr>
              <a:t>する。</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6"/>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buNone/>
            </a:pPr>
            <a:r>
              <a:rPr lang="ja-JP">
                <a:latin typeface="Meiryo UI" panose="020B0604030504040204" pitchFamily="50" charset="-128"/>
                <a:ea typeface="Meiryo UI" panose="020B0604030504040204" pitchFamily="50" charset="-128"/>
              </a:rPr>
              <a:t>リスク事項に関する対応状況</a:t>
            </a:r>
          </a:p>
        </p:txBody>
      </p:sp>
      <p:sp>
        <p:nvSpPr>
          <p:cNvPr id="235" name="Google Shape;235;p6"/>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236" name="Google Shape;236;p6"/>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237" name="Google Shape;237;p6"/>
          <p:cNvGraphicFramePr/>
          <p:nvPr>
            <p:extLst>
              <p:ext uri="{D42A27DB-BD31-4B8C-83A1-F6EECF244321}">
                <p14:modId xmlns:p14="http://schemas.microsoft.com/office/powerpoint/2010/main" val="807980537"/>
              </p:ext>
            </p:extLst>
          </p:nvPr>
        </p:nvGraphicFramePr>
        <p:xfrm>
          <a:off x="398711" y="838950"/>
          <a:ext cx="8352650" cy="460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リスク事項</a:t>
                      </a:r>
                    </a:p>
                  </a:txBody>
                  <a:tcPr marL="72000" marR="72000" marT="36000" marB="36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a:solidFill>
                            <a:schemeClr val="lt1"/>
                          </a:solidFill>
                          <a:latin typeface="Meiryo UI" panose="020B0604030504040204" pitchFamily="50" charset="-128"/>
                          <a:ea typeface="Meiryo UI" panose="020B0604030504040204" pitchFamily="50" charset="-128"/>
                          <a:cs typeface="Arial"/>
                          <a:sym typeface="Arial"/>
                        </a:rPr>
                        <a:t>内容</a:t>
                      </a:r>
                    </a:p>
                  </a:txBody>
                  <a:tcPr marL="72000" marR="72000" marT="36000" marB="36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状況</a:t>
                      </a:r>
                    </a:p>
                  </a:txBody>
                  <a:tcPr marL="72000" marR="72000" marT="36000" marB="36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1060000">
                <a:tc>
                  <a:txBody>
                    <a:bodyPr/>
                    <a:lstStyle/>
                    <a:p>
                      <a:pPr marL="0" marR="0" lvl="0" indent="0" algn="ctr" rtl="0">
                        <a:lnSpc>
                          <a:spcPct val="100000"/>
                        </a:lnSpc>
                        <a:buClr>
                          <a:schemeClr val="dk1"/>
                        </a:buClr>
                        <a:buSzPts val="1500"/>
                        <a:buFont typeface="Arial"/>
                        <a:buNone/>
                      </a:pPr>
                      <a:r>
                        <a:rPr lang="ja-JP" sz="1500" b="0" dirty="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売上の特定顧客集中</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100" b="0" dirty="0">
                          <a:latin typeface="Meiryo UI" panose="020B0604030504040204" pitchFamily="50" charset="-128"/>
                          <a:ea typeface="Meiryo UI" panose="020B0604030504040204" pitchFamily="50" charset="-128"/>
                          <a:cs typeface="Arial"/>
                          <a:sym typeface="Arial"/>
                        </a:rPr>
                        <a:t>2026年1月期は㈱セガが47.8%を占め、上位10社も各期で入れ替わり。</a:t>
                      </a:r>
                    </a:p>
                    <a:p>
                      <a:pPr marL="139700" marR="0" lvl="0" indent="-139700" algn="l" rtl="0">
                        <a:lnSpc>
                          <a:spcPct val="100000"/>
                        </a:lnSpc>
                        <a:buClr>
                          <a:srgbClr val="66A09A"/>
                        </a:buClr>
                        <a:buSzPts val="1120"/>
                        <a:buFont typeface="Noto Sans Symbols"/>
                        <a:buNone/>
                      </a:pPr>
                      <a:r>
                        <a:rPr lang="ja-JP" altLang="en-US" sz="1100" b="0" dirty="0">
                          <a:latin typeface="Meiryo UI" panose="020B0604030504040204" pitchFamily="50" charset="-128"/>
                          <a:ea typeface="Meiryo UI" panose="020B0604030504040204" pitchFamily="50" charset="-128"/>
                          <a:cs typeface="Arial"/>
                          <a:sym typeface="Arial"/>
                        </a:rPr>
                        <a:t>IPのヒットに業績が左右される構造。</a:t>
                      </a:r>
                    </a:p>
                    <a:p>
                      <a:pPr marL="139700" marR="0" lvl="0" indent="-139700" algn="l" rtl="0">
                        <a:lnSpc>
                          <a:spcPct val="100000"/>
                        </a:lnSpc>
                        <a:buClr>
                          <a:srgbClr val="66A09A"/>
                        </a:buClr>
                        <a:buSzPts val="1120"/>
                        <a:buFont typeface="Noto Sans Symbols"/>
                        <a:buNone/>
                      </a:pPr>
                      <a:r>
                        <a:rPr lang="ja-JP" altLang="en-US" sz="1100" b="0" dirty="0">
                          <a:latin typeface="Meiryo UI" panose="020B0604030504040204" pitchFamily="50" charset="-128"/>
                          <a:ea typeface="Meiryo UI" panose="020B0604030504040204" pitchFamily="50" charset="-128"/>
                          <a:cs typeface="Arial"/>
                          <a:sym typeface="Arial"/>
                        </a:rPr>
                        <a:t>→ 基本契約の有無・翌期の受注見込みを確認。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a:solidFill>
                            <a:srgbClr val="252525"/>
                          </a:solidFill>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1060000">
                <a:tc>
                  <a:txBody>
                    <a:bodyPr/>
                    <a:lstStyle/>
                    <a:p>
                      <a:pPr marL="0" marR="0" lvl="0" indent="0" algn="ctr" rtl="0">
                        <a:buNone/>
                      </a:pPr>
                      <a:r>
                        <a:rPr lang="ja-JP"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dirty="0" sz="1300" b="0">
                          <a:latin typeface="Meiryo UI" panose="020B0604030504040204" pitchFamily="50" charset="-128"/>
                          <a:ea typeface="Meiryo UI" panose="020B0604030504040204" pitchFamily="50" charset="-128"/>
                        </a:rPr>
                        <a:t>業績動向</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売上高443,868→422,475千円、営業利益78,191→58,514千円。</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輸出売上（158,489→34,727千円）の反落が主因。</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 進行期（2027年1月期）の月次試算表・受注残を確認。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r h="1060000">
                <a:tc>
                  <a:txBody>
                    <a:bodyPr/>
                    <a:lstStyle/>
                    <a:p>
                      <a:pPr marL="0" marR="0" lvl="0" indent="0" algn="ctr" rtl="0">
                        <a:buNone/>
                      </a:pPr>
                      <a:r>
                        <a:rPr lang="ja-JP" sz="1500" b="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dirty="0" sz="1300" b="0">
                          <a:latin typeface="Meiryo UI" panose="020B0604030504040204" pitchFamily="50" charset="-128"/>
                          <a:ea typeface="Meiryo UI" panose="020B0604030504040204" pitchFamily="50" charset="-128"/>
                        </a:rPr>
                        <a:t>棚卸資産廃棄損</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6,723→17,217→19,845千円と3期連続で増加。</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「在庫を抱えない方針」との説明と乖離している。</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 発生要因（オリジナルくじ商材の売れ残り等）の確認が必要。</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1060000">
                <a:tc>
                  <a:txBody>
                    <a:bodyPr/>
                    <a:lstStyle/>
                    <a:p>
                      <a:pPr marL="0" marR="0" lvl="0" indent="0" algn="ctr" rtl="0">
                        <a:buNone/>
                      </a:pPr>
                      <a:r>
                        <a:rPr lang="ja-JP"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dirty="0" sz="1300" b="0">
                          <a:latin typeface="Meiryo UI" panose="020B0604030504040204" pitchFamily="50" charset="-128"/>
                          <a:ea typeface="Meiryo UI" panose="020B0604030504040204" pitchFamily="50" charset="-128"/>
                        </a:rPr>
                        <a:t>属人性・キーマン</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野口社長へのOEM窓口機能の集中、制作部長（勤続12年）の継続勤務。</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少数精鋭体制のため、いずれも事業継続の前提となる。</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 承継計画と従業員への開示タイミングを確認。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要対応</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bl>
          </a:graphicData>
        </a:graphic>
      </p:graphicFrame>
      <p:sp>
        <p:nvSpPr>
          <p:cNvPr id="238" name="Google Shape;238;p6"/>
          <p:cNvSpPr txBox="1"/>
          <p:nvPr/>
        </p:nvSpPr>
        <p:spPr>
          <a:xfrm>
            <a:off x="9252520" y="-55416"/>
            <a:ext cx="2736304" cy="6913416"/>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１．未開示の関係者への開示について、どのタイミングでどのように行うかを記載。</a:t>
            </a:r>
            <a:r>
              <a:rPr lang="ja-JP" sz="1200" b="0" i="0" u="none" strike="noStrike" cap="none">
                <a:solidFill>
                  <a:srgbClr val="FF0000"/>
                </a:solidFill>
                <a:latin typeface="Arial"/>
                <a:ea typeface="Arial"/>
                <a:cs typeface="Arial"/>
                <a:sym typeface="Arial"/>
              </a:rPr>
              <a:t>家族（特に、配偶者や創業者等の先代経営者、もしかしたら継ぐ可能性のある子ども）や重要な取引先、未開示の株主</a:t>
            </a:r>
            <a:r>
              <a:rPr lang="ja-JP" sz="1200" b="0" i="0" u="none" strike="noStrike" cap="none">
                <a:solidFill>
                  <a:schemeClr val="dk1"/>
                </a:solidFill>
                <a:latin typeface="Arial"/>
                <a:ea typeface="Arial"/>
                <a:cs typeface="Arial"/>
                <a:sym typeface="Arial"/>
              </a:rPr>
              <a:t>への開示は留意。</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２．株式の状況について、</a:t>
            </a:r>
            <a:r>
              <a:rPr lang="ja-JP" sz="1200" b="0" i="0" u="none" strike="noStrike" cap="none">
                <a:solidFill>
                  <a:srgbClr val="FF0000"/>
                </a:solidFill>
                <a:latin typeface="Arial"/>
                <a:ea typeface="Arial"/>
                <a:cs typeface="Arial"/>
                <a:sym typeface="Arial"/>
              </a:rPr>
              <a:t>反対するリスクのある株主がいるかを確認</a:t>
            </a:r>
            <a:r>
              <a:rPr lang="ja-JP" sz="1200" b="0" i="0" u="none" strike="noStrike" cap="none">
                <a:solidFill>
                  <a:schemeClr val="dk1"/>
                </a:solidFill>
                <a:latin typeface="Arial"/>
                <a:ea typeface="Arial"/>
                <a:cs typeface="Arial"/>
                <a:sym typeface="Arial"/>
              </a:rPr>
              <a:t>。所在不明株主や認知症の株主がいないかも確認。株券を過去に印刷したことがある場合、現物の所在をしっかりと追い、問題ないか確認。</a:t>
            </a:r>
            <a:r>
              <a:rPr lang="ja-JP" sz="1200" b="0" i="0" u="none" strike="noStrike" cap="none">
                <a:solidFill>
                  <a:srgbClr val="FF0000"/>
                </a:solidFill>
                <a:latin typeface="Arial"/>
                <a:ea typeface="Arial"/>
                <a:cs typeface="Arial"/>
                <a:sym typeface="Arial"/>
              </a:rPr>
              <a:t>名義株がある場合、本当に資金拠出の事実が無いかを確認し、名義株の場合、どうするかも確認</a:t>
            </a:r>
            <a:r>
              <a:rPr lang="ja-JP" sz="1200" b="0" i="0" u="none" strike="noStrike" cap="none">
                <a:solidFill>
                  <a:schemeClr val="dk1"/>
                </a:solidFill>
                <a:latin typeface="Arial"/>
                <a:ea typeface="Arial"/>
                <a:cs typeface="Arial"/>
                <a:sym typeface="Arial"/>
              </a:rPr>
              <a:t>（資金を出した株主にまとめるかそのまま売却するかなど。）。</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３．株式の変遷について、原始定款から現在までの変遷シート（エクセルでのフォーマットあり。）を作成する。把握できない場合、リスクの範囲を把握する。親族であれば、比較的リスクは低いものの、</a:t>
            </a:r>
            <a:r>
              <a:rPr lang="ja-JP" sz="1200" b="0" i="0" u="none" strike="noStrike" cap="none">
                <a:solidFill>
                  <a:srgbClr val="FF0000"/>
                </a:solidFill>
                <a:latin typeface="Arial"/>
                <a:ea typeface="Arial"/>
                <a:cs typeface="Arial"/>
                <a:sym typeface="Arial"/>
              </a:rPr>
              <a:t>外部株主（取引先・元役職員）は揉める</a:t>
            </a:r>
            <a:r>
              <a:rPr lang="ja-JP" sz="1200" b="0" i="0" u="none" strike="noStrike" cap="none">
                <a:solidFill>
                  <a:schemeClr val="dk1"/>
                </a:solidFill>
                <a:latin typeface="Arial"/>
                <a:ea typeface="Arial"/>
                <a:cs typeface="Arial"/>
                <a:sym typeface="Arial"/>
              </a:rPr>
              <a:t>ので留意。</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４．COC・主要取引先について、不動産の賃貸借契約や取引先・仕入先等の契約をチェックし、COCの有無を確認。契約上のCOCは無くても、主要先や賃貸人との関係性を考慮した対応を検討する。接待やリベート等も留意。</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５．不動産について、</a:t>
            </a:r>
            <a:r>
              <a:rPr lang="ja-JP" sz="1200" b="0" i="0" u="none" strike="noStrike" cap="none">
                <a:solidFill>
                  <a:srgbClr val="FF0000"/>
                </a:solidFill>
                <a:latin typeface="Arial"/>
                <a:ea typeface="Arial"/>
                <a:cs typeface="Arial"/>
                <a:sym typeface="Arial"/>
              </a:rPr>
              <a:t>違法建築・未登記物件・市街化調整区域内の建築・消防法違反・アスベストや土壌汚染等に留意する。土地の地目も留意（農地法の手続に1か月以上かかる場合もある）</a:t>
            </a:r>
            <a:r>
              <a:rPr lang="ja-JP" sz="1200" b="0" i="0" u="none" strike="noStrike" cap="none">
                <a:solidFill>
                  <a:schemeClr val="dk1"/>
                </a:solidFill>
                <a:latin typeface="Arial"/>
                <a:ea typeface="Arial"/>
                <a:cs typeface="Arial"/>
                <a:sym typeface="Arial"/>
              </a:rPr>
              <a:t>。</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６．訴訟・トラブルについて、簿外負債、業務上の死亡事故、横領、顧客とのトラブル（特にネット販売等）などを確認。代表者等の個人の訴訟有無も確認。</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buNone/>
            </a:pPr>
            <a:r>
              <a:rPr lang="ja-JP" altLang="en-US" dirty="0">
                <a:solidFill>
                  <a:srgbClr val="5A5A5A"/>
                </a:solidFill>
                <a:latin typeface="Meiryo UI" panose="020B0604030504040204" pitchFamily="50" charset="-128"/>
                <a:ea typeface="Meiryo UI" panose="020B0604030504040204" pitchFamily="50" charset="-128"/>
              </a:rPr>
              <a:t>買手候補先に求める要件（社風・経営方針の適合性）</a:t>
            </a:r>
          </a:p>
        </p:txBody>
      </p:sp>
      <p:sp>
        <p:nvSpPr>
          <p:cNvPr id="215"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216"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217" name="Google Shape;217;p4"/>
          <p:cNvGraphicFramePr/>
          <p:nvPr>
            <p:extLst>
              <p:ext uri="{D42A27DB-BD31-4B8C-83A1-F6EECF244321}">
                <p14:modId xmlns:p14="http://schemas.microsoft.com/office/powerpoint/2010/main" val="1165932223"/>
              </p:ext>
            </p:extLst>
          </p:nvPr>
        </p:nvGraphicFramePr>
        <p:xfrm>
          <a:off x="398462" y="838712"/>
          <a:ext cx="8352650" cy="451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評価の観点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確認したい内容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重要度</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830000">
                <a:tc>
                  <a:txBody>
                    <a:bodyPr/>
                    <a:lstStyle/>
                    <a:p>
                      <a:pPr marL="0" marR="0" lvl="0" indent="0" algn="ctr" rtl="0">
                        <a:buNone/>
                      </a:pPr>
                      <a:r>
                        <a:rPr lang="en-US" b="0" dirty="0" sz="150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300" dirty="0" b="0">
                          <a:solidFill>
                            <a:schemeClr val="dk1"/>
                          </a:solidFill>
                          <a:latin typeface="Meiryo UI" panose="020B0604030504040204" pitchFamily="50" charset="-128"/>
                          <a:ea typeface="Meiryo UI" panose="020B0604030504040204" pitchFamily="50" charset="-128"/>
                        </a:rPr>
                        <a:t>経営スタイル・</a:t>
                      </a:r>
                    </a:p>
                    <a:p>
                      <a:pPr marL="0" marR="0" lvl="0" indent="0" algn="ctr" rtl="0">
                        <a:buNone/>
                      </a:pPr>
                      <a:r>
                        <a:rPr lang="ja-JP" altLang="en-US" sz="1300" dirty="0" b="0">
                          <a:solidFill>
                            <a:schemeClr val="dk1"/>
                          </a:solidFill>
                          <a:latin typeface="Meiryo UI" panose="020B0604030504040204" pitchFamily="50" charset="-128"/>
                          <a:ea typeface="Meiryo UI" panose="020B0604030504040204" pitchFamily="50" charset="-128"/>
                        </a:rPr>
                        <a:t>意思決定</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100" b="0" dirty="0">
                          <a:solidFill>
                            <a:schemeClr val="dk1"/>
                          </a:solidFill>
                          <a:latin typeface="Meiryo UI" panose="020B0604030504040204" pitchFamily="50" charset="-128"/>
                          <a:ea typeface="Meiryo UI" panose="020B0604030504040204" pitchFamily="50" charset="-128"/>
                        </a:rPr>
                        <a:t>現状は野口社長の判断でIP選定・企画・投資を即断できる体制。</a:t>
                      </a:r>
                    </a:p>
                    <a:p>
                      <a:pPr marL="0" marR="0" lvl="0" indent="0" algn="l" rtl="0">
                        <a:lnSpc>
                          <a:spcPct val="100000"/>
                        </a:lnSpc>
                        <a:buClr>
                          <a:srgbClr val="66A09A"/>
                        </a:buClr>
                        <a:buSzPts val="1120"/>
                        <a:buFont typeface="Arial"/>
                        <a:buNone/>
                      </a:pPr>
                      <a:r>
                        <a:rPr lang="ja-JP" altLang="en-US" sz="1100" b="0" dirty="0">
                          <a:solidFill>
                            <a:schemeClr val="dk1"/>
                          </a:solidFill>
                          <a:latin typeface="Meiryo UI" panose="020B0604030504040204" pitchFamily="50" charset="-128"/>
                          <a:ea typeface="Meiryo UI" panose="020B0604030504040204" pitchFamily="50" charset="-128"/>
                        </a:rPr>
                        <a:t>→ 決裁権限規程、子会社社長に委ねる裁量の範囲を確認。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altLang="en-US"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高</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830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300" dirty="0" b="0">
                          <a:solidFill>
                            <a:schemeClr val="dk1"/>
                          </a:solidFill>
                          <a:latin typeface="Meiryo UI" panose="020B0604030504040204" pitchFamily="50" charset="-128"/>
                          <a:ea typeface="Meiryo UI" panose="020B0604030504040204" pitchFamily="50" charset="-128"/>
                        </a:rPr>
                        <a:t>事業・業界への理解</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100" b="0" dirty="0">
                          <a:solidFill>
                            <a:schemeClr val="dk1"/>
                          </a:solidFill>
                          <a:latin typeface="Meiryo UI" panose="020B0604030504040204" pitchFamily="50" charset="-128"/>
                          <a:ea typeface="Meiryo UI" panose="020B0604030504040204" pitchFamily="50" charset="-128"/>
                        </a:rPr>
                        <a:t>版権元との関係は属人的な信頼で成立。</a:t>
                      </a:r>
                    </a:p>
                    <a:p>
                      <a:pPr marL="0" marR="0" lvl="0" indent="0" algn="l" rtl="0">
                        <a:lnSpc>
                          <a:spcPct val="100000"/>
                        </a:lnSpc>
                        <a:buClr>
                          <a:srgbClr val="66A09A"/>
                        </a:buClr>
                        <a:buSzPts val="1120"/>
                        <a:buFont typeface="Arial"/>
                        <a:buNone/>
                      </a:pPr>
                      <a:r>
                        <a:rPr lang="ja-JP" altLang="en-US" sz="1100" b="0" dirty="0">
                          <a:solidFill>
                            <a:schemeClr val="dk1"/>
                          </a:solidFill>
                          <a:latin typeface="Meiryo UI" panose="020B0604030504040204" pitchFamily="50" charset="-128"/>
                          <a:ea typeface="Meiryo UI" panose="020B0604030504040204" pitchFamily="50" charset="-128"/>
                        </a:rPr>
                        <a:t>→ アニメ・ゲームIP／キャラクターグッズ領域での実績を確認。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高</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r h="83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dirty="0" sz="1300" b="0">
                          <a:latin typeface="Meiryo UI" panose="020B0604030504040204" pitchFamily="50" charset="-128"/>
                          <a:ea typeface="Meiryo UI" panose="020B0604030504040204" pitchFamily="50" charset="-128"/>
                        </a:rPr>
                        <a:t>継続勤務条件の受入</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en-US" altLang="ja-JP" sz="1100" b="0" dirty="0">
                          <a:solidFill>
                            <a:schemeClr val="dk1"/>
                          </a:solidFill>
                          <a:latin typeface="Meiryo UI" panose="020B0604030504040204" pitchFamily="50" charset="-128"/>
                          <a:ea typeface="Meiryo UI" panose="020B0604030504040204" pitchFamily="50" charset="-128"/>
                          <a:cs typeface="Arial"/>
                          <a:sym typeface="Arial"/>
                        </a:rPr>
                        <a:t>7年間の継続勤務・役員報酬1,200万円以上・業績インセンティブの受入可否。</a:t>
                      </a:r>
                    </a:p>
                    <a:p>
                      <a:pPr marL="139700" marR="0" lvl="0" indent="-139700" algn="l" rtl="0">
                        <a:lnSpc>
                          <a:spcPct val="100000"/>
                        </a:lnSpc>
                        <a:buClr>
                          <a:srgbClr val="66A09A"/>
                        </a:buClr>
                        <a:buSzPts val="1120"/>
                        <a:buFont typeface="Noto Sans Symbols"/>
                        <a:buNone/>
                      </a:pPr>
                      <a:r>
                        <a:rPr lang="en-US" altLang="ja-JP" sz="1100" b="0" dirty="0">
                          <a:solidFill>
                            <a:schemeClr val="dk1"/>
                          </a:solidFill>
                          <a:latin typeface="Meiryo UI" panose="020B0604030504040204" pitchFamily="50" charset="-128"/>
                          <a:ea typeface="Meiryo UI" panose="020B0604030504040204" pitchFamily="50" charset="-128"/>
                          <a:cs typeface="Arial"/>
                          <a:sym typeface="Arial"/>
                        </a:rPr>
                        <a:t>→ グループ役員報酬水準との整合を確認。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高</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83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従業員の処遇・</a:t>
                      </a:r>
                    </a:p>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カルチャー</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rPr>
                        <a:t>平均年齢30.6歳・平均勤続5.4年、7名中6名が女性で育休復帰実績あり。</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rPr>
                        <a:t>→ 人事制度・勤務地・両立支援制度を確認。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高</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83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300" dirty="0" b="0">
                          <a:solidFill>
                            <a:schemeClr val="dk1"/>
                          </a:solidFill>
                          <a:latin typeface="Meiryo UI" panose="020B0604030504040204" pitchFamily="50" charset="-128"/>
                          <a:ea typeface="Meiryo UI" panose="020B0604030504040204" pitchFamily="50" charset="-128"/>
                        </a:rPr>
                        <a:t>シナジー・成長投資</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顧客基盤の多様化、新規IP開拓、海外販路、EC・直販チャネル等。</a:t>
                      </a:r>
                    </a:p>
                    <a:p>
                      <a:pPr marL="139700" marR="0" lvl="0" indent="-139700" algn="l" rtl="0">
                        <a:lnSpc>
                          <a:spcPct val="100000"/>
                        </a:lnSpc>
                        <a:buClr>
                          <a:srgbClr val="66A09A"/>
                        </a:buClr>
                        <a:buSzPts val="1120"/>
                        <a:buFont typeface="Noto Sans Symbols"/>
                        <a:buNone/>
                      </a:pPr>
                      <a:r>
                        <a:rPr lang="ja-JP" altLang="en-US" sz="1100" b="0" dirty="0">
                          <a:solidFill>
                            <a:schemeClr val="dk1"/>
                          </a:solidFill>
                          <a:latin typeface="Meiryo UI" panose="020B0604030504040204" pitchFamily="50" charset="-128"/>
                          <a:ea typeface="Meiryo UI" panose="020B0604030504040204" pitchFamily="50" charset="-128"/>
                          <a:cs typeface="Arial"/>
                          <a:sym typeface="Arial"/>
                        </a:rPr>
                        <a:t>→ 成長投資への姿勢と投資枠を確認。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中</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bl>
          </a:graphicData>
        </a:graphic>
      </p:graphicFrame>
      <p:sp>
        <p:nvSpPr>
          <p:cNvPr id="218" name="Google Shape;218;p4"/>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８．社用車の引き取りについては、ディーラーからの見積もり等時価で評価し、買取か退職金で現物支給する。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９．社用車と同様に、時価で評価し、買取か退職金で現物支給する。 </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１０．不動産の取り扱いについて、不動産売買をするのか賃貸をするのか確認する。</a:t>
            </a:r>
            <a:r>
              <a:rPr lang="ja-JP" sz="1200" b="0" i="0" u="none" strike="noStrike" cap="none">
                <a:solidFill>
                  <a:srgbClr val="FF0000"/>
                </a:solidFill>
                <a:latin typeface="Arial"/>
                <a:ea typeface="Arial"/>
                <a:cs typeface="Arial"/>
                <a:sym typeface="Arial"/>
              </a:rPr>
              <a:t>オーナーが対象会社に賃貸している場合、賃料を安く設定していることが多く、M&amp;Aのタイミングで賃料を戻すこともあり、留意が必要。</a:t>
            </a:r>
            <a:r>
              <a:rPr lang="ja-JP" sz="1200" b="0" i="0" u="none" strike="noStrike" cap="none">
                <a:solidFill>
                  <a:schemeClr val="dk1"/>
                </a:solidFill>
                <a:latin typeface="Arial"/>
                <a:ea typeface="Arial"/>
                <a:cs typeface="Arial"/>
                <a:sym typeface="Arial"/>
              </a:rPr>
              <a:t>対象会社で所有している遊休地を買い取る（退職金として現物支給）ケースなども想定する。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１１．取締役・キーマンの継続勤務については、</a:t>
            </a:r>
            <a:r>
              <a:rPr lang="ja-JP" sz="1200" b="0" i="0" u="none" strike="noStrike" cap="none">
                <a:solidFill>
                  <a:srgbClr val="FF0000"/>
                </a:solidFill>
                <a:latin typeface="Arial"/>
                <a:ea typeface="Arial"/>
                <a:cs typeface="Arial"/>
                <a:sym typeface="Arial"/>
              </a:rPr>
              <a:t>本件M&amp;Aが開示が否かや非開示の場合、どのタイミングで開示をするかも確認</a:t>
            </a:r>
            <a:r>
              <a:rPr lang="ja-JP" sz="1200" b="0" i="0" u="none" strike="noStrike" cap="none">
                <a:solidFill>
                  <a:schemeClr val="dk1"/>
                </a:solidFill>
                <a:latin typeface="Arial"/>
                <a:ea typeface="Arial"/>
                <a:cs typeface="Arial"/>
                <a:sym typeface="Arial"/>
              </a:rPr>
              <a:t>する。また、</a:t>
            </a:r>
            <a:r>
              <a:rPr lang="ja-JP" sz="1200" b="0" i="0" u="none" strike="noStrike" cap="none">
                <a:solidFill>
                  <a:srgbClr val="FF0000"/>
                </a:solidFill>
                <a:latin typeface="Arial"/>
                <a:ea typeface="Arial"/>
                <a:cs typeface="Arial"/>
                <a:sym typeface="Arial"/>
              </a:rPr>
              <a:t>業務内容をしっかりと認識し、</a:t>
            </a:r>
            <a:r>
              <a:rPr lang="ja-JP" sz="1200" b="0" i="0" u="none" strike="noStrike" cap="none">
                <a:solidFill>
                  <a:schemeClr val="dk1"/>
                </a:solidFill>
                <a:latin typeface="Arial"/>
                <a:ea typeface="Arial"/>
                <a:cs typeface="Arial"/>
                <a:sym typeface="Arial"/>
              </a:rPr>
              <a:t>退職リスクも確認する。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１２．従業員の継続雇用は基本条件とはなる。一般的には1年間か当面の間（実質は1年）。</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１３．オーナー社長が差し入れする連帯保証の解除と個人資産の担保解除は必須条件。</a:t>
            </a:r>
            <a:r>
              <a:rPr lang="ja-JP" sz="1200" b="0" i="0" u="none" strike="noStrike" cap="none">
                <a:solidFill>
                  <a:srgbClr val="FF0000"/>
                </a:solidFill>
                <a:latin typeface="Arial"/>
                <a:ea typeface="Arial"/>
                <a:cs typeface="Arial"/>
                <a:sym typeface="Arial"/>
              </a:rPr>
              <a:t>個人資産の担保提供は必ず謄本等で確認</a:t>
            </a:r>
            <a:r>
              <a:rPr lang="ja-JP" sz="1200" b="0" i="0" u="none" strike="noStrike" cap="none">
                <a:solidFill>
                  <a:schemeClr val="dk1"/>
                </a:solidFill>
                <a:latin typeface="Arial"/>
                <a:ea typeface="Arial"/>
                <a:cs typeface="Arial"/>
                <a:sym typeface="Arial"/>
              </a:rPr>
              <a:t>する。</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buNone/>
            </a:pPr>
            <a:r>
              <a:rPr lang="ja-JP" altLang="en-US" dirty="0">
                <a:solidFill>
                  <a:srgbClr val="5A5A5A"/>
                </a:solidFill>
                <a:latin typeface="Meiryo UI" panose="020B0604030504040204" pitchFamily="50" charset="-128"/>
                <a:ea typeface="Meiryo UI" panose="020B0604030504040204" pitchFamily="50" charset="-128"/>
              </a:rPr>
              <a:t>今後のスケジュール</a:t>
            </a:r>
          </a:p>
        </p:txBody>
      </p:sp>
      <p:sp>
        <p:nvSpPr>
          <p:cNvPr id="215"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216"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217" name="Google Shape;217;p4"/>
          <p:cNvGraphicFramePr/>
          <p:nvPr>
            <p:extLst>
              <p:ext uri="{D42A27DB-BD31-4B8C-83A1-F6EECF244321}">
                <p14:modId xmlns:p14="http://schemas.microsoft.com/office/powerpoint/2010/main" val="1165932223"/>
              </p:ext>
            </p:extLst>
          </p:nvPr>
        </p:nvGraphicFramePr>
        <p:xfrm>
          <a:off x="398462" y="838712"/>
          <a:ext cx="8352650" cy="532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2050000">
                  <a:extLst>
                    <a:ext uri="{9D8B030D-6E8A-4147-A177-3AD203B41FA5}">
                      <a16:colId xmlns:a16="http://schemas.microsoft.com/office/drawing/2014/main" val="20001"/>
                    </a:ext>
                  </a:extLst>
                </a:gridCol>
                <a:gridCol w="4220000">
                  <a:extLst>
                    <a:ext uri="{9D8B030D-6E8A-4147-A177-3AD203B41FA5}">
                      <a16:colId xmlns:a16="http://schemas.microsoft.com/office/drawing/2014/main" val="20002"/>
                    </a:ext>
                  </a:extLst>
                </a:gridCol>
                <a:gridCol w="1650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イベント</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時期</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620000">
                <a:tc>
                  <a:txBody>
                    <a:bodyPr/>
                    <a:lstStyle/>
                    <a:p>
                      <a:pPr marL="0" marR="0" lvl="0" indent="0" algn="ctr" rtl="0">
                        <a:buNone/>
                      </a:pPr>
                      <a:r>
                        <a:rPr lang="en-US" b="0" dirty="0" sz="150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dirty="0" b="0">
                          <a:solidFill>
                            <a:schemeClr val="dk1"/>
                          </a:solidFill>
                          <a:latin typeface="Meiryo UI" panose="020B0604030504040204" pitchFamily="50" charset="-128"/>
                          <a:ea typeface="Meiryo UI" panose="020B0604030504040204" pitchFamily="50" charset="-128"/>
                        </a:rPr>
                        <a:t>論点整理・条件確定</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本資料を基に、継続勤務条件・希望価額・分割範囲を確定</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altLang="en-US" sz="1100" b="0" i="0" u="none" strike="noStrike" cap="none" dirty="0">
                          <a:solidFill>
                            <a:srgbClr val="252525"/>
                          </a:solidFill>
                          <a:latin typeface="Meiryo UI" panose="020B0604030504040204" pitchFamily="50" charset="-128"/>
                          <a:ea typeface="Meiryo UI" panose="020B0604030504040204" pitchFamily="50" charset="-128"/>
                          <a:cs typeface="Arial"/>
                          <a:sym typeface="Arial"/>
                        </a:rPr>
                        <a:t>2026年</a:t>
                      </a:r>
                    </a:p>
                    <a:p>
                      <a:pPr marL="0" marR="0" lvl="0" indent="0" algn="ctr" rtl="0">
                        <a:lnSpc>
                          <a:spcPct val="100000"/>
                        </a:lnSpc>
                        <a:buClr>
                          <a:srgbClr val="252525"/>
                        </a:buClr>
                        <a:buSzPts val="1600"/>
                        <a:buFont typeface="Arial"/>
                        <a:buNone/>
                      </a:pPr>
                      <a:r>
                        <a:rPr lang="ja-JP" altLang="en-US" sz="1100" b="0" i="0" u="none" strike="noStrike" cap="none" dirty="0">
                          <a:solidFill>
                            <a:srgbClr val="252525"/>
                          </a:solidFill>
                          <a:latin typeface="Meiryo UI" panose="020B0604030504040204" pitchFamily="50" charset="-128"/>
                          <a:ea typeface="Meiryo UI" panose="020B0604030504040204" pitchFamily="50" charset="-128"/>
                          <a:cs typeface="Arial"/>
                          <a:sym typeface="Arial"/>
                        </a:rPr>
                        <a:t>9月上旬〜中旬</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620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dirty="0" b="0">
                          <a:solidFill>
                            <a:schemeClr val="dk1"/>
                          </a:solidFill>
                          <a:latin typeface="Meiryo UI" panose="020B0604030504040204" pitchFamily="50" charset="-128"/>
                          <a:ea typeface="Meiryo UI" panose="020B0604030504040204" pitchFamily="50" charset="-128"/>
                        </a:rPr>
                        <a:t>会社分割スキームの確定</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分割形態（分割型／分社型）・対象資産を確定、顧問税理士と協議</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2026年</a:t>
                      </a:r>
                    </a:p>
                    <a:p>
                      <a:pPr marL="0" marR="0" lvl="0" indent="0" algn="ctr" rtl="0">
                        <a:lnSpc>
                          <a:spcPct val="100000"/>
                        </a:lnSpc>
                        <a:buClr>
                          <a:schemeClr val="dk1"/>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9月中</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r h="62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dirty="0" sz="1200" b="0">
                          <a:latin typeface="Meiryo UI" panose="020B0604030504040204" pitchFamily="50" charset="-128"/>
                          <a:ea typeface="Meiryo UI" panose="020B0604030504040204" pitchFamily="50" charset="-128"/>
                        </a:rPr>
                        <a:t>買手候補先の選定・打診</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en-US" altLang="ja-JP" sz="1050" b="0" dirty="0">
                          <a:solidFill>
                            <a:schemeClr val="dk1"/>
                          </a:solidFill>
                          <a:latin typeface="Meiryo UI" panose="020B0604030504040204" pitchFamily="50" charset="-128"/>
                          <a:ea typeface="Meiryo UI" panose="020B0604030504040204" pitchFamily="50" charset="-128"/>
                          <a:cs typeface="Arial"/>
                          <a:sym typeface="Arial"/>
                        </a:rPr>
                        <a:t>ショートリスト作成、秘密保持契約の締結、企業概要書の開示</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2026年</a:t>
                      </a:r>
                    </a:p>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9月〜10月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62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dirty="0" b="0">
                          <a:solidFill>
                            <a:schemeClr val="dk1"/>
                          </a:solidFill>
                          <a:latin typeface="Meiryo UI" panose="020B0604030504040204" pitchFamily="50" charset="-128"/>
                          <a:ea typeface="Meiryo UI" panose="020B0604030504040204" pitchFamily="50" charset="-128"/>
                        </a:rPr>
                        <a:t>TOP面談</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買手候補先と野口社長のTOP面談（事前に想定質疑を打合せ）</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2026年10月下旬</a:t>
                      </a:r>
                    </a:p>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〜11月上旬</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62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dirty="0" b="0">
                          <a:solidFill>
                            <a:schemeClr val="dk1"/>
                          </a:solidFill>
                          <a:latin typeface="Meiryo UI" panose="020B0604030504040204" pitchFamily="50" charset="-128"/>
                          <a:ea typeface="Meiryo UI" panose="020B0604030504040204" pitchFamily="50" charset="-128"/>
                        </a:rPr>
                        <a:t>意向表明書の提出・受領</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各種条件・DD実施有無・スケジュールを確定〜独占交渉権付与〜</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2026年</a:t>
                      </a:r>
                    </a:p>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11月中旬</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r h="62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en-US" altLang="ja-JP" sz="1200" dirty="0" b="0">
                          <a:solidFill>
                            <a:schemeClr val="dk1"/>
                          </a:solidFill>
                          <a:latin typeface="Meiryo UI" panose="020B0604030504040204" pitchFamily="50" charset="-128"/>
                          <a:ea typeface="Meiryo UI" panose="020B0604030504040204" pitchFamily="50" charset="-128"/>
                        </a:rPr>
                        <a:t>企業調査（DD）・報告会</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財務・税務・法務・労務等の調査およびご報告</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2026年11月下旬</a:t>
                      </a:r>
                    </a:p>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〜12月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6"/>
                  </a:ext>
                </a:extLst>
              </a:tr>
              <a:tr h="62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7</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dirty="0" b="0">
                          <a:solidFill>
                            <a:schemeClr val="dk1"/>
                          </a:solidFill>
                          <a:latin typeface="Meiryo UI" panose="020B0604030504040204" pitchFamily="50" charset="-128"/>
                          <a:ea typeface="Meiryo UI" panose="020B0604030504040204" pitchFamily="50" charset="-128"/>
                        </a:rPr>
                        <a:t>最終契約書の締結</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DD結果を踏まえた条件確定、株式譲渡契約（SPA）の締結</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srgbClr val="252525"/>
                        </a:buClr>
                        <a:buSzPts val="1600"/>
                        <a:buFont typeface="Arial"/>
                        <a:buNone/>
                        <a:tabLst/>
                        <a:defRPr/>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2027年</a:t>
                      </a:r>
                    </a:p>
                    <a:p>
                      <a:pPr marL="0" marR="0" lvl="0" indent="0" algn="ctr" defTabSz="914400" rtl="0" eaLnBrk="1" fontAlgn="auto" latinLnBrk="0" hangingPunct="1">
                        <a:lnSpc>
                          <a:spcPct val="100000"/>
                        </a:lnSpc>
                        <a:buClr>
                          <a:srgbClr val="252525"/>
                        </a:buClr>
                        <a:buSzPts val="1600"/>
                        <a:buFont typeface="Arial"/>
                        <a:buNone/>
                        <a:tabLst/>
                        <a:defRPr/>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1月中旬</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259882126"/>
                  </a:ext>
                </a:extLst>
              </a:tr>
              <a:tr h="620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8</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dirty="0" b="0">
                          <a:solidFill>
                            <a:schemeClr val="dk1"/>
                          </a:solidFill>
                          <a:latin typeface="Meiryo UI" panose="020B0604030504040204" pitchFamily="50" charset="-128"/>
                          <a:ea typeface="Meiryo UI" panose="020B0604030504040204" pitchFamily="50" charset="-128"/>
                        </a:rPr>
                        <a:t>会社分割の実行・決済</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新設分割の手続（1〜2ヶ月程度）を経て、譲渡対価の決済</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2027年</a:t>
                      </a:r>
                    </a:p>
                    <a:p>
                      <a:pPr marL="0" marR="0" lvl="0" indent="0" algn="ctr" rtl="0">
                        <a:lnSpc>
                          <a:spcPct val="100000"/>
                        </a:lnSpc>
                        <a:buClr>
                          <a:schemeClr val="dk1"/>
                        </a:buClr>
                        <a:buSzPts val="1600"/>
                        <a:buFont typeface="Arial"/>
                        <a:buNone/>
                      </a:pPr>
                      <a:r>
                        <a:rPr kumimoji="0" lang="ja-JP" altLang="en-US" sz="11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1月〜3月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bl>
          </a:graphicData>
        </a:graphic>
      </p:graphicFrame>
      <p:sp>
        <p:nvSpPr>
          <p:cNvPr id="218" name="Google Shape;218;p4"/>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８．社用車の引き取りについては、ディーラーからの見積もり等時価で評価し、買取か退職金で現物支給する。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９．社用車と同様に、時価で評価し、買取か退職金で現物支給する。 </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１０．不動産の取り扱いについて、不動産売買をするのか賃貸をするのか確認する。</a:t>
            </a:r>
            <a:r>
              <a:rPr lang="ja-JP" sz="1200" b="0" i="0" u="none" strike="noStrike" cap="none">
                <a:solidFill>
                  <a:srgbClr val="FF0000"/>
                </a:solidFill>
                <a:latin typeface="Arial"/>
                <a:ea typeface="Arial"/>
                <a:cs typeface="Arial"/>
                <a:sym typeface="Arial"/>
              </a:rPr>
              <a:t>オーナーが対象会社に賃貸している場合、賃料を安く設定していることが多く、M&amp;Aのタイミングで賃料を戻すこともあり、留意が必要。</a:t>
            </a:r>
            <a:r>
              <a:rPr lang="ja-JP" sz="1200" b="0" i="0" u="none" strike="noStrike" cap="none">
                <a:solidFill>
                  <a:schemeClr val="dk1"/>
                </a:solidFill>
                <a:latin typeface="Arial"/>
                <a:ea typeface="Arial"/>
                <a:cs typeface="Arial"/>
                <a:sym typeface="Arial"/>
              </a:rPr>
              <a:t>対象会社で所有している遊休地を買い取る（退職金として現物支給）ケースなども想定する。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１１．取締役・キーマンの継続勤務については、</a:t>
            </a:r>
            <a:r>
              <a:rPr lang="ja-JP" sz="1200" b="0" i="0" u="none" strike="noStrike" cap="none">
                <a:solidFill>
                  <a:srgbClr val="FF0000"/>
                </a:solidFill>
                <a:latin typeface="Arial"/>
                <a:ea typeface="Arial"/>
                <a:cs typeface="Arial"/>
                <a:sym typeface="Arial"/>
              </a:rPr>
              <a:t>本件M&amp;Aが開示が否かや非開示の場合、どのタイミングで開示をするかも確認</a:t>
            </a:r>
            <a:r>
              <a:rPr lang="ja-JP" sz="1200" b="0" i="0" u="none" strike="noStrike" cap="none">
                <a:solidFill>
                  <a:schemeClr val="dk1"/>
                </a:solidFill>
                <a:latin typeface="Arial"/>
                <a:ea typeface="Arial"/>
                <a:cs typeface="Arial"/>
                <a:sym typeface="Arial"/>
              </a:rPr>
              <a:t>する。また、</a:t>
            </a:r>
            <a:r>
              <a:rPr lang="ja-JP" sz="1200" b="0" i="0" u="none" strike="noStrike" cap="none">
                <a:solidFill>
                  <a:srgbClr val="FF0000"/>
                </a:solidFill>
                <a:latin typeface="Arial"/>
                <a:ea typeface="Arial"/>
                <a:cs typeface="Arial"/>
                <a:sym typeface="Arial"/>
              </a:rPr>
              <a:t>業務内容をしっかりと認識し、</a:t>
            </a:r>
            <a:r>
              <a:rPr lang="ja-JP" sz="1200" b="0" i="0" u="none" strike="noStrike" cap="none">
                <a:solidFill>
                  <a:schemeClr val="dk1"/>
                </a:solidFill>
                <a:latin typeface="Arial"/>
                <a:ea typeface="Arial"/>
                <a:cs typeface="Arial"/>
                <a:sym typeface="Arial"/>
              </a:rPr>
              <a:t>退職リスクも確認する。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１２．従業員の継続雇用は基本条件とはなる。一般的には1年間か当面の間（実質は1年）。</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１３．オーナー社長が差し入れする連帯保証の解除と個人資産の担保解除は必須条件。</a:t>
            </a:r>
            <a:r>
              <a:rPr lang="ja-JP" sz="1200" b="0" i="0" u="none" strike="noStrike" cap="none">
                <a:solidFill>
                  <a:srgbClr val="FF0000"/>
                </a:solidFill>
                <a:latin typeface="Arial"/>
                <a:ea typeface="Arial"/>
                <a:cs typeface="Arial"/>
                <a:sym typeface="Arial"/>
              </a:rPr>
              <a:t>個人資産の担保提供は必ず謄本等で確認</a:t>
            </a:r>
            <a:r>
              <a:rPr lang="ja-JP" sz="1200" b="0" i="0" u="none" strike="noStrike" cap="none">
                <a:solidFill>
                  <a:schemeClr val="dk1"/>
                </a:solidFill>
                <a:latin typeface="Arial"/>
                <a:ea typeface="Arial"/>
                <a:cs typeface="Arial"/>
                <a:sym typeface="Arial"/>
              </a:rPr>
              <a:t>する。</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Template1">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1335</TotalTime>
  <Words>4407</Words>
  <Application>Microsoft Office PowerPoint</Application>
  <PresentationFormat>画面に合わせる (4:3)</PresentationFormat>
  <Paragraphs>563</Paragraphs>
  <Slides>10</Slides>
  <Notes>9</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10</vt:i4>
      </vt:variant>
    </vt:vector>
  </HeadingPairs>
  <TitlesOfParts>
    <vt:vector size="16" baseType="lpstr">
      <vt:lpstr>Meiryo UI</vt:lpstr>
      <vt:lpstr>Noto Sans Symbols</vt:lpstr>
      <vt:lpstr>游ゴシック</vt:lpstr>
      <vt:lpstr>Arial</vt:lpstr>
      <vt:lpstr>Trebuchet MS</vt:lpstr>
      <vt:lpstr>1_Template1</vt:lpstr>
      <vt:lpstr>PowerPoint プレゼンテーション</vt:lpstr>
      <vt:lpstr>PowerPoint プレゼンテーション</vt:lpstr>
      <vt:lpstr>確認事項</vt:lpstr>
      <vt:lpstr>分割対象資産の確認①</vt:lpstr>
      <vt:lpstr>分割対象資産の確認②</vt:lpstr>
      <vt:lpstr>会社分割スキームの前提整理</vt:lpstr>
      <vt:lpstr>分割後BSイメージ（2025年7月期BSベース）</vt:lpstr>
      <vt:lpstr>確認事項・要対応事項</vt:lpstr>
      <vt:lpstr>リスク事項に関する対応状況①</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日本M&amp;Aセンター</dc:creator>
  <cp:lastModifiedBy>田垣内 啓介</cp:lastModifiedBy>
  <cp:revision>28</cp:revision>
  <cp:lastPrinted>2026-07-13T11:25:43Z</cp:lastPrinted>
  <dcterms:created xsi:type="dcterms:W3CDTF">2010-02-03T05:21:11Z</dcterms:created>
  <dcterms:modified xsi:type="dcterms:W3CDTF">2026-07-30T01:44:22Z</dcterms:modified>
</cp:coreProperties>
</file>