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
  </p:notesMasterIdLst>
  <p:sldIdLst>
    <p:sldId id="256" r:id="rId2"/>
    <p:sldId id="278" r:id="rId3"/>
    <p:sldId id="269" r:id="rId4"/>
    <p:sldId id="270" r:id="rId5"/>
    <p:sldId id="282" r:id="rId23"/>
    <p:sldId id="281" r:id="rId22"/>
    <p:sldId id="280" r:id="rId21"/>
    <p:sldId id="272" r:id="rId6"/>
    <p:sldId id="283" r:id="rId24"/>
    <p:sldId id="279" r:id="rId7"/>
    <p:sldId id="275" r:id="rId8"/>
    <p:sldId id="276" r:id="rId9"/>
    <p:sldId id="265" r:id="rId10"/>
  </p:sldIdLst>
  <p:sldSz cx="10691813" cy="7559675"/>
  <p:notesSz cx="6807200" cy="9939338"/>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1pPr>
    <a:lvl2pPr marR="0" lvl="1"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2pPr>
    <a:lvl3pPr marR="0" lvl="2"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3pPr>
    <a:lvl4pPr marR="0" lvl="3"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4pPr>
    <a:lvl5pPr marR="0" lvl="4"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5pPr>
    <a:lvl6pPr marR="0" lvl="5"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6pPr>
    <a:lvl7pPr marR="0" lvl="6"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7pPr>
    <a:lvl8pPr marR="0" lvl="7"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8pPr>
    <a:lvl9pPr marR="0" lvl="8" algn="l" rtl="0">
      <a:lnSpc>
        <a:spcPct val="100000"/>
      </a:lnSpc>
      <a:spcBef>
        <a:spcPts val="0"/>
      </a:spcBef>
      <a:spcAft>
        <a:spcPts val="0"/>
      </a:spcAft>
      <a:buClr>
        <a:srgbClr val="000000"/>
      </a:buClr>
      <a:buFont typeface="游ゴシック"/>
      <a:defRPr sz="1400" b="0" i="0" u="none" strike="noStrike" cap="none">
        <a:solidFill>
          <a:srgbClr val="000000"/>
        </a:solidFill>
        <a:latin typeface="游ゴシック"/>
        <a:ea typeface="游ゴシック"/>
        <a:cs typeface="游ゴシック"/>
        <a:sym typeface="游ゴシック"/>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gg+RAI6D37kngR96NdEXYsF+ARm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BBA0A99-5925-474B-A7F4-3FDC7A6AACBD}">
  <a:tblStyle styleId="{DCCF9A74-03BB-4F99-A096-44C407BA311A}" styleName="Table_1">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CED"/>
          </a:solidFill>
        </a:fill>
      </a:tcStyle>
    </a:wholeTbl>
    <a:band1H>
      <a:tcTxStyle b="off" i="off"/>
      <a:tcStyle>
        <a:tcBdr/>
        <a:fill>
          <a:solidFill>
            <a:srgbClr val="D4D7D9"/>
          </a:solidFill>
        </a:fill>
      </a:tcStyle>
    </a:band1H>
    <a:band2H>
      <a:tcTxStyle b="off" i="off"/>
      <a:tcStyle>
        <a:tcBdr/>
      </a:tcStyle>
    </a:band2H>
    <a:band1V>
      <a:tcTxStyle b="off" i="off"/>
      <a:tcStyle>
        <a:tcBdr/>
        <a:fill>
          <a:solidFill>
            <a:srgbClr val="D4D7D9"/>
          </a:solidFill>
        </a:fill>
      </a:tcStyle>
    </a:band1V>
    <a:band2V>
      <a:tcTxStyle b="off" i="off"/>
      <a:tcStyle>
        <a:tcBdr/>
      </a:tcStyle>
    </a:band2V>
    <a:lastCol>
      <a:tcTxStyle b="on" i="off">
        <a:font>
          <a:latin typeface="游ゴシック"/>
          <a:ea typeface="游ゴシック"/>
          <a:cs typeface="游ゴシック"/>
        </a:font>
        <a:schemeClr val="lt1"/>
      </a:tcTxStyle>
      <a:tcStyle>
        <a:tcBdr/>
        <a:fill>
          <a:solidFill>
            <a:schemeClr val="accent1"/>
          </a:solidFill>
        </a:fill>
      </a:tcStyle>
    </a:lastCol>
    <a:firstCol>
      <a:tcTxStyle b="on" i="off">
        <a:font>
          <a:latin typeface="游ゴシック"/>
          <a:ea typeface="游ゴシック"/>
          <a:cs typeface="游ゴシック"/>
        </a:font>
        <a:schemeClr val="lt1"/>
      </a:tcTxStyle>
      <a:tcStyle>
        <a:tcBdr/>
        <a:fill>
          <a:solidFill>
            <a:schemeClr val="accent1"/>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1BBA0A99-5925-474B-A7F4-3FDC7A6AACBD}" styleName="Table_0">
    <a:wholeTbl>
      <a:tcTxStyle b="off" i="off">
        <a:font>
          <a:latin typeface="游ゴシック"/>
          <a:ea typeface="游ゴシック"/>
          <a:cs typeface="游ゴシック"/>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9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notesMaster" Target="notesMasters/notesMaster1.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2"/>
            <a:ext cx="2949786" cy="498693"/>
          </a:xfrm>
          <a:prstGeom prst="rect">
            <a:avLst/>
          </a:prstGeom>
          <a:noFill/>
          <a:ln>
            <a:noFill/>
          </a:ln>
        </p:spPr>
        <p:txBody>
          <a:bodyPr spcFirstLastPara="1" wrap="square" lIns="91525" tIns="45750" rIns="91525" bIns="4575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55839" y="2"/>
            <a:ext cx="2949786" cy="498693"/>
          </a:xfrm>
          <a:prstGeom prst="rect">
            <a:avLst/>
          </a:prstGeom>
          <a:noFill/>
          <a:ln>
            <a:noFill/>
          </a:ln>
        </p:spPr>
        <p:txBody>
          <a:bodyPr spcFirstLastPara="1" wrap="square" lIns="91525" tIns="45750" rIns="91525" bIns="4575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369"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2" y="9440647"/>
            <a:ext cx="2949786" cy="498692"/>
          </a:xfrm>
          <a:prstGeom prst="rect">
            <a:avLst/>
          </a:prstGeom>
          <a:noFill/>
          <a:ln>
            <a:noFill/>
          </a:ln>
        </p:spPr>
        <p:txBody>
          <a:bodyPr spcFirstLastPara="1" wrap="square" lIns="91525" tIns="45750" rIns="91525" bIns="4575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053"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55839" y="9440647"/>
            <a:ext cx="2949786" cy="498692"/>
          </a:xfrm>
          <a:prstGeom prst="rect">
            <a:avLst/>
          </a:prstGeom>
          <a:noFill/>
          <a:ln>
            <a:noFill/>
          </a:ln>
        </p:spPr>
        <p:txBody>
          <a:bodyPr spcFirstLastPara="1" wrap="square" lIns="91525" tIns="45750" rIns="91525" bIns="4575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ja-JP"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1:notes"/>
          <p:cNvSpPr>
            <a:spLocks noGrp="1" noRot="1" noChangeAspect="1"/>
          </p:cNvSpPr>
          <p:nvPr>
            <p:ph type="sldImg" idx="2"/>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 name="Google Shape;49;p1:notes"/>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p>
            <a:pPr marL="0" lvl="0" indent="0" algn="l" rtl="0">
              <a:lnSpc>
                <a:spcPct val="100000"/>
              </a:lnSpc>
              <a:spcBef>
                <a:spcPts val="0"/>
              </a:spcBef>
              <a:spcAft>
                <a:spcPts val="0"/>
              </a:spcAft>
              <a:buSzPts val="1400"/>
              <a:buNone/>
            </a:pPr>
            <a:endParaRPr/>
          </a:p>
        </p:txBody>
      </p:sp>
      <p:sp>
        <p:nvSpPr>
          <p:cNvPr id="50" name="Google Shape;50;p1:notes"/>
          <p:cNvSpPr txBox="1">
            <a:spLocks noGrp="1"/>
          </p:cNvSpPr>
          <p:nvPr>
            <p:ph type="sldNum" idx="12"/>
          </p:nvPr>
        </p:nvSpPr>
        <p:spPr>
          <a:xfrm>
            <a:off x="3855839" y="9440647"/>
            <a:ext cx="2949786" cy="498692"/>
          </a:xfrm>
          <a:prstGeom prst="rect">
            <a:avLst/>
          </a:prstGeom>
          <a:noFill/>
          <a:ln>
            <a:noFill/>
          </a:ln>
        </p:spPr>
        <p:txBody>
          <a:bodyPr spcFirstLastPara="1" wrap="square" lIns="91525" tIns="45750" rIns="91525" bIns="45750" anchor="b" anchorCtr="0">
            <a:noAutofit/>
          </a:bodyPr>
          <a:lstStyle/>
          <a:p>
            <a:pPr marL="0" lvl="0" indent="0" algn="r" rtl="0">
              <a:lnSpc>
                <a:spcPct val="100000"/>
              </a:lnSpc>
              <a:spcBef>
                <a:spcPts val="0"/>
              </a:spcBef>
              <a:spcAft>
                <a:spcPts val="0"/>
              </a:spcAft>
              <a:buSzPts val="1400"/>
              <a:buNone/>
            </a:pPr>
            <a:fld id="{00000000-1234-1234-1234-123412341234}" type="slidenum">
              <a:rPr lang="en-US" altLang="ja-JP"/>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2:notes"/>
          <p:cNvSpPr txBox="1">
            <a:spLocks noGrp="1"/>
          </p:cNvSpPr>
          <p:nvPr>
            <p:ph type="body" idx="1"/>
          </p:nvPr>
        </p:nvSpPr>
        <p:spPr>
          <a:xfrm>
            <a:off x="679768" y="4717455"/>
            <a:ext cx="5434966" cy="4468416"/>
          </a:xfrm>
          <a:prstGeom prst="rect">
            <a:avLst/>
          </a:prstGeom>
        </p:spPr>
        <p:txBody>
          <a:bodyPr spcFirstLastPara="1" wrap="square" lIns="91281" tIns="45641" rIns="91281" bIns="45641" anchor="t" anchorCtr="0">
            <a:noAutofit/>
          </a:bodyPr>
          <a:lstStyle/>
          <a:p>
            <a:pPr marL="0" indent="0"/>
            <a:endParaRPr/>
          </a:p>
        </p:txBody>
      </p:sp>
      <p:sp>
        <p:nvSpPr>
          <p:cNvPr id="194" name="Google Shape;194;p2: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3: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01" name="Google Shape;201;p3: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02" name="Google Shape;202;p3: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4: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11" name="Google Shape;211;p4: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a:p>
            <a:pPr marL="0" indent="0"/>
            <a:endParaRPr/>
          </a:p>
          <a:p>
            <a:pPr marL="0" indent="0"/>
            <a:endParaRPr/>
          </a:p>
        </p:txBody>
      </p:sp>
      <p:sp>
        <p:nvSpPr>
          <p:cNvPr id="212" name="Google Shape;212;p4: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6: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31" name="Google Shape;231;p6: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r>
              <a:rPr lang="ja-JP" altLang="en-US" sz="800"/>
              <a:t>３の下に</a:t>
            </a:r>
            <a:endParaRPr sz="800"/>
          </a:p>
          <a:p>
            <a:pPr marL="0" indent="0">
              <a:spcBef>
                <a:spcPts val="240"/>
              </a:spcBef>
            </a:pPr>
            <a:r>
              <a:rPr lang="ja-JP" altLang="en-US" sz="800"/>
              <a:t>現在の株主になった経緯とそのエビデンスの有無を書いてもらうのはどうか？</a:t>
            </a:r>
            <a:endParaRPr sz="800"/>
          </a:p>
          <a:p>
            <a:pPr marL="0" indent="0">
              <a:spcBef>
                <a:spcPts val="240"/>
              </a:spcBef>
            </a:pPr>
            <a:r>
              <a:rPr lang="ja-JP" altLang="en-US" sz="800"/>
              <a:t>５　個人から買い取る不動産について三友調査をいれていないことが多いため、ちゃんと把握できていないこともリスクではある（入れるかは検討）</a:t>
            </a:r>
            <a:endParaRPr/>
          </a:p>
        </p:txBody>
      </p:sp>
      <p:sp>
        <p:nvSpPr>
          <p:cNvPr id="232" name="Google Shape;232;p6: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E69630E2-2FD1-02EF-81F1-30E434FE2FD7}"/>
            </a:ext>
          </a:extLst>
        </p:cNvPr>
        <p:cNvGrpSpPr/>
        <p:nvPr/>
      </p:nvGrpSpPr>
      <p:grpSpPr>
        <a:xfrm>
          <a:off x="0" y="0"/>
          <a:ext cx="0" cy="0"/>
          <a:chOff x="0" y="0"/>
          <a:chExt cx="0" cy="0"/>
        </a:xfrm>
      </p:grpSpPr>
      <p:sp>
        <p:nvSpPr>
          <p:cNvPr id="193" name="Google Shape;193;p2:notes">
            <a:extLst>
              <a:ext uri="{FF2B5EF4-FFF2-40B4-BE49-F238E27FC236}">
                <a16:creationId xmlns:a16="http://schemas.microsoft.com/office/drawing/2014/main" id="{BC088FB7-9C6F-A965-CE95-9DD995623B77}"/>
              </a:ext>
            </a:extLst>
          </p:cNvPr>
          <p:cNvSpPr txBox="1">
            <a:spLocks noGrp="1"/>
          </p:cNvSpPr>
          <p:nvPr>
            <p:ph type="body" idx="1"/>
          </p:nvPr>
        </p:nvSpPr>
        <p:spPr>
          <a:xfrm>
            <a:off x="679768" y="4717455"/>
            <a:ext cx="5434966" cy="4468416"/>
          </a:xfrm>
          <a:prstGeom prst="rect">
            <a:avLst/>
          </a:prstGeom>
        </p:spPr>
        <p:txBody>
          <a:bodyPr spcFirstLastPara="1" wrap="square" lIns="91281" tIns="45641" rIns="91281" bIns="45641" anchor="t" anchorCtr="0">
            <a:noAutofit/>
          </a:bodyPr>
          <a:lstStyle/>
          <a:p>
            <a:pPr marL="0" indent="0"/>
            <a:endParaRPr/>
          </a:p>
        </p:txBody>
      </p:sp>
      <p:sp>
        <p:nvSpPr>
          <p:cNvPr id="194" name="Google Shape;194;p2:notes">
            <a:extLst>
              <a:ext uri="{FF2B5EF4-FFF2-40B4-BE49-F238E27FC236}">
                <a16:creationId xmlns:a16="http://schemas.microsoft.com/office/drawing/2014/main" id="{6EF7538E-776F-3956-E248-111D30756F32}"/>
              </a:ext>
            </a:extLst>
          </p:cNvPr>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35947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9: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60" name="Google Shape;260;p9: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61" name="Google Shape;261;p9: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0:notes"/>
          <p:cNvSpPr>
            <a:spLocks noGrp="1" noRot="1" noChangeAspect="1"/>
          </p:cNvSpPr>
          <p:nvPr>
            <p:ph type="sldImg" idx="2"/>
          </p:nvPr>
        </p:nvSpPr>
        <p:spPr>
          <a:xfrm>
            <a:off x="768350" y="746125"/>
            <a:ext cx="5262563"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75" name="Google Shape;275;p10:notes"/>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76" name="Google Shape;276;p10:notes"/>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0:notes"/>
          <p:cNvSpPr txBox="1">
            <a:spLocks noGrp="1"/>
          </p:cNvSpPr>
          <p:nvPr>
            <p:ph type="body" idx="1"/>
          </p:nvPr>
        </p:nvSpPr>
        <p:spPr>
          <a:xfrm>
            <a:off x="680720" y="4783307"/>
            <a:ext cx="5445760" cy="3913615"/>
          </a:xfrm>
          <a:prstGeom prst="rect">
            <a:avLst/>
          </a:prstGeom>
          <a:noFill/>
          <a:ln>
            <a:noFill/>
          </a:ln>
        </p:spPr>
        <p:txBody>
          <a:bodyPr spcFirstLastPara="1" wrap="square" lIns="91525" tIns="45750" rIns="91525" bIns="45750" anchor="t" anchorCtr="0">
            <a:noAutofit/>
          </a:bodyPr>
          <a:lstStyle/>
          <a:p>
            <a:pPr marL="0" lvl="0" indent="0" algn="l" rtl="0">
              <a:lnSpc>
                <a:spcPct val="100000"/>
              </a:lnSpc>
              <a:spcBef>
                <a:spcPts val="0"/>
              </a:spcBef>
              <a:spcAft>
                <a:spcPts val="0"/>
              </a:spcAft>
              <a:buSzPts val="1400"/>
              <a:buNone/>
            </a:pPr>
            <a:endParaRPr/>
          </a:p>
        </p:txBody>
      </p:sp>
      <p:sp>
        <p:nvSpPr>
          <p:cNvPr id="533" name="Google Shape;533;p10:notes"/>
          <p:cNvSpPr>
            <a:spLocks noGrp="1" noRot="1" noChangeAspect="1"/>
          </p:cNvSpPr>
          <p:nvPr>
            <p:ph type="sldImg" idx="2"/>
          </p:nvPr>
        </p:nvSpPr>
        <p:spPr>
          <a:xfrm>
            <a:off x="1033463" y="1243013"/>
            <a:ext cx="4740275"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表紙">
  <p:cSld name="表紙">
    <p:spTree>
      <p:nvGrpSpPr>
        <p:cNvPr id="1" name="Shape 10"/>
        <p:cNvGrpSpPr/>
        <p:nvPr/>
      </p:nvGrpSpPr>
      <p:grpSpPr>
        <a:xfrm>
          <a:off x="0" y="0"/>
          <a:ext cx="0" cy="0"/>
          <a:chOff x="0" y="0"/>
          <a:chExt cx="0" cy="0"/>
        </a:xfrm>
      </p:grpSpPr>
      <p:pic>
        <p:nvPicPr>
          <p:cNvPr id="11" name="Google Shape;11;p12" descr="絵と文字の加工写真&#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sp>
        <p:nvSpPr>
          <p:cNvPr id="12" name="Google Shape;12;p12"/>
          <p:cNvSpPr txBox="1">
            <a:spLocks noGrp="1"/>
          </p:cNvSpPr>
          <p:nvPr>
            <p:ph type="title"/>
          </p:nvPr>
        </p:nvSpPr>
        <p:spPr>
          <a:xfrm>
            <a:off x="885526" y="3467606"/>
            <a:ext cx="9221787" cy="738664"/>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dk1"/>
              </a:buClr>
              <a:buSzPts val="4800"/>
              <a:buFont typeface="Arial"/>
              <a:buNone/>
              <a:defRPr sz="48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13" name="Google Shape;13;p12" descr="図形&#10;&#10;中程度の精度で自動的に生成された説明"/>
          <p:cNvPicPr preferRelativeResize="0"/>
          <p:nvPr/>
        </p:nvPicPr>
        <p:blipFill rotWithShape="1">
          <a:blip r:embed="rId3">
            <a:alphaModFix/>
          </a:blip>
          <a:srcRect/>
          <a:stretch/>
        </p:blipFill>
        <p:spPr>
          <a:xfrm>
            <a:off x="597898" y="641817"/>
            <a:ext cx="2996516" cy="594316"/>
          </a:xfrm>
          <a:prstGeom prst="rect">
            <a:avLst/>
          </a:prstGeom>
          <a:noFill/>
          <a:ln>
            <a:noFill/>
          </a:ln>
        </p:spPr>
      </p:pic>
      <p:sp>
        <p:nvSpPr>
          <p:cNvPr id="14" name="Google Shape;14;p12"/>
          <p:cNvSpPr/>
          <p:nvPr/>
        </p:nvSpPr>
        <p:spPr>
          <a:xfrm>
            <a:off x="-1" y="-1"/>
            <a:ext cx="108000" cy="7560000"/>
          </a:xfrm>
          <a:prstGeom prst="rect">
            <a:avLst/>
          </a:prstGeom>
          <a:gradFill>
            <a:gsLst>
              <a:gs pos="0">
                <a:schemeClr val="dk2"/>
              </a:gs>
              <a:gs pos="17000">
                <a:schemeClr val="dk2"/>
              </a:gs>
              <a:gs pos="100000">
                <a:schemeClr val="accent4"/>
              </a:gs>
            </a:gsLst>
            <a:lin ang="54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中扉">
  <p:cSld name="中扉">
    <p:spTree>
      <p:nvGrpSpPr>
        <p:cNvPr id="1" name="Shape 15"/>
        <p:cNvGrpSpPr/>
        <p:nvPr/>
      </p:nvGrpSpPr>
      <p:grpSpPr>
        <a:xfrm>
          <a:off x="0" y="0"/>
          <a:ext cx="0" cy="0"/>
          <a:chOff x="0" y="0"/>
          <a:chExt cx="0" cy="0"/>
        </a:xfrm>
      </p:grpSpPr>
      <p:pic>
        <p:nvPicPr>
          <p:cNvPr id="16" name="Google Shape;16;p13" descr="背景パターン&#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sp>
        <p:nvSpPr>
          <p:cNvPr id="17" name="Google Shape;17;p13"/>
          <p:cNvSpPr txBox="1">
            <a:spLocks noGrp="1"/>
          </p:cNvSpPr>
          <p:nvPr>
            <p:ph type="title"/>
          </p:nvPr>
        </p:nvSpPr>
        <p:spPr>
          <a:xfrm>
            <a:off x="989013" y="3656161"/>
            <a:ext cx="9221787" cy="615553"/>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lt1"/>
              </a:buClr>
              <a:buSzPts val="4000"/>
              <a:buFont typeface="Arial"/>
              <a:buNone/>
              <a:defRPr sz="40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18" name="Google Shape;18;p13"/>
          <p:cNvPicPr preferRelativeResize="0"/>
          <p:nvPr/>
        </p:nvPicPr>
        <p:blipFill rotWithShape="1">
          <a:blip r:embed="rId3">
            <a:alphaModFix/>
          </a:blip>
          <a:srcRect/>
          <a:stretch/>
        </p:blipFill>
        <p:spPr>
          <a:xfrm>
            <a:off x="597898" y="641818"/>
            <a:ext cx="1627200" cy="320105"/>
          </a:xfrm>
          <a:prstGeom prst="rect">
            <a:avLst/>
          </a:prstGeom>
          <a:noFill/>
          <a:ln>
            <a:noFill/>
          </a:ln>
        </p:spPr>
      </p:pic>
      <p:sp>
        <p:nvSpPr>
          <p:cNvPr id="19" name="Google Shape;19;p13"/>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lt1"/>
                </a:solidFill>
                <a:latin typeface="Arial"/>
                <a:ea typeface="Arial"/>
                <a:cs typeface="Arial"/>
                <a:sym typeface="Arial"/>
              </a:rPr>
              <a:t>‹#›</a:t>
            </a:fld>
            <a:endParaRPr sz="992" b="0" i="0" u="none" strike="noStrike" cap="none">
              <a:solidFill>
                <a:schemeClr val="lt1"/>
              </a:solidFill>
              <a:latin typeface="Arial"/>
              <a:ea typeface="Arial"/>
              <a:cs typeface="Arial"/>
              <a:sym typeface="Arial"/>
            </a:endParaRPr>
          </a:p>
        </p:txBody>
      </p:sp>
      <p:sp>
        <p:nvSpPr>
          <p:cNvPr id="20" name="Google Shape;20;p13"/>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lt1"/>
              </a:buClr>
              <a:buSzPts val="700"/>
              <a:buFont typeface="Arial"/>
              <a:buNone/>
            </a:pPr>
            <a:r>
              <a:rPr lang="ja-JP" sz="700" b="0" i="0" u="none" strike="noStrike" cap="none" dirty="0">
                <a:solidFill>
                  <a:schemeClr val="lt1"/>
                </a:solidFill>
                <a:latin typeface="Arial"/>
                <a:ea typeface="Arial"/>
                <a:cs typeface="Arial"/>
                <a:sym typeface="Arial"/>
              </a:rPr>
              <a:t>Copyright© M＆A Succession Group Inc. All Right</a:t>
            </a:r>
            <a:r>
              <a:rPr lang="en-US" altLang="ja-JP" sz="700" b="0" i="0" u="none" strike="noStrike" cap="none" dirty="0">
                <a:solidFill>
                  <a:schemeClr val="lt1"/>
                </a:solidFill>
                <a:latin typeface="Arial"/>
                <a:ea typeface="Arial"/>
                <a:cs typeface="Arial"/>
                <a:sym typeface="Arial"/>
              </a:rPr>
              <a:t>s</a:t>
            </a:r>
            <a:r>
              <a:rPr lang="ja-JP" sz="700" b="0" i="0" u="none" strike="noStrike" cap="none" dirty="0">
                <a:solidFill>
                  <a:schemeClr val="lt1"/>
                </a:solidFill>
                <a:latin typeface="Arial"/>
                <a:ea typeface="Arial"/>
                <a:cs typeface="Arial"/>
                <a:sym typeface="Arial"/>
              </a:rPr>
              <a:t> Reserved</a:t>
            </a:r>
            <a:endParaRPr sz="700" b="0" i="0" u="none" strike="noStrike" cap="none" dirty="0">
              <a:solidFill>
                <a:schemeClr val="lt1"/>
              </a:solidFill>
              <a:latin typeface="Arial"/>
              <a:ea typeface="Arial"/>
              <a:cs typeface="Arial"/>
              <a:sym typeface="Arial"/>
            </a:endParaRPr>
          </a:p>
        </p:txBody>
      </p:sp>
      <p:sp>
        <p:nvSpPr>
          <p:cNvPr id="21" name="Google Shape;21;p13"/>
          <p:cNvSpPr/>
          <p:nvPr/>
        </p:nvSpPr>
        <p:spPr>
          <a:xfrm>
            <a:off x="6933143" y="7209190"/>
            <a:ext cx="640572" cy="144000"/>
          </a:xfrm>
          <a:prstGeom prst="rect">
            <a:avLst/>
          </a:prstGeom>
          <a:noFill/>
          <a:ln w="9525" cap="flat" cmpd="sng">
            <a:solidFill>
              <a:schemeClr val="l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l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本編1" type="title">
  <p:cSld name="TITLE">
    <p:spTree>
      <p:nvGrpSpPr>
        <p:cNvPr id="1" name="Shape 22"/>
        <p:cNvGrpSpPr/>
        <p:nvPr/>
      </p:nvGrpSpPr>
      <p:grpSpPr>
        <a:xfrm>
          <a:off x="0" y="0"/>
          <a:ext cx="0" cy="0"/>
          <a:chOff x="0" y="0"/>
          <a:chExt cx="0" cy="0"/>
        </a:xfrm>
      </p:grpSpPr>
      <p:sp>
        <p:nvSpPr>
          <p:cNvPr id="23" name="Google Shape;23;p14"/>
          <p:cNvSpPr/>
          <p:nvPr/>
        </p:nvSpPr>
        <p:spPr>
          <a:xfrm>
            <a:off x="-1" y="0"/>
            <a:ext cx="10691814" cy="666000"/>
          </a:xfrm>
          <a:prstGeom prst="rect">
            <a:avLst/>
          </a:prstGeom>
          <a:gradFill>
            <a:gsLst>
              <a:gs pos="0">
                <a:schemeClr val="dk2"/>
              </a:gs>
              <a:gs pos="5000">
                <a:schemeClr val="dk2"/>
              </a:gs>
              <a:gs pos="88000">
                <a:srgbClr val="006AB1"/>
              </a:gs>
              <a:gs pos="100000">
                <a:srgbClr val="006AB1"/>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24" name="Google Shape;24;p14"/>
          <p:cNvSpPr/>
          <p:nvPr/>
        </p:nvSpPr>
        <p:spPr>
          <a:xfrm>
            <a:off x="6714554" y="0"/>
            <a:ext cx="1701594" cy="666001"/>
          </a:xfrm>
          <a:custGeom>
            <a:avLst/>
            <a:gdLst/>
            <a:ahLst/>
            <a:cxnLst/>
            <a:rect l="l" t="t" r="r" b="b"/>
            <a:pathLst>
              <a:path w="1701594" h="666001" extrusionOk="0">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0">
                <a:srgbClr val="0B3041">
                  <a:alpha val="0"/>
                </a:srgbClr>
              </a:gs>
              <a:gs pos="46000">
                <a:srgbClr val="0B3041">
                  <a:alpha val="0"/>
                </a:srgbClr>
              </a:gs>
              <a:gs pos="96000">
                <a:schemeClr val="accent4"/>
              </a:gs>
              <a:gs pos="100000">
                <a:schemeClr val="accent4"/>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25" name="Google Shape;25;p14"/>
          <p:cNvSpPr txBox="1">
            <a:spLocks noGrp="1"/>
          </p:cNvSpPr>
          <p:nvPr>
            <p:ph type="subTitle" idx="1"/>
          </p:nvPr>
        </p:nvSpPr>
        <p:spPr>
          <a:xfrm>
            <a:off x="460675" y="830046"/>
            <a:ext cx="9781875" cy="241861"/>
          </a:xfrm>
          <a:prstGeom prst="rect">
            <a:avLst/>
          </a:prstGeom>
          <a:noFill/>
          <a:ln>
            <a:noFill/>
          </a:ln>
        </p:spPr>
        <p:txBody>
          <a:bodyPr spcFirstLastPara="1" wrap="square" lIns="0" tIns="0" rIns="0" bIns="0" anchor="t" anchorCtr="0">
            <a:spAutoFit/>
          </a:bodyPr>
          <a:lstStyle>
            <a:lvl1pPr marR="0" lvl="0" algn="l" rtl="0">
              <a:lnSpc>
                <a:spcPct val="120000"/>
              </a:lnSpc>
              <a:spcBef>
                <a:spcPts val="0"/>
              </a:spcBef>
              <a:spcAft>
                <a:spcPts val="0"/>
              </a:spcAft>
              <a:buClr>
                <a:schemeClr val="dk1"/>
              </a:buClr>
              <a:buSzPts val="1400"/>
              <a:buFont typeface="Arial"/>
              <a:buNone/>
              <a:defRPr sz="1400" b="1" i="0" u="none" strike="noStrike" cap="none">
                <a:solidFill>
                  <a:schemeClr val="dk1"/>
                </a:solidFill>
                <a:latin typeface="Arial"/>
                <a:ea typeface="Arial"/>
                <a:cs typeface="Arial"/>
                <a:sym typeface="Arial"/>
              </a:defRPr>
            </a:lvl1pPr>
            <a:lvl2pPr marR="0" lvl="1" algn="ctr" rtl="0">
              <a:lnSpc>
                <a:spcPct val="90000"/>
              </a:lnSpc>
              <a:spcBef>
                <a:spcPts val="551"/>
              </a:spcBef>
              <a:spcAft>
                <a:spcPts val="0"/>
              </a:spcAft>
              <a:buClr>
                <a:schemeClr val="dk1"/>
              </a:buClr>
              <a:buSzPts val="2205"/>
              <a:buFont typeface="Arial"/>
              <a:buNone/>
              <a:defRPr sz="2205" b="0" i="0" u="none" strike="noStrike" cap="none">
                <a:solidFill>
                  <a:schemeClr val="dk1"/>
                </a:solidFill>
                <a:latin typeface="Arial"/>
                <a:ea typeface="Arial"/>
                <a:cs typeface="Arial"/>
                <a:sym typeface="Arial"/>
              </a:defRPr>
            </a:lvl2pPr>
            <a:lvl3pPr marR="0" lvl="2" algn="ctr" rtl="0">
              <a:lnSpc>
                <a:spcPct val="90000"/>
              </a:lnSpc>
              <a:spcBef>
                <a:spcPts val="551"/>
              </a:spcBef>
              <a:spcAft>
                <a:spcPts val="0"/>
              </a:spcAft>
              <a:buClr>
                <a:schemeClr val="dk1"/>
              </a:buClr>
              <a:buSzPts val="1984"/>
              <a:buFont typeface="Arial"/>
              <a:buNone/>
              <a:defRPr sz="1984" b="0" i="0" u="none" strike="noStrike" cap="none">
                <a:solidFill>
                  <a:schemeClr val="dk1"/>
                </a:solidFill>
                <a:latin typeface="Arial"/>
                <a:ea typeface="Arial"/>
                <a:cs typeface="Arial"/>
                <a:sym typeface="Arial"/>
              </a:defRPr>
            </a:lvl3pPr>
            <a:lvl4pPr marR="0" lvl="3"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4pPr>
            <a:lvl5pPr marR="0" lvl="4"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5pPr>
            <a:lvl6pPr marR="0" lvl="5"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6pPr>
            <a:lvl7pPr marR="0" lvl="6"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7pPr>
            <a:lvl8pPr marR="0" lvl="7"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8pPr>
            <a:lvl9pPr marR="0" lvl="8" algn="ctr" rtl="0">
              <a:lnSpc>
                <a:spcPct val="90000"/>
              </a:lnSpc>
              <a:spcBef>
                <a:spcPts val="551"/>
              </a:spcBef>
              <a:spcAft>
                <a:spcPts val="0"/>
              </a:spcAft>
              <a:buClr>
                <a:schemeClr val="dk1"/>
              </a:buClr>
              <a:buSzPts val="1764"/>
              <a:buFont typeface="Arial"/>
              <a:buNone/>
              <a:defRPr sz="1764" b="0" i="0" u="none" strike="noStrike" cap="none">
                <a:solidFill>
                  <a:schemeClr val="dk1"/>
                </a:solidFill>
                <a:latin typeface="Arial"/>
                <a:ea typeface="Arial"/>
                <a:cs typeface="Arial"/>
                <a:sym typeface="Arial"/>
              </a:defRPr>
            </a:lvl9pPr>
          </a:lstStyle>
          <a:p>
            <a:endParaRPr/>
          </a:p>
        </p:txBody>
      </p:sp>
      <p:sp>
        <p:nvSpPr>
          <p:cNvPr id="26" name="Google Shape;26;p14"/>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accent1"/>
                </a:solidFill>
                <a:latin typeface="Arial"/>
                <a:ea typeface="Arial"/>
                <a:cs typeface="Arial"/>
                <a:sym typeface="Arial"/>
              </a:rPr>
              <a:t>‹#›</a:t>
            </a:fld>
            <a:endParaRPr sz="992" b="0" i="0" u="none" strike="noStrike" cap="none">
              <a:solidFill>
                <a:schemeClr val="accent1"/>
              </a:solidFill>
              <a:latin typeface="Arial"/>
              <a:ea typeface="Arial"/>
              <a:cs typeface="Arial"/>
              <a:sym typeface="Arial"/>
            </a:endParaRPr>
          </a:p>
        </p:txBody>
      </p:sp>
      <p:pic>
        <p:nvPicPr>
          <p:cNvPr id="27" name="Google Shape;27;p14"/>
          <p:cNvPicPr preferRelativeResize="0"/>
          <p:nvPr/>
        </p:nvPicPr>
        <p:blipFill rotWithShape="1">
          <a:blip r:embed="rId2">
            <a:alphaModFix/>
          </a:blip>
          <a:srcRect/>
          <a:stretch/>
        </p:blipFill>
        <p:spPr>
          <a:xfrm>
            <a:off x="304801" y="7086114"/>
            <a:ext cx="1625600" cy="322220"/>
          </a:xfrm>
          <a:prstGeom prst="rect">
            <a:avLst/>
          </a:prstGeom>
          <a:noFill/>
          <a:ln>
            <a:noFill/>
          </a:ln>
        </p:spPr>
      </p:pic>
      <p:grpSp>
        <p:nvGrpSpPr>
          <p:cNvPr id="28" name="Google Shape;28;p14"/>
          <p:cNvGrpSpPr/>
          <p:nvPr/>
        </p:nvGrpSpPr>
        <p:grpSpPr>
          <a:xfrm>
            <a:off x="-1" y="0"/>
            <a:ext cx="252001" cy="666000"/>
            <a:chOff x="-1" y="0"/>
            <a:chExt cx="252001" cy="666000"/>
          </a:xfrm>
        </p:grpSpPr>
        <p:cxnSp>
          <p:nvCxnSpPr>
            <p:cNvPr id="29" name="Google Shape;29;p14"/>
            <p:cNvCxnSpPr/>
            <p:nvPr/>
          </p:nvCxnSpPr>
          <p:spPr>
            <a:xfrm>
              <a:off x="0" y="333000"/>
              <a:ext cx="252000" cy="0"/>
            </a:xfrm>
            <a:prstGeom prst="straightConnector1">
              <a:avLst/>
            </a:prstGeom>
            <a:noFill/>
            <a:ln w="19050" cap="flat" cmpd="sng">
              <a:solidFill>
                <a:schemeClr val="accent2"/>
              </a:solidFill>
              <a:prstDash val="solid"/>
              <a:miter lim="8000"/>
              <a:headEnd type="none" w="sm" len="sm"/>
              <a:tailEnd type="none" w="sm" len="sm"/>
            </a:ln>
          </p:spPr>
        </p:cxnSp>
        <p:sp>
          <p:nvSpPr>
            <p:cNvPr id="30" name="Google Shape;30;p14"/>
            <p:cNvSpPr/>
            <p:nvPr/>
          </p:nvSpPr>
          <p:spPr>
            <a:xfrm>
              <a:off x="-1" y="0"/>
              <a:ext cx="108000" cy="6660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cxnSp>
          <p:nvCxnSpPr>
            <p:cNvPr id="31" name="Google Shape;31;p14"/>
            <p:cNvCxnSpPr/>
            <p:nvPr/>
          </p:nvCxnSpPr>
          <p:spPr>
            <a:xfrm>
              <a:off x="-1" y="333000"/>
              <a:ext cx="108000" cy="0"/>
            </a:xfrm>
            <a:prstGeom prst="straightConnector1">
              <a:avLst/>
            </a:prstGeom>
            <a:noFill/>
            <a:ln w="19050" cap="flat" cmpd="sng">
              <a:solidFill>
                <a:schemeClr val="dk2"/>
              </a:solidFill>
              <a:prstDash val="solid"/>
              <a:miter lim="8000"/>
              <a:headEnd type="none" w="sm" len="sm"/>
              <a:tailEnd type="none" w="sm" len="sm"/>
            </a:ln>
          </p:spPr>
        </p:cxnSp>
      </p:grpSp>
      <p:sp>
        <p:nvSpPr>
          <p:cNvPr id="32" name="Google Shape;32;p14"/>
          <p:cNvSpPr txBox="1">
            <a:spLocks noGrp="1"/>
          </p:cNvSpPr>
          <p:nvPr>
            <p:ph type="ctrTitle"/>
          </p:nvPr>
        </p:nvSpPr>
        <p:spPr>
          <a:xfrm>
            <a:off x="341313" y="180296"/>
            <a:ext cx="7799917" cy="339267"/>
          </a:xfrm>
          <a:prstGeom prst="rect">
            <a:avLst/>
          </a:prstGeom>
          <a:noFill/>
          <a:ln>
            <a:noFill/>
          </a:ln>
        </p:spPr>
        <p:txBody>
          <a:bodyPr spcFirstLastPara="1" wrap="square" lIns="0" tIns="0" rIns="0" bIns="0" anchor="ctr" anchorCtr="0">
            <a:spAutoFit/>
          </a:bodyPr>
          <a:lstStyle>
            <a:lvl1pPr marR="0" lvl="0" algn="l" rtl="0">
              <a:lnSpc>
                <a:spcPct val="100000"/>
              </a:lnSpc>
              <a:spcBef>
                <a:spcPts val="0"/>
              </a:spcBef>
              <a:spcAft>
                <a:spcPts val="0"/>
              </a:spcAft>
              <a:buClr>
                <a:schemeClr val="lt1"/>
              </a:buClr>
              <a:buSzPts val="2200"/>
              <a:buFont typeface="Arial"/>
              <a:buNone/>
              <a:defRPr sz="2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3" name="Google Shape;33;p14"/>
          <p:cNvSpPr/>
          <p:nvPr/>
        </p:nvSpPr>
        <p:spPr>
          <a:xfrm>
            <a:off x="6386286" y="0"/>
            <a:ext cx="1701594" cy="666001"/>
          </a:xfrm>
          <a:custGeom>
            <a:avLst/>
            <a:gdLst/>
            <a:ahLst/>
            <a:cxnLst/>
            <a:rect l="l" t="t" r="r" b="b"/>
            <a:pathLst>
              <a:path w="1701594" h="666001" extrusionOk="0">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0">
                <a:srgbClr val="0167AB">
                  <a:alpha val="0"/>
                </a:srgbClr>
              </a:gs>
              <a:gs pos="8000">
                <a:srgbClr val="0167AB">
                  <a:alpha val="0"/>
                </a:srgbClr>
              </a:gs>
              <a:gs pos="100000">
                <a:schemeClr val="accent4"/>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263"/>
              <a:buFont typeface="Arial"/>
              <a:buNone/>
            </a:pPr>
            <a:endParaRPr sz="2263" b="0" i="0" u="none" strike="noStrike" cap="none">
              <a:solidFill>
                <a:schemeClr val="lt1"/>
              </a:solidFill>
              <a:latin typeface="Arial"/>
              <a:ea typeface="Arial"/>
              <a:cs typeface="Arial"/>
              <a:sym typeface="Arial"/>
            </a:endParaRPr>
          </a:p>
        </p:txBody>
      </p:sp>
      <p:sp>
        <p:nvSpPr>
          <p:cNvPr id="34" name="Google Shape;34;p14"/>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accent1"/>
              </a:buClr>
              <a:buSzPts val="700"/>
              <a:buFont typeface="Arial"/>
              <a:buNone/>
            </a:pPr>
            <a:r>
              <a:rPr lang="ja-JP" sz="700" b="0" i="0" u="none" strike="noStrike" cap="none" dirty="0">
                <a:solidFill>
                  <a:schemeClr val="accent1"/>
                </a:solidFill>
                <a:latin typeface="Arial"/>
                <a:ea typeface="Arial"/>
                <a:cs typeface="Arial"/>
                <a:sym typeface="Arial"/>
              </a:rPr>
              <a:t>Copyright© M＆A Succession Group Inc. All Right</a:t>
            </a:r>
            <a:r>
              <a:rPr lang="en-US" altLang="ja-JP" sz="700" b="0" i="0" u="none" strike="noStrike" cap="none" dirty="0">
                <a:solidFill>
                  <a:schemeClr val="accent1"/>
                </a:solidFill>
                <a:latin typeface="Arial"/>
                <a:ea typeface="Arial"/>
                <a:cs typeface="Arial"/>
                <a:sym typeface="Arial"/>
              </a:rPr>
              <a:t>s</a:t>
            </a:r>
            <a:r>
              <a:rPr lang="ja-JP" sz="700" b="0" i="0" u="none" strike="noStrike" cap="none" dirty="0">
                <a:solidFill>
                  <a:schemeClr val="accent1"/>
                </a:solidFill>
                <a:latin typeface="Arial"/>
                <a:ea typeface="Arial"/>
                <a:cs typeface="Arial"/>
                <a:sym typeface="Arial"/>
              </a:rPr>
              <a:t> Reserved</a:t>
            </a:r>
            <a:endParaRPr sz="700" b="0" i="0" u="none" strike="noStrike" cap="none" dirty="0">
              <a:solidFill>
                <a:schemeClr val="accent1"/>
              </a:solidFill>
              <a:latin typeface="Arial"/>
              <a:ea typeface="Arial"/>
              <a:cs typeface="Arial"/>
              <a:sym typeface="Arial"/>
            </a:endParaRPr>
          </a:p>
        </p:txBody>
      </p:sp>
      <p:sp>
        <p:nvSpPr>
          <p:cNvPr id="35" name="Google Shape;35;p14"/>
          <p:cNvSpPr/>
          <p:nvPr/>
        </p:nvSpPr>
        <p:spPr>
          <a:xfrm>
            <a:off x="6933143" y="7209190"/>
            <a:ext cx="640572" cy="144000"/>
          </a:xfrm>
          <a:prstGeom prst="rect">
            <a:avLst/>
          </a:prstGeom>
          <a:noFill/>
          <a:ln w="9525" cap="flat" cmpd="sng">
            <a:solidFill>
              <a:schemeClr val="accen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accen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extLst>
    <p:ext uri="{DCECCB84-F9BA-43D5-87BE-67443E8EF086}">
      <p15:sldGuideLst xmlns:p15="http://schemas.microsoft.com/office/powerpoint/2012/main">
        <p15:guide id="1" orient="horz" pos="4309">
          <p15:clr>
            <a:srgbClr val="FBAE40"/>
          </p15:clr>
        </p15:guide>
        <p15:guide id="2" pos="215">
          <p15:clr>
            <a:srgbClr val="A4A3A4"/>
          </p15:clr>
        </p15:guide>
        <p15:guide id="3" pos="6520">
          <p15:clr>
            <a:srgbClr val="A4A3A4"/>
          </p15:clr>
        </p15:guide>
        <p15:guide id="4" pos="283">
          <p15:clr>
            <a:srgbClr val="FBAE40"/>
          </p15:clr>
        </p15:guide>
        <p15:guide id="5" pos="64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白紙">
  <p:cSld name="白紙">
    <p:spTree>
      <p:nvGrpSpPr>
        <p:cNvPr id="1" name="Shape 36"/>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目次">
  <p:cSld name="目次">
    <p:spTree>
      <p:nvGrpSpPr>
        <p:cNvPr id="1" name="Shape 37"/>
        <p:cNvGrpSpPr/>
        <p:nvPr/>
      </p:nvGrpSpPr>
      <p:grpSpPr>
        <a:xfrm>
          <a:off x="0" y="0"/>
          <a:ext cx="0" cy="0"/>
          <a:chOff x="0" y="0"/>
          <a:chExt cx="0" cy="0"/>
        </a:xfrm>
      </p:grpSpPr>
      <p:pic>
        <p:nvPicPr>
          <p:cNvPr id="38" name="Google Shape;38;p16" descr="背景パターン&#10;&#10;AI 生成コンテンツは誤りを含む可能性があります。"/>
          <p:cNvPicPr preferRelativeResize="0"/>
          <p:nvPr/>
        </p:nvPicPr>
        <p:blipFill rotWithShape="1">
          <a:blip r:embed="rId2">
            <a:alphaModFix/>
          </a:blip>
          <a:srcRect/>
          <a:stretch/>
        </p:blipFill>
        <p:spPr>
          <a:xfrm>
            <a:off x="0" y="519"/>
            <a:ext cx="10691813" cy="7558636"/>
          </a:xfrm>
          <a:prstGeom prst="rect">
            <a:avLst/>
          </a:prstGeom>
          <a:noFill/>
          <a:ln>
            <a:noFill/>
          </a:ln>
        </p:spPr>
      </p:pic>
      <p:grpSp>
        <p:nvGrpSpPr>
          <p:cNvPr id="39" name="Google Shape;39;p16"/>
          <p:cNvGrpSpPr/>
          <p:nvPr/>
        </p:nvGrpSpPr>
        <p:grpSpPr>
          <a:xfrm>
            <a:off x="887069" y="3420377"/>
            <a:ext cx="3420000" cy="984386"/>
            <a:chOff x="887069" y="3420377"/>
            <a:chExt cx="3420000" cy="984386"/>
          </a:xfrm>
        </p:grpSpPr>
        <p:sp>
          <p:nvSpPr>
            <p:cNvPr id="40" name="Google Shape;40;p16"/>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marR="0" lvl="0" indent="0" algn="ctr" rtl="0">
                <a:lnSpc>
                  <a:spcPct val="90000"/>
                </a:lnSpc>
                <a:spcBef>
                  <a:spcPts val="0"/>
                </a:spcBef>
                <a:spcAft>
                  <a:spcPts val="0"/>
                </a:spcAft>
                <a:buClr>
                  <a:srgbClr val="000000"/>
                </a:buClr>
                <a:buSzPts val="1200"/>
                <a:buFont typeface="Arial"/>
                <a:buNone/>
              </a:pPr>
              <a:r>
                <a:rPr lang="ja-JP" sz="1200" b="1" i="0" u="none" strike="noStrike" cap="none">
                  <a:solidFill>
                    <a:schemeClr val="dk1"/>
                  </a:solidFill>
                  <a:latin typeface="Arial"/>
                  <a:ea typeface="Arial"/>
                  <a:cs typeface="Arial"/>
                  <a:sym typeface="Arial"/>
                </a:rPr>
                <a:t>ミーティングアジェンダ</a:t>
              </a:r>
              <a:endParaRPr sz="1200" b="1" i="0" u="none" strike="noStrike" cap="none">
                <a:solidFill>
                  <a:schemeClr val="dk1"/>
                </a:solidFill>
                <a:latin typeface="Arial"/>
                <a:ea typeface="Arial"/>
                <a:cs typeface="Arial"/>
                <a:sym typeface="Arial"/>
              </a:endParaRPr>
            </a:p>
          </p:txBody>
        </p:sp>
        <p:sp>
          <p:nvSpPr>
            <p:cNvPr id="41" name="Google Shape;41;p16"/>
            <p:cNvSpPr txBox="1"/>
            <p:nvPr/>
          </p:nvSpPr>
          <p:spPr>
            <a:xfrm>
              <a:off x="977069" y="3420377"/>
              <a:ext cx="3240000" cy="492443"/>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ja-JP" sz="3200" b="1" i="0" u="none" strike="noStrike" cap="none">
                  <a:solidFill>
                    <a:srgbClr val="1F1F1F"/>
                  </a:solidFill>
                  <a:latin typeface="Arial"/>
                  <a:ea typeface="Arial"/>
                  <a:cs typeface="Arial"/>
                  <a:sym typeface="Arial"/>
                </a:rPr>
                <a:t>Meeting Agenda</a:t>
              </a:r>
              <a:endParaRPr sz="3200" b="1" i="0" u="none" strike="noStrike" cap="none">
                <a:solidFill>
                  <a:schemeClr val="dk1"/>
                </a:solidFill>
                <a:latin typeface="Arial"/>
                <a:ea typeface="Arial"/>
                <a:cs typeface="Arial"/>
                <a:sym typeface="Arial"/>
              </a:endParaRPr>
            </a:p>
          </p:txBody>
        </p:sp>
        <p:cxnSp>
          <p:nvCxnSpPr>
            <p:cNvPr id="42" name="Google Shape;42;p16"/>
            <p:cNvCxnSpPr/>
            <p:nvPr/>
          </p:nvCxnSpPr>
          <p:spPr>
            <a:xfrm>
              <a:off x="887069" y="4022726"/>
              <a:ext cx="3420000" cy="0"/>
            </a:xfrm>
            <a:prstGeom prst="straightConnector1">
              <a:avLst/>
            </a:prstGeom>
            <a:noFill/>
            <a:ln w="31750" cap="flat" cmpd="sng">
              <a:solidFill>
                <a:schemeClr val="accent4"/>
              </a:solidFill>
              <a:prstDash val="solid"/>
              <a:miter lim="8000"/>
              <a:headEnd type="none" w="sm" len="sm"/>
              <a:tailEnd type="none" w="sm" len="sm"/>
            </a:ln>
          </p:spPr>
        </p:cxnSp>
      </p:grpSp>
      <p:pic>
        <p:nvPicPr>
          <p:cNvPr id="43" name="Google Shape;43;p16" descr="図形&#10;&#10;中程度の精度で自動的に生成された説明"/>
          <p:cNvPicPr preferRelativeResize="0"/>
          <p:nvPr/>
        </p:nvPicPr>
        <p:blipFill rotWithShape="1">
          <a:blip r:embed="rId3">
            <a:alphaModFix/>
          </a:blip>
          <a:srcRect/>
          <a:stretch/>
        </p:blipFill>
        <p:spPr>
          <a:xfrm>
            <a:off x="597898" y="641818"/>
            <a:ext cx="1627200" cy="322732"/>
          </a:xfrm>
          <a:prstGeom prst="rect">
            <a:avLst/>
          </a:prstGeom>
          <a:noFill/>
          <a:ln>
            <a:noFill/>
          </a:ln>
        </p:spPr>
      </p:pic>
      <p:sp>
        <p:nvSpPr>
          <p:cNvPr id="44" name="Google Shape;44;p16"/>
          <p:cNvSpPr txBox="1"/>
          <p:nvPr/>
        </p:nvSpPr>
        <p:spPr>
          <a:xfrm>
            <a:off x="9865023" y="7202817"/>
            <a:ext cx="579140" cy="152669"/>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992"/>
              <a:buFont typeface="Arial"/>
              <a:buNone/>
            </a:pPr>
            <a:fld id="{00000000-1234-1234-1234-123412341234}" type="slidenum">
              <a:rPr lang="ja-JP" sz="992" b="0" i="0" u="none" strike="noStrike" cap="none">
                <a:solidFill>
                  <a:schemeClr val="accent1"/>
                </a:solidFill>
                <a:latin typeface="Arial"/>
                <a:ea typeface="Arial"/>
                <a:cs typeface="Arial"/>
                <a:sym typeface="Arial"/>
              </a:rPr>
              <a:t>‹#›</a:t>
            </a:fld>
            <a:endParaRPr sz="992" b="0" i="0" u="none" strike="noStrike" cap="none">
              <a:solidFill>
                <a:schemeClr val="accent1"/>
              </a:solidFill>
              <a:latin typeface="Arial"/>
              <a:ea typeface="Arial"/>
              <a:cs typeface="Arial"/>
              <a:sym typeface="Arial"/>
            </a:endParaRPr>
          </a:p>
        </p:txBody>
      </p:sp>
      <p:sp>
        <p:nvSpPr>
          <p:cNvPr id="45" name="Google Shape;45;p16"/>
          <p:cNvSpPr/>
          <p:nvPr/>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chemeClr val="accent1"/>
              </a:buClr>
              <a:buSzPts val="700"/>
              <a:buFont typeface="Arial"/>
              <a:buNone/>
            </a:pPr>
            <a:r>
              <a:rPr lang="ja-JP" sz="700" b="0" i="0" u="none" strike="noStrike" cap="none" dirty="0">
                <a:solidFill>
                  <a:schemeClr val="accent1"/>
                </a:solidFill>
                <a:latin typeface="Arial"/>
                <a:ea typeface="Arial"/>
                <a:cs typeface="Arial"/>
                <a:sym typeface="Arial"/>
              </a:rPr>
              <a:t>Copyright© M＆A Succession Group Inc. All Right</a:t>
            </a:r>
            <a:r>
              <a:rPr lang="en-US" altLang="ja-JP" sz="700" b="0" i="0" u="none" strike="noStrike" cap="none" dirty="0">
                <a:solidFill>
                  <a:schemeClr val="accent1"/>
                </a:solidFill>
                <a:latin typeface="Arial"/>
                <a:ea typeface="Arial"/>
                <a:cs typeface="Arial"/>
                <a:sym typeface="Arial"/>
              </a:rPr>
              <a:t>s</a:t>
            </a:r>
            <a:r>
              <a:rPr lang="ja-JP" sz="700" b="0" i="0" u="none" strike="noStrike" cap="none" dirty="0">
                <a:solidFill>
                  <a:schemeClr val="accent1"/>
                </a:solidFill>
                <a:latin typeface="Arial"/>
                <a:ea typeface="Arial"/>
                <a:cs typeface="Arial"/>
                <a:sym typeface="Arial"/>
              </a:rPr>
              <a:t> Reserved</a:t>
            </a:r>
            <a:endParaRPr sz="700" b="0" i="0" u="none" strike="noStrike" cap="none" dirty="0">
              <a:solidFill>
                <a:schemeClr val="accent1"/>
              </a:solidFill>
              <a:latin typeface="Arial"/>
              <a:ea typeface="Arial"/>
              <a:cs typeface="Arial"/>
              <a:sym typeface="Arial"/>
            </a:endParaRPr>
          </a:p>
        </p:txBody>
      </p:sp>
      <p:sp>
        <p:nvSpPr>
          <p:cNvPr id="46" name="Google Shape;46;p16"/>
          <p:cNvSpPr/>
          <p:nvPr/>
        </p:nvSpPr>
        <p:spPr>
          <a:xfrm>
            <a:off x="6933143" y="7209190"/>
            <a:ext cx="640572" cy="144000"/>
          </a:xfrm>
          <a:prstGeom prst="rect">
            <a:avLst/>
          </a:prstGeom>
          <a:noFill/>
          <a:ln w="9525" cap="flat" cmpd="sng">
            <a:solidFill>
              <a:schemeClr val="accent1"/>
            </a:solidFill>
            <a:prstDash val="solid"/>
            <a:miter lim="8000"/>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1" u="none" strike="noStrike" cap="none">
                <a:solidFill>
                  <a:schemeClr val="accent1"/>
                </a:solidFill>
                <a:latin typeface="Arial"/>
                <a:ea typeface="Arial"/>
                <a:cs typeface="Arial"/>
                <a:sym typeface="Arial"/>
              </a:rPr>
              <a:t>Confidential</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8_タイトルとコンテンツ">
  <p:cSld name="8_タイトルとコンテンツ">
    <p:spTree>
      <p:nvGrpSpPr>
        <p:cNvPr id="1" name="Shape 28"/>
        <p:cNvGrpSpPr/>
        <p:nvPr/>
      </p:nvGrpSpPr>
      <p:grpSpPr>
        <a:xfrm>
          <a:off x="0" y="0"/>
          <a:ext cx="0" cy="0"/>
          <a:chOff x="0" y="0"/>
          <a:chExt cx="0" cy="0"/>
        </a:xfrm>
      </p:grpSpPr>
      <p:sp>
        <p:nvSpPr>
          <p:cNvPr id="29" name="Google Shape;29;p15"/>
          <p:cNvSpPr txBox="1"/>
          <p:nvPr/>
        </p:nvSpPr>
        <p:spPr>
          <a:xfrm>
            <a:off x="8197059" y="7256941"/>
            <a:ext cx="2494756" cy="302735"/>
          </a:xfrm>
          <a:prstGeom prst="rect">
            <a:avLst/>
          </a:prstGeom>
          <a:noFill/>
          <a:ln>
            <a:noFill/>
          </a:ln>
        </p:spPr>
        <p:txBody>
          <a:bodyPr spcFirstLastPara="1" wrap="square" lIns="94689" tIns="47344" rIns="94689" bIns="47344"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937" b="0" i="0" u="none" strike="noStrike" cap="none">
              <a:solidFill>
                <a:srgbClr val="5A5A5A"/>
              </a:solidFill>
              <a:latin typeface="Trebuchet MS"/>
              <a:ea typeface="Trebuchet MS"/>
              <a:cs typeface="Trebuchet MS"/>
              <a:sym typeface="Trebuchet MS"/>
            </a:endParaRPr>
          </a:p>
        </p:txBody>
      </p:sp>
      <p:sp>
        <p:nvSpPr>
          <p:cNvPr id="30" name="Google Shape;30;p15"/>
          <p:cNvSpPr txBox="1"/>
          <p:nvPr/>
        </p:nvSpPr>
        <p:spPr>
          <a:xfrm>
            <a:off x="462489" y="366691"/>
            <a:ext cx="9682639" cy="317503"/>
          </a:xfrm>
          <a:prstGeom prst="rect">
            <a:avLst/>
          </a:prstGeom>
          <a:noFill/>
          <a:ln>
            <a:noFill/>
          </a:ln>
        </p:spPr>
        <p:txBody>
          <a:bodyPr spcFirstLastPara="1" wrap="square" lIns="11905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2094" b="1" i="0" u="none" strike="noStrike" cap="none">
              <a:solidFill>
                <a:srgbClr val="5A5A5A"/>
              </a:solidFill>
              <a:latin typeface="Arial"/>
              <a:ea typeface="Arial"/>
              <a:cs typeface="Arial"/>
              <a:sym typeface="Arial"/>
            </a:endParaRPr>
          </a:p>
        </p:txBody>
      </p:sp>
      <p:sp>
        <p:nvSpPr>
          <p:cNvPr id="31" name="Google Shape;31;p15"/>
          <p:cNvSpPr txBox="1">
            <a:spLocks noGrp="1"/>
          </p:cNvSpPr>
          <p:nvPr>
            <p:ph type="title"/>
          </p:nvPr>
        </p:nvSpPr>
        <p:spPr>
          <a:xfrm>
            <a:off x="462489" y="366691"/>
            <a:ext cx="7830308" cy="31750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5"/>
          <p:cNvSpPr/>
          <p:nvPr/>
        </p:nvSpPr>
        <p:spPr>
          <a:xfrm>
            <a:off x="0" y="128565"/>
            <a:ext cx="294095" cy="198417"/>
          </a:xfrm>
          <a:prstGeom prst="parallelogram">
            <a:avLst>
              <a:gd name="adj" fmla="val 0"/>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102" b="0" i="0" u="none" strike="noStrike" cap="none">
              <a:solidFill>
                <a:srgbClr val="FFFFFF"/>
              </a:solidFill>
              <a:latin typeface="Arial"/>
              <a:ea typeface="Arial"/>
              <a:cs typeface="Arial"/>
              <a:sym typeface="Arial"/>
            </a:endParaRPr>
          </a:p>
        </p:txBody>
      </p:sp>
      <p:sp>
        <p:nvSpPr>
          <p:cNvPr id="33" name="Google Shape;33;p15"/>
          <p:cNvSpPr/>
          <p:nvPr/>
        </p:nvSpPr>
        <p:spPr>
          <a:xfrm>
            <a:off x="0" y="128565"/>
            <a:ext cx="378292" cy="198417"/>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102" b="0" i="0" u="none" strike="noStrike" cap="none">
              <a:solidFill>
                <a:srgbClr val="FFFFFF"/>
              </a:solidFill>
              <a:latin typeface="Arial"/>
              <a:ea typeface="Arial"/>
              <a:cs typeface="Arial"/>
              <a:sym typeface="Arial"/>
            </a:endParaRPr>
          </a:p>
        </p:txBody>
      </p:sp>
      <p:sp>
        <p:nvSpPr>
          <p:cNvPr id="34" name="Google Shape;34;p15"/>
          <p:cNvSpPr/>
          <p:nvPr/>
        </p:nvSpPr>
        <p:spPr>
          <a:xfrm>
            <a:off x="8455621" y="150823"/>
            <a:ext cx="1725844" cy="440981"/>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7778" anchor="ctr" anchorCtr="0">
            <a:noAutofit/>
          </a:bodyPr>
          <a:lstStyle/>
          <a:p>
            <a:pPr marL="0" marR="0" lvl="0" indent="0" algn="ctr" rtl="0">
              <a:spcBef>
                <a:spcPts val="0"/>
              </a:spcBef>
              <a:spcAft>
                <a:spcPts val="0"/>
              </a:spcAft>
              <a:buNone/>
            </a:pPr>
            <a:r>
              <a:rPr lang="ja-JP" altLang="en-US" sz="1433" b="1" i="0" u="none" strike="noStrike" cap="none">
                <a:solidFill>
                  <a:srgbClr val="F14040"/>
                </a:solidFill>
                <a:latin typeface="Arial"/>
                <a:ea typeface="Arial"/>
                <a:cs typeface="Arial"/>
                <a:sym typeface="Arial"/>
              </a:rPr>
              <a:t>秘・貴社限り</a:t>
            </a:r>
            <a:endParaRPr sz="1433" b="1" i="0" u="none" strike="noStrike" cap="none">
              <a:solidFill>
                <a:srgbClr val="F14040"/>
              </a:solidFill>
              <a:latin typeface="Arial"/>
              <a:ea typeface="Arial"/>
              <a:cs typeface="Arial"/>
              <a:sym typeface="Arial"/>
            </a:endParaRPr>
          </a:p>
        </p:txBody>
      </p:sp>
    </p:spTree>
    <p:extLst>
      <p:ext uri="{BB962C8B-B14F-4D97-AF65-F5344CB8AC3E}">
        <p14:creationId xmlns:p14="http://schemas.microsoft.com/office/powerpoint/2010/main" val="24358632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
        <p:cNvGrpSpPr/>
        <p:nvPr/>
      </p:nvGrpSpPr>
      <p:grpSpPr>
        <a:xfrm>
          <a:off x="0" y="0"/>
          <a:ext cx="0" cy="0"/>
          <a:chOff x="0" y="0"/>
          <a:chExt cx="0" cy="0"/>
        </a:xfrm>
      </p:grpSpPr>
      <p:sp>
        <p:nvSpPr>
          <p:cNvPr id="8" name="Google Shape;180;p1">
            <a:extLst>
              <a:ext uri="{FF2B5EF4-FFF2-40B4-BE49-F238E27FC236}">
                <a16:creationId xmlns:a16="http://schemas.microsoft.com/office/drawing/2014/main" id="{AF61A98D-0451-48C2-A80A-4061CC301B0D}"/>
              </a:ext>
            </a:extLst>
          </p:cNvPr>
          <p:cNvSpPr txBox="1"/>
          <p:nvPr/>
        </p:nvSpPr>
        <p:spPr>
          <a:xfrm>
            <a:off x="705105" y="3129654"/>
            <a:ext cx="9165203" cy="1100970"/>
          </a:xfrm>
          <a:prstGeom prst="rect">
            <a:avLst/>
          </a:prstGeom>
          <a:noFill/>
          <a:ln>
            <a:noFill/>
          </a:ln>
        </p:spPr>
        <p:txBody>
          <a:bodyPr spcFirstLastPara="1" wrap="square" lIns="100779" tIns="50376" rIns="0" bIns="50376" anchor="ctr" anchorCtr="0">
            <a:noAutofit/>
          </a:bodyPr>
          <a:lstStyle/>
          <a:p>
            <a:r>
              <a:rPr lang="ja-JP" altLang="en-US" sz="3527" b="1" dirty="0">
                <a:solidFill>
                  <a:schemeClr val="tx1"/>
                </a:solidFill>
                <a:latin typeface="游ゴシック" panose="020B0604030504040204" pitchFamily="50" charset="-128"/>
                <a:ea typeface="游ゴシック" panose="020B0604030504040204" pitchFamily="50" charset="-128"/>
              </a:rPr>
              <a:t>今後のスケジュールと論点整理</a:t>
            </a:r>
          </a:p>
        </p:txBody>
      </p:sp>
      <p:sp>
        <p:nvSpPr>
          <p:cNvPr id="9" name="Google Shape;181;p1">
            <a:extLst>
              <a:ext uri="{FF2B5EF4-FFF2-40B4-BE49-F238E27FC236}">
                <a16:creationId xmlns:a16="http://schemas.microsoft.com/office/drawing/2014/main" id="{A30AFEF0-2C1C-FAE8-B190-22BCB5FF4BA9}"/>
              </a:ext>
            </a:extLst>
          </p:cNvPr>
          <p:cNvSpPr txBox="1"/>
          <p:nvPr/>
        </p:nvSpPr>
        <p:spPr>
          <a:xfrm>
            <a:off x="705105" y="5624482"/>
            <a:ext cx="4206433" cy="595250"/>
          </a:xfrm>
          <a:prstGeom prst="rect">
            <a:avLst/>
          </a:prstGeom>
          <a:noFill/>
          <a:ln>
            <a:noFill/>
          </a:ln>
        </p:spPr>
        <p:txBody>
          <a:bodyPr spcFirstLastPara="1" wrap="square" lIns="109184" tIns="54592" rIns="109184" bIns="54592" anchor="ctr" anchorCtr="0">
            <a:noAutofit/>
          </a:bodyPr>
          <a:lstStyle/>
          <a:p>
            <a:pPr>
              <a:buClr>
                <a:srgbClr val="FFFFFF"/>
              </a:buClr>
              <a:buSzPts val="1400"/>
            </a:pPr>
            <a:r>
              <a:rPr lang="zh-TW" altLang="en-US" sz="1543" b="1" dirty="0">
                <a:solidFill>
                  <a:schemeClr val="tx1"/>
                </a:solidFill>
                <a:latin typeface="游ゴシック" panose="020B0604030504040204" pitchFamily="50" charset="-128"/>
                <a:ea typeface="游ゴシック" panose="020B0604030504040204" pitchFamily="50" charset="-128"/>
              </a:rPr>
              <a:t>企業情報部</a:t>
            </a:r>
          </a:p>
          <a:p>
            <a:pPr>
              <a:buClr>
                <a:srgbClr val="FFFFFF"/>
              </a:buClr>
              <a:buSzPts val="1400"/>
            </a:pPr>
            <a:r>
              <a:rPr lang="ja-JP" altLang="en-US" sz="1543" b="1" dirty="0">
                <a:solidFill>
                  <a:schemeClr val="tx1"/>
                </a:solidFill>
                <a:latin typeface="游ゴシック" panose="020B0604030504040204" pitchFamily="50" charset="-128"/>
                <a:ea typeface="游ゴシック" panose="020B0604030504040204" pitchFamily="50" charset="-128"/>
              </a:rPr>
              <a:t>田垣内 啓介</a:t>
            </a:r>
            <a:endParaRPr lang="zh-TW" altLang="en-US" sz="1543" b="1" dirty="0">
              <a:solidFill>
                <a:schemeClr val="tx1"/>
              </a:solidFill>
              <a:latin typeface="游ゴシック" panose="020B0604030504040204" pitchFamily="50" charset="-128"/>
              <a:ea typeface="游ゴシック" panose="020B0604030504040204" pitchFamily="50" charset="-128"/>
            </a:endParaRPr>
          </a:p>
        </p:txBody>
      </p:sp>
      <p:sp>
        <p:nvSpPr>
          <p:cNvPr id="10" name="Google Shape;182;p1">
            <a:extLst>
              <a:ext uri="{FF2B5EF4-FFF2-40B4-BE49-F238E27FC236}">
                <a16:creationId xmlns:a16="http://schemas.microsoft.com/office/drawing/2014/main" id="{DCE88C24-2B67-8130-1297-ED2841E6A5C7}"/>
              </a:ext>
            </a:extLst>
          </p:cNvPr>
          <p:cNvSpPr txBox="1"/>
          <p:nvPr/>
        </p:nvSpPr>
        <p:spPr>
          <a:xfrm>
            <a:off x="705105" y="2875204"/>
            <a:ext cx="6131630" cy="508899"/>
          </a:xfrm>
          <a:prstGeom prst="rect">
            <a:avLst/>
          </a:prstGeom>
          <a:noFill/>
          <a:ln>
            <a:noFill/>
          </a:ln>
        </p:spPr>
        <p:txBody>
          <a:bodyPr spcFirstLastPara="1" wrap="square" lIns="100779" tIns="50376" rIns="100779" bIns="50376" anchor="ctr" anchorCtr="0">
            <a:spAutoFit/>
          </a:bodyPr>
          <a:lstStyle/>
          <a:p>
            <a:pPr>
              <a:buClr>
                <a:srgbClr val="FFFFFF"/>
              </a:buClr>
              <a:buSzPts val="1800"/>
            </a:pPr>
            <a:r>
              <a:rPr lang="zh-CN" altLang="en-US" sz="2646" b="1" dirty="0">
                <a:solidFill>
                  <a:schemeClr val="tx1"/>
                </a:solidFill>
                <a:latin typeface="游ゴシック" panose="020B0604030504040204" pitchFamily="50" charset="-128"/>
                <a:ea typeface="游ゴシック" panose="020B0604030504040204" pitchFamily="50" charset="-128"/>
              </a:rPr>
              <a:t>株式会社カナリア御中</a:t>
            </a:r>
          </a:p>
        </p:txBody>
      </p:sp>
      <p:sp>
        <p:nvSpPr>
          <p:cNvPr id="11" name="Google Shape;183;p1">
            <a:extLst>
              <a:ext uri="{FF2B5EF4-FFF2-40B4-BE49-F238E27FC236}">
                <a16:creationId xmlns:a16="http://schemas.microsoft.com/office/drawing/2014/main" id="{63579953-4E40-328F-5A74-12C84E3919AC}"/>
              </a:ext>
            </a:extLst>
          </p:cNvPr>
          <p:cNvSpPr txBox="1"/>
          <p:nvPr/>
        </p:nvSpPr>
        <p:spPr>
          <a:xfrm>
            <a:off x="705105" y="5227649"/>
            <a:ext cx="2339650" cy="396833"/>
          </a:xfrm>
          <a:prstGeom prst="rect">
            <a:avLst/>
          </a:prstGeom>
          <a:noFill/>
          <a:ln>
            <a:noFill/>
          </a:ln>
        </p:spPr>
        <p:txBody>
          <a:bodyPr spcFirstLastPara="1" wrap="square" lIns="109184" tIns="54592" rIns="109184" bIns="54592" anchor="ctr" anchorCtr="0">
            <a:noAutofit/>
          </a:bodyPr>
          <a:lstStyle/>
          <a:p>
            <a:pPr>
              <a:lnSpc>
                <a:spcPct val="80000"/>
              </a:lnSpc>
              <a:buClr>
                <a:schemeClr val="lt1"/>
              </a:buClr>
              <a:buSzPts val="1200"/>
            </a:pPr>
            <a:r>
              <a:rPr lang="en-US" altLang="ja-JP" b="1" dirty="0">
                <a:solidFill>
                  <a:schemeClr val="tx1"/>
                </a:solidFill>
                <a:latin typeface="游ゴシック" panose="020B0604030504040204" pitchFamily="50" charset="-128"/>
                <a:ea typeface="游ゴシック" panose="020B0604030504040204" pitchFamily="50" charset="-128"/>
              </a:rPr>
              <a:t>2026年9月7日</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2" name="タイトル 1">
            <a:extLst>
              <a:ext uri="{FF2B5EF4-FFF2-40B4-BE49-F238E27FC236}">
                <a16:creationId xmlns:a16="http://schemas.microsoft.com/office/drawing/2014/main" id="{30E6F13E-3A04-1D06-147A-6B88324E50F7}"/>
              </a:ext>
            </a:extLst>
          </p:cNvPr>
          <p:cNvSpPr>
            <a:spLocks noGrp="1"/>
          </p:cNvSpPr>
          <p:nvPr>
            <p:ph type="title"/>
          </p:nvPr>
        </p:nvSpPr>
        <p:spPr>
          <a:xfrm>
            <a:off x="1757941" y="3047509"/>
            <a:ext cx="9221787" cy="430887"/>
          </a:xfrm>
          <a:prstGeom prst="rect">
            <a:avLst/>
          </a:prstGeom>
        </p:spPr>
        <p:txBody>
          <a:bodyPr/>
          <a:lstStyle/>
          <a:p>
            <a:r>
              <a:rPr lang="en-US" altLang="ja-JP" sz="2800" dirty="0">
                <a:solidFill>
                  <a:schemeClr val="tx2"/>
                </a:solidFill>
              </a:rPr>
              <a:t>Section 1</a:t>
            </a:r>
            <a:endParaRPr lang="ja-JP" altLang="en-US" sz="2800" dirty="0">
              <a:solidFill>
                <a:schemeClr val="tx2"/>
              </a:solidFill>
            </a:endParaRPr>
          </a:p>
        </p:txBody>
      </p:sp>
      <p:sp>
        <p:nvSpPr>
          <p:cNvPr id="196" name="Google Shape;196;p2"/>
          <p:cNvSpPr txBox="1">
            <a:spLocks noGrp="1"/>
          </p:cNvSpPr>
          <p:nvPr>
            <p:ph type="subTitle" idx="4294967295"/>
          </p:nvPr>
        </p:nvSpPr>
        <p:spPr>
          <a:xfrm>
            <a:off x="1651616" y="3516219"/>
            <a:ext cx="5399088" cy="720725"/>
          </a:xfrm>
          <a:prstGeom prst="rect">
            <a:avLst/>
          </a:prstGeom>
          <a:noFill/>
          <a:ln>
            <a:noFill/>
          </a:ln>
        </p:spPr>
        <p:txBody>
          <a:bodyPr spcFirstLastPara="1" wrap="square" lIns="100779" tIns="50376" rIns="100779" bIns="50376" anchor="ctr" anchorCtr="0">
            <a:noAutofit/>
          </a:bodyPr>
          <a:lstStyle/>
          <a:p>
            <a:pPr>
              <a:spcBef>
                <a:spcPts val="0"/>
              </a:spcBef>
            </a:pPr>
            <a:r>
              <a:rPr lang="ja-JP" altLang="en-US" sz="3200" dirty="0">
                <a:solidFill>
                  <a:schemeClr val="bg1"/>
                </a:solidFill>
                <a:latin typeface="游ゴシック" panose="020B0604030504040204" pitchFamily="50" charset="-128"/>
                <a:ea typeface="游ゴシック" panose="020B0604030504040204" pitchFamily="50" charset="-128"/>
              </a:rPr>
              <a:t>譲渡条件と論点の整理</a:t>
            </a:r>
          </a:p>
        </p:txBody>
      </p:sp>
      <p:cxnSp>
        <p:nvCxnSpPr>
          <p:cNvPr id="197" name="Google Shape;197;p2"/>
          <p:cNvCxnSpPr/>
          <p:nvPr/>
        </p:nvCxnSpPr>
        <p:spPr>
          <a:xfrm>
            <a:off x="1757941" y="3497307"/>
            <a:ext cx="7854801" cy="0"/>
          </a:xfrm>
          <a:prstGeom prst="straightConnector1">
            <a:avLst/>
          </a:prstGeom>
          <a:noFill/>
          <a:ln w="12700" cap="flat" cmpd="sng">
            <a:solidFill>
              <a:srgbClr val="7F7F7F"/>
            </a:solidFill>
            <a:prstDash val="solid"/>
            <a:round/>
            <a:headEnd type="none" w="sm" len="sm"/>
            <a:tailEnd type="none" w="sm" len="sm"/>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譲渡条件の整理（売主様のご意向と協議事項）①</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譲渡スキーム</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会社分割（新設分割）により非事業用資産を新設会社へ切り出したうえで、株式会社カナリアの株式100%を譲渡。</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※株券不発行会社であるかを謄本にて要確認。※SPA締結後、分割手続に1〜2ヶ月程度を要する見込み。</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譲渡比率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100%（野口社長が発行済株式1,000株の全てを保有）。</a:t>
                      </a:r>
                    </a:p>
                    <a:p>
                      <a:pPr marL="0" marR="0" lvl="0" indent="0" algn="l" rtl="0">
                        <a:buClr>
                          <a:srgbClr val="66A09A"/>
                        </a:buClr>
                        <a:buSzPts val="1120"/>
                        <a:buFont typeface="游ゴシック"/>
                        <a:buNone/>
                      </a:p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※他の株主・名義株の不存在を株主名簿にて要確認。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金額面の条件</a:t>
                      </a:r>
                    </a:p>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（株式取得価格＋役員退職金）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・希望価額：200,000千円</a:t>
                      </a:r>
                    </a:p>
                    <a:p>
                      <a:pPr marL="0" marR="0" lvl="0" indent="0" algn="l" rtl="0">
                        <a:buClr>
                          <a:srgbClr val="66A09A"/>
                        </a:buClr>
                        <a:buSzPts val="1120"/>
                        <a:buFont typeface="游ゴシック"/>
                        <a:buNone/>
                      </a:p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※会社分割後（非事業用資産の控除後）のカナリア社株式に対する価額との前提で相違ないか要確認。</a:t>
                      </a:r>
                    </a:p>
                    <a:p>
                      <a:pPr marL="0" marR="0" lvl="0" indent="0" algn="l" rtl="0">
                        <a:buClr>
                          <a:srgbClr val="66A09A"/>
                        </a:buClr>
                        <a:buSzPts val="1120"/>
                        <a:buFont typeface="游ゴシック"/>
                        <a:buNone/>
                      </a:p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※役員退職慰労金を支給する場合、上記価額に含めるか別枠とするかを整理。※最低応諾価額は別途社内にて把握。</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役員退職金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・野口社長分：7年間の継続勤務をご希望のため、譲渡時に支給するか退任時に支給するかを整理。</a:t>
                      </a:r>
                    </a:p>
                    <a:p>
                      <a:pPr marL="0" marR="0" lvl="0" indent="0" algn="l" rtl="0">
                        <a:lnSpc>
                          <a:spcPct val="100000"/>
                        </a:lnSpc>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・退任予定の取締役2名分：支給の有無を要確認。</a:t>
                      </a:r>
                    </a:p>
                    <a:p>
                      <a:pPr marL="0" marR="0" lvl="0" indent="0" algn="l" rtl="0">
                        <a:lnSpc>
                          <a:spcPct val="100000"/>
                        </a:lnSpc>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※原資は対象会社に残置する現預金193,226千円を想定。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会社分割の対象範囲</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r>
                        <a:rPr lang="ja-JP" altLang="en-US" sz="1100" dirty="0" b="0">
                          <a:latin typeface="游ゴシック" panose="020B0604030504040204" pitchFamily="50" charset="-128"/>
                          <a:ea typeface="游ゴシック" panose="020B0604030504040204" pitchFamily="50" charset="-128"/>
                        </a:rPr>
                        <a:t>投資有価証券275,896／保険積立金43,327／前渡金（ホテル会員権）6,570／車両運搬具265　計326,058千円を新設会社へ承継。</a:t>
                      </a:r>
                    </a:p>
                    <a:p>
                      <a:pPr marL="0" marR="0" lvl="0" indent="0" algn="l" rtl="0">
                        <a:lnSpc>
                          <a:spcPct val="100000"/>
                        </a:lnSpc>
                        <a:buClr>
                          <a:srgbClr val="66A09A"/>
                        </a:buClr>
                        <a:buSzPts val="960"/>
                        <a:buFont typeface="游ゴシック"/>
                        <a:buNone/>
                      </a:pPr>
                      <a:r>
                        <a:rPr lang="ja-JP" altLang="en-US" sz="1100" dirty="0" b="0">
                          <a:latin typeface="游ゴシック" panose="020B0604030504040204" pitchFamily="50" charset="-128"/>
                          <a:ea typeface="游ゴシック" panose="020B0604030504040204" pitchFamily="50" charset="-128"/>
                        </a:rPr>
                        <a:t>現預金193,226千円・借入金187,808千円は対象会社に残置（ネットキャッシュ ＋5,418千円）。※詳細は5頁。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野口社長の</a:t>
                      </a:r>
                    </a:p>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継続勤務条件【最重要】</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・期間：譲渡後7年程度（55歳まで／現在48歳）　・役員報酬：1,200万円以上（2026年1月期実績21,104千円）</a:t>
                      </a:r>
                    </a:p>
                    <a:p>
                      <a:pPr marL="0" marR="0" lvl="0" indent="0" algn="l" rtl="0">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・業績連動インセンティブの設計をご希望　※論点の詳細は4頁に記載。</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その他役員のご処遇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野口文枝氏（配偶者）・野口聰江氏（母）は本件譲渡後に退任予定。両氏とも業務関与は無し（役員報酬 計3,588千円）。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0"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r>
              <a:rPr lang="en-US" altLang="ja-JP" sz="900" dirty="0">
                <a:solidFill>
                  <a:schemeClr val="dk1"/>
                </a:solidFill>
              </a:rPr>
              <a:t>【本資料のご利用にあたって】</a:t>
            </a:r>
          </a:p>
          <a:p>
            <a:r>
              <a:rPr lang="en-US" altLang="ja-JP" sz="900" dirty="0">
                <a:solidFill>
                  <a:schemeClr val="dk1"/>
                </a:solidFill>
              </a:rPr>
              <a:t>・本資料は、企業概要書（2026年8月6日版）および野口社長からのヒアリング内容に基づき、現時点で確定している事項と今後の協議・確認が必要な事項を整理したものです。</a:t>
            </a:r>
          </a:p>
          <a:p>
            <a:r>
              <a:rPr lang="en-US" altLang="ja-JP" sz="900" dirty="0">
                <a:solidFill>
                  <a:schemeClr val="dk1"/>
                </a:solidFill>
              </a:rPr>
              <a:t>・数値は2026年1月期実績（企業概要書記載値）を出所としています。金額の単位は千円です。</a:t>
            </a:r>
          </a:p>
          <a:p>
            <a:r>
              <a:rPr lang="en-US" altLang="ja-JP" sz="900" dirty="0">
                <a:solidFill>
                  <a:schemeClr val="dk1"/>
                </a:solidFill>
              </a:rPr>
              <a:t>・「要確認」は資料・事実の確認が未了の事項、「要協議」は売主様・譲受企業様との条件交渉が必要な事項を指します。</a:t>
            </a:r>
          </a:p>
          <a:p>
            <a:r>
              <a:rPr lang="en-US" altLang="ja-JP" sz="900" dirty="0">
                <a:solidFill>
                  <a:schemeClr val="dk1"/>
                </a:solidFill>
              </a:rPr>
              <a:t>・買手候補先が確定した段階で、宛先・スケジュール・条件欄を更新のうえご利用ください。</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
          <p:cNvSpPr txBox="1">
            <a:spLocks noGrp="1"/>
          </p:cNvSpPr>
          <p:nvPr>
            <p:ph type="ctrTitle"/>
          </p:nvPr>
        </p:nvSpPr>
        <p:spPr>
          <a:xfrm>
            <a:off x="1594691" y="203827"/>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譲渡条件の整理（売主様のご意向と協議事項）②</a:t>
            </a:r>
          </a:p>
        </p:txBody>
      </p:sp>
      <p:sp>
        <p:nvSpPr>
          <p:cNvPr id="215" name="Google Shape;215;p4"/>
          <p:cNvSpPr txBox="1"/>
          <p:nvPr/>
        </p:nvSpPr>
        <p:spPr>
          <a:xfrm>
            <a:off x="550278" y="99857"/>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16" name="Google Shape;216;p4"/>
          <p:cNvSpPr/>
          <p:nvPr/>
        </p:nvSpPr>
        <p:spPr>
          <a:xfrm>
            <a:off x="193648" y="109381"/>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17" name="Google Shape;217;p4"/>
          <p:cNvGraphicFramePr/>
          <p:nvPr>
            <p:extLst>
              <p:ext uri="{D42A27DB-BD31-4B8C-83A1-F6EECF244321}">
                <p14:modId xmlns:p14="http://schemas.microsoft.com/office/powerpoint/2010/main" val="1563357024"/>
              </p:ext>
            </p:extLst>
          </p:nvPr>
        </p:nvGraphicFramePr>
        <p:xfrm>
          <a:off x="330506" y="924526"/>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従業員の継続雇用</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rPr>
                        <a:t>正社員7名。待遇・雇用条件は現行水準以上の維持をご希望。</a:t>
                      </a:r>
                    </a:p>
                    <a:p>
                      <a:pPr marL="0" marR="0" lvl="0" indent="0" algn="l" rtl="0">
                        <a:lnSpc>
                          <a:spcPct val="100000"/>
                        </a:lnSpc>
                        <a:buClr>
                          <a:srgbClr val="66A09A"/>
                        </a:buClr>
                        <a:buSzPts val="112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rPr>
                        <a:t>制作部長（勤続12年）・課長（勤続10年）等の長期勤続者が実務の中核を担っており、継続勤務が事業継続の前提。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連帯保証・担保の解除</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rPr>
                        <a:t>有利子負債187,808千円（1年内返済41,828＋長期145,980）に係る野口社長の個人保証および個人資産の担保提供の有無を確認のうえ、譲渡実行までに解除。</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私用車両の取扱い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車両運搬具2台（レクサスRX HV／FREED HYBRID・期末簿価計265千円）は私用車の可能性あり。</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会社分割により新設会社へ承継する前提だが、時価評価のうえ買取または現物支給の要否を整理。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契約関係</a:t>
                      </a:r>
                    </a:p>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（COC条項等）</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版権元との商品化許諾契約、本社賃貸借契約、販売仕入在庫システム等について、COC条項の有無と事前通知・承諾の要否を確認。</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特に大手IPホルダーとの商品化許諾は事業継続の前提となるため、優先的に確認。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事業所（賃貸借契約）</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rPr>
                        <a:t>本社1拠点（東京都台東区東上野／延床115.7㎡／月額賃料436千円／敷金1,264千円）。契約名義・COC条項・更新条件を確認。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dirty="0" b="0">
                          <a:solidFill>
                            <a:schemeClr val="dk1"/>
                          </a:solidFill>
                          <a:latin typeface="游ゴシック" panose="020B0604030504040204" pitchFamily="50" charset="-128"/>
                          <a:ea typeface="游ゴシック" panose="020B0604030504040204" pitchFamily="50" charset="-128"/>
                        </a:rPr>
                        <a:t>M&amp;A後の経営体制</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en-US" altLang="ja-JP" sz="1100" dirty="0" b="0">
                          <a:solidFill>
                            <a:schemeClr val="dk1"/>
                          </a:solidFill>
                          <a:latin typeface="游ゴシック" panose="020B0604030504040204" pitchFamily="50" charset="-128"/>
                          <a:ea typeface="游ゴシック" panose="020B0604030504040204" pitchFamily="50" charset="-128"/>
                        </a:rPr>
                        <a:t>野口社長が経営管理およびOEM事業の管掌を継続する前提。譲受企業からの役員派遣の要否・時期、管理部門（経理・労務）の統合方針を整理。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0189768"/>
                  </a:ext>
                </a:extLst>
              </a:tr>
              <a:tr h="70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14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開示のタイミング</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rPr>
                        <a:t>従業員10名、版権元・問屋等の主要取引先への開示の時期・方法。少数体制のため情報管理に特に留意。</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218" name="Google Shape;218;p4"/>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r>
              <a:rPr lang="en-US" altLang="ja-JP" sz="900" dirty="0">
                <a:solidFill>
                  <a:schemeClr val="dk1"/>
                </a:solidFill>
              </a:rPr>
              <a:t>【本資料のご利用にあたって】</a:t>
            </a:r>
          </a:p>
          <a:p>
            <a:r>
              <a:rPr lang="en-US" altLang="ja-JP" sz="900" dirty="0">
                <a:solidFill>
                  <a:schemeClr val="dk1"/>
                </a:solidFill>
              </a:rPr>
              <a:t>・本資料は、企業概要書（2026年8月6日版）および野口社長からのヒアリング内容に基づき、現時点で確定している事項と今後の協議・確認が必要な事項を整理したものです。</a:t>
            </a:r>
          </a:p>
          <a:p>
            <a:r>
              <a:rPr lang="en-US" altLang="ja-JP" sz="900" dirty="0">
                <a:solidFill>
                  <a:schemeClr val="dk1"/>
                </a:solidFill>
              </a:rPr>
              <a:t>・数値は2026年1月期実績（企業概要書記載値）を出所としています。金額の単位は千円です。</a:t>
            </a:r>
          </a:p>
          <a:p>
            <a:r>
              <a:rPr lang="en-US" altLang="ja-JP" sz="900" dirty="0">
                <a:solidFill>
                  <a:schemeClr val="dk1"/>
                </a:solidFill>
              </a:rPr>
              <a:t>・「要確認」は資料・事実の確認が未了の事項、「要協議」は売主様・譲受企業様との条件交渉が必要な事項を指します。</a:t>
            </a:r>
          </a:p>
          <a:p>
            <a:r>
              <a:rPr lang="en-US" altLang="ja-JP" sz="900" dirty="0">
                <a:solidFill>
                  <a:schemeClr val="dk1"/>
                </a:solidFill>
              </a:rPr>
              <a:t>・買手候補先が確定した段階で、宛先・スケジュール・条件欄を更新のうえご利用ください。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【最重要論点】野口社長の継続勤務・ご処遇について</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25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項目</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売主様のご意向と論点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継続勤務期間</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ご意向：譲渡後7年程度（55歳まで）。</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※買手は通常1〜2年のロックアップを想定するため、「引継ぎ期間」ではなく「経営者としての継続登用」である旨を明確に伝える必要。</a:t>
                      </a:r>
                    </a:p>
                    <a:p>
                      <a:pPr marL="0" marR="0" lvl="0" indent="0" algn="l" rtl="0">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rPr>
                        <a:t>※中途での退任・解任時の取扱い（株式譲渡契約・委任契約での定め）も併せて整理。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役職・権限の範囲</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代表取締役として継続か、取締役／執行役員かを確定。現状は経営管理およびOEM事業の窓口（見積作成・スケジュール調整）を担当。</a:t>
                      </a:r>
                    </a:p>
                    <a:p>
                      <a:pPr marL="0" marR="0" lvl="0" indent="0" algn="l" rtl="0">
                        <a:buClr>
                          <a:srgbClr val="66A09A"/>
                        </a:buClr>
                        <a:buSzPts val="1120"/>
                        <a:buFont typeface="游ゴシック"/>
                        <a:buNone/>
                      </a:pPr>
                      <a:r>
                        <a:rPr lang="en-US" altLang="ja-JP" sz="1100" u="none" strike="noStrike" cap="none" dirty="0" b="0">
                          <a:solidFill>
                            <a:schemeClr val="dk1"/>
                          </a:solidFill>
                          <a:latin typeface="游ゴシック" panose="020B0604030504040204" pitchFamily="50" charset="-128"/>
                          <a:ea typeface="游ゴシック" panose="020B0604030504040204" pitchFamily="50" charset="-128"/>
                        </a:rPr>
                        <a:t>譲受企業の決裁権限規程との接続（投資・与信・IP選定の決裁ライン）が論点。</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役員報酬</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ご意向：1,200万円以上。2026年1月期の実績は21,104千円。</a:t>
                      </a:r>
                    </a:p>
                    <a:p>
                      <a:pPr marL="0" marR="0" lvl="0" indent="0" algn="l" rtl="0">
                        <a:buClr>
                          <a:srgbClr val="66A09A"/>
                        </a:buClr>
                        <a:buSzPts val="1120"/>
                        <a:buFont typeface="游ゴシック"/>
                        <a:buNone/>
                      </a:pPr>
                      <a:r>
                        <a:rPr lang="ja-JP" altLang="en-US" sz="1100" b="0" u="none" strike="noStrike" cap="none" dirty="0">
                          <a:solidFill>
                            <a:schemeClr val="dk1"/>
                          </a:solidFill>
                          <a:latin typeface="游ゴシック" panose="020B0604030504040204" pitchFamily="50" charset="-128"/>
                          <a:ea typeface="游ゴシック" panose="020B0604030504040204" pitchFamily="50" charset="-128"/>
                        </a:rPr>
                        <a:t>※実績から約9,100千円の減額となるため、譲渡後の損益改善要因を株式価値にどう織り込むかを整理（調整後EBITDAでは退任予定の取締役2名分のみ控除）。</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業績インセンティブ</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業績連動賞与／ストックオプション／アーンアウトのいずれで設計するかを協議。</a:t>
                      </a:r>
                    </a:p>
                    <a:p>
                      <a:pPr marL="0" marR="0" lvl="0" indent="0" algn="l" rtl="0">
                        <a:lnSpc>
                          <a:spcPct val="100000"/>
                        </a:lnSpc>
                        <a:buClr>
                          <a:srgbClr val="66A09A"/>
                        </a:buClr>
                        <a:buSzPts val="1120"/>
                        <a:buFont typeface="游ゴシック"/>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※KPIの定義（売上高・営業利益・調整後EBITDA）、算定対象期間、上限額、譲渡対価との関係（対価の一部と整理するか）を要確定。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退職慰労金の取扱い</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r>
                        <a:rPr lang="ja-JP" altLang="en-US" sz="1100" dirty="0" b="0">
                          <a:latin typeface="游ゴシック" panose="020B0604030504040204" pitchFamily="50" charset="-128"/>
                          <a:ea typeface="游ゴシック" panose="020B0604030504040204" pitchFamily="50" charset="-128"/>
                        </a:rPr>
                        <a:t>7年後の退任時に支給するか、譲渡時に一旦精算するかを整理。損金算入限度額、原資（残置する現預金193,226千円）、エスクローの要否を確認。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0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属人性の解消・承継計画</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OEM事業の窓口機能および版権元とのリレーションが野口社長に集中。</a:t>
                      </a:r>
                    </a:p>
                    <a:p>
                      <a:pPr marL="0" marR="0" lvl="0" indent="0" algn="l" rtl="0">
                        <a:buNone/>
                      </a:pPr>
                      <a:r>
                        <a:rPr lang="ja-JP" altLang="en-US" sz="110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7年間で誰に承継するか（制作部長への権限移譲等）の計画を提示できると、買手にとって大きな安心材料となる。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連帯保証・担保提供</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継続勤務中も個人保証・個人資産の担保提供を残さないことを条件とする。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r>
              <a:rPr lang="en-US" altLang="ja-JP" sz="900" dirty="0">
                <a:solidFill>
                  <a:schemeClr val="dk1"/>
                </a:solidFill>
              </a:rPr>
              <a:t>【留意事項】</a:t>
            </a:r>
          </a:p>
          <a:p>
            <a:r>
              <a:rPr lang="en-US" altLang="ja-JP" sz="900" dirty="0">
                <a:solidFill>
                  <a:schemeClr val="dk1"/>
                </a:solidFill>
              </a:rPr>
              <a:t>・7年間の継続勤務は本件の最重要条件であり、買手候補先の選定基準そのものになる。打診段階のノンネームシート／初回面談で必ず提示し、受け入れ可否を早期に確認すること。</a:t>
            </a:r>
          </a:p>
          <a:p>
            <a:r>
              <a:rPr lang="en-US" altLang="ja-JP" sz="900" dirty="0">
                <a:solidFill>
                  <a:schemeClr val="dk1"/>
                </a:solidFill>
              </a:rPr>
              <a:t>・役員報酬1,200万円と実績21,104千円の差額は、買手にとっては譲渡後の利益改善要因となる。価格交渉で買手側から持ち出される前に、こちら側で整理して提示できる状態にしておく。</a:t>
            </a:r>
          </a:p>
          <a:p>
            <a:r>
              <a:rPr lang="en-US" altLang="ja-JP" sz="900" dirty="0">
                <a:solidFill>
                  <a:schemeClr val="dk1"/>
                </a:solidFill>
              </a:rPr>
              <a:t>・インセンティブをアーンアウトとして設計する場合、譲渡対価の一部となるため、税務上の取扱い（譲渡所得か給与所得か）が変わる。顧問税理士に事前確認すること。</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会社分割スキームに関する論点</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4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40000">
                <a:tc>
                  <a:txBody>
                    <a:bodyPr/>
                    <a:lstStyle/>
                    <a:p>
                      <a:pPr marL="0" marR="0" lvl="0" indent="0" algn="ctr" rtl="0">
                        <a:buNone/>
                      </a:p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論点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内容・確認事項</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協議状況</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分割形態</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分割型分割（新設会社株式を野口社長へ直接交付）か、分社型分割（カナリア社の子会社となるため、譲渡前に株式を社長へ移転）かを確定。</a:t>
                      </a:r>
                    </a:p>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※税務上の適格要件と課税関係（みなし配当の有無）が異なるため、顧問税理士との事前確認が必須。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分割対象資産</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投資有価証券275,896／保険積立金43,327／前渡金（ホテル会員権）6,570／車両運搬具265　計326,058千円を新設会社へ承継。</a:t>
                      </a:r>
                    </a:p>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現預金・借入金は全額を対象会社に残置。承継する負債は無し。</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売主意向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分割後の財務体質</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分割後の対象会社は総資産223,949千円・純資産7,477千円（自己資本比率 約3.3%）となる見込み。ネットキャッシュは＋5,418千円。</a:t>
                      </a:r>
                    </a:p>
                    <a:p>
                      <a:pPr marL="0" marR="0" lvl="0" indent="0" algn="l" rtl="0">
                        <a:buClr>
                          <a:srgbClr val="66A09A"/>
                        </a:buClr>
                        <a:buSzPts val="1120"/>
                        <a:buFont typeface="游ゴシック"/>
                        <a:buNone/>
                      </a:p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※純資産が薄くなるため、買手および金融機関への説明方針を事前に整理する必要。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非事業用資産の時価</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投資有価証券275,896千円は簿価ベース。分割時の時価評価による含み損益と課税関係を確認。</a:t>
                      </a:r>
                    </a:p>
                    <a:p>
                      <a:pPr marL="0" marR="0" lvl="0" indent="0" algn="l" rtl="0">
                        <a:lnSpc>
                          <a:spcPct val="100000"/>
                        </a:lnSpc>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※2026年1月期は投資有価証券売却益12,486千円・売却損566千円が発生している。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保険契約の承継</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r>
                        <a:rPr lang="ja-JP" altLang="en-US" sz="1050" dirty="0" b="0">
                          <a:latin typeface="游ゴシック" panose="020B0604030504040204" pitchFamily="50" charset="-128"/>
                          <a:ea typeface="游ゴシック" panose="020B0604030504040204" pitchFamily="50" charset="-128"/>
                        </a:rPr>
                        <a:t>保険積立金43,327千円について、契約者・被保険者の変更手続の要否、および解約返戻金の課税関係を確認。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金融機関の同意</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分割により総資産・純資産が大幅に減少するため、借入金187,808千円に係る期限の利益喪失条項・財務制限条項・COC条項の有無と、金融機関の事前同意の要否を確認。連帯保証解除の協議と併せて進める。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手続・スケジュール</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債権者保護手続（官報公告1ヶ月以上）、労働契約承継法上の通知、許認可・契約の承継可否の確認が必要。</a:t>
                      </a:r>
                    </a:p>
                    <a:p>
                      <a:pPr marL="0" marR="0" lvl="0" indent="0" algn="l" rtl="0">
                        <a:lnSpc>
                          <a:spcPct val="100000"/>
                        </a:lnSpc>
                        <a:buClr>
                          <a:schemeClr val="dk1"/>
                        </a:buClr>
                        <a:buSzPts val="1400"/>
                        <a:buFont typeface="游ゴシック"/>
                        <a:buNone/>
                      </a:p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※SPA締結後1〜2ヶ月を要するため、クロージング時期および価格算定の基準時点に影響。</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譲渡対価との関係</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希望価額200,000千円が分割後ベースであることを前提に、分割後純資産7,477千円＋営業権として整理。</a:t>
                      </a:r>
                    </a:p>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分割実行の前後いずれの時点を価格算定基準日とするかを確定。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r>
              <a:rPr lang="en-US" altLang="ja-JP" sz="900" dirty="0">
                <a:solidFill>
                  <a:schemeClr val="dk1"/>
                </a:solidFill>
              </a:rPr>
              <a:t>【留意事項】</a:t>
            </a:r>
          </a:p>
          <a:p>
            <a:r>
              <a:rPr lang="en-US" altLang="ja-JP" sz="900" dirty="0">
                <a:solidFill>
                  <a:schemeClr val="dk1"/>
                </a:solidFill>
              </a:rPr>
              <a:t>・分割形態（分割型／分社型）は、野口社長の手取り額と課税関係に直結する。企業概要書でも「今後の協議事項」としており、顧問税理士を交えた早期の確定が必要。</a:t>
            </a:r>
          </a:p>
          <a:p>
            <a:r>
              <a:rPr lang="en-US" altLang="ja-JP" sz="900" dirty="0">
                <a:solidFill>
                  <a:schemeClr val="dk1"/>
                </a:solidFill>
              </a:rPr>
              <a:t>・分割手続に1〜2ヶ月を要する点は、意向表明・DDの段階で買手に明示しておくこと。クロージング時期の認識齟齬は最終局面での再交渉の原因になる。</a:t>
            </a:r>
          </a:p>
          <a:p>
            <a:r>
              <a:rPr lang="en-US" altLang="ja-JP" sz="900" dirty="0">
                <a:solidFill>
                  <a:schemeClr val="dk1"/>
                </a:solidFill>
              </a:rPr>
              <a:t>・現預金・借入金をいずれも残置する設計のため、分割後の対象会社は純資産が7,477千円と薄くなる。買手が借入で取得する場合の財務制限条項に留意。</a:t>
            </a:r>
          </a:p>
          <a:p>
            <a:r>
              <a:rPr lang="en-US" altLang="ja-JP" sz="900" dirty="0">
                <a:solidFill>
                  <a:schemeClr val="dk1"/>
                </a:solidFill>
              </a:rPr>
              <a:t>・車両2台は私用車の可能性がある旨が企業概要書に記載されている。分割対象とするか、買取・退職金現物支給とするかを早期に確定する。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
          <p:cNvSpPr txBox="1">
            <a:spLocks noGrp="1"/>
          </p:cNvSpPr>
          <p:nvPr>
            <p:ph type="ctrTitle"/>
          </p:nvPr>
        </p:nvSpPr>
        <p:spPr>
          <a:xfrm>
            <a:off x="1594691" y="219319"/>
            <a:ext cx="7200000" cy="360000"/>
          </a:xfrm>
          <a:prstGeom prst="rect">
            <a:avLst/>
          </a:prstGeom>
          <a:noFill/>
          <a:ln>
            <a:noFill/>
          </a:ln>
        </p:spPr>
        <p:txBody>
          <a:bodyPr spcFirstLastPara="1" wrap="square" lIns="100779" tIns="50376" rIns="100779" bIns="50376" anchor="ctr" anchorCtr="0">
            <a:noAutofit/>
          </a:bodyPr>
          <a:lstStyle/>
          <a:p>
            <a:pPr algn="ctr"/>
            <a:r>
              <a:rPr lang="ja-JP" altLang="en-US" b="1">
                <a:solidFill>
                  <a:schemeClr val="bg1"/>
                </a:solidFill>
                <a:latin typeface="游ゴシック" panose="020B0604030504040204" pitchFamily="50" charset="-128"/>
                <a:ea typeface="游ゴシック" panose="020B0604030504040204" pitchFamily="50" charset="-128"/>
                <a:sym typeface="游ゴシック"/>
              </a:rPr>
              <a:t>買手候補先に求める要件（社風・経営方針の適合性）</a:t>
            </a:r>
          </a:p>
        </p:txBody>
      </p:sp>
      <p:sp>
        <p:nvSpPr>
          <p:cNvPr id="205" name="Google Shape;205;p3"/>
          <p:cNvSpPr txBox="1"/>
          <p:nvPr/>
        </p:nvSpPr>
        <p:spPr>
          <a:xfrm>
            <a:off x="550278" y="10591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06" name="Google Shape;206;p3"/>
          <p:cNvSpPr/>
          <p:nvPr/>
        </p:nvSpPr>
        <p:spPr>
          <a:xfrm>
            <a:off x="193648" y="110678"/>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1</a:t>
            </a:r>
            <a:endParaRPr sz="1102">
              <a:solidFill>
                <a:srgbClr val="FFFFFF"/>
              </a:solidFill>
            </a:endParaRPr>
          </a:p>
        </p:txBody>
      </p:sp>
      <p:graphicFrame>
        <p:nvGraphicFramePr>
          <p:cNvPr id="207" name="Google Shape;207;p3"/>
          <p:cNvGraphicFramePr/>
          <p:nvPr>
            <p:extLst>
              <p:ext uri="{D42A27DB-BD31-4B8C-83A1-F6EECF244321}">
                <p14:modId xmlns:p14="http://schemas.microsoft.com/office/powerpoint/2010/main" val="3855165210"/>
              </p:ext>
            </p:extLst>
          </p:nvPr>
        </p:nvGraphicFramePr>
        <p:xfrm>
          <a:off x="319489" y="925712"/>
          <a:ext cx="10080000" cy="54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40000">
                <a:tc>
                  <a:txBody>
                    <a:bodyPr/>
                    <a:lstStyle/>
                    <a:p>
                      <a:pPr marL="0" marR="0" lvl="0" indent="0" algn="ctr" rtl="0">
                        <a:buNone/>
                      </a:pPr>
                      <a:r>
                        <a:rPr lang="en-US" altLang="ja-JP" sz="1400" b="1" u="none" strike="noStrike" cap="none"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評価の観点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確認したい内容／TOP面談での質問例</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u="none" strike="noStrike" cap="none" dirty="0">
                          <a:solidFill>
                            <a:schemeClr val="lt1"/>
                          </a:solidFill>
                          <a:latin typeface="游ゴシック" panose="020B0604030504040204" pitchFamily="50" charset="-128"/>
                          <a:ea typeface="游ゴシック" panose="020B0604030504040204" pitchFamily="50" charset="-128"/>
                        </a:rPr>
                        <a:t>重要度</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chemeClr val="lt1"/>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経営スタイル・</a:t>
                      </a:r>
                    </a:p>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意思決定スピード</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現状は野口社長の判断でIP選定・企画・投資を即断できる体制。稟議・決裁の重い体制では機動力が損なわれる懸念。</a:t>
                      </a:r>
                    </a:p>
                    <a:p>
                      <a:pPr marL="0" marR="0" lvl="0" indent="0" algn="l" rtl="0">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rPr>
                        <a:t>→ 決裁権限規程、投資判断のリードタイム、子会社社長に委ねる裁量の範囲を確認。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事業・業界への理解</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版権元との関係は属人的な信頼で成立。商品化許諾・監修フロー、作品ごとの需要変動といったIPビジネスの商習慣への理解度が重要。</a:t>
                      </a:r>
                    </a:p>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 アニメ・ゲームIP／玩具・雑貨・キャラクター領域での実績の有無を確認。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1"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継続勤務条件の受入姿勢</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Clr>
                          <a:srgbClr val="66A09A"/>
                        </a:buClr>
                        <a:buSzPts val="1120"/>
                        <a:buFont typeface="游ゴシック"/>
                        <a:buNone/>
                      </a:p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7年間の継続勤務、役員報酬1,200万円以上および業績インセンティブを受け入れられるか。</a:t>
                      </a:r>
                    </a:p>
                    <a:p>
                      <a:pPr marL="0" marR="0" lvl="0" indent="0" algn="l" rtl="0">
                        <a:buClr>
                          <a:srgbClr val="66A09A"/>
                        </a:buClr>
                        <a:buSzPts val="1120"/>
                        <a:buFont typeface="游ゴシック"/>
                        <a:buNone/>
                      </a:pPr>
                      <a:r>
                        <a:rPr lang="ja-JP" altLang="en-US" sz="1050" b="0" u="none" strike="noStrike" cap="none" dirty="0">
                          <a:solidFill>
                            <a:schemeClr val="dk1"/>
                          </a:solidFill>
                          <a:latin typeface="游ゴシック" panose="020B0604030504040204" pitchFamily="50" charset="-128"/>
                          <a:ea typeface="游ゴシック" panose="020B0604030504040204" pitchFamily="50" charset="-128"/>
                        </a:rPr>
                        <a:t>→ 譲受企業のグループ役員報酬水準・インセンティブ制度との整合を確認。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従業員の処遇・カルチャー</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平均年齢30.6歳・平均勤続5.4年、正社員7名中6名が女性で育児休業からの復帰実績あり。</a:t>
                      </a:r>
                    </a:p>
                    <a:p>
                      <a:pPr marL="0" marR="0" lvl="0" indent="0" algn="l" rtl="0">
                        <a:lnSpc>
                          <a:spcPct val="100000"/>
                        </a:lnSpc>
                        <a:buClr>
                          <a:srgbClr val="66A09A"/>
                        </a:buClr>
                        <a:buSzPts val="1120"/>
                        <a:buFont typeface="游ゴシック"/>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 人事制度、勤務地・転勤の有無、両立支援制度、少数精鋭で裁量の大きい働き方を維持できるかを確認。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シナジー・成長投資</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rgbClr val="66A09A"/>
                        </a:buClr>
                        <a:buSzPts val="960"/>
                        <a:buFont typeface="游ゴシック"/>
                        <a:buNone/>
                      </a:pPr>
                      <a:r>
                        <a:rPr lang="ja-JP" altLang="en-US" sz="1050" dirty="0" b="0">
                          <a:latin typeface="游ゴシック" panose="020B0604030504040204" pitchFamily="50" charset="-128"/>
                          <a:ea typeface="游ゴシック" panose="020B0604030504040204" pitchFamily="50" charset="-128"/>
                        </a:rPr>
                        <a:t>顧客基盤の多様化・新規IP開拓、海外（中国・アジア）販路、EC・直販チャネル、調達／物流の共通化等。</a:t>
                      </a:r>
                    </a:p>
                    <a:p>
                      <a:pPr marL="0" marR="0" lvl="0" indent="0" algn="l" rtl="0">
                        <a:lnSpc>
                          <a:spcPct val="100000"/>
                        </a:lnSpc>
                        <a:buClr>
                          <a:srgbClr val="66A09A"/>
                        </a:buClr>
                        <a:buSzPts val="960"/>
                        <a:buFont typeface="游ゴシック"/>
                        <a:buNone/>
                      </a:pPr>
                      <a:r>
                        <a:rPr lang="ja-JP" altLang="en-US" sz="1050" dirty="0" b="0">
                          <a:latin typeface="游ゴシック" panose="020B0604030504040204" pitchFamily="50" charset="-128"/>
                          <a:ea typeface="游ゴシック" panose="020B0604030504040204" pitchFamily="50" charset="-128"/>
                        </a:rPr>
                        <a:t>→ 成長投資への姿勢と投資枠、譲渡後3〜5年の事業計画イメージを確認。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0"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u="none" strike="noStrike" cap="none" dirty="0" b="0">
                          <a:solidFill>
                            <a:schemeClr val="dk1"/>
                          </a:solidFill>
                          <a:latin typeface="游ゴシック" panose="020B0604030504040204" pitchFamily="50" charset="-128"/>
                          <a:ea typeface="游ゴシック" panose="020B0604030504040204" pitchFamily="50" charset="-128"/>
                        </a:rPr>
                        <a:t>管理・ガバナンス負荷</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上場企業の場合、内部統制対応・月次決算の早期化・監査対応が必要となる。</a:t>
                      </a:r>
                    </a:p>
                    <a:p>
                      <a:pPr marL="0" marR="0" lvl="0" indent="0" algn="l" rtl="0">
                        <a:buNone/>
                      </a:pPr>
                      <a:r>
                        <a:rPr lang="ja-JP" altLang="en-US" sz="1050" u="none" strike="noStrike" cap="none" dirty="0" b="0">
                          <a:solidFill>
                            <a:schemeClr val="dk1"/>
                          </a:solidFill>
                          <a:latin typeface="游ゴシック" panose="020B0604030504040204" pitchFamily="50" charset="-128"/>
                          <a:ea typeface="游ゴシック" panose="020B0604030504040204" pitchFamily="50" charset="-128"/>
                          <a:cs typeface="游ゴシック"/>
                          <a:sym typeface="游ゴシック"/>
                        </a:rPr>
                        <a:t>→ 管理部門を持たない少数体制での対応可否と、譲受企業側の支援体制を確認。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0"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ブランド・屋号の維持</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dk1"/>
                        </a:buClr>
                        <a:buSzPts val="1400"/>
                        <a:buFont typeface="游ゴシック"/>
                        <a:buNone/>
                      </a:pPr>
                      <a:r>
                        <a:rPr lang="ja-JP" altLang="en-US" sz="105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社名「カナリア」および自社ブランド「スターくじ」「あたりツキ！」の継続使用方針を確認。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0"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640000">
                <a:tc>
                  <a:txBody>
                    <a:bodyPr/>
                    <a:lstStyle/>
                    <a:p>
                      <a:pPr marL="0" marR="0" lvl="0" indent="0" algn="ctr" rtl="0">
                        <a:buNone/>
                      </a:pPr>
                      <a:r>
                        <a:rPr lang="en-US" altLang="ja-JP" sz="1600" b="0" u="none" strike="noStrike" cap="none"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u="none" strike="noStrike" cap="none" b="0">
                          <a:solidFill>
                            <a:schemeClr val="dk1"/>
                          </a:solidFill>
                          <a:latin typeface="游ゴシック" panose="020B0604030504040204" pitchFamily="50" charset="-128"/>
                          <a:ea typeface="游ゴシック" panose="020B0604030504040204" pitchFamily="50" charset="-128"/>
                        </a:rPr>
                        <a:t>譲渡後の資本政策</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l" rtl="0">
                        <a:buClr>
                          <a:srgbClr val="66A09A"/>
                        </a:buClr>
                        <a:buSzPts val="1120"/>
                        <a:buFont typeface="游ゴシック"/>
                        <a:buNone/>
                      </a:pPr>
                      <a:r>
                        <a:rPr lang="en-US" altLang="ja-JP" sz="1050" u="none" strike="noStrike" cap="none" dirty="0" b="0">
                          <a:solidFill>
                            <a:schemeClr val="dk1"/>
                          </a:solidFill>
                          <a:latin typeface="游ゴシック" panose="020B0604030504040204" pitchFamily="50" charset="-128"/>
                          <a:ea typeface="游ゴシック" panose="020B0604030504040204" pitchFamily="50" charset="-128"/>
                        </a:rPr>
                        <a:t>100%譲受を前提とするか。譲受企業における本件の位置づけ（中長期保有か、将来の再売却を想定するか）を確認。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600"/>
                        <a:buFont typeface="游ゴシック"/>
                        <a:buNone/>
                      </a:pPr>
                      <a:r>
                        <a:rPr lang="ja-JP" altLang="en-US" sz="1500" b="0" i="0" u="none" strike="noStrike" cap="none" dirty="0">
                          <a:solidFill>
                            <a:schemeClr val="dk1"/>
                          </a:solidFill>
                          <a:latin typeface="游ゴシック" panose="020B0604030504040204" pitchFamily="50" charset="-128"/>
                          <a:ea typeface="游ゴシック" panose="020B0604030504040204" pitchFamily="50" charset="-128"/>
                          <a:cs typeface="游ゴシック"/>
                          <a:sym typeface="游ゴシック"/>
                        </a:rPr>
                        <a:t>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bl>
          </a:graphicData>
        </a:graphic>
      </p:graphicFrame>
      <p:sp>
        <p:nvSpPr>
          <p:cNvPr id="208" name="Google Shape;208;p3"/>
          <p:cNvSpPr txBox="1"/>
          <p:nvPr/>
        </p:nvSpPr>
        <p:spPr>
          <a:xfrm>
            <a:off x="10890812" y="-1"/>
            <a:ext cx="2698766" cy="7559675"/>
          </a:xfrm>
          <a:prstGeom prst="rect">
            <a:avLst/>
          </a:prstGeom>
          <a:solidFill>
            <a:srgbClr val="EEF7CD"/>
          </a:solidFill>
          <a:ln>
            <a:noFill/>
          </a:ln>
        </p:spPr>
        <p:txBody>
          <a:bodyPr spcFirstLastPara="1" wrap="square" lIns="79367" tIns="39683" rIns="79367" bIns="39683" anchor="ctr" anchorCtr="0">
            <a:noAutofit/>
          </a:bodyPr>
          <a:lstStyle/>
          <a:p>
            <a:r>
              <a:rPr lang="en-US" altLang="ja-JP" sz="900" dirty="0">
                <a:solidFill>
                  <a:schemeClr val="dk1"/>
                </a:solidFill>
              </a:rPr>
              <a:t>【留意事項】</a:t>
            </a:r>
          </a:p>
          <a:p>
            <a:r>
              <a:rPr lang="en-US" altLang="ja-JP" sz="900" dirty="0">
                <a:solidFill>
                  <a:schemeClr val="dk1"/>
                </a:solidFill>
              </a:rPr>
              <a:t>・本頁は買手候補先の選定・打診の優先順位付け、およびTOP面談の質問設計に用いる社内用の評価軸。</a:t>
            </a:r>
          </a:p>
          <a:p>
            <a:r>
              <a:rPr lang="en-US" altLang="ja-JP" sz="900" dirty="0">
                <a:solidFill>
                  <a:schemeClr val="dk1"/>
                </a:solidFill>
              </a:rPr>
              <a:t>・「社風が合うか」は主観になりやすいため、決裁権限・人事制度・投資実績といった確認可能な事実に置き換えて質問を設計すること。</a:t>
            </a:r>
          </a:p>
          <a:p>
            <a:r>
              <a:rPr lang="en-US" altLang="ja-JP" sz="900" dirty="0">
                <a:solidFill>
                  <a:schemeClr val="dk1"/>
                </a:solidFill>
              </a:rPr>
              <a:t>・重要度「高」の4項目（意思決定・業界理解・継続勤務・従業員処遇）は、打診段階でスクリーニング条件として使う。ここが合わない先は面談前に落とす。</a:t>
            </a:r>
          </a:p>
          <a:p>
            <a:r>
              <a:rPr lang="en-US" altLang="ja-JP" sz="900" dirty="0">
                <a:solidFill>
                  <a:schemeClr val="dk1"/>
                </a:solidFill>
              </a:rPr>
              <a:t>・面談後は本頁を候補先ごとに複製し、評価結果を記入して比較できる形にすると意思決定が早い。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6"/>
          <p:cNvSpPr txBox="1">
            <a:spLocks noGrp="1"/>
          </p:cNvSpPr>
          <p:nvPr>
            <p:ph type="ctrTitle"/>
          </p:nvPr>
        </p:nvSpPr>
        <p:spPr>
          <a:xfrm>
            <a:off x="1579868" y="227773"/>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リスク事項に関する対応状況①</a:t>
            </a:r>
          </a:p>
        </p:txBody>
      </p:sp>
      <p:sp>
        <p:nvSpPr>
          <p:cNvPr id="235" name="Google Shape;235;p6"/>
          <p:cNvSpPr txBox="1"/>
          <p:nvPr/>
        </p:nvSpPr>
        <p:spPr>
          <a:xfrm>
            <a:off x="460477" y="125084"/>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36" name="Google Shape;236;p6"/>
          <p:cNvSpPr/>
          <p:nvPr/>
        </p:nvSpPr>
        <p:spPr>
          <a:xfrm>
            <a:off x="103847" y="125084"/>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1</a:t>
            </a:r>
            <a:endParaRPr sz="1102" dirty="0">
              <a:solidFill>
                <a:srgbClr val="FFFFFF"/>
              </a:solidFill>
            </a:endParaRPr>
          </a:p>
        </p:txBody>
      </p:sp>
      <p:graphicFrame>
        <p:nvGraphicFramePr>
          <p:cNvPr id="237" name="Google Shape;237;p6"/>
          <p:cNvGraphicFramePr/>
          <p:nvPr>
            <p:extLst>
              <p:ext uri="{D42A27DB-BD31-4B8C-83A1-F6EECF244321}">
                <p14:modId xmlns:p14="http://schemas.microsoft.com/office/powerpoint/2010/main" val="1129341392"/>
              </p:ext>
            </p:extLst>
          </p:nvPr>
        </p:nvGraphicFramePr>
        <p:xfrm>
          <a:off x="319489" y="925712"/>
          <a:ext cx="10080000" cy="491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リスク事項</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状況</a:t>
                      </a:r>
                    </a:p>
                  </a:txBody>
                  <a:tcPr marL="79367" marR="79367" marT="39683" marB="39683"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会社分割の実行</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分割形態・税務上の適格要件の判定、債権者保護手続、金融機関の同意、契約・許認可の承継可否。</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実行に1〜2ヶ月を要し、クロージング時期に影響する。→ 顧問税理士・司法書士と事前に段取りを確認。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売上の特定顧客集中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2026年1月期は㈱セガが202,069千円（構成比47.8%）を占める。上位10社の顔ぶれは各期で入れ替わり、IPのヒットに依存した構造。</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基本契約の有無、取引継続性、2027年1月期の受注見込みを確認。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300" dirty="0" b="0">
                          <a:solidFill>
                            <a:schemeClr val="dk1"/>
                          </a:solidFill>
                          <a:latin typeface="游ゴシック" panose="020B0604030504040204" pitchFamily="50" charset="-128"/>
                          <a:ea typeface="游ゴシック" panose="020B0604030504040204" pitchFamily="50" charset="-128"/>
                        </a:rPr>
                        <a:t>業績の変動性</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b="0" dirty="0">
                          <a:solidFill>
                            <a:schemeClr val="dk1"/>
                          </a:solidFill>
                          <a:latin typeface="游ゴシック" panose="020B0604030504040204" pitchFamily="50" charset="-128"/>
                          <a:ea typeface="游ゴシック" panose="020B0604030504040204" pitchFamily="50" charset="-128"/>
                        </a:rPr>
                        <a:t>売上高316,755→443,868→422,475千円、営業利益6,159→78,191→58,514千円と変動が大きい。輸出売上は15,180→158,489→34,727千円と反落。</a:t>
                      </a:r>
                    </a:p>
                    <a:p>
                      <a:pPr marL="0" marR="0" lvl="0" indent="0" algn="l" rtl="0">
                        <a:lnSpc>
                          <a:spcPct val="100000"/>
                        </a:lnSpc>
                        <a:buClr>
                          <a:schemeClr val="tx1"/>
                        </a:buClr>
                        <a:buSzPts val="1120"/>
                        <a:buFont typeface="Arial" panose="020B0604020202020204" pitchFamily="34" charset="0"/>
                        <a:buNone/>
                      </a:pPr>
                      <a:r>
                        <a:rPr lang="ja-JP" altLang="en-US" sz="1100" b="0" dirty="0">
                          <a:solidFill>
                            <a:schemeClr val="dk1"/>
                          </a:solidFill>
                          <a:latin typeface="游ゴシック" panose="020B0604030504040204" pitchFamily="50" charset="-128"/>
                          <a:ea typeface="游ゴシック" panose="020B0604030504040204" pitchFamily="50" charset="-128"/>
                        </a:rPr>
                        <a:t>→ 2027年1月期の月次試算表を提出のうえ、期中業績の織り込み方を協議。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棚卸資産廃棄損の増加</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6,723→17,217→19,845千円と3期連続で増加。「原則買取100%で在庫を抱えない方針」との説明と乖離している。</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発生要因（自社オリジナルくじ商材の売れ残り等）の説明が必要。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オリジナルくじ商材の</a:t>
                      </a:r>
                    </a:p>
                    <a:p>
                      <a:pPr marL="0" marR="0" lvl="0" indent="0" algn="ctr" rtl="0">
                        <a:buNone/>
                      </a:pPr>
                      <a:r>
                        <a:rPr lang="ja-JP" altLang="en-US" sz="1300" dirty="0" b="0">
                          <a:latin typeface="游ゴシック" panose="020B0604030504040204" pitchFamily="50" charset="-128"/>
                          <a:ea typeface="游ゴシック" panose="020B0604030504040204" pitchFamily="50" charset="-128"/>
                        </a:rPr>
                        <a:t>見直し</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「現在は飽和状態のため見直し中」との説明。2027年1月期以降の売上・利益への影響と代替施策を要確認。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版権元との契約条件</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商品化許諾契約のCOC条項・契約期間・更新条件、ロイヤリティ料率5〜8%の適用範囲と実際の支払計上額との整合を確認。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bl>
          </a:graphicData>
        </a:graphic>
      </p:graphicFrame>
      <p:sp>
        <p:nvSpPr>
          <p:cNvPr id="238" name="Google Shape;238;p6"/>
          <p:cNvSpPr txBox="1"/>
          <p:nvPr/>
        </p:nvSpPr>
        <p:spPr>
          <a:xfrm>
            <a:off x="10811436" y="-61086"/>
            <a:ext cx="3016268" cy="7620761"/>
          </a:xfrm>
          <a:prstGeom prst="rect">
            <a:avLst/>
          </a:prstGeom>
          <a:solidFill>
            <a:srgbClr val="EEF7CD"/>
          </a:solidFill>
          <a:ln>
            <a:noFill/>
          </a:ln>
        </p:spPr>
        <p:txBody>
          <a:bodyPr spcFirstLastPara="1" wrap="square" lIns="79367" tIns="39683" rIns="79367" bIns="39683" anchor="ctr" anchorCtr="0">
            <a:noAutofit/>
          </a:bodyPr>
          <a:lstStyle/>
          <a:p>
            <a:r>
              <a:rPr lang="en-US" altLang="ja-JP" sz="900">
                <a:solidFill>
                  <a:schemeClr val="dk1"/>
                </a:solidFill>
              </a:rPr>
              <a:t>【留意事項】</a:t>
            </a:r>
          </a:p>
          <a:p>
            <a:r>
              <a:rPr lang="en-US" altLang="ja-JP" sz="900">
                <a:solidFill>
                  <a:schemeClr val="dk1"/>
                </a:solidFill>
              </a:rPr>
              <a:t>・本頁は「買手から必ず質問される事項」を先回りして整理したもの。DDで初めて出てくると条件再交渉の材料になるため、意向表明の前に説明できる状態にしておく。</a:t>
            </a:r>
          </a:p>
          <a:p>
            <a:r>
              <a:rPr lang="en-US" altLang="ja-JP" sz="900">
                <a:solidFill>
                  <a:schemeClr val="dk1"/>
                </a:solidFill>
              </a:rPr>
              <a:t>・棚卸資産廃棄損と在庫方針の乖離、輸出売上の反落は、企業概要書の記載と突き合わせると説明が必要になる箇所。野口社長へのヒアリングで事実関係を確定させること。</a:t>
            </a:r>
          </a:p>
          <a:p>
            <a:r>
              <a:rPr lang="en-US" altLang="ja-JP" sz="900">
                <a:solidFill>
                  <a:schemeClr val="dk1"/>
                </a:solidFill>
              </a:rPr>
              <a:t>・「要確認」は資料・事実の確認が未了、「要協議」は条件交渉が必要な事項を指す。確認できていない事項を推測で埋めないこと。</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6"/>
          <p:cNvSpPr txBox="1">
            <a:spLocks noGrp="1"/>
          </p:cNvSpPr>
          <p:nvPr>
            <p:ph type="ctrTitle"/>
          </p:nvPr>
        </p:nvSpPr>
        <p:spPr>
          <a:xfrm>
            <a:off x="1579868" y="227773"/>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リスク事項に関する対応状況②</a:t>
            </a:r>
          </a:p>
        </p:txBody>
      </p:sp>
      <p:sp>
        <p:nvSpPr>
          <p:cNvPr id="235" name="Google Shape;235;p6"/>
          <p:cNvSpPr txBox="1"/>
          <p:nvPr/>
        </p:nvSpPr>
        <p:spPr>
          <a:xfrm>
            <a:off x="460477" y="125084"/>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譲渡条件と論点の整理</a:t>
            </a:r>
          </a:p>
        </p:txBody>
      </p:sp>
      <p:sp>
        <p:nvSpPr>
          <p:cNvPr id="236" name="Google Shape;236;p6"/>
          <p:cNvSpPr/>
          <p:nvPr/>
        </p:nvSpPr>
        <p:spPr>
          <a:xfrm>
            <a:off x="103847" y="125084"/>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1</a:t>
            </a:r>
            <a:endParaRPr sz="1102" dirty="0">
              <a:solidFill>
                <a:srgbClr val="FFFFFF"/>
              </a:solidFill>
            </a:endParaRPr>
          </a:p>
        </p:txBody>
      </p:sp>
      <p:graphicFrame>
        <p:nvGraphicFramePr>
          <p:cNvPr id="237" name="Google Shape;237;p6"/>
          <p:cNvGraphicFramePr/>
          <p:nvPr>
            <p:extLst>
              <p:ext uri="{D42A27DB-BD31-4B8C-83A1-F6EECF244321}">
                <p14:modId xmlns:p14="http://schemas.microsoft.com/office/powerpoint/2010/main" val="1129341392"/>
              </p:ext>
            </p:extLst>
          </p:nvPr>
        </p:nvGraphicFramePr>
        <p:xfrm>
          <a:off x="319489" y="925712"/>
          <a:ext cx="10080000" cy="491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612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tblGrid>
              <a:tr h="350000">
                <a:tc>
                  <a:txBody>
                    <a:bodyPr/>
                    <a:lstStyle/>
                    <a:p>
                      <a:pPr marL="0" marR="0" lvl="0" indent="0" algn="ctr" rtl="0">
                        <a:buNone/>
                      </a:pPr>
                      <a:r>
                        <a:rPr lang="en-US" altLang="ja-JP"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リスク事項</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内容</a:t>
                      </a:r>
                    </a:p>
                  </a:txBody>
                  <a:tcPr marL="79367" marR="79367" marT="39683" marB="39683"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cs typeface="游ゴシック"/>
                          <a:sym typeface="游ゴシック"/>
                        </a:rPr>
                        <a:t>状況</a:t>
                      </a:r>
                    </a:p>
                  </a:txBody>
                  <a:tcPr marL="79367" marR="79367" marT="39683" marB="39683"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野口社長への業務集中</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経営管理に加え、OEM事業の窓口（見積作成・スケジュール調整）を兼務。</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7年間の継続勤務を前提としても、承継計画（誰に・いつまでに）の提示が必要。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キーパーソンの継続勤務</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制作部長（No.1／勤続12年）は制作部の統括とOEMラインを兼務し、実務の中核を担う。</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退職リスクと、従業員への開示のタイミング・方法に留意。</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300" dirty="0" b="0">
                          <a:solidFill>
                            <a:schemeClr val="dk1"/>
                          </a:solidFill>
                          <a:latin typeface="游ゴシック" panose="020B0604030504040204" pitchFamily="50" charset="-128"/>
                          <a:ea typeface="游ゴシック" panose="020B0604030504040204" pitchFamily="50" charset="-128"/>
                        </a:rPr>
                        <a:t>労務</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b="0" dirty="0">
                          <a:solidFill>
                            <a:schemeClr val="dk1"/>
                          </a:solidFill>
                          <a:latin typeface="游ゴシック" panose="020B0604030504040204" pitchFamily="50" charset="-128"/>
                          <a:ea typeface="游ゴシック" panose="020B0604030504040204" pitchFamily="50" charset="-128"/>
                        </a:rPr>
                        <a:t>・未払残業の有無：DDにて要確認　・36協定の届出：DDにて要確認</a:t>
                      </a:r>
                    </a:p>
                    <a:p>
                      <a:pPr marL="0" marR="0" lvl="0" indent="0" algn="l" rtl="0">
                        <a:lnSpc>
                          <a:spcPct val="100000"/>
                        </a:lnSpc>
                        <a:buClr>
                          <a:schemeClr val="tx1"/>
                        </a:buClr>
                        <a:buSzPts val="1120"/>
                        <a:buFont typeface="Arial" panose="020B0604020202020204" pitchFamily="34" charset="0"/>
                        <a:buNone/>
                      </a:pPr>
                      <a:r>
                        <a:rPr lang="ja-JP" altLang="en-US" sz="1100" b="0" dirty="0">
                          <a:solidFill>
                            <a:schemeClr val="dk1"/>
                          </a:solidFill>
                          <a:latin typeface="游ゴシック" panose="020B0604030504040204" pitchFamily="50" charset="-128"/>
                          <a:ea typeface="游ゴシック" panose="020B0604030504040204" pitchFamily="50" charset="-128"/>
                        </a:rPr>
                        <a:t>・就業規則／退職金規程の整備状況、育児休業関連の運用：DDにて要確認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dirty="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非事業用・私的費用の</a:t>
                      </a:r>
                    </a:p>
                    <a:p>
                      <a:pPr marL="0" marR="0" lvl="0" indent="0" algn="ctr" rtl="0">
                        <a:buNone/>
                      </a:pPr>
                      <a:r>
                        <a:rPr lang="ja-JP" altLang="en-US" sz="1300" dirty="0" b="0">
                          <a:solidFill>
                            <a:schemeClr val="dk1"/>
                          </a:solidFill>
                          <a:latin typeface="游ゴシック" panose="020B0604030504040204" pitchFamily="50" charset="-128"/>
                          <a:ea typeface="游ゴシック" panose="020B0604030504040204" pitchFamily="50" charset="-128"/>
                        </a:rPr>
                        <a:t>切り分け</a:t>
                      </a:r>
                    </a:p>
                  </a:txBody>
                  <a:tcPr marL="0" marR="0"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車両運搬具2台の私用可能性、接待交際費2,336千円（私的利用の旨を聴取）。</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会社分割の対象資産とするか、EBITDA調整項目として整理するかを明確化。</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76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dirty="0" b="0">
                          <a:latin typeface="游ゴシック" panose="020B0604030504040204" pitchFamily="50" charset="-128"/>
                          <a:ea typeface="游ゴシック" panose="020B0604030504040204" pitchFamily="50" charset="-128"/>
                        </a:rPr>
                        <a:t>財務数値の整合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①調整後EBITDAの「退任予定分の役員報酬」2026年1月期2,990千円と、役員一覧の退任予定2名合計3,588千円に差異。</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②P/Lの役員報酬4,094＋役員賞与20,000＝24,094千円と、役員報酬合計24,692千円に差異。→ 期別の対応関係を要確認。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rtl="0">
                        <a:lnSpc>
                          <a:spcPct val="100000"/>
                        </a:lnSpc>
                        <a:buClr>
                          <a:srgbClr val="252525"/>
                        </a:buClr>
                        <a:buSzPts val="1600"/>
                        <a:buFont typeface="游ゴシック"/>
                        <a:buNone/>
                      </a:pPr>
                      <a:r>
                        <a:rPr lang="ja-JP" altLang="en-US" sz="1500" b="1"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760000">
                <a:tc>
                  <a:txBody>
                    <a:bodyPr/>
                    <a:lstStyle/>
                    <a:p>
                      <a:pPr marL="0" marR="0" lvl="0" indent="0" algn="ctr" rtl="0">
                        <a:lnSpc>
                          <a:spcPct val="100000"/>
                        </a:lnSpc>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dirty="0" b="0">
                          <a:solidFill>
                            <a:schemeClr val="dk1"/>
                          </a:solidFill>
                          <a:latin typeface="游ゴシック" panose="020B0604030504040204" pitchFamily="50" charset="-128"/>
                          <a:ea typeface="游ゴシック" panose="020B0604030504040204" pitchFamily="50" charset="-128"/>
                        </a:rPr>
                        <a:t>海外取引</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中国メーカーへの製造委託および海外卸売先（杭州迷萌文化創意等）に係る与信・為替・関税・物流リスク。</a:t>
                      </a:r>
                    </a:p>
                    <a:p>
                      <a:pPr marL="0" marR="0" lvl="0" indent="0" algn="l" rtl="0">
                        <a:lnSpc>
                          <a:spcPct val="100000"/>
                        </a:lnSpc>
                        <a:buClr>
                          <a:schemeClr val="tx1"/>
                        </a:buClr>
                        <a:buSzPts val="1120"/>
                        <a:buFont typeface="Arial" panose="020B0604020202020204" pitchFamily="34" charset="0"/>
                        <a:buNone/>
                      </a:pPr>
                      <a:r>
                        <a:rPr lang="ja-JP" altLang="en-US" sz="1100" dirty="0" b="0">
                          <a:solidFill>
                            <a:schemeClr val="dk1"/>
                          </a:solidFill>
                          <a:latin typeface="游ゴシック" panose="020B0604030504040204" pitchFamily="50" charset="-128"/>
                          <a:ea typeface="游ゴシック" panose="020B0604030504040204" pitchFamily="50" charset="-128"/>
                          <a:cs typeface="游ゴシック"/>
                          <a:sym typeface="游ゴシック"/>
                        </a:rPr>
                        <a:t>→ 輸出売上が2025年1月期158,489千円から2026年1月期34,727千円へ反落した要因の説明が必要。</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buClr>
                          <a:srgbClr val="252525"/>
                        </a:buClr>
                        <a:buSzPts val="1600"/>
                        <a:buFont typeface="游ゴシック"/>
                        <a:buNone/>
                        <a:tabLst/>
                        <a:defRPr/>
                      </a:pPr>
                      <a:r>
                        <a:rPr kumimoji="0" lang="ja-JP" altLang="en-US" sz="1500" b="1" i="0" u="none" strike="noStrike" kern="0" cap="none" spc="0" normalizeH="0" baseline="0" noProof="0">
                          <a:ln>
                            <a:noFill/>
                          </a:ln>
                          <a:solidFill>
                            <a:srgbClr val="252525"/>
                          </a:solidFill>
                          <a:effectLst/>
                          <a:uLnTx/>
                          <a:uFillTx/>
                          <a:latin typeface="游ゴシック" panose="020B0604030504040204" pitchFamily="50" charset="-128"/>
                          <a:ea typeface="游ゴシック" panose="020B0604030504040204" pitchFamily="50" charset="-128"/>
                          <a:cs typeface="游ゴシック"/>
                          <a:sym typeface="游ゴシック"/>
                        </a:rPr>
                        <a:t>要確認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434608"/>
                  </a:ext>
                </a:extLst>
              </a:tr>
            </a:tbl>
          </a:graphicData>
        </a:graphic>
      </p:graphicFrame>
      <p:sp>
        <p:nvSpPr>
          <p:cNvPr id="238" name="Google Shape;238;p6"/>
          <p:cNvSpPr txBox="1"/>
          <p:nvPr/>
        </p:nvSpPr>
        <p:spPr>
          <a:xfrm>
            <a:off x="10811436" y="-61086"/>
            <a:ext cx="3016268" cy="7620761"/>
          </a:xfrm>
          <a:prstGeom prst="rect">
            <a:avLst/>
          </a:prstGeom>
          <a:solidFill>
            <a:srgbClr val="EEF7CD"/>
          </a:solidFill>
          <a:ln>
            <a:noFill/>
          </a:ln>
        </p:spPr>
        <p:txBody>
          <a:bodyPr spcFirstLastPara="1" wrap="square" lIns="79367" tIns="39683" rIns="79367" bIns="39683" anchor="ctr" anchorCtr="0">
            <a:noAutofit/>
          </a:bodyPr>
          <a:lstStyle/>
          <a:p>
            <a:r>
              <a:rPr lang="en-US" altLang="ja-JP" sz="900">
                <a:solidFill>
                  <a:schemeClr val="dk1"/>
                </a:solidFill>
              </a:rPr>
              <a:t>【留意事項】</a:t>
            </a:r>
          </a:p>
          <a:p>
            <a:r>
              <a:rPr lang="en-US" altLang="ja-JP" sz="900">
                <a:solidFill>
                  <a:schemeClr val="dk1"/>
                </a:solidFill>
              </a:rPr>
              <a:t>・No.11の財務数値の差異は企業概要書内での不整合であり、買手に指摘される前に案件マスターに立ち返って期別の対応関係を確認し、必要があれば概要書を修正すること。</a:t>
            </a:r>
          </a:p>
          <a:p>
            <a:r>
              <a:rPr lang="en-US" altLang="ja-JP" sz="900">
                <a:solidFill>
                  <a:schemeClr val="dk1"/>
                </a:solidFill>
              </a:rPr>
              <a:t>・キーパーソンへの開示は、譲渡条件が固まる前に行うと動揺を招く。開示の時期・順序・伝え方を野口社長と事前に握っておく。</a:t>
            </a:r>
          </a:p>
          <a:p>
            <a:r>
              <a:rPr lang="en-US" altLang="ja-JP" sz="900">
                <a:solidFill>
                  <a:schemeClr val="dk1"/>
                </a:solidFill>
              </a:rPr>
              <a:t>・労務関連はDDでの指摘が価格調整に直結しやすい。就業規則・36協定・退職金規程の有無は打診前に確認しておくとよい。</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FCBEE7AE-1F42-E5F2-6686-F67FF572FA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899386-B49D-8521-7B1E-3B1104AFA0F0}"/>
              </a:ext>
            </a:extLst>
          </p:cNvPr>
          <p:cNvSpPr>
            <a:spLocks noGrp="1"/>
          </p:cNvSpPr>
          <p:nvPr>
            <p:ph type="title"/>
          </p:nvPr>
        </p:nvSpPr>
        <p:spPr>
          <a:xfrm>
            <a:off x="1757941" y="3047509"/>
            <a:ext cx="9221787" cy="430887"/>
          </a:xfrm>
          <a:prstGeom prst="rect">
            <a:avLst/>
          </a:prstGeom>
        </p:spPr>
        <p:txBody>
          <a:bodyPr/>
          <a:lstStyle/>
          <a:p>
            <a:r>
              <a:rPr lang="en-US" altLang="ja-JP" sz="2800" dirty="0">
                <a:solidFill>
                  <a:schemeClr val="tx2"/>
                </a:solidFill>
              </a:rPr>
              <a:t>Section 2</a:t>
            </a:r>
            <a:endParaRPr lang="ja-JP" altLang="en-US" sz="2800" dirty="0">
              <a:solidFill>
                <a:schemeClr val="tx2"/>
              </a:solidFill>
            </a:endParaRPr>
          </a:p>
        </p:txBody>
      </p:sp>
      <p:sp>
        <p:nvSpPr>
          <p:cNvPr id="196" name="Google Shape;196;p2">
            <a:extLst>
              <a:ext uri="{FF2B5EF4-FFF2-40B4-BE49-F238E27FC236}">
                <a16:creationId xmlns:a16="http://schemas.microsoft.com/office/drawing/2014/main" id="{2EA50DE5-4871-D7A2-4FBB-A1594B98F6EB}"/>
              </a:ext>
            </a:extLst>
          </p:cNvPr>
          <p:cNvSpPr txBox="1">
            <a:spLocks noGrp="1"/>
          </p:cNvSpPr>
          <p:nvPr>
            <p:ph type="subTitle" idx="4294967295"/>
          </p:nvPr>
        </p:nvSpPr>
        <p:spPr>
          <a:xfrm>
            <a:off x="1651615" y="3548920"/>
            <a:ext cx="5399088" cy="720725"/>
          </a:xfrm>
          <a:prstGeom prst="rect">
            <a:avLst/>
          </a:prstGeom>
          <a:noFill/>
          <a:ln>
            <a:noFill/>
          </a:ln>
        </p:spPr>
        <p:txBody>
          <a:bodyPr spcFirstLastPara="1" wrap="square" lIns="100779" tIns="50376" rIns="100779" bIns="50376" anchor="ctr" anchorCtr="0">
            <a:noAutofit/>
          </a:bodyPr>
          <a:lstStyle/>
          <a:p>
            <a:pPr>
              <a:spcBef>
                <a:spcPts val="0"/>
              </a:spcBef>
            </a:pPr>
            <a:r>
              <a:rPr lang="ja-JP" altLang="en-US" sz="3200" dirty="0">
                <a:solidFill>
                  <a:schemeClr val="bg1"/>
                </a:solidFill>
                <a:latin typeface="游ゴシック" panose="020B0604030504040204" pitchFamily="50" charset="-128"/>
                <a:ea typeface="游ゴシック" panose="020B0604030504040204" pitchFamily="50" charset="-128"/>
              </a:rPr>
              <a:t>今後の進め方</a:t>
            </a:r>
          </a:p>
        </p:txBody>
      </p:sp>
      <p:cxnSp>
        <p:nvCxnSpPr>
          <p:cNvPr id="197" name="Google Shape;197;p2">
            <a:extLst>
              <a:ext uri="{FF2B5EF4-FFF2-40B4-BE49-F238E27FC236}">
                <a16:creationId xmlns:a16="http://schemas.microsoft.com/office/drawing/2014/main" id="{11E434B6-3B41-A5C3-D950-20D5B9D6FD4A}"/>
              </a:ext>
            </a:extLst>
          </p:cNvPr>
          <p:cNvCxnSpPr/>
          <p:nvPr/>
        </p:nvCxnSpPr>
        <p:spPr>
          <a:xfrm>
            <a:off x="1757941" y="3548920"/>
            <a:ext cx="7854801" cy="0"/>
          </a:xfrm>
          <a:prstGeom prst="straightConnector1">
            <a:avLst/>
          </a:prstGeom>
          <a:noFill/>
          <a:ln w="12700" cap="flat" cmpd="sng">
            <a:solidFill>
              <a:srgbClr val="7F7F7F"/>
            </a:solidFill>
            <a:prstDash val="solid"/>
            <a:round/>
            <a:headEnd type="none" w="sm" len="sm"/>
            <a:tailEnd type="none" w="sm" len="sm"/>
          </a:ln>
        </p:spPr>
      </p:cxnSp>
    </p:spTree>
    <p:extLst>
      <p:ext uri="{BB962C8B-B14F-4D97-AF65-F5344CB8AC3E}">
        <p14:creationId xmlns:p14="http://schemas.microsoft.com/office/powerpoint/2010/main" val="35244020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9"/>
          <p:cNvSpPr txBox="1">
            <a:spLocks noGrp="1"/>
          </p:cNvSpPr>
          <p:nvPr>
            <p:ph type="ctrTitle"/>
          </p:nvPr>
        </p:nvSpPr>
        <p:spPr>
          <a:xfrm>
            <a:off x="1579868" y="199554"/>
            <a:ext cx="7200000" cy="360000"/>
          </a:xfrm>
          <a:prstGeom prst="rect">
            <a:avLst/>
          </a:prstGeom>
          <a:noFill/>
          <a:ln>
            <a:noFill/>
          </a:ln>
        </p:spPr>
        <p:txBody>
          <a:bodyPr spcFirstLastPara="1" wrap="square" lIns="100779" tIns="50376" rIns="100779" bIns="50376" anchor="ctr" anchorCtr="0">
            <a:noAutofit/>
          </a:bodyPr>
          <a:lstStyle/>
          <a:p>
            <a:r>
              <a:rPr lang="ja-JP" altLang="en-US">
                <a:latin typeface="游ゴシック" panose="020B0604030504040204" pitchFamily="50" charset="-128"/>
                <a:ea typeface="游ゴシック" panose="020B0604030504040204" pitchFamily="50" charset="-128"/>
              </a:rPr>
              <a:t>今後のイベントと想定スケジュール①</a:t>
            </a:r>
          </a:p>
        </p:txBody>
      </p:sp>
      <p:sp>
        <p:nvSpPr>
          <p:cNvPr id="264" name="Google Shape;264;p9"/>
          <p:cNvSpPr txBox="1"/>
          <p:nvPr/>
        </p:nvSpPr>
        <p:spPr>
          <a:xfrm>
            <a:off x="463243" y="12856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今後の進め方</a:t>
            </a:r>
          </a:p>
        </p:txBody>
      </p:sp>
      <p:sp>
        <p:nvSpPr>
          <p:cNvPr id="265" name="Google Shape;265;p9"/>
          <p:cNvSpPr/>
          <p:nvPr/>
        </p:nvSpPr>
        <p:spPr>
          <a:xfrm>
            <a:off x="106613" y="128565"/>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a:solidFill>
                  <a:srgbClr val="FFFFFF"/>
                </a:solidFill>
              </a:rPr>
              <a:t>2</a:t>
            </a:r>
            <a:endParaRPr sz="1102">
              <a:solidFill>
                <a:srgbClr val="FFFFFF"/>
              </a:solidFill>
            </a:endParaRPr>
          </a:p>
        </p:txBody>
      </p:sp>
      <p:graphicFrame>
        <p:nvGraphicFramePr>
          <p:cNvPr id="266" name="Google Shape;266;p9"/>
          <p:cNvGraphicFramePr/>
          <p:nvPr>
            <p:extLst>
              <p:ext uri="{D42A27DB-BD31-4B8C-83A1-F6EECF244321}">
                <p14:modId xmlns:p14="http://schemas.microsoft.com/office/powerpoint/2010/main" val="2331962478"/>
              </p:ext>
            </p:extLst>
          </p:nvPr>
        </p:nvGraphicFramePr>
        <p:xfrm>
          <a:off x="316707" y="902485"/>
          <a:ext cx="10080000" cy="548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4320000">
                  <a:extLst>
                    <a:ext uri="{9D8B030D-6E8A-4147-A177-3AD203B41FA5}">
                      <a16:colId xmlns:a16="http://schemas.microsoft.com/office/drawing/2014/main" val="20002"/>
                    </a:ext>
                  </a:extLst>
                </a:gridCol>
                <a:gridCol w="1440000">
                  <a:extLst>
                    <a:ext uri="{9D8B030D-6E8A-4147-A177-3AD203B41FA5}">
                      <a16:colId xmlns:a16="http://schemas.microsoft.com/office/drawing/2014/main" val="20003"/>
                    </a:ext>
                  </a:extLst>
                </a:gridCol>
                <a:gridCol w="1440000">
                  <a:extLst>
                    <a:ext uri="{9D8B030D-6E8A-4147-A177-3AD203B41FA5}">
                      <a16:colId xmlns:a16="http://schemas.microsoft.com/office/drawing/2014/main" val="20004"/>
                    </a:ext>
                  </a:extLst>
                </a:gridCol>
              </a:tblGrid>
              <a:tr h="360000">
                <a:tc>
                  <a:txBody>
                    <a:bodyPr/>
                    <a:lstStyle/>
                    <a:p>
                      <a:pPr marL="0" marR="0" lvl="0" indent="0" algn="ctr" rtl="0">
                        <a:buNone/>
                      </a:pPr>
                      <a:r>
                        <a:rPr lang="en-US" altLang="ja-JP" sz="1400" b="1"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rPr>
                        <a:t>基本イベント</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rPr>
                        <a:t>イベント内容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rPr>
                        <a:t>日程イメージ</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400" b="1" dirty="0">
                          <a:solidFill>
                            <a:schemeClr val="lt1"/>
                          </a:solidFill>
                          <a:latin typeface="游ゴシック" panose="020B0604030504040204" pitchFamily="50" charset="-128"/>
                          <a:ea typeface="游ゴシック" panose="020B0604030504040204" pitchFamily="50" charset="-128"/>
                        </a:rPr>
                        <a:t>備考</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アドバイザリー業務契約書の締結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アドバイザリー業務契約の締結／</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今後のスケジュール・必要書類のご説明</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完了</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en-US" altLang="ja-JP" sz="1300" b="0" dirty="0">
                          <a:latin typeface="游ゴシック" panose="020B0604030504040204" pitchFamily="50" charset="-128"/>
                          <a:ea typeface="游ゴシック" panose="020B0604030504040204" pitchFamily="50" charset="-128"/>
                        </a:rPr>
                        <a:t>企業概要書（IM）の作成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決算書・各種資料に基づく企業概要書の</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作成およびご確認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完了</a:t>
                      </a:r>
                    </a:p>
                    <a:p>
                      <a:pPr marL="0" marR="0" lvl="0" indent="0" algn="ctr" rtl="0">
                        <a:buNone/>
                      </a:pPr>
                      <a:r>
                        <a:rPr lang="ja-JP" altLang="en-US" sz="1100" b="0" dirty="0">
                          <a:latin typeface="游ゴシック" panose="020B0604030504040204" pitchFamily="50" charset="-128"/>
                          <a:ea typeface="游ゴシック" panose="020B0604030504040204" pitchFamily="50" charset="-128"/>
                        </a:rPr>
                        <a:t>（8/6）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3"/>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en-US" altLang="ja-JP" sz="1300" b="0" dirty="0">
                          <a:latin typeface="游ゴシック" panose="020B0604030504040204" pitchFamily="50" charset="-128"/>
                          <a:ea typeface="游ゴシック" panose="020B0604030504040204" pitchFamily="50" charset="-128"/>
                        </a:rPr>
                        <a:t>論点整理・譲渡条件の確定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本資料を基に、継続勤務条件・希望価額・</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会社分割の範囲等を確定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r>
                        <a:rPr lang="ja-JP" altLang="en-US" sz="1100" b="0" dirty="0">
                          <a:solidFill>
                            <a:schemeClr val="dk1"/>
                          </a:solidFill>
                          <a:latin typeface="游ゴシック" panose="020B0604030504040204" pitchFamily="50" charset="-128"/>
                          <a:ea typeface="游ゴシック" panose="020B0604030504040204" pitchFamily="50" charset="-128"/>
                        </a:rPr>
                        <a:t>9/7~9/18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5"/>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会社分割スキームの確定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分割形態（分割型／分社型）・対象資産の</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確定、顧問税理士との協議</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latin typeface="游ゴシック" panose="020B0604030504040204" pitchFamily="50" charset="-128"/>
                          <a:ea typeface="游ゴシック" panose="020B0604030504040204" pitchFamily="50" charset="-128"/>
                        </a:rPr>
                        <a:t>2026年</a:t>
                      </a:r>
                    </a:p>
                    <a:p>
                      <a:pPr marL="0" marR="0" lvl="0" indent="0" algn="ctr" rtl="0">
                        <a:buNone/>
                      </a:pPr>
                      <a:r>
                        <a:rPr lang="ja-JP" altLang="en-US" sz="1100" b="0" dirty="0">
                          <a:latin typeface="游ゴシック" panose="020B0604030504040204" pitchFamily="50" charset="-128"/>
                          <a:ea typeface="游ゴシック" panose="020B0604030504040204" pitchFamily="50" charset="-128"/>
                        </a:rPr>
                        <a:t>9/7~9/30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764897470"/>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買手候補先の選定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chemeClr val="dk1"/>
                        </a:buClr>
                        <a:buSzPts val="1400"/>
                        <a:buFont typeface="游ゴシック"/>
                        <a:buNone/>
                        <a:tabLst/>
                        <a:defRPr/>
                      </a:pPr>
                      <a:r>
                        <a:rPr lang="ja-JP" altLang="en-US" sz="1100" dirty="0" b="0">
                          <a:latin typeface="游ゴシック" panose="020B0604030504040204" pitchFamily="50" charset="-128"/>
                          <a:ea typeface="游ゴシック" panose="020B0604030504040204" pitchFamily="50" charset="-128"/>
                        </a:rPr>
                        <a:t>ロングリスト／ショートリストの作成</a:t>
                      </a:r>
                    </a:p>
                    <a:p>
                      <a:pPr marL="0" marR="0" lvl="0" indent="0" algn="ctr" defTabSz="914400" rtl="0" eaLnBrk="1" fontAlgn="auto" latinLnBrk="0" hangingPunct="1">
                        <a:lnSpc>
                          <a:spcPct val="100000"/>
                        </a:lnSpc>
                        <a:buClr>
                          <a:schemeClr val="dk1"/>
                        </a:buClr>
                        <a:buSzPts val="1400"/>
                        <a:buFont typeface="游ゴシック"/>
                        <a:buNone/>
                        <a:tabLst/>
                        <a:defRPr/>
                      </a:pPr>
                      <a:r>
                        <a:rPr lang="ja-JP" altLang="en-US" sz="1100" dirty="0" b="0">
                          <a:latin typeface="游ゴシック" panose="020B0604030504040204" pitchFamily="50" charset="-128"/>
                          <a:ea typeface="游ゴシック" panose="020B0604030504040204" pitchFamily="50" charset="-128"/>
                        </a:rPr>
                        <a:t>社風・経営方針の適合性を含めた優先順位付け</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9/7~9/18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0324267"/>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buClr>
                          <a:schemeClr val="dk1"/>
                        </a:buClr>
                        <a:buSzPts val="1500"/>
                        <a:buFont typeface="游ゴシック"/>
                        <a:buNone/>
                        <a:tabLst/>
                        <a:defRPr/>
                      </a:pPr>
                      <a:r>
                        <a:rPr lang="ja-JP" altLang="en-US" sz="1300" b="0" dirty="0">
                          <a:latin typeface="游ゴシック" panose="020B0604030504040204" pitchFamily="50" charset="-128"/>
                          <a:ea typeface="游ゴシック" panose="020B0604030504040204" pitchFamily="50" charset="-128"/>
                        </a:rPr>
                        <a:t>買手候補先への打診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ノンネームシートによる打診、秘密保持契約の</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締結、企業概要書の開示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9/21~10/16</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002449"/>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7</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TOP面談・現地確認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買手候補先と野口社長のTOP面談</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（事前に想定質疑の打ち合わせを実施）</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10月下旬~</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11月上旬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64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8</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意向表明書のご提出</a:t>
                      </a:r>
                    </a:p>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受領書の交付</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各種条件、DD実施有無、大枠スケジュールを確定</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~独占交渉権の付与~</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11月中旬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b="1" dirty="0">
                          <a:solidFill>
                            <a:schemeClr val="dk1"/>
                          </a:solidFill>
                          <a:latin typeface="游ゴシック" panose="020B0604030504040204" pitchFamily="50" charset="-128"/>
                          <a:ea typeface="游ゴシック" panose="020B0604030504040204" pitchFamily="50" charset="-128"/>
                          <a:cs typeface="游ゴシック"/>
                          <a:sym typeface="游ゴシック"/>
                        </a:rPr>
                        <a:t>中間報酬</a:t>
                      </a:r>
                    </a:p>
                    <a:p>
                      <a:pPr marL="0" marR="0" lvl="0" indent="0" algn="ctr" rtl="0">
                        <a:lnSpc>
                          <a:spcPct val="100000"/>
                        </a:lnSpc>
                        <a:buClr>
                          <a:schemeClr val="dk1"/>
                        </a:buClr>
                        <a:buSzPts val="1400"/>
                        <a:buFont typeface="游ゴシック"/>
                        <a:buNone/>
                      </a:pPr>
                      <a:r>
                        <a:rPr lang="ja-JP" altLang="en-US" sz="1100" b="1" dirty="0">
                          <a:solidFill>
                            <a:schemeClr val="dk1"/>
                          </a:solidFill>
                          <a:latin typeface="游ゴシック" panose="020B0604030504040204" pitchFamily="50" charset="-128"/>
                          <a:ea typeface="游ゴシック" panose="020B0604030504040204" pitchFamily="50" charset="-128"/>
                          <a:cs typeface="游ゴシック"/>
                          <a:sym typeface="游ゴシック"/>
                        </a:rPr>
                        <a:t>お支払い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267" name="Google Shape;267;p9"/>
          <p:cNvSpPr/>
          <p:nvPr/>
        </p:nvSpPr>
        <p:spPr>
          <a:xfrm>
            <a:off x="306074" y="6648634"/>
            <a:ext cx="8495060" cy="422013"/>
          </a:xfrm>
          <a:prstGeom prst="roundRect">
            <a:avLst>
              <a:gd name="adj" fmla="val 0"/>
            </a:avLst>
          </a:prstGeom>
          <a:noFill/>
          <a:ln>
            <a:noFill/>
          </a:ln>
        </p:spPr>
        <p:txBody>
          <a:bodyPr spcFirstLastPara="1" wrap="square" lIns="0" tIns="79367" rIns="0" bIns="0" anchor="t" anchorCtr="0">
            <a:noAutofit/>
          </a:bodyPr>
          <a:lstStyle/>
          <a:p>
            <a:pPr>
              <a:buClr>
                <a:schemeClr val="dk1"/>
              </a:buClr>
              <a:buSzPts val="900"/>
            </a:pPr>
            <a:r>
              <a:rPr lang="en-US" altLang="ja-JP" sz="992" dirty="0">
                <a:solidFill>
                  <a:schemeClr val="dk1"/>
                </a:solidFill>
              </a:rPr>
              <a:t>※ </a:t>
            </a:r>
            <a:r>
              <a:rPr lang="ja-JP" altLang="en-US" sz="992" dirty="0">
                <a:solidFill>
                  <a:schemeClr val="dk1"/>
                </a:solidFill>
              </a:rPr>
              <a:t>上記最短スケジュールをご提示させて頂いております。ご都合により、調整致しますので、お申し付け下さい。</a:t>
            </a:r>
            <a:endParaRPr sz="154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10"/>
          <p:cNvSpPr txBox="1">
            <a:spLocks noGrp="1"/>
          </p:cNvSpPr>
          <p:nvPr>
            <p:ph type="ctrTitle"/>
          </p:nvPr>
        </p:nvSpPr>
        <p:spPr>
          <a:xfrm>
            <a:off x="1579868" y="198725"/>
            <a:ext cx="7200000" cy="360000"/>
          </a:xfrm>
          <a:prstGeom prst="rect">
            <a:avLst/>
          </a:prstGeom>
          <a:noFill/>
          <a:ln>
            <a:noFill/>
          </a:ln>
        </p:spPr>
        <p:txBody>
          <a:bodyPr spcFirstLastPara="1" wrap="square" lIns="100779" tIns="50376" rIns="100779" bIns="50376" anchor="ctr" anchorCtr="0">
            <a:noAutofit/>
          </a:bodyPr>
          <a:lstStyle/>
          <a:p>
            <a:pPr algn="ctr"/>
            <a:r>
              <a:rPr lang="ja-JP" altLang="en-US">
                <a:latin typeface="游ゴシック" panose="020B0604030504040204" pitchFamily="50" charset="-128"/>
                <a:ea typeface="游ゴシック" panose="020B0604030504040204" pitchFamily="50" charset="-128"/>
              </a:rPr>
              <a:t>今後のイベントと想定スケジュール②</a:t>
            </a:r>
          </a:p>
        </p:txBody>
      </p:sp>
      <p:sp>
        <p:nvSpPr>
          <p:cNvPr id="279" name="Google Shape;279;p10"/>
          <p:cNvSpPr txBox="1"/>
          <p:nvPr/>
        </p:nvSpPr>
        <p:spPr>
          <a:xfrm>
            <a:off x="463243" y="128565"/>
            <a:ext cx="2619391" cy="207941"/>
          </a:xfrm>
          <a:prstGeom prst="rect">
            <a:avLst/>
          </a:prstGeom>
          <a:noFill/>
          <a:ln>
            <a:noFill/>
          </a:ln>
        </p:spPr>
        <p:txBody>
          <a:bodyPr spcFirstLastPara="1" wrap="square" lIns="39683" tIns="0" rIns="0" bIns="0" anchor="ctr" anchorCtr="0">
            <a:noAutofit/>
          </a:bodyPr>
          <a:lstStyle/>
          <a:p>
            <a:pPr>
              <a:buClr>
                <a:srgbClr val="5A5A5A"/>
              </a:buClr>
              <a:buSzPts val="1000"/>
            </a:pPr>
            <a:r>
              <a:rPr lang="ja-JP" altLang="en-US" sz="1102">
                <a:solidFill>
                  <a:schemeClr val="bg1"/>
                </a:solidFill>
                <a:latin typeface="游ゴシック" panose="020B0604030504040204" pitchFamily="50" charset="-128"/>
                <a:ea typeface="游ゴシック" panose="020B0604030504040204" pitchFamily="50" charset="-128"/>
              </a:rPr>
              <a:t>今後の進め方</a:t>
            </a:r>
          </a:p>
        </p:txBody>
      </p:sp>
      <p:sp>
        <p:nvSpPr>
          <p:cNvPr id="280" name="Google Shape;280;p10"/>
          <p:cNvSpPr/>
          <p:nvPr/>
        </p:nvSpPr>
        <p:spPr>
          <a:xfrm>
            <a:off x="106613" y="128565"/>
            <a:ext cx="356630" cy="198417"/>
          </a:xfrm>
          <a:prstGeom prst="parallelogram">
            <a:avLst>
              <a:gd name="adj" fmla="val 32938"/>
            </a:avLst>
          </a:prstGeom>
          <a:solidFill>
            <a:schemeClr val="accent4"/>
          </a:solidFill>
          <a:ln>
            <a:noFill/>
          </a:ln>
        </p:spPr>
        <p:txBody>
          <a:bodyPr spcFirstLastPara="1" wrap="square" lIns="0" tIns="0" rIns="0" bIns="0" anchor="ctr" anchorCtr="0">
            <a:noAutofit/>
          </a:bodyPr>
          <a:lstStyle/>
          <a:p>
            <a:pPr algn="ctr">
              <a:buClr>
                <a:srgbClr val="FFFFFF"/>
              </a:buClr>
              <a:buSzPts val="1000"/>
            </a:pPr>
            <a:r>
              <a:rPr lang="en-US" altLang="ja-JP" sz="1102" dirty="0">
                <a:solidFill>
                  <a:srgbClr val="FFFFFF"/>
                </a:solidFill>
              </a:rPr>
              <a:t>2</a:t>
            </a:r>
            <a:endParaRPr sz="1102" dirty="0">
              <a:solidFill>
                <a:srgbClr val="FFFFFF"/>
              </a:solidFill>
            </a:endParaRPr>
          </a:p>
        </p:txBody>
      </p:sp>
      <p:graphicFrame>
        <p:nvGraphicFramePr>
          <p:cNvPr id="281" name="Google Shape;281;p10"/>
          <p:cNvGraphicFramePr/>
          <p:nvPr>
            <p:extLst>
              <p:ext uri="{D42A27DB-BD31-4B8C-83A1-F6EECF244321}">
                <p14:modId xmlns:p14="http://schemas.microsoft.com/office/powerpoint/2010/main" val="2676268278"/>
              </p:ext>
            </p:extLst>
          </p:nvPr>
        </p:nvGraphicFramePr>
        <p:xfrm>
          <a:off x="316827" y="916315"/>
          <a:ext cx="10080000" cy="5260000"/>
        </p:xfrm>
        <a:graphic>
          <a:graphicData uri="http://schemas.openxmlformats.org/drawingml/2006/table">
            <a:tbl>
              <a:tblPr>
                <a:noFill/>
              </a:tblPr>
              <a:tblGrid>
                <a:gridCol w="540000">
                  <a:extLst>
                    <a:ext uri="{9D8B030D-6E8A-4147-A177-3AD203B41FA5}">
                      <a16:colId xmlns:a16="http://schemas.microsoft.com/office/drawing/2014/main" val="20000"/>
                    </a:ext>
                  </a:extLst>
                </a:gridCol>
                <a:gridCol w="2340000">
                  <a:extLst>
                    <a:ext uri="{9D8B030D-6E8A-4147-A177-3AD203B41FA5}">
                      <a16:colId xmlns:a16="http://schemas.microsoft.com/office/drawing/2014/main" val="20001"/>
                    </a:ext>
                  </a:extLst>
                </a:gridCol>
                <a:gridCol w="4320000">
                  <a:extLst>
                    <a:ext uri="{9D8B030D-6E8A-4147-A177-3AD203B41FA5}">
                      <a16:colId xmlns:a16="http://schemas.microsoft.com/office/drawing/2014/main" val="20002"/>
                    </a:ext>
                  </a:extLst>
                </a:gridCol>
                <a:gridCol w="1440000">
                  <a:extLst>
                    <a:ext uri="{9D8B030D-6E8A-4147-A177-3AD203B41FA5}">
                      <a16:colId xmlns:a16="http://schemas.microsoft.com/office/drawing/2014/main" val="20003"/>
                    </a:ext>
                  </a:extLst>
                </a:gridCol>
                <a:gridCol w="1440000">
                  <a:extLst>
                    <a:ext uri="{9D8B030D-6E8A-4147-A177-3AD203B41FA5}">
                      <a16:colId xmlns:a16="http://schemas.microsoft.com/office/drawing/2014/main" val="20004"/>
                    </a:ext>
                  </a:extLst>
                </a:gridCol>
              </a:tblGrid>
              <a:tr h="360000">
                <a:tc>
                  <a:txBody>
                    <a:bodyPr/>
                    <a:lstStyle/>
                    <a:p>
                      <a:pPr marL="0" marR="0" lvl="0" indent="0" algn="ctr" rtl="0">
                        <a:buNone/>
                      </a:pPr>
                      <a:r>
                        <a:rPr lang="en-US" altLang="ja-JP" sz="1500" b="1" dirty="0">
                          <a:solidFill>
                            <a:schemeClr val="lt1"/>
                          </a:solidFill>
                          <a:latin typeface="游ゴシック" panose="020B0604030504040204" pitchFamily="50" charset="-128"/>
                          <a:ea typeface="游ゴシック" panose="020B0604030504040204" pitchFamily="50" charset="-128"/>
                        </a:rPr>
                        <a:t>No.</a:t>
                      </a:r>
                    </a:p>
                  </a:txBody>
                  <a:tcPr marL="0" marR="0" marT="0" marB="0" anchor="ctr">
                    <a:lnL w="9525" cap="flat" cmpd="sng">
                      <a:solidFill>
                        <a:srgbClr val="00000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500" b="1" dirty="0">
                          <a:solidFill>
                            <a:schemeClr val="lt1"/>
                          </a:solidFill>
                          <a:latin typeface="游ゴシック" panose="020B0604030504040204" pitchFamily="50" charset="-128"/>
                          <a:ea typeface="游ゴシック" panose="020B0604030504040204" pitchFamily="50" charset="-128"/>
                        </a:rPr>
                        <a:t>基本イベント</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500" b="1" dirty="0">
                          <a:solidFill>
                            <a:schemeClr val="lt1"/>
                          </a:solidFill>
                          <a:latin typeface="游ゴシック" panose="020B0604030504040204" pitchFamily="50" charset="-128"/>
                          <a:ea typeface="游ゴシック" panose="020B0604030504040204" pitchFamily="50" charset="-128"/>
                        </a:rPr>
                        <a:t>イベント内容</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500" b="1" dirty="0">
                          <a:solidFill>
                            <a:schemeClr val="lt1"/>
                          </a:solidFill>
                          <a:latin typeface="游ゴシック" panose="020B0604030504040204" pitchFamily="50" charset="-128"/>
                          <a:ea typeface="游ゴシック" panose="020B0604030504040204" pitchFamily="50" charset="-128"/>
                        </a:rPr>
                        <a:t>日程イメージ</a:t>
                      </a: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tc>
                  <a:txBody>
                    <a:bodyPr/>
                    <a:lstStyle/>
                    <a:p>
                      <a:pPr marL="0" marR="0" lvl="0" indent="0" algn="ctr" rtl="0">
                        <a:buNone/>
                      </a:pPr>
                      <a:r>
                        <a:rPr lang="ja-JP" altLang="en-US" sz="1500" b="1" dirty="0">
                          <a:solidFill>
                            <a:schemeClr val="lt1"/>
                          </a:solidFill>
                          <a:latin typeface="游ゴシック" panose="020B0604030504040204" pitchFamily="50" charset="-128"/>
                          <a:ea typeface="游ゴシック" panose="020B0604030504040204" pitchFamily="50" charset="-128"/>
                        </a:rPr>
                        <a:t>備考</a:t>
                      </a:r>
                    </a:p>
                  </a:txBody>
                  <a:tcPr marL="0" marR="0" marT="0" marB="0" anchor="ctr">
                    <a:lnL w="9525" cap="flat" cmpd="sng">
                      <a:solidFill>
                        <a:schemeClr val="lt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3175"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0000"/>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9</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ja-JP" altLang="en-US" sz="1300" b="0" dirty="0">
                          <a:latin typeface="游ゴシック" panose="020B0604030504040204" pitchFamily="50" charset="-128"/>
                          <a:ea typeface="游ゴシック" panose="020B0604030504040204" pitchFamily="50" charset="-128"/>
                        </a:rPr>
                        <a:t>企業調査（DD）</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財務・税務・法務・労務等の調査を実施</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11月下旬~</a:t>
                      </a:r>
                    </a:p>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12月上旬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2667461"/>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10</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b="0" dirty="0">
                          <a:latin typeface="游ゴシック" panose="020B0604030504040204" pitchFamily="50" charset="-128"/>
                          <a:ea typeface="游ゴシック" panose="020B0604030504040204" pitchFamily="50" charset="-128"/>
                        </a:rPr>
                        <a:t>DD報告会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「9」企業調査後、DDレポートを作成・ご報告</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2026年</a:t>
                      </a:r>
                    </a:p>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12月中旬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Clr>
                          <a:schemeClr val="dk1"/>
                        </a:buClr>
                        <a:buSzPts val="1400"/>
                        <a:buFont typeface="游ゴシック"/>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11</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最終契約書の締結に向けた</a:t>
                      </a:r>
                    </a:p>
                    <a:p>
                      <a:pPr marL="0" marR="0" lvl="0" indent="0" algn="ctr" rtl="0">
                        <a:buNone/>
                      </a:pPr>
                      <a:r>
                        <a:rPr lang="ja-JP" altLang="en-US" sz="1300" b="0" dirty="0">
                          <a:latin typeface="游ゴシック" panose="020B0604030504040204" pitchFamily="50" charset="-128"/>
                          <a:ea typeface="游ゴシック" panose="020B0604030504040204" pitchFamily="50" charset="-128"/>
                        </a:rPr>
                        <a:t>各種調整</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DD結果を踏まえ、株価・役員退職金・継続勤務</a:t>
                      </a:r>
                    </a:p>
                    <a:p>
                      <a:pPr marL="0" marR="0" lvl="0" indent="0" algn="ctr" rtl="0">
                        <a:lnSpc>
                          <a:spcPct val="100000"/>
                        </a:lnSpc>
                        <a:buClr>
                          <a:schemeClr val="dk1"/>
                        </a:buClr>
                        <a:buSzPts val="1400"/>
                        <a:buFont typeface="游ゴシック"/>
                        <a:buNone/>
                      </a:pPr>
                      <a:r>
                        <a:rPr lang="ja-JP" altLang="en-US" sz="1100" dirty="0" b="0">
                          <a:latin typeface="游ゴシック" panose="020B0604030504040204" pitchFamily="50" charset="-128"/>
                          <a:ea typeface="游ゴシック" panose="020B0604030504040204" pitchFamily="50" charset="-128"/>
                        </a:rPr>
                        <a:t>条件・インセンティブ設計・分割範囲を確定</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2026年12月中旬</a:t>
                      </a:r>
                    </a:p>
                    <a:p>
                      <a:pPr marL="0" marR="0" lvl="0" indent="0" algn="ctr" rtl="0">
                        <a:buNone/>
                      </a:pPr>
                      <a:r>
                        <a:rPr lang="en-US" altLang="ja-JP" sz="1100" b="0" dirty="0">
                          <a:solidFill>
                            <a:schemeClr val="dk1"/>
                          </a:solidFill>
                          <a:latin typeface="游ゴシック" panose="020B0604030504040204" pitchFamily="50" charset="-128"/>
                          <a:ea typeface="游ゴシック" panose="020B0604030504040204" pitchFamily="50" charset="-128"/>
                        </a:rPr>
                        <a:t>〜2027年1月上旬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0000">
                <a:tc>
                  <a:txBody>
                    <a:bodyPr/>
                    <a:lstStyle/>
                    <a:p>
                      <a:pPr marL="0" marR="0" lvl="0" indent="0" algn="ctr" rtl="0">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12</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最終契約書（SPA）の締結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株式譲渡契約の締結</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1月中旬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0000">
                <a:tc>
                  <a:txBody>
                    <a:bodyPr/>
                    <a:lstStyle/>
                    <a:p>
                      <a:pPr marL="0" marR="0" lvl="0" indent="0" algn="ctr" rtl="0">
                        <a:buClr>
                          <a:schemeClr val="dk1"/>
                        </a:buClr>
                        <a:buSzPts val="1500"/>
                        <a:buFont typeface="游ゴシック"/>
                        <a:buNone/>
                      </a:pPr>
                      <a:r>
                        <a:rPr lang="en-US" altLang="ja-JP" sz="1600" b="0" dirty="0">
                          <a:latin typeface="游ゴシック" panose="020B0604030504040204" pitchFamily="50" charset="-128"/>
                          <a:ea typeface="游ゴシック" panose="020B0604030504040204" pitchFamily="50" charset="-128"/>
                        </a:rPr>
                        <a:t>13</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会社分割の実行</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新設分割の手続（債権者保護手続等を含む）</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※登記完了まで1〜2ヶ月程度を要する</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2027年1月中旬</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〜3月上旬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3087475"/>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14</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300" b="0" dirty="0">
                          <a:latin typeface="游ゴシック" panose="020B0604030504040204" pitchFamily="50" charset="-128"/>
                          <a:ea typeface="游ゴシック" panose="020B0604030504040204" pitchFamily="50" charset="-128"/>
                        </a:rPr>
                        <a:t>譲渡実行・決済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dirty="0" b="0">
                          <a:latin typeface="游ゴシック" panose="020B0604030504040204" pitchFamily="50" charset="-128"/>
                          <a:ea typeface="游ゴシック" panose="020B0604030504040204" pitchFamily="50" charset="-128"/>
                        </a:rPr>
                        <a:t>譲渡対価の決済／役員退任・就任</a:t>
                      </a:r>
                    </a:p>
                    <a:p>
                      <a:pPr marL="0" marR="0" lvl="0" indent="0" algn="ctr" rtl="0">
                        <a:buNone/>
                      </a:pPr>
                      <a:r>
                        <a:rPr lang="ja-JP" altLang="en-US" sz="1100" dirty="0" b="0">
                          <a:latin typeface="游ゴシック" panose="020B0604030504040204" pitchFamily="50" charset="-128"/>
                          <a:ea typeface="游ゴシック" panose="020B0604030504040204" pitchFamily="50" charset="-128"/>
                        </a:rPr>
                        <a:t>対外説明・社内開示</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3月中旬</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ja-JP" altLang="en-US" sz="1100" b="1" dirty="0">
                          <a:latin typeface="游ゴシック" panose="020B0604030504040204" pitchFamily="50" charset="-128"/>
                          <a:ea typeface="游ゴシック" panose="020B0604030504040204" pitchFamily="50" charset="-128"/>
                        </a:rPr>
                        <a:t>成功報酬</a:t>
                      </a:r>
                    </a:p>
                    <a:p>
                      <a:pPr marL="0" marR="0" lvl="0" indent="0" algn="ctr" rtl="0">
                        <a:buNone/>
                      </a:pPr>
                      <a:r>
                        <a:rPr lang="ja-JP" altLang="en-US" sz="1100" b="1" dirty="0">
                          <a:latin typeface="游ゴシック" panose="020B0604030504040204" pitchFamily="50" charset="-128"/>
                          <a:ea typeface="游ゴシック" panose="020B0604030504040204" pitchFamily="50" charset="-128"/>
                        </a:rPr>
                        <a:t>お支払い</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700000">
                <a:tc>
                  <a:txBody>
                    <a:bodyPr/>
                    <a:lstStyle/>
                    <a:p>
                      <a:pPr marL="0" marR="0" lvl="0" indent="0" algn="ctr" rtl="0">
                        <a:buNone/>
                      </a:pPr>
                      <a:r>
                        <a:rPr lang="en-US" altLang="ja-JP" sz="1600" b="0" dirty="0">
                          <a:latin typeface="游ゴシック" panose="020B0604030504040204" pitchFamily="50" charset="-128"/>
                          <a:ea typeface="游ゴシック" panose="020B0604030504040204" pitchFamily="50" charset="-128"/>
                        </a:rPr>
                        <a:t>15</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500"/>
                        <a:buFont typeface="游ゴシック"/>
                        <a:buNone/>
                      </a:pPr>
                      <a:r>
                        <a:rPr lang="en-US" altLang="ja-JP" sz="1300" b="0" dirty="0">
                          <a:latin typeface="游ゴシック" panose="020B0604030504040204" pitchFamily="50" charset="-128"/>
                          <a:ea typeface="游ゴシック" panose="020B0604030504040204" pitchFamily="50" charset="-128"/>
                        </a:rPr>
                        <a:t>PMIスタート</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rgbClr val="252525"/>
                        </a:buClr>
                        <a:buSzPts val="1400"/>
                        <a:buFont typeface="游ゴシック"/>
                        <a:buNone/>
                      </a:pPr>
                      <a:r>
                        <a:rPr lang="ja-JP" altLang="en-US" sz="1100" b="0" i="0" u="none" strike="noStrike" cap="none" dirty="0">
                          <a:solidFill>
                            <a:srgbClr val="252525"/>
                          </a:solidFill>
                          <a:latin typeface="游ゴシック" panose="020B0604030504040204" pitchFamily="50" charset="-128"/>
                          <a:ea typeface="游ゴシック" panose="020B0604030504040204" pitchFamily="50" charset="-128"/>
                          <a:cs typeface="游ゴシック"/>
                          <a:sym typeface="游ゴシック"/>
                        </a:rPr>
                        <a:t>財務・経理面の統合、従業員インタビューなど</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buNone/>
                      </a:pPr>
                      <a:r>
                        <a:rPr lang="en-US" altLang="ja-JP" sz="1100" b="0" dirty="0">
                          <a:latin typeface="游ゴシック" panose="020B0604030504040204" pitchFamily="50" charset="-128"/>
                          <a:ea typeface="游ゴシック" panose="020B0604030504040204" pitchFamily="50" charset="-128"/>
                        </a:rPr>
                        <a:t>2027年</a:t>
                      </a:r>
                    </a:p>
                    <a:p>
                      <a:pPr marL="0" marR="0" lvl="0" indent="0" algn="ctr" rtl="0">
                        <a:buNone/>
                      </a:pPr>
                      <a:r>
                        <a:rPr lang="en-US" altLang="ja-JP" sz="1100" b="0" dirty="0">
                          <a:latin typeface="游ゴシック" panose="020B0604030504040204" pitchFamily="50" charset="-128"/>
                          <a:ea typeface="游ゴシック" panose="020B0604030504040204" pitchFamily="50" charset="-128"/>
                        </a:rPr>
                        <a:t>3月中旬以降</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rtl="0">
                        <a:lnSpc>
                          <a:spcPct val="100000"/>
                        </a:lnSpc>
                        <a:buClr>
                          <a:schemeClr val="dk1"/>
                        </a:buClr>
                        <a:buSzPts val="1400"/>
                        <a:buFont typeface="游ゴシック"/>
                        <a:buNone/>
                      </a:pPr>
                      <a:r>
                        <a:rPr lang="ja-JP" altLang="en-US" sz="1100" b="0" dirty="0">
                          <a:solidFill>
                            <a:schemeClr val="lt1"/>
                          </a:solidFill>
                          <a:latin typeface="游ゴシック" panose="020B0604030504040204" pitchFamily="50" charset="-128"/>
                          <a:ea typeface="游ゴシック" panose="020B0604030504040204" pitchFamily="50" charset="-128"/>
                        </a:rPr>
                        <a:t>　</a:t>
                      </a:r>
                    </a:p>
                  </a:txBody>
                  <a:tcPr marL="79367" marR="79367" marT="39683" marB="39683"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bl>
          </a:graphicData>
        </a:graphic>
      </p:graphicFrame>
      <p:sp>
        <p:nvSpPr>
          <p:cNvPr id="283" name="Google Shape;283;p10"/>
          <p:cNvSpPr txBox="1"/>
          <p:nvPr/>
        </p:nvSpPr>
        <p:spPr>
          <a:xfrm>
            <a:off x="10845454" y="1860698"/>
            <a:ext cx="3101398" cy="4306186"/>
          </a:xfrm>
          <a:prstGeom prst="rect">
            <a:avLst/>
          </a:prstGeom>
          <a:solidFill>
            <a:srgbClr val="FFFF00"/>
          </a:solidFill>
          <a:ln>
            <a:noFill/>
          </a:ln>
        </p:spPr>
        <p:txBody>
          <a:bodyPr spcFirstLastPara="1" wrap="square" lIns="79367" tIns="39683" rIns="79367" bIns="39683" anchor="ctr" anchorCtr="0">
            <a:noAutofit/>
          </a:bodyPr>
          <a:lstStyle/>
          <a:p>
            <a:r>
              <a:rPr lang="ja-JP" altLang="en-US" sz="1543" b="1" dirty="0">
                <a:solidFill>
                  <a:srgbClr val="FF2D2E"/>
                </a:solidFill>
              </a:rPr>
              <a:t>記載必須！！</a:t>
            </a:r>
            <a:endParaRPr sz="1543" b="1" dirty="0">
              <a:solidFill>
                <a:srgbClr val="FF2D2E"/>
              </a:solidFill>
            </a:endParaRPr>
          </a:p>
          <a:p>
            <a:pPr>
              <a:spcBef>
                <a:spcPts val="661"/>
              </a:spcBef>
            </a:pPr>
            <a:r>
              <a:rPr lang="ja-JP" altLang="en-US" sz="2800" b="1" u="sng" dirty="0">
                <a:solidFill>
                  <a:schemeClr val="dk1"/>
                </a:solidFill>
              </a:rPr>
              <a:t>銀行等の連帯保証解除</a:t>
            </a:r>
            <a:endParaRPr sz="2800" b="1" u="sng" dirty="0">
              <a:solidFill>
                <a:schemeClr val="dk1"/>
              </a:solidFill>
            </a:endParaRPr>
          </a:p>
          <a:p>
            <a:pPr marL="188989" indent="-188989">
              <a:spcBef>
                <a:spcPts val="661"/>
              </a:spcBef>
              <a:buClr>
                <a:schemeClr val="dk1"/>
              </a:buClr>
              <a:buSzPts val="1200"/>
              <a:buFont typeface="游ゴシック"/>
              <a:buChar char="•"/>
            </a:pPr>
            <a:r>
              <a:rPr lang="ja-JP" altLang="en-US" sz="1323" dirty="0">
                <a:solidFill>
                  <a:schemeClr val="dk1"/>
                </a:solidFill>
              </a:rPr>
              <a:t>通常案件の場合</a:t>
            </a:r>
          </a:p>
          <a:p>
            <a:pPr marL="398977" lvl="1" indent="-188989">
              <a:spcBef>
                <a:spcPts val="661"/>
              </a:spcBef>
              <a:buClr>
                <a:schemeClr val="dk1"/>
              </a:buClr>
              <a:buSzPts val="1200"/>
              <a:buFont typeface="游ゴシック"/>
              <a:buChar char="–"/>
            </a:pPr>
            <a:r>
              <a:rPr lang="ja-JP" altLang="en-US" sz="1323" dirty="0">
                <a:solidFill>
                  <a:schemeClr val="dk1"/>
                </a:solidFill>
              </a:rPr>
              <a:t>説明開始は譲渡日後</a:t>
            </a:r>
            <a:r>
              <a:rPr lang="en-US" altLang="ja-JP" sz="1323" dirty="0">
                <a:solidFill>
                  <a:schemeClr val="dk1"/>
                </a:solidFill>
              </a:rPr>
              <a:t>10</a:t>
            </a:r>
            <a:r>
              <a:rPr lang="ja-JP" altLang="en-US" sz="1323" dirty="0">
                <a:solidFill>
                  <a:schemeClr val="dk1"/>
                </a:solidFill>
              </a:rPr>
              <a:t>営業日、</a:t>
            </a:r>
            <a:br>
              <a:rPr lang="ja-JP" altLang="en-US" sz="1323" dirty="0">
                <a:solidFill>
                  <a:schemeClr val="dk1"/>
                </a:solidFill>
              </a:rPr>
            </a:br>
            <a:r>
              <a:rPr lang="ja-JP" altLang="en-US" sz="1323" dirty="0">
                <a:solidFill>
                  <a:schemeClr val="dk1"/>
                </a:solidFill>
              </a:rPr>
              <a:t>解除完了は譲渡日後</a:t>
            </a:r>
            <a:r>
              <a:rPr lang="en-US" altLang="ja-JP" sz="1323" dirty="0">
                <a:solidFill>
                  <a:schemeClr val="dk1"/>
                </a:solidFill>
              </a:rPr>
              <a:t>60</a:t>
            </a:r>
            <a:r>
              <a:rPr lang="ja-JP" altLang="en-US" sz="1323" dirty="0">
                <a:solidFill>
                  <a:schemeClr val="dk1"/>
                </a:solidFill>
              </a:rPr>
              <a:t>営業日以内</a:t>
            </a:r>
          </a:p>
          <a:p>
            <a:pPr marL="188989" indent="-188989">
              <a:spcBef>
                <a:spcPts val="661"/>
              </a:spcBef>
              <a:buClr>
                <a:schemeClr val="dk1"/>
              </a:buClr>
              <a:buSzPts val="1200"/>
              <a:buFont typeface="游ゴシック"/>
              <a:buChar char="•"/>
            </a:pPr>
            <a:r>
              <a:rPr lang="ja-JP" altLang="en-US" sz="1323" dirty="0">
                <a:solidFill>
                  <a:schemeClr val="dk1"/>
                </a:solidFill>
              </a:rPr>
              <a:t>同時保証解除案件・高リスク案件の場合</a:t>
            </a:r>
          </a:p>
          <a:p>
            <a:pPr marL="398977" lvl="1" indent="-188989">
              <a:spcBef>
                <a:spcPts val="661"/>
              </a:spcBef>
              <a:buClr>
                <a:schemeClr val="dk1"/>
              </a:buClr>
              <a:buSzPts val="1200"/>
              <a:buFont typeface="游ゴシック"/>
              <a:buChar char="–"/>
            </a:pPr>
            <a:r>
              <a:rPr lang="ja-JP" altLang="en-US" sz="1323" dirty="0">
                <a:solidFill>
                  <a:schemeClr val="dk1"/>
                </a:solidFill>
              </a:rPr>
              <a:t>決済までに金融機関等から保証解除が完了すること（ケースによっては解除の同意を得ることでも可）</a:t>
            </a:r>
          </a:p>
          <a:p>
            <a:pPr>
              <a:spcBef>
                <a:spcPts val="661"/>
              </a:spcBef>
            </a:pPr>
            <a:endParaRPr sz="1323" dirty="0">
              <a:solidFill>
                <a:schemeClr val="dk1"/>
              </a:solidFill>
            </a:endParaRPr>
          </a:p>
        </p:txBody>
      </p:sp>
      <p:sp>
        <p:nvSpPr>
          <p:cNvPr id="2" name="Google Shape;267;p9">
            <a:extLst>
              <a:ext uri="{FF2B5EF4-FFF2-40B4-BE49-F238E27FC236}">
                <a16:creationId xmlns:a16="http://schemas.microsoft.com/office/drawing/2014/main" id="{962AE0DA-A0D3-A119-B283-9A744B1F52F4}"/>
              </a:ext>
            </a:extLst>
          </p:cNvPr>
          <p:cNvSpPr/>
          <p:nvPr/>
        </p:nvSpPr>
        <p:spPr>
          <a:xfrm>
            <a:off x="350910" y="6480000"/>
            <a:ext cx="8495060" cy="422013"/>
          </a:xfrm>
          <a:prstGeom prst="roundRect">
            <a:avLst>
              <a:gd name="adj" fmla="val 0"/>
            </a:avLst>
          </a:prstGeom>
          <a:noFill/>
          <a:ln>
            <a:noFill/>
          </a:ln>
        </p:spPr>
        <p:txBody>
          <a:bodyPr spcFirstLastPara="1" wrap="square" lIns="0" tIns="79367" rIns="0" bIns="0" anchor="t" anchorCtr="0">
            <a:noAutofit/>
          </a:bodyPr>
          <a:lstStyle/>
          <a:p>
            <a:pPr>
              <a:buClr>
                <a:schemeClr val="dk1"/>
              </a:buClr>
              <a:buSzPts val="900"/>
            </a:pPr>
            <a:r>
              <a:rPr lang="en-US" altLang="ja-JP" sz="992" dirty="0">
                <a:solidFill>
                  <a:schemeClr val="dk1"/>
                </a:solidFill>
              </a:rPr>
              <a:t>※ 上記は最短スケジュールをご提示させて頂いております。ご都合により調整致しますので、お申し付け下さい。</a:t>
            </a:r>
          </a:p>
          <a:p>
            <a:pPr>
              <a:buClr>
                <a:schemeClr val="dk1"/>
              </a:buClr>
              <a:buSzPts val="900"/>
            </a:pPr>
            <a:r>
              <a:rPr lang="en-US" altLang="ja-JP" sz="992" dirty="0">
                <a:solidFill>
                  <a:schemeClr val="dk1"/>
                </a:solidFill>
              </a:rPr>
              <a:t>※ 2027年1月期決算（2027年1月31日）の確定時期を踏まえ、株式価値の算定基準時点および価格調整の要否を別途ご協議させて頂きます。</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7" name="Google Shape;537;p10"/>
          <p:cNvPicPr preferRelativeResize="0"/>
          <p:nvPr/>
        </p:nvPicPr>
        <p:blipFill rotWithShape="1">
          <a:blip r:embed="rId3">
            <a:alphaModFix/>
          </a:blip>
          <a:srcRect/>
          <a:stretch/>
        </p:blipFill>
        <p:spPr>
          <a:xfrm>
            <a:off x="4039044" y="4675756"/>
            <a:ext cx="2159738" cy="459769"/>
          </a:xfrm>
          <a:prstGeom prst="rect">
            <a:avLst/>
          </a:prstGeom>
          <a:noFill/>
          <a:ln>
            <a:noFill/>
          </a:ln>
        </p:spPr>
      </p:pic>
      <p:pic>
        <p:nvPicPr>
          <p:cNvPr id="3" name="図 2">
            <a:extLst>
              <a:ext uri="{FF2B5EF4-FFF2-40B4-BE49-F238E27FC236}">
                <a16:creationId xmlns:a16="http://schemas.microsoft.com/office/drawing/2014/main" id="{A512A6A1-094C-23E8-337F-1EFAC3B4F133}"/>
              </a:ext>
            </a:extLst>
          </p:cNvPr>
          <p:cNvPicPr>
            <a:picLocks noChangeAspect="1"/>
          </p:cNvPicPr>
          <p:nvPr/>
        </p:nvPicPr>
        <p:blipFill>
          <a:blip r:embed="rId4"/>
          <a:stretch>
            <a:fillRect/>
          </a:stretch>
        </p:blipFill>
        <p:spPr>
          <a:xfrm>
            <a:off x="0" y="1657174"/>
            <a:ext cx="10691813" cy="2848465"/>
          </a:xfrm>
          <a:prstGeom prst="rect">
            <a:avLst/>
          </a:prstGeom>
        </p:spPr>
      </p:pic>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3060</TotalTime>
  <Words>2298</Words>
  <Application>Microsoft Office PowerPoint</Application>
  <PresentationFormat>ユーザー設定</PresentationFormat>
  <Paragraphs>260</Paragraphs>
  <Slides>9</Slides>
  <Notes>9</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Arial</vt:lpstr>
      <vt:lpstr>Trebuchet MS</vt:lpstr>
      <vt:lpstr>SL_2026</vt:lpstr>
      <vt:lpstr>PowerPoint プレゼンテーション</vt:lpstr>
      <vt:lpstr>Section 1</vt:lpstr>
      <vt:lpstr>今までの交渉事項（合意事項と要協議事項について）</vt:lpstr>
      <vt:lpstr>今までの交渉事項（合意事項と要協議事項について）</vt:lpstr>
      <vt:lpstr>リスク事項に関する対応状況①</vt:lpstr>
      <vt:lpstr>Section 2</vt:lpstr>
      <vt:lpstr>今後のイベントと想定スケジュール①</vt:lpstr>
      <vt:lpstr>今後のイベントと想定スケジュール②</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M&amp;A承継機構</dc:creator>
  <cp:lastModifiedBy>田垣内 啓介</cp:lastModifiedBy>
  <cp:revision>12</cp:revision>
  <dcterms:created xsi:type="dcterms:W3CDTF">2023-09-01T00:45:02Z</dcterms:created>
  <dcterms:modified xsi:type="dcterms:W3CDTF">2026-07-01T05:15:07Z</dcterms:modified>
</cp:coreProperties>
</file>