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6"/>
  </p:notesMasterIdLst>
  <p:sldIdLst>
    <p:sldId id="770" r:id="rId2"/>
    <p:sldId id="269" r:id="rId3"/>
    <p:sldId id="693" r:id="rId4"/>
    <p:sldId id="749" r:id="rId5"/>
    <p:sldId id="748" r:id="rId6"/>
    <p:sldId id="774" r:id="rId7"/>
    <p:sldId id="775" r:id="rId8"/>
    <p:sldId id="266" r:id="rId9"/>
    <p:sldId id="772" r:id="rId10"/>
    <p:sldId id="776" r:id="rId11"/>
    <p:sldId id="798" r:id="rId12"/>
    <p:sldId id="802" r:id="rId13"/>
    <p:sldId id="796" r:id="rId14"/>
    <p:sldId id="792" r:id="rId15"/>
    <p:sldId id="779" r:id="rId16"/>
    <p:sldId id="797" r:id="rId17"/>
    <p:sldId id="771" r:id="rId18"/>
    <p:sldId id="780" r:id="rId19"/>
    <p:sldId id="789" r:id="rId20"/>
    <p:sldId id="781" r:id="rId21"/>
    <p:sldId id="790" r:id="rId22"/>
    <p:sldId id="793" r:id="rId23"/>
    <p:sldId id="791" r:id="rId24"/>
    <p:sldId id="795" r:id="rId25"/>
    <p:sldId id="773" r:id="rId26"/>
    <p:sldId id="784" r:id="rId27"/>
    <p:sldId id="785" r:id="rId28"/>
    <p:sldId id="786" r:id="rId29"/>
    <p:sldId id="787" r:id="rId30"/>
    <p:sldId id="782" r:id="rId31"/>
    <p:sldId id="783" r:id="rId32"/>
    <p:sldId id="794" r:id="rId33"/>
    <p:sldId id="801" r:id="rId34"/>
    <p:sldId id="277" r:id="rId35"/>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802"/>
            <p14:sldId id="796"/>
            <p14:sldId id="792"/>
            <p14:sldId id="779"/>
            <p14:sldId id="797"/>
            <p14:sldId id="771"/>
            <p14:sldId id="780"/>
            <p14:sldId id="789"/>
            <p14:sldId id="781"/>
            <p14:sldId id="790"/>
            <p14:sldId id="793"/>
            <p14:sldId id="791"/>
            <p14:sldId id="795"/>
            <p14:sldId id="773"/>
            <p14:sldId id="784"/>
            <p14:sldId id="785"/>
            <p14:sldId id="786"/>
            <p14:sldId id="787"/>
            <p14:sldId id="782"/>
            <p14:sldId id="783"/>
            <p14:sldId id="794"/>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3FB"/>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100" d="100"/>
          <a:sy n="100" d="100"/>
        </p:scale>
        <p:origin x="1344" y="7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12</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14</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15</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632E-8F33-5004-67F5-94EAE2F17F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5829DE-8CC9-F6D1-1CB3-0AAF08ECBE2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A43D23F-F62E-70B9-7C4E-3904758C33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8AE4E59-2CAF-E95C-7A4D-AA069DEF9C97}"/>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176918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28</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32</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 Id="rId8" Type="http://schemas.openxmlformats.org/officeDocument/2006/relationships/image" Target="../media/image21.jpg"/><Relationship Id="rId9" Type="http://schemas.openxmlformats.org/officeDocument/2006/relationships/image" Target="../media/image22.jpg"/><Relationship Id="rId10" Type="http://schemas.openxmlformats.org/officeDocument/2006/relationships/image" Target="../media/image23.jpg"/><Relationship Id="rId11" Type="http://schemas.openxmlformats.org/officeDocument/2006/relationships/image" Target="../media/image24.jpg"/><Relationship Id="rId12" Type="http://schemas.openxmlformats.org/officeDocument/2006/relationships/image" Target="../media/image25.jpg"/><Relationship Id="rId13" Type="http://schemas.openxmlformats.org/officeDocument/2006/relationships/image" Target="../media/image26.jpg"/><Relationship Id="rId14" Type="http://schemas.openxmlformats.org/officeDocument/2006/relationships/image" Target="../media/image27.jpg"/><Relationship Id="rId15" Type="http://schemas.openxmlformats.org/officeDocument/2006/relationships/image" Target="../media/image28.jpg"/><Relationship Id="rId16" Type="http://schemas.openxmlformats.org/officeDocument/2006/relationships/image" Target="../media/image29.jpg"/><Relationship Id="rId17" Type="http://schemas.openxmlformats.org/officeDocument/2006/relationships/image" Target="../media/image30.jpg"/><Relationship Id="rId18" Type="http://schemas.openxmlformats.org/officeDocument/2006/relationships/image" Target="../media/image31.jpg"/><Relationship Id="rId19" Type="http://schemas.openxmlformats.org/officeDocument/2006/relationships/image" Target="../media/image32.jpg"/><Relationship Id="rId20" Type="http://schemas.openxmlformats.org/officeDocument/2006/relationships/image" Target="../media/image33.jpg"/><Relationship Id="rId21" Type="http://schemas.openxmlformats.org/officeDocument/2006/relationships/image" Target="../media/image3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wrap="square"/>
          <a:lstStyle/>
          <a:p>
            <a:r>
              <a:rPr>
                <a:latin typeface="游ゴシック"/>
                <a:ea typeface="游ゴシック"/>
              </a:rPr>
              <a:t>企業概要書　</a:t>
            </a:r>
            <a:r>
              <a:rPr sz="1600">
                <a:latin typeface="游ゴシック"/>
                <a:ea typeface="游ゴシック"/>
              </a:rPr>
              <a:t>＜キャラクターグッズ企画・製造販売／東京都＞</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018010421"/>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a:latin typeface="+mj-ea"/>
                <a:ea typeface="+mj-ea"/>
              </a:rPr>
              <a:t>アニメ・ゲームIPを活用したキャラクターグッズの企画・製造・販売を手掛け、少数精鋭（従業員7名＋役員3名）で売上高422百万円・営業利益58百万円（令和8年1月期）を創出。大手IPホルダーとの継続取引と海外製造ネットワーク、手厚い財務基盤を強みとする成長企業です。</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517736"/>
            <a:ext cx="5857066"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15" name="Table 14"/>
          <p:cNvGraphicFramePr>
            <a:graphicFrameLocks noGrp="1"/>
          </p:cNvGraphicFramePr>
          <p:nvPr/>
        </p:nvGraphicFramePr>
        <p:xfrm>
          <a:off x="309600" y="1764000"/>
          <a:ext cx="5857200" cy="4283997"/>
        </p:xfrm>
        <a:graphic>
          <a:graphicData uri="http://schemas.openxmlformats.org/drawingml/2006/table">
            <a:tbl>
              <a:tblPr>
                <a:tableStyleId>{5C22544A-7EE6-4342-B048-85BDC9FD1C3A}</a:tableStyleId>
              </a:tblPr>
              <a:tblGrid>
                <a:gridCol w="1296000">
                  <a:extLst>
                    <a:ext uri="{9D8B030D-6E8A-4147-A177-3AD203B41FA5}">
                      <a16:colId xmlns:a16="http://schemas.microsoft.com/office/drawing/2014/main" val="20000"/>
                    </a:ext>
                  </a:extLst>
                </a:gridCol>
                <a:gridCol w="4561200">
                  <a:extLst>
                    <a:ext uri="{9D8B030D-6E8A-4147-A177-3AD203B41FA5}">
                      <a16:colId xmlns:a16="http://schemas.microsoft.com/office/drawing/2014/main" val="20001"/>
                    </a:ext>
                  </a:extLst>
                </a:gridCol>
              </a:tblGrid>
              <a:tr h="251999">
                <a:tc>
                  <a:txBody>
                    <a:bodyPr/>
                    <a:lstStyle/>
                    <a:p>
                      <a:pPr algn="ctr"/>
                      <a:r>
                        <a:rPr sz="900" b="1">
                          <a:solidFill>
                            <a:srgbClr val="FFFFFF"/>
                          </a:solidFill>
                          <a:latin typeface="游ゴシック"/>
                          <a:ea typeface="游ゴシック"/>
                        </a:rPr>
                        <a:t>項目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内容</a:t>
                      </a:r>
                    </a:p>
                  </a:txBody>
                  <a:tcPr marL="36000" marR="36000" marT="7200" marB="7200" anchor="ctr">
                    <a:solidFill>
                      <a:srgbClr val="0B3041"/>
                    </a:solidFill>
                  </a:tcPr>
                </a:tc>
                <a:extLst>
                  <a:ext uri="{0D108BD9-81ED-4DB2-BD59-A6C34878D82A}">
                    <a16:rowId xmlns:a16="http://schemas.microsoft.com/office/drawing/2014/main" val="10000"/>
                  </a:ext>
                </a:extLst>
              </a:tr>
              <a:tr h="270000">
                <a:tc>
                  <a:txBody>
                    <a:bodyPr/>
                    <a:lstStyle/>
                    <a:p>
                      <a:pPr algn="l"/>
                      <a:r>
                        <a:rPr sz="900" b="0">
                          <a:solidFill>
                            <a:srgbClr val="0B3041"/>
                          </a:solidFill>
                          <a:latin typeface="游ゴシック"/>
                          <a:ea typeface="游ゴシック"/>
                        </a:rPr>
                        <a:t>会社名</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株式会社カナリア</a:t>
                      </a:r>
                    </a:p>
                  </a:txBody>
                  <a:tcPr marL="36000" marR="36000" marT="7200" marB="7200" anchor="ctr">
                    <a:solidFill>
                      <a:srgbClr val="FFFFFF"/>
                    </a:solidFill>
                  </a:tcPr>
                </a:tc>
                <a:extLst>
                  <a:ext uri="{0D108BD9-81ED-4DB2-BD59-A6C34878D82A}">
                    <a16:rowId xmlns:a16="http://schemas.microsoft.com/office/drawing/2014/main" val="10001"/>
                  </a:ext>
                </a:extLst>
              </a:tr>
              <a:tr h="270000">
                <a:tc>
                  <a:txBody>
                    <a:bodyPr/>
                    <a:lstStyle/>
                    <a:p>
                      <a:pPr algn="l"/>
                      <a:r>
                        <a:rPr sz="900" b="0">
                          <a:solidFill>
                            <a:srgbClr val="0B3041"/>
                          </a:solidFill>
                          <a:latin typeface="游ゴシック"/>
                          <a:ea typeface="游ゴシック"/>
                        </a:rPr>
                        <a:t>設立</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2014年2月12日（決算期基準の試算で第12期）</a:t>
                      </a:r>
                    </a:p>
                  </a:txBody>
                  <a:tcPr marL="36000" marR="36000" marT="7200" marB="7200" anchor="ctr">
                    <a:solidFill>
                      <a:srgbClr val="F4F7F9"/>
                    </a:solidFill>
                  </a:tcPr>
                </a:tc>
                <a:extLst>
                  <a:ext uri="{0D108BD9-81ED-4DB2-BD59-A6C34878D82A}">
                    <a16:rowId xmlns:a16="http://schemas.microsoft.com/office/drawing/2014/main" val="10002"/>
                  </a:ext>
                </a:extLst>
              </a:tr>
              <a:tr h="324000">
                <a:tc>
                  <a:txBody>
                    <a:bodyPr/>
                    <a:lstStyle/>
                    <a:p>
                      <a:pPr algn="l"/>
                      <a:r>
                        <a:rPr sz="900" b="0">
                          <a:solidFill>
                            <a:srgbClr val="0B3041"/>
                          </a:solidFill>
                          <a:latin typeface="游ゴシック"/>
                          <a:ea typeface="游ゴシック"/>
                        </a:rPr>
                        <a:t>本社所在地</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東京都台東区東上野一丁目20番5号 サスガビル4階</a:t>
                      </a:r>
                    </a:p>
                  </a:txBody>
                  <a:tcPr marL="36000" marR="36000" marT="7200" marB="7200" anchor="ctr">
                    <a:solidFill>
                      <a:srgbClr val="FFFFFF"/>
                    </a:solidFill>
                  </a:tcPr>
                </a:tc>
                <a:extLst>
                  <a:ext uri="{0D108BD9-81ED-4DB2-BD59-A6C34878D82A}">
                    <a16:rowId xmlns:a16="http://schemas.microsoft.com/office/drawing/2014/main" val="10003"/>
                  </a:ext>
                </a:extLst>
              </a:tr>
              <a:tr h="270000">
                <a:tc>
                  <a:txBody>
                    <a:bodyPr/>
                    <a:lstStyle/>
                    <a:p>
                      <a:pPr algn="l"/>
                      <a:r>
                        <a:rPr sz="900" b="0">
                          <a:solidFill>
                            <a:srgbClr val="0B3041"/>
                          </a:solidFill>
                          <a:latin typeface="游ゴシック"/>
                          <a:ea typeface="游ゴシック"/>
                        </a:rPr>
                        <a:t>資本金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10,000千円（発行済株式総数1,000株）</a:t>
                      </a:r>
                    </a:p>
                  </a:txBody>
                  <a:tcPr marL="36000" marR="36000" marT="7200" marB="7200" anchor="ctr">
                    <a:solidFill>
                      <a:srgbClr val="F4F7F9"/>
                    </a:solidFill>
                  </a:tcPr>
                </a:tc>
                <a:extLst>
                  <a:ext uri="{0D108BD9-81ED-4DB2-BD59-A6C34878D82A}">
                    <a16:rowId xmlns:a16="http://schemas.microsoft.com/office/drawing/2014/main" val="10004"/>
                  </a:ext>
                </a:extLst>
              </a:tr>
              <a:tr h="270000">
                <a:tc>
                  <a:txBody>
                    <a:bodyPr/>
                    <a:lstStyle/>
                    <a:p>
                      <a:pPr algn="l"/>
                      <a:r>
                        <a:rPr sz="900" b="0">
                          <a:solidFill>
                            <a:srgbClr val="0B3041"/>
                          </a:solidFill>
                          <a:latin typeface="游ゴシック"/>
                          <a:ea typeface="游ゴシック"/>
                        </a:rPr>
                        <a:t>代表者</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代表取締役 野口 紘</a:t>
                      </a:r>
                    </a:p>
                  </a:txBody>
                  <a:tcPr marL="36000" marR="36000" marT="7200" marB="7200" anchor="ctr">
                    <a:solidFill>
                      <a:srgbClr val="FFFFFF"/>
                    </a:solidFill>
                  </a:tcPr>
                </a:tc>
                <a:extLst>
                  <a:ext uri="{0D108BD9-81ED-4DB2-BD59-A6C34878D82A}">
                    <a16:rowId xmlns:a16="http://schemas.microsoft.com/office/drawing/2014/main" val="10005"/>
                  </a:ext>
                </a:extLst>
              </a:tr>
              <a:tr h="324000">
                <a:tc>
                  <a:txBody>
                    <a:bodyPr/>
                    <a:lstStyle/>
                    <a:p>
                      <a:pPr algn="l"/>
                      <a:r>
                        <a:rPr sz="900" b="0">
                          <a:solidFill>
                            <a:srgbClr val="0B3041"/>
                          </a:solidFill>
                          <a:latin typeface="游ゴシック"/>
                          <a:ea typeface="游ゴシック"/>
                        </a:rPr>
                        <a:t>従業員数</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7名（制作部5名・営業部2名）＋役員3名 ※2026年1月末</a:t>
                      </a:r>
                    </a:p>
                  </a:txBody>
                  <a:tcPr marL="36000" marR="36000" marT="7200" marB="7200" anchor="ctr">
                    <a:solidFill>
                      <a:srgbClr val="F4F7F9"/>
                    </a:solidFill>
                  </a:tcPr>
                </a:tc>
                <a:extLst>
                  <a:ext uri="{0D108BD9-81ED-4DB2-BD59-A6C34878D82A}">
                    <a16:rowId xmlns:a16="http://schemas.microsoft.com/office/drawing/2014/main" val="10006"/>
                  </a:ext>
                </a:extLst>
              </a:tr>
              <a:tr h="936000">
                <a:tc>
                  <a:txBody>
                    <a:bodyPr/>
                    <a:lstStyle/>
                    <a:p>
                      <a:pPr algn="l"/>
                      <a:r>
                        <a:rPr sz="900" b="0">
                          <a:solidFill>
                            <a:srgbClr val="0B3041"/>
                          </a:solidFill>
                          <a:latin typeface="游ゴシック"/>
                          <a:ea typeface="游ゴシック"/>
                        </a:rPr>
                        <a:t>事業内容</a:t>
                      </a:r>
                    </a:p>
                  </a:txBody>
                  <a:tcPr marL="36000" marR="36000" marT="7200" marB="7200" anchor="ctr">
                    <a:solidFill>
                      <a:srgbClr val="FFFFFF"/>
                    </a:solidFill>
                  </a:tcPr>
                </a:tc>
                <a:tc>
                  <a:txBody>
                    <a:bodyPr/>
                    <a:lstStyle/>
                    <a:p>
                      <a:r>
                        <a:rPr sz="1050">
                          <a:latin typeface="游ゴシック"/>
                        </a:rPr>
                        <a:t>アニメ・ゲームIPを活用したキャラクターグッズの企画・製造・販売、及びOEM受託。自社オリジナルくじ「スターくじ」「あたりツキ！」を展開。制作実績多数(SAO・東京喰種・ハイキュー!! 等)。製造は中国等海外委託が中心のファブレス型B2Bモデル。</a:t>
                      </a:r>
                    </a:p>
                  </a:txBody>
                  <a:tcPr marL="36000" marR="36000" marT="7200" marB="7200" anchor="ctr">
                    <a:solidFill>
                      <a:srgbClr val="FFFFFF"/>
                    </a:solidFill>
                  </a:tcPr>
                </a:tc>
                <a:extLst>
                  <a:ext uri="{0D108BD9-81ED-4DB2-BD59-A6C34878D82A}">
                    <a16:rowId xmlns:a16="http://schemas.microsoft.com/office/drawing/2014/main" val="10007"/>
                  </a:ext>
                </a:extLst>
              </a:tr>
              <a:tr h="216000">
                <a:tc>
                  <a:txBody>
                    <a:bodyPr/>
                    <a:lstStyle/>
                    <a:p>
                      <a:pPr algn="l"/>
                      <a:r>
                        <a:rPr sz="900" b="0">
                          <a:solidFill>
                            <a:srgbClr val="0B3041"/>
                          </a:solidFill>
                          <a:latin typeface="游ゴシック"/>
                          <a:ea typeface="游ゴシック"/>
                        </a:rPr>
                        <a:t>拠点</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本社1拠点</a:t>
                      </a:r>
                    </a:p>
                  </a:txBody>
                  <a:tcPr marL="36000" marR="36000" marT="7200" marB="7200" anchor="ctr">
                    <a:solidFill>
                      <a:srgbClr val="F4F7F9"/>
                    </a:solidFill>
                  </a:tcPr>
                </a:tc>
                <a:extLst>
                  <a:ext uri="{0D108BD9-81ED-4DB2-BD59-A6C34878D82A}">
                    <a16:rowId xmlns:a16="http://schemas.microsoft.com/office/drawing/2014/main" val="10008"/>
                  </a:ext>
                </a:extLst>
              </a:tr>
              <a:tr h="251999">
                <a:tc>
                  <a:txBody>
                    <a:bodyPr/>
                    <a:lstStyle/>
                    <a:p>
                      <a:pPr algn="l"/>
                      <a:r>
                        <a:rPr sz="900" b="0">
                          <a:solidFill>
                            <a:srgbClr val="0B3041"/>
                          </a:solidFill>
                          <a:latin typeface="游ゴシック"/>
                          <a:ea typeface="游ゴシック"/>
                        </a:rPr>
                        <a:t>売上高</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422,475千円（令和8年1月期）</a:t>
                      </a:r>
                    </a:p>
                  </a:txBody>
                  <a:tcPr marL="36000" marR="36000" marT="7200" marB="7200" anchor="ctr">
                    <a:solidFill>
                      <a:srgbClr val="FFFFFF"/>
                    </a:solidFill>
                  </a:tcPr>
                </a:tc>
                <a:extLst>
                  <a:ext uri="{0D108BD9-81ED-4DB2-BD59-A6C34878D82A}">
                    <a16:rowId xmlns:a16="http://schemas.microsoft.com/office/drawing/2014/main" val="10009"/>
                  </a:ext>
                </a:extLst>
              </a:tr>
              <a:tr h="251999">
                <a:tc>
                  <a:txBody>
                    <a:bodyPr/>
                    <a:lstStyle/>
                    <a:p>
                      <a:pPr algn="l"/>
                      <a:r>
                        <a:rPr sz="900" b="0">
                          <a:solidFill>
                            <a:srgbClr val="0B3041"/>
                          </a:solidFill>
                          <a:latin typeface="游ゴシック"/>
                          <a:ea typeface="游ゴシック"/>
                        </a:rPr>
                        <a:t>営業利益</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58,514千円（同期・営業利益率13.9%）</a:t>
                      </a:r>
                    </a:p>
                  </a:txBody>
                  <a:tcPr marL="36000" marR="36000" marT="7200" marB="7200" anchor="ctr">
                    <a:solidFill>
                      <a:srgbClr val="F4F7F9"/>
                    </a:solidFill>
                  </a:tcPr>
                </a:tc>
                <a:extLst>
                  <a:ext uri="{0D108BD9-81ED-4DB2-BD59-A6C34878D82A}">
                    <a16:rowId xmlns:a16="http://schemas.microsoft.com/office/drawing/2014/main" val="10010"/>
                  </a:ext>
                </a:extLst>
              </a:tr>
              <a:tr h="324000">
                <a:tc>
                  <a:txBody>
                    <a:bodyPr/>
                    <a:lstStyle/>
                    <a:p>
                      <a:pPr algn="l"/>
                      <a:r>
                        <a:rPr sz="900" b="0">
                          <a:solidFill>
                            <a:srgbClr val="0B3041"/>
                          </a:solidFill>
                          <a:latin typeface="游ゴシック"/>
                          <a:ea typeface="游ゴシック"/>
                        </a:rPr>
                        <a:t>主要取引先</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㈱セガ、㈱KADOKAWA Game Linkage、㈱ムービック 等</a:t>
                      </a:r>
                    </a:p>
                  </a:txBody>
                  <a:tcPr marL="36000" marR="36000" marT="7200" marB="7200" anchor="ctr">
                    <a:solidFill>
                      <a:srgbClr val="FFFFFF"/>
                    </a:solidFill>
                  </a:tcPr>
                </a:tc>
                <a:extLst>
                  <a:ext uri="{0D108BD9-81ED-4DB2-BD59-A6C34878D82A}">
                    <a16:rowId xmlns:a16="http://schemas.microsoft.com/office/drawing/2014/main" val="10011"/>
                  </a:ext>
                </a:extLst>
              </a:tr>
              <a:tr h="324000">
                <a:tc>
                  <a:txBody>
                    <a:bodyPr/>
                    <a:lstStyle/>
                    <a:p>
                      <a:r>
                        <a:rPr sz="1050">
                          <a:latin typeface="游ゴシック"/>
                        </a:rPr>
                        <a:t>取引銀行</a:t>
                      </a:r>
                    </a:p>
                  </a:txBody>
                  <a:tcPr marL="36000" marR="36000" marT="7200" marB="7200" anchor="ctr">
                    <a:solidFill>
                      <a:srgbClr val="FFFFFF"/>
                    </a:solidFill>
                  </a:tcPr>
                </a:tc>
                <a:tc>
                  <a:txBody>
                    <a:bodyPr/>
                    <a:lstStyle/>
                    <a:p>
                      <a:r>
                        <a:rPr sz="1050">
                          <a:latin typeface="游ゴシック"/>
                        </a:rPr>
                        <a:t>朝日信用金庫、みずほ銀行</a:t>
                      </a:r>
                    </a:p>
                  </a:txBody>
                  <a:tcPr marL="36000" marR="36000" marT="7200" marB="7200" anchor="ctr">
                    <a:solidFill>
                      <a:srgbClr val="FFFFFF"/>
                    </a:solidFill>
                  </a:tcPr>
                </a:tc>
                <a:extLst>
                  <a:ext uri="{0D108BD9-81ED-4DB2-BD59-A6C34878D82A}">
                    <a16:rowId xmlns:a16="http://schemas.microsoft.com/office/drawing/2014/main" val="10012"/>
                  </a:ext>
                </a:extLst>
              </a:tr>
            </a:tbl>
          </a:graphicData>
        </a:graphic>
      </p:graphicFrame>
      <p:pic>
        <p:nvPicPr>
          <p:cNvPr id="16" name="Picture 15" descr="logo.jpg"/>
          <p:cNvPicPr>
            <a:picLocks noChangeAspect="1"/>
          </p:cNvPicPr>
          <p:nvPr/>
        </p:nvPicPr>
        <p:blipFill>
          <a:blip r:embed="rId3"/>
          <a:stretch>
            <a:fillRect/>
          </a:stretch>
        </p:blipFill>
        <p:spPr>
          <a:xfrm>
            <a:off x="7238425" y="1554514"/>
            <a:ext cx="2367361" cy="773723"/>
          </a:xfrm>
          <a:prstGeom prst="rect">
            <a:avLst/>
          </a:prstGeom>
        </p:spPr>
      </p:pic>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a:latin typeface="+mj-ea"/>
                <a:ea typeface="+mj-ea"/>
              </a:rPr>
              <a:t>令和7年1月期に売上・利益が大きく伸長し、令和8年1月期も売上高422百万円・営業利益58百万円と高水準を維持。営業利益率13.9%、償却負担も小さく安定した収益力を確保しています。</a:t>
            </a:r>
            <a:endParaRPr lang="en-US" altLang="ja-JP" dirty="0">
              <a:latin typeface="+mj-ea"/>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604592"/>
            <a:ext cx="3924999" cy="2539157"/>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382390"/>
            <a:ext cx="3924999" cy="310673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949972"/>
            <a:ext cx="3912257" cy="2539157"/>
          </a:xfrm>
          <a:prstGeom prst="rect">
            <a:avLst/>
          </a:prstGeom>
          <a:noFill/>
        </p:spPr>
        <p:txBody>
          <a:bodyPr wrap="square" lIns="288000" tIns="0" rIns="252000" bIns="0" rtlCol="0">
            <a:spAutoFit/>
          </a:bodyPr>
          <a:lstStyle/>
          <a:p>
            <a:r>
              <a:rPr sz="1050">
                <a:latin typeface="+mn-ea"/>
                <a:ea typeface="+mn-ea"/>
              </a:rPr>
              <a:t>≪売上≫</a:t>
            </a:r>
            <a:endParaRPr kumimoji="1" lang="en-US" altLang="ja-JP" sz="1100" dirty="0">
              <a:solidFill>
                <a:schemeClr val="tx1"/>
              </a:solidFill>
              <a:latin typeface="+mn-ea"/>
              <a:ea typeface="+mn-ea"/>
            </a:endParaRPr>
          </a:p>
          <a:p>
            <a:r>
              <a:rPr sz="1050">
                <a:latin typeface="+mn-ea"/>
                <a:ea typeface="+mn-ea"/>
              </a:rPr>
              <a:t>・令和7年1月期に大型IP案件で443百万円へ拡大、令和8年1月期は422百万円と高水準を維持</a:t>
            </a:r>
          </a:p>
          <a:p>
            <a:endParaRPr sz="1050">
              <a:latin typeface="+mn-ea"/>
              <a:ea typeface="+mn-ea"/>
            </a:endParaRPr>
          </a:p>
          <a:p>
            <a:r>
              <a:rPr sz="1050">
                <a:latin typeface="+mn-ea"/>
                <a:ea typeface="+mn-ea"/>
              </a:rPr>
              <a:t>≪売上総利益≫</a:t>
            </a:r>
          </a:p>
          <a:p>
            <a:r>
              <a:rPr sz="1050">
                <a:latin typeface="+mn-ea"/>
                <a:ea typeface="+mn-ea"/>
              </a:rPr>
              <a:t>・粗利率は概ね33〜40%。製造委託中心の身軽なコスト構造</a:t>
            </a:r>
          </a:p>
          <a:p>
            <a:endParaRPr sz="1050">
              <a:latin typeface="+mn-ea"/>
              <a:ea typeface="+mn-ea"/>
            </a:endParaRPr>
          </a:p>
          <a:p>
            <a:r>
              <a:rPr sz="1050">
                <a:latin typeface="+mn-ea"/>
                <a:ea typeface="+mn-ea"/>
              </a:rPr>
              <a:t>≪営業利益≫</a:t>
            </a:r>
          </a:p>
          <a:p>
            <a:r>
              <a:rPr sz="1050">
                <a:latin typeface="+mn-ea"/>
                <a:ea typeface="+mn-ea"/>
              </a:rPr>
              <a:t>・令和8年1月期は58百万円（利益率13.9%）。少数精鋭による高い一人当たり収益性</a:t>
            </a:r>
          </a:p>
          <a:p>
            <a:endParaRPr sz="1050">
              <a:latin typeface="+mn-ea"/>
              <a:ea typeface="+mn-ea"/>
            </a:endParaRPr>
          </a:p>
          <a:p>
            <a:r>
              <a:rPr sz="1050">
                <a:latin typeface="+mn-ea"/>
                <a:ea typeface="+mn-ea"/>
              </a:rPr>
              <a:t>≪ご参考≫</a:t>
            </a:r>
          </a:p>
          <a:p>
            <a:r>
              <a:rPr sz="1050">
                <a:latin typeface="+mn-ea"/>
                <a:ea typeface="+mn-ea"/>
              </a:rPr>
              <a:t>・進行期(令和9年1月期)は5ヶ月実績のみ受領。通期見通しはヒアリング予定</a:t>
            </a: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8406" y="5029312"/>
            <a:ext cx="3912257" cy="1862048"/>
          </a:xfrm>
          <a:prstGeom prst="rect">
            <a:avLst/>
          </a:prstGeom>
          <a:noFill/>
        </p:spPr>
        <p:txBody>
          <a:bodyPr wrap="square" lIns="288000" tIns="0" rIns="252000" bIns="0" rtlCol="0">
            <a:spAutoFit/>
          </a:bodyPr>
          <a:lstStyle/>
          <a:p>
            <a:r>
              <a:rPr sz="1050">
                <a:latin typeface="+mn-ea"/>
                <a:ea typeface="+mn-ea"/>
              </a:rPr>
              <a:t>【EBITDA・正常収益力】</a:t>
            </a:r>
          </a:p>
          <a:p>
            <a:r>
              <a:rPr sz="1050">
                <a:latin typeface="+mn-ea"/>
                <a:ea typeface="+mn-ea"/>
              </a:rPr>
              <a:t>・減価償却費は1,183千円と小さく、営業利益≒キャッシュ創出力</a:t>
            </a:r>
          </a:p>
          <a:p>
            <a:r>
              <a:rPr sz="1050">
                <a:latin typeface="+mn-ea"/>
                <a:ea typeface="+mn-ea"/>
              </a:rPr>
              <a:t>・役員賞与20,000千円等の正常化余地は評価書にて精査予定</a:t>
            </a:r>
          </a:p>
          <a:p>
            <a:r>
              <a:rPr sz="1050">
                <a:latin typeface="+mn-ea"/>
                <a:ea typeface="+mn-ea"/>
              </a:rPr>
              <a:t>・調整後EBITDAは正常化調整を反映のうえ別途確定</a:t>
            </a:r>
          </a:p>
        </p:txBody>
      </p:sp>
      <p:graphicFrame>
        <p:nvGraphicFramePr>
          <p:cNvPr id="17" name="Table 16"/>
          <p:cNvGraphicFramePr>
            <a:graphicFrameLocks noGrp="1"/>
          </p:cNvGraphicFramePr>
          <p:nvPr/>
        </p:nvGraphicFramePr>
        <p:xfrm>
          <a:off x="309600" y="1655999"/>
          <a:ext cx="6040800" cy="3312000"/>
        </p:xfrm>
        <a:graphic>
          <a:graphicData uri="http://schemas.openxmlformats.org/drawingml/2006/table">
            <a:tbl>
              <a:tblPr>
                <a:tableStyleId>{5C22544A-7EE6-4342-B048-85BDC9FD1C3A}</a:tableStyleId>
              </a:tblPr>
              <a:tblGrid>
                <a:gridCol w="2224800">
                  <a:extLst>
                    <a:ext uri="{9D8B030D-6E8A-4147-A177-3AD203B41FA5}">
                      <a16:colId xmlns:a16="http://schemas.microsoft.com/office/drawing/2014/main" val="20000"/>
                    </a:ext>
                  </a:extLst>
                </a:gridCol>
                <a:gridCol w="1270800">
                  <a:extLst>
                    <a:ext uri="{9D8B030D-6E8A-4147-A177-3AD203B41FA5}">
                      <a16:colId xmlns:a16="http://schemas.microsoft.com/office/drawing/2014/main" val="20001"/>
                    </a:ext>
                  </a:extLst>
                </a:gridCol>
                <a:gridCol w="1270800">
                  <a:extLst>
                    <a:ext uri="{9D8B030D-6E8A-4147-A177-3AD203B41FA5}">
                      <a16:colId xmlns:a16="http://schemas.microsoft.com/office/drawing/2014/main" val="20002"/>
                    </a:ext>
                  </a:extLst>
                </a:gridCol>
                <a:gridCol w="1274400">
                  <a:extLst>
                    <a:ext uri="{9D8B030D-6E8A-4147-A177-3AD203B41FA5}">
                      <a16:colId xmlns:a16="http://schemas.microsoft.com/office/drawing/2014/main" val="20003"/>
                    </a:ext>
                  </a:extLst>
                </a:gridCol>
              </a:tblGrid>
              <a:tr h="368000">
                <a:tc>
                  <a:txBody>
                    <a:bodyPr/>
                    <a:lstStyle/>
                    <a:p>
                      <a:pPr algn="ctr"/>
                      <a:r>
                        <a:rPr sz="1000" b="1">
                          <a:solidFill>
                            <a:srgbClr val="FFFFFF"/>
                          </a:solidFill>
                          <a:latin typeface="游ゴシック"/>
                          <a:ea typeface="游ゴシック"/>
                        </a:rPr>
                        <a:t>決算期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令和6年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令和7年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令和8年
1月期</a:t>
                      </a:r>
                    </a:p>
                  </a:txBody>
                  <a:tcPr marL="36000" marR="36000" marT="7200" marB="7200" anchor="ctr">
                    <a:solidFill>
                      <a:srgbClr val="0B3041"/>
                    </a:solidFill>
                  </a:tcPr>
                </a:tc>
                <a:extLst>
                  <a:ext uri="{0D108BD9-81ED-4DB2-BD59-A6C34878D82A}">
                    <a16:rowId xmlns:a16="http://schemas.microsoft.com/office/drawing/2014/main" val="10000"/>
                  </a:ext>
                </a:extLst>
              </a:tr>
              <a:tr h="368000">
                <a:tc>
                  <a:txBody>
                    <a:bodyPr/>
                    <a:lstStyle/>
                    <a:p>
                      <a:pPr algn="l"/>
                      <a:r>
                        <a:rPr sz="1000" b="0">
                          <a:solidFill>
                            <a:srgbClr val="0B3041"/>
                          </a:solidFill>
                          <a:latin typeface="游ゴシック"/>
                          <a:ea typeface="游ゴシック"/>
                        </a:rPr>
                        <a:t>売上高</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316,755</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443,868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422,475</a:t>
                      </a:r>
                    </a:p>
                  </a:txBody>
                  <a:tcPr marL="36000" marR="36000" marT="7200" marB="7200" anchor="ctr">
                    <a:solidFill>
                      <a:srgbClr val="FFFFFF"/>
                    </a:solidFill>
                  </a:tcPr>
                </a:tc>
                <a:extLst>
                  <a:ext uri="{0D108BD9-81ED-4DB2-BD59-A6C34878D82A}">
                    <a16:rowId xmlns:a16="http://schemas.microsoft.com/office/drawing/2014/main" val="10001"/>
                  </a:ext>
                </a:extLst>
              </a:tr>
              <a:tr h="368000">
                <a:tc>
                  <a:txBody>
                    <a:bodyPr/>
                    <a:lstStyle/>
                    <a:p>
                      <a:pPr algn="l"/>
                      <a:r>
                        <a:rPr sz="1000" b="0">
                          <a:solidFill>
                            <a:srgbClr val="0B3041"/>
                          </a:solidFill>
                          <a:latin typeface="游ゴシック"/>
                          <a:ea typeface="游ゴシック"/>
                        </a:rPr>
                        <a:t>売上総利益</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103,555</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178,926</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150,803</a:t>
                      </a:r>
                    </a:p>
                  </a:txBody>
                  <a:tcPr marL="36000" marR="36000" marT="7200" marB="7200" anchor="ctr">
                    <a:solidFill>
                      <a:srgbClr val="F4F7F9"/>
                    </a:solidFill>
                  </a:tcPr>
                </a:tc>
                <a:extLst>
                  <a:ext uri="{0D108BD9-81ED-4DB2-BD59-A6C34878D82A}">
                    <a16:rowId xmlns:a16="http://schemas.microsoft.com/office/drawing/2014/main" val="10002"/>
                  </a:ext>
                </a:extLst>
              </a:tr>
              <a:tr h="368000">
                <a:tc>
                  <a:txBody>
                    <a:bodyPr/>
                    <a:lstStyle/>
                    <a:p>
                      <a:pPr algn="l"/>
                      <a:r>
                        <a:rPr sz="1000" b="0">
                          <a:solidFill>
                            <a:srgbClr val="0B3041"/>
                          </a:solidFill>
                          <a:latin typeface="游ゴシック"/>
                          <a:ea typeface="游ゴシック"/>
                        </a:rPr>
                        <a:t>　売上総利益率</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32.7%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40.3%</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35.7%</a:t>
                      </a:r>
                    </a:p>
                  </a:txBody>
                  <a:tcPr marL="36000" marR="36000" marT="7200" marB="7200" anchor="ctr">
                    <a:solidFill>
                      <a:srgbClr val="FFFFFF"/>
                    </a:solidFill>
                  </a:tcPr>
                </a:tc>
                <a:extLst>
                  <a:ext uri="{0D108BD9-81ED-4DB2-BD59-A6C34878D82A}">
                    <a16:rowId xmlns:a16="http://schemas.microsoft.com/office/drawing/2014/main" val="10003"/>
                  </a:ext>
                </a:extLst>
              </a:tr>
              <a:tr h="368000">
                <a:tc>
                  <a:txBody>
                    <a:bodyPr/>
                    <a:lstStyle/>
                    <a:p>
                      <a:pPr algn="l"/>
                      <a:r>
                        <a:rPr sz="1000" b="1">
                          <a:solidFill>
                            <a:srgbClr val="0B3041"/>
                          </a:solidFill>
                          <a:latin typeface="游ゴシック"/>
                          <a:ea typeface="游ゴシック"/>
                        </a:rPr>
                        <a:t>営業利益</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6,159</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78,191</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58,514</a:t>
                      </a:r>
                    </a:p>
                  </a:txBody>
                  <a:tcPr marL="36000" marR="36000" marT="7200" marB="7200" anchor="ctr">
                    <a:solidFill>
                      <a:srgbClr val="E3E7E9"/>
                    </a:solidFill>
                  </a:tcPr>
                </a:tc>
                <a:extLst>
                  <a:ext uri="{0D108BD9-81ED-4DB2-BD59-A6C34878D82A}">
                    <a16:rowId xmlns:a16="http://schemas.microsoft.com/office/drawing/2014/main" val="10004"/>
                  </a:ext>
                </a:extLst>
              </a:tr>
              <a:tr h="368000">
                <a:tc>
                  <a:txBody>
                    <a:bodyPr/>
                    <a:lstStyle/>
                    <a:p>
                      <a:pPr algn="l"/>
                      <a:r>
                        <a:rPr sz="1000" b="0">
                          <a:solidFill>
                            <a:srgbClr val="0B3041"/>
                          </a:solidFill>
                          <a:latin typeface="游ゴシック"/>
                          <a:ea typeface="游ゴシック"/>
                        </a:rPr>
                        <a:t>　営業利益率</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1.9%</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17.6%</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13.9%</a:t>
                      </a:r>
                    </a:p>
                  </a:txBody>
                  <a:tcPr marL="36000" marR="36000" marT="7200" marB="7200" anchor="ctr">
                    <a:solidFill>
                      <a:srgbClr val="FFFFFF"/>
                    </a:solidFill>
                  </a:tcPr>
                </a:tc>
                <a:extLst>
                  <a:ext uri="{0D108BD9-81ED-4DB2-BD59-A6C34878D82A}">
                    <a16:rowId xmlns:a16="http://schemas.microsoft.com/office/drawing/2014/main" val="10005"/>
                  </a:ext>
                </a:extLst>
              </a:tr>
              <a:tr h="368000">
                <a:tc>
                  <a:txBody>
                    <a:bodyPr/>
                    <a:lstStyle/>
                    <a:p>
                      <a:pPr algn="l"/>
                      <a:r>
                        <a:rPr sz="1000" b="0">
                          <a:solidFill>
                            <a:srgbClr val="0B3041"/>
                          </a:solidFill>
                          <a:latin typeface="游ゴシック"/>
                          <a:ea typeface="游ゴシック"/>
                        </a:rPr>
                        <a:t>経常利益</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6,666</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89,929</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64,943</a:t>
                      </a:r>
                    </a:p>
                  </a:txBody>
                  <a:tcPr marL="36000" marR="36000" marT="7200" marB="7200" anchor="ctr">
                    <a:solidFill>
                      <a:srgbClr val="F4F7F9"/>
                    </a:solidFill>
                  </a:tcPr>
                </a:tc>
                <a:extLst>
                  <a:ext uri="{0D108BD9-81ED-4DB2-BD59-A6C34878D82A}">
                    <a16:rowId xmlns:a16="http://schemas.microsoft.com/office/drawing/2014/main" val="10006"/>
                  </a:ext>
                </a:extLst>
              </a:tr>
              <a:tr h="368000">
                <a:tc>
                  <a:txBody>
                    <a:bodyPr/>
                    <a:lstStyle/>
                    <a:p>
                      <a:pPr algn="l"/>
                      <a:r>
                        <a:rPr sz="1000" b="0">
                          <a:solidFill>
                            <a:srgbClr val="0B3041"/>
                          </a:solidFill>
                          <a:latin typeface="游ゴシック"/>
                          <a:ea typeface="游ゴシック"/>
                        </a:rPr>
                        <a:t>税引後当期純利益</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△5,170</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40,558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37,630</a:t>
                      </a:r>
                    </a:p>
                  </a:txBody>
                  <a:tcPr marL="36000" marR="36000" marT="7200" marB="7200" anchor="ctr">
                    <a:solidFill>
                      <a:srgbClr val="FFFFFF"/>
                    </a:solidFill>
                  </a:tcPr>
                </a:tc>
                <a:extLst>
                  <a:ext uri="{0D108BD9-81ED-4DB2-BD59-A6C34878D82A}">
                    <a16:rowId xmlns:a16="http://schemas.microsoft.com/office/drawing/2014/main" val="10007"/>
                  </a:ext>
                </a:extLst>
              </a:tr>
              <a:tr h="368000">
                <a:tc>
                  <a:txBody>
                    <a:bodyPr/>
                    <a:lstStyle/>
                    <a:p>
                      <a:pPr algn="l"/>
                      <a:r>
                        <a:rPr sz="1000" b="0">
                          <a:solidFill>
                            <a:srgbClr val="0B3041"/>
                          </a:solidFill>
                          <a:latin typeface="游ゴシック"/>
                          <a:ea typeface="游ゴシック"/>
                        </a:rPr>
                        <a:t>（参考）減価償却費</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881</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645</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1,183</a:t>
                      </a:r>
                    </a:p>
                  </a:txBody>
                  <a:tcPr marL="36000" marR="36000" marT="7200" marB="7200" anchor="ctr">
                    <a:solidFill>
                      <a:srgbClr val="F4F7F9"/>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668" y="4003252"/>
            <a:ext cx="4790832" cy="3140498"/>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a:latin typeface="+mj-ea"/>
                <a:ea typeface="+mj-ea"/>
              </a:rPr>
              <a:t>自己資本比率60.6%・現預金193百万円と極めて健全な財務基盤。有利子負債を現預金でほぼ相殺できるネットキャッシュ状態にあり、加えて投資有価証券276百万円等の非事業性資産を潤沢に保有します。</a:t>
            </a:r>
            <a:endParaRPr lang="en-US" altLang="ja-JP" dirty="0"/>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668" y="1382390"/>
            <a:ext cx="4790832" cy="250106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7024" y="1949972"/>
            <a:ext cx="4793476" cy="1523494"/>
          </a:xfrm>
          <a:prstGeom prst="rect">
            <a:avLst/>
          </a:prstGeom>
          <a:noFill/>
        </p:spPr>
        <p:txBody>
          <a:bodyPr wrap="square" lIns="288000" tIns="0" rIns="252000" bIns="0" rtlCol="0">
            <a:spAutoFit/>
          </a:bodyPr>
          <a:lstStyle/>
          <a:p>
            <a:r>
              <a:rPr sz="1050">
                <a:latin typeface="+mn-ea"/>
                <a:ea typeface="+mn-ea"/>
              </a:rPr>
              <a:t>≪現預金≫</a:t>
            </a:r>
            <a:endParaRPr kumimoji="1" lang="en-US" altLang="ja-JP" sz="1100" dirty="0">
              <a:solidFill>
                <a:schemeClr val="tx1"/>
              </a:solidFill>
              <a:latin typeface="+mn-ea"/>
              <a:ea typeface="+mn-ea"/>
            </a:endParaRPr>
          </a:p>
          <a:p>
            <a:r>
              <a:rPr sz="1050">
                <a:latin typeface="+mn-ea"/>
                <a:ea typeface="+mn-ea"/>
              </a:rPr>
              <a:t>・193百万円を保有し、有利子負債計188百万円を上回る</a:t>
            </a:r>
          </a:p>
          <a:p>
            <a:endParaRPr sz="1050">
              <a:latin typeface="+mn-ea"/>
              <a:ea typeface="+mn-ea"/>
            </a:endParaRPr>
          </a:p>
          <a:p>
            <a:r>
              <a:rPr sz="1050">
                <a:latin typeface="+mn-ea"/>
                <a:ea typeface="+mn-ea"/>
              </a:rPr>
              <a:t>≪投資有価証券≫</a:t>
            </a:r>
          </a:p>
          <a:p>
            <a:r>
              <a:rPr sz="1050">
                <a:latin typeface="+mn-ea"/>
                <a:ea typeface="+mn-ea"/>
              </a:rPr>
              <a:t>・276百万円（総資産の約50%）。非事業性資産の可能性が高く、株式価値評価上の重要論点</a:t>
            </a:r>
          </a:p>
          <a:p>
            <a:endParaRPr sz="1050">
              <a:latin typeface="+mn-ea"/>
              <a:ea typeface="+mn-ea"/>
            </a:endParaRPr>
          </a:p>
          <a:p>
            <a:r>
              <a:rPr sz="1050">
                <a:latin typeface="+mn-ea"/>
                <a:ea typeface="+mn-ea"/>
              </a:rPr>
              <a:t>≪保険積立金≫</a:t>
            </a:r>
          </a:p>
          <a:p>
            <a:r>
              <a:rPr sz="1050">
                <a:latin typeface="+mn-ea"/>
                <a:ea typeface="+mn-ea"/>
              </a:rPr>
              <a:t>・43百万円を計上</a:t>
            </a: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7024" y="4108448"/>
            <a:ext cx="4793476" cy="2937920"/>
          </a:xfrm>
          <a:prstGeom prst="rect">
            <a:avLst/>
          </a:prstGeom>
          <a:noFill/>
        </p:spPr>
        <p:txBody>
          <a:bodyPr wrap="square" lIns="288000" tIns="0" rIns="252000" bIns="0" rtlCol="0">
            <a:spAutoFit/>
          </a:bodyPr>
          <a:lstStyle/>
          <a:p>
            <a:pPr>
              <a:lnSpc>
                <a:spcPct val="150000"/>
              </a:lnSpc>
            </a:pPr>
            <a:r>
              <a:rPr sz="1050">
                <a:latin typeface="+mn-ea"/>
                <a:ea typeface="+mn-ea"/>
              </a:rPr>
              <a:t>【財務ハイライト（令和8年1月期）】</a:t>
            </a:r>
          </a:p>
          <a:p>
            <a:r>
              <a:rPr sz="1050">
                <a:latin typeface="+mn-ea"/>
                <a:ea typeface="+mn-ea"/>
              </a:rPr>
              <a:t>・自己資本比率　60.6%</a:t>
            </a:r>
          </a:p>
          <a:p>
            <a:r>
              <a:rPr sz="1050">
                <a:latin typeface="+mn-ea"/>
                <a:ea typeface="+mn-ea"/>
              </a:rPr>
              <a:t>・純資産　　　　333,536千円</a:t>
            </a:r>
          </a:p>
          <a:p>
            <a:r>
              <a:rPr sz="1050">
                <a:latin typeface="+mn-ea"/>
                <a:ea typeface="+mn-ea"/>
              </a:rPr>
              <a:t>・有利子負債　　187,808千円</a:t>
            </a:r>
          </a:p>
          <a:p>
            <a:r>
              <a:rPr sz="1050">
                <a:latin typeface="+mn-ea"/>
                <a:ea typeface="+mn-ea"/>
              </a:rPr>
              <a:t>・ネットキャッシュ　＋5,418千円</a:t>
            </a:r>
          </a:p>
          <a:p>
            <a:r>
              <a:rPr sz="1050">
                <a:latin typeface="+mn-ea"/>
                <a:ea typeface="+mn-ea"/>
              </a:rPr>
              <a:t>　（現預金−有利子負債）</a:t>
            </a:r>
          </a:p>
          <a:p>
            <a:endParaRPr sz="1050">
              <a:latin typeface="+mn-ea"/>
              <a:ea typeface="+mn-ea"/>
            </a:endParaRPr>
          </a:p>
          <a:p>
            <a:r>
              <a:rPr sz="1050">
                <a:latin typeface="+mn-ea"/>
                <a:ea typeface="+mn-ea"/>
              </a:rPr>
              <a:t>※投資有価証券・保険積立金等の非事業性</a:t>
            </a:r>
          </a:p>
          <a:p>
            <a:r>
              <a:rPr sz="1050">
                <a:latin typeface="+mn-ea"/>
                <a:ea typeface="+mn-ea"/>
              </a:rPr>
              <a:t>　資産の取扱いは要精査</a:t>
            </a:r>
          </a:p>
        </p:txBody>
      </p:sp>
      <p:graphicFrame>
        <p:nvGraphicFramePr>
          <p:cNvPr id="14" name="Table 13"/>
          <p:cNvGraphicFramePr>
            <a:graphicFrameLocks noGrp="1"/>
          </p:cNvGraphicFramePr>
          <p:nvPr/>
        </p:nvGraphicFramePr>
        <p:xfrm>
          <a:off x="338400" y="1655999"/>
          <a:ext cx="4860000" cy="5003999"/>
        </p:xfrm>
        <a:graphic>
          <a:graphicData uri="http://schemas.openxmlformats.org/drawingml/2006/table">
            <a:tbl>
              <a:tblPr>
                <a:tableStyleId>{5C22544A-7EE6-4342-B048-85BDC9FD1C3A}</a:tableStyleId>
              </a:tblPr>
              <a:tblGrid>
                <a:gridCol w="1332000">
                  <a:extLst>
                    <a:ext uri="{9D8B030D-6E8A-4147-A177-3AD203B41FA5}">
                      <a16:colId xmlns:a16="http://schemas.microsoft.com/office/drawing/2014/main" val="20000"/>
                    </a:ext>
                  </a:extLst>
                </a:gridCol>
                <a:gridCol w="1098000">
                  <a:extLst>
                    <a:ext uri="{9D8B030D-6E8A-4147-A177-3AD203B41FA5}">
                      <a16:colId xmlns:a16="http://schemas.microsoft.com/office/drawing/2014/main" val="20001"/>
                    </a:ext>
                  </a:extLst>
                </a:gridCol>
                <a:gridCol w="1332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tblGrid>
              <a:tr h="384923">
                <a:tc>
                  <a:txBody>
                    <a:bodyPr/>
                    <a:lstStyle/>
                    <a:p>
                      <a:pPr algn="ctr"/>
                      <a:r>
                        <a:rPr sz="9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金額</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金額</a:t>
                      </a:r>
                    </a:p>
                  </a:txBody>
                  <a:tcPr marL="36000" marR="36000" marT="7200" marB="7200" anchor="ctr">
                    <a:solidFill>
                      <a:srgbClr val="0B3041"/>
                    </a:solidFill>
                  </a:tcPr>
                </a:tc>
                <a:extLst>
                  <a:ext uri="{0D108BD9-81ED-4DB2-BD59-A6C34878D82A}">
                    <a16:rowId xmlns:a16="http://schemas.microsoft.com/office/drawing/2014/main" val="10000"/>
                  </a:ext>
                </a:extLst>
              </a:tr>
              <a:tr h="384923">
                <a:tc>
                  <a:txBody>
                    <a:bodyPr/>
                    <a:lstStyle/>
                    <a:p>
                      <a:pPr algn="l"/>
                      <a:r>
                        <a:rPr sz="900" b="0">
                          <a:solidFill>
                            <a:srgbClr val="0B3041"/>
                          </a:solidFill>
                          <a:latin typeface="游ゴシック"/>
                          <a:ea typeface="游ゴシック"/>
                        </a:rPr>
                        <a:t>【資産の部】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tc>
                  <a:txBody>
                    <a:bodyPr/>
                    <a:lstStyle/>
                    <a:p>
                      <a:pPr algn="l"/>
                      <a:r>
                        <a:rPr sz="900" b="0">
                          <a:solidFill>
                            <a:srgbClr val="0B3041"/>
                          </a:solidFill>
                          <a:latin typeface="游ゴシック"/>
                          <a:ea typeface="游ゴシック"/>
                        </a:rPr>
                        <a:t>【負債の部】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extLst>
                  <a:ext uri="{0D108BD9-81ED-4DB2-BD59-A6C34878D82A}">
                    <a16:rowId xmlns:a16="http://schemas.microsoft.com/office/drawing/2014/main" val="10001"/>
                  </a:ext>
                </a:extLst>
              </a:tr>
              <a:tr h="384923">
                <a:tc>
                  <a:txBody>
                    <a:bodyPr/>
                    <a:lstStyle/>
                    <a:p>
                      <a:pPr algn="l"/>
                      <a:r>
                        <a:rPr sz="900" b="0">
                          <a:solidFill>
                            <a:srgbClr val="0B3041"/>
                          </a:solidFill>
                          <a:latin typeface="游ゴシック"/>
                          <a:ea typeface="游ゴシック"/>
                        </a:rPr>
                        <a:t>現預金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193,226</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買掛金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9,645</a:t>
                      </a:r>
                    </a:p>
                  </a:txBody>
                  <a:tcPr marL="36000" marR="36000" marT="7200" marB="7200" anchor="ctr">
                    <a:solidFill>
                      <a:srgbClr val="F4F7F9"/>
                    </a:solidFill>
                  </a:tcPr>
                </a:tc>
                <a:extLst>
                  <a:ext uri="{0D108BD9-81ED-4DB2-BD59-A6C34878D82A}">
                    <a16:rowId xmlns:a16="http://schemas.microsoft.com/office/drawing/2014/main" val="10002"/>
                  </a:ext>
                </a:extLst>
              </a:tr>
              <a:tr h="384923">
                <a:tc>
                  <a:txBody>
                    <a:bodyPr/>
                    <a:lstStyle/>
                    <a:p>
                      <a:pPr algn="l"/>
                      <a:r>
                        <a:rPr sz="900" b="0">
                          <a:solidFill>
                            <a:srgbClr val="0B3041"/>
                          </a:solidFill>
                          <a:latin typeface="游ゴシック"/>
                          <a:ea typeface="游ゴシック"/>
                        </a:rPr>
                        <a:t>売掛債権(純額)</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19,952</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短期借入金</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41,828</a:t>
                      </a:r>
                    </a:p>
                  </a:txBody>
                  <a:tcPr marL="36000" marR="36000" marT="7200" marB="7200" anchor="ctr">
                    <a:solidFill>
                      <a:srgbClr val="FFFFFF"/>
                    </a:solidFill>
                  </a:tcPr>
                </a:tc>
                <a:extLst>
                  <a:ext uri="{0D108BD9-81ED-4DB2-BD59-A6C34878D82A}">
                    <a16:rowId xmlns:a16="http://schemas.microsoft.com/office/drawing/2014/main" val="10003"/>
                  </a:ext>
                </a:extLst>
              </a:tr>
              <a:tr h="384923">
                <a:tc>
                  <a:txBody>
                    <a:bodyPr/>
                    <a:lstStyle/>
                    <a:p>
                      <a:pPr algn="l"/>
                      <a:r>
                        <a:rPr sz="900" b="0">
                          <a:solidFill>
                            <a:srgbClr val="0B3041"/>
                          </a:solidFill>
                          <a:latin typeface="游ゴシック"/>
                          <a:ea typeface="游ゴシック"/>
                        </a:rPr>
                        <a:t>棚卸資産</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229</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未払金・未払税等</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18,894</a:t>
                      </a:r>
                    </a:p>
                  </a:txBody>
                  <a:tcPr marL="36000" marR="36000" marT="7200" marB="7200" anchor="ctr">
                    <a:solidFill>
                      <a:srgbClr val="F4F7F9"/>
                    </a:solidFill>
                  </a:tcPr>
                </a:tc>
                <a:extLst>
                  <a:ext uri="{0D108BD9-81ED-4DB2-BD59-A6C34878D82A}">
                    <a16:rowId xmlns:a16="http://schemas.microsoft.com/office/drawing/2014/main" val="10004"/>
                  </a:ext>
                </a:extLst>
              </a:tr>
              <a:tr h="384923">
                <a:tc>
                  <a:txBody>
                    <a:bodyPr/>
                    <a:lstStyle/>
                    <a:p>
                      <a:pPr algn="l"/>
                      <a:r>
                        <a:rPr sz="900" b="0">
                          <a:solidFill>
                            <a:srgbClr val="0B3041"/>
                          </a:solidFill>
                          <a:latin typeface="游ゴシック"/>
                          <a:ea typeface="游ゴシック"/>
                        </a:rPr>
                        <a:t>前渡金・前払費用</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12,696</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預り金・その他</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125</a:t>
                      </a:r>
                    </a:p>
                  </a:txBody>
                  <a:tcPr marL="36000" marR="36000" marT="7200" marB="7200" anchor="ctr">
                    <a:solidFill>
                      <a:srgbClr val="FFFFFF"/>
                    </a:solidFill>
                  </a:tcPr>
                </a:tc>
                <a:extLst>
                  <a:ext uri="{0D108BD9-81ED-4DB2-BD59-A6C34878D82A}">
                    <a16:rowId xmlns:a16="http://schemas.microsoft.com/office/drawing/2014/main" val="10005"/>
                  </a:ext>
                </a:extLst>
              </a:tr>
              <a:tr h="384923">
                <a:tc>
                  <a:txBody>
                    <a:bodyPr/>
                    <a:lstStyle/>
                    <a:p>
                      <a:pPr algn="l"/>
                      <a:r>
                        <a:rPr sz="900" b="0">
                          <a:solidFill>
                            <a:srgbClr val="0B3041"/>
                          </a:solidFill>
                          <a:latin typeface="游ゴシック"/>
                          <a:ea typeface="游ゴシック"/>
                        </a:rPr>
                        <a:t>未収入金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41</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長期借入金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145,980</a:t>
                      </a:r>
                    </a:p>
                  </a:txBody>
                  <a:tcPr marL="36000" marR="36000" marT="7200" marB="7200" anchor="ctr">
                    <a:solidFill>
                      <a:srgbClr val="F4F7F9"/>
                    </a:solidFill>
                  </a:tcPr>
                </a:tc>
                <a:extLst>
                  <a:ext uri="{0D108BD9-81ED-4DB2-BD59-A6C34878D82A}">
                    <a16:rowId xmlns:a16="http://schemas.microsoft.com/office/drawing/2014/main" val="10006"/>
                  </a:ext>
                </a:extLst>
              </a:tr>
              <a:tr h="384923">
                <a:tc>
                  <a:txBody>
                    <a:bodyPr/>
                    <a:lstStyle/>
                    <a:p>
                      <a:pPr algn="l"/>
                      <a:r>
                        <a:rPr sz="900" b="0">
                          <a:solidFill>
                            <a:srgbClr val="0B3041"/>
                          </a:solidFill>
                          <a:latin typeface="游ゴシック"/>
                          <a:ea typeface="游ゴシック"/>
                        </a:rPr>
                        <a:t>有形固定資産</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1,057</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負債合計</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216,472</a:t>
                      </a:r>
                    </a:p>
                  </a:txBody>
                  <a:tcPr marL="36000" marR="36000" marT="7200" marB="7200" anchor="ctr">
                    <a:solidFill>
                      <a:srgbClr val="FFFFFF"/>
                    </a:solidFill>
                  </a:tcPr>
                </a:tc>
                <a:extLst>
                  <a:ext uri="{0D108BD9-81ED-4DB2-BD59-A6C34878D82A}">
                    <a16:rowId xmlns:a16="http://schemas.microsoft.com/office/drawing/2014/main" val="10007"/>
                  </a:ext>
                </a:extLst>
              </a:tr>
              <a:tr h="384923">
                <a:tc>
                  <a:txBody>
                    <a:bodyPr/>
                    <a:lstStyle/>
                    <a:p>
                      <a:pPr algn="l"/>
                      <a:r>
                        <a:rPr sz="900" b="0">
                          <a:solidFill>
                            <a:srgbClr val="0B3041"/>
                          </a:solidFill>
                          <a:latin typeface="游ゴシック"/>
                          <a:ea typeface="游ゴシック"/>
                        </a:rPr>
                        <a:t>ソフトウェア</a:t>
                      </a:r>
                    </a:p>
                  </a:txBody>
                  <a:tcPr marL="36000" marR="36000" marT="7200" marB="7200" anchor="ctr">
                    <a:solidFill>
                      <a:srgbClr val="E3E7E9"/>
                    </a:solidFill>
                  </a:tcPr>
                </a:tc>
                <a:tc>
                  <a:txBody>
                    <a:bodyPr/>
                    <a:lstStyle/>
                    <a:p>
                      <a:pPr algn="r"/>
                      <a:r>
                        <a:rPr sz="900" b="0">
                          <a:solidFill>
                            <a:srgbClr val="0B3041"/>
                          </a:solidFill>
                          <a:latin typeface="游ゴシック"/>
                          <a:ea typeface="游ゴシック"/>
                        </a:rPr>
                        <a:t>2,112</a:t>
                      </a:r>
                    </a:p>
                  </a:txBody>
                  <a:tcPr marL="36000" marR="36000" marT="7200" marB="7200" anchor="ctr">
                    <a:solidFill>
                      <a:srgbClr val="E3E7E9"/>
                    </a:solidFill>
                  </a:tcPr>
                </a:tc>
                <a:tc>
                  <a:txBody>
                    <a:bodyPr/>
                    <a:lstStyle/>
                    <a:p>
                      <a:pPr algn="l"/>
                      <a:r>
                        <a:rPr sz="900" b="0">
                          <a:solidFill>
                            <a:srgbClr val="0B3041"/>
                          </a:solidFill>
                          <a:latin typeface="游ゴシック"/>
                          <a:ea typeface="游ゴシック"/>
                        </a:rPr>
                        <a:t>【純資産の部】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extLst>
                  <a:ext uri="{0D108BD9-81ED-4DB2-BD59-A6C34878D82A}">
                    <a16:rowId xmlns:a16="http://schemas.microsoft.com/office/drawing/2014/main" val="10008"/>
                  </a:ext>
                </a:extLst>
              </a:tr>
              <a:tr h="384923">
                <a:tc>
                  <a:txBody>
                    <a:bodyPr/>
                    <a:lstStyle/>
                    <a:p>
                      <a:pPr algn="l"/>
                      <a:r>
                        <a:rPr sz="900" b="0">
                          <a:solidFill>
                            <a:srgbClr val="0B3041"/>
                          </a:solidFill>
                          <a:latin typeface="游ゴシック"/>
                          <a:ea typeface="游ゴシック"/>
                        </a:rPr>
                        <a:t>投資有価証券</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275,896</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資本金</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10,000</a:t>
                      </a:r>
                    </a:p>
                  </a:txBody>
                  <a:tcPr marL="36000" marR="36000" marT="7200" marB="7200" anchor="ctr">
                    <a:solidFill>
                      <a:srgbClr val="FFFFFF"/>
                    </a:solidFill>
                  </a:tcPr>
                </a:tc>
                <a:extLst>
                  <a:ext uri="{0D108BD9-81ED-4DB2-BD59-A6C34878D82A}">
                    <a16:rowId xmlns:a16="http://schemas.microsoft.com/office/drawing/2014/main" val="10009"/>
                  </a:ext>
                </a:extLst>
              </a:tr>
              <a:tr h="384923">
                <a:tc>
                  <a:txBody>
                    <a:bodyPr/>
                    <a:lstStyle/>
                    <a:p>
                      <a:pPr algn="l"/>
                      <a:r>
                        <a:rPr sz="900" b="0">
                          <a:solidFill>
                            <a:srgbClr val="0B3041"/>
                          </a:solidFill>
                          <a:latin typeface="游ゴシック"/>
                          <a:ea typeface="游ゴシック"/>
                        </a:rPr>
                        <a:t>保険積立金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43,327</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利益剰余金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323,536</a:t>
                      </a:r>
                    </a:p>
                  </a:txBody>
                  <a:tcPr marL="36000" marR="36000" marT="7200" marB="7200" anchor="ctr">
                    <a:solidFill>
                      <a:srgbClr val="F4F7F9"/>
                    </a:solidFill>
                  </a:tcPr>
                </a:tc>
                <a:extLst>
                  <a:ext uri="{0D108BD9-81ED-4DB2-BD59-A6C34878D82A}">
                    <a16:rowId xmlns:a16="http://schemas.microsoft.com/office/drawing/2014/main" val="10010"/>
                  </a:ext>
                </a:extLst>
              </a:tr>
              <a:tr h="384923">
                <a:tc>
                  <a:txBody>
                    <a:bodyPr/>
                    <a:lstStyle/>
                    <a:p>
                      <a:pPr algn="l"/>
                      <a:r>
                        <a:rPr sz="900" b="0">
                          <a:solidFill>
                            <a:srgbClr val="0B3041"/>
                          </a:solidFill>
                          <a:latin typeface="游ゴシック"/>
                          <a:ea typeface="游ゴシック"/>
                        </a:rPr>
                        <a:t>その他資産</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1,472</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純資産合計</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333,536</a:t>
                      </a:r>
                    </a:p>
                  </a:txBody>
                  <a:tcPr marL="36000" marR="36000" marT="7200" marB="7200" anchor="ctr">
                    <a:solidFill>
                      <a:srgbClr val="FFFFFF"/>
                    </a:solidFill>
                  </a:tcPr>
                </a:tc>
                <a:extLst>
                  <a:ext uri="{0D108BD9-81ED-4DB2-BD59-A6C34878D82A}">
                    <a16:rowId xmlns:a16="http://schemas.microsoft.com/office/drawing/2014/main" val="10011"/>
                  </a:ext>
                </a:extLst>
              </a:tr>
              <a:tr h="384923">
                <a:tc>
                  <a:txBody>
                    <a:bodyPr/>
                    <a:lstStyle/>
                    <a:p>
                      <a:pPr algn="l"/>
                      <a:r>
                        <a:rPr sz="900" b="1">
                          <a:solidFill>
                            <a:srgbClr val="0B3041"/>
                          </a:solidFill>
                          <a:latin typeface="游ゴシック"/>
                          <a:ea typeface="游ゴシック"/>
                        </a:rPr>
                        <a:t>資産合計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550,008</a:t>
                      </a:r>
                    </a:p>
                  </a:txBody>
                  <a:tcPr marL="36000" marR="36000" marT="7200" marB="7200" anchor="ctr">
                    <a:solidFill>
                      <a:srgbClr val="E3E7E9"/>
                    </a:solidFill>
                  </a:tcPr>
                </a:tc>
                <a:tc>
                  <a:txBody>
                    <a:bodyPr/>
                    <a:lstStyle/>
                    <a:p>
                      <a:pPr algn="l"/>
                      <a:r>
                        <a:rPr sz="900" b="1">
                          <a:solidFill>
                            <a:srgbClr val="0B3041"/>
                          </a:solidFill>
                          <a:latin typeface="游ゴシック"/>
                          <a:ea typeface="游ゴシック"/>
                        </a:rPr>
                        <a:t>負債・純資産合計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550,008</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sz="2200" b="1">
                <a:latin typeface="+mj-ea"/>
                <a:ea typeface="+mj-ea"/>
              </a:rPr>
              <a:t>株式100％譲渡</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a:latin typeface="游ゴシック"/>
                <a:ea typeface="游ゴシック"/>
              </a:rPr>
              <a:t>別途個別にご提示（ヒアリング予定）</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427548"/>
            <a:ext cx="7074659" cy="702756"/>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a:latin typeface="游ゴシック"/>
                <a:ea typeface="游ゴシック"/>
              </a:rPr>
              <a:t>従業員の雇用継続／代表者の連帯保証解除</a:t>
            </a:r>
            <a:endParaRPr lang="en-US" altLang="ja-JP" spc="50" dirty="0"/>
          </a:p>
          <a:p>
            <a:r>
              <a:rPr>
                <a:latin typeface="游ゴシック"/>
                <a:ea typeface="游ゴシック"/>
              </a:rPr>
              <a:t>※一般的条件、詳細はヒアリング予定</a:t>
            </a:r>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a:latin typeface="游ゴシック"/>
                <a:ea typeface="游ゴシック"/>
              </a:rPr>
              <a:t>オーナーヒアリング予定（現時点で未確認）</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449263"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100" b="1">
                <a:latin typeface="+mj-ea"/>
                <a:ea typeface="+mj-ea"/>
              </a:rPr>
              <a:t>貿易商社</a:t>
            </a:r>
            <a:endParaRPr kumimoji="1" lang="en-US" altLang="ja-JP" sz="1200" b="1" spc="50" dirty="0">
              <a:solidFill>
                <a:schemeClr val="tx1"/>
              </a:solidFill>
              <a:latin typeface="+mj-ea"/>
              <a:ea typeface="+mj-ea"/>
            </a:endParaRPr>
          </a:p>
          <a:p>
            <a:r>
              <a:rPr sz="1100" b="1">
                <a:latin typeface="+mj-ea"/>
                <a:ea typeface="+mj-ea"/>
              </a:rPr>
              <a:t>（中国製グッズ製造委託）</a:t>
            </a:r>
          </a:p>
          <a:p>
            <a:r>
              <a:rPr sz="1100" b="1">
                <a:latin typeface="+mj-ea"/>
                <a:ea typeface="+mj-ea"/>
              </a:rPr>
              <a:t>各種メーカー</a:t>
            </a:r>
          </a:p>
          <a:p>
            <a:r>
              <a:rPr sz="1100" b="1">
                <a:latin typeface="+mj-ea"/>
                <a:ea typeface="+mj-ea"/>
              </a:rPr>
              <a:t>（アクリル・缶バッジ・紙・成形品）</a:t>
            </a:r>
          </a:p>
          <a:p>
            <a:r>
              <a:rPr sz="1100" b="1">
                <a:latin typeface="+mj-ea"/>
                <a:ea typeface="+mj-ea"/>
              </a:rPr>
              <a:t>ロイヤリティー支払先（版元）</a:t>
            </a: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082550"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100" b="1">
                <a:latin typeface="+mj-ea"/>
                <a:ea typeface="+mj-ea"/>
              </a:rPr>
              <a:t>㈱セガ</a:t>
            </a:r>
            <a:endParaRPr kumimoji="1" lang="en-US" altLang="ja-JP" sz="1200" b="1" spc="50" dirty="0">
              <a:solidFill>
                <a:schemeClr val="tx1"/>
              </a:solidFill>
              <a:latin typeface="+mj-ea"/>
            </a:endParaRPr>
          </a:p>
          <a:p>
            <a:r>
              <a:rPr sz="1100" b="1">
                <a:latin typeface="+mj-ea"/>
                <a:ea typeface="+mj-ea"/>
              </a:rPr>
              <a:t>㈱KADOKAWA Game Linkage</a:t>
            </a:r>
          </a:p>
          <a:p>
            <a:r>
              <a:rPr sz="1100" b="1">
                <a:latin typeface="+mj-ea"/>
                <a:ea typeface="+mj-ea"/>
              </a:rPr>
              <a:t>㈱ムービック</a:t>
            </a:r>
          </a:p>
          <a:p>
            <a:r>
              <a:rPr sz="1100" b="1">
                <a:latin typeface="+mj-ea"/>
                <a:ea typeface="+mj-ea"/>
              </a:rPr>
              <a:t>㈱スモールプラネット 他</a:t>
            </a: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85906" y="3321256"/>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企画・開発</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6290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IP版元と</a:t>
            </a:r>
            <a:endParaRPr kumimoji="1" lang="en-US" altLang="ja-JP" sz="1100" dirty="0">
              <a:solidFill>
                <a:schemeClr val="tx1"/>
              </a:solidFill>
            </a:endParaRPr>
          </a:p>
          <a:p>
            <a:r>
              <a:rPr sz="1100">
                <a:latin typeface="游ゴシック"/>
                <a:ea typeface="游ゴシック"/>
              </a:rPr>
              <a:t>商品化企画</a:t>
            </a: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9135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オリジナル</a:t>
            </a:r>
            <a:endParaRPr kumimoji="1" lang="en-US" altLang="ja-JP" sz="1100" dirty="0">
              <a:solidFill>
                <a:schemeClr val="tx1"/>
              </a:solidFill>
            </a:endParaRPr>
          </a:p>
          <a:p>
            <a:r>
              <a:rPr sz="1100">
                <a:latin typeface="游ゴシック"/>
                <a:ea typeface="游ゴシック"/>
              </a:rPr>
              <a:t>くじ商品開発</a:t>
            </a:r>
          </a:p>
        </p:txBody>
      </p:sp>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製造委託</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海外(中国等)</a:t>
            </a:r>
          </a:p>
          <a:p>
            <a:r>
              <a:rPr sz="1100">
                <a:latin typeface="游ゴシック"/>
                <a:ea typeface="游ゴシック"/>
              </a:rPr>
              <a:t>メーカーへ委託</a:t>
            </a: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国内</a:t>
            </a:r>
          </a:p>
          <a:p>
            <a:r>
              <a:rPr sz="1100">
                <a:latin typeface="游ゴシック"/>
                <a:ea typeface="游ゴシック"/>
              </a:rPr>
              <a:t>専門メーカー</a:t>
            </a:r>
          </a:p>
        </p:txBody>
      </p:sp>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4369959"/>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販売</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版元・卸・EC</a:t>
            </a:r>
            <a:endParaRPr kumimoji="1" lang="en-US" altLang="ja-JP" sz="1100" dirty="0">
              <a:solidFill>
                <a:schemeClr val="tx1"/>
              </a:solidFill>
            </a:endParaRPr>
          </a:p>
          <a:p>
            <a:r>
              <a:rPr sz="1100">
                <a:latin typeface="游ゴシック"/>
                <a:ea typeface="游ゴシック"/>
              </a:rPr>
              <a:t>へB2B販売</a:t>
            </a: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くじ・グッズ</a:t>
            </a:r>
            <a:endParaRPr kumimoji="1" lang="en-US" altLang="ja-JP" sz="1100" dirty="0">
              <a:solidFill>
                <a:schemeClr val="tx1"/>
              </a:solidFill>
            </a:endParaRPr>
          </a:p>
          <a:p>
            <a:r>
              <a:rPr sz="1100">
                <a:latin typeface="游ゴシック"/>
                <a:ea typeface="游ゴシック"/>
              </a:rPr>
              <a:t>の企画販売</a:t>
            </a:r>
          </a:p>
        </p:txBody>
      </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46901" y="6351122"/>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000" b="1">
                <a:latin typeface="+mj-ea"/>
                <a:ea typeface="+mj-ea"/>
              </a:rPr>
              <a:t>海外メーカー</a:t>
            </a:r>
            <a:endParaRPr kumimoji="1" lang="en-US" altLang="ja-JP" sz="1200" b="1" spc="50" dirty="0">
              <a:solidFill>
                <a:schemeClr val="tx1"/>
              </a:solidFill>
              <a:latin typeface="+mj-ea"/>
            </a:endParaRPr>
          </a:p>
          <a:p>
            <a:r>
              <a:rPr sz="1000" b="1">
                <a:latin typeface="+mj-ea"/>
                <a:ea typeface="+mj-ea"/>
              </a:rPr>
              <a:t>（中国等）</a:t>
            </a:r>
          </a:p>
        </p:txBody>
      </p:sp>
      <p:sp>
        <p:nvSpPr>
          <p:cNvPr id="26" name="正方形/長方形 25">
            <a:extLst>
              <a:ext uri="{FF2B5EF4-FFF2-40B4-BE49-F238E27FC236}">
                <a16:creationId xmlns:a16="http://schemas.microsoft.com/office/drawing/2014/main" id="{9C061C40-9401-AAF5-F431-12A37BDB4C30}"/>
              </a:ext>
            </a:extLst>
          </p:cNvPr>
          <p:cNvSpPr/>
          <p:nvPr/>
        </p:nvSpPr>
        <p:spPr>
          <a:xfrm>
            <a:off x="5306901" y="6348318"/>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000" b="1">
                <a:latin typeface="+mj-ea"/>
                <a:ea typeface="+mj-ea"/>
              </a:rPr>
              <a:t>国内専門メーカー</a:t>
            </a:r>
            <a:endParaRPr kumimoji="1" lang="en-US" altLang="ja-JP" sz="1200" b="1" spc="50" dirty="0">
              <a:solidFill>
                <a:schemeClr val="tx1"/>
              </a:solidFill>
              <a:latin typeface="+mj-ea"/>
            </a:endParaRPr>
          </a:p>
          <a:p>
            <a:r>
              <a:rPr sz="1000" b="1">
                <a:latin typeface="+mj-ea"/>
                <a:ea typeface="+mj-ea"/>
              </a:rPr>
              <a:t>（アクリル・缶バッジ等）</a:t>
            </a: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a:latin typeface="+mj-ea"/>
                <a:ea typeface="+mj-ea"/>
              </a:rPr>
              <a:t>版権元(IPホルダー)との商品化企画から、海外・国内メーカーへの製造委託、版元・卸・ECへの販売までを一気通貫で手掛けるファブレス型のB2Bモデルです。</a:t>
            </a:r>
            <a:endParaRPr lang="en-US" altLang="ja-JP" dirty="0"/>
          </a:p>
        </p:txBody>
      </p:sp>
    </p:spTree>
    <p:extLst>
      <p:ext uri="{BB962C8B-B14F-4D97-AF65-F5344CB8AC3E}">
        <p14:creationId xmlns:p14="http://schemas.microsoft.com/office/powerpoint/2010/main" val="538383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a:ea typeface="游ゴシック"/>
              </a:rPr>
              <a:t>サービス・商品概要</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5" name="正方形/長方形 4">
            <a:extLst>
              <a:ext uri="{FF2B5EF4-FFF2-40B4-BE49-F238E27FC236}">
                <a16:creationId xmlns:a16="http://schemas.microsoft.com/office/drawing/2014/main" id="{E043E0C5-169B-2439-2B33-8AC6FEC5CBAE}"/>
              </a:ext>
            </a:extLst>
          </p:cNvPr>
          <p:cNvSpPr/>
          <p:nvPr/>
        </p:nvSpPr>
        <p:spPr>
          <a:xfrm>
            <a:off x="311150" y="1560000"/>
            <a:ext cx="5050000" cy="52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100">
                <a:solidFill>
                  <a:srgbClr val="0B3041"/>
                </a:solidFill>
                <a:latin typeface="游ゴシック"/>
                <a:ea typeface="游ゴシック"/>
              </a:rPr>
              <a:t>■ 主力サービス</a:t>
            </a:r>
            <a:endParaRPr kumimoji="1" lang="en-US" altLang="ja-JP" dirty="0">
              <a:solidFill>
                <a:srgbClr val="FF0000"/>
              </a:solidFill>
            </a:endParaRPr>
          </a:p>
          <a:p>
            <a:pPr algn="l"/>
            <a:r>
              <a:rPr sz="1100">
                <a:solidFill>
                  <a:srgbClr val="0B3041"/>
                </a:solidFill>
                <a:latin typeface="游ゴシック"/>
                <a:ea typeface="游ゴシック"/>
              </a:rPr>
              <a:t>・アニメ／ゲームIPを活用したキャラクターグッズ（アクリルスタンド、缶バッジ、アパレル雑貨等）の企画・製造・販売</a:t>
            </a:r>
          </a:p>
          <a:p>
            <a:pPr algn="l"/>
            <a:r>
              <a:rPr sz="1100">
                <a:solidFill>
                  <a:srgbClr val="0B3041"/>
                </a:solidFill>
                <a:latin typeface="游ゴシック"/>
                <a:ea typeface="游ゴシック"/>
              </a:rPr>
              <a:t>・大手IPホルダーとの商品化契約に基づく受注制作（版権使用）</a:t>
            </a:r>
          </a:p>
          <a:p>
            <a:pPr algn="l"/>
            <a:endParaRPr sz="1100">
              <a:solidFill>
                <a:srgbClr val="0B3041"/>
              </a:solidFill>
              <a:latin typeface="游ゴシック"/>
              <a:ea typeface="游ゴシック"/>
            </a:endParaRPr>
          </a:p>
          <a:p>
            <a:pPr algn="l"/>
            <a:r>
              <a:rPr sz="1100">
                <a:solidFill>
                  <a:srgbClr val="0B3041"/>
                </a:solidFill>
                <a:latin typeface="游ゴシック"/>
                <a:ea typeface="游ゴシック"/>
              </a:rPr>
              <a:t>■ 自社オリジナル商品</a:t>
            </a:r>
          </a:p>
          <a:p>
            <a:pPr algn="l"/>
            <a:r>
              <a:rPr sz="1100">
                <a:solidFill>
                  <a:srgbClr val="0B3041"/>
                </a:solidFill>
                <a:latin typeface="游ゴシック"/>
                <a:ea typeface="游ゴシック"/>
              </a:rPr>
              <a:t>・くじ商品「スターくじ」「あたりツキ！」シリーズを自社ブランドで展開</a:t>
            </a:r>
          </a:p>
          <a:p>
            <a:pPr algn="l"/>
            <a:endParaRPr sz="1100">
              <a:solidFill>
                <a:srgbClr val="0B3041"/>
              </a:solidFill>
              <a:latin typeface="游ゴシック"/>
              <a:ea typeface="游ゴシック"/>
            </a:endParaRPr>
          </a:p>
          <a:p>
            <a:pPr algn="l"/>
            <a:r>
              <a:rPr sz="1100">
                <a:solidFill>
                  <a:srgbClr val="0B3041"/>
                </a:solidFill>
                <a:latin typeface="游ゴシック"/>
                <a:ea typeface="游ゴシック"/>
              </a:rPr>
              <a:t>■ 供給体制（ファブレス）</a:t>
            </a:r>
          </a:p>
          <a:p>
            <a:pPr algn="l"/>
            <a:r>
              <a:rPr sz="1100">
                <a:solidFill>
                  <a:srgbClr val="0B3041"/>
                </a:solidFill>
                <a:latin typeface="游ゴシック"/>
                <a:ea typeface="游ゴシック"/>
              </a:rPr>
              <a:t>・企画／デザインは自社、製造は中国等海外メーカーおよび国内専門メーカーへ委託</a:t>
            </a:r>
          </a:p>
          <a:p>
            <a:pPr algn="l"/>
            <a:r>
              <a:rPr sz="1100">
                <a:solidFill>
                  <a:srgbClr val="0B3041"/>
                </a:solidFill>
                <a:latin typeface="游ゴシック"/>
                <a:ea typeface="游ゴシック"/>
              </a:rPr>
              <a:t>・アクリル・缶バッジ・紙・成形品・ぬいぐるみ等、商材に応じた複数の製造パートナーを確保</a:t>
            </a:r>
          </a:p>
          <a:p>
            <a:pPr algn="l"/>
            <a:endParaRPr sz="1100">
              <a:solidFill>
                <a:srgbClr val="0B3041"/>
              </a:solidFill>
              <a:latin typeface="游ゴシック"/>
              <a:ea typeface="游ゴシック"/>
            </a:endParaRPr>
          </a:p>
        </p:txBody>
      </p:sp>
      <p:sp>
        <p:nvSpPr>
          <p:cNvPr id="6" name="TextBox 5"/>
          <p:cNvSpPr txBox="1"/>
          <p:nvPr/>
        </p:nvSpPr>
        <p:spPr>
          <a:xfrm>
            <a:off x="5600000" y="1300000"/>
            <a:ext cx="4880000" cy="260000"/>
          </a:xfrm>
          <a:prstGeom prst="rect">
            <a:avLst/>
          </a:prstGeom>
          <a:noFill/>
        </p:spPr>
        <p:txBody>
          <a:bodyPr wrap="none">
            <a:spAutoFit/>
          </a:bodyPr>
          <a:lstStyle/>
          <a:p>
            <a:r>
              <a:rPr sz="1200" b="1">
                <a:solidFill>
                  <a:srgbClr val="0B3041"/>
                </a:solidFill>
                <a:latin typeface="游ゴシック"/>
              </a:rPr>
              <a:t>主な取扱商品（OEM）</a:t>
            </a:r>
          </a:p>
        </p:txBody>
      </p:sp>
      <p:pic>
        <p:nvPicPr>
          <p:cNvPr id="7" name="Picture 6" descr="OEM_1.jpg"/>
          <p:cNvPicPr>
            <a:picLocks noChangeAspect="1"/>
          </p:cNvPicPr>
          <p:nvPr/>
        </p:nvPicPr>
        <p:blipFill>
          <a:blip r:embed="rId3"/>
          <a:stretch>
            <a:fillRect/>
          </a:stretch>
        </p:blipFill>
        <p:spPr>
          <a:xfrm>
            <a:off x="5611429" y="1620000"/>
            <a:ext cx="2357142" cy="1650000"/>
          </a:xfrm>
          <a:prstGeom prst="rect">
            <a:avLst/>
          </a:prstGeom>
        </p:spPr>
      </p:pic>
      <p:pic>
        <p:nvPicPr>
          <p:cNvPr id="8" name="Picture 7" descr="OEM_2.jpg"/>
          <p:cNvPicPr>
            <a:picLocks noChangeAspect="1"/>
          </p:cNvPicPr>
          <p:nvPr/>
        </p:nvPicPr>
        <p:blipFill>
          <a:blip r:embed="rId4"/>
          <a:stretch>
            <a:fillRect/>
          </a:stretch>
        </p:blipFill>
        <p:spPr>
          <a:xfrm>
            <a:off x="8111429" y="1620000"/>
            <a:ext cx="2357142" cy="1650000"/>
          </a:xfrm>
          <a:prstGeom prst="rect">
            <a:avLst/>
          </a:prstGeom>
        </p:spPr>
      </p:pic>
      <p:pic>
        <p:nvPicPr>
          <p:cNvPr id="9" name="Picture 8" descr="OEM_3.jpg"/>
          <p:cNvPicPr>
            <a:picLocks noChangeAspect="1"/>
          </p:cNvPicPr>
          <p:nvPr/>
        </p:nvPicPr>
        <p:blipFill>
          <a:blip r:embed="rId5"/>
          <a:stretch>
            <a:fillRect/>
          </a:stretch>
        </p:blipFill>
        <p:spPr>
          <a:xfrm>
            <a:off x="5611429" y="3360000"/>
            <a:ext cx="2357142" cy="1650000"/>
          </a:xfrm>
          <a:prstGeom prst="rect">
            <a:avLst/>
          </a:prstGeom>
        </p:spPr>
      </p:pic>
      <p:pic>
        <p:nvPicPr>
          <p:cNvPr id="10" name="Picture 9" descr="OEM_5.jpg"/>
          <p:cNvPicPr>
            <a:picLocks noChangeAspect="1"/>
          </p:cNvPicPr>
          <p:nvPr/>
        </p:nvPicPr>
        <p:blipFill>
          <a:blip r:embed="rId6"/>
          <a:stretch>
            <a:fillRect/>
          </a:stretch>
        </p:blipFill>
        <p:spPr>
          <a:xfrm>
            <a:off x="8465000" y="3360000"/>
            <a:ext cx="1650000" cy="1650000"/>
          </a:xfrm>
          <a:prstGeom prst="rect">
            <a:avLst/>
          </a:prstGeom>
        </p:spPr>
      </p:pic>
      <p:pic>
        <p:nvPicPr>
          <p:cNvPr id="11" name="Picture 10" descr="OEM_7.jpg"/>
          <p:cNvPicPr>
            <a:picLocks noChangeAspect="1"/>
          </p:cNvPicPr>
          <p:nvPr/>
        </p:nvPicPr>
        <p:blipFill>
          <a:blip r:embed="rId7"/>
          <a:stretch>
            <a:fillRect/>
          </a:stretch>
        </p:blipFill>
        <p:spPr>
          <a:xfrm>
            <a:off x="5965000" y="5100000"/>
            <a:ext cx="1650000" cy="1650000"/>
          </a:xfrm>
          <a:prstGeom prst="rect">
            <a:avLst/>
          </a:prstGeom>
        </p:spPr>
      </p:pic>
      <p:pic>
        <p:nvPicPr>
          <p:cNvPr id="12" name="Picture 11" descr="OEM_9.jpg"/>
          <p:cNvPicPr>
            <a:picLocks noChangeAspect="1"/>
          </p:cNvPicPr>
          <p:nvPr/>
        </p:nvPicPr>
        <p:blipFill>
          <a:blip r:embed="rId8"/>
          <a:stretch>
            <a:fillRect/>
          </a:stretch>
        </p:blipFill>
        <p:spPr>
          <a:xfrm>
            <a:off x="8465000" y="5100000"/>
            <a:ext cx="1650000" cy="1650000"/>
          </a:xfrm>
          <a:prstGeom prst="rect">
            <a:avLst/>
          </a:prstGeom>
        </p:spPr>
      </p:pic>
    </p:spTree>
    <p:extLst>
      <p:ext uri="{BB962C8B-B14F-4D97-AF65-F5344CB8AC3E}">
        <p14:creationId xmlns:p14="http://schemas.microsoft.com/office/powerpoint/2010/main" val="252751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a:ea typeface="游ゴシック"/>
              </a:rPr>
              <a:t>主な制作実績（取扱IP）</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4" name="TextBox 3"/>
          <p:cNvSpPr txBox="1"/>
          <p:nvPr/>
        </p:nvSpPr>
        <p:spPr>
          <a:xfrm>
            <a:off x="460675" y="820000"/>
            <a:ext cx="9781875" cy="430000"/>
          </a:xfrm>
          <a:prstGeom prst="rect">
            <a:avLst/>
          </a:prstGeom>
          <a:noFill/>
        </p:spPr>
        <p:txBody>
          <a:bodyPr wrap="square">
            <a:spAutoFit/>
          </a:bodyPr>
          <a:lstStyle/>
          <a:p>
            <a:r>
              <a:rPr sz="1200">
                <a:latin typeface="游ゴシック"/>
              </a:rPr>
              <a:t>アニメ・ゲームの人気IPを中心に、これまで多数の作品でキャラクターグッズの企画・製造を手掛けてきました（下記は公開されている制作実績の一部）。</a:t>
            </a:r>
          </a:p>
        </p:txBody>
      </p:sp>
      <p:pic>
        <p:nvPicPr>
          <p:cNvPr id="5" name="Picture 4" descr="banner_sao.jpg"/>
          <p:cNvPicPr>
            <a:picLocks noChangeAspect="1"/>
          </p:cNvPicPr>
          <p:nvPr/>
        </p:nvPicPr>
        <p:blipFill>
          <a:blip r:embed="rId2"/>
          <a:stretch>
            <a:fillRect/>
          </a:stretch>
        </p:blipFill>
        <p:spPr>
          <a:xfrm>
            <a:off x="311150" y="1580000"/>
            <a:ext cx="2427500" cy="633260"/>
          </a:xfrm>
          <a:prstGeom prst="rect">
            <a:avLst/>
          </a:prstGeom>
        </p:spPr>
      </p:pic>
      <p:pic>
        <p:nvPicPr>
          <p:cNvPr id="6" name="Picture 5" descr="banner_ghoul.jpg"/>
          <p:cNvPicPr>
            <a:picLocks noChangeAspect="1"/>
          </p:cNvPicPr>
          <p:nvPr/>
        </p:nvPicPr>
        <p:blipFill>
          <a:blip r:embed="rId3"/>
          <a:stretch>
            <a:fillRect/>
          </a:stretch>
        </p:blipFill>
        <p:spPr>
          <a:xfrm>
            <a:off x="2858650" y="1580000"/>
            <a:ext cx="2427500" cy="633260"/>
          </a:xfrm>
          <a:prstGeom prst="rect">
            <a:avLst/>
          </a:prstGeom>
        </p:spPr>
      </p:pic>
      <p:pic>
        <p:nvPicPr>
          <p:cNvPr id="7" name="Picture 6" descr="banner_haikyu.jpg"/>
          <p:cNvPicPr>
            <a:picLocks noChangeAspect="1"/>
          </p:cNvPicPr>
          <p:nvPr/>
        </p:nvPicPr>
        <p:blipFill>
          <a:blip r:embed="rId4"/>
          <a:stretch>
            <a:fillRect/>
          </a:stretch>
        </p:blipFill>
        <p:spPr>
          <a:xfrm>
            <a:off x="5406150" y="1580000"/>
            <a:ext cx="2427500" cy="633260"/>
          </a:xfrm>
          <a:prstGeom prst="rect">
            <a:avLst/>
          </a:prstGeom>
        </p:spPr>
      </p:pic>
      <p:pic>
        <p:nvPicPr>
          <p:cNvPr id="8" name="Picture 7" descr="banner_psychopass.jpg"/>
          <p:cNvPicPr>
            <a:picLocks noChangeAspect="1"/>
          </p:cNvPicPr>
          <p:nvPr/>
        </p:nvPicPr>
        <p:blipFill>
          <a:blip r:embed="rId5"/>
          <a:stretch>
            <a:fillRect/>
          </a:stretch>
        </p:blipFill>
        <p:spPr>
          <a:xfrm>
            <a:off x="7953650" y="1580000"/>
            <a:ext cx="2427500" cy="633260"/>
          </a:xfrm>
          <a:prstGeom prst="rect">
            <a:avLst/>
          </a:prstGeom>
        </p:spPr>
      </p:pic>
      <p:pic>
        <p:nvPicPr>
          <p:cNvPr id="9" name="Picture 8" descr="banner_ansatsu.jpg"/>
          <p:cNvPicPr>
            <a:picLocks noChangeAspect="1"/>
          </p:cNvPicPr>
          <p:nvPr/>
        </p:nvPicPr>
        <p:blipFill>
          <a:blip r:embed="rId6"/>
          <a:stretch>
            <a:fillRect/>
          </a:stretch>
        </p:blipFill>
        <p:spPr>
          <a:xfrm>
            <a:off x="311150" y="2363260"/>
            <a:ext cx="2427500" cy="633260"/>
          </a:xfrm>
          <a:prstGeom prst="rect">
            <a:avLst/>
          </a:prstGeom>
        </p:spPr>
      </p:pic>
      <p:pic>
        <p:nvPicPr>
          <p:cNvPr id="10" name="Picture 9" descr="banner_kimiuso.jpg"/>
          <p:cNvPicPr>
            <a:picLocks noChangeAspect="1"/>
          </p:cNvPicPr>
          <p:nvPr/>
        </p:nvPicPr>
        <p:blipFill>
          <a:blip r:embed="rId7"/>
          <a:stretch>
            <a:fillRect/>
          </a:stretch>
        </p:blipFill>
        <p:spPr>
          <a:xfrm>
            <a:off x="2858650" y="2363260"/>
            <a:ext cx="2427500" cy="633260"/>
          </a:xfrm>
          <a:prstGeom prst="rect">
            <a:avLst/>
          </a:prstGeom>
        </p:spPr>
      </p:pic>
      <p:pic>
        <p:nvPicPr>
          <p:cNvPr id="11" name="Picture 10" descr="banner_ngnl.jpg"/>
          <p:cNvPicPr>
            <a:picLocks noChangeAspect="1"/>
          </p:cNvPicPr>
          <p:nvPr/>
        </p:nvPicPr>
        <p:blipFill>
          <a:blip r:embed="rId8"/>
          <a:stretch>
            <a:fillRect/>
          </a:stretch>
        </p:blipFill>
        <p:spPr>
          <a:xfrm>
            <a:off x="5406150" y="2363260"/>
            <a:ext cx="2427500" cy="633260"/>
          </a:xfrm>
          <a:prstGeom prst="rect">
            <a:avLst/>
          </a:prstGeom>
        </p:spPr>
      </p:pic>
      <p:pic>
        <p:nvPicPr>
          <p:cNvPr id="12" name="Picture 11" descr="banner_nozaki.jpg"/>
          <p:cNvPicPr>
            <a:picLocks noChangeAspect="1"/>
          </p:cNvPicPr>
          <p:nvPr/>
        </p:nvPicPr>
        <p:blipFill>
          <a:blip r:embed="rId9"/>
          <a:stretch>
            <a:fillRect/>
          </a:stretch>
        </p:blipFill>
        <p:spPr>
          <a:xfrm>
            <a:off x="7953650" y="2363260"/>
            <a:ext cx="2427500" cy="633260"/>
          </a:xfrm>
          <a:prstGeom prst="rect">
            <a:avLst/>
          </a:prstGeom>
        </p:spPr>
      </p:pic>
      <p:pic>
        <p:nvPicPr>
          <p:cNvPr id="13" name="Picture 12" descr="banner_aceofdiamond.jpg"/>
          <p:cNvPicPr>
            <a:picLocks noChangeAspect="1"/>
          </p:cNvPicPr>
          <p:nvPr/>
        </p:nvPicPr>
        <p:blipFill>
          <a:blip r:embed="rId10"/>
          <a:stretch>
            <a:fillRect/>
          </a:stretch>
        </p:blipFill>
        <p:spPr>
          <a:xfrm>
            <a:off x="311150" y="3146520"/>
            <a:ext cx="2427500" cy="633260"/>
          </a:xfrm>
          <a:prstGeom prst="rect">
            <a:avLst/>
          </a:prstGeom>
        </p:spPr>
      </p:pic>
      <p:pic>
        <p:nvPicPr>
          <p:cNvPr id="14" name="Picture 13" descr="banner_kamihaji.jpg"/>
          <p:cNvPicPr>
            <a:picLocks noChangeAspect="1"/>
          </p:cNvPicPr>
          <p:nvPr/>
        </p:nvPicPr>
        <p:blipFill>
          <a:blip r:embed="rId11"/>
          <a:stretch>
            <a:fillRect/>
          </a:stretch>
        </p:blipFill>
        <p:spPr>
          <a:xfrm>
            <a:off x="2858650" y="3146520"/>
            <a:ext cx="2427500" cy="633260"/>
          </a:xfrm>
          <a:prstGeom prst="rect">
            <a:avLst/>
          </a:prstGeom>
        </p:spPr>
      </p:pic>
      <p:pic>
        <p:nvPicPr>
          <p:cNvPr id="15" name="Picture 14" descr="banner_arpeggio.jpg"/>
          <p:cNvPicPr>
            <a:picLocks noChangeAspect="1"/>
          </p:cNvPicPr>
          <p:nvPr/>
        </p:nvPicPr>
        <p:blipFill>
          <a:blip r:embed="rId12"/>
          <a:stretch>
            <a:fillRect/>
          </a:stretch>
        </p:blipFill>
        <p:spPr>
          <a:xfrm>
            <a:off x="5406150" y="3146520"/>
            <a:ext cx="2427500" cy="633260"/>
          </a:xfrm>
          <a:prstGeom prst="rect">
            <a:avLst/>
          </a:prstGeom>
        </p:spPr>
      </p:pic>
      <p:pic>
        <p:nvPicPr>
          <p:cNvPr id="16" name="Picture 15" descr="banner_personaq.jpg"/>
          <p:cNvPicPr>
            <a:picLocks noChangeAspect="1"/>
          </p:cNvPicPr>
          <p:nvPr/>
        </p:nvPicPr>
        <p:blipFill>
          <a:blip r:embed="rId13"/>
          <a:stretch>
            <a:fillRect/>
          </a:stretch>
        </p:blipFill>
        <p:spPr>
          <a:xfrm>
            <a:off x="7953650" y="3146520"/>
            <a:ext cx="2427500" cy="633260"/>
          </a:xfrm>
          <a:prstGeom prst="rect">
            <a:avLst/>
          </a:prstGeom>
        </p:spPr>
      </p:pic>
      <p:pic>
        <p:nvPicPr>
          <p:cNvPr id="17" name="Picture 16" descr="banner_dlmb.jpg"/>
          <p:cNvPicPr>
            <a:picLocks noChangeAspect="1"/>
          </p:cNvPicPr>
          <p:nvPr/>
        </p:nvPicPr>
        <p:blipFill>
          <a:blip r:embed="rId14"/>
          <a:stretch>
            <a:fillRect/>
          </a:stretch>
        </p:blipFill>
        <p:spPr>
          <a:xfrm>
            <a:off x="311150" y="3929780"/>
            <a:ext cx="2427500" cy="633260"/>
          </a:xfrm>
          <a:prstGeom prst="rect">
            <a:avLst/>
          </a:prstGeom>
        </p:spPr>
      </p:pic>
      <p:pic>
        <p:nvPicPr>
          <p:cNvPr id="18" name="Picture 17" descr="banner_ookami.jpg"/>
          <p:cNvPicPr>
            <a:picLocks noChangeAspect="1"/>
          </p:cNvPicPr>
          <p:nvPr/>
        </p:nvPicPr>
        <p:blipFill>
          <a:blip r:embed="rId15"/>
          <a:stretch>
            <a:fillRect/>
          </a:stretch>
        </p:blipFill>
        <p:spPr>
          <a:xfrm>
            <a:off x="2858650" y="3929780"/>
            <a:ext cx="2427500" cy="633260"/>
          </a:xfrm>
          <a:prstGeom prst="rect">
            <a:avLst/>
          </a:prstGeom>
        </p:spPr>
      </p:pic>
      <p:pic>
        <p:nvPicPr>
          <p:cNvPr id="19" name="Picture 18" descr="banner_wtg.jpg"/>
          <p:cNvPicPr>
            <a:picLocks noChangeAspect="1"/>
          </p:cNvPicPr>
          <p:nvPr/>
        </p:nvPicPr>
        <p:blipFill>
          <a:blip r:embed="rId16"/>
          <a:stretch>
            <a:fillRect/>
          </a:stretch>
        </p:blipFill>
        <p:spPr>
          <a:xfrm>
            <a:off x="5406150" y="3929780"/>
            <a:ext cx="2427500" cy="633260"/>
          </a:xfrm>
          <a:prstGeom prst="rect">
            <a:avLst/>
          </a:prstGeom>
        </p:spPr>
      </p:pic>
      <p:pic>
        <p:nvPicPr>
          <p:cNvPr id="20" name="Picture 19" descr="banner_sbr.jpg"/>
          <p:cNvPicPr>
            <a:picLocks noChangeAspect="1"/>
          </p:cNvPicPr>
          <p:nvPr/>
        </p:nvPicPr>
        <p:blipFill>
          <a:blip r:embed="rId17"/>
          <a:stretch>
            <a:fillRect/>
          </a:stretch>
        </p:blipFill>
        <p:spPr>
          <a:xfrm>
            <a:off x="7953650" y="3929780"/>
            <a:ext cx="2427500" cy="633260"/>
          </a:xfrm>
          <a:prstGeom prst="rect">
            <a:avLst/>
          </a:prstGeom>
        </p:spPr>
      </p:pic>
      <p:pic>
        <p:nvPicPr>
          <p:cNvPr id="21" name="Picture 20" descr="banner_akame.jpg"/>
          <p:cNvPicPr>
            <a:picLocks noChangeAspect="1"/>
          </p:cNvPicPr>
          <p:nvPr/>
        </p:nvPicPr>
        <p:blipFill>
          <a:blip r:embed="rId18"/>
          <a:stretch>
            <a:fillRect/>
          </a:stretch>
        </p:blipFill>
        <p:spPr>
          <a:xfrm>
            <a:off x="311150" y="4713040"/>
            <a:ext cx="2427500" cy="633260"/>
          </a:xfrm>
          <a:prstGeom prst="rect">
            <a:avLst/>
          </a:prstGeom>
        </p:spPr>
      </p:pic>
      <p:pic>
        <p:nvPicPr>
          <p:cNvPr id="22" name="Picture 21" descr="banner_kokkuri.jpg"/>
          <p:cNvPicPr>
            <a:picLocks noChangeAspect="1"/>
          </p:cNvPicPr>
          <p:nvPr/>
        </p:nvPicPr>
        <p:blipFill>
          <a:blip r:embed="rId19"/>
          <a:stretch>
            <a:fillRect/>
          </a:stretch>
        </p:blipFill>
        <p:spPr>
          <a:xfrm>
            <a:off x="2858650" y="4713040"/>
            <a:ext cx="2427500" cy="633260"/>
          </a:xfrm>
          <a:prstGeom prst="rect">
            <a:avLst/>
          </a:prstGeom>
        </p:spPr>
      </p:pic>
      <p:pic>
        <p:nvPicPr>
          <p:cNvPr id="23" name="Picture 22" descr="banner_majikai.jpg"/>
          <p:cNvPicPr>
            <a:picLocks noChangeAspect="1"/>
          </p:cNvPicPr>
          <p:nvPr/>
        </p:nvPicPr>
        <p:blipFill>
          <a:blip r:embed="rId20"/>
          <a:stretch>
            <a:fillRect/>
          </a:stretch>
        </p:blipFill>
        <p:spPr>
          <a:xfrm>
            <a:off x="5406150" y="4713040"/>
            <a:ext cx="2427500" cy="633260"/>
          </a:xfrm>
          <a:prstGeom prst="rect">
            <a:avLst/>
          </a:prstGeom>
        </p:spPr>
      </p:pic>
      <p:pic>
        <p:nvPicPr>
          <p:cNvPr id="24" name="Picture 23" descr="banner_utena.jpg"/>
          <p:cNvPicPr>
            <a:picLocks noChangeAspect="1"/>
          </p:cNvPicPr>
          <p:nvPr/>
        </p:nvPicPr>
        <p:blipFill>
          <a:blip r:embed="rId21"/>
          <a:stretch>
            <a:fillRect/>
          </a:stretch>
        </p:blipFill>
        <p:spPr>
          <a:xfrm>
            <a:off x="7953650" y="4713040"/>
            <a:ext cx="2427500" cy="633260"/>
          </a:xfrm>
          <a:prstGeom prst="rect">
            <a:avLst/>
          </a:prstGeom>
        </p:spPr>
      </p:pic>
      <p:sp>
        <p:nvSpPr>
          <p:cNvPr id="25" name="TextBox 24"/>
          <p:cNvSpPr txBox="1"/>
          <p:nvPr/>
        </p:nvSpPr>
        <p:spPr>
          <a:xfrm>
            <a:off x="311150" y="5516300"/>
            <a:ext cx="10000000" cy="400000"/>
          </a:xfrm>
          <a:prstGeom prst="rect">
            <a:avLst/>
          </a:prstGeom>
          <a:noFill/>
        </p:spPr>
        <p:txBody>
          <a:bodyPr wrap="square">
            <a:spAutoFit/>
          </a:bodyPr>
          <a:lstStyle/>
          <a:p>
            <a:r>
              <a:rPr sz="950">
                <a:solidFill>
                  <a:srgbClr val="595959"/>
                </a:solidFill>
                <a:latin typeface="游ゴシック"/>
              </a:rPr>
              <a:t>※ 当社ウェブサイト等で公開されている制作実績の一部を掲載。各作品の著作権・商標権は各権利者に帰属します。</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大手IPホルダーとの継続取引</a:t>
            </a:r>
            <a:endParaRPr lang="en-US" altLang="ja-JP" sz="1600" b="1" spc="30" dirty="0">
              <a:solidFill>
                <a:schemeClr val="tx2"/>
              </a:solidFill>
              <a:latin typeface="+mj-ea"/>
              <a:ea typeface="+mj-ea"/>
            </a:endParaRPr>
          </a:p>
          <a:p>
            <a:pPr algn="l"/>
            <a:r>
              <a:rPr sz="1100" b="1">
                <a:latin typeface="+mj-ea"/>
                <a:ea typeface="+mj-ea"/>
              </a:rPr>
              <a:t>㈱セガ・㈱KADOKAWA Game Linkage・㈱ムービック等、アニメ・ゲームの大手版元と複数期にわたる継続的な商品化取引を有し、安定した受注基盤を構築。</a:t>
            </a: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企画力と海外製造ネットワークの両立</a:t>
            </a:r>
            <a:endParaRPr lang="en-US" altLang="ja-JP" sz="1600" b="1" spc="30" dirty="0">
              <a:solidFill>
                <a:schemeClr val="tx2"/>
              </a:solidFill>
              <a:latin typeface="+mj-ea"/>
              <a:ea typeface="+mj-ea"/>
            </a:endParaRPr>
          </a:p>
          <a:p>
            <a:pPr algn="l"/>
            <a:r>
              <a:rPr sz="1100" b="1">
                <a:latin typeface="+mj-ea"/>
                <a:ea typeface="+mj-ea"/>
              </a:rPr>
              <a:t>自社で企画・デザインを行いつつ、中国等の海外メーカーと国内専門メーカーを使い分けるファブレス体制により、少数精鋭で高い生産性（従業員7名で売上422百万円）を実現。自社オリジナルくじ商品による独自の商品開発力も有する。</a:t>
            </a: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IP市場の拡大と顧客・商材の拡張余地</a:t>
            </a:r>
            <a:endParaRPr lang="en-US" altLang="ja-JP" sz="1600" b="1" spc="30" dirty="0">
              <a:solidFill>
                <a:schemeClr val="tx2"/>
              </a:solidFill>
              <a:latin typeface="+mj-ea"/>
              <a:ea typeface="+mj-ea"/>
            </a:endParaRPr>
          </a:p>
          <a:p>
            <a:pPr algn="l"/>
            <a:r>
              <a:rPr sz="1100" b="1">
                <a:latin typeface="+mj-ea"/>
                <a:ea typeface="+mj-ea"/>
              </a:rPr>
              <a:t>アニメ・ゲームIP市場は国内外で拡大基調。特定顧客への集中度は、裏を返せば顧客基盤の多様化・新規IP開拓による成長余地。潤沢な自己資本を成長投資へ振り向ける余力も大きい。</a:t>
            </a: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主要販売先別 売上高推移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rPr>
              <a:t>上位顧客は大手IPホルダーが中心。令和8年1月期は最上位のセガ社が約48%を占める一方、上位10社の顔ぶれは各期で入れ替わり、幅広いIP案件への対応力を有します。</a:t>
            </a:r>
            <a:endParaRPr lang="en-US" altLang="ja-JP" dirty="0"/>
          </a:p>
        </p:txBody>
      </p:sp>
      <p:graphicFrame>
        <p:nvGraphicFramePr>
          <p:cNvPr id="14" name="Table 13"/>
          <p:cNvGraphicFramePr>
            <a:graphicFrameLocks noGrp="1"/>
          </p:cNvGraphicFramePr>
          <p:nvPr/>
        </p:nvGraphicFramePr>
        <p:xfrm>
          <a:off x="309600" y="1655999"/>
          <a:ext cx="9640799" cy="4211987"/>
        </p:xfrm>
        <a:graphic>
          <a:graphicData uri="http://schemas.openxmlformats.org/drawingml/2006/table">
            <a:tbl>
              <a:tblPr>
                <a:tableStyleId>{5C22544A-7EE6-4342-B048-85BDC9FD1C3A}</a:tableStyleId>
              </a:tblPr>
              <a:tblGrid>
                <a:gridCol w="2160000">
                  <a:extLst>
                    <a:ext uri="{9D8B030D-6E8A-4147-A177-3AD203B41FA5}">
                      <a16:colId xmlns:a16="http://schemas.microsoft.com/office/drawing/2014/main" val="20000"/>
                    </a:ext>
                  </a:extLst>
                </a:gridCol>
                <a:gridCol w="28008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224000">
                  <a:extLst>
                    <a:ext uri="{9D8B030D-6E8A-4147-A177-3AD203B41FA5}">
                      <a16:colId xmlns:a16="http://schemas.microsoft.com/office/drawing/2014/main" val="20004"/>
                    </a:ext>
                  </a:extLst>
                </a:gridCol>
                <a:gridCol w="1007999">
                  <a:extLst>
                    <a:ext uri="{9D8B030D-6E8A-4147-A177-3AD203B41FA5}">
                      <a16:colId xmlns:a16="http://schemas.microsoft.com/office/drawing/2014/main" val="20005"/>
                    </a:ext>
                  </a:extLst>
                </a:gridCol>
              </a:tblGrid>
              <a:tr h="323999">
                <a:tc>
                  <a:txBody>
                    <a:bodyPr/>
                    <a:lstStyle/>
                    <a:p>
                      <a:pPr algn="ctr"/>
                      <a:r>
                        <a:rPr sz="900" b="1">
                          <a:solidFill>
                            <a:srgbClr val="FFFFFF"/>
                          </a:solidFill>
                          <a:latin typeface="游ゴシック"/>
                          <a:ea typeface="游ゴシック"/>
                        </a:rPr>
                        <a:t>得意先</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取引内容</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令6/1期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令7/1期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令8/1期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構成比
(令8)</a:t>
                      </a:r>
                    </a:p>
                  </a:txBody>
                  <a:tcPr marL="36000" marR="36000" marT="7200" marB="7200" anchor="ctr">
                    <a:solidFill>
                      <a:srgbClr val="0B3041"/>
                    </a:solidFill>
                  </a:tcPr>
                </a:tc>
                <a:extLst>
                  <a:ext uri="{0D108BD9-81ED-4DB2-BD59-A6C34878D82A}">
                    <a16:rowId xmlns:a16="http://schemas.microsoft.com/office/drawing/2014/main" val="10000"/>
                  </a:ext>
                </a:extLst>
              </a:tr>
              <a:tr h="323999">
                <a:tc>
                  <a:txBody>
                    <a:bodyPr/>
                    <a:lstStyle/>
                    <a:p>
                      <a:pPr algn="l"/>
                      <a:r>
                        <a:rPr sz="900" b="0">
                          <a:solidFill>
                            <a:srgbClr val="0B3041"/>
                          </a:solidFill>
                          <a:latin typeface="游ゴシック"/>
                          <a:ea typeface="游ゴシック"/>
                        </a:rPr>
                        <a:t>㈱セガ</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33,802</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109,941</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202,069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47.8%</a:t>
                      </a:r>
                    </a:p>
                  </a:txBody>
                  <a:tcPr marL="36000" marR="36000" marT="7200" marB="7200" anchor="ctr">
                    <a:solidFill>
                      <a:srgbClr val="FFFFFF"/>
                    </a:solidFill>
                  </a:tcPr>
                </a:tc>
                <a:extLst>
                  <a:ext uri="{0D108BD9-81ED-4DB2-BD59-A6C34878D82A}">
                    <a16:rowId xmlns:a16="http://schemas.microsoft.com/office/drawing/2014/main" val="10001"/>
                  </a:ext>
                </a:extLst>
              </a:tr>
              <a:tr h="323999">
                <a:tc>
                  <a:txBody>
                    <a:bodyPr/>
                    <a:lstStyle/>
                    <a:p>
                      <a:pPr algn="l"/>
                      <a:r>
                        <a:rPr sz="900" b="0">
                          <a:solidFill>
                            <a:srgbClr val="0B3041"/>
                          </a:solidFill>
                          <a:latin typeface="游ゴシック"/>
                          <a:ea typeface="游ゴシック"/>
                        </a:rPr>
                        <a:t>㈱KADOKAWA Game Linkage</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84,037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69,227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60,264</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14.3%</a:t>
                      </a:r>
                    </a:p>
                  </a:txBody>
                  <a:tcPr marL="36000" marR="36000" marT="7200" marB="7200" anchor="ctr">
                    <a:solidFill>
                      <a:srgbClr val="F4F7F9"/>
                    </a:solidFill>
                  </a:tcPr>
                </a:tc>
                <a:extLst>
                  <a:ext uri="{0D108BD9-81ED-4DB2-BD59-A6C34878D82A}">
                    <a16:rowId xmlns:a16="http://schemas.microsoft.com/office/drawing/2014/main" val="10002"/>
                  </a:ext>
                </a:extLst>
              </a:tr>
              <a:tr h="323999">
                <a:tc>
                  <a:txBody>
                    <a:bodyPr/>
                    <a:lstStyle/>
                    <a:p>
                      <a:pPr algn="l"/>
                      <a:r>
                        <a:rPr sz="900" b="0">
                          <a:solidFill>
                            <a:srgbClr val="0B3041"/>
                          </a:solidFill>
                          <a:latin typeface="游ゴシック"/>
                          <a:ea typeface="游ゴシック"/>
                        </a:rPr>
                        <a:t>㈱ムービック</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28,015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36,033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43,808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10.4%</a:t>
                      </a:r>
                    </a:p>
                  </a:txBody>
                  <a:tcPr marL="36000" marR="36000" marT="7200" marB="7200" anchor="ctr">
                    <a:solidFill>
                      <a:srgbClr val="FFFFFF"/>
                    </a:solidFill>
                  </a:tcPr>
                </a:tc>
                <a:extLst>
                  <a:ext uri="{0D108BD9-81ED-4DB2-BD59-A6C34878D82A}">
                    <a16:rowId xmlns:a16="http://schemas.microsoft.com/office/drawing/2014/main" val="10003"/>
                  </a:ext>
                </a:extLst>
              </a:tr>
              <a:tr h="323999">
                <a:tc>
                  <a:txBody>
                    <a:bodyPr/>
                    <a:lstStyle/>
                    <a:p>
                      <a:pPr algn="l"/>
                      <a:r>
                        <a:rPr sz="900" b="0">
                          <a:solidFill>
                            <a:srgbClr val="0B3041"/>
                          </a:solidFill>
                          <a:latin typeface="游ゴシック"/>
                          <a:ea typeface="游ゴシック"/>
                        </a:rPr>
                        <a:t>㈱スモールプラネット</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42,546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10.1%</a:t>
                      </a:r>
                    </a:p>
                  </a:txBody>
                  <a:tcPr marL="36000" marR="36000" marT="7200" marB="7200" anchor="ctr">
                    <a:solidFill>
                      <a:srgbClr val="F4F7F9"/>
                    </a:solidFill>
                  </a:tcPr>
                </a:tc>
                <a:extLst>
                  <a:ext uri="{0D108BD9-81ED-4DB2-BD59-A6C34878D82A}">
                    <a16:rowId xmlns:a16="http://schemas.microsoft.com/office/drawing/2014/main" val="10004"/>
                  </a:ext>
                </a:extLst>
              </a:tr>
              <a:tr h="323999">
                <a:tc>
                  <a:txBody>
                    <a:bodyPr/>
                    <a:lstStyle/>
                    <a:p>
                      <a:pPr algn="l"/>
                      <a:r>
                        <a:rPr sz="900" b="0">
                          <a:solidFill>
                            <a:srgbClr val="0B3041"/>
                          </a:solidFill>
                          <a:latin typeface="游ゴシック"/>
                          <a:ea typeface="游ゴシック"/>
                        </a:rPr>
                        <a:t>杭州迷萌文化創意</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海外製造委託パートナー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15,180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69,086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33,677</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8.0%</a:t>
                      </a:r>
                    </a:p>
                  </a:txBody>
                  <a:tcPr marL="36000" marR="36000" marT="7200" marB="7200" anchor="ctr">
                    <a:solidFill>
                      <a:srgbClr val="FFFFFF"/>
                    </a:solidFill>
                  </a:tcPr>
                </a:tc>
                <a:extLst>
                  <a:ext uri="{0D108BD9-81ED-4DB2-BD59-A6C34878D82A}">
                    <a16:rowId xmlns:a16="http://schemas.microsoft.com/office/drawing/2014/main" val="10005"/>
                  </a:ext>
                </a:extLst>
              </a:tr>
              <a:tr h="323999">
                <a:tc>
                  <a:txBody>
                    <a:bodyPr/>
                    <a:lstStyle/>
                    <a:p>
                      <a:pPr algn="l"/>
                      <a:r>
                        <a:rPr sz="900" b="0">
                          <a:solidFill>
                            <a:srgbClr val="0B3041"/>
                          </a:solidFill>
                          <a:latin typeface="游ゴシック"/>
                          <a:ea typeface="游ゴシック"/>
                        </a:rPr>
                        <a:t>㈱ソル・インターナショナル</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34,096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24,322</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19,082</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4.5%</a:t>
                      </a:r>
                    </a:p>
                  </a:txBody>
                  <a:tcPr marL="36000" marR="36000" marT="7200" marB="7200" anchor="ctr">
                    <a:solidFill>
                      <a:srgbClr val="F4F7F9"/>
                    </a:solidFill>
                  </a:tcPr>
                </a:tc>
                <a:extLst>
                  <a:ext uri="{0D108BD9-81ED-4DB2-BD59-A6C34878D82A}">
                    <a16:rowId xmlns:a16="http://schemas.microsoft.com/office/drawing/2014/main" val="10006"/>
                  </a:ext>
                </a:extLst>
              </a:tr>
              <a:tr h="323999">
                <a:tc>
                  <a:txBody>
                    <a:bodyPr/>
                    <a:lstStyle/>
                    <a:p>
                      <a:pPr algn="l"/>
                      <a:r>
                        <a:rPr sz="900" b="0">
                          <a:solidFill>
                            <a:srgbClr val="0B3041"/>
                          </a:solidFill>
                          <a:latin typeface="游ゴシック"/>
                          <a:ea typeface="游ゴシック"/>
                        </a:rPr>
                        <a:t>㈱ケンメディア</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54,354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16,120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12,359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2.9%</a:t>
                      </a:r>
                    </a:p>
                  </a:txBody>
                  <a:tcPr marL="36000" marR="36000" marT="7200" marB="7200" anchor="ctr">
                    <a:solidFill>
                      <a:srgbClr val="FFFFFF"/>
                    </a:solidFill>
                  </a:tcPr>
                </a:tc>
                <a:extLst>
                  <a:ext uri="{0D108BD9-81ED-4DB2-BD59-A6C34878D82A}">
                    <a16:rowId xmlns:a16="http://schemas.microsoft.com/office/drawing/2014/main" val="10007"/>
                  </a:ext>
                </a:extLst>
              </a:tr>
              <a:tr h="323999">
                <a:tc>
                  <a:txBody>
                    <a:bodyPr/>
                    <a:lstStyle/>
                    <a:p>
                      <a:pPr algn="l"/>
                      <a:r>
                        <a:rPr sz="900" b="0">
                          <a:solidFill>
                            <a:srgbClr val="0B3041"/>
                          </a:solidFill>
                          <a:latin typeface="游ゴシック"/>
                          <a:ea typeface="游ゴシック"/>
                        </a:rPr>
                        <a:t>㈱KADOKAWA</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3,878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2,050</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0.5%</a:t>
                      </a:r>
                    </a:p>
                  </a:txBody>
                  <a:tcPr marL="36000" marR="36000" marT="7200" marB="7200" anchor="ctr">
                    <a:solidFill>
                      <a:srgbClr val="F4F7F9"/>
                    </a:solidFill>
                  </a:tcPr>
                </a:tc>
                <a:extLst>
                  <a:ext uri="{0D108BD9-81ED-4DB2-BD59-A6C34878D82A}">
                    <a16:rowId xmlns:a16="http://schemas.microsoft.com/office/drawing/2014/main" val="10008"/>
                  </a:ext>
                </a:extLst>
              </a:tr>
              <a:tr h="323999">
                <a:tc>
                  <a:txBody>
                    <a:bodyPr/>
                    <a:lstStyle/>
                    <a:p>
                      <a:pPr algn="l"/>
                      <a:r>
                        <a:rPr sz="900" b="0">
                          <a:solidFill>
                            <a:srgbClr val="0B3041"/>
                          </a:solidFill>
                          <a:latin typeface="游ゴシック"/>
                          <a:ea typeface="游ゴシック"/>
                        </a:rPr>
                        <a:t>㈱PHP JAPAN</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10,179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1,636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0.4%</a:t>
                      </a:r>
                    </a:p>
                  </a:txBody>
                  <a:tcPr marL="36000" marR="36000" marT="7200" marB="7200" anchor="ctr">
                    <a:solidFill>
                      <a:srgbClr val="FFFFFF"/>
                    </a:solidFill>
                  </a:tcPr>
                </a:tc>
                <a:extLst>
                  <a:ext uri="{0D108BD9-81ED-4DB2-BD59-A6C34878D82A}">
                    <a16:rowId xmlns:a16="http://schemas.microsoft.com/office/drawing/2014/main" val="10009"/>
                  </a:ext>
                </a:extLst>
              </a:tr>
              <a:tr h="323999">
                <a:tc>
                  <a:txBody>
                    <a:bodyPr/>
                    <a:lstStyle/>
                    <a:p>
                      <a:pPr algn="l"/>
                      <a:r>
                        <a:rPr sz="900" b="0">
                          <a:solidFill>
                            <a:srgbClr val="0B3041"/>
                          </a:solidFill>
                          <a:latin typeface="游ゴシック"/>
                          <a:ea typeface="游ゴシック"/>
                        </a:rPr>
                        <a:t>花禾㈱</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1,525</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0.4%</a:t>
                      </a:r>
                    </a:p>
                  </a:txBody>
                  <a:tcPr marL="36000" marR="36000" marT="7200" marB="7200" anchor="ctr">
                    <a:solidFill>
                      <a:srgbClr val="F4F7F9"/>
                    </a:solidFill>
                  </a:tcPr>
                </a:tc>
                <a:extLst>
                  <a:ext uri="{0D108BD9-81ED-4DB2-BD59-A6C34878D82A}">
                    <a16:rowId xmlns:a16="http://schemas.microsoft.com/office/drawing/2014/main" val="10010"/>
                  </a:ext>
                </a:extLst>
              </a:tr>
              <a:tr h="323999">
                <a:tc>
                  <a:txBody>
                    <a:bodyPr/>
                    <a:lstStyle/>
                    <a:p>
                      <a:pPr algn="l"/>
                      <a:r>
                        <a:rPr sz="900" b="0">
                          <a:solidFill>
                            <a:srgbClr val="0B3041"/>
                          </a:solidFill>
                          <a:latin typeface="游ゴシック"/>
                          <a:ea typeface="游ゴシック"/>
                        </a:rPr>
                        <a:t>その他(上位10社以外)</a:t>
                      </a:r>
                    </a:p>
                  </a:txBody>
                  <a:tcPr marL="36000" marR="36000" marT="7200" marB="7200" anchor="ctr">
                    <a:solidFill>
                      <a:srgbClr val="FFFFFF"/>
                    </a:solidFill>
                  </a:tcPr>
                </a:tc>
                <a:tc>
                  <a:txBody>
                    <a:bodyPr/>
                    <a:lstStyle/>
                    <a:p>
                      <a:pPr algn="l"/>
                      <a:endParaRP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63,394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108,960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3,458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0.8%</a:t>
                      </a:r>
                    </a:p>
                  </a:txBody>
                  <a:tcPr marL="36000" marR="36000" marT="7200" marB="7200" anchor="ctr">
                    <a:solidFill>
                      <a:srgbClr val="FFFFFF"/>
                    </a:solidFill>
                  </a:tcPr>
                </a:tc>
                <a:extLst>
                  <a:ext uri="{0D108BD9-81ED-4DB2-BD59-A6C34878D82A}">
                    <a16:rowId xmlns:a16="http://schemas.microsoft.com/office/drawing/2014/main" val="10011"/>
                  </a:ext>
                </a:extLst>
              </a:tr>
              <a:tr h="323999">
                <a:tc>
                  <a:txBody>
                    <a:bodyPr/>
                    <a:lstStyle/>
                    <a:p>
                      <a:pPr algn="l"/>
                      <a:r>
                        <a:rPr sz="9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l"/>
                      <a:endParaRP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316,755</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443,868</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422,475</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100.0%</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88634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仕入先別取引高</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rPr>
              <a:t>製造は中国等海外の貿易商社・メーカーへの委託が中心。アクリル・缶バッジ・紙・成形品等、商材ごとに国内外の複数パートナーを確保し、特定先への依存を避けた調達体制です。</a:t>
            </a:r>
            <a:endParaRPr lang="en-US" altLang="ja-JP" dirty="0"/>
          </a:p>
        </p:txBody>
      </p:sp>
      <p:graphicFrame>
        <p:nvGraphicFramePr>
          <p:cNvPr id="16" name="Table 15"/>
          <p:cNvGraphicFramePr>
            <a:graphicFrameLocks noGrp="1"/>
          </p:cNvGraphicFramePr>
          <p:nvPr/>
        </p:nvGraphicFramePr>
        <p:xfrm>
          <a:off x="309600" y="1655999"/>
          <a:ext cx="9554400" cy="4211987"/>
        </p:xfrm>
        <a:graphic>
          <a:graphicData uri="http://schemas.openxmlformats.org/drawingml/2006/table">
            <a:tbl>
              <a:tblPr>
                <a:tableStyleId>{5C22544A-7EE6-4342-B048-85BDC9FD1C3A}</a:tableStyleId>
              </a:tblPr>
              <a:tblGrid>
                <a:gridCol w="48024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323999">
                <a:tc>
                  <a:txBody>
                    <a:bodyPr/>
                    <a:lstStyle/>
                    <a:p>
                      <a:pPr algn="ctr"/>
                      <a:r>
                        <a:rPr sz="900" b="1">
                          <a:solidFill>
                            <a:srgbClr val="FFFFFF"/>
                          </a:solidFill>
                          <a:latin typeface="游ゴシック"/>
                          <a:ea typeface="游ゴシック"/>
                        </a:rPr>
                        <a:t>仕入先（相手先名は非開示・内容ベース）</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令6/1期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令7/1期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令8/1期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構成比
(令8)</a:t>
                      </a:r>
                    </a:p>
                  </a:txBody>
                  <a:tcPr marL="36000" marR="36000" marT="7200" marB="7200" anchor="ctr">
                    <a:solidFill>
                      <a:srgbClr val="0B3041"/>
                    </a:solidFill>
                  </a:tcPr>
                </a:tc>
                <a:extLst>
                  <a:ext uri="{0D108BD9-81ED-4DB2-BD59-A6C34878D82A}">
                    <a16:rowId xmlns:a16="http://schemas.microsoft.com/office/drawing/2014/main" val="10000"/>
                  </a:ext>
                </a:extLst>
              </a:tr>
              <a:tr h="323999">
                <a:tc>
                  <a:txBody>
                    <a:bodyPr/>
                    <a:lstStyle/>
                    <a:p>
                      <a:pPr algn="l"/>
                      <a:r>
                        <a:rPr sz="900" b="0">
                          <a:solidFill>
                            <a:srgbClr val="0B3041"/>
                          </a:solidFill>
                          <a:latin typeface="游ゴシック"/>
                          <a:ea typeface="游ゴシック"/>
                        </a:rPr>
                        <a:t>1. 貿易商社（主に中国製グッズ製造依頼）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96,295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172,076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122,909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41.1%</a:t>
                      </a:r>
                    </a:p>
                  </a:txBody>
                  <a:tcPr marL="36000" marR="36000" marT="7200" marB="7200" anchor="ctr">
                    <a:solidFill>
                      <a:srgbClr val="FFFFFF"/>
                    </a:solidFill>
                  </a:tcPr>
                </a:tc>
                <a:extLst>
                  <a:ext uri="{0D108BD9-81ED-4DB2-BD59-A6C34878D82A}">
                    <a16:rowId xmlns:a16="http://schemas.microsoft.com/office/drawing/2014/main" val="10001"/>
                  </a:ext>
                </a:extLst>
              </a:tr>
              <a:tr h="323999">
                <a:tc>
                  <a:txBody>
                    <a:bodyPr/>
                    <a:lstStyle/>
                    <a:p>
                      <a:pPr algn="l"/>
                      <a:r>
                        <a:rPr sz="900" b="0">
                          <a:solidFill>
                            <a:srgbClr val="0B3041"/>
                          </a:solidFill>
                          <a:latin typeface="游ゴシック"/>
                          <a:ea typeface="游ゴシック"/>
                        </a:rPr>
                        <a:t>2. アパレル商品の日本メーカー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33,756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11.3%</a:t>
                      </a:r>
                    </a:p>
                  </a:txBody>
                  <a:tcPr marL="36000" marR="36000" marT="7200" marB="7200" anchor="ctr">
                    <a:solidFill>
                      <a:srgbClr val="F4F7F9"/>
                    </a:solidFill>
                  </a:tcPr>
                </a:tc>
                <a:extLst>
                  <a:ext uri="{0D108BD9-81ED-4DB2-BD59-A6C34878D82A}">
                    <a16:rowId xmlns:a16="http://schemas.microsoft.com/office/drawing/2014/main" val="10002"/>
                  </a:ext>
                </a:extLst>
              </a:tr>
              <a:tr h="323999">
                <a:tc>
                  <a:txBody>
                    <a:bodyPr/>
                    <a:lstStyle/>
                    <a:p>
                      <a:pPr algn="l"/>
                      <a:r>
                        <a:rPr sz="900" b="0">
                          <a:solidFill>
                            <a:srgbClr val="0B3041"/>
                          </a:solidFill>
                          <a:latin typeface="游ゴシック"/>
                          <a:ea typeface="游ゴシック"/>
                        </a:rPr>
                        <a:t>3. アパレル商品の貿易商社</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30,943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10.4%</a:t>
                      </a:r>
                    </a:p>
                  </a:txBody>
                  <a:tcPr marL="36000" marR="36000" marT="7200" marB="7200" anchor="ctr">
                    <a:solidFill>
                      <a:srgbClr val="FFFFFF"/>
                    </a:solidFill>
                  </a:tcPr>
                </a:tc>
                <a:extLst>
                  <a:ext uri="{0D108BD9-81ED-4DB2-BD59-A6C34878D82A}">
                    <a16:rowId xmlns:a16="http://schemas.microsoft.com/office/drawing/2014/main" val="10003"/>
                  </a:ext>
                </a:extLst>
              </a:tr>
              <a:tr h="323999">
                <a:tc>
                  <a:txBody>
                    <a:bodyPr/>
                    <a:lstStyle/>
                    <a:p>
                      <a:pPr algn="l"/>
                      <a:r>
                        <a:rPr sz="900" b="0">
                          <a:solidFill>
                            <a:srgbClr val="0B3041"/>
                          </a:solidFill>
                          <a:latin typeface="游ゴシック"/>
                          <a:ea typeface="游ゴシック"/>
                        </a:rPr>
                        <a:t>4. アクリルの日本メーカー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40,487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24,488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27,083</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9.1%</a:t>
                      </a:r>
                    </a:p>
                  </a:txBody>
                  <a:tcPr marL="36000" marR="36000" marT="7200" marB="7200" anchor="ctr">
                    <a:solidFill>
                      <a:srgbClr val="F4F7F9"/>
                    </a:solidFill>
                  </a:tcPr>
                </a:tc>
                <a:extLst>
                  <a:ext uri="{0D108BD9-81ED-4DB2-BD59-A6C34878D82A}">
                    <a16:rowId xmlns:a16="http://schemas.microsoft.com/office/drawing/2014/main" val="10004"/>
                  </a:ext>
                </a:extLst>
              </a:tr>
              <a:tr h="323999">
                <a:tc>
                  <a:txBody>
                    <a:bodyPr/>
                    <a:lstStyle/>
                    <a:p>
                      <a:pPr algn="l"/>
                      <a:r>
                        <a:rPr sz="900" b="0">
                          <a:solidFill>
                            <a:srgbClr val="0B3041"/>
                          </a:solidFill>
                          <a:latin typeface="游ゴシック"/>
                          <a:ea typeface="游ゴシック"/>
                        </a:rPr>
                        <a:t>5. アクリル・缶バッジ・紙類の日本メーカー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11,237</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19,690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24,774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8.3%</a:t>
                      </a:r>
                    </a:p>
                  </a:txBody>
                  <a:tcPr marL="36000" marR="36000" marT="7200" marB="7200" anchor="ctr">
                    <a:solidFill>
                      <a:srgbClr val="FFFFFF"/>
                    </a:solidFill>
                  </a:tcPr>
                </a:tc>
                <a:extLst>
                  <a:ext uri="{0D108BD9-81ED-4DB2-BD59-A6C34878D82A}">
                    <a16:rowId xmlns:a16="http://schemas.microsoft.com/office/drawing/2014/main" val="10005"/>
                  </a:ext>
                </a:extLst>
              </a:tr>
              <a:tr h="323999">
                <a:tc>
                  <a:txBody>
                    <a:bodyPr/>
                    <a:lstStyle/>
                    <a:p>
                      <a:pPr algn="l"/>
                      <a:r>
                        <a:rPr sz="900" b="0">
                          <a:solidFill>
                            <a:srgbClr val="0B3041"/>
                          </a:solidFill>
                          <a:latin typeface="游ゴシック"/>
                          <a:ea typeface="游ゴシック"/>
                        </a:rPr>
                        <a:t>6. 成形品・ぬいぐるみの中国メーカー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17,563</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10,980</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3.7%</a:t>
                      </a:r>
                    </a:p>
                  </a:txBody>
                  <a:tcPr marL="36000" marR="36000" marT="7200" marB="7200" anchor="ctr">
                    <a:solidFill>
                      <a:srgbClr val="F4F7F9"/>
                    </a:solidFill>
                  </a:tcPr>
                </a:tc>
                <a:extLst>
                  <a:ext uri="{0D108BD9-81ED-4DB2-BD59-A6C34878D82A}">
                    <a16:rowId xmlns:a16="http://schemas.microsoft.com/office/drawing/2014/main" val="10006"/>
                  </a:ext>
                </a:extLst>
              </a:tr>
              <a:tr h="323999">
                <a:tc>
                  <a:txBody>
                    <a:bodyPr/>
                    <a:lstStyle/>
                    <a:p>
                      <a:pPr algn="l"/>
                      <a:r>
                        <a:rPr sz="900" b="0">
                          <a:solidFill>
                            <a:srgbClr val="0B3041"/>
                          </a:solidFill>
                          <a:latin typeface="游ゴシック"/>
                          <a:ea typeface="游ゴシック"/>
                        </a:rPr>
                        <a:t>7. 缶バッジ特殊加工の日本メーカー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7,583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2.5%</a:t>
                      </a:r>
                    </a:p>
                  </a:txBody>
                  <a:tcPr marL="36000" marR="36000" marT="7200" marB="7200" anchor="ctr">
                    <a:solidFill>
                      <a:srgbClr val="FFFFFF"/>
                    </a:solidFill>
                  </a:tcPr>
                </a:tc>
                <a:extLst>
                  <a:ext uri="{0D108BD9-81ED-4DB2-BD59-A6C34878D82A}">
                    <a16:rowId xmlns:a16="http://schemas.microsoft.com/office/drawing/2014/main" val="10007"/>
                  </a:ext>
                </a:extLst>
              </a:tr>
              <a:tr h="323999">
                <a:tc>
                  <a:txBody>
                    <a:bodyPr/>
                    <a:lstStyle/>
                    <a:p>
                      <a:pPr algn="l"/>
                      <a:r>
                        <a:rPr sz="900" b="0">
                          <a:solidFill>
                            <a:srgbClr val="0B3041"/>
                          </a:solidFill>
                          <a:latin typeface="游ゴシック"/>
                          <a:ea typeface="游ゴシック"/>
                        </a:rPr>
                        <a:t>8. デジタル機能付きグッズの日本メーカー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5,271</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1.8%</a:t>
                      </a:r>
                    </a:p>
                  </a:txBody>
                  <a:tcPr marL="36000" marR="36000" marT="7200" marB="7200" anchor="ctr">
                    <a:solidFill>
                      <a:srgbClr val="F4F7F9"/>
                    </a:solidFill>
                  </a:tcPr>
                </a:tc>
                <a:extLst>
                  <a:ext uri="{0D108BD9-81ED-4DB2-BD59-A6C34878D82A}">
                    <a16:rowId xmlns:a16="http://schemas.microsoft.com/office/drawing/2014/main" val="10008"/>
                  </a:ext>
                </a:extLst>
              </a:tr>
              <a:tr h="323999">
                <a:tc>
                  <a:txBody>
                    <a:bodyPr/>
                    <a:lstStyle/>
                    <a:p>
                      <a:pPr algn="l"/>
                      <a:r>
                        <a:rPr sz="900" b="0">
                          <a:solidFill>
                            <a:srgbClr val="0B3041"/>
                          </a:solidFill>
                          <a:latin typeface="游ゴシック"/>
                          <a:ea typeface="游ゴシック"/>
                        </a:rPr>
                        <a:t>9. 紙類の日本商社</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679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2,690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5,225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1.7%</a:t>
                      </a:r>
                    </a:p>
                  </a:txBody>
                  <a:tcPr marL="36000" marR="36000" marT="7200" marB="7200" anchor="ctr">
                    <a:solidFill>
                      <a:srgbClr val="FFFFFF"/>
                    </a:solidFill>
                  </a:tcPr>
                </a:tc>
                <a:extLst>
                  <a:ext uri="{0D108BD9-81ED-4DB2-BD59-A6C34878D82A}">
                    <a16:rowId xmlns:a16="http://schemas.microsoft.com/office/drawing/2014/main" val="10009"/>
                  </a:ext>
                </a:extLst>
              </a:tr>
              <a:tr h="323999">
                <a:tc>
                  <a:txBody>
                    <a:bodyPr/>
                    <a:lstStyle/>
                    <a:p>
                      <a:pPr algn="l"/>
                      <a:r>
                        <a:rPr sz="900" b="0">
                          <a:solidFill>
                            <a:srgbClr val="0B3041"/>
                          </a:solidFill>
                          <a:latin typeface="游ゴシック"/>
                          <a:ea typeface="游ゴシック"/>
                        </a:rPr>
                        <a:t>10. ロイヤリティー支払先</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14,348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23,586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4,907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1.6%</a:t>
                      </a:r>
                    </a:p>
                  </a:txBody>
                  <a:tcPr marL="36000" marR="36000" marT="7200" marB="7200" anchor="ctr">
                    <a:solidFill>
                      <a:srgbClr val="F4F7F9"/>
                    </a:solidFill>
                  </a:tcPr>
                </a:tc>
                <a:extLst>
                  <a:ext uri="{0D108BD9-81ED-4DB2-BD59-A6C34878D82A}">
                    <a16:rowId xmlns:a16="http://schemas.microsoft.com/office/drawing/2014/main" val="10010"/>
                  </a:ext>
                </a:extLst>
              </a:tr>
              <a:tr h="323999">
                <a:tc>
                  <a:txBody>
                    <a:bodyPr/>
                    <a:lstStyle/>
                    <a:p>
                      <a:pPr algn="l"/>
                      <a:r>
                        <a:rPr sz="900" b="0">
                          <a:solidFill>
                            <a:srgbClr val="0B3041"/>
                          </a:solidFill>
                          <a:latin typeface="游ゴシック"/>
                          <a:ea typeface="游ゴシック"/>
                        </a:rPr>
                        <a:t>その他(上位10項目以外)</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42,258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55,421</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25,273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8.5%</a:t>
                      </a:r>
                    </a:p>
                  </a:txBody>
                  <a:tcPr marL="36000" marR="36000" marT="7200" marB="7200" anchor="ctr">
                    <a:solidFill>
                      <a:srgbClr val="FFFFFF"/>
                    </a:solidFill>
                  </a:tcPr>
                </a:tc>
                <a:extLst>
                  <a:ext uri="{0D108BD9-81ED-4DB2-BD59-A6C34878D82A}">
                    <a16:rowId xmlns:a16="http://schemas.microsoft.com/office/drawing/2014/main" val="10011"/>
                  </a:ext>
                </a:extLst>
              </a:tr>
              <a:tr h="323999">
                <a:tc>
                  <a:txBody>
                    <a:bodyPr/>
                    <a:lstStyle/>
                    <a:p>
                      <a:pPr algn="l"/>
                      <a:r>
                        <a:rPr sz="9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205,303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315,513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298,703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100.0%</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962968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製造委託・外部委託関連費用</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mj-ea"/>
                <a:ea typeface="+mj-ea"/>
              </a:rPr>
              <a:t>自社で在庫・設備を大きく持たないファブレス型のため、原価の大半は外部への製造委託費・仕入で構成されます。外注先の個社別内訳は仕入先と一体で管理されており、詳細はデータルームにて開示予定です。</a:t>
            </a:r>
            <a:endParaRPr lang="en-US" altLang="ja-JP" dirty="0"/>
          </a:p>
        </p:txBody>
      </p:sp>
      <p:graphicFrame>
        <p:nvGraphicFramePr>
          <p:cNvPr id="14" name="Table 13"/>
          <p:cNvGraphicFramePr>
            <a:graphicFrameLocks noGrp="1"/>
          </p:cNvGraphicFramePr>
          <p:nvPr/>
        </p:nvGraphicFramePr>
        <p:xfrm>
          <a:off x="309600" y="1655999"/>
          <a:ext cx="6120000" cy="2170626"/>
        </p:xfrm>
        <a:graphic>
          <a:graphicData uri="http://schemas.openxmlformats.org/drawingml/2006/table">
            <a:tbl>
              <a:tblPr>
                <a:tableStyleId>{5C22544A-7EE6-4342-B048-85BDC9FD1C3A}</a:tableStyleId>
              </a:tblPr>
              <a:tblGrid>
                <a:gridCol w="2808000">
                  <a:extLst>
                    <a:ext uri="{9D8B030D-6E8A-4147-A177-3AD203B41FA5}">
                      <a16:colId xmlns:a16="http://schemas.microsoft.com/office/drawing/2014/main" val="20000"/>
                    </a:ext>
                  </a:extLst>
                </a:gridCol>
                <a:gridCol w="1105200">
                  <a:extLst>
                    <a:ext uri="{9D8B030D-6E8A-4147-A177-3AD203B41FA5}">
                      <a16:colId xmlns:a16="http://schemas.microsoft.com/office/drawing/2014/main" val="20001"/>
                    </a:ext>
                  </a:extLst>
                </a:gridCol>
                <a:gridCol w="1105200">
                  <a:extLst>
                    <a:ext uri="{9D8B030D-6E8A-4147-A177-3AD203B41FA5}">
                      <a16:colId xmlns:a16="http://schemas.microsoft.com/office/drawing/2014/main" val="20002"/>
                    </a:ext>
                  </a:extLst>
                </a:gridCol>
                <a:gridCol w="1101600">
                  <a:extLst>
                    <a:ext uri="{9D8B030D-6E8A-4147-A177-3AD203B41FA5}">
                      <a16:colId xmlns:a16="http://schemas.microsoft.com/office/drawing/2014/main" val="20003"/>
                    </a:ext>
                  </a:extLst>
                </a:gridCol>
              </a:tblGrid>
              <a:tr h="308571">
                <a:tc>
                  <a:txBody>
                    <a:bodyPr/>
                    <a:lstStyle/>
                    <a:p>
                      <a:pPr algn="ctr"/>
                      <a:r>
                        <a:rPr sz="10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令和6年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令和7年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令和8年
1月期</a:t>
                      </a:r>
                    </a:p>
                  </a:txBody>
                  <a:tcPr marL="36000" marR="36000" marT="7200" marB="7200" anchor="ctr">
                    <a:solidFill>
                      <a:srgbClr val="0B3041"/>
                    </a:solidFill>
                  </a:tcPr>
                </a:tc>
                <a:extLst>
                  <a:ext uri="{0D108BD9-81ED-4DB2-BD59-A6C34878D82A}">
                    <a16:rowId xmlns:a16="http://schemas.microsoft.com/office/drawing/2014/main" val="10000"/>
                  </a:ext>
                </a:extLst>
              </a:tr>
              <a:tr h="308571">
                <a:tc>
                  <a:txBody>
                    <a:bodyPr/>
                    <a:lstStyle/>
                    <a:p>
                      <a:pPr algn="l"/>
                      <a:r>
                        <a:rPr sz="1000" b="0">
                          <a:solidFill>
                            <a:srgbClr val="0B3041"/>
                          </a:solidFill>
                          <a:latin typeface="游ゴシック"/>
                          <a:ea typeface="游ゴシック"/>
                        </a:rPr>
                        <a:t>当期商品仕入高（製造委託分）</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172,657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237,258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225,575</a:t>
                      </a:r>
                    </a:p>
                  </a:txBody>
                  <a:tcPr marL="36000" marR="36000" marT="7200" marB="7200" anchor="ctr">
                    <a:solidFill>
                      <a:srgbClr val="FFFFFF"/>
                    </a:solidFill>
                  </a:tcPr>
                </a:tc>
                <a:extLst>
                  <a:ext uri="{0D108BD9-81ED-4DB2-BD59-A6C34878D82A}">
                    <a16:rowId xmlns:a16="http://schemas.microsoft.com/office/drawing/2014/main" val="10001"/>
                  </a:ext>
                </a:extLst>
              </a:tr>
              <a:tr h="308571">
                <a:tc>
                  <a:txBody>
                    <a:bodyPr/>
                    <a:lstStyle/>
                    <a:p>
                      <a:pPr algn="l"/>
                      <a:r>
                        <a:rPr sz="1000" b="0">
                          <a:solidFill>
                            <a:srgbClr val="0B3041"/>
                          </a:solidFill>
                          <a:latin typeface="游ゴシック"/>
                          <a:ea typeface="游ゴシック"/>
                        </a:rPr>
                        <a:t>（製）支払手数料</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26,574</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50,723</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21,094</a:t>
                      </a:r>
                    </a:p>
                  </a:txBody>
                  <a:tcPr marL="36000" marR="36000" marT="7200" marB="7200" anchor="ctr">
                    <a:solidFill>
                      <a:srgbClr val="F4F7F9"/>
                    </a:solidFill>
                  </a:tcPr>
                </a:tc>
                <a:extLst>
                  <a:ext uri="{0D108BD9-81ED-4DB2-BD59-A6C34878D82A}">
                    <a16:rowId xmlns:a16="http://schemas.microsoft.com/office/drawing/2014/main" val="10002"/>
                  </a:ext>
                </a:extLst>
              </a:tr>
              <a:tr h="308571">
                <a:tc>
                  <a:txBody>
                    <a:bodyPr/>
                    <a:lstStyle/>
                    <a:p>
                      <a:pPr algn="l"/>
                      <a:r>
                        <a:rPr sz="1000" b="0">
                          <a:solidFill>
                            <a:srgbClr val="0B3041"/>
                          </a:solidFill>
                          <a:latin typeface="游ゴシック"/>
                          <a:ea typeface="游ゴシック"/>
                        </a:rPr>
                        <a:t>（製）外注費</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8,299</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9,972</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5,262</a:t>
                      </a:r>
                    </a:p>
                  </a:txBody>
                  <a:tcPr marL="36000" marR="36000" marT="7200" marB="7200" anchor="ctr">
                    <a:solidFill>
                      <a:srgbClr val="FFFFFF"/>
                    </a:solidFill>
                  </a:tcPr>
                </a:tc>
                <a:extLst>
                  <a:ext uri="{0D108BD9-81ED-4DB2-BD59-A6C34878D82A}">
                    <a16:rowId xmlns:a16="http://schemas.microsoft.com/office/drawing/2014/main" val="10003"/>
                  </a:ext>
                </a:extLst>
              </a:tr>
              <a:tr h="308571">
                <a:tc>
                  <a:txBody>
                    <a:bodyPr/>
                    <a:lstStyle/>
                    <a:p>
                      <a:pPr algn="l"/>
                      <a:r>
                        <a:rPr sz="1000" b="0">
                          <a:solidFill>
                            <a:srgbClr val="0B3041"/>
                          </a:solidFill>
                          <a:latin typeface="游ゴシック"/>
                          <a:ea typeface="游ゴシック"/>
                        </a:rPr>
                        <a:t>試作費</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4,488</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13,797</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3,637</a:t>
                      </a:r>
                    </a:p>
                  </a:txBody>
                  <a:tcPr marL="36000" marR="36000" marT="7200" marB="7200" anchor="ctr">
                    <a:solidFill>
                      <a:srgbClr val="F4F7F9"/>
                    </a:solidFill>
                  </a:tcPr>
                </a:tc>
                <a:extLst>
                  <a:ext uri="{0D108BD9-81ED-4DB2-BD59-A6C34878D82A}">
                    <a16:rowId xmlns:a16="http://schemas.microsoft.com/office/drawing/2014/main" val="10004"/>
                  </a:ext>
                </a:extLst>
              </a:tr>
              <a:tr h="308571">
                <a:tc>
                  <a:txBody>
                    <a:bodyPr/>
                    <a:lstStyle/>
                    <a:p>
                      <a:pPr algn="l"/>
                      <a:r>
                        <a:rPr sz="1000" b="0">
                          <a:solidFill>
                            <a:srgbClr val="0B3041"/>
                          </a:solidFill>
                          <a:latin typeface="游ゴシック"/>
                          <a:ea typeface="游ゴシック"/>
                        </a:rPr>
                        <a:t>（製）サンプル費</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6,307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2,328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2,831</a:t>
                      </a:r>
                    </a:p>
                  </a:txBody>
                  <a:tcPr marL="36000" marR="36000" marT="7200" marB="7200" anchor="ctr">
                    <a:solidFill>
                      <a:srgbClr val="FFFFFF"/>
                    </a:solidFill>
                  </a:tcPr>
                </a:tc>
                <a:extLst>
                  <a:ext uri="{0D108BD9-81ED-4DB2-BD59-A6C34878D82A}">
                    <a16:rowId xmlns:a16="http://schemas.microsoft.com/office/drawing/2014/main" val="10005"/>
                  </a:ext>
                </a:extLst>
              </a:tr>
              <a:tr h="308571">
                <a:tc>
                  <a:txBody>
                    <a:bodyPr/>
                    <a:lstStyle/>
                    <a:p>
                      <a:pPr algn="l"/>
                      <a:r>
                        <a:rPr sz="10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218,325</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314,078</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258,400</a:t>
                      </a:r>
                    </a:p>
                  </a:txBody>
                  <a:tcPr marL="36000" marR="36000" marT="7200" marB="7200" anchor="ctr">
                    <a:solidFill>
                      <a:srgbClr val="E3E7E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32585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2" name="字幕 13">
            <a:extLst>
              <a:ext uri="{FF2B5EF4-FFF2-40B4-BE49-F238E27FC236}">
                <a16:creationId xmlns:a16="http://schemas.microsoft.com/office/drawing/2014/main" id="{A3493DA6-7810-69DF-5543-B8DAEAC7277F}"/>
              </a:ext>
            </a:extLst>
          </p:cNvPr>
          <p:cNvSpPr txBox="1">
            <a:spLocks/>
          </p:cNvSpPr>
          <p:nvPr/>
        </p:nvSpPr>
        <p:spPr>
          <a:xfrm>
            <a:off x="399965" y="1640171"/>
            <a:ext cx="1700000" cy="2377440"/>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l">
              <a:buClrTx/>
            </a:pPr>
            <a:r>
              <a:rPr sz="1100">
                <a:latin typeface="游ゴシック"/>
                <a:ea typeface="游ゴシック"/>
              </a:rPr>
              <a:t>【人員構成】</a:t>
            </a:r>
          </a:p>
          <a:p>
            <a:pPr algn="l">
              <a:buClrTx/>
            </a:pPr>
            <a:r>
              <a:rPr sz="1100">
                <a:latin typeface="游ゴシック"/>
                <a:ea typeface="游ゴシック"/>
              </a:rPr>
              <a:t>　取締役：3名</a:t>
            </a:r>
          </a:p>
          <a:p>
            <a:pPr algn="l">
              <a:buClrTx/>
            </a:pPr>
            <a:r>
              <a:rPr sz="1100">
                <a:latin typeface="游ゴシック"/>
                <a:ea typeface="游ゴシック"/>
              </a:rPr>
              <a:t>　正社員：7名</a:t>
            </a:r>
          </a:p>
          <a:p>
            <a:pPr algn="l">
              <a:buClrTx/>
            </a:pPr>
            <a:r>
              <a:rPr sz="1100">
                <a:latin typeface="游ゴシック"/>
                <a:ea typeface="游ゴシック"/>
              </a:rPr>
              <a:t>　合計　：10名</a:t>
            </a:r>
          </a:p>
          <a:p>
            <a:pPr algn="l">
              <a:buClrTx/>
            </a:pPr>
            <a:r>
              <a:rPr sz="1100">
                <a:latin typeface="游ゴシック"/>
                <a:ea typeface="游ゴシック"/>
              </a:rPr>
              <a:t>　　制作部：5名</a:t>
            </a:r>
          </a:p>
          <a:p>
            <a:pPr algn="l">
              <a:buClrTx/>
            </a:pPr>
            <a:r>
              <a:rPr sz="1100">
                <a:latin typeface="游ゴシック"/>
                <a:ea typeface="游ゴシック"/>
              </a:rPr>
              <a:t>　　営業部：2名</a:t>
            </a:r>
          </a:p>
          <a:p>
            <a:pPr algn="l">
              <a:buClrTx/>
            </a:pPr>
            <a:r>
              <a:rPr sz="1100">
                <a:latin typeface="游ゴシック"/>
                <a:ea typeface="游ゴシック"/>
              </a:rPr>
              <a:t/>
            </a:r>
          </a:p>
          <a:p>
            <a:pPr algn="l">
              <a:buClrTx/>
            </a:pPr>
            <a:r>
              <a:rPr sz="1100">
                <a:latin typeface="游ゴシック"/>
                <a:ea typeface="游ゴシック"/>
              </a:rPr>
              <a:t>【機能別】</a:t>
            </a:r>
          </a:p>
          <a:p>
            <a:pPr algn="l">
              <a:buClrTx/>
            </a:pPr>
            <a:r>
              <a:rPr sz="1100">
                <a:latin typeface="游ゴシック"/>
                <a:ea typeface="游ゴシック"/>
              </a:rPr>
              <a:t>　MD商品：5名</a:t>
            </a:r>
          </a:p>
          <a:p>
            <a:pPr algn="l">
              <a:buClrTx/>
            </a:pPr>
            <a:r>
              <a:rPr sz="1100">
                <a:latin typeface="游ゴシック"/>
                <a:ea typeface="游ゴシック"/>
              </a:rPr>
              <a:t>　OEM　　：3名</a:t>
            </a:r>
          </a:p>
          <a:p>
            <a:pPr algn="l">
              <a:buClrTx/>
            </a:pPr>
            <a:r>
              <a:rPr sz="1100">
                <a:latin typeface="游ゴシック"/>
                <a:ea typeface="游ゴシック"/>
              </a:rPr>
              <a:t>　※兼務を含む</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a:latin typeface="+mj-ea"/>
                <a:ea typeface="+mj-ea"/>
              </a:rPr>
              <a:t>代表取締役 野口 紘氏のもと、営業部2名・制作部5名の少数精鋭体制。両部門とも自社企画（MD商品）とOEM受託の2ラインで運営しています。</a:t>
            </a:r>
            <a:endParaRPr lang="en-US" altLang="ja-JP" dirty="0">
              <a:latin typeface="+mj-ea"/>
            </a:endParaRPr>
          </a:p>
        </p:txBody>
      </p:sp>
      <p:sp>
        <p:nvSpPr>
          <p:cNvPr id="201" name="org201"/>
          <p:cNvSpPr/>
          <p:nvPr/>
        </p:nvSpPr>
        <p:spPr>
          <a:xfrm>
            <a:off x="4526280" y="1298448"/>
            <a:ext cx="3566160" cy="566928"/>
          </a:xfrm>
          <a:prstGeom prst="roundRect">
            <a:avLst/>
          </a:prstGeom>
          <a:solidFill>
            <a:srgbClr val="0B3041"/>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a:solidFill>
                  <a:srgbClr val="FFFFFF"/>
                </a:solidFill>
                <a:latin typeface="游ゴシック"/>
                <a:ea typeface="游ゴシック"/>
              </a:rPr>
              <a:t>取締役会</a:t>
            </a:r>
          </a:p>
          <a:p>
            <a:pPr algn="ctr"/>
            <a:r>
              <a:rPr sz="1100" b="1">
                <a:solidFill>
                  <a:srgbClr val="FFFFFF"/>
                </a:solidFill>
                <a:latin typeface="游ゴシック"/>
                <a:ea typeface="游ゴシック"/>
              </a:rPr>
              <a:t>野口 紘（代表）・野口 文枝・野口 聰江</a:t>
            </a:r>
          </a:p>
        </p:txBody>
      </p:sp>
      <p:cxnSp>
        <p:nvCxnSpPr>
          <p:cNvPr id="202" name="org202"/>
          <p:cNvCxnSpPr/>
          <p:nvPr/>
        </p:nvCxnSpPr>
        <p:spPr>
          <a:xfrm>
            <a:off x="6309360" y="1865376"/>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203" name="org203"/>
          <p:cNvSpPr/>
          <p:nvPr/>
        </p:nvSpPr>
        <p:spPr>
          <a:xfrm>
            <a:off x="5394960" y="2139696"/>
            <a:ext cx="1828800" cy="566928"/>
          </a:xfrm>
          <a:prstGeom prst="roundRect">
            <a:avLst/>
          </a:prstGeom>
          <a:solidFill>
            <a:srgbClr val="006AB1"/>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a:solidFill>
                  <a:srgbClr val="FFFFFF"/>
                </a:solidFill>
                <a:latin typeface="游ゴシック"/>
                <a:ea typeface="游ゴシック"/>
              </a:rPr>
              <a:t>代表取締役</a:t>
            </a:r>
          </a:p>
          <a:p>
            <a:pPr algn="ctr"/>
            <a:r>
              <a:rPr sz="1100" b="1">
                <a:solidFill>
                  <a:srgbClr val="FFFFFF"/>
                </a:solidFill>
                <a:latin typeface="游ゴシック"/>
                <a:ea typeface="游ゴシック"/>
              </a:rPr>
              <a:t>野口 紘</a:t>
            </a:r>
          </a:p>
        </p:txBody>
      </p:sp>
      <p:cxnSp>
        <p:nvCxnSpPr>
          <p:cNvPr id="204" name="org204"/>
          <p:cNvCxnSpPr/>
          <p:nvPr/>
        </p:nvCxnSpPr>
        <p:spPr>
          <a:xfrm>
            <a:off x="6309360" y="2706624"/>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05" name="org205"/>
          <p:cNvCxnSpPr/>
          <p:nvPr/>
        </p:nvCxnSpPr>
        <p:spPr>
          <a:xfrm>
            <a:off x="4297680" y="2980944"/>
            <a:ext cx="4023359"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06" name="org206"/>
          <p:cNvCxnSpPr/>
          <p:nvPr/>
        </p:nvCxnSpPr>
        <p:spPr>
          <a:xfrm>
            <a:off x="4297680" y="2980944"/>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07" name="org207"/>
          <p:cNvCxnSpPr/>
          <p:nvPr/>
        </p:nvCxnSpPr>
        <p:spPr>
          <a:xfrm>
            <a:off x="8321040" y="2980944"/>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208" name="org208"/>
          <p:cNvSpPr/>
          <p:nvPr/>
        </p:nvSpPr>
        <p:spPr>
          <a:xfrm>
            <a:off x="3017520" y="3255264"/>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a:solidFill>
                  <a:srgbClr val="0B3041"/>
                </a:solidFill>
                <a:latin typeface="游ゴシック"/>
                <a:ea typeface="游ゴシック"/>
              </a:rPr>
              <a:t>営業部</a:t>
            </a:r>
          </a:p>
          <a:p>
            <a:pPr algn="ctr"/>
            <a:r>
              <a:rPr sz="1100" b="1">
                <a:solidFill>
                  <a:srgbClr val="0B3041"/>
                </a:solidFill>
                <a:latin typeface="游ゴシック"/>
                <a:ea typeface="游ゴシック"/>
              </a:rPr>
              <a:t>（営業全般・商品企画）</a:t>
            </a:r>
          </a:p>
        </p:txBody>
      </p:sp>
      <p:sp>
        <p:nvSpPr>
          <p:cNvPr id="209" name="org209"/>
          <p:cNvSpPr/>
          <p:nvPr/>
        </p:nvSpPr>
        <p:spPr>
          <a:xfrm>
            <a:off x="7040879" y="3255264"/>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a:solidFill>
                  <a:srgbClr val="0B3041"/>
                </a:solidFill>
                <a:latin typeface="游ゴシック"/>
                <a:ea typeface="游ゴシック"/>
              </a:rPr>
              <a:t>制作部</a:t>
            </a:r>
          </a:p>
          <a:p>
            <a:pPr algn="ctr"/>
            <a:r>
              <a:rPr sz="1100" b="1">
                <a:solidFill>
                  <a:srgbClr val="0B3041"/>
                </a:solidFill>
                <a:latin typeface="游ゴシック"/>
                <a:ea typeface="游ゴシック"/>
              </a:rPr>
              <a:t>（デザイン・生産管理）</a:t>
            </a:r>
          </a:p>
        </p:txBody>
      </p:sp>
      <p:cxnSp>
        <p:nvCxnSpPr>
          <p:cNvPr id="210" name="org210"/>
          <p:cNvCxnSpPr/>
          <p:nvPr/>
        </p:nvCxnSpPr>
        <p:spPr>
          <a:xfrm>
            <a:off x="8321040" y="3822191"/>
            <a:ext cx="0" cy="256032"/>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211" name="org211"/>
          <p:cNvSpPr/>
          <p:nvPr/>
        </p:nvSpPr>
        <p:spPr>
          <a:xfrm>
            <a:off x="7452360" y="4078224"/>
            <a:ext cx="1737360" cy="38404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a:ea typeface="游ゴシック"/>
              </a:rPr>
              <a:t>部長（No.1）　統括</a:t>
            </a:r>
          </a:p>
        </p:txBody>
      </p:sp>
      <p:cxnSp>
        <p:nvCxnSpPr>
          <p:cNvPr id="212" name="org212"/>
          <p:cNvCxnSpPr/>
          <p:nvPr/>
        </p:nvCxnSpPr>
        <p:spPr>
          <a:xfrm>
            <a:off x="8321040" y="4462272"/>
            <a:ext cx="0" cy="109728"/>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13" name="org213"/>
          <p:cNvCxnSpPr/>
          <p:nvPr/>
        </p:nvCxnSpPr>
        <p:spPr>
          <a:xfrm>
            <a:off x="4297680" y="3822191"/>
            <a:ext cx="0" cy="749808"/>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14" name="org214"/>
          <p:cNvCxnSpPr/>
          <p:nvPr/>
        </p:nvCxnSpPr>
        <p:spPr>
          <a:xfrm>
            <a:off x="3611880" y="4572000"/>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15" name="org215"/>
          <p:cNvCxnSpPr/>
          <p:nvPr/>
        </p:nvCxnSpPr>
        <p:spPr>
          <a:xfrm>
            <a:off x="3611880" y="4572000"/>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16" name="org216"/>
          <p:cNvCxnSpPr/>
          <p:nvPr/>
        </p:nvCxnSpPr>
        <p:spPr>
          <a:xfrm>
            <a:off x="4983480" y="4572000"/>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17" name="org217"/>
          <p:cNvCxnSpPr/>
          <p:nvPr/>
        </p:nvCxnSpPr>
        <p:spPr>
          <a:xfrm>
            <a:off x="7635240" y="4572000"/>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18" name="org218"/>
          <p:cNvCxnSpPr/>
          <p:nvPr/>
        </p:nvCxnSpPr>
        <p:spPr>
          <a:xfrm>
            <a:off x="7635240" y="4572000"/>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19" name="org219"/>
          <p:cNvCxnSpPr/>
          <p:nvPr/>
        </p:nvCxnSpPr>
        <p:spPr>
          <a:xfrm>
            <a:off x="9006840" y="4572000"/>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220" name="org220"/>
          <p:cNvSpPr/>
          <p:nvPr/>
        </p:nvSpPr>
        <p:spPr>
          <a:xfrm>
            <a:off x="3017520" y="4791456"/>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a:ea typeface="游ゴシック"/>
              </a:rPr>
              <a:t>MD商品</a:t>
            </a:r>
          </a:p>
        </p:txBody>
      </p:sp>
      <p:cxnSp>
        <p:nvCxnSpPr>
          <p:cNvPr id="221" name="org221"/>
          <p:cNvCxnSpPr/>
          <p:nvPr/>
        </p:nvCxnSpPr>
        <p:spPr>
          <a:xfrm>
            <a:off x="3611880" y="5138928"/>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222" name="org222"/>
          <p:cNvSpPr/>
          <p:nvPr/>
        </p:nvSpPr>
        <p:spPr>
          <a:xfrm>
            <a:off x="4389120" y="4791456"/>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a:ea typeface="游ゴシック"/>
              </a:rPr>
              <a:t>OEM</a:t>
            </a:r>
          </a:p>
        </p:txBody>
      </p:sp>
      <p:cxnSp>
        <p:nvCxnSpPr>
          <p:cNvPr id="223" name="org223"/>
          <p:cNvCxnSpPr/>
          <p:nvPr/>
        </p:nvCxnSpPr>
        <p:spPr>
          <a:xfrm>
            <a:off x="4983480" y="5138928"/>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224" name="org224"/>
          <p:cNvSpPr/>
          <p:nvPr/>
        </p:nvSpPr>
        <p:spPr>
          <a:xfrm>
            <a:off x="7040879" y="4791456"/>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a:ea typeface="游ゴシック"/>
              </a:rPr>
              <a:t>MD商品</a:t>
            </a:r>
          </a:p>
        </p:txBody>
      </p:sp>
      <p:cxnSp>
        <p:nvCxnSpPr>
          <p:cNvPr id="225" name="org225"/>
          <p:cNvCxnSpPr/>
          <p:nvPr/>
        </p:nvCxnSpPr>
        <p:spPr>
          <a:xfrm>
            <a:off x="7635240" y="5138928"/>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226" name="org226"/>
          <p:cNvSpPr/>
          <p:nvPr/>
        </p:nvSpPr>
        <p:spPr>
          <a:xfrm>
            <a:off x="8412480" y="4791456"/>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a:ea typeface="游ゴシック"/>
              </a:rPr>
              <a:t>OEM</a:t>
            </a:r>
          </a:p>
        </p:txBody>
      </p:sp>
      <p:cxnSp>
        <p:nvCxnSpPr>
          <p:cNvPr id="227" name="org227"/>
          <p:cNvCxnSpPr/>
          <p:nvPr/>
        </p:nvCxnSpPr>
        <p:spPr>
          <a:xfrm>
            <a:off x="9006840" y="5138928"/>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228" name="org228">
            <a:extLst>
              <a:ext uri="{FF2B5EF4-FFF2-40B4-BE49-F238E27FC236}">
                <a16:creationId xmlns:a16="http://schemas.microsoft.com/office/drawing/2014/main" id="{A3493DA6-7810-69DF-5543-B8DAEAC7277F}"/>
              </a:ext>
            </a:extLst>
          </p:cNvPr>
          <p:cNvSpPr txBox="1">
            <a:spLocks/>
          </p:cNvSpPr>
          <p:nvPr/>
        </p:nvSpPr>
        <p:spPr>
          <a:xfrm>
            <a:off x="2994660" y="5266944"/>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a:ea typeface="游ゴシック"/>
              </a:rPr>
              <a:t>No.6　営業部</a:t>
            </a:r>
          </a:p>
          <a:p>
            <a:pPr algn="ctr"/>
            <a:r>
              <a:rPr lang="ja-JP" sz="900" b="0">
                <a:solidFill>
                  <a:srgbClr val="0B3041"/>
                </a:solidFill>
                <a:latin typeface="游ゴシック"/>
                <a:ea typeface="游ゴシック"/>
              </a:rPr>
              <a:t>No.7　営業部</a:t>
            </a:r>
          </a:p>
        </p:txBody>
      </p:sp>
      <p:sp>
        <p:nvSpPr>
          <p:cNvPr id="229" name="org229">
            <a:extLst>
              <a:ext uri="{FF2B5EF4-FFF2-40B4-BE49-F238E27FC236}">
                <a16:creationId xmlns:a16="http://schemas.microsoft.com/office/drawing/2014/main" id="{A3493DA6-7810-69DF-5543-B8DAEAC7277F}"/>
              </a:ext>
            </a:extLst>
          </p:cNvPr>
          <p:cNvSpPr txBox="1">
            <a:spLocks/>
          </p:cNvSpPr>
          <p:nvPr/>
        </p:nvSpPr>
        <p:spPr>
          <a:xfrm>
            <a:off x="4366260" y="5266944"/>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a:ea typeface="游ゴシック"/>
              </a:rPr>
              <a:t>代表取締役</a:t>
            </a:r>
          </a:p>
          <a:p>
            <a:pPr algn="ctr"/>
            <a:r>
              <a:rPr lang="ja-JP" sz="900" b="0">
                <a:solidFill>
                  <a:srgbClr val="0B3041"/>
                </a:solidFill>
                <a:latin typeface="游ゴシック"/>
                <a:ea typeface="游ゴシック"/>
              </a:rPr>
              <a:t>野口 紘（兼務）</a:t>
            </a:r>
          </a:p>
        </p:txBody>
      </p:sp>
      <p:sp>
        <p:nvSpPr>
          <p:cNvPr id="230" name="org230">
            <a:extLst>
              <a:ext uri="{FF2B5EF4-FFF2-40B4-BE49-F238E27FC236}">
                <a16:creationId xmlns:a16="http://schemas.microsoft.com/office/drawing/2014/main" id="{A3493DA6-7810-69DF-5543-B8DAEAC7277F}"/>
              </a:ext>
            </a:extLst>
          </p:cNvPr>
          <p:cNvSpPr txBox="1">
            <a:spLocks/>
          </p:cNvSpPr>
          <p:nvPr/>
        </p:nvSpPr>
        <p:spPr>
          <a:xfrm>
            <a:off x="7018020" y="5266944"/>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a:ea typeface="游ゴシック"/>
              </a:rPr>
              <a:t>No.2　課長</a:t>
            </a:r>
          </a:p>
          <a:p>
            <a:pPr algn="ctr"/>
            <a:r>
              <a:rPr lang="ja-JP" sz="900" b="0">
                <a:solidFill>
                  <a:srgbClr val="0B3041"/>
                </a:solidFill>
                <a:latin typeface="游ゴシック"/>
                <a:ea typeface="游ゴシック"/>
              </a:rPr>
              <a:t>No.4　一般</a:t>
            </a:r>
          </a:p>
          <a:p>
            <a:pPr algn="ctr"/>
            <a:r>
              <a:rPr lang="ja-JP" sz="900" b="0">
                <a:solidFill>
                  <a:srgbClr val="0B3041"/>
                </a:solidFill>
                <a:latin typeface="游ゴシック"/>
                <a:ea typeface="游ゴシック"/>
              </a:rPr>
              <a:t>No.5　一般</a:t>
            </a:r>
          </a:p>
        </p:txBody>
      </p:sp>
      <p:sp>
        <p:nvSpPr>
          <p:cNvPr id="231" name="org231">
            <a:extLst>
              <a:ext uri="{FF2B5EF4-FFF2-40B4-BE49-F238E27FC236}">
                <a16:creationId xmlns:a16="http://schemas.microsoft.com/office/drawing/2014/main" id="{A3493DA6-7810-69DF-5543-B8DAEAC7277F}"/>
              </a:ext>
            </a:extLst>
          </p:cNvPr>
          <p:cNvSpPr txBox="1">
            <a:spLocks/>
          </p:cNvSpPr>
          <p:nvPr/>
        </p:nvSpPr>
        <p:spPr>
          <a:xfrm>
            <a:off x="8389619" y="5266944"/>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a:ea typeface="游ゴシック"/>
              </a:rPr>
              <a:t>No.1　部長（兼務）</a:t>
            </a:r>
          </a:p>
          <a:p>
            <a:pPr algn="ctr"/>
            <a:r>
              <a:rPr lang="ja-JP" sz="900" b="0">
                <a:solidFill>
                  <a:srgbClr val="0B3041"/>
                </a:solidFill>
                <a:latin typeface="游ゴシック"/>
                <a:ea typeface="游ゴシック"/>
              </a:rPr>
              <a:t>No.3　主任</a:t>
            </a:r>
          </a:p>
        </p:txBody>
      </p:sp>
      <p:sp>
        <p:nvSpPr>
          <p:cNvPr id="232" name="TextBox 231"/>
          <p:cNvSpPr txBox="1"/>
          <p:nvPr/>
        </p:nvSpPr>
        <p:spPr>
          <a:xfrm>
            <a:off x="402336" y="6537960"/>
            <a:ext cx="9875520" cy="457200"/>
          </a:xfrm>
          <a:prstGeom prst="rect">
            <a:avLst/>
          </a:prstGeom>
          <a:noFill/>
        </p:spPr>
        <p:txBody>
          <a:bodyPr wrap="square">
            <a:spAutoFit/>
          </a:bodyPr>
          <a:lstStyle/>
          <a:p>
            <a:r>
              <a:rPr sz="900">
                <a:solidFill>
                  <a:srgbClr val="404040"/>
                </a:solidFill>
                <a:latin typeface="游ゴシック"/>
              </a:rPr>
              <a:t>※ 図中のNo.は「従業員」ページの従業員No.と対応しています。代表取締役は営業部のOEMラインを、制作部部長（No.1）は制作部のOEMラインを兼務で統括しています。なおNo.4は育児休業取得中、No.7は2026年4月入社予定です。</a:t>
            </a:r>
          </a:p>
        </p:txBody>
      </p:sp>
    </p:spTree>
    <p:extLst>
      <p:ext uri="{BB962C8B-B14F-4D97-AF65-F5344CB8AC3E}">
        <p14:creationId xmlns:p14="http://schemas.microsoft.com/office/powerpoint/2010/main" val="2728612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8894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a:latin typeface="+mj-ea"/>
                <a:ea typeface="+mj-ea"/>
              </a:rPr>
              <a:t>株主名簿は未受領のため持株比率は確認中です。経営は代表取締役 野口 紘氏を中心とする体制です。</a:t>
            </a:r>
            <a:endParaRPr lang="en-US" altLang="ja-JP" dirty="0"/>
          </a:p>
        </p:txBody>
      </p:sp>
      <p:sp>
        <p:nvSpPr>
          <p:cNvPr id="14" name="TextBox 13"/>
          <p:cNvSpPr txBox="1"/>
          <p:nvPr/>
        </p:nvSpPr>
        <p:spPr>
          <a:xfrm>
            <a:off x="1872000" y="1908000"/>
            <a:ext cx="8460000" cy="1548000"/>
          </a:xfrm>
          <a:prstGeom prst="rect">
            <a:avLst/>
          </a:prstGeom>
          <a:noFill/>
        </p:spPr>
        <p:txBody>
          <a:bodyPr wrap="square">
            <a:spAutoFit/>
          </a:bodyPr>
          <a:lstStyle/>
          <a:p>
            <a:pPr algn="l"/>
            <a:r>
              <a:rPr sz="1100">
                <a:solidFill>
                  <a:srgbClr val="0B3041"/>
                </a:solidFill>
                <a:latin typeface="游ゴシック"/>
                <a:ea typeface="游ゴシック"/>
              </a:rPr>
              <a:t>株主名簿が未受領のため、保有株式数・保有比率は現時点で確認中です。発行済株式総数1,000株・資本金10,000千円。</a:t>
            </a:r>
          </a:p>
          <a:p>
            <a:pPr algn="l"/>
            <a:r>
              <a:rPr sz="1100">
                <a:solidFill>
                  <a:srgbClr val="0B3041"/>
                </a:solidFill>
                <a:latin typeface="游ゴシック"/>
                <a:ea typeface="游ゴシック"/>
              </a:rPr>
              <a:t>登記簿上の役員は下表のとおり（3名とも同姓で親族の可能性がありますが、続柄は要確認）。経営は代表取締役 野口 紘氏を中心とする体制です。</a:t>
            </a:r>
          </a:p>
        </p:txBody>
      </p:sp>
      <p:graphicFrame>
        <p:nvGraphicFramePr>
          <p:cNvPr id="15" name="Table 14"/>
          <p:cNvGraphicFramePr>
            <a:graphicFrameLocks noGrp="1"/>
          </p:cNvGraphicFramePr>
          <p:nvPr/>
        </p:nvGraphicFramePr>
        <p:xfrm>
          <a:off x="309600" y="4320000"/>
          <a:ext cx="10195200" cy="1440000"/>
        </p:xfrm>
        <a:graphic>
          <a:graphicData uri="http://schemas.openxmlformats.org/drawingml/2006/table">
            <a:tbl>
              <a:tblPr>
                <a:tableStyleId>{5C22544A-7EE6-4342-B048-85BDC9FD1C3A}</a:tableStyleId>
              </a:tblPr>
              <a:tblGrid>
                <a:gridCol w="1620000">
                  <a:extLst>
                    <a:ext uri="{9D8B030D-6E8A-4147-A177-3AD203B41FA5}">
                      <a16:colId xmlns:a16="http://schemas.microsoft.com/office/drawing/2014/main" val="20000"/>
                    </a:ext>
                  </a:extLst>
                </a:gridCol>
                <a:gridCol w="1620000">
                  <a:extLst>
                    <a:ext uri="{9D8B030D-6E8A-4147-A177-3AD203B41FA5}">
                      <a16:colId xmlns:a16="http://schemas.microsoft.com/office/drawing/2014/main" val="20001"/>
                    </a:ext>
                  </a:extLst>
                </a:gridCol>
                <a:gridCol w="27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2455200">
                  <a:extLst>
                    <a:ext uri="{9D8B030D-6E8A-4147-A177-3AD203B41FA5}">
                      <a16:colId xmlns:a16="http://schemas.microsoft.com/office/drawing/2014/main" val="20004"/>
                    </a:ext>
                  </a:extLst>
                </a:gridCol>
              </a:tblGrid>
              <a:tr h="360000">
                <a:tc>
                  <a:txBody>
                    <a:bodyPr/>
                    <a:lstStyle/>
                    <a:p>
                      <a:pPr algn="ctr"/>
                      <a:r>
                        <a:rPr sz="1000" b="1">
                          <a:solidFill>
                            <a:srgbClr val="FFFFFF"/>
                          </a:solidFill>
                          <a:latin typeface="游ゴシック"/>
                          <a:ea typeface="游ゴシック"/>
                        </a:rPr>
                        <a:t>氏名</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役職</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代表者との関係</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役員報酬(令8/1期)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備考</a:t>
                      </a:r>
                    </a:p>
                  </a:txBody>
                  <a:tcPr marL="36000" marR="36000" marT="7200" marB="7200" anchor="ctr">
                    <a:solidFill>
                      <a:srgbClr val="0B3041"/>
                    </a:solidFill>
                  </a:tcPr>
                </a:tc>
                <a:extLst>
                  <a:ext uri="{0D108BD9-81ED-4DB2-BD59-A6C34878D82A}">
                    <a16:rowId xmlns:a16="http://schemas.microsoft.com/office/drawing/2014/main" val="10000"/>
                  </a:ext>
                </a:extLst>
              </a:tr>
              <a:tr h="360000">
                <a:tc>
                  <a:txBody>
                    <a:bodyPr/>
                    <a:lstStyle/>
                    <a:p>
                      <a:pPr algn="l"/>
                      <a:r>
                        <a:rPr sz="1000" b="0">
                          <a:solidFill>
                            <a:srgbClr val="0B3041"/>
                          </a:solidFill>
                          <a:latin typeface="游ゴシック"/>
                          <a:ea typeface="游ゴシック"/>
                        </a:rPr>
                        <a:t>野口 紘</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代表取締役</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本人</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21,104千円</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令6.3.27重任</a:t>
                      </a:r>
                    </a:p>
                  </a:txBody>
                  <a:tcPr marL="36000" marR="36000" marT="7200" marB="7200" anchor="ctr">
                    <a:solidFill>
                      <a:srgbClr val="FFFFFF"/>
                    </a:solidFill>
                  </a:tcPr>
                </a:tc>
                <a:extLst>
                  <a:ext uri="{0D108BD9-81ED-4DB2-BD59-A6C34878D82A}">
                    <a16:rowId xmlns:a16="http://schemas.microsoft.com/office/drawing/2014/main" val="10001"/>
                  </a:ext>
                </a:extLst>
              </a:tr>
              <a:tr h="360000">
                <a:tc>
                  <a:txBody>
                    <a:bodyPr/>
                    <a:lstStyle/>
                    <a:p>
                      <a:pPr algn="l"/>
                      <a:r>
                        <a:rPr sz="1000" b="0">
                          <a:solidFill>
                            <a:srgbClr val="0B3041"/>
                          </a:solidFill>
                          <a:latin typeface="游ゴシック"/>
                          <a:ea typeface="游ゴシック"/>
                        </a:rPr>
                        <a:t>野口 文枝</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取締役</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親族の可能性(要確認)</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1,788千円</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令7.4.1就任</a:t>
                      </a:r>
                    </a:p>
                  </a:txBody>
                  <a:tcPr marL="36000" marR="36000" marT="7200" marB="7200" anchor="ctr">
                    <a:solidFill>
                      <a:srgbClr val="F4F7F9"/>
                    </a:solidFill>
                  </a:tcPr>
                </a:tc>
                <a:extLst>
                  <a:ext uri="{0D108BD9-81ED-4DB2-BD59-A6C34878D82A}">
                    <a16:rowId xmlns:a16="http://schemas.microsoft.com/office/drawing/2014/main" val="10002"/>
                  </a:ext>
                </a:extLst>
              </a:tr>
              <a:tr h="360000">
                <a:tc>
                  <a:txBody>
                    <a:bodyPr/>
                    <a:lstStyle/>
                    <a:p>
                      <a:pPr algn="l"/>
                      <a:r>
                        <a:rPr sz="1000" b="0">
                          <a:solidFill>
                            <a:srgbClr val="0B3041"/>
                          </a:solidFill>
                          <a:latin typeface="游ゴシック"/>
                          <a:ea typeface="游ゴシック"/>
                        </a:rPr>
                        <a:t>野口 聰江</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取締役</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親族の可能性(要確認)</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1,800千円</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令7.4.1就任</a:t>
                      </a:r>
                    </a:p>
                  </a:txBody>
                  <a:tcPr marL="36000" marR="36000" marT="7200" marB="7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11365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a:latin typeface="+mj-ea"/>
                <a:ea typeface="+mj-ea"/>
              </a:rPr>
              <a:t>制作部5名・営業部2名の少数精鋭体制。制作部長（勤続11年）を中心に長期勤続者が中核を担い、近年は若手の新規採用も進めています。※氏名はイニシャル管理のため非表示。</a:t>
            </a:r>
            <a:endParaRPr lang="en-US" altLang="ja-JP" dirty="0"/>
          </a:p>
        </p:txBody>
      </p:sp>
      <p:graphicFrame>
        <p:nvGraphicFramePr>
          <p:cNvPr id="14" name="Table 13"/>
          <p:cNvGraphicFramePr>
            <a:graphicFrameLocks noGrp="1"/>
          </p:cNvGraphicFramePr>
          <p:nvPr/>
        </p:nvGraphicFramePr>
        <p:xfrm>
          <a:off x="309600" y="1655999"/>
          <a:ext cx="10184399" cy="3780000"/>
        </p:xfrm>
        <a:graphic>
          <a:graphicData uri="http://schemas.openxmlformats.org/drawingml/2006/table">
            <a:tbl>
              <a:tblPr>
                <a:tableStyleId>{5C22544A-7EE6-4342-B048-85BDC9FD1C3A}</a:tableStyleId>
              </a:tblPr>
              <a:tblGrid>
                <a:gridCol w="503999">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512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92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616400">
                  <a:extLst>
                    <a:ext uri="{9D8B030D-6E8A-4147-A177-3AD203B41FA5}">
                      <a16:colId xmlns:a16="http://schemas.microsoft.com/office/drawing/2014/main" val="20006"/>
                    </a:ext>
                  </a:extLst>
                </a:gridCol>
                <a:gridCol w="2880000">
                  <a:extLst>
                    <a:ext uri="{9D8B030D-6E8A-4147-A177-3AD203B41FA5}">
                      <a16:colId xmlns:a16="http://schemas.microsoft.com/office/drawing/2014/main" val="20007"/>
                    </a:ext>
                  </a:extLst>
                </a:gridCol>
              </a:tblGrid>
              <a:tr h="472500">
                <a:tc>
                  <a:txBody>
                    <a:bodyPr/>
                    <a:lstStyle/>
                    <a:p>
                      <a:pPr algn="ctr"/>
                      <a:r>
                        <a:rPr sz="1000" b="1">
                          <a:solidFill>
                            <a:srgbClr val="FFFFFF"/>
                          </a:solidFill>
                          <a:latin typeface="游ゴシック"/>
                          <a:ea typeface="游ゴシック"/>
                        </a:rPr>
                        <a:t>No</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部署</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役職</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性別</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年齢</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勤続年数</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直近年間
総支給額(千円)</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備考</a:t>
                      </a:r>
                    </a:p>
                  </a:txBody>
                  <a:tcPr marL="36000" marR="36000" marT="7200" marB="7200" anchor="ctr">
                    <a:solidFill>
                      <a:srgbClr val="0B3041"/>
                    </a:solidFill>
                  </a:tcPr>
                </a:tc>
                <a:extLst>
                  <a:ext uri="{0D108BD9-81ED-4DB2-BD59-A6C34878D82A}">
                    <a16:rowId xmlns:a16="http://schemas.microsoft.com/office/drawing/2014/main" val="10000"/>
                  </a:ext>
                </a:extLst>
              </a:tr>
              <a:tr h="472500">
                <a:tc>
                  <a:txBody>
                    <a:bodyPr/>
                    <a:lstStyle/>
                    <a:p>
                      <a:pPr algn="r"/>
                      <a:r>
                        <a:rPr sz="1000" b="0">
                          <a:solidFill>
                            <a:srgbClr val="0B3041"/>
                          </a:solidFill>
                          <a:latin typeface="游ゴシック"/>
                          <a:ea typeface="游ゴシック"/>
                        </a:rPr>
                        <a:t>1</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制作部</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制作部部長</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男</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41歳</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11年</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6,821</a:t>
                      </a:r>
                    </a:p>
                  </a:txBody>
                  <a:tcPr marL="36000" marR="36000" marT="7200" marB="7200" anchor="ctr">
                    <a:solidFill>
                      <a:srgbClr val="FFFFFF"/>
                    </a:solidFill>
                  </a:tcPr>
                </a:tc>
                <a:tc>
                  <a:txBody>
                    <a:bodyPr/>
                    <a:lstStyle/>
                    <a:p>
                      <a:pPr algn="l"/>
                      <a:endParaRPr/>
                    </a:p>
                  </a:txBody>
                  <a:tcPr marL="36000" marR="36000" marT="7200" marB="7200" anchor="ctr">
                    <a:solidFill>
                      <a:srgbClr val="FFFFFF"/>
                    </a:solidFill>
                  </a:tcPr>
                </a:tc>
                <a:extLst>
                  <a:ext uri="{0D108BD9-81ED-4DB2-BD59-A6C34878D82A}">
                    <a16:rowId xmlns:a16="http://schemas.microsoft.com/office/drawing/2014/main" val="10001"/>
                  </a:ext>
                </a:extLst>
              </a:tr>
              <a:tr h="472500">
                <a:tc>
                  <a:txBody>
                    <a:bodyPr/>
                    <a:lstStyle/>
                    <a:p>
                      <a:pPr algn="r"/>
                      <a:r>
                        <a:rPr sz="1000" b="0">
                          <a:solidFill>
                            <a:srgbClr val="0B3041"/>
                          </a:solidFill>
                          <a:latin typeface="游ゴシック"/>
                          <a:ea typeface="游ゴシック"/>
                        </a:rPr>
                        <a:t>2</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制作部</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制作部課長</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女</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40歳</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10年</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5,349</a:t>
                      </a:r>
                    </a:p>
                  </a:txBody>
                  <a:tcPr marL="36000" marR="36000" marT="7200" marB="7200" anchor="ctr">
                    <a:solidFill>
                      <a:srgbClr val="F4F7F9"/>
                    </a:solidFill>
                  </a:tcPr>
                </a:tc>
                <a:tc>
                  <a:txBody>
                    <a:bodyPr/>
                    <a:lstStyle/>
                    <a:p>
                      <a:pPr algn="l"/>
                      <a:endParaRPr/>
                    </a:p>
                  </a:txBody>
                  <a:tcPr marL="36000" marR="36000" marT="7200" marB="7200" anchor="ctr">
                    <a:solidFill>
                      <a:srgbClr val="F4F7F9"/>
                    </a:solidFill>
                  </a:tcPr>
                </a:tc>
                <a:extLst>
                  <a:ext uri="{0D108BD9-81ED-4DB2-BD59-A6C34878D82A}">
                    <a16:rowId xmlns:a16="http://schemas.microsoft.com/office/drawing/2014/main" val="10002"/>
                  </a:ext>
                </a:extLst>
              </a:tr>
              <a:tr h="472500">
                <a:tc>
                  <a:txBody>
                    <a:bodyPr/>
                    <a:lstStyle/>
                    <a:p>
                      <a:pPr algn="r"/>
                      <a:r>
                        <a:rPr sz="1000" b="0">
                          <a:solidFill>
                            <a:srgbClr val="0B3041"/>
                          </a:solidFill>
                          <a:latin typeface="游ゴシック"/>
                          <a:ea typeface="游ゴシック"/>
                        </a:rPr>
                        <a:t>3</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制作部</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制作部主任</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女</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26歳</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4年</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5,506</a:t>
                      </a:r>
                    </a:p>
                  </a:txBody>
                  <a:tcPr marL="36000" marR="36000" marT="7200" marB="7200" anchor="ctr">
                    <a:solidFill>
                      <a:srgbClr val="FFFFFF"/>
                    </a:solidFill>
                  </a:tcPr>
                </a:tc>
                <a:tc>
                  <a:txBody>
                    <a:bodyPr/>
                    <a:lstStyle/>
                    <a:p>
                      <a:pPr algn="l"/>
                      <a:endParaRPr/>
                    </a:p>
                  </a:txBody>
                  <a:tcPr marL="36000" marR="36000" marT="7200" marB="7200" anchor="ctr">
                    <a:solidFill>
                      <a:srgbClr val="FFFFFF"/>
                    </a:solidFill>
                  </a:tcPr>
                </a:tc>
                <a:extLst>
                  <a:ext uri="{0D108BD9-81ED-4DB2-BD59-A6C34878D82A}">
                    <a16:rowId xmlns:a16="http://schemas.microsoft.com/office/drawing/2014/main" val="10003"/>
                  </a:ext>
                </a:extLst>
              </a:tr>
              <a:tr h="472500">
                <a:tc>
                  <a:txBody>
                    <a:bodyPr/>
                    <a:lstStyle/>
                    <a:p>
                      <a:pPr algn="r"/>
                      <a:r>
                        <a:rPr sz="1000" b="0">
                          <a:solidFill>
                            <a:srgbClr val="0B3041"/>
                          </a:solidFill>
                          <a:latin typeface="游ゴシック"/>
                          <a:ea typeface="游ゴシック"/>
                        </a:rPr>
                        <a:t>4</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制作部</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制作部</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女</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30歳</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8年</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317</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育児休業取得中</a:t>
                      </a:r>
                    </a:p>
                  </a:txBody>
                  <a:tcPr marL="36000" marR="36000" marT="7200" marB="7200" anchor="ctr">
                    <a:solidFill>
                      <a:srgbClr val="F4F7F9"/>
                    </a:solidFill>
                  </a:tcPr>
                </a:tc>
                <a:extLst>
                  <a:ext uri="{0D108BD9-81ED-4DB2-BD59-A6C34878D82A}">
                    <a16:rowId xmlns:a16="http://schemas.microsoft.com/office/drawing/2014/main" val="10004"/>
                  </a:ext>
                </a:extLst>
              </a:tr>
              <a:tr h="472500">
                <a:tc>
                  <a:txBody>
                    <a:bodyPr/>
                    <a:lstStyle/>
                    <a:p>
                      <a:pPr algn="r"/>
                      <a:r>
                        <a:rPr sz="1000" b="0">
                          <a:solidFill>
                            <a:srgbClr val="0B3041"/>
                          </a:solidFill>
                          <a:latin typeface="游ゴシック"/>
                          <a:ea typeface="游ゴシック"/>
                        </a:rPr>
                        <a:t>5</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制作部</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制作部</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女</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20歳</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0年</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3,230</a:t>
                      </a:r>
                    </a:p>
                  </a:txBody>
                  <a:tcPr marL="36000" marR="36000" marT="7200" marB="7200" anchor="ctr">
                    <a:solidFill>
                      <a:srgbClr val="FFFFFF"/>
                    </a:solidFill>
                  </a:tcPr>
                </a:tc>
                <a:tc>
                  <a:txBody>
                    <a:bodyPr/>
                    <a:lstStyle/>
                    <a:p>
                      <a:pPr algn="l"/>
                      <a:endParaRPr/>
                    </a:p>
                  </a:txBody>
                  <a:tcPr marL="36000" marR="36000" marT="7200" marB="7200" anchor="ctr">
                    <a:solidFill>
                      <a:srgbClr val="FFFFFF"/>
                    </a:solidFill>
                  </a:tcPr>
                </a:tc>
                <a:extLst>
                  <a:ext uri="{0D108BD9-81ED-4DB2-BD59-A6C34878D82A}">
                    <a16:rowId xmlns:a16="http://schemas.microsoft.com/office/drawing/2014/main" val="10005"/>
                  </a:ext>
                </a:extLst>
              </a:tr>
              <a:tr h="472500">
                <a:tc>
                  <a:txBody>
                    <a:bodyPr/>
                    <a:lstStyle/>
                    <a:p>
                      <a:pPr algn="r"/>
                      <a:r>
                        <a:rPr sz="1000" b="0">
                          <a:solidFill>
                            <a:srgbClr val="0B3041"/>
                          </a:solidFill>
                          <a:latin typeface="游ゴシック"/>
                          <a:ea typeface="游ゴシック"/>
                        </a:rPr>
                        <a:t>6</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営業部</a:t>
                      </a:r>
                    </a:p>
                  </a:txBody>
                  <a:tcPr marL="36000" marR="36000" marT="7200" marB="7200" anchor="ctr">
                    <a:solidFill>
                      <a:srgbClr val="F4F7F9"/>
                    </a:solidFill>
                  </a:tcPr>
                </a:tc>
                <a:tc>
                  <a:txBody>
                    <a:bodyPr/>
                    <a:lstStyle/>
                    <a:p>
                      <a:pPr algn="l"/>
                      <a:r>
                        <a:rPr sz="1000" b="0">
                          <a:solidFill>
                            <a:srgbClr val="0B3041"/>
                          </a:solidFill>
                          <a:latin typeface="游ゴシック"/>
                          <a:ea typeface="游ゴシック"/>
                        </a:rPr>
                        <a:t>営業部</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女</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25歳</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0年</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3,312</a:t>
                      </a:r>
                    </a:p>
                  </a:txBody>
                  <a:tcPr marL="36000" marR="36000" marT="7200" marB="7200" anchor="ctr">
                    <a:solidFill>
                      <a:srgbClr val="F4F7F9"/>
                    </a:solidFill>
                  </a:tcPr>
                </a:tc>
                <a:tc>
                  <a:txBody>
                    <a:bodyPr/>
                    <a:lstStyle/>
                    <a:p>
                      <a:pPr algn="l"/>
                      <a:endParaRPr/>
                    </a:p>
                  </a:txBody>
                  <a:tcPr marL="36000" marR="36000" marT="7200" marB="7200" anchor="ctr">
                    <a:solidFill>
                      <a:srgbClr val="F4F7F9"/>
                    </a:solidFill>
                  </a:tcPr>
                </a:tc>
                <a:extLst>
                  <a:ext uri="{0D108BD9-81ED-4DB2-BD59-A6C34878D82A}">
                    <a16:rowId xmlns:a16="http://schemas.microsoft.com/office/drawing/2014/main" val="10006"/>
                  </a:ext>
                </a:extLst>
              </a:tr>
              <a:tr h="472500">
                <a:tc>
                  <a:txBody>
                    <a:bodyPr/>
                    <a:lstStyle/>
                    <a:p>
                      <a:pPr algn="r"/>
                      <a:r>
                        <a:rPr sz="1000" b="0">
                          <a:solidFill>
                            <a:srgbClr val="0B3041"/>
                          </a:solidFill>
                          <a:latin typeface="游ゴシック"/>
                          <a:ea typeface="游ゴシック"/>
                        </a:rPr>
                        <a:t>7</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営業部</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営業部</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女</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26歳</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630</a:t>
                      </a:r>
                    </a:p>
                  </a:txBody>
                  <a:tcPr marL="36000" marR="36000" marT="7200" marB="7200" anchor="ctr">
                    <a:solidFill>
                      <a:srgbClr val="FFFFFF"/>
                    </a:solidFill>
                  </a:tcPr>
                </a:tc>
                <a:tc>
                  <a:txBody>
                    <a:bodyPr/>
                    <a:lstStyle/>
                    <a:p>
                      <a:pPr algn="l"/>
                      <a:r>
                        <a:rPr sz="1000" b="0">
                          <a:solidFill>
                            <a:srgbClr val="0B3041"/>
                          </a:solidFill>
                          <a:latin typeface="游ゴシック"/>
                          <a:ea typeface="游ゴシック"/>
                        </a:rPr>
                        <a:t>2026年4月入社予定</a:t>
                      </a:r>
                    </a:p>
                  </a:txBody>
                  <a:tcPr marL="36000" marR="36000" marT="7200" marB="7200"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53025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a:latin typeface="+mj-ea"/>
                <a:ea typeface="+mj-ea"/>
              </a:rPr>
              <a:t>本社は東京・上野の好立地（サスガビル4階）に所在する1拠点。企画・営業・管理の各機能を集約しています。</a:t>
            </a:r>
            <a:endParaRPr lang="en-US" altLang="ja-JP" dirty="0"/>
          </a:p>
        </p:txBody>
      </p:sp>
      <p:sp>
        <p:nvSpPr>
          <p:cNvPr id="11" name="二等辺三角形 10">
            <a:extLst>
              <a:ext uri="{FF2B5EF4-FFF2-40B4-BE49-F238E27FC236}">
                <a16:creationId xmlns:a16="http://schemas.microsoft.com/office/drawing/2014/main" id="{1702ED47-A490-B2A1-B472-68ACB72C6CC7}"/>
              </a:ext>
            </a:extLst>
          </p:cNvPr>
          <p:cNvSpPr/>
          <p:nvPr/>
        </p:nvSpPr>
        <p:spPr>
          <a:xfrm rot="16200000">
            <a:off x="3617449" y="3198347"/>
            <a:ext cx="556559" cy="3219446"/>
          </a:xfrm>
          <a:prstGeom prst="triangle">
            <a:avLst/>
          </a:prstGeom>
          <a:solidFill>
            <a:srgbClr val="0889C9">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Rounded Rectangle 13"/>
          <p:cNvSpPr/>
          <p:nvPr/>
        </p:nvSpPr>
        <p:spPr>
          <a:xfrm>
            <a:off x="309600" y="3412800"/>
            <a:ext cx="4874400" cy="3546000"/>
          </a:xfrm>
          <a:prstGeom prst="roundRect">
            <a:avLst/>
          </a:prstGeom>
          <a:solidFill>
            <a:srgbClr val="E3E7E9"/>
          </a:solidFill>
          <a:ln w="15875">
            <a:solidFill>
              <a:srgbClr val="B0B8BD"/>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200" b="0">
                <a:solidFill>
                  <a:srgbClr val="595959"/>
                </a:solidFill>
                <a:latin typeface="游ゴシック"/>
                <a:ea typeface="游ゴシック"/>
              </a:rPr>
              <a:t>本社外観</a:t>
            </a:r>
          </a:p>
          <a:p>
            <a:pPr algn="ctr"/>
            <a:r>
              <a:rPr sz="1200" b="0">
                <a:solidFill>
                  <a:srgbClr val="595959"/>
                </a:solidFill>
                <a:latin typeface="游ゴシック"/>
                <a:ea typeface="游ゴシック"/>
              </a:rPr>
              <a:t>（写真ご提供予定）</a:t>
            </a:r>
          </a:p>
        </p:txBody>
      </p:sp>
      <p:sp>
        <p:nvSpPr>
          <p:cNvPr id="15" name="Rounded Rectangle 14"/>
          <p:cNvSpPr/>
          <p:nvPr/>
        </p:nvSpPr>
        <p:spPr>
          <a:xfrm>
            <a:off x="5504400" y="3412800"/>
            <a:ext cx="5000400" cy="3535200"/>
          </a:xfrm>
          <a:prstGeom prst="roundRect">
            <a:avLst/>
          </a:prstGeom>
          <a:solidFill>
            <a:srgbClr val="E3E7E9"/>
          </a:solidFill>
          <a:ln w="15875">
            <a:solidFill>
              <a:srgbClr val="B0B8BD"/>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200" b="0">
                <a:solidFill>
                  <a:srgbClr val="595959"/>
                </a:solidFill>
                <a:latin typeface="游ゴシック"/>
                <a:ea typeface="游ゴシック"/>
              </a:rPr>
              <a:t>周辺地図</a:t>
            </a:r>
          </a:p>
          <a:p>
            <a:pPr algn="ctr"/>
            <a:r>
              <a:rPr sz="1200" b="0">
                <a:solidFill>
                  <a:srgbClr val="595959"/>
                </a:solidFill>
                <a:latin typeface="游ゴシック"/>
                <a:ea typeface="游ゴシック"/>
              </a:rPr>
              <a:t>（ご提供予定）</a:t>
            </a:r>
          </a:p>
        </p:txBody>
      </p:sp>
      <p:graphicFrame>
        <p:nvGraphicFramePr>
          <p:cNvPr id="16" name="Table 15"/>
          <p:cNvGraphicFramePr>
            <a:graphicFrameLocks noGrp="1"/>
          </p:cNvGraphicFramePr>
          <p:nvPr/>
        </p:nvGraphicFramePr>
        <p:xfrm>
          <a:off x="309600" y="2951999"/>
          <a:ext cx="4860000" cy="1655997"/>
        </p:xfrm>
        <a:graphic>
          <a:graphicData uri="http://schemas.openxmlformats.org/drawingml/2006/table">
            <a:tbl>
              <a:tblPr>
                <a:tableStyleId>{5C22544A-7EE6-4342-B048-85BDC9FD1C3A}</a:tableStyleId>
              </a:tblPr>
              <a:tblGrid>
                <a:gridCol w="1152000">
                  <a:extLst>
                    <a:ext uri="{9D8B030D-6E8A-4147-A177-3AD203B41FA5}">
                      <a16:colId xmlns:a16="http://schemas.microsoft.com/office/drawing/2014/main" val="20000"/>
                    </a:ext>
                  </a:extLst>
                </a:gridCol>
                <a:gridCol w="3708000">
                  <a:extLst>
                    <a:ext uri="{9D8B030D-6E8A-4147-A177-3AD203B41FA5}">
                      <a16:colId xmlns:a16="http://schemas.microsoft.com/office/drawing/2014/main" val="20001"/>
                    </a:ext>
                  </a:extLst>
                </a:gridCol>
              </a:tblGrid>
              <a:tr h="236571">
                <a:tc>
                  <a:txBody>
                    <a:bodyPr/>
                    <a:lstStyle/>
                    <a:p>
                      <a:pPr algn="ctr"/>
                      <a:r>
                        <a:rPr sz="900" b="1">
                          <a:solidFill>
                            <a:srgbClr val="FFFFFF"/>
                          </a:solidFill>
                          <a:latin typeface="游ゴシック"/>
                          <a:ea typeface="游ゴシック"/>
                        </a:rPr>
                        <a:t>項目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内容</a:t>
                      </a:r>
                    </a:p>
                  </a:txBody>
                  <a:tcPr marL="36000" marR="36000" marT="7200" marB="7200" anchor="ctr">
                    <a:solidFill>
                      <a:srgbClr val="0B3041"/>
                    </a:solidFill>
                  </a:tcPr>
                </a:tc>
                <a:extLst>
                  <a:ext uri="{0D108BD9-81ED-4DB2-BD59-A6C34878D82A}">
                    <a16:rowId xmlns:a16="http://schemas.microsoft.com/office/drawing/2014/main" val="10000"/>
                  </a:ext>
                </a:extLst>
              </a:tr>
              <a:tr h="236571">
                <a:tc>
                  <a:txBody>
                    <a:bodyPr/>
                    <a:lstStyle/>
                    <a:p>
                      <a:pPr algn="l"/>
                      <a:r>
                        <a:rPr sz="900" b="0">
                          <a:solidFill>
                            <a:srgbClr val="0B3041"/>
                          </a:solidFill>
                          <a:latin typeface="游ゴシック"/>
                          <a:ea typeface="游ゴシック"/>
                        </a:rPr>
                        <a:t>所在地</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東京都台東区東上野一丁目20番5号 サスガビル4階</a:t>
                      </a:r>
                    </a:p>
                  </a:txBody>
                  <a:tcPr marL="36000" marR="36000" marT="7200" marB="7200" anchor="ctr">
                    <a:solidFill>
                      <a:srgbClr val="FFFFFF"/>
                    </a:solidFill>
                  </a:tcPr>
                </a:tc>
                <a:extLst>
                  <a:ext uri="{0D108BD9-81ED-4DB2-BD59-A6C34878D82A}">
                    <a16:rowId xmlns:a16="http://schemas.microsoft.com/office/drawing/2014/main" val="10001"/>
                  </a:ext>
                </a:extLst>
              </a:tr>
              <a:tr h="236571">
                <a:tc>
                  <a:txBody>
                    <a:bodyPr/>
                    <a:lstStyle/>
                    <a:p>
                      <a:pPr algn="l"/>
                      <a:r>
                        <a:rPr sz="900" b="0">
                          <a:solidFill>
                            <a:srgbClr val="0B3041"/>
                          </a:solidFill>
                          <a:latin typeface="游ゴシック"/>
                          <a:ea typeface="游ゴシック"/>
                        </a:rPr>
                        <a:t>契約形態</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賃貸借（普通賃貸借と推定・契約書原本確認中）</a:t>
                      </a:r>
                    </a:p>
                  </a:txBody>
                  <a:tcPr marL="36000" marR="36000" marT="7200" marB="7200" anchor="ctr">
                    <a:solidFill>
                      <a:srgbClr val="F4F7F9"/>
                    </a:solidFill>
                  </a:tcPr>
                </a:tc>
                <a:extLst>
                  <a:ext uri="{0D108BD9-81ED-4DB2-BD59-A6C34878D82A}">
                    <a16:rowId xmlns:a16="http://schemas.microsoft.com/office/drawing/2014/main" val="10002"/>
                  </a:ext>
                </a:extLst>
              </a:tr>
              <a:tr h="236571">
                <a:tc>
                  <a:txBody>
                    <a:bodyPr/>
                    <a:lstStyle/>
                    <a:p>
                      <a:pPr algn="l"/>
                      <a:r>
                        <a:rPr sz="900" b="0">
                          <a:solidFill>
                            <a:srgbClr val="0B3041"/>
                          </a:solidFill>
                          <a:latin typeface="游ゴシック"/>
                          <a:ea typeface="游ゴシック"/>
                        </a:rPr>
                        <a:t>月額賃料</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約458千円（PL地代家賃 年5,501千円÷12の推定値）</a:t>
                      </a:r>
                    </a:p>
                  </a:txBody>
                  <a:tcPr marL="36000" marR="36000" marT="7200" marB="7200" anchor="ctr">
                    <a:solidFill>
                      <a:srgbClr val="FFFFFF"/>
                    </a:solidFill>
                  </a:tcPr>
                </a:tc>
                <a:extLst>
                  <a:ext uri="{0D108BD9-81ED-4DB2-BD59-A6C34878D82A}">
                    <a16:rowId xmlns:a16="http://schemas.microsoft.com/office/drawing/2014/main" val="10003"/>
                  </a:ext>
                </a:extLst>
              </a:tr>
              <a:tr h="236571">
                <a:tc>
                  <a:txBody>
                    <a:bodyPr/>
                    <a:lstStyle/>
                    <a:p>
                      <a:pPr algn="l"/>
                      <a:r>
                        <a:rPr sz="900" b="0">
                          <a:solidFill>
                            <a:srgbClr val="0B3041"/>
                          </a:solidFill>
                          <a:latin typeface="游ゴシック"/>
                          <a:ea typeface="游ゴシック"/>
                        </a:rPr>
                        <a:t>敷金／保証金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1,264千円（BS差入保証金）</a:t>
                      </a:r>
                    </a:p>
                  </a:txBody>
                  <a:tcPr marL="36000" marR="36000" marT="7200" marB="7200" anchor="ctr">
                    <a:solidFill>
                      <a:srgbClr val="F4F7F9"/>
                    </a:solidFill>
                  </a:tcPr>
                </a:tc>
                <a:extLst>
                  <a:ext uri="{0D108BD9-81ED-4DB2-BD59-A6C34878D82A}">
                    <a16:rowId xmlns:a16="http://schemas.microsoft.com/office/drawing/2014/main" val="10004"/>
                  </a:ext>
                </a:extLst>
              </a:tr>
              <a:tr h="236571">
                <a:tc>
                  <a:txBody>
                    <a:bodyPr/>
                    <a:lstStyle/>
                    <a:p>
                      <a:pPr algn="l"/>
                      <a:r>
                        <a:rPr sz="900" b="0">
                          <a:solidFill>
                            <a:srgbClr val="0B3041"/>
                          </a:solidFill>
                          <a:latin typeface="游ゴシック"/>
                          <a:ea typeface="游ゴシック"/>
                        </a:rPr>
                        <a:t>延床面積</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確認中</a:t>
                      </a:r>
                    </a:p>
                  </a:txBody>
                  <a:tcPr marL="36000" marR="36000" marT="7200" marB="7200" anchor="ctr">
                    <a:solidFill>
                      <a:srgbClr val="FFFFFF"/>
                    </a:solidFill>
                  </a:tcPr>
                </a:tc>
                <a:extLst>
                  <a:ext uri="{0D108BD9-81ED-4DB2-BD59-A6C34878D82A}">
                    <a16:rowId xmlns:a16="http://schemas.microsoft.com/office/drawing/2014/main" val="10005"/>
                  </a:ext>
                </a:extLst>
              </a:tr>
              <a:tr h="236571">
                <a:tc>
                  <a:txBody>
                    <a:bodyPr/>
                    <a:lstStyle/>
                    <a:p>
                      <a:pPr algn="l"/>
                      <a:r>
                        <a:rPr sz="900" b="0">
                          <a:solidFill>
                            <a:srgbClr val="0B3041"/>
                          </a:solidFill>
                          <a:latin typeface="游ゴシック"/>
                          <a:ea typeface="游ゴシック"/>
                        </a:rPr>
                        <a:t>アクセス</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JR・東京メトロ上野駅 徒歩圏（東上野エリア）</a:t>
                      </a:r>
                    </a:p>
                  </a:txBody>
                  <a:tcPr marL="36000" marR="36000" marT="7200" marB="7200" anchor="ctr">
                    <a:solidFill>
                      <a:srgbClr val="F4F7F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30750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拠点体制（本社1拠点に集約）</a:t>
            </a:r>
          </a:p>
        </p:txBody>
      </p:sp>
      <p:sp>
        <p:nvSpPr>
          <p:cNvPr id="2" name="正方形/長方形 1">
            <a:extLst>
              <a:ext uri="{FF2B5EF4-FFF2-40B4-BE49-F238E27FC236}">
                <a16:creationId xmlns:a16="http://schemas.microsoft.com/office/drawing/2014/main" id="{A2452CE6-C739-7DE3-4FD5-98B5EF8D7EC8}"/>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sz="1400" b="1">
                <a:latin typeface="+mj-ea"/>
                <a:ea typeface="+mj-ea"/>
              </a:rPr>
              <a:t>本社機能</a:t>
            </a:r>
          </a:p>
        </p:txBody>
      </p:sp>
      <p:sp>
        <p:nvSpPr>
          <p:cNvPr id="3" name="正方形/長方形 2">
            <a:extLst>
              <a:ext uri="{FF2B5EF4-FFF2-40B4-BE49-F238E27FC236}">
                <a16:creationId xmlns:a16="http://schemas.microsoft.com/office/drawing/2014/main" id="{C1CF5E76-2A31-3C8E-5835-41447E70ED02}"/>
              </a:ext>
            </a:extLst>
          </p:cNvPr>
          <p:cNvSpPr/>
          <p:nvPr/>
        </p:nvSpPr>
        <p:spPr>
          <a:xfrm>
            <a:off x="311150" y="3638550"/>
            <a:ext cx="4737100" cy="3320415"/>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a:latin typeface="游ゴシック"/>
                <a:ea typeface="游ゴシック"/>
              </a:rPr>
              <a:t>生産体制</a:t>
            </a:r>
            <a:endParaRPr kumimoji="1" lang="ja-JP" altLang="en-US" dirty="0"/>
          </a:p>
        </p:txBody>
      </p:sp>
      <p:sp>
        <p:nvSpPr>
          <p:cNvPr id="4" name="正方形/長方形 3">
            <a:extLst>
              <a:ext uri="{FF2B5EF4-FFF2-40B4-BE49-F238E27FC236}">
                <a16:creationId xmlns:a16="http://schemas.microsoft.com/office/drawing/2014/main" id="{064C568E-8D23-CC8E-401F-ED1AC972E2CE}"/>
              </a:ext>
            </a:extLst>
          </p:cNvPr>
          <p:cNvSpPr/>
          <p:nvPr/>
        </p:nvSpPr>
        <p:spPr>
          <a:xfrm>
            <a:off x="5505450" y="3638550"/>
            <a:ext cx="4737100" cy="3320415"/>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300">
                <a:latin typeface="游ゴシック"/>
                <a:ea typeface="游ゴシック"/>
              </a:rPr>
              <a:t>当社は自社工場を保有しないファブレス体制です。</a:t>
            </a:r>
          </a:p>
          <a:p>
            <a:pPr algn="l"/>
            <a:endParaRPr sz="1300">
              <a:latin typeface="游ゴシック"/>
              <a:ea typeface="游ゴシック"/>
            </a:endParaRPr>
          </a:p>
          <a:p>
            <a:pPr algn="l"/>
            <a:r>
              <a:rPr sz="1300">
                <a:latin typeface="游ゴシック"/>
                <a:ea typeface="游ゴシック"/>
              </a:rPr>
              <a:t>製造は中国等の海外メーカー及び国内専門メーカーへ委託し、本社（東京・上野）に企画・営業・管理機能を集約しています。</a:t>
            </a:r>
          </a:p>
          <a:p>
            <a:pPr algn="l"/>
            <a:endParaRPr sz="1300">
              <a:latin typeface="游ゴシック"/>
              <a:ea typeface="游ゴシック"/>
            </a:endParaRPr>
          </a:p>
          <a:p>
            <a:pPr algn="l"/>
            <a:r>
              <a:rPr sz="1300">
                <a:latin typeface="游ゴシック"/>
                <a:ea typeface="游ゴシック"/>
              </a:rPr>
              <a:t>設備・在庫の負担が小さく、身軽で機動的な事業運営が可能な構造です。</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a:latin typeface="+mj-ea"/>
                <a:ea typeface="+mj-ea"/>
              </a:rPr>
              <a:t>当社は生産設備を自社保有せず、製造は外部委託。拠点は本社1拠点に集約された身軽な体制です。</a:t>
            </a:r>
            <a:endParaRPr lang="en-US" altLang="ja-JP" dirty="0"/>
          </a:p>
        </p:txBody>
      </p:sp>
    </p:spTree>
    <p:extLst>
      <p:ext uri="{BB962C8B-B14F-4D97-AF65-F5344CB8AC3E}">
        <p14:creationId xmlns:p14="http://schemas.microsoft.com/office/powerpoint/2010/main" val="3707275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lang="ja-JP" altLang="en-US" dirty="0"/>
              <a:t>不動産詳細</a:t>
            </a:r>
          </a:p>
        </p:txBody>
      </p:sp>
      <p:sp>
        <p:nvSpPr>
          <p:cNvPr id="2" name="正方形/長方形 1">
            <a:extLst>
              <a:ext uri="{FF2B5EF4-FFF2-40B4-BE49-F238E27FC236}">
                <a16:creationId xmlns:a16="http://schemas.microsoft.com/office/drawing/2014/main" id="{6E2B06A4-5CE5-00C3-97BF-5F9AFAE677E3}"/>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所有</a:t>
            </a:r>
          </a:p>
        </p:txBody>
      </p:sp>
      <p:sp>
        <p:nvSpPr>
          <p:cNvPr id="3" name="正方形/長方形 2">
            <a:extLst>
              <a:ext uri="{FF2B5EF4-FFF2-40B4-BE49-F238E27FC236}">
                <a16:creationId xmlns:a16="http://schemas.microsoft.com/office/drawing/2014/main" id="{75ADC88D-D2D4-EEF0-D14C-0426FECA60C3}"/>
              </a:ext>
            </a:extLst>
          </p:cNvPr>
          <p:cNvSpPr/>
          <p:nvPr/>
        </p:nvSpPr>
        <p:spPr>
          <a:xfrm>
            <a:off x="311150" y="44990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賃借</a:t>
            </a:r>
          </a:p>
        </p:txBody>
      </p:sp>
      <p:sp>
        <p:nvSpPr>
          <p:cNvPr id="4" name="タイトル 1">
            <a:extLst>
              <a:ext uri="{FF2B5EF4-FFF2-40B4-BE49-F238E27FC236}">
                <a16:creationId xmlns:a16="http://schemas.microsoft.com/office/drawing/2014/main" id="{DAA41D5B-A131-C808-ADF3-2DAFD20777F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a:latin typeface="+mj-ea"/>
                <a:ea typeface="+mj-ea"/>
              </a:rPr>
              <a:t>所有不動産はなく、本社を賃借。固定資産負担の小さい資産構成です。</a:t>
            </a:r>
            <a:endParaRPr lang="en-US" altLang="ja-JP" dirty="0"/>
          </a:p>
        </p:txBody>
      </p:sp>
      <p:sp>
        <p:nvSpPr>
          <p:cNvPr id="14" name="TextBox 13"/>
          <p:cNvSpPr txBox="1"/>
          <p:nvPr/>
        </p:nvSpPr>
        <p:spPr>
          <a:xfrm>
            <a:off x="309600" y="1980000"/>
            <a:ext cx="10080000" cy="1980000"/>
          </a:xfrm>
          <a:prstGeom prst="rect">
            <a:avLst/>
          </a:prstGeom>
          <a:noFill/>
        </p:spPr>
        <p:txBody>
          <a:bodyPr wrap="square">
            <a:spAutoFit/>
          </a:bodyPr>
          <a:lstStyle/>
          <a:p>
            <a:pPr algn="l"/>
            <a:r>
              <a:rPr sz="1200">
                <a:solidFill>
                  <a:srgbClr val="0B3041"/>
                </a:solidFill>
                <a:latin typeface="游ゴシック"/>
                <a:ea typeface="游ゴシック"/>
              </a:rPr>
              <a:t>所有不動産はありません。</a:t>
            </a:r>
          </a:p>
          <a:p>
            <a:pPr algn="l"/>
            <a:r>
              <a:rPr sz="1200">
                <a:solidFill>
                  <a:srgbClr val="0B3041"/>
                </a:solidFill>
                <a:latin typeface="游ゴシック"/>
                <a:ea typeface="游ゴシック"/>
              </a:rPr>
              <a:t>BS上、土地・建物の勘定科目の計上はなく、本社は賃借です。</a:t>
            </a:r>
          </a:p>
          <a:p>
            <a:pPr algn="l"/>
            <a:r>
              <a:rPr sz="1200">
                <a:solidFill>
                  <a:srgbClr val="0B3041"/>
                </a:solidFill>
                <a:latin typeface="游ゴシック"/>
                <a:ea typeface="游ゴシック"/>
              </a:rPr>
              <a:t>有形固定資産は建物附属設備・車両運搬具・工具器具備品のみ（令和8年1月期末 簿価合計 約1,057千円）で、固定資産負担の小さい資産構成です。</a:t>
            </a:r>
          </a:p>
        </p:txBody>
      </p:sp>
      <p:graphicFrame>
        <p:nvGraphicFramePr>
          <p:cNvPr id="15" name="Table 14"/>
          <p:cNvGraphicFramePr>
            <a:graphicFrameLocks noGrp="1"/>
          </p:cNvGraphicFramePr>
          <p:nvPr/>
        </p:nvGraphicFramePr>
        <p:xfrm>
          <a:off x="309600" y="4896000"/>
          <a:ext cx="10080000" cy="1335600"/>
        </p:xfrm>
        <a:graphic>
          <a:graphicData uri="http://schemas.openxmlformats.org/drawingml/2006/table">
            <a:tbl>
              <a:tblPr>
                <a:tableStyleId>{5C22544A-7EE6-4342-B048-85BDC9FD1C3A}</a:tableStyleId>
              </a:tblPr>
              <a:tblGrid>
                <a:gridCol w="1260000">
                  <a:extLst>
                    <a:ext uri="{9D8B030D-6E8A-4147-A177-3AD203B41FA5}">
                      <a16:colId xmlns:a16="http://schemas.microsoft.com/office/drawing/2014/main" val="20000"/>
                    </a:ext>
                  </a:extLst>
                </a:gridCol>
                <a:gridCol w="8820000">
                  <a:extLst>
                    <a:ext uri="{9D8B030D-6E8A-4147-A177-3AD203B41FA5}">
                      <a16:colId xmlns:a16="http://schemas.microsoft.com/office/drawing/2014/main" val="20001"/>
                    </a:ext>
                  </a:extLst>
                </a:gridCol>
              </a:tblGrid>
              <a:tr h="190800">
                <a:tc>
                  <a:txBody>
                    <a:bodyPr/>
                    <a:lstStyle/>
                    <a:p>
                      <a:pPr algn="ctr"/>
                      <a:r>
                        <a:rPr sz="900" b="1">
                          <a:solidFill>
                            <a:srgbClr val="FFFFFF"/>
                          </a:solidFill>
                          <a:latin typeface="游ゴシック"/>
                          <a:ea typeface="游ゴシック"/>
                        </a:rPr>
                        <a:t>項目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内容</a:t>
                      </a:r>
                    </a:p>
                  </a:txBody>
                  <a:tcPr marL="36000" marR="36000" marT="7200" marB="7200" anchor="ctr">
                    <a:solidFill>
                      <a:srgbClr val="0B3041"/>
                    </a:solidFill>
                  </a:tcPr>
                </a:tc>
                <a:extLst>
                  <a:ext uri="{0D108BD9-81ED-4DB2-BD59-A6C34878D82A}">
                    <a16:rowId xmlns:a16="http://schemas.microsoft.com/office/drawing/2014/main" val="10000"/>
                  </a:ext>
                </a:extLst>
              </a:tr>
              <a:tr h="190800">
                <a:tc>
                  <a:txBody>
                    <a:bodyPr/>
                    <a:lstStyle/>
                    <a:p>
                      <a:pPr algn="l"/>
                      <a:r>
                        <a:rPr sz="900" b="0">
                          <a:solidFill>
                            <a:srgbClr val="0B3041"/>
                          </a:solidFill>
                          <a:latin typeface="游ゴシック"/>
                          <a:ea typeface="游ゴシック"/>
                        </a:rPr>
                        <a:t>物件</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本社（事務所／サスガビル4階）</a:t>
                      </a:r>
                    </a:p>
                  </a:txBody>
                  <a:tcPr marL="36000" marR="36000" marT="7200" marB="7200" anchor="ctr">
                    <a:solidFill>
                      <a:srgbClr val="FFFFFF"/>
                    </a:solidFill>
                  </a:tcPr>
                </a:tc>
                <a:extLst>
                  <a:ext uri="{0D108BD9-81ED-4DB2-BD59-A6C34878D82A}">
                    <a16:rowId xmlns:a16="http://schemas.microsoft.com/office/drawing/2014/main" val="10001"/>
                  </a:ext>
                </a:extLst>
              </a:tr>
              <a:tr h="190800">
                <a:tc>
                  <a:txBody>
                    <a:bodyPr/>
                    <a:lstStyle/>
                    <a:p>
                      <a:pPr algn="l"/>
                      <a:r>
                        <a:rPr sz="900" b="0">
                          <a:solidFill>
                            <a:srgbClr val="0B3041"/>
                          </a:solidFill>
                          <a:latin typeface="游ゴシック"/>
                          <a:ea typeface="游ゴシック"/>
                        </a:rPr>
                        <a:t>所在地</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東京都台東区東上野一丁目20番5号</a:t>
                      </a:r>
                    </a:p>
                  </a:txBody>
                  <a:tcPr marL="36000" marR="36000" marT="7200" marB="7200" anchor="ctr">
                    <a:solidFill>
                      <a:srgbClr val="F4F7F9"/>
                    </a:solidFill>
                  </a:tcPr>
                </a:tc>
                <a:extLst>
                  <a:ext uri="{0D108BD9-81ED-4DB2-BD59-A6C34878D82A}">
                    <a16:rowId xmlns:a16="http://schemas.microsoft.com/office/drawing/2014/main" val="10002"/>
                  </a:ext>
                </a:extLst>
              </a:tr>
              <a:tr h="190800">
                <a:tc>
                  <a:txBody>
                    <a:bodyPr/>
                    <a:lstStyle/>
                    <a:p>
                      <a:pPr algn="l"/>
                      <a:r>
                        <a:rPr sz="900" b="0">
                          <a:solidFill>
                            <a:srgbClr val="0B3041"/>
                          </a:solidFill>
                          <a:latin typeface="游ゴシック"/>
                          <a:ea typeface="游ゴシック"/>
                        </a:rPr>
                        <a:t>契約形態</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普通賃貸借（推定・原本確認中）</a:t>
                      </a:r>
                    </a:p>
                  </a:txBody>
                  <a:tcPr marL="36000" marR="36000" marT="7200" marB="7200" anchor="ctr">
                    <a:solidFill>
                      <a:srgbClr val="FFFFFF"/>
                    </a:solidFill>
                  </a:tcPr>
                </a:tc>
                <a:extLst>
                  <a:ext uri="{0D108BD9-81ED-4DB2-BD59-A6C34878D82A}">
                    <a16:rowId xmlns:a16="http://schemas.microsoft.com/office/drawing/2014/main" val="10003"/>
                  </a:ext>
                </a:extLst>
              </a:tr>
              <a:tr h="190800">
                <a:tc>
                  <a:txBody>
                    <a:bodyPr/>
                    <a:lstStyle/>
                    <a:p>
                      <a:pPr algn="l"/>
                      <a:r>
                        <a:rPr sz="900" b="0">
                          <a:solidFill>
                            <a:srgbClr val="0B3041"/>
                          </a:solidFill>
                          <a:latin typeface="游ゴシック"/>
                          <a:ea typeface="游ゴシック"/>
                        </a:rPr>
                        <a:t>月額賃料</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約458千円（推定）</a:t>
                      </a:r>
                    </a:p>
                  </a:txBody>
                  <a:tcPr marL="36000" marR="36000" marT="7200" marB="7200" anchor="ctr">
                    <a:solidFill>
                      <a:srgbClr val="F4F7F9"/>
                    </a:solidFill>
                  </a:tcPr>
                </a:tc>
                <a:extLst>
                  <a:ext uri="{0D108BD9-81ED-4DB2-BD59-A6C34878D82A}">
                    <a16:rowId xmlns:a16="http://schemas.microsoft.com/office/drawing/2014/main" val="10004"/>
                  </a:ext>
                </a:extLst>
              </a:tr>
              <a:tr h="190800">
                <a:tc>
                  <a:txBody>
                    <a:bodyPr/>
                    <a:lstStyle/>
                    <a:p>
                      <a:pPr algn="l"/>
                      <a:r>
                        <a:rPr sz="900" b="0">
                          <a:solidFill>
                            <a:srgbClr val="0B3041"/>
                          </a:solidFill>
                          <a:latin typeface="游ゴシック"/>
                          <a:ea typeface="游ゴシック"/>
                        </a:rPr>
                        <a:t>敷金／保証金</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1,264千円</a:t>
                      </a:r>
                    </a:p>
                  </a:txBody>
                  <a:tcPr marL="36000" marR="36000" marT="7200" marB="7200" anchor="ctr">
                    <a:solidFill>
                      <a:srgbClr val="FFFFFF"/>
                    </a:solidFill>
                  </a:tcPr>
                </a:tc>
                <a:extLst>
                  <a:ext uri="{0D108BD9-81ED-4DB2-BD59-A6C34878D82A}">
                    <a16:rowId xmlns:a16="http://schemas.microsoft.com/office/drawing/2014/main" val="10005"/>
                  </a:ext>
                </a:extLst>
              </a:tr>
              <a:tr h="190800">
                <a:tc>
                  <a:txBody>
                    <a:bodyPr/>
                    <a:lstStyle/>
                    <a:p>
                      <a:pPr algn="l"/>
                      <a:r>
                        <a:rPr sz="900" b="0">
                          <a:solidFill>
                            <a:srgbClr val="0B3041"/>
                          </a:solidFill>
                          <a:latin typeface="游ゴシック"/>
                          <a:ea typeface="游ゴシック"/>
                        </a:rPr>
                        <a:t>貸主</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確認中</a:t>
                      </a:r>
                    </a:p>
                  </a:txBody>
                  <a:tcPr marL="36000" marR="36000" marT="7200" marB="7200" anchor="ctr">
                    <a:solidFill>
                      <a:srgbClr val="F4F7F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04129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a:latin typeface="+mj-ea"/>
                <a:ea typeface="+mj-ea"/>
              </a:rPr>
              <a:t>自社工場を持たないファブレス体制のため、保有設備は少額。有形固定資産は建物附属設備・車両運搬具・工具器具備品の合計約1,057千円です。</a:t>
            </a:r>
            <a:endParaRPr lang="en-US" altLang="ja-JP" dirty="0"/>
          </a:p>
        </p:txBody>
      </p:sp>
      <p:graphicFrame>
        <p:nvGraphicFramePr>
          <p:cNvPr id="14" name="Table 13"/>
          <p:cNvGraphicFramePr>
            <a:graphicFrameLocks noGrp="1"/>
          </p:cNvGraphicFramePr>
          <p:nvPr/>
        </p:nvGraphicFramePr>
        <p:xfrm>
          <a:off x="309600" y="1620000"/>
          <a:ext cx="5400000" cy="1404000"/>
        </p:xfrm>
        <a:graphic>
          <a:graphicData uri="http://schemas.openxmlformats.org/drawingml/2006/table">
            <a:tbl>
              <a:tblPr>
                <a:tableStyleId>{5C22544A-7EE6-4342-B048-85BDC9FD1C3A}</a:tableStyleId>
              </a:tblPr>
              <a:tblGrid>
                <a:gridCol w="288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tblGrid>
              <a:tr h="234000">
                <a:tc>
                  <a:txBody>
                    <a:bodyPr/>
                    <a:lstStyle/>
                    <a:p>
                      <a:pPr algn="ctr"/>
                      <a:r>
                        <a:rPr sz="10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期末簿価(令和8年1月期)</a:t>
                      </a:r>
                    </a:p>
                  </a:txBody>
                  <a:tcPr marL="36000" marR="36000" marT="7200" marB="7200" anchor="ctr">
                    <a:solidFill>
                      <a:srgbClr val="0B3041"/>
                    </a:solidFill>
                  </a:tcPr>
                </a:tc>
                <a:extLst>
                  <a:ext uri="{0D108BD9-81ED-4DB2-BD59-A6C34878D82A}">
                    <a16:rowId xmlns:a16="http://schemas.microsoft.com/office/drawing/2014/main" val="10000"/>
                  </a:ext>
                </a:extLst>
              </a:tr>
              <a:tr h="234000">
                <a:tc>
                  <a:txBody>
                    <a:bodyPr/>
                    <a:lstStyle/>
                    <a:p>
                      <a:pPr algn="l"/>
                      <a:r>
                        <a:rPr sz="1000" b="0">
                          <a:solidFill>
                            <a:srgbClr val="0B3041"/>
                          </a:solidFill>
                          <a:latin typeface="游ゴシック"/>
                          <a:ea typeface="游ゴシック"/>
                        </a:rPr>
                        <a:t>建物附属設備</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701千円</a:t>
                      </a:r>
                    </a:p>
                  </a:txBody>
                  <a:tcPr marL="36000" marR="36000" marT="7200" marB="7200" anchor="ctr">
                    <a:solidFill>
                      <a:srgbClr val="FFFFFF"/>
                    </a:solidFill>
                  </a:tcPr>
                </a:tc>
                <a:extLst>
                  <a:ext uri="{0D108BD9-81ED-4DB2-BD59-A6C34878D82A}">
                    <a16:rowId xmlns:a16="http://schemas.microsoft.com/office/drawing/2014/main" val="10001"/>
                  </a:ext>
                </a:extLst>
              </a:tr>
              <a:tr h="234000">
                <a:tc>
                  <a:txBody>
                    <a:bodyPr/>
                    <a:lstStyle/>
                    <a:p>
                      <a:pPr algn="l"/>
                      <a:r>
                        <a:rPr sz="1000" b="0">
                          <a:solidFill>
                            <a:srgbClr val="0B3041"/>
                          </a:solidFill>
                          <a:latin typeface="游ゴシック"/>
                          <a:ea typeface="游ゴシック"/>
                        </a:rPr>
                        <a:t>車両運搬具</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265千円</a:t>
                      </a:r>
                    </a:p>
                  </a:txBody>
                  <a:tcPr marL="36000" marR="36000" marT="7200" marB="7200" anchor="ctr">
                    <a:solidFill>
                      <a:srgbClr val="F4F7F9"/>
                    </a:solidFill>
                  </a:tcPr>
                </a:tc>
                <a:extLst>
                  <a:ext uri="{0D108BD9-81ED-4DB2-BD59-A6C34878D82A}">
                    <a16:rowId xmlns:a16="http://schemas.microsoft.com/office/drawing/2014/main" val="10002"/>
                  </a:ext>
                </a:extLst>
              </a:tr>
              <a:tr h="234000">
                <a:tc>
                  <a:txBody>
                    <a:bodyPr/>
                    <a:lstStyle/>
                    <a:p>
                      <a:pPr algn="l"/>
                      <a:r>
                        <a:rPr sz="1000" b="0">
                          <a:solidFill>
                            <a:srgbClr val="0B3041"/>
                          </a:solidFill>
                          <a:latin typeface="游ゴシック"/>
                          <a:ea typeface="游ゴシック"/>
                        </a:rPr>
                        <a:t>工具器具備品</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91千円</a:t>
                      </a:r>
                    </a:p>
                  </a:txBody>
                  <a:tcPr marL="36000" marR="36000" marT="7200" marB="7200" anchor="ctr">
                    <a:solidFill>
                      <a:srgbClr val="FFFFFF"/>
                    </a:solidFill>
                  </a:tcPr>
                </a:tc>
                <a:extLst>
                  <a:ext uri="{0D108BD9-81ED-4DB2-BD59-A6C34878D82A}">
                    <a16:rowId xmlns:a16="http://schemas.microsoft.com/office/drawing/2014/main" val="10003"/>
                  </a:ext>
                </a:extLst>
              </a:tr>
              <a:tr h="234000">
                <a:tc>
                  <a:txBody>
                    <a:bodyPr/>
                    <a:lstStyle/>
                    <a:p>
                      <a:pPr algn="l"/>
                      <a:r>
                        <a:rPr sz="1000" b="1">
                          <a:solidFill>
                            <a:srgbClr val="0B3041"/>
                          </a:solidFill>
                          <a:latin typeface="游ゴシック"/>
                          <a:ea typeface="游ゴシック"/>
                        </a:rPr>
                        <a:t>有形固定資産 合計</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1,057千円</a:t>
                      </a:r>
                    </a:p>
                  </a:txBody>
                  <a:tcPr marL="36000" marR="36000" marT="7200" marB="7200" anchor="ctr">
                    <a:solidFill>
                      <a:srgbClr val="E3E7E9"/>
                    </a:solidFill>
                  </a:tcPr>
                </a:tc>
                <a:extLst>
                  <a:ext uri="{0D108BD9-81ED-4DB2-BD59-A6C34878D82A}">
                    <a16:rowId xmlns:a16="http://schemas.microsoft.com/office/drawing/2014/main" val="10004"/>
                  </a:ext>
                </a:extLst>
              </a:tr>
              <a:tr h="234000">
                <a:tc>
                  <a:txBody>
                    <a:bodyPr/>
                    <a:lstStyle/>
                    <a:p>
                      <a:pPr algn="l"/>
                      <a:r>
                        <a:rPr sz="1000" b="0">
                          <a:solidFill>
                            <a:srgbClr val="0B3041"/>
                          </a:solidFill>
                          <a:latin typeface="游ゴシック"/>
                          <a:ea typeface="游ゴシック"/>
                        </a:rPr>
                        <a:t>（無形）ソフトウェア</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2,112千円</a:t>
                      </a:r>
                    </a:p>
                  </a:txBody>
                  <a:tcPr marL="36000" marR="36000" marT="7200" marB="7200" anchor="ctr">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309600" y="3240000"/>
            <a:ext cx="7200000" cy="900000"/>
          </a:xfrm>
          <a:prstGeom prst="rect">
            <a:avLst/>
          </a:prstGeom>
          <a:noFill/>
        </p:spPr>
        <p:txBody>
          <a:bodyPr wrap="square">
            <a:spAutoFit/>
          </a:bodyPr>
          <a:lstStyle/>
          <a:p>
            <a:pPr algn="l"/>
            <a:r>
              <a:rPr sz="1100">
                <a:solidFill>
                  <a:srgbClr val="595959"/>
                </a:solidFill>
                <a:latin typeface="游ゴシック"/>
                <a:ea typeface="游ゴシック"/>
              </a:rPr>
              <a:t>※ 個別資産の名称・取得年月・耐用年数等は、減価償却台帳（原本）確認中のため未記載です。</a:t>
            </a:r>
          </a:p>
          <a:p>
            <a:pPr algn="l"/>
            <a:r>
              <a:rPr sz="1100">
                <a:solidFill>
                  <a:srgbClr val="595959"/>
                </a:solidFill>
                <a:latin typeface="游ゴシック"/>
                <a:ea typeface="游ゴシック"/>
              </a:rPr>
              <a:t>※ 自社工場を持たないファブレス体制のため、保有設備は少額です。</a:t>
            </a:r>
          </a:p>
        </p:txBody>
      </p:sp>
    </p:spTree>
    <p:extLst>
      <p:ext uri="{BB962C8B-B14F-4D97-AF65-F5344CB8AC3E}">
        <p14:creationId xmlns:p14="http://schemas.microsoft.com/office/powerpoint/2010/main" val="915540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dirty="0">
                <a:latin typeface="+mj-ea"/>
                <a:ea typeface="+mj-ea"/>
              </a:rPr>
              <a:t>3期を通じて自己資本を着実に積み上げ、</a:t>
            </a:r>
            <a:r>
              <a:rPr lang="en-US" dirty="0">
                <a:latin typeface="+mj-ea"/>
                <a:ea typeface="+mj-ea"/>
              </a:rPr>
              <a:t>2026</a:t>
            </a:r>
            <a:r>
              <a:rPr dirty="0">
                <a:latin typeface="+mj-ea"/>
                <a:ea typeface="+mj-ea"/>
              </a:rPr>
              <a:t>年1月期の純資産は</a:t>
            </a:r>
            <a:r>
              <a:rPr lang="ja-JP" altLang="en-US" dirty="0"/>
              <a:t>約</a:t>
            </a:r>
            <a:r>
              <a:rPr lang="en-US" altLang="ja-JP" dirty="0"/>
              <a:t>333,536</a:t>
            </a:r>
            <a:r>
              <a:rPr lang="ja-JP" altLang="en-US" dirty="0"/>
              <a:t>千円</a:t>
            </a:r>
            <a:r>
              <a:rPr dirty="0">
                <a:latin typeface="+mj-ea"/>
                <a:ea typeface="+mj-ea"/>
              </a:rPr>
              <a:t>、自己資本比率60.6%。</a:t>
            </a:r>
            <a:r>
              <a:rPr dirty="0" err="1">
                <a:latin typeface="+mj-ea"/>
                <a:ea typeface="+mj-ea"/>
              </a:rPr>
              <a:t>現預金・投資有価証券等の金融資産を潤沢に保有</a:t>
            </a:r>
            <a:r>
              <a:rPr dirty="0">
                <a:latin typeface="+mj-ea"/>
                <a:ea typeface="+mj-ea"/>
              </a:rPr>
              <a:t>。</a:t>
            </a:r>
            <a:endParaRPr lang="en-US" altLang="ja-JP" dirty="0"/>
          </a:p>
        </p:txBody>
      </p:sp>
      <p:graphicFrame>
        <p:nvGraphicFramePr>
          <p:cNvPr id="3" name="表 2">
            <a:extLst>
              <a:ext uri="{FF2B5EF4-FFF2-40B4-BE49-F238E27FC236}">
                <a16:creationId xmlns:a16="http://schemas.microsoft.com/office/drawing/2014/main" id="{ED3FFCF2-01D6-D5D2-B115-DDDAF997F296}"/>
              </a:ext>
            </a:extLst>
          </p:cNvPr>
          <p:cNvGraphicFramePr>
            <a:graphicFrameLocks noGrp="1"/>
          </p:cNvGraphicFramePr>
          <p:nvPr>
            <p:extLst>
              <p:ext uri="{D42A27DB-BD31-4B8C-83A1-F6EECF244321}">
                <p14:modId xmlns:p14="http://schemas.microsoft.com/office/powerpoint/2010/main" val="3353666852"/>
              </p:ext>
            </p:extLst>
          </p:nvPr>
        </p:nvGraphicFramePr>
        <p:xfrm>
          <a:off x="341313" y="1465130"/>
          <a:ext cx="5003801" cy="5502875"/>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353,922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309,100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226,144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260,204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99848284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5401797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90820069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73541936"/>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33003637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1127561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69950423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27175285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6291713"/>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140,739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228,973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6720791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3165472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931677643"/>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9855795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9272640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45971885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138,808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945016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112,672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188,090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275,896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19688784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791012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0510166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5172801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8677170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24,767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337677392"/>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263014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494,662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538,073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550,008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18816421"/>
                  </a:ext>
                </a:extLst>
              </a:tr>
            </a:tbl>
          </a:graphicData>
        </a:graphic>
      </p:graphicFrame>
      <p:graphicFrame>
        <p:nvGraphicFramePr>
          <p:cNvPr id="9" name="表 8">
            <a:extLst>
              <a:ext uri="{FF2B5EF4-FFF2-40B4-BE49-F238E27FC236}">
                <a16:creationId xmlns:a16="http://schemas.microsoft.com/office/drawing/2014/main" id="{B8B8034E-CCA0-199B-5D45-A95747C20662}"/>
              </a:ext>
            </a:extLst>
          </p:cNvPr>
          <p:cNvGraphicFramePr>
            <a:graphicFrameLocks noGrp="1"/>
          </p:cNvGraphicFramePr>
          <p:nvPr>
            <p:extLst>
              <p:ext uri="{D42A27DB-BD31-4B8C-83A1-F6EECF244321}">
                <p14:modId xmlns:p14="http://schemas.microsoft.com/office/powerpoint/2010/main" val="125833566"/>
              </p:ext>
            </p:extLst>
          </p:nvPr>
        </p:nvGraphicFramePr>
        <p:xfrm>
          <a:off x="5345114" y="1465133"/>
          <a:ext cx="5005387" cy="246358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182052">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106,163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70,492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42,759</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51,251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9,645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5,447</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3,947</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566081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19,455</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172560937"/>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12,018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040364828"/>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154</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715630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7055012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41,828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54729595"/>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771867648"/>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35161222"/>
                  </a:ext>
                </a:extLst>
              </a:tr>
              <a:tr h="182880">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239,314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242,167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216,472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26826700"/>
                  </a:ext>
                </a:extLst>
              </a:tr>
            </a:tbl>
          </a:graphicData>
        </a:graphic>
      </p:graphicFrame>
      <p:graphicFrame>
        <p:nvGraphicFramePr>
          <p:cNvPr id="11" name="表 10">
            <a:extLst>
              <a:ext uri="{FF2B5EF4-FFF2-40B4-BE49-F238E27FC236}">
                <a16:creationId xmlns:a16="http://schemas.microsoft.com/office/drawing/2014/main" id="{B4F2EDCB-2EC3-7053-7613-82493D7F511B}"/>
              </a:ext>
            </a:extLst>
          </p:cNvPr>
          <p:cNvGraphicFramePr>
            <a:graphicFrameLocks noGrp="1"/>
          </p:cNvGraphicFramePr>
          <p:nvPr>
            <p:extLst>
              <p:ext uri="{D42A27DB-BD31-4B8C-83A1-F6EECF244321}">
                <p14:modId xmlns:p14="http://schemas.microsoft.com/office/powerpoint/2010/main" val="2827332643"/>
              </p:ext>
            </p:extLst>
          </p:nvPr>
        </p:nvGraphicFramePr>
        <p:xfrm>
          <a:off x="5345113" y="5349405"/>
          <a:ext cx="5005387" cy="1618600"/>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15556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36613783"/>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9285816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3271575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98219748"/>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255,348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295,906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333,536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494,662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538,073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550,008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4189178875"/>
                  </a:ext>
                </a:extLst>
              </a:tr>
            </a:tbl>
          </a:graphicData>
        </a:graphic>
      </p:graphicFrame>
    </p:spTree>
    <p:extLst>
      <p:ext uri="{BB962C8B-B14F-4D97-AF65-F5344CB8AC3E}">
        <p14:creationId xmlns:p14="http://schemas.microsoft.com/office/powerpoint/2010/main" val="2877881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en-US" dirty="0"/>
              <a:t>2025</a:t>
            </a:r>
            <a:r>
              <a:rPr dirty="0">
                <a:latin typeface="+mj-ea"/>
                <a:ea typeface="+mj-ea"/>
              </a:rPr>
              <a:t>年1月期に売上・利益が大きく伸長。</a:t>
            </a:r>
            <a:r>
              <a:rPr lang="en-US" dirty="0">
                <a:latin typeface="+mj-ea"/>
                <a:ea typeface="+mj-ea"/>
              </a:rPr>
              <a:t>2026</a:t>
            </a:r>
            <a:r>
              <a:rPr dirty="0">
                <a:latin typeface="+mj-ea"/>
                <a:ea typeface="+mj-ea"/>
              </a:rPr>
              <a:t>年1月期は売上422百万円・営業利益58百万円と高水準を維持し、営業利益率13.9%を確保してい</a:t>
            </a:r>
            <a:r>
              <a:rPr lang="ja-JP" altLang="en-US" dirty="0"/>
              <a:t>る</a:t>
            </a:r>
            <a:r>
              <a:rPr dirty="0">
                <a:latin typeface="+mj-ea"/>
                <a:ea typeface="+mj-ea"/>
              </a:rPr>
              <a:t>。</a:t>
            </a:r>
            <a:endParaRPr lang="en-US" altLang="ja-JP" dirty="0"/>
          </a:p>
        </p:txBody>
      </p:sp>
      <p:graphicFrame>
        <p:nvGraphicFramePr>
          <p:cNvPr id="7" name="表 6">
            <a:extLst>
              <a:ext uri="{FF2B5EF4-FFF2-40B4-BE49-F238E27FC236}">
                <a16:creationId xmlns:a16="http://schemas.microsoft.com/office/drawing/2014/main" id="{84459E27-86F9-B5C8-0AE6-0F47C5BC98E8}"/>
              </a:ext>
            </a:extLst>
          </p:cNvPr>
          <p:cNvGraphicFramePr>
            <a:graphicFrameLocks noGrp="1"/>
          </p:cNvGraphicFramePr>
          <p:nvPr>
            <p:extLst>
              <p:ext uri="{D42A27DB-BD31-4B8C-83A1-F6EECF244321}">
                <p14:modId xmlns:p14="http://schemas.microsoft.com/office/powerpoint/2010/main" val="2931623783"/>
              </p:ext>
            </p:extLst>
          </p:nvPr>
        </p:nvGraphicFramePr>
        <p:xfrm>
          <a:off x="341312" y="1238667"/>
          <a:ext cx="9901240" cy="5712739"/>
        </p:xfrm>
        <a:graphic>
          <a:graphicData uri="http://schemas.openxmlformats.org/drawingml/2006/table">
            <a:tbl>
              <a:tblPr/>
              <a:tblGrid>
                <a:gridCol w="2159926">
                  <a:extLst>
                    <a:ext uri="{9D8B030D-6E8A-4147-A177-3AD203B41FA5}">
                      <a16:colId xmlns:a16="http://schemas.microsoft.com/office/drawing/2014/main" val="1203225717"/>
                    </a:ext>
                  </a:extLst>
                </a:gridCol>
                <a:gridCol w="1290219">
                  <a:extLst>
                    <a:ext uri="{9D8B030D-6E8A-4147-A177-3AD203B41FA5}">
                      <a16:colId xmlns:a16="http://schemas.microsoft.com/office/drawing/2014/main" val="757072105"/>
                    </a:ext>
                  </a:extLst>
                </a:gridCol>
                <a:gridCol w="1290219">
                  <a:extLst>
                    <a:ext uri="{9D8B030D-6E8A-4147-A177-3AD203B41FA5}">
                      <a16:colId xmlns:a16="http://schemas.microsoft.com/office/drawing/2014/main" val="2934432485"/>
                    </a:ext>
                  </a:extLst>
                </a:gridCol>
                <a:gridCol w="1290219">
                  <a:extLst>
                    <a:ext uri="{9D8B030D-6E8A-4147-A177-3AD203B41FA5}">
                      <a16:colId xmlns:a16="http://schemas.microsoft.com/office/drawing/2014/main" val="3085477051"/>
                    </a:ext>
                  </a:extLst>
                </a:gridCol>
                <a:gridCol w="1290219">
                  <a:extLst>
                    <a:ext uri="{9D8B030D-6E8A-4147-A177-3AD203B41FA5}">
                      <a16:colId xmlns:a16="http://schemas.microsoft.com/office/drawing/2014/main" val="1904258578"/>
                    </a:ext>
                  </a:extLst>
                </a:gridCol>
                <a:gridCol w="1290219">
                  <a:extLst>
                    <a:ext uri="{9D8B030D-6E8A-4147-A177-3AD203B41FA5}">
                      <a16:colId xmlns:a16="http://schemas.microsoft.com/office/drawing/2014/main" val="367188390"/>
                    </a:ext>
                  </a:extLst>
                </a:gridCol>
                <a:gridCol w="1290219">
                  <a:extLst>
                    <a:ext uri="{9D8B030D-6E8A-4147-A177-3AD203B41FA5}">
                      <a16:colId xmlns:a16="http://schemas.microsoft.com/office/drawing/2014/main" val="1573539663"/>
                    </a:ext>
                  </a:extLst>
                </a:gridCol>
              </a:tblGrid>
              <a:tr h="151241">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46187">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68047">
                <a:tc vMerge="1">
                  <a:txBody>
                    <a:bodyPr/>
                    <a:lstStyle/>
                    <a:p>
                      <a:r>
                        <a:rPr kumimoji="1" lang="ja-JP" altLang="en-US"/>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売上高（国内）</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301,576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15,180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158,489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34,727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31289524"/>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316,755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443,868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422,475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21026102"/>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当期商品仕入高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172,657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237,258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225,575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5583829"/>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（製）支払手数料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21,094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38932440"/>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（製）サンプル</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9499245"/>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61603391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9,972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5175868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109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84159643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213,200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67.3%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264,942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271,671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09173939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103,555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178,926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150,803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2620039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97,396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100,736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92,289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3555803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78,191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58,514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193255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074053508"/>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受取配当金</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6681787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雑収入・その他</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8721562"/>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5543122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支払利息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25426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2679521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89,929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64,943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64552482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7441934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5717379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11,676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50,658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2870862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投資有価証券売却損等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27,861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70137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棚卸資産廃棄損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4287106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特別保険料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926300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61,255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51,439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8704112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80381586"/>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40,558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37,630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50439309"/>
                  </a:ext>
                </a:extLst>
              </a:tr>
            </a:tbl>
          </a:graphicData>
        </a:graphic>
      </p:graphicFrame>
    </p:spTree>
    <p:extLst>
      <p:ext uri="{BB962C8B-B14F-4D97-AF65-F5344CB8AC3E}">
        <p14:creationId xmlns:p14="http://schemas.microsoft.com/office/powerpoint/2010/main" val="3740942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F011-9D10-1689-48C1-6E79216CA94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A828581-8161-ED21-30AA-A4EFF4112CC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売上原価の内訳（製造委託中心）</a:t>
            </a:r>
          </a:p>
        </p:txBody>
      </p:sp>
      <p:sp>
        <p:nvSpPr>
          <p:cNvPr id="5" name="タイトル 1">
            <a:extLst>
              <a:ext uri="{FF2B5EF4-FFF2-40B4-BE49-F238E27FC236}">
                <a16:creationId xmlns:a16="http://schemas.microsoft.com/office/drawing/2014/main" id="{7A0FBE86-5EA8-D086-19D3-6B5D523DBCD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D523D1-0942-99BF-C039-E07124B2F5C1}"/>
              </a:ext>
            </a:extLst>
          </p:cNvPr>
          <p:cNvSpPr>
            <a:spLocks noGrp="1"/>
          </p:cNvSpPr>
          <p:nvPr>
            <p:ph type="subTitle" idx="1"/>
          </p:nvPr>
        </p:nvSpPr>
        <p:spPr>
          <a:xfrm>
            <a:off x="460675" y="830046"/>
            <a:ext cx="9781875" cy="241861"/>
          </a:xfrm>
        </p:spPr>
        <p:txBody>
          <a:bodyPr>
            <a:noAutofit/>
          </a:bodyPr>
          <a:lstStyle/>
          <a:p>
            <a:r>
              <a:rPr dirty="0" err="1">
                <a:latin typeface="+mj-ea"/>
                <a:ea typeface="+mj-ea"/>
              </a:rPr>
              <a:t>自社工場を持たないため、売上原価の大半は当期商品仕入高（製造委託分）で構成。製造委託に付随する支払手数料・外注費・試作費等を含</a:t>
            </a:r>
            <a:r>
              <a:rPr lang="ja-JP" altLang="en-US" dirty="0">
                <a:latin typeface="+mj-ea"/>
                <a:ea typeface="+mj-ea"/>
              </a:rPr>
              <a:t>む</a:t>
            </a:r>
            <a:r>
              <a:rPr dirty="0">
                <a:latin typeface="+mj-ea"/>
                <a:ea typeface="+mj-ea"/>
              </a:rPr>
              <a:t>。</a:t>
            </a:r>
            <a:endParaRPr lang="en-US" altLang="ja-JP" dirty="0"/>
          </a:p>
        </p:txBody>
      </p:sp>
      <p:sp>
        <p:nvSpPr>
          <p:cNvPr id="2" name="正方形/長方形 1">
            <a:extLst>
              <a:ext uri="{FF2B5EF4-FFF2-40B4-BE49-F238E27FC236}">
                <a16:creationId xmlns:a16="http://schemas.microsoft.com/office/drawing/2014/main" id="{68D9DB63-AAB5-8F65-07B0-DC85DFEFA751}"/>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C2442726-9DB0-0F77-E8A6-82C5705E3C25}"/>
              </a:ext>
            </a:extLst>
          </p:cNvPr>
          <p:cNvSpPr txBox="1"/>
          <p:nvPr/>
        </p:nvSpPr>
        <p:spPr>
          <a:xfrm>
            <a:off x="6455664" y="2017477"/>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製造委託中心のため、材料費・労務費等の</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製造原価科目は発生せず、仕入・製造委託</a:t>
            </a:r>
            <a:endParaRPr sz="1050" dirty="0">
              <a:latin typeface="+mn-ea"/>
              <a:ea typeface="+mn-ea"/>
            </a:endParaRPr>
          </a:p>
          <a:p>
            <a:r>
              <a:rPr sz="1050" dirty="0">
                <a:latin typeface="+mn-ea"/>
                <a:ea typeface="+mn-ea"/>
              </a:rPr>
              <a:t>　</a:t>
            </a:r>
            <a:r>
              <a:rPr sz="1050" dirty="0" err="1">
                <a:latin typeface="+mn-ea"/>
                <a:ea typeface="+mn-ea"/>
              </a:rPr>
              <a:t>関連費用で構成</a:t>
            </a:r>
            <a:endParaRPr sz="1050" dirty="0">
              <a:latin typeface="+mn-ea"/>
              <a:ea typeface="+mn-ea"/>
            </a:endParaRPr>
          </a:p>
          <a:p>
            <a:endParaRPr sz="1050" dirty="0">
              <a:latin typeface="+mn-ea"/>
              <a:ea typeface="+mn-ea"/>
            </a:endParaRPr>
          </a:p>
          <a:p>
            <a:r>
              <a:rPr sz="1050" dirty="0">
                <a:latin typeface="+mn-ea"/>
                <a:ea typeface="+mn-ea"/>
              </a:rPr>
              <a:t>・</a:t>
            </a:r>
            <a:r>
              <a:rPr sz="1050" dirty="0" err="1">
                <a:latin typeface="+mn-ea"/>
                <a:ea typeface="+mn-ea"/>
              </a:rPr>
              <a:t>棚卸資産の増減（他勘定振替・廃棄損）が</a:t>
            </a:r>
            <a:endParaRPr sz="1050" dirty="0">
              <a:latin typeface="+mn-ea"/>
              <a:ea typeface="+mn-ea"/>
            </a:endParaRPr>
          </a:p>
          <a:p>
            <a:r>
              <a:rPr sz="1050" dirty="0">
                <a:latin typeface="+mn-ea"/>
                <a:ea typeface="+mn-ea"/>
              </a:rPr>
              <a:t>　</a:t>
            </a:r>
            <a:r>
              <a:rPr sz="1050" dirty="0" err="1">
                <a:latin typeface="+mn-ea"/>
                <a:ea typeface="+mn-ea"/>
              </a:rPr>
              <a:t>期により変動</a:t>
            </a:r>
            <a:endParaRPr sz="1050" dirty="0">
              <a:latin typeface="+mn-ea"/>
              <a:ea typeface="+mn-ea"/>
            </a:endParaRPr>
          </a:p>
        </p:txBody>
      </p:sp>
      <p:graphicFrame>
        <p:nvGraphicFramePr>
          <p:cNvPr id="14" name="Table 13"/>
          <p:cNvGraphicFramePr>
            <a:graphicFrameLocks noGrp="1"/>
          </p:cNvGraphicFramePr>
          <p:nvPr>
            <p:extLst>
              <p:ext uri="{D42A27DB-BD31-4B8C-83A1-F6EECF244321}">
                <p14:modId xmlns:p14="http://schemas.microsoft.com/office/powerpoint/2010/main" val="297527671"/>
              </p:ext>
            </p:extLst>
          </p:nvPr>
        </p:nvGraphicFramePr>
        <p:xfrm>
          <a:off x="309600" y="1655999"/>
          <a:ext cx="5976000" cy="3419999"/>
        </p:xfrm>
        <a:graphic>
          <a:graphicData uri="http://schemas.openxmlformats.org/drawingml/2006/table">
            <a:tbl>
              <a:tblPr>
                <a:tableStyleId>{5C22544A-7EE6-4342-B048-85BDC9FD1C3A}</a:tableStyleId>
              </a:tblPr>
              <a:tblGrid>
                <a:gridCol w="23040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tblGrid>
              <a:tr h="310909">
                <a:tc>
                  <a:txBody>
                    <a:bodyPr/>
                    <a:lstStyle/>
                    <a:p>
                      <a:pPr algn="ctr"/>
                      <a:r>
                        <a:rPr sz="900" b="1">
                          <a:solidFill>
                            <a:srgbClr val="FFFFFF"/>
                          </a:solidFill>
                          <a:latin typeface="游ゴシック" panose="020B0400000000000000" pitchFamily="50" charset="-128"/>
                          <a:ea typeface="游ゴシック" panose="020B0400000000000000" pitchFamily="50" charset="-128"/>
                        </a:rPr>
                        <a:t>科目</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2024</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2025</a:t>
                      </a:r>
                      <a:r>
                        <a:rPr lang="ja-JP" altLang="en-US" sz="900" b="1" dirty="0">
                          <a:solidFill>
                            <a:srgbClr val="FFFFFF"/>
                          </a:solidFill>
                          <a:latin typeface="游ゴシック" panose="020B0400000000000000" pitchFamily="50" charset="-128"/>
                          <a:ea typeface="游ゴシック" panose="020B0400000000000000" pitchFamily="50" charset="-128"/>
                        </a:rPr>
                        <a:t>年</a:t>
                      </a:r>
                      <a:r>
                        <a:rPr sz="900" b="1" dirty="0">
                          <a:solidFill>
                            <a:srgbClr val="FFFFFF"/>
                          </a:solidFill>
                          <a:latin typeface="游ゴシック" panose="020B0400000000000000" pitchFamily="50" charset="-128"/>
                          <a:ea typeface="游ゴシック" panose="020B0400000000000000" pitchFamily="50" charset="-128"/>
                        </a:rPr>
                        <a:t>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2026</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extLst>
                  <a:ext uri="{0D108BD9-81ED-4DB2-BD59-A6C34878D82A}">
                    <a16:rowId xmlns:a16="http://schemas.microsoft.com/office/drawing/2014/main" val="10000"/>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期首商品棚卸高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3,024</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extLst>
                  <a:ext uri="{0D108BD9-81ED-4DB2-BD59-A6C34878D82A}">
                    <a16:rowId xmlns:a16="http://schemas.microsoft.com/office/drawing/2014/main" val="10001"/>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当期商品仕入高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172,657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237,258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225,575</a:t>
                      </a:r>
                    </a:p>
                  </a:txBody>
                  <a:tcPr marL="36000" marR="36000" marT="7200" marB="7200" anchor="ctr">
                    <a:noFill/>
                  </a:tcPr>
                </a:tc>
                <a:extLst>
                  <a:ext uri="{0D108BD9-81ED-4DB2-BD59-A6C34878D82A}">
                    <a16:rowId xmlns:a16="http://schemas.microsoft.com/office/drawing/2014/main" val="10002"/>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製）支払手数料</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26,574</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50,723</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21,094</a:t>
                      </a:r>
                    </a:p>
                  </a:txBody>
                  <a:tcPr marL="36000" marR="36000" marT="7200" marB="7200" anchor="ctr">
                    <a:noFill/>
                  </a:tcPr>
                </a:tc>
                <a:extLst>
                  <a:ext uri="{0D108BD9-81ED-4DB2-BD59-A6C34878D82A}">
                    <a16:rowId xmlns:a16="http://schemas.microsoft.com/office/drawing/2014/main" val="10003"/>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製）サンプル費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6,307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2,328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2,831</a:t>
                      </a:r>
                    </a:p>
                  </a:txBody>
                  <a:tcPr marL="36000" marR="36000" marT="7200" marB="7200" anchor="ctr">
                    <a:noFill/>
                  </a:tcPr>
                </a:tc>
                <a:extLst>
                  <a:ext uri="{0D108BD9-81ED-4DB2-BD59-A6C34878D82A}">
                    <a16:rowId xmlns:a16="http://schemas.microsoft.com/office/drawing/2014/main" val="10004"/>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試作費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4,488</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13,797</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3,637</a:t>
                      </a:r>
                    </a:p>
                  </a:txBody>
                  <a:tcPr marL="36000" marR="36000" marT="7200" marB="7200" anchor="ctr">
                    <a:noFill/>
                  </a:tcPr>
                </a:tc>
                <a:extLst>
                  <a:ext uri="{0D108BD9-81ED-4DB2-BD59-A6C34878D82A}">
                    <a16:rowId xmlns:a16="http://schemas.microsoft.com/office/drawing/2014/main" val="10005"/>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製）外注費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8,299</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9,972</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5,262</a:t>
                      </a:r>
                    </a:p>
                  </a:txBody>
                  <a:tcPr marL="36000" marR="36000" marT="7200" marB="7200" anchor="ctr">
                    <a:noFill/>
                  </a:tcPr>
                </a:tc>
                <a:extLst>
                  <a:ext uri="{0D108BD9-81ED-4DB2-BD59-A6C34878D82A}">
                    <a16:rowId xmlns:a16="http://schemas.microsoft.com/office/drawing/2014/main" val="10006"/>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仕入値引高</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extLst>
                  <a:ext uri="{0D108BD9-81ED-4DB2-BD59-A6C34878D82A}">
                    <a16:rowId xmlns:a16="http://schemas.microsoft.com/office/drawing/2014/main" val="10007"/>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他勘定振替高</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△6,723</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△17,217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△19,845</a:t>
                      </a:r>
                    </a:p>
                  </a:txBody>
                  <a:tcPr marL="36000" marR="36000" marT="7200" marB="7200" anchor="ctr">
                    <a:noFill/>
                  </a:tcPr>
                </a:tc>
                <a:extLst>
                  <a:ext uri="{0D108BD9-81ED-4DB2-BD59-A6C34878D82A}">
                    <a16:rowId xmlns:a16="http://schemas.microsoft.com/office/drawing/2014/main" val="10008"/>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期末商品棚卸高</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△229</a:t>
                      </a:r>
                    </a:p>
                  </a:txBody>
                  <a:tcPr marL="36000" marR="36000" marT="7200" marB="7200" anchor="ctr">
                    <a:solidFill>
                      <a:srgbClr val="FFFFFF"/>
                    </a:solidFill>
                  </a:tcPr>
                </a:tc>
                <a:extLst>
                  <a:ext uri="{0D108BD9-81ED-4DB2-BD59-A6C34878D82A}">
                    <a16:rowId xmlns:a16="http://schemas.microsoft.com/office/drawing/2014/main" val="10009"/>
                  </a:ext>
                </a:extLst>
              </a:tr>
              <a:tr h="310909">
                <a:tc>
                  <a:txBody>
                    <a:bodyPr/>
                    <a:lstStyle/>
                    <a:p>
                      <a:pPr algn="l"/>
                      <a:r>
                        <a:rPr sz="900" b="1">
                          <a:solidFill>
                            <a:sysClr val="windowText" lastClr="000000"/>
                          </a:solidFill>
                          <a:latin typeface="游ゴシック" panose="020B0400000000000000" pitchFamily="50" charset="-128"/>
                          <a:ea typeface="游ゴシック" panose="020B0400000000000000" pitchFamily="50" charset="-128"/>
                        </a:rPr>
                        <a:t>売上原価</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213,200</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264,942</a:t>
                      </a:r>
                    </a:p>
                  </a:txBody>
                  <a:tcPr marL="36000" marR="36000" marT="7200" marB="7200" anchor="ctr">
                    <a:solidFill>
                      <a:srgbClr val="E3E7E9"/>
                    </a:solidFill>
                  </a:tcPr>
                </a:tc>
                <a:tc>
                  <a:txBody>
                    <a:bodyPr/>
                    <a:lstStyle/>
                    <a:p>
                      <a:pPr algn="r"/>
                      <a:r>
                        <a:rPr sz="900" b="1" dirty="0">
                          <a:solidFill>
                            <a:sysClr val="windowText" lastClr="000000"/>
                          </a:solidFill>
                          <a:latin typeface="游ゴシック" panose="020B0400000000000000" pitchFamily="50" charset="-128"/>
                          <a:ea typeface="游ゴシック" panose="020B0400000000000000" pitchFamily="50" charset="-128"/>
                        </a:rPr>
                        <a:t>271,671</a:t>
                      </a:r>
                    </a:p>
                  </a:txBody>
                  <a:tcPr marL="36000" marR="36000" marT="7200" marB="7200" anchor="ctr">
                    <a:solidFill>
                      <a:srgbClr val="E3E7E9"/>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68094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dirty="0" err="1">
                <a:latin typeface="+mj-ea"/>
                <a:ea typeface="+mj-ea"/>
              </a:rPr>
              <a:t>販管費の中心は人件費</a:t>
            </a:r>
            <a:r>
              <a:rPr lang="ja-JP" altLang="en-US" dirty="0">
                <a:latin typeface="+mj-ea"/>
                <a:ea typeface="+mj-ea"/>
              </a:rPr>
              <a:t>（役員報酬・給料・賞与・法定福利等）</a:t>
            </a:r>
            <a:r>
              <a:rPr dirty="0">
                <a:latin typeface="+mj-ea"/>
                <a:ea typeface="+mj-ea"/>
              </a:rPr>
              <a:t>。少数精鋭体制により総額を抑制しつつ、</a:t>
            </a:r>
            <a:r>
              <a:rPr lang="en-US" dirty="0">
                <a:latin typeface="+mj-ea"/>
                <a:ea typeface="+mj-ea"/>
              </a:rPr>
              <a:t>2026</a:t>
            </a:r>
            <a:r>
              <a:rPr dirty="0">
                <a:latin typeface="+mj-ea"/>
                <a:ea typeface="+mj-ea"/>
              </a:rPr>
              <a:t>年1月期は</a:t>
            </a:r>
            <a:r>
              <a:rPr lang="en-US" dirty="0">
                <a:latin typeface="+mj-ea"/>
                <a:ea typeface="+mj-ea"/>
              </a:rPr>
              <a:t>92,289</a:t>
            </a:r>
            <a:r>
              <a:rPr lang="ja-JP" altLang="en-US" dirty="0">
                <a:latin typeface="+mj-ea"/>
                <a:ea typeface="+mj-ea"/>
              </a:rPr>
              <a:t>千円</a:t>
            </a:r>
            <a:r>
              <a:rPr dirty="0" err="1">
                <a:latin typeface="+mj-ea"/>
                <a:ea typeface="+mj-ea"/>
              </a:rPr>
              <a:t>で推移</a:t>
            </a:r>
            <a:r>
              <a:rPr dirty="0">
                <a:latin typeface="+mj-ea"/>
                <a:ea typeface="+mj-ea"/>
              </a:rPr>
              <a:t>。</a:t>
            </a:r>
            <a:endParaRPr lang="en-US" altLang="ja-JP" dirty="0"/>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10903839" y="874558"/>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人件費（役員報酬・給料・賞与・法定福利</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等）が最大費目。少数精鋭で人件費を抑制</a:t>
            </a:r>
            <a:endParaRPr sz="1050" dirty="0">
              <a:latin typeface="+mn-ea"/>
              <a:ea typeface="+mn-ea"/>
            </a:endParaRPr>
          </a:p>
          <a:p>
            <a:endParaRPr sz="1050" dirty="0">
              <a:latin typeface="+mn-ea"/>
              <a:ea typeface="+mn-ea"/>
            </a:endParaRPr>
          </a:p>
          <a:p>
            <a:r>
              <a:rPr sz="1050" dirty="0">
                <a:latin typeface="+mn-ea"/>
                <a:ea typeface="+mn-ea"/>
              </a:rPr>
              <a:t>・荷造運賃、地代家賃（年約5,500千円）等が</a:t>
            </a:r>
          </a:p>
          <a:p>
            <a:r>
              <a:rPr sz="1050" dirty="0">
                <a:latin typeface="+mn-ea"/>
                <a:ea typeface="+mn-ea"/>
              </a:rPr>
              <a:t>　</a:t>
            </a:r>
            <a:r>
              <a:rPr sz="1050" dirty="0" err="1">
                <a:latin typeface="+mn-ea"/>
                <a:ea typeface="+mn-ea"/>
              </a:rPr>
              <a:t>主な固定費</a:t>
            </a:r>
            <a:endParaRPr sz="1050" dirty="0">
              <a:latin typeface="+mn-ea"/>
              <a:ea typeface="+mn-ea"/>
            </a:endParaRPr>
          </a:p>
          <a:p>
            <a:endParaRPr sz="1050" dirty="0">
              <a:latin typeface="+mn-ea"/>
              <a:ea typeface="+mn-ea"/>
            </a:endParaRPr>
          </a:p>
          <a:p>
            <a:r>
              <a:rPr sz="1050" dirty="0">
                <a:latin typeface="+mn-ea"/>
                <a:ea typeface="+mn-ea"/>
              </a:rPr>
              <a:t>・役員賞与20,000千円等は正常収益力算定上</a:t>
            </a:r>
          </a:p>
          <a:p>
            <a:r>
              <a:rPr sz="1050" dirty="0">
                <a:latin typeface="+mn-ea"/>
                <a:ea typeface="+mn-ea"/>
              </a:rPr>
              <a:t>　</a:t>
            </a:r>
            <a:r>
              <a:rPr sz="1050" dirty="0" err="1">
                <a:latin typeface="+mn-ea"/>
                <a:ea typeface="+mn-ea"/>
              </a:rPr>
              <a:t>の調整候補</a:t>
            </a:r>
            <a:endParaRPr sz="1050" dirty="0">
              <a:latin typeface="+mn-ea"/>
              <a:ea typeface="+mn-ea"/>
            </a:endParaRPr>
          </a:p>
        </p:txBody>
      </p:sp>
      <p:graphicFrame>
        <p:nvGraphicFramePr>
          <p:cNvPr id="7" name="表 6">
            <a:extLst>
              <a:ext uri="{FF2B5EF4-FFF2-40B4-BE49-F238E27FC236}">
                <a16:creationId xmlns:a16="http://schemas.microsoft.com/office/drawing/2014/main" id="{F2C6E108-AB48-0E21-9228-52AD13179871}"/>
              </a:ext>
            </a:extLst>
          </p:cNvPr>
          <p:cNvGraphicFramePr>
            <a:graphicFrameLocks noGrp="1"/>
          </p:cNvGraphicFramePr>
          <p:nvPr>
            <p:extLst>
              <p:ext uri="{D42A27DB-BD31-4B8C-83A1-F6EECF244321}">
                <p14:modId xmlns:p14="http://schemas.microsoft.com/office/powerpoint/2010/main" val="3083789522"/>
              </p:ext>
            </p:extLst>
          </p:nvPr>
        </p:nvGraphicFramePr>
        <p:xfrm>
          <a:off x="341313" y="1381912"/>
          <a:ext cx="8311077" cy="5459228"/>
        </p:xfrm>
        <a:graphic>
          <a:graphicData uri="http://schemas.openxmlformats.org/drawingml/2006/table">
            <a:tbl>
              <a:tblPr/>
              <a:tblGrid>
                <a:gridCol w="1972119">
                  <a:extLst>
                    <a:ext uri="{9D8B030D-6E8A-4147-A177-3AD203B41FA5}">
                      <a16:colId xmlns:a16="http://schemas.microsoft.com/office/drawing/2014/main" val="1715146085"/>
                    </a:ext>
                  </a:extLst>
                </a:gridCol>
                <a:gridCol w="1056493">
                  <a:extLst>
                    <a:ext uri="{9D8B030D-6E8A-4147-A177-3AD203B41FA5}">
                      <a16:colId xmlns:a16="http://schemas.microsoft.com/office/drawing/2014/main" val="2220347708"/>
                    </a:ext>
                  </a:extLst>
                </a:gridCol>
                <a:gridCol w="1056493">
                  <a:extLst>
                    <a:ext uri="{9D8B030D-6E8A-4147-A177-3AD203B41FA5}">
                      <a16:colId xmlns:a16="http://schemas.microsoft.com/office/drawing/2014/main" val="1870627800"/>
                    </a:ext>
                  </a:extLst>
                </a:gridCol>
                <a:gridCol w="1056493">
                  <a:extLst>
                    <a:ext uri="{9D8B030D-6E8A-4147-A177-3AD203B41FA5}">
                      <a16:colId xmlns:a16="http://schemas.microsoft.com/office/drawing/2014/main" val="2613027751"/>
                    </a:ext>
                  </a:extLst>
                </a:gridCol>
                <a:gridCol w="1056493">
                  <a:extLst>
                    <a:ext uri="{9D8B030D-6E8A-4147-A177-3AD203B41FA5}">
                      <a16:colId xmlns:a16="http://schemas.microsoft.com/office/drawing/2014/main" val="2737650701"/>
                    </a:ext>
                  </a:extLst>
                </a:gridCol>
                <a:gridCol w="1056493">
                  <a:extLst>
                    <a:ext uri="{9D8B030D-6E8A-4147-A177-3AD203B41FA5}">
                      <a16:colId xmlns:a16="http://schemas.microsoft.com/office/drawing/2014/main" val="442705657"/>
                    </a:ext>
                  </a:extLst>
                </a:gridCol>
                <a:gridCol w="1056493">
                  <a:extLst>
                    <a:ext uri="{9D8B030D-6E8A-4147-A177-3AD203B41FA5}">
                      <a16:colId xmlns:a16="http://schemas.microsoft.com/office/drawing/2014/main" val="3326341676"/>
                    </a:ext>
                  </a:extLst>
                </a:gridCol>
              </a:tblGrid>
              <a:tr h="13159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339897859"/>
                  </a:ext>
                </a:extLst>
              </a:tr>
              <a:tr h="136860">
                <a:tc row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extLst>
                  <a:ext uri="{0D108BD9-81ED-4DB2-BD59-A6C34878D82A}">
                    <a16:rowId xmlns:a16="http://schemas.microsoft.com/office/drawing/2014/main" val="3229329223"/>
                  </a:ext>
                </a:extLst>
              </a:tr>
              <a:tr h="136860">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9441249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10993" marR="0" marT="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4,094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4289564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役員賞与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18,000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31471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給料手当</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33,649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29,811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27,939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8551672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雑給</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2,539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907352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6,079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730088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6,407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502595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福利厚生費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1,932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422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45312703"/>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2162206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9,236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13,487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573745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841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815839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1,440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1,738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9284179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199360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1,019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409342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1,416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8151010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販売促進費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4866768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391448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3301789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394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725405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616793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3,168</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3,674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01033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955897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5,501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230057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471506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735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00064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269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8599779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支払報酬料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762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56909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3040484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4208534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881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46251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803</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66393374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通勤</a:t>
                      </a:r>
                    </a:p>
                  </a:txBody>
                  <a:tcPr marL="110993" marR="0" marT="0" marB="0" anchor="ctr">
                    <a:lnL>
                      <a:noFill/>
                    </a:lnL>
                    <a:lnR>
                      <a:noFill/>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1,623</a:t>
                      </a:r>
                    </a:p>
                  </a:txBody>
                  <a:tcPr marL="0" marR="55497"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78678"/>
                  </a:ext>
                </a:extLst>
              </a:tr>
              <a:tr h="15791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97,396</a:t>
                      </a:r>
                    </a:p>
                  </a:txBody>
                  <a:tcPr marL="0" marR="55497"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100,736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22.7%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92,289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21.8%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186393275"/>
                  </a:ext>
                </a:extLst>
              </a:tr>
            </a:tbl>
          </a:graphicData>
        </a:graphic>
      </p:graphicFrame>
    </p:spTree>
    <p:extLst>
      <p:ext uri="{BB962C8B-B14F-4D97-AF65-F5344CB8AC3E}">
        <p14:creationId xmlns:p14="http://schemas.microsoft.com/office/powerpoint/2010/main" val="1909380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dirty="0">
                <a:latin typeface="游ゴシック" panose="020B0400000000000000" pitchFamily="50" charset="-128"/>
                <a:ea typeface="游ゴシック" panose="020B0400000000000000" pitchFamily="50" charset="-128"/>
              </a:rPr>
              <a:t>2014年の設立以来、大手IPホルダーとの取引拡大と海外製造ネットワークの構築により事業を成長。</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3654739537"/>
              </p:ext>
            </p:extLst>
          </p:nvPr>
        </p:nvGraphicFramePr>
        <p:xfrm>
          <a:off x="309600" y="1800000"/>
          <a:ext cx="10080000" cy="1620000"/>
        </p:xfrm>
        <a:graphic>
          <a:graphicData uri="http://schemas.openxmlformats.org/drawingml/2006/table">
            <a:tbl>
              <a:tblPr>
                <a:tableStyleId>{5C22544A-7EE6-4342-B048-85BDC9FD1C3A}</a:tableStyleId>
              </a:tblPr>
              <a:tblGrid>
                <a:gridCol w="1440000">
                  <a:extLst>
                    <a:ext uri="{9D8B030D-6E8A-4147-A177-3AD203B41FA5}">
                      <a16:colId xmlns:a16="http://schemas.microsoft.com/office/drawing/2014/main" val="20000"/>
                    </a:ext>
                  </a:extLst>
                </a:gridCol>
                <a:gridCol w="8640000">
                  <a:extLst>
                    <a:ext uri="{9D8B030D-6E8A-4147-A177-3AD203B41FA5}">
                      <a16:colId xmlns:a16="http://schemas.microsoft.com/office/drawing/2014/main" val="20001"/>
                    </a:ext>
                  </a:extLst>
                </a:gridCol>
              </a:tblGrid>
              <a:tr h="324000">
                <a:tc>
                  <a:txBody>
                    <a:bodyPr/>
                    <a:lstStyle/>
                    <a:p>
                      <a:pPr algn="ctr"/>
                      <a:r>
                        <a:rPr sz="1100" b="1">
                          <a:solidFill>
                            <a:srgbClr val="FFFFFF"/>
                          </a:solidFill>
                          <a:latin typeface="游ゴシック"/>
                          <a:ea typeface="游ゴシック"/>
                        </a:rPr>
                        <a:t>年月</a:t>
                      </a:r>
                    </a:p>
                  </a:txBody>
                  <a:tcPr marL="36000" marR="36000" marT="7200" marB="7200" anchor="ctr">
                    <a:solidFill>
                      <a:srgbClr val="0B3041"/>
                    </a:solidFill>
                  </a:tcPr>
                </a:tc>
                <a:tc>
                  <a:txBody>
                    <a:bodyPr/>
                    <a:lstStyle/>
                    <a:p>
                      <a:pPr algn="ctr"/>
                      <a:r>
                        <a:rPr sz="1100" b="1">
                          <a:solidFill>
                            <a:srgbClr val="FFFFFF"/>
                          </a:solidFill>
                          <a:latin typeface="游ゴシック"/>
                          <a:ea typeface="游ゴシック"/>
                        </a:rPr>
                        <a:t>内容</a:t>
                      </a:r>
                    </a:p>
                  </a:txBody>
                  <a:tcPr marL="36000" marR="36000" marT="7200" marB="7200" anchor="ctr">
                    <a:solidFill>
                      <a:srgbClr val="0B3041"/>
                    </a:solidFill>
                  </a:tcPr>
                </a:tc>
                <a:extLst>
                  <a:ext uri="{0D108BD9-81ED-4DB2-BD59-A6C34878D82A}">
                    <a16:rowId xmlns:a16="http://schemas.microsoft.com/office/drawing/2014/main" val="10000"/>
                  </a:ext>
                </a:extLst>
              </a:tr>
              <a:tr h="324000">
                <a:tc>
                  <a:txBody>
                    <a:bodyPr/>
                    <a:lstStyle/>
                    <a:p>
                      <a:pPr algn="l"/>
                      <a:r>
                        <a:rPr sz="1100" b="0" dirty="0">
                          <a:solidFill>
                            <a:sysClr val="windowText" lastClr="000000"/>
                          </a:solidFill>
                          <a:latin typeface="游ゴシック"/>
                          <a:ea typeface="游ゴシック"/>
                        </a:rPr>
                        <a:t>2014年2月</a:t>
                      </a:r>
                    </a:p>
                  </a:txBody>
                  <a:tcPr marL="36000" marR="36000" marT="7200" marB="7200" anchor="ctr">
                    <a:solidFill>
                      <a:srgbClr val="FFFFFF"/>
                    </a:solidFill>
                  </a:tcPr>
                </a:tc>
                <a:tc>
                  <a:txBody>
                    <a:bodyPr/>
                    <a:lstStyle/>
                    <a:p>
                      <a:pPr algn="l"/>
                      <a:r>
                        <a:rPr sz="1100" b="0">
                          <a:solidFill>
                            <a:sysClr val="windowText" lastClr="000000"/>
                          </a:solidFill>
                          <a:latin typeface="游ゴシック"/>
                          <a:ea typeface="游ゴシック"/>
                        </a:rPr>
                        <a:t>株式会社カナリア設立（東京都台東区）。アニメ・ゲームIPを活用したキャラクターグッズの企画・製造・販売を開始</a:t>
                      </a:r>
                    </a:p>
                  </a:txBody>
                  <a:tcPr marL="36000" marR="36000" marT="7200" marB="7200" anchor="ctr">
                    <a:solidFill>
                      <a:srgbClr val="FFFFFF"/>
                    </a:solidFill>
                  </a:tcPr>
                </a:tc>
                <a:extLst>
                  <a:ext uri="{0D108BD9-81ED-4DB2-BD59-A6C34878D82A}">
                    <a16:rowId xmlns:a16="http://schemas.microsoft.com/office/drawing/2014/main" val="10001"/>
                  </a:ext>
                </a:extLst>
              </a:tr>
              <a:tr h="324000">
                <a:tc>
                  <a:txBody>
                    <a:bodyPr/>
                    <a:lstStyle/>
                    <a:p>
                      <a:pPr algn="l"/>
                      <a:r>
                        <a:rPr sz="1100" b="0" dirty="0" err="1">
                          <a:solidFill>
                            <a:sysClr val="windowText" lastClr="000000"/>
                          </a:solidFill>
                          <a:latin typeface="游ゴシック"/>
                          <a:ea typeface="游ゴシック"/>
                        </a:rPr>
                        <a:t>設立以降</a:t>
                      </a:r>
                      <a:endParaRPr sz="1100" b="0" dirty="0">
                        <a:solidFill>
                          <a:sysClr val="windowText" lastClr="000000"/>
                        </a:solidFill>
                        <a:latin typeface="游ゴシック"/>
                        <a:ea typeface="游ゴシック"/>
                      </a:endParaRP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大手IPホルダーとの商品化取引を拡大、中国等の海外製造委託ネットワークを構築</a:t>
                      </a:r>
                      <a:endParaRPr sz="1100" b="0" dirty="0">
                        <a:solidFill>
                          <a:sysClr val="windowText" lastClr="000000"/>
                        </a:solidFill>
                        <a:latin typeface="游ゴシック"/>
                        <a:ea typeface="游ゴシック"/>
                      </a:endParaRPr>
                    </a:p>
                  </a:txBody>
                  <a:tcPr marL="36000" marR="36000" marT="7200" marB="7200" anchor="ctr">
                    <a:solidFill>
                      <a:srgbClr val="F4F7F9"/>
                    </a:solidFill>
                  </a:tcPr>
                </a:tc>
                <a:extLst>
                  <a:ext uri="{0D108BD9-81ED-4DB2-BD59-A6C34878D82A}">
                    <a16:rowId xmlns:a16="http://schemas.microsoft.com/office/drawing/2014/main" val="10002"/>
                  </a:ext>
                </a:extLst>
              </a:tr>
              <a:tr h="324000">
                <a:tc>
                  <a:txBody>
                    <a:bodyPr/>
                    <a:lstStyle/>
                    <a:p>
                      <a:pPr algn="l"/>
                      <a:r>
                        <a:rPr sz="1100" b="0" dirty="0" err="1">
                          <a:solidFill>
                            <a:sysClr val="windowText" lastClr="000000"/>
                          </a:solidFill>
                          <a:latin typeface="游ゴシック"/>
                          <a:ea typeface="游ゴシック"/>
                        </a:rPr>
                        <a:t>設立以降</a:t>
                      </a:r>
                      <a:endParaRPr sz="1100" b="0" dirty="0">
                        <a:solidFill>
                          <a:sysClr val="windowText" lastClr="000000"/>
                        </a:solidFill>
                        <a:latin typeface="游ゴシック"/>
                        <a:ea typeface="游ゴシック"/>
                      </a:endParaRPr>
                    </a:p>
                  </a:txBody>
                  <a:tcPr marL="36000" marR="36000" marT="7200" marB="7200" anchor="ctr">
                    <a:solidFill>
                      <a:srgbClr val="FFFFFF"/>
                    </a:solidFill>
                  </a:tcPr>
                </a:tc>
                <a:tc>
                  <a:txBody>
                    <a:bodyPr/>
                    <a:lstStyle/>
                    <a:p>
                      <a:pPr algn="l"/>
                      <a:r>
                        <a:rPr sz="1100" b="0" dirty="0" err="1">
                          <a:solidFill>
                            <a:sysClr val="windowText" lastClr="000000"/>
                          </a:solidFill>
                          <a:latin typeface="游ゴシック"/>
                          <a:ea typeface="游ゴシック"/>
                        </a:rPr>
                        <a:t>自社オリジナルくじ商品「スターくじ</a:t>
                      </a:r>
                      <a:r>
                        <a:rPr sz="1100" b="0" dirty="0">
                          <a:solidFill>
                            <a:sysClr val="windowText" lastClr="000000"/>
                          </a:solidFill>
                          <a:latin typeface="游ゴシック"/>
                          <a:ea typeface="游ゴシック"/>
                        </a:rPr>
                        <a:t>」「</a:t>
                      </a:r>
                      <a:r>
                        <a:rPr sz="1100" b="0" dirty="0" err="1">
                          <a:solidFill>
                            <a:sysClr val="windowText" lastClr="000000"/>
                          </a:solidFill>
                          <a:latin typeface="游ゴシック"/>
                          <a:ea typeface="游ゴシック"/>
                        </a:rPr>
                        <a:t>あたりツキ</a:t>
                      </a:r>
                      <a:r>
                        <a:rPr sz="1100" b="0" dirty="0">
                          <a:solidFill>
                            <a:sysClr val="windowText" lastClr="000000"/>
                          </a:solidFill>
                          <a:latin typeface="游ゴシック"/>
                          <a:ea typeface="游ゴシック"/>
                        </a:rPr>
                        <a:t>！」</a:t>
                      </a:r>
                      <a:r>
                        <a:rPr sz="1100" b="0" dirty="0" err="1">
                          <a:solidFill>
                            <a:sysClr val="windowText" lastClr="000000"/>
                          </a:solidFill>
                          <a:latin typeface="游ゴシック"/>
                          <a:ea typeface="游ゴシック"/>
                        </a:rPr>
                        <a:t>シリーズを展開</a:t>
                      </a:r>
                      <a:endParaRPr sz="1100" b="0" dirty="0">
                        <a:solidFill>
                          <a:sysClr val="windowText" lastClr="000000"/>
                        </a:solidFill>
                        <a:latin typeface="游ゴシック"/>
                        <a:ea typeface="游ゴシック"/>
                      </a:endParaRPr>
                    </a:p>
                  </a:txBody>
                  <a:tcPr marL="36000" marR="36000" marT="7200" marB="7200" anchor="ctr">
                    <a:solidFill>
                      <a:srgbClr val="FFFFFF"/>
                    </a:solidFill>
                  </a:tcPr>
                </a:tc>
                <a:extLst>
                  <a:ext uri="{0D108BD9-81ED-4DB2-BD59-A6C34878D82A}">
                    <a16:rowId xmlns:a16="http://schemas.microsoft.com/office/drawing/2014/main" val="10003"/>
                  </a:ext>
                </a:extLst>
              </a:tr>
              <a:tr h="324000">
                <a:tc>
                  <a:txBody>
                    <a:bodyPr/>
                    <a:lstStyle/>
                    <a:p>
                      <a:pPr algn="l"/>
                      <a:r>
                        <a:rPr sz="1100" b="0">
                          <a:solidFill>
                            <a:sysClr val="windowText" lastClr="000000"/>
                          </a:solidFill>
                          <a:latin typeface="游ゴシック"/>
                          <a:ea typeface="游ゴシック"/>
                        </a:rPr>
                        <a:t>2025年4月</a:t>
                      </a: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取締役</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野口</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文枝・野口</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聰江が就任（現経営体制</a:t>
                      </a:r>
                      <a:r>
                        <a:rPr sz="1100" b="0" dirty="0">
                          <a:solidFill>
                            <a:sysClr val="windowText" lastClr="000000"/>
                          </a:solidFill>
                          <a:latin typeface="游ゴシック"/>
                          <a:ea typeface="游ゴシック"/>
                        </a:rPr>
                        <a:t>）</a:t>
                      </a:r>
                    </a:p>
                  </a:txBody>
                  <a:tcPr marL="36000" marR="36000" marT="7200" marB="7200" anchor="ctr">
                    <a:solidFill>
                      <a:srgbClr val="F4F7F9"/>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09600" y="3600000"/>
            <a:ext cx="4456669" cy="261610"/>
          </a:xfrm>
          <a:prstGeom prst="rect">
            <a:avLst/>
          </a:prstGeom>
          <a:noFill/>
        </p:spPr>
        <p:txBody>
          <a:bodyPr wrap="none">
            <a:spAutoFit/>
          </a:bodyPr>
          <a:lstStyle/>
          <a:p>
            <a:r>
              <a:rPr sz="1100" dirty="0">
                <a:solidFill>
                  <a:sysClr val="windowText" lastClr="000000"/>
                </a:solidFill>
                <a:latin typeface="游ゴシック" panose="020B0400000000000000" pitchFamily="50" charset="-128"/>
                <a:ea typeface="游ゴシック" panose="020B0400000000000000" pitchFamily="50" charset="-128"/>
              </a:rPr>
              <a:t>※ </a:t>
            </a:r>
            <a:r>
              <a:rPr sz="1100" dirty="0" err="1">
                <a:solidFill>
                  <a:sysClr val="windowText" lastClr="000000"/>
                </a:solidFill>
                <a:latin typeface="游ゴシック" panose="020B0400000000000000" pitchFamily="50" charset="-128"/>
                <a:ea typeface="游ゴシック" panose="020B0400000000000000" pitchFamily="50" charset="-128"/>
              </a:rPr>
              <a:t>詳細な沿革はオーナ</a:t>
            </a:r>
            <a:r>
              <a:rPr sz="1100" dirty="0">
                <a:solidFill>
                  <a:sysClr val="windowText" lastClr="000000"/>
                </a:solidFill>
                <a:latin typeface="游ゴシック" panose="020B0400000000000000" pitchFamily="50" charset="-128"/>
                <a:ea typeface="游ゴシック" panose="020B0400000000000000" pitchFamily="50" charset="-128"/>
              </a:rPr>
              <a:t>ー</a:t>
            </a:r>
            <a:r>
              <a:rPr lang="ja-JP" altLang="en-US" sz="1100" dirty="0">
                <a:solidFill>
                  <a:sysClr val="windowText" lastClr="000000"/>
                </a:solidFill>
                <a:latin typeface="游ゴシック" panose="020B0400000000000000" pitchFamily="50" charset="-128"/>
                <a:ea typeface="游ゴシック" panose="020B0400000000000000" pitchFamily="50" charset="-128"/>
              </a:rPr>
              <a:t>様への</a:t>
            </a:r>
            <a:r>
              <a:rPr sz="1100" dirty="0" err="1">
                <a:solidFill>
                  <a:sysClr val="windowText" lastClr="000000"/>
                </a:solidFill>
                <a:latin typeface="游ゴシック" panose="020B0400000000000000" pitchFamily="50" charset="-128"/>
                <a:ea typeface="游ゴシック" panose="020B0400000000000000" pitchFamily="50" charset="-128"/>
              </a:rPr>
              <a:t>ヒアリング</a:t>
            </a:r>
            <a:r>
              <a:rPr lang="ja-JP" altLang="en-US" sz="1100" dirty="0">
                <a:solidFill>
                  <a:sysClr val="windowText" lastClr="000000"/>
                </a:solidFill>
                <a:latin typeface="游ゴシック" panose="020B0400000000000000" pitchFamily="50" charset="-128"/>
                <a:ea typeface="游ゴシック" panose="020B0400000000000000" pitchFamily="50" charset="-128"/>
              </a:rPr>
              <a:t>を行い、</a:t>
            </a:r>
            <a:r>
              <a:rPr sz="1100" dirty="0" err="1">
                <a:solidFill>
                  <a:sysClr val="windowText" lastClr="000000"/>
                </a:solidFill>
                <a:latin typeface="游ゴシック" panose="020B0400000000000000" pitchFamily="50" charset="-128"/>
                <a:ea typeface="游ゴシック" panose="020B0400000000000000" pitchFamily="50" charset="-128"/>
              </a:rPr>
              <a:t>補完予定です</a:t>
            </a:r>
            <a:r>
              <a:rPr sz="1100" dirty="0">
                <a:solidFill>
                  <a:sysClr val="windowText" lastClr="000000"/>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91401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dirty="0" err="1">
                <a:latin typeface="游ゴシック" panose="020B0400000000000000" pitchFamily="50" charset="-128"/>
                <a:ea typeface="游ゴシック" panose="020B0400000000000000" pitchFamily="50" charset="-128"/>
              </a:rPr>
              <a:t>創業者である代表取締役</a:t>
            </a:r>
            <a:r>
              <a:rPr dirty="0">
                <a:latin typeface="游ゴシック" panose="020B0400000000000000" pitchFamily="50" charset="-128"/>
                <a:ea typeface="游ゴシック" panose="020B0400000000000000" pitchFamily="50" charset="-128"/>
              </a:rPr>
              <a:t> </a:t>
            </a:r>
            <a:r>
              <a:rPr dirty="0" err="1">
                <a:latin typeface="游ゴシック" panose="020B0400000000000000" pitchFamily="50" charset="-128"/>
                <a:ea typeface="游ゴシック" panose="020B0400000000000000" pitchFamily="50" charset="-128"/>
              </a:rPr>
              <a:t>野口</a:t>
            </a:r>
            <a:r>
              <a:rPr dirty="0">
                <a:latin typeface="游ゴシック" panose="020B0400000000000000" pitchFamily="50" charset="-128"/>
                <a:ea typeface="游ゴシック" panose="020B0400000000000000" pitchFamily="50" charset="-128"/>
              </a:rPr>
              <a:t> </a:t>
            </a:r>
            <a:r>
              <a:rPr dirty="0" err="1">
                <a:latin typeface="游ゴシック" panose="020B0400000000000000" pitchFamily="50" charset="-128"/>
                <a:ea typeface="游ゴシック" panose="020B0400000000000000" pitchFamily="50" charset="-128"/>
              </a:rPr>
              <a:t>紘氏が、設立以来一貫して経営を主導</a:t>
            </a:r>
            <a:r>
              <a:rPr dirty="0">
                <a:latin typeface="游ゴシック" panose="020B0400000000000000" pitchFamily="50" charset="-128"/>
                <a:ea typeface="游ゴシック" panose="020B0400000000000000" pitchFamily="50" charset="-128"/>
              </a:rPr>
              <a:t>。</a:t>
            </a:r>
            <a:endParaRPr lang="en-US" altLang="ja-JP" dirty="0">
              <a:latin typeface="游ゴシック" panose="020B0400000000000000" pitchFamily="50" charset="-128"/>
              <a:ea typeface="游ゴシック" panose="020B0400000000000000" pitchFamily="50" charset="-128"/>
            </a:endParaRPr>
          </a:p>
        </p:txBody>
      </p:sp>
      <p:sp>
        <p:nvSpPr>
          <p:cNvPr id="14" name="TextBox 13"/>
          <p:cNvSpPr txBox="1"/>
          <p:nvPr/>
        </p:nvSpPr>
        <p:spPr>
          <a:xfrm>
            <a:off x="309600" y="4346413"/>
            <a:ext cx="9720000" cy="1292662"/>
          </a:xfrm>
          <a:prstGeom prst="rect">
            <a:avLst/>
          </a:prstGeom>
          <a:noFill/>
        </p:spPr>
        <p:txBody>
          <a:bodyPr wrap="square">
            <a:spAutoFit/>
          </a:bodyPr>
          <a:lstStyle/>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＜経歴＞</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sz="1300" dirty="0">
                <a:solidFill>
                  <a:sysClr val="windowText" lastClr="000000"/>
                </a:solidFill>
                <a:latin typeface="游ゴシック" panose="020B0400000000000000" pitchFamily="50" charset="-128"/>
                <a:ea typeface="游ゴシック" panose="020B0400000000000000" pitchFamily="50" charset="-128"/>
              </a:rPr>
              <a:t>・2014年2月に株式会社カナリアを設立し、代表取締役として経営を主導。</a:t>
            </a:r>
          </a:p>
          <a:p>
            <a:pPr algn="l"/>
            <a:r>
              <a:rPr sz="1300" dirty="0">
                <a:solidFill>
                  <a:sysClr val="windowText" lastClr="000000"/>
                </a:solidFill>
                <a:latin typeface="游ゴシック" panose="020B0400000000000000" pitchFamily="50" charset="-128"/>
                <a:ea typeface="游ゴシック" panose="020B0400000000000000" pitchFamily="50" charset="-128"/>
              </a:rPr>
              <a:t>・</a:t>
            </a:r>
            <a:r>
              <a:rPr sz="1300" dirty="0" err="1">
                <a:solidFill>
                  <a:sysClr val="windowText" lastClr="000000"/>
                </a:solidFill>
                <a:latin typeface="游ゴシック" panose="020B0400000000000000" pitchFamily="50" charset="-128"/>
                <a:ea typeface="游ゴシック" panose="020B0400000000000000" pitchFamily="50" charset="-128"/>
              </a:rPr>
              <a:t>アニメ・ゲームIP業界における企画・製造・販売の知見を有し、大手IPホルダーとの取引関係を構築</a:t>
            </a:r>
            <a:r>
              <a:rPr sz="1300" dirty="0">
                <a:solidFill>
                  <a:sysClr val="windowText" lastClr="000000"/>
                </a:solidFill>
                <a:latin typeface="游ゴシック" panose="020B0400000000000000" pitchFamily="50" charset="-128"/>
                <a:ea typeface="游ゴシック" panose="020B0400000000000000" pitchFamily="50" charset="-128"/>
              </a:rPr>
              <a:t>。</a:t>
            </a:r>
          </a:p>
          <a:p>
            <a:pPr algn="l"/>
            <a:r>
              <a:rPr sz="1300" dirty="0">
                <a:solidFill>
                  <a:sysClr val="windowText" lastClr="000000"/>
                </a:solidFill>
                <a:latin typeface="游ゴシック" panose="020B0400000000000000" pitchFamily="50" charset="-128"/>
                <a:ea typeface="游ゴシック" panose="020B0400000000000000" pitchFamily="50" charset="-128"/>
              </a:rPr>
              <a:t>・</a:t>
            </a:r>
            <a:r>
              <a:rPr sz="1300" dirty="0" err="1">
                <a:solidFill>
                  <a:sysClr val="windowText" lastClr="000000"/>
                </a:solidFill>
                <a:latin typeface="游ゴシック" panose="020B0400000000000000" pitchFamily="50" charset="-128"/>
                <a:ea typeface="游ゴシック" panose="020B0400000000000000" pitchFamily="50" charset="-128"/>
              </a:rPr>
              <a:t>国内外の製造委託・販売ネットワークを整備し、少数精鋭かつ高収益な事業体制を確立</a:t>
            </a:r>
            <a:r>
              <a:rPr sz="1300" dirty="0">
                <a:solidFill>
                  <a:sysClr val="windowText" lastClr="000000"/>
                </a:solidFill>
                <a:latin typeface="游ゴシック" panose="020B0400000000000000" pitchFamily="50" charset="-128"/>
                <a:ea typeface="游ゴシック" panose="020B0400000000000000" pitchFamily="50" charset="-128"/>
              </a:rPr>
              <a:t>。</a:t>
            </a:r>
          </a:p>
          <a:p>
            <a:pPr algn="l"/>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sz="1300" dirty="0">
                <a:solidFill>
                  <a:sysClr val="windowText" lastClr="000000"/>
                </a:solidFill>
                <a:latin typeface="游ゴシック" panose="020B0400000000000000" pitchFamily="50" charset="-128"/>
                <a:ea typeface="游ゴシック" panose="020B0400000000000000" pitchFamily="50" charset="-128"/>
              </a:rPr>
              <a:t>※ </a:t>
            </a:r>
            <a:r>
              <a:rPr sz="1300" dirty="0" err="1">
                <a:solidFill>
                  <a:sysClr val="windowText" lastClr="000000"/>
                </a:solidFill>
                <a:latin typeface="游ゴシック" panose="020B0400000000000000" pitchFamily="50" charset="-128"/>
                <a:ea typeface="游ゴシック" panose="020B0400000000000000" pitchFamily="50" charset="-128"/>
              </a:rPr>
              <a:t>詳細な経歴（前職・実績等）はオーナ</a:t>
            </a:r>
            <a:r>
              <a:rPr sz="1300" dirty="0">
                <a:solidFill>
                  <a:sysClr val="windowText" lastClr="000000"/>
                </a:solidFill>
                <a:latin typeface="游ゴシック" panose="020B0400000000000000" pitchFamily="50" charset="-128"/>
                <a:ea typeface="游ゴシック" panose="020B0400000000000000" pitchFamily="50" charset="-128"/>
              </a:rPr>
              <a:t>ー</a:t>
            </a:r>
            <a:r>
              <a:rPr lang="ja-JP" altLang="en-US" sz="1300" dirty="0">
                <a:solidFill>
                  <a:sysClr val="windowText" lastClr="000000"/>
                </a:solidFill>
                <a:latin typeface="游ゴシック" panose="020B0400000000000000" pitchFamily="50" charset="-128"/>
                <a:ea typeface="游ゴシック" panose="020B0400000000000000" pitchFamily="50" charset="-128"/>
              </a:rPr>
              <a:t>様への</a:t>
            </a:r>
            <a:r>
              <a:rPr sz="1300" dirty="0" err="1">
                <a:solidFill>
                  <a:sysClr val="windowText" lastClr="000000"/>
                </a:solidFill>
                <a:latin typeface="游ゴシック" panose="020B0400000000000000" pitchFamily="50" charset="-128"/>
                <a:ea typeface="游ゴシック" panose="020B0400000000000000" pitchFamily="50" charset="-128"/>
              </a:rPr>
              <a:t>ヒアリング</a:t>
            </a:r>
            <a:r>
              <a:rPr lang="ja-JP" altLang="en-US" sz="1300" dirty="0">
                <a:solidFill>
                  <a:sysClr val="windowText" lastClr="000000"/>
                </a:solidFill>
                <a:latin typeface="游ゴシック" panose="020B0400000000000000" pitchFamily="50" charset="-128"/>
                <a:ea typeface="游ゴシック" panose="020B0400000000000000" pitchFamily="50" charset="-128"/>
              </a:rPr>
              <a:t>を行い、</a:t>
            </a:r>
            <a:r>
              <a:rPr sz="1300" dirty="0" err="1">
                <a:solidFill>
                  <a:sysClr val="windowText" lastClr="000000"/>
                </a:solidFill>
                <a:latin typeface="游ゴシック" panose="020B0400000000000000" pitchFamily="50" charset="-128"/>
                <a:ea typeface="游ゴシック" panose="020B0400000000000000" pitchFamily="50" charset="-128"/>
              </a:rPr>
              <a:t>補完予定です</a:t>
            </a:r>
            <a:r>
              <a:rPr sz="1300" dirty="0">
                <a:solidFill>
                  <a:sysClr val="windowText" lastClr="000000"/>
                </a:solidFill>
                <a:latin typeface="游ゴシック" panose="020B0400000000000000" pitchFamily="50" charset="-128"/>
                <a:ea typeface="游ゴシック" panose="020B0400000000000000" pitchFamily="50" charset="-128"/>
              </a:rPr>
              <a:t>。</a:t>
            </a:r>
          </a:p>
        </p:txBody>
      </p:sp>
      <p:graphicFrame>
        <p:nvGraphicFramePr>
          <p:cNvPr id="15" name="Table 14"/>
          <p:cNvGraphicFramePr>
            <a:graphicFrameLocks noGrp="1"/>
          </p:cNvGraphicFramePr>
          <p:nvPr>
            <p:extLst>
              <p:ext uri="{D42A27DB-BD31-4B8C-83A1-F6EECF244321}">
                <p14:modId xmlns:p14="http://schemas.microsoft.com/office/powerpoint/2010/main" val="1044269184"/>
              </p:ext>
            </p:extLst>
          </p:nvPr>
        </p:nvGraphicFramePr>
        <p:xfrm>
          <a:off x="309600" y="1800000"/>
          <a:ext cx="9720000" cy="19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8280000">
                  <a:extLst>
                    <a:ext uri="{9D8B030D-6E8A-4147-A177-3AD203B41FA5}">
                      <a16:colId xmlns:a16="http://schemas.microsoft.com/office/drawing/2014/main" val="20001"/>
                    </a:ext>
                  </a:extLst>
                </a:gridCol>
              </a:tblGrid>
              <a:tr h="324000">
                <a:tc>
                  <a:txBody>
                    <a:bodyPr/>
                    <a:lstStyle/>
                    <a:p>
                      <a:r>
                        <a:rPr sz="1100" b="1" dirty="0" err="1">
                          <a:solidFill>
                            <a:srgbClr val="FFFFFF"/>
                          </a:solidFill>
                          <a:latin typeface="游ゴシック" panose="020B0400000000000000" pitchFamily="50" charset="-128"/>
                          <a:ea typeface="游ゴシック" panose="020B0400000000000000" pitchFamily="50" charset="-128"/>
                        </a:rPr>
                        <a:t>項目</a:t>
                      </a:r>
                      <a:endParaRPr sz="1100" b="1" dirty="0">
                        <a:solidFill>
                          <a:srgbClr val="FFFFFF"/>
                        </a:solidFill>
                        <a:latin typeface="游ゴシック" panose="020B0400000000000000" pitchFamily="50" charset="-128"/>
                        <a:ea typeface="游ゴシック" panose="020B0400000000000000" pitchFamily="50" charset="-128"/>
                      </a:endParaRPr>
                    </a:p>
                  </a:txBody>
                  <a:tcPr anchor="ctr">
                    <a:solidFill>
                      <a:srgbClr val="0B3041"/>
                    </a:solidFill>
                  </a:tcPr>
                </a:tc>
                <a:tc>
                  <a:txBody>
                    <a:bodyPr/>
                    <a:lstStyle/>
                    <a:p>
                      <a:r>
                        <a:rPr sz="1100" b="1">
                          <a:solidFill>
                            <a:srgbClr val="FFFFFF"/>
                          </a:solidFill>
                          <a:latin typeface="游ゴシック" panose="020B0400000000000000" pitchFamily="50" charset="-128"/>
                          <a:ea typeface="游ゴシック" panose="020B0400000000000000" pitchFamily="50" charset="-128"/>
                        </a:rPr>
                        <a:t>内容</a:t>
                      </a:r>
                    </a:p>
                  </a:txBody>
                  <a:tcPr anchor="ctr">
                    <a:solidFill>
                      <a:srgbClr val="0B3041"/>
                    </a:solidFill>
                  </a:tcPr>
                </a:tc>
                <a:extLst>
                  <a:ext uri="{0D108BD9-81ED-4DB2-BD59-A6C34878D82A}">
                    <a16:rowId xmlns:a16="http://schemas.microsoft.com/office/drawing/2014/main" val="10000"/>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氏名</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sz="1100" b="0" dirty="0" err="1">
                          <a:solidFill>
                            <a:sysClr val="windowText" lastClr="000000"/>
                          </a:solidFill>
                          <a:latin typeface="游ゴシック" panose="020B0400000000000000" pitchFamily="50" charset="-128"/>
                          <a:ea typeface="游ゴシック" panose="020B0400000000000000" pitchFamily="50" charset="-128"/>
                        </a:rPr>
                        <a:t>野口</a:t>
                      </a:r>
                      <a:r>
                        <a:rPr sz="1100" b="0" dirty="0">
                          <a:solidFill>
                            <a:sysClr val="windowText" lastClr="000000"/>
                          </a:solidFill>
                          <a:latin typeface="游ゴシック" panose="020B0400000000000000" pitchFamily="50" charset="-128"/>
                          <a:ea typeface="游ゴシック" panose="020B0400000000000000" pitchFamily="50" charset="-128"/>
                        </a:rPr>
                        <a:t> 紘</a:t>
                      </a:r>
                    </a:p>
                  </a:txBody>
                  <a:tcPr anchor="ctr">
                    <a:solidFill>
                      <a:schemeClr val="accent2"/>
                    </a:solidFill>
                  </a:tcPr>
                </a:tc>
                <a:extLst>
                  <a:ext uri="{0D108BD9-81ED-4DB2-BD59-A6C34878D82A}">
                    <a16:rowId xmlns:a16="http://schemas.microsoft.com/office/drawing/2014/main" val="10001"/>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役職</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tc>
                  <a:txBody>
                    <a:bodyPr/>
                    <a:lstStyle/>
                    <a:p>
                      <a:r>
                        <a:rPr sz="1100" b="0" dirty="0" err="1">
                          <a:solidFill>
                            <a:sysClr val="windowText" lastClr="000000"/>
                          </a:solidFill>
                          <a:latin typeface="游ゴシック" panose="020B0400000000000000" pitchFamily="50" charset="-128"/>
                          <a:ea typeface="游ゴシック" panose="020B0400000000000000" pitchFamily="50" charset="-128"/>
                        </a:rPr>
                        <a:t>代表取締役（設立時より</a:t>
                      </a:r>
                      <a:r>
                        <a:rPr sz="1100" b="0" dirty="0">
                          <a:solidFill>
                            <a:sysClr val="windowText" lastClr="000000"/>
                          </a:solidFill>
                          <a:latin typeface="游ゴシック" panose="020B0400000000000000" pitchFamily="50" charset="-128"/>
                          <a:ea typeface="游ゴシック" panose="020B0400000000000000" pitchFamily="50" charset="-128"/>
                        </a:rPr>
                        <a:t>）</a:t>
                      </a:r>
                    </a:p>
                  </a:txBody>
                  <a:tcPr anchor="ctr">
                    <a:solidFill>
                      <a:srgbClr val="FFFFFF"/>
                    </a:solidFill>
                  </a:tcPr>
                </a:tc>
                <a:extLst>
                  <a:ext uri="{0D108BD9-81ED-4DB2-BD59-A6C34878D82A}">
                    <a16:rowId xmlns:a16="http://schemas.microsoft.com/office/drawing/2014/main" val="10002"/>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設立</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sz="1100" b="0" dirty="0">
                          <a:solidFill>
                            <a:sysClr val="windowText" lastClr="000000"/>
                          </a:solidFill>
                          <a:latin typeface="游ゴシック" panose="020B0400000000000000" pitchFamily="50" charset="-128"/>
                          <a:ea typeface="游ゴシック" panose="020B0400000000000000" pitchFamily="50" charset="-128"/>
                        </a:rPr>
                        <a:t>2014年2月</a:t>
                      </a:r>
                    </a:p>
                  </a:txBody>
                  <a:tcPr anchor="ctr">
                    <a:solidFill>
                      <a:schemeClr val="accent2"/>
                    </a:solidFill>
                  </a:tcPr>
                </a:tc>
                <a:extLst>
                  <a:ext uri="{0D108BD9-81ED-4DB2-BD59-A6C34878D82A}">
                    <a16:rowId xmlns:a16="http://schemas.microsoft.com/office/drawing/2014/main" val="10003"/>
                  </a:ext>
                </a:extLst>
              </a:tr>
              <a:tr h="324000">
                <a:tc>
                  <a:txBody>
                    <a:bodyPr/>
                    <a:lstStyle/>
                    <a:p>
                      <a:r>
                        <a:rPr lang="ja-JP" altLang="en-US" sz="1100" b="1" dirty="0">
                          <a:solidFill>
                            <a:sysClr val="windowText" lastClr="000000"/>
                          </a:solidFill>
                          <a:latin typeface="游ゴシック" panose="020B0400000000000000" pitchFamily="50" charset="-128"/>
                          <a:ea typeface="游ゴシック" panose="020B0400000000000000" pitchFamily="50" charset="-128"/>
                        </a:rPr>
                        <a:t>学歴</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tc>
                  <a:txBody>
                    <a:bodyPr/>
                    <a:lstStyle/>
                    <a:p>
                      <a:r>
                        <a:rPr lang="ja-JP" altLang="en-US"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rPr>
                        <a:t>ヒアリング予定</a:t>
                      </a:r>
                      <a:endParaRPr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endParaRPr>
                    </a:p>
                  </a:txBody>
                  <a:tcPr anchor="ctr">
                    <a:solidFill>
                      <a:srgbClr val="FFFFFF"/>
                    </a:solidFill>
                  </a:tcPr>
                </a:tc>
                <a:extLst>
                  <a:ext uri="{0D108BD9-81ED-4DB2-BD59-A6C34878D82A}">
                    <a16:rowId xmlns:a16="http://schemas.microsoft.com/office/drawing/2014/main" val="1893055014"/>
                  </a:ext>
                </a:extLst>
              </a:tr>
              <a:tr h="324000">
                <a:tc>
                  <a:txBody>
                    <a:bodyPr/>
                    <a:lstStyle/>
                    <a:p>
                      <a:r>
                        <a:rPr lang="ja-JP" altLang="en-US" sz="1100" b="1" dirty="0">
                          <a:solidFill>
                            <a:sysClr val="windowText" lastClr="000000"/>
                          </a:solidFill>
                          <a:latin typeface="游ゴシック" panose="020B0400000000000000" pitchFamily="50" charset="-128"/>
                          <a:ea typeface="游ゴシック" panose="020B0400000000000000" pitchFamily="50" charset="-128"/>
                        </a:rPr>
                        <a:t>主な職歴</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lang="ja-JP" altLang="en-US"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rPr>
                        <a:t>ヒアリング予定</a:t>
                      </a:r>
                      <a:endParaRPr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endParaRPr>
                    </a:p>
                  </a:txBody>
                  <a:tcPr anchor="ctr">
                    <a:solidFill>
                      <a:schemeClr val="accent2"/>
                    </a:solidFill>
                  </a:tcPr>
                </a:tc>
                <a:extLst>
                  <a:ext uri="{0D108BD9-81ED-4DB2-BD59-A6C34878D82A}">
                    <a16:rowId xmlns:a16="http://schemas.microsoft.com/office/drawing/2014/main" val="3035925159"/>
                  </a:ext>
                </a:extLst>
              </a:tr>
            </a:tbl>
          </a:graphicData>
        </a:graphic>
      </p:graphicFrame>
    </p:spTree>
    <p:extLst>
      <p:ext uri="{BB962C8B-B14F-4D97-AF65-F5344CB8AC3E}">
        <p14:creationId xmlns:p14="http://schemas.microsoft.com/office/powerpoint/2010/main" val="3170289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7753</TotalTime>
  <Words>3853</Words>
  <Application>Microsoft Office PowerPoint</Application>
  <PresentationFormat>ユーザー設定</PresentationFormat>
  <Paragraphs>1464</Paragraphs>
  <Slides>34</Slides>
  <Notes>27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34</vt:i4>
      </vt:variant>
    </vt:vector>
  </HeadingPairs>
  <TitlesOfParts>
    <vt:vector size="39" baseType="lpstr">
      <vt:lpstr>游ゴシック</vt:lpstr>
      <vt:lpstr>游ゴシック Medium</vt:lpstr>
      <vt:lpstr>Arial</vt:lpstr>
      <vt:lpstr>Wingdings</vt:lpstr>
      <vt:lpstr>SL_2026</vt:lpstr>
      <vt:lpstr>企業概要書　＜キャラクターグッズ企画・製造販売／東京都＞</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サービス・商品概要</vt:lpstr>
      <vt:lpstr>主な制作実績（取扱IP）</vt:lpstr>
      <vt:lpstr>特徴、強み、成長性等</vt:lpstr>
      <vt:lpstr>主要販売先別 売上高推移</vt:lpstr>
      <vt:lpstr>仕入先別取引高</vt:lpstr>
      <vt:lpstr>製造委託・外部委託関連費用</vt:lpstr>
      <vt:lpstr>組織、拠点、設備等</vt:lpstr>
      <vt:lpstr>組織図</vt:lpstr>
      <vt:lpstr>株主及び役員</vt:lpstr>
      <vt:lpstr>従業員</vt:lpstr>
      <vt:lpstr>拠点概要（本社）</vt:lpstr>
      <vt:lpstr>拠点体制（本社1拠点に集約）</vt:lpstr>
      <vt:lpstr>不動産詳細</vt:lpstr>
      <vt:lpstr>保有設備一覧</vt:lpstr>
      <vt:lpstr>財務情報詳細</vt:lpstr>
      <vt:lpstr>貸借対照表</vt:lpstr>
      <vt:lpstr>損益計算書</vt:lpstr>
      <vt:lpstr>売上原価の内訳（製造委託中心）</vt:lpstr>
      <vt:lpstr>販売費及び一般管理費</vt:lpstr>
      <vt:lpstr>Appendix</vt:lpstr>
      <vt:lpstr>沿革</vt:lpstr>
      <vt:lpstr>代表者経歴</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177</cp:revision>
  <cp:lastPrinted>2025-10-23T01:12:16Z</cp:lastPrinted>
  <dcterms:created xsi:type="dcterms:W3CDTF">2022-11-09T11:25:01Z</dcterms:created>
  <dcterms:modified xsi:type="dcterms:W3CDTF">2026-07-28T12:07:43Z</dcterms:modified>
</cp:coreProperties>
</file>