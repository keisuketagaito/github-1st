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41"/>
  </p:notesMasterIdLst>
  <p:sldIdLst>
    <p:sldId id="770" r:id="rId2"/>
    <p:sldId id="269" r:id="rId3"/>
    <p:sldId id="693" r:id="rId4"/>
    <p:sldId id="749" r:id="rId5"/>
    <p:sldId id="748" r:id="rId6"/>
    <p:sldId id="815" r:id="rId49"/>
    <p:sldId id="816" r:id="rId50"/>
    <p:sldId id="774" r:id="rId9"/>
    <p:sldId id="775" r:id="rId10"/>
    <p:sldId id="803" r:id="rId7"/>
    <p:sldId id="804" r:id="rId8"/>
    <p:sldId id="805" r:id="rId11"/>
    <p:sldId id="266" r:id="rId12"/>
    <p:sldId id="772" r:id="rId13"/>
    <p:sldId id="776" r:id="rId14"/>
    <p:sldId id="806" r:id="rId15"/>
    <p:sldId id="807" r:id="rId16"/>
    <p:sldId id="812" r:id="rId17"/>
    <p:sldId id="798" r:id="rId18"/>
    <p:sldId id="811" r:id="rId19"/>
    <p:sldId id="808" r:id="rId20"/>
    <p:sldId id="809" r:id="rId21"/>
    <p:sldId id="813" r:id="rId22"/>
    <p:sldId id="814" r:id="rId23"/>
    <p:sldId id="779" r:id="rId26"/>
    <p:sldId id="792" r:id="rId25"/>
    <p:sldId id="771" r:id="rId27"/>
    <p:sldId id="780" r:id="rId28"/>
    <p:sldId id="789" r:id="rId29"/>
    <p:sldId id="781" r:id="rId30"/>
    <p:sldId id="790" r:id="rId31"/>
    <p:sldId id="795" r:id="rId32"/>
    <p:sldId id="773" r:id="rId33"/>
    <p:sldId id="784" r:id="rId34"/>
    <p:sldId id="785" r:id="rId35"/>
    <p:sldId id="786" r:id="rId36"/>
    <p:sldId id="787" r:id="rId37"/>
    <p:sldId id="782" r:id="rId38"/>
    <p:sldId id="801" r:id="rId39"/>
    <p:sldId id="277" r:id="rId40"/>
  </p:sldIdLst>
  <p:sldSz cx="10691813" cy="7559675"/>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804"/>
            <p14:sldId id="774"/>
            <p14:sldId id="775"/>
            <p14:sldId id="805"/>
            <p14:sldId id="266"/>
            <p14:sldId id="772"/>
            <p14:sldId id="776"/>
            <p14:sldId id="806"/>
            <p14:sldId id="807"/>
            <p14:sldId id="812"/>
            <p14:sldId id="798"/>
            <p14:sldId id="811"/>
            <p14:sldId id="808"/>
            <p14:sldId id="809"/>
            <p14:sldId id="813"/>
            <p14:sldId id="814"/>
            <p14:sldId id="796"/>
            <p14:sldId id="792"/>
            <p14:sldId id="779"/>
            <p14:sldId id="771"/>
            <p14:sldId id="780"/>
            <p14:sldId id="789"/>
            <p14:sldId id="781"/>
            <p14:sldId id="790"/>
            <p14:sldId id="795"/>
            <p14:sldId id="773"/>
            <p14:sldId id="784"/>
            <p14:sldId id="785"/>
            <p14:sldId id="786"/>
            <p14:sldId id="787"/>
            <p14:sldId id="782"/>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8" userDrawn="1">
          <p15:clr>
            <a:srgbClr val="A4A3A4"/>
          </p15:clr>
        </p15:guide>
        <p15:guide id="2" pos="2140"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3FB"/>
    <a:srgbClr val="F4F7F9"/>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8" autoAdjust="0"/>
    <p:restoredTop sz="94660"/>
  </p:normalViewPr>
  <p:slideViewPr>
    <p:cSldViewPr snapToGrid="0">
      <p:cViewPr varScale="1">
        <p:scale>
          <a:sx n="97" d="100"/>
          <a:sy n="97" d="100"/>
        </p:scale>
        <p:origin x="1506" y="9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5" Type="http://schemas.openxmlformats.org/officeDocument/2006/relationships/slide" Target="slides/slide26.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notesMaster" Target="notesMasters/notesMaster1.xml"/><Relationship Id="rId44" Type="http://customschemas.google.com/relationships/presentationmetadata" Target="meta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6.xml"/><Relationship Id="rId50"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0"/>
          <c:y val="0.09"/>
          <c:w val="0.60"/>
          <c:h val="0.82"/>
        </c:manualLayout>
      </c:layout>
      <c:pieChart>
        <c:varyColors/>
        <c:ser>
          <c:idx val="0"/>
          <c:order val="0"/>
          <c:tx>
            <c:strRef>
              <c:f>Sheet1!$B$1</c:f>
              <c:strCache>
                <c:ptCount val="1"/>
                <c:pt idx="0">
                  <c:v>売上高</c:v>
                </c:pt>
              </c:strCache>
            </c:strRef>
          </c:tx>
          <c:dPt>
            <c:idx val="0"/>
            <c:spPr>
              <a:solidFill>
                <a:srgbClr val="0889C9"/>
              </a:solidFill>
              <a:ln w="12700">
                <a:solidFill>
                  <a:srgbClr val="FFFFFF"/>
                </a:solidFill>
              </a:ln>
            </c:spPr>
          </c:dPt>
          <c:dPt>
            <c:idx val="1"/>
            <c:spPr>
              <a:solidFill>
                <a:srgbClr val="0B3041"/>
              </a:solidFill>
              <a:ln w="12700">
                <a:solidFill>
                  <a:srgbClr val="FFFFFF"/>
                </a:solidFill>
              </a:ln>
            </c:spPr>
          </c:dPt>
          <c:dPt>
            <c:idx val="2"/>
            <c:spPr>
              <a:solidFill>
                <a:srgbClr val="2E7FA8"/>
              </a:solidFill>
              <a:ln w="12700">
                <a:solidFill>
                  <a:srgbClr val="FFFFFF"/>
                </a:solidFill>
              </a:ln>
            </c:spPr>
          </c:dPt>
          <c:dPt>
            <c:idx val="3"/>
            <c:spPr>
              <a:solidFill>
                <a:srgbClr val="5B8CA0"/>
              </a:solidFill>
              <a:ln w="12700">
                <a:solidFill>
                  <a:srgbClr val="FFFFFF"/>
                </a:solidFill>
              </a:ln>
            </c:spPr>
          </c:dPt>
          <c:dPt>
            <c:idx val="4"/>
            <c:spPr>
              <a:solidFill>
                <a:srgbClr val="7C9AA8"/>
              </a:solidFill>
              <a:ln w="12700">
                <a:solidFill>
                  <a:srgbClr val="FFFFFF"/>
                </a:solidFill>
              </a:ln>
            </c:spPr>
          </c:dPt>
          <c:dPt>
            <c:idx val="5"/>
            <c:spPr>
              <a:solidFill>
                <a:srgbClr val="8E9AA0"/>
              </a:solidFill>
              <a:ln w="12700">
                <a:solidFill>
                  <a:srgbClr val="FFFFFF"/>
                </a:solidFill>
              </a:ln>
            </c:spPr>
          </c:dPt>
          <c:cat>
            <c:strRef>
              <c:f>Sheet1!$A$2:$A$7</c:f>
              <c:strCache>
                <c:ptCount val="6"/>
                <c:pt idx="0">
                  <c:v>㈱セガ</c:v>
                </c:pt>
                <c:pt idx="1">
                  <c:v>㈱KADOKAWA Game Linkage</c:v>
                </c:pt>
                <c:pt idx="2">
                  <c:v>㈱ムービック</c:v>
                </c:pt>
                <c:pt idx="3">
                  <c:v>㈱スモールプラネット</c:v>
                </c:pt>
                <c:pt idx="4">
                  <c:v>杭州迷萌文化創意</c:v>
                </c:pt>
                <c:pt idx="5">
                  <c:v>その他</c:v>
                </c:pt>
              </c:strCache>
            </c:strRef>
          </c:cat>
          <c:val>
            <c:numRef>
              <c:f>Sheet1!$B$2:$B$7</c:f>
              <c:numCache>
                <c:formatCode>#,##0</c:formatCode>
                <c:ptCount val="6"/>
                <c:pt idx="0">
                  <c:v>33802</c:v>
                </c:pt>
                <c:pt idx="1">
                  <c:v>84037</c:v>
                </c:pt>
                <c:pt idx="2">
                  <c:v>28015</c:v>
                </c:pt>
                <c:pt idx="4">
                  <c:v>15180</c:v>
                </c:pt>
                <c:pt idx="5">
                  <c:v>155721</c:v>
                </c:pt>
              </c:numCache>
            </c:numRef>
          </c:val>
        </c:ser>
        <c:dLbls>
          <c:numFmt formatCode="0.0%" sourceLinked="0"/>
          <c:txPr>
            <a:bodyPr/>
            <a:lstStyle/>
            <a:p>
              <a:pPr>
                <a:defRPr sz="700" b="1">
                  <a:solidFill>
                    <a:srgbClr val="0B3041"/>
                  </a:solidFill>
                  <a:latin typeface="游ゴシック"/>
                </a:defRPr>
              </a:pPr>
            </a:p>
          </c:txPr>
          <c:dLblPos val="outEnd"/>
          <c:showLegendKey val="0"/>
          <c:showVal val="0"/>
          <c:showCatName val="0"/>
          <c:showSerName val="0"/>
          <c:showPercent val="1"/>
          <c:showBubbleSize val="0"/>
          <c:showLeaderLines val="1"/>
        </c:dLbls>
      </c:pieChart>
    </c:plotArea>
    <c:dispBlanksAs val="gap"/>
  </c:chart>
  <c:txPr>
    <a:bodyPr/>
    <a:lstStyle/>
    <a:p>
      <a:pPr>
        <a:defRPr sz="800">
          <a:latin typeface="游ゴシック"/>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0"/>
          <c:y val="0.09"/>
          <c:w val="0.60"/>
          <c:h val="0.82"/>
        </c:manualLayout>
      </c:layout>
      <c:pieChart>
        <c:varyColors/>
        <c:ser>
          <c:idx val="0"/>
          <c:order val="0"/>
          <c:tx>
            <c:strRef>
              <c:f>Sheet1!$B$1</c:f>
              <c:strCache>
                <c:ptCount val="1"/>
                <c:pt idx="0">
                  <c:v>売上高</c:v>
                </c:pt>
              </c:strCache>
            </c:strRef>
          </c:tx>
          <c:dPt>
            <c:idx val="0"/>
            <c:spPr>
              <a:solidFill>
                <a:srgbClr val="0889C9"/>
              </a:solidFill>
              <a:ln w="12700">
                <a:solidFill>
                  <a:srgbClr val="FFFFFF"/>
                </a:solidFill>
              </a:ln>
            </c:spPr>
          </c:dPt>
          <c:dPt>
            <c:idx val="1"/>
            <c:spPr>
              <a:solidFill>
                <a:srgbClr val="0B3041"/>
              </a:solidFill>
              <a:ln w="12700">
                <a:solidFill>
                  <a:srgbClr val="FFFFFF"/>
                </a:solidFill>
              </a:ln>
            </c:spPr>
          </c:dPt>
          <c:dPt>
            <c:idx val="2"/>
            <c:spPr>
              <a:solidFill>
                <a:srgbClr val="2E7FA8"/>
              </a:solidFill>
              <a:ln w="12700">
                <a:solidFill>
                  <a:srgbClr val="FFFFFF"/>
                </a:solidFill>
              </a:ln>
            </c:spPr>
          </c:dPt>
          <c:dPt>
            <c:idx val="3"/>
            <c:spPr>
              <a:solidFill>
                <a:srgbClr val="5B8CA0"/>
              </a:solidFill>
              <a:ln w="12700">
                <a:solidFill>
                  <a:srgbClr val="FFFFFF"/>
                </a:solidFill>
              </a:ln>
            </c:spPr>
          </c:dPt>
          <c:dPt>
            <c:idx val="4"/>
            <c:spPr>
              <a:solidFill>
                <a:srgbClr val="7C9AA8"/>
              </a:solidFill>
              <a:ln w="12700">
                <a:solidFill>
                  <a:srgbClr val="FFFFFF"/>
                </a:solidFill>
              </a:ln>
            </c:spPr>
          </c:dPt>
          <c:dPt>
            <c:idx val="5"/>
            <c:spPr>
              <a:solidFill>
                <a:srgbClr val="8E9AA0"/>
              </a:solidFill>
              <a:ln w="12700">
                <a:solidFill>
                  <a:srgbClr val="FFFFFF"/>
                </a:solidFill>
              </a:ln>
            </c:spPr>
          </c:dPt>
          <c:cat>
            <c:strRef>
              <c:f>Sheet1!$A$2:$A$7</c:f>
              <c:strCache>
                <c:ptCount val="6"/>
                <c:pt idx="0">
                  <c:v>㈱セガ</c:v>
                </c:pt>
                <c:pt idx="1">
                  <c:v>㈱KADOKAWA Game Linkage</c:v>
                </c:pt>
                <c:pt idx="2">
                  <c:v>㈱ムービック</c:v>
                </c:pt>
                <c:pt idx="3">
                  <c:v>㈱スモールプラネット</c:v>
                </c:pt>
                <c:pt idx="4">
                  <c:v>杭州迷萌文化創意</c:v>
                </c:pt>
                <c:pt idx="5">
                  <c:v>その他</c:v>
                </c:pt>
              </c:strCache>
            </c:strRef>
          </c:cat>
          <c:val>
            <c:numRef>
              <c:f>Sheet1!$B$2:$B$7</c:f>
              <c:numCache>
                <c:formatCode>#,##0</c:formatCode>
                <c:ptCount val="6"/>
                <c:pt idx="0">
                  <c:v>109941</c:v>
                </c:pt>
                <c:pt idx="1">
                  <c:v>69227</c:v>
                </c:pt>
                <c:pt idx="2">
                  <c:v>36033</c:v>
                </c:pt>
                <c:pt idx="4">
                  <c:v>69086</c:v>
                </c:pt>
                <c:pt idx="5">
                  <c:v>159581</c:v>
                </c:pt>
              </c:numCache>
            </c:numRef>
          </c:val>
        </c:ser>
        <c:dLbls>
          <c:numFmt formatCode="0.0%" sourceLinked="0"/>
          <c:txPr>
            <a:bodyPr/>
            <a:lstStyle/>
            <a:p>
              <a:pPr>
                <a:defRPr sz="700" b="1">
                  <a:solidFill>
                    <a:srgbClr val="0B3041"/>
                  </a:solidFill>
                  <a:latin typeface="游ゴシック"/>
                </a:defRPr>
              </a:pPr>
            </a:p>
          </c:txPr>
          <c:dLblPos val="outEnd"/>
          <c:showLegendKey val="0"/>
          <c:showVal val="0"/>
          <c:showCatName val="0"/>
          <c:showSerName val="0"/>
          <c:showPercent val="1"/>
          <c:showBubbleSize val="0"/>
          <c:showLeaderLines val="1"/>
        </c:dLbls>
      </c:pieChart>
    </c:plotArea>
    <c:dispBlanksAs val="gap"/>
  </c:chart>
  <c:txPr>
    <a:bodyPr/>
    <a:lstStyle/>
    <a:p>
      <a:pPr>
        <a:defRPr sz="800">
          <a:latin typeface="游ゴシック"/>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20"/>
          <c:y val="0.09"/>
          <c:w val="0.60"/>
          <c:h val="0.82"/>
        </c:manualLayout>
      </c:layout>
      <c:pieChart>
        <c:varyColors/>
        <c:ser>
          <c:idx val="0"/>
          <c:order val="0"/>
          <c:tx>
            <c:strRef>
              <c:f>Sheet1!$B$1</c:f>
              <c:strCache>
                <c:ptCount val="1"/>
                <c:pt idx="0">
                  <c:v>売上高</c:v>
                </c:pt>
              </c:strCache>
            </c:strRef>
          </c:tx>
          <c:dPt>
            <c:idx val="0"/>
            <c:spPr>
              <a:solidFill>
                <a:srgbClr val="0889C9"/>
              </a:solidFill>
              <a:ln w="12700">
                <a:solidFill>
                  <a:srgbClr val="FFFFFF"/>
                </a:solidFill>
              </a:ln>
            </c:spPr>
          </c:dPt>
          <c:dPt>
            <c:idx val="1"/>
            <c:spPr>
              <a:solidFill>
                <a:srgbClr val="0B3041"/>
              </a:solidFill>
              <a:ln w="12700">
                <a:solidFill>
                  <a:srgbClr val="FFFFFF"/>
                </a:solidFill>
              </a:ln>
            </c:spPr>
          </c:dPt>
          <c:dPt>
            <c:idx val="2"/>
            <c:spPr>
              <a:solidFill>
                <a:srgbClr val="2E7FA8"/>
              </a:solidFill>
              <a:ln w="12700">
                <a:solidFill>
                  <a:srgbClr val="FFFFFF"/>
                </a:solidFill>
              </a:ln>
            </c:spPr>
          </c:dPt>
          <c:dPt>
            <c:idx val="3"/>
            <c:spPr>
              <a:solidFill>
                <a:srgbClr val="5B8CA0"/>
              </a:solidFill>
              <a:ln w="12700">
                <a:solidFill>
                  <a:srgbClr val="FFFFFF"/>
                </a:solidFill>
              </a:ln>
            </c:spPr>
          </c:dPt>
          <c:dPt>
            <c:idx val="4"/>
            <c:spPr>
              <a:solidFill>
                <a:srgbClr val="7C9AA8"/>
              </a:solidFill>
              <a:ln w="12700">
                <a:solidFill>
                  <a:srgbClr val="FFFFFF"/>
                </a:solidFill>
              </a:ln>
            </c:spPr>
          </c:dPt>
          <c:dPt>
            <c:idx val="5"/>
            <c:spPr>
              <a:solidFill>
                <a:srgbClr val="8E9AA0"/>
              </a:solidFill>
              <a:ln w="12700">
                <a:solidFill>
                  <a:srgbClr val="FFFFFF"/>
                </a:solidFill>
              </a:ln>
            </c:spPr>
          </c:dPt>
          <c:cat>
            <c:strRef>
              <c:f>Sheet1!$A$2:$A$7</c:f>
              <c:strCache>
                <c:ptCount val="6"/>
                <c:pt idx="0">
                  <c:v>㈱セガ</c:v>
                </c:pt>
                <c:pt idx="1">
                  <c:v>㈱KADOKAWA Game Linkage</c:v>
                </c:pt>
                <c:pt idx="2">
                  <c:v>㈱ムービック</c:v>
                </c:pt>
                <c:pt idx="3">
                  <c:v>㈱スモールプラネット</c:v>
                </c:pt>
                <c:pt idx="4">
                  <c:v>杭州迷萌文化創意</c:v>
                </c:pt>
                <c:pt idx="5">
                  <c:v>その他</c:v>
                </c:pt>
              </c:strCache>
            </c:strRef>
          </c:cat>
          <c:val>
            <c:numRef>
              <c:f>Sheet1!$B$2:$B$7</c:f>
              <c:numCache>
                <c:formatCode>#,##0</c:formatCode>
                <c:ptCount val="6"/>
                <c:pt idx="0">
                  <c:v>202069</c:v>
                </c:pt>
                <c:pt idx="1">
                  <c:v>60264</c:v>
                </c:pt>
                <c:pt idx="2">
                  <c:v>43808</c:v>
                </c:pt>
                <c:pt idx="3">
                  <c:v>42546</c:v>
                </c:pt>
                <c:pt idx="4">
                  <c:v>33677</c:v>
                </c:pt>
                <c:pt idx="5">
                  <c:v>40111</c:v>
                </c:pt>
              </c:numCache>
            </c:numRef>
          </c:val>
        </c:ser>
        <c:dLbls>
          <c:numFmt formatCode="0.0%" sourceLinked="0"/>
          <c:txPr>
            <a:bodyPr/>
            <a:lstStyle/>
            <a:p>
              <a:pPr>
                <a:defRPr sz="700" b="1">
                  <a:solidFill>
                    <a:srgbClr val="0B3041"/>
                  </a:solidFill>
                  <a:latin typeface="游ゴシック"/>
                </a:defRPr>
              </a:pPr>
            </a:p>
          </c:txPr>
          <c:dLblPos val="outEnd"/>
          <c:showLegendKey val="0"/>
          <c:showVal val="0"/>
          <c:showCatName val="0"/>
          <c:showSerName val="0"/>
          <c:showPercent val="1"/>
          <c:showBubbleSize val="0"/>
          <c:showLeaderLines val="1"/>
        </c:dLbls>
      </c:pieChart>
    </c:plotArea>
    <c:dispBlanksAs val="gap"/>
  </c:chart>
  <c:txPr>
    <a:bodyPr/>
    <a:lstStyle/>
    <a:p>
      <a:pPr>
        <a:defRPr sz="800">
          <a:latin typeface="游ゴシック"/>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 y="3"/>
            <a:ext cx="2944030" cy="497571"/>
          </a:xfrm>
          <a:prstGeom prst="rect">
            <a:avLst/>
          </a:prstGeom>
          <a:noFill/>
          <a:ln>
            <a:noFill/>
          </a:ln>
        </p:spPr>
        <p:txBody>
          <a:bodyPr spcFirstLastPara="1" wrap="square" lIns="88156" tIns="44066" rIns="88156" bIns="44066"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954" y="3"/>
            <a:ext cx="2944029" cy="497571"/>
          </a:xfrm>
          <a:prstGeom prst="rect">
            <a:avLst/>
          </a:prstGeom>
          <a:noFill/>
          <a:ln>
            <a:noFill/>
          </a:ln>
        </p:spPr>
        <p:txBody>
          <a:bodyPr spcFirstLastPara="1" wrap="square" lIns="88156" tIns="44066" rIns="88156" bIns="44066"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3" y="9433832"/>
            <a:ext cx="2944030" cy="497571"/>
          </a:xfrm>
          <a:prstGeom prst="rect">
            <a:avLst/>
          </a:prstGeom>
          <a:noFill/>
          <a:ln>
            <a:noFill/>
          </a:ln>
        </p:spPr>
        <p:txBody>
          <a:bodyPr spcFirstLastPara="1" wrap="square" lIns="88156" tIns="44066" rIns="88156" bIns="44066"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692150" y="860425"/>
            <a:ext cx="3278188" cy="2319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466729" y="3309247"/>
            <a:ext cx="3729663" cy="2706690"/>
          </a:xfrm>
          <a:prstGeom prst="rect">
            <a:avLst/>
          </a:prstGeom>
          <a:noFill/>
          <a:ln>
            <a:noFill/>
          </a:ln>
        </p:spPr>
        <p:txBody>
          <a:bodyPr spcFirstLastPara="1" wrap="square" lIns="60774" tIns="30388" rIns="60774" bIns="30388" anchor="t" anchorCtr="0">
            <a:noAutofit/>
          </a:bodyPr>
          <a:lstStyle/>
          <a:p>
            <a:endParaRPr dirty="0"/>
          </a:p>
        </p:txBody>
      </p:sp>
      <p:sp>
        <p:nvSpPr>
          <p:cNvPr id="257" name="Google Shape;257;p2:notes"/>
          <p:cNvSpPr txBox="1">
            <a:spLocks noGrp="1"/>
          </p:cNvSpPr>
          <p:nvPr>
            <p:ph type="sldNum" idx="12"/>
          </p:nvPr>
        </p:nvSpPr>
        <p:spPr>
          <a:xfrm>
            <a:off x="2640976" y="6531039"/>
            <a:ext cx="2020060" cy="344469"/>
          </a:xfrm>
          <a:prstGeom prst="rect">
            <a:avLst/>
          </a:prstGeom>
          <a:noFill/>
          <a:ln>
            <a:noFill/>
          </a:ln>
        </p:spPr>
        <p:txBody>
          <a:bodyPr spcFirstLastPara="1" wrap="square" lIns="60774" tIns="30388" rIns="60774" bIns="30388"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8975" y="858838"/>
            <a:ext cx="3275013" cy="2317750"/>
          </a:xfrm>
        </p:spPr>
      </p:sp>
      <p:sp>
        <p:nvSpPr>
          <p:cNvPr id="3" name="ノート プレースホルダー 2"/>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B73A3-25D3-7371-5972-0FE96496EB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45CF1F-9BCB-D0B4-4390-64535AE45E7D}"/>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09A2751B-1C8E-6451-BDFA-22B504FE9300}"/>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D5E7D034-1D0C-CF0A-AD26-677225467F6E}"/>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291393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8D8D-9C4E-9FE3-760F-4DEA2D38B4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B2072A-CCA9-3C9F-5A74-F322FE5C3CA1}"/>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096D312-F21B-25BC-A3E0-7196A2610FEB}"/>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4209BC3E-17CD-D15E-77BF-F0204FBA30D2}"/>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224672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00F3-3BF3-8C4E-D64F-7348328915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236788-BA30-06AD-4E36-72DE92B9189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1F470095-B47F-9145-BB9A-02858E63CB29}"/>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89B5091-3243-F60E-F919-B4097E12B986}"/>
              </a:ext>
            </a:extLst>
          </p:cNvPr>
          <p:cNvSpPr>
            <a:spLocks noGrp="1"/>
          </p:cNvSpPr>
          <p:nvPr>
            <p:ph type="sldNum" sz="quarter" idx="5"/>
          </p:nvPr>
        </p:nvSpPr>
        <p:spPr/>
        <p:txBody>
          <a:bodyPr/>
          <a:lstStyle/>
          <a:p>
            <a:fld id="{30FF3BCC-1A43-4D25-8467-E40EF431E2F1}" type="slidenum">
              <a:rPr kumimoji="1" lang="ja-JP" altLang="en-US" smtClean="0"/>
              <a:t>9</a:t>
            </a:fld>
            <a:endParaRPr kumimoji="1" lang="ja-JP" altLang="en-US"/>
          </a:p>
        </p:txBody>
      </p:sp>
    </p:spTree>
    <p:extLst>
      <p:ext uri="{BB962C8B-B14F-4D97-AF65-F5344CB8AC3E}">
        <p14:creationId xmlns:p14="http://schemas.microsoft.com/office/powerpoint/2010/main" val="339847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p>
            <a:pPr marL="0" indent="0"/>
            <a:endParaRPr/>
          </a:p>
        </p:txBody>
      </p:sp>
      <p:sp>
        <p:nvSpPr>
          <p:cNvPr id="268" name="Google Shape;268;p11:notes"/>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a:pPr algn="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indent="0" defTabSz="629107">
              <a:buClrTx/>
              <a:buSzTx/>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836613" y="790575"/>
            <a:ext cx="3014662" cy="2132013"/>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16</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E7511-57F4-2BD3-8600-16AE17B001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4CB869-F9E2-8D77-8443-AA3C5F497165}"/>
              </a:ext>
            </a:extLst>
          </p:cNvPr>
          <p:cNvSpPr>
            <a:spLocks noGrp="1" noRot="1" noChangeAspect="1"/>
          </p:cNvSpPr>
          <p:nvPr>
            <p:ph type="sldImg"/>
          </p:nvPr>
        </p:nvSpPr>
        <p:spPr>
          <a:xfrm>
            <a:off x="836613" y="790575"/>
            <a:ext cx="3014662" cy="2132013"/>
          </a:xfrm>
        </p:spPr>
      </p:sp>
      <p:sp>
        <p:nvSpPr>
          <p:cNvPr id="3" name="ノート プレースホルダー 2">
            <a:extLst>
              <a:ext uri="{FF2B5EF4-FFF2-40B4-BE49-F238E27FC236}">
                <a16:creationId xmlns:a16="http://schemas.microsoft.com/office/drawing/2014/main" id="{76A07705-29A2-2621-DB2C-DDFC57B298B8}"/>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4A9EB40A-20FA-C643-3A4A-25C325DD0427}"/>
              </a:ext>
            </a:extLst>
          </p:cNvPr>
          <p:cNvSpPr>
            <a:spLocks noGrp="1"/>
          </p:cNvSpPr>
          <p:nvPr>
            <p:ph type="sldNum" sz="quarter" idx="5"/>
          </p:nvPr>
        </p:nvSpPr>
        <p:spPr/>
        <p:txBody>
          <a:bodyPr/>
          <a:lstStyle/>
          <a:p>
            <a:fld id="{CCD08276-B047-45AB-869B-6FEE4FD0AA7E}" type="slidenum">
              <a:rPr kumimoji="1" lang="ja-JP" altLang="en-US" smtClean="0"/>
              <a:t>17</a:t>
            </a:fld>
            <a:endParaRPr kumimoji="1" lang="ja-JP" altLang="en-US"/>
          </a:p>
        </p:txBody>
      </p:sp>
    </p:spTree>
    <p:extLst>
      <p:ext uri="{BB962C8B-B14F-4D97-AF65-F5344CB8AC3E}">
        <p14:creationId xmlns:p14="http://schemas.microsoft.com/office/powerpoint/2010/main" val="2804836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34</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indent="0" defTabSz="629107" fontAlgn="ctr">
              <a:buClrTx/>
              <a:buSzTx/>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35</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8975" y="858838"/>
            <a:ext cx="3275013" cy="2317750"/>
          </a:xfrm>
        </p:spPr>
      </p:sp>
      <p:sp>
        <p:nvSpPr>
          <p:cNvPr id="3" name="ノート プレースホルダー 2"/>
          <p:cNvSpPr>
            <a:spLocks noGrp="1"/>
          </p:cNvSpPr>
          <p:nvPr>
            <p:ph type="body" idx="1"/>
          </p:nvPr>
        </p:nvSpPr>
        <p:spPr/>
        <p:txBody>
          <a:bodyPr/>
          <a:lstStyle/>
          <a:p>
            <a:pPr marL="0" indent="0" defTabSz="629107">
              <a:buClrTx/>
              <a:buSzTx/>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37</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eg"/><Relationship Id="rId5" Type="http://schemas.openxmlformats.org/officeDocument/2006/relationships/image" Target="../media/image10.png"/><Relationship Id="rId6" Type="http://schemas.openxmlformats.org/officeDocument/2006/relationships/image" Target="../media/image11.jpeg"/><Relationship Id="rId7" Type="http://schemas.openxmlformats.org/officeDocument/2006/relationships/image" Target="../media/image12.jpeg"/><Relationship Id="rId8" Type="http://schemas.openxmlformats.org/officeDocument/2006/relationships/image" Target="../media/image1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1.jpe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12.jpeg"/><Relationship Id="rId11"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1.jpe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12.jpeg"/><Relationship Id="rId11"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1.jpe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12.jpeg"/><Relationship Id="rId11"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 Id="rId8" Type="http://schemas.openxmlformats.org/officeDocument/2006/relationships/image" Target="../media/image29.jpg"/><Relationship Id="rId9" Type="http://schemas.openxmlformats.org/officeDocument/2006/relationships/image" Target="../media/image30.jpg"/><Relationship Id="rId10" Type="http://schemas.openxmlformats.org/officeDocument/2006/relationships/image" Target="../media/image31.jpg"/><Relationship Id="rId11"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image" Target="../media/image39.jpg"/><Relationship Id="rId9" Type="http://schemas.openxmlformats.org/officeDocument/2006/relationships/image" Target="../media/image40.jpeg"/><Relationship Id="rId10"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5.png"/><Relationship Id="rId4" Type="http://schemas.openxmlformats.org/officeDocument/2006/relationships/image" Target="../media/image46.png"/><Relationship Id="rId5" Type="http://schemas.microsoft.com/office/2007/relationships/hdphoto" Target="../media/hdphoto1.wdp"/></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wrap="square"/>
          <a:lstStyle/>
          <a:p>
            <a:r>
              <a:rPr>
                <a:latin typeface="游ゴシック"/>
                <a:ea typeface="游ゴシック"/>
              </a:rPr>
              <a:t>企業概要書　</a:t>
            </a:r>
            <a:r>
              <a:rPr sz="1600">
                <a:latin typeface="游ゴシック"/>
                <a:ea typeface="游ゴシック"/>
              </a:rPr>
              <a:t>＜キャラクターグッズ企画・製造販売／東京都＞</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18010421"/>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dirty="0" err="1">
                <a:latin typeface="+mj-ea"/>
                <a:ea typeface="+mj-ea"/>
              </a:rPr>
              <a:t>アニメ・ゲーム</a:t>
            </a:r>
            <a:r>
              <a:rPr lang="ja-JP" altLang="en-US" dirty="0">
                <a:latin typeface="+mj-ea"/>
                <a:ea typeface="+mj-ea"/>
              </a:rPr>
              <a:t>等の</a:t>
            </a:r>
            <a:r>
              <a:rPr dirty="0">
                <a:latin typeface="+mj-ea"/>
                <a:ea typeface="+mj-ea"/>
              </a:rPr>
              <a:t>IP</a:t>
            </a:r>
            <a:r>
              <a:rPr lang="ja-JP" altLang="en-US" dirty="0"/>
              <a:t>を活用したキャラクターグッズの企画・製造・販売、及び</a:t>
            </a:r>
            <a:r>
              <a:rPr lang="en-US" altLang="ja-JP" dirty="0"/>
              <a:t>OEM</a:t>
            </a:r>
            <a:r>
              <a:rPr lang="ja-JP" altLang="en-US" dirty="0"/>
              <a:t>受託事業を手掛ける。</a:t>
            </a:r>
            <a:r>
              <a:rPr dirty="0" err="1">
                <a:latin typeface="+mj-ea"/>
                <a:ea typeface="+mj-ea"/>
              </a:rPr>
              <a:t>大手IPホルダーとの継続取引と海外製造ネットワーク、手厚い財務基盤を強みとする成長企業</a:t>
            </a:r>
            <a:r>
              <a:rPr dirty="0">
                <a:latin typeface="+mj-ea"/>
                <a:ea typeface="+mj-ea"/>
              </a:rPr>
              <a:t>。</a:t>
            </a:r>
            <a:r>
              <a:rPr lang="ja-JP" altLang="en-US" dirty="0"/>
              <a:t>自社オリジナルのキャラクターくじ「スターくじ」「あたりツキ！」シリーズも展開。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677003"/>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pic>
        <p:nvPicPr>
          <p:cNvPr id="16" name="Picture 15" descr="logo.jpg"/>
          <p:cNvPicPr>
            <a:picLocks noChangeAspect="1"/>
          </p:cNvPicPr>
          <p:nvPr/>
        </p:nvPicPr>
        <p:blipFill>
          <a:blip r:embed="rId3"/>
          <a:stretch>
            <a:fillRect/>
          </a:stretch>
        </p:blipFill>
        <p:spPr>
          <a:xfrm>
            <a:off x="7238425" y="1554514"/>
            <a:ext cx="2367361" cy="773723"/>
          </a:xfrm>
          <a:prstGeom prst="rect">
            <a:avLst/>
          </a:prstGeom>
        </p:spPr>
      </p:pic>
      <p:grpSp>
        <p:nvGrpSpPr>
          <p:cNvPr id="9" name="グループ化 8">
            <a:extLst>
              <a:ext uri="{FF2B5EF4-FFF2-40B4-BE49-F238E27FC236}">
                <a16:creationId xmlns:a16="http://schemas.microsoft.com/office/drawing/2014/main" id="{3A90AC2E-A5FF-27E0-31A7-4F0408AC821A}"/>
              </a:ext>
            </a:extLst>
          </p:cNvPr>
          <p:cNvGrpSpPr/>
          <p:nvPr/>
        </p:nvGrpSpPr>
        <p:grpSpPr>
          <a:xfrm>
            <a:off x="6827256" y="2394640"/>
            <a:ext cx="3327396" cy="3386787"/>
            <a:chOff x="6827256" y="2434640"/>
            <a:chExt cx="3327396" cy="3386787"/>
          </a:xfrm>
        </p:grpSpPr>
        <p:pic>
          <p:nvPicPr>
            <p:cNvPr id="8" name="図 7">
              <a:extLst>
                <a:ext uri="{FF2B5EF4-FFF2-40B4-BE49-F238E27FC236}">
                  <a16:creationId xmlns:a16="http://schemas.microsoft.com/office/drawing/2014/main" id="{80D4516B-BDDA-7158-EB7E-3FD3262147C6}"/>
                </a:ext>
              </a:extLst>
            </p:cNvPr>
            <p:cNvPicPr>
              <a:picLocks noChangeAspect="1"/>
            </p:cNvPicPr>
            <p:nvPr/>
          </p:nvPicPr>
          <p:blipFill>
            <a:blip r:embed="rId4"/>
            <a:srcRect l="1878" r="1747" b="26990"/>
            <a:stretch>
              <a:fillRect/>
            </a:stretch>
          </p:blipFill>
          <p:spPr>
            <a:xfrm>
              <a:off x="6889751" y="4120905"/>
              <a:ext cx="3206750" cy="1700522"/>
            </a:xfrm>
            <a:prstGeom prst="rect">
              <a:avLst/>
            </a:prstGeom>
          </p:spPr>
        </p:pic>
        <p:pic>
          <p:nvPicPr>
            <p:cNvPr id="7" name="図 6">
              <a:extLst>
                <a:ext uri="{FF2B5EF4-FFF2-40B4-BE49-F238E27FC236}">
                  <a16:creationId xmlns:a16="http://schemas.microsoft.com/office/drawing/2014/main" id="{09C32633-C656-A90C-AA39-E6BD19B6A2A2}"/>
                </a:ext>
              </a:extLst>
            </p:cNvPr>
            <p:cNvPicPr>
              <a:picLocks noChangeAspect="1"/>
            </p:cNvPicPr>
            <p:nvPr/>
          </p:nvPicPr>
          <p:blipFill>
            <a:blip r:embed="rId5"/>
            <a:srcRect b="26785"/>
            <a:stretch>
              <a:fillRect/>
            </a:stretch>
          </p:blipFill>
          <p:spPr>
            <a:xfrm>
              <a:off x="6827256" y="2434640"/>
              <a:ext cx="3327396" cy="1705315"/>
            </a:xfrm>
            <a:prstGeom prst="rect">
              <a:avLst/>
            </a:prstGeom>
          </p:spPr>
        </p:pic>
      </p:grpSp>
      <p:pic>
        <p:nvPicPr>
          <p:cNvPr id="10" name="図 9">
            <a:extLst>
              <a:ext uri="{FF2B5EF4-FFF2-40B4-BE49-F238E27FC236}">
                <a16:creationId xmlns:a16="http://schemas.microsoft.com/office/drawing/2014/main" id="{11AF6992-A651-37D4-9C0E-191EE7C7CFF4}"/>
              </a:ext>
            </a:extLst>
          </p:cNvPr>
          <p:cNvPicPr>
            <a:picLocks noChangeAspect="1"/>
          </p:cNvPicPr>
          <p:nvPr/>
        </p:nvPicPr>
        <p:blipFill>
          <a:blip r:embed="rId6"/>
          <a:stretch>
            <a:fillRect/>
          </a:stretch>
        </p:blipFill>
        <p:spPr>
          <a:xfrm>
            <a:off x="207896" y="6298331"/>
            <a:ext cx="2439051" cy="636274"/>
          </a:xfrm>
          <a:prstGeom prst="rect">
            <a:avLst/>
          </a:prstGeom>
        </p:spPr>
      </p:pic>
      <p:pic>
        <p:nvPicPr>
          <p:cNvPr id="11" name="図 10">
            <a:extLst>
              <a:ext uri="{FF2B5EF4-FFF2-40B4-BE49-F238E27FC236}">
                <a16:creationId xmlns:a16="http://schemas.microsoft.com/office/drawing/2014/main" id="{F8CEDE78-5381-DA50-3CB9-557034E2B98A}"/>
              </a:ext>
            </a:extLst>
          </p:cNvPr>
          <p:cNvPicPr>
            <a:picLocks noChangeAspect="1"/>
          </p:cNvPicPr>
          <p:nvPr/>
        </p:nvPicPr>
        <p:blipFill>
          <a:blip r:embed="rId7"/>
          <a:stretch>
            <a:fillRect/>
          </a:stretch>
        </p:blipFill>
        <p:spPr>
          <a:xfrm>
            <a:off x="2646947" y="6298331"/>
            <a:ext cx="2439051" cy="636274"/>
          </a:xfrm>
          <a:prstGeom prst="rect">
            <a:avLst/>
          </a:prstGeom>
        </p:spPr>
      </p:pic>
      <p:pic>
        <p:nvPicPr>
          <p:cNvPr id="22" name="図 21">
            <a:extLst>
              <a:ext uri="{FF2B5EF4-FFF2-40B4-BE49-F238E27FC236}">
                <a16:creationId xmlns:a16="http://schemas.microsoft.com/office/drawing/2014/main" id="{BB431C8C-6D6B-3084-AADF-E1DAB318B414}"/>
              </a:ext>
            </a:extLst>
          </p:cNvPr>
          <p:cNvPicPr>
            <a:picLocks noChangeAspect="1"/>
          </p:cNvPicPr>
          <p:nvPr/>
        </p:nvPicPr>
        <p:blipFill>
          <a:blip r:embed="rId8"/>
          <a:stretch>
            <a:fillRect/>
          </a:stretch>
        </p:blipFill>
        <p:spPr>
          <a:xfrm>
            <a:off x="5085998" y="6298331"/>
            <a:ext cx="2439051" cy="636274"/>
          </a:xfrm>
          <a:prstGeom prst="rect">
            <a:avLst/>
          </a:prstGeom>
        </p:spPr>
      </p:pic>
      <p:pic>
        <p:nvPicPr>
          <p:cNvPr id="25" name="図 24">
            <a:extLst>
              <a:ext uri="{FF2B5EF4-FFF2-40B4-BE49-F238E27FC236}">
                <a16:creationId xmlns:a16="http://schemas.microsoft.com/office/drawing/2014/main" id="{196A768A-D7CB-7ACF-C82F-977F548180F9}"/>
              </a:ext>
            </a:extLst>
          </p:cNvPr>
          <p:cNvPicPr>
            <a:picLocks noChangeAspect="1"/>
          </p:cNvPicPr>
          <p:nvPr/>
        </p:nvPicPr>
        <p:blipFill>
          <a:blip r:embed="rId9"/>
          <a:stretch>
            <a:fillRect/>
          </a:stretch>
        </p:blipFill>
        <p:spPr>
          <a:xfrm>
            <a:off x="7526978" y="6298332"/>
            <a:ext cx="2439046" cy="636273"/>
          </a:xfrm>
          <a:prstGeom prst="rect">
            <a:avLst/>
          </a:prstGeom>
        </p:spPr>
      </p:pic>
      <p:graphicFrame>
        <p:nvGraphicFramePr>
          <p:cNvPr id="27" name="表 26">
            <a:extLst>
              <a:ext uri="{FF2B5EF4-FFF2-40B4-BE49-F238E27FC236}">
                <a16:creationId xmlns:a16="http://schemas.microsoft.com/office/drawing/2014/main" id="{81907E72-E021-AA23-FF3F-7D389A7F0868}"/>
              </a:ext>
            </a:extLst>
          </p:cNvPr>
          <p:cNvGraphicFramePr>
            <a:graphicFrameLocks noGrp="1"/>
          </p:cNvGraphicFramePr>
          <p:nvPr>
            <p:extLst>
              <p:ext uri="{D42A27DB-BD31-4B8C-83A1-F6EECF244321}">
                <p14:modId xmlns:p14="http://schemas.microsoft.com/office/powerpoint/2010/main" val="1879914189"/>
              </p:ext>
            </p:extLst>
          </p:nvPr>
        </p:nvGraphicFramePr>
        <p:xfrm>
          <a:off x="311150" y="2119273"/>
          <a:ext cx="5857066" cy="3893904"/>
        </p:xfrm>
        <a:graphic>
          <a:graphicData uri="http://schemas.openxmlformats.org/drawingml/2006/table">
            <a:tbl>
              <a:tblPr/>
              <a:tblGrid>
                <a:gridCol w="1322978">
                  <a:extLst>
                    <a:ext uri="{9D8B030D-6E8A-4147-A177-3AD203B41FA5}">
                      <a16:colId xmlns:a16="http://schemas.microsoft.com/office/drawing/2014/main" val="2759282764"/>
                    </a:ext>
                  </a:extLst>
                </a:gridCol>
                <a:gridCol w="4534088">
                  <a:extLst>
                    <a:ext uri="{9D8B030D-6E8A-4147-A177-3AD203B41FA5}">
                      <a16:colId xmlns:a16="http://schemas.microsoft.com/office/drawing/2014/main" val="2061692230"/>
                    </a:ext>
                  </a:extLst>
                </a:gridCol>
              </a:tblGrid>
              <a:tr h="22531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項目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995580054"/>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会社名</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株式会社カナリア</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530895899"/>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本社所在地</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サスガビル4階</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46640517"/>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設立</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2014年2月12日（第12期）</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350002010"/>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10,000千円（発行済株式総数1,000株）</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63449922"/>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代表者</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野口 紘（48歳）</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04857735"/>
                  </a:ext>
                </a:extLst>
              </a:tr>
              <a:tr h="231092">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野口 紘（1,000株/100.0%）</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21747014"/>
                  </a:ext>
                </a:extLst>
              </a:tr>
              <a:tr h="693276">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事業内容</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・キャラクターグッズ企画・製造販売事業</a:t>
                      </a:r>
                      <a:br>
                        <a:rPr lang="ja-JP" sz="1200" b="0" i="0" u="none" strike="noStrike">
                          <a:solidFill>
                            <a:srgbClr val="000000"/>
                          </a:solidFill>
                          <a:effectLst/>
                          <a:latin typeface="游ゴシック" panose="020B0400000000000000" pitchFamily="50" charset="-128"/>
                          <a:ea typeface="游ゴシック" panose="020B0400000000000000" pitchFamily="50" charset="-128"/>
                        </a:rPr>
                      </a:br>
                      <a:r>
                        <a:rPr lang="ja-JP" sz="1200" b="0" i="0" u="none" strike="noStrike">
                          <a:solidFill>
                            <a:srgbClr val="000000"/>
                          </a:solidFill>
                          <a:effectLst/>
                          <a:latin typeface="游ゴシック" panose="020B0400000000000000" pitchFamily="50" charset="-128"/>
                          <a:ea typeface="游ゴシック" panose="020B0400000000000000" pitchFamily="50" charset="-128"/>
                        </a:rPr>
                        <a:t>（ライセンス／版権商品）</a:t>
                      </a:r>
                      <a:br>
                        <a:rPr lang="ja-JP" sz="1200" b="0" i="0" u="none" strike="noStrike">
                          <a:solidFill>
                            <a:srgbClr val="000000"/>
                          </a:solidFill>
                          <a:effectLst/>
                          <a:latin typeface="游ゴシック" panose="020B0400000000000000" pitchFamily="50" charset="-128"/>
                          <a:ea typeface="游ゴシック" panose="020B0400000000000000" pitchFamily="50" charset="-128"/>
                        </a:rPr>
                      </a:br>
                      <a:r>
                        <a:rPr lang="ja-JP" sz="1200" b="0" i="0" u="none" strike="noStrike">
                          <a:solidFill>
                            <a:srgbClr val="000000"/>
                          </a:solidFill>
                          <a:effectLst/>
                          <a:latin typeface="游ゴシック" panose="020B0400000000000000" pitchFamily="50" charset="-128"/>
                          <a:ea typeface="游ゴシック" panose="020B0400000000000000" pitchFamily="50" charset="-128"/>
                        </a:rPr>
                        <a:t>・OEM受託事業</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13262077"/>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従業員数</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10名（うち役員3名、正社員7名）※2026年6月時点</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2072230"/>
                  </a:ext>
                </a:extLst>
              </a:tr>
              <a:tr h="46218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422,475千円（2026年1月期実績）</a:t>
                      </a:r>
                      <a:br>
                        <a:rPr lang="ja-JP" sz="12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443,868千円（2025年1月期実績）</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44388603"/>
                  </a:ext>
                </a:extLst>
              </a:tr>
              <a:tr h="46218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45,877</a:t>
                      </a: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千円  （2026年1月期実績）</a:t>
                      </a:r>
                      <a:br>
                        <a:rPr lang="ja-JP" sz="12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6</a:t>
                      </a: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7,241</a:t>
                      </a: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千円  （2025年1月期実績）</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2693185"/>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譲渡理由</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後継者不在、更なる事業の発展</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68832242"/>
                  </a:ext>
                </a:extLst>
              </a:tr>
            </a:tbl>
          </a:graphicData>
        </a:graphic>
      </p:graphicFrame>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C59B-16F0-D866-18A2-FEB20CCC2AB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EE99F6-7A8B-45D5-1ACD-E99D49C7A24B}"/>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事業概要</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49F24E23-1F72-11A2-F001-F9752C17A5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58179C8D-5635-5B7D-7778-B92EEFBFF5E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アニメ・ゲーム等のIPを活用したキャラクターグッズの企画・製造・販売、及びOEM受託事業。企画・デザインは自社、製造は国内外メーカーへ委託するファブレス型のB2Bモデルです。</a:t>
            </a:r>
          </a:p>
        </p:txBody>
      </p:sp>
      <p:sp>
        <p:nvSpPr>
          <p:cNvPr id="46" name="TextBox 24">
            <a:extLst>
              <a:ext uri="{FF2B5EF4-FFF2-40B4-BE49-F238E27FC236}">
                <a16:creationId xmlns:a16="http://schemas.microsoft.com/office/drawing/2014/main" id="{DC31EB20-B4C9-1A22-2C02-7F325081618B}"/>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事業内容の詳細は「事業概要」セクション（p.15以降）をご参照ください。</a:t>
            </a:r>
            <a:endParaRPr lang="en-US" sz="1050" dirty="0">
              <a:solidFill>
                <a:schemeClr val="tx1"/>
              </a:solidFill>
              <a:latin typeface="游ゴシック" panose="020B0400000000000000" pitchFamily="50" charset="-128"/>
              <a:ea typeface="游ゴシック" panose="020B0400000000000000" pitchFamily="50" charset="-128"/>
            </a:endParaRPr>
          </a:p>
        </p:txBody>
      </p:sp>
      <p:sp>
        <p:nvSpPr>
          <p:cNvPr id="47" name="Rectangle 46"/>
          <p:cNvSpPr/>
          <p:nvPr/>
        </p:nvSpPr>
        <p:spPr>
          <a:xfrm>
            <a:off x="384048" y="1572768"/>
            <a:ext cx="6720840" cy="129844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84048" y="1572768"/>
            <a:ext cx="128016" cy="129844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13232" y="1773936"/>
            <a:ext cx="6217920" cy="274320"/>
          </a:xfrm>
          <a:prstGeom prst="rect">
            <a:avLst/>
          </a:prstGeom>
          <a:noFill/>
        </p:spPr>
        <p:txBody>
          <a:bodyPr wrap="square" lIns="0" rIns="0" tIns="0" bIns="0">
            <a:spAutoFit/>
          </a:bodyPr>
          <a:lstStyle/>
          <a:p>
            <a:pPr algn="l">
              <a:spcAft>
                <a:spcPts val="100"/>
              </a:spcAft>
            </a:pPr>
            <a:r>
              <a:rPr sz="1250" b="1">
                <a:solidFill>
                  <a:srgbClr val="0889C9"/>
                </a:solidFill>
                <a:latin typeface="游ゴシック"/>
              </a:rPr>
              <a:t>ライセンス案件（版権商品）</a:t>
            </a:r>
          </a:p>
        </p:txBody>
      </p:sp>
      <p:sp>
        <p:nvSpPr>
          <p:cNvPr id="50" name="TextBox 49"/>
          <p:cNvSpPr txBox="1"/>
          <p:nvPr/>
        </p:nvSpPr>
        <p:spPr>
          <a:xfrm>
            <a:off x="713232" y="2139696"/>
            <a:ext cx="6217920" cy="548640"/>
          </a:xfrm>
          <a:prstGeom prst="rect">
            <a:avLst/>
          </a:prstGeom>
          <a:noFill/>
        </p:spPr>
        <p:txBody>
          <a:bodyPr wrap="square" lIns="0" rIns="0" tIns="0" bIns="0">
            <a:spAutoFit/>
          </a:bodyPr>
          <a:lstStyle/>
          <a:p>
            <a:pPr algn="l">
              <a:spcAft>
                <a:spcPts val="100"/>
              </a:spcAft>
            </a:pPr>
            <a:r>
              <a:rPr sz="1050" b="0">
                <a:solidFill>
                  <a:srgbClr val="0B3041"/>
                </a:solidFill>
                <a:latin typeface="游ゴシック"/>
              </a:rPr>
              <a:t>版権元（IPホルダー）から商品化許諾を取得し、企画・デザインから製造委託・販売までを自社主導で実施。</a:t>
            </a:r>
          </a:p>
        </p:txBody>
      </p:sp>
      <p:sp>
        <p:nvSpPr>
          <p:cNvPr id="51" name="Rectangle 50"/>
          <p:cNvSpPr/>
          <p:nvPr/>
        </p:nvSpPr>
        <p:spPr>
          <a:xfrm>
            <a:off x="384048" y="3017520"/>
            <a:ext cx="6720840" cy="129844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84048" y="3017520"/>
            <a:ext cx="128016" cy="129844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13232" y="3218688"/>
            <a:ext cx="6217920" cy="274320"/>
          </a:xfrm>
          <a:prstGeom prst="rect">
            <a:avLst/>
          </a:prstGeom>
          <a:noFill/>
        </p:spPr>
        <p:txBody>
          <a:bodyPr wrap="square" lIns="0" rIns="0" tIns="0" bIns="0">
            <a:spAutoFit/>
          </a:bodyPr>
          <a:lstStyle/>
          <a:p>
            <a:pPr algn="l">
              <a:spcAft>
                <a:spcPts val="100"/>
              </a:spcAft>
            </a:pPr>
            <a:r>
              <a:rPr sz="1250" b="1">
                <a:solidFill>
                  <a:srgbClr val="0889C9"/>
                </a:solidFill>
                <a:latin typeface="游ゴシック"/>
              </a:rPr>
              <a:t>OEM受託案件</a:t>
            </a:r>
          </a:p>
        </p:txBody>
      </p:sp>
      <p:sp>
        <p:nvSpPr>
          <p:cNvPr id="54" name="TextBox 53"/>
          <p:cNvSpPr txBox="1"/>
          <p:nvPr/>
        </p:nvSpPr>
        <p:spPr>
          <a:xfrm>
            <a:off x="713232" y="3584448"/>
            <a:ext cx="6217920" cy="548640"/>
          </a:xfrm>
          <a:prstGeom prst="rect">
            <a:avLst/>
          </a:prstGeom>
          <a:noFill/>
        </p:spPr>
        <p:txBody>
          <a:bodyPr wrap="square" lIns="0" rIns="0" tIns="0" bIns="0">
            <a:spAutoFit/>
          </a:bodyPr>
          <a:lstStyle/>
          <a:p>
            <a:pPr algn="l">
              <a:spcAft>
                <a:spcPts val="100"/>
              </a:spcAft>
            </a:pPr>
            <a:r>
              <a:rPr sz="1050" b="0">
                <a:solidFill>
                  <a:srgbClr val="0B3041"/>
                </a:solidFill>
                <a:latin typeface="游ゴシック"/>
              </a:rPr>
              <a:t>版元・取次等からの依頼を受けて企画・製造を受託。受注型のため需要変動を受けにくく、収益の安定性を担保。</a:t>
            </a:r>
          </a:p>
        </p:txBody>
      </p:sp>
      <p:sp>
        <p:nvSpPr>
          <p:cNvPr id="55" name="Rectangle 54"/>
          <p:cNvSpPr/>
          <p:nvPr/>
        </p:nvSpPr>
        <p:spPr>
          <a:xfrm>
            <a:off x="384048" y="4462272"/>
            <a:ext cx="6720840" cy="129844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384048" y="4462272"/>
            <a:ext cx="128016" cy="129844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13232" y="4663440"/>
            <a:ext cx="6217920" cy="274320"/>
          </a:xfrm>
          <a:prstGeom prst="rect">
            <a:avLst/>
          </a:prstGeom>
          <a:noFill/>
        </p:spPr>
        <p:txBody>
          <a:bodyPr wrap="square" lIns="0" rIns="0" tIns="0" bIns="0">
            <a:spAutoFit/>
          </a:bodyPr>
          <a:lstStyle/>
          <a:p>
            <a:pPr algn="l">
              <a:spcAft>
                <a:spcPts val="100"/>
              </a:spcAft>
            </a:pPr>
            <a:r>
              <a:rPr sz="1250" b="1">
                <a:solidFill>
                  <a:srgbClr val="0889C9"/>
                </a:solidFill>
                <a:latin typeface="游ゴシック"/>
              </a:rPr>
              <a:t>自社オリジナル商材（くじ）</a:t>
            </a:r>
          </a:p>
        </p:txBody>
      </p:sp>
      <p:sp>
        <p:nvSpPr>
          <p:cNvPr id="58" name="TextBox 57"/>
          <p:cNvSpPr txBox="1"/>
          <p:nvPr/>
        </p:nvSpPr>
        <p:spPr>
          <a:xfrm>
            <a:off x="713232" y="5029200"/>
            <a:ext cx="6217920" cy="548640"/>
          </a:xfrm>
          <a:prstGeom prst="rect">
            <a:avLst/>
          </a:prstGeom>
          <a:noFill/>
        </p:spPr>
        <p:txBody>
          <a:bodyPr wrap="square" lIns="0" rIns="0" tIns="0" bIns="0">
            <a:spAutoFit/>
          </a:bodyPr>
          <a:lstStyle/>
          <a:p>
            <a:pPr algn="l">
              <a:spcAft>
                <a:spcPts val="100"/>
              </a:spcAft>
            </a:pPr>
            <a:r>
              <a:rPr sz="1050" b="0">
                <a:solidFill>
                  <a:srgbClr val="0B3041"/>
                </a:solidFill>
                <a:latin typeface="游ゴシック"/>
              </a:rPr>
              <a:t>「スターくじ」「あたりツキ！」等、自社で版権を取得し企画主導で展開。問屋経由の買取販売が中心。</a:t>
            </a:r>
          </a:p>
        </p:txBody>
      </p:sp>
      <p:sp>
        <p:nvSpPr>
          <p:cNvPr id="59" name="Rectangle 58"/>
          <p:cNvSpPr/>
          <p:nvPr/>
        </p:nvSpPr>
        <p:spPr>
          <a:xfrm>
            <a:off x="7360920" y="1572768"/>
            <a:ext cx="2944368" cy="4169663"/>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360920" y="1755648"/>
            <a:ext cx="2944368" cy="274320"/>
          </a:xfrm>
          <a:prstGeom prst="rect">
            <a:avLst/>
          </a:prstGeom>
          <a:noFill/>
        </p:spPr>
        <p:txBody>
          <a:bodyPr wrap="square" lIns="0" rIns="0" tIns="0" bIns="0">
            <a:spAutoFit/>
          </a:bodyPr>
          <a:lstStyle/>
          <a:p>
            <a:pPr algn="ctr">
              <a:spcAft>
                <a:spcPts val="100"/>
              </a:spcAft>
            </a:pPr>
            <a:r>
              <a:rPr sz="1200" b="1">
                <a:solidFill>
                  <a:srgbClr val="0B3041"/>
                </a:solidFill>
                <a:latin typeface="游ゴシック"/>
              </a:rPr>
              <a:t>2026年1月期の概況</a:t>
            </a:r>
          </a:p>
        </p:txBody>
      </p:sp>
      <p:sp>
        <p:nvSpPr>
          <p:cNvPr id="61" name="TextBox 60"/>
          <p:cNvSpPr txBox="1"/>
          <p:nvPr/>
        </p:nvSpPr>
        <p:spPr>
          <a:xfrm>
            <a:off x="7589520" y="2212848"/>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売上高</a:t>
            </a:r>
          </a:p>
        </p:txBody>
      </p:sp>
      <p:sp>
        <p:nvSpPr>
          <p:cNvPr id="62" name="TextBox 61"/>
          <p:cNvSpPr txBox="1"/>
          <p:nvPr/>
        </p:nvSpPr>
        <p:spPr>
          <a:xfrm>
            <a:off x="7589520" y="2414016"/>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422,475千円</a:t>
            </a:r>
          </a:p>
        </p:txBody>
      </p:sp>
      <p:sp>
        <p:nvSpPr>
          <p:cNvPr id="63" name="TextBox 62"/>
          <p:cNvSpPr txBox="1"/>
          <p:nvPr/>
        </p:nvSpPr>
        <p:spPr>
          <a:xfrm>
            <a:off x="7589520" y="2779776"/>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営業利益</a:t>
            </a:r>
          </a:p>
        </p:txBody>
      </p:sp>
      <p:sp>
        <p:nvSpPr>
          <p:cNvPr id="64" name="TextBox 63"/>
          <p:cNvSpPr txBox="1"/>
          <p:nvPr/>
        </p:nvSpPr>
        <p:spPr>
          <a:xfrm>
            <a:off x="7589520" y="2980944"/>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58,514千円</a:t>
            </a:r>
          </a:p>
        </p:txBody>
      </p:sp>
      <p:sp>
        <p:nvSpPr>
          <p:cNvPr id="65" name="TextBox 64"/>
          <p:cNvSpPr txBox="1"/>
          <p:nvPr/>
        </p:nvSpPr>
        <p:spPr>
          <a:xfrm>
            <a:off x="7589520" y="3346704"/>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営業利益率</a:t>
            </a:r>
          </a:p>
        </p:txBody>
      </p:sp>
      <p:sp>
        <p:nvSpPr>
          <p:cNvPr id="66" name="TextBox 65"/>
          <p:cNvSpPr txBox="1"/>
          <p:nvPr/>
        </p:nvSpPr>
        <p:spPr>
          <a:xfrm>
            <a:off x="7589520" y="3547872"/>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13.9%</a:t>
            </a:r>
          </a:p>
        </p:txBody>
      </p:sp>
      <p:sp>
        <p:nvSpPr>
          <p:cNvPr id="67" name="TextBox 66"/>
          <p:cNvSpPr txBox="1"/>
          <p:nvPr/>
        </p:nvSpPr>
        <p:spPr>
          <a:xfrm>
            <a:off x="7589520" y="3913632"/>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従業員数</a:t>
            </a:r>
          </a:p>
        </p:txBody>
      </p:sp>
      <p:sp>
        <p:nvSpPr>
          <p:cNvPr id="68" name="TextBox 67"/>
          <p:cNvSpPr txBox="1"/>
          <p:nvPr/>
        </p:nvSpPr>
        <p:spPr>
          <a:xfrm>
            <a:off x="7589520" y="4114800"/>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7名（＋役員3名）</a:t>
            </a:r>
          </a:p>
        </p:txBody>
      </p:sp>
      <p:sp>
        <p:nvSpPr>
          <p:cNvPr id="69" name="TextBox 68"/>
          <p:cNvSpPr txBox="1"/>
          <p:nvPr/>
        </p:nvSpPr>
        <p:spPr>
          <a:xfrm>
            <a:off x="7589520" y="4480560"/>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拠点</a:t>
            </a:r>
          </a:p>
        </p:txBody>
      </p:sp>
      <p:sp>
        <p:nvSpPr>
          <p:cNvPr id="70" name="TextBox 69"/>
          <p:cNvSpPr txBox="1"/>
          <p:nvPr/>
        </p:nvSpPr>
        <p:spPr>
          <a:xfrm>
            <a:off x="7589520" y="4681728"/>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本社1拠点（東京・上野）</a:t>
            </a:r>
          </a:p>
        </p:txBody>
      </p:sp>
      <p:sp>
        <p:nvSpPr>
          <p:cNvPr id="71" name="TextBox 70"/>
          <p:cNvSpPr txBox="1"/>
          <p:nvPr/>
        </p:nvSpPr>
        <p:spPr>
          <a:xfrm>
            <a:off x="7589520" y="5047488"/>
            <a:ext cx="2487168" cy="201168"/>
          </a:xfrm>
          <a:prstGeom prst="rect">
            <a:avLst/>
          </a:prstGeom>
          <a:noFill/>
        </p:spPr>
        <p:txBody>
          <a:bodyPr wrap="square" lIns="0" rIns="0" tIns="0" bIns="0">
            <a:spAutoFit/>
          </a:bodyPr>
          <a:lstStyle/>
          <a:p>
            <a:pPr algn="l">
              <a:spcAft>
                <a:spcPts val="100"/>
              </a:spcAft>
            </a:pPr>
            <a:r>
              <a:rPr sz="900" b="0">
                <a:solidFill>
                  <a:srgbClr val="595959"/>
                </a:solidFill>
                <a:latin typeface="游ゴシック"/>
              </a:rPr>
              <a:t>主要取引先</a:t>
            </a:r>
          </a:p>
        </p:txBody>
      </p:sp>
      <p:sp>
        <p:nvSpPr>
          <p:cNvPr id="72" name="TextBox 71"/>
          <p:cNvSpPr txBox="1"/>
          <p:nvPr/>
        </p:nvSpPr>
        <p:spPr>
          <a:xfrm>
            <a:off x="7589520" y="5248656"/>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㈱セガ、㈱KADOKAWA</a:t>
            </a:r>
          </a:p>
        </p:txBody>
      </p:sp>
      <p:sp>
        <p:nvSpPr>
          <p:cNvPr id="73" name="TextBox 72"/>
          <p:cNvSpPr txBox="1"/>
          <p:nvPr/>
        </p:nvSpPr>
        <p:spPr>
          <a:xfrm>
            <a:off x="7589520" y="5449824"/>
            <a:ext cx="2487168" cy="237744"/>
          </a:xfrm>
          <a:prstGeom prst="rect">
            <a:avLst/>
          </a:prstGeom>
          <a:noFill/>
        </p:spPr>
        <p:txBody>
          <a:bodyPr wrap="square" lIns="0" rIns="0" tIns="0" bIns="0">
            <a:spAutoFit/>
          </a:bodyPr>
          <a:lstStyle/>
          <a:p>
            <a:pPr algn="l">
              <a:spcAft>
                <a:spcPts val="100"/>
              </a:spcAft>
            </a:pPr>
            <a:r>
              <a:rPr sz="1150" b="1">
                <a:solidFill>
                  <a:srgbClr val="0B3041"/>
                </a:solidFill>
                <a:latin typeface="游ゴシック"/>
              </a:rPr>
              <a:t>Game Linkage 等</a:t>
            </a:r>
          </a:p>
        </p:txBody>
      </p:sp>
    </p:spTree>
    <p:extLst>
      <p:ext uri="{BB962C8B-B14F-4D97-AF65-F5344CB8AC3E}">
        <p14:creationId xmlns:p14="http://schemas.microsoft.com/office/powerpoint/2010/main" val="89028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C59B-16F0-D866-18A2-FEB20CCC2AB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EE99F6-7A8B-45D5-1ACD-E99D49C7A24B}"/>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主な取扱IP</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49F24E23-1F72-11A2-F001-F9752C17A5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58179C8D-5635-5B7D-7778-B92EEFBFF5E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集英社・講談社・小学館等の大手出版社が権利を有する人気IPを中心に、ライトノベル・ゲーム原作まで幅広く商品化実績を有しています。</a:t>
            </a:r>
          </a:p>
        </p:txBody>
      </p:sp>
      <p:pic>
        <p:nvPicPr>
          <p:cNvPr id="25" name="Picture 5" descr="banner_ghoul.jpg">
            <a:extLst>
              <a:ext uri="{FF2B5EF4-FFF2-40B4-BE49-F238E27FC236}">
                <a16:creationId xmlns:a16="http://schemas.microsoft.com/office/drawing/2014/main" id="{6DA8037A-5851-04FD-59C2-BC2E41AF6741}"/>
              </a:ext>
            </a:extLst>
          </p:cNvPr>
          <p:cNvPicPr>
            <a:picLocks noChangeAspect="1"/>
          </p:cNvPicPr>
          <p:nvPr/>
        </p:nvPicPr>
        <p:blipFill>
          <a:blip r:embed="rId2"/>
          <a:stretch>
            <a:fillRect/>
          </a:stretch>
        </p:blipFill>
        <p:spPr>
          <a:xfrm>
            <a:off x="384048" y="2011680"/>
            <a:ext cx="1920240" cy="498348"/>
          </a:xfrm>
          <a:prstGeom prst="rect">
            <a:avLst/>
          </a:prstGeom>
        </p:spPr>
      </p:pic>
      <p:pic>
        <p:nvPicPr>
          <p:cNvPr id="28" name="Picture 6" descr="banner_haikyu.jpg">
            <a:extLst>
              <a:ext uri="{FF2B5EF4-FFF2-40B4-BE49-F238E27FC236}">
                <a16:creationId xmlns:a16="http://schemas.microsoft.com/office/drawing/2014/main" id="{9355D458-8176-FE0D-8191-7EC2E332924B}"/>
              </a:ext>
            </a:extLst>
          </p:cNvPr>
          <p:cNvPicPr>
            <a:picLocks noChangeAspect="1"/>
          </p:cNvPicPr>
          <p:nvPr/>
        </p:nvPicPr>
        <p:blipFill>
          <a:blip r:embed="rId3"/>
          <a:stretch>
            <a:fillRect/>
          </a:stretch>
        </p:blipFill>
        <p:spPr>
          <a:xfrm>
            <a:off x="4480560" y="2011680"/>
            <a:ext cx="1920240" cy="498348"/>
          </a:xfrm>
          <a:prstGeom prst="rect">
            <a:avLst/>
          </a:prstGeom>
        </p:spPr>
      </p:pic>
      <p:pic>
        <p:nvPicPr>
          <p:cNvPr id="30" name="Picture 8" descr="banner_ansatsu.jpg">
            <a:extLst>
              <a:ext uri="{FF2B5EF4-FFF2-40B4-BE49-F238E27FC236}">
                <a16:creationId xmlns:a16="http://schemas.microsoft.com/office/drawing/2014/main" id="{C4370EF2-3AED-FD2D-173E-679011346B4C}"/>
              </a:ext>
            </a:extLst>
          </p:cNvPr>
          <p:cNvPicPr>
            <a:picLocks noChangeAspect="1"/>
          </p:cNvPicPr>
          <p:nvPr/>
        </p:nvPicPr>
        <p:blipFill>
          <a:blip r:embed="rId4"/>
          <a:stretch>
            <a:fillRect/>
          </a:stretch>
        </p:blipFill>
        <p:spPr>
          <a:xfrm>
            <a:off x="8577072" y="2011680"/>
            <a:ext cx="1920240" cy="498348"/>
          </a:xfrm>
          <a:prstGeom prst="rect">
            <a:avLst/>
          </a:prstGeom>
        </p:spPr>
      </p:pic>
      <p:pic>
        <p:nvPicPr>
          <p:cNvPr id="32" name="Picture 9" descr="banner_kimiuso.jpg">
            <a:extLst>
              <a:ext uri="{FF2B5EF4-FFF2-40B4-BE49-F238E27FC236}">
                <a16:creationId xmlns:a16="http://schemas.microsoft.com/office/drawing/2014/main" id="{85D901F1-19DC-95FA-B66B-7AD2C0F1C2AF}"/>
              </a:ext>
            </a:extLst>
          </p:cNvPr>
          <p:cNvPicPr>
            <a:picLocks noChangeAspect="1"/>
          </p:cNvPicPr>
          <p:nvPr/>
        </p:nvPicPr>
        <p:blipFill>
          <a:blip r:embed="rId5"/>
          <a:stretch>
            <a:fillRect/>
          </a:stretch>
        </p:blipFill>
        <p:spPr>
          <a:xfrm>
            <a:off x="6528816" y="2011680"/>
            <a:ext cx="1920240" cy="498348"/>
          </a:xfrm>
          <a:prstGeom prst="rect">
            <a:avLst/>
          </a:prstGeom>
        </p:spPr>
      </p:pic>
      <p:pic>
        <p:nvPicPr>
          <p:cNvPr id="34" name="Picture 12" descr="banner_aceofdiamond.jpg">
            <a:extLst>
              <a:ext uri="{FF2B5EF4-FFF2-40B4-BE49-F238E27FC236}">
                <a16:creationId xmlns:a16="http://schemas.microsoft.com/office/drawing/2014/main" id="{5E43CBA1-D990-16E6-41A7-34D75640B334}"/>
              </a:ext>
            </a:extLst>
          </p:cNvPr>
          <p:cNvPicPr>
            <a:picLocks noChangeAspect="1"/>
          </p:cNvPicPr>
          <p:nvPr/>
        </p:nvPicPr>
        <p:blipFill>
          <a:blip r:embed="rId6"/>
          <a:stretch>
            <a:fillRect/>
          </a:stretch>
        </p:blipFill>
        <p:spPr>
          <a:xfrm>
            <a:off x="2432304" y="2011680"/>
            <a:ext cx="1920240" cy="498348"/>
          </a:xfrm>
          <a:prstGeom prst="rect">
            <a:avLst/>
          </a:prstGeom>
        </p:spPr>
      </p:pic>
      <p:pic>
        <p:nvPicPr>
          <p:cNvPr id="36" name="Picture 13" descr="banner_kamihaji.jpg">
            <a:extLst>
              <a:ext uri="{FF2B5EF4-FFF2-40B4-BE49-F238E27FC236}">
                <a16:creationId xmlns:a16="http://schemas.microsoft.com/office/drawing/2014/main" id="{D9282F4B-D5C4-4659-C71B-260864BF3AE5}"/>
              </a:ext>
            </a:extLst>
          </p:cNvPr>
          <p:cNvPicPr>
            <a:picLocks noChangeAspect="1"/>
          </p:cNvPicPr>
          <p:nvPr/>
        </p:nvPicPr>
        <p:blipFill>
          <a:blip r:embed="rId7"/>
          <a:stretch>
            <a:fillRect/>
          </a:stretch>
        </p:blipFill>
        <p:spPr>
          <a:xfrm>
            <a:off x="8577072" y="4206240"/>
            <a:ext cx="1920240" cy="498348"/>
          </a:xfrm>
          <a:prstGeom prst="rect">
            <a:avLst/>
          </a:prstGeom>
        </p:spPr>
      </p:pic>
      <p:pic>
        <p:nvPicPr>
          <p:cNvPr id="38" name="Picture 17" descr="banner_ookami.jpg">
            <a:extLst>
              <a:ext uri="{FF2B5EF4-FFF2-40B4-BE49-F238E27FC236}">
                <a16:creationId xmlns:a16="http://schemas.microsoft.com/office/drawing/2014/main" id="{CC64807F-557E-5CBC-5E3A-E2A3CCCC82A1}"/>
              </a:ext>
            </a:extLst>
          </p:cNvPr>
          <p:cNvPicPr>
            <a:picLocks noChangeAspect="1"/>
          </p:cNvPicPr>
          <p:nvPr/>
        </p:nvPicPr>
        <p:blipFill>
          <a:blip r:embed="rId8"/>
          <a:stretch>
            <a:fillRect/>
          </a:stretch>
        </p:blipFill>
        <p:spPr>
          <a:xfrm>
            <a:off x="6528816" y="4206240"/>
            <a:ext cx="1920240" cy="498348"/>
          </a:xfrm>
          <a:prstGeom prst="rect">
            <a:avLst/>
          </a:prstGeom>
        </p:spPr>
      </p:pic>
      <p:pic>
        <p:nvPicPr>
          <p:cNvPr id="40" name="Picture 18" descr="banner_wtg.jpg">
            <a:extLst>
              <a:ext uri="{FF2B5EF4-FFF2-40B4-BE49-F238E27FC236}">
                <a16:creationId xmlns:a16="http://schemas.microsoft.com/office/drawing/2014/main" id="{2243CBF2-FF5E-6EA9-7618-2A61B3FAFDDC}"/>
              </a:ext>
            </a:extLst>
          </p:cNvPr>
          <p:cNvPicPr>
            <a:picLocks noChangeAspect="1"/>
          </p:cNvPicPr>
          <p:nvPr/>
        </p:nvPicPr>
        <p:blipFill>
          <a:blip r:embed="rId9"/>
          <a:stretch>
            <a:fillRect/>
          </a:stretch>
        </p:blipFill>
        <p:spPr>
          <a:xfrm>
            <a:off x="2432304" y="4206240"/>
            <a:ext cx="1920240" cy="498348"/>
          </a:xfrm>
          <a:prstGeom prst="rect">
            <a:avLst/>
          </a:prstGeom>
        </p:spPr>
      </p:pic>
      <p:pic>
        <p:nvPicPr>
          <p:cNvPr id="42" name="Picture 22" descr="banner_majikai.jpg">
            <a:extLst>
              <a:ext uri="{FF2B5EF4-FFF2-40B4-BE49-F238E27FC236}">
                <a16:creationId xmlns:a16="http://schemas.microsoft.com/office/drawing/2014/main" id="{3BD48445-89BD-4F89-1D06-08B1F3A624E0}"/>
              </a:ext>
            </a:extLst>
          </p:cNvPr>
          <p:cNvPicPr>
            <a:picLocks noChangeAspect="1"/>
          </p:cNvPicPr>
          <p:nvPr/>
        </p:nvPicPr>
        <p:blipFill>
          <a:blip r:embed="rId10"/>
          <a:stretch>
            <a:fillRect/>
          </a:stretch>
        </p:blipFill>
        <p:spPr>
          <a:xfrm>
            <a:off x="384048" y="4206240"/>
            <a:ext cx="1920240" cy="498348"/>
          </a:xfrm>
          <a:prstGeom prst="rect">
            <a:avLst/>
          </a:prstGeom>
        </p:spPr>
      </p:pic>
      <p:pic>
        <p:nvPicPr>
          <p:cNvPr id="44" name="Picture 23" descr="banner_utena.jpg">
            <a:extLst>
              <a:ext uri="{FF2B5EF4-FFF2-40B4-BE49-F238E27FC236}">
                <a16:creationId xmlns:a16="http://schemas.microsoft.com/office/drawing/2014/main" id="{3A7A35A4-7C2C-7DD6-63DD-9A838592C1B7}"/>
              </a:ext>
            </a:extLst>
          </p:cNvPr>
          <p:cNvPicPr>
            <a:picLocks noChangeAspect="1"/>
          </p:cNvPicPr>
          <p:nvPr/>
        </p:nvPicPr>
        <p:blipFill>
          <a:blip r:embed="rId11"/>
          <a:stretch>
            <a:fillRect/>
          </a:stretch>
        </p:blipFill>
        <p:spPr>
          <a:xfrm>
            <a:off x="4480560" y="4206240"/>
            <a:ext cx="1920240" cy="498348"/>
          </a:xfrm>
          <a:prstGeom prst="rect">
            <a:avLst/>
          </a:prstGeom>
        </p:spPr>
      </p:pic>
      <p:sp>
        <p:nvSpPr>
          <p:cNvPr id="46" name="TextBox 24">
            <a:extLst>
              <a:ext uri="{FF2B5EF4-FFF2-40B4-BE49-F238E27FC236}">
                <a16:creationId xmlns:a16="http://schemas.microsoft.com/office/drawing/2014/main" id="{DC31EB20-B4C9-1A22-2C02-7F325081618B}"/>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当社ウェブサイト等で公開されている制作実績の一部を掲載。作品別の詳細は「事業概要」セクション（p.16以降）をご参照ください。</a:t>
            </a:r>
            <a:endParaRPr lang="en-US" sz="1050" dirty="0">
              <a:solidFill>
                <a:schemeClr val="tx1"/>
              </a:solidFill>
              <a:latin typeface="游ゴシック" panose="020B0400000000000000" pitchFamily="50" charset="-128"/>
              <a:ea typeface="游ゴシック" panose="020B0400000000000000" pitchFamily="50" charset="-128"/>
            </a:endParaRPr>
          </a:p>
          <a:p>
            <a:r>
              <a:rPr sz="1050" dirty="0">
                <a:solidFill>
                  <a:schemeClr val="tx1"/>
                </a:solidFill>
                <a:latin typeface="游ゴシック" panose="020B0400000000000000" pitchFamily="50" charset="-128"/>
                <a:ea typeface="游ゴシック" panose="020B0400000000000000" pitchFamily="50" charset="-128"/>
              </a:rPr>
              <a:t>※ 各作品の著作権・商標権は各権利者に帰属します。</a:t>
            </a:r>
            <a:endParaRPr lang="en-US" sz="1050" dirty="0">
              <a:solidFill>
                <a:schemeClr val="tx1"/>
              </a:solidFill>
              <a:latin typeface="游ゴシック" panose="020B0400000000000000" pitchFamily="50" charset="-128"/>
              <a:ea typeface="游ゴシック" panose="020B0400000000000000" pitchFamily="50" charset="-128"/>
            </a:endParaRPr>
          </a:p>
        </p:txBody>
      </p:sp>
      <p:sp>
        <p:nvSpPr>
          <p:cNvPr id="47" name="TextBox 46"/>
          <p:cNvSpPr txBox="1"/>
          <p:nvPr/>
        </p:nvSpPr>
        <p:spPr>
          <a:xfrm>
            <a:off x="384048" y="257860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東京喰種 トーキョーグール</a:t>
            </a:r>
          </a:p>
        </p:txBody>
      </p:sp>
      <p:sp>
        <p:nvSpPr>
          <p:cNvPr id="48" name="TextBox 47"/>
          <p:cNvSpPr txBox="1"/>
          <p:nvPr/>
        </p:nvSpPr>
        <p:spPr>
          <a:xfrm>
            <a:off x="384048" y="298094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青年マンガ原作（集英社）</a:t>
            </a:r>
          </a:p>
        </p:txBody>
      </p:sp>
      <p:sp>
        <p:nvSpPr>
          <p:cNvPr id="49" name="TextBox 48"/>
          <p:cNvSpPr txBox="1"/>
          <p:nvPr/>
        </p:nvSpPr>
        <p:spPr>
          <a:xfrm>
            <a:off x="384048" y="318211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©石田スイ／集英社・東京喰種製作委員会</a:t>
            </a:r>
          </a:p>
        </p:txBody>
      </p:sp>
      <p:sp>
        <p:nvSpPr>
          <p:cNvPr id="50" name="TextBox 49"/>
          <p:cNvSpPr txBox="1"/>
          <p:nvPr/>
        </p:nvSpPr>
        <p:spPr>
          <a:xfrm>
            <a:off x="2432304" y="257860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ダイヤのA</a:t>
            </a:r>
          </a:p>
        </p:txBody>
      </p:sp>
      <p:sp>
        <p:nvSpPr>
          <p:cNvPr id="51" name="TextBox 50"/>
          <p:cNvSpPr txBox="1"/>
          <p:nvPr/>
        </p:nvSpPr>
        <p:spPr>
          <a:xfrm>
            <a:off x="2432304" y="298094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少年マンガ原作（講談社）</a:t>
            </a:r>
          </a:p>
        </p:txBody>
      </p:sp>
      <p:sp>
        <p:nvSpPr>
          <p:cNvPr id="52" name="TextBox 51"/>
          <p:cNvSpPr txBox="1"/>
          <p:nvPr/>
        </p:nvSpPr>
        <p:spPr>
          <a:xfrm>
            <a:off x="2432304" y="318211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©寺嶋裕二・講談社／「ダイヤのA」製作委員会・テレビ東京</a:t>
            </a:r>
          </a:p>
        </p:txBody>
      </p:sp>
      <p:sp>
        <p:nvSpPr>
          <p:cNvPr id="53" name="TextBox 52"/>
          <p:cNvSpPr txBox="1"/>
          <p:nvPr/>
        </p:nvSpPr>
        <p:spPr>
          <a:xfrm>
            <a:off x="4480560" y="257860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ハイキュー!! TO THE TOP</a:t>
            </a:r>
          </a:p>
        </p:txBody>
      </p:sp>
      <p:sp>
        <p:nvSpPr>
          <p:cNvPr id="54" name="TextBox 53"/>
          <p:cNvSpPr txBox="1"/>
          <p:nvPr/>
        </p:nvSpPr>
        <p:spPr>
          <a:xfrm>
            <a:off x="4480560" y="298094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少年マンガ原作（集英社）</a:t>
            </a:r>
          </a:p>
        </p:txBody>
      </p:sp>
      <p:sp>
        <p:nvSpPr>
          <p:cNvPr id="55" name="TextBox 54"/>
          <p:cNvSpPr txBox="1"/>
          <p:nvPr/>
        </p:nvSpPr>
        <p:spPr>
          <a:xfrm>
            <a:off x="4480560" y="318211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©古舘春一／集英社・「ハイキュー!!」製作委員会・MBS</a:t>
            </a:r>
          </a:p>
        </p:txBody>
      </p:sp>
      <p:sp>
        <p:nvSpPr>
          <p:cNvPr id="56" name="TextBox 55"/>
          <p:cNvSpPr txBox="1"/>
          <p:nvPr/>
        </p:nvSpPr>
        <p:spPr>
          <a:xfrm>
            <a:off x="6528816" y="257860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四月は君の嘘</a:t>
            </a:r>
          </a:p>
        </p:txBody>
      </p:sp>
      <p:sp>
        <p:nvSpPr>
          <p:cNvPr id="57" name="TextBox 56"/>
          <p:cNvSpPr txBox="1"/>
          <p:nvPr/>
        </p:nvSpPr>
        <p:spPr>
          <a:xfrm>
            <a:off x="6528816" y="298094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少年マンガ原作（講談社）</a:t>
            </a:r>
          </a:p>
        </p:txBody>
      </p:sp>
      <p:sp>
        <p:nvSpPr>
          <p:cNvPr id="58" name="TextBox 57"/>
          <p:cNvSpPr txBox="1"/>
          <p:nvPr/>
        </p:nvSpPr>
        <p:spPr>
          <a:xfrm>
            <a:off x="6528816" y="318211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©A・K／S</a:t>
            </a:r>
          </a:p>
        </p:txBody>
      </p:sp>
      <p:sp>
        <p:nvSpPr>
          <p:cNvPr id="59" name="TextBox 58"/>
          <p:cNvSpPr txBox="1"/>
          <p:nvPr/>
        </p:nvSpPr>
        <p:spPr>
          <a:xfrm>
            <a:off x="8577072" y="257860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暗殺教室</a:t>
            </a:r>
          </a:p>
        </p:txBody>
      </p:sp>
      <p:sp>
        <p:nvSpPr>
          <p:cNvPr id="60" name="TextBox 59"/>
          <p:cNvSpPr txBox="1"/>
          <p:nvPr/>
        </p:nvSpPr>
        <p:spPr>
          <a:xfrm>
            <a:off x="8577072" y="298094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少年マンガ原作（集英社）</a:t>
            </a:r>
          </a:p>
        </p:txBody>
      </p:sp>
      <p:sp>
        <p:nvSpPr>
          <p:cNvPr id="61" name="TextBox 60"/>
          <p:cNvSpPr txBox="1"/>
          <p:nvPr/>
        </p:nvSpPr>
        <p:spPr>
          <a:xfrm>
            <a:off x="8577072" y="318211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©松井優征／集英社・アニメ「暗殺教室」製作委員会</a:t>
            </a:r>
          </a:p>
        </p:txBody>
      </p:sp>
      <p:sp>
        <p:nvSpPr>
          <p:cNvPr id="62" name="TextBox 61"/>
          <p:cNvSpPr txBox="1"/>
          <p:nvPr/>
        </p:nvSpPr>
        <p:spPr>
          <a:xfrm>
            <a:off x="384048" y="477316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まじっく快斗</a:t>
            </a:r>
          </a:p>
        </p:txBody>
      </p:sp>
      <p:sp>
        <p:nvSpPr>
          <p:cNvPr id="63" name="TextBox 62"/>
          <p:cNvSpPr txBox="1"/>
          <p:nvPr/>
        </p:nvSpPr>
        <p:spPr>
          <a:xfrm>
            <a:off x="384048" y="517550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少年マンガ原作（小学館）</a:t>
            </a:r>
          </a:p>
        </p:txBody>
      </p:sp>
      <p:sp>
        <p:nvSpPr>
          <p:cNvPr id="64" name="TextBox 63"/>
          <p:cNvSpPr txBox="1"/>
          <p:nvPr/>
        </p:nvSpPr>
        <p:spPr>
          <a:xfrm>
            <a:off x="384048" y="537667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©青山剛昌／小学館・読売テレビ・A-1 Pictures 2014</a:t>
            </a:r>
          </a:p>
        </p:txBody>
      </p:sp>
      <p:sp>
        <p:nvSpPr>
          <p:cNvPr id="65" name="TextBox 64"/>
          <p:cNvSpPr txBox="1"/>
          <p:nvPr/>
        </p:nvSpPr>
        <p:spPr>
          <a:xfrm>
            <a:off x="2432304" y="477316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ワールドトリガー</a:t>
            </a:r>
          </a:p>
        </p:txBody>
      </p:sp>
      <p:sp>
        <p:nvSpPr>
          <p:cNvPr id="66" name="TextBox 65"/>
          <p:cNvSpPr txBox="1"/>
          <p:nvPr/>
        </p:nvSpPr>
        <p:spPr>
          <a:xfrm>
            <a:off x="2432304" y="517550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少年マンガ原作（集英社）</a:t>
            </a:r>
          </a:p>
        </p:txBody>
      </p:sp>
      <p:sp>
        <p:nvSpPr>
          <p:cNvPr id="67" name="TextBox 66"/>
          <p:cNvSpPr txBox="1"/>
          <p:nvPr/>
        </p:nvSpPr>
        <p:spPr>
          <a:xfrm>
            <a:off x="2432304" y="537667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©葦原大介／集英社・テレビ朝日・東映アニメーション</a:t>
            </a:r>
          </a:p>
        </p:txBody>
      </p:sp>
      <p:sp>
        <p:nvSpPr>
          <p:cNvPr id="68" name="TextBox 67"/>
          <p:cNvSpPr txBox="1"/>
          <p:nvPr/>
        </p:nvSpPr>
        <p:spPr>
          <a:xfrm>
            <a:off x="4480560" y="477316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少女革命ウテナ</a:t>
            </a:r>
          </a:p>
        </p:txBody>
      </p:sp>
      <p:sp>
        <p:nvSpPr>
          <p:cNvPr id="69" name="TextBox 68"/>
          <p:cNvSpPr txBox="1"/>
          <p:nvPr/>
        </p:nvSpPr>
        <p:spPr>
          <a:xfrm>
            <a:off x="4480560" y="517550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オリジナルアニメ／少女マンガ原作</a:t>
            </a:r>
          </a:p>
        </p:txBody>
      </p:sp>
      <p:sp>
        <p:nvSpPr>
          <p:cNvPr id="70" name="TextBox 69"/>
          <p:cNvSpPr txBox="1"/>
          <p:nvPr/>
        </p:nvSpPr>
        <p:spPr>
          <a:xfrm>
            <a:off x="4480560" y="537667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©1997 ビーパパス・さいとうちほ／小学館・少革委員会・テレビ東京</a:t>
            </a:r>
          </a:p>
        </p:txBody>
      </p:sp>
      <p:sp>
        <p:nvSpPr>
          <p:cNvPr id="71" name="TextBox 70"/>
          <p:cNvSpPr txBox="1"/>
          <p:nvPr/>
        </p:nvSpPr>
        <p:spPr>
          <a:xfrm>
            <a:off x="6528816" y="477316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オオカミ少女と黒王子</a:t>
            </a:r>
          </a:p>
        </p:txBody>
      </p:sp>
      <p:sp>
        <p:nvSpPr>
          <p:cNvPr id="72" name="TextBox 71"/>
          <p:cNvSpPr txBox="1"/>
          <p:nvPr/>
        </p:nvSpPr>
        <p:spPr>
          <a:xfrm>
            <a:off x="6528816" y="517550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少女マンガ原作（集英社）</a:t>
            </a:r>
          </a:p>
        </p:txBody>
      </p:sp>
      <p:sp>
        <p:nvSpPr>
          <p:cNvPr id="73" name="TextBox 72"/>
          <p:cNvSpPr txBox="1"/>
          <p:nvPr/>
        </p:nvSpPr>
        <p:spPr>
          <a:xfrm>
            <a:off x="6528816" y="537667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©AH／S・VSYYDR</a:t>
            </a:r>
          </a:p>
        </p:txBody>
      </p:sp>
      <p:sp>
        <p:nvSpPr>
          <p:cNvPr id="74" name="TextBox 73"/>
          <p:cNvSpPr txBox="1"/>
          <p:nvPr/>
        </p:nvSpPr>
        <p:spPr>
          <a:xfrm>
            <a:off x="8577072" y="4773168"/>
            <a:ext cx="1920240" cy="402336"/>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神様はじめました</a:t>
            </a:r>
          </a:p>
        </p:txBody>
      </p:sp>
      <p:sp>
        <p:nvSpPr>
          <p:cNvPr id="75" name="TextBox 74"/>
          <p:cNvSpPr txBox="1"/>
          <p:nvPr/>
        </p:nvSpPr>
        <p:spPr>
          <a:xfrm>
            <a:off x="8577072" y="5175504"/>
            <a:ext cx="1920240" cy="182880"/>
          </a:xfrm>
          <a:prstGeom prst="rect">
            <a:avLst/>
          </a:prstGeom>
          <a:noFill/>
        </p:spPr>
        <p:txBody>
          <a:bodyPr wrap="square" lIns="0" rIns="0" tIns="0" bIns="0">
            <a:spAutoFit/>
          </a:bodyPr>
          <a:lstStyle/>
          <a:p>
            <a:pPr algn="ctr">
              <a:spcAft>
                <a:spcPts val="100"/>
              </a:spcAft>
            </a:pPr>
            <a:r>
              <a:rPr sz="800" b="0">
                <a:solidFill>
                  <a:srgbClr val="0889C9"/>
                </a:solidFill>
                <a:latin typeface="游ゴシック"/>
              </a:rPr>
              <a:t>少女マンガ原作</a:t>
            </a:r>
          </a:p>
        </p:txBody>
      </p:sp>
      <p:sp>
        <p:nvSpPr>
          <p:cNvPr id="76" name="TextBox 75"/>
          <p:cNvSpPr txBox="1"/>
          <p:nvPr/>
        </p:nvSpPr>
        <p:spPr>
          <a:xfrm>
            <a:off x="8577072" y="5376672"/>
            <a:ext cx="1920240" cy="274320"/>
          </a:xfrm>
          <a:prstGeom prst="rect">
            <a:avLst/>
          </a:prstGeom>
          <a:noFill/>
        </p:spPr>
        <p:txBody>
          <a:bodyPr wrap="square" lIns="0" rIns="0" tIns="0" bIns="0">
            <a:spAutoFit/>
          </a:bodyPr>
          <a:lstStyle/>
          <a:p>
            <a:pPr algn="ctr">
              <a:spcAft>
                <a:spcPts val="100"/>
              </a:spcAft>
            </a:pPr>
            <a:r>
              <a:rPr sz="600" b="0">
                <a:solidFill>
                  <a:srgbClr val="595959"/>
                </a:solidFill>
                <a:latin typeface="游ゴシック"/>
              </a:rPr>
              <a:t>©JS／H-K2015</a:t>
            </a:r>
          </a:p>
        </p:txBody>
      </p:sp>
    </p:spTree>
    <p:extLst>
      <p:ext uri="{BB962C8B-B14F-4D97-AF65-F5344CB8AC3E}">
        <p14:creationId xmlns:p14="http://schemas.microsoft.com/office/powerpoint/2010/main" val="890287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P/L</a:t>
            </a:r>
            <a:r>
              <a:rPr lang="ja-JP" altLang="en-US" dirty="0">
                <a:latin typeface="游ゴシック" panose="020B0400000000000000" pitchFamily="50" charset="-128"/>
                <a:ea typeface="游ゴシック" panose="020B0400000000000000" pitchFamily="50" charset="-128"/>
              </a:rPr>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a:t>
            </a:r>
            <a:r>
              <a:rPr lang="en-US" altLang="ja-JP" dirty="0">
                <a:latin typeface="游ゴシック" panose="020B0400000000000000" pitchFamily="50" charset="-128"/>
                <a:ea typeface="游ゴシック" panose="020B0400000000000000" pitchFamily="50" charset="-128"/>
              </a:rPr>
              <a:t>3</a:t>
            </a:r>
            <a:r>
              <a:rPr lang="ja-JP" altLang="en-US" dirty="0">
                <a:latin typeface="游ゴシック" panose="020B0400000000000000" pitchFamily="50" charset="-128"/>
                <a:ea typeface="游ゴシック" panose="020B0400000000000000" pitchFamily="50" charset="-128"/>
              </a:rPr>
              <a:t>期の売上高は</a:t>
            </a:r>
            <a:r>
              <a:rPr lang="en-US" altLang="ja-JP" dirty="0">
                <a:latin typeface="游ゴシック" panose="020B0400000000000000" pitchFamily="50" charset="-128"/>
                <a:ea typeface="游ゴシック" panose="020B0400000000000000" pitchFamily="50" charset="-128"/>
              </a:rPr>
              <a:t>316</a:t>
            </a:r>
            <a:r>
              <a:rPr lang="ja-JP" altLang="en-US" dirty="0">
                <a:latin typeface="游ゴシック" panose="020B0400000000000000" pitchFamily="50" charset="-128"/>
                <a:ea typeface="游ゴシック" panose="020B0400000000000000" pitchFamily="50" charset="-128"/>
              </a:rPr>
              <a:t>百万円→</a:t>
            </a:r>
            <a:r>
              <a:rPr lang="en-US" altLang="ja-JP" dirty="0">
                <a:latin typeface="游ゴシック" panose="020B0400000000000000" pitchFamily="50" charset="-128"/>
                <a:ea typeface="游ゴシック" panose="020B0400000000000000" pitchFamily="50" charset="-128"/>
              </a:rPr>
              <a:t>443</a:t>
            </a:r>
            <a:r>
              <a:rPr lang="ja-JP" altLang="en-US" dirty="0">
                <a:latin typeface="游ゴシック" panose="020B0400000000000000" pitchFamily="50" charset="-128"/>
                <a:ea typeface="游ゴシック" panose="020B0400000000000000" pitchFamily="50" charset="-128"/>
              </a:rPr>
              <a:t>百万円→</a:t>
            </a:r>
            <a:r>
              <a:rPr lang="en-US" altLang="ja-JP" dirty="0">
                <a:latin typeface="游ゴシック" panose="020B0400000000000000" pitchFamily="50" charset="-128"/>
                <a:ea typeface="游ゴシック" panose="020B0400000000000000" pitchFamily="50" charset="-128"/>
              </a:rPr>
              <a:t>422</a:t>
            </a:r>
            <a:r>
              <a:rPr lang="ja-JP" altLang="en-US" dirty="0">
                <a:latin typeface="游ゴシック" panose="020B0400000000000000" pitchFamily="50" charset="-128"/>
                <a:ea typeface="游ゴシック" panose="020B0400000000000000" pitchFamily="50" charset="-128"/>
              </a:rPr>
              <a:t>百万円で推移。</a:t>
            </a:r>
            <a:r>
              <a:rPr lang="en-US" altLang="ja-JP" dirty="0">
                <a:latin typeface="游ゴシック" panose="020B0400000000000000" pitchFamily="50" charset="-128"/>
                <a:ea typeface="游ゴシック" panose="020B0400000000000000" pitchFamily="50" charset="-128"/>
              </a:rPr>
              <a:t>2026</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月期は輸出売上の反落を国内売上の伸長が補い、</a:t>
            </a:r>
            <a:r>
              <a:rPr lang="en-US" dirty="0">
                <a:latin typeface="游ゴシック" panose="020B0400000000000000" pitchFamily="50" charset="-128"/>
                <a:ea typeface="游ゴシック" panose="020B0400000000000000" pitchFamily="50" charset="-128"/>
              </a:rPr>
              <a:t>2026</a:t>
            </a:r>
            <a:r>
              <a:rPr dirty="0">
                <a:latin typeface="游ゴシック" panose="020B0400000000000000" pitchFamily="50" charset="-128"/>
                <a:ea typeface="游ゴシック" panose="020B0400000000000000" pitchFamily="50" charset="-128"/>
              </a:rPr>
              <a:t>年1月期も売上高422百万円・営業利益58</a:t>
            </a:r>
            <a:r>
              <a:rPr lang="en-US" dirty="0">
                <a:latin typeface="游ゴシック" panose="020B0400000000000000" pitchFamily="50" charset="-128"/>
                <a:ea typeface="游ゴシック" panose="020B0400000000000000" pitchFamily="50" charset="-128"/>
              </a:rPr>
              <a:t>,514</a:t>
            </a:r>
            <a:r>
              <a:rPr lang="ja-JP" altLang="en-US" dirty="0">
                <a:latin typeface="游ゴシック" panose="020B0400000000000000" pitchFamily="50" charset="-128"/>
                <a:ea typeface="游ゴシック" panose="020B0400000000000000" pitchFamily="50" charset="-128"/>
              </a:rPr>
              <a:t>千</a:t>
            </a:r>
            <a:r>
              <a:rPr dirty="0" err="1">
                <a:latin typeface="游ゴシック" panose="020B0400000000000000" pitchFamily="50" charset="-128"/>
                <a:ea typeface="游ゴシック" panose="020B0400000000000000" pitchFamily="50" charset="-128"/>
              </a:rPr>
              <a:t>円と高水準を維持</a:t>
            </a:r>
            <a:r>
              <a:rPr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製造委託中心の身軽なコスト構造（ファブレス体制）と少数精鋭体制により、</a:t>
            </a:r>
            <a:r>
              <a:rPr dirty="0">
                <a:latin typeface="游ゴシック" panose="020B0400000000000000" pitchFamily="50" charset="-128"/>
                <a:ea typeface="游ゴシック" panose="020B0400000000000000" pitchFamily="50" charset="-128"/>
              </a:rPr>
              <a:t>営業利益率13.9%</a:t>
            </a:r>
            <a:r>
              <a:rPr lang="ja-JP" altLang="en-US" dirty="0">
                <a:latin typeface="游ゴシック" panose="020B0400000000000000" pitchFamily="50" charset="-128"/>
                <a:ea typeface="游ゴシック" panose="020B0400000000000000" pitchFamily="50" charset="-128"/>
              </a:rPr>
              <a:t>・調整後</a:t>
            </a:r>
            <a:r>
              <a:rPr lang="en-US" altLang="ja-JP" dirty="0">
                <a:latin typeface="游ゴシック" panose="020B0400000000000000" pitchFamily="50" charset="-128"/>
                <a:ea typeface="游ゴシック" panose="020B0400000000000000" pitchFamily="50" charset="-128"/>
              </a:rPr>
              <a:t>EBITDA40,000</a:t>
            </a:r>
            <a:r>
              <a:rPr lang="ja-JP" altLang="en-US" dirty="0">
                <a:latin typeface="游ゴシック" panose="020B0400000000000000" pitchFamily="50" charset="-128"/>
                <a:ea typeface="游ゴシック" panose="020B0400000000000000" pitchFamily="50" charset="-128"/>
              </a:rPr>
              <a:t>千円超を確保している。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360244"/>
            <a:ext cx="3924999" cy="2783505"/>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772320"/>
            <a:ext cx="3924999" cy="24090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267477"/>
            <a:ext cx="3912257" cy="2000548"/>
          </a:xfrm>
          <a:prstGeom prst="rect">
            <a:avLst/>
          </a:prstGeom>
          <a:noFill/>
        </p:spPr>
        <p:txBody>
          <a:bodyPr wrap="square" lIns="288000" tIns="0" rIns="252000" bIns="0" rtlCol="0">
            <a:spAutoFit/>
          </a:bodyPr>
          <a:lstStyle/>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売上</a:t>
            </a:r>
            <a:r>
              <a:rPr sz="1000" dirty="0">
                <a:latin typeface="游ゴシック" panose="020B0400000000000000" pitchFamily="50" charset="-128"/>
                <a:ea typeface="游ゴシック" panose="020B0400000000000000" pitchFamily="50" charset="-128"/>
              </a:rPr>
              <a:t>≫</a:t>
            </a:r>
            <a:endParaRPr kumimoji="1" lang="en-US" altLang="ja-JP" sz="1050" dirty="0">
              <a:solidFill>
                <a:schemeClr val="tx1"/>
              </a:solidFill>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lang="en-US" altLang="ja-JP" sz="1000" dirty="0">
                <a:latin typeface="游ゴシック" panose="020B0400000000000000" pitchFamily="50" charset="-128"/>
                <a:ea typeface="游ゴシック" panose="020B0400000000000000" pitchFamily="50" charset="-128"/>
              </a:rPr>
              <a:t>2025</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月期は輸出売上の大幅増により</a:t>
            </a:r>
            <a:r>
              <a:rPr lang="en-US" altLang="ja-JP" sz="1000" dirty="0">
                <a:latin typeface="游ゴシック" panose="020B0400000000000000" pitchFamily="50" charset="-128"/>
                <a:ea typeface="游ゴシック" panose="020B0400000000000000" pitchFamily="50" charset="-128"/>
              </a:rPr>
              <a:t>443,868</a:t>
            </a:r>
            <a:r>
              <a:rPr lang="ja-JP" altLang="en-US" sz="1000" dirty="0">
                <a:latin typeface="游ゴシック" panose="020B0400000000000000" pitchFamily="50" charset="-128"/>
                <a:ea typeface="游ゴシック" panose="020B0400000000000000" pitchFamily="50" charset="-128"/>
              </a:rPr>
              <a:t>千円へ拡大。</a:t>
            </a:r>
            <a:r>
              <a:rPr lang="en-US" altLang="ja-JP" sz="1000" dirty="0">
                <a:latin typeface="游ゴシック" panose="020B0400000000000000" pitchFamily="50" charset="-128"/>
                <a:ea typeface="游ゴシック" panose="020B0400000000000000" pitchFamily="50" charset="-128"/>
              </a:rPr>
              <a:t>2026</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月期は輸出売上が減少する一方、国内売上が伸長し、</a:t>
            </a:r>
            <a:r>
              <a:rPr lang="en-US" altLang="ja-JP" sz="1000" dirty="0">
                <a:latin typeface="游ゴシック" panose="020B0400000000000000" pitchFamily="50" charset="-128"/>
                <a:ea typeface="游ゴシック" panose="020B0400000000000000" pitchFamily="50" charset="-128"/>
              </a:rPr>
              <a:t>422,475</a:t>
            </a:r>
            <a:r>
              <a:rPr lang="ja-JP" altLang="en-US" sz="1000" dirty="0">
                <a:latin typeface="游ゴシック" panose="020B0400000000000000" pitchFamily="50" charset="-128"/>
                <a:ea typeface="游ゴシック" panose="020B0400000000000000" pitchFamily="50" charset="-128"/>
              </a:rPr>
              <a:t>千円を確保。</a:t>
            </a:r>
            <a:endParaRPr lang="en-US" altLang="ja-JP" sz="1000" dirty="0">
              <a:latin typeface="游ゴシック" panose="020B0400000000000000" pitchFamily="50" charset="-128"/>
              <a:ea typeface="游ゴシック" panose="020B0400000000000000" pitchFamily="50" charset="-128"/>
            </a:endParaRPr>
          </a:p>
          <a:p>
            <a:endParaRPr sz="1000" dirty="0">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売上総利益</a:t>
            </a:r>
            <a:r>
              <a:rPr sz="1000" dirty="0">
                <a:latin typeface="游ゴシック" panose="020B0400000000000000" pitchFamily="50" charset="-128"/>
                <a:ea typeface="游ゴシック" panose="020B0400000000000000" pitchFamily="50" charset="-128"/>
              </a:rPr>
              <a:t>≫</a:t>
            </a:r>
          </a:p>
          <a:p>
            <a:r>
              <a:rPr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粗利率は</a:t>
            </a:r>
            <a:r>
              <a:rPr lang="en-US" altLang="ja-JP" sz="1000" dirty="0">
                <a:latin typeface="游ゴシック" panose="020B0400000000000000" pitchFamily="50" charset="-128"/>
                <a:ea typeface="游ゴシック" panose="020B0400000000000000" pitchFamily="50" charset="-128"/>
              </a:rPr>
              <a:t>33〜40%</a:t>
            </a:r>
            <a:r>
              <a:rPr lang="ja-JP" altLang="en-US" sz="1000" dirty="0">
                <a:latin typeface="游ゴシック" panose="020B0400000000000000" pitchFamily="50" charset="-128"/>
                <a:ea typeface="游ゴシック" panose="020B0400000000000000" pitchFamily="50" charset="-128"/>
              </a:rPr>
              <a:t>で推移。製造委託中心で固定費が小さく、売上変動に対する耐性が高い。</a:t>
            </a:r>
            <a:endParaRPr lang="en-US" altLang="ja-JP" sz="1000" dirty="0">
              <a:latin typeface="游ゴシック" panose="020B0400000000000000" pitchFamily="50" charset="-128"/>
              <a:ea typeface="游ゴシック" panose="020B0400000000000000" pitchFamily="50" charset="-128"/>
            </a:endParaRPr>
          </a:p>
          <a:p>
            <a:endParaRPr sz="1000" dirty="0">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営業利益</a:t>
            </a:r>
            <a:r>
              <a:rPr sz="1000" dirty="0">
                <a:latin typeface="游ゴシック" panose="020B0400000000000000" pitchFamily="50" charset="-128"/>
                <a:ea typeface="游ゴシック" panose="020B0400000000000000" pitchFamily="50" charset="-128"/>
              </a:rPr>
              <a:t>≫</a:t>
            </a:r>
          </a:p>
          <a:p>
            <a:r>
              <a:rPr sz="1000" dirty="0">
                <a:latin typeface="游ゴシック" panose="020B0400000000000000" pitchFamily="50" charset="-128"/>
                <a:ea typeface="游ゴシック" panose="020B0400000000000000" pitchFamily="50" charset="-128"/>
              </a:rPr>
              <a:t>・</a:t>
            </a:r>
            <a:r>
              <a:rPr lang="en-US" sz="1000" dirty="0">
                <a:latin typeface="游ゴシック" panose="020B0400000000000000" pitchFamily="50" charset="-128"/>
                <a:ea typeface="游ゴシック" panose="020B0400000000000000" pitchFamily="50" charset="-128"/>
              </a:rPr>
              <a:t>2026</a:t>
            </a:r>
            <a:r>
              <a:rPr sz="1000" dirty="0">
                <a:latin typeface="游ゴシック" panose="020B0400000000000000" pitchFamily="50" charset="-128"/>
                <a:ea typeface="游ゴシック" panose="020B0400000000000000" pitchFamily="50" charset="-128"/>
              </a:rPr>
              <a:t>年1月期は58百万円（利益率13.9%）。</a:t>
            </a:r>
            <a:r>
              <a:rPr sz="1000" dirty="0" err="1">
                <a:latin typeface="游ゴシック" panose="020B0400000000000000" pitchFamily="50" charset="-128"/>
                <a:ea typeface="游ゴシック" panose="020B0400000000000000" pitchFamily="50" charset="-128"/>
              </a:rPr>
              <a:t>少数精鋭</a:t>
            </a:r>
            <a:r>
              <a:rPr lang="ja-JP" altLang="en-US" sz="1000" dirty="0">
                <a:latin typeface="游ゴシック" panose="020B0400000000000000" pitchFamily="50" charset="-128"/>
                <a:ea typeface="游ゴシック" panose="020B0400000000000000" pitchFamily="50" charset="-128"/>
              </a:rPr>
              <a:t>体制により、営業利益がほぼキャッシュ創出力に相当</a:t>
            </a:r>
            <a:endParaRPr lang="en-US" sz="1000" dirty="0">
              <a:latin typeface="游ゴシック" panose="020B0400000000000000" pitchFamily="50" charset="-128"/>
              <a:ea typeface="游ゴシック" panose="020B0400000000000000" pitchFamily="50" charset="-128"/>
            </a:endParaRPr>
          </a:p>
          <a:p>
            <a:endParaRPr lang="en-US" sz="1000" dirty="0">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4460272"/>
            <a:ext cx="4003880" cy="2462213"/>
          </a:xfrm>
          <a:prstGeom prst="rect">
            <a:avLst/>
          </a:prstGeom>
          <a:noFill/>
        </p:spPr>
        <p:txBody>
          <a:bodyPr wrap="square" lIns="288000" tIns="0" rIns="252000" bIns="0" rtlCol="0">
            <a:spAutoFit/>
          </a:bodyPr>
          <a:lstStyle/>
          <a:p>
            <a:r>
              <a:rPr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調整項目</a:t>
            </a:r>
            <a:r>
              <a:rPr sz="1000" dirty="0">
                <a:latin typeface="游ゴシック" panose="020B0400000000000000" pitchFamily="50" charset="-128"/>
                <a:ea typeface="游ゴシック" panose="020B0400000000000000" pitchFamily="50" charset="-128"/>
              </a:rPr>
              <a:t>】</a:t>
            </a:r>
          </a:p>
          <a:p>
            <a:r>
              <a:rPr lang="ja-JP" altLang="en-US" sz="1000" dirty="0">
                <a:latin typeface="游ゴシック" panose="020B0400000000000000" pitchFamily="50" charset="-128"/>
                <a:ea typeface="游ゴシック" panose="020B0400000000000000" pitchFamily="50" charset="-128"/>
              </a:rPr>
              <a:t>≪役員報酬・雑給・社会保険料≫</a:t>
            </a:r>
          </a:p>
          <a:p>
            <a:r>
              <a:rPr lang="ja-JP" altLang="en-US" sz="1000" dirty="0">
                <a:latin typeface="游ゴシック" panose="020B0400000000000000" pitchFamily="50" charset="-128"/>
                <a:ea typeface="游ゴシック" panose="020B0400000000000000" pitchFamily="50" charset="-128"/>
              </a:rPr>
              <a:t>・</a:t>
            </a:r>
            <a:r>
              <a:rPr lang="en-US" altLang="ja-JP" sz="1000" dirty="0">
                <a:latin typeface="游ゴシック" panose="020B0400000000000000" pitchFamily="50" charset="-128"/>
                <a:ea typeface="游ゴシック" panose="020B0400000000000000" pitchFamily="50" charset="-128"/>
              </a:rPr>
              <a:t>M&amp;A</a:t>
            </a:r>
            <a:r>
              <a:rPr lang="ja-JP" altLang="en-US" sz="1000" dirty="0">
                <a:latin typeface="游ゴシック" panose="020B0400000000000000" pitchFamily="50" charset="-128"/>
                <a:ea typeface="游ゴシック" panose="020B0400000000000000" pitchFamily="50" charset="-128"/>
              </a:rPr>
              <a:t>に伴い退任予定の取締役</a:t>
            </a:r>
            <a:r>
              <a:rPr lang="en-US" altLang="ja-JP" sz="1000" dirty="0">
                <a:latin typeface="游ゴシック" panose="020B0400000000000000" pitchFamily="50" charset="-128"/>
                <a:ea typeface="游ゴシック" panose="020B0400000000000000" pitchFamily="50" charset="-128"/>
              </a:rPr>
              <a:t>2</a:t>
            </a:r>
            <a:r>
              <a:rPr lang="ja-JP" altLang="en-US" sz="1000" dirty="0">
                <a:latin typeface="游ゴシック" panose="020B0400000000000000" pitchFamily="50" charset="-128"/>
                <a:ea typeface="游ゴシック" panose="020B0400000000000000" pitchFamily="50" charset="-128"/>
              </a:rPr>
              <a:t>名（</a:t>
            </a:r>
            <a:r>
              <a:rPr lang="en-US" altLang="ja-JP" sz="1000" dirty="0">
                <a:latin typeface="游ゴシック" panose="020B0400000000000000" pitchFamily="50" charset="-128"/>
                <a:ea typeface="游ゴシック" panose="020B0400000000000000" pitchFamily="50" charset="-128"/>
              </a:rPr>
              <a:t>2025</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4</a:t>
            </a:r>
            <a:r>
              <a:rPr lang="ja-JP" altLang="en-US" sz="1000" dirty="0">
                <a:latin typeface="游ゴシック" panose="020B0400000000000000" pitchFamily="50" charset="-128"/>
                <a:ea typeface="游ゴシック" panose="020B0400000000000000" pitchFamily="50" charset="-128"/>
              </a:rPr>
              <a:t>月就任）の役員報酬、及び社会保険料（概算料率</a:t>
            </a:r>
            <a:r>
              <a:rPr lang="en-US" altLang="ja-JP" sz="1000" dirty="0">
                <a:latin typeface="游ゴシック" panose="020B0400000000000000" pitchFamily="50" charset="-128"/>
                <a:ea typeface="游ゴシック" panose="020B0400000000000000" pitchFamily="50" charset="-128"/>
              </a:rPr>
              <a:t>15%</a:t>
            </a:r>
            <a:r>
              <a:rPr lang="ja-JP" altLang="en-US" sz="1000" dirty="0">
                <a:latin typeface="游ゴシック" panose="020B0400000000000000" pitchFamily="50" charset="-128"/>
                <a:ea typeface="游ゴシック" panose="020B0400000000000000" pitchFamily="50" charset="-128"/>
              </a:rPr>
              <a:t>）を控除</a:t>
            </a:r>
            <a:endParaRPr lang="en-US" altLang="ja-JP" sz="1000" dirty="0">
              <a:latin typeface="游ゴシック" panose="020B0400000000000000" pitchFamily="50" charset="-128"/>
              <a:ea typeface="游ゴシック" panose="020B0400000000000000" pitchFamily="50" charset="-128"/>
            </a:endParaRPr>
          </a:p>
          <a:p>
            <a:endParaRPr lang="ja-JP" altLang="en-US" sz="1000" dirty="0">
              <a:latin typeface="游ゴシック" panose="020B0400000000000000" pitchFamily="50" charset="-128"/>
              <a:ea typeface="游ゴシック" panose="020B0400000000000000" pitchFamily="50" charset="-128"/>
            </a:endParaRPr>
          </a:p>
          <a:p>
            <a:r>
              <a:rPr lang="zh-TW" altLang="en-US"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接待交際費</a:t>
            </a:r>
            <a:r>
              <a:rPr lang="zh-TW" altLang="en-US" sz="1000" dirty="0">
                <a:latin typeface="游ゴシック" panose="020B0400000000000000" pitchFamily="50" charset="-128"/>
                <a:ea typeface="游ゴシック" panose="020B0400000000000000" pitchFamily="50" charset="-128"/>
              </a:rPr>
              <a:t>≫</a:t>
            </a:r>
            <a:endParaRPr lang="en-US" altLang="zh-TW"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・私的利用の旨を聴取。譲渡後は発生しない費用と見なし、控除。</a:t>
            </a:r>
            <a:endParaRPr lang="en-US" altLang="ja-JP"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≪貸倒引当金繰入額≫</a:t>
            </a:r>
          </a:p>
          <a:p>
            <a:r>
              <a:rPr lang="ja-JP" altLang="en-US" sz="1000" dirty="0">
                <a:latin typeface="游ゴシック" panose="020B0400000000000000" pitchFamily="50" charset="-128"/>
                <a:ea typeface="游ゴシック" panose="020B0400000000000000" pitchFamily="50" charset="-128"/>
              </a:rPr>
              <a:t>・これまで貸倒れが発生していない為、控除</a:t>
            </a:r>
          </a:p>
          <a:p>
            <a:r>
              <a:rPr lang="ja-JP" altLang="en-US" sz="1000" dirty="0">
                <a:latin typeface="游ゴシック" panose="020B0400000000000000" pitchFamily="50" charset="-128"/>
                <a:ea typeface="游ゴシック" panose="020B0400000000000000" pitchFamily="50" charset="-128"/>
              </a:rPr>
              <a:t>≪寄付金≫</a:t>
            </a:r>
          </a:p>
          <a:p>
            <a:r>
              <a:rPr lang="ja-JP" altLang="en-US" sz="1000" dirty="0">
                <a:latin typeface="游ゴシック" panose="020B0400000000000000" pitchFamily="50" charset="-128"/>
                <a:ea typeface="游ゴシック" panose="020B0400000000000000" pitchFamily="50" charset="-128"/>
              </a:rPr>
              <a:t>・譲渡後に発生しない費用と見なし、控除</a:t>
            </a:r>
            <a:endParaRPr lang="en-US" altLang="ja-JP" sz="1000" dirty="0">
              <a:latin typeface="游ゴシック" panose="020B0400000000000000" pitchFamily="50" charset="-128"/>
              <a:ea typeface="游ゴシック" panose="020B0400000000000000" pitchFamily="50" charset="-128"/>
            </a:endParaRPr>
          </a:p>
          <a:p>
            <a:endParaRPr lang="ja-JP" altLang="en-US"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≪棚卸資産廃棄損（営業費用化）≫</a:t>
            </a:r>
          </a:p>
          <a:p>
            <a:r>
              <a:rPr lang="ja-JP" altLang="en-US" sz="1000" dirty="0">
                <a:latin typeface="游ゴシック" panose="020B0400000000000000" pitchFamily="50" charset="-128"/>
                <a:ea typeface="游ゴシック" panose="020B0400000000000000" pitchFamily="50" charset="-128"/>
              </a:rPr>
              <a:t>・事業に構造的に内在する費用と判断し、特別損失から営業費用へ振替えて認識。</a:t>
            </a:r>
            <a:endParaRPr sz="1000" dirty="0">
              <a:latin typeface="游ゴシック" panose="020B0400000000000000" pitchFamily="50" charset="-128"/>
              <a:ea typeface="游ゴシック" panose="020B0400000000000000" pitchFamily="50" charset="-128"/>
            </a:endParaRPr>
          </a:p>
        </p:txBody>
      </p:sp>
      <p:graphicFrame>
        <p:nvGraphicFramePr>
          <p:cNvPr id="4" name="表 3">
            <a:extLst>
              <a:ext uri="{FF2B5EF4-FFF2-40B4-BE49-F238E27FC236}">
                <a16:creationId xmlns:a16="http://schemas.microsoft.com/office/drawing/2014/main" id="{71209F0C-EF46-B4CA-ACAC-F4CC4A2CBE6A}"/>
              </a:ext>
            </a:extLst>
          </p:cNvPr>
          <p:cNvGraphicFramePr>
            <a:graphicFrameLocks noGrp="1"/>
          </p:cNvGraphicFramePr>
          <p:nvPr>
            <p:extLst>
              <p:ext uri="{D42A27DB-BD31-4B8C-83A1-F6EECF244321}">
                <p14:modId xmlns:p14="http://schemas.microsoft.com/office/powerpoint/2010/main" val="1238980628"/>
              </p:ext>
            </p:extLst>
          </p:nvPr>
        </p:nvGraphicFramePr>
        <p:xfrm>
          <a:off x="341313" y="1772320"/>
          <a:ext cx="5741852" cy="5140889"/>
        </p:xfrm>
        <a:graphic>
          <a:graphicData uri="http://schemas.openxmlformats.org/drawingml/2006/table">
            <a:tbl>
              <a:tblPr/>
              <a:tblGrid>
                <a:gridCol w="1814954">
                  <a:extLst>
                    <a:ext uri="{9D8B030D-6E8A-4147-A177-3AD203B41FA5}">
                      <a16:colId xmlns:a16="http://schemas.microsoft.com/office/drawing/2014/main" val="3743168274"/>
                    </a:ext>
                  </a:extLst>
                </a:gridCol>
                <a:gridCol w="1308966">
                  <a:extLst>
                    <a:ext uri="{9D8B030D-6E8A-4147-A177-3AD203B41FA5}">
                      <a16:colId xmlns:a16="http://schemas.microsoft.com/office/drawing/2014/main" val="1872144666"/>
                    </a:ext>
                  </a:extLst>
                </a:gridCol>
                <a:gridCol w="1308966">
                  <a:extLst>
                    <a:ext uri="{9D8B030D-6E8A-4147-A177-3AD203B41FA5}">
                      <a16:colId xmlns:a16="http://schemas.microsoft.com/office/drawing/2014/main" val="1239213141"/>
                    </a:ext>
                  </a:extLst>
                </a:gridCol>
                <a:gridCol w="1308966">
                  <a:extLst>
                    <a:ext uri="{9D8B030D-6E8A-4147-A177-3AD203B41FA5}">
                      <a16:colId xmlns:a16="http://schemas.microsoft.com/office/drawing/2014/main" val="2877525172"/>
                    </a:ext>
                  </a:extLst>
                </a:gridCol>
              </a:tblGrid>
              <a:tr h="172623">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484543510"/>
                  </a:ext>
                </a:extLst>
              </a:tr>
              <a:tr h="179528">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2024年1月期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2025年1月期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020453419"/>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784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316,755</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443,868</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422,475</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extLst>
                  <a:ext uri="{0D108BD9-81ED-4DB2-BD59-A6C34878D82A}">
                    <a16:rowId xmlns:a16="http://schemas.microsoft.com/office/drawing/2014/main" val="3197164842"/>
                  </a:ext>
                </a:extLst>
              </a:tr>
              <a:tr h="207148">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前期比</a:t>
                      </a:r>
                    </a:p>
                  </a:txBody>
                  <a:tcPr marL="0" marR="7840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140.1%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95.2%</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42372755"/>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7840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103,555</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178,926</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150,803</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894058400"/>
                  </a:ext>
                </a:extLst>
              </a:tr>
              <a:tr h="207148">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7840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32.7%</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35.7%</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72556162"/>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7840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6,159</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78,191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58,514</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32327251"/>
                  </a:ext>
                </a:extLst>
              </a:tr>
              <a:tr h="207148">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7840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1.9%</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17.6%</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13.9%</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22938097"/>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7840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6,666</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89,929</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64,943</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443015740"/>
                  </a:ext>
                </a:extLst>
              </a:tr>
              <a:tr h="207148">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7840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2.1%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20.3%</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15.4%</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57676025"/>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7840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△5,170</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40,558</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37,630</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527185085"/>
                  </a:ext>
                </a:extLst>
              </a:tr>
              <a:tr h="207148">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7840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-1.6%</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9.1%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1" u="none" strike="noStrike">
                          <a:solidFill>
                            <a:srgbClr val="000000"/>
                          </a:solidFill>
                          <a:effectLst/>
                          <a:latin typeface="游ゴシック" panose="020B0400000000000000" pitchFamily="50" charset="-128"/>
                          <a:ea typeface="游ゴシック" panose="020B0400000000000000" pitchFamily="50" charset="-128"/>
                        </a:rPr>
                        <a:t>8.9%</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79348653"/>
                  </a:ext>
                </a:extLst>
              </a:tr>
              <a:tr h="131194">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55305035"/>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7840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88432954"/>
                  </a:ext>
                </a:extLst>
              </a:tr>
              <a:tr h="138099">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7840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7840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7840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242719440"/>
                  </a:ext>
                </a:extLst>
              </a:tr>
              <a:tr h="179528">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調整項目 合計</a:t>
                      </a:r>
                    </a:p>
                  </a:txBody>
                  <a:tcPr marL="7840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△1,510</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△11,595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△13,819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65378062"/>
                  </a:ext>
                </a:extLst>
              </a:tr>
              <a:tr h="460329">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退任予定分の役員報酬</a:t>
                      </a:r>
                      <a:br>
                        <a:rPr lang="ja-JP" sz="1050" b="0" i="0" u="none" strike="noStrike">
                          <a:solidFill>
                            <a:srgbClr val="000000"/>
                          </a:solidFill>
                          <a:effectLst/>
                          <a:latin typeface="游ゴシック" panose="020B0400000000000000" pitchFamily="50" charset="-128"/>
                          <a:ea typeface="游ゴシック" panose="020B0400000000000000" pitchFamily="50" charset="-128"/>
                        </a:rPr>
                      </a:br>
                      <a:r>
                        <a:rPr lang="ja-JP" sz="900" b="0" i="0" u="none" strike="noStrike">
                          <a:solidFill>
                            <a:srgbClr val="000000"/>
                          </a:solidFill>
                          <a:effectLst/>
                          <a:latin typeface="游ゴシック" panose="020B0400000000000000" pitchFamily="50" charset="-128"/>
                          <a:ea typeface="游ゴシック" panose="020B0400000000000000" pitchFamily="50" charset="-128"/>
                        </a:rPr>
                        <a:t>※25年1月期までは雑給に計上</a:t>
                      </a: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15681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2,990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2,990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655240251"/>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上記調整分の社会保険料</a:t>
                      </a:r>
                    </a:p>
                  </a:txBody>
                  <a:tcPr marL="1568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381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33937495"/>
                  </a:ext>
                </a:extLst>
              </a:tr>
              <a:tr h="207148">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接待交際費</a:t>
                      </a:r>
                    </a:p>
                  </a:txBody>
                  <a:tcPr marL="1568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56885842"/>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568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7282430"/>
                  </a:ext>
                </a:extLst>
              </a:tr>
              <a:tr h="207148">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568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6583050"/>
                  </a:ext>
                </a:extLst>
              </a:tr>
              <a:tr h="368263">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棚卸資産廃棄損</a:t>
                      </a:r>
                      <a:br>
                        <a:rPr lang="ja-JP" sz="1050" b="0" i="0" u="none" strike="noStrike">
                          <a:solidFill>
                            <a:srgbClr val="000000"/>
                          </a:solidFill>
                          <a:effectLst/>
                          <a:latin typeface="游ゴシック" panose="020B0400000000000000" pitchFamily="50" charset="-128"/>
                          <a:ea typeface="游ゴシック" panose="020B0400000000000000" pitchFamily="50" charset="-128"/>
                        </a:rPr>
                      </a:b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（営業費用化）</a:t>
                      </a:r>
                    </a:p>
                  </a:txBody>
                  <a:tcPr marL="1568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△6,723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△17,217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△19,845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1031650"/>
                  </a:ext>
                </a:extLst>
              </a:tr>
              <a:tr h="138099">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2417732653"/>
                  </a:ext>
                </a:extLst>
              </a:tr>
              <a:tr h="193338">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調整後EBITDA</a:t>
                      </a:r>
                    </a:p>
                  </a:txBody>
                  <a:tcPr marL="78406" marR="0" marT="0" marB="0" anchor="ctr">
                    <a:lnL>
                      <a:noFill/>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5,531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67,241</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45,877</a:t>
                      </a:r>
                    </a:p>
                  </a:txBody>
                  <a:tcPr marL="0" marR="784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855662136"/>
                  </a:ext>
                </a:extLst>
              </a:tr>
            </a:tbl>
          </a:graphicData>
        </a:graphic>
      </p:graphicFrame>
    </p:spTree>
    <p:extLst>
      <p:ext uri="{BB962C8B-B14F-4D97-AF65-F5344CB8AC3E}">
        <p14:creationId xmlns:p14="http://schemas.microsoft.com/office/powerpoint/2010/main" val="301658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｜分割前）</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977984"/>
            <a:ext cx="4790832" cy="1862545"/>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自己資本比率60.6%・現預金193百万円と極めて健全な財務基盤。有利子負債を現預金でほぼ相殺できるネットキャッシュ状態にあ</a:t>
            </a:r>
            <a:r>
              <a:rPr lang="ja-JP" altLang="en-US" dirty="0">
                <a:latin typeface="游ゴシック" panose="020B0400000000000000" pitchFamily="50" charset="-128"/>
                <a:ea typeface="游ゴシック" panose="020B0400000000000000" pitchFamily="50" charset="-128"/>
              </a:rPr>
              <a:t>る。なお、投資有価証券</a:t>
            </a:r>
            <a:r>
              <a:rPr lang="en-US" altLang="ja-JP" dirty="0">
                <a:latin typeface="游ゴシック" panose="020B0400000000000000" pitchFamily="50" charset="-128"/>
                <a:ea typeface="游ゴシック" panose="020B0400000000000000" pitchFamily="50" charset="-128"/>
              </a:rPr>
              <a:t>276</a:t>
            </a:r>
            <a:r>
              <a:rPr lang="ja-JP" altLang="en-US" dirty="0">
                <a:latin typeface="游ゴシック" panose="020B0400000000000000" pitchFamily="50" charset="-128"/>
                <a:ea typeface="游ゴシック" panose="020B0400000000000000" pitchFamily="50" charset="-128"/>
              </a:rPr>
              <a:t>百万円・保険積立金</a:t>
            </a:r>
            <a:r>
              <a:rPr lang="en-US" altLang="ja-JP" dirty="0">
                <a:latin typeface="游ゴシック" panose="020B0400000000000000" pitchFamily="50" charset="-128"/>
                <a:ea typeface="游ゴシック" panose="020B0400000000000000" pitchFamily="50" charset="-128"/>
              </a:rPr>
              <a:t>43</a:t>
            </a:r>
            <a:r>
              <a:rPr lang="ja-JP" altLang="en-US" dirty="0">
                <a:latin typeface="游ゴシック" panose="020B0400000000000000" pitchFamily="50" charset="-128"/>
                <a:ea typeface="游ゴシック" panose="020B0400000000000000" pitchFamily="50" charset="-128"/>
              </a:rPr>
              <a:t>百万円等の非事業用資産は、会社分割により承継対象外となる前提。</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796060"/>
            <a:ext cx="4790832" cy="230045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2431147"/>
            <a:ext cx="4953660" cy="1292662"/>
          </a:xfrm>
          <a:prstGeom prst="rect">
            <a:avLst/>
          </a:prstGeom>
          <a:noFill/>
        </p:spPr>
        <p:txBody>
          <a:bodyPr wrap="square" lIns="288000" tIns="0" rIns="252000" bIns="0" rtlCol="0">
            <a:spAutoFit/>
          </a:bodyPr>
          <a:lstStyle/>
          <a:p>
            <a:r>
              <a:rPr lang="ja-JP" altLang="en-US" sz="1050" dirty="0">
                <a:latin typeface="游ゴシック" panose="020B0400000000000000" pitchFamily="50" charset="-128"/>
                <a:ea typeface="游ゴシック" panose="020B0400000000000000" pitchFamily="50" charset="-128"/>
              </a:rPr>
              <a:t>≪現預金≫</a:t>
            </a:r>
          </a:p>
          <a:p>
            <a:r>
              <a:rPr lang="ja-JP" altLang="en-US" sz="1050" dirty="0">
                <a:latin typeface="游ゴシック" panose="020B0400000000000000" pitchFamily="50" charset="-128"/>
                <a:ea typeface="游ゴシック" panose="020B0400000000000000" pitchFamily="50" charset="-128"/>
              </a:rPr>
              <a:t>・</a:t>
            </a:r>
            <a:r>
              <a:rPr lang="en-US" altLang="ja-JP" sz="1050" dirty="0">
                <a:latin typeface="游ゴシック" panose="020B0400000000000000" pitchFamily="50" charset="-128"/>
                <a:ea typeface="游ゴシック" panose="020B0400000000000000" pitchFamily="50" charset="-128"/>
              </a:rPr>
              <a:t>193</a:t>
            </a:r>
            <a:r>
              <a:rPr lang="ja-JP" altLang="en-US" sz="1050" dirty="0">
                <a:latin typeface="游ゴシック" panose="020B0400000000000000" pitchFamily="50" charset="-128"/>
                <a:ea typeface="游ゴシック" panose="020B0400000000000000" pitchFamily="50" charset="-128"/>
              </a:rPr>
              <a:t>百万円を保有し、有利子負債計</a:t>
            </a:r>
            <a:r>
              <a:rPr lang="en-US" altLang="ja-JP" sz="1050" dirty="0">
                <a:latin typeface="游ゴシック" panose="020B0400000000000000" pitchFamily="50" charset="-128"/>
                <a:ea typeface="游ゴシック" panose="020B0400000000000000" pitchFamily="50" charset="-128"/>
              </a:rPr>
              <a:t>188</a:t>
            </a:r>
            <a:r>
              <a:rPr lang="ja-JP" altLang="en-US" sz="1050" dirty="0">
                <a:latin typeface="游ゴシック" panose="020B0400000000000000" pitchFamily="50" charset="-128"/>
                <a:ea typeface="游ゴシック" panose="020B0400000000000000" pitchFamily="50" charset="-128"/>
              </a:rPr>
              <a:t>百万円を上回る</a:t>
            </a:r>
          </a:p>
          <a:p>
            <a:endParaRPr lang="ja-JP" altLang="en-US" sz="1050" dirty="0">
              <a:latin typeface="游ゴシック" panose="020B0400000000000000" pitchFamily="50" charset="-128"/>
              <a:ea typeface="游ゴシック" panose="020B0400000000000000" pitchFamily="50" charset="-128"/>
            </a:endParaRPr>
          </a:p>
          <a:p>
            <a:r>
              <a:rPr lang="ja-JP" altLang="en-US" sz="1050" dirty="0">
                <a:latin typeface="游ゴシック" panose="020B0400000000000000" pitchFamily="50" charset="-128"/>
                <a:ea typeface="游ゴシック" panose="020B0400000000000000" pitchFamily="50" charset="-128"/>
              </a:rPr>
              <a:t>≪投資有価証券・保険積立金≫</a:t>
            </a:r>
          </a:p>
          <a:p>
            <a:r>
              <a:rPr lang="ja-JP" altLang="en-US" sz="1050" dirty="0">
                <a:latin typeface="游ゴシック" panose="020B0400000000000000" pitchFamily="50" charset="-128"/>
                <a:ea typeface="游ゴシック" panose="020B0400000000000000" pitchFamily="50" charset="-128"/>
              </a:rPr>
              <a:t>・計</a:t>
            </a:r>
            <a:r>
              <a:rPr lang="en-US" altLang="ja-JP" sz="1050" dirty="0">
                <a:latin typeface="游ゴシック" panose="020B0400000000000000" pitchFamily="50" charset="-128"/>
                <a:ea typeface="游ゴシック" panose="020B0400000000000000" pitchFamily="50" charset="-128"/>
              </a:rPr>
              <a:t>319</a:t>
            </a:r>
            <a:r>
              <a:rPr lang="ja-JP" altLang="en-US" sz="1050" dirty="0">
                <a:latin typeface="游ゴシック" panose="020B0400000000000000" pitchFamily="50" charset="-128"/>
                <a:ea typeface="游ゴシック" panose="020B0400000000000000" pitchFamily="50" charset="-128"/>
              </a:rPr>
              <a:t>百万円（総資産の約</a:t>
            </a:r>
            <a:r>
              <a:rPr lang="en-US" altLang="ja-JP" sz="1050" dirty="0">
                <a:latin typeface="游ゴシック" panose="020B0400000000000000" pitchFamily="50" charset="-128"/>
                <a:ea typeface="游ゴシック" panose="020B0400000000000000" pitchFamily="50" charset="-128"/>
              </a:rPr>
              <a:t>58%</a:t>
            </a:r>
            <a:r>
              <a:rPr lang="ja-JP" altLang="en-US" sz="1050" dirty="0">
                <a:latin typeface="游ゴシック" panose="020B0400000000000000" pitchFamily="50" charset="-128"/>
                <a:ea typeface="游ゴシック" panose="020B0400000000000000" pitchFamily="50" charset="-128"/>
              </a:rPr>
              <a:t>）。いずれも会社分割により承継対象外</a:t>
            </a:r>
          </a:p>
          <a:p>
            <a:endParaRPr lang="ja-JP" altLang="en-US" sz="1050" dirty="0">
              <a:latin typeface="游ゴシック" panose="020B0400000000000000" pitchFamily="50" charset="-128"/>
              <a:ea typeface="游ゴシック" panose="020B0400000000000000" pitchFamily="50" charset="-128"/>
            </a:endParaRPr>
          </a:p>
          <a:p>
            <a:r>
              <a:rPr lang="ja-JP" altLang="en-US" sz="1050" dirty="0">
                <a:latin typeface="游ゴシック" panose="020B0400000000000000" pitchFamily="50" charset="-128"/>
                <a:ea typeface="游ゴシック" panose="020B0400000000000000" pitchFamily="50" charset="-128"/>
              </a:rPr>
              <a:t>≪会社分割≫</a:t>
            </a:r>
          </a:p>
          <a:p>
            <a:r>
              <a:rPr lang="ja-JP" altLang="en-US" sz="1050" dirty="0">
                <a:latin typeface="游ゴシック" panose="020B0400000000000000" pitchFamily="50" charset="-128"/>
                <a:ea typeface="游ゴシック" panose="020B0400000000000000" pitchFamily="50" charset="-128"/>
              </a:rPr>
              <a:t>・分割対象は投資有価証券・保険積立金・車両運搬具の計</a:t>
            </a:r>
            <a:r>
              <a:rPr lang="en-US" altLang="ja-JP" sz="1050" dirty="0">
                <a:latin typeface="游ゴシック" panose="020B0400000000000000" pitchFamily="50" charset="-128"/>
                <a:ea typeface="游ゴシック" panose="020B0400000000000000" pitchFamily="50" charset="-128"/>
              </a:rPr>
              <a:t>319,488</a:t>
            </a:r>
            <a:r>
              <a:rPr lang="ja-JP" altLang="en-US" sz="1050" dirty="0">
                <a:latin typeface="游ゴシック" panose="020B0400000000000000" pitchFamily="50" charset="-128"/>
                <a:ea typeface="游ゴシック" panose="020B0400000000000000" pitchFamily="50" charset="-128"/>
              </a:rPr>
              <a:t>千円</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5135300"/>
            <a:ext cx="4793476" cy="1373453"/>
          </a:xfrm>
          <a:prstGeom prst="rect">
            <a:avLst/>
          </a:prstGeom>
          <a:noFill/>
        </p:spPr>
        <p:txBody>
          <a:bodyPr wrap="square" lIns="288000" tIns="0" rIns="252000" bIns="0" rtlCol="0">
            <a:spAutoFit/>
          </a:bodyPr>
          <a:lstStyle/>
          <a:p>
            <a:pPr>
              <a:lnSpc>
                <a:spcPct val="150000"/>
              </a:lnSpc>
            </a:pPr>
            <a:r>
              <a:rPr sz="1050" dirty="0">
                <a:latin typeface="游ゴシック" panose="020B0400000000000000" pitchFamily="50" charset="-128"/>
                <a:ea typeface="游ゴシック" panose="020B0400000000000000" pitchFamily="50" charset="-128"/>
              </a:rPr>
              <a:t>【財務ハイライト（</a:t>
            </a:r>
            <a:r>
              <a:rPr lang="en-US" sz="1050" dirty="0">
                <a:latin typeface="游ゴシック" panose="020B0400000000000000" pitchFamily="50" charset="-128"/>
                <a:ea typeface="游ゴシック" panose="020B0400000000000000" pitchFamily="50" charset="-128"/>
              </a:rPr>
              <a:t>2026</a:t>
            </a:r>
            <a:r>
              <a:rPr sz="1050" dirty="0">
                <a:latin typeface="游ゴシック" panose="020B0400000000000000" pitchFamily="50" charset="-128"/>
                <a:ea typeface="游ゴシック" panose="020B0400000000000000" pitchFamily="50" charset="-128"/>
              </a:rPr>
              <a:t>年1月期）】</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自己資本比率</a:t>
            </a:r>
            <a:r>
              <a:rPr sz="1050" dirty="0">
                <a:latin typeface="游ゴシック" panose="020B0400000000000000" pitchFamily="50" charset="-128"/>
                <a:ea typeface="游ゴシック" panose="020B0400000000000000" pitchFamily="50" charset="-128"/>
              </a:rPr>
              <a:t>　60.6%</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純資産</a:t>
            </a:r>
            <a:r>
              <a:rPr sz="1050" dirty="0">
                <a:latin typeface="游ゴシック" panose="020B0400000000000000" pitchFamily="50" charset="-128"/>
                <a:ea typeface="游ゴシック" panose="020B0400000000000000" pitchFamily="50" charset="-128"/>
              </a:rPr>
              <a:t>　　　　333,536千円</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有利子負債</a:t>
            </a:r>
            <a:r>
              <a:rPr sz="1050" dirty="0">
                <a:latin typeface="游ゴシック" panose="020B0400000000000000" pitchFamily="50" charset="-128"/>
                <a:ea typeface="游ゴシック" panose="020B0400000000000000" pitchFamily="50" charset="-128"/>
              </a:rPr>
              <a:t>　　187,808千円</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ネットキャッシュ</a:t>
            </a:r>
            <a:r>
              <a:rPr sz="1050" dirty="0">
                <a:latin typeface="游ゴシック" panose="020B0400000000000000" pitchFamily="50" charset="-128"/>
                <a:ea typeface="游ゴシック" panose="020B0400000000000000" pitchFamily="50" charset="-128"/>
              </a:rPr>
              <a:t>　＋5,418千円</a:t>
            </a:r>
          </a:p>
          <a:p>
            <a:r>
              <a:rPr sz="1050" dirty="0">
                <a:latin typeface="游ゴシック" panose="020B0400000000000000" pitchFamily="50" charset="-128"/>
                <a:ea typeface="游ゴシック" panose="020B0400000000000000" pitchFamily="50" charset="-128"/>
              </a:rPr>
              <a:t>　（</a:t>
            </a:r>
            <a:r>
              <a:rPr sz="1050" dirty="0" err="1">
                <a:latin typeface="游ゴシック" panose="020B0400000000000000" pitchFamily="50" charset="-128"/>
                <a:ea typeface="游ゴシック" panose="020B0400000000000000" pitchFamily="50" charset="-128"/>
              </a:rPr>
              <a:t>現預金−有利子負債</a:t>
            </a:r>
            <a:r>
              <a:rPr sz="1050" dirty="0">
                <a:latin typeface="游ゴシック" panose="020B0400000000000000" pitchFamily="50" charset="-128"/>
                <a:ea typeface="游ゴシック" panose="020B0400000000000000" pitchFamily="50" charset="-128"/>
              </a:rPr>
              <a:t>）</a:t>
            </a:r>
            <a:endParaRPr lang="en-US" sz="1050" dirty="0">
              <a:latin typeface="游ゴシック" panose="020B0400000000000000" pitchFamily="50" charset="-128"/>
              <a:ea typeface="游ゴシック" panose="020B0400000000000000" pitchFamily="50" charset="-128"/>
            </a:endParaRPr>
          </a:p>
          <a:p>
            <a:endParaRPr lang="en-US" sz="1050" dirty="0">
              <a:latin typeface="游ゴシック" panose="020B0400000000000000" pitchFamily="50" charset="-128"/>
              <a:ea typeface="游ゴシック" panose="020B0400000000000000" pitchFamily="50" charset="-128"/>
            </a:endParaRPr>
          </a:p>
          <a:p>
            <a:r>
              <a:rPr lang="en-US" altLang="ja-JP" sz="1050" dirty="0">
                <a:latin typeface="游ゴシック" panose="020B0400000000000000" pitchFamily="50" charset="-128"/>
                <a:ea typeface="游ゴシック" panose="020B0400000000000000" pitchFamily="50" charset="-128"/>
              </a:rPr>
              <a:t>※</a:t>
            </a:r>
            <a:r>
              <a:rPr lang="ja-JP" altLang="en-US" sz="1050" dirty="0">
                <a:latin typeface="游ゴシック" panose="020B0400000000000000" pitchFamily="50" charset="-128"/>
                <a:ea typeface="游ゴシック" panose="020B0400000000000000" pitchFamily="50" charset="-128"/>
              </a:rPr>
              <a:t>次頁にて分割対象資産・分割後純資産の想定を記載。</a:t>
            </a:r>
            <a:endParaRPr lang="en-US" sz="1050" dirty="0">
              <a:latin typeface="游ゴシック" panose="020B0400000000000000" pitchFamily="50" charset="-128"/>
              <a:ea typeface="游ゴシック" panose="020B0400000000000000" pitchFamily="50" charset="-128"/>
            </a:endParaRPr>
          </a:p>
        </p:txBody>
      </p:sp>
      <p:graphicFrame>
        <p:nvGraphicFramePr>
          <p:cNvPr id="10" name="表 9">
            <a:extLst>
              <a:ext uri="{FF2B5EF4-FFF2-40B4-BE49-F238E27FC236}">
                <a16:creationId xmlns:a16="http://schemas.microsoft.com/office/drawing/2014/main" id="{F5731F49-F836-1BA6-CD4A-90853ACCD9AB}"/>
              </a:ext>
            </a:extLst>
          </p:cNvPr>
          <p:cNvGraphicFramePr>
            <a:graphicFrameLocks noGrp="1"/>
          </p:cNvGraphicFramePr>
          <p:nvPr>
            <p:extLst>
              <p:ext uri="{D42A27DB-BD31-4B8C-83A1-F6EECF244321}">
                <p14:modId xmlns:p14="http://schemas.microsoft.com/office/powerpoint/2010/main" val="4084131842"/>
              </p:ext>
            </p:extLst>
          </p:nvPr>
        </p:nvGraphicFramePr>
        <p:xfrm>
          <a:off x="311150" y="1582994"/>
          <a:ext cx="5034756" cy="5257536"/>
        </p:xfrm>
        <a:graphic>
          <a:graphicData uri="http://schemas.openxmlformats.org/drawingml/2006/table">
            <a:tbl>
              <a:tblPr/>
              <a:tblGrid>
                <a:gridCol w="1222365">
                  <a:extLst>
                    <a:ext uri="{9D8B030D-6E8A-4147-A177-3AD203B41FA5}">
                      <a16:colId xmlns:a16="http://schemas.microsoft.com/office/drawing/2014/main" val="3073637761"/>
                    </a:ext>
                  </a:extLst>
                </a:gridCol>
                <a:gridCol w="1222365">
                  <a:extLst>
                    <a:ext uri="{9D8B030D-6E8A-4147-A177-3AD203B41FA5}">
                      <a16:colId xmlns:a16="http://schemas.microsoft.com/office/drawing/2014/main" val="1801094248"/>
                    </a:ext>
                  </a:extLst>
                </a:gridCol>
                <a:gridCol w="145296">
                  <a:extLst>
                    <a:ext uri="{9D8B030D-6E8A-4147-A177-3AD203B41FA5}">
                      <a16:colId xmlns:a16="http://schemas.microsoft.com/office/drawing/2014/main" val="3639392303"/>
                    </a:ext>
                  </a:extLst>
                </a:gridCol>
                <a:gridCol w="1222365">
                  <a:extLst>
                    <a:ext uri="{9D8B030D-6E8A-4147-A177-3AD203B41FA5}">
                      <a16:colId xmlns:a16="http://schemas.microsoft.com/office/drawing/2014/main" val="839404913"/>
                    </a:ext>
                  </a:extLst>
                </a:gridCol>
                <a:gridCol w="1222365">
                  <a:extLst>
                    <a:ext uri="{9D8B030D-6E8A-4147-A177-3AD203B41FA5}">
                      <a16:colId xmlns:a16="http://schemas.microsoft.com/office/drawing/2014/main" val="574416629"/>
                    </a:ext>
                  </a:extLst>
                </a:gridCol>
              </a:tblGrid>
              <a:tr h="21609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21938431"/>
                  </a:ext>
                </a:extLst>
              </a:tr>
              <a:tr h="224734">
                <a:tc gridSpan="5">
                  <a:txBody>
                    <a:bodyPr/>
                    <a:lstStyle/>
                    <a:p>
                      <a:pPr algn="ctr" fontAlgn="ctr">
                        <a:buNone/>
                      </a:pPr>
                      <a:r>
                        <a:rPr lang="ja-JP" sz="1000" b="0"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95210126"/>
                  </a:ext>
                </a:extLst>
              </a:tr>
              <a:tr h="259308">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流動資産</a:t>
                      </a:r>
                    </a:p>
                  </a:txBody>
                  <a:tcPr marL="94686"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226,144</a:t>
                      </a:r>
                    </a:p>
                  </a:txBody>
                  <a:tcPr marL="0" marR="94686"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70,492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90629006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8937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193,226</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18937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41,828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515460061"/>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20,153</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9,645</a:t>
                      </a:r>
                    </a:p>
                  </a:txBody>
                  <a:tcPr marL="0" marR="0" marT="0" marB="0" anchor="ctr">
                    <a:lnL>
                      <a:noFill/>
                    </a:lnL>
                    <a:lnR>
                      <a:noFill/>
                    </a:lnR>
                    <a:lnT>
                      <a:noFill/>
                    </a:lnT>
                    <a:lnB>
                      <a:noFill/>
                    </a:lnB>
                    <a:noFill/>
                  </a:tcPr>
                </a:tc>
                <a:extLst>
                  <a:ext uri="{0D108BD9-81ED-4DB2-BD59-A6C34878D82A}">
                    <a16:rowId xmlns:a16="http://schemas.microsoft.com/office/drawing/2014/main" val="2555448954"/>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3,947</a:t>
                      </a:r>
                    </a:p>
                  </a:txBody>
                  <a:tcPr marL="0" marR="0" marT="0" marB="0" anchor="ctr">
                    <a:lnL>
                      <a:noFill/>
                    </a:lnL>
                    <a:lnR>
                      <a:noFill/>
                    </a:lnR>
                    <a:lnT>
                      <a:noFill/>
                    </a:lnT>
                    <a:lnB>
                      <a:noFill/>
                    </a:lnB>
                    <a:noFill/>
                  </a:tcPr>
                </a:tc>
                <a:extLst>
                  <a:ext uri="{0D108BD9-81ED-4DB2-BD59-A6C34878D82A}">
                    <a16:rowId xmlns:a16="http://schemas.microsoft.com/office/drawing/2014/main" val="87954572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2,930</a:t>
                      </a:r>
                    </a:p>
                  </a:txBody>
                  <a:tcPr marL="0" marR="0" marT="0" marB="0" anchor="ctr">
                    <a:lnL>
                      <a:noFill/>
                    </a:lnL>
                    <a:lnR>
                      <a:noFill/>
                    </a:lnR>
                    <a:lnT>
                      <a:noFill/>
                    </a:lnT>
                    <a:lnB>
                      <a:noFill/>
                    </a:lnB>
                    <a:noFill/>
                  </a:tcPr>
                </a:tc>
                <a:extLst>
                  <a:ext uri="{0D108BD9-81ED-4DB2-BD59-A6C34878D82A}">
                    <a16:rowId xmlns:a16="http://schemas.microsoft.com/office/drawing/2014/main" val="380996643"/>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12,055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12,018</a:t>
                      </a:r>
                    </a:p>
                  </a:txBody>
                  <a:tcPr marL="0" marR="0" marT="0" marB="0" anchor="ctr">
                    <a:lnL>
                      <a:noFill/>
                    </a:lnL>
                    <a:lnR>
                      <a:noFill/>
                    </a:lnR>
                    <a:lnT>
                      <a:noFill/>
                    </a:lnT>
                    <a:lnB>
                      <a:noFill/>
                    </a:lnB>
                    <a:noFill/>
                  </a:tcPr>
                </a:tc>
                <a:extLst>
                  <a:ext uri="{0D108BD9-81ED-4DB2-BD59-A6C34878D82A}">
                    <a16:rowId xmlns:a16="http://schemas.microsoft.com/office/drawing/2014/main" val="296204639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189372"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18937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8855345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323,863</a:t>
                      </a:r>
                    </a:p>
                  </a:txBody>
                  <a:tcPr marL="0" marR="94686"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145,980</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721571165"/>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701</a:t>
                      </a:r>
                    </a:p>
                  </a:txBody>
                  <a:tcPr marL="0" marR="94686"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145,980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69930461"/>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265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54785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91</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94686"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216,472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2202193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2,112</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88454061"/>
                  </a:ext>
                </a:extLst>
              </a:tr>
              <a:tr h="3338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275,896</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323,536</a:t>
                      </a:r>
                    </a:p>
                  </a:txBody>
                  <a:tcPr marL="0" marR="0" marT="0" marB="0" anchor="ctr">
                    <a:lnL>
                      <a:noFill/>
                    </a:lnL>
                    <a:lnR>
                      <a:noFill/>
                    </a:lnR>
                    <a:lnT>
                      <a:noFill/>
                    </a:lnT>
                    <a:lnB>
                      <a:noFill/>
                    </a:lnB>
                    <a:noFill/>
                  </a:tcPr>
                </a:tc>
                <a:extLst>
                  <a:ext uri="{0D108BD9-81ED-4DB2-BD59-A6C34878D82A}">
                    <a16:rowId xmlns:a16="http://schemas.microsoft.com/office/drawing/2014/main" val="50877618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43,327</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427628674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1996673702"/>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208</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89372"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13334113"/>
                  </a:ext>
                </a:extLst>
              </a:tr>
              <a:tr h="259308">
                <a:tc>
                  <a:txBody>
                    <a:bodyPr/>
                    <a:lstStyle/>
                    <a:p>
                      <a:pPr algn="l"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189372"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333,536</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4156717069"/>
                  </a:ext>
                </a:extLst>
              </a:tr>
              <a:tr h="333892">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550,008</a:t>
                      </a:r>
                    </a:p>
                  </a:txBody>
                  <a:tcPr marL="0" marR="9468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550,008</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944753954"/>
                  </a:ext>
                </a:extLst>
              </a:tr>
            </a:tbl>
          </a:graphicData>
        </a:graphic>
      </p:graphicFrame>
    </p:spTree>
    <p:extLst>
      <p:ext uri="{BB962C8B-B14F-4D97-AF65-F5344CB8AC3E}">
        <p14:creationId xmlns:p14="http://schemas.microsoft.com/office/powerpoint/2010/main" val="403033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3E013-DA19-05AE-2A8B-D3E19D801712}"/>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73AF8301-244E-8F3D-915C-79AA63456A7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会社分割により非事業用資産を新設会社へ切り出したうえで、カナリア社の全株式を譲受企業へ譲渡するスキームを想定。</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9449775C-18C9-088B-4174-677426BE1C74}"/>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本件想定スキーム</a:t>
            </a:r>
          </a:p>
        </p:txBody>
      </p:sp>
      <p:sp>
        <p:nvSpPr>
          <p:cNvPr id="5" name="タイトル 1">
            <a:extLst>
              <a:ext uri="{FF2B5EF4-FFF2-40B4-BE49-F238E27FC236}">
                <a16:creationId xmlns:a16="http://schemas.microsoft.com/office/drawing/2014/main" id="{DD14129A-6F85-F899-867E-82C80FFF9BD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Oval 207">
            <a:extLst>
              <a:ext uri="{FF2B5EF4-FFF2-40B4-BE49-F238E27FC236}">
                <a16:creationId xmlns:a16="http://schemas.microsoft.com/office/drawing/2014/main" id="{F272F767-2718-21F7-E6F4-1A3790AB36F3}"/>
              </a:ext>
            </a:extLst>
          </p:cNvPr>
          <p:cNvSpPr/>
          <p:nvPr/>
        </p:nvSpPr>
        <p:spPr>
          <a:xfrm>
            <a:off x="1539081" y="160645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lang="en-US" altLang="ja-JP" sz="1200" b="1" dirty="0">
              <a:solidFill>
                <a:srgbClr val="203864"/>
              </a:solidFill>
              <a:latin typeface="游ゴシック" panose="020B0400000000000000" pitchFamily="50" charset="-128"/>
              <a:ea typeface="游ゴシック" panose="020B0400000000000000" pitchFamily="50" charset="-128"/>
            </a:endParaRPr>
          </a:p>
        </p:txBody>
      </p:sp>
      <p:cxnSp>
        <p:nvCxnSpPr>
          <p:cNvPr id="4" name="Connector 208">
            <a:extLst>
              <a:ext uri="{FF2B5EF4-FFF2-40B4-BE49-F238E27FC236}">
                <a16:creationId xmlns:a16="http://schemas.microsoft.com/office/drawing/2014/main" id="{79C30249-358F-A395-8B5E-FC77ADA0F272}"/>
              </a:ext>
            </a:extLst>
          </p:cNvPr>
          <p:cNvCxnSpPr/>
          <p:nvPr/>
        </p:nvCxnSpPr>
        <p:spPr>
          <a:xfrm>
            <a:off x="2407761" y="2136808"/>
            <a:ext cx="0" cy="56692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TextBox 209">
            <a:extLst>
              <a:ext uri="{FF2B5EF4-FFF2-40B4-BE49-F238E27FC236}">
                <a16:creationId xmlns:a16="http://schemas.microsoft.com/office/drawing/2014/main" id="{AC7FE63F-C5A3-4857-2AC9-78B478C7F6F9}"/>
              </a:ext>
            </a:extLst>
          </p:cNvPr>
          <p:cNvSpPr txBox="1"/>
          <p:nvPr/>
        </p:nvSpPr>
        <p:spPr>
          <a:xfrm>
            <a:off x="2614659" y="2301400"/>
            <a:ext cx="628698" cy="253916"/>
          </a:xfrm>
          <a:prstGeom prst="rect">
            <a:avLst/>
          </a:prstGeom>
          <a:noFill/>
        </p:spPr>
        <p:txBody>
          <a:bodyPr wrap="none">
            <a:spAutoFit/>
          </a:bodyPr>
          <a:lstStyle/>
          <a:p>
            <a:pPr algn="ctr"/>
            <a:r>
              <a:rPr sz="1050" dirty="0">
                <a:solidFill>
                  <a:schemeClr val="tx1"/>
                </a:solidFill>
                <a:latin typeface="游ゴシック" panose="020B0400000000000000" pitchFamily="50" charset="-128"/>
                <a:ea typeface="游ゴシック" panose="020B0400000000000000" pitchFamily="50" charset="-128"/>
              </a:rPr>
              <a:t>100.0%</a:t>
            </a:r>
          </a:p>
        </p:txBody>
      </p:sp>
      <p:sp>
        <p:nvSpPr>
          <p:cNvPr id="12" name="Rectangle 210">
            <a:extLst>
              <a:ext uri="{FF2B5EF4-FFF2-40B4-BE49-F238E27FC236}">
                <a16:creationId xmlns:a16="http://schemas.microsoft.com/office/drawing/2014/main" id="{ADC62F02-260B-543D-6AD8-11231D87DD98}"/>
              </a:ext>
            </a:extLst>
          </p:cNvPr>
          <p:cNvSpPr/>
          <p:nvPr/>
        </p:nvSpPr>
        <p:spPr>
          <a:xfrm>
            <a:off x="1081881" y="2703736"/>
            <a:ext cx="2651760" cy="2505456"/>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5" name="TextBox 211">
            <a:extLst>
              <a:ext uri="{FF2B5EF4-FFF2-40B4-BE49-F238E27FC236}">
                <a16:creationId xmlns:a16="http://schemas.microsoft.com/office/drawing/2014/main" id="{EB37A077-2023-6B36-9199-111ABB85C1F5}"/>
              </a:ext>
            </a:extLst>
          </p:cNvPr>
          <p:cNvSpPr txBox="1"/>
          <p:nvPr/>
        </p:nvSpPr>
        <p:spPr>
          <a:xfrm>
            <a:off x="1597283" y="275860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17" name="Rectangle 212">
            <a:extLst>
              <a:ext uri="{FF2B5EF4-FFF2-40B4-BE49-F238E27FC236}">
                <a16:creationId xmlns:a16="http://schemas.microsoft.com/office/drawing/2014/main" id="{36F4CA31-7A1A-49BA-7063-A873F9BF1917}"/>
              </a:ext>
            </a:extLst>
          </p:cNvPr>
          <p:cNvSpPr/>
          <p:nvPr/>
        </p:nvSpPr>
        <p:spPr>
          <a:xfrm>
            <a:off x="1246473" y="3069496"/>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キャラクターグッズ企画・製造販売</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ライセンス／版権商品</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18" name="Rectangle 213">
            <a:extLst>
              <a:ext uri="{FF2B5EF4-FFF2-40B4-BE49-F238E27FC236}">
                <a16:creationId xmlns:a16="http://schemas.microsoft.com/office/drawing/2014/main" id="{0F8F4BBE-D95B-1456-3F47-B57E092A9EAB}"/>
              </a:ext>
            </a:extLst>
          </p:cNvPr>
          <p:cNvSpPr/>
          <p:nvPr/>
        </p:nvSpPr>
        <p:spPr>
          <a:xfrm>
            <a:off x="1246473" y="3764440"/>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sp>
        <p:nvSpPr>
          <p:cNvPr id="19" name="Rectangle 214">
            <a:extLst>
              <a:ext uri="{FF2B5EF4-FFF2-40B4-BE49-F238E27FC236}">
                <a16:creationId xmlns:a16="http://schemas.microsoft.com/office/drawing/2014/main" id="{B170BB95-C8B8-9628-1A61-1D0C6B8C81E4}"/>
              </a:ext>
            </a:extLst>
          </p:cNvPr>
          <p:cNvSpPr/>
          <p:nvPr/>
        </p:nvSpPr>
        <p:spPr>
          <a:xfrm>
            <a:off x="1246473" y="4459384"/>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投資有価証券・保険積立金・車両</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20" name="Right Arrow 215">
            <a:extLst>
              <a:ext uri="{FF2B5EF4-FFF2-40B4-BE49-F238E27FC236}">
                <a16:creationId xmlns:a16="http://schemas.microsoft.com/office/drawing/2014/main" id="{31F0E46E-60BB-B0A0-F2E3-C0B4B196EF12}"/>
              </a:ext>
            </a:extLst>
          </p:cNvPr>
          <p:cNvSpPr/>
          <p:nvPr/>
        </p:nvSpPr>
        <p:spPr>
          <a:xfrm>
            <a:off x="4277708" y="3401132"/>
            <a:ext cx="731520" cy="1005840"/>
          </a:xfrm>
          <a:prstGeom prst="rightArrow">
            <a:avLst/>
          </a:prstGeom>
          <a:solidFill>
            <a:srgbClr val="D9E2F3"/>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1" name="Oval 216">
            <a:extLst>
              <a:ext uri="{FF2B5EF4-FFF2-40B4-BE49-F238E27FC236}">
                <a16:creationId xmlns:a16="http://schemas.microsoft.com/office/drawing/2014/main" id="{9C868526-F349-7287-B11A-7E3540DFBC29}"/>
              </a:ext>
            </a:extLst>
          </p:cNvPr>
          <p:cNvSpPr/>
          <p:nvPr/>
        </p:nvSpPr>
        <p:spPr>
          <a:xfrm>
            <a:off x="6742016" y="151501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譲受企業</a:t>
            </a:r>
            <a:r>
              <a:rPr lang="ja-JP" altLang="en-US" sz="1200" b="1" dirty="0">
                <a:solidFill>
                  <a:srgbClr val="203864"/>
                </a:solidFill>
                <a:latin typeface="游ゴシック" panose="020B0400000000000000" pitchFamily="50" charset="-128"/>
                <a:ea typeface="游ゴシック" panose="020B0400000000000000" pitchFamily="50" charset="-128"/>
              </a:rPr>
              <a:t>様</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23" name="Connector 217">
            <a:extLst>
              <a:ext uri="{FF2B5EF4-FFF2-40B4-BE49-F238E27FC236}">
                <a16:creationId xmlns:a16="http://schemas.microsoft.com/office/drawing/2014/main" id="{B31F2772-D857-8E6E-42CF-C8D4084DE151}"/>
              </a:ext>
            </a:extLst>
          </p:cNvPr>
          <p:cNvCxnSpPr/>
          <p:nvPr/>
        </p:nvCxnSpPr>
        <p:spPr>
          <a:xfrm>
            <a:off x="7610696" y="204536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24" name="TextBox 218">
            <a:extLst>
              <a:ext uri="{FF2B5EF4-FFF2-40B4-BE49-F238E27FC236}">
                <a16:creationId xmlns:a16="http://schemas.microsoft.com/office/drawing/2014/main" id="{9D0D7E35-0F11-1EAE-EE09-3087FA45879F}"/>
              </a:ext>
            </a:extLst>
          </p:cNvPr>
          <p:cNvSpPr txBox="1"/>
          <p:nvPr/>
        </p:nvSpPr>
        <p:spPr>
          <a:xfrm>
            <a:off x="7872420" y="211852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26" name="Rectangle 219">
            <a:extLst>
              <a:ext uri="{FF2B5EF4-FFF2-40B4-BE49-F238E27FC236}">
                <a16:creationId xmlns:a16="http://schemas.microsoft.com/office/drawing/2014/main" id="{67051159-10E3-ACD5-B081-EB7055BC1FE1}"/>
              </a:ext>
            </a:extLst>
          </p:cNvPr>
          <p:cNvSpPr/>
          <p:nvPr/>
        </p:nvSpPr>
        <p:spPr>
          <a:xfrm>
            <a:off x="5553296" y="2429416"/>
            <a:ext cx="4114800" cy="1572768"/>
          </a:xfrm>
          <a:prstGeom prst="rect">
            <a:avLst/>
          </a:prstGeom>
          <a:no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7" name="TextBox 220">
            <a:extLst>
              <a:ext uri="{FF2B5EF4-FFF2-40B4-BE49-F238E27FC236}">
                <a16:creationId xmlns:a16="http://schemas.microsoft.com/office/drawing/2014/main" id="{9AD26F55-75F3-13E6-65E2-2B35912E170D}"/>
              </a:ext>
            </a:extLst>
          </p:cNvPr>
          <p:cNvSpPr txBox="1"/>
          <p:nvPr/>
        </p:nvSpPr>
        <p:spPr>
          <a:xfrm>
            <a:off x="6800218" y="248428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28" name="Rectangle 221">
            <a:extLst>
              <a:ext uri="{FF2B5EF4-FFF2-40B4-BE49-F238E27FC236}">
                <a16:creationId xmlns:a16="http://schemas.microsoft.com/office/drawing/2014/main" id="{BA8449E7-E4E1-48EC-35CC-A63577C09DBB}"/>
              </a:ext>
            </a:extLst>
          </p:cNvPr>
          <p:cNvSpPr/>
          <p:nvPr/>
        </p:nvSpPr>
        <p:spPr>
          <a:xfrm>
            <a:off x="5717888" y="2795176"/>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キャラクターグッズ企画・製造販売（ライセンス）</a:t>
            </a:r>
          </a:p>
        </p:txBody>
      </p:sp>
      <p:sp>
        <p:nvSpPr>
          <p:cNvPr id="29" name="Rectangle 222">
            <a:extLst>
              <a:ext uri="{FF2B5EF4-FFF2-40B4-BE49-F238E27FC236}">
                <a16:creationId xmlns:a16="http://schemas.microsoft.com/office/drawing/2014/main" id="{B9FDA1B3-210F-E991-2832-C95EDA245858}"/>
              </a:ext>
            </a:extLst>
          </p:cNvPr>
          <p:cNvSpPr/>
          <p:nvPr/>
        </p:nvSpPr>
        <p:spPr>
          <a:xfrm>
            <a:off x="5717888" y="3288952"/>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cxnSp>
        <p:nvCxnSpPr>
          <p:cNvPr id="30" name="Connector 223">
            <a:extLst>
              <a:ext uri="{FF2B5EF4-FFF2-40B4-BE49-F238E27FC236}">
                <a16:creationId xmlns:a16="http://schemas.microsoft.com/office/drawing/2014/main" id="{EBC8B16D-FFC0-639C-C729-B3ECDC0D88B1}"/>
              </a:ext>
            </a:extLst>
          </p:cNvPr>
          <p:cNvCxnSpPr/>
          <p:nvPr/>
        </p:nvCxnSpPr>
        <p:spPr>
          <a:xfrm>
            <a:off x="5278976" y="4258216"/>
            <a:ext cx="4572000" cy="0"/>
          </a:xfrm>
          <a:prstGeom prst="line">
            <a:avLst/>
          </a:prstGeom>
          <a:ln w="15875">
            <a:solidFill>
              <a:srgbClr val="203864"/>
            </a:solidFill>
          </a:ln>
        </p:spPr>
        <p:style>
          <a:lnRef idx="2">
            <a:schemeClr val="accent1"/>
          </a:lnRef>
          <a:fillRef idx="0">
            <a:schemeClr val="accent1"/>
          </a:fillRef>
          <a:effectRef idx="1">
            <a:schemeClr val="accent1"/>
          </a:effectRef>
          <a:fontRef idx="minor">
            <a:schemeClr val="tx1"/>
          </a:fontRef>
        </p:style>
      </p:cxnSp>
      <p:sp>
        <p:nvSpPr>
          <p:cNvPr id="31" name="Oval 224">
            <a:extLst>
              <a:ext uri="{FF2B5EF4-FFF2-40B4-BE49-F238E27FC236}">
                <a16:creationId xmlns:a16="http://schemas.microsoft.com/office/drawing/2014/main" id="{0C0C52B3-12D1-A809-3E74-590EFB48F891}"/>
              </a:ext>
            </a:extLst>
          </p:cNvPr>
          <p:cNvSpPr/>
          <p:nvPr/>
        </p:nvSpPr>
        <p:spPr>
          <a:xfrm>
            <a:off x="6742016" y="453253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32" name="Connector 225">
            <a:extLst>
              <a:ext uri="{FF2B5EF4-FFF2-40B4-BE49-F238E27FC236}">
                <a16:creationId xmlns:a16="http://schemas.microsoft.com/office/drawing/2014/main" id="{35D0AEF3-95BD-099B-1326-0CD306882327}"/>
              </a:ext>
            </a:extLst>
          </p:cNvPr>
          <p:cNvCxnSpPr/>
          <p:nvPr/>
        </p:nvCxnSpPr>
        <p:spPr>
          <a:xfrm>
            <a:off x="7610696" y="506288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3" name="TextBox 226">
            <a:extLst>
              <a:ext uri="{FF2B5EF4-FFF2-40B4-BE49-F238E27FC236}">
                <a16:creationId xmlns:a16="http://schemas.microsoft.com/office/drawing/2014/main" id="{7855AAF9-5643-288F-49D3-C92AC4781A0B}"/>
              </a:ext>
            </a:extLst>
          </p:cNvPr>
          <p:cNvSpPr txBox="1"/>
          <p:nvPr/>
        </p:nvSpPr>
        <p:spPr>
          <a:xfrm>
            <a:off x="7872420" y="513604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34" name="Rectangle 227">
            <a:extLst>
              <a:ext uri="{FF2B5EF4-FFF2-40B4-BE49-F238E27FC236}">
                <a16:creationId xmlns:a16="http://schemas.microsoft.com/office/drawing/2014/main" id="{63C94D1E-16D0-F816-5FA0-9A16E42C48A4}"/>
              </a:ext>
            </a:extLst>
          </p:cNvPr>
          <p:cNvSpPr/>
          <p:nvPr/>
        </p:nvSpPr>
        <p:spPr>
          <a:xfrm>
            <a:off x="5553296" y="5446936"/>
            <a:ext cx="4114800" cy="1188720"/>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TextBox 228">
            <a:extLst>
              <a:ext uri="{FF2B5EF4-FFF2-40B4-BE49-F238E27FC236}">
                <a16:creationId xmlns:a16="http://schemas.microsoft.com/office/drawing/2014/main" id="{1B0A2BD3-4A71-487E-6285-91A67B30A439}"/>
              </a:ext>
            </a:extLst>
          </p:cNvPr>
          <p:cNvSpPr txBox="1"/>
          <p:nvPr/>
        </p:nvSpPr>
        <p:spPr>
          <a:xfrm>
            <a:off x="6171841" y="5501800"/>
            <a:ext cx="2877711"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新設会社（会社分割により新設）</a:t>
            </a:r>
          </a:p>
        </p:txBody>
      </p:sp>
      <p:sp>
        <p:nvSpPr>
          <p:cNvPr id="36" name="Rectangle 229">
            <a:extLst>
              <a:ext uri="{FF2B5EF4-FFF2-40B4-BE49-F238E27FC236}">
                <a16:creationId xmlns:a16="http://schemas.microsoft.com/office/drawing/2014/main" id="{FB316913-06E4-F642-94DB-EB41E3442339}"/>
              </a:ext>
            </a:extLst>
          </p:cNvPr>
          <p:cNvSpPr/>
          <p:nvPr/>
        </p:nvSpPr>
        <p:spPr>
          <a:xfrm>
            <a:off x="5717888" y="5812696"/>
            <a:ext cx="3785615"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a:t>
            </a:r>
            <a:r>
              <a:rPr sz="1050" b="1" dirty="0">
                <a:solidFill>
                  <a:srgbClr val="FFFFFF"/>
                </a:solidFill>
                <a:latin typeface="游ゴシック" panose="020B0400000000000000" pitchFamily="50" charset="-128"/>
                <a:ea typeface="游ゴシック" panose="020B0400000000000000" pitchFamily="50" charset="-128"/>
              </a:rPr>
              <a:t>・</a:t>
            </a:r>
            <a:r>
              <a:rPr lang="ja-JP" altLang="en-US" sz="1050" b="1" dirty="0">
                <a:solidFill>
                  <a:srgbClr val="FFFFFF"/>
                </a:solidFill>
                <a:latin typeface="游ゴシック" panose="020B0400000000000000" pitchFamily="50" charset="-128"/>
                <a:ea typeface="游ゴシック" panose="020B0400000000000000" pitchFamily="50" charset="-128"/>
              </a:rPr>
              <a:t>私用</a:t>
            </a:r>
            <a:r>
              <a:rPr sz="1050" b="1" dirty="0" err="1">
                <a:solidFill>
                  <a:srgbClr val="FFFFFF"/>
                </a:solidFill>
                <a:latin typeface="游ゴシック" panose="020B0400000000000000" pitchFamily="50" charset="-128"/>
                <a:ea typeface="游ゴシック" panose="020B0400000000000000" pitchFamily="50" charset="-128"/>
              </a:rPr>
              <a:t>車両</a:t>
            </a:r>
            <a:r>
              <a:rPr lang="ja-JP" altLang="en-US" sz="1050" b="1" dirty="0">
                <a:solidFill>
                  <a:srgbClr val="FFFFFF"/>
                </a:solidFill>
                <a:latin typeface="游ゴシック" panose="020B0400000000000000" pitchFamily="50" charset="-128"/>
                <a:ea typeface="游ゴシック" panose="020B0400000000000000" pitchFamily="50" charset="-128"/>
              </a:rPr>
              <a:t>等</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37" name="TextBox 230">
            <a:extLst>
              <a:ext uri="{FF2B5EF4-FFF2-40B4-BE49-F238E27FC236}">
                <a16:creationId xmlns:a16="http://schemas.microsoft.com/office/drawing/2014/main" id="{1335DCF4-AC98-33FF-C316-DB0EE62687A5}"/>
              </a:ext>
            </a:extLst>
          </p:cNvPr>
          <p:cNvSpPr txBox="1"/>
          <p:nvPr/>
        </p:nvSpPr>
        <p:spPr>
          <a:xfrm>
            <a:off x="311150" y="6736198"/>
            <a:ext cx="8631936" cy="246221"/>
          </a:xfrm>
          <a:prstGeom prst="rect">
            <a:avLst/>
          </a:prstGeom>
          <a:noFill/>
        </p:spPr>
        <p:txBody>
          <a:bodyPr wrap="square">
            <a:spAutoFit/>
          </a:bodyPr>
          <a:lstStyle/>
          <a:p>
            <a:r>
              <a:rPr sz="1000" dirty="0">
                <a:solidFill>
                  <a:schemeClr val="tx1"/>
                </a:solidFill>
                <a:latin typeface="游ゴシック" panose="020B0400000000000000" pitchFamily="50" charset="-128"/>
                <a:ea typeface="游ゴシック" panose="020B0400000000000000" pitchFamily="50" charset="-128"/>
              </a:rPr>
              <a:t>※ </a:t>
            </a:r>
            <a:r>
              <a:rPr sz="1000" dirty="0" err="1">
                <a:solidFill>
                  <a:schemeClr val="tx1"/>
                </a:solidFill>
                <a:latin typeface="游ゴシック" panose="020B0400000000000000" pitchFamily="50" charset="-128"/>
                <a:ea typeface="游ゴシック" panose="020B0400000000000000" pitchFamily="50" charset="-128"/>
              </a:rPr>
              <a:t>分割の形態（分割型／分社型）及び分割対象資産の範囲は</a:t>
            </a:r>
            <a:r>
              <a:rPr sz="1000" dirty="0">
                <a:solidFill>
                  <a:schemeClr val="tx1"/>
                </a:solidFill>
                <a:latin typeface="游ゴシック" panose="020B0400000000000000" pitchFamily="50" charset="-128"/>
                <a:ea typeface="游ゴシック" panose="020B0400000000000000" pitchFamily="50" charset="-128"/>
              </a:rPr>
              <a:t>、</a:t>
            </a:r>
            <a:r>
              <a:rPr lang="ja-JP" altLang="en-US" sz="1000" dirty="0">
                <a:solidFill>
                  <a:schemeClr val="tx1"/>
                </a:solidFill>
                <a:latin typeface="游ゴシック" panose="020B0400000000000000" pitchFamily="50" charset="-128"/>
                <a:ea typeface="游ゴシック" panose="020B0400000000000000" pitchFamily="50" charset="-128"/>
              </a:rPr>
              <a:t>野口社長</a:t>
            </a:r>
            <a:r>
              <a:rPr sz="1000" dirty="0" err="1">
                <a:solidFill>
                  <a:schemeClr val="tx1"/>
                </a:solidFill>
                <a:latin typeface="游ゴシック" panose="020B0400000000000000" pitchFamily="50" charset="-128"/>
                <a:ea typeface="游ゴシック" panose="020B0400000000000000" pitchFamily="50" charset="-128"/>
              </a:rPr>
              <a:t>のご意向及び税務上の適格要件を踏まえ、今後の協議事項となります</a:t>
            </a:r>
            <a:r>
              <a:rPr sz="1000" dirty="0">
                <a:solidFill>
                  <a:schemeClr val="tx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827798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E677-ACC7-5852-DFD3-C85050A87990}"/>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658A40E1-14F8-2C7C-DAC2-9B87C8B27DAA}"/>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2026</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月期末の</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をベースに、新設分割により非事業用資産（投資有価証券・保険積立金・車両運搬具・ホテル会員権等）を新設会社へ承継予定。対象会社には事業用資産及び負債を残置し、現預金も全額残置する前提。</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0DBE834C-A4F7-8C19-37D2-F083D9834E6F}"/>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会社分割スキームの前提整理</a:t>
            </a:r>
          </a:p>
        </p:txBody>
      </p:sp>
      <p:sp>
        <p:nvSpPr>
          <p:cNvPr id="5" name="タイトル 1">
            <a:extLst>
              <a:ext uri="{FF2B5EF4-FFF2-40B4-BE49-F238E27FC236}">
                <a16:creationId xmlns:a16="http://schemas.microsoft.com/office/drawing/2014/main" id="{D84B8FE4-D437-F5A7-4998-C113D7DF03A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Rectangle 207">
            <a:extLst>
              <a:ext uri="{FF2B5EF4-FFF2-40B4-BE49-F238E27FC236}">
                <a16:creationId xmlns:a16="http://schemas.microsoft.com/office/drawing/2014/main" id="{B9932332-23A0-6BA1-1448-7C4C634E4D4A}"/>
              </a:ext>
            </a:extLst>
          </p:cNvPr>
          <p:cNvSpPr/>
          <p:nvPr/>
        </p:nvSpPr>
        <p:spPr>
          <a:xfrm>
            <a:off x="767615" y="2261808"/>
            <a:ext cx="3000052"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6" name="Rectangle 208">
            <a:extLst>
              <a:ext uri="{FF2B5EF4-FFF2-40B4-BE49-F238E27FC236}">
                <a16:creationId xmlns:a16="http://schemas.microsoft.com/office/drawing/2014/main" id="{C7DDC0C1-7D16-165F-340A-691FF678B402}"/>
              </a:ext>
            </a:extLst>
          </p:cNvPr>
          <p:cNvSpPr/>
          <p:nvPr/>
        </p:nvSpPr>
        <p:spPr>
          <a:xfrm>
            <a:off x="767615" y="2261808"/>
            <a:ext cx="3000052"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現状｜株式会社カナリア</a:t>
            </a:r>
          </a:p>
        </p:txBody>
      </p:sp>
      <p:sp>
        <p:nvSpPr>
          <p:cNvPr id="8" name="TextBox 209">
            <a:extLst>
              <a:ext uri="{FF2B5EF4-FFF2-40B4-BE49-F238E27FC236}">
                <a16:creationId xmlns:a16="http://schemas.microsoft.com/office/drawing/2014/main" id="{E07D3592-713E-F2A7-2C81-D4F52F1970EF}"/>
              </a:ext>
            </a:extLst>
          </p:cNvPr>
          <p:cNvSpPr txBox="1"/>
          <p:nvPr/>
        </p:nvSpPr>
        <p:spPr>
          <a:xfrm>
            <a:off x="804191" y="2791628"/>
            <a:ext cx="2963476" cy="1916576"/>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① キャラクターグッズ企画・製造販売事業</a:t>
            </a:r>
          </a:p>
          <a:p>
            <a:pPr algn="l"/>
            <a:r>
              <a:rPr lang="ja-JP" sz="1100" b="0" dirty="0">
                <a:solidFill>
                  <a:srgbClr val="000000"/>
                </a:solidFill>
                <a:latin typeface="游ゴシック" panose="020B0400000000000000" pitchFamily="50" charset="-128"/>
                <a:ea typeface="游ゴシック" panose="020B0400000000000000" pitchFamily="50" charset="-128"/>
              </a:rPr>
              <a:t>　（ライセンス／版権商品）</a:t>
            </a:r>
          </a:p>
          <a:p>
            <a:pPr algn="l"/>
            <a:r>
              <a:rPr lang="ja-JP" sz="1100" b="0" dirty="0">
                <a:solidFill>
                  <a:srgbClr val="000000"/>
                </a:solidFill>
                <a:latin typeface="游ゴシック" panose="020B0400000000000000" pitchFamily="50" charset="-128"/>
                <a:ea typeface="游ゴシック" panose="020B0400000000000000" pitchFamily="50" charset="-128"/>
              </a:rPr>
              <a:t>② 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③ 非事業用資産の保有</a:t>
            </a:r>
          </a:p>
          <a:p>
            <a:pPr algn="l"/>
            <a:r>
              <a:rPr lang="ja-JP" sz="1100" b="0" dirty="0">
                <a:solidFill>
                  <a:srgbClr val="000000"/>
                </a:solidFill>
                <a:latin typeface="游ゴシック" panose="020B0400000000000000" pitchFamily="50" charset="-128"/>
                <a:ea typeface="游ゴシック" panose="020B0400000000000000" pitchFamily="50" charset="-128"/>
              </a:rPr>
              <a:t>─────────────</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a:t>
            </a: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a:t>
            </a:r>
          </a:p>
          <a:p>
            <a:pPr algn="l"/>
            <a:r>
              <a:rPr lang="ja-JP" sz="1100" b="0" dirty="0">
                <a:solidFill>
                  <a:srgbClr val="000000"/>
                </a:solidFill>
                <a:latin typeface="游ゴシック" panose="020B0400000000000000" pitchFamily="50" charset="-128"/>
                <a:ea typeface="游ゴシック" panose="020B0400000000000000" pitchFamily="50" charset="-128"/>
              </a:rPr>
              <a:t>その他資産・負債</a:t>
            </a:r>
          </a:p>
        </p:txBody>
      </p:sp>
      <p:sp>
        <p:nvSpPr>
          <p:cNvPr id="10" name="Right Arrow 210">
            <a:extLst>
              <a:ext uri="{FF2B5EF4-FFF2-40B4-BE49-F238E27FC236}">
                <a16:creationId xmlns:a16="http://schemas.microsoft.com/office/drawing/2014/main" id="{3E9F9558-9466-E6AE-1984-E4CDEB282F5D}"/>
              </a:ext>
            </a:extLst>
          </p:cNvPr>
          <p:cNvSpPr/>
          <p:nvPr/>
        </p:nvSpPr>
        <p:spPr>
          <a:xfrm>
            <a:off x="4211108" y="3907728"/>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100" b="1" dirty="0">
                <a:solidFill>
                  <a:srgbClr val="203864"/>
                </a:solidFill>
                <a:latin typeface="游ゴシック" panose="020B0400000000000000" pitchFamily="50" charset="-128"/>
                <a:ea typeface="游ゴシック" panose="020B0400000000000000" pitchFamily="50" charset="-128"/>
              </a:rPr>
              <a:t>新設分割</a:t>
            </a:r>
          </a:p>
        </p:txBody>
      </p:sp>
      <p:sp>
        <p:nvSpPr>
          <p:cNvPr id="12" name="Rectangle 211">
            <a:extLst>
              <a:ext uri="{FF2B5EF4-FFF2-40B4-BE49-F238E27FC236}">
                <a16:creationId xmlns:a16="http://schemas.microsoft.com/office/drawing/2014/main" id="{F60AC12B-9A92-48AC-4FD2-98D312386351}"/>
              </a:ext>
            </a:extLst>
          </p:cNvPr>
          <p:cNvSpPr/>
          <p:nvPr/>
        </p:nvSpPr>
        <p:spPr>
          <a:xfrm>
            <a:off x="5407348" y="2261808"/>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16" name="Rectangle 212">
            <a:extLst>
              <a:ext uri="{FF2B5EF4-FFF2-40B4-BE49-F238E27FC236}">
                <a16:creationId xmlns:a16="http://schemas.microsoft.com/office/drawing/2014/main" id="{2C18D348-17BD-EC93-FE52-E23DA5B733B5}"/>
              </a:ext>
            </a:extLst>
          </p:cNvPr>
          <p:cNvSpPr/>
          <p:nvPr/>
        </p:nvSpPr>
        <p:spPr>
          <a:xfrm>
            <a:off x="5407348" y="2261808"/>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対象会社（株式会社カナリア）｜株式100%譲渡</a:t>
            </a:r>
          </a:p>
        </p:txBody>
      </p:sp>
      <p:sp>
        <p:nvSpPr>
          <p:cNvPr id="18" name="TextBox 213">
            <a:extLst>
              <a:ext uri="{FF2B5EF4-FFF2-40B4-BE49-F238E27FC236}">
                <a16:creationId xmlns:a16="http://schemas.microsoft.com/office/drawing/2014/main" id="{416B79B9-CD3C-F06E-6489-E3A1BB1DFB46}"/>
              </a:ext>
            </a:extLst>
          </p:cNvPr>
          <p:cNvSpPr txBox="1"/>
          <p:nvPr/>
        </p:nvSpPr>
        <p:spPr>
          <a:xfrm>
            <a:off x="5544508" y="2719008"/>
            <a:ext cx="4434840" cy="900913"/>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・キャラクターグッズ企画・製造販売／OEM受託事業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　（従業員・取引先契約・事業用資産）</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193,226千円（全額残置）</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187,808千円ほか負債を残置</a:t>
            </a:r>
          </a:p>
          <a:p>
            <a:pPr algn="l"/>
            <a:r>
              <a:rPr lang="ja-JP" sz="1100" b="0" dirty="0">
                <a:solidFill>
                  <a:srgbClr val="000000"/>
                </a:solidFill>
                <a:latin typeface="游ゴシック" panose="020B0400000000000000" pitchFamily="50" charset="-128"/>
                <a:ea typeface="游ゴシック" panose="020B0400000000000000" pitchFamily="50" charset="-128"/>
              </a:rPr>
              <a:t>　→ ネットキャッシュ ＋5,418千円</a:t>
            </a:r>
          </a:p>
        </p:txBody>
      </p:sp>
      <p:sp>
        <p:nvSpPr>
          <p:cNvPr id="20" name="Rectangle 214">
            <a:extLst>
              <a:ext uri="{FF2B5EF4-FFF2-40B4-BE49-F238E27FC236}">
                <a16:creationId xmlns:a16="http://schemas.microsoft.com/office/drawing/2014/main" id="{521B143B-046A-BD2F-0F98-F75618EAC405}"/>
              </a:ext>
            </a:extLst>
          </p:cNvPr>
          <p:cNvSpPr/>
          <p:nvPr/>
        </p:nvSpPr>
        <p:spPr>
          <a:xfrm>
            <a:off x="5407348" y="4593528"/>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22" name="Rectangle 215">
            <a:extLst>
              <a:ext uri="{FF2B5EF4-FFF2-40B4-BE49-F238E27FC236}">
                <a16:creationId xmlns:a16="http://schemas.microsoft.com/office/drawing/2014/main" id="{70115902-F548-75B0-25C1-B7F1BD8F3D35}"/>
              </a:ext>
            </a:extLst>
          </p:cNvPr>
          <p:cNvSpPr/>
          <p:nvPr/>
        </p:nvSpPr>
        <p:spPr>
          <a:xfrm>
            <a:off x="5407348" y="4593528"/>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新設会社（売主</a:t>
            </a:r>
            <a:r>
              <a:rPr lang="ja-JP" altLang="en-US" sz="1200" b="1" dirty="0">
                <a:solidFill>
                  <a:srgbClr val="FFFFFF"/>
                </a:solidFill>
                <a:latin typeface="游ゴシック" panose="020B0400000000000000" pitchFamily="50" charset="-128"/>
                <a:ea typeface="游ゴシック" panose="020B0400000000000000" pitchFamily="50" charset="-128"/>
              </a:rPr>
              <a:t>様</a:t>
            </a:r>
            <a:r>
              <a:rPr lang="ja-JP" sz="1200" b="1" dirty="0">
                <a:solidFill>
                  <a:srgbClr val="FFFFFF"/>
                </a:solidFill>
                <a:latin typeface="游ゴシック" panose="020B0400000000000000" pitchFamily="50" charset="-128"/>
                <a:ea typeface="游ゴシック" panose="020B0400000000000000" pitchFamily="50" charset="-128"/>
              </a:rPr>
              <a:t>側に残置）</a:t>
            </a:r>
          </a:p>
        </p:txBody>
      </p:sp>
      <p:sp>
        <p:nvSpPr>
          <p:cNvPr id="24" name="TextBox 216">
            <a:extLst>
              <a:ext uri="{FF2B5EF4-FFF2-40B4-BE49-F238E27FC236}">
                <a16:creationId xmlns:a16="http://schemas.microsoft.com/office/drawing/2014/main" id="{037C70A6-3F1B-AF3B-755A-AE003B1D8967}"/>
              </a:ext>
            </a:extLst>
          </p:cNvPr>
          <p:cNvSpPr txBox="1"/>
          <p:nvPr/>
        </p:nvSpPr>
        <p:spPr>
          <a:xfrm>
            <a:off x="5544508" y="5050728"/>
            <a:ext cx="4434840" cy="1070190"/>
          </a:xfrm>
          <a:prstGeom prst="rect">
            <a:avLst/>
          </a:prstGeom>
          <a:noFill/>
        </p:spPr>
        <p:txBody>
          <a:bodyPr wrap="square" lIns="54000" tIns="27000" rIns="54000" bIns="27000" anchor="t">
            <a:spAutoFit/>
          </a:bodyPr>
          <a:lstStyle/>
          <a:p>
            <a:pPr algn="l"/>
            <a:r>
              <a:rPr lang="ja-JP" altLang="en-US" sz="1100" b="0" dirty="0">
                <a:solidFill>
                  <a:srgbClr val="000000"/>
                </a:solidFill>
                <a:latin typeface="游ゴシック" panose="020B0400000000000000" pitchFamily="50" charset="-128"/>
                <a:ea typeface="游ゴシック" panose="020B0400000000000000" pitchFamily="50" charset="-128"/>
              </a:rPr>
              <a:t>＜</a:t>
            </a:r>
            <a:r>
              <a:rPr lang="ja-JP" sz="1100" b="0" dirty="0">
                <a:solidFill>
                  <a:srgbClr val="000000"/>
                </a:solidFill>
                <a:latin typeface="游ゴシック" panose="020B0400000000000000" pitchFamily="50" charset="-128"/>
                <a:ea typeface="游ゴシック" panose="020B0400000000000000" pitchFamily="50" charset="-128"/>
              </a:rPr>
              <a:t>非事業用資産の保有</a:t>
            </a:r>
            <a:r>
              <a:rPr lang="ja-JP" altLang="en-US" sz="1100" b="0" dirty="0">
                <a:solidFill>
                  <a:srgbClr val="000000"/>
                </a:solidFill>
                <a:latin typeface="游ゴシック" panose="020B0400000000000000" pitchFamily="50" charset="-128"/>
                <a:ea typeface="游ゴシック" panose="020B0400000000000000" pitchFamily="50" charset="-128"/>
              </a:rPr>
              <a:t>＞</a:t>
            </a:r>
            <a:endParaRPr lang="ja-JP" sz="1100" b="0" dirty="0">
              <a:solidFill>
                <a:srgbClr val="000000"/>
              </a:solidFill>
              <a:latin typeface="游ゴシック" panose="020B0400000000000000" pitchFamily="50" charset="-128"/>
              <a:ea typeface="游ゴシック" panose="020B0400000000000000" pitchFamily="50" charset="-128"/>
            </a:endParaRP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a:t>
            </a:r>
            <a:r>
              <a:rPr lang="ja-JP" altLang="en-US" sz="1100" dirty="0">
                <a:latin typeface="游ゴシック" panose="020B0400000000000000" pitchFamily="50" charset="-128"/>
                <a:ea typeface="游ゴシック" panose="020B0400000000000000" pitchFamily="50" charset="-128"/>
              </a:rPr>
              <a:t>前渡金 </a:t>
            </a:r>
            <a:r>
              <a:rPr lang="en-US" altLang="ja-JP" sz="1100" dirty="0">
                <a:latin typeface="游ゴシック" panose="020B0400000000000000" pitchFamily="50" charset="-128"/>
                <a:ea typeface="游ゴシック" panose="020B0400000000000000" pitchFamily="50" charset="-128"/>
              </a:rPr>
              <a:t>6,570</a:t>
            </a:r>
            <a:r>
              <a:rPr lang="ja-JP" altLang="en-US" sz="1100" dirty="0">
                <a:latin typeface="游ゴシック" panose="020B0400000000000000" pitchFamily="50" charset="-128"/>
                <a:ea typeface="游ゴシック" panose="020B0400000000000000" pitchFamily="50" charset="-128"/>
              </a:rPr>
              <a:t>千円（ホテル会員権）</a:t>
            </a:r>
            <a:endParaRPr lang="en-US" altLang="ja-JP" sz="1100" dirty="0">
              <a:latin typeface="游ゴシック" panose="020B0400000000000000" pitchFamily="50" charset="-128"/>
              <a:ea typeface="游ゴシック" panose="020B0400000000000000" pitchFamily="50" charset="-128"/>
            </a:endParaRPr>
          </a:p>
          <a:p>
            <a:pPr algn="l"/>
            <a:r>
              <a:rPr lang="ja-JP" altLang="en-US" sz="1100" dirty="0">
                <a:latin typeface="游ゴシック" panose="020B0400000000000000" pitchFamily="50" charset="-128"/>
                <a:ea typeface="游ゴシック" panose="020B0400000000000000" pitchFamily="50" charset="-128"/>
              </a:rPr>
              <a:t>・負債 なし</a:t>
            </a:r>
            <a:endParaRPr lang="en-US" altLang="ja-JP" sz="1100" b="0" dirty="0">
              <a:solidFill>
                <a:srgbClr val="000000"/>
              </a:solidFill>
              <a:latin typeface="游ゴシック" panose="020B0400000000000000" pitchFamily="50" charset="-128"/>
              <a:ea typeface="游ゴシック" panose="020B0400000000000000" pitchFamily="50" charset="-128"/>
            </a:endParaRPr>
          </a:p>
        </p:txBody>
      </p:sp>
      <p:sp>
        <p:nvSpPr>
          <p:cNvPr id="27" name="正方形/長方形 26">
            <a:extLst>
              <a:ext uri="{FF2B5EF4-FFF2-40B4-BE49-F238E27FC236}">
                <a16:creationId xmlns:a16="http://schemas.microsoft.com/office/drawing/2014/main" id="{CEE7C8B2-6441-24FF-6E43-A2AF2E300DF6}"/>
              </a:ext>
            </a:extLst>
          </p:cNvPr>
          <p:cNvSpPr/>
          <p:nvPr/>
        </p:nvSpPr>
        <p:spPr>
          <a:xfrm>
            <a:off x="5265018" y="2060463"/>
            <a:ext cx="4928135" cy="2450945"/>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09">
            <a:extLst>
              <a:ext uri="{FF2B5EF4-FFF2-40B4-BE49-F238E27FC236}">
                <a16:creationId xmlns:a16="http://schemas.microsoft.com/office/drawing/2014/main" id="{AF8AD273-F1D9-0A30-EF91-2A9BDD792ABA}"/>
              </a:ext>
            </a:extLst>
          </p:cNvPr>
          <p:cNvSpPr txBox="1"/>
          <p:nvPr/>
        </p:nvSpPr>
        <p:spPr>
          <a:xfrm>
            <a:off x="5265018" y="1749432"/>
            <a:ext cx="2963476" cy="269971"/>
          </a:xfrm>
          <a:prstGeom prst="rect">
            <a:avLst/>
          </a:prstGeom>
          <a:noFill/>
        </p:spPr>
        <p:txBody>
          <a:bodyPr wrap="square" lIns="54000" tIns="27000" rIns="54000" bIns="27000" anchor="t">
            <a:spAutoFit/>
          </a:bodyPr>
          <a:lstStyle/>
          <a:p>
            <a:pPr algn="l"/>
            <a:r>
              <a:rPr lang="ja-JP" altLang="en-US" sz="1400" b="1" u="sng" dirty="0">
                <a:solidFill>
                  <a:srgbClr val="C00000"/>
                </a:solidFill>
                <a:latin typeface="游ゴシック" panose="020B0400000000000000" pitchFamily="50" charset="-128"/>
                <a:ea typeface="游ゴシック" panose="020B0400000000000000" pitchFamily="50" charset="-128"/>
              </a:rPr>
              <a:t>本件譲渡対象</a:t>
            </a:r>
            <a:endParaRPr lang="ja-JP" sz="1400" b="1" u="sng" dirty="0">
              <a:solidFill>
                <a:srgbClr val="C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4161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16AC-440E-B017-4071-3411A281587D}"/>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C675A269-60D3-5D57-5AB4-CFD1F7D46A87}"/>
              </a:ext>
            </a:extLst>
          </p:cNvPr>
          <p:cNvSpPr>
            <a:spLocks noGrp="1"/>
          </p:cNvSpPr>
          <p:nvPr>
            <p:ph type="subTitle" idx="1"/>
          </p:nvPr>
        </p:nvSpPr>
        <p:spPr>
          <a:xfrm>
            <a:off x="460675" y="830045"/>
            <a:ext cx="9781875" cy="859607"/>
          </a:xfrm>
        </p:spPr>
        <p:txBody>
          <a:bodyPr>
            <a:noAutofit/>
          </a:bodyPr>
          <a:lstStyle/>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投資有価証券（</a:t>
            </a:r>
            <a:r>
              <a:rPr lang="en-US" altLang="ja-JP" sz="1200" dirty="0">
                <a:latin typeface="游ゴシック" panose="020B0400000000000000" pitchFamily="50" charset="-128"/>
                <a:ea typeface="游ゴシック" panose="020B0400000000000000" pitchFamily="50" charset="-128"/>
              </a:rPr>
              <a:t>275,896</a:t>
            </a:r>
            <a:r>
              <a:rPr lang="ja-JP" altLang="en-US" sz="1200" dirty="0">
                <a:latin typeface="游ゴシック" panose="020B0400000000000000" pitchFamily="50" charset="-128"/>
                <a:ea typeface="游ゴシック" panose="020B0400000000000000" pitchFamily="50" charset="-128"/>
              </a:rPr>
              <a:t>千円）・保険積立金（</a:t>
            </a:r>
            <a:r>
              <a:rPr lang="en-US" altLang="ja-JP" sz="1200" dirty="0">
                <a:latin typeface="游ゴシック" panose="020B0400000000000000" pitchFamily="50" charset="-128"/>
                <a:ea typeface="游ゴシック" panose="020B0400000000000000" pitchFamily="50" charset="-128"/>
              </a:rPr>
              <a:t>43,327</a:t>
            </a:r>
            <a:r>
              <a:rPr lang="ja-JP" altLang="en-US" sz="1200" dirty="0">
                <a:latin typeface="游ゴシック" panose="020B0400000000000000" pitchFamily="50" charset="-128"/>
                <a:ea typeface="游ゴシック" panose="020B0400000000000000" pitchFamily="50" charset="-128"/>
              </a:rPr>
              <a:t>千円）・前渡金（</a:t>
            </a:r>
            <a:r>
              <a:rPr lang="en-US" altLang="ja-JP" sz="1200" dirty="0">
                <a:latin typeface="游ゴシック" panose="020B0400000000000000" pitchFamily="50" charset="-128"/>
                <a:ea typeface="游ゴシック" panose="020B0400000000000000" pitchFamily="50" charset="-128"/>
              </a:rPr>
              <a:t>6,570</a:t>
            </a:r>
            <a:r>
              <a:rPr lang="ja-JP" altLang="en-US" sz="1200" dirty="0">
                <a:latin typeface="游ゴシック" panose="020B0400000000000000" pitchFamily="50" charset="-128"/>
                <a:ea typeface="游ゴシック" panose="020B0400000000000000" pitchFamily="50" charset="-128"/>
              </a:rPr>
              <a:t>千円）車両運搬具（</a:t>
            </a:r>
            <a:r>
              <a:rPr lang="en-US" altLang="ja-JP" sz="1200" dirty="0">
                <a:latin typeface="游ゴシック" panose="020B0400000000000000" pitchFamily="50" charset="-128"/>
                <a:ea typeface="游ゴシック" panose="020B0400000000000000" pitchFamily="50" charset="-128"/>
              </a:rPr>
              <a:t>265</a:t>
            </a:r>
            <a:r>
              <a:rPr lang="ja-JP" altLang="en-US" sz="1200" dirty="0">
                <a:latin typeface="游ゴシック" panose="020B0400000000000000" pitchFamily="50" charset="-128"/>
                <a:ea typeface="游ゴシック" panose="020B0400000000000000" pitchFamily="50" charset="-128"/>
              </a:rPr>
              <a:t>千円）の計</a:t>
            </a:r>
            <a:r>
              <a:rPr lang="en-US" altLang="ja-JP" sz="1200" dirty="0">
                <a:latin typeface="游ゴシック" panose="020B0400000000000000" pitchFamily="50" charset="-128"/>
                <a:ea typeface="游ゴシック" panose="020B0400000000000000" pitchFamily="50" charset="-128"/>
              </a:rPr>
              <a:t>326,058</a:t>
            </a:r>
            <a:r>
              <a:rPr lang="ja-JP" altLang="en-US" sz="1200" dirty="0">
                <a:latin typeface="游ゴシック" panose="020B0400000000000000" pitchFamily="50" charset="-128"/>
                <a:ea typeface="游ゴシック" panose="020B0400000000000000" pitchFamily="50" charset="-128"/>
              </a:rPr>
              <a:t>千円は全て新設会社へ承継</a:t>
            </a:r>
            <a:endParaRPr lang="en-US" altLang="ja-JP" sz="1200" dirty="0">
              <a:latin typeface="游ゴシック" panose="020B0400000000000000" pitchFamily="50" charset="-128"/>
              <a:ea typeface="游ゴシック" panose="020B0400000000000000" pitchFamily="50" charset="-128"/>
            </a:endParaRP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現預金・借入金はいずれも対象会社に残置（ネットキャッシュ ＋</a:t>
            </a:r>
            <a:r>
              <a:rPr lang="en-US" altLang="ja-JP" sz="1200" dirty="0">
                <a:latin typeface="游ゴシック" panose="020B0400000000000000" pitchFamily="50" charset="-128"/>
                <a:ea typeface="游ゴシック" panose="020B0400000000000000" pitchFamily="50" charset="-128"/>
              </a:rPr>
              <a:t>5,418</a:t>
            </a:r>
            <a:r>
              <a:rPr lang="ja-JP" altLang="en-US" sz="1200" dirty="0">
                <a:latin typeface="游ゴシック" panose="020B0400000000000000" pitchFamily="50" charset="-128"/>
                <a:ea typeface="游ゴシック" panose="020B0400000000000000" pitchFamily="50" charset="-128"/>
              </a:rPr>
              <a:t>千円）</a:t>
            </a: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事業用資産及び負債は全て対象会社に残置。分割後の純資産は約</a:t>
            </a:r>
            <a:r>
              <a:rPr lang="en-US" altLang="ja-JP" sz="1200" dirty="0">
                <a:latin typeface="游ゴシック" panose="020B0400000000000000" pitchFamily="50" charset="-128"/>
                <a:ea typeface="游ゴシック" panose="020B0400000000000000" pitchFamily="50" charset="-128"/>
              </a:rPr>
              <a:t>7,477</a:t>
            </a:r>
            <a:r>
              <a:rPr lang="ja-JP" altLang="en-US" sz="1200" dirty="0">
                <a:latin typeface="游ゴシック" panose="020B0400000000000000" pitchFamily="50" charset="-128"/>
                <a:ea typeface="游ゴシック" panose="020B0400000000000000" pitchFamily="50" charset="-128"/>
              </a:rPr>
              <a:t>千円となる見込み</a:t>
            </a:r>
          </a:p>
        </p:txBody>
      </p:sp>
      <p:sp>
        <p:nvSpPr>
          <p:cNvPr id="13" name="タイトル 12">
            <a:extLst>
              <a:ext uri="{FF2B5EF4-FFF2-40B4-BE49-F238E27FC236}">
                <a16:creationId xmlns:a16="http://schemas.microsoft.com/office/drawing/2014/main" id="{91235D0E-DCF9-89E0-7086-91E76DE1153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分割後</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イメージ</a:t>
            </a:r>
          </a:p>
        </p:txBody>
      </p:sp>
      <p:sp>
        <p:nvSpPr>
          <p:cNvPr id="5" name="タイトル 1">
            <a:extLst>
              <a:ext uri="{FF2B5EF4-FFF2-40B4-BE49-F238E27FC236}">
                <a16:creationId xmlns:a16="http://schemas.microsoft.com/office/drawing/2014/main" id="{C8150125-5149-CFCD-E8BF-616BF951B32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4" name="TextBox 209">
            <a:extLst>
              <a:ext uri="{FF2B5EF4-FFF2-40B4-BE49-F238E27FC236}">
                <a16:creationId xmlns:a16="http://schemas.microsoft.com/office/drawing/2014/main" id="{B0DE02D1-27C2-C1AC-B852-9117F2B6B264}"/>
              </a:ext>
            </a:extLst>
          </p:cNvPr>
          <p:cNvSpPr txBox="1"/>
          <p:nvPr/>
        </p:nvSpPr>
        <p:spPr>
          <a:xfrm>
            <a:off x="242146" y="6221799"/>
            <a:ext cx="8631936" cy="230832"/>
          </a:xfrm>
          <a:prstGeom prst="rect">
            <a:avLst/>
          </a:prstGeom>
          <a:noFill/>
        </p:spPr>
        <p:txBody>
          <a:bodyPr wrap="square">
            <a:spAutoFit/>
          </a:bodyPr>
          <a:lstStyle/>
          <a:p>
            <a:r>
              <a:rPr sz="900" dirty="0">
                <a:latin typeface="游ゴシック" panose="020B0400000000000000" pitchFamily="50" charset="-128"/>
                <a:ea typeface="游ゴシック" panose="020B0400000000000000" pitchFamily="50" charset="-128"/>
              </a:rPr>
              <a:t>※ 2026年1月期末の簿価B/Sベースで算出。株式価値評価に用いる時価修正後B/S（評価修正額201千円）ベースでは、分割後純資産は7,679千円となる。</a:t>
            </a:r>
          </a:p>
        </p:txBody>
      </p:sp>
      <p:graphicFrame>
        <p:nvGraphicFramePr>
          <p:cNvPr id="9" name="Table 207">
            <a:extLst>
              <a:ext uri="{FF2B5EF4-FFF2-40B4-BE49-F238E27FC236}">
                <a16:creationId xmlns:a16="http://schemas.microsoft.com/office/drawing/2014/main" id="{239FB17A-A2DC-EB9F-B937-41D1BCAE9055}"/>
              </a:ext>
            </a:extLst>
          </p:cNvPr>
          <p:cNvGraphicFramePr>
            <a:graphicFrameLocks noGrp="1"/>
          </p:cNvGraphicFramePr>
          <p:nvPr>
            <p:extLst>
              <p:ext uri="{D42A27DB-BD31-4B8C-83A1-F6EECF244321}">
                <p14:modId xmlns:p14="http://schemas.microsoft.com/office/powerpoint/2010/main" val="2271696998"/>
              </p:ext>
            </p:extLst>
          </p:nvPr>
        </p:nvGraphicFramePr>
        <p:xfrm>
          <a:off x="365759"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分割前｜</a:t>
                      </a:r>
                      <a:r>
                        <a:rPr lang="en-US" altLang="ja-JP" sz="1050" b="1" dirty="0">
                          <a:solidFill>
                            <a:srgbClr val="FFFFFF"/>
                          </a:solidFill>
                          <a:latin typeface="游ゴシック" panose="020B0400000000000000" pitchFamily="50" charset="-128"/>
                          <a:ea typeface="游ゴシック" panose="020B0400000000000000" pitchFamily="50" charset="-128"/>
                        </a:rPr>
                        <a:t>2026</a:t>
                      </a:r>
                      <a:r>
                        <a:rPr lang="ja-JP" sz="1050" b="1" dirty="0">
                          <a:solidFill>
                            <a:srgbClr val="FFFFFF"/>
                          </a:solidFill>
                          <a:latin typeface="游ゴシック" panose="020B0400000000000000" pitchFamily="50" charset="-128"/>
                          <a:ea typeface="游ゴシック" panose="020B0400000000000000" pitchFamily="50" charset="-128"/>
                        </a:rPr>
                        <a:t>年1月期末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1"/>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1,057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322,806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ja-JP" sz="1050" b="1">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6"/>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333,536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ja-JP" sz="1050" b="1" dirty="0">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11"/>
                  </a:ext>
                </a:extLst>
              </a:tr>
            </a:tbl>
          </a:graphicData>
        </a:graphic>
      </p:graphicFrame>
      <p:graphicFrame>
        <p:nvGraphicFramePr>
          <p:cNvPr id="15" name="Table 208">
            <a:extLst>
              <a:ext uri="{FF2B5EF4-FFF2-40B4-BE49-F238E27FC236}">
                <a16:creationId xmlns:a16="http://schemas.microsoft.com/office/drawing/2014/main" id="{34035B83-AA55-6CF7-0671-626C0101C1E3}"/>
              </a:ext>
            </a:extLst>
          </p:cNvPr>
          <p:cNvGraphicFramePr>
            <a:graphicFrameLocks noGrp="1"/>
          </p:cNvGraphicFramePr>
          <p:nvPr>
            <p:extLst>
              <p:ext uri="{D42A27DB-BD31-4B8C-83A1-F6EECF244321}">
                <p14:modId xmlns:p14="http://schemas.microsoft.com/office/powerpoint/2010/main" val="3241984034"/>
              </p:ext>
            </p:extLst>
          </p:nvPr>
        </p:nvGraphicFramePr>
        <p:xfrm>
          <a:off x="4444323"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対象会社（譲渡対象）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26,348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792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3,583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223,949</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7,477</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223,949</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11"/>
                  </a:ext>
                </a:extLst>
              </a:tr>
            </a:tbl>
          </a:graphicData>
        </a:graphic>
      </p:graphicFrame>
      <p:graphicFrame>
        <p:nvGraphicFramePr>
          <p:cNvPr id="19" name="Table 209">
            <a:extLst>
              <a:ext uri="{FF2B5EF4-FFF2-40B4-BE49-F238E27FC236}">
                <a16:creationId xmlns:a16="http://schemas.microsoft.com/office/drawing/2014/main" id="{D6BC88BD-B794-798F-0027-9D3A6642FE93}"/>
              </a:ext>
            </a:extLst>
          </p:cNvPr>
          <p:cNvGraphicFramePr>
            <a:graphicFrameLocks noGrp="1"/>
          </p:cNvGraphicFramePr>
          <p:nvPr>
            <p:extLst>
              <p:ext uri="{D42A27DB-BD31-4B8C-83A1-F6EECF244321}">
                <p14:modId xmlns:p14="http://schemas.microsoft.com/office/powerpoint/2010/main" val="74711610"/>
              </p:ext>
            </p:extLst>
          </p:nvPr>
        </p:nvGraphicFramePr>
        <p:xfrm>
          <a:off x="7397496"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新設会社（売主側に残置）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altLang="en-US" sz="1050" b="0" dirty="0">
                          <a:solidFill>
                            <a:srgbClr val="000000"/>
                          </a:solidFill>
                          <a:latin typeface="游ゴシック" panose="020B0400000000000000" pitchFamily="50" charset="-128"/>
                          <a:ea typeface="游ゴシック" panose="020B0400000000000000" pitchFamily="50" charset="-128"/>
                        </a:rPr>
                        <a:t>その他流動資産</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6,570</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265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319,223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6"/>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dirty="0">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326,058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1F3FB"/>
                    </a:solidFill>
                  </a:tcPr>
                </a:tc>
                <a:extLst>
                  <a:ext uri="{0D108BD9-81ED-4DB2-BD59-A6C34878D82A}">
                    <a16:rowId xmlns:a16="http://schemas.microsoft.com/office/drawing/2014/main" val="10011"/>
                  </a:ext>
                </a:extLst>
              </a:tr>
            </a:tbl>
          </a:graphicData>
        </a:graphic>
      </p:graphicFrame>
      <p:sp>
        <p:nvSpPr>
          <p:cNvPr id="23" name="Right Arrow 210">
            <a:extLst>
              <a:ext uri="{FF2B5EF4-FFF2-40B4-BE49-F238E27FC236}">
                <a16:creationId xmlns:a16="http://schemas.microsoft.com/office/drawing/2014/main" id="{798169CE-5182-BEB5-CF43-F186E6BF2A49}"/>
              </a:ext>
            </a:extLst>
          </p:cNvPr>
          <p:cNvSpPr/>
          <p:nvPr/>
        </p:nvSpPr>
        <p:spPr>
          <a:xfrm>
            <a:off x="3758014" y="3274187"/>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游ゴシック" panose="020B0400000000000000" pitchFamily="50" charset="-128"/>
              <a:ea typeface="游ゴシック" panose="020B0400000000000000" pitchFamily="50" charset="-128"/>
            </a:endParaRPr>
          </a:p>
        </p:txBody>
      </p:sp>
      <p:sp>
        <p:nvSpPr>
          <p:cNvPr id="26" name="Rectangle 212">
            <a:extLst>
              <a:ext uri="{FF2B5EF4-FFF2-40B4-BE49-F238E27FC236}">
                <a16:creationId xmlns:a16="http://schemas.microsoft.com/office/drawing/2014/main" id="{CB06F32E-7DE4-A633-4509-67EF0BE2F78D}"/>
              </a:ext>
            </a:extLst>
          </p:cNvPr>
          <p:cNvSpPr/>
          <p:nvPr/>
        </p:nvSpPr>
        <p:spPr>
          <a:xfrm>
            <a:off x="4444322" y="5538851"/>
            <a:ext cx="2953173" cy="384048"/>
          </a:xfrm>
          <a:prstGeom prst="rect">
            <a:avLst/>
          </a:prstGeom>
          <a:solidFill>
            <a:srgbClr val="E1F3FB"/>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chemeClr val="tx1"/>
                </a:solidFill>
                <a:latin typeface="游ゴシック" panose="020B0400000000000000" pitchFamily="50" charset="-128"/>
                <a:ea typeface="游ゴシック" panose="020B0400000000000000" pitchFamily="50" charset="-128"/>
              </a:rPr>
              <a:t>現預金 193,226 － 借入金 187,808
＝ ネットキャッシュ ＋5,418</a:t>
            </a:r>
          </a:p>
        </p:txBody>
      </p:sp>
    </p:spTree>
    <p:extLst>
      <p:ext uri="{BB962C8B-B14F-4D97-AF65-F5344CB8AC3E}">
        <p14:creationId xmlns:p14="http://schemas.microsoft.com/office/powerpoint/2010/main" val="2682563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550047"/>
            <a:ext cx="7074659" cy="646331"/>
          </a:xfrm>
          <a:prstGeom prst="rect">
            <a:avLst/>
          </a:prstGeom>
          <a:noFill/>
        </p:spPr>
        <p:txBody>
          <a:bodyPr wrap="square" lIns="1440000" tIns="0" rIns="0" bIns="0" rtlCol="0" anchor="ctr">
            <a:spAutoFit/>
          </a:bodyPr>
          <a:lstStyle/>
          <a:p>
            <a:r>
              <a:rPr lang="ja-JP" altLang="en-US" sz="1400" b="1" dirty="0">
                <a:latin typeface="+mj-ea"/>
                <a:ea typeface="+mj-ea"/>
              </a:rPr>
              <a:t>会社分割により非事業用資産を切り出したうえでの</a:t>
            </a:r>
            <a:r>
              <a:rPr sz="1400" b="1" dirty="0">
                <a:latin typeface="+mj-ea"/>
                <a:ea typeface="+mj-ea"/>
              </a:rPr>
              <a:t>株式100％譲渡</a:t>
            </a:r>
            <a:endParaRPr lang="en-US" sz="1400" b="1" dirty="0">
              <a:latin typeface="+mj-ea"/>
              <a:ea typeface="+mj-ea"/>
            </a:endParaRPr>
          </a:p>
          <a:p>
            <a:r>
              <a:rPr lang="en-US" altLang="ja-JP" sz="1400" b="1" dirty="0">
                <a:latin typeface="+mj-ea"/>
                <a:ea typeface="+mj-ea"/>
              </a:rPr>
              <a:t>※</a:t>
            </a:r>
            <a:r>
              <a:rPr lang="ja-JP" altLang="en-US" sz="1400" b="1" dirty="0">
                <a:latin typeface="+mj-ea"/>
                <a:ea typeface="+mj-ea"/>
              </a:rPr>
              <a:t>分割対象：投資有価証券・保険積立金・車両運搬具等</a:t>
            </a:r>
            <a:endParaRPr lang="en-US" altLang="ja-JP" sz="1400" b="1" dirty="0">
              <a:latin typeface="+mj-ea"/>
              <a:ea typeface="+mj-ea"/>
            </a:endParaRPr>
          </a:p>
          <a:p>
            <a:r>
              <a:rPr lang="ja-JP" altLang="en-US" sz="1400" b="1" dirty="0">
                <a:latin typeface="+mj-ea"/>
                <a:ea typeface="+mj-ea"/>
              </a:rPr>
              <a:t>　</a:t>
            </a:r>
            <a:r>
              <a:rPr lang="en-US" altLang="ja-JP" sz="1400" b="1" dirty="0">
                <a:latin typeface="+mj-ea"/>
                <a:ea typeface="+mj-ea"/>
              </a:rPr>
              <a:t>SPA</a:t>
            </a:r>
            <a:r>
              <a:rPr lang="ja-JP" altLang="en-US" sz="1400" b="1" dirty="0">
                <a:latin typeface="+mj-ea"/>
                <a:ea typeface="+mj-ea"/>
              </a:rPr>
              <a:t>締結後、分割手続に</a:t>
            </a:r>
            <a:r>
              <a:rPr lang="en-US" altLang="ja-JP" sz="1400" b="1" dirty="0">
                <a:latin typeface="+mj-ea"/>
                <a:ea typeface="+mj-ea"/>
              </a:rPr>
              <a:t>1〜2</a:t>
            </a:r>
            <a:r>
              <a:rPr lang="ja-JP" altLang="en-US" sz="1400" b="1" dirty="0">
                <a:latin typeface="+mj-ea"/>
                <a:ea typeface="+mj-ea"/>
              </a:rPr>
              <a:t>ヶ月程度を要する。</a:t>
            </a:r>
            <a:endParaRPr sz="1400" b="1" dirty="0">
              <a:latin typeface="+mj-ea"/>
              <a:ea typeface="+mj-ea"/>
            </a:endParaRP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2889504"/>
            <a:ext cx="7074659" cy="859536"/>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dirty="0" sz="1400" b="1">
                <a:latin typeface="游ゴシック"/>
                <a:ea typeface="游ゴシック"/>
              </a:rPr>
              <a:t>株式価値試算レンジを目線に応相談</a:t>
            </a:r>
            <a:endParaRPr dirty="0">
              <a:latin typeface="游ゴシック"/>
              <a:ea typeface="游ゴシック"/>
            </a:endParaRPr>
          </a:p>
          <a:p>
            <a:pPr algn="l"/>
            <a:r>
              <a:rPr lang="ja-JP" altLang="en-US" dirty="0" sz="1100" b="0">
                <a:solidFill>
                  <a:srgbClr val="595959"/>
                </a:solidFill>
                <a:latin typeface="游ゴシック"/>
                <a:ea typeface="游ゴシック"/>
              </a:rPr>
              <a:t>　・コストアプローチ（時価純資産＋営業権法）　　　33百万円 〜 84百万円</a:t>
            </a:r>
            <a:endParaRPr dirty="0">
              <a:latin typeface="游ゴシック"/>
              <a:ea typeface="游ゴシック"/>
            </a:endParaRPr>
          </a:p>
          <a:p>
            <a:pPr algn="l"/>
            <a:r>
              <a:rPr lang="ja-JP" altLang="en-US" dirty="0" sz="1100" b="0">
                <a:solidFill>
                  <a:srgbClr val="595959"/>
                </a:solidFill>
                <a:latin typeface="游ゴシック"/>
                <a:ea typeface="游ゴシック"/>
              </a:rPr>
              <a:t>　・マーケットアプローチ（EV/EBITDA倍率法）　　112百万円 〜 183百万円</a:t>
            </a:r>
            <a:endParaRPr dirty="0">
              <a:latin typeface="游ゴシック"/>
              <a:ea typeface="游ゴシック"/>
            </a:endParaRP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48012"/>
            <a:ext cx="7074659" cy="1061829"/>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従業員の</a:t>
            </a:r>
            <a:r>
              <a:rPr lang="ja-JP" altLang="en-US" sz="1600" dirty="0">
                <a:latin typeface="游ゴシック"/>
                <a:ea typeface="游ゴシック"/>
              </a:rPr>
              <a:t>継続雇用</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野口社長は譲渡後</a:t>
            </a:r>
            <a:r>
              <a:rPr lang="en-US" altLang="ja-JP" sz="1600" dirty="0">
                <a:latin typeface="游ゴシック"/>
                <a:ea typeface="游ゴシック"/>
              </a:rPr>
              <a:t>7</a:t>
            </a:r>
            <a:r>
              <a:rPr lang="ja-JP" altLang="en-US" sz="1600" dirty="0">
                <a:latin typeface="游ゴシック"/>
                <a:ea typeface="游ゴシック"/>
              </a:rPr>
              <a:t>年程度（</a:t>
            </a:r>
            <a:r>
              <a:rPr lang="en-US" altLang="ja-JP" sz="1600" dirty="0">
                <a:latin typeface="游ゴシック"/>
                <a:ea typeface="游ゴシック"/>
              </a:rPr>
              <a:t>55</a:t>
            </a:r>
            <a:r>
              <a:rPr lang="ja-JP" altLang="en-US" sz="1600" dirty="0">
                <a:latin typeface="游ゴシック"/>
                <a:ea typeface="游ゴシック"/>
              </a:rPr>
              <a:t>歳まで）の継続勤務可能</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その他役員陣は退任予定</a:t>
            </a:r>
            <a:endParaRPr lang="en-US"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連帯保証解除</a:t>
            </a:r>
            <a:endParaRPr lang="en-US" sz="1600" dirty="0">
              <a:latin typeface="游ゴシック"/>
              <a:ea typeface="游ゴシック"/>
            </a:endParaRPr>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dirty="0">
                <a:latin typeface="游ゴシック"/>
                <a:ea typeface="游ゴシック"/>
              </a:rPr>
              <a:t>後継者不在、更なる事業の発展</a:t>
            </a:r>
            <a:endParaRPr dirty="0">
              <a:latin typeface="游ゴシック"/>
              <a:ea typeface="游ゴシック"/>
            </a:endParaRP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22" name="二等辺三角形 21">
            <a:extLst>
              <a:ext uri="{FF2B5EF4-FFF2-40B4-BE49-F238E27FC236}">
                <a16:creationId xmlns:a16="http://schemas.microsoft.com/office/drawing/2014/main" id="{E5D47B62-2C55-3FE5-A074-85C434EA220E}"/>
              </a:ext>
            </a:extLst>
          </p:cNvPr>
          <p:cNvSpPr/>
          <p:nvPr/>
        </p:nvSpPr>
        <p:spPr>
          <a:xfrm>
            <a:off x="3555101" y="4983220"/>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chemeClr val="tx1"/>
              </a:solidFill>
              <a:latin typeface="游ゴシック" panose="020B0400000000000000" pitchFamily="50" charset="-128"/>
              <a:ea typeface="游ゴシック" panose="020B0400000000000000" pitchFamily="50" charset="-128"/>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3555100" y="5134056"/>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chemeClr val="tx1"/>
              </a:solidFill>
              <a:latin typeface="游ゴシック" panose="020B0400000000000000" pitchFamily="50" charset="-128"/>
              <a:ea typeface="游ゴシック" panose="020B0400000000000000" pitchFamily="50" charset="-128"/>
            </a:endParaRP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版権元（</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ホルダー）との商品化企画から国内外メーカーへの製造委託、版元・問屋への販売までを一気通貫で手掛けるファブレス型の</a:t>
            </a:r>
            <a:r>
              <a:rPr lang="en-US" altLang="ja-JP" dirty="0">
                <a:latin typeface="游ゴシック" panose="020B0400000000000000" pitchFamily="50" charset="-128"/>
                <a:ea typeface="游ゴシック" panose="020B0400000000000000" pitchFamily="50" charset="-128"/>
              </a:rPr>
              <a:t>B2B</a:t>
            </a:r>
            <a:r>
              <a:rPr lang="ja-JP" altLang="en-US" dirty="0">
                <a:latin typeface="游ゴシック" panose="020B0400000000000000" pitchFamily="50" charset="-128"/>
                <a:ea typeface="游ゴシック" panose="020B0400000000000000" pitchFamily="50" charset="-128"/>
              </a:rPr>
              <a:t>モデル。原則買取</a:t>
            </a:r>
            <a:r>
              <a:rPr lang="en-US" altLang="ja-JP" dirty="0">
                <a:latin typeface="游ゴシック" panose="020B0400000000000000" pitchFamily="50" charset="-128"/>
                <a:ea typeface="游ゴシック" panose="020B0400000000000000" pitchFamily="50" charset="-128"/>
              </a:rPr>
              <a:t>100%</a:t>
            </a:r>
            <a:r>
              <a:rPr lang="ja-JP" altLang="en-US" dirty="0">
                <a:latin typeface="游ゴシック" panose="020B0400000000000000" pitchFamily="50" charset="-128"/>
                <a:ea typeface="游ゴシック" panose="020B0400000000000000" pitchFamily="50" charset="-128"/>
              </a:rPr>
              <a:t>の取引により在庫リスクを抑制している。</a:t>
            </a:r>
          </a:p>
        </p:txBody>
      </p:sp>
      <p:sp>
        <p:nvSpPr>
          <p:cNvPr id="10" name="Rectangle 35">
            <a:extLst>
              <a:ext uri="{FF2B5EF4-FFF2-40B4-BE49-F238E27FC236}">
                <a16:creationId xmlns:a16="http://schemas.microsoft.com/office/drawing/2014/main" id="{AB8E954E-65AA-D192-2F28-FB27798D85B4}"/>
              </a:ext>
            </a:extLst>
          </p:cNvPr>
          <p:cNvSpPr/>
          <p:nvPr/>
        </p:nvSpPr>
        <p:spPr>
          <a:xfrm>
            <a:off x="341313" y="1882063"/>
            <a:ext cx="6931152" cy="3068534"/>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cxnSp>
        <p:nvCxnSpPr>
          <p:cNvPr id="11" name="Connector 36">
            <a:extLst>
              <a:ext uri="{FF2B5EF4-FFF2-40B4-BE49-F238E27FC236}">
                <a16:creationId xmlns:a16="http://schemas.microsoft.com/office/drawing/2014/main" id="{0F967364-778F-DBD7-DCBC-2963806E95C8}"/>
              </a:ext>
            </a:extLst>
          </p:cNvPr>
          <p:cNvCxnSpPr/>
          <p:nvPr/>
        </p:nvCxnSpPr>
        <p:spPr>
          <a:xfrm>
            <a:off x="341313" y="1882063"/>
            <a:ext cx="6931152"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15" name="TextBox 37">
            <a:extLst>
              <a:ext uri="{FF2B5EF4-FFF2-40B4-BE49-F238E27FC236}">
                <a16:creationId xmlns:a16="http://schemas.microsoft.com/office/drawing/2014/main" id="{AC5E4835-7CE3-186E-C874-03E79ABE477D}"/>
              </a:ext>
            </a:extLst>
          </p:cNvPr>
          <p:cNvSpPr txBox="1"/>
          <p:nvPr/>
        </p:nvSpPr>
        <p:spPr>
          <a:xfrm>
            <a:off x="341313" y="1973503"/>
            <a:ext cx="6931152" cy="215444"/>
          </a:xfrm>
          <a:prstGeom prst="rect">
            <a:avLst/>
          </a:prstGeom>
          <a:noFill/>
        </p:spPr>
        <p:txBody>
          <a:bodyPr wrap="square" lIns="0" tIns="0" rIns="0" bIns="0">
            <a:spAutoFit/>
          </a:bodyPr>
          <a:lstStyle/>
          <a:p>
            <a:pPr algn="ctr">
              <a:spcAft>
                <a:spcPts val="100"/>
              </a:spcAft>
            </a:pPr>
            <a:r>
              <a:rPr sz="1400" b="1" dirty="0" err="1">
                <a:solidFill>
                  <a:srgbClr val="0B3041"/>
                </a:solidFill>
                <a:latin typeface="游ゴシック" panose="020B0400000000000000" pitchFamily="50" charset="-128"/>
                <a:ea typeface="游ゴシック" panose="020B0400000000000000" pitchFamily="50" charset="-128"/>
              </a:rPr>
              <a:t>対象会社</a:t>
            </a:r>
            <a:endParaRPr sz="1400" b="1" dirty="0">
              <a:solidFill>
                <a:srgbClr val="0B3041"/>
              </a:solidFill>
              <a:latin typeface="游ゴシック" panose="020B0400000000000000" pitchFamily="50" charset="-128"/>
              <a:ea typeface="游ゴシック" panose="020B0400000000000000" pitchFamily="50" charset="-128"/>
            </a:endParaRPr>
          </a:p>
        </p:txBody>
      </p:sp>
      <p:sp>
        <p:nvSpPr>
          <p:cNvPr id="18" name="Rectangle 38">
            <a:extLst>
              <a:ext uri="{FF2B5EF4-FFF2-40B4-BE49-F238E27FC236}">
                <a16:creationId xmlns:a16="http://schemas.microsoft.com/office/drawing/2014/main" id="{D8A07D79-32F0-B13F-34AA-23224383FA35}"/>
              </a:ext>
            </a:extLst>
          </p:cNvPr>
          <p:cNvSpPr/>
          <p:nvPr/>
        </p:nvSpPr>
        <p:spPr>
          <a:xfrm>
            <a:off x="542481" y="2357551"/>
            <a:ext cx="6528816" cy="1092269"/>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600">
              <a:latin typeface="游ゴシック" panose="020B0400000000000000" pitchFamily="50" charset="-128"/>
              <a:ea typeface="游ゴシック" panose="020B0400000000000000" pitchFamily="50" charset="-128"/>
            </a:endParaRPr>
          </a:p>
        </p:txBody>
      </p:sp>
      <p:sp>
        <p:nvSpPr>
          <p:cNvPr id="23" name="TextBox 39">
            <a:extLst>
              <a:ext uri="{FF2B5EF4-FFF2-40B4-BE49-F238E27FC236}">
                <a16:creationId xmlns:a16="http://schemas.microsoft.com/office/drawing/2014/main" id="{B3BEDEA7-0BFF-053E-C2FB-5D36383E9253}"/>
              </a:ext>
            </a:extLst>
          </p:cNvPr>
          <p:cNvSpPr txBox="1"/>
          <p:nvPr/>
        </p:nvSpPr>
        <p:spPr>
          <a:xfrm>
            <a:off x="707073" y="2439847"/>
            <a:ext cx="6199632" cy="184666"/>
          </a:xfrm>
          <a:prstGeom prst="rect">
            <a:avLst/>
          </a:prstGeom>
          <a:noFill/>
        </p:spPr>
        <p:txBody>
          <a:bodyPr wrap="square" lIns="0" tIns="0" rIns="0" bIns="0">
            <a:spAutoFit/>
          </a:bodyPr>
          <a:lstStyle/>
          <a:p>
            <a:pPr algn="l">
              <a:spcAft>
                <a:spcPts val="100"/>
              </a:spcAft>
            </a:pPr>
            <a:r>
              <a:rPr lang="ja-JP" altLang="en-US" sz="1200" b="1" dirty="0">
                <a:solidFill>
                  <a:srgbClr val="0889C9"/>
                </a:solidFill>
                <a:latin typeface="游ゴシック" panose="020B0400000000000000" pitchFamily="50" charset="-128"/>
                <a:ea typeface="游ゴシック" panose="020B0400000000000000" pitchFamily="50" charset="-128"/>
              </a:rPr>
              <a:t>キャラクターグッズ企画・製造販売事業（ライセンス案件／版権商品／オリジナル商材）</a:t>
            </a:r>
          </a:p>
        </p:txBody>
      </p:sp>
      <p:sp>
        <p:nvSpPr>
          <p:cNvPr id="27" name="TextBox 40">
            <a:extLst>
              <a:ext uri="{FF2B5EF4-FFF2-40B4-BE49-F238E27FC236}">
                <a16:creationId xmlns:a16="http://schemas.microsoft.com/office/drawing/2014/main" id="{8F719F49-6F7C-5C30-A23F-79ECEDB89441}"/>
              </a:ext>
            </a:extLst>
          </p:cNvPr>
          <p:cNvSpPr txBox="1"/>
          <p:nvPr/>
        </p:nvSpPr>
        <p:spPr>
          <a:xfrm>
            <a:off x="707073" y="2767200"/>
            <a:ext cx="6291072" cy="512961"/>
          </a:xfrm>
          <a:prstGeom prst="rect">
            <a:avLst/>
          </a:prstGeom>
          <a:noFill/>
        </p:spPr>
        <p:txBody>
          <a:bodyPr wrap="square" lIns="0" tIns="0" rIns="0" bIns="0">
            <a:spAutoFit/>
          </a:bodyPr>
          <a:lstStyle/>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版権元（IPホルダ</a:t>
            </a:r>
            <a:r>
              <a:rPr sz="1000" b="0" dirty="0">
                <a:solidFill>
                  <a:schemeClr val="tx1"/>
                </a:solidFill>
                <a:latin typeface="游ゴシック" panose="020B0400000000000000" pitchFamily="50" charset="-128"/>
                <a:ea typeface="游ゴシック" panose="020B0400000000000000" pitchFamily="50" charset="-128"/>
              </a:rPr>
              <a:t>ー）</a:t>
            </a:r>
            <a:r>
              <a:rPr sz="1000" b="0" dirty="0" err="1">
                <a:solidFill>
                  <a:schemeClr val="tx1"/>
                </a:solidFill>
                <a:latin typeface="游ゴシック" panose="020B0400000000000000" pitchFamily="50" charset="-128"/>
                <a:ea typeface="游ゴシック" panose="020B0400000000000000" pitchFamily="50" charset="-128"/>
              </a:rPr>
              <a:t>から商品化許諾を取得し、企画・デザインから製造委託・販売までを自社主導で実施</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lang="ja-JP" altLang="en-US" sz="1000" b="0" dirty="0">
                <a:solidFill>
                  <a:schemeClr val="tx1"/>
                </a:solidFill>
                <a:latin typeface="游ゴシック" panose="020B0400000000000000" pitchFamily="50" charset="-128"/>
                <a:ea typeface="游ゴシック" panose="020B0400000000000000" pitchFamily="50" charset="-128"/>
              </a:rPr>
              <a:t>作品ごとに需要の波があり、期による売上構成の変動が大きいものの、売上の大半を占める。</a:t>
            </a:r>
            <a:endParaRPr lang="en-US" altLang="ja-JP" sz="1000" dirty="0">
              <a:solidFill>
                <a:schemeClr val="tx1"/>
              </a:solidFill>
              <a:latin typeface="游ゴシック" panose="020B0400000000000000" pitchFamily="50" charset="-128"/>
              <a:ea typeface="游ゴシック" panose="020B0400000000000000" pitchFamily="50" charset="-128"/>
            </a:endParaRPr>
          </a:p>
          <a:p>
            <a:pPr>
              <a:spcAft>
                <a:spcPts val="200"/>
              </a:spcAft>
            </a:pPr>
            <a:r>
              <a:rPr lang="ja-JP" altLang="en-US" sz="1000" dirty="0">
                <a:solidFill>
                  <a:schemeClr val="tx1"/>
                </a:solidFill>
                <a:latin typeface="游ゴシック" panose="020B0400000000000000" pitchFamily="50" charset="-128"/>
                <a:ea typeface="游ゴシック" panose="020B0400000000000000" pitchFamily="50" charset="-128"/>
              </a:rPr>
              <a:t>▪ 「</a:t>
            </a:r>
            <a:r>
              <a:rPr lang="ja-JP" altLang="en-US" sz="1000" b="0" dirty="0">
                <a:solidFill>
                  <a:schemeClr val="tx1"/>
                </a:solidFill>
                <a:latin typeface="游ゴシック" panose="020B0400000000000000" pitchFamily="50" charset="-128"/>
                <a:ea typeface="游ゴシック" panose="020B0400000000000000" pitchFamily="50" charset="-128"/>
              </a:rPr>
              <a:t>スターくじ」「あたりツキ！」等、自社の企画主導で展開</a:t>
            </a:r>
            <a:r>
              <a:rPr lang="ja-JP" altLang="en-US" sz="1000" dirty="0">
                <a:solidFill>
                  <a:schemeClr val="tx1"/>
                </a:solidFill>
                <a:latin typeface="游ゴシック" panose="020B0400000000000000" pitchFamily="50" charset="-128"/>
                <a:ea typeface="游ゴシック" panose="020B0400000000000000" pitchFamily="50" charset="-128"/>
              </a:rPr>
              <a:t>も可能</a:t>
            </a:r>
            <a:r>
              <a:rPr lang="ja-JP" altLang="en-US" sz="1000" b="0" dirty="0">
                <a:solidFill>
                  <a:schemeClr val="tx1"/>
                </a:solidFill>
                <a:latin typeface="游ゴシック" panose="020B0400000000000000" pitchFamily="50" charset="-128"/>
                <a:ea typeface="游ゴシック" panose="020B0400000000000000" pitchFamily="50" charset="-128"/>
              </a:rPr>
              <a:t>。問屋への販売（</a:t>
            </a:r>
            <a:r>
              <a:rPr lang="ja-JP" altLang="en-US" sz="1000" dirty="0">
                <a:solidFill>
                  <a:schemeClr val="tx1"/>
                </a:solidFill>
                <a:latin typeface="游ゴシック" panose="020B0400000000000000" pitchFamily="50" charset="-128"/>
                <a:ea typeface="游ゴシック" panose="020B0400000000000000" pitchFamily="50" charset="-128"/>
              </a:rPr>
              <a:t>卸売）</a:t>
            </a:r>
            <a:r>
              <a:rPr lang="ja-JP" altLang="en-US" sz="1000" b="0" dirty="0">
                <a:solidFill>
                  <a:schemeClr val="tx1"/>
                </a:solidFill>
                <a:latin typeface="游ゴシック" panose="020B0400000000000000" pitchFamily="50" charset="-128"/>
                <a:ea typeface="游ゴシック" panose="020B0400000000000000" pitchFamily="50" charset="-128"/>
              </a:rPr>
              <a:t>が中心。</a:t>
            </a:r>
            <a:endParaRPr lang="en-US" altLang="ja-JP" sz="1000" b="0" dirty="0">
              <a:solidFill>
                <a:schemeClr val="tx1"/>
              </a:solidFill>
              <a:latin typeface="游ゴシック" panose="020B0400000000000000" pitchFamily="50" charset="-128"/>
              <a:ea typeface="游ゴシック" panose="020B0400000000000000" pitchFamily="50" charset="-128"/>
            </a:endParaRPr>
          </a:p>
        </p:txBody>
      </p:sp>
      <p:sp>
        <p:nvSpPr>
          <p:cNvPr id="28" name="Rectangle 41">
            <a:extLst>
              <a:ext uri="{FF2B5EF4-FFF2-40B4-BE49-F238E27FC236}">
                <a16:creationId xmlns:a16="http://schemas.microsoft.com/office/drawing/2014/main" id="{9C724087-72B8-B8A5-CD88-2196BCA9C1A5}"/>
              </a:ext>
            </a:extLst>
          </p:cNvPr>
          <p:cNvSpPr/>
          <p:nvPr/>
        </p:nvSpPr>
        <p:spPr>
          <a:xfrm>
            <a:off x="542481" y="3638279"/>
            <a:ext cx="6528816" cy="1092269"/>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600">
              <a:latin typeface="游ゴシック" panose="020B0400000000000000" pitchFamily="50" charset="-128"/>
              <a:ea typeface="游ゴシック" panose="020B0400000000000000" pitchFamily="50" charset="-128"/>
            </a:endParaRPr>
          </a:p>
        </p:txBody>
      </p:sp>
      <p:sp>
        <p:nvSpPr>
          <p:cNvPr id="29" name="TextBox 42">
            <a:extLst>
              <a:ext uri="{FF2B5EF4-FFF2-40B4-BE49-F238E27FC236}">
                <a16:creationId xmlns:a16="http://schemas.microsoft.com/office/drawing/2014/main" id="{E18BF03E-E28B-E3BB-43EB-CBBBF8954AAA}"/>
              </a:ext>
            </a:extLst>
          </p:cNvPr>
          <p:cNvSpPr txBox="1"/>
          <p:nvPr/>
        </p:nvSpPr>
        <p:spPr>
          <a:xfrm>
            <a:off x="707073" y="3720575"/>
            <a:ext cx="6199632" cy="184666"/>
          </a:xfrm>
          <a:prstGeom prst="rect">
            <a:avLst/>
          </a:prstGeom>
          <a:noFill/>
        </p:spPr>
        <p:txBody>
          <a:bodyPr wrap="square" lIns="0" tIns="0" rIns="0" bIns="0">
            <a:spAutoFit/>
          </a:bodyPr>
          <a:lstStyle/>
          <a:p>
            <a:pPr algn="l">
              <a:spcAft>
                <a:spcPts val="100"/>
              </a:spcAft>
            </a:pPr>
            <a:r>
              <a:rPr sz="1200" b="1" dirty="0" err="1">
                <a:solidFill>
                  <a:srgbClr val="0889C9"/>
                </a:solidFill>
                <a:latin typeface="游ゴシック" panose="020B0400000000000000" pitchFamily="50" charset="-128"/>
                <a:ea typeface="游ゴシック" panose="020B0400000000000000" pitchFamily="50" charset="-128"/>
              </a:rPr>
              <a:t>OEM受託</a:t>
            </a:r>
            <a:r>
              <a:rPr lang="ja-JP" altLang="en-US" sz="1200" b="1" dirty="0">
                <a:solidFill>
                  <a:srgbClr val="0889C9"/>
                </a:solidFill>
                <a:latin typeface="游ゴシック" panose="020B0400000000000000" pitchFamily="50" charset="-128"/>
                <a:ea typeface="游ゴシック" panose="020B0400000000000000" pitchFamily="50" charset="-128"/>
              </a:rPr>
              <a:t>事業</a:t>
            </a:r>
            <a:endParaRPr sz="1200" b="1" dirty="0">
              <a:solidFill>
                <a:srgbClr val="0889C9"/>
              </a:solidFill>
              <a:latin typeface="游ゴシック" panose="020B0400000000000000" pitchFamily="50" charset="-128"/>
              <a:ea typeface="游ゴシック" panose="020B0400000000000000" pitchFamily="50" charset="-128"/>
            </a:endParaRPr>
          </a:p>
        </p:txBody>
      </p:sp>
      <p:sp>
        <p:nvSpPr>
          <p:cNvPr id="30" name="TextBox 43">
            <a:extLst>
              <a:ext uri="{FF2B5EF4-FFF2-40B4-BE49-F238E27FC236}">
                <a16:creationId xmlns:a16="http://schemas.microsoft.com/office/drawing/2014/main" id="{AEA6B753-7B47-3A36-D22A-3D5C9DD8D7CF}"/>
              </a:ext>
            </a:extLst>
          </p:cNvPr>
          <p:cNvSpPr txBox="1"/>
          <p:nvPr/>
        </p:nvSpPr>
        <p:spPr>
          <a:xfrm>
            <a:off x="707073" y="4041678"/>
            <a:ext cx="6263640" cy="512961"/>
          </a:xfrm>
          <a:prstGeom prst="rect">
            <a:avLst/>
          </a:prstGeom>
          <a:noFill/>
        </p:spPr>
        <p:txBody>
          <a:bodyPr wrap="square" lIns="0" tIns="0" rIns="0" bIns="0">
            <a:spAutoFit/>
          </a:bodyPr>
          <a:lstStyle/>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版元・取次等からの依頼を受けて企画・製造を受託</a:t>
            </a:r>
            <a:r>
              <a:rPr sz="1000" b="0" dirty="0">
                <a:solidFill>
                  <a:schemeClr val="tx1"/>
                </a:solidFill>
                <a:latin typeface="游ゴシック" panose="020B0400000000000000" pitchFamily="50" charset="-128"/>
                <a:ea typeface="游ゴシック" panose="020B0400000000000000" pitchFamily="50" charset="-128"/>
              </a:rPr>
              <a:t>。</a:t>
            </a:r>
            <a:endParaRPr lang="en-US" sz="1000" b="0" dirty="0">
              <a:solidFill>
                <a:schemeClr val="tx1"/>
              </a:solidFill>
              <a:latin typeface="游ゴシック" panose="020B0400000000000000" pitchFamily="50" charset="-128"/>
              <a:ea typeface="游ゴシック" panose="020B0400000000000000" pitchFamily="50" charset="-128"/>
            </a:endParaRPr>
          </a:p>
          <a:p>
            <a:pPr>
              <a:spcAft>
                <a:spcPts val="200"/>
              </a:spcAft>
            </a:pPr>
            <a:r>
              <a:rPr lang="ja-JP" altLang="en-US" sz="1000" dirty="0">
                <a:solidFill>
                  <a:schemeClr val="tx1"/>
                </a:solidFill>
                <a:latin typeface="游ゴシック" panose="020B0400000000000000" pitchFamily="50" charset="-128"/>
                <a:ea typeface="游ゴシック" panose="020B0400000000000000" pitchFamily="50" charset="-128"/>
              </a:rPr>
              <a:t>▪ 野口</a:t>
            </a:r>
            <a:r>
              <a:rPr sz="1000" b="0" dirty="0" err="1">
                <a:solidFill>
                  <a:schemeClr val="tx1"/>
                </a:solidFill>
                <a:latin typeface="游ゴシック" panose="020B0400000000000000" pitchFamily="50" charset="-128"/>
                <a:ea typeface="游ゴシック" panose="020B0400000000000000" pitchFamily="50" charset="-128"/>
              </a:rPr>
              <a:t>代表が窓口として見積作成・スケジュール調整を担当</a:t>
            </a:r>
            <a:r>
              <a:rPr lang="ja-JP" altLang="en-US" sz="1000" b="0" dirty="0">
                <a:solidFill>
                  <a:schemeClr val="tx1"/>
                </a:solidFill>
                <a:latin typeface="游ゴシック" panose="020B0400000000000000" pitchFamily="50" charset="-128"/>
                <a:ea typeface="游ゴシック" panose="020B0400000000000000" pitchFamily="50" charset="-128"/>
              </a:rPr>
              <a:t>。</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受注型のため需要変動を受けにくく、収益の安定性を担保</a:t>
            </a:r>
            <a:r>
              <a:rPr lang="ja-JP" altLang="en-US" sz="1000" b="0" dirty="0">
                <a:solidFill>
                  <a:schemeClr val="tx1"/>
                </a:solidFill>
                <a:latin typeface="游ゴシック" panose="020B0400000000000000" pitchFamily="50" charset="-128"/>
                <a:ea typeface="游ゴシック" panose="020B0400000000000000" pitchFamily="50" charset="-128"/>
              </a:rPr>
              <a:t>できる。</a:t>
            </a:r>
            <a:endParaRPr sz="1000" b="0" dirty="0">
              <a:solidFill>
                <a:schemeClr val="tx1"/>
              </a:solidFill>
              <a:latin typeface="游ゴシック" panose="020B0400000000000000" pitchFamily="50" charset="-128"/>
              <a:ea typeface="游ゴシック" panose="020B0400000000000000" pitchFamily="50" charset="-128"/>
            </a:endParaRPr>
          </a:p>
        </p:txBody>
      </p:sp>
      <p:sp>
        <p:nvSpPr>
          <p:cNvPr id="36" name="Rectangle 47">
            <a:extLst>
              <a:ext uri="{FF2B5EF4-FFF2-40B4-BE49-F238E27FC236}">
                <a16:creationId xmlns:a16="http://schemas.microsoft.com/office/drawing/2014/main" id="{3F7A5D3D-C237-9C3A-2CCA-37EDE7CAD730}"/>
              </a:ext>
            </a:extLst>
          </p:cNvPr>
          <p:cNvSpPr/>
          <p:nvPr/>
        </p:nvSpPr>
        <p:spPr>
          <a:xfrm>
            <a:off x="8232585" y="1882063"/>
            <a:ext cx="2057400" cy="48425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cxnSp>
        <p:nvCxnSpPr>
          <p:cNvPr id="37" name="Connector 48">
            <a:extLst>
              <a:ext uri="{FF2B5EF4-FFF2-40B4-BE49-F238E27FC236}">
                <a16:creationId xmlns:a16="http://schemas.microsoft.com/office/drawing/2014/main" id="{C2401A77-65D0-3882-2C9C-E04E310B676E}"/>
              </a:ext>
            </a:extLst>
          </p:cNvPr>
          <p:cNvCxnSpPr/>
          <p:nvPr/>
        </p:nvCxnSpPr>
        <p:spPr>
          <a:xfrm>
            <a:off x="8232585" y="1882063"/>
            <a:ext cx="2057400"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38" name="TextBox 49">
            <a:extLst>
              <a:ext uri="{FF2B5EF4-FFF2-40B4-BE49-F238E27FC236}">
                <a16:creationId xmlns:a16="http://schemas.microsoft.com/office/drawing/2014/main" id="{DB491A62-1464-6A85-78B5-F792D411125B}"/>
              </a:ext>
            </a:extLst>
          </p:cNvPr>
          <p:cNvSpPr txBox="1"/>
          <p:nvPr/>
        </p:nvSpPr>
        <p:spPr>
          <a:xfrm>
            <a:off x="8232585" y="1973503"/>
            <a:ext cx="2057400" cy="215444"/>
          </a:xfrm>
          <a:prstGeom prst="rect">
            <a:avLst/>
          </a:prstGeom>
          <a:noFill/>
        </p:spPr>
        <p:txBody>
          <a:bodyPr wrap="square" lIns="0" tIns="0" rIns="0" bIns="0">
            <a:spAutoFit/>
          </a:bodyPr>
          <a:lstStyle/>
          <a:p>
            <a:pPr algn="ctr">
              <a:spcAft>
                <a:spcPts val="100"/>
              </a:spcAft>
            </a:pPr>
            <a:r>
              <a:rPr sz="1400" b="1">
                <a:solidFill>
                  <a:srgbClr val="0B3041"/>
                </a:solidFill>
                <a:latin typeface="游ゴシック" panose="020B0400000000000000" pitchFamily="50" charset="-128"/>
                <a:ea typeface="游ゴシック" panose="020B0400000000000000" pitchFamily="50" charset="-128"/>
              </a:rPr>
              <a:t>主要販売先</a:t>
            </a:r>
          </a:p>
        </p:txBody>
      </p:sp>
      <p:sp>
        <p:nvSpPr>
          <p:cNvPr id="40" name="TextBox 50">
            <a:extLst>
              <a:ext uri="{FF2B5EF4-FFF2-40B4-BE49-F238E27FC236}">
                <a16:creationId xmlns:a16="http://schemas.microsoft.com/office/drawing/2014/main" id="{74701DFB-1C07-E9CD-1289-ABC16C083EF0}"/>
              </a:ext>
            </a:extLst>
          </p:cNvPr>
          <p:cNvSpPr txBox="1"/>
          <p:nvPr/>
        </p:nvSpPr>
        <p:spPr>
          <a:xfrm>
            <a:off x="8360601" y="2317924"/>
            <a:ext cx="1801368" cy="153888"/>
          </a:xfrm>
          <a:prstGeom prst="rect">
            <a:avLst/>
          </a:prstGeom>
          <a:noFill/>
        </p:spPr>
        <p:txBody>
          <a:bodyPr wrap="square" lIns="0" tIns="0" rIns="0" bIns="0">
            <a:spAutoFit/>
          </a:bodyPr>
          <a:lstStyle/>
          <a:p>
            <a:pPr algn="l">
              <a:spcAft>
                <a:spcPts val="100"/>
              </a:spcAft>
            </a:pPr>
            <a:r>
              <a:rPr sz="1000" b="1" dirty="0" err="1">
                <a:solidFill>
                  <a:srgbClr val="0889C9"/>
                </a:solidFill>
                <a:latin typeface="游ゴシック" panose="020B0400000000000000" pitchFamily="50" charset="-128"/>
                <a:ea typeface="游ゴシック" panose="020B0400000000000000" pitchFamily="50" charset="-128"/>
              </a:rPr>
              <a:t>版権元</a:t>
            </a:r>
            <a:r>
              <a:rPr lang="ja-JP" altLang="en-US" sz="1000" b="1" dirty="0">
                <a:solidFill>
                  <a:srgbClr val="0889C9"/>
                </a:solidFill>
                <a:latin typeface="游ゴシック" panose="020B0400000000000000" pitchFamily="50" charset="-128"/>
                <a:ea typeface="游ゴシック" panose="020B0400000000000000" pitchFamily="50" charset="-128"/>
              </a:rPr>
              <a:t>（直取引）</a:t>
            </a:r>
            <a:endParaRPr sz="1000" b="1" dirty="0">
              <a:solidFill>
                <a:srgbClr val="0889C9"/>
              </a:solidFill>
              <a:latin typeface="游ゴシック" panose="020B0400000000000000" pitchFamily="50" charset="-128"/>
              <a:ea typeface="游ゴシック" panose="020B0400000000000000" pitchFamily="50" charset="-128"/>
            </a:endParaRPr>
          </a:p>
        </p:txBody>
      </p:sp>
      <p:sp>
        <p:nvSpPr>
          <p:cNvPr id="41" name="TextBox 51">
            <a:extLst>
              <a:ext uri="{FF2B5EF4-FFF2-40B4-BE49-F238E27FC236}">
                <a16:creationId xmlns:a16="http://schemas.microsoft.com/office/drawing/2014/main" id="{0E38E59C-9899-5F34-D908-0F314A937C31}"/>
              </a:ext>
            </a:extLst>
          </p:cNvPr>
          <p:cNvSpPr txBox="1"/>
          <p:nvPr/>
        </p:nvSpPr>
        <p:spPr>
          <a:xfrm>
            <a:off x="8264629" y="2592244"/>
            <a:ext cx="1984167" cy="730969"/>
          </a:xfrm>
          <a:prstGeom prst="rect">
            <a:avLst/>
          </a:prstGeom>
          <a:noFill/>
        </p:spPr>
        <p:txBody>
          <a:bodyPr wrap="square" lIns="0" tIns="0" rIns="0" bIns="0">
            <a:spAutoFit/>
          </a:bodyPr>
          <a:lstStyle/>
          <a:p>
            <a:pPr>
              <a:spcAft>
                <a:spcPts val="300"/>
              </a:spcAft>
            </a:pPr>
            <a:r>
              <a:rPr lang="ja-JP" altLang="en-US" sz="1000" dirty="0">
                <a:solidFill>
                  <a:schemeClr val="tx1"/>
                </a:solidFill>
                <a:latin typeface="游ゴシック" panose="020B0400000000000000" pitchFamily="50" charset="-128"/>
                <a:ea typeface="游ゴシック" panose="020B0400000000000000" pitchFamily="50" charset="-128"/>
              </a:rPr>
              <a:t>▪ ㈱講談社</a:t>
            </a:r>
            <a:endParaRPr lang="en-US" altLang="ja-JP" sz="1000" dirty="0">
              <a:solidFill>
                <a:schemeClr val="tx1"/>
              </a:solidFill>
              <a:latin typeface="游ゴシック" panose="020B0400000000000000" pitchFamily="50" charset="-128"/>
              <a:ea typeface="游ゴシック" panose="020B0400000000000000" pitchFamily="50" charset="-128"/>
            </a:endParaRPr>
          </a:p>
          <a:p>
            <a:pPr>
              <a:spcAft>
                <a:spcPts val="300"/>
              </a:spcAft>
            </a:pPr>
            <a:r>
              <a:rPr lang="ja-JP" altLang="en-US" sz="1000" dirty="0">
                <a:solidFill>
                  <a:schemeClr val="tx1"/>
                </a:solidFill>
                <a:latin typeface="游ゴシック" panose="020B0400000000000000" pitchFamily="50" charset="-128"/>
                <a:ea typeface="游ゴシック" panose="020B0400000000000000" pitchFamily="50" charset="-128"/>
              </a:rPr>
              <a:t>▪ ㈱アニプレックス</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300"/>
              </a:spcAft>
            </a:pPr>
            <a:r>
              <a:rPr sz="1000" b="0" dirty="0">
                <a:solidFill>
                  <a:schemeClr val="tx1"/>
                </a:solidFill>
                <a:latin typeface="游ゴシック" panose="020B0400000000000000" pitchFamily="50" charset="-128"/>
                <a:ea typeface="游ゴシック" panose="020B0400000000000000" pitchFamily="50" charset="-128"/>
              </a:rPr>
              <a:t>▪ ㈱KADOKAWA</a:t>
            </a:r>
            <a:endParaRPr lang="en-US" sz="1000" b="0" dirty="0">
              <a:solidFill>
                <a:schemeClr val="tx1"/>
              </a:solidFill>
              <a:latin typeface="游ゴシック" panose="020B0400000000000000" pitchFamily="50" charset="-128"/>
              <a:ea typeface="游ゴシック" panose="020B0400000000000000" pitchFamily="50" charset="-128"/>
            </a:endParaRPr>
          </a:p>
          <a:p>
            <a:pPr>
              <a:spcAft>
                <a:spcPts val="300"/>
              </a:spcAft>
            </a:pPr>
            <a:r>
              <a:rPr lang="ja-JP" altLang="en-US" sz="1000" dirty="0">
                <a:solidFill>
                  <a:schemeClr val="tx1"/>
                </a:solidFill>
                <a:latin typeface="游ゴシック" panose="020B0400000000000000" pitchFamily="50" charset="-128"/>
                <a:ea typeface="游ゴシック" panose="020B0400000000000000" pitchFamily="50" charset="-128"/>
              </a:rPr>
              <a:t>▪ ㈱小学館</a:t>
            </a:r>
            <a:r>
              <a:rPr lang="ja-JP" altLang="en-US" sz="1000" b="0" dirty="0">
                <a:solidFill>
                  <a:schemeClr val="tx1"/>
                </a:solidFill>
                <a:latin typeface="游ゴシック" panose="020B0400000000000000" pitchFamily="50" charset="-128"/>
                <a:ea typeface="游ゴシック" panose="020B0400000000000000" pitchFamily="50" charset="-128"/>
              </a:rPr>
              <a:t>集英社プロダクション</a:t>
            </a:r>
            <a:endParaRPr lang="en-US" sz="1000" b="0" dirty="0">
              <a:solidFill>
                <a:schemeClr val="tx1"/>
              </a:solidFill>
              <a:latin typeface="游ゴシック" panose="020B0400000000000000" pitchFamily="50" charset="-128"/>
              <a:ea typeface="游ゴシック" panose="020B0400000000000000" pitchFamily="50" charset="-128"/>
            </a:endParaRPr>
          </a:p>
        </p:txBody>
      </p:sp>
      <p:cxnSp>
        <p:nvCxnSpPr>
          <p:cNvPr id="42" name="Connector 52">
            <a:extLst>
              <a:ext uri="{FF2B5EF4-FFF2-40B4-BE49-F238E27FC236}">
                <a16:creationId xmlns:a16="http://schemas.microsoft.com/office/drawing/2014/main" id="{D98D89AF-84C3-4974-0432-9367A3B6AE88}"/>
              </a:ext>
            </a:extLst>
          </p:cNvPr>
          <p:cNvCxnSpPr/>
          <p:nvPr/>
        </p:nvCxnSpPr>
        <p:spPr>
          <a:xfrm>
            <a:off x="8360601" y="3996090"/>
            <a:ext cx="1801368"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sp>
        <p:nvSpPr>
          <p:cNvPr id="43" name="TextBox 53">
            <a:extLst>
              <a:ext uri="{FF2B5EF4-FFF2-40B4-BE49-F238E27FC236}">
                <a16:creationId xmlns:a16="http://schemas.microsoft.com/office/drawing/2014/main" id="{6F5F71A6-E742-8458-CCEE-5A4FF0F9F184}"/>
              </a:ext>
            </a:extLst>
          </p:cNvPr>
          <p:cNvSpPr txBox="1"/>
          <p:nvPr/>
        </p:nvSpPr>
        <p:spPr>
          <a:xfrm>
            <a:off x="8360601" y="5329588"/>
            <a:ext cx="1801368" cy="1159292"/>
          </a:xfrm>
          <a:prstGeom prst="rect">
            <a:avLst/>
          </a:prstGeom>
          <a:noFill/>
        </p:spPr>
        <p:txBody>
          <a:bodyPr wrap="square" lIns="0" tIns="0" rIns="0" bIns="0">
            <a:spAutoFit/>
          </a:bodyPr>
          <a:lstStyle/>
          <a:p>
            <a:pPr algn="l">
              <a:spcAft>
                <a:spcPts val="400"/>
              </a:spcAft>
            </a:pPr>
            <a:r>
              <a:rPr lang="en-US" altLang="ja-JP" sz="900" b="0" dirty="0">
                <a:solidFill>
                  <a:schemeClr val="tx1"/>
                </a:solidFill>
                <a:latin typeface="游ゴシック" panose="020B0400000000000000" pitchFamily="50" charset="-128"/>
                <a:ea typeface="游ゴシック" panose="020B0400000000000000" pitchFamily="50" charset="-128"/>
              </a:rPr>
              <a:t>※</a:t>
            </a:r>
            <a:r>
              <a:rPr lang="ja-JP" altLang="en-US" sz="900" b="0" dirty="0">
                <a:solidFill>
                  <a:schemeClr val="tx1"/>
                </a:solidFill>
                <a:latin typeface="游ゴシック" panose="020B0400000000000000" pitchFamily="50" charset="-128"/>
                <a:ea typeface="游ゴシック" panose="020B0400000000000000" pitchFamily="50" charset="-128"/>
              </a:rPr>
              <a:t>エンド顧客・店舗等への販売は取次企業（問屋）が担い、案件確定後に問屋側で必要ロット数を確定のうえ、対象会社へ発注する流れ。</a:t>
            </a:r>
            <a:endParaRPr lang="en-US" altLang="ja-JP" sz="900" b="0" dirty="0">
              <a:solidFill>
                <a:schemeClr val="tx1"/>
              </a:solidFill>
              <a:latin typeface="游ゴシック" panose="020B0400000000000000" pitchFamily="50" charset="-128"/>
              <a:ea typeface="游ゴシック" panose="020B0400000000000000" pitchFamily="50" charset="-128"/>
            </a:endParaRPr>
          </a:p>
          <a:p>
            <a:pPr algn="l">
              <a:spcAft>
                <a:spcPts val="400"/>
              </a:spcAft>
            </a:pPr>
            <a:r>
              <a:rPr lang="en-US" altLang="ja-JP" sz="900" b="0" dirty="0">
                <a:solidFill>
                  <a:schemeClr val="tx1"/>
                </a:solidFill>
                <a:latin typeface="游ゴシック" panose="020B0400000000000000" pitchFamily="50" charset="-128"/>
                <a:ea typeface="游ゴシック" panose="020B0400000000000000" pitchFamily="50" charset="-128"/>
              </a:rPr>
              <a:t>※</a:t>
            </a:r>
            <a:r>
              <a:rPr lang="ja-JP" altLang="en-US" sz="900" b="0" dirty="0">
                <a:solidFill>
                  <a:schemeClr val="tx1"/>
                </a:solidFill>
                <a:latin typeface="游ゴシック" panose="020B0400000000000000" pitchFamily="50" charset="-128"/>
                <a:ea typeface="游ゴシック" panose="020B0400000000000000" pitchFamily="50" charset="-128"/>
              </a:rPr>
              <a:t>在庫を大きく抱えない方針のもと、実態としては受発注モデルに近い商流を構築している。</a:t>
            </a:r>
            <a:endParaRPr lang="en-US" altLang="ja-JP" sz="900" b="0" dirty="0">
              <a:solidFill>
                <a:schemeClr val="tx1"/>
              </a:solidFill>
              <a:latin typeface="游ゴシック" panose="020B0400000000000000" pitchFamily="50" charset="-128"/>
              <a:ea typeface="游ゴシック" panose="020B0400000000000000" pitchFamily="50" charset="-128"/>
            </a:endParaRPr>
          </a:p>
        </p:txBody>
      </p:sp>
      <p:sp>
        <p:nvSpPr>
          <p:cNvPr id="44" name="Left Arrow 54">
            <a:extLst>
              <a:ext uri="{FF2B5EF4-FFF2-40B4-BE49-F238E27FC236}">
                <a16:creationId xmlns:a16="http://schemas.microsoft.com/office/drawing/2014/main" id="{E4DE0929-9AB8-FBFF-B5D2-BA41D2DC6044}"/>
              </a:ext>
            </a:extLst>
          </p:cNvPr>
          <p:cNvSpPr/>
          <p:nvPr/>
        </p:nvSpPr>
        <p:spPr>
          <a:xfrm>
            <a:off x="7400481" y="3102065"/>
            <a:ext cx="713232" cy="310896"/>
          </a:xfrm>
          <a:prstGeom prst="lef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sp>
        <p:nvSpPr>
          <p:cNvPr id="45" name="TextBox 55">
            <a:extLst>
              <a:ext uri="{FF2B5EF4-FFF2-40B4-BE49-F238E27FC236}">
                <a16:creationId xmlns:a16="http://schemas.microsoft.com/office/drawing/2014/main" id="{D18927BF-E209-D710-2164-8EC9DE667BB8}"/>
              </a:ext>
            </a:extLst>
          </p:cNvPr>
          <p:cNvSpPr txBox="1"/>
          <p:nvPr/>
        </p:nvSpPr>
        <p:spPr>
          <a:xfrm>
            <a:off x="7217601" y="2864320"/>
            <a:ext cx="1078992" cy="138499"/>
          </a:xfrm>
          <a:prstGeom prst="rect">
            <a:avLst/>
          </a:prstGeom>
          <a:noFill/>
        </p:spPr>
        <p:txBody>
          <a:bodyPr wrap="square" lIns="0" tIns="0" rIns="0" bIns="0">
            <a:spAutoFit/>
          </a:bodyPr>
          <a:lstStyle/>
          <a:p>
            <a:pPr algn="ctr">
              <a:spcAft>
                <a:spcPts val="100"/>
              </a:spcAft>
            </a:pPr>
            <a:r>
              <a:rPr lang="ja-JP" altLang="en-US" sz="900" b="1" dirty="0">
                <a:solidFill>
                  <a:srgbClr val="0889C9"/>
                </a:solidFill>
                <a:latin typeface="游ゴシック" panose="020B0400000000000000" pitchFamily="50" charset="-128"/>
                <a:ea typeface="游ゴシック" panose="020B0400000000000000" pitchFamily="50" charset="-128"/>
              </a:rPr>
              <a:t>①</a:t>
            </a:r>
            <a:r>
              <a:rPr sz="900" b="1" dirty="0" err="1">
                <a:solidFill>
                  <a:srgbClr val="0889C9"/>
                </a:solidFill>
                <a:latin typeface="游ゴシック" panose="020B0400000000000000" pitchFamily="50" charset="-128"/>
                <a:ea typeface="游ゴシック" panose="020B0400000000000000" pitchFamily="50" charset="-128"/>
              </a:rPr>
              <a:t>商品化許諾</a:t>
            </a:r>
            <a:endParaRPr sz="900" b="1" dirty="0">
              <a:solidFill>
                <a:srgbClr val="0889C9"/>
              </a:solidFill>
              <a:latin typeface="游ゴシック" panose="020B0400000000000000" pitchFamily="50" charset="-128"/>
              <a:ea typeface="游ゴシック" panose="020B0400000000000000" pitchFamily="50" charset="-128"/>
            </a:endParaRPr>
          </a:p>
        </p:txBody>
      </p:sp>
      <p:sp>
        <p:nvSpPr>
          <p:cNvPr id="48" name="TextBox 56">
            <a:extLst>
              <a:ext uri="{FF2B5EF4-FFF2-40B4-BE49-F238E27FC236}">
                <a16:creationId xmlns:a16="http://schemas.microsoft.com/office/drawing/2014/main" id="{1A4EAAF2-1B7B-9799-DD61-51DF24F13DC1}"/>
              </a:ext>
            </a:extLst>
          </p:cNvPr>
          <p:cNvSpPr txBox="1"/>
          <p:nvPr/>
        </p:nvSpPr>
        <p:spPr>
          <a:xfrm>
            <a:off x="7217601" y="3440392"/>
            <a:ext cx="1078992" cy="123111"/>
          </a:xfrm>
          <a:prstGeom prst="rect">
            <a:avLst/>
          </a:prstGeom>
          <a:noFill/>
        </p:spPr>
        <p:txBody>
          <a:bodyPr wrap="square" lIns="0" tIns="0" rIns="0" bIns="0">
            <a:spAutoFit/>
          </a:bodyPr>
          <a:lstStyle/>
          <a:p>
            <a:pPr algn="ctr">
              <a:spcAft>
                <a:spcPts val="100"/>
              </a:spcAft>
            </a:pPr>
            <a:r>
              <a:rPr sz="800" b="0" dirty="0" err="1">
                <a:solidFill>
                  <a:schemeClr val="tx1"/>
                </a:solidFill>
                <a:latin typeface="游ゴシック" panose="020B0400000000000000" pitchFamily="50" charset="-128"/>
                <a:ea typeface="游ゴシック" panose="020B0400000000000000" pitchFamily="50" charset="-128"/>
              </a:rPr>
              <a:t>ライセンス</a:t>
            </a:r>
            <a:r>
              <a:rPr lang="ja-JP" altLang="en-US" sz="800" b="0" dirty="0">
                <a:solidFill>
                  <a:schemeClr val="tx1"/>
                </a:solidFill>
                <a:latin typeface="游ゴシック" panose="020B0400000000000000" pitchFamily="50" charset="-128"/>
                <a:ea typeface="游ゴシック" panose="020B0400000000000000" pitchFamily="50" charset="-128"/>
              </a:rPr>
              <a:t>付与</a:t>
            </a:r>
            <a:endParaRPr sz="800" b="0" dirty="0">
              <a:solidFill>
                <a:schemeClr val="tx1"/>
              </a:solidFill>
              <a:latin typeface="游ゴシック" panose="020B0400000000000000" pitchFamily="50" charset="-128"/>
              <a:ea typeface="游ゴシック" panose="020B0400000000000000" pitchFamily="50" charset="-128"/>
            </a:endParaRPr>
          </a:p>
        </p:txBody>
      </p:sp>
      <p:sp>
        <p:nvSpPr>
          <p:cNvPr id="53" name="Right Arrow 57">
            <a:extLst>
              <a:ext uri="{FF2B5EF4-FFF2-40B4-BE49-F238E27FC236}">
                <a16:creationId xmlns:a16="http://schemas.microsoft.com/office/drawing/2014/main" id="{44DBE307-27DF-6D76-9A03-560830CF7D46}"/>
              </a:ext>
            </a:extLst>
          </p:cNvPr>
          <p:cNvSpPr/>
          <p:nvPr/>
        </p:nvSpPr>
        <p:spPr>
          <a:xfrm>
            <a:off x="7400481" y="4878332"/>
            <a:ext cx="713232" cy="310896"/>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sp>
        <p:nvSpPr>
          <p:cNvPr id="54" name="TextBox 58">
            <a:extLst>
              <a:ext uri="{FF2B5EF4-FFF2-40B4-BE49-F238E27FC236}">
                <a16:creationId xmlns:a16="http://schemas.microsoft.com/office/drawing/2014/main" id="{783A084D-D93F-FB18-CAEF-C3D166E205E1}"/>
              </a:ext>
            </a:extLst>
          </p:cNvPr>
          <p:cNvSpPr txBox="1"/>
          <p:nvPr/>
        </p:nvSpPr>
        <p:spPr>
          <a:xfrm>
            <a:off x="7217601" y="5258879"/>
            <a:ext cx="1078992" cy="138499"/>
          </a:xfrm>
          <a:prstGeom prst="rect">
            <a:avLst/>
          </a:prstGeom>
          <a:noFill/>
        </p:spPr>
        <p:txBody>
          <a:bodyPr wrap="square" lIns="0" tIns="0" rIns="0" bIns="0">
            <a:spAutoFit/>
          </a:bodyPr>
          <a:lstStyle/>
          <a:p>
            <a:pPr algn="ctr">
              <a:spcAft>
                <a:spcPts val="100"/>
              </a:spcAft>
            </a:pPr>
            <a:r>
              <a:rPr lang="ja-JP" altLang="en-US" sz="900" b="1" dirty="0">
                <a:solidFill>
                  <a:srgbClr val="0889C9"/>
                </a:solidFill>
                <a:latin typeface="游ゴシック" panose="020B0400000000000000" pitchFamily="50" charset="-128"/>
                <a:ea typeface="游ゴシック" panose="020B0400000000000000" pitchFamily="50" charset="-128"/>
              </a:rPr>
              <a:t>③納品</a:t>
            </a:r>
            <a:endParaRPr sz="900" b="1" dirty="0">
              <a:solidFill>
                <a:srgbClr val="0889C9"/>
              </a:solidFill>
              <a:latin typeface="游ゴシック" panose="020B0400000000000000" pitchFamily="50" charset="-128"/>
              <a:ea typeface="游ゴシック" panose="020B0400000000000000" pitchFamily="50" charset="-128"/>
            </a:endParaRPr>
          </a:p>
        </p:txBody>
      </p:sp>
      <p:sp>
        <p:nvSpPr>
          <p:cNvPr id="58" name="Right Arrow 60">
            <a:extLst>
              <a:ext uri="{FF2B5EF4-FFF2-40B4-BE49-F238E27FC236}">
                <a16:creationId xmlns:a16="http://schemas.microsoft.com/office/drawing/2014/main" id="{2BD2A9B2-E10F-BEF7-2974-8EA298B17236}"/>
              </a:ext>
            </a:extLst>
          </p:cNvPr>
          <p:cNvSpPr/>
          <p:nvPr/>
        </p:nvSpPr>
        <p:spPr>
          <a:xfrm>
            <a:off x="7400481" y="2304046"/>
            <a:ext cx="713232" cy="310896"/>
          </a:xfrm>
          <a:prstGeom prst="rightArrow">
            <a:avLst/>
          </a:prstGeom>
          <a:solidFill>
            <a:srgbClr val="E1F3FB"/>
          </a:solidFill>
          <a:ln w="952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sp>
        <p:nvSpPr>
          <p:cNvPr id="59" name="TextBox 61">
            <a:extLst>
              <a:ext uri="{FF2B5EF4-FFF2-40B4-BE49-F238E27FC236}">
                <a16:creationId xmlns:a16="http://schemas.microsoft.com/office/drawing/2014/main" id="{87C665C2-4285-A388-3002-6F9D09AE784C}"/>
              </a:ext>
            </a:extLst>
          </p:cNvPr>
          <p:cNvSpPr txBox="1"/>
          <p:nvPr/>
        </p:nvSpPr>
        <p:spPr>
          <a:xfrm>
            <a:off x="7217601" y="2066302"/>
            <a:ext cx="1078992" cy="138499"/>
          </a:xfrm>
          <a:prstGeom prst="rect">
            <a:avLst/>
          </a:prstGeom>
          <a:noFill/>
        </p:spPr>
        <p:txBody>
          <a:bodyPr wrap="square" lIns="0" tIns="0" rIns="0" bIns="0">
            <a:spAutoFit/>
          </a:bodyPr>
          <a:lstStyle/>
          <a:p>
            <a:pPr algn="ctr">
              <a:spcAft>
                <a:spcPts val="100"/>
              </a:spcAft>
            </a:pPr>
            <a:r>
              <a:rPr sz="900" b="1">
                <a:solidFill>
                  <a:srgbClr val="BF8F00"/>
                </a:solidFill>
                <a:latin typeface="游ゴシック" panose="020B0400000000000000" pitchFamily="50" charset="-128"/>
                <a:ea typeface="游ゴシック" panose="020B0400000000000000" pitchFamily="50" charset="-128"/>
              </a:rPr>
              <a:t>ロイヤリティ</a:t>
            </a:r>
          </a:p>
        </p:txBody>
      </p:sp>
      <p:sp>
        <p:nvSpPr>
          <p:cNvPr id="60" name="TextBox 62">
            <a:extLst>
              <a:ext uri="{FF2B5EF4-FFF2-40B4-BE49-F238E27FC236}">
                <a16:creationId xmlns:a16="http://schemas.microsoft.com/office/drawing/2014/main" id="{DCA52493-E5BF-F58F-071F-83A0C82068B0}"/>
              </a:ext>
            </a:extLst>
          </p:cNvPr>
          <p:cNvSpPr txBox="1"/>
          <p:nvPr/>
        </p:nvSpPr>
        <p:spPr>
          <a:xfrm>
            <a:off x="7217601" y="2642374"/>
            <a:ext cx="1078992" cy="123111"/>
          </a:xfrm>
          <a:prstGeom prst="rect">
            <a:avLst/>
          </a:prstGeom>
          <a:noFill/>
        </p:spPr>
        <p:txBody>
          <a:bodyPr wrap="square" lIns="0" tIns="0" rIns="0" bIns="0">
            <a:spAutoFit/>
          </a:bodyPr>
          <a:lstStyle/>
          <a:p>
            <a:pPr algn="ctr">
              <a:spcAft>
                <a:spcPts val="100"/>
              </a:spcAft>
            </a:pPr>
            <a:r>
              <a:rPr sz="800" b="0" dirty="0" err="1">
                <a:solidFill>
                  <a:schemeClr val="tx1"/>
                </a:solidFill>
                <a:latin typeface="游ゴシック" panose="020B0400000000000000" pitchFamily="50" charset="-128"/>
                <a:ea typeface="游ゴシック" panose="020B0400000000000000" pitchFamily="50" charset="-128"/>
              </a:rPr>
              <a:t>料率</a:t>
            </a:r>
            <a:r>
              <a:rPr sz="800" b="0" dirty="0">
                <a:solidFill>
                  <a:schemeClr val="tx1"/>
                </a:solidFill>
                <a:latin typeface="游ゴシック" panose="020B0400000000000000" pitchFamily="50" charset="-128"/>
                <a:ea typeface="游ゴシック" panose="020B0400000000000000" pitchFamily="50" charset="-128"/>
              </a:rPr>
              <a:t> </a:t>
            </a:r>
            <a:r>
              <a:rPr lang="en-US" sz="800" b="0" dirty="0">
                <a:solidFill>
                  <a:schemeClr val="tx1"/>
                </a:solidFill>
                <a:latin typeface="游ゴシック" panose="020B0400000000000000" pitchFamily="50" charset="-128"/>
                <a:ea typeface="游ゴシック" panose="020B0400000000000000" pitchFamily="50" charset="-128"/>
              </a:rPr>
              <a:t>5~8</a:t>
            </a:r>
            <a:r>
              <a:rPr sz="800" b="0" dirty="0">
                <a:solidFill>
                  <a:schemeClr val="tx1"/>
                </a:solidFill>
                <a:latin typeface="游ゴシック" panose="020B0400000000000000" pitchFamily="50" charset="-128"/>
                <a:ea typeface="游ゴシック" panose="020B0400000000000000" pitchFamily="50" charset="-128"/>
              </a:rPr>
              <a:t>%</a:t>
            </a:r>
          </a:p>
        </p:txBody>
      </p:sp>
      <p:sp>
        <p:nvSpPr>
          <p:cNvPr id="62" name="Rectangle 64">
            <a:extLst>
              <a:ext uri="{FF2B5EF4-FFF2-40B4-BE49-F238E27FC236}">
                <a16:creationId xmlns:a16="http://schemas.microsoft.com/office/drawing/2014/main" id="{42C25FA8-6C63-A773-2C41-14DC1DF9086F}"/>
              </a:ext>
            </a:extLst>
          </p:cNvPr>
          <p:cNvSpPr/>
          <p:nvPr/>
        </p:nvSpPr>
        <p:spPr>
          <a:xfrm>
            <a:off x="341313" y="5324397"/>
            <a:ext cx="6931152" cy="1400183"/>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cxnSp>
        <p:nvCxnSpPr>
          <p:cNvPr id="63" name="Connector 65">
            <a:extLst>
              <a:ext uri="{FF2B5EF4-FFF2-40B4-BE49-F238E27FC236}">
                <a16:creationId xmlns:a16="http://schemas.microsoft.com/office/drawing/2014/main" id="{78253F88-3E86-9F69-8965-D6DC7F7BEEF6}"/>
              </a:ext>
            </a:extLst>
          </p:cNvPr>
          <p:cNvCxnSpPr/>
          <p:nvPr/>
        </p:nvCxnSpPr>
        <p:spPr>
          <a:xfrm>
            <a:off x="341313" y="5324398"/>
            <a:ext cx="6931152"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64" name="TextBox 66">
            <a:extLst>
              <a:ext uri="{FF2B5EF4-FFF2-40B4-BE49-F238E27FC236}">
                <a16:creationId xmlns:a16="http://schemas.microsoft.com/office/drawing/2014/main" id="{430BF878-99AB-C725-FFC4-D19D5EE3D98A}"/>
              </a:ext>
            </a:extLst>
          </p:cNvPr>
          <p:cNvSpPr txBox="1"/>
          <p:nvPr/>
        </p:nvSpPr>
        <p:spPr>
          <a:xfrm>
            <a:off x="341313" y="5415838"/>
            <a:ext cx="6931152" cy="215444"/>
          </a:xfrm>
          <a:prstGeom prst="rect">
            <a:avLst/>
          </a:prstGeom>
          <a:noFill/>
        </p:spPr>
        <p:txBody>
          <a:bodyPr wrap="square" lIns="0" tIns="0" rIns="0" bIns="0">
            <a:spAutoFit/>
          </a:bodyPr>
          <a:lstStyle/>
          <a:p>
            <a:pPr algn="ctr">
              <a:spcAft>
                <a:spcPts val="100"/>
              </a:spcAft>
            </a:pPr>
            <a:r>
              <a:rPr sz="1400" b="1">
                <a:solidFill>
                  <a:srgbClr val="0B3041"/>
                </a:solidFill>
                <a:latin typeface="游ゴシック" panose="020B0400000000000000" pitchFamily="50" charset="-128"/>
                <a:ea typeface="游ゴシック" panose="020B0400000000000000" pitchFamily="50" charset="-128"/>
              </a:rPr>
              <a:t>主要仕入先・外注先</a:t>
            </a:r>
          </a:p>
        </p:txBody>
      </p:sp>
      <p:sp>
        <p:nvSpPr>
          <p:cNvPr id="65" name="TextBox 67">
            <a:extLst>
              <a:ext uri="{FF2B5EF4-FFF2-40B4-BE49-F238E27FC236}">
                <a16:creationId xmlns:a16="http://schemas.microsoft.com/office/drawing/2014/main" id="{22D936E8-1F86-4A16-10F7-C66BFE2C048B}"/>
              </a:ext>
            </a:extLst>
          </p:cNvPr>
          <p:cNvSpPr txBox="1"/>
          <p:nvPr/>
        </p:nvSpPr>
        <p:spPr>
          <a:xfrm>
            <a:off x="615633" y="5787730"/>
            <a:ext cx="3246120" cy="333425"/>
          </a:xfrm>
          <a:prstGeom prst="rect">
            <a:avLst/>
          </a:prstGeom>
          <a:noFill/>
        </p:spPr>
        <p:txBody>
          <a:bodyPr wrap="square" lIns="0" tIns="0" rIns="0" bIns="0">
            <a:spAutoFit/>
          </a:bodyPr>
          <a:lstStyle/>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貿易商社（中国製グッズの製造委託</a:t>
            </a:r>
            <a:r>
              <a:rPr sz="1000" b="0" dirty="0">
                <a:solidFill>
                  <a:schemeClr val="tx1"/>
                </a:solidFill>
                <a:latin typeface="游ゴシック" panose="020B0400000000000000" pitchFamily="50" charset="-128"/>
                <a:ea typeface="游ゴシック" panose="020B0400000000000000" pitchFamily="50" charset="-128"/>
              </a:rPr>
              <a:t>）</a:t>
            </a:r>
          </a:p>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各種メーカ</a:t>
            </a:r>
            <a:r>
              <a:rPr sz="1000" b="0" dirty="0">
                <a:solidFill>
                  <a:schemeClr val="tx1"/>
                </a:solidFill>
                <a:latin typeface="游ゴシック" panose="020B0400000000000000" pitchFamily="50" charset="-128"/>
                <a:ea typeface="游ゴシック" panose="020B0400000000000000" pitchFamily="50" charset="-128"/>
              </a:rPr>
              <a:t>ー（</a:t>
            </a:r>
            <a:r>
              <a:rPr sz="1000" b="0" dirty="0" err="1">
                <a:solidFill>
                  <a:schemeClr val="tx1"/>
                </a:solidFill>
                <a:latin typeface="游ゴシック" panose="020B0400000000000000" pitchFamily="50" charset="-128"/>
                <a:ea typeface="游ゴシック" panose="020B0400000000000000" pitchFamily="50" charset="-128"/>
              </a:rPr>
              <a:t>アクリル・缶バッジ・紙・成形品等</a:t>
            </a:r>
            <a:r>
              <a:rPr sz="1000" b="0" dirty="0">
                <a:solidFill>
                  <a:schemeClr val="tx1"/>
                </a:solidFill>
                <a:latin typeface="游ゴシック" panose="020B0400000000000000" pitchFamily="50" charset="-128"/>
                <a:ea typeface="游ゴシック" panose="020B0400000000000000" pitchFamily="50" charset="-128"/>
              </a:rPr>
              <a:t>）</a:t>
            </a:r>
          </a:p>
        </p:txBody>
      </p:sp>
      <p:sp>
        <p:nvSpPr>
          <p:cNvPr id="66" name="TextBox 68">
            <a:extLst>
              <a:ext uri="{FF2B5EF4-FFF2-40B4-BE49-F238E27FC236}">
                <a16:creationId xmlns:a16="http://schemas.microsoft.com/office/drawing/2014/main" id="{A4AE6196-F4C8-24AD-9BD4-3BADBC62684D}"/>
              </a:ext>
            </a:extLst>
          </p:cNvPr>
          <p:cNvSpPr txBox="1"/>
          <p:nvPr/>
        </p:nvSpPr>
        <p:spPr>
          <a:xfrm>
            <a:off x="4044633" y="5787730"/>
            <a:ext cx="3172968" cy="333425"/>
          </a:xfrm>
          <a:prstGeom prst="rect">
            <a:avLst/>
          </a:prstGeom>
          <a:noFill/>
        </p:spPr>
        <p:txBody>
          <a:bodyPr wrap="square" lIns="0" tIns="0" rIns="0" bIns="0">
            <a:spAutoFit/>
          </a:bodyPr>
          <a:lstStyle/>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国内専門メーカ</a:t>
            </a:r>
            <a:r>
              <a:rPr sz="1000" b="0" dirty="0">
                <a:solidFill>
                  <a:schemeClr val="tx1"/>
                </a:solidFill>
                <a:latin typeface="游ゴシック" panose="020B0400000000000000" pitchFamily="50" charset="-128"/>
                <a:ea typeface="游ゴシック" panose="020B0400000000000000" pitchFamily="50" charset="-128"/>
              </a:rPr>
              <a:t>ー（</a:t>
            </a:r>
            <a:r>
              <a:rPr sz="1000" b="0" dirty="0" err="1">
                <a:solidFill>
                  <a:schemeClr val="tx1"/>
                </a:solidFill>
                <a:latin typeface="游ゴシック" panose="020B0400000000000000" pitchFamily="50" charset="-128"/>
                <a:ea typeface="游ゴシック" panose="020B0400000000000000" pitchFamily="50" charset="-128"/>
              </a:rPr>
              <a:t>小ロット・特殊加工</a:t>
            </a:r>
            <a:r>
              <a:rPr sz="1000" b="0" dirty="0">
                <a:solidFill>
                  <a:schemeClr val="tx1"/>
                </a:solidFill>
                <a:latin typeface="游ゴシック" panose="020B0400000000000000" pitchFamily="50" charset="-128"/>
                <a:ea typeface="游ゴシック" panose="020B0400000000000000" pitchFamily="50" charset="-128"/>
              </a:rPr>
              <a:t>）</a:t>
            </a:r>
          </a:p>
          <a:p>
            <a:pPr algn="l">
              <a:spcAft>
                <a:spcPts val="2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大ロットは中国、小ロット・特殊加工は国内で対応</a:t>
            </a:r>
            <a:endParaRPr sz="1000" b="0" dirty="0">
              <a:solidFill>
                <a:schemeClr val="tx1"/>
              </a:solidFill>
              <a:latin typeface="游ゴシック" panose="020B0400000000000000" pitchFamily="50" charset="-128"/>
              <a:ea typeface="游ゴシック" panose="020B0400000000000000" pitchFamily="50" charset="-128"/>
            </a:endParaRPr>
          </a:p>
        </p:txBody>
      </p:sp>
      <p:sp>
        <p:nvSpPr>
          <p:cNvPr id="67" name="TextBox 69">
            <a:extLst>
              <a:ext uri="{FF2B5EF4-FFF2-40B4-BE49-F238E27FC236}">
                <a16:creationId xmlns:a16="http://schemas.microsoft.com/office/drawing/2014/main" id="{B5E1165C-9F39-D8CF-9861-90F95791A68C}"/>
              </a:ext>
            </a:extLst>
          </p:cNvPr>
          <p:cNvSpPr txBox="1"/>
          <p:nvPr/>
        </p:nvSpPr>
        <p:spPr>
          <a:xfrm>
            <a:off x="615633" y="6277603"/>
            <a:ext cx="6382512" cy="123111"/>
          </a:xfrm>
          <a:prstGeom prst="rect">
            <a:avLst/>
          </a:prstGeom>
          <a:noFill/>
        </p:spPr>
        <p:txBody>
          <a:bodyPr wrap="square" lIns="0" tIns="0" rIns="0" bIns="0">
            <a:spAutoFit/>
          </a:bodyPr>
          <a:lstStyle/>
          <a:p>
            <a:pPr algn="l">
              <a:spcAft>
                <a:spcPts val="100"/>
              </a:spcAft>
            </a:pPr>
            <a:r>
              <a:rPr sz="800" b="0" dirty="0">
                <a:solidFill>
                  <a:schemeClr val="tx1"/>
                </a:solidFill>
                <a:latin typeface="游ゴシック" panose="020B0400000000000000" pitchFamily="50" charset="-128"/>
                <a:ea typeface="游ゴシック" panose="020B0400000000000000" pitchFamily="50" charset="-128"/>
              </a:rPr>
              <a:t>※ </a:t>
            </a:r>
            <a:r>
              <a:rPr lang="ja-JP" altLang="en-US" sz="800" dirty="0">
                <a:solidFill>
                  <a:schemeClr val="tx1"/>
                </a:solidFill>
                <a:latin typeface="游ゴシック" panose="020B0400000000000000" pitchFamily="50" charset="-128"/>
                <a:ea typeface="游ゴシック" panose="020B0400000000000000" pitchFamily="50" charset="-128"/>
              </a:rPr>
              <a:t>現時点では、仕入先・外注先の社名の開示は出来かねます。</a:t>
            </a:r>
            <a:r>
              <a:rPr lang="en-US" altLang="ja-JP" sz="800" dirty="0">
                <a:solidFill>
                  <a:schemeClr val="tx1"/>
                </a:solidFill>
                <a:latin typeface="游ゴシック" panose="020B0400000000000000" pitchFamily="50" charset="-128"/>
                <a:ea typeface="游ゴシック" panose="020B0400000000000000" pitchFamily="50" charset="-128"/>
              </a:rPr>
              <a:t>DD</a:t>
            </a:r>
            <a:r>
              <a:rPr lang="ja-JP" altLang="en-US" sz="800" dirty="0">
                <a:solidFill>
                  <a:schemeClr val="tx1"/>
                </a:solidFill>
                <a:latin typeface="游ゴシック" panose="020B0400000000000000" pitchFamily="50" charset="-128"/>
                <a:ea typeface="游ゴシック" panose="020B0400000000000000" pitchFamily="50" charset="-128"/>
              </a:rPr>
              <a:t>フェーズ以降にて開示をさせて頂きます。</a:t>
            </a:r>
            <a:endParaRPr sz="800" b="0" dirty="0">
              <a:solidFill>
                <a:schemeClr val="tx1"/>
              </a:solidFill>
              <a:latin typeface="游ゴシック" panose="020B0400000000000000" pitchFamily="50" charset="-128"/>
              <a:ea typeface="游ゴシック" panose="020B0400000000000000" pitchFamily="50" charset="-128"/>
            </a:endParaRPr>
          </a:p>
        </p:txBody>
      </p:sp>
      <p:sp>
        <p:nvSpPr>
          <p:cNvPr id="5" name="TextBox 50">
            <a:extLst>
              <a:ext uri="{FF2B5EF4-FFF2-40B4-BE49-F238E27FC236}">
                <a16:creationId xmlns:a16="http://schemas.microsoft.com/office/drawing/2014/main" id="{C3A4621C-73A5-33DE-3731-A1216F213148}"/>
              </a:ext>
            </a:extLst>
          </p:cNvPr>
          <p:cNvSpPr txBox="1"/>
          <p:nvPr/>
        </p:nvSpPr>
        <p:spPr>
          <a:xfrm>
            <a:off x="8360601" y="4222166"/>
            <a:ext cx="1801368" cy="153888"/>
          </a:xfrm>
          <a:prstGeom prst="rect">
            <a:avLst/>
          </a:prstGeom>
          <a:noFill/>
        </p:spPr>
        <p:txBody>
          <a:bodyPr wrap="square" lIns="0" tIns="0" rIns="0" bIns="0">
            <a:spAutoFit/>
          </a:bodyPr>
          <a:lstStyle/>
          <a:p>
            <a:pPr>
              <a:spcAft>
                <a:spcPts val="100"/>
              </a:spcAft>
            </a:pPr>
            <a:r>
              <a:rPr lang="zh-TW" altLang="en-US" sz="1000" b="1" dirty="0">
                <a:solidFill>
                  <a:srgbClr val="0889C9"/>
                </a:solidFill>
                <a:latin typeface="游ゴシック" panose="020B0400000000000000" pitchFamily="50" charset="-128"/>
                <a:ea typeface="游ゴシック" panose="020B0400000000000000" pitchFamily="50" charset="-128"/>
              </a:rPr>
              <a:t>問屋（取次企業）</a:t>
            </a:r>
          </a:p>
        </p:txBody>
      </p:sp>
      <p:sp>
        <p:nvSpPr>
          <p:cNvPr id="7" name="TextBox 51">
            <a:extLst>
              <a:ext uri="{FF2B5EF4-FFF2-40B4-BE49-F238E27FC236}">
                <a16:creationId xmlns:a16="http://schemas.microsoft.com/office/drawing/2014/main" id="{CF12FD72-B4A4-F6CD-D1C8-A94E98AFD3D6}"/>
              </a:ext>
            </a:extLst>
          </p:cNvPr>
          <p:cNvSpPr txBox="1"/>
          <p:nvPr/>
        </p:nvSpPr>
        <p:spPr>
          <a:xfrm>
            <a:off x="8244035" y="4474509"/>
            <a:ext cx="1984167" cy="730969"/>
          </a:xfrm>
          <a:prstGeom prst="rect">
            <a:avLst/>
          </a:prstGeom>
          <a:noFill/>
        </p:spPr>
        <p:txBody>
          <a:bodyPr wrap="square" lIns="0" tIns="0" rIns="0" bIns="0">
            <a:spAutoFit/>
          </a:bodyPr>
          <a:lstStyle/>
          <a:p>
            <a:pPr algn="l">
              <a:spcAft>
                <a:spcPts val="3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ムービック</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3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スモールプラネット</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3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ソル・インターナショナル</a:t>
            </a:r>
            <a:endParaRPr sz="1000" b="0" dirty="0">
              <a:solidFill>
                <a:schemeClr val="tx1"/>
              </a:solidFill>
              <a:latin typeface="游ゴシック" panose="020B0400000000000000" pitchFamily="50" charset="-128"/>
              <a:ea typeface="游ゴシック" panose="020B0400000000000000" pitchFamily="50" charset="-128"/>
            </a:endParaRPr>
          </a:p>
          <a:p>
            <a:pPr algn="l">
              <a:spcAft>
                <a:spcPts val="300"/>
              </a:spcAft>
            </a:pPr>
            <a:r>
              <a:rPr sz="1000" b="0" dirty="0">
                <a:solidFill>
                  <a:schemeClr val="tx1"/>
                </a:solidFill>
                <a:latin typeface="游ゴシック" panose="020B0400000000000000" pitchFamily="50" charset="-128"/>
                <a:ea typeface="游ゴシック" panose="020B0400000000000000" pitchFamily="50" charset="-128"/>
              </a:rPr>
              <a:t>▪ ㈱</a:t>
            </a:r>
            <a:r>
              <a:rPr sz="1000" b="0" dirty="0" err="1">
                <a:solidFill>
                  <a:schemeClr val="tx1"/>
                </a:solidFill>
                <a:latin typeface="游ゴシック" panose="020B0400000000000000" pitchFamily="50" charset="-128"/>
                <a:ea typeface="游ゴシック" panose="020B0400000000000000" pitchFamily="50" charset="-128"/>
              </a:rPr>
              <a:t>ケンメディア</a:t>
            </a:r>
            <a:r>
              <a:rPr sz="1000" b="0" dirty="0">
                <a:solidFill>
                  <a:schemeClr val="tx1"/>
                </a:solidFill>
                <a:latin typeface="游ゴシック" panose="020B0400000000000000" pitchFamily="50" charset="-128"/>
                <a:ea typeface="游ゴシック" panose="020B0400000000000000" pitchFamily="50" charset="-128"/>
              </a:rPr>
              <a:t>　等</a:t>
            </a:r>
          </a:p>
        </p:txBody>
      </p:sp>
      <p:sp>
        <p:nvSpPr>
          <p:cNvPr id="8" name="Right Arrow 57">
            <a:extLst>
              <a:ext uri="{FF2B5EF4-FFF2-40B4-BE49-F238E27FC236}">
                <a16:creationId xmlns:a16="http://schemas.microsoft.com/office/drawing/2014/main" id="{C03A9281-5550-417C-6C23-69EE7427799F}"/>
              </a:ext>
            </a:extLst>
          </p:cNvPr>
          <p:cNvSpPr/>
          <p:nvPr/>
        </p:nvSpPr>
        <p:spPr>
          <a:xfrm rot="10800000">
            <a:off x="7400481" y="4225854"/>
            <a:ext cx="713232" cy="310896"/>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游ゴシック" panose="020B0400000000000000" pitchFamily="50" charset="-128"/>
              <a:ea typeface="游ゴシック" panose="020B0400000000000000" pitchFamily="50" charset="-128"/>
            </a:endParaRPr>
          </a:p>
        </p:txBody>
      </p:sp>
      <p:sp>
        <p:nvSpPr>
          <p:cNvPr id="9" name="TextBox 58">
            <a:extLst>
              <a:ext uri="{FF2B5EF4-FFF2-40B4-BE49-F238E27FC236}">
                <a16:creationId xmlns:a16="http://schemas.microsoft.com/office/drawing/2014/main" id="{C7DDB34F-E5D0-7CBF-80BD-3A4C2BBB834A}"/>
              </a:ext>
            </a:extLst>
          </p:cNvPr>
          <p:cNvSpPr txBox="1"/>
          <p:nvPr/>
        </p:nvSpPr>
        <p:spPr>
          <a:xfrm>
            <a:off x="7217601" y="4029875"/>
            <a:ext cx="1078992" cy="138499"/>
          </a:xfrm>
          <a:prstGeom prst="rect">
            <a:avLst/>
          </a:prstGeom>
          <a:noFill/>
        </p:spPr>
        <p:txBody>
          <a:bodyPr wrap="square" lIns="0" tIns="0" rIns="0" bIns="0">
            <a:spAutoFit/>
          </a:bodyPr>
          <a:lstStyle/>
          <a:p>
            <a:pPr algn="ctr">
              <a:spcAft>
                <a:spcPts val="100"/>
              </a:spcAft>
            </a:pPr>
            <a:r>
              <a:rPr lang="ja-JP" altLang="en-US" sz="900" b="1" dirty="0">
                <a:solidFill>
                  <a:srgbClr val="0889C9"/>
                </a:solidFill>
                <a:latin typeface="游ゴシック" panose="020B0400000000000000" pitchFamily="50" charset="-128"/>
                <a:ea typeface="游ゴシック" panose="020B0400000000000000" pitchFamily="50" charset="-128"/>
              </a:rPr>
              <a:t>②発注</a:t>
            </a:r>
            <a:endParaRPr sz="900" b="1" dirty="0">
              <a:solidFill>
                <a:srgbClr val="0889C9"/>
              </a:solidFill>
              <a:latin typeface="游ゴシック" panose="020B0400000000000000" pitchFamily="50" charset="-128"/>
              <a:ea typeface="游ゴシック" panose="020B0400000000000000" pitchFamily="50" charset="-128"/>
            </a:endParaRPr>
          </a:p>
        </p:txBody>
      </p:sp>
      <p:sp>
        <p:nvSpPr>
          <p:cNvPr id="12" name="TextBox 53">
            <a:extLst>
              <a:ext uri="{FF2B5EF4-FFF2-40B4-BE49-F238E27FC236}">
                <a16:creationId xmlns:a16="http://schemas.microsoft.com/office/drawing/2014/main" id="{69161D1E-DBD6-F0D0-E8CC-3C207322D375}"/>
              </a:ext>
            </a:extLst>
          </p:cNvPr>
          <p:cNvSpPr txBox="1"/>
          <p:nvPr/>
        </p:nvSpPr>
        <p:spPr>
          <a:xfrm>
            <a:off x="8360601" y="3391988"/>
            <a:ext cx="1801368" cy="415498"/>
          </a:xfrm>
          <a:prstGeom prst="rect">
            <a:avLst/>
          </a:prstGeom>
          <a:noFill/>
        </p:spPr>
        <p:txBody>
          <a:bodyPr wrap="square" lIns="0" tIns="0" rIns="0" bIns="0">
            <a:spAutoFit/>
          </a:bodyPr>
          <a:lstStyle/>
          <a:p>
            <a:pPr algn="l">
              <a:spcAft>
                <a:spcPts val="400"/>
              </a:spcAft>
            </a:pPr>
            <a:r>
              <a:rPr sz="900" b="0" dirty="0">
                <a:solidFill>
                  <a:schemeClr val="tx1"/>
                </a:solidFill>
                <a:latin typeface="游ゴシック" panose="020B0400000000000000" pitchFamily="50" charset="-128"/>
                <a:ea typeface="游ゴシック" panose="020B0400000000000000" pitchFamily="50" charset="-128"/>
              </a:rPr>
              <a:t>※</a:t>
            </a:r>
            <a:r>
              <a:rPr lang="ja-JP" altLang="en-US" sz="900" b="0" dirty="0">
                <a:solidFill>
                  <a:schemeClr val="tx1"/>
                </a:solidFill>
                <a:latin typeface="游ゴシック" panose="020B0400000000000000" pitchFamily="50" charset="-128"/>
                <a:ea typeface="游ゴシック" panose="020B0400000000000000" pitchFamily="50" charset="-128"/>
              </a:rPr>
              <a:t>商品化の許諾を得る際は、対象会社の営業人員がタイトルを選定し、企画書を作成している。</a:t>
            </a:r>
            <a:endParaRPr lang="en-US" altLang="ja-JP" sz="900" b="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538383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C59B-16F0-D866-18A2-FEB20CCC2AB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EE99F6-7A8B-45D5-1ACD-E99D49C7A24B}"/>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一覧</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大手出版社原作</a:t>
            </a:r>
            <a:r>
              <a:rPr lang="en-US" altLang="ja-JP" dirty="0">
                <a:latin typeface="游ゴシック" panose="020B0400000000000000" pitchFamily="50" charset="-128"/>
                <a:ea typeface="游ゴシック" panose="020B0400000000000000" pitchFamily="50" charset="-128"/>
              </a:rPr>
              <a:t>IP】</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49F24E23-1F72-11A2-F001-F9752C17A5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58179C8D-5635-5B7D-7778-B92EEFBFF5E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集英社・講談社・小学館・白泉社等の大手出版社が権利を有する人気</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について、テレビアニメ・劇場版の展開に合わせたキャラクターグッズの企画・製造を手掛けている。</a:t>
            </a:r>
          </a:p>
        </p:txBody>
      </p:sp>
      <p:pic>
        <p:nvPicPr>
          <p:cNvPr id="25" name="Picture 5" descr="banner_ghoul.jpg">
            <a:extLst>
              <a:ext uri="{FF2B5EF4-FFF2-40B4-BE49-F238E27FC236}">
                <a16:creationId xmlns:a16="http://schemas.microsoft.com/office/drawing/2014/main" id="{6DA8037A-5851-04FD-59C2-BC2E41AF6741}"/>
              </a:ext>
            </a:extLst>
          </p:cNvPr>
          <p:cNvPicPr>
            <a:picLocks noChangeAspect="1"/>
          </p:cNvPicPr>
          <p:nvPr/>
        </p:nvPicPr>
        <p:blipFill>
          <a:blip r:embed="rId2"/>
          <a:stretch>
            <a:fillRect/>
          </a:stretch>
        </p:blipFill>
        <p:spPr>
          <a:xfrm>
            <a:off x="384048" y="1866315"/>
            <a:ext cx="2048256" cy="530352"/>
          </a:xfrm>
          <a:prstGeom prst="rect">
            <a:avLst/>
          </a:prstGeom>
        </p:spPr>
      </p:pic>
      <p:pic>
        <p:nvPicPr>
          <p:cNvPr id="28" name="Picture 6" descr="banner_haikyu.jpg">
            <a:extLst>
              <a:ext uri="{FF2B5EF4-FFF2-40B4-BE49-F238E27FC236}">
                <a16:creationId xmlns:a16="http://schemas.microsoft.com/office/drawing/2014/main" id="{9355D458-8176-FE0D-8191-7EC2E332924B}"/>
              </a:ext>
            </a:extLst>
          </p:cNvPr>
          <p:cNvPicPr>
            <a:picLocks noChangeAspect="1"/>
          </p:cNvPicPr>
          <p:nvPr/>
        </p:nvPicPr>
        <p:blipFill>
          <a:blip r:embed="rId3"/>
          <a:stretch>
            <a:fillRect/>
          </a:stretch>
        </p:blipFill>
        <p:spPr>
          <a:xfrm>
            <a:off x="384048" y="2826435"/>
            <a:ext cx="2048256" cy="530352"/>
          </a:xfrm>
          <a:prstGeom prst="rect">
            <a:avLst/>
          </a:prstGeom>
        </p:spPr>
      </p:pic>
      <p:pic>
        <p:nvPicPr>
          <p:cNvPr id="30" name="Picture 8" descr="banner_ansatsu.jpg">
            <a:extLst>
              <a:ext uri="{FF2B5EF4-FFF2-40B4-BE49-F238E27FC236}">
                <a16:creationId xmlns:a16="http://schemas.microsoft.com/office/drawing/2014/main" id="{C4370EF2-3AED-FD2D-173E-679011346B4C}"/>
              </a:ext>
            </a:extLst>
          </p:cNvPr>
          <p:cNvPicPr>
            <a:picLocks noChangeAspect="1"/>
          </p:cNvPicPr>
          <p:nvPr/>
        </p:nvPicPr>
        <p:blipFill>
          <a:blip r:embed="rId4"/>
          <a:stretch>
            <a:fillRect/>
          </a:stretch>
        </p:blipFill>
        <p:spPr>
          <a:xfrm>
            <a:off x="384048" y="3786555"/>
            <a:ext cx="2048256" cy="530352"/>
          </a:xfrm>
          <a:prstGeom prst="rect">
            <a:avLst/>
          </a:prstGeom>
        </p:spPr>
      </p:pic>
      <p:pic>
        <p:nvPicPr>
          <p:cNvPr id="32" name="Picture 9" descr="banner_kimiuso.jpg">
            <a:extLst>
              <a:ext uri="{FF2B5EF4-FFF2-40B4-BE49-F238E27FC236}">
                <a16:creationId xmlns:a16="http://schemas.microsoft.com/office/drawing/2014/main" id="{85D901F1-19DC-95FA-B66B-7AD2C0F1C2AF}"/>
              </a:ext>
            </a:extLst>
          </p:cNvPr>
          <p:cNvPicPr>
            <a:picLocks noChangeAspect="1"/>
          </p:cNvPicPr>
          <p:nvPr/>
        </p:nvPicPr>
        <p:blipFill>
          <a:blip r:embed="rId5"/>
          <a:stretch>
            <a:fillRect/>
          </a:stretch>
        </p:blipFill>
        <p:spPr>
          <a:xfrm>
            <a:off x="5522976" y="2826435"/>
            <a:ext cx="2048256" cy="530352"/>
          </a:xfrm>
          <a:prstGeom prst="rect">
            <a:avLst/>
          </a:prstGeom>
        </p:spPr>
      </p:pic>
      <p:pic>
        <p:nvPicPr>
          <p:cNvPr id="34" name="Picture 12" descr="banner_aceofdiamond.jpg">
            <a:extLst>
              <a:ext uri="{FF2B5EF4-FFF2-40B4-BE49-F238E27FC236}">
                <a16:creationId xmlns:a16="http://schemas.microsoft.com/office/drawing/2014/main" id="{5E43CBA1-D990-16E6-41A7-34D75640B334}"/>
              </a:ext>
            </a:extLst>
          </p:cNvPr>
          <p:cNvPicPr>
            <a:picLocks noChangeAspect="1"/>
          </p:cNvPicPr>
          <p:nvPr/>
        </p:nvPicPr>
        <p:blipFill>
          <a:blip r:embed="rId6"/>
          <a:stretch>
            <a:fillRect/>
          </a:stretch>
        </p:blipFill>
        <p:spPr>
          <a:xfrm>
            <a:off x="5522976" y="1866315"/>
            <a:ext cx="2048256" cy="530352"/>
          </a:xfrm>
          <a:prstGeom prst="rect">
            <a:avLst/>
          </a:prstGeom>
        </p:spPr>
      </p:pic>
      <p:pic>
        <p:nvPicPr>
          <p:cNvPr id="36" name="Picture 13" descr="banner_kamihaji.jpg">
            <a:extLst>
              <a:ext uri="{FF2B5EF4-FFF2-40B4-BE49-F238E27FC236}">
                <a16:creationId xmlns:a16="http://schemas.microsoft.com/office/drawing/2014/main" id="{D9282F4B-D5C4-4659-C71B-260864BF3AE5}"/>
              </a:ext>
            </a:extLst>
          </p:cNvPr>
          <p:cNvPicPr>
            <a:picLocks noChangeAspect="1"/>
          </p:cNvPicPr>
          <p:nvPr/>
        </p:nvPicPr>
        <p:blipFill>
          <a:blip r:embed="rId7"/>
          <a:stretch>
            <a:fillRect/>
          </a:stretch>
        </p:blipFill>
        <p:spPr>
          <a:xfrm>
            <a:off x="5522976" y="5706795"/>
            <a:ext cx="2048256" cy="530352"/>
          </a:xfrm>
          <a:prstGeom prst="rect">
            <a:avLst/>
          </a:prstGeom>
        </p:spPr>
      </p:pic>
      <p:pic>
        <p:nvPicPr>
          <p:cNvPr id="38" name="Picture 17" descr="banner_ookami.jpg">
            <a:extLst>
              <a:ext uri="{FF2B5EF4-FFF2-40B4-BE49-F238E27FC236}">
                <a16:creationId xmlns:a16="http://schemas.microsoft.com/office/drawing/2014/main" id="{CC64807F-557E-5CBC-5E3A-E2A3CCCC82A1}"/>
              </a:ext>
            </a:extLst>
          </p:cNvPr>
          <p:cNvPicPr>
            <a:picLocks noChangeAspect="1"/>
          </p:cNvPicPr>
          <p:nvPr/>
        </p:nvPicPr>
        <p:blipFill>
          <a:blip r:embed="rId8"/>
          <a:stretch>
            <a:fillRect/>
          </a:stretch>
        </p:blipFill>
        <p:spPr>
          <a:xfrm>
            <a:off x="384048" y="5706795"/>
            <a:ext cx="2048256" cy="530352"/>
          </a:xfrm>
          <a:prstGeom prst="rect">
            <a:avLst/>
          </a:prstGeom>
        </p:spPr>
      </p:pic>
      <p:pic>
        <p:nvPicPr>
          <p:cNvPr id="40" name="Picture 18" descr="banner_wtg.jpg">
            <a:extLst>
              <a:ext uri="{FF2B5EF4-FFF2-40B4-BE49-F238E27FC236}">
                <a16:creationId xmlns:a16="http://schemas.microsoft.com/office/drawing/2014/main" id="{2243CBF2-FF5E-6EA9-7618-2A61B3FAFDDC}"/>
              </a:ext>
            </a:extLst>
          </p:cNvPr>
          <p:cNvPicPr>
            <a:picLocks noChangeAspect="1"/>
          </p:cNvPicPr>
          <p:nvPr/>
        </p:nvPicPr>
        <p:blipFill>
          <a:blip r:embed="rId9"/>
          <a:stretch>
            <a:fillRect/>
          </a:stretch>
        </p:blipFill>
        <p:spPr>
          <a:xfrm>
            <a:off x="384048" y="4746675"/>
            <a:ext cx="2048256" cy="530352"/>
          </a:xfrm>
          <a:prstGeom prst="rect">
            <a:avLst/>
          </a:prstGeom>
        </p:spPr>
      </p:pic>
      <p:pic>
        <p:nvPicPr>
          <p:cNvPr id="42" name="Picture 22" descr="banner_majikai.jpg">
            <a:extLst>
              <a:ext uri="{FF2B5EF4-FFF2-40B4-BE49-F238E27FC236}">
                <a16:creationId xmlns:a16="http://schemas.microsoft.com/office/drawing/2014/main" id="{3BD48445-89BD-4F89-1D06-08B1F3A624E0}"/>
              </a:ext>
            </a:extLst>
          </p:cNvPr>
          <p:cNvPicPr>
            <a:picLocks noChangeAspect="1"/>
          </p:cNvPicPr>
          <p:nvPr/>
        </p:nvPicPr>
        <p:blipFill>
          <a:blip r:embed="rId10"/>
          <a:stretch>
            <a:fillRect/>
          </a:stretch>
        </p:blipFill>
        <p:spPr>
          <a:xfrm>
            <a:off x="5522976" y="3786555"/>
            <a:ext cx="2048256" cy="530352"/>
          </a:xfrm>
          <a:prstGeom prst="rect">
            <a:avLst/>
          </a:prstGeom>
        </p:spPr>
      </p:pic>
      <p:pic>
        <p:nvPicPr>
          <p:cNvPr id="44" name="Picture 23" descr="banner_utena.jpg">
            <a:extLst>
              <a:ext uri="{FF2B5EF4-FFF2-40B4-BE49-F238E27FC236}">
                <a16:creationId xmlns:a16="http://schemas.microsoft.com/office/drawing/2014/main" id="{3A7A35A4-7C2C-7DD6-63DD-9A838592C1B7}"/>
              </a:ext>
            </a:extLst>
          </p:cNvPr>
          <p:cNvPicPr>
            <a:picLocks noChangeAspect="1"/>
          </p:cNvPicPr>
          <p:nvPr/>
        </p:nvPicPr>
        <p:blipFill>
          <a:blip r:embed="rId11"/>
          <a:stretch>
            <a:fillRect/>
          </a:stretch>
        </p:blipFill>
        <p:spPr>
          <a:xfrm>
            <a:off x="5522976" y="4746675"/>
            <a:ext cx="2048256" cy="530352"/>
          </a:xfrm>
          <a:prstGeom prst="rect">
            <a:avLst/>
          </a:prstGeom>
        </p:spPr>
      </p:pic>
      <p:sp>
        <p:nvSpPr>
          <p:cNvPr id="46" name="TextBox 24">
            <a:extLst>
              <a:ext uri="{FF2B5EF4-FFF2-40B4-BE49-F238E27FC236}">
                <a16:creationId xmlns:a16="http://schemas.microsoft.com/office/drawing/2014/main" id="{DC31EB20-B4C9-1A22-2C02-7F325081618B}"/>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当社ウェブサイト等で公開されている制作実績の一部を掲載</a:t>
            </a:r>
            <a:r>
              <a:rPr sz="1050" dirty="0">
                <a:solidFill>
                  <a:schemeClr val="tx1"/>
                </a:solidFill>
                <a:latin typeface="游ゴシック" panose="020B0400000000000000" pitchFamily="50" charset="-128"/>
                <a:ea typeface="游ゴシック" panose="020B0400000000000000" pitchFamily="50" charset="-128"/>
              </a:rPr>
              <a:t>。</a:t>
            </a:r>
            <a:endParaRPr lang="en-US" sz="1050" dirty="0">
              <a:solidFill>
                <a:schemeClr val="tx1"/>
              </a:solidFill>
              <a:latin typeface="游ゴシック" panose="020B0400000000000000" pitchFamily="50" charset="-128"/>
              <a:ea typeface="游ゴシック" panose="020B0400000000000000" pitchFamily="50" charset="-128"/>
            </a:endParaRPr>
          </a:p>
        </p:txBody>
      </p:sp>
      <p:sp>
        <p:nvSpPr>
          <p:cNvPr id="48" name="TextBox 25">
            <a:extLst>
              <a:ext uri="{FF2B5EF4-FFF2-40B4-BE49-F238E27FC236}">
                <a16:creationId xmlns:a16="http://schemas.microsoft.com/office/drawing/2014/main" id="{4FED2BC8-A5B6-41E2-624D-3630F64DBD6D}"/>
              </a:ext>
            </a:extLst>
          </p:cNvPr>
          <p:cNvSpPr txBox="1"/>
          <p:nvPr/>
        </p:nvSpPr>
        <p:spPr>
          <a:xfrm>
            <a:off x="2560320" y="1793163"/>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東京喰種</a:t>
            </a:r>
            <a:r>
              <a:rPr sz="1200" b="1" dirty="0">
                <a:solidFill>
                  <a:schemeClr val="tx1"/>
                </a:solidFill>
                <a:latin typeface="游ゴシック" panose="020B0400000000000000" pitchFamily="50" charset="-128"/>
                <a:ea typeface="游ゴシック" panose="020B0400000000000000" pitchFamily="50" charset="-128"/>
              </a:rPr>
              <a:t> </a:t>
            </a:r>
            <a:r>
              <a:rPr sz="1200" b="1" dirty="0" err="1">
                <a:solidFill>
                  <a:schemeClr val="tx1"/>
                </a:solidFill>
                <a:latin typeface="游ゴシック" panose="020B0400000000000000" pitchFamily="50" charset="-128"/>
                <a:ea typeface="游ゴシック" panose="020B0400000000000000" pitchFamily="50" charset="-128"/>
              </a:rPr>
              <a:t>トーキョーグール</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50" name="TextBox 26">
            <a:extLst>
              <a:ext uri="{FF2B5EF4-FFF2-40B4-BE49-F238E27FC236}">
                <a16:creationId xmlns:a16="http://schemas.microsoft.com/office/drawing/2014/main" id="{5017CEAF-2871-DD02-4336-0371B7576F20}"/>
              </a:ext>
            </a:extLst>
          </p:cNvPr>
          <p:cNvSpPr txBox="1"/>
          <p:nvPr/>
        </p:nvSpPr>
        <p:spPr>
          <a:xfrm>
            <a:off x="2560320" y="207662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青年マンガ原作（集英社）</a:t>
            </a:r>
          </a:p>
        </p:txBody>
      </p:sp>
      <p:sp>
        <p:nvSpPr>
          <p:cNvPr id="52" name="TextBox 27">
            <a:extLst>
              <a:ext uri="{FF2B5EF4-FFF2-40B4-BE49-F238E27FC236}">
                <a16:creationId xmlns:a16="http://schemas.microsoft.com/office/drawing/2014/main" id="{AC033E6C-5227-0966-68D1-4C6ABF381DDA}"/>
              </a:ext>
            </a:extLst>
          </p:cNvPr>
          <p:cNvSpPr txBox="1"/>
          <p:nvPr/>
        </p:nvSpPr>
        <p:spPr>
          <a:xfrm>
            <a:off x="2560320" y="2286939"/>
            <a:ext cx="2834640" cy="123111"/>
          </a:xfrm>
          <a:prstGeom prst="rect">
            <a:avLst/>
          </a:prstGeom>
          <a:noFill/>
        </p:spPr>
        <p:txBody>
          <a:bodyPr wrap="square" lIns="0" tIns="0" rIns="0" bIns="0">
            <a:spAutoFit/>
          </a:bodyPr>
          <a:lstStyle/>
          <a:p>
            <a:pPr algn="l"/>
            <a:r>
              <a:rPr sz="800" b="0" dirty="0">
                <a:solidFill>
                  <a:schemeClr val="tx1"/>
                </a:solidFill>
                <a:latin typeface="游ゴシック" panose="020B0400000000000000" pitchFamily="50" charset="-128"/>
                <a:ea typeface="游ゴシック" panose="020B0400000000000000" pitchFamily="50" charset="-128"/>
              </a:rPr>
              <a:t>©</a:t>
            </a:r>
            <a:r>
              <a:rPr sz="800" b="0" dirty="0" err="1">
                <a:solidFill>
                  <a:schemeClr val="tx1"/>
                </a:solidFill>
                <a:latin typeface="游ゴシック" panose="020B0400000000000000" pitchFamily="50" charset="-128"/>
                <a:ea typeface="游ゴシック" panose="020B0400000000000000" pitchFamily="50" charset="-128"/>
              </a:rPr>
              <a:t>石田スイ／集英社・東京喰種製作委員会</a:t>
            </a:r>
            <a:endParaRPr sz="800" b="0" dirty="0">
              <a:solidFill>
                <a:schemeClr val="tx1"/>
              </a:solidFill>
              <a:latin typeface="游ゴシック" panose="020B0400000000000000" pitchFamily="50" charset="-128"/>
              <a:ea typeface="游ゴシック" panose="020B0400000000000000" pitchFamily="50" charset="-128"/>
            </a:endParaRPr>
          </a:p>
        </p:txBody>
      </p:sp>
      <p:sp>
        <p:nvSpPr>
          <p:cNvPr id="54" name="TextBox 28">
            <a:extLst>
              <a:ext uri="{FF2B5EF4-FFF2-40B4-BE49-F238E27FC236}">
                <a16:creationId xmlns:a16="http://schemas.microsoft.com/office/drawing/2014/main" id="{BD23582D-86A7-1D90-C72A-4BE8D17A8357}"/>
              </a:ext>
            </a:extLst>
          </p:cNvPr>
          <p:cNvSpPr txBox="1"/>
          <p:nvPr/>
        </p:nvSpPr>
        <p:spPr>
          <a:xfrm>
            <a:off x="2560320" y="2753282"/>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ハイキュー!! TO THE TOP</a:t>
            </a:r>
          </a:p>
        </p:txBody>
      </p:sp>
      <p:sp>
        <p:nvSpPr>
          <p:cNvPr id="56" name="TextBox 29">
            <a:extLst>
              <a:ext uri="{FF2B5EF4-FFF2-40B4-BE49-F238E27FC236}">
                <a16:creationId xmlns:a16="http://schemas.microsoft.com/office/drawing/2014/main" id="{AE8B2F71-C1D8-0498-92A9-3922D6695EED}"/>
              </a:ext>
            </a:extLst>
          </p:cNvPr>
          <p:cNvSpPr txBox="1"/>
          <p:nvPr/>
        </p:nvSpPr>
        <p:spPr>
          <a:xfrm>
            <a:off x="2560320" y="3036746"/>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58" name="TextBox 30">
            <a:extLst>
              <a:ext uri="{FF2B5EF4-FFF2-40B4-BE49-F238E27FC236}">
                <a16:creationId xmlns:a16="http://schemas.microsoft.com/office/drawing/2014/main" id="{A472C7AB-95C0-96DC-9B30-5D35EAC1AE70}"/>
              </a:ext>
            </a:extLst>
          </p:cNvPr>
          <p:cNvSpPr txBox="1"/>
          <p:nvPr/>
        </p:nvSpPr>
        <p:spPr>
          <a:xfrm>
            <a:off x="2560320" y="3247058"/>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©古舘春一／集英社・「ハイキュー!!」製作委員会・MBS</a:t>
            </a:r>
          </a:p>
        </p:txBody>
      </p:sp>
      <p:sp>
        <p:nvSpPr>
          <p:cNvPr id="60" name="TextBox 31">
            <a:extLst>
              <a:ext uri="{FF2B5EF4-FFF2-40B4-BE49-F238E27FC236}">
                <a16:creationId xmlns:a16="http://schemas.microsoft.com/office/drawing/2014/main" id="{2AA8A5C9-97D3-C62F-911B-3643F2587D15}"/>
              </a:ext>
            </a:extLst>
          </p:cNvPr>
          <p:cNvSpPr txBox="1"/>
          <p:nvPr/>
        </p:nvSpPr>
        <p:spPr>
          <a:xfrm>
            <a:off x="2560320" y="371340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暗殺教室</a:t>
            </a:r>
          </a:p>
        </p:txBody>
      </p:sp>
      <p:sp>
        <p:nvSpPr>
          <p:cNvPr id="62" name="TextBox 32">
            <a:extLst>
              <a:ext uri="{FF2B5EF4-FFF2-40B4-BE49-F238E27FC236}">
                <a16:creationId xmlns:a16="http://schemas.microsoft.com/office/drawing/2014/main" id="{59F82B4D-E981-4347-6D0E-27E77137DF45}"/>
              </a:ext>
            </a:extLst>
          </p:cNvPr>
          <p:cNvSpPr txBox="1"/>
          <p:nvPr/>
        </p:nvSpPr>
        <p:spPr>
          <a:xfrm>
            <a:off x="2560320" y="399686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64" name="TextBox 33">
            <a:extLst>
              <a:ext uri="{FF2B5EF4-FFF2-40B4-BE49-F238E27FC236}">
                <a16:creationId xmlns:a16="http://schemas.microsoft.com/office/drawing/2014/main" id="{7A3BDA77-C70A-BB84-0A45-5F30B11EA7B9}"/>
              </a:ext>
            </a:extLst>
          </p:cNvPr>
          <p:cNvSpPr txBox="1"/>
          <p:nvPr/>
        </p:nvSpPr>
        <p:spPr>
          <a:xfrm>
            <a:off x="2560320" y="420717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©松井優征／集英社・アニメ「暗殺教室」製作委員会</a:t>
            </a:r>
          </a:p>
        </p:txBody>
      </p:sp>
      <p:sp>
        <p:nvSpPr>
          <p:cNvPr id="66" name="TextBox 34">
            <a:extLst>
              <a:ext uri="{FF2B5EF4-FFF2-40B4-BE49-F238E27FC236}">
                <a16:creationId xmlns:a16="http://schemas.microsoft.com/office/drawing/2014/main" id="{71B05FD2-9F26-6030-8962-ABA4D89165A4}"/>
              </a:ext>
            </a:extLst>
          </p:cNvPr>
          <p:cNvSpPr txBox="1"/>
          <p:nvPr/>
        </p:nvSpPr>
        <p:spPr>
          <a:xfrm>
            <a:off x="2560320" y="467352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ワールドトリガー</a:t>
            </a:r>
          </a:p>
        </p:txBody>
      </p:sp>
      <p:sp>
        <p:nvSpPr>
          <p:cNvPr id="68" name="TextBox 35">
            <a:extLst>
              <a:ext uri="{FF2B5EF4-FFF2-40B4-BE49-F238E27FC236}">
                <a16:creationId xmlns:a16="http://schemas.microsoft.com/office/drawing/2014/main" id="{8E435600-EE12-33D4-7583-914C73C5ECEC}"/>
              </a:ext>
            </a:extLst>
          </p:cNvPr>
          <p:cNvSpPr txBox="1"/>
          <p:nvPr/>
        </p:nvSpPr>
        <p:spPr>
          <a:xfrm>
            <a:off x="2560320" y="495698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70" name="TextBox 36">
            <a:extLst>
              <a:ext uri="{FF2B5EF4-FFF2-40B4-BE49-F238E27FC236}">
                <a16:creationId xmlns:a16="http://schemas.microsoft.com/office/drawing/2014/main" id="{87465AF6-4E96-D6C5-8BB7-CEA225AA2E45}"/>
              </a:ext>
            </a:extLst>
          </p:cNvPr>
          <p:cNvSpPr txBox="1"/>
          <p:nvPr/>
        </p:nvSpPr>
        <p:spPr>
          <a:xfrm>
            <a:off x="2560320" y="516729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©葦原大介／集英社・テレビ朝日・東映アニメーション</a:t>
            </a:r>
          </a:p>
        </p:txBody>
      </p:sp>
      <p:sp>
        <p:nvSpPr>
          <p:cNvPr id="72" name="TextBox 37">
            <a:extLst>
              <a:ext uri="{FF2B5EF4-FFF2-40B4-BE49-F238E27FC236}">
                <a16:creationId xmlns:a16="http://schemas.microsoft.com/office/drawing/2014/main" id="{2BF60B76-2EB7-7997-A2A8-78F9BF2A5F2E}"/>
              </a:ext>
            </a:extLst>
          </p:cNvPr>
          <p:cNvSpPr txBox="1"/>
          <p:nvPr/>
        </p:nvSpPr>
        <p:spPr>
          <a:xfrm>
            <a:off x="2560320" y="563364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オオカミ少女と黒王子</a:t>
            </a:r>
          </a:p>
        </p:txBody>
      </p:sp>
      <p:sp>
        <p:nvSpPr>
          <p:cNvPr id="74" name="TextBox 38">
            <a:extLst>
              <a:ext uri="{FF2B5EF4-FFF2-40B4-BE49-F238E27FC236}">
                <a16:creationId xmlns:a16="http://schemas.microsoft.com/office/drawing/2014/main" id="{F185A804-0BF6-8E4B-71E0-AC008E181758}"/>
              </a:ext>
            </a:extLst>
          </p:cNvPr>
          <p:cNvSpPr txBox="1"/>
          <p:nvPr/>
        </p:nvSpPr>
        <p:spPr>
          <a:xfrm>
            <a:off x="2560320" y="591710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少女マンガ原作（集英社）</a:t>
            </a:r>
          </a:p>
        </p:txBody>
      </p:sp>
      <p:sp>
        <p:nvSpPr>
          <p:cNvPr id="76" name="TextBox 39">
            <a:extLst>
              <a:ext uri="{FF2B5EF4-FFF2-40B4-BE49-F238E27FC236}">
                <a16:creationId xmlns:a16="http://schemas.microsoft.com/office/drawing/2014/main" id="{FF9C6FA1-1A10-7B48-91A7-22453664F7CA}"/>
              </a:ext>
            </a:extLst>
          </p:cNvPr>
          <p:cNvSpPr txBox="1"/>
          <p:nvPr/>
        </p:nvSpPr>
        <p:spPr>
          <a:xfrm>
            <a:off x="2560320" y="612741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©AH／S・VSYYDR</a:t>
            </a:r>
          </a:p>
        </p:txBody>
      </p:sp>
      <p:sp>
        <p:nvSpPr>
          <p:cNvPr id="78" name="TextBox 40">
            <a:extLst>
              <a:ext uri="{FF2B5EF4-FFF2-40B4-BE49-F238E27FC236}">
                <a16:creationId xmlns:a16="http://schemas.microsoft.com/office/drawing/2014/main" id="{467EE13D-9C87-5F49-3C3B-D33E67BAC132}"/>
              </a:ext>
            </a:extLst>
          </p:cNvPr>
          <p:cNvSpPr txBox="1"/>
          <p:nvPr/>
        </p:nvSpPr>
        <p:spPr>
          <a:xfrm>
            <a:off x="7699248" y="179316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ダイヤのA</a:t>
            </a:r>
          </a:p>
        </p:txBody>
      </p:sp>
      <p:sp>
        <p:nvSpPr>
          <p:cNvPr id="80" name="TextBox 41">
            <a:extLst>
              <a:ext uri="{FF2B5EF4-FFF2-40B4-BE49-F238E27FC236}">
                <a16:creationId xmlns:a16="http://schemas.microsoft.com/office/drawing/2014/main" id="{FBCDBC73-AC28-461F-7354-AB52879B82B0}"/>
              </a:ext>
            </a:extLst>
          </p:cNvPr>
          <p:cNvSpPr txBox="1"/>
          <p:nvPr/>
        </p:nvSpPr>
        <p:spPr>
          <a:xfrm>
            <a:off x="7699248" y="207662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少年マンガ原作（講談社）</a:t>
            </a:r>
          </a:p>
        </p:txBody>
      </p:sp>
      <p:sp>
        <p:nvSpPr>
          <p:cNvPr id="82" name="TextBox 42">
            <a:extLst>
              <a:ext uri="{FF2B5EF4-FFF2-40B4-BE49-F238E27FC236}">
                <a16:creationId xmlns:a16="http://schemas.microsoft.com/office/drawing/2014/main" id="{C0901CF0-5081-B0DD-3BBE-81DA818329EA}"/>
              </a:ext>
            </a:extLst>
          </p:cNvPr>
          <p:cNvSpPr txBox="1"/>
          <p:nvPr/>
        </p:nvSpPr>
        <p:spPr>
          <a:xfrm>
            <a:off x="7699248" y="228693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©寺嶋裕二・講談社／「ダイヤのA」製作委員会・テレビ東京</a:t>
            </a:r>
          </a:p>
        </p:txBody>
      </p:sp>
      <p:sp>
        <p:nvSpPr>
          <p:cNvPr id="84" name="TextBox 43">
            <a:extLst>
              <a:ext uri="{FF2B5EF4-FFF2-40B4-BE49-F238E27FC236}">
                <a16:creationId xmlns:a16="http://schemas.microsoft.com/office/drawing/2014/main" id="{9BB35B22-13FE-86B9-A4F5-2F92EFEF7432}"/>
              </a:ext>
            </a:extLst>
          </p:cNvPr>
          <p:cNvSpPr txBox="1"/>
          <p:nvPr/>
        </p:nvSpPr>
        <p:spPr>
          <a:xfrm>
            <a:off x="7699248" y="2753282"/>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四月は君の嘘</a:t>
            </a:r>
          </a:p>
        </p:txBody>
      </p:sp>
      <p:sp>
        <p:nvSpPr>
          <p:cNvPr id="86" name="TextBox 44">
            <a:extLst>
              <a:ext uri="{FF2B5EF4-FFF2-40B4-BE49-F238E27FC236}">
                <a16:creationId xmlns:a16="http://schemas.microsoft.com/office/drawing/2014/main" id="{94988165-276C-F40D-F017-39E35CBFCE8C}"/>
              </a:ext>
            </a:extLst>
          </p:cNvPr>
          <p:cNvSpPr txBox="1"/>
          <p:nvPr/>
        </p:nvSpPr>
        <p:spPr>
          <a:xfrm>
            <a:off x="7699248" y="3036746"/>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少年マンガ原作（講談社）</a:t>
            </a:r>
          </a:p>
        </p:txBody>
      </p:sp>
      <p:sp>
        <p:nvSpPr>
          <p:cNvPr id="88" name="TextBox 45">
            <a:extLst>
              <a:ext uri="{FF2B5EF4-FFF2-40B4-BE49-F238E27FC236}">
                <a16:creationId xmlns:a16="http://schemas.microsoft.com/office/drawing/2014/main" id="{B4BE5BD1-0F68-0DAB-5C24-E94DF7586D07}"/>
              </a:ext>
            </a:extLst>
          </p:cNvPr>
          <p:cNvSpPr txBox="1"/>
          <p:nvPr/>
        </p:nvSpPr>
        <p:spPr>
          <a:xfrm>
            <a:off x="7699248" y="3247058"/>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©A・K／S</a:t>
            </a:r>
          </a:p>
        </p:txBody>
      </p:sp>
      <p:sp>
        <p:nvSpPr>
          <p:cNvPr id="90" name="TextBox 46">
            <a:extLst>
              <a:ext uri="{FF2B5EF4-FFF2-40B4-BE49-F238E27FC236}">
                <a16:creationId xmlns:a16="http://schemas.microsoft.com/office/drawing/2014/main" id="{14A82448-757D-5D14-086C-80A65CFE284A}"/>
              </a:ext>
            </a:extLst>
          </p:cNvPr>
          <p:cNvSpPr txBox="1"/>
          <p:nvPr/>
        </p:nvSpPr>
        <p:spPr>
          <a:xfrm>
            <a:off x="7699248" y="371340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まじっく快斗</a:t>
            </a:r>
          </a:p>
        </p:txBody>
      </p:sp>
      <p:sp>
        <p:nvSpPr>
          <p:cNvPr id="92" name="TextBox 47">
            <a:extLst>
              <a:ext uri="{FF2B5EF4-FFF2-40B4-BE49-F238E27FC236}">
                <a16:creationId xmlns:a16="http://schemas.microsoft.com/office/drawing/2014/main" id="{C0DF6260-21FB-9910-A20C-0ACEF4798718}"/>
              </a:ext>
            </a:extLst>
          </p:cNvPr>
          <p:cNvSpPr txBox="1"/>
          <p:nvPr/>
        </p:nvSpPr>
        <p:spPr>
          <a:xfrm>
            <a:off x="7699248" y="399686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少年マンガ原作（小学館）</a:t>
            </a:r>
          </a:p>
        </p:txBody>
      </p:sp>
      <p:sp>
        <p:nvSpPr>
          <p:cNvPr id="94" name="TextBox 48">
            <a:extLst>
              <a:ext uri="{FF2B5EF4-FFF2-40B4-BE49-F238E27FC236}">
                <a16:creationId xmlns:a16="http://schemas.microsoft.com/office/drawing/2014/main" id="{4722302C-5696-4607-25BC-627AB00D371D}"/>
              </a:ext>
            </a:extLst>
          </p:cNvPr>
          <p:cNvSpPr txBox="1"/>
          <p:nvPr/>
        </p:nvSpPr>
        <p:spPr>
          <a:xfrm>
            <a:off x="7699248" y="420717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©青山剛昌／小学館・読売テレビ・A-1 Pictures 2014</a:t>
            </a:r>
          </a:p>
        </p:txBody>
      </p:sp>
      <p:sp>
        <p:nvSpPr>
          <p:cNvPr id="96" name="TextBox 49">
            <a:extLst>
              <a:ext uri="{FF2B5EF4-FFF2-40B4-BE49-F238E27FC236}">
                <a16:creationId xmlns:a16="http://schemas.microsoft.com/office/drawing/2014/main" id="{CBB05E23-F70F-4EA2-66A4-FA58C8B21825}"/>
              </a:ext>
            </a:extLst>
          </p:cNvPr>
          <p:cNvSpPr txBox="1"/>
          <p:nvPr/>
        </p:nvSpPr>
        <p:spPr>
          <a:xfrm>
            <a:off x="7699248" y="467352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少女革命ウテナ</a:t>
            </a:r>
          </a:p>
        </p:txBody>
      </p:sp>
      <p:sp>
        <p:nvSpPr>
          <p:cNvPr id="98" name="TextBox 50">
            <a:extLst>
              <a:ext uri="{FF2B5EF4-FFF2-40B4-BE49-F238E27FC236}">
                <a16:creationId xmlns:a16="http://schemas.microsoft.com/office/drawing/2014/main" id="{AA40CEE7-7E2C-66CD-14A5-8E50DC2D3A25}"/>
              </a:ext>
            </a:extLst>
          </p:cNvPr>
          <p:cNvSpPr txBox="1"/>
          <p:nvPr/>
        </p:nvSpPr>
        <p:spPr>
          <a:xfrm>
            <a:off x="7699248" y="495698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オリジナルアニメ／少女マンガ原作</a:t>
            </a:r>
          </a:p>
        </p:txBody>
      </p:sp>
      <p:sp>
        <p:nvSpPr>
          <p:cNvPr id="100" name="TextBox 51">
            <a:extLst>
              <a:ext uri="{FF2B5EF4-FFF2-40B4-BE49-F238E27FC236}">
                <a16:creationId xmlns:a16="http://schemas.microsoft.com/office/drawing/2014/main" id="{15513B8E-0243-69ED-5690-97ECACD48B6C}"/>
              </a:ext>
            </a:extLst>
          </p:cNvPr>
          <p:cNvSpPr txBox="1"/>
          <p:nvPr/>
        </p:nvSpPr>
        <p:spPr>
          <a:xfrm>
            <a:off x="7699248" y="5167299"/>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©1997 ビーパパス・さいとうちほ／小学館・少革委員会・テレビ東京</a:t>
            </a:r>
          </a:p>
        </p:txBody>
      </p:sp>
      <p:sp>
        <p:nvSpPr>
          <p:cNvPr id="102" name="TextBox 52">
            <a:extLst>
              <a:ext uri="{FF2B5EF4-FFF2-40B4-BE49-F238E27FC236}">
                <a16:creationId xmlns:a16="http://schemas.microsoft.com/office/drawing/2014/main" id="{4542238E-E105-6F0E-525F-0A02E7DC215C}"/>
              </a:ext>
            </a:extLst>
          </p:cNvPr>
          <p:cNvSpPr txBox="1"/>
          <p:nvPr/>
        </p:nvSpPr>
        <p:spPr>
          <a:xfrm>
            <a:off x="7699248" y="563364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神様はじめました</a:t>
            </a:r>
          </a:p>
        </p:txBody>
      </p:sp>
      <p:sp>
        <p:nvSpPr>
          <p:cNvPr id="104" name="TextBox 53">
            <a:extLst>
              <a:ext uri="{FF2B5EF4-FFF2-40B4-BE49-F238E27FC236}">
                <a16:creationId xmlns:a16="http://schemas.microsoft.com/office/drawing/2014/main" id="{086C483C-CB32-3E8D-C8DE-EAC7B6471EE7}"/>
              </a:ext>
            </a:extLst>
          </p:cNvPr>
          <p:cNvSpPr txBox="1"/>
          <p:nvPr/>
        </p:nvSpPr>
        <p:spPr>
          <a:xfrm>
            <a:off x="7699248" y="591710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少女マンガ原作</a:t>
            </a:r>
          </a:p>
        </p:txBody>
      </p:sp>
      <p:sp>
        <p:nvSpPr>
          <p:cNvPr id="106" name="TextBox 54">
            <a:extLst>
              <a:ext uri="{FF2B5EF4-FFF2-40B4-BE49-F238E27FC236}">
                <a16:creationId xmlns:a16="http://schemas.microsoft.com/office/drawing/2014/main" id="{6FEEB294-8618-BAD5-7A52-7458A77A1A25}"/>
              </a:ext>
            </a:extLst>
          </p:cNvPr>
          <p:cNvSpPr txBox="1"/>
          <p:nvPr/>
        </p:nvSpPr>
        <p:spPr>
          <a:xfrm>
            <a:off x="7699248" y="612741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©JS／H-K2015</a:t>
            </a:r>
          </a:p>
        </p:txBody>
      </p:sp>
    </p:spTree>
    <p:extLst>
      <p:ext uri="{BB962C8B-B14F-4D97-AF65-F5344CB8AC3E}">
        <p14:creationId xmlns:p14="http://schemas.microsoft.com/office/powerpoint/2010/main" val="89028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B96D-060C-C30D-3DBE-A7AFC8235FB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1C4012B-B7E0-854E-9537-FEB9885EE4B3}"/>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一覧</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ライトノベル・ゲーム原作</a:t>
            </a:r>
            <a:r>
              <a:rPr lang="en-US" altLang="ja-JP" dirty="0">
                <a:latin typeface="游ゴシック" panose="020B0400000000000000" pitchFamily="50" charset="-128"/>
                <a:ea typeface="游ゴシック" panose="020B0400000000000000" pitchFamily="50" charset="-128"/>
              </a:rPr>
              <a:t>IP】</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B1C4D6FD-F7DF-A758-2DDC-97A3F168491E}"/>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910DBD1F-0296-57E8-E957-D9B0241B43B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ライトノベル・ゲーム・オリジナルアニメを原作とする</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についても幅広く商品化実績を有し、出版社系</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に偏らない多様な権利元との取引基盤を構築している。</a:t>
            </a:r>
          </a:p>
        </p:txBody>
      </p:sp>
      <p:sp>
        <p:nvSpPr>
          <p:cNvPr id="46" name="TextBox 24">
            <a:extLst>
              <a:ext uri="{FF2B5EF4-FFF2-40B4-BE49-F238E27FC236}">
                <a16:creationId xmlns:a16="http://schemas.microsoft.com/office/drawing/2014/main" id="{8801E676-6E95-8942-D15C-3C116B21E34F}"/>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当社ウェブサイト等で公開されている制作実績の一部を掲載</a:t>
            </a:r>
            <a:r>
              <a:rPr sz="1050" dirty="0">
                <a:solidFill>
                  <a:schemeClr val="tx1"/>
                </a:solidFill>
                <a:latin typeface="游ゴシック" panose="020B0400000000000000" pitchFamily="50" charset="-128"/>
                <a:ea typeface="游ゴシック" panose="020B0400000000000000" pitchFamily="50" charset="-128"/>
              </a:rPr>
              <a:t>。</a:t>
            </a:r>
            <a:endParaRPr lang="en-US" sz="1050" dirty="0">
              <a:solidFill>
                <a:schemeClr val="tx1"/>
              </a:solidFill>
              <a:latin typeface="游ゴシック" panose="020B0400000000000000" pitchFamily="50" charset="-128"/>
              <a:ea typeface="游ゴシック" panose="020B0400000000000000" pitchFamily="50" charset="-128"/>
            </a:endParaRPr>
          </a:p>
        </p:txBody>
      </p:sp>
      <p:pic>
        <p:nvPicPr>
          <p:cNvPr id="5" name="Picture 4" descr="banner_sao.jpg">
            <a:extLst>
              <a:ext uri="{FF2B5EF4-FFF2-40B4-BE49-F238E27FC236}">
                <a16:creationId xmlns:a16="http://schemas.microsoft.com/office/drawing/2014/main" id="{4CA21BB3-B3A4-6546-0BD7-B2C42B203B08}"/>
              </a:ext>
            </a:extLst>
          </p:cNvPr>
          <p:cNvPicPr>
            <a:picLocks noChangeAspect="1"/>
          </p:cNvPicPr>
          <p:nvPr/>
        </p:nvPicPr>
        <p:blipFill>
          <a:blip r:embed="rId2"/>
          <a:stretch>
            <a:fillRect/>
          </a:stretch>
        </p:blipFill>
        <p:spPr>
          <a:xfrm>
            <a:off x="384048" y="5583146"/>
            <a:ext cx="2048256" cy="530352"/>
          </a:xfrm>
          <a:prstGeom prst="rect">
            <a:avLst/>
          </a:prstGeom>
        </p:spPr>
      </p:pic>
      <p:pic>
        <p:nvPicPr>
          <p:cNvPr id="7" name="Picture 7" descr="banner_psychopass.jpg">
            <a:extLst>
              <a:ext uri="{FF2B5EF4-FFF2-40B4-BE49-F238E27FC236}">
                <a16:creationId xmlns:a16="http://schemas.microsoft.com/office/drawing/2014/main" id="{9DAFD2E6-97B5-CFA9-659B-F2DC1C62DF9F}"/>
              </a:ext>
            </a:extLst>
          </p:cNvPr>
          <p:cNvPicPr>
            <a:picLocks noChangeAspect="1"/>
          </p:cNvPicPr>
          <p:nvPr/>
        </p:nvPicPr>
        <p:blipFill>
          <a:blip r:embed="rId3"/>
          <a:stretch>
            <a:fillRect/>
          </a:stretch>
        </p:blipFill>
        <p:spPr>
          <a:xfrm>
            <a:off x="5522976" y="5583146"/>
            <a:ext cx="2048256" cy="530352"/>
          </a:xfrm>
          <a:prstGeom prst="rect">
            <a:avLst/>
          </a:prstGeom>
        </p:spPr>
      </p:pic>
      <p:pic>
        <p:nvPicPr>
          <p:cNvPr id="9" name="Picture 10" descr="banner_ngnl.jpg">
            <a:extLst>
              <a:ext uri="{FF2B5EF4-FFF2-40B4-BE49-F238E27FC236}">
                <a16:creationId xmlns:a16="http://schemas.microsoft.com/office/drawing/2014/main" id="{9E5C5B41-0A23-5E76-DD46-5AC5212EB820}"/>
              </a:ext>
            </a:extLst>
          </p:cNvPr>
          <p:cNvPicPr>
            <a:picLocks noChangeAspect="1"/>
          </p:cNvPicPr>
          <p:nvPr/>
        </p:nvPicPr>
        <p:blipFill>
          <a:blip r:embed="rId4"/>
          <a:stretch>
            <a:fillRect/>
          </a:stretch>
        </p:blipFill>
        <p:spPr>
          <a:xfrm>
            <a:off x="5522976" y="1742666"/>
            <a:ext cx="2048256" cy="530352"/>
          </a:xfrm>
          <a:prstGeom prst="rect">
            <a:avLst/>
          </a:prstGeom>
        </p:spPr>
      </p:pic>
      <p:pic>
        <p:nvPicPr>
          <p:cNvPr id="11" name="Picture 11" descr="banner_nozaki.jpg">
            <a:extLst>
              <a:ext uri="{FF2B5EF4-FFF2-40B4-BE49-F238E27FC236}">
                <a16:creationId xmlns:a16="http://schemas.microsoft.com/office/drawing/2014/main" id="{5FDF9612-7DB5-06F3-99B5-5677A8C134FA}"/>
              </a:ext>
            </a:extLst>
          </p:cNvPr>
          <p:cNvPicPr>
            <a:picLocks noChangeAspect="1"/>
          </p:cNvPicPr>
          <p:nvPr/>
        </p:nvPicPr>
        <p:blipFill>
          <a:blip r:embed="rId5"/>
          <a:stretch>
            <a:fillRect/>
          </a:stretch>
        </p:blipFill>
        <p:spPr>
          <a:xfrm>
            <a:off x="384048" y="1742666"/>
            <a:ext cx="2048256" cy="530352"/>
          </a:xfrm>
          <a:prstGeom prst="rect">
            <a:avLst/>
          </a:prstGeom>
        </p:spPr>
      </p:pic>
      <p:pic>
        <p:nvPicPr>
          <p:cNvPr id="13" name="Picture 14" descr="banner_arpeggio.jpg">
            <a:extLst>
              <a:ext uri="{FF2B5EF4-FFF2-40B4-BE49-F238E27FC236}">
                <a16:creationId xmlns:a16="http://schemas.microsoft.com/office/drawing/2014/main" id="{76489B98-D405-C1E6-A2FD-A861DDFF48B8}"/>
              </a:ext>
            </a:extLst>
          </p:cNvPr>
          <p:cNvPicPr>
            <a:picLocks noChangeAspect="1"/>
          </p:cNvPicPr>
          <p:nvPr/>
        </p:nvPicPr>
        <p:blipFill>
          <a:blip r:embed="rId6"/>
          <a:stretch>
            <a:fillRect/>
          </a:stretch>
        </p:blipFill>
        <p:spPr>
          <a:xfrm>
            <a:off x="384048" y="4623026"/>
            <a:ext cx="2048256" cy="530352"/>
          </a:xfrm>
          <a:prstGeom prst="rect">
            <a:avLst/>
          </a:prstGeom>
        </p:spPr>
      </p:pic>
      <p:pic>
        <p:nvPicPr>
          <p:cNvPr id="15" name="Picture 15" descr="banner_personaq.jpg">
            <a:extLst>
              <a:ext uri="{FF2B5EF4-FFF2-40B4-BE49-F238E27FC236}">
                <a16:creationId xmlns:a16="http://schemas.microsoft.com/office/drawing/2014/main" id="{043DD850-8B65-4ADF-A0B8-8C15925DDED7}"/>
              </a:ext>
            </a:extLst>
          </p:cNvPr>
          <p:cNvPicPr>
            <a:picLocks noChangeAspect="1"/>
          </p:cNvPicPr>
          <p:nvPr/>
        </p:nvPicPr>
        <p:blipFill>
          <a:blip r:embed="rId7"/>
          <a:stretch>
            <a:fillRect/>
          </a:stretch>
        </p:blipFill>
        <p:spPr>
          <a:xfrm>
            <a:off x="5522976" y="2702786"/>
            <a:ext cx="2048256" cy="530352"/>
          </a:xfrm>
          <a:prstGeom prst="rect">
            <a:avLst/>
          </a:prstGeom>
        </p:spPr>
      </p:pic>
      <p:pic>
        <p:nvPicPr>
          <p:cNvPr id="17" name="Picture 16" descr="banner_dlmb.jpg">
            <a:extLst>
              <a:ext uri="{FF2B5EF4-FFF2-40B4-BE49-F238E27FC236}">
                <a16:creationId xmlns:a16="http://schemas.microsoft.com/office/drawing/2014/main" id="{7947AC84-14CF-EA42-FC38-824CFE8C88A2}"/>
              </a:ext>
            </a:extLst>
          </p:cNvPr>
          <p:cNvPicPr>
            <a:picLocks noChangeAspect="1"/>
          </p:cNvPicPr>
          <p:nvPr/>
        </p:nvPicPr>
        <p:blipFill>
          <a:blip r:embed="rId8"/>
          <a:stretch>
            <a:fillRect/>
          </a:stretch>
        </p:blipFill>
        <p:spPr>
          <a:xfrm>
            <a:off x="5522976" y="3662906"/>
            <a:ext cx="2048256" cy="530352"/>
          </a:xfrm>
          <a:prstGeom prst="rect">
            <a:avLst/>
          </a:prstGeom>
        </p:spPr>
      </p:pic>
      <p:pic>
        <p:nvPicPr>
          <p:cNvPr id="19" name="Picture 19" descr="banner_sbr.jpg">
            <a:extLst>
              <a:ext uri="{FF2B5EF4-FFF2-40B4-BE49-F238E27FC236}">
                <a16:creationId xmlns:a16="http://schemas.microsoft.com/office/drawing/2014/main" id="{5A5FD7AA-0202-201C-322C-46927DD008A5}"/>
              </a:ext>
            </a:extLst>
          </p:cNvPr>
          <p:cNvPicPr>
            <a:picLocks noChangeAspect="1"/>
          </p:cNvPicPr>
          <p:nvPr/>
        </p:nvPicPr>
        <p:blipFill>
          <a:blip r:embed="rId9"/>
          <a:stretch>
            <a:fillRect/>
          </a:stretch>
        </p:blipFill>
        <p:spPr>
          <a:xfrm>
            <a:off x="5522976" y="4623026"/>
            <a:ext cx="2048256" cy="530352"/>
          </a:xfrm>
          <a:prstGeom prst="rect">
            <a:avLst/>
          </a:prstGeom>
        </p:spPr>
      </p:pic>
      <p:pic>
        <p:nvPicPr>
          <p:cNvPr id="21" name="Picture 20" descr="banner_akame.jpg">
            <a:extLst>
              <a:ext uri="{FF2B5EF4-FFF2-40B4-BE49-F238E27FC236}">
                <a16:creationId xmlns:a16="http://schemas.microsoft.com/office/drawing/2014/main" id="{B9DB22F9-304E-D5FC-C01D-F7E84233E679}"/>
              </a:ext>
            </a:extLst>
          </p:cNvPr>
          <p:cNvPicPr>
            <a:picLocks noChangeAspect="1"/>
          </p:cNvPicPr>
          <p:nvPr/>
        </p:nvPicPr>
        <p:blipFill>
          <a:blip r:embed="rId10"/>
          <a:stretch>
            <a:fillRect/>
          </a:stretch>
        </p:blipFill>
        <p:spPr>
          <a:xfrm>
            <a:off x="384048" y="2702786"/>
            <a:ext cx="2048256" cy="530352"/>
          </a:xfrm>
          <a:prstGeom prst="rect">
            <a:avLst/>
          </a:prstGeom>
        </p:spPr>
      </p:pic>
      <p:pic>
        <p:nvPicPr>
          <p:cNvPr id="23" name="Picture 21" descr="banner_kokkuri.jpg">
            <a:extLst>
              <a:ext uri="{FF2B5EF4-FFF2-40B4-BE49-F238E27FC236}">
                <a16:creationId xmlns:a16="http://schemas.microsoft.com/office/drawing/2014/main" id="{902956AE-95F8-731B-3554-F0A90F79E21C}"/>
              </a:ext>
            </a:extLst>
          </p:cNvPr>
          <p:cNvPicPr>
            <a:picLocks noChangeAspect="1"/>
          </p:cNvPicPr>
          <p:nvPr/>
        </p:nvPicPr>
        <p:blipFill>
          <a:blip r:embed="rId11"/>
          <a:stretch>
            <a:fillRect/>
          </a:stretch>
        </p:blipFill>
        <p:spPr>
          <a:xfrm>
            <a:off x="384048" y="3662906"/>
            <a:ext cx="2048256" cy="530352"/>
          </a:xfrm>
          <a:prstGeom prst="rect">
            <a:avLst/>
          </a:prstGeom>
        </p:spPr>
      </p:pic>
      <p:sp>
        <p:nvSpPr>
          <p:cNvPr id="27" name="TextBox 25">
            <a:extLst>
              <a:ext uri="{FF2B5EF4-FFF2-40B4-BE49-F238E27FC236}">
                <a16:creationId xmlns:a16="http://schemas.microsoft.com/office/drawing/2014/main" id="{73945979-63AB-DBC4-123D-61C1E77D2875}"/>
              </a:ext>
            </a:extLst>
          </p:cNvPr>
          <p:cNvSpPr txBox="1"/>
          <p:nvPr/>
        </p:nvSpPr>
        <p:spPr>
          <a:xfrm>
            <a:off x="2560320" y="1669514"/>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月刊少女野崎くん</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31" name="TextBox 26">
            <a:extLst>
              <a:ext uri="{FF2B5EF4-FFF2-40B4-BE49-F238E27FC236}">
                <a16:creationId xmlns:a16="http://schemas.microsoft.com/office/drawing/2014/main" id="{79C2B1D9-C788-8285-BCCB-F9430AABC051}"/>
              </a:ext>
            </a:extLst>
          </p:cNvPr>
          <p:cNvSpPr txBox="1"/>
          <p:nvPr/>
        </p:nvSpPr>
        <p:spPr>
          <a:xfrm>
            <a:off x="2560320" y="195297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マンガ原作（スクウェア・エニックス）</a:t>
            </a:r>
          </a:p>
        </p:txBody>
      </p:sp>
      <p:sp>
        <p:nvSpPr>
          <p:cNvPr id="35" name="TextBox 27">
            <a:extLst>
              <a:ext uri="{FF2B5EF4-FFF2-40B4-BE49-F238E27FC236}">
                <a16:creationId xmlns:a16="http://schemas.microsoft.com/office/drawing/2014/main" id="{AD4EC84F-77FA-0F09-EF3D-7E4ECCFE0423}"/>
              </a:ext>
            </a:extLst>
          </p:cNvPr>
          <p:cNvSpPr txBox="1"/>
          <p:nvPr/>
        </p:nvSpPr>
        <p:spPr>
          <a:xfrm>
            <a:off x="2560320" y="2163290"/>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©椿いづみ／スクウェアエニックス・「月刊少女野崎くん」製作委員会</a:t>
            </a:r>
          </a:p>
        </p:txBody>
      </p:sp>
      <p:sp>
        <p:nvSpPr>
          <p:cNvPr id="39" name="TextBox 28">
            <a:extLst>
              <a:ext uri="{FF2B5EF4-FFF2-40B4-BE49-F238E27FC236}">
                <a16:creationId xmlns:a16="http://schemas.microsoft.com/office/drawing/2014/main" id="{5E2A27C2-6FC3-264B-E0B7-E8876E7E390E}"/>
              </a:ext>
            </a:extLst>
          </p:cNvPr>
          <p:cNvSpPr txBox="1"/>
          <p:nvPr/>
        </p:nvSpPr>
        <p:spPr>
          <a:xfrm>
            <a:off x="2560320" y="262963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アカメが斬る!</a:t>
            </a:r>
          </a:p>
        </p:txBody>
      </p:sp>
      <p:sp>
        <p:nvSpPr>
          <p:cNvPr id="43" name="TextBox 29">
            <a:extLst>
              <a:ext uri="{FF2B5EF4-FFF2-40B4-BE49-F238E27FC236}">
                <a16:creationId xmlns:a16="http://schemas.microsoft.com/office/drawing/2014/main" id="{0EA6871B-8F52-C450-544A-CC79A2BBD692}"/>
              </a:ext>
            </a:extLst>
          </p:cNvPr>
          <p:cNvSpPr txBox="1"/>
          <p:nvPr/>
        </p:nvSpPr>
        <p:spPr>
          <a:xfrm>
            <a:off x="2560320" y="291309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少年マンガ原作（スクウェア・エニックス）</a:t>
            </a:r>
          </a:p>
        </p:txBody>
      </p:sp>
      <p:sp>
        <p:nvSpPr>
          <p:cNvPr id="47" name="TextBox 30">
            <a:extLst>
              <a:ext uri="{FF2B5EF4-FFF2-40B4-BE49-F238E27FC236}">
                <a16:creationId xmlns:a16="http://schemas.microsoft.com/office/drawing/2014/main" id="{519AE139-F5E0-2AFC-31AC-BBF5953F2A73}"/>
              </a:ext>
            </a:extLst>
          </p:cNvPr>
          <p:cNvSpPr txBox="1"/>
          <p:nvPr/>
        </p:nvSpPr>
        <p:spPr>
          <a:xfrm>
            <a:off x="2560320" y="3123409"/>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©タカヒロ・田代哲也／スクウェアエニックス・「アカメが斬る！」製作委員会</a:t>
            </a:r>
          </a:p>
        </p:txBody>
      </p:sp>
      <p:sp>
        <p:nvSpPr>
          <p:cNvPr id="51" name="TextBox 31">
            <a:extLst>
              <a:ext uri="{FF2B5EF4-FFF2-40B4-BE49-F238E27FC236}">
                <a16:creationId xmlns:a16="http://schemas.microsoft.com/office/drawing/2014/main" id="{D022661B-B4DE-2D8B-8F71-77F9164E3041}"/>
              </a:ext>
            </a:extLst>
          </p:cNvPr>
          <p:cNvSpPr txBox="1"/>
          <p:nvPr/>
        </p:nvSpPr>
        <p:spPr>
          <a:xfrm>
            <a:off x="2560320" y="358975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繰繰れ！コックリさん</a:t>
            </a:r>
          </a:p>
        </p:txBody>
      </p:sp>
      <p:sp>
        <p:nvSpPr>
          <p:cNvPr id="55" name="TextBox 32">
            <a:extLst>
              <a:ext uri="{FF2B5EF4-FFF2-40B4-BE49-F238E27FC236}">
                <a16:creationId xmlns:a16="http://schemas.microsoft.com/office/drawing/2014/main" id="{13892906-8E43-4626-1A6E-97DA471CF0CE}"/>
              </a:ext>
            </a:extLst>
          </p:cNvPr>
          <p:cNvSpPr txBox="1"/>
          <p:nvPr/>
        </p:nvSpPr>
        <p:spPr>
          <a:xfrm>
            <a:off x="2560320" y="387321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マンガ原作（スクウェア・エニックス）</a:t>
            </a:r>
          </a:p>
        </p:txBody>
      </p:sp>
      <p:sp>
        <p:nvSpPr>
          <p:cNvPr id="59" name="TextBox 33">
            <a:extLst>
              <a:ext uri="{FF2B5EF4-FFF2-40B4-BE49-F238E27FC236}">
                <a16:creationId xmlns:a16="http://schemas.microsoft.com/office/drawing/2014/main" id="{8BB25BD9-E2D8-EB75-96B2-9464A1F7ACFA}"/>
              </a:ext>
            </a:extLst>
          </p:cNvPr>
          <p:cNvSpPr txBox="1"/>
          <p:nvPr/>
        </p:nvSpPr>
        <p:spPr>
          <a:xfrm>
            <a:off x="2560320" y="4083530"/>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©遠藤ミドリ／スクウェアエニックス・「繰繰れ！コックリさん」製作委員会</a:t>
            </a:r>
          </a:p>
        </p:txBody>
      </p:sp>
      <p:sp>
        <p:nvSpPr>
          <p:cNvPr id="63" name="TextBox 34">
            <a:extLst>
              <a:ext uri="{FF2B5EF4-FFF2-40B4-BE49-F238E27FC236}">
                <a16:creationId xmlns:a16="http://schemas.microsoft.com/office/drawing/2014/main" id="{DBFCF4D5-0D3B-5DDD-A6C4-27E8276ADEB7}"/>
              </a:ext>
            </a:extLst>
          </p:cNvPr>
          <p:cNvSpPr txBox="1"/>
          <p:nvPr/>
        </p:nvSpPr>
        <p:spPr>
          <a:xfrm>
            <a:off x="2560320" y="454987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蒼き鋼のアルペジオ -ARS NOVA-</a:t>
            </a:r>
          </a:p>
        </p:txBody>
      </p:sp>
      <p:sp>
        <p:nvSpPr>
          <p:cNvPr id="67" name="TextBox 35">
            <a:extLst>
              <a:ext uri="{FF2B5EF4-FFF2-40B4-BE49-F238E27FC236}">
                <a16:creationId xmlns:a16="http://schemas.microsoft.com/office/drawing/2014/main" id="{C6C6F556-2930-B400-6A30-2F34D212A5EF}"/>
              </a:ext>
            </a:extLst>
          </p:cNvPr>
          <p:cNvSpPr txBox="1"/>
          <p:nvPr/>
        </p:nvSpPr>
        <p:spPr>
          <a:xfrm>
            <a:off x="2560320" y="483333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青年マンガ原作（少年画報社）</a:t>
            </a:r>
          </a:p>
        </p:txBody>
      </p:sp>
      <p:sp>
        <p:nvSpPr>
          <p:cNvPr id="71" name="TextBox 36">
            <a:extLst>
              <a:ext uri="{FF2B5EF4-FFF2-40B4-BE49-F238E27FC236}">
                <a16:creationId xmlns:a16="http://schemas.microsoft.com/office/drawing/2014/main" id="{0103A3DB-C517-9186-DF6E-17B1E357224A}"/>
              </a:ext>
            </a:extLst>
          </p:cNvPr>
          <p:cNvSpPr txBox="1"/>
          <p:nvPr/>
        </p:nvSpPr>
        <p:spPr>
          <a:xfrm>
            <a:off x="2560320" y="504365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©Ark Performance／少年画報社・アルペジオパートナーズ</a:t>
            </a:r>
          </a:p>
        </p:txBody>
      </p:sp>
      <p:sp>
        <p:nvSpPr>
          <p:cNvPr id="75" name="TextBox 37">
            <a:extLst>
              <a:ext uri="{FF2B5EF4-FFF2-40B4-BE49-F238E27FC236}">
                <a16:creationId xmlns:a16="http://schemas.microsoft.com/office/drawing/2014/main" id="{099436D7-33B7-D58A-965C-FE5350C0EEE6}"/>
              </a:ext>
            </a:extLst>
          </p:cNvPr>
          <p:cNvSpPr txBox="1"/>
          <p:nvPr/>
        </p:nvSpPr>
        <p:spPr>
          <a:xfrm>
            <a:off x="2560320" y="5509994"/>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ソードアート・オンライン</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79" name="TextBox 38">
            <a:extLst>
              <a:ext uri="{FF2B5EF4-FFF2-40B4-BE49-F238E27FC236}">
                <a16:creationId xmlns:a16="http://schemas.microsoft.com/office/drawing/2014/main" id="{5407D7E6-9C75-D792-219D-AF61FE3E619C}"/>
              </a:ext>
            </a:extLst>
          </p:cNvPr>
          <p:cNvSpPr txBox="1"/>
          <p:nvPr/>
        </p:nvSpPr>
        <p:spPr>
          <a:xfrm>
            <a:off x="2560320" y="579345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ライトノベル原作</a:t>
            </a:r>
          </a:p>
        </p:txBody>
      </p:sp>
      <p:sp>
        <p:nvSpPr>
          <p:cNvPr id="83" name="TextBox 39">
            <a:extLst>
              <a:ext uri="{FF2B5EF4-FFF2-40B4-BE49-F238E27FC236}">
                <a16:creationId xmlns:a16="http://schemas.microsoft.com/office/drawing/2014/main" id="{870F2E8A-6081-9301-F32D-88B8E48A88A1}"/>
              </a:ext>
            </a:extLst>
          </p:cNvPr>
          <p:cNvSpPr txBox="1"/>
          <p:nvPr/>
        </p:nvSpPr>
        <p:spPr>
          <a:xfrm>
            <a:off x="2560320" y="600377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©川原 礫／アスキー・メディアワークス／SAO Project</a:t>
            </a:r>
          </a:p>
        </p:txBody>
      </p:sp>
      <p:sp>
        <p:nvSpPr>
          <p:cNvPr id="87" name="TextBox 40">
            <a:extLst>
              <a:ext uri="{FF2B5EF4-FFF2-40B4-BE49-F238E27FC236}">
                <a16:creationId xmlns:a16="http://schemas.microsoft.com/office/drawing/2014/main" id="{860CEE4B-A505-D733-4F56-CD7B365F1A5D}"/>
              </a:ext>
            </a:extLst>
          </p:cNvPr>
          <p:cNvSpPr txBox="1"/>
          <p:nvPr/>
        </p:nvSpPr>
        <p:spPr>
          <a:xfrm>
            <a:off x="7699248" y="166951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ノーゲーム・ノーライフ</a:t>
            </a:r>
          </a:p>
        </p:txBody>
      </p:sp>
      <p:sp>
        <p:nvSpPr>
          <p:cNvPr id="91" name="TextBox 41">
            <a:extLst>
              <a:ext uri="{FF2B5EF4-FFF2-40B4-BE49-F238E27FC236}">
                <a16:creationId xmlns:a16="http://schemas.microsoft.com/office/drawing/2014/main" id="{6FDDE9DF-793C-49E6-6FC7-83F487C71A99}"/>
              </a:ext>
            </a:extLst>
          </p:cNvPr>
          <p:cNvSpPr txBox="1"/>
          <p:nvPr/>
        </p:nvSpPr>
        <p:spPr>
          <a:xfrm>
            <a:off x="7699248" y="195297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ライトノベル原作</a:t>
            </a:r>
          </a:p>
        </p:txBody>
      </p:sp>
      <p:sp>
        <p:nvSpPr>
          <p:cNvPr id="95" name="TextBox 42">
            <a:extLst>
              <a:ext uri="{FF2B5EF4-FFF2-40B4-BE49-F238E27FC236}">
                <a16:creationId xmlns:a16="http://schemas.microsoft.com/office/drawing/2014/main" id="{DCFB6F94-200A-DED9-E9F6-999F2084D4FF}"/>
              </a:ext>
            </a:extLst>
          </p:cNvPr>
          <p:cNvSpPr txBox="1"/>
          <p:nvPr/>
        </p:nvSpPr>
        <p:spPr>
          <a:xfrm>
            <a:off x="7699248" y="216329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©2014 YK,KM／NGNLP</a:t>
            </a:r>
          </a:p>
        </p:txBody>
      </p:sp>
      <p:sp>
        <p:nvSpPr>
          <p:cNvPr id="99" name="TextBox 43">
            <a:extLst>
              <a:ext uri="{FF2B5EF4-FFF2-40B4-BE49-F238E27FC236}">
                <a16:creationId xmlns:a16="http://schemas.microsoft.com/office/drawing/2014/main" id="{258967B8-EEA2-19A0-103A-3C67DDC7DB77}"/>
              </a:ext>
            </a:extLst>
          </p:cNvPr>
          <p:cNvSpPr txBox="1"/>
          <p:nvPr/>
        </p:nvSpPr>
        <p:spPr>
          <a:xfrm>
            <a:off x="7699248" y="262963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PERSONA Q</a:t>
            </a:r>
          </a:p>
        </p:txBody>
      </p:sp>
      <p:sp>
        <p:nvSpPr>
          <p:cNvPr id="103" name="TextBox 44">
            <a:extLst>
              <a:ext uri="{FF2B5EF4-FFF2-40B4-BE49-F238E27FC236}">
                <a16:creationId xmlns:a16="http://schemas.microsoft.com/office/drawing/2014/main" id="{1175DE6A-C0C0-6284-4516-61C955239E4C}"/>
              </a:ext>
            </a:extLst>
          </p:cNvPr>
          <p:cNvSpPr txBox="1"/>
          <p:nvPr/>
        </p:nvSpPr>
        <p:spPr>
          <a:xfrm>
            <a:off x="7699248" y="291309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a:t>
            </a:r>
          </a:p>
        </p:txBody>
      </p:sp>
      <p:sp>
        <p:nvSpPr>
          <p:cNvPr id="107" name="TextBox 45">
            <a:extLst>
              <a:ext uri="{FF2B5EF4-FFF2-40B4-BE49-F238E27FC236}">
                <a16:creationId xmlns:a16="http://schemas.microsoft.com/office/drawing/2014/main" id="{0F80D40E-968E-7598-77A2-D0CDF78AD5BC}"/>
              </a:ext>
            </a:extLst>
          </p:cNvPr>
          <p:cNvSpPr txBox="1"/>
          <p:nvPr/>
        </p:nvSpPr>
        <p:spPr>
          <a:xfrm>
            <a:off x="7699248" y="312340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©ATLUS ©SEGA All rights reserved.</a:t>
            </a:r>
          </a:p>
        </p:txBody>
      </p:sp>
      <p:sp>
        <p:nvSpPr>
          <p:cNvPr id="109" name="TextBox 46">
            <a:extLst>
              <a:ext uri="{FF2B5EF4-FFF2-40B4-BE49-F238E27FC236}">
                <a16:creationId xmlns:a16="http://schemas.microsoft.com/office/drawing/2014/main" id="{B78856D8-98DF-2571-E988-A7E4598573A1}"/>
              </a:ext>
            </a:extLst>
          </p:cNvPr>
          <p:cNvSpPr txBox="1"/>
          <p:nvPr/>
        </p:nvSpPr>
        <p:spPr>
          <a:xfrm>
            <a:off x="7699248" y="358975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DIABOLIK LOVERS MORE,BLOOD</a:t>
            </a:r>
          </a:p>
        </p:txBody>
      </p:sp>
      <p:sp>
        <p:nvSpPr>
          <p:cNvPr id="111" name="TextBox 47">
            <a:extLst>
              <a:ext uri="{FF2B5EF4-FFF2-40B4-BE49-F238E27FC236}">
                <a16:creationId xmlns:a16="http://schemas.microsoft.com/office/drawing/2014/main" id="{F12151F4-4845-9332-1C0E-1FF83338213E}"/>
              </a:ext>
            </a:extLst>
          </p:cNvPr>
          <p:cNvSpPr txBox="1"/>
          <p:nvPr/>
        </p:nvSpPr>
        <p:spPr>
          <a:xfrm>
            <a:off x="7699248" y="387321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ゲーム原作（乙女ゲーム）</a:t>
            </a:r>
          </a:p>
        </p:txBody>
      </p:sp>
      <p:sp>
        <p:nvSpPr>
          <p:cNvPr id="113" name="TextBox 48">
            <a:extLst>
              <a:ext uri="{FF2B5EF4-FFF2-40B4-BE49-F238E27FC236}">
                <a16:creationId xmlns:a16="http://schemas.microsoft.com/office/drawing/2014/main" id="{47BA19C8-B6EF-68BE-F8CF-EA816E6A1686}"/>
              </a:ext>
            </a:extLst>
          </p:cNvPr>
          <p:cNvSpPr txBox="1"/>
          <p:nvPr/>
        </p:nvSpPr>
        <p:spPr>
          <a:xfrm>
            <a:off x="7699248" y="408353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©Rejet／IF</a:t>
            </a:r>
          </a:p>
        </p:txBody>
      </p:sp>
      <p:sp>
        <p:nvSpPr>
          <p:cNvPr id="115" name="TextBox 49">
            <a:extLst>
              <a:ext uri="{FF2B5EF4-FFF2-40B4-BE49-F238E27FC236}">
                <a16:creationId xmlns:a16="http://schemas.microsoft.com/office/drawing/2014/main" id="{787F01DE-2329-3860-0F08-BC9245F5B310}"/>
              </a:ext>
            </a:extLst>
          </p:cNvPr>
          <p:cNvSpPr txBox="1"/>
          <p:nvPr/>
        </p:nvSpPr>
        <p:spPr>
          <a:xfrm>
            <a:off x="7699248" y="454987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SHOW BY ROCK!!</a:t>
            </a:r>
          </a:p>
        </p:txBody>
      </p:sp>
      <p:sp>
        <p:nvSpPr>
          <p:cNvPr id="117" name="TextBox 50">
            <a:extLst>
              <a:ext uri="{FF2B5EF4-FFF2-40B4-BE49-F238E27FC236}">
                <a16:creationId xmlns:a16="http://schemas.microsoft.com/office/drawing/2014/main" id="{730270AA-97D5-3F13-9949-99B3E4175654}"/>
              </a:ext>
            </a:extLst>
          </p:cNvPr>
          <p:cNvSpPr txBox="1"/>
          <p:nvPr/>
        </p:nvSpPr>
        <p:spPr>
          <a:xfrm>
            <a:off x="7699248" y="483333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ゲーム原作（サンリオ）</a:t>
            </a:r>
          </a:p>
        </p:txBody>
      </p:sp>
      <p:sp>
        <p:nvSpPr>
          <p:cNvPr id="119" name="TextBox 51">
            <a:extLst>
              <a:ext uri="{FF2B5EF4-FFF2-40B4-BE49-F238E27FC236}">
                <a16:creationId xmlns:a16="http://schemas.microsoft.com/office/drawing/2014/main" id="{6B04F2A6-5D46-E7D3-BC18-8127ED1242B3}"/>
              </a:ext>
            </a:extLst>
          </p:cNvPr>
          <p:cNvSpPr txBox="1"/>
          <p:nvPr/>
        </p:nvSpPr>
        <p:spPr>
          <a:xfrm>
            <a:off x="7699248" y="504365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©'12,'15 SANRIO Ⓛ SP</a:t>
            </a:r>
          </a:p>
        </p:txBody>
      </p:sp>
      <p:sp>
        <p:nvSpPr>
          <p:cNvPr id="121" name="TextBox 52">
            <a:extLst>
              <a:ext uri="{FF2B5EF4-FFF2-40B4-BE49-F238E27FC236}">
                <a16:creationId xmlns:a16="http://schemas.microsoft.com/office/drawing/2014/main" id="{FDDD7A1F-1366-08F9-759D-4C11FD11E8DE}"/>
              </a:ext>
            </a:extLst>
          </p:cNvPr>
          <p:cNvSpPr txBox="1"/>
          <p:nvPr/>
        </p:nvSpPr>
        <p:spPr>
          <a:xfrm>
            <a:off x="7699248" y="550999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PSYCHO-PASS サイコパス</a:t>
            </a:r>
          </a:p>
        </p:txBody>
      </p:sp>
      <p:sp>
        <p:nvSpPr>
          <p:cNvPr id="123" name="TextBox 53">
            <a:extLst>
              <a:ext uri="{FF2B5EF4-FFF2-40B4-BE49-F238E27FC236}">
                <a16:creationId xmlns:a16="http://schemas.microsoft.com/office/drawing/2014/main" id="{9D7BEC3B-93F0-0D96-A39F-3225B4F340E6}"/>
              </a:ext>
            </a:extLst>
          </p:cNvPr>
          <p:cNvSpPr txBox="1"/>
          <p:nvPr/>
        </p:nvSpPr>
        <p:spPr>
          <a:xfrm>
            <a:off x="7699248" y="579345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オリジナルアニメ</a:t>
            </a:r>
          </a:p>
        </p:txBody>
      </p:sp>
      <p:sp>
        <p:nvSpPr>
          <p:cNvPr id="125" name="TextBox 54">
            <a:extLst>
              <a:ext uri="{FF2B5EF4-FFF2-40B4-BE49-F238E27FC236}">
                <a16:creationId xmlns:a16="http://schemas.microsoft.com/office/drawing/2014/main" id="{2CDD3C90-2A44-1425-A01E-2FDA60F48D47}"/>
              </a:ext>
            </a:extLst>
          </p:cNvPr>
          <p:cNvSpPr txBox="1"/>
          <p:nvPr/>
        </p:nvSpPr>
        <p:spPr>
          <a:xfrm>
            <a:off x="7699248" y="600377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©PSYCHO-PASS Committee</a:t>
            </a:r>
          </a:p>
        </p:txBody>
      </p:sp>
    </p:spTree>
    <p:extLst>
      <p:ext uri="{BB962C8B-B14F-4D97-AF65-F5344CB8AC3E}">
        <p14:creationId xmlns:p14="http://schemas.microsoft.com/office/powerpoint/2010/main" val="3093493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F0F00-0114-29EF-087B-E4DE009D0B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107974D-4539-CB92-3C08-0D5C4BC7E53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事例｜ブルーロック</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7BEAB8F7-354D-CADD-CCB8-2241FA29668E}"/>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11C4AFEF-266B-A15D-8EF3-BDEB0768544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「ブルーロック」を活用し、フィギュアやアクリル雑貨など多様なキャラクターグッズを企画・商品化。</a:t>
            </a:r>
          </a:p>
        </p:txBody>
      </p:sp>
      <p:pic>
        <p:nvPicPr>
          <p:cNvPr id="34" name="図 33">
            <a:extLst>
              <a:ext uri="{FF2B5EF4-FFF2-40B4-BE49-F238E27FC236}">
                <a16:creationId xmlns:a16="http://schemas.microsoft.com/office/drawing/2014/main" id="{640581C0-C6CB-5518-905F-504A14607698}"/>
              </a:ext>
            </a:extLst>
          </p:cNvPr>
          <p:cNvPicPr>
            <a:picLocks noChangeAspect="1"/>
          </p:cNvPicPr>
          <p:nvPr/>
        </p:nvPicPr>
        <p:blipFill>
          <a:blip r:embed="rId2"/>
          <a:stretch>
            <a:fillRect/>
          </a:stretch>
        </p:blipFill>
        <p:spPr>
          <a:xfrm>
            <a:off x="149845" y="1524649"/>
            <a:ext cx="10392123" cy="4617594"/>
          </a:xfrm>
          <a:prstGeom prst="rect">
            <a:avLst/>
          </a:prstGeom>
        </p:spPr>
      </p:pic>
    </p:spTree>
    <p:extLst>
      <p:ext uri="{BB962C8B-B14F-4D97-AF65-F5344CB8AC3E}">
        <p14:creationId xmlns:p14="http://schemas.microsoft.com/office/powerpoint/2010/main" val="19444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en-US" altLang="ja-JP" dirty="0">
                <a:latin typeface="游ゴシック"/>
                <a:ea typeface="游ゴシック"/>
              </a:rPr>
              <a:t>OEM</a:t>
            </a:r>
            <a:r>
              <a:rPr lang="ja-JP" altLang="en-US" dirty="0">
                <a:latin typeface="游ゴシック"/>
                <a:ea typeface="游ゴシック"/>
              </a:rPr>
              <a:t>製品ラインナップ</a:t>
            </a:r>
            <a:endParaRPr dirty="0">
              <a:latin typeface="游ゴシック"/>
              <a:ea typeface="游ゴシック"/>
            </a:endParaRP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字幕 13">
            <a:extLst>
              <a:ext uri="{FF2B5EF4-FFF2-40B4-BE49-F238E27FC236}">
                <a16:creationId xmlns:a16="http://schemas.microsoft.com/office/drawing/2014/main" id="{269B7E52-C3AF-2DE4-7AEE-6E7761B613C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アパレル雑貨から缶バッジ・アクリル・紙・成形品まで、商材に応じて国内外の複数の製造パートナーを使い分けることで、幅広いカテゴリーの</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製品に対応している。</a:t>
            </a:r>
          </a:p>
        </p:txBody>
      </p:sp>
      <p:pic>
        <p:nvPicPr>
          <p:cNvPr id="14" name="Picture 25" descr="image.jpg">
            <a:extLst>
              <a:ext uri="{FF2B5EF4-FFF2-40B4-BE49-F238E27FC236}">
                <a16:creationId xmlns:a16="http://schemas.microsoft.com/office/drawing/2014/main" id="{FAAF3CF7-25E8-731A-4D6B-6885530FB434}"/>
              </a:ext>
            </a:extLst>
          </p:cNvPr>
          <p:cNvPicPr>
            <a:picLocks noChangeAspect="1"/>
          </p:cNvPicPr>
          <p:nvPr/>
        </p:nvPicPr>
        <p:blipFill>
          <a:blip r:embed="rId3"/>
          <a:stretch>
            <a:fillRect/>
          </a:stretch>
        </p:blipFill>
        <p:spPr>
          <a:xfrm>
            <a:off x="449263" y="1925083"/>
            <a:ext cx="2418228" cy="1692760"/>
          </a:xfrm>
          <a:prstGeom prst="rect">
            <a:avLst/>
          </a:prstGeom>
        </p:spPr>
      </p:pic>
      <p:pic>
        <p:nvPicPr>
          <p:cNvPr id="16" name="Picture 26" descr="image.jpg">
            <a:extLst>
              <a:ext uri="{FF2B5EF4-FFF2-40B4-BE49-F238E27FC236}">
                <a16:creationId xmlns:a16="http://schemas.microsoft.com/office/drawing/2014/main" id="{0D696772-F1E5-7A10-3A96-22DFD7F4152E}"/>
              </a:ext>
            </a:extLst>
          </p:cNvPr>
          <p:cNvPicPr>
            <a:picLocks noChangeAspect="1"/>
          </p:cNvPicPr>
          <p:nvPr/>
        </p:nvPicPr>
        <p:blipFill>
          <a:blip r:embed="rId4"/>
          <a:stretch>
            <a:fillRect/>
          </a:stretch>
        </p:blipFill>
        <p:spPr>
          <a:xfrm>
            <a:off x="2952972" y="1925083"/>
            <a:ext cx="2418228" cy="1692760"/>
          </a:xfrm>
          <a:prstGeom prst="rect">
            <a:avLst/>
          </a:prstGeom>
        </p:spPr>
      </p:pic>
      <p:pic>
        <p:nvPicPr>
          <p:cNvPr id="18" name="Picture 27" descr="image.jpg">
            <a:extLst>
              <a:ext uri="{FF2B5EF4-FFF2-40B4-BE49-F238E27FC236}">
                <a16:creationId xmlns:a16="http://schemas.microsoft.com/office/drawing/2014/main" id="{1292D147-3093-7312-F1B9-005BC095E868}"/>
              </a:ext>
            </a:extLst>
          </p:cNvPr>
          <p:cNvPicPr>
            <a:picLocks noChangeAspect="1"/>
          </p:cNvPicPr>
          <p:nvPr/>
        </p:nvPicPr>
        <p:blipFill>
          <a:blip r:embed="rId5"/>
          <a:stretch>
            <a:fillRect/>
          </a:stretch>
        </p:blipFill>
        <p:spPr>
          <a:xfrm>
            <a:off x="5456681" y="1925083"/>
            <a:ext cx="2418228" cy="1692760"/>
          </a:xfrm>
          <a:prstGeom prst="rect">
            <a:avLst/>
          </a:prstGeom>
        </p:spPr>
      </p:pic>
      <p:pic>
        <p:nvPicPr>
          <p:cNvPr id="20" name="Picture 28" descr="image.jpg">
            <a:extLst>
              <a:ext uri="{FF2B5EF4-FFF2-40B4-BE49-F238E27FC236}">
                <a16:creationId xmlns:a16="http://schemas.microsoft.com/office/drawing/2014/main" id="{908B1669-E0E6-4FDB-64F9-1A6E02325935}"/>
              </a:ext>
            </a:extLst>
          </p:cNvPr>
          <p:cNvPicPr>
            <a:picLocks noChangeAspect="1"/>
          </p:cNvPicPr>
          <p:nvPr/>
        </p:nvPicPr>
        <p:blipFill>
          <a:blip r:embed="rId6"/>
          <a:stretch>
            <a:fillRect/>
          </a:stretch>
        </p:blipFill>
        <p:spPr>
          <a:xfrm>
            <a:off x="460676" y="3779839"/>
            <a:ext cx="2281724" cy="2281724"/>
          </a:xfrm>
          <a:prstGeom prst="rect">
            <a:avLst/>
          </a:prstGeom>
        </p:spPr>
      </p:pic>
      <p:pic>
        <p:nvPicPr>
          <p:cNvPr id="22" name="Picture 29" descr="image.jpg">
            <a:extLst>
              <a:ext uri="{FF2B5EF4-FFF2-40B4-BE49-F238E27FC236}">
                <a16:creationId xmlns:a16="http://schemas.microsoft.com/office/drawing/2014/main" id="{916C4568-0605-0DE5-92D9-D15854BAC9C6}"/>
              </a:ext>
            </a:extLst>
          </p:cNvPr>
          <p:cNvPicPr>
            <a:picLocks noChangeAspect="1"/>
          </p:cNvPicPr>
          <p:nvPr/>
        </p:nvPicPr>
        <p:blipFill>
          <a:blip r:embed="rId7"/>
          <a:stretch>
            <a:fillRect/>
          </a:stretch>
        </p:blipFill>
        <p:spPr>
          <a:xfrm>
            <a:off x="2996710" y="3779838"/>
            <a:ext cx="2281723" cy="2281723"/>
          </a:xfrm>
          <a:prstGeom prst="rect">
            <a:avLst/>
          </a:prstGeom>
        </p:spPr>
      </p:pic>
      <p:pic>
        <p:nvPicPr>
          <p:cNvPr id="24" name="Picture 30" descr="image.jpg">
            <a:extLst>
              <a:ext uri="{FF2B5EF4-FFF2-40B4-BE49-F238E27FC236}">
                <a16:creationId xmlns:a16="http://schemas.microsoft.com/office/drawing/2014/main" id="{32EC6D7A-B06A-6E17-ED6B-E4CEAD6E020D}"/>
              </a:ext>
            </a:extLst>
          </p:cNvPr>
          <p:cNvPicPr>
            <a:picLocks noChangeAspect="1"/>
          </p:cNvPicPr>
          <p:nvPr/>
        </p:nvPicPr>
        <p:blipFill>
          <a:blip r:embed="rId8"/>
          <a:stretch>
            <a:fillRect/>
          </a:stretch>
        </p:blipFill>
        <p:spPr>
          <a:xfrm>
            <a:off x="5532743" y="3779838"/>
            <a:ext cx="2281723" cy="2281723"/>
          </a:xfrm>
          <a:prstGeom prst="rect">
            <a:avLst/>
          </a:prstGeom>
        </p:spPr>
      </p:pic>
      <p:pic>
        <p:nvPicPr>
          <p:cNvPr id="27" name="図 26">
            <a:extLst>
              <a:ext uri="{FF2B5EF4-FFF2-40B4-BE49-F238E27FC236}">
                <a16:creationId xmlns:a16="http://schemas.microsoft.com/office/drawing/2014/main" id="{30E79A5F-7F2E-EFEF-5839-CE8A62F1C58D}"/>
              </a:ext>
            </a:extLst>
          </p:cNvPr>
          <p:cNvPicPr>
            <a:picLocks noChangeAspect="1"/>
          </p:cNvPicPr>
          <p:nvPr/>
        </p:nvPicPr>
        <p:blipFill>
          <a:blip r:embed="rId9"/>
          <a:stretch>
            <a:fillRect/>
          </a:stretch>
        </p:blipFill>
        <p:spPr>
          <a:xfrm>
            <a:off x="7960389" y="1925083"/>
            <a:ext cx="2418228" cy="1692760"/>
          </a:xfrm>
          <a:prstGeom prst="rect">
            <a:avLst/>
          </a:prstGeom>
        </p:spPr>
      </p:pic>
      <p:pic>
        <p:nvPicPr>
          <p:cNvPr id="30" name="図 29">
            <a:extLst>
              <a:ext uri="{FF2B5EF4-FFF2-40B4-BE49-F238E27FC236}">
                <a16:creationId xmlns:a16="http://schemas.microsoft.com/office/drawing/2014/main" id="{2F1ED51A-4A97-0525-1D57-806C31A6EBB0}"/>
              </a:ext>
            </a:extLst>
          </p:cNvPr>
          <p:cNvPicPr>
            <a:picLocks noChangeAspect="1"/>
          </p:cNvPicPr>
          <p:nvPr/>
        </p:nvPicPr>
        <p:blipFill>
          <a:blip r:embed="rId10"/>
          <a:stretch>
            <a:fillRect/>
          </a:stretch>
        </p:blipFill>
        <p:spPr>
          <a:xfrm>
            <a:off x="8068777" y="3779837"/>
            <a:ext cx="2281723" cy="2281723"/>
          </a:xfrm>
          <a:prstGeom prst="rect">
            <a:avLst/>
          </a:prstGeom>
        </p:spPr>
      </p:pic>
      <p:sp>
        <p:nvSpPr>
          <p:cNvPr id="32" name="TextBox 24">
            <a:extLst>
              <a:ext uri="{FF2B5EF4-FFF2-40B4-BE49-F238E27FC236}">
                <a16:creationId xmlns:a16="http://schemas.microsoft.com/office/drawing/2014/main" id="{A07B1520-28EB-40BF-046B-46C010DFD015}"/>
              </a:ext>
            </a:extLst>
          </p:cNvPr>
          <p:cNvSpPr txBox="1"/>
          <p:nvPr/>
        </p:nvSpPr>
        <p:spPr>
          <a:xfrm>
            <a:off x="311150" y="6586622"/>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上記は当社ウェブサイトに掲載の主な取扱カテゴリ</a:t>
            </a:r>
            <a:r>
              <a:rPr sz="1050" dirty="0">
                <a:solidFill>
                  <a:schemeClr val="tx1"/>
                </a:solidFill>
                <a:latin typeface="游ゴシック" panose="020B0400000000000000" pitchFamily="50" charset="-128"/>
                <a:ea typeface="游ゴシック" panose="020B0400000000000000" pitchFamily="50" charset="-128"/>
              </a:rPr>
              <a:t>ー。</a:t>
            </a:r>
            <a:r>
              <a:rPr sz="1050" dirty="0" err="1">
                <a:solidFill>
                  <a:schemeClr val="tx1"/>
                </a:solidFill>
                <a:latin typeface="游ゴシック" panose="020B0400000000000000" pitchFamily="50" charset="-128"/>
                <a:ea typeface="游ゴシック" panose="020B0400000000000000" pitchFamily="50" charset="-128"/>
              </a:rPr>
              <a:t>この他、アクリルスタンド・紙製品・成形品・ぬいぐるみ</a:t>
            </a:r>
            <a:r>
              <a:rPr lang="ja-JP" altLang="en-US" sz="1050" dirty="0">
                <a:solidFill>
                  <a:schemeClr val="tx1"/>
                </a:solidFill>
                <a:latin typeface="游ゴシック" panose="020B0400000000000000" pitchFamily="50" charset="-128"/>
                <a:ea typeface="游ゴシック" panose="020B0400000000000000" pitchFamily="50" charset="-128"/>
              </a:rPr>
              <a:t>・ポーチ</a:t>
            </a:r>
            <a:r>
              <a:rPr sz="1050" dirty="0" err="1">
                <a:solidFill>
                  <a:schemeClr val="tx1"/>
                </a:solidFill>
                <a:latin typeface="游ゴシック" panose="020B0400000000000000" pitchFamily="50" charset="-128"/>
                <a:ea typeface="游ゴシック" panose="020B0400000000000000" pitchFamily="50" charset="-128"/>
              </a:rPr>
              <a:t>等にも対応してい</a:t>
            </a:r>
            <a:r>
              <a:rPr lang="ja-JP" altLang="en-US" sz="1050" dirty="0">
                <a:solidFill>
                  <a:schemeClr val="tx1"/>
                </a:solidFill>
                <a:latin typeface="游ゴシック" panose="020B0400000000000000" pitchFamily="50" charset="-128"/>
                <a:ea typeface="游ゴシック" panose="020B0400000000000000" pitchFamily="50" charset="-128"/>
              </a:rPr>
              <a:t>る。</a:t>
            </a:r>
            <a:endParaRPr sz="105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527513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2694F-6037-BC05-A778-2C368C108E5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2D7161-C236-D1F3-2F14-7475BF283EA9}"/>
              </a:ext>
            </a:extLst>
          </p:cNvPr>
          <p:cNvSpPr>
            <a:spLocks noGrp="1"/>
          </p:cNvSpPr>
          <p:nvPr>
            <p:ph type="ctrTitle"/>
          </p:nvPr>
        </p:nvSpPr>
        <p:spPr/>
        <p:txBody>
          <a:bodyPr/>
          <a:lstStyle/>
          <a:p>
            <a:r>
              <a:rPr lang="ja-JP" altLang="en-US" dirty="0">
                <a:latin typeface="游ゴシック"/>
                <a:ea typeface="游ゴシック"/>
              </a:rPr>
              <a:t>自社オリジナル商品（オリジナルくじ商材）</a:t>
            </a:r>
            <a:endParaRPr dirty="0">
              <a:latin typeface="游ゴシック"/>
              <a:ea typeface="游ゴシック"/>
            </a:endParaRPr>
          </a:p>
        </p:txBody>
      </p:sp>
      <p:sp>
        <p:nvSpPr>
          <p:cNvPr id="2" name="タイトル 1">
            <a:extLst>
              <a:ext uri="{FF2B5EF4-FFF2-40B4-BE49-F238E27FC236}">
                <a16:creationId xmlns:a16="http://schemas.microsoft.com/office/drawing/2014/main" id="{EF116674-6E52-9FBC-5973-F485C689494B}"/>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字幕 13">
            <a:extLst>
              <a:ext uri="{FF2B5EF4-FFF2-40B4-BE49-F238E27FC236}">
                <a16:creationId xmlns:a16="http://schemas.microsoft.com/office/drawing/2014/main" id="{1C1E5C9B-6803-71A7-1E9E-2ED814226AD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自社で版権を取得して企画から製造・卸販売までを主導するオリジナルくじ商材も展開。受注型の</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事業を補完し、収益機会の多様化に寄与。現在は飽和状態の為、現在は見直し中。</a:t>
            </a:r>
          </a:p>
        </p:txBody>
      </p:sp>
      <p:sp>
        <p:nvSpPr>
          <p:cNvPr id="6" name="TextBox 24">
            <a:extLst>
              <a:ext uri="{FF2B5EF4-FFF2-40B4-BE49-F238E27FC236}">
                <a16:creationId xmlns:a16="http://schemas.microsoft.com/office/drawing/2014/main" id="{A34958BF-268A-4C4B-1297-FA7E5B22A7DA}"/>
              </a:ext>
            </a:extLst>
          </p:cNvPr>
          <p:cNvSpPr txBox="1"/>
          <p:nvPr/>
        </p:nvSpPr>
        <p:spPr>
          <a:xfrm>
            <a:off x="311150" y="6602671"/>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展開作品は</a:t>
            </a:r>
            <a:r>
              <a:rPr lang="ja-JP" altLang="en-US" sz="1050" dirty="0">
                <a:solidFill>
                  <a:schemeClr val="tx1"/>
                </a:solidFill>
                <a:latin typeface="游ゴシック" panose="020B0400000000000000" pitchFamily="50" charset="-128"/>
                <a:ea typeface="游ゴシック" panose="020B0400000000000000" pitchFamily="50" charset="-128"/>
              </a:rPr>
              <a:t>対象会社</a:t>
            </a:r>
            <a:r>
              <a:rPr sz="1050" dirty="0" err="1">
                <a:solidFill>
                  <a:schemeClr val="tx1"/>
                </a:solidFill>
                <a:latin typeface="游ゴシック" panose="020B0400000000000000" pitchFamily="50" charset="-128"/>
                <a:ea typeface="游ゴシック" panose="020B0400000000000000" pitchFamily="50" charset="-128"/>
              </a:rPr>
              <a:t>ウェブサイト及び公式X</a:t>
            </a:r>
            <a:r>
              <a:rPr sz="1050" dirty="0">
                <a:solidFill>
                  <a:schemeClr val="tx1"/>
                </a:solidFill>
                <a:latin typeface="游ゴシック" panose="020B0400000000000000" pitchFamily="50" charset="-128"/>
                <a:ea typeface="游ゴシック" panose="020B0400000000000000" pitchFamily="50" charset="-128"/>
              </a:rPr>
              <a:t>（@</a:t>
            </a:r>
            <a:r>
              <a:rPr sz="1050" dirty="0" err="1">
                <a:solidFill>
                  <a:schemeClr val="tx1"/>
                </a:solidFill>
                <a:latin typeface="游ゴシック" panose="020B0400000000000000" pitchFamily="50" charset="-128"/>
                <a:ea typeface="游ゴシック" panose="020B0400000000000000" pitchFamily="50" charset="-128"/>
              </a:rPr>
              <a:t>canaria_tokyo）に掲載の情報に基づ</a:t>
            </a:r>
            <a:r>
              <a:rPr lang="ja-JP" altLang="en-US" sz="1050" dirty="0">
                <a:solidFill>
                  <a:schemeClr val="tx1"/>
                </a:solidFill>
                <a:latin typeface="游ゴシック" panose="020B0400000000000000" pitchFamily="50" charset="-128"/>
                <a:ea typeface="游ゴシック" panose="020B0400000000000000" pitchFamily="50" charset="-128"/>
              </a:rPr>
              <a:t>く</a:t>
            </a:r>
            <a:r>
              <a:rPr sz="1050" dirty="0" err="1">
                <a:solidFill>
                  <a:schemeClr val="tx1"/>
                </a:solidFill>
                <a:latin typeface="游ゴシック" panose="020B0400000000000000" pitchFamily="50" charset="-128"/>
                <a:ea typeface="游ゴシック" panose="020B0400000000000000" pitchFamily="50" charset="-128"/>
              </a:rPr>
              <a:t>一部抜粋です</a:t>
            </a:r>
            <a:r>
              <a:rPr sz="1050" dirty="0">
                <a:solidFill>
                  <a:schemeClr val="tx1"/>
                </a:solidFill>
                <a:latin typeface="游ゴシック" panose="020B0400000000000000" pitchFamily="50" charset="-128"/>
                <a:ea typeface="游ゴシック" panose="020B0400000000000000" pitchFamily="50" charset="-128"/>
              </a:rPr>
              <a:t>。</a:t>
            </a:r>
          </a:p>
        </p:txBody>
      </p:sp>
      <p:sp>
        <p:nvSpPr>
          <p:cNvPr id="8" name="Rectangle 25">
            <a:extLst>
              <a:ext uri="{FF2B5EF4-FFF2-40B4-BE49-F238E27FC236}">
                <a16:creationId xmlns:a16="http://schemas.microsoft.com/office/drawing/2014/main" id="{BE5E356A-4332-DCE7-7C7B-4EE45380DE5F}"/>
              </a:ext>
            </a:extLst>
          </p:cNvPr>
          <p:cNvSpPr/>
          <p:nvPr/>
        </p:nvSpPr>
        <p:spPr>
          <a:xfrm>
            <a:off x="384048"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0" name="Rectangle 26">
            <a:extLst>
              <a:ext uri="{FF2B5EF4-FFF2-40B4-BE49-F238E27FC236}">
                <a16:creationId xmlns:a16="http://schemas.microsoft.com/office/drawing/2014/main" id="{C16D6845-018A-0184-F9A5-2BB4516A6D38}"/>
              </a:ext>
            </a:extLst>
          </p:cNvPr>
          <p:cNvSpPr/>
          <p:nvPr/>
        </p:nvSpPr>
        <p:spPr>
          <a:xfrm>
            <a:off x="384048"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2" name="TextBox 27">
            <a:extLst>
              <a:ext uri="{FF2B5EF4-FFF2-40B4-BE49-F238E27FC236}">
                <a16:creationId xmlns:a16="http://schemas.microsoft.com/office/drawing/2014/main" id="{1468352D-25CB-8A0B-BBA7-375C9A39A38D}"/>
              </a:ext>
            </a:extLst>
          </p:cNvPr>
          <p:cNvSpPr txBox="1"/>
          <p:nvPr/>
        </p:nvSpPr>
        <p:spPr>
          <a:xfrm>
            <a:off x="384048" y="1609344"/>
            <a:ext cx="4864608"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「スターくじ」</a:t>
            </a:r>
          </a:p>
        </p:txBody>
      </p:sp>
      <p:sp>
        <p:nvSpPr>
          <p:cNvPr id="15" name="TextBox 28">
            <a:extLst>
              <a:ext uri="{FF2B5EF4-FFF2-40B4-BE49-F238E27FC236}">
                <a16:creationId xmlns:a16="http://schemas.microsoft.com/office/drawing/2014/main" id="{CC8D7A82-C072-43BB-06DD-E6B7B2817984}"/>
              </a:ext>
            </a:extLst>
          </p:cNvPr>
          <p:cNvSpPr txBox="1"/>
          <p:nvPr/>
        </p:nvSpPr>
        <p:spPr>
          <a:xfrm>
            <a:off x="621792" y="2103120"/>
            <a:ext cx="4389120" cy="630942"/>
          </a:xfrm>
          <a:prstGeom prst="rect">
            <a:avLst/>
          </a:prstGeom>
          <a:noFill/>
        </p:spPr>
        <p:txBody>
          <a:bodyPr wrap="square" lIns="0" tIns="0" rIns="0" bIns="0">
            <a:spAutoFit/>
          </a:bodyPr>
          <a:lstStyle/>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自社企画のくじ商材ブランド。人気IPの版権を取得し</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景品ラインナップの企画・デザインから製造委託</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卸販売までを自社主導で実施</a:t>
            </a:r>
            <a:r>
              <a:rPr sz="1200" b="0" dirty="0">
                <a:solidFill>
                  <a:schemeClr val="tx1"/>
                </a:solidFill>
                <a:latin typeface="游ゴシック" panose="020B0400000000000000" pitchFamily="50" charset="-128"/>
                <a:ea typeface="游ゴシック" panose="020B0400000000000000" pitchFamily="50" charset="-128"/>
              </a:rPr>
              <a:t>。</a:t>
            </a:r>
          </a:p>
        </p:txBody>
      </p:sp>
      <p:sp>
        <p:nvSpPr>
          <p:cNvPr id="19" name="TextBox 29">
            <a:extLst>
              <a:ext uri="{FF2B5EF4-FFF2-40B4-BE49-F238E27FC236}">
                <a16:creationId xmlns:a16="http://schemas.microsoft.com/office/drawing/2014/main" id="{C9097F5C-0C12-E402-8F44-554BCDD1A3CF}"/>
              </a:ext>
            </a:extLst>
          </p:cNvPr>
          <p:cNvSpPr txBox="1"/>
          <p:nvPr/>
        </p:nvSpPr>
        <p:spPr>
          <a:xfrm>
            <a:off x="621792" y="3063240"/>
            <a:ext cx="4389120" cy="184666"/>
          </a:xfrm>
          <a:prstGeom prst="rect">
            <a:avLst/>
          </a:prstGeom>
          <a:noFill/>
        </p:spPr>
        <p:txBody>
          <a:bodyPr wrap="square" lIns="0" tIns="0" rIns="0" bIns="0">
            <a:spAutoFit/>
          </a:bodyPr>
          <a:lstStyle/>
          <a:p>
            <a:pPr algn="l"/>
            <a:r>
              <a:rPr sz="1200" b="1" u="sng" dirty="0" err="1">
                <a:solidFill>
                  <a:srgbClr val="0889C9"/>
                </a:solidFill>
                <a:latin typeface="游ゴシック" panose="020B0400000000000000" pitchFamily="50" charset="-128"/>
                <a:ea typeface="游ゴシック" panose="020B0400000000000000" pitchFamily="50" charset="-128"/>
              </a:rPr>
              <a:t>主な展開作品</a:t>
            </a:r>
            <a:endParaRPr sz="1200" b="1" u="sng" dirty="0">
              <a:solidFill>
                <a:srgbClr val="0889C9"/>
              </a:solidFill>
              <a:latin typeface="游ゴシック" panose="020B0400000000000000" pitchFamily="50" charset="-128"/>
              <a:ea typeface="游ゴシック" panose="020B0400000000000000" pitchFamily="50" charset="-128"/>
            </a:endParaRPr>
          </a:p>
        </p:txBody>
      </p:sp>
      <p:sp>
        <p:nvSpPr>
          <p:cNvPr id="23" name="Rectangle 30">
            <a:extLst>
              <a:ext uri="{FF2B5EF4-FFF2-40B4-BE49-F238E27FC236}">
                <a16:creationId xmlns:a16="http://schemas.microsoft.com/office/drawing/2014/main" id="{C8C35DE1-74FA-2A58-F6A1-2729859917AD}"/>
              </a:ext>
            </a:extLst>
          </p:cNvPr>
          <p:cNvSpPr/>
          <p:nvPr/>
        </p:nvSpPr>
        <p:spPr>
          <a:xfrm>
            <a:off x="621792"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6" name="TextBox 31">
            <a:extLst>
              <a:ext uri="{FF2B5EF4-FFF2-40B4-BE49-F238E27FC236}">
                <a16:creationId xmlns:a16="http://schemas.microsoft.com/office/drawing/2014/main" id="{9922BE7F-FB60-F3F8-9EFE-B6D882A263FA}"/>
              </a:ext>
            </a:extLst>
          </p:cNvPr>
          <p:cNvSpPr txBox="1"/>
          <p:nvPr/>
        </p:nvSpPr>
        <p:spPr>
          <a:xfrm>
            <a:off x="804672" y="3493008"/>
            <a:ext cx="4023360" cy="656590"/>
          </a:xfrm>
          <a:prstGeom prst="rect">
            <a:avLst/>
          </a:prstGeom>
          <a:noFill/>
        </p:spPr>
        <p:txBody>
          <a:bodyPr wrap="square" lIns="0" tIns="0" rIns="0" bIns="0">
            <a:spAutoFit/>
          </a:bodyPr>
          <a:lstStyle/>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俺だけレベルアップな件</a:t>
            </a:r>
            <a:endParaRPr sz="1200" b="0" dirty="0">
              <a:solidFill>
                <a:schemeClr val="tx1"/>
              </a:solidFill>
              <a:latin typeface="游ゴシック" panose="020B0400000000000000" pitchFamily="50" charset="-128"/>
              <a:ea typeface="游ゴシック" panose="020B0400000000000000" pitchFamily="50" charset="-128"/>
            </a:endParaRP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・2.5次元の誘惑</a:t>
            </a: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東京リベンジャーズ</a:t>
            </a:r>
            <a:r>
              <a:rPr sz="1200" b="0" dirty="0">
                <a:solidFill>
                  <a:schemeClr val="tx1"/>
                </a:solidFill>
                <a:latin typeface="游ゴシック" panose="020B0400000000000000" pitchFamily="50" charset="-128"/>
                <a:ea typeface="游ゴシック" panose="020B0400000000000000" pitchFamily="50" charset="-128"/>
              </a:rPr>
              <a:t>　</a:t>
            </a:r>
            <a:r>
              <a:rPr sz="1200" b="0" dirty="0" err="1">
                <a:solidFill>
                  <a:schemeClr val="tx1"/>
                </a:solidFill>
                <a:latin typeface="游ゴシック" panose="020B0400000000000000" pitchFamily="50" charset="-128"/>
                <a:ea typeface="游ゴシック" panose="020B0400000000000000" pitchFamily="50" charset="-128"/>
              </a:rPr>
              <a:t>ほか</a:t>
            </a:r>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29" name="Rectangle 32">
            <a:extLst>
              <a:ext uri="{FF2B5EF4-FFF2-40B4-BE49-F238E27FC236}">
                <a16:creationId xmlns:a16="http://schemas.microsoft.com/office/drawing/2014/main" id="{7FDD1071-8F1F-EACB-1498-A7536D824DD5}"/>
              </a:ext>
            </a:extLst>
          </p:cNvPr>
          <p:cNvSpPr/>
          <p:nvPr/>
        </p:nvSpPr>
        <p:spPr>
          <a:xfrm>
            <a:off x="5440680"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3" name="Rectangle 33">
            <a:extLst>
              <a:ext uri="{FF2B5EF4-FFF2-40B4-BE49-F238E27FC236}">
                <a16:creationId xmlns:a16="http://schemas.microsoft.com/office/drawing/2014/main" id="{038281F3-7E36-01DF-DCF1-772F502221EA}"/>
              </a:ext>
            </a:extLst>
          </p:cNvPr>
          <p:cNvSpPr/>
          <p:nvPr/>
        </p:nvSpPr>
        <p:spPr>
          <a:xfrm>
            <a:off x="5440680"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TextBox 34">
            <a:extLst>
              <a:ext uri="{FF2B5EF4-FFF2-40B4-BE49-F238E27FC236}">
                <a16:creationId xmlns:a16="http://schemas.microsoft.com/office/drawing/2014/main" id="{EA6EE90A-A505-7081-2BA4-FC601C23CEE9}"/>
              </a:ext>
            </a:extLst>
          </p:cNvPr>
          <p:cNvSpPr txBox="1"/>
          <p:nvPr/>
        </p:nvSpPr>
        <p:spPr>
          <a:xfrm>
            <a:off x="5440680" y="1609344"/>
            <a:ext cx="4864608"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「あたりツキ！」</a:t>
            </a:r>
          </a:p>
        </p:txBody>
      </p:sp>
      <p:sp>
        <p:nvSpPr>
          <p:cNvPr id="37" name="TextBox 35">
            <a:extLst>
              <a:ext uri="{FF2B5EF4-FFF2-40B4-BE49-F238E27FC236}">
                <a16:creationId xmlns:a16="http://schemas.microsoft.com/office/drawing/2014/main" id="{2DE485F7-DFBC-C0DD-4CC5-3765C6E6F005}"/>
              </a:ext>
            </a:extLst>
          </p:cNvPr>
          <p:cNvSpPr txBox="1"/>
          <p:nvPr/>
        </p:nvSpPr>
        <p:spPr>
          <a:xfrm>
            <a:off x="5678424" y="2103120"/>
            <a:ext cx="4389120" cy="630942"/>
          </a:xfrm>
          <a:prstGeom prst="rect">
            <a:avLst/>
          </a:prstGeom>
          <a:noFill/>
        </p:spPr>
        <p:txBody>
          <a:bodyPr wrap="square" lIns="0" tIns="0" rIns="0" bIns="0">
            <a:spAutoFit/>
          </a:bodyPr>
          <a:lstStyle/>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缶バッジを中心とした自社ブランドのくじ商材</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当たり付きの仕様により売場での訴求力を高め</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幅広いIPで継続的に展開</a:t>
            </a:r>
            <a:r>
              <a:rPr sz="1200" b="0" dirty="0">
                <a:solidFill>
                  <a:schemeClr val="tx1"/>
                </a:solidFill>
                <a:latin typeface="游ゴシック" panose="020B0400000000000000" pitchFamily="50" charset="-128"/>
                <a:ea typeface="游ゴシック" panose="020B0400000000000000" pitchFamily="50" charset="-128"/>
              </a:rPr>
              <a:t>。</a:t>
            </a:r>
          </a:p>
        </p:txBody>
      </p:sp>
      <p:sp>
        <p:nvSpPr>
          <p:cNvPr id="39" name="TextBox 36">
            <a:extLst>
              <a:ext uri="{FF2B5EF4-FFF2-40B4-BE49-F238E27FC236}">
                <a16:creationId xmlns:a16="http://schemas.microsoft.com/office/drawing/2014/main" id="{96322ACA-FBA3-D70F-C8D6-40419C3E4CDB}"/>
              </a:ext>
            </a:extLst>
          </p:cNvPr>
          <p:cNvSpPr txBox="1"/>
          <p:nvPr/>
        </p:nvSpPr>
        <p:spPr>
          <a:xfrm>
            <a:off x="5678424" y="3063240"/>
            <a:ext cx="4389120" cy="184666"/>
          </a:xfrm>
          <a:prstGeom prst="rect">
            <a:avLst/>
          </a:prstGeom>
          <a:noFill/>
        </p:spPr>
        <p:txBody>
          <a:bodyPr wrap="square" lIns="0" tIns="0" rIns="0" bIns="0">
            <a:spAutoFit/>
          </a:bodyPr>
          <a:lstStyle/>
          <a:p>
            <a:pPr algn="l"/>
            <a:r>
              <a:rPr sz="1200" b="1" u="sng">
                <a:solidFill>
                  <a:srgbClr val="0889C9"/>
                </a:solidFill>
                <a:latin typeface="游ゴシック" panose="020B0400000000000000" pitchFamily="50" charset="-128"/>
                <a:ea typeface="游ゴシック" panose="020B0400000000000000" pitchFamily="50" charset="-128"/>
              </a:rPr>
              <a:t>主な展開作品</a:t>
            </a:r>
          </a:p>
        </p:txBody>
      </p:sp>
      <p:sp>
        <p:nvSpPr>
          <p:cNvPr id="41" name="Rectangle 37">
            <a:extLst>
              <a:ext uri="{FF2B5EF4-FFF2-40B4-BE49-F238E27FC236}">
                <a16:creationId xmlns:a16="http://schemas.microsoft.com/office/drawing/2014/main" id="{1FAEEC40-0402-823C-420C-C32CC41E78C7}"/>
              </a:ext>
            </a:extLst>
          </p:cNvPr>
          <p:cNvSpPr/>
          <p:nvPr/>
        </p:nvSpPr>
        <p:spPr>
          <a:xfrm>
            <a:off x="5678424"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3" name="TextBox 38">
            <a:extLst>
              <a:ext uri="{FF2B5EF4-FFF2-40B4-BE49-F238E27FC236}">
                <a16:creationId xmlns:a16="http://schemas.microsoft.com/office/drawing/2014/main" id="{1CEAFF80-223A-3AD1-5FD4-55AE5D7A5382}"/>
              </a:ext>
            </a:extLst>
          </p:cNvPr>
          <p:cNvSpPr txBox="1"/>
          <p:nvPr/>
        </p:nvSpPr>
        <p:spPr>
          <a:xfrm>
            <a:off x="5861304" y="3493008"/>
            <a:ext cx="4023360" cy="656590"/>
          </a:xfrm>
          <a:prstGeom prst="rect">
            <a:avLst/>
          </a:prstGeom>
          <a:noFill/>
        </p:spPr>
        <p:txBody>
          <a:bodyPr wrap="square" lIns="0" tIns="0" rIns="0" bIns="0">
            <a:spAutoFit/>
          </a:bodyPr>
          <a:lstStyle/>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五等分の花嫁</a:t>
            </a:r>
            <a:endParaRPr sz="1200" b="0" dirty="0">
              <a:solidFill>
                <a:schemeClr val="tx1"/>
              </a:solidFill>
              <a:latin typeface="游ゴシック" panose="020B0400000000000000" pitchFamily="50" charset="-128"/>
              <a:ea typeface="游ゴシック" panose="020B0400000000000000" pitchFamily="50" charset="-128"/>
            </a:endParaRP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・モブサイコ100</a:t>
            </a: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ぽんのみち／テンプレ</a:t>
            </a:r>
            <a:r>
              <a:rPr sz="1200" b="0" dirty="0">
                <a:solidFill>
                  <a:schemeClr val="tx1"/>
                </a:solidFill>
                <a:latin typeface="游ゴシック" panose="020B0400000000000000" pitchFamily="50" charset="-128"/>
                <a:ea typeface="游ゴシック" panose="020B0400000000000000" pitchFamily="50" charset="-128"/>
              </a:rPr>
              <a:t>　</a:t>
            </a:r>
            <a:r>
              <a:rPr sz="1200" b="0" dirty="0" err="1">
                <a:solidFill>
                  <a:schemeClr val="tx1"/>
                </a:solidFill>
                <a:latin typeface="游ゴシック" panose="020B0400000000000000" pitchFamily="50" charset="-128"/>
                <a:ea typeface="游ゴシック" panose="020B0400000000000000" pitchFamily="50" charset="-128"/>
              </a:rPr>
              <a:t>ほか</a:t>
            </a:r>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45" name="Rectangle 39">
            <a:extLst>
              <a:ext uri="{FF2B5EF4-FFF2-40B4-BE49-F238E27FC236}">
                <a16:creationId xmlns:a16="http://schemas.microsoft.com/office/drawing/2014/main" id="{C0519E06-57ED-8152-04DD-AA23E519C761}"/>
              </a:ext>
            </a:extLst>
          </p:cNvPr>
          <p:cNvSpPr/>
          <p:nvPr/>
        </p:nvSpPr>
        <p:spPr>
          <a:xfrm>
            <a:off x="384048" y="5047488"/>
            <a:ext cx="9921240" cy="12984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7" name="Rectangle 40">
            <a:extLst>
              <a:ext uri="{FF2B5EF4-FFF2-40B4-BE49-F238E27FC236}">
                <a16:creationId xmlns:a16="http://schemas.microsoft.com/office/drawing/2014/main" id="{CB85D8E5-6111-3FC9-A3B0-F221C7FC3599}"/>
              </a:ext>
            </a:extLst>
          </p:cNvPr>
          <p:cNvSpPr/>
          <p:nvPr/>
        </p:nvSpPr>
        <p:spPr>
          <a:xfrm>
            <a:off x="384048" y="5047488"/>
            <a:ext cx="1417320" cy="12984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9" name="TextBox 41">
            <a:extLst>
              <a:ext uri="{FF2B5EF4-FFF2-40B4-BE49-F238E27FC236}">
                <a16:creationId xmlns:a16="http://schemas.microsoft.com/office/drawing/2014/main" id="{FC6F9600-8350-CFA0-7C0F-7F4F535FD62B}"/>
              </a:ext>
            </a:extLst>
          </p:cNvPr>
          <p:cNvSpPr txBox="1"/>
          <p:nvPr/>
        </p:nvSpPr>
        <p:spPr>
          <a:xfrm>
            <a:off x="384048" y="5541264"/>
            <a:ext cx="1417320" cy="215444"/>
          </a:xfrm>
          <a:prstGeom prst="rect">
            <a:avLst/>
          </a:prstGeom>
          <a:noFill/>
        </p:spPr>
        <p:txBody>
          <a:bodyPr wrap="square" lIns="0" tIns="0" rIns="0" bIns="0">
            <a:spAutoFit/>
          </a:bodyPr>
          <a:lstStyle/>
          <a:p>
            <a:pPr algn="ctr"/>
            <a:r>
              <a:rPr sz="1400" b="1">
                <a:solidFill>
                  <a:srgbClr val="FFFFFF"/>
                </a:solidFill>
                <a:latin typeface="游ゴシック" panose="020B0400000000000000" pitchFamily="50" charset="-128"/>
                <a:ea typeface="游ゴシック" panose="020B0400000000000000" pitchFamily="50" charset="-128"/>
              </a:rPr>
              <a:t>事業上の</a:t>
            </a:r>
          </a:p>
        </p:txBody>
      </p:sp>
      <p:sp>
        <p:nvSpPr>
          <p:cNvPr id="51" name="TextBox 42">
            <a:extLst>
              <a:ext uri="{FF2B5EF4-FFF2-40B4-BE49-F238E27FC236}">
                <a16:creationId xmlns:a16="http://schemas.microsoft.com/office/drawing/2014/main" id="{63DD55DE-BBA9-9E3A-DBFE-36ACAE4DA7B0}"/>
              </a:ext>
            </a:extLst>
          </p:cNvPr>
          <p:cNvSpPr txBox="1"/>
          <p:nvPr/>
        </p:nvSpPr>
        <p:spPr>
          <a:xfrm>
            <a:off x="384048" y="5779008"/>
            <a:ext cx="1417320" cy="215444"/>
          </a:xfrm>
          <a:prstGeom prst="rect">
            <a:avLst/>
          </a:prstGeom>
          <a:noFill/>
        </p:spPr>
        <p:txBody>
          <a:bodyPr wrap="square" lIns="0" tIns="0" rIns="0" bIns="0">
            <a:spAutoFit/>
          </a:bodyPr>
          <a:lstStyle/>
          <a:p>
            <a:pPr algn="ctr"/>
            <a:r>
              <a:rPr sz="1400" b="1">
                <a:solidFill>
                  <a:srgbClr val="FFFFFF"/>
                </a:solidFill>
                <a:latin typeface="游ゴシック" panose="020B0400000000000000" pitchFamily="50" charset="-128"/>
                <a:ea typeface="游ゴシック" panose="020B0400000000000000" pitchFamily="50" charset="-128"/>
              </a:rPr>
              <a:t>位置づけ</a:t>
            </a:r>
          </a:p>
        </p:txBody>
      </p:sp>
      <p:sp>
        <p:nvSpPr>
          <p:cNvPr id="53" name="TextBox 43">
            <a:extLst>
              <a:ext uri="{FF2B5EF4-FFF2-40B4-BE49-F238E27FC236}">
                <a16:creationId xmlns:a16="http://schemas.microsoft.com/office/drawing/2014/main" id="{FEAEF0F5-9CCA-6F4D-29E4-D3AD734A58EE}"/>
              </a:ext>
            </a:extLst>
          </p:cNvPr>
          <p:cNvSpPr txBox="1"/>
          <p:nvPr/>
        </p:nvSpPr>
        <p:spPr>
          <a:xfrm>
            <a:off x="2011680" y="5256571"/>
            <a:ext cx="8092440" cy="1000274"/>
          </a:xfrm>
          <a:prstGeom prst="rect">
            <a:avLst/>
          </a:prstGeom>
          <a:noFill/>
        </p:spPr>
        <p:txBody>
          <a:bodyPr wrap="square" lIns="0" tIns="0" rIns="0" bIns="0">
            <a:spAutoFit/>
          </a:bodyPr>
          <a:lstStyle/>
          <a:p>
            <a:pPr algn="l">
              <a:spcAft>
                <a:spcPts val="300"/>
              </a:spcAft>
            </a:pPr>
            <a:r>
              <a:rPr sz="1200" b="0" dirty="0">
                <a:solidFill>
                  <a:srgbClr val="0B3041"/>
                </a:solidFill>
                <a:latin typeface="游ゴシック" panose="020B0400000000000000" pitchFamily="50" charset="-128"/>
                <a:ea typeface="游ゴシック" panose="020B0400000000000000" pitchFamily="50" charset="-128"/>
              </a:rPr>
              <a:t>版権受託（OEM）が権利元・取次からの受注に基づく受注型であるのに対し、自社オリジナル商材は当社が企画を主導する企画型のビジネス。</a:t>
            </a:r>
          </a:p>
          <a:p>
            <a:pPr algn="l">
              <a:spcAft>
                <a:spcPts val="300"/>
              </a:spcAft>
            </a:pPr>
            <a:r>
              <a:rPr sz="1200" b="0" dirty="0" err="1">
                <a:solidFill>
                  <a:srgbClr val="0B3041"/>
                </a:solidFill>
                <a:latin typeface="游ゴシック" panose="020B0400000000000000" pitchFamily="50" charset="-128"/>
                <a:ea typeface="游ゴシック" panose="020B0400000000000000" pitchFamily="50" charset="-128"/>
              </a:rPr>
              <a:t>IPの選定・商品仕様・投入時期を自社で決定できるため、ライセンス案件の作品ごとの需要変動を補完し、収益基盤の安定に寄与してい</a:t>
            </a:r>
            <a:r>
              <a:rPr lang="ja-JP" altLang="en-US" sz="1200" b="0" dirty="0">
                <a:solidFill>
                  <a:srgbClr val="0B3041"/>
                </a:solidFill>
                <a:latin typeface="游ゴシック" panose="020B0400000000000000" pitchFamily="50" charset="-128"/>
                <a:ea typeface="游ゴシック" panose="020B0400000000000000" pitchFamily="50" charset="-128"/>
              </a:rPr>
              <a:t>る</a:t>
            </a:r>
            <a:r>
              <a:rPr sz="1200" b="0" dirty="0">
                <a:solidFill>
                  <a:srgbClr val="0B304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rgbClr val="0B3041"/>
                </a:solidFill>
                <a:latin typeface="游ゴシック" panose="020B0400000000000000" pitchFamily="50" charset="-128"/>
                <a:ea typeface="游ゴシック" panose="020B0400000000000000" pitchFamily="50" charset="-128"/>
              </a:rPr>
              <a:t>また、くじ商材は問屋経由での買取販売を基本としており、在庫リスクを抑えた運営</a:t>
            </a:r>
            <a:r>
              <a:rPr lang="ja-JP" altLang="en-US" sz="1200" b="0" dirty="0">
                <a:solidFill>
                  <a:srgbClr val="0B3041"/>
                </a:solidFill>
                <a:latin typeface="游ゴシック" panose="020B0400000000000000" pitchFamily="50" charset="-128"/>
                <a:ea typeface="游ゴシック" panose="020B0400000000000000" pitchFamily="50" charset="-128"/>
              </a:rPr>
              <a:t>となっている</a:t>
            </a:r>
            <a:r>
              <a:rPr sz="1200" b="0" dirty="0">
                <a:solidFill>
                  <a:srgbClr val="0B304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2139609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04E9-9262-02F5-3477-002E27ED4FE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C2E20A7-6E54-AFBB-6396-EE0A814E0B3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事例①｜</a:t>
            </a:r>
            <a:r>
              <a:rPr lang="en-US" altLang="ja-JP" dirty="0">
                <a:latin typeface="游ゴシック" panose="020B0400000000000000" pitchFamily="50" charset="-128"/>
                <a:ea typeface="游ゴシック" panose="020B0400000000000000" pitchFamily="50" charset="-128"/>
              </a:rPr>
              <a:t>ONE PIECE</a:t>
            </a:r>
            <a:r>
              <a:rPr lang="ja-JP" altLang="en-US" dirty="0">
                <a:latin typeface="游ゴシック" panose="020B0400000000000000" pitchFamily="50" charset="-128"/>
                <a:ea typeface="游ゴシック" panose="020B0400000000000000" pitchFamily="50" charset="-128"/>
              </a:rPr>
              <a:t>（ワンピース）</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A22A0355-B348-34E2-41F0-091559E67B01}"/>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C34242E2-D524-1F11-0A44-1A0193C58DA0}"/>
              </a:ext>
            </a:extLst>
          </p:cNvPr>
          <p:cNvSpPr>
            <a:spLocks noGrp="1"/>
          </p:cNvSpPr>
          <p:nvPr>
            <p:ph type="subTitle" idx="1"/>
          </p:nvPr>
        </p:nvSpPr>
        <p:spPr>
          <a:xfrm>
            <a:off x="460675" y="830047"/>
            <a:ext cx="9781875" cy="339266"/>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ONE PIECE</a:t>
            </a:r>
            <a:r>
              <a:rPr lang="ja-JP" altLang="en-US" dirty="0">
                <a:latin typeface="游ゴシック" panose="020B0400000000000000" pitchFamily="50" charset="-128"/>
                <a:ea typeface="游ゴシック" panose="020B0400000000000000" pitchFamily="50" charset="-128"/>
              </a:rPr>
              <a:t>」を活用し、「あたりツキ！トレーディングスタンド手配書」を発売。</a:t>
            </a:r>
          </a:p>
        </p:txBody>
      </p:sp>
      <p:pic>
        <p:nvPicPr>
          <p:cNvPr id="38" name="図 37">
            <a:extLst>
              <a:ext uri="{FF2B5EF4-FFF2-40B4-BE49-F238E27FC236}">
                <a16:creationId xmlns:a16="http://schemas.microsoft.com/office/drawing/2014/main" id="{4F4A6904-BEA9-1D14-B69C-13D7D82D9EE0}"/>
              </a:ext>
            </a:extLst>
          </p:cNvPr>
          <p:cNvPicPr>
            <a:picLocks noChangeAspect="1"/>
          </p:cNvPicPr>
          <p:nvPr/>
        </p:nvPicPr>
        <p:blipFill>
          <a:blip r:embed="rId2"/>
          <a:stretch>
            <a:fillRect/>
          </a:stretch>
        </p:blipFill>
        <p:spPr>
          <a:xfrm>
            <a:off x="460675" y="1234854"/>
            <a:ext cx="7934025" cy="5605389"/>
          </a:xfrm>
          <a:prstGeom prst="rect">
            <a:avLst/>
          </a:prstGeom>
        </p:spPr>
      </p:pic>
    </p:spTree>
    <p:extLst>
      <p:ext uri="{BB962C8B-B14F-4D97-AF65-F5344CB8AC3E}">
        <p14:creationId xmlns:p14="http://schemas.microsoft.com/office/powerpoint/2010/main" val="3907638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87C8-054A-F020-89BA-96412C61F72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0046E2E-1581-1A58-4B90-4444B5C796AA}"/>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事例②｜東京リベンジャーズ</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0DD51619-65D9-A295-A51A-A1C639619A86}"/>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8D7092B3-CBFB-FCF0-2391-1736345074F2}"/>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「東京リベンジャーズ」を活用し、「スターくじ」を発売。</a:t>
            </a:r>
          </a:p>
        </p:txBody>
      </p:sp>
      <p:pic>
        <p:nvPicPr>
          <p:cNvPr id="11" name="図 10">
            <a:extLst>
              <a:ext uri="{FF2B5EF4-FFF2-40B4-BE49-F238E27FC236}">
                <a16:creationId xmlns:a16="http://schemas.microsoft.com/office/drawing/2014/main" id="{67DA5307-F66C-4C47-1F7B-DA298757A2D0}"/>
              </a:ext>
            </a:extLst>
          </p:cNvPr>
          <p:cNvPicPr>
            <a:picLocks noChangeAspect="1"/>
          </p:cNvPicPr>
          <p:nvPr/>
        </p:nvPicPr>
        <p:blipFill>
          <a:blip r:embed="rId2"/>
          <a:stretch>
            <a:fillRect/>
          </a:stretch>
        </p:blipFill>
        <p:spPr>
          <a:xfrm>
            <a:off x="449263" y="1248937"/>
            <a:ext cx="7914509" cy="5591601"/>
          </a:xfrm>
          <a:prstGeom prst="rect">
            <a:avLst/>
          </a:prstGeom>
        </p:spPr>
      </p:pic>
    </p:spTree>
    <p:extLst>
      <p:ext uri="{BB962C8B-B14F-4D97-AF65-F5344CB8AC3E}">
        <p14:creationId xmlns:p14="http://schemas.microsoft.com/office/powerpoint/2010/main" val="60966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4D5D-1855-5836-8261-F4EDD30C94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A361AC-8A58-DCCD-F5BF-CE1E2AC09F28}"/>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事例③｜進撃の巨人</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0374C14D-0638-683A-6D02-6546951E56EC}"/>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304B83D6-E763-60C9-E32A-D6C38170105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「進撃の巨人」を活用し、「あたりツキ！トレーディング缶バッジ</a:t>
            </a:r>
            <a:r>
              <a:rPr lang="en-US" altLang="ja-JP" dirty="0">
                <a:latin typeface="游ゴシック" panose="020B0400000000000000" pitchFamily="50" charset="-128"/>
                <a:ea typeface="游ゴシック" panose="020B0400000000000000" pitchFamily="50" charset="-128"/>
              </a:rPr>
              <a:t>Ver.</a:t>
            </a:r>
            <a:r>
              <a:rPr lang="ja-JP" altLang="en-US" dirty="0">
                <a:latin typeface="游ゴシック" panose="020B0400000000000000" pitchFamily="50" charset="-128"/>
                <a:ea typeface="游ゴシック" panose="020B0400000000000000" pitchFamily="50" charset="-128"/>
              </a:rPr>
              <a:t>」を発売。</a:t>
            </a:r>
          </a:p>
        </p:txBody>
      </p:sp>
      <p:pic>
        <p:nvPicPr>
          <p:cNvPr id="4" name="図 3" descr="Image">
            <a:extLst>
              <a:ext uri="{FF2B5EF4-FFF2-40B4-BE49-F238E27FC236}">
                <a16:creationId xmlns:a16="http://schemas.microsoft.com/office/drawing/2014/main" id="{D5C28F41-2DB7-61C8-D9AA-9E0E88CEB50E}"/>
              </a:ext>
            </a:extLst>
          </p:cNvPr>
          <p:cNvPicPr>
            <a:picLocks noChangeAspect="1"/>
          </p:cNvPicPr>
          <p:nvPr/>
        </p:nvPicPr>
        <p:blipFill>
          <a:blip r:embed="rId2"/>
          <a:stretch>
            <a:fillRect/>
          </a:stretch>
        </p:blipFill>
        <p:spPr>
          <a:xfrm>
            <a:off x="460675" y="1281647"/>
            <a:ext cx="7868213" cy="5558892"/>
          </a:xfrm>
          <a:prstGeom prst="rect">
            <a:avLst/>
          </a:prstGeom>
        </p:spPr>
      </p:pic>
    </p:spTree>
    <p:extLst>
      <p:ext uri="{BB962C8B-B14F-4D97-AF65-F5344CB8AC3E}">
        <p14:creationId xmlns:p14="http://schemas.microsoft.com/office/powerpoint/2010/main" val="4190414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27AA-96B8-4662-5197-9E26B12ED3A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821FDE7-E44F-5807-8FB2-D11909D4A49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制作フロー</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2D12FB99-ADF1-82EE-93CA-DA8617538F84}"/>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9FC23B40-D680-C9C9-1224-78F934C6E25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お問い合わせから納品まで、企画・デザインは自社で行い、製造は国内外の複数パートナーへ委託。サンプル確認・量産・検品まで一貫して対応。</a:t>
            </a:r>
          </a:p>
        </p:txBody>
      </p:sp>
      <p:sp>
        <p:nvSpPr>
          <p:cNvPr id="8" name="Rectangle 25">
            <a:extLst>
              <a:ext uri="{FF2B5EF4-FFF2-40B4-BE49-F238E27FC236}">
                <a16:creationId xmlns:a16="http://schemas.microsoft.com/office/drawing/2014/main" id="{72340CC3-9846-76D4-4925-DB7B56A23355}"/>
              </a:ext>
            </a:extLst>
          </p:cNvPr>
          <p:cNvSpPr/>
          <p:nvPr/>
        </p:nvSpPr>
        <p:spPr>
          <a:xfrm>
            <a:off x="384048"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0" name="Rectangle 26">
            <a:extLst>
              <a:ext uri="{FF2B5EF4-FFF2-40B4-BE49-F238E27FC236}">
                <a16:creationId xmlns:a16="http://schemas.microsoft.com/office/drawing/2014/main" id="{DB3FA697-7833-0FB6-D845-1B433618105C}"/>
              </a:ext>
            </a:extLst>
          </p:cNvPr>
          <p:cNvSpPr/>
          <p:nvPr/>
        </p:nvSpPr>
        <p:spPr>
          <a:xfrm>
            <a:off x="384048"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2" name="TextBox 27">
            <a:extLst>
              <a:ext uri="{FF2B5EF4-FFF2-40B4-BE49-F238E27FC236}">
                <a16:creationId xmlns:a16="http://schemas.microsoft.com/office/drawing/2014/main" id="{D35DC233-B865-8C82-E26D-72F21EF08135}"/>
              </a:ext>
            </a:extLst>
          </p:cNvPr>
          <p:cNvSpPr txBox="1"/>
          <p:nvPr/>
        </p:nvSpPr>
        <p:spPr>
          <a:xfrm>
            <a:off x="384048"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1</a:t>
            </a:r>
          </a:p>
        </p:txBody>
      </p:sp>
      <p:sp>
        <p:nvSpPr>
          <p:cNvPr id="14" name="TextBox 28">
            <a:extLst>
              <a:ext uri="{FF2B5EF4-FFF2-40B4-BE49-F238E27FC236}">
                <a16:creationId xmlns:a16="http://schemas.microsoft.com/office/drawing/2014/main" id="{1F6CAE71-F847-F715-ECA2-0C1188D0C8A9}"/>
              </a:ext>
            </a:extLst>
          </p:cNvPr>
          <p:cNvSpPr txBox="1"/>
          <p:nvPr/>
        </p:nvSpPr>
        <p:spPr>
          <a:xfrm>
            <a:off x="384048"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お問い合わせ</a:t>
            </a:r>
          </a:p>
        </p:txBody>
      </p:sp>
      <p:sp>
        <p:nvSpPr>
          <p:cNvPr id="16" name="TextBox 29">
            <a:extLst>
              <a:ext uri="{FF2B5EF4-FFF2-40B4-BE49-F238E27FC236}">
                <a16:creationId xmlns:a16="http://schemas.microsoft.com/office/drawing/2014/main" id="{07BCADE4-B977-A1B9-3E62-BCE5B403F2D3}"/>
              </a:ext>
            </a:extLst>
          </p:cNvPr>
          <p:cNvSpPr txBox="1"/>
          <p:nvPr/>
        </p:nvSpPr>
        <p:spPr>
          <a:xfrm>
            <a:off x="548640" y="2660504"/>
            <a:ext cx="2002536" cy="510396"/>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お電話・メール等でご要望をお伺い</a:t>
            </a:r>
            <a:r>
              <a:rPr lang="ja-JP" altLang="en-US" sz="1050" dirty="0">
                <a:solidFill>
                  <a:schemeClr val="tx1"/>
                </a:solidFill>
                <a:latin typeface="游ゴシック" panose="020B0400000000000000" pitchFamily="50" charset="-128"/>
                <a:ea typeface="游ゴシック" panose="020B0400000000000000" pitchFamily="50" charset="-128"/>
              </a:rPr>
              <a:t>。</a:t>
            </a:r>
            <a:r>
              <a:rPr sz="1050" b="0" dirty="0" err="1">
                <a:solidFill>
                  <a:schemeClr val="tx1"/>
                </a:solidFill>
                <a:latin typeface="游ゴシック" panose="020B0400000000000000" pitchFamily="50" charset="-128"/>
                <a:ea typeface="游ゴシック" panose="020B0400000000000000" pitchFamily="50" charset="-128"/>
              </a:rPr>
              <a:t>IP・商材・数量・納期など</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企画段階から</a:t>
            </a:r>
            <a:r>
              <a:rPr lang="ja-JP" altLang="en-US" sz="1050" b="0" dirty="0">
                <a:solidFill>
                  <a:schemeClr val="tx1"/>
                </a:solidFill>
                <a:latin typeface="游ゴシック" panose="020B0400000000000000" pitchFamily="50" charset="-128"/>
                <a:ea typeface="游ゴシック" panose="020B0400000000000000" pitchFamily="50" charset="-128"/>
              </a:rPr>
              <a:t>相談可能</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18" name="Right Arrow 30">
            <a:extLst>
              <a:ext uri="{FF2B5EF4-FFF2-40B4-BE49-F238E27FC236}">
                <a16:creationId xmlns:a16="http://schemas.microsoft.com/office/drawing/2014/main" id="{4F748DB4-9733-BEDB-E59C-3A7F6D7B4B7D}"/>
              </a:ext>
            </a:extLst>
          </p:cNvPr>
          <p:cNvSpPr/>
          <p:nvPr/>
        </p:nvSpPr>
        <p:spPr>
          <a:xfrm>
            <a:off x="2734056"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0" name="Rectangle 31">
            <a:extLst>
              <a:ext uri="{FF2B5EF4-FFF2-40B4-BE49-F238E27FC236}">
                <a16:creationId xmlns:a16="http://schemas.microsoft.com/office/drawing/2014/main" id="{EB12AB76-9AF1-9167-031E-4A67C7082F49}"/>
              </a:ext>
            </a:extLst>
          </p:cNvPr>
          <p:cNvSpPr/>
          <p:nvPr/>
        </p:nvSpPr>
        <p:spPr>
          <a:xfrm>
            <a:off x="2916936"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2" name="Rectangle 32">
            <a:extLst>
              <a:ext uri="{FF2B5EF4-FFF2-40B4-BE49-F238E27FC236}">
                <a16:creationId xmlns:a16="http://schemas.microsoft.com/office/drawing/2014/main" id="{C66751C5-29C2-6CDB-B008-4E7875B3CC84}"/>
              </a:ext>
            </a:extLst>
          </p:cNvPr>
          <p:cNvSpPr/>
          <p:nvPr/>
        </p:nvSpPr>
        <p:spPr>
          <a:xfrm>
            <a:off x="2916936"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4" name="TextBox 33">
            <a:extLst>
              <a:ext uri="{FF2B5EF4-FFF2-40B4-BE49-F238E27FC236}">
                <a16:creationId xmlns:a16="http://schemas.microsoft.com/office/drawing/2014/main" id="{69A39308-FC16-1816-E38B-5EA0126226A8}"/>
              </a:ext>
            </a:extLst>
          </p:cNvPr>
          <p:cNvSpPr txBox="1"/>
          <p:nvPr/>
        </p:nvSpPr>
        <p:spPr>
          <a:xfrm>
            <a:off x="2916936"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2</a:t>
            </a:r>
          </a:p>
        </p:txBody>
      </p:sp>
      <p:sp>
        <p:nvSpPr>
          <p:cNvPr id="27" name="TextBox 34">
            <a:extLst>
              <a:ext uri="{FF2B5EF4-FFF2-40B4-BE49-F238E27FC236}">
                <a16:creationId xmlns:a16="http://schemas.microsoft.com/office/drawing/2014/main" id="{61E73E4F-91E0-18FC-1AC9-AC4C9540F303}"/>
              </a:ext>
            </a:extLst>
          </p:cNvPr>
          <p:cNvSpPr txBox="1"/>
          <p:nvPr/>
        </p:nvSpPr>
        <p:spPr>
          <a:xfrm>
            <a:off x="2916936"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ご提案</a:t>
            </a:r>
          </a:p>
        </p:txBody>
      </p:sp>
      <p:sp>
        <p:nvSpPr>
          <p:cNvPr id="29" name="TextBox 35">
            <a:extLst>
              <a:ext uri="{FF2B5EF4-FFF2-40B4-BE49-F238E27FC236}">
                <a16:creationId xmlns:a16="http://schemas.microsoft.com/office/drawing/2014/main" id="{49D638EB-6EE1-DE33-A9F8-F741ECA4CCCD}"/>
              </a:ext>
            </a:extLst>
          </p:cNvPr>
          <p:cNvSpPr txBox="1"/>
          <p:nvPr/>
        </p:nvSpPr>
        <p:spPr>
          <a:xfrm>
            <a:off x="3081528" y="266050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ご希望・ご予算・ロットに合わせ、専門スタッフが最適な商材と仕様をご提案</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31" name="Right Arrow 36">
            <a:extLst>
              <a:ext uri="{FF2B5EF4-FFF2-40B4-BE49-F238E27FC236}">
                <a16:creationId xmlns:a16="http://schemas.microsoft.com/office/drawing/2014/main" id="{ECBDDABD-691E-3C45-5CFF-EAD6331EB256}"/>
              </a:ext>
            </a:extLst>
          </p:cNvPr>
          <p:cNvSpPr/>
          <p:nvPr/>
        </p:nvSpPr>
        <p:spPr>
          <a:xfrm>
            <a:off x="5266944"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3" name="Rectangle 37">
            <a:extLst>
              <a:ext uri="{FF2B5EF4-FFF2-40B4-BE49-F238E27FC236}">
                <a16:creationId xmlns:a16="http://schemas.microsoft.com/office/drawing/2014/main" id="{E7102AC0-31FD-B894-1A61-97365D0E8CA9}"/>
              </a:ext>
            </a:extLst>
          </p:cNvPr>
          <p:cNvSpPr/>
          <p:nvPr/>
        </p:nvSpPr>
        <p:spPr>
          <a:xfrm>
            <a:off x="5449824"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Rectangle 38">
            <a:extLst>
              <a:ext uri="{FF2B5EF4-FFF2-40B4-BE49-F238E27FC236}">
                <a16:creationId xmlns:a16="http://schemas.microsoft.com/office/drawing/2014/main" id="{B6DC7EE3-9DCF-BD7D-3E23-B0C45A9807E4}"/>
              </a:ext>
            </a:extLst>
          </p:cNvPr>
          <p:cNvSpPr/>
          <p:nvPr/>
        </p:nvSpPr>
        <p:spPr>
          <a:xfrm>
            <a:off x="5449824"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7" name="TextBox 39">
            <a:extLst>
              <a:ext uri="{FF2B5EF4-FFF2-40B4-BE49-F238E27FC236}">
                <a16:creationId xmlns:a16="http://schemas.microsoft.com/office/drawing/2014/main" id="{41966268-FE79-5046-A75B-569AD4751EE3}"/>
              </a:ext>
            </a:extLst>
          </p:cNvPr>
          <p:cNvSpPr txBox="1"/>
          <p:nvPr/>
        </p:nvSpPr>
        <p:spPr>
          <a:xfrm>
            <a:off x="5449824"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3</a:t>
            </a:r>
          </a:p>
        </p:txBody>
      </p:sp>
      <p:sp>
        <p:nvSpPr>
          <p:cNvPr id="39" name="TextBox 40">
            <a:extLst>
              <a:ext uri="{FF2B5EF4-FFF2-40B4-BE49-F238E27FC236}">
                <a16:creationId xmlns:a16="http://schemas.microsoft.com/office/drawing/2014/main" id="{6A9CA782-89EB-8C9C-437D-B310C4BD02C6}"/>
              </a:ext>
            </a:extLst>
          </p:cNvPr>
          <p:cNvSpPr txBox="1"/>
          <p:nvPr/>
        </p:nvSpPr>
        <p:spPr>
          <a:xfrm>
            <a:off x="5449824"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お見積り</a:t>
            </a:r>
          </a:p>
        </p:txBody>
      </p:sp>
      <p:sp>
        <p:nvSpPr>
          <p:cNvPr id="41" name="TextBox 41">
            <a:extLst>
              <a:ext uri="{FF2B5EF4-FFF2-40B4-BE49-F238E27FC236}">
                <a16:creationId xmlns:a16="http://schemas.microsoft.com/office/drawing/2014/main" id="{85BD611D-916C-2715-E3E4-323887CC3451}"/>
              </a:ext>
            </a:extLst>
          </p:cNvPr>
          <p:cNvSpPr txBox="1"/>
          <p:nvPr/>
        </p:nvSpPr>
        <p:spPr>
          <a:xfrm>
            <a:off x="5614416" y="2660504"/>
            <a:ext cx="2002536" cy="323165"/>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ご提案内容・仕様・数量に基づき、お見積りを提出</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43" name="Right Arrow 42">
            <a:extLst>
              <a:ext uri="{FF2B5EF4-FFF2-40B4-BE49-F238E27FC236}">
                <a16:creationId xmlns:a16="http://schemas.microsoft.com/office/drawing/2014/main" id="{C82BBD7A-F17A-2DC4-05DB-62458E1E21B5}"/>
              </a:ext>
            </a:extLst>
          </p:cNvPr>
          <p:cNvSpPr/>
          <p:nvPr/>
        </p:nvSpPr>
        <p:spPr>
          <a:xfrm>
            <a:off x="7799831"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5" name="Rectangle 43">
            <a:extLst>
              <a:ext uri="{FF2B5EF4-FFF2-40B4-BE49-F238E27FC236}">
                <a16:creationId xmlns:a16="http://schemas.microsoft.com/office/drawing/2014/main" id="{475D99A3-B5D3-2C5E-893D-8552854B4576}"/>
              </a:ext>
            </a:extLst>
          </p:cNvPr>
          <p:cNvSpPr/>
          <p:nvPr/>
        </p:nvSpPr>
        <p:spPr>
          <a:xfrm>
            <a:off x="7982712"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7" name="Rectangle 44">
            <a:extLst>
              <a:ext uri="{FF2B5EF4-FFF2-40B4-BE49-F238E27FC236}">
                <a16:creationId xmlns:a16="http://schemas.microsoft.com/office/drawing/2014/main" id="{C840954F-9B4D-3365-715B-482A13D96EE6}"/>
              </a:ext>
            </a:extLst>
          </p:cNvPr>
          <p:cNvSpPr/>
          <p:nvPr/>
        </p:nvSpPr>
        <p:spPr>
          <a:xfrm>
            <a:off x="7982712"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9" name="TextBox 45">
            <a:extLst>
              <a:ext uri="{FF2B5EF4-FFF2-40B4-BE49-F238E27FC236}">
                <a16:creationId xmlns:a16="http://schemas.microsoft.com/office/drawing/2014/main" id="{6830FABE-5580-BC89-3AA6-2BBD084B923E}"/>
              </a:ext>
            </a:extLst>
          </p:cNvPr>
          <p:cNvSpPr txBox="1"/>
          <p:nvPr/>
        </p:nvSpPr>
        <p:spPr>
          <a:xfrm>
            <a:off x="7982712"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4</a:t>
            </a:r>
          </a:p>
        </p:txBody>
      </p:sp>
      <p:sp>
        <p:nvSpPr>
          <p:cNvPr id="51" name="TextBox 46">
            <a:extLst>
              <a:ext uri="{FF2B5EF4-FFF2-40B4-BE49-F238E27FC236}">
                <a16:creationId xmlns:a16="http://schemas.microsoft.com/office/drawing/2014/main" id="{96E27A6D-6132-B130-C725-9662315851C9}"/>
              </a:ext>
            </a:extLst>
          </p:cNvPr>
          <p:cNvSpPr txBox="1"/>
          <p:nvPr/>
        </p:nvSpPr>
        <p:spPr>
          <a:xfrm>
            <a:off x="7982712"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ご発注</a:t>
            </a:r>
          </a:p>
        </p:txBody>
      </p:sp>
      <p:sp>
        <p:nvSpPr>
          <p:cNvPr id="53" name="TextBox 47">
            <a:extLst>
              <a:ext uri="{FF2B5EF4-FFF2-40B4-BE49-F238E27FC236}">
                <a16:creationId xmlns:a16="http://schemas.microsoft.com/office/drawing/2014/main" id="{9CA2044A-95DF-13CB-53A5-4B598965C3D8}"/>
              </a:ext>
            </a:extLst>
          </p:cNvPr>
          <p:cNvSpPr txBox="1"/>
          <p:nvPr/>
        </p:nvSpPr>
        <p:spPr>
          <a:xfrm>
            <a:off x="8147304" y="2660504"/>
            <a:ext cx="2002536" cy="323165"/>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仕様・価格・納期をご確認のうえ、正式にご発注いただ</a:t>
            </a:r>
            <a:r>
              <a:rPr lang="ja-JP" altLang="en-US" sz="1050" b="0" dirty="0">
                <a:solidFill>
                  <a:schemeClr val="tx1"/>
                </a:solidFill>
                <a:latin typeface="游ゴシック" panose="020B0400000000000000" pitchFamily="50" charset="-128"/>
                <a:ea typeface="游ゴシック" panose="020B0400000000000000" pitchFamily="50" charset="-128"/>
              </a:rPr>
              <a:t>く</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55" name="Rectangle 48">
            <a:extLst>
              <a:ext uri="{FF2B5EF4-FFF2-40B4-BE49-F238E27FC236}">
                <a16:creationId xmlns:a16="http://schemas.microsoft.com/office/drawing/2014/main" id="{863B0141-5563-C80E-0CF9-B476F41975A8}"/>
              </a:ext>
            </a:extLst>
          </p:cNvPr>
          <p:cNvSpPr/>
          <p:nvPr/>
        </p:nvSpPr>
        <p:spPr>
          <a:xfrm>
            <a:off x="384048"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57" name="Rectangle 49">
            <a:extLst>
              <a:ext uri="{FF2B5EF4-FFF2-40B4-BE49-F238E27FC236}">
                <a16:creationId xmlns:a16="http://schemas.microsoft.com/office/drawing/2014/main" id="{B5455535-FDC0-E5F1-FC1F-2F3100392429}"/>
              </a:ext>
            </a:extLst>
          </p:cNvPr>
          <p:cNvSpPr/>
          <p:nvPr/>
        </p:nvSpPr>
        <p:spPr>
          <a:xfrm>
            <a:off x="384048"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59" name="TextBox 50">
            <a:extLst>
              <a:ext uri="{FF2B5EF4-FFF2-40B4-BE49-F238E27FC236}">
                <a16:creationId xmlns:a16="http://schemas.microsoft.com/office/drawing/2014/main" id="{8D31057B-19EE-6EE9-8CE4-DE7F1AF30F91}"/>
              </a:ext>
            </a:extLst>
          </p:cNvPr>
          <p:cNvSpPr txBox="1"/>
          <p:nvPr/>
        </p:nvSpPr>
        <p:spPr>
          <a:xfrm>
            <a:off x="384048"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5</a:t>
            </a:r>
          </a:p>
        </p:txBody>
      </p:sp>
      <p:sp>
        <p:nvSpPr>
          <p:cNvPr id="61" name="TextBox 51">
            <a:extLst>
              <a:ext uri="{FF2B5EF4-FFF2-40B4-BE49-F238E27FC236}">
                <a16:creationId xmlns:a16="http://schemas.microsoft.com/office/drawing/2014/main" id="{A3B5CBB8-3CE9-60F2-9D18-D90435772148}"/>
              </a:ext>
            </a:extLst>
          </p:cNvPr>
          <p:cNvSpPr txBox="1"/>
          <p:nvPr/>
        </p:nvSpPr>
        <p:spPr>
          <a:xfrm>
            <a:off x="384048"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デザイン確認</a:t>
            </a:r>
          </a:p>
        </p:txBody>
      </p:sp>
      <p:sp>
        <p:nvSpPr>
          <p:cNvPr id="63" name="TextBox 52">
            <a:extLst>
              <a:ext uri="{FF2B5EF4-FFF2-40B4-BE49-F238E27FC236}">
                <a16:creationId xmlns:a16="http://schemas.microsoft.com/office/drawing/2014/main" id="{FF25129B-D640-94DE-F522-2ADC682CCCD2}"/>
              </a:ext>
            </a:extLst>
          </p:cNvPr>
          <p:cNvSpPr txBox="1"/>
          <p:nvPr/>
        </p:nvSpPr>
        <p:spPr>
          <a:xfrm>
            <a:off x="548640" y="5037944"/>
            <a:ext cx="2002536" cy="510396"/>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デザインデータを作成し、お客様による校正・監修を経て</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デザインを確定</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65" name="Right Arrow 53">
            <a:extLst>
              <a:ext uri="{FF2B5EF4-FFF2-40B4-BE49-F238E27FC236}">
                <a16:creationId xmlns:a16="http://schemas.microsoft.com/office/drawing/2014/main" id="{BBAE6310-3E61-B714-38BE-148573065AD0}"/>
              </a:ext>
            </a:extLst>
          </p:cNvPr>
          <p:cNvSpPr/>
          <p:nvPr/>
        </p:nvSpPr>
        <p:spPr>
          <a:xfrm>
            <a:off x="2734056" y="506537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67" name="Rectangle 54">
            <a:extLst>
              <a:ext uri="{FF2B5EF4-FFF2-40B4-BE49-F238E27FC236}">
                <a16:creationId xmlns:a16="http://schemas.microsoft.com/office/drawing/2014/main" id="{34FA108C-8157-AC9C-FD64-3B5BD7EA1AA7}"/>
              </a:ext>
            </a:extLst>
          </p:cNvPr>
          <p:cNvSpPr/>
          <p:nvPr/>
        </p:nvSpPr>
        <p:spPr>
          <a:xfrm>
            <a:off x="2916936"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69" name="Rectangle 55">
            <a:extLst>
              <a:ext uri="{FF2B5EF4-FFF2-40B4-BE49-F238E27FC236}">
                <a16:creationId xmlns:a16="http://schemas.microsoft.com/office/drawing/2014/main" id="{64BE5658-44DD-0814-28C4-2D1D5D49BE35}"/>
              </a:ext>
            </a:extLst>
          </p:cNvPr>
          <p:cNvSpPr/>
          <p:nvPr/>
        </p:nvSpPr>
        <p:spPr>
          <a:xfrm>
            <a:off x="2916936"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71" name="TextBox 56">
            <a:extLst>
              <a:ext uri="{FF2B5EF4-FFF2-40B4-BE49-F238E27FC236}">
                <a16:creationId xmlns:a16="http://schemas.microsoft.com/office/drawing/2014/main" id="{2C1059CB-2ED9-2547-7B88-132342186D91}"/>
              </a:ext>
            </a:extLst>
          </p:cNvPr>
          <p:cNvSpPr txBox="1"/>
          <p:nvPr/>
        </p:nvSpPr>
        <p:spPr>
          <a:xfrm>
            <a:off x="2916936"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6</a:t>
            </a:r>
          </a:p>
        </p:txBody>
      </p:sp>
      <p:sp>
        <p:nvSpPr>
          <p:cNvPr id="73" name="TextBox 57">
            <a:extLst>
              <a:ext uri="{FF2B5EF4-FFF2-40B4-BE49-F238E27FC236}">
                <a16:creationId xmlns:a16="http://schemas.microsoft.com/office/drawing/2014/main" id="{BE126499-80B2-723D-17EF-730845BB7C95}"/>
              </a:ext>
            </a:extLst>
          </p:cNvPr>
          <p:cNvSpPr txBox="1"/>
          <p:nvPr/>
        </p:nvSpPr>
        <p:spPr>
          <a:xfrm>
            <a:off x="2916936"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サンプル確認</a:t>
            </a:r>
          </a:p>
        </p:txBody>
      </p:sp>
      <p:sp>
        <p:nvSpPr>
          <p:cNvPr id="75" name="TextBox 58">
            <a:extLst>
              <a:ext uri="{FF2B5EF4-FFF2-40B4-BE49-F238E27FC236}">
                <a16:creationId xmlns:a16="http://schemas.microsoft.com/office/drawing/2014/main" id="{46B6C28E-AF90-E7C7-DDD3-43498627C9EE}"/>
              </a:ext>
            </a:extLst>
          </p:cNvPr>
          <p:cNvSpPr txBox="1"/>
          <p:nvPr/>
        </p:nvSpPr>
        <p:spPr>
          <a:xfrm>
            <a:off x="3081528" y="503794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量産前にサンプルを製作し、色味・素材・仕上がりをご確認いただ</a:t>
            </a:r>
            <a:r>
              <a:rPr lang="ja-JP" altLang="en-US" sz="1050" b="0" dirty="0">
                <a:solidFill>
                  <a:schemeClr val="tx1"/>
                </a:solidFill>
                <a:latin typeface="游ゴシック" panose="020B0400000000000000" pitchFamily="50" charset="-128"/>
                <a:ea typeface="游ゴシック" panose="020B0400000000000000" pitchFamily="50" charset="-128"/>
              </a:rPr>
              <a:t>く</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77" name="Right Arrow 59">
            <a:extLst>
              <a:ext uri="{FF2B5EF4-FFF2-40B4-BE49-F238E27FC236}">
                <a16:creationId xmlns:a16="http://schemas.microsoft.com/office/drawing/2014/main" id="{2948B3A5-C6CC-4F59-9E7E-1CAB8B47FF9F}"/>
              </a:ext>
            </a:extLst>
          </p:cNvPr>
          <p:cNvSpPr/>
          <p:nvPr/>
        </p:nvSpPr>
        <p:spPr>
          <a:xfrm>
            <a:off x="5266944" y="506537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79" name="Rectangle 60">
            <a:extLst>
              <a:ext uri="{FF2B5EF4-FFF2-40B4-BE49-F238E27FC236}">
                <a16:creationId xmlns:a16="http://schemas.microsoft.com/office/drawing/2014/main" id="{EB22DA32-C5AE-9AE6-2DBA-5A7C978F6C82}"/>
              </a:ext>
            </a:extLst>
          </p:cNvPr>
          <p:cNvSpPr/>
          <p:nvPr/>
        </p:nvSpPr>
        <p:spPr>
          <a:xfrm>
            <a:off x="5449824"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81" name="Rectangle 61">
            <a:extLst>
              <a:ext uri="{FF2B5EF4-FFF2-40B4-BE49-F238E27FC236}">
                <a16:creationId xmlns:a16="http://schemas.microsoft.com/office/drawing/2014/main" id="{61F9193A-FBF1-D64B-D9FB-D4FE60658CD0}"/>
              </a:ext>
            </a:extLst>
          </p:cNvPr>
          <p:cNvSpPr/>
          <p:nvPr/>
        </p:nvSpPr>
        <p:spPr>
          <a:xfrm>
            <a:off x="5449824"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83" name="TextBox 62">
            <a:extLst>
              <a:ext uri="{FF2B5EF4-FFF2-40B4-BE49-F238E27FC236}">
                <a16:creationId xmlns:a16="http://schemas.microsoft.com/office/drawing/2014/main" id="{F8A5EE68-367C-F8F6-2A53-05551A30E6F9}"/>
              </a:ext>
            </a:extLst>
          </p:cNvPr>
          <p:cNvSpPr txBox="1"/>
          <p:nvPr/>
        </p:nvSpPr>
        <p:spPr>
          <a:xfrm>
            <a:off x="5449824"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7</a:t>
            </a:r>
          </a:p>
        </p:txBody>
      </p:sp>
      <p:sp>
        <p:nvSpPr>
          <p:cNvPr id="85" name="TextBox 63">
            <a:extLst>
              <a:ext uri="{FF2B5EF4-FFF2-40B4-BE49-F238E27FC236}">
                <a16:creationId xmlns:a16="http://schemas.microsoft.com/office/drawing/2014/main" id="{B48F6675-A5A8-4E45-BEFF-8CBD812C01A1}"/>
              </a:ext>
            </a:extLst>
          </p:cNvPr>
          <p:cNvSpPr txBox="1"/>
          <p:nvPr/>
        </p:nvSpPr>
        <p:spPr>
          <a:xfrm>
            <a:off x="5449824"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本生産・納品</a:t>
            </a:r>
          </a:p>
        </p:txBody>
      </p:sp>
      <p:sp>
        <p:nvSpPr>
          <p:cNvPr id="87" name="TextBox 64">
            <a:extLst>
              <a:ext uri="{FF2B5EF4-FFF2-40B4-BE49-F238E27FC236}">
                <a16:creationId xmlns:a16="http://schemas.microsoft.com/office/drawing/2014/main" id="{C8F49460-0F38-9976-F028-122E9A54ECCF}"/>
              </a:ext>
            </a:extLst>
          </p:cNvPr>
          <p:cNvSpPr txBox="1"/>
          <p:nvPr/>
        </p:nvSpPr>
        <p:spPr>
          <a:xfrm>
            <a:off x="5614416" y="503794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海外（中国等</a:t>
            </a:r>
            <a:r>
              <a:rPr sz="1050" b="0" dirty="0">
                <a:solidFill>
                  <a:schemeClr val="tx1"/>
                </a:solidFill>
                <a:latin typeface="游ゴシック" panose="020B0400000000000000" pitchFamily="50" charset="-128"/>
                <a:ea typeface="游ゴシック" panose="020B0400000000000000" pitchFamily="50" charset="-128"/>
              </a:rPr>
              <a:t>）・</a:t>
            </a:r>
            <a:r>
              <a:rPr sz="1050" b="0" dirty="0" err="1">
                <a:solidFill>
                  <a:schemeClr val="tx1"/>
                </a:solidFill>
                <a:latin typeface="游ゴシック" panose="020B0400000000000000" pitchFamily="50" charset="-128"/>
                <a:ea typeface="游ゴシック" panose="020B0400000000000000" pitchFamily="50" charset="-128"/>
              </a:rPr>
              <a:t>国内の製造パートナーへ委託して量産し、検品のうえ納品</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89" name="Rectangle 65">
            <a:extLst>
              <a:ext uri="{FF2B5EF4-FFF2-40B4-BE49-F238E27FC236}">
                <a16:creationId xmlns:a16="http://schemas.microsoft.com/office/drawing/2014/main" id="{1CC77E81-99A4-06DD-6B84-DAB4757C0AFB}"/>
              </a:ext>
            </a:extLst>
          </p:cNvPr>
          <p:cNvSpPr/>
          <p:nvPr/>
        </p:nvSpPr>
        <p:spPr>
          <a:xfrm>
            <a:off x="7982712" y="4196696"/>
            <a:ext cx="2331720" cy="2084831"/>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91" name="Rectangle 66">
            <a:extLst>
              <a:ext uri="{FF2B5EF4-FFF2-40B4-BE49-F238E27FC236}">
                <a16:creationId xmlns:a16="http://schemas.microsoft.com/office/drawing/2014/main" id="{A6A212D2-348F-C50B-6A98-B92EAE3E21E9}"/>
              </a:ext>
            </a:extLst>
          </p:cNvPr>
          <p:cNvSpPr/>
          <p:nvPr/>
        </p:nvSpPr>
        <p:spPr>
          <a:xfrm>
            <a:off x="7982712" y="4196696"/>
            <a:ext cx="2331720" cy="65836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93" name="TextBox 67">
            <a:extLst>
              <a:ext uri="{FF2B5EF4-FFF2-40B4-BE49-F238E27FC236}">
                <a16:creationId xmlns:a16="http://schemas.microsoft.com/office/drawing/2014/main" id="{4FAD798C-D5DA-3F87-0B77-4E522051197E}"/>
              </a:ext>
            </a:extLst>
          </p:cNvPr>
          <p:cNvSpPr txBox="1"/>
          <p:nvPr/>
        </p:nvSpPr>
        <p:spPr>
          <a:xfrm>
            <a:off x="7982712" y="4397864"/>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Point</a:t>
            </a:r>
          </a:p>
        </p:txBody>
      </p:sp>
      <p:sp>
        <p:nvSpPr>
          <p:cNvPr id="95" name="TextBox 68">
            <a:extLst>
              <a:ext uri="{FF2B5EF4-FFF2-40B4-BE49-F238E27FC236}">
                <a16:creationId xmlns:a16="http://schemas.microsoft.com/office/drawing/2014/main" id="{D4C0EC5B-64F2-D0CA-8D4F-7351567B4015}"/>
              </a:ext>
            </a:extLst>
          </p:cNvPr>
          <p:cNvSpPr txBox="1"/>
          <p:nvPr/>
        </p:nvSpPr>
        <p:spPr>
          <a:xfrm>
            <a:off x="8147304" y="5001368"/>
            <a:ext cx="2002536" cy="1033616"/>
          </a:xfrm>
          <a:prstGeom prst="rect">
            <a:avLst/>
          </a:prstGeom>
          <a:noFill/>
        </p:spPr>
        <p:txBody>
          <a:bodyPr wrap="square" lIns="0" tIns="0" rIns="0" bIns="0">
            <a:spAutoFit/>
          </a:bodyPr>
          <a:lstStyle/>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企画・デザインは自社、製造は</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外部委託のファブレス体制</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大ロットは主に中国、小ロット</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特殊加工は国内専門メーカーを</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活用し、商材・数量に応じた</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生産体制を構築して</a:t>
            </a:r>
            <a:r>
              <a:rPr lang="ja-JP" altLang="en-US" sz="1050" b="0" dirty="0">
                <a:solidFill>
                  <a:schemeClr val="tx1"/>
                </a:solidFill>
                <a:latin typeface="游ゴシック" panose="020B0400000000000000" pitchFamily="50" charset="-128"/>
                <a:ea typeface="游ゴシック" panose="020B0400000000000000" pitchFamily="50" charset="-128"/>
              </a:rPr>
              <a:t>いる</a:t>
            </a:r>
            <a:r>
              <a:rPr sz="1050" b="0" dirty="0">
                <a:solidFill>
                  <a:schemeClr val="tx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746997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92486"/>
            <a:ext cx="7768831" cy="926407"/>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大手IPホルダーとの継続取引</a:t>
            </a:r>
            <a:r>
              <a:rPr lang="ja-JP" altLang="en-US" sz="1600" b="1" dirty="0">
                <a:latin typeface="+mj-ea"/>
                <a:ea typeface="+mj-ea"/>
              </a:rPr>
              <a:t>＆直接取引</a:t>
            </a:r>
            <a:endParaRPr lang="en-US" altLang="ja-JP" sz="1600" b="1" spc="30" dirty="0">
              <a:solidFill>
                <a:schemeClr val="tx2"/>
              </a:solidFill>
              <a:latin typeface="+mj-ea"/>
              <a:ea typeface="+mj-ea"/>
            </a:endParaRPr>
          </a:p>
          <a:p>
            <a:pPr algn="l"/>
            <a:r>
              <a:rPr lang="ja-JP" altLang="en-US" sz="1200" b="1" dirty="0">
                <a:latin typeface="+mj-ea"/>
                <a:ea typeface="+mj-ea"/>
              </a:rPr>
              <a:t>講談社、アニプレックス、</a:t>
            </a:r>
            <a:r>
              <a:rPr lang="en-US" altLang="ja-JP" sz="1200" b="1" dirty="0">
                <a:latin typeface="+mj-ea"/>
                <a:ea typeface="+mj-ea"/>
              </a:rPr>
              <a:t>KADOKAWA</a:t>
            </a:r>
            <a:r>
              <a:rPr lang="ja-JP" altLang="en-US" sz="1200" b="1" dirty="0">
                <a:latin typeface="+mj-ea"/>
                <a:ea typeface="+mj-ea"/>
              </a:rPr>
              <a:t>、小学館集英社プロダクション等、アニメ・ゲーム領域における大手</a:t>
            </a:r>
            <a:r>
              <a:rPr lang="en-US" altLang="ja-JP" sz="1200" b="1" dirty="0">
                <a:latin typeface="+mj-ea"/>
                <a:ea typeface="+mj-ea"/>
              </a:rPr>
              <a:t>IP</a:t>
            </a:r>
            <a:r>
              <a:rPr lang="ja-JP" altLang="en-US" sz="1200" b="1" dirty="0">
                <a:latin typeface="+mj-ea"/>
                <a:ea typeface="+mj-ea"/>
              </a:rPr>
              <a:t>ホルダーとの直接取引基盤を有する。複数期にわたり継続的な商品化取引を行っており、版元との強固なリレーションを構築している。</a:t>
            </a:r>
            <a:endParaRPr sz="1200" b="1" dirty="0">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489356"/>
            <a:ext cx="7768831" cy="926407"/>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企画力と海外製造ネットワークの両立</a:t>
            </a:r>
            <a:endParaRPr lang="en-US" altLang="ja-JP" sz="1600" b="1" spc="30" dirty="0">
              <a:solidFill>
                <a:schemeClr val="tx2"/>
              </a:solidFill>
              <a:latin typeface="+mj-ea"/>
              <a:ea typeface="+mj-ea"/>
            </a:endParaRPr>
          </a:p>
          <a:p>
            <a:pPr algn="l"/>
            <a:r>
              <a:rPr sz="1200" b="1" dirty="0">
                <a:latin typeface="+mj-ea"/>
                <a:ea typeface="+mj-ea"/>
              </a:rPr>
              <a:t>自社で企画・デザインを行いつつ、中国等の海外メーカーと国内専門メーカーを使い分けるファブレス体制により、少数精鋭で高い生産性（従業員7名で売上422百万円）を実現。自社オリジナルくじ商品による独自の商品開発力も有する。</a:t>
            </a: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69416"/>
            <a:ext cx="7768831" cy="741742"/>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IP市場の拡大と顧客・商材の拡張余地</a:t>
            </a:r>
            <a:endParaRPr lang="en-US" altLang="ja-JP" sz="1600" b="1" spc="30" dirty="0">
              <a:solidFill>
                <a:schemeClr val="tx2"/>
              </a:solidFill>
              <a:latin typeface="+mj-ea"/>
              <a:ea typeface="+mj-ea"/>
            </a:endParaRPr>
          </a:p>
          <a:p>
            <a:pPr algn="l"/>
            <a:r>
              <a:rPr sz="1200" b="1" dirty="0">
                <a:latin typeface="+mj-ea"/>
                <a:ea typeface="+mj-ea"/>
              </a:rPr>
              <a:t>アニメ・ゲームIP市場は国内外で拡大基調。特定顧客への集中度は、裏を返せば顧客基盤の多様化・新規IP開拓による成長余地。潤沢な自己資本を成長投資へ振り向ける余力も大きい。</a:t>
            </a: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1962968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dirty="0" err="1">
                <a:latin typeface="游ゴシック"/>
                <a:ea typeface="游ゴシック"/>
              </a:rPr>
              <a:t>主要販売先別売上高</a:t>
            </a:r>
            <a:endParaRPr dirty="0">
              <a:latin typeface="游ゴシック"/>
              <a:ea typeface="游ゴシック"/>
            </a:endParaRP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dirty="0">
                <a:latin typeface="游ゴシック"/>
                <a:ea typeface="游ゴシック"/>
              </a:rPr>
              <a:t>上位顧客は大手IPホルダーが中心。2026年1月期は㈱セガが売上高の約48%を占め、上位5社で約90%（2024年1月期：約51%）。IPヒットの波及により主要取引先の構成比は期ごとに大きく変動する。</a:t>
            </a:r>
            <a:endParaRPr lang="en-US" altLang="ja-JP" dirty="0"/>
          </a:p>
        </p:txBody>
      </p:sp>
      <p:graphicFrame>
        <p:nvGraphicFramePr>
          <p:cNvPr id="14" name="Table 13"/>
          <p:cNvGraphicFramePr>
            <a:graphicFrameLocks noGrp="1"/>
          </p:cNvGraphicFramePr>
          <p:nvPr>
            <p:extLst>
              <p:ext uri="{D42A27DB-BD31-4B8C-83A1-F6EECF244321}">
                <p14:modId xmlns:p14="http://schemas.microsoft.com/office/powerpoint/2010/main" val="404691629"/>
              </p:ext>
            </p:extLst>
          </p:nvPr>
        </p:nvGraphicFramePr>
        <p:xfrm>
          <a:off x="309600" y="1627632"/>
          <a:ext cx="9640799" cy="2852928"/>
        </p:xfrm>
        <a:graphic>
          <a:graphicData uri="http://schemas.openxmlformats.org/drawingml/2006/table">
            <a:tbl>
              <a:tblPr>
                <a:tableStyleId>{5C22544A-7EE6-4342-B048-85BDC9FD1C3A}</a:tableStyleId>
              </a:tblPr>
              <a:tblGrid>
                <a:gridCol w="2160000">
                  <a:extLst>
                    <a:ext uri="{9D8B030D-6E8A-4147-A177-3AD203B41FA5}">
                      <a16:colId xmlns:a16="http://schemas.microsoft.com/office/drawing/2014/main" val="20000"/>
                    </a:ext>
                  </a:extLst>
                </a:gridCol>
                <a:gridCol w="28008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007999">
                  <a:extLst>
                    <a:ext uri="{9D8B030D-6E8A-4147-A177-3AD203B41FA5}">
                      <a16:colId xmlns:a16="http://schemas.microsoft.com/office/drawing/2014/main" val="20005"/>
                    </a:ext>
                  </a:extLst>
                </a:gridCol>
              </a:tblGrid>
              <a:tr h="219456">
                <a:tc>
                  <a:txBody>
                    <a:bodyPr/>
                    <a:lstStyle/>
                    <a:p>
                      <a:pPr algn="ctr"/>
                      <a:r>
                        <a:rPr sz="900" b="1" dirty="0" err="1">
                          <a:solidFill>
                            <a:srgbClr val="FFFFFF"/>
                          </a:solidFill>
                          <a:latin typeface="游ゴシック"/>
                          <a:ea typeface="游ゴシック"/>
                        </a:rPr>
                        <a:t>得意先</a:t>
                      </a:r>
                      <a:endParaRPr sz="900" b="1" dirty="0">
                        <a:solidFill>
                          <a:srgbClr val="FFFFFF"/>
                        </a:solidFill>
                        <a:latin typeface="游ゴシック"/>
                        <a:ea typeface="游ゴシック"/>
                      </a:endParaRPr>
                    </a:p>
                  </a:txBody>
                  <a:tcPr marL="50800" marR="50800" marT="12700" marB="12700" anchor="ctr">
                    <a:solidFill>
                      <a:srgbClr val="0B3041"/>
                    </a:solidFill>
                  </a:tcPr>
                </a:tc>
                <a:tc>
                  <a:txBody>
                    <a:bodyPr/>
                    <a:lstStyle/>
                    <a:p>
                      <a:pPr algn="ctr"/>
                      <a:r>
                        <a:rPr sz="900" b="1">
                          <a:solidFill>
                            <a:srgbClr val="FFFFFF"/>
                          </a:solidFill>
                          <a:latin typeface="游ゴシック"/>
                          <a:ea typeface="游ゴシック"/>
                        </a:rPr>
                        <a:t>取引内容</a:t>
                      </a:r>
                      <a:endParaRPr sz="900"/>
                    </a:p>
                  </a:txBody>
                  <a:tcPr marL="50800" marR="50800" marT="12700" marB="12700" anchor="ctr">
                    <a:solidFill>
                      <a:srgbClr val="0B3041"/>
                    </a:solidFill>
                  </a:tcPr>
                </a:tc>
                <a:tc>
                  <a:txBody>
                    <a:bodyPr/>
                    <a:lstStyle/>
                    <a:p>
                      <a:pPr algn="ctr"/>
                      <a:r>
                        <a:rPr lang="en-US" sz="900" b="1" dirty="0">
                          <a:solidFill>
                            <a:srgbClr val="FFFFFF"/>
                          </a:solidFill>
                          <a:latin typeface="游ゴシック"/>
                          <a:ea typeface="游ゴシック"/>
                        </a:rPr>
                        <a:t>2024</a:t>
                      </a:r>
                      <a:r>
                        <a:rPr lang="ja-JP" altLang="en-US" sz="900" b="1" dirty="0">
                          <a:solidFill>
                            <a:srgbClr val="FFFFFF"/>
                          </a:solidFill>
                          <a:latin typeface="游ゴシック"/>
                          <a:ea typeface="游ゴシック"/>
                        </a:rPr>
                        <a:t>年</a:t>
                      </a:r>
                      <a:r>
                        <a:rPr sz="900" b="1" dirty="0">
                          <a:solidFill>
                            <a:srgbClr val="FFFFFF"/>
                          </a:solidFill>
                          <a:latin typeface="游ゴシック"/>
                          <a:ea typeface="游ゴシック"/>
                        </a:rPr>
                        <a:t>1</a:t>
                      </a:r>
                      <a:r>
                        <a:rPr lang="ja-JP" altLang="en-US" sz="900" b="1" dirty="0">
                          <a:solidFill>
                            <a:srgbClr val="FFFFFF"/>
                          </a:solidFill>
                          <a:latin typeface="游ゴシック"/>
                          <a:ea typeface="游ゴシック"/>
                        </a:rPr>
                        <a:t>月</a:t>
                      </a:r>
                      <a:r>
                        <a:rPr sz="900" b="1" dirty="0">
                          <a:solidFill>
                            <a:srgbClr val="FFFFFF"/>
                          </a:solidFill>
                          <a:latin typeface="游ゴシック"/>
                          <a:ea typeface="游ゴシック"/>
                        </a:rPr>
                        <a:t>期</a:t>
                      </a:r>
                      <a:endParaRPr sz="900"/>
                    </a:p>
                  </a:txBody>
                  <a:tcPr marL="50800" marR="50800" marT="12700" marB="12700" anchor="ctr">
                    <a:solidFill>
                      <a:srgbClr val="0B3041"/>
                    </a:solidFill>
                  </a:tcPr>
                </a:tc>
                <a:tc>
                  <a:txBody>
                    <a:bodyPr/>
                    <a:lstStyle/>
                    <a:p>
                      <a:pPr algn="ctr"/>
                      <a:r>
                        <a:rPr lang="en-US" sz="900" b="1" dirty="0">
                          <a:solidFill>
                            <a:srgbClr val="FFFFFF"/>
                          </a:solidFill>
                          <a:latin typeface="游ゴシック"/>
                          <a:ea typeface="游ゴシック"/>
                        </a:rPr>
                        <a:t>2025</a:t>
                      </a:r>
                      <a:r>
                        <a:rPr lang="ja-JP" altLang="en-US" sz="900" b="1" dirty="0">
                          <a:solidFill>
                            <a:srgbClr val="FFFFFF"/>
                          </a:solidFill>
                          <a:latin typeface="游ゴシック"/>
                          <a:ea typeface="游ゴシック"/>
                        </a:rPr>
                        <a:t>年</a:t>
                      </a:r>
                      <a:r>
                        <a:rPr sz="900" b="1" dirty="0">
                          <a:solidFill>
                            <a:srgbClr val="FFFFFF"/>
                          </a:solidFill>
                          <a:latin typeface="游ゴシック"/>
                          <a:ea typeface="游ゴシック"/>
                        </a:rPr>
                        <a:t>1</a:t>
                      </a:r>
                      <a:r>
                        <a:rPr lang="ja-JP" altLang="en-US" sz="900" b="1" dirty="0">
                          <a:solidFill>
                            <a:srgbClr val="FFFFFF"/>
                          </a:solidFill>
                          <a:latin typeface="游ゴシック"/>
                          <a:ea typeface="游ゴシック"/>
                        </a:rPr>
                        <a:t>月</a:t>
                      </a:r>
                      <a:r>
                        <a:rPr sz="900" b="1" dirty="0">
                          <a:solidFill>
                            <a:srgbClr val="FFFFFF"/>
                          </a:solidFill>
                          <a:latin typeface="游ゴシック"/>
                          <a:ea typeface="游ゴシック"/>
                        </a:rPr>
                        <a:t>期</a:t>
                      </a:r>
                      <a:endParaRPr sz="900"/>
                    </a:p>
                  </a:txBody>
                  <a:tcPr marL="50800" marR="50800" marT="12700" marB="12700" anchor="ctr">
                    <a:solidFill>
                      <a:srgbClr val="0B3041"/>
                    </a:solidFill>
                  </a:tcPr>
                </a:tc>
                <a:tc>
                  <a:txBody>
                    <a:bodyPr/>
                    <a:lstStyle/>
                    <a:p>
                      <a:pPr algn="ctr"/>
                      <a:r>
                        <a:rPr lang="en-US" sz="900" b="1" dirty="0">
                          <a:solidFill>
                            <a:srgbClr val="FFFFFF"/>
                          </a:solidFill>
                          <a:latin typeface="游ゴシック"/>
                          <a:ea typeface="游ゴシック"/>
                        </a:rPr>
                        <a:t>2026</a:t>
                      </a:r>
                      <a:r>
                        <a:rPr lang="ja-JP" altLang="en-US" sz="900" b="1" dirty="0">
                          <a:solidFill>
                            <a:srgbClr val="FFFFFF"/>
                          </a:solidFill>
                          <a:latin typeface="游ゴシック"/>
                          <a:ea typeface="游ゴシック"/>
                        </a:rPr>
                        <a:t>年</a:t>
                      </a:r>
                      <a:r>
                        <a:rPr sz="900" b="1" dirty="0">
                          <a:solidFill>
                            <a:srgbClr val="FFFFFF"/>
                          </a:solidFill>
                          <a:latin typeface="游ゴシック"/>
                          <a:ea typeface="游ゴシック"/>
                        </a:rPr>
                        <a:t>1</a:t>
                      </a:r>
                      <a:r>
                        <a:rPr lang="ja-JP" altLang="en-US" sz="900" b="1" dirty="0">
                          <a:solidFill>
                            <a:srgbClr val="FFFFFF"/>
                          </a:solidFill>
                          <a:latin typeface="游ゴシック"/>
                          <a:ea typeface="游ゴシック"/>
                        </a:rPr>
                        <a:t>月</a:t>
                      </a:r>
                      <a:r>
                        <a:rPr sz="900" b="1" dirty="0">
                          <a:solidFill>
                            <a:srgbClr val="FFFFFF"/>
                          </a:solidFill>
                          <a:latin typeface="游ゴシック"/>
                          <a:ea typeface="游ゴシック"/>
                        </a:rPr>
                        <a:t>期</a:t>
                      </a:r>
                      <a:endParaRPr sz="900"/>
                    </a:p>
                  </a:txBody>
                  <a:tcPr marL="50800" marR="50800" marT="12700" marB="12700" anchor="ctr">
                    <a:solidFill>
                      <a:srgbClr val="0B3041"/>
                    </a:solidFill>
                  </a:tcPr>
                </a:tc>
                <a:tc>
                  <a:txBody>
                    <a:bodyPr/>
                    <a:lstStyle/>
                    <a:p>
                      <a:pPr algn="ctr"/>
                      <a:r>
                        <a:rPr sz="900" b="1" dirty="0" err="1">
                          <a:solidFill>
                            <a:srgbClr val="FFFFFF"/>
                          </a:solidFill>
                          <a:latin typeface="游ゴシック"/>
                          <a:ea typeface="游ゴシック"/>
                        </a:rPr>
                        <a:t>構成比</a:t>
                      </a:r>
                      <a:r>
                        <a:rPr sz="900" b="1" dirty="0">
                          <a:solidFill>
                            <a:srgbClr val="FFFFFF"/>
                          </a:solidFill>
                          <a:latin typeface="游ゴシック"/>
                          <a:ea typeface="游ゴシック"/>
                        </a:rPr>
                        <a:t>
(</a:t>
                      </a:r>
                      <a:r>
                        <a:rPr lang="en-US" sz="900" b="1" dirty="0">
                          <a:solidFill>
                            <a:srgbClr val="FFFFFF"/>
                          </a:solidFill>
                          <a:latin typeface="游ゴシック"/>
                          <a:ea typeface="游ゴシック"/>
                        </a:rPr>
                        <a:t>2026</a:t>
                      </a:r>
                      <a:r>
                        <a:rPr lang="ja-JP" altLang="en-US" sz="900" b="1" dirty="0">
                          <a:solidFill>
                            <a:srgbClr val="FFFFFF"/>
                          </a:solidFill>
                          <a:latin typeface="游ゴシック"/>
                          <a:ea typeface="游ゴシック"/>
                        </a:rPr>
                        <a:t>年</a:t>
                      </a:r>
                      <a:r>
                        <a:rPr sz="900" b="1" dirty="0">
                          <a:solidFill>
                            <a:srgbClr val="FFFFFF"/>
                          </a:solidFill>
                          <a:latin typeface="游ゴシック"/>
                          <a:ea typeface="游ゴシック"/>
                        </a:rPr>
                        <a:t>)</a:t>
                      </a:r>
                      <a:endParaRPr sz="900"/>
                    </a:p>
                  </a:txBody>
                  <a:tcPr marL="50800" marR="50800" marT="12700" marB="12700" anchor="ctr">
                    <a:solidFill>
                      <a:srgbClr val="0B3041"/>
                    </a:solidFill>
                  </a:tcPr>
                </a:tc>
                <a:extLst>
                  <a:ext uri="{0D108BD9-81ED-4DB2-BD59-A6C34878D82A}">
                    <a16:rowId xmlns:a16="http://schemas.microsoft.com/office/drawing/2014/main" val="10000"/>
                  </a:ext>
                </a:extLst>
              </a:tr>
              <a:tr h="219456">
                <a:tc>
                  <a:txBody>
                    <a:bodyPr/>
                    <a:lstStyle/>
                    <a:p>
                      <a:pPr algn="l"/>
                      <a:r>
                        <a:rPr sz="900" b="0" dirty="0">
                          <a:solidFill>
                            <a:schemeClr val="tx1"/>
                          </a:solidFill>
                          <a:latin typeface="游ゴシック"/>
                          <a:ea typeface="游ゴシック"/>
                        </a:rPr>
                        <a:t>㈱</a:t>
                      </a:r>
                      <a:r>
                        <a:rPr sz="900" b="0" dirty="0" err="1">
                          <a:solidFill>
                            <a:schemeClr val="tx1"/>
                          </a:solidFill>
                          <a:latin typeface="游ゴシック"/>
                          <a:ea typeface="游ゴシック"/>
                        </a:rPr>
                        <a:t>セガ</a:t>
                      </a:r>
                      <a:endParaRPr sz="900" b="0" dirty="0">
                        <a:solidFill>
                          <a:schemeClr val="tx1"/>
                        </a:solidFill>
                        <a:latin typeface="游ゴシック"/>
                        <a:ea typeface="游ゴシック"/>
                      </a:endParaRPr>
                    </a:p>
                  </a:txBody>
                  <a:tcPr marL="50800" marR="50800" marT="12700" marB="12700" anchor="ctr">
                    <a:solidFill>
                      <a:srgbClr val="FFFFFF"/>
                    </a:solidFill>
                  </a:tcPr>
                </a:tc>
                <a:tc>
                  <a:txBody>
                    <a:bodyPr/>
                    <a:lstStyle/>
                    <a:p>
                      <a:pPr algn="l"/>
                      <a:r>
                        <a:rPr sz="900" b="0">
                          <a:solidFill>
                            <a:schemeClr val="tx1"/>
                          </a:solidFill>
                          <a:latin typeface="游ゴシック"/>
                          <a:ea typeface="游ゴシック"/>
                        </a:rPr>
                        <a:t>キャラクターグッズ商品化(版権)</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33,802</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109,941</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202,069</a:t>
                      </a:r>
                      <a:endParaRPr sz="900"/>
                    </a:p>
                  </a:txBody>
                  <a:tcPr marL="50800" marR="50800" marT="12700" marB="12700" anchor="ctr">
                    <a:solidFill>
                      <a:srgbClr val="FFFFFF"/>
                    </a:solidFill>
                  </a:tcPr>
                </a:tc>
                <a:tc>
                  <a:txBody>
                    <a:bodyPr/>
                    <a:lstStyle/>
                    <a:p>
                      <a:pPr algn="r"/>
                      <a:r>
                        <a:rPr sz="900" b="0" dirty="0">
                          <a:solidFill>
                            <a:schemeClr val="tx1"/>
                          </a:solidFill>
                          <a:latin typeface="游ゴシック"/>
                          <a:ea typeface="游ゴシック"/>
                        </a:rPr>
                        <a:t>47.8%</a:t>
                      </a:r>
                      <a:endParaRPr sz="900"/>
                    </a:p>
                  </a:txBody>
                  <a:tcPr marL="50800" marR="50800" marT="12700" marB="12700" anchor="ctr">
                    <a:solidFill>
                      <a:srgbClr val="FFFFFF"/>
                    </a:solidFill>
                  </a:tcPr>
                </a:tc>
                <a:extLst>
                  <a:ext uri="{0D108BD9-81ED-4DB2-BD59-A6C34878D82A}">
                    <a16:rowId xmlns:a16="http://schemas.microsoft.com/office/drawing/2014/main" val="10001"/>
                  </a:ext>
                </a:extLst>
              </a:tr>
              <a:tr h="219456">
                <a:tc>
                  <a:txBody>
                    <a:bodyPr/>
                    <a:lstStyle/>
                    <a:p>
                      <a:pPr algn="l"/>
                      <a:r>
                        <a:rPr sz="900" b="0" dirty="0">
                          <a:solidFill>
                            <a:schemeClr val="tx1"/>
                          </a:solidFill>
                          <a:latin typeface="游ゴシック"/>
                          <a:ea typeface="游ゴシック"/>
                        </a:rPr>
                        <a:t>㈱KADOKAWA Game Linkage</a:t>
                      </a:r>
                      <a:endParaRPr sz="900"/>
                    </a:p>
                  </a:txBody>
                  <a:tcPr marL="50800" marR="50800" marT="12700" marB="12700" anchor="ctr">
                    <a:solidFill>
                      <a:srgbClr val="F4F7F9"/>
                    </a:solidFill>
                  </a:tcPr>
                </a:tc>
                <a:tc>
                  <a:txBody>
                    <a:bodyPr/>
                    <a:lstStyle/>
                    <a:p>
                      <a:pPr algn="l"/>
                      <a:r>
                        <a:rPr sz="900" b="0">
                          <a:solidFill>
                            <a:schemeClr val="tx1"/>
                          </a:solidFill>
                          <a:latin typeface="游ゴシック"/>
                          <a:ea typeface="游ゴシック"/>
                        </a:rPr>
                        <a:t>キャラクターグッズ商品化(版権)</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84,037</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69,227</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60,264</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14.3%</a:t>
                      </a:r>
                      <a:endParaRPr sz="900"/>
                    </a:p>
                  </a:txBody>
                  <a:tcPr marL="50800" marR="50800" marT="12700" marB="12700" anchor="ctr">
                    <a:solidFill>
                      <a:srgbClr val="F4F7F9"/>
                    </a:solidFill>
                  </a:tcPr>
                </a:tc>
                <a:extLst>
                  <a:ext uri="{0D108BD9-81ED-4DB2-BD59-A6C34878D82A}">
                    <a16:rowId xmlns:a16="http://schemas.microsoft.com/office/drawing/2014/main" val="10002"/>
                  </a:ext>
                </a:extLst>
              </a:tr>
              <a:tr h="219456">
                <a:tc>
                  <a:txBody>
                    <a:bodyPr/>
                    <a:lstStyle/>
                    <a:p>
                      <a:pPr algn="l"/>
                      <a:r>
                        <a:rPr sz="900" b="0" dirty="0">
                          <a:solidFill>
                            <a:schemeClr val="tx1"/>
                          </a:solidFill>
                          <a:latin typeface="游ゴシック"/>
                          <a:ea typeface="游ゴシック"/>
                        </a:rPr>
                        <a:t>㈱</a:t>
                      </a:r>
                      <a:r>
                        <a:rPr sz="900" b="0" dirty="0" err="1">
                          <a:solidFill>
                            <a:schemeClr val="tx1"/>
                          </a:solidFill>
                          <a:latin typeface="游ゴシック"/>
                          <a:ea typeface="游ゴシック"/>
                        </a:rPr>
                        <a:t>ムービック</a:t>
                      </a:r>
                      <a:endParaRPr sz="900" b="0" dirty="0">
                        <a:solidFill>
                          <a:schemeClr val="tx1"/>
                        </a:solidFill>
                        <a:latin typeface="游ゴシック"/>
                        <a:ea typeface="游ゴシック"/>
                      </a:endParaRPr>
                    </a:p>
                  </a:txBody>
                  <a:tcPr marL="50800" marR="50800" marT="12700" marB="12700" anchor="ctr">
                    <a:solidFill>
                      <a:srgbClr val="FFFFFF"/>
                    </a:solidFill>
                  </a:tcPr>
                </a:tc>
                <a:tc>
                  <a:txBody>
                    <a:bodyPr/>
                    <a:lstStyle/>
                    <a:p>
                      <a:pPr algn="l"/>
                      <a:r>
                        <a:rPr sz="900" b="0">
                          <a:solidFill>
                            <a:schemeClr val="tx1"/>
                          </a:solidFill>
                          <a:latin typeface="游ゴシック"/>
                          <a:ea typeface="游ゴシック"/>
                        </a:rPr>
                        <a:t>キャラクターグッズ商品化(版権)</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28,015</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36,033</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43,808</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10.4%</a:t>
                      </a:r>
                      <a:endParaRPr sz="900"/>
                    </a:p>
                  </a:txBody>
                  <a:tcPr marL="50800" marR="50800" marT="12700" marB="12700" anchor="ctr">
                    <a:solidFill>
                      <a:srgbClr val="FFFFFF"/>
                    </a:solidFill>
                  </a:tcPr>
                </a:tc>
                <a:extLst>
                  <a:ext uri="{0D108BD9-81ED-4DB2-BD59-A6C34878D82A}">
                    <a16:rowId xmlns:a16="http://schemas.microsoft.com/office/drawing/2014/main" val="10003"/>
                  </a:ext>
                </a:extLst>
              </a:tr>
              <a:tr h="219456">
                <a:tc>
                  <a:txBody>
                    <a:bodyPr/>
                    <a:lstStyle/>
                    <a:p>
                      <a:pPr algn="l"/>
                      <a:r>
                        <a:rPr sz="900" b="0" dirty="0">
                          <a:solidFill>
                            <a:schemeClr val="tx1"/>
                          </a:solidFill>
                          <a:latin typeface="游ゴシック"/>
                          <a:ea typeface="游ゴシック"/>
                        </a:rPr>
                        <a:t>㈱</a:t>
                      </a:r>
                      <a:r>
                        <a:rPr sz="900" b="0" dirty="0" err="1">
                          <a:solidFill>
                            <a:schemeClr val="tx1"/>
                          </a:solidFill>
                          <a:latin typeface="游ゴシック"/>
                          <a:ea typeface="游ゴシック"/>
                        </a:rPr>
                        <a:t>スモールプラネット</a:t>
                      </a:r>
                      <a:endParaRPr sz="900" b="0" dirty="0">
                        <a:solidFill>
                          <a:schemeClr val="tx1"/>
                        </a:solidFill>
                        <a:latin typeface="游ゴシック"/>
                        <a:ea typeface="游ゴシック"/>
                      </a:endParaRPr>
                    </a:p>
                  </a:txBody>
                  <a:tcPr marL="50800" marR="50800" marT="12700" marB="12700" anchor="ctr">
                    <a:solidFill>
                      <a:srgbClr val="F4F7F9"/>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42,546</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10.1%</a:t>
                      </a:r>
                      <a:endParaRPr sz="900"/>
                    </a:p>
                  </a:txBody>
                  <a:tcPr marL="50800" marR="50800" marT="12700" marB="12700" anchor="ctr">
                    <a:solidFill>
                      <a:srgbClr val="F4F7F9"/>
                    </a:solidFill>
                  </a:tcPr>
                </a:tc>
                <a:extLst>
                  <a:ext uri="{0D108BD9-81ED-4DB2-BD59-A6C34878D82A}">
                    <a16:rowId xmlns:a16="http://schemas.microsoft.com/office/drawing/2014/main" val="10004"/>
                  </a:ext>
                </a:extLst>
              </a:tr>
              <a:tr h="219456">
                <a:tc>
                  <a:txBody>
                    <a:bodyPr/>
                    <a:lstStyle/>
                    <a:p>
                      <a:pPr algn="l"/>
                      <a:r>
                        <a:rPr sz="900" b="0" dirty="0" err="1">
                          <a:solidFill>
                            <a:schemeClr val="tx1"/>
                          </a:solidFill>
                          <a:latin typeface="游ゴシック"/>
                          <a:ea typeface="游ゴシック"/>
                        </a:rPr>
                        <a:t>杭州迷萌文化創意</a:t>
                      </a:r>
                      <a:endParaRPr sz="900" b="0" dirty="0">
                        <a:solidFill>
                          <a:schemeClr val="tx1"/>
                        </a:solidFill>
                        <a:latin typeface="游ゴシック"/>
                        <a:ea typeface="游ゴシック"/>
                      </a:endParaRPr>
                    </a:p>
                  </a:txBody>
                  <a:tcPr marL="50800" marR="50800" marT="12700" marB="12700" anchor="ctr">
                    <a:solidFill>
                      <a:srgbClr val="FFFFFF"/>
                    </a:solidFill>
                  </a:tcPr>
                </a:tc>
                <a:tc>
                  <a:txBody>
                    <a:bodyPr/>
                    <a:lstStyle/>
                    <a:p>
                      <a:pPr algn="l"/>
                      <a:r>
                        <a:rPr sz="900" b="0" dirty="0" err="1">
                          <a:solidFill>
                            <a:schemeClr val="tx1"/>
                          </a:solidFill>
                          <a:latin typeface="游ゴシック"/>
                          <a:ea typeface="游ゴシック"/>
                        </a:rPr>
                        <a:t>海外製造委託パートナ</a:t>
                      </a:r>
                      <a:r>
                        <a:rPr sz="900" b="0" dirty="0">
                          <a:solidFill>
                            <a:schemeClr val="tx1"/>
                          </a:solidFill>
                          <a:latin typeface="游ゴシック"/>
                          <a:ea typeface="游ゴシック"/>
                        </a:rPr>
                        <a:t>ー</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15,180</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69,086</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33,677</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8.0%</a:t>
                      </a:r>
                      <a:endParaRPr sz="900"/>
                    </a:p>
                  </a:txBody>
                  <a:tcPr marL="50800" marR="50800" marT="12700" marB="12700" anchor="ctr">
                    <a:solidFill>
                      <a:srgbClr val="FFFFFF"/>
                    </a:solidFill>
                  </a:tcPr>
                </a:tc>
                <a:extLst>
                  <a:ext uri="{0D108BD9-81ED-4DB2-BD59-A6C34878D82A}">
                    <a16:rowId xmlns:a16="http://schemas.microsoft.com/office/drawing/2014/main" val="10005"/>
                  </a:ext>
                </a:extLst>
              </a:tr>
              <a:tr h="219456">
                <a:tc>
                  <a:txBody>
                    <a:bodyPr/>
                    <a:lstStyle/>
                    <a:p>
                      <a:pPr algn="l"/>
                      <a:r>
                        <a:rPr sz="900" b="0">
                          <a:solidFill>
                            <a:schemeClr val="tx1"/>
                          </a:solidFill>
                          <a:latin typeface="游ゴシック"/>
                          <a:ea typeface="游ゴシック"/>
                        </a:rPr>
                        <a:t>㈱ソル・インターナショナル</a:t>
                      </a:r>
                      <a:endParaRPr sz="900"/>
                    </a:p>
                  </a:txBody>
                  <a:tcPr marL="50800" marR="50800" marT="12700" marB="12700" anchor="ctr">
                    <a:solidFill>
                      <a:srgbClr val="F4F7F9"/>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34,096</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24,322</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19,082</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4.5%</a:t>
                      </a:r>
                      <a:endParaRPr sz="900"/>
                    </a:p>
                  </a:txBody>
                  <a:tcPr marL="50800" marR="50800" marT="12700" marB="12700" anchor="ctr">
                    <a:solidFill>
                      <a:srgbClr val="F4F7F9"/>
                    </a:solidFill>
                  </a:tcPr>
                </a:tc>
                <a:extLst>
                  <a:ext uri="{0D108BD9-81ED-4DB2-BD59-A6C34878D82A}">
                    <a16:rowId xmlns:a16="http://schemas.microsoft.com/office/drawing/2014/main" val="10006"/>
                  </a:ext>
                </a:extLst>
              </a:tr>
              <a:tr h="219456">
                <a:tc>
                  <a:txBody>
                    <a:bodyPr/>
                    <a:lstStyle/>
                    <a:p>
                      <a:pPr algn="l"/>
                      <a:r>
                        <a:rPr sz="900" b="0">
                          <a:solidFill>
                            <a:schemeClr val="tx1"/>
                          </a:solidFill>
                          <a:latin typeface="游ゴシック"/>
                          <a:ea typeface="游ゴシック"/>
                        </a:rPr>
                        <a:t>㈱ケンメディア</a:t>
                      </a:r>
                      <a:endParaRPr sz="900"/>
                    </a:p>
                  </a:txBody>
                  <a:tcPr marL="50800" marR="50800" marT="12700" marB="12700" anchor="ctr">
                    <a:solidFill>
                      <a:srgbClr val="FFFFFF"/>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54,354</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16,120</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12,359</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2.9%</a:t>
                      </a:r>
                      <a:endParaRPr sz="900"/>
                    </a:p>
                  </a:txBody>
                  <a:tcPr marL="50800" marR="50800" marT="12700" marB="12700" anchor="ctr">
                    <a:solidFill>
                      <a:srgbClr val="FFFFFF"/>
                    </a:solidFill>
                  </a:tcPr>
                </a:tc>
                <a:extLst>
                  <a:ext uri="{0D108BD9-81ED-4DB2-BD59-A6C34878D82A}">
                    <a16:rowId xmlns:a16="http://schemas.microsoft.com/office/drawing/2014/main" val="10007"/>
                  </a:ext>
                </a:extLst>
              </a:tr>
              <a:tr h="219456">
                <a:tc>
                  <a:txBody>
                    <a:bodyPr/>
                    <a:lstStyle/>
                    <a:p>
                      <a:pPr algn="l"/>
                      <a:r>
                        <a:rPr sz="900" b="0">
                          <a:solidFill>
                            <a:schemeClr val="tx1"/>
                          </a:solidFill>
                          <a:latin typeface="游ゴシック"/>
                          <a:ea typeface="游ゴシック"/>
                        </a:rPr>
                        <a:t>㈱KADOKAWA</a:t>
                      </a:r>
                      <a:endParaRPr sz="900"/>
                    </a:p>
                  </a:txBody>
                  <a:tcPr marL="50800" marR="50800" marT="12700" marB="12700" anchor="ctr">
                    <a:solidFill>
                      <a:srgbClr val="F4F7F9"/>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3,878</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2,050</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0.5%</a:t>
                      </a:r>
                      <a:endParaRPr sz="900"/>
                    </a:p>
                  </a:txBody>
                  <a:tcPr marL="50800" marR="50800" marT="12700" marB="12700" anchor="ctr">
                    <a:solidFill>
                      <a:srgbClr val="F4F7F9"/>
                    </a:solidFill>
                  </a:tcPr>
                </a:tc>
                <a:extLst>
                  <a:ext uri="{0D108BD9-81ED-4DB2-BD59-A6C34878D82A}">
                    <a16:rowId xmlns:a16="http://schemas.microsoft.com/office/drawing/2014/main" val="10008"/>
                  </a:ext>
                </a:extLst>
              </a:tr>
              <a:tr h="219456">
                <a:tc>
                  <a:txBody>
                    <a:bodyPr/>
                    <a:lstStyle/>
                    <a:p>
                      <a:pPr algn="l"/>
                      <a:r>
                        <a:rPr sz="900" b="0">
                          <a:solidFill>
                            <a:schemeClr val="tx1"/>
                          </a:solidFill>
                          <a:latin typeface="游ゴシック"/>
                          <a:ea typeface="游ゴシック"/>
                        </a:rPr>
                        <a:t>㈱PHP JAPAN</a:t>
                      </a:r>
                      <a:endParaRPr sz="900"/>
                    </a:p>
                  </a:txBody>
                  <a:tcPr marL="50800" marR="50800" marT="12700" marB="12700" anchor="ctr">
                    <a:solidFill>
                      <a:srgbClr val="FFFFFF"/>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10,179</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1,636</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0.4%</a:t>
                      </a:r>
                      <a:endParaRPr sz="900"/>
                    </a:p>
                  </a:txBody>
                  <a:tcPr marL="50800" marR="50800" marT="12700" marB="12700" anchor="ctr">
                    <a:solidFill>
                      <a:srgbClr val="FFFFFF"/>
                    </a:solidFill>
                  </a:tcPr>
                </a:tc>
                <a:extLst>
                  <a:ext uri="{0D108BD9-81ED-4DB2-BD59-A6C34878D82A}">
                    <a16:rowId xmlns:a16="http://schemas.microsoft.com/office/drawing/2014/main" val="10009"/>
                  </a:ext>
                </a:extLst>
              </a:tr>
              <a:tr h="219456">
                <a:tc>
                  <a:txBody>
                    <a:bodyPr/>
                    <a:lstStyle/>
                    <a:p>
                      <a:pPr algn="l"/>
                      <a:r>
                        <a:rPr sz="900" b="0">
                          <a:solidFill>
                            <a:schemeClr val="tx1"/>
                          </a:solidFill>
                          <a:latin typeface="游ゴシック"/>
                          <a:ea typeface="游ゴシック"/>
                        </a:rPr>
                        <a:t>花禾㈱</a:t>
                      </a:r>
                      <a:endParaRPr sz="900"/>
                    </a:p>
                  </a:txBody>
                  <a:tcPr marL="50800" marR="50800" marT="12700" marB="12700" anchor="ctr">
                    <a:solidFill>
                      <a:srgbClr val="F4F7F9"/>
                    </a:solidFill>
                  </a:tcPr>
                </a:tc>
                <a:tc>
                  <a:txBody>
                    <a:bodyPr/>
                    <a:lstStyle/>
                    <a:p>
                      <a:pPr algn="l"/>
                      <a:r>
                        <a:rPr sz="900" b="0" dirty="0" err="1">
                          <a:solidFill>
                            <a:schemeClr val="tx1"/>
                          </a:solidFill>
                          <a:latin typeface="游ゴシック"/>
                          <a:ea typeface="游ゴシック"/>
                        </a:rPr>
                        <a:t>キャラクターグッズ商品化</a:t>
                      </a:r>
                      <a:r>
                        <a:rPr sz="900" b="0" dirty="0">
                          <a:solidFill>
                            <a:schemeClr val="tx1"/>
                          </a:solidFill>
                          <a:latin typeface="游ゴシック"/>
                          <a:ea typeface="游ゴシック"/>
                        </a:rPr>
                        <a:t>(</a:t>
                      </a:r>
                      <a:r>
                        <a:rPr sz="900" b="0" dirty="0" err="1">
                          <a:solidFill>
                            <a:schemeClr val="tx1"/>
                          </a:solidFill>
                          <a:latin typeface="游ゴシック"/>
                          <a:ea typeface="游ゴシック"/>
                        </a:rPr>
                        <a:t>版権</a:t>
                      </a:r>
                      <a:r>
                        <a:rPr sz="900" b="0" dirty="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1,525</a:t>
                      </a:r>
                      <a:endParaRPr sz="900"/>
                    </a:p>
                  </a:txBody>
                  <a:tcPr marL="50800" marR="50800" marT="12700" marB="12700" anchor="ctr">
                    <a:solidFill>
                      <a:srgbClr val="F4F7F9"/>
                    </a:solidFill>
                  </a:tcPr>
                </a:tc>
                <a:tc>
                  <a:txBody>
                    <a:bodyPr/>
                    <a:lstStyle/>
                    <a:p>
                      <a:pPr algn="r"/>
                      <a:r>
                        <a:rPr sz="900" b="0">
                          <a:solidFill>
                            <a:schemeClr val="tx1"/>
                          </a:solidFill>
                          <a:latin typeface="游ゴシック"/>
                          <a:ea typeface="游ゴシック"/>
                        </a:rPr>
                        <a:t>0.4%</a:t>
                      </a:r>
                      <a:endParaRPr sz="900"/>
                    </a:p>
                  </a:txBody>
                  <a:tcPr marL="50800" marR="50800" marT="12700" marB="12700" anchor="ctr">
                    <a:solidFill>
                      <a:srgbClr val="F4F7F9"/>
                    </a:solidFill>
                  </a:tcPr>
                </a:tc>
                <a:extLst>
                  <a:ext uri="{0D108BD9-81ED-4DB2-BD59-A6C34878D82A}">
                    <a16:rowId xmlns:a16="http://schemas.microsoft.com/office/drawing/2014/main" val="10010"/>
                  </a:ext>
                </a:extLst>
              </a:tr>
              <a:tr h="219456">
                <a:tc>
                  <a:txBody>
                    <a:bodyPr/>
                    <a:lstStyle/>
                    <a:p>
                      <a:pPr algn="l"/>
                      <a:r>
                        <a:rPr sz="900" b="0">
                          <a:solidFill>
                            <a:schemeClr val="tx1"/>
                          </a:solidFill>
                          <a:latin typeface="游ゴシック"/>
                          <a:ea typeface="游ゴシック"/>
                        </a:rPr>
                        <a:t>その他(上位10社以外)</a:t>
                      </a:r>
                      <a:endParaRPr sz="900"/>
                    </a:p>
                  </a:txBody>
                  <a:tcPr marL="50800" marR="50800" marT="12700" marB="12700" anchor="ctr">
                    <a:solidFill>
                      <a:srgbClr val="FFFFFF"/>
                    </a:solidFill>
                  </a:tcPr>
                </a:tc>
                <a:tc>
                  <a:txBody>
                    <a:bodyPr/>
                    <a:lstStyle/>
                    <a:p>
                      <a:pPr algn="l"/>
                      <a:endParaRPr sz="900" dirty="0">
                        <a:solidFill>
                          <a:schemeClr val="tx1"/>
                        </a:solidFill>
                      </a:endParaRPr>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63,394</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108,960</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3,458</a:t>
                      </a:r>
                      <a:endParaRPr sz="900"/>
                    </a:p>
                  </a:txBody>
                  <a:tcPr marL="50800" marR="50800" marT="12700" marB="12700" anchor="ctr">
                    <a:solidFill>
                      <a:srgbClr val="FFFFFF"/>
                    </a:solidFill>
                  </a:tcPr>
                </a:tc>
                <a:tc>
                  <a:txBody>
                    <a:bodyPr/>
                    <a:lstStyle/>
                    <a:p>
                      <a:pPr algn="r"/>
                      <a:r>
                        <a:rPr sz="900" b="0">
                          <a:solidFill>
                            <a:schemeClr val="tx1"/>
                          </a:solidFill>
                          <a:latin typeface="游ゴシック"/>
                          <a:ea typeface="游ゴシック"/>
                        </a:rPr>
                        <a:t>0.8%</a:t>
                      </a:r>
                      <a:endParaRPr sz="900"/>
                    </a:p>
                  </a:txBody>
                  <a:tcPr marL="50800" marR="50800" marT="12700" marB="12700" anchor="ctr">
                    <a:solidFill>
                      <a:srgbClr val="FFFFFF"/>
                    </a:solidFill>
                  </a:tcPr>
                </a:tc>
                <a:extLst>
                  <a:ext uri="{0D108BD9-81ED-4DB2-BD59-A6C34878D82A}">
                    <a16:rowId xmlns:a16="http://schemas.microsoft.com/office/drawing/2014/main" val="10011"/>
                  </a:ext>
                </a:extLst>
              </a:tr>
              <a:tr h="219456">
                <a:tc>
                  <a:txBody>
                    <a:bodyPr/>
                    <a:lstStyle/>
                    <a:p>
                      <a:pPr algn="l"/>
                      <a:r>
                        <a:rPr sz="900" b="1">
                          <a:solidFill>
                            <a:schemeClr val="tx1"/>
                          </a:solidFill>
                          <a:latin typeface="游ゴシック"/>
                          <a:ea typeface="游ゴシック"/>
                        </a:rPr>
                        <a:t>合計</a:t>
                      </a:r>
                      <a:endParaRPr sz="900"/>
                    </a:p>
                  </a:txBody>
                  <a:tcPr marL="50800" marR="50800" marT="12700" marB="12700" anchor="ctr">
                    <a:solidFill>
                      <a:srgbClr val="E3E7E9"/>
                    </a:solidFill>
                  </a:tcPr>
                </a:tc>
                <a:tc>
                  <a:txBody>
                    <a:bodyPr/>
                    <a:lstStyle/>
                    <a:p>
                      <a:pPr algn="l"/>
                      <a:endParaRPr sz="900" dirty="0">
                        <a:solidFill>
                          <a:schemeClr val="tx1"/>
                        </a:solidFill>
                      </a:endParaRPr>
                    </a:p>
                  </a:txBody>
                  <a:tcPr marL="50800" marR="50800" marT="12700" marB="12700" anchor="ctr">
                    <a:solidFill>
                      <a:srgbClr val="E3E7E9"/>
                    </a:solidFill>
                  </a:tcPr>
                </a:tc>
                <a:tc>
                  <a:txBody>
                    <a:bodyPr/>
                    <a:lstStyle/>
                    <a:p>
                      <a:pPr algn="r"/>
                      <a:r>
                        <a:rPr sz="900" b="1" dirty="0">
                          <a:solidFill>
                            <a:schemeClr val="tx1"/>
                          </a:solidFill>
                          <a:latin typeface="游ゴシック"/>
                          <a:ea typeface="游ゴシック"/>
                        </a:rPr>
                        <a:t>316,755</a:t>
                      </a:r>
                      <a:endParaRPr sz="900"/>
                    </a:p>
                  </a:txBody>
                  <a:tcPr marL="50800" marR="50800" marT="12700" marB="12700" anchor="ctr">
                    <a:solidFill>
                      <a:srgbClr val="E3E7E9"/>
                    </a:solidFill>
                  </a:tcPr>
                </a:tc>
                <a:tc>
                  <a:txBody>
                    <a:bodyPr/>
                    <a:lstStyle/>
                    <a:p>
                      <a:pPr algn="r"/>
                      <a:r>
                        <a:rPr sz="900" b="1" dirty="0">
                          <a:solidFill>
                            <a:schemeClr val="tx1"/>
                          </a:solidFill>
                          <a:latin typeface="游ゴシック"/>
                          <a:ea typeface="游ゴシック"/>
                        </a:rPr>
                        <a:t>443,868</a:t>
                      </a:r>
                      <a:endParaRPr sz="900"/>
                    </a:p>
                  </a:txBody>
                  <a:tcPr marL="50800" marR="50800" marT="12700" marB="12700" anchor="ctr">
                    <a:solidFill>
                      <a:srgbClr val="E3E7E9"/>
                    </a:solidFill>
                  </a:tcPr>
                </a:tc>
                <a:tc>
                  <a:txBody>
                    <a:bodyPr/>
                    <a:lstStyle/>
                    <a:p>
                      <a:pPr algn="r"/>
                      <a:r>
                        <a:rPr sz="900" b="1" dirty="0">
                          <a:solidFill>
                            <a:schemeClr val="tx1"/>
                          </a:solidFill>
                          <a:latin typeface="游ゴシック"/>
                          <a:ea typeface="游ゴシック"/>
                        </a:rPr>
                        <a:t>422,475</a:t>
                      </a:r>
                      <a:endParaRPr sz="900"/>
                    </a:p>
                  </a:txBody>
                  <a:tcPr marL="50800" marR="50800" marT="12700" marB="12700" anchor="ctr">
                    <a:solidFill>
                      <a:srgbClr val="E3E7E9"/>
                    </a:solidFill>
                  </a:tcPr>
                </a:tc>
                <a:tc>
                  <a:txBody>
                    <a:bodyPr/>
                    <a:lstStyle/>
                    <a:p>
                      <a:pPr algn="r"/>
                      <a:r>
                        <a:rPr sz="900" b="1" dirty="0">
                          <a:solidFill>
                            <a:schemeClr val="tx1"/>
                          </a:solidFill>
                          <a:latin typeface="游ゴシック"/>
                          <a:ea typeface="游ゴシック"/>
                        </a:rPr>
                        <a:t>100.0%</a:t>
                      </a:r>
                      <a:endParaRPr sz="900"/>
                    </a:p>
                  </a:txBody>
                  <a:tcPr marL="50800" marR="50800" marT="12700" marB="12700" anchor="ctr">
                    <a:solidFill>
                      <a:srgbClr val="E3E7E9"/>
                    </a:solidFill>
                  </a:tcPr>
                </a:tc>
                <a:extLst>
                  <a:ext uri="{0D108BD9-81ED-4DB2-BD59-A6C34878D82A}">
                    <a16:rowId xmlns:a16="http://schemas.microsoft.com/office/drawing/2014/main" val="10012"/>
                  </a:ext>
                </a:extLst>
              </a:tr>
            </a:tbl>
          </a:graphicData>
        </a:graphic>
      </p:graphicFrame>
      <p:sp>
        <p:nvSpPr>
          <p:cNvPr id="15" name="Rectangle 14"/>
          <p:cNvSpPr/>
          <p:nvPr/>
        </p:nvSpPr>
        <p:spPr>
          <a:xfrm>
            <a:off x="310896" y="4626864"/>
            <a:ext cx="3090672" cy="21945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896" y="4663440"/>
            <a:ext cx="3090672" cy="182880"/>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2024年1月期　（316,755千円）</a:t>
            </a:r>
          </a:p>
        </p:txBody>
      </p:sp>
      <p:graphicFrame>
        <p:nvGraphicFramePr>
          <p:cNvPr id="17" name="Chart 16"/>
          <p:cNvGraphicFramePr>
            <a:graphicFrameLocks noGrp="1"/>
          </p:cNvGraphicFramePr>
          <p:nvPr/>
        </p:nvGraphicFramePr>
        <p:xfrm>
          <a:off x="310896" y="4882896"/>
          <a:ext cx="3090672" cy="1700784"/>
        </p:xfrm>
        <a:graphic>
          <a:graphicData uri="http://schemas.openxmlformats.org/drawingml/2006/chart">
            <c:chart xmlns:c="http://schemas.openxmlformats.org/drawingml/2006/chart" r:id="rId3"/>
          </a:graphicData>
        </a:graphic>
      </p:graphicFrame>
      <p:sp>
        <p:nvSpPr>
          <p:cNvPr id="18" name="Rectangle 17"/>
          <p:cNvSpPr/>
          <p:nvPr/>
        </p:nvSpPr>
        <p:spPr>
          <a:xfrm>
            <a:off x="3584448" y="4626864"/>
            <a:ext cx="3090672" cy="21945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84448" y="4663440"/>
            <a:ext cx="3090672" cy="182880"/>
          </a:xfrm>
          <a:prstGeom prst="rect">
            <a:avLst/>
          </a:prstGeom>
          <a:noFill/>
        </p:spPr>
        <p:txBody>
          <a:bodyPr wrap="square" lIns="0" rIns="0" tIns="0" bIns="0">
            <a:spAutoFit/>
          </a:bodyPr>
          <a:lstStyle/>
          <a:p>
            <a:pPr algn="ctr">
              <a:spcAft>
                <a:spcPts val="100"/>
              </a:spcAft>
            </a:pPr>
            <a:r>
              <a:rPr sz="950" b="1">
                <a:solidFill>
                  <a:srgbClr val="0B3041"/>
                </a:solidFill>
                <a:latin typeface="游ゴシック"/>
              </a:rPr>
              <a:t>2025年1月期　（443,868千円）</a:t>
            </a:r>
          </a:p>
        </p:txBody>
      </p:sp>
      <p:graphicFrame>
        <p:nvGraphicFramePr>
          <p:cNvPr id="20" name="Chart 19"/>
          <p:cNvGraphicFramePr>
            <a:graphicFrameLocks noGrp="1"/>
          </p:cNvGraphicFramePr>
          <p:nvPr/>
        </p:nvGraphicFramePr>
        <p:xfrm>
          <a:off x="3584448" y="4882896"/>
          <a:ext cx="3090672" cy="1700784"/>
        </p:xfrm>
        <a:graphic>
          <a:graphicData uri="http://schemas.openxmlformats.org/drawingml/2006/chart">
            <c:chart xmlns:c="http://schemas.openxmlformats.org/drawingml/2006/chart" r:id="rId4"/>
          </a:graphicData>
        </a:graphic>
      </p:graphicFrame>
      <p:sp>
        <p:nvSpPr>
          <p:cNvPr id="21" name="Rectangle 20"/>
          <p:cNvSpPr/>
          <p:nvPr/>
        </p:nvSpPr>
        <p:spPr>
          <a:xfrm>
            <a:off x="6858000" y="4626864"/>
            <a:ext cx="3090672" cy="2194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0" y="4663440"/>
            <a:ext cx="3090672" cy="182880"/>
          </a:xfrm>
          <a:prstGeom prst="rect">
            <a:avLst/>
          </a:prstGeom>
          <a:noFill/>
        </p:spPr>
        <p:txBody>
          <a:bodyPr wrap="square" lIns="0" rIns="0" tIns="0" bIns="0">
            <a:spAutoFit/>
          </a:bodyPr>
          <a:lstStyle/>
          <a:p>
            <a:pPr algn="ctr">
              <a:spcAft>
                <a:spcPts val="100"/>
              </a:spcAft>
            </a:pPr>
            <a:r>
              <a:rPr sz="950" b="1">
                <a:solidFill>
                  <a:srgbClr val="FFFFFF"/>
                </a:solidFill>
                <a:latin typeface="游ゴシック"/>
              </a:rPr>
              <a:t>2026年1月期　（422,475千円）</a:t>
            </a:r>
          </a:p>
        </p:txBody>
      </p:sp>
      <p:graphicFrame>
        <p:nvGraphicFramePr>
          <p:cNvPr id="23" name="Chart 22"/>
          <p:cNvGraphicFramePr>
            <a:graphicFrameLocks noGrp="1"/>
          </p:cNvGraphicFramePr>
          <p:nvPr/>
        </p:nvGraphicFramePr>
        <p:xfrm>
          <a:off x="6858000" y="4882896"/>
          <a:ext cx="3090672" cy="1700784"/>
        </p:xfrm>
        <a:graphic>
          <a:graphicData uri="http://schemas.openxmlformats.org/drawingml/2006/chart">
            <c:chart xmlns:c="http://schemas.openxmlformats.org/drawingml/2006/chart" r:id="rId5"/>
          </a:graphicData>
        </a:graphic>
      </p:graphicFrame>
      <p:sp>
        <p:nvSpPr>
          <p:cNvPr id="24" name="Rectangle 23"/>
          <p:cNvSpPr/>
          <p:nvPr/>
        </p:nvSpPr>
        <p:spPr>
          <a:xfrm>
            <a:off x="1826768" y="6665976"/>
            <a:ext cx="109728" cy="1097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982216" y="6638544"/>
            <a:ext cx="396240"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㈱セガ</a:t>
            </a:r>
          </a:p>
        </p:txBody>
      </p:sp>
      <p:sp>
        <p:nvSpPr>
          <p:cNvPr id="26" name="Rectangle 25"/>
          <p:cNvSpPr/>
          <p:nvPr/>
        </p:nvSpPr>
        <p:spPr>
          <a:xfrm>
            <a:off x="2533904" y="6665976"/>
            <a:ext cx="109728" cy="10972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689352" y="6638544"/>
            <a:ext cx="1473199"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㈱KADOKAWA Game Linkage</a:t>
            </a:r>
          </a:p>
        </p:txBody>
      </p:sp>
      <p:sp>
        <p:nvSpPr>
          <p:cNvPr id="28" name="Rectangle 27"/>
          <p:cNvSpPr/>
          <p:nvPr/>
        </p:nvSpPr>
        <p:spPr>
          <a:xfrm>
            <a:off x="4318000" y="6665976"/>
            <a:ext cx="109728" cy="109728"/>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73448" y="6638544"/>
            <a:ext cx="701040"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㈱ムービック</a:t>
            </a:r>
          </a:p>
        </p:txBody>
      </p:sp>
      <p:sp>
        <p:nvSpPr>
          <p:cNvPr id="30" name="Rectangle 29"/>
          <p:cNvSpPr/>
          <p:nvPr/>
        </p:nvSpPr>
        <p:spPr>
          <a:xfrm>
            <a:off x="5329936" y="6665976"/>
            <a:ext cx="109728" cy="109728"/>
          </a:xfrm>
          <a:prstGeom prst="rect">
            <a:avLst/>
          </a:prstGeom>
          <a:solidFill>
            <a:srgbClr val="5B8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5384" y="6638544"/>
            <a:ext cx="1107440"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㈱スモールプラネット</a:t>
            </a:r>
          </a:p>
        </p:txBody>
      </p:sp>
      <p:sp>
        <p:nvSpPr>
          <p:cNvPr id="32" name="Rectangle 31"/>
          <p:cNvSpPr/>
          <p:nvPr/>
        </p:nvSpPr>
        <p:spPr>
          <a:xfrm>
            <a:off x="6748272" y="6665976"/>
            <a:ext cx="109728" cy="109728"/>
          </a:xfrm>
          <a:prstGeom prst="rect">
            <a:avLst/>
          </a:prstGeom>
          <a:solidFill>
            <a:srgbClr val="7C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03720" y="6638544"/>
            <a:ext cx="904240"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杭州迷萌文化創意</a:t>
            </a:r>
          </a:p>
        </p:txBody>
      </p:sp>
      <p:sp>
        <p:nvSpPr>
          <p:cNvPr id="34" name="Rectangle 33"/>
          <p:cNvSpPr/>
          <p:nvPr/>
        </p:nvSpPr>
        <p:spPr>
          <a:xfrm>
            <a:off x="7963408" y="6665976"/>
            <a:ext cx="109728" cy="109728"/>
          </a:xfrm>
          <a:prstGeom prst="rect">
            <a:avLst/>
          </a:prstGeom>
          <a:solidFill>
            <a:srgbClr val="8E9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18856" y="6638544"/>
            <a:ext cx="396240" cy="164592"/>
          </a:xfrm>
          <a:prstGeom prst="rect">
            <a:avLst/>
          </a:prstGeom>
          <a:noFill/>
        </p:spPr>
        <p:txBody>
          <a:bodyPr wrap="none" lIns="0" rIns="0" tIns="0" bIns="0">
            <a:spAutoFit/>
          </a:bodyPr>
          <a:lstStyle/>
          <a:p>
            <a:pPr algn="l">
              <a:spcAft>
                <a:spcPts val="100"/>
              </a:spcAft>
            </a:pPr>
            <a:r>
              <a:rPr sz="800" b="0">
                <a:solidFill>
                  <a:srgbClr val="0B3041"/>
                </a:solidFill>
                <a:latin typeface="游ゴシック"/>
              </a:rPr>
              <a:t>その他</a:t>
            </a:r>
          </a:p>
        </p:txBody>
      </p:sp>
      <p:sp>
        <p:nvSpPr>
          <p:cNvPr id="36" name="TextBox 35"/>
          <p:cNvSpPr txBox="1"/>
          <p:nvPr/>
        </p:nvSpPr>
        <p:spPr>
          <a:xfrm>
            <a:off x="310896" y="6876288"/>
            <a:ext cx="9637776" cy="182880"/>
          </a:xfrm>
          <a:prstGeom prst="rect">
            <a:avLst/>
          </a:prstGeom>
          <a:noFill/>
        </p:spPr>
        <p:txBody>
          <a:bodyPr wrap="square" lIns="0" rIns="0" tIns="0" bIns="0">
            <a:spAutoFit/>
          </a:bodyPr>
          <a:lstStyle/>
          <a:p>
            <a:pPr algn="l">
              <a:spcAft>
                <a:spcPts val="100"/>
              </a:spcAft>
            </a:pPr>
            <a:r>
              <a:rPr sz="800" b="0">
                <a:solidFill>
                  <a:srgbClr val="595959"/>
                </a:solidFill>
                <a:latin typeface="游ゴシック"/>
              </a:rPr>
              <a:t>※ 円グラフは2026年1月期の上位5社を基準に固定し、各期の売上高構成比を比較したもの。「その他」には当該5社以外の全取引先を含む。金額は千円。</a:t>
            </a:r>
          </a:p>
        </p:txBody>
      </p:sp>
    </p:spTree>
    <p:extLst>
      <p:ext uri="{BB962C8B-B14F-4D97-AF65-F5344CB8AC3E}">
        <p14:creationId xmlns:p14="http://schemas.microsoft.com/office/powerpoint/2010/main" val="588634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野口代表のもと</a:t>
            </a:r>
            <a:r>
              <a:rPr dirty="0">
                <a:latin typeface="游ゴシック" panose="020B0400000000000000" pitchFamily="50" charset="-128"/>
                <a:ea typeface="游ゴシック" panose="020B0400000000000000" pitchFamily="50" charset="-128"/>
              </a:rPr>
              <a:t>、制作部5名・営業部2名の少数精鋭体制。制作部長を中核に長期勤続者が実務を支えてい</a:t>
            </a:r>
            <a:r>
              <a:rPr lang="ja-JP" altLang="en-US" dirty="0">
                <a:latin typeface="游ゴシック" panose="020B0400000000000000" pitchFamily="50" charset="-128"/>
                <a:ea typeface="游ゴシック" panose="020B0400000000000000" pitchFamily="50" charset="-128"/>
              </a:rPr>
              <a:t>る</a:t>
            </a:r>
            <a:r>
              <a:rPr dirty="0">
                <a:latin typeface="游ゴシック" panose="020B0400000000000000" pitchFamily="50" charset="-128"/>
                <a:ea typeface="游ゴシック" panose="020B0400000000000000" pitchFamily="50" charset="-128"/>
              </a:rPr>
              <a:t>。</a:t>
            </a:r>
            <a:endParaRPr 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両部門とも自社企画（</a:t>
            </a:r>
            <a:r>
              <a:rPr lang="en-US" altLang="ja-JP" dirty="0">
                <a:latin typeface="游ゴシック" panose="020B0400000000000000" pitchFamily="50" charset="-128"/>
                <a:ea typeface="游ゴシック" panose="020B0400000000000000" pitchFamily="50" charset="-128"/>
              </a:rPr>
              <a:t>MD</a:t>
            </a:r>
            <a:r>
              <a:rPr lang="ja-JP" altLang="en-US" dirty="0">
                <a:latin typeface="游ゴシック" panose="020B0400000000000000" pitchFamily="50" charset="-128"/>
                <a:ea typeface="游ゴシック" panose="020B0400000000000000" pitchFamily="50" charset="-128"/>
              </a:rPr>
              <a:t>商品）と</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受託の</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ラインで運営を行う。</a:t>
            </a:r>
            <a:endParaRPr lang="en-US" altLang="ja-JP" dirty="0">
              <a:latin typeface="游ゴシック" panose="020B0400000000000000" pitchFamily="50" charset="-128"/>
              <a:ea typeface="游ゴシック" panose="020B0400000000000000" pitchFamily="50" charset="-128"/>
            </a:endParaRPr>
          </a:p>
        </p:txBody>
      </p:sp>
      <p:sp>
        <p:nvSpPr>
          <p:cNvPr id="87" name="Rounded Rectangle 86"/>
          <p:cNvSpPr/>
          <p:nvPr/>
        </p:nvSpPr>
        <p:spPr>
          <a:xfrm>
            <a:off x="4446000" y="2694824"/>
            <a:ext cx="1800000" cy="503999"/>
          </a:xfrm>
          <a:prstGeom prst="roundRect">
            <a:avLst/>
          </a:prstGeom>
          <a:solidFill>
            <a:srgbClr val="006AB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1" dirty="0" err="1">
                <a:solidFill>
                  <a:srgbClr val="FFFFFF"/>
                </a:solidFill>
                <a:latin typeface="游ゴシック" panose="020B0400000000000000" pitchFamily="50" charset="-128"/>
                <a:ea typeface="游ゴシック" panose="020B0400000000000000" pitchFamily="50" charset="-128"/>
              </a:rPr>
              <a:t>代表取締役</a:t>
            </a:r>
            <a:endParaRPr sz="1200" b="1" dirty="0">
              <a:solidFill>
                <a:srgbClr val="FFFFFF"/>
              </a:solidFill>
              <a:latin typeface="游ゴシック" panose="020B0400000000000000" pitchFamily="50" charset="-128"/>
              <a:ea typeface="游ゴシック" panose="020B0400000000000000" pitchFamily="50" charset="-128"/>
            </a:endParaRPr>
          </a:p>
          <a:p>
            <a:pPr algn="ctr"/>
            <a:r>
              <a:rPr sz="1200" b="1" dirty="0" err="1">
                <a:solidFill>
                  <a:srgbClr val="FFFFFF"/>
                </a:solidFill>
                <a:latin typeface="游ゴシック" panose="020B0400000000000000" pitchFamily="50" charset="-128"/>
                <a:ea typeface="游ゴシック" panose="020B0400000000000000" pitchFamily="50" charset="-128"/>
              </a:rPr>
              <a:t>野口</a:t>
            </a:r>
            <a:r>
              <a:rPr sz="1200" b="1" dirty="0">
                <a:solidFill>
                  <a:srgbClr val="FFFFFF"/>
                </a:solidFill>
                <a:latin typeface="游ゴシック" panose="020B0400000000000000" pitchFamily="50" charset="-128"/>
                <a:ea typeface="游ゴシック" panose="020B0400000000000000" pitchFamily="50" charset="-128"/>
              </a:rPr>
              <a:t> 紘</a:t>
            </a:r>
          </a:p>
        </p:txBody>
      </p:sp>
      <p:cxnSp>
        <p:nvCxnSpPr>
          <p:cNvPr id="90" name="Connector 89"/>
          <p:cNvCxnSpPr/>
          <p:nvPr/>
        </p:nvCxnSpPr>
        <p:spPr>
          <a:xfrm>
            <a:off x="5346000" y="2154825"/>
            <a:ext cx="0" cy="53999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 name="org205">
            <a:extLst>
              <a:ext uri="{FF2B5EF4-FFF2-40B4-BE49-F238E27FC236}">
                <a16:creationId xmlns:a16="http://schemas.microsoft.com/office/drawing/2014/main" id="{D95D78A3-2908-8F7A-FB4B-5970D3761CBE}"/>
              </a:ext>
            </a:extLst>
          </p:cNvPr>
          <p:cNvCxnSpPr/>
          <p:nvPr/>
        </p:nvCxnSpPr>
        <p:spPr>
          <a:xfrm>
            <a:off x="3380125" y="3572182"/>
            <a:ext cx="4023359"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 name="org206">
            <a:extLst>
              <a:ext uri="{FF2B5EF4-FFF2-40B4-BE49-F238E27FC236}">
                <a16:creationId xmlns:a16="http://schemas.microsoft.com/office/drawing/2014/main" id="{B46255EA-48DD-7D39-CADE-28383977B8D8}"/>
              </a:ext>
            </a:extLst>
          </p:cNvPr>
          <p:cNvCxnSpPr/>
          <p:nvPr/>
        </p:nvCxnSpPr>
        <p:spPr>
          <a:xfrm>
            <a:off x="338012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 name="org207">
            <a:extLst>
              <a:ext uri="{FF2B5EF4-FFF2-40B4-BE49-F238E27FC236}">
                <a16:creationId xmlns:a16="http://schemas.microsoft.com/office/drawing/2014/main" id="{48F4A080-C498-F463-9767-A0B456EE831C}"/>
              </a:ext>
            </a:extLst>
          </p:cNvPr>
          <p:cNvCxnSpPr/>
          <p:nvPr/>
        </p:nvCxnSpPr>
        <p:spPr>
          <a:xfrm>
            <a:off x="740348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6" name="org208">
            <a:extLst>
              <a:ext uri="{FF2B5EF4-FFF2-40B4-BE49-F238E27FC236}">
                <a16:creationId xmlns:a16="http://schemas.microsoft.com/office/drawing/2014/main" id="{B0FC6158-B217-A773-BB45-9C7E481A4393}"/>
              </a:ext>
            </a:extLst>
          </p:cNvPr>
          <p:cNvSpPr/>
          <p:nvPr/>
        </p:nvSpPr>
        <p:spPr>
          <a:xfrm>
            <a:off x="2099965"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0B3041"/>
                </a:solidFill>
                <a:latin typeface="游ゴシック" panose="020B0400000000000000" pitchFamily="50" charset="-128"/>
                <a:ea typeface="游ゴシック" panose="020B0400000000000000" pitchFamily="50" charset="-128"/>
              </a:rPr>
              <a:t>営業部</a:t>
            </a:r>
            <a:endParaRPr sz="1100" b="1" dirty="0">
              <a:solidFill>
                <a:srgbClr val="0B3041"/>
              </a:solidFill>
              <a:latin typeface="游ゴシック" panose="020B0400000000000000" pitchFamily="50" charset="-128"/>
              <a:ea typeface="游ゴシック" panose="020B0400000000000000" pitchFamily="50" charset="-128"/>
            </a:endParaRPr>
          </a:p>
          <a:p>
            <a:pPr algn="ctr"/>
            <a:r>
              <a:rPr sz="1100" b="1" dirty="0">
                <a:solidFill>
                  <a:srgbClr val="0B3041"/>
                </a:solidFill>
                <a:latin typeface="游ゴシック" panose="020B0400000000000000" pitchFamily="50" charset="-128"/>
                <a:ea typeface="游ゴシック" panose="020B0400000000000000" pitchFamily="50" charset="-128"/>
              </a:rPr>
              <a:t>（</a:t>
            </a:r>
            <a:r>
              <a:rPr sz="1100" b="1" dirty="0" err="1">
                <a:solidFill>
                  <a:srgbClr val="0B3041"/>
                </a:solidFill>
                <a:latin typeface="游ゴシック" panose="020B0400000000000000" pitchFamily="50" charset="-128"/>
                <a:ea typeface="游ゴシック" panose="020B0400000000000000" pitchFamily="50" charset="-128"/>
              </a:rPr>
              <a:t>営業全般・商品企画</a:t>
            </a:r>
            <a:r>
              <a:rPr sz="1100" b="1" dirty="0">
                <a:solidFill>
                  <a:srgbClr val="0B3041"/>
                </a:solidFill>
                <a:latin typeface="游ゴシック" panose="020B0400000000000000" pitchFamily="50" charset="-128"/>
                <a:ea typeface="游ゴシック" panose="020B0400000000000000" pitchFamily="50" charset="-128"/>
              </a:rPr>
              <a:t>）</a:t>
            </a:r>
          </a:p>
        </p:txBody>
      </p:sp>
      <p:sp>
        <p:nvSpPr>
          <p:cNvPr id="7" name="org209">
            <a:extLst>
              <a:ext uri="{FF2B5EF4-FFF2-40B4-BE49-F238E27FC236}">
                <a16:creationId xmlns:a16="http://schemas.microsoft.com/office/drawing/2014/main" id="{7B1D8BEE-D1C3-531B-EE39-F7A1709A77D9}"/>
              </a:ext>
            </a:extLst>
          </p:cNvPr>
          <p:cNvSpPr/>
          <p:nvPr/>
        </p:nvSpPr>
        <p:spPr>
          <a:xfrm>
            <a:off x="6123324"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panose="020B0400000000000000" pitchFamily="50" charset="-128"/>
                <a:ea typeface="游ゴシック" panose="020B0400000000000000" pitchFamily="50" charset="-128"/>
              </a:rPr>
              <a:t>制作部</a:t>
            </a:r>
          </a:p>
          <a:p>
            <a:pPr algn="ctr"/>
            <a:r>
              <a:rPr sz="1100" b="1">
                <a:solidFill>
                  <a:srgbClr val="0B3041"/>
                </a:solidFill>
                <a:latin typeface="游ゴシック" panose="020B0400000000000000" pitchFamily="50" charset="-128"/>
                <a:ea typeface="游ゴシック" panose="020B0400000000000000" pitchFamily="50" charset="-128"/>
              </a:rPr>
              <a:t>（デザイン・生産管理）</a:t>
            </a:r>
          </a:p>
        </p:txBody>
      </p:sp>
      <p:cxnSp>
        <p:nvCxnSpPr>
          <p:cNvPr id="8" name="org210">
            <a:extLst>
              <a:ext uri="{FF2B5EF4-FFF2-40B4-BE49-F238E27FC236}">
                <a16:creationId xmlns:a16="http://schemas.microsoft.com/office/drawing/2014/main" id="{E64DC6DD-C348-7DE8-479D-2A137E6D7789}"/>
              </a:ext>
            </a:extLst>
          </p:cNvPr>
          <p:cNvCxnSpPr/>
          <p:nvPr/>
        </p:nvCxnSpPr>
        <p:spPr>
          <a:xfrm>
            <a:off x="7403485" y="4413429"/>
            <a:ext cx="0" cy="256032"/>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9" name="org211">
            <a:extLst>
              <a:ext uri="{FF2B5EF4-FFF2-40B4-BE49-F238E27FC236}">
                <a16:creationId xmlns:a16="http://schemas.microsoft.com/office/drawing/2014/main" id="{7498B1E8-C8A8-557B-2C8F-FF1B900C5A8A}"/>
              </a:ext>
            </a:extLst>
          </p:cNvPr>
          <p:cNvSpPr/>
          <p:nvPr/>
        </p:nvSpPr>
        <p:spPr>
          <a:xfrm>
            <a:off x="6534805" y="4594177"/>
            <a:ext cx="1737360" cy="38404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部長（No.1）　統括</a:t>
            </a:r>
          </a:p>
        </p:txBody>
      </p:sp>
      <p:cxnSp>
        <p:nvCxnSpPr>
          <p:cNvPr id="10" name="org212">
            <a:extLst>
              <a:ext uri="{FF2B5EF4-FFF2-40B4-BE49-F238E27FC236}">
                <a16:creationId xmlns:a16="http://schemas.microsoft.com/office/drawing/2014/main" id="{18CBA30A-C866-52BC-97B4-0BEA57A730C9}"/>
              </a:ext>
            </a:extLst>
          </p:cNvPr>
          <p:cNvCxnSpPr>
            <a:cxnSpLocks/>
            <a:stCxn id="9" idx="2"/>
          </p:cNvCxnSpPr>
          <p:nvPr/>
        </p:nvCxnSpPr>
        <p:spPr>
          <a:xfrm>
            <a:off x="7403485" y="4978225"/>
            <a:ext cx="0" cy="185013"/>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1" name="org213">
            <a:extLst>
              <a:ext uri="{FF2B5EF4-FFF2-40B4-BE49-F238E27FC236}">
                <a16:creationId xmlns:a16="http://schemas.microsoft.com/office/drawing/2014/main" id="{2636B26B-06FB-4100-09D8-BCD5CD7BA02C}"/>
              </a:ext>
            </a:extLst>
          </p:cNvPr>
          <p:cNvCxnSpPr/>
          <p:nvPr/>
        </p:nvCxnSpPr>
        <p:spPr>
          <a:xfrm>
            <a:off x="3380125" y="4413429"/>
            <a:ext cx="0" cy="74980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2" name="org214">
            <a:extLst>
              <a:ext uri="{FF2B5EF4-FFF2-40B4-BE49-F238E27FC236}">
                <a16:creationId xmlns:a16="http://schemas.microsoft.com/office/drawing/2014/main" id="{6D18DFBA-7196-EE06-9B72-38E187B9EF21}"/>
              </a:ext>
            </a:extLst>
          </p:cNvPr>
          <p:cNvCxnSpPr/>
          <p:nvPr/>
        </p:nvCxnSpPr>
        <p:spPr>
          <a:xfrm>
            <a:off x="269432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4" name="org215">
            <a:extLst>
              <a:ext uri="{FF2B5EF4-FFF2-40B4-BE49-F238E27FC236}">
                <a16:creationId xmlns:a16="http://schemas.microsoft.com/office/drawing/2014/main" id="{3BAFD523-6064-FBFC-DF38-FADC987D9019}"/>
              </a:ext>
            </a:extLst>
          </p:cNvPr>
          <p:cNvCxnSpPr/>
          <p:nvPr/>
        </p:nvCxnSpPr>
        <p:spPr>
          <a:xfrm>
            <a:off x="26943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5" name="org216">
            <a:extLst>
              <a:ext uri="{FF2B5EF4-FFF2-40B4-BE49-F238E27FC236}">
                <a16:creationId xmlns:a16="http://schemas.microsoft.com/office/drawing/2014/main" id="{D76D5D5C-0E1E-CC7A-7CAE-79FC50DB06F1}"/>
              </a:ext>
            </a:extLst>
          </p:cNvPr>
          <p:cNvCxnSpPr/>
          <p:nvPr/>
        </p:nvCxnSpPr>
        <p:spPr>
          <a:xfrm>
            <a:off x="40659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6" name="org217">
            <a:extLst>
              <a:ext uri="{FF2B5EF4-FFF2-40B4-BE49-F238E27FC236}">
                <a16:creationId xmlns:a16="http://schemas.microsoft.com/office/drawing/2014/main" id="{41A99AEE-6B79-4517-00CB-36247AB807D5}"/>
              </a:ext>
            </a:extLst>
          </p:cNvPr>
          <p:cNvCxnSpPr>
            <a:cxnSpLocks/>
          </p:cNvCxnSpPr>
          <p:nvPr/>
        </p:nvCxnSpPr>
        <p:spPr>
          <a:xfrm>
            <a:off x="671768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7" name="org218">
            <a:extLst>
              <a:ext uri="{FF2B5EF4-FFF2-40B4-BE49-F238E27FC236}">
                <a16:creationId xmlns:a16="http://schemas.microsoft.com/office/drawing/2014/main" id="{D977F424-CEFC-C936-DBBB-913EF6EA9848}"/>
              </a:ext>
            </a:extLst>
          </p:cNvPr>
          <p:cNvCxnSpPr/>
          <p:nvPr/>
        </p:nvCxnSpPr>
        <p:spPr>
          <a:xfrm>
            <a:off x="67176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8" name="org219">
            <a:extLst>
              <a:ext uri="{FF2B5EF4-FFF2-40B4-BE49-F238E27FC236}">
                <a16:creationId xmlns:a16="http://schemas.microsoft.com/office/drawing/2014/main" id="{A336839C-5C65-7135-6FD5-D8861EA3C33E}"/>
              </a:ext>
            </a:extLst>
          </p:cNvPr>
          <p:cNvCxnSpPr/>
          <p:nvPr/>
        </p:nvCxnSpPr>
        <p:spPr>
          <a:xfrm>
            <a:off x="80892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19" name="org220">
            <a:extLst>
              <a:ext uri="{FF2B5EF4-FFF2-40B4-BE49-F238E27FC236}">
                <a16:creationId xmlns:a16="http://schemas.microsoft.com/office/drawing/2014/main" id="{82ED0615-841B-580B-47B8-B22261CAE8B0}"/>
              </a:ext>
            </a:extLst>
          </p:cNvPr>
          <p:cNvSpPr/>
          <p:nvPr/>
        </p:nvSpPr>
        <p:spPr>
          <a:xfrm>
            <a:off x="20999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1" name="org222">
            <a:extLst>
              <a:ext uri="{FF2B5EF4-FFF2-40B4-BE49-F238E27FC236}">
                <a16:creationId xmlns:a16="http://schemas.microsoft.com/office/drawing/2014/main" id="{6FF2F340-CB59-724F-23E4-BAAA4AF06982}"/>
              </a:ext>
            </a:extLst>
          </p:cNvPr>
          <p:cNvSpPr/>
          <p:nvPr/>
        </p:nvSpPr>
        <p:spPr>
          <a:xfrm>
            <a:off x="34715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3" name="org224">
            <a:extLst>
              <a:ext uri="{FF2B5EF4-FFF2-40B4-BE49-F238E27FC236}">
                <a16:creationId xmlns:a16="http://schemas.microsoft.com/office/drawing/2014/main" id="{DE96D27B-5554-59C8-781D-DD0A8BCDA8B0}"/>
              </a:ext>
            </a:extLst>
          </p:cNvPr>
          <p:cNvSpPr/>
          <p:nvPr/>
        </p:nvSpPr>
        <p:spPr>
          <a:xfrm>
            <a:off x="6123324"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5" name="org226">
            <a:extLst>
              <a:ext uri="{FF2B5EF4-FFF2-40B4-BE49-F238E27FC236}">
                <a16:creationId xmlns:a16="http://schemas.microsoft.com/office/drawing/2014/main" id="{3951E91F-87E1-5043-8B5E-D9F1AFE47CFE}"/>
              </a:ext>
            </a:extLst>
          </p:cNvPr>
          <p:cNvSpPr/>
          <p:nvPr/>
        </p:nvSpPr>
        <p:spPr>
          <a:xfrm>
            <a:off x="749492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8" name="字幕 13">
            <a:extLst>
              <a:ext uri="{FF2B5EF4-FFF2-40B4-BE49-F238E27FC236}">
                <a16:creationId xmlns:a16="http://schemas.microsoft.com/office/drawing/2014/main" id="{28B70AD6-2B6E-D19A-FE7F-69DDA1D938C3}"/>
              </a:ext>
            </a:extLst>
          </p:cNvPr>
          <p:cNvSpPr txBox="1">
            <a:spLocks/>
          </p:cNvSpPr>
          <p:nvPr/>
        </p:nvSpPr>
        <p:spPr>
          <a:xfrm>
            <a:off x="399965" y="1640171"/>
            <a:ext cx="1382036" cy="2139665"/>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人員構成</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取締役：3名</a:t>
            </a:r>
          </a:p>
          <a:p>
            <a:pPr algn="l">
              <a:buClrTx/>
            </a:pPr>
            <a:r>
              <a:rPr sz="1000" b="0" dirty="0">
                <a:latin typeface="游ゴシック" panose="020B0400000000000000" pitchFamily="50" charset="-128"/>
                <a:ea typeface="游ゴシック" panose="020B0400000000000000" pitchFamily="50" charset="-128"/>
              </a:rPr>
              <a:t>　正社員：7名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合計</a:t>
            </a:r>
            <a:r>
              <a:rPr sz="1000" b="0" dirty="0">
                <a:latin typeface="游ゴシック" panose="020B0400000000000000" pitchFamily="50" charset="-128"/>
                <a:ea typeface="游ゴシック" panose="020B0400000000000000" pitchFamily="50" charset="-128"/>
              </a:rPr>
              <a:t>　：10名</a:t>
            </a:r>
          </a:p>
          <a:p>
            <a:pPr algn="l">
              <a:buClrTx/>
            </a:pPr>
            <a:r>
              <a:rPr sz="1000" b="0" dirty="0">
                <a:latin typeface="游ゴシック" panose="020B0400000000000000" pitchFamily="50" charset="-128"/>
                <a:ea typeface="游ゴシック" panose="020B0400000000000000" pitchFamily="50" charset="-128"/>
              </a:rPr>
              <a:t>　　制作部：5名</a:t>
            </a:r>
          </a:p>
          <a:p>
            <a:pPr algn="l">
              <a:buClrTx/>
            </a:pPr>
            <a:r>
              <a:rPr sz="1000" b="0" dirty="0">
                <a:latin typeface="游ゴシック" panose="020B0400000000000000" pitchFamily="50" charset="-128"/>
                <a:ea typeface="游ゴシック" panose="020B0400000000000000" pitchFamily="50" charset="-128"/>
              </a:rPr>
              <a:t>　　営業部：2名</a:t>
            </a:r>
          </a:p>
          <a:p>
            <a:pPr algn="l">
              <a:buClrTx/>
            </a:pPr>
            <a:endParaRPr sz="1000" b="0" dirty="0">
              <a:latin typeface="游ゴシック" panose="020B0400000000000000" pitchFamily="50" charset="-128"/>
              <a:ea typeface="游ゴシック" panose="020B0400000000000000" pitchFamily="50" charset="-128"/>
            </a:endParaRPr>
          </a:p>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機能別</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MD商品：5名</a:t>
            </a:r>
          </a:p>
          <a:p>
            <a:pPr algn="l">
              <a:buClrTx/>
            </a:pPr>
            <a:r>
              <a:rPr sz="1000" b="0" dirty="0">
                <a:latin typeface="游ゴシック" panose="020B0400000000000000" pitchFamily="50" charset="-128"/>
                <a:ea typeface="游ゴシック" panose="020B0400000000000000" pitchFamily="50" charset="-128"/>
              </a:rPr>
              <a:t>　</a:t>
            </a:r>
            <a:r>
              <a:rPr lang="en-US" altLang="ja-JP" sz="1000" b="0" dirty="0">
                <a:latin typeface="游ゴシック" panose="020B0400000000000000" pitchFamily="50" charset="-128"/>
                <a:ea typeface="游ゴシック" panose="020B0400000000000000" pitchFamily="50" charset="-128"/>
              </a:rPr>
              <a:t>OEM</a:t>
            </a:r>
            <a:r>
              <a:rPr sz="1000" b="0" dirty="0">
                <a:latin typeface="游ゴシック" panose="020B0400000000000000" pitchFamily="50" charset="-128"/>
                <a:ea typeface="游ゴシック" panose="020B0400000000000000" pitchFamily="50" charset="-128"/>
              </a:rPr>
              <a:t>　　：3名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兼務を含む</a:t>
            </a:r>
            <a:endParaRPr sz="1000" b="0" dirty="0">
              <a:latin typeface="游ゴシック" panose="020B0400000000000000" pitchFamily="50" charset="-128"/>
              <a:ea typeface="游ゴシック" panose="020B0400000000000000" pitchFamily="50" charset="-128"/>
            </a:endParaRPr>
          </a:p>
        </p:txBody>
      </p:sp>
      <p:cxnSp>
        <p:nvCxnSpPr>
          <p:cNvPr id="29" name="org221">
            <a:extLst>
              <a:ext uri="{FF2B5EF4-FFF2-40B4-BE49-F238E27FC236}">
                <a16:creationId xmlns:a16="http://schemas.microsoft.com/office/drawing/2014/main" id="{C0A553E4-AB1C-F0DC-2769-75B9DDA302A0}"/>
              </a:ext>
            </a:extLst>
          </p:cNvPr>
          <p:cNvCxnSpPr/>
          <p:nvPr/>
        </p:nvCxnSpPr>
        <p:spPr>
          <a:xfrm>
            <a:off x="27171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0" name="org223">
            <a:extLst>
              <a:ext uri="{FF2B5EF4-FFF2-40B4-BE49-F238E27FC236}">
                <a16:creationId xmlns:a16="http://schemas.microsoft.com/office/drawing/2014/main" id="{DEC8000E-13EF-AB42-5505-B31A7FEFED80}"/>
              </a:ext>
            </a:extLst>
          </p:cNvPr>
          <p:cNvCxnSpPr/>
          <p:nvPr/>
        </p:nvCxnSpPr>
        <p:spPr>
          <a:xfrm>
            <a:off x="40887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1" name="org225">
            <a:extLst>
              <a:ext uri="{FF2B5EF4-FFF2-40B4-BE49-F238E27FC236}">
                <a16:creationId xmlns:a16="http://schemas.microsoft.com/office/drawing/2014/main" id="{12345532-DCF1-7E46-EAE6-C156E1DF686C}"/>
              </a:ext>
            </a:extLst>
          </p:cNvPr>
          <p:cNvCxnSpPr/>
          <p:nvPr/>
        </p:nvCxnSpPr>
        <p:spPr>
          <a:xfrm>
            <a:off x="67405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2" name="org227">
            <a:extLst>
              <a:ext uri="{FF2B5EF4-FFF2-40B4-BE49-F238E27FC236}">
                <a16:creationId xmlns:a16="http://schemas.microsoft.com/office/drawing/2014/main" id="{35503653-0142-52B4-3E6A-2E7D9B8F2C8D}"/>
              </a:ext>
            </a:extLst>
          </p:cNvPr>
          <p:cNvCxnSpPr/>
          <p:nvPr/>
        </p:nvCxnSpPr>
        <p:spPr>
          <a:xfrm>
            <a:off x="81121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33" name="org228">
            <a:extLst>
              <a:ext uri="{FF2B5EF4-FFF2-40B4-BE49-F238E27FC236}">
                <a16:creationId xmlns:a16="http://schemas.microsoft.com/office/drawing/2014/main" id="{00469090-39F8-8CEE-32D2-1DEC5E451A83}"/>
              </a:ext>
            </a:extLst>
          </p:cNvPr>
          <p:cNvSpPr txBox="1">
            <a:spLocks/>
          </p:cNvSpPr>
          <p:nvPr/>
        </p:nvSpPr>
        <p:spPr>
          <a:xfrm>
            <a:off x="20999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No.6　営業部</a:t>
            </a:r>
          </a:p>
          <a:p>
            <a:pPr algn="ctr"/>
            <a:r>
              <a:rPr lang="ja-JP" sz="900" b="0">
                <a:solidFill>
                  <a:srgbClr val="0B3041"/>
                </a:solidFill>
                <a:latin typeface="游ゴシック" panose="020B0400000000000000" pitchFamily="50" charset="-128"/>
                <a:ea typeface="游ゴシック" panose="020B0400000000000000" pitchFamily="50" charset="-128"/>
              </a:rPr>
              <a:t>No.7　営業部</a:t>
            </a:r>
          </a:p>
        </p:txBody>
      </p:sp>
      <p:sp>
        <p:nvSpPr>
          <p:cNvPr id="34" name="org229">
            <a:extLst>
              <a:ext uri="{FF2B5EF4-FFF2-40B4-BE49-F238E27FC236}">
                <a16:creationId xmlns:a16="http://schemas.microsoft.com/office/drawing/2014/main" id="{3FC43F05-1B1B-A514-02EC-6E23EFD7491D}"/>
              </a:ext>
            </a:extLst>
          </p:cNvPr>
          <p:cNvSpPr txBox="1">
            <a:spLocks/>
          </p:cNvSpPr>
          <p:nvPr/>
        </p:nvSpPr>
        <p:spPr>
          <a:xfrm>
            <a:off x="34715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altLang="en-US" sz="900" b="0" dirty="0">
                <a:solidFill>
                  <a:srgbClr val="0B3041"/>
                </a:solidFill>
                <a:latin typeface="游ゴシック" panose="020B0400000000000000" pitchFamily="50" charset="-128"/>
                <a:ea typeface="游ゴシック" panose="020B0400000000000000" pitchFamily="50" charset="-128"/>
              </a:rPr>
              <a:t>野口</a:t>
            </a:r>
            <a:r>
              <a:rPr lang="ja-JP" sz="900" b="0" dirty="0">
                <a:solidFill>
                  <a:srgbClr val="0B3041"/>
                </a:solidFill>
                <a:latin typeface="游ゴシック" panose="020B0400000000000000" pitchFamily="50" charset="-128"/>
                <a:ea typeface="游ゴシック" panose="020B0400000000000000" pitchFamily="50" charset="-128"/>
              </a:rPr>
              <a:t>代表（兼務）</a:t>
            </a:r>
          </a:p>
        </p:txBody>
      </p:sp>
      <p:sp>
        <p:nvSpPr>
          <p:cNvPr id="35" name="org230">
            <a:extLst>
              <a:ext uri="{FF2B5EF4-FFF2-40B4-BE49-F238E27FC236}">
                <a16:creationId xmlns:a16="http://schemas.microsoft.com/office/drawing/2014/main" id="{80C1FB35-D1D5-DBC5-9A27-1F8349690F5A}"/>
              </a:ext>
            </a:extLst>
          </p:cNvPr>
          <p:cNvSpPr txBox="1">
            <a:spLocks/>
          </p:cNvSpPr>
          <p:nvPr/>
        </p:nvSpPr>
        <p:spPr>
          <a:xfrm>
            <a:off x="612332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No.2　課長</a:t>
            </a:r>
          </a:p>
          <a:p>
            <a:pPr algn="ctr"/>
            <a:r>
              <a:rPr lang="ja-JP" sz="900" b="0">
                <a:solidFill>
                  <a:srgbClr val="0B3041"/>
                </a:solidFill>
                <a:latin typeface="游ゴシック" panose="020B0400000000000000" pitchFamily="50" charset="-128"/>
                <a:ea typeface="游ゴシック" panose="020B0400000000000000" pitchFamily="50" charset="-128"/>
              </a:rPr>
              <a:t>No.4　一般</a:t>
            </a:r>
          </a:p>
          <a:p>
            <a:pPr algn="ctr"/>
            <a:r>
              <a:rPr lang="ja-JP" sz="900" b="0">
                <a:solidFill>
                  <a:srgbClr val="0B3041"/>
                </a:solidFill>
                <a:latin typeface="游ゴシック" panose="020B0400000000000000" pitchFamily="50" charset="-128"/>
                <a:ea typeface="游ゴシック" panose="020B0400000000000000" pitchFamily="50" charset="-128"/>
              </a:rPr>
              <a:t>No.5　一般</a:t>
            </a:r>
          </a:p>
        </p:txBody>
      </p:sp>
      <p:sp>
        <p:nvSpPr>
          <p:cNvPr id="36" name="org231">
            <a:extLst>
              <a:ext uri="{FF2B5EF4-FFF2-40B4-BE49-F238E27FC236}">
                <a16:creationId xmlns:a16="http://schemas.microsoft.com/office/drawing/2014/main" id="{F5FB32E6-D627-B779-D058-20C90BEC5024}"/>
              </a:ext>
            </a:extLst>
          </p:cNvPr>
          <p:cNvSpPr txBox="1">
            <a:spLocks/>
          </p:cNvSpPr>
          <p:nvPr/>
        </p:nvSpPr>
        <p:spPr>
          <a:xfrm>
            <a:off x="7494924"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dirty="0">
                <a:solidFill>
                  <a:srgbClr val="0B3041"/>
                </a:solidFill>
                <a:latin typeface="游ゴシック" panose="020B0400000000000000" pitchFamily="50" charset="-128"/>
                <a:ea typeface="游ゴシック" panose="020B0400000000000000" pitchFamily="50" charset="-128"/>
              </a:rPr>
              <a:t>No.1　部長（兼務）</a:t>
            </a:r>
          </a:p>
          <a:p>
            <a:pPr algn="ctr"/>
            <a:r>
              <a:rPr lang="ja-JP" sz="900" b="0" dirty="0">
                <a:solidFill>
                  <a:srgbClr val="0B3041"/>
                </a:solidFill>
                <a:latin typeface="游ゴシック" panose="020B0400000000000000" pitchFamily="50" charset="-128"/>
                <a:ea typeface="游ゴシック" panose="020B0400000000000000" pitchFamily="50" charset="-128"/>
              </a:rPr>
              <a:t>No.3　主任</a:t>
            </a:r>
          </a:p>
        </p:txBody>
      </p:sp>
      <p:sp>
        <p:nvSpPr>
          <p:cNvPr id="38" name="TextBox 231">
            <a:extLst>
              <a:ext uri="{FF2B5EF4-FFF2-40B4-BE49-F238E27FC236}">
                <a16:creationId xmlns:a16="http://schemas.microsoft.com/office/drawing/2014/main" id="{3BB57083-DB00-4A98-1194-2E6DEC9F81C5}"/>
              </a:ext>
            </a:extLst>
          </p:cNvPr>
          <p:cNvSpPr txBox="1"/>
          <p:nvPr/>
        </p:nvSpPr>
        <p:spPr>
          <a:xfrm>
            <a:off x="402336" y="6537960"/>
            <a:ext cx="9875520" cy="369332"/>
          </a:xfrm>
          <a:prstGeom prst="rect">
            <a:avLst/>
          </a:prstGeom>
          <a:noFill/>
        </p:spPr>
        <p:txBody>
          <a:bodyPr wrap="square">
            <a:spAutoFit/>
          </a:bodyPr>
          <a:lstStyle/>
          <a:p>
            <a:r>
              <a:rPr sz="900" dirty="0">
                <a:solidFill>
                  <a:srgbClr val="404040"/>
                </a:solidFill>
                <a:latin typeface="游ゴシック" panose="020B0400000000000000" pitchFamily="50" charset="-128"/>
                <a:ea typeface="游ゴシック" panose="020B0400000000000000" pitchFamily="50" charset="-128"/>
              </a:rPr>
              <a:t>※ </a:t>
            </a:r>
            <a:r>
              <a:rPr sz="900" dirty="0" err="1">
                <a:solidFill>
                  <a:srgbClr val="404040"/>
                </a:solidFill>
                <a:latin typeface="游ゴシック" panose="020B0400000000000000" pitchFamily="50" charset="-128"/>
                <a:ea typeface="游ゴシック" panose="020B0400000000000000" pitchFamily="50" charset="-128"/>
              </a:rPr>
              <a:t>図中のNo.は「従業員」ページの従業員No.と対応</a:t>
            </a:r>
            <a:r>
              <a:rPr sz="900" dirty="0">
                <a:solidFill>
                  <a:srgbClr val="404040"/>
                </a:solidFill>
                <a:latin typeface="游ゴシック" panose="020B0400000000000000" pitchFamily="50" charset="-128"/>
                <a:ea typeface="游ゴシック" panose="020B0400000000000000" pitchFamily="50" charset="-128"/>
              </a:rPr>
              <a:t>。</a:t>
            </a:r>
            <a:endParaRPr lang="en-US" sz="900" dirty="0">
              <a:solidFill>
                <a:srgbClr val="404040"/>
              </a:solidFill>
              <a:latin typeface="游ゴシック" panose="020B0400000000000000" pitchFamily="50" charset="-128"/>
              <a:ea typeface="游ゴシック" panose="020B0400000000000000" pitchFamily="50" charset="-128"/>
            </a:endParaRPr>
          </a:p>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野口</a:t>
            </a:r>
            <a:r>
              <a:rPr sz="900" dirty="0">
                <a:solidFill>
                  <a:srgbClr val="404040"/>
                </a:solidFill>
                <a:latin typeface="游ゴシック" panose="020B0400000000000000" pitchFamily="50" charset="-128"/>
                <a:ea typeface="游ゴシック" panose="020B0400000000000000" pitchFamily="50" charset="-128"/>
              </a:rPr>
              <a:t>代表は営業部のOEMラインを、制作部部長（No.1）は制作部のOEMラインを兼務で統括。</a:t>
            </a:r>
          </a:p>
        </p:txBody>
      </p:sp>
      <p:cxnSp>
        <p:nvCxnSpPr>
          <p:cNvPr id="39" name="Connector 89">
            <a:extLst>
              <a:ext uri="{FF2B5EF4-FFF2-40B4-BE49-F238E27FC236}">
                <a16:creationId xmlns:a16="http://schemas.microsoft.com/office/drawing/2014/main" id="{68471DE1-F70A-0FE4-7645-30CC54519599}"/>
              </a:ext>
            </a:extLst>
          </p:cNvPr>
          <p:cNvCxnSpPr>
            <a:cxnSpLocks/>
            <a:stCxn id="87" idx="2"/>
          </p:cNvCxnSpPr>
          <p:nvPr/>
        </p:nvCxnSpPr>
        <p:spPr>
          <a:xfrm>
            <a:off x="5346000" y="3198823"/>
            <a:ext cx="0" cy="37335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3564000" y="1872480"/>
            <a:ext cx="3564000" cy="540000"/>
          </a:xfrm>
          <a:prstGeom prst="roundRect">
            <a:avLst/>
          </a:prstGeom>
          <a:solidFill>
            <a:srgbClr val="0B304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FFFFFF"/>
                </a:solidFill>
                <a:latin typeface="游ゴシック" panose="020B0400000000000000" pitchFamily="50" charset="-128"/>
                <a:ea typeface="游ゴシック" panose="020B0400000000000000" pitchFamily="50" charset="-128"/>
              </a:rPr>
              <a:t>取締役会</a:t>
            </a:r>
            <a:endParaRPr sz="1100" b="1" dirty="0">
              <a:solidFill>
                <a:srgbClr val="FFFFFF"/>
              </a:solidFill>
              <a:latin typeface="游ゴシック" panose="020B0400000000000000" pitchFamily="50" charset="-128"/>
              <a:ea typeface="游ゴシック" panose="020B0400000000000000" pitchFamily="50" charset="-128"/>
            </a:endParaRPr>
          </a:p>
          <a:p>
            <a:pPr algn="ctr"/>
            <a:r>
              <a:rPr sz="1100" b="1" dirty="0" err="1">
                <a:solidFill>
                  <a:srgbClr val="FFFFFF"/>
                </a:solidFill>
                <a:latin typeface="游ゴシック" panose="020B0400000000000000" pitchFamily="50" charset="-128"/>
                <a:ea typeface="游ゴシック" panose="020B0400000000000000" pitchFamily="50" charset="-128"/>
              </a:rPr>
              <a:t>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紘・野口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文枝・野口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聰江</a:t>
            </a:r>
            <a:endParaRPr sz="1100" b="1" dirty="0">
              <a:solidFill>
                <a:srgbClr val="FFFFFF"/>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28612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graphicFrame>
        <p:nvGraphicFramePr>
          <p:cNvPr id="6" name="表 5">
            <a:extLst>
              <a:ext uri="{FF2B5EF4-FFF2-40B4-BE49-F238E27FC236}">
                <a16:creationId xmlns:a16="http://schemas.microsoft.com/office/drawing/2014/main" id="{27BEA7FD-F7F1-D67D-8081-914B33CC4E33}"/>
              </a:ext>
            </a:extLst>
          </p:cNvPr>
          <p:cNvGraphicFramePr>
            <a:graphicFrameLocks noGrp="1"/>
          </p:cNvGraphicFramePr>
          <p:nvPr>
            <p:extLst>
              <p:ext uri="{D42A27DB-BD31-4B8C-83A1-F6EECF244321}">
                <p14:modId xmlns:p14="http://schemas.microsoft.com/office/powerpoint/2010/main" val="1827053858"/>
              </p:ext>
            </p:extLst>
          </p:nvPr>
        </p:nvGraphicFramePr>
        <p:xfrm>
          <a:off x="309600" y="2014246"/>
          <a:ext cx="9221787" cy="1080086"/>
        </p:xfrm>
        <a:graphic>
          <a:graphicData uri="http://schemas.openxmlformats.org/drawingml/2006/table">
            <a:tbl>
              <a:tblPr/>
              <a:tblGrid>
                <a:gridCol w="310073">
                  <a:extLst>
                    <a:ext uri="{9D8B030D-6E8A-4147-A177-3AD203B41FA5}">
                      <a16:colId xmlns:a16="http://schemas.microsoft.com/office/drawing/2014/main" val="1231620155"/>
                    </a:ext>
                  </a:extLst>
                </a:gridCol>
                <a:gridCol w="1504426">
                  <a:extLst>
                    <a:ext uri="{9D8B030D-6E8A-4147-A177-3AD203B41FA5}">
                      <a16:colId xmlns:a16="http://schemas.microsoft.com/office/drawing/2014/main" val="3603085638"/>
                    </a:ext>
                  </a:extLst>
                </a:gridCol>
                <a:gridCol w="1309195">
                  <a:extLst>
                    <a:ext uri="{9D8B030D-6E8A-4147-A177-3AD203B41FA5}">
                      <a16:colId xmlns:a16="http://schemas.microsoft.com/office/drawing/2014/main" val="2964660539"/>
                    </a:ext>
                  </a:extLst>
                </a:gridCol>
                <a:gridCol w="1309195">
                  <a:extLst>
                    <a:ext uri="{9D8B030D-6E8A-4147-A177-3AD203B41FA5}">
                      <a16:colId xmlns:a16="http://schemas.microsoft.com/office/drawing/2014/main" val="3597779375"/>
                    </a:ext>
                  </a:extLst>
                </a:gridCol>
                <a:gridCol w="1309195">
                  <a:extLst>
                    <a:ext uri="{9D8B030D-6E8A-4147-A177-3AD203B41FA5}">
                      <a16:colId xmlns:a16="http://schemas.microsoft.com/office/drawing/2014/main" val="1085375889"/>
                    </a:ext>
                  </a:extLst>
                </a:gridCol>
                <a:gridCol w="1309195">
                  <a:extLst>
                    <a:ext uri="{9D8B030D-6E8A-4147-A177-3AD203B41FA5}">
                      <a16:colId xmlns:a16="http://schemas.microsoft.com/office/drawing/2014/main" val="2943413453"/>
                    </a:ext>
                  </a:extLst>
                </a:gridCol>
                <a:gridCol w="2170508">
                  <a:extLst>
                    <a:ext uri="{9D8B030D-6E8A-4147-A177-3AD203B41FA5}">
                      <a16:colId xmlns:a16="http://schemas.microsoft.com/office/drawing/2014/main" val="4223632143"/>
                    </a:ext>
                  </a:extLst>
                </a:gridCol>
              </a:tblGrid>
              <a:tr h="215328">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034888445"/>
                  </a:ext>
                </a:extLst>
              </a:tr>
              <a:tr h="330744">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5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保有株式数</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保有割合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080100781"/>
                  </a:ext>
                </a:extLst>
              </a:tr>
              <a:tr h="267007">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野口　紘</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継続勤務予定</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34731493"/>
                  </a:ext>
                </a:extLst>
              </a:tr>
              <a:tr h="267007">
                <a:tc>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2">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103358"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01818725"/>
                  </a:ext>
                </a:extLst>
              </a:tr>
            </a:tbl>
          </a:graphicData>
        </a:graphic>
      </p:graphicFrame>
      <p:graphicFrame>
        <p:nvGraphicFramePr>
          <p:cNvPr id="11" name="表 10">
            <a:extLst>
              <a:ext uri="{FF2B5EF4-FFF2-40B4-BE49-F238E27FC236}">
                <a16:creationId xmlns:a16="http://schemas.microsoft.com/office/drawing/2014/main" id="{C774F621-66A7-D4D8-70A0-75374870E714}"/>
              </a:ext>
            </a:extLst>
          </p:cNvPr>
          <p:cNvGraphicFramePr>
            <a:graphicFrameLocks noGrp="1"/>
          </p:cNvGraphicFramePr>
          <p:nvPr>
            <p:extLst>
              <p:ext uri="{D42A27DB-BD31-4B8C-83A1-F6EECF244321}">
                <p14:modId xmlns:p14="http://schemas.microsoft.com/office/powerpoint/2010/main" val="2653101436"/>
              </p:ext>
            </p:extLst>
          </p:nvPr>
        </p:nvGraphicFramePr>
        <p:xfrm>
          <a:off x="309600" y="4336376"/>
          <a:ext cx="9221786" cy="1636800"/>
        </p:xfrm>
        <a:graphic>
          <a:graphicData uri="http://schemas.openxmlformats.org/drawingml/2006/table">
            <a:tbl>
              <a:tblPr/>
              <a:tblGrid>
                <a:gridCol w="271821">
                  <a:extLst>
                    <a:ext uri="{9D8B030D-6E8A-4147-A177-3AD203B41FA5}">
                      <a16:colId xmlns:a16="http://schemas.microsoft.com/office/drawing/2014/main" val="3015707936"/>
                    </a:ext>
                  </a:extLst>
                </a:gridCol>
                <a:gridCol w="1318836">
                  <a:extLst>
                    <a:ext uri="{9D8B030D-6E8A-4147-A177-3AD203B41FA5}">
                      <a16:colId xmlns:a16="http://schemas.microsoft.com/office/drawing/2014/main" val="962166649"/>
                    </a:ext>
                  </a:extLst>
                </a:gridCol>
                <a:gridCol w="996678">
                  <a:extLst>
                    <a:ext uri="{9D8B030D-6E8A-4147-A177-3AD203B41FA5}">
                      <a16:colId xmlns:a16="http://schemas.microsoft.com/office/drawing/2014/main" val="880098159"/>
                    </a:ext>
                  </a:extLst>
                </a:gridCol>
                <a:gridCol w="996678">
                  <a:extLst>
                    <a:ext uri="{9D8B030D-6E8A-4147-A177-3AD203B41FA5}">
                      <a16:colId xmlns:a16="http://schemas.microsoft.com/office/drawing/2014/main" val="2598205532"/>
                    </a:ext>
                  </a:extLst>
                </a:gridCol>
                <a:gridCol w="1187959">
                  <a:extLst>
                    <a:ext uri="{9D8B030D-6E8A-4147-A177-3AD203B41FA5}">
                      <a16:colId xmlns:a16="http://schemas.microsoft.com/office/drawing/2014/main" val="11787128"/>
                    </a:ext>
                  </a:extLst>
                </a:gridCol>
                <a:gridCol w="2224907">
                  <a:extLst>
                    <a:ext uri="{9D8B030D-6E8A-4147-A177-3AD203B41FA5}">
                      <a16:colId xmlns:a16="http://schemas.microsoft.com/office/drawing/2014/main" val="3714463055"/>
                    </a:ext>
                  </a:extLst>
                </a:gridCol>
                <a:gridCol w="2224907">
                  <a:extLst>
                    <a:ext uri="{9D8B030D-6E8A-4147-A177-3AD203B41FA5}">
                      <a16:colId xmlns:a16="http://schemas.microsoft.com/office/drawing/2014/main" val="951557896"/>
                    </a:ext>
                  </a:extLst>
                </a:gridCol>
              </a:tblGrid>
              <a:tr h="26640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38692558"/>
                  </a:ext>
                </a:extLst>
              </a:tr>
              <a:tr h="26640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業務範囲</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622370145"/>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紘</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本人</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21,104</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経営管理、OEM事業の管掌</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5013159"/>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野口 文枝</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配偶者</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1,788</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本件譲渡後、退任予定</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5796791"/>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聰江</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母</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本件譲渡後、退任予定</a:t>
                      </a:r>
                      <a:endParaRPr lang="ja-JP"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234792508"/>
                  </a:ext>
                </a:extLst>
              </a:tr>
              <a:tr h="266400">
                <a:tc>
                  <a:txBody>
                    <a:bodyPr/>
                    <a:lstStyle/>
                    <a:p>
                      <a:pPr algn="ct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3">
                  <a:txBody>
                    <a:bodyPr/>
                    <a:lstStyle/>
                    <a:p>
                      <a:pPr algn="ct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24,692</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47948141"/>
                  </a:ext>
                </a:extLst>
              </a:tr>
            </a:tbl>
          </a:graphicData>
        </a:graphic>
      </p:graphicFrame>
    </p:spTree>
    <p:extLst>
      <p:ext uri="{BB962C8B-B14F-4D97-AF65-F5344CB8AC3E}">
        <p14:creationId xmlns:p14="http://schemas.microsoft.com/office/powerpoint/2010/main" val="1111365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dirty="0">
                <a:latin typeface="+mj-ea"/>
                <a:ea typeface="+mj-ea"/>
              </a:rPr>
              <a:t>制作部5名・営業部2名の少数精鋭体制。制作部長（勤続11年）を中心に長期勤続者が中核を担い、近年は若手の新規採用も進めて</a:t>
            </a:r>
            <a:r>
              <a:rPr lang="ja-JP" altLang="en-US" dirty="0">
                <a:latin typeface="+mj-ea"/>
                <a:ea typeface="+mj-ea"/>
              </a:rPr>
              <a:t>いる。</a:t>
            </a:r>
            <a:endParaRPr lang="en-US" altLang="ja-JP" dirty="0"/>
          </a:p>
        </p:txBody>
      </p:sp>
      <p:graphicFrame>
        <p:nvGraphicFramePr>
          <p:cNvPr id="4" name="表 3">
            <a:extLst>
              <a:ext uri="{FF2B5EF4-FFF2-40B4-BE49-F238E27FC236}">
                <a16:creationId xmlns:a16="http://schemas.microsoft.com/office/drawing/2014/main" id="{A3446C2D-F1A2-3698-3DCF-6A9316325960}"/>
              </a:ext>
            </a:extLst>
          </p:cNvPr>
          <p:cNvGraphicFramePr>
            <a:graphicFrameLocks noGrp="1"/>
          </p:cNvGraphicFramePr>
          <p:nvPr>
            <p:extLst>
              <p:ext uri="{D42A27DB-BD31-4B8C-83A1-F6EECF244321}">
                <p14:modId xmlns:p14="http://schemas.microsoft.com/office/powerpoint/2010/main" val="2638166441"/>
              </p:ext>
            </p:extLst>
          </p:nvPr>
        </p:nvGraphicFramePr>
        <p:xfrm>
          <a:off x="341313" y="1636744"/>
          <a:ext cx="10009188" cy="2582828"/>
        </p:xfrm>
        <a:graphic>
          <a:graphicData uri="http://schemas.openxmlformats.org/drawingml/2006/table">
            <a:tbl>
              <a:tblPr/>
              <a:tblGrid>
                <a:gridCol w="390391">
                  <a:extLst>
                    <a:ext uri="{9D8B030D-6E8A-4147-A177-3AD203B41FA5}">
                      <a16:colId xmlns:a16="http://schemas.microsoft.com/office/drawing/2014/main" val="1206717126"/>
                    </a:ext>
                  </a:extLst>
                </a:gridCol>
                <a:gridCol w="878379">
                  <a:extLst>
                    <a:ext uri="{9D8B030D-6E8A-4147-A177-3AD203B41FA5}">
                      <a16:colId xmlns:a16="http://schemas.microsoft.com/office/drawing/2014/main" val="4262196314"/>
                    </a:ext>
                  </a:extLst>
                </a:gridCol>
                <a:gridCol w="433768">
                  <a:extLst>
                    <a:ext uri="{9D8B030D-6E8A-4147-A177-3AD203B41FA5}">
                      <a16:colId xmlns:a16="http://schemas.microsoft.com/office/drawing/2014/main" val="1260299505"/>
                    </a:ext>
                  </a:extLst>
                </a:gridCol>
                <a:gridCol w="943445">
                  <a:extLst>
                    <a:ext uri="{9D8B030D-6E8A-4147-A177-3AD203B41FA5}">
                      <a16:colId xmlns:a16="http://schemas.microsoft.com/office/drawing/2014/main" val="2792782332"/>
                    </a:ext>
                  </a:extLst>
                </a:gridCol>
                <a:gridCol w="943445">
                  <a:extLst>
                    <a:ext uri="{9D8B030D-6E8A-4147-A177-3AD203B41FA5}">
                      <a16:colId xmlns:a16="http://schemas.microsoft.com/office/drawing/2014/main" val="995664781"/>
                    </a:ext>
                  </a:extLst>
                </a:gridCol>
                <a:gridCol w="878379">
                  <a:extLst>
                    <a:ext uri="{9D8B030D-6E8A-4147-A177-3AD203B41FA5}">
                      <a16:colId xmlns:a16="http://schemas.microsoft.com/office/drawing/2014/main" val="2662627376"/>
                    </a:ext>
                  </a:extLst>
                </a:gridCol>
                <a:gridCol w="878379">
                  <a:extLst>
                    <a:ext uri="{9D8B030D-6E8A-4147-A177-3AD203B41FA5}">
                      <a16:colId xmlns:a16="http://schemas.microsoft.com/office/drawing/2014/main" val="3473996590"/>
                    </a:ext>
                  </a:extLst>
                </a:gridCol>
                <a:gridCol w="1051887">
                  <a:extLst>
                    <a:ext uri="{9D8B030D-6E8A-4147-A177-3AD203B41FA5}">
                      <a16:colId xmlns:a16="http://schemas.microsoft.com/office/drawing/2014/main" val="2850092057"/>
                    </a:ext>
                  </a:extLst>
                </a:gridCol>
                <a:gridCol w="3611115">
                  <a:extLst>
                    <a:ext uri="{9D8B030D-6E8A-4147-A177-3AD203B41FA5}">
                      <a16:colId xmlns:a16="http://schemas.microsoft.com/office/drawing/2014/main" val="1209954162"/>
                    </a:ext>
                  </a:extLst>
                </a:gridCol>
              </a:tblGrid>
              <a:tr h="216741">
                <a:tc>
                  <a:txBody>
                    <a:bodyPr/>
                    <a:lstStyle/>
                    <a:p>
                      <a:pPr algn="ct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b">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（単位：円）</a:t>
                      </a:r>
                    </a:p>
                  </a:txBody>
                  <a:tcPr marL="0" marR="0" marT="0" marB="0" anchor="b">
                    <a:lnL>
                      <a:noFill/>
                    </a:lnL>
                    <a:lnR>
                      <a:noFill/>
                    </a:lnR>
                    <a:lnT>
                      <a:noFill/>
                    </a:lnT>
                    <a:lnB>
                      <a:noFill/>
                    </a:lnB>
                    <a:noFill/>
                  </a:tcPr>
                </a:tc>
                <a:tc>
                  <a:txBody>
                    <a:bodyPr/>
                    <a:lstStyle/>
                    <a:p>
                      <a:pPr algn="l" fontAlgn="b">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1594632206"/>
                  </a:ext>
                </a:extLst>
              </a:tr>
              <a:tr h="469605">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年齢</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（歳）</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勤続年数</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2026年5月分</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総支給</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13520319"/>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42</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12</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464,600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76309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10</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課長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413,400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599785"/>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9</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229,500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2026年5月より</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育児休暇より</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復帰。</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7880660"/>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主任</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347,800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91248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262,480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36771807"/>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25</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275,600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41030577"/>
                  </a:ext>
                </a:extLst>
              </a:tr>
              <a:tr h="270926">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315,000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2026年4月入社。</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63081120"/>
                  </a:ext>
                </a:extLst>
              </a:tr>
            </a:tbl>
          </a:graphicData>
        </a:graphic>
      </p:graphicFrame>
      <p:sp>
        <p:nvSpPr>
          <p:cNvPr id="7" name="TextBox 231">
            <a:extLst>
              <a:ext uri="{FF2B5EF4-FFF2-40B4-BE49-F238E27FC236}">
                <a16:creationId xmlns:a16="http://schemas.microsoft.com/office/drawing/2014/main" id="{820CB89E-A0BE-C26D-E5D3-6D3781A6CE45}"/>
              </a:ext>
            </a:extLst>
          </p:cNvPr>
          <p:cNvSpPr txBox="1"/>
          <p:nvPr/>
        </p:nvSpPr>
        <p:spPr>
          <a:xfrm>
            <a:off x="311150" y="4385260"/>
            <a:ext cx="9875520" cy="230832"/>
          </a:xfrm>
          <a:prstGeom prst="rect">
            <a:avLst/>
          </a:prstGeom>
          <a:noFill/>
        </p:spPr>
        <p:txBody>
          <a:bodyPr wrap="square">
            <a:spAutoFit/>
          </a:bodyPr>
          <a:lstStyle/>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氏名はイニシャル管理のため非表示。</a:t>
            </a:r>
            <a:endParaRPr sz="900" dirty="0">
              <a:solidFill>
                <a:srgbClr val="404040"/>
              </a:solidFill>
              <a:latin typeface="游ゴシック" panose="020B0400000000000000" pitchFamily="50" charset="-128"/>
              <a:ea typeface="游ゴシック" panose="020B0400000000000000" pitchFamily="50" charset="-128"/>
            </a:endParaRPr>
          </a:p>
        </p:txBody>
      </p:sp>
      <p:sp>
        <p:nvSpPr>
          <p:cNvPr id="8" name="TextBox 231">
            <a:extLst>
              <a:ext uri="{FF2B5EF4-FFF2-40B4-BE49-F238E27FC236}">
                <a16:creationId xmlns:a16="http://schemas.microsoft.com/office/drawing/2014/main" id="{4D36505B-B181-FCC7-EF84-259B65796919}"/>
              </a:ext>
            </a:extLst>
          </p:cNvPr>
          <p:cNvSpPr txBox="1"/>
          <p:nvPr/>
        </p:nvSpPr>
        <p:spPr>
          <a:xfrm>
            <a:off x="311150" y="1513633"/>
            <a:ext cx="9875520" cy="246221"/>
          </a:xfrm>
          <a:prstGeom prst="rect">
            <a:avLst/>
          </a:prstGeom>
          <a:noFill/>
        </p:spPr>
        <p:txBody>
          <a:bodyPr wrap="square">
            <a:spAutoFit/>
          </a:bodyPr>
          <a:lstStyle/>
          <a:p>
            <a:pPr marL="171450" indent="-171450">
              <a:buFont typeface="Wingdings" panose="05000000000000000000" pitchFamily="2" charset="2"/>
              <a:buChar char="Ø"/>
            </a:pPr>
            <a:r>
              <a:rPr lang="ja-JP" altLang="en-US" sz="1000" b="1" dirty="0">
                <a:solidFill>
                  <a:srgbClr val="404040"/>
                </a:solidFill>
                <a:latin typeface="游ゴシック" panose="020B0400000000000000" pitchFamily="50" charset="-128"/>
                <a:ea typeface="游ゴシック" panose="020B0400000000000000" pitchFamily="50" charset="-128"/>
              </a:rPr>
              <a:t>平均年齢：</a:t>
            </a:r>
            <a:r>
              <a:rPr lang="en-US" altLang="ja-JP" sz="1000" b="1" dirty="0">
                <a:solidFill>
                  <a:srgbClr val="404040"/>
                </a:solidFill>
                <a:latin typeface="游ゴシック" panose="020B0400000000000000" pitchFamily="50" charset="-128"/>
                <a:ea typeface="游ゴシック" panose="020B0400000000000000" pitchFamily="50" charset="-128"/>
              </a:rPr>
              <a:t>30.6</a:t>
            </a:r>
            <a:r>
              <a:rPr lang="ja-JP" altLang="en-US" sz="1000" b="1" dirty="0">
                <a:solidFill>
                  <a:srgbClr val="404040"/>
                </a:solidFill>
                <a:latin typeface="游ゴシック" panose="020B0400000000000000" pitchFamily="50" charset="-128"/>
                <a:ea typeface="游ゴシック" panose="020B0400000000000000" pitchFamily="50" charset="-128"/>
              </a:rPr>
              <a:t>歳、平均勤続年数：</a:t>
            </a:r>
            <a:r>
              <a:rPr lang="en-US" altLang="ja-JP" sz="1000" b="1" dirty="0">
                <a:solidFill>
                  <a:srgbClr val="404040"/>
                </a:solidFill>
                <a:latin typeface="游ゴシック" panose="020B0400000000000000" pitchFamily="50" charset="-128"/>
                <a:ea typeface="游ゴシック" panose="020B0400000000000000" pitchFamily="50" charset="-128"/>
              </a:rPr>
              <a:t>5.4</a:t>
            </a:r>
            <a:r>
              <a:rPr lang="ja-JP" altLang="en-US" sz="1000" b="1" dirty="0">
                <a:solidFill>
                  <a:srgbClr val="404040"/>
                </a:solidFill>
                <a:latin typeface="游ゴシック" panose="020B0400000000000000" pitchFamily="50" charset="-128"/>
                <a:ea typeface="游ゴシック" panose="020B0400000000000000" pitchFamily="50" charset="-128"/>
              </a:rPr>
              <a:t>年</a:t>
            </a:r>
            <a:endParaRPr sz="1000" b="1" dirty="0">
              <a:solidFill>
                <a:srgbClr val="40404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53025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pic>
        <p:nvPicPr>
          <p:cNvPr id="20" name="図 19">
            <a:extLst>
              <a:ext uri="{FF2B5EF4-FFF2-40B4-BE49-F238E27FC236}">
                <a16:creationId xmlns:a16="http://schemas.microsoft.com/office/drawing/2014/main" id="{593B25A5-3F1D-7AA5-EFC8-3CEB096E4ACC}"/>
              </a:ext>
            </a:extLst>
          </p:cNvPr>
          <p:cNvPicPr>
            <a:picLocks noChangeAspect="1"/>
          </p:cNvPicPr>
          <p:nvPr/>
        </p:nvPicPr>
        <p:blipFill>
          <a:blip r:embed="rId3"/>
          <a:stretch>
            <a:fillRect/>
          </a:stretch>
        </p:blipFill>
        <p:spPr>
          <a:xfrm>
            <a:off x="309599" y="3251766"/>
            <a:ext cx="5856621" cy="3588772"/>
          </a:xfrm>
          <a:prstGeom prst="rect">
            <a:avLst/>
          </a:prstGeom>
        </p:spPr>
      </p:pic>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40084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dirty="0">
                <a:latin typeface="+mj-ea"/>
                <a:ea typeface="+mj-ea"/>
              </a:rPr>
              <a:t>本社は東京・上野の好立地（サスガビル4階）に所在する1拠点。企画・営業・管理の各機能を集約してい</a:t>
            </a:r>
            <a:r>
              <a:rPr lang="ja-JP" altLang="en-US" dirty="0">
                <a:latin typeface="+mj-ea"/>
                <a:ea typeface="+mj-ea"/>
              </a:rPr>
              <a:t>る</a:t>
            </a:r>
            <a:r>
              <a:rPr dirty="0">
                <a:latin typeface="+mj-ea"/>
                <a:ea typeface="+mj-ea"/>
              </a:rPr>
              <a:t>。</a:t>
            </a:r>
            <a:endParaRPr lang="en-US" altLang="ja-JP" dirty="0"/>
          </a:p>
        </p:txBody>
      </p:sp>
      <p:graphicFrame>
        <p:nvGraphicFramePr>
          <p:cNvPr id="4" name="表 3">
            <a:extLst>
              <a:ext uri="{FF2B5EF4-FFF2-40B4-BE49-F238E27FC236}">
                <a16:creationId xmlns:a16="http://schemas.microsoft.com/office/drawing/2014/main" id="{325AF47A-6BC9-B6C2-5B98-1956D7B06A39}"/>
              </a:ext>
            </a:extLst>
          </p:cNvPr>
          <p:cNvGraphicFramePr>
            <a:graphicFrameLocks noGrp="1"/>
          </p:cNvGraphicFramePr>
          <p:nvPr>
            <p:extLst>
              <p:ext uri="{D42A27DB-BD31-4B8C-83A1-F6EECF244321}">
                <p14:modId xmlns:p14="http://schemas.microsoft.com/office/powerpoint/2010/main" val="805259124"/>
              </p:ext>
            </p:extLst>
          </p:nvPr>
        </p:nvGraphicFramePr>
        <p:xfrm>
          <a:off x="309600" y="1972901"/>
          <a:ext cx="9221786" cy="786120"/>
        </p:xfrm>
        <a:graphic>
          <a:graphicData uri="http://schemas.openxmlformats.org/drawingml/2006/table">
            <a:tbl>
              <a:tblPr/>
              <a:tblGrid>
                <a:gridCol w="2469222">
                  <a:extLst>
                    <a:ext uri="{9D8B030D-6E8A-4147-A177-3AD203B41FA5}">
                      <a16:colId xmlns:a16="http://schemas.microsoft.com/office/drawing/2014/main" val="2062176054"/>
                    </a:ext>
                  </a:extLst>
                </a:gridCol>
                <a:gridCol w="977610">
                  <a:extLst>
                    <a:ext uri="{9D8B030D-6E8A-4147-A177-3AD203B41FA5}">
                      <a16:colId xmlns:a16="http://schemas.microsoft.com/office/drawing/2014/main" val="1643339880"/>
                    </a:ext>
                  </a:extLst>
                </a:gridCol>
                <a:gridCol w="806276">
                  <a:extLst>
                    <a:ext uri="{9D8B030D-6E8A-4147-A177-3AD203B41FA5}">
                      <a16:colId xmlns:a16="http://schemas.microsoft.com/office/drawing/2014/main" val="2265824260"/>
                    </a:ext>
                  </a:extLst>
                </a:gridCol>
                <a:gridCol w="806276">
                  <a:extLst>
                    <a:ext uri="{9D8B030D-6E8A-4147-A177-3AD203B41FA5}">
                      <a16:colId xmlns:a16="http://schemas.microsoft.com/office/drawing/2014/main" val="1420906063"/>
                    </a:ext>
                  </a:extLst>
                </a:gridCol>
                <a:gridCol w="806276">
                  <a:extLst>
                    <a:ext uri="{9D8B030D-6E8A-4147-A177-3AD203B41FA5}">
                      <a16:colId xmlns:a16="http://schemas.microsoft.com/office/drawing/2014/main" val="2817479663"/>
                    </a:ext>
                  </a:extLst>
                </a:gridCol>
                <a:gridCol w="3356126">
                  <a:extLst>
                    <a:ext uri="{9D8B030D-6E8A-4147-A177-3AD203B41FA5}">
                      <a16:colId xmlns:a16="http://schemas.microsoft.com/office/drawing/2014/main" val="1610221471"/>
                    </a:ext>
                  </a:extLst>
                </a:gridCol>
              </a:tblGrid>
              <a:tr h="39306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月間賃料</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アクセス</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70587111"/>
                  </a:ext>
                </a:extLst>
              </a:tr>
              <a:tr h="3930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a:t>
                      </a:r>
                      <a:br>
                        <a:rPr lang="ja-JP" sz="1000" b="0" i="0" u="none" strike="noStrike">
                          <a:solidFill>
                            <a:srgbClr val="000000"/>
                          </a:solidFill>
                          <a:effectLst/>
                          <a:latin typeface="游ゴシック" panose="020B0400000000000000" pitchFamily="50" charset="-128"/>
                          <a:ea typeface="游ゴシック" panose="020B0400000000000000" pitchFamily="50" charset="-128"/>
                        </a:rPr>
                      </a:br>
                      <a:r>
                        <a:rPr lang="ja-JP" sz="1000" b="0" i="0" u="none" strike="noStrike">
                          <a:solidFill>
                            <a:srgbClr val="000000"/>
                          </a:solidFill>
                          <a:effectLst/>
                          <a:latin typeface="游ゴシック" panose="020B0400000000000000" pitchFamily="50" charset="-128"/>
                          <a:ea typeface="游ゴシック" panose="020B0400000000000000" pitchFamily="50" charset="-128"/>
                        </a:rPr>
                        <a:t>サスガビル4階</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115.7</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436</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仲御徒町駅徒歩4分、上野御徒町駅徒歩6分、</a:t>
                      </a:r>
                      <a:br>
                        <a:rPr lang="ja-JP"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御徒町駅徒歩6分</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47140917"/>
                  </a:ext>
                </a:extLst>
              </a:tr>
            </a:tbl>
          </a:graphicData>
        </a:graphic>
      </p:graphicFrame>
      <p:sp>
        <p:nvSpPr>
          <p:cNvPr id="17" name="正方形/長方形 16">
            <a:extLst>
              <a:ext uri="{FF2B5EF4-FFF2-40B4-BE49-F238E27FC236}">
                <a16:creationId xmlns:a16="http://schemas.microsoft.com/office/drawing/2014/main" id="{3F2D807C-4EFA-57B4-2B5D-60A6604F1DE6}"/>
              </a:ext>
            </a:extLst>
          </p:cNvPr>
          <p:cNvSpPr/>
          <p:nvPr/>
        </p:nvSpPr>
        <p:spPr>
          <a:xfrm>
            <a:off x="1329743" y="3251766"/>
            <a:ext cx="776287" cy="291272"/>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二等辺三角形 10">
            <a:extLst>
              <a:ext uri="{FF2B5EF4-FFF2-40B4-BE49-F238E27FC236}">
                <a16:creationId xmlns:a16="http://schemas.microsoft.com/office/drawing/2014/main" id="{1702ED47-A490-B2A1-B472-68ACB72C6CC7}"/>
              </a:ext>
            </a:extLst>
          </p:cNvPr>
          <p:cNvSpPr/>
          <p:nvPr/>
        </p:nvSpPr>
        <p:spPr>
          <a:xfrm rot="15699000">
            <a:off x="5256614" y="3383598"/>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E686759-FC8F-A046-94D4-2BCFB5551308}"/>
              </a:ext>
            </a:extLst>
          </p:cNvPr>
          <p:cNvSpPr/>
          <p:nvPr/>
        </p:nvSpPr>
        <p:spPr>
          <a:xfrm>
            <a:off x="309599" y="575543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38DD0D24-AEEE-86C6-DF4C-BF55FAD553C4}"/>
              </a:ext>
            </a:extLst>
          </p:cNvPr>
          <p:cNvSpPr/>
          <p:nvPr/>
        </p:nvSpPr>
        <p:spPr>
          <a:xfrm>
            <a:off x="1041400" y="5688756"/>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6CDE1CD-5B97-1266-F6A0-0C3145215981}"/>
              </a:ext>
            </a:extLst>
          </p:cNvPr>
          <p:cNvSpPr/>
          <p:nvPr/>
        </p:nvSpPr>
        <p:spPr>
          <a:xfrm>
            <a:off x="1435577" y="5995988"/>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ABCB77D2-054B-D106-CB52-841C38ABD294}"/>
              </a:ext>
            </a:extLst>
          </p:cNvPr>
          <p:cNvSpPr/>
          <p:nvPr/>
        </p:nvSpPr>
        <p:spPr>
          <a:xfrm>
            <a:off x="2145824" y="659998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389F0C9-8E02-C569-4684-FD95FDAD4415}"/>
              </a:ext>
            </a:extLst>
          </p:cNvPr>
          <p:cNvSpPr/>
          <p:nvPr/>
        </p:nvSpPr>
        <p:spPr>
          <a:xfrm>
            <a:off x="5172149" y="6359422"/>
            <a:ext cx="862891"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B9B8E9C5-6193-0A82-A3DB-B3742211E46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861856" y="2869174"/>
            <a:ext cx="2978523" cy="3971364"/>
          </a:xfrm>
          <a:prstGeom prst="rect">
            <a:avLst/>
          </a:prstGeom>
        </p:spPr>
      </p:pic>
    </p:spTree>
    <p:extLst>
      <p:ext uri="{BB962C8B-B14F-4D97-AF65-F5344CB8AC3E}">
        <p14:creationId xmlns:p14="http://schemas.microsoft.com/office/powerpoint/2010/main" val="630750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自社工場を持たないファブレス体制のため、保有設備は少額。有形固定資産は建物附属設備・車両運搬具・工具器具備品の合計</a:t>
            </a:r>
            <a:r>
              <a:rPr lang="ja-JP" altLang="en-US" dirty="0">
                <a:latin typeface="+mj-ea"/>
                <a:ea typeface="+mj-ea"/>
              </a:rPr>
              <a:t>は</a:t>
            </a:r>
            <a:r>
              <a:rPr dirty="0">
                <a:latin typeface="+mj-ea"/>
                <a:ea typeface="+mj-ea"/>
              </a:rPr>
              <a:t>1,057千円。</a:t>
            </a:r>
            <a:endParaRPr lang="en-US" altLang="ja-JP" dirty="0"/>
          </a:p>
        </p:txBody>
      </p:sp>
      <p:sp>
        <p:nvSpPr>
          <p:cNvPr id="15" name="TextBox 14"/>
          <p:cNvSpPr txBox="1"/>
          <p:nvPr/>
        </p:nvSpPr>
        <p:spPr>
          <a:xfrm>
            <a:off x="309600" y="3640771"/>
            <a:ext cx="7200000" cy="246221"/>
          </a:xfrm>
          <a:prstGeom prst="rect">
            <a:avLst/>
          </a:prstGeom>
          <a:noFill/>
        </p:spPr>
        <p:txBody>
          <a:bodyPr wrap="square">
            <a:spAutoFit/>
          </a:bodyPr>
          <a:lstStyle/>
          <a:p>
            <a:pPr algn="l"/>
            <a:r>
              <a:rPr sz="1000" dirty="0">
                <a:solidFill>
                  <a:sysClr val="windowText" lastClr="000000"/>
                </a:solidFill>
                <a:latin typeface="游ゴシック"/>
                <a:ea typeface="游ゴシック"/>
              </a:rPr>
              <a:t>※ </a:t>
            </a:r>
            <a:r>
              <a:rPr sz="1000" dirty="0" err="1">
                <a:solidFill>
                  <a:sysClr val="windowText" lastClr="000000"/>
                </a:solidFill>
                <a:latin typeface="游ゴシック"/>
                <a:ea typeface="游ゴシック"/>
              </a:rPr>
              <a:t>自社工場を持たないファブレス体制のため、保有設備は少額</a:t>
            </a:r>
            <a:r>
              <a:rPr sz="1000" dirty="0">
                <a:solidFill>
                  <a:sysClr val="windowText" lastClr="000000"/>
                </a:solidFill>
                <a:latin typeface="游ゴシック"/>
                <a:ea typeface="游ゴシック"/>
              </a:rPr>
              <a:t>。</a:t>
            </a:r>
          </a:p>
        </p:txBody>
      </p:sp>
      <p:graphicFrame>
        <p:nvGraphicFramePr>
          <p:cNvPr id="3" name="表 2">
            <a:extLst>
              <a:ext uri="{FF2B5EF4-FFF2-40B4-BE49-F238E27FC236}">
                <a16:creationId xmlns:a16="http://schemas.microsoft.com/office/drawing/2014/main" id="{D02CC98D-1094-A3D7-7383-CA4109A049E4}"/>
              </a:ext>
            </a:extLst>
          </p:cNvPr>
          <p:cNvGraphicFramePr>
            <a:graphicFrameLocks noGrp="1"/>
          </p:cNvGraphicFramePr>
          <p:nvPr>
            <p:extLst>
              <p:ext uri="{D42A27DB-BD31-4B8C-83A1-F6EECF244321}">
                <p14:modId xmlns:p14="http://schemas.microsoft.com/office/powerpoint/2010/main" val="1979920877"/>
              </p:ext>
            </p:extLst>
          </p:nvPr>
        </p:nvGraphicFramePr>
        <p:xfrm>
          <a:off x="309600" y="1938603"/>
          <a:ext cx="10040901" cy="1494585"/>
        </p:xfrm>
        <a:graphic>
          <a:graphicData uri="http://schemas.openxmlformats.org/drawingml/2006/table">
            <a:tbl>
              <a:tblPr/>
              <a:tblGrid>
                <a:gridCol w="270462">
                  <a:extLst>
                    <a:ext uri="{9D8B030D-6E8A-4147-A177-3AD203B41FA5}">
                      <a16:colId xmlns:a16="http://schemas.microsoft.com/office/drawing/2014/main" val="2664730658"/>
                    </a:ext>
                  </a:extLst>
                </a:gridCol>
                <a:gridCol w="1153488">
                  <a:extLst>
                    <a:ext uri="{9D8B030D-6E8A-4147-A177-3AD203B41FA5}">
                      <a16:colId xmlns:a16="http://schemas.microsoft.com/office/drawing/2014/main" val="1702608175"/>
                    </a:ext>
                  </a:extLst>
                </a:gridCol>
                <a:gridCol w="1971675">
                  <a:extLst>
                    <a:ext uri="{9D8B030D-6E8A-4147-A177-3AD203B41FA5}">
                      <a16:colId xmlns:a16="http://schemas.microsoft.com/office/drawing/2014/main" val="3190167237"/>
                    </a:ext>
                  </a:extLst>
                </a:gridCol>
                <a:gridCol w="739775">
                  <a:extLst>
                    <a:ext uri="{9D8B030D-6E8A-4147-A177-3AD203B41FA5}">
                      <a16:colId xmlns:a16="http://schemas.microsoft.com/office/drawing/2014/main" val="887249952"/>
                    </a:ext>
                  </a:extLst>
                </a:gridCol>
                <a:gridCol w="739775">
                  <a:extLst>
                    <a:ext uri="{9D8B030D-6E8A-4147-A177-3AD203B41FA5}">
                      <a16:colId xmlns:a16="http://schemas.microsoft.com/office/drawing/2014/main" val="475512481"/>
                    </a:ext>
                  </a:extLst>
                </a:gridCol>
                <a:gridCol w="739775">
                  <a:extLst>
                    <a:ext uri="{9D8B030D-6E8A-4147-A177-3AD203B41FA5}">
                      <a16:colId xmlns:a16="http://schemas.microsoft.com/office/drawing/2014/main" val="4001681305"/>
                    </a:ext>
                  </a:extLst>
                </a:gridCol>
                <a:gridCol w="739775">
                  <a:extLst>
                    <a:ext uri="{9D8B030D-6E8A-4147-A177-3AD203B41FA5}">
                      <a16:colId xmlns:a16="http://schemas.microsoft.com/office/drawing/2014/main" val="2316733740"/>
                    </a:ext>
                  </a:extLst>
                </a:gridCol>
                <a:gridCol w="739775">
                  <a:extLst>
                    <a:ext uri="{9D8B030D-6E8A-4147-A177-3AD203B41FA5}">
                      <a16:colId xmlns:a16="http://schemas.microsoft.com/office/drawing/2014/main" val="1943368122"/>
                    </a:ext>
                  </a:extLst>
                </a:gridCol>
                <a:gridCol w="739775">
                  <a:extLst>
                    <a:ext uri="{9D8B030D-6E8A-4147-A177-3AD203B41FA5}">
                      <a16:colId xmlns:a16="http://schemas.microsoft.com/office/drawing/2014/main" val="985670860"/>
                    </a:ext>
                  </a:extLst>
                </a:gridCol>
                <a:gridCol w="2206626">
                  <a:extLst>
                    <a:ext uri="{9D8B030D-6E8A-4147-A177-3AD203B41FA5}">
                      <a16:colId xmlns:a16="http://schemas.microsoft.com/office/drawing/2014/main" val="1905704674"/>
                    </a:ext>
                  </a:extLst>
                </a:gridCol>
              </a:tblGrid>
              <a:tr h="188637">
                <a:tc>
                  <a:txBody>
                    <a:bodyPr/>
                    <a:lstStyle/>
                    <a:p>
                      <a:pPr algn="ctr" fontAlgn="ctr">
                        <a:buNone/>
                      </a:pPr>
                      <a:r>
                        <a:rPr lang="ja-JP" sz="900" b="0"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資産名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償却方法</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取得月</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耐用年数</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取得原価</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期末帳簿価額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005627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パーテション一式</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701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07384312"/>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レクサス RXHV</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2019年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5,364</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1804438"/>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FREED HYBRID FF</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2021年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659830956"/>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サーバー Alrit5</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872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3187727"/>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CAUL RX販売仕入在庫システム</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2,737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2,007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043808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弥生会計24プロフェッショナル</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939620264"/>
                  </a:ext>
                </a:extLst>
              </a:tr>
            </a:tbl>
          </a:graphicData>
        </a:graphic>
      </p:graphicFrame>
      <p:sp>
        <p:nvSpPr>
          <p:cNvPr id="5" name="TextBox 14">
            <a:extLst>
              <a:ext uri="{FF2B5EF4-FFF2-40B4-BE49-F238E27FC236}">
                <a16:creationId xmlns:a16="http://schemas.microsoft.com/office/drawing/2014/main" id="{6133161D-3B52-88A0-BA62-FC46CFD13F20}"/>
              </a:ext>
            </a:extLst>
          </p:cNvPr>
          <p:cNvSpPr txBox="1"/>
          <p:nvPr/>
        </p:nvSpPr>
        <p:spPr>
          <a:xfrm>
            <a:off x="6519900" y="1731020"/>
            <a:ext cx="1662075" cy="215444"/>
          </a:xfrm>
          <a:prstGeom prst="rect">
            <a:avLst/>
          </a:prstGeom>
          <a:noFill/>
        </p:spPr>
        <p:txBody>
          <a:bodyPr wrap="square">
            <a:spAutoFit/>
          </a:bodyPr>
          <a:lstStyle/>
          <a:p>
            <a:pPr algn="r"/>
            <a:r>
              <a:rPr lang="ja-JP" altLang="en-US" sz="800" dirty="0">
                <a:solidFill>
                  <a:sysClr val="windowText" lastClr="000000"/>
                </a:solidFill>
                <a:latin typeface="游ゴシック"/>
                <a:ea typeface="游ゴシック"/>
              </a:rPr>
              <a:t>（単位：千円）</a:t>
            </a:r>
            <a:endParaRPr sz="800" dirty="0">
              <a:solidFill>
                <a:sysClr val="windowText" lastClr="000000"/>
              </a:solidFill>
              <a:latin typeface="游ゴシック"/>
              <a:ea typeface="游ゴシック"/>
            </a:endParaRPr>
          </a:p>
        </p:txBody>
      </p:sp>
    </p:spTree>
    <p:extLst>
      <p:ext uri="{BB962C8B-B14F-4D97-AF65-F5344CB8AC3E}">
        <p14:creationId xmlns:p14="http://schemas.microsoft.com/office/powerpoint/2010/main" val="915540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dirty="0">
                <a:latin typeface="+mj-ea"/>
                <a:ea typeface="+mj-ea"/>
              </a:rPr>
              <a:t>3期を通じて自己資本を着実に積み上げ、</a:t>
            </a:r>
            <a:r>
              <a:rPr lang="en-US" dirty="0">
                <a:latin typeface="+mj-ea"/>
                <a:ea typeface="+mj-ea"/>
              </a:rPr>
              <a:t>2026</a:t>
            </a:r>
            <a:r>
              <a:rPr dirty="0">
                <a:latin typeface="+mj-ea"/>
                <a:ea typeface="+mj-ea"/>
              </a:rPr>
              <a:t>年1月期の純資産は</a:t>
            </a:r>
            <a:r>
              <a:rPr lang="en-US" altLang="ja-JP" dirty="0"/>
              <a:t>333,536</a:t>
            </a:r>
            <a:r>
              <a:rPr lang="ja-JP" altLang="en-US" dirty="0"/>
              <a:t>千円</a:t>
            </a:r>
            <a:r>
              <a:rPr dirty="0">
                <a:latin typeface="+mj-ea"/>
                <a:ea typeface="+mj-ea"/>
              </a:rPr>
              <a:t>、自己資本比率60.6%。</a:t>
            </a:r>
            <a:r>
              <a:rPr dirty="0" err="1">
                <a:latin typeface="+mj-ea"/>
                <a:ea typeface="+mj-ea"/>
              </a:rPr>
              <a:t>現預金・投資有価証券等の金融資産を潤沢に保有</a:t>
            </a:r>
            <a:r>
              <a:rPr dirty="0">
                <a:latin typeface="+mj-ea"/>
                <a:ea typeface="+mj-ea"/>
              </a:rPr>
              <a:t>。</a:t>
            </a:r>
            <a:endParaRPr lang="en-US" altLang="ja-JP" dirty="0"/>
          </a:p>
        </p:txBody>
      </p:sp>
      <p:graphicFrame>
        <p:nvGraphicFramePr>
          <p:cNvPr id="3" name="表 2">
            <a:extLst>
              <a:ext uri="{FF2B5EF4-FFF2-40B4-BE49-F238E27FC236}">
                <a16:creationId xmlns:a16="http://schemas.microsoft.com/office/drawing/2014/main" id="{ED3FFCF2-01D6-D5D2-B115-DDDAF997F296}"/>
              </a:ext>
            </a:extLst>
          </p:cNvPr>
          <p:cNvGraphicFramePr>
            <a:graphicFrameLocks noGrp="1"/>
          </p:cNvGraphicFramePr>
          <p:nvPr>
            <p:extLst>
              <p:ext uri="{D42A27DB-BD31-4B8C-83A1-F6EECF244321}">
                <p14:modId xmlns:p14="http://schemas.microsoft.com/office/powerpoint/2010/main" val="3353666852"/>
              </p:ext>
            </p:extLst>
          </p:nvPr>
        </p:nvGraphicFramePr>
        <p:xfrm>
          <a:off x="341313" y="1465130"/>
          <a:ext cx="5003801" cy="5502875"/>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9" name="表 8">
            <a:extLst>
              <a:ext uri="{FF2B5EF4-FFF2-40B4-BE49-F238E27FC236}">
                <a16:creationId xmlns:a16="http://schemas.microsoft.com/office/drawing/2014/main" id="{B8B8034E-CCA0-199B-5D45-A95747C20662}"/>
              </a:ext>
            </a:extLst>
          </p:cNvPr>
          <p:cNvGraphicFramePr>
            <a:graphicFrameLocks noGrp="1"/>
          </p:cNvGraphicFramePr>
          <p:nvPr>
            <p:extLst>
              <p:ext uri="{D42A27DB-BD31-4B8C-83A1-F6EECF244321}">
                <p14:modId xmlns:p14="http://schemas.microsoft.com/office/powerpoint/2010/main" val="125833566"/>
              </p:ext>
            </p:extLst>
          </p:nvPr>
        </p:nvGraphicFramePr>
        <p:xfrm>
          <a:off x="5345114" y="1465133"/>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11" name="表 10">
            <a:extLst>
              <a:ext uri="{FF2B5EF4-FFF2-40B4-BE49-F238E27FC236}">
                <a16:creationId xmlns:a16="http://schemas.microsoft.com/office/drawing/2014/main" id="{B4F2EDCB-2EC3-7053-7613-82493D7F511B}"/>
              </a:ext>
            </a:extLst>
          </p:cNvPr>
          <p:cNvGraphicFramePr>
            <a:graphicFrameLocks noGrp="1"/>
          </p:cNvGraphicFramePr>
          <p:nvPr>
            <p:extLst>
              <p:ext uri="{D42A27DB-BD31-4B8C-83A1-F6EECF244321}">
                <p14:modId xmlns:p14="http://schemas.microsoft.com/office/powerpoint/2010/main" val="2827332643"/>
              </p:ext>
            </p:extLst>
          </p:nvPr>
        </p:nvGraphicFramePr>
        <p:xfrm>
          <a:off x="5345113" y="5349405"/>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en-US" dirty="0"/>
              <a:t>2025</a:t>
            </a:r>
            <a:r>
              <a:rPr dirty="0">
                <a:latin typeface="+mj-ea"/>
                <a:ea typeface="+mj-ea"/>
              </a:rPr>
              <a:t>年1月期に売上・利益が大きく伸長。</a:t>
            </a:r>
            <a:r>
              <a:rPr lang="en-US" dirty="0">
                <a:latin typeface="+mj-ea"/>
                <a:ea typeface="+mj-ea"/>
              </a:rPr>
              <a:t>2026</a:t>
            </a:r>
            <a:r>
              <a:rPr dirty="0">
                <a:latin typeface="+mj-ea"/>
                <a:ea typeface="+mj-ea"/>
              </a:rPr>
              <a:t>年1月期は売上422</a:t>
            </a:r>
            <a:r>
              <a:rPr lang="en-US" dirty="0"/>
              <a:t>,475</a:t>
            </a:r>
            <a:r>
              <a:rPr lang="ja-JP" altLang="en-US" dirty="0"/>
              <a:t>千</a:t>
            </a:r>
            <a:r>
              <a:rPr dirty="0">
                <a:latin typeface="+mj-ea"/>
                <a:ea typeface="+mj-ea"/>
              </a:rPr>
              <a:t>円・営業利益58</a:t>
            </a:r>
            <a:r>
              <a:rPr lang="en-US" altLang="ja-JP" dirty="0">
                <a:latin typeface="+mj-ea"/>
                <a:ea typeface="+mj-ea"/>
              </a:rPr>
              <a:t>,514</a:t>
            </a:r>
            <a:r>
              <a:rPr lang="ja-JP" altLang="en-US" dirty="0">
                <a:latin typeface="+mj-ea"/>
                <a:ea typeface="+mj-ea"/>
              </a:rPr>
              <a:t>千</a:t>
            </a:r>
            <a:r>
              <a:rPr dirty="0">
                <a:latin typeface="+mj-ea"/>
                <a:ea typeface="+mj-ea"/>
              </a:rPr>
              <a:t>円と高水準を維持し、営業利益率13.9%を確保してい</a:t>
            </a:r>
            <a:r>
              <a:rPr lang="ja-JP" altLang="en-US" dirty="0"/>
              <a:t>る</a:t>
            </a:r>
            <a:r>
              <a:rPr dirty="0">
                <a:latin typeface="+mj-ea"/>
                <a:ea typeface="+mj-ea"/>
              </a:rPr>
              <a:t>。</a:t>
            </a:r>
            <a:endParaRPr lang="en-US" altLang="ja-JP" dirty="0"/>
          </a:p>
        </p:txBody>
      </p:sp>
      <p:graphicFrame>
        <p:nvGraphicFramePr>
          <p:cNvPr id="7" name="表 6">
            <a:extLst>
              <a:ext uri="{FF2B5EF4-FFF2-40B4-BE49-F238E27FC236}">
                <a16:creationId xmlns:a16="http://schemas.microsoft.com/office/drawing/2014/main" id="{84459E27-86F9-B5C8-0AE6-0F47C5BC98E8}"/>
              </a:ext>
            </a:extLst>
          </p:cNvPr>
          <p:cNvGraphicFramePr>
            <a:graphicFrameLocks noGrp="1"/>
          </p:cNvGraphicFramePr>
          <p:nvPr>
            <p:extLst>
              <p:ext uri="{D42A27DB-BD31-4B8C-83A1-F6EECF244321}">
                <p14:modId xmlns:p14="http://schemas.microsoft.com/office/powerpoint/2010/main" val="2931623783"/>
              </p:ext>
            </p:extLst>
          </p:nvPr>
        </p:nvGraphicFramePr>
        <p:xfrm>
          <a:off x="341312" y="1238667"/>
          <a:ext cx="9901240" cy="5712739"/>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1241">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46187">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68047">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売上原価の内訳（製造委託中心）</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自社工場を持たないため、売上原価の大半は当期商品仕入高（製造委託分）で構成。製造委託に付随する支払手数料・外注費・試作費等を含</a:t>
            </a:r>
            <a:r>
              <a:rPr lang="ja-JP" altLang="en-US" dirty="0">
                <a:latin typeface="+mj-ea"/>
                <a:ea typeface="+mj-ea"/>
              </a:rPr>
              <a:t>む</a:t>
            </a:r>
            <a:r>
              <a:rPr dirty="0">
                <a:latin typeface="+mj-ea"/>
                <a:ea typeface="+mj-ea"/>
              </a:rPr>
              <a:t>。</a:t>
            </a:r>
            <a:endParaRPr lang="en-US" altLang="ja-JP" dirty="0"/>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2017477"/>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製造委託中心のため、材料費・労務費等の</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製造原価科目は発生せず、仕入・製造委託</a:t>
            </a:r>
            <a:endParaRPr sz="1050" dirty="0">
              <a:latin typeface="+mn-ea"/>
              <a:ea typeface="+mn-ea"/>
            </a:endParaRPr>
          </a:p>
          <a:p>
            <a:r>
              <a:rPr sz="1050" dirty="0">
                <a:latin typeface="+mn-ea"/>
                <a:ea typeface="+mn-ea"/>
              </a:rPr>
              <a:t>　</a:t>
            </a:r>
            <a:r>
              <a:rPr sz="1050" dirty="0" err="1">
                <a:latin typeface="+mn-ea"/>
                <a:ea typeface="+mn-ea"/>
              </a:rPr>
              <a:t>関連費用で構成</a:t>
            </a:r>
            <a:endParaRPr sz="1050" dirty="0">
              <a:latin typeface="+mn-ea"/>
              <a:ea typeface="+mn-ea"/>
            </a:endParaRPr>
          </a:p>
          <a:p>
            <a:endParaRPr sz="1050" dirty="0">
              <a:latin typeface="+mn-ea"/>
              <a:ea typeface="+mn-ea"/>
            </a:endParaRPr>
          </a:p>
          <a:p>
            <a:r>
              <a:rPr sz="1050" dirty="0">
                <a:latin typeface="+mn-ea"/>
                <a:ea typeface="+mn-ea"/>
              </a:rPr>
              <a:t>・</a:t>
            </a:r>
            <a:r>
              <a:rPr sz="1050" dirty="0" err="1">
                <a:latin typeface="+mn-ea"/>
                <a:ea typeface="+mn-ea"/>
              </a:rPr>
              <a:t>棚卸資産の増減（他勘定振替・廃棄損）が</a:t>
            </a:r>
            <a:endParaRPr sz="1050" dirty="0">
              <a:latin typeface="+mn-ea"/>
              <a:ea typeface="+mn-ea"/>
            </a:endParaRPr>
          </a:p>
          <a:p>
            <a:r>
              <a:rPr sz="1050" dirty="0">
                <a:latin typeface="+mn-ea"/>
                <a:ea typeface="+mn-ea"/>
              </a:rPr>
              <a:t>　</a:t>
            </a:r>
            <a:r>
              <a:rPr sz="1050" dirty="0" err="1">
                <a:latin typeface="+mn-ea"/>
                <a:ea typeface="+mn-ea"/>
              </a:rPr>
              <a:t>期により変動</a:t>
            </a:r>
            <a:endParaRPr sz="1050" dirty="0">
              <a:latin typeface="+mn-ea"/>
              <a:ea typeface="+mn-ea"/>
            </a:endParaRPr>
          </a:p>
        </p:txBody>
      </p:sp>
      <p:graphicFrame>
        <p:nvGraphicFramePr>
          <p:cNvPr id="14" name="Table 13"/>
          <p:cNvGraphicFramePr>
            <a:graphicFrameLocks noGrp="1"/>
          </p:cNvGraphicFramePr>
          <p:nvPr>
            <p:extLst>
              <p:ext uri="{D42A27DB-BD31-4B8C-83A1-F6EECF244321}">
                <p14:modId xmlns:p14="http://schemas.microsoft.com/office/powerpoint/2010/main" val="297527671"/>
              </p:ext>
            </p:extLst>
          </p:nvPr>
        </p:nvGraphicFramePr>
        <p:xfrm>
          <a:off x="309600" y="1655999"/>
          <a:ext cx="5976000" cy="3419999"/>
        </p:xfrm>
        <a:graphic>
          <a:graphicData uri="http://schemas.openxmlformats.org/drawingml/2006/table">
            <a:tbl>
              <a:tblPr>
                <a:tableStyleId>{5C22544A-7EE6-4342-B048-85BDC9FD1C3A}</a:tableStyleId>
              </a:tblPr>
              <a:tblGrid>
                <a:gridCol w="2304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tblGrid>
              <a:tr h="310909">
                <a:tc>
                  <a:txBody>
                    <a:bodyPr/>
                    <a:lstStyle/>
                    <a:p>
                      <a:pPr algn="ctr"/>
                      <a:r>
                        <a:rPr sz="900" b="1">
                          <a:solidFill>
                            <a:srgbClr val="FFFFFF"/>
                          </a:solidFill>
                          <a:latin typeface="游ゴシック" panose="020B0400000000000000" pitchFamily="50" charset="-128"/>
                          <a:ea typeface="游ゴシック" panose="020B0400000000000000" pitchFamily="50" charset="-128"/>
                        </a:rPr>
                        <a:t>科目</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2024</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2025</a:t>
                      </a:r>
                      <a:r>
                        <a:rPr lang="ja-JP" altLang="en-US" sz="900" b="1" dirty="0">
                          <a:solidFill>
                            <a:srgbClr val="FFFFFF"/>
                          </a:solidFill>
                          <a:latin typeface="游ゴシック" panose="020B0400000000000000" pitchFamily="50" charset="-128"/>
                          <a:ea typeface="游ゴシック" panose="020B0400000000000000" pitchFamily="50" charset="-128"/>
                        </a:rPr>
                        <a:t>年</a:t>
                      </a:r>
                      <a:r>
                        <a:rPr sz="900" b="1" dirty="0">
                          <a:solidFill>
                            <a:srgbClr val="FFFFFF"/>
                          </a:solidFill>
                          <a:latin typeface="游ゴシック" panose="020B0400000000000000" pitchFamily="50" charset="-128"/>
                          <a:ea typeface="游ゴシック" panose="020B0400000000000000" pitchFamily="50" charset="-128"/>
                        </a:rPr>
                        <a:t>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2026</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extLst>
                  <a:ext uri="{0D108BD9-81ED-4DB2-BD59-A6C34878D82A}">
                    <a16:rowId xmlns:a16="http://schemas.microsoft.com/office/drawing/2014/main" val="10000"/>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期首商品棚卸高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3,024</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extLst>
                  <a:ext uri="{0D108BD9-81ED-4DB2-BD59-A6C34878D82A}">
                    <a16:rowId xmlns:a16="http://schemas.microsoft.com/office/drawing/2014/main" val="10001"/>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当期商品仕入高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172,657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237,258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225,575</a:t>
                      </a:r>
                    </a:p>
                  </a:txBody>
                  <a:tcPr marL="36000" marR="36000" marT="7200" marB="7200" anchor="ctr">
                    <a:noFill/>
                  </a:tcPr>
                </a:tc>
                <a:extLst>
                  <a:ext uri="{0D108BD9-81ED-4DB2-BD59-A6C34878D82A}">
                    <a16:rowId xmlns:a16="http://schemas.microsoft.com/office/drawing/2014/main" val="10002"/>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製）支払手数料</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26,574</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50,723</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21,094</a:t>
                      </a:r>
                    </a:p>
                  </a:txBody>
                  <a:tcPr marL="36000" marR="36000" marT="7200" marB="7200" anchor="ctr">
                    <a:noFill/>
                  </a:tcPr>
                </a:tc>
                <a:extLst>
                  <a:ext uri="{0D108BD9-81ED-4DB2-BD59-A6C34878D82A}">
                    <a16:rowId xmlns:a16="http://schemas.microsoft.com/office/drawing/2014/main" val="10003"/>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製）サンプル費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6,307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2,328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2,831</a:t>
                      </a:r>
                    </a:p>
                  </a:txBody>
                  <a:tcPr marL="36000" marR="36000" marT="7200" marB="7200" anchor="ctr">
                    <a:noFill/>
                  </a:tcPr>
                </a:tc>
                <a:extLst>
                  <a:ext uri="{0D108BD9-81ED-4DB2-BD59-A6C34878D82A}">
                    <a16:rowId xmlns:a16="http://schemas.microsoft.com/office/drawing/2014/main" val="10004"/>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試作費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4,488</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13,797</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3,637</a:t>
                      </a:r>
                    </a:p>
                  </a:txBody>
                  <a:tcPr marL="36000" marR="36000" marT="7200" marB="7200" anchor="ctr">
                    <a:noFill/>
                  </a:tcPr>
                </a:tc>
                <a:extLst>
                  <a:ext uri="{0D108BD9-81ED-4DB2-BD59-A6C34878D82A}">
                    <a16:rowId xmlns:a16="http://schemas.microsoft.com/office/drawing/2014/main" val="10005"/>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製）外注費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8,299</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9,972</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5,262</a:t>
                      </a:r>
                    </a:p>
                  </a:txBody>
                  <a:tcPr marL="36000" marR="36000" marT="7200" marB="7200" anchor="ctr">
                    <a:noFill/>
                  </a:tcPr>
                </a:tc>
                <a:extLst>
                  <a:ext uri="{0D108BD9-81ED-4DB2-BD59-A6C34878D82A}">
                    <a16:rowId xmlns:a16="http://schemas.microsoft.com/office/drawing/2014/main" val="10006"/>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仕入値引高</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extLst>
                  <a:ext uri="{0D108BD9-81ED-4DB2-BD59-A6C34878D82A}">
                    <a16:rowId xmlns:a16="http://schemas.microsoft.com/office/drawing/2014/main" val="10007"/>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他勘定振替高</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△6,723</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△17,217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△19,845</a:t>
                      </a:r>
                    </a:p>
                  </a:txBody>
                  <a:tcPr marL="36000" marR="36000" marT="7200" marB="7200" anchor="ctr">
                    <a:noFill/>
                  </a:tcPr>
                </a:tc>
                <a:extLst>
                  <a:ext uri="{0D108BD9-81ED-4DB2-BD59-A6C34878D82A}">
                    <a16:rowId xmlns:a16="http://schemas.microsoft.com/office/drawing/2014/main" val="10008"/>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期末商品棚卸高</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△229</a:t>
                      </a:r>
                    </a:p>
                  </a:txBody>
                  <a:tcPr marL="36000" marR="36000" marT="7200" marB="7200" anchor="ctr">
                    <a:solidFill>
                      <a:srgbClr val="FFFFFF"/>
                    </a:solidFill>
                  </a:tcPr>
                </a:tc>
                <a:extLst>
                  <a:ext uri="{0D108BD9-81ED-4DB2-BD59-A6C34878D82A}">
                    <a16:rowId xmlns:a16="http://schemas.microsoft.com/office/drawing/2014/main" val="10009"/>
                  </a:ext>
                </a:extLst>
              </a:tr>
              <a:tr h="310909">
                <a:tc>
                  <a:txBody>
                    <a:bodyPr/>
                    <a:lstStyle/>
                    <a:p>
                      <a:pPr algn="l"/>
                      <a:r>
                        <a:rPr sz="900" b="1">
                          <a:solidFill>
                            <a:sysClr val="windowText" lastClr="000000"/>
                          </a:solidFill>
                          <a:latin typeface="游ゴシック" panose="020B0400000000000000" pitchFamily="50" charset="-128"/>
                          <a:ea typeface="游ゴシック" panose="020B0400000000000000" pitchFamily="50" charset="-128"/>
                        </a:rPr>
                        <a:t>売上原価</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213,200</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264,942</a:t>
                      </a:r>
                    </a:p>
                  </a:txBody>
                  <a:tcPr marL="36000" marR="36000" marT="7200" marB="7200" anchor="ctr">
                    <a:solidFill>
                      <a:srgbClr val="E3E7E9"/>
                    </a:solidFill>
                  </a:tcPr>
                </a:tc>
                <a:tc>
                  <a:txBody>
                    <a:bodyPr/>
                    <a:lstStyle/>
                    <a:p>
                      <a:pPr algn="r"/>
                      <a:r>
                        <a:rPr sz="900" b="1" dirty="0">
                          <a:solidFill>
                            <a:sysClr val="windowText" lastClr="000000"/>
                          </a:solidFill>
                          <a:latin typeface="游ゴシック" panose="020B0400000000000000" pitchFamily="50" charset="-128"/>
                          <a:ea typeface="游ゴシック" panose="020B0400000000000000" pitchFamily="50" charset="-128"/>
                        </a:rPr>
                        <a:t>271,671</a:t>
                      </a:r>
                    </a:p>
                  </a:txBody>
                  <a:tcPr marL="36000" marR="36000" marT="7200" marB="7200" anchor="ctr">
                    <a:solidFill>
                      <a:srgbClr val="E3E7E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6809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dirty="0" err="1">
                <a:latin typeface="+mj-ea"/>
                <a:ea typeface="+mj-ea"/>
              </a:rPr>
              <a:t>販管費の中心は人件費</a:t>
            </a:r>
            <a:r>
              <a:rPr lang="ja-JP" altLang="en-US" dirty="0">
                <a:latin typeface="+mj-ea"/>
                <a:ea typeface="+mj-ea"/>
              </a:rPr>
              <a:t>（役員報酬・給料・賞与・法定福利等）</a:t>
            </a:r>
            <a:r>
              <a:rPr dirty="0">
                <a:latin typeface="+mj-ea"/>
                <a:ea typeface="+mj-ea"/>
              </a:rPr>
              <a:t>。少数精鋭体制により総額を抑制しつつ、</a:t>
            </a:r>
            <a:r>
              <a:rPr lang="en-US" dirty="0">
                <a:latin typeface="+mj-ea"/>
                <a:ea typeface="+mj-ea"/>
              </a:rPr>
              <a:t>2026</a:t>
            </a:r>
            <a:r>
              <a:rPr dirty="0">
                <a:latin typeface="+mj-ea"/>
                <a:ea typeface="+mj-ea"/>
              </a:rPr>
              <a:t>年1月期は</a:t>
            </a:r>
            <a:r>
              <a:rPr lang="en-US" dirty="0">
                <a:latin typeface="+mj-ea"/>
                <a:ea typeface="+mj-ea"/>
              </a:rPr>
              <a:t>92,289</a:t>
            </a:r>
            <a:r>
              <a:rPr lang="ja-JP" altLang="en-US" dirty="0">
                <a:latin typeface="+mj-ea"/>
                <a:ea typeface="+mj-ea"/>
              </a:rPr>
              <a:t>千円</a:t>
            </a:r>
            <a:r>
              <a:rPr dirty="0" err="1">
                <a:latin typeface="+mj-ea"/>
                <a:ea typeface="+mj-ea"/>
              </a:rPr>
              <a:t>で推移</a:t>
            </a:r>
            <a:r>
              <a:rPr dirty="0">
                <a:latin typeface="+mj-ea"/>
                <a:ea typeface="+mj-ea"/>
              </a:rPr>
              <a:t>。</a:t>
            </a:r>
            <a:endParaRPr lang="en-US" altLang="ja-JP" dirty="0"/>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10903839" y="874558"/>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人件費（役員報酬・給料・賞与・法定福利</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等）が最大費目。少数精鋭で人件費を抑制</a:t>
            </a:r>
            <a:endParaRPr sz="1050" dirty="0">
              <a:latin typeface="+mn-ea"/>
              <a:ea typeface="+mn-ea"/>
            </a:endParaRPr>
          </a:p>
          <a:p>
            <a:endParaRPr sz="1050" dirty="0">
              <a:latin typeface="+mn-ea"/>
              <a:ea typeface="+mn-ea"/>
            </a:endParaRPr>
          </a:p>
          <a:p>
            <a:r>
              <a:rPr sz="1050" dirty="0">
                <a:latin typeface="+mn-ea"/>
                <a:ea typeface="+mn-ea"/>
              </a:rPr>
              <a:t>・荷造運賃、地代家賃（年約5,500千円）等が</a:t>
            </a:r>
          </a:p>
          <a:p>
            <a:r>
              <a:rPr sz="1050" dirty="0">
                <a:latin typeface="+mn-ea"/>
                <a:ea typeface="+mn-ea"/>
              </a:rPr>
              <a:t>　</a:t>
            </a:r>
            <a:r>
              <a:rPr sz="1050" dirty="0" err="1">
                <a:latin typeface="+mn-ea"/>
                <a:ea typeface="+mn-ea"/>
              </a:rPr>
              <a:t>主な固定費</a:t>
            </a:r>
            <a:endParaRPr sz="1050" dirty="0">
              <a:latin typeface="+mn-ea"/>
              <a:ea typeface="+mn-ea"/>
            </a:endParaRPr>
          </a:p>
          <a:p>
            <a:endParaRPr sz="1050" dirty="0">
              <a:latin typeface="+mn-ea"/>
              <a:ea typeface="+mn-ea"/>
            </a:endParaRPr>
          </a:p>
          <a:p>
            <a:r>
              <a:rPr sz="1050" dirty="0">
                <a:latin typeface="+mn-ea"/>
                <a:ea typeface="+mn-ea"/>
              </a:rPr>
              <a:t>・役員賞与20,000千円等は正常収益力算定上</a:t>
            </a:r>
          </a:p>
          <a:p>
            <a:r>
              <a:rPr sz="1050" dirty="0">
                <a:latin typeface="+mn-ea"/>
                <a:ea typeface="+mn-ea"/>
              </a:rPr>
              <a:t>　</a:t>
            </a:r>
            <a:r>
              <a:rPr sz="1050" dirty="0" err="1">
                <a:latin typeface="+mn-ea"/>
                <a:ea typeface="+mn-ea"/>
              </a:rPr>
              <a:t>の調整候補</a:t>
            </a:r>
            <a:endParaRPr sz="1050" dirty="0">
              <a:latin typeface="+mn-ea"/>
              <a:ea typeface="+mn-ea"/>
            </a:endParaRPr>
          </a:p>
        </p:txBody>
      </p:sp>
      <p:graphicFrame>
        <p:nvGraphicFramePr>
          <p:cNvPr id="7" name="表 6">
            <a:extLst>
              <a:ext uri="{FF2B5EF4-FFF2-40B4-BE49-F238E27FC236}">
                <a16:creationId xmlns:a16="http://schemas.microsoft.com/office/drawing/2014/main" id="{F2C6E108-AB48-0E21-9228-52AD13179871}"/>
              </a:ext>
            </a:extLst>
          </p:cNvPr>
          <p:cNvGraphicFramePr>
            <a:graphicFrameLocks noGrp="1"/>
          </p:cNvGraphicFramePr>
          <p:nvPr>
            <p:extLst>
              <p:ext uri="{D42A27DB-BD31-4B8C-83A1-F6EECF244321}">
                <p14:modId xmlns:p14="http://schemas.microsoft.com/office/powerpoint/2010/main" val="3083789522"/>
              </p:ext>
            </p:extLst>
          </p:nvPr>
        </p:nvGraphicFramePr>
        <p:xfrm>
          <a:off x="341313" y="1381912"/>
          <a:ext cx="8311077" cy="5459228"/>
        </p:xfrm>
        <a:graphic>
          <a:graphicData uri="http://schemas.openxmlformats.org/drawingml/2006/table">
            <a:tbl>
              <a:tblPr/>
              <a:tblGrid>
                <a:gridCol w="1972119">
                  <a:extLst>
                    <a:ext uri="{9D8B030D-6E8A-4147-A177-3AD203B41FA5}">
                      <a16:colId xmlns:a16="http://schemas.microsoft.com/office/drawing/2014/main" val="1715146085"/>
                    </a:ext>
                  </a:extLst>
                </a:gridCol>
                <a:gridCol w="1056493">
                  <a:extLst>
                    <a:ext uri="{9D8B030D-6E8A-4147-A177-3AD203B41FA5}">
                      <a16:colId xmlns:a16="http://schemas.microsoft.com/office/drawing/2014/main" val="2220347708"/>
                    </a:ext>
                  </a:extLst>
                </a:gridCol>
                <a:gridCol w="1056493">
                  <a:extLst>
                    <a:ext uri="{9D8B030D-6E8A-4147-A177-3AD203B41FA5}">
                      <a16:colId xmlns:a16="http://schemas.microsoft.com/office/drawing/2014/main" val="1870627800"/>
                    </a:ext>
                  </a:extLst>
                </a:gridCol>
                <a:gridCol w="1056493">
                  <a:extLst>
                    <a:ext uri="{9D8B030D-6E8A-4147-A177-3AD203B41FA5}">
                      <a16:colId xmlns:a16="http://schemas.microsoft.com/office/drawing/2014/main" val="2613027751"/>
                    </a:ext>
                  </a:extLst>
                </a:gridCol>
                <a:gridCol w="1056493">
                  <a:extLst>
                    <a:ext uri="{9D8B030D-6E8A-4147-A177-3AD203B41FA5}">
                      <a16:colId xmlns:a16="http://schemas.microsoft.com/office/drawing/2014/main" val="2737650701"/>
                    </a:ext>
                  </a:extLst>
                </a:gridCol>
                <a:gridCol w="1056493">
                  <a:extLst>
                    <a:ext uri="{9D8B030D-6E8A-4147-A177-3AD203B41FA5}">
                      <a16:colId xmlns:a16="http://schemas.microsoft.com/office/drawing/2014/main" val="442705657"/>
                    </a:ext>
                  </a:extLst>
                </a:gridCol>
                <a:gridCol w="1056493">
                  <a:extLst>
                    <a:ext uri="{9D8B030D-6E8A-4147-A177-3AD203B41FA5}">
                      <a16:colId xmlns:a16="http://schemas.microsoft.com/office/drawing/2014/main" val="3326341676"/>
                    </a:ext>
                  </a:extLst>
                </a:gridCol>
              </a:tblGrid>
              <a:tr h="13159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39897859"/>
                  </a:ext>
                </a:extLst>
              </a:tr>
              <a:tr h="1368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extLst>
                  <a:ext uri="{0D108BD9-81ED-4DB2-BD59-A6C34878D82A}">
                    <a16:rowId xmlns:a16="http://schemas.microsoft.com/office/drawing/2014/main" val="3229329223"/>
                  </a:ext>
                </a:extLst>
              </a:tr>
              <a:tr h="136860">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9441249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993" marR="0" marT="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4,094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4289564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役員賞与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18,000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31471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33,649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29,811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27,939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551672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907352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30088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6,407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502595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福利厚生費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45312703"/>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2162206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9,236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13,487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573745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815839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9284179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199360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409342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8151010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4866768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391448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3301789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725405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616793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3,168</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01033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955897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230057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471506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735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00064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269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8599779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762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56909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3040484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4208534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46251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66393374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993" marR="0" marT="0" marB="0" anchor="ctr">
                    <a:lnL>
                      <a:noFill/>
                    </a:lnL>
                    <a:lnR>
                      <a:noFill/>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1,623</a:t>
                      </a:r>
                    </a:p>
                  </a:txBody>
                  <a:tcPr marL="0" marR="55497"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78678"/>
                  </a:ext>
                </a:extLst>
              </a:tr>
              <a:tr h="15791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97,396</a:t>
                      </a:r>
                    </a:p>
                  </a:txBody>
                  <a:tcPr marL="0" marR="55497"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100,736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92,289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21.8%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186393275"/>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8966</TotalTime>
  <Words>5801</Words>
  <Application>Microsoft Office PowerPoint</Application>
  <PresentationFormat>ユーザー設定</PresentationFormat>
  <Paragraphs>1808</Paragraphs>
  <Slides>39</Slides>
  <Notes>26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39</vt:i4>
      </vt:variant>
    </vt:vector>
  </HeadingPairs>
  <TitlesOfParts>
    <vt:vector size="44" baseType="lpstr">
      <vt:lpstr>游ゴシック</vt:lpstr>
      <vt:lpstr>游ゴシック Medium</vt:lpstr>
      <vt:lpstr>Arial</vt:lpstr>
      <vt:lpstr>Wingdings</vt:lpstr>
      <vt:lpstr>SL_2026</vt:lpstr>
      <vt:lpstr>企業概要書　＜キャラクターグッズ企画・製造販売／東京都＞</vt:lpstr>
      <vt:lpstr>はじめに</vt:lpstr>
      <vt:lpstr>PowerPoint プレゼンテーション</vt:lpstr>
      <vt:lpstr>エグゼクティブサマリー</vt:lpstr>
      <vt:lpstr>基本情報</vt:lpstr>
      <vt:lpstr>本件想定スキーム</vt:lpstr>
      <vt:lpstr>会社分割スキームの前提整理</vt:lpstr>
      <vt:lpstr>財務ハイライト（P/L）</vt:lpstr>
      <vt:lpstr>財務ハイライト（B/S｜分割前）</vt:lpstr>
      <vt:lpstr>分割後B/Sイメージ</vt:lpstr>
      <vt:lpstr>譲渡希望条件</vt:lpstr>
      <vt:lpstr>事業概要</vt:lpstr>
      <vt:lpstr>事業内容</vt:lpstr>
      <vt:lpstr>制作IP一覧【大手出版社原作IP】</vt:lpstr>
      <vt:lpstr>制作IP一覧【ライトノベル・ゲーム原作IP】</vt:lpstr>
      <vt:lpstr>事例｜ブルーロック</vt:lpstr>
      <vt:lpstr>OEM製品ラインナップ</vt:lpstr>
      <vt:lpstr>自社オリジナル商品（オリジナルくじ商材）</vt:lpstr>
      <vt:lpstr>事例①｜ONE PIECE（ワンピース）</vt:lpstr>
      <vt:lpstr>事例②｜東京リベンジャーズ</vt:lpstr>
      <vt:lpstr>事例③｜進撃の巨人</vt:lpstr>
      <vt:lpstr>制作フロー</vt:lpstr>
      <vt:lpstr>特徴、強み、成長性等</vt:lpstr>
      <vt:lpstr>主要販売先別売上高</vt:lpstr>
      <vt:lpstr>仕入先別取引高</vt:lpstr>
      <vt:lpstr>組織、拠点、設備等</vt:lpstr>
      <vt:lpstr>組織図</vt:lpstr>
      <vt:lpstr>株主及び役員</vt:lpstr>
      <vt:lpstr>従業員</vt:lpstr>
      <vt:lpstr>拠点概要（本社）</vt:lpstr>
      <vt:lpstr>保有設備一覧</vt:lpstr>
      <vt:lpstr>財務情報詳細</vt:lpstr>
      <vt:lpstr>貸借対照表</vt:lpstr>
      <vt:lpstr>損益計算書</vt:lpstr>
      <vt:lpstr>売上原価の内訳（製造委託中心）</vt:lpstr>
      <vt:lpstr>販売費及び一般管理費</vt:lpstr>
      <vt:lpstr>Appendix</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191</cp:revision>
  <cp:lastPrinted>2025-10-23T01:12:16Z</cp:lastPrinted>
  <dcterms:created xsi:type="dcterms:W3CDTF">2022-11-09T11:25:01Z</dcterms:created>
  <dcterms:modified xsi:type="dcterms:W3CDTF">2026-08-03T23:04:30Z</dcterms:modified>
</cp:coreProperties>
</file>