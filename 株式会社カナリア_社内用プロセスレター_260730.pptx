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trictFirstAndLastChars="0" saveSubsetFonts="1" autoCompressPictures="0">
  <p:sldMasterIdLst>
    <p:sldMasterId id="2147483653" r:id="rId1"/>
  </p:sldMasterIdLst>
  <p:notesMasterIdLst>
    <p:notesMasterId r:id="rId3"/>
  </p:notesMasterIdLst>
  <p:sldIdLst>
    <p:sldId id="693" r:id="rId2"/>
  </p:sldIdLst>
  <p:sldSz cx="10691813" cy="7559675"/>
  <p:notesSz cx="6794500" cy="99314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59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59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59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59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59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59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59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59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59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既定のセクション" id="{F15EE332-85E8-464E-BD9B-6722D42356EC}">
          <p14:sldIdLst>
            <p14:sldId id="693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3128" userDrawn="1">
          <p15:clr>
            <a:srgbClr val="A4A3A4"/>
          </p15:clr>
        </p15:guide>
        <p15:guide id="2" pos="214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00"/>
    <a:srgbClr val="0B3041"/>
    <a:srgbClr val="0889C9"/>
    <a:srgbClr val="006AB1"/>
    <a:srgbClr val="54CCB3"/>
    <a:srgbClr val="E1F2FB"/>
    <a:srgbClr val="E3E7E9"/>
    <a:srgbClr val="727F8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E9FEF8D-0F9E-4D7E-9A0F-5DDE6A6739AB}">
  <a:tblStyle styleId="{2E9FEF8D-0F9E-4D7E-9A0F-5DDE6A6739AB}" styleName="Table_0">
    <a:wholeTbl>
      <a:tcTxStyle b="off" i="off">
        <a:font>
          <a:latin typeface="游ゴシック"/>
          <a:ea typeface="游ゴシック"/>
          <a:cs typeface="游ゴシック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9EFF7"/>
          </a:solidFill>
        </a:fill>
      </a:tcStyle>
    </a:wholeTbl>
    <a:band1H>
      <a:tcTxStyle/>
      <a:tcStyle>
        <a:tcBdr/>
        <a:fill>
          <a:solidFill>
            <a:srgbClr val="D0DEEF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D0DEEF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游ゴシック"/>
          <a:ea typeface="游ゴシック"/>
          <a:cs typeface="游ゴシック"/>
        </a:font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 i="off">
        <a:font>
          <a:latin typeface="游ゴシック"/>
          <a:ea typeface="游ゴシック"/>
          <a:cs typeface="游ゴシック"/>
        </a:font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 i="off">
        <a:font>
          <a:latin typeface="游ゴシック"/>
          <a:ea typeface="游ゴシック"/>
          <a:cs typeface="游ゴシック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5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游ゴシック"/>
          <a:ea typeface="游ゴシック"/>
          <a:cs typeface="游ゴシック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5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404" autoAdjust="0"/>
  </p:normalViewPr>
  <p:slideViewPr>
    <p:cSldViewPr snapToGrid="0">
      <p:cViewPr varScale="1">
        <p:scale>
          <a:sx n="100" d="100"/>
          <a:sy n="100" d="100"/>
        </p:scale>
        <p:origin x="142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3128"/>
        <p:guide pos="2140"/>
      </p:guideLst>
    </p:cSldViewPr>
  </p:notesViewPr>
  <p:gridSpacing cx="72008" cy="72008"/>
</p:viewPr>
</file>

<file path=ppt/_rels/presentation.xml.rels><?xml version="1.0" encoding="UTF-8" standalone="yes"?>
<Relationships xmlns="http://schemas.openxmlformats.org/package/2006/relationships"><Relationship Id="rId3" Type="http://schemas.openxmlformats.org/officeDocument/2006/relationships/notesMaster" Target="notesMasters/notesMaster1.xml"/><Relationship Id="rId46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45" Type="http://schemas.openxmlformats.org/officeDocument/2006/relationships/theme" Target="theme/theme1.xml"/><Relationship Id="rId44" Type="http://schemas.openxmlformats.org/officeDocument/2006/relationships/viewProps" Target="viewProps.xml"/><Relationship Id="rId43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3" y="3"/>
            <a:ext cx="2944030" cy="4975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156" tIns="44066" rIns="88156" bIns="44066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48954" y="3"/>
            <a:ext cx="2944029" cy="4975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156" tIns="44066" rIns="88156" bIns="44066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027113" y="1241425"/>
            <a:ext cx="4741862" cy="3352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0209" y="4780077"/>
            <a:ext cx="5435600" cy="39097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156" tIns="44066" rIns="88156" bIns="44066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3" y="9433832"/>
            <a:ext cx="2944030" cy="4975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156" tIns="44066" rIns="88156" bIns="44066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48954" y="9433832"/>
            <a:ext cx="2944029" cy="4975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156" tIns="44066" rIns="88156" bIns="44066" anchor="b" anchorCtr="0">
            <a:noAutofit/>
          </a:bodyPr>
          <a:lstStyle/>
          <a:p>
            <a:pPr algn="r"/>
            <a:fld id="{00000000-1234-1234-1234-123412341234}" type="slidenum">
              <a:rPr lang="en-US" altLang="ja-JP" sz="1200" smtClean="0">
                <a:solidFill>
                  <a:schemeClr val="dk1"/>
                </a:solidFill>
              </a:rPr>
              <a:pPr algn="r"/>
              <a:t>‹#›</a:t>
            </a:fld>
            <a:endParaRPr lang="en-US" sz="1200">
              <a:solidFill>
                <a:schemeClr val="dk1"/>
              </a:solidFill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59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59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59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59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59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59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59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59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59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92150" y="860425"/>
            <a:ext cx="3278188" cy="23193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6" name="Google Shape;256;p2:notes"/>
          <p:cNvSpPr txBox="1">
            <a:spLocks noGrp="1"/>
          </p:cNvSpPr>
          <p:nvPr>
            <p:ph type="body" idx="1"/>
          </p:nvPr>
        </p:nvSpPr>
        <p:spPr>
          <a:xfrm>
            <a:off x="466729" y="3309247"/>
            <a:ext cx="3729663" cy="2706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774" tIns="30388" rIns="60774" bIns="30388" anchor="t" anchorCtr="0">
            <a:noAutofit/>
          </a:bodyPr>
          <a:lstStyle/>
          <a:p>
            <a:endParaRPr dirty="0"/>
          </a:p>
        </p:txBody>
      </p:sp>
      <p:sp>
        <p:nvSpPr>
          <p:cNvPr id="257" name="Google Shape;257;p2:notes"/>
          <p:cNvSpPr txBox="1">
            <a:spLocks noGrp="1"/>
          </p:cNvSpPr>
          <p:nvPr>
            <p:ph type="sldNum" idx="12"/>
          </p:nvPr>
        </p:nvSpPr>
        <p:spPr>
          <a:xfrm>
            <a:off x="2640976" y="6531039"/>
            <a:ext cx="2020060" cy="3444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774" tIns="30388" rIns="60774" bIns="30388" anchor="b" anchorCtr="0">
            <a:noAutofit/>
          </a:bodyPr>
          <a:lstStyle/>
          <a:p>
            <a:pPr algn="r"/>
            <a:fld id="{00000000-1234-1234-1234-123412341234}" type="slidenum">
              <a:rPr lang="en-US" altLang="ja-JP"/>
              <a:pPr algn="r"/>
              <a:t>0</a:t>
            </a:fld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974122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表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絵と文字の加工写真&#10;&#10;AI 生成コンテンツは誤りを含む可能性があります。">
            <a:extLst>
              <a:ext uri="{FF2B5EF4-FFF2-40B4-BE49-F238E27FC236}">
                <a16:creationId xmlns:a16="http://schemas.microsoft.com/office/drawing/2014/main" id="{995F6558-5E48-7ACD-5E2F-54EE4A6825B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519"/>
            <a:ext cx="10691813" cy="7558636"/>
          </a:xfrm>
          <a:prstGeom prst="rect">
            <a:avLst/>
          </a:prstGeom>
        </p:spPr>
      </p:pic>
      <p:sp>
        <p:nvSpPr>
          <p:cNvPr id="6" name="タイトル 1">
            <a:extLst>
              <a:ext uri="{FF2B5EF4-FFF2-40B4-BE49-F238E27FC236}">
                <a16:creationId xmlns:a16="http://schemas.microsoft.com/office/drawing/2014/main" id="{7D824756-0531-3BBA-09FB-CC8ACB55A3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5526" y="3467606"/>
            <a:ext cx="9221787" cy="73866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lvl1pPr>
              <a:lnSpc>
                <a:spcPct val="100000"/>
              </a:lnSpc>
              <a:defRPr lang="ja-JP" altLang="en-US" sz="4800" b="1" spc="200">
                <a:latin typeface="+mj-lt"/>
                <a:cs typeface="+mn-cs"/>
              </a:defRPr>
            </a:lvl1pPr>
          </a:lstStyle>
          <a:p>
            <a:pPr marL="0" lvl="0" defTabSz="503972"/>
            <a:r>
              <a:rPr kumimoji="1" lang="ja-JP" altLang="en-US" dirty="0"/>
              <a:t>マスター タイトルの書式設定</a:t>
            </a:r>
          </a:p>
        </p:txBody>
      </p:sp>
      <p:pic>
        <p:nvPicPr>
          <p:cNvPr id="4" name="図 3" descr="図形&#10;&#10;中程度の精度で自動的に生成された説明">
            <a:extLst>
              <a:ext uri="{FF2B5EF4-FFF2-40B4-BE49-F238E27FC236}">
                <a16:creationId xmlns:a16="http://schemas.microsoft.com/office/drawing/2014/main" id="{DF75B97B-7722-5333-1DF6-425BD31B0F0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7898" y="641817"/>
            <a:ext cx="2996516" cy="594316"/>
          </a:xfrm>
          <a:prstGeom prst="rect">
            <a:avLst/>
          </a:prstGeom>
        </p:spPr>
      </p:pic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E7F2AB3F-4E5C-EEA1-723A-7D941C02D057}"/>
              </a:ext>
            </a:extLst>
          </p:cNvPr>
          <p:cNvSpPr/>
          <p:nvPr userDrawn="1"/>
        </p:nvSpPr>
        <p:spPr>
          <a:xfrm>
            <a:off x="-1" y="-1"/>
            <a:ext cx="108000" cy="7560000"/>
          </a:xfrm>
          <a:prstGeom prst="rect">
            <a:avLst/>
          </a:prstGeom>
          <a:gradFill>
            <a:gsLst>
              <a:gs pos="100000">
                <a:schemeClr val="accent4"/>
              </a:gs>
              <a:gs pos="17000">
                <a:schemeClr val="tx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263"/>
          </a:p>
        </p:txBody>
      </p:sp>
    </p:spTree>
    <p:extLst>
      <p:ext uri="{BB962C8B-B14F-4D97-AF65-F5344CB8AC3E}">
        <p14:creationId xmlns:p14="http://schemas.microsoft.com/office/powerpoint/2010/main" val="10359687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次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 descr="背景パターン&#10;&#10;AI 生成コンテンツは誤りを含む可能性があります。">
            <a:extLst>
              <a:ext uri="{FF2B5EF4-FFF2-40B4-BE49-F238E27FC236}">
                <a16:creationId xmlns:a16="http://schemas.microsoft.com/office/drawing/2014/main" id="{8E967D6D-5B52-5B07-CA48-6817A5CEB27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519"/>
            <a:ext cx="10691813" cy="7558636"/>
          </a:xfrm>
          <a:prstGeom prst="rect">
            <a:avLst/>
          </a:prstGeom>
        </p:spPr>
      </p:pic>
      <p:pic>
        <p:nvPicPr>
          <p:cNvPr id="4" name="図 3" descr="図形&#10;&#10;中程度の精度で自動的に生成された説明">
            <a:extLst>
              <a:ext uri="{FF2B5EF4-FFF2-40B4-BE49-F238E27FC236}">
                <a16:creationId xmlns:a16="http://schemas.microsoft.com/office/drawing/2014/main" id="{DF75B97B-7722-5333-1DF6-425BD31B0F0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1198" y="251293"/>
            <a:ext cx="1627200" cy="322732"/>
          </a:xfrm>
          <a:prstGeom prst="rect">
            <a:avLst/>
          </a:prstGeom>
        </p:spPr>
      </p:pic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1A1C1562-A331-DA82-9B95-1B4F0DA08BD0}"/>
              </a:ext>
            </a:extLst>
          </p:cNvPr>
          <p:cNvSpPr txBox="1"/>
          <p:nvPr userDrawn="1"/>
        </p:nvSpPr>
        <p:spPr>
          <a:xfrm>
            <a:off x="9865023" y="7202817"/>
            <a:ext cx="579140" cy="15266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fld id="{4A9C97F8-90FE-457F-983C-96DAC3349EFE}" type="slidenum">
              <a:rPr kumimoji="1" lang="ja-JP" altLang="en-US" sz="992" smtClean="0">
                <a:solidFill>
                  <a:schemeClr val="accent1"/>
                </a:solidFill>
                <a:latin typeface="+mj-lt"/>
              </a:rPr>
              <a:pPr algn="r"/>
              <a:t>‹#›</a:t>
            </a:fld>
            <a:endParaRPr kumimoji="1" lang="ja-JP" altLang="en-US" sz="992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13" name="Google Shape;14;p31">
            <a:extLst>
              <a:ext uri="{FF2B5EF4-FFF2-40B4-BE49-F238E27FC236}">
                <a16:creationId xmlns:a16="http://schemas.microsoft.com/office/drawing/2014/main" id="{0CB49C29-F967-F011-F3F8-2ED176CC202F}"/>
              </a:ext>
            </a:extLst>
          </p:cNvPr>
          <p:cNvSpPr/>
          <p:nvPr userDrawn="1"/>
        </p:nvSpPr>
        <p:spPr>
          <a:xfrm>
            <a:off x="5516123" y="7220572"/>
            <a:ext cx="4572000" cy="1077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700" b="0" i="0" u="none" strike="noStrike" cap="none" dirty="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Copyright© M＆A Succession Group Inc. All Right Reserved</a:t>
            </a:r>
            <a:endParaRPr sz="700" b="0" i="0" u="none" strike="noStrike" cap="none" dirty="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7493C03D-EF3C-73CD-DCFB-960D33F81124}"/>
              </a:ext>
            </a:extLst>
          </p:cNvPr>
          <p:cNvSpPr/>
          <p:nvPr userDrawn="1"/>
        </p:nvSpPr>
        <p:spPr>
          <a:xfrm>
            <a:off x="6933143" y="7209190"/>
            <a:ext cx="640572" cy="144000"/>
          </a:xfrm>
          <a:prstGeom prst="rect">
            <a:avLst/>
          </a:prstGeom>
          <a:noFill/>
          <a:ln w="63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kumimoji="1" lang="en-US" altLang="ja-JP" sz="800" i="1" dirty="0">
                <a:solidFill>
                  <a:schemeClr val="accent1"/>
                </a:solidFill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28014450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中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背景パターン&#10;&#10;AI 生成コンテンツは誤りを含む可能性があります。">
            <a:extLst>
              <a:ext uri="{FF2B5EF4-FFF2-40B4-BE49-F238E27FC236}">
                <a16:creationId xmlns:a16="http://schemas.microsoft.com/office/drawing/2014/main" id="{FDE449C2-8B65-9409-394F-45A167C6AEA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519"/>
            <a:ext cx="10691813" cy="7558636"/>
          </a:xfrm>
          <a:prstGeom prst="rect">
            <a:avLst/>
          </a:prstGeom>
        </p:spPr>
      </p:pic>
      <p:sp>
        <p:nvSpPr>
          <p:cNvPr id="5" name="タイトル 1">
            <a:extLst>
              <a:ext uri="{FF2B5EF4-FFF2-40B4-BE49-F238E27FC236}">
                <a16:creationId xmlns:a16="http://schemas.microsoft.com/office/drawing/2014/main" id="{07D600CD-5CAD-A0C8-1E3D-CD1EA5B044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013" y="3656161"/>
            <a:ext cx="9221787" cy="61555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lvl1pPr>
              <a:lnSpc>
                <a:spcPct val="100000"/>
              </a:lnSpc>
              <a:defRPr lang="ja-JP" altLang="en-US" sz="4000" b="1" spc="200" dirty="0">
                <a:solidFill>
                  <a:schemeClr val="bg1"/>
                </a:solidFill>
                <a:latin typeface="+mj-lt"/>
                <a:cs typeface="+mn-cs"/>
              </a:defRPr>
            </a:lvl1pPr>
          </a:lstStyle>
          <a:p>
            <a:pPr marL="0" lvl="0" defTabSz="503972"/>
            <a:r>
              <a:rPr kumimoji="1" lang="ja-JP" altLang="en-US" dirty="0"/>
              <a:t>マスター タイトルの書式設定</a:t>
            </a:r>
          </a:p>
        </p:txBody>
      </p:sp>
      <p:pic>
        <p:nvPicPr>
          <p:cNvPr id="4" name="グラフィックス 3">
            <a:extLst>
              <a:ext uri="{FF2B5EF4-FFF2-40B4-BE49-F238E27FC236}">
                <a16:creationId xmlns:a16="http://schemas.microsoft.com/office/drawing/2014/main" id="{8D4E6481-3D38-43CE-56D4-0766A151BDB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7898" y="641818"/>
            <a:ext cx="1627200" cy="320105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06F9BFF4-1363-8167-1FD9-7F8105B557A4}"/>
              </a:ext>
            </a:extLst>
          </p:cNvPr>
          <p:cNvSpPr txBox="1"/>
          <p:nvPr userDrawn="1"/>
        </p:nvSpPr>
        <p:spPr>
          <a:xfrm>
            <a:off x="9865023" y="7202817"/>
            <a:ext cx="579140" cy="15266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fld id="{4A9C97F8-90FE-457F-983C-96DAC3349EFE}" type="slidenum">
              <a:rPr kumimoji="1" lang="ja-JP" altLang="en-US" sz="992" smtClean="0">
                <a:solidFill>
                  <a:schemeClr val="bg1"/>
                </a:solidFill>
                <a:latin typeface="+mj-lt"/>
              </a:rPr>
              <a:pPr algn="r"/>
              <a:t>‹#›</a:t>
            </a:fld>
            <a:endParaRPr kumimoji="1" lang="ja-JP" altLang="en-US" sz="992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8" name="Google Shape;14;p31">
            <a:extLst>
              <a:ext uri="{FF2B5EF4-FFF2-40B4-BE49-F238E27FC236}">
                <a16:creationId xmlns:a16="http://schemas.microsoft.com/office/drawing/2014/main" id="{4768A1B1-9FB9-F183-2D3A-178D813DD52B}"/>
              </a:ext>
            </a:extLst>
          </p:cNvPr>
          <p:cNvSpPr/>
          <p:nvPr userDrawn="1"/>
        </p:nvSpPr>
        <p:spPr>
          <a:xfrm>
            <a:off x="5516123" y="7220572"/>
            <a:ext cx="4572000" cy="1077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700" b="0" i="0" u="none" strike="noStrike" cap="none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Copyright© M＆A Succession Group Inc. All Right Reserved</a:t>
            </a:r>
            <a:endParaRPr sz="700" b="0" i="0" u="none" strike="noStrike" cap="none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00B19FBA-B74F-4E88-0389-543A882445EE}"/>
              </a:ext>
            </a:extLst>
          </p:cNvPr>
          <p:cNvSpPr/>
          <p:nvPr userDrawn="1"/>
        </p:nvSpPr>
        <p:spPr>
          <a:xfrm>
            <a:off x="6933143" y="7209190"/>
            <a:ext cx="640572" cy="144000"/>
          </a:xfrm>
          <a:prstGeom prst="rect">
            <a:avLst/>
          </a:prstGeom>
          <a:noFill/>
          <a:ln w="63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kumimoji="1" lang="en-US" altLang="ja-JP" sz="800" i="1" dirty="0">
                <a:solidFill>
                  <a:schemeClr val="bg1"/>
                </a:solidFill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18809509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本編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BA577B03-0430-76D0-A4E3-BD118824A3F8}"/>
              </a:ext>
            </a:extLst>
          </p:cNvPr>
          <p:cNvSpPr/>
          <p:nvPr userDrawn="1"/>
        </p:nvSpPr>
        <p:spPr>
          <a:xfrm>
            <a:off x="-1" y="0"/>
            <a:ext cx="10691814" cy="666000"/>
          </a:xfrm>
          <a:prstGeom prst="rect">
            <a:avLst/>
          </a:prstGeom>
          <a:gradFill>
            <a:gsLst>
              <a:gs pos="88000">
                <a:srgbClr val="006AB1"/>
              </a:gs>
              <a:gs pos="5000">
                <a:schemeClr val="tx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263" dirty="0"/>
          </a:p>
        </p:txBody>
      </p:sp>
      <p:sp>
        <p:nvSpPr>
          <p:cNvPr id="31" name="フリーフォーム: 図形 30">
            <a:extLst>
              <a:ext uri="{FF2B5EF4-FFF2-40B4-BE49-F238E27FC236}">
                <a16:creationId xmlns:a16="http://schemas.microsoft.com/office/drawing/2014/main" id="{D9CC89AC-0069-75DF-7665-F8D290946A33}"/>
              </a:ext>
            </a:extLst>
          </p:cNvPr>
          <p:cNvSpPr/>
          <p:nvPr userDrawn="1"/>
        </p:nvSpPr>
        <p:spPr>
          <a:xfrm>
            <a:off x="6714554" y="0"/>
            <a:ext cx="1701594" cy="666001"/>
          </a:xfrm>
          <a:custGeom>
            <a:avLst/>
            <a:gdLst>
              <a:gd name="csX0" fmla="*/ 0 w 1701594"/>
              <a:gd name="csY0" fmla="*/ 0 h 666001"/>
              <a:gd name="csX1" fmla="*/ 1089255 w 1701594"/>
              <a:gd name="csY1" fmla="*/ 0 h 666001"/>
              <a:gd name="csX2" fmla="*/ 1382486 w 1701594"/>
              <a:gd name="csY2" fmla="*/ 0 h 666001"/>
              <a:gd name="csX3" fmla="*/ 1382486 w 1701594"/>
              <a:gd name="csY3" fmla="*/ 183 h 666001"/>
              <a:gd name="csX4" fmla="*/ 1701594 w 1701594"/>
              <a:gd name="csY4" fmla="*/ 381 h 666001"/>
              <a:gd name="csX5" fmla="*/ 1565532 w 1701594"/>
              <a:gd name="csY5" fmla="*/ 333001 h 666001"/>
              <a:gd name="csX6" fmla="*/ 1701594 w 1701594"/>
              <a:gd name="csY6" fmla="*/ 666001 h 666001"/>
              <a:gd name="csX7" fmla="*/ 1382486 w 1701594"/>
              <a:gd name="csY7" fmla="*/ 665803 h 666001"/>
              <a:gd name="csX8" fmla="*/ 1382486 w 1701594"/>
              <a:gd name="csY8" fmla="*/ 666000 h 666001"/>
              <a:gd name="csX9" fmla="*/ 0 w 1701594"/>
              <a:gd name="csY9" fmla="*/ 666000 h 6660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1701594" h="666001">
                <a:moveTo>
                  <a:pt x="0" y="0"/>
                </a:moveTo>
                <a:lnTo>
                  <a:pt x="1089255" y="0"/>
                </a:lnTo>
                <a:lnTo>
                  <a:pt x="1382486" y="0"/>
                </a:lnTo>
                <a:lnTo>
                  <a:pt x="1382486" y="183"/>
                </a:lnTo>
                <a:lnTo>
                  <a:pt x="1701594" y="381"/>
                </a:lnTo>
                <a:lnTo>
                  <a:pt x="1565532" y="333001"/>
                </a:lnTo>
                <a:lnTo>
                  <a:pt x="1701594" y="666001"/>
                </a:lnTo>
                <a:lnTo>
                  <a:pt x="1382486" y="665803"/>
                </a:lnTo>
                <a:lnTo>
                  <a:pt x="1382486" y="666000"/>
                </a:lnTo>
                <a:lnTo>
                  <a:pt x="0" y="666000"/>
                </a:lnTo>
                <a:close/>
              </a:path>
            </a:pathLst>
          </a:custGeom>
          <a:gradFill>
            <a:gsLst>
              <a:gs pos="96000">
                <a:schemeClr val="accent4"/>
              </a:gs>
              <a:gs pos="46000">
                <a:schemeClr val="tx2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 sz="2263" dirty="0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E4C44029-31FF-A9F7-06AC-0A055C09D5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0675" y="830046"/>
            <a:ext cx="9781875" cy="24186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1" spc="55" baseline="0">
                <a:latin typeface="+mj-ea"/>
                <a:ea typeface="+mj-ea"/>
              </a:defRPr>
            </a:lvl1pPr>
            <a:lvl2pPr marL="503972" indent="0" algn="ctr">
              <a:buNone/>
              <a:defRPr sz="2205"/>
            </a:lvl2pPr>
            <a:lvl3pPr marL="1007943" indent="0" algn="ctr">
              <a:buNone/>
              <a:defRPr sz="1984"/>
            </a:lvl3pPr>
            <a:lvl4pPr marL="1511915" indent="0" algn="ctr">
              <a:buNone/>
              <a:defRPr sz="1764"/>
            </a:lvl4pPr>
            <a:lvl5pPr marL="2015886" indent="0" algn="ctr">
              <a:buNone/>
              <a:defRPr sz="1764"/>
            </a:lvl5pPr>
            <a:lvl6pPr marL="2519858" indent="0" algn="ctr">
              <a:buNone/>
              <a:defRPr sz="1764"/>
            </a:lvl6pPr>
            <a:lvl7pPr marL="3023829" indent="0" algn="ctr">
              <a:buNone/>
              <a:defRPr sz="1764"/>
            </a:lvl7pPr>
            <a:lvl8pPr marL="3527801" indent="0" algn="ctr">
              <a:buNone/>
              <a:defRPr sz="1764"/>
            </a:lvl8pPr>
            <a:lvl9pPr marL="4031772" indent="0" algn="ctr">
              <a:buNone/>
              <a:defRPr sz="1764"/>
            </a:lvl9pPr>
          </a:lstStyle>
          <a:p>
            <a:r>
              <a:rPr kumimoji="1" lang="ja-JP" altLang="en-US" dirty="0"/>
              <a:t>マスター サブタイトルの書式設定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C06A0380-DE0F-1825-615F-4DBC89C8C6DB}"/>
              </a:ext>
            </a:extLst>
          </p:cNvPr>
          <p:cNvSpPr txBox="1"/>
          <p:nvPr userDrawn="1"/>
        </p:nvSpPr>
        <p:spPr>
          <a:xfrm>
            <a:off x="9865023" y="7202817"/>
            <a:ext cx="579140" cy="15266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fld id="{4A9C97F8-90FE-457F-983C-96DAC3349EFE}" type="slidenum">
              <a:rPr kumimoji="1" lang="ja-JP" altLang="en-US" sz="992" smtClean="0">
                <a:solidFill>
                  <a:schemeClr val="accent1"/>
                </a:solidFill>
                <a:latin typeface="+mj-lt"/>
              </a:rPr>
              <a:pPr algn="r"/>
              <a:t>‹#›</a:t>
            </a:fld>
            <a:endParaRPr kumimoji="1" lang="ja-JP" altLang="en-US" sz="992" dirty="0">
              <a:solidFill>
                <a:schemeClr val="accent1"/>
              </a:solidFill>
              <a:latin typeface="+mj-lt"/>
            </a:endParaRPr>
          </a:p>
        </p:txBody>
      </p:sp>
      <p:pic>
        <p:nvPicPr>
          <p:cNvPr id="8" name="グラフィックス 7">
            <a:extLst>
              <a:ext uri="{FF2B5EF4-FFF2-40B4-BE49-F238E27FC236}">
                <a16:creationId xmlns:a16="http://schemas.microsoft.com/office/drawing/2014/main" id="{15124CEF-AA7F-DF16-7A5C-692E9AB7616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04801" y="7086114"/>
            <a:ext cx="1625600" cy="322220"/>
          </a:xfrm>
          <a:prstGeom prst="rect">
            <a:avLst/>
          </a:prstGeom>
        </p:spPr>
      </p:pic>
      <p:grpSp>
        <p:nvGrpSpPr>
          <p:cNvPr id="26" name="グループ化 25">
            <a:extLst>
              <a:ext uri="{FF2B5EF4-FFF2-40B4-BE49-F238E27FC236}">
                <a16:creationId xmlns:a16="http://schemas.microsoft.com/office/drawing/2014/main" id="{2864EB89-7DDA-1F5E-BB78-27D39C8659FC}"/>
              </a:ext>
            </a:extLst>
          </p:cNvPr>
          <p:cNvGrpSpPr/>
          <p:nvPr userDrawn="1"/>
        </p:nvGrpSpPr>
        <p:grpSpPr>
          <a:xfrm>
            <a:off x="-1" y="0"/>
            <a:ext cx="252001" cy="666000"/>
            <a:chOff x="-1" y="0"/>
            <a:chExt cx="252001" cy="666000"/>
          </a:xfrm>
        </p:grpSpPr>
        <p:cxnSp>
          <p:nvCxnSpPr>
            <p:cNvPr id="19" name="直線コネクタ 18">
              <a:extLst>
                <a:ext uri="{FF2B5EF4-FFF2-40B4-BE49-F238E27FC236}">
                  <a16:creationId xmlns:a16="http://schemas.microsoft.com/office/drawing/2014/main" id="{05B82C66-0A6E-C82F-B38C-D4495200FAA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0" y="333000"/>
              <a:ext cx="252000" cy="0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正方形/長方形 10">
              <a:extLst>
                <a:ext uri="{FF2B5EF4-FFF2-40B4-BE49-F238E27FC236}">
                  <a16:creationId xmlns:a16="http://schemas.microsoft.com/office/drawing/2014/main" id="{A6BFD29D-964D-B44D-88A5-439ACA448282}"/>
                </a:ext>
              </a:extLst>
            </p:cNvPr>
            <p:cNvSpPr/>
            <p:nvPr userDrawn="1"/>
          </p:nvSpPr>
          <p:spPr>
            <a:xfrm>
              <a:off x="-1" y="0"/>
              <a:ext cx="108000" cy="6660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263"/>
            </a:p>
          </p:txBody>
        </p:sp>
        <p:cxnSp>
          <p:nvCxnSpPr>
            <p:cNvPr id="18" name="直線コネクタ 17">
              <a:extLst>
                <a:ext uri="{FF2B5EF4-FFF2-40B4-BE49-F238E27FC236}">
                  <a16:creationId xmlns:a16="http://schemas.microsoft.com/office/drawing/2014/main" id="{B87BA5C7-32E9-C506-2110-1D5AFE77B08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" y="333000"/>
              <a:ext cx="108000" cy="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タイトル 1">
            <a:extLst>
              <a:ext uri="{FF2B5EF4-FFF2-40B4-BE49-F238E27FC236}">
                <a16:creationId xmlns:a16="http://schemas.microsoft.com/office/drawing/2014/main" id="{1DA08165-590D-BD55-05E9-10B2D6F8DD63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341313" y="180296"/>
            <a:ext cx="7799917" cy="339267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algn="l">
              <a:lnSpc>
                <a:spcPct val="100000"/>
              </a:lnSpc>
              <a:defRPr sz="2200" b="1" spc="77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0" name="フリーフォーム: 図形 29">
            <a:extLst>
              <a:ext uri="{FF2B5EF4-FFF2-40B4-BE49-F238E27FC236}">
                <a16:creationId xmlns:a16="http://schemas.microsoft.com/office/drawing/2014/main" id="{0AA6A414-726D-CCFA-2EF2-5B8503BE0A88}"/>
              </a:ext>
            </a:extLst>
          </p:cNvPr>
          <p:cNvSpPr/>
          <p:nvPr userDrawn="1"/>
        </p:nvSpPr>
        <p:spPr>
          <a:xfrm>
            <a:off x="6386286" y="0"/>
            <a:ext cx="1701594" cy="666001"/>
          </a:xfrm>
          <a:custGeom>
            <a:avLst/>
            <a:gdLst>
              <a:gd name="csX0" fmla="*/ 0 w 1701594"/>
              <a:gd name="csY0" fmla="*/ 0 h 666001"/>
              <a:gd name="csX1" fmla="*/ 1089255 w 1701594"/>
              <a:gd name="csY1" fmla="*/ 0 h 666001"/>
              <a:gd name="csX2" fmla="*/ 1382486 w 1701594"/>
              <a:gd name="csY2" fmla="*/ 0 h 666001"/>
              <a:gd name="csX3" fmla="*/ 1382486 w 1701594"/>
              <a:gd name="csY3" fmla="*/ 183 h 666001"/>
              <a:gd name="csX4" fmla="*/ 1701594 w 1701594"/>
              <a:gd name="csY4" fmla="*/ 381 h 666001"/>
              <a:gd name="csX5" fmla="*/ 1565532 w 1701594"/>
              <a:gd name="csY5" fmla="*/ 333001 h 666001"/>
              <a:gd name="csX6" fmla="*/ 1701594 w 1701594"/>
              <a:gd name="csY6" fmla="*/ 666001 h 666001"/>
              <a:gd name="csX7" fmla="*/ 1382486 w 1701594"/>
              <a:gd name="csY7" fmla="*/ 665803 h 666001"/>
              <a:gd name="csX8" fmla="*/ 1382486 w 1701594"/>
              <a:gd name="csY8" fmla="*/ 666000 h 666001"/>
              <a:gd name="csX9" fmla="*/ 0 w 1701594"/>
              <a:gd name="csY9" fmla="*/ 666000 h 6660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1701594" h="666001">
                <a:moveTo>
                  <a:pt x="0" y="0"/>
                </a:moveTo>
                <a:lnTo>
                  <a:pt x="1089255" y="0"/>
                </a:lnTo>
                <a:lnTo>
                  <a:pt x="1382486" y="0"/>
                </a:lnTo>
                <a:lnTo>
                  <a:pt x="1382486" y="183"/>
                </a:lnTo>
                <a:lnTo>
                  <a:pt x="1701594" y="381"/>
                </a:lnTo>
                <a:lnTo>
                  <a:pt x="1565532" y="333001"/>
                </a:lnTo>
                <a:lnTo>
                  <a:pt x="1701594" y="666001"/>
                </a:lnTo>
                <a:lnTo>
                  <a:pt x="1382486" y="665803"/>
                </a:lnTo>
                <a:lnTo>
                  <a:pt x="1382486" y="666000"/>
                </a:lnTo>
                <a:lnTo>
                  <a:pt x="0" y="666000"/>
                </a:lnTo>
                <a:close/>
              </a:path>
            </a:pathLst>
          </a:custGeom>
          <a:gradFill>
            <a:gsLst>
              <a:gs pos="100000">
                <a:schemeClr val="accent4"/>
              </a:gs>
              <a:gs pos="8000">
                <a:srgbClr val="0167AB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 sz="2263"/>
          </a:p>
        </p:txBody>
      </p:sp>
      <p:sp>
        <p:nvSpPr>
          <p:cNvPr id="33" name="Google Shape;14;p31">
            <a:extLst>
              <a:ext uri="{FF2B5EF4-FFF2-40B4-BE49-F238E27FC236}">
                <a16:creationId xmlns:a16="http://schemas.microsoft.com/office/drawing/2014/main" id="{273032A6-EBE9-0147-F9C2-495CA12FDE28}"/>
              </a:ext>
            </a:extLst>
          </p:cNvPr>
          <p:cNvSpPr/>
          <p:nvPr userDrawn="1"/>
        </p:nvSpPr>
        <p:spPr>
          <a:xfrm>
            <a:off x="5516123" y="7220572"/>
            <a:ext cx="4572000" cy="1077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700" b="0" i="0" u="none" strike="noStrike" cap="none" dirty="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Copyright© M＆A Succession Group Inc. All Right Reserved</a:t>
            </a:r>
            <a:endParaRPr sz="700" b="0" i="0" u="none" strike="noStrike" cap="none" dirty="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283DDC2C-ECEE-530D-9F1C-6564A5A2BAB9}"/>
              </a:ext>
            </a:extLst>
          </p:cNvPr>
          <p:cNvSpPr/>
          <p:nvPr userDrawn="1"/>
        </p:nvSpPr>
        <p:spPr>
          <a:xfrm>
            <a:off x="6933143" y="7209190"/>
            <a:ext cx="640572" cy="144000"/>
          </a:xfrm>
          <a:prstGeom prst="rect">
            <a:avLst/>
          </a:prstGeom>
          <a:noFill/>
          <a:ln w="63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kumimoji="1" lang="en-US" altLang="ja-JP" sz="800" i="1" dirty="0">
                <a:solidFill>
                  <a:schemeClr val="accent1"/>
                </a:solidFill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26275575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4309">
          <p15:clr>
            <a:srgbClr val="FBAE40"/>
          </p15:clr>
        </p15:guide>
        <p15:guide id="3" pos="215">
          <p15:clr>
            <a:srgbClr val="A4A3A4"/>
          </p15:clr>
        </p15:guide>
        <p15:guide id="4" pos="6520">
          <p15:clr>
            <a:srgbClr val="A4A3A4"/>
          </p15:clr>
        </p15:guide>
        <p15:guide id="5" pos="283">
          <p15:clr>
            <a:srgbClr val="FBAE40"/>
          </p15:clr>
        </p15:guide>
        <p15:guide id="6" pos="6452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表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絵と文字の加工写真&#10;&#10;AI 生成コンテンツは誤りを含む可能性があります。">
            <a:extLst>
              <a:ext uri="{FF2B5EF4-FFF2-40B4-BE49-F238E27FC236}">
                <a16:creationId xmlns:a16="http://schemas.microsoft.com/office/drawing/2014/main" id="{995F6558-5E48-7ACD-5E2F-54EE4A6825B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519"/>
            <a:ext cx="10691813" cy="7558636"/>
          </a:xfrm>
          <a:prstGeom prst="rect">
            <a:avLst/>
          </a:prstGeom>
        </p:spPr>
      </p:pic>
      <p:sp>
        <p:nvSpPr>
          <p:cNvPr id="6" name="タイトル 1">
            <a:extLst>
              <a:ext uri="{FF2B5EF4-FFF2-40B4-BE49-F238E27FC236}">
                <a16:creationId xmlns:a16="http://schemas.microsoft.com/office/drawing/2014/main" id="{7D824756-0531-3BBA-09FB-CC8ACB55A3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5526" y="3467606"/>
            <a:ext cx="9221787" cy="73866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lvl1pPr>
              <a:lnSpc>
                <a:spcPct val="100000"/>
              </a:lnSpc>
              <a:defRPr lang="ja-JP" altLang="en-US" sz="4800" b="1" spc="200">
                <a:latin typeface="+mj-lt"/>
                <a:cs typeface="+mn-cs"/>
              </a:defRPr>
            </a:lvl1pPr>
          </a:lstStyle>
          <a:p>
            <a:pPr marL="0" lvl="0" defTabSz="503972"/>
            <a:r>
              <a:rPr kumimoji="1" lang="ja-JP" altLang="en-US" dirty="0"/>
              <a:t>マスター タイトルの書式設定</a:t>
            </a:r>
          </a:p>
        </p:txBody>
      </p:sp>
      <p:pic>
        <p:nvPicPr>
          <p:cNvPr id="4" name="図 3" descr="図形&#10;&#10;中程度の精度で自動的に生成された説明">
            <a:extLst>
              <a:ext uri="{FF2B5EF4-FFF2-40B4-BE49-F238E27FC236}">
                <a16:creationId xmlns:a16="http://schemas.microsoft.com/office/drawing/2014/main" id="{DF75B97B-7722-5333-1DF6-425BD31B0F0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7898" y="641817"/>
            <a:ext cx="2996516" cy="594316"/>
          </a:xfrm>
          <a:prstGeom prst="rect">
            <a:avLst/>
          </a:prstGeom>
        </p:spPr>
      </p:pic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E7F2AB3F-4E5C-EEA1-723A-7D941C02D057}"/>
              </a:ext>
            </a:extLst>
          </p:cNvPr>
          <p:cNvSpPr/>
          <p:nvPr userDrawn="1"/>
        </p:nvSpPr>
        <p:spPr>
          <a:xfrm>
            <a:off x="-1" y="-1"/>
            <a:ext cx="108000" cy="7560000"/>
          </a:xfrm>
          <a:prstGeom prst="rect">
            <a:avLst/>
          </a:prstGeom>
          <a:gradFill>
            <a:gsLst>
              <a:gs pos="100000">
                <a:schemeClr val="accent4"/>
              </a:gs>
              <a:gs pos="17000">
                <a:schemeClr val="tx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263"/>
          </a:p>
        </p:txBody>
      </p:sp>
    </p:spTree>
    <p:extLst>
      <p:ext uri="{BB962C8B-B14F-4D97-AF65-F5344CB8AC3E}">
        <p14:creationId xmlns:p14="http://schemas.microsoft.com/office/powerpoint/2010/main" val="2111189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585421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</p:sldLayoutIdLst>
  <p:txStyles>
    <p:titleStyle>
      <a:lvl1pPr algn="l" defTabSz="1007943" rtl="0" eaLnBrk="1" latinLnBrk="0" hangingPunct="1">
        <a:lnSpc>
          <a:spcPct val="90000"/>
        </a:lnSpc>
        <a:spcBef>
          <a:spcPct val="0"/>
        </a:spcBef>
        <a:buNone/>
        <a:defRPr kumimoji="1" sz="48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1986" indent="-251986" algn="l" defTabSz="1007943" rtl="0" eaLnBrk="1" latinLnBrk="0" hangingPunct="1">
        <a:lnSpc>
          <a:spcPct val="90000"/>
        </a:lnSpc>
        <a:spcBef>
          <a:spcPts val="1102"/>
        </a:spcBef>
        <a:buFont typeface="Arial" panose="020B0604020202020204" pitchFamily="34" charset="0"/>
        <a:buChar char="•"/>
        <a:defRPr kumimoji="1" sz="3086" kern="1200">
          <a:solidFill>
            <a:schemeClr val="tx1"/>
          </a:solidFill>
          <a:latin typeface="+mn-lt"/>
          <a:ea typeface="+mn-ea"/>
          <a:cs typeface="+mn-cs"/>
        </a:defRPr>
      </a:lvl1pPr>
      <a:lvl2pPr marL="755957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kumimoji="1" sz="2646" kern="1200">
          <a:solidFill>
            <a:schemeClr val="tx1"/>
          </a:solidFill>
          <a:latin typeface="+mn-lt"/>
          <a:ea typeface="+mn-ea"/>
          <a:cs typeface="+mn-cs"/>
        </a:defRPr>
      </a:lvl2pPr>
      <a:lvl3pPr marL="1259929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kumimoji="1" sz="2205" kern="1200">
          <a:solidFill>
            <a:schemeClr val="tx1"/>
          </a:solidFill>
          <a:latin typeface="+mn-lt"/>
          <a:ea typeface="+mn-ea"/>
          <a:cs typeface="+mn-cs"/>
        </a:defRPr>
      </a:lvl3pPr>
      <a:lvl4pPr marL="1763900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kumimoji="1"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267872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kumimoji="1"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771844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kumimoji="1"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275815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kumimoji="1"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779787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kumimoji="1"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283758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kumimoji="1" sz="198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1007943" rtl="0" eaLnBrk="1" latinLnBrk="0" hangingPunct="1">
        <a:defRPr kumimoji="1" sz="1984" kern="1200">
          <a:solidFill>
            <a:schemeClr val="tx1"/>
          </a:solidFill>
          <a:latin typeface="+mn-lt"/>
          <a:ea typeface="+mn-ea"/>
          <a:cs typeface="+mn-cs"/>
        </a:defRPr>
      </a:lvl1pPr>
      <a:lvl2pPr marL="503972" algn="l" defTabSz="1007943" rtl="0" eaLnBrk="1" latinLnBrk="0" hangingPunct="1">
        <a:defRPr kumimoji="1"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1007943" algn="l" defTabSz="1007943" rtl="0" eaLnBrk="1" latinLnBrk="0" hangingPunct="1">
        <a:defRPr kumimoji="1" sz="1984" kern="1200">
          <a:solidFill>
            <a:schemeClr val="tx1"/>
          </a:solidFill>
          <a:latin typeface="+mn-lt"/>
          <a:ea typeface="+mn-ea"/>
          <a:cs typeface="+mn-cs"/>
        </a:defRPr>
      </a:lvl3pPr>
      <a:lvl4pPr marL="1511915" algn="l" defTabSz="1007943" rtl="0" eaLnBrk="1" latinLnBrk="0" hangingPunct="1">
        <a:defRPr kumimoji="1"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015886" algn="l" defTabSz="1007943" rtl="0" eaLnBrk="1" latinLnBrk="0" hangingPunct="1">
        <a:defRPr kumimoji="1"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519858" algn="l" defTabSz="1007943" rtl="0" eaLnBrk="1" latinLnBrk="0" hangingPunct="1">
        <a:defRPr kumimoji="1"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023829" algn="l" defTabSz="1007943" rtl="0" eaLnBrk="1" latinLnBrk="0" hangingPunct="1">
        <a:defRPr kumimoji="1"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527801" algn="l" defTabSz="1007943" rtl="0" eaLnBrk="1" latinLnBrk="0" hangingPunct="1">
        <a:defRPr kumimoji="1"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031772" algn="l" defTabSz="1007943" rtl="0" eaLnBrk="1" latinLnBrk="0" hangingPunct="1">
        <a:defRPr kumimoji="1" sz="198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5894F5CC-4DF5-041B-4E72-C602B3C0703B}"/>
              </a:ext>
            </a:extLst>
          </p:cNvPr>
          <p:cNvSpPr/>
          <p:nvPr/>
        </p:nvSpPr>
        <p:spPr>
          <a:xfrm>
            <a:off x="3710915" y="314786"/>
            <a:ext cx="3269982" cy="256714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  <a:cs typeface="Arial" panose="020B0604020202020204" pitchFamily="34" charset="0"/>
              </a:rPr>
              <a:t>【</a:t>
            </a:r>
            <a:r>
              <a:rPr kumimoji="0" lang="ja-JP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  <a:cs typeface="Arial" panose="020B0604020202020204" pitchFamily="34" charset="0"/>
              </a:rPr>
              <a:t>社内用プロセスレター</a:t>
            </a:r>
            <a:r>
              <a:rPr kumimoji="0" lang="en-US" altLang="ja-JP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  <a:cs typeface="Arial" panose="020B0604020202020204" pitchFamily="34" charset="0"/>
              </a:rPr>
              <a:t>】</a:t>
            </a:r>
            <a:endParaRPr kumimoji="0" lang="ja-JP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游ゴシック" panose="020B0400000000000000" pitchFamily="50" charset="-128"/>
              <a:ea typeface="游ゴシック" panose="020B0400000000000000" pitchFamily="50" charset="-128"/>
              <a:cs typeface="Arial" panose="020B0604020202020204" pitchFamily="34" charset="0"/>
            </a:endParaRP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3074851E-39B6-6456-121D-485404B3BE69}"/>
              </a:ext>
            </a:extLst>
          </p:cNvPr>
          <p:cNvSpPr/>
          <p:nvPr/>
        </p:nvSpPr>
        <p:spPr>
          <a:xfrm>
            <a:off x="308179" y="666750"/>
            <a:ext cx="5235371" cy="6743866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000" b="1" i="0" u="sng" strike="noStrike" kern="1200" cap="none" spc="0" normalizeH="0" baseline="0" noProof="0" dirty="0">
                <a:ln>
                  <a:noFill/>
                </a:ln>
                <a:solidFill>
                  <a:srgbClr val="E97132">
                    <a:lumMod val="75000"/>
                  </a:srgbClr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 xml:space="preserve">1. 案件概要</a:t>
            </a:r>
            <a:endParaRPr kumimoji="0" lang="ja-JP" altLang="en-US" sz="1000" b="1" i="0" u="sng" strike="noStrike" kern="1200" cap="none" spc="0" normalizeH="0" baseline="0" noProof="0" dirty="0">
              <a:ln>
                <a:noFill/>
              </a:ln>
              <a:solidFill>
                <a:srgbClr val="E97132">
                  <a:lumMod val="75000"/>
                </a:srgbClr>
              </a:solidFill>
              <a:effectLst/>
              <a:uLnTx/>
              <a:uFillTx/>
              <a:latin typeface="+mj-ea"/>
              <a:ea typeface="+mj-ea"/>
              <a:cs typeface="+mn-cs"/>
            </a:endParaRPr>
          </a:p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ea"/>
              <a:ea typeface="+mj-ea"/>
              <a:cs typeface="+mn-cs"/>
            </a:endParaRPr>
          </a:p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 xml:space="preserve">(1) 対象会社　・株式会社カナリア（東京都台東区／2014年2月設立）</a:t>
            </a:r>
            <a:endParaRPr kumimoji="0" lang="ja-JP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ea"/>
              <a:ea typeface="+mj-ea"/>
              <a:cs typeface="+mn-cs"/>
            </a:endParaRPr>
          </a:p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ea"/>
              <a:ea typeface="+mj-ea"/>
              <a:cs typeface="+mn-cs"/>
            </a:endParaRPr>
          </a:p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 xml:space="preserve">(2) 想定取引形態　・非事業用資産を会社分割で切出し後、100％株式譲渡</a:t>
            </a:r>
            <a:endParaRPr kumimoji="0" lang="ja-JP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ea"/>
              <a:ea typeface="+mj-ea"/>
              <a:cs typeface="+mn-cs"/>
            </a:endParaRPr>
          </a:p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ea"/>
              <a:ea typeface="+mj-ea"/>
              <a:cs typeface="+mn-cs"/>
            </a:endParaRPr>
          </a:p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 xml:space="preserve">(3) 譲渡対象　・対象会社の全事業</a:t>
            </a:r>
            <a:endParaRPr kumimoji="0" lang="ja-JP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ea"/>
              <a:ea typeface="+mj-ea"/>
              <a:cs typeface="+mn-cs"/>
            </a:endParaRPr>
          </a:p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 xml:space="preserve">　　　　　　　（キャラクターグッズ企画・製造販売／OEM受託事業）</a:t>
            </a:r>
            <a:endParaRPr kumimoji="0" lang="ja-JP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ea"/>
              <a:ea typeface="+mj-ea"/>
              <a:cs typeface="+mn-cs"/>
            </a:endParaRPr>
          </a:p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 xml:space="preserve">　　　　　　　※非事業用資産は新設会社へ承継（譲渡対象外）</a:t>
            </a:r>
            <a:endParaRPr kumimoji="0" lang="ja-JP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ea"/>
              <a:ea typeface="+mj-ea"/>
              <a:cs typeface="+mn-cs"/>
            </a:endParaRPr>
          </a:p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ea"/>
              <a:ea typeface="+mj-ea"/>
              <a:cs typeface="+mn-cs"/>
            </a:endParaRPr>
          </a:p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 xml:space="preserve">(4) 売主の希望条件</a:t>
            </a:r>
            <a:endParaRPr kumimoji="0" lang="ja-JP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ea"/>
              <a:ea typeface="+mj-ea"/>
              <a:cs typeface="+mn-cs"/>
            </a:endParaRPr>
          </a:p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 xml:space="preserve">　■希望譲渡価格　　　　　　　　：応相談</a:t>
            </a:r>
            <a:endParaRPr kumimoji="0" lang="ja-JP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ea"/>
              <a:ea typeface="+mj-ea"/>
              <a:cs typeface="+mn-cs"/>
            </a:endParaRPr>
          </a:p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 xml:space="preserve">　■買手候補に期待するシナジー　：販路拡大、IP・商材の多様化（要確認）</a:t>
            </a:r>
            <a:endParaRPr kumimoji="0" lang="ja-JP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ea"/>
              <a:ea typeface="+mj-ea"/>
              <a:cs typeface="+mn-cs"/>
            </a:endParaRPr>
          </a:p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 xml:space="preserve">　■社長等、役員の処遇　　　　　：野口社長は7年程度の継続勤務が可能</a:t>
            </a:r>
            <a:endParaRPr kumimoji="0" lang="ja-JP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ea"/>
              <a:ea typeface="+mj-ea"/>
              <a:cs typeface="+mn-cs"/>
            </a:endParaRPr>
          </a:p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 xml:space="preserve">　　　　　　　　　　　　　　　　　（譲渡後55歳まで）</a:t>
            </a:r>
            <a:endParaRPr kumimoji="0" lang="ja-JP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ea"/>
              <a:ea typeface="+mj-ea"/>
              <a:cs typeface="+mn-cs"/>
            </a:endParaRPr>
          </a:p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 xml:space="preserve">　　　　　　　　　　　　　　　　：他役員2名（業務関与なし）は退任予定</a:t>
            </a:r>
            <a:endParaRPr kumimoji="0" lang="ja-JP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ea"/>
              <a:ea typeface="+mj-ea"/>
              <a:cs typeface="+mn-cs"/>
            </a:endParaRPr>
          </a:p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 xml:space="preserve">　■従業員の処遇　　　　　　　　：正社員7名の継続雇用</a:t>
            </a:r>
            <a:endParaRPr kumimoji="0" lang="ja-JP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ea"/>
              <a:ea typeface="+mj-ea"/>
              <a:cs typeface="+mn-cs"/>
            </a:endParaRPr>
          </a:p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 xml:space="preserve">　■取引実行にあたっての前提条件：会社分割の完了（SPA締結後1〜2ヶ月）</a:t>
            </a:r>
            <a:endParaRPr kumimoji="0" lang="ja-JP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ea"/>
              <a:ea typeface="+mj-ea"/>
              <a:cs typeface="+mn-cs"/>
            </a:endParaRPr>
          </a:p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 xml:space="preserve">　　　　　　　　　　　　　　　　：代表者の連帯保証の解除</a:t>
            </a:r>
            <a:endParaRPr kumimoji="0" lang="ja-JP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ea"/>
              <a:ea typeface="+mj-ea"/>
              <a:cs typeface="+mn-cs"/>
            </a:endParaRPr>
          </a:p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ea"/>
              <a:ea typeface="+mj-ea"/>
              <a:cs typeface="+mn-cs"/>
            </a:endParaRPr>
          </a:p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 xml:space="preserve">(5) その他</a:t>
            </a:r>
            <a:endParaRPr kumimoji="0" lang="ja-JP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ea"/>
              <a:ea typeface="+mj-ea"/>
              <a:cs typeface="+mn-cs"/>
            </a:endParaRPr>
          </a:p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 xml:space="preserve">１　譲渡理由</a:t>
            </a:r>
            <a:endParaRPr kumimoji="0" lang="ja-JP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ea"/>
              <a:ea typeface="+mj-ea"/>
              <a:cs typeface="+mn-cs"/>
            </a:endParaRPr>
          </a:p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 xml:space="preserve">　　　　　　　　　　　　：後継者不在、更なる事業の発展</a:t>
            </a:r>
            <a:endParaRPr kumimoji="0" lang="ja-JP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ea"/>
              <a:ea typeface="+mj-ea"/>
              <a:cs typeface="+mn-cs"/>
            </a:endParaRPr>
          </a:p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 xml:space="preserve">２　表明保証内容及び損害賠償上限の希望</a:t>
            </a:r>
            <a:endParaRPr kumimoji="0" lang="ja-JP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ea"/>
              <a:ea typeface="+mj-ea"/>
              <a:cs typeface="+mn-cs"/>
            </a:endParaRPr>
          </a:p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 xml:space="preserve">　　　　　　　　　　　　：要協議</a:t>
            </a:r>
            <a:endParaRPr kumimoji="0" lang="ja-JP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ea"/>
              <a:ea typeface="+mj-ea"/>
              <a:cs typeface="+mn-cs"/>
            </a:endParaRPr>
          </a:p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 xml:space="preserve">３　キーマンへの開示状況及び今後の開示方針</a:t>
            </a:r>
            <a:endParaRPr kumimoji="0" lang="ja-JP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ea"/>
              <a:ea typeface="+mj-ea"/>
              <a:cs typeface="+mn-cs"/>
            </a:endParaRPr>
          </a:p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 xml:space="preserve">　　　　　　　　　　　　：キーマンは制作部長（勤続12年）。開示は確認中</a:t>
            </a:r>
            <a:endParaRPr kumimoji="0" lang="ja-JP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ea"/>
              <a:ea typeface="+mj-ea"/>
              <a:cs typeface="+mn-cs"/>
            </a:endParaRPr>
          </a:p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 xml:space="preserve">４　株主、取締役、従業員との間の貸借及び取引状況</a:t>
            </a:r>
            <a:endParaRPr kumimoji="0" lang="ja-JP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ea"/>
              <a:ea typeface="+mj-ea"/>
              <a:cs typeface="+mn-cs"/>
            </a:endParaRPr>
          </a:p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 xml:space="preserve">　　　　　　　　　　　　：役員貸借の計上なし。車両2台は要確認</a:t>
            </a:r>
            <a:endParaRPr kumimoji="0" lang="ja-JP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ea"/>
              <a:ea typeface="+mj-ea"/>
              <a:cs typeface="+mn-cs"/>
            </a:endParaRPr>
          </a:p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 xml:space="preserve">５　個人資産への抵当権、個人保証などの存在及び対応方針</a:t>
            </a:r>
            <a:endParaRPr kumimoji="0" lang="ja-JP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ea"/>
              <a:ea typeface="+mj-ea"/>
              <a:cs typeface="+mn-cs"/>
            </a:endParaRPr>
          </a:p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 xml:space="preserve">　　　　　　　　　　　　：金融機関債務（187,808千円）の連帯保証あり</a:t>
            </a:r>
            <a:endParaRPr kumimoji="0" lang="ja-JP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ea"/>
              <a:ea typeface="+mj-ea"/>
              <a:cs typeface="+mn-cs"/>
            </a:endParaRPr>
          </a:p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 xml:space="preserve">６　 COC等の存在及び対応方針</a:t>
            </a:r>
            <a:endParaRPr kumimoji="0" lang="ja-JP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ea"/>
              <a:ea typeface="+mj-ea"/>
              <a:cs typeface="+mn-cs"/>
            </a:endParaRPr>
          </a:p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 xml:space="preserve">　　　　　　　　　　　　：商品化許諾契約の支配権変動条項は要確認</a:t>
            </a:r>
            <a:endParaRPr kumimoji="0" lang="ja-JP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ea"/>
              <a:ea typeface="+mj-ea"/>
              <a:cs typeface="+mn-cs"/>
            </a:endParaRPr>
          </a:p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 xml:space="preserve">７　一般表明保証抵触可能性のある事項及び対応方針</a:t>
            </a:r>
            <a:endParaRPr kumimoji="0" lang="ja-JP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ea"/>
              <a:ea typeface="+mj-ea"/>
              <a:cs typeface="+mn-cs"/>
            </a:endParaRPr>
          </a:p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 xml:space="preserve">　　　　　　　　　　　　：精査・確認中</a:t>
            </a:r>
            <a:endParaRPr kumimoji="0" lang="ja-JP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ea"/>
              <a:ea typeface="+mj-ea"/>
              <a:cs typeface="+mn-cs"/>
            </a:endParaRPr>
          </a:p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 xml:space="preserve">８　株式の状況</a:t>
            </a:r>
            <a:endParaRPr kumimoji="0" lang="ja-JP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ea"/>
              <a:ea typeface="+mj-ea"/>
              <a:cs typeface="+mn-cs"/>
            </a:endParaRPr>
          </a:p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 xml:space="preserve">　　　　　　　　　　　　：発行済1,000株（野口紘氏100.0％）</a:t>
            </a:r>
            <a:endParaRPr kumimoji="0" lang="ja-JP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ea"/>
              <a:ea typeface="+mj-ea"/>
              <a:cs typeface="+mn-cs"/>
            </a:endParaRPr>
          </a:p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 xml:space="preserve">　　　　　　　　　　　　：株券発行状況は要確認</a:t>
            </a:r>
            <a:endParaRPr kumimoji="0" lang="ja-JP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ea"/>
              <a:ea typeface="+mj-ea"/>
              <a:cs typeface="+mn-cs"/>
            </a:endParaRPr>
          </a:p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 xml:space="preserve">９　保有資産の瑕疵の有無</a:t>
            </a:r>
            <a:endParaRPr kumimoji="0" lang="ja-JP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ea"/>
              <a:ea typeface="+mj-ea"/>
              <a:cs typeface="+mn-cs"/>
            </a:endParaRPr>
          </a:p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 xml:space="preserve">　　　　　　　　　　　　：精査・確認中（保有設備は少額）</a:t>
            </a:r>
            <a:endParaRPr kumimoji="0" lang="ja-JP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ea"/>
              <a:ea typeface="+mj-ea"/>
              <a:cs typeface="+mn-cs"/>
            </a:endParaRPr>
          </a:p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 xml:space="preserve">10　競合他社仲介、直接交渉等の状況</a:t>
            </a:r>
            <a:endParaRPr kumimoji="0" lang="ja-JP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ea"/>
              <a:ea typeface="+mj-ea"/>
              <a:cs typeface="+mn-cs"/>
            </a:endParaRPr>
          </a:p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 xml:space="preserve">　　　　　　　　　　　　：確認中</a:t>
            </a:r>
            <a:endParaRPr kumimoji="0" lang="ja-JP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ea"/>
              <a:ea typeface="+mj-ea"/>
              <a:cs typeface="+mn-cs"/>
            </a:endParaRP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CF3F5444-CAFE-B8FD-7822-848EB8F064D5}"/>
              </a:ext>
            </a:extLst>
          </p:cNvPr>
          <p:cNvSpPr/>
          <p:nvPr/>
        </p:nvSpPr>
        <p:spPr>
          <a:xfrm>
            <a:off x="5676551" y="882505"/>
            <a:ext cx="4829523" cy="6023263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000" b="1" i="0" u="sng" strike="noStrike" kern="1200" cap="none" spc="0" normalizeH="0" baseline="0" noProof="0" dirty="0">
                <a:ln>
                  <a:noFill/>
                </a:ln>
                <a:solidFill>
                  <a:srgbClr val="E97132">
                    <a:lumMod val="75000"/>
                  </a:srgbClr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 xml:space="preserve">2．論点に対するディールシナリオ</a:t>
            </a:r>
            <a:endParaRPr kumimoji="0" lang="ja-JP" altLang="en-US" sz="1000" b="1" i="0" u="sng" strike="noStrike" kern="1200" cap="none" spc="0" normalizeH="0" baseline="0" noProof="0" dirty="0">
              <a:ln>
                <a:noFill/>
              </a:ln>
              <a:solidFill>
                <a:srgbClr val="E97132">
                  <a:lumMod val="75000"/>
                </a:srgbClr>
              </a:solidFill>
              <a:effectLst/>
              <a:uLnTx/>
              <a:uFillTx/>
              <a:latin typeface="+mj-ea"/>
              <a:ea typeface="+mj-ea"/>
              <a:cs typeface="+mn-cs"/>
            </a:endParaRPr>
          </a:p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ea"/>
              <a:ea typeface="+mj-ea"/>
              <a:cs typeface="+mn-cs"/>
            </a:endParaRPr>
          </a:p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 xml:space="preserve">【論点】</a:t>
            </a:r>
            <a:endParaRPr kumimoji="0" lang="ja-JP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ea"/>
              <a:ea typeface="+mj-ea"/>
              <a:cs typeface="+mn-cs"/>
            </a:endParaRPr>
          </a:p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 xml:space="preserve">　①主要顧客への依存（2026年1月期はセガ社が47.8％）</a:t>
            </a:r>
            <a:endParaRPr kumimoji="0" lang="ja-JP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ea"/>
              <a:ea typeface="+mj-ea"/>
              <a:cs typeface="+mn-cs"/>
            </a:endParaRPr>
          </a:p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 xml:space="preserve">　②会社分割の実行（分割形態・対象範囲は要協議）</a:t>
            </a:r>
            <a:endParaRPr kumimoji="0" lang="ja-JP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ea"/>
              <a:ea typeface="+mj-ea"/>
              <a:cs typeface="+mn-cs"/>
            </a:endParaRPr>
          </a:p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 xml:space="preserve">　③業績の変動性（IPごとの需要波、輸出売上の反落）</a:t>
            </a:r>
            <a:endParaRPr kumimoji="0" lang="ja-JP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ea"/>
              <a:ea typeface="+mj-ea"/>
              <a:cs typeface="+mn-cs"/>
            </a:endParaRPr>
          </a:p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 xml:space="preserve">　④野口社長への属人性（OEM窓口・見積を代表が担当）</a:t>
            </a:r>
            <a:endParaRPr kumimoji="0" lang="ja-JP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ea"/>
              <a:ea typeface="+mj-ea"/>
              <a:cs typeface="+mn-cs"/>
            </a:endParaRPr>
          </a:p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 xml:space="preserve">　⑤棚卸資産廃棄損が毎期発生（2026年1月期19,845千円）</a:t>
            </a:r>
            <a:endParaRPr kumimoji="0" lang="ja-JP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ea"/>
              <a:ea typeface="+mj-ea"/>
              <a:cs typeface="+mn-cs"/>
            </a:endParaRPr>
          </a:p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 xml:space="preserve">　⑥現預金193百万円・借入金188百万円を残置</a:t>
            </a:r>
            <a:endParaRPr kumimoji="0" lang="ja-JP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ea"/>
              <a:ea typeface="+mj-ea"/>
              <a:cs typeface="+mn-cs"/>
            </a:endParaRPr>
          </a:p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ea"/>
              <a:ea typeface="+mj-ea"/>
              <a:cs typeface="+mn-cs"/>
            </a:endParaRPr>
          </a:p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 xml:space="preserve">【対応方針】</a:t>
            </a:r>
            <a:endParaRPr kumimoji="0" lang="ja-JP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ea"/>
              <a:ea typeface="+mj-ea"/>
              <a:cs typeface="+mn-cs"/>
            </a:endParaRPr>
          </a:p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 xml:space="preserve">　①IPホルダー・取次の取引基盤を活かせる先とマッチング</a:t>
            </a:r>
            <a:endParaRPr kumimoji="0" lang="ja-JP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ea"/>
              <a:ea typeface="+mj-ea"/>
              <a:cs typeface="+mn-cs"/>
            </a:endParaRPr>
          </a:p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 xml:space="preserve">　②適格要件を踏まえ分割形態を早期確定。SPAの前提条件化</a:t>
            </a:r>
            <a:endParaRPr kumimoji="0" lang="ja-JP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ea"/>
              <a:ea typeface="+mj-ea"/>
              <a:cs typeface="+mn-cs"/>
            </a:endParaRPr>
          </a:p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 xml:space="preserve">　③受注型OEMと自社くじ商材で収益分散、3期平均で説明</a:t>
            </a:r>
            <a:endParaRPr kumimoji="0" lang="ja-JP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ea"/>
              <a:ea typeface="+mj-ea"/>
              <a:cs typeface="+mn-cs"/>
            </a:endParaRPr>
          </a:p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 xml:space="preserve">　④社長は7年程度の継続勤務が可能。営業窓口を移管</a:t>
            </a:r>
            <a:endParaRPr kumimoji="0" lang="ja-JP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ea"/>
              <a:ea typeface="+mj-ea"/>
              <a:cs typeface="+mn-cs"/>
            </a:endParaRPr>
          </a:p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 xml:space="preserve">　⑤廃棄損は構造的費用として営業費用へ振替え評価</a:t>
            </a:r>
            <a:endParaRPr kumimoji="0" lang="ja-JP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ea"/>
              <a:ea typeface="+mj-ea"/>
              <a:cs typeface="+mn-cs"/>
            </a:endParaRPr>
          </a:p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 xml:space="preserve">　⑥ネットキャッシュ＋5,418千円。連帯保証は解除</a:t>
            </a:r>
            <a:endParaRPr kumimoji="0" lang="ja-JP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ea"/>
              <a:ea typeface="+mj-ea"/>
              <a:cs typeface="+mn-cs"/>
            </a:endParaRPr>
          </a:p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ea"/>
              <a:ea typeface="+mj-ea"/>
              <a:cs typeface="+mn-cs"/>
            </a:endParaRPr>
          </a:p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000" b="1" i="0" u="sng" strike="noStrike" kern="1200" cap="none" spc="0" normalizeH="0" baseline="0" noProof="0" dirty="0">
                <a:ln>
                  <a:noFill/>
                </a:ln>
                <a:solidFill>
                  <a:srgbClr val="E97132">
                    <a:lumMod val="75000"/>
                  </a:srgbClr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 xml:space="preserve">3. マッチング方針</a:t>
            </a:r>
            <a:endParaRPr kumimoji="0" lang="ja-JP" altLang="en-US" sz="1000" b="1" i="0" u="sng" strike="noStrike" kern="1200" cap="none" spc="0" normalizeH="0" baseline="0" noProof="0" dirty="0">
              <a:ln>
                <a:noFill/>
              </a:ln>
              <a:solidFill>
                <a:srgbClr val="E97132">
                  <a:lumMod val="75000"/>
                </a:srgbClr>
              </a:solidFill>
              <a:effectLst/>
              <a:uLnTx/>
              <a:uFillTx/>
              <a:latin typeface="+mj-ea"/>
              <a:ea typeface="+mj-ea"/>
              <a:cs typeface="+mn-cs"/>
            </a:endParaRPr>
          </a:p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ea"/>
              <a:ea typeface="+mj-ea"/>
              <a:cs typeface="+mn-cs"/>
            </a:endParaRPr>
          </a:p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 xml:space="preserve">■案件ランク　：</a:t>
            </a:r>
            <a:endParaRPr kumimoji="0" lang="ja-JP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ea"/>
              <a:ea typeface="+mj-ea"/>
              <a:cs typeface="+mn-cs"/>
            </a:endParaRPr>
          </a:p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 xml:space="preserve">■NG先　　　　：確認中（主要販売先・版権元は要相談）</a:t>
            </a:r>
            <a:endParaRPr kumimoji="0" lang="ja-JP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ea"/>
              <a:ea typeface="+mj-ea"/>
              <a:cs typeface="+mn-cs"/>
            </a:endParaRPr>
          </a:p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 xml:space="preserve">■売主の希望　：確認中</a:t>
            </a:r>
            <a:endParaRPr kumimoji="0" lang="ja-JP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ea"/>
              <a:ea typeface="+mj-ea"/>
              <a:cs typeface="+mn-cs"/>
            </a:endParaRPr>
          </a:p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 xml:space="preserve">■優先先　　　：玩具・雑貨、ホビー、アニメIP関連、</a:t>
            </a:r>
            <a:endParaRPr kumimoji="0" lang="ja-JP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ea"/>
              <a:ea typeface="+mj-ea"/>
              <a:cs typeface="+mn-cs"/>
            </a:endParaRPr>
          </a:p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 xml:space="preserve">　　　　　　　　EC・流通、OEM商社</a:t>
            </a:r>
            <a:endParaRPr kumimoji="0" lang="ja-JP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ea"/>
              <a:ea typeface="+mj-ea"/>
              <a:cs typeface="+mn-cs"/>
            </a:endParaRPr>
          </a:p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 xml:space="preserve">■Batonzの利用：確認中</a:t>
            </a:r>
            <a:endParaRPr kumimoji="0" lang="ja-JP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ea"/>
              <a:ea typeface="+mj-ea"/>
              <a:cs typeface="+mn-cs"/>
            </a:endParaRPr>
          </a:p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ea"/>
              <a:ea typeface="+mj-ea"/>
              <a:cs typeface="+mn-cs"/>
            </a:endParaRPr>
          </a:p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000" b="1" i="0" u="sng" strike="noStrike" kern="1200" cap="none" spc="0" normalizeH="0" baseline="0" noProof="0" dirty="0">
                <a:ln>
                  <a:noFill/>
                </a:ln>
                <a:solidFill>
                  <a:srgbClr val="E97132">
                    <a:lumMod val="75000"/>
                  </a:srgbClr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 xml:space="preserve">4. スケジュール</a:t>
            </a:r>
            <a:endParaRPr kumimoji="0" lang="ja-JP" altLang="en-US" sz="1000" b="1" i="0" u="sng" strike="noStrike" kern="1200" cap="none" spc="0" normalizeH="0" baseline="0" noProof="0" dirty="0">
              <a:ln>
                <a:noFill/>
              </a:ln>
              <a:solidFill>
                <a:srgbClr val="E97132">
                  <a:lumMod val="75000"/>
                </a:srgbClr>
              </a:solidFill>
              <a:effectLst/>
              <a:uLnTx/>
              <a:uFillTx/>
              <a:latin typeface="+mj-ea"/>
              <a:ea typeface="+mj-ea"/>
              <a:cs typeface="+mn-cs"/>
            </a:endParaRPr>
          </a:p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ea"/>
              <a:ea typeface="+mj-ea"/>
              <a:cs typeface="+mn-cs"/>
            </a:endParaRPr>
          </a:p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 xml:space="preserve">■意向表明書提出期限　現状、特に期限は設けていない</a:t>
            </a:r>
            <a:endParaRPr kumimoji="0" lang="ja-JP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ea"/>
              <a:ea typeface="+mj-ea"/>
              <a:cs typeface="+mn-cs"/>
            </a:endParaRPr>
          </a:p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 xml:space="preserve">■入札結果通知</a:t>
            </a:r>
            <a:endParaRPr kumimoji="0" lang="ja-JP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ea"/>
              <a:ea typeface="+mj-ea"/>
              <a:cs typeface="+mn-cs"/>
            </a:endParaRPr>
          </a:p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 xml:space="preserve">■DD</a:t>
            </a:r>
            <a:endParaRPr kumimoji="0" lang="ja-JP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ea"/>
              <a:ea typeface="+mj-ea"/>
              <a:cs typeface="+mn-cs"/>
            </a:endParaRPr>
          </a:p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 xml:space="preserve">■最終契約締結</a:t>
            </a:r>
            <a:endParaRPr kumimoji="0" lang="ja-JP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ea"/>
              <a:ea typeface="+mj-ea"/>
              <a:cs typeface="+mn-cs"/>
            </a:endParaRPr>
          </a:p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 xml:space="preserve">■会社分割手続　SPA締結後1〜2ヶ月</a:t>
            </a:r>
            <a:endParaRPr kumimoji="0" lang="ja-JP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ea"/>
              <a:ea typeface="+mj-ea"/>
              <a:cs typeface="+mn-cs"/>
            </a:endParaRPr>
          </a:p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 xml:space="preserve">■クロージング</a:t>
            </a:r>
            <a:endParaRPr kumimoji="0" lang="ja-JP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ea"/>
              <a:ea typeface="+mj-ea"/>
              <a:cs typeface="+mn-c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L_2026">
  <a:themeElements>
    <a:clrScheme name="M&amp;A">
      <a:dk1>
        <a:srgbClr val="000000"/>
      </a:dk1>
      <a:lt1>
        <a:srgbClr val="FFFFFF"/>
      </a:lt1>
      <a:dk2>
        <a:srgbClr val="0B3041"/>
      </a:dk2>
      <a:lt2>
        <a:srgbClr val="E3E7E9"/>
      </a:lt2>
      <a:accent1>
        <a:srgbClr val="727F88"/>
      </a:accent1>
      <a:accent2>
        <a:srgbClr val="E1F3FB"/>
      </a:accent2>
      <a:accent3>
        <a:srgbClr val="54CCB3"/>
      </a:accent3>
      <a:accent4>
        <a:srgbClr val="0889C9"/>
      </a:accent4>
      <a:accent5>
        <a:srgbClr val="FFFFFF"/>
      </a:accent5>
      <a:accent6>
        <a:srgbClr val="FFFFFF"/>
      </a:accent6>
      <a:hlink>
        <a:srgbClr val="FFFFFF"/>
      </a:hlink>
      <a:folHlink>
        <a:srgbClr val="FFFFFF"/>
      </a:folHlink>
    </a:clrScheme>
    <a:fontScheme name="游ゴシック&amp;Arial">
      <a:majorFont>
        <a:latin typeface="Arial"/>
        <a:ea typeface="游ゴシック"/>
        <a:cs typeface=""/>
      </a:majorFont>
      <a:minorFont>
        <a:latin typeface="Arial"/>
        <a:ea typeface="游ゴシック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8256</TotalTime>
  <Words>533</Words>
  <Application>Microsoft Office PowerPoint</Application>
  <PresentationFormat>ユーザー設定</PresentationFormat>
  <Paragraphs>69</Paragraphs>
  <Slides>1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Aptos</vt:lpstr>
      <vt:lpstr>Arial</vt:lpstr>
      <vt:lpstr>SL_2026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宮本 健</dc:creator>
  <cp:lastModifiedBy>藤井 聡貴</cp:lastModifiedBy>
  <cp:revision>176</cp:revision>
  <cp:lastPrinted>2026-07-13T08:04:05Z</cp:lastPrinted>
  <dcterms:created xsi:type="dcterms:W3CDTF">2022-11-09T11:25:01Z</dcterms:created>
  <dcterms:modified xsi:type="dcterms:W3CDTF">2026-07-29T06:05:05Z</dcterms:modified>
</cp:coreProperties>
</file>