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sldIdLst>
    <p:sldId id="256" r:id="rId2"/>
  </p:sldIdLst>
  <p:sldSz cx="7559675" cy="10691813"/>
  <p:notesSz cx="6858000" cy="9144000"/>
  <p:defaultTextStyle>
    <a:defPPr>
      <a:defRPr lang="en-US"/>
    </a:defPPr>
    <a:lvl1pPr marL="0" algn="l" defTabSz="497754" rtl="0" eaLnBrk="1" latinLnBrk="0" hangingPunct="1">
      <a:defRPr sz="1960" kern="1200">
        <a:solidFill>
          <a:schemeClr val="tx1"/>
        </a:solidFill>
        <a:latin typeface="+mn-lt"/>
        <a:ea typeface="+mn-ea"/>
        <a:cs typeface="+mn-cs"/>
      </a:defRPr>
    </a:lvl1pPr>
    <a:lvl2pPr marL="497754" algn="l" defTabSz="497754" rtl="0" eaLnBrk="1" latinLnBrk="0" hangingPunct="1">
      <a:defRPr sz="1960" kern="1200">
        <a:solidFill>
          <a:schemeClr val="tx1"/>
        </a:solidFill>
        <a:latin typeface="+mn-lt"/>
        <a:ea typeface="+mn-ea"/>
        <a:cs typeface="+mn-cs"/>
      </a:defRPr>
    </a:lvl2pPr>
    <a:lvl3pPr marL="995507" algn="l" defTabSz="497754" rtl="0" eaLnBrk="1" latinLnBrk="0" hangingPunct="1">
      <a:defRPr sz="1960" kern="1200">
        <a:solidFill>
          <a:schemeClr val="tx1"/>
        </a:solidFill>
        <a:latin typeface="+mn-lt"/>
        <a:ea typeface="+mn-ea"/>
        <a:cs typeface="+mn-cs"/>
      </a:defRPr>
    </a:lvl3pPr>
    <a:lvl4pPr marL="1493261" algn="l" defTabSz="497754" rtl="0" eaLnBrk="1" latinLnBrk="0" hangingPunct="1">
      <a:defRPr sz="1960" kern="1200">
        <a:solidFill>
          <a:schemeClr val="tx1"/>
        </a:solidFill>
        <a:latin typeface="+mn-lt"/>
        <a:ea typeface="+mn-ea"/>
        <a:cs typeface="+mn-cs"/>
      </a:defRPr>
    </a:lvl4pPr>
    <a:lvl5pPr marL="1991015" algn="l" defTabSz="497754" rtl="0" eaLnBrk="1" latinLnBrk="0" hangingPunct="1">
      <a:defRPr sz="1960" kern="1200">
        <a:solidFill>
          <a:schemeClr val="tx1"/>
        </a:solidFill>
        <a:latin typeface="+mn-lt"/>
        <a:ea typeface="+mn-ea"/>
        <a:cs typeface="+mn-cs"/>
      </a:defRPr>
    </a:lvl5pPr>
    <a:lvl6pPr marL="2488768" algn="l" defTabSz="497754" rtl="0" eaLnBrk="1" latinLnBrk="0" hangingPunct="1">
      <a:defRPr sz="1960" kern="1200">
        <a:solidFill>
          <a:schemeClr val="tx1"/>
        </a:solidFill>
        <a:latin typeface="+mn-lt"/>
        <a:ea typeface="+mn-ea"/>
        <a:cs typeface="+mn-cs"/>
      </a:defRPr>
    </a:lvl6pPr>
    <a:lvl7pPr marL="2986522" algn="l" defTabSz="497754" rtl="0" eaLnBrk="1" latinLnBrk="0" hangingPunct="1">
      <a:defRPr sz="1960" kern="1200">
        <a:solidFill>
          <a:schemeClr val="tx1"/>
        </a:solidFill>
        <a:latin typeface="+mn-lt"/>
        <a:ea typeface="+mn-ea"/>
        <a:cs typeface="+mn-cs"/>
      </a:defRPr>
    </a:lvl7pPr>
    <a:lvl8pPr marL="3484275" algn="l" defTabSz="497754" rtl="0" eaLnBrk="1" latinLnBrk="0" hangingPunct="1">
      <a:defRPr sz="1960" kern="1200">
        <a:solidFill>
          <a:schemeClr val="tx1"/>
        </a:solidFill>
        <a:latin typeface="+mn-lt"/>
        <a:ea typeface="+mn-ea"/>
        <a:cs typeface="+mn-cs"/>
      </a:defRPr>
    </a:lvl8pPr>
    <a:lvl9pPr marL="3982029" algn="l" defTabSz="497754" rtl="0" eaLnBrk="1" latinLnBrk="0" hangingPunct="1">
      <a:defRPr sz="196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533" autoAdjust="0"/>
    <p:restoredTop sz="94660"/>
  </p:normalViewPr>
  <p:slideViewPr>
    <p:cSldViewPr snapToGrid="0">
      <p:cViewPr varScale="1">
        <p:scale>
          <a:sx n="46" d="100"/>
          <a:sy n="46" d="100"/>
        </p:scale>
        <p:origin x="2252" y="3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pic>
        <p:nvPicPr>
          <p:cNvPr id="8" name="グラフィックス 7">
            <a:extLst>
              <a:ext uri="{FF2B5EF4-FFF2-40B4-BE49-F238E27FC236}">
                <a16:creationId xmlns:a16="http://schemas.microsoft.com/office/drawing/2014/main" id="{03C1FEC9-08F1-3206-894D-1033108E62B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95288" y="10021028"/>
            <a:ext cx="1625600" cy="322220"/>
          </a:xfrm>
          <a:prstGeom prst="rect">
            <a:avLst/>
          </a:prstGeom>
        </p:spPr>
      </p:pic>
      <p:sp>
        <p:nvSpPr>
          <p:cNvPr id="9" name="Google Shape;14;p31">
            <a:extLst>
              <a:ext uri="{FF2B5EF4-FFF2-40B4-BE49-F238E27FC236}">
                <a16:creationId xmlns:a16="http://schemas.microsoft.com/office/drawing/2014/main" id="{15703526-0016-FB32-A3A0-CBA5E90CA30D}"/>
              </a:ext>
            </a:extLst>
          </p:cNvPr>
          <p:cNvSpPr/>
          <p:nvPr userDrawn="1"/>
        </p:nvSpPr>
        <p:spPr>
          <a:xfrm>
            <a:off x="2592388" y="10155486"/>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10" name="正方形/長方形 9">
            <a:extLst>
              <a:ext uri="{FF2B5EF4-FFF2-40B4-BE49-F238E27FC236}">
                <a16:creationId xmlns:a16="http://schemas.microsoft.com/office/drawing/2014/main" id="{5F2C6A4A-EF53-D838-4D82-21F440B977AB}"/>
              </a:ext>
            </a:extLst>
          </p:cNvPr>
          <p:cNvSpPr/>
          <p:nvPr userDrawn="1"/>
        </p:nvSpPr>
        <p:spPr>
          <a:xfrm>
            <a:off x="4009408" y="10144104"/>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
        <p:nvSpPr>
          <p:cNvPr id="11" name="正方形/長方形 10">
            <a:extLst>
              <a:ext uri="{FF2B5EF4-FFF2-40B4-BE49-F238E27FC236}">
                <a16:creationId xmlns:a16="http://schemas.microsoft.com/office/drawing/2014/main" id="{1E27C258-B171-B306-FCA9-1F991EB4B407}"/>
              </a:ext>
            </a:extLst>
          </p:cNvPr>
          <p:cNvSpPr/>
          <p:nvPr userDrawn="1"/>
        </p:nvSpPr>
        <p:spPr>
          <a:xfrm>
            <a:off x="-1" y="0"/>
            <a:ext cx="7560000"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grpSp>
        <p:nvGrpSpPr>
          <p:cNvPr id="13" name="グループ化 12">
            <a:extLst>
              <a:ext uri="{FF2B5EF4-FFF2-40B4-BE49-F238E27FC236}">
                <a16:creationId xmlns:a16="http://schemas.microsoft.com/office/drawing/2014/main" id="{19BC2D2A-4437-47A2-0981-B11CD292C292}"/>
              </a:ext>
            </a:extLst>
          </p:cNvPr>
          <p:cNvGrpSpPr/>
          <p:nvPr userDrawn="1"/>
        </p:nvGrpSpPr>
        <p:grpSpPr>
          <a:xfrm>
            <a:off x="-1" y="0"/>
            <a:ext cx="252001" cy="666000"/>
            <a:chOff x="-1" y="0"/>
            <a:chExt cx="252001" cy="666000"/>
          </a:xfrm>
        </p:grpSpPr>
        <p:cxnSp>
          <p:nvCxnSpPr>
            <p:cNvPr id="14" name="直線コネクタ 13">
              <a:extLst>
                <a:ext uri="{FF2B5EF4-FFF2-40B4-BE49-F238E27FC236}">
                  <a16:creationId xmlns:a16="http://schemas.microsoft.com/office/drawing/2014/main" id="{30E97B07-01E5-EB36-061D-D92F9275FA5B}"/>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5" name="正方形/長方形 14">
              <a:extLst>
                <a:ext uri="{FF2B5EF4-FFF2-40B4-BE49-F238E27FC236}">
                  <a16:creationId xmlns:a16="http://schemas.microsoft.com/office/drawing/2014/main" id="{16D30B4A-72ED-26A7-3E61-8F973A7103AC}"/>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6" name="直線コネクタ 15">
              <a:extLst>
                <a:ext uri="{FF2B5EF4-FFF2-40B4-BE49-F238E27FC236}">
                  <a16:creationId xmlns:a16="http://schemas.microsoft.com/office/drawing/2014/main" id="{6F803093-4AF9-96A5-B24A-90412CE50F14}"/>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grpSp>
        <p:nvGrpSpPr>
          <p:cNvPr id="19" name="グループ化 18">
            <a:extLst>
              <a:ext uri="{FF2B5EF4-FFF2-40B4-BE49-F238E27FC236}">
                <a16:creationId xmlns:a16="http://schemas.microsoft.com/office/drawing/2014/main" id="{2E346A5A-9683-7014-168E-E518989BCD1E}"/>
              </a:ext>
            </a:extLst>
          </p:cNvPr>
          <p:cNvGrpSpPr/>
          <p:nvPr userDrawn="1"/>
        </p:nvGrpSpPr>
        <p:grpSpPr>
          <a:xfrm>
            <a:off x="5266199" y="0"/>
            <a:ext cx="2029862" cy="666001"/>
            <a:chOff x="5134526" y="0"/>
            <a:chExt cx="2029862" cy="666001"/>
          </a:xfrm>
        </p:grpSpPr>
        <p:sp>
          <p:nvSpPr>
            <p:cNvPr id="12" name="フリーフォーム: 図形 11">
              <a:extLst>
                <a:ext uri="{FF2B5EF4-FFF2-40B4-BE49-F238E27FC236}">
                  <a16:creationId xmlns:a16="http://schemas.microsoft.com/office/drawing/2014/main" id="{D0034112-492B-641B-EBBA-8B3741F9D9E7}"/>
                </a:ext>
              </a:extLst>
            </p:cNvPr>
            <p:cNvSpPr/>
            <p:nvPr userDrawn="1"/>
          </p:nvSpPr>
          <p:spPr>
            <a:xfrm>
              <a:off x="546279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18" name="フリーフォーム: 図形 17">
              <a:extLst>
                <a:ext uri="{FF2B5EF4-FFF2-40B4-BE49-F238E27FC236}">
                  <a16:creationId xmlns:a16="http://schemas.microsoft.com/office/drawing/2014/main" id="{49CF3432-3315-44B8-410D-03FBCEBFAAED}"/>
                </a:ext>
              </a:extLst>
            </p:cNvPr>
            <p:cNvSpPr/>
            <p:nvPr userDrawn="1"/>
          </p:nvSpPr>
          <p:spPr>
            <a:xfrm>
              <a:off x="513452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grpSp>
      <p:sp>
        <p:nvSpPr>
          <p:cNvPr id="2" name="タイトル 1">
            <a:extLst>
              <a:ext uri="{FF2B5EF4-FFF2-40B4-BE49-F238E27FC236}">
                <a16:creationId xmlns:a16="http://schemas.microsoft.com/office/drawing/2014/main" id="{82E97937-A78B-74CB-5321-0D409C781972}"/>
              </a:ext>
            </a:extLst>
          </p:cNvPr>
          <p:cNvSpPr>
            <a:spLocks noGrp="1"/>
          </p:cNvSpPr>
          <p:nvPr>
            <p:ph type="ctrTitle"/>
          </p:nvPr>
        </p:nvSpPr>
        <p:spPr>
          <a:xfrm>
            <a:off x="395288" y="180296"/>
            <a:ext cx="6312750" cy="338554"/>
          </a:xfrm>
          <a:prstGeom prst="rect">
            <a:avLst/>
          </a:prstGeom>
        </p:spPr>
        <p:txBody>
          <a:bodyPr wrap="square" lIns="0" tIns="0" rIns="0" bIns="0" anchor="ctr">
            <a:spAutoFit/>
          </a:bodyPr>
          <a:lstStyle>
            <a:lvl1pPr algn="l">
              <a:defRPr lang="ja-JP" altLang="en-US" sz="2200" b="1" spc="77" baseline="0" dirty="0">
                <a:solidFill>
                  <a:schemeClr val="bg1"/>
                </a:solidFill>
                <a:latin typeface="+mj-lt"/>
                <a:ea typeface="+mj-ea"/>
                <a:cs typeface="+mj-cs"/>
              </a:defRPr>
            </a:lvl1pPr>
          </a:lstStyle>
          <a:p>
            <a:pPr marL="0" lvl="0">
              <a:lnSpc>
                <a:spcPct val="100000"/>
              </a:lnSpc>
            </a:pPr>
            <a:r>
              <a:rPr kumimoji="1" lang="ja-JP" altLang="en-US" dirty="0"/>
              <a:t>マスター タイトルの書式設定</a:t>
            </a:r>
          </a:p>
        </p:txBody>
      </p:sp>
    </p:spTree>
    <p:extLst>
      <p:ext uri="{BB962C8B-B14F-4D97-AF65-F5344CB8AC3E}">
        <p14:creationId xmlns:p14="http://schemas.microsoft.com/office/powerpoint/2010/main" val="364151311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2837346"/>
      </p:ext>
    </p:extLst>
  </p:cSld>
  <p:clrMap bg1="lt1" tx1="dk1" bg2="lt2" tx2="dk2" accent1="accent1" accent2="accent2" accent3="accent3" accent4="accent4" accent5="accent5" accent6="accent6" hlink="hlink" folHlink="folHlink"/>
  <p:sldLayoutIdLst>
    <p:sldLayoutId id="2147483663" r:id="rId1"/>
  </p:sldLayoutIdLst>
  <p:txStyles>
    <p:titleStyle>
      <a:lvl1pPr algn="l" defTabSz="986912" rtl="0" eaLnBrk="1" latinLnBrk="0" hangingPunct="1">
        <a:lnSpc>
          <a:spcPct val="90000"/>
        </a:lnSpc>
        <a:spcBef>
          <a:spcPct val="0"/>
        </a:spcBef>
        <a:buNone/>
        <a:defRPr kumimoji="1" sz="4749" kern="1200">
          <a:solidFill>
            <a:schemeClr val="tx1"/>
          </a:solidFill>
          <a:latin typeface="+mj-lt"/>
          <a:ea typeface="+mj-ea"/>
          <a:cs typeface="+mj-cs"/>
        </a:defRPr>
      </a:lvl1pPr>
    </p:titleStyle>
    <p:bodyStyle>
      <a:lvl1pPr marL="246728" indent="-246728" algn="l" defTabSz="986912" rtl="0" eaLnBrk="1" latinLnBrk="0" hangingPunct="1">
        <a:lnSpc>
          <a:spcPct val="90000"/>
        </a:lnSpc>
        <a:spcBef>
          <a:spcPts val="1079"/>
        </a:spcBef>
        <a:buFont typeface="Arial" panose="020B0604020202020204" pitchFamily="34" charset="0"/>
        <a:buChar char="•"/>
        <a:defRPr kumimoji="1" sz="3022" kern="1200">
          <a:solidFill>
            <a:schemeClr val="tx1"/>
          </a:solidFill>
          <a:latin typeface="+mn-lt"/>
          <a:ea typeface="+mn-ea"/>
          <a:cs typeface="+mn-cs"/>
        </a:defRPr>
      </a:lvl1pPr>
      <a:lvl2pPr marL="740184" indent="-246728" algn="l" defTabSz="986912" rtl="0" eaLnBrk="1" latinLnBrk="0" hangingPunct="1">
        <a:lnSpc>
          <a:spcPct val="90000"/>
        </a:lnSpc>
        <a:spcBef>
          <a:spcPts val="540"/>
        </a:spcBef>
        <a:buFont typeface="Arial" panose="020B0604020202020204" pitchFamily="34" charset="0"/>
        <a:buChar char="•"/>
        <a:defRPr kumimoji="1" sz="2590" kern="1200">
          <a:solidFill>
            <a:schemeClr val="tx1"/>
          </a:solidFill>
          <a:latin typeface="+mn-lt"/>
          <a:ea typeface="+mn-ea"/>
          <a:cs typeface="+mn-cs"/>
        </a:defRPr>
      </a:lvl2pPr>
      <a:lvl3pPr marL="1233640" indent="-246728" algn="l" defTabSz="986912" rtl="0" eaLnBrk="1" latinLnBrk="0" hangingPunct="1">
        <a:lnSpc>
          <a:spcPct val="90000"/>
        </a:lnSpc>
        <a:spcBef>
          <a:spcPts val="540"/>
        </a:spcBef>
        <a:buFont typeface="Arial" panose="020B0604020202020204" pitchFamily="34" charset="0"/>
        <a:buChar char="•"/>
        <a:defRPr kumimoji="1" sz="2159" kern="1200">
          <a:solidFill>
            <a:schemeClr val="tx1"/>
          </a:solidFill>
          <a:latin typeface="+mn-lt"/>
          <a:ea typeface="+mn-ea"/>
          <a:cs typeface="+mn-cs"/>
        </a:defRPr>
      </a:lvl3pPr>
      <a:lvl4pPr marL="1727096" indent="-246728" algn="l" defTabSz="986912" rtl="0" eaLnBrk="1" latinLnBrk="0" hangingPunct="1">
        <a:lnSpc>
          <a:spcPct val="90000"/>
        </a:lnSpc>
        <a:spcBef>
          <a:spcPts val="540"/>
        </a:spcBef>
        <a:buFont typeface="Arial" panose="020B0604020202020204" pitchFamily="34" charset="0"/>
        <a:buChar char="•"/>
        <a:defRPr kumimoji="1" sz="1943" kern="1200">
          <a:solidFill>
            <a:schemeClr val="tx1"/>
          </a:solidFill>
          <a:latin typeface="+mn-lt"/>
          <a:ea typeface="+mn-ea"/>
          <a:cs typeface="+mn-cs"/>
        </a:defRPr>
      </a:lvl4pPr>
      <a:lvl5pPr marL="2220552" indent="-246728" algn="l" defTabSz="986912" rtl="0" eaLnBrk="1" latinLnBrk="0" hangingPunct="1">
        <a:lnSpc>
          <a:spcPct val="90000"/>
        </a:lnSpc>
        <a:spcBef>
          <a:spcPts val="540"/>
        </a:spcBef>
        <a:buFont typeface="Arial" panose="020B0604020202020204" pitchFamily="34" charset="0"/>
        <a:buChar char="•"/>
        <a:defRPr kumimoji="1" sz="1943" kern="1200">
          <a:solidFill>
            <a:schemeClr val="tx1"/>
          </a:solidFill>
          <a:latin typeface="+mn-lt"/>
          <a:ea typeface="+mn-ea"/>
          <a:cs typeface="+mn-cs"/>
        </a:defRPr>
      </a:lvl5pPr>
      <a:lvl6pPr marL="2714008" indent="-246728" algn="l" defTabSz="986912" rtl="0" eaLnBrk="1" latinLnBrk="0" hangingPunct="1">
        <a:lnSpc>
          <a:spcPct val="90000"/>
        </a:lnSpc>
        <a:spcBef>
          <a:spcPts val="540"/>
        </a:spcBef>
        <a:buFont typeface="Arial" panose="020B0604020202020204" pitchFamily="34" charset="0"/>
        <a:buChar char="•"/>
        <a:defRPr kumimoji="1" sz="1943" kern="1200">
          <a:solidFill>
            <a:schemeClr val="tx1"/>
          </a:solidFill>
          <a:latin typeface="+mn-lt"/>
          <a:ea typeface="+mn-ea"/>
          <a:cs typeface="+mn-cs"/>
        </a:defRPr>
      </a:lvl6pPr>
      <a:lvl7pPr marL="3207464" indent="-246728" algn="l" defTabSz="986912" rtl="0" eaLnBrk="1" latinLnBrk="0" hangingPunct="1">
        <a:lnSpc>
          <a:spcPct val="90000"/>
        </a:lnSpc>
        <a:spcBef>
          <a:spcPts val="540"/>
        </a:spcBef>
        <a:buFont typeface="Arial" panose="020B0604020202020204" pitchFamily="34" charset="0"/>
        <a:buChar char="•"/>
        <a:defRPr kumimoji="1" sz="1943" kern="1200">
          <a:solidFill>
            <a:schemeClr val="tx1"/>
          </a:solidFill>
          <a:latin typeface="+mn-lt"/>
          <a:ea typeface="+mn-ea"/>
          <a:cs typeface="+mn-cs"/>
        </a:defRPr>
      </a:lvl7pPr>
      <a:lvl8pPr marL="3700920" indent="-246728" algn="l" defTabSz="986912" rtl="0" eaLnBrk="1" latinLnBrk="0" hangingPunct="1">
        <a:lnSpc>
          <a:spcPct val="90000"/>
        </a:lnSpc>
        <a:spcBef>
          <a:spcPts val="540"/>
        </a:spcBef>
        <a:buFont typeface="Arial" panose="020B0604020202020204" pitchFamily="34" charset="0"/>
        <a:buChar char="•"/>
        <a:defRPr kumimoji="1" sz="1943" kern="1200">
          <a:solidFill>
            <a:schemeClr val="tx1"/>
          </a:solidFill>
          <a:latin typeface="+mn-lt"/>
          <a:ea typeface="+mn-ea"/>
          <a:cs typeface="+mn-cs"/>
        </a:defRPr>
      </a:lvl8pPr>
      <a:lvl9pPr marL="4194376" indent="-246728" algn="l" defTabSz="986912" rtl="0" eaLnBrk="1" latinLnBrk="0" hangingPunct="1">
        <a:lnSpc>
          <a:spcPct val="90000"/>
        </a:lnSpc>
        <a:spcBef>
          <a:spcPts val="540"/>
        </a:spcBef>
        <a:buFont typeface="Arial" panose="020B0604020202020204" pitchFamily="34" charset="0"/>
        <a:buChar char="•"/>
        <a:defRPr kumimoji="1" sz="1943" kern="1200">
          <a:solidFill>
            <a:schemeClr val="tx1"/>
          </a:solidFill>
          <a:latin typeface="+mn-lt"/>
          <a:ea typeface="+mn-ea"/>
          <a:cs typeface="+mn-cs"/>
        </a:defRPr>
      </a:lvl9pPr>
    </p:bodyStyle>
    <p:otherStyle>
      <a:defPPr>
        <a:defRPr lang="ja-JP"/>
      </a:defPPr>
      <a:lvl1pPr marL="0" algn="l" defTabSz="986912" rtl="0" eaLnBrk="1" latinLnBrk="0" hangingPunct="1">
        <a:defRPr kumimoji="1" sz="1943" kern="1200">
          <a:solidFill>
            <a:schemeClr val="tx1"/>
          </a:solidFill>
          <a:latin typeface="+mn-lt"/>
          <a:ea typeface="+mn-ea"/>
          <a:cs typeface="+mn-cs"/>
        </a:defRPr>
      </a:lvl1pPr>
      <a:lvl2pPr marL="493456" algn="l" defTabSz="986912" rtl="0" eaLnBrk="1" latinLnBrk="0" hangingPunct="1">
        <a:defRPr kumimoji="1" sz="1943" kern="1200">
          <a:solidFill>
            <a:schemeClr val="tx1"/>
          </a:solidFill>
          <a:latin typeface="+mn-lt"/>
          <a:ea typeface="+mn-ea"/>
          <a:cs typeface="+mn-cs"/>
        </a:defRPr>
      </a:lvl2pPr>
      <a:lvl3pPr marL="986912" algn="l" defTabSz="986912" rtl="0" eaLnBrk="1" latinLnBrk="0" hangingPunct="1">
        <a:defRPr kumimoji="1" sz="1943" kern="1200">
          <a:solidFill>
            <a:schemeClr val="tx1"/>
          </a:solidFill>
          <a:latin typeface="+mn-lt"/>
          <a:ea typeface="+mn-ea"/>
          <a:cs typeface="+mn-cs"/>
        </a:defRPr>
      </a:lvl3pPr>
      <a:lvl4pPr marL="1480368" algn="l" defTabSz="986912" rtl="0" eaLnBrk="1" latinLnBrk="0" hangingPunct="1">
        <a:defRPr kumimoji="1" sz="1943" kern="1200">
          <a:solidFill>
            <a:schemeClr val="tx1"/>
          </a:solidFill>
          <a:latin typeface="+mn-lt"/>
          <a:ea typeface="+mn-ea"/>
          <a:cs typeface="+mn-cs"/>
        </a:defRPr>
      </a:lvl4pPr>
      <a:lvl5pPr marL="1973824" algn="l" defTabSz="986912" rtl="0" eaLnBrk="1" latinLnBrk="0" hangingPunct="1">
        <a:defRPr kumimoji="1" sz="1943" kern="1200">
          <a:solidFill>
            <a:schemeClr val="tx1"/>
          </a:solidFill>
          <a:latin typeface="+mn-lt"/>
          <a:ea typeface="+mn-ea"/>
          <a:cs typeface="+mn-cs"/>
        </a:defRPr>
      </a:lvl5pPr>
      <a:lvl6pPr marL="2467280" algn="l" defTabSz="986912" rtl="0" eaLnBrk="1" latinLnBrk="0" hangingPunct="1">
        <a:defRPr kumimoji="1" sz="1943" kern="1200">
          <a:solidFill>
            <a:schemeClr val="tx1"/>
          </a:solidFill>
          <a:latin typeface="+mn-lt"/>
          <a:ea typeface="+mn-ea"/>
          <a:cs typeface="+mn-cs"/>
        </a:defRPr>
      </a:lvl6pPr>
      <a:lvl7pPr marL="2960736" algn="l" defTabSz="986912" rtl="0" eaLnBrk="1" latinLnBrk="0" hangingPunct="1">
        <a:defRPr kumimoji="1" sz="1943" kern="1200">
          <a:solidFill>
            <a:schemeClr val="tx1"/>
          </a:solidFill>
          <a:latin typeface="+mn-lt"/>
          <a:ea typeface="+mn-ea"/>
          <a:cs typeface="+mn-cs"/>
        </a:defRPr>
      </a:lvl7pPr>
      <a:lvl8pPr marL="3454192" algn="l" defTabSz="986912" rtl="0" eaLnBrk="1" latinLnBrk="0" hangingPunct="1">
        <a:defRPr kumimoji="1" sz="1943" kern="1200">
          <a:solidFill>
            <a:schemeClr val="tx1"/>
          </a:solidFill>
          <a:latin typeface="+mn-lt"/>
          <a:ea typeface="+mn-ea"/>
          <a:cs typeface="+mn-cs"/>
        </a:defRPr>
      </a:lvl8pPr>
      <a:lvl9pPr marL="3947648" algn="l" defTabSz="986912" rtl="0" eaLnBrk="1" latinLnBrk="0" hangingPunct="1">
        <a:defRPr kumimoji="1" sz="194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497" userDrawn="1">
          <p15:clr>
            <a:srgbClr val="FBAE40"/>
          </p15:clr>
        </p15:guide>
        <p15:guide id="2" pos="249" userDrawn="1">
          <p15:clr>
            <a:srgbClr val="FBAE40"/>
          </p15:clr>
        </p15:guide>
        <p15:guide id="3" pos="4513" userDrawn="1">
          <p15:clr>
            <a:srgbClr val="FBAE4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a:extLst>
              <a:ext uri="{FF2B5EF4-FFF2-40B4-BE49-F238E27FC236}">
                <a16:creationId xmlns:a16="http://schemas.microsoft.com/office/drawing/2014/main" id="{6888E1B8-0153-DECA-3B80-F24B78728526}"/>
              </a:ext>
            </a:extLst>
          </p:cNvPr>
          <p:cNvSpPr>
            <a:spLocks noChangeArrowheads="1"/>
          </p:cNvSpPr>
          <p:nvPr/>
        </p:nvSpPr>
        <p:spPr bwMode="auto">
          <a:xfrm>
            <a:off x="243315" y="198657"/>
            <a:ext cx="199380" cy="425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8694" tIns="49347" rIns="98694" bIns="49347" numCol="1" anchor="ctr" anchorCtr="0" compatLnSpc="1">
            <a:prstTxWarp prst="textNoShape">
              <a:avLst/>
            </a:prstTxWarp>
            <a:spAutoFit/>
          </a:bodyPr>
          <a:lstStyle/>
          <a:p>
            <a:endParaRPr lang="ja-JP" altLang="en-US" sz="2115">
              <a:latin typeface="游ゴシック" panose="020B0400000000000000" pitchFamily="50" charset="-128"/>
              <a:ea typeface="游ゴシック" panose="020B0400000000000000" pitchFamily="50" charset="-128"/>
            </a:endParaRPr>
          </a:p>
        </p:txBody>
      </p:sp>
      <p:sp>
        <p:nvSpPr>
          <p:cNvPr id="9" name="Rectangle 6">
            <a:extLst>
              <a:ext uri="{FF2B5EF4-FFF2-40B4-BE49-F238E27FC236}">
                <a16:creationId xmlns:a16="http://schemas.microsoft.com/office/drawing/2014/main" id="{91FDEF8C-A708-35C1-68E9-DF22D8ADD4F3}"/>
              </a:ext>
            </a:extLst>
          </p:cNvPr>
          <p:cNvSpPr>
            <a:spLocks noChangeArrowheads="1"/>
          </p:cNvSpPr>
          <p:nvPr/>
        </p:nvSpPr>
        <p:spPr bwMode="auto">
          <a:xfrm>
            <a:off x="243315" y="445393"/>
            <a:ext cx="199380" cy="425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8694" tIns="49347" rIns="98694" bIns="49347" numCol="1" anchor="ctr" anchorCtr="0" compatLnSpc="1">
            <a:prstTxWarp prst="textNoShape">
              <a:avLst/>
            </a:prstTxWarp>
            <a:spAutoFit/>
          </a:bodyPr>
          <a:lstStyle/>
          <a:p>
            <a:endParaRPr lang="ja-JP" altLang="en-US" sz="2115">
              <a:latin typeface="游ゴシック" panose="020B0400000000000000" pitchFamily="50" charset="-128"/>
              <a:ea typeface="游ゴシック" panose="020B0400000000000000" pitchFamily="50" charset="-128"/>
            </a:endParaRPr>
          </a:p>
        </p:txBody>
      </p:sp>
      <p:sp>
        <p:nvSpPr>
          <p:cNvPr id="15" name="テキスト ボックス 14">
            <a:extLst>
              <a:ext uri="{FF2B5EF4-FFF2-40B4-BE49-F238E27FC236}">
                <a16:creationId xmlns:a16="http://schemas.microsoft.com/office/drawing/2014/main" id="{72A98AC9-7248-8221-81A9-97B62E43ACD1}"/>
              </a:ext>
            </a:extLst>
          </p:cNvPr>
          <p:cNvSpPr txBox="1"/>
          <p:nvPr/>
        </p:nvSpPr>
        <p:spPr>
          <a:xfrm>
            <a:off x="395837" y="8571977"/>
            <a:ext cx="6768000" cy="1119665"/>
          </a:xfrm>
          <a:prstGeom prst="rect">
            <a:avLst/>
          </a:prstGeom>
          <a:noFill/>
        </p:spPr>
        <p:txBody>
          <a:bodyPr wrap="square" lIns="0" tIns="0" rIns="0" bIns="0" rtlCol="0">
            <a:spAutoFit/>
          </a:bodyPr>
          <a:lstStyle>
            <a:defPPr>
              <a:defRPr lang="en-US"/>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pPr marL="144000" indent="-144000">
              <a:lnSpc>
                <a:spcPct val="110000"/>
              </a:lnSpc>
              <a:spcAft>
                <a:spcPts val="600"/>
              </a:spcAft>
            </a:pPr>
            <a:r>
              <a:rPr lang="ja-JP" altLang="ja-JP" sz="1050" b="1" spc="30" dirty="0">
                <a:latin typeface="游ゴシック" panose="020B0400000000000000" pitchFamily="50" charset="-128"/>
                <a:ea typeface="游ゴシック" panose="020B0400000000000000" pitchFamily="50" charset="-128"/>
              </a:rPr>
              <a:t>本情報の取扱について</a:t>
            </a:r>
            <a:endParaRPr lang="en-US" altLang="ja-JP" sz="1050" b="1" spc="30" dirty="0">
              <a:latin typeface="游ゴシック" panose="020B0400000000000000" pitchFamily="50" charset="-128"/>
              <a:ea typeface="游ゴシック" panose="020B0400000000000000" pitchFamily="50" charset="-128"/>
            </a:endParaRPr>
          </a:p>
          <a:p>
            <a:pPr marL="0" indent="0">
              <a:lnSpc>
                <a:spcPct val="110000"/>
              </a:lnSpc>
              <a:spcAft>
                <a:spcPts val="600"/>
              </a:spcAft>
              <a:buNone/>
            </a:pPr>
            <a:r>
              <a:rPr lang="ja-JP" altLang="ja-JP" sz="1000" spc="30" dirty="0">
                <a:latin typeface="游ゴシック" panose="020B0400000000000000" pitchFamily="50" charset="-128"/>
                <a:ea typeface="游ゴシック" panose="020B0400000000000000" pitchFamily="50" charset="-128"/>
              </a:rPr>
              <a:t>貴社の今後の経営戦略上、相乗効果があると思われる譲渡希望企業に関する情報を提供させていただきました。なお、本情報は、貴社を信頼した上での情報提供であり、また、譲渡希望企業にとりましては、絶対に漏洩されてはならない極秘情報です。</a:t>
            </a:r>
            <a:r>
              <a:rPr lang="ja-JP" altLang="ja-JP" sz="1000" b="1" spc="30" dirty="0">
                <a:latin typeface="游ゴシック" panose="020B0400000000000000" pitchFamily="50" charset="-128"/>
                <a:ea typeface="游ゴシック" panose="020B0400000000000000" pitchFamily="50" charset="-128"/>
              </a:rPr>
              <a:t>本情報を第三者に伝達、</a:t>
            </a:r>
            <a:r>
              <a:rPr lang="en-US" altLang="ja-JP" sz="1000" b="1" spc="30" dirty="0">
                <a:latin typeface="游ゴシック" panose="020B0400000000000000" pitchFamily="50" charset="-128"/>
                <a:ea typeface="游ゴシック" panose="020B0400000000000000" pitchFamily="50" charset="-128"/>
              </a:rPr>
              <a:t>FAX</a:t>
            </a:r>
            <a:r>
              <a:rPr lang="ja-JP" altLang="ja-JP" sz="1000" b="1" spc="30" dirty="0">
                <a:latin typeface="游ゴシック" panose="020B0400000000000000" pitchFamily="50" charset="-128"/>
                <a:ea typeface="游ゴシック" panose="020B0400000000000000" pitchFamily="50" charset="-128"/>
              </a:rPr>
              <a:t>等により情報が漏洩することのないよう、お取扱いには充分ご留意くださいますようお願い申し上げます。また、万が一、上記内容から個別企業が特定できてしまった場合も、秘密厳守いただきますよう、お願い申し上げます。</a:t>
            </a:r>
            <a:endParaRPr lang="ja-JP" altLang="en-US" sz="1000" b="1" spc="30" dirty="0">
              <a:latin typeface="游ゴシック" panose="020B0400000000000000" pitchFamily="50" charset="-128"/>
              <a:ea typeface="游ゴシック" panose="020B0400000000000000" pitchFamily="50" charset="-128"/>
            </a:endParaRPr>
          </a:p>
        </p:txBody>
      </p:sp>
      <p:sp>
        <p:nvSpPr>
          <p:cNvPr id="19" name="タイトル 18">
            <a:extLst>
              <a:ext uri="{FF2B5EF4-FFF2-40B4-BE49-F238E27FC236}">
                <a16:creationId xmlns:a16="http://schemas.microsoft.com/office/drawing/2014/main" id="{6C90DF39-7E4C-8D71-E2D6-9BFCE35B4780}"/>
              </a:ext>
            </a:extLst>
          </p:cNvPr>
          <p:cNvSpPr>
            <a:spLocks noGrp="1"/>
          </p:cNvSpPr>
          <p:nvPr>
            <p:ph type="ctrTitle"/>
          </p:nvPr>
        </p:nvSpPr>
        <p:spPr>
          <a:xfrm>
            <a:off x="395288" y="180296"/>
            <a:ext cx="6312750" cy="338554"/>
          </a:xfrm>
        </p:spPr>
        <p:txBody>
          <a:bodyPr/>
          <a:lstStyle/>
          <a:p>
            <a:pPr>
              <a:lnSpc>
                <a:spcPct val="100000"/>
              </a:lnSpc>
            </a:pPr>
            <a:r>
              <a:rPr lang="en-US" altLang="ja-JP" dirty="0">
                <a:latin typeface="游ゴシック" panose="020B0400000000000000" pitchFamily="50" charset="-128"/>
                <a:ea typeface="游ゴシック" panose="020B0400000000000000" pitchFamily="50" charset="-128"/>
              </a:rPr>
              <a:t>M</a:t>
            </a:r>
            <a:r>
              <a:rPr lang="ja-JP" altLang="ja-JP" dirty="0">
                <a:latin typeface="游ゴシック" panose="020B0400000000000000" pitchFamily="50" charset="-128"/>
                <a:ea typeface="游ゴシック" panose="020B0400000000000000" pitchFamily="50" charset="-128"/>
              </a:rPr>
              <a:t>＆</a:t>
            </a:r>
            <a:r>
              <a:rPr lang="en-US" altLang="ja-JP" dirty="0">
                <a:latin typeface="游ゴシック" panose="020B0400000000000000" pitchFamily="50" charset="-128"/>
                <a:ea typeface="游ゴシック" panose="020B0400000000000000" pitchFamily="50" charset="-128"/>
              </a:rPr>
              <a:t>A</a:t>
            </a:r>
            <a:r>
              <a:rPr lang="ja-JP" altLang="ja-JP" dirty="0">
                <a:latin typeface="游ゴシック" panose="020B0400000000000000" pitchFamily="50" charset="-128"/>
                <a:ea typeface="游ゴシック" panose="020B0400000000000000" pitchFamily="50" charset="-128"/>
              </a:rPr>
              <a:t>案件 ノンネームシート</a:t>
            </a:r>
          </a:p>
        </p:txBody>
      </p:sp>
      <p:sp>
        <p:nvSpPr>
          <p:cNvPr id="23" name="テキスト ボックス 22">
            <a:extLst>
              <a:ext uri="{FF2B5EF4-FFF2-40B4-BE49-F238E27FC236}">
                <a16:creationId xmlns:a16="http://schemas.microsoft.com/office/drawing/2014/main" id="{9E28014E-FBFD-106F-4D5F-D53837A1C057}"/>
              </a:ext>
            </a:extLst>
          </p:cNvPr>
          <p:cNvSpPr txBox="1"/>
          <p:nvPr/>
        </p:nvSpPr>
        <p:spPr>
          <a:xfrm>
            <a:off x="395837" y="872366"/>
            <a:ext cx="67680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ja-JP" dirty="0">
                <a:latin typeface="游ゴシック" panose="020B0400000000000000" pitchFamily="50" charset="-128"/>
                <a:ea typeface="游ゴシック" panose="020B0400000000000000" pitchFamily="50" charset="-128"/>
              </a:rPr>
              <a:t>事業内容</a:t>
            </a:r>
          </a:p>
        </p:txBody>
      </p:sp>
      <p:sp>
        <p:nvSpPr>
          <p:cNvPr id="25" name="テキスト ボックス 24">
            <a:extLst>
              <a:ext uri="{FF2B5EF4-FFF2-40B4-BE49-F238E27FC236}">
                <a16:creationId xmlns:a16="http://schemas.microsoft.com/office/drawing/2014/main" id="{2A1C669F-1542-BE66-DA66-B4EE245A9E57}"/>
              </a:ext>
            </a:extLst>
          </p:cNvPr>
          <p:cNvSpPr txBox="1"/>
          <p:nvPr/>
        </p:nvSpPr>
        <p:spPr>
          <a:xfrm>
            <a:off x="395837" y="3435142"/>
            <a:ext cx="67680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ja-JP" dirty="0">
                <a:latin typeface="游ゴシック" panose="020B0400000000000000" pitchFamily="50" charset="-128"/>
                <a:ea typeface="游ゴシック" panose="020B0400000000000000" pitchFamily="50" charset="-128"/>
              </a:rPr>
              <a:t>特徴・強み</a:t>
            </a:r>
          </a:p>
        </p:txBody>
      </p:sp>
      <p:sp>
        <p:nvSpPr>
          <p:cNvPr id="27" name="テキスト ボックス 26">
            <a:extLst>
              <a:ext uri="{FF2B5EF4-FFF2-40B4-BE49-F238E27FC236}">
                <a16:creationId xmlns:a16="http://schemas.microsoft.com/office/drawing/2014/main" id="{D9D4DACD-ED65-2617-52E5-79A22AC3A052}"/>
              </a:ext>
            </a:extLst>
          </p:cNvPr>
          <p:cNvSpPr txBox="1"/>
          <p:nvPr/>
        </p:nvSpPr>
        <p:spPr>
          <a:xfrm>
            <a:off x="395837" y="6704945"/>
            <a:ext cx="67680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ja-JP" dirty="0">
                <a:latin typeface="游ゴシック" panose="020B0400000000000000" pitchFamily="50" charset="-128"/>
                <a:ea typeface="游ゴシック" panose="020B0400000000000000" pitchFamily="50" charset="-128"/>
              </a:rPr>
              <a:t>補足事項</a:t>
            </a:r>
          </a:p>
        </p:txBody>
      </p:sp>
      <p:graphicFrame>
        <p:nvGraphicFramePr>
          <p:cNvPr id="29" name="表 28">
            <a:extLst>
              <a:ext uri="{FF2B5EF4-FFF2-40B4-BE49-F238E27FC236}">
                <a16:creationId xmlns:a16="http://schemas.microsoft.com/office/drawing/2014/main" id="{A641D9B2-1C32-B1BB-4E1E-555310178BFC}"/>
              </a:ext>
            </a:extLst>
          </p:cNvPr>
          <p:cNvGraphicFramePr>
            <a:graphicFrameLocks noGrp="1"/>
          </p:cNvGraphicFramePr>
          <p:nvPr>
            <p:extLst>
              <p:ext uri="{D42A27DB-BD31-4B8C-83A1-F6EECF244321}">
                <p14:modId xmlns:p14="http://schemas.microsoft.com/office/powerpoint/2010/main" val="2745122997"/>
              </p:ext>
            </p:extLst>
          </p:nvPr>
        </p:nvGraphicFramePr>
        <p:xfrm>
          <a:off x="395288" y="1241972"/>
          <a:ext cx="6768000" cy="1698372"/>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626739810"/>
                    </a:ext>
                  </a:extLst>
                </a:gridCol>
                <a:gridCol w="5328000">
                  <a:extLst>
                    <a:ext uri="{9D8B030D-6E8A-4147-A177-3AD203B41FA5}">
                      <a16:colId xmlns:a16="http://schemas.microsoft.com/office/drawing/2014/main" val="2919625135"/>
                    </a:ext>
                  </a:extLst>
                </a:gridCol>
              </a:tblGrid>
              <a:tr h="424593">
                <a:tc>
                  <a:txBody>
                    <a:bodyPr/>
                    <a:lstStyle/>
                    <a:p>
                      <a:pPr algn="l"/>
                      <a:r>
                        <a:rPr lang="ja-JP" altLang="ja-JP" sz="1400" b="1" spc="50" baseline="0" dirty="0">
                          <a:solidFill>
                            <a:schemeClr val="tx1"/>
                          </a:solidFill>
                          <a:latin typeface="游ゴシック" panose="020B0400000000000000" pitchFamily="50" charset="-128"/>
                          <a:ea typeface="游ゴシック" panose="020B0400000000000000" pitchFamily="50" charset="-128"/>
                        </a:rPr>
                        <a:t>業種</a:t>
                      </a:r>
                      <a:endParaRPr kumimoji="1" lang="ja-JP" altLang="en-US" sz="1400" b="1" spc="50" baseline="0" dirty="0">
                        <a:solidFill>
                          <a:schemeClr val="tx1"/>
                        </a:solidFill>
                        <a:latin typeface="游ゴシック" panose="020B0400000000000000" pitchFamily="50" charset="-128"/>
                        <a:ea typeface="游ゴシック" panose="020B0400000000000000" pitchFamily="50" charset="-128"/>
                      </a:endParaRPr>
                    </a:p>
                  </a:txBody>
                  <a:tcPr marL="144000" marR="108000" marT="18000" marB="0" anchor="ctr">
                    <a:lnL w="12700" cmpd="sng">
                      <a:noFill/>
                    </a:lnL>
                    <a:lnR w="1270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86912" rtl="0" eaLnBrk="1" fontAlgn="auto" latinLnBrk="0" hangingPunct="1">
                        <a:lnSpc>
                          <a:spcPct val="100000"/>
                        </a:lnSpc>
                        <a:spcBef>
                          <a:spcPts val="0"/>
                        </a:spcBef>
                        <a:spcAft>
                          <a:spcPts val="0"/>
                        </a:spcAft>
                        <a:buClrTx/>
                        <a:buSzTx/>
                        <a:buFontTx/>
                        <a:buNone/>
                        <a:tabLst/>
                        <a:defRPr/>
                      </a:pPr>
                      <a:r>
                        <a:rPr lang="ja-JP" altLang="ja-JP" sz="1400" b="0" spc="50" baseline="0" dirty="0">
                          <a:solidFill>
                            <a:schemeClr val="tx1"/>
                          </a:solidFill>
                          <a:latin typeface="游ゴシック" panose="020B0400000000000000" pitchFamily="50" charset="-128"/>
                          <a:ea typeface="游ゴシック" panose="020B0400000000000000" pitchFamily="50" charset="-128"/>
                        </a:rPr>
                        <a:t>青果物卸売業</a:t>
                      </a:r>
                    </a:p>
                  </a:txBody>
                  <a:tcPr marL="144000" marR="108000" marT="18000" marB="0" anchor="ctr">
                    <a:lnL w="12700" cap="flat" cmpd="sng" algn="ctr">
                      <a:solidFill>
                        <a:schemeClr val="bg1"/>
                      </a:solidFill>
                      <a:prstDash val="solid"/>
                      <a:round/>
                      <a:headEnd type="none" w="med" len="med"/>
                      <a:tailEnd type="none" w="med" len="med"/>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4451389"/>
                  </a:ext>
                </a:extLst>
              </a:tr>
              <a:tr h="424593">
                <a:tc>
                  <a:txBody>
                    <a:bodyPr/>
                    <a:lstStyle/>
                    <a:p>
                      <a:pPr algn="l"/>
                      <a:r>
                        <a:rPr lang="ja-JP" altLang="ja-JP" sz="1400" b="1" spc="50" baseline="0" dirty="0">
                          <a:latin typeface="游ゴシック" panose="020B0400000000000000" pitchFamily="50" charset="-128"/>
                          <a:ea typeface="游ゴシック" panose="020B0400000000000000" pitchFamily="50" charset="-128"/>
                        </a:rPr>
                        <a:t>エリア</a:t>
                      </a:r>
                      <a:endParaRPr kumimoji="1" lang="ja-JP" altLang="en-US" sz="1400" b="1" spc="50" baseline="0" dirty="0">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86912" rtl="0" eaLnBrk="1" fontAlgn="auto" latinLnBrk="0" hangingPunct="1">
                        <a:lnSpc>
                          <a:spcPct val="100000"/>
                        </a:lnSpc>
                        <a:spcBef>
                          <a:spcPts val="0"/>
                        </a:spcBef>
                        <a:spcAft>
                          <a:spcPts val="0"/>
                        </a:spcAft>
                        <a:buClrTx/>
                        <a:buSzTx/>
                        <a:buFontTx/>
                        <a:buNone/>
                        <a:tabLst/>
                        <a:defRPr/>
                      </a:pPr>
                      <a:r>
                        <a:rPr lang="ja-JP" altLang="en-US" sz="1400" spc="50" baseline="0" dirty="0">
                          <a:latin typeface="游ゴシック" panose="020B0400000000000000" pitchFamily="50" charset="-128"/>
                          <a:ea typeface="游ゴシック" panose="020B0400000000000000" pitchFamily="50" charset="-128"/>
                        </a:rPr>
                        <a:t>東北</a:t>
                      </a:r>
                      <a:endParaRPr lang="ja-JP" altLang="ja-JP" sz="1400" spc="50" baseline="0" dirty="0">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22444804"/>
                  </a:ext>
                </a:extLst>
              </a:tr>
              <a:tr h="424593">
                <a:tc>
                  <a:txBody>
                    <a:bodyPr/>
                    <a:lstStyle/>
                    <a:p>
                      <a:pPr algn="l"/>
                      <a:r>
                        <a:rPr lang="zh-TW" altLang="ja-JP" sz="1400" b="1" spc="50" baseline="0" dirty="0">
                          <a:latin typeface="游ゴシック" panose="020B0400000000000000" pitchFamily="50" charset="-128"/>
                          <a:ea typeface="游ゴシック" panose="020B0400000000000000" pitchFamily="50" charset="-128"/>
                        </a:rPr>
                        <a:t>売 上 高</a:t>
                      </a:r>
                      <a:endParaRPr kumimoji="1" lang="ja-JP" altLang="en-US" sz="1400" b="1" spc="50" baseline="0" dirty="0">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86912" rtl="0" eaLnBrk="1" fontAlgn="auto" latinLnBrk="0" hangingPunct="1">
                        <a:lnSpc>
                          <a:spcPct val="100000"/>
                        </a:lnSpc>
                        <a:spcBef>
                          <a:spcPts val="0"/>
                        </a:spcBef>
                        <a:spcAft>
                          <a:spcPts val="0"/>
                        </a:spcAft>
                        <a:buClrTx/>
                        <a:buSzTx/>
                        <a:buFontTx/>
                        <a:buNone/>
                        <a:tabLst/>
                        <a:defRPr/>
                      </a:pPr>
                      <a:r>
                        <a:rPr lang="ja-JP" altLang="ja-JP" sz="1400" spc="50" baseline="0" dirty="0">
                          <a:latin typeface="游ゴシック" panose="020B0400000000000000" pitchFamily="50" charset="-128"/>
                          <a:ea typeface="游ゴシック" panose="020B0400000000000000" pitchFamily="50" charset="-128"/>
                        </a:rPr>
                        <a:t>10億円以上</a:t>
                      </a:r>
                      <a:endParaRPr lang="ja-JP" altLang="ja-JP" sz="1400" spc="50" baseline="0" dirty="0">
                        <a:solidFill>
                          <a:srgbClr val="FF0000"/>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0543626"/>
                  </a:ext>
                </a:extLst>
              </a:tr>
              <a:tr h="424593">
                <a:tc>
                  <a:txBody>
                    <a:bodyPr/>
                    <a:lstStyle/>
                    <a:p>
                      <a:pPr algn="l"/>
                      <a:r>
                        <a:rPr lang="ja-JP" altLang="ja-JP" sz="1400" b="1" spc="50" baseline="0" dirty="0">
                          <a:latin typeface="游ゴシック" panose="020B0400000000000000" pitchFamily="50" charset="-128"/>
                          <a:ea typeface="游ゴシック" panose="020B0400000000000000" pitchFamily="50" charset="-128"/>
                        </a:rPr>
                        <a:t>従 業 員</a:t>
                      </a:r>
                      <a:endParaRPr kumimoji="1" lang="ja-JP" altLang="en-US" sz="1400" b="1" spc="50" baseline="0" dirty="0">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altLang="ja-JP" sz="1400" spc="50" baseline="0" dirty="0">
                          <a:latin typeface="游ゴシック" panose="020B0400000000000000" pitchFamily="50" charset="-128"/>
                          <a:ea typeface="游ゴシック" panose="020B0400000000000000" pitchFamily="50" charset="-128"/>
                        </a:rPr>
                        <a:t>20名以上</a:t>
                      </a:r>
                      <a:endParaRPr lang="ja-JP" altLang="ja-JP" sz="1400" spc="50" baseline="0" dirty="0">
                        <a:solidFill>
                          <a:srgbClr val="FF0000"/>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4727746"/>
                  </a:ext>
                </a:extLst>
              </a:tr>
            </a:tbl>
          </a:graphicData>
        </a:graphic>
      </p:graphicFrame>
      <p:graphicFrame>
        <p:nvGraphicFramePr>
          <p:cNvPr id="30" name="表 29">
            <a:extLst>
              <a:ext uri="{FF2B5EF4-FFF2-40B4-BE49-F238E27FC236}">
                <a16:creationId xmlns:a16="http://schemas.microsoft.com/office/drawing/2014/main" id="{058C6A93-50F6-9EEA-0E8E-D78019F88DC0}"/>
              </a:ext>
            </a:extLst>
          </p:cNvPr>
          <p:cNvGraphicFramePr>
            <a:graphicFrameLocks noGrp="1"/>
          </p:cNvGraphicFramePr>
          <p:nvPr>
            <p:extLst>
              <p:ext uri="{D42A27DB-BD31-4B8C-83A1-F6EECF244321}">
                <p14:modId xmlns:p14="http://schemas.microsoft.com/office/powerpoint/2010/main" val="1724705669"/>
              </p:ext>
            </p:extLst>
          </p:nvPr>
        </p:nvGraphicFramePr>
        <p:xfrm>
          <a:off x="395288" y="3773187"/>
          <a:ext cx="6768000" cy="2416373"/>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626739810"/>
                    </a:ext>
                  </a:extLst>
                </a:gridCol>
                <a:gridCol w="5328000">
                  <a:extLst>
                    <a:ext uri="{9D8B030D-6E8A-4147-A177-3AD203B41FA5}">
                      <a16:colId xmlns:a16="http://schemas.microsoft.com/office/drawing/2014/main" val="2919625135"/>
                    </a:ext>
                  </a:extLst>
                </a:gridCol>
              </a:tblGrid>
              <a:tr h="1088373">
                <a:tc>
                  <a:txBody>
                    <a:bodyPr/>
                    <a:lstStyle/>
                    <a:p>
                      <a:pPr>
                        <a:lnSpc>
                          <a:spcPct val="120000"/>
                        </a:lnSpc>
                      </a:pPr>
                      <a:r>
                        <a:rPr lang="ja-JP" altLang="en-US" sz="1400" b="1" dirty="0">
                          <a:solidFill>
                            <a:schemeClr val="tx1"/>
                          </a:solidFill>
                          <a:latin typeface="游ゴシック" panose="020B0400000000000000" pitchFamily="50" charset="-128"/>
                          <a:ea typeface="游ゴシック" panose="020B0400000000000000" pitchFamily="50" charset="-128"/>
                        </a:rPr>
                        <a:t>ビジネス面</a:t>
                      </a:r>
                      <a:endParaRPr kumimoji="1" lang="ja-JP" altLang="en-US" sz="800" b="1" spc="50" baseline="0" dirty="0">
                        <a:solidFill>
                          <a:schemeClr val="tx1"/>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游ゴシック" panose="020B0400000000000000" pitchFamily="50" charset="-128"/>
                          <a:ea typeface="游ゴシック" panose="020B0400000000000000" pitchFamily="50" charset="-128"/>
                        </a:rPr>
                        <a:t>長年の業歴を有し、地域の青果物流通を担う卸売市場機能を自社で保有</a:t>
                      </a:r>
                      <a:endParaRPr lang="en-US" altLang="ja-JP" sz="1100" b="0" spc="30" baseline="0" dirty="0">
                        <a:solidFill>
                          <a:schemeClr val="tx1"/>
                        </a:solidFill>
                        <a:latin typeface="游ゴシック" panose="020B0400000000000000" pitchFamily="50" charset="-128"/>
                        <a:ea typeface="游ゴシック" panose="020B0400000000000000" pitchFamily="50" charset="-128"/>
                      </a:endParaRPr>
                    </a:p>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游ゴシック" panose="020B0400000000000000" pitchFamily="50" charset="-128"/>
                          <a:ea typeface="游ゴシック" panose="020B0400000000000000" pitchFamily="50" charset="-128"/>
                        </a:rPr>
                        <a:t>集荷・卸売から小分け・包装、配送まで一貫して対応できる体制</a:t>
                      </a:r>
                      <a:endParaRPr lang="en-US" altLang="ja-JP" sz="1100" b="0" spc="30" baseline="0" dirty="0">
                        <a:solidFill>
                          <a:schemeClr val="tx1"/>
                        </a:solidFill>
                        <a:latin typeface="游ゴシック" panose="020B0400000000000000" pitchFamily="50" charset="-128"/>
                        <a:ea typeface="游ゴシック" panose="020B0400000000000000" pitchFamily="50" charset="-128"/>
                      </a:endParaRPr>
                    </a:p>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游ゴシック" panose="020B0400000000000000" pitchFamily="50" charset="-128"/>
                          <a:ea typeface="游ゴシック" panose="020B0400000000000000" pitchFamily="50" charset="-128"/>
                        </a:rPr>
                        <a:t>量販店・生協・学校給食・近隣市場など分散した販路を有し、特定顧客への過度な依存を抑制</a:t>
                      </a:r>
                      <a:endParaRPr lang="en-US" altLang="ja-JP" sz="1100" b="0" spc="30" baseline="0" dirty="0">
                        <a:solidFill>
                          <a:schemeClr val="tx1"/>
                        </a:solidFill>
                        <a:latin typeface="游ゴシック" panose="020B0400000000000000" pitchFamily="50" charset="-128"/>
                        <a:ea typeface="游ゴシック" panose="020B0400000000000000" pitchFamily="50" charset="-128"/>
                      </a:endParaRPr>
                    </a:p>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游ゴシック" panose="020B0400000000000000" pitchFamily="50" charset="-128"/>
                          <a:ea typeface="游ゴシック" panose="020B0400000000000000" pitchFamily="50" charset="-128"/>
                        </a:rPr>
                        <a:t>市場運営のノウハウと有資格人材を要する参入障壁の高い事業</a:t>
                      </a:r>
                      <a:endParaRPr lang="en-US" altLang="ja-JP" sz="1100" b="0" spc="30" baseline="0" dirty="0">
                        <a:solidFill>
                          <a:schemeClr val="tx1"/>
                        </a:solidFill>
                        <a:latin typeface="游ゴシック" panose="020B0400000000000000" pitchFamily="50" charset="-128"/>
                        <a:ea typeface="游ゴシック" panose="020B0400000000000000" pitchFamily="50" charset="-128"/>
                      </a:endParaRPr>
                    </a:p>
                  </a:txBody>
                  <a:tcPr marL="144000" marR="144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22444804"/>
                  </a:ext>
                </a:extLst>
              </a:tr>
              <a:tr h="664000">
                <a:tc>
                  <a:txBody>
                    <a:bodyPr/>
                    <a:lstStyle/>
                    <a:p>
                      <a:pPr>
                        <a:lnSpc>
                          <a:spcPct val="120000"/>
                        </a:lnSpc>
                      </a:pPr>
                      <a:r>
                        <a:rPr lang="ja-JP" altLang="en-US" sz="1400" b="1" dirty="0">
                          <a:solidFill>
                            <a:schemeClr val="tx1"/>
                          </a:solidFill>
                          <a:latin typeface="游ゴシック" panose="020B0400000000000000" pitchFamily="50" charset="-128"/>
                          <a:ea typeface="游ゴシック" panose="020B0400000000000000" pitchFamily="50" charset="-128"/>
                        </a:rPr>
                        <a:t>財務面</a:t>
                      </a:r>
                      <a:endParaRPr kumimoji="1" lang="ja-JP" altLang="en-US" sz="800" b="1" spc="50" baseline="0" dirty="0">
                        <a:solidFill>
                          <a:schemeClr val="tx1"/>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游ゴシック" panose="020B0400000000000000" pitchFamily="50" charset="-128"/>
                          <a:ea typeface="游ゴシック" panose="020B0400000000000000" pitchFamily="50" charset="-128"/>
                        </a:rPr>
                        <a:t>売上高は10億円超で安定推移し、調整後EBITDAは黒字を確保</a:t>
                      </a:r>
                      <a:endParaRPr lang="en-US" altLang="ja-JP" sz="1100" b="0" spc="30" baseline="0" dirty="0">
                        <a:solidFill>
                          <a:schemeClr val="tx1"/>
                        </a:solidFill>
                        <a:latin typeface="游ゴシック" panose="020B0400000000000000" pitchFamily="50" charset="-128"/>
                        <a:ea typeface="游ゴシック" panose="020B0400000000000000" pitchFamily="50" charset="-128"/>
                      </a:endParaRPr>
                    </a:p>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游ゴシック" panose="020B0400000000000000" pitchFamily="50" charset="-128"/>
                          <a:ea typeface="游ゴシック" panose="020B0400000000000000" pitchFamily="50" charset="-128"/>
                        </a:rPr>
                        <a:t>市場用地・施設等の事業用不動産を自社で保有</a:t>
                      </a:r>
                      <a:endParaRPr lang="en-US" altLang="ja-JP" sz="1100" b="0" spc="30" baseline="0" dirty="0">
                        <a:solidFill>
                          <a:schemeClr val="tx1"/>
                        </a:solidFill>
                        <a:latin typeface="游ゴシック" panose="020B0400000000000000" pitchFamily="50" charset="-128"/>
                        <a:ea typeface="游ゴシック" panose="020B0400000000000000" pitchFamily="50" charset="-128"/>
                      </a:endParaRPr>
                    </a:p>
                  </a:txBody>
                  <a:tcPr marL="144000" marR="144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0543626"/>
                  </a:ext>
                </a:extLst>
              </a:tr>
              <a:tr h="664000">
                <a:tc>
                  <a:txBody>
                    <a:bodyPr/>
                    <a:lstStyle/>
                    <a:p>
                      <a:pPr>
                        <a:lnSpc>
                          <a:spcPct val="120000"/>
                        </a:lnSpc>
                      </a:pPr>
                      <a:r>
                        <a:rPr kumimoji="1" lang="ja-JP" altLang="en-US" sz="1400" b="1" spc="50" baseline="0" dirty="0">
                          <a:solidFill>
                            <a:schemeClr val="tx1"/>
                          </a:solidFill>
                          <a:latin typeface="游ゴシック" panose="020B0400000000000000" pitchFamily="50" charset="-128"/>
                          <a:ea typeface="游ゴシック" panose="020B0400000000000000" pitchFamily="50" charset="-128"/>
                        </a:rPr>
                        <a:t>組織面</a:t>
                      </a:r>
                      <a:endParaRPr kumimoji="1" lang="en-US" altLang="ja-JP" sz="1400" b="1" spc="50" baseline="0" dirty="0">
                        <a:solidFill>
                          <a:schemeClr val="tx1"/>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游ゴシック" panose="020B0400000000000000" pitchFamily="50" charset="-128"/>
                          <a:ea typeface="游ゴシック" panose="020B0400000000000000" pitchFamily="50" charset="-128"/>
                        </a:rPr>
                        <a:t>長期勤続者を中心とする熟練人材による運営体制</a:t>
                      </a:r>
                      <a:endParaRPr lang="en-US" altLang="ja-JP" sz="1100" b="0" spc="30" baseline="0" dirty="0">
                        <a:solidFill>
                          <a:schemeClr val="tx1"/>
                        </a:solidFill>
                        <a:latin typeface="游ゴシック" panose="020B0400000000000000" pitchFamily="50" charset="-128"/>
                        <a:ea typeface="游ゴシック" panose="020B0400000000000000" pitchFamily="50" charset="-128"/>
                      </a:endParaRPr>
                    </a:p>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游ゴシック" panose="020B0400000000000000" pitchFamily="50" charset="-128"/>
                          <a:ea typeface="游ゴシック" panose="020B0400000000000000" pitchFamily="50" charset="-128"/>
                        </a:rPr>
                        <a:t>セリ人資格者・フォークリフト運転者等の有資格者を複数配置</a:t>
                      </a:r>
                      <a:endParaRPr lang="en-US" altLang="ja-JP" sz="1100" b="0" spc="30" baseline="0" dirty="0">
                        <a:solidFill>
                          <a:schemeClr val="tx1"/>
                        </a:solidFill>
                        <a:latin typeface="游ゴシック" panose="020B0400000000000000" pitchFamily="50" charset="-128"/>
                        <a:ea typeface="游ゴシック" panose="020B0400000000000000" pitchFamily="50" charset="-128"/>
                      </a:endParaRPr>
                    </a:p>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游ゴシック" panose="020B0400000000000000" pitchFamily="50" charset="-128"/>
                          <a:ea typeface="游ゴシック" panose="020B0400000000000000" pitchFamily="50" charset="-128"/>
                        </a:rPr>
                        <a:t>野菜・果実・集配・パッケージ等の部門別に業務を分担する組織体制</a:t>
                      </a:r>
                      <a:endParaRPr lang="en-US" altLang="ja-JP" sz="1100" b="0" spc="30" baseline="0" dirty="0">
                        <a:solidFill>
                          <a:schemeClr val="tx1"/>
                        </a:solidFill>
                        <a:latin typeface="游ゴシック" panose="020B0400000000000000" pitchFamily="50" charset="-128"/>
                        <a:ea typeface="游ゴシック" panose="020B0400000000000000" pitchFamily="50" charset="-128"/>
                      </a:endParaRPr>
                    </a:p>
                  </a:txBody>
                  <a:tcPr marL="144000" marR="144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8968273"/>
                  </a:ext>
                </a:extLst>
              </a:tr>
            </a:tbl>
          </a:graphicData>
        </a:graphic>
      </p:graphicFrame>
      <p:graphicFrame>
        <p:nvGraphicFramePr>
          <p:cNvPr id="31" name="表 30">
            <a:extLst>
              <a:ext uri="{FF2B5EF4-FFF2-40B4-BE49-F238E27FC236}">
                <a16:creationId xmlns:a16="http://schemas.microsoft.com/office/drawing/2014/main" id="{06B6E9E3-203A-CA00-9F50-A2947860CA20}"/>
              </a:ext>
            </a:extLst>
          </p:cNvPr>
          <p:cNvGraphicFramePr>
            <a:graphicFrameLocks noGrp="1"/>
          </p:cNvGraphicFramePr>
          <p:nvPr>
            <p:extLst>
              <p:ext uri="{D42A27DB-BD31-4B8C-83A1-F6EECF244321}">
                <p14:modId xmlns:p14="http://schemas.microsoft.com/office/powerpoint/2010/main" val="2226835785"/>
              </p:ext>
            </p:extLst>
          </p:nvPr>
        </p:nvGraphicFramePr>
        <p:xfrm>
          <a:off x="395288" y="7042990"/>
          <a:ext cx="6768000" cy="1260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626739810"/>
                    </a:ext>
                  </a:extLst>
                </a:gridCol>
                <a:gridCol w="5328000">
                  <a:extLst>
                    <a:ext uri="{9D8B030D-6E8A-4147-A177-3AD203B41FA5}">
                      <a16:colId xmlns:a16="http://schemas.microsoft.com/office/drawing/2014/main" val="2919625135"/>
                    </a:ext>
                  </a:extLst>
                </a:gridCol>
              </a:tblGrid>
              <a:tr h="420000">
                <a:tc>
                  <a:txBody>
                    <a:bodyPr/>
                    <a:lstStyle/>
                    <a:p>
                      <a:r>
                        <a:rPr lang="ja-JP" altLang="ja-JP" sz="1400" b="1" spc="50" baseline="0" dirty="0">
                          <a:solidFill>
                            <a:schemeClr val="tx1"/>
                          </a:solidFill>
                          <a:latin typeface="游ゴシック" panose="020B0400000000000000" pitchFamily="50" charset="-128"/>
                          <a:ea typeface="游ゴシック" panose="020B0400000000000000" pitchFamily="50" charset="-128"/>
                        </a:rPr>
                        <a:t>譲渡理由</a:t>
                      </a:r>
                      <a:endParaRPr kumimoji="1" lang="ja-JP" altLang="en-US" sz="800" b="1" spc="50" baseline="0" dirty="0">
                        <a:solidFill>
                          <a:schemeClr val="tx1"/>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nSpc>
                          <a:spcPct val="120000"/>
                        </a:lnSpc>
                        <a:spcAft>
                          <a:spcPts val="600"/>
                        </a:spcAft>
                        <a:buFontTx/>
                        <a:buNone/>
                      </a:pPr>
                      <a:r>
                        <a:rPr lang="ja-JP" altLang="en-US" sz="1400" b="0" spc="50" baseline="0" dirty="0">
                          <a:solidFill>
                            <a:schemeClr val="tx1"/>
                          </a:solidFill>
                          <a:latin typeface="游ゴシック" panose="020B0400000000000000" pitchFamily="50" charset="-128"/>
                          <a:ea typeface="游ゴシック" panose="020B0400000000000000" pitchFamily="50" charset="-128"/>
                        </a:rPr>
                        <a:t>要確認（売主様確認後に記載）</a:t>
                      </a:r>
                      <a:endParaRPr lang="ja-JP" altLang="ja-JP" sz="1400" b="0" spc="50" baseline="0" dirty="0">
                        <a:solidFill>
                          <a:srgbClr val="FF0000"/>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22444804"/>
                  </a:ext>
                </a:extLst>
              </a:tr>
              <a:tr h="420000">
                <a:tc>
                  <a:txBody>
                    <a:bodyPr/>
                    <a:lstStyle/>
                    <a:p>
                      <a:r>
                        <a:rPr lang="ja-JP" altLang="ja-JP" sz="1400" b="1" spc="50" baseline="0" dirty="0">
                          <a:solidFill>
                            <a:schemeClr val="tx1"/>
                          </a:solidFill>
                          <a:latin typeface="游ゴシック" panose="020B0400000000000000" pitchFamily="50" charset="-128"/>
                          <a:ea typeface="游ゴシック" panose="020B0400000000000000" pitchFamily="50" charset="-128"/>
                        </a:rPr>
                        <a:t>スキーム</a:t>
                      </a:r>
                      <a:endParaRPr kumimoji="1" lang="ja-JP" altLang="en-US" sz="800" b="1" spc="50" baseline="0" dirty="0">
                        <a:solidFill>
                          <a:schemeClr val="tx1"/>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nSpc>
                          <a:spcPct val="120000"/>
                        </a:lnSpc>
                        <a:spcAft>
                          <a:spcPts val="600"/>
                        </a:spcAft>
                        <a:buFontTx/>
                        <a:buNone/>
                      </a:pPr>
                      <a:r>
                        <a:rPr lang="ja-JP" altLang="ja-JP" sz="1400" b="0" spc="50" baseline="0" dirty="0">
                          <a:solidFill>
                            <a:schemeClr val="tx1"/>
                          </a:solidFill>
                          <a:latin typeface="游ゴシック" panose="020B0400000000000000" pitchFamily="50" charset="-128"/>
                          <a:ea typeface="游ゴシック" panose="020B0400000000000000" pitchFamily="50" charset="-128"/>
                        </a:rPr>
                        <a:t>株式100％譲渡を想定（要確認）</a:t>
                      </a:r>
                      <a:endParaRPr lang="ja-JP" altLang="ja-JP" sz="1400" b="0" spc="50" baseline="0" dirty="0">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0543626"/>
                  </a:ext>
                </a:extLst>
              </a:tr>
              <a:tr h="420000">
                <a:tc>
                  <a:txBody>
                    <a:bodyPr/>
                    <a:lstStyle/>
                    <a:p>
                      <a:r>
                        <a:rPr lang="ja-JP" altLang="ja-JP" sz="1400" b="1" spc="50" baseline="0" dirty="0">
                          <a:solidFill>
                            <a:schemeClr val="tx1"/>
                          </a:solidFill>
                          <a:latin typeface="游ゴシック" panose="020B0400000000000000" pitchFamily="50" charset="-128"/>
                          <a:ea typeface="游ゴシック" panose="020B0400000000000000" pitchFamily="50" charset="-128"/>
                        </a:rPr>
                        <a:t>希望譲渡価額</a:t>
                      </a:r>
                      <a:endParaRPr kumimoji="1" lang="ja-JP" altLang="en-US" sz="800" b="1" spc="50" baseline="0" dirty="0">
                        <a:solidFill>
                          <a:schemeClr val="tx1"/>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86912" rtl="0" eaLnBrk="1" fontAlgn="auto" latinLnBrk="0" hangingPunct="1">
                        <a:lnSpc>
                          <a:spcPct val="110000"/>
                        </a:lnSpc>
                        <a:spcBef>
                          <a:spcPts val="0"/>
                        </a:spcBef>
                        <a:spcAft>
                          <a:spcPts val="0"/>
                        </a:spcAft>
                        <a:buClr>
                          <a:schemeClr val="tx2"/>
                        </a:buClr>
                        <a:buSzTx/>
                        <a:buFontTx/>
                        <a:buNone/>
                        <a:tabLst/>
                        <a:defRPr/>
                      </a:pPr>
                      <a:r>
                        <a:rPr lang="ja-JP" altLang="ja-JP" sz="1400" b="0" spc="50" baseline="0" dirty="0">
                          <a:solidFill>
                            <a:schemeClr val="tx1"/>
                          </a:solidFill>
                          <a:latin typeface="游ゴシック" panose="020B0400000000000000" pitchFamily="50" charset="-128"/>
                          <a:ea typeface="游ゴシック" panose="020B0400000000000000" pitchFamily="50" charset="-128"/>
                        </a:rPr>
                        <a:t>要確認（売主様確認後に記載）</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8968273"/>
                  </a:ext>
                </a:extLst>
              </a:tr>
            </a:tbl>
          </a:graphicData>
        </a:graphic>
      </p:graphicFrame>
    </p:spTree>
    <p:extLst>
      <p:ext uri="{BB962C8B-B14F-4D97-AF65-F5344CB8AC3E}">
        <p14:creationId xmlns:p14="http://schemas.microsoft.com/office/powerpoint/2010/main" val="838304872"/>
      </p:ext>
    </p:extLst>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84</TotalTime>
  <Words>296</Words>
  <Application>Microsoft Office PowerPoint</Application>
  <PresentationFormat>ユーザー設定</PresentationFormat>
  <Paragraphs>32</Paragraphs>
  <Slides>1</Slides>
  <Notes>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vt:i4>
      </vt:variant>
    </vt:vector>
  </HeadingPairs>
  <TitlesOfParts>
    <vt:vector size="4" baseType="lpstr">
      <vt:lpstr>游ゴシック</vt:lpstr>
      <vt:lpstr>Arial</vt:lpstr>
      <vt:lpstr>SL_2026</vt:lpstr>
      <vt:lpstr>M＆A案件 ノンネームシート</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ストリームライン</dc:creator>
  <cp:lastModifiedBy>田垣内 啓介</cp:lastModifiedBy>
  <cp:revision>22</cp:revision>
  <dcterms:created xsi:type="dcterms:W3CDTF">2026-01-08T03:45:10Z</dcterms:created>
  <dcterms:modified xsi:type="dcterms:W3CDTF">2026-09-06T23:26:50Z</dcterms:modified>
</cp:coreProperties>
</file>